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624" y="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830578-7A2E-4995-8E11-7889673AE8D5}" type="datetimeFigureOut">
              <a:rPr lang="en-GB" smtClean="0"/>
              <a:t>21/02/2023</a:t>
            </a:fld>
            <a:endParaRPr lang="en-GB"/>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8CB3A7-1914-42CC-A9B9-516A92F439FD}" type="slidenum">
              <a:rPr lang="en-GB" smtClean="0"/>
              <a:t>‹#›</a:t>
            </a:fld>
            <a:endParaRPr lang="en-GB"/>
          </a:p>
        </p:txBody>
      </p:sp>
    </p:spTree>
    <p:extLst>
      <p:ext uri="{BB962C8B-B14F-4D97-AF65-F5344CB8AC3E}">
        <p14:creationId xmlns:p14="http://schemas.microsoft.com/office/powerpoint/2010/main" val="2692803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2803027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1846826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3126844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1510167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3168825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2255320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2498753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1849311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3688937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2804687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4135477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3816739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420167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153767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2622206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1320760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34799043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35149441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4213470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dirty="0"/>
          </a:p>
        </p:txBody>
      </p:sp>
    </p:spTree>
    <p:extLst>
      <p:ext uri="{BB962C8B-B14F-4D97-AF65-F5344CB8AC3E}">
        <p14:creationId xmlns:p14="http://schemas.microsoft.com/office/powerpoint/2010/main" val="4073185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36866" name="Rectangle 3"/>
          <p:cNvSpPr>
            <a:spLocks noGrp="1" noChangeArrowheads="1"/>
          </p:cNvSpPr>
          <p:nvPr>
            <p:ph type="body" idx="1"/>
          </p:nvPr>
        </p:nvSpPr>
        <p:spPr bwMode="auto">
          <a:noFill/>
        </p:spPr>
        <p:txBody>
          <a:bodyPr wrap="square" numCol="1" anchor="t" anchorCtr="0" compatLnSpc="1"/>
          <a:lstStyle/>
          <a:p>
            <a:pPr>
              <a:spcBef>
                <a:spcPct val="0"/>
              </a:spcBef>
            </a:pPr>
            <a:endParaRPr lang="zh-CN" altLang="en-US"/>
          </a:p>
        </p:txBody>
      </p:sp>
    </p:spTree>
    <p:extLst>
      <p:ext uri="{BB962C8B-B14F-4D97-AF65-F5344CB8AC3E}">
        <p14:creationId xmlns:p14="http://schemas.microsoft.com/office/powerpoint/2010/main" val="3288830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GB"/>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GB"/>
          </a:p>
        </p:txBody>
      </p:sp>
      <p:sp>
        <p:nvSpPr>
          <p:cNvPr id="4" name="日期占位符 3"/>
          <p:cNvSpPr>
            <a:spLocks noGrp="1"/>
          </p:cNvSpPr>
          <p:nvPr>
            <p:ph type="dt" sz="half" idx="10"/>
          </p:nvPr>
        </p:nvSpPr>
        <p:spPr/>
        <p:txBody>
          <a:bodyPr/>
          <a:lstStyle/>
          <a:p>
            <a:fld id="{80B10068-DE66-4091-9E76-FAD181641185}" type="datetimeFigureOut">
              <a:rPr lang="en-GB" smtClean="0"/>
              <a:t>21/02/2023</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1703045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GB"/>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4" name="日期占位符 3"/>
          <p:cNvSpPr>
            <a:spLocks noGrp="1"/>
          </p:cNvSpPr>
          <p:nvPr>
            <p:ph type="dt" sz="half" idx="10"/>
          </p:nvPr>
        </p:nvSpPr>
        <p:spPr/>
        <p:txBody>
          <a:bodyPr/>
          <a:lstStyle/>
          <a:p>
            <a:fld id="{80B10068-DE66-4091-9E76-FAD181641185}" type="datetimeFigureOut">
              <a:rPr lang="en-GB" smtClean="0"/>
              <a:t>21/02/2023</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118822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GB"/>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0B10068-DE66-4091-9E76-FAD181641185}" type="datetimeFigureOut">
              <a:rPr lang="en-GB" smtClean="0"/>
              <a:t>21/02/2023</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3618115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GB"/>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5" name="日期占位符 4"/>
          <p:cNvSpPr>
            <a:spLocks noGrp="1"/>
          </p:cNvSpPr>
          <p:nvPr>
            <p:ph type="dt" sz="half" idx="10"/>
          </p:nvPr>
        </p:nvSpPr>
        <p:spPr/>
        <p:txBody>
          <a:bodyPr/>
          <a:lstStyle/>
          <a:p>
            <a:fld id="{80B10068-DE66-4091-9E76-FAD181641185}" type="datetimeFigureOut">
              <a:rPr lang="en-GB" smtClean="0"/>
              <a:t>21/02/2023</a:t>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3970195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en-GB"/>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7" name="日期占位符 6"/>
          <p:cNvSpPr>
            <a:spLocks noGrp="1"/>
          </p:cNvSpPr>
          <p:nvPr>
            <p:ph type="dt" sz="half" idx="10"/>
          </p:nvPr>
        </p:nvSpPr>
        <p:spPr/>
        <p:txBody>
          <a:bodyPr/>
          <a:lstStyle/>
          <a:p>
            <a:fld id="{80B10068-DE66-4091-9E76-FAD181641185}" type="datetimeFigureOut">
              <a:rPr lang="en-GB" smtClean="0"/>
              <a:t>21/02/2023</a:t>
            </a:fld>
            <a:endParaRPr lang="en-GB"/>
          </a:p>
        </p:txBody>
      </p:sp>
      <p:sp>
        <p:nvSpPr>
          <p:cNvPr id="8" name="页脚占位符 7"/>
          <p:cNvSpPr>
            <a:spLocks noGrp="1"/>
          </p:cNvSpPr>
          <p:nvPr>
            <p:ph type="ftr" sz="quarter" idx="11"/>
          </p:nvPr>
        </p:nvSpPr>
        <p:spPr/>
        <p:txBody>
          <a:bodyPr/>
          <a:lstStyle/>
          <a:p>
            <a:endParaRPr lang="en-GB"/>
          </a:p>
        </p:txBody>
      </p:sp>
      <p:sp>
        <p:nvSpPr>
          <p:cNvPr id="9" name="灯片编号占位符 8"/>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147169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GB"/>
          </a:p>
        </p:txBody>
      </p:sp>
      <p:sp>
        <p:nvSpPr>
          <p:cNvPr id="3" name="日期占位符 2"/>
          <p:cNvSpPr>
            <a:spLocks noGrp="1"/>
          </p:cNvSpPr>
          <p:nvPr>
            <p:ph type="dt" sz="half" idx="10"/>
          </p:nvPr>
        </p:nvSpPr>
        <p:spPr/>
        <p:txBody>
          <a:bodyPr/>
          <a:lstStyle/>
          <a:p>
            <a:fld id="{80B10068-DE66-4091-9E76-FAD181641185}" type="datetimeFigureOut">
              <a:rPr lang="en-GB" smtClean="0"/>
              <a:t>21/02/2023</a:t>
            </a:fld>
            <a:endParaRPr lang="en-GB"/>
          </a:p>
        </p:txBody>
      </p:sp>
      <p:sp>
        <p:nvSpPr>
          <p:cNvPr id="4" name="页脚占位符 3"/>
          <p:cNvSpPr>
            <a:spLocks noGrp="1"/>
          </p:cNvSpPr>
          <p:nvPr>
            <p:ph type="ftr" sz="quarter" idx="11"/>
          </p:nvPr>
        </p:nvSpPr>
        <p:spPr/>
        <p:txBody>
          <a:bodyPr/>
          <a:lstStyle/>
          <a:p>
            <a:endParaRPr lang="en-GB"/>
          </a:p>
        </p:txBody>
      </p:sp>
      <p:sp>
        <p:nvSpPr>
          <p:cNvPr id="5" name="灯片编号占位符 4"/>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4075623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B10068-DE66-4091-9E76-FAD181641185}" type="datetimeFigureOut">
              <a:rPr lang="en-GB" smtClean="0"/>
              <a:t>21/02/2023</a:t>
            </a:fld>
            <a:endParaRPr lang="en-GB"/>
          </a:p>
        </p:txBody>
      </p:sp>
      <p:sp>
        <p:nvSpPr>
          <p:cNvPr id="3" name="页脚占位符 2"/>
          <p:cNvSpPr>
            <a:spLocks noGrp="1"/>
          </p:cNvSpPr>
          <p:nvPr>
            <p:ph type="ftr" sz="quarter" idx="11"/>
          </p:nvPr>
        </p:nvSpPr>
        <p:spPr/>
        <p:txBody>
          <a:bodyPr/>
          <a:lstStyle/>
          <a:p>
            <a:endParaRPr lang="en-GB"/>
          </a:p>
        </p:txBody>
      </p:sp>
      <p:sp>
        <p:nvSpPr>
          <p:cNvPr id="4" name="灯片编号占位符 3"/>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417959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GB"/>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0B10068-DE66-4091-9E76-FAD181641185}" type="datetimeFigureOut">
              <a:rPr lang="en-GB" smtClean="0"/>
              <a:t>21/02/2023</a:t>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761222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GB"/>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0B10068-DE66-4091-9E76-FAD181641185}" type="datetimeFigureOut">
              <a:rPr lang="en-GB" smtClean="0"/>
              <a:t>21/02/2023</a:t>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12288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GB"/>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4" name="日期占位符 3"/>
          <p:cNvSpPr>
            <a:spLocks noGrp="1"/>
          </p:cNvSpPr>
          <p:nvPr>
            <p:ph type="dt" sz="half" idx="10"/>
          </p:nvPr>
        </p:nvSpPr>
        <p:spPr/>
        <p:txBody>
          <a:bodyPr/>
          <a:lstStyle/>
          <a:p>
            <a:fld id="{80B10068-DE66-4091-9E76-FAD181641185}" type="datetimeFigureOut">
              <a:rPr lang="en-GB" smtClean="0"/>
              <a:t>21/02/2023</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3714073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GB"/>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4" name="日期占位符 3"/>
          <p:cNvSpPr>
            <a:spLocks noGrp="1"/>
          </p:cNvSpPr>
          <p:nvPr>
            <p:ph type="dt" sz="half" idx="10"/>
          </p:nvPr>
        </p:nvSpPr>
        <p:spPr/>
        <p:txBody>
          <a:bodyPr/>
          <a:lstStyle/>
          <a:p>
            <a:fld id="{80B10068-DE66-4091-9E76-FAD181641185}" type="datetimeFigureOut">
              <a:rPr lang="en-GB" smtClean="0"/>
              <a:t>21/02/2023</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A00495DB-520E-4115-87A2-3C6202651F9D}" type="slidenum">
              <a:rPr lang="en-GB" smtClean="0"/>
              <a:t>‹#›</a:t>
            </a:fld>
            <a:endParaRPr lang="en-GB"/>
          </a:p>
        </p:txBody>
      </p:sp>
    </p:spTree>
    <p:extLst>
      <p:ext uri="{BB962C8B-B14F-4D97-AF65-F5344CB8AC3E}">
        <p14:creationId xmlns:p14="http://schemas.microsoft.com/office/powerpoint/2010/main" val="2048308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05313FA0-597B-4589-AB44-8075050D5121}"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973312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9343BD8D-C739-4355-BCE8-264123A39017}"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17940201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39815BF-FD22-4FE9-A9CC-4280990EC9EB}"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2604206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16DFB50B-4C8F-4870-B98C-0FB6F279BD0C}"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8824699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DD072B62-D1AA-4381-81CB-A1DAC0F0470B}"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2923943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116C567B-9CF9-4182-8A7F-71E9E5BCCFC9}"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20623228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107E5FD4-D530-4256-8589-7342D7BE0EE7}"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2132309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198BBC7F-D743-45D7-96C0-2B96DED2ED01}"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8952113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D6E902F-1AF8-4EB9-8FC6-9E397BB0E1BA}"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62568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AC6FC8EE-2616-4917-A51B-88D42ABB26DA}"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14454635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26B13AD3-08F9-4C55-A775-BD5C3A543E62}"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751016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GB"/>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GB"/>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B10068-DE66-4091-9E76-FAD181641185}" type="datetimeFigureOut">
              <a:rPr lang="en-GB" smtClean="0"/>
              <a:t>21/02/2023</a:t>
            </a:fld>
            <a:endParaRPr lang="en-GB"/>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0495DB-520E-4115-87A2-3C6202651F9D}" type="slidenum">
              <a:rPr lang="en-GB" smtClean="0"/>
              <a:t>‹#›</a:t>
            </a:fld>
            <a:endParaRPr lang="en-GB"/>
          </a:p>
        </p:txBody>
      </p:sp>
    </p:spTree>
    <p:extLst>
      <p:ext uri="{BB962C8B-B14F-4D97-AF65-F5344CB8AC3E}">
        <p14:creationId xmlns:p14="http://schemas.microsoft.com/office/powerpoint/2010/main" val="3332377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spcBef>
                <a:spcPct val="0"/>
              </a:spcBef>
              <a:spcAft>
                <a:spcPct val="0"/>
              </a:spcAft>
              <a:defRPr/>
            </a:pPr>
            <a:endParaRPr lang="en-US">
              <a:solidFill>
                <a:prstClr val="black">
                  <a:tint val="75000"/>
                </a:prstClr>
              </a:solidFill>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spcBef>
                <a:spcPct val="0"/>
              </a:spcBef>
              <a:spcAft>
                <a:spcPct val="0"/>
              </a:spcAft>
              <a:defRPr/>
            </a:pPr>
            <a:endParaRPr lang="zh-CN" altLang="en-US">
              <a:solidFill>
                <a:prstClr val="black">
                  <a:tint val="75000"/>
                </a:prstClr>
              </a:solidFill>
              <a:latin typeface="Arial" panose="020B0604020202020204" pitchFamily="34" charset="0"/>
              <a:ea typeface="宋体" panose="02010600030101010101" pitchFamily="2" charset="-122"/>
            </a:endParaRP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defRPr/>
            </a:pPr>
            <a:fld id="{26B13AD3-08F9-4C55-A775-BD5C3A543E62}" type="slidenum">
              <a:rPr lang="zh-CN" altLang="en-US" smtClean="0">
                <a:solidFill>
                  <a:prstClr val="black">
                    <a:tint val="75000"/>
                  </a:prstClr>
                </a:solidFill>
                <a:latin typeface="Arial" panose="020B0604020202020204" pitchFamily="34" charset="0"/>
                <a:ea typeface="宋体" panose="02010600030101010101" pitchFamily="2" charset="-122"/>
              </a:rPr>
              <a:pPr fontAlgn="base">
                <a:spcBef>
                  <a:spcPct val="0"/>
                </a:spcBef>
                <a:spcAft>
                  <a:spcPct val="0"/>
                </a:spcAft>
                <a:defRPr/>
              </a:pPr>
              <a:t>‹#›</a:t>
            </a:fld>
            <a:endParaRPr lang="zh-CN" altLang="en-US">
              <a:solidFill>
                <a:prstClr val="black">
                  <a:tint val="75000"/>
                </a:prstClr>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171705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104.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jpeg"/><Relationship Id="rId7" Type="http://schemas.openxmlformats.org/officeDocument/2006/relationships/image" Target="../media/image107.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06.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2.jpeg"/><Relationship Id="rId9" Type="http://schemas.openxmlformats.org/officeDocument/2006/relationships/image" Target="../media/image109.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12.png"/><Relationship Id="rId5" Type="http://schemas.openxmlformats.org/officeDocument/2006/relationships/image" Target="../media/image75.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8.xml"/><Relationship Id="rId5" Type="http://schemas.openxmlformats.org/officeDocument/2006/relationships/image" Target="../media/image76.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116.pn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jpeg"/><Relationship Id="rId7" Type="http://schemas.openxmlformats.org/officeDocument/2006/relationships/image" Target="../media/image119.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118.png"/><Relationship Id="rId5" Type="http://schemas.openxmlformats.org/officeDocument/2006/relationships/image" Target="../media/image117.png"/><Relationship Id="rId10" Type="http://schemas.openxmlformats.org/officeDocument/2006/relationships/image" Target="../media/image122.png"/><Relationship Id="rId4" Type="http://schemas.openxmlformats.org/officeDocument/2006/relationships/image" Target="../media/image2.jpeg"/><Relationship Id="rId9" Type="http://schemas.openxmlformats.org/officeDocument/2006/relationships/image" Target="../media/image12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127.png"/><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128.pn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31.png"/><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image" Target="../media/image130.png"/><Relationship Id="rId5" Type="http://schemas.openxmlformats.org/officeDocument/2006/relationships/image" Target="../media/image5.png"/><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7.tiff"/><Relationship Id="rId7" Type="http://schemas.openxmlformats.org/officeDocument/2006/relationships/image" Target="../media/image135.png"/><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image" Target="../media/image134.png"/><Relationship Id="rId5" Type="http://schemas.openxmlformats.org/officeDocument/2006/relationships/image" Target="../media/image2.jpeg"/><Relationship Id="rId4"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8.xml"/><Relationship Id="rId5" Type="http://schemas.openxmlformats.org/officeDocument/2006/relationships/image" Target="../media/image8.wmf"/><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08214" y="1868489"/>
            <a:ext cx="2495551" cy="2495551"/>
          </a:xfrm>
          <a:prstGeom prst="rect">
            <a:avLst/>
          </a:prstGeom>
          <a:solidFill>
            <a:schemeClr val="bg1"/>
          </a:solidFill>
          <a:ln w="28575" cap="flat" cmpd="sng" algn="ctr">
            <a:solidFill>
              <a:srgbClr val="007F57"/>
            </a:solidFill>
            <a:prstDash val="solid"/>
            <a:round/>
            <a:headEnd type="none" w="med" len="med"/>
            <a:tailEnd type="none" w="med" len="med"/>
          </a:ln>
        </p:spPr>
        <p:txBody>
          <a:bodyPr lIns="121920" tIns="60960" rIns="121920" bIns="60960"/>
          <a:lstStyle/>
          <a:p>
            <a:pPr fontAlgn="base">
              <a:spcBef>
                <a:spcPct val="0"/>
              </a:spcBef>
              <a:spcAft>
                <a:spcPct val="0"/>
              </a:spcAft>
              <a:buFont typeface="Arial" panose="020B0604020202020204" pitchFamily="34" charset="0"/>
              <a:buNone/>
              <a:defRPr/>
            </a:pPr>
            <a:endParaRPr lang="zh-CN" altLang="en-US" sz="2665">
              <a:solidFill>
                <a:prstClr val="black"/>
              </a:solidFill>
              <a:latin typeface="Arial" panose="020B0604020202020204" pitchFamily="34" charset="0"/>
              <a:ea typeface="宋体" panose="02010600030101010101" pitchFamily="2" charset="-122"/>
            </a:endParaRPr>
          </a:p>
        </p:txBody>
      </p:sp>
      <p:sp>
        <p:nvSpPr>
          <p:cNvPr id="32772" name="文本框 3"/>
          <p:cNvSpPr txBox="1">
            <a:spLocks noChangeArrowheads="1"/>
          </p:cNvSpPr>
          <p:nvPr/>
        </p:nvSpPr>
        <p:spPr bwMode="auto">
          <a:xfrm>
            <a:off x="2790826" y="2501900"/>
            <a:ext cx="1330325" cy="1200329"/>
          </a:xfrm>
          <a:prstGeom prst="rect">
            <a:avLst/>
          </a:prstGeom>
          <a:noFill/>
          <a:ln w="9525">
            <a:noFill/>
            <a:miter lim="800000"/>
          </a:ln>
        </p:spPr>
        <p:txBody>
          <a:bodyPr>
            <a:spAutoFit/>
          </a:bodyPr>
          <a:lstStyle/>
          <a:p>
            <a:pPr fontAlgn="base">
              <a:spcBef>
                <a:spcPct val="0"/>
              </a:spcBef>
              <a:spcAft>
                <a:spcPct val="0"/>
              </a:spcAft>
            </a:pPr>
            <a:r>
              <a:rPr lang="en-US" altLang="zh-CN" sz="7200" dirty="0">
                <a:solidFill>
                  <a:prstClr val="white"/>
                </a:solidFill>
                <a:latin typeface="微软雅黑" panose="020B0503020204020204" charset="-122"/>
                <a:ea typeface="微软雅黑" panose="020B0503020204020204" charset="-122"/>
                <a:cs typeface="微软雅黑" panose="020B0503020204020204" charset="-122"/>
              </a:rPr>
              <a:t>01</a:t>
            </a:r>
          </a:p>
        </p:txBody>
      </p:sp>
      <p:sp>
        <p:nvSpPr>
          <p:cNvPr id="5" name="文本框 4"/>
          <p:cNvSpPr txBox="1"/>
          <p:nvPr/>
        </p:nvSpPr>
        <p:spPr>
          <a:xfrm>
            <a:off x="5083520" y="1823601"/>
            <a:ext cx="5675744" cy="2554354"/>
          </a:xfrm>
          <a:prstGeom prst="rect">
            <a:avLst/>
          </a:prstGeom>
          <a:noFill/>
        </p:spPr>
        <p:txBody>
          <a:bodyPr wrap="square">
            <a:spAutoFit/>
          </a:bodyPr>
          <a:lstStyle/>
          <a:p>
            <a:pPr>
              <a:defRPr/>
            </a:pPr>
            <a:r>
              <a:rPr lang="en-US" altLang="zh-CN" sz="5333" b="1" dirty="0">
                <a:solidFill>
                  <a:prstClr val="black">
                    <a:lumMod val="85000"/>
                    <a:lumOff val="15000"/>
                  </a:prstClr>
                </a:solidFill>
                <a:latin typeface="微软雅黑" panose="020B0503020204020204" charset="-122"/>
                <a:ea typeface="微软雅黑" panose="020B0503020204020204" charset="-122"/>
              </a:rPr>
              <a:t>Statistical </a:t>
            </a:r>
            <a:r>
              <a:rPr lang="en-US" altLang="zh-CN" sz="5333" b="1" dirty="0">
                <a:solidFill>
                  <a:prstClr val="black">
                    <a:lumMod val="85000"/>
                    <a:lumOff val="15000"/>
                  </a:prstClr>
                </a:solidFill>
                <a:latin typeface="微软雅黑" panose="020B0503020204020204" charset="-122"/>
                <a:ea typeface="微软雅黑" panose="020B0503020204020204" charset="-122"/>
              </a:rPr>
              <a:t>Analysis of Measurements</a:t>
            </a:r>
            <a:endParaRPr lang="zh-CN" altLang="en-US" sz="5333" b="1" dirty="0">
              <a:solidFill>
                <a:prstClr val="black">
                  <a:lumMod val="85000"/>
                  <a:lumOff val="15000"/>
                </a:prstClr>
              </a:solidFill>
              <a:latin typeface="微软雅黑" panose="020B0503020204020204" charset="-122"/>
              <a:ea typeface="微软雅黑" panose="020B0503020204020204" charset="-122"/>
            </a:endParaRPr>
          </a:p>
        </p:txBody>
      </p:sp>
      <p:sp>
        <p:nvSpPr>
          <p:cNvPr id="7" name="Rectangle 4">
            <a:extLst>
              <a:ext uri="{FF2B5EF4-FFF2-40B4-BE49-F238E27FC236}">
                <a16:creationId xmlns="" xmlns:a16="http://schemas.microsoft.com/office/drawing/2014/main" id="{4C20096F-8A4F-EA47-B628-84B415D3C732}"/>
              </a:ext>
            </a:extLst>
          </p:cNvPr>
          <p:cNvSpPr/>
          <p:nvPr/>
        </p:nvSpPr>
        <p:spPr bwMode="auto">
          <a:xfrm>
            <a:off x="2452689" y="2142195"/>
            <a:ext cx="1978025" cy="1948136"/>
          </a:xfrm>
          <a:prstGeom prst="rect">
            <a:avLst/>
          </a:prstGeom>
          <a:gradFill flip="none" rotWithShape="1">
            <a:gsLst>
              <a:gs pos="0">
                <a:srgbClr val="031B1E">
                  <a:alpha val="69000"/>
                </a:srgbClr>
              </a:gs>
              <a:gs pos="100000">
                <a:srgbClr val="00A771"/>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79945" tIns="39973" rIns="39973" bIns="79945" anchor="ctr"/>
          <a:lstStyle/>
          <a:p>
            <a:pPr algn="ctr" defTabSz="798811" fontAlgn="base">
              <a:spcBef>
                <a:spcPct val="0"/>
              </a:spcBef>
              <a:spcAft>
                <a:spcPct val="0"/>
              </a:spcAft>
              <a:defRPr/>
            </a:pPr>
            <a:r>
              <a:rPr lang="en-US" altLang="zh-CN" sz="5400" spc="-44" dirty="0">
                <a:solidFill>
                  <a:prstClr val="white"/>
                </a:solidFill>
                <a:latin typeface="Microsoft YaHei" panose="020B0503020204020204" pitchFamily="34" charset="-122"/>
                <a:ea typeface="Microsoft YaHei" panose="020B0503020204020204" pitchFamily="34" charset="-122"/>
                <a:cs typeface="Segoe UI" panose="020B0502040204020203" pitchFamily="34" charset="0"/>
              </a:rPr>
              <a:t>04</a:t>
            </a:r>
            <a:endParaRPr lang="en-US" altLang="zh-CN" sz="5400" spc="-44" dirty="0">
              <a:solidFill>
                <a:prstClr val="white"/>
              </a:solidFill>
              <a:latin typeface="Microsoft YaHei" panose="020B0503020204020204" pitchFamily="34" charset="-122"/>
              <a:ea typeface="Microsoft YaHei" panose="020B0503020204020204" pitchFamily="34" charset="-122"/>
              <a:cs typeface="Segoe UI" panose="020B0502040204020203" pitchFamily="34" charset="0"/>
            </a:endParaRPr>
          </a:p>
        </p:txBody>
      </p:sp>
      <p:sp>
        <p:nvSpPr>
          <p:cNvPr id="9" name="Line 17"/>
          <p:cNvSpPr>
            <a:spLocks noChangeShapeType="1"/>
          </p:cNvSpPr>
          <p:nvPr/>
        </p:nvSpPr>
        <p:spPr bwMode="auto">
          <a:xfrm flipV="1">
            <a:off x="286773" y="6116848"/>
            <a:ext cx="11738176" cy="901"/>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10"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1" name="矩形 10"/>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矩形 11"/>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pic>
        <p:nvPicPr>
          <p:cNvPr id="15" name="图片 14" descr="微信图片_20210223184101"/>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6" name="图片 15" descr="微信图片_20210223183508"/>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7" name="文本框 16"/>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8" name="直接连接符 17"/>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2793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5" name="矩形 4"/>
          <p:cNvSpPr/>
          <p:nvPr/>
        </p:nvSpPr>
        <p:spPr>
          <a:xfrm>
            <a:off x="8177429" y="116154"/>
            <a:ext cx="3808094" cy="461665"/>
          </a:xfrm>
          <a:prstGeom prst="rect">
            <a:avLst/>
          </a:prstGeom>
        </p:spPr>
        <p:txBody>
          <a:bodyPr wrap="none">
            <a:spAutoFit/>
          </a:bodyPr>
          <a:lstStyle/>
          <a:p>
            <a:pPr marL="0" lvl="2" fontAlgn="base">
              <a:spcBef>
                <a:spcPts val="800"/>
              </a:spcBef>
              <a:spcAft>
                <a:spcPts val="800"/>
              </a:spcAft>
            </a:pP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Mean and Median Values</a:t>
            </a:r>
            <a:endParaRPr lang="zh-CN" altLang="zh-CN" sz="2400" kern="100" dirty="0">
              <a:solidFill>
                <a:srgbClr val="FFC000"/>
              </a:solidFill>
              <a:latin typeface="等线" panose="02010600030101010101" pitchFamily="2" charset="-122"/>
              <a:cs typeface="Times New Roman" panose="02020603050405020304" pitchFamily="18" charset="0"/>
            </a:endParaRPr>
          </a:p>
        </p:txBody>
      </p:sp>
      <p:sp>
        <p:nvSpPr>
          <p:cNvPr id="8" name="矩形 7"/>
          <p:cNvSpPr/>
          <p:nvPr/>
        </p:nvSpPr>
        <p:spPr>
          <a:xfrm>
            <a:off x="239349" y="678451"/>
            <a:ext cx="11551659" cy="3046988"/>
          </a:xfrm>
          <a:prstGeom prst="rect">
            <a:avLst/>
          </a:prstGeom>
        </p:spPr>
        <p:txBody>
          <a:bodyPr wrap="square">
            <a:spAutoFit/>
          </a:bodyPr>
          <a:lstStyle/>
          <a:p>
            <a:pPr algn="just" fontAlgn="base">
              <a:spcBef>
                <a:spcPct val="0"/>
              </a:spcBef>
              <a:spcAft>
                <a:spcPct val="0"/>
              </a:spcAft>
            </a:pPr>
            <a:r>
              <a:rPr lang="en-US" altLang="zh-CN" sz="3200" b="1" kern="0" dirty="0">
                <a:solidFill>
                  <a:srgbClr val="07144B"/>
                </a:solidFill>
                <a:latin typeface="Times New Roman" panose="02020603050405020304" pitchFamily="18" charset="0"/>
              </a:rPr>
              <a:t>The </a:t>
            </a:r>
            <a:r>
              <a:rPr lang="en-US" altLang="zh-CN" sz="3200" b="1" u="sng" kern="0" dirty="0">
                <a:solidFill>
                  <a:srgbClr val="FF0000"/>
                </a:solidFill>
                <a:latin typeface="Times New Roman" panose="02020603050405020304" pitchFamily="18" charset="0"/>
              </a:rPr>
              <a:t>average </a:t>
            </a:r>
            <a:r>
              <a:rPr lang="en-US" altLang="zh-CN" sz="3200" b="1" u="sng" kern="0" dirty="0">
                <a:solidFill>
                  <a:srgbClr val="FF0000"/>
                </a:solidFill>
                <a:latin typeface="Times New Roman" panose="02020603050405020304" pitchFamily="18" charset="0"/>
              </a:rPr>
              <a:t>value(</a:t>
            </a:r>
            <a:r>
              <a:rPr lang="zh-CN" altLang="en-US" sz="3200" b="1" u="sng" kern="0" dirty="0">
                <a:solidFill>
                  <a:srgbClr val="FF0000"/>
                </a:solidFill>
                <a:latin typeface="Times New Roman" panose="02020603050405020304" pitchFamily="18" charset="0"/>
              </a:rPr>
              <a:t>平均值</a:t>
            </a:r>
            <a:r>
              <a:rPr lang="en-US" altLang="zh-CN" sz="3200" b="1" u="sng" kern="0" dirty="0">
                <a:solidFill>
                  <a:srgbClr val="FF0000"/>
                </a:solidFill>
                <a:latin typeface="Times New Roman" panose="02020603050405020304" pitchFamily="18" charset="0"/>
              </a:rPr>
              <a:t>)</a:t>
            </a:r>
            <a:r>
              <a:rPr lang="en-US" altLang="zh-CN" sz="3200" b="1" kern="0" dirty="0">
                <a:solidFill>
                  <a:srgbClr val="07144B"/>
                </a:solidFill>
                <a:latin typeface="Times New Roman" panose="02020603050405020304" pitchFamily="18" charset="0"/>
              </a:rPr>
              <a:t> </a:t>
            </a:r>
            <a:r>
              <a:rPr lang="en-US" altLang="zh-CN" sz="3200" b="1" kern="0" dirty="0">
                <a:solidFill>
                  <a:srgbClr val="07144B"/>
                </a:solidFill>
                <a:latin typeface="Times New Roman" panose="02020603050405020304" pitchFamily="18" charset="0"/>
              </a:rPr>
              <a:t>of a set of measurements of a constant quantity can be expressed as either the </a:t>
            </a:r>
            <a:r>
              <a:rPr lang="en-US" altLang="zh-CN" sz="3200" b="1" u="sng" kern="0" dirty="0">
                <a:solidFill>
                  <a:srgbClr val="C00000"/>
                </a:solidFill>
                <a:latin typeface="Times New Roman" panose="02020603050405020304" pitchFamily="18" charset="0"/>
              </a:rPr>
              <a:t>mean </a:t>
            </a:r>
            <a:r>
              <a:rPr lang="en-US" altLang="zh-CN" sz="3200" b="1" u="sng" kern="0" dirty="0">
                <a:solidFill>
                  <a:srgbClr val="C00000"/>
                </a:solidFill>
                <a:latin typeface="Times New Roman" panose="02020603050405020304" pitchFamily="18" charset="0"/>
              </a:rPr>
              <a:t>value(</a:t>
            </a:r>
            <a:r>
              <a:rPr lang="zh-CN" altLang="en-US" sz="3200" b="1" u="sng" kern="0" dirty="0">
                <a:solidFill>
                  <a:srgbClr val="C00000"/>
                </a:solidFill>
                <a:latin typeface="Times New Roman" panose="02020603050405020304" pitchFamily="18" charset="0"/>
              </a:rPr>
              <a:t>均值</a:t>
            </a:r>
            <a:r>
              <a:rPr lang="en-US" altLang="zh-CN" sz="3200" b="1" u="sng" kern="0" dirty="0">
                <a:solidFill>
                  <a:srgbClr val="C00000"/>
                </a:solidFill>
                <a:latin typeface="Times New Roman" panose="02020603050405020304" pitchFamily="18" charset="0"/>
              </a:rPr>
              <a:t>)</a:t>
            </a:r>
            <a:r>
              <a:rPr lang="en-US" altLang="zh-CN" sz="3200" b="1" kern="0" dirty="0">
                <a:solidFill>
                  <a:srgbClr val="C00000"/>
                </a:solidFill>
                <a:latin typeface="Times New Roman" panose="02020603050405020304" pitchFamily="18" charset="0"/>
              </a:rPr>
              <a:t> </a:t>
            </a:r>
            <a:r>
              <a:rPr lang="en-US" altLang="zh-CN" sz="3200" b="1" kern="0" dirty="0">
                <a:solidFill>
                  <a:srgbClr val="07144B"/>
                </a:solidFill>
                <a:latin typeface="Times New Roman" panose="02020603050405020304" pitchFamily="18" charset="0"/>
              </a:rPr>
              <a:t>or the </a:t>
            </a:r>
            <a:r>
              <a:rPr lang="en-US" altLang="zh-CN" sz="3200" b="1" u="sng" kern="0" dirty="0">
                <a:solidFill>
                  <a:srgbClr val="C00000"/>
                </a:solidFill>
                <a:latin typeface="Times New Roman" panose="02020603050405020304" pitchFamily="18" charset="0"/>
              </a:rPr>
              <a:t>median </a:t>
            </a:r>
            <a:r>
              <a:rPr lang="en-US" altLang="zh-CN" sz="3200" b="1" u="sng" kern="0" dirty="0">
                <a:solidFill>
                  <a:srgbClr val="C00000"/>
                </a:solidFill>
                <a:latin typeface="Times New Roman" panose="02020603050405020304" pitchFamily="18" charset="0"/>
              </a:rPr>
              <a:t>value(</a:t>
            </a:r>
            <a:r>
              <a:rPr lang="zh-CN" altLang="en-US" sz="3200" b="1" u="sng" kern="0" dirty="0">
                <a:solidFill>
                  <a:srgbClr val="C00000"/>
                </a:solidFill>
                <a:latin typeface="Times New Roman" panose="02020603050405020304" pitchFamily="18" charset="0"/>
              </a:rPr>
              <a:t>中值</a:t>
            </a:r>
            <a:r>
              <a:rPr lang="en-US" altLang="zh-CN" sz="3200" b="1" u="sng" kern="0" dirty="0">
                <a:solidFill>
                  <a:srgbClr val="C00000"/>
                </a:solidFill>
                <a:latin typeface="Times New Roman" panose="02020603050405020304" pitchFamily="18" charset="0"/>
              </a:rPr>
              <a:t>)</a:t>
            </a:r>
            <a:r>
              <a:rPr lang="en-US" altLang="zh-CN" sz="3200" b="1" kern="0" dirty="0">
                <a:solidFill>
                  <a:srgbClr val="07144B"/>
                </a:solidFill>
                <a:latin typeface="Times New Roman" panose="02020603050405020304" pitchFamily="18" charset="0"/>
              </a:rPr>
              <a:t>. The median value is easier to compute than the mean value because the median </a:t>
            </a:r>
            <a:r>
              <a:rPr lang="en-US" altLang="zh-CN" sz="3200" b="1" kern="0" dirty="0">
                <a:solidFill>
                  <a:srgbClr val="07144B"/>
                </a:solidFill>
                <a:latin typeface="Times New Roman" panose="02020603050405020304" pitchFamily="18" charset="0"/>
              </a:rPr>
              <a:t>computation involves a series of </a:t>
            </a:r>
            <a:r>
              <a:rPr lang="en-US" altLang="zh-CN" sz="3200" b="1" kern="0" dirty="0">
                <a:solidFill>
                  <a:srgbClr val="007F57"/>
                </a:solidFill>
                <a:latin typeface="Times New Roman" panose="02020603050405020304" pitchFamily="18" charset="0"/>
              </a:rPr>
              <a:t>logic operations </a:t>
            </a:r>
            <a:r>
              <a:rPr lang="en-US" altLang="zh-CN" sz="3200" b="1" kern="0" dirty="0">
                <a:solidFill>
                  <a:srgbClr val="07144B"/>
                </a:solidFill>
                <a:latin typeface="Times New Roman" panose="02020603050405020304" pitchFamily="18" charset="0"/>
              </a:rPr>
              <a:t>whereas the mean computation requires </a:t>
            </a:r>
            <a:r>
              <a:rPr lang="en-US" altLang="zh-CN" sz="3200" b="1" kern="0" dirty="0">
                <a:solidFill>
                  <a:srgbClr val="007F57"/>
                </a:solidFill>
                <a:latin typeface="Times New Roman" panose="02020603050405020304" pitchFamily="18" charset="0"/>
              </a:rPr>
              <a:t>addition(</a:t>
            </a:r>
            <a:r>
              <a:rPr lang="zh-CN" altLang="en-US" sz="3200" b="1" kern="0" dirty="0">
                <a:solidFill>
                  <a:srgbClr val="007F57"/>
                </a:solidFill>
                <a:latin typeface="Times New Roman" panose="02020603050405020304" pitchFamily="18" charset="0"/>
              </a:rPr>
              <a:t>加法</a:t>
            </a:r>
            <a:r>
              <a:rPr lang="en-US" altLang="zh-CN" sz="3200" b="1" kern="0" dirty="0">
                <a:solidFill>
                  <a:srgbClr val="007F57"/>
                </a:solidFill>
                <a:latin typeface="Times New Roman" panose="02020603050405020304" pitchFamily="18" charset="0"/>
              </a:rPr>
              <a:t>) </a:t>
            </a:r>
            <a:r>
              <a:rPr lang="en-US" altLang="zh-CN" sz="3200" b="1" kern="0" dirty="0">
                <a:solidFill>
                  <a:srgbClr val="007F57"/>
                </a:solidFill>
                <a:latin typeface="Times New Roman" panose="02020603050405020304" pitchFamily="18" charset="0"/>
              </a:rPr>
              <a:t>and </a:t>
            </a:r>
            <a:r>
              <a:rPr lang="en-US" altLang="zh-CN" sz="3200" b="1" kern="0" dirty="0">
                <a:solidFill>
                  <a:srgbClr val="007F57"/>
                </a:solidFill>
                <a:latin typeface="Times New Roman" panose="02020603050405020304" pitchFamily="18" charset="0"/>
              </a:rPr>
              <a:t>division(</a:t>
            </a:r>
            <a:r>
              <a:rPr lang="zh-CN" altLang="en-US" sz="3200" b="1" kern="0" dirty="0">
                <a:solidFill>
                  <a:srgbClr val="007F57"/>
                </a:solidFill>
                <a:latin typeface="Times New Roman" panose="02020603050405020304" pitchFamily="18" charset="0"/>
              </a:rPr>
              <a:t>除法</a:t>
            </a:r>
            <a:r>
              <a:rPr lang="en-US" altLang="zh-CN" sz="3200" b="1" kern="0" dirty="0">
                <a:solidFill>
                  <a:srgbClr val="007F57"/>
                </a:solidFill>
                <a:latin typeface="Times New Roman" panose="02020603050405020304" pitchFamily="18" charset="0"/>
              </a:rPr>
              <a:t>)</a:t>
            </a:r>
            <a:r>
              <a:rPr lang="en-US" altLang="zh-CN" sz="3200" b="1" kern="0" dirty="0">
                <a:solidFill>
                  <a:srgbClr val="07144B"/>
                </a:solidFill>
                <a:latin typeface="Times New Roman" panose="02020603050405020304" pitchFamily="18" charset="0"/>
              </a:rPr>
              <a:t>.</a:t>
            </a:r>
            <a:endParaRPr lang="zh-CN" altLang="en-US" sz="3200" b="1" dirty="0">
              <a:solidFill>
                <a:srgbClr val="07144B"/>
              </a:solidFill>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9" name="矩形 18"/>
              <p:cNvSpPr/>
              <p:nvPr/>
            </p:nvSpPr>
            <p:spPr>
              <a:xfrm>
                <a:off x="3954052" y="3963803"/>
                <a:ext cx="3636957" cy="763222"/>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𝑥</m:t>
                          </m:r>
                        </m:e>
                        <m:sub>
                          <m:r>
                            <m:rPr>
                              <m:sty m:val="p"/>
                            </m:rPr>
                            <a:rPr lang="zh-CN" altLang="en-US" sz="2400">
                              <a:solidFill>
                                <a:prstClr val="black"/>
                              </a:solidFill>
                              <a:latin typeface="Cambria Math" panose="02040503050406030204" pitchFamily="18" charset="0"/>
                            </a:rPr>
                            <m:t>mean</m:t>
                          </m:r>
                        </m:sub>
                      </m:sSub>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𝑥</m:t>
                              </m:r>
                            </m:e>
                            <m:sub>
                              <m:r>
                                <a:rPr lang="zh-CN" altLang="en-US" sz="2400">
                                  <a:solidFill>
                                    <a:prstClr val="black"/>
                                  </a:solidFill>
                                  <a:latin typeface="Cambria Math" panose="02040503050406030204" pitchFamily="18" charset="0"/>
                                </a:rPr>
                                <m:t>1</m:t>
                              </m:r>
                            </m:sub>
                          </m:sSub>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𝑥</m:t>
                              </m:r>
                            </m:e>
                            <m:sub>
                              <m:r>
                                <a:rPr lang="zh-CN" altLang="en-US" sz="2400">
                                  <a:solidFill>
                                    <a:prstClr val="black"/>
                                  </a:solidFill>
                                  <a:latin typeface="Cambria Math" panose="02040503050406030204" pitchFamily="18" charset="0"/>
                                </a:rPr>
                                <m:t>2</m:t>
                              </m:r>
                            </m:sub>
                          </m:sSub>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pitchFamily="18" charset="0"/>
                                </a:rPr>
                              </m:ctrlPr>
                            </m:sSubPr>
                            <m:e>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𝑛</m:t>
                              </m:r>
                            </m:sub>
                          </m:sSub>
                        </m:num>
                        <m:den>
                          <m:r>
                            <a:rPr lang="zh-CN" altLang="en-US" sz="2400" i="1">
                              <a:solidFill>
                                <a:prstClr val="black"/>
                              </a:solidFill>
                              <a:latin typeface="Cambria Math" panose="02040503050406030204" pitchFamily="18" charset="0"/>
                            </a:rPr>
                            <m:t>𝑛</m:t>
                          </m:r>
                        </m:den>
                      </m:f>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19" name="矩形 18"/>
              <p:cNvSpPr>
                <a:spLocks noRot="1" noChangeAspect="1" noMove="1" noResize="1" noEditPoints="1" noAdjustHandles="1" noChangeArrowheads="1" noChangeShapeType="1" noTextEdit="1"/>
              </p:cNvSpPr>
              <p:nvPr/>
            </p:nvSpPr>
            <p:spPr>
              <a:xfrm>
                <a:off x="2965539" y="2972852"/>
                <a:ext cx="2782685" cy="595484"/>
              </a:xfrm>
              <a:prstGeom prst="rect">
                <a:avLst/>
              </a:prstGeom>
              <a:blipFill>
                <a:blip r:embed="rId5"/>
                <a:stretch>
                  <a:fillRect/>
                </a:stretch>
              </a:blipFill>
            </p:spPr>
            <p:txBody>
              <a:bodyPr/>
              <a:lstStyle/>
              <a:p>
                <a:r>
                  <a:rPr lang="zh-CN" altLang="en-US">
                    <a:noFill/>
                  </a:rPr>
                  <a:t> </a:t>
                </a:r>
              </a:p>
            </p:txBody>
          </p:sp>
        </mc:Fallback>
      </mc:AlternateContent>
      <p:sp>
        <p:nvSpPr>
          <p:cNvPr id="21" name="矩形 20"/>
          <p:cNvSpPr/>
          <p:nvPr/>
        </p:nvSpPr>
        <p:spPr>
          <a:xfrm>
            <a:off x="239349" y="4831072"/>
            <a:ext cx="11785600" cy="995016"/>
          </a:xfrm>
          <a:prstGeom prst="rect">
            <a:avLst/>
          </a:prstGeom>
        </p:spPr>
        <p:txBody>
          <a:bodyPr wrap="square">
            <a:spAutoFit/>
          </a:bodyPr>
          <a:lstStyle/>
          <a:p>
            <a:pPr fontAlgn="base">
              <a:spcBef>
                <a:spcPct val="0"/>
              </a:spcBef>
              <a:spcAft>
                <a:spcPct val="0"/>
              </a:spcAft>
            </a:pPr>
            <a:r>
              <a:rPr lang="en-US" altLang="zh-CN" sz="2933" b="1" kern="0" dirty="0">
                <a:solidFill>
                  <a:srgbClr val="07144B"/>
                </a:solidFill>
                <a:latin typeface="Times New Roman" panose="02020603050405020304" pitchFamily="18" charset="0"/>
              </a:rPr>
              <a:t>The median is the </a:t>
            </a:r>
            <a:r>
              <a:rPr lang="en-US" altLang="zh-CN" sz="2933" b="1" kern="0" dirty="0">
                <a:solidFill>
                  <a:srgbClr val="C00000"/>
                </a:solidFill>
                <a:latin typeface="Times New Roman" panose="02020603050405020304" pitchFamily="18" charset="0"/>
              </a:rPr>
              <a:t>middle value </a:t>
            </a:r>
            <a:r>
              <a:rPr lang="en-US" altLang="zh-CN" sz="2933" b="1" kern="0" dirty="0">
                <a:solidFill>
                  <a:srgbClr val="07144B"/>
                </a:solidFill>
                <a:latin typeface="Times New Roman" panose="02020603050405020304" pitchFamily="18" charset="0"/>
              </a:rPr>
              <a:t>when the measurements in the data set are written down in </a:t>
            </a:r>
            <a:r>
              <a:rPr lang="en-US" altLang="zh-CN" sz="2933" b="1" u="sng" kern="0" dirty="0">
                <a:solidFill>
                  <a:srgbClr val="C00000"/>
                </a:solidFill>
                <a:latin typeface="Times New Roman" panose="02020603050405020304" pitchFamily="18" charset="0"/>
              </a:rPr>
              <a:t>ascending </a:t>
            </a:r>
            <a:r>
              <a:rPr lang="en-US" altLang="zh-CN" sz="2933" b="1" u="sng" kern="0" dirty="0">
                <a:solidFill>
                  <a:srgbClr val="C00000"/>
                </a:solidFill>
                <a:latin typeface="Times New Roman" panose="02020603050405020304" pitchFamily="18" charset="0"/>
              </a:rPr>
              <a:t>order(</a:t>
            </a:r>
            <a:r>
              <a:rPr lang="zh-CN" altLang="en-US" sz="2933" b="1" u="sng" kern="0" dirty="0">
                <a:solidFill>
                  <a:srgbClr val="C00000"/>
                </a:solidFill>
                <a:latin typeface="Times New Roman" panose="02020603050405020304" pitchFamily="18" charset="0"/>
              </a:rPr>
              <a:t>递升次序</a:t>
            </a:r>
            <a:r>
              <a:rPr lang="en-US" altLang="zh-CN" sz="2933" b="1" u="sng" kern="0" dirty="0">
                <a:solidFill>
                  <a:srgbClr val="C00000"/>
                </a:solidFill>
                <a:latin typeface="Times New Roman" panose="02020603050405020304" pitchFamily="18" charset="0"/>
              </a:rPr>
              <a:t>)</a:t>
            </a:r>
            <a:r>
              <a:rPr lang="en-US" altLang="zh-CN" sz="2933" b="1" kern="0" dirty="0">
                <a:solidFill>
                  <a:srgbClr val="C00000"/>
                </a:solidFill>
                <a:latin typeface="Times New Roman" panose="02020603050405020304" pitchFamily="18" charset="0"/>
              </a:rPr>
              <a:t> </a:t>
            </a:r>
            <a:r>
              <a:rPr lang="en-US" altLang="zh-CN" sz="2933" b="1" kern="0" dirty="0">
                <a:solidFill>
                  <a:srgbClr val="07144B"/>
                </a:solidFill>
                <a:latin typeface="Times New Roman" panose="02020603050405020304" pitchFamily="18" charset="0"/>
              </a:rPr>
              <a:t>of magnitude</a:t>
            </a:r>
            <a:r>
              <a:rPr lang="en-US" altLang="zh-CN" sz="2933" kern="0" dirty="0">
                <a:solidFill>
                  <a:prstClr val="black"/>
                </a:solidFill>
                <a:latin typeface="Times New Roman" panose="02020603050405020304" pitchFamily="18" charset="0"/>
              </a:rPr>
              <a:t>. </a:t>
            </a:r>
            <a:endParaRPr lang="zh-CN" altLang="en-US" sz="2933" dirty="0">
              <a:solidFill>
                <a:prstClr val="black"/>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98617405"/>
      </p:ext>
    </p:extLst>
  </p:cSld>
  <p:clrMapOvr>
    <a:masterClrMapping/>
  </p:clrMapOvr>
  <p:transition spd="slow" advClick="0" advTm="300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5" name="矩形 4"/>
          <p:cNvSpPr/>
          <p:nvPr/>
        </p:nvSpPr>
        <p:spPr>
          <a:xfrm>
            <a:off x="7127024" y="156216"/>
            <a:ext cx="4971874" cy="461665"/>
          </a:xfrm>
          <a:prstGeom prst="rect">
            <a:avLst/>
          </a:prstGeom>
        </p:spPr>
        <p:txBody>
          <a:bodyPr wrap="none">
            <a:spAutoFit/>
          </a:bodyPr>
          <a:lstStyle/>
          <a:p>
            <a:pPr marL="0" lvl="2" fontAlgn="base">
              <a:spcBef>
                <a:spcPts val="800"/>
              </a:spcBef>
              <a:spcAft>
                <a:spcPts val="800"/>
              </a:spcAft>
            </a:pP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Standard </a:t>
            </a: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Deviation and </a:t>
            </a: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Variance</a:t>
            </a:r>
            <a:endParaRPr lang="zh-CN" altLang="zh-CN" sz="2400" kern="100" dirty="0">
              <a:solidFill>
                <a:srgbClr val="FFC000"/>
              </a:solidFill>
              <a:latin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矩形 21"/>
              <p:cNvSpPr/>
              <p:nvPr/>
            </p:nvSpPr>
            <p:spPr>
              <a:xfrm>
                <a:off x="162107" y="669596"/>
                <a:ext cx="6280661" cy="2554545"/>
              </a:xfrm>
              <a:prstGeom prst="rect">
                <a:avLst/>
              </a:prstGeom>
              <a:solidFill>
                <a:schemeClr val="accent6">
                  <a:lumMod val="20000"/>
                  <a:lumOff val="80000"/>
                </a:schemeClr>
              </a:solidFill>
            </p:spPr>
            <p:txBody>
              <a:bodyPr wrap="square">
                <a:spAutoFit/>
              </a:bodyPr>
              <a:lstStyle/>
              <a:p>
                <a:pPr algn="just" fontAlgn="base">
                  <a:spcBef>
                    <a:spcPct val="0"/>
                  </a:spcBef>
                </a:pPr>
                <a:r>
                  <a:rPr lang="en-US" altLang="zh-CN" sz="3200" b="1" kern="0" dirty="0">
                    <a:solidFill>
                      <a:prstClr val="black"/>
                    </a:solidFill>
                    <a:latin typeface="Times New Roman" panose="02020603050405020304" pitchFamily="18" charset="0"/>
                    <a:cs typeface="Times New Roman" panose="02020603050405020304" pitchFamily="18" charset="0"/>
                  </a:rPr>
                  <a:t>The deviation </a:t>
                </a:r>
                <a:r>
                  <a:rPr lang="en-US" altLang="zh-CN" sz="3200" b="1" kern="0" dirty="0">
                    <a:solidFill>
                      <a:prstClr val="black"/>
                    </a:solidFill>
                    <a:latin typeface="Times New Roman" panose="02020603050405020304" pitchFamily="18" charset="0"/>
                    <a:cs typeface="Times New Roman" panose="02020603050405020304" pitchFamily="18" charset="0"/>
                  </a:rPr>
                  <a:t>(error) </a:t>
                </a:r>
                <a:r>
                  <a:rPr lang="en-US" altLang="zh-CN" sz="3200" b="1" i="1" kern="0" dirty="0">
                    <a:solidFill>
                      <a:prstClr val="black"/>
                    </a:solidFill>
                    <a:latin typeface="Times New Roman" panose="02020603050405020304" pitchFamily="18" charset="0"/>
                    <a:cs typeface="Times New Roman" panose="02020603050405020304" pitchFamily="18" charset="0"/>
                  </a:rPr>
                  <a:t>d</a:t>
                </a:r>
                <a:r>
                  <a:rPr lang="en-US" altLang="zh-CN" sz="3200" b="1" i="1" kern="0" baseline="-25000" dirty="0">
                    <a:solidFill>
                      <a:prstClr val="black"/>
                    </a:solidFill>
                    <a:latin typeface="Times New Roman" panose="02020603050405020304" pitchFamily="18" charset="0"/>
                    <a:cs typeface="Times New Roman" panose="02020603050405020304" pitchFamily="18" charset="0"/>
                  </a:rPr>
                  <a:t>i</a:t>
                </a:r>
                <a:r>
                  <a:rPr lang="en-US" altLang="zh-CN" sz="3200" b="1" kern="0" dirty="0">
                    <a:solidFill>
                      <a:prstClr val="black"/>
                    </a:solidFill>
                    <a:latin typeface="Times New Roman" panose="02020603050405020304" pitchFamily="18" charset="0"/>
                    <a:cs typeface="Times New Roman" panose="02020603050405020304" pitchFamily="18" charset="0"/>
                  </a:rPr>
                  <a:t> of each measurement </a:t>
                </a:r>
                <a14:m>
                  <m:oMath xmlns:m="http://schemas.openxmlformats.org/officeDocument/2006/math">
                    <m:sSub>
                      <m:sSubPr>
                        <m:ctrlPr>
                          <a:rPr lang="zh-CN" altLang="zh-CN" sz="3200" b="1" i="1" ker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prstClr val="black"/>
                            </a:solidFill>
                            <a:latin typeface="Cambria Math" panose="02040503050406030204" pitchFamily="18" charset="0"/>
                            <a:cs typeface="Times New Roman" panose="02020603050405020304" pitchFamily="18" charset="0"/>
                          </a:rPr>
                          <m:t>𝒙</m:t>
                        </m:r>
                      </m:e>
                      <m:sub>
                        <m:r>
                          <a:rPr lang="en-US" altLang="zh-CN" sz="3200" b="1" i="1" kern="0">
                            <a:solidFill>
                              <a:prstClr val="black"/>
                            </a:solidFill>
                            <a:latin typeface="Cambria Math" panose="02040503050406030204" pitchFamily="18" charset="0"/>
                            <a:cs typeface="Times New Roman" panose="02020603050405020304" pitchFamily="18" charset="0"/>
                          </a:rPr>
                          <m:t>𝒊</m:t>
                        </m:r>
                      </m:sub>
                    </m:sSub>
                    <m:r>
                      <a:rPr lang="en-US" altLang="zh-CN" sz="3200" b="1" kern="0">
                        <a:solidFill>
                          <a:prstClr val="black"/>
                        </a:solidFill>
                        <a:latin typeface="Cambria Math" panose="02040503050406030204" pitchFamily="18" charset="0"/>
                        <a:cs typeface="Times New Roman" panose="02020603050405020304" pitchFamily="18" charset="0"/>
                      </a:rPr>
                      <m:t> </m:t>
                    </m:r>
                  </m:oMath>
                </a14:m>
                <a:r>
                  <a:rPr lang="en-US" altLang="zh-CN" sz="3200" b="1" kern="0" dirty="0">
                    <a:solidFill>
                      <a:prstClr val="black"/>
                    </a:solidFill>
                    <a:latin typeface="Times New Roman" panose="02020603050405020304" pitchFamily="18" charset="0"/>
                    <a:cs typeface="Times New Roman" panose="02020603050405020304" pitchFamily="18" charset="0"/>
                  </a:rPr>
                  <a:t>from the mean value </a:t>
                </a:r>
                <a14:m>
                  <m:oMath xmlns:m="http://schemas.openxmlformats.org/officeDocument/2006/math">
                    <m:sSub>
                      <m:sSubPr>
                        <m:ctrlPr>
                          <a:rPr lang="zh-CN" altLang="zh-CN" sz="3200" b="1" i="1" ker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prstClr val="black"/>
                            </a:solidFill>
                            <a:latin typeface="Cambria Math" panose="02040503050406030204" pitchFamily="18" charset="0"/>
                            <a:cs typeface="Times New Roman" panose="02020603050405020304" pitchFamily="18" charset="0"/>
                          </a:rPr>
                          <m:t>𝒙</m:t>
                        </m:r>
                      </m:e>
                      <m:sub>
                        <m:r>
                          <a:rPr lang="en-US" altLang="zh-CN" sz="3200" b="1" i="1" kern="0">
                            <a:solidFill>
                              <a:prstClr val="black"/>
                            </a:solidFill>
                            <a:latin typeface="Cambria Math" panose="02040503050406030204" pitchFamily="18" charset="0"/>
                            <a:cs typeface="Times New Roman" panose="02020603050405020304" pitchFamily="18" charset="0"/>
                          </a:rPr>
                          <m:t>𝒎𝒆𝒂𝒏</m:t>
                        </m:r>
                      </m:sub>
                    </m:sSub>
                    <m:r>
                      <a:rPr lang="en-US" altLang="zh-CN" sz="3200" b="1" kern="0">
                        <a:solidFill>
                          <a:prstClr val="black"/>
                        </a:solidFill>
                        <a:latin typeface="Cambria Math" panose="02040503050406030204" pitchFamily="18" charset="0"/>
                        <a:cs typeface="Times New Roman" panose="02020603050405020304" pitchFamily="18" charset="0"/>
                      </a:rPr>
                      <m:t> </m:t>
                    </m:r>
                  </m:oMath>
                </a14:m>
                <a:r>
                  <a:rPr lang="en-US" altLang="zh-CN" sz="3200" b="1" kern="0" dirty="0">
                    <a:solidFill>
                      <a:prstClr val="black"/>
                    </a:solidFill>
                    <a:latin typeface="Times New Roman" panose="02020603050405020304" pitchFamily="18" charset="0"/>
                    <a:cs typeface="Times New Roman" panose="02020603050405020304" pitchFamily="18" charset="0"/>
                  </a:rPr>
                  <a:t>in a set of measurements </a:t>
                </a:r>
                <a14:m>
                  <m:oMath xmlns:m="http://schemas.openxmlformats.org/officeDocument/2006/math">
                    <m:sSub>
                      <m:sSubPr>
                        <m:ctrlPr>
                          <a:rPr lang="zh-CN" altLang="zh-CN" sz="3200" b="1" i="1" ker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prstClr val="black"/>
                            </a:solidFill>
                            <a:latin typeface="Cambria Math" panose="02040503050406030204" pitchFamily="18" charset="0"/>
                            <a:cs typeface="Times New Roman" panose="02020603050405020304" pitchFamily="18" charset="0"/>
                          </a:rPr>
                          <m:t>𝒙</m:t>
                        </m:r>
                      </m:e>
                      <m:sub>
                        <m:r>
                          <a:rPr lang="en-US" altLang="zh-CN" sz="3200" b="1" i="1" kern="0">
                            <a:solidFill>
                              <a:prstClr val="black"/>
                            </a:solidFill>
                            <a:latin typeface="Cambria Math" panose="02040503050406030204" pitchFamily="18" charset="0"/>
                            <a:cs typeface="Times New Roman" panose="02020603050405020304" pitchFamily="18" charset="0"/>
                          </a:rPr>
                          <m:t>𝟏</m:t>
                        </m:r>
                      </m:sub>
                    </m:sSub>
                    <m:r>
                      <a:rPr lang="en-US" altLang="zh-CN" sz="3200" b="1" kern="0">
                        <a:solidFill>
                          <a:prstClr val="black"/>
                        </a:solidFill>
                        <a:latin typeface="Cambria Math" panose="02040503050406030204" pitchFamily="18" charset="0"/>
                        <a:cs typeface="Times New Roman" panose="02020603050405020304" pitchFamily="18" charset="0"/>
                      </a:rPr>
                      <m:t>, </m:t>
                    </m:r>
                    <m:sSub>
                      <m:sSubPr>
                        <m:ctrlPr>
                          <a:rPr lang="zh-CN" altLang="zh-CN" sz="3200" b="1" i="1" ker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prstClr val="black"/>
                            </a:solidFill>
                            <a:latin typeface="Cambria Math" panose="02040503050406030204" pitchFamily="18" charset="0"/>
                            <a:cs typeface="Times New Roman" panose="02020603050405020304" pitchFamily="18" charset="0"/>
                          </a:rPr>
                          <m:t>𝒙</m:t>
                        </m:r>
                      </m:e>
                      <m:sub>
                        <m:r>
                          <a:rPr lang="en-US" altLang="zh-CN" sz="3200" b="1" i="1" kern="0">
                            <a:solidFill>
                              <a:prstClr val="black"/>
                            </a:solidFill>
                            <a:latin typeface="Cambria Math" panose="02040503050406030204" pitchFamily="18" charset="0"/>
                            <a:cs typeface="Times New Roman" panose="02020603050405020304" pitchFamily="18" charset="0"/>
                          </a:rPr>
                          <m:t>𝟐</m:t>
                        </m:r>
                      </m:sub>
                    </m:sSub>
                    <m:r>
                      <a:rPr lang="en-US" altLang="zh-CN" sz="3200" b="1" kern="0">
                        <a:solidFill>
                          <a:prstClr val="black"/>
                        </a:solidFill>
                        <a:latin typeface="Cambria Math" panose="02040503050406030204" pitchFamily="18" charset="0"/>
                        <a:cs typeface="Times New Roman" panose="02020603050405020304" pitchFamily="18" charset="0"/>
                      </a:rPr>
                      <m:t>, ⋯, </m:t>
                    </m:r>
                    <m:sSub>
                      <m:sSubPr>
                        <m:ctrlPr>
                          <a:rPr lang="zh-CN" altLang="zh-CN" sz="3200" b="1" i="1" ker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prstClr val="black"/>
                            </a:solidFill>
                            <a:latin typeface="Cambria Math" panose="02040503050406030204" pitchFamily="18" charset="0"/>
                            <a:cs typeface="Times New Roman" panose="02020603050405020304" pitchFamily="18" charset="0"/>
                          </a:rPr>
                          <m:t>𝒙</m:t>
                        </m:r>
                      </m:e>
                      <m:sub>
                        <m:r>
                          <a:rPr lang="en-US" altLang="zh-CN" sz="3200" b="1" i="1" kern="0">
                            <a:solidFill>
                              <a:prstClr val="black"/>
                            </a:solidFill>
                            <a:latin typeface="Cambria Math" panose="02040503050406030204" pitchFamily="18" charset="0"/>
                            <a:cs typeface="Times New Roman" panose="02020603050405020304" pitchFamily="18" charset="0"/>
                          </a:rPr>
                          <m:t>𝒏</m:t>
                        </m:r>
                      </m:sub>
                    </m:sSub>
                  </m:oMath>
                </a14:m>
                <a:r>
                  <a:rPr lang="en-US" altLang="zh-CN" sz="3200" b="1" kern="0" dirty="0">
                    <a:solidFill>
                      <a:prstClr val="black"/>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3200" b="1" i="1" ker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prstClr val="black"/>
                            </a:solidFill>
                            <a:latin typeface="Cambria Math" panose="02040503050406030204" pitchFamily="18" charset="0"/>
                            <a:cs typeface="Times New Roman" panose="02020603050405020304" pitchFamily="18" charset="0"/>
                          </a:rPr>
                          <m:t>𝒅</m:t>
                        </m:r>
                      </m:e>
                      <m:sub>
                        <m:r>
                          <a:rPr lang="en-US" altLang="zh-CN" sz="3200" b="1" i="1" kern="0">
                            <a:solidFill>
                              <a:prstClr val="black"/>
                            </a:solidFill>
                            <a:latin typeface="Cambria Math" panose="02040503050406030204" pitchFamily="18" charset="0"/>
                            <a:cs typeface="Times New Roman" panose="02020603050405020304" pitchFamily="18" charset="0"/>
                          </a:rPr>
                          <m:t>𝒊</m:t>
                        </m:r>
                      </m:sub>
                    </m:sSub>
                    <m:r>
                      <a:rPr lang="en-US" altLang="zh-CN" sz="3200" b="1" kern="0">
                        <a:solidFill>
                          <a:prstClr val="black"/>
                        </a:solidFill>
                        <a:latin typeface="Cambria Math" panose="02040503050406030204" pitchFamily="18" charset="0"/>
                        <a:cs typeface="Times New Roman" panose="02020603050405020304" pitchFamily="18" charset="0"/>
                      </a:rPr>
                      <m:t>=</m:t>
                    </m:r>
                    <m:sSub>
                      <m:sSubPr>
                        <m:ctrlPr>
                          <a:rPr lang="zh-CN" altLang="zh-CN" sz="3200" b="1" i="1" ker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prstClr val="black"/>
                            </a:solidFill>
                            <a:latin typeface="Cambria Math" panose="02040503050406030204" pitchFamily="18" charset="0"/>
                            <a:cs typeface="Times New Roman" panose="02020603050405020304" pitchFamily="18" charset="0"/>
                          </a:rPr>
                          <m:t>𝒙</m:t>
                        </m:r>
                      </m:e>
                      <m:sub>
                        <m:r>
                          <a:rPr lang="en-US" altLang="zh-CN" sz="3200" b="1" i="1" kern="0">
                            <a:solidFill>
                              <a:prstClr val="black"/>
                            </a:solidFill>
                            <a:latin typeface="Cambria Math" panose="02040503050406030204" pitchFamily="18" charset="0"/>
                            <a:cs typeface="Times New Roman" panose="02020603050405020304" pitchFamily="18" charset="0"/>
                          </a:rPr>
                          <m:t>𝒊</m:t>
                        </m:r>
                      </m:sub>
                    </m:sSub>
                    <m:r>
                      <a:rPr lang="en-US" altLang="zh-CN" sz="3200" b="1" i="1" kern="0">
                        <a:solidFill>
                          <a:prstClr val="black"/>
                        </a:solidFill>
                        <a:latin typeface="Cambria Math" panose="02040503050406030204" pitchFamily="18" charset="0"/>
                        <a:cs typeface="Times New Roman" panose="02020603050405020304" pitchFamily="18" charset="0"/>
                      </a:rPr>
                      <m:t>−</m:t>
                    </m:r>
                    <m:sSub>
                      <m:sSubPr>
                        <m:ctrlPr>
                          <a:rPr lang="zh-CN" altLang="zh-CN" sz="3200" b="1" i="1" ker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prstClr val="black"/>
                            </a:solidFill>
                            <a:latin typeface="Cambria Math" panose="02040503050406030204" pitchFamily="18" charset="0"/>
                            <a:cs typeface="Times New Roman" panose="02020603050405020304" pitchFamily="18" charset="0"/>
                          </a:rPr>
                          <m:t>𝒙</m:t>
                        </m:r>
                      </m:e>
                      <m:sub>
                        <m:r>
                          <a:rPr lang="en-US" altLang="zh-CN" sz="3200" b="1" i="1" kern="0">
                            <a:solidFill>
                              <a:prstClr val="black"/>
                            </a:solidFill>
                            <a:latin typeface="Cambria Math" panose="02040503050406030204" pitchFamily="18" charset="0"/>
                            <a:cs typeface="Times New Roman" panose="02020603050405020304" pitchFamily="18" charset="0"/>
                          </a:rPr>
                          <m:t>𝒎𝒆𝒂𝒏</m:t>
                        </m:r>
                      </m:sub>
                    </m:sSub>
                  </m:oMath>
                </a14:m>
                <a:r>
                  <a:rPr lang="en-US" altLang="zh-CN" sz="3200" b="1" kern="0" dirty="0">
                    <a:solidFill>
                      <a:prstClr val="black"/>
                    </a:solidFill>
                    <a:latin typeface="Times New Roman" panose="02020603050405020304" pitchFamily="18" charset="0"/>
                    <a:cs typeface="Times New Roman" panose="02020603050405020304" pitchFamily="18" charset="0"/>
                  </a:rPr>
                  <a:t>. </a:t>
                </a:r>
                <a:endParaRPr lang="zh-CN" altLang="zh-CN" sz="3200" b="1" kern="100" dirty="0">
                  <a:solidFill>
                    <a:prstClr val="black"/>
                  </a:solidFill>
                  <a:latin typeface="等线" panose="02010600030101010101" pitchFamily="2" charset="-122"/>
                  <a:cs typeface="Times New Roman" panose="02020603050405020304" pitchFamily="18" charset="0"/>
                </a:endParaRPr>
              </a:p>
            </p:txBody>
          </p:sp>
        </mc:Choice>
        <mc:Fallback xmlns="">
          <p:sp>
            <p:nvSpPr>
              <p:cNvPr id="22" name="矩形 21"/>
              <p:cNvSpPr>
                <a:spLocks noRot="1" noChangeAspect="1" noMove="1" noResize="1" noEditPoints="1" noAdjustHandles="1" noChangeArrowheads="1" noChangeShapeType="1" noTextEdit="1"/>
              </p:cNvSpPr>
              <p:nvPr/>
            </p:nvSpPr>
            <p:spPr>
              <a:xfrm>
                <a:off x="121580" y="502197"/>
                <a:ext cx="4710496" cy="1938992"/>
              </a:xfrm>
              <a:prstGeom prst="rect">
                <a:avLst/>
              </a:prstGeom>
              <a:blipFill>
                <a:blip r:embed="rId5"/>
                <a:stretch>
                  <a:fillRect l="-2070" t="-2516" r="-1940" b="-59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9386310" y="882136"/>
                <a:ext cx="1742657" cy="1100558"/>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𝑉</m:t>
                          </m:r>
                        </m:e>
                        <m:sub>
                          <m:r>
                            <a:rPr lang="zh-CN" altLang="en-US" sz="2400" i="1">
                              <a:solidFill>
                                <a:prstClr val="black"/>
                              </a:solidFill>
                              <a:latin typeface="Cambria Math" panose="02040503050406030204" pitchFamily="18" charset="0"/>
                            </a:rPr>
                            <m:t>𝑆</m:t>
                          </m:r>
                        </m:sub>
                      </m:sSub>
                      <m:r>
                        <a:rPr lang="zh-CN" altLang="en-US" sz="2400">
                          <a:solidFill>
                            <a:prstClr val="black"/>
                          </a:solidFill>
                          <a:latin typeface="Cambria Math" panose="02040503050406030204" pitchFamily="18" charset="0"/>
                        </a:rPr>
                        <m:t>=</m:t>
                      </m:r>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f>
                            <m:fPr>
                              <m:ctrlPr>
                                <a:rPr lang="zh-CN" altLang="en-US" sz="2400" i="1">
                                  <a:solidFill>
                                    <a:prstClr val="black"/>
                                  </a:solidFill>
                                  <a:latin typeface="Cambria Math" panose="02040503050406030204" pitchFamily="18" charset="0"/>
                                </a:rPr>
                              </m:ctrlPr>
                            </m:fPr>
                            <m:num>
                              <m:sSubSup>
                                <m:sSubSupPr>
                                  <m:ctrlPr>
                                    <a:rPr lang="zh-CN" altLang="en-US" sz="2400" i="1">
                                      <a:solidFill>
                                        <a:prstClr val="black"/>
                                      </a:solidFill>
                                      <a:latin typeface="Cambria Math" panose="02040503050406030204" pitchFamily="18" charset="0"/>
                                    </a:rPr>
                                  </m:ctrlPr>
                                </m:sSubSupPr>
                                <m:e>
                                  <m:r>
                                    <a:rPr lang="zh-CN" altLang="en-US" sz="2400" i="1">
                                      <a:solidFill>
                                        <a:prstClr val="black"/>
                                      </a:solidFill>
                                      <a:latin typeface="Cambria Math" panose="02040503050406030204" pitchFamily="18" charset="0"/>
                                    </a:rPr>
                                    <m:t>𝑑</m:t>
                                  </m:r>
                                </m:e>
                                <m:sub>
                                  <m:r>
                                    <a:rPr lang="zh-CN" altLang="en-US" sz="2400" i="1">
                                      <a:solidFill>
                                        <a:prstClr val="black"/>
                                      </a:solidFill>
                                      <a:latin typeface="Cambria Math" panose="02040503050406030204" pitchFamily="18" charset="0"/>
                                    </a:rPr>
                                    <m:t>𝑖</m:t>
                                  </m:r>
                                </m:sub>
                                <m:sup>
                                  <m:r>
                                    <a:rPr lang="zh-CN" altLang="en-US" sz="2400">
                                      <a:solidFill>
                                        <a:prstClr val="black"/>
                                      </a:solidFill>
                                      <a:latin typeface="Cambria Math" panose="02040503050406030204" pitchFamily="18" charset="0"/>
                                    </a:rPr>
                                    <m:t>2</m:t>
                                  </m:r>
                                </m:sup>
                              </m:sSubSup>
                            </m:num>
                            <m:den>
                              <m:r>
                                <a:rPr lang="zh-CN" altLang="en-US" sz="2400" i="1">
                                  <a:solidFill>
                                    <a:prstClr val="black"/>
                                  </a:solidFill>
                                  <a:latin typeface="Cambria Math" panose="02040503050406030204" pitchFamily="18" charset="0"/>
                                </a:rPr>
                                <m:t>𝑛</m:t>
                              </m:r>
                            </m:den>
                          </m:f>
                        </m:e>
                      </m:nary>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24" name="矩形 23"/>
              <p:cNvSpPr>
                <a:spLocks noRot="1" noChangeAspect="1" noMove="1" noResize="1" noEditPoints="1" noAdjustHandles="1" noChangeArrowheads="1" noChangeShapeType="1" noTextEdit="1"/>
              </p:cNvSpPr>
              <p:nvPr/>
            </p:nvSpPr>
            <p:spPr>
              <a:xfrm>
                <a:off x="7039732" y="661602"/>
                <a:ext cx="1355179" cy="84856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9056073" y="1840081"/>
                <a:ext cx="2794676" cy="1529201"/>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r>
                        <a:rPr lang="zh-CN" altLang="en-US" sz="2400" i="1">
                          <a:solidFill>
                            <a:prstClr val="black"/>
                          </a:solidFill>
                          <a:latin typeface="Cambria Math" panose="02040503050406030204" pitchFamily="18" charset="0"/>
                        </a:rPr>
                        <m:t>𝜎</m:t>
                      </m:r>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𝑉</m:t>
                              </m:r>
                            </m:e>
                            <m:sub>
                              <m:r>
                                <a:rPr lang="zh-CN" altLang="en-US" sz="2400" i="1">
                                  <a:solidFill>
                                    <a:prstClr val="black"/>
                                  </a:solidFill>
                                  <a:latin typeface="Cambria Math" panose="02040503050406030204" pitchFamily="18" charset="0"/>
                                </a:rPr>
                                <m:t>𝑆</m:t>
                              </m:r>
                            </m:sub>
                          </m:sSub>
                        </m:e>
                      </m:rad>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f>
                                <m:fPr>
                                  <m:ctrlPr>
                                    <a:rPr lang="zh-CN" altLang="en-US" sz="2400" i="1">
                                      <a:solidFill>
                                        <a:prstClr val="black"/>
                                      </a:solidFill>
                                      <a:latin typeface="Cambria Math" panose="02040503050406030204" pitchFamily="18" charset="0"/>
                                    </a:rPr>
                                  </m:ctrlPr>
                                </m:fPr>
                                <m:num>
                                  <m:sSubSup>
                                    <m:sSubSupPr>
                                      <m:ctrlPr>
                                        <a:rPr lang="zh-CN" altLang="en-US" sz="2400" i="1">
                                          <a:solidFill>
                                            <a:prstClr val="black"/>
                                          </a:solidFill>
                                          <a:latin typeface="Cambria Math" panose="02040503050406030204" pitchFamily="18" charset="0"/>
                                        </a:rPr>
                                      </m:ctrlPr>
                                    </m:sSubSupPr>
                                    <m:e>
                                      <m:r>
                                        <a:rPr lang="zh-CN" altLang="en-US" sz="2400" i="1">
                                          <a:solidFill>
                                            <a:prstClr val="black"/>
                                          </a:solidFill>
                                          <a:latin typeface="Cambria Math" panose="02040503050406030204" pitchFamily="18" charset="0"/>
                                        </a:rPr>
                                        <m:t>𝑑</m:t>
                                      </m:r>
                                    </m:e>
                                    <m:sub>
                                      <m:r>
                                        <a:rPr lang="zh-CN" altLang="en-US" sz="2400" i="1">
                                          <a:solidFill>
                                            <a:prstClr val="black"/>
                                          </a:solidFill>
                                          <a:latin typeface="Cambria Math" panose="02040503050406030204" pitchFamily="18" charset="0"/>
                                        </a:rPr>
                                        <m:t>𝑖</m:t>
                                      </m:r>
                                    </m:sub>
                                    <m:sup>
                                      <m:r>
                                        <a:rPr lang="zh-CN" altLang="en-US" sz="2400">
                                          <a:solidFill>
                                            <a:prstClr val="black"/>
                                          </a:solidFill>
                                          <a:latin typeface="Cambria Math" panose="02040503050406030204" pitchFamily="18" charset="0"/>
                                        </a:rPr>
                                        <m:t>2</m:t>
                                      </m:r>
                                    </m:sup>
                                  </m:sSubSup>
                                </m:num>
                                <m:den>
                                  <m:r>
                                    <a:rPr lang="zh-CN" altLang="en-US" sz="2400" i="1">
                                      <a:solidFill>
                                        <a:prstClr val="black"/>
                                      </a:solidFill>
                                      <a:latin typeface="Cambria Math" panose="02040503050406030204" pitchFamily="18" charset="0"/>
                                    </a:rPr>
                                    <m:t>𝑛</m:t>
                                  </m:r>
                                </m:den>
                              </m:f>
                            </m:e>
                          </m:nary>
                        </m:e>
                      </m:rad>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35" name="矩形 34"/>
              <p:cNvSpPr>
                <a:spLocks noRot="1" noChangeAspect="1" noMove="1" noResize="1" noEditPoints="1" noAdjustHandles="1" noChangeArrowheads="1" noChangeShapeType="1" noTextEdit="1"/>
              </p:cNvSpPr>
              <p:nvPr/>
            </p:nvSpPr>
            <p:spPr>
              <a:xfrm>
                <a:off x="6792055" y="1380060"/>
                <a:ext cx="2145459" cy="1169936"/>
              </a:xfrm>
              <a:prstGeom prst="rect">
                <a:avLst/>
              </a:prstGeom>
              <a:blipFill>
                <a:blip r:embed="rId7"/>
                <a:stretch>
                  <a:fillRect/>
                </a:stretch>
              </a:blipFill>
            </p:spPr>
            <p:txBody>
              <a:bodyPr/>
              <a:lstStyle/>
              <a:p>
                <a:r>
                  <a:rPr lang="zh-CN" altLang="en-US">
                    <a:noFill/>
                  </a:rPr>
                  <a:t> </a:t>
                </a:r>
              </a:p>
            </p:txBody>
          </p:sp>
        </mc:Fallback>
      </mc:AlternateContent>
      <p:sp>
        <p:nvSpPr>
          <p:cNvPr id="37" name="矩形 36"/>
          <p:cNvSpPr/>
          <p:nvPr/>
        </p:nvSpPr>
        <p:spPr>
          <a:xfrm>
            <a:off x="6684130" y="1137485"/>
            <a:ext cx="2427268" cy="502766"/>
          </a:xfrm>
          <a:prstGeom prst="rect">
            <a:avLst/>
          </a:prstGeom>
        </p:spPr>
        <p:txBody>
          <a:bodyPr wrap="none">
            <a:spAutoFit/>
          </a:bodyPr>
          <a:lstStyle/>
          <a:p>
            <a:pPr fontAlgn="base">
              <a:spcBef>
                <a:spcPct val="0"/>
              </a:spcBef>
              <a:spcAft>
                <a:spcPct val="0"/>
              </a:spcAft>
            </a:pPr>
            <a:r>
              <a:rPr lang="en-US" altLang="zh-CN" sz="2667" b="1" kern="0" dirty="0">
                <a:solidFill>
                  <a:srgbClr val="C00000"/>
                </a:solidFill>
                <a:effectLst>
                  <a:outerShdw blurRad="38100" dist="38100" dir="2700000" algn="tl">
                    <a:srgbClr val="000000">
                      <a:alpha val="43137"/>
                    </a:srgbClr>
                  </a:outerShdw>
                </a:effectLst>
                <a:latin typeface="Times New Roman" panose="02020603050405020304" pitchFamily="18" charset="0"/>
              </a:rPr>
              <a:t>Variance(</a:t>
            </a:r>
            <a:r>
              <a:rPr lang="zh-CN" altLang="en-US" sz="2667" b="1" kern="0" dirty="0">
                <a:solidFill>
                  <a:srgbClr val="C00000"/>
                </a:solidFill>
                <a:effectLst>
                  <a:outerShdw blurRad="38100" dist="38100" dir="2700000" algn="tl">
                    <a:srgbClr val="000000">
                      <a:alpha val="43137"/>
                    </a:srgbClr>
                  </a:outerShdw>
                </a:effectLst>
                <a:latin typeface="Times New Roman" panose="02020603050405020304" pitchFamily="18" charset="0"/>
              </a:rPr>
              <a:t>方差</a:t>
            </a:r>
            <a:r>
              <a:rPr lang="en-US" altLang="zh-CN" sz="2667" b="1" kern="0" dirty="0">
                <a:solidFill>
                  <a:srgbClr val="C00000"/>
                </a:solidFill>
                <a:effectLst>
                  <a:outerShdw blurRad="38100" dist="38100" dir="2700000" algn="tl">
                    <a:srgbClr val="000000">
                      <a:alpha val="43137"/>
                    </a:srgbClr>
                  </a:outerShdw>
                </a:effectLst>
                <a:latin typeface="Times New Roman" panose="02020603050405020304" pitchFamily="18" charset="0"/>
              </a:rPr>
              <a:t>)</a:t>
            </a:r>
            <a:endParaRPr lang="zh-CN" altLang="en-US" sz="2667" b="1" dirty="0">
              <a:solidFill>
                <a:srgbClr val="C000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9" name="矩形 38"/>
          <p:cNvSpPr/>
          <p:nvPr/>
        </p:nvSpPr>
        <p:spPr>
          <a:xfrm>
            <a:off x="6586107" y="1953036"/>
            <a:ext cx="3158299" cy="913199"/>
          </a:xfrm>
          <a:prstGeom prst="rect">
            <a:avLst/>
          </a:prstGeom>
        </p:spPr>
        <p:txBody>
          <a:bodyPr wrap="square">
            <a:spAutoFit/>
          </a:bodyPr>
          <a:lstStyle/>
          <a:p>
            <a:pPr fontAlgn="base">
              <a:spcBef>
                <a:spcPct val="0"/>
              </a:spcBef>
              <a:spcAft>
                <a:spcPct val="0"/>
              </a:spcAft>
            </a:pPr>
            <a:r>
              <a:rPr lang="en-US" altLang="zh-CN" sz="2667" b="1" kern="0" dirty="0">
                <a:solidFill>
                  <a:srgbClr val="C00000"/>
                </a:solidFill>
                <a:effectLst>
                  <a:outerShdw blurRad="38100" dist="38100" dir="2700000" algn="tl">
                    <a:srgbClr val="000000">
                      <a:alpha val="43137"/>
                    </a:srgbClr>
                  </a:outerShdw>
                </a:effectLst>
                <a:latin typeface="Times New Roman" panose="02020603050405020304" pitchFamily="18" charset="0"/>
              </a:rPr>
              <a:t>Standard deviation</a:t>
            </a:r>
          </a:p>
          <a:p>
            <a:pPr fontAlgn="base">
              <a:spcBef>
                <a:spcPct val="0"/>
              </a:spcBef>
              <a:spcAft>
                <a:spcPct val="0"/>
              </a:spcAft>
            </a:pPr>
            <a:r>
              <a:rPr lang="en-US" altLang="zh-CN" sz="2667" b="1" kern="0" dirty="0">
                <a:solidFill>
                  <a:srgbClr val="C00000"/>
                </a:solidFill>
                <a:effectLst>
                  <a:outerShdw blurRad="38100" dist="38100" dir="2700000" algn="tl">
                    <a:srgbClr val="000000">
                      <a:alpha val="43137"/>
                    </a:srgbClr>
                  </a:outerShdw>
                </a:effectLst>
                <a:latin typeface="Times New Roman" panose="02020603050405020304" pitchFamily="18" charset="0"/>
              </a:rPr>
              <a:t>(</a:t>
            </a:r>
            <a:r>
              <a:rPr lang="zh-CN" altLang="en-US" sz="2667" b="1" kern="0" dirty="0">
                <a:solidFill>
                  <a:srgbClr val="C00000"/>
                </a:solidFill>
                <a:effectLst>
                  <a:outerShdw blurRad="38100" dist="38100" dir="2700000" algn="tl">
                    <a:srgbClr val="000000">
                      <a:alpha val="43137"/>
                    </a:srgbClr>
                  </a:outerShdw>
                </a:effectLst>
                <a:latin typeface="Times New Roman" panose="02020603050405020304" pitchFamily="18" charset="0"/>
              </a:rPr>
              <a:t>标准偏差</a:t>
            </a:r>
            <a:r>
              <a:rPr lang="en-US" altLang="zh-CN" sz="2667" b="1" kern="0" dirty="0">
                <a:solidFill>
                  <a:srgbClr val="C00000"/>
                </a:solidFill>
                <a:effectLst>
                  <a:outerShdw blurRad="38100" dist="38100" dir="2700000" algn="tl">
                    <a:srgbClr val="000000">
                      <a:alpha val="43137"/>
                    </a:srgbClr>
                  </a:outerShdw>
                </a:effectLst>
                <a:latin typeface="Times New Roman" panose="02020603050405020304" pitchFamily="18" charset="0"/>
              </a:rPr>
              <a:t>)</a:t>
            </a:r>
            <a:endParaRPr lang="zh-CN" altLang="en-US" sz="2667" b="1" kern="0" dirty="0">
              <a:solidFill>
                <a:srgbClr val="C00000"/>
              </a:solidFill>
              <a:effectLst>
                <a:outerShdw blurRad="38100" dist="38100" dir="2700000" algn="tl">
                  <a:srgbClr val="000000">
                    <a:alpha val="43137"/>
                  </a:srgbClr>
                </a:outerShdw>
              </a:effectLst>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1" name="矩形 40"/>
              <p:cNvSpPr/>
              <p:nvPr/>
            </p:nvSpPr>
            <p:spPr>
              <a:xfrm>
                <a:off x="303436" y="3465760"/>
                <a:ext cx="11425269" cy="2554545"/>
              </a:xfrm>
              <a:prstGeom prst="rect">
                <a:avLst/>
              </a:prstGeom>
            </p:spPr>
            <p:txBody>
              <a:bodyPr wrap="square">
                <a:spAutoFit/>
              </a:bodyPr>
              <a:lstStyle/>
              <a:p>
                <a:pPr algn="just" fontAlgn="base">
                  <a:spcBef>
                    <a:spcPts val="800"/>
                  </a:spcBef>
                  <a:spcAft>
                    <a:spcPts val="800"/>
                  </a:spcAft>
                </a:pPr>
                <a:r>
                  <a:rPr lang="en-US" altLang="zh-CN" sz="3200" b="1" kern="0" dirty="0">
                    <a:solidFill>
                      <a:prstClr val="black"/>
                    </a:solidFill>
                    <a:latin typeface="Times New Roman" panose="02020603050405020304" pitchFamily="18" charset="0"/>
                    <a:cs typeface="Times New Roman" panose="02020603050405020304" pitchFamily="18" charset="0"/>
                  </a:rPr>
                  <a:t>In practical </a:t>
                </a:r>
                <a:r>
                  <a:rPr lang="en-US" altLang="zh-CN" sz="3200" b="1" kern="0" dirty="0">
                    <a:solidFill>
                      <a:prstClr val="black"/>
                    </a:solidFill>
                    <a:latin typeface="Times New Roman" panose="02020603050405020304" pitchFamily="18" charset="0"/>
                    <a:cs typeface="Times New Roman" panose="02020603050405020304" pitchFamily="18" charset="0"/>
                  </a:rPr>
                  <a:t>situations, we can only have a finite set of measurements. </a:t>
                </a:r>
                <a:r>
                  <a:rPr lang="en-US" altLang="zh-CN" sz="3200" b="1" kern="0" dirty="0">
                    <a:solidFill>
                      <a:prstClr val="black"/>
                    </a:solidFill>
                    <a:latin typeface="Times New Roman" panose="02020603050405020304" pitchFamily="18" charset="0"/>
                    <a:cs typeface="Times New Roman" panose="02020603050405020304" pitchFamily="18" charset="0"/>
                  </a:rPr>
                  <a:t>The </a:t>
                </a:r>
                <a:r>
                  <a:rPr lang="en-US" altLang="zh-CN" sz="3200" b="1" kern="0" dirty="0">
                    <a:solidFill>
                      <a:prstClr val="black"/>
                    </a:solidFill>
                    <a:latin typeface="Times New Roman" panose="02020603050405020304" pitchFamily="18" charset="0"/>
                    <a:cs typeface="Times New Roman" panose="02020603050405020304" pitchFamily="18" charset="0"/>
                  </a:rPr>
                  <a:t>mean value</a:t>
                </a:r>
                <a14:m>
                  <m:oMath xmlns:m="http://schemas.openxmlformats.org/officeDocument/2006/math">
                    <m:sSub>
                      <m:sSubPr>
                        <m:ctrlPr>
                          <a:rPr lang="zh-CN" altLang="zh-CN" sz="3200" b="1" i="1" ker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prstClr val="black"/>
                            </a:solidFill>
                            <a:latin typeface="Cambria Math" panose="02040503050406030204" pitchFamily="18" charset="0"/>
                            <a:cs typeface="Times New Roman" panose="02020603050405020304" pitchFamily="18" charset="0"/>
                          </a:rPr>
                          <m:t> </m:t>
                        </m:r>
                        <m:r>
                          <a:rPr lang="en-US" altLang="zh-CN" sz="3200" b="1" i="1" kern="0">
                            <a:solidFill>
                              <a:prstClr val="black"/>
                            </a:solidFill>
                            <a:latin typeface="Cambria Math" panose="02040503050406030204" pitchFamily="18" charset="0"/>
                            <a:cs typeface="Times New Roman" panose="02020603050405020304" pitchFamily="18" charset="0"/>
                          </a:rPr>
                          <m:t>𝒙</m:t>
                        </m:r>
                      </m:e>
                      <m:sub>
                        <m:r>
                          <a:rPr lang="en-US" altLang="zh-CN" sz="3200" b="1" i="1" kern="0">
                            <a:solidFill>
                              <a:prstClr val="black"/>
                            </a:solidFill>
                            <a:latin typeface="Cambria Math" panose="02040503050406030204" pitchFamily="18" charset="0"/>
                            <a:cs typeface="Times New Roman" panose="02020603050405020304" pitchFamily="18" charset="0"/>
                          </a:rPr>
                          <m:t>𝒎𝒆𝒂𝒏</m:t>
                        </m:r>
                      </m:sub>
                    </m:sSub>
                  </m:oMath>
                </a14:m>
                <a:r>
                  <a:rPr lang="en-US" altLang="zh-CN" sz="3200" b="1" kern="0" dirty="0">
                    <a:solidFill>
                      <a:prstClr val="black"/>
                    </a:solidFill>
                    <a:latin typeface="Times New Roman" panose="02020603050405020304" pitchFamily="18" charset="0"/>
                    <a:cs typeface="Times New Roman" panose="02020603050405020304" pitchFamily="18" charset="0"/>
                  </a:rPr>
                  <a:t> of a finite set of measurements will differ from the true mean </a:t>
                </a:r>
                <a14:m>
                  <m:oMath xmlns:m="http://schemas.openxmlformats.org/officeDocument/2006/math">
                    <m:r>
                      <a:rPr lang="en-US" altLang="zh-CN" sz="3200" b="1" i="1" kern="0">
                        <a:solidFill>
                          <a:prstClr val="black"/>
                        </a:solidFill>
                        <a:latin typeface="Cambria Math" panose="02040503050406030204" pitchFamily="18" charset="0"/>
                        <a:cs typeface="Times New Roman" panose="02020603050405020304" pitchFamily="18" charset="0"/>
                      </a:rPr>
                      <m:t>𝝁</m:t>
                    </m:r>
                  </m:oMath>
                </a14:m>
                <a:r>
                  <a:rPr lang="en-US" altLang="zh-CN" sz="3200" b="1" kern="0" dirty="0">
                    <a:solidFill>
                      <a:prstClr val="black"/>
                    </a:solidFill>
                    <a:latin typeface="Times New Roman" panose="02020603050405020304" pitchFamily="18" charset="0"/>
                    <a:cs typeface="Times New Roman" panose="02020603050405020304" pitchFamily="18" charset="0"/>
                  </a:rPr>
                  <a:t> of the theoretical infinite population of </a:t>
                </a:r>
                <a:r>
                  <a:rPr lang="en-US" altLang="zh-CN" sz="3200" b="1" kern="0" dirty="0">
                    <a:solidFill>
                      <a:prstClr val="black"/>
                    </a:solidFill>
                    <a:latin typeface="Times New Roman" panose="02020603050405020304" pitchFamily="18" charset="0"/>
                    <a:cs typeface="Times New Roman" panose="02020603050405020304" pitchFamily="18" charset="0"/>
                  </a:rPr>
                  <a:t>measurements.</a:t>
                </a:r>
                <a:r>
                  <a:rPr lang="en-US" altLang="zh-CN" sz="3200" b="1" kern="0" dirty="0">
                    <a:solidFill>
                      <a:srgbClr val="000000"/>
                    </a:solidFill>
                    <a:latin typeface="Times New Roman" panose="02020603050405020304" pitchFamily="18" charset="0"/>
                    <a:cs typeface="Times New Roman" panose="02020603050405020304" pitchFamily="18" charset="0"/>
                  </a:rPr>
                  <a:t> By </a:t>
                </a:r>
                <a:r>
                  <a:rPr lang="en-US" altLang="zh-CN" sz="3200" b="1" kern="0" dirty="0">
                    <a:solidFill>
                      <a:srgbClr val="000000"/>
                    </a:solidFill>
                    <a:latin typeface="Times New Roman" panose="02020603050405020304" pitchFamily="18" charset="0"/>
                    <a:cs typeface="Times New Roman" panose="02020603050405020304" pitchFamily="18" charset="0"/>
                  </a:rPr>
                  <a:t>applying the </a:t>
                </a:r>
                <a:r>
                  <a:rPr lang="en-US" altLang="zh-CN" sz="3200" b="1" i="1" kern="0" dirty="0">
                    <a:solidFill>
                      <a:srgbClr val="C00000"/>
                    </a:solidFill>
                    <a:latin typeface="Times New Roman" panose="02020603050405020304" pitchFamily="18" charset="0"/>
                    <a:cs typeface="Times New Roman" panose="02020603050405020304" pitchFamily="18" charset="0"/>
                  </a:rPr>
                  <a:t>Bessel</a:t>
                </a:r>
                <a:r>
                  <a:rPr lang="en-US" altLang="zh-CN" sz="3200" b="1" kern="0" dirty="0">
                    <a:solidFill>
                      <a:srgbClr val="000000"/>
                    </a:solidFill>
                    <a:latin typeface="Times New Roman" panose="02020603050405020304" pitchFamily="18" charset="0"/>
                    <a:cs typeface="Times New Roman" panose="02020603050405020304" pitchFamily="18" charset="0"/>
                  </a:rPr>
                  <a:t> correction factor </a:t>
                </a:r>
                <a14:m>
                  <m:oMath xmlns:m="http://schemas.openxmlformats.org/officeDocument/2006/math">
                    <m:f>
                      <m:fPr>
                        <m:type m:val="lin"/>
                        <m:ctrlPr>
                          <a:rPr lang="zh-CN" altLang="zh-CN" sz="3200" b="1" i="1" ker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3200" b="1" i="1" kern="0">
                            <a:solidFill>
                              <a:srgbClr val="000000"/>
                            </a:solidFill>
                            <a:latin typeface="Cambria Math" panose="02040503050406030204" pitchFamily="18" charset="0"/>
                            <a:cs typeface="Times New Roman" panose="02020603050405020304" pitchFamily="18" charset="0"/>
                          </a:rPr>
                          <m:t>𝒏</m:t>
                        </m:r>
                      </m:num>
                      <m:den>
                        <m:r>
                          <a:rPr lang="en-US" altLang="zh-CN" sz="3200" b="1" i="1" kern="0">
                            <a:solidFill>
                              <a:srgbClr val="000000"/>
                            </a:solidFill>
                            <a:latin typeface="Cambria Math" panose="02040503050406030204" pitchFamily="18" charset="0"/>
                            <a:cs typeface="Times New Roman" panose="02020603050405020304" pitchFamily="18" charset="0"/>
                          </a:rPr>
                          <m:t>(</m:t>
                        </m:r>
                        <m:r>
                          <a:rPr lang="en-US" altLang="zh-CN" sz="3200" b="1" i="1" kern="0">
                            <a:solidFill>
                              <a:srgbClr val="000000"/>
                            </a:solidFill>
                            <a:latin typeface="Cambria Math" panose="02040503050406030204" pitchFamily="18" charset="0"/>
                            <a:cs typeface="Times New Roman" panose="02020603050405020304" pitchFamily="18" charset="0"/>
                          </a:rPr>
                          <m:t>𝒏</m:t>
                        </m:r>
                        <m:r>
                          <a:rPr lang="en-US" altLang="zh-CN" sz="3200" b="1" i="1" kern="0">
                            <a:solidFill>
                              <a:srgbClr val="000000"/>
                            </a:solidFill>
                            <a:latin typeface="Cambria Math" panose="02040503050406030204" pitchFamily="18" charset="0"/>
                            <a:cs typeface="Times New Roman" panose="02020603050405020304" pitchFamily="18" charset="0"/>
                          </a:rPr>
                          <m:t>−</m:t>
                        </m:r>
                        <m:r>
                          <a:rPr lang="en-US" altLang="zh-CN" sz="3200" b="1" i="1" kern="0">
                            <a:solidFill>
                              <a:srgbClr val="000000"/>
                            </a:solidFill>
                            <a:latin typeface="Cambria Math" panose="02040503050406030204" pitchFamily="18" charset="0"/>
                            <a:cs typeface="Times New Roman" panose="02020603050405020304" pitchFamily="18" charset="0"/>
                          </a:rPr>
                          <m:t>𝟏</m:t>
                        </m:r>
                        <m:r>
                          <a:rPr lang="en-US" altLang="zh-CN" sz="3200" b="1" i="1" kern="0">
                            <a:solidFill>
                              <a:srgbClr val="000000"/>
                            </a:solidFill>
                            <a:latin typeface="Cambria Math" panose="02040503050406030204" pitchFamily="18" charset="0"/>
                            <a:cs typeface="Times New Roman" panose="02020603050405020304" pitchFamily="18" charset="0"/>
                          </a:rPr>
                          <m:t>)</m:t>
                        </m:r>
                      </m:den>
                    </m:f>
                    <m:r>
                      <a:rPr lang="en-US" altLang="zh-CN" sz="3200" b="1" i="1" kern="0">
                        <a:solidFill>
                          <a:srgbClr val="000000"/>
                        </a:solidFill>
                        <a:latin typeface="Cambria Math" panose="02040503050406030204" pitchFamily="18" charset="0"/>
                        <a:cs typeface="Times New Roman" panose="02020603050405020304" pitchFamily="18" charset="0"/>
                      </a:rPr>
                      <m:t> </m:t>
                    </m:r>
                  </m:oMath>
                </a14:m>
                <a:r>
                  <a:rPr lang="en-US" altLang="zh-CN" sz="3200" b="1" kern="0" dirty="0">
                    <a:solidFill>
                      <a:srgbClr val="000000"/>
                    </a:solidFill>
                    <a:latin typeface="Times New Roman" panose="02020603050405020304" pitchFamily="18" charset="0"/>
                    <a:cs typeface="Times New Roman" panose="02020603050405020304" pitchFamily="18" charset="0"/>
                  </a:rPr>
                  <a:t>to the formula </a:t>
                </a:r>
                <a:r>
                  <a:rPr lang="en-US" altLang="zh-CN" sz="3200" b="1" kern="0" dirty="0">
                    <a:solidFill>
                      <a:srgbClr val="000000"/>
                    </a:solidFill>
                    <a:latin typeface="Times New Roman" panose="02020603050405020304" pitchFamily="18" charset="0"/>
                    <a:cs typeface="Times New Roman" panose="02020603050405020304" pitchFamily="18" charset="0"/>
                  </a:rPr>
                  <a:t>above.</a:t>
                </a:r>
                <a:endParaRPr lang="zh-CN" altLang="zh-CN" sz="3200" b="1" kern="100" dirty="0">
                  <a:solidFill>
                    <a:prstClr val="black"/>
                  </a:solidFill>
                  <a:latin typeface="等线" panose="02010600030101010101" pitchFamily="2" charset="-122"/>
                  <a:cs typeface="Times New Roman" panose="02020603050405020304" pitchFamily="18" charset="0"/>
                </a:endParaRPr>
              </a:p>
            </p:txBody>
          </p:sp>
        </mc:Choice>
        <mc:Fallback xmlns="">
          <p:sp>
            <p:nvSpPr>
              <p:cNvPr id="41" name="矩形 40"/>
              <p:cNvSpPr>
                <a:spLocks noRot="1" noChangeAspect="1" noMove="1" noResize="1" noEditPoints="1" noAdjustHandles="1" noChangeArrowheads="1" noChangeShapeType="1" noTextEdit="1"/>
              </p:cNvSpPr>
              <p:nvPr/>
            </p:nvSpPr>
            <p:spPr>
              <a:xfrm>
                <a:off x="227577" y="2599320"/>
                <a:ext cx="8568952" cy="1938992"/>
              </a:xfrm>
              <a:prstGeom prst="rect">
                <a:avLst/>
              </a:prstGeom>
              <a:blipFill>
                <a:blip r:embed="rId8"/>
                <a:stretch>
                  <a:fillRect l="-1067" t="-2516" r="-1138" b="-449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p:cNvSpPr/>
              <p:nvPr/>
            </p:nvSpPr>
            <p:spPr>
              <a:xfrm>
                <a:off x="1729706" y="3627000"/>
                <a:ext cx="3501087" cy="1100558"/>
              </a:xfrm>
              <a:prstGeom prst="rect">
                <a:avLst/>
              </a:prstGeom>
              <a:solidFill>
                <a:srgbClr val="FFFF00"/>
              </a:solidFill>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sSub>
                        <m:sSubPr>
                          <m:ctrlPr>
                            <a:rPr lang="zh-CN" altLang="en-US" sz="2400" i="1">
                              <a:solidFill>
                                <a:prstClr val="black"/>
                              </a:solidFill>
                              <a:latin typeface="Cambria Math" panose="02040503050406030204" pitchFamily="18" charset="0"/>
                            </a:rPr>
                          </m:ctrlPr>
                        </m:sSubPr>
                        <m:e>
                          <m:acc>
                            <m:accPr>
                              <m:chr m:val="̂"/>
                              <m:ctrlPr>
                                <a:rPr lang="zh-CN" altLang="en-US" sz="2400" i="1">
                                  <a:solidFill>
                                    <a:prstClr val="black"/>
                                  </a:solidFill>
                                  <a:latin typeface="Cambria Math" panose="02040503050406030204" pitchFamily="18" charset="0"/>
                                </a:rPr>
                              </m:ctrlPr>
                            </m:accPr>
                            <m:e>
                              <m:r>
                                <a:rPr lang="zh-CN" altLang="en-US" sz="2400" i="1">
                                  <a:solidFill>
                                    <a:prstClr val="black"/>
                                  </a:solidFill>
                                  <a:latin typeface="Cambria Math" panose="02040503050406030204" pitchFamily="18" charset="0"/>
                                </a:rPr>
                                <m:t>𝑉</m:t>
                              </m:r>
                            </m:e>
                          </m:acc>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𝑛</m:t>
                              </m:r>
                            </m:num>
                            <m:den>
                              <m:r>
                                <a:rPr lang="zh-CN" altLang="en-US" sz="2400" i="1">
                                  <a:solidFill>
                                    <a:prstClr val="black"/>
                                  </a:solidFill>
                                  <a:latin typeface="Cambria Math" panose="02040503050406030204" pitchFamily="18" charset="0"/>
                                </a:rPr>
                                <m:t>𝑛</m:t>
                              </m:r>
                              <m:r>
                                <a:rPr lang="zh-CN" altLang="en-US" sz="2400">
                                  <a:solidFill>
                                    <a:prstClr val="black"/>
                                  </a:solidFill>
                                  <a:latin typeface="Cambria Math" panose="02040503050406030204" pitchFamily="18" charset="0"/>
                                </a:rPr>
                                <m:t>−1</m:t>
                              </m:r>
                            </m:den>
                          </m:f>
                          <m:r>
                            <a:rPr lang="zh-CN" altLang="en-US" sz="2400" i="1">
                              <a:solidFill>
                                <a:prstClr val="black"/>
                              </a:solidFill>
                              <a:latin typeface="Cambria Math" panose="02040503050406030204" pitchFamily="18" charset="0"/>
                            </a:rPr>
                            <m:t>𝑉</m:t>
                          </m:r>
                        </m:e>
                        <m:sub>
                          <m:r>
                            <a:rPr lang="zh-CN" altLang="en-US" sz="2400" i="1">
                              <a:solidFill>
                                <a:prstClr val="black"/>
                              </a:solidFill>
                              <a:latin typeface="Cambria Math" panose="02040503050406030204" pitchFamily="18" charset="0"/>
                            </a:rPr>
                            <m:t>𝑆</m:t>
                          </m:r>
                        </m:sub>
                      </m:sSub>
                      <m:r>
                        <a:rPr lang="zh-CN" altLang="en-US" sz="2400">
                          <a:solidFill>
                            <a:prstClr val="black"/>
                          </a:solidFill>
                          <a:latin typeface="Cambria Math" panose="02040503050406030204" pitchFamily="18" charset="0"/>
                        </a:rPr>
                        <m:t>=</m:t>
                      </m:r>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f>
                            <m:fPr>
                              <m:ctrlPr>
                                <a:rPr lang="zh-CN" altLang="en-US" sz="2400" i="1">
                                  <a:solidFill>
                                    <a:prstClr val="black"/>
                                  </a:solidFill>
                                  <a:latin typeface="Cambria Math" panose="02040503050406030204" pitchFamily="18" charset="0"/>
                                </a:rPr>
                              </m:ctrlPr>
                            </m:fPr>
                            <m:num>
                              <m:sSubSup>
                                <m:sSubSupPr>
                                  <m:ctrlPr>
                                    <a:rPr lang="zh-CN" altLang="en-US" sz="2400" i="1">
                                      <a:solidFill>
                                        <a:prstClr val="black"/>
                                      </a:solidFill>
                                      <a:latin typeface="Cambria Math" panose="02040503050406030204" pitchFamily="18" charset="0"/>
                                    </a:rPr>
                                  </m:ctrlPr>
                                </m:sSubSupPr>
                                <m:e>
                                  <m:r>
                                    <a:rPr lang="zh-CN" altLang="en-US" sz="2400" i="1">
                                      <a:solidFill>
                                        <a:prstClr val="black"/>
                                      </a:solidFill>
                                      <a:latin typeface="Cambria Math" panose="02040503050406030204" pitchFamily="18" charset="0"/>
                                    </a:rPr>
                                    <m:t>𝑑</m:t>
                                  </m:r>
                                </m:e>
                                <m:sub>
                                  <m:r>
                                    <a:rPr lang="zh-CN" altLang="en-US" sz="2400" i="1">
                                      <a:solidFill>
                                        <a:prstClr val="black"/>
                                      </a:solidFill>
                                      <a:latin typeface="Cambria Math" panose="02040503050406030204" pitchFamily="18" charset="0"/>
                                    </a:rPr>
                                    <m:t>𝑖</m:t>
                                  </m:r>
                                </m:sub>
                                <m:sup>
                                  <m:r>
                                    <a:rPr lang="zh-CN" altLang="en-US" sz="2400">
                                      <a:solidFill>
                                        <a:prstClr val="black"/>
                                      </a:solidFill>
                                      <a:latin typeface="Cambria Math" panose="02040503050406030204" pitchFamily="18" charset="0"/>
                                    </a:rPr>
                                    <m:t>2</m:t>
                                  </m:r>
                                </m:sup>
                              </m:sSubSup>
                            </m:num>
                            <m:den>
                              <m:r>
                                <a:rPr lang="zh-CN" altLang="en-US" sz="2400" i="1">
                                  <a:solidFill>
                                    <a:prstClr val="black"/>
                                  </a:solidFill>
                                  <a:latin typeface="Cambria Math" panose="02040503050406030204" pitchFamily="18" charset="0"/>
                                </a:rPr>
                                <m:t>𝑛</m:t>
                              </m:r>
                              <m:r>
                                <a:rPr lang="zh-CN" altLang="en-US" sz="2400">
                                  <a:solidFill>
                                    <a:prstClr val="black"/>
                                  </a:solidFill>
                                  <a:latin typeface="Cambria Math" panose="02040503050406030204" pitchFamily="18" charset="0"/>
                                </a:rPr>
                                <m:t>−1</m:t>
                              </m:r>
                            </m:den>
                          </m:f>
                        </m:e>
                      </m:nary>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43" name="矩形 42"/>
              <p:cNvSpPr>
                <a:spLocks noRot="1" noChangeAspect="1" noMove="1" noResize="1" noEditPoints="1" noAdjustHandles="1" noChangeArrowheads="1" noChangeShapeType="1" noTextEdit="1"/>
              </p:cNvSpPr>
              <p:nvPr/>
            </p:nvSpPr>
            <p:spPr>
              <a:xfrm>
                <a:off x="1297279" y="2720250"/>
                <a:ext cx="2680862" cy="848566"/>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p:cNvSpPr/>
              <p:nvPr/>
            </p:nvSpPr>
            <p:spPr>
              <a:xfrm>
                <a:off x="6742835" y="3469309"/>
                <a:ext cx="3100784" cy="1529201"/>
              </a:xfrm>
              <a:prstGeom prst="rect">
                <a:avLst/>
              </a:prstGeom>
              <a:solidFill>
                <a:srgbClr val="FFFF00"/>
              </a:solidFill>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acc>
                        <m:accPr>
                          <m:chr m:val="̂"/>
                          <m:ctrlPr>
                            <a:rPr lang="zh-CN" altLang="en-US" sz="2400" i="1">
                              <a:solidFill>
                                <a:prstClr val="black"/>
                              </a:solidFill>
                              <a:latin typeface="Cambria Math" panose="02040503050406030204" pitchFamily="18" charset="0"/>
                            </a:rPr>
                          </m:ctrlPr>
                        </m:accPr>
                        <m:e>
                          <m:r>
                            <a:rPr lang="zh-CN" altLang="en-US" sz="2400" i="1">
                              <a:solidFill>
                                <a:prstClr val="black"/>
                              </a:solidFill>
                              <a:latin typeface="Cambria Math" panose="02040503050406030204" pitchFamily="18" charset="0"/>
                            </a:rPr>
                            <m:t>𝜎</m:t>
                          </m:r>
                        </m:e>
                      </m:acc>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acc>
                            <m:accPr>
                              <m:chr m:val="̂"/>
                              <m:ctrlPr>
                                <a:rPr lang="zh-CN" altLang="en-US" sz="2400" i="1">
                                  <a:solidFill>
                                    <a:prstClr val="black"/>
                                  </a:solidFill>
                                  <a:latin typeface="Cambria Math" panose="02040503050406030204" pitchFamily="18" charset="0"/>
                                </a:rPr>
                              </m:ctrlPr>
                            </m:accPr>
                            <m:e>
                              <m:r>
                                <a:rPr lang="zh-CN" altLang="en-US" sz="2400" i="1">
                                  <a:solidFill>
                                    <a:prstClr val="black"/>
                                  </a:solidFill>
                                  <a:latin typeface="Cambria Math" panose="02040503050406030204" pitchFamily="18" charset="0"/>
                                </a:rPr>
                                <m:t>𝑉</m:t>
                              </m:r>
                            </m:e>
                          </m:acc>
                        </m:e>
                      </m:rad>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f>
                                <m:fPr>
                                  <m:ctrlPr>
                                    <a:rPr lang="zh-CN" altLang="en-US" sz="2400" i="1">
                                      <a:solidFill>
                                        <a:prstClr val="black"/>
                                      </a:solidFill>
                                      <a:latin typeface="Cambria Math" panose="02040503050406030204" pitchFamily="18" charset="0"/>
                                    </a:rPr>
                                  </m:ctrlPr>
                                </m:fPr>
                                <m:num>
                                  <m:sSubSup>
                                    <m:sSubSupPr>
                                      <m:ctrlPr>
                                        <a:rPr lang="zh-CN" altLang="en-US" sz="2400" i="1">
                                          <a:solidFill>
                                            <a:prstClr val="black"/>
                                          </a:solidFill>
                                          <a:latin typeface="Cambria Math" panose="02040503050406030204" pitchFamily="18" charset="0"/>
                                        </a:rPr>
                                      </m:ctrlPr>
                                    </m:sSubSupPr>
                                    <m:e>
                                      <m:r>
                                        <a:rPr lang="zh-CN" altLang="en-US" sz="2400" i="1">
                                          <a:solidFill>
                                            <a:prstClr val="black"/>
                                          </a:solidFill>
                                          <a:latin typeface="Cambria Math" panose="02040503050406030204" pitchFamily="18" charset="0"/>
                                        </a:rPr>
                                        <m:t>𝑑</m:t>
                                      </m:r>
                                    </m:e>
                                    <m:sub>
                                      <m:r>
                                        <a:rPr lang="zh-CN" altLang="en-US" sz="2400" i="1">
                                          <a:solidFill>
                                            <a:prstClr val="black"/>
                                          </a:solidFill>
                                          <a:latin typeface="Cambria Math" panose="02040503050406030204" pitchFamily="18" charset="0"/>
                                        </a:rPr>
                                        <m:t>𝑖</m:t>
                                      </m:r>
                                    </m:sub>
                                    <m:sup>
                                      <m:r>
                                        <a:rPr lang="zh-CN" altLang="en-US" sz="2400">
                                          <a:solidFill>
                                            <a:prstClr val="black"/>
                                          </a:solidFill>
                                          <a:latin typeface="Cambria Math" panose="02040503050406030204" pitchFamily="18" charset="0"/>
                                        </a:rPr>
                                        <m:t>2</m:t>
                                      </m:r>
                                    </m:sup>
                                  </m:sSubSup>
                                </m:num>
                                <m:den>
                                  <m:r>
                                    <a:rPr lang="zh-CN" altLang="en-US" sz="2400" i="1">
                                      <a:solidFill>
                                        <a:prstClr val="black"/>
                                      </a:solidFill>
                                      <a:latin typeface="Cambria Math" panose="02040503050406030204" pitchFamily="18" charset="0"/>
                                    </a:rPr>
                                    <m:t>𝑛</m:t>
                                  </m:r>
                                  <m:r>
                                    <a:rPr lang="zh-CN" altLang="en-US" sz="2400">
                                      <a:solidFill>
                                        <a:prstClr val="black"/>
                                      </a:solidFill>
                                      <a:latin typeface="Cambria Math" panose="02040503050406030204" pitchFamily="18" charset="0"/>
                                    </a:rPr>
                                    <m:t>−1</m:t>
                                  </m:r>
                                </m:den>
                              </m:f>
                            </m:e>
                          </m:nary>
                        </m:e>
                      </m:rad>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45" name="矩形 44"/>
              <p:cNvSpPr>
                <a:spLocks noRot="1" noChangeAspect="1" noMove="1" noResize="1" noEditPoints="1" noAdjustHandles="1" noChangeArrowheads="1" noChangeShapeType="1" noTextEdit="1"/>
              </p:cNvSpPr>
              <p:nvPr/>
            </p:nvSpPr>
            <p:spPr>
              <a:xfrm>
                <a:off x="5057126" y="2601981"/>
                <a:ext cx="2377446" cy="1169936"/>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0084194"/>
      </p:ext>
    </p:extLst>
  </p:cSld>
  <p:clrMapOvr>
    <a:masterClrMapping/>
  </p:clrMapOvr>
  <p:transition spd="slow" advClick="0" advTm="3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5" name="矩形 4"/>
          <p:cNvSpPr/>
          <p:nvPr/>
        </p:nvSpPr>
        <p:spPr>
          <a:xfrm>
            <a:off x="7890114" y="152668"/>
            <a:ext cx="4168129" cy="461665"/>
          </a:xfrm>
          <a:prstGeom prst="rect">
            <a:avLst/>
          </a:prstGeom>
        </p:spPr>
        <p:txBody>
          <a:bodyPr wrap="none">
            <a:spAutoFit/>
          </a:bodyPr>
          <a:lstStyle/>
          <a:p>
            <a:pPr marL="0" lvl="2" fontAlgn="base">
              <a:spcBef>
                <a:spcPts val="800"/>
              </a:spcBef>
              <a:spcAft>
                <a:spcPts val="800"/>
              </a:spcAft>
            </a:pP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Standard Error of the mean</a:t>
            </a:r>
            <a:endParaRPr lang="zh-CN" altLang="zh-CN" sz="2400" kern="100" dirty="0">
              <a:solidFill>
                <a:srgbClr val="FFC000"/>
              </a:solidFill>
              <a:latin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p:cNvSpPr/>
              <p:nvPr/>
            </p:nvSpPr>
            <p:spPr>
              <a:xfrm>
                <a:off x="323504" y="748804"/>
                <a:ext cx="11521280" cy="2554930"/>
              </a:xfrm>
              <a:prstGeom prst="rect">
                <a:avLst/>
              </a:prstGeom>
            </p:spPr>
            <p:txBody>
              <a:bodyPr wrap="square">
                <a:spAutoFit/>
              </a:bodyPr>
              <a:lstStyle/>
              <a:p>
                <a:pPr algn="just" fontAlgn="base">
                  <a:spcBef>
                    <a:spcPct val="0"/>
                  </a:spcBef>
                </a:pPr>
                <a:r>
                  <a:rPr lang="en-US" altLang="zh-CN" sz="2667" b="1" kern="0" dirty="0">
                    <a:solidFill>
                      <a:srgbClr val="07144B"/>
                    </a:solidFill>
                    <a:latin typeface="Times New Roman" panose="02020603050405020304" pitchFamily="18" charset="0"/>
                    <a:cs typeface="Times New Roman" panose="02020603050405020304" pitchFamily="18" charset="0"/>
                  </a:rPr>
                  <a:t>Averaging a </a:t>
                </a:r>
                <a:r>
                  <a:rPr lang="en-US" altLang="zh-CN" sz="2667" b="1" kern="0" dirty="0">
                    <a:solidFill>
                      <a:srgbClr val="07144B"/>
                    </a:solidFill>
                    <a:latin typeface="Times New Roman" panose="02020603050405020304" pitchFamily="18" charset="0"/>
                    <a:cs typeface="Times New Roman" panose="02020603050405020304" pitchFamily="18" charset="0"/>
                  </a:rPr>
                  <a:t>number of measurements will only yield the true value if the number of measurements is </a:t>
                </a:r>
                <a:r>
                  <a:rPr lang="en-US" altLang="zh-CN" sz="2667" b="1" kern="0" dirty="0">
                    <a:solidFill>
                      <a:srgbClr val="C00000"/>
                    </a:solidFill>
                    <a:latin typeface="Times New Roman" panose="02020603050405020304" pitchFamily="18" charset="0"/>
                    <a:cs typeface="Times New Roman" panose="02020603050405020304" pitchFamily="18" charset="0"/>
                  </a:rPr>
                  <a:t>infinite(</a:t>
                </a:r>
                <a:r>
                  <a:rPr lang="zh-CN" altLang="en-US" sz="2667" b="1" kern="0" dirty="0">
                    <a:solidFill>
                      <a:srgbClr val="C00000"/>
                    </a:solidFill>
                    <a:latin typeface="Times New Roman" panose="02020603050405020304" pitchFamily="18" charset="0"/>
                    <a:cs typeface="Times New Roman" panose="02020603050405020304" pitchFamily="18" charset="0"/>
                  </a:rPr>
                  <a:t>无限的</a:t>
                </a:r>
                <a:r>
                  <a:rPr lang="en-US" altLang="zh-CN" sz="2667" b="1" kern="0" dirty="0">
                    <a:solidFill>
                      <a:srgbClr val="C00000"/>
                    </a:solidFill>
                    <a:latin typeface="Times New Roman" panose="02020603050405020304" pitchFamily="18" charset="0"/>
                    <a:cs typeface="Times New Roman" panose="02020603050405020304" pitchFamily="18" charset="0"/>
                  </a:rPr>
                  <a:t>)</a:t>
                </a:r>
                <a:r>
                  <a:rPr lang="en-US" altLang="zh-CN" sz="2667" b="1" kern="0" dirty="0">
                    <a:solidFill>
                      <a:srgbClr val="07144B"/>
                    </a:solidFill>
                    <a:latin typeface="Times New Roman" panose="02020603050405020304" pitchFamily="18" charset="0"/>
                    <a:cs typeface="Times New Roman" panose="02020603050405020304" pitchFamily="18" charset="0"/>
                  </a:rPr>
                  <a:t>. </a:t>
                </a:r>
                <a:r>
                  <a:rPr lang="en-US" altLang="zh-CN" sz="2667" b="1" kern="0" dirty="0">
                    <a:solidFill>
                      <a:srgbClr val="07144B"/>
                    </a:solidFill>
                    <a:latin typeface="Times New Roman" panose="02020603050405020304" pitchFamily="18" charset="0"/>
                    <a:cs typeface="Times New Roman" panose="02020603050405020304" pitchFamily="18" charset="0"/>
                  </a:rPr>
                  <a:t>If </a:t>
                </a:r>
                <a:r>
                  <a:rPr lang="en-US" altLang="zh-CN" sz="2667" b="1" kern="0" dirty="0">
                    <a:solidFill>
                      <a:srgbClr val="07144B"/>
                    </a:solidFill>
                    <a:latin typeface="Times New Roman" panose="02020603050405020304" pitchFamily="18" charset="0"/>
                    <a:cs typeface="Times New Roman" panose="02020603050405020304" pitchFamily="18" charset="0"/>
                  </a:rPr>
                  <a:t>Gaussian </a:t>
                </a:r>
                <a:r>
                  <a:rPr lang="en-US" altLang="zh-CN" sz="2667" b="1" kern="0" dirty="0">
                    <a:solidFill>
                      <a:srgbClr val="07144B"/>
                    </a:solidFill>
                    <a:latin typeface="Times New Roman" panose="02020603050405020304" pitchFamily="18" charset="0"/>
                    <a:cs typeface="Times New Roman" panose="02020603050405020304" pitchFamily="18" charset="0"/>
                  </a:rPr>
                  <a:t>distribution, then, by the </a:t>
                </a:r>
                <a:r>
                  <a:rPr lang="en-US" altLang="zh-CN" sz="2667" b="1" i="1" kern="0" dirty="0">
                    <a:solidFill>
                      <a:srgbClr val="C00000"/>
                    </a:solidFill>
                    <a:latin typeface="Times New Roman" panose="02020603050405020304" pitchFamily="18" charset="0"/>
                    <a:cs typeface="Times New Roman" panose="02020603050405020304" pitchFamily="18" charset="0"/>
                  </a:rPr>
                  <a:t>Central Limit Theorem</a:t>
                </a:r>
                <a:r>
                  <a:rPr lang="en-US" altLang="zh-CN" sz="2667" b="1" kern="0" dirty="0">
                    <a:solidFill>
                      <a:srgbClr val="07144B"/>
                    </a:solidFill>
                    <a:latin typeface="Times New Roman" panose="02020603050405020304" pitchFamily="18" charset="0"/>
                    <a:cs typeface="Times New Roman" panose="02020603050405020304" pitchFamily="18" charset="0"/>
                  </a:rPr>
                  <a:t>, the means </a:t>
                </a:r>
                <a:r>
                  <a:rPr lang="en-US" altLang="zh-CN" sz="2667" b="1" kern="0" dirty="0">
                    <a:solidFill>
                      <a:srgbClr val="07144B"/>
                    </a:solidFill>
                    <a:latin typeface="Times New Roman" panose="02020603050405020304" pitchFamily="18" charset="0"/>
                    <a:cs typeface="Times New Roman" panose="02020603050405020304" pitchFamily="18" charset="0"/>
                  </a:rPr>
                  <a:t>will </a:t>
                </a:r>
                <a:r>
                  <a:rPr lang="en-US" altLang="zh-CN" sz="2667" b="1" kern="0" dirty="0">
                    <a:solidFill>
                      <a:srgbClr val="07144B"/>
                    </a:solidFill>
                    <a:latin typeface="Times New Roman" panose="02020603050405020304" pitchFamily="18" charset="0"/>
                    <a:cs typeface="Times New Roman" panose="02020603050405020304" pitchFamily="18" charset="0"/>
                  </a:rPr>
                  <a:t>form a Gaussian distribution about the mean of the infinite data set. The standard deviation of the mean values of a series of finite sets of measurements relative to the true </a:t>
                </a:r>
                <a:r>
                  <a:rPr lang="en-US" altLang="zh-CN" sz="2667" b="1" kern="0" dirty="0">
                    <a:solidFill>
                      <a:srgbClr val="07144B"/>
                    </a:solidFill>
                    <a:latin typeface="Times New Roman" panose="02020603050405020304" pitchFamily="18" charset="0"/>
                    <a:cs typeface="Times New Roman" panose="02020603050405020304" pitchFamily="18" charset="0"/>
                  </a:rPr>
                  <a:t>is </a:t>
                </a:r>
                <a:r>
                  <a:rPr lang="en-US" altLang="zh-CN" sz="2667" b="1" kern="0" dirty="0">
                    <a:solidFill>
                      <a:srgbClr val="07144B"/>
                    </a:solidFill>
                    <a:latin typeface="Times New Roman" panose="02020603050405020304" pitchFamily="18" charset="0"/>
                    <a:cs typeface="Times New Roman" panose="02020603050405020304" pitchFamily="18" charset="0"/>
                  </a:rPr>
                  <a:t>defined as the standard error of the mean, </a:t>
                </a:r>
                <a14:m>
                  <m:oMath xmlns:m="http://schemas.openxmlformats.org/officeDocument/2006/math">
                    <m:sSub>
                      <m:sSubPr>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667" b="1" i="1" kern="0">
                                <a:solidFill>
                                  <a:srgbClr val="07144B"/>
                                </a:solidFill>
                                <a:latin typeface="Cambria Math" panose="02040503050406030204" pitchFamily="18" charset="0"/>
                                <a:cs typeface="Times New Roman" panose="02020603050405020304" pitchFamily="18" charset="0"/>
                              </a:rPr>
                              <m:t>𝝈</m:t>
                            </m:r>
                          </m:e>
                        </m:acc>
                      </m:e>
                      <m:sub>
                        <m:acc>
                          <m:accPr>
                            <m:chr m:val="̅"/>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667" b="1" i="1" kern="0">
                                <a:solidFill>
                                  <a:srgbClr val="07144B"/>
                                </a:solidFill>
                                <a:latin typeface="Cambria Math" panose="02040503050406030204" pitchFamily="18" charset="0"/>
                                <a:cs typeface="Times New Roman" panose="02020603050405020304" pitchFamily="18" charset="0"/>
                              </a:rPr>
                              <m:t>𝒙</m:t>
                            </m:r>
                          </m:e>
                        </m:acc>
                      </m:sub>
                    </m:sSub>
                  </m:oMath>
                </a14:m>
                <a:r>
                  <a:rPr lang="en-US" altLang="zh-CN" sz="2667" b="1" kern="0" dirty="0">
                    <a:solidFill>
                      <a:srgbClr val="07144B"/>
                    </a:solidFill>
                    <a:latin typeface="Times New Roman" panose="02020603050405020304" pitchFamily="18" charset="0"/>
                    <a:cs typeface="Times New Roman" panose="02020603050405020304" pitchFamily="18" charset="0"/>
                  </a:rPr>
                  <a:t>. </a:t>
                </a:r>
                <a:endParaRPr lang="zh-CN" altLang="zh-CN" sz="2667" b="1" kern="100" dirty="0">
                  <a:solidFill>
                    <a:srgbClr val="07144B"/>
                  </a:solidFill>
                  <a:latin typeface="等线" panose="02010600030101010101" pitchFamily="2"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242628" y="561603"/>
                <a:ext cx="8640960" cy="1938992"/>
              </a:xfrm>
              <a:prstGeom prst="rect">
                <a:avLst/>
              </a:prstGeom>
              <a:blipFill rotWithShape="0">
                <a:blip r:embed="rId5"/>
                <a:stretch>
                  <a:fillRect l="-776" t="-1572" r="-706" b="-440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943873" y="4571165"/>
                <a:ext cx="1758623" cy="1121846"/>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sSub>
                        <m:sSubPr>
                          <m:ctrlPr>
                            <a:rPr lang="zh-CN" altLang="en-US" sz="3200" i="1">
                              <a:solidFill>
                                <a:prstClr val="black"/>
                              </a:solidFill>
                              <a:latin typeface="Cambria Math" panose="02040503050406030204" pitchFamily="18" charset="0"/>
                            </a:rPr>
                          </m:ctrlPr>
                        </m:sSubPr>
                        <m:e>
                          <m:acc>
                            <m:accPr>
                              <m:chr m:val="̂"/>
                              <m:ctrlPr>
                                <a:rPr lang="zh-CN" altLang="en-US" sz="3200" i="1">
                                  <a:solidFill>
                                    <a:prstClr val="black"/>
                                  </a:solidFill>
                                  <a:latin typeface="Cambria Math" panose="02040503050406030204" pitchFamily="18" charset="0"/>
                                </a:rPr>
                              </m:ctrlPr>
                            </m:accPr>
                            <m:e>
                              <m:r>
                                <a:rPr lang="zh-CN" altLang="en-US" sz="3200" i="1">
                                  <a:solidFill>
                                    <a:prstClr val="black"/>
                                  </a:solidFill>
                                  <a:latin typeface="Cambria Math" panose="02040503050406030204" pitchFamily="18" charset="0"/>
                                </a:rPr>
                                <m:t>𝜎</m:t>
                              </m:r>
                            </m:e>
                          </m:acc>
                        </m:e>
                        <m:sub>
                          <m:acc>
                            <m:accPr>
                              <m:chr m:val="̅"/>
                              <m:ctrlPr>
                                <a:rPr lang="zh-CN" altLang="en-US" sz="3200" i="1">
                                  <a:solidFill>
                                    <a:prstClr val="black"/>
                                  </a:solidFill>
                                  <a:latin typeface="Cambria Math" panose="02040503050406030204" pitchFamily="18" charset="0"/>
                                </a:rPr>
                              </m:ctrlPr>
                            </m:accPr>
                            <m:e>
                              <m:r>
                                <a:rPr lang="zh-CN" altLang="en-US" sz="3200" i="1">
                                  <a:solidFill>
                                    <a:prstClr val="black"/>
                                  </a:solidFill>
                                  <a:latin typeface="Cambria Math" panose="02040503050406030204" pitchFamily="18" charset="0"/>
                                </a:rPr>
                                <m:t>𝑥</m:t>
                              </m:r>
                            </m:e>
                          </m:acc>
                        </m:sub>
                      </m:sSub>
                      <m:r>
                        <a:rPr lang="zh-CN" altLang="en-US" sz="3200">
                          <a:solidFill>
                            <a:prstClr val="black"/>
                          </a:solidFill>
                          <a:latin typeface="Cambria Math" panose="02040503050406030204" pitchFamily="18" charset="0"/>
                        </a:rPr>
                        <m:t>=</m:t>
                      </m:r>
                      <m:f>
                        <m:fPr>
                          <m:ctrlPr>
                            <a:rPr lang="zh-CN" altLang="en-US" sz="3200" i="1">
                              <a:solidFill>
                                <a:prstClr val="black"/>
                              </a:solidFill>
                              <a:latin typeface="Cambria Math" panose="02040503050406030204" pitchFamily="18" charset="0"/>
                            </a:rPr>
                          </m:ctrlPr>
                        </m:fPr>
                        <m:num>
                          <m:acc>
                            <m:accPr>
                              <m:chr m:val="̂"/>
                              <m:ctrlPr>
                                <a:rPr lang="zh-CN" altLang="en-US" sz="3200" i="1">
                                  <a:solidFill>
                                    <a:prstClr val="black"/>
                                  </a:solidFill>
                                  <a:latin typeface="Cambria Math" panose="02040503050406030204" pitchFamily="18" charset="0"/>
                                </a:rPr>
                              </m:ctrlPr>
                            </m:accPr>
                            <m:e>
                              <m:r>
                                <a:rPr lang="zh-CN" altLang="en-US" sz="3200" i="1">
                                  <a:solidFill>
                                    <a:prstClr val="black"/>
                                  </a:solidFill>
                                  <a:latin typeface="Cambria Math" panose="02040503050406030204" pitchFamily="18" charset="0"/>
                                </a:rPr>
                                <m:t>𝜎</m:t>
                              </m:r>
                            </m:e>
                          </m:acc>
                        </m:num>
                        <m:den>
                          <m:rad>
                            <m:radPr>
                              <m:degHide m:val="on"/>
                              <m:ctrlPr>
                                <a:rPr lang="zh-CN" altLang="en-US" sz="3200" i="1">
                                  <a:solidFill>
                                    <a:prstClr val="black"/>
                                  </a:solidFill>
                                  <a:latin typeface="Cambria Math" panose="02040503050406030204" pitchFamily="18" charset="0"/>
                                </a:rPr>
                              </m:ctrlPr>
                            </m:radPr>
                            <m:deg/>
                            <m:e>
                              <m:r>
                                <a:rPr lang="zh-CN" altLang="en-US" sz="3200" i="1">
                                  <a:solidFill>
                                    <a:prstClr val="black"/>
                                  </a:solidFill>
                                  <a:latin typeface="Cambria Math" panose="02040503050406030204" pitchFamily="18" charset="0"/>
                                </a:rPr>
                                <m:t>𝑛</m:t>
                              </m:r>
                            </m:e>
                          </m:rad>
                        </m:den>
                      </m:f>
                    </m:oMath>
                  </m:oMathPara>
                </a14:m>
                <a:endParaRPr lang="zh-CN" altLang="en-US" sz="3200" dirty="0">
                  <a:solidFill>
                    <a:prstClr val="black"/>
                  </a:solidFill>
                  <a:latin typeface="Arial" panose="020B0604020202020204" pitchFamily="34" charset="0"/>
                  <a:ea typeface="宋体" panose="02010600030101010101" pitchFamily="2"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3707904" y="3428374"/>
                <a:ext cx="1363835" cy="864467"/>
              </a:xfrm>
              <a:prstGeom prst="rect">
                <a:avLst/>
              </a:prstGeom>
              <a:blipFill>
                <a:blip r:embed="rId6"/>
                <a:stretch>
                  <a:fillRect/>
                </a:stretch>
              </a:blipFill>
            </p:spPr>
            <p:txBody>
              <a:bodyPr/>
              <a:lstStyle/>
              <a:p>
                <a:r>
                  <a:rPr lang="zh-CN" altLang="en-US">
                    <a:noFill/>
                  </a:rPr>
                  <a:t> </a:t>
                </a:r>
              </a:p>
            </p:txBody>
          </p:sp>
        </mc:Fallback>
      </mc:AlternateContent>
      <p:sp>
        <p:nvSpPr>
          <p:cNvPr id="6" name="矩形 5"/>
          <p:cNvSpPr/>
          <p:nvPr/>
        </p:nvSpPr>
        <p:spPr>
          <a:xfrm>
            <a:off x="335360" y="3410162"/>
            <a:ext cx="11137237" cy="2554930"/>
          </a:xfrm>
          <a:prstGeom prst="rect">
            <a:avLst/>
          </a:prstGeom>
          <a:solidFill>
            <a:schemeClr val="accent4">
              <a:lumMod val="20000"/>
              <a:lumOff val="80000"/>
            </a:schemeClr>
          </a:solidFill>
        </p:spPr>
        <p:txBody>
          <a:bodyPr wrap="square">
            <a:spAutoFit/>
          </a:bodyPr>
          <a:lstStyle/>
          <a:p>
            <a:pPr fontAlgn="base">
              <a:spcBef>
                <a:spcPct val="0"/>
              </a:spcBef>
              <a:spcAft>
                <a:spcPct val="0"/>
              </a:spcAft>
            </a:pPr>
            <a:r>
              <a:rPr lang="zh-CN" altLang="en-US" sz="2667" b="1" dirty="0">
                <a:solidFill>
                  <a:prstClr val="black"/>
                </a:solidFill>
                <a:latin typeface="黑体" panose="02010609060101010101" pitchFamily="49" charset="-122"/>
                <a:ea typeface="黑体" panose="02010609060101010101" pitchFamily="49" charset="-122"/>
              </a:rPr>
              <a:t>中心极限定理，是指概率论中讨论随机变量序列部分和分布渐近于正态分布的一类定理。这组定理是数理统计学和误差分析的理论基础，指出了大量随机变量近似服从正态分布的条件。它是概率论中最重要的一类定理，有广泛的实际应用背景。</a:t>
            </a:r>
            <a:r>
              <a:rPr lang="zh-CN" altLang="en-US" sz="2667" b="1" dirty="0">
                <a:solidFill>
                  <a:srgbClr val="C00000"/>
                </a:solidFill>
                <a:latin typeface="黑体" panose="02010609060101010101" pitchFamily="49" charset="-122"/>
                <a:ea typeface="黑体" panose="02010609060101010101" pitchFamily="49" charset="-122"/>
              </a:rPr>
              <a:t>在自然界与生产中，一些现象受到许多相互独立的随机因素的影响，如果每个因素所产生的影响都很微小时，总的影响可以看作是服从正态分布的。</a:t>
            </a:r>
          </a:p>
        </p:txBody>
      </p:sp>
    </p:spTree>
    <p:extLst>
      <p:ext uri="{BB962C8B-B14F-4D97-AF65-F5344CB8AC3E}">
        <p14:creationId xmlns:p14="http://schemas.microsoft.com/office/powerpoint/2010/main" val="2679835708"/>
      </p:ext>
    </p:extLst>
  </p:cSld>
  <p:clrMapOvr>
    <a:masterClrMapping/>
  </p:clrMapOvr>
  <p:transition spd="slow" advClick="0" advTm="3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5" name="矩形 4"/>
          <p:cNvSpPr/>
          <p:nvPr/>
        </p:nvSpPr>
        <p:spPr>
          <a:xfrm>
            <a:off x="7890114" y="152668"/>
            <a:ext cx="4168129" cy="461665"/>
          </a:xfrm>
          <a:prstGeom prst="rect">
            <a:avLst/>
          </a:prstGeom>
        </p:spPr>
        <p:txBody>
          <a:bodyPr wrap="none">
            <a:spAutoFit/>
          </a:bodyPr>
          <a:lstStyle/>
          <a:p>
            <a:pPr marL="0" lvl="2" fontAlgn="base">
              <a:spcBef>
                <a:spcPts val="800"/>
              </a:spcBef>
              <a:spcAft>
                <a:spcPts val="800"/>
              </a:spcAft>
            </a:pP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Standard Error of the mean</a:t>
            </a:r>
            <a:endParaRPr lang="zh-CN" altLang="zh-CN" sz="2400" kern="100" dirty="0">
              <a:solidFill>
                <a:srgbClr val="FFC000"/>
              </a:solidFill>
              <a:latin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335360" y="881465"/>
                <a:ext cx="11617291" cy="3642023"/>
              </a:xfrm>
              <a:prstGeom prst="rect">
                <a:avLst/>
              </a:prstGeom>
            </p:spPr>
            <p:txBody>
              <a:bodyPr wrap="square">
                <a:spAutoFit/>
              </a:bodyPr>
              <a:lstStyle/>
              <a:p>
                <a:pPr algn="just" fontAlgn="base">
                  <a:spcBef>
                    <a:spcPct val="0"/>
                  </a:spcBef>
                  <a:spcAft>
                    <a:spcPts val="800"/>
                  </a:spcAft>
                </a:pPr>
                <a:r>
                  <a:rPr lang="en-US" altLang="zh-CN" sz="3200" b="1" kern="0" dirty="0">
                    <a:solidFill>
                      <a:srgbClr val="07144B"/>
                    </a:solidFill>
                    <a:latin typeface="Times New Roman" panose="02020603050405020304" pitchFamily="18" charset="0"/>
                    <a:cs typeface="Times New Roman" panose="02020603050405020304" pitchFamily="18" charset="0"/>
                  </a:rPr>
                  <a:t>The </a:t>
                </a:r>
                <a:r>
                  <a:rPr lang="en-US" altLang="zh-CN" sz="3200" b="1" kern="0" dirty="0">
                    <a:solidFill>
                      <a:srgbClr val="07144B"/>
                    </a:solidFill>
                    <a:latin typeface="Times New Roman" panose="02020603050405020304" pitchFamily="18" charset="0"/>
                    <a:cs typeface="Times New Roman" panose="02020603050405020304" pitchFamily="18" charset="0"/>
                  </a:rPr>
                  <a:t>measurement value obtained by calculating the mean of a set of </a:t>
                </a:r>
                <a:r>
                  <a:rPr lang="en-US" altLang="zh-CN" sz="3200" b="1" i="1" kern="0" dirty="0">
                    <a:solidFill>
                      <a:srgbClr val="07144B"/>
                    </a:solidFill>
                    <a:latin typeface="Times New Roman" panose="02020603050405020304" pitchFamily="18" charset="0"/>
                    <a:cs typeface="Times New Roman" panose="02020603050405020304" pitchFamily="18" charset="0"/>
                  </a:rPr>
                  <a:t>n</a:t>
                </a:r>
                <a:r>
                  <a:rPr lang="en-US" altLang="zh-CN" sz="3200" b="1" kern="0" dirty="0">
                    <a:solidFill>
                      <a:srgbClr val="07144B"/>
                    </a:solidFill>
                    <a:latin typeface="Times New Roman" panose="02020603050405020304" pitchFamily="18" charset="0"/>
                    <a:cs typeface="Times New Roman" panose="02020603050405020304" pitchFamily="18" charset="0"/>
                  </a:rPr>
                  <a:t> measurements, </a:t>
                </a:r>
                <a14:m>
                  <m:oMath xmlns:m="http://schemas.openxmlformats.org/officeDocument/2006/math">
                    <m:sSub>
                      <m:sSubPr>
                        <m:ctrlPr>
                          <a:rPr lang="zh-CN" altLang="zh-CN" sz="3200"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srgbClr val="07144B"/>
                            </a:solidFill>
                            <a:latin typeface="Cambria Math" panose="02040503050406030204" pitchFamily="18" charset="0"/>
                            <a:cs typeface="Times New Roman" panose="02020603050405020304" pitchFamily="18" charset="0"/>
                          </a:rPr>
                          <m:t>𝒙</m:t>
                        </m:r>
                      </m:e>
                      <m:sub>
                        <m:r>
                          <a:rPr lang="en-US" altLang="zh-CN" sz="3200" b="1" i="1" kern="0">
                            <a:solidFill>
                              <a:srgbClr val="07144B"/>
                            </a:solidFill>
                            <a:latin typeface="Cambria Math" panose="02040503050406030204" pitchFamily="18" charset="0"/>
                            <a:cs typeface="Times New Roman" panose="02020603050405020304" pitchFamily="18" charset="0"/>
                          </a:rPr>
                          <m:t>𝟏</m:t>
                        </m:r>
                      </m:sub>
                    </m:sSub>
                    <m:r>
                      <a:rPr lang="en-US" altLang="zh-CN" sz="3200" b="1" kern="0">
                        <a:solidFill>
                          <a:srgbClr val="07144B"/>
                        </a:solidFill>
                        <a:latin typeface="Cambria Math" panose="02040503050406030204" pitchFamily="18" charset="0"/>
                        <a:cs typeface="Times New Roman" panose="02020603050405020304" pitchFamily="18" charset="0"/>
                      </a:rPr>
                      <m:t>, </m:t>
                    </m:r>
                    <m:sSub>
                      <m:sSubPr>
                        <m:ctrlPr>
                          <a:rPr lang="zh-CN" altLang="zh-CN" sz="3200"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srgbClr val="07144B"/>
                            </a:solidFill>
                            <a:latin typeface="Cambria Math" panose="02040503050406030204" pitchFamily="18" charset="0"/>
                            <a:cs typeface="Times New Roman" panose="02020603050405020304" pitchFamily="18" charset="0"/>
                          </a:rPr>
                          <m:t>𝒙</m:t>
                        </m:r>
                      </m:e>
                      <m:sub>
                        <m:r>
                          <a:rPr lang="en-US" altLang="zh-CN" sz="3200" b="1" i="1" kern="0">
                            <a:solidFill>
                              <a:srgbClr val="07144B"/>
                            </a:solidFill>
                            <a:latin typeface="Cambria Math" panose="02040503050406030204" pitchFamily="18" charset="0"/>
                            <a:cs typeface="Times New Roman" panose="02020603050405020304" pitchFamily="18" charset="0"/>
                          </a:rPr>
                          <m:t>𝟐</m:t>
                        </m:r>
                      </m:sub>
                    </m:sSub>
                    <m:r>
                      <a:rPr lang="en-US" altLang="zh-CN" sz="3200" b="1" kern="0">
                        <a:solidFill>
                          <a:srgbClr val="07144B"/>
                        </a:solidFill>
                        <a:latin typeface="Cambria Math" panose="02040503050406030204" pitchFamily="18" charset="0"/>
                        <a:cs typeface="Times New Roman" panose="02020603050405020304" pitchFamily="18" charset="0"/>
                      </a:rPr>
                      <m:t>, ⋯, </m:t>
                    </m:r>
                    <m:sSub>
                      <m:sSubPr>
                        <m:ctrlPr>
                          <a:rPr lang="zh-CN" altLang="zh-CN" sz="3200"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srgbClr val="07144B"/>
                            </a:solidFill>
                            <a:latin typeface="Cambria Math" panose="02040503050406030204" pitchFamily="18" charset="0"/>
                            <a:cs typeface="Times New Roman" panose="02020603050405020304" pitchFamily="18" charset="0"/>
                          </a:rPr>
                          <m:t>𝒙</m:t>
                        </m:r>
                      </m:e>
                      <m:sub>
                        <m:r>
                          <a:rPr lang="en-US" altLang="zh-CN" sz="3200" b="1" i="1" kern="0">
                            <a:solidFill>
                              <a:srgbClr val="07144B"/>
                            </a:solidFill>
                            <a:latin typeface="Cambria Math" panose="02040503050406030204" pitchFamily="18" charset="0"/>
                            <a:cs typeface="Times New Roman" panose="02020603050405020304" pitchFamily="18" charset="0"/>
                          </a:rPr>
                          <m:t>𝒏</m:t>
                        </m:r>
                      </m:sub>
                    </m:sSub>
                  </m:oMath>
                </a14:m>
                <a:r>
                  <a:rPr lang="en-US" altLang="zh-CN" sz="3200" b="1" kern="0" dirty="0">
                    <a:solidFill>
                      <a:srgbClr val="07144B"/>
                    </a:solidFill>
                    <a:latin typeface="Times New Roman" panose="02020603050405020304" pitchFamily="18" charset="0"/>
                    <a:cs typeface="Times New Roman" panose="02020603050405020304" pitchFamily="18" charset="0"/>
                  </a:rPr>
                  <a:t>, can be expressed as </a:t>
                </a:r>
                <a14:m>
                  <m:oMath xmlns:m="http://schemas.openxmlformats.org/officeDocument/2006/math">
                    <m:r>
                      <a:rPr lang="en-US" altLang="zh-CN" sz="3200" b="1" i="1" kern="0">
                        <a:solidFill>
                          <a:srgbClr val="07144B"/>
                        </a:solidFill>
                        <a:latin typeface="Cambria Math" panose="02040503050406030204" pitchFamily="18" charset="0"/>
                        <a:cs typeface="Times New Roman" panose="02020603050405020304" pitchFamily="18" charset="0"/>
                      </a:rPr>
                      <m:t>𝒙</m:t>
                    </m:r>
                    <m:r>
                      <a:rPr lang="en-US" altLang="zh-CN" sz="3200" b="1" kern="0">
                        <a:solidFill>
                          <a:srgbClr val="07144B"/>
                        </a:solidFill>
                        <a:latin typeface="Cambria Math" panose="02040503050406030204" pitchFamily="18" charset="0"/>
                        <a:cs typeface="Times New Roman" panose="02020603050405020304" pitchFamily="18" charset="0"/>
                      </a:rPr>
                      <m:t>=</m:t>
                    </m:r>
                    <m:sSub>
                      <m:sSubPr>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srgbClr val="C00000"/>
                            </a:solidFill>
                            <a:latin typeface="Cambria Math" panose="02040503050406030204" pitchFamily="18" charset="0"/>
                            <a:cs typeface="Times New Roman" panose="02020603050405020304" pitchFamily="18" charset="0"/>
                          </a:rPr>
                          <m:t>𝒙</m:t>
                        </m:r>
                      </m:e>
                      <m:sub>
                        <m:r>
                          <a:rPr lang="en-US" altLang="zh-CN" sz="3200" b="1" i="1" kern="0">
                            <a:solidFill>
                              <a:srgbClr val="C00000"/>
                            </a:solidFill>
                            <a:latin typeface="Cambria Math" panose="02040503050406030204" pitchFamily="18" charset="0"/>
                            <a:cs typeface="Times New Roman" panose="02020603050405020304" pitchFamily="18" charset="0"/>
                          </a:rPr>
                          <m:t>𝒎𝒆𝒂𝒏</m:t>
                        </m:r>
                      </m:sub>
                    </m:sSub>
                    <m:r>
                      <a:rPr lang="en-US" altLang="zh-CN" sz="3200" b="1" i="1" kern="0">
                        <a:solidFill>
                          <a:srgbClr val="C00000"/>
                        </a:solidFill>
                        <a:latin typeface="Cambria Math" panose="02040503050406030204" pitchFamily="18" charset="0"/>
                        <a:cs typeface="Times New Roman" panose="02020603050405020304" pitchFamily="18" charset="0"/>
                      </a:rPr>
                      <m:t>±</m:t>
                    </m:r>
                    <m:sSub>
                      <m:sSubPr>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b="1" i="1" kern="0">
                                <a:solidFill>
                                  <a:srgbClr val="C00000"/>
                                </a:solidFill>
                                <a:latin typeface="Cambria Math" panose="02040503050406030204" pitchFamily="18" charset="0"/>
                                <a:cs typeface="Times New Roman" panose="02020603050405020304" pitchFamily="18" charset="0"/>
                              </a:rPr>
                              <m:t>𝝈</m:t>
                            </m:r>
                          </m:e>
                        </m:acc>
                      </m:e>
                      <m:sub>
                        <m:acc>
                          <m:accPr>
                            <m:chr m:val="̅"/>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b="1" i="1" kern="0">
                                <a:solidFill>
                                  <a:srgbClr val="C00000"/>
                                </a:solidFill>
                                <a:latin typeface="Cambria Math" panose="02040503050406030204" pitchFamily="18" charset="0"/>
                                <a:cs typeface="Times New Roman" panose="02020603050405020304" pitchFamily="18" charset="0"/>
                              </a:rPr>
                              <m:t>𝒙</m:t>
                            </m:r>
                          </m:e>
                        </m:acc>
                      </m:sub>
                    </m:sSub>
                  </m:oMath>
                </a14:m>
                <a:r>
                  <a:rPr lang="en-US" altLang="zh-CN" sz="3200" b="1" kern="0" dirty="0">
                    <a:solidFill>
                      <a:srgbClr val="07144B"/>
                    </a:solidFill>
                    <a:latin typeface="Times New Roman" panose="02020603050405020304" pitchFamily="18" charset="0"/>
                    <a:cs typeface="Times New Roman" panose="02020603050405020304" pitchFamily="18" charset="0"/>
                  </a:rPr>
                  <a:t> with 68% certainty that the magnitude of the error does not exceed </a:t>
                </a:r>
                <a14:m>
                  <m:oMath xmlns:m="http://schemas.openxmlformats.org/officeDocument/2006/math">
                    <m:d>
                      <m:dPr>
                        <m:begChr m:val="|"/>
                        <m:endChr m:val="|"/>
                        <m:ctrlPr>
                          <a:rPr lang="zh-CN" altLang="zh-CN" sz="3200"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3200"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3200"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b="1" i="1" kern="0">
                                    <a:solidFill>
                                      <a:srgbClr val="07144B"/>
                                    </a:solidFill>
                                    <a:latin typeface="Cambria Math" panose="02040503050406030204" pitchFamily="18" charset="0"/>
                                    <a:cs typeface="Times New Roman" panose="02020603050405020304" pitchFamily="18" charset="0"/>
                                  </a:rPr>
                                  <m:t>𝝈</m:t>
                                </m:r>
                              </m:e>
                            </m:acc>
                          </m:e>
                          <m:sub>
                            <m:acc>
                              <m:accPr>
                                <m:chr m:val="̅"/>
                                <m:ctrlPr>
                                  <a:rPr lang="zh-CN" altLang="zh-CN" sz="3200"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b="1" i="1" kern="0">
                                    <a:solidFill>
                                      <a:srgbClr val="07144B"/>
                                    </a:solidFill>
                                    <a:latin typeface="Cambria Math" panose="02040503050406030204" pitchFamily="18" charset="0"/>
                                    <a:cs typeface="Times New Roman" panose="02020603050405020304" pitchFamily="18" charset="0"/>
                                  </a:rPr>
                                  <m:t>𝒙</m:t>
                                </m:r>
                              </m:e>
                            </m:acc>
                          </m:sub>
                        </m:sSub>
                      </m:e>
                    </m:d>
                  </m:oMath>
                </a14:m>
                <a:r>
                  <a:rPr lang="en-US" altLang="zh-CN" sz="3200" b="1" kern="0" dirty="0">
                    <a:solidFill>
                      <a:srgbClr val="07144B"/>
                    </a:solidFill>
                    <a:latin typeface="Times New Roman" panose="02020603050405020304" pitchFamily="18" charset="0"/>
                    <a:cs typeface="Times New Roman" panose="02020603050405020304" pitchFamily="18" charset="0"/>
                  </a:rPr>
                  <a:t>.</a:t>
                </a:r>
                <a:endParaRPr lang="zh-CN" altLang="zh-CN" sz="3200" b="1" kern="100" dirty="0">
                  <a:solidFill>
                    <a:srgbClr val="07144B"/>
                  </a:solidFill>
                  <a:latin typeface="等线" panose="02010600030101010101" pitchFamily="2" charset="-122"/>
                  <a:cs typeface="Times New Roman" panose="02020603050405020304" pitchFamily="18" charset="0"/>
                </a:endParaRPr>
              </a:p>
              <a:p>
                <a:pPr algn="just" fontAlgn="base">
                  <a:spcBef>
                    <a:spcPct val="0"/>
                  </a:spcBef>
                  <a:spcAft>
                    <a:spcPct val="0"/>
                  </a:spcAft>
                </a:pPr>
                <a:r>
                  <a:rPr lang="en-US" altLang="zh-CN" sz="3200" b="1" kern="0" dirty="0">
                    <a:solidFill>
                      <a:srgbClr val="07144B"/>
                    </a:solidFill>
                    <a:latin typeface="Times New Roman" panose="02020603050405020304" pitchFamily="18" charset="0"/>
                  </a:rPr>
                  <a:t>we </a:t>
                </a:r>
                <a:r>
                  <a:rPr lang="en-US" altLang="zh-CN" sz="3200" b="1" kern="0" dirty="0">
                    <a:solidFill>
                      <a:srgbClr val="07144B"/>
                    </a:solidFill>
                    <a:latin typeface="Times New Roman" panose="02020603050405020304" pitchFamily="18" charset="0"/>
                  </a:rPr>
                  <a:t>often use the fact that a range of </a:t>
                </a:r>
                <a14:m>
                  <m:oMath xmlns:m="http://schemas.openxmlformats.org/officeDocument/2006/math">
                    <m:r>
                      <a:rPr lang="en-US" altLang="zh-CN" sz="3200" b="1" kern="0">
                        <a:solidFill>
                          <a:srgbClr val="07144B"/>
                        </a:solidFill>
                        <a:latin typeface="Cambria Math" panose="02040503050406030204" pitchFamily="18" charset="0"/>
                        <a:ea typeface="AdvP4C4E74"/>
                        <a:cs typeface="Times New Roman" panose="02020603050405020304" pitchFamily="18" charset="0"/>
                      </a:rPr>
                      <m:t>±</m:t>
                    </m:r>
                  </m:oMath>
                </a14:m>
                <a:r>
                  <a:rPr lang="en-US" altLang="zh-CN" sz="3200" b="1" kern="0" dirty="0">
                    <a:solidFill>
                      <a:srgbClr val="07144B"/>
                    </a:solidFill>
                    <a:latin typeface="Times New Roman" panose="02020603050405020304" pitchFamily="18" charset="0"/>
                  </a:rPr>
                  <a:t>2 or </a:t>
                </a:r>
                <a14:m>
                  <m:oMath xmlns:m="http://schemas.openxmlformats.org/officeDocument/2006/math">
                    <m:r>
                      <a:rPr lang="en-US" altLang="zh-CN" sz="3200" b="1" kern="0">
                        <a:solidFill>
                          <a:srgbClr val="07144B"/>
                        </a:solidFill>
                        <a:latin typeface="Cambria Math" panose="02040503050406030204" pitchFamily="18" charset="0"/>
                        <a:ea typeface="AdvP4C4E74"/>
                        <a:cs typeface="Times New Roman" panose="02020603050405020304" pitchFamily="18" charset="0"/>
                      </a:rPr>
                      <m:t>±</m:t>
                    </m:r>
                  </m:oMath>
                </a14:m>
                <a:r>
                  <a:rPr lang="en-US" altLang="zh-CN" sz="3200" b="1" kern="0" dirty="0">
                    <a:solidFill>
                      <a:srgbClr val="07144B"/>
                    </a:solidFill>
                    <a:latin typeface="Times New Roman" panose="02020603050405020304" pitchFamily="18" charset="0"/>
                  </a:rPr>
                  <a:t>3 standard deviations, that is, </a:t>
                </a:r>
                <a14:m>
                  <m:oMath xmlns:m="http://schemas.openxmlformats.org/officeDocument/2006/math">
                    <m:sSub>
                      <m:sSubPr>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srgbClr val="C00000"/>
                            </a:solidFill>
                            <a:latin typeface="Cambria Math" panose="02040503050406030204" pitchFamily="18" charset="0"/>
                            <a:cs typeface="Times New Roman" panose="02020603050405020304" pitchFamily="18" charset="0"/>
                          </a:rPr>
                          <m:t>±</m:t>
                        </m:r>
                        <m:r>
                          <a:rPr lang="en-US" altLang="zh-CN" sz="3200" b="1" i="1" kern="0">
                            <a:solidFill>
                              <a:srgbClr val="C00000"/>
                            </a:solidFill>
                            <a:latin typeface="Cambria Math" panose="02040503050406030204" pitchFamily="18" charset="0"/>
                            <a:cs typeface="Times New Roman" panose="02020603050405020304" pitchFamily="18" charset="0"/>
                          </a:rPr>
                          <m:t>𝟐</m:t>
                        </m:r>
                        <m:acc>
                          <m:accPr>
                            <m:chr m:val="̂"/>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b="1" i="1" kern="0">
                                <a:solidFill>
                                  <a:srgbClr val="C00000"/>
                                </a:solidFill>
                                <a:latin typeface="Cambria Math" panose="02040503050406030204" pitchFamily="18" charset="0"/>
                                <a:cs typeface="Times New Roman" panose="02020603050405020304" pitchFamily="18" charset="0"/>
                              </a:rPr>
                              <m:t>𝝈</m:t>
                            </m:r>
                          </m:e>
                        </m:acc>
                      </m:e>
                      <m:sub>
                        <m:acc>
                          <m:accPr>
                            <m:chr m:val="̅"/>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b="1" i="1" kern="0">
                                <a:solidFill>
                                  <a:srgbClr val="C00000"/>
                                </a:solidFill>
                                <a:latin typeface="Cambria Math" panose="02040503050406030204" pitchFamily="18" charset="0"/>
                                <a:cs typeface="Times New Roman" panose="02020603050405020304" pitchFamily="18" charset="0"/>
                              </a:rPr>
                              <m:t>𝒙</m:t>
                            </m:r>
                          </m:e>
                        </m:acc>
                      </m:sub>
                    </m:sSub>
                  </m:oMath>
                </a14:m>
                <a:r>
                  <a:rPr lang="en-US" altLang="zh-CN" sz="3200" b="1" kern="0" dirty="0">
                    <a:solidFill>
                      <a:srgbClr val="C00000"/>
                    </a:solidFill>
                    <a:latin typeface="Times New Roman" panose="02020603050405020304" pitchFamily="18" charset="0"/>
                  </a:rPr>
                  <a:t> or </a:t>
                </a:r>
                <a14:m>
                  <m:oMath xmlns:m="http://schemas.openxmlformats.org/officeDocument/2006/math">
                    <m:sSub>
                      <m:sSubPr>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1" i="1" kern="0">
                            <a:solidFill>
                              <a:srgbClr val="C00000"/>
                            </a:solidFill>
                            <a:latin typeface="Cambria Math" panose="02040503050406030204" pitchFamily="18" charset="0"/>
                            <a:cs typeface="Times New Roman" panose="02020603050405020304" pitchFamily="18" charset="0"/>
                          </a:rPr>
                          <m:t>±</m:t>
                        </m:r>
                        <m:r>
                          <a:rPr lang="en-US" altLang="zh-CN" sz="3200" b="1" i="1" kern="0">
                            <a:solidFill>
                              <a:srgbClr val="C00000"/>
                            </a:solidFill>
                            <a:latin typeface="Cambria Math" panose="02040503050406030204" pitchFamily="18" charset="0"/>
                            <a:cs typeface="Times New Roman" panose="02020603050405020304" pitchFamily="18" charset="0"/>
                          </a:rPr>
                          <m:t>𝟑</m:t>
                        </m:r>
                        <m:acc>
                          <m:accPr>
                            <m:chr m:val="̂"/>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b="1" i="1" kern="0">
                                <a:solidFill>
                                  <a:srgbClr val="C00000"/>
                                </a:solidFill>
                                <a:latin typeface="Cambria Math" panose="02040503050406030204" pitchFamily="18" charset="0"/>
                                <a:cs typeface="Times New Roman" panose="02020603050405020304" pitchFamily="18" charset="0"/>
                              </a:rPr>
                              <m:t>𝝈</m:t>
                            </m:r>
                          </m:e>
                        </m:acc>
                      </m:e>
                      <m:sub>
                        <m:acc>
                          <m:accPr>
                            <m:chr m:val="̅"/>
                            <m:ctrlPr>
                              <a:rPr lang="zh-CN" altLang="zh-CN" sz="3200" b="1" i="1" ker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b="1" i="1" kern="0">
                                <a:solidFill>
                                  <a:srgbClr val="C00000"/>
                                </a:solidFill>
                                <a:latin typeface="Cambria Math" panose="02040503050406030204" pitchFamily="18" charset="0"/>
                                <a:cs typeface="Times New Roman" panose="02020603050405020304" pitchFamily="18" charset="0"/>
                              </a:rPr>
                              <m:t>𝒙</m:t>
                            </m:r>
                          </m:e>
                        </m:acc>
                      </m:sub>
                    </m:sSub>
                    <m:r>
                      <a:rPr lang="en-US" altLang="zh-CN" sz="3200" b="1" i="1" kern="0">
                        <a:solidFill>
                          <a:srgbClr val="07144B"/>
                        </a:solidFill>
                        <a:latin typeface="Cambria Math" panose="02040503050406030204" pitchFamily="18" charset="0"/>
                        <a:cs typeface="Times New Roman" panose="02020603050405020304" pitchFamily="18" charset="0"/>
                      </a:rPr>
                      <m:t> </m:t>
                    </m:r>
                  </m:oMath>
                </a14:m>
                <a:r>
                  <a:rPr lang="en-US" altLang="zh-CN" sz="3200" b="1" kern="0" dirty="0">
                    <a:solidFill>
                      <a:srgbClr val="07144B"/>
                    </a:solidFill>
                    <a:latin typeface="Times New Roman" panose="02020603050405020304" pitchFamily="18" charset="0"/>
                  </a:rPr>
                  <a:t>encompasses 95.4% or 99.7% of the deviations of </a:t>
                </a:r>
                <a:r>
                  <a:rPr lang="en-US" altLang="zh-CN" sz="3200" b="1" kern="0" dirty="0">
                    <a:solidFill>
                      <a:srgbClr val="07144B"/>
                    </a:solidFill>
                    <a:latin typeface="Times New Roman" panose="02020603050405020304" pitchFamily="18" charset="0"/>
                  </a:rPr>
                  <a:t>sample.</a:t>
                </a:r>
                <a:endParaRPr lang="zh-CN" altLang="en-US" sz="3200" b="1" dirty="0">
                  <a:solidFill>
                    <a:srgbClr val="07144B"/>
                  </a:solidFill>
                  <a:latin typeface="Arial" panose="020B0604020202020204" pitchFamily="34" charset="0"/>
                  <a:ea typeface="宋体" panose="02010600030101010101" pitchFamily="2"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251520" y="661099"/>
                <a:ext cx="8712968" cy="2754600"/>
              </a:xfrm>
              <a:prstGeom prst="rect">
                <a:avLst/>
              </a:prstGeom>
              <a:blipFill rotWithShape="0">
                <a:blip r:embed="rId5"/>
                <a:stretch>
                  <a:fillRect l="-1049" t="-1770" r="-1049" b="-4204"/>
                </a:stretch>
              </a:blipFill>
            </p:spPr>
            <p:txBody>
              <a:bodyPr/>
              <a:lstStyle/>
              <a:p>
                <a:r>
                  <a:rPr lang="en-GB">
                    <a:noFill/>
                  </a:rPr>
                  <a:t> </a:t>
                </a:r>
              </a:p>
            </p:txBody>
          </p:sp>
        </mc:Fallback>
      </mc:AlternateContent>
      <p:sp>
        <p:nvSpPr>
          <p:cNvPr id="6" name="文本框 5"/>
          <p:cNvSpPr txBox="1"/>
          <p:nvPr/>
        </p:nvSpPr>
        <p:spPr>
          <a:xfrm>
            <a:off x="2351585" y="4862322"/>
            <a:ext cx="7160935" cy="584775"/>
          </a:xfrm>
          <a:prstGeom prst="rect">
            <a:avLst/>
          </a:prstGeom>
          <a:noFill/>
        </p:spPr>
        <p:txBody>
          <a:bodyPr wrap="none" rtlCol="0">
            <a:spAutoFit/>
          </a:bodyPr>
          <a:lstStyle/>
          <a:p>
            <a:pPr fontAlgn="base">
              <a:spcBef>
                <a:spcPct val="0"/>
              </a:spcBef>
              <a:spcAft>
                <a:spcPct val="0"/>
              </a:spcAft>
            </a:pPr>
            <a:r>
              <a:rPr lang="zh-CN" altLang="en-US" sz="3200" b="1" dirty="0">
                <a:solidFill>
                  <a:srgbClr val="C00000"/>
                </a:solidFill>
                <a:latin typeface="微软雅黑" panose="020B0503020204020204" pitchFamily="34" charset="-122"/>
                <a:ea typeface="微软雅黑" panose="020B0503020204020204" pitchFamily="34" charset="-122"/>
              </a:rPr>
              <a:t>多组</a:t>
            </a:r>
            <a:r>
              <a:rPr lang="zh-CN" altLang="en-US" sz="3200" b="1" dirty="0">
                <a:solidFill>
                  <a:srgbClr val="C00000"/>
                </a:solidFill>
                <a:latin typeface="微软雅黑" panose="020B0503020204020204" pitchFamily="34" charset="-122"/>
                <a:ea typeface="微软雅黑" panose="020B0503020204020204" pitchFamily="34" charset="-122"/>
              </a:rPr>
              <a:t>测量情况下对均值估计的偏差计算</a:t>
            </a:r>
            <a:endParaRPr lang="zh-CN" altLang="en-US" sz="32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2500203"/>
      </p:ext>
    </p:extLst>
  </p:cSld>
  <p:clrMapOvr>
    <a:masterClrMapping/>
  </p:clrMapOvr>
  <p:transition spd="slow" advClick="0" advTm="3000">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5" name="矩形 4"/>
          <p:cNvSpPr/>
          <p:nvPr/>
        </p:nvSpPr>
        <p:spPr>
          <a:xfrm>
            <a:off x="8880310" y="98934"/>
            <a:ext cx="2919389" cy="461665"/>
          </a:xfrm>
          <a:prstGeom prst="rect">
            <a:avLst/>
          </a:prstGeom>
        </p:spPr>
        <p:txBody>
          <a:bodyPr wrap="none">
            <a:spAutoFit/>
          </a:bodyPr>
          <a:lstStyle/>
          <a:p>
            <a:pPr marL="0" lvl="2" fontAlgn="base">
              <a:spcBef>
                <a:spcPts val="800"/>
              </a:spcBef>
              <a:spcAft>
                <a:spcPts val="800"/>
              </a:spcAft>
            </a:pP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Rogue </a:t>
            </a: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Data </a:t>
            </a: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Points</a:t>
            </a:r>
            <a:endParaRPr lang="zh-CN" altLang="zh-CN" sz="2400" kern="100" dirty="0">
              <a:solidFill>
                <a:srgbClr val="FFC000"/>
              </a:solidFill>
              <a:latin typeface="等线"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矩形 3"/>
              <p:cNvSpPr/>
              <p:nvPr/>
            </p:nvSpPr>
            <p:spPr>
              <a:xfrm>
                <a:off x="335360" y="782121"/>
                <a:ext cx="11689589" cy="2062103"/>
              </a:xfrm>
              <a:prstGeom prst="rect">
                <a:avLst/>
              </a:prstGeom>
            </p:spPr>
            <p:txBody>
              <a:bodyPr wrap="square">
                <a:spAutoFit/>
              </a:bodyPr>
              <a:lstStyle/>
              <a:p>
                <a:pPr algn="just" fontAlgn="base">
                  <a:spcBef>
                    <a:spcPct val="0"/>
                  </a:spcBef>
                  <a:spcAft>
                    <a:spcPts val="800"/>
                  </a:spcAft>
                </a:pPr>
                <a:r>
                  <a:rPr lang="en-US" altLang="zh-CN" sz="3200" b="1" kern="0" dirty="0">
                    <a:solidFill>
                      <a:prstClr val="black"/>
                    </a:solidFill>
                    <a:latin typeface="Times New Roman" panose="02020603050405020304" pitchFamily="18" charset="0"/>
                    <a:cs typeface="Times New Roman" panose="02020603050405020304" pitchFamily="18" charset="0"/>
                  </a:rPr>
                  <a:t>A point with very </a:t>
                </a:r>
                <a:r>
                  <a:rPr lang="en-US" altLang="zh-CN" sz="3200" b="1" kern="0" dirty="0">
                    <a:solidFill>
                      <a:prstClr val="black"/>
                    </a:solidFill>
                    <a:latin typeface="Times New Roman" panose="02020603050405020304" pitchFamily="18" charset="0"/>
                    <a:cs typeface="Times New Roman" panose="02020603050405020304" pitchFamily="18" charset="0"/>
                  </a:rPr>
                  <a:t>large error </a:t>
                </a:r>
                <a:r>
                  <a:rPr lang="en-US" altLang="zh-CN" sz="3200" b="1" kern="0" dirty="0">
                    <a:solidFill>
                      <a:prstClr val="black"/>
                    </a:solidFill>
                    <a:latin typeface="Times New Roman" panose="02020603050405020304" pitchFamily="18" charset="0"/>
                    <a:cs typeface="Times New Roman" panose="02020603050405020304" pitchFamily="18" charset="0"/>
                  </a:rPr>
                  <a:t>is called </a:t>
                </a:r>
                <a:r>
                  <a:rPr lang="en-US" altLang="zh-CN" sz="3200" b="1" i="1" kern="0" dirty="0">
                    <a:solidFill>
                      <a:srgbClr val="C00000"/>
                    </a:solidFill>
                    <a:latin typeface="Times New Roman" panose="02020603050405020304" pitchFamily="18" charset="0"/>
                    <a:cs typeface="Times New Roman" panose="02020603050405020304" pitchFamily="18" charset="0"/>
                  </a:rPr>
                  <a:t>rogue data </a:t>
                </a:r>
                <a:r>
                  <a:rPr lang="en-US" altLang="zh-CN" sz="3200" b="1" i="1" kern="0" dirty="0">
                    <a:solidFill>
                      <a:srgbClr val="C00000"/>
                    </a:solidFill>
                    <a:latin typeface="Times New Roman" panose="02020603050405020304" pitchFamily="18" charset="0"/>
                    <a:cs typeface="Times New Roman" panose="02020603050405020304" pitchFamily="18" charset="0"/>
                  </a:rPr>
                  <a:t>point</a:t>
                </a:r>
                <a:r>
                  <a:rPr lang="en-US" altLang="zh-CN" sz="3200" b="1" kern="0" dirty="0">
                    <a:solidFill>
                      <a:srgbClr val="C00000"/>
                    </a:solidFill>
                    <a:latin typeface="Times New Roman" panose="02020603050405020304" pitchFamily="18" charset="0"/>
                    <a:cs typeface="Times New Roman" panose="02020603050405020304" pitchFamily="18" charset="0"/>
                  </a:rPr>
                  <a:t> </a:t>
                </a:r>
                <a:r>
                  <a:rPr lang="en-US" altLang="zh-CN" sz="3200" b="1" kern="0" dirty="0">
                    <a:solidFill>
                      <a:prstClr val="black"/>
                    </a:solidFill>
                    <a:latin typeface="Times New Roman" panose="02020603050405020304" pitchFamily="18" charset="0"/>
                    <a:cs typeface="Times New Roman" panose="02020603050405020304" pitchFamily="18" charset="0"/>
                  </a:rPr>
                  <a:t>or </a:t>
                </a:r>
                <a:r>
                  <a:rPr lang="en-US" altLang="zh-CN" sz="3200" b="1" i="1" u="sng" kern="0" dirty="0">
                    <a:solidFill>
                      <a:srgbClr val="C00000"/>
                    </a:solidFill>
                    <a:latin typeface="Times New Roman" panose="02020603050405020304" pitchFamily="18" charset="0"/>
                    <a:cs typeface="Times New Roman" panose="02020603050405020304" pitchFamily="18" charset="0"/>
                  </a:rPr>
                  <a:t>data </a:t>
                </a:r>
                <a:r>
                  <a:rPr lang="en-US" altLang="zh-CN" sz="3200" b="1" i="1" u="sng" kern="0" dirty="0">
                    <a:solidFill>
                      <a:srgbClr val="C00000"/>
                    </a:solidFill>
                    <a:latin typeface="Times New Roman" panose="02020603050405020304" pitchFamily="18" charset="0"/>
                    <a:cs typeface="Times New Roman" panose="02020603050405020304" pitchFamily="18" charset="0"/>
                  </a:rPr>
                  <a:t>outlier(</a:t>
                </a:r>
                <a:r>
                  <a:rPr lang="zh-CN" altLang="en-US" sz="3200" b="1" i="1" u="sng" kern="0" dirty="0">
                    <a:solidFill>
                      <a:srgbClr val="C00000"/>
                    </a:solidFill>
                    <a:latin typeface="Times New Roman" panose="02020603050405020304" pitchFamily="18" charset="0"/>
                    <a:cs typeface="Times New Roman" panose="02020603050405020304" pitchFamily="18" charset="0"/>
                  </a:rPr>
                  <a:t>异常值</a:t>
                </a:r>
                <a:r>
                  <a:rPr lang="en-US" altLang="zh-CN" sz="3200" b="1" i="1" u="sng" kern="0" dirty="0">
                    <a:solidFill>
                      <a:srgbClr val="C00000"/>
                    </a:solidFill>
                    <a:latin typeface="Times New Roman" panose="02020603050405020304" pitchFamily="18" charset="0"/>
                    <a:cs typeface="Times New Roman" panose="02020603050405020304" pitchFamily="18" charset="0"/>
                  </a:rPr>
                  <a:t>)</a:t>
                </a:r>
                <a:r>
                  <a:rPr lang="en-US" altLang="zh-CN" sz="3200" b="1" kern="0" dirty="0">
                    <a:solidFill>
                      <a:prstClr val="black"/>
                    </a:solidFill>
                    <a:latin typeface="Times New Roman" panose="02020603050405020304" pitchFamily="18" charset="0"/>
                    <a:cs typeface="Times New Roman" panose="02020603050405020304" pitchFamily="18" charset="0"/>
                  </a:rPr>
                  <a:t>. It </a:t>
                </a:r>
                <a:r>
                  <a:rPr lang="en-US" altLang="zh-CN" sz="3200" b="1" kern="0" dirty="0">
                    <a:solidFill>
                      <a:prstClr val="black"/>
                    </a:solidFill>
                    <a:latin typeface="Times New Roman" panose="02020603050405020304" pitchFamily="18" charset="0"/>
                    <a:cs typeface="Times New Roman" panose="02020603050405020304" pitchFamily="18" charset="0"/>
                  </a:rPr>
                  <a:t>is accepted practice in such cases to </a:t>
                </a:r>
                <a:r>
                  <a:rPr lang="en-US" altLang="zh-CN" sz="3200" b="1" u="sng" kern="0" dirty="0">
                    <a:solidFill>
                      <a:prstClr val="black"/>
                    </a:solidFill>
                    <a:latin typeface="Times New Roman" panose="02020603050405020304" pitchFamily="18" charset="0"/>
                    <a:cs typeface="Times New Roman" panose="02020603050405020304" pitchFamily="18" charset="0"/>
                  </a:rPr>
                  <a:t>discard(</a:t>
                </a:r>
                <a:r>
                  <a:rPr lang="zh-CN" altLang="en-US" sz="3200" b="1" u="sng" kern="0" dirty="0">
                    <a:solidFill>
                      <a:prstClr val="black"/>
                    </a:solidFill>
                    <a:latin typeface="Times New Roman" panose="02020603050405020304" pitchFamily="18" charset="0"/>
                    <a:cs typeface="Times New Roman" panose="02020603050405020304" pitchFamily="18" charset="0"/>
                  </a:rPr>
                  <a:t>剔除</a:t>
                </a:r>
                <a:r>
                  <a:rPr lang="en-US" altLang="zh-CN" sz="3200" b="1" u="sng" kern="0" dirty="0">
                    <a:solidFill>
                      <a:prstClr val="black"/>
                    </a:solidFill>
                    <a:latin typeface="Times New Roman" panose="02020603050405020304" pitchFamily="18" charset="0"/>
                    <a:cs typeface="Times New Roman" panose="02020603050405020304" pitchFamily="18" charset="0"/>
                  </a:rPr>
                  <a:t>) </a:t>
                </a:r>
                <a:r>
                  <a:rPr lang="en-US" altLang="zh-CN" sz="3200" b="1" kern="0" dirty="0">
                    <a:solidFill>
                      <a:prstClr val="black"/>
                    </a:solidFill>
                    <a:latin typeface="Times New Roman" panose="02020603050405020304" pitchFamily="18" charset="0"/>
                    <a:cs typeface="Times New Roman" panose="02020603050405020304" pitchFamily="18" charset="0"/>
                  </a:rPr>
                  <a:t>these rogue measurements, and a </a:t>
                </a:r>
                <a:r>
                  <a:rPr lang="en-US" altLang="zh-CN" sz="3200" b="1" kern="0" dirty="0">
                    <a:solidFill>
                      <a:srgbClr val="0070C0"/>
                    </a:solidFill>
                    <a:latin typeface="Times New Roman" panose="02020603050405020304" pitchFamily="18" charset="0"/>
                    <a:cs typeface="Times New Roman" panose="02020603050405020304" pitchFamily="18" charset="0"/>
                  </a:rPr>
                  <a:t>threshold </a:t>
                </a:r>
                <a:r>
                  <a:rPr lang="en-US" altLang="zh-CN" sz="3200" b="1" kern="0" dirty="0" smtClean="0">
                    <a:solidFill>
                      <a:srgbClr val="0070C0"/>
                    </a:solidFill>
                    <a:latin typeface="Times New Roman" panose="02020603050405020304" pitchFamily="18" charset="0"/>
                    <a:cs typeface="Times New Roman" panose="02020603050405020304" pitchFamily="18" charset="0"/>
                  </a:rPr>
                  <a:t>level</a:t>
                </a:r>
                <a:r>
                  <a:rPr lang="en-GB" altLang="zh-CN" sz="3200" b="1" kern="0" dirty="0" smtClean="0">
                    <a:solidFill>
                      <a:srgbClr val="0070C0"/>
                    </a:solidFill>
                    <a:latin typeface="Times New Roman" panose="02020603050405020304" pitchFamily="18" charset="0"/>
                    <a:cs typeface="Times New Roman" panose="02020603050405020304" pitchFamily="18" charset="0"/>
                  </a:rPr>
                  <a:t>(</a:t>
                </a:r>
                <a:r>
                  <a:rPr lang="zh-CN" altLang="en-US" sz="3200" b="1" kern="0" dirty="0">
                    <a:solidFill>
                      <a:srgbClr val="0070C0"/>
                    </a:solidFill>
                    <a:latin typeface="Times New Roman" panose="02020603050405020304" pitchFamily="18" charset="0"/>
                    <a:cs typeface="Times New Roman" panose="02020603050405020304" pitchFamily="18" charset="0"/>
                  </a:rPr>
                  <a:t>阀值</a:t>
                </a:r>
                <a:r>
                  <a:rPr lang="en-GB" altLang="zh-CN" sz="3200" b="1" kern="0" dirty="0" smtClean="0">
                    <a:solidFill>
                      <a:srgbClr val="0070C0"/>
                    </a:solidFill>
                    <a:latin typeface="Times New Roman" panose="02020603050405020304" pitchFamily="18" charset="0"/>
                    <a:cs typeface="Times New Roman" panose="02020603050405020304" pitchFamily="18" charset="0"/>
                  </a:rPr>
                  <a:t>)</a:t>
                </a:r>
                <a:r>
                  <a:rPr lang="en-US" altLang="zh-CN" sz="3200" b="1" kern="0" dirty="0" smtClean="0">
                    <a:solidFill>
                      <a:srgbClr val="0070C0"/>
                    </a:solidFill>
                    <a:latin typeface="Times New Roman" panose="02020603050405020304" pitchFamily="18" charset="0"/>
                    <a:cs typeface="Times New Roman" panose="02020603050405020304" pitchFamily="18" charset="0"/>
                  </a:rPr>
                  <a:t> </a:t>
                </a:r>
                <a:r>
                  <a:rPr lang="en-US" altLang="zh-CN" sz="3200" b="1" kern="0" dirty="0">
                    <a:solidFill>
                      <a:prstClr val="black"/>
                    </a:solidFill>
                    <a:latin typeface="Times New Roman" panose="02020603050405020304" pitchFamily="18" charset="0"/>
                    <a:cs typeface="Times New Roman" panose="02020603050405020304" pitchFamily="18" charset="0"/>
                  </a:rPr>
                  <a:t>of </a:t>
                </a:r>
                <a14:m>
                  <m:oMath xmlns:m="http://schemas.openxmlformats.org/officeDocument/2006/math">
                    <m:r>
                      <a:rPr lang="en-US" altLang="zh-CN" sz="3200" b="1" i="1" kern="0">
                        <a:solidFill>
                          <a:prstClr val="black"/>
                        </a:solidFill>
                        <a:latin typeface="Cambria Math" panose="02040503050406030204" pitchFamily="18" charset="0"/>
                        <a:cs typeface="Times New Roman" panose="02020603050405020304" pitchFamily="18" charset="0"/>
                      </a:rPr>
                      <m:t>±</m:t>
                    </m:r>
                    <m:r>
                      <a:rPr lang="en-US" altLang="zh-CN" sz="3200" b="1" i="1" kern="0">
                        <a:solidFill>
                          <a:prstClr val="black"/>
                        </a:solidFill>
                        <a:latin typeface="Cambria Math" panose="02040503050406030204" pitchFamily="18" charset="0"/>
                        <a:cs typeface="Times New Roman" panose="02020603050405020304" pitchFamily="18" charset="0"/>
                      </a:rPr>
                      <m:t>𝟑</m:t>
                    </m:r>
                    <m:r>
                      <a:rPr lang="en-US" altLang="zh-CN" sz="3200" b="1" i="1" kern="0">
                        <a:solidFill>
                          <a:prstClr val="black"/>
                        </a:solidFill>
                        <a:latin typeface="Cambria Math" panose="02040503050406030204" pitchFamily="18" charset="0"/>
                        <a:cs typeface="Times New Roman" panose="02020603050405020304" pitchFamily="18" charset="0"/>
                      </a:rPr>
                      <m:t>𝝈</m:t>
                    </m:r>
                  </m:oMath>
                </a14:m>
                <a:r>
                  <a:rPr lang="en-US" altLang="zh-CN" sz="3200" b="1" kern="0" dirty="0">
                    <a:solidFill>
                      <a:prstClr val="black"/>
                    </a:solidFill>
                    <a:latin typeface="Times New Roman" panose="02020603050405020304" pitchFamily="18" charset="0"/>
                    <a:cs typeface="Times New Roman" panose="02020603050405020304" pitchFamily="18" charset="0"/>
                  </a:rPr>
                  <a:t> deviation is often used to determine what should be discarded.</a:t>
                </a:r>
                <a:endParaRPr lang="zh-CN" altLang="zh-CN" sz="3200" b="1" kern="100" dirty="0">
                  <a:solidFill>
                    <a:prstClr val="black"/>
                  </a:solidFill>
                  <a:latin typeface="等线" panose="02010600030101010101" pitchFamily="2"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35360" y="782121"/>
                <a:ext cx="11689589" cy="2062103"/>
              </a:xfrm>
              <a:prstGeom prst="rect">
                <a:avLst/>
              </a:prstGeom>
              <a:blipFill rotWithShape="0">
                <a:blip r:embed="rId5"/>
                <a:stretch>
                  <a:fillRect l="-1303" t="-4130" r="-1356" b="-7965"/>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3" name="矩形 12"/>
              <p:cNvSpPr/>
              <p:nvPr/>
            </p:nvSpPr>
            <p:spPr>
              <a:xfrm>
                <a:off x="335360" y="2873190"/>
                <a:ext cx="11526963" cy="3046988"/>
              </a:xfrm>
              <a:prstGeom prst="rect">
                <a:avLst/>
              </a:prstGeom>
            </p:spPr>
            <p:txBody>
              <a:bodyPr wrap="square">
                <a:spAutoFit/>
              </a:bodyPr>
              <a:lstStyle/>
              <a:p>
                <a:pPr algn="just" fontAlgn="base">
                  <a:spcBef>
                    <a:spcPct val="0"/>
                  </a:spcBef>
                  <a:spcAft>
                    <a:spcPct val="0"/>
                  </a:spcAft>
                </a:pPr>
                <a:r>
                  <a:rPr lang="en-US" altLang="zh-CN" sz="3200" b="1" kern="0" dirty="0">
                    <a:solidFill>
                      <a:prstClr val="black"/>
                    </a:solidFill>
                    <a:latin typeface="Times New Roman" panose="02020603050405020304" pitchFamily="18" charset="0"/>
                  </a:rPr>
                  <a:t>For a </a:t>
                </a:r>
                <a:r>
                  <a:rPr lang="en-US" altLang="zh-CN" sz="3200" b="1" kern="0" dirty="0">
                    <a:solidFill>
                      <a:prstClr val="black"/>
                    </a:solidFill>
                    <a:latin typeface="Times New Roman" panose="02020603050405020304" pitchFamily="18" charset="0"/>
                  </a:rPr>
                  <a:t>set of measurements, first, one rogue </a:t>
                </a:r>
                <a:r>
                  <a:rPr lang="en-US" altLang="zh-CN" sz="3200" b="1" kern="0" dirty="0" smtClean="0">
                    <a:solidFill>
                      <a:srgbClr val="0070C0"/>
                    </a:solidFill>
                    <a:latin typeface="Times New Roman" panose="02020603050405020304" pitchFamily="18" charset="0"/>
                  </a:rPr>
                  <a:t>datum(</a:t>
                </a:r>
                <a:r>
                  <a:rPr lang="zh-CN" altLang="en-US" sz="3200" b="1" kern="0" dirty="0" smtClean="0">
                    <a:solidFill>
                      <a:srgbClr val="0070C0"/>
                    </a:solidFill>
                    <a:latin typeface="Times New Roman" panose="02020603050405020304" pitchFamily="18" charset="0"/>
                  </a:rPr>
                  <a:t>数据</a:t>
                </a:r>
                <a:r>
                  <a:rPr lang="en-US" altLang="zh-CN" sz="3200" b="1" kern="0" dirty="0" smtClean="0">
                    <a:solidFill>
                      <a:srgbClr val="0070C0"/>
                    </a:solidFill>
                    <a:latin typeface="Times New Roman" panose="02020603050405020304" pitchFamily="18" charset="0"/>
                  </a:rPr>
                  <a:t>)</a:t>
                </a:r>
                <a:r>
                  <a:rPr lang="en-US" altLang="zh-CN" sz="3200" b="1" kern="0" dirty="0" smtClean="0">
                    <a:solidFill>
                      <a:prstClr val="black"/>
                    </a:solidFill>
                    <a:latin typeface="Times New Roman" panose="02020603050405020304" pitchFamily="18" charset="0"/>
                  </a:rPr>
                  <a:t> </a:t>
                </a:r>
                <a:r>
                  <a:rPr lang="en-US" altLang="zh-CN" sz="3200" b="1" kern="0" dirty="0">
                    <a:solidFill>
                      <a:prstClr val="black"/>
                    </a:solidFill>
                    <a:latin typeface="Times New Roman" panose="02020603050405020304" pitchFamily="18" charset="0"/>
                  </a:rPr>
                  <a:t>which is out of</a:t>
                </a:r>
                <a14:m>
                  <m:oMath xmlns:m="http://schemas.openxmlformats.org/officeDocument/2006/math">
                    <m:r>
                      <a:rPr lang="en-US" altLang="zh-CN" sz="3200" b="1" kern="0">
                        <a:solidFill>
                          <a:prstClr val="black"/>
                        </a:solidFill>
                        <a:latin typeface="Cambria Math" panose="02040503050406030204" pitchFamily="18" charset="0"/>
                        <a:cs typeface="Times New Roman" panose="02020603050405020304" pitchFamily="18" charset="0"/>
                      </a:rPr>
                      <m:t> ±</m:t>
                    </m:r>
                    <m:r>
                      <a:rPr lang="en-US" altLang="zh-CN" sz="3200" b="1" i="1" kern="0">
                        <a:solidFill>
                          <a:prstClr val="black"/>
                        </a:solidFill>
                        <a:latin typeface="Cambria Math" panose="02040503050406030204" pitchFamily="18" charset="0"/>
                        <a:cs typeface="Times New Roman" panose="02020603050405020304" pitchFamily="18" charset="0"/>
                      </a:rPr>
                      <m:t>𝟑</m:t>
                    </m:r>
                    <m:r>
                      <a:rPr lang="en-US" altLang="zh-CN" sz="3200" b="1" i="1" kern="0">
                        <a:solidFill>
                          <a:prstClr val="black"/>
                        </a:solidFill>
                        <a:latin typeface="Cambria Math" panose="02040503050406030204" pitchFamily="18" charset="0"/>
                        <a:cs typeface="Times New Roman" panose="02020603050405020304" pitchFamily="18" charset="0"/>
                      </a:rPr>
                      <m:t>𝝈</m:t>
                    </m:r>
                  </m:oMath>
                </a14:m>
                <a:r>
                  <a:rPr lang="en-US" altLang="zh-CN" sz="3200" b="1" kern="0" dirty="0">
                    <a:solidFill>
                      <a:prstClr val="black"/>
                    </a:solidFill>
                    <a:latin typeface="Times New Roman" panose="02020603050405020304" pitchFamily="18" charset="0"/>
                  </a:rPr>
                  <a:t> threshold will be discarded, and we have a new set of measurements. The another rogue datum for this new set of measurements can be processed through the same method. All of the rogue data will be discarded when all of the data are within the </a:t>
                </a:r>
                <a14:m>
                  <m:oMath xmlns:m="http://schemas.openxmlformats.org/officeDocument/2006/math">
                    <m:r>
                      <a:rPr lang="en-US" altLang="zh-CN" sz="3200" b="1" kern="0">
                        <a:solidFill>
                          <a:prstClr val="black"/>
                        </a:solidFill>
                        <a:latin typeface="Cambria Math" panose="02040503050406030204" pitchFamily="18" charset="0"/>
                        <a:cs typeface="Times New Roman" panose="02020603050405020304" pitchFamily="18" charset="0"/>
                      </a:rPr>
                      <m:t>±</m:t>
                    </m:r>
                    <m:r>
                      <a:rPr lang="en-US" altLang="zh-CN" sz="3200" b="1" i="1" kern="0">
                        <a:solidFill>
                          <a:prstClr val="black"/>
                        </a:solidFill>
                        <a:latin typeface="Cambria Math" panose="02040503050406030204" pitchFamily="18" charset="0"/>
                        <a:cs typeface="Times New Roman" panose="02020603050405020304" pitchFamily="18" charset="0"/>
                      </a:rPr>
                      <m:t>𝟑</m:t>
                    </m:r>
                    <m:r>
                      <a:rPr lang="en-US" altLang="zh-CN" sz="3200" b="1" i="1" kern="0">
                        <a:solidFill>
                          <a:prstClr val="black"/>
                        </a:solidFill>
                        <a:latin typeface="Cambria Math" panose="02040503050406030204" pitchFamily="18" charset="0"/>
                        <a:cs typeface="Times New Roman" panose="02020603050405020304" pitchFamily="18" charset="0"/>
                      </a:rPr>
                      <m:t>𝝈</m:t>
                    </m:r>
                  </m:oMath>
                </a14:m>
                <a:r>
                  <a:rPr lang="en-US" altLang="zh-CN" sz="3200" b="1" kern="0" dirty="0">
                    <a:solidFill>
                      <a:prstClr val="black"/>
                    </a:solidFill>
                    <a:latin typeface="Times New Roman" panose="02020603050405020304" pitchFamily="18" charset="0"/>
                  </a:rPr>
                  <a:t> threshold.</a:t>
                </a:r>
                <a:endParaRPr lang="zh-CN" altLang="en-US" sz="3200" b="1" dirty="0">
                  <a:solidFill>
                    <a:prstClr val="black"/>
                  </a:solidFill>
                  <a:latin typeface="Arial" panose="020B0604020202020204" pitchFamily="34" charset="0"/>
                  <a:ea typeface="宋体" panose="02010600030101010101" pitchFamily="2" charset="-122"/>
                </a:endParaRPr>
              </a:p>
            </p:txBody>
          </p:sp>
        </mc:Choice>
        <mc:Fallback>
          <p:sp>
            <p:nvSpPr>
              <p:cNvPr id="13" name="矩形 12"/>
              <p:cNvSpPr>
                <a:spLocks noRot="1" noChangeAspect="1" noMove="1" noResize="1" noEditPoints="1" noAdjustHandles="1" noChangeArrowheads="1" noChangeShapeType="1" noTextEdit="1"/>
              </p:cNvSpPr>
              <p:nvPr/>
            </p:nvSpPr>
            <p:spPr>
              <a:xfrm>
                <a:off x="335360" y="2873190"/>
                <a:ext cx="11526963" cy="3046988"/>
              </a:xfrm>
              <a:prstGeom prst="rect">
                <a:avLst/>
              </a:prstGeom>
              <a:blipFill rotWithShape="0">
                <a:blip r:embed="rId6"/>
                <a:stretch>
                  <a:fillRect l="-1322" t="-3000" r="-1375" b="-5400"/>
                </a:stretch>
              </a:blipFill>
            </p:spPr>
            <p:txBody>
              <a:bodyPr/>
              <a:lstStyle/>
              <a:p>
                <a:r>
                  <a:rPr lang="en-GB">
                    <a:noFill/>
                  </a:rPr>
                  <a:t> </a:t>
                </a:r>
              </a:p>
            </p:txBody>
          </p:sp>
        </mc:Fallback>
      </mc:AlternateContent>
    </p:spTree>
    <p:extLst>
      <p:ext uri="{BB962C8B-B14F-4D97-AF65-F5344CB8AC3E}">
        <p14:creationId xmlns:p14="http://schemas.microsoft.com/office/powerpoint/2010/main" val="2369742570"/>
      </p:ext>
    </p:extLst>
  </p:cSld>
  <p:clrMapOvr>
    <a:masterClrMapping/>
  </p:clrMapOvr>
  <p:transition spd="slow" advClick="0" advTm="3000">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5" name="矩形 4"/>
          <p:cNvSpPr/>
          <p:nvPr/>
        </p:nvSpPr>
        <p:spPr>
          <a:xfrm>
            <a:off x="8880310" y="98934"/>
            <a:ext cx="2919389" cy="461665"/>
          </a:xfrm>
          <a:prstGeom prst="rect">
            <a:avLst/>
          </a:prstGeom>
        </p:spPr>
        <p:txBody>
          <a:bodyPr wrap="none">
            <a:spAutoFit/>
          </a:bodyPr>
          <a:lstStyle/>
          <a:p>
            <a:pPr marL="0" lvl="2" fontAlgn="base">
              <a:spcBef>
                <a:spcPts val="800"/>
              </a:spcBef>
              <a:spcAft>
                <a:spcPts val="800"/>
              </a:spcAft>
            </a:pP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Rogue </a:t>
            </a: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Data </a:t>
            </a: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Points</a:t>
            </a:r>
            <a:endParaRPr lang="zh-CN" altLang="zh-CN" sz="2400" kern="100" dirty="0">
              <a:solidFill>
                <a:srgbClr val="FFC000"/>
              </a:solidFill>
              <a:latin typeface="等线" panose="02010600030101010101" pitchFamily="2" charset="-122"/>
              <a:cs typeface="Times New Roman" panose="02020603050405020304" pitchFamily="18" charset="0"/>
            </a:endParaRPr>
          </a:p>
        </p:txBody>
      </p:sp>
      <p:sp>
        <p:nvSpPr>
          <p:cNvPr id="19" name="Text Box 2"/>
          <p:cNvSpPr txBox="1">
            <a:spLocks noChangeArrowheads="1"/>
          </p:cNvSpPr>
          <p:nvPr/>
        </p:nvSpPr>
        <p:spPr bwMode="auto">
          <a:xfrm>
            <a:off x="400217" y="719367"/>
            <a:ext cx="5952067" cy="5847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3200" b="1" dirty="0">
                <a:solidFill>
                  <a:srgbClr val="FF3300"/>
                </a:solidFill>
                <a:latin typeface="黑体" panose="02010609060101010101" pitchFamily="49" charset="-122"/>
                <a:ea typeface="黑体" panose="02010609060101010101" pitchFamily="49" charset="-122"/>
              </a:rPr>
              <a:t>粗大误差的判断和</a:t>
            </a:r>
            <a:r>
              <a:rPr kumimoji="1" lang="zh-CN" altLang="en-US" sz="3200" b="1" dirty="0">
                <a:solidFill>
                  <a:srgbClr val="FF3300"/>
                </a:solidFill>
                <a:latin typeface="黑体" panose="02010609060101010101" pitchFamily="49" charset="-122"/>
                <a:ea typeface="黑体" panose="02010609060101010101" pitchFamily="49" charset="-122"/>
              </a:rPr>
              <a:t>剔除</a:t>
            </a:r>
            <a:endParaRPr kumimoji="1" lang="zh-CN" altLang="en-US" sz="3200" b="1" dirty="0">
              <a:solidFill>
                <a:srgbClr val="FF3300"/>
              </a:solidFill>
              <a:latin typeface="黑体" panose="02010609060101010101" pitchFamily="49" charset="-122"/>
              <a:ea typeface="黑体" panose="02010609060101010101" pitchFamily="49" charset="-122"/>
            </a:endParaRPr>
          </a:p>
        </p:txBody>
      </p:sp>
      <p:sp>
        <p:nvSpPr>
          <p:cNvPr id="20" name="Text Box 3"/>
          <p:cNvSpPr txBox="1">
            <a:spLocks noChangeArrowheads="1"/>
          </p:cNvSpPr>
          <p:nvPr/>
        </p:nvSpPr>
        <p:spPr bwMode="auto">
          <a:xfrm>
            <a:off x="527382" y="1405247"/>
            <a:ext cx="10849205"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zh-CN" altLang="en-US" sz="2667" b="1" dirty="0">
                <a:solidFill>
                  <a:prstClr val="black"/>
                </a:solidFill>
                <a:latin typeface="微软雅黑" panose="020B0503020204020204" pitchFamily="34" charset="-122"/>
                <a:ea typeface="微软雅黑" panose="020B0503020204020204" pitchFamily="34" charset="-122"/>
              </a:rPr>
              <a:t>明显与事实不符的异常值 </a:t>
            </a:r>
            <a:r>
              <a:rPr kumimoji="1" lang="en-US" altLang="zh-CN" sz="2667" b="1" dirty="0">
                <a:solidFill>
                  <a:prstClr val="black"/>
                </a:solidFill>
                <a:latin typeface="微软雅黑" panose="020B0503020204020204" pitchFamily="34" charset="-122"/>
                <a:ea typeface="微软雅黑" panose="020B0503020204020204" pitchFamily="34" charset="-122"/>
              </a:rPr>
              <a:t>—— </a:t>
            </a:r>
            <a:r>
              <a:rPr kumimoji="1" lang="zh-CN" altLang="en-US" sz="2667" b="1" dirty="0">
                <a:solidFill>
                  <a:prstClr val="black"/>
                </a:solidFill>
                <a:latin typeface="微软雅黑" panose="020B0503020204020204" pitchFamily="34" charset="-122"/>
                <a:ea typeface="微软雅黑" panose="020B0503020204020204" pitchFamily="34" charset="-122"/>
              </a:rPr>
              <a:t>歪曲测量结果 </a:t>
            </a:r>
            <a:r>
              <a:rPr kumimoji="1" lang="en-US" altLang="zh-CN" sz="2667" b="1" dirty="0">
                <a:solidFill>
                  <a:prstClr val="black"/>
                </a:solidFill>
                <a:latin typeface="微软雅黑" panose="020B0503020204020204" pitchFamily="34" charset="-122"/>
                <a:ea typeface="微软雅黑" panose="020B0503020204020204" pitchFamily="34" charset="-122"/>
              </a:rPr>
              <a:t>——</a:t>
            </a:r>
            <a:r>
              <a:rPr kumimoji="1" lang="zh-CN" altLang="en-US" sz="2667" b="1" dirty="0">
                <a:solidFill>
                  <a:prstClr val="black"/>
                </a:solidFill>
                <a:latin typeface="微软雅黑" panose="020B0503020204020204" pitchFamily="34" charset="-122"/>
                <a:ea typeface="微软雅黑" panose="020B0503020204020204" pitchFamily="34" charset="-122"/>
              </a:rPr>
              <a:t>剔除</a:t>
            </a:r>
          </a:p>
        </p:txBody>
      </p:sp>
      <p:sp>
        <p:nvSpPr>
          <p:cNvPr id="22" name="Text Box 5"/>
          <p:cNvSpPr txBox="1">
            <a:spLocks noChangeArrowheads="1"/>
          </p:cNvSpPr>
          <p:nvPr/>
        </p:nvSpPr>
        <p:spPr bwMode="auto">
          <a:xfrm>
            <a:off x="545344" y="1929766"/>
            <a:ext cx="10945283"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3200" b="1" dirty="0">
                <a:solidFill>
                  <a:prstClr val="black"/>
                </a:solidFill>
                <a:latin typeface="黑体" panose="02010609060101010101" pitchFamily="49" charset="-122"/>
                <a:ea typeface="黑体" panose="02010609060101010101" pitchFamily="49" charset="-122"/>
              </a:rPr>
              <a:t>1</a:t>
            </a:r>
            <a:r>
              <a:rPr kumimoji="1" lang="zh-CN" altLang="en-US" sz="3200" b="1" dirty="0">
                <a:solidFill>
                  <a:prstClr val="black"/>
                </a:solidFill>
                <a:latin typeface="黑体" panose="02010609060101010101" pitchFamily="49" charset="-122"/>
                <a:ea typeface="黑体" panose="02010609060101010101" pitchFamily="49" charset="-122"/>
              </a:rPr>
              <a:t>）</a:t>
            </a:r>
            <a:r>
              <a:rPr kumimoji="1" lang="zh-CN" altLang="en-US" sz="3200" b="1" dirty="0">
                <a:solidFill>
                  <a:srgbClr val="990000"/>
                </a:solidFill>
                <a:effectLst>
                  <a:outerShdw blurRad="38100" dist="38100" dir="2700000" algn="tl">
                    <a:srgbClr val="C0C0C0"/>
                  </a:outerShdw>
                </a:effectLst>
                <a:latin typeface="黑体" panose="02010609060101010101" pitchFamily="49" charset="-122"/>
                <a:ea typeface="黑体" panose="02010609060101010101" pitchFamily="49" charset="-122"/>
              </a:rPr>
              <a:t>物理判别法</a:t>
            </a:r>
            <a:r>
              <a:rPr kumimoji="1" lang="en-US" altLang="zh-CN" sz="3200" b="1" dirty="0">
                <a:solidFill>
                  <a:prstClr val="black"/>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kumimoji="1" lang="zh-CN" altLang="en-US" sz="3200" b="1" dirty="0">
                <a:solidFill>
                  <a:prstClr val="black"/>
                </a:solidFill>
                <a:effectLst>
                  <a:outerShdw blurRad="38100" dist="38100" dir="2700000" algn="tl">
                    <a:srgbClr val="C0C0C0"/>
                  </a:outerShdw>
                </a:effectLst>
                <a:latin typeface="黑体" panose="02010609060101010101" pitchFamily="49" charset="-122"/>
                <a:ea typeface="黑体" panose="02010609060101010101" pitchFamily="49" charset="-122"/>
              </a:rPr>
              <a:t>测量过程中</a:t>
            </a:r>
          </a:p>
          <a:p>
            <a:pPr marL="914377" lvl="1" indent="-457189" fontAlgn="base">
              <a:spcBef>
                <a:spcPct val="50000"/>
              </a:spcBef>
              <a:spcAft>
                <a:spcPct val="0"/>
              </a:spcAft>
              <a:buFont typeface="Wingdings" panose="05000000000000000000" pitchFamily="2" charset="2"/>
              <a:buChar char="ü"/>
            </a:pPr>
            <a:r>
              <a:rPr kumimoji="1" lang="zh-CN" altLang="en-US" sz="3200" b="1" dirty="0">
                <a:solidFill>
                  <a:prstClr val="black"/>
                </a:solidFill>
                <a:latin typeface="黑体" panose="02010609060101010101" pitchFamily="49" charset="-122"/>
                <a:ea typeface="黑体" panose="02010609060101010101" pitchFamily="49" charset="-122"/>
              </a:rPr>
              <a:t>人为</a:t>
            </a:r>
            <a:r>
              <a:rPr kumimoji="1" lang="zh-CN" altLang="en-US" sz="3200" b="1" dirty="0">
                <a:solidFill>
                  <a:prstClr val="black"/>
                </a:solidFill>
                <a:latin typeface="黑体" panose="02010609060101010101" pitchFamily="49" charset="-122"/>
                <a:ea typeface="黑体" panose="02010609060101010101" pitchFamily="49" charset="-122"/>
              </a:rPr>
              <a:t>因素（读错、记录错、操作错）</a:t>
            </a:r>
          </a:p>
          <a:p>
            <a:pPr marL="914377" lvl="1" indent="-457189" fontAlgn="base">
              <a:spcBef>
                <a:spcPct val="50000"/>
              </a:spcBef>
              <a:spcAft>
                <a:spcPct val="0"/>
              </a:spcAft>
              <a:buFont typeface="Wingdings" panose="05000000000000000000" pitchFamily="2" charset="2"/>
              <a:buChar char="ü"/>
            </a:pPr>
            <a:r>
              <a:rPr kumimoji="1" lang="zh-CN" altLang="en-US" sz="3200" b="1" dirty="0">
                <a:solidFill>
                  <a:prstClr val="black"/>
                </a:solidFill>
                <a:latin typeface="黑体" panose="02010609060101010101" pitchFamily="49" charset="-122"/>
                <a:ea typeface="黑体" panose="02010609060101010101" pitchFamily="49" charset="-122"/>
              </a:rPr>
              <a:t>不</a:t>
            </a:r>
            <a:r>
              <a:rPr kumimoji="1" lang="zh-CN" altLang="en-US" sz="3200" b="1" dirty="0">
                <a:solidFill>
                  <a:prstClr val="black"/>
                </a:solidFill>
                <a:latin typeface="黑体" panose="02010609060101010101" pitchFamily="49" charset="-122"/>
                <a:ea typeface="黑体" panose="02010609060101010101" pitchFamily="49" charset="-122"/>
              </a:rPr>
              <a:t>符合实验条件</a:t>
            </a:r>
            <a:r>
              <a:rPr kumimoji="1" lang="en-US" altLang="zh-CN" sz="3200" b="1" dirty="0">
                <a:solidFill>
                  <a:prstClr val="black"/>
                </a:solidFill>
                <a:latin typeface="黑体" panose="02010609060101010101" pitchFamily="49" charset="-122"/>
                <a:ea typeface="黑体" panose="02010609060101010101" pitchFamily="49" charset="-122"/>
              </a:rPr>
              <a:t>/</a:t>
            </a:r>
            <a:r>
              <a:rPr kumimoji="1" lang="zh-CN" altLang="en-US" sz="3200" b="1" dirty="0">
                <a:solidFill>
                  <a:prstClr val="black"/>
                </a:solidFill>
                <a:latin typeface="黑体" panose="02010609060101010101" pitchFamily="49" charset="-122"/>
                <a:ea typeface="黑体" panose="02010609060101010101" pitchFamily="49" charset="-122"/>
              </a:rPr>
              <a:t>环境突变（突然振动、电磁干扰等）</a:t>
            </a:r>
          </a:p>
          <a:p>
            <a:pPr marL="914377" lvl="1" indent="-457189" fontAlgn="base">
              <a:spcBef>
                <a:spcPct val="50000"/>
              </a:spcBef>
              <a:spcAft>
                <a:spcPct val="0"/>
              </a:spcAft>
              <a:buFont typeface="Wingdings" panose="05000000000000000000" pitchFamily="2" charset="2"/>
              <a:buChar char="ü"/>
            </a:pPr>
            <a:r>
              <a:rPr kumimoji="1" lang="zh-CN" altLang="en-US" sz="3200" b="1" dirty="0">
                <a:solidFill>
                  <a:prstClr val="black"/>
                </a:solidFill>
                <a:latin typeface="黑体" panose="02010609060101010101" pitchFamily="49" charset="-122"/>
                <a:ea typeface="黑体" panose="02010609060101010101" pitchFamily="49" charset="-122"/>
              </a:rPr>
              <a:t>随时</a:t>
            </a:r>
            <a:r>
              <a:rPr kumimoji="1" lang="zh-CN" altLang="en-US" sz="3200" b="1" dirty="0">
                <a:solidFill>
                  <a:prstClr val="black"/>
                </a:solidFill>
                <a:latin typeface="黑体" panose="02010609060101010101" pitchFamily="49" charset="-122"/>
                <a:ea typeface="黑体" panose="02010609060101010101" pitchFamily="49" charset="-122"/>
              </a:rPr>
              <a:t>发现，随时剔除 </a:t>
            </a:r>
            <a:r>
              <a:rPr kumimoji="1" lang="en-US" altLang="zh-CN" sz="3200" b="1" dirty="0">
                <a:solidFill>
                  <a:prstClr val="black"/>
                </a:solidFill>
                <a:latin typeface="黑体" panose="02010609060101010101" pitchFamily="49" charset="-122"/>
                <a:ea typeface="黑体" panose="02010609060101010101" pitchFamily="49" charset="-122"/>
              </a:rPr>
              <a:t>—— </a:t>
            </a:r>
            <a:r>
              <a:rPr kumimoji="1" lang="zh-CN" altLang="en-US" sz="3200" b="1" dirty="0">
                <a:solidFill>
                  <a:prstClr val="black"/>
                </a:solidFill>
                <a:latin typeface="黑体" panose="02010609060101010101" pitchFamily="49" charset="-122"/>
                <a:ea typeface="黑体" panose="02010609060101010101" pitchFamily="49" charset="-122"/>
              </a:rPr>
              <a:t>重新测量</a:t>
            </a:r>
            <a:r>
              <a:rPr kumimoji="1" lang="zh-CN" altLang="en-US" sz="2400" b="1" dirty="0">
                <a:solidFill>
                  <a:prstClr val="black"/>
                </a:solidFill>
                <a:latin typeface="黑体" panose="02010609060101010101" pitchFamily="49" charset="-122"/>
                <a:ea typeface="黑体" panose="02010609060101010101" pitchFamily="49" charset="-122"/>
              </a:rPr>
              <a:t> </a:t>
            </a:r>
          </a:p>
        </p:txBody>
      </p:sp>
      <p:sp>
        <p:nvSpPr>
          <p:cNvPr id="23" name="Text Box 6"/>
          <p:cNvSpPr txBox="1">
            <a:spLocks noChangeArrowheads="1"/>
          </p:cNvSpPr>
          <p:nvPr/>
        </p:nvSpPr>
        <p:spPr bwMode="auto">
          <a:xfrm>
            <a:off x="624334" y="4790363"/>
            <a:ext cx="10655300" cy="1200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3200" b="1" dirty="0">
                <a:solidFill>
                  <a:prstClr val="black"/>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kumimoji="1" lang="zh-CN" altLang="en-US" sz="3200" b="1" dirty="0">
                <a:solidFill>
                  <a:prstClr val="black"/>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kumimoji="1" lang="zh-CN" altLang="en-US" sz="3200" b="1" dirty="0">
                <a:solidFill>
                  <a:srgbClr val="990000"/>
                </a:solidFill>
                <a:effectLst>
                  <a:outerShdw blurRad="38100" dist="38100" dir="2700000" algn="tl">
                    <a:srgbClr val="C0C0C0"/>
                  </a:outerShdw>
                </a:effectLst>
                <a:latin typeface="黑体" panose="02010609060101010101" pitchFamily="49" charset="-122"/>
                <a:ea typeface="黑体" panose="02010609060101010101" pitchFamily="49" charset="-122"/>
              </a:rPr>
              <a:t>统计判别法</a:t>
            </a:r>
            <a:r>
              <a:rPr kumimoji="1" lang="en-US" altLang="zh-CN" sz="3200" b="1" dirty="0">
                <a:solidFill>
                  <a:prstClr val="black"/>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kumimoji="1" lang="zh-CN" altLang="en-US" sz="3200" b="1" dirty="0">
                <a:solidFill>
                  <a:prstClr val="black"/>
                </a:solidFill>
                <a:effectLst>
                  <a:outerShdw blurRad="38100" dist="38100" dir="2700000" algn="tl">
                    <a:srgbClr val="C0C0C0"/>
                  </a:outerShdw>
                </a:effectLst>
                <a:latin typeface="黑体" panose="02010609060101010101" pitchFamily="49" charset="-122"/>
                <a:ea typeface="黑体" panose="02010609060101010101" pitchFamily="49" charset="-122"/>
              </a:rPr>
              <a:t>测量完毕</a:t>
            </a:r>
          </a:p>
          <a:p>
            <a:pPr fontAlgn="base">
              <a:spcBef>
                <a:spcPct val="50000"/>
              </a:spcBef>
              <a:spcAft>
                <a:spcPct val="0"/>
              </a:spcAft>
            </a:pPr>
            <a:r>
              <a:rPr kumimoji="1" lang="zh-CN" altLang="en-US" sz="2667" b="1" dirty="0">
                <a:solidFill>
                  <a:prstClr val="black"/>
                </a:solidFill>
                <a:latin typeface="黑体" panose="02010609060101010101" pitchFamily="49" charset="-122"/>
                <a:ea typeface="黑体" panose="02010609060101010101" pitchFamily="49" charset="-122"/>
              </a:rPr>
              <a:t>    统计</a:t>
            </a:r>
            <a:r>
              <a:rPr kumimoji="1" lang="zh-CN" altLang="en-US" sz="2667" b="1" dirty="0">
                <a:solidFill>
                  <a:prstClr val="black"/>
                </a:solidFill>
                <a:latin typeface="黑体" panose="02010609060101010101" pitchFamily="49" charset="-122"/>
                <a:ea typeface="黑体" panose="02010609060101010101" pitchFamily="49" charset="-122"/>
              </a:rPr>
              <a:t>方法处理数据 </a:t>
            </a:r>
            <a:r>
              <a:rPr kumimoji="1" lang="en-US" altLang="zh-CN" sz="2667" b="1" dirty="0">
                <a:solidFill>
                  <a:prstClr val="black"/>
                </a:solidFill>
                <a:latin typeface="黑体" panose="02010609060101010101" pitchFamily="49" charset="-122"/>
                <a:ea typeface="黑体" panose="02010609060101010101" pitchFamily="49" charset="-122"/>
              </a:rPr>
              <a:t>--- </a:t>
            </a:r>
            <a:r>
              <a:rPr kumimoji="1" lang="zh-CN" altLang="en-US" sz="2667" b="1" dirty="0">
                <a:solidFill>
                  <a:srgbClr val="FF3300"/>
                </a:solidFill>
                <a:latin typeface="黑体" panose="02010609060101010101" pitchFamily="49" charset="-122"/>
                <a:ea typeface="黑体" panose="02010609060101010101" pitchFamily="49" charset="-122"/>
              </a:rPr>
              <a:t>超过误差限</a:t>
            </a:r>
            <a:r>
              <a:rPr kumimoji="1" lang="zh-CN" altLang="en-US" sz="2667" b="1" dirty="0">
                <a:solidFill>
                  <a:prstClr val="black"/>
                </a:solidFill>
                <a:latin typeface="黑体" panose="02010609060101010101" pitchFamily="49" charset="-122"/>
                <a:ea typeface="黑体" panose="02010609060101010101" pitchFamily="49" charset="-122"/>
              </a:rPr>
              <a:t> </a:t>
            </a:r>
            <a:r>
              <a:rPr kumimoji="1" lang="en-US" altLang="zh-CN" sz="2667" b="1" dirty="0">
                <a:solidFill>
                  <a:prstClr val="black"/>
                </a:solidFill>
                <a:latin typeface="黑体" panose="02010609060101010101" pitchFamily="49" charset="-122"/>
                <a:ea typeface="黑体" panose="02010609060101010101" pitchFamily="49" charset="-122"/>
              </a:rPr>
              <a:t>--- </a:t>
            </a:r>
            <a:r>
              <a:rPr kumimoji="1" lang="zh-CN" altLang="en-US" sz="2667" b="1" dirty="0">
                <a:solidFill>
                  <a:prstClr val="black"/>
                </a:solidFill>
                <a:latin typeface="黑体" panose="02010609060101010101" pitchFamily="49" charset="-122"/>
                <a:ea typeface="黑体" panose="02010609060101010101" pitchFamily="49" charset="-122"/>
              </a:rPr>
              <a:t>判为异常值 </a:t>
            </a:r>
            <a:r>
              <a:rPr kumimoji="1" lang="en-US" altLang="zh-CN" sz="2667" b="1" dirty="0">
                <a:solidFill>
                  <a:prstClr val="black"/>
                </a:solidFill>
                <a:latin typeface="黑体" panose="02010609060101010101" pitchFamily="49" charset="-122"/>
                <a:ea typeface="黑体" panose="02010609060101010101" pitchFamily="49" charset="-122"/>
              </a:rPr>
              <a:t>--- </a:t>
            </a:r>
            <a:r>
              <a:rPr kumimoji="1" lang="zh-CN" altLang="en-US" sz="2667" b="1" dirty="0">
                <a:solidFill>
                  <a:prstClr val="black"/>
                </a:solidFill>
                <a:latin typeface="黑体" panose="02010609060101010101" pitchFamily="49" charset="-122"/>
                <a:ea typeface="黑体" panose="02010609060101010101" pitchFamily="49" charset="-122"/>
              </a:rPr>
              <a:t>剔除</a:t>
            </a:r>
          </a:p>
        </p:txBody>
      </p:sp>
      <p:sp>
        <p:nvSpPr>
          <p:cNvPr id="24" name="Text Box 7"/>
          <p:cNvSpPr txBox="1">
            <a:spLocks noChangeArrowheads="1"/>
          </p:cNvSpPr>
          <p:nvPr/>
        </p:nvSpPr>
        <p:spPr bwMode="auto">
          <a:xfrm>
            <a:off x="4559729" y="4577873"/>
            <a:ext cx="7200900" cy="584775"/>
          </a:xfrm>
          <a:prstGeom prst="rect">
            <a:avLst/>
          </a:prstGeom>
          <a:solidFill>
            <a:schemeClr val="accent2">
              <a:lumMod val="20000"/>
              <a:lumOff val="80000"/>
            </a:schemeClr>
          </a:solidFill>
          <a:ln>
            <a:noFill/>
          </a:ln>
          <a:effectLst/>
        </p:spPr>
        <p:txBody>
          <a:bodyPr>
            <a:spAutoFit/>
          </a:bodyPr>
          <a:lstStyle/>
          <a:p>
            <a:pPr fontAlgn="base">
              <a:spcBef>
                <a:spcPct val="50000"/>
              </a:spcBef>
              <a:spcAft>
                <a:spcPct val="0"/>
              </a:spcAft>
            </a:pPr>
            <a:r>
              <a:rPr kumimoji="1" lang="zh-CN" altLang="en-US" sz="3200" b="1" dirty="0">
                <a:solidFill>
                  <a:srgbClr val="990000"/>
                </a:solidFill>
                <a:latin typeface="Arial" panose="020B0604020202020204" pitchFamily="34" charset="0"/>
                <a:ea typeface="宋体" panose="02010600030101010101" pitchFamily="2" charset="-122"/>
              </a:rPr>
              <a:t>在一定的置信概率下确定的置信区间</a:t>
            </a:r>
          </a:p>
        </p:txBody>
      </p:sp>
      <p:sp>
        <p:nvSpPr>
          <p:cNvPr id="2" name="椭圆 1"/>
          <p:cNvSpPr/>
          <p:nvPr/>
        </p:nvSpPr>
        <p:spPr>
          <a:xfrm>
            <a:off x="4943871" y="5424346"/>
            <a:ext cx="2016224" cy="668565"/>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2400">
              <a:solidFill>
                <a:prstClr val="white"/>
              </a:solidFill>
            </a:endParaRPr>
          </a:p>
        </p:txBody>
      </p:sp>
    </p:spTree>
    <p:extLst>
      <p:ext uri="{BB962C8B-B14F-4D97-AF65-F5344CB8AC3E}">
        <p14:creationId xmlns:p14="http://schemas.microsoft.com/office/powerpoint/2010/main" val="371423145"/>
      </p:ext>
    </p:extLst>
  </p:cSld>
  <p:clrMapOvr>
    <a:masterClrMapping/>
  </p:clrMapOvr>
  <p:transition spd="slow" advClick="0" advTm="3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indefinite" fill="hold" grpId="0" nodeType="clickEffect">
                                  <p:stCondLst>
                                    <p:cond delay="0"/>
                                  </p:stCondLst>
                                  <p:endCondLst>
                                    <p:cond evt="onNext" delay="0">
                                      <p:tgtEl>
                                        <p:sldTgt/>
                                      </p:tgtEl>
                                    </p:cond>
                                  </p:endCondLst>
                                  <p:childTnLst>
                                    <p:anim calcmode="discrete" valueType="str">
                                      <p:cBhvr>
                                        <p:cTn id="6" dur="500" fill="hold"/>
                                        <p:tgtEl>
                                          <p:spTgt spid="2"/>
                                        </p:tgtEl>
                                        <p:attrNameLst>
                                          <p:attrName>style.visibility</p:attrName>
                                        </p:attrNameLst>
                                      </p:cBhvr>
                                      <p:tavLst>
                                        <p:tav tm="0">
                                          <p:val>
                                            <p:strVal val="hidden"/>
                                          </p:val>
                                        </p:tav>
                                        <p:tav tm="50000">
                                          <p:val>
                                            <p:strVal val="visible"/>
                                          </p:val>
                                        </p:tav>
                                      </p:tavLst>
                                    </p:anim>
                                  </p:childTnLst>
                                </p:cTn>
                              </p:par>
                              <p:par>
                                <p:cTn id="7" presetID="1" presetClass="entr" presetSubtype="0" fill="hold" grpId="0" nodeType="withEffect">
                                  <p:stCondLst>
                                    <p:cond delay="500"/>
                                  </p:stCondLst>
                                  <p:childTnLst>
                                    <p:set>
                                      <p:cBhvr>
                                        <p:cTn id="8"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5" name="矩形 4"/>
          <p:cNvSpPr/>
          <p:nvPr/>
        </p:nvSpPr>
        <p:spPr>
          <a:xfrm>
            <a:off x="8880310" y="98934"/>
            <a:ext cx="2919389" cy="461665"/>
          </a:xfrm>
          <a:prstGeom prst="rect">
            <a:avLst/>
          </a:prstGeom>
        </p:spPr>
        <p:txBody>
          <a:bodyPr wrap="none">
            <a:spAutoFit/>
          </a:bodyPr>
          <a:lstStyle/>
          <a:p>
            <a:pPr marL="0" lvl="2" fontAlgn="base">
              <a:spcBef>
                <a:spcPts val="800"/>
              </a:spcBef>
              <a:spcAft>
                <a:spcPts val="800"/>
              </a:spcAft>
            </a:pP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Rogue </a:t>
            </a: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Data </a:t>
            </a:r>
            <a:r>
              <a:rPr lang="en-US" altLang="zh-CN" sz="2400" b="1" kern="100" dirty="0">
                <a:solidFill>
                  <a:srgbClr val="FFC000"/>
                </a:solidFill>
                <a:latin typeface="Arial" panose="020B0604020202020204" pitchFamily="34" charset="0"/>
                <a:ea typeface="楷体" panose="02010609060101010101" pitchFamily="49" charset="-122"/>
                <a:cs typeface="Times New Roman" panose="02020603050405020304" pitchFamily="18" charset="0"/>
              </a:rPr>
              <a:t>Points</a:t>
            </a:r>
            <a:endParaRPr lang="zh-CN" altLang="zh-CN" sz="2400" kern="100" dirty="0">
              <a:solidFill>
                <a:srgbClr val="FFC000"/>
              </a:solidFill>
              <a:latin typeface="等线" panose="02010600030101010101" pitchFamily="2" charset="-122"/>
              <a:cs typeface="Times New Roman" panose="02020603050405020304" pitchFamily="18" charset="0"/>
            </a:endParaRPr>
          </a:p>
        </p:txBody>
      </p:sp>
      <p:sp>
        <p:nvSpPr>
          <p:cNvPr id="27" name="Text Box 2"/>
          <p:cNvSpPr txBox="1">
            <a:spLocks noChangeArrowheads="1"/>
          </p:cNvSpPr>
          <p:nvPr/>
        </p:nvSpPr>
        <p:spPr bwMode="auto">
          <a:xfrm>
            <a:off x="428838" y="760204"/>
            <a:ext cx="408347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zh-CN" altLang="en-US" sz="3200" b="1"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剔除</a:t>
            </a:r>
            <a:r>
              <a:rPr kumimoji="1" lang="zh-CN" altLang="en-US" sz="3200" b="1" dirty="0" smtClean="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准则</a:t>
            </a:r>
            <a:r>
              <a:rPr kumimoji="1" lang="en-US" altLang="zh-CN" sz="3200" b="1" dirty="0" smtClean="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kumimoji="1" lang="zh-CN" altLang="en-US" sz="3200" b="1" dirty="0" smtClean="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中文</a:t>
            </a:r>
            <a:r>
              <a:rPr kumimoji="1" lang="en-US" altLang="zh-CN" sz="3200" b="1" dirty="0" smtClean="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P14)</a:t>
            </a:r>
            <a:endParaRPr kumimoji="1" lang="zh-CN" altLang="en-US" sz="3200" b="1"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28" name="Text Box 3"/>
          <p:cNvSpPr txBox="1">
            <a:spLocks noChangeArrowheads="1"/>
          </p:cNvSpPr>
          <p:nvPr/>
        </p:nvSpPr>
        <p:spPr bwMode="auto">
          <a:xfrm>
            <a:off x="428838" y="1431753"/>
            <a:ext cx="73215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3200" b="1" dirty="0">
                <a:solidFill>
                  <a:prstClr val="black"/>
                </a:solidFill>
                <a:latin typeface="Times New Roman" panose="02020603050405020304" pitchFamily="18" charset="0"/>
                <a:ea typeface="宋体" panose="02010600030101010101" pitchFamily="2" charset="-122"/>
              </a:rPr>
              <a:t>1</a:t>
            </a:r>
            <a:r>
              <a:rPr kumimoji="1" lang="zh-CN" altLang="en-US" sz="3200" b="1" dirty="0">
                <a:solidFill>
                  <a:prstClr val="black"/>
                </a:solidFill>
                <a:latin typeface="Times New Roman" panose="02020603050405020304" pitchFamily="18" charset="0"/>
                <a:ea typeface="宋体" panose="02010600030101010101" pitchFamily="2" charset="-122"/>
              </a:rPr>
              <a:t>）</a:t>
            </a:r>
            <a:r>
              <a:rPr kumimoji="1" lang="zh-CN" altLang="en-US" sz="3200" b="1" dirty="0">
                <a:solidFill>
                  <a:prstClr val="black"/>
                </a:solidFill>
                <a:latin typeface="宋体" panose="02010600030101010101" pitchFamily="2" charset="-122"/>
                <a:ea typeface="宋体" panose="02010600030101010101" pitchFamily="2" charset="-122"/>
              </a:rPr>
              <a:t>拉</a:t>
            </a:r>
            <a:r>
              <a:rPr kumimoji="1" lang="zh-CN" altLang="en-US" sz="3200" b="1" dirty="0">
                <a:solidFill>
                  <a:prstClr val="black"/>
                </a:solidFill>
                <a:latin typeface="宋体" panose="02010600030101010101" pitchFamily="2" charset="-122"/>
                <a:ea typeface="宋体" panose="02010600030101010101" pitchFamily="2" charset="-122"/>
              </a:rPr>
              <a:t>依达准则（</a:t>
            </a:r>
            <a:r>
              <a:rPr kumimoji="1" lang="en-US" altLang="zh-CN" sz="3200" b="1" dirty="0">
                <a:solidFill>
                  <a:prstClr val="black"/>
                </a:solidFill>
                <a:latin typeface="宋体" panose="02010600030101010101" pitchFamily="2" charset="-122"/>
                <a:ea typeface="宋体" panose="02010600030101010101" pitchFamily="2" charset="-122"/>
              </a:rPr>
              <a:t>3</a:t>
            </a:r>
            <a:r>
              <a:rPr kumimoji="1" lang="en-US" altLang="zh-CN" sz="3200" b="1" i="1" dirty="0">
                <a:solidFill>
                  <a:prstClr val="black"/>
                </a:solidFill>
                <a:latin typeface="宋体" panose="02010600030101010101" pitchFamily="2" charset="-122"/>
                <a:ea typeface="宋体" panose="02010600030101010101" pitchFamily="2" charset="-122"/>
                <a:sym typeface="Symbol" panose="05050102010706020507" pitchFamily="18" charset="2"/>
              </a:rPr>
              <a:t></a:t>
            </a:r>
            <a:r>
              <a:rPr kumimoji="1" lang="en-US" altLang="zh-CN" sz="3200" b="1" dirty="0">
                <a:solidFill>
                  <a:prstClr val="black"/>
                </a:solidFill>
                <a:latin typeface="宋体" panose="02010600030101010101" pitchFamily="2" charset="-122"/>
                <a:ea typeface="宋体" panose="02010600030101010101" pitchFamily="2" charset="-122"/>
                <a:sym typeface="Symbol" panose="05050102010706020507" pitchFamily="18" charset="2"/>
              </a:rPr>
              <a:t> </a:t>
            </a:r>
            <a:r>
              <a:rPr kumimoji="1" lang="zh-CN" altLang="en-US" sz="3200" b="1" dirty="0">
                <a:solidFill>
                  <a:prstClr val="black"/>
                </a:solidFill>
                <a:latin typeface="宋体" panose="02010600030101010101" pitchFamily="2" charset="-122"/>
                <a:ea typeface="宋体" panose="02010600030101010101" pitchFamily="2" charset="-122"/>
                <a:sym typeface="Symbol" panose="05050102010706020507" pitchFamily="18" charset="2"/>
              </a:rPr>
              <a:t>准则）</a:t>
            </a:r>
          </a:p>
        </p:txBody>
      </p:sp>
      <p:sp>
        <p:nvSpPr>
          <p:cNvPr id="29" name="Rectangle 4"/>
          <p:cNvSpPr>
            <a:spLocks noChangeArrowheads="1"/>
          </p:cNvSpPr>
          <p:nvPr/>
        </p:nvSpPr>
        <p:spPr bwMode="auto">
          <a:xfrm>
            <a:off x="1128397" y="2088608"/>
            <a:ext cx="105600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3200" b="1" dirty="0">
                <a:solidFill>
                  <a:prstClr val="black"/>
                </a:solidFill>
                <a:latin typeface="Times New Roman" panose="02020603050405020304" pitchFamily="18" charset="0"/>
                <a:ea typeface="宋体" panose="02010600030101010101" pitchFamily="2" charset="-122"/>
              </a:rPr>
              <a:t>测量值的残余误差的绝对值 </a:t>
            </a:r>
            <a:r>
              <a:rPr kumimoji="1" lang="en-US" altLang="zh-CN"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3200" b="1" dirty="0">
                <a:solidFill>
                  <a:prstClr val="black"/>
                </a:solidFill>
                <a:latin typeface="Times New Roman" panose="02020603050405020304" pitchFamily="18" charset="0"/>
                <a:ea typeface="宋体" panose="02010600030101010101" pitchFamily="2" charset="-122"/>
              </a:rPr>
              <a:t>|&gt; 3</a:t>
            </a:r>
            <a:r>
              <a:rPr kumimoji="1" lang="en-US" altLang="zh-CN" sz="3200" b="1" i="1" dirty="0">
                <a:solidFill>
                  <a:prstClr val="black"/>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坏值</a:t>
            </a:r>
            <a:r>
              <a:rPr kumimoji="1" lang="en-US" altLang="zh-CN"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剔除 </a:t>
            </a:r>
            <a:endParaRPr kumimoji="1" lang="en-US" altLang="en-US"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30" name="Group 5"/>
          <p:cNvGrpSpPr>
            <a:grpSpLocks/>
          </p:cNvGrpSpPr>
          <p:nvPr/>
        </p:nvGrpSpPr>
        <p:grpSpPr bwMode="auto">
          <a:xfrm>
            <a:off x="1565343" y="2779585"/>
            <a:ext cx="9658349" cy="647700"/>
            <a:chOff x="567" y="1661"/>
            <a:chExt cx="4563" cy="306"/>
          </a:xfrm>
        </p:grpSpPr>
        <p:sp>
          <p:nvSpPr>
            <p:cNvPr id="31" name="Text Box 6"/>
            <p:cNvSpPr txBox="1">
              <a:spLocks noChangeArrowheads="1"/>
            </p:cNvSpPr>
            <p:nvPr/>
          </p:nvSpPr>
          <p:spPr bwMode="auto">
            <a:xfrm>
              <a:off x="567" y="1681"/>
              <a:ext cx="4490" cy="286"/>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endParaRPr lang="en-US" altLang="zh-CN" sz="1333">
                <a:solidFill>
                  <a:prstClr val="black"/>
                </a:solidFill>
                <a:latin typeface="Arial" panose="020B0604020202020204" pitchFamily="34" charset="0"/>
                <a:ea typeface="宋体" panose="02010600030101010101" pitchFamily="2" charset="-122"/>
              </a:endParaRPr>
            </a:p>
            <a:p>
              <a:pPr fontAlgn="base">
                <a:spcBef>
                  <a:spcPct val="50000"/>
                </a:spcBef>
                <a:spcAft>
                  <a:spcPct val="0"/>
                </a:spcAft>
              </a:pPr>
              <a:endParaRPr lang="en-US" altLang="zh-CN" sz="1333">
                <a:solidFill>
                  <a:prstClr val="black"/>
                </a:solidFill>
                <a:latin typeface="Arial" panose="020B0604020202020204" pitchFamily="34" charset="0"/>
                <a:ea typeface="宋体" panose="02010600030101010101" pitchFamily="2" charset="-122"/>
              </a:endParaRPr>
            </a:p>
          </p:txBody>
        </p:sp>
        <p:grpSp>
          <p:nvGrpSpPr>
            <p:cNvPr id="32" name="Group 7"/>
            <p:cNvGrpSpPr>
              <a:grpSpLocks/>
            </p:cNvGrpSpPr>
            <p:nvPr/>
          </p:nvGrpSpPr>
          <p:grpSpPr bwMode="auto">
            <a:xfrm>
              <a:off x="657" y="1661"/>
              <a:ext cx="4473" cy="277"/>
              <a:chOff x="612" y="1616"/>
              <a:chExt cx="4473" cy="277"/>
            </a:xfrm>
          </p:grpSpPr>
          <p:grpSp>
            <p:nvGrpSpPr>
              <p:cNvPr id="33" name="Group 8"/>
              <p:cNvGrpSpPr>
                <a:grpSpLocks/>
              </p:cNvGrpSpPr>
              <p:nvPr/>
            </p:nvGrpSpPr>
            <p:grpSpPr bwMode="auto">
              <a:xfrm>
                <a:off x="748" y="1616"/>
                <a:ext cx="4337" cy="238"/>
                <a:chOff x="839" y="1661"/>
                <a:chExt cx="4337" cy="238"/>
              </a:xfrm>
            </p:grpSpPr>
            <p:sp>
              <p:nvSpPr>
                <p:cNvPr id="39" name="Rectangle 9"/>
                <p:cNvSpPr>
                  <a:spLocks noChangeArrowheads="1"/>
                </p:cNvSpPr>
                <p:nvPr/>
              </p:nvSpPr>
              <p:spPr bwMode="auto">
                <a:xfrm>
                  <a:off x="839" y="1661"/>
                  <a:ext cx="4337"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667" b="1" dirty="0">
                      <a:solidFill>
                        <a:prstClr val="black"/>
                      </a:solidFill>
                      <a:latin typeface="Times New Roman" panose="02020603050405020304" pitchFamily="18" charset="0"/>
                      <a:ea typeface="宋体" panose="02010600030101010101" pitchFamily="2" charset="-122"/>
                      <a:sym typeface="Symbol" panose="05050102010706020507" pitchFamily="18" charset="2"/>
                    </a:rPr>
                    <a:t>计算算术平均值 </a:t>
                  </a:r>
                  <a:r>
                    <a:rPr kumimoji="1" lang="en-US" altLang="zh-CN" sz="2667" b="1" dirty="0">
                      <a:solidFill>
                        <a:prstClr val="black"/>
                      </a:solidFill>
                      <a:latin typeface="Times New Roman" panose="02020603050405020304" pitchFamily="18" charset="0"/>
                      <a:ea typeface="宋体" panose="02010600030101010101" pitchFamily="2" charset="-122"/>
                      <a:sym typeface="Symbol" panose="05050102010706020507" pitchFamily="18" charset="2"/>
                    </a:rPr>
                    <a:t>x     </a:t>
                  </a:r>
                  <a:r>
                    <a:rPr kumimoji="1" lang="zh-CN" altLang="en-US" sz="2667" b="1" dirty="0">
                      <a:solidFill>
                        <a:prstClr val="black"/>
                      </a:solidFill>
                      <a:latin typeface="Times New Roman" panose="02020603050405020304" pitchFamily="18" charset="0"/>
                      <a:ea typeface="宋体" panose="02010600030101010101" pitchFamily="2" charset="-122"/>
                      <a:sym typeface="Symbol" panose="05050102010706020507" pitchFamily="18" charset="2"/>
                    </a:rPr>
                    <a:t>残余误差     均方误差</a:t>
                  </a:r>
                  <a:r>
                    <a:rPr kumimoji="1" lang="zh-CN" altLang="en-US" sz="2667" b="1" i="1"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2667" b="1" dirty="0">
                      <a:solidFill>
                        <a:prstClr val="black"/>
                      </a:solidFill>
                      <a:latin typeface="Times New Roman" panose="02020603050405020304" pitchFamily="18" charset="0"/>
                      <a:ea typeface="宋体" panose="02010600030101010101" pitchFamily="2" charset="-122"/>
                      <a:sym typeface="Symbol" panose="05050102010706020507" pitchFamily="18" charset="2"/>
                    </a:rPr>
                    <a:t>  剔除坏值</a:t>
                  </a:r>
                </a:p>
              </p:txBody>
            </p:sp>
            <p:sp>
              <p:nvSpPr>
                <p:cNvPr id="40" name="Line 10"/>
                <p:cNvSpPr>
                  <a:spLocks noChangeShapeType="1"/>
                </p:cNvSpPr>
                <p:nvPr/>
              </p:nvSpPr>
              <p:spPr bwMode="auto">
                <a:xfrm>
                  <a:off x="2058" y="1719"/>
                  <a:ext cx="85"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prstClr val="black"/>
                    </a:solidFill>
                    <a:latin typeface="Arial" panose="020B0604020202020204" pitchFamily="34" charset="0"/>
                    <a:ea typeface="宋体" panose="02010600030101010101" pitchFamily="2" charset="-122"/>
                  </a:endParaRPr>
                </a:p>
              </p:txBody>
            </p:sp>
            <p:sp>
              <p:nvSpPr>
                <p:cNvPr id="41" name="Line 11"/>
                <p:cNvSpPr>
                  <a:spLocks noChangeShapeType="1"/>
                </p:cNvSpPr>
                <p:nvPr/>
              </p:nvSpPr>
              <p:spPr bwMode="auto">
                <a:xfrm>
                  <a:off x="2171" y="1804"/>
                  <a:ext cx="170" cy="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prstClr val="black"/>
                    </a:solidFill>
                    <a:latin typeface="Arial" panose="020B0604020202020204" pitchFamily="34" charset="0"/>
                    <a:ea typeface="宋体" panose="02010600030101010101" pitchFamily="2" charset="-122"/>
                  </a:endParaRPr>
                </a:p>
              </p:txBody>
            </p:sp>
            <p:sp>
              <p:nvSpPr>
                <p:cNvPr id="42" name="Line 12"/>
                <p:cNvSpPr>
                  <a:spLocks noChangeShapeType="1"/>
                </p:cNvSpPr>
                <p:nvPr/>
              </p:nvSpPr>
              <p:spPr bwMode="auto">
                <a:xfrm>
                  <a:off x="3021" y="1804"/>
                  <a:ext cx="170" cy="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prstClr val="black"/>
                    </a:solidFill>
                    <a:latin typeface="Arial" panose="020B0604020202020204" pitchFamily="34" charset="0"/>
                    <a:ea typeface="宋体" panose="02010600030101010101" pitchFamily="2" charset="-122"/>
                  </a:endParaRPr>
                </a:p>
              </p:txBody>
            </p:sp>
            <p:sp>
              <p:nvSpPr>
                <p:cNvPr id="43" name="Line 13"/>
                <p:cNvSpPr>
                  <a:spLocks noChangeShapeType="1"/>
                </p:cNvSpPr>
                <p:nvPr/>
              </p:nvSpPr>
              <p:spPr bwMode="auto">
                <a:xfrm>
                  <a:off x="3985" y="1804"/>
                  <a:ext cx="170" cy="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prstClr val="black"/>
                    </a:solidFill>
                    <a:latin typeface="Arial" panose="020B0604020202020204" pitchFamily="34" charset="0"/>
                    <a:ea typeface="宋体" panose="02010600030101010101" pitchFamily="2" charset="-122"/>
                  </a:endParaRPr>
                </a:p>
              </p:txBody>
            </p:sp>
          </p:grpSp>
          <p:sp>
            <p:nvSpPr>
              <p:cNvPr id="34" name="Line 14"/>
              <p:cNvSpPr>
                <a:spLocks noChangeShapeType="1"/>
              </p:cNvSpPr>
              <p:nvPr/>
            </p:nvSpPr>
            <p:spPr bwMode="auto">
              <a:xfrm>
                <a:off x="612" y="1752"/>
                <a:ext cx="0" cy="141"/>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prstClr val="black"/>
                  </a:solidFill>
                  <a:latin typeface="Arial" panose="020B0604020202020204" pitchFamily="34" charset="0"/>
                  <a:ea typeface="宋体" panose="02010600030101010101" pitchFamily="2" charset="-122"/>
                </a:endParaRPr>
              </a:p>
            </p:txBody>
          </p:sp>
          <p:sp>
            <p:nvSpPr>
              <p:cNvPr id="35" name="Line 15"/>
              <p:cNvSpPr>
                <a:spLocks noChangeShapeType="1"/>
              </p:cNvSpPr>
              <p:nvPr/>
            </p:nvSpPr>
            <p:spPr bwMode="auto">
              <a:xfrm>
                <a:off x="612" y="1752"/>
                <a:ext cx="170" cy="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prstClr val="black"/>
                  </a:solidFill>
                  <a:latin typeface="Arial" panose="020B0604020202020204" pitchFamily="34" charset="0"/>
                  <a:ea typeface="宋体" panose="02010600030101010101" pitchFamily="2" charset="-122"/>
                </a:endParaRPr>
              </a:p>
            </p:txBody>
          </p:sp>
          <p:sp>
            <p:nvSpPr>
              <p:cNvPr id="36" name="Line 16"/>
              <p:cNvSpPr>
                <a:spLocks noChangeShapeType="1"/>
              </p:cNvSpPr>
              <p:nvPr/>
            </p:nvSpPr>
            <p:spPr bwMode="auto">
              <a:xfrm>
                <a:off x="4722" y="1747"/>
                <a:ext cx="142"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prstClr val="black"/>
                  </a:solidFill>
                  <a:latin typeface="Arial" panose="020B0604020202020204" pitchFamily="34" charset="0"/>
                  <a:ea typeface="宋体" panose="02010600030101010101" pitchFamily="2" charset="-122"/>
                </a:endParaRPr>
              </a:p>
            </p:txBody>
          </p:sp>
          <p:sp>
            <p:nvSpPr>
              <p:cNvPr id="37" name="Line 17"/>
              <p:cNvSpPr>
                <a:spLocks noChangeShapeType="1"/>
              </p:cNvSpPr>
              <p:nvPr/>
            </p:nvSpPr>
            <p:spPr bwMode="auto">
              <a:xfrm flipH="1">
                <a:off x="612" y="1888"/>
                <a:ext cx="4253"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prstClr val="black"/>
                  </a:solidFill>
                  <a:latin typeface="Arial" panose="020B0604020202020204" pitchFamily="34" charset="0"/>
                  <a:ea typeface="宋体" panose="02010600030101010101" pitchFamily="2" charset="-122"/>
                </a:endParaRPr>
              </a:p>
            </p:txBody>
          </p:sp>
          <p:sp>
            <p:nvSpPr>
              <p:cNvPr id="38" name="Line 18"/>
              <p:cNvSpPr>
                <a:spLocks noChangeShapeType="1"/>
              </p:cNvSpPr>
              <p:nvPr/>
            </p:nvSpPr>
            <p:spPr bwMode="auto">
              <a:xfrm>
                <a:off x="4864" y="1747"/>
                <a:ext cx="0" cy="141"/>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prstClr val="black"/>
                  </a:solidFill>
                  <a:latin typeface="Arial" panose="020B0604020202020204" pitchFamily="34" charset="0"/>
                  <a:ea typeface="宋体" panose="02010600030101010101" pitchFamily="2" charset="-122"/>
                </a:endParaRPr>
              </a:p>
            </p:txBody>
          </p:sp>
        </p:grpSp>
      </p:grpSp>
      <p:sp>
        <p:nvSpPr>
          <p:cNvPr id="44" name="Text Box 19"/>
          <p:cNvSpPr txBox="1">
            <a:spLocks noChangeArrowheads="1"/>
          </p:cNvSpPr>
          <p:nvPr/>
        </p:nvSpPr>
        <p:spPr bwMode="auto">
          <a:xfrm>
            <a:off x="508497" y="3583293"/>
            <a:ext cx="864693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en-US" altLang="zh-CN" sz="3200" b="1" dirty="0">
                <a:solidFill>
                  <a:prstClr val="black"/>
                </a:solidFill>
                <a:latin typeface="宋体" panose="02010600030101010101" pitchFamily="2" charset="-122"/>
                <a:ea typeface="宋体" panose="02010600030101010101" pitchFamily="2" charset="-122"/>
              </a:rPr>
              <a:t>2</a:t>
            </a:r>
            <a:r>
              <a:rPr kumimoji="1" lang="zh-CN" altLang="en-US" sz="3200" b="1" dirty="0">
                <a:solidFill>
                  <a:prstClr val="black"/>
                </a:solidFill>
                <a:latin typeface="宋体" panose="02010600030101010101" pitchFamily="2" charset="-122"/>
                <a:ea typeface="宋体" panose="02010600030101010101" pitchFamily="2" charset="-122"/>
              </a:rPr>
              <a:t>）格</a:t>
            </a:r>
            <a:r>
              <a:rPr kumimoji="1" lang="zh-CN" altLang="en-US" sz="3200" b="1" dirty="0">
                <a:solidFill>
                  <a:prstClr val="black"/>
                </a:solidFill>
                <a:latin typeface="宋体" panose="02010600030101010101" pitchFamily="2" charset="-122"/>
                <a:ea typeface="宋体" panose="02010600030101010101" pitchFamily="2" charset="-122"/>
              </a:rPr>
              <a:t>罗布斯</a:t>
            </a:r>
            <a:r>
              <a:rPr kumimoji="1" lang="zh-CN" altLang="en-US" sz="3200" b="1" dirty="0" smtClean="0">
                <a:solidFill>
                  <a:prstClr val="black"/>
                </a:solidFill>
                <a:latin typeface="宋体" panose="02010600030101010101" pitchFamily="2" charset="-122"/>
                <a:ea typeface="宋体" panose="02010600030101010101" pitchFamily="2" charset="-122"/>
              </a:rPr>
              <a:t>准则 </a:t>
            </a:r>
            <a:r>
              <a:rPr kumimoji="1" lang="en-US" altLang="zh-CN" sz="3200" b="1" dirty="0" smtClean="0">
                <a:solidFill>
                  <a:prstClr val="black"/>
                </a:solidFill>
                <a:latin typeface="宋体" panose="02010600030101010101" pitchFamily="2" charset="-122"/>
                <a:ea typeface="宋体" panose="02010600030101010101" pitchFamily="2" charset="-122"/>
              </a:rPr>
              <a:t>(</a:t>
            </a:r>
            <a:r>
              <a:rPr kumimoji="1" lang="zh-CN" altLang="en-US" sz="3200" b="1" dirty="0" smtClean="0">
                <a:solidFill>
                  <a:prstClr val="black"/>
                </a:solidFill>
                <a:latin typeface="宋体" panose="02010600030101010101" pitchFamily="2" charset="-122"/>
                <a:ea typeface="宋体" panose="02010600030101010101" pitchFamily="2" charset="-122"/>
              </a:rPr>
              <a:t>举例：中文</a:t>
            </a:r>
            <a:r>
              <a:rPr kumimoji="1" lang="en-US" altLang="zh-CN" sz="3200" b="1" dirty="0" smtClean="0">
                <a:solidFill>
                  <a:prstClr val="black"/>
                </a:solidFill>
                <a:latin typeface="宋体" panose="02010600030101010101" pitchFamily="2" charset="-122"/>
                <a:ea typeface="宋体" panose="02010600030101010101" pitchFamily="2" charset="-122"/>
              </a:rPr>
              <a:t>P15,</a:t>
            </a:r>
            <a:r>
              <a:rPr kumimoji="1" lang="zh-CN" altLang="en-US" sz="3200" b="1" dirty="0" smtClean="0">
                <a:solidFill>
                  <a:prstClr val="black"/>
                </a:solidFill>
                <a:latin typeface="宋体" panose="02010600030101010101" pitchFamily="2" charset="-122"/>
                <a:ea typeface="宋体" panose="02010600030101010101" pitchFamily="2" charset="-122"/>
              </a:rPr>
              <a:t>例</a:t>
            </a:r>
            <a:r>
              <a:rPr kumimoji="1" lang="en-US" altLang="zh-CN" sz="3200" b="1" dirty="0" smtClean="0">
                <a:solidFill>
                  <a:prstClr val="black"/>
                </a:solidFill>
                <a:latin typeface="宋体" panose="02010600030101010101" pitchFamily="2" charset="-122"/>
                <a:ea typeface="宋体" panose="02010600030101010101" pitchFamily="2" charset="-122"/>
              </a:rPr>
              <a:t>1-1)</a:t>
            </a:r>
            <a:endParaRPr kumimoji="1" lang="zh-CN" altLang="en-US" sz="3200" b="1" dirty="0">
              <a:solidFill>
                <a:prstClr val="black"/>
              </a:solidFill>
              <a:latin typeface="宋体" panose="02010600030101010101" pitchFamily="2" charset="-122"/>
              <a:ea typeface="宋体" panose="02010600030101010101" pitchFamily="2" charset="-122"/>
            </a:endParaRPr>
          </a:p>
        </p:txBody>
      </p:sp>
      <p:sp>
        <p:nvSpPr>
          <p:cNvPr id="45" name="Rectangle 20"/>
          <p:cNvSpPr>
            <a:spLocks noChangeArrowheads="1"/>
          </p:cNvSpPr>
          <p:nvPr/>
        </p:nvSpPr>
        <p:spPr bwMode="auto">
          <a:xfrm>
            <a:off x="1168467" y="4266787"/>
            <a:ext cx="1017693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3200" b="1" dirty="0">
                <a:solidFill>
                  <a:prstClr val="black"/>
                </a:solidFill>
                <a:latin typeface="Times New Roman" panose="02020603050405020304" pitchFamily="18" charset="0"/>
                <a:ea typeface="宋体" panose="02010600030101010101" pitchFamily="2" charset="-122"/>
              </a:rPr>
              <a:t>测量值的残余误差的绝对值</a:t>
            </a:r>
            <a:r>
              <a:rPr kumimoji="1" lang="en-US" altLang="zh-CN"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3200" b="1" dirty="0">
                <a:solidFill>
                  <a:prstClr val="black"/>
                </a:solidFill>
                <a:latin typeface="Arial" panose="020B0604020202020204" pitchFamily="34" charset="0"/>
                <a:ea typeface="宋体" panose="02010600030101010101" pitchFamily="2" charset="-122"/>
                <a:sym typeface="Symbol" panose="05050102010706020507" pitchFamily="18" charset="2"/>
              </a:rPr>
              <a:t></a:t>
            </a:r>
            <a:r>
              <a:rPr kumimoji="1" lang="en-US" altLang="zh-CN" sz="3200" dirty="0">
                <a:solidFill>
                  <a:prstClr val="black"/>
                </a:solidFill>
                <a:latin typeface="Arial" panose="020B0604020202020204" pitchFamily="34" charset="0"/>
                <a:ea typeface="宋体" panose="02010600030101010101" pitchFamily="2" charset="-122"/>
              </a:rPr>
              <a:t> </a:t>
            </a:r>
            <a:r>
              <a:rPr kumimoji="1" lang="en-US" altLang="zh-CN" sz="3200" b="1" dirty="0">
                <a:solidFill>
                  <a:prstClr val="black"/>
                </a:solidFill>
                <a:latin typeface="Times New Roman" panose="02020603050405020304" pitchFamily="18" charset="0"/>
                <a:ea typeface="宋体" panose="02010600030101010101" pitchFamily="2" charset="-122"/>
              </a:rPr>
              <a:t>|&gt; </a:t>
            </a:r>
            <a:r>
              <a:rPr kumimoji="1" lang="en-US" altLang="zh-CN" sz="3200" b="1" i="1" dirty="0">
                <a:solidFill>
                  <a:srgbClr val="990000"/>
                </a:solidFill>
                <a:latin typeface="Times New Roman" panose="02020603050405020304" pitchFamily="18" charset="0"/>
                <a:ea typeface="宋体" panose="02010600030101010101" pitchFamily="2" charset="-122"/>
                <a:sym typeface="Symbol" panose="05050102010706020507" pitchFamily="18" charset="2"/>
              </a:rPr>
              <a:t>g</a:t>
            </a:r>
            <a:r>
              <a:rPr kumimoji="1" lang="en-US" altLang="zh-CN" sz="3200" b="1" dirty="0">
                <a:solidFill>
                  <a:srgbClr val="99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1" i="1" dirty="0">
                <a:solidFill>
                  <a:srgbClr val="990000"/>
                </a:solidFill>
                <a:latin typeface="Times New Roman" panose="02020603050405020304" pitchFamily="18" charset="0"/>
                <a:ea typeface="宋体" panose="02010600030101010101" pitchFamily="2" charset="-122"/>
                <a:sym typeface="Symbol" panose="05050102010706020507" pitchFamily="18" charset="2"/>
              </a:rPr>
              <a:t>,n</a:t>
            </a:r>
            <a:r>
              <a:rPr kumimoji="1" lang="en-US" altLang="zh-CN" sz="3200" b="1" dirty="0">
                <a:solidFill>
                  <a:srgbClr val="99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1" i="1" baseline="-25000"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3200" b="1" i="1"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坏值</a:t>
            </a:r>
            <a:r>
              <a:rPr kumimoji="1" lang="en-US" altLang="zh-CN"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剔除</a:t>
            </a:r>
            <a:r>
              <a:rPr kumimoji="1" lang="zh-CN" altLang="en-US" sz="3200"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endParaRPr kumimoji="1" lang="en-US" altLang="en-US" sz="3200" dirty="0">
              <a:solidFill>
                <a:prstClr val="black"/>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6" name="Rectangle 21"/>
          <p:cNvSpPr>
            <a:spLocks noChangeArrowheads="1"/>
          </p:cNvSpPr>
          <p:nvPr/>
        </p:nvSpPr>
        <p:spPr bwMode="auto">
          <a:xfrm>
            <a:off x="1706101" y="5038144"/>
            <a:ext cx="102721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3200" b="1" i="1" dirty="0">
                <a:solidFill>
                  <a:prstClr val="black"/>
                </a:solidFill>
                <a:latin typeface="Times New Roman" panose="02020603050405020304" pitchFamily="18" charset="0"/>
                <a:ea typeface="宋体" panose="02010600030101010101" pitchFamily="2" charset="-122"/>
                <a:sym typeface="Symbol" panose="05050102010706020507" pitchFamily="18" charset="2"/>
              </a:rPr>
              <a:t>g</a:t>
            </a:r>
            <a:r>
              <a:rPr kumimoji="1" lang="en-US" altLang="zh-CN"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1" i="1" dirty="0">
                <a:solidFill>
                  <a:prstClr val="black"/>
                </a:solidFill>
                <a:latin typeface="Times New Roman" panose="02020603050405020304" pitchFamily="18" charset="0"/>
                <a:ea typeface="宋体" panose="02010600030101010101" pitchFamily="2" charset="-122"/>
                <a:sym typeface="Symbol" panose="05050102010706020507" pitchFamily="18" charset="2"/>
              </a:rPr>
              <a:t>,n</a:t>
            </a:r>
            <a:r>
              <a:rPr kumimoji="1" lang="en-US" altLang="zh-CN"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dirty="0">
                <a:solidFill>
                  <a:prstClr val="black"/>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a:t>
            </a:r>
            <a:r>
              <a:rPr kumimoji="1" lang="zh-CN" altLang="en-US" sz="3200" b="1" dirty="0">
                <a:solidFill>
                  <a:prstClr val="black"/>
                </a:solidFill>
                <a:latin typeface="Times New Roman" panose="02020603050405020304" pitchFamily="18" charset="0"/>
                <a:ea typeface="宋体" panose="02010600030101010101" pitchFamily="2" charset="-122"/>
                <a:sym typeface="Symbol" panose="05050102010706020507" pitchFamily="18" charset="2"/>
              </a:rPr>
              <a:t>由</a:t>
            </a:r>
            <a:r>
              <a:rPr kumimoji="1" lang="zh-CN" altLang="en-US"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重复测量次数</a:t>
            </a:r>
            <a:r>
              <a:rPr kumimoji="1" lang="en-US" altLang="zh-CN" sz="32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kumimoji="1" lang="zh-CN" altLang="en-US"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及置信概率</a:t>
            </a:r>
            <a:r>
              <a:rPr kumimoji="1" lang="en-US" altLang="zh-CN" sz="32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a:t>
            </a:r>
            <a:r>
              <a:rPr kumimoji="1" lang="zh-CN" altLang="en-US"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查表确定</a:t>
            </a:r>
            <a:endParaRPr kumimoji="1" lang="en-US" altLang="en-US"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085294261"/>
      </p:ext>
    </p:extLst>
  </p:cSld>
  <p:clrMapOvr>
    <a:masterClrMapping/>
  </p:clrMapOvr>
  <p:transition spd="slow" advClick="0" advTm="3000">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5" name="矩形 4"/>
          <p:cNvSpPr/>
          <p:nvPr/>
        </p:nvSpPr>
        <p:spPr>
          <a:xfrm>
            <a:off x="239350" y="756739"/>
            <a:ext cx="9868407" cy="584775"/>
          </a:xfrm>
          <a:prstGeom prst="rect">
            <a:avLst/>
          </a:prstGeom>
        </p:spPr>
        <p:txBody>
          <a:bodyPr wrap="none">
            <a:spAutoFit/>
          </a:bodyPr>
          <a:lstStyle/>
          <a:p>
            <a:pPr marL="0" lvl="2" fontAlgn="base">
              <a:spcBef>
                <a:spcPts val="800"/>
              </a:spcBef>
              <a:spcAft>
                <a:spcPts val="800"/>
              </a:spcAft>
            </a:pPr>
            <a:r>
              <a:rPr lang="en-US" altLang="zh-CN" sz="3200" b="1" kern="100" dirty="0">
                <a:solidFill>
                  <a:srgbClr val="C00000"/>
                </a:solidFill>
                <a:latin typeface="Arial" panose="020B0604020202020204" pitchFamily="34" charset="0"/>
                <a:ea typeface="楷体" panose="02010609060101010101" pitchFamily="49" charset="-122"/>
                <a:cs typeface="Times New Roman" panose="02020603050405020304" pitchFamily="18" charset="0"/>
              </a:rPr>
              <a:t>Aggregation(</a:t>
            </a:r>
            <a:r>
              <a:rPr lang="zh-CN" altLang="en-US" sz="3200" b="1" kern="100" dirty="0">
                <a:solidFill>
                  <a:srgbClr val="C00000"/>
                </a:solidFill>
                <a:latin typeface="Arial" panose="020B0604020202020204" pitchFamily="34" charset="0"/>
                <a:ea typeface="楷体" panose="02010609060101010101" pitchFamily="49" charset="-122"/>
                <a:cs typeface="Times New Roman" panose="02020603050405020304" pitchFamily="18" charset="0"/>
              </a:rPr>
              <a:t>合成</a:t>
            </a:r>
            <a:r>
              <a:rPr lang="en-US" altLang="zh-CN" sz="3200" b="1" kern="100" dirty="0">
                <a:solidFill>
                  <a:srgbClr val="C00000"/>
                </a:solidFill>
                <a:latin typeface="Arial" panose="020B0604020202020204" pitchFamily="34" charset="0"/>
                <a:ea typeface="楷体" panose="02010609060101010101" pitchFamily="49" charset="-122"/>
                <a:cs typeface="Times New Roman" panose="02020603050405020304" pitchFamily="18" charset="0"/>
              </a:rPr>
              <a:t>) </a:t>
            </a:r>
            <a:r>
              <a:rPr lang="en-US" altLang="zh-CN" sz="3200" b="1" kern="100" dirty="0">
                <a:solidFill>
                  <a:srgbClr val="C00000"/>
                </a:solidFill>
                <a:latin typeface="Arial" panose="020B0604020202020204" pitchFamily="34" charset="0"/>
                <a:ea typeface="楷体" panose="02010609060101010101" pitchFamily="49" charset="-122"/>
                <a:cs typeface="Times New Roman" panose="02020603050405020304" pitchFamily="18" charset="0"/>
              </a:rPr>
              <a:t>of Measurement System </a:t>
            </a:r>
            <a:r>
              <a:rPr lang="en-US" altLang="zh-CN" sz="3200" b="1" kern="100" dirty="0">
                <a:solidFill>
                  <a:srgbClr val="C00000"/>
                </a:solidFill>
                <a:latin typeface="Arial" panose="020B0604020202020204" pitchFamily="34" charset="0"/>
                <a:ea typeface="楷体" panose="02010609060101010101" pitchFamily="49" charset="-122"/>
                <a:cs typeface="Times New Roman" panose="02020603050405020304" pitchFamily="18" charset="0"/>
              </a:rPr>
              <a:t>Errors</a:t>
            </a:r>
            <a:endParaRPr lang="zh-CN" altLang="zh-CN" sz="3200" kern="100" dirty="0">
              <a:solidFill>
                <a:srgbClr val="C00000"/>
              </a:solidFill>
              <a:latin typeface="等线" panose="02010600030101010101" pitchFamily="2" charset="-122"/>
              <a:cs typeface="Times New Roman" panose="02020603050405020304" pitchFamily="18" charset="0"/>
            </a:endParaRPr>
          </a:p>
        </p:txBody>
      </p:sp>
      <p:sp>
        <p:nvSpPr>
          <p:cNvPr id="2" name="矩形 1"/>
          <p:cNvSpPr/>
          <p:nvPr/>
        </p:nvSpPr>
        <p:spPr>
          <a:xfrm>
            <a:off x="239350" y="1444789"/>
            <a:ext cx="11425269" cy="2062103"/>
          </a:xfrm>
          <a:prstGeom prst="rect">
            <a:avLst/>
          </a:prstGeom>
        </p:spPr>
        <p:txBody>
          <a:bodyPr wrap="square">
            <a:spAutoFit/>
          </a:bodyPr>
          <a:lstStyle/>
          <a:p>
            <a:pPr algn="just" fontAlgn="base">
              <a:spcBef>
                <a:spcPct val="0"/>
              </a:spcBef>
              <a:spcAft>
                <a:spcPts val="800"/>
              </a:spcAft>
            </a:pPr>
            <a:r>
              <a:rPr lang="en-US" altLang="zh-CN" sz="3200" b="1" kern="0" dirty="0">
                <a:solidFill>
                  <a:srgbClr val="07144B"/>
                </a:solidFill>
                <a:latin typeface="Times New Roman" panose="02020603050405020304" pitchFamily="18" charset="0"/>
                <a:cs typeface="Times New Roman" panose="02020603050405020304" pitchFamily="18" charset="0"/>
              </a:rPr>
              <a:t>Errors in measurement systems often arise from two or more different sources, and these must be </a:t>
            </a:r>
            <a:r>
              <a:rPr lang="en-US" altLang="zh-CN" sz="3200" b="1" kern="0" dirty="0">
                <a:solidFill>
                  <a:srgbClr val="C00000"/>
                </a:solidFill>
                <a:latin typeface="Times New Roman" panose="02020603050405020304" pitchFamily="18" charset="0"/>
                <a:cs typeface="Times New Roman" panose="02020603050405020304" pitchFamily="18" charset="0"/>
              </a:rPr>
              <a:t>aggregated</a:t>
            </a:r>
            <a:r>
              <a:rPr lang="en-US" altLang="zh-CN" sz="3200" b="1" kern="0" dirty="0">
                <a:solidFill>
                  <a:srgbClr val="07144B"/>
                </a:solidFill>
                <a:latin typeface="Times New Roman" panose="02020603050405020304" pitchFamily="18" charset="0"/>
                <a:cs typeface="Times New Roman" panose="02020603050405020304" pitchFamily="18" charset="0"/>
              </a:rPr>
              <a:t> in the correct way in order to obtain a prediction of the total likely error in output readings from the measurement system. </a:t>
            </a:r>
            <a:endParaRPr lang="zh-CN" altLang="zh-CN" sz="3200" b="1" kern="100" dirty="0">
              <a:solidFill>
                <a:srgbClr val="07144B"/>
              </a:solidFill>
              <a:latin typeface="等线" panose="02010600030101010101" pitchFamily="2" charset="-122"/>
              <a:cs typeface="Times New Roman" panose="02020603050405020304" pitchFamily="18" charset="0"/>
            </a:endParaRPr>
          </a:p>
        </p:txBody>
      </p:sp>
      <p:sp>
        <p:nvSpPr>
          <p:cNvPr id="4" name="矩形 3"/>
          <p:cNvSpPr/>
          <p:nvPr/>
        </p:nvSpPr>
        <p:spPr>
          <a:xfrm>
            <a:off x="252179" y="3578819"/>
            <a:ext cx="11508451" cy="2062103"/>
          </a:xfrm>
          <a:prstGeom prst="rect">
            <a:avLst/>
          </a:prstGeom>
        </p:spPr>
        <p:txBody>
          <a:bodyPr wrap="square">
            <a:spAutoFit/>
          </a:bodyPr>
          <a:lstStyle/>
          <a:p>
            <a:pPr marL="457189" indent="-457189" fontAlgn="base">
              <a:spcBef>
                <a:spcPct val="0"/>
              </a:spcBef>
              <a:spcAft>
                <a:spcPct val="0"/>
              </a:spcAft>
              <a:buFont typeface="Wingdings" panose="05000000000000000000" pitchFamily="2" charset="2"/>
              <a:buChar char="ü"/>
            </a:pPr>
            <a:r>
              <a:rPr lang="en-US" altLang="zh-CN" sz="3200" b="1" kern="0" dirty="0">
                <a:solidFill>
                  <a:srgbClr val="07144B"/>
                </a:solidFill>
                <a:latin typeface="Times New Roman" panose="02020603050405020304" pitchFamily="18" charset="0"/>
                <a:cs typeface="Times New Roman" panose="02020603050405020304" pitchFamily="18" charset="0"/>
              </a:rPr>
              <a:t>A single </a:t>
            </a:r>
            <a:r>
              <a:rPr lang="en-US" altLang="zh-CN" sz="3200" b="1" kern="0" dirty="0">
                <a:solidFill>
                  <a:srgbClr val="07144B"/>
                </a:solidFill>
                <a:latin typeface="Times New Roman" panose="02020603050405020304" pitchFamily="18" charset="0"/>
                <a:cs typeface="Times New Roman" panose="02020603050405020304" pitchFamily="18" charset="0"/>
              </a:rPr>
              <a:t>measurement component may have both </a:t>
            </a:r>
            <a:r>
              <a:rPr lang="en-US" altLang="zh-CN" sz="3200" b="1" kern="0" dirty="0">
                <a:solidFill>
                  <a:srgbClr val="FF0000"/>
                </a:solidFill>
                <a:latin typeface="Times New Roman" panose="02020603050405020304" pitchFamily="18" charset="0"/>
                <a:cs typeface="Times New Roman" panose="02020603050405020304" pitchFamily="18" charset="0"/>
              </a:rPr>
              <a:t>systematic </a:t>
            </a:r>
            <a:r>
              <a:rPr lang="en-US" altLang="zh-CN" sz="3200" b="1" kern="0" dirty="0">
                <a:solidFill>
                  <a:srgbClr val="07144B"/>
                </a:solidFill>
                <a:latin typeface="Times New Roman" panose="02020603050405020304" pitchFamily="18" charset="0"/>
                <a:cs typeface="Times New Roman" panose="02020603050405020304" pitchFamily="18" charset="0"/>
              </a:rPr>
              <a:t>and </a:t>
            </a:r>
            <a:r>
              <a:rPr lang="en-US" altLang="zh-CN" sz="3200" b="1" kern="0" dirty="0">
                <a:solidFill>
                  <a:srgbClr val="FF0000"/>
                </a:solidFill>
                <a:latin typeface="Times New Roman" panose="02020603050405020304" pitchFamily="18" charset="0"/>
                <a:cs typeface="Times New Roman" panose="02020603050405020304" pitchFamily="18" charset="0"/>
              </a:rPr>
              <a:t>random </a:t>
            </a:r>
            <a:r>
              <a:rPr lang="en-US" altLang="zh-CN" sz="3200" b="1" kern="0" dirty="0">
                <a:solidFill>
                  <a:srgbClr val="FF0000"/>
                </a:solidFill>
                <a:latin typeface="Times New Roman" panose="02020603050405020304" pitchFamily="18" charset="0"/>
                <a:cs typeface="Times New Roman" panose="02020603050405020304" pitchFamily="18" charset="0"/>
              </a:rPr>
              <a:t>errors</a:t>
            </a:r>
          </a:p>
          <a:p>
            <a:pPr marL="457189" indent="-457189" fontAlgn="base">
              <a:spcBef>
                <a:spcPct val="0"/>
              </a:spcBef>
              <a:spcAft>
                <a:spcPct val="0"/>
              </a:spcAft>
              <a:buFont typeface="Wingdings" panose="05000000000000000000" pitchFamily="2" charset="2"/>
              <a:buChar char="ü"/>
            </a:pPr>
            <a:r>
              <a:rPr lang="en-US" altLang="zh-CN" sz="3200" b="1" kern="0" dirty="0">
                <a:solidFill>
                  <a:srgbClr val="07144B"/>
                </a:solidFill>
                <a:latin typeface="Times New Roman" panose="02020603050405020304" pitchFamily="18" charset="0"/>
                <a:cs typeface="Times New Roman" panose="02020603050405020304" pitchFamily="18" charset="0"/>
              </a:rPr>
              <a:t>A </a:t>
            </a:r>
            <a:r>
              <a:rPr lang="en-US" altLang="zh-CN" sz="3200" b="1" kern="0" dirty="0">
                <a:solidFill>
                  <a:srgbClr val="07144B"/>
                </a:solidFill>
                <a:latin typeface="Times New Roman" panose="02020603050405020304" pitchFamily="18" charset="0"/>
                <a:cs typeface="Times New Roman" panose="02020603050405020304" pitchFamily="18" charset="0"/>
              </a:rPr>
              <a:t>measurement system may consist of several measurement components that each have separate errors.</a:t>
            </a:r>
            <a:endParaRPr lang="zh-CN" altLang="en-US" sz="3200" b="1" kern="0" dirty="0">
              <a:solidFill>
                <a:srgbClr val="07144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7416925"/>
      </p:ext>
    </p:extLst>
  </p:cSld>
  <p:clrMapOvr>
    <a:masterClrMapping/>
  </p:clrMapOvr>
  <p:transition spd="slow" advClick="0" advTm="3000">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3" name="矩形 2"/>
          <p:cNvSpPr/>
          <p:nvPr/>
        </p:nvSpPr>
        <p:spPr>
          <a:xfrm>
            <a:off x="251084" y="833577"/>
            <a:ext cx="10081120" cy="584775"/>
          </a:xfrm>
          <a:prstGeom prst="rect">
            <a:avLst/>
          </a:prstGeom>
        </p:spPr>
        <p:txBody>
          <a:bodyPr wrap="square">
            <a:spAutoFit/>
          </a:bodyPr>
          <a:lstStyle/>
          <a:p>
            <a:pPr fontAlgn="base">
              <a:spcBef>
                <a:spcPct val="0"/>
              </a:spcBef>
              <a:spcAft>
                <a:spcPct val="0"/>
              </a:spcAft>
            </a:pPr>
            <a:r>
              <a:rPr lang="en-US" altLang="zh-CN" sz="32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Combined </a:t>
            </a:r>
            <a:r>
              <a:rPr lang="en-US" altLang="zh-CN" sz="32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Effect of Systematic and Random Errors</a:t>
            </a:r>
            <a:endParaRPr lang="zh-CN" altLang="en-US" sz="32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p:cNvSpPr/>
              <p:nvPr/>
            </p:nvSpPr>
            <p:spPr>
              <a:xfrm>
                <a:off x="8547047" y="2948948"/>
                <a:ext cx="2673424" cy="1094467"/>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r>
                        <a:rPr lang="zh-CN" altLang="en-US" sz="3200" i="1">
                          <a:solidFill>
                            <a:prstClr val="black"/>
                          </a:solidFill>
                          <a:latin typeface="Cambria Math" panose="02040503050406030204" pitchFamily="18" charset="0"/>
                        </a:rPr>
                        <m:t>𝑒</m:t>
                      </m:r>
                      <m:r>
                        <a:rPr lang="zh-CN" altLang="en-US" sz="3200">
                          <a:solidFill>
                            <a:prstClr val="black"/>
                          </a:solidFill>
                          <a:latin typeface="Cambria Math" panose="02040503050406030204" pitchFamily="18" charset="0"/>
                        </a:rPr>
                        <m:t>=</m:t>
                      </m:r>
                      <m:rad>
                        <m:radPr>
                          <m:degHide m:val="on"/>
                          <m:ctrlPr>
                            <a:rPr lang="zh-CN" altLang="en-US" sz="3200" i="1">
                              <a:solidFill>
                                <a:prstClr val="black"/>
                              </a:solidFill>
                              <a:latin typeface="Cambria Math" panose="02040503050406030204" pitchFamily="18" charset="0"/>
                            </a:rPr>
                          </m:ctrlPr>
                        </m:radPr>
                        <m:deg/>
                        <m:e>
                          <m:sSubSup>
                            <m:sSubSupPr>
                              <m:ctrlPr>
                                <a:rPr lang="zh-CN" altLang="en-US" sz="3200" i="1">
                                  <a:solidFill>
                                    <a:prstClr val="black"/>
                                  </a:solidFill>
                                  <a:latin typeface="Cambria Math" panose="02040503050406030204" pitchFamily="18" charset="0"/>
                                </a:rPr>
                              </m:ctrlPr>
                            </m:sSubSupPr>
                            <m:e>
                              <m:r>
                                <a:rPr lang="zh-CN" altLang="en-US" sz="3200" i="1">
                                  <a:solidFill>
                                    <a:prstClr val="black"/>
                                  </a:solidFill>
                                  <a:latin typeface="Cambria Math" panose="02040503050406030204" pitchFamily="18" charset="0"/>
                                </a:rPr>
                                <m:t>𝑒</m:t>
                              </m:r>
                            </m:e>
                            <m:sub>
                              <m:r>
                                <a:rPr lang="zh-CN" altLang="en-US" sz="3200" i="1">
                                  <a:solidFill>
                                    <a:prstClr val="black"/>
                                  </a:solidFill>
                                  <a:latin typeface="Cambria Math" panose="02040503050406030204" pitchFamily="18" charset="0"/>
                                </a:rPr>
                                <m:t>𝑠</m:t>
                              </m:r>
                            </m:sub>
                            <m:sup>
                              <m:r>
                                <a:rPr lang="zh-CN" altLang="en-US" sz="3200">
                                  <a:solidFill>
                                    <a:prstClr val="black"/>
                                  </a:solidFill>
                                  <a:latin typeface="Cambria Math" panose="02040503050406030204" pitchFamily="18" charset="0"/>
                                </a:rPr>
                                <m:t>2</m:t>
                              </m:r>
                            </m:sup>
                          </m:sSubSup>
                          <m:r>
                            <a:rPr lang="zh-CN" altLang="en-US" sz="3200">
                              <a:solidFill>
                                <a:prstClr val="black"/>
                              </a:solidFill>
                              <a:latin typeface="Cambria Math" panose="02040503050406030204" pitchFamily="18" charset="0"/>
                            </a:rPr>
                            <m:t>+</m:t>
                          </m:r>
                          <m:sSubSup>
                            <m:sSubSupPr>
                              <m:ctrlPr>
                                <a:rPr lang="zh-CN" altLang="en-US" sz="3200" i="1">
                                  <a:solidFill>
                                    <a:prstClr val="black"/>
                                  </a:solidFill>
                                  <a:latin typeface="Cambria Math" panose="02040503050406030204" pitchFamily="18" charset="0"/>
                                </a:rPr>
                              </m:ctrlPr>
                            </m:sSubSupPr>
                            <m:e>
                              <m:r>
                                <a:rPr lang="zh-CN" altLang="en-US" sz="3200" i="1">
                                  <a:solidFill>
                                    <a:prstClr val="black"/>
                                  </a:solidFill>
                                  <a:latin typeface="Cambria Math" panose="02040503050406030204" pitchFamily="18" charset="0"/>
                                </a:rPr>
                                <m:t>𝑒</m:t>
                              </m:r>
                            </m:e>
                            <m:sub>
                              <m:r>
                                <a:rPr lang="zh-CN" altLang="en-US" sz="3200" i="1">
                                  <a:solidFill>
                                    <a:prstClr val="black"/>
                                  </a:solidFill>
                                  <a:latin typeface="Cambria Math" panose="02040503050406030204" pitchFamily="18" charset="0"/>
                                </a:rPr>
                                <m:t>𝑟</m:t>
                              </m:r>
                            </m:sub>
                            <m:sup>
                              <m:r>
                                <a:rPr lang="zh-CN" altLang="en-US" sz="3200">
                                  <a:solidFill>
                                    <a:prstClr val="black"/>
                                  </a:solidFill>
                                  <a:latin typeface="Cambria Math" panose="02040503050406030204" pitchFamily="18" charset="0"/>
                                </a:rPr>
                                <m:t>2</m:t>
                              </m:r>
                            </m:sup>
                          </m:sSubSup>
                        </m:e>
                      </m:rad>
                    </m:oMath>
                  </m:oMathPara>
                </a14:m>
                <a:endParaRPr lang="zh-CN" altLang="en-US" sz="3200" dirty="0">
                  <a:solidFill>
                    <a:prstClr val="black"/>
                  </a:solidFill>
                  <a:latin typeface="Arial" panose="020B0604020202020204" pitchFamily="34" charset="0"/>
                  <a:ea typeface="宋体" panose="02010600030101010101" pitchFamily="2"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6410285" y="2211710"/>
                <a:ext cx="2048574" cy="843885"/>
              </a:xfrm>
              <a:prstGeom prst="rect">
                <a:avLst/>
              </a:prstGeom>
              <a:blipFill>
                <a:blip r:embed="rId5"/>
                <a:stretch>
                  <a:fillRect/>
                </a:stretch>
              </a:blipFill>
            </p:spPr>
            <p:txBody>
              <a:bodyPr/>
              <a:lstStyle/>
              <a:p>
                <a:r>
                  <a:rPr lang="zh-CN" altLang="en-US">
                    <a:noFill/>
                  </a:rPr>
                  <a:t> </a:t>
                </a:r>
              </a:p>
            </p:txBody>
          </p:sp>
        </mc:Fallback>
      </mc:AlternateContent>
      <p:sp>
        <p:nvSpPr>
          <p:cNvPr id="18" name="矩形 17"/>
          <p:cNvSpPr/>
          <p:nvPr/>
        </p:nvSpPr>
        <p:spPr>
          <a:xfrm>
            <a:off x="335360" y="1599009"/>
            <a:ext cx="7825547" cy="3539430"/>
          </a:xfrm>
          <a:prstGeom prst="rect">
            <a:avLst/>
          </a:prstGeom>
        </p:spPr>
        <p:txBody>
          <a:bodyPr wrap="square">
            <a:spAutoFit/>
          </a:bodyPr>
          <a:lstStyle/>
          <a:p>
            <a:pPr algn="just" fontAlgn="base">
              <a:spcBef>
                <a:spcPct val="0"/>
              </a:spcBef>
              <a:spcAft>
                <a:spcPct val="0"/>
              </a:spcAft>
            </a:pPr>
            <a:r>
              <a:rPr lang="en-US" altLang="zh-CN" sz="3200" b="1" kern="0" dirty="0">
                <a:solidFill>
                  <a:srgbClr val="07144B"/>
                </a:solidFill>
                <a:latin typeface="Times New Roman" panose="02020603050405020304" pitchFamily="18" charset="0"/>
              </a:rPr>
              <a:t>This is the best expression for the error statistically, since it takes account of the </a:t>
            </a:r>
            <a:r>
              <a:rPr lang="en-US" altLang="zh-CN" sz="3200" b="1" u="sng" kern="0" dirty="0">
                <a:solidFill>
                  <a:schemeClr val="accent1">
                    <a:lumMod val="75000"/>
                  </a:schemeClr>
                </a:solidFill>
                <a:latin typeface="Times New Roman" panose="02020603050405020304" pitchFamily="18" charset="0"/>
              </a:rPr>
              <a:t>reasonable </a:t>
            </a:r>
            <a:r>
              <a:rPr lang="en-US" altLang="zh-CN" sz="3200" b="1" u="sng" kern="0" dirty="0" smtClean="0">
                <a:solidFill>
                  <a:schemeClr val="accent1">
                    <a:lumMod val="75000"/>
                  </a:schemeClr>
                </a:solidFill>
                <a:latin typeface="Times New Roman" panose="02020603050405020304" pitchFamily="18" charset="0"/>
              </a:rPr>
              <a:t>assumption(</a:t>
            </a:r>
            <a:r>
              <a:rPr lang="zh-CN" altLang="en-US" sz="3200" b="1" u="sng" kern="0" dirty="0" smtClean="0">
                <a:solidFill>
                  <a:schemeClr val="accent1">
                    <a:lumMod val="75000"/>
                  </a:schemeClr>
                </a:solidFill>
                <a:latin typeface="Times New Roman" panose="02020603050405020304" pitchFamily="18" charset="0"/>
              </a:rPr>
              <a:t>合理假设</a:t>
            </a:r>
            <a:r>
              <a:rPr lang="en-US" altLang="zh-CN" sz="3200" b="1" u="sng" kern="0" dirty="0" smtClean="0">
                <a:solidFill>
                  <a:schemeClr val="accent1">
                    <a:lumMod val="75000"/>
                  </a:schemeClr>
                </a:solidFill>
                <a:latin typeface="Times New Roman" panose="02020603050405020304" pitchFamily="18" charset="0"/>
              </a:rPr>
              <a:t>)</a:t>
            </a:r>
            <a:r>
              <a:rPr lang="en-US" altLang="zh-CN" sz="3200" b="1" kern="0" dirty="0" smtClean="0">
                <a:solidFill>
                  <a:schemeClr val="accent1">
                    <a:lumMod val="75000"/>
                  </a:schemeClr>
                </a:solidFill>
                <a:latin typeface="Times New Roman" panose="02020603050405020304" pitchFamily="18" charset="0"/>
              </a:rPr>
              <a:t> </a:t>
            </a:r>
            <a:r>
              <a:rPr lang="en-US" altLang="zh-CN" sz="3200" b="1" kern="0" dirty="0">
                <a:solidFill>
                  <a:srgbClr val="07144B"/>
                </a:solidFill>
                <a:latin typeface="Times New Roman" panose="02020603050405020304" pitchFamily="18" charset="0"/>
              </a:rPr>
              <a:t>that the systematic and random errors are </a:t>
            </a:r>
            <a:r>
              <a:rPr lang="en-US" altLang="zh-CN" sz="3200" b="1" kern="0" dirty="0">
                <a:solidFill>
                  <a:srgbClr val="FF0000"/>
                </a:solidFill>
                <a:latin typeface="Times New Roman" panose="02020603050405020304" pitchFamily="18" charset="0"/>
              </a:rPr>
              <a:t>independent</a:t>
            </a:r>
            <a:r>
              <a:rPr lang="en-US" altLang="zh-CN" sz="3200" b="1" kern="0" dirty="0">
                <a:solidFill>
                  <a:srgbClr val="07144B"/>
                </a:solidFill>
                <a:latin typeface="Times New Roman" panose="02020603050405020304" pitchFamily="18" charset="0"/>
              </a:rPr>
              <a:t> and so it is unlikely to both will be at their maximum or minimum value </a:t>
            </a:r>
            <a:r>
              <a:rPr lang="en-US" altLang="zh-CN" sz="3200" b="1" kern="0" dirty="0">
                <a:solidFill>
                  <a:srgbClr val="07144B"/>
                </a:solidFill>
                <a:latin typeface="Times New Roman" panose="02020603050405020304" pitchFamily="18" charset="0"/>
              </a:rPr>
              <a:t>simultaneously</a:t>
            </a:r>
            <a:endParaRPr lang="zh-CN" altLang="en-US" sz="3200" b="1" dirty="0">
              <a:solidFill>
                <a:srgbClr val="07144B"/>
              </a:solidFill>
              <a:latin typeface="Arial" panose="020B0604020202020204" pitchFamily="34" charset="0"/>
              <a:ea typeface="宋体" panose="02010600030101010101" pitchFamily="2" charset="-122"/>
            </a:endParaRPr>
          </a:p>
        </p:txBody>
      </p:sp>
      <p:sp>
        <p:nvSpPr>
          <p:cNvPr id="19" name="椭圆 18"/>
          <p:cNvSpPr/>
          <p:nvPr/>
        </p:nvSpPr>
        <p:spPr>
          <a:xfrm>
            <a:off x="8547047" y="2180861"/>
            <a:ext cx="3117572" cy="2988355"/>
          </a:xfrm>
          <a:prstGeom prst="ellipse">
            <a:avLst/>
          </a:prstGeom>
          <a:noFill/>
          <a:ln>
            <a:solidFill>
              <a:srgbClr val="007F5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2400">
              <a:solidFill>
                <a:prstClr val="white"/>
              </a:solidFill>
            </a:endParaRPr>
          </a:p>
        </p:txBody>
      </p:sp>
    </p:spTree>
    <p:extLst>
      <p:ext uri="{BB962C8B-B14F-4D97-AF65-F5344CB8AC3E}">
        <p14:creationId xmlns:p14="http://schemas.microsoft.com/office/powerpoint/2010/main" val="1588857674"/>
      </p:ext>
    </p:extLst>
  </p:cSld>
  <p:clrMapOvr>
    <a:masterClrMapping/>
  </p:clrMapOvr>
  <p:transition spd="slow" advClick="0" advTm="3000">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143339" y="4615218"/>
            <a:ext cx="11881611" cy="150163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2400">
              <a:solidFill>
                <a:prstClr val="white"/>
              </a:solidFill>
            </a:endParaRPr>
          </a:p>
        </p:txBody>
      </p:sp>
      <p:sp>
        <p:nvSpPr>
          <p:cNvPr id="37" name="矩形 36"/>
          <p:cNvSpPr/>
          <p:nvPr/>
        </p:nvSpPr>
        <p:spPr>
          <a:xfrm>
            <a:off x="143339" y="3694174"/>
            <a:ext cx="11905323" cy="92104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2400">
              <a:solidFill>
                <a:prstClr val="white"/>
              </a:solidFill>
            </a:endParaRPr>
          </a:p>
        </p:txBody>
      </p:sp>
      <p:sp>
        <p:nvSpPr>
          <p:cNvPr id="36" name="矩形 35"/>
          <p:cNvSpPr/>
          <p:nvPr/>
        </p:nvSpPr>
        <p:spPr>
          <a:xfrm>
            <a:off x="143339" y="1959088"/>
            <a:ext cx="11905323" cy="1735085"/>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2400">
              <a:solidFill>
                <a:prstClr val="white"/>
              </a:solidFill>
            </a:endParaRPr>
          </a:p>
        </p:txBody>
      </p:sp>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3" name="矩形 2"/>
          <p:cNvSpPr/>
          <p:nvPr/>
        </p:nvSpPr>
        <p:spPr>
          <a:xfrm>
            <a:off x="244670" y="724591"/>
            <a:ext cx="10741460" cy="1077218"/>
          </a:xfrm>
          <a:prstGeom prst="rect">
            <a:avLst/>
          </a:prstGeom>
        </p:spPr>
        <p:txBody>
          <a:bodyPr wrap="square">
            <a:spAutoFit/>
          </a:bodyPr>
          <a:lstStyle/>
          <a:p>
            <a:pPr fontAlgn="base">
              <a:spcBef>
                <a:spcPct val="0"/>
              </a:spcBef>
              <a:spcAft>
                <a:spcPct val="0"/>
              </a:spcAft>
            </a:pPr>
            <a:r>
              <a:rPr lang="en-US" altLang="zh-CN" sz="32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Aggregation </a:t>
            </a:r>
            <a:r>
              <a:rPr lang="en-US" altLang="zh-CN" sz="32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of Errors from Separate Measurement System Components</a:t>
            </a:r>
            <a:endParaRPr lang="zh-CN" altLang="en-US" sz="32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607212" y="2025535"/>
            <a:ext cx="2706190" cy="584775"/>
          </a:xfrm>
          <a:prstGeom prst="rect">
            <a:avLst/>
          </a:prstGeom>
        </p:spPr>
        <p:txBody>
          <a:bodyPr wrap="none">
            <a:spAutoFit/>
          </a:bodyPr>
          <a:lstStyle/>
          <a:p>
            <a:pPr fontAlgn="base">
              <a:spcBef>
                <a:spcPct val="0"/>
              </a:spcBef>
              <a:spcAft>
                <a:spcPts val="800"/>
              </a:spcAft>
            </a:pPr>
            <a:r>
              <a:rPr lang="en-US" altLang="zh-CN" sz="3200" b="1" i="1" kern="0" dirty="0">
                <a:solidFill>
                  <a:srgbClr val="07144B"/>
                </a:solidFill>
                <a:latin typeface="Times New Roman" panose="02020603050405020304" pitchFamily="18" charset="0"/>
                <a:cs typeface="Times New Roman" panose="02020603050405020304" pitchFamily="18" charset="0"/>
              </a:rPr>
              <a:t>Error in a sum</a:t>
            </a:r>
            <a:endParaRPr lang="zh-CN" altLang="zh-CN" sz="3200" b="1" kern="100" dirty="0">
              <a:solidFill>
                <a:srgbClr val="07144B"/>
              </a:solidFill>
              <a:latin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5"/>
              <p:cNvSpPr/>
              <p:nvPr/>
            </p:nvSpPr>
            <p:spPr>
              <a:xfrm>
                <a:off x="4730916" y="2723607"/>
                <a:ext cx="2888932" cy="539571"/>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r>
                        <a:rPr lang="zh-CN" altLang="en-US" sz="2400" i="1">
                          <a:solidFill>
                            <a:prstClr val="black"/>
                          </a:solidFill>
                          <a:latin typeface="Cambria Math" panose="02040503050406030204" pitchFamily="18" charset="0"/>
                        </a:rPr>
                        <m:t>𝑒</m:t>
                      </m:r>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𝑎𝑦</m:t>
                                  </m:r>
                                </m:e>
                              </m:d>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𝑏𝑧</m:t>
                                  </m:r>
                                </m:e>
                              </m:d>
                            </m:e>
                            <m:sup>
                              <m:r>
                                <a:rPr lang="zh-CN" altLang="en-US" sz="2400">
                                  <a:solidFill>
                                    <a:prstClr val="black"/>
                                  </a:solidFill>
                                  <a:latin typeface="Cambria Math" panose="02040503050406030204" pitchFamily="18" charset="0"/>
                                </a:rPr>
                                <m:t>2</m:t>
                              </m:r>
                            </m:sup>
                          </m:sSup>
                        </m:e>
                      </m:rad>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3548187" y="2042705"/>
                <a:ext cx="2217337" cy="427746"/>
              </a:xfrm>
              <a:prstGeom prst="rect">
                <a:avLst/>
              </a:prstGeom>
              <a:blipFill>
                <a:blip r:embed="rId5"/>
                <a:stretch>
                  <a:fillRect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745228" y="2155585"/>
                <a:ext cx="2317045" cy="461665"/>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r>
                        <a:rPr lang="zh-CN" altLang="en-US" sz="2400" i="1">
                          <a:solidFill>
                            <a:prstClr val="black"/>
                          </a:solidFill>
                          <a:latin typeface="Cambria Math" panose="02040503050406030204" pitchFamily="18" charset="0"/>
                        </a:rPr>
                        <m:t>𝑆</m:t>
                      </m:r>
                      <m:r>
                        <a:rPr lang="zh-CN" altLang="en-US" sz="2400">
                          <a:solidFill>
                            <a:prstClr val="black"/>
                          </a:solidFill>
                          <a:latin typeface="Cambria Math" panose="02040503050406030204" pitchFamily="18" charset="0"/>
                        </a:rPr>
                        <m:t>=</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𝑦</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𝑧</m:t>
                          </m:r>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𝑒</m:t>
                      </m:r>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20" name="矩形 19"/>
              <p:cNvSpPr>
                <a:spLocks noRot="1" noChangeAspect="1" noMove="1" noResize="1" noEditPoints="1" noAdjustHandles="1" noChangeArrowheads="1" noChangeShapeType="1" noTextEdit="1"/>
              </p:cNvSpPr>
              <p:nvPr/>
            </p:nvSpPr>
            <p:spPr>
              <a:xfrm>
                <a:off x="3558920" y="1616688"/>
                <a:ext cx="1788375" cy="369332"/>
              </a:xfrm>
              <a:prstGeom prst="rect">
                <a:avLst/>
              </a:prstGeom>
              <a:blipFill>
                <a:blip r:embed="rId6"/>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8130864" y="2125970"/>
                <a:ext cx="2829684" cy="461665"/>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r>
                        <a:rPr lang="zh-CN" altLang="en-US" sz="2400" i="1">
                          <a:solidFill>
                            <a:prstClr val="black"/>
                          </a:solidFill>
                          <a:latin typeface="Cambria Math" panose="02040503050406030204" pitchFamily="18" charset="0"/>
                        </a:rPr>
                        <m:t>𝑆</m:t>
                      </m:r>
                      <m:r>
                        <a:rPr lang="zh-CN" altLang="en-US" sz="2400">
                          <a:solidFill>
                            <a:prstClr val="black"/>
                          </a:solidFill>
                          <a:latin typeface="Cambria Math" panose="02040503050406030204" pitchFamily="18" charset="0"/>
                        </a:rPr>
                        <m:t>=</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𝑦</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𝑧</m:t>
                          </m:r>
                        </m:e>
                      </m:d>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𝑓</m:t>
                          </m:r>
                        </m:e>
                      </m:d>
                      <m:r>
                        <a:rPr lang="zh-CN" altLang="en-US" sz="2400">
                          <a:solidFill>
                            <a:prstClr val="black"/>
                          </a:solidFill>
                          <a:latin typeface="Cambria Math" panose="02040503050406030204" pitchFamily="18" charset="0"/>
                        </a:rPr>
                        <m:t> </m:t>
                      </m:r>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22" name="矩形 21"/>
              <p:cNvSpPr>
                <a:spLocks noRot="1" noChangeAspect="1" noMove="1" noResize="1" noEditPoints="1" noAdjustHandles="1" noChangeArrowheads="1" noChangeShapeType="1" noTextEdit="1"/>
              </p:cNvSpPr>
              <p:nvPr/>
            </p:nvSpPr>
            <p:spPr>
              <a:xfrm>
                <a:off x="6098147" y="1594477"/>
                <a:ext cx="2173992" cy="369332"/>
              </a:xfrm>
              <a:prstGeom prst="rect">
                <a:avLst/>
              </a:prstGeom>
              <a:blipFill>
                <a:blip r:embed="rId7"/>
                <a:stretch>
                  <a:fillRect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8142161" y="2795488"/>
                <a:ext cx="2130840" cy="461665"/>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f>
                        <m:fPr>
                          <m:type m:val="lin"/>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𝑒</m:t>
                          </m:r>
                        </m:num>
                        <m:den>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𝑦</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𝑧</m:t>
                              </m:r>
                            </m:e>
                          </m:d>
                        </m:den>
                      </m:f>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24" name="矩形 23"/>
              <p:cNvSpPr>
                <a:spLocks noRot="1" noChangeAspect="1" noMove="1" noResize="1" noEditPoints="1" noAdjustHandles="1" noChangeArrowheads="1" noChangeShapeType="1" noTextEdit="1"/>
              </p:cNvSpPr>
              <p:nvPr/>
            </p:nvSpPr>
            <p:spPr>
              <a:xfrm>
                <a:off x="6106621" y="2096615"/>
                <a:ext cx="1647502" cy="369332"/>
              </a:xfrm>
              <a:prstGeom prst="rect">
                <a:avLst/>
              </a:prstGeom>
              <a:blipFill>
                <a:blip r:embed="rId8"/>
                <a:stretch>
                  <a:fillRect t="-114754" b="-177049"/>
                </a:stretch>
              </a:blipFill>
            </p:spPr>
            <p:txBody>
              <a:bodyPr/>
              <a:lstStyle/>
              <a:p>
                <a:r>
                  <a:rPr lang="zh-CN" altLang="en-US">
                    <a:noFill/>
                  </a:rPr>
                  <a:t> </a:t>
                </a:r>
              </a:p>
            </p:txBody>
          </p:sp>
        </mc:Fallback>
      </mc:AlternateContent>
      <p:sp>
        <p:nvSpPr>
          <p:cNvPr id="27" name="矩形 26"/>
          <p:cNvSpPr/>
          <p:nvPr/>
        </p:nvSpPr>
        <p:spPr>
          <a:xfrm>
            <a:off x="467307" y="2647137"/>
            <a:ext cx="3709670" cy="584775"/>
          </a:xfrm>
          <a:prstGeom prst="rect">
            <a:avLst/>
          </a:prstGeom>
          <a:ln w="19050">
            <a:solidFill>
              <a:srgbClr val="007F57"/>
            </a:solidFill>
            <a:prstDash val="sysDash"/>
          </a:ln>
        </p:spPr>
        <p:txBody>
          <a:bodyPr wrap="none">
            <a:spAutoFit/>
          </a:bodyPr>
          <a:lstStyle/>
          <a:p>
            <a:pPr fontAlgn="base">
              <a:spcBef>
                <a:spcPts val="800"/>
              </a:spcBef>
              <a:spcAft>
                <a:spcPts val="800"/>
              </a:spcAft>
            </a:pPr>
            <a:r>
              <a:rPr lang="en-US" altLang="zh-CN" sz="3200" b="1" i="1" kern="0" dirty="0">
                <a:solidFill>
                  <a:srgbClr val="07144B"/>
                </a:solidFill>
                <a:latin typeface="Times New Roman" panose="02020603050405020304" pitchFamily="18" charset="0"/>
                <a:cs typeface="Times New Roman" panose="02020603050405020304" pitchFamily="18" charset="0"/>
              </a:rPr>
              <a:t>Error in a difference</a:t>
            </a:r>
            <a:endParaRPr lang="zh-CN" altLang="zh-CN" sz="3200" b="1" i="1" kern="0" dirty="0">
              <a:solidFill>
                <a:srgbClr val="07144B"/>
              </a:solidFill>
              <a:latin typeface="Times New Roman" panose="02020603050405020304" pitchFamily="18" charset="0"/>
              <a:cs typeface="Times New Roman" panose="02020603050405020304" pitchFamily="18" charset="0"/>
            </a:endParaRPr>
          </a:p>
        </p:txBody>
      </p:sp>
      <p:sp>
        <p:nvSpPr>
          <p:cNvPr id="29" name="矩形 28"/>
          <p:cNvSpPr/>
          <p:nvPr/>
        </p:nvSpPr>
        <p:spPr>
          <a:xfrm>
            <a:off x="508497" y="3908697"/>
            <a:ext cx="3299301" cy="584775"/>
          </a:xfrm>
          <a:prstGeom prst="rect">
            <a:avLst/>
          </a:prstGeom>
        </p:spPr>
        <p:txBody>
          <a:bodyPr wrap="none">
            <a:spAutoFit/>
          </a:bodyPr>
          <a:lstStyle/>
          <a:p>
            <a:pPr fontAlgn="base">
              <a:spcBef>
                <a:spcPts val="800"/>
              </a:spcBef>
              <a:spcAft>
                <a:spcPts val="800"/>
              </a:spcAft>
            </a:pPr>
            <a:r>
              <a:rPr lang="en-US" altLang="zh-CN" sz="3200" b="1" i="1" kern="0" dirty="0">
                <a:solidFill>
                  <a:srgbClr val="07144B"/>
                </a:solidFill>
                <a:latin typeface="Times New Roman" panose="02020603050405020304" pitchFamily="18" charset="0"/>
                <a:cs typeface="Times New Roman" panose="02020603050405020304" pitchFamily="18" charset="0"/>
              </a:rPr>
              <a:t>Error in a product</a:t>
            </a:r>
            <a:endParaRPr lang="zh-CN" altLang="zh-CN" sz="3200" b="1" i="1" kern="0" dirty="0">
              <a:solidFill>
                <a:srgbClr val="07144B"/>
              </a:solidFill>
              <a:latin typeface="Times New Roman" panose="02020603050405020304" pitchFamily="18" charset="0"/>
              <a:cs typeface="Times New Roman" panose="02020603050405020304" pitchFamily="18" charset="0"/>
            </a:endParaRPr>
          </a:p>
        </p:txBody>
      </p:sp>
      <p:sp>
        <p:nvSpPr>
          <p:cNvPr id="31" name="矩形 30"/>
          <p:cNvSpPr/>
          <p:nvPr/>
        </p:nvSpPr>
        <p:spPr>
          <a:xfrm>
            <a:off x="824618" y="5008153"/>
            <a:ext cx="3389069" cy="584775"/>
          </a:xfrm>
          <a:prstGeom prst="rect">
            <a:avLst/>
          </a:prstGeom>
        </p:spPr>
        <p:txBody>
          <a:bodyPr wrap="none">
            <a:spAutoFit/>
          </a:bodyPr>
          <a:lstStyle/>
          <a:p>
            <a:pPr fontAlgn="base">
              <a:spcBef>
                <a:spcPts val="800"/>
              </a:spcBef>
              <a:spcAft>
                <a:spcPts val="800"/>
              </a:spcAft>
            </a:pPr>
            <a:r>
              <a:rPr lang="en-US" altLang="zh-CN" sz="3200" b="1" i="1" kern="0" dirty="0">
                <a:solidFill>
                  <a:srgbClr val="07144B"/>
                </a:solidFill>
                <a:latin typeface="Times New Roman" panose="02020603050405020304" pitchFamily="18" charset="0"/>
                <a:cs typeface="Times New Roman" panose="02020603050405020304" pitchFamily="18" charset="0"/>
              </a:rPr>
              <a:t>Error in a quotient</a:t>
            </a:r>
            <a:endParaRPr lang="zh-CN" altLang="zh-CN" sz="3200" b="1" i="1" kern="0" dirty="0">
              <a:solidFill>
                <a:srgbClr val="07144B"/>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3" name="矩形 32"/>
              <p:cNvSpPr/>
              <p:nvPr/>
            </p:nvSpPr>
            <p:spPr>
              <a:xfrm>
                <a:off x="6096001" y="3787586"/>
                <a:ext cx="2064155" cy="549766"/>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r>
                        <a:rPr lang="zh-CN" altLang="en-US" sz="2400" i="1">
                          <a:solidFill>
                            <a:prstClr val="black"/>
                          </a:solidFill>
                          <a:latin typeface="Cambria Math" panose="02040503050406030204" pitchFamily="18" charset="0"/>
                        </a:rPr>
                        <m:t>𝑒</m:t>
                      </m:r>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𝑏</m:t>
                              </m:r>
                            </m:e>
                            <m:sup>
                              <m:r>
                                <a:rPr lang="zh-CN" altLang="en-US" sz="2400">
                                  <a:solidFill>
                                    <a:prstClr val="black"/>
                                  </a:solidFill>
                                  <a:latin typeface="Cambria Math" panose="02040503050406030204" pitchFamily="18" charset="0"/>
                                </a:rPr>
                                <m:t>2</m:t>
                              </m:r>
                            </m:sup>
                          </m:sSup>
                        </m:e>
                      </m:rad>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33" name="矩形 32"/>
              <p:cNvSpPr>
                <a:spLocks noRot="1" noChangeAspect="1" noMove="1" noResize="1" noEditPoints="1" noAdjustHandles="1" noChangeArrowheads="1" noChangeShapeType="1" noTextEdit="1"/>
              </p:cNvSpPr>
              <p:nvPr/>
            </p:nvSpPr>
            <p:spPr>
              <a:xfrm>
                <a:off x="4572000" y="2840689"/>
                <a:ext cx="1597104" cy="43544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7191565" y="4524250"/>
                <a:ext cx="2880320" cy="157408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d>
                        <m:dPr>
                          <m:begChr m:val=""/>
                          <m:endChr m:val="}"/>
                          <m:ctrlPr>
                            <a:rPr lang="zh-CN" altLang="en-US" sz="2400" i="1">
                              <a:solidFill>
                                <a:prstClr val="black"/>
                              </a:solidFill>
                              <a:latin typeface="Cambria Math" panose="02040503050406030204" pitchFamily="18" charset="0"/>
                            </a:rPr>
                          </m:ctrlPr>
                        </m:dPr>
                        <m:e>
                          <m:eqArr>
                            <m:eqArrPr>
                              <m:ctrlPr>
                                <a:rPr lang="zh-CN" altLang="en-US" sz="2400" i="1">
                                  <a:solidFill>
                                    <a:prstClr val="black"/>
                                  </a:solidFill>
                                  <a:latin typeface="Cambria Math" panose="02040503050406030204" pitchFamily="18" charset="0"/>
                                </a:rPr>
                              </m:ctrlPr>
                            </m:eqArrPr>
                            <m:e>
                              <m:r>
                                <a:rPr lang="zh-CN" altLang="en-US" sz="2400">
                                  <a:solidFill>
                                    <a:prstClr val="black"/>
                                  </a:solidFill>
                                  <a:latin typeface="Cambria Math" panose="02040503050406030204" pitchFamily="18" charset="0"/>
                                </a:rPr>
                                <m:t>&amp;</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𝑄</m:t>
                                  </m:r>
                                </m:e>
                                <m:sub>
                                  <m:r>
                                    <m:rPr>
                                      <m:sty m:val="p"/>
                                    </m:rPr>
                                    <a:rPr lang="zh-CN" altLang="en-US" sz="2400">
                                      <a:solidFill>
                                        <a:prstClr val="black"/>
                                      </a:solidFill>
                                      <a:latin typeface="Cambria Math" panose="02040503050406030204" pitchFamily="18" charset="0"/>
                                    </a:rPr>
                                    <m:t>max</m:t>
                                  </m:r>
                                </m:sub>
                              </m:sSub>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𝑦</m:t>
                                  </m:r>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𝑏</m:t>
                                      </m:r>
                                    </m:e>
                                  </m:d>
                                </m:num>
                                <m:den>
                                  <m:r>
                                    <a:rPr lang="zh-CN" altLang="en-US" sz="2400" i="1">
                                      <a:solidFill>
                                        <a:prstClr val="black"/>
                                      </a:solidFill>
                                      <a:latin typeface="Cambria Math" panose="02040503050406030204" pitchFamily="18" charset="0"/>
                                    </a:rPr>
                                    <m:t>𝑧</m:t>
                                  </m:r>
                                </m:den>
                              </m:f>
                            </m:e>
                            <m:e>
                              <m:r>
                                <a:rPr lang="zh-CN" altLang="en-US" sz="2400">
                                  <a:solidFill>
                                    <a:prstClr val="black"/>
                                  </a:solidFill>
                                  <a:latin typeface="Cambria Math" panose="02040503050406030204" pitchFamily="18" charset="0"/>
                                </a:rPr>
                                <m:t>&amp;</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𝑄</m:t>
                                  </m:r>
                                </m:e>
                                <m:sub>
                                  <m:r>
                                    <m:rPr>
                                      <m:sty m:val="p"/>
                                    </m:rPr>
                                    <a:rPr lang="zh-CN" altLang="en-US" sz="2400">
                                      <a:solidFill>
                                        <a:prstClr val="black"/>
                                      </a:solidFill>
                                      <a:latin typeface="Cambria Math" panose="02040503050406030204" pitchFamily="18" charset="0"/>
                                    </a:rPr>
                                    <m:t>min</m:t>
                                  </m:r>
                                </m:sub>
                              </m:sSub>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𝑦</m:t>
                                  </m:r>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𝑏</m:t>
                                      </m:r>
                                    </m:e>
                                  </m:d>
                                </m:num>
                                <m:den>
                                  <m:r>
                                    <a:rPr lang="zh-CN" altLang="en-US" sz="2400" i="1">
                                      <a:solidFill>
                                        <a:prstClr val="black"/>
                                      </a:solidFill>
                                      <a:latin typeface="Cambria Math" panose="02040503050406030204" pitchFamily="18" charset="0"/>
                                    </a:rPr>
                                    <m:t>𝑧</m:t>
                                  </m:r>
                                </m:den>
                              </m:f>
                            </m:e>
                          </m:eqArr>
                        </m:e>
                      </m:d>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35" name="矩形 34"/>
              <p:cNvSpPr>
                <a:spLocks noRot="1" noChangeAspect="1" noMove="1" noResize="1" noEditPoints="1" noAdjustHandles="1" noChangeArrowheads="1" noChangeShapeType="1" noTextEdit="1"/>
              </p:cNvSpPr>
              <p:nvPr/>
            </p:nvSpPr>
            <p:spPr>
              <a:xfrm>
                <a:off x="5393674" y="3393187"/>
                <a:ext cx="2160240" cy="1203599"/>
              </a:xfrm>
              <a:prstGeom prst="rect">
                <a:avLst/>
              </a:prstGeom>
              <a:blipFill>
                <a:blip r:embed="rId10"/>
                <a:stretch>
                  <a:fillRect r="-56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00362868"/>
      </p:ext>
    </p:extLst>
  </p:cSld>
  <p:clrMapOvr>
    <a:masterClrMapping/>
  </p:clrMapOvr>
  <p:transition spd="slow" advClick="0" advTm="3000">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4" name="矩形 3"/>
              <p:cNvSpPr/>
              <p:nvPr/>
            </p:nvSpPr>
            <p:spPr>
              <a:xfrm>
                <a:off x="431371" y="791884"/>
                <a:ext cx="11233248" cy="2744021"/>
              </a:xfrm>
              <a:prstGeom prst="rect">
                <a:avLst/>
              </a:prstGeom>
            </p:spPr>
            <p:txBody>
              <a:bodyPr wrap="square">
                <a:spAutoFit/>
              </a:bodyPr>
              <a:lstStyle/>
              <a:p>
                <a:pPr algn="just" fontAlgn="base">
                  <a:spcBef>
                    <a:spcPct val="0"/>
                  </a:spcBef>
                </a:pPr>
                <a:r>
                  <a:rPr lang="en-US" altLang="zh-CN" sz="2667" b="1" i="1" kern="100" dirty="0">
                    <a:solidFill>
                      <a:srgbClr val="FF0000"/>
                    </a:solidFill>
                    <a:latin typeface="Times New Roman" panose="02020603050405020304" pitchFamily="18" charset="0"/>
                    <a:cs typeface="Times New Roman" panose="02020603050405020304" pitchFamily="18" charset="0"/>
                  </a:rPr>
                  <a:t>Example</a:t>
                </a:r>
                <a:r>
                  <a:rPr lang="en-US" altLang="zh-CN" sz="2667" b="1" kern="100" dirty="0">
                    <a:solidFill>
                      <a:srgbClr val="07144B"/>
                    </a:solidFill>
                    <a:latin typeface="Times New Roman" panose="02020603050405020304" pitchFamily="18" charset="0"/>
                    <a:cs typeface="Times New Roman" panose="02020603050405020304" pitchFamily="18" charset="0"/>
                  </a:rPr>
                  <a:t>: A</a:t>
                </a:r>
                <a:r>
                  <a:rPr lang="en-US" altLang="zh-CN" sz="2667" b="1" kern="0" dirty="0">
                    <a:solidFill>
                      <a:srgbClr val="07144B"/>
                    </a:solidFill>
                    <a:latin typeface="Times New Roman" panose="02020603050405020304" pitchFamily="18" charset="0"/>
                    <a:cs typeface="Times New Roman" panose="02020603050405020304" pitchFamily="18" charset="0"/>
                  </a:rPr>
                  <a:t> </a:t>
                </a:r>
                <a:r>
                  <a:rPr lang="en-US" altLang="zh-CN" sz="2667" b="1" kern="0" dirty="0">
                    <a:solidFill>
                      <a:srgbClr val="07144B"/>
                    </a:solidFill>
                    <a:latin typeface="Times New Roman" panose="02020603050405020304" pitchFamily="18" charset="0"/>
                    <a:cs typeface="Times New Roman" panose="02020603050405020304" pitchFamily="18" charset="0"/>
                  </a:rPr>
                  <a:t>circuit requirement for a resistance of 550</a:t>
                </a:r>
                <a14:m>
                  <m:oMath xmlns:m="http://schemas.openxmlformats.org/officeDocument/2006/math">
                    <m:r>
                      <a:rPr lang="en-US" altLang="zh-CN" sz="2667" b="1" i="1" kern="0">
                        <a:solidFill>
                          <a:srgbClr val="07144B"/>
                        </a:solidFill>
                        <a:latin typeface="Cambria Math" panose="02040503050406030204" pitchFamily="18" charset="0"/>
                        <a:cs typeface="Times New Roman" panose="02020603050405020304" pitchFamily="18" charset="0"/>
                      </a:rPr>
                      <m:t>𝛀</m:t>
                    </m:r>
                  </m:oMath>
                </a14:m>
                <a:r>
                  <a:rPr lang="en-US" altLang="zh-CN" sz="2667" b="1" kern="0" dirty="0">
                    <a:solidFill>
                      <a:srgbClr val="07144B"/>
                    </a:solidFill>
                    <a:latin typeface="Times New Roman" panose="02020603050405020304" pitchFamily="18" charset="0"/>
                    <a:cs typeface="Times New Roman" panose="02020603050405020304" pitchFamily="18" charset="0"/>
                  </a:rPr>
                  <a:t> is satisfied by connecting together two resistors of nominal values 220</a:t>
                </a:r>
                <a14:m>
                  <m:oMath xmlns:m="http://schemas.openxmlformats.org/officeDocument/2006/math">
                    <m:r>
                      <a:rPr lang="en-US" altLang="zh-CN" sz="2667" b="1" i="1" kern="0">
                        <a:solidFill>
                          <a:srgbClr val="07144B"/>
                        </a:solidFill>
                        <a:latin typeface="Cambria Math" panose="02040503050406030204" pitchFamily="18" charset="0"/>
                        <a:cs typeface="Times New Roman" panose="02020603050405020304" pitchFamily="18" charset="0"/>
                      </a:rPr>
                      <m:t>𝛀</m:t>
                    </m:r>
                  </m:oMath>
                </a14:m>
                <a:r>
                  <a:rPr lang="en-US" altLang="zh-CN" sz="2667" b="1" kern="0" dirty="0">
                    <a:solidFill>
                      <a:srgbClr val="07144B"/>
                    </a:solidFill>
                    <a:latin typeface="Times New Roman" panose="02020603050405020304" pitchFamily="18" charset="0"/>
                    <a:cs typeface="Times New Roman" panose="02020603050405020304" pitchFamily="18" charset="0"/>
                  </a:rPr>
                  <a:t> and 330</a:t>
                </a:r>
                <a14:m>
                  <m:oMath xmlns:m="http://schemas.openxmlformats.org/officeDocument/2006/math">
                    <m:r>
                      <a:rPr lang="en-US" altLang="zh-CN" sz="2667" b="1" i="1" kern="0">
                        <a:solidFill>
                          <a:srgbClr val="07144B"/>
                        </a:solidFill>
                        <a:latin typeface="Cambria Math" panose="02040503050406030204" pitchFamily="18" charset="0"/>
                        <a:cs typeface="Times New Roman" panose="02020603050405020304" pitchFamily="18" charset="0"/>
                      </a:rPr>
                      <m:t>𝛀</m:t>
                    </m:r>
                  </m:oMath>
                </a14:m>
                <a:r>
                  <a:rPr lang="en-US" altLang="zh-CN" sz="2667" b="1" i="1" kern="0" dirty="0">
                    <a:solidFill>
                      <a:srgbClr val="07144B"/>
                    </a:solidFill>
                    <a:latin typeface="Times New Roman" panose="02020603050405020304" pitchFamily="18" charset="0"/>
                    <a:cs typeface="Times New Roman" panose="02020603050405020304" pitchFamily="18" charset="0"/>
                  </a:rPr>
                  <a:t> </a:t>
                </a:r>
                <a:r>
                  <a:rPr lang="en-US" altLang="zh-CN" sz="2667" b="1" kern="0" dirty="0">
                    <a:solidFill>
                      <a:srgbClr val="07144B"/>
                    </a:solidFill>
                    <a:latin typeface="Times New Roman" panose="02020603050405020304" pitchFamily="18" charset="0"/>
                    <a:cs typeface="Times New Roman" panose="02020603050405020304" pitchFamily="18" charset="0"/>
                  </a:rPr>
                  <a:t>in series. If each resistor has a tolerance of </a:t>
                </a:r>
                <a14:m>
                  <m:oMath xmlns:m="http://schemas.openxmlformats.org/officeDocument/2006/math">
                    <m:r>
                      <a:rPr lang="en-US" altLang="zh-CN" sz="2667" b="1" kern="0">
                        <a:solidFill>
                          <a:srgbClr val="07144B"/>
                        </a:solidFill>
                        <a:latin typeface="Cambria Math" panose="02040503050406030204" pitchFamily="18" charset="0"/>
                        <a:cs typeface="Times New Roman" panose="02020603050405020304" pitchFamily="18" charset="0"/>
                      </a:rPr>
                      <m:t>±</m:t>
                    </m:r>
                  </m:oMath>
                </a14:m>
                <a:r>
                  <a:rPr lang="en-US" altLang="zh-CN" sz="2667" b="1" kern="0" dirty="0">
                    <a:solidFill>
                      <a:srgbClr val="07144B"/>
                    </a:solidFill>
                    <a:latin typeface="Times New Roman" panose="02020603050405020304" pitchFamily="18" charset="0"/>
                    <a:cs typeface="Times New Roman" panose="02020603050405020304" pitchFamily="18" charset="0"/>
                  </a:rPr>
                  <a:t>2%, the error in the sum is given by </a:t>
                </a:r>
                <a14:m>
                  <m:oMath xmlns:m="http://schemas.openxmlformats.org/officeDocument/2006/math">
                    <m:r>
                      <a:rPr lang="en-US" altLang="zh-CN" sz="2667" b="1" i="1" kern="0">
                        <a:solidFill>
                          <a:srgbClr val="07144B"/>
                        </a:solidFill>
                        <a:latin typeface="Cambria Math" panose="02040503050406030204" pitchFamily="18" charset="0"/>
                        <a:cs typeface="Times New Roman" panose="02020603050405020304" pitchFamily="18" charset="0"/>
                      </a:rPr>
                      <m:t>𝒆</m:t>
                    </m:r>
                    <m:r>
                      <a:rPr lang="en-US" altLang="zh-CN" sz="2667" b="1" kern="0">
                        <a:solidFill>
                          <a:srgbClr val="07144B"/>
                        </a:solidFill>
                        <a:latin typeface="Cambria Math" panose="02040503050406030204" pitchFamily="18" charset="0"/>
                        <a:cs typeface="Times New Roman" panose="02020603050405020304" pitchFamily="18" charset="0"/>
                      </a:rPr>
                      <m:t>=</m:t>
                    </m:r>
                    <m:rad>
                      <m:radPr>
                        <m:degHide m:val="on"/>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67" b="1" i="1" kern="0">
                                    <a:solidFill>
                                      <a:srgbClr val="07144B"/>
                                    </a:solidFill>
                                    <a:latin typeface="Cambria Math" panose="02040503050406030204" pitchFamily="18" charset="0"/>
                                    <a:cs typeface="Times New Roman" panose="02020603050405020304" pitchFamily="18" charset="0"/>
                                  </a:rPr>
                                  <m:t>𝟎</m:t>
                                </m:r>
                                <m:r>
                                  <a:rPr lang="en-US" altLang="zh-CN" sz="2667" b="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𝟎𝟐</m:t>
                                </m:r>
                                <m:r>
                                  <a:rPr lang="en-US" altLang="zh-CN" sz="2667" b="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𝟐𝟐𝟎</m:t>
                                </m:r>
                              </m:e>
                            </m:d>
                          </m:e>
                          <m:sup>
                            <m:r>
                              <a:rPr lang="en-US" altLang="zh-CN" sz="2667" b="1" i="1" kern="0">
                                <a:solidFill>
                                  <a:srgbClr val="07144B"/>
                                </a:solidFill>
                                <a:latin typeface="Cambria Math" panose="02040503050406030204" pitchFamily="18" charset="0"/>
                                <a:cs typeface="Times New Roman" panose="02020603050405020304" pitchFamily="18" charset="0"/>
                              </a:rPr>
                              <m:t>𝟐</m:t>
                            </m:r>
                          </m:sup>
                        </m:sSup>
                        <m:r>
                          <a:rPr lang="en-US" altLang="zh-CN" sz="2667" b="1" kern="0">
                            <a:solidFill>
                              <a:srgbClr val="07144B"/>
                            </a:solidFill>
                            <a:latin typeface="Cambria Math" panose="02040503050406030204" pitchFamily="18" charset="0"/>
                            <a:cs typeface="Times New Roman" panose="02020603050405020304" pitchFamily="18" charset="0"/>
                          </a:rPr>
                          <m:t>+</m:t>
                        </m:r>
                        <m:sSup>
                          <m:sSupPr>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67" b="1" i="1" kern="0">
                                    <a:solidFill>
                                      <a:srgbClr val="07144B"/>
                                    </a:solidFill>
                                    <a:latin typeface="Cambria Math" panose="02040503050406030204" pitchFamily="18" charset="0"/>
                                    <a:cs typeface="Times New Roman" panose="02020603050405020304" pitchFamily="18" charset="0"/>
                                  </a:rPr>
                                  <m:t>𝟎</m:t>
                                </m:r>
                                <m:r>
                                  <a:rPr lang="en-US" altLang="zh-CN" sz="2667" b="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𝟎𝟐</m:t>
                                </m:r>
                                <m:r>
                                  <a:rPr lang="en-US" altLang="zh-CN" sz="2667" b="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𝟑𝟑𝟎</m:t>
                                </m:r>
                              </m:e>
                            </m:d>
                          </m:e>
                          <m:sup>
                            <m:r>
                              <a:rPr lang="en-US" altLang="zh-CN" sz="2667" b="1" i="1" kern="0">
                                <a:solidFill>
                                  <a:srgbClr val="07144B"/>
                                </a:solidFill>
                                <a:latin typeface="Cambria Math" panose="02040503050406030204" pitchFamily="18" charset="0"/>
                                <a:cs typeface="Times New Roman" panose="02020603050405020304" pitchFamily="18" charset="0"/>
                              </a:rPr>
                              <m:t>𝟐</m:t>
                            </m:r>
                          </m:sup>
                        </m:sSup>
                      </m:e>
                    </m:rad>
                    <m:r>
                      <a:rPr lang="en-US" altLang="zh-CN" sz="2667" b="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𝟕</m:t>
                    </m:r>
                    <m:r>
                      <a:rPr lang="en-US" altLang="zh-CN" sz="2667" b="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𝟗𝟑</m:t>
                    </m:r>
                  </m:oMath>
                </a14:m>
                <a:r>
                  <a:rPr lang="en-US" altLang="zh-CN" sz="2667" b="1" kern="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667" b="1" i="1" kern="0">
                        <a:solidFill>
                          <a:srgbClr val="07144B"/>
                        </a:solidFill>
                        <a:latin typeface="Cambria Math" panose="02040503050406030204" pitchFamily="18" charset="0"/>
                        <a:cs typeface="Times New Roman" panose="02020603050405020304" pitchFamily="18" charset="0"/>
                      </a:rPr>
                      <m:t>𝒇</m:t>
                    </m:r>
                    <m:r>
                      <a:rPr lang="en-US" altLang="zh-CN" sz="2667" b="1" kern="0">
                        <a:solidFill>
                          <a:srgbClr val="07144B"/>
                        </a:solidFill>
                        <a:latin typeface="Cambria Math" panose="02040503050406030204" pitchFamily="18" charset="0"/>
                        <a:cs typeface="Times New Roman" panose="02020603050405020304" pitchFamily="18" charset="0"/>
                      </a:rPr>
                      <m:t>=</m:t>
                    </m:r>
                    <m:f>
                      <m:fPr>
                        <m:type m:val="lin"/>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67" b="1" i="1" kern="0">
                            <a:solidFill>
                              <a:srgbClr val="07144B"/>
                            </a:solidFill>
                            <a:latin typeface="Cambria Math" panose="02040503050406030204" pitchFamily="18" charset="0"/>
                            <a:cs typeface="Times New Roman" panose="02020603050405020304" pitchFamily="18" charset="0"/>
                          </a:rPr>
                          <m:t>𝟕</m:t>
                        </m:r>
                        <m:r>
                          <a:rPr lang="en-US" altLang="zh-CN" sz="2667" b="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𝟗𝟑</m:t>
                        </m:r>
                      </m:num>
                      <m:den>
                        <m:r>
                          <a:rPr lang="en-US" altLang="zh-CN" sz="2667" b="1" i="1" kern="0">
                            <a:solidFill>
                              <a:srgbClr val="07144B"/>
                            </a:solidFill>
                            <a:latin typeface="Cambria Math" panose="02040503050406030204" pitchFamily="18" charset="0"/>
                            <a:cs typeface="Times New Roman" panose="02020603050405020304" pitchFamily="18" charset="0"/>
                          </a:rPr>
                          <m:t>𝟓𝟓𝟎</m:t>
                        </m:r>
                      </m:den>
                    </m:f>
                    <m:r>
                      <a:rPr lang="en-US" altLang="zh-CN" sz="2667" b="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𝟎</m:t>
                    </m:r>
                    <m:r>
                      <a:rPr lang="en-US" altLang="zh-CN" sz="2667" b="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𝟎𝟏𝟒𝟒</m:t>
                    </m:r>
                    <m:r>
                      <a:rPr lang="en-US" altLang="zh-CN" sz="2667" b="1" kern="0">
                        <a:solidFill>
                          <a:srgbClr val="07144B"/>
                        </a:solidFill>
                        <a:latin typeface="Cambria Math" panose="02040503050406030204" pitchFamily="18" charset="0"/>
                        <a:cs typeface="Times New Roman" panose="02020603050405020304" pitchFamily="18" charset="0"/>
                      </a:rPr>
                      <m:t>.</m:t>
                    </m:r>
                  </m:oMath>
                </a14:m>
                <a:endParaRPr lang="zh-CN" altLang="zh-CN" sz="2667" b="1" kern="100" dirty="0">
                  <a:solidFill>
                    <a:srgbClr val="07144B"/>
                  </a:solidFill>
                  <a:latin typeface="等线" panose="02010600030101010101" pitchFamily="2" charset="-122"/>
                  <a:cs typeface="Times New Roman" panose="02020603050405020304" pitchFamily="18" charset="0"/>
                </a:endParaRPr>
              </a:p>
              <a:p>
                <a:pPr fontAlgn="base">
                  <a:spcBef>
                    <a:spcPts val="800"/>
                  </a:spcBef>
                  <a:spcAft>
                    <a:spcPts val="800"/>
                  </a:spcAft>
                </a:pPr>
                <a:r>
                  <a:rPr lang="en-US" altLang="zh-CN" sz="2667" b="1" kern="100" dirty="0">
                    <a:solidFill>
                      <a:srgbClr val="07144B"/>
                    </a:solidFill>
                    <a:latin typeface="Times New Roman" panose="02020603050405020304" pitchFamily="18" charset="0"/>
                    <a:cs typeface="Times New Roman" panose="02020603050405020304" pitchFamily="18" charset="0"/>
                  </a:rPr>
                  <a:t>Thus the total resistance </a:t>
                </a:r>
                <a:r>
                  <a:rPr lang="en-US" altLang="zh-CN" sz="2667" b="1" i="1" kern="100" dirty="0">
                    <a:solidFill>
                      <a:srgbClr val="07144B"/>
                    </a:solidFill>
                    <a:latin typeface="Times New Roman" panose="02020603050405020304" pitchFamily="18" charset="0"/>
                    <a:cs typeface="Times New Roman" panose="02020603050405020304" pitchFamily="18" charset="0"/>
                  </a:rPr>
                  <a:t>S</a:t>
                </a:r>
                <a:r>
                  <a:rPr lang="en-US" altLang="zh-CN" sz="2667" b="1" kern="100" dirty="0">
                    <a:solidFill>
                      <a:srgbClr val="07144B"/>
                    </a:solidFill>
                    <a:latin typeface="Times New Roman" panose="02020603050405020304" pitchFamily="18" charset="0"/>
                    <a:cs typeface="Times New Roman" panose="02020603050405020304" pitchFamily="18" charset="0"/>
                  </a:rPr>
                  <a:t> can be expressed as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𝑺</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𝟓𝟓𝟎</m:t>
                    </m:r>
                    <m:r>
                      <a:rPr lang="en-US" altLang="zh-CN" sz="2667" b="1" kern="100">
                        <a:solidFill>
                          <a:srgbClr val="07144B"/>
                        </a:solidFill>
                        <a:latin typeface="Cambria Math" panose="02040503050406030204" pitchFamily="18" charset="0"/>
                        <a:cs typeface="Times New Roman" panose="02020603050405020304" pitchFamily="18" charset="0"/>
                      </a:rPr>
                      <m:t>𝛀</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𝟕</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𝟗𝟑</m:t>
                    </m:r>
                    <m:r>
                      <a:rPr lang="en-US" altLang="zh-CN" sz="2667" b="1" kern="100">
                        <a:solidFill>
                          <a:srgbClr val="07144B"/>
                        </a:solidFill>
                        <a:latin typeface="Cambria Math" panose="02040503050406030204" pitchFamily="18" charset="0"/>
                        <a:cs typeface="Times New Roman" panose="02020603050405020304" pitchFamily="18" charset="0"/>
                      </a:rPr>
                      <m:t>𝛀</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or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𝑺</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𝟓𝟓𝟎</m:t>
                    </m:r>
                    <m:r>
                      <a:rPr lang="en-US" altLang="zh-CN" sz="2667" b="1" kern="100">
                        <a:solidFill>
                          <a:srgbClr val="07144B"/>
                        </a:solidFill>
                        <a:latin typeface="Cambria Math" panose="02040503050406030204" pitchFamily="18" charset="0"/>
                        <a:cs typeface="Times New Roman" panose="02020603050405020304" pitchFamily="18" charset="0"/>
                      </a:rPr>
                      <m:t>×</m:t>
                    </m:r>
                    <m:d>
                      <m:dPr>
                        <m:ctrlPr>
                          <a:rPr lang="zh-CN" altLang="zh-CN" sz="2667"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67" b="1" i="1" kern="100">
                            <a:solidFill>
                              <a:srgbClr val="07144B"/>
                            </a:solidFill>
                            <a:latin typeface="Cambria Math" panose="02040503050406030204" pitchFamily="18" charset="0"/>
                            <a:cs typeface="Times New Roman" panose="02020603050405020304" pitchFamily="18" charset="0"/>
                          </a:rPr>
                          <m:t>𝟏</m:t>
                        </m:r>
                        <m:r>
                          <a:rPr lang="en-US" altLang="zh-CN" sz="2667" b="1" i="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𝟎</m:t>
                        </m:r>
                        <m:r>
                          <a:rPr lang="en-US" altLang="zh-CN" sz="2667" b="1" i="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𝟎𝟏𝟒𝟒</m:t>
                        </m:r>
                      </m:e>
                    </m:d>
                    <m:r>
                      <a:rPr lang="en-US" altLang="zh-CN" sz="2667" b="1" kern="100">
                        <a:solidFill>
                          <a:srgbClr val="07144B"/>
                        </a:solidFill>
                        <a:latin typeface="Cambria Math" panose="02040503050406030204" pitchFamily="18" charset="0"/>
                        <a:cs typeface="Times New Roman" panose="02020603050405020304" pitchFamily="18" charset="0"/>
                      </a:rPr>
                      <m:t>𝛀</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that is,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𝑺</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𝟓𝟓𝟎</m:t>
                    </m:r>
                    <m:r>
                      <a:rPr lang="en-US" altLang="zh-CN" sz="2667" b="1" kern="100">
                        <a:solidFill>
                          <a:srgbClr val="07144B"/>
                        </a:solidFill>
                        <a:latin typeface="Cambria Math" panose="02040503050406030204" pitchFamily="18" charset="0"/>
                        <a:cs typeface="Times New Roman" panose="02020603050405020304" pitchFamily="18" charset="0"/>
                      </a:rPr>
                      <m:t>𝛀</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𝟏</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𝟒𝟒</m:t>
                    </m:r>
                    <m:r>
                      <a:rPr lang="en-US" altLang="zh-CN" sz="2667" b="1" kern="100">
                        <a:solidFill>
                          <a:srgbClr val="07144B"/>
                        </a:solidFill>
                        <a:latin typeface="Cambria Math" panose="02040503050406030204" pitchFamily="18" charset="0"/>
                        <a:cs typeface="Times New Roman" panose="02020603050405020304" pitchFamily="18" charset="0"/>
                      </a:rPr>
                      <m:t>%</m:t>
                    </m:r>
                  </m:oMath>
                </a14:m>
                <a:r>
                  <a:rPr lang="en-US" altLang="zh-CN" sz="2667" b="1" kern="100" dirty="0">
                    <a:solidFill>
                      <a:srgbClr val="07144B"/>
                    </a:solidFill>
                    <a:latin typeface="Times New Roman" panose="02020603050405020304" pitchFamily="18" charset="0"/>
                    <a:cs typeface="Times New Roman" panose="02020603050405020304" pitchFamily="18" charset="0"/>
                  </a:rPr>
                  <a:t>.</a:t>
                </a:r>
                <a:endParaRPr lang="zh-CN" altLang="zh-CN" sz="2667" b="1" kern="100" dirty="0">
                  <a:solidFill>
                    <a:srgbClr val="07144B"/>
                  </a:solidFill>
                  <a:latin typeface="等线" panose="02010600030101010101" pitchFamily="2" charset="-122"/>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23528" y="593912"/>
                <a:ext cx="8424936" cy="2080891"/>
              </a:xfrm>
              <a:prstGeom prst="rect">
                <a:avLst/>
              </a:prstGeom>
              <a:blipFill>
                <a:blip r:embed="rId5"/>
                <a:stretch>
                  <a:fillRect l="-724" t="-1462" r="-1592" b="-38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08496" y="3518205"/>
                <a:ext cx="11425269" cy="2641429"/>
              </a:xfrm>
              <a:prstGeom prst="rect">
                <a:avLst/>
              </a:prstGeom>
            </p:spPr>
            <p:txBody>
              <a:bodyPr wrap="square">
                <a:spAutoFit/>
              </a:bodyPr>
              <a:lstStyle/>
              <a:p>
                <a:pPr algn="just" fontAlgn="base">
                  <a:spcBef>
                    <a:spcPts val="800"/>
                  </a:spcBef>
                  <a:spcAft>
                    <a:spcPts val="800"/>
                  </a:spcAft>
                </a:pPr>
                <a:r>
                  <a:rPr lang="en-US" altLang="zh-CN" sz="2667" b="1" i="1" kern="100" dirty="0">
                    <a:solidFill>
                      <a:srgbClr val="FF0000"/>
                    </a:solidFill>
                    <a:latin typeface="Times New Roman" panose="02020603050405020304" pitchFamily="18" charset="0"/>
                    <a:cs typeface="Times New Roman" panose="02020603050405020304" pitchFamily="18" charset="0"/>
                  </a:rPr>
                  <a:t>Example</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kern="0" dirty="0">
                    <a:solidFill>
                      <a:srgbClr val="07144B"/>
                    </a:solidFill>
                    <a:latin typeface="Times New Roman" panose="02020603050405020304" pitchFamily="18" charset="0"/>
                    <a:cs typeface="Times New Roman" panose="02020603050405020304" pitchFamily="18" charset="0"/>
                  </a:rPr>
                  <a:t>A </a:t>
                </a:r>
                <a:r>
                  <a:rPr lang="en-US" altLang="zh-CN" sz="2667" b="1" kern="0" dirty="0">
                    <a:solidFill>
                      <a:srgbClr val="07144B"/>
                    </a:solidFill>
                    <a:latin typeface="Times New Roman" panose="02020603050405020304" pitchFamily="18" charset="0"/>
                    <a:cs typeface="Times New Roman" panose="02020603050405020304" pitchFamily="18" charset="0"/>
                  </a:rPr>
                  <a:t>fluid flow rate is calculated from the difference in pressure measured on both sides of an orifice plate. If the pressure measurements are 50.0 Par and 45.0 Par and the error in both of the pressure measuring instruments is specified as 0.1%, then difference error value for e can be calculated as Equation (1.13), </a:t>
                </a:r>
                <a14:m>
                  <m:oMath xmlns:m="http://schemas.openxmlformats.org/officeDocument/2006/math">
                    <m:r>
                      <a:rPr lang="en-US" altLang="zh-CN" sz="2667" b="1" kern="0">
                        <a:solidFill>
                          <a:srgbClr val="07144B"/>
                        </a:solidFill>
                        <a:latin typeface="Cambria Math" panose="02040503050406030204" pitchFamily="18" charset="0"/>
                        <a:cs typeface="Times New Roman" panose="02020603050405020304" pitchFamily="18" charset="0"/>
                      </a:rPr>
                      <m:t>𝑒</m:t>
                    </m:r>
                    <m:r>
                      <a:rPr lang="en-US" altLang="zh-CN" sz="2667" b="1" kern="0">
                        <a:solidFill>
                          <a:srgbClr val="07144B"/>
                        </a:solidFill>
                        <a:latin typeface="Cambria Math" panose="02040503050406030204" pitchFamily="18" charset="0"/>
                        <a:cs typeface="Times New Roman" panose="02020603050405020304" pitchFamily="18" charset="0"/>
                      </a:rPr>
                      <m:t>=</m:t>
                    </m:r>
                    <m:rad>
                      <m:radPr>
                        <m:degHide m:val="on"/>
                        <m:ctrlPr>
                          <a:rPr lang="zh-CN" altLang="zh-CN" sz="2667" b="1" i="1" kern="0">
                            <a:solidFill>
                              <a:srgbClr val="07144B"/>
                            </a:solidFill>
                            <a:latin typeface="Cambria Math" panose="02040503050406030204" pitchFamily="18" charset="0"/>
                            <a:cs typeface="Times New Roman" panose="02020603050405020304" pitchFamily="18" charset="0"/>
                          </a:rPr>
                        </m:ctrlPr>
                      </m:radPr>
                      <m:deg/>
                      <m:e>
                        <m:sSup>
                          <m:sSupPr>
                            <m:ctrlPr>
                              <a:rPr lang="zh-CN" altLang="zh-CN" sz="2667" b="1" i="1" kern="0">
                                <a:solidFill>
                                  <a:srgbClr val="07144B"/>
                                </a:solidFill>
                                <a:latin typeface="Cambria Math" panose="02040503050406030204" pitchFamily="18" charset="0"/>
                                <a:cs typeface="Times New Roman" panose="02020603050405020304" pitchFamily="18" charset="0"/>
                              </a:rPr>
                            </m:ctrlPr>
                          </m:sSupPr>
                          <m:e>
                            <m:d>
                              <m:dPr>
                                <m:ctrlPr>
                                  <a:rPr lang="zh-CN" altLang="zh-CN" sz="2667" b="1" i="1" kern="0">
                                    <a:solidFill>
                                      <a:srgbClr val="07144B"/>
                                    </a:solidFill>
                                    <a:latin typeface="Cambria Math" panose="02040503050406030204" pitchFamily="18" charset="0"/>
                                    <a:cs typeface="Times New Roman" panose="02020603050405020304" pitchFamily="18" charset="0"/>
                                  </a:rPr>
                                </m:ctrlPr>
                              </m:dPr>
                              <m:e>
                                <m:r>
                                  <a:rPr lang="en-US" altLang="zh-CN" sz="2667" b="1" kern="0">
                                    <a:solidFill>
                                      <a:srgbClr val="07144B"/>
                                    </a:solidFill>
                                    <a:latin typeface="Cambria Math" panose="02040503050406030204" pitchFamily="18" charset="0"/>
                                    <a:cs typeface="Times New Roman" panose="02020603050405020304" pitchFamily="18" charset="0"/>
                                  </a:rPr>
                                  <m:t>0.001×50</m:t>
                                </m:r>
                              </m:e>
                            </m:d>
                          </m:e>
                          <m:sup>
                            <m:r>
                              <a:rPr lang="en-US" altLang="zh-CN" sz="2667" b="1" kern="0">
                                <a:solidFill>
                                  <a:srgbClr val="07144B"/>
                                </a:solidFill>
                                <a:latin typeface="Cambria Math" panose="02040503050406030204" pitchFamily="18" charset="0"/>
                                <a:cs typeface="Times New Roman" panose="02020603050405020304" pitchFamily="18" charset="0"/>
                              </a:rPr>
                              <m:t>2</m:t>
                            </m:r>
                          </m:sup>
                        </m:sSup>
                        <m:r>
                          <a:rPr lang="en-US" altLang="zh-CN" sz="2667" b="1" kern="0">
                            <a:solidFill>
                              <a:srgbClr val="07144B"/>
                            </a:solidFill>
                            <a:latin typeface="Cambria Math" panose="02040503050406030204" pitchFamily="18" charset="0"/>
                            <a:cs typeface="Times New Roman" panose="02020603050405020304" pitchFamily="18" charset="0"/>
                          </a:rPr>
                          <m:t>+</m:t>
                        </m:r>
                        <m:sSup>
                          <m:sSupPr>
                            <m:ctrlPr>
                              <a:rPr lang="zh-CN" altLang="zh-CN" sz="2667" b="1" i="1" kern="0">
                                <a:solidFill>
                                  <a:srgbClr val="07144B"/>
                                </a:solidFill>
                                <a:latin typeface="Cambria Math" panose="02040503050406030204" pitchFamily="18" charset="0"/>
                                <a:cs typeface="Times New Roman" panose="02020603050405020304" pitchFamily="18" charset="0"/>
                              </a:rPr>
                            </m:ctrlPr>
                          </m:sSupPr>
                          <m:e>
                            <m:d>
                              <m:dPr>
                                <m:ctrlPr>
                                  <a:rPr lang="zh-CN" altLang="zh-CN" sz="2667" b="1" i="1" kern="0">
                                    <a:solidFill>
                                      <a:srgbClr val="07144B"/>
                                    </a:solidFill>
                                    <a:latin typeface="Cambria Math" panose="02040503050406030204" pitchFamily="18" charset="0"/>
                                    <a:cs typeface="Times New Roman" panose="02020603050405020304" pitchFamily="18" charset="0"/>
                                  </a:rPr>
                                </m:ctrlPr>
                              </m:dPr>
                              <m:e>
                                <m:r>
                                  <a:rPr lang="en-US" altLang="zh-CN" sz="2667" b="1" kern="0">
                                    <a:solidFill>
                                      <a:srgbClr val="07144B"/>
                                    </a:solidFill>
                                    <a:latin typeface="Cambria Math" panose="02040503050406030204" pitchFamily="18" charset="0"/>
                                    <a:cs typeface="Times New Roman" panose="02020603050405020304" pitchFamily="18" charset="0"/>
                                  </a:rPr>
                                  <m:t>0.001×45</m:t>
                                </m:r>
                              </m:e>
                            </m:d>
                          </m:e>
                          <m:sup>
                            <m:r>
                              <a:rPr lang="en-US" altLang="zh-CN" sz="2667" b="1" kern="0">
                                <a:solidFill>
                                  <a:srgbClr val="07144B"/>
                                </a:solidFill>
                                <a:latin typeface="Cambria Math" panose="02040503050406030204" pitchFamily="18" charset="0"/>
                                <a:cs typeface="Times New Roman" panose="02020603050405020304" pitchFamily="18" charset="0"/>
                              </a:rPr>
                              <m:t>2</m:t>
                            </m:r>
                          </m:sup>
                        </m:sSup>
                      </m:e>
                    </m:rad>
                    <m:r>
                      <a:rPr lang="en-US" altLang="zh-CN" sz="2667" b="1" kern="0">
                        <a:solidFill>
                          <a:srgbClr val="07144B"/>
                        </a:solidFill>
                        <a:latin typeface="Cambria Math" panose="02040503050406030204" pitchFamily="18" charset="0"/>
                        <a:cs typeface="Times New Roman" panose="02020603050405020304" pitchFamily="18" charset="0"/>
                      </a:rPr>
                      <m:t>=0.0673</m:t>
                    </m:r>
                  </m:oMath>
                </a14:m>
                <a:r>
                  <a:rPr lang="en-US" altLang="zh-CN" sz="2667" b="1" kern="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667" b="1" kern="0">
                        <a:solidFill>
                          <a:srgbClr val="07144B"/>
                        </a:solidFill>
                        <a:latin typeface="Cambria Math" panose="02040503050406030204" pitchFamily="18" charset="0"/>
                        <a:cs typeface="Times New Roman" panose="02020603050405020304" pitchFamily="18" charset="0"/>
                      </a:rPr>
                      <m:t>𝑓</m:t>
                    </m:r>
                    <m:r>
                      <a:rPr lang="en-US" altLang="zh-CN" sz="2667" b="1" kern="0">
                        <a:solidFill>
                          <a:srgbClr val="07144B"/>
                        </a:solidFill>
                        <a:latin typeface="Cambria Math" panose="02040503050406030204" pitchFamily="18" charset="0"/>
                        <a:cs typeface="Times New Roman" panose="02020603050405020304" pitchFamily="18" charset="0"/>
                      </a:rPr>
                      <m:t>=</m:t>
                    </m:r>
                    <m:f>
                      <m:fPr>
                        <m:type m:val="lin"/>
                        <m:ctrlPr>
                          <a:rPr lang="zh-CN" altLang="zh-CN" sz="2667" b="1" i="1" kern="0">
                            <a:solidFill>
                              <a:srgbClr val="07144B"/>
                            </a:solidFill>
                            <a:latin typeface="Cambria Math" panose="02040503050406030204" pitchFamily="18" charset="0"/>
                            <a:cs typeface="Times New Roman" panose="02020603050405020304" pitchFamily="18" charset="0"/>
                          </a:rPr>
                        </m:ctrlPr>
                      </m:fPr>
                      <m:num>
                        <m:r>
                          <a:rPr lang="en-US" altLang="zh-CN" sz="2667" b="1" kern="0">
                            <a:solidFill>
                              <a:srgbClr val="07144B"/>
                            </a:solidFill>
                            <a:latin typeface="Cambria Math" panose="02040503050406030204" pitchFamily="18" charset="0"/>
                            <a:cs typeface="Times New Roman" panose="02020603050405020304" pitchFamily="18" charset="0"/>
                          </a:rPr>
                          <m:t>0.0673</m:t>
                        </m:r>
                      </m:num>
                      <m:den>
                        <m:r>
                          <a:rPr lang="en-US" altLang="zh-CN" sz="2667" b="1" kern="0">
                            <a:solidFill>
                              <a:srgbClr val="07144B"/>
                            </a:solidFill>
                            <a:latin typeface="Cambria Math" panose="02040503050406030204" pitchFamily="18" charset="0"/>
                            <a:cs typeface="Times New Roman" panose="02020603050405020304" pitchFamily="18" charset="0"/>
                          </a:rPr>
                          <m:t>5</m:t>
                        </m:r>
                      </m:den>
                    </m:f>
                    <m:r>
                      <a:rPr lang="en-US" altLang="zh-CN" sz="2667" b="1" kern="0">
                        <a:solidFill>
                          <a:srgbClr val="07144B"/>
                        </a:solidFill>
                        <a:latin typeface="Cambria Math" panose="02040503050406030204" pitchFamily="18" charset="0"/>
                        <a:cs typeface="Times New Roman" panose="02020603050405020304" pitchFamily="18" charset="0"/>
                      </a:rPr>
                      <m:t>=0.01346</m:t>
                    </m:r>
                  </m:oMath>
                </a14:m>
                <a:r>
                  <a:rPr lang="en-US" altLang="zh-CN" sz="2667" b="1" kern="0" dirty="0">
                    <a:solidFill>
                      <a:srgbClr val="07144B"/>
                    </a:solidFill>
                    <a:latin typeface="Times New Roman" panose="02020603050405020304" pitchFamily="18" charset="0"/>
                    <a:cs typeface="Times New Roman" panose="02020603050405020304" pitchFamily="18" charset="0"/>
                  </a:rPr>
                  <a:t>.</a:t>
                </a:r>
                <a:endParaRPr lang="zh-CN" altLang="zh-CN" sz="2667" b="1" kern="0" dirty="0">
                  <a:solidFill>
                    <a:srgbClr val="07144B"/>
                  </a:solidFill>
                  <a:latin typeface="Times New Roman" panose="02020603050405020304" pitchFamily="18" charset="0"/>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381372" y="2638654"/>
                <a:ext cx="8568952" cy="2003947"/>
              </a:xfrm>
              <a:prstGeom prst="rect">
                <a:avLst/>
              </a:prstGeom>
              <a:blipFill>
                <a:blip r:embed="rId6"/>
                <a:stretch>
                  <a:fillRect l="-783" t="-1824" r="-1566" b="-352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48103044"/>
      </p:ext>
    </p:extLst>
  </p:cSld>
  <p:clrMapOvr>
    <a:masterClrMapping/>
  </p:clrMapOvr>
  <p:transition spd="slow" advClick="0" advTm="3000">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4" name="矩形 3"/>
              <p:cNvSpPr/>
              <p:nvPr/>
            </p:nvSpPr>
            <p:spPr>
              <a:xfrm>
                <a:off x="431371" y="791884"/>
                <a:ext cx="11233248" cy="1784015"/>
              </a:xfrm>
              <a:prstGeom prst="rect">
                <a:avLst/>
              </a:prstGeom>
            </p:spPr>
            <p:txBody>
              <a:bodyPr wrap="square">
                <a:spAutoFit/>
              </a:bodyPr>
              <a:lstStyle/>
              <a:p>
                <a:pPr fontAlgn="base">
                  <a:spcBef>
                    <a:spcPct val="0"/>
                  </a:spcBef>
                  <a:spcAft>
                    <a:spcPct val="0"/>
                  </a:spcAft>
                </a:pPr>
                <a:r>
                  <a:rPr lang="en-US" altLang="zh-CN" sz="2667" b="1" i="1" kern="100" dirty="0">
                    <a:solidFill>
                      <a:srgbClr val="FF0000"/>
                    </a:solidFill>
                    <a:latin typeface="Times New Roman" panose="02020603050405020304" pitchFamily="18" charset="0"/>
                    <a:cs typeface="Times New Roman" panose="02020603050405020304" pitchFamily="18" charset="0"/>
                  </a:rPr>
                  <a:t>Example</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kern="0" dirty="0">
                    <a:solidFill>
                      <a:srgbClr val="07144B"/>
                    </a:solidFill>
                    <a:latin typeface="Times New Roman" panose="02020603050405020304" pitchFamily="18" charset="0"/>
                    <a:cs typeface="Times New Roman" panose="02020603050405020304" pitchFamily="18" charset="0"/>
                  </a:rPr>
                  <a:t>If the power in a circuit is calculated from measurements of voltage and current in which the calculated maximum errors are 1% and 2% respectively, then the maximum likely error in the power value is </a:t>
                </a:r>
                <a14:m>
                  <m:oMath xmlns:m="http://schemas.openxmlformats.org/officeDocument/2006/math">
                    <m:r>
                      <a:rPr lang="en-US" altLang="zh-CN" sz="2667" b="1" kern="0">
                        <a:solidFill>
                          <a:srgbClr val="07144B"/>
                        </a:solidFill>
                        <a:latin typeface="Cambria Math" panose="02040503050406030204" pitchFamily="18" charset="0"/>
                        <a:cs typeface="Times New Roman" panose="02020603050405020304" pitchFamily="18" charset="0"/>
                      </a:rPr>
                      <m:t>±</m:t>
                    </m:r>
                    <m:rad>
                      <m:radPr>
                        <m:degHide m:val="on"/>
                        <m:ctrlPr>
                          <a:rPr lang="zh-CN" altLang="zh-CN" sz="2667" b="1" i="1" kern="0">
                            <a:solidFill>
                              <a:srgbClr val="07144B"/>
                            </a:solidFill>
                            <a:latin typeface="Cambria Math" panose="02040503050406030204" pitchFamily="18" charset="0"/>
                            <a:cs typeface="Times New Roman" panose="02020603050405020304" pitchFamily="18" charset="0"/>
                          </a:rPr>
                        </m:ctrlPr>
                      </m:radPr>
                      <m:deg/>
                      <m:e>
                        <m:r>
                          <a:rPr lang="en-US" altLang="zh-CN" sz="2667" b="1" kern="0">
                            <a:solidFill>
                              <a:srgbClr val="07144B"/>
                            </a:solidFill>
                            <a:latin typeface="Cambria Math" panose="02040503050406030204" pitchFamily="18" charset="0"/>
                            <a:cs typeface="Times New Roman" panose="02020603050405020304" pitchFamily="18" charset="0"/>
                          </a:rPr>
                          <m:t>0.0</m:t>
                        </m:r>
                        <m:sSup>
                          <m:sSupPr>
                            <m:ctrlPr>
                              <a:rPr lang="zh-CN" altLang="zh-CN" sz="2667" b="1" i="1" kern="0">
                                <a:solidFill>
                                  <a:srgbClr val="07144B"/>
                                </a:solidFill>
                                <a:latin typeface="Cambria Math" panose="02040503050406030204" pitchFamily="18" charset="0"/>
                                <a:cs typeface="Times New Roman" panose="02020603050405020304" pitchFamily="18" charset="0"/>
                              </a:rPr>
                            </m:ctrlPr>
                          </m:sSupPr>
                          <m:e>
                            <m:r>
                              <a:rPr lang="en-US" altLang="zh-CN" sz="2667" b="1" kern="0">
                                <a:solidFill>
                                  <a:srgbClr val="07144B"/>
                                </a:solidFill>
                                <a:latin typeface="Cambria Math" panose="02040503050406030204" pitchFamily="18" charset="0"/>
                                <a:cs typeface="Times New Roman" panose="02020603050405020304" pitchFamily="18" charset="0"/>
                              </a:rPr>
                              <m:t>1</m:t>
                            </m:r>
                          </m:e>
                          <m:sup>
                            <m:r>
                              <a:rPr lang="en-US" altLang="zh-CN" sz="2667" b="1" kern="0">
                                <a:solidFill>
                                  <a:srgbClr val="07144B"/>
                                </a:solidFill>
                                <a:latin typeface="Cambria Math" panose="02040503050406030204" pitchFamily="18" charset="0"/>
                                <a:cs typeface="Times New Roman" panose="02020603050405020304" pitchFamily="18" charset="0"/>
                              </a:rPr>
                              <m:t>2</m:t>
                            </m:r>
                          </m:sup>
                        </m:sSup>
                        <m:r>
                          <a:rPr lang="en-US" altLang="zh-CN" sz="2667" b="1" kern="0">
                            <a:solidFill>
                              <a:srgbClr val="07144B"/>
                            </a:solidFill>
                            <a:latin typeface="Cambria Math" panose="02040503050406030204" pitchFamily="18" charset="0"/>
                            <a:cs typeface="Times New Roman" panose="02020603050405020304" pitchFamily="18" charset="0"/>
                          </a:rPr>
                          <m:t>+</m:t>
                        </m:r>
                        <m:sSup>
                          <m:sSupPr>
                            <m:ctrlPr>
                              <a:rPr lang="zh-CN" altLang="zh-CN" sz="2667" b="1" i="1" kern="0">
                                <a:solidFill>
                                  <a:srgbClr val="07144B"/>
                                </a:solidFill>
                                <a:latin typeface="Cambria Math" panose="02040503050406030204" pitchFamily="18" charset="0"/>
                                <a:cs typeface="Times New Roman" panose="02020603050405020304" pitchFamily="18" charset="0"/>
                              </a:rPr>
                            </m:ctrlPr>
                          </m:sSupPr>
                          <m:e>
                            <m:r>
                              <a:rPr lang="en-US" altLang="zh-CN" sz="2667" b="1" kern="0">
                                <a:solidFill>
                                  <a:srgbClr val="07144B"/>
                                </a:solidFill>
                                <a:latin typeface="Cambria Math" panose="02040503050406030204" pitchFamily="18" charset="0"/>
                                <a:cs typeface="Times New Roman" panose="02020603050405020304" pitchFamily="18" charset="0"/>
                              </a:rPr>
                              <m:t>0.02</m:t>
                            </m:r>
                          </m:e>
                          <m:sup>
                            <m:r>
                              <a:rPr lang="en-US" altLang="zh-CN" sz="2667" b="1" kern="0">
                                <a:solidFill>
                                  <a:srgbClr val="07144B"/>
                                </a:solidFill>
                                <a:latin typeface="Cambria Math" panose="02040503050406030204" pitchFamily="18" charset="0"/>
                                <a:cs typeface="Times New Roman" panose="02020603050405020304" pitchFamily="18" charset="0"/>
                              </a:rPr>
                              <m:t>2</m:t>
                            </m:r>
                          </m:sup>
                        </m:sSup>
                      </m:e>
                    </m:rad>
                    <m:r>
                      <a:rPr lang="en-US" altLang="zh-CN" sz="2667" b="1" kern="0">
                        <a:solidFill>
                          <a:srgbClr val="07144B"/>
                        </a:solidFill>
                        <a:latin typeface="Cambria Math" panose="02040503050406030204" pitchFamily="18" charset="0"/>
                        <a:cs typeface="Times New Roman" panose="02020603050405020304" pitchFamily="18" charset="0"/>
                      </a:rPr>
                      <m:t>=±0.022=±2.2%</m:t>
                    </m:r>
                  </m:oMath>
                </a14:m>
                <a:r>
                  <a:rPr lang="en-US" altLang="zh-CN" sz="2667" b="1" kern="0" dirty="0">
                    <a:solidFill>
                      <a:srgbClr val="07144B"/>
                    </a:solidFill>
                    <a:latin typeface="Times New Roman" panose="02020603050405020304" pitchFamily="18" charset="0"/>
                    <a:cs typeface="Times New Roman" panose="02020603050405020304" pitchFamily="18" charset="0"/>
                  </a:rPr>
                  <a:t>.</a:t>
                </a:r>
                <a:endParaRPr lang="zh-CN" altLang="zh-CN" sz="2667" b="1" kern="0" dirty="0">
                  <a:solidFill>
                    <a:srgbClr val="07144B"/>
                  </a:solidFill>
                  <a:latin typeface="Times New Roman" panose="020206030504050203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23528" y="593912"/>
                <a:ext cx="8424936" cy="1400833"/>
              </a:xfrm>
              <a:prstGeom prst="rect">
                <a:avLst/>
              </a:prstGeom>
              <a:blipFill>
                <a:blip r:embed="rId5"/>
                <a:stretch>
                  <a:fillRect l="-724" t="-2174" b="-69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08496" y="3518206"/>
                <a:ext cx="11425269" cy="1784015"/>
              </a:xfrm>
              <a:prstGeom prst="rect">
                <a:avLst/>
              </a:prstGeom>
            </p:spPr>
            <p:txBody>
              <a:bodyPr wrap="square">
                <a:spAutoFit/>
              </a:bodyPr>
              <a:lstStyle/>
              <a:p>
                <a:pPr fontAlgn="base">
                  <a:spcBef>
                    <a:spcPct val="0"/>
                  </a:spcBef>
                  <a:spcAft>
                    <a:spcPct val="0"/>
                  </a:spcAft>
                </a:pPr>
                <a:r>
                  <a:rPr lang="en-US" altLang="zh-CN" sz="2667" b="1" i="1" kern="100" dirty="0">
                    <a:solidFill>
                      <a:srgbClr val="FF0000"/>
                    </a:solidFill>
                    <a:latin typeface="Times New Roman" panose="02020603050405020304" pitchFamily="18" charset="0"/>
                    <a:cs typeface="Times New Roman" panose="02020603050405020304" pitchFamily="18" charset="0"/>
                  </a:rPr>
                  <a:t>Example</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kern="0" dirty="0">
                    <a:solidFill>
                      <a:srgbClr val="07144B"/>
                    </a:solidFill>
                    <a:latin typeface="Times New Roman" panose="02020603050405020304" pitchFamily="18" charset="0"/>
                    <a:cs typeface="Times New Roman" panose="02020603050405020304" pitchFamily="18" charset="0"/>
                  </a:rPr>
                  <a:t>If the density of a substance is calculated from measurements of its mass and volume where the errors are 2% and 3% respectively, then the maximum likely error in the density value </a:t>
                </a:r>
                <a:r>
                  <a:rPr lang="en-US" altLang="zh-CN" sz="2667" b="1" kern="0" dirty="0">
                    <a:solidFill>
                      <a:srgbClr val="07144B"/>
                    </a:solidFill>
                    <a:latin typeface="Times New Roman" panose="02020603050405020304" pitchFamily="18" charset="0"/>
                    <a:cs typeface="Times New Roman" panose="02020603050405020304" pitchFamily="18" charset="0"/>
                  </a:rPr>
                  <a:t>is </a:t>
                </a:r>
                <a14:m>
                  <m:oMath xmlns:m="http://schemas.openxmlformats.org/officeDocument/2006/math">
                    <m:r>
                      <a:rPr lang="en-US" altLang="zh-CN" sz="2667" b="1" kern="0">
                        <a:solidFill>
                          <a:srgbClr val="07144B"/>
                        </a:solidFill>
                        <a:latin typeface="Cambria Math" panose="02040503050406030204" pitchFamily="18" charset="0"/>
                        <a:cs typeface="Times New Roman" panose="02020603050405020304" pitchFamily="18" charset="0"/>
                      </a:rPr>
                      <m:t>±</m:t>
                    </m:r>
                    <m:rad>
                      <m:radPr>
                        <m:degHide m:val="on"/>
                        <m:ctrlPr>
                          <a:rPr lang="zh-CN" altLang="zh-CN" sz="2667" b="1" i="1" kern="0">
                            <a:solidFill>
                              <a:srgbClr val="07144B"/>
                            </a:solidFill>
                            <a:latin typeface="Cambria Math" panose="02040503050406030204" pitchFamily="18" charset="0"/>
                            <a:cs typeface="Times New Roman" panose="02020603050405020304" pitchFamily="18" charset="0"/>
                          </a:rPr>
                        </m:ctrlPr>
                      </m:radPr>
                      <m:deg/>
                      <m:e>
                        <m:r>
                          <a:rPr lang="en-US" altLang="zh-CN" sz="2667" b="1" kern="0">
                            <a:solidFill>
                              <a:srgbClr val="07144B"/>
                            </a:solidFill>
                            <a:latin typeface="Cambria Math" panose="02040503050406030204" pitchFamily="18" charset="0"/>
                            <a:cs typeface="Times New Roman" panose="02020603050405020304" pitchFamily="18" charset="0"/>
                          </a:rPr>
                          <m:t>0.0</m:t>
                        </m:r>
                        <m:sSup>
                          <m:sSupPr>
                            <m:ctrlPr>
                              <a:rPr lang="zh-CN" altLang="zh-CN" sz="2667" b="1" i="1" kern="0">
                                <a:solidFill>
                                  <a:srgbClr val="07144B"/>
                                </a:solidFill>
                                <a:latin typeface="Cambria Math" panose="02040503050406030204" pitchFamily="18" charset="0"/>
                                <a:cs typeface="Times New Roman" panose="02020603050405020304" pitchFamily="18" charset="0"/>
                              </a:rPr>
                            </m:ctrlPr>
                          </m:sSupPr>
                          <m:e>
                            <m:r>
                              <a:rPr lang="en-US" altLang="zh-CN" sz="2667" b="1" kern="0">
                                <a:solidFill>
                                  <a:srgbClr val="07144B"/>
                                </a:solidFill>
                                <a:latin typeface="Cambria Math" panose="02040503050406030204" pitchFamily="18" charset="0"/>
                                <a:cs typeface="Times New Roman" panose="02020603050405020304" pitchFamily="18" charset="0"/>
                              </a:rPr>
                              <m:t>2</m:t>
                            </m:r>
                          </m:e>
                          <m:sup>
                            <m:r>
                              <a:rPr lang="en-US" altLang="zh-CN" sz="2667" b="1" kern="0">
                                <a:solidFill>
                                  <a:srgbClr val="07144B"/>
                                </a:solidFill>
                                <a:latin typeface="Cambria Math" panose="02040503050406030204" pitchFamily="18" charset="0"/>
                                <a:cs typeface="Times New Roman" panose="02020603050405020304" pitchFamily="18" charset="0"/>
                              </a:rPr>
                              <m:t>2</m:t>
                            </m:r>
                          </m:sup>
                        </m:sSup>
                        <m:r>
                          <a:rPr lang="en-US" altLang="zh-CN" sz="2667" b="1" kern="0">
                            <a:solidFill>
                              <a:srgbClr val="07144B"/>
                            </a:solidFill>
                            <a:latin typeface="Cambria Math" panose="02040503050406030204" pitchFamily="18" charset="0"/>
                            <a:cs typeface="Times New Roman" panose="02020603050405020304" pitchFamily="18" charset="0"/>
                          </a:rPr>
                          <m:t>+</m:t>
                        </m:r>
                        <m:sSup>
                          <m:sSupPr>
                            <m:ctrlPr>
                              <a:rPr lang="zh-CN" altLang="zh-CN" sz="2667" b="1" i="1" kern="0">
                                <a:solidFill>
                                  <a:srgbClr val="07144B"/>
                                </a:solidFill>
                                <a:latin typeface="Cambria Math" panose="02040503050406030204" pitchFamily="18" charset="0"/>
                                <a:cs typeface="Times New Roman" panose="02020603050405020304" pitchFamily="18" charset="0"/>
                              </a:rPr>
                            </m:ctrlPr>
                          </m:sSupPr>
                          <m:e>
                            <m:r>
                              <a:rPr lang="en-US" altLang="zh-CN" sz="2667" b="1" kern="0">
                                <a:solidFill>
                                  <a:srgbClr val="07144B"/>
                                </a:solidFill>
                                <a:latin typeface="Cambria Math" panose="02040503050406030204" pitchFamily="18" charset="0"/>
                                <a:cs typeface="Times New Roman" panose="02020603050405020304" pitchFamily="18" charset="0"/>
                              </a:rPr>
                              <m:t>0.03</m:t>
                            </m:r>
                          </m:e>
                          <m:sup>
                            <m:r>
                              <a:rPr lang="en-US" altLang="zh-CN" sz="2667" b="1" kern="0">
                                <a:solidFill>
                                  <a:srgbClr val="07144B"/>
                                </a:solidFill>
                                <a:latin typeface="Cambria Math" panose="02040503050406030204" pitchFamily="18" charset="0"/>
                                <a:cs typeface="Times New Roman" panose="02020603050405020304" pitchFamily="18" charset="0"/>
                              </a:rPr>
                              <m:t>2</m:t>
                            </m:r>
                          </m:sup>
                        </m:sSup>
                      </m:e>
                    </m:rad>
                    <m:r>
                      <a:rPr lang="en-US" altLang="zh-CN" sz="2667" b="1" kern="0">
                        <a:solidFill>
                          <a:srgbClr val="07144B"/>
                        </a:solidFill>
                        <a:latin typeface="Cambria Math" panose="02040503050406030204" pitchFamily="18" charset="0"/>
                        <a:cs typeface="Times New Roman" panose="02020603050405020304" pitchFamily="18" charset="0"/>
                      </a:rPr>
                      <m:t>=±0.036=±3.6%</m:t>
                    </m:r>
                  </m:oMath>
                </a14:m>
                <a:r>
                  <a:rPr lang="en-US" altLang="zh-CN" sz="2667" b="1" kern="0" dirty="0">
                    <a:solidFill>
                      <a:srgbClr val="07144B"/>
                    </a:solidFill>
                    <a:latin typeface="Times New Roman" panose="02020603050405020304" pitchFamily="18" charset="0"/>
                    <a:cs typeface="Times New Roman" panose="02020603050405020304" pitchFamily="18" charset="0"/>
                  </a:rPr>
                  <a:t>.</a:t>
                </a:r>
                <a:endParaRPr lang="zh-CN" altLang="zh-CN" sz="2667" b="1" kern="0" dirty="0">
                  <a:solidFill>
                    <a:srgbClr val="07144B"/>
                  </a:solidFill>
                  <a:latin typeface="Times New Roman" panose="02020603050405020304" pitchFamily="18" charset="0"/>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381372" y="2638654"/>
                <a:ext cx="8568952" cy="1400833"/>
              </a:xfrm>
              <a:prstGeom prst="rect">
                <a:avLst/>
              </a:prstGeom>
              <a:blipFill>
                <a:blip r:embed="rId6"/>
                <a:stretch>
                  <a:fillRect l="-783" t="-2609" r="-427" b="-69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4768864"/>
      </p:ext>
    </p:extLst>
  </p:cSld>
  <p:clrMapOvr>
    <a:masterClrMapping/>
  </p:clrMapOvr>
  <p:transition spd="slow" advClick="0" advTm="3000">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Statistical Analysis of Measurements</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3" name="矩形 2"/>
          <p:cNvSpPr/>
          <p:nvPr/>
        </p:nvSpPr>
        <p:spPr>
          <a:xfrm>
            <a:off x="244670" y="724591"/>
            <a:ext cx="10741460" cy="584775"/>
          </a:xfrm>
          <a:prstGeom prst="rect">
            <a:avLst/>
          </a:prstGeom>
        </p:spPr>
        <p:txBody>
          <a:bodyPr wrap="square">
            <a:spAutoFit/>
          </a:bodyPr>
          <a:lstStyle/>
          <a:p>
            <a:pPr fontAlgn="base">
              <a:spcBef>
                <a:spcPct val="0"/>
              </a:spcBef>
              <a:spcAft>
                <a:spcPct val="0"/>
              </a:spcAft>
            </a:pPr>
            <a:r>
              <a:rPr lang="en-US" altLang="zh-CN" sz="32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Total </a:t>
            </a:r>
            <a:r>
              <a:rPr lang="en-US" altLang="zh-CN" sz="32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Error of Combining Multiple Measurements</a:t>
            </a:r>
            <a:endParaRPr lang="zh-CN" altLang="en-US" sz="32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p:cNvSpPr/>
              <p:nvPr/>
            </p:nvSpPr>
            <p:spPr>
              <a:xfrm>
                <a:off x="239350" y="1340145"/>
                <a:ext cx="11425269" cy="4590680"/>
              </a:xfrm>
              <a:prstGeom prst="rect">
                <a:avLst/>
              </a:prstGeom>
            </p:spPr>
            <p:txBody>
              <a:bodyPr wrap="square">
                <a:spAutoFit/>
              </a:bodyPr>
              <a:lstStyle/>
              <a:p>
                <a:pPr algn="just" fontAlgn="base">
                  <a:spcBef>
                    <a:spcPct val="0"/>
                  </a:spcBef>
                </a:pPr>
                <a:r>
                  <a:rPr lang="en-US" altLang="zh-CN" sz="2667" b="1" i="1" kern="100" dirty="0">
                    <a:solidFill>
                      <a:srgbClr val="FF0000"/>
                    </a:solidFill>
                    <a:latin typeface="Times New Roman" panose="02020603050405020304" pitchFamily="18" charset="0"/>
                    <a:cs typeface="Times New Roman" panose="02020603050405020304" pitchFamily="18" charset="0"/>
                  </a:rPr>
                  <a:t>Example</a:t>
                </a:r>
                <a:r>
                  <a:rPr lang="en-US" altLang="zh-CN" sz="2667" b="1" kern="100" dirty="0">
                    <a:solidFill>
                      <a:srgbClr val="FF0000"/>
                    </a:solidFill>
                    <a:latin typeface="Times New Roman" panose="02020603050405020304" pitchFamily="18" charset="0"/>
                    <a:cs typeface="Times New Roman" panose="02020603050405020304" pitchFamily="18" charset="0"/>
                  </a:rPr>
                  <a:t>: </a:t>
                </a:r>
                <a:r>
                  <a:rPr lang="en-US" altLang="zh-CN" sz="2667" b="1" kern="100" dirty="0">
                    <a:solidFill>
                      <a:srgbClr val="07144B"/>
                    </a:solidFill>
                    <a:latin typeface="Times New Roman" panose="02020603050405020304" pitchFamily="18" charset="0"/>
                    <a:cs typeface="Times New Roman" panose="02020603050405020304" pitchFamily="18" charset="0"/>
                  </a:rPr>
                  <a:t>A </a:t>
                </a:r>
                <a:r>
                  <a:rPr lang="en-US" altLang="zh-CN" sz="2667" b="1" kern="100" dirty="0">
                    <a:solidFill>
                      <a:srgbClr val="07144B"/>
                    </a:solidFill>
                    <a:latin typeface="Times New Roman" panose="02020603050405020304" pitchFamily="18" charset="0"/>
                    <a:cs typeface="Times New Roman" panose="02020603050405020304" pitchFamily="18" charset="0"/>
                  </a:rPr>
                  <a:t>rectangular-sided block has edges of lengths </a:t>
                </a:r>
                <a:r>
                  <a:rPr lang="en-US" altLang="zh-CN" sz="2667" b="1" i="1" kern="100" dirty="0">
                    <a:solidFill>
                      <a:srgbClr val="07144B"/>
                    </a:solidFill>
                    <a:latin typeface="Times New Roman" panose="02020603050405020304" pitchFamily="18" charset="0"/>
                    <a:cs typeface="Times New Roman" panose="02020603050405020304" pitchFamily="18" charset="0"/>
                  </a:rPr>
                  <a:t>a</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i="1" kern="100" dirty="0">
                    <a:solidFill>
                      <a:srgbClr val="07144B"/>
                    </a:solidFill>
                    <a:latin typeface="Times New Roman" panose="02020603050405020304" pitchFamily="18" charset="0"/>
                    <a:cs typeface="Times New Roman" panose="02020603050405020304" pitchFamily="18" charset="0"/>
                  </a:rPr>
                  <a:t>b </a:t>
                </a:r>
                <a:r>
                  <a:rPr lang="en-US" altLang="zh-CN" sz="2667" b="1" kern="100" dirty="0">
                    <a:solidFill>
                      <a:srgbClr val="07144B"/>
                    </a:solidFill>
                    <a:latin typeface="Times New Roman" panose="02020603050405020304" pitchFamily="18" charset="0"/>
                    <a:cs typeface="Times New Roman" panose="02020603050405020304" pitchFamily="18" charset="0"/>
                  </a:rPr>
                  <a:t>and </a:t>
                </a:r>
                <a:r>
                  <a:rPr lang="en-US" altLang="zh-CN" sz="2667" b="1" i="1" kern="100" dirty="0">
                    <a:solidFill>
                      <a:srgbClr val="07144B"/>
                    </a:solidFill>
                    <a:latin typeface="Times New Roman" panose="02020603050405020304" pitchFamily="18" charset="0"/>
                    <a:cs typeface="Times New Roman" panose="02020603050405020304" pitchFamily="18" charset="0"/>
                  </a:rPr>
                  <a:t>c</a:t>
                </a:r>
                <a:r>
                  <a:rPr lang="en-US" altLang="zh-CN" sz="2667" b="1" kern="100" dirty="0">
                    <a:solidFill>
                      <a:srgbClr val="07144B"/>
                    </a:solidFill>
                    <a:latin typeface="Times New Roman" panose="02020603050405020304" pitchFamily="18" charset="0"/>
                    <a:cs typeface="Times New Roman" panose="02020603050405020304" pitchFamily="18" charset="0"/>
                  </a:rPr>
                  <a:t>, and its mass is </a:t>
                </a:r>
                <a:r>
                  <a:rPr lang="en-US" altLang="zh-CN" sz="2667" b="1" i="1" kern="100" dirty="0">
                    <a:solidFill>
                      <a:srgbClr val="07144B"/>
                    </a:solidFill>
                    <a:latin typeface="Times New Roman" panose="02020603050405020304" pitchFamily="18" charset="0"/>
                    <a:cs typeface="Times New Roman" panose="02020603050405020304" pitchFamily="18" charset="0"/>
                  </a:rPr>
                  <a:t>m</a:t>
                </a:r>
                <a:r>
                  <a:rPr lang="en-US" altLang="zh-CN" sz="2667" b="1" kern="100" dirty="0">
                    <a:solidFill>
                      <a:srgbClr val="07144B"/>
                    </a:solidFill>
                    <a:latin typeface="Times New Roman" panose="02020603050405020304" pitchFamily="18" charset="0"/>
                    <a:cs typeface="Times New Roman" panose="02020603050405020304" pitchFamily="18" charset="0"/>
                  </a:rPr>
                  <a:t>. If the values and possible errors in quantities </a:t>
                </a:r>
                <a:r>
                  <a:rPr lang="en-US" altLang="zh-CN" sz="2667" b="1" i="1" kern="100" dirty="0">
                    <a:solidFill>
                      <a:srgbClr val="07144B"/>
                    </a:solidFill>
                    <a:latin typeface="Times New Roman" panose="02020603050405020304" pitchFamily="18" charset="0"/>
                    <a:cs typeface="Times New Roman" panose="02020603050405020304" pitchFamily="18" charset="0"/>
                  </a:rPr>
                  <a:t>a</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i="1" kern="100" dirty="0">
                    <a:solidFill>
                      <a:srgbClr val="07144B"/>
                    </a:solidFill>
                    <a:latin typeface="Times New Roman" panose="02020603050405020304" pitchFamily="18" charset="0"/>
                    <a:cs typeface="Times New Roman" panose="02020603050405020304" pitchFamily="18" charset="0"/>
                  </a:rPr>
                  <a:t>b</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i="1" kern="100" dirty="0">
                    <a:solidFill>
                      <a:srgbClr val="07144B"/>
                    </a:solidFill>
                    <a:latin typeface="Times New Roman" panose="02020603050405020304" pitchFamily="18" charset="0"/>
                    <a:cs typeface="Times New Roman" panose="02020603050405020304" pitchFamily="18" charset="0"/>
                  </a:rPr>
                  <a:t>c</a:t>
                </a:r>
                <a:r>
                  <a:rPr lang="en-US" altLang="zh-CN" sz="2667" b="1" kern="100" dirty="0">
                    <a:solidFill>
                      <a:srgbClr val="07144B"/>
                    </a:solidFill>
                    <a:latin typeface="Times New Roman" panose="02020603050405020304" pitchFamily="18" charset="0"/>
                    <a:cs typeface="Times New Roman" panose="02020603050405020304" pitchFamily="18" charset="0"/>
                  </a:rPr>
                  <a:t>, and </a:t>
                </a:r>
                <a:r>
                  <a:rPr lang="en-US" altLang="zh-CN" sz="2667" b="1" i="1" kern="100" dirty="0">
                    <a:solidFill>
                      <a:srgbClr val="07144B"/>
                    </a:solidFill>
                    <a:latin typeface="Times New Roman" panose="02020603050405020304" pitchFamily="18" charset="0"/>
                    <a:cs typeface="Times New Roman" panose="02020603050405020304" pitchFamily="18" charset="0"/>
                  </a:rPr>
                  <a:t>m </a:t>
                </a:r>
                <a:r>
                  <a:rPr lang="en-US" altLang="zh-CN" sz="2667" b="1" kern="100" dirty="0">
                    <a:solidFill>
                      <a:srgbClr val="07144B"/>
                    </a:solidFill>
                    <a:latin typeface="Times New Roman" panose="02020603050405020304" pitchFamily="18" charset="0"/>
                    <a:cs typeface="Times New Roman" panose="02020603050405020304" pitchFamily="18" charset="0"/>
                  </a:rPr>
                  <a:t>are as shown below, calculate the value of density and the possible error in this value.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𝒂</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𝟏𝟎𝟎𝐦𝐦</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𝟏</m:t>
                    </m:r>
                    <m:r>
                      <a:rPr lang="en-US" altLang="zh-CN" sz="2667" b="1" kern="100">
                        <a:solidFill>
                          <a:srgbClr val="07144B"/>
                        </a:solidFill>
                        <a:latin typeface="Cambria Math" panose="02040503050406030204" pitchFamily="18" charset="0"/>
                        <a:cs typeface="Times New Roman" panose="02020603050405020304" pitchFamily="18" charset="0"/>
                      </a:rPr>
                      <m:t>%</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𝒃</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𝟐𝟎𝟎𝐦𝐦</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𝟏</m:t>
                    </m:r>
                    <m:r>
                      <a:rPr lang="en-US" altLang="zh-CN" sz="2667" b="1" kern="100">
                        <a:solidFill>
                          <a:srgbClr val="07144B"/>
                        </a:solidFill>
                        <a:latin typeface="Cambria Math" panose="02040503050406030204" pitchFamily="18" charset="0"/>
                        <a:cs typeface="Times New Roman" panose="02020603050405020304" pitchFamily="18" charset="0"/>
                      </a:rPr>
                      <m:t>%</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𝒄</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𝟑𝟎𝟎𝐦𝐦</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𝟏</m:t>
                    </m:r>
                    <m:r>
                      <a:rPr lang="en-US" altLang="zh-CN" sz="2667" b="1" kern="100">
                        <a:solidFill>
                          <a:srgbClr val="07144B"/>
                        </a:solidFill>
                        <a:latin typeface="Cambria Math" panose="02040503050406030204" pitchFamily="18" charset="0"/>
                        <a:cs typeface="Times New Roman" panose="02020603050405020304" pitchFamily="18" charset="0"/>
                      </a:rPr>
                      <m:t>%</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𝒎</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𝟐𝟎𝐤𝐠</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𝟎</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𝟓</m:t>
                    </m:r>
                    <m:r>
                      <a:rPr lang="en-US" altLang="zh-CN" sz="2667" b="1" kern="100">
                        <a:solidFill>
                          <a:srgbClr val="07144B"/>
                        </a:solidFill>
                        <a:latin typeface="Cambria Math" panose="02040503050406030204" pitchFamily="18" charset="0"/>
                        <a:cs typeface="Times New Roman" panose="02020603050405020304" pitchFamily="18" charset="0"/>
                      </a:rPr>
                      <m:t>%</m:t>
                    </m:r>
                  </m:oMath>
                </a14:m>
                <a:r>
                  <a:rPr lang="en-US" altLang="zh-CN" sz="2667" b="1" kern="100" dirty="0">
                    <a:solidFill>
                      <a:srgbClr val="07144B"/>
                    </a:solidFill>
                    <a:latin typeface="Times New Roman" panose="02020603050405020304" pitchFamily="18" charset="0"/>
                    <a:cs typeface="Times New Roman" panose="02020603050405020304" pitchFamily="18" charset="0"/>
                  </a:rPr>
                  <a:t>.</a:t>
                </a:r>
                <a:endParaRPr lang="zh-CN" altLang="zh-CN" sz="2667" b="1" kern="100" dirty="0">
                  <a:solidFill>
                    <a:srgbClr val="07144B"/>
                  </a:solidFill>
                  <a:latin typeface="等线" panose="02010600030101010101" pitchFamily="2" charset="-122"/>
                  <a:cs typeface="Times New Roman" panose="02020603050405020304" pitchFamily="18" charset="0"/>
                </a:endParaRPr>
              </a:p>
              <a:p>
                <a:pPr fontAlgn="base">
                  <a:spcBef>
                    <a:spcPts val="800"/>
                  </a:spcBef>
                  <a:spcAft>
                    <a:spcPts val="800"/>
                  </a:spcAft>
                </a:pPr>
                <a:r>
                  <a:rPr lang="en-US" altLang="zh-CN" sz="2400" b="1" kern="100" dirty="0">
                    <a:solidFill>
                      <a:srgbClr val="FF0000"/>
                    </a:solidFill>
                    <a:latin typeface="Times New Roman" panose="02020603050405020304" pitchFamily="18" charset="0"/>
                    <a:cs typeface="Times New Roman" panose="02020603050405020304" pitchFamily="18" charset="0"/>
                  </a:rPr>
                  <a:t>Solution:</a:t>
                </a:r>
                <a:endParaRPr lang="zh-CN" altLang="zh-CN" sz="2667" kern="100" dirty="0">
                  <a:solidFill>
                    <a:srgbClr val="FF0000"/>
                  </a:solidFill>
                  <a:latin typeface="等线" panose="02010600030101010101" pitchFamily="2" charset="-122"/>
                  <a:cs typeface="Times New Roman" panose="02020603050405020304" pitchFamily="18" charset="0"/>
                </a:endParaRPr>
              </a:p>
              <a:p>
                <a:pPr fontAlgn="base">
                  <a:spcBef>
                    <a:spcPct val="0"/>
                  </a:spcBef>
                </a:pPr>
                <a:r>
                  <a:rPr lang="en-US" altLang="zh-CN" sz="2400" b="1" kern="100" dirty="0">
                    <a:solidFill>
                      <a:srgbClr val="000000"/>
                    </a:solidFill>
                    <a:latin typeface="Times New Roman" panose="02020603050405020304" pitchFamily="18" charset="0"/>
                    <a:cs typeface="Times New Roman" panose="02020603050405020304" pitchFamily="18" charset="0"/>
                  </a:rPr>
                  <a:t>Value of </a:t>
                </a:r>
                <a14:m>
                  <m:oMath xmlns:m="http://schemas.openxmlformats.org/officeDocument/2006/math">
                    <m:r>
                      <a:rPr lang="en-US" altLang="zh-CN" sz="2400" b="1" i="1" kern="100">
                        <a:solidFill>
                          <a:srgbClr val="000000"/>
                        </a:solidFill>
                        <a:latin typeface="Cambria Math" panose="02040503050406030204" pitchFamily="18" charset="0"/>
                        <a:cs typeface="Times New Roman" panose="02020603050405020304" pitchFamily="18" charset="0"/>
                      </a:rPr>
                      <m:t>𝒂𝒃</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𝟐𝟎𝟎𝟎𝟎</m:t>
                    </m:r>
                    <m:sSup>
                      <m:sSup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kern="100">
                            <a:solidFill>
                              <a:srgbClr val="000000"/>
                            </a:solidFill>
                            <a:latin typeface="Cambria Math" panose="02040503050406030204" pitchFamily="18" charset="0"/>
                            <a:cs typeface="Times New Roman" panose="02020603050405020304" pitchFamily="18" charset="0"/>
                          </a:rPr>
                          <m:t>𝐦𝐦</m:t>
                        </m:r>
                      </m:e>
                      <m:sup>
                        <m:r>
                          <a:rPr lang="en-US" altLang="zh-CN" sz="2400" b="1" kern="100">
                            <a:solidFill>
                              <a:srgbClr val="000000"/>
                            </a:solidFill>
                            <a:latin typeface="Cambria Math" panose="02040503050406030204" pitchFamily="18" charset="0"/>
                            <a:cs typeface="Times New Roman" panose="02020603050405020304" pitchFamily="18" charset="0"/>
                          </a:rPr>
                          <m:t>𝟐</m:t>
                        </m:r>
                      </m:sup>
                    </m:sSup>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𝟐</m:t>
                    </m:r>
                    <m:r>
                      <a:rPr lang="en-US" altLang="zh-CN" sz="2400" b="1" kern="100">
                        <a:solidFill>
                          <a:srgbClr val="000000"/>
                        </a:solidFill>
                        <a:latin typeface="Cambria Math" panose="02040503050406030204" pitchFamily="18" charset="0"/>
                        <a:cs typeface="Times New Roman" panose="02020603050405020304" pitchFamily="18" charset="0"/>
                      </a:rPr>
                      <m:t>%</m:t>
                    </m:r>
                  </m:oMath>
                </a14:m>
                <a:r>
                  <a:rPr lang="en-US" altLang="zh-CN" sz="2400" b="1" kern="100" dirty="0">
                    <a:solidFill>
                      <a:srgbClr val="000000"/>
                    </a:solidFill>
                    <a:latin typeface="Times New Roman" panose="02020603050405020304" pitchFamily="18" charset="0"/>
                    <a:cs typeface="Times New Roman" panose="02020603050405020304" pitchFamily="18" charset="0"/>
                  </a:rPr>
                  <a:t>, possible error </a:t>
                </a:r>
                <a14:m>
                  <m:oMath xmlns:m="http://schemas.openxmlformats.org/officeDocument/2006/math">
                    <m:r>
                      <a:rPr lang="en-US" altLang="zh-CN" sz="2400" b="1" kern="100">
                        <a:solidFill>
                          <a:srgbClr val="000000"/>
                        </a:solidFill>
                        <a:latin typeface="Cambria Math" panose="02040503050406030204" pitchFamily="18" charset="0"/>
                        <a:cs typeface="Times New Roman" panose="02020603050405020304" pitchFamily="18" charset="0"/>
                      </a:rPr>
                      <m:t>𝟏</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𝟏</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𝟐</m:t>
                    </m:r>
                    <m:r>
                      <a:rPr lang="en-US" altLang="zh-CN" sz="2400" b="1" kern="100">
                        <a:solidFill>
                          <a:srgbClr val="000000"/>
                        </a:solidFill>
                        <a:latin typeface="Cambria Math" panose="02040503050406030204" pitchFamily="18" charset="0"/>
                        <a:cs typeface="Times New Roman" panose="02020603050405020304" pitchFamily="18" charset="0"/>
                      </a:rPr>
                      <m:t>%</m:t>
                    </m:r>
                  </m:oMath>
                </a14:m>
                <a:r>
                  <a:rPr lang="en-US" altLang="zh-CN" sz="2400" b="1" kern="100" dirty="0">
                    <a:solidFill>
                      <a:srgbClr val="000000"/>
                    </a:solidFill>
                    <a:latin typeface="Times New Roman" panose="02020603050405020304" pitchFamily="18" charset="0"/>
                    <a:cs typeface="Times New Roman" panose="02020603050405020304" pitchFamily="18" charset="0"/>
                  </a:rPr>
                  <a:t>.</a:t>
                </a:r>
                <a:endParaRPr lang="zh-CN" altLang="zh-CN" sz="2667" kern="100" dirty="0">
                  <a:solidFill>
                    <a:prstClr val="black"/>
                  </a:solidFill>
                  <a:latin typeface="等线" panose="02010600030101010101" pitchFamily="2" charset="-122"/>
                  <a:cs typeface="Times New Roman" panose="02020603050405020304" pitchFamily="18" charset="0"/>
                </a:endParaRPr>
              </a:p>
              <a:p>
                <a:pPr fontAlgn="base">
                  <a:spcBef>
                    <a:spcPct val="0"/>
                  </a:spcBef>
                </a:pPr>
                <a:r>
                  <a:rPr lang="en-US" altLang="zh-CN" sz="2400" b="1" kern="100" dirty="0">
                    <a:solidFill>
                      <a:srgbClr val="000000"/>
                    </a:solidFill>
                    <a:latin typeface="Times New Roman" panose="02020603050405020304" pitchFamily="18" charset="0"/>
                    <a:cs typeface="Times New Roman" panose="02020603050405020304" pitchFamily="18" charset="0"/>
                  </a:rPr>
                  <a:t>Value of </a:t>
                </a:r>
                <a14:m>
                  <m:oMath xmlns:m="http://schemas.openxmlformats.org/officeDocument/2006/math">
                    <m:r>
                      <a:rPr lang="en-US" altLang="zh-CN" sz="2400" b="1" i="1" kern="100">
                        <a:solidFill>
                          <a:srgbClr val="000000"/>
                        </a:solidFill>
                        <a:latin typeface="Cambria Math" panose="02040503050406030204" pitchFamily="18" charset="0"/>
                        <a:cs typeface="Times New Roman" panose="02020603050405020304" pitchFamily="18" charset="0"/>
                      </a:rPr>
                      <m:t>𝒂𝒃𝒄</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𝟔𝟎𝟎𝟎𝟎𝟎𝟎𝐦</m:t>
                    </m:r>
                    <m:sSup>
                      <m:sSup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kern="100">
                            <a:solidFill>
                              <a:srgbClr val="000000"/>
                            </a:solidFill>
                            <a:latin typeface="Cambria Math" panose="02040503050406030204" pitchFamily="18" charset="0"/>
                            <a:cs typeface="Times New Roman" panose="02020603050405020304" pitchFamily="18" charset="0"/>
                          </a:rPr>
                          <m:t>𝐦</m:t>
                        </m:r>
                      </m:e>
                      <m:sup>
                        <m:r>
                          <a:rPr lang="en-US" altLang="zh-CN" sz="2400" b="1" kern="100">
                            <a:solidFill>
                              <a:srgbClr val="000000"/>
                            </a:solidFill>
                            <a:latin typeface="Cambria Math" panose="02040503050406030204" pitchFamily="18" charset="0"/>
                            <a:cs typeface="Times New Roman" panose="02020603050405020304" pitchFamily="18" charset="0"/>
                          </a:rPr>
                          <m:t>𝟑</m:t>
                        </m:r>
                      </m:sup>
                    </m:sSup>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𝟑</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𝟎</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𝟎𝟎𝟔</m:t>
                    </m:r>
                    <m:sSup>
                      <m:sSup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kern="100">
                            <a:solidFill>
                              <a:srgbClr val="000000"/>
                            </a:solidFill>
                            <a:latin typeface="Cambria Math" panose="02040503050406030204" pitchFamily="18" charset="0"/>
                            <a:cs typeface="Times New Roman" panose="02020603050405020304" pitchFamily="18" charset="0"/>
                          </a:rPr>
                          <m:t>𝐦</m:t>
                        </m:r>
                      </m:e>
                      <m:sup>
                        <m:r>
                          <a:rPr lang="en-US" altLang="zh-CN" sz="2400" b="1" kern="100">
                            <a:solidFill>
                              <a:srgbClr val="000000"/>
                            </a:solidFill>
                            <a:latin typeface="Cambria Math" panose="02040503050406030204" pitchFamily="18" charset="0"/>
                            <a:cs typeface="Times New Roman" panose="02020603050405020304" pitchFamily="18" charset="0"/>
                          </a:rPr>
                          <m:t>𝟑</m:t>
                        </m:r>
                      </m:sup>
                    </m:sSup>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𝟑</m:t>
                    </m:r>
                    <m:r>
                      <a:rPr lang="en-US" altLang="zh-CN" sz="2400" b="1" kern="100">
                        <a:solidFill>
                          <a:srgbClr val="000000"/>
                        </a:solidFill>
                        <a:latin typeface="Cambria Math" panose="02040503050406030204" pitchFamily="18" charset="0"/>
                        <a:cs typeface="Times New Roman" panose="02020603050405020304" pitchFamily="18" charset="0"/>
                      </a:rPr>
                      <m:t>%</m:t>
                    </m:r>
                  </m:oMath>
                </a14:m>
                <a:r>
                  <a:rPr lang="en-US" altLang="zh-CN" sz="2400" b="1" kern="100" dirty="0">
                    <a:solidFill>
                      <a:srgbClr val="000000"/>
                    </a:solidFill>
                    <a:latin typeface="Times New Roman" panose="02020603050405020304" pitchFamily="18" charset="0"/>
                    <a:cs typeface="Times New Roman" panose="02020603050405020304" pitchFamily="18" charset="0"/>
                  </a:rPr>
                  <a:t>, possible error </a:t>
                </a:r>
                <a14:m>
                  <m:oMath xmlns:m="http://schemas.openxmlformats.org/officeDocument/2006/math">
                    <m:r>
                      <a:rPr lang="en-US" altLang="zh-CN" sz="2400" b="1" kern="100">
                        <a:solidFill>
                          <a:srgbClr val="000000"/>
                        </a:solidFill>
                        <a:latin typeface="Cambria Math" panose="02040503050406030204" pitchFamily="18" charset="0"/>
                        <a:cs typeface="Times New Roman" panose="02020603050405020304" pitchFamily="18" charset="0"/>
                      </a:rPr>
                      <m:t>𝟐</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𝟏</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𝟑</m:t>
                    </m:r>
                    <m:r>
                      <a:rPr lang="en-US" altLang="zh-CN" sz="2400" b="1" kern="100">
                        <a:solidFill>
                          <a:srgbClr val="000000"/>
                        </a:solidFill>
                        <a:latin typeface="Cambria Math" panose="02040503050406030204" pitchFamily="18" charset="0"/>
                        <a:cs typeface="Times New Roman" panose="02020603050405020304" pitchFamily="18" charset="0"/>
                      </a:rPr>
                      <m:t>%</m:t>
                    </m:r>
                  </m:oMath>
                </a14:m>
                <a:r>
                  <a:rPr lang="en-US" altLang="zh-CN" sz="2400" b="1" kern="100" dirty="0">
                    <a:solidFill>
                      <a:srgbClr val="000000"/>
                    </a:solidFill>
                    <a:latin typeface="Times New Roman" panose="02020603050405020304" pitchFamily="18" charset="0"/>
                    <a:cs typeface="Times New Roman" panose="02020603050405020304" pitchFamily="18" charset="0"/>
                  </a:rPr>
                  <a:t>.</a:t>
                </a:r>
                <a:endParaRPr lang="zh-CN" altLang="zh-CN" sz="2667" kern="100" dirty="0">
                  <a:solidFill>
                    <a:prstClr val="black"/>
                  </a:solidFill>
                  <a:latin typeface="等线" panose="02010600030101010101" pitchFamily="2" charset="-122"/>
                  <a:cs typeface="Times New Roman" panose="02020603050405020304" pitchFamily="18" charset="0"/>
                </a:endParaRPr>
              </a:p>
              <a:p>
                <a:pPr fontAlgn="base">
                  <a:spcBef>
                    <a:spcPct val="0"/>
                  </a:spcBef>
                </a:pPr>
                <a:r>
                  <a:rPr lang="en-US" altLang="zh-CN" sz="2400" b="1" kern="100" dirty="0">
                    <a:solidFill>
                      <a:srgbClr val="000000"/>
                    </a:solidFill>
                    <a:latin typeface="Times New Roman" panose="02020603050405020304" pitchFamily="18" charset="0"/>
                    <a:cs typeface="Times New Roman" panose="02020603050405020304" pitchFamily="18" charset="0"/>
                  </a:rPr>
                  <a:t>Value of </a:t>
                </a:r>
                <a14:m>
                  <m:oMath xmlns:m="http://schemas.openxmlformats.org/officeDocument/2006/math">
                    <m:r>
                      <a:rPr lang="en-US" altLang="zh-CN" sz="2400" b="1" i="1" kern="100">
                        <a:solidFill>
                          <a:srgbClr val="000000"/>
                        </a:solidFill>
                        <a:latin typeface="Cambria Math" panose="02040503050406030204" pitchFamily="18" charset="0"/>
                        <a:cs typeface="Times New Roman" panose="02020603050405020304" pitchFamily="18" charset="0"/>
                      </a:rPr>
                      <m:t>𝒎</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i="1" kern="100">
                        <a:solidFill>
                          <a:srgbClr val="000000"/>
                        </a:solidFill>
                        <a:latin typeface="Cambria Math" panose="02040503050406030204" pitchFamily="18" charset="0"/>
                        <a:cs typeface="Times New Roman" panose="02020603050405020304" pitchFamily="18" charset="0"/>
                      </a:rPr>
                      <m:t>𝒂𝒃𝒄</m:t>
                    </m:r>
                    <m:r>
                      <a:rPr lang="en-US" altLang="zh-CN" sz="2400" b="1" i="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𝟐𝟎</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𝟎</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𝟎𝟎𝟔</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𝟑𝟑𝟑𝟎𝐤𝐠</m:t>
                    </m:r>
                    <m:r>
                      <a:rPr lang="en-US" altLang="zh-CN" sz="2400" b="1" kern="100">
                        <a:solidFill>
                          <a:srgbClr val="000000"/>
                        </a:solidFill>
                        <a:latin typeface="Cambria Math" panose="02040503050406030204" pitchFamily="18" charset="0"/>
                        <a:cs typeface="Times New Roman" panose="02020603050405020304" pitchFamily="18" charset="0"/>
                      </a:rPr>
                      <m:t>/</m:t>
                    </m:r>
                    <m:sSup>
                      <m:sSup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1" kern="100">
                            <a:solidFill>
                              <a:srgbClr val="000000"/>
                            </a:solidFill>
                            <a:latin typeface="Cambria Math" panose="02040503050406030204" pitchFamily="18" charset="0"/>
                            <a:cs typeface="Times New Roman" panose="02020603050405020304" pitchFamily="18" charset="0"/>
                          </a:rPr>
                          <m:t>𝐦</m:t>
                        </m:r>
                      </m:e>
                      <m:sup>
                        <m:r>
                          <a:rPr lang="en-US" altLang="zh-CN" sz="2400" b="1" i="1" kern="100">
                            <a:solidFill>
                              <a:srgbClr val="000000"/>
                            </a:solidFill>
                            <a:latin typeface="Cambria Math" panose="02040503050406030204" pitchFamily="18" charset="0"/>
                            <a:cs typeface="Times New Roman" panose="02020603050405020304" pitchFamily="18" charset="0"/>
                          </a:rPr>
                          <m:t>𝟑</m:t>
                        </m:r>
                      </m:sup>
                    </m:sSup>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𝟑</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𝟓</m:t>
                    </m:r>
                    <m:r>
                      <a:rPr lang="en-US" altLang="zh-CN" sz="2400" b="1" kern="100">
                        <a:solidFill>
                          <a:srgbClr val="000000"/>
                        </a:solidFill>
                        <a:latin typeface="Cambria Math" panose="02040503050406030204" pitchFamily="18" charset="0"/>
                        <a:cs typeface="Times New Roman" panose="02020603050405020304" pitchFamily="18" charset="0"/>
                      </a:rPr>
                      <m:t>%</m:t>
                    </m:r>
                  </m:oMath>
                </a14:m>
                <a:r>
                  <a:rPr lang="en-US" altLang="zh-CN" sz="2400" b="1" kern="100" dirty="0">
                    <a:solidFill>
                      <a:srgbClr val="000000"/>
                    </a:solidFill>
                    <a:latin typeface="Times New Roman" panose="02020603050405020304" pitchFamily="18" charset="0"/>
                    <a:cs typeface="Times New Roman" panose="02020603050405020304" pitchFamily="18" charset="0"/>
                  </a:rPr>
                  <a:t>, possible error </a:t>
                </a:r>
                <a14:m>
                  <m:oMath xmlns:m="http://schemas.openxmlformats.org/officeDocument/2006/math">
                    <m:r>
                      <a:rPr lang="en-US" altLang="zh-CN" sz="2400" b="1" kern="100">
                        <a:solidFill>
                          <a:srgbClr val="000000"/>
                        </a:solidFill>
                        <a:latin typeface="Cambria Math" panose="02040503050406030204" pitchFamily="18" charset="0"/>
                        <a:cs typeface="Times New Roman" panose="02020603050405020304" pitchFamily="18" charset="0"/>
                      </a:rPr>
                      <m:t>𝟑</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𝟎</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𝟓</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𝟑</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b="1" kern="100">
                        <a:solidFill>
                          <a:srgbClr val="000000"/>
                        </a:solidFill>
                        <a:latin typeface="Cambria Math" panose="02040503050406030204" pitchFamily="18" charset="0"/>
                        <a:cs typeface="Times New Roman" panose="02020603050405020304" pitchFamily="18" charset="0"/>
                      </a:rPr>
                      <m:t>𝟓</m:t>
                    </m:r>
                    <m:r>
                      <a:rPr lang="en-US" altLang="zh-CN" sz="2400" b="1" kern="100">
                        <a:solidFill>
                          <a:srgbClr val="000000"/>
                        </a:solidFill>
                        <a:latin typeface="Cambria Math" panose="02040503050406030204" pitchFamily="18" charset="0"/>
                        <a:cs typeface="Times New Roman" panose="02020603050405020304" pitchFamily="18" charset="0"/>
                      </a:rPr>
                      <m:t>%</m:t>
                    </m:r>
                  </m:oMath>
                </a14:m>
                <a:r>
                  <a:rPr lang="en-US" altLang="zh-CN" sz="2400" b="1" kern="100" dirty="0">
                    <a:solidFill>
                      <a:srgbClr val="000000"/>
                    </a:solidFill>
                    <a:latin typeface="Times New Roman" panose="02020603050405020304" pitchFamily="18" charset="0"/>
                    <a:cs typeface="Times New Roman" panose="02020603050405020304" pitchFamily="18" charset="0"/>
                  </a:rPr>
                  <a:t>.</a:t>
                </a:r>
                <a:endParaRPr lang="zh-CN" altLang="zh-CN" sz="2667" kern="100" dirty="0">
                  <a:solidFill>
                    <a:prstClr val="black"/>
                  </a:solidFill>
                  <a:latin typeface="等线" panose="02010600030101010101" pitchFamily="2"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179512" y="1005108"/>
                <a:ext cx="8568952" cy="3465757"/>
              </a:xfrm>
              <a:prstGeom prst="rect">
                <a:avLst/>
              </a:prstGeom>
              <a:blipFill>
                <a:blip r:embed="rId5"/>
                <a:stretch>
                  <a:fillRect l="-711" t="-1056" r="-782" b="-17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40094719"/>
      </p:ext>
    </p:extLst>
  </p:cSld>
  <p:clrMapOvr>
    <a:masterClrMapping/>
  </p:clrMapOvr>
  <p:transition spd="slow" advClick="0" advTm="3000">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08214" y="1868489"/>
            <a:ext cx="2495551" cy="2495551"/>
          </a:xfrm>
          <a:prstGeom prst="rect">
            <a:avLst/>
          </a:prstGeom>
          <a:solidFill>
            <a:schemeClr val="bg1"/>
          </a:solidFill>
          <a:ln w="28575" cap="flat" cmpd="sng" algn="ctr">
            <a:solidFill>
              <a:srgbClr val="007F57"/>
            </a:solidFill>
            <a:prstDash val="solid"/>
            <a:round/>
            <a:headEnd type="none" w="med" len="med"/>
            <a:tailEnd type="none" w="med" len="med"/>
          </a:ln>
        </p:spPr>
        <p:txBody>
          <a:bodyPr lIns="121920" tIns="60960" rIns="121920" bIns="60960"/>
          <a:lstStyle/>
          <a:p>
            <a:pPr fontAlgn="base">
              <a:spcBef>
                <a:spcPct val="0"/>
              </a:spcBef>
              <a:spcAft>
                <a:spcPct val="0"/>
              </a:spcAft>
              <a:buFont typeface="Arial" panose="020B0604020202020204" pitchFamily="34" charset="0"/>
              <a:buNone/>
              <a:defRPr/>
            </a:pPr>
            <a:endParaRPr lang="zh-CN" altLang="en-US" sz="2665">
              <a:solidFill>
                <a:prstClr val="black"/>
              </a:solidFill>
              <a:latin typeface="Arial" panose="020B0604020202020204" pitchFamily="34" charset="0"/>
              <a:ea typeface="宋体" panose="02010600030101010101" pitchFamily="2" charset="-122"/>
            </a:endParaRPr>
          </a:p>
        </p:txBody>
      </p:sp>
      <p:sp>
        <p:nvSpPr>
          <p:cNvPr id="32772" name="文本框 3"/>
          <p:cNvSpPr txBox="1">
            <a:spLocks noChangeArrowheads="1"/>
          </p:cNvSpPr>
          <p:nvPr/>
        </p:nvSpPr>
        <p:spPr bwMode="auto">
          <a:xfrm>
            <a:off x="2790826" y="2501900"/>
            <a:ext cx="1330325" cy="1200329"/>
          </a:xfrm>
          <a:prstGeom prst="rect">
            <a:avLst/>
          </a:prstGeom>
          <a:noFill/>
          <a:ln w="9525">
            <a:noFill/>
            <a:miter lim="800000"/>
          </a:ln>
        </p:spPr>
        <p:txBody>
          <a:bodyPr>
            <a:spAutoFit/>
          </a:bodyPr>
          <a:lstStyle/>
          <a:p>
            <a:pPr fontAlgn="base">
              <a:spcBef>
                <a:spcPct val="0"/>
              </a:spcBef>
              <a:spcAft>
                <a:spcPct val="0"/>
              </a:spcAft>
            </a:pPr>
            <a:r>
              <a:rPr lang="en-US" altLang="zh-CN" sz="7200" dirty="0">
                <a:solidFill>
                  <a:prstClr val="white"/>
                </a:solidFill>
                <a:latin typeface="微软雅黑" panose="020B0503020204020204" charset="-122"/>
                <a:ea typeface="微软雅黑" panose="020B0503020204020204" charset="-122"/>
                <a:cs typeface="微软雅黑" panose="020B0503020204020204" charset="-122"/>
              </a:rPr>
              <a:t>01</a:t>
            </a:r>
          </a:p>
        </p:txBody>
      </p:sp>
      <p:sp>
        <p:nvSpPr>
          <p:cNvPr id="5" name="文本框 4"/>
          <p:cNvSpPr txBox="1"/>
          <p:nvPr/>
        </p:nvSpPr>
        <p:spPr>
          <a:xfrm>
            <a:off x="5083520" y="1823601"/>
            <a:ext cx="5675744" cy="2554354"/>
          </a:xfrm>
          <a:prstGeom prst="rect">
            <a:avLst/>
          </a:prstGeom>
          <a:noFill/>
        </p:spPr>
        <p:txBody>
          <a:bodyPr wrap="square">
            <a:spAutoFit/>
          </a:bodyPr>
          <a:lstStyle/>
          <a:p>
            <a:pPr>
              <a:defRPr/>
            </a:pPr>
            <a:r>
              <a:rPr lang="en-US" altLang="zh-CN" sz="5333" b="1" dirty="0">
                <a:solidFill>
                  <a:prstClr val="black">
                    <a:lumMod val="85000"/>
                    <a:lumOff val="15000"/>
                  </a:prstClr>
                </a:solidFill>
                <a:latin typeface="微软雅黑" panose="020B0503020204020204" charset="-122"/>
                <a:ea typeface="微软雅黑" panose="020B0503020204020204" charset="-122"/>
              </a:rPr>
              <a:t>Mathematical </a:t>
            </a:r>
            <a:r>
              <a:rPr lang="en-US" altLang="zh-CN" sz="5333" b="1" dirty="0">
                <a:solidFill>
                  <a:prstClr val="black">
                    <a:lumMod val="85000"/>
                    <a:lumOff val="15000"/>
                  </a:prstClr>
                </a:solidFill>
                <a:latin typeface="微软雅黑" panose="020B0503020204020204" charset="-122"/>
                <a:ea typeface="微软雅黑" panose="020B0503020204020204" charset="-122"/>
              </a:rPr>
              <a:t>Regression Techniques</a:t>
            </a:r>
            <a:endParaRPr lang="zh-CN" altLang="en-US" sz="5333" b="1" dirty="0">
              <a:solidFill>
                <a:prstClr val="black">
                  <a:lumMod val="85000"/>
                  <a:lumOff val="15000"/>
                </a:prstClr>
              </a:solidFill>
              <a:latin typeface="微软雅黑" panose="020B0503020204020204" charset="-122"/>
              <a:ea typeface="微软雅黑" panose="020B0503020204020204" charset="-122"/>
            </a:endParaRPr>
          </a:p>
        </p:txBody>
      </p:sp>
      <p:sp>
        <p:nvSpPr>
          <p:cNvPr id="7" name="Rectangle 4">
            <a:extLst>
              <a:ext uri="{FF2B5EF4-FFF2-40B4-BE49-F238E27FC236}">
                <a16:creationId xmlns="" xmlns:a16="http://schemas.microsoft.com/office/drawing/2014/main" id="{4C20096F-8A4F-EA47-B628-84B415D3C732}"/>
              </a:ext>
            </a:extLst>
          </p:cNvPr>
          <p:cNvSpPr/>
          <p:nvPr/>
        </p:nvSpPr>
        <p:spPr bwMode="auto">
          <a:xfrm>
            <a:off x="2452689" y="2142195"/>
            <a:ext cx="1978025" cy="1948136"/>
          </a:xfrm>
          <a:prstGeom prst="rect">
            <a:avLst/>
          </a:prstGeom>
          <a:gradFill flip="none" rotWithShape="1">
            <a:gsLst>
              <a:gs pos="0">
                <a:srgbClr val="031B1E">
                  <a:alpha val="69000"/>
                </a:srgbClr>
              </a:gs>
              <a:gs pos="100000">
                <a:srgbClr val="00A771"/>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79945" tIns="39973" rIns="39973" bIns="79945" anchor="ctr"/>
          <a:lstStyle/>
          <a:p>
            <a:pPr algn="ctr" defTabSz="798811" fontAlgn="base">
              <a:spcBef>
                <a:spcPct val="0"/>
              </a:spcBef>
              <a:spcAft>
                <a:spcPct val="0"/>
              </a:spcAft>
              <a:defRPr/>
            </a:pPr>
            <a:r>
              <a:rPr lang="en-US" altLang="zh-CN" sz="5400" spc="-44" dirty="0">
                <a:solidFill>
                  <a:prstClr val="white"/>
                </a:solidFill>
                <a:latin typeface="Microsoft YaHei" panose="020B0503020204020204" pitchFamily="34" charset="-122"/>
                <a:ea typeface="Microsoft YaHei" panose="020B0503020204020204" pitchFamily="34" charset="-122"/>
                <a:cs typeface="Segoe UI" panose="020B0502040204020203" pitchFamily="34" charset="0"/>
              </a:rPr>
              <a:t>05</a:t>
            </a:r>
            <a:endParaRPr lang="en-US" altLang="zh-CN" sz="5400" spc="-44" dirty="0">
              <a:solidFill>
                <a:prstClr val="white"/>
              </a:solidFill>
              <a:latin typeface="Microsoft YaHei" panose="020B0503020204020204" pitchFamily="34" charset="-122"/>
              <a:ea typeface="Microsoft YaHei" panose="020B0503020204020204" pitchFamily="34" charset="-122"/>
              <a:cs typeface="Segoe UI" panose="020B0502040204020203" pitchFamily="34" charset="0"/>
            </a:endParaRPr>
          </a:p>
        </p:txBody>
      </p:sp>
      <p:sp>
        <p:nvSpPr>
          <p:cNvPr id="9" name="Line 17"/>
          <p:cNvSpPr>
            <a:spLocks noChangeShapeType="1"/>
          </p:cNvSpPr>
          <p:nvPr/>
        </p:nvSpPr>
        <p:spPr bwMode="auto">
          <a:xfrm flipV="1">
            <a:off x="286773" y="6116848"/>
            <a:ext cx="11738176" cy="901"/>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10"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1" name="矩形 10"/>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矩形 11"/>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pic>
        <p:nvPicPr>
          <p:cNvPr id="15" name="图片 14" descr="微信图片_20210223184101"/>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6" name="图片 15" descr="微信图片_20210223183508"/>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7" name="文本框 16"/>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8" name="直接连接符 17"/>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9951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Linear Least Squares Regression</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4" name="矩形 3"/>
          <p:cNvSpPr/>
          <p:nvPr/>
        </p:nvSpPr>
        <p:spPr>
          <a:xfrm>
            <a:off x="335360" y="769945"/>
            <a:ext cx="11041227" cy="2062103"/>
          </a:xfrm>
          <a:prstGeom prst="rect">
            <a:avLst/>
          </a:prstGeom>
        </p:spPr>
        <p:txBody>
          <a:bodyPr wrap="square">
            <a:spAutoFit/>
          </a:bodyPr>
          <a:lstStyle/>
          <a:p>
            <a:pPr algn="just" fontAlgn="base">
              <a:spcBef>
                <a:spcPct val="0"/>
              </a:spcBef>
              <a:spcAft>
                <a:spcPts val="800"/>
              </a:spcAft>
            </a:pPr>
            <a:r>
              <a:rPr lang="en-US" altLang="zh-CN" sz="3200" b="1" u="sng" kern="0" dirty="0">
                <a:solidFill>
                  <a:srgbClr val="C00000"/>
                </a:solidFill>
                <a:latin typeface="Times New Roman" panose="02020603050405020304" pitchFamily="18" charset="0"/>
                <a:cs typeface="Times New Roman" panose="02020603050405020304" pitchFamily="18" charset="0"/>
              </a:rPr>
              <a:t>Regression </a:t>
            </a:r>
            <a:r>
              <a:rPr lang="en-US" altLang="zh-CN" sz="3200" b="1" u="sng" kern="0" dirty="0" smtClean="0">
                <a:solidFill>
                  <a:srgbClr val="C00000"/>
                </a:solidFill>
                <a:latin typeface="Times New Roman" panose="02020603050405020304" pitchFamily="18" charset="0"/>
                <a:cs typeface="Times New Roman" panose="02020603050405020304" pitchFamily="18" charset="0"/>
              </a:rPr>
              <a:t>techniques(</a:t>
            </a:r>
            <a:r>
              <a:rPr lang="zh-CN" altLang="en-US" sz="3200" b="1" u="sng" kern="0" dirty="0" smtClean="0">
                <a:solidFill>
                  <a:srgbClr val="C00000"/>
                </a:solidFill>
                <a:latin typeface="Times New Roman" panose="02020603050405020304" pitchFamily="18" charset="0"/>
                <a:cs typeface="Times New Roman" panose="02020603050405020304" pitchFamily="18" charset="0"/>
              </a:rPr>
              <a:t>回归技术</a:t>
            </a:r>
            <a:r>
              <a:rPr lang="en-US" altLang="zh-CN" sz="3200" b="1" u="sng" kern="0" dirty="0" smtClean="0">
                <a:solidFill>
                  <a:srgbClr val="C00000"/>
                </a:solidFill>
                <a:latin typeface="Times New Roman" panose="02020603050405020304" pitchFamily="18" charset="0"/>
                <a:cs typeface="Times New Roman" panose="02020603050405020304" pitchFamily="18" charset="0"/>
              </a:rPr>
              <a:t>)</a:t>
            </a:r>
            <a:r>
              <a:rPr lang="en-US" altLang="zh-CN" sz="3200" b="1" kern="0" dirty="0" smtClean="0">
                <a:solidFill>
                  <a:srgbClr val="C00000"/>
                </a:solidFill>
                <a:latin typeface="Times New Roman" panose="02020603050405020304" pitchFamily="18" charset="0"/>
                <a:cs typeface="Times New Roman" panose="02020603050405020304" pitchFamily="18" charset="0"/>
              </a:rPr>
              <a:t> </a:t>
            </a:r>
            <a:r>
              <a:rPr lang="en-US" altLang="zh-CN" sz="3200" b="1" kern="0" dirty="0">
                <a:solidFill>
                  <a:srgbClr val="002060"/>
                </a:solidFill>
                <a:latin typeface="Times New Roman" panose="02020603050405020304" pitchFamily="18" charset="0"/>
                <a:cs typeface="Times New Roman" panose="02020603050405020304" pitchFamily="18" charset="0"/>
              </a:rPr>
              <a:t>consist of finding a mathematical relationship between measurements of two variables </a:t>
            </a:r>
            <a:r>
              <a:rPr lang="en-US" altLang="zh-CN" sz="3200" b="1" i="1" kern="0" dirty="0">
                <a:solidFill>
                  <a:srgbClr val="002060"/>
                </a:solidFill>
                <a:latin typeface="Times New Roman" panose="02020603050405020304" pitchFamily="18" charset="0"/>
                <a:cs typeface="Times New Roman" panose="02020603050405020304" pitchFamily="18" charset="0"/>
              </a:rPr>
              <a:t>y</a:t>
            </a:r>
            <a:r>
              <a:rPr lang="en-US" altLang="zh-CN" sz="3200" b="1" kern="0" dirty="0">
                <a:solidFill>
                  <a:srgbClr val="002060"/>
                </a:solidFill>
                <a:latin typeface="Times New Roman" panose="02020603050405020304" pitchFamily="18" charset="0"/>
                <a:cs typeface="Times New Roman" panose="02020603050405020304" pitchFamily="18" charset="0"/>
              </a:rPr>
              <a:t> and </a:t>
            </a:r>
            <a:r>
              <a:rPr lang="en-US" altLang="zh-CN" sz="3200" b="1" i="1" kern="0" dirty="0">
                <a:solidFill>
                  <a:srgbClr val="002060"/>
                </a:solidFill>
                <a:latin typeface="Times New Roman" panose="02020603050405020304" pitchFamily="18" charset="0"/>
                <a:cs typeface="Times New Roman" panose="02020603050405020304" pitchFamily="18" charset="0"/>
              </a:rPr>
              <a:t>x</a:t>
            </a:r>
            <a:r>
              <a:rPr lang="en-US" altLang="zh-CN" sz="3200" b="1" kern="0" dirty="0">
                <a:solidFill>
                  <a:srgbClr val="002060"/>
                </a:solidFill>
                <a:latin typeface="Times New Roman" panose="02020603050405020304" pitchFamily="18" charset="0"/>
                <a:cs typeface="Times New Roman" panose="02020603050405020304" pitchFamily="18" charset="0"/>
              </a:rPr>
              <a:t>, such that the value of variable </a:t>
            </a:r>
            <a:r>
              <a:rPr lang="en-US" altLang="zh-CN" sz="3200" b="1" i="1" kern="0" dirty="0">
                <a:solidFill>
                  <a:srgbClr val="002060"/>
                </a:solidFill>
                <a:latin typeface="Times New Roman" panose="02020603050405020304" pitchFamily="18" charset="0"/>
                <a:cs typeface="Times New Roman" panose="02020603050405020304" pitchFamily="18" charset="0"/>
              </a:rPr>
              <a:t>y</a:t>
            </a:r>
            <a:r>
              <a:rPr lang="en-US" altLang="zh-CN" sz="3200" b="1" kern="0" dirty="0">
                <a:solidFill>
                  <a:srgbClr val="002060"/>
                </a:solidFill>
                <a:latin typeface="Times New Roman" panose="02020603050405020304" pitchFamily="18" charset="0"/>
                <a:cs typeface="Times New Roman" panose="02020603050405020304" pitchFamily="18" charset="0"/>
              </a:rPr>
              <a:t> can be </a:t>
            </a:r>
            <a:r>
              <a:rPr lang="en-US" altLang="zh-CN" sz="3200" b="1" kern="0" dirty="0">
                <a:solidFill>
                  <a:srgbClr val="C00000"/>
                </a:solidFill>
                <a:latin typeface="Times New Roman" panose="02020603050405020304" pitchFamily="18" charset="0"/>
                <a:cs typeface="Times New Roman" panose="02020603050405020304" pitchFamily="18" charset="0"/>
              </a:rPr>
              <a:t>predicted</a:t>
            </a:r>
            <a:r>
              <a:rPr lang="en-US" altLang="zh-CN" sz="3200" b="1" kern="0" dirty="0">
                <a:solidFill>
                  <a:srgbClr val="002060"/>
                </a:solidFill>
                <a:latin typeface="Times New Roman" panose="02020603050405020304" pitchFamily="18" charset="0"/>
                <a:cs typeface="Times New Roman" panose="02020603050405020304" pitchFamily="18" charset="0"/>
              </a:rPr>
              <a:t> from a measurement of the other variable </a:t>
            </a:r>
            <a:r>
              <a:rPr lang="en-US" altLang="zh-CN" sz="3200" b="1" i="1" kern="0" dirty="0">
                <a:solidFill>
                  <a:srgbClr val="002060"/>
                </a:solidFill>
                <a:latin typeface="Times New Roman" panose="02020603050405020304" pitchFamily="18" charset="0"/>
                <a:cs typeface="Times New Roman" panose="02020603050405020304" pitchFamily="18" charset="0"/>
              </a:rPr>
              <a:t>x</a:t>
            </a:r>
            <a:r>
              <a:rPr lang="en-US" altLang="zh-CN" sz="3200" b="1" kern="0" dirty="0">
                <a:solidFill>
                  <a:srgbClr val="002060"/>
                </a:solidFill>
                <a:latin typeface="Times New Roman" panose="02020603050405020304" pitchFamily="18" charset="0"/>
                <a:cs typeface="Times New Roman" panose="02020603050405020304" pitchFamily="18" charset="0"/>
              </a:rPr>
              <a:t>. </a:t>
            </a:r>
            <a:endParaRPr lang="zh-CN" altLang="zh-CN" sz="3200" b="1" kern="100" dirty="0">
              <a:solidFill>
                <a:srgbClr val="002060"/>
              </a:solidFill>
              <a:latin typeface="等线" panose="02010600030101010101" pitchFamily="2" charset="-122"/>
              <a:cs typeface="Times New Roman" panose="02020603050405020304" pitchFamily="18" charset="0"/>
            </a:endParaRPr>
          </a:p>
        </p:txBody>
      </p:sp>
      <p:sp>
        <p:nvSpPr>
          <p:cNvPr id="5" name="矩形 4"/>
          <p:cNvSpPr/>
          <p:nvPr/>
        </p:nvSpPr>
        <p:spPr>
          <a:xfrm>
            <a:off x="335360" y="3073340"/>
            <a:ext cx="11041227" cy="2554545"/>
          </a:xfrm>
          <a:prstGeom prst="rect">
            <a:avLst/>
          </a:prstGeom>
        </p:spPr>
        <p:txBody>
          <a:bodyPr wrap="square">
            <a:spAutoFit/>
          </a:bodyPr>
          <a:lstStyle/>
          <a:p>
            <a:pPr algn="just" fontAlgn="base">
              <a:spcBef>
                <a:spcPct val="0"/>
              </a:spcBef>
              <a:spcAft>
                <a:spcPts val="800"/>
              </a:spcAft>
            </a:pPr>
            <a:r>
              <a:rPr lang="en-US" altLang="zh-CN" sz="3200" b="1" kern="0" dirty="0">
                <a:solidFill>
                  <a:srgbClr val="07144B"/>
                </a:solidFill>
                <a:latin typeface="Times New Roman" panose="02020603050405020304" pitchFamily="18" charset="0"/>
                <a:cs typeface="Times New Roman" panose="02020603050405020304" pitchFamily="18" charset="0"/>
              </a:rPr>
              <a:t>Having determined that the technique is valid, the regression procedure is simplest if a </a:t>
            </a:r>
            <a:r>
              <a:rPr lang="en-US" altLang="zh-CN" sz="3200" b="1" kern="0" dirty="0">
                <a:solidFill>
                  <a:srgbClr val="C00000"/>
                </a:solidFill>
                <a:latin typeface="Times New Roman" panose="02020603050405020304" pitchFamily="18" charset="0"/>
                <a:cs typeface="Times New Roman" panose="02020603050405020304" pitchFamily="18" charset="0"/>
              </a:rPr>
              <a:t>straight-line</a:t>
            </a:r>
            <a:r>
              <a:rPr lang="en-US" altLang="zh-CN" sz="3200" b="1" kern="0" dirty="0">
                <a:solidFill>
                  <a:srgbClr val="07144B"/>
                </a:solidFill>
                <a:latin typeface="Times New Roman" panose="02020603050405020304" pitchFamily="18" charset="0"/>
                <a:cs typeface="Times New Roman" panose="02020603050405020304" pitchFamily="18" charset="0"/>
              </a:rPr>
              <a:t> relationship exists between the variables, which allows a relationship of the form</a:t>
            </a:r>
            <a:r>
              <a:rPr lang="en-US" altLang="zh-CN" sz="3200" b="1" kern="0" dirty="0">
                <a:solidFill>
                  <a:srgbClr val="07144B"/>
                </a:solidFill>
                <a:latin typeface="Cambria Math" panose="02040503050406030204" pitchFamily="18" charset="0"/>
                <a:cs typeface="Times New Roman" panose="02020603050405020304" pitchFamily="18" charset="0"/>
              </a:rPr>
              <a:t> </a:t>
            </a:r>
            <a:r>
              <a:rPr lang="en-US" altLang="zh-CN" sz="3200" b="1" i="1" kern="0" dirty="0">
                <a:solidFill>
                  <a:srgbClr val="07144B"/>
                </a:solidFill>
                <a:latin typeface="Times New Roman" panose="02020603050405020304" pitchFamily="18" charset="0"/>
                <a:cs typeface="Times New Roman" panose="02020603050405020304" pitchFamily="18" charset="0"/>
              </a:rPr>
              <a:t>y</a:t>
            </a:r>
            <a:r>
              <a:rPr lang="en-US" altLang="zh-CN" sz="3200" b="1" kern="0" dirty="0">
                <a:solidFill>
                  <a:srgbClr val="07144B"/>
                </a:solidFill>
                <a:latin typeface="Times New Roman" panose="02020603050405020304" pitchFamily="18" charset="0"/>
                <a:cs typeface="Times New Roman" panose="02020603050405020304" pitchFamily="18" charset="0"/>
              </a:rPr>
              <a:t>=</a:t>
            </a:r>
            <a:r>
              <a:rPr lang="en-US" altLang="zh-CN" sz="3200" b="1" i="1" kern="0" dirty="0" err="1">
                <a:solidFill>
                  <a:srgbClr val="07144B"/>
                </a:solidFill>
                <a:latin typeface="Times New Roman" panose="02020603050405020304" pitchFamily="18" charset="0"/>
                <a:cs typeface="Times New Roman" panose="02020603050405020304" pitchFamily="18" charset="0"/>
              </a:rPr>
              <a:t>a</a:t>
            </a:r>
            <a:r>
              <a:rPr lang="en-US" altLang="zh-CN" sz="3200" b="1" kern="0" dirty="0" err="1">
                <a:solidFill>
                  <a:srgbClr val="07144B"/>
                </a:solidFill>
                <a:latin typeface="Times New Roman" panose="02020603050405020304" pitchFamily="18" charset="0"/>
                <a:cs typeface="Times New Roman" panose="02020603050405020304" pitchFamily="18" charset="0"/>
              </a:rPr>
              <a:t>+</a:t>
            </a:r>
            <a:r>
              <a:rPr lang="en-US" altLang="zh-CN" sz="3200" b="1" i="1" kern="0" dirty="0" err="1">
                <a:solidFill>
                  <a:srgbClr val="07144B"/>
                </a:solidFill>
                <a:latin typeface="Times New Roman" panose="02020603050405020304" pitchFamily="18" charset="0"/>
                <a:cs typeface="Times New Roman" panose="02020603050405020304" pitchFamily="18" charset="0"/>
              </a:rPr>
              <a:t>bx</a:t>
            </a:r>
            <a:r>
              <a:rPr lang="en-US" altLang="zh-CN" sz="3200" b="1" kern="0" dirty="0">
                <a:solidFill>
                  <a:srgbClr val="07144B"/>
                </a:solidFill>
                <a:latin typeface="Times New Roman" panose="02020603050405020304" pitchFamily="18" charset="0"/>
                <a:cs typeface="Times New Roman" panose="02020603050405020304" pitchFamily="18" charset="0"/>
              </a:rPr>
              <a:t> to be estimated by </a:t>
            </a:r>
            <a:r>
              <a:rPr lang="en-US" altLang="zh-CN" sz="3200" b="1" kern="0" dirty="0">
                <a:solidFill>
                  <a:srgbClr val="C00000"/>
                </a:solidFill>
                <a:latin typeface="Times New Roman" panose="02020603050405020304" pitchFamily="18" charset="0"/>
                <a:cs typeface="Times New Roman" panose="02020603050405020304" pitchFamily="18" charset="0"/>
              </a:rPr>
              <a:t>linear </a:t>
            </a:r>
            <a:r>
              <a:rPr lang="en-US" altLang="zh-CN" sz="3200" b="1" u="sng" kern="0" dirty="0">
                <a:solidFill>
                  <a:srgbClr val="C00000"/>
                </a:solidFill>
                <a:latin typeface="Times New Roman" panose="02020603050405020304" pitchFamily="18" charset="0"/>
                <a:cs typeface="Times New Roman" panose="02020603050405020304" pitchFamily="18" charset="0"/>
              </a:rPr>
              <a:t>least </a:t>
            </a:r>
            <a:r>
              <a:rPr lang="en-US" altLang="zh-CN" sz="3200" b="1" u="sng" kern="0" dirty="0" smtClean="0">
                <a:solidFill>
                  <a:srgbClr val="C00000"/>
                </a:solidFill>
                <a:latin typeface="Times New Roman" panose="02020603050405020304" pitchFamily="18" charset="0"/>
                <a:cs typeface="Times New Roman" panose="02020603050405020304" pitchFamily="18" charset="0"/>
              </a:rPr>
              <a:t>squares(</a:t>
            </a:r>
            <a:r>
              <a:rPr lang="zh-CN" altLang="en-US" sz="3200" b="1" u="sng" kern="0" dirty="0" smtClean="0">
                <a:solidFill>
                  <a:srgbClr val="C00000"/>
                </a:solidFill>
                <a:latin typeface="Times New Roman" panose="02020603050405020304" pitchFamily="18" charset="0"/>
                <a:cs typeface="Times New Roman" panose="02020603050405020304" pitchFamily="18" charset="0"/>
              </a:rPr>
              <a:t>最小二乘法</a:t>
            </a:r>
            <a:r>
              <a:rPr lang="en-US" altLang="zh-CN" sz="3200" b="1" u="sng" kern="0" dirty="0" smtClean="0">
                <a:solidFill>
                  <a:srgbClr val="C00000"/>
                </a:solidFill>
                <a:latin typeface="Times New Roman" panose="02020603050405020304" pitchFamily="18" charset="0"/>
                <a:cs typeface="Times New Roman" panose="02020603050405020304" pitchFamily="18" charset="0"/>
              </a:rPr>
              <a:t>)</a:t>
            </a:r>
            <a:r>
              <a:rPr lang="en-US" altLang="zh-CN" sz="3200" b="1" kern="0" dirty="0" smtClean="0">
                <a:solidFill>
                  <a:srgbClr val="C00000"/>
                </a:solidFill>
                <a:latin typeface="Times New Roman" panose="02020603050405020304" pitchFamily="18" charset="0"/>
                <a:cs typeface="Times New Roman" panose="02020603050405020304" pitchFamily="18" charset="0"/>
              </a:rPr>
              <a:t> regression(</a:t>
            </a:r>
            <a:r>
              <a:rPr lang="zh-CN" altLang="en-US" sz="3200" b="1" kern="0" dirty="0" smtClean="0">
                <a:solidFill>
                  <a:srgbClr val="C00000"/>
                </a:solidFill>
                <a:latin typeface="Times New Roman" panose="02020603050405020304" pitchFamily="18" charset="0"/>
                <a:cs typeface="Times New Roman" panose="02020603050405020304" pitchFamily="18" charset="0"/>
              </a:rPr>
              <a:t>回归</a:t>
            </a:r>
            <a:r>
              <a:rPr lang="en-US" altLang="zh-CN" sz="3200" b="1" kern="0" dirty="0" smtClean="0">
                <a:solidFill>
                  <a:srgbClr val="C00000"/>
                </a:solidFill>
                <a:latin typeface="Times New Roman" panose="02020603050405020304" pitchFamily="18" charset="0"/>
                <a:cs typeface="Times New Roman" panose="02020603050405020304" pitchFamily="18" charset="0"/>
              </a:rPr>
              <a:t>)</a:t>
            </a:r>
            <a:r>
              <a:rPr lang="en-US" altLang="zh-CN" sz="3200" b="1" kern="0" dirty="0" smtClean="0">
                <a:solidFill>
                  <a:srgbClr val="07144B"/>
                </a:solidFill>
                <a:latin typeface="Times New Roman" panose="02020603050405020304" pitchFamily="18" charset="0"/>
                <a:cs typeface="Times New Roman" panose="02020603050405020304" pitchFamily="18" charset="0"/>
              </a:rPr>
              <a:t>.</a:t>
            </a:r>
            <a:endParaRPr lang="zh-CN" altLang="zh-CN" sz="3200" b="1" kern="100" dirty="0">
              <a:solidFill>
                <a:srgbClr val="07144B"/>
              </a:solidFill>
              <a:latin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07889203"/>
      </p:ext>
    </p:extLst>
  </p:cSld>
  <p:clrMapOvr>
    <a:masterClrMapping/>
  </p:clrMapOvr>
  <p:transition spd="slow" advClick="0" advTm="3000">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2"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Linear Least Squares Regression</a:t>
            </a:r>
            <a:endParaRPr lang="zh-CN" altLang="en-US" sz="2667" b="1" dirty="0">
              <a:solidFill>
                <a:srgbClr val="07144B"/>
              </a:solidFill>
              <a:latin typeface="微软雅黑" pitchFamily="34" charset="-122"/>
              <a:ea typeface="微软雅黑" pitchFamily="34"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19" name="Text Box 2"/>
          <p:cNvSpPr txBox="1">
            <a:spLocks noChangeArrowheads="1"/>
          </p:cNvSpPr>
          <p:nvPr/>
        </p:nvSpPr>
        <p:spPr bwMode="auto">
          <a:xfrm>
            <a:off x="346631" y="728118"/>
            <a:ext cx="1141399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zh-CN" altLang="en-US" sz="3200" b="1" dirty="0">
                <a:solidFill>
                  <a:prstClr val="blac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回归分析技术有时成为</a:t>
            </a:r>
            <a:r>
              <a:rPr kumimoji="1" lang="zh-CN" altLang="en-US" sz="3200" b="1" dirty="0" smtClean="0">
                <a:solidFill>
                  <a:prstClr val="blac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经验，</a:t>
            </a:r>
            <a:r>
              <a:rPr kumimoji="1" lang="zh-CN" altLang="en-US" sz="3200" b="1" dirty="0">
                <a:solidFill>
                  <a:prstClr val="blac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经验公式</a:t>
            </a:r>
            <a:r>
              <a:rPr kumimoji="1" lang="zh-CN" altLang="en-US" sz="3200" b="1" dirty="0">
                <a:solidFill>
                  <a:prstClr val="blac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法就是通过对实验数据的计算，采用</a:t>
            </a:r>
            <a:r>
              <a:rPr kumimoji="1" lang="zh-CN" altLang="en-US" sz="3200" b="1" dirty="0">
                <a:solidFill>
                  <a:srgbClr val="99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数理统计</a:t>
            </a:r>
            <a:r>
              <a:rPr kumimoji="1" lang="zh-CN" altLang="en-US" sz="3200" b="1" dirty="0">
                <a:solidFill>
                  <a:prstClr val="blac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的方法，使用</a:t>
            </a:r>
            <a:r>
              <a:rPr kumimoji="1" lang="zh-CN" altLang="en-US" sz="3200" b="1" dirty="0">
                <a:solidFill>
                  <a:srgbClr val="99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数学表达式</a:t>
            </a:r>
            <a:r>
              <a:rPr kumimoji="1" lang="zh-CN" altLang="en-US" sz="3200" b="1" dirty="0">
                <a:solidFill>
                  <a:prstClr val="blac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表示各变量之间关系</a:t>
            </a:r>
            <a:r>
              <a:rPr kumimoji="1" lang="en-US" altLang="zh-CN" sz="3200" b="1" dirty="0">
                <a:solidFill>
                  <a:prstClr val="blac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kumimoji="1" lang="zh-CN" altLang="en-US" sz="3200" b="1" dirty="0">
                <a:solidFill>
                  <a:prstClr val="black"/>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回归方程。</a:t>
            </a:r>
            <a:r>
              <a:rPr kumimoji="1" lang="zh-CN" altLang="en-US" sz="3200" b="1" dirty="0">
                <a:solidFill>
                  <a:prstClr val="black"/>
                </a:solidFill>
                <a:latin typeface="微软雅黑" panose="020B0503020204020204" pitchFamily="34" charset="-122"/>
                <a:ea typeface="微软雅黑" panose="020B0503020204020204" pitchFamily="34" charset="-122"/>
              </a:rPr>
              <a:t> </a:t>
            </a:r>
          </a:p>
        </p:txBody>
      </p:sp>
      <p:graphicFrame>
        <p:nvGraphicFramePr>
          <p:cNvPr id="20" name="Group 3"/>
          <p:cNvGraphicFramePr>
            <a:graphicFrameLocks noGrp="1"/>
          </p:cNvGraphicFramePr>
          <p:nvPr>
            <p:extLst/>
          </p:nvPr>
        </p:nvGraphicFramePr>
        <p:xfrm>
          <a:off x="527380" y="2476017"/>
          <a:ext cx="10945220" cy="2053167"/>
        </p:xfrm>
        <a:graphic>
          <a:graphicData uri="http://schemas.openxmlformats.org/drawingml/2006/table">
            <a:tbl>
              <a:tblPr/>
              <a:tblGrid>
                <a:gridCol w="1563604">
                  <a:extLst>
                    <a:ext uri="{9D8B030D-6E8A-4147-A177-3AD203B41FA5}">
                      <a16:colId xmlns="" xmlns:a16="http://schemas.microsoft.com/office/drawing/2014/main" val="2467946553"/>
                    </a:ext>
                  </a:extLst>
                </a:gridCol>
                <a:gridCol w="2247679">
                  <a:extLst>
                    <a:ext uri="{9D8B030D-6E8A-4147-A177-3AD203B41FA5}">
                      <a16:colId xmlns="" xmlns:a16="http://schemas.microsoft.com/office/drawing/2014/main" val="2635480724"/>
                    </a:ext>
                  </a:extLst>
                </a:gridCol>
                <a:gridCol w="2551791">
                  <a:extLst>
                    <a:ext uri="{9D8B030D-6E8A-4147-A177-3AD203B41FA5}">
                      <a16:colId xmlns="" xmlns:a16="http://schemas.microsoft.com/office/drawing/2014/main" val="1167763193"/>
                    </a:ext>
                  </a:extLst>
                </a:gridCol>
                <a:gridCol w="2085867">
                  <a:extLst>
                    <a:ext uri="{9D8B030D-6E8A-4147-A177-3AD203B41FA5}">
                      <a16:colId xmlns="" xmlns:a16="http://schemas.microsoft.com/office/drawing/2014/main" val="1561789853"/>
                    </a:ext>
                  </a:extLst>
                </a:gridCol>
                <a:gridCol w="2496279">
                  <a:extLst>
                    <a:ext uri="{9D8B030D-6E8A-4147-A177-3AD203B41FA5}">
                      <a16:colId xmlns="" xmlns:a16="http://schemas.microsoft.com/office/drawing/2014/main" val="2696019890"/>
                    </a:ext>
                  </a:extLst>
                </a:gridCol>
              </a:tblGrid>
              <a:tr h="935567">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endParaRPr kumimoji="0" lang="zh-CN" altLang="zh-CN" sz="3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zh-CN" altLang="en-US" sz="2400" b="1" i="0" u="none" strike="noStrike" cap="none" normalizeH="0" baseline="0" dirty="0" smtClean="0">
                          <a:ln>
                            <a:noFill/>
                          </a:ln>
                          <a:solidFill>
                            <a:srgbClr val="990000"/>
                          </a:solidFill>
                          <a:effectLst/>
                          <a:latin typeface="Times New Roman" panose="02020603050405020304" pitchFamily="18" charset="0"/>
                          <a:ea typeface="楷体_GB2312" pitchFamily="49" charset="-122"/>
                        </a:rPr>
                        <a:t>一元线性回归</a:t>
                      </a:r>
                      <a:endParaRPr kumimoji="0" lang="zh-CN" altLang="en-US" sz="3200" b="0" i="0" u="none" strike="noStrike" cap="none" normalizeH="0" baseline="0" dirty="0" smtClean="0">
                        <a:ln>
                          <a:noFill/>
                        </a:ln>
                        <a:solidFill>
                          <a:srgbClr val="990000"/>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一元非线性回归</a:t>
                      </a:r>
                      <a:endParaRPr kumimoji="0" lang="zh-CN" altLang="en-US" sz="3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多元线性回归</a:t>
                      </a:r>
                      <a:endParaRPr kumimoji="0" lang="zh-CN" altLang="en-US"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多元非线性回归</a:t>
                      </a:r>
                      <a:endParaRPr kumimoji="0" lang="zh-CN" altLang="en-US"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 xmlns:a16="http://schemas.microsoft.com/office/drawing/2014/main" val="559041204"/>
                  </a:ext>
                </a:extLst>
              </a:tr>
              <a:tr h="588433">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变量个数</a:t>
                      </a:r>
                      <a:endParaRPr kumimoji="0" lang="zh-CN" altLang="en-US"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_GB2312"/>
                          <a:cs typeface="̥_GB2312"/>
                        </a:rPr>
                        <a:t>1</a:t>
                      </a:r>
                      <a:endParaRPr kumimoji="0" lang="en-US" altLang="zh-CN"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_GB2312"/>
                          <a:cs typeface="̥_GB2312"/>
                        </a:rPr>
                        <a:t>1</a:t>
                      </a:r>
                      <a:endParaRPr kumimoji="0" lang="en-US" altLang="zh-CN"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_GB2312"/>
                          <a:cs typeface="̥_GB2312"/>
                        </a:rPr>
                        <a:t>&gt;1</a:t>
                      </a:r>
                      <a:endParaRPr kumimoji="0" lang="en-US" altLang="zh-CN" sz="3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_GB2312"/>
                          <a:cs typeface="̥_GB2312"/>
                        </a:rPr>
                        <a:t>&gt;1</a:t>
                      </a:r>
                      <a:endParaRPr kumimoji="0" lang="en-US" altLang="zh-CN" sz="3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 xmlns:a16="http://schemas.microsoft.com/office/drawing/2014/main" val="3313851891"/>
                  </a:ext>
                </a:extLst>
              </a:tr>
              <a:tr h="529167">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方次</a:t>
                      </a:r>
                      <a:endParaRPr kumimoji="0" lang="zh-CN" altLang="en-US"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_GB2312"/>
                          <a:cs typeface="̥_GB2312"/>
                        </a:rPr>
                        <a:t>1</a:t>
                      </a:r>
                      <a:endParaRPr kumimoji="0" lang="en-US" altLang="zh-CN"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_GB2312"/>
                          <a:cs typeface="̥_GB2312"/>
                        </a:rPr>
                        <a:t>&gt;1</a:t>
                      </a:r>
                      <a:endParaRPr kumimoji="0" lang="en-US" altLang="zh-CN"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_GB2312"/>
                          <a:cs typeface="̥_GB2312"/>
                        </a:rPr>
                        <a:t>1</a:t>
                      </a:r>
                      <a:endParaRPr kumimoji="0" lang="en-US" altLang="zh-CN"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lvl1pPr>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defRPr sz="2000">
                          <a:solidFill>
                            <a:schemeClr val="tx1"/>
                          </a:solidFill>
                          <a:latin typeface="Arial" panose="020B0604020202020204" pitchFamily="34" charset="0"/>
                          <a:ea typeface="宋体" panose="02010600030101010101" pitchFamily="2" charset="-122"/>
                        </a:defRPr>
                      </a:lvl2pPr>
                      <a:lvl3pPr>
                        <a:spcBef>
                          <a:spcPct val="20000"/>
                        </a:spcBef>
                        <a:buClr>
                          <a:schemeClr val="tx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a:spcBef>
                          <a:spcPct val="20000"/>
                        </a:spcBef>
                        <a:buClr>
                          <a:schemeClr val="tx1"/>
                        </a:buClr>
                        <a:buSzPct val="80000"/>
                        <a:defRPr sz="1600">
                          <a:solidFill>
                            <a:schemeClr val="tx1"/>
                          </a:solidFill>
                          <a:latin typeface="Arial" panose="020B0604020202020204" pitchFamily="34" charset="0"/>
                          <a:ea typeface="宋体" panose="02010600030101010101" pitchFamily="2" charset="-122"/>
                        </a:defRPr>
                      </a:lvl4pPr>
                      <a:lvl5pPr>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
                          <a:schemeClr val="tx1"/>
                        </a:buClr>
                        <a:buSzPct val="75000"/>
                        <a:buFont typeface="Wingdings" panose="05000000000000000000" pitchFamily="2" charset="2"/>
                        <a:buNone/>
                        <a:tabLst/>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_GB2312"/>
                          <a:cs typeface="̥_GB2312"/>
                        </a:rPr>
                        <a:t>&gt;1</a:t>
                      </a:r>
                      <a:endParaRPr kumimoji="0" lang="en-US" altLang="zh-CN" sz="3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20000" marR="120000" marT="62400" marB="6240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 xmlns:a16="http://schemas.microsoft.com/office/drawing/2014/main" val="2270456912"/>
                  </a:ext>
                </a:extLst>
              </a:tr>
            </a:tbl>
          </a:graphicData>
        </a:graphic>
      </p:graphicFrame>
      <p:sp>
        <p:nvSpPr>
          <p:cNvPr id="21" name="AutoShape 29"/>
          <p:cNvSpPr>
            <a:spLocks noChangeArrowheads="1"/>
          </p:cNvSpPr>
          <p:nvPr/>
        </p:nvSpPr>
        <p:spPr bwMode="auto">
          <a:xfrm rot="5400000">
            <a:off x="6009613" y="2336814"/>
            <a:ext cx="863600" cy="2995084"/>
          </a:xfrm>
          <a:prstGeom prst="wedgeRoundRectCallout">
            <a:avLst>
              <a:gd name="adj1" fmla="val -105416"/>
              <a:gd name="adj2" fmla="val 81233"/>
              <a:gd name="adj3" fmla="val 16667"/>
            </a:avLst>
          </a:prstGeom>
          <a:solidFill>
            <a:schemeClr val="accent2">
              <a:lumMod val="20000"/>
              <a:lumOff val="80000"/>
            </a:schemeClr>
          </a:solidFill>
          <a:ln w="9525">
            <a:solidFill>
              <a:srgbClr val="FFFFFF"/>
            </a:solidFill>
            <a:miter lim="800000"/>
            <a:headEnd/>
            <a:tailEnd/>
          </a:ln>
          <a:effectLst/>
        </p:spPr>
        <p:txBody>
          <a:bodyPr rot="10800000" vert="eaVert" lIns="120000" tIns="62400" rIns="120000" bIns="62400"/>
          <a:lstStyle/>
          <a:p>
            <a:pPr algn="ctr" fontAlgn="base">
              <a:spcBef>
                <a:spcPct val="0"/>
              </a:spcBef>
              <a:spcAft>
                <a:spcPct val="0"/>
              </a:spcAft>
            </a:pPr>
            <a:r>
              <a:rPr lang="en-US" altLang="zh-CN" sz="3733" b="1" i="1">
                <a:solidFill>
                  <a:srgbClr val="800000"/>
                </a:solidFill>
                <a:latin typeface="Times New Roman" panose="02020603050405020304" pitchFamily="18" charset="0"/>
                <a:ea typeface="宋体" panose="02010600030101010101" pitchFamily="2" charset="-122"/>
              </a:rPr>
              <a:t>y</a:t>
            </a:r>
            <a:r>
              <a:rPr lang="en-US" altLang="zh-CN" sz="3733" b="1">
                <a:solidFill>
                  <a:srgbClr val="800000"/>
                </a:solidFill>
                <a:latin typeface="Times New Roman" panose="02020603050405020304" pitchFamily="18" charset="0"/>
                <a:ea typeface="宋体" panose="02010600030101010101" pitchFamily="2" charset="-122"/>
              </a:rPr>
              <a:t>=</a:t>
            </a:r>
            <a:r>
              <a:rPr lang="en-US" altLang="zh-CN" sz="3733" b="1" i="1">
                <a:solidFill>
                  <a:srgbClr val="800000"/>
                </a:solidFill>
                <a:latin typeface="Times New Roman" panose="02020603050405020304" pitchFamily="18" charset="0"/>
                <a:ea typeface="宋体" panose="02010600030101010101" pitchFamily="2" charset="-122"/>
              </a:rPr>
              <a:t>a</a:t>
            </a:r>
            <a:r>
              <a:rPr lang="en-US" altLang="zh-CN" sz="3733" b="1">
                <a:solidFill>
                  <a:srgbClr val="800000"/>
                </a:solidFill>
                <a:latin typeface="Times New Roman" panose="02020603050405020304" pitchFamily="18" charset="0"/>
                <a:ea typeface="宋体" panose="02010600030101010101" pitchFamily="2" charset="-122"/>
              </a:rPr>
              <a:t>+</a:t>
            </a:r>
            <a:r>
              <a:rPr lang="en-US" altLang="zh-CN" sz="3733" b="1" i="1">
                <a:solidFill>
                  <a:srgbClr val="800000"/>
                </a:solidFill>
                <a:latin typeface="Times New Roman" panose="02020603050405020304" pitchFamily="18" charset="0"/>
                <a:ea typeface="宋体" panose="02010600030101010101" pitchFamily="2" charset="-122"/>
              </a:rPr>
              <a:t>bx</a:t>
            </a:r>
          </a:p>
        </p:txBody>
      </p:sp>
      <p:sp>
        <p:nvSpPr>
          <p:cNvPr id="22" name="Rectangle 30"/>
          <p:cNvSpPr>
            <a:spLocks noChangeArrowheads="1"/>
          </p:cNvSpPr>
          <p:nvPr/>
        </p:nvSpPr>
        <p:spPr bwMode="auto">
          <a:xfrm>
            <a:off x="178867" y="4821133"/>
            <a:ext cx="1167777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en-US" altLang="zh-CN" sz="3200" b="1" dirty="0">
                <a:solidFill>
                  <a:prstClr val="black"/>
                </a:solidFill>
                <a:effectLst>
                  <a:outerShdw blurRad="38100" dist="38100" dir="2700000" algn="tl">
                    <a:srgbClr val="C0C0C0"/>
                  </a:outerShdw>
                </a:effectLst>
                <a:latin typeface="Arial" panose="020B0604020202020204" pitchFamily="34" charset="0"/>
                <a:ea typeface="宋体" panose="02010600030101010101" pitchFamily="2" charset="-122"/>
              </a:rPr>
              <a:t>     </a:t>
            </a:r>
            <a:r>
              <a:rPr lang="zh-CN" altLang="en-US" sz="3200" b="1" dirty="0">
                <a:solidFill>
                  <a:prstClr val="black"/>
                </a:solidFill>
                <a:effectLst>
                  <a:outerShdw blurRad="38100" dist="38100" dir="2700000" algn="tl">
                    <a:srgbClr val="C0C0C0"/>
                  </a:outerShdw>
                </a:effectLst>
                <a:latin typeface="Arial" panose="020B0604020202020204" pitchFamily="34" charset="0"/>
                <a:ea typeface="宋体" panose="02010600030101010101" pitchFamily="2" charset="-122"/>
              </a:rPr>
              <a:t>有些一元非线性回归可采用变量代换，将其转化为线性回归方程来解。</a:t>
            </a:r>
          </a:p>
        </p:txBody>
      </p:sp>
    </p:spTree>
    <p:extLst>
      <p:ext uri="{BB962C8B-B14F-4D97-AF65-F5344CB8AC3E}">
        <p14:creationId xmlns:p14="http://schemas.microsoft.com/office/powerpoint/2010/main" val="4165612554"/>
      </p:ext>
    </p:extLst>
  </p:cSld>
  <p:clrMapOvr>
    <a:masterClrMapping/>
  </p:clrMapOvr>
  <p:transition spd="slow" advClick="0" advTm="3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2" name="矩形 1"/>
          <p:cNvSpPr/>
          <p:nvPr/>
        </p:nvSpPr>
        <p:spPr>
          <a:xfrm>
            <a:off x="277187" y="734139"/>
            <a:ext cx="11425269" cy="2062103"/>
          </a:xfrm>
          <a:prstGeom prst="rect">
            <a:avLst/>
          </a:prstGeom>
        </p:spPr>
        <p:txBody>
          <a:bodyPr wrap="square">
            <a:spAutoFit/>
          </a:bodyPr>
          <a:lstStyle/>
          <a:p>
            <a:pPr fontAlgn="base">
              <a:spcBef>
                <a:spcPct val="0"/>
              </a:spcBef>
              <a:spcAft>
                <a:spcPct val="0"/>
              </a:spcAft>
            </a:pPr>
            <a:r>
              <a:rPr lang="en-US" altLang="zh-CN" sz="3200" b="1" kern="0" dirty="0">
                <a:solidFill>
                  <a:srgbClr val="07144B"/>
                </a:solidFill>
                <a:latin typeface="Times New Roman" panose="02020603050405020304" pitchFamily="18" charset="0"/>
              </a:rPr>
              <a:t>Linear least squares regression estimates the </a:t>
            </a:r>
            <a:r>
              <a:rPr lang="en-US" altLang="zh-CN" sz="3200" b="1" u="sng" kern="0" dirty="0">
                <a:solidFill>
                  <a:srgbClr val="FF0000"/>
                </a:solidFill>
                <a:latin typeface="Times New Roman" panose="02020603050405020304" pitchFamily="18" charset="0"/>
              </a:rPr>
              <a:t>optimal </a:t>
            </a:r>
            <a:r>
              <a:rPr lang="en-US" altLang="zh-CN" sz="3200" b="1" u="sng" kern="0" dirty="0" smtClean="0">
                <a:solidFill>
                  <a:srgbClr val="FF0000"/>
                </a:solidFill>
                <a:latin typeface="Times New Roman" panose="02020603050405020304" pitchFamily="18" charset="0"/>
              </a:rPr>
              <a:t>values(</a:t>
            </a:r>
            <a:r>
              <a:rPr lang="zh-CN" altLang="en-US" sz="3200" b="1" u="sng" kern="0" dirty="0" smtClean="0">
                <a:solidFill>
                  <a:srgbClr val="FF0000"/>
                </a:solidFill>
                <a:latin typeface="Times New Roman" panose="02020603050405020304" pitchFamily="18" charset="0"/>
              </a:rPr>
              <a:t>最优值</a:t>
            </a:r>
            <a:r>
              <a:rPr lang="en-US" altLang="zh-CN" sz="3200" b="1" u="sng" kern="0" dirty="0" smtClean="0">
                <a:solidFill>
                  <a:srgbClr val="FF0000"/>
                </a:solidFill>
                <a:latin typeface="Times New Roman" panose="02020603050405020304" pitchFamily="18" charset="0"/>
              </a:rPr>
              <a:t>)</a:t>
            </a:r>
            <a:r>
              <a:rPr lang="en-US" altLang="zh-CN" sz="3200" b="1" kern="0" dirty="0" smtClean="0">
                <a:solidFill>
                  <a:srgbClr val="07144B"/>
                </a:solidFill>
                <a:latin typeface="Times New Roman" panose="02020603050405020304" pitchFamily="18" charset="0"/>
              </a:rPr>
              <a:t> </a:t>
            </a:r>
            <a:r>
              <a:rPr lang="en-US" altLang="zh-CN" sz="3200" b="1" kern="0" dirty="0">
                <a:solidFill>
                  <a:srgbClr val="07144B"/>
                </a:solidFill>
                <a:latin typeface="Times New Roman" panose="02020603050405020304" pitchFamily="18" charset="0"/>
              </a:rPr>
              <a:t>for the constant coefficients </a:t>
            </a:r>
            <a:r>
              <a:rPr lang="en-US" altLang="zh-CN" sz="3200" b="1" i="1" kern="0" dirty="0">
                <a:solidFill>
                  <a:srgbClr val="07144B"/>
                </a:solidFill>
                <a:latin typeface="Times New Roman" panose="02020603050405020304" pitchFamily="18" charset="0"/>
              </a:rPr>
              <a:t>a</a:t>
            </a:r>
            <a:r>
              <a:rPr lang="en-US" altLang="zh-CN" sz="3200" b="1" kern="0" dirty="0">
                <a:solidFill>
                  <a:srgbClr val="07144B"/>
                </a:solidFill>
                <a:latin typeface="Times New Roman" panose="02020603050405020304" pitchFamily="18" charset="0"/>
              </a:rPr>
              <a:t> and </a:t>
            </a:r>
            <a:r>
              <a:rPr lang="en-US" altLang="zh-CN" sz="3200" b="1" i="1" kern="0" dirty="0">
                <a:solidFill>
                  <a:srgbClr val="07144B"/>
                </a:solidFill>
                <a:latin typeface="Times New Roman" panose="02020603050405020304" pitchFamily="18" charset="0"/>
              </a:rPr>
              <a:t>b</a:t>
            </a:r>
            <a:r>
              <a:rPr lang="en-US" altLang="zh-CN" sz="3200" b="1" kern="0" dirty="0">
                <a:solidFill>
                  <a:srgbClr val="07144B"/>
                </a:solidFill>
                <a:latin typeface="Times New Roman" panose="02020603050405020304" pitchFamily="18" charset="0"/>
              </a:rPr>
              <a:t> for a set of </a:t>
            </a:r>
            <a:r>
              <a:rPr lang="en-US" altLang="zh-CN" sz="3200" b="1" i="1" kern="0" dirty="0">
                <a:solidFill>
                  <a:srgbClr val="07144B"/>
                </a:solidFill>
                <a:latin typeface="Times New Roman" panose="02020603050405020304" pitchFamily="18" charset="0"/>
              </a:rPr>
              <a:t>n</a:t>
            </a:r>
            <a:r>
              <a:rPr lang="en-US" altLang="zh-CN" sz="3200" b="1" kern="0" dirty="0">
                <a:solidFill>
                  <a:srgbClr val="07144B"/>
                </a:solidFill>
                <a:latin typeface="Times New Roman" panose="02020603050405020304" pitchFamily="18" charset="0"/>
              </a:rPr>
              <a:t> measurements, such that the relationship gives the best </a:t>
            </a:r>
            <a:r>
              <a:rPr lang="en-US" altLang="zh-CN" sz="3200" b="1" kern="0" dirty="0" smtClean="0">
                <a:solidFill>
                  <a:srgbClr val="07144B"/>
                </a:solidFill>
                <a:latin typeface="Times New Roman" panose="02020603050405020304" pitchFamily="18" charset="0"/>
              </a:rPr>
              <a:t>fit(</a:t>
            </a:r>
            <a:r>
              <a:rPr lang="zh-CN" altLang="en-US" sz="3200" b="1" kern="0" dirty="0" smtClean="0">
                <a:solidFill>
                  <a:srgbClr val="07144B"/>
                </a:solidFill>
                <a:latin typeface="Times New Roman" panose="02020603050405020304" pitchFamily="18" charset="0"/>
              </a:rPr>
              <a:t>拟合</a:t>
            </a:r>
            <a:r>
              <a:rPr lang="en-US" altLang="zh-CN" sz="3200" b="1" kern="0" dirty="0" smtClean="0">
                <a:solidFill>
                  <a:srgbClr val="07144B"/>
                </a:solidFill>
                <a:latin typeface="Times New Roman" panose="02020603050405020304" pitchFamily="18" charset="0"/>
              </a:rPr>
              <a:t>) </a:t>
            </a:r>
            <a:r>
              <a:rPr lang="en-US" altLang="zh-CN" sz="3200" b="1" kern="0" dirty="0">
                <a:solidFill>
                  <a:srgbClr val="07144B"/>
                </a:solidFill>
                <a:latin typeface="Times New Roman" panose="02020603050405020304" pitchFamily="18" charset="0"/>
              </a:rPr>
              <a:t>to the measurement data. </a:t>
            </a:r>
            <a:endParaRPr lang="zh-CN" altLang="en-US" sz="3200" b="1" dirty="0">
              <a:solidFill>
                <a:srgbClr val="07144B"/>
              </a:solidFill>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3" name="矩形 2"/>
              <p:cNvSpPr/>
              <p:nvPr/>
            </p:nvSpPr>
            <p:spPr>
              <a:xfrm>
                <a:off x="2543605" y="3401822"/>
                <a:ext cx="5692519" cy="2056204"/>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d>
                        <m:dPr>
                          <m:begChr m:val="{"/>
                          <m:endChr m:val=""/>
                          <m:ctrlPr>
                            <a:rPr lang="zh-CN" altLang="en-US" sz="2400" i="1">
                              <a:solidFill>
                                <a:prstClr val="black"/>
                              </a:solidFill>
                              <a:latin typeface="Cambria Math" panose="02040503050406030204" pitchFamily="18" charset="0"/>
                            </a:rPr>
                          </m:ctrlPr>
                        </m:dPr>
                        <m:e>
                          <m:m>
                            <m:mPr>
                              <m:mcs>
                                <m:mc>
                                  <m:mcPr>
                                    <m:count m:val="1"/>
                                    <m:mcJc m:val="center"/>
                                  </m:mcPr>
                                </m:mc>
                              </m:mcs>
                              <m:ctrlPr>
                                <a:rPr lang="zh-CN" altLang="en-US" sz="2400" i="1">
                                  <a:solidFill>
                                    <a:prstClr val="black"/>
                                  </a:solidFill>
                                  <a:latin typeface="Cambria Math" panose="02040503050406030204" pitchFamily="18" charset="0"/>
                                </a:rPr>
                              </m:ctrlPr>
                            </m:mPr>
                            <m:mr>
                              <m:e>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nary>
                                      <m:naryPr>
                                        <m:chr m:val="∑"/>
                                        <m:limLoc m:val="undOvr"/>
                                        <m:grow m:val="on"/>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𝑖</m:t>
                                            </m:r>
                                          </m:sub>
                                        </m:sSub>
                                      </m:e>
                                    </m:nary>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d>
                                          <m:dPr>
                                            <m:ctrlPr>
                                              <a:rPr lang="zh-CN" altLang="en-US" sz="2400" i="1">
                                                <a:solidFill>
                                                  <a:prstClr val="black"/>
                                                </a:solidFill>
                                                <a:latin typeface="Cambria Math" panose="02040503050406030204" pitchFamily="18" charset="0"/>
                                              </a:rPr>
                                            </m:ctrlPr>
                                          </m:dPr>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𝑖</m:t>
                                                </m:r>
                                              </m:sub>
                                            </m:sSub>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𝑦</m:t>
                                                </m:r>
                                              </m:e>
                                              <m:sub>
                                                <m:r>
                                                  <a:rPr lang="zh-CN" altLang="en-US" sz="2400" i="1">
                                                    <a:solidFill>
                                                      <a:prstClr val="black"/>
                                                    </a:solidFill>
                                                    <a:latin typeface="Cambria Math" panose="02040503050406030204" pitchFamily="18" charset="0"/>
                                                  </a:rPr>
                                                  <m:t>𝑖</m:t>
                                                </m:r>
                                              </m:sub>
                                            </m:sSub>
                                          </m:e>
                                        </m:d>
                                        <m:r>
                                          <a:rPr lang="zh-CN" altLang="en-US" sz="2400">
                                            <a:solidFill>
                                              <a:prstClr val="black"/>
                                            </a:solidFill>
                                            <a:latin typeface="Cambria Math" panose="02040503050406030204" pitchFamily="18" charset="0"/>
                                          </a:rPr>
                                          <m:t>−</m:t>
                                        </m:r>
                                        <m:nary>
                                          <m:naryPr>
                                            <m:chr m:val="∑"/>
                                            <m:limLoc m:val="subSup"/>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𝑦</m:t>
                                                </m:r>
                                              </m:e>
                                              <m:sub>
                                                <m:r>
                                                  <a:rPr lang="zh-CN" altLang="en-US" sz="2400" i="1">
                                                    <a:solidFill>
                                                      <a:prstClr val="black"/>
                                                    </a:solidFill>
                                                    <a:latin typeface="Cambria Math" panose="02040503050406030204" pitchFamily="18" charset="0"/>
                                                  </a:rPr>
                                                  <m:t>𝑖</m:t>
                                                </m:r>
                                              </m:sub>
                                            </m:sSub>
                                          </m:e>
                                        </m:nary>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Sup>
                                              <m:sSubSupPr>
                                                <m:ctrlPr>
                                                  <a:rPr lang="zh-CN" altLang="en-US" sz="2400" i="1">
                                                    <a:solidFill>
                                                      <a:prstClr val="black"/>
                                                    </a:solidFill>
                                                    <a:latin typeface="Cambria Math" panose="02040503050406030204" pitchFamily="18" charset="0"/>
                                                  </a:rPr>
                                                </m:ctrlPr>
                                              </m:sSubSupPr>
                                              <m:e>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𝑖</m:t>
                                                </m:r>
                                              </m:sub>
                                              <m:sup>
                                                <m:r>
                                                  <a:rPr lang="zh-CN" altLang="en-US" sz="2400">
                                                    <a:solidFill>
                                                      <a:prstClr val="black"/>
                                                    </a:solidFill>
                                                    <a:latin typeface="Cambria Math" panose="02040503050406030204" pitchFamily="18" charset="0"/>
                                                  </a:rPr>
                                                  <m:t>2</m:t>
                                                </m:r>
                                              </m:sup>
                                            </m:sSubSup>
                                          </m:e>
                                        </m:nary>
                                      </m:e>
                                    </m:nary>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𝑖</m:t>
                                                    </m:r>
                                                  </m:sub>
                                                </m:sSub>
                                              </m:e>
                                            </m:nary>
                                          </m:e>
                                        </m:d>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𝑛</m:t>
                                    </m:r>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Sup>
                                          <m:sSubSupPr>
                                            <m:ctrlPr>
                                              <a:rPr lang="zh-CN" altLang="en-US" sz="2400" i="1">
                                                <a:solidFill>
                                                  <a:prstClr val="black"/>
                                                </a:solidFill>
                                                <a:latin typeface="Cambria Math" panose="02040503050406030204" pitchFamily="18" charset="0"/>
                                              </a:rPr>
                                            </m:ctrlPr>
                                          </m:sSubSupPr>
                                          <m:e>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𝑖</m:t>
                                            </m:r>
                                          </m:sub>
                                          <m:sup>
                                            <m:r>
                                              <a:rPr lang="zh-CN" altLang="en-US" sz="2400">
                                                <a:solidFill>
                                                  <a:prstClr val="black"/>
                                                </a:solidFill>
                                                <a:latin typeface="Cambria Math" panose="02040503050406030204" pitchFamily="18" charset="0"/>
                                              </a:rPr>
                                              <m:t>2</m:t>
                                            </m:r>
                                          </m:sup>
                                        </m:sSubSup>
                                      </m:e>
                                    </m:nary>
                                  </m:den>
                                </m:f>
                              </m:e>
                            </m:mr>
                            <m:mr>
                              <m:e>
                                <m:r>
                                  <a:rPr lang="zh-CN" altLang="en-US" sz="2400" i="1">
                                    <a:solidFill>
                                      <a:prstClr val="black"/>
                                    </a:solidFill>
                                    <a:latin typeface="Cambria Math" panose="02040503050406030204" pitchFamily="18" charset="0"/>
                                  </a:rPr>
                                  <m:t>𝑏</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𝑖</m:t>
                                            </m:r>
                                          </m:sub>
                                        </m:sSub>
                                      </m:e>
                                    </m:nary>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𝑦</m:t>
                                            </m:r>
                                          </m:e>
                                          <m:sub>
                                            <m:r>
                                              <a:rPr lang="zh-CN" altLang="en-US" sz="2400" i="1">
                                                <a:solidFill>
                                                  <a:prstClr val="black"/>
                                                </a:solidFill>
                                                <a:latin typeface="Cambria Math" panose="02040503050406030204" pitchFamily="18" charset="0"/>
                                              </a:rPr>
                                              <m:t>𝑖</m:t>
                                            </m:r>
                                          </m:sub>
                                        </m:sSub>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𝑛</m:t>
                                        </m:r>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
                                              <m:sSubPr>
                                                <m:ctrlPr>
                                                  <a:rPr lang="zh-CN" altLang="en-US" sz="2400" i="1">
                                                    <a:solidFill>
                                                      <a:prstClr val="black"/>
                                                    </a:solidFill>
                                                    <a:latin typeface="Cambria Math" panose="02040503050406030204" pitchFamily="18" charset="0"/>
                                                  </a:rPr>
                                                </m:ctrlPr>
                                              </m:sSubPr>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𝑖</m:t>
                                                    </m:r>
                                                  </m:sub>
                                                </m:sSub>
                                                <m:r>
                                                  <a:rPr lang="zh-CN" altLang="en-US" sz="2400" i="1">
                                                    <a:solidFill>
                                                      <a:prstClr val="black"/>
                                                    </a:solidFill>
                                                    <a:latin typeface="Cambria Math" panose="02040503050406030204" pitchFamily="18" charset="0"/>
                                                  </a:rPr>
                                                  <m:t>𝑦</m:t>
                                                </m:r>
                                              </m:e>
                                              <m:sub>
                                                <m:r>
                                                  <a:rPr lang="zh-CN" altLang="en-US" sz="2400" i="1">
                                                    <a:solidFill>
                                                      <a:prstClr val="black"/>
                                                    </a:solidFill>
                                                    <a:latin typeface="Cambria Math" panose="02040503050406030204" pitchFamily="18" charset="0"/>
                                                  </a:rPr>
                                                  <m:t>𝑖</m:t>
                                                </m:r>
                                              </m:sub>
                                            </m:sSub>
                                          </m:e>
                                        </m:nary>
                                      </m:e>
                                    </m:nary>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𝑖</m:t>
                                                    </m:r>
                                                  </m:sub>
                                                </m:sSub>
                                              </m:e>
                                            </m:nary>
                                          </m:e>
                                        </m:d>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𝑛</m:t>
                                    </m:r>
                                    <m:nary>
                                      <m:naryPr>
                                        <m:chr m:val="∑"/>
                                        <m:limLoc m:val="undOvr"/>
                                        <m:ctrlPr>
                                          <a:rPr lang="zh-CN" altLang="en-US" sz="2400" i="1">
                                            <a:solidFill>
                                              <a:prstClr val="black"/>
                                            </a:solidFill>
                                            <a:latin typeface="Cambria Math" panose="02040503050406030204" pitchFamily="18" charset="0"/>
                                          </a:rPr>
                                        </m:ctrlPr>
                                      </m:naryPr>
                                      <m:sub>
                                        <m:r>
                                          <a:rPr lang="zh-CN" altLang="en-US" sz="2400" i="1">
                                            <a:solidFill>
                                              <a:prstClr val="black"/>
                                            </a:solidFill>
                                            <a:latin typeface="Cambria Math" panose="02040503050406030204" pitchFamily="18" charset="0"/>
                                          </a:rPr>
                                          <m:t>𝑖</m:t>
                                        </m:r>
                                        <m:r>
                                          <a:rPr lang="zh-CN" altLang="en-US" sz="2400">
                                            <a:solidFill>
                                              <a:prstClr val="black"/>
                                            </a:solidFill>
                                            <a:latin typeface="Cambria Math" panose="02040503050406030204" pitchFamily="18" charset="0"/>
                                          </a:rPr>
                                          <m:t>=1</m:t>
                                        </m:r>
                                      </m:sub>
                                      <m:sup>
                                        <m:r>
                                          <a:rPr lang="zh-CN" altLang="en-US" sz="2400" i="1">
                                            <a:solidFill>
                                              <a:prstClr val="black"/>
                                            </a:solidFill>
                                            <a:latin typeface="Cambria Math" panose="02040503050406030204" pitchFamily="18" charset="0"/>
                                          </a:rPr>
                                          <m:t>𝑛</m:t>
                                        </m:r>
                                      </m:sup>
                                      <m:e>
                                        <m:sSubSup>
                                          <m:sSubSupPr>
                                            <m:ctrlPr>
                                              <a:rPr lang="zh-CN" altLang="en-US" sz="2400" i="1">
                                                <a:solidFill>
                                                  <a:prstClr val="black"/>
                                                </a:solidFill>
                                                <a:latin typeface="Cambria Math" panose="02040503050406030204" pitchFamily="18" charset="0"/>
                                              </a:rPr>
                                            </m:ctrlPr>
                                          </m:sSubSupPr>
                                          <m:e>
                                            <m:r>
                                              <a:rPr lang="zh-CN" altLang="en-US" sz="2400" i="1">
                                                <a:solidFill>
                                                  <a:prstClr val="black"/>
                                                </a:solidFill>
                                                <a:latin typeface="Cambria Math" panose="02040503050406030204" pitchFamily="18" charset="0"/>
                                              </a:rPr>
                                              <m:t>𝑥</m:t>
                                            </m:r>
                                          </m:e>
                                          <m:sub>
                                            <m:r>
                                              <a:rPr lang="zh-CN" altLang="en-US" sz="2400" i="1">
                                                <a:solidFill>
                                                  <a:prstClr val="black"/>
                                                </a:solidFill>
                                                <a:latin typeface="Cambria Math" panose="02040503050406030204" pitchFamily="18" charset="0"/>
                                              </a:rPr>
                                              <m:t>𝑖</m:t>
                                            </m:r>
                                          </m:sub>
                                          <m:sup>
                                            <m:r>
                                              <a:rPr lang="zh-CN" altLang="en-US" sz="2400">
                                                <a:solidFill>
                                                  <a:prstClr val="black"/>
                                                </a:solidFill>
                                                <a:latin typeface="Cambria Math" panose="02040503050406030204" pitchFamily="18" charset="0"/>
                                              </a:rPr>
                                              <m:t>2</m:t>
                                            </m:r>
                                          </m:sup>
                                        </m:sSubSup>
                                      </m:e>
                                    </m:nary>
                                  </m:den>
                                </m:f>
                              </m:e>
                            </m:mr>
                          </m:m>
                        </m:e>
                      </m:d>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1907704" y="2551366"/>
                <a:ext cx="4324774" cy="1584601"/>
              </a:xfrm>
              <a:prstGeom prst="rect">
                <a:avLst/>
              </a:prstGeom>
              <a:blipFill>
                <a:blip r:embed="rId5"/>
                <a:stretch>
                  <a:fillRect/>
                </a:stretch>
              </a:blipFill>
            </p:spPr>
            <p:txBody>
              <a:bodyPr/>
              <a:lstStyle/>
              <a:p>
                <a:r>
                  <a:rPr lang="zh-CN" altLang="en-US">
                    <a:noFill/>
                  </a:rPr>
                  <a:t> </a:t>
                </a:r>
              </a:p>
            </p:txBody>
          </p:sp>
        </mc:Fallback>
      </mc:AlternateContent>
      <p:sp>
        <p:nvSpPr>
          <p:cNvPr id="4" name="矩形 3"/>
          <p:cNvSpPr/>
          <p:nvPr/>
        </p:nvSpPr>
        <p:spPr>
          <a:xfrm>
            <a:off x="8704954" y="3065241"/>
            <a:ext cx="3068469" cy="584775"/>
          </a:xfrm>
          <a:prstGeom prst="rect">
            <a:avLst/>
          </a:prstGeom>
        </p:spPr>
        <p:txBody>
          <a:bodyPr wrap="none">
            <a:spAutoFit/>
          </a:bodyPr>
          <a:lstStyle/>
          <a:p>
            <a:pPr fontAlgn="base">
              <a:spcBef>
                <a:spcPct val="0"/>
              </a:spcBef>
              <a:spcAft>
                <a:spcPct val="0"/>
              </a:spcAft>
            </a:pPr>
            <a:r>
              <a:rPr lang="zh-CN" altLang="en-US" sz="3200" b="1" dirty="0">
                <a:solidFill>
                  <a:srgbClr val="FF3300"/>
                </a:solidFill>
                <a:effectLst>
                  <a:outerShdw blurRad="38100" dist="38100" dir="2700000" algn="tl">
                    <a:srgbClr val="000000"/>
                  </a:outerShdw>
                </a:effectLst>
                <a:latin typeface="Arial" panose="020B0604020202020204" pitchFamily="34" charset="0"/>
                <a:ea typeface="宋体" panose="02010600030101010101" pitchFamily="2" charset="-122"/>
              </a:rPr>
              <a:t>最小二乘法拟合</a:t>
            </a:r>
            <a:endParaRPr lang="zh-CN" altLang="en-US" sz="3200" dirty="0">
              <a:solidFill>
                <a:prstClr val="black"/>
              </a:solidFill>
              <a:latin typeface="Arial" panose="020B0604020202020204" pitchFamily="34" charset="0"/>
              <a:ea typeface="宋体" panose="02010600030101010101" pitchFamily="2" charset="-122"/>
            </a:endParaRPr>
          </a:p>
        </p:txBody>
      </p:sp>
      <p:sp>
        <p:nvSpPr>
          <p:cNvPr id="6" name="矩形 5"/>
          <p:cNvSpPr/>
          <p:nvPr/>
        </p:nvSpPr>
        <p:spPr>
          <a:xfrm>
            <a:off x="9486568" y="4222715"/>
            <a:ext cx="1507144" cy="584775"/>
          </a:xfrm>
          <a:prstGeom prst="rect">
            <a:avLst/>
          </a:prstGeom>
        </p:spPr>
        <p:txBody>
          <a:bodyPr wrap="none">
            <a:spAutoFit/>
          </a:bodyPr>
          <a:lstStyle/>
          <a:p>
            <a:pPr fontAlgn="base">
              <a:spcBef>
                <a:spcPct val="0"/>
              </a:spcBef>
              <a:spcAft>
                <a:spcPct val="0"/>
              </a:spcAft>
            </a:pPr>
            <a:r>
              <a:rPr lang="zh-CN" altLang="zh-CN" sz="2400" kern="0" dirty="0">
                <a:solidFill>
                  <a:prstClr val="black"/>
                </a:solidFill>
                <a:latin typeface="Arial" panose="020B0604020202020204" pitchFamily="34" charset="0"/>
                <a:ea typeface="Cambria Math" panose="02040503050406030204" pitchFamily="18" charset="0"/>
                <a:cs typeface="Times New Roman" panose="02020603050405020304" pitchFamily="18" charset="0"/>
              </a:rPr>
              <a:t> </a:t>
            </a:r>
            <a:r>
              <a:rPr lang="en-US" altLang="zh-CN" sz="3200" i="1" kern="0" dirty="0">
                <a:solidFill>
                  <a:prstClr val="black"/>
                </a:solidFill>
                <a:latin typeface="Times New Roman" panose="02020603050405020304" pitchFamily="18" charset="0"/>
              </a:rPr>
              <a:t>y</a:t>
            </a:r>
            <a:r>
              <a:rPr lang="en-US" altLang="zh-CN" sz="3200" kern="0" dirty="0">
                <a:solidFill>
                  <a:prstClr val="black"/>
                </a:solidFill>
                <a:latin typeface="Times New Roman" panose="02020603050405020304" pitchFamily="18" charset="0"/>
              </a:rPr>
              <a:t>=</a:t>
            </a:r>
            <a:r>
              <a:rPr lang="en-US" altLang="zh-CN" sz="3200" i="1" kern="0" dirty="0" err="1">
                <a:solidFill>
                  <a:prstClr val="black"/>
                </a:solidFill>
                <a:latin typeface="Times New Roman" panose="02020603050405020304" pitchFamily="18" charset="0"/>
              </a:rPr>
              <a:t>a</a:t>
            </a:r>
            <a:r>
              <a:rPr lang="en-US" altLang="zh-CN" sz="3200" kern="0" dirty="0" err="1">
                <a:solidFill>
                  <a:prstClr val="black"/>
                </a:solidFill>
                <a:latin typeface="Times New Roman" panose="02020603050405020304" pitchFamily="18" charset="0"/>
              </a:rPr>
              <a:t>+</a:t>
            </a:r>
            <a:r>
              <a:rPr lang="en-US" altLang="zh-CN" sz="3200" i="1" kern="0" dirty="0" err="1">
                <a:solidFill>
                  <a:prstClr val="black"/>
                </a:solidFill>
                <a:latin typeface="Times New Roman" panose="02020603050405020304" pitchFamily="18" charset="0"/>
              </a:rPr>
              <a:t>bx</a:t>
            </a:r>
            <a:endParaRPr lang="zh-CN" altLang="en-US" sz="3200" dirty="0">
              <a:solidFill>
                <a:prstClr val="black"/>
              </a:solidFill>
              <a:latin typeface="Arial" panose="020B0604020202020204" pitchFamily="34" charset="0"/>
              <a:ea typeface="宋体" panose="02010600030101010101" pitchFamily="2" charset="-122"/>
            </a:endParaRPr>
          </a:p>
        </p:txBody>
      </p:sp>
      <p:sp>
        <p:nvSpPr>
          <p:cNvPr id="8" name="椭圆 7"/>
          <p:cNvSpPr/>
          <p:nvPr/>
        </p:nvSpPr>
        <p:spPr>
          <a:xfrm>
            <a:off x="9123895" y="3686841"/>
            <a:ext cx="2437603" cy="1831120"/>
          </a:xfrm>
          <a:prstGeom prst="ellipse">
            <a:avLst/>
          </a:prstGeom>
          <a:noFill/>
          <a:ln>
            <a:solidFill>
              <a:srgbClr val="007F5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2400">
              <a:solidFill>
                <a:prstClr val="white"/>
              </a:solidFill>
            </a:endParaRPr>
          </a:p>
        </p:txBody>
      </p:sp>
      <p:sp>
        <p:nvSpPr>
          <p:cNvPr id="23"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Linear Least Squares Regression</a:t>
            </a:r>
            <a:endParaRPr lang="zh-CN" altLang="en-US" sz="2667" b="1" dirty="0">
              <a:solidFill>
                <a:srgbClr val="07144B"/>
              </a:solidFill>
              <a:latin typeface="微软雅黑" pitchFamily="34" charset="-122"/>
              <a:ea typeface="微软雅黑" pitchFamily="34" charset="-122"/>
            </a:endParaRPr>
          </a:p>
        </p:txBody>
      </p:sp>
    </p:spTree>
    <p:extLst>
      <p:ext uri="{BB962C8B-B14F-4D97-AF65-F5344CB8AC3E}">
        <p14:creationId xmlns:p14="http://schemas.microsoft.com/office/powerpoint/2010/main" val="3058753579"/>
      </p:ext>
    </p:extLst>
  </p:cSld>
  <p:clrMapOvr>
    <a:masterClrMapping/>
  </p:clrMapOvr>
  <p:transition spd="slow" advClick="0" advTm="3000">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2" name="矩形 1"/>
              <p:cNvSpPr/>
              <p:nvPr/>
            </p:nvSpPr>
            <p:spPr>
              <a:xfrm>
                <a:off x="277187" y="734139"/>
                <a:ext cx="11425269" cy="2602444"/>
              </a:xfrm>
              <a:prstGeom prst="rect">
                <a:avLst/>
              </a:prstGeom>
            </p:spPr>
            <p:txBody>
              <a:bodyPr wrap="square">
                <a:spAutoFit/>
              </a:bodyPr>
              <a:lstStyle/>
              <a:p>
                <a:pPr fontAlgn="base">
                  <a:spcBef>
                    <a:spcPct val="0"/>
                  </a:spcBef>
                  <a:spcAft>
                    <a:spcPct val="0"/>
                  </a:spcAft>
                </a:pPr>
                <a:r>
                  <a:rPr lang="en-US" altLang="zh-CN" sz="3200" b="1" kern="0" dirty="0" smtClean="0">
                    <a:solidFill>
                      <a:srgbClr val="C00000"/>
                    </a:solidFill>
                    <a:latin typeface="Times New Roman" panose="02020603050405020304" pitchFamily="18" charset="0"/>
                  </a:rPr>
                  <a:t>Polynomial(</a:t>
                </a:r>
                <a:r>
                  <a:rPr lang="zh-CN" altLang="en-US" sz="3200" b="1" kern="0" dirty="0" smtClean="0">
                    <a:solidFill>
                      <a:srgbClr val="C00000"/>
                    </a:solidFill>
                    <a:latin typeface="Times New Roman" panose="02020603050405020304" pitchFamily="18" charset="0"/>
                  </a:rPr>
                  <a:t>多项的</a:t>
                </a:r>
                <a:r>
                  <a:rPr lang="en-US" altLang="zh-CN" sz="3200" b="1" kern="0" dirty="0" smtClean="0">
                    <a:solidFill>
                      <a:srgbClr val="C00000"/>
                    </a:solidFill>
                    <a:latin typeface="Times New Roman" panose="02020603050405020304" pitchFamily="18" charset="0"/>
                  </a:rPr>
                  <a:t>) </a:t>
                </a:r>
                <a:r>
                  <a:rPr lang="en-US" altLang="zh-CN" sz="3200" b="1" kern="0" dirty="0">
                    <a:solidFill>
                      <a:srgbClr val="C00000"/>
                    </a:solidFill>
                    <a:latin typeface="Times New Roman" panose="02020603050405020304" pitchFamily="18" charset="0"/>
                  </a:rPr>
                  <a:t>least squares regression </a:t>
                </a:r>
                <a:r>
                  <a:rPr lang="en-US" altLang="zh-CN" sz="3200" b="1" kern="0" dirty="0">
                    <a:solidFill>
                      <a:srgbClr val="07144B"/>
                    </a:solidFill>
                    <a:latin typeface="Times New Roman" panose="02020603050405020304" pitchFamily="18" charset="0"/>
                  </a:rPr>
                  <a:t>is used to estimate the parameters of the </a:t>
                </a:r>
                <a:r>
                  <a:rPr lang="en-US" altLang="zh-CN" sz="3200" b="1" i="1" kern="0" dirty="0" err="1">
                    <a:solidFill>
                      <a:srgbClr val="07144B"/>
                    </a:solidFill>
                    <a:latin typeface="Times New Roman" panose="02020603050405020304" pitchFamily="18" charset="0"/>
                  </a:rPr>
                  <a:t>p</a:t>
                </a:r>
                <a:r>
                  <a:rPr lang="en-US" altLang="zh-CN" sz="3200" b="1" kern="0" dirty="0" err="1">
                    <a:solidFill>
                      <a:srgbClr val="07144B"/>
                    </a:solidFill>
                    <a:latin typeface="Times New Roman" panose="02020603050405020304" pitchFamily="18" charset="0"/>
                  </a:rPr>
                  <a:t>th</a:t>
                </a:r>
                <a:r>
                  <a:rPr lang="en-US" altLang="zh-CN" sz="3200" b="1" kern="0" dirty="0">
                    <a:solidFill>
                      <a:srgbClr val="07144B"/>
                    </a:solidFill>
                    <a:latin typeface="Times New Roman" panose="02020603050405020304" pitchFamily="18" charset="0"/>
                  </a:rPr>
                  <a:t> order relationship </a:t>
                </a:r>
                <a14:m>
                  <m:oMath xmlns:m="http://schemas.openxmlformats.org/officeDocument/2006/math">
                    <m:r>
                      <a:rPr lang="en-US" altLang="zh-CN" sz="3200" b="1" kern="0">
                        <a:solidFill>
                          <a:srgbClr val="07144B"/>
                        </a:solidFill>
                        <a:latin typeface="Cambria Math" panose="02040503050406030204" pitchFamily="18" charset="0"/>
                      </a:rPr>
                      <m:t>𝑦</m:t>
                    </m:r>
                    <m:r>
                      <a:rPr lang="en-US" altLang="zh-CN" sz="3200" b="1" kern="0">
                        <a:solidFill>
                          <a:srgbClr val="07144B"/>
                        </a:solidFill>
                        <a:latin typeface="Cambria Math" panose="02040503050406030204" pitchFamily="18" charset="0"/>
                      </a:rPr>
                      <m:t>=</m:t>
                    </m:r>
                    <m:sSub>
                      <m:sSubPr>
                        <m:ctrlPr>
                          <a:rPr lang="zh-CN" altLang="zh-CN" sz="3200" b="1" i="1" kern="0">
                            <a:solidFill>
                              <a:srgbClr val="07144B"/>
                            </a:solidFill>
                            <a:latin typeface="Cambria Math" panose="02040503050406030204" pitchFamily="18" charset="0"/>
                          </a:rPr>
                        </m:ctrlPr>
                      </m:sSubPr>
                      <m:e>
                        <m:r>
                          <a:rPr lang="en-US" altLang="zh-CN" sz="3200" b="1" kern="0">
                            <a:solidFill>
                              <a:srgbClr val="07144B"/>
                            </a:solidFill>
                            <a:latin typeface="Cambria Math" panose="02040503050406030204" pitchFamily="18" charset="0"/>
                          </a:rPr>
                          <m:t>𝑎</m:t>
                        </m:r>
                      </m:e>
                      <m:sub>
                        <m:r>
                          <a:rPr lang="en-US" altLang="zh-CN" sz="3200" b="1" kern="0">
                            <a:solidFill>
                              <a:srgbClr val="07144B"/>
                            </a:solidFill>
                            <a:latin typeface="Cambria Math" panose="02040503050406030204" pitchFamily="18" charset="0"/>
                          </a:rPr>
                          <m:t>0</m:t>
                        </m:r>
                      </m:sub>
                    </m:sSub>
                    <m:r>
                      <a:rPr lang="en-US" altLang="zh-CN" sz="3200" b="1" kern="0">
                        <a:solidFill>
                          <a:srgbClr val="07144B"/>
                        </a:solidFill>
                        <a:latin typeface="Cambria Math" panose="02040503050406030204" pitchFamily="18" charset="0"/>
                      </a:rPr>
                      <m:t>+</m:t>
                    </m:r>
                    <m:sSub>
                      <m:sSubPr>
                        <m:ctrlPr>
                          <a:rPr lang="zh-CN" altLang="zh-CN" sz="3200" b="1" i="1" kern="0">
                            <a:solidFill>
                              <a:srgbClr val="07144B"/>
                            </a:solidFill>
                            <a:latin typeface="Cambria Math" panose="02040503050406030204" pitchFamily="18" charset="0"/>
                          </a:rPr>
                        </m:ctrlPr>
                      </m:sSubPr>
                      <m:e>
                        <m:r>
                          <a:rPr lang="en-US" altLang="zh-CN" sz="3200" b="1" kern="0">
                            <a:solidFill>
                              <a:srgbClr val="07144B"/>
                            </a:solidFill>
                            <a:latin typeface="Cambria Math" panose="02040503050406030204" pitchFamily="18" charset="0"/>
                          </a:rPr>
                          <m:t>𝑎</m:t>
                        </m:r>
                      </m:e>
                      <m:sub>
                        <m:r>
                          <a:rPr lang="en-US" altLang="zh-CN" sz="3200" b="1" kern="0">
                            <a:solidFill>
                              <a:srgbClr val="07144B"/>
                            </a:solidFill>
                            <a:latin typeface="Cambria Math" panose="02040503050406030204" pitchFamily="18" charset="0"/>
                          </a:rPr>
                          <m:t>1</m:t>
                        </m:r>
                      </m:sub>
                    </m:sSub>
                    <m:r>
                      <a:rPr lang="en-US" altLang="zh-CN" sz="3200" b="1" kern="0">
                        <a:solidFill>
                          <a:srgbClr val="07144B"/>
                        </a:solidFill>
                        <a:latin typeface="Cambria Math" panose="02040503050406030204" pitchFamily="18" charset="0"/>
                      </a:rPr>
                      <m:t>𝑥</m:t>
                    </m:r>
                    <m:r>
                      <a:rPr lang="en-US" altLang="zh-CN" sz="3200" b="1" kern="0">
                        <a:solidFill>
                          <a:srgbClr val="07144B"/>
                        </a:solidFill>
                        <a:latin typeface="Cambria Math" panose="02040503050406030204" pitchFamily="18" charset="0"/>
                      </a:rPr>
                      <m:t>+</m:t>
                    </m:r>
                    <m:sSub>
                      <m:sSubPr>
                        <m:ctrlPr>
                          <a:rPr lang="zh-CN" altLang="zh-CN" sz="3200" b="1" i="1" kern="0">
                            <a:solidFill>
                              <a:srgbClr val="07144B"/>
                            </a:solidFill>
                            <a:latin typeface="Cambria Math" panose="02040503050406030204" pitchFamily="18" charset="0"/>
                          </a:rPr>
                        </m:ctrlPr>
                      </m:sSubPr>
                      <m:e>
                        <m:r>
                          <a:rPr lang="en-US" altLang="zh-CN" sz="3200" b="1" kern="0">
                            <a:solidFill>
                              <a:srgbClr val="07144B"/>
                            </a:solidFill>
                            <a:latin typeface="Cambria Math" panose="02040503050406030204" pitchFamily="18" charset="0"/>
                          </a:rPr>
                          <m:t>𝑎</m:t>
                        </m:r>
                      </m:e>
                      <m:sub>
                        <m:r>
                          <a:rPr lang="en-US" altLang="zh-CN" sz="3200" b="1" kern="0">
                            <a:solidFill>
                              <a:srgbClr val="07144B"/>
                            </a:solidFill>
                            <a:latin typeface="Cambria Math" panose="02040503050406030204" pitchFamily="18" charset="0"/>
                          </a:rPr>
                          <m:t>2</m:t>
                        </m:r>
                      </m:sub>
                    </m:sSub>
                    <m:sSup>
                      <m:sSupPr>
                        <m:ctrlPr>
                          <a:rPr lang="zh-CN" altLang="zh-CN" sz="3200" b="1" i="1" kern="0">
                            <a:solidFill>
                              <a:srgbClr val="07144B"/>
                            </a:solidFill>
                            <a:latin typeface="Cambria Math" panose="02040503050406030204" pitchFamily="18" charset="0"/>
                          </a:rPr>
                        </m:ctrlPr>
                      </m:sSupPr>
                      <m:e>
                        <m:r>
                          <a:rPr lang="en-US" altLang="zh-CN" sz="3200" b="1" kern="0">
                            <a:solidFill>
                              <a:srgbClr val="07144B"/>
                            </a:solidFill>
                            <a:latin typeface="Cambria Math" panose="02040503050406030204" pitchFamily="18" charset="0"/>
                          </a:rPr>
                          <m:t>𝑥</m:t>
                        </m:r>
                      </m:e>
                      <m:sup>
                        <m:r>
                          <a:rPr lang="en-US" altLang="zh-CN" sz="3200" b="1" kern="0">
                            <a:solidFill>
                              <a:srgbClr val="07144B"/>
                            </a:solidFill>
                            <a:latin typeface="Cambria Math" panose="02040503050406030204" pitchFamily="18" charset="0"/>
                          </a:rPr>
                          <m:t>2</m:t>
                        </m:r>
                      </m:sup>
                    </m:sSup>
                    <m:r>
                      <a:rPr lang="en-US" altLang="zh-CN" sz="3200" b="1" kern="0">
                        <a:solidFill>
                          <a:srgbClr val="07144B"/>
                        </a:solidFill>
                        <a:latin typeface="Cambria Math" panose="02040503050406030204" pitchFamily="18" charset="0"/>
                      </a:rPr>
                      <m:t>+⋯+</m:t>
                    </m:r>
                    <m:sSub>
                      <m:sSubPr>
                        <m:ctrlPr>
                          <a:rPr lang="zh-CN" altLang="zh-CN" sz="3200" b="1" i="1" kern="0">
                            <a:solidFill>
                              <a:srgbClr val="07144B"/>
                            </a:solidFill>
                            <a:latin typeface="Cambria Math" panose="02040503050406030204" pitchFamily="18" charset="0"/>
                          </a:rPr>
                        </m:ctrlPr>
                      </m:sSubPr>
                      <m:e>
                        <m:r>
                          <a:rPr lang="en-US" altLang="zh-CN" sz="3200" b="1" kern="0">
                            <a:solidFill>
                              <a:srgbClr val="07144B"/>
                            </a:solidFill>
                            <a:latin typeface="Cambria Math" panose="02040503050406030204" pitchFamily="18" charset="0"/>
                          </a:rPr>
                          <m:t>𝑎</m:t>
                        </m:r>
                      </m:e>
                      <m:sub>
                        <m:r>
                          <a:rPr lang="en-US" altLang="zh-CN" sz="3200" b="1" kern="0">
                            <a:solidFill>
                              <a:srgbClr val="07144B"/>
                            </a:solidFill>
                            <a:latin typeface="Cambria Math" panose="02040503050406030204" pitchFamily="18" charset="0"/>
                          </a:rPr>
                          <m:t>𝑝</m:t>
                        </m:r>
                      </m:sub>
                    </m:sSub>
                    <m:sSup>
                      <m:sSupPr>
                        <m:ctrlPr>
                          <a:rPr lang="zh-CN" altLang="zh-CN" sz="3200" b="1" i="1" kern="0">
                            <a:solidFill>
                              <a:srgbClr val="07144B"/>
                            </a:solidFill>
                            <a:latin typeface="Cambria Math" panose="02040503050406030204" pitchFamily="18" charset="0"/>
                          </a:rPr>
                        </m:ctrlPr>
                      </m:sSupPr>
                      <m:e>
                        <m:r>
                          <a:rPr lang="en-US" altLang="zh-CN" sz="3200" b="1" kern="0">
                            <a:solidFill>
                              <a:srgbClr val="07144B"/>
                            </a:solidFill>
                            <a:latin typeface="Cambria Math" panose="02040503050406030204" pitchFamily="18" charset="0"/>
                          </a:rPr>
                          <m:t>𝑥</m:t>
                        </m:r>
                      </m:e>
                      <m:sup>
                        <m:r>
                          <a:rPr lang="en-US" altLang="zh-CN" sz="3200" b="1" kern="0">
                            <a:solidFill>
                              <a:srgbClr val="07144B"/>
                            </a:solidFill>
                            <a:latin typeface="Cambria Math" panose="02040503050406030204" pitchFamily="18" charset="0"/>
                          </a:rPr>
                          <m:t>𝑝</m:t>
                        </m:r>
                      </m:sup>
                    </m:sSup>
                  </m:oMath>
                </a14:m>
                <a:r>
                  <a:rPr lang="en-US" altLang="zh-CN" sz="3200" b="1" kern="0" dirty="0">
                    <a:solidFill>
                      <a:srgbClr val="07144B"/>
                    </a:solidFill>
                    <a:latin typeface="Times New Roman" panose="02020603050405020304" pitchFamily="18" charset="0"/>
                  </a:rPr>
                  <a:t> between two sets of measurements </a:t>
                </a:r>
                <a:r>
                  <a:rPr lang="en-US" altLang="zh-CN" sz="3200" b="1" i="1" kern="0" dirty="0">
                    <a:solidFill>
                      <a:srgbClr val="07144B"/>
                    </a:solidFill>
                    <a:latin typeface="Times New Roman" panose="02020603050405020304" pitchFamily="18" charset="0"/>
                  </a:rPr>
                  <a:t>y</a:t>
                </a:r>
                <a:r>
                  <a:rPr lang="en-US" altLang="zh-CN" sz="3200" b="1" kern="0" dirty="0">
                    <a:solidFill>
                      <a:srgbClr val="07144B"/>
                    </a:solidFill>
                    <a:latin typeface="Times New Roman" panose="02020603050405020304" pitchFamily="18" charset="0"/>
                  </a:rPr>
                  <a:t> and </a:t>
                </a:r>
                <a:r>
                  <a:rPr lang="en-US" altLang="zh-CN" sz="3200" b="1" i="1" kern="0" dirty="0">
                    <a:solidFill>
                      <a:srgbClr val="07144B"/>
                    </a:solidFill>
                    <a:latin typeface="Times New Roman" panose="02020603050405020304" pitchFamily="18" charset="0"/>
                  </a:rPr>
                  <a:t>x</a:t>
                </a:r>
                <a:r>
                  <a:rPr lang="en-US" altLang="zh-CN" sz="3200" b="1" kern="0" dirty="0">
                    <a:solidFill>
                      <a:srgbClr val="07144B"/>
                    </a:solidFill>
                    <a:latin typeface="Times New Roman" panose="02020603050405020304" pitchFamily="18" charset="0"/>
                  </a:rPr>
                  <a:t>. The deviation of each point </a:t>
                </a:r>
                <a14:m>
                  <m:oMath xmlns:m="http://schemas.openxmlformats.org/officeDocument/2006/math">
                    <m:d>
                      <m:dPr>
                        <m:ctrlPr>
                          <a:rPr lang="zh-CN" altLang="zh-CN" sz="3200" b="1" i="1" kern="0">
                            <a:solidFill>
                              <a:srgbClr val="07144B"/>
                            </a:solidFill>
                            <a:latin typeface="Cambria Math" panose="02040503050406030204" pitchFamily="18" charset="0"/>
                          </a:rPr>
                        </m:ctrlPr>
                      </m:dPr>
                      <m:e>
                        <m:sSub>
                          <m:sSubPr>
                            <m:ctrlPr>
                              <a:rPr lang="zh-CN" altLang="zh-CN" sz="3200" b="1" i="1" kern="0">
                                <a:solidFill>
                                  <a:srgbClr val="07144B"/>
                                </a:solidFill>
                                <a:latin typeface="Cambria Math" panose="02040503050406030204" pitchFamily="18" charset="0"/>
                              </a:rPr>
                            </m:ctrlPr>
                          </m:sSubPr>
                          <m:e>
                            <m:r>
                              <a:rPr lang="en-US" altLang="zh-CN" sz="3200" b="1" kern="0">
                                <a:solidFill>
                                  <a:srgbClr val="07144B"/>
                                </a:solidFill>
                                <a:latin typeface="Cambria Math" panose="02040503050406030204" pitchFamily="18" charset="0"/>
                              </a:rPr>
                              <m:t>𝑥</m:t>
                            </m:r>
                          </m:e>
                          <m:sub>
                            <m:r>
                              <a:rPr lang="en-US" altLang="zh-CN" sz="3200" b="1" kern="0">
                                <a:solidFill>
                                  <a:srgbClr val="07144B"/>
                                </a:solidFill>
                                <a:latin typeface="Cambria Math" panose="02040503050406030204" pitchFamily="18" charset="0"/>
                              </a:rPr>
                              <m:t>𝑖</m:t>
                            </m:r>
                          </m:sub>
                        </m:sSub>
                        <m:r>
                          <a:rPr lang="en-US" altLang="zh-CN" sz="3200" b="1" kern="0">
                            <a:solidFill>
                              <a:srgbClr val="07144B"/>
                            </a:solidFill>
                            <a:latin typeface="Cambria Math" panose="02040503050406030204" pitchFamily="18" charset="0"/>
                          </a:rPr>
                          <m:t>, </m:t>
                        </m:r>
                        <m:sSub>
                          <m:sSubPr>
                            <m:ctrlPr>
                              <a:rPr lang="zh-CN" altLang="zh-CN" sz="3200" b="1" i="1" kern="0">
                                <a:solidFill>
                                  <a:srgbClr val="07144B"/>
                                </a:solidFill>
                                <a:latin typeface="Cambria Math" panose="02040503050406030204" pitchFamily="18" charset="0"/>
                              </a:rPr>
                            </m:ctrlPr>
                          </m:sSubPr>
                          <m:e>
                            <m:r>
                              <a:rPr lang="en-US" altLang="zh-CN" sz="3200" b="1" kern="0">
                                <a:solidFill>
                                  <a:srgbClr val="07144B"/>
                                </a:solidFill>
                                <a:latin typeface="Cambria Math" panose="02040503050406030204" pitchFamily="18" charset="0"/>
                              </a:rPr>
                              <m:t>𝑦</m:t>
                            </m:r>
                          </m:e>
                          <m:sub>
                            <m:r>
                              <a:rPr lang="en-US" altLang="zh-CN" sz="3200" b="1" kern="0">
                                <a:solidFill>
                                  <a:srgbClr val="07144B"/>
                                </a:solidFill>
                                <a:latin typeface="Cambria Math" panose="02040503050406030204" pitchFamily="18" charset="0"/>
                              </a:rPr>
                              <m:t>𝑖</m:t>
                            </m:r>
                          </m:sub>
                        </m:sSub>
                      </m:e>
                    </m:d>
                  </m:oMath>
                </a14:m>
                <a:r>
                  <a:rPr lang="en-US" altLang="zh-CN" sz="3200" b="1" kern="0" dirty="0">
                    <a:solidFill>
                      <a:srgbClr val="07144B"/>
                    </a:solidFill>
                    <a:latin typeface="Times New Roman" panose="02020603050405020304" pitchFamily="18" charset="0"/>
                  </a:rPr>
                  <a:t> from the line can be expressed as </a:t>
                </a:r>
                <a:endParaRPr lang="zh-CN" altLang="en-US" sz="3200" b="1" kern="0" dirty="0">
                  <a:solidFill>
                    <a:srgbClr val="07144B"/>
                  </a:solidFill>
                  <a:latin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277187" y="734139"/>
                <a:ext cx="11425269" cy="2602444"/>
              </a:xfrm>
              <a:prstGeom prst="rect">
                <a:avLst/>
              </a:prstGeom>
              <a:blipFill rotWithShape="0">
                <a:blip r:embed="rId5"/>
                <a:stretch>
                  <a:fillRect l="-1333" t="-3513" b="-6557"/>
                </a:stretch>
              </a:blipFill>
            </p:spPr>
            <p:txBody>
              <a:bodyPr/>
              <a:lstStyle/>
              <a:p>
                <a:r>
                  <a:rPr lang="en-GB">
                    <a:noFill/>
                  </a:rPr>
                  <a:t> </a:t>
                </a:r>
              </a:p>
            </p:txBody>
          </p:sp>
        </mc:Fallback>
      </mc:AlternateContent>
      <p:sp>
        <p:nvSpPr>
          <p:cNvPr id="23"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Polynomial Least Squares Regression</a:t>
            </a:r>
            <a:endParaRPr lang="zh-CN" altLang="en-US" sz="2667" b="1" dirty="0">
              <a:solidFill>
                <a:srgbClr val="07144B"/>
              </a:solidFill>
              <a:latin typeface="微软雅黑" pitchFamily="34" charset="-122"/>
              <a:ea typeface="微软雅黑" pitchFamily="34" charset="-122"/>
            </a:endParaRPr>
          </a:p>
        </p:txBody>
      </p:sp>
      <mc:AlternateContent xmlns:mc="http://schemas.openxmlformats.org/markup-compatibility/2006" xmlns:a14="http://schemas.microsoft.com/office/drawing/2010/main">
        <mc:Choice Requires="a14">
          <p:sp>
            <p:nvSpPr>
              <p:cNvPr id="12" name="矩形 11"/>
              <p:cNvSpPr/>
              <p:nvPr/>
            </p:nvSpPr>
            <p:spPr>
              <a:xfrm>
                <a:off x="3243040" y="3037798"/>
                <a:ext cx="5629618" cy="516616"/>
              </a:xfrm>
              <a:prstGeom prst="rect">
                <a:avLst/>
              </a:prstGeom>
            </p:spPr>
            <p:txBody>
              <a:bodyPr wrap="none">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𝜈</m:t>
                          </m:r>
                        </m:e>
                        <m:sub>
                          <m:r>
                            <a:rPr lang="zh-CN" altLang="en-US" sz="2400" i="1">
                              <a:solidFill>
                                <a:prstClr val="black"/>
                              </a:solidFill>
                              <a:latin typeface="Cambria Math" panose="02040503050406030204" pitchFamily="18" charset="0"/>
                            </a:rPr>
                            <m:t>𝑖</m:t>
                          </m:r>
                        </m:sub>
                      </m:sSub>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𝑦</m:t>
                          </m:r>
                        </m:e>
                        <m:sub>
                          <m:r>
                            <a:rPr lang="zh-CN" altLang="en-US" sz="2400" i="1">
                              <a:solidFill>
                                <a:prstClr val="black"/>
                              </a:solidFill>
                              <a:latin typeface="Cambria Math" panose="02040503050406030204" pitchFamily="18" charset="0"/>
                            </a:rPr>
                            <m:t>𝑖</m:t>
                          </m:r>
                        </m:sub>
                      </m:sSub>
                      <m:r>
                        <a:rPr lang="zh-CN" altLang="en-US" sz="2400">
                          <a:solidFill>
                            <a:prstClr val="black"/>
                          </a:solidFill>
                          <a:latin typeface="Cambria Math" panose="02040503050406030204" pitchFamily="18" charset="0"/>
                        </a:rPr>
                        <m:t>−</m:t>
                      </m:r>
                      <m:d>
                        <m:dPr>
                          <m:ctrlPr>
                            <a:rPr lang="zh-CN" altLang="en-US" sz="2400" i="1">
                              <a:solidFill>
                                <a:prstClr val="black"/>
                              </a:solidFill>
                              <a:latin typeface="Cambria Math" panose="02040503050406030204" pitchFamily="18" charset="0"/>
                            </a:rPr>
                          </m:ctrlPr>
                        </m:dPr>
                        <m:e>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𝑎</m:t>
                              </m:r>
                            </m:e>
                            <m:sub>
                              <m:r>
                                <a:rPr lang="zh-CN" altLang="en-US" sz="2400">
                                  <a:solidFill>
                                    <a:prstClr val="black"/>
                                  </a:solidFill>
                                  <a:latin typeface="Cambria Math" panose="02040503050406030204" pitchFamily="18" charset="0"/>
                                </a:rPr>
                                <m:t>0</m:t>
                              </m:r>
                            </m:sub>
                          </m:sSub>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𝑎</m:t>
                              </m:r>
                            </m:e>
                            <m:sub>
                              <m:r>
                                <a:rPr lang="zh-CN" altLang="en-US" sz="2400">
                                  <a:solidFill>
                                    <a:prstClr val="black"/>
                                  </a:solidFill>
                                  <a:latin typeface="Cambria Math" panose="02040503050406030204" pitchFamily="18" charset="0"/>
                                </a:rPr>
                                <m:t>1</m:t>
                              </m:r>
                            </m:sub>
                          </m:sSub>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𝑎</m:t>
                              </m:r>
                            </m:e>
                            <m:sub>
                              <m:r>
                                <a:rPr lang="zh-CN" altLang="en-US" sz="2400">
                                  <a:solidFill>
                                    <a:prstClr val="black"/>
                                  </a:solidFill>
                                  <a:latin typeface="Cambria Math" panose="02040503050406030204" pitchFamily="18" charset="0"/>
                                </a:rPr>
                                <m:t>2</m:t>
                              </m:r>
                            </m:sub>
                          </m:sSub>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𝑎</m:t>
                              </m:r>
                            </m:e>
                            <m:sub>
                              <m:r>
                                <a:rPr lang="zh-CN" altLang="en-US" sz="2400" i="1">
                                  <a:solidFill>
                                    <a:prstClr val="black"/>
                                  </a:solidFill>
                                  <a:latin typeface="Cambria Math" panose="02040503050406030204" pitchFamily="18" charset="0"/>
                                </a:rPr>
                                <m:t>𝑝</m:t>
                              </m:r>
                            </m:sub>
                          </m:sSub>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i="1">
                                  <a:solidFill>
                                    <a:prstClr val="black"/>
                                  </a:solidFill>
                                  <a:latin typeface="Cambria Math" panose="02040503050406030204" pitchFamily="18" charset="0"/>
                                </a:rPr>
                                <m:t>𝑝</m:t>
                              </m:r>
                            </m:sup>
                          </m:sSup>
                        </m:e>
                      </m:d>
                    </m:oMath>
                  </m:oMathPara>
                </a14:m>
                <a:endParaRPr lang="zh-CN" altLang="en-US" sz="2400" dirty="0">
                  <a:solidFill>
                    <a:prstClr val="black"/>
                  </a:solidFill>
                  <a:latin typeface="Arial" panose="020B0604020202020204" pitchFamily="34" charset="0"/>
                  <a:ea typeface="宋体" panose="02010600030101010101" pitchFamily="2"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2432280" y="2278348"/>
                <a:ext cx="4279440" cy="410497"/>
              </a:xfrm>
              <a:prstGeom prst="rect">
                <a:avLst/>
              </a:prstGeom>
              <a:blipFill>
                <a:blip r:embed="rId6"/>
                <a:stretch>
                  <a:fillRect b="-29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28927" y="3740677"/>
                <a:ext cx="11510435" cy="1801134"/>
              </a:xfrm>
              <a:prstGeom prst="rect">
                <a:avLst/>
              </a:prstGeom>
            </p:spPr>
            <p:txBody>
              <a:bodyPr wrap="square">
                <a:spAutoFit/>
              </a:bodyPr>
              <a:lstStyle/>
              <a:p>
                <a:pPr algn="just" fontAlgn="base">
                  <a:spcBef>
                    <a:spcPct val="0"/>
                  </a:spcBef>
                  <a:spcAft>
                    <a:spcPts val="800"/>
                  </a:spcAft>
                </a:pPr>
                <a:r>
                  <a:rPr lang="en-US" altLang="zh-CN" sz="2667" b="1" kern="0" dirty="0">
                    <a:solidFill>
                      <a:srgbClr val="07144B"/>
                    </a:solidFill>
                    <a:latin typeface="Times New Roman" panose="02020603050405020304" pitchFamily="18" charset="0"/>
                    <a:cs typeface="Times New Roman" panose="02020603050405020304" pitchFamily="18" charset="0"/>
                  </a:rPr>
                  <a:t>Similarly, the best fit line is obtained when the sum of the squared deviations, </a:t>
                </a:r>
                <a14:m>
                  <m:oMath xmlns:m="http://schemas.openxmlformats.org/officeDocument/2006/math">
                    <m:r>
                      <a:rPr lang="en-US" altLang="zh-CN" sz="2667" b="1" i="1" kern="0">
                        <a:solidFill>
                          <a:srgbClr val="07144B"/>
                        </a:solidFill>
                        <a:latin typeface="Cambria Math" panose="02040503050406030204" pitchFamily="18" charset="0"/>
                        <a:cs typeface="Times New Roman" panose="02020603050405020304" pitchFamily="18" charset="0"/>
                      </a:rPr>
                      <m:t>𝑺</m:t>
                    </m:r>
                    <m:r>
                      <a:rPr lang="en-US" altLang="zh-CN" sz="2667" b="1" kern="0">
                        <a:solidFill>
                          <a:srgbClr val="07144B"/>
                        </a:solidFill>
                        <a:latin typeface="Cambria Math" panose="02040503050406030204" pitchFamily="18" charset="0"/>
                        <a:cs typeface="Times New Roman" panose="02020603050405020304" pitchFamily="18" charset="0"/>
                      </a:rPr>
                      <m:t>=</m:t>
                    </m:r>
                    <m:nary>
                      <m:naryPr>
                        <m:chr m:val="∑"/>
                        <m:limLoc m:val="undOvr"/>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667" b="1" i="1" kern="0">
                            <a:solidFill>
                              <a:srgbClr val="07144B"/>
                            </a:solidFill>
                            <a:latin typeface="Cambria Math" panose="02040503050406030204" pitchFamily="18" charset="0"/>
                            <a:cs typeface="Times New Roman" panose="02020603050405020304" pitchFamily="18" charset="0"/>
                          </a:rPr>
                          <m:t>𝒊</m:t>
                        </m:r>
                        <m:r>
                          <a:rPr lang="en-US" altLang="zh-CN" sz="2667" b="1" i="1" kern="0">
                            <a:solidFill>
                              <a:srgbClr val="07144B"/>
                            </a:solidFill>
                            <a:latin typeface="Cambria Math" panose="02040503050406030204" pitchFamily="18" charset="0"/>
                            <a:cs typeface="Times New Roman" panose="02020603050405020304" pitchFamily="18" charset="0"/>
                          </a:rPr>
                          <m:t>=</m:t>
                        </m:r>
                        <m:r>
                          <a:rPr lang="en-US" altLang="zh-CN" sz="2667" b="1" i="1" kern="0">
                            <a:solidFill>
                              <a:srgbClr val="07144B"/>
                            </a:solidFill>
                            <a:latin typeface="Cambria Math" panose="02040503050406030204" pitchFamily="18" charset="0"/>
                            <a:cs typeface="Times New Roman" panose="02020603050405020304" pitchFamily="18" charset="0"/>
                          </a:rPr>
                          <m:t>𝟏</m:t>
                        </m:r>
                      </m:sub>
                      <m:sup>
                        <m:r>
                          <a:rPr lang="en-US" altLang="zh-CN" sz="2667" b="1" i="1" kern="0">
                            <a:solidFill>
                              <a:srgbClr val="07144B"/>
                            </a:solidFill>
                            <a:latin typeface="Cambria Math" panose="02040503050406030204" pitchFamily="18" charset="0"/>
                            <a:cs typeface="Times New Roman" panose="02020603050405020304" pitchFamily="18" charset="0"/>
                          </a:rPr>
                          <m:t>𝒏</m:t>
                        </m:r>
                      </m:sup>
                      <m:e>
                        <m:sSubSup>
                          <m:sSubSupPr>
                            <m:ctrlPr>
                              <a:rPr lang="zh-CN" altLang="zh-CN" sz="2667" b="1" i="1" kern="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667" b="1" i="1" kern="0">
                                <a:solidFill>
                                  <a:srgbClr val="07144B"/>
                                </a:solidFill>
                                <a:latin typeface="Cambria Math" panose="02040503050406030204" pitchFamily="18" charset="0"/>
                                <a:cs typeface="Times New Roman" panose="02020603050405020304" pitchFamily="18" charset="0"/>
                              </a:rPr>
                              <m:t>𝝂</m:t>
                            </m:r>
                          </m:e>
                          <m:sub>
                            <m:r>
                              <a:rPr lang="en-US" altLang="zh-CN" sz="2667" b="1" i="1" kern="0">
                                <a:solidFill>
                                  <a:srgbClr val="07144B"/>
                                </a:solidFill>
                                <a:latin typeface="Cambria Math" panose="02040503050406030204" pitchFamily="18" charset="0"/>
                                <a:cs typeface="Times New Roman" panose="02020603050405020304" pitchFamily="18" charset="0"/>
                              </a:rPr>
                              <m:t>𝒊</m:t>
                            </m:r>
                          </m:sub>
                          <m:sup>
                            <m:r>
                              <a:rPr lang="en-US" altLang="zh-CN" sz="2667" b="1" i="1" kern="0">
                                <a:solidFill>
                                  <a:srgbClr val="07144B"/>
                                </a:solidFill>
                                <a:latin typeface="Cambria Math" panose="02040503050406030204" pitchFamily="18" charset="0"/>
                                <a:cs typeface="Times New Roman" panose="02020603050405020304" pitchFamily="18" charset="0"/>
                              </a:rPr>
                              <m:t>𝟐</m:t>
                            </m:r>
                          </m:sup>
                        </m:sSubSup>
                      </m:e>
                    </m:nary>
                  </m:oMath>
                </a14:m>
                <a:r>
                  <a:rPr lang="en-US" altLang="zh-CN" sz="2667" b="1" kern="0" dirty="0">
                    <a:solidFill>
                      <a:srgbClr val="07144B"/>
                    </a:solidFill>
                    <a:latin typeface="Times New Roman" panose="02020603050405020304" pitchFamily="18" charset="0"/>
                    <a:cs typeface="Times New Roman" panose="02020603050405020304" pitchFamily="18" charset="0"/>
                  </a:rPr>
                  <a:t>, is a minimum. The minimum can be found as before by setting partial derivatives </a:t>
                </a:r>
                <a14:m>
                  <m:oMath xmlns:m="http://schemas.openxmlformats.org/officeDocument/2006/math">
                    <m:f>
                      <m:fPr>
                        <m:type m:val="lin"/>
                        <m:ctrlPr>
                          <a:rPr lang="zh-CN" altLang="zh-CN" sz="2667"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67" b="1" i="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𝑺</m:t>
                        </m:r>
                      </m:num>
                      <m:den>
                        <m:r>
                          <a:rPr lang="en-US" altLang="zh-CN" sz="2667" b="1" i="1" kern="100">
                            <a:solidFill>
                              <a:srgbClr val="07144B"/>
                            </a:solidFill>
                            <a:latin typeface="Cambria Math" panose="02040503050406030204" pitchFamily="18" charset="0"/>
                            <a:cs typeface="Times New Roman" panose="02020603050405020304" pitchFamily="18" charset="0"/>
                          </a:rPr>
                          <m:t>𝝏</m:t>
                        </m:r>
                        <m:sSub>
                          <m:sSubPr>
                            <m:ctrlPr>
                              <a:rPr lang="zh-CN" altLang="zh-CN" sz="2667"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67" b="1" i="1" kern="100">
                                <a:solidFill>
                                  <a:srgbClr val="07144B"/>
                                </a:solidFill>
                                <a:latin typeface="Cambria Math" panose="02040503050406030204" pitchFamily="18" charset="0"/>
                                <a:cs typeface="Times New Roman" panose="02020603050405020304" pitchFamily="18" charset="0"/>
                              </a:rPr>
                              <m:t>𝒂</m:t>
                            </m:r>
                          </m:e>
                          <m:sub>
                            <m:r>
                              <a:rPr lang="en-US" altLang="zh-CN" sz="2667" b="1" i="1" kern="100">
                                <a:solidFill>
                                  <a:srgbClr val="07144B"/>
                                </a:solidFill>
                                <a:latin typeface="Cambria Math" panose="02040503050406030204" pitchFamily="18" charset="0"/>
                                <a:cs typeface="Times New Roman" panose="02020603050405020304" pitchFamily="18" charset="0"/>
                              </a:rPr>
                              <m:t>𝟎</m:t>
                            </m:r>
                          </m:sub>
                        </m:sSub>
                      </m:den>
                    </m:f>
                    <m:r>
                      <a:rPr lang="en-US" altLang="zh-CN" sz="2667" b="1" i="1" kern="100">
                        <a:solidFill>
                          <a:srgbClr val="07144B"/>
                        </a:solidFill>
                        <a:latin typeface="Cambria Math" panose="02040503050406030204" pitchFamily="18" charset="0"/>
                        <a:cs typeface="Times New Roman" panose="02020603050405020304" pitchFamily="18" charset="0"/>
                      </a:rPr>
                      <m:t>, </m:t>
                    </m:r>
                    <m:f>
                      <m:fPr>
                        <m:type m:val="lin"/>
                        <m:ctrlPr>
                          <a:rPr lang="zh-CN" altLang="zh-CN" sz="2667"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67" b="1" i="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𝑺</m:t>
                        </m:r>
                      </m:num>
                      <m:den>
                        <m:r>
                          <a:rPr lang="en-US" altLang="zh-CN" sz="2667" b="1" i="1" kern="100">
                            <a:solidFill>
                              <a:srgbClr val="07144B"/>
                            </a:solidFill>
                            <a:latin typeface="Cambria Math" panose="02040503050406030204" pitchFamily="18" charset="0"/>
                            <a:cs typeface="Times New Roman" panose="02020603050405020304" pitchFamily="18" charset="0"/>
                          </a:rPr>
                          <m:t>𝝏</m:t>
                        </m:r>
                        <m:sSub>
                          <m:sSubPr>
                            <m:ctrlPr>
                              <a:rPr lang="zh-CN" altLang="zh-CN" sz="2667"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67" b="1" i="1" kern="100">
                                <a:solidFill>
                                  <a:srgbClr val="07144B"/>
                                </a:solidFill>
                                <a:latin typeface="Cambria Math" panose="02040503050406030204" pitchFamily="18" charset="0"/>
                                <a:cs typeface="Times New Roman" panose="02020603050405020304" pitchFamily="18" charset="0"/>
                              </a:rPr>
                              <m:t>𝒂</m:t>
                            </m:r>
                          </m:e>
                          <m:sub>
                            <m:r>
                              <a:rPr lang="en-US" altLang="zh-CN" sz="2667" b="1" i="1" kern="100">
                                <a:solidFill>
                                  <a:srgbClr val="07144B"/>
                                </a:solidFill>
                                <a:latin typeface="Cambria Math" panose="02040503050406030204" pitchFamily="18" charset="0"/>
                                <a:cs typeface="Times New Roman" panose="02020603050405020304" pitchFamily="18" charset="0"/>
                              </a:rPr>
                              <m:t>𝟏</m:t>
                            </m:r>
                          </m:sub>
                        </m:sSub>
                        <m:r>
                          <a:rPr lang="en-US" altLang="zh-CN" sz="2667" b="1" i="1" kern="100">
                            <a:solidFill>
                              <a:srgbClr val="07144B"/>
                            </a:solidFill>
                            <a:latin typeface="Cambria Math" panose="02040503050406030204" pitchFamily="18" charset="0"/>
                            <a:cs typeface="Times New Roman" panose="02020603050405020304" pitchFamily="18" charset="0"/>
                          </a:rPr>
                          <m:t>,  </m:t>
                        </m:r>
                      </m:den>
                    </m:f>
                  </m:oMath>
                </a14:m>
                <a:r>
                  <a:rPr lang="en-US" altLang="zh-CN" sz="2667" b="1" kern="10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667" b="1" kern="100">
                        <a:solidFill>
                          <a:srgbClr val="07144B"/>
                        </a:solidFill>
                        <a:latin typeface="Cambria Math" panose="02040503050406030204" pitchFamily="18" charset="0"/>
                        <a:cs typeface="Times New Roman" panose="02020603050405020304" pitchFamily="18" charset="0"/>
                      </a:rPr>
                      <m:t>⋯</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f>
                      <m:fPr>
                        <m:type m:val="lin"/>
                        <m:ctrlPr>
                          <a:rPr lang="zh-CN" altLang="zh-CN" sz="2667"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67" b="1" i="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𝑺</m:t>
                        </m:r>
                      </m:num>
                      <m:den>
                        <m:r>
                          <a:rPr lang="en-US" altLang="zh-CN" sz="2667" b="1" i="1" kern="100">
                            <a:solidFill>
                              <a:srgbClr val="07144B"/>
                            </a:solidFill>
                            <a:latin typeface="Cambria Math" panose="02040503050406030204" pitchFamily="18" charset="0"/>
                            <a:cs typeface="Times New Roman" panose="02020603050405020304" pitchFamily="18" charset="0"/>
                          </a:rPr>
                          <m:t>𝝏</m:t>
                        </m:r>
                        <m:sSub>
                          <m:sSubPr>
                            <m:ctrlPr>
                              <a:rPr lang="zh-CN" altLang="zh-CN" sz="2667"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67" b="1" i="1" kern="100">
                                <a:solidFill>
                                  <a:srgbClr val="07144B"/>
                                </a:solidFill>
                                <a:latin typeface="Cambria Math" panose="02040503050406030204" pitchFamily="18" charset="0"/>
                                <a:cs typeface="Times New Roman" panose="02020603050405020304" pitchFamily="18" charset="0"/>
                              </a:rPr>
                              <m:t>𝒂</m:t>
                            </m:r>
                          </m:e>
                          <m:sub>
                            <m:r>
                              <a:rPr lang="en-US" altLang="zh-CN" sz="2667" b="1" i="1" kern="100">
                                <a:solidFill>
                                  <a:srgbClr val="07144B"/>
                                </a:solidFill>
                                <a:latin typeface="Cambria Math" panose="02040503050406030204" pitchFamily="18" charset="0"/>
                                <a:cs typeface="Times New Roman" panose="02020603050405020304" pitchFamily="18" charset="0"/>
                              </a:rPr>
                              <m:t>𝒑</m:t>
                            </m:r>
                          </m:sub>
                        </m:sSub>
                      </m:den>
                    </m:f>
                  </m:oMath>
                </a14:m>
                <a:r>
                  <a:rPr lang="en-US" altLang="zh-CN" sz="2667" b="1" kern="100" dirty="0">
                    <a:solidFill>
                      <a:srgbClr val="07144B"/>
                    </a:solidFill>
                    <a:latin typeface="Times New Roman" panose="02020603050405020304" pitchFamily="18" charset="0"/>
                    <a:cs typeface="Times New Roman" panose="02020603050405020304" pitchFamily="18" charset="0"/>
                  </a:rPr>
                  <a:t> to zero and solving the resulting simultaneous equations</a:t>
                </a:r>
                <a:r>
                  <a:rPr lang="en-US" altLang="zh-CN" sz="2667" b="1" kern="100" dirty="0">
                    <a:solidFill>
                      <a:srgbClr val="07144B"/>
                    </a:solidFill>
                    <a:latin typeface="Times New Roman" panose="02020603050405020304" pitchFamily="18" charset="0"/>
                    <a:cs typeface="Times New Roman" panose="02020603050405020304" pitchFamily="18" charset="0"/>
                  </a:rPr>
                  <a:t>.</a:t>
                </a:r>
                <a:endParaRPr lang="zh-CN" altLang="zh-CN" sz="2667" b="1" kern="100" dirty="0">
                  <a:solidFill>
                    <a:srgbClr val="07144B"/>
                  </a:solidFill>
                  <a:latin typeface="等线" panose="02010600030101010101" pitchFamily="2" charset="-122"/>
                  <a:cs typeface="Times New Roman" panose="02020603050405020304" pitchFamily="18" charset="0"/>
                </a:endParaRPr>
              </a:p>
            </p:txBody>
          </p:sp>
        </mc:Choice>
        <mc:Fallback xmlns="">
          <p:sp>
            <p:nvSpPr>
              <p:cNvPr id="13" name="矩形 12"/>
              <p:cNvSpPr>
                <a:spLocks noRot="1" noChangeAspect="1" noMove="1" noResize="1" noEditPoints="1" noAdjustHandles="1" noChangeArrowheads="1" noChangeShapeType="1" noTextEdit="1"/>
              </p:cNvSpPr>
              <p:nvPr/>
            </p:nvSpPr>
            <p:spPr>
              <a:xfrm>
                <a:off x="246695" y="2805507"/>
                <a:ext cx="8632826" cy="1373966"/>
              </a:xfrm>
              <a:prstGeom prst="rect">
                <a:avLst/>
              </a:prstGeom>
              <a:blipFill>
                <a:blip r:embed="rId7"/>
                <a:stretch>
                  <a:fillRect l="-706" t="-11947" r="-706" b="-27434"/>
                </a:stretch>
              </a:blipFill>
            </p:spPr>
            <p:txBody>
              <a:bodyPr/>
              <a:lstStyle/>
              <a:p>
                <a:r>
                  <a:rPr lang="zh-CN" altLang="en-US">
                    <a:noFill/>
                  </a:rPr>
                  <a:t> </a:t>
                </a:r>
              </a:p>
            </p:txBody>
          </p:sp>
        </mc:Fallback>
      </mc:AlternateContent>
      <p:sp>
        <p:nvSpPr>
          <p:cNvPr id="18" name="矩形 17"/>
          <p:cNvSpPr/>
          <p:nvPr/>
        </p:nvSpPr>
        <p:spPr>
          <a:xfrm>
            <a:off x="5711958" y="5283767"/>
            <a:ext cx="5748433" cy="584775"/>
          </a:xfrm>
          <a:prstGeom prst="rect">
            <a:avLst/>
          </a:prstGeom>
          <a:solidFill>
            <a:schemeClr val="accent4">
              <a:lumMod val="20000"/>
              <a:lumOff val="80000"/>
            </a:schemeClr>
          </a:solidFill>
        </p:spPr>
        <p:txBody>
          <a:bodyPr wrap="none">
            <a:spAutoFit/>
          </a:bodyPr>
          <a:lstStyle/>
          <a:p>
            <a:pPr fontAlgn="base">
              <a:spcBef>
                <a:spcPct val="0"/>
              </a:spcBef>
              <a:spcAft>
                <a:spcPct val="0"/>
              </a:spcAft>
            </a:pPr>
            <a:r>
              <a:rPr lang="en-US" altLang="zh-CN" sz="3200" b="1" kern="100" dirty="0">
                <a:solidFill>
                  <a:srgbClr val="C00000"/>
                </a:solidFill>
                <a:latin typeface="Times New Roman" panose="02020603050405020304" pitchFamily="18" charset="0"/>
                <a:cs typeface="Times New Roman" panose="02020603050405020304" pitchFamily="18" charset="0"/>
              </a:rPr>
              <a:t>By using C</a:t>
            </a:r>
            <a:r>
              <a:rPr lang="en-US" altLang="zh-CN" sz="3200" b="1" kern="100" dirty="0">
                <a:solidFill>
                  <a:srgbClr val="C00000"/>
                </a:solidFill>
                <a:latin typeface="Times New Roman" panose="02020603050405020304" pitchFamily="18" charset="0"/>
                <a:cs typeface="Times New Roman" panose="02020603050405020304" pitchFamily="18" charset="0"/>
              </a:rPr>
              <a:t>, </a:t>
            </a:r>
            <a:r>
              <a:rPr lang="en-US" altLang="zh-CN" sz="3200" b="1" kern="100" dirty="0" err="1">
                <a:solidFill>
                  <a:srgbClr val="C00000"/>
                </a:solidFill>
                <a:latin typeface="Times New Roman" panose="02020603050405020304" pitchFamily="18" charset="0"/>
                <a:cs typeface="Times New Roman" panose="02020603050405020304" pitchFamily="18" charset="0"/>
              </a:rPr>
              <a:t>LabView</a:t>
            </a:r>
            <a:r>
              <a:rPr lang="en-US" altLang="zh-CN" sz="3200" b="1" kern="100" dirty="0">
                <a:solidFill>
                  <a:srgbClr val="C00000"/>
                </a:solidFill>
                <a:latin typeface="Times New Roman" panose="02020603050405020304" pitchFamily="18" charset="0"/>
                <a:cs typeface="Times New Roman" panose="02020603050405020304" pitchFamily="18" charset="0"/>
              </a:rPr>
              <a:t> or </a:t>
            </a:r>
            <a:r>
              <a:rPr lang="en-US" altLang="zh-CN" sz="3200" b="1" kern="100" dirty="0" err="1">
                <a:solidFill>
                  <a:srgbClr val="C00000"/>
                </a:solidFill>
                <a:latin typeface="Times New Roman" panose="02020603050405020304" pitchFamily="18" charset="0"/>
                <a:cs typeface="Times New Roman" panose="02020603050405020304" pitchFamily="18" charset="0"/>
              </a:rPr>
              <a:t>Matlab</a:t>
            </a:r>
            <a:endParaRPr lang="zh-CN" altLang="en-US" sz="3200" dirty="0">
              <a:solidFill>
                <a:srgbClr val="C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35896341"/>
      </p:ext>
    </p:extLst>
  </p:cSld>
  <p:clrMapOvr>
    <a:masterClrMapping/>
  </p:clrMapOvr>
  <p:transition spd="slow" advClick="0" advTm="3000">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23"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Polynomial Least Squares Regression</a:t>
            </a:r>
            <a:endParaRPr lang="zh-CN" altLang="en-US" sz="2667" b="1" dirty="0">
              <a:solidFill>
                <a:srgbClr val="07144B"/>
              </a:solidFill>
              <a:latin typeface="微软雅黑" pitchFamily="34" charset="-122"/>
              <a:ea typeface="微软雅黑" pitchFamily="34" charset="-122"/>
            </a:endParaRPr>
          </a:p>
        </p:txBody>
      </p:sp>
      <p:sp>
        <p:nvSpPr>
          <p:cNvPr id="3" name="矩形 2"/>
          <p:cNvSpPr/>
          <p:nvPr/>
        </p:nvSpPr>
        <p:spPr>
          <a:xfrm>
            <a:off x="200419" y="725351"/>
            <a:ext cx="11593579" cy="1077218"/>
          </a:xfrm>
          <a:prstGeom prst="rect">
            <a:avLst/>
          </a:prstGeom>
        </p:spPr>
        <p:txBody>
          <a:bodyPr wrap="square">
            <a:spAutoFit/>
          </a:bodyPr>
          <a:lstStyle/>
          <a:p>
            <a:pPr fontAlgn="base">
              <a:spcBef>
                <a:spcPts val="800"/>
              </a:spcBef>
              <a:spcAft>
                <a:spcPts val="800"/>
              </a:spcAft>
            </a:pPr>
            <a:r>
              <a:rPr lang="en-US" altLang="zh-CN" sz="3200" b="1" i="1" kern="100" dirty="0">
                <a:solidFill>
                  <a:srgbClr val="C00000"/>
                </a:solidFill>
                <a:latin typeface="Times New Roman" panose="02020603050405020304" pitchFamily="18" charset="0"/>
                <a:cs typeface="Times New Roman" panose="02020603050405020304" pitchFamily="18" charset="0"/>
              </a:rPr>
              <a:t>Example</a:t>
            </a:r>
            <a:r>
              <a:rPr lang="en-US" altLang="zh-CN" sz="3200" b="1" kern="100" dirty="0">
                <a:solidFill>
                  <a:srgbClr val="000000"/>
                </a:solidFill>
                <a:latin typeface="Times New Roman" panose="02020603050405020304" pitchFamily="18" charset="0"/>
                <a:cs typeface="Times New Roman" panose="02020603050405020304" pitchFamily="18" charset="0"/>
              </a:rPr>
              <a:t>: </a:t>
            </a:r>
            <a:r>
              <a:rPr lang="en-US" altLang="zh-CN" sz="3200" b="1" dirty="0">
                <a:solidFill>
                  <a:srgbClr val="000000"/>
                </a:solidFill>
                <a:latin typeface="Times New Roman" panose="02020603050405020304" pitchFamily="18" charset="0"/>
              </a:rPr>
              <a:t>The </a:t>
            </a:r>
            <a:r>
              <a:rPr lang="en-US" altLang="zh-CN" sz="3200" b="1" dirty="0">
                <a:solidFill>
                  <a:srgbClr val="000000"/>
                </a:solidFill>
                <a:latin typeface="Times New Roman" panose="02020603050405020304" pitchFamily="18" charset="0"/>
              </a:rPr>
              <a:t>height and weight of 33 students are measured and recorded in meters and kilogram respectively as follows:</a:t>
            </a:r>
            <a:endParaRPr lang="zh-CN" altLang="en-US" sz="3200" dirty="0">
              <a:solidFill>
                <a:prstClr val="black"/>
              </a:solidFill>
              <a:latin typeface="Arial" panose="020B0604020202020204" pitchFamily="34" charset="0"/>
              <a:ea typeface="宋体" panose="02010600030101010101" pitchFamily="2" charset="-122"/>
            </a:endParaRPr>
          </a:p>
        </p:txBody>
      </p:sp>
      <p:graphicFrame>
        <p:nvGraphicFramePr>
          <p:cNvPr id="4" name="表格 3"/>
          <p:cNvGraphicFramePr>
            <a:graphicFrameLocks noGrp="1"/>
          </p:cNvGraphicFramePr>
          <p:nvPr>
            <p:extLst/>
          </p:nvPr>
        </p:nvGraphicFramePr>
        <p:xfrm>
          <a:off x="774888" y="1994465"/>
          <a:ext cx="10608813" cy="2758630"/>
        </p:xfrm>
        <a:graphic>
          <a:graphicData uri="http://schemas.openxmlformats.org/drawingml/2006/table">
            <a:tbl>
              <a:tblPr firstRow="1" firstCol="1" bandRow="1">
                <a:tableStyleId>{5C22544A-7EE6-4342-B048-85BDC9FD1C3A}</a:tableStyleId>
              </a:tblPr>
              <a:tblGrid>
                <a:gridCol w="1268308">
                  <a:extLst>
                    <a:ext uri="{9D8B030D-6E8A-4147-A177-3AD203B41FA5}">
                      <a16:colId xmlns="" xmlns:a16="http://schemas.microsoft.com/office/drawing/2014/main" val="3065440764"/>
                    </a:ext>
                  </a:extLst>
                </a:gridCol>
                <a:gridCol w="848092">
                  <a:extLst>
                    <a:ext uri="{9D8B030D-6E8A-4147-A177-3AD203B41FA5}">
                      <a16:colId xmlns="" xmlns:a16="http://schemas.microsoft.com/office/drawing/2014/main" val="38537789"/>
                    </a:ext>
                  </a:extLst>
                </a:gridCol>
                <a:gridCol w="849369">
                  <a:extLst>
                    <a:ext uri="{9D8B030D-6E8A-4147-A177-3AD203B41FA5}">
                      <a16:colId xmlns="" xmlns:a16="http://schemas.microsoft.com/office/drawing/2014/main" val="2025036484"/>
                    </a:ext>
                  </a:extLst>
                </a:gridCol>
                <a:gridCol w="849369">
                  <a:extLst>
                    <a:ext uri="{9D8B030D-6E8A-4147-A177-3AD203B41FA5}">
                      <a16:colId xmlns="" xmlns:a16="http://schemas.microsoft.com/office/drawing/2014/main" val="2317394001"/>
                    </a:ext>
                  </a:extLst>
                </a:gridCol>
                <a:gridCol w="849369">
                  <a:extLst>
                    <a:ext uri="{9D8B030D-6E8A-4147-A177-3AD203B41FA5}">
                      <a16:colId xmlns="" xmlns:a16="http://schemas.microsoft.com/office/drawing/2014/main" val="3982406361"/>
                    </a:ext>
                  </a:extLst>
                </a:gridCol>
                <a:gridCol w="849369">
                  <a:extLst>
                    <a:ext uri="{9D8B030D-6E8A-4147-A177-3AD203B41FA5}">
                      <a16:colId xmlns="" xmlns:a16="http://schemas.microsoft.com/office/drawing/2014/main" val="1630829892"/>
                    </a:ext>
                  </a:extLst>
                </a:gridCol>
                <a:gridCol w="848092">
                  <a:extLst>
                    <a:ext uri="{9D8B030D-6E8A-4147-A177-3AD203B41FA5}">
                      <a16:colId xmlns="" xmlns:a16="http://schemas.microsoft.com/office/drawing/2014/main" val="2353673740"/>
                    </a:ext>
                  </a:extLst>
                </a:gridCol>
                <a:gridCol w="849369">
                  <a:extLst>
                    <a:ext uri="{9D8B030D-6E8A-4147-A177-3AD203B41FA5}">
                      <a16:colId xmlns="" xmlns:a16="http://schemas.microsoft.com/office/drawing/2014/main" val="3813161908"/>
                    </a:ext>
                  </a:extLst>
                </a:gridCol>
                <a:gridCol w="849369">
                  <a:extLst>
                    <a:ext uri="{9D8B030D-6E8A-4147-A177-3AD203B41FA5}">
                      <a16:colId xmlns="" xmlns:a16="http://schemas.microsoft.com/office/drawing/2014/main" val="4045757841"/>
                    </a:ext>
                  </a:extLst>
                </a:gridCol>
                <a:gridCol w="849369">
                  <a:extLst>
                    <a:ext uri="{9D8B030D-6E8A-4147-A177-3AD203B41FA5}">
                      <a16:colId xmlns="" xmlns:a16="http://schemas.microsoft.com/office/drawing/2014/main" val="3231494844"/>
                    </a:ext>
                  </a:extLst>
                </a:gridCol>
                <a:gridCol w="849369">
                  <a:extLst>
                    <a:ext uri="{9D8B030D-6E8A-4147-A177-3AD203B41FA5}">
                      <a16:colId xmlns="" xmlns:a16="http://schemas.microsoft.com/office/drawing/2014/main" val="3728024980"/>
                    </a:ext>
                  </a:extLst>
                </a:gridCol>
                <a:gridCol w="849369">
                  <a:extLst>
                    <a:ext uri="{9D8B030D-6E8A-4147-A177-3AD203B41FA5}">
                      <a16:colId xmlns="" xmlns:a16="http://schemas.microsoft.com/office/drawing/2014/main" val="1180217963"/>
                    </a:ext>
                  </a:extLst>
                </a:gridCol>
              </a:tblGrid>
              <a:tr h="484261">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Weight/y</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70.3</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75.2</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88.1</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75.0</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72.8</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80.7</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81.3</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76.6</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73.8</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85.2</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81.2</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extLst>
                  <a:ext uri="{0D108BD9-81ED-4DB2-BD59-A6C34878D82A}">
                    <a16:rowId xmlns="" xmlns:a16="http://schemas.microsoft.com/office/drawing/2014/main" val="4032814055"/>
                  </a:ext>
                </a:extLst>
              </a:tr>
              <a:tr h="451208">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Height/x</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1.69</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1.68</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1.82</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1.69</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1.81</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1.76</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1.84</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1.74</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1.70</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1.81</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1.75</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extLst>
                  <a:ext uri="{0D108BD9-81ED-4DB2-BD59-A6C34878D82A}">
                    <a16:rowId xmlns="" xmlns:a16="http://schemas.microsoft.com/office/drawing/2014/main" val="1427623956"/>
                  </a:ext>
                </a:extLst>
              </a:tr>
              <a:tr h="480053">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Weight/y</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77.3</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77.9</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75.3</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84.7</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68.5</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70.7</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74.4</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73.0</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69.4</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78.8</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83.5</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extLst>
                  <a:ext uri="{0D108BD9-81ED-4DB2-BD59-A6C34878D82A}">
                    <a16:rowId xmlns="" xmlns:a16="http://schemas.microsoft.com/office/drawing/2014/main" val="3855556760"/>
                  </a:ext>
                </a:extLst>
              </a:tr>
              <a:tr h="466792">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Height/x</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1.80</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1.71</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1.74</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1.77</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1.72</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1.67</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1.75</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1.66</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1.75</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1.78</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1.80</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extLst>
                  <a:ext uri="{0D108BD9-81ED-4DB2-BD59-A6C34878D82A}">
                    <a16:rowId xmlns="" xmlns:a16="http://schemas.microsoft.com/office/drawing/2014/main" val="2974300170"/>
                  </a:ext>
                </a:extLst>
              </a:tr>
              <a:tr h="427741">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Weight/y</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75.5</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64.2</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77.2</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76.1</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90.6</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66.6</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79.5</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64.1</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65.8</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69.4</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73.5</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extLst>
                  <a:ext uri="{0D108BD9-81ED-4DB2-BD59-A6C34878D82A}">
                    <a16:rowId xmlns="" xmlns:a16="http://schemas.microsoft.com/office/drawing/2014/main" val="2665416982"/>
                  </a:ext>
                </a:extLst>
              </a:tr>
              <a:tr h="448575">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Height/x</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1.76</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1.68</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1.75</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1.79</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1.85</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1.70</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1.83</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a:effectLst/>
                          <a:latin typeface="Times New Roman" panose="02020603050405020304" pitchFamily="18" charset="0"/>
                          <a:cs typeface="Times New Roman" panose="02020603050405020304" pitchFamily="18" charset="0"/>
                        </a:rPr>
                        <a:t>1.76</a:t>
                      </a:r>
                      <a:endParaRPr lang="zh-CN" sz="2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1.64</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1.82</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tc>
                  <a:txBody>
                    <a:bodyPr/>
                    <a:lstStyle/>
                    <a:p>
                      <a:pPr algn="ctr">
                        <a:spcAft>
                          <a:spcPts val="600"/>
                        </a:spcAft>
                      </a:pPr>
                      <a:r>
                        <a:rPr lang="en-US" sz="2100" kern="100" dirty="0">
                          <a:effectLst/>
                          <a:latin typeface="Times New Roman" panose="02020603050405020304" pitchFamily="18" charset="0"/>
                          <a:cs typeface="Times New Roman" panose="02020603050405020304" pitchFamily="18" charset="0"/>
                        </a:rPr>
                        <a:t>1.73</a:t>
                      </a:r>
                      <a:endParaRPr lang="zh-CN" sz="21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0" marB="0" anchor="ctr"/>
                </a:tc>
                <a:extLst>
                  <a:ext uri="{0D108BD9-81ED-4DB2-BD59-A6C34878D82A}">
                    <a16:rowId xmlns="" xmlns:a16="http://schemas.microsoft.com/office/drawing/2014/main" val="3831405672"/>
                  </a:ext>
                </a:extLst>
              </a:tr>
            </a:tbl>
          </a:graphicData>
        </a:graphic>
      </p:graphicFrame>
      <mc:AlternateContent xmlns:mc="http://schemas.openxmlformats.org/markup-compatibility/2006">
        <mc:Choice xmlns:a14="http://schemas.microsoft.com/office/drawing/2010/main" Requires="a14">
          <p:sp>
            <p:nvSpPr>
              <p:cNvPr id="5" name="矩形 4"/>
              <p:cNvSpPr/>
              <p:nvPr/>
            </p:nvSpPr>
            <p:spPr>
              <a:xfrm>
                <a:off x="260131" y="4963047"/>
                <a:ext cx="11330853" cy="913199"/>
              </a:xfrm>
              <a:prstGeom prst="rect">
                <a:avLst/>
              </a:prstGeom>
            </p:spPr>
            <p:txBody>
              <a:bodyPr wrap="square">
                <a:spAutoFit/>
              </a:bodyPr>
              <a:lstStyle/>
              <a:p>
                <a:pPr algn="just" fontAlgn="base">
                  <a:spcBef>
                    <a:spcPts val="800"/>
                  </a:spcBef>
                  <a:spcAft>
                    <a:spcPts val="800"/>
                  </a:spcAft>
                </a:pPr>
                <a:r>
                  <a:rPr lang="en-US" altLang="zh-CN" sz="2667" b="1" kern="100" dirty="0">
                    <a:solidFill>
                      <a:srgbClr val="07144B"/>
                    </a:solidFill>
                    <a:latin typeface="Times New Roman" panose="02020603050405020304" pitchFamily="18" charset="0"/>
                    <a:cs typeface="Times New Roman" panose="02020603050405020304" pitchFamily="18" charset="0"/>
                  </a:rPr>
                  <a:t>Use </a:t>
                </a:r>
                <a:r>
                  <a:rPr lang="en-US" altLang="zh-CN" sz="2667" b="1" kern="100" dirty="0">
                    <a:solidFill>
                      <a:srgbClr val="FF0000"/>
                    </a:solidFill>
                    <a:latin typeface="Times New Roman" panose="02020603050405020304" pitchFamily="18" charset="0"/>
                    <a:cs typeface="Times New Roman" panose="02020603050405020304" pitchFamily="18" charset="0"/>
                  </a:rPr>
                  <a:t>linear least squares regression </a:t>
                </a:r>
                <a:r>
                  <a:rPr lang="en-US" altLang="zh-CN" sz="2667" b="1" kern="100" dirty="0">
                    <a:solidFill>
                      <a:srgbClr val="07144B"/>
                    </a:solidFill>
                    <a:latin typeface="Times New Roman" panose="02020603050405020304" pitchFamily="18" charset="0"/>
                    <a:cs typeface="Times New Roman" panose="02020603050405020304" pitchFamily="18" charset="0"/>
                  </a:rPr>
                  <a:t>to find the optimal values for </a:t>
                </a:r>
                <a:r>
                  <a:rPr lang="en-US" altLang="zh-CN" sz="2667" b="1" i="1" kern="100" dirty="0">
                    <a:solidFill>
                      <a:srgbClr val="07144B"/>
                    </a:solidFill>
                    <a:latin typeface="Times New Roman" panose="02020603050405020304" pitchFamily="18" charset="0"/>
                    <a:cs typeface="Times New Roman" panose="02020603050405020304" pitchFamily="18" charset="0"/>
                  </a:rPr>
                  <a:t>a</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i="1" kern="100" dirty="0">
                    <a:solidFill>
                      <a:srgbClr val="07144B"/>
                    </a:solidFill>
                    <a:latin typeface="Times New Roman" panose="02020603050405020304" pitchFamily="18" charset="0"/>
                    <a:cs typeface="Times New Roman" panose="02020603050405020304" pitchFamily="18" charset="0"/>
                  </a:rPr>
                  <a:t>b</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i="1" kern="100" dirty="0">
                    <a:solidFill>
                      <a:srgbClr val="07144B"/>
                    </a:solidFill>
                    <a:latin typeface="Times New Roman" panose="02020603050405020304" pitchFamily="18" charset="0"/>
                    <a:cs typeface="Times New Roman" panose="02020603050405020304" pitchFamily="18" charset="0"/>
                  </a:rPr>
                  <a:t>c</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i="1" kern="100" dirty="0">
                    <a:solidFill>
                      <a:srgbClr val="07144B"/>
                    </a:solidFill>
                    <a:latin typeface="Times New Roman" panose="02020603050405020304" pitchFamily="18" charset="0"/>
                    <a:cs typeface="Times New Roman" panose="02020603050405020304" pitchFamily="18" charset="0"/>
                  </a:rPr>
                  <a:t>d</a:t>
                </a:r>
                <a:r>
                  <a:rPr lang="en-US" altLang="zh-CN" sz="2667" b="1" kern="100" dirty="0">
                    <a:solidFill>
                      <a:srgbClr val="07144B"/>
                    </a:solidFill>
                    <a:latin typeface="Times New Roman" panose="02020603050405020304" pitchFamily="18" charset="0"/>
                    <a:cs typeface="Times New Roman" panose="02020603050405020304" pitchFamily="18" charset="0"/>
                  </a:rPr>
                  <a:t> in relationships between the variables of the form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𝒚</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𝒂</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𝒃𝒙</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and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𝒙</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𝒄</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𝒅𝒚</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t>
                </a:r>
                <a:endParaRPr lang="zh-CN" altLang="zh-CN" sz="2667" kern="100" dirty="0">
                  <a:solidFill>
                    <a:srgbClr val="07144B"/>
                  </a:solidFill>
                  <a:latin typeface="Times New Roman" panose="02020603050405020304" pitchFamily="18" charset="0"/>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260131" y="4963047"/>
                <a:ext cx="11330853" cy="913199"/>
              </a:xfrm>
              <a:prstGeom prst="rect">
                <a:avLst/>
              </a:prstGeom>
              <a:blipFill rotWithShape="0">
                <a:blip r:embed="rId5"/>
                <a:stretch>
                  <a:fillRect l="-1023" t="-6667" r="-1076" b="-16667"/>
                </a:stretch>
              </a:blipFill>
            </p:spPr>
            <p:txBody>
              <a:bodyPr/>
              <a:lstStyle/>
              <a:p>
                <a:r>
                  <a:rPr lang="en-GB">
                    <a:noFill/>
                  </a:rPr>
                  <a:t> </a:t>
                </a:r>
              </a:p>
            </p:txBody>
          </p:sp>
        </mc:Fallback>
      </mc:AlternateContent>
    </p:spTree>
    <p:extLst>
      <p:ext uri="{BB962C8B-B14F-4D97-AF65-F5344CB8AC3E}">
        <p14:creationId xmlns:p14="http://schemas.microsoft.com/office/powerpoint/2010/main" val="2258083161"/>
      </p:ext>
    </p:extLst>
  </p:cSld>
  <p:clrMapOvr>
    <a:masterClrMapping/>
  </p:clrMapOvr>
  <p:transition spd="slow" advClick="0" advTm="3000">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1761" y="3279754"/>
            <a:ext cx="4439168" cy="2506879"/>
          </a:xfrm>
          <a:prstGeom prst="rect">
            <a:avLst/>
          </a:prstGeom>
        </p:spPr>
      </p:pic>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pic>
        <p:nvPicPr>
          <p:cNvPr id="14" name="图片 13" descr="微信图片_20210223184101"/>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23" name="Text Box 24"/>
          <p:cNvSpPr txBox="1">
            <a:spLocks noChangeArrowheads="1"/>
          </p:cNvSpPr>
          <p:nvPr/>
        </p:nvSpPr>
        <p:spPr bwMode="auto">
          <a:xfrm>
            <a:off x="239349" y="111630"/>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Polynomial Least Squares Regression</a:t>
            </a:r>
            <a:endParaRPr lang="zh-CN" altLang="en-US" sz="2667" b="1" dirty="0">
              <a:solidFill>
                <a:srgbClr val="07144B"/>
              </a:solidFill>
              <a:latin typeface="微软雅黑" pitchFamily="34" charset="-122"/>
              <a:ea typeface="微软雅黑" pitchFamily="34" charset="-122"/>
            </a:endParaRPr>
          </a:p>
        </p:txBody>
      </p:sp>
      <mc:AlternateContent xmlns:mc="http://schemas.openxmlformats.org/markup-compatibility/2006" xmlns:a14="http://schemas.microsoft.com/office/drawing/2010/main">
        <mc:Choice Requires="a14">
          <p:sp>
            <p:nvSpPr>
              <p:cNvPr id="2" name="矩形 1"/>
              <p:cNvSpPr/>
              <p:nvPr/>
            </p:nvSpPr>
            <p:spPr>
              <a:xfrm>
                <a:off x="431371" y="710308"/>
                <a:ext cx="11425269" cy="2944652"/>
              </a:xfrm>
              <a:prstGeom prst="rect">
                <a:avLst/>
              </a:prstGeom>
            </p:spPr>
            <p:txBody>
              <a:bodyPr wrap="square">
                <a:spAutoFit/>
              </a:bodyPr>
              <a:lstStyle/>
              <a:p>
                <a:pPr fontAlgn="base">
                  <a:spcBef>
                    <a:spcPts val="800"/>
                  </a:spcBef>
                </a:pP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endParaRPr lang="zh-CN" altLang="zh-CN" sz="2667" b="1" kern="100" dirty="0">
                  <a:solidFill>
                    <a:srgbClr val="C00000"/>
                  </a:solidFill>
                  <a:effectLst>
                    <a:outerShdw blurRad="38100" dist="38100" dir="2700000" algn="tl">
                      <a:srgbClr val="000000">
                        <a:alpha val="43137"/>
                      </a:srgbClr>
                    </a:outerShdw>
                  </a:effectLst>
                  <a:latin typeface="等线" panose="02010600030101010101" pitchFamily="2" charset="-122"/>
                  <a:cs typeface="Times New Roman" panose="02020603050405020304" pitchFamily="18" charset="0"/>
                </a:endParaRPr>
              </a:p>
              <a:p>
                <a:pPr algn="just" fontAlgn="base">
                  <a:spcBef>
                    <a:spcPct val="0"/>
                  </a:spcBef>
                </a:pPr>
                <a:r>
                  <a:rPr lang="en-US" altLang="zh-CN" sz="2667" b="1" kern="100" dirty="0">
                    <a:solidFill>
                      <a:srgbClr val="07144B"/>
                    </a:solidFill>
                    <a:latin typeface="Times New Roman" panose="02020603050405020304" pitchFamily="18" charset="0"/>
                    <a:cs typeface="Times New Roman" panose="02020603050405020304" pitchFamily="18" charset="0"/>
                  </a:rPr>
                  <a:t>By using expressions above </a:t>
                </a:r>
                <a:r>
                  <a:rPr lang="en-US" altLang="zh-CN" sz="2667" b="1" kern="100" dirty="0">
                    <a:solidFill>
                      <a:srgbClr val="07144B"/>
                    </a:solidFill>
                    <a:latin typeface="Times New Roman" panose="02020603050405020304" pitchFamily="18" charset="0"/>
                    <a:cs typeface="Times New Roman" panose="02020603050405020304" pitchFamily="18" charset="0"/>
                  </a:rPr>
                  <a:t>for estimating the optimal values of </a:t>
                </a:r>
                <a:r>
                  <a:rPr lang="en-US" altLang="zh-CN" sz="2667" b="1" i="1" kern="100" dirty="0">
                    <a:solidFill>
                      <a:srgbClr val="07144B"/>
                    </a:solidFill>
                    <a:latin typeface="Times New Roman" panose="02020603050405020304" pitchFamily="18" charset="0"/>
                    <a:cs typeface="Times New Roman" panose="02020603050405020304" pitchFamily="18" charset="0"/>
                  </a:rPr>
                  <a:t>a</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i="1" kern="100" dirty="0">
                    <a:solidFill>
                      <a:srgbClr val="07144B"/>
                    </a:solidFill>
                    <a:latin typeface="Times New Roman" panose="02020603050405020304" pitchFamily="18" charset="0"/>
                    <a:cs typeface="Times New Roman" panose="02020603050405020304" pitchFamily="18" charset="0"/>
                  </a:rPr>
                  <a:t>b</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i="1" kern="100" dirty="0">
                    <a:solidFill>
                      <a:srgbClr val="07144B"/>
                    </a:solidFill>
                    <a:latin typeface="Times New Roman" panose="02020603050405020304" pitchFamily="18" charset="0"/>
                    <a:cs typeface="Times New Roman" panose="02020603050405020304" pitchFamily="18" charset="0"/>
                  </a:rPr>
                  <a:t>c</a:t>
                </a:r>
                <a:r>
                  <a:rPr lang="en-US" altLang="zh-CN" sz="2667" b="1" kern="100" dirty="0">
                    <a:solidFill>
                      <a:srgbClr val="07144B"/>
                    </a:solidFill>
                    <a:latin typeface="Times New Roman" panose="02020603050405020304" pitchFamily="18" charset="0"/>
                    <a:cs typeface="Times New Roman" panose="02020603050405020304" pitchFamily="18" charset="0"/>
                  </a:rPr>
                  <a:t> and </a:t>
                </a:r>
                <a:r>
                  <a:rPr lang="en-US" altLang="zh-CN" sz="2667" b="1" i="1" kern="100" dirty="0">
                    <a:solidFill>
                      <a:srgbClr val="07144B"/>
                    </a:solidFill>
                    <a:latin typeface="Times New Roman" panose="02020603050405020304" pitchFamily="18" charset="0"/>
                    <a:cs typeface="Times New Roman" panose="02020603050405020304" pitchFamily="18" charset="0"/>
                  </a:rPr>
                  <a:t>d </a:t>
                </a:r>
                <a:r>
                  <a:rPr lang="en-US" altLang="zh-CN" sz="2667" b="1" kern="100" dirty="0">
                    <a:solidFill>
                      <a:srgbClr val="07144B"/>
                    </a:solidFill>
                    <a:latin typeface="Times New Roman" panose="02020603050405020304" pitchFamily="18" charset="0"/>
                    <a:cs typeface="Times New Roman" panose="02020603050405020304" pitchFamily="18" charset="0"/>
                  </a:rPr>
                  <a:t>for a relationship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𝒚</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𝒂</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𝒃𝒙</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and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𝒙</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𝒄</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i="1" kern="100">
                        <a:solidFill>
                          <a:srgbClr val="07144B"/>
                        </a:solidFill>
                        <a:latin typeface="Cambria Math" panose="02040503050406030204" pitchFamily="18" charset="0"/>
                        <a:cs typeface="Times New Roman" panose="02020603050405020304" pitchFamily="18" charset="0"/>
                      </a:rPr>
                      <m:t>𝒅𝒚</m:t>
                    </m:r>
                  </m:oMath>
                </a14:m>
                <a:r>
                  <a:rPr lang="en-US" altLang="zh-CN" sz="2667" b="1" i="1" kern="100" dirty="0">
                    <a:solidFill>
                      <a:srgbClr val="07144B"/>
                    </a:solidFill>
                    <a:latin typeface="Times New Roman" panose="02020603050405020304" pitchFamily="18" charset="0"/>
                    <a:cs typeface="Times New Roman" panose="02020603050405020304" pitchFamily="18" charset="0"/>
                  </a:rPr>
                  <a:t> </a:t>
                </a:r>
                <a:r>
                  <a:rPr lang="en-US" altLang="zh-CN" sz="2667" b="1" kern="100" dirty="0">
                    <a:solidFill>
                      <a:srgbClr val="07144B"/>
                    </a:solidFill>
                    <a:latin typeface="Times New Roman" panose="02020603050405020304" pitchFamily="18" charset="0"/>
                    <a:cs typeface="Times New Roman" panose="02020603050405020304" pitchFamily="18" charset="0"/>
                  </a:rPr>
                  <a:t>between the data</a:t>
                </a:r>
                <a:r>
                  <a:rPr lang="en-US" altLang="zh-CN" sz="2667" b="1" kern="100" dirty="0">
                    <a:solidFill>
                      <a:srgbClr val="07144B"/>
                    </a:solidFill>
                    <a:latin typeface="Times New Roman" panose="02020603050405020304" pitchFamily="18" charset="0"/>
                    <a:cs typeface="Times New Roman" panose="02020603050405020304" pitchFamily="18" charset="0"/>
                  </a:rPr>
                  <a:t>. </a:t>
                </a:r>
                <a:r>
                  <a:rPr lang="en-US" altLang="zh-CN" sz="2667" b="1" kern="100" dirty="0">
                    <a:solidFill>
                      <a:srgbClr val="07144B"/>
                    </a:solidFill>
                    <a:latin typeface="Times New Roman" panose="02020603050405020304" pitchFamily="18" charset="0"/>
                    <a:cs typeface="Times New Roman" panose="02020603050405020304" pitchFamily="18" charset="0"/>
                  </a:rPr>
                  <a:t>We used the </a:t>
                </a:r>
                <a:r>
                  <a:rPr lang="en-US" altLang="zh-CN" sz="2667" b="1" i="1" kern="100" dirty="0" err="1">
                    <a:solidFill>
                      <a:srgbClr val="C00000"/>
                    </a:solidFill>
                    <a:latin typeface="Times New Roman" panose="02020603050405020304" pitchFamily="18" charset="0"/>
                    <a:cs typeface="Times New Roman" panose="02020603050405020304" pitchFamily="18" charset="0"/>
                  </a:rPr>
                  <a:t>polyfit</a:t>
                </a:r>
                <a:r>
                  <a:rPr lang="en-US" altLang="zh-CN" sz="2667" b="1" kern="100" dirty="0">
                    <a:solidFill>
                      <a:srgbClr val="C00000"/>
                    </a:solidFill>
                    <a:latin typeface="Times New Roman" panose="02020603050405020304" pitchFamily="18" charset="0"/>
                    <a:cs typeface="Times New Roman" panose="02020603050405020304" pitchFamily="18" charset="0"/>
                  </a:rPr>
                  <a:t> function </a:t>
                </a:r>
                <a:r>
                  <a:rPr lang="en-US" altLang="zh-CN" sz="2667" b="1" kern="100" dirty="0">
                    <a:solidFill>
                      <a:srgbClr val="07144B"/>
                    </a:solidFill>
                    <a:latin typeface="Times New Roman" panose="02020603050405020304" pitchFamily="18" charset="0"/>
                    <a:cs typeface="Times New Roman" panose="02020603050405020304" pitchFamily="18" charset="0"/>
                  </a:rPr>
                  <a:t>in </a:t>
                </a:r>
                <a:r>
                  <a:rPr lang="en-US" altLang="zh-CN" sz="2667" b="1" kern="100" dirty="0" err="1">
                    <a:solidFill>
                      <a:srgbClr val="07144B"/>
                    </a:solidFill>
                    <a:latin typeface="Times New Roman" panose="02020603050405020304" pitchFamily="18" charset="0"/>
                    <a:cs typeface="Times New Roman" panose="02020603050405020304" pitchFamily="18" charset="0"/>
                  </a:rPr>
                  <a:t>Matlab</a:t>
                </a:r>
                <a:r>
                  <a:rPr lang="en-US" altLang="zh-CN" sz="2667" b="1" kern="100" dirty="0">
                    <a:solidFill>
                      <a:srgbClr val="07144B"/>
                    </a:solidFill>
                    <a:latin typeface="Times New Roman" panose="02020603050405020304" pitchFamily="18" charset="0"/>
                    <a:cs typeface="Times New Roman" panose="02020603050405020304" pitchFamily="18" charset="0"/>
                  </a:rPr>
                  <a:t> and obtained the following results:</a:t>
                </a:r>
                <a14:m>
                  <m:oMath xmlns:m="http://schemas.openxmlformats.org/officeDocument/2006/math">
                    <m:r>
                      <a:rPr lang="en-US" altLang="zh-CN" sz="2667" b="1" kern="100">
                        <a:solidFill>
                          <a:srgbClr val="07144B"/>
                        </a:solidFill>
                        <a:latin typeface="Cambria Math" panose="02040503050406030204" pitchFamily="18" charset="0"/>
                        <a:cs typeface="Times New Roman" panose="02020603050405020304" pitchFamily="18" charset="0"/>
                      </a:rPr>
                      <m:t> </m:t>
                    </m:r>
                    <m:r>
                      <a:rPr lang="en-US" altLang="zh-CN" sz="2667" b="1" i="1" kern="100">
                        <a:solidFill>
                          <a:srgbClr val="07144B"/>
                        </a:solidFill>
                        <a:latin typeface="Cambria Math" panose="02040503050406030204" pitchFamily="18" charset="0"/>
                        <a:cs typeface="Times New Roman" panose="02020603050405020304" pitchFamily="18" charset="0"/>
                      </a:rPr>
                      <m:t>𝒂</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𝟓𝟒</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𝟐𝟑</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𝒃</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𝟕𝟑</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𝟔𝟒</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𝒄</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𝟏</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𝟑𝟒𝟑𝟑</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667" b="1" i="1" kern="100">
                        <a:solidFill>
                          <a:srgbClr val="07144B"/>
                        </a:solidFill>
                        <a:latin typeface="Cambria Math" panose="02040503050406030204" pitchFamily="18" charset="0"/>
                        <a:cs typeface="Times New Roman" panose="02020603050405020304" pitchFamily="18" charset="0"/>
                      </a:rPr>
                      <m:t>𝒅</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𝟎</m:t>
                    </m:r>
                    <m:r>
                      <a:rPr lang="en-US" altLang="zh-CN" sz="2667" b="1" kern="100">
                        <a:solidFill>
                          <a:srgbClr val="07144B"/>
                        </a:solidFill>
                        <a:latin typeface="Cambria Math" panose="02040503050406030204" pitchFamily="18" charset="0"/>
                        <a:cs typeface="Times New Roman" panose="02020603050405020304" pitchFamily="18" charset="0"/>
                      </a:rPr>
                      <m:t>.</m:t>
                    </m:r>
                    <m:r>
                      <a:rPr lang="en-US" altLang="zh-CN" sz="2667" b="1" kern="100">
                        <a:solidFill>
                          <a:srgbClr val="07144B"/>
                        </a:solidFill>
                        <a:latin typeface="Cambria Math" panose="02040503050406030204" pitchFamily="18" charset="0"/>
                        <a:cs typeface="Times New Roman" panose="02020603050405020304" pitchFamily="18" charset="0"/>
                      </a:rPr>
                      <m:t>𝟎𝟎𝟓𝟒</m:t>
                    </m:r>
                  </m:oMath>
                </a14:m>
                <a:r>
                  <a:rPr lang="en-US" altLang="zh-CN" sz="2667" b="1" kern="100" dirty="0">
                    <a:solidFill>
                      <a:srgbClr val="07144B"/>
                    </a:solidFill>
                    <a:latin typeface="Times New Roman" panose="02020603050405020304" pitchFamily="18" charset="0"/>
                    <a:cs typeface="Times New Roman" panose="02020603050405020304" pitchFamily="18" charset="0"/>
                  </a:rPr>
                  <a:t>, thus</a:t>
                </a:r>
                <a:endParaRPr lang="zh-CN" altLang="zh-CN" sz="2667" b="1" kern="100" dirty="0">
                  <a:solidFill>
                    <a:srgbClr val="07144B"/>
                  </a:solidFill>
                  <a:latin typeface="等线" panose="02010600030101010101" pitchFamily="2" charset="-122"/>
                  <a:cs typeface="Times New Roman" panose="02020603050405020304" pitchFamily="18" charset="0"/>
                </a:endParaRPr>
              </a:p>
              <a:p>
                <a:pPr fontAlgn="base">
                  <a:spcBef>
                    <a:spcPts val="800"/>
                  </a:spcBef>
                </a:pPr>
                <a14:m>
                  <m:oMathPara xmlns:m="http://schemas.openxmlformats.org/officeDocument/2006/math">
                    <m:oMathParaPr>
                      <m:jc m:val="centerGroup"/>
                    </m:oMathParaPr>
                    <m:oMath xmlns:m="http://schemas.openxmlformats.org/officeDocument/2006/math">
                      <m:r>
                        <a:rPr lang="en-US" altLang="zh-CN" sz="2400" b="1" i="1" kern="100">
                          <a:solidFill>
                            <a:srgbClr val="000000"/>
                          </a:solidFill>
                          <a:latin typeface="Cambria Math" panose="02040503050406030204" pitchFamily="18" charset="0"/>
                          <a:cs typeface="Times New Roman" panose="02020603050405020304" pitchFamily="18" charset="0"/>
                        </a:rPr>
                        <m:t>𝒚</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kern="100">
                          <a:solidFill>
                            <a:srgbClr val="000000"/>
                          </a:solidFill>
                          <a:latin typeface="Cambria Math" panose="02040503050406030204" pitchFamily="18" charset="0"/>
                          <a:cs typeface="Times New Roman" panose="02020603050405020304" pitchFamily="18" charset="0"/>
                        </a:rPr>
                        <m:t>−54.23</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kern="100">
                          <a:solidFill>
                            <a:srgbClr val="000000"/>
                          </a:solidFill>
                          <a:latin typeface="Cambria Math" panose="02040503050406030204" pitchFamily="18" charset="0"/>
                          <a:cs typeface="Times New Roman" panose="02020603050405020304" pitchFamily="18" charset="0"/>
                        </a:rPr>
                        <m:t>73.64</m:t>
                      </m:r>
                      <m:r>
                        <a:rPr lang="en-US" altLang="zh-CN" sz="2400" b="1" i="1" kern="100">
                          <a:solidFill>
                            <a:srgbClr val="000000"/>
                          </a:solidFill>
                          <a:latin typeface="Cambria Math" panose="02040503050406030204" pitchFamily="18" charset="0"/>
                          <a:cs typeface="Times New Roman" panose="02020603050405020304" pitchFamily="18" charset="0"/>
                        </a:rPr>
                        <m:t>𝒙</m:t>
                      </m:r>
                    </m:oMath>
                  </m:oMathPara>
                </a14:m>
                <a:endParaRPr lang="zh-CN" altLang="zh-CN" sz="2667" kern="100" dirty="0">
                  <a:solidFill>
                    <a:prstClr val="black"/>
                  </a:solidFill>
                  <a:latin typeface="等线" panose="02010600030101010101" pitchFamily="2" charset="-122"/>
                  <a:cs typeface="Times New Roman" panose="02020603050405020304" pitchFamily="18" charset="0"/>
                </a:endParaRPr>
              </a:p>
              <a:p>
                <a:pPr fontAlgn="base">
                  <a:spcBef>
                    <a:spcPct val="0"/>
                  </a:spcBef>
                  <a:spcAft>
                    <a:spcPts val="800"/>
                  </a:spcAft>
                </a:pPr>
                <a14:m>
                  <m:oMathPara xmlns:m="http://schemas.openxmlformats.org/officeDocument/2006/math">
                    <m:oMathParaPr>
                      <m:jc m:val="centerGroup"/>
                    </m:oMathParaPr>
                    <m:oMath xmlns:m="http://schemas.openxmlformats.org/officeDocument/2006/math">
                      <m:r>
                        <a:rPr lang="en-US" altLang="zh-CN" sz="2400" b="1" i="1" kern="100">
                          <a:solidFill>
                            <a:srgbClr val="000000"/>
                          </a:solidFill>
                          <a:latin typeface="Cambria Math" panose="02040503050406030204" pitchFamily="18" charset="0"/>
                          <a:cs typeface="Times New Roman" panose="02020603050405020304" pitchFamily="18" charset="0"/>
                        </a:rPr>
                        <m:t>𝒙</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kern="100">
                          <a:solidFill>
                            <a:srgbClr val="000000"/>
                          </a:solidFill>
                          <a:latin typeface="Cambria Math" panose="02040503050406030204" pitchFamily="18" charset="0"/>
                          <a:cs typeface="Times New Roman" panose="02020603050405020304" pitchFamily="18" charset="0"/>
                        </a:rPr>
                        <m:t>1.3433</m:t>
                      </m:r>
                      <m:r>
                        <a:rPr lang="en-US" altLang="zh-CN" sz="2400" b="1" kern="100">
                          <a:solidFill>
                            <a:srgbClr val="000000"/>
                          </a:solidFill>
                          <a:latin typeface="Cambria Math" panose="02040503050406030204" pitchFamily="18" charset="0"/>
                          <a:cs typeface="Times New Roman" panose="02020603050405020304" pitchFamily="18" charset="0"/>
                        </a:rPr>
                        <m:t>+</m:t>
                      </m:r>
                      <m:r>
                        <a:rPr lang="en-US" altLang="zh-CN" sz="2400" kern="100">
                          <a:solidFill>
                            <a:srgbClr val="000000"/>
                          </a:solidFill>
                          <a:latin typeface="Cambria Math" panose="02040503050406030204" pitchFamily="18" charset="0"/>
                          <a:cs typeface="Times New Roman" panose="02020603050405020304" pitchFamily="18" charset="0"/>
                        </a:rPr>
                        <m:t>0.0054</m:t>
                      </m:r>
                      <m:r>
                        <a:rPr lang="en-US" altLang="zh-CN" sz="2400" b="1" i="1" kern="100">
                          <a:solidFill>
                            <a:srgbClr val="000000"/>
                          </a:solidFill>
                          <a:latin typeface="Cambria Math" panose="02040503050406030204" pitchFamily="18" charset="0"/>
                          <a:cs typeface="Times New Roman" panose="02020603050405020304" pitchFamily="18" charset="0"/>
                        </a:rPr>
                        <m:t>𝒚</m:t>
                      </m:r>
                    </m:oMath>
                  </m:oMathPara>
                </a14:m>
                <a:endParaRPr lang="zh-CN" altLang="zh-CN" sz="2667" kern="100" dirty="0">
                  <a:solidFill>
                    <a:prstClr val="black"/>
                  </a:solidFill>
                  <a:latin typeface="等线" panose="02010600030101010101" pitchFamily="2"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23528" y="532731"/>
                <a:ext cx="8568952" cy="2262158"/>
              </a:xfrm>
              <a:prstGeom prst="rect">
                <a:avLst/>
              </a:prstGeom>
              <a:blipFill>
                <a:blip r:embed="rId6"/>
                <a:stretch>
                  <a:fillRect l="-711" t="-809" r="-7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5592024" y="3551922"/>
                <a:ext cx="6360627" cy="2299797"/>
              </a:xfrm>
              <a:prstGeom prst="rect">
                <a:avLst/>
              </a:prstGeom>
              <a:ln>
                <a:solidFill>
                  <a:srgbClr val="007F57"/>
                </a:solidFill>
              </a:ln>
            </p:spPr>
            <p:txBody>
              <a:bodyPr wrap="square">
                <a:spAutoFit/>
              </a:bodyPr>
              <a:lstStyle/>
              <a:p>
                <a:pPr fontAlgn="base">
                  <a:spcBef>
                    <a:spcPct val="0"/>
                  </a:spcBef>
                  <a:spcAft>
                    <a:spcPts val="800"/>
                  </a:spcAft>
                </a:pPr>
                <a:r>
                  <a:rPr lang="en-US" altLang="zh-CN" sz="2400" b="1" kern="100" dirty="0">
                    <a:solidFill>
                      <a:srgbClr val="07144B"/>
                    </a:solidFill>
                    <a:latin typeface="Times New Roman" panose="02020603050405020304" pitchFamily="18" charset="0"/>
                    <a:cs typeface="Times New Roman" panose="02020603050405020304" pitchFamily="18" charset="0"/>
                  </a:rPr>
                  <a:t>The gradient of this line can be calculated by selecting two data points on it. For example, at </a:t>
                </a:r>
                <a:r>
                  <a:rPr lang="en-US" altLang="zh-CN" sz="2400" b="1" i="1" kern="100" dirty="0">
                    <a:solidFill>
                      <a:srgbClr val="07144B"/>
                    </a:solidFill>
                    <a:latin typeface="Times New Roman" panose="02020603050405020304" pitchFamily="18" charset="0"/>
                    <a:cs typeface="Times New Roman" panose="02020603050405020304" pitchFamily="18" charset="0"/>
                  </a:rPr>
                  <a:t>y</a:t>
                </a:r>
                <a:r>
                  <a:rPr lang="en-US" altLang="zh-CN" sz="2400" b="1" kern="100" dirty="0">
                    <a:solidFill>
                      <a:srgbClr val="07144B"/>
                    </a:solidFill>
                    <a:latin typeface="Times New Roman" panose="02020603050405020304" pitchFamily="18" charset="0"/>
                    <a:cs typeface="Times New Roman" panose="02020603050405020304" pitchFamily="18" charset="0"/>
                  </a:rPr>
                  <a:t> </a:t>
                </a:r>
                <a:r>
                  <a:rPr lang="en-US" altLang="zh-CN" sz="2400" b="1" i="1" kern="100" dirty="0">
                    <a:solidFill>
                      <a:srgbClr val="07144B"/>
                    </a:solidFill>
                    <a:latin typeface="Times New Roman" panose="02020603050405020304" pitchFamily="18" charset="0"/>
                    <a:cs typeface="Times New Roman" panose="02020603050405020304" pitchFamily="18" charset="0"/>
                  </a:rPr>
                  <a:t>= </a:t>
                </a:r>
                <a:r>
                  <a:rPr lang="en-US" altLang="zh-CN" sz="2400" b="1" kern="100" dirty="0">
                    <a:solidFill>
                      <a:srgbClr val="07144B"/>
                    </a:solidFill>
                    <a:latin typeface="Times New Roman" panose="02020603050405020304" pitchFamily="18" charset="0"/>
                    <a:cs typeface="Times New Roman" panose="02020603050405020304" pitchFamily="18" charset="0"/>
                  </a:rPr>
                  <a:t>67.0, </a:t>
                </a:r>
                <a:r>
                  <a:rPr lang="en-US" altLang="zh-CN" sz="2400" b="1" i="1" kern="100" dirty="0">
                    <a:solidFill>
                      <a:srgbClr val="07144B"/>
                    </a:solidFill>
                    <a:latin typeface="Times New Roman" panose="02020603050405020304" pitchFamily="18" charset="0"/>
                    <a:cs typeface="Times New Roman" panose="02020603050405020304" pitchFamily="18" charset="0"/>
                  </a:rPr>
                  <a:t>x</a:t>
                </a:r>
                <a:r>
                  <a:rPr lang="en-US" altLang="zh-CN" sz="2400" b="1" kern="100" dirty="0">
                    <a:solidFill>
                      <a:srgbClr val="07144B"/>
                    </a:solidFill>
                    <a:latin typeface="Times New Roman" panose="02020603050405020304" pitchFamily="18" charset="0"/>
                    <a:cs typeface="Times New Roman" panose="02020603050405020304" pitchFamily="18" charset="0"/>
                  </a:rPr>
                  <a:t>=1.680; at </a:t>
                </a:r>
                <a:r>
                  <a:rPr lang="en-US" altLang="zh-CN" sz="2400" b="1" i="1" kern="100" dirty="0">
                    <a:solidFill>
                      <a:srgbClr val="07144B"/>
                    </a:solidFill>
                    <a:latin typeface="Times New Roman" panose="02020603050405020304" pitchFamily="18" charset="0"/>
                    <a:cs typeface="Times New Roman" panose="02020603050405020304" pitchFamily="18" charset="0"/>
                  </a:rPr>
                  <a:t>y</a:t>
                </a:r>
                <a:r>
                  <a:rPr lang="en-US" altLang="zh-CN" sz="2400" b="1" kern="100" dirty="0">
                    <a:solidFill>
                      <a:srgbClr val="07144B"/>
                    </a:solidFill>
                    <a:latin typeface="Times New Roman" panose="02020603050405020304" pitchFamily="18" charset="0"/>
                    <a:cs typeface="Times New Roman" panose="02020603050405020304" pitchFamily="18" charset="0"/>
                  </a:rPr>
                  <a:t>=86.0, </a:t>
                </a:r>
                <a:r>
                  <a:rPr lang="en-US" altLang="zh-CN" sz="2400" b="1" i="1" kern="100" dirty="0">
                    <a:solidFill>
                      <a:srgbClr val="07144B"/>
                    </a:solidFill>
                    <a:latin typeface="Times New Roman" panose="02020603050405020304" pitchFamily="18" charset="0"/>
                    <a:cs typeface="Times New Roman" panose="02020603050405020304" pitchFamily="18" charset="0"/>
                  </a:rPr>
                  <a:t>x</a:t>
                </a:r>
                <a:r>
                  <a:rPr lang="en-US" altLang="zh-CN" sz="2400" b="1" kern="100" dirty="0">
                    <a:solidFill>
                      <a:srgbClr val="07144B"/>
                    </a:solidFill>
                    <a:latin typeface="Times New Roman" panose="02020603050405020304" pitchFamily="18" charset="0"/>
                    <a:cs typeface="Times New Roman" panose="02020603050405020304" pitchFamily="18" charset="0"/>
                  </a:rPr>
                  <a:t>=1.834. Hence, the gradient of the line is </a:t>
                </a:r>
                <a14:m>
                  <m:oMath xmlns:m="http://schemas.openxmlformats.org/officeDocument/2006/math">
                    <m:f>
                      <m:fPr>
                        <m:type m:val="lin"/>
                        <m:ctrlPr>
                          <a:rPr lang="zh-CN" altLang="zh-CN" sz="2400"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fPr>
                      <m:num>
                        <m:d>
                          <m:dPr>
                            <m:ctrlPr>
                              <a:rPr lang="zh-CN" altLang="zh-CN" sz="2400"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rgbClr val="07144B"/>
                                </a:solidFill>
                                <a:latin typeface="Cambria Math" panose="02040503050406030204" pitchFamily="18" charset="0"/>
                                <a:cs typeface="Times New Roman" panose="02020603050405020304" pitchFamily="18" charset="0"/>
                              </a:rPr>
                              <m:t>𝟖𝟔</m:t>
                            </m:r>
                            <m:r>
                              <a:rPr lang="en-US" altLang="zh-CN" sz="2400" b="1" i="1" kern="100">
                                <a:solidFill>
                                  <a:srgbClr val="07144B"/>
                                </a:solidFill>
                                <a:latin typeface="Cambria Math" panose="02040503050406030204" pitchFamily="18" charset="0"/>
                                <a:cs typeface="Times New Roman" panose="02020603050405020304" pitchFamily="18" charset="0"/>
                              </a:rPr>
                              <m:t>.</m:t>
                            </m:r>
                            <m:r>
                              <a:rPr lang="en-US" altLang="zh-CN" sz="2400" b="1" i="1" kern="100">
                                <a:solidFill>
                                  <a:srgbClr val="07144B"/>
                                </a:solidFill>
                                <a:latin typeface="Cambria Math" panose="02040503050406030204" pitchFamily="18" charset="0"/>
                                <a:cs typeface="Times New Roman" panose="02020603050405020304" pitchFamily="18" charset="0"/>
                              </a:rPr>
                              <m:t>𝟎</m:t>
                            </m:r>
                            <m:r>
                              <a:rPr lang="en-US" altLang="zh-CN" sz="2400" b="1" i="1" kern="100">
                                <a:solidFill>
                                  <a:srgbClr val="07144B"/>
                                </a:solidFill>
                                <a:latin typeface="Cambria Math" panose="02040503050406030204" pitchFamily="18" charset="0"/>
                                <a:cs typeface="Times New Roman" panose="02020603050405020304" pitchFamily="18" charset="0"/>
                              </a:rPr>
                              <m:t>−</m:t>
                            </m:r>
                            <m:r>
                              <a:rPr lang="en-US" altLang="zh-CN" sz="2400" b="1" i="1" kern="100">
                                <a:solidFill>
                                  <a:srgbClr val="07144B"/>
                                </a:solidFill>
                                <a:latin typeface="Cambria Math" panose="02040503050406030204" pitchFamily="18" charset="0"/>
                                <a:cs typeface="Times New Roman" panose="02020603050405020304" pitchFamily="18" charset="0"/>
                              </a:rPr>
                              <m:t>𝟔𝟕</m:t>
                            </m:r>
                            <m:r>
                              <a:rPr lang="en-US" altLang="zh-CN" sz="2400" b="1" i="1" kern="100">
                                <a:solidFill>
                                  <a:srgbClr val="07144B"/>
                                </a:solidFill>
                                <a:latin typeface="Cambria Math" panose="02040503050406030204" pitchFamily="18" charset="0"/>
                                <a:cs typeface="Times New Roman" panose="02020603050405020304" pitchFamily="18" charset="0"/>
                              </a:rPr>
                              <m:t>.</m:t>
                            </m:r>
                            <m:r>
                              <a:rPr lang="en-US" altLang="zh-CN" sz="2400" b="1" i="1" kern="100">
                                <a:solidFill>
                                  <a:srgbClr val="07144B"/>
                                </a:solidFill>
                                <a:latin typeface="Cambria Math" panose="02040503050406030204" pitchFamily="18" charset="0"/>
                                <a:cs typeface="Times New Roman" panose="02020603050405020304" pitchFamily="18" charset="0"/>
                              </a:rPr>
                              <m:t>𝟎</m:t>
                            </m:r>
                          </m:e>
                        </m:d>
                      </m:num>
                      <m:den>
                        <m:d>
                          <m:dPr>
                            <m:ctrlPr>
                              <a:rPr lang="zh-CN" altLang="zh-CN" sz="2400" b="1" i="1" kern="100">
                                <a:solidFill>
                                  <a:srgbClr val="07144B"/>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kern="100">
                                <a:solidFill>
                                  <a:srgbClr val="07144B"/>
                                </a:solidFill>
                                <a:latin typeface="Cambria Math" panose="02040503050406030204" pitchFamily="18" charset="0"/>
                                <a:cs typeface="Times New Roman" panose="02020603050405020304" pitchFamily="18" charset="0"/>
                              </a:rPr>
                              <m:t>𝟏</m:t>
                            </m:r>
                            <m:r>
                              <a:rPr lang="en-US" altLang="zh-CN" sz="2400" b="1" i="1" kern="100">
                                <a:solidFill>
                                  <a:srgbClr val="07144B"/>
                                </a:solidFill>
                                <a:latin typeface="Cambria Math" panose="02040503050406030204" pitchFamily="18" charset="0"/>
                                <a:cs typeface="Times New Roman" panose="02020603050405020304" pitchFamily="18" charset="0"/>
                              </a:rPr>
                              <m:t>.</m:t>
                            </m:r>
                            <m:r>
                              <a:rPr lang="en-US" altLang="zh-CN" sz="2400" b="1" i="1" kern="100">
                                <a:solidFill>
                                  <a:srgbClr val="07144B"/>
                                </a:solidFill>
                                <a:latin typeface="Cambria Math" panose="02040503050406030204" pitchFamily="18" charset="0"/>
                                <a:cs typeface="Times New Roman" panose="02020603050405020304" pitchFamily="18" charset="0"/>
                              </a:rPr>
                              <m:t>𝟖𝟑𝟒</m:t>
                            </m:r>
                            <m:r>
                              <a:rPr lang="en-US" altLang="zh-CN" sz="2400" b="1" i="1" kern="100">
                                <a:solidFill>
                                  <a:srgbClr val="07144B"/>
                                </a:solidFill>
                                <a:latin typeface="Cambria Math" panose="02040503050406030204" pitchFamily="18" charset="0"/>
                                <a:cs typeface="Times New Roman" panose="02020603050405020304" pitchFamily="18" charset="0"/>
                              </a:rPr>
                              <m:t>−</m:t>
                            </m:r>
                            <m:r>
                              <a:rPr lang="en-US" altLang="zh-CN" sz="2400" b="1" i="1" kern="100">
                                <a:solidFill>
                                  <a:srgbClr val="07144B"/>
                                </a:solidFill>
                                <a:latin typeface="Cambria Math" panose="02040503050406030204" pitchFamily="18" charset="0"/>
                                <a:cs typeface="Times New Roman" panose="02020603050405020304" pitchFamily="18" charset="0"/>
                              </a:rPr>
                              <m:t>𝟏</m:t>
                            </m:r>
                            <m:r>
                              <a:rPr lang="en-US" altLang="zh-CN" sz="2400" b="1" i="1" kern="100">
                                <a:solidFill>
                                  <a:srgbClr val="07144B"/>
                                </a:solidFill>
                                <a:latin typeface="Cambria Math" panose="02040503050406030204" pitchFamily="18" charset="0"/>
                                <a:cs typeface="Times New Roman" panose="02020603050405020304" pitchFamily="18" charset="0"/>
                              </a:rPr>
                              <m:t>.</m:t>
                            </m:r>
                            <m:r>
                              <a:rPr lang="en-US" altLang="zh-CN" sz="2400" b="1" i="1" kern="100">
                                <a:solidFill>
                                  <a:srgbClr val="07144B"/>
                                </a:solidFill>
                                <a:latin typeface="Cambria Math" panose="02040503050406030204" pitchFamily="18" charset="0"/>
                                <a:cs typeface="Times New Roman" panose="02020603050405020304" pitchFamily="18" charset="0"/>
                              </a:rPr>
                              <m:t>𝟔𝟖𝟎</m:t>
                            </m:r>
                          </m:e>
                        </m:d>
                      </m:den>
                    </m:f>
                    <m:r>
                      <a:rPr lang="en-US" altLang="zh-CN" sz="2400" b="1" i="1" kern="100">
                        <a:solidFill>
                          <a:srgbClr val="07144B"/>
                        </a:solidFill>
                        <a:latin typeface="Cambria Math" panose="02040503050406030204" pitchFamily="18" charset="0"/>
                        <a:cs typeface="Times New Roman" panose="02020603050405020304" pitchFamily="18" charset="0"/>
                      </a:rPr>
                      <m:t>=</m:t>
                    </m:r>
                    <m:r>
                      <a:rPr lang="en-US" altLang="zh-CN" sz="2400" b="1" i="1" kern="100">
                        <a:solidFill>
                          <a:srgbClr val="07144B"/>
                        </a:solidFill>
                        <a:latin typeface="Cambria Math" panose="02040503050406030204" pitchFamily="18" charset="0"/>
                        <a:cs typeface="Times New Roman" panose="02020603050405020304" pitchFamily="18" charset="0"/>
                      </a:rPr>
                      <m:t>𝟏𝟐𝟑</m:t>
                    </m:r>
                    <m:r>
                      <a:rPr lang="en-US" altLang="zh-CN" sz="2400" b="1" i="1" kern="100">
                        <a:solidFill>
                          <a:srgbClr val="07144B"/>
                        </a:solidFill>
                        <a:latin typeface="Cambria Math" panose="02040503050406030204" pitchFamily="18" charset="0"/>
                        <a:cs typeface="Times New Roman" panose="02020603050405020304" pitchFamily="18" charset="0"/>
                      </a:rPr>
                      <m:t>.</m:t>
                    </m:r>
                    <m:r>
                      <a:rPr lang="en-US" altLang="zh-CN" sz="2400" b="1" i="1" kern="100">
                        <a:solidFill>
                          <a:srgbClr val="07144B"/>
                        </a:solidFill>
                        <a:latin typeface="Cambria Math" panose="02040503050406030204" pitchFamily="18" charset="0"/>
                        <a:cs typeface="Times New Roman" panose="02020603050405020304" pitchFamily="18" charset="0"/>
                      </a:rPr>
                      <m:t>𝟒</m:t>
                    </m:r>
                  </m:oMath>
                </a14:m>
                <a:r>
                  <a:rPr lang="en-US" altLang="zh-CN" sz="2400" b="1" kern="100" dirty="0">
                    <a:solidFill>
                      <a:srgbClr val="07144B"/>
                    </a:solidFill>
                    <a:latin typeface="Times New Roman" panose="02020603050405020304" pitchFamily="18" charset="0"/>
                    <a:cs typeface="Times New Roman" panose="02020603050405020304" pitchFamily="18" charset="0"/>
                  </a:rPr>
                  <a:t>kg/m.</a:t>
                </a:r>
                <a:endParaRPr lang="zh-CN" altLang="zh-CN" sz="2667" b="1" kern="100" dirty="0">
                  <a:solidFill>
                    <a:srgbClr val="07144B"/>
                  </a:solidFill>
                  <a:latin typeface="等线" panose="02010600030101010101" pitchFamily="2"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4194018" y="2663941"/>
                <a:ext cx="4770470" cy="1747979"/>
              </a:xfrm>
              <a:prstGeom prst="rect">
                <a:avLst/>
              </a:prstGeom>
              <a:blipFill>
                <a:blip r:embed="rId7"/>
                <a:stretch>
                  <a:fillRect l="-1019" t="-1730" r="-764" b="-21107"/>
                </a:stretch>
              </a:blipFill>
              <a:ln>
                <a:solidFill>
                  <a:srgbClr val="007F57"/>
                </a:solidFill>
              </a:ln>
            </p:spPr>
            <p:txBody>
              <a:bodyPr/>
              <a:lstStyle/>
              <a:p>
                <a:r>
                  <a:rPr lang="zh-CN" altLang="en-US">
                    <a:noFill/>
                  </a:rPr>
                  <a:t> </a:t>
                </a:r>
              </a:p>
            </p:txBody>
          </p:sp>
        </mc:Fallback>
      </mc:AlternateContent>
    </p:spTree>
    <p:extLst>
      <p:ext uri="{BB962C8B-B14F-4D97-AF65-F5344CB8AC3E}">
        <p14:creationId xmlns:p14="http://schemas.microsoft.com/office/powerpoint/2010/main" val="1988580220"/>
      </p:ext>
    </p:extLst>
  </p:cSld>
  <p:clrMapOvr>
    <a:masterClrMapping/>
  </p:clrMapOvr>
  <p:transition spd="slow" advClick="0" advTm="3000">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flipV="1">
            <a:off x="143339" y="609045"/>
            <a:ext cx="11905323" cy="18395"/>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25" name="Line 17"/>
          <p:cNvSpPr>
            <a:spLocks noChangeShapeType="1"/>
          </p:cNvSpPr>
          <p:nvPr/>
        </p:nvSpPr>
        <p:spPr bwMode="auto">
          <a:xfrm flipV="1">
            <a:off x="143339" y="6116848"/>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23" name="Text Box 24"/>
          <p:cNvSpPr txBox="1">
            <a:spLocks noChangeArrowheads="1"/>
          </p:cNvSpPr>
          <p:nvPr/>
        </p:nvSpPr>
        <p:spPr bwMode="auto">
          <a:xfrm>
            <a:off x="239349" y="111629"/>
            <a:ext cx="691276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07144B"/>
                </a:solidFill>
                <a:latin typeface="微软雅黑" pitchFamily="34" charset="-122"/>
                <a:ea typeface="微软雅黑" pitchFamily="34" charset="-122"/>
              </a:rPr>
              <a:t>Summary</a:t>
            </a:r>
            <a:endParaRPr lang="zh-CN" altLang="en-US" sz="2667" b="1" dirty="0">
              <a:solidFill>
                <a:srgbClr val="07144B"/>
              </a:solidFill>
              <a:latin typeface="微软雅黑" pitchFamily="34" charset="-122"/>
              <a:ea typeface="微软雅黑" pitchFamily="34" charset="-122"/>
            </a:endParaRPr>
          </a:p>
        </p:txBody>
      </p:sp>
      <p:sp>
        <p:nvSpPr>
          <p:cNvPr id="3" name="矩形 2"/>
          <p:cNvSpPr/>
          <p:nvPr/>
        </p:nvSpPr>
        <p:spPr>
          <a:xfrm>
            <a:off x="280524" y="914103"/>
            <a:ext cx="11688237" cy="4812215"/>
          </a:xfrm>
          <a:prstGeom prst="rect">
            <a:avLst/>
          </a:prstGeom>
        </p:spPr>
        <p:txBody>
          <a:bodyPr wrap="square">
            <a:spAutoFit/>
          </a:bodyPr>
          <a:lstStyle/>
          <a:p>
            <a:pPr marL="380990" indent="-380990" algn="just" fontAlgn="base">
              <a:spcBef>
                <a:spcPct val="0"/>
              </a:spcBef>
              <a:spcAft>
                <a:spcPts val="800"/>
              </a:spcAft>
              <a:buFont typeface="Wingdings" panose="05000000000000000000" pitchFamily="2" charset="2"/>
              <a:buChar char="Ø"/>
            </a:pPr>
            <a:r>
              <a:rPr lang="en-US" altLang="zh-CN" sz="2667" b="1" kern="0" dirty="0">
                <a:solidFill>
                  <a:srgbClr val="07144B"/>
                </a:solidFill>
                <a:latin typeface="Times New Roman" panose="02020603050405020304" pitchFamily="18" charset="0"/>
                <a:cs typeface="Times New Roman" panose="02020603050405020304" pitchFamily="18" charset="0"/>
              </a:rPr>
              <a:t>Gave </a:t>
            </a:r>
            <a:r>
              <a:rPr lang="en-US" altLang="zh-CN" sz="2667" b="1" kern="0" dirty="0">
                <a:solidFill>
                  <a:srgbClr val="07144B"/>
                </a:solidFill>
                <a:latin typeface="Times New Roman" panose="02020603050405020304" pitchFamily="18" charset="0"/>
                <a:cs typeface="Times New Roman" panose="02020603050405020304" pitchFamily="18" charset="0"/>
              </a:rPr>
              <a:t>the definitions of measurement, metrology and testing. </a:t>
            </a:r>
            <a:endParaRPr lang="en-US" altLang="zh-CN" sz="2667" b="1" kern="0" dirty="0">
              <a:solidFill>
                <a:srgbClr val="07144B"/>
              </a:solidFill>
              <a:latin typeface="Times New Roman" panose="02020603050405020304" pitchFamily="18" charset="0"/>
              <a:cs typeface="Times New Roman" panose="02020603050405020304" pitchFamily="18" charset="0"/>
            </a:endParaRPr>
          </a:p>
          <a:p>
            <a:pPr marL="380990" indent="-380990" algn="just" fontAlgn="base">
              <a:spcBef>
                <a:spcPct val="0"/>
              </a:spcBef>
              <a:spcAft>
                <a:spcPts val="800"/>
              </a:spcAft>
              <a:buFont typeface="Wingdings" panose="05000000000000000000" pitchFamily="2" charset="2"/>
              <a:buChar char="Ø"/>
            </a:pPr>
            <a:r>
              <a:rPr lang="en-US" altLang="zh-CN" sz="2667" b="1" kern="0" dirty="0">
                <a:solidFill>
                  <a:srgbClr val="07144B"/>
                </a:solidFill>
                <a:latin typeface="Times New Roman" panose="02020603050405020304" pitchFamily="18" charset="0"/>
                <a:cs typeface="Times New Roman" panose="02020603050405020304" pitchFamily="18" charset="0"/>
              </a:rPr>
              <a:t>Three uncertainty </a:t>
            </a:r>
            <a:r>
              <a:rPr lang="en-US" altLang="zh-CN" sz="2667" b="1" kern="0" dirty="0">
                <a:solidFill>
                  <a:srgbClr val="07144B"/>
                </a:solidFill>
                <a:latin typeface="Times New Roman" panose="02020603050405020304" pitchFamily="18" charset="0"/>
                <a:cs typeface="Times New Roman" panose="02020603050405020304" pitchFamily="18" charset="0"/>
              </a:rPr>
              <a:t>evaluations, i.e. standard, combined standard and expanded evaluations. </a:t>
            </a:r>
            <a:endParaRPr lang="en-US" altLang="zh-CN" sz="2667" b="1" kern="0" dirty="0">
              <a:solidFill>
                <a:srgbClr val="07144B"/>
              </a:solidFill>
              <a:latin typeface="Times New Roman" panose="02020603050405020304" pitchFamily="18" charset="0"/>
              <a:cs typeface="Times New Roman" panose="02020603050405020304" pitchFamily="18" charset="0"/>
            </a:endParaRPr>
          </a:p>
          <a:p>
            <a:pPr marL="380990" indent="-380990" algn="just" fontAlgn="base">
              <a:spcBef>
                <a:spcPct val="0"/>
              </a:spcBef>
              <a:spcAft>
                <a:spcPts val="800"/>
              </a:spcAft>
              <a:buFont typeface="Wingdings" panose="05000000000000000000" pitchFamily="2" charset="2"/>
              <a:buChar char="Ø"/>
            </a:pPr>
            <a:r>
              <a:rPr lang="en-US" altLang="zh-CN" sz="2667" b="1" kern="0" dirty="0">
                <a:solidFill>
                  <a:srgbClr val="07144B"/>
                </a:solidFill>
                <a:latin typeface="Times New Roman" panose="02020603050405020304" pitchFamily="18" charset="0"/>
                <a:cs typeface="Times New Roman" panose="02020603050405020304" pitchFamily="18" charset="0"/>
              </a:rPr>
              <a:t>Two </a:t>
            </a:r>
            <a:r>
              <a:rPr lang="en-US" altLang="zh-CN" sz="2667" b="1" kern="0" dirty="0">
                <a:solidFill>
                  <a:srgbClr val="07144B"/>
                </a:solidFill>
                <a:latin typeface="Times New Roman" panose="02020603050405020304" pitchFamily="18" charset="0"/>
                <a:cs typeface="Times New Roman" panose="02020603050405020304" pitchFamily="18" charset="0"/>
              </a:rPr>
              <a:t>engineering defined measurement </a:t>
            </a:r>
            <a:r>
              <a:rPr lang="en-US" altLang="zh-CN" sz="2667" b="1" kern="0" dirty="0">
                <a:solidFill>
                  <a:srgbClr val="07144B"/>
                </a:solidFill>
                <a:latin typeface="Times New Roman" panose="02020603050405020304" pitchFamily="18" charset="0"/>
                <a:cs typeface="Times New Roman" panose="02020603050405020304" pitchFamily="18" charset="0"/>
              </a:rPr>
              <a:t>errors:  </a:t>
            </a:r>
            <a:r>
              <a:rPr lang="en-US" altLang="zh-CN" sz="2667" b="1" kern="0" dirty="0">
                <a:solidFill>
                  <a:srgbClr val="07144B"/>
                </a:solidFill>
                <a:latin typeface="Times New Roman" panose="02020603050405020304" pitchFamily="18" charset="0"/>
                <a:cs typeface="Times New Roman" panose="02020603050405020304" pitchFamily="18" charset="0"/>
              </a:rPr>
              <a:t>systematic error and random error. </a:t>
            </a:r>
            <a:endParaRPr lang="en-US" altLang="zh-CN" sz="2667" b="1" kern="0" dirty="0">
              <a:solidFill>
                <a:srgbClr val="07144B"/>
              </a:solidFill>
              <a:latin typeface="Times New Roman" panose="02020603050405020304" pitchFamily="18" charset="0"/>
              <a:cs typeface="Times New Roman" panose="02020603050405020304" pitchFamily="18" charset="0"/>
            </a:endParaRPr>
          </a:p>
          <a:p>
            <a:pPr marL="380990" indent="-380990" algn="just" fontAlgn="base">
              <a:spcBef>
                <a:spcPct val="0"/>
              </a:spcBef>
              <a:spcAft>
                <a:spcPts val="800"/>
              </a:spcAft>
              <a:buFont typeface="Wingdings" panose="05000000000000000000" pitchFamily="2" charset="2"/>
              <a:buChar char="Ø"/>
            </a:pPr>
            <a:r>
              <a:rPr lang="en-US" altLang="zh-CN" sz="2667" b="1" kern="0" dirty="0">
                <a:solidFill>
                  <a:srgbClr val="07144B"/>
                </a:solidFill>
                <a:latin typeface="Times New Roman" panose="02020603050405020304" pitchFamily="18" charset="0"/>
                <a:cs typeface="Times New Roman" panose="02020603050405020304" pitchFamily="18" charset="0"/>
              </a:rPr>
              <a:t>The </a:t>
            </a:r>
            <a:r>
              <a:rPr lang="en-US" altLang="zh-CN" sz="2667" b="1" kern="0" dirty="0">
                <a:solidFill>
                  <a:srgbClr val="07144B"/>
                </a:solidFill>
                <a:latin typeface="Times New Roman" panose="02020603050405020304" pitchFamily="18" charset="0"/>
                <a:cs typeface="Times New Roman" panose="02020603050405020304" pitchFamily="18" charset="0"/>
              </a:rPr>
              <a:t>variable called the standard error of </a:t>
            </a:r>
            <a:r>
              <a:rPr lang="en-US" altLang="zh-CN" sz="2667" b="1" kern="0" dirty="0">
                <a:solidFill>
                  <a:srgbClr val="07144B"/>
                </a:solidFill>
                <a:latin typeface="Times New Roman" panose="02020603050405020304" pitchFamily="18" charset="0"/>
                <a:cs typeface="Times New Roman" panose="02020603050405020304" pitchFamily="18" charset="0"/>
              </a:rPr>
              <a:t>the mean. </a:t>
            </a:r>
          </a:p>
          <a:p>
            <a:pPr marL="380990" indent="-380990" algn="just" fontAlgn="base">
              <a:spcBef>
                <a:spcPct val="0"/>
              </a:spcBef>
              <a:spcAft>
                <a:spcPts val="800"/>
              </a:spcAft>
              <a:buFont typeface="Wingdings" panose="05000000000000000000" pitchFamily="2" charset="2"/>
              <a:buChar char="Ø"/>
            </a:pPr>
            <a:r>
              <a:rPr lang="en-US" altLang="zh-CN" sz="2667" b="1" kern="0" dirty="0">
                <a:solidFill>
                  <a:srgbClr val="07144B"/>
                </a:solidFill>
                <a:latin typeface="Times New Roman" panose="02020603050405020304" pitchFamily="18" charset="0"/>
                <a:cs typeface="Times New Roman" panose="02020603050405020304" pitchFamily="18" charset="0"/>
              </a:rPr>
              <a:t>T</a:t>
            </a:r>
            <a:r>
              <a:rPr lang="en-US" altLang="zh-CN" sz="2667" b="1" kern="0" dirty="0">
                <a:solidFill>
                  <a:srgbClr val="07144B"/>
                </a:solidFill>
                <a:latin typeface="Times New Roman" panose="02020603050405020304" pitchFamily="18" charset="0"/>
                <a:cs typeface="Times New Roman" panose="02020603050405020304" pitchFamily="18" charset="0"/>
              </a:rPr>
              <a:t>he </a:t>
            </a:r>
            <a:r>
              <a:rPr lang="en-US" altLang="zh-CN" sz="2667" b="1" kern="0" dirty="0">
                <a:solidFill>
                  <a:srgbClr val="07144B"/>
                </a:solidFill>
                <a:latin typeface="Times New Roman" panose="02020603050405020304" pitchFamily="18" charset="0"/>
                <a:cs typeface="Times New Roman" panose="02020603050405020304" pitchFamily="18" charset="0"/>
              </a:rPr>
              <a:t>presence of rogue data points (data outliers) in the measurement data. </a:t>
            </a:r>
            <a:endParaRPr lang="en-US" altLang="zh-CN" sz="2667" b="1" kern="0" dirty="0">
              <a:solidFill>
                <a:srgbClr val="07144B"/>
              </a:solidFill>
              <a:latin typeface="Times New Roman" panose="02020603050405020304" pitchFamily="18" charset="0"/>
              <a:cs typeface="Times New Roman" panose="02020603050405020304" pitchFamily="18" charset="0"/>
            </a:endParaRPr>
          </a:p>
          <a:p>
            <a:pPr marL="380990" indent="-380990" algn="just" fontAlgn="base">
              <a:spcBef>
                <a:spcPct val="0"/>
              </a:spcBef>
              <a:spcAft>
                <a:spcPts val="800"/>
              </a:spcAft>
              <a:buFont typeface="Wingdings" panose="05000000000000000000" pitchFamily="2" charset="2"/>
              <a:buChar char="Ø"/>
            </a:pPr>
            <a:r>
              <a:rPr lang="en-US" altLang="zh-CN" sz="2667" b="1" kern="0" dirty="0">
                <a:solidFill>
                  <a:srgbClr val="07144B"/>
                </a:solidFill>
                <a:latin typeface="Times New Roman" panose="02020603050405020304" pitchFamily="18" charset="0"/>
                <a:cs typeface="Times New Roman" panose="02020603050405020304" pitchFamily="18" charset="0"/>
              </a:rPr>
              <a:t>H</a:t>
            </a:r>
            <a:r>
              <a:rPr lang="en-US" altLang="zh-CN" sz="2667" b="1" kern="0" dirty="0">
                <a:solidFill>
                  <a:srgbClr val="07144B"/>
                </a:solidFill>
                <a:latin typeface="Times New Roman" panose="02020603050405020304" pitchFamily="18" charset="0"/>
                <a:cs typeface="Times New Roman" panose="02020603050405020304" pitchFamily="18" charset="0"/>
              </a:rPr>
              <a:t>ow </a:t>
            </a:r>
            <a:r>
              <a:rPr lang="en-US" altLang="zh-CN" sz="2667" b="1" kern="0" dirty="0">
                <a:solidFill>
                  <a:srgbClr val="07144B"/>
                </a:solidFill>
                <a:latin typeface="Times New Roman" panose="02020603050405020304" pitchFamily="18" charset="0"/>
                <a:cs typeface="Times New Roman" panose="02020603050405020304" pitchFamily="18" charset="0"/>
              </a:rPr>
              <a:t>the effect of different measurement errors are </a:t>
            </a:r>
            <a:r>
              <a:rPr lang="en-US" altLang="zh-CN" sz="2667" b="1" kern="0" dirty="0">
                <a:solidFill>
                  <a:srgbClr val="07144B"/>
                </a:solidFill>
                <a:latin typeface="Times New Roman" panose="02020603050405020304" pitchFamily="18" charset="0"/>
                <a:cs typeface="Times New Roman" panose="02020603050405020304" pitchFamily="18" charset="0"/>
              </a:rPr>
              <a:t>aggregated. </a:t>
            </a:r>
          </a:p>
          <a:p>
            <a:pPr marL="380990" indent="-380990" algn="just" fontAlgn="base">
              <a:spcBef>
                <a:spcPct val="0"/>
              </a:spcBef>
              <a:spcAft>
                <a:spcPts val="800"/>
              </a:spcAft>
              <a:buFont typeface="Wingdings" panose="05000000000000000000" pitchFamily="2" charset="2"/>
              <a:buChar char="Ø"/>
            </a:pPr>
            <a:r>
              <a:rPr lang="en-US" altLang="zh-CN" sz="2667" b="1" kern="0" dirty="0">
                <a:solidFill>
                  <a:srgbClr val="07144B"/>
                </a:solidFill>
                <a:latin typeface="Times New Roman" panose="02020603050405020304" pitchFamily="18" charset="0"/>
                <a:cs typeface="Times New Roman" panose="02020603050405020304" pitchFamily="18" charset="0"/>
              </a:rPr>
              <a:t>Two </a:t>
            </a:r>
            <a:r>
              <a:rPr lang="en-US" altLang="zh-CN" sz="2667" b="1" kern="0" dirty="0">
                <a:solidFill>
                  <a:srgbClr val="07144B"/>
                </a:solidFill>
                <a:latin typeface="Times New Roman" panose="02020603050405020304" pitchFamily="18" charset="0"/>
                <a:cs typeface="Times New Roman" panose="02020603050405020304" pitchFamily="18" charset="0"/>
              </a:rPr>
              <a:t>mathematic regression </a:t>
            </a:r>
            <a:r>
              <a:rPr lang="en-US" altLang="zh-CN" sz="2667" b="1" kern="0" dirty="0">
                <a:solidFill>
                  <a:srgbClr val="07144B"/>
                </a:solidFill>
                <a:latin typeface="Times New Roman" panose="02020603050405020304" pitchFamily="18" charset="0"/>
                <a:cs typeface="Times New Roman" panose="02020603050405020304" pitchFamily="18" charset="0"/>
              </a:rPr>
              <a:t>techniques: linear </a:t>
            </a:r>
            <a:r>
              <a:rPr lang="en-US" altLang="zh-CN" sz="2667" b="1" kern="0" dirty="0">
                <a:solidFill>
                  <a:srgbClr val="07144B"/>
                </a:solidFill>
                <a:latin typeface="Times New Roman" panose="02020603050405020304" pitchFamily="18" charset="0"/>
                <a:cs typeface="Times New Roman" panose="02020603050405020304" pitchFamily="18" charset="0"/>
              </a:rPr>
              <a:t>least squares regression and polynomial least squares regression.</a:t>
            </a:r>
            <a:endParaRPr lang="zh-CN" altLang="zh-CN" sz="2667" b="1" kern="100" dirty="0">
              <a:solidFill>
                <a:srgbClr val="07144B"/>
              </a:solidFill>
              <a:latin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58039062"/>
      </p:ext>
    </p:extLst>
  </p:cSld>
  <p:clrMapOvr>
    <a:masterClrMapping/>
  </p:clrMapOvr>
  <p:transition spd="slow" advClick="0" advTm="3000">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17"/>
          <p:cNvSpPr>
            <a:spLocks noChangeShapeType="1"/>
          </p:cNvSpPr>
          <p:nvPr/>
        </p:nvSpPr>
        <p:spPr bwMode="auto">
          <a:xfrm>
            <a:off x="143339" y="618187"/>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8" name="Line 17"/>
          <p:cNvSpPr>
            <a:spLocks noChangeShapeType="1"/>
          </p:cNvSpPr>
          <p:nvPr/>
        </p:nvSpPr>
        <p:spPr bwMode="auto">
          <a:xfrm flipV="1">
            <a:off x="143339" y="6116397"/>
            <a:ext cx="11881611"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9" name="Text Box 20"/>
          <p:cNvSpPr txBox="1">
            <a:spLocks noChangeArrowheads="1"/>
          </p:cNvSpPr>
          <p:nvPr/>
        </p:nvSpPr>
        <p:spPr bwMode="auto">
          <a:xfrm>
            <a:off x="7680853" y="6238214"/>
            <a:ext cx="446381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rPr>
              <a:t>Measurement and Sensor Technologies</a:t>
            </a:r>
            <a:endParaRPr lang="zh-CN" altLang="en-US" sz="1867" b="1" dirty="0">
              <a:solidFill>
                <a:srgbClr val="4472C4">
                  <a:lumMod val="75000"/>
                </a:srgbClr>
              </a:solidFill>
              <a:latin typeface="Times New Roman" panose="02020603050405020304" pitchFamily="18" charset="0"/>
              <a:ea typeface="黑体" pitchFamily="49" charset="-122"/>
              <a:cs typeface="Times New Roman" panose="02020603050405020304" pitchFamily="18" charset="0"/>
            </a:endParaRPr>
          </a:p>
        </p:txBody>
      </p:sp>
      <p:sp>
        <p:nvSpPr>
          <p:cNvPr id="10" name="矩形 9"/>
          <p:cNvSpPr/>
          <p:nvPr/>
        </p:nvSpPr>
        <p:spPr>
          <a:xfrm>
            <a:off x="0" y="0"/>
            <a:ext cx="12192000" cy="6858000"/>
          </a:xfrm>
          <a:prstGeom prst="rect">
            <a:avLst/>
          </a:prstGeom>
          <a:noFill/>
          <a:ln w="762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sp>
        <p:nvSpPr>
          <p:cNvPr id="11" name="矩形 10"/>
          <p:cNvSpPr/>
          <p:nvPr/>
        </p:nvSpPr>
        <p:spPr>
          <a:xfrm>
            <a:off x="143339" y="112800"/>
            <a:ext cx="11905323" cy="6624736"/>
          </a:xfrm>
          <a:prstGeom prst="rect">
            <a:avLst/>
          </a:prstGeom>
          <a:noFill/>
          <a:ln w="25400" cap="flat" cmpd="sng" algn="ctr">
            <a:solidFill>
              <a:srgbClr val="00A771"/>
            </a:solidFill>
            <a:prstDash val="solid"/>
          </a:ln>
          <a:effectLst/>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151226">
              <a:defRPr/>
            </a:pPr>
            <a:endParaRPr lang="zh-CN" altLang="en-US">
              <a:solidFill>
                <a:sysClr val="window" lastClr="FFFFFF"/>
              </a:solidFill>
              <a:latin typeface="等线 Light" panose="02010600030101010101" pitchFamily="2" charset="-122"/>
              <a:ea typeface="等线 Light" panose="02010600030101010101" pitchFamily="2" charset="-122"/>
            </a:endParaRPr>
          </a:p>
        </p:txBody>
      </p:sp>
      <p:pic>
        <p:nvPicPr>
          <p:cNvPr id="14" name="图片 13" descr="微信图片_2021022318410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33219" y="6117299"/>
            <a:ext cx="958133" cy="431068"/>
          </a:xfrm>
          <a:prstGeom prst="rect">
            <a:avLst/>
          </a:prstGeom>
        </p:spPr>
      </p:pic>
      <p:pic>
        <p:nvPicPr>
          <p:cNvPr id="15" name="图片 14" descr="微信图片_2021022318350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9350" y="6164727"/>
            <a:ext cx="538295" cy="538295"/>
          </a:xfrm>
          <a:prstGeom prst="rect">
            <a:avLst/>
          </a:prstGeom>
        </p:spPr>
      </p:pic>
      <p:sp>
        <p:nvSpPr>
          <p:cNvPr id="16" name="文本框 15"/>
          <p:cNvSpPr txBox="1"/>
          <p:nvPr/>
        </p:nvSpPr>
        <p:spPr>
          <a:xfrm>
            <a:off x="671762" y="6447066"/>
            <a:ext cx="2115889" cy="297454"/>
          </a:xfrm>
          <a:prstGeom prst="rect">
            <a:avLst/>
          </a:prstGeom>
          <a:noFill/>
        </p:spPr>
        <p:txBody>
          <a:bodyPr wrap="square" rtlCol="0">
            <a:spAutoFit/>
          </a:bodyPr>
          <a:lstStyle/>
          <a:p>
            <a:pPr fontAlgn="base">
              <a:spcBef>
                <a:spcPct val="0"/>
              </a:spcBef>
              <a:spcAft>
                <a:spcPct val="0"/>
              </a:spcAft>
            </a:pPr>
            <a:r>
              <a:rPr lang="en-US" altLang="zh-CN" sz="1333" b="1" dirty="0" err="1">
                <a:solidFill>
                  <a:srgbClr val="044875"/>
                </a:solidFill>
                <a:latin typeface="Times New Roman" panose="02020603050405020304" pitchFamily="18" charset="0"/>
                <a:ea typeface="宋体" panose="02010600030101010101" pitchFamily="2" charset="-122"/>
                <a:cs typeface="Times New Roman" panose="02020603050405020304" pitchFamily="18" charset="0"/>
              </a:rPr>
              <a:t>Chang’an</a:t>
            </a:r>
            <a:r>
              <a:rPr lang="en-US" altLang="zh-CN"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rPr>
              <a:t> University</a:t>
            </a:r>
            <a:endParaRPr lang="zh-CN" altLang="en-US" sz="1333" b="1" dirty="0">
              <a:solidFill>
                <a:srgbClr val="044875"/>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a:xfrm>
            <a:off x="815413" y="6501341"/>
            <a:ext cx="1536171" cy="15904"/>
          </a:xfrm>
          <a:prstGeom prst="line">
            <a:avLst/>
          </a:prstGeom>
          <a:ln w="12700">
            <a:solidFill>
              <a:srgbClr val="044875"/>
            </a:solidFill>
          </a:ln>
        </p:spPr>
        <p:style>
          <a:lnRef idx="1">
            <a:schemeClr val="accent1"/>
          </a:lnRef>
          <a:fillRef idx="0">
            <a:schemeClr val="accent1"/>
          </a:fillRef>
          <a:effectRef idx="0">
            <a:schemeClr val="accent1"/>
          </a:effectRef>
          <a:fontRef idx="minor">
            <a:schemeClr val="tx1"/>
          </a:fontRef>
        </p:style>
      </p:cxnSp>
      <p:sp>
        <p:nvSpPr>
          <p:cNvPr id="38" name="Text Box 24"/>
          <p:cNvSpPr txBox="1">
            <a:spLocks noChangeArrowheads="1"/>
          </p:cNvSpPr>
          <p:nvPr/>
        </p:nvSpPr>
        <p:spPr bwMode="auto">
          <a:xfrm>
            <a:off x="282413" y="97157"/>
            <a:ext cx="5717576"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宋体" pitchFamily="2" charset="-122"/>
              </a:defRPr>
            </a:lvl1pPr>
            <a:lvl2pPr marL="742950" indent="-285750" eaLnBrk="0" hangingPunct="0">
              <a:defRPr sz="2400">
                <a:solidFill>
                  <a:schemeClr val="tx1"/>
                </a:solidFill>
                <a:latin typeface="Arial" pitchFamily="34" charset="0"/>
                <a:ea typeface="宋体" pitchFamily="2" charset="-122"/>
              </a:defRPr>
            </a:lvl2pPr>
            <a:lvl3pPr marL="1143000" indent="-228600" eaLnBrk="0" hangingPunct="0">
              <a:defRPr sz="2400">
                <a:solidFill>
                  <a:schemeClr val="tx1"/>
                </a:solidFill>
                <a:latin typeface="Arial" pitchFamily="34" charset="0"/>
                <a:ea typeface="宋体" pitchFamily="2" charset="-122"/>
              </a:defRPr>
            </a:lvl3pPr>
            <a:lvl4pPr marL="1600200" indent="-228600" eaLnBrk="0" hangingPunct="0">
              <a:defRPr sz="2400">
                <a:solidFill>
                  <a:schemeClr val="tx1"/>
                </a:solidFill>
                <a:latin typeface="Arial" pitchFamily="34" charset="0"/>
                <a:ea typeface="宋体" pitchFamily="2" charset="-122"/>
              </a:defRPr>
            </a:lvl4pPr>
            <a:lvl5pPr marL="2057400" indent="-228600" eaLnBrk="0" hangingPunct="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eaLnBrk="1" fontAlgn="base" hangingPunct="1">
              <a:spcBef>
                <a:spcPct val="50000"/>
              </a:spcBef>
              <a:spcAft>
                <a:spcPct val="0"/>
              </a:spcAft>
              <a:defRPr/>
            </a:pPr>
            <a:r>
              <a:rPr lang="en-US" altLang="zh-CN" sz="2667" b="1" dirty="0">
                <a:solidFill>
                  <a:srgbClr val="44546A"/>
                </a:solidFill>
                <a:effectLst>
                  <a:outerShdw blurRad="38100" dist="38100" dir="2700000" algn="tl">
                    <a:srgbClr val="C0C0C0"/>
                  </a:outerShdw>
                </a:effectLst>
                <a:latin typeface="Franklin Gothic Demi" pitchFamily="34" charset="0"/>
              </a:rPr>
              <a:t>Homework</a:t>
            </a:r>
            <a:endParaRPr lang="zh-CN" altLang="en-US" sz="2667" b="1" dirty="0">
              <a:solidFill>
                <a:srgbClr val="44546A"/>
              </a:solidFill>
              <a:latin typeface="Times New Roman" panose="02020603050405020304" pitchFamily="18" charset="0"/>
              <a:ea typeface="微软雅黑" pitchFamily="34" charset="-122"/>
              <a:cs typeface="Times New Roman" panose="02020603050405020304" pitchFamily="18" charset="0"/>
            </a:endParaRPr>
          </a:p>
        </p:txBody>
      </p:sp>
      <p:sp>
        <p:nvSpPr>
          <p:cNvPr id="18" name="Line 17"/>
          <p:cNvSpPr>
            <a:spLocks noChangeShapeType="1"/>
          </p:cNvSpPr>
          <p:nvPr/>
        </p:nvSpPr>
        <p:spPr bwMode="auto">
          <a:xfrm flipV="1">
            <a:off x="286773" y="6116848"/>
            <a:ext cx="11738176" cy="901"/>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3200">
              <a:solidFill>
                <a:srgbClr val="000000"/>
              </a:solidFill>
              <a:latin typeface="Arial" panose="020B0604020202020204" pitchFamily="34" charset="0"/>
              <a:ea typeface="宋体" panose="02010600030101010101" pitchFamily="2" charset="-122"/>
            </a:endParaRPr>
          </a:p>
        </p:txBody>
      </p:sp>
      <p:sp>
        <p:nvSpPr>
          <p:cNvPr id="2" name="文本框 1"/>
          <p:cNvSpPr txBox="1"/>
          <p:nvPr/>
        </p:nvSpPr>
        <p:spPr>
          <a:xfrm>
            <a:off x="5903979" y="1884140"/>
            <a:ext cx="5088565" cy="2308324"/>
          </a:xfrm>
          <a:prstGeom prst="rect">
            <a:avLst/>
          </a:prstGeom>
          <a:noFill/>
        </p:spPr>
        <p:txBody>
          <a:bodyPr wrap="square" rtlCol="0">
            <a:spAutoFit/>
          </a:bodyPr>
          <a:lstStyle/>
          <a:p>
            <a:pPr fontAlgn="base">
              <a:lnSpc>
                <a:spcPct val="150000"/>
              </a:lnSpc>
              <a:spcBef>
                <a:spcPct val="0"/>
              </a:spcBef>
              <a:spcAft>
                <a:spcPct val="0"/>
              </a:spcAft>
            </a:pPr>
            <a:r>
              <a:rPr lang="en-US" altLang="zh-CN"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TRUE or FALSE: ALL</a:t>
            </a:r>
          </a:p>
          <a:p>
            <a:pPr fontAlgn="base">
              <a:lnSpc>
                <a:spcPct val="150000"/>
              </a:lnSpc>
              <a:spcBef>
                <a:spcPct val="0"/>
              </a:spcBef>
              <a:spcAft>
                <a:spcPct val="0"/>
              </a:spcAft>
            </a:pPr>
            <a:r>
              <a:rPr lang="en-US" altLang="zh-CN"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Fill-in-the-blanks: ALL</a:t>
            </a:r>
          </a:p>
          <a:p>
            <a:pPr fontAlgn="base">
              <a:lnSpc>
                <a:spcPct val="150000"/>
              </a:lnSpc>
              <a:spcBef>
                <a:spcPct val="0"/>
              </a:spcBef>
              <a:spcAft>
                <a:spcPct val="0"/>
              </a:spcAft>
            </a:pPr>
            <a:r>
              <a:rPr lang="en-US" altLang="zh-CN"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Problems: (6), (10)</a:t>
            </a:r>
            <a:endParaRPr lang="zh-CN" altLang="en-US"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文本框 2"/>
          <p:cNvSpPr txBox="1"/>
          <p:nvPr/>
        </p:nvSpPr>
        <p:spPr>
          <a:xfrm>
            <a:off x="6650561" y="4753225"/>
            <a:ext cx="3885807" cy="461665"/>
          </a:xfrm>
          <a:prstGeom prst="rect">
            <a:avLst/>
          </a:prstGeom>
          <a:noFill/>
        </p:spPr>
        <p:txBody>
          <a:bodyPr wrap="none" rtlCol="0">
            <a:spAutoFit/>
          </a:bodyPr>
          <a:lstStyle/>
          <a:p>
            <a:pPr fontAlgn="base">
              <a:spcBef>
                <a:spcPct val="0"/>
              </a:spcBef>
              <a:spcAft>
                <a:spcPct val="0"/>
              </a:spcAft>
            </a:pPr>
            <a:r>
              <a:rPr lang="en-US" altLang="zh-CN" sz="2400" b="1" dirty="0">
                <a:solidFill>
                  <a:srgbClr val="C00000"/>
                </a:solidFill>
                <a:latin typeface="Arial" panose="020B0604020202020204" pitchFamily="34" charset="0"/>
                <a:ea typeface="宋体" panose="02010600030101010101" pitchFamily="2" charset="-122"/>
              </a:rPr>
              <a:t>Due Date: After one week</a:t>
            </a:r>
            <a:endParaRPr lang="zh-CN" altLang="en-US" sz="2400" b="1" dirty="0">
              <a:solidFill>
                <a:srgbClr val="C00000"/>
              </a:solidFill>
              <a:latin typeface="Arial" panose="020B0604020202020204" pitchFamily="34" charset="0"/>
              <a:ea typeface="宋体" panose="02010600030101010101" pitchFamily="2" charset="-122"/>
            </a:endParaRPr>
          </a:p>
        </p:txBody>
      </p:sp>
      <p:pic>
        <p:nvPicPr>
          <p:cNvPr id="20" name="Picture 7" descr="j019538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3925" y="1302373"/>
            <a:ext cx="4077295" cy="4163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6843609"/>
      </p:ext>
    </p:extLst>
  </p:cSld>
  <p:clrMapOvr>
    <a:masterClrMapping/>
  </p:clrMapOvr>
  <p:transition spd="slow" advClick="0" advTm="3000">
    <p:fade/>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幻灯片之家：www.eeppt.com">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2425</Words>
  <Application>Microsoft Office PowerPoint</Application>
  <PresentationFormat>宽屏</PresentationFormat>
  <Paragraphs>262</Paragraphs>
  <Slides>23</Slides>
  <Notes>21</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23</vt:i4>
      </vt:variant>
    </vt:vector>
  </HeadingPairs>
  <TitlesOfParts>
    <vt:vector size="44" baseType="lpstr">
      <vt:lpstr>̥_GB2312</vt:lpstr>
      <vt:lpstr>AdvP4C4E74</vt:lpstr>
      <vt:lpstr>等线</vt:lpstr>
      <vt:lpstr>等线 Light</vt:lpstr>
      <vt:lpstr>楷体_GB2312</vt:lpstr>
      <vt:lpstr>微软雅黑</vt:lpstr>
      <vt:lpstr>微软雅黑</vt:lpstr>
      <vt:lpstr>黑体</vt:lpstr>
      <vt:lpstr>宋体</vt:lpstr>
      <vt:lpstr>楷体</vt:lpstr>
      <vt:lpstr>Arial</vt:lpstr>
      <vt:lpstr>Calibri</vt:lpstr>
      <vt:lpstr>Calibri Light</vt:lpstr>
      <vt:lpstr>Cambria Math</vt:lpstr>
      <vt:lpstr>Franklin Gothic Demi</vt:lpstr>
      <vt:lpstr>Segoe UI</vt:lpstr>
      <vt:lpstr>Symbol</vt:lpstr>
      <vt:lpstr>Times New Roman</vt:lpstr>
      <vt:lpstr>Wingdings</vt:lpstr>
      <vt:lpstr>Office 主题</vt:lpstr>
      <vt:lpstr>幻灯片之家：www.eeppt.com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juan ren</dc:creator>
  <cp:lastModifiedBy>juan ren</cp:lastModifiedBy>
  <cp:revision>5</cp:revision>
  <dcterms:created xsi:type="dcterms:W3CDTF">2023-02-21T03:15:21Z</dcterms:created>
  <dcterms:modified xsi:type="dcterms:W3CDTF">2023-02-21T09:16:54Z</dcterms:modified>
</cp:coreProperties>
</file>