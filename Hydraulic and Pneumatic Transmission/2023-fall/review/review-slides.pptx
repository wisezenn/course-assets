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wmf" ContentType="image/x-wmf"/>
  <Default Extension="tiff" ContentType="image/tiff"/>
  <Default Extension="avi" ContentType="video/avi"/>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39"/>
  </p:handoutMasterIdLst>
  <p:sldIdLst>
    <p:sldId id="525" r:id="rId3"/>
    <p:sldId id="613" r:id="rId4"/>
    <p:sldId id="615" r:id="rId5"/>
    <p:sldId id="616" r:id="rId6"/>
    <p:sldId id="617" r:id="rId7"/>
    <p:sldId id="618" r:id="rId8"/>
    <p:sldId id="619" r:id="rId9"/>
    <p:sldId id="620" r:id="rId10"/>
    <p:sldId id="621" r:id="rId11"/>
    <p:sldId id="622" r:id="rId12"/>
    <p:sldId id="623" r:id="rId13"/>
    <p:sldId id="624" r:id="rId14"/>
    <p:sldId id="626" r:id="rId15"/>
    <p:sldId id="625" r:id="rId17"/>
    <p:sldId id="627" r:id="rId18"/>
    <p:sldId id="628" r:id="rId19"/>
    <p:sldId id="629" r:id="rId20"/>
    <p:sldId id="630" r:id="rId21"/>
    <p:sldId id="631" r:id="rId22"/>
    <p:sldId id="632" r:id="rId23"/>
    <p:sldId id="633" r:id="rId24"/>
    <p:sldId id="634" r:id="rId25"/>
    <p:sldId id="635" r:id="rId26"/>
    <p:sldId id="637" r:id="rId27"/>
    <p:sldId id="636" r:id="rId28"/>
    <p:sldId id="640" r:id="rId29"/>
    <p:sldId id="641" r:id="rId30"/>
    <p:sldId id="642" r:id="rId31"/>
    <p:sldId id="643" r:id="rId32"/>
    <p:sldId id="645" r:id="rId33"/>
    <p:sldId id="646" r:id="rId34"/>
    <p:sldId id="638" r:id="rId35"/>
    <p:sldId id="639" r:id="rId36"/>
    <p:sldId id="647" r:id="rId37"/>
    <p:sldId id="648" r:id="rId38"/>
  </p:sldIdLst>
  <p:sldSz cx="9144000" cy="6858000" type="screen4x3"/>
  <p:notesSz cx="6858000" cy="9144000"/>
  <p:custDataLst>
    <p:tags r:id="rId43"/>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CCCCFF"/>
    <a:srgbClr val="0000FF"/>
    <a:srgbClr val="CCFFCC"/>
    <a:srgbClr val="008000"/>
    <a:srgbClr val="FF0000"/>
    <a:srgbClr val="FFFF66"/>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0180" autoAdjust="0"/>
  </p:normalViewPr>
  <p:slideViewPr>
    <p:cSldViewPr showGuides="1">
      <p:cViewPr varScale="1">
        <p:scale>
          <a:sx n="67" d="100"/>
          <a:sy n="67" d="100"/>
        </p:scale>
        <p:origin x="696" y="4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gs" Target="tags/tag10.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a:defRPr/>
            </a:pPr>
            <a:endParaRPr lang="zh-CN" altLang="en-US"/>
          </a:p>
        </p:txBody>
      </p:sp>
      <p:sp>
        <p:nvSpPr>
          <p:cNvPr id="70659"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70660"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a:defRPr/>
            </a:pPr>
            <a:endParaRPr lang="en-US" altLang="zh-CN"/>
          </a:p>
        </p:txBody>
      </p:sp>
      <p:sp>
        <p:nvSpPr>
          <p:cNvPr id="70661"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7B7E2218-1654-433E-9D33-326BCE3F8E16}"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a:defRPr/>
            </a:pPr>
            <a:endParaRPr lang="zh-CN" altLang="en-US"/>
          </a:p>
        </p:txBody>
      </p:sp>
      <p:sp>
        <p:nvSpPr>
          <p:cNvPr id="1054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a:defRPr/>
            </a:pPr>
            <a:endParaRPr lang="en-US" altLang="zh-CN"/>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54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a:defRPr/>
            </a:pPr>
            <a:endParaRPr lang="en-US" altLang="zh-CN"/>
          </a:p>
        </p:txBody>
      </p:sp>
      <p:sp>
        <p:nvSpPr>
          <p:cNvPr id="1054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a:defRPr/>
            </a:pPr>
            <a:fld id="{864921F9-E597-4069-B073-22E54693742F}"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1FE7C9B5-298D-4D5D-B5FB-871051351A8B}" type="slidenum">
              <a:rPr lang="en-US" altLang="zh-CN"/>
            </a:fld>
            <a:endParaRPr lang="en-US" altLang="zh-CN"/>
          </a:p>
        </p:txBody>
      </p:sp>
      <p:sp>
        <p:nvSpPr>
          <p:cNvPr id="82946" name="Rectangle 2"/>
          <p:cNvSpPr>
            <a:spLocks noGrp="1" noRot="1" noChangeAspect="1" noChangeArrowheads="1" noTextEdit="1"/>
          </p:cNvSpPr>
          <p:nvPr>
            <p:ph type="sldImg"/>
          </p:nvPr>
        </p:nvSpPr>
        <p:spPr>
          <a:xfrm>
            <a:off x="1150938" y="692150"/>
            <a:ext cx="4556125" cy="3416300"/>
          </a:xfrm>
          <a:ln w="12700" cap="flat">
            <a:solidFill>
              <a:schemeClr val="tx1"/>
            </a:solidFill>
          </a:ln>
          <a:extLst>
            <a:ext uri="{909E8E84-426E-40DD-AFC4-6F175D3DCCD1}">
              <a14:hiddenFill xmlns:a14="http://schemas.microsoft.com/office/drawing/2010/main">
                <a:noFill/>
              </a14:hiddenFill>
            </a:ext>
          </a:extLst>
        </p:spPr>
      </p:sp>
      <p:sp>
        <p:nvSpPr>
          <p:cNvPr id="82947" name="Rectangle 3"/>
          <p:cNvSpPr>
            <a:spLocks noGrp="1" noChangeArrowheads="1"/>
          </p:cNvSpPr>
          <p:nvPr>
            <p:ph type="body" idx="1"/>
          </p:nvPr>
        </p:nvSpPr>
        <p:spPr/>
        <p:txBody>
          <a:bodyPr lIns="92075" tIns="46038" rIns="92075" bIns="46038"/>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86CAEE13-8B9F-44F3-9BF3-092158136926}" type="slidenum">
              <a:rPr lang="zh-CN" altLang="sv-SE"/>
            </a:fld>
            <a:endParaRPr lang="sv-SE" altLang="zh-CN"/>
          </a:p>
        </p:txBody>
      </p:sp>
      <p:sp>
        <p:nvSpPr>
          <p:cNvPr id="1171458" name="Rectangle 2"/>
          <p:cNvSpPr>
            <a:spLocks noGrp="1" noRot="1" noChangeAspect="1" noChangeArrowheads="1" noTextEdit="1"/>
          </p:cNvSpPr>
          <p:nvPr>
            <p:ph type="sldImg"/>
          </p:nvPr>
        </p:nvSpPr>
        <p:spPr>
          <a:xfrm>
            <a:off x="914400" y="744538"/>
            <a:ext cx="4959350" cy="3719512"/>
          </a:xfrm>
        </p:spPr>
      </p:sp>
      <p:sp>
        <p:nvSpPr>
          <p:cNvPr id="1171459" name="Rectangle 3"/>
          <p:cNvSpPr>
            <a:spLocks noGrp="1" noChangeArrowheads="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bwMode="lt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black">
          <a:xfrm>
            <a:off x="477838" y="2481263"/>
            <a:ext cx="4648200" cy="381000"/>
          </a:xfrm>
          <a:extLst>
            <a:ext uri="{91240B29-F687-4F45-9708-019B960494DF}">
              <a14:hiddenLine xmlns:a14="http://schemas.microsoft.com/office/drawing/2010/main" w="9525">
                <a:solidFill>
                  <a:schemeClr val="bg1"/>
                </a:solidFill>
                <a:miter lim="800000"/>
                <a:headEnd/>
                <a:tailEnd/>
              </a14:hiddenLine>
            </a:ext>
          </a:extLst>
        </p:spPr>
        <p:txBody>
          <a:bodyPr/>
          <a:lstStyle>
            <a:lvl1pPr marL="0" indent="0">
              <a:buFont typeface="Wingdings" panose="05000000000000000000" pitchFamily="2" charset="2"/>
              <a:buNone/>
              <a:defRPr sz="1600" b="1">
                <a:solidFill>
                  <a:schemeClr val="bg1"/>
                </a:solidFill>
              </a:defRPr>
            </a:lvl1pPr>
          </a:lstStyle>
          <a:p>
            <a:pPr lvl="0"/>
            <a:r>
              <a:rPr lang="en-US" altLang="zh-CN" noProof="0" smtClean="0"/>
              <a:t>Click to edit Master subtitle style</a:t>
            </a:r>
            <a:endParaRPr lang="en-US" altLang="zh-CN" noProof="0" smtClean="0"/>
          </a:p>
        </p:txBody>
      </p:sp>
      <p:sp>
        <p:nvSpPr>
          <p:cNvPr id="3074" name="Rectangle 2"/>
          <p:cNvSpPr>
            <a:spLocks noGrp="1" noChangeArrowheads="1"/>
          </p:cNvSpPr>
          <p:nvPr>
            <p:ph type="ctrTitle"/>
          </p:nvPr>
        </p:nvSpPr>
        <p:spPr>
          <a:xfrm>
            <a:off x="381000" y="1371600"/>
            <a:ext cx="8153400" cy="762000"/>
          </a:xfr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4000">
                <a:solidFill>
                  <a:schemeClr val="tx2"/>
                </a:solidFill>
              </a:defRPr>
            </a:lvl1pPr>
          </a:lstStyle>
          <a:p>
            <a:pPr lvl="0"/>
            <a:r>
              <a:rPr lang="en-US" altLang="zh-CN" noProof="0" smtClean="0"/>
              <a:t>Click to edit Master title style</a:t>
            </a:r>
            <a:endParaRPr lang="en-US" altLang="zh-CN" noProof="0" smtClean="0"/>
          </a:p>
        </p:txBody>
      </p:sp>
      <p:sp>
        <p:nvSpPr>
          <p:cNvPr id="4" name="Rectangle 4"/>
          <p:cNvSpPr>
            <a:spLocks noGrp="1" noChangeArrowheads="1"/>
          </p:cNvSpPr>
          <p:nvPr>
            <p:ph type="dt" sz="half" idx="10"/>
          </p:nvPr>
        </p:nvSpPr>
        <p:spPr>
          <a:xfrm>
            <a:off x="457200" y="6477000"/>
            <a:ext cx="2133600" cy="244475"/>
          </a:xfrm>
          <a:extLst>
            <a:ext uri="{909E8E84-426E-40DD-AFC4-6F175D3DCCD1}">
              <a14:hiddenFill xmlns:a14="http://schemas.microsoft.com/office/drawing/2010/main">
                <a:solidFill>
                  <a:schemeClr val="accent1"/>
                </a:solidFill>
              </a14:hiddenFill>
            </a:ext>
          </a:extLst>
        </p:spPr>
        <p:txBody>
          <a:bodyPr/>
          <a:lstStyle>
            <a:lvl1pPr>
              <a:defRPr>
                <a:solidFill>
                  <a:schemeClr val="bg1"/>
                </a:solidFill>
              </a:defRPr>
            </a:lvl1pPr>
          </a:lstStyle>
          <a:p>
            <a:pPr>
              <a:defRPr/>
            </a:pPr>
            <a:endParaRPr lang="en-US" altLang="zh-CN"/>
          </a:p>
        </p:txBody>
      </p:sp>
      <p:sp>
        <p:nvSpPr>
          <p:cNvPr id="5" name="Rectangle 5"/>
          <p:cNvSpPr>
            <a:spLocks noGrp="1" noChangeArrowheads="1"/>
          </p:cNvSpPr>
          <p:nvPr>
            <p:ph type="ftr" sz="quarter" idx="11"/>
          </p:nvPr>
        </p:nvSpPr>
        <p:spPr bwMode="gray">
          <a:xfrm>
            <a:off x="5867400" y="6477000"/>
            <a:ext cx="2895600" cy="2444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solidFill>
                  <a:schemeClr val="bg1"/>
                </a:solidFill>
                <a:ea typeface="宋体" panose="02010600030101010101" pitchFamily="2" charset="-122"/>
              </a:defRPr>
            </a:lvl1pPr>
          </a:lstStyle>
          <a:p>
            <a:pPr>
              <a:defRPr/>
            </a:pPr>
            <a:endParaRPr lang="en-US" altLang="zh-CN"/>
          </a:p>
        </p:txBody>
      </p:sp>
      <p:sp>
        <p:nvSpPr>
          <p:cNvPr id="6" name="Rectangle 6"/>
          <p:cNvSpPr>
            <a:spLocks noGrp="1" noChangeArrowheads="1"/>
          </p:cNvSpPr>
          <p:nvPr>
            <p:ph type="sldNum" sz="quarter" idx="12"/>
          </p:nvPr>
        </p:nvSpPr>
        <p:spPr>
          <a:xfrm>
            <a:off x="3429000" y="6477000"/>
            <a:ext cx="2133600" cy="244475"/>
          </a:xfrm>
          <a:extLst>
            <a:ext uri="{909E8E84-426E-40DD-AFC4-6F175D3DCCD1}">
              <a14:hiddenFill xmlns:a14="http://schemas.microsoft.com/office/drawing/2010/main">
                <a:solidFill>
                  <a:schemeClr val="accent1"/>
                </a:solidFill>
              </a14:hiddenFill>
            </a:ext>
          </a:extLst>
        </p:spPr>
        <p:txBody>
          <a:bodyPr/>
          <a:lstStyle>
            <a:lvl1pPr>
              <a:defRPr>
                <a:solidFill>
                  <a:schemeClr val="bg1"/>
                </a:solidFill>
              </a:defRPr>
            </a:lvl1pPr>
          </a:lstStyle>
          <a:p>
            <a:pPr>
              <a:defRPr/>
            </a:pPr>
            <a:fld id="{C9666833-A9D8-47BC-A7C0-4A0101A2485B}"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65E752FA-D854-4431-AAB6-C90D8F77EA21}"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B01F088-C8E0-4225-BB13-3042C6AD9025}"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676400"/>
            <a:ext cx="38481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86300" y="1676400"/>
            <a:ext cx="38481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83010E96-E303-43B6-AD1D-F540F88C194B}"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E5013385-9BA5-4A95-B79F-579D3673E8FF}"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29B2062F-32E9-4184-B85B-FEB0538378E0}"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5C42C25C-8975-45D2-A725-DF90BBE1AFEC}"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ACF712B8-43F7-42E4-A23C-BF00FF072E42}"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DAB83642-DBFF-4846-98C3-74AE99EB9359}"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A5C1DF93-A200-477B-8A0B-6747146EC0C4}"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53200" y="533400"/>
            <a:ext cx="1981200" cy="5791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533400"/>
            <a:ext cx="5791200" cy="5791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E66410CB-A73E-46CB-8362-24A265616C81}"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33400"/>
            <a:ext cx="7924800"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76400"/>
            <a:ext cx="38481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86300" y="1676400"/>
            <a:ext cx="38481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86300" y="4076700"/>
            <a:ext cx="38481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p:txBody>
          <a:bodyPr/>
          <a:lstStyle>
            <a:lvl1pPr>
              <a:defRPr/>
            </a:lvl1pPr>
          </a:lstStyle>
          <a:p>
            <a:pPr>
              <a:defRPr/>
            </a:pPr>
            <a:fld id="{68745437-A487-4ABD-8C8A-409BCFE1C8A4}" type="slidenum">
              <a:rPr lang="zh-CN" altLang="en-US"/>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533400"/>
            <a:ext cx="7924800" cy="563563"/>
          </a:xfr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676400"/>
            <a:ext cx="3848100" cy="464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86300" y="1676400"/>
            <a:ext cx="38481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86300" y="4076700"/>
            <a:ext cx="3848100" cy="22479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1"/>
          </p:nvPr>
        </p:nvSpPr>
        <p:spPr/>
        <p:txBody>
          <a:bodyPr/>
          <a:lstStyle>
            <a:lvl1pPr>
              <a:defRPr/>
            </a:lvl1pPr>
          </a:lstStyle>
          <a:p>
            <a:pPr>
              <a:defRPr/>
            </a:pPr>
            <a:fld id="{3DC2CF9C-823F-4D77-8129-4100C7230DBF}" type="slidenum">
              <a:rPr lang="zh-CN" altLang="en-US"/>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CA" smtClean="0"/>
              <a:t>Click to edit Master title style</a:t>
            </a:r>
            <a:endParaRPr lang="en-US"/>
          </a:p>
        </p:txBody>
      </p:sp>
      <p:sp>
        <p:nvSpPr>
          <p:cNvPr id="3" name="Text Placeholder 2"/>
          <p:cNvSpPr>
            <a:spLocks noGrp="1"/>
          </p:cNvSpPr>
          <p:nvPr>
            <p:ph type="body" sz="half" idx="1"/>
          </p:nvPr>
        </p:nvSpPr>
        <p:spPr>
          <a:xfrm>
            <a:off x="457200" y="1600200"/>
            <a:ext cx="4038600" cy="4495800"/>
          </a:xfrm>
        </p:spPr>
        <p:txBody>
          <a:bodyPr/>
          <a:lstStyle/>
          <a:p>
            <a:pPr lvl="0"/>
            <a:r>
              <a:rPr lang="en-CA" smtClean="0"/>
              <a:t>Click to edit Master text styles</a:t>
            </a:r>
            <a:endParaRPr lang="en-CA" smtClean="0"/>
          </a:p>
          <a:p>
            <a:pPr lvl="1"/>
            <a:r>
              <a:rPr lang="en-CA" smtClean="0"/>
              <a:t>Second level</a:t>
            </a:r>
            <a:endParaRPr lang="en-CA" smtClean="0"/>
          </a:p>
          <a:p>
            <a:pPr lvl="2"/>
            <a:r>
              <a:rPr lang="en-CA" smtClean="0"/>
              <a:t>Third level</a:t>
            </a:r>
            <a:endParaRPr lang="en-CA" smtClean="0"/>
          </a:p>
          <a:p>
            <a:pPr lvl="3"/>
            <a:r>
              <a:rPr lang="en-CA" smtClean="0"/>
              <a:t>Fourth level</a:t>
            </a:r>
            <a:endParaRPr lang="en-CA" smtClean="0"/>
          </a:p>
          <a:p>
            <a:pPr lvl="4"/>
            <a:r>
              <a:rPr lang="en-CA" smtClean="0"/>
              <a:t>Fifth level</a:t>
            </a:r>
            <a:endParaRPr lang="en-US"/>
          </a:p>
        </p:txBody>
      </p:sp>
      <p:sp>
        <p:nvSpPr>
          <p:cNvPr id="4" name="Content Placeholder 3"/>
          <p:cNvSpPr>
            <a:spLocks noGrp="1"/>
          </p:cNvSpPr>
          <p:nvPr>
            <p:ph sz="half" idx="2"/>
          </p:nvPr>
        </p:nvSpPr>
        <p:spPr>
          <a:xfrm>
            <a:off x="4648200" y="1600200"/>
            <a:ext cx="4038600" cy="4495800"/>
          </a:xfrm>
        </p:spPr>
        <p:txBody>
          <a:bodyPr/>
          <a:lstStyle/>
          <a:p>
            <a:pPr lvl="0"/>
            <a:r>
              <a:rPr lang="en-CA" smtClean="0"/>
              <a:t>Click to edit Master text styles</a:t>
            </a:r>
            <a:endParaRPr lang="en-CA" smtClean="0"/>
          </a:p>
          <a:p>
            <a:pPr lvl="1"/>
            <a:r>
              <a:rPr lang="en-CA" smtClean="0"/>
              <a:t>Second level</a:t>
            </a:r>
            <a:endParaRPr lang="en-CA" smtClean="0"/>
          </a:p>
          <a:p>
            <a:pPr lvl="2"/>
            <a:r>
              <a:rPr lang="en-CA" smtClean="0"/>
              <a:t>Third level</a:t>
            </a:r>
            <a:endParaRPr lang="en-CA" smtClean="0"/>
          </a:p>
          <a:p>
            <a:pPr lvl="3"/>
            <a:r>
              <a:rPr lang="en-CA" smtClean="0"/>
              <a:t>Fourth level</a:t>
            </a:r>
            <a:endParaRPr lang="en-CA" smtClean="0"/>
          </a:p>
          <a:p>
            <a:pPr lvl="4"/>
            <a:r>
              <a:rPr lang="en-CA" smtClean="0"/>
              <a:t>Fifth level</a:t>
            </a:r>
            <a:endParaRPr lang="en-US"/>
          </a:p>
        </p:txBody>
      </p:sp>
      <p:sp>
        <p:nvSpPr>
          <p:cNvPr id="5" name="Rectangle 24"/>
          <p:cNvSpPr>
            <a:spLocks noGrp="1" noChangeArrowheads="1"/>
          </p:cNvSpPr>
          <p:nvPr>
            <p:ph type="dt" sz="half" idx="10"/>
          </p:nvPr>
        </p:nvSpPr>
        <p:spPr/>
        <p:txBody>
          <a:bodyPr/>
          <a:lstStyle>
            <a:lvl1pPr>
              <a:defRPr/>
            </a:lvl1pPr>
          </a:lstStyle>
          <a:p>
            <a:pPr>
              <a:defRPr/>
            </a:pPr>
            <a:endParaRPr lang="en-US" altLang="zh-CN"/>
          </a:p>
        </p:txBody>
      </p:sp>
      <p:sp>
        <p:nvSpPr>
          <p:cNvPr id="6" name="Rectangle 25"/>
          <p:cNvSpPr>
            <a:spLocks noGrp="1" noChangeArrowheads="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lstStyle>
            <a:lvl1pPr>
              <a:defRPr>
                <a:ea typeface="宋体" panose="02010600030101010101" pitchFamily="2" charset="-122"/>
              </a:defRPr>
            </a:lvl1pPr>
          </a:lstStyle>
          <a:p>
            <a:pPr>
              <a:defRPr/>
            </a:pPr>
            <a:endParaRPr lang="en-US" altLang="zh-CN"/>
          </a:p>
        </p:txBody>
      </p:sp>
      <p:sp>
        <p:nvSpPr>
          <p:cNvPr id="7" name="Rectangle 26"/>
          <p:cNvSpPr>
            <a:spLocks noGrp="1" noChangeArrowheads="1"/>
          </p:cNvSpPr>
          <p:nvPr>
            <p:ph type="sldNum" sz="quarter" idx="12"/>
          </p:nvPr>
        </p:nvSpPr>
        <p:spPr/>
        <p:txBody>
          <a:bodyPr/>
          <a:lstStyle>
            <a:lvl1pPr>
              <a:defRPr/>
            </a:lvl1pPr>
          </a:lstStyle>
          <a:p>
            <a:pPr>
              <a:defRPr/>
            </a:pPr>
            <a:fld id="{402F5D31-F76F-4E0C-A4D2-187C5932434E}"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685800" y="1676400"/>
            <a:ext cx="78486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1028" name="Rectangle 4"/>
          <p:cNvSpPr>
            <a:spLocks noGrp="1" noChangeArrowheads="1"/>
          </p:cNvSpPr>
          <p:nvPr>
            <p:ph type="dt" sz="half" idx="2"/>
          </p:nvPr>
        </p:nvSpPr>
        <p:spPr bwMode="gray">
          <a:xfrm>
            <a:off x="685800" y="6486525"/>
            <a:ext cx="18288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solidFill>
                  <a:schemeClr val="tx2"/>
                </a:solidFill>
                <a:ea typeface="宋体" panose="02010600030101010101" pitchFamily="2" charset="-122"/>
              </a:defRPr>
            </a:lvl1pPr>
          </a:lstStyle>
          <a:p>
            <a:pPr>
              <a:defRPr/>
            </a:pPr>
            <a:endParaRPr lang="en-US" altLang="zh-CN"/>
          </a:p>
        </p:txBody>
      </p:sp>
      <p:sp>
        <p:nvSpPr>
          <p:cNvPr id="1030" name="Rectangle 6"/>
          <p:cNvSpPr>
            <a:spLocks noGrp="1" noChangeArrowheads="1"/>
          </p:cNvSpPr>
          <p:nvPr>
            <p:ph type="sldNum" sz="quarter" idx="4"/>
          </p:nvPr>
        </p:nvSpPr>
        <p:spPr bwMode="gray">
          <a:xfrm>
            <a:off x="3756025" y="6475413"/>
            <a:ext cx="2133600" cy="228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200">
                <a:solidFill>
                  <a:schemeClr val="tx2"/>
                </a:solidFill>
                <a:ea typeface="宋体" panose="02010600030101010101" pitchFamily="2" charset="-122"/>
              </a:defRPr>
            </a:lvl1pPr>
          </a:lstStyle>
          <a:p>
            <a:pPr>
              <a:defRPr/>
            </a:pPr>
            <a:fld id="{042C8EAE-8B8B-4902-BEEB-73F37D796FC7}" type="slidenum">
              <a:rPr lang="zh-CN" altLang="en-US"/>
            </a:fld>
            <a:endParaRPr lang="en-US" altLang="zh-CN"/>
          </a:p>
        </p:txBody>
      </p:sp>
      <p:sp>
        <p:nvSpPr>
          <p:cNvPr id="1029" name="Rectangle 2"/>
          <p:cNvSpPr>
            <a:spLocks noGrp="1" noChangeArrowheads="1"/>
          </p:cNvSpPr>
          <p:nvPr>
            <p:ph type="title"/>
          </p:nvPr>
        </p:nvSpPr>
        <p:spPr bwMode="gray">
          <a:xfrm>
            <a:off x="609600" y="533400"/>
            <a:ext cx="79248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2800" b="1" kern="1200">
          <a:solidFill>
            <a:schemeClr val="bg1"/>
          </a:solidFill>
          <a:latin typeface="+mj-lt"/>
          <a:ea typeface="+mj-ea"/>
          <a:cs typeface="+mj-cs"/>
        </a:defRPr>
      </a:lvl1pPr>
      <a:lvl2pPr algn="l" rtl="0" eaLnBrk="0" fontAlgn="base" hangingPunct="0">
        <a:spcBef>
          <a:spcPct val="0"/>
        </a:spcBef>
        <a:spcAft>
          <a:spcPct val="0"/>
        </a:spcAft>
        <a:defRPr sz="2800" b="1">
          <a:solidFill>
            <a:schemeClr val="bg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2800" b="1">
          <a:solidFill>
            <a:schemeClr val="bg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2800" b="1">
          <a:solidFill>
            <a:schemeClr val="bg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2800" b="1">
          <a:solidFill>
            <a:schemeClr val="bg1"/>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2800" b="1">
          <a:solidFill>
            <a:schemeClr val="bg1"/>
          </a:solidFill>
          <a:latin typeface="黑体" panose="02010609060101010101" pitchFamily="49" charset="-122"/>
          <a:ea typeface="黑体" panose="02010609060101010101" pitchFamily="49" charset="-122"/>
        </a:defRPr>
      </a:lvl6pPr>
      <a:lvl7pPr marL="914400" algn="l" rtl="0" fontAlgn="base">
        <a:spcBef>
          <a:spcPct val="0"/>
        </a:spcBef>
        <a:spcAft>
          <a:spcPct val="0"/>
        </a:spcAft>
        <a:defRPr sz="2800" b="1">
          <a:solidFill>
            <a:schemeClr val="bg1"/>
          </a:solidFill>
          <a:latin typeface="黑体" panose="02010609060101010101" pitchFamily="49" charset="-122"/>
          <a:ea typeface="黑体" panose="02010609060101010101" pitchFamily="49" charset="-122"/>
        </a:defRPr>
      </a:lvl7pPr>
      <a:lvl8pPr marL="1371600" algn="l" rtl="0" fontAlgn="base">
        <a:spcBef>
          <a:spcPct val="0"/>
        </a:spcBef>
        <a:spcAft>
          <a:spcPct val="0"/>
        </a:spcAft>
        <a:defRPr sz="2800" b="1">
          <a:solidFill>
            <a:schemeClr val="bg1"/>
          </a:solidFill>
          <a:latin typeface="黑体" panose="02010609060101010101" pitchFamily="49" charset="-122"/>
          <a:ea typeface="黑体" panose="02010609060101010101" pitchFamily="49" charset="-122"/>
        </a:defRPr>
      </a:lvl8pPr>
      <a:lvl9pPr marL="1828800" algn="l" rtl="0" fontAlgn="base">
        <a:spcBef>
          <a:spcPct val="0"/>
        </a:spcBef>
        <a:spcAft>
          <a:spcPct val="0"/>
        </a:spcAft>
        <a:defRPr sz="2800" b="1">
          <a:solidFill>
            <a:schemeClr val="bg1"/>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tx2"/>
        </a:buClr>
        <a:buFont typeface="Wingdings" panose="05000000000000000000" pitchFamily="2" charset="2"/>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hyperlink" Target="3-6&#21333;&#26609;&#22622;&#27893;&#21407;&#29702;.swf" TargetMode="External"/><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microsoft.com/office/2007/relationships/hdphoto" Target="../media/image13.wdp"/><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microsoft.com/office/2007/relationships/hdphoto" Target="../media/image18.wdp"/><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hyperlink" Target="&#21333;&#26438;&#32568;-&#19977;&#31181;&#36830;&#25509;.swf" TargetMode="External"/><Relationship Id="rId8" Type="http://schemas.openxmlformats.org/officeDocument/2006/relationships/image" Target="../media/image27.wmf"/><Relationship Id="rId7" Type="http://schemas.openxmlformats.org/officeDocument/2006/relationships/oleObject" Target="../embeddings/oleObject3.bin"/><Relationship Id="rId6" Type="http://schemas.openxmlformats.org/officeDocument/2006/relationships/image" Target="../media/image26.wmf"/><Relationship Id="rId5" Type="http://schemas.openxmlformats.org/officeDocument/2006/relationships/oleObject" Target="../embeddings/oleObject2.bin"/><Relationship Id="rId4" Type="http://schemas.openxmlformats.org/officeDocument/2006/relationships/image" Target="../media/image25.wmf"/><Relationship Id="rId3" Type="http://schemas.openxmlformats.org/officeDocument/2006/relationships/oleObject" Target="../embeddings/oleObject1.bin"/><Relationship Id="rId2" Type="http://schemas.openxmlformats.org/officeDocument/2006/relationships/image" Target="../media/image24.png"/><Relationship Id="rId11" Type="http://schemas.openxmlformats.org/officeDocument/2006/relationships/vmlDrawing" Target="../drawings/vmlDrawing1.vml"/><Relationship Id="rId10" Type="http://schemas.openxmlformats.org/officeDocument/2006/relationships/slideLayout" Target="../slideLayouts/slideLayout4.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microsoft.com/office/2007/relationships/hdphoto" Target="../media/image29.wdp"/><Relationship Id="rId1"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hyperlink" Target="&#21160;&#30011;-&#35843;&#36895;&#38400;.swf" TargetMode="External"/><Relationship Id="rId1" Type="http://schemas.openxmlformats.org/officeDocument/2006/relationships/image" Target="../media/image33.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8.png"/><Relationship Id="rId3" Type="http://schemas.microsoft.com/office/2007/relationships/media" Target="../media/media1.avi"/><Relationship Id="rId2" Type="http://schemas.openxmlformats.org/officeDocument/2006/relationships/video" Target="../media/media1.avi"/><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hyperlink" Target="&#21160;&#30011;-&#35843;&#21387;&#22238;&#36335;-&#19977;&#32423;&#35843;&#21387;&#22238;&#36335;.swf" TargetMode="External"/><Relationship Id="rId4" Type="http://schemas.openxmlformats.org/officeDocument/2006/relationships/image" Target="../media/image40.png"/><Relationship Id="rId3" Type="http://schemas.microsoft.com/office/2007/relationships/media" Target="../media/media2.avi"/><Relationship Id="rId2" Type="http://schemas.openxmlformats.org/officeDocument/2006/relationships/video" Target="../media/media2.avi"/><Relationship Id="rId1" Type="http://schemas.openxmlformats.org/officeDocument/2006/relationships/image" Target="../media/image39.pn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2.png"/><Relationship Id="rId3" Type="http://schemas.microsoft.com/office/2007/relationships/media" Target="../media/media3.avi"/><Relationship Id="rId2" Type="http://schemas.openxmlformats.org/officeDocument/2006/relationships/video" Target="../media/media3.avi"/><Relationship Id="rId1" Type="http://schemas.openxmlformats.org/officeDocument/2006/relationships/image" Target="../media/image4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microsoft.com/office/2007/relationships/media" Target="../media/media4.avi"/><Relationship Id="rId2" Type="http://schemas.openxmlformats.org/officeDocument/2006/relationships/video" Target="../media/media4.avi"/><Relationship Id="rId1"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21160;&#30011;-&#24179;&#34913;&#22238;&#36335;.swf" TargetMode="External"/><Relationship Id="rId1"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6.png"/><Relationship Id="rId1" Type="http://schemas.openxmlformats.org/officeDocument/2006/relationships/tags" Target="../tags/tag1.xml"/></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7.xml"/><Relationship Id="rId3" Type="http://schemas.openxmlformats.org/officeDocument/2006/relationships/image" Target="../media/image47.wmf"/><Relationship Id="rId2" Type="http://schemas.openxmlformats.org/officeDocument/2006/relationships/oleObject" Target="../embeddings/oleObject4.bin"/><Relationship Id="rId1" Type="http://schemas.openxmlformats.org/officeDocument/2006/relationships/tags" Target="../tags/tag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8.jpeg"/><Relationship Id="rId1" Type="http://schemas.openxmlformats.org/officeDocument/2006/relationships/tags" Target="../tags/tag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9.png"/><Relationship Id="rId1" Type="http://schemas.openxmlformats.org/officeDocument/2006/relationships/tags" Target="../tags/tag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0.png"/><Relationship Id="rId1" Type="http://schemas.openxmlformats.org/officeDocument/2006/relationships/tags" Target="../tags/tag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1.jpeg"/><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2.png"/><Relationship Id="rId1" Type="http://schemas.openxmlformats.org/officeDocument/2006/relationships/tags" Target="../tags/tag7.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3.png"/><Relationship Id="rId1" Type="http://schemas.openxmlformats.org/officeDocument/2006/relationships/tags" Target="../tags/tag8.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4.tiff"/><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381000" y="533400"/>
            <a:ext cx="7924800" cy="563563"/>
          </a:xfrm>
        </p:spPr>
        <p:txBody>
          <a:bodyPr/>
          <a:lstStyle/>
          <a:p>
            <a:pPr eaLnBrk="1" hangingPunct="1">
              <a:defRPr/>
            </a:pPr>
            <a:r>
              <a:rPr lang="en-US" altLang="zh-CN" sz="3200" dirty="0" smtClean="0">
                <a:effectLst>
                  <a:outerShdw blurRad="38100" dist="38100" dir="2700000" algn="tl">
                    <a:srgbClr val="000000">
                      <a:alpha val="43137"/>
                    </a:srgbClr>
                  </a:outerShdw>
                </a:effectLst>
                <a:latin typeface="Arial Black" panose="020B0A04020102020204" pitchFamily="34" charset="0"/>
                <a:ea typeface="宋体" panose="02010600030101010101" pitchFamily="2" charset="-122"/>
              </a:rPr>
              <a:t>Outline</a:t>
            </a:r>
            <a:r>
              <a:rPr lang="zh-CN" altLang="en-US" sz="3200"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课程内容</a:t>
            </a:r>
            <a:endParaRPr lang="zh-CN" altLang="en-US" sz="3200" dirty="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7171" name="内容占位符 2"/>
          <p:cNvSpPr>
            <a:spLocks noGrp="1"/>
          </p:cNvSpPr>
          <p:nvPr>
            <p:ph idx="1"/>
          </p:nvPr>
        </p:nvSpPr>
        <p:spPr>
          <a:xfrm>
            <a:off x="169465" y="1524000"/>
            <a:ext cx="8805070" cy="1371600"/>
          </a:xfrm>
        </p:spPr>
        <p:txBody>
          <a:bodyPr/>
          <a:lstStyle/>
          <a:p>
            <a:pPr marL="0" indent="0" eaLnBrk="1" hangingPunct="1">
              <a:buNone/>
            </a:pPr>
            <a:r>
              <a:rPr lang="en-GB" altLang="zh-CN" sz="2400" b="1" dirty="0" smtClean="0">
                <a:solidFill>
                  <a:srgbClr val="C00000"/>
                </a:solidFill>
                <a:ea typeface="宋体" panose="02010600030101010101" pitchFamily="2" charset="-122"/>
              </a:rPr>
              <a:t>     The purpose of this </a:t>
            </a:r>
            <a:r>
              <a:rPr lang="en-US" altLang="zh-CN" sz="2400" b="1" dirty="0" smtClean="0">
                <a:solidFill>
                  <a:srgbClr val="C00000"/>
                </a:solidFill>
                <a:ea typeface="宋体" panose="02010600030101010101" pitchFamily="2" charset="-122"/>
              </a:rPr>
              <a:t>course </a:t>
            </a:r>
            <a:r>
              <a:rPr lang="en-GB" altLang="zh-CN" sz="2400" b="1" dirty="0" smtClean="0">
                <a:solidFill>
                  <a:srgbClr val="C00000"/>
                </a:solidFill>
                <a:ea typeface="宋体" panose="02010600030101010101" pitchFamily="2" charset="-122"/>
              </a:rPr>
              <a:t>is to provide a basic introduction to the principles of hydraulics and pneumatics and their applications.</a:t>
            </a:r>
            <a:endParaRPr lang="en-GB" altLang="zh-CN" sz="2400" b="1" dirty="0" smtClean="0">
              <a:solidFill>
                <a:srgbClr val="C00000"/>
              </a:solidFill>
              <a:ea typeface="宋体" panose="02010600030101010101" pitchFamily="2" charset="-122"/>
            </a:endParaRPr>
          </a:p>
        </p:txBody>
      </p:sp>
      <p:sp>
        <p:nvSpPr>
          <p:cNvPr id="4" name="内容占位符 2"/>
          <p:cNvSpPr txBox="1"/>
          <p:nvPr/>
        </p:nvSpPr>
        <p:spPr bwMode="auto">
          <a:xfrm>
            <a:off x="76200" y="2971800"/>
            <a:ext cx="61722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330" indent="-227330">
              <a:defRPr/>
            </a:pPr>
            <a:r>
              <a:rPr lang="en-US" altLang="zh-CN" sz="2000" b="1"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1 Introduction </a:t>
            </a:r>
            <a:endParaRPr lang="en-US" altLang="zh-CN" sz="2000" dirty="0" smtClean="0">
              <a:solidFill>
                <a:schemeClr val="accent1">
                  <a:lumMod val="75000"/>
                </a:schemeClr>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2 Fundamental Hydraulic Fluid Mechanics</a:t>
            </a:r>
            <a:endPar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3 Hydraulic Pumps and Motors</a:t>
            </a:r>
            <a:endParaRPr lang="en-US" altLang="zh-CN" sz="2000"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4 Hydraulic Cylinders </a:t>
            </a:r>
            <a:endPar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5 Hydraulic Control V</a:t>
            </a:r>
            <a:r>
              <a:rPr lang="en-US" altLang="zh-TW" sz="2000"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alves </a:t>
            </a:r>
            <a:endParaRPr lang="en-US" altLang="zh-CN" sz="2000" dirty="0" smtClean="0">
              <a:solidFill>
                <a:schemeClr val="accent1">
                  <a:lumMod val="75000"/>
                </a:schemeClr>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6 Hydraulic Accessories</a:t>
            </a:r>
            <a:endParaRPr lang="en-US" altLang="zh-CN" sz="2000" dirty="0" smtClean="0">
              <a:solidFill>
                <a:schemeClr val="accent1">
                  <a:lumMod val="75000"/>
                </a:schemeClr>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7 Volumetric Speed Control </a:t>
            </a:r>
            <a:endParaRPr lang="en-US" altLang="zh-CN" sz="2000"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8 Applications</a:t>
            </a:r>
            <a:endParaRPr lang="en-US" altLang="zh-CN" sz="2000" dirty="0" smtClean="0">
              <a:gradFill>
                <a:gsLst>
                  <a:gs pos="50000">
                    <a:schemeClr val="accent2"/>
                  </a:gs>
                  <a:gs pos="0">
                    <a:schemeClr val="accent2">
                      <a:lumMod val="25000"/>
                      <a:lumOff val="75000"/>
                    </a:schemeClr>
                  </a:gs>
                  <a:gs pos="100000">
                    <a:schemeClr val="accent2">
                      <a:lumMod val="85000"/>
                    </a:schemeClr>
                  </a:gs>
                </a:gsLst>
                <a:lin ang="5400000" scaled="1"/>
              </a:gra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en-US" altLang="zh-CN" sz="2000" b="1"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Chapter 9 </a:t>
            </a:r>
            <a:r>
              <a:rPr lang="en-US" altLang="zh-TW" sz="2000"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Pneumatic System</a:t>
            </a:r>
            <a:endParaRPr lang="zh-CN" altLang="en-US" sz="2000" dirty="0" smtClean="0">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内容占位符 2"/>
          <p:cNvSpPr txBox="1"/>
          <p:nvPr/>
        </p:nvSpPr>
        <p:spPr bwMode="auto">
          <a:xfrm>
            <a:off x="6220097" y="2971800"/>
            <a:ext cx="3052354"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
              <a:defRPr sz="28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绪论</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流体力学基础</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液压泵</a:t>
            </a:r>
            <a:r>
              <a:rPr lang="zh-CN" altLang="en-US" sz="2000" dirty="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与</a:t>
            </a: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马达</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液压缸</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液压控制阀</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液压</a:t>
            </a:r>
            <a:r>
              <a:rPr lang="zh-CN" altLang="en-US" sz="2000" dirty="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辅助元件 </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容积调速</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典型</a:t>
            </a:r>
            <a:r>
              <a:rPr lang="zh-CN" altLang="en-US" sz="2000" dirty="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回路与</a:t>
            </a: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应用</a:t>
            </a:r>
            <a:endParaRPr lang="en-US" altLang="zh-CN"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marL="227330" indent="-227330">
              <a:defRPr/>
            </a:pPr>
            <a:r>
              <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 气动系统 </a:t>
            </a:r>
            <a:endParaRPr lang="zh-CN" altLang="en-US" sz="2000" dirty="0" smtClean="0">
              <a:solidFill>
                <a:srgbClr val="0070C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560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 name="标题 3"/>
          <p:cNvSpPr>
            <a:spLocks noGrp="1"/>
          </p:cNvSpPr>
          <p:nvPr>
            <p:ph type="title"/>
          </p:nvPr>
        </p:nvSpPr>
        <p:spPr>
          <a:xfrm>
            <a:off x="584200" y="343719"/>
            <a:ext cx="7543800" cy="1450757"/>
          </a:xfrm>
        </p:spPr>
        <p:txBody>
          <a:bodyPr>
            <a:normAutofit/>
          </a:bodyPr>
          <a:lstStyle/>
          <a:p>
            <a:pPr>
              <a:lnSpc>
                <a:spcPct val="120000"/>
              </a:lnSpc>
            </a:pPr>
            <a:r>
              <a:rPr lang="zh-CN" altLang="en-US" sz="3200" dirty="0">
                <a:solidFill>
                  <a:srgbClr val="C00000"/>
                </a:solidFill>
                <a:latin typeface="黑体" panose="02010609060101010101" pitchFamily="49" charset="-122"/>
                <a:ea typeface="黑体" panose="02010609060101010101" pitchFamily="49" charset="-122"/>
              </a:rPr>
              <a:t>压力的表示方法及单位</a:t>
            </a:r>
            <a:br>
              <a:rPr lang="zh-CN" altLang="en-US" sz="3200" b="1" dirty="0">
                <a:solidFill>
                  <a:srgbClr val="FF0000"/>
                </a:solidFill>
              </a:rPr>
            </a:br>
            <a:r>
              <a:rPr lang="en-US" altLang="zh-CN" sz="3200" b="1" dirty="0" smtClean="0">
                <a:solidFill>
                  <a:schemeClr val="tx1"/>
                </a:solidFill>
              </a:rPr>
              <a:t>Definition and Units of Pressure</a:t>
            </a:r>
            <a:r>
              <a:rPr lang="en-US" altLang="zh-CN" sz="3200" b="1" dirty="0" smtClean="0">
                <a:solidFill>
                  <a:srgbClr val="FF0000"/>
                </a:solidFill>
              </a:rPr>
              <a:t> </a:t>
            </a:r>
            <a:endParaRPr lang="zh-CN" altLang="en-US" sz="2800" b="1" dirty="0">
              <a:solidFill>
                <a:srgbClr val="FF0000"/>
              </a:solidFill>
            </a:endParaRPr>
          </a:p>
        </p:txBody>
      </p:sp>
      <p:sp>
        <p:nvSpPr>
          <p:cNvPr id="25608" name="Rectangle 8"/>
          <p:cNvSpPr>
            <a:spLocks noChangeArrowheads="1"/>
          </p:cNvSpPr>
          <p:nvPr/>
        </p:nvSpPr>
        <p:spPr bwMode="auto">
          <a:xfrm>
            <a:off x="0" y="1916113"/>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5614" name="Rectangle 14"/>
          <p:cNvSpPr>
            <a:spLocks noChangeArrowheads="1"/>
          </p:cNvSpPr>
          <p:nvPr/>
        </p:nvSpPr>
        <p:spPr bwMode="auto">
          <a:xfrm>
            <a:off x="323850" y="4123675"/>
            <a:ext cx="882015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har char="n"/>
              <a:defRPr sz="2800">
                <a:solidFill>
                  <a:schemeClr val="tx1"/>
                </a:solidFill>
                <a:latin typeface="Times New Roman" panose="02020603050405020304" pitchFamily="18" charset="0"/>
                <a:ea typeface="宋体" panose="02010600030101010101" pitchFamily="2" charset="-122"/>
              </a:defRPr>
            </a:lvl1pPr>
            <a:lvl2pPr marL="838200" indent="-381000">
              <a:spcBef>
                <a:spcPct val="20000"/>
              </a:spcBef>
              <a:buChar char="n"/>
              <a:defRPr sz="2800">
                <a:solidFill>
                  <a:schemeClr val="tx1"/>
                </a:solidFill>
                <a:latin typeface="Times New Roman" panose="02020603050405020304" pitchFamily="18" charset="0"/>
                <a:ea typeface="宋体" panose="02010600030101010101" pitchFamily="2" charset="-122"/>
              </a:defRPr>
            </a:lvl2pPr>
            <a:lvl3pPr marL="1257300" indent="-342900">
              <a:spcBef>
                <a:spcPct val="20000"/>
              </a:spcBef>
              <a:buChar char="n"/>
              <a:defRPr sz="2400">
                <a:solidFill>
                  <a:schemeClr val="tx1"/>
                </a:solidFill>
                <a:latin typeface="Times New Roman" panose="02020603050405020304" pitchFamily="18" charset="0"/>
                <a:ea typeface="宋体" panose="02010600030101010101" pitchFamily="2" charset="-122"/>
              </a:defRPr>
            </a:lvl3pPr>
            <a:lvl4pPr marL="1676400" indent="-304800">
              <a:spcBef>
                <a:spcPct val="20000"/>
              </a:spcBef>
              <a:buChar char="n"/>
              <a:defRPr sz="2000">
                <a:solidFill>
                  <a:schemeClr val="tx1"/>
                </a:solidFill>
                <a:latin typeface="Times New Roman" panose="02020603050405020304" pitchFamily="18" charset="0"/>
                <a:ea typeface="宋体" panose="02010600030101010101" pitchFamily="2" charset="-122"/>
              </a:defRPr>
            </a:lvl4pPr>
            <a:lvl5pPr marL="2133600" indent="-304800">
              <a:spcBef>
                <a:spcPct val="20000"/>
              </a:spcBef>
              <a:buChar char="n"/>
              <a:defRPr sz="2000">
                <a:solidFill>
                  <a:schemeClr val="tx1"/>
                </a:solidFill>
                <a:latin typeface="Times New Roman" panose="02020603050405020304" pitchFamily="18" charset="0"/>
                <a:ea typeface="宋体" panose="02010600030101010101" pitchFamily="2" charset="-122"/>
              </a:defRPr>
            </a:lvl5pPr>
            <a:lvl6pPr marL="25908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6pPr>
            <a:lvl7pPr marL="30480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7pPr>
            <a:lvl8pPr marL="35052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8pPr>
            <a:lvl9pPr marL="39624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9pPr>
          </a:lstStyle>
          <a:p>
            <a:pPr>
              <a:lnSpc>
                <a:spcPct val="100000"/>
              </a:lnSpc>
              <a:buFont typeface="Wingdings" panose="05000000000000000000" pitchFamily="2" charset="2"/>
              <a:buNone/>
            </a:pPr>
            <a:r>
              <a:rPr lang="en-US" altLang="zh-CN" sz="2400" b="1" dirty="0"/>
              <a:t> The units of pressure and relations between different pressures </a:t>
            </a:r>
            <a:r>
              <a:rPr lang="zh-CN" altLang="en-US" sz="2400" b="1" dirty="0"/>
              <a:t>：</a:t>
            </a:r>
            <a:endParaRPr lang="zh-CN" altLang="en-US" sz="2400" b="1" dirty="0"/>
          </a:p>
        </p:txBody>
      </p:sp>
      <p:sp>
        <p:nvSpPr>
          <p:cNvPr id="11" name="Rectangle 9"/>
          <p:cNvSpPr>
            <a:spLocks noChangeArrowheads="1"/>
          </p:cNvSpPr>
          <p:nvPr/>
        </p:nvSpPr>
        <p:spPr bwMode="auto">
          <a:xfrm>
            <a:off x="205740" y="4662170"/>
            <a:ext cx="8679815" cy="1744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buChar char="n"/>
              <a:defRPr sz="2800">
                <a:solidFill>
                  <a:schemeClr val="tx1"/>
                </a:solidFill>
                <a:latin typeface="Times New Roman" panose="02020603050405020304" pitchFamily="18" charset="0"/>
                <a:ea typeface="宋体" panose="02010600030101010101" pitchFamily="2" charset="-122"/>
              </a:defRPr>
            </a:lvl1pPr>
            <a:lvl2pPr marL="838200" indent="-381000">
              <a:buChar char="n"/>
              <a:defRPr sz="2800">
                <a:solidFill>
                  <a:schemeClr val="tx1"/>
                </a:solidFill>
                <a:latin typeface="Times New Roman" panose="02020603050405020304" pitchFamily="18" charset="0"/>
                <a:ea typeface="宋体" panose="02010600030101010101" pitchFamily="2" charset="-122"/>
              </a:defRPr>
            </a:lvl2pPr>
            <a:lvl3pPr marL="1257300" indent="-342900">
              <a:buChar char="n"/>
              <a:defRPr sz="2400">
                <a:solidFill>
                  <a:schemeClr val="tx1"/>
                </a:solidFill>
                <a:latin typeface="Times New Roman" panose="02020603050405020304" pitchFamily="18" charset="0"/>
                <a:ea typeface="宋体" panose="02010600030101010101" pitchFamily="2" charset="-122"/>
              </a:defRPr>
            </a:lvl3pPr>
            <a:lvl4pPr marL="1676400" indent="-304800">
              <a:buChar char="n"/>
              <a:defRPr sz="2000">
                <a:solidFill>
                  <a:schemeClr val="tx1"/>
                </a:solidFill>
                <a:latin typeface="Times New Roman" panose="02020603050405020304" pitchFamily="18" charset="0"/>
                <a:ea typeface="宋体" panose="02010600030101010101" pitchFamily="2" charset="-122"/>
              </a:defRPr>
            </a:lvl4pPr>
            <a:lvl5pPr marL="2133600" indent="-304800">
              <a:buChar char="n"/>
              <a:defRPr sz="2000">
                <a:solidFill>
                  <a:schemeClr val="tx1"/>
                </a:solidFill>
                <a:latin typeface="Times New Roman" panose="02020603050405020304" pitchFamily="18" charset="0"/>
                <a:ea typeface="宋体" panose="02010600030101010101" pitchFamily="2" charset="-122"/>
              </a:defRPr>
            </a:lvl5pPr>
            <a:lvl6pPr marL="25908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6pPr>
            <a:lvl7pPr marL="30480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7pPr>
            <a:lvl8pPr marL="35052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8pPr>
            <a:lvl9pPr marL="3962400" indent="-304800" fontAlgn="base">
              <a:spcBef>
                <a:spcPct val="20000"/>
              </a:spcBef>
              <a:spcAft>
                <a:spcPct val="0"/>
              </a:spcAft>
              <a:buFont typeface="Wingdings" panose="05000000000000000000" pitchFamily="2" charset="2"/>
              <a:buChar char="n"/>
              <a:defRPr sz="2000">
                <a:solidFill>
                  <a:schemeClr val="tx1"/>
                </a:solidFill>
                <a:latin typeface="Times New Roman" panose="02020603050405020304" pitchFamily="18" charset="0"/>
                <a:ea typeface="宋体" panose="02010600030101010101" pitchFamily="2" charset="-122"/>
              </a:defRPr>
            </a:lvl9pPr>
          </a:lstStyle>
          <a:p>
            <a:pPr>
              <a:buFont typeface="Wingdings" panose="05000000000000000000" pitchFamily="2" charset="2"/>
              <a:buNone/>
            </a:pPr>
            <a:r>
              <a:rPr lang="en-US" altLang="zh-CN" sz="2200" dirty="0"/>
              <a:t>1Pa</a:t>
            </a:r>
            <a:r>
              <a:rPr lang="zh-CN" altLang="en-US" sz="2200" dirty="0"/>
              <a:t>（帕）＝</a:t>
            </a:r>
            <a:r>
              <a:rPr lang="en-US" altLang="zh-CN" sz="2200" dirty="0"/>
              <a:t>1 N/m</a:t>
            </a:r>
            <a:r>
              <a:rPr lang="en-US" altLang="zh-CN" sz="2200" baseline="30000" dirty="0"/>
              <a:t>2</a:t>
            </a:r>
            <a:r>
              <a:rPr lang="zh-CN" altLang="en-US" sz="2200" dirty="0"/>
              <a:t>；</a:t>
            </a:r>
            <a:r>
              <a:rPr lang="en-US" altLang="zh-CN" sz="2200" dirty="0"/>
              <a:t>1bar</a:t>
            </a:r>
            <a:r>
              <a:rPr lang="zh-CN" altLang="en-US" sz="2200" dirty="0"/>
              <a:t>（巴）＝</a:t>
            </a:r>
            <a:r>
              <a:rPr lang="en-US" altLang="zh-CN" sz="2200" dirty="0"/>
              <a:t>1×10</a:t>
            </a:r>
            <a:r>
              <a:rPr lang="en-US" altLang="zh-CN" sz="2200" baseline="30000" dirty="0"/>
              <a:t>5 </a:t>
            </a:r>
            <a:r>
              <a:rPr lang="en-US" altLang="zh-CN" sz="2200" dirty="0"/>
              <a:t> Pa</a:t>
            </a:r>
            <a:r>
              <a:rPr lang="zh-CN" altLang="en-US" sz="2200" dirty="0"/>
              <a:t>＝</a:t>
            </a:r>
            <a:r>
              <a:rPr lang="en-US" altLang="zh-CN" sz="2200" dirty="0"/>
              <a:t>1×10</a:t>
            </a:r>
            <a:r>
              <a:rPr lang="en-US" altLang="zh-CN" sz="2200" baseline="30000" dirty="0"/>
              <a:t>5</a:t>
            </a:r>
            <a:r>
              <a:rPr lang="en-US" altLang="zh-CN" sz="2200" dirty="0"/>
              <a:t> </a:t>
            </a:r>
            <a:r>
              <a:rPr lang="en-US" altLang="zh-CN" sz="2200" dirty="0" smtClean="0"/>
              <a:t>N/m</a:t>
            </a:r>
            <a:r>
              <a:rPr lang="en-US" altLang="zh-CN" sz="2200" baseline="30000" dirty="0" smtClean="0"/>
              <a:t>2</a:t>
            </a:r>
            <a:r>
              <a:rPr lang="zh-CN" altLang="en-US" sz="2200" dirty="0" smtClean="0"/>
              <a:t>；</a:t>
            </a:r>
            <a:endParaRPr lang="en-US" altLang="zh-CN" sz="2200" dirty="0"/>
          </a:p>
          <a:p>
            <a:pPr>
              <a:buFont typeface="Wingdings" panose="05000000000000000000" pitchFamily="2" charset="2"/>
              <a:buNone/>
            </a:pPr>
            <a:r>
              <a:rPr lang="en-US" altLang="zh-CN" sz="2200" dirty="0"/>
              <a:t>1at</a:t>
            </a:r>
            <a:r>
              <a:rPr lang="zh-CN" altLang="en-US" sz="2200" dirty="0"/>
              <a:t>（工程大气压）＝</a:t>
            </a:r>
            <a:r>
              <a:rPr lang="en-US" altLang="zh-CN" sz="2200" dirty="0"/>
              <a:t>1kgf/cm</a:t>
            </a:r>
            <a:r>
              <a:rPr lang="en-US" altLang="zh-CN" sz="2200" baseline="30000" dirty="0"/>
              <a:t>2</a:t>
            </a:r>
            <a:r>
              <a:rPr lang="en-US" altLang="zh-CN" sz="2200" dirty="0"/>
              <a:t>=9.8×10</a:t>
            </a:r>
            <a:r>
              <a:rPr lang="en-US" altLang="zh-CN" sz="2200" baseline="30000" dirty="0"/>
              <a:t>4 </a:t>
            </a:r>
            <a:r>
              <a:rPr lang="en-US" altLang="zh-CN" sz="2200" dirty="0"/>
              <a:t>N/m</a:t>
            </a:r>
            <a:r>
              <a:rPr lang="en-US" altLang="zh-CN" sz="2200" baseline="30000" dirty="0"/>
              <a:t>2</a:t>
            </a:r>
            <a:r>
              <a:rPr lang="en-US" altLang="zh-CN" sz="2200" dirty="0"/>
              <a:t>; 1mH</a:t>
            </a:r>
            <a:r>
              <a:rPr lang="en-US" altLang="zh-CN" sz="2200" baseline="-25000" dirty="0"/>
              <a:t>2</a:t>
            </a:r>
            <a:r>
              <a:rPr lang="en-US" altLang="zh-CN" sz="2200" dirty="0"/>
              <a:t>O</a:t>
            </a:r>
            <a:r>
              <a:rPr lang="zh-CN" altLang="en-US" sz="2200" dirty="0"/>
              <a:t>（米水柱）＝</a:t>
            </a:r>
            <a:r>
              <a:rPr lang="en-US" altLang="zh-CN" sz="2200" dirty="0"/>
              <a:t>9.8×10</a:t>
            </a:r>
            <a:r>
              <a:rPr lang="en-US" altLang="zh-CN" sz="2200" baseline="30000" dirty="0"/>
              <a:t>3</a:t>
            </a:r>
            <a:r>
              <a:rPr lang="en-US" altLang="zh-CN" sz="2200" dirty="0"/>
              <a:t> </a:t>
            </a:r>
            <a:r>
              <a:rPr lang="en-US" altLang="zh-CN" sz="2200" dirty="0" smtClean="0"/>
              <a:t>N/m</a:t>
            </a:r>
            <a:r>
              <a:rPr lang="en-US" altLang="zh-CN" sz="2200" baseline="30000" dirty="0" smtClean="0"/>
              <a:t>2</a:t>
            </a:r>
            <a:r>
              <a:rPr lang="zh-CN" altLang="en-US" sz="2200" dirty="0" smtClean="0"/>
              <a:t>；</a:t>
            </a:r>
            <a:endParaRPr lang="en-US" altLang="zh-CN" sz="2200" dirty="0"/>
          </a:p>
          <a:p>
            <a:pPr>
              <a:buNone/>
            </a:pPr>
            <a:r>
              <a:rPr lang="en-US" altLang="zh-CN" sz="2200" dirty="0" smtClean="0"/>
              <a:t>1mmHg (</a:t>
            </a:r>
            <a:r>
              <a:rPr lang="zh-CN" altLang="en-US" sz="2200" dirty="0" smtClean="0"/>
              <a:t>毫米汞柱</a:t>
            </a:r>
            <a:r>
              <a:rPr lang="en-US" altLang="zh-CN" sz="2200" dirty="0" smtClean="0"/>
              <a:t>)</a:t>
            </a:r>
            <a:r>
              <a:rPr lang="zh-CN" altLang="en-US" sz="2200" dirty="0" smtClean="0"/>
              <a:t>＝</a:t>
            </a:r>
            <a:r>
              <a:rPr lang="en-US" altLang="zh-CN" sz="2200" dirty="0" smtClean="0"/>
              <a:t>1.33×10</a:t>
            </a:r>
            <a:r>
              <a:rPr lang="en-US" altLang="zh-CN" sz="2200" baseline="30000" dirty="0" smtClean="0"/>
              <a:t>2</a:t>
            </a:r>
            <a:r>
              <a:rPr lang="en-US" altLang="zh-CN" sz="2200" dirty="0" smtClean="0"/>
              <a:t> N/m</a:t>
            </a:r>
            <a:r>
              <a:rPr lang="en-US" altLang="zh-CN" sz="2200" baseline="30000" dirty="0" smtClean="0"/>
              <a:t>2</a:t>
            </a:r>
            <a:r>
              <a:rPr lang="en-US" altLang="zh-CN" sz="1400" baseline="30000" dirty="0" smtClean="0"/>
              <a:t> </a:t>
            </a:r>
            <a:r>
              <a:rPr lang="zh-CN" altLang="en-US" sz="1400" dirty="0" smtClean="0"/>
              <a:t> </a:t>
            </a:r>
            <a:r>
              <a:rPr lang="zh-CN" altLang="en-US" sz="2200" dirty="0"/>
              <a:t>；</a:t>
            </a:r>
            <a:endParaRPr lang="zh-CN" altLang="en-US" sz="2200" dirty="0"/>
          </a:p>
        </p:txBody>
      </p:sp>
      <p:sp>
        <p:nvSpPr>
          <p:cNvPr id="25605" name="Rectangle 5"/>
          <p:cNvSpPr>
            <a:spLocks noGrp="1" noChangeArrowheads="1"/>
          </p:cNvSpPr>
          <p:nvPr>
            <p:ph type="body" idx="4294967295"/>
          </p:nvPr>
        </p:nvSpPr>
        <p:spPr>
          <a:xfrm>
            <a:off x="288925" y="1688465"/>
            <a:ext cx="8704580" cy="2894330"/>
          </a:xfrm>
        </p:spPr>
        <p:txBody>
          <a:bodyPr>
            <a:noAutofit/>
          </a:bodyPr>
          <a:lstStyle/>
          <a:p>
            <a:pPr>
              <a:lnSpc>
                <a:spcPct val="120000"/>
              </a:lnSpc>
              <a:spcBef>
                <a:spcPct val="0"/>
              </a:spcBef>
              <a:spcAft>
                <a:spcPts val="0"/>
              </a:spcAft>
              <a:buFont typeface="Wingdings" panose="05000000000000000000" pitchFamily="2" charset="2"/>
              <a:buChar char="n"/>
            </a:pPr>
            <a:r>
              <a:rPr lang="en-US" altLang="zh-CN" sz="24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Absolute pressure </a:t>
            </a:r>
            <a:r>
              <a:rPr lang="zh-CN" altLang="en-US" sz="2400" b="1"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绝对压力</a:t>
            </a:r>
            <a:endParaRPr lang="en-US" altLang="zh-CN" sz="2400" b="1"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20000"/>
              </a:lnSpc>
              <a:spcBef>
                <a:spcPct val="0"/>
              </a:spcBef>
              <a:spcAft>
                <a:spcPts val="0"/>
              </a:spcAft>
              <a:buFont typeface="Wingdings" panose="05000000000000000000" pitchFamily="2" charset="2"/>
              <a:buChar char="n"/>
            </a:pP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Relative </a:t>
            </a:r>
            <a:r>
              <a:rPr lang="en-US" altLang="zh-CN" sz="24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gauge </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pressure </a:t>
            </a:r>
            <a:r>
              <a:rPr lang="zh-CN" altLang="en-US" sz="2400" b="1"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相对压力</a:t>
            </a:r>
            <a:r>
              <a:rPr lang="zh-CN" altLang="en-US" sz="24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（表压力</a:t>
            </a:r>
            <a:r>
              <a:rPr lang="zh-CN" altLang="en-US"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20000"/>
              </a:lnSpc>
              <a:spcBef>
                <a:spcPct val="0"/>
              </a:spcBef>
              <a:spcAft>
                <a:spcPts val="0"/>
              </a:spcAft>
              <a:buNone/>
            </a:pPr>
            <a:r>
              <a:rPr lang="en-US" altLang="zh-CN" sz="20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The </a:t>
            </a:r>
            <a:r>
              <a:rPr lang="en-US" altLang="zh-CN" sz="2000"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pressures measured by a </a:t>
            </a:r>
            <a:r>
              <a:rPr lang="en-US" altLang="zh-CN" sz="20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pressure </a:t>
            </a:r>
            <a:r>
              <a:rPr lang="en-US" altLang="zh-CN" sz="2000"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gauge are all relative </a:t>
            </a:r>
            <a:r>
              <a:rPr lang="en-US" altLang="zh-CN" sz="20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 pressure.  </a:t>
            </a:r>
            <a:r>
              <a:rPr lang="zh-CN" altLang="en-US" sz="20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用</a:t>
            </a:r>
            <a:r>
              <a:rPr lang="zh-CN" altLang="en-US" sz="2000"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压力表测得的压力</a:t>
            </a:r>
            <a:r>
              <a:rPr lang="zh-CN" altLang="en-US" sz="2000" dirty="0" smtClean="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数值都是</a:t>
            </a:r>
            <a:r>
              <a:rPr lang="zh-CN" altLang="en-US" sz="2000"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rPr>
              <a:t>相对压力。</a:t>
            </a:r>
            <a:endParaRPr lang="zh-CN" altLang="en-US" dirty="0">
              <a:solidFill>
                <a:srgbClr val="0070C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20000"/>
              </a:lnSpc>
              <a:spcBef>
                <a:spcPct val="0"/>
              </a:spcBef>
              <a:spcAft>
                <a:spcPts val="0"/>
              </a:spcAft>
              <a:buFont typeface="Wingdings" panose="05000000000000000000" pitchFamily="2" charset="2"/>
              <a:buChar char="n"/>
            </a:pPr>
            <a:r>
              <a:rPr lang="en-US" altLang="zh-CN" sz="24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Vacuum </a:t>
            </a: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(Negative </a:t>
            </a:r>
            <a:r>
              <a:rPr lang="en-US" altLang="zh-CN" sz="20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pressure</a:t>
            </a: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400" b="1"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真空度</a:t>
            </a:r>
            <a:endParaRPr lang="en-US" altLang="zh-CN" sz="2400" b="1"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type="body" idx="4294967295"/>
          </p:nvPr>
        </p:nvSpPr>
        <p:spPr>
          <a:xfrm>
            <a:off x="320675" y="1427024"/>
            <a:ext cx="8502650" cy="1392237"/>
          </a:xfrm>
        </p:spPr>
        <p:txBody>
          <a:bodyPr>
            <a:normAutofit fontScale="77500" lnSpcReduction="20000"/>
          </a:bodyPr>
          <a:lstStyle/>
          <a:p>
            <a:pPr marL="53975" indent="-53975">
              <a:lnSpc>
                <a:spcPct val="130000"/>
              </a:lnSpc>
              <a:spcBef>
                <a:spcPct val="0"/>
              </a:spcBef>
              <a:buFont typeface="Wingdings" panose="05000000000000000000" pitchFamily="2" charset="2"/>
              <a:buNone/>
            </a:pP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The equations of continuity, Bernoulli and momentum are </a:t>
            </a: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basic </a:t>
            </a:r>
            <a:r>
              <a:rPr lang="en-US" altLang="zh-CN" sz="24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motion equations that describe the dynamics laws in flowing </a:t>
            </a:r>
            <a:r>
              <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fluid. </a:t>
            </a:r>
            <a:endParaRPr lang="en-US" altLang="zh-CN" sz="2400"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ct val="130000"/>
              </a:lnSpc>
              <a:spcBef>
                <a:spcPct val="0"/>
              </a:spcBef>
              <a:buFont typeface="Wingdings" panose="05000000000000000000" pitchFamily="2" charset="2"/>
              <a:buNone/>
            </a:pPr>
            <a:r>
              <a:rPr lang="zh-CN" altLang="en-US" sz="2400" b="1" dirty="0" smtClean="0">
                <a:solidFill>
                  <a:schemeClr val="tx1"/>
                </a:solidFill>
                <a:latin typeface="黑体" panose="02010609060101010101" pitchFamily="49" charset="-122"/>
                <a:ea typeface="黑体" panose="02010609060101010101" pitchFamily="49" charset="-122"/>
                <a:cs typeface="Arial Unicode MS" panose="020B0604020202020204" pitchFamily="34" charset="-122"/>
              </a:rPr>
              <a:t>描述</a:t>
            </a:r>
            <a:r>
              <a:rPr lang="zh-CN" altLang="en-US" sz="2400" b="1" dirty="0">
                <a:solidFill>
                  <a:schemeClr val="tx1"/>
                </a:solidFill>
                <a:latin typeface="黑体" panose="02010609060101010101" pitchFamily="49" charset="-122"/>
                <a:ea typeface="黑体" panose="02010609060101010101" pitchFamily="49" charset="-122"/>
                <a:cs typeface="Arial Unicode MS" panose="020B0604020202020204" pitchFamily="34" charset="-122"/>
              </a:rPr>
              <a:t>流动液体力学规律的三个基本方程式是流动液体</a:t>
            </a:r>
            <a:r>
              <a:rPr lang="zh-CN" altLang="en-US" sz="2400" b="1" dirty="0" smtClean="0">
                <a:solidFill>
                  <a:schemeClr val="tx1"/>
                </a:solidFill>
                <a:latin typeface="黑体" panose="02010609060101010101" pitchFamily="49" charset="-122"/>
                <a:ea typeface="黑体" panose="02010609060101010101" pitchFamily="49" charset="-122"/>
                <a:cs typeface="Arial Unicode MS" panose="020B0604020202020204" pitchFamily="34" charset="-122"/>
              </a:rPr>
              <a:t>的</a:t>
            </a:r>
            <a:r>
              <a:rPr lang="zh-CN" altLang="en-US" sz="2400" b="1" dirty="0" smtClean="0">
                <a:solidFill>
                  <a:srgbClr val="C00000"/>
                </a:solidFill>
                <a:latin typeface="黑体" panose="02010609060101010101" pitchFamily="49" charset="-122"/>
                <a:ea typeface="黑体" panose="02010609060101010101" pitchFamily="49" charset="-122"/>
                <a:cs typeface="Arial Unicode MS" panose="020B0604020202020204" pitchFamily="34" charset="-122"/>
              </a:rPr>
              <a:t>连续性方程</a:t>
            </a:r>
            <a:r>
              <a:rPr lang="zh-CN" altLang="en-US" sz="2400" b="1" dirty="0">
                <a:solidFill>
                  <a:schemeClr val="tx1"/>
                </a:solidFill>
                <a:latin typeface="黑体" panose="02010609060101010101" pitchFamily="49" charset="-122"/>
                <a:ea typeface="黑体" panose="02010609060101010101" pitchFamily="49" charset="-122"/>
                <a:cs typeface="Arial Unicode MS" panose="020B0604020202020204" pitchFamily="34" charset="-122"/>
              </a:rPr>
              <a:t>、</a:t>
            </a:r>
            <a:r>
              <a:rPr lang="zh-CN" altLang="en-US" sz="2400" b="1" dirty="0">
                <a:solidFill>
                  <a:srgbClr val="C00000"/>
                </a:solidFill>
                <a:latin typeface="黑体" panose="02010609060101010101" pitchFamily="49" charset="-122"/>
                <a:ea typeface="黑体" panose="02010609060101010101" pitchFamily="49" charset="-122"/>
                <a:cs typeface="Arial Unicode MS" panose="020B0604020202020204" pitchFamily="34" charset="-122"/>
              </a:rPr>
              <a:t>伯努利方程</a:t>
            </a:r>
            <a:r>
              <a:rPr lang="zh-CN" altLang="en-US" sz="2400" b="1" dirty="0">
                <a:solidFill>
                  <a:schemeClr val="tx1"/>
                </a:solidFill>
                <a:latin typeface="黑体" panose="02010609060101010101" pitchFamily="49" charset="-122"/>
                <a:ea typeface="黑体" panose="02010609060101010101" pitchFamily="49" charset="-122"/>
                <a:cs typeface="Arial Unicode MS" panose="020B0604020202020204" pitchFamily="34" charset="-122"/>
              </a:rPr>
              <a:t>和</a:t>
            </a:r>
            <a:r>
              <a:rPr lang="zh-CN" altLang="en-US" sz="2400" b="1" dirty="0">
                <a:solidFill>
                  <a:srgbClr val="C00000"/>
                </a:solidFill>
                <a:latin typeface="黑体" panose="02010609060101010101" pitchFamily="49" charset="-122"/>
                <a:ea typeface="黑体" panose="02010609060101010101" pitchFamily="49" charset="-122"/>
                <a:cs typeface="Arial Unicode MS" panose="020B0604020202020204" pitchFamily="34" charset="-122"/>
              </a:rPr>
              <a:t>动量方程</a:t>
            </a:r>
            <a:r>
              <a:rPr lang="zh-CN" altLang="en-US" sz="2400" b="1" dirty="0">
                <a:solidFill>
                  <a:schemeClr val="tx1"/>
                </a:solidFill>
                <a:latin typeface="黑体" panose="02010609060101010101" pitchFamily="49" charset="-122"/>
                <a:ea typeface="黑体" panose="02010609060101010101" pitchFamily="49" charset="-122"/>
                <a:cs typeface="Arial Unicode MS" panose="020B0604020202020204" pitchFamily="34" charset="-122"/>
              </a:rPr>
              <a:t>。</a:t>
            </a:r>
            <a:endParaRPr lang="en-US" altLang="zh-CN" sz="2400" b="1" dirty="0">
              <a:solidFill>
                <a:schemeClr val="tx1"/>
              </a:solidFill>
              <a:latin typeface="黑体" panose="02010609060101010101" pitchFamily="49" charset="-122"/>
              <a:ea typeface="黑体" panose="02010609060101010101" pitchFamily="49" charset="-122"/>
              <a:cs typeface="Arial Unicode MS" panose="020B0604020202020204" pitchFamily="34" charset="-122"/>
            </a:endParaRPr>
          </a:p>
        </p:txBody>
      </p:sp>
      <p:sp>
        <p:nvSpPr>
          <p:cNvPr id="2" name="标题 1"/>
          <p:cNvSpPr>
            <a:spLocks noGrp="1"/>
          </p:cNvSpPr>
          <p:nvPr>
            <p:ph type="title" idx="4294967295"/>
          </p:nvPr>
        </p:nvSpPr>
        <p:spPr>
          <a:xfrm>
            <a:off x="265723" y="-181705"/>
            <a:ext cx="7543800" cy="1450975"/>
          </a:xfrm>
        </p:spPr>
        <p:txBody>
          <a:bodyPr>
            <a:normAutofit/>
          </a:bodyPr>
          <a:lstStyle/>
          <a:p>
            <a:pPr>
              <a:lnSpc>
                <a:spcPct val="100000"/>
              </a:lnSpc>
            </a:pPr>
            <a:r>
              <a:rPr lang="zh-CN" altLang="en-US" sz="2800" b="1" dirty="0">
                <a:solidFill>
                  <a:srgbClr val="C00000"/>
                </a:solidFill>
                <a:latin typeface="黑体" panose="02010609060101010101" pitchFamily="49" charset="-122"/>
                <a:ea typeface="黑体" panose="02010609060101010101" pitchFamily="49" charset="-122"/>
              </a:rPr>
              <a:t>流量连续性方程</a:t>
            </a:r>
            <a:r>
              <a:rPr lang="en-US" altLang="zh-CN" sz="2800" b="1" dirty="0">
                <a:solidFill>
                  <a:srgbClr val="C00000"/>
                </a:solidFill>
                <a:latin typeface="黑体" panose="02010609060101010101" pitchFamily="49" charset="-122"/>
                <a:ea typeface="黑体" panose="02010609060101010101" pitchFamily="49" charset="-122"/>
              </a:rPr>
              <a:t>—</a:t>
            </a:r>
            <a:r>
              <a:rPr lang="zh-CN" altLang="en-US" sz="2800" b="1" dirty="0">
                <a:solidFill>
                  <a:srgbClr val="C00000"/>
                </a:solidFill>
                <a:latin typeface="黑体" panose="02010609060101010101" pitchFamily="49" charset="-122"/>
                <a:ea typeface="黑体" panose="02010609060101010101" pitchFamily="49" charset="-122"/>
              </a:rPr>
              <a:t>质量守恒定律</a:t>
            </a:r>
            <a:br>
              <a:rPr lang="zh-CN" altLang="en-US" sz="2800" dirty="0">
                <a:solidFill>
                  <a:schemeClr val="tx1"/>
                </a:solidFill>
                <a:latin typeface="黑体" panose="02010609060101010101" pitchFamily="49" charset="-122"/>
                <a:ea typeface="黑体" panose="02010609060101010101" pitchFamily="49" charset="-122"/>
              </a:rPr>
            </a:br>
            <a:r>
              <a:rPr lang="en-US" altLang="zh-CN" sz="24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E</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quation </a:t>
            </a:r>
            <a:r>
              <a:rPr lang="en-US" altLang="zh-CN" sz="24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of </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Continuity-Conservation </a:t>
            </a:r>
            <a:r>
              <a:rPr lang="en-US" altLang="zh-CN" sz="24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of M</a:t>
            </a:r>
            <a:r>
              <a:rPr lang="en-US" altLang="zh-CN" sz="24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ass</a:t>
            </a:r>
            <a:endParaRPr lang="zh-CN" altLang="en-US" sz="2400"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1754" name="Rectangle 10"/>
          <p:cNvSpPr>
            <a:spLocks noChangeArrowheads="1"/>
          </p:cNvSpPr>
          <p:nvPr/>
        </p:nvSpPr>
        <p:spPr bwMode="auto">
          <a:xfrm>
            <a:off x="0" y="245232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58" name="Rectangle 14"/>
          <p:cNvSpPr>
            <a:spLocks noChangeArrowheads="1"/>
          </p:cNvSpPr>
          <p:nvPr/>
        </p:nvSpPr>
        <p:spPr bwMode="auto">
          <a:xfrm>
            <a:off x="0" y="33381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60" name="Rectangle 16"/>
          <p:cNvSpPr>
            <a:spLocks noChangeArrowheads="1"/>
          </p:cNvSpPr>
          <p:nvPr/>
        </p:nvSpPr>
        <p:spPr bwMode="auto">
          <a:xfrm>
            <a:off x="0" y="33381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763" name="Text Box 19"/>
          <p:cNvSpPr txBox="1">
            <a:spLocks noChangeArrowheads="1"/>
          </p:cNvSpPr>
          <p:nvPr/>
        </p:nvSpPr>
        <p:spPr bwMode="auto">
          <a:xfrm>
            <a:off x="-89694" y="5735823"/>
            <a:ext cx="40322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00000"/>
              </a:lnSpc>
              <a:spcBef>
                <a:spcPct val="20000"/>
              </a:spcBef>
            </a:pPr>
            <a:r>
              <a:rPr lang="en-US" altLang="zh-CN" sz="2000" b="1" dirty="0" smtClean="0">
                <a:latin typeface="Times New Roman" panose="02020603050405020304" pitchFamily="18" charset="0"/>
              </a:rPr>
              <a:t>Conservation </a:t>
            </a:r>
            <a:r>
              <a:rPr lang="en-US" altLang="zh-CN" sz="2000" b="1" dirty="0">
                <a:latin typeface="Times New Roman" panose="02020603050405020304" pitchFamily="18" charset="0"/>
              </a:rPr>
              <a:t>mass</a:t>
            </a:r>
            <a:endParaRPr lang="en-US" altLang="zh-CN" sz="2000" b="1" dirty="0">
              <a:latin typeface="Times New Roman" panose="02020603050405020304" pitchFamily="18" charset="0"/>
            </a:endParaRPr>
          </a:p>
        </p:txBody>
      </p:sp>
      <p:pic>
        <p:nvPicPr>
          <p:cNvPr id="31767" name="Picture 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844" y="3392338"/>
            <a:ext cx="3543972" cy="214156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1770" name="Rectangle 26"/>
          <p:cNvSpPr>
            <a:spLocks noChangeArrowheads="1"/>
          </p:cNvSpPr>
          <p:nvPr/>
        </p:nvSpPr>
        <p:spPr bwMode="auto">
          <a:xfrm>
            <a:off x="0" y="333814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mc:AlternateContent xmlns:mc="http://schemas.openxmlformats.org/markup-compatibility/2006">
        <mc:Choice xmlns:a14="http://schemas.microsoft.com/office/drawing/2010/main" Requires="a14">
          <p:sp>
            <p:nvSpPr>
              <p:cNvPr id="31764" name="Text Box 20"/>
              <p:cNvSpPr txBox="1">
                <a:spLocks noChangeArrowheads="1"/>
              </p:cNvSpPr>
              <p:nvPr/>
            </p:nvSpPr>
            <p:spPr bwMode="auto">
              <a:xfrm>
                <a:off x="3649785" y="2738106"/>
                <a:ext cx="5291015" cy="3933384"/>
              </a:xfrm>
              <a:prstGeom prst="rect">
                <a:avLst/>
              </a:prstGeom>
              <a:solidFill>
                <a:schemeClr val="accent1">
                  <a:lumMod val="40000"/>
                  <a:lumOff val="60000"/>
                </a:schemeClr>
              </a:solidFill>
              <a:ln w="19050">
                <a:solidFill>
                  <a:schemeClr val="tx1"/>
                </a:solidFill>
              </a:ln>
              <a:effectLst/>
            </p:spPr>
            <p:txBody>
              <a:bodyPr wrap="square">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eaLnBrk="1" hangingPunct="1">
                  <a:lnSpc>
                    <a:spcPct val="100000"/>
                  </a:lnSpc>
                  <a:spcBef>
                    <a:spcPct val="20000"/>
                  </a:spcBef>
                </a:pPr>
                <a:r>
                  <a:rPr lang="en-US" altLang="zh-CN" sz="2400" dirty="0" smtClean="0">
                    <a:latin typeface="Times New Roman" panose="02020603050405020304" pitchFamily="18" charset="0"/>
                  </a:rPr>
                  <a:t>According to the conservation of mass </a:t>
                </a:r>
                <a:r>
                  <a:rPr lang="zh-CN" altLang="en-US" sz="2400" dirty="0" smtClean="0">
                    <a:latin typeface="Times New Roman" panose="02020603050405020304" pitchFamily="18" charset="0"/>
                  </a:rPr>
                  <a:t>（根据质量守恒）</a:t>
                </a:r>
                <a:r>
                  <a:rPr lang="en-US" altLang="zh-CN" sz="2400" dirty="0" smtClean="0">
                    <a:latin typeface="Times New Roman" panose="02020603050405020304" pitchFamily="18" charset="0"/>
                  </a:rPr>
                  <a:t>,</a:t>
                </a:r>
                <a:endParaRPr lang="en-US" altLang="zh-CN" sz="2400" i="1" dirty="0" smtClean="0">
                  <a:latin typeface="Cambria Math" panose="02040503050406030204" pitchFamily="18" charset="0"/>
                </a:endParaRPr>
              </a:p>
              <a:p>
                <a:pPr algn="ctr" eaLnBrk="1" hangingPunct="1">
                  <a:lnSpc>
                    <a:spcPct val="100000"/>
                  </a:lnSpc>
                  <a:spcBef>
                    <a:spcPct val="20000"/>
                  </a:spcBef>
                </a:pPr>
                <a14:m>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𝜌</m:t>
                        </m:r>
                      </m:e>
                      <m:sub>
                        <m:r>
                          <a:rPr lang="en-US" altLang="zh-CN" sz="2400" b="0" i="1" smtClean="0">
                            <a:latin typeface="Cambria Math" panose="02040503050406030204" pitchFamily="18" charset="0"/>
                          </a:rPr>
                          <m:t>1</m:t>
                        </m:r>
                      </m:sub>
                    </m:sSub>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1</m:t>
                        </m:r>
                      </m:sub>
                    </m:sSub>
                    <m:sSub>
                      <m:sSubPr>
                        <m:ctrlPr>
                          <a:rPr lang="en-US" altLang="zh-CN" sz="240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𝜌</m:t>
                        </m:r>
                      </m:e>
                      <m:sub>
                        <m:r>
                          <a:rPr lang="en-US" altLang="zh-CN" sz="2400" b="0" i="1" smtClean="0">
                            <a:latin typeface="Cambria Math" panose="02040503050406030204" pitchFamily="18" charset="0"/>
                          </a:rPr>
                          <m:t>2</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2</m:t>
                        </m:r>
                      </m:sub>
                    </m:sSub>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2</m:t>
                        </m:r>
                      </m:sub>
                    </m:sSub>
                  </m:oMath>
                </a14:m>
                <a:r>
                  <a:rPr lang="zh-CN" altLang="en-US" sz="2400" dirty="0" smtClean="0">
                    <a:latin typeface="Times New Roman" panose="02020603050405020304" pitchFamily="18" charset="0"/>
                  </a:rPr>
                  <a:t>，</a:t>
                </a:r>
                <a14:m>
                  <m:oMath xmlns:m="http://schemas.openxmlformats.org/officeDocument/2006/math">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𝜌</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𝜌</m:t>
                        </m:r>
                      </m:e>
                      <m:sub>
                        <m:r>
                          <a:rPr lang="en-US" altLang="zh-CN" sz="2400" i="1">
                            <a:latin typeface="Cambria Math" panose="02040503050406030204" pitchFamily="18" charset="0"/>
                          </a:rPr>
                          <m:t>2</m:t>
                        </m:r>
                      </m:sub>
                    </m:sSub>
                  </m:oMath>
                </a14:m>
                <a:endParaRPr lang="en-US" altLang="zh-CN" sz="2400" dirty="0">
                  <a:latin typeface="Times New Roman" panose="02020603050405020304" pitchFamily="18" charset="0"/>
                </a:endParaRPr>
              </a:p>
              <a:p>
                <a:pPr eaLnBrk="1" hangingPunct="1">
                  <a:lnSpc>
                    <a:spcPct val="100000"/>
                  </a:lnSpc>
                  <a:spcBef>
                    <a:spcPct val="20000"/>
                  </a:spcBef>
                </a:pPr>
                <a:r>
                  <a:rPr lang="en-US" altLang="zh-CN" sz="2400" dirty="0" smtClean="0">
                    <a:latin typeface="Times New Roman" panose="02020603050405020304" pitchFamily="18" charset="0"/>
                  </a:rPr>
                  <a:t>For </a:t>
                </a:r>
                <a:r>
                  <a:rPr lang="en-US" altLang="zh-CN" sz="2400" dirty="0">
                    <a:latin typeface="Times New Roman" panose="02020603050405020304" pitchFamily="18" charset="0"/>
                  </a:rPr>
                  <a:t>incompressible </a:t>
                </a:r>
                <a:r>
                  <a:rPr lang="en-US" altLang="zh-CN" sz="2400" dirty="0" smtClean="0">
                    <a:latin typeface="Times New Roman" panose="02020603050405020304" pitchFamily="18" charset="0"/>
                  </a:rPr>
                  <a:t>flow </a:t>
                </a:r>
                <a:r>
                  <a:rPr lang="zh-CN" altLang="en-US" sz="2400" dirty="0" smtClean="0">
                    <a:latin typeface="Times New Roman" panose="02020603050405020304" pitchFamily="18" charset="0"/>
                  </a:rPr>
                  <a:t>（非圧缩性）</a:t>
                </a:r>
                <a:r>
                  <a:rPr lang="en-US" altLang="zh-CN" sz="2400" dirty="0" smtClean="0">
                    <a:latin typeface="Times New Roman" panose="02020603050405020304" pitchFamily="18" charset="0"/>
                  </a:rPr>
                  <a:t>, </a:t>
                </a:r>
                <a:endParaRPr lang="en-US" altLang="zh-CN" sz="2400" dirty="0" smtClean="0">
                  <a:latin typeface="Times New Roman" panose="02020603050405020304" pitchFamily="18" charset="0"/>
                </a:endParaRPr>
              </a:p>
              <a:p>
                <a:pPr algn="ctr" eaLnBrk="1" hangingPunct="1">
                  <a:lnSpc>
                    <a:spcPct val="100000"/>
                  </a:lnSpc>
                  <a:spcBef>
                    <a:spcPct val="20000"/>
                  </a:spcBef>
                </a:pP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2</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2</m:t>
                        </m:r>
                      </m:sub>
                    </m:sSub>
                  </m:oMath>
                </a14:m>
                <a:r>
                  <a:rPr lang="en-US" altLang="zh-CN" sz="2400" dirty="0">
                    <a:latin typeface="Times New Roman" panose="02020603050405020304" pitchFamily="18" charset="0"/>
                  </a:rPr>
                  <a:t> </a:t>
                </a:r>
                <a:endParaRPr lang="en-US" altLang="zh-CN" sz="2400" dirty="0" smtClean="0">
                  <a:latin typeface="Times New Roman" panose="02020603050405020304" pitchFamily="18" charset="0"/>
                </a:endParaRPr>
              </a:p>
              <a:p>
                <a:pPr eaLnBrk="1" hangingPunct="1">
                  <a:lnSpc>
                    <a:spcPct val="100000"/>
                  </a:lnSpc>
                  <a:spcBef>
                    <a:spcPct val="20000"/>
                  </a:spcBef>
                </a:pPr>
                <a:r>
                  <a:rPr lang="en-US" altLang="zh-CN" sz="2400" dirty="0" smtClean="0">
                    <a:latin typeface="Times New Roman" panose="02020603050405020304" pitchFamily="18" charset="0"/>
                  </a:rPr>
                  <a:t>or </a:t>
                </a:r>
                <a:r>
                  <a:rPr lang="zh-CN" altLang="en-US" sz="2400" dirty="0" smtClean="0">
                    <a:latin typeface="Times New Roman" panose="02020603050405020304" pitchFamily="18" charset="0"/>
                  </a:rPr>
                  <a:t>：</a:t>
                </a:r>
                <a:endParaRPr lang="en-US" altLang="zh-CN" sz="2400" dirty="0">
                  <a:latin typeface="Times New Roman" panose="02020603050405020304" pitchFamily="18" charset="0"/>
                </a:endParaRPr>
              </a:p>
              <a:p>
                <a:pPr algn="ctr" eaLnBrk="1" hangingPunct="1">
                  <a:lnSpc>
                    <a:spcPct val="100000"/>
                  </a:lnSpc>
                  <a:spcBef>
                    <a:spcPct val="20000"/>
                  </a:spcBef>
                </a:pP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𝑄</m:t>
                        </m:r>
                        <m:r>
                          <a:rPr lang="en-US" altLang="zh-CN" sz="2400" b="0" i="1" smtClean="0">
                            <a:latin typeface="Cambria Math" panose="02040503050406030204" pitchFamily="18" charset="0"/>
                          </a:rPr>
                          <m:t>=</m:t>
                        </m:r>
                        <m:r>
                          <a:rPr lang="en-US" altLang="zh-CN" sz="2400" i="1">
                            <a:latin typeface="Cambria Math" panose="02040503050406030204" pitchFamily="18" charset="0"/>
                          </a:rPr>
                          <m:t>𝑣</m:t>
                        </m:r>
                      </m:e>
                      <m:sub>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𝑣</m:t>
                        </m:r>
                      </m:e>
                      <m:sub>
                        <m:r>
                          <a:rPr lang="en-US" altLang="zh-CN" sz="2400" i="1">
                            <a:latin typeface="Cambria Math" panose="02040503050406030204" pitchFamily="18" charset="0"/>
                          </a:rPr>
                          <m:t>2</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𝑣𝐴</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𝑐𝑜𝑛𝑠𝑡𝑎𝑛𝑡</m:t>
                    </m:r>
                  </m:oMath>
                </a14:m>
                <a:r>
                  <a:rPr lang="zh-CN" altLang="en-US" sz="2400" dirty="0">
                    <a:latin typeface="Times New Roman" panose="02020603050405020304" pitchFamily="18" charset="0"/>
                  </a:rPr>
                  <a:t> </a:t>
                </a:r>
                <a:endParaRPr lang="en-US" altLang="zh-CN" sz="2400" dirty="0" smtClean="0">
                  <a:latin typeface="Times New Roman" panose="02020603050405020304" pitchFamily="18" charset="0"/>
                </a:endParaRPr>
              </a:p>
              <a:p>
                <a:pPr eaLnBrk="1" hangingPunct="1">
                  <a:lnSpc>
                    <a:spcPct val="100000"/>
                  </a:lnSpc>
                  <a:spcBef>
                    <a:spcPct val="20000"/>
                  </a:spcBef>
                </a:pPr>
                <a:r>
                  <a:rPr lang="en-US" altLang="zh-CN" sz="2400" dirty="0" smtClean="0">
                    <a:latin typeface="Times New Roman" panose="02020603050405020304" pitchFamily="18" charset="0"/>
                  </a:rPr>
                  <a:t>This is the </a:t>
                </a:r>
                <a:r>
                  <a:rPr lang="en-US" altLang="zh-CN" sz="2400" dirty="0">
                    <a:latin typeface="Times New Roman" panose="02020603050405020304" pitchFamily="18" charset="0"/>
                  </a:rPr>
                  <a:t>equation of </a:t>
                </a:r>
                <a:r>
                  <a:rPr lang="en-US" altLang="zh-CN" sz="2400" dirty="0" smtClean="0">
                    <a:latin typeface="Times New Roman" panose="02020603050405020304" pitchFamily="18" charset="0"/>
                  </a:rPr>
                  <a:t>flow continuity.</a:t>
                </a:r>
                <a:endParaRPr lang="en-US" altLang="zh-CN" sz="2400" dirty="0" smtClean="0">
                  <a:latin typeface="Times New Roman" panose="02020603050405020304" pitchFamily="18" charset="0"/>
                </a:endParaRPr>
              </a:p>
              <a:p>
                <a:pPr eaLnBrk="1" hangingPunct="1">
                  <a:lnSpc>
                    <a:spcPct val="100000"/>
                  </a:lnSpc>
                  <a:spcBef>
                    <a:spcPct val="20000"/>
                  </a:spcBef>
                </a:pPr>
                <a:r>
                  <a:rPr lang="zh-CN" altLang="en-US" sz="2400" dirty="0" smtClean="0">
                    <a:latin typeface="Times New Roman" panose="02020603050405020304" pitchFamily="18" charset="0"/>
                  </a:rPr>
                  <a:t>这就是</a:t>
                </a:r>
                <a:r>
                  <a:rPr lang="zh-CN" altLang="en-US" sz="2400" b="1" dirty="0" smtClean="0">
                    <a:solidFill>
                      <a:srgbClr val="C00000"/>
                    </a:solidFill>
                    <a:latin typeface="Times New Roman" panose="02020603050405020304" pitchFamily="18" charset="0"/>
                  </a:rPr>
                  <a:t>液流</a:t>
                </a:r>
                <a:r>
                  <a:rPr lang="zh-CN" altLang="en-US" sz="2400" b="1" dirty="0">
                    <a:solidFill>
                      <a:srgbClr val="C00000"/>
                    </a:solidFill>
                    <a:latin typeface="Times New Roman" panose="02020603050405020304" pitchFamily="18" charset="0"/>
                  </a:rPr>
                  <a:t>的流量连续性方程</a:t>
                </a:r>
                <a:endParaRPr lang="en-US" altLang="zh-CN" sz="2400" b="1" dirty="0">
                  <a:solidFill>
                    <a:srgbClr val="C00000"/>
                  </a:solidFill>
                  <a:latin typeface="Times New Roman" panose="02020603050405020304" pitchFamily="18" charset="0"/>
                </a:endParaRPr>
              </a:p>
            </p:txBody>
          </p:sp>
        </mc:Choice>
        <mc:Fallback>
          <p:sp>
            <p:nvSpPr>
              <p:cNvPr id="31764" name="Text Box 20"/>
              <p:cNvSpPr txBox="1">
                <a:spLocks noRot="1" noChangeAspect="1" noMove="1" noResize="1" noEditPoints="1" noAdjustHandles="1" noChangeArrowheads="1" noChangeShapeType="1" noTextEdit="1"/>
              </p:cNvSpPr>
              <p:nvPr/>
            </p:nvSpPr>
            <p:spPr bwMode="auto">
              <a:xfrm>
                <a:off x="3649785" y="2738106"/>
                <a:ext cx="5291015" cy="3933384"/>
              </a:xfrm>
              <a:prstGeom prst="rect">
                <a:avLst/>
              </a:prstGeom>
              <a:blipFill rotWithShape="1">
                <a:blip r:embed="rId2"/>
                <a:stretch>
                  <a:fillRect l="-188" t="-258" r="-180" b="-238"/>
                </a:stretch>
              </a:blipFill>
              <a:ln w="19050">
                <a:solidFill>
                  <a:schemeClr val="tx1"/>
                </a:solidFill>
              </a:ln>
              <a:effec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4693" name="Text Box 5"/>
              <p:cNvSpPr txBox="1">
                <a:spLocks noChangeArrowheads="1"/>
              </p:cNvSpPr>
              <p:nvPr/>
            </p:nvSpPr>
            <p:spPr bwMode="auto">
              <a:xfrm>
                <a:off x="287337" y="1184276"/>
                <a:ext cx="8569325" cy="4023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spcBef>
                    <a:spcPct val="0"/>
                  </a:spcBef>
                  <a:defRPr>
                    <a:solidFill>
                      <a:schemeClr val="tx1"/>
                    </a:solidFill>
                    <a:latin typeface="Arial" panose="020B0604020202020204" pitchFamily="34" charset="0"/>
                  </a:defRPr>
                </a:lvl1pPr>
                <a:lvl2pPr eaLnBrk="0" hangingPunct="0">
                  <a:spcBef>
                    <a:spcPct val="0"/>
                  </a:spcBef>
                  <a:defRPr>
                    <a:solidFill>
                      <a:schemeClr val="tx1"/>
                    </a:solidFill>
                    <a:latin typeface="Arial" panose="020B0604020202020204" pitchFamily="34" charset="0"/>
                  </a:defRPr>
                </a:lvl2pPr>
                <a:lvl3pPr eaLnBrk="0" hangingPunct="0">
                  <a:spcBef>
                    <a:spcPct val="0"/>
                  </a:spcBef>
                  <a:defRPr>
                    <a:solidFill>
                      <a:schemeClr val="tx1"/>
                    </a:solidFill>
                    <a:latin typeface="Arial" panose="020B0604020202020204" pitchFamily="34" charset="0"/>
                  </a:defRPr>
                </a:lvl3pPr>
                <a:lvl4pPr eaLnBrk="0" hangingPunct="0">
                  <a:spcBef>
                    <a:spcPct val="0"/>
                  </a:spcBef>
                  <a:defRPr>
                    <a:solidFill>
                      <a:schemeClr val="tx1"/>
                    </a:solidFill>
                    <a:latin typeface="Arial" panose="020B0604020202020204" pitchFamily="34" charset="0"/>
                  </a:defRPr>
                </a:lvl4pPr>
                <a:lvl5pPr eaLnBrk="0" hangingPunct="0">
                  <a:spcBef>
                    <a:spcPct val="0"/>
                  </a:spcBef>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20000"/>
                  </a:lnSpc>
                  <a:spcBef>
                    <a:spcPts val="0"/>
                  </a:spcBef>
                  <a:spcAft>
                    <a:spcPts val="600"/>
                  </a:spcAft>
                </a:pPr>
                <a:r>
                  <a:rPr lang="zh-CN" altLang="en-US" sz="2400" dirty="0" smtClean="0">
                    <a:latin typeface="宋体" panose="02010600030101010101" pitchFamily="2" charset="-122"/>
                  </a:rPr>
                  <a:t>   </a:t>
                </a:r>
                <a:endParaRPr lang="zh-CN" altLang="en-US" sz="2400" b="1" dirty="0">
                  <a:latin typeface="宋体" panose="02010600030101010101" pitchFamily="2" charset="-122"/>
                </a:endParaRPr>
              </a:p>
              <a:p>
                <a:pPr marL="0" indent="0" eaLnBrk="1" hangingPunct="1">
                  <a:lnSpc>
                    <a:spcPct val="120000"/>
                  </a:lnSpc>
                  <a:spcBef>
                    <a:spcPct val="20000"/>
                  </a:spcBef>
                </a:pPr>
                <a:r>
                  <a:rPr lang="zh-CN" altLang="en-US" sz="2400" dirty="0" smtClean="0">
                    <a:latin typeface="宋体" panose="02010600030101010101" pitchFamily="2" charset="-122"/>
                  </a:rPr>
                  <a:t>紊流</a:t>
                </a:r>
                <a:r>
                  <a:rPr lang="zh-CN" altLang="en-US" sz="2400" dirty="0">
                    <a:latin typeface="宋体" panose="02010600030101010101" pitchFamily="2" charset="-122"/>
                  </a:rPr>
                  <a:t>时</a:t>
                </a:r>
                <a14:m>
                  <m:oMath xmlns:m="http://schemas.openxmlformats.org/officeDocument/2006/math">
                    <m:r>
                      <a:rPr lang="zh-CN" altLang="en-US" sz="2400" i="1">
                        <a:latin typeface="Cambria Math" panose="02040503050406030204" pitchFamily="18" charset="0"/>
                      </a:rPr>
                      <m:t>𝛼</m:t>
                    </m:r>
                    <m:r>
                      <a:rPr lang="en-US" altLang="zh-CN" sz="2400" i="1" smtClean="0">
                        <a:latin typeface="Cambria Math" panose="02040503050406030204" pitchFamily="18" charset="0"/>
                      </a:rPr>
                      <m:t>=</m:t>
                    </m:r>
                  </m:oMath>
                </a14:m>
                <a:r>
                  <a:rPr lang="en-US" altLang="zh-CN" sz="2400" dirty="0" smtClean="0">
                    <a:latin typeface="Times New Roman" panose="02020603050405020304" pitchFamily="18" charset="0"/>
                  </a:rPr>
                  <a:t>1.1</a:t>
                </a:r>
                <a:r>
                  <a:rPr lang="zh-CN" altLang="en-US" sz="2400" dirty="0" smtClean="0">
                    <a:latin typeface="宋体" panose="02010600030101010101" pitchFamily="2" charset="-122"/>
                  </a:rPr>
                  <a:t>，</a:t>
                </a:r>
                <a:r>
                  <a:rPr lang="zh-CN" altLang="en-US" sz="2400" dirty="0">
                    <a:latin typeface="宋体" panose="02010600030101010101" pitchFamily="2" charset="-122"/>
                  </a:rPr>
                  <a:t>层流时</a:t>
                </a:r>
                <a14:m>
                  <m:oMath xmlns:m="http://schemas.openxmlformats.org/officeDocument/2006/math">
                    <m:r>
                      <a:rPr lang="zh-CN" altLang="en-US" sz="2400" i="1">
                        <a:latin typeface="Cambria Math" panose="02040503050406030204" pitchFamily="18" charset="0"/>
                      </a:rPr>
                      <m:t>𝛼</m:t>
                    </m:r>
                    <m:r>
                      <a:rPr lang="en-US" altLang="zh-CN" sz="2400" i="1">
                        <a:latin typeface="Cambria Math" panose="02040503050406030204" pitchFamily="18" charset="0"/>
                      </a:rPr>
                      <m:t>=</m:t>
                    </m:r>
                  </m:oMath>
                </a14:m>
                <a:r>
                  <a:rPr lang="en-US" altLang="zh-CN" sz="2400" dirty="0" smtClean="0">
                    <a:latin typeface="Times New Roman" panose="02020603050405020304" pitchFamily="18" charset="0"/>
                  </a:rPr>
                  <a:t>2</a:t>
                </a:r>
                <a:r>
                  <a:rPr lang="en-US" altLang="zh-CN" sz="2400" dirty="0">
                    <a:latin typeface="Times New Roman" panose="02020603050405020304" pitchFamily="18" charset="0"/>
                  </a:rPr>
                  <a:t> </a:t>
                </a:r>
                <a:r>
                  <a:rPr lang="zh-CN" altLang="en-US" sz="2400" dirty="0">
                    <a:latin typeface="宋体" panose="02010600030101010101" pitchFamily="2" charset="-122"/>
                  </a:rPr>
                  <a:t>，实际计算常取</a:t>
                </a:r>
                <a14:m>
                  <m:oMath xmlns:m="http://schemas.openxmlformats.org/officeDocument/2006/math">
                    <m:r>
                      <a:rPr lang="zh-CN" altLang="en-US" sz="2400" i="1">
                        <a:latin typeface="Cambria Math" panose="02040503050406030204" pitchFamily="18" charset="0"/>
                      </a:rPr>
                      <m:t>𝛼</m:t>
                    </m:r>
                    <m:r>
                      <a:rPr lang="en-US" altLang="zh-CN" sz="2400" i="1">
                        <a:latin typeface="Cambria Math" panose="02040503050406030204" pitchFamily="18" charset="0"/>
                      </a:rPr>
                      <m:t>=</m:t>
                    </m:r>
                  </m:oMath>
                </a14:m>
                <a:r>
                  <a:rPr lang="en-US" altLang="zh-CN" sz="2400" dirty="0" smtClean="0">
                    <a:latin typeface="Times New Roman" panose="02020603050405020304" pitchFamily="18" charset="0"/>
                  </a:rPr>
                  <a:t>1.0</a:t>
                </a:r>
                <a:r>
                  <a:rPr lang="zh-CN" altLang="en-US" sz="2400" dirty="0" smtClean="0">
                    <a:latin typeface="宋体" panose="02010600030101010101" pitchFamily="2" charset="-122"/>
                  </a:rPr>
                  <a:t>。</a:t>
                </a:r>
                <a:endParaRPr lang="en-US" altLang="zh-CN" sz="2400" dirty="0" smtClean="0">
                  <a:latin typeface="宋体" panose="02010600030101010101" pitchFamily="2" charset="-122"/>
                </a:endParaRPr>
              </a:p>
              <a:p>
                <a:pPr marL="0" indent="0" eaLnBrk="1" hangingPunct="1">
                  <a:lnSpc>
                    <a:spcPct val="120000"/>
                  </a:lnSpc>
                  <a:spcBef>
                    <a:spcPts val="0"/>
                  </a:spcBef>
                  <a:spcAft>
                    <a:spcPts val="600"/>
                  </a:spcAft>
                </a:pPr>
                <a:r>
                  <a:rPr lang="zh-CN" altLang="en-US" sz="2400" dirty="0" smtClean="0">
                    <a:latin typeface="宋体" panose="02010600030101010101" pitchFamily="2" charset="-122"/>
                  </a:rPr>
                  <a:t>   在</a:t>
                </a:r>
                <a:r>
                  <a:rPr lang="zh-CN" altLang="en-US" sz="2400" dirty="0">
                    <a:latin typeface="宋体" panose="02010600030101010101" pitchFamily="2" charset="-122"/>
                  </a:rPr>
                  <a:t>引进了能量损失</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ℎ</m:t>
                        </m:r>
                      </m:e>
                      <m:sub>
                        <m:r>
                          <a:rPr lang="en-US" altLang="zh-CN" sz="2400" i="1">
                            <a:latin typeface="Cambria Math" panose="02040503050406030204" pitchFamily="18" charset="0"/>
                          </a:rPr>
                          <m:t>𝑤</m:t>
                        </m:r>
                      </m:sub>
                    </m:sSub>
                  </m:oMath>
                </a14:m>
                <a:r>
                  <a:rPr lang="zh-CN" altLang="en-US" sz="2400" dirty="0">
                    <a:latin typeface="宋体" panose="02010600030101010101" pitchFamily="2" charset="-122"/>
                  </a:rPr>
                  <a:t>和动能修正系数</a:t>
                </a:r>
                <a14:m>
                  <m:oMath xmlns:m="http://schemas.openxmlformats.org/officeDocument/2006/math">
                    <m:r>
                      <a:rPr lang="zh-CN" altLang="en-US" sz="2400" i="1">
                        <a:latin typeface="Cambria Math" panose="02040503050406030204" pitchFamily="18" charset="0"/>
                      </a:rPr>
                      <m:t>𝛼</m:t>
                    </m:r>
                  </m:oMath>
                </a14:m>
                <a:r>
                  <a:rPr lang="zh-CN" altLang="en-US" sz="2400" dirty="0">
                    <a:latin typeface="宋体" panose="02010600030101010101" pitchFamily="2" charset="-122"/>
                  </a:rPr>
                  <a:t>后，实际液体的</a:t>
                </a:r>
                <a:r>
                  <a:rPr lang="zh-CN" altLang="en-US" sz="2400" dirty="0" smtClean="0">
                    <a:latin typeface="宋体" panose="02010600030101010101" pitchFamily="2" charset="-122"/>
                  </a:rPr>
                  <a:t>伯努利方程</a:t>
                </a:r>
                <a:r>
                  <a:rPr lang="zh-CN" altLang="en-US" sz="2400" dirty="0">
                    <a:latin typeface="宋体" panose="02010600030101010101" pitchFamily="2" charset="-122"/>
                  </a:rPr>
                  <a:t>表示</a:t>
                </a:r>
                <a:r>
                  <a:rPr lang="zh-CN" altLang="en-US" sz="2400" dirty="0" smtClean="0">
                    <a:latin typeface="宋体" panose="02010600030101010101" pitchFamily="2" charset="-122"/>
                  </a:rPr>
                  <a:t>为：</a:t>
                </a:r>
                <a:endParaRPr lang="zh-CN" altLang="en-US" sz="2400" dirty="0">
                  <a:latin typeface="宋体" panose="02010600030101010101" pitchFamily="2" charset="-122"/>
                </a:endParaRPr>
              </a:p>
              <a:p>
                <a:pPr eaLnBrk="1" hangingPunct="1">
                  <a:lnSpc>
                    <a:spcPct val="120000"/>
                  </a:lnSpc>
                  <a:spcBef>
                    <a:spcPct val="20000"/>
                  </a:spcBef>
                </a:pPr>
                <a14:m>
                  <m:oMathPara xmlns:m="http://schemas.openxmlformats.org/officeDocument/2006/math">
                    <m:oMathParaPr>
                      <m:jc m:val="centerGroup"/>
                    </m:oMathParaPr>
                    <m:oMath xmlns:m="http://schemas.openxmlformats.org/officeDocument/2006/math">
                      <m:sSub>
                        <m:sSubPr>
                          <m:ctrlPr>
                            <a:rPr lang="en-US" altLang="zh-CN" sz="2400" b="1" i="1" smtClean="0">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𝒛</m:t>
                          </m:r>
                        </m:e>
                        <m:sub>
                          <m:r>
                            <a:rPr lang="en-US" altLang="zh-CN" sz="2400" b="1" i="1">
                              <a:solidFill>
                                <a:srgbClr val="C00000"/>
                              </a:solidFill>
                              <a:latin typeface="Cambria Math" panose="02040503050406030204" pitchFamily="18" charset="0"/>
                            </a:rPr>
                            <m:t>𝟏</m:t>
                          </m:r>
                        </m:sub>
                      </m:sSub>
                      <m:r>
                        <a:rPr lang="en-US" altLang="zh-CN" sz="2400" b="1" i="1">
                          <a:solidFill>
                            <a:srgbClr val="C00000"/>
                          </a:solidFill>
                          <a:latin typeface="Cambria Math" panose="02040503050406030204" pitchFamily="18" charset="0"/>
                        </a:rPr>
                        <m:t>+</m:t>
                      </m:r>
                      <m:f>
                        <m:fPr>
                          <m:ctrlPr>
                            <a:rPr lang="en-US" altLang="zh-CN" sz="2400" b="1" i="1">
                              <a:solidFill>
                                <a:srgbClr val="C00000"/>
                              </a:solidFill>
                              <a:latin typeface="Cambria Math" panose="02040503050406030204" pitchFamily="18" charset="0"/>
                            </a:rPr>
                          </m:ctrlPr>
                        </m:fPr>
                        <m:num>
                          <m:sSub>
                            <m:sSubPr>
                              <m:ctrlPr>
                                <a:rPr lang="en-US" altLang="zh-CN" sz="2400" b="1" i="1">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𝒑</m:t>
                              </m:r>
                            </m:e>
                            <m:sub>
                              <m:r>
                                <a:rPr lang="en-US" altLang="zh-CN" sz="2400" b="1" i="1">
                                  <a:solidFill>
                                    <a:srgbClr val="C00000"/>
                                  </a:solidFill>
                                  <a:latin typeface="Cambria Math" panose="02040503050406030204" pitchFamily="18" charset="0"/>
                                </a:rPr>
                                <m:t>𝟏</m:t>
                              </m:r>
                            </m:sub>
                          </m:sSub>
                        </m:num>
                        <m:den>
                          <m:r>
                            <a:rPr lang="zh-CN" altLang="en-US" sz="2400" b="1" i="1">
                              <a:solidFill>
                                <a:srgbClr val="C00000"/>
                              </a:solidFill>
                              <a:latin typeface="Cambria Math" panose="02040503050406030204" pitchFamily="18" charset="0"/>
                            </a:rPr>
                            <m:t>𝝆</m:t>
                          </m:r>
                          <m:r>
                            <a:rPr lang="en-US" altLang="zh-CN" sz="2400" b="1" i="1">
                              <a:solidFill>
                                <a:srgbClr val="C00000"/>
                              </a:solidFill>
                              <a:latin typeface="Cambria Math" panose="02040503050406030204" pitchFamily="18" charset="0"/>
                            </a:rPr>
                            <m:t>𝒈</m:t>
                          </m:r>
                        </m:den>
                      </m:f>
                      <m:r>
                        <a:rPr lang="en-US" altLang="zh-CN" sz="2400" b="1" i="1">
                          <a:solidFill>
                            <a:srgbClr val="C00000"/>
                          </a:solidFill>
                          <a:latin typeface="Cambria Math" panose="02040503050406030204" pitchFamily="18" charset="0"/>
                        </a:rPr>
                        <m:t>+</m:t>
                      </m:r>
                      <m:f>
                        <m:fPr>
                          <m:ctrlPr>
                            <a:rPr lang="en-US" altLang="zh-CN" sz="2400" b="1" i="1">
                              <a:solidFill>
                                <a:srgbClr val="C00000"/>
                              </a:solidFill>
                              <a:latin typeface="Cambria Math" panose="02040503050406030204" pitchFamily="18" charset="0"/>
                            </a:rPr>
                          </m:ctrlPr>
                        </m:fPr>
                        <m:num>
                          <m:sSubSup>
                            <m:sSubSupPr>
                              <m:ctrlPr>
                                <a:rPr lang="en-US" altLang="zh-CN" sz="2400" b="1" i="1">
                                  <a:solidFill>
                                    <a:srgbClr val="C00000"/>
                                  </a:solidFill>
                                  <a:latin typeface="Cambria Math" panose="02040503050406030204" pitchFamily="18" charset="0"/>
                                </a:rPr>
                              </m:ctrlPr>
                            </m:sSubSupPr>
                            <m:e>
                              <m:sSub>
                                <m:sSubPr>
                                  <m:ctrlPr>
                                    <a:rPr lang="en-US" altLang="zh-CN" sz="2400" b="1" i="1" smtClean="0">
                                      <a:solidFill>
                                        <a:srgbClr val="C00000"/>
                                      </a:solidFill>
                                      <a:latin typeface="Cambria Math" panose="02040503050406030204" pitchFamily="18" charset="0"/>
                                    </a:rPr>
                                  </m:ctrlPr>
                                </m:sSubPr>
                                <m:e>
                                  <m:r>
                                    <a:rPr lang="zh-CN" altLang="en-US" sz="2400" b="1" i="1" smtClean="0">
                                      <a:solidFill>
                                        <a:srgbClr val="C00000"/>
                                      </a:solidFill>
                                      <a:latin typeface="Cambria Math" panose="02040503050406030204" pitchFamily="18" charset="0"/>
                                    </a:rPr>
                                    <m:t>𝜶</m:t>
                                  </m:r>
                                </m:e>
                                <m:sub>
                                  <m:r>
                                    <a:rPr lang="en-US" altLang="zh-CN" sz="2400" b="1" i="1" smtClean="0">
                                      <a:solidFill>
                                        <a:srgbClr val="C00000"/>
                                      </a:solidFill>
                                      <a:latin typeface="Cambria Math" panose="02040503050406030204" pitchFamily="18" charset="0"/>
                                    </a:rPr>
                                    <m:t>𝟏</m:t>
                                  </m:r>
                                </m:sub>
                              </m:sSub>
                              <m:r>
                                <a:rPr lang="en-US" altLang="zh-CN" sz="2400" b="1" i="1">
                                  <a:solidFill>
                                    <a:srgbClr val="C00000"/>
                                  </a:solidFill>
                                  <a:latin typeface="Cambria Math" panose="02040503050406030204" pitchFamily="18" charset="0"/>
                                </a:rPr>
                                <m:t>𝒗</m:t>
                              </m:r>
                            </m:e>
                            <m:sub>
                              <m:r>
                                <a:rPr lang="en-US" altLang="zh-CN" sz="2400" b="1" i="1">
                                  <a:solidFill>
                                    <a:srgbClr val="C00000"/>
                                  </a:solidFill>
                                  <a:latin typeface="Cambria Math" panose="02040503050406030204" pitchFamily="18" charset="0"/>
                                </a:rPr>
                                <m:t>𝟏</m:t>
                              </m:r>
                            </m:sub>
                            <m:sup>
                              <m:r>
                                <a:rPr lang="en-US" altLang="zh-CN" sz="2400" b="1" i="1">
                                  <a:solidFill>
                                    <a:srgbClr val="C00000"/>
                                  </a:solidFill>
                                  <a:latin typeface="Cambria Math" panose="02040503050406030204" pitchFamily="18" charset="0"/>
                                </a:rPr>
                                <m:t>𝟐</m:t>
                              </m:r>
                            </m:sup>
                          </m:sSubSup>
                        </m:num>
                        <m:den>
                          <m:r>
                            <a:rPr lang="en-US" altLang="zh-CN" sz="2400" b="1" i="1">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𝒈</m:t>
                          </m:r>
                        </m:den>
                      </m:f>
                      <m:r>
                        <a:rPr lang="en-US" altLang="zh-CN" sz="2400" b="1" i="1">
                          <a:solidFill>
                            <a:srgbClr val="C00000"/>
                          </a:solidFill>
                          <a:latin typeface="Cambria Math" panose="02040503050406030204" pitchFamily="18" charset="0"/>
                        </a:rPr>
                        <m:t>=</m:t>
                      </m:r>
                      <m:sSub>
                        <m:sSubPr>
                          <m:ctrlPr>
                            <a:rPr lang="en-US" altLang="zh-CN" sz="2400" b="1" i="1">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𝒛</m:t>
                          </m:r>
                        </m:e>
                        <m:sub>
                          <m:r>
                            <a:rPr lang="en-US" altLang="zh-CN" sz="2400" b="1" i="1">
                              <a:solidFill>
                                <a:srgbClr val="C00000"/>
                              </a:solidFill>
                              <a:latin typeface="Cambria Math" panose="02040503050406030204" pitchFamily="18" charset="0"/>
                            </a:rPr>
                            <m:t>𝟐</m:t>
                          </m:r>
                        </m:sub>
                      </m:sSub>
                      <m:r>
                        <a:rPr lang="en-US" altLang="zh-CN" sz="2400" b="1" i="1">
                          <a:solidFill>
                            <a:srgbClr val="C00000"/>
                          </a:solidFill>
                          <a:latin typeface="Cambria Math" panose="02040503050406030204" pitchFamily="18" charset="0"/>
                        </a:rPr>
                        <m:t>+</m:t>
                      </m:r>
                      <m:f>
                        <m:fPr>
                          <m:ctrlPr>
                            <a:rPr lang="en-US" altLang="zh-CN" sz="2400" b="1" i="1">
                              <a:solidFill>
                                <a:srgbClr val="C00000"/>
                              </a:solidFill>
                              <a:latin typeface="Cambria Math" panose="02040503050406030204" pitchFamily="18" charset="0"/>
                            </a:rPr>
                          </m:ctrlPr>
                        </m:fPr>
                        <m:num>
                          <m:sSub>
                            <m:sSubPr>
                              <m:ctrlPr>
                                <a:rPr lang="en-US" altLang="zh-CN" sz="2400" b="1" i="1">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𝒑</m:t>
                              </m:r>
                            </m:e>
                            <m:sub>
                              <m:r>
                                <a:rPr lang="en-US" altLang="zh-CN" sz="2400" b="1" i="1">
                                  <a:solidFill>
                                    <a:srgbClr val="C00000"/>
                                  </a:solidFill>
                                  <a:latin typeface="Cambria Math" panose="02040503050406030204" pitchFamily="18" charset="0"/>
                                </a:rPr>
                                <m:t>𝟐</m:t>
                              </m:r>
                            </m:sub>
                          </m:sSub>
                        </m:num>
                        <m:den>
                          <m:r>
                            <a:rPr lang="zh-CN" altLang="en-US" sz="2400" b="1" i="1">
                              <a:solidFill>
                                <a:srgbClr val="C00000"/>
                              </a:solidFill>
                              <a:latin typeface="Cambria Math" panose="02040503050406030204" pitchFamily="18" charset="0"/>
                            </a:rPr>
                            <m:t>𝝆</m:t>
                          </m:r>
                          <m:r>
                            <a:rPr lang="en-US" altLang="zh-CN" sz="2400" b="1" i="1">
                              <a:solidFill>
                                <a:srgbClr val="C00000"/>
                              </a:solidFill>
                              <a:latin typeface="Cambria Math" panose="02040503050406030204" pitchFamily="18" charset="0"/>
                            </a:rPr>
                            <m:t>𝒈</m:t>
                          </m:r>
                        </m:den>
                      </m:f>
                      <m:r>
                        <a:rPr lang="en-US" altLang="zh-CN" sz="2400" b="1" i="1">
                          <a:solidFill>
                            <a:srgbClr val="C00000"/>
                          </a:solidFill>
                          <a:latin typeface="Cambria Math" panose="02040503050406030204" pitchFamily="18" charset="0"/>
                        </a:rPr>
                        <m:t>+</m:t>
                      </m:r>
                      <m:f>
                        <m:fPr>
                          <m:ctrlPr>
                            <a:rPr lang="en-US" altLang="zh-CN" sz="2400" b="1" i="1">
                              <a:solidFill>
                                <a:srgbClr val="C00000"/>
                              </a:solidFill>
                              <a:latin typeface="Cambria Math" panose="02040503050406030204" pitchFamily="18" charset="0"/>
                            </a:rPr>
                          </m:ctrlPr>
                        </m:fPr>
                        <m:num>
                          <m:sSubSup>
                            <m:sSubSupPr>
                              <m:ctrlPr>
                                <a:rPr lang="en-US" altLang="zh-CN" sz="2400" b="1" i="1">
                                  <a:solidFill>
                                    <a:srgbClr val="C00000"/>
                                  </a:solidFill>
                                  <a:latin typeface="Cambria Math" panose="02040503050406030204" pitchFamily="18" charset="0"/>
                                </a:rPr>
                              </m:ctrlPr>
                            </m:sSubSupPr>
                            <m:e>
                              <m:sSub>
                                <m:sSubPr>
                                  <m:ctrlPr>
                                    <a:rPr lang="en-US" altLang="zh-CN" sz="2400" b="1" i="1" smtClean="0">
                                      <a:solidFill>
                                        <a:srgbClr val="C00000"/>
                                      </a:solidFill>
                                      <a:latin typeface="Cambria Math" panose="02040503050406030204" pitchFamily="18" charset="0"/>
                                    </a:rPr>
                                  </m:ctrlPr>
                                </m:sSubPr>
                                <m:e>
                                  <m:r>
                                    <a:rPr lang="zh-CN" altLang="en-US" sz="2400" b="1" i="1" smtClean="0">
                                      <a:solidFill>
                                        <a:srgbClr val="C00000"/>
                                      </a:solidFill>
                                      <a:latin typeface="Cambria Math" panose="02040503050406030204" pitchFamily="18" charset="0"/>
                                    </a:rPr>
                                    <m:t>𝜶</m:t>
                                  </m:r>
                                </m:e>
                                <m:sub>
                                  <m:r>
                                    <a:rPr lang="en-US" altLang="zh-CN" sz="2400" b="1" i="1" smtClean="0">
                                      <a:solidFill>
                                        <a:srgbClr val="C00000"/>
                                      </a:solidFill>
                                      <a:latin typeface="Cambria Math" panose="02040503050406030204" pitchFamily="18" charset="0"/>
                                    </a:rPr>
                                    <m:t>𝟐</m:t>
                                  </m:r>
                                </m:sub>
                              </m:sSub>
                              <m:r>
                                <a:rPr lang="en-US" altLang="zh-CN" sz="2400" b="1" i="1">
                                  <a:solidFill>
                                    <a:srgbClr val="C00000"/>
                                  </a:solidFill>
                                  <a:latin typeface="Cambria Math" panose="02040503050406030204" pitchFamily="18" charset="0"/>
                                </a:rPr>
                                <m:t>𝒗</m:t>
                              </m:r>
                            </m:e>
                            <m:sub>
                              <m:r>
                                <a:rPr lang="en-US" altLang="zh-CN" sz="2400" b="1" i="1">
                                  <a:solidFill>
                                    <a:srgbClr val="C00000"/>
                                  </a:solidFill>
                                  <a:latin typeface="Cambria Math" panose="02040503050406030204" pitchFamily="18" charset="0"/>
                                </a:rPr>
                                <m:t>𝟐</m:t>
                              </m:r>
                            </m:sub>
                            <m:sup>
                              <m:r>
                                <a:rPr lang="en-US" altLang="zh-CN" sz="2400" b="1" i="1">
                                  <a:solidFill>
                                    <a:srgbClr val="C00000"/>
                                  </a:solidFill>
                                  <a:latin typeface="Cambria Math" panose="02040503050406030204" pitchFamily="18" charset="0"/>
                                </a:rPr>
                                <m:t>𝟐</m:t>
                              </m:r>
                            </m:sup>
                          </m:sSubSup>
                        </m:num>
                        <m:den>
                          <m:r>
                            <a:rPr lang="en-US" altLang="zh-CN" sz="2400" b="1" i="1">
                              <a:solidFill>
                                <a:srgbClr val="C00000"/>
                              </a:solidFill>
                              <a:latin typeface="Cambria Math" panose="02040503050406030204" pitchFamily="18" charset="0"/>
                            </a:rPr>
                            <m:t>𝟐</m:t>
                          </m:r>
                          <m:r>
                            <a:rPr lang="en-US" altLang="zh-CN" sz="2400" b="1" i="1">
                              <a:solidFill>
                                <a:srgbClr val="C00000"/>
                              </a:solidFill>
                              <a:latin typeface="Cambria Math" panose="02040503050406030204" pitchFamily="18" charset="0"/>
                            </a:rPr>
                            <m:t>𝒈</m:t>
                          </m:r>
                        </m:den>
                      </m:f>
                      <m:r>
                        <a:rPr lang="en-US" altLang="zh-CN" sz="2400" b="1" i="1" smtClean="0">
                          <a:solidFill>
                            <a:srgbClr val="C00000"/>
                          </a:solidFill>
                          <a:latin typeface="Cambria Math" panose="02040503050406030204" pitchFamily="18" charset="0"/>
                        </a:rPr>
                        <m:t>+</m:t>
                      </m:r>
                      <m:sSub>
                        <m:sSubPr>
                          <m:ctrlPr>
                            <a:rPr lang="en-US" altLang="zh-CN" sz="2400" b="1" i="1">
                              <a:solidFill>
                                <a:srgbClr val="C00000"/>
                              </a:solidFill>
                              <a:latin typeface="Cambria Math" panose="02040503050406030204" pitchFamily="18" charset="0"/>
                            </a:rPr>
                          </m:ctrlPr>
                        </m:sSubPr>
                        <m:e>
                          <m:r>
                            <a:rPr lang="en-US" altLang="zh-CN" sz="2400" b="1" i="1">
                              <a:solidFill>
                                <a:srgbClr val="C00000"/>
                              </a:solidFill>
                              <a:latin typeface="Cambria Math" panose="02040503050406030204" pitchFamily="18" charset="0"/>
                            </a:rPr>
                            <m:t>𝒉</m:t>
                          </m:r>
                        </m:e>
                        <m:sub>
                          <m:r>
                            <a:rPr lang="en-US" altLang="zh-CN" sz="2400" b="1" i="1">
                              <a:solidFill>
                                <a:srgbClr val="C00000"/>
                              </a:solidFill>
                              <a:latin typeface="Cambria Math" panose="02040503050406030204" pitchFamily="18" charset="0"/>
                            </a:rPr>
                            <m:t>𝒘</m:t>
                          </m:r>
                        </m:sub>
                      </m:sSub>
                    </m:oMath>
                  </m:oMathPara>
                </a14:m>
                <a:endParaRPr lang="en-US" altLang="zh-CN" sz="2400" b="1" dirty="0" smtClean="0">
                  <a:latin typeface="宋体" panose="02010600030101010101" pitchFamily="2" charset="-122"/>
                </a:endParaRPr>
              </a:p>
              <a:p>
                <a:pPr eaLnBrk="1" hangingPunct="1">
                  <a:lnSpc>
                    <a:spcPct val="120000"/>
                  </a:lnSpc>
                  <a:spcBef>
                    <a:spcPct val="20000"/>
                  </a:spcBef>
                </a:pPr>
                <a:r>
                  <a:rPr lang="zh-CN" altLang="en-US" sz="2000" b="1" dirty="0" smtClean="0">
                    <a:solidFill>
                      <a:srgbClr val="0070C0"/>
                    </a:solidFill>
                    <a:latin typeface="宋体" panose="02010600030101010101" pitchFamily="2" charset="-122"/>
                  </a:rPr>
                  <a:t>注意</a:t>
                </a:r>
                <a:r>
                  <a:rPr lang="zh-CN" altLang="en-US" sz="2000" b="1" dirty="0">
                    <a:solidFill>
                      <a:srgbClr val="0070C0"/>
                    </a:solidFill>
                    <a:latin typeface="宋体" panose="02010600030101010101" pitchFamily="2" charset="-122"/>
                  </a:rPr>
                  <a:t>：截面</a:t>
                </a:r>
                <a:r>
                  <a:rPr lang="en-US" altLang="zh-CN" sz="2000" b="1" dirty="0">
                    <a:solidFill>
                      <a:srgbClr val="0070C0"/>
                    </a:solidFill>
                    <a:latin typeface="宋体" panose="02010600030101010101" pitchFamily="2" charset="-122"/>
                  </a:rPr>
                  <a:t>1</a:t>
                </a:r>
                <a:r>
                  <a:rPr lang="zh-CN" altLang="en-US" sz="2000" b="1" dirty="0">
                    <a:solidFill>
                      <a:srgbClr val="0070C0"/>
                    </a:solidFill>
                    <a:latin typeface="宋体" panose="02010600030101010101" pitchFamily="2" charset="-122"/>
                  </a:rPr>
                  <a:t>、</a:t>
                </a:r>
                <a:r>
                  <a:rPr lang="en-US" altLang="zh-CN" sz="2000" b="1" dirty="0">
                    <a:solidFill>
                      <a:srgbClr val="0070C0"/>
                    </a:solidFill>
                    <a:latin typeface="宋体" panose="02010600030101010101" pitchFamily="2" charset="-122"/>
                  </a:rPr>
                  <a:t>2</a:t>
                </a:r>
                <a:r>
                  <a:rPr lang="zh-CN" altLang="en-US" sz="2000" b="1" dirty="0">
                    <a:solidFill>
                      <a:srgbClr val="0070C0"/>
                    </a:solidFill>
                    <a:latin typeface="宋体" panose="02010600030101010101" pitchFamily="2" charset="-122"/>
                  </a:rPr>
                  <a:t>应顺流向选取。</a:t>
                </a:r>
                <a:endParaRPr lang="zh-CN" altLang="en-US" sz="2000" b="1" dirty="0">
                  <a:solidFill>
                    <a:srgbClr val="0070C0"/>
                  </a:solidFill>
                  <a:latin typeface="宋体" panose="02010600030101010101" pitchFamily="2" charset="-122"/>
                </a:endParaRPr>
              </a:p>
              <a:p>
                <a:pPr eaLnBrk="1" hangingPunct="1">
                  <a:lnSpc>
                    <a:spcPct val="120000"/>
                  </a:lnSpc>
                  <a:spcBef>
                    <a:spcPct val="20000"/>
                  </a:spcBef>
                </a:pPr>
                <a:endParaRPr lang="zh-CN" altLang="en-US" sz="2400" dirty="0">
                  <a:latin typeface="宋体" panose="02010600030101010101" pitchFamily="2" charset="-122"/>
                </a:endParaRPr>
              </a:p>
            </p:txBody>
          </p:sp>
        </mc:Choice>
        <mc:Fallback>
          <p:sp>
            <p:nvSpPr>
              <p:cNvPr id="114693" name="Text Box 5"/>
              <p:cNvSpPr txBox="1">
                <a:spLocks noRot="1" noChangeAspect="1" noMove="1" noResize="1" noEditPoints="1" noAdjustHandles="1" noChangeArrowheads="1" noChangeShapeType="1" noTextEdit="1"/>
              </p:cNvSpPr>
              <p:nvPr/>
            </p:nvSpPr>
            <p:spPr bwMode="auto">
              <a:xfrm>
                <a:off x="287337" y="1184276"/>
                <a:ext cx="8569325" cy="4023360"/>
              </a:xfrm>
              <a:prstGeom prst="rect">
                <a:avLst/>
              </a:prstGeom>
              <a:blipFill rotWithShape="1">
                <a:blip r:embed="rId1"/>
                <a:stretch>
                  <a:fillRect l="-4" r="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14695" name="Rectangle 7"/>
          <p:cNvSpPr>
            <a:spLocks noChangeArrowheads="1"/>
          </p:cNvSpPr>
          <p:nvPr/>
        </p:nvSpPr>
        <p:spPr bwMode="auto">
          <a:xfrm>
            <a:off x="0" y="3048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14698" name="Rectangle 10"/>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 name="标题 1"/>
          <p:cNvSpPr>
            <a:spLocks noGrp="1"/>
          </p:cNvSpPr>
          <p:nvPr>
            <p:ph type="title" idx="4294967295"/>
          </p:nvPr>
        </p:nvSpPr>
        <p:spPr>
          <a:xfrm>
            <a:off x="457812" y="1"/>
            <a:ext cx="7543800" cy="1184275"/>
          </a:xfrm>
        </p:spPr>
        <p:txBody>
          <a:bodyPr>
            <a:normAutofit/>
          </a:bodyPr>
          <a:lstStyle/>
          <a:p>
            <a:pPr>
              <a:lnSpc>
                <a:spcPct val="100000"/>
              </a:lnSpc>
            </a:pPr>
            <a:r>
              <a:rPr lang="en-US" altLang="zh-CN" sz="2800" b="1" dirty="0" smtClean="0">
                <a:solidFill>
                  <a:srgbClr val="C00000"/>
                </a:solidFill>
                <a:latin typeface="Times New Roman" panose="02020603050405020304" pitchFamily="18" charset="0"/>
              </a:rPr>
              <a:t>(2) Bernoulli Equation of Real Fluid</a:t>
            </a:r>
            <a:br>
              <a:rPr lang="en-US" altLang="zh-CN" sz="2800" b="1" dirty="0" smtClean="0">
                <a:solidFill>
                  <a:srgbClr val="C00000"/>
                </a:solidFill>
                <a:latin typeface="Times New Roman" panose="02020603050405020304" pitchFamily="18" charset="0"/>
              </a:rPr>
            </a:br>
            <a:r>
              <a:rPr lang="en-US" altLang="zh-CN" sz="2800" b="1" dirty="0" smtClean="0">
                <a:solidFill>
                  <a:srgbClr val="C00000"/>
                </a:solidFill>
                <a:latin typeface="Times New Roman" panose="02020603050405020304" pitchFamily="18" charset="0"/>
              </a:rPr>
              <a:t>     </a:t>
            </a:r>
            <a:r>
              <a:rPr lang="zh-CN" altLang="en-US" sz="2800" b="1" dirty="0" smtClean="0">
                <a:solidFill>
                  <a:srgbClr val="C00000"/>
                </a:solidFill>
                <a:latin typeface="黑体" panose="02010609060101010101" pitchFamily="49" charset="-122"/>
                <a:ea typeface="黑体" panose="02010609060101010101" pitchFamily="49" charset="-122"/>
              </a:rPr>
              <a:t>实际液体的伯努利方程</a:t>
            </a:r>
            <a:endParaRPr lang="zh-CN" altLang="en-US" sz="2800" dirty="0">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74233" y="264534"/>
            <a:ext cx="7847014" cy="1053312"/>
          </a:xfrm>
        </p:spPr>
        <p:txBody>
          <a:bodyPr>
            <a:normAutofit fontScale="90000"/>
          </a:bodyPr>
          <a:lstStyle/>
          <a:p>
            <a:pPr>
              <a:lnSpc>
                <a:spcPct val="100000"/>
              </a:lnSpc>
            </a:pPr>
            <a:r>
              <a:rPr lang="en-US" altLang="zh-CN" sz="2800"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(3) Equation of Momentum-Conservation </a:t>
            </a:r>
            <a:r>
              <a:rPr lang="en-US" altLang="zh-CN" sz="2800"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o</a:t>
            </a:r>
            <a:r>
              <a:rPr lang="en-US" altLang="zh-CN" sz="2800"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f Momentum</a:t>
            </a:r>
            <a:br>
              <a:rPr lang="en-US" altLang="zh-CN" sz="2800"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br>
            <a:r>
              <a:rPr lang="en-US" altLang="zh-CN" sz="2800"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zh-CN" altLang="en-US" sz="2800" b="1" dirty="0" smtClean="0">
                <a:solidFill>
                  <a:srgbClr val="C00000"/>
                </a:solidFill>
                <a:latin typeface="黑体" panose="02010609060101010101" pitchFamily="49" charset="-122"/>
                <a:ea typeface="黑体" panose="02010609060101010101" pitchFamily="49" charset="-122"/>
              </a:rPr>
              <a:t>动量方程</a:t>
            </a:r>
            <a:r>
              <a:rPr lang="en-US" altLang="zh-CN" sz="2800" b="1" dirty="0" smtClean="0">
                <a:solidFill>
                  <a:srgbClr val="C00000"/>
                </a:solidFill>
                <a:latin typeface="黑体" panose="02010609060101010101" pitchFamily="49" charset="-122"/>
                <a:ea typeface="黑体" panose="02010609060101010101" pitchFamily="49" charset="-122"/>
              </a:rPr>
              <a:t>—</a:t>
            </a:r>
            <a:r>
              <a:rPr lang="zh-CN" altLang="en-US" sz="2800" b="1" dirty="0" smtClean="0">
                <a:solidFill>
                  <a:srgbClr val="C00000"/>
                </a:solidFill>
                <a:latin typeface="黑体" panose="02010609060101010101" pitchFamily="49" charset="-122"/>
                <a:ea typeface="黑体" panose="02010609060101010101" pitchFamily="49" charset="-122"/>
              </a:rPr>
              <a:t>动量守恒方程</a:t>
            </a:r>
            <a:endParaRPr lang="zh-CN" altLang="en-US" sz="2800" dirty="0">
              <a:solidFill>
                <a:srgbClr val="C00000"/>
              </a:solidFill>
              <a:latin typeface="黑体" panose="02010609060101010101" pitchFamily="49" charset="-122"/>
              <a:ea typeface="黑体" panose="02010609060101010101" pitchFamily="49" charset="-122"/>
              <a:cs typeface="Arial Unicode MS" panose="020B0604020202020204" pitchFamily="34" charset="-122"/>
            </a:endParaRPr>
          </a:p>
        </p:txBody>
      </p:sp>
      <p:sp>
        <p:nvSpPr>
          <p:cNvPr id="45060" name="Rectangle 4"/>
          <p:cNvSpPr>
            <a:spLocks noChangeArrowheads="1"/>
          </p:cNvSpPr>
          <p:nvPr/>
        </p:nvSpPr>
        <p:spPr bwMode="auto">
          <a:xfrm flipV="1">
            <a:off x="0" y="1588"/>
            <a:ext cx="7632700"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061"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062" name="Rectangle 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073" name="Rectangle 17"/>
          <p:cNvSpPr>
            <a:spLocks noChangeArrowheads="1"/>
          </p:cNvSpPr>
          <p:nvPr/>
        </p:nvSpPr>
        <p:spPr bwMode="auto">
          <a:xfrm>
            <a:off x="0" y="6858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mc:AlternateContent xmlns:mc="http://schemas.openxmlformats.org/markup-compatibility/2006">
        <mc:Choice xmlns:a14="http://schemas.microsoft.com/office/drawing/2010/main" Requires="a14">
          <p:sp>
            <p:nvSpPr>
              <p:cNvPr id="45079" name="Text Box 23"/>
              <p:cNvSpPr txBox="1">
                <a:spLocks noChangeArrowheads="1"/>
              </p:cNvSpPr>
              <p:nvPr/>
            </p:nvSpPr>
            <p:spPr bwMode="auto">
              <a:xfrm>
                <a:off x="3430270" y="3724910"/>
                <a:ext cx="4747260" cy="2393950"/>
              </a:xfrm>
              <a:prstGeom prst="rect">
                <a:avLst/>
              </a:prstGeom>
              <a:solidFill>
                <a:schemeClr val="accent1">
                  <a:lumMod val="40000"/>
                  <a:lumOff val="60000"/>
                </a:schemeClr>
              </a:solidFill>
              <a:ln>
                <a:solidFill>
                  <a:schemeClr val="tx1"/>
                </a:solidFill>
              </a:ln>
              <a:effectLst/>
            </p:spPr>
            <p:txBody>
              <a:bodyPr wrap="square">
                <a:noAutofit/>
              </a:bodyPr>
              <a:lstStyle>
                <a:defPPr>
                  <a:defRPr lang="zh-CN"/>
                </a:defPPr>
                <a:lvl1pPr indent="0">
                  <a:lnSpc>
                    <a:spcPct val="120000"/>
                  </a:lnSpc>
                  <a:spcBef>
                    <a:spcPts val="0"/>
                  </a:spcBef>
                  <a:defRPr sz="2000">
                    <a:latin typeface="Times New Roman" panose="02020603050405020304" pitchFamily="18" charset="0"/>
                  </a:defRPr>
                </a:lvl1pPr>
                <a:lvl2pPr eaLnBrk="0" hangingPunct="0">
                  <a:spcBef>
                    <a:spcPct val="0"/>
                  </a:spcBef>
                  <a:defRPr>
                    <a:latin typeface="Arial" panose="020B0604020202020204" pitchFamily="34" charset="0"/>
                  </a:defRPr>
                </a:lvl2pPr>
                <a:lvl3pPr eaLnBrk="0" hangingPunct="0">
                  <a:spcBef>
                    <a:spcPct val="0"/>
                  </a:spcBef>
                  <a:defRPr>
                    <a:latin typeface="Arial" panose="020B0604020202020204" pitchFamily="34" charset="0"/>
                  </a:defRPr>
                </a:lvl3pPr>
                <a:lvl4pPr eaLnBrk="0" hangingPunct="0">
                  <a:spcBef>
                    <a:spcPct val="0"/>
                  </a:spcBef>
                  <a:defRPr>
                    <a:latin typeface="Arial" panose="020B0604020202020204" pitchFamily="34" charset="0"/>
                  </a:defRPr>
                </a:lvl4pPr>
                <a:lvl5pPr eaLnBrk="0" hangingPunct="0">
                  <a:spcBef>
                    <a:spcPct val="0"/>
                  </a:spcBef>
                  <a:defRPr>
                    <a:latin typeface="Arial" panose="020B0604020202020204" pitchFamily="34" charset="0"/>
                  </a:defRPr>
                </a:lvl5pPr>
                <a:lvl6pPr eaLnBrk="0" fontAlgn="base" hangingPunct="0">
                  <a:spcBef>
                    <a:spcPct val="0"/>
                  </a:spcBef>
                  <a:spcAft>
                    <a:spcPct val="0"/>
                  </a:spcAft>
                  <a:defRPr>
                    <a:latin typeface="Arial" panose="020B0604020202020204" pitchFamily="34" charset="0"/>
                  </a:defRPr>
                </a:lvl6pPr>
                <a:lvl7pPr eaLnBrk="0" fontAlgn="base" hangingPunct="0">
                  <a:spcBef>
                    <a:spcPct val="0"/>
                  </a:spcBef>
                  <a:spcAft>
                    <a:spcPct val="0"/>
                  </a:spcAft>
                  <a:defRPr>
                    <a:latin typeface="Arial" panose="020B0604020202020204" pitchFamily="34" charset="0"/>
                  </a:defRPr>
                </a:lvl7pPr>
                <a:lvl8pPr eaLnBrk="0" fontAlgn="base" hangingPunct="0">
                  <a:spcBef>
                    <a:spcPct val="0"/>
                  </a:spcBef>
                  <a:spcAft>
                    <a:spcPct val="0"/>
                  </a:spcAft>
                  <a:defRPr>
                    <a:latin typeface="Arial" panose="020B0604020202020204" pitchFamily="34" charset="0"/>
                  </a:defRPr>
                </a:lvl8pPr>
                <a:lvl9pPr eaLnBrk="0" fontAlgn="base" hangingPunct="0">
                  <a:spcBef>
                    <a:spcPct val="0"/>
                  </a:spcBef>
                  <a:spcAft>
                    <a:spcPct val="0"/>
                  </a:spcAft>
                  <a:defRPr>
                    <a:latin typeface="Arial" panose="020B0604020202020204" pitchFamily="34" charset="0"/>
                  </a:defRPr>
                </a:lvl9pPr>
              </a:lstStyle>
              <a:p>
                <a:r>
                  <a:rPr lang="en-US" altLang="zh-CN" sz="2400" dirty="0"/>
                  <a:t>        </a:t>
                </a:r>
                <a:endParaRPr lang="en-US" altLang="zh-CN" sz="2400" dirty="0"/>
              </a:p>
              <a:p>
                <a:pPr>
                  <a:spcAft>
                    <a:spcPts val="600"/>
                  </a:spcAft>
                </a:pPr>
                <a14:m>
                  <m:oMathPara xmlns:m="http://schemas.openxmlformats.org/officeDocument/2006/math">
                    <m:oMathParaPr>
                      <m:jc m:val="centerGroup"/>
                    </m:oMathParaPr>
                    <m:oMath xmlns:m="http://schemas.openxmlformats.org/officeDocument/2006/math">
                      <m:r>
                        <a:rPr lang="en-US" altLang="zh-CN" sz="2400">
                          <a:latin typeface="Cambria Math" panose="02040503050406030204" pitchFamily="18" charset="0"/>
                        </a:rPr>
                        <m:t>𝐹</m:t>
                      </m:r>
                      <m:r>
                        <a:rPr lang="en-US" altLang="zh-CN" sz="2400">
                          <a:latin typeface="Cambria Math" panose="02040503050406030204" pitchFamily="18" charset="0"/>
                        </a:rPr>
                        <m:t>=</m:t>
                      </m:r>
                      <m:r>
                        <a:rPr lang="en-US" altLang="zh-CN" sz="2400">
                          <a:latin typeface="Cambria Math" panose="02040503050406030204" pitchFamily="18" charset="0"/>
                        </a:rPr>
                        <m:t>𝑀</m:t>
                      </m:r>
                      <m:f>
                        <m:fPr>
                          <m:ctrlPr>
                            <a:rPr lang="en-US" altLang="zh-CN" sz="2400" i="1">
                              <a:latin typeface="Cambria Math" panose="02040503050406030204" pitchFamily="18" charset="0"/>
                            </a:rPr>
                          </m:ctrlPr>
                        </m:fPr>
                        <m:num>
                          <m:r>
                            <a:rPr lang="en-US" altLang="zh-CN" sz="2400">
                              <a:latin typeface="Cambria Math" panose="02040503050406030204" pitchFamily="18" charset="0"/>
                            </a:rPr>
                            <m:t>𝑑𝑣</m:t>
                          </m:r>
                        </m:num>
                        <m:den>
                          <m:r>
                            <a:rPr lang="en-US" altLang="zh-CN" sz="2400">
                              <a:latin typeface="Cambria Math" panose="02040503050406030204" pitchFamily="18" charset="0"/>
                            </a:rPr>
                            <m:t>𝑑𝑡</m:t>
                          </m:r>
                        </m:den>
                      </m:f>
                    </m:oMath>
                  </m:oMathPara>
                </a14:m>
                <a:endParaRPr lang="en-US" altLang="zh-CN" sz="2400" dirty="0"/>
              </a:p>
              <a:p>
                <a:pPr>
                  <a:spcAft>
                    <a:spcPts val="600"/>
                  </a:spcAft>
                </a:pPr>
                <a:r>
                  <a:rPr lang="zh-CN" altLang="en-US" sz="2400" dirty="0"/>
                  <a:t>上式与牛顿第二定律相似，即</a:t>
                </a:r>
                <a:endParaRPr lang="zh-CN" altLang="en-US" sz="2400" dirty="0"/>
              </a:p>
              <a:p>
                <a14:m>
                  <m:oMathPara xmlns:m="http://schemas.openxmlformats.org/officeDocument/2006/math">
                    <m:oMathParaPr>
                      <m:jc m:val="centerGroup"/>
                    </m:oMathParaPr>
                    <m:oMath xmlns:m="http://schemas.openxmlformats.org/officeDocument/2006/math">
                      <m:r>
                        <a:rPr lang="en-US" altLang="zh-CN" sz="2400">
                          <a:latin typeface="Cambria Math" panose="02040503050406030204" pitchFamily="18" charset="0"/>
                        </a:rPr>
                        <m:t>𝐹</m:t>
                      </m:r>
                      <m:r>
                        <a:rPr lang="en-US" altLang="zh-CN" sz="2400">
                          <a:latin typeface="Cambria Math" panose="02040503050406030204" pitchFamily="18" charset="0"/>
                        </a:rPr>
                        <m:t>=</m:t>
                      </m:r>
                      <m:r>
                        <a:rPr lang="en-US" altLang="zh-CN" sz="2400">
                          <a:latin typeface="Cambria Math" panose="02040503050406030204" pitchFamily="18" charset="0"/>
                        </a:rPr>
                        <m:t>𝑀𝑎</m:t>
                      </m:r>
                    </m:oMath>
                  </m:oMathPara>
                </a14:m>
                <a:endParaRPr lang="en-US" altLang="zh-CN" sz="2400" dirty="0"/>
              </a:p>
            </p:txBody>
          </p:sp>
        </mc:Choice>
        <mc:Fallback>
          <p:sp>
            <p:nvSpPr>
              <p:cNvPr id="45079" name="Text Box 23"/>
              <p:cNvSpPr txBox="1">
                <a:spLocks noRot="1" noChangeAspect="1" noMove="1" noResize="1" noEditPoints="1" noAdjustHandles="1" noChangeArrowheads="1" noChangeShapeType="1" noTextEdit="1"/>
              </p:cNvSpPr>
              <p:nvPr/>
            </p:nvSpPr>
            <p:spPr bwMode="auto">
              <a:xfrm>
                <a:off x="3430270" y="3724910"/>
                <a:ext cx="4747260" cy="2393950"/>
              </a:xfrm>
              <a:prstGeom prst="rect">
                <a:avLst/>
              </a:prstGeom>
              <a:blipFill rotWithShape="1">
                <a:blip r:embed="rId1"/>
                <a:stretch>
                  <a:fillRect l="-107" t="-212" r="-94" b="-186"/>
                </a:stretch>
              </a:blipFill>
              <a:ln>
                <a:solidFill>
                  <a:schemeClr val="tx1"/>
                </a:solidFill>
              </a:ln>
              <a:effectLst/>
            </p:spPr>
            <p:txBody>
              <a:bodyPr/>
              <a:lstStyle/>
              <a:p>
                <a:r>
                  <a:rPr lang="zh-CN" altLang="en-US">
                    <a:noFill/>
                  </a:rPr>
                  <a:t> </a:t>
                </a:r>
              </a:p>
            </p:txBody>
          </p:sp>
        </mc:Fallback>
      </mc:AlternateContent>
      <p:pic>
        <p:nvPicPr>
          <p:cNvPr id="45093" name="Picture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156" y="1563517"/>
            <a:ext cx="3111469" cy="19156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1" y="395233"/>
            <a:ext cx="5042510" cy="1011536"/>
          </a:xfrm>
          <a:solidFill>
            <a:schemeClr val="bg2">
              <a:lumMod val="90000"/>
            </a:schemeClr>
          </a:solidFill>
        </p:spPr>
        <p:txBody>
          <a:bodyPr>
            <a:noAutofit/>
          </a:bodyPr>
          <a:lstStyle/>
          <a:p>
            <a:pPr marL="271780">
              <a:lnSpc>
                <a:spcPct val="100000"/>
              </a:lnSpc>
              <a:spcBef>
                <a:spcPts val="600"/>
              </a:spcBef>
              <a:spcAft>
                <a:spcPts val="600"/>
              </a:spcAft>
            </a:pPr>
            <a:r>
              <a:rPr lang="zh-CN" altLang="en-US" sz="28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液压泵分类</a:t>
            </a:r>
            <a:br>
              <a:rPr lang="zh-CN" altLang="en-US" sz="28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br>
            <a:r>
              <a:rPr lang="en-US" altLang="zh-CN" sz="2400" b="1" dirty="0" smtClean="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Pump Categories   </a:t>
            </a:r>
            <a:endParaRPr lang="zh-CN" altLang="en-US" sz="24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3" name="图片 2"/>
          <p:cNvPicPr>
            <a:picLocks noChangeAspect="1"/>
          </p:cNvPicPr>
          <p:nvPr/>
        </p:nvPicPr>
        <p:blipFill>
          <a:blip r:embed="rId1"/>
          <a:stretch>
            <a:fillRect/>
          </a:stretch>
        </p:blipFill>
        <p:spPr>
          <a:xfrm>
            <a:off x="0" y="1920904"/>
            <a:ext cx="9144000" cy="4937096"/>
          </a:xfrm>
          <a:prstGeom prst="rect">
            <a:avLst/>
          </a:prstGeom>
        </p:spPr>
      </p:pic>
      <p:sp>
        <p:nvSpPr>
          <p:cNvPr id="6" name="Rectangle 1029"/>
          <p:cNvSpPr>
            <a:spLocks noChangeArrowheads="1"/>
          </p:cNvSpPr>
          <p:nvPr/>
        </p:nvSpPr>
        <p:spPr bwMode="auto">
          <a:xfrm>
            <a:off x="4617268" y="126747"/>
            <a:ext cx="4372824" cy="2462213"/>
          </a:xfrm>
          <a:prstGeom prst="rect">
            <a:avLst/>
          </a:prstGeom>
          <a:solidFill>
            <a:schemeClr val="accent6">
              <a:lumMod val="40000"/>
              <a:lumOff val="60000"/>
            </a:schemeClr>
          </a:solidFill>
          <a:ln>
            <a:noFill/>
          </a:ln>
          <a:effectLst>
            <a:glow rad="101600">
              <a:schemeClr val="accent1">
                <a:satMod val="175000"/>
                <a:alpha val="40000"/>
              </a:schemeClr>
            </a:glow>
          </a:effectLst>
        </p:spPr>
        <p:txBody>
          <a:bodyPr wrap="square">
            <a:sp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buSzPct val="50000"/>
            </a:pPr>
            <a:r>
              <a:rPr lang="zh-CN" altLang="en-US" b="1" dirty="0" smtClean="0">
                <a:latin typeface="宋体" panose="02010600030101010101" pitchFamily="2" charset="-122"/>
                <a:cs typeface="Arial Unicode MS" panose="020B0604020202020204" pitchFamily="34" charset="-122"/>
              </a:rPr>
              <a:t>容积式泵</a:t>
            </a:r>
            <a:endParaRPr lang="en-US" altLang="zh-CN" b="1" dirty="0" smtClean="0">
              <a:latin typeface="宋体" panose="02010600030101010101" pitchFamily="2" charset="-122"/>
              <a:cs typeface="Arial Unicode MS" panose="020B0604020202020204" pitchFamily="34" charset="-122"/>
            </a:endParaRPr>
          </a:p>
          <a:p>
            <a:pPr marL="271780" indent="-271780" eaLnBrk="1" hangingPunct="1">
              <a:buSzPct val="50000"/>
              <a:buFont typeface="Wingdings" panose="05000000000000000000" pitchFamily="2" charset="2"/>
              <a:buChar char="n"/>
            </a:pPr>
            <a:r>
              <a:rPr lang="zh-CN" altLang="en-US" sz="2000" b="1" dirty="0" smtClean="0">
                <a:latin typeface="宋体" panose="02010600030101010101" pitchFamily="2" charset="-122"/>
                <a:cs typeface="Arial Unicode MS" panose="020B0604020202020204" pitchFamily="34" charset="-122"/>
              </a:rPr>
              <a:t>按</a:t>
            </a:r>
            <a:r>
              <a:rPr lang="zh-CN" altLang="en-US" sz="2000" b="1" dirty="0">
                <a:solidFill>
                  <a:srgbClr val="0066CC"/>
                </a:solidFill>
                <a:latin typeface="宋体" panose="02010600030101010101" pitchFamily="2" charset="-122"/>
                <a:cs typeface="Arial Unicode MS" panose="020B0604020202020204" pitchFamily="34" charset="-122"/>
              </a:rPr>
              <a:t>结构形式</a:t>
            </a:r>
            <a:r>
              <a:rPr lang="zh-CN" altLang="en-US" sz="2000" b="1" dirty="0">
                <a:latin typeface="宋体" panose="02010600030101010101" pitchFamily="2" charset="-122"/>
                <a:cs typeface="Arial Unicode MS" panose="020B0604020202020204" pitchFamily="34" charset="-122"/>
              </a:rPr>
              <a:t>可分为：</a:t>
            </a:r>
            <a:endParaRPr lang="en-US" altLang="zh-CN" sz="2000" b="1" dirty="0">
              <a:latin typeface="宋体" panose="02010600030101010101" pitchFamily="2" charset="-122"/>
              <a:cs typeface="Arial Unicode MS" panose="020B0604020202020204" pitchFamily="34" charset="-122"/>
            </a:endParaRPr>
          </a:p>
          <a:p>
            <a:pPr marL="796925" lvl="1" indent="-281305" eaLnBrk="1" hangingPunct="1">
              <a:buFont typeface="Arial" panose="020B0604020202020204" pitchFamily="34" charset="0"/>
              <a:buChar char="•"/>
            </a:pPr>
            <a:r>
              <a:rPr lang="zh-CN" altLang="en-US" sz="1800" b="1" dirty="0" smtClean="0">
                <a:solidFill>
                  <a:schemeClr val="tx1">
                    <a:lumMod val="50000"/>
                  </a:schemeClr>
                </a:solidFill>
                <a:latin typeface="宋体" panose="02010600030101010101" pitchFamily="2" charset="-122"/>
                <a:cs typeface="Arial Unicode MS" panose="020B0604020202020204" pitchFamily="34" charset="-122"/>
              </a:rPr>
              <a:t>齿轮泵</a:t>
            </a:r>
            <a:r>
              <a:rPr lang="zh-CN" altLang="en-US"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Gear pumps</a:t>
            </a:r>
            <a:r>
              <a:rPr lang="zh-CN" altLang="en-US"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796925" lvl="1" indent="-281305" eaLnBrk="1" hangingPunct="1">
              <a:buFont typeface="Arial" panose="020B0604020202020204" pitchFamily="34" charset="0"/>
              <a:buChar char="•"/>
            </a:pPr>
            <a:r>
              <a:rPr lang="zh-CN" altLang="en-US" sz="1800" b="1" dirty="0" smtClean="0">
                <a:solidFill>
                  <a:schemeClr val="tx1">
                    <a:lumMod val="50000"/>
                  </a:schemeClr>
                </a:solidFill>
                <a:latin typeface="宋体" panose="02010600030101010101" pitchFamily="2" charset="-122"/>
                <a:cs typeface="Arial Unicode MS" panose="020B0604020202020204" pitchFamily="34" charset="-122"/>
              </a:rPr>
              <a:t>叶片泵</a:t>
            </a:r>
            <a:r>
              <a:rPr lang="zh-CN" altLang="en-US"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Vane pumps</a:t>
            </a:r>
            <a:r>
              <a:rPr lang="zh-CN" altLang="en-US"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796925" lvl="1" indent="-281305" eaLnBrk="1" hangingPunct="1">
              <a:buFont typeface="Arial" panose="020B0604020202020204" pitchFamily="34" charset="0"/>
              <a:buChar char="•"/>
            </a:pPr>
            <a:r>
              <a:rPr lang="zh-CN" altLang="en-US" sz="1800" b="1" dirty="0" smtClean="0">
                <a:solidFill>
                  <a:schemeClr val="tx1">
                    <a:lumMod val="50000"/>
                  </a:schemeClr>
                </a:solidFill>
                <a:latin typeface="宋体" panose="02010600030101010101" pitchFamily="2" charset="-122"/>
                <a:cs typeface="Arial Unicode MS" panose="020B0604020202020204" pitchFamily="34" charset="-122"/>
              </a:rPr>
              <a:t>柱塞泵</a:t>
            </a:r>
            <a:r>
              <a:rPr lang="zh-CN" altLang="en-US"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Piston pumps</a:t>
            </a:r>
            <a:r>
              <a:rPr lang="zh-CN" altLang="en-US"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en-US"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271780" indent="-271780" eaLnBrk="1" hangingPunct="1">
              <a:buSzPct val="50000"/>
              <a:buFont typeface="Wingdings" panose="05000000000000000000" pitchFamily="2" charset="2"/>
              <a:buChar char="n"/>
            </a:pPr>
            <a:r>
              <a:rPr lang="zh-CN" altLang="en-US" sz="2000" b="1" dirty="0" smtClean="0">
                <a:latin typeface="宋体" panose="02010600030101010101" pitchFamily="2" charset="-122"/>
                <a:cs typeface="Arial Unicode MS" panose="020B0604020202020204" pitchFamily="34" charset="-122"/>
              </a:rPr>
              <a:t>按</a:t>
            </a:r>
            <a:r>
              <a:rPr lang="zh-CN" altLang="en-US" sz="2000" b="1" dirty="0">
                <a:solidFill>
                  <a:srgbClr val="0066CC"/>
                </a:solidFill>
                <a:latin typeface="宋体" panose="02010600030101010101" pitchFamily="2" charset="-122"/>
                <a:cs typeface="Arial Unicode MS" panose="020B0604020202020204" pitchFamily="34" charset="-122"/>
              </a:rPr>
              <a:t>排量能否调节</a:t>
            </a:r>
            <a:r>
              <a:rPr lang="zh-CN" altLang="en-US" sz="2000" b="1" dirty="0">
                <a:latin typeface="宋体" panose="02010600030101010101" pitchFamily="2" charset="-122"/>
                <a:cs typeface="Arial Unicode MS" panose="020B0604020202020204" pitchFamily="34" charset="-122"/>
              </a:rPr>
              <a:t>分为：</a:t>
            </a:r>
            <a:endParaRPr lang="en-US" altLang="zh-CN" sz="2000" b="1" dirty="0">
              <a:latin typeface="宋体" panose="02010600030101010101" pitchFamily="2" charset="-122"/>
              <a:cs typeface="Arial Unicode MS" panose="020B0604020202020204" pitchFamily="34" charset="-122"/>
            </a:endParaRPr>
          </a:p>
          <a:p>
            <a:pPr marL="796925" lvl="1" indent="-281305" eaLnBrk="1" hangingPunct="1">
              <a:buFont typeface="Arial" panose="020B0604020202020204" pitchFamily="34" charset="0"/>
              <a:buChar char="•"/>
            </a:pPr>
            <a:r>
              <a:rPr lang="zh-CN" altLang="en-US" sz="1800" b="1" dirty="0">
                <a:solidFill>
                  <a:schemeClr val="tx1">
                    <a:lumMod val="50000"/>
                  </a:schemeClr>
                </a:solidFill>
                <a:latin typeface="宋体" panose="02010600030101010101" pitchFamily="2" charset="-122"/>
                <a:cs typeface="Arial Unicode MS" panose="020B0604020202020204" pitchFamily="34" charset="-122"/>
              </a:rPr>
              <a:t>定量泵（</a:t>
            </a:r>
            <a:r>
              <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Fixed </a:t>
            </a:r>
            <a:r>
              <a:rPr lang="en-US" altLang="zh-CN"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displacement</a:t>
            </a:r>
            <a:r>
              <a:rPr lang="zh-CN" altLang="en-US" sz="1800" b="1" dirty="0" smtClean="0">
                <a:solidFill>
                  <a:schemeClr val="tx1">
                    <a:lumMod val="50000"/>
                  </a:schemeClr>
                </a:solidFill>
                <a:latin typeface="宋体" panose="02010600030101010101" pitchFamily="2" charset="-122"/>
                <a:cs typeface="Arial Unicode MS" panose="020B0604020202020204" pitchFamily="34" charset="-122"/>
              </a:rPr>
              <a:t>）</a:t>
            </a:r>
            <a:endParaRPr lang="en-US" altLang="zh-CN" sz="1800" b="1" dirty="0">
              <a:solidFill>
                <a:schemeClr val="tx1">
                  <a:lumMod val="50000"/>
                </a:schemeClr>
              </a:solidFill>
              <a:latin typeface="宋体" panose="02010600030101010101" pitchFamily="2" charset="-122"/>
              <a:cs typeface="Arial Unicode MS" panose="020B0604020202020204" pitchFamily="34" charset="-122"/>
            </a:endParaRPr>
          </a:p>
          <a:p>
            <a:pPr marL="796925" lvl="1" indent="-281305" eaLnBrk="1" hangingPunct="1">
              <a:buFont typeface="Arial" panose="020B0604020202020204" pitchFamily="34" charset="0"/>
              <a:buChar char="•"/>
            </a:pPr>
            <a:r>
              <a:rPr lang="zh-CN" altLang="en-US" sz="1800" b="1" dirty="0">
                <a:solidFill>
                  <a:schemeClr val="tx1">
                    <a:lumMod val="50000"/>
                  </a:schemeClr>
                </a:solidFill>
                <a:latin typeface="宋体" panose="02010600030101010101" pitchFamily="2" charset="-122"/>
                <a:cs typeface="Arial Unicode MS" panose="020B0604020202020204" pitchFamily="34" charset="-122"/>
              </a:rPr>
              <a:t>变量泵（</a:t>
            </a:r>
            <a:r>
              <a:rPr lang="en-US" altLang="zh-CN" sz="1800" dirty="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Variable </a:t>
            </a:r>
            <a:r>
              <a:rPr lang="en-US" altLang="zh-CN" sz="1800" dirty="0" smtClean="0">
                <a:solidFill>
                  <a:schemeClr val="tx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displacement</a:t>
            </a:r>
            <a:r>
              <a:rPr lang="zh-CN" altLang="en-US" sz="1800" b="1" dirty="0" smtClean="0">
                <a:latin typeface="宋体" panose="02010600030101010101" pitchFamily="2" charset="-122"/>
                <a:cs typeface="Arial Unicode MS" panose="020B0604020202020204" pitchFamily="34" charset="-122"/>
              </a:rPr>
              <a:t>）</a:t>
            </a:r>
            <a:endParaRPr lang="zh-CN" altLang="en-US" sz="1800" b="1" dirty="0">
              <a:latin typeface="宋体" panose="02010600030101010101" pitchFamily="2" charset="-122"/>
              <a:cs typeface="Arial Unicode MS" panose="020B0604020202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bwMode="auto">
          <a:xfrm>
            <a:off x="742917" y="265685"/>
            <a:ext cx="7485512" cy="101085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90000"/>
          </a:bodyPr>
          <a:lstStyle/>
          <a:p>
            <a:pPr eaLnBrk="1" hangingPunct="1">
              <a:lnSpc>
                <a:spcPct val="100000"/>
              </a:lnSpc>
            </a:pPr>
            <a:r>
              <a:rPr lang="zh-CN" altLang="en-US" sz="3600" dirty="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液压泵的工作原理 </a:t>
            </a:r>
            <a:br>
              <a:rPr lang="en-US" altLang="zh-CN" sz="3600" dirty="0" smtClean="0">
                <a:solidFill>
                  <a:srgbClr val="CC3300"/>
                </a:solidFill>
                <a:effectLst>
                  <a:outerShdw blurRad="38100" dist="38100" dir="2700000" algn="tl">
                    <a:srgbClr val="000000">
                      <a:alpha val="43137"/>
                    </a:srgbClr>
                  </a:outerShdw>
                </a:effectLst>
              </a:rPr>
            </a:br>
            <a:r>
              <a:rPr lang="en-US" altLang="zh-CN" sz="2800" dirty="0" smtClean="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Working Principle of Hydraulic Pumps</a:t>
            </a:r>
            <a:endParaRPr lang="zh-CN" altLang="en-US" sz="2800"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19460" name="Picture 7" descr="Mar14~11"/>
          <p:cNvPicPr>
            <a:picLocks noGrp="1" noChangeAspect="1" noChangeArrowheads="1"/>
          </p:cNvPicPr>
          <p:nvPr>
            <p:ph sz="half" idx="1"/>
          </p:nvPr>
        </p:nvPicPr>
        <p:blipFill rotWithShape="1">
          <a:blip r:embed="rId1">
            <a:extLst>
              <a:ext uri="{28A0092B-C50C-407E-A947-70E740481C1C}">
                <a14:useLocalDpi xmlns:a14="http://schemas.microsoft.com/office/drawing/2010/main" val="0"/>
              </a:ext>
            </a:extLst>
          </a:blip>
          <a:srcRect l="2931" t="1720" r="7216" b="1032"/>
          <a:stretch>
            <a:fillRect/>
          </a:stretch>
        </p:blipFill>
        <p:spPr bwMode="auto">
          <a:xfrm>
            <a:off x="323322" y="2412810"/>
            <a:ext cx="4071816" cy="3196493"/>
          </a:xfr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19459" name="Rectangle 3"/>
          <p:cNvSpPr>
            <a:spLocks noGrp="1" noChangeArrowheads="1"/>
          </p:cNvSpPr>
          <p:nvPr>
            <p:ph sz="half" idx="2"/>
          </p:nvPr>
        </p:nvSpPr>
        <p:spPr bwMode="auto">
          <a:xfrm>
            <a:off x="669956" y="1478146"/>
            <a:ext cx="8030424" cy="96751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marL="0" indent="0">
              <a:lnSpc>
                <a:spcPct val="100000"/>
              </a:lnSpc>
              <a:buNone/>
            </a:pPr>
            <a:r>
              <a:rPr lang="zh-CN" altLang="en-US" sz="2000" dirty="0" smtClean="0">
                <a:latin typeface="黑体" panose="02010609060101010101" pitchFamily="49" charset="-122"/>
                <a:ea typeface="黑体" panose="02010609060101010101" pitchFamily="49" charset="-122"/>
              </a:rPr>
              <a:t>液压传动系统中使用的液压泵都是</a:t>
            </a:r>
            <a:r>
              <a:rPr lang="zh-CN" altLang="en-US" sz="2000" u="sng" dirty="0" smtClean="0">
                <a:solidFill>
                  <a:srgbClr val="CC3300"/>
                </a:solidFill>
                <a:latin typeface="黑体" panose="02010609060101010101" pitchFamily="49" charset="-122"/>
                <a:ea typeface="黑体" panose="02010609060101010101" pitchFamily="49" charset="-122"/>
              </a:rPr>
              <a:t>容积式</a:t>
            </a:r>
            <a:r>
              <a:rPr lang="zh-CN" altLang="en-US" sz="2000" dirty="0" smtClean="0">
                <a:latin typeface="黑体" panose="02010609060101010101" pitchFamily="49" charset="-122"/>
                <a:ea typeface="黑体" panose="02010609060101010101" pitchFamily="49" charset="-122"/>
              </a:rPr>
              <a:t>的，</a:t>
            </a:r>
            <a:r>
              <a:rPr lang="zh-CN" altLang="en-US" sz="2000" dirty="0">
                <a:latin typeface="黑体" panose="02010609060101010101" pitchFamily="49" charset="-122"/>
                <a:ea typeface="黑体" panose="02010609060101010101" pitchFamily="49" charset="-122"/>
              </a:rPr>
              <a:t>其基本</a:t>
            </a:r>
            <a:r>
              <a:rPr lang="zh-CN" altLang="en-US" sz="2000" dirty="0" smtClean="0">
                <a:latin typeface="黑体" panose="02010609060101010101" pitchFamily="49" charset="-122"/>
                <a:ea typeface="黑体" panose="02010609060101010101" pitchFamily="49" charset="-122"/>
              </a:rPr>
              <a:t>工作</a:t>
            </a:r>
            <a:r>
              <a:rPr lang="zh-CN" altLang="en-US" sz="2000" dirty="0">
                <a:latin typeface="黑体" panose="02010609060101010101" pitchFamily="49" charset="-122"/>
                <a:ea typeface="黑体" panose="02010609060101010101" pitchFamily="49" charset="-122"/>
              </a:rPr>
              <a:t>原理</a:t>
            </a:r>
            <a:r>
              <a:rPr lang="zh-CN" altLang="en-US" sz="2000" dirty="0" smtClean="0">
                <a:latin typeface="黑体" panose="02010609060101010101" pitchFamily="49" charset="-122"/>
                <a:ea typeface="黑体" panose="02010609060101010101" pitchFamily="49" charset="-122"/>
              </a:rPr>
              <a:t>是</a:t>
            </a:r>
            <a:r>
              <a:rPr lang="zh-CN" altLang="en-US" sz="2000" u="sng" dirty="0">
                <a:solidFill>
                  <a:srgbClr val="C00000"/>
                </a:solidFill>
                <a:latin typeface="黑体" panose="02010609060101010101" pitchFamily="49" charset="-122"/>
                <a:ea typeface="黑体" panose="02010609060101010101" pitchFamily="49" charset="-122"/>
              </a:rPr>
              <a:t>依靠密封容积的变化</a:t>
            </a:r>
            <a:r>
              <a:rPr lang="zh-CN" altLang="en-US" sz="2000" dirty="0">
                <a:latin typeface="黑体" panose="02010609060101010101" pitchFamily="49" charset="-122"/>
                <a:ea typeface="黑体" panose="02010609060101010101" pitchFamily="49" charset="-122"/>
              </a:rPr>
              <a:t>来吸油、压</a:t>
            </a:r>
            <a:r>
              <a:rPr lang="zh-CN" altLang="en-US" sz="2000" dirty="0" smtClean="0">
                <a:latin typeface="黑体" panose="02010609060101010101" pitchFamily="49" charset="-122"/>
                <a:ea typeface="黑体" panose="02010609060101010101" pitchFamily="49" charset="-122"/>
              </a:rPr>
              <a:t>油。</a:t>
            </a:r>
            <a:endParaRPr lang="zh-CN" altLang="en-US" sz="2000" dirty="0">
              <a:latin typeface="黑体" panose="02010609060101010101" pitchFamily="49" charset="-122"/>
              <a:ea typeface="黑体" panose="02010609060101010101" pitchFamily="49" charset="-122"/>
            </a:endParaRPr>
          </a:p>
        </p:txBody>
      </p:sp>
      <p:sp>
        <p:nvSpPr>
          <p:cNvPr id="19463" name="Rectangle 7"/>
          <p:cNvSpPr>
            <a:spLocks noChangeArrowheads="1"/>
          </p:cNvSpPr>
          <p:nvPr/>
        </p:nvSpPr>
        <p:spPr bwMode="auto">
          <a:xfrm>
            <a:off x="1155393" y="5902446"/>
            <a:ext cx="1871663" cy="579438"/>
          </a:xfrm>
          <a:prstGeom prst="rect">
            <a:avLst/>
          </a:prstGeom>
          <a:solidFill>
            <a:srgbClr val="99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r>
              <a:rPr lang="zh-CN" altLang="en-US" sz="3200" b="1" i="1" u="sng">
                <a:solidFill>
                  <a:schemeClr val="hlink"/>
                </a:solidFill>
                <a:effectLst>
                  <a:outerShdw blurRad="38100" dist="38100" dir="2700000" algn="tl">
                    <a:srgbClr val="000000"/>
                  </a:outerShdw>
                </a:effectLst>
                <a:latin typeface="隶书_GB2312" charset="-122"/>
                <a:ea typeface="楷体_GB2312" pitchFamily="49" charset="-122"/>
                <a:hlinkClick r:id="rId2" action="ppaction://hlinkfile"/>
              </a:rPr>
              <a:t>动画演示</a:t>
            </a:r>
            <a:endParaRPr lang="zh-CN" altLang="en-US" sz="3200" b="1" u="sng">
              <a:solidFill>
                <a:schemeClr val="hlink"/>
              </a:solidFill>
              <a:effectLst>
                <a:outerShdw blurRad="38100" dist="38100" dir="2700000" algn="tl">
                  <a:srgbClr val="000000"/>
                </a:outerShdw>
              </a:effectLst>
            </a:endParaRPr>
          </a:p>
        </p:txBody>
      </p:sp>
      <mc:AlternateContent xmlns:mc="http://schemas.openxmlformats.org/markup-compatibility/2006">
        <mc:Choice xmlns:a14="http://schemas.microsoft.com/office/drawing/2010/main" Requires="a14">
          <p:sp>
            <p:nvSpPr>
              <p:cNvPr id="7" name="Rectangle 1032"/>
              <p:cNvSpPr>
                <a:spLocks noChangeArrowheads="1"/>
              </p:cNvSpPr>
              <p:nvPr/>
            </p:nvSpPr>
            <p:spPr bwMode="auto">
              <a:xfrm>
                <a:off x="4464052" y="2331330"/>
                <a:ext cx="4344969" cy="3924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271780" indent="-271780" eaLnBrk="1" hangingPunct="1">
                  <a:spcBef>
                    <a:spcPct val="20000"/>
                  </a:spcBef>
                  <a:buClr>
                    <a:srgbClr val="C00000"/>
                  </a:buClr>
                  <a:buSzPct val="60000"/>
                  <a:buFont typeface="Wingdings" panose="05000000000000000000" pitchFamily="2" charset="2"/>
                  <a:buChar char="n"/>
                </a:pPr>
                <a:r>
                  <a:rPr lang="zh-CN" altLang="en-US" sz="2000" b="1" i="1" dirty="0" smtClean="0">
                    <a:solidFill>
                      <a:srgbClr val="C00000"/>
                    </a:solidFill>
                  </a:rPr>
                  <a:t>吸</a:t>
                </a:r>
                <a:r>
                  <a:rPr lang="zh-CN" altLang="en-US" sz="2000" b="1" i="1" dirty="0">
                    <a:solidFill>
                      <a:srgbClr val="C00000"/>
                    </a:solidFill>
                  </a:rPr>
                  <a:t>油</a:t>
                </a:r>
                <a:r>
                  <a:rPr lang="zh-CN" altLang="en-US" sz="2000" dirty="0">
                    <a:solidFill>
                      <a:schemeClr val="tx2"/>
                    </a:solidFill>
                  </a:rPr>
                  <a:t>：密封容积</a:t>
                </a:r>
                <a14:m>
                  <m:oMath xmlns:m="http://schemas.openxmlformats.org/officeDocument/2006/math">
                    <m:r>
                      <a:rPr lang="zh-CN" altLang="en-US" sz="2000" b="1" dirty="0">
                        <a:solidFill>
                          <a:srgbClr val="FF0000"/>
                        </a:solidFill>
                        <a:latin typeface="Cambria Math" panose="02040503050406030204"/>
                      </a:rPr>
                      <m:t>↑</m:t>
                    </m:r>
                  </m:oMath>
                </a14:m>
                <a:r>
                  <a:rPr lang="zh-CN" altLang="en-US" sz="2000" dirty="0">
                    <a:solidFill>
                      <a:schemeClr val="tx2"/>
                    </a:solidFill>
                  </a:rPr>
                  <a:t>，形成局部真空</a:t>
                </a:r>
                <a:r>
                  <a:rPr lang="zh-CN" altLang="en-US" sz="2000" dirty="0" smtClean="0">
                    <a:solidFill>
                      <a:schemeClr val="tx2"/>
                    </a:solidFill>
                  </a:rPr>
                  <a:t>；</a:t>
                </a:r>
                <a:endParaRPr lang="en-US" altLang="zh-CN" sz="2000" dirty="0" smtClean="0">
                  <a:solidFill>
                    <a:schemeClr val="tx2"/>
                  </a:solidFill>
                </a:endParaRPr>
              </a:p>
              <a:p>
                <a:pPr marL="271780" indent="-271780" eaLnBrk="1" hangingPunct="1">
                  <a:spcBef>
                    <a:spcPct val="20000"/>
                  </a:spcBef>
                  <a:buClr>
                    <a:srgbClr val="C00000"/>
                  </a:buClr>
                  <a:buSzPct val="60000"/>
                  <a:buFont typeface="Wingdings" panose="05000000000000000000" pitchFamily="2" charset="2"/>
                  <a:buChar char="n"/>
                </a:pPr>
                <a:r>
                  <a:rPr lang="zh-CN" altLang="en-US" sz="2000" b="1" i="1" dirty="0">
                    <a:solidFill>
                      <a:srgbClr val="C00000"/>
                    </a:solidFill>
                  </a:rPr>
                  <a:t>压油</a:t>
                </a:r>
                <a:r>
                  <a:rPr lang="zh-CN" altLang="en-US" sz="2000" dirty="0">
                    <a:solidFill>
                      <a:schemeClr val="tx2"/>
                    </a:solidFill>
                  </a:rPr>
                  <a:t>：密封</a:t>
                </a:r>
                <a:r>
                  <a:rPr lang="zh-CN" altLang="en-US" sz="2000" dirty="0" smtClean="0">
                    <a:solidFill>
                      <a:schemeClr val="tx2"/>
                    </a:solidFill>
                  </a:rPr>
                  <a:t>容积</a:t>
                </a:r>
                <a14:m>
                  <m:oMath xmlns:m="http://schemas.openxmlformats.org/officeDocument/2006/math">
                    <m:r>
                      <a:rPr lang="zh-CN" altLang="en-US" sz="2000" b="1" i="0" smtClean="0">
                        <a:solidFill>
                          <a:srgbClr val="FF0000"/>
                        </a:solidFill>
                        <a:latin typeface="Cambria Math" panose="02040503050406030204"/>
                      </a:rPr>
                      <m:t>↓</m:t>
                    </m:r>
                  </m:oMath>
                </a14:m>
                <a:r>
                  <a:rPr lang="zh-CN" altLang="en-US" sz="2000" dirty="0" smtClean="0">
                    <a:solidFill>
                      <a:schemeClr val="tx2"/>
                    </a:solidFill>
                  </a:rPr>
                  <a:t>，压力</a:t>
                </a:r>
                <a14:m>
                  <m:oMath xmlns:m="http://schemas.openxmlformats.org/officeDocument/2006/math">
                    <m:r>
                      <a:rPr lang="zh-CN" altLang="en-US" sz="2000" b="1" dirty="0">
                        <a:solidFill>
                          <a:srgbClr val="FF0000"/>
                        </a:solidFill>
                        <a:latin typeface="Cambria Math" panose="02040503050406030204"/>
                      </a:rPr>
                      <m:t>↑</m:t>
                    </m:r>
                  </m:oMath>
                </a14:m>
                <a:r>
                  <a:rPr lang="zh-CN" altLang="en-US" sz="2000" dirty="0" smtClean="0">
                    <a:solidFill>
                      <a:schemeClr val="tx2"/>
                    </a:solidFill>
                  </a:rPr>
                  <a:t>。</a:t>
                </a:r>
                <a:endParaRPr lang="zh-CN" altLang="en-US" sz="2000" dirty="0">
                  <a:solidFill>
                    <a:schemeClr val="tx2"/>
                  </a:solidFill>
                </a:endParaRPr>
              </a:p>
              <a:p>
                <a:pPr eaLnBrk="1" hangingPunct="1">
                  <a:spcBef>
                    <a:spcPct val="20000"/>
                  </a:spcBef>
                  <a:buClr>
                    <a:schemeClr val="folHlink"/>
                  </a:buClr>
                  <a:buSzPct val="60000"/>
                  <a:buFont typeface="Wingdings" panose="05000000000000000000" pitchFamily="2" charset="2"/>
                  <a:buNone/>
                </a:pPr>
                <a:endParaRPr lang="en-US" altLang="zh-CN" sz="2000" dirty="0" smtClean="0">
                  <a:solidFill>
                    <a:schemeClr val="tx2"/>
                  </a:solidFill>
                  <a:ea typeface="黑体" panose="02010609060101010101" pitchFamily="49" charset="-122"/>
                </a:endParaRPr>
              </a:p>
              <a:p>
                <a:pPr eaLnBrk="1" hangingPunct="1">
                  <a:spcBef>
                    <a:spcPct val="20000"/>
                  </a:spcBef>
                  <a:buClr>
                    <a:schemeClr val="folHlink"/>
                  </a:buClr>
                  <a:buSzPct val="60000"/>
                  <a:buFont typeface="Wingdings" panose="05000000000000000000" pitchFamily="2" charset="2"/>
                  <a:buNone/>
                </a:pPr>
                <a:r>
                  <a:rPr lang="zh-CN" altLang="en-US" sz="2000" dirty="0" smtClean="0">
                    <a:solidFill>
                      <a:schemeClr val="tx2"/>
                    </a:solidFill>
                    <a:ea typeface="黑体" panose="02010609060101010101" pitchFamily="49" charset="-122"/>
                  </a:rPr>
                  <a:t>两</a:t>
                </a:r>
                <a:r>
                  <a:rPr lang="zh-CN" altLang="en-US" sz="2000" dirty="0">
                    <a:solidFill>
                      <a:schemeClr val="tx2"/>
                    </a:solidFill>
                    <a:ea typeface="黑体" panose="02010609060101010101" pitchFamily="49" charset="-122"/>
                  </a:rPr>
                  <a:t>个特征：</a:t>
                </a:r>
                <a:endParaRPr lang="zh-CN" altLang="en-US" sz="2000" dirty="0">
                  <a:solidFill>
                    <a:schemeClr val="tx2"/>
                  </a:solidFill>
                  <a:ea typeface="黑体" panose="02010609060101010101" pitchFamily="49" charset="-122"/>
                </a:endParaRPr>
              </a:p>
              <a:p>
                <a:pPr eaLnBrk="1" hangingPunct="1">
                  <a:spcBef>
                    <a:spcPct val="20000"/>
                  </a:spcBef>
                  <a:buClr>
                    <a:schemeClr val="folHlink"/>
                  </a:buClr>
                  <a:buSzPct val="60000"/>
                </a:pPr>
                <a:r>
                  <a:rPr lang="zh-CN" altLang="en-US" sz="2000" dirty="0" smtClean="0">
                    <a:solidFill>
                      <a:schemeClr val="tx2"/>
                    </a:solidFill>
                    <a:latin typeface="黑体" panose="02010609060101010101" pitchFamily="49" charset="-122"/>
                    <a:ea typeface="黑体" panose="02010609060101010101" pitchFamily="49" charset="-122"/>
                  </a:rPr>
                  <a:t>（</a:t>
                </a:r>
                <a:r>
                  <a:rPr lang="en-US" altLang="zh-CN" sz="2000" dirty="0">
                    <a:solidFill>
                      <a:schemeClr val="tx2"/>
                    </a:solidFill>
                    <a:latin typeface="黑体" panose="02010609060101010101" pitchFamily="49" charset="-122"/>
                    <a:ea typeface="黑体" panose="02010609060101010101" pitchFamily="49" charset="-122"/>
                  </a:rPr>
                  <a:t>1</a:t>
                </a:r>
                <a:r>
                  <a:rPr lang="zh-CN" altLang="en-US" sz="2000" dirty="0">
                    <a:solidFill>
                      <a:schemeClr val="tx2"/>
                    </a:solidFill>
                    <a:latin typeface="黑体" panose="02010609060101010101" pitchFamily="49" charset="-122"/>
                    <a:ea typeface="黑体" panose="02010609060101010101" pitchFamily="49" charset="-122"/>
                  </a:rPr>
                  <a:t>）</a:t>
                </a:r>
                <a:r>
                  <a:rPr lang="zh-CN" altLang="en-US" sz="2000" dirty="0">
                    <a:solidFill>
                      <a:srgbClr val="0066CC"/>
                    </a:solidFill>
                    <a:latin typeface="黑体" panose="02010609060101010101" pitchFamily="49" charset="-122"/>
                    <a:ea typeface="黑体" panose="02010609060101010101" pitchFamily="49" charset="-122"/>
                  </a:rPr>
                  <a:t>有周期性的密封容积</a:t>
                </a:r>
                <a:r>
                  <a:rPr lang="zh-CN" altLang="en-US" sz="2000" dirty="0" smtClean="0">
                    <a:solidFill>
                      <a:srgbClr val="0066CC"/>
                    </a:solidFill>
                    <a:latin typeface="黑体" panose="02010609060101010101" pitchFamily="49" charset="-122"/>
                    <a:ea typeface="黑体" panose="02010609060101010101" pitchFamily="49" charset="-122"/>
                  </a:rPr>
                  <a:t>变化：</a:t>
                </a:r>
                <a:r>
                  <a:rPr lang="zh-CN" altLang="en-US" sz="2000" dirty="0" smtClean="0">
                    <a:solidFill>
                      <a:schemeClr val="tx2"/>
                    </a:solidFill>
                  </a:rPr>
                  <a:t>密封</a:t>
                </a:r>
                <a:r>
                  <a:rPr lang="zh-CN" altLang="en-US" sz="2000" dirty="0">
                    <a:solidFill>
                      <a:schemeClr val="tx2"/>
                    </a:solidFill>
                  </a:rPr>
                  <a:t>容积由小变大时吸油；由大变小时压油。 </a:t>
                </a:r>
                <a:endParaRPr lang="zh-CN" altLang="en-US" sz="2000" dirty="0">
                  <a:solidFill>
                    <a:schemeClr val="tx2"/>
                  </a:solidFill>
                </a:endParaRPr>
              </a:p>
              <a:p>
                <a:pPr eaLnBrk="1" hangingPunct="1">
                  <a:spcBef>
                    <a:spcPct val="20000"/>
                  </a:spcBef>
                  <a:buClr>
                    <a:schemeClr val="folHlink"/>
                  </a:buClr>
                  <a:buSzPct val="60000"/>
                  <a:buFont typeface="Wingdings" panose="05000000000000000000" pitchFamily="2" charset="2"/>
                  <a:buNone/>
                </a:pPr>
                <a:r>
                  <a:rPr lang="zh-CN" altLang="en-US" sz="2000" dirty="0" smtClean="0">
                    <a:solidFill>
                      <a:schemeClr val="tx2"/>
                    </a:solidFill>
                    <a:latin typeface="黑体" panose="02010609060101010101" pitchFamily="49" charset="-122"/>
                    <a:ea typeface="黑体" panose="02010609060101010101" pitchFamily="49" charset="-122"/>
                  </a:rPr>
                  <a:t>（</a:t>
                </a:r>
                <a:r>
                  <a:rPr lang="en-US" altLang="zh-CN" sz="2000" dirty="0">
                    <a:solidFill>
                      <a:schemeClr val="tx2"/>
                    </a:solidFill>
                    <a:latin typeface="黑体" panose="02010609060101010101" pitchFamily="49" charset="-122"/>
                    <a:ea typeface="黑体" panose="02010609060101010101" pitchFamily="49" charset="-122"/>
                  </a:rPr>
                  <a:t>2</a:t>
                </a:r>
                <a:r>
                  <a:rPr lang="zh-CN" altLang="en-US" sz="2000" dirty="0">
                    <a:solidFill>
                      <a:schemeClr val="tx2"/>
                    </a:solidFill>
                    <a:latin typeface="黑体" panose="02010609060101010101" pitchFamily="49" charset="-122"/>
                    <a:ea typeface="黑体" panose="02010609060101010101" pitchFamily="49" charset="-122"/>
                  </a:rPr>
                  <a:t>）</a:t>
                </a:r>
                <a:r>
                  <a:rPr lang="zh-CN" altLang="en-US" sz="2000" dirty="0">
                    <a:solidFill>
                      <a:srgbClr val="0066CC"/>
                    </a:solidFill>
                    <a:latin typeface="黑体" panose="02010609060101010101" pitchFamily="49" charset="-122"/>
                    <a:ea typeface="黑体" panose="02010609060101010101" pitchFamily="49" charset="-122"/>
                  </a:rPr>
                  <a:t>有配油</a:t>
                </a:r>
                <a:r>
                  <a:rPr lang="zh-CN" altLang="en-US" sz="2000" dirty="0" smtClean="0">
                    <a:solidFill>
                      <a:srgbClr val="0066CC"/>
                    </a:solidFill>
                    <a:latin typeface="黑体" panose="02010609060101010101" pitchFamily="49" charset="-122"/>
                    <a:ea typeface="黑体" panose="02010609060101010101" pitchFamily="49" charset="-122"/>
                  </a:rPr>
                  <a:t>机构：</a:t>
                </a:r>
                <a:r>
                  <a:rPr lang="zh-CN" altLang="en-US" sz="2000" dirty="0" smtClean="0">
                    <a:solidFill>
                      <a:schemeClr val="tx2"/>
                    </a:solidFill>
                  </a:rPr>
                  <a:t>保证</a:t>
                </a:r>
                <a:r>
                  <a:rPr lang="zh-CN" altLang="en-US" sz="2000" dirty="0">
                    <a:solidFill>
                      <a:schemeClr val="tx2"/>
                    </a:solidFill>
                  </a:rPr>
                  <a:t>密封容积由小变大时，只与吸油管相通；密封容积由大变小时，只与压油管相通（如两个单向阀）。 </a:t>
                </a:r>
                <a:endParaRPr lang="zh-CN" altLang="en-US" sz="2000" dirty="0">
                  <a:solidFill>
                    <a:schemeClr val="tx2"/>
                  </a:solidFill>
                </a:endParaRPr>
              </a:p>
            </p:txBody>
          </p:sp>
        </mc:Choice>
        <mc:Fallback>
          <p:sp>
            <p:nvSpPr>
              <p:cNvPr id="7" name="Rectangle 1032"/>
              <p:cNvSpPr>
                <a:spLocks noRot="1" noChangeAspect="1" noMove="1" noResize="1" noEditPoints="1" noAdjustHandles="1" noChangeArrowheads="1" noChangeShapeType="1" noTextEdit="1"/>
              </p:cNvSpPr>
              <p:nvPr/>
            </p:nvSpPr>
            <p:spPr bwMode="auto">
              <a:xfrm>
                <a:off x="4464052" y="2331330"/>
                <a:ext cx="4344969" cy="3924615"/>
              </a:xfrm>
              <a:prstGeom prst="rect">
                <a:avLst/>
              </a:prstGeom>
              <a:blipFill rotWithShape="1">
                <a:blip r:embed="rId3"/>
                <a:stretch>
                  <a:fillRect t="-6" r="7" b="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eaLnBrk="1" hangingPunct="1">
              <a:lnSpc>
                <a:spcPct val="100000"/>
              </a:lnSpc>
            </a:pPr>
            <a:r>
              <a:rPr lang="zh-CN" altLang="en-US" sz="3600" b="1" dirty="0" smtClean="0">
                <a:solidFill>
                  <a:srgbClr val="FFC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液压泵的参数</a:t>
            </a:r>
            <a:br>
              <a:rPr lang="en-US" altLang="zh-CN" sz="3200" dirty="0" smtClean="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br>
            <a:r>
              <a:rPr lang="en-US" altLang="zh-CN" sz="3200" b="1" cap="none" dirty="0" smtClean="0">
                <a:solidFill>
                  <a:schemeClr val="accent1">
                    <a:lumMod val="20000"/>
                    <a:lumOff val="80000"/>
                  </a:schemeClr>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Parameters of Hydraulic Pumps</a:t>
            </a:r>
            <a:endParaRPr lang="zh-CN" altLang="en-US" sz="3200" b="1" cap="none" dirty="0">
              <a:solidFill>
                <a:schemeClr val="accent1">
                  <a:lumMod val="20000"/>
                  <a:lumOff val="80000"/>
                </a:schemeClr>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 name="文本占位符 2"/>
          <p:cNvSpPr>
            <a:spLocks noGrp="1"/>
          </p:cNvSpPr>
          <p:nvPr>
            <p:ph type="body" idx="1"/>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bwMode="auto">
          <a:xfrm>
            <a:off x="828675" y="278722"/>
            <a:ext cx="7485512" cy="9163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90000"/>
          </a:bodyPr>
          <a:lstStyle/>
          <a:p>
            <a:pPr>
              <a:lnSpc>
                <a:spcPct val="100000"/>
              </a:lnSpc>
            </a:pPr>
            <a:r>
              <a:rPr lang="zh-CN" altLang="en-US" sz="3200" dirty="0" smtClean="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压力</a:t>
            </a:r>
            <a:br>
              <a:rPr lang="en-US" altLang="zh-CN" sz="3200" u="sng" dirty="0">
                <a:solidFill>
                  <a:srgbClr val="0066CC"/>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br>
            <a:r>
              <a:rPr lang="en-US" altLang="zh-CN" sz="3100" b="1" dirty="0" smtClean="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Pressure</a:t>
            </a:r>
            <a:endParaRPr lang="zh-CN" altLang="en-US" sz="31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mc:AlternateContent xmlns:mc="http://schemas.openxmlformats.org/markup-compatibility/2006">
        <mc:Choice xmlns:a14="http://schemas.microsoft.com/office/drawing/2010/main" Requires="a14">
          <p:sp>
            <p:nvSpPr>
              <p:cNvPr id="2" name="内容占位符 1"/>
              <p:cNvSpPr>
                <a:spLocks noGrp="1"/>
              </p:cNvSpPr>
              <p:nvPr>
                <p:ph idx="1"/>
              </p:nvPr>
            </p:nvSpPr>
            <p:spPr>
              <a:xfrm>
                <a:off x="751759" y="1484903"/>
                <a:ext cx="8066316" cy="3349647"/>
              </a:xfrm>
            </p:spPr>
            <p:txBody>
              <a:bodyPr>
                <a:noAutofit/>
              </a:bodyPr>
              <a:lstStyle/>
              <a:p>
                <a:pPr>
                  <a:lnSpc>
                    <a:spcPct val="110000"/>
                  </a:lnSpc>
                  <a:spcBef>
                    <a:spcPts val="1200"/>
                  </a:spcBef>
                </a:pPr>
                <a:r>
                  <a:rPr lang="zh-CN" altLang="en-US" sz="2400" dirty="0" smtClean="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工作压力</a:t>
                </a:r>
                <a14:m>
                  <m:oMath xmlns:m="http://schemas.openxmlformats.org/officeDocument/2006/math">
                    <m:r>
                      <a:rPr lang="en-US" altLang="zh-CN" sz="2400" b="1" i="1" smtClean="0">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𝒑</m:t>
                    </m:r>
                  </m:oMath>
                </a14:m>
                <a:r>
                  <a:rPr lang="zh-CN" altLang="en-US" sz="2400"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液压泵工作</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时的实际输出</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压力，取决于</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负载。</a:t>
                </a:r>
                <a:endParaRPr lang="en-US" altLang="zh-CN"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endParaRPr>
              </a:p>
              <a:p>
                <a:pPr>
                  <a:lnSpc>
                    <a:spcPct val="110000"/>
                  </a:lnSpc>
                  <a:spcBef>
                    <a:spcPts val="1200"/>
                  </a:spcBef>
                </a:pPr>
                <a:r>
                  <a:rPr lang="zh-CN" altLang="en-US" sz="2400" b="1" dirty="0" smtClean="0">
                    <a:solidFill>
                      <a:srgbClr val="CC3300"/>
                    </a:solidFill>
                    <a:effectLst>
                      <a:outerShdw blurRad="38100" dist="38100" dir="2700000" algn="tl">
                        <a:srgbClr val="000000">
                          <a:alpha val="43137"/>
                        </a:srgbClr>
                      </a:outerShdw>
                    </a:effectLst>
                    <a:ea typeface="Cambria Math" panose="02040503050406030204"/>
                  </a:rPr>
                  <a:t>压差</a:t>
                </a:r>
                <a14:m>
                  <m:oMath xmlns:m="http://schemas.openxmlformats.org/officeDocument/2006/math">
                    <m:r>
                      <a:rPr lang="en-US" altLang="zh-CN" sz="2400" b="1" i="1" smtClean="0">
                        <a:solidFill>
                          <a:srgbClr val="CC3300"/>
                        </a:solidFill>
                        <a:effectLst>
                          <a:outerShdw blurRad="38100" dist="38100" dir="2700000" algn="tl">
                            <a:srgbClr val="000000">
                              <a:alpha val="43137"/>
                            </a:srgbClr>
                          </a:outerShdw>
                        </a:effectLst>
                        <a:latin typeface="Cambria Math" panose="02040503050406030204"/>
                        <a:ea typeface="Cambria Math" panose="02040503050406030204"/>
                      </a:rPr>
                      <m:t>∆</m:t>
                    </m:r>
                    <m: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𝒑</m:t>
                    </m:r>
                  </m:oMath>
                </a14:m>
                <a:r>
                  <a:rPr lang="zh-CN" altLang="en-US" sz="2400"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a:t>
                </a:r>
                <a:r>
                  <a:rPr lang="en-US" altLang="zh-CN" sz="2400" dirty="0" smtClean="0">
                    <a:latin typeface="Arial Unicode MS" panose="020B0604020202020204" pitchFamily="34" charset="-122"/>
                    <a:ea typeface="Arial Unicode MS" panose="020B0604020202020204" pitchFamily="34" charset="-122"/>
                    <a:cs typeface="Arial Unicode MS" panose="020B0604020202020204" pitchFamily="34" charset="-122"/>
                  </a:rPr>
                  <a:t>Pressure </a:t>
                </a:r>
                <a:r>
                  <a:rPr lang="en-US" altLang="zh-CN" sz="2400" dirty="0">
                    <a:latin typeface="Arial Unicode MS" panose="020B0604020202020204" pitchFamily="34" charset="-122"/>
                    <a:ea typeface="Arial Unicode MS" panose="020B0604020202020204" pitchFamily="34" charset="-122"/>
                    <a:cs typeface="Arial Unicode MS" panose="020B0604020202020204" pitchFamily="34" charset="-122"/>
                  </a:rPr>
                  <a:t>difference over </a:t>
                </a:r>
                <a:r>
                  <a:rPr lang="en-US" altLang="zh-CN" sz="2400" dirty="0" smtClean="0">
                    <a:latin typeface="Arial Unicode MS" panose="020B0604020202020204" pitchFamily="34" charset="-122"/>
                    <a:ea typeface="Arial Unicode MS" panose="020B0604020202020204" pitchFamily="34" charset="-122"/>
                    <a:cs typeface="Arial Unicode MS" panose="020B0604020202020204" pitchFamily="34" charset="-122"/>
                  </a:rPr>
                  <a:t>pump.</a:t>
                </a:r>
                <a:endParaRPr lang="zh-CN" altLang="en-US" sz="2400" dirty="0">
                  <a:solidFill>
                    <a:srgbClr val="0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a:p>
                <a:pPr>
                  <a:lnSpc>
                    <a:spcPct val="110000"/>
                  </a:lnSpc>
                  <a:spcBef>
                    <a:spcPts val="1200"/>
                  </a:spcBef>
                </a:pPr>
                <a:r>
                  <a:rPr lang="zh-CN" altLang="en-US" sz="2400" dirty="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额定压力</a:t>
                </a:r>
                <a14:m>
                  <m:oMath xmlns:m="http://schemas.openxmlformats.org/officeDocument/2006/math">
                    <m:sSub>
                      <m:sSubPr>
                        <m:ctrlP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ctrlPr>
                      </m:sSubPr>
                      <m:e>
                        <m: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𝒑</m:t>
                        </m:r>
                      </m:e>
                      <m:sub>
                        <m: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𝑯</m:t>
                        </m:r>
                      </m:sub>
                    </m:sSub>
                  </m:oMath>
                </a14:m>
                <a:r>
                  <a:rPr lang="zh-CN" altLang="en-US" sz="2400"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在</a:t>
                </a:r>
                <a:r>
                  <a:rPr lang="zh-CN" altLang="en-US" sz="2400" b="1" dirty="0">
                    <a:solidFill>
                      <a:srgbClr val="0066CC"/>
                    </a:solidFill>
                    <a:effectLst>
                      <a:outerShdw blurRad="38100" dist="38100" dir="2700000" algn="tl">
                        <a:srgbClr val="000000">
                          <a:alpha val="43137"/>
                        </a:srgbClr>
                      </a:outerShdw>
                    </a:effectLst>
                    <a:latin typeface="楷体_GB2312" pitchFamily="49" charset="-122"/>
                    <a:ea typeface="楷体_GB2312" pitchFamily="49" charset="-122"/>
                  </a:rPr>
                  <a:t>正常工作条件</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下，按试验标准规定的</a:t>
                </a:r>
                <a:r>
                  <a:rPr lang="zh-CN" altLang="en-US" sz="2400" b="1" dirty="0" smtClean="0">
                    <a:solidFill>
                      <a:srgbClr val="0066CC"/>
                    </a:solidFill>
                    <a:effectLst>
                      <a:outerShdw blurRad="38100" dist="38100" dir="2700000" algn="tl">
                        <a:srgbClr val="000000">
                          <a:alpha val="43137"/>
                        </a:srgbClr>
                      </a:outerShdw>
                    </a:effectLst>
                    <a:latin typeface="楷体_GB2312" pitchFamily="49" charset="-122"/>
                    <a:ea typeface="楷体_GB2312" pitchFamily="49" charset="-122"/>
                  </a:rPr>
                  <a:t>连续</a:t>
                </a:r>
                <a:r>
                  <a:rPr lang="zh-CN" altLang="en-US" sz="2400" b="1" dirty="0">
                    <a:solidFill>
                      <a:srgbClr val="0066CC"/>
                    </a:solidFill>
                    <a:effectLst>
                      <a:outerShdw blurRad="38100" dist="38100" dir="2700000" algn="tl">
                        <a:srgbClr val="000000">
                          <a:alpha val="43137"/>
                        </a:srgbClr>
                      </a:outerShdw>
                    </a:effectLst>
                    <a:latin typeface="楷体_GB2312" pitchFamily="49" charset="-122"/>
                    <a:ea typeface="楷体_GB2312" pitchFamily="49" charset="-122"/>
                  </a:rPr>
                  <a:t>高效</a:t>
                </a:r>
                <a:r>
                  <a:rPr lang="zh-CN" altLang="en-US" sz="2400" b="1" dirty="0" smtClean="0">
                    <a:solidFill>
                      <a:srgbClr val="0066CC"/>
                    </a:solidFill>
                    <a:effectLst>
                      <a:outerShdw blurRad="38100" dist="38100" dir="2700000" algn="tl">
                        <a:srgbClr val="000000">
                          <a:alpha val="43137"/>
                        </a:srgbClr>
                      </a:outerShdw>
                    </a:effectLst>
                    <a:latin typeface="楷体_GB2312" pitchFamily="49" charset="-122"/>
                    <a:ea typeface="楷体_GB2312" pitchFamily="49" charset="-122"/>
                  </a:rPr>
                  <a:t>运转</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的</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最高压力，超过此值即为过载，它取决于泵的结构强度和</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密封。</a:t>
                </a:r>
                <a:endParaRPr lang="en-US" altLang="zh-CN"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endParaRPr>
              </a:p>
              <a:p>
                <a:pPr>
                  <a:lnSpc>
                    <a:spcPct val="110000"/>
                  </a:lnSpc>
                  <a:spcBef>
                    <a:spcPts val="1200"/>
                  </a:spcBef>
                </a:pPr>
                <a:r>
                  <a:rPr lang="zh-CN" altLang="en-US" sz="2400" dirty="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最高压力</a:t>
                </a:r>
                <a14:m>
                  <m:oMath xmlns:m="http://schemas.openxmlformats.org/officeDocument/2006/math">
                    <m:sSub>
                      <m:sSubPr>
                        <m:ctrlP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ctrlPr>
                      </m:sSubPr>
                      <m:e>
                        <m: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𝒑</m:t>
                        </m:r>
                      </m:e>
                      <m:sub>
                        <m:r>
                          <a:rPr lang="en-US" altLang="zh-CN" sz="2400" b="1" i="1">
                            <a:solidFill>
                              <a:srgbClr val="CC3300"/>
                            </a:solidFill>
                            <a:effectLst>
                              <a:outerShdw blurRad="38100" dist="38100" dir="2700000" algn="tl">
                                <a:srgbClr val="000000">
                                  <a:alpha val="43137"/>
                                </a:srgbClr>
                              </a:outerShdw>
                            </a:effectLst>
                            <a:latin typeface="Cambria Math" panose="02040503050406030204"/>
                            <a:ea typeface="黑体" panose="02010609060101010101" pitchFamily="49" charset="-122"/>
                          </a:rPr>
                          <m:t>𝒎𝒂𝒙</m:t>
                        </m:r>
                      </m:sub>
                    </m:sSub>
                  </m:oMath>
                </a14:m>
                <a:r>
                  <a:rPr lang="zh-CN" altLang="en-US" sz="2400"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液压泵在</a:t>
                </a:r>
                <a:r>
                  <a:rPr lang="zh-CN" altLang="en-US" sz="2400" b="1" dirty="0">
                    <a:solidFill>
                      <a:srgbClr val="0066CC"/>
                    </a:solidFill>
                    <a:effectLst>
                      <a:outerShdw blurRad="38100" dist="38100" dir="2700000" algn="tl">
                        <a:srgbClr val="000000">
                          <a:alpha val="43137"/>
                        </a:srgbClr>
                      </a:outerShdw>
                    </a:effectLst>
                    <a:latin typeface="楷体_GB2312" pitchFamily="49" charset="-122"/>
                    <a:ea typeface="楷体_GB2312" pitchFamily="49" charset="-122"/>
                  </a:rPr>
                  <a:t>短暂运行</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时间</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内所允许</a:t>
                </a:r>
                <a:r>
                  <a:rPr lang="zh-CN" altLang="en-US" sz="2400" b="1" dirty="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的最高压力</a:t>
                </a:r>
                <a:r>
                  <a:rPr lang="zh-CN" altLang="en-US" sz="2400" b="1" dirty="0" smtClean="0">
                    <a:solidFill>
                      <a:srgbClr val="000000"/>
                    </a:solidFill>
                    <a:effectLst>
                      <a:outerShdw blurRad="38100" dist="38100" dir="2700000" algn="tl">
                        <a:srgbClr val="000000">
                          <a:alpha val="43137"/>
                        </a:srgbClr>
                      </a:outerShdw>
                    </a:effectLst>
                    <a:latin typeface="楷体_GB2312" pitchFamily="49" charset="-122"/>
                    <a:ea typeface="楷体_GB2312" pitchFamily="49" charset="-122"/>
                  </a:rPr>
                  <a:t>。</a:t>
                </a:r>
                <a:endParaRPr lang="zh-CN" altLang="en-US" sz="2400" b="1" dirty="0">
                  <a:effectLst>
                    <a:outerShdw blurRad="38100" dist="38100" dir="2700000" algn="tl">
                      <a:srgbClr val="000000">
                        <a:alpha val="43137"/>
                      </a:srgbClr>
                    </a:outerShdw>
                  </a:effectLst>
                </a:endParaRPr>
              </a:p>
            </p:txBody>
          </p:sp>
        </mc:Choice>
        <mc:Fallback>
          <p:sp>
            <p:nvSpPr>
              <p:cNvPr id="2" name="内容占位符 1"/>
              <p:cNvSpPr>
                <a:spLocks noRot="1" noChangeAspect="1" noMove="1" noResize="1" noEditPoints="1" noAdjustHandles="1" noChangeArrowheads="1" noChangeShapeType="1" noTextEdit="1"/>
              </p:cNvSpPr>
              <p:nvPr>
                <p:ph idx="1"/>
              </p:nvPr>
            </p:nvSpPr>
            <p:spPr>
              <a:xfrm>
                <a:off x="751759" y="1484903"/>
                <a:ext cx="8066316" cy="3349647"/>
              </a:xfrm>
              <a:blipFill rotWithShape="1">
                <a:blip r:embed="rId1"/>
                <a:stretch>
                  <a:fillRect l="-7" t="-8" r="6" b="-11005"/>
                </a:stretch>
              </a:blipFill>
            </p:spPr>
            <p:txBody>
              <a:bodyPr/>
              <a:lstStyle/>
              <a:p>
                <a:r>
                  <a:rPr lang="zh-CN" altLang="en-US">
                    <a:noFill/>
                  </a:rPr>
                  <a:t> </a:t>
                </a:r>
              </a:p>
            </p:txBody>
          </p:sp>
        </mc:Fallback>
      </mc:AlternateContent>
      <p:pic>
        <p:nvPicPr>
          <p:cNvPr id="7" name="图片 6"/>
          <p:cNvPicPr>
            <a:picLocks noChangeAspect="1"/>
          </p:cNvPicPr>
          <p:nvPr/>
        </p:nvPicPr>
        <p:blipFill>
          <a:blip r:embed="rId2">
            <a:extLst>
              <a:ext uri="{BEBA8EAE-BF5A-486C-A8C5-ECC9F3942E4B}">
                <a14:imgProps xmlns:a14="http://schemas.microsoft.com/office/drawing/2010/main">
                  <a14:imgLayer r:embed="rId3">
                    <a14:imgEffect>
                      <a14:backgroundRemoval t="394" b="97244" l="0" r="100000"/>
                    </a14:imgEffect>
                  </a14:imgLayer>
                </a14:imgProps>
              </a:ext>
              <a:ext uri="{28A0092B-C50C-407E-A947-70E740481C1C}">
                <a14:useLocalDpi xmlns:a14="http://schemas.microsoft.com/office/drawing/2010/main" val="0"/>
              </a:ext>
            </a:extLst>
          </a:blip>
          <a:stretch>
            <a:fillRect/>
          </a:stretch>
        </p:blipFill>
        <p:spPr>
          <a:xfrm>
            <a:off x="5630802" y="4458166"/>
            <a:ext cx="2380937" cy="2399833"/>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846782" y="262551"/>
            <a:ext cx="7485512" cy="906838"/>
          </a:xfrm>
        </p:spPr>
        <p:txBody>
          <a:bodyPr>
            <a:normAutofit fontScale="90000"/>
          </a:bodyPr>
          <a:lstStyle/>
          <a:p>
            <a:r>
              <a:rPr lang="zh-CN" altLang="en-US" sz="3200" dirty="0" smtClean="0">
                <a:solidFill>
                  <a:srgbClr val="CC3300"/>
                </a:solidFill>
                <a:effectLst>
                  <a:outerShdw blurRad="38100" dist="38100" dir="2700000" algn="tl">
                    <a:srgbClr val="000000">
                      <a:alpha val="43137"/>
                    </a:srgbClr>
                  </a:outerShdw>
                </a:effectLst>
              </a:rPr>
              <a:t>排量</a:t>
            </a:r>
            <a:br>
              <a:rPr lang="en-US" altLang="zh-CN" sz="3200" dirty="0" smtClean="0">
                <a:solidFill>
                  <a:srgbClr val="CC3300"/>
                </a:solidFill>
                <a:effectLst>
                  <a:outerShdw blurRad="38100" dist="38100" dir="2700000" algn="tl">
                    <a:srgbClr val="000000">
                      <a:alpha val="43137"/>
                    </a:srgbClr>
                  </a:outerShdw>
                </a:effectLst>
              </a:rPr>
            </a:br>
            <a:r>
              <a:rPr lang="en-US" altLang="zh-CN" sz="31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Displacement</a:t>
            </a:r>
            <a:r>
              <a:rPr lang="en-US" altLang="zh-CN" sz="3200" dirty="0" smtClean="0"/>
              <a:t> </a:t>
            </a:r>
            <a:endParaRPr lang="zh-CN" altLang="en-US" sz="3200" dirty="0">
              <a:solidFill>
                <a:srgbClr val="CC3300"/>
              </a:solidFill>
              <a:effectLst>
                <a:outerShdw blurRad="38100" dist="38100" dir="2700000" algn="tl">
                  <a:srgbClr val="000000">
                    <a:alpha val="43137"/>
                  </a:srgbClr>
                </a:outerShdw>
              </a:effectLst>
            </a:endParaRPr>
          </a:p>
        </p:txBody>
      </p:sp>
      <mc:AlternateContent xmlns:mc="http://schemas.openxmlformats.org/markup-compatibility/2006">
        <mc:Choice xmlns:a14="http://schemas.microsoft.com/office/drawing/2010/main" Requires="a14">
          <p:sp>
            <p:nvSpPr>
              <p:cNvPr id="1028" name="Rectangle 13"/>
              <p:cNvSpPr>
                <a:spLocks noGrp="1" noChangeArrowheads="1"/>
              </p:cNvSpPr>
              <p:nvPr>
                <p:ph type="body" idx="4294967295"/>
              </p:nvPr>
            </p:nvSpPr>
            <p:spPr bwMode="auto">
              <a:xfrm>
                <a:off x="664743" y="1479923"/>
                <a:ext cx="7777162" cy="33998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85000" lnSpcReduction="10000"/>
              </a:bodyPr>
              <a:lstStyle/>
              <a:p>
                <a:pPr marL="0" indent="0" algn="just">
                  <a:lnSpc>
                    <a:spcPct val="125000"/>
                  </a:lnSpc>
                  <a:buNone/>
                </a:pPr>
                <a:r>
                  <a:rPr lang="zh-CN" altLang="en-US" sz="2400" dirty="0" smtClean="0">
                    <a:solidFill>
                      <a:srgbClr val="C00000"/>
                    </a:solidFill>
                    <a:latin typeface="黑体" panose="02010609060101010101" pitchFamily="49" charset="-122"/>
                    <a:ea typeface="黑体" panose="02010609060101010101" pitchFamily="49" charset="-122"/>
                  </a:rPr>
                  <a:t>排量</a:t>
                </a:r>
                <a14:m>
                  <m:oMath xmlns:m="http://schemas.openxmlformats.org/officeDocument/2006/math">
                    <m:r>
                      <a:rPr lang="en-US" altLang="zh-CN" sz="2400" b="1" i="1" smtClean="0">
                        <a:solidFill>
                          <a:srgbClr val="C00000"/>
                        </a:solidFill>
                        <a:latin typeface="Cambria Math" panose="02040503050406030204"/>
                        <a:ea typeface="黑体" panose="02010609060101010101" pitchFamily="49" charset="-122"/>
                      </a:rPr>
                      <m:t>𝒒</m:t>
                    </m:r>
                  </m:oMath>
                </a14:m>
                <a:r>
                  <a:rPr lang="zh-CN" altLang="en-US" sz="2400" dirty="0" smtClean="0">
                    <a:solidFill>
                      <a:schemeClr val="tx2"/>
                    </a:solidFill>
                    <a:latin typeface="黑体" panose="02010609060101010101" pitchFamily="49" charset="-122"/>
                    <a:ea typeface="黑体" panose="02010609060101010101" pitchFamily="49" charset="-122"/>
                  </a:rPr>
                  <a:t>：</a:t>
                </a:r>
                <a:r>
                  <a:rPr lang="zh-CN" altLang="en-US" sz="2400" b="1" dirty="0" smtClean="0">
                    <a:solidFill>
                      <a:schemeClr val="tx2"/>
                    </a:solidFill>
                    <a:latin typeface="楷体_GB2312" pitchFamily="49" charset="-122"/>
                    <a:ea typeface="楷体_GB2312" pitchFamily="49" charset="-122"/>
                  </a:rPr>
                  <a:t>在无泄漏的情况下，泵轴每转一转排出的液体体积，它取决于泵的几何尺寸，又称几何排量，单位是</a:t>
                </a:r>
                <a14:m>
                  <m:oMath xmlns:m="http://schemas.openxmlformats.org/officeDocument/2006/math">
                    <m:r>
                      <a:rPr lang="en-US" altLang="zh-CN" sz="2400" b="1" i="1">
                        <a:solidFill>
                          <a:schemeClr val="tx2"/>
                        </a:solidFill>
                        <a:latin typeface="Cambria Math" panose="02040503050406030204"/>
                        <a:ea typeface="黑体" panose="02010609060101010101" pitchFamily="49" charset="-122"/>
                      </a:rPr>
                      <m:t>𝒎𝒍</m:t>
                    </m:r>
                    <m:r>
                      <a:rPr lang="en-US" altLang="zh-CN" sz="2400" b="1" i="1" smtClean="0">
                        <a:solidFill>
                          <a:schemeClr val="tx2"/>
                        </a:solidFill>
                        <a:latin typeface="Cambria Math" panose="02040503050406030204"/>
                        <a:ea typeface="黑体" panose="02010609060101010101" pitchFamily="49" charset="-122"/>
                      </a:rPr>
                      <m:t>/</m:t>
                    </m:r>
                    <m:r>
                      <a:rPr lang="en-US" altLang="zh-CN" sz="2400" b="1" i="1" smtClean="0">
                        <a:solidFill>
                          <a:schemeClr val="tx2"/>
                        </a:solidFill>
                        <a:latin typeface="Cambria Math" panose="02040503050406030204"/>
                        <a:ea typeface="黑体" panose="02010609060101010101" pitchFamily="49" charset="-122"/>
                      </a:rPr>
                      <m:t>𝒓</m:t>
                    </m:r>
                  </m:oMath>
                </a14:m>
                <a:r>
                  <a:rPr lang="zh-CN" altLang="en-US" sz="2400" b="1" dirty="0" smtClean="0">
                    <a:solidFill>
                      <a:schemeClr val="tx2"/>
                    </a:solidFill>
                    <a:latin typeface="楷体_GB2312" pitchFamily="49" charset="-122"/>
                    <a:ea typeface="楷体_GB2312" pitchFamily="49" charset="-122"/>
                  </a:rPr>
                  <a:t>，</a:t>
                </a:r>
                <a14:m>
                  <m:oMath xmlns:m="http://schemas.openxmlformats.org/officeDocument/2006/math">
                    <m:r>
                      <a:rPr lang="en-US" altLang="zh-CN" sz="2400" b="1" i="1" smtClean="0">
                        <a:solidFill>
                          <a:schemeClr val="tx2"/>
                        </a:solidFill>
                        <a:latin typeface="Cambria Math" panose="02040503050406030204"/>
                        <a:ea typeface="黑体" panose="02010609060101010101" pitchFamily="49" charset="-122"/>
                      </a:rPr>
                      <m:t>𝒄𝒄</m:t>
                    </m:r>
                    <m:r>
                      <a:rPr lang="en-US" altLang="zh-CN" sz="2400" b="1" i="1">
                        <a:solidFill>
                          <a:schemeClr val="tx2"/>
                        </a:solidFill>
                        <a:latin typeface="Cambria Math" panose="02040503050406030204"/>
                        <a:ea typeface="黑体" panose="02010609060101010101" pitchFamily="49" charset="-122"/>
                      </a:rPr>
                      <m:t>/</m:t>
                    </m:r>
                    <m:r>
                      <a:rPr lang="en-US" altLang="zh-CN" sz="2400" b="1" i="1">
                        <a:solidFill>
                          <a:schemeClr val="tx2"/>
                        </a:solidFill>
                        <a:latin typeface="Cambria Math" panose="02040503050406030204"/>
                        <a:ea typeface="黑体" panose="02010609060101010101" pitchFamily="49" charset="-122"/>
                      </a:rPr>
                      <m:t>𝒓</m:t>
                    </m:r>
                  </m:oMath>
                </a14:m>
                <a:r>
                  <a:rPr lang="zh-CN" altLang="en-US" sz="2400" b="1" dirty="0">
                    <a:solidFill>
                      <a:schemeClr val="tx2"/>
                    </a:solidFill>
                    <a:latin typeface="楷体_GB2312" pitchFamily="49" charset="-122"/>
                    <a:ea typeface="楷体_GB2312" pitchFamily="49" charset="-122"/>
                  </a:rPr>
                  <a:t> 。</a:t>
                </a:r>
                <a:endParaRPr lang="en-US" altLang="zh-CN" sz="2400" b="1" dirty="0" smtClean="0">
                  <a:solidFill>
                    <a:schemeClr val="tx2"/>
                  </a:solidFill>
                  <a:latin typeface="楷体_GB2312" pitchFamily="49" charset="-122"/>
                  <a:ea typeface="楷体_GB2312" pitchFamily="49" charset="-122"/>
                </a:endParaRPr>
              </a:p>
              <a:p>
                <a:pPr marL="0" indent="0" algn="just">
                  <a:lnSpc>
                    <a:spcPct val="125000"/>
                  </a:lnSpc>
                  <a:buNone/>
                </a:pPr>
                <a:r>
                  <a:rPr lang="en-US" altLang="zh-CN" sz="2400" i="1"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Displacement </a:t>
                </a:r>
                <a:r>
                  <a:rPr lang="en-US" altLang="zh-CN" sz="2400" i="1"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is the amount of liquid transferred from a pump’s inlet to its outlet in one revolution or </a:t>
                </a:r>
                <a:r>
                  <a:rPr lang="en-US" altLang="zh-CN" sz="2400" i="1"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cycle.</a:t>
                </a:r>
                <a:endParaRPr lang="en-US" altLang="zh-CN" sz="2400" i="1"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gn="just">
                  <a:lnSpc>
                    <a:spcPct val="125000"/>
                  </a:lnSpc>
                  <a:buNone/>
                </a:pPr>
                <a:r>
                  <a:rPr lang="en-US" altLang="zh-CN"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Hydraulic </a:t>
                </a:r>
                <a:r>
                  <a:rPr lang="en-US" altLang="zh-CN" sz="24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pumps can be </a:t>
                </a:r>
                <a:r>
                  <a:rPr lang="en-US" altLang="zh-CN" sz="2400" b="1"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fixed displacement </a:t>
                </a:r>
                <a:r>
                  <a:rPr lang="en-US" altLang="zh-CN" sz="2400" b="1"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pumps</a:t>
                </a:r>
                <a:r>
                  <a:rPr lang="zh-CN" altLang="en-US" sz="2400" b="1" dirty="0">
                    <a:solidFill>
                      <a:srgbClr val="C00000"/>
                    </a:solidFill>
                    <a:latin typeface="黑体" panose="02010609060101010101" pitchFamily="49" charset="-122"/>
                    <a:ea typeface="黑体" panose="02010609060101010101" pitchFamily="49" charset="-122"/>
                    <a:cs typeface="Arial Unicode MS" panose="020B0604020202020204" pitchFamily="34" charset="-122"/>
                  </a:rPr>
                  <a:t>（定量泵）</a:t>
                </a:r>
                <a:r>
                  <a:rPr lang="en-US" altLang="zh-CN"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in which the displacement cannot be adjusted, or </a:t>
                </a:r>
                <a:r>
                  <a:rPr lang="en-US" altLang="zh-CN" sz="2400" b="1" dirty="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variable displacement </a:t>
                </a:r>
                <a:r>
                  <a:rPr lang="en-US" altLang="zh-CN" sz="2400" b="1" dirty="0" smtClean="0">
                    <a:solidFill>
                      <a:srgbClr val="C00000"/>
                    </a:solidFill>
                    <a:latin typeface="Arial Unicode MS" panose="020B0604020202020204" pitchFamily="34" charset="-122"/>
                    <a:ea typeface="Arial Unicode MS" panose="020B0604020202020204" pitchFamily="34" charset="-122"/>
                    <a:cs typeface="Arial Unicode MS" panose="020B0604020202020204" pitchFamily="34" charset="-122"/>
                  </a:rPr>
                  <a:t>pumps</a:t>
                </a:r>
                <a:r>
                  <a:rPr lang="zh-CN" altLang="en-US" sz="2400" b="1" dirty="0" smtClean="0">
                    <a:solidFill>
                      <a:srgbClr val="C00000"/>
                    </a:solidFill>
                    <a:latin typeface="黑体" panose="02010609060101010101" pitchFamily="49" charset="-122"/>
                    <a:ea typeface="黑体" panose="02010609060101010101" pitchFamily="49" charset="-122"/>
                    <a:cs typeface="Arial Unicode MS" panose="020B0604020202020204" pitchFamily="34" charset="-122"/>
                  </a:rPr>
                  <a:t>（</a:t>
                </a:r>
                <a:r>
                  <a:rPr lang="zh-CN" altLang="en-US" sz="2400" b="1" dirty="0">
                    <a:solidFill>
                      <a:srgbClr val="C00000"/>
                    </a:solidFill>
                    <a:latin typeface="黑体" panose="02010609060101010101" pitchFamily="49" charset="-122"/>
                    <a:ea typeface="黑体" panose="02010609060101010101" pitchFamily="49" charset="-122"/>
                    <a:cs typeface="Arial Unicode MS" panose="020B0604020202020204" pitchFamily="34" charset="-122"/>
                  </a:rPr>
                  <a:t>变量泵</a:t>
                </a:r>
                <a:r>
                  <a:rPr lang="zh-CN" altLang="en-US" sz="2400" b="1" dirty="0" smtClean="0">
                    <a:solidFill>
                      <a:srgbClr val="C00000"/>
                    </a:solidFill>
                    <a:latin typeface="黑体" panose="02010609060101010101" pitchFamily="49" charset="-122"/>
                    <a:ea typeface="黑体" panose="02010609060101010101" pitchFamily="49" charset="-122"/>
                    <a:cs typeface="Arial Unicode MS" panose="020B0604020202020204" pitchFamily="34" charset="-122"/>
                  </a:rPr>
                  <a:t>）</a:t>
                </a:r>
                <a:r>
                  <a:rPr lang="en-US" altLang="zh-CN" sz="2400" dirty="0" smtClean="0">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which have a more complicated construction that allows the displacement to be adjusted.</a:t>
                </a:r>
                <a:endParaRPr lang="en-US" altLang="zh-CN" sz="2400" dirty="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gn="just">
                  <a:lnSpc>
                    <a:spcPct val="125000"/>
                  </a:lnSpc>
                  <a:buNone/>
                </a:pPr>
                <a:endParaRPr lang="zh-CN" altLang="en-US"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algn="just">
                  <a:lnSpc>
                    <a:spcPct val="125000"/>
                  </a:lnSpc>
                  <a:buNone/>
                </a:pPr>
                <a:endParaRPr lang="en-US" altLang="zh-CN" sz="4200" dirty="0" smtClean="0">
                  <a:solidFill>
                    <a:schemeClr val="tx2"/>
                  </a:solidFill>
                  <a:latin typeface="楷体_GB2312" pitchFamily="49" charset="-122"/>
                  <a:ea typeface="楷体_GB2312" pitchFamily="49" charset="-122"/>
                </a:endParaRPr>
              </a:p>
            </p:txBody>
          </p:sp>
        </mc:Choice>
        <mc:Fallback>
          <p:sp>
            <p:nvSpPr>
              <p:cNvPr id="1028" name="Rectangle 13"/>
              <p:cNvSpPr>
                <a:spLocks noRot="1" noChangeAspect="1" noMove="1" noResize="1" noEditPoints="1" noAdjustHandles="1" noChangeArrowheads="1" noChangeShapeType="1" noTextEdit="1"/>
              </p:cNvSpPr>
              <p:nvPr>
                <p:ph type="body" idx="4294967295"/>
              </p:nvPr>
            </p:nvSpPr>
            <p:spPr bwMode="auto">
              <a:xfrm>
                <a:off x="664743" y="1479923"/>
                <a:ext cx="7777162" cy="3399896"/>
              </a:xfrm>
              <a:blipFill rotWithShape="1">
                <a:blip r:embed="rId1"/>
                <a:stretch>
                  <a:fillRect l="-7" t="-11" r="3" b="-21259"/>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84752" y="5192837"/>
            <a:ext cx="2758973" cy="129806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a:xfrm>
            <a:off x="864888" y="443852"/>
            <a:ext cx="7485512" cy="698377"/>
          </a:xfrm>
        </p:spPr>
        <p:txBody>
          <a:bodyPr>
            <a:normAutofit fontScale="90000"/>
          </a:bodyPr>
          <a:lstStyle/>
          <a:p>
            <a:pPr>
              <a:lnSpc>
                <a:spcPct val="100000"/>
              </a:lnSpc>
            </a:pPr>
            <a:r>
              <a:rPr lang="zh-CN" altLang="en-US" sz="3200" dirty="0" smtClean="0">
                <a:solidFill>
                  <a:srgbClr val="CC3300"/>
                </a:solidFill>
                <a:effectLst>
                  <a:outerShdw blurRad="38100" dist="38100" dir="2700000" algn="tl">
                    <a:srgbClr val="000000">
                      <a:alpha val="43137"/>
                    </a:srgbClr>
                  </a:outerShdw>
                </a:effectLst>
              </a:rPr>
              <a:t>流量</a:t>
            </a:r>
            <a:br>
              <a:rPr lang="en-US" altLang="zh-CN" sz="3200" dirty="0">
                <a:solidFill>
                  <a:srgbClr val="CC3300"/>
                </a:solidFill>
                <a:effectLst>
                  <a:outerShdw blurRad="38100" dist="38100" dir="2700000" algn="tl">
                    <a:srgbClr val="000000">
                      <a:alpha val="43137"/>
                    </a:srgbClr>
                  </a:outerShdw>
                </a:effectLst>
              </a:rPr>
            </a:br>
            <a:r>
              <a:rPr lang="en-US" altLang="zh-CN" sz="3100" b="1" dirty="0" smtClean="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Flow  Rate</a:t>
            </a:r>
            <a:endParaRPr lang="zh-CN" altLang="en-US" sz="31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mc:AlternateContent xmlns:mc="http://schemas.openxmlformats.org/markup-compatibility/2006">
        <mc:Choice xmlns:a14="http://schemas.microsoft.com/office/drawing/2010/main" Requires="a14">
          <p:sp>
            <p:nvSpPr>
              <p:cNvPr id="1028" name="Rectangle 13"/>
              <p:cNvSpPr>
                <a:spLocks noGrp="1" noChangeArrowheads="1"/>
              </p:cNvSpPr>
              <p:nvPr>
                <p:ph type="body" idx="4294967295"/>
              </p:nvPr>
            </p:nvSpPr>
            <p:spPr bwMode="auto">
              <a:xfrm>
                <a:off x="700957" y="1498030"/>
                <a:ext cx="8017530" cy="225010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a:bodyPr>
              <a:lstStyle/>
              <a:p>
                <a:pPr marL="271780" indent="-271780">
                  <a:lnSpc>
                    <a:spcPct val="130000"/>
                  </a:lnSpc>
                  <a:buClr>
                    <a:srgbClr val="CC3300"/>
                  </a:buClr>
                  <a:buSzPct val="60000"/>
                  <a:buFont typeface="Wingdings" panose="05000000000000000000" pitchFamily="2" charset="2"/>
                  <a:buChar char="n"/>
                  <a:tabLst>
                    <a:tab pos="271145" algn="l"/>
                  </a:tabLst>
                </a:pPr>
                <a:r>
                  <a:rPr lang="zh-CN" altLang="en-US" sz="2500" dirty="0" smtClean="0">
                    <a:solidFill>
                      <a:srgbClr val="CC3300"/>
                    </a:solidFill>
                    <a:latin typeface="黑体" panose="02010609060101010101" pitchFamily="49" charset="-122"/>
                    <a:ea typeface="黑体" panose="02010609060101010101" pitchFamily="49" charset="-122"/>
                  </a:rPr>
                  <a:t>流量</a:t>
                </a:r>
                <a14:m>
                  <m:oMath xmlns:m="http://schemas.openxmlformats.org/officeDocument/2006/math">
                    <m:r>
                      <a:rPr lang="en-US" altLang="zh-CN" sz="2500" b="1" i="1">
                        <a:solidFill>
                          <a:srgbClr val="CC3300"/>
                        </a:solidFill>
                        <a:latin typeface="Cambria Math" panose="02040503050406030204"/>
                        <a:ea typeface="黑体" panose="02010609060101010101" pitchFamily="49" charset="-122"/>
                      </a:rPr>
                      <m:t>𝑸</m:t>
                    </m:r>
                  </m:oMath>
                </a14:m>
                <a:r>
                  <a:rPr lang="zh-CN" altLang="en-US" sz="2400" dirty="0" smtClean="0">
                    <a:solidFill>
                      <a:schemeClr val="tx2"/>
                    </a:solidFill>
                    <a:latin typeface="楷体_GB2312" pitchFamily="49" charset="-122"/>
                    <a:ea typeface="楷体_GB2312" pitchFamily="49" charset="-122"/>
                  </a:rPr>
                  <a:t>：</a:t>
                </a:r>
                <a:r>
                  <a:rPr lang="zh-CN" altLang="en-US" sz="2400" b="1" dirty="0" smtClean="0">
                    <a:solidFill>
                      <a:schemeClr val="tx2"/>
                    </a:solidFill>
                    <a:latin typeface="楷体_GB2312" pitchFamily="49" charset="-122"/>
                    <a:ea typeface="楷体_GB2312" pitchFamily="49" charset="-122"/>
                  </a:rPr>
                  <a:t>单位时间内输出液体的体积，也称几何流量，单位是</a:t>
                </a:r>
                <a14:m>
                  <m:oMath xmlns:m="http://schemas.openxmlformats.org/officeDocument/2006/math">
                    <m:r>
                      <a:rPr lang="en-US" altLang="zh-CN" sz="2400" b="1" i="1" smtClean="0">
                        <a:solidFill>
                          <a:schemeClr val="tx2"/>
                        </a:solidFill>
                        <a:latin typeface="Cambria Math" panose="02040503050406030204"/>
                        <a:ea typeface="黑体" panose="02010609060101010101" pitchFamily="49" charset="-122"/>
                      </a:rPr>
                      <m:t>𝒍</m:t>
                    </m:r>
                    <m:r>
                      <a:rPr lang="en-US" altLang="zh-CN" sz="2400" b="1" i="1">
                        <a:solidFill>
                          <a:schemeClr val="tx2"/>
                        </a:solidFill>
                        <a:latin typeface="Cambria Math" panose="02040503050406030204" pitchFamily="18" charset="0"/>
                        <a:ea typeface="黑体" panose="02010609060101010101" pitchFamily="49" charset="-122"/>
                      </a:rPr>
                      <m:t>/</m:t>
                    </m:r>
                    <m:r>
                      <a:rPr lang="en-US" altLang="zh-CN" sz="2400" b="1" i="1" smtClean="0">
                        <a:solidFill>
                          <a:schemeClr val="tx2"/>
                        </a:solidFill>
                        <a:latin typeface="Cambria Math" panose="02040503050406030204"/>
                        <a:ea typeface="黑体" panose="02010609060101010101" pitchFamily="49" charset="-122"/>
                      </a:rPr>
                      <m:t>𝒎𝒊𝒏</m:t>
                    </m:r>
                  </m:oMath>
                </a14:m>
                <a:r>
                  <a:rPr lang="zh-CN" altLang="en-US" sz="2400" b="1" dirty="0" smtClean="0">
                    <a:solidFill>
                      <a:schemeClr val="tx2"/>
                    </a:solidFill>
                    <a:latin typeface="楷体_GB2312" pitchFamily="49" charset="-122"/>
                    <a:ea typeface="楷体_GB2312" pitchFamily="49" charset="-122"/>
                  </a:rPr>
                  <a:t>。</a:t>
                </a:r>
                <a:endParaRPr lang="en-US" altLang="zh-CN" sz="2400" b="1" dirty="0" smtClean="0">
                  <a:solidFill>
                    <a:schemeClr val="tx2"/>
                  </a:solidFill>
                  <a:latin typeface="楷体_GB2312" pitchFamily="49" charset="-122"/>
                  <a:ea typeface="楷体_GB2312" pitchFamily="49" charset="-122"/>
                </a:endParaRPr>
              </a:p>
              <a:p>
                <a:pPr algn="just">
                  <a:lnSpc>
                    <a:spcPct val="130000"/>
                  </a:lnSpc>
                  <a:spcBef>
                    <a:spcPts val="0"/>
                  </a:spcBef>
                  <a:buNone/>
                </a:pPr>
                <a14:m>
                  <m:oMathPara xmlns:m="http://schemas.openxmlformats.org/officeDocument/2006/math">
                    <m:oMathParaPr>
                      <m:jc m:val="centerGroup"/>
                    </m:oMathParaPr>
                    <m:oMath xmlns:m="http://schemas.openxmlformats.org/officeDocument/2006/math">
                      <m:r>
                        <a:rPr lang="en-US" altLang="zh-CN" sz="2400" b="1" i="1">
                          <a:solidFill>
                            <a:srgbClr val="CC3300"/>
                          </a:solidFill>
                          <a:latin typeface="Cambria Math" panose="02040503050406030204" pitchFamily="18" charset="0"/>
                          <a:ea typeface="黑体" panose="02010609060101010101" pitchFamily="49" charset="-122"/>
                        </a:rPr>
                        <m:t>𝑸</m:t>
                      </m:r>
                      <m:r>
                        <a:rPr lang="en-US" altLang="zh-CN" sz="2400" b="1" i="1">
                          <a:solidFill>
                            <a:srgbClr val="CC3300"/>
                          </a:solidFill>
                          <a:latin typeface="Cambria Math" panose="02040503050406030204" pitchFamily="18" charset="0"/>
                          <a:ea typeface="黑体" panose="02010609060101010101" pitchFamily="49" charset="-122"/>
                        </a:rPr>
                        <m:t>=</m:t>
                      </m:r>
                      <m:r>
                        <a:rPr lang="en-US" altLang="zh-CN" sz="2400" b="1" i="1">
                          <a:solidFill>
                            <a:srgbClr val="CC3300"/>
                          </a:solidFill>
                          <a:latin typeface="Cambria Math" panose="02040503050406030204"/>
                          <a:ea typeface="黑体" panose="02010609060101010101" pitchFamily="49" charset="-122"/>
                        </a:rPr>
                        <m:t>𝒒𝒏</m:t>
                      </m:r>
                    </m:oMath>
                  </m:oMathPara>
                </a14:m>
                <a:endParaRPr lang="en-US" altLang="zh-CN" sz="2400" b="1" dirty="0">
                  <a:solidFill>
                    <a:srgbClr val="CC3300"/>
                  </a:solidFill>
                  <a:latin typeface="楷体_GB2312" pitchFamily="49" charset="-122"/>
                  <a:ea typeface="黑体" panose="02010609060101010101" pitchFamily="49" charset="-122"/>
                </a:endParaRPr>
              </a:p>
              <a:p>
                <a:pPr>
                  <a:lnSpc>
                    <a:spcPct val="130000"/>
                  </a:lnSpc>
                  <a:spcBef>
                    <a:spcPts val="0"/>
                  </a:spcBef>
                  <a:buNone/>
                </a:pPr>
                <a:r>
                  <a:rPr lang="en-US" altLang="zh-CN" sz="2400" b="1"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where </a:t>
                </a:r>
                <a14:m>
                  <m:oMath xmlns:m="http://schemas.openxmlformats.org/officeDocument/2006/math">
                    <m:r>
                      <a:rPr lang="en-US" altLang="zh-CN" sz="2400" b="1" i="1" smtClean="0">
                        <a:solidFill>
                          <a:schemeClr val="tx1"/>
                        </a:solidFill>
                        <a:latin typeface="Cambria Math" panose="02040503050406030204"/>
                        <a:ea typeface="黑体" panose="02010609060101010101" pitchFamily="49" charset="-122"/>
                      </a:rPr>
                      <m:t>𝒏</m:t>
                    </m:r>
                  </m:oMath>
                </a14:m>
                <a:r>
                  <a:rPr lang="en-US" altLang="zh-CN"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rPr>
                  <a:t> is the pump speed.</a:t>
                </a:r>
                <a:endParaRPr lang="en-US" altLang="zh-CN" sz="2400" dirty="0" smtClean="0">
                  <a:solidFill>
                    <a:schemeClr val="tx2"/>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271780" indent="-271780" algn="just">
                  <a:lnSpc>
                    <a:spcPct val="130000"/>
                  </a:lnSpc>
                  <a:buClr>
                    <a:srgbClr val="CC3300"/>
                  </a:buClr>
                  <a:buSzPct val="60000"/>
                  <a:buFont typeface="Wingdings" panose="05000000000000000000" pitchFamily="2" charset="2"/>
                  <a:buChar char="n"/>
                  <a:tabLst>
                    <a:tab pos="271145" algn="l"/>
                  </a:tabLst>
                </a:pPr>
                <a:endParaRPr lang="en-US" altLang="zh-CN" sz="2500" dirty="0" smtClean="0">
                  <a:solidFill>
                    <a:srgbClr val="CC3300"/>
                  </a:solidFill>
                  <a:latin typeface="黑体" panose="02010609060101010101" pitchFamily="49" charset="-122"/>
                  <a:ea typeface="黑体" panose="02010609060101010101" pitchFamily="49" charset="-122"/>
                </a:endParaRPr>
              </a:p>
            </p:txBody>
          </p:sp>
        </mc:Choice>
        <mc:Fallback>
          <p:sp>
            <p:nvSpPr>
              <p:cNvPr id="1028" name="Rectangle 13"/>
              <p:cNvSpPr>
                <a:spLocks noRot="1" noChangeAspect="1" noMove="1" noResize="1" noEditPoints="1" noAdjustHandles="1" noChangeArrowheads="1" noChangeShapeType="1" noTextEdit="1"/>
              </p:cNvSpPr>
              <p:nvPr>
                <p:ph type="body" idx="4294967295"/>
              </p:nvPr>
            </p:nvSpPr>
            <p:spPr bwMode="auto">
              <a:xfrm>
                <a:off x="700957" y="1498030"/>
                <a:ext cx="8017530" cy="2250105"/>
              </a:xfrm>
              <a:blipFill rotWithShape="1">
                <a:blip r:embed="rId1"/>
                <a:stretch>
                  <a:fillRect l="-7" t="-3" r="7" b="-12768"/>
                </a:stretch>
              </a:blip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3" name="图片 2"/>
          <p:cNvPicPr>
            <a:picLocks noChangeAspect="1"/>
          </p:cNvPicPr>
          <p:nvPr/>
        </p:nvPicPr>
        <p:blipFill rotWithShape="1">
          <a:blip r:embed="rId2">
            <a:extLst>
              <a:ext uri="{BEBA8EAE-BF5A-486C-A8C5-ECC9F3942E4B}">
                <a14:imgProps xmlns:a14="http://schemas.microsoft.com/office/drawing/2010/main">
                  <a14:imgLayer r:embed="rId3">
                    <a14:imgEffect>
                      <a14:backgroundRemoval t="0" b="100000" l="0" r="59539"/>
                    </a14:imgEffect>
                  </a14:imgLayer>
                </a14:imgProps>
              </a:ext>
              <a:ext uri="{28A0092B-C50C-407E-A947-70E740481C1C}">
                <a14:useLocalDpi xmlns:a14="http://schemas.microsoft.com/office/drawing/2010/main" val="0"/>
              </a:ext>
            </a:extLst>
          </a:blip>
          <a:srcRect r="40646"/>
          <a:stretch>
            <a:fillRect/>
          </a:stretch>
        </p:blipFill>
        <p:spPr>
          <a:xfrm>
            <a:off x="7334513" y="3054038"/>
            <a:ext cx="1374919" cy="1981200"/>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06084" y="97448"/>
            <a:ext cx="7485512" cy="1096962"/>
          </a:xfrm>
        </p:spPr>
        <p:txBody>
          <a:bodyPr>
            <a:normAutofit/>
          </a:bodyPr>
          <a:lstStyle/>
          <a:p>
            <a:r>
              <a:rPr lang="zh-CN" altLang="en-US" sz="3200" dirty="0" smtClean="0">
                <a:solidFill>
                  <a:srgbClr val="CC3300"/>
                </a:solidFill>
                <a:effectLst>
                  <a:outerShdw blurRad="38100" dist="38100" dir="2700000" algn="tl">
                    <a:srgbClr val="000000">
                      <a:alpha val="43137"/>
                    </a:srgbClr>
                  </a:outerShdw>
                </a:effectLst>
              </a:rPr>
              <a:t>功率</a:t>
            </a:r>
            <a:br>
              <a:rPr lang="en-US" altLang="zh-CN" sz="3200" dirty="0" smtClean="0">
                <a:solidFill>
                  <a:srgbClr val="CC3300"/>
                </a:solidFill>
                <a:effectLst>
                  <a:outerShdw blurRad="38100" dist="38100" dir="2700000" algn="tl">
                    <a:srgbClr val="000000">
                      <a:alpha val="43137"/>
                    </a:srgbClr>
                  </a:outerShdw>
                </a:effectLst>
              </a:rPr>
            </a:br>
            <a:r>
              <a:rPr lang="en-US" altLang="zh-CN" sz="28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Power</a:t>
            </a:r>
            <a:endParaRPr lang="zh-CN" altLang="en-US" sz="2800" b="1" dirty="0">
              <a:solidFill>
                <a:schemeClr val="tx2"/>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12207" y="1523892"/>
                <a:ext cx="6856079" cy="1382270"/>
              </a:xfrm>
            </p:spPr>
            <p:txBody>
              <a:bodyPr>
                <a:normAutofit/>
              </a:bodyPr>
              <a:lstStyle/>
              <a:p>
                <a:r>
                  <a:rPr lang="zh-CN" altLang="en-US" sz="2400" b="1" dirty="0" smtClean="0">
                    <a:solidFill>
                      <a:srgbClr val="CC3300"/>
                    </a:solidFill>
                    <a:latin typeface="黑体" panose="02010609060101010101" pitchFamily="49" charset="-122"/>
                    <a:ea typeface="黑体" panose="02010609060101010101" pitchFamily="49" charset="-122"/>
                  </a:rPr>
                  <a:t>功率：</a:t>
                </a:r>
                <a:endParaRPr lang="en-US" altLang="zh-CN" sz="2400" b="1" dirty="0">
                  <a:solidFill>
                    <a:srgbClr val="CC3300"/>
                  </a:solidFill>
                  <a:latin typeface="黑体" panose="02010609060101010101" pitchFamily="49" charset="-122"/>
                  <a:ea typeface="黑体" panose="02010609060101010101" pitchFamily="49" charset="-122"/>
                </a:endParaRPr>
              </a:p>
              <a:p>
                <a:pPr marL="0" indent="0">
                  <a:buNone/>
                </a:pPr>
                <a14:m>
                  <m:oMathPara xmlns:m="http://schemas.openxmlformats.org/officeDocument/2006/math">
                    <m:oMathParaPr>
                      <m:jc m:val="centerGroup"/>
                    </m:oMathParaPr>
                    <m:oMath xmlns:m="http://schemas.openxmlformats.org/officeDocument/2006/math">
                      <m:r>
                        <a:rPr lang="en-US" altLang="zh-CN" sz="2400" b="1" i="1" smtClean="0">
                          <a:solidFill>
                            <a:schemeClr val="tx2"/>
                          </a:solidFill>
                          <a:latin typeface="Cambria Math" panose="02040503050406030204"/>
                          <a:ea typeface="楷体_GB2312" pitchFamily="49" charset="-122"/>
                        </a:rPr>
                        <m:t>𝑷</m:t>
                      </m:r>
                      <m:r>
                        <a:rPr lang="en-US" altLang="zh-CN" sz="2400" b="1" i="1" smtClean="0">
                          <a:solidFill>
                            <a:schemeClr val="tx2"/>
                          </a:solidFill>
                          <a:latin typeface="Cambria Math" panose="02040503050406030204" pitchFamily="18" charset="0"/>
                          <a:ea typeface="楷体_GB2312" pitchFamily="49" charset="-122"/>
                        </a:rPr>
                        <m:t>=</m:t>
                      </m:r>
                      <m:r>
                        <a:rPr lang="zh-CN" altLang="en-US" sz="2400" b="1" i="1" smtClean="0">
                          <a:solidFill>
                            <a:schemeClr val="tx2"/>
                          </a:solidFill>
                          <a:latin typeface="Cambria Math" panose="02040503050406030204"/>
                          <a:ea typeface="楷体_GB2312" pitchFamily="49" charset="-122"/>
                        </a:rPr>
                        <m:t>𝚫</m:t>
                      </m:r>
                      <m:r>
                        <a:rPr lang="en-US" altLang="zh-CN" sz="2400" b="1" i="1" smtClean="0">
                          <a:solidFill>
                            <a:schemeClr val="tx2"/>
                          </a:solidFill>
                          <a:latin typeface="Cambria Math" panose="02040503050406030204" pitchFamily="18" charset="0"/>
                          <a:ea typeface="楷体_GB2312" pitchFamily="49" charset="-122"/>
                        </a:rPr>
                        <m:t>𝒑𝑸</m:t>
                      </m:r>
                      <m:r>
                        <a:rPr lang="en-US" altLang="zh-CN" sz="2400" b="1" i="1" smtClean="0">
                          <a:solidFill>
                            <a:schemeClr val="tx2"/>
                          </a:solidFill>
                          <a:latin typeface="Cambria Math" panose="02040503050406030204"/>
                          <a:ea typeface="楷体_GB2312" pitchFamily="49" charset="-122"/>
                        </a:rPr>
                        <m:t>=</m:t>
                      </m:r>
                      <m:r>
                        <a:rPr lang="en-US" altLang="zh-CN" sz="2400" b="1" i="1" smtClean="0">
                          <a:solidFill>
                            <a:schemeClr val="tx2"/>
                          </a:solidFill>
                          <a:latin typeface="Cambria Math" panose="02040503050406030204"/>
                          <a:ea typeface="楷体_GB2312" pitchFamily="49" charset="-122"/>
                        </a:rPr>
                        <m:t>𝟐</m:t>
                      </m:r>
                      <m:r>
                        <a:rPr lang="zh-CN" altLang="en-US" sz="2400" b="1" i="1">
                          <a:solidFill>
                            <a:schemeClr val="tx2"/>
                          </a:solidFill>
                          <a:latin typeface="Cambria Math" panose="02040503050406030204" pitchFamily="18" charset="0"/>
                          <a:ea typeface="楷体_GB2312" pitchFamily="49" charset="-122"/>
                        </a:rPr>
                        <m:t>𝝅</m:t>
                      </m:r>
                      <m:r>
                        <a:rPr lang="zh-CN" altLang="en-US" sz="2400" b="1" i="1" smtClean="0">
                          <a:solidFill>
                            <a:schemeClr val="tx2"/>
                          </a:solidFill>
                          <a:latin typeface="Cambria Math" panose="02040503050406030204"/>
                          <a:ea typeface="楷体_GB2312" pitchFamily="49" charset="-122"/>
                        </a:rPr>
                        <m:t>∙</m:t>
                      </m:r>
                      <m:r>
                        <a:rPr lang="en-US" altLang="zh-CN" sz="2400" b="1" i="1">
                          <a:solidFill>
                            <a:schemeClr val="tx2"/>
                          </a:solidFill>
                          <a:latin typeface="Cambria Math" panose="02040503050406030204" pitchFamily="18" charset="0"/>
                          <a:ea typeface="楷体_GB2312" pitchFamily="49" charset="-122"/>
                        </a:rPr>
                        <m:t>𝑴</m:t>
                      </m:r>
                      <m:r>
                        <a:rPr lang="en-US" altLang="zh-CN" sz="2400" b="1" i="1">
                          <a:solidFill>
                            <a:schemeClr val="tx2"/>
                          </a:solidFill>
                          <a:latin typeface="Cambria Math" panose="02040503050406030204"/>
                          <a:ea typeface="楷体_GB2312" pitchFamily="49" charset="-122"/>
                        </a:rPr>
                        <m:t>𝒏</m:t>
                      </m:r>
                    </m:oMath>
                  </m:oMathPara>
                </a14:m>
                <a:endParaRPr lang="en-US" altLang="zh-CN" sz="2400" dirty="0" smtClean="0">
                  <a:solidFill>
                    <a:srgbClr val="000000"/>
                  </a:solidFill>
                  <a:latin typeface="楷体_GB2312" pitchFamily="49" charset="-122"/>
                  <a:ea typeface="楷体_GB2312" pitchFamily="49" charset="-122"/>
                </a:endParaRPr>
              </a:p>
              <a:p>
                <a:endParaRPr lang="zh-CN" altLang="en-US" sz="2400" dirty="0">
                  <a:solidFill>
                    <a:srgbClr val="000000"/>
                  </a:solidFill>
                  <a:latin typeface="楷体_GB2312" pitchFamily="49" charset="-122"/>
                  <a:ea typeface="楷体_GB2312" pitchFamily="49" charset="-122"/>
                </a:endParaRPr>
              </a:p>
              <a:p>
                <a:endParaRPr lang="zh-CN" altLang="en-US" sz="2400" b="1" dirty="0">
                  <a:solidFill>
                    <a:schemeClr val="tx2"/>
                  </a:solidFill>
                  <a:latin typeface="楷体_GB2312" pitchFamily="49" charset="-122"/>
                  <a:ea typeface="楷体_GB2312" pitchFamily="49" charset="-122"/>
                </a:endParaRPr>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812207" y="1523892"/>
                <a:ext cx="6856079" cy="1382270"/>
              </a:xfrm>
              <a:blipFill rotWithShape="1">
                <a:blip r:embed="rId1"/>
                <a:stretch>
                  <a:fillRect l="-1" t="-38" b="-56705"/>
                </a:stretch>
              </a:blipFill>
            </p:spPr>
            <p:txBody>
              <a:bodyPr/>
              <a:lstStyle/>
              <a:p>
                <a:r>
                  <a:rPr lang="zh-CN" altLang="en-US">
                    <a:noFill/>
                  </a:rPr>
                  <a:t> </a:t>
                </a:r>
              </a:p>
            </p:txBody>
          </p:sp>
        </mc:Fallback>
      </mc:AlternateContent>
      <p:grpSp>
        <p:nvGrpSpPr>
          <p:cNvPr id="4" name="组合 3"/>
          <p:cNvGrpSpPr/>
          <p:nvPr/>
        </p:nvGrpSpPr>
        <p:grpSpPr>
          <a:xfrm>
            <a:off x="5472472" y="3044336"/>
            <a:ext cx="2966327" cy="2295525"/>
            <a:chOff x="2928448" y="3044336"/>
            <a:chExt cx="2966327" cy="2295525"/>
          </a:xfrm>
        </p:grpSpPr>
        <p:pic>
          <p:nvPicPr>
            <p:cNvPr id="6" name="图片 5"/>
            <p:cNvPicPr>
              <a:picLocks noChangeAspect="1"/>
            </p:cNvPicPr>
            <p:nvPr/>
          </p:nvPicPr>
          <p:blipFill>
            <a:blip r:embed="rId2"/>
            <a:stretch>
              <a:fillRect/>
            </a:stretch>
          </p:blipFill>
          <p:spPr>
            <a:xfrm>
              <a:off x="2928448" y="3044336"/>
              <a:ext cx="2809875" cy="2295525"/>
            </a:xfrm>
            <a:prstGeom prst="rect">
              <a:avLst/>
            </a:prstGeom>
            <a:ln>
              <a:solidFill>
                <a:schemeClr val="tx1"/>
              </a:solidFill>
            </a:ln>
          </p:spPr>
        </p:pic>
        <mc:AlternateContent xmlns:mc="http://schemas.openxmlformats.org/markup-compatibility/2006">
          <mc:Choice xmlns:a14="http://schemas.microsoft.com/office/drawing/2010/main" Requires="a14">
            <p:sp>
              <p:nvSpPr>
                <p:cNvPr id="8" name="矩形 7"/>
                <p:cNvSpPr/>
                <p:nvPr/>
              </p:nvSpPr>
              <p:spPr>
                <a:xfrm>
                  <a:off x="3511494" y="3111438"/>
                  <a:ext cx="955711"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zh-CN" altLang="en-US" sz="2400" b="1" i="1">
                            <a:solidFill>
                              <a:schemeClr val="tx2"/>
                            </a:solidFill>
                            <a:latin typeface="Cambria Math" panose="02040503050406030204"/>
                            <a:ea typeface="楷体_GB2312" pitchFamily="49" charset="-122"/>
                          </a:rPr>
                          <m:t>𝚫</m:t>
                        </m:r>
                        <m:r>
                          <a:rPr lang="en-US" altLang="zh-CN" sz="2400" b="1" i="1">
                            <a:solidFill>
                              <a:srgbClr val="000000"/>
                            </a:solidFill>
                            <a:latin typeface="Cambria Math" panose="02040503050406030204"/>
                            <a:ea typeface="楷体_GB2312" pitchFamily="49" charset="-122"/>
                          </a:rPr>
                          <m:t>𝒑𝑸</m:t>
                        </m:r>
                      </m:oMath>
                    </m:oMathPara>
                  </a14:m>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3511494" y="3111438"/>
                  <a:ext cx="955711" cy="461665"/>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4467205" y="3428312"/>
                  <a:ext cx="1427570"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sz="2400" b="1" i="1">
                            <a:solidFill>
                              <a:schemeClr val="tx2"/>
                            </a:solidFill>
                            <a:latin typeface="Cambria Math" panose="02040503050406030204"/>
                            <a:ea typeface="楷体_GB2312" pitchFamily="49" charset="-122"/>
                          </a:rPr>
                          <m:t>𝟐</m:t>
                        </m:r>
                        <m:r>
                          <a:rPr lang="zh-CN" altLang="en-US" sz="2400" b="1" i="1">
                            <a:solidFill>
                              <a:schemeClr val="tx2"/>
                            </a:solidFill>
                            <a:latin typeface="Cambria Math" panose="02040503050406030204" pitchFamily="18" charset="0"/>
                            <a:ea typeface="楷体_GB2312" pitchFamily="49" charset="-122"/>
                          </a:rPr>
                          <m:t>𝝅</m:t>
                        </m:r>
                        <m:r>
                          <a:rPr lang="zh-CN" altLang="en-US" sz="2400" b="1" i="1">
                            <a:solidFill>
                              <a:schemeClr val="tx2"/>
                            </a:solidFill>
                            <a:latin typeface="Cambria Math" panose="02040503050406030204"/>
                            <a:ea typeface="楷体_GB2312" pitchFamily="49" charset="-122"/>
                          </a:rPr>
                          <m:t>∙</m:t>
                        </m:r>
                        <m:r>
                          <a:rPr lang="en-US" altLang="zh-CN" sz="2400" b="1" i="1" smtClean="0">
                            <a:solidFill>
                              <a:srgbClr val="000000"/>
                            </a:solidFill>
                            <a:latin typeface="Cambria Math" panose="02040503050406030204" pitchFamily="18" charset="0"/>
                            <a:ea typeface="楷体_GB2312" pitchFamily="49" charset="-122"/>
                          </a:rPr>
                          <m:t>𝑴</m:t>
                        </m:r>
                        <m:r>
                          <a:rPr lang="en-US" altLang="zh-CN" sz="2400" b="1" i="1" smtClean="0">
                            <a:solidFill>
                              <a:srgbClr val="000000"/>
                            </a:solidFill>
                            <a:latin typeface="Cambria Math" panose="02040503050406030204"/>
                            <a:ea typeface="楷体_GB2312" pitchFamily="49" charset="-122"/>
                          </a:rPr>
                          <m:t>𝒏</m:t>
                        </m:r>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4467205" y="3428312"/>
                  <a:ext cx="1427570" cy="461665"/>
                </a:xfrm>
                <a:prstGeom prst="rect">
                  <a:avLst/>
                </a:prstGeom>
                <a:blipFill rotWithShape="1">
                  <a:blip r:embed="rId4"/>
                </a:blipFill>
              </p:spPr>
              <p:txBody>
                <a:bodyPr/>
                <a:lstStyle/>
                <a:p>
                  <a:r>
                    <a:rPr lang="zh-CN" altLang="en-US">
                      <a:noFill/>
                    </a:rPr>
                    <a:t> </a:t>
                  </a:r>
                </a:p>
              </p:txBody>
            </p:sp>
          </mc:Fallback>
        </mc:AlternateContent>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2" name="Rectangle 12"/>
          <p:cNvSpPr>
            <a:spLocks noChangeArrowheads="1"/>
          </p:cNvSpPr>
          <p:nvPr/>
        </p:nvSpPr>
        <p:spPr bwMode="auto">
          <a:xfrm>
            <a:off x="3551409" y="5417637"/>
            <a:ext cx="2651588" cy="5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eaLnBrk="0" hangingPunct="0"/>
            <a:r>
              <a:rPr lang="zh-CN" altLang="en-US" sz="2800" dirty="0">
                <a:solidFill>
                  <a:srgbClr val="000000"/>
                </a:solidFill>
                <a:latin typeface="楷体_GB2312" pitchFamily="49" charset="-122"/>
              </a:rPr>
              <a:t>（摆动</a:t>
            </a:r>
            <a:r>
              <a:rPr lang="zh-CN" altLang="en-US" sz="2800" dirty="0" smtClean="0">
                <a:solidFill>
                  <a:srgbClr val="000000"/>
                </a:solidFill>
                <a:latin typeface="楷体_GB2312" pitchFamily="49" charset="-122"/>
              </a:rPr>
              <a:t>马达）</a:t>
            </a:r>
            <a:endParaRPr lang="zh-CN" altLang="en-US" sz="2800" dirty="0">
              <a:solidFill>
                <a:srgbClr val="000000"/>
              </a:solidFill>
              <a:latin typeface="楷体_GB2312" pitchFamily="49" charset="-122"/>
            </a:endParaRPr>
          </a:p>
        </p:txBody>
      </p:sp>
      <p:grpSp>
        <p:nvGrpSpPr>
          <p:cNvPr id="81934" name="Group 14"/>
          <p:cNvGrpSpPr/>
          <p:nvPr/>
        </p:nvGrpSpPr>
        <p:grpSpPr bwMode="auto">
          <a:xfrm>
            <a:off x="7790917" y="930987"/>
            <a:ext cx="1042987" cy="352425"/>
            <a:chOff x="4749" y="1380"/>
            <a:chExt cx="657" cy="222"/>
          </a:xfrm>
        </p:grpSpPr>
        <p:sp>
          <p:nvSpPr>
            <p:cNvPr id="81935" name="Line 15"/>
            <p:cNvSpPr>
              <a:spLocks noChangeShapeType="1"/>
            </p:cNvSpPr>
            <p:nvPr/>
          </p:nvSpPr>
          <p:spPr bwMode="auto">
            <a:xfrm>
              <a:off x="4752" y="1578"/>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6" name="Line 16"/>
            <p:cNvSpPr>
              <a:spLocks noChangeShapeType="1"/>
            </p:cNvSpPr>
            <p:nvPr/>
          </p:nvSpPr>
          <p:spPr bwMode="auto">
            <a:xfrm>
              <a:off x="4749" y="1380"/>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7" name="Line 17"/>
            <p:cNvSpPr>
              <a:spLocks noChangeShapeType="1"/>
            </p:cNvSpPr>
            <p:nvPr/>
          </p:nvSpPr>
          <p:spPr bwMode="auto">
            <a:xfrm>
              <a:off x="4749" y="1380"/>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8" name="Line 18"/>
            <p:cNvSpPr>
              <a:spLocks noChangeShapeType="1"/>
            </p:cNvSpPr>
            <p:nvPr/>
          </p:nvSpPr>
          <p:spPr bwMode="auto">
            <a:xfrm>
              <a:off x="5271" y="1383"/>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39" name="Line 19"/>
            <p:cNvSpPr>
              <a:spLocks noChangeShapeType="1"/>
            </p:cNvSpPr>
            <p:nvPr/>
          </p:nvSpPr>
          <p:spPr bwMode="auto">
            <a:xfrm>
              <a:off x="4878" y="1380"/>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0" name="Line 20"/>
            <p:cNvSpPr>
              <a:spLocks noChangeShapeType="1"/>
            </p:cNvSpPr>
            <p:nvPr/>
          </p:nvSpPr>
          <p:spPr bwMode="auto">
            <a:xfrm>
              <a:off x="4881" y="1479"/>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1" name="Line 21"/>
            <p:cNvSpPr>
              <a:spLocks noChangeShapeType="1"/>
            </p:cNvSpPr>
            <p:nvPr/>
          </p:nvSpPr>
          <p:spPr bwMode="auto">
            <a:xfrm>
              <a:off x="4776" y="1578"/>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1942" name="Group 22"/>
          <p:cNvGrpSpPr/>
          <p:nvPr/>
        </p:nvGrpSpPr>
        <p:grpSpPr bwMode="auto">
          <a:xfrm>
            <a:off x="7790917" y="1651877"/>
            <a:ext cx="1042987" cy="357188"/>
            <a:chOff x="4755" y="1716"/>
            <a:chExt cx="657" cy="225"/>
          </a:xfrm>
        </p:grpSpPr>
        <p:sp>
          <p:nvSpPr>
            <p:cNvPr id="81943" name="Line 23"/>
            <p:cNvSpPr>
              <a:spLocks noChangeShapeType="1"/>
            </p:cNvSpPr>
            <p:nvPr/>
          </p:nvSpPr>
          <p:spPr bwMode="auto">
            <a:xfrm>
              <a:off x="4758" y="1914"/>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4" name="Line 24"/>
            <p:cNvSpPr>
              <a:spLocks noChangeShapeType="1"/>
            </p:cNvSpPr>
            <p:nvPr/>
          </p:nvSpPr>
          <p:spPr bwMode="auto">
            <a:xfrm>
              <a:off x="4755" y="1716"/>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5" name="Line 25"/>
            <p:cNvSpPr>
              <a:spLocks noChangeShapeType="1"/>
            </p:cNvSpPr>
            <p:nvPr/>
          </p:nvSpPr>
          <p:spPr bwMode="auto">
            <a:xfrm>
              <a:off x="4755" y="1716"/>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6" name="Line 26"/>
            <p:cNvSpPr>
              <a:spLocks noChangeShapeType="1"/>
            </p:cNvSpPr>
            <p:nvPr/>
          </p:nvSpPr>
          <p:spPr bwMode="auto">
            <a:xfrm>
              <a:off x="5277" y="1719"/>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7" name="Line 27"/>
            <p:cNvSpPr>
              <a:spLocks noChangeShapeType="1"/>
            </p:cNvSpPr>
            <p:nvPr/>
          </p:nvSpPr>
          <p:spPr bwMode="auto">
            <a:xfrm>
              <a:off x="4884" y="1716"/>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8" name="Line 28"/>
            <p:cNvSpPr>
              <a:spLocks noChangeShapeType="1"/>
            </p:cNvSpPr>
            <p:nvPr/>
          </p:nvSpPr>
          <p:spPr bwMode="auto">
            <a:xfrm>
              <a:off x="4887" y="1815"/>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49" name="Line 29"/>
            <p:cNvSpPr>
              <a:spLocks noChangeShapeType="1"/>
            </p:cNvSpPr>
            <p:nvPr/>
          </p:nvSpPr>
          <p:spPr bwMode="auto">
            <a:xfrm>
              <a:off x="4782" y="1914"/>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0" name="Line 30"/>
            <p:cNvSpPr>
              <a:spLocks noChangeShapeType="1"/>
            </p:cNvSpPr>
            <p:nvPr/>
          </p:nvSpPr>
          <p:spPr bwMode="auto">
            <a:xfrm>
              <a:off x="5250" y="1917"/>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1951" name="Group 31"/>
          <p:cNvGrpSpPr/>
          <p:nvPr/>
        </p:nvGrpSpPr>
        <p:grpSpPr bwMode="auto">
          <a:xfrm>
            <a:off x="7813878" y="2367305"/>
            <a:ext cx="1042987" cy="495300"/>
            <a:chOff x="4836" y="2019"/>
            <a:chExt cx="657" cy="312"/>
          </a:xfrm>
        </p:grpSpPr>
        <p:sp>
          <p:nvSpPr>
            <p:cNvPr id="81952" name="Line 32"/>
            <p:cNvSpPr>
              <a:spLocks noChangeShapeType="1"/>
            </p:cNvSpPr>
            <p:nvPr/>
          </p:nvSpPr>
          <p:spPr bwMode="auto">
            <a:xfrm>
              <a:off x="4839" y="2217"/>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3" name="Line 33"/>
            <p:cNvSpPr>
              <a:spLocks noChangeShapeType="1"/>
            </p:cNvSpPr>
            <p:nvPr/>
          </p:nvSpPr>
          <p:spPr bwMode="auto">
            <a:xfrm>
              <a:off x="4836" y="2019"/>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4" name="Line 34"/>
            <p:cNvSpPr>
              <a:spLocks noChangeShapeType="1"/>
            </p:cNvSpPr>
            <p:nvPr/>
          </p:nvSpPr>
          <p:spPr bwMode="auto">
            <a:xfrm>
              <a:off x="4836" y="2019"/>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5" name="Line 35"/>
            <p:cNvSpPr>
              <a:spLocks noChangeShapeType="1"/>
            </p:cNvSpPr>
            <p:nvPr/>
          </p:nvSpPr>
          <p:spPr bwMode="auto">
            <a:xfrm>
              <a:off x="5358" y="2022"/>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6" name="Line 36"/>
            <p:cNvSpPr>
              <a:spLocks noChangeShapeType="1"/>
            </p:cNvSpPr>
            <p:nvPr/>
          </p:nvSpPr>
          <p:spPr bwMode="auto">
            <a:xfrm>
              <a:off x="4965" y="2019"/>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7" name="Line 37"/>
            <p:cNvSpPr>
              <a:spLocks noChangeShapeType="1"/>
            </p:cNvSpPr>
            <p:nvPr/>
          </p:nvSpPr>
          <p:spPr bwMode="auto">
            <a:xfrm>
              <a:off x="4968" y="2118"/>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58" name="Line 38"/>
            <p:cNvSpPr>
              <a:spLocks noChangeShapeType="1"/>
            </p:cNvSpPr>
            <p:nvPr/>
          </p:nvSpPr>
          <p:spPr bwMode="auto">
            <a:xfrm>
              <a:off x="4863" y="2217"/>
              <a:ext cx="0" cy="11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59" name="Line 39"/>
            <p:cNvSpPr>
              <a:spLocks noChangeShapeType="1"/>
            </p:cNvSpPr>
            <p:nvPr/>
          </p:nvSpPr>
          <p:spPr bwMode="auto">
            <a:xfrm flipH="1">
              <a:off x="5328" y="2217"/>
              <a:ext cx="0" cy="45"/>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60" name="Line 40"/>
            <p:cNvSpPr>
              <a:spLocks noChangeShapeType="1"/>
            </p:cNvSpPr>
            <p:nvPr/>
          </p:nvSpPr>
          <p:spPr bwMode="auto">
            <a:xfrm flipH="1">
              <a:off x="4863" y="2265"/>
              <a:ext cx="471"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1961" name="Group 41"/>
          <p:cNvGrpSpPr/>
          <p:nvPr/>
        </p:nvGrpSpPr>
        <p:grpSpPr bwMode="auto">
          <a:xfrm>
            <a:off x="5633681" y="3199753"/>
            <a:ext cx="1433512" cy="357188"/>
            <a:chOff x="3945" y="2262"/>
            <a:chExt cx="903" cy="225"/>
          </a:xfrm>
        </p:grpSpPr>
        <p:sp>
          <p:nvSpPr>
            <p:cNvPr id="81962" name="Line 42"/>
            <p:cNvSpPr>
              <a:spLocks noChangeShapeType="1"/>
            </p:cNvSpPr>
            <p:nvPr/>
          </p:nvSpPr>
          <p:spPr bwMode="auto">
            <a:xfrm>
              <a:off x="4149" y="2460"/>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3" name="Line 43"/>
            <p:cNvSpPr>
              <a:spLocks noChangeShapeType="1"/>
            </p:cNvSpPr>
            <p:nvPr/>
          </p:nvSpPr>
          <p:spPr bwMode="auto">
            <a:xfrm>
              <a:off x="4146" y="2262"/>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4" name="Line 44"/>
            <p:cNvSpPr>
              <a:spLocks noChangeShapeType="1"/>
            </p:cNvSpPr>
            <p:nvPr/>
          </p:nvSpPr>
          <p:spPr bwMode="auto">
            <a:xfrm>
              <a:off x="4146" y="2262"/>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5" name="Line 45"/>
            <p:cNvSpPr>
              <a:spLocks noChangeShapeType="1"/>
            </p:cNvSpPr>
            <p:nvPr/>
          </p:nvSpPr>
          <p:spPr bwMode="auto">
            <a:xfrm>
              <a:off x="4668" y="2265"/>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6" name="Line 46"/>
            <p:cNvSpPr>
              <a:spLocks noChangeShapeType="1"/>
            </p:cNvSpPr>
            <p:nvPr/>
          </p:nvSpPr>
          <p:spPr bwMode="auto">
            <a:xfrm>
              <a:off x="4407" y="2262"/>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7" name="Line 47"/>
            <p:cNvSpPr>
              <a:spLocks noChangeShapeType="1"/>
            </p:cNvSpPr>
            <p:nvPr/>
          </p:nvSpPr>
          <p:spPr bwMode="auto">
            <a:xfrm>
              <a:off x="3945" y="2361"/>
              <a:ext cx="903"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68" name="Line 48"/>
            <p:cNvSpPr>
              <a:spLocks noChangeShapeType="1"/>
            </p:cNvSpPr>
            <p:nvPr/>
          </p:nvSpPr>
          <p:spPr bwMode="auto">
            <a:xfrm>
              <a:off x="4173" y="2460"/>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69" name="Line 49"/>
            <p:cNvSpPr>
              <a:spLocks noChangeShapeType="1"/>
            </p:cNvSpPr>
            <p:nvPr/>
          </p:nvSpPr>
          <p:spPr bwMode="auto">
            <a:xfrm>
              <a:off x="4638" y="2463"/>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1970" name="Group 50"/>
          <p:cNvGrpSpPr/>
          <p:nvPr/>
        </p:nvGrpSpPr>
        <p:grpSpPr bwMode="auto">
          <a:xfrm>
            <a:off x="4258235" y="3982286"/>
            <a:ext cx="1042987" cy="352425"/>
            <a:chOff x="2955" y="2499"/>
            <a:chExt cx="657" cy="222"/>
          </a:xfrm>
        </p:grpSpPr>
        <p:sp>
          <p:nvSpPr>
            <p:cNvPr id="81971" name="Line 51"/>
            <p:cNvSpPr>
              <a:spLocks noChangeShapeType="1"/>
            </p:cNvSpPr>
            <p:nvPr/>
          </p:nvSpPr>
          <p:spPr bwMode="auto">
            <a:xfrm>
              <a:off x="2958" y="2697"/>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2" name="Line 52"/>
            <p:cNvSpPr>
              <a:spLocks noChangeShapeType="1"/>
            </p:cNvSpPr>
            <p:nvPr/>
          </p:nvSpPr>
          <p:spPr bwMode="auto">
            <a:xfrm>
              <a:off x="2955" y="2499"/>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3" name="Line 53"/>
            <p:cNvSpPr>
              <a:spLocks noChangeShapeType="1"/>
            </p:cNvSpPr>
            <p:nvPr/>
          </p:nvSpPr>
          <p:spPr bwMode="auto">
            <a:xfrm>
              <a:off x="2955" y="2499"/>
              <a:ext cx="0" cy="19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4" name="Line 54"/>
            <p:cNvSpPr>
              <a:spLocks noChangeShapeType="1"/>
            </p:cNvSpPr>
            <p:nvPr/>
          </p:nvSpPr>
          <p:spPr bwMode="auto">
            <a:xfrm flipH="1">
              <a:off x="3477" y="2502"/>
              <a:ext cx="0" cy="51"/>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75" name="Line 55"/>
            <p:cNvSpPr>
              <a:spLocks noChangeShapeType="1"/>
            </p:cNvSpPr>
            <p:nvPr/>
          </p:nvSpPr>
          <p:spPr bwMode="auto">
            <a:xfrm>
              <a:off x="3087" y="2553"/>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6" name="Line 56"/>
            <p:cNvSpPr>
              <a:spLocks noChangeShapeType="1"/>
            </p:cNvSpPr>
            <p:nvPr/>
          </p:nvSpPr>
          <p:spPr bwMode="auto">
            <a:xfrm>
              <a:off x="2982" y="2697"/>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7" name="Line 57"/>
            <p:cNvSpPr>
              <a:spLocks noChangeShapeType="1"/>
            </p:cNvSpPr>
            <p:nvPr/>
          </p:nvSpPr>
          <p:spPr bwMode="auto">
            <a:xfrm>
              <a:off x="3087" y="2646"/>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8" name="Line 58"/>
            <p:cNvSpPr>
              <a:spLocks noChangeShapeType="1"/>
            </p:cNvSpPr>
            <p:nvPr/>
          </p:nvSpPr>
          <p:spPr bwMode="auto">
            <a:xfrm>
              <a:off x="3090" y="2553"/>
              <a:ext cx="0" cy="93"/>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79" name="Line 59"/>
            <p:cNvSpPr>
              <a:spLocks noChangeShapeType="1"/>
            </p:cNvSpPr>
            <p:nvPr/>
          </p:nvSpPr>
          <p:spPr bwMode="auto">
            <a:xfrm flipH="1">
              <a:off x="3477" y="2649"/>
              <a:ext cx="0" cy="51"/>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80" name="Line 60"/>
            <p:cNvSpPr>
              <a:spLocks noChangeShapeType="1"/>
            </p:cNvSpPr>
            <p:nvPr/>
          </p:nvSpPr>
          <p:spPr bwMode="auto">
            <a:xfrm>
              <a:off x="3609" y="2556"/>
              <a:ext cx="0" cy="93"/>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81981" name="Group 61"/>
          <p:cNvGrpSpPr/>
          <p:nvPr/>
        </p:nvGrpSpPr>
        <p:grpSpPr bwMode="auto">
          <a:xfrm>
            <a:off x="4301097" y="4642852"/>
            <a:ext cx="1204912" cy="466725"/>
            <a:chOff x="4575" y="2700"/>
            <a:chExt cx="759" cy="294"/>
          </a:xfrm>
        </p:grpSpPr>
        <p:sp>
          <p:nvSpPr>
            <p:cNvPr id="81982" name="Line 62"/>
            <p:cNvSpPr>
              <a:spLocks noChangeShapeType="1"/>
            </p:cNvSpPr>
            <p:nvPr/>
          </p:nvSpPr>
          <p:spPr bwMode="auto">
            <a:xfrm>
              <a:off x="4680" y="2892"/>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83" name="Line 63"/>
            <p:cNvSpPr>
              <a:spLocks noChangeShapeType="1"/>
            </p:cNvSpPr>
            <p:nvPr/>
          </p:nvSpPr>
          <p:spPr bwMode="auto">
            <a:xfrm>
              <a:off x="4677" y="2778"/>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84" name="Line 64"/>
            <p:cNvSpPr>
              <a:spLocks noChangeShapeType="1"/>
            </p:cNvSpPr>
            <p:nvPr/>
          </p:nvSpPr>
          <p:spPr bwMode="auto">
            <a:xfrm flipH="1">
              <a:off x="5199" y="2778"/>
              <a:ext cx="0" cy="11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85" name="Line 65"/>
            <p:cNvSpPr>
              <a:spLocks noChangeShapeType="1"/>
            </p:cNvSpPr>
            <p:nvPr/>
          </p:nvSpPr>
          <p:spPr bwMode="auto">
            <a:xfrm>
              <a:off x="4806" y="2778"/>
              <a:ext cx="0" cy="11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86" name="Line 66"/>
            <p:cNvSpPr>
              <a:spLocks noChangeShapeType="1"/>
            </p:cNvSpPr>
            <p:nvPr/>
          </p:nvSpPr>
          <p:spPr bwMode="auto">
            <a:xfrm>
              <a:off x="4809" y="2835"/>
              <a:ext cx="525"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87" name="Line 67"/>
            <p:cNvSpPr>
              <a:spLocks noChangeShapeType="1"/>
            </p:cNvSpPr>
            <p:nvPr/>
          </p:nvSpPr>
          <p:spPr bwMode="auto">
            <a:xfrm>
              <a:off x="4599" y="2970"/>
              <a:ext cx="0" cy="24"/>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88" name="Line 68"/>
            <p:cNvSpPr>
              <a:spLocks noChangeShapeType="1"/>
            </p:cNvSpPr>
            <p:nvPr/>
          </p:nvSpPr>
          <p:spPr bwMode="auto">
            <a:xfrm>
              <a:off x="4575" y="2700"/>
              <a:ext cx="474"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89" name="Line 69"/>
            <p:cNvSpPr>
              <a:spLocks noChangeShapeType="1"/>
            </p:cNvSpPr>
            <p:nvPr/>
          </p:nvSpPr>
          <p:spPr bwMode="auto">
            <a:xfrm>
              <a:off x="4578" y="2970"/>
              <a:ext cx="474" cy="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90" name="Line 70"/>
            <p:cNvSpPr>
              <a:spLocks noChangeShapeType="1"/>
            </p:cNvSpPr>
            <p:nvPr/>
          </p:nvSpPr>
          <p:spPr bwMode="auto">
            <a:xfrm>
              <a:off x="4578" y="2700"/>
              <a:ext cx="0" cy="270"/>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81991" name="Line 71"/>
            <p:cNvSpPr>
              <a:spLocks noChangeShapeType="1"/>
            </p:cNvSpPr>
            <p:nvPr/>
          </p:nvSpPr>
          <p:spPr bwMode="auto">
            <a:xfrm>
              <a:off x="5046" y="2700"/>
              <a:ext cx="0" cy="7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92" name="Line 72"/>
            <p:cNvSpPr>
              <a:spLocks noChangeShapeType="1"/>
            </p:cNvSpPr>
            <p:nvPr/>
          </p:nvSpPr>
          <p:spPr bwMode="auto">
            <a:xfrm>
              <a:off x="5046" y="2898"/>
              <a:ext cx="0" cy="7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93" name="Line 73"/>
            <p:cNvSpPr>
              <a:spLocks noChangeShapeType="1"/>
            </p:cNvSpPr>
            <p:nvPr/>
          </p:nvSpPr>
          <p:spPr bwMode="auto">
            <a:xfrm>
              <a:off x="4680" y="2703"/>
              <a:ext cx="0" cy="7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81994" name="Line 74"/>
            <p:cNvSpPr>
              <a:spLocks noChangeShapeType="1"/>
            </p:cNvSpPr>
            <p:nvPr/>
          </p:nvSpPr>
          <p:spPr bwMode="auto">
            <a:xfrm>
              <a:off x="4683" y="2898"/>
              <a:ext cx="0" cy="78"/>
            </a:xfrm>
            <a:prstGeom prst="line">
              <a:avLst/>
            </a:prstGeom>
            <a:noFill/>
            <a:ln w="19050">
              <a:solidFill>
                <a:srgbClr val="00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3" name="矩形 2"/>
          <p:cNvSpPr/>
          <p:nvPr/>
        </p:nvSpPr>
        <p:spPr>
          <a:xfrm>
            <a:off x="204822" y="3144121"/>
            <a:ext cx="1480039" cy="61973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直线运动</a:t>
            </a:r>
            <a:endParaRPr lang="zh-CN" altLang="en-US" sz="2400" b="1" dirty="0">
              <a:solidFill>
                <a:schemeClr val="tx1"/>
              </a:solidFill>
              <a:latin typeface="+mn-ea"/>
            </a:endParaRPr>
          </a:p>
        </p:txBody>
      </p:sp>
      <p:cxnSp>
        <p:nvCxnSpPr>
          <p:cNvPr id="5" name="直接连接符 4"/>
          <p:cNvCxnSpPr/>
          <p:nvPr/>
        </p:nvCxnSpPr>
        <p:spPr>
          <a:xfrm flipH="1">
            <a:off x="2078030" y="2512260"/>
            <a:ext cx="14962" cy="236210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2094642" y="4874361"/>
            <a:ext cx="4114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1684861" y="3453989"/>
            <a:ext cx="4037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矩形 104"/>
          <p:cNvSpPr/>
          <p:nvPr/>
        </p:nvSpPr>
        <p:spPr>
          <a:xfrm>
            <a:off x="2491698" y="2187373"/>
            <a:ext cx="1418052" cy="619736"/>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活塞缸</a:t>
            </a:r>
            <a:endParaRPr lang="en-US" altLang="zh-CN" sz="2400" b="1" dirty="0" smtClean="0">
              <a:solidFill>
                <a:schemeClr val="tx1"/>
              </a:solidFill>
              <a:latin typeface="+mn-ea"/>
            </a:endParaRPr>
          </a:p>
          <a:p>
            <a:pPr algn="ctr"/>
            <a:r>
              <a:rPr lang="en-US" altLang="zh-CN"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Piston </a:t>
            </a:r>
            <a:r>
              <a:rPr lang="en-US" altLang="zh-CN" sz="11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cylinders</a:t>
            </a:r>
            <a:endParaRPr lang="zh-CN" altLang="en-US" sz="2400" b="1" dirty="0">
              <a:solidFill>
                <a:schemeClr val="tx1"/>
              </a:solidFill>
              <a:latin typeface="+mn-ea"/>
            </a:endParaRPr>
          </a:p>
        </p:txBody>
      </p:sp>
      <p:sp>
        <p:nvSpPr>
          <p:cNvPr id="106" name="矩形 105"/>
          <p:cNvSpPr/>
          <p:nvPr/>
        </p:nvSpPr>
        <p:spPr>
          <a:xfrm>
            <a:off x="2492192" y="3783507"/>
            <a:ext cx="1428284" cy="619736"/>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柱塞缸</a:t>
            </a:r>
            <a:endParaRPr lang="zh-CN" altLang="en-US" sz="2400" b="1" dirty="0" smtClean="0">
              <a:solidFill>
                <a:schemeClr val="tx1"/>
              </a:solidFill>
              <a:latin typeface="+mn-ea"/>
            </a:endParaRPr>
          </a:p>
          <a:p>
            <a:pPr algn="ctr"/>
            <a:r>
              <a:rPr lang="en-US" altLang="zh-CN" sz="1100" b="1"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Ram cylinders</a:t>
            </a:r>
            <a:endParaRPr lang="zh-CN" altLang="en-US"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07" name="矩形 106"/>
          <p:cNvSpPr/>
          <p:nvPr/>
        </p:nvSpPr>
        <p:spPr>
          <a:xfrm>
            <a:off x="2484792" y="4553981"/>
            <a:ext cx="1454732" cy="619736"/>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伸缩</a:t>
            </a:r>
            <a:r>
              <a:rPr lang="zh-CN" altLang="en-US" sz="2400" b="1" dirty="0" smtClean="0">
                <a:solidFill>
                  <a:schemeClr val="tx1"/>
                </a:solidFill>
                <a:latin typeface="+mn-ea"/>
              </a:rPr>
              <a:t>缸</a:t>
            </a:r>
            <a:endParaRPr lang="zh-CN" altLang="en-US" sz="2400" b="1" dirty="0" smtClean="0">
              <a:solidFill>
                <a:schemeClr val="tx1"/>
              </a:solidFill>
              <a:latin typeface="+mn-ea"/>
            </a:endParaRPr>
          </a:p>
          <a:p>
            <a:pPr algn="ctr"/>
            <a:r>
              <a:rPr lang="en-US" altLang="zh-CN" sz="1100" b="1"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Telescopic cylinders</a:t>
            </a:r>
            <a:endParaRPr lang="zh-CN" altLang="en-US" sz="2400" b="1" dirty="0">
              <a:solidFill>
                <a:schemeClr val="tx1"/>
              </a:solidFill>
              <a:latin typeface="+mn-ea"/>
            </a:endParaRPr>
          </a:p>
        </p:txBody>
      </p:sp>
      <p:cxnSp>
        <p:nvCxnSpPr>
          <p:cNvPr id="109" name="直接连接符 108"/>
          <p:cNvCxnSpPr/>
          <p:nvPr/>
        </p:nvCxnSpPr>
        <p:spPr>
          <a:xfrm>
            <a:off x="2085501" y="4106565"/>
            <a:ext cx="4114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3923400" y="2509193"/>
            <a:ext cx="4037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5836374" y="1099571"/>
            <a:ext cx="4" cy="14084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a:off x="4360882" y="1834310"/>
            <a:ext cx="2962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a:off x="5386398" y="1834310"/>
            <a:ext cx="7315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a:endCxn id="125" idx="1"/>
          </p:cNvCxnSpPr>
          <p:nvPr/>
        </p:nvCxnSpPr>
        <p:spPr>
          <a:xfrm>
            <a:off x="4346746" y="3314046"/>
            <a:ext cx="323439" cy="32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矩形 123"/>
          <p:cNvSpPr/>
          <p:nvPr/>
        </p:nvSpPr>
        <p:spPr>
          <a:xfrm>
            <a:off x="6118822" y="1542528"/>
            <a:ext cx="1446655" cy="61973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双</a:t>
            </a:r>
            <a:r>
              <a:rPr lang="zh-CN" altLang="en-US" sz="2400" b="1" dirty="0" smtClean="0">
                <a:solidFill>
                  <a:schemeClr val="tx1"/>
                </a:solidFill>
                <a:latin typeface="+mn-ea"/>
              </a:rPr>
              <a:t>作用</a:t>
            </a:r>
            <a:endParaRPr lang="en-US" altLang="zh-CN" sz="2400" b="1" dirty="0" smtClean="0">
              <a:solidFill>
                <a:schemeClr val="tx1"/>
              </a:solidFill>
              <a:latin typeface="+mn-ea"/>
            </a:endParaRPr>
          </a:p>
          <a:p>
            <a:pPr algn="ctr"/>
            <a:r>
              <a:rPr lang="en-US" altLang="zh-CN" sz="11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Double acting</a:t>
            </a:r>
            <a:endParaRPr lang="zh-CN" altLang="en-US" sz="2400" b="1" dirty="0">
              <a:solidFill>
                <a:schemeClr val="tx1"/>
              </a:solidFill>
              <a:latin typeface="+mn-ea"/>
            </a:endParaRPr>
          </a:p>
        </p:txBody>
      </p:sp>
      <p:sp>
        <p:nvSpPr>
          <p:cNvPr id="125" name="矩形 124"/>
          <p:cNvSpPr/>
          <p:nvPr/>
        </p:nvSpPr>
        <p:spPr>
          <a:xfrm>
            <a:off x="4670185" y="3007438"/>
            <a:ext cx="840132" cy="61973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双</a:t>
            </a:r>
            <a:r>
              <a:rPr lang="zh-CN" altLang="en-US" sz="2400" b="1" dirty="0" smtClean="0">
                <a:solidFill>
                  <a:schemeClr val="tx1"/>
                </a:solidFill>
                <a:latin typeface="+mn-ea"/>
              </a:rPr>
              <a:t>杆</a:t>
            </a:r>
            <a:endParaRPr lang="en-US" altLang="zh-CN" sz="2400" b="1" dirty="0" smtClean="0">
              <a:solidFill>
                <a:schemeClr val="tx1"/>
              </a:solidFill>
              <a:latin typeface="+mn-ea"/>
            </a:endParaRPr>
          </a:p>
          <a:p>
            <a:pPr algn="ctr"/>
            <a:r>
              <a:rPr lang="en-US" altLang="zh-CN"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Dual </a:t>
            </a:r>
            <a:r>
              <a:rPr lang="en-US" altLang="zh-CN" sz="11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rod</a:t>
            </a:r>
            <a:endParaRPr lang="zh-CN" altLang="en-US" sz="2400" b="1" dirty="0">
              <a:solidFill>
                <a:schemeClr val="tx1"/>
              </a:solidFill>
              <a:latin typeface="+mn-ea"/>
            </a:endParaRPr>
          </a:p>
        </p:txBody>
      </p:sp>
      <p:sp>
        <p:nvSpPr>
          <p:cNvPr id="129" name="矩形 128"/>
          <p:cNvSpPr/>
          <p:nvPr/>
        </p:nvSpPr>
        <p:spPr>
          <a:xfrm>
            <a:off x="6124187" y="789703"/>
            <a:ext cx="1441290" cy="61973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单作用</a:t>
            </a:r>
            <a:endParaRPr lang="en-US" altLang="zh-CN" sz="2400" b="1" dirty="0" smtClean="0">
              <a:solidFill>
                <a:schemeClr val="tx1"/>
              </a:solidFill>
              <a:latin typeface="+mn-ea"/>
            </a:endParaRPr>
          </a:p>
          <a:p>
            <a:pPr algn="ctr"/>
            <a:r>
              <a:rPr lang="en-US" altLang="zh-CN" sz="1100"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Single acting</a:t>
            </a:r>
            <a:endParaRPr lang="zh-CN" altLang="en-US"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30" name="矩形 129"/>
          <p:cNvSpPr/>
          <p:nvPr/>
        </p:nvSpPr>
        <p:spPr>
          <a:xfrm>
            <a:off x="6121339" y="2225877"/>
            <a:ext cx="1444138" cy="619736"/>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差</a:t>
            </a:r>
            <a:r>
              <a:rPr lang="zh-CN" altLang="en-US" sz="2400" b="1" dirty="0" smtClean="0">
                <a:solidFill>
                  <a:schemeClr val="tx1"/>
                </a:solidFill>
                <a:latin typeface="+mn-ea"/>
              </a:rPr>
              <a:t>动</a:t>
            </a:r>
            <a:endParaRPr lang="en-US" altLang="zh-CN" sz="2400" b="1" dirty="0" smtClean="0">
              <a:solidFill>
                <a:schemeClr val="tx1"/>
              </a:solidFill>
              <a:latin typeface="+mn-ea"/>
            </a:endParaRPr>
          </a:p>
          <a:p>
            <a:pPr algn="ctr"/>
            <a:r>
              <a:rPr lang="en-US" altLang="zh-CN"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Tandem cylinders </a:t>
            </a:r>
            <a:endParaRPr lang="zh-CN" altLang="en-US"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31" name="矩形 130"/>
          <p:cNvSpPr/>
          <p:nvPr/>
        </p:nvSpPr>
        <p:spPr>
          <a:xfrm>
            <a:off x="4639453" y="1524442"/>
            <a:ext cx="840132" cy="619736"/>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单</a:t>
            </a:r>
            <a:r>
              <a:rPr lang="zh-CN" altLang="en-US" sz="2400" b="1" dirty="0" smtClean="0">
                <a:solidFill>
                  <a:schemeClr val="tx1"/>
                </a:solidFill>
                <a:latin typeface="+mn-ea"/>
              </a:rPr>
              <a:t>杆</a:t>
            </a:r>
            <a:endParaRPr lang="en-US" altLang="zh-CN" sz="2400" b="1" dirty="0" smtClean="0">
              <a:solidFill>
                <a:schemeClr val="tx1"/>
              </a:solidFill>
              <a:latin typeface="+mn-ea"/>
            </a:endParaRPr>
          </a:p>
          <a:p>
            <a:pPr algn="ctr"/>
            <a:r>
              <a:rPr lang="en-US" altLang="zh-CN"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Single rod</a:t>
            </a:r>
            <a:endParaRPr lang="zh-CN" altLang="en-US" sz="1100" b="1" dirty="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cxnSp>
        <p:nvCxnSpPr>
          <p:cNvPr id="134" name="直接连接符 133"/>
          <p:cNvCxnSpPr/>
          <p:nvPr/>
        </p:nvCxnSpPr>
        <p:spPr>
          <a:xfrm>
            <a:off x="4338747" y="1834310"/>
            <a:ext cx="0" cy="14812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7" name="矩形 136"/>
          <p:cNvSpPr/>
          <p:nvPr/>
        </p:nvSpPr>
        <p:spPr>
          <a:xfrm>
            <a:off x="191391" y="5675433"/>
            <a:ext cx="1480039" cy="61973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mn-ea"/>
              </a:rPr>
              <a:t>摆动</a:t>
            </a:r>
            <a:r>
              <a:rPr lang="zh-CN" altLang="en-US" sz="2400" b="1" dirty="0" smtClean="0">
                <a:solidFill>
                  <a:schemeClr val="tx1"/>
                </a:solidFill>
                <a:latin typeface="+mn-ea"/>
              </a:rPr>
              <a:t>运动</a:t>
            </a:r>
            <a:endParaRPr lang="zh-CN" altLang="en-US" sz="2400" b="1" dirty="0">
              <a:solidFill>
                <a:schemeClr val="tx1"/>
              </a:solidFill>
              <a:latin typeface="+mn-ea"/>
            </a:endParaRPr>
          </a:p>
        </p:txBody>
      </p:sp>
      <p:cxnSp>
        <p:nvCxnSpPr>
          <p:cNvPr id="138" name="直接连接符 137"/>
          <p:cNvCxnSpPr/>
          <p:nvPr/>
        </p:nvCxnSpPr>
        <p:spPr>
          <a:xfrm>
            <a:off x="1676068" y="6000095"/>
            <a:ext cx="4037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a:off x="2064839" y="5582582"/>
            <a:ext cx="7471" cy="8278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a:off x="2074992" y="5582582"/>
            <a:ext cx="4114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a:off x="2064839" y="6410463"/>
            <a:ext cx="4114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4" name="矩形 143"/>
          <p:cNvSpPr/>
          <p:nvPr/>
        </p:nvSpPr>
        <p:spPr>
          <a:xfrm>
            <a:off x="2492830" y="5360109"/>
            <a:ext cx="1217016" cy="619736"/>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摆动缸</a:t>
            </a:r>
            <a:endParaRPr lang="zh-CN" altLang="en-US" sz="2400" b="1" dirty="0">
              <a:solidFill>
                <a:schemeClr val="tx1"/>
              </a:solidFill>
              <a:latin typeface="+mn-ea"/>
            </a:endParaRPr>
          </a:p>
        </p:txBody>
      </p:sp>
      <p:sp>
        <p:nvSpPr>
          <p:cNvPr id="145" name="矩形 144"/>
          <p:cNvSpPr/>
          <p:nvPr/>
        </p:nvSpPr>
        <p:spPr>
          <a:xfrm>
            <a:off x="2500402" y="6158577"/>
            <a:ext cx="1217016" cy="619736"/>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solidFill>
                  <a:schemeClr val="tx1"/>
                </a:solidFill>
                <a:latin typeface="+mn-ea"/>
              </a:rPr>
              <a:t>齿条缸</a:t>
            </a:r>
            <a:endParaRPr lang="zh-CN" altLang="en-US" sz="2400" b="1" dirty="0">
              <a:solidFill>
                <a:schemeClr val="tx1"/>
              </a:solidFill>
              <a:latin typeface="+mn-ea"/>
            </a:endParaRPr>
          </a:p>
        </p:txBody>
      </p:sp>
      <p:cxnSp>
        <p:nvCxnSpPr>
          <p:cNvPr id="148" name="直接连接符 147"/>
          <p:cNvCxnSpPr/>
          <p:nvPr/>
        </p:nvCxnSpPr>
        <p:spPr>
          <a:xfrm>
            <a:off x="2094642" y="2512260"/>
            <a:ext cx="4114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5830646" y="1107754"/>
            <a:ext cx="29624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a:off x="5837873" y="2508023"/>
            <a:ext cx="2743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8" name="标题 1"/>
          <p:cNvSpPr txBox="1"/>
          <p:nvPr/>
        </p:nvSpPr>
        <p:spPr>
          <a:xfrm>
            <a:off x="227162" y="530877"/>
            <a:ext cx="7176391" cy="1066800"/>
          </a:xfrm>
          <a:prstGeom prst="rect">
            <a:avLst/>
          </a:prstGeom>
        </p:spPr>
        <p:txBody>
          <a:bodyPr>
            <a:normAutofit/>
          </a:bodyPr>
          <a:lstStyle>
            <a:lvl1pPr algn="l" rtl="0" eaLnBrk="1" latinLnBrk="0" hangingPunct="1">
              <a:spcBef>
                <a:spcPct val="0"/>
              </a:spcBef>
              <a:buNone/>
              <a:defRPr kumimoji="0" sz="3000" kern="1200">
                <a:solidFill>
                  <a:schemeClr val="tx2"/>
                </a:solidFill>
                <a:latin typeface="微软雅黑" panose="020B0503020204020204" charset="-122"/>
                <a:ea typeface="微软雅黑" panose="020B0503020204020204" charset="-122"/>
                <a:cs typeface="+mj-cs"/>
              </a:defRPr>
            </a:lvl1pPr>
          </a:lstStyle>
          <a:p>
            <a:r>
              <a:rPr lang="zh-CN" altLang="en-US" sz="2700" b="1" dirty="0">
                <a:solidFill>
                  <a:srgbClr val="CC3300"/>
                </a:solidFill>
                <a:effectLst>
                  <a:outerShdw blurRad="38100" dist="38100" dir="2700000" algn="tl">
                    <a:srgbClr val="000000">
                      <a:alpha val="43137"/>
                    </a:srgbClr>
                  </a:outerShdw>
                </a:effectLst>
                <a:latin typeface="Tahoma" panose="020B0604030504040204" pitchFamily="34" charset="0"/>
                <a:ea typeface="黑体" panose="02010609060101010101" pitchFamily="49" charset="-122"/>
              </a:rPr>
              <a:t>液压缸的分类</a:t>
            </a:r>
            <a:br>
              <a:rPr lang="en-US" altLang="zh-CN" sz="3200" dirty="0" smtClean="0">
                <a:latin typeface="黑体" panose="02010609060101010101" pitchFamily="49" charset="-122"/>
                <a:ea typeface="黑体" panose="02010609060101010101" pitchFamily="49" charset="-122"/>
              </a:rPr>
            </a:br>
            <a:r>
              <a:rPr lang="en-US" altLang="zh-CN" sz="20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Classification of Hydraulic Cylinders</a:t>
            </a:r>
            <a:endParaRPr lang="zh-CN" altLang="en-US" sz="200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990106" y="1568599"/>
            <a:ext cx="2896823" cy="2097591"/>
            <a:chOff x="6077567" y="1497038"/>
            <a:chExt cx="2896823" cy="2097591"/>
          </a:xfrm>
        </p:grpSpPr>
        <p:pic>
          <p:nvPicPr>
            <p:cNvPr id="20" name="Picture 33"/>
            <p:cNvPicPr>
              <a:picLocks noChangeAspect="1" noChangeArrowheads="1"/>
            </p:cNvPicPr>
            <p:nvPr/>
          </p:nvPicPr>
          <p:blipFill rotWithShape="1">
            <a:blip r:embed="rId1">
              <a:extLst>
                <a:ext uri="{28A0092B-C50C-407E-A947-70E740481C1C}">
                  <a14:useLocalDpi xmlns:a14="http://schemas.microsoft.com/office/drawing/2010/main" val="0"/>
                </a:ext>
              </a:extLst>
            </a:blip>
            <a:srcRect l="69459" t="555"/>
            <a:stretch>
              <a:fillRect/>
            </a:stretch>
          </p:blipFill>
          <p:spPr bwMode="auto">
            <a:xfrm>
              <a:off x="6077567" y="1497038"/>
              <a:ext cx="2896823" cy="2097591"/>
            </a:xfrm>
            <a:prstGeom prst="rect">
              <a:avLst/>
            </a:prstGeom>
            <a:solidFill>
              <a:srgbClr val="FFFFFF"/>
            </a:solidFill>
          </p:spPr>
        </p:pic>
        <mc:AlternateContent xmlns:mc="http://schemas.openxmlformats.org/markup-compatibility/2006">
          <mc:Choice xmlns:a14="http://schemas.microsoft.com/office/drawing/2010/main" Requires="a14">
            <p:sp>
              <p:nvSpPr>
                <p:cNvPr id="18" name="文本框 17"/>
                <p:cNvSpPr txBox="1"/>
                <p:nvPr/>
              </p:nvSpPr>
              <p:spPr>
                <a:xfrm>
                  <a:off x="6515894" y="3234953"/>
                  <a:ext cx="215123"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oMath>
                    </m:oMathPara>
                  </a14:m>
                  <a:endParaRPr lang="zh-CN" altLang="en-US" dirty="0"/>
                </a:p>
              </p:txBody>
            </p:sp>
          </mc:Choice>
          <mc:Fallback>
            <p:sp>
              <p:nvSpPr>
                <p:cNvPr id="18" name="文本框 17"/>
                <p:cNvSpPr txBox="1">
                  <a:spLocks noRot="1" noChangeAspect="1" noMove="1" noResize="1" noEditPoints="1" noAdjustHandles="1" noChangeArrowheads="1" noChangeShapeType="1" noTextEdit="1"/>
                </p:cNvSpPr>
                <p:nvPr/>
              </p:nvSpPr>
              <p:spPr>
                <a:xfrm>
                  <a:off x="6515894" y="3234953"/>
                  <a:ext cx="215123" cy="276999"/>
                </a:xfrm>
                <a:prstGeom prst="rect">
                  <a:avLst/>
                </a:prstGeom>
                <a:blipFill rotWithShape="1">
                  <a:blip r:embed="rId2"/>
                </a:blipFill>
              </p:spPr>
              <p:txBody>
                <a:bodyPr/>
                <a:lstStyle/>
                <a:p>
                  <a:r>
                    <a:rPr lang="zh-CN" altLang="en-US">
                      <a:noFill/>
                    </a:rPr>
                    <a:t> </a:t>
                  </a:r>
                </a:p>
              </p:txBody>
            </p:sp>
          </mc:Fallback>
        </mc:AlternateContent>
      </p:grpSp>
      <p:grpSp>
        <p:nvGrpSpPr>
          <p:cNvPr id="6" name="组合 5"/>
          <p:cNvGrpSpPr/>
          <p:nvPr/>
        </p:nvGrpSpPr>
        <p:grpSpPr>
          <a:xfrm>
            <a:off x="3010142" y="1632011"/>
            <a:ext cx="2993292" cy="2000739"/>
            <a:chOff x="3119633" y="1585801"/>
            <a:chExt cx="2993292" cy="2000739"/>
          </a:xfrm>
        </p:grpSpPr>
        <p:pic>
          <p:nvPicPr>
            <p:cNvPr id="21" name="Picture 33"/>
            <p:cNvPicPr>
              <a:picLocks noChangeAspect="1" noChangeArrowheads="1"/>
            </p:cNvPicPr>
            <p:nvPr/>
          </p:nvPicPr>
          <p:blipFill rotWithShape="1">
            <a:blip r:embed="rId1">
              <a:extLst>
                <a:ext uri="{28A0092B-C50C-407E-A947-70E740481C1C}">
                  <a14:useLocalDpi xmlns:a14="http://schemas.microsoft.com/office/drawing/2010/main" val="0"/>
                </a:ext>
              </a:extLst>
            </a:blip>
            <a:srcRect l="31461" t="-460" r="35102" b="-42"/>
            <a:stretch>
              <a:fillRect/>
            </a:stretch>
          </p:blipFill>
          <p:spPr bwMode="auto">
            <a:xfrm>
              <a:off x="3119633" y="1585801"/>
              <a:ext cx="2993292" cy="2000739"/>
            </a:xfrm>
            <a:prstGeom prst="rect">
              <a:avLst/>
            </a:prstGeom>
            <a:solidFill>
              <a:srgbClr val="FFFFFF"/>
            </a:solidFill>
          </p:spPr>
        </p:pic>
        <mc:AlternateContent xmlns:mc="http://schemas.openxmlformats.org/markup-compatibility/2006">
          <mc:Choice xmlns:a14="http://schemas.microsoft.com/office/drawing/2010/main" Requires="a14">
            <p:sp>
              <p:nvSpPr>
                <p:cNvPr id="17" name="文本框 16"/>
                <p:cNvSpPr txBox="1"/>
                <p:nvPr/>
              </p:nvSpPr>
              <p:spPr>
                <a:xfrm>
                  <a:off x="4583727" y="2938564"/>
                  <a:ext cx="215123"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oMath>
                    </m:oMathPara>
                  </a14:m>
                  <a:endParaRPr lang="zh-CN" altLang="en-US" dirty="0"/>
                </a:p>
              </p:txBody>
            </p:sp>
          </mc:Choice>
          <mc:Fallback>
            <p:sp>
              <p:nvSpPr>
                <p:cNvPr id="17" name="文本框 16"/>
                <p:cNvSpPr txBox="1">
                  <a:spLocks noRot="1" noChangeAspect="1" noMove="1" noResize="1" noEditPoints="1" noAdjustHandles="1" noChangeArrowheads="1" noChangeShapeType="1" noTextEdit="1"/>
                </p:cNvSpPr>
                <p:nvPr/>
              </p:nvSpPr>
              <p:spPr>
                <a:xfrm>
                  <a:off x="4583727" y="2938564"/>
                  <a:ext cx="215123" cy="276999"/>
                </a:xfrm>
                <a:prstGeom prst="rect">
                  <a:avLst/>
                </a:prstGeom>
                <a:blipFill rotWithShape="1">
                  <a:blip r:embed="rId2"/>
                </a:blipFill>
              </p:spPr>
              <p:txBody>
                <a:bodyPr/>
                <a:lstStyle/>
                <a:p>
                  <a:r>
                    <a:rPr lang="zh-CN" altLang="en-US">
                      <a:noFill/>
                    </a:rPr>
                    <a:t> </a:t>
                  </a:r>
                </a:p>
              </p:txBody>
            </p:sp>
          </mc:Fallback>
        </mc:AlternateContent>
      </p:grpSp>
      <p:grpSp>
        <p:nvGrpSpPr>
          <p:cNvPr id="7" name="组合 6"/>
          <p:cNvGrpSpPr/>
          <p:nvPr/>
        </p:nvGrpSpPr>
        <p:grpSpPr>
          <a:xfrm>
            <a:off x="277610" y="1660526"/>
            <a:ext cx="2819095" cy="1972224"/>
            <a:chOff x="365071" y="1588965"/>
            <a:chExt cx="2819095" cy="1972224"/>
          </a:xfrm>
        </p:grpSpPr>
        <p:pic>
          <p:nvPicPr>
            <p:cNvPr id="60449" name="Picture 33"/>
            <p:cNvPicPr>
              <a:picLocks noChangeAspect="1" noChangeArrowheads="1"/>
            </p:cNvPicPr>
            <p:nvPr/>
          </p:nvPicPr>
          <p:blipFill rotWithShape="1">
            <a:blip r:embed="rId1">
              <a:extLst>
                <a:ext uri="{28A0092B-C50C-407E-A947-70E740481C1C}">
                  <a14:useLocalDpi xmlns:a14="http://schemas.microsoft.com/office/drawing/2010/main" val="0"/>
                </a:ext>
              </a:extLst>
            </a:blip>
            <a:srcRect r="68508" b="929"/>
            <a:stretch>
              <a:fillRect/>
            </a:stretch>
          </p:blipFill>
          <p:spPr bwMode="auto">
            <a:xfrm>
              <a:off x="365071" y="1588965"/>
              <a:ext cx="2819095" cy="1972224"/>
            </a:xfrm>
            <a:prstGeom prst="rect">
              <a:avLst/>
            </a:prstGeom>
            <a:noFill/>
          </p:spPr>
        </p:pic>
        <mc:AlternateContent xmlns:mc="http://schemas.openxmlformats.org/markup-compatibility/2006">
          <mc:Choice xmlns:a14="http://schemas.microsoft.com/office/drawing/2010/main" Requires="a14">
            <p:sp>
              <p:nvSpPr>
                <p:cNvPr id="3" name="文本框 2"/>
                <p:cNvSpPr txBox="1"/>
                <p:nvPr/>
              </p:nvSpPr>
              <p:spPr>
                <a:xfrm>
                  <a:off x="721552" y="3040955"/>
                  <a:ext cx="215123" cy="276999"/>
                </a:xfrm>
                <a:prstGeom prst="rect">
                  <a:avLst/>
                </a:prstGeom>
                <a:solidFill>
                  <a:schemeClr val="bg1"/>
                </a:solid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oMath>
                    </m:oMathPara>
                  </a14:m>
                  <a:endParaRPr lang="zh-CN" altLang="en-US" dirty="0"/>
                </a:p>
              </p:txBody>
            </p:sp>
          </mc:Choice>
          <mc:Fallback>
            <p:sp>
              <p:nvSpPr>
                <p:cNvPr id="3" name="文本框 2"/>
                <p:cNvSpPr txBox="1">
                  <a:spLocks noRot="1" noChangeAspect="1" noMove="1" noResize="1" noEditPoints="1" noAdjustHandles="1" noChangeArrowheads="1" noChangeShapeType="1" noTextEdit="1"/>
                </p:cNvSpPr>
                <p:nvPr/>
              </p:nvSpPr>
              <p:spPr>
                <a:xfrm>
                  <a:off x="721552" y="3040955"/>
                  <a:ext cx="215123" cy="276999"/>
                </a:xfrm>
                <a:prstGeom prst="rect">
                  <a:avLst/>
                </a:prstGeom>
                <a:blipFill rotWithShape="1">
                  <a:blip r:embed="rId2"/>
                </a:blipFill>
              </p:spPr>
              <p:txBody>
                <a:bodyPr/>
                <a:lstStyle/>
                <a:p>
                  <a:r>
                    <a:rPr lang="zh-CN" altLang="en-US">
                      <a:noFill/>
                    </a:rPr>
                    <a:t> </a:t>
                  </a:r>
                </a:p>
              </p:txBody>
            </p:sp>
          </mc:Fallback>
        </mc:AlternateContent>
      </p:grpSp>
      <p:sp>
        <p:nvSpPr>
          <p:cNvPr id="60422" name="Rectangle 6"/>
          <p:cNvSpPr>
            <a:spLocks noGrp="1" noChangeArrowheads="1"/>
          </p:cNvSpPr>
          <p:nvPr>
            <p:ph type="title"/>
          </p:nvPr>
        </p:nvSpPr>
        <p:spPr>
          <a:xfrm>
            <a:off x="204811" y="551267"/>
            <a:ext cx="4523619" cy="647700"/>
          </a:xfrm>
        </p:spPr>
        <p:txBody>
          <a:bodyPr>
            <a:normAutofit fontScale="90000"/>
          </a:bodyPr>
          <a:lstStyle/>
          <a:p>
            <a:r>
              <a:rPr lang="zh-CN" altLang="en-US" sz="2700" b="1" dirty="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单杆活塞缸运动速度和推力</a:t>
            </a:r>
            <a:r>
              <a:rPr lang="zh-CN" altLang="en-US" sz="2700" b="1" dirty="0" smtClean="0">
                <a:solidFill>
                  <a:srgbClr val="CC33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计算</a:t>
            </a:r>
            <a:br>
              <a:rPr lang="en-US" altLang="zh-CN" sz="3200" b="1" dirty="0" smtClean="0">
                <a:solidFill>
                  <a:schemeClr val="accent2">
                    <a:lumMod val="75000"/>
                  </a:schemeClr>
                </a:solidFill>
                <a:effectLst>
                  <a:outerShdw blurRad="38100" dist="38100" dir="2700000" algn="tl">
                    <a:srgbClr val="000000">
                      <a:alpha val="43137"/>
                    </a:srgbClr>
                  </a:outerShdw>
                </a:effectLst>
                <a:ea typeface="黑体" panose="02010609060101010101" pitchFamily="49" charset="-122"/>
              </a:rPr>
            </a:br>
            <a:r>
              <a:rPr lang="en-US" altLang="zh-CN" sz="2000" b="1" dirty="0">
                <a:solidFill>
                  <a:schemeClr val="tx1"/>
                </a:solidFill>
                <a:effectLst>
                  <a:outerShdw blurRad="38100" dist="38100" dir="2700000" algn="tl">
                    <a:srgbClr val="000000">
                      <a:alpha val="43137"/>
                    </a:srgbClr>
                  </a:outerShdw>
                </a:effectLst>
                <a:ea typeface="黑体" panose="02010609060101010101" pitchFamily="49" charset="-122"/>
              </a:rPr>
              <a:t>Force </a:t>
            </a:r>
            <a:r>
              <a:rPr lang="en-US" altLang="zh-CN" sz="2000" b="1" dirty="0" smtClean="0">
                <a:solidFill>
                  <a:schemeClr val="tx1"/>
                </a:solidFill>
                <a:effectLst>
                  <a:outerShdw blurRad="38100" dist="38100" dir="2700000" algn="tl">
                    <a:srgbClr val="000000">
                      <a:alpha val="43137"/>
                    </a:srgbClr>
                  </a:outerShdw>
                </a:effectLst>
                <a:ea typeface="黑体" panose="02010609060101010101" pitchFamily="49" charset="-122"/>
              </a:rPr>
              <a:t>and Speed Calculation </a:t>
            </a:r>
            <a:endParaRPr lang="zh-CN" altLang="en-US" sz="2000" b="1" dirty="0">
              <a:solidFill>
                <a:schemeClr val="tx1"/>
              </a:solidFill>
              <a:effectLst>
                <a:outerShdw blurRad="38100" dist="38100" dir="2700000" algn="tl">
                  <a:srgbClr val="000000">
                    <a:alpha val="43137"/>
                  </a:srgbClr>
                </a:outerShdw>
              </a:effectLst>
              <a:ea typeface="黑体" panose="02010609060101010101" pitchFamily="49" charset="-122"/>
            </a:endParaRPr>
          </a:p>
        </p:txBody>
      </p:sp>
      <p:graphicFrame>
        <p:nvGraphicFramePr>
          <p:cNvPr id="60429" name="Object 13"/>
          <p:cNvGraphicFramePr>
            <a:graphicFrameLocks noChangeAspect="1"/>
          </p:cNvGraphicFramePr>
          <p:nvPr/>
        </p:nvGraphicFramePr>
        <p:xfrm>
          <a:off x="169714" y="4526086"/>
          <a:ext cx="2782888" cy="1725613"/>
        </p:xfrm>
        <a:graphic>
          <a:graphicData uri="http://schemas.openxmlformats.org/presentationml/2006/ole">
            <mc:AlternateContent xmlns:mc="http://schemas.openxmlformats.org/markup-compatibility/2006">
              <mc:Choice xmlns:v="urn:schemas-microsoft-com:vml" Requires="v">
                <p:oleObj spid="_x0000_s62601" name="Equation" r:id="rId3" imgW="43891200" imgH="27432000" progId="Equation.DSMT4">
                  <p:embed/>
                </p:oleObj>
              </mc:Choice>
              <mc:Fallback>
                <p:oleObj name="Equation" r:id="rId3" imgW="43891200" imgH="27432000" progId="Equation.DSMT4">
                  <p:embed/>
                  <p:pic>
                    <p:nvPicPr>
                      <p:cNvPr id="0" name="图片 62600"/>
                      <p:cNvPicPr>
                        <a:picLocks noChangeAspect="1" noChangeArrowheads="1"/>
                      </p:cNvPicPr>
                      <p:nvPr/>
                    </p:nvPicPr>
                    <p:blipFill>
                      <a:blip r:embed="rId4"/>
                      <a:srcRect/>
                      <a:stretch>
                        <a:fillRect/>
                      </a:stretch>
                    </p:blipFill>
                    <p:spPr bwMode="auto">
                      <a:xfrm>
                        <a:off x="169714" y="4526086"/>
                        <a:ext cx="2782888" cy="172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0431" name="Object 15"/>
          <p:cNvGraphicFramePr>
            <a:graphicFrameLocks noChangeAspect="1"/>
          </p:cNvGraphicFramePr>
          <p:nvPr/>
        </p:nvGraphicFramePr>
        <p:xfrm>
          <a:off x="3042460" y="4422224"/>
          <a:ext cx="2794000" cy="1784350"/>
        </p:xfrm>
        <a:graphic>
          <a:graphicData uri="http://schemas.openxmlformats.org/presentationml/2006/ole">
            <mc:AlternateContent xmlns:mc="http://schemas.openxmlformats.org/markup-compatibility/2006">
              <mc:Choice xmlns:v="urn:schemas-microsoft-com:vml" Requires="v">
                <p:oleObj spid="_x0000_s62602" name="Equation" r:id="rId5" imgW="44196000" imgH="28346400" progId="Equation.DSMT4">
                  <p:embed/>
                </p:oleObj>
              </mc:Choice>
              <mc:Fallback>
                <p:oleObj name="Equation" r:id="rId5" imgW="44196000" imgH="28346400" progId="Equation.DSMT4">
                  <p:embed/>
                  <p:pic>
                    <p:nvPicPr>
                      <p:cNvPr id="0" name="图片 62601"/>
                      <p:cNvPicPr>
                        <a:picLocks noChangeAspect="1" noChangeArrowheads="1"/>
                      </p:cNvPicPr>
                      <p:nvPr/>
                    </p:nvPicPr>
                    <p:blipFill>
                      <a:blip r:embed="rId6"/>
                      <a:srcRect/>
                      <a:stretch>
                        <a:fillRect/>
                      </a:stretch>
                    </p:blipFill>
                    <p:spPr bwMode="auto">
                      <a:xfrm>
                        <a:off x="3042460" y="4422224"/>
                        <a:ext cx="2794000" cy="178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37" name="Rectangle 21"/>
          <p:cNvSpPr>
            <a:spLocks noChangeArrowheads="1"/>
          </p:cNvSpPr>
          <p:nvPr/>
        </p:nvSpPr>
        <p:spPr bwMode="auto">
          <a:xfrm>
            <a:off x="-4180" y="4923450"/>
            <a:ext cx="32035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spcBef>
                <a:spcPct val="20000"/>
              </a:spcBef>
              <a:buClr>
                <a:schemeClr val="bg2"/>
              </a:buClr>
              <a:buSzPct val="75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accent2"/>
              </a:buClr>
              <a:buSzPct val="80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bg2"/>
              </a:buClr>
              <a:buSzPct val="65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accent2"/>
              </a:buClr>
              <a:buSzPct val="70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bg2"/>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bg2"/>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endParaRPr lang="zh-CN" altLang="en-US" sz="1800" b="0" dirty="0">
              <a:ea typeface="黑体" panose="02010609060101010101" pitchFamily="49" charset="-122"/>
            </a:endParaRPr>
          </a:p>
        </p:txBody>
      </p:sp>
      <p:graphicFrame>
        <p:nvGraphicFramePr>
          <p:cNvPr id="60438" name="Object 22"/>
          <p:cNvGraphicFramePr>
            <a:graphicFrameLocks noChangeAspect="1"/>
          </p:cNvGraphicFramePr>
          <p:nvPr/>
        </p:nvGraphicFramePr>
        <p:xfrm>
          <a:off x="6128997" y="4516561"/>
          <a:ext cx="2619375" cy="1458913"/>
        </p:xfrm>
        <a:graphic>
          <a:graphicData uri="http://schemas.openxmlformats.org/presentationml/2006/ole">
            <mc:AlternateContent xmlns:mc="http://schemas.openxmlformats.org/markup-compatibility/2006">
              <mc:Choice xmlns:v="urn:schemas-microsoft-com:vml" Requires="v">
                <p:oleObj spid="_x0000_s62603" name="Equation" r:id="rId7" imgW="37185600" imgH="20726400" progId="Equation.DSMT4">
                  <p:embed/>
                </p:oleObj>
              </mc:Choice>
              <mc:Fallback>
                <p:oleObj name="Equation" r:id="rId7" imgW="37185600" imgH="20726400" progId="Equation.DSMT4">
                  <p:embed/>
                  <p:pic>
                    <p:nvPicPr>
                      <p:cNvPr id="0" name="图片 62602"/>
                      <p:cNvPicPr>
                        <a:picLocks noChangeAspect="1" noChangeArrowheads="1"/>
                      </p:cNvPicPr>
                      <p:nvPr/>
                    </p:nvPicPr>
                    <p:blipFill>
                      <a:blip r:embed="rId8"/>
                      <a:srcRect/>
                      <a:stretch>
                        <a:fillRect/>
                      </a:stretch>
                    </p:blipFill>
                    <p:spPr bwMode="auto">
                      <a:xfrm>
                        <a:off x="6128997" y="4516561"/>
                        <a:ext cx="2619375" cy="1458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表格 1"/>
          <p:cNvGraphicFramePr>
            <a:graphicFrameLocks noGrp="1"/>
          </p:cNvGraphicFramePr>
          <p:nvPr/>
        </p:nvGraphicFramePr>
        <p:xfrm>
          <a:off x="92297" y="1385107"/>
          <a:ext cx="8916534" cy="5079303"/>
        </p:xfrm>
        <a:graphic>
          <a:graphicData uri="http://schemas.openxmlformats.org/drawingml/2006/table">
            <a:tbl>
              <a:tblPr firstRow="1" bandRow="1">
                <a:tableStyleId>{5940675A-B579-460E-94D1-54222C63F5DA}</a:tableStyleId>
              </a:tblPr>
              <a:tblGrid>
                <a:gridCol w="2907322"/>
                <a:gridCol w="2812788"/>
                <a:gridCol w="3196424"/>
              </a:tblGrid>
              <a:tr h="2526934">
                <a:tc>
                  <a:txBody>
                    <a:bodyPr/>
                    <a:lstStyle/>
                    <a:p>
                      <a:endParaRPr lang="zh-CN" altLang="en-US" dirty="0"/>
                    </a:p>
                  </a:txBody>
                  <a:tcPr>
                    <a:lnL w="28575"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28575"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28575"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accent2">
                          <a:lumMod val="75000"/>
                        </a:schemeClr>
                      </a:solidFill>
                      <a:prstDash val="solid"/>
                      <a:round/>
                      <a:headEnd type="none" w="med" len="med"/>
                      <a:tailEnd type="none" w="med" len="med"/>
                    </a:lnL>
                    <a:lnR w="28575" cap="flat" cmpd="sng" algn="ctr">
                      <a:solidFill>
                        <a:schemeClr val="accent2">
                          <a:lumMod val="75000"/>
                        </a:schemeClr>
                      </a:solidFill>
                      <a:prstDash val="solid"/>
                      <a:round/>
                      <a:headEnd type="none" w="med" len="med"/>
                      <a:tailEnd type="none" w="med" len="med"/>
                    </a:lnR>
                    <a:lnT w="28575"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r>
              <a:tr h="461176">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kern="1200" dirty="0" smtClean="0">
                          <a:solidFill>
                            <a:srgbClr val="0000FF"/>
                          </a:solidFill>
                          <a:latin typeface="+mn-lt"/>
                          <a:ea typeface="黑体" panose="02010609060101010101" pitchFamily="49" charset="-122"/>
                          <a:cs typeface="+mn-cs"/>
                        </a:rPr>
                        <a:t>无杆腔进油：力大速度慢</a:t>
                      </a:r>
                      <a:endParaRPr kumimoji="0" lang="zh-CN" altLang="en-US" sz="1800" b="0" kern="1200" dirty="0">
                        <a:solidFill>
                          <a:srgbClr val="0000FF"/>
                        </a:solidFill>
                        <a:latin typeface="+mn-lt"/>
                        <a:ea typeface="黑体" panose="02010609060101010101" pitchFamily="49" charset="-122"/>
                        <a:cs typeface="+mn-cs"/>
                      </a:endParaRPr>
                    </a:p>
                  </a:txBody>
                  <a:tcPr>
                    <a:lnL w="28575"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kern="1200" dirty="0" smtClean="0">
                          <a:solidFill>
                            <a:srgbClr val="0000FF"/>
                          </a:solidFill>
                          <a:latin typeface="+mn-lt"/>
                          <a:ea typeface="黑体" panose="02010609060101010101" pitchFamily="49" charset="-122"/>
                          <a:cs typeface="+mn-cs"/>
                        </a:rPr>
                        <a:t>有杆腔进油：力小速度快</a:t>
                      </a:r>
                      <a:endParaRPr kumimoji="0" lang="zh-CN" altLang="en-US" sz="1800" b="0" kern="1200" dirty="0">
                        <a:solidFill>
                          <a:srgbClr val="0000FF"/>
                        </a:solidFill>
                        <a:latin typeface="+mn-lt"/>
                        <a:ea typeface="黑体" panose="02010609060101010101" pitchFamily="49" charset="-122"/>
                        <a:cs typeface="+mn-cs"/>
                      </a:endParaRPr>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kern="1200" dirty="0" smtClean="0">
                          <a:solidFill>
                            <a:srgbClr val="0000FF"/>
                          </a:solidFill>
                          <a:latin typeface="+mn-lt"/>
                          <a:ea typeface="黑体" panose="02010609060101010101" pitchFamily="49" charset="-122"/>
                          <a:cs typeface="+mn-cs"/>
                        </a:rPr>
                        <a:t>差动连接：速度最快，推力小</a:t>
                      </a:r>
                      <a:endParaRPr kumimoji="0" lang="zh-CN" altLang="en-US" sz="1800" b="0" kern="1200" dirty="0">
                        <a:solidFill>
                          <a:srgbClr val="0000FF"/>
                        </a:solidFill>
                        <a:latin typeface="+mn-lt"/>
                        <a:ea typeface="黑体" panose="02010609060101010101" pitchFamily="49" charset="-122"/>
                        <a:cs typeface="+mn-cs"/>
                      </a:endParaRPr>
                    </a:p>
                  </a:txBody>
                  <a:tcPr>
                    <a:lnL w="12700" cap="flat" cmpd="sng" algn="ctr">
                      <a:solidFill>
                        <a:schemeClr val="accent2">
                          <a:lumMod val="75000"/>
                        </a:schemeClr>
                      </a:solidFill>
                      <a:prstDash val="solid"/>
                      <a:round/>
                      <a:headEnd type="none" w="med" len="med"/>
                      <a:tailEnd type="none" w="med" len="med"/>
                    </a:lnL>
                    <a:lnR w="28575"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r>
              <a:tr h="2091193">
                <a:tc>
                  <a:txBody>
                    <a:bodyPr/>
                    <a:lstStyle/>
                    <a:p>
                      <a:endParaRPr lang="zh-CN" altLang="en-US" dirty="0"/>
                    </a:p>
                  </a:txBody>
                  <a:tcPr>
                    <a:lnL w="28575"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2857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2857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ltLang="en-US" dirty="0"/>
                    </a:p>
                  </a:txBody>
                  <a:tcPr>
                    <a:lnL w="12700" cap="flat" cmpd="sng" algn="ctr">
                      <a:solidFill>
                        <a:schemeClr val="accent2">
                          <a:lumMod val="75000"/>
                        </a:schemeClr>
                      </a:solidFill>
                      <a:prstDash val="solid"/>
                      <a:round/>
                      <a:headEnd type="none" w="med" len="med"/>
                      <a:tailEnd type="none" w="med" len="med"/>
                    </a:lnL>
                    <a:lnR w="28575"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28575"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文本框 3"/>
          <p:cNvSpPr txBox="1"/>
          <p:nvPr/>
        </p:nvSpPr>
        <p:spPr>
          <a:xfrm>
            <a:off x="7226087" y="818321"/>
            <a:ext cx="1627369" cy="523220"/>
          </a:xfrm>
          <a:prstGeom prst="rect">
            <a:avLst/>
          </a:prstGeom>
          <a:noFill/>
        </p:spPr>
        <p:txBody>
          <a:bodyPr wrap="none" rtlCol="0">
            <a:spAutoFit/>
          </a:bodyPr>
          <a:lstStyle/>
          <a:p>
            <a:r>
              <a:rPr lang="zh-CN" altLang="en-US" sz="2800" b="1" i="1" dirty="0">
                <a:latin typeface="+mn-ea"/>
                <a:hlinkClick r:id="rId9" action="ppaction://hlinkfile"/>
              </a:rPr>
              <a:t>动画演示</a:t>
            </a:r>
            <a:endParaRPr lang="zh-CN" altLang="en-US" sz="2800" b="1" i="1" dirty="0">
              <a:latin typeface="+mn-ea"/>
            </a:endParaRPr>
          </a:p>
        </p:txBody>
      </p:sp>
      <p:sp>
        <p:nvSpPr>
          <p:cNvPr id="24" name="矩形 23"/>
          <p:cNvSpPr/>
          <p:nvPr/>
        </p:nvSpPr>
        <p:spPr>
          <a:xfrm>
            <a:off x="5759019" y="941431"/>
            <a:ext cx="1467068" cy="400110"/>
          </a:xfrm>
          <a:prstGeom prst="rect">
            <a:avLst/>
          </a:prstGeom>
        </p:spPr>
        <p:txBody>
          <a:bodyPr wrap="none">
            <a:spAutoFit/>
          </a:bodyPr>
          <a:lstStyle/>
          <a:p>
            <a:r>
              <a:rPr lang="zh-CN" altLang="en-US" sz="2000" dirty="0" smtClean="0">
                <a:solidFill>
                  <a:schemeClr val="accent2">
                    <a:lumMod val="75000"/>
                  </a:schemeClr>
                </a:solidFill>
                <a:ea typeface="黑体" panose="02010609060101010101" pitchFamily="49" charset="-122"/>
              </a:rPr>
              <a:t>不考虑效率</a:t>
            </a:r>
            <a:endParaRPr lang="zh-CN" altLang="en-US" sz="2000" dirty="0">
              <a:solidFill>
                <a:schemeClr val="accent2">
                  <a:lumMod val="75000"/>
                </a:schemeClr>
              </a:solidFill>
              <a:ea typeface="黑体" panose="02010609060101010101" pitchFamily="49" charset="-122"/>
            </a:endParaRPr>
          </a:p>
        </p:txBody>
      </p:sp>
      <p:sp>
        <p:nvSpPr>
          <p:cNvPr id="9" name="矩形 8"/>
          <p:cNvSpPr/>
          <p:nvPr/>
        </p:nvSpPr>
        <p:spPr>
          <a:xfrm>
            <a:off x="126647" y="3583513"/>
            <a:ext cx="1305165" cy="341632"/>
          </a:xfrm>
          <a:prstGeom prst="rect">
            <a:avLst/>
          </a:prstGeom>
        </p:spPr>
        <p:txBody>
          <a:bodyPr wrap="none">
            <a:spAutoFit/>
          </a:bodyPr>
          <a:lstStyle/>
          <a:p>
            <a:pPr>
              <a:lnSpc>
                <a:spcPct val="90000"/>
              </a:lnSpc>
              <a:spcBef>
                <a:spcPct val="20000"/>
              </a:spcBef>
              <a:buClr>
                <a:schemeClr val="folHlink"/>
              </a:buClr>
              <a:buSzPct val="60000"/>
              <a:buFont typeface="Wingdings" panose="05000000000000000000" pitchFamily="2" charset="2"/>
              <a:buNone/>
            </a:pPr>
            <a:r>
              <a:rPr lang="en-US" altLang="zh-CN" i="1" dirty="0">
                <a:latin typeface="Times New Roman" panose="02020603050405020304" pitchFamily="18" charset="0"/>
                <a:ea typeface="楷体_GB2312" pitchFamily="49" charset="-122"/>
                <a:cs typeface="Times New Roman" panose="02020603050405020304" pitchFamily="18" charset="0"/>
              </a:rPr>
              <a:t>p</a:t>
            </a:r>
            <a:r>
              <a:rPr lang="en-US" altLang="zh-CN" baseline="-25000" dirty="0">
                <a:latin typeface="Times New Roman" panose="02020603050405020304" pitchFamily="18" charset="0"/>
                <a:ea typeface="楷体_GB2312" pitchFamily="49" charset="-122"/>
                <a:cs typeface="Times New Roman" panose="02020603050405020304" pitchFamily="18" charset="0"/>
              </a:rPr>
              <a:t>1</a:t>
            </a:r>
            <a:r>
              <a:rPr lang="zh-CN" altLang="en-US" dirty="0" smtClean="0">
                <a:latin typeface="Times New Roman" panose="02020603050405020304" pitchFamily="18" charset="0"/>
                <a:ea typeface="楷体_GB2312" pitchFamily="49" charset="-122"/>
                <a:cs typeface="Times New Roman" panose="02020603050405020304" pitchFamily="18" charset="0"/>
              </a:rPr>
              <a:t>进</a:t>
            </a:r>
            <a:r>
              <a:rPr lang="zh-CN" altLang="en-US" dirty="0">
                <a:latin typeface="Times New Roman" panose="02020603050405020304" pitchFamily="18" charset="0"/>
                <a:ea typeface="楷体_GB2312" pitchFamily="49" charset="-122"/>
                <a:cs typeface="Times New Roman" panose="02020603050405020304" pitchFamily="18" charset="0"/>
              </a:rPr>
              <a:t>油压力</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0" name="矩形 9"/>
          <p:cNvSpPr/>
          <p:nvPr/>
        </p:nvSpPr>
        <p:spPr>
          <a:xfrm>
            <a:off x="1647208" y="3586810"/>
            <a:ext cx="1305165" cy="341632"/>
          </a:xfrm>
          <a:prstGeom prst="rect">
            <a:avLst/>
          </a:prstGeom>
        </p:spPr>
        <p:txBody>
          <a:bodyPr wrap="none">
            <a:spAutoFit/>
          </a:bodyPr>
          <a:lstStyle/>
          <a:p>
            <a:pPr>
              <a:lnSpc>
                <a:spcPct val="90000"/>
              </a:lnSpc>
              <a:spcBef>
                <a:spcPct val="20000"/>
              </a:spcBef>
              <a:buClr>
                <a:schemeClr val="folHlink"/>
              </a:buClr>
              <a:buSzPct val="60000"/>
              <a:buFont typeface="Wingdings" panose="05000000000000000000" pitchFamily="2" charset="2"/>
              <a:buNone/>
            </a:pPr>
            <a:r>
              <a:rPr lang="en-US" altLang="zh-CN" i="1" dirty="0">
                <a:latin typeface="Times New Roman" panose="02020603050405020304" pitchFamily="18" charset="0"/>
                <a:ea typeface="楷体_GB2312" pitchFamily="49" charset="-122"/>
                <a:cs typeface="Times New Roman" panose="02020603050405020304" pitchFamily="18" charset="0"/>
              </a:rPr>
              <a:t>p</a:t>
            </a:r>
            <a:r>
              <a:rPr lang="en-US" altLang="zh-CN" baseline="-25000" dirty="0">
                <a:latin typeface="Times New Roman" panose="02020603050405020304" pitchFamily="18" charset="0"/>
                <a:ea typeface="楷体_GB2312" pitchFamily="49" charset="-122"/>
                <a:cs typeface="Times New Roman" panose="02020603050405020304" pitchFamily="18" charset="0"/>
              </a:rPr>
              <a:t>2</a:t>
            </a:r>
            <a:r>
              <a:rPr lang="zh-CN" altLang="en-US" dirty="0" smtClean="0">
                <a:latin typeface="Times New Roman" panose="02020603050405020304" pitchFamily="18" charset="0"/>
                <a:ea typeface="楷体_GB2312" pitchFamily="49" charset="-122"/>
                <a:cs typeface="Times New Roman" panose="02020603050405020304" pitchFamily="18" charset="0"/>
              </a:rPr>
              <a:t>回</a:t>
            </a:r>
            <a:r>
              <a:rPr lang="zh-CN" altLang="en-US" dirty="0">
                <a:latin typeface="Times New Roman" panose="02020603050405020304" pitchFamily="18" charset="0"/>
                <a:ea typeface="楷体_GB2312" pitchFamily="49" charset="-122"/>
                <a:cs typeface="Times New Roman" panose="02020603050405020304" pitchFamily="18" charset="0"/>
              </a:rPr>
              <a:t>油压力</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62" name="Rectangle 2"/>
          <p:cNvSpPr>
            <a:spLocks noGrp="1" noChangeArrowheads="1"/>
          </p:cNvSpPr>
          <p:nvPr>
            <p:ph type="title"/>
          </p:nvPr>
        </p:nvSpPr>
        <p:spPr>
          <a:xfrm>
            <a:off x="597264" y="400059"/>
            <a:ext cx="7339012" cy="720090"/>
          </a:xfrm>
        </p:spPr>
        <p:txBody>
          <a:bodyPr/>
          <a:lstStyle/>
          <a:p>
            <a:r>
              <a:rPr lang="zh-CN" altLang="en-US" sz="20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液压控制阀的</a:t>
            </a:r>
            <a:r>
              <a:rPr lang="zh-CN" altLang="en-US" sz="2000"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分类</a:t>
            </a:r>
            <a:br>
              <a:rPr lang="en-US" altLang="zh-CN"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br>
            <a:r>
              <a:rPr lang="en-US" altLang="zh-CN" sz="3200" dirty="0" smtClean="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Classification of Control Valves</a:t>
            </a:r>
            <a:endParaRPr lang="en-US" altLang="zh-CN" sz="3200" dirty="0" smtClean="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1167363" name="Rectangle 3"/>
          <p:cNvSpPr>
            <a:spLocks noGrp="1" noChangeArrowheads="1"/>
          </p:cNvSpPr>
          <p:nvPr>
            <p:ph type="body" idx="1"/>
          </p:nvPr>
        </p:nvSpPr>
        <p:spPr>
          <a:xfrm>
            <a:off x="616240" y="1371708"/>
            <a:ext cx="7943570" cy="4952870"/>
          </a:xfrm>
        </p:spPr>
        <p:txBody>
          <a:bodyPr>
            <a:normAutofit fontScale="92500" lnSpcReduction="10000"/>
          </a:bodyPr>
          <a:lstStyle/>
          <a:p>
            <a:pPr>
              <a:lnSpc>
                <a:spcPct val="130000"/>
              </a:lnSpc>
              <a:spcBef>
                <a:spcPts val="0"/>
              </a:spcBef>
              <a:buSzPct val="50000"/>
              <a:buFont typeface="Wingdings" panose="05000000000000000000" pitchFamily="2" charset="2"/>
              <a:buChar char="n"/>
            </a:pPr>
            <a:r>
              <a:rPr lang="zh-CN" altLang="en-US" sz="2800" dirty="0">
                <a:solidFill>
                  <a:srgbClr val="C00000"/>
                </a:solidFill>
                <a:latin typeface="黑体" panose="02010609060101010101" pitchFamily="49" charset="-122"/>
                <a:ea typeface="黑体" panose="02010609060101010101" pitchFamily="49" charset="-122"/>
              </a:rPr>
              <a:t>按功能</a:t>
            </a:r>
            <a:endParaRPr lang="zh-CN" altLang="en-US" sz="2800" dirty="0">
              <a:solidFill>
                <a:srgbClr val="C00000"/>
              </a:solidFill>
              <a:latin typeface="黑体" panose="02010609060101010101" pitchFamily="49" charset="-122"/>
              <a:ea typeface="黑体" panose="02010609060101010101" pitchFamily="49" charset="-122"/>
            </a:endParaRPr>
          </a:p>
          <a:p>
            <a:pPr lvl="1">
              <a:lnSpc>
                <a:spcPct val="130000"/>
              </a:lnSpc>
              <a:spcBef>
                <a:spcPts val="0"/>
              </a:spcBef>
              <a:buSzPct val="70000"/>
              <a:buFont typeface="Wingdings" panose="05000000000000000000" pitchFamily="2" charset="2"/>
              <a:buChar char="n"/>
            </a:pPr>
            <a:r>
              <a:rPr lang="zh-CN" altLang="en-US" sz="2200" b="1" dirty="0"/>
              <a:t>方向控制阀 </a:t>
            </a:r>
            <a:r>
              <a:rPr lang="en-US" altLang="zh-CN" sz="2400" dirty="0"/>
              <a:t>Directional </a:t>
            </a:r>
            <a:r>
              <a:rPr lang="en-US" altLang="zh-CN" sz="2400" dirty="0" smtClean="0"/>
              <a:t>control valves</a:t>
            </a:r>
            <a:r>
              <a:rPr lang="zh-CN" altLang="en-US" sz="2200" b="1" dirty="0" smtClean="0"/>
              <a:t>（</a:t>
            </a:r>
            <a:r>
              <a:rPr lang="zh-CN" altLang="en-US" sz="2200" b="1" dirty="0"/>
              <a:t>控制液压油流向</a:t>
            </a:r>
            <a:r>
              <a:rPr lang="zh-CN" altLang="en-US" sz="2200" b="1" dirty="0" smtClean="0"/>
              <a:t>）</a:t>
            </a:r>
            <a:endParaRPr lang="en-US" altLang="zh-CN" sz="2200" b="1" dirty="0" smtClean="0"/>
          </a:p>
          <a:p>
            <a:pPr lvl="1">
              <a:lnSpc>
                <a:spcPct val="130000"/>
              </a:lnSpc>
              <a:spcBef>
                <a:spcPts val="0"/>
              </a:spcBef>
              <a:buSzPct val="70000"/>
              <a:buFont typeface="Wingdings" panose="05000000000000000000" pitchFamily="2" charset="2"/>
              <a:buChar char="n"/>
            </a:pPr>
            <a:r>
              <a:rPr lang="zh-CN" altLang="en-US" sz="2200" b="1" dirty="0" smtClean="0"/>
              <a:t>压力控制阀 </a:t>
            </a:r>
            <a:r>
              <a:rPr lang="en-US" altLang="zh-CN" sz="2400" dirty="0"/>
              <a:t>Pressure </a:t>
            </a:r>
            <a:r>
              <a:rPr lang="en-US" altLang="zh-CN" sz="2400" dirty="0" smtClean="0"/>
              <a:t>control valves</a:t>
            </a:r>
            <a:r>
              <a:rPr lang="zh-CN" altLang="en-US" sz="2200" b="1" dirty="0"/>
              <a:t>（控制执行机构的输出力</a:t>
            </a:r>
            <a:r>
              <a:rPr lang="zh-CN" altLang="en-US" sz="2200" b="1" dirty="0" smtClean="0"/>
              <a:t>）</a:t>
            </a:r>
            <a:endParaRPr lang="en-US" altLang="zh-CN" sz="2200" b="1" dirty="0" smtClean="0"/>
          </a:p>
          <a:p>
            <a:pPr lvl="1">
              <a:lnSpc>
                <a:spcPct val="130000"/>
              </a:lnSpc>
              <a:spcBef>
                <a:spcPts val="0"/>
              </a:spcBef>
              <a:buSzPct val="70000"/>
              <a:buFont typeface="Wingdings" panose="05000000000000000000" pitchFamily="2" charset="2"/>
              <a:buChar char="n"/>
            </a:pPr>
            <a:r>
              <a:rPr lang="zh-CN" altLang="en-US" sz="2200" b="1" dirty="0" smtClean="0"/>
              <a:t>流量控制阀 </a:t>
            </a:r>
            <a:r>
              <a:rPr lang="en-US" altLang="zh-CN" sz="2400" dirty="0"/>
              <a:t>Flow </a:t>
            </a:r>
            <a:r>
              <a:rPr lang="en-US" altLang="zh-CN" sz="2400" dirty="0" smtClean="0"/>
              <a:t>control valves</a:t>
            </a:r>
            <a:r>
              <a:rPr lang="zh-CN" altLang="en-US" sz="2200" b="1" dirty="0" smtClean="0"/>
              <a:t>（</a:t>
            </a:r>
            <a:r>
              <a:rPr lang="zh-CN" altLang="en-US" sz="2200" b="1" dirty="0"/>
              <a:t>控制执行机构的速度）</a:t>
            </a:r>
            <a:endParaRPr lang="en-US" altLang="zh-CN" sz="2200" b="1" dirty="0"/>
          </a:p>
          <a:p>
            <a:pPr>
              <a:lnSpc>
                <a:spcPct val="130000"/>
              </a:lnSpc>
              <a:spcBef>
                <a:spcPts val="0"/>
              </a:spcBef>
              <a:buSzPct val="50000"/>
              <a:buFont typeface="Wingdings" panose="05000000000000000000" pitchFamily="2" charset="2"/>
              <a:buChar char="n"/>
            </a:pPr>
            <a:r>
              <a:rPr lang="zh-CN" altLang="en-US" sz="2800" dirty="0">
                <a:solidFill>
                  <a:srgbClr val="C00000"/>
                </a:solidFill>
                <a:latin typeface="黑体" panose="02010609060101010101" pitchFamily="49" charset="-122"/>
                <a:ea typeface="黑体" panose="02010609060101010101" pitchFamily="49" charset="-122"/>
              </a:rPr>
              <a:t>按结构形式</a:t>
            </a:r>
            <a:endParaRPr lang="en-US" altLang="zh-CN" sz="2800" dirty="0">
              <a:solidFill>
                <a:srgbClr val="C00000"/>
              </a:solidFill>
              <a:latin typeface="黑体" panose="02010609060101010101" pitchFamily="49" charset="-122"/>
              <a:ea typeface="黑体" panose="02010609060101010101" pitchFamily="49" charset="-122"/>
            </a:endParaRPr>
          </a:p>
          <a:p>
            <a:pPr lvl="1">
              <a:lnSpc>
                <a:spcPct val="130000"/>
              </a:lnSpc>
              <a:spcBef>
                <a:spcPts val="0"/>
              </a:spcBef>
              <a:buSzPct val="70000"/>
              <a:buFont typeface="Wingdings" panose="05000000000000000000" pitchFamily="2" charset="2"/>
              <a:buChar char="n"/>
            </a:pPr>
            <a:r>
              <a:rPr lang="zh-CN" altLang="en-US" sz="2200" b="1" dirty="0"/>
              <a:t>管</a:t>
            </a:r>
            <a:r>
              <a:rPr lang="zh-CN" altLang="en-US" sz="2200" b="1" dirty="0" smtClean="0"/>
              <a:t>式连接、板式</a:t>
            </a:r>
            <a:r>
              <a:rPr lang="zh-CN" altLang="en-US" sz="2200" b="1" dirty="0"/>
              <a:t>连接</a:t>
            </a:r>
            <a:r>
              <a:rPr lang="zh-CN" altLang="en-US" sz="2200" b="1" dirty="0" smtClean="0"/>
              <a:t>、叠加式</a:t>
            </a:r>
            <a:r>
              <a:rPr lang="zh-CN" altLang="en-US" sz="2200" b="1" dirty="0"/>
              <a:t>连接</a:t>
            </a:r>
            <a:r>
              <a:rPr lang="zh-CN" altLang="en-US" sz="2200" b="1" dirty="0" smtClean="0"/>
              <a:t>、插装式、多</a:t>
            </a:r>
            <a:r>
              <a:rPr lang="zh-CN" altLang="en-US" sz="2200" b="1" dirty="0"/>
              <a:t>路阀</a:t>
            </a:r>
            <a:endParaRPr lang="en-US" altLang="zh-CN" sz="2200" b="1" dirty="0"/>
          </a:p>
          <a:p>
            <a:pPr>
              <a:lnSpc>
                <a:spcPct val="130000"/>
              </a:lnSpc>
              <a:spcBef>
                <a:spcPts val="0"/>
              </a:spcBef>
              <a:buSzPct val="50000"/>
              <a:buFont typeface="Wingdings" panose="05000000000000000000" pitchFamily="2" charset="2"/>
              <a:buChar char="n"/>
            </a:pPr>
            <a:r>
              <a:rPr lang="zh-CN" altLang="en-US" sz="2800" dirty="0">
                <a:solidFill>
                  <a:srgbClr val="C00000"/>
                </a:solidFill>
                <a:latin typeface="黑体" panose="02010609060101010101" pitchFamily="49" charset="-122"/>
                <a:ea typeface="黑体" panose="02010609060101010101" pitchFamily="49" charset="-122"/>
              </a:rPr>
              <a:t>按阀芯</a:t>
            </a:r>
            <a:endParaRPr lang="en-US" altLang="zh-CN" sz="2800" dirty="0">
              <a:solidFill>
                <a:srgbClr val="C00000"/>
              </a:solidFill>
              <a:latin typeface="黑体" panose="02010609060101010101" pitchFamily="49" charset="-122"/>
              <a:ea typeface="黑体" panose="02010609060101010101" pitchFamily="49" charset="-122"/>
            </a:endParaRPr>
          </a:p>
          <a:p>
            <a:pPr lvl="1">
              <a:lnSpc>
                <a:spcPct val="130000"/>
              </a:lnSpc>
              <a:spcBef>
                <a:spcPts val="0"/>
              </a:spcBef>
              <a:buSzPct val="70000"/>
              <a:buFont typeface="Wingdings" panose="05000000000000000000" pitchFamily="2" charset="2"/>
              <a:buChar char="n"/>
            </a:pPr>
            <a:r>
              <a:rPr lang="zh-CN" altLang="en-US" sz="2200" b="1" dirty="0" smtClean="0"/>
              <a:t>球阀</a:t>
            </a:r>
            <a:r>
              <a:rPr lang="en-US" altLang="zh-CN" sz="2400" dirty="0"/>
              <a:t>ball valve</a:t>
            </a:r>
            <a:r>
              <a:rPr lang="zh-CN" altLang="en-US" sz="2200" b="1" dirty="0" smtClean="0"/>
              <a:t>、</a:t>
            </a:r>
            <a:r>
              <a:rPr lang="zh-CN" altLang="en-US" sz="2200" b="1" dirty="0"/>
              <a:t>针</a:t>
            </a:r>
            <a:r>
              <a:rPr lang="zh-CN" altLang="en-US" sz="2200" b="1" dirty="0" smtClean="0"/>
              <a:t>阀</a:t>
            </a:r>
            <a:r>
              <a:rPr lang="en-US" altLang="zh-CN" sz="2400" dirty="0"/>
              <a:t>needle </a:t>
            </a:r>
            <a:r>
              <a:rPr lang="en-US" altLang="zh-CN" sz="2400" dirty="0" smtClean="0"/>
              <a:t>valve</a:t>
            </a:r>
            <a:r>
              <a:rPr lang="zh-CN" altLang="en-US" sz="2200" b="1" dirty="0" smtClean="0"/>
              <a:t>、</a:t>
            </a:r>
            <a:r>
              <a:rPr lang="zh-CN" altLang="en-US" sz="2200" b="1" dirty="0"/>
              <a:t>锥</a:t>
            </a:r>
            <a:r>
              <a:rPr lang="zh-CN" altLang="en-US" sz="2200" b="1" dirty="0" smtClean="0"/>
              <a:t>阀</a:t>
            </a:r>
            <a:r>
              <a:rPr lang="en-US" altLang="zh-CN" sz="2400" dirty="0"/>
              <a:t>poppet </a:t>
            </a:r>
            <a:r>
              <a:rPr lang="en-US" altLang="zh-CN" sz="2400" dirty="0" smtClean="0"/>
              <a:t>valve</a:t>
            </a:r>
            <a:r>
              <a:rPr lang="zh-CN" altLang="en-US" sz="2200" b="1" dirty="0" smtClean="0"/>
              <a:t>、滑阀</a:t>
            </a:r>
            <a:r>
              <a:rPr lang="en-US" altLang="zh-CN" sz="2400" dirty="0" smtClean="0"/>
              <a:t>spool </a:t>
            </a:r>
            <a:r>
              <a:rPr lang="en-US" altLang="zh-CN" sz="2400" dirty="0"/>
              <a:t>valve</a:t>
            </a:r>
            <a:endParaRPr lang="en-US" altLang="zh-CN" sz="2200" b="1" dirty="0"/>
          </a:p>
          <a:p>
            <a:pPr>
              <a:lnSpc>
                <a:spcPct val="130000"/>
              </a:lnSpc>
              <a:spcBef>
                <a:spcPts val="0"/>
              </a:spcBef>
              <a:buSzPct val="50000"/>
              <a:buFont typeface="Wingdings" panose="05000000000000000000" pitchFamily="2" charset="2"/>
              <a:buChar char="n"/>
            </a:pPr>
            <a:r>
              <a:rPr lang="zh-CN" altLang="en-US" sz="2800" dirty="0">
                <a:solidFill>
                  <a:srgbClr val="C00000"/>
                </a:solidFill>
                <a:latin typeface="黑体" panose="02010609060101010101" pitchFamily="49" charset="-122"/>
                <a:ea typeface="黑体" panose="02010609060101010101" pitchFamily="49" charset="-122"/>
              </a:rPr>
              <a:t>按控制方式</a:t>
            </a:r>
            <a:endParaRPr lang="en-US" altLang="zh-CN" sz="2800" dirty="0">
              <a:solidFill>
                <a:srgbClr val="C00000"/>
              </a:solidFill>
              <a:latin typeface="黑体" panose="02010609060101010101" pitchFamily="49" charset="-122"/>
              <a:ea typeface="黑体" panose="02010609060101010101" pitchFamily="49" charset="-122"/>
            </a:endParaRPr>
          </a:p>
          <a:p>
            <a:pPr lvl="1">
              <a:lnSpc>
                <a:spcPct val="130000"/>
              </a:lnSpc>
              <a:spcBef>
                <a:spcPts val="0"/>
              </a:spcBef>
              <a:buSzPct val="70000"/>
              <a:buFont typeface="Wingdings" panose="05000000000000000000" pitchFamily="2" charset="2"/>
              <a:buChar char="n"/>
            </a:pPr>
            <a:r>
              <a:rPr lang="zh-CN" altLang="en-US" sz="2400" b="1" dirty="0" smtClean="0"/>
              <a:t>手动、液动、气动、电磁、电液</a:t>
            </a:r>
            <a:endParaRPr lang="zh-CN" altLang="en-US" sz="2400" b="1" dirty="0"/>
          </a:p>
          <a:p>
            <a:pPr lvl="1">
              <a:lnSpc>
                <a:spcPct val="130000"/>
              </a:lnSpc>
              <a:spcBef>
                <a:spcPts val="0"/>
              </a:spcBef>
            </a:pPr>
            <a:endParaRPr lang="en-US" altLang="zh-CN" dirty="0">
              <a:solidFill>
                <a:schemeClr val="accent1"/>
              </a:solidFill>
              <a:latin typeface="华文中宋" pitchFamily="2" charset="-122"/>
            </a:endParaRPr>
          </a:p>
        </p:txBody>
      </p:sp>
      <p:pic>
        <p:nvPicPr>
          <p:cNvPr id="2" name="图片 1"/>
          <p:cNvPicPr>
            <a:picLocks noChangeAspect="1"/>
          </p:cNvPicPr>
          <p:nvPr/>
        </p:nvPicPr>
        <p:blipFill rotWithShape="1">
          <a:blip r:embed="rId1" cstate="print">
            <a:extLst>
              <a:ext uri="{BEBA8EAE-BF5A-486C-A8C5-ECC9F3942E4B}">
                <a14:imgProps xmlns:a14="http://schemas.microsoft.com/office/drawing/2010/main">
                  <a14:imgLayer r:embed="rId2">
                    <a14:imgEffect>
                      <a14:backgroundRemoval t="10000" b="90000" l="10000" r="90000"/>
                    </a14:imgEffect>
                  </a14:imgLayer>
                </a14:imgProps>
              </a:ext>
              <a:ext uri="{28A0092B-C50C-407E-A947-70E740481C1C}">
                <a14:useLocalDpi xmlns:a14="http://schemas.microsoft.com/office/drawing/2010/main" val="0"/>
              </a:ext>
            </a:extLst>
          </a:blip>
          <a:srcRect l="6260" t="19796" r="8247" b="20360"/>
          <a:stretch>
            <a:fillRect/>
          </a:stretch>
        </p:blipFill>
        <p:spPr>
          <a:xfrm>
            <a:off x="6019762" y="4952970"/>
            <a:ext cx="2211751" cy="1238251"/>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p:cNvSpPr>
            <a:spLocks noGrp="1" noChangeArrowheads="1"/>
          </p:cNvSpPr>
          <p:nvPr>
            <p:ph type="title"/>
          </p:nvPr>
        </p:nvSpPr>
        <p:spPr>
          <a:xfrm>
            <a:off x="762100" y="533476"/>
            <a:ext cx="3276514" cy="692248"/>
          </a:xfrm>
        </p:spPr>
        <p:txBody>
          <a:bodyPr>
            <a:normAutofit/>
          </a:bodyPr>
          <a:lstStyle/>
          <a:p>
            <a:r>
              <a:rPr lang="zh-CN" altLang="en-US" sz="2220" cap="all" dirty="0">
                <a:solidFill>
                  <a:srgbClr val="C00000"/>
                </a:solidFill>
                <a:latin typeface="黑体" panose="02010609060101010101" pitchFamily="49" charset="-122"/>
                <a:ea typeface="黑体" panose="02010609060101010101" pitchFamily="49" charset="-122"/>
              </a:rPr>
              <a:t>换向阀符号描述</a:t>
            </a:r>
            <a:br>
              <a:rPr lang="en-US" altLang="zh-CN" sz="2900" dirty="0">
                <a:solidFill>
                  <a:srgbClr val="000000"/>
                </a:solidFill>
                <a:ea typeface="黑体" panose="02010609060101010101" pitchFamily="49" charset="-122"/>
              </a:rPr>
            </a:br>
            <a:r>
              <a:rPr lang="en-US" altLang="zh-CN" sz="2700" kern="1200" dirty="0">
                <a:solidFill>
                  <a:srgbClr val="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Valve </a:t>
            </a:r>
            <a:r>
              <a:rPr lang="en-US" altLang="zh-CN" sz="2700" kern="1200" dirty="0" smtClean="0">
                <a:solidFill>
                  <a:srgbClr val="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Description</a:t>
            </a:r>
            <a:endParaRPr lang="zh-CN" altLang="en-US" sz="2700" dirty="0">
              <a:ea typeface="黑体" panose="02010609060101010101" pitchFamily="49" charset="-122"/>
            </a:endParaRPr>
          </a:p>
        </p:txBody>
      </p:sp>
      <p:sp>
        <p:nvSpPr>
          <p:cNvPr id="355331" name="Rectangle 3"/>
          <p:cNvSpPr>
            <a:spLocks noGrp="1" noChangeArrowheads="1"/>
          </p:cNvSpPr>
          <p:nvPr>
            <p:ph type="body" idx="1"/>
          </p:nvPr>
        </p:nvSpPr>
        <p:spPr>
          <a:xfrm>
            <a:off x="533506" y="1905040"/>
            <a:ext cx="8381780" cy="4571880"/>
          </a:xfrm>
        </p:spPr>
        <p:txBody>
          <a:bodyPr>
            <a:normAutofit fontScale="92500" lnSpcReduction="10000"/>
          </a:bodyPr>
          <a:lstStyle/>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楷体_GB2312" pitchFamily="49" charset="-122"/>
                <a:ea typeface="楷体_GB2312" pitchFamily="49" charset="-122"/>
              </a:rPr>
              <a:t>方框</a:t>
            </a:r>
            <a:r>
              <a:rPr kumimoji="1" lang="zh-CN" altLang="en-US" sz="2000" b="1" dirty="0">
                <a:latin typeface="楷体_GB2312" pitchFamily="49" charset="-122"/>
                <a:ea typeface="楷体_GB2312" pitchFamily="49" charset="-122"/>
              </a:rPr>
              <a:t>表示阀的工作位置，几个方框就表示几</a:t>
            </a:r>
            <a:r>
              <a:rPr kumimoji="1" lang="zh-CN" altLang="en-US" sz="2000" b="1" dirty="0">
                <a:latin typeface="Times New Roman" panose="02020603050405020304" pitchFamily="18" charset="0"/>
                <a:ea typeface="楷体_GB2312" pitchFamily="49" charset="-122"/>
              </a:rPr>
              <a:t>“</a:t>
            </a:r>
            <a:r>
              <a:rPr kumimoji="1" lang="zh-CN" altLang="en-US" sz="2000" b="1" dirty="0">
                <a:solidFill>
                  <a:srgbClr val="C00000"/>
                </a:solidFill>
                <a:latin typeface="楷体_GB2312" pitchFamily="49" charset="-122"/>
                <a:ea typeface="楷体_GB2312" pitchFamily="49" charset="-122"/>
              </a:rPr>
              <a:t>位</a:t>
            </a:r>
            <a:r>
              <a:rPr kumimoji="1" lang="zh-CN" altLang="en-US" sz="2000" b="1" dirty="0">
                <a:latin typeface="Times New Roman" panose="02020603050405020304" pitchFamily="18" charset="0"/>
                <a:ea typeface="楷体_GB2312" pitchFamily="49" charset="-122"/>
              </a:rPr>
              <a:t>”</a:t>
            </a:r>
            <a:r>
              <a:rPr kumimoji="1" lang="zh-CN" altLang="en-US" sz="2000" b="1" dirty="0">
                <a:latin typeface="楷体_GB2312" pitchFamily="49" charset="-122"/>
                <a:ea typeface="楷体_GB2312" pitchFamily="49" charset="-122"/>
              </a:rPr>
              <a:t>。</a:t>
            </a:r>
            <a:endParaRPr kumimoji="1" lang="zh-CN" altLang="en-US" sz="2000" b="1" dirty="0">
              <a:latin typeface="楷体_GB2312" pitchFamily="49" charset="-122"/>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楷体_GB2312" pitchFamily="49" charset="-122"/>
                <a:ea typeface="楷体_GB2312" pitchFamily="49" charset="-122"/>
              </a:rPr>
              <a:t>方框</a:t>
            </a:r>
            <a:r>
              <a:rPr kumimoji="1" lang="zh-CN" altLang="en-US" sz="2000" b="1" dirty="0">
                <a:latin typeface="楷体_GB2312" pitchFamily="49" charset="-122"/>
                <a:ea typeface="楷体_GB2312" pitchFamily="49" charset="-122"/>
              </a:rPr>
              <a:t>内的</a:t>
            </a:r>
            <a:r>
              <a:rPr kumimoji="1" lang="zh-CN" altLang="en-US" sz="2000" b="1" dirty="0">
                <a:solidFill>
                  <a:srgbClr val="C00000"/>
                </a:solidFill>
                <a:latin typeface="楷体_GB2312" pitchFamily="49" charset="-122"/>
                <a:ea typeface="楷体_GB2312" pitchFamily="49" charset="-122"/>
              </a:rPr>
              <a:t>箭头</a:t>
            </a:r>
            <a:r>
              <a:rPr kumimoji="1" lang="zh-CN" altLang="en-US" sz="2000" b="1" dirty="0">
                <a:latin typeface="楷体_GB2312" pitchFamily="49" charset="-122"/>
                <a:ea typeface="楷体_GB2312" pitchFamily="49" charset="-122"/>
              </a:rPr>
              <a:t>表示在这一位置上油路处于</a:t>
            </a:r>
            <a:r>
              <a:rPr kumimoji="1" lang="zh-CN" altLang="en-US" sz="2000" b="1" dirty="0">
                <a:solidFill>
                  <a:srgbClr val="C00000"/>
                </a:solidFill>
                <a:latin typeface="楷体_GB2312" pitchFamily="49" charset="-122"/>
                <a:ea typeface="楷体_GB2312" pitchFamily="49" charset="-122"/>
              </a:rPr>
              <a:t>接通状态</a:t>
            </a:r>
            <a:r>
              <a:rPr kumimoji="1" lang="zh-CN" altLang="en-US" sz="2000" b="1" dirty="0">
                <a:latin typeface="楷体_GB2312" pitchFamily="49" charset="-122"/>
                <a:ea typeface="楷体_GB2312" pitchFamily="49" charset="-122"/>
              </a:rPr>
              <a:t>，但并不一定表示油流的实际流向；</a:t>
            </a:r>
            <a:endParaRPr kumimoji="1" lang="zh-CN" altLang="en-US" sz="2000" b="1" dirty="0">
              <a:latin typeface="楷体_GB2312" pitchFamily="49" charset="-122"/>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楷体_GB2312" pitchFamily="49" charset="-122"/>
                <a:ea typeface="楷体_GB2312" pitchFamily="49" charset="-122"/>
              </a:rPr>
              <a:t>方框</a:t>
            </a:r>
            <a:r>
              <a:rPr kumimoji="1" lang="zh-CN" altLang="en-US" sz="2000" b="1" dirty="0">
                <a:latin typeface="楷体_GB2312" pitchFamily="49" charset="-122"/>
                <a:ea typeface="楷体_GB2312" pitchFamily="49" charset="-122"/>
              </a:rPr>
              <a:t>内符号</a:t>
            </a:r>
            <a:r>
              <a:rPr kumimoji="1" lang="zh-CN" altLang="en-US" sz="2000" b="1" dirty="0">
                <a:solidFill>
                  <a:srgbClr val="C00000"/>
                </a:solidFill>
                <a:latin typeface="楷体_GB2312" pitchFamily="49" charset="-122"/>
                <a:ea typeface="楷体_GB2312" pitchFamily="49" charset="-122"/>
              </a:rPr>
              <a:t>┴</a:t>
            </a:r>
            <a:r>
              <a:rPr kumimoji="1" lang="zh-CN" altLang="en-US" sz="2000" b="1" dirty="0">
                <a:latin typeface="楷体_GB2312" pitchFamily="49" charset="-122"/>
                <a:ea typeface="楷体_GB2312" pitchFamily="49" charset="-122"/>
              </a:rPr>
              <a:t>或</a:t>
            </a:r>
            <a:r>
              <a:rPr kumimoji="1" lang="zh-CN" altLang="en-US" sz="2000" b="1" dirty="0">
                <a:solidFill>
                  <a:srgbClr val="C00000"/>
                </a:solidFill>
                <a:latin typeface="楷体_GB2312" pitchFamily="49" charset="-122"/>
                <a:ea typeface="楷体_GB2312" pitchFamily="49" charset="-122"/>
              </a:rPr>
              <a:t>┬</a:t>
            </a:r>
            <a:r>
              <a:rPr kumimoji="1" lang="zh-CN" altLang="en-US" sz="2000" b="1" dirty="0">
                <a:latin typeface="楷体_GB2312" pitchFamily="49" charset="-122"/>
                <a:ea typeface="楷体_GB2312" pitchFamily="49" charset="-122"/>
              </a:rPr>
              <a:t>表示此油路被阀芯封闭</a:t>
            </a:r>
            <a:r>
              <a:rPr kumimoji="1" lang="en-US" altLang="zh-CN" sz="2000" b="1" dirty="0">
                <a:latin typeface="楷体_GB2312" pitchFamily="49" charset="-122"/>
                <a:ea typeface="楷体_GB2312" pitchFamily="49" charset="-122"/>
              </a:rPr>
              <a:t>;</a:t>
            </a:r>
            <a:endParaRPr kumimoji="1" lang="en-US" altLang="zh-CN" sz="2000" b="1" dirty="0">
              <a:latin typeface="楷体_GB2312" pitchFamily="49" charset="-122"/>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楷体_GB2312" pitchFamily="49" charset="-122"/>
                <a:ea typeface="楷体_GB2312" pitchFamily="49" charset="-122"/>
              </a:rPr>
              <a:t>一</a:t>
            </a:r>
            <a:r>
              <a:rPr kumimoji="1" lang="zh-CN" altLang="en-US" sz="2000" b="1" dirty="0">
                <a:latin typeface="楷体_GB2312" pitchFamily="49" charset="-122"/>
                <a:ea typeface="楷体_GB2312" pitchFamily="49" charset="-122"/>
              </a:rPr>
              <a:t>个方框上边和下边与外部连接的接口数表示几</a:t>
            </a:r>
            <a:r>
              <a:rPr kumimoji="1" lang="zh-CN" altLang="en-US" sz="2000" b="1" dirty="0">
                <a:latin typeface="Times New Roman" panose="02020603050405020304" pitchFamily="18" charset="0"/>
                <a:ea typeface="楷体_GB2312" pitchFamily="49" charset="-122"/>
              </a:rPr>
              <a:t>“</a:t>
            </a:r>
            <a:r>
              <a:rPr kumimoji="1" lang="zh-CN" altLang="en-US" sz="2000" b="1" dirty="0">
                <a:solidFill>
                  <a:srgbClr val="C00000"/>
                </a:solidFill>
                <a:latin typeface="楷体_GB2312" pitchFamily="49" charset="-122"/>
                <a:ea typeface="楷体_GB2312" pitchFamily="49" charset="-122"/>
              </a:rPr>
              <a:t>通</a:t>
            </a:r>
            <a:r>
              <a:rPr kumimoji="1" lang="zh-CN" altLang="en-US" sz="2000" b="1" dirty="0">
                <a:latin typeface="Times New Roman" panose="02020603050405020304" pitchFamily="18" charset="0"/>
                <a:ea typeface="楷体_GB2312" pitchFamily="49" charset="-122"/>
              </a:rPr>
              <a:t>”</a:t>
            </a:r>
            <a:r>
              <a:rPr kumimoji="1" lang="zh-CN" altLang="en-US" sz="2000" b="1" dirty="0">
                <a:latin typeface="楷体_GB2312" pitchFamily="49" charset="-122"/>
                <a:ea typeface="楷体_GB2312" pitchFamily="49" charset="-122"/>
              </a:rPr>
              <a:t>；</a:t>
            </a:r>
            <a:endParaRPr kumimoji="1" lang="zh-CN" altLang="en-US" sz="2000" b="1" dirty="0">
              <a:latin typeface="楷体_GB2312" pitchFamily="49" charset="-122"/>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楷体_GB2312" pitchFamily="49" charset="-122"/>
                <a:ea typeface="楷体_GB2312" pitchFamily="49" charset="-122"/>
              </a:rPr>
              <a:t>符号</a:t>
            </a:r>
            <a:r>
              <a:rPr kumimoji="1" lang="zh-CN" altLang="en-US" sz="2000" b="1" dirty="0">
                <a:latin typeface="楷体_GB2312" pitchFamily="49" charset="-122"/>
                <a:ea typeface="楷体_GB2312" pitchFamily="49" charset="-122"/>
              </a:rPr>
              <a:t>图位移方向与阀芯位移相同</a:t>
            </a:r>
            <a:r>
              <a:rPr kumimoji="1" lang="zh-CN" altLang="en-US" sz="2000" b="1" dirty="0" smtClean="0">
                <a:latin typeface="楷体_GB2312" pitchFamily="49" charset="-122"/>
                <a:ea typeface="楷体_GB2312" pitchFamily="49" charset="-122"/>
              </a:rPr>
              <a:t>，</a:t>
            </a:r>
            <a:endParaRPr kumimoji="1" lang="zh-CN" altLang="en-US" sz="2000" b="1" dirty="0">
              <a:latin typeface="楷体_GB2312" pitchFamily="49" charset="-122"/>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Times New Roman" panose="02020603050405020304" pitchFamily="18" charset="0"/>
                <a:ea typeface="楷体_GB2312" pitchFamily="49" charset="-122"/>
              </a:rPr>
              <a:t>一般</a:t>
            </a:r>
            <a:r>
              <a:rPr kumimoji="1" lang="zh-CN" altLang="en-US" sz="2000" b="1" dirty="0">
                <a:latin typeface="Times New Roman" panose="02020603050405020304" pitchFamily="18" charset="0"/>
                <a:ea typeface="楷体_GB2312" pitchFamily="49" charset="-122"/>
              </a:rPr>
              <a:t>，阀与系统供油路连接的</a:t>
            </a:r>
            <a:r>
              <a:rPr kumimoji="1" lang="zh-CN" altLang="en-US" sz="2000" b="1" dirty="0">
                <a:solidFill>
                  <a:srgbClr val="C00000"/>
                </a:solidFill>
                <a:latin typeface="Times New Roman" panose="02020603050405020304" pitchFamily="18" charset="0"/>
                <a:ea typeface="楷体_GB2312" pitchFamily="49" charset="-122"/>
              </a:rPr>
              <a:t>进油口用字母</a:t>
            </a:r>
            <a:r>
              <a:rPr kumimoji="1" lang="en-US" altLang="zh-CN" sz="2000" b="1" dirty="0">
                <a:solidFill>
                  <a:srgbClr val="C00000"/>
                </a:solidFill>
                <a:latin typeface="Times New Roman" panose="02020603050405020304" pitchFamily="18" charset="0"/>
                <a:ea typeface="楷体_GB2312" pitchFamily="49" charset="-122"/>
              </a:rPr>
              <a:t>P</a:t>
            </a:r>
            <a:r>
              <a:rPr kumimoji="1" lang="zh-CN" altLang="en-US" sz="2000" b="1" dirty="0">
                <a:solidFill>
                  <a:srgbClr val="C00000"/>
                </a:solidFill>
                <a:latin typeface="Times New Roman" panose="02020603050405020304" pitchFamily="18" charset="0"/>
                <a:ea typeface="楷体_GB2312" pitchFamily="49" charset="-122"/>
              </a:rPr>
              <a:t>表示</a:t>
            </a:r>
            <a:r>
              <a:rPr kumimoji="1" lang="zh-CN" altLang="en-US" sz="2000" b="1" dirty="0">
                <a:latin typeface="Times New Roman" panose="02020603050405020304" pitchFamily="18" charset="0"/>
                <a:ea typeface="楷体_GB2312" pitchFamily="49" charset="-122"/>
              </a:rPr>
              <a:t>；阀与系统回油路连接的</a:t>
            </a:r>
            <a:r>
              <a:rPr kumimoji="1" lang="zh-CN" altLang="en-US" sz="2000" b="1" dirty="0">
                <a:solidFill>
                  <a:srgbClr val="C00000"/>
                </a:solidFill>
                <a:latin typeface="Times New Roman" panose="02020603050405020304" pitchFamily="18" charset="0"/>
                <a:ea typeface="楷体_GB2312" pitchFamily="49" charset="-122"/>
              </a:rPr>
              <a:t>回油口用字母</a:t>
            </a:r>
            <a:r>
              <a:rPr kumimoji="1" lang="en-US" altLang="zh-CN" sz="2000" b="1" dirty="0">
                <a:solidFill>
                  <a:srgbClr val="C00000"/>
                </a:solidFill>
                <a:latin typeface="Times New Roman" panose="02020603050405020304" pitchFamily="18" charset="0"/>
                <a:ea typeface="楷体_GB2312" pitchFamily="49" charset="-122"/>
              </a:rPr>
              <a:t>T</a:t>
            </a:r>
            <a:r>
              <a:rPr kumimoji="1" lang="zh-CN" altLang="en-US" sz="2000" b="1" dirty="0">
                <a:solidFill>
                  <a:srgbClr val="C00000"/>
                </a:solidFill>
                <a:latin typeface="Times New Roman" panose="02020603050405020304" pitchFamily="18" charset="0"/>
                <a:ea typeface="楷体_GB2312" pitchFamily="49" charset="-122"/>
              </a:rPr>
              <a:t>（或</a:t>
            </a:r>
            <a:r>
              <a:rPr kumimoji="1" lang="en-US" altLang="zh-CN" sz="2000" b="1" dirty="0">
                <a:solidFill>
                  <a:srgbClr val="C00000"/>
                </a:solidFill>
                <a:latin typeface="Times New Roman" panose="02020603050405020304" pitchFamily="18" charset="0"/>
                <a:ea typeface="楷体_GB2312" pitchFamily="49" charset="-122"/>
              </a:rPr>
              <a:t>O</a:t>
            </a:r>
            <a:r>
              <a:rPr kumimoji="1" lang="zh-CN" altLang="en-US" sz="2000" b="1" dirty="0">
                <a:solidFill>
                  <a:srgbClr val="C00000"/>
                </a:solidFill>
                <a:latin typeface="Times New Roman" panose="02020603050405020304" pitchFamily="18" charset="0"/>
                <a:ea typeface="楷体_GB2312" pitchFamily="49" charset="-122"/>
              </a:rPr>
              <a:t>）表示</a:t>
            </a:r>
            <a:r>
              <a:rPr kumimoji="1" lang="zh-CN" altLang="en-US" sz="2000" b="1" dirty="0">
                <a:latin typeface="Times New Roman" panose="02020603050405020304" pitchFamily="18" charset="0"/>
                <a:ea typeface="楷体_GB2312" pitchFamily="49" charset="-122"/>
              </a:rPr>
              <a:t>；而</a:t>
            </a:r>
            <a:r>
              <a:rPr kumimoji="1" lang="zh-CN" altLang="en-US" sz="2000" b="1" dirty="0">
                <a:solidFill>
                  <a:srgbClr val="C00000"/>
                </a:solidFill>
                <a:latin typeface="Times New Roman" panose="02020603050405020304" pitchFamily="18" charset="0"/>
                <a:ea typeface="楷体_GB2312" pitchFamily="49" charset="-122"/>
              </a:rPr>
              <a:t>阀与执行元件连接的工作油口则用字母</a:t>
            </a:r>
            <a:r>
              <a:rPr kumimoji="1" lang="en-US" altLang="zh-CN" sz="2000" b="1" dirty="0">
                <a:solidFill>
                  <a:srgbClr val="C00000"/>
                </a:solidFill>
                <a:latin typeface="Times New Roman" panose="02020603050405020304" pitchFamily="18" charset="0"/>
                <a:ea typeface="楷体_GB2312" pitchFamily="49" charset="-122"/>
              </a:rPr>
              <a:t>A</a:t>
            </a:r>
            <a:r>
              <a:rPr kumimoji="1" lang="zh-CN" altLang="en-US" sz="2000" b="1" dirty="0">
                <a:solidFill>
                  <a:srgbClr val="C00000"/>
                </a:solidFill>
                <a:latin typeface="Times New Roman" panose="02020603050405020304" pitchFamily="18" charset="0"/>
                <a:ea typeface="楷体_GB2312" pitchFamily="49" charset="-122"/>
              </a:rPr>
              <a:t>、</a:t>
            </a:r>
            <a:r>
              <a:rPr kumimoji="1" lang="en-US" altLang="zh-CN" sz="2000" b="1" dirty="0">
                <a:solidFill>
                  <a:srgbClr val="C00000"/>
                </a:solidFill>
                <a:latin typeface="Times New Roman" panose="02020603050405020304" pitchFamily="18" charset="0"/>
                <a:ea typeface="楷体_GB2312" pitchFamily="49" charset="-122"/>
              </a:rPr>
              <a:t>B</a:t>
            </a:r>
            <a:r>
              <a:rPr kumimoji="1" lang="zh-CN" altLang="en-US" sz="2000" b="1" dirty="0">
                <a:solidFill>
                  <a:srgbClr val="C00000"/>
                </a:solidFill>
                <a:latin typeface="Times New Roman" panose="02020603050405020304" pitchFamily="18" charset="0"/>
                <a:ea typeface="楷体_GB2312" pitchFamily="49" charset="-122"/>
              </a:rPr>
              <a:t>等表示</a:t>
            </a:r>
            <a:r>
              <a:rPr kumimoji="1" lang="zh-CN" altLang="en-US" sz="2000" b="1" dirty="0">
                <a:latin typeface="Times New Roman" panose="02020603050405020304" pitchFamily="18" charset="0"/>
                <a:ea typeface="楷体_GB2312" pitchFamily="49" charset="-122"/>
              </a:rPr>
              <a:t>。有时在图形符号上还标出泄漏油口，用字母</a:t>
            </a:r>
            <a:r>
              <a:rPr kumimoji="1" lang="en-US" altLang="zh-CN" sz="2000" b="1" dirty="0">
                <a:latin typeface="Times New Roman" panose="02020603050405020304" pitchFamily="18" charset="0"/>
                <a:ea typeface="楷体_GB2312" pitchFamily="49" charset="-122"/>
              </a:rPr>
              <a:t>L</a:t>
            </a:r>
            <a:r>
              <a:rPr kumimoji="1" lang="zh-CN" altLang="en-US" sz="2000" b="1" dirty="0">
                <a:latin typeface="Times New Roman" panose="02020603050405020304" pitchFamily="18" charset="0"/>
                <a:ea typeface="楷体_GB2312" pitchFamily="49" charset="-122"/>
              </a:rPr>
              <a:t>表示。</a:t>
            </a:r>
            <a:endParaRPr kumimoji="1" lang="zh-CN" altLang="en-US" sz="2000" b="1" dirty="0">
              <a:latin typeface="Times New Roman" panose="02020603050405020304" pitchFamily="18" charset="0"/>
              <a:ea typeface="楷体_GB2312" pitchFamily="49" charset="-122"/>
            </a:endParaRPr>
          </a:p>
          <a:p>
            <a:pPr>
              <a:lnSpc>
                <a:spcPct val="130000"/>
              </a:lnSpc>
              <a:spcBef>
                <a:spcPts val="0"/>
              </a:spcBef>
              <a:spcAft>
                <a:spcPts val="600"/>
              </a:spcAft>
              <a:buSzPct val="70000"/>
              <a:buFont typeface="Wingdings" panose="05000000000000000000" pitchFamily="2" charset="2"/>
              <a:buChar char="n"/>
            </a:pPr>
            <a:r>
              <a:rPr kumimoji="1" lang="zh-CN" altLang="en-US" sz="2000" b="1" dirty="0" smtClean="0">
                <a:latin typeface="Times New Roman" panose="02020603050405020304" pitchFamily="18" charset="0"/>
                <a:ea typeface="楷体_GB2312" pitchFamily="49" charset="-122"/>
              </a:rPr>
              <a:t>每个</a:t>
            </a:r>
            <a:r>
              <a:rPr kumimoji="1" lang="zh-CN" altLang="en-US" sz="2000" b="1" dirty="0">
                <a:latin typeface="Times New Roman" panose="02020603050405020304" pitchFamily="18" charset="0"/>
                <a:ea typeface="楷体_GB2312" pitchFamily="49" charset="-122"/>
              </a:rPr>
              <a:t>换向阀都有一个</a:t>
            </a:r>
            <a:r>
              <a:rPr kumimoji="1" lang="zh-CN" altLang="en-US" sz="2000" b="1" dirty="0">
                <a:solidFill>
                  <a:srgbClr val="C00000"/>
                </a:solidFill>
                <a:latin typeface="Times New Roman" panose="02020603050405020304" pitchFamily="18" charset="0"/>
                <a:ea typeface="楷体_GB2312" pitchFamily="49" charset="-122"/>
              </a:rPr>
              <a:t>常态位</a:t>
            </a:r>
            <a:r>
              <a:rPr kumimoji="1" lang="en-US" altLang="zh-CN" sz="2000" b="1" dirty="0">
                <a:latin typeface="Times New Roman" panose="02020603050405020304" pitchFamily="18" charset="0"/>
                <a:ea typeface="楷体_GB2312" pitchFamily="49" charset="-122"/>
              </a:rPr>
              <a:t>(</a:t>
            </a:r>
            <a:r>
              <a:rPr kumimoji="1" lang="zh-CN" altLang="en-US" sz="2000" b="1" dirty="0">
                <a:latin typeface="Times New Roman" panose="02020603050405020304" pitchFamily="18" charset="0"/>
                <a:ea typeface="楷体_GB2312" pitchFamily="49" charset="-122"/>
              </a:rPr>
              <a:t>即阀芯在未受到外力作用时的位置</a:t>
            </a:r>
            <a:r>
              <a:rPr kumimoji="1" lang="en-US" altLang="zh-CN" sz="2000" b="1" dirty="0">
                <a:latin typeface="Times New Roman" panose="02020603050405020304" pitchFamily="18" charset="0"/>
                <a:ea typeface="楷体_GB2312" pitchFamily="49" charset="-122"/>
              </a:rPr>
              <a:t>)</a:t>
            </a:r>
            <a:r>
              <a:rPr kumimoji="1" lang="zh-CN" altLang="en-US" sz="2000" b="1" dirty="0">
                <a:latin typeface="Times New Roman" panose="02020603050405020304" pitchFamily="18" charset="0"/>
                <a:ea typeface="楷体_GB2312" pitchFamily="49" charset="-122"/>
              </a:rPr>
              <a:t>。在液压系统图中，换向阀的符号与油路的连接一般应画在常态位上。</a:t>
            </a:r>
            <a:endParaRPr kumimoji="1" lang="zh-CN" altLang="en-US" sz="2000" b="1" dirty="0">
              <a:latin typeface="Times New Roman" panose="02020603050405020304" pitchFamily="18" charset="0"/>
              <a:ea typeface="楷体_GB2312" pitchFamily="49" charset="-122"/>
            </a:endParaRPr>
          </a:p>
        </p:txBody>
      </p:sp>
      <p:sp>
        <p:nvSpPr>
          <p:cNvPr id="355333" name="Rectangle 5"/>
          <p:cNvSpPr>
            <a:spLocks noChangeArrowheads="1"/>
          </p:cNvSpPr>
          <p:nvPr/>
        </p:nvSpPr>
        <p:spPr bwMode="auto">
          <a:xfrm>
            <a:off x="4" y="29204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pic>
        <p:nvPicPr>
          <p:cNvPr id="355334"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0" y="457288"/>
            <a:ext cx="4572000" cy="13158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217852" y="5029158"/>
            <a:ext cx="2926148" cy="182884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1327106" name="Rectangle 2"/>
          <p:cNvSpPr>
            <a:spLocks noGrp="1" noChangeArrowheads="1"/>
          </p:cNvSpPr>
          <p:nvPr>
            <p:ph type="title"/>
          </p:nvPr>
        </p:nvSpPr>
        <p:spPr>
          <a:xfrm>
            <a:off x="360363" y="382598"/>
            <a:ext cx="8382000" cy="720197"/>
          </a:xfrm>
        </p:spPr>
        <p:txBody>
          <a:bodyPr/>
          <a:lstStyle/>
          <a:p>
            <a:r>
              <a:rPr kumimoji="1" lang="zh-CN" altLang="en-US" sz="3200" dirty="0" smtClean="0">
                <a:solidFill>
                  <a:srgbClr val="C00000"/>
                </a:solidFill>
                <a:effectLst>
                  <a:outerShdw blurRad="38100" dist="38100" dir="2700000" algn="tl">
                    <a:srgbClr val="C0C0C0"/>
                  </a:outerShdw>
                </a:effectLst>
                <a:latin typeface="黑体" panose="02010609060101010101" pitchFamily="49" charset="-122"/>
                <a:ea typeface="黑体" panose="02010609060101010101" pitchFamily="49" charset="-122"/>
              </a:rPr>
              <a:t>压力控制阀分类</a:t>
            </a:r>
            <a:br>
              <a:rPr lang="zh-CN" altLang="en-US" dirty="0"/>
            </a:br>
            <a:r>
              <a:rPr lang="en-US" altLang="zh-CN" sz="2000" kern="1200" dirty="0">
                <a:solidFill>
                  <a:schemeClr val="bg1">
                    <a:lumMod val="95000"/>
                    <a:lumOff val="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Pressure Control Valves</a:t>
            </a:r>
            <a:endParaRPr lang="en-US" altLang="zh-CN" sz="2000" kern="1200" dirty="0">
              <a:solidFill>
                <a:schemeClr val="bg1">
                  <a:lumMod val="95000"/>
                  <a:lumOff val="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1327107" name="Rectangle 3"/>
          <p:cNvSpPr>
            <a:spLocks noGrp="1" noChangeArrowheads="1"/>
          </p:cNvSpPr>
          <p:nvPr>
            <p:ph type="body" idx="1"/>
          </p:nvPr>
        </p:nvSpPr>
        <p:spPr>
          <a:xfrm>
            <a:off x="428844" y="1219258"/>
            <a:ext cx="8358084" cy="4781436"/>
          </a:xfrm>
        </p:spPr>
        <p:txBody>
          <a:bodyPr>
            <a:noAutofit/>
          </a:bodyPr>
          <a:lstStyle/>
          <a:p>
            <a:pPr>
              <a:lnSpc>
                <a:spcPct val="130000"/>
              </a:lnSpc>
              <a:spcBef>
                <a:spcPts val="0"/>
              </a:spcBef>
              <a:spcAft>
                <a:spcPts val="0"/>
              </a:spcAft>
              <a:buFont typeface="Wingdings" panose="05000000000000000000" pitchFamily="2" charset="2"/>
              <a:buChar char="n"/>
            </a:pPr>
            <a:r>
              <a:rPr lang="zh-CN" altLang="en-US" sz="2000" dirty="0" smtClean="0">
                <a:solidFill>
                  <a:srgbClr val="C00000"/>
                </a:solidFill>
                <a:latin typeface="黑体" panose="02010609060101010101" pitchFamily="49" charset="-122"/>
                <a:ea typeface="黑体" panose="02010609060101010101" pitchFamily="49" charset="-122"/>
              </a:rPr>
              <a:t>溢流阀 </a:t>
            </a:r>
            <a:r>
              <a:rPr lang="en-US" altLang="zh-CN" sz="2000" dirty="0">
                <a:solidFill>
                  <a:srgbClr val="C00000"/>
                </a:solidFill>
              </a:rPr>
              <a:t>Relief valve </a:t>
            </a:r>
            <a:endParaRPr lang="en-US" altLang="zh-CN" sz="2000" dirty="0">
              <a:solidFill>
                <a:srgbClr val="C00000"/>
              </a:solidFill>
            </a:endParaRPr>
          </a:p>
          <a:p>
            <a:pPr marL="355600" lvl="2" indent="0">
              <a:lnSpc>
                <a:spcPct val="130000"/>
              </a:lnSpc>
              <a:spcBef>
                <a:spcPts val="0"/>
              </a:spcBef>
              <a:spcAft>
                <a:spcPts val="0"/>
              </a:spcAft>
              <a:buNone/>
            </a:pPr>
            <a:r>
              <a:rPr lang="zh-CN" altLang="en-US" sz="1800" b="1" dirty="0"/>
              <a:t>维持阀进口压力近于恒定，系统中多余流体通过该阀回油的压力控制阀。 </a:t>
            </a:r>
            <a:endParaRPr lang="zh-CN" altLang="en-US" sz="1800" b="1" dirty="0"/>
          </a:p>
          <a:p>
            <a:pPr marL="288925" lvl="1" indent="-288925">
              <a:lnSpc>
                <a:spcPct val="130000"/>
              </a:lnSpc>
              <a:spcBef>
                <a:spcPts val="0"/>
              </a:spcBef>
              <a:spcAft>
                <a:spcPts val="0"/>
              </a:spcAft>
              <a:buFont typeface="Wingdings" panose="05000000000000000000" pitchFamily="2" charset="2"/>
              <a:buChar char="n"/>
            </a:pPr>
            <a:r>
              <a:rPr lang="zh-CN" altLang="en-US" dirty="0">
                <a:solidFill>
                  <a:srgbClr val="C00000"/>
                </a:solidFill>
                <a:latin typeface="黑体" panose="02010609060101010101" pitchFamily="49" charset="-122"/>
                <a:ea typeface="黑体" panose="02010609060101010101" pitchFamily="49" charset="-122"/>
                <a:cs typeface="+mn-cs"/>
              </a:rPr>
              <a:t>减压阀 </a:t>
            </a:r>
            <a:r>
              <a:rPr lang="en-US" altLang="zh-CN" dirty="0">
                <a:solidFill>
                  <a:srgbClr val="C00000"/>
                </a:solidFill>
                <a:ea typeface="+mn-ea"/>
                <a:cs typeface="+mn-cs"/>
              </a:rPr>
              <a:t>Reducing valve </a:t>
            </a:r>
            <a:endParaRPr lang="en-US" altLang="zh-CN" dirty="0">
              <a:solidFill>
                <a:srgbClr val="C00000"/>
              </a:solidFill>
              <a:ea typeface="+mn-ea"/>
              <a:cs typeface="+mn-cs"/>
            </a:endParaRPr>
          </a:p>
          <a:p>
            <a:pPr marL="355600" lvl="2" indent="0">
              <a:lnSpc>
                <a:spcPct val="130000"/>
              </a:lnSpc>
              <a:spcBef>
                <a:spcPts val="0"/>
              </a:spcBef>
              <a:spcAft>
                <a:spcPts val="0"/>
              </a:spcAft>
              <a:buNone/>
            </a:pPr>
            <a:r>
              <a:rPr lang="zh-CN" altLang="en-US" sz="1800" b="1" dirty="0"/>
              <a:t>用节流方法使出口压力低于进口压力并保持出口压力近于恒定的压力控制阀。 </a:t>
            </a:r>
            <a:endParaRPr lang="zh-CN" altLang="en-US" sz="1800" b="1" dirty="0"/>
          </a:p>
          <a:p>
            <a:pPr marL="288925" lvl="1" indent="-288925">
              <a:lnSpc>
                <a:spcPct val="130000"/>
              </a:lnSpc>
              <a:spcBef>
                <a:spcPts val="0"/>
              </a:spcBef>
              <a:spcAft>
                <a:spcPts val="0"/>
              </a:spcAft>
              <a:buFont typeface="Wingdings" panose="05000000000000000000" pitchFamily="2" charset="2"/>
              <a:buChar char="n"/>
            </a:pPr>
            <a:r>
              <a:rPr lang="zh-CN" altLang="en-US" dirty="0">
                <a:solidFill>
                  <a:srgbClr val="C00000"/>
                </a:solidFill>
                <a:latin typeface="黑体" panose="02010609060101010101" pitchFamily="49" charset="-122"/>
                <a:ea typeface="黑体" panose="02010609060101010101" pitchFamily="49" charset="-122"/>
                <a:cs typeface="+mn-cs"/>
              </a:rPr>
              <a:t>顺序阀 </a:t>
            </a:r>
            <a:r>
              <a:rPr lang="en-US" altLang="zh-CN" dirty="0">
                <a:solidFill>
                  <a:srgbClr val="C00000"/>
                </a:solidFill>
                <a:ea typeface="+mn-ea"/>
                <a:cs typeface="+mn-cs"/>
              </a:rPr>
              <a:t>Sequence valve </a:t>
            </a:r>
            <a:endParaRPr lang="en-US" altLang="zh-CN" dirty="0">
              <a:solidFill>
                <a:srgbClr val="C00000"/>
              </a:solidFill>
              <a:ea typeface="+mn-ea"/>
              <a:cs typeface="+mn-cs"/>
            </a:endParaRPr>
          </a:p>
          <a:p>
            <a:pPr marL="355600" lvl="2" indent="0">
              <a:lnSpc>
                <a:spcPct val="130000"/>
              </a:lnSpc>
              <a:spcBef>
                <a:spcPts val="0"/>
              </a:spcBef>
              <a:spcAft>
                <a:spcPts val="0"/>
              </a:spcAft>
              <a:buNone/>
            </a:pPr>
            <a:r>
              <a:rPr lang="zh-CN" altLang="en-US" sz="1800" b="1" dirty="0"/>
              <a:t>当控制压力达到预调值时，阀芯开启使流体通过，以控制执行元件的顺序动作的压力控制阀。分内控和外控两种。 </a:t>
            </a:r>
            <a:endParaRPr lang="zh-CN" altLang="en-US" sz="1800" b="1" dirty="0"/>
          </a:p>
          <a:p>
            <a:pPr marL="723900" lvl="3" indent="-288925">
              <a:lnSpc>
                <a:spcPct val="130000"/>
              </a:lnSpc>
              <a:spcBef>
                <a:spcPts val="0"/>
              </a:spcBef>
              <a:spcAft>
                <a:spcPts val="0"/>
              </a:spcAft>
              <a:buFont typeface="Wingdings" panose="05000000000000000000" pitchFamily="2" charset="2"/>
              <a:buChar char="n"/>
            </a:pPr>
            <a:r>
              <a:rPr lang="zh-CN" altLang="en-US" dirty="0">
                <a:latin typeface="黑体" panose="02010609060101010101" pitchFamily="49" charset="-122"/>
                <a:ea typeface="黑体" panose="02010609060101010101" pitchFamily="49" charset="-122"/>
                <a:cs typeface="+mn-cs"/>
              </a:rPr>
              <a:t>平衡阀（或支撑阀）</a:t>
            </a:r>
            <a:r>
              <a:rPr lang="en-US" altLang="zh-CN" dirty="0">
                <a:ea typeface="+mn-ea"/>
                <a:cs typeface="+mn-cs"/>
              </a:rPr>
              <a:t>Counterbalance </a:t>
            </a:r>
            <a:r>
              <a:rPr lang="en-US" altLang="zh-CN" dirty="0" smtClean="0">
                <a:ea typeface="+mn-ea"/>
                <a:cs typeface="+mn-cs"/>
              </a:rPr>
              <a:t>valve</a:t>
            </a:r>
            <a:r>
              <a:rPr lang="zh-CN" altLang="en-US" dirty="0" smtClean="0">
                <a:ea typeface="+mn-ea"/>
                <a:cs typeface="+mn-cs"/>
              </a:rPr>
              <a:t>：</a:t>
            </a:r>
            <a:r>
              <a:rPr lang="zh-CN" altLang="en-US" sz="1800" b="1" dirty="0" smtClean="0"/>
              <a:t>保持液压缸</a:t>
            </a:r>
            <a:r>
              <a:rPr lang="en-US" altLang="zh-CN" sz="1800" b="1" dirty="0" smtClean="0"/>
              <a:t>/</a:t>
            </a:r>
            <a:r>
              <a:rPr lang="zh-CN" altLang="en-US" sz="1800" b="1" dirty="0" smtClean="0"/>
              <a:t>马达一腔</a:t>
            </a:r>
            <a:r>
              <a:rPr lang="zh-CN" altLang="en-US" sz="1800" b="1" dirty="0"/>
              <a:t>有背压，以防止负载因自重而下滑的一种单向顺序阀。 </a:t>
            </a:r>
            <a:endParaRPr lang="zh-CN" altLang="en-US" sz="1800" b="1" dirty="0"/>
          </a:p>
          <a:p>
            <a:pPr marL="288925" lvl="1" indent="-288925">
              <a:lnSpc>
                <a:spcPct val="130000"/>
              </a:lnSpc>
              <a:spcBef>
                <a:spcPts val="0"/>
              </a:spcBef>
              <a:spcAft>
                <a:spcPts val="0"/>
              </a:spcAft>
              <a:buFont typeface="Wingdings" panose="05000000000000000000" pitchFamily="2" charset="2"/>
              <a:buChar char="n"/>
            </a:pPr>
            <a:r>
              <a:rPr lang="zh-CN" altLang="en-US" dirty="0" smtClean="0">
                <a:solidFill>
                  <a:srgbClr val="C00000"/>
                </a:solidFill>
                <a:latin typeface="黑体" panose="02010609060101010101" pitchFamily="49" charset="-122"/>
                <a:ea typeface="黑体" panose="02010609060101010101" pitchFamily="49" charset="-122"/>
                <a:cs typeface="+mn-cs"/>
              </a:rPr>
              <a:t>压力继电器</a:t>
            </a:r>
            <a:r>
              <a:rPr lang="en-US" altLang="zh-CN" dirty="0" smtClean="0">
                <a:solidFill>
                  <a:srgbClr val="C00000"/>
                </a:solidFill>
                <a:latin typeface="黑体" panose="02010609060101010101" pitchFamily="49" charset="-122"/>
                <a:ea typeface="黑体" panose="02010609060101010101" pitchFamily="49" charset="-122"/>
                <a:cs typeface="+mn-cs"/>
              </a:rPr>
              <a:t> </a:t>
            </a:r>
            <a:r>
              <a:rPr lang="en-US" altLang="zh-CN" dirty="0">
                <a:solidFill>
                  <a:srgbClr val="C00000"/>
                </a:solidFill>
                <a:ea typeface="+mn-ea"/>
                <a:cs typeface="+mn-cs"/>
              </a:rPr>
              <a:t>Pressure </a:t>
            </a:r>
            <a:r>
              <a:rPr lang="en-US" altLang="zh-CN" dirty="0" smtClean="0">
                <a:solidFill>
                  <a:srgbClr val="C00000"/>
                </a:solidFill>
                <a:ea typeface="+mn-ea"/>
                <a:cs typeface="+mn-cs"/>
              </a:rPr>
              <a:t>switch</a:t>
            </a:r>
            <a:endParaRPr lang="en-US" altLang="zh-CN" dirty="0" smtClean="0">
              <a:solidFill>
                <a:srgbClr val="C00000"/>
              </a:solidFill>
              <a:ea typeface="+mn-ea"/>
              <a:cs typeface="+mn-cs"/>
            </a:endParaRPr>
          </a:p>
          <a:p>
            <a:pPr marL="0" lvl="1" indent="0">
              <a:lnSpc>
                <a:spcPct val="130000"/>
              </a:lnSpc>
              <a:spcBef>
                <a:spcPts val="0"/>
              </a:spcBef>
              <a:spcAft>
                <a:spcPts val="0"/>
              </a:spcAft>
              <a:buNone/>
            </a:pPr>
            <a:r>
              <a:rPr lang="zh-CN" altLang="en-US" sz="1800" b="1" dirty="0" smtClean="0"/>
              <a:t>      压力继电器</a:t>
            </a:r>
            <a:r>
              <a:rPr lang="zh-CN" altLang="en-US" sz="1800" b="1" dirty="0"/>
              <a:t>是液压系统中当压力达到预定值时，使电接点动作的</a:t>
            </a:r>
            <a:r>
              <a:rPr lang="zh-CN" altLang="en-US" sz="1800" b="1" dirty="0" smtClean="0"/>
              <a:t>元件。</a:t>
            </a:r>
            <a:endParaRPr lang="zh-CN" altLang="en-US" sz="1800"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type="body" idx="1"/>
          </p:nvPr>
        </p:nvSpPr>
        <p:spPr bwMode="auto">
          <a:xfrm>
            <a:off x="304912" y="309219"/>
            <a:ext cx="5256212" cy="480131"/>
          </a:xfrm>
          <a:noFill/>
        </p:spPr>
        <p:txBody>
          <a:bodyPr vert="horz" wrap="square" lIns="91440" tIns="45720" rIns="91440" bIns="45720" numCol="1" anchor="t" anchorCtr="0" compatLnSpc="1"/>
          <a:lstStyle/>
          <a:p>
            <a:pPr eaLnBrk="1" hangingPunct="1">
              <a:lnSpc>
                <a:spcPct val="90000"/>
              </a:lnSpc>
              <a:buFontTx/>
              <a:buNone/>
            </a:pPr>
            <a:r>
              <a:rPr lang="zh-CN" altLang="en-US" sz="2800" dirty="0" smtClean="0">
                <a:solidFill>
                  <a:srgbClr val="C00000"/>
                </a:solidFill>
                <a:ea typeface="黑体" panose="02010609060101010101" pitchFamily="49" charset="-122"/>
              </a:rPr>
              <a:t>溢流阀、减压阀和顺序阀的区别</a:t>
            </a:r>
            <a:endParaRPr lang="zh-CN" altLang="en-US" sz="2800" dirty="0" smtClean="0">
              <a:solidFill>
                <a:srgbClr val="C00000"/>
              </a:solidFill>
              <a:ea typeface="黑体" panose="02010609060101010101" pitchFamily="49" charset="-122"/>
            </a:endParaRPr>
          </a:p>
        </p:txBody>
      </p:sp>
      <p:pic>
        <p:nvPicPr>
          <p:cNvPr id="124931" name="Picture 4" descr="压力阀之比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029406"/>
            <a:ext cx="9144000" cy="544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506" y="382598"/>
            <a:ext cx="8382000" cy="830997"/>
          </a:xfrm>
        </p:spPr>
        <p:txBody>
          <a:bodyPr/>
          <a:lstStyle/>
          <a:p>
            <a:pPr lvl="0"/>
            <a:r>
              <a:rPr lang="zh-CN" altLang="en-US" b="0" dirty="0" smtClean="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调速阀结构</a:t>
            </a:r>
            <a:br>
              <a:rPr lang="en-US" altLang="zh-CN" b="0" dirty="0">
                <a:solidFill>
                  <a:srgbClr val="FFFFFF"/>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br>
            <a:r>
              <a:rPr lang="en-US" altLang="zh-CN" sz="2400" b="0" dirty="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Structure of Flow Control Valves</a:t>
            </a:r>
            <a:endParaRPr lang="zh-CN" altLang="en-US" sz="2400" b="0" dirty="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3" name="组合 2"/>
          <p:cNvGrpSpPr/>
          <p:nvPr/>
        </p:nvGrpSpPr>
        <p:grpSpPr>
          <a:xfrm>
            <a:off x="533506" y="1676446"/>
            <a:ext cx="5637569" cy="4320424"/>
            <a:chOff x="565901" y="1524050"/>
            <a:chExt cx="5637569" cy="4320424"/>
          </a:xfrm>
        </p:grpSpPr>
        <p:pic>
          <p:nvPicPr>
            <p:cNvPr id="7" name="Picture 40" descr="5z18y"/>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1795" r="31746" b="3898"/>
            <a:stretch>
              <a:fillRect/>
            </a:stretch>
          </p:blipFill>
          <p:spPr bwMode="auto">
            <a:xfrm>
              <a:off x="565901" y="1524050"/>
              <a:ext cx="5637569" cy="4320424"/>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
          <p:nvSpPr>
            <p:cNvPr id="10" name="矩形 9"/>
            <p:cNvSpPr/>
            <p:nvPr/>
          </p:nvSpPr>
          <p:spPr>
            <a:xfrm>
              <a:off x="4393901" y="2590822"/>
              <a:ext cx="1338828" cy="369332"/>
            </a:xfrm>
            <a:prstGeom prst="rect">
              <a:avLst/>
            </a:prstGeom>
          </p:spPr>
          <p:txBody>
            <a:bodyPr wrap="none">
              <a:spAutoFit/>
            </a:bodyPr>
            <a:lstStyle/>
            <a:p>
              <a:r>
                <a:rPr lang="zh-CN" altLang="en-US" dirty="0">
                  <a:solidFill>
                    <a:srgbClr val="FF6600"/>
                  </a:solidFill>
                  <a:latin typeface="黑体" panose="02010609060101010101" pitchFamily="49" charset="-122"/>
                  <a:ea typeface="黑体" panose="02010609060101010101" pitchFamily="49" charset="-122"/>
                </a:rPr>
                <a:t>定差减压阀</a:t>
              </a:r>
              <a:endParaRPr lang="zh-CN" altLang="en-US" dirty="0">
                <a:solidFill>
                  <a:srgbClr val="FF6600"/>
                </a:solidFill>
              </a:endParaRPr>
            </a:p>
          </p:txBody>
        </p:sp>
        <p:sp>
          <p:nvSpPr>
            <p:cNvPr id="11" name="矩形 10"/>
            <p:cNvSpPr/>
            <p:nvPr/>
          </p:nvSpPr>
          <p:spPr>
            <a:xfrm>
              <a:off x="602884" y="4411756"/>
              <a:ext cx="1338828" cy="369332"/>
            </a:xfrm>
            <a:prstGeom prst="rect">
              <a:avLst/>
            </a:prstGeom>
          </p:spPr>
          <p:txBody>
            <a:bodyPr wrap="none">
              <a:spAutoFit/>
            </a:bodyPr>
            <a:lstStyle/>
            <a:p>
              <a:r>
                <a:rPr lang="zh-CN" altLang="en-US" dirty="0">
                  <a:solidFill>
                    <a:srgbClr val="FF6600"/>
                  </a:solidFill>
                  <a:latin typeface="黑体" panose="02010609060101010101" pitchFamily="49" charset="-122"/>
                  <a:ea typeface="黑体" panose="02010609060101010101" pitchFamily="49" charset="-122"/>
                </a:rPr>
                <a:t>节流阀阀芯</a:t>
              </a:r>
              <a:endParaRPr lang="zh-CN" altLang="en-US" dirty="0">
                <a:solidFill>
                  <a:srgbClr val="FF6600"/>
                </a:solidFill>
              </a:endParaRPr>
            </a:p>
          </p:txBody>
        </p:sp>
      </p:grpSp>
      <p:sp>
        <p:nvSpPr>
          <p:cNvPr id="6" name="矩形 5"/>
          <p:cNvSpPr/>
          <p:nvPr/>
        </p:nvSpPr>
        <p:spPr>
          <a:xfrm>
            <a:off x="6095960" y="1090447"/>
            <a:ext cx="2060179" cy="461665"/>
          </a:xfrm>
          <a:prstGeom prst="rect">
            <a:avLst/>
          </a:prstGeom>
        </p:spPr>
        <p:txBody>
          <a:bodyPr wrap="none">
            <a:spAutoFit/>
          </a:bodyPr>
          <a:lstStyle/>
          <a:p>
            <a:pPr marL="0" lvl="1">
              <a:spcBef>
                <a:spcPct val="20000"/>
              </a:spcBef>
              <a:spcAft>
                <a:spcPct val="20000"/>
              </a:spcAft>
              <a:buClr>
                <a:srgbClr val="FF3300"/>
              </a:buClr>
            </a:pPr>
            <a:r>
              <a:rPr kumimoji="1" lang="zh-CN" altLang="en-US" sz="2400" b="1" i="1" dirty="0" smtClean="0">
                <a:solidFill>
                  <a:srgbClr val="C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hlinkClick r:id="rId2" action="ppaction://hlinkfile"/>
              </a:rPr>
              <a:t>*动画</a:t>
            </a:r>
            <a:r>
              <a:rPr kumimoji="1" lang="en-US" altLang="zh-CN" sz="2400" b="1" i="1" dirty="0" smtClean="0">
                <a:solidFill>
                  <a:srgbClr val="C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hlinkClick r:id="rId2" action="ppaction://hlinkfile"/>
              </a:rPr>
              <a:t>-</a:t>
            </a:r>
            <a:r>
              <a:rPr kumimoji="1" lang="zh-CN" altLang="en-US" sz="2400" b="1" i="1" dirty="0" smtClean="0">
                <a:solidFill>
                  <a:srgbClr val="C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hlinkClick r:id="rId2" action="ppaction://hlinkfile"/>
              </a:rPr>
              <a:t>调速阀</a:t>
            </a:r>
            <a:endParaRPr kumimoji="1" lang="zh-CN" altLang="en-US" sz="2400" b="1" i="1" dirty="0">
              <a:solidFill>
                <a:srgbClr val="C00000"/>
              </a:solidFill>
              <a:effectLst>
                <a:outerShdw blurRad="38100" dist="38100" dir="2700000" algn="tl">
                  <a:srgbClr val="000000">
                    <a:alpha val="43137"/>
                  </a:srgbClr>
                </a:outerShdw>
              </a:effectLst>
              <a:latin typeface="Tahoma" panose="020B0604030504040204" pitchFamily="34" charset="0"/>
              <a:ea typeface="宋体" panose="02010600030101010101" pitchFamily="2" charset="-122"/>
            </a:endParaRPr>
          </a:p>
        </p:txBody>
      </p:sp>
      <p:pic>
        <p:nvPicPr>
          <p:cNvPr id="12" name="Picture 40" descr="5z18y"/>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71254" t="2117" b="53225"/>
          <a:stretch>
            <a:fillRect/>
          </a:stretch>
        </p:blipFill>
        <p:spPr bwMode="auto">
          <a:xfrm>
            <a:off x="5943564" y="2945579"/>
            <a:ext cx="2438506" cy="200767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pic>
        <p:nvPicPr>
          <p:cNvPr id="16" name="Picture 40" descr="5z18y"/>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75118" t="72448" r="3884" b="5719"/>
          <a:stretch>
            <a:fillRect/>
          </a:stretch>
        </p:blipFill>
        <p:spPr bwMode="auto">
          <a:xfrm>
            <a:off x="6272229" y="5048866"/>
            <a:ext cx="1781175" cy="981511"/>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81" name="Rectangle 9"/>
          <p:cNvSpPr>
            <a:spLocks noChangeArrowheads="1"/>
          </p:cNvSpPr>
          <p:nvPr/>
        </p:nvSpPr>
        <p:spPr bwMode="auto">
          <a:xfrm>
            <a:off x="6443668" y="2265831"/>
            <a:ext cx="2700337" cy="1938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eaLnBrk="0" hangingPunct="0"/>
            <a:r>
              <a:rPr lang="en-US" altLang="zh-CN" sz="2400" b="0"/>
              <a:t>Fig.5-19 indicates a relief-throttle valve operation and its graphic symbol.</a:t>
            </a:r>
            <a:r>
              <a:rPr lang="en-US" altLang="zh-CN" sz="2400"/>
              <a:t> </a:t>
            </a:r>
            <a:endParaRPr lang="en-US" altLang="zh-CN" sz="2400"/>
          </a:p>
        </p:txBody>
      </p:sp>
      <p:pic>
        <p:nvPicPr>
          <p:cNvPr id="79907" name="Picture 35" descr="5z19"/>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578" t="2542" r="53989" b="4714"/>
          <a:stretch>
            <a:fillRect/>
          </a:stretch>
        </p:blipFill>
        <p:spPr bwMode="auto">
          <a:xfrm>
            <a:off x="219919" y="934897"/>
            <a:ext cx="3276513" cy="4997265"/>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sp>
        <p:nvSpPr>
          <p:cNvPr id="79908" name="Rectangle 36"/>
          <p:cNvSpPr>
            <a:spLocks noChangeArrowheads="1"/>
          </p:cNvSpPr>
          <p:nvPr/>
        </p:nvSpPr>
        <p:spPr bwMode="auto">
          <a:xfrm>
            <a:off x="6443666" y="4178220"/>
            <a:ext cx="2627312" cy="1200329"/>
          </a:xfrm>
          <a:prstGeom prst="rect">
            <a:avLst/>
          </a:prstGeom>
          <a:solidFill>
            <a:srgbClr val="F8F8F8"/>
          </a:solidFill>
          <a:ln>
            <a:noFill/>
          </a:ln>
          <a:effectLst/>
          <a:extLs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r>
              <a:rPr lang="en-US" altLang="zh-CN"/>
              <a:t>1-Actuator   2-Sefety valve </a:t>
            </a:r>
            <a:endParaRPr lang="en-US" altLang="zh-CN"/>
          </a:p>
          <a:p>
            <a:pPr algn="l"/>
            <a:r>
              <a:rPr lang="en-US" altLang="zh-CN"/>
              <a:t>3-Relief valve 4-Throttle valve </a:t>
            </a:r>
            <a:endParaRPr lang="en-US" altLang="zh-CN"/>
          </a:p>
        </p:txBody>
      </p:sp>
      <p:sp>
        <p:nvSpPr>
          <p:cNvPr id="10" name="标题 1"/>
          <p:cNvSpPr>
            <a:spLocks noGrp="1"/>
          </p:cNvSpPr>
          <p:nvPr>
            <p:ph type="title"/>
          </p:nvPr>
        </p:nvSpPr>
        <p:spPr>
          <a:xfrm>
            <a:off x="385848" y="159304"/>
            <a:ext cx="4186157" cy="775597"/>
          </a:xfrm>
        </p:spPr>
        <p:txBody>
          <a:bodyPr/>
          <a:lstStyle/>
          <a:p>
            <a:r>
              <a:rPr lang="zh-CN" altLang="en-US" sz="3200" b="0" dirty="0" smtClean="0">
                <a:solidFill>
                  <a:srgbClr val="C00000"/>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溢流节流阀）</a:t>
            </a:r>
            <a:br>
              <a:rPr lang="en-US" altLang="zh-CN" sz="2400" b="0" dirty="0" smtClean="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br>
            <a:r>
              <a:rPr lang="en-US" altLang="zh-CN" sz="2400" b="0" dirty="0" smtClean="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rPr>
              <a:t>Relief-Throttle Valves</a:t>
            </a:r>
            <a:endParaRPr lang="zh-CN" altLang="en-US" sz="2400" b="0" dirty="0">
              <a:solidFill>
                <a:schemeClr val="bg1"/>
              </a:solidFill>
              <a:effectLst>
                <a:outerShdw blurRad="38100" dist="38100" dir="2700000" algn="tl">
                  <a:srgbClr val="000000">
                    <a:alpha val="43137"/>
                  </a:srgbClr>
                </a:outerShdw>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11" name="Picture 35" descr="5z19"/>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62853" t="64503" r="7428" b="9964"/>
          <a:stretch>
            <a:fillRect/>
          </a:stretch>
        </p:blipFill>
        <p:spPr bwMode="auto">
          <a:xfrm>
            <a:off x="6774370" y="4801990"/>
            <a:ext cx="1879600" cy="1206500"/>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p:pic>
        <p:nvPicPr>
          <p:cNvPr id="12" name="Picture 35" descr="5z19"/>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5398" b="55496"/>
          <a:stretch>
            <a:fillRect/>
          </a:stretch>
        </p:blipFill>
        <p:spPr bwMode="auto">
          <a:xfrm>
            <a:off x="4191015" y="4551534"/>
            <a:ext cx="2417153" cy="1801995"/>
          </a:xfrm>
          <a:prstGeom prst="rect">
            <a:avLst/>
          </a:prstGeom>
          <a:noFill/>
          <a:ln w="25400">
            <a:noFill/>
            <a:miter lim="800000"/>
            <a:headEnd/>
            <a:tailEnd/>
          </a:ln>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3" name="Rectangle 3"/>
              <p:cNvSpPr txBox="1">
                <a:spLocks noChangeArrowheads="1"/>
              </p:cNvSpPr>
              <p:nvPr/>
            </p:nvSpPr>
            <p:spPr bwMode="auto">
              <a:xfrm>
                <a:off x="3523371" y="927794"/>
                <a:ext cx="5435512" cy="358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spAutoFit/>
              </a:bodyPr>
              <a:lstStyle>
                <a:lvl1pPr marL="288925" indent="-288925" algn="l" defTabSz="913130" rtl="0" eaLnBrk="0" fontAlgn="base" hangingPunct="0">
                  <a:lnSpc>
                    <a:spcPct val="90000"/>
                  </a:lnSpc>
                  <a:spcBef>
                    <a:spcPct val="20000"/>
                  </a:spcBef>
                  <a:spcAft>
                    <a:spcPct val="0"/>
                  </a:spcAft>
                  <a:buFont typeface="Arial" panose="020B0604020202020204" pitchFamily="34" charset="0"/>
                  <a:buChar char="•"/>
                  <a:defRPr sz="2300">
                    <a:solidFill>
                      <a:schemeClr val="bg1"/>
                    </a:solidFill>
                    <a:latin typeface="+mn-lt"/>
                    <a:ea typeface="+mn-ea"/>
                    <a:cs typeface="+mn-cs"/>
                  </a:defRPr>
                </a:lvl1pPr>
                <a:lvl2pPr marL="519430"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2pPr>
                <a:lvl3pPr marL="713105" indent="-192405"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3pPr>
                <a:lvl4pPr marL="954405" indent="-2413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4pPr>
                <a:lvl5pPr marL="1184275"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5pPr>
                <a:lvl6pPr marL="1641475"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6pPr>
                <a:lvl7pPr marL="2098675"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7pPr>
                <a:lvl8pPr marL="2555875"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8pPr>
                <a:lvl9pPr marL="3013075" indent="-228600" algn="l" defTabSz="913130" rtl="0" eaLnBrk="0" fontAlgn="base" hangingPunct="0">
                  <a:lnSpc>
                    <a:spcPct val="90000"/>
                  </a:lnSpc>
                  <a:spcBef>
                    <a:spcPct val="20000"/>
                  </a:spcBef>
                  <a:spcAft>
                    <a:spcPct val="0"/>
                  </a:spcAft>
                  <a:buFont typeface="Arial" panose="020B0604020202020204" pitchFamily="34" charset="0"/>
                  <a:buChar char="•"/>
                  <a:defRPr sz="2000">
                    <a:solidFill>
                      <a:schemeClr val="bg1"/>
                    </a:solidFill>
                    <a:latin typeface="+mn-lt"/>
                  </a:defRPr>
                </a:lvl9pPr>
              </a:lstStyle>
              <a:p>
                <a:pPr lvl="0" eaLnBrk="1" hangingPunct="1">
                  <a:lnSpc>
                    <a:spcPct val="100000"/>
                  </a:lnSpc>
                  <a:buSzPct val="70000"/>
                  <a:buFont typeface="Wingdings" panose="05000000000000000000" pitchFamily="2" charset="2"/>
                  <a:buChar char="n"/>
                </a:pPr>
                <a:r>
                  <a:rPr lang="zh-CN" altLang="en-US" sz="1800" kern="0" dirty="0">
                    <a:solidFill>
                      <a:srgbClr val="000000"/>
                    </a:solidFill>
                    <a:ea typeface="宋体" panose="02010600030101010101" pitchFamily="2" charset="-122"/>
                  </a:rPr>
                  <a:t>溢流节流阀由</a:t>
                </a:r>
                <a:r>
                  <a:rPr lang="zh-CN" altLang="en-US" sz="1800" b="1" kern="0" dirty="0">
                    <a:solidFill>
                      <a:srgbClr val="C00000"/>
                    </a:solidFill>
                    <a:ea typeface="宋体" panose="02010600030101010101" pitchFamily="2" charset="-122"/>
                  </a:rPr>
                  <a:t>溢流阀和节流阀并联而成</a:t>
                </a:r>
                <a:r>
                  <a:rPr lang="zh-CN" altLang="en-US" sz="1800" kern="0" dirty="0">
                    <a:solidFill>
                      <a:srgbClr val="000000"/>
                    </a:solidFill>
                    <a:ea typeface="宋体" panose="02010600030101010101" pitchFamily="2" charset="-122"/>
                  </a:rPr>
                  <a:t>，利用溢流阀保持节流阀进出压差恒定，利用节流阀进行流量调定</a:t>
                </a:r>
                <a:r>
                  <a:rPr lang="zh-CN" altLang="en-US" sz="1800" kern="0" dirty="0" smtClean="0">
                    <a:solidFill>
                      <a:srgbClr val="000000"/>
                    </a:solidFill>
                    <a:ea typeface="宋体" panose="02010600030101010101" pitchFamily="2" charset="-122"/>
                  </a:rPr>
                  <a:t>。</a:t>
                </a:r>
                <a:endParaRPr lang="en-US" altLang="zh-CN" sz="1800" kern="0" dirty="0" smtClean="0"/>
              </a:p>
              <a:p>
                <a:pPr eaLnBrk="1" hangingPunct="1">
                  <a:lnSpc>
                    <a:spcPct val="100000"/>
                  </a:lnSpc>
                  <a:buSzPct val="70000"/>
                  <a:buFont typeface="Wingdings" panose="05000000000000000000" pitchFamily="2" charset="2"/>
                  <a:buChar char="n"/>
                </a:pPr>
                <a:r>
                  <a:rPr lang="zh-CN" altLang="en-US" sz="1800" kern="0" dirty="0" smtClean="0"/>
                  <a:t>进口压力</a:t>
                </a:r>
                <a14:m>
                  <m:oMath xmlns:m="http://schemas.openxmlformats.org/officeDocument/2006/math">
                    <m:r>
                      <a:rPr lang="en-US" altLang="zh-CN" sz="1800" i="1" kern="0" dirty="0" smtClean="0">
                        <a:latin typeface="Cambria Math" panose="02040503050406030204"/>
                      </a:rPr>
                      <m:t>𝑝</m:t>
                    </m:r>
                    <m:r>
                      <a:rPr lang="en-US" altLang="zh-CN" sz="1800" i="1" kern="0" baseline="-25000" dirty="0" smtClean="0">
                        <a:latin typeface="Cambria Math" panose="02040503050406030204"/>
                      </a:rPr>
                      <m:t>1</m:t>
                    </m:r>
                  </m:oMath>
                </a14:m>
                <a:r>
                  <a:rPr lang="zh-CN" altLang="en-US" sz="1800" kern="0" dirty="0" smtClean="0"/>
                  <a:t>作用在溢流阀</a:t>
                </a:r>
                <a:r>
                  <a:rPr lang="en-US" altLang="zh-CN" sz="1800" kern="0" dirty="0" smtClean="0"/>
                  <a:t>3</a:t>
                </a:r>
                <a:r>
                  <a:rPr lang="zh-CN" altLang="en-US" sz="1800" kern="0" dirty="0" smtClean="0"/>
                  <a:t>阀芯下端面和中间腔室端面</a:t>
                </a:r>
                <a:r>
                  <a:rPr lang="zh-CN" altLang="en-US" sz="1800" kern="0" dirty="0"/>
                  <a:t>；</a:t>
                </a:r>
                <a:r>
                  <a:rPr lang="zh-CN" altLang="en-US" sz="1800" kern="0" dirty="0" smtClean="0"/>
                  <a:t>出口压力</a:t>
                </a:r>
                <a14:m>
                  <m:oMath xmlns:m="http://schemas.openxmlformats.org/officeDocument/2006/math">
                    <m:r>
                      <a:rPr lang="en-US" altLang="zh-CN" sz="1800" i="1" kern="0" dirty="0" smtClean="0">
                        <a:latin typeface="Cambria Math" panose="02040503050406030204"/>
                      </a:rPr>
                      <m:t>𝑝</m:t>
                    </m:r>
                    <m:r>
                      <a:rPr lang="en-US" altLang="zh-CN" sz="1800" i="1" kern="0" baseline="-25000" dirty="0" smtClean="0">
                        <a:latin typeface="Cambria Math" panose="02040503050406030204"/>
                      </a:rPr>
                      <m:t>2</m:t>
                    </m:r>
                  </m:oMath>
                </a14:m>
                <a:r>
                  <a:rPr lang="zh-CN" altLang="en-US" sz="1800" kern="0" dirty="0" smtClean="0"/>
                  <a:t>作用在阀芯上端面。</a:t>
                </a:r>
                <a:endParaRPr lang="en-US" altLang="zh-CN" sz="1800" kern="0" dirty="0" smtClean="0"/>
              </a:p>
              <a:p>
                <a:pPr eaLnBrk="1" hangingPunct="1">
                  <a:lnSpc>
                    <a:spcPct val="100000"/>
                  </a:lnSpc>
                  <a:buSzPct val="70000"/>
                  <a:buFont typeface="Wingdings" panose="05000000000000000000" pitchFamily="2" charset="2"/>
                  <a:buChar char="n"/>
                </a:pPr>
                <a:r>
                  <a:rPr lang="zh-CN" altLang="en-US" sz="1800" kern="0" dirty="0" smtClean="0"/>
                  <a:t>进口油液一部分通过溢流口回油箱，一部分经节流口进入液压缸。</a:t>
                </a:r>
                <a:r>
                  <a:rPr lang="zh-CN" altLang="en-US" sz="1800" b="1" kern="0" dirty="0" smtClean="0">
                    <a:solidFill>
                      <a:srgbClr val="C00000"/>
                    </a:solidFill>
                  </a:rPr>
                  <a:t>安全阀</a:t>
                </a:r>
                <a:r>
                  <a:rPr lang="en-US" altLang="zh-CN" sz="1800" b="1" kern="0" dirty="0" smtClean="0">
                    <a:solidFill>
                      <a:srgbClr val="C00000"/>
                    </a:solidFill>
                  </a:rPr>
                  <a:t>2</a:t>
                </a:r>
                <a:r>
                  <a:rPr lang="zh-CN" altLang="en-US" sz="1800" b="1" kern="0" dirty="0" smtClean="0">
                    <a:solidFill>
                      <a:srgbClr val="C00000"/>
                    </a:solidFill>
                  </a:rPr>
                  <a:t>起过载保护作用</a:t>
                </a:r>
                <a:r>
                  <a:rPr lang="zh-CN" altLang="en-US" sz="1800" kern="0" dirty="0" smtClean="0"/>
                  <a:t>，大于其调定值，油液回油箱。</a:t>
                </a:r>
                <a:endParaRPr lang="en-US" altLang="zh-CN" sz="1800" kern="0" dirty="0" smtClean="0"/>
              </a:p>
              <a:p>
                <a:pPr eaLnBrk="1" hangingPunct="1">
                  <a:lnSpc>
                    <a:spcPct val="100000"/>
                  </a:lnSpc>
                  <a:buSzPct val="70000"/>
                  <a:buFont typeface="Wingdings" panose="05000000000000000000" pitchFamily="2" charset="2"/>
                  <a:buChar char="n"/>
                </a:pPr>
                <a:r>
                  <a:rPr lang="zh-CN" altLang="en-US" sz="1800" kern="0" dirty="0" smtClean="0"/>
                  <a:t>进口压力</a:t>
                </a:r>
                <a14:m>
                  <m:oMath xmlns:m="http://schemas.openxmlformats.org/officeDocument/2006/math">
                    <m:r>
                      <a:rPr lang="en-US" altLang="zh-CN" sz="1800" i="1" kern="0" dirty="0" smtClean="0">
                        <a:latin typeface="Cambria Math" panose="02040503050406030204"/>
                      </a:rPr>
                      <m:t>𝑝</m:t>
                    </m:r>
                    <m:r>
                      <a:rPr lang="en-US" altLang="zh-CN" sz="1800" i="1" kern="0" baseline="-25000" dirty="0">
                        <a:latin typeface="Cambria Math" panose="02040503050406030204"/>
                      </a:rPr>
                      <m:t>1</m:t>
                    </m:r>
                  </m:oMath>
                </a14:m>
                <a:r>
                  <a:rPr lang="zh-CN" altLang="en-US" sz="1800" kern="0" dirty="0" smtClean="0"/>
                  <a:t>和出口压力</a:t>
                </a:r>
                <a14:m>
                  <m:oMath xmlns:m="http://schemas.openxmlformats.org/officeDocument/2006/math">
                    <m:r>
                      <a:rPr lang="en-US" altLang="zh-CN" sz="1800" i="1" kern="0" dirty="0" smtClean="0">
                        <a:latin typeface="Cambria Math" panose="02040503050406030204"/>
                      </a:rPr>
                      <m:t>𝑝</m:t>
                    </m:r>
                    <m:r>
                      <a:rPr lang="en-US" altLang="zh-CN" sz="1800" i="1" kern="0" dirty="0" smtClean="0">
                        <a:latin typeface="Cambria Math" panose="02040503050406030204"/>
                      </a:rPr>
                      <m:t>2</m:t>
                    </m:r>
                  </m:oMath>
                </a14:m>
                <a:r>
                  <a:rPr lang="zh-CN" altLang="en-US" sz="1800" kern="0" dirty="0" smtClean="0"/>
                  <a:t>和溢流阀阀芯弹簧力维持平衡，即</a:t>
                </a:r>
                <a14:m>
                  <m:oMath xmlns:m="http://schemas.openxmlformats.org/officeDocument/2006/math">
                    <m:r>
                      <a:rPr lang="en-US" altLang="zh-CN" sz="1800" i="1" kern="0" dirty="0" smtClean="0">
                        <a:latin typeface="Cambria Math" panose="02040503050406030204"/>
                      </a:rPr>
                      <m:t>(</m:t>
                    </m:r>
                    <m:r>
                      <a:rPr lang="en-US" altLang="zh-CN" sz="1800" i="1" kern="0" dirty="0" smtClean="0">
                        <a:latin typeface="Cambria Math" panose="02040503050406030204"/>
                      </a:rPr>
                      <m:t>𝑝</m:t>
                    </m:r>
                    <m:r>
                      <a:rPr lang="en-US" altLang="zh-CN" sz="1800" i="1" kern="0" baseline="-25000" dirty="0">
                        <a:latin typeface="Cambria Math" panose="02040503050406030204"/>
                      </a:rPr>
                      <m:t>1</m:t>
                    </m:r>
                    <m:r>
                      <a:rPr lang="zh-CN" altLang="en-US" sz="1800" i="1" kern="0" dirty="0" smtClean="0">
                        <a:latin typeface="Cambria Math" panose="02040503050406030204"/>
                      </a:rPr>
                      <m:t>－</m:t>
                    </m:r>
                    <m:r>
                      <a:rPr lang="en-US" altLang="zh-CN" sz="1800" i="1" kern="0" dirty="0" smtClean="0">
                        <a:latin typeface="Cambria Math" panose="02040503050406030204"/>
                      </a:rPr>
                      <m:t>𝑝</m:t>
                    </m:r>
                    <m:r>
                      <a:rPr lang="en-US" altLang="zh-CN" sz="1800" i="1" kern="0" baseline="-25000" dirty="0">
                        <a:latin typeface="Cambria Math" panose="02040503050406030204"/>
                      </a:rPr>
                      <m:t>2</m:t>
                    </m:r>
                    <m:r>
                      <a:rPr lang="en-US" altLang="zh-CN" sz="1800" i="1" kern="0" dirty="0" smtClean="0">
                        <a:latin typeface="Cambria Math" panose="02040503050406030204"/>
                      </a:rPr>
                      <m:t>)</m:t>
                    </m:r>
                    <m:r>
                      <a:rPr lang="en-US" altLang="zh-CN" sz="1800" i="1" kern="0" dirty="0" smtClean="0">
                        <a:latin typeface="Cambria Math" panose="02040503050406030204"/>
                      </a:rPr>
                      <m:t>𝐴</m:t>
                    </m:r>
                    <m:r>
                      <a:rPr lang="en-US" altLang="zh-CN" sz="1800" i="1" kern="0" dirty="0" smtClean="0">
                        <a:latin typeface="Cambria Math" panose="02040503050406030204"/>
                      </a:rPr>
                      <m:t>=</m:t>
                    </m:r>
                    <m:r>
                      <a:rPr lang="en-US" altLang="zh-CN" sz="1800" i="1" kern="0" dirty="0" smtClean="0">
                        <a:latin typeface="Cambria Math" panose="02040503050406030204"/>
                      </a:rPr>
                      <m:t>𝑘</m:t>
                    </m:r>
                    <m:r>
                      <a:rPr lang="en-US" altLang="zh-CN" sz="1800" i="1" kern="0" dirty="0" smtClean="0">
                        <a:latin typeface="Cambria Math" panose="02040503050406030204"/>
                      </a:rPr>
                      <m:t>(</m:t>
                    </m:r>
                    <m:r>
                      <a:rPr lang="en-US" altLang="zh-CN" sz="1800" i="1" kern="0" dirty="0" smtClean="0">
                        <a:latin typeface="Cambria Math" panose="02040503050406030204"/>
                      </a:rPr>
                      <m:t>𝑥</m:t>
                    </m:r>
                    <m:r>
                      <a:rPr lang="en-US" altLang="zh-CN" sz="1800" i="1" kern="0" dirty="0" smtClean="0">
                        <a:latin typeface="Cambria Math" panose="02040503050406030204"/>
                      </a:rPr>
                      <m:t>+</m:t>
                    </m:r>
                    <m:r>
                      <a:rPr lang="en-US" altLang="zh-CN" sz="1800" i="1" kern="0" dirty="0" smtClean="0">
                        <a:latin typeface="Cambria Math" panose="02040503050406030204"/>
                      </a:rPr>
                      <m:t>𝑥</m:t>
                    </m:r>
                    <m:r>
                      <a:rPr lang="en-US" altLang="zh-CN" sz="1800" i="1" kern="0" baseline="-25000" dirty="0">
                        <a:latin typeface="Cambria Math" panose="02040503050406030204"/>
                      </a:rPr>
                      <m:t>0</m:t>
                    </m:r>
                    <m:r>
                      <a:rPr lang="en-US" altLang="zh-CN" sz="1800" i="1" kern="0" dirty="0" smtClean="0">
                        <a:latin typeface="Cambria Math" panose="02040503050406030204"/>
                      </a:rPr>
                      <m:t>)</m:t>
                    </m:r>
                  </m:oMath>
                </a14:m>
                <a:r>
                  <a:rPr lang="zh-CN" altLang="en-US" sz="1800" kern="0" dirty="0" smtClean="0"/>
                  <a:t>，而</a:t>
                </a:r>
                <a14:m>
                  <m:oMath xmlns:m="http://schemas.openxmlformats.org/officeDocument/2006/math">
                    <m:r>
                      <a:rPr lang="en-US" altLang="zh-CN" sz="1800" i="1" kern="0" dirty="0" smtClean="0">
                        <a:latin typeface="Cambria Math" panose="02040503050406030204"/>
                      </a:rPr>
                      <m:t>𝑥</m:t>
                    </m:r>
                    <m:r>
                      <a:rPr lang="en-US" altLang="zh-CN" sz="1800" i="1" kern="0" baseline="-25000" dirty="0">
                        <a:latin typeface="Cambria Math" panose="02040503050406030204"/>
                      </a:rPr>
                      <m:t>0</m:t>
                    </m:r>
                  </m:oMath>
                </a14:m>
                <a:r>
                  <a:rPr lang="zh-CN" altLang="en-US" sz="1800" kern="0" dirty="0" smtClean="0"/>
                  <a:t>远大于</a:t>
                </a:r>
                <a14:m>
                  <m:oMath xmlns:m="http://schemas.openxmlformats.org/officeDocument/2006/math">
                    <m:r>
                      <a:rPr lang="en-US" altLang="zh-CN" sz="1800" i="1" kern="0" dirty="0" smtClean="0">
                        <a:latin typeface="Cambria Math" panose="02040503050406030204"/>
                      </a:rPr>
                      <m:t>𝑥</m:t>
                    </m:r>
                  </m:oMath>
                </a14:m>
                <a:r>
                  <a:rPr lang="zh-CN" altLang="en-US" sz="1800" kern="0" dirty="0" smtClean="0"/>
                  <a:t>，所以</a:t>
                </a:r>
                <a14:m>
                  <m:oMath xmlns:m="http://schemas.openxmlformats.org/officeDocument/2006/math">
                    <m:r>
                      <a:rPr lang="en-US" altLang="zh-CN" sz="1800" i="1" kern="0" dirty="0" smtClean="0">
                        <a:latin typeface="Cambria Math" panose="02040503050406030204"/>
                      </a:rPr>
                      <m:t>𝑝</m:t>
                    </m:r>
                    <m:r>
                      <a:rPr lang="en-US" altLang="zh-CN" sz="1800" i="1" kern="0" baseline="-25000" dirty="0">
                        <a:latin typeface="Cambria Math" panose="02040503050406030204"/>
                      </a:rPr>
                      <m:t>1</m:t>
                    </m:r>
                    <m:r>
                      <a:rPr lang="zh-CN" altLang="en-US" sz="1800" i="1" kern="0" dirty="0" smtClean="0">
                        <a:latin typeface="Cambria Math" panose="02040503050406030204"/>
                      </a:rPr>
                      <m:t>－</m:t>
                    </m:r>
                    <m:r>
                      <a:rPr lang="en-US" altLang="zh-CN" sz="1800" i="1" kern="0" dirty="0" smtClean="0">
                        <a:latin typeface="Cambria Math" panose="02040503050406030204"/>
                      </a:rPr>
                      <m:t>𝑝</m:t>
                    </m:r>
                    <m:r>
                      <a:rPr lang="en-US" altLang="zh-CN" sz="1800" i="1" kern="0" baseline="-25000" dirty="0">
                        <a:latin typeface="Cambria Math" panose="02040503050406030204"/>
                      </a:rPr>
                      <m:t>2</m:t>
                    </m:r>
                    <m:r>
                      <a:rPr lang="zh-CN" altLang="en-US" sz="1800" i="1" kern="0" dirty="0" smtClean="0">
                        <a:latin typeface="Cambria Math" panose="02040503050406030204"/>
                      </a:rPr>
                      <m:t>＝</m:t>
                    </m:r>
                    <m:r>
                      <a:rPr lang="en-US" altLang="zh-CN" sz="1800" i="1" kern="0" dirty="0" smtClean="0">
                        <a:latin typeface="Cambria Math" panose="02040503050406030204"/>
                      </a:rPr>
                      <m:t>𝑘𝑥</m:t>
                    </m:r>
                    <m:r>
                      <a:rPr lang="en-US" altLang="zh-CN" sz="1800" i="1" kern="0" baseline="-25000" dirty="0">
                        <a:latin typeface="Cambria Math" panose="02040503050406030204"/>
                      </a:rPr>
                      <m:t>0</m:t>
                    </m:r>
                    <m:r>
                      <a:rPr lang="en-US" altLang="zh-CN" sz="1800" i="1" kern="0" dirty="0" smtClean="0">
                        <a:latin typeface="Cambria Math" panose="02040503050406030204"/>
                      </a:rPr>
                      <m:t>/</m:t>
                    </m:r>
                    <m:r>
                      <a:rPr lang="en-US" altLang="zh-CN" sz="1800" i="1" kern="0" dirty="0" smtClean="0">
                        <a:latin typeface="Cambria Math" panose="02040503050406030204"/>
                      </a:rPr>
                      <m:t>𝐴</m:t>
                    </m:r>
                  </m:oMath>
                </a14:m>
                <a:r>
                  <a:rPr lang="zh-CN" altLang="en-US" sz="1800" kern="0" dirty="0" smtClean="0"/>
                  <a:t>，此时节流口输出的流量基本恒定。</a:t>
                </a:r>
                <a:endParaRPr lang="zh-CN" altLang="en-US" sz="1800" kern="0" dirty="0" smtClean="0"/>
              </a:p>
            </p:txBody>
          </p:sp>
        </mc:Choice>
        <mc:Fallback>
          <p:sp>
            <p:nvSpPr>
              <p:cNvPr id="13" name="Rectangle 3"/>
              <p:cNvSpPr txBox="1">
                <a:spLocks noRot="1" noChangeAspect="1" noMove="1" noResize="1" noEditPoints="1" noAdjustHandles="1" noChangeArrowheads="1" noChangeShapeType="1" noTextEdit="1"/>
              </p:cNvSpPr>
              <p:nvPr/>
            </p:nvSpPr>
            <p:spPr bwMode="auto">
              <a:xfrm>
                <a:off x="3523371" y="927794"/>
                <a:ext cx="5435512" cy="3582519"/>
              </a:xfrm>
              <a:prstGeom prst="rect">
                <a:avLst/>
              </a:prstGeom>
              <a:blipFill rotWithShape="1">
                <a:blip r:embed="rId3"/>
                <a:stretch>
                  <a:fillRect l="-7" t="-2" r="6" b="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 name="Text Box 5"/>
          <p:cNvSpPr txBox="1">
            <a:spLocks noChangeArrowheads="1"/>
          </p:cNvSpPr>
          <p:nvPr/>
        </p:nvSpPr>
        <p:spPr bwMode="auto">
          <a:xfrm>
            <a:off x="385843" y="5009941"/>
            <a:ext cx="147232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2"/>
                </a:solidFill>
                <a:latin typeface="Tahoma" panose="020B0604030504040204" pitchFamily="34" charset="0"/>
                <a:ea typeface="宋体" panose="02010600030101010101" pitchFamily="2" charset="-122"/>
              </a:defRPr>
            </a:lvl1pPr>
            <a:lvl2pPr marL="742950" indent="-285750" eaLnBrk="0" hangingPunct="0">
              <a:defRPr kumimoji="1" sz="2400">
                <a:solidFill>
                  <a:schemeClr val="tx2"/>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2"/>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2"/>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2"/>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9pPr>
          </a:lstStyle>
          <a:p>
            <a:pPr eaLnBrk="1" hangingPunct="1"/>
            <a:r>
              <a:rPr kumimoji="0" lang="en-US" altLang="zh-CN" sz="2000" b="1" dirty="0">
                <a:solidFill>
                  <a:srgbClr val="0070C0"/>
                </a:solidFill>
                <a:latin typeface="Verdana" panose="020B0604030504040204" pitchFamily="34" charset="0"/>
                <a:cs typeface="+mn-cs"/>
              </a:rPr>
              <a:t>1-</a:t>
            </a:r>
            <a:r>
              <a:rPr kumimoji="0" lang="zh-CN" altLang="en-US" sz="2000" b="1" dirty="0">
                <a:solidFill>
                  <a:srgbClr val="0070C0"/>
                </a:solidFill>
                <a:latin typeface="Verdana" panose="020B0604030504040204" pitchFamily="34" charset="0"/>
                <a:cs typeface="+mn-cs"/>
              </a:rPr>
              <a:t>液压缸</a:t>
            </a:r>
            <a:endParaRPr kumimoji="0" lang="zh-CN" altLang="en-US" sz="2000" b="1" dirty="0">
              <a:solidFill>
                <a:srgbClr val="0070C0"/>
              </a:solidFill>
              <a:latin typeface="Verdana" panose="020B0604030504040204" pitchFamily="34" charset="0"/>
              <a:cs typeface="+mn-cs"/>
            </a:endParaRPr>
          </a:p>
          <a:p>
            <a:pPr eaLnBrk="1" hangingPunct="1"/>
            <a:r>
              <a:rPr kumimoji="0" lang="en-US" altLang="zh-CN" sz="2000" b="1" dirty="0">
                <a:solidFill>
                  <a:srgbClr val="0070C0"/>
                </a:solidFill>
                <a:latin typeface="Verdana" panose="020B0604030504040204" pitchFamily="34" charset="0"/>
                <a:cs typeface="+mn-cs"/>
              </a:rPr>
              <a:t>2-</a:t>
            </a:r>
            <a:r>
              <a:rPr kumimoji="0" lang="zh-CN" altLang="en-US" sz="2000" b="1" dirty="0">
                <a:solidFill>
                  <a:srgbClr val="0070C0"/>
                </a:solidFill>
                <a:latin typeface="Verdana" panose="020B0604030504040204" pitchFamily="34" charset="0"/>
                <a:cs typeface="+mn-cs"/>
              </a:rPr>
              <a:t>安全阀</a:t>
            </a:r>
            <a:endParaRPr kumimoji="0" lang="zh-CN" altLang="en-US" sz="2000" b="1" dirty="0">
              <a:solidFill>
                <a:srgbClr val="0070C0"/>
              </a:solidFill>
              <a:latin typeface="Verdana" panose="020B0604030504040204" pitchFamily="34" charset="0"/>
              <a:cs typeface="+mn-cs"/>
            </a:endParaRPr>
          </a:p>
          <a:p>
            <a:pPr eaLnBrk="1" hangingPunct="1"/>
            <a:r>
              <a:rPr kumimoji="0" lang="en-US" altLang="zh-CN" sz="2000" b="1" dirty="0">
                <a:solidFill>
                  <a:srgbClr val="0070C0"/>
                </a:solidFill>
                <a:latin typeface="Verdana" panose="020B0604030504040204" pitchFamily="34" charset="0"/>
                <a:cs typeface="+mn-cs"/>
              </a:rPr>
              <a:t>3-</a:t>
            </a:r>
            <a:r>
              <a:rPr kumimoji="0" lang="zh-CN" altLang="en-US" sz="2000" b="1" dirty="0">
                <a:solidFill>
                  <a:srgbClr val="0070C0"/>
                </a:solidFill>
                <a:latin typeface="Verdana" panose="020B0604030504040204" pitchFamily="34" charset="0"/>
                <a:cs typeface="+mn-cs"/>
              </a:rPr>
              <a:t>溢流阀</a:t>
            </a:r>
            <a:endParaRPr kumimoji="0" lang="zh-CN" altLang="en-US" sz="2000" b="1" dirty="0">
              <a:solidFill>
                <a:srgbClr val="0070C0"/>
              </a:solidFill>
              <a:latin typeface="Verdana" panose="020B0604030504040204" pitchFamily="34" charset="0"/>
              <a:cs typeface="+mn-cs"/>
            </a:endParaRPr>
          </a:p>
          <a:p>
            <a:pPr eaLnBrk="1" hangingPunct="1"/>
            <a:r>
              <a:rPr kumimoji="0" lang="en-US" altLang="zh-CN" sz="2000" b="1" dirty="0">
                <a:solidFill>
                  <a:srgbClr val="0070C0"/>
                </a:solidFill>
                <a:latin typeface="Verdana" panose="020B0604030504040204" pitchFamily="34" charset="0"/>
                <a:cs typeface="+mn-cs"/>
              </a:rPr>
              <a:t>4-</a:t>
            </a:r>
            <a:r>
              <a:rPr kumimoji="0" lang="zh-CN" altLang="en-US" sz="2000" b="1" dirty="0" smtClean="0">
                <a:solidFill>
                  <a:srgbClr val="0070C0"/>
                </a:solidFill>
                <a:latin typeface="Verdana" panose="020B0604030504040204" pitchFamily="34" charset="0"/>
                <a:cs typeface="+mn-cs"/>
              </a:rPr>
              <a:t>节流阀</a:t>
            </a:r>
            <a:endParaRPr kumimoji="0" lang="en-US" altLang="zh-CN" sz="2000" b="1" dirty="0">
              <a:solidFill>
                <a:srgbClr val="0070C0"/>
              </a:solidFill>
              <a:latin typeface="Verdana" panose="020B0604030504040204" pitchFamily="34" charset="0"/>
              <a:cs typeface="+mn-cs"/>
            </a:endParaRPr>
          </a:p>
        </p:txBody>
      </p:sp>
      <p:sp>
        <p:nvSpPr>
          <p:cNvPr id="15" name="Text Box 14"/>
          <p:cNvSpPr txBox="1">
            <a:spLocks noChangeArrowheads="1"/>
          </p:cNvSpPr>
          <p:nvPr/>
        </p:nvSpPr>
        <p:spPr bwMode="auto">
          <a:xfrm>
            <a:off x="4572000" y="633338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2"/>
                </a:solidFill>
                <a:latin typeface="Tahoma" panose="020B0604030504040204" pitchFamily="34" charset="0"/>
                <a:ea typeface="宋体" panose="02010600030101010101" pitchFamily="2" charset="-122"/>
              </a:defRPr>
            </a:lvl1pPr>
            <a:lvl2pPr marL="742950" indent="-285750" eaLnBrk="0" hangingPunct="0">
              <a:defRPr kumimoji="1" sz="2400">
                <a:solidFill>
                  <a:schemeClr val="tx2"/>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2"/>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2"/>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2"/>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9pPr>
          </a:lstStyle>
          <a:p>
            <a:pPr eaLnBrk="1" hangingPunct="1"/>
            <a:r>
              <a:rPr kumimoji="0" lang="zh-CN" altLang="en-US" sz="1800" b="1" dirty="0">
                <a:solidFill>
                  <a:srgbClr val="000000"/>
                </a:solidFill>
                <a:latin typeface="Verdana" panose="020B0604030504040204" pitchFamily="34" charset="0"/>
                <a:cs typeface="+mn-cs"/>
              </a:rPr>
              <a:t>详细图形符号</a:t>
            </a:r>
            <a:endParaRPr kumimoji="0" lang="zh-CN" altLang="en-US" sz="1800" b="1" dirty="0">
              <a:solidFill>
                <a:srgbClr val="000000"/>
              </a:solidFill>
              <a:latin typeface="Verdana" panose="020B0604030504040204" pitchFamily="34" charset="0"/>
              <a:cs typeface="+mn-cs"/>
            </a:endParaRPr>
          </a:p>
        </p:txBody>
      </p:sp>
      <p:sp>
        <p:nvSpPr>
          <p:cNvPr id="16" name="Text Box 15"/>
          <p:cNvSpPr txBox="1">
            <a:spLocks noChangeArrowheads="1"/>
          </p:cNvSpPr>
          <p:nvPr/>
        </p:nvSpPr>
        <p:spPr bwMode="auto">
          <a:xfrm>
            <a:off x="6875969" y="6328903"/>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2"/>
                </a:solidFill>
                <a:latin typeface="Tahoma" panose="020B0604030504040204" pitchFamily="34" charset="0"/>
                <a:ea typeface="宋体" panose="02010600030101010101" pitchFamily="2" charset="-122"/>
              </a:defRPr>
            </a:lvl1pPr>
            <a:lvl2pPr marL="742950" indent="-285750" eaLnBrk="0" hangingPunct="0">
              <a:defRPr kumimoji="1" sz="2400">
                <a:solidFill>
                  <a:schemeClr val="tx2"/>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2"/>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2"/>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2"/>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2"/>
                </a:solidFill>
                <a:latin typeface="Tahoma" panose="020B0604030504040204" pitchFamily="34" charset="0"/>
                <a:ea typeface="宋体" panose="02010600030101010101" pitchFamily="2" charset="-122"/>
              </a:defRPr>
            </a:lvl9pPr>
          </a:lstStyle>
          <a:p>
            <a:pPr eaLnBrk="1" hangingPunct="1"/>
            <a:r>
              <a:rPr kumimoji="0" lang="zh-CN" altLang="en-US" sz="1800" b="1" dirty="0">
                <a:solidFill>
                  <a:srgbClr val="000000"/>
                </a:solidFill>
                <a:latin typeface="Verdana" panose="020B0604030504040204" pitchFamily="34" charset="0"/>
                <a:cs typeface="+mn-cs"/>
              </a:rPr>
              <a:t>简化图形符号</a:t>
            </a:r>
            <a:endParaRPr kumimoji="0" lang="zh-CN" altLang="en-US" sz="1800" b="1" dirty="0">
              <a:solidFill>
                <a:srgbClr val="000000"/>
              </a:solidFill>
              <a:latin typeface="Verdana" panose="020B0604030504040204" pitchFamily="34" charset="0"/>
              <a:cs typeface="+mn-cs"/>
            </a:endParaRP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44691"/>
            <a:ext cx="9144000" cy="0"/>
          </a:xfrm>
          <a:prstGeom prst="line">
            <a:avLst/>
          </a:prstGeom>
          <a:ln w="381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圆角矩形 3"/>
          <p:cNvSpPr/>
          <p:nvPr/>
        </p:nvSpPr>
        <p:spPr>
          <a:xfrm>
            <a:off x="519280" y="192947"/>
            <a:ext cx="5501375" cy="848833"/>
          </a:xfrm>
          <a:prstGeom prst="roundRect">
            <a:avLst/>
          </a:prstGeom>
          <a:solidFill>
            <a:srgbClr val="23A5C3"/>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330" indent="-59055" defTabSz="1219200"/>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调压回路</a:t>
            </a:r>
            <a:endPar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marL="227330" indent="-59055" defTabSz="1219200"/>
            <a:r>
              <a:rPr lang="en-US" altLang="zh-CN" sz="2000" dirty="0" smtClean="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One-stage Pressure Regulating Circuit</a:t>
            </a:r>
            <a:endParaRPr lang="zh-CN" altLang="en-US" sz="2000" dirty="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nvGrpSpPr>
          <p:cNvPr id="8" name="组合 7"/>
          <p:cNvGrpSpPr/>
          <p:nvPr/>
        </p:nvGrpSpPr>
        <p:grpSpPr>
          <a:xfrm>
            <a:off x="3381249" y="1693534"/>
            <a:ext cx="3356043" cy="3694910"/>
            <a:chOff x="87549" y="1648269"/>
            <a:chExt cx="3356043" cy="3694910"/>
          </a:xfrm>
        </p:grpSpPr>
        <p:pic>
          <p:nvPicPr>
            <p:cNvPr id="1945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r="51816"/>
            <a:stretch>
              <a:fillRect/>
            </a:stretch>
          </p:blipFill>
          <p:spPr bwMode="auto">
            <a:xfrm>
              <a:off x="87549" y="1648269"/>
              <a:ext cx="3356043" cy="3694910"/>
            </a:xfrm>
            <a:prstGeom prst="rect">
              <a:avLst/>
            </a:prstGeom>
            <a:noFill/>
            <a:ln w="9525">
              <a:solidFill>
                <a:srgbClr val="00B0F0"/>
              </a:solidFill>
              <a:miter lim="800000"/>
              <a:headEnd/>
              <a:tailEnd/>
            </a:ln>
            <a:extLst>
              <a:ext uri="{909E8E84-426E-40DD-AFC4-6F175D3DCCD1}">
                <a14:hiddenFill xmlns:a14="http://schemas.microsoft.com/office/drawing/2010/main">
                  <a:solidFill>
                    <a:schemeClr val="accent1"/>
                  </a:solidFill>
                </a14:hiddenFill>
              </a:ext>
            </a:extLst>
          </p:spPr>
        </p:pic>
        <p:cxnSp>
          <p:nvCxnSpPr>
            <p:cNvPr id="7" name="直接箭头连接符 6"/>
            <p:cNvCxnSpPr/>
            <p:nvPr/>
          </p:nvCxnSpPr>
          <p:spPr>
            <a:xfrm flipV="1">
              <a:off x="1682886" y="4085614"/>
              <a:ext cx="642025" cy="737933"/>
            </a:xfrm>
            <a:prstGeom prst="straightConnector1">
              <a:avLst/>
            </a:prstGeom>
            <a:ln w="28575">
              <a:solidFill>
                <a:srgbClr val="FF0000"/>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grpSp>
      <p:pic>
        <p:nvPicPr>
          <p:cNvPr id="6" name="视频动画-单级调压回路-变量泵.avi">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rotWithShape="1">
          <a:blip r:embed="rId4"/>
          <a:srcRect l="10614" t="3369" r="33303"/>
          <a:stretch>
            <a:fillRect/>
          </a:stretch>
        </p:blipFill>
        <p:spPr>
          <a:xfrm>
            <a:off x="6848273" y="2519466"/>
            <a:ext cx="2205109" cy="2849525"/>
          </a:xfrm>
          <a:prstGeom prst="rect">
            <a:avLst/>
          </a:prstGeom>
          <a:ln w="9525">
            <a:solidFill>
              <a:srgbClr val="00B0F0"/>
            </a:solidFill>
          </a:ln>
        </p:spPr>
      </p:pic>
      <p:pic>
        <p:nvPicPr>
          <p:cNvPr id="1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52654"/>
          <a:stretch>
            <a:fillRect/>
          </a:stretch>
        </p:blipFill>
        <p:spPr bwMode="auto">
          <a:xfrm>
            <a:off x="38912" y="1693534"/>
            <a:ext cx="3297676" cy="3694910"/>
          </a:xfrm>
          <a:prstGeom prst="rect">
            <a:avLst/>
          </a:prstGeom>
          <a:noFill/>
          <a:ln w="9525">
            <a:solidFill>
              <a:srgbClr val="00B0F0"/>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vol="80000">
                <p:cTn id="7" fill="hold" display="0">
                  <p:stCondLst>
                    <p:cond delay="indefinite"/>
                  </p:stCondLst>
                </p:cTn>
                <p:tgtEl>
                  <p:spTgt spid="6"/>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p:cNvCxnSpPr/>
          <p:nvPr/>
        </p:nvCxnSpPr>
        <p:spPr>
          <a:xfrm>
            <a:off x="0" y="644691"/>
            <a:ext cx="9144000" cy="0"/>
          </a:xfrm>
          <a:prstGeom prst="line">
            <a:avLst/>
          </a:prstGeom>
          <a:ln w="381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6" name="圆角矩形 5"/>
          <p:cNvSpPr/>
          <p:nvPr/>
        </p:nvSpPr>
        <p:spPr>
          <a:xfrm>
            <a:off x="519281" y="192947"/>
            <a:ext cx="5638328" cy="848833"/>
          </a:xfrm>
          <a:prstGeom prst="roundRect">
            <a:avLst/>
          </a:prstGeom>
          <a:solidFill>
            <a:srgbClr val="23A5C3"/>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7330" indent="-59055" defTabSz="1219200"/>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调压回路</a:t>
            </a:r>
            <a:r>
              <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多级调压回路</a:t>
            </a:r>
            <a:endPar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marL="227330" indent="-59055" defTabSz="1219200"/>
            <a:r>
              <a:rPr lang="en-US" altLang="zh-CN" sz="2000" dirty="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rPr>
              <a:t>Multistage Pressure Regulating Circuits</a:t>
            </a:r>
            <a:endParaRPr lang="zh-CN" altLang="en-US" sz="2000" dirty="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pic>
        <p:nvPicPr>
          <p:cNvPr id="9" name="Picture 28" descr="7z1"/>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30793" r="34604"/>
          <a:stretch>
            <a:fillRect/>
          </a:stretch>
        </p:blipFill>
        <p:spPr bwMode="auto">
          <a:xfrm>
            <a:off x="519281" y="1307633"/>
            <a:ext cx="3955443" cy="4302194"/>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
        <p:nvSpPr>
          <p:cNvPr id="3" name="矩形 2"/>
          <p:cNvSpPr/>
          <p:nvPr/>
        </p:nvSpPr>
        <p:spPr>
          <a:xfrm>
            <a:off x="519280" y="5747094"/>
            <a:ext cx="3955443" cy="646331"/>
          </a:xfrm>
          <a:prstGeom prst="rect">
            <a:avLst/>
          </a:prstGeom>
        </p:spPr>
        <p:txBody>
          <a:bodyPr wrap="square">
            <a:spAutoFit/>
          </a:bodyPr>
          <a:lstStyle/>
          <a:p>
            <a:r>
              <a:rPr lang="zh-CN" altLang="en-US" b="1" dirty="0"/>
              <a:t>利用先导式溢流阀远程控制口的多级调压回路</a:t>
            </a:r>
            <a:endParaRPr lang="zh-CN" altLang="en-US" b="1" dirty="0"/>
          </a:p>
        </p:txBody>
      </p:sp>
      <p:sp>
        <p:nvSpPr>
          <p:cNvPr id="8" name="矩形 7"/>
          <p:cNvSpPr/>
          <p:nvPr/>
        </p:nvSpPr>
        <p:spPr>
          <a:xfrm>
            <a:off x="4854102" y="4307551"/>
            <a:ext cx="4033044" cy="1754326"/>
          </a:xfrm>
          <a:prstGeom prst="rect">
            <a:avLst/>
          </a:prstGeom>
        </p:spPr>
        <p:txBody>
          <a:bodyPr wrap="square">
            <a:spAutoFit/>
          </a:bodyPr>
          <a:lstStyle/>
          <a:p>
            <a:pPr>
              <a:lnSpc>
                <a:spcPct val="120000"/>
              </a:lnSpc>
            </a:pPr>
            <a:r>
              <a:rPr lang="zh-CN" altLang="en-US" b="1" dirty="0"/>
              <a:t>注意：</a:t>
            </a:r>
            <a:endParaRPr lang="zh-CN" altLang="en-US" b="1" dirty="0"/>
          </a:p>
          <a:p>
            <a:pPr>
              <a:lnSpc>
                <a:spcPct val="120000"/>
              </a:lnSpc>
            </a:pPr>
            <a:r>
              <a:rPr lang="zh-CN" altLang="en-US" b="1" dirty="0"/>
              <a:t>① 溢流时，油液</a:t>
            </a:r>
            <a:r>
              <a:rPr lang="zh-CN" altLang="en-US" b="1" dirty="0" smtClean="0"/>
              <a:t>经先导式溢流阀的主阀</a:t>
            </a:r>
            <a:r>
              <a:rPr lang="zh-CN" altLang="en-US" b="1" dirty="0"/>
              <a:t>阀口流回</a:t>
            </a:r>
            <a:r>
              <a:rPr lang="zh-CN" altLang="en-US" b="1" dirty="0" smtClean="0"/>
              <a:t>油箱</a:t>
            </a:r>
            <a:r>
              <a:rPr lang="zh-CN" altLang="en-US" b="1" dirty="0"/>
              <a:t>，</a:t>
            </a:r>
            <a:endParaRPr lang="zh-CN" altLang="en-US" b="1" dirty="0"/>
          </a:p>
          <a:p>
            <a:pPr>
              <a:lnSpc>
                <a:spcPct val="120000"/>
              </a:lnSpc>
            </a:pPr>
            <a:r>
              <a:rPr lang="zh-CN" altLang="en-US" b="1" dirty="0"/>
              <a:t>② 仅</a:t>
            </a:r>
            <a:r>
              <a:rPr lang="zh-CN" altLang="en-US" b="1" dirty="0" smtClean="0"/>
              <a:t>先导式溢流阀</a:t>
            </a:r>
            <a:r>
              <a:rPr lang="en-US" altLang="zh-CN" b="1" dirty="0" smtClean="0"/>
              <a:t>1 </a:t>
            </a:r>
            <a:r>
              <a:rPr lang="zh-CN" altLang="en-US" b="1" dirty="0"/>
              <a:t>的规格须按</a:t>
            </a:r>
            <a:r>
              <a:rPr lang="zh-CN" altLang="en-US" b="1" dirty="0" smtClean="0"/>
              <a:t>液压泵</a:t>
            </a:r>
            <a:r>
              <a:rPr lang="zh-CN" altLang="en-US" b="1" dirty="0"/>
              <a:t>的最大供</a:t>
            </a:r>
            <a:r>
              <a:rPr lang="zh-CN" altLang="en-US" b="1" dirty="0" smtClean="0"/>
              <a:t>油量</a:t>
            </a:r>
            <a:r>
              <a:rPr lang="zh-CN" altLang="en-US" b="1" dirty="0"/>
              <a:t>来选择。</a:t>
            </a:r>
            <a:endParaRPr lang="zh-CN" altLang="en-US" b="1" dirty="0"/>
          </a:p>
        </p:txBody>
      </p:sp>
      <p:grpSp>
        <p:nvGrpSpPr>
          <p:cNvPr id="2" name="组合 1"/>
          <p:cNvGrpSpPr/>
          <p:nvPr/>
        </p:nvGrpSpPr>
        <p:grpSpPr>
          <a:xfrm>
            <a:off x="5092429" y="1307633"/>
            <a:ext cx="3385225" cy="2893255"/>
            <a:chOff x="5092429" y="1307633"/>
            <a:chExt cx="3385225" cy="2893255"/>
          </a:xfrm>
        </p:grpSpPr>
        <p:pic>
          <p:nvPicPr>
            <p:cNvPr id="10" name="视频动画-多级调压回路.avi">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rotWithShape="1">
            <a:blip r:embed="rId4"/>
            <a:srcRect l="7713" t="6205" r="15426" b="6205"/>
            <a:stretch>
              <a:fillRect/>
            </a:stretch>
          </p:blipFill>
          <p:spPr>
            <a:xfrm>
              <a:off x="5092429" y="1307633"/>
              <a:ext cx="3385225" cy="2893255"/>
            </a:xfrm>
            <a:prstGeom prst="rect">
              <a:avLst/>
            </a:prstGeom>
            <a:noFill/>
            <a:ln w="9525">
              <a:solidFill>
                <a:srgbClr val="00B0F0"/>
              </a:solidFill>
              <a:miter lim="800000"/>
              <a:headEnd/>
              <a:tailEnd/>
            </a:ln>
          </p:spPr>
        </p:pic>
        <p:sp>
          <p:nvSpPr>
            <p:cNvPr id="11" name="圆角矩形 10"/>
            <p:cNvSpPr/>
            <p:nvPr/>
          </p:nvSpPr>
          <p:spPr>
            <a:xfrm>
              <a:off x="7329683" y="3382912"/>
              <a:ext cx="938556" cy="659541"/>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矩形 6"/>
          <p:cNvSpPr/>
          <p:nvPr/>
        </p:nvSpPr>
        <p:spPr>
          <a:xfrm>
            <a:off x="4854102" y="6078093"/>
            <a:ext cx="2754280" cy="461665"/>
          </a:xfrm>
          <a:prstGeom prst="rect">
            <a:avLst/>
          </a:prstGeom>
        </p:spPr>
        <p:txBody>
          <a:bodyPr wrap="none">
            <a:spAutoFit/>
          </a:bodyPr>
          <a:lstStyle/>
          <a:p>
            <a:pPr lvl="0"/>
            <a:r>
              <a:rPr lang="zh-CN" altLang="en-US" sz="2400" b="1" i="1" dirty="0">
                <a:solidFill>
                  <a:prstClr val="black"/>
                </a:solidFill>
                <a:hlinkClick r:id="rId5" action="ppaction://hlinkfile"/>
              </a:rPr>
              <a:t>动画</a:t>
            </a:r>
            <a:r>
              <a:rPr lang="en-US" altLang="zh-CN" sz="2400" b="1" i="1" dirty="0" smtClean="0">
                <a:solidFill>
                  <a:prstClr val="black"/>
                </a:solidFill>
                <a:hlinkClick r:id="rId5" action="ppaction://hlinkfile"/>
              </a:rPr>
              <a:t>-</a:t>
            </a:r>
            <a:r>
              <a:rPr lang="zh-CN" altLang="en-US" sz="2400" b="1" i="1" dirty="0" smtClean="0">
                <a:solidFill>
                  <a:prstClr val="black"/>
                </a:solidFill>
                <a:hlinkClick r:id="rId5" action="ppaction://hlinkfile"/>
              </a:rPr>
              <a:t>三级</a:t>
            </a:r>
            <a:r>
              <a:rPr lang="zh-CN" altLang="en-US" sz="2400" b="1" i="1" dirty="0">
                <a:solidFill>
                  <a:prstClr val="black"/>
                </a:solidFill>
                <a:hlinkClick r:id="rId5" action="ppaction://hlinkfile"/>
              </a:rPr>
              <a:t>调压回路</a:t>
            </a:r>
            <a:endParaRPr lang="zh-CN" altLang="en-US" sz="2400" b="1" i="1" dirty="0">
              <a:solidFill>
                <a:prstClr val="black"/>
              </a:solidFill>
            </a:endParaRPr>
          </a:p>
        </p:txBody>
      </p:sp>
    </p:spTree>
  </p:cSld>
  <p:clrMapOvr>
    <a:masterClrMapping/>
  </p:clrMapOvr>
  <p:timing>
    <p:tnLst>
      <p:par>
        <p:cTn id="1" dur="indefinite" restart="never" nodeType="tmRoot">
          <p:childTnLst>
            <p:video>
              <p:cMediaNode vol="80000">
                <p:cTn id="2" fill="hold" display="0">
                  <p:stCondLst>
                    <p:cond delay="indefinite"/>
                  </p:stCondLst>
                </p:cTn>
                <p:tgtEl>
                  <p:spTgt spid="10"/>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7" descr="7z3y"/>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5343" r="49366" b="13386"/>
          <a:stretch>
            <a:fillRect/>
          </a:stretch>
        </p:blipFill>
        <p:spPr bwMode="auto">
          <a:xfrm>
            <a:off x="320510" y="1551679"/>
            <a:ext cx="4544570" cy="3480031"/>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pic>
      <p:sp>
        <p:nvSpPr>
          <p:cNvPr id="9" name="Rectangle 6"/>
          <p:cNvSpPr>
            <a:spLocks noChangeArrowheads="1"/>
          </p:cNvSpPr>
          <p:nvPr/>
        </p:nvSpPr>
        <p:spPr bwMode="auto">
          <a:xfrm>
            <a:off x="320510" y="5176392"/>
            <a:ext cx="4411569" cy="1477328"/>
          </a:xfrm>
          <a:prstGeom prst="rect">
            <a:avLst/>
          </a:prstGeom>
          <a:solidFill>
            <a:schemeClr val="bg1"/>
          </a:solidFill>
          <a:ln>
            <a:noFill/>
          </a:ln>
          <a:effectLst/>
        </p:spPr>
        <p:txBody>
          <a:bodyPr wrap="square" anchor="ctr">
            <a:spAutoFit/>
          </a:bodyPr>
          <a:lstStyle/>
          <a:p>
            <a:r>
              <a:rPr lang="en-US" altLang="zh-CN" sz="1800" dirty="0" smtClean="0">
                <a:ea typeface="宋体" panose="02010600030101010101" pitchFamily="2" charset="-122"/>
              </a:rPr>
              <a:t>1,6-</a:t>
            </a:r>
            <a:r>
              <a:rPr lang="en-US" altLang="zh-CN" sz="1800" dirty="0" smtClean="0"/>
              <a:t>Pilot-operated </a:t>
            </a:r>
            <a:r>
              <a:rPr lang="en-US" altLang="zh-CN" sz="1800" dirty="0"/>
              <a:t>pressure-reducing </a:t>
            </a:r>
            <a:r>
              <a:rPr lang="en-US" altLang="zh-CN" sz="1800" dirty="0" smtClean="0"/>
              <a:t>valve; </a:t>
            </a:r>
            <a:endParaRPr lang="en-US" altLang="zh-CN" sz="1800" dirty="0" smtClean="0"/>
          </a:p>
          <a:p>
            <a:r>
              <a:rPr lang="en-US" altLang="zh-CN" sz="1800" dirty="0" smtClean="0">
                <a:ea typeface="宋体" panose="02010600030101010101" pitchFamily="2" charset="-122"/>
              </a:rPr>
              <a:t>2-Fixed</a:t>
            </a:r>
            <a:r>
              <a:rPr lang="en-US" altLang="zh-CN" sz="1800" dirty="0" smtClean="0"/>
              <a:t> </a:t>
            </a:r>
            <a:r>
              <a:rPr lang="en-US" altLang="zh-CN" sz="1800" dirty="0"/>
              <a:t>pressure-reducing </a:t>
            </a:r>
            <a:r>
              <a:rPr lang="en-US" altLang="zh-CN" sz="1800" dirty="0" smtClean="0"/>
              <a:t>valve; </a:t>
            </a:r>
            <a:endParaRPr lang="en-US" altLang="zh-CN" sz="1800" dirty="0" smtClean="0"/>
          </a:p>
          <a:p>
            <a:r>
              <a:rPr lang="en-US" altLang="zh-CN" sz="1800" dirty="0" smtClean="0">
                <a:ea typeface="宋体" panose="02010600030101010101" pitchFamily="2" charset="-122"/>
              </a:rPr>
              <a:t>3-</a:t>
            </a:r>
            <a:r>
              <a:rPr lang="en-US" altLang="zh-CN" sz="1800" dirty="0" smtClean="0"/>
              <a:t>Check valve; </a:t>
            </a:r>
            <a:endParaRPr lang="en-US" altLang="zh-CN" sz="1800" dirty="0" smtClean="0"/>
          </a:p>
          <a:p>
            <a:r>
              <a:rPr lang="en-US" altLang="zh-CN" sz="1800" dirty="0" smtClean="0">
                <a:ea typeface="宋体" panose="02010600030101010101" pitchFamily="2" charset="-122"/>
              </a:rPr>
              <a:t>4-</a:t>
            </a:r>
            <a:r>
              <a:rPr lang="en-US" altLang="zh-CN" sz="1800" dirty="0" smtClean="0"/>
              <a:t>Hydraulic cylinder; </a:t>
            </a:r>
            <a:endParaRPr lang="en-US" altLang="zh-CN" sz="1800" dirty="0" smtClean="0"/>
          </a:p>
          <a:p>
            <a:r>
              <a:rPr lang="en-US" altLang="zh-CN" sz="1800" dirty="0" smtClean="0"/>
              <a:t>5-Two-positions two-way </a:t>
            </a:r>
            <a:r>
              <a:rPr lang="en-US" altLang="zh-CN" sz="1800" dirty="0"/>
              <a:t>directional </a:t>
            </a:r>
            <a:r>
              <a:rPr lang="en-US" altLang="zh-CN" sz="1800" dirty="0" smtClean="0"/>
              <a:t>valve</a:t>
            </a:r>
            <a:endParaRPr lang="en-US" altLang="zh-CN" sz="1800" dirty="0"/>
          </a:p>
        </p:txBody>
      </p:sp>
      <p:sp>
        <p:nvSpPr>
          <p:cNvPr id="6" name="矩形 5"/>
          <p:cNvSpPr/>
          <p:nvPr/>
        </p:nvSpPr>
        <p:spPr>
          <a:xfrm>
            <a:off x="2908570" y="3909483"/>
            <a:ext cx="1956510" cy="923330"/>
          </a:xfrm>
          <a:prstGeom prst="rect">
            <a:avLst/>
          </a:prstGeom>
        </p:spPr>
        <p:txBody>
          <a:bodyPr wrap="square">
            <a:spAutoFit/>
          </a:bodyPr>
          <a:lstStyle/>
          <a:p>
            <a:r>
              <a:rPr lang="zh-CN" altLang="en-US" b="1" dirty="0">
                <a:solidFill>
                  <a:schemeClr val="accent6">
                    <a:lumMod val="75000"/>
                  </a:schemeClr>
                </a:solidFill>
              </a:rPr>
              <a:t>单向阀</a:t>
            </a:r>
            <a:r>
              <a:rPr lang="zh-CN" altLang="en-US" b="1" dirty="0"/>
              <a:t>：</a:t>
            </a:r>
            <a:r>
              <a:rPr lang="zh-CN" altLang="en-US" b="1" dirty="0" smtClean="0"/>
              <a:t>用于防止</a:t>
            </a:r>
            <a:r>
              <a:rPr lang="zh-CN" altLang="en-US" b="1" dirty="0"/>
              <a:t>油液</a:t>
            </a:r>
            <a:r>
              <a:rPr lang="zh-CN" altLang="en-US" b="1" dirty="0" smtClean="0"/>
              <a:t>倒流，</a:t>
            </a:r>
            <a:r>
              <a:rPr lang="zh-CN" altLang="en-US" b="1" dirty="0"/>
              <a:t>起到短时</a:t>
            </a:r>
            <a:r>
              <a:rPr lang="zh-CN" altLang="en-US" b="1" dirty="0" smtClean="0"/>
              <a:t>保压作用。</a:t>
            </a:r>
            <a:endParaRPr lang="zh-CN" altLang="en-US" b="1" dirty="0"/>
          </a:p>
        </p:txBody>
      </p:sp>
      <p:cxnSp>
        <p:nvCxnSpPr>
          <p:cNvPr id="11" name="直接连接符 10"/>
          <p:cNvCxnSpPr/>
          <p:nvPr/>
        </p:nvCxnSpPr>
        <p:spPr>
          <a:xfrm>
            <a:off x="0" y="644691"/>
            <a:ext cx="9144000" cy="0"/>
          </a:xfrm>
          <a:prstGeom prst="line">
            <a:avLst/>
          </a:prstGeom>
          <a:ln w="381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12" name="圆角矩形 11"/>
          <p:cNvSpPr/>
          <p:nvPr/>
        </p:nvSpPr>
        <p:spPr>
          <a:xfrm>
            <a:off x="410223" y="125834"/>
            <a:ext cx="5377734" cy="889233"/>
          </a:xfrm>
          <a:prstGeom prst="roundRect">
            <a:avLst/>
          </a:prstGeom>
          <a:solidFill>
            <a:srgbClr val="23A5C3"/>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defTabSz="1219200"/>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减压回路</a:t>
            </a:r>
            <a:r>
              <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单级减压回路</a:t>
            </a:r>
            <a:endPar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marL="117475" defTabSz="1219200"/>
            <a:r>
              <a:rPr lang="en-US" altLang="zh-CN" sz="2400" dirty="0">
                <a:solidFill>
                  <a:schemeClr val="tx1">
                    <a:lumMod val="95000"/>
                    <a:lumOff val="5000"/>
                  </a:schemeClr>
                </a:solidFill>
                <a:effectLst>
                  <a:outerShdw blurRad="38100" dist="38100" dir="2700000" algn="tl">
                    <a:srgbClr val="000000">
                      <a:alpha val="43137"/>
                    </a:srgbClr>
                  </a:outerShdw>
                </a:effectLst>
              </a:rPr>
              <a:t>One-sta</a:t>
            </a:r>
            <a:r>
              <a:rPr lang="en-US" altLang="zh-CN" sz="2400" dirty="0" smtClean="0">
                <a:solidFill>
                  <a:schemeClr val="tx1">
                    <a:lumMod val="95000"/>
                    <a:lumOff val="5000"/>
                  </a:schemeClr>
                </a:solidFill>
                <a:effectLst>
                  <a:outerShdw blurRad="38100" dist="38100" dir="2700000" algn="tl">
                    <a:srgbClr val="000000">
                      <a:alpha val="43137"/>
                    </a:srgbClr>
                  </a:outerShdw>
                </a:effectLst>
              </a:rPr>
              <a:t>ge Pressure-reducing </a:t>
            </a:r>
            <a:r>
              <a:rPr lang="en-US" altLang="zh-CN" sz="2400" dirty="0">
                <a:solidFill>
                  <a:schemeClr val="tx1">
                    <a:lumMod val="95000"/>
                    <a:lumOff val="5000"/>
                  </a:schemeClr>
                </a:solidFill>
                <a:effectLst>
                  <a:outerShdw blurRad="38100" dist="38100" dir="2700000" algn="tl">
                    <a:srgbClr val="000000">
                      <a:alpha val="43137"/>
                    </a:srgbClr>
                  </a:outerShdw>
                </a:effectLst>
              </a:rPr>
              <a:t>Circuits</a:t>
            </a:r>
            <a:endParaRPr lang="zh-CN" altLang="en-US" sz="2400" dirty="0">
              <a:solidFill>
                <a:schemeClr val="tx1">
                  <a:lumMod val="95000"/>
                  <a:lumOff val="5000"/>
                </a:schemeClr>
              </a:solidFill>
              <a:effectLst>
                <a:outerShdw blurRad="38100" dist="38100" dir="2700000" algn="tl">
                  <a:srgbClr val="000000">
                    <a:alpha val="43137"/>
                  </a:srgbClr>
                </a:outerShdw>
              </a:effectLst>
            </a:endParaRPr>
          </a:p>
        </p:txBody>
      </p:sp>
      <p:grpSp>
        <p:nvGrpSpPr>
          <p:cNvPr id="7" name="组合 6"/>
          <p:cNvGrpSpPr/>
          <p:nvPr/>
        </p:nvGrpSpPr>
        <p:grpSpPr>
          <a:xfrm>
            <a:off x="5203597" y="1609978"/>
            <a:ext cx="3553904" cy="3077938"/>
            <a:chOff x="5203597" y="1609978"/>
            <a:chExt cx="3553904" cy="3077938"/>
          </a:xfrm>
        </p:grpSpPr>
        <p:pic>
          <p:nvPicPr>
            <p:cNvPr id="10" name="7-3a.avi">
              <a:hlinkClick r:id="" action="ppaction://media"/>
            </p:cNvPr>
            <p:cNvPicPr>
              <a:picLocks noChangeAspect="1" noChangeArrowheads="1"/>
            </p:cNvPicPr>
            <p:nvPr>
              <a:videoFile r:link="rId2"/>
              <p:extLst>
                <p:ext uri="{DAA4B4D4-6D71-4841-9C94-3DE7FCFB9230}">
                  <p14:media xmlns:p14="http://schemas.microsoft.com/office/powerpoint/2010/main" r:embed="rId3"/>
                </p:ext>
              </p:extLst>
            </p:nvPr>
          </p:nvPicPr>
          <p:blipFill rotWithShape="1">
            <a:blip r:embed="rId4">
              <a:extLst>
                <a:ext uri="{28A0092B-C50C-407E-A947-70E740481C1C}">
                  <a14:useLocalDpi xmlns:a14="http://schemas.microsoft.com/office/drawing/2010/main" val="0"/>
                </a:ext>
              </a:extLst>
            </a:blip>
            <a:srcRect l="35275" t="25241" r="20947" b="24213"/>
            <a:stretch>
              <a:fillRect/>
            </a:stretch>
          </p:blipFill>
          <p:spPr>
            <a:xfrm>
              <a:off x="5203597" y="1609978"/>
              <a:ext cx="3553904" cy="3077938"/>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圆角矩形 3"/>
            <p:cNvSpPr/>
            <p:nvPr/>
          </p:nvSpPr>
          <p:spPr>
            <a:xfrm>
              <a:off x="7664521" y="3760342"/>
              <a:ext cx="811659" cy="791110"/>
            </a:xfrm>
            <a:prstGeom prst="round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8F8F8"/>
                </a:solidFill>
              </a:endParaRPr>
            </a:p>
          </p:txBody>
        </p:sp>
      </p:grpSp>
    </p:spTree>
  </p:cSld>
  <p:clrMapOvr>
    <a:masterClrMapping/>
  </p:clrMapOvr>
  <p:timing>
    <p:tnLst>
      <p:par>
        <p:cTn id="1" dur="indefinite" restart="never" nodeType="tmRoot">
          <p:childTnLst>
            <p:video>
              <p:cMediaNode>
                <p:cTn id="2" fill="hold" display="0">
                  <p:stCondLst>
                    <p:cond delay="indefinite"/>
                  </p:stCondLst>
                  <p:endCondLst>
                    <p:cond evt="onNext" delay="0">
                      <p:tgtEl>
                        <p:sldTgt/>
                      </p:tgtEl>
                    </p:cond>
                    <p:cond evt="onPrev" delay="0">
                      <p:tgtEl>
                        <p:sldTgt/>
                      </p:tgtEl>
                    </p:cond>
                  </p:endCondLst>
                </p:cTn>
                <p:tgtEl>
                  <p:spTgt spid="10"/>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32" name="Rectangle 8"/>
          <p:cNvSpPr>
            <a:spLocks noChangeArrowheads="1"/>
          </p:cNvSpPr>
          <p:nvPr/>
        </p:nvSpPr>
        <p:spPr bwMode="auto">
          <a:xfrm>
            <a:off x="0" y="21336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pic>
        <p:nvPicPr>
          <p:cNvPr id="77839" name="Picture 15" descr="7z24y"/>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15553" y="1348914"/>
            <a:ext cx="5324600" cy="4725526"/>
          </a:xfrm>
          <a:prstGeom prst="rect">
            <a:avLst/>
          </a:prstGeom>
          <a:noFill/>
          <a:ln w="12700">
            <a:solidFill>
              <a:srgbClr val="00B0F0"/>
            </a:solidFill>
            <a:miter lim="800000"/>
            <a:headEnd/>
            <a:tailEnd/>
          </a:ln>
          <a:extLst>
            <a:ext uri="{909E8E84-426E-40DD-AFC4-6F175D3DCCD1}">
              <a14:hiddenFill xmlns:a14="http://schemas.microsoft.com/office/drawing/2010/main">
                <a:solidFill>
                  <a:srgbClr val="FFFFFF"/>
                </a:solidFill>
              </a14:hiddenFill>
            </a:ext>
          </a:extLst>
        </p:spPr>
      </p:pic>
      <p:cxnSp>
        <p:nvCxnSpPr>
          <p:cNvPr id="6" name="直接连接符 5"/>
          <p:cNvCxnSpPr/>
          <p:nvPr/>
        </p:nvCxnSpPr>
        <p:spPr>
          <a:xfrm>
            <a:off x="0" y="644691"/>
            <a:ext cx="9144000" cy="0"/>
          </a:xfrm>
          <a:prstGeom prst="line">
            <a:avLst/>
          </a:prstGeom>
          <a:ln w="381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451303" y="200074"/>
            <a:ext cx="7137274" cy="971180"/>
          </a:xfrm>
          <a:prstGeom prst="roundRect">
            <a:avLst/>
          </a:prstGeom>
          <a:solidFill>
            <a:srgbClr val="23A5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defTabSz="1219200"/>
            <a:r>
              <a:rPr lang="zh-CN" altLang="en-US" sz="3200" b="1" dirty="0">
                <a:solidFill>
                  <a:prstClr val="white"/>
                </a:solidFill>
                <a:effectLst>
                  <a:outerShdw blurRad="38100" dist="38100" dir="2700000" algn="tl">
                    <a:srgbClr val="000000">
                      <a:alpha val="43137"/>
                    </a:srgbClr>
                  </a:outerShdw>
                </a:effectLst>
                <a:latin typeface="微软雅黑" panose="020B0503020204020204" charset="-122"/>
                <a:ea typeface="微软雅黑" panose="020B0503020204020204" charset="-122"/>
              </a:rPr>
              <a:t>顺序回路</a:t>
            </a:r>
            <a:r>
              <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a:t>
            </a:r>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顺序阀控制的顺序回路</a:t>
            </a:r>
            <a:r>
              <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 </a:t>
            </a:r>
            <a:endPar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marL="117475" defTabSz="1219200"/>
            <a:r>
              <a:rPr lang="en-US" altLang="zh-CN" sz="2400" dirty="0" smtClean="0">
                <a:solidFill>
                  <a:schemeClr val="tx1">
                    <a:lumMod val="95000"/>
                    <a:lumOff val="5000"/>
                  </a:schemeClr>
                </a:solidFill>
                <a:effectLst>
                  <a:outerShdw blurRad="38100" dist="38100" dir="2700000" algn="tl">
                    <a:srgbClr val="000000">
                      <a:alpha val="43137"/>
                    </a:srgbClr>
                  </a:outerShdw>
                </a:effectLst>
              </a:rPr>
              <a:t>Sequencing Circuits by Sequence Valves</a:t>
            </a:r>
            <a:endParaRPr lang="zh-CN" altLang="en-US" sz="2400" dirty="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3" name="矩形 2"/>
          <p:cNvSpPr/>
          <p:nvPr/>
        </p:nvSpPr>
        <p:spPr>
          <a:xfrm>
            <a:off x="5654360" y="4641604"/>
            <a:ext cx="3263169" cy="1477328"/>
          </a:xfrm>
          <a:prstGeom prst="rect">
            <a:avLst/>
          </a:prstGeom>
        </p:spPr>
        <p:txBody>
          <a:bodyPr wrap="square">
            <a:spAutoFit/>
          </a:bodyPr>
          <a:lstStyle/>
          <a:p>
            <a:pPr lvl="0"/>
            <a:r>
              <a:rPr lang="en-US" altLang="zh-CN" dirty="0" smtClean="0">
                <a:solidFill>
                  <a:prstClr val="black"/>
                </a:solidFill>
              </a:rPr>
              <a:t>The set pressure of valve (4) </a:t>
            </a:r>
            <a:r>
              <a:rPr lang="en-US" altLang="zh-CN" dirty="0">
                <a:solidFill>
                  <a:prstClr val="black"/>
                </a:solidFill>
              </a:rPr>
              <a:t>should be more than the highest working pressure 10</a:t>
            </a:r>
            <a:r>
              <a:rPr lang="zh-CN" altLang="en-US" dirty="0">
                <a:solidFill>
                  <a:prstClr val="black"/>
                </a:solidFill>
              </a:rPr>
              <a:t>～</a:t>
            </a:r>
            <a:r>
              <a:rPr lang="en-US" altLang="zh-CN" dirty="0">
                <a:solidFill>
                  <a:prstClr val="black"/>
                </a:solidFill>
              </a:rPr>
              <a:t>15</a:t>
            </a:r>
            <a:r>
              <a:rPr lang="zh-CN" altLang="en-US" dirty="0">
                <a:solidFill>
                  <a:prstClr val="black"/>
                </a:solidFill>
              </a:rPr>
              <a:t>％</a:t>
            </a:r>
            <a:r>
              <a:rPr lang="en-US" altLang="zh-CN" dirty="0">
                <a:solidFill>
                  <a:prstClr val="black"/>
                </a:solidFill>
              </a:rPr>
              <a:t>, otherwise error actions will </a:t>
            </a:r>
            <a:r>
              <a:rPr lang="en-US" altLang="zh-CN" dirty="0" smtClean="0">
                <a:solidFill>
                  <a:prstClr val="black"/>
                </a:solidFill>
              </a:rPr>
              <a:t>happen.</a:t>
            </a:r>
            <a:endParaRPr lang="en-US" altLang="zh-CN" dirty="0">
              <a:solidFill>
                <a:prstClr val="black"/>
              </a:solidFill>
            </a:endParaRPr>
          </a:p>
        </p:txBody>
      </p:sp>
      <p:grpSp>
        <p:nvGrpSpPr>
          <p:cNvPr id="4" name="组合 3"/>
          <p:cNvGrpSpPr/>
          <p:nvPr/>
        </p:nvGrpSpPr>
        <p:grpSpPr>
          <a:xfrm>
            <a:off x="5640394" y="1348914"/>
            <a:ext cx="3291103" cy="3042494"/>
            <a:chOff x="5640394" y="1348914"/>
            <a:chExt cx="3291103" cy="3042494"/>
          </a:xfrm>
        </p:grpSpPr>
        <p:pic>
          <p:nvPicPr>
            <p:cNvPr id="2" name="视频动画-顺序回路-顺序阀控制的顺序回路.avi">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rotWithShape="1">
            <a:blip r:embed="rId4"/>
            <a:srcRect l="12347" t="5121" r="13717" b="3743"/>
            <a:stretch>
              <a:fillRect/>
            </a:stretch>
          </p:blipFill>
          <p:spPr>
            <a:xfrm>
              <a:off x="5640394" y="1348914"/>
              <a:ext cx="3291103" cy="3042494"/>
            </a:xfrm>
            <a:prstGeom prst="rect">
              <a:avLst/>
            </a:prstGeom>
            <a:noFill/>
            <a:ln w="12700">
              <a:solidFill>
                <a:srgbClr val="00B0F0"/>
              </a:solidFill>
              <a:miter lim="800000"/>
              <a:headEnd/>
              <a:tailEnd/>
            </a:ln>
          </p:spPr>
        </p:pic>
        <p:sp>
          <p:nvSpPr>
            <p:cNvPr id="9" name="矩形 8"/>
            <p:cNvSpPr/>
            <p:nvPr/>
          </p:nvSpPr>
          <p:spPr>
            <a:xfrm>
              <a:off x="8065234" y="3569283"/>
              <a:ext cx="734591" cy="7519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2" descr="7z5"/>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t="3038"/>
          <a:stretch>
            <a:fillRect/>
          </a:stretch>
        </p:blipFill>
        <p:spPr bwMode="auto">
          <a:xfrm>
            <a:off x="226243" y="1159497"/>
            <a:ext cx="8504352" cy="4609971"/>
          </a:xfrm>
          <a:prstGeom prst="rect">
            <a:avLst/>
          </a:prstGeom>
          <a:noFill/>
          <a:ln w="9525">
            <a:solidFill>
              <a:schemeClr val="accent5"/>
            </a:solidFill>
            <a:miter lim="800000"/>
            <a:headEnd/>
            <a:tailEnd/>
          </a:ln>
          <a:extLst>
            <a:ext uri="{909E8E84-426E-40DD-AFC4-6F175D3DCCD1}">
              <a14:hiddenFill xmlns:a14="http://schemas.microsoft.com/office/drawing/2010/main">
                <a:solidFill>
                  <a:srgbClr val="FFFFFF"/>
                </a:solidFill>
              </a14:hiddenFill>
            </a:ext>
          </a:extLst>
        </p:spPr>
      </p:pic>
      <p:cxnSp>
        <p:nvCxnSpPr>
          <p:cNvPr id="2" name="直接连接符 1"/>
          <p:cNvCxnSpPr/>
          <p:nvPr/>
        </p:nvCxnSpPr>
        <p:spPr>
          <a:xfrm>
            <a:off x="0" y="644691"/>
            <a:ext cx="9144000" cy="0"/>
          </a:xfrm>
          <a:prstGeom prst="line">
            <a:avLst/>
          </a:prstGeom>
          <a:ln w="38100" cmpd="sng">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圆角矩形 2"/>
          <p:cNvSpPr/>
          <p:nvPr/>
        </p:nvSpPr>
        <p:spPr>
          <a:xfrm>
            <a:off x="507864" y="200074"/>
            <a:ext cx="4656727" cy="889233"/>
          </a:xfrm>
          <a:prstGeom prst="roundRect">
            <a:avLst/>
          </a:prstGeom>
          <a:solidFill>
            <a:srgbClr val="23A5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defTabSz="1219200"/>
            <a:r>
              <a:rPr lang="zh-CN" altLang="en-US"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rPr>
              <a:t>平衡回路 </a:t>
            </a:r>
            <a:endParaRPr lang="en-US" altLang="zh-CN" sz="3200" b="1" dirty="0">
              <a:solidFill>
                <a:srgbClr val="FFCC66"/>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indent="168275" defTabSz="1219200"/>
            <a:r>
              <a:rPr lang="en-US" altLang="zh-CN" sz="2400" dirty="0">
                <a:solidFill>
                  <a:schemeClr val="tx1">
                    <a:lumMod val="95000"/>
                    <a:lumOff val="5000"/>
                  </a:schemeClr>
                </a:solidFill>
                <a:effectLst>
                  <a:outerShdw blurRad="38100" dist="38100" dir="2700000" algn="tl">
                    <a:srgbClr val="000000">
                      <a:alpha val="43137"/>
                    </a:srgbClr>
                  </a:outerShdw>
                </a:effectLst>
              </a:rPr>
              <a:t>Pressure </a:t>
            </a:r>
            <a:r>
              <a:rPr lang="en-US" altLang="zh-CN" sz="2400" dirty="0" smtClean="0">
                <a:solidFill>
                  <a:schemeClr val="tx1">
                    <a:lumMod val="95000"/>
                    <a:lumOff val="5000"/>
                  </a:schemeClr>
                </a:solidFill>
                <a:effectLst>
                  <a:outerShdw blurRad="38100" dist="38100" dir="2700000" algn="tl">
                    <a:srgbClr val="000000">
                      <a:alpha val="43137"/>
                    </a:srgbClr>
                  </a:outerShdw>
                </a:effectLst>
              </a:rPr>
              <a:t>Counterbalance Circuits</a:t>
            </a:r>
            <a:endParaRPr lang="zh-CN" altLang="en-US" sz="2400" dirty="0">
              <a:solidFill>
                <a:schemeClr val="tx1">
                  <a:lumMod val="95000"/>
                  <a:lumOff val="5000"/>
                </a:schemeClr>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13" name="Rectangle 28"/>
          <p:cNvSpPr>
            <a:spLocks noChangeArrowheads="1"/>
          </p:cNvSpPr>
          <p:nvPr/>
        </p:nvSpPr>
        <p:spPr bwMode="auto">
          <a:xfrm>
            <a:off x="117147" y="6195252"/>
            <a:ext cx="9026853"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r>
              <a:rPr lang="en-US" altLang="zh-CN" sz="1600" dirty="0" smtClean="0">
                <a:ea typeface="黑体" panose="02010609060101010101" pitchFamily="49" charset="-122"/>
              </a:rPr>
              <a:t>a</a:t>
            </a:r>
            <a:r>
              <a:rPr lang="en-US" altLang="zh-CN" sz="1600" dirty="0">
                <a:ea typeface="黑体" panose="02010609060101010101" pitchFamily="49" charset="-122"/>
              </a:rPr>
              <a:t>) </a:t>
            </a:r>
            <a:r>
              <a:rPr lang="en-US" altLang="zh-CN" sz="1600" dirty="0" smtClean="0">
                <a:ea typeface="黑体" panose="02010609060101010101" pitchFamily="49" charset="-122"/>
              </a:rPr>
              <a:t>by a </a:t>
            </a:r>
            <a:r>
              <a:rPr lang="en-US" altLang="zh-CN" sz="1600" dirty="0" smtClean="0"/>
              <a:t>sequence valve</a:t>
            </a:r>
            <a:r>
              <a:rPr lang="zh-CN" altLang="en-US" sz="1600" dirty="0" smtClean="0"/>
              <a:t>；</a:t>
            </a:r>
            <a:r>
              <a:rPr lang="en-US" altLang="zh-CN" sz="1600" dirty="0" smtClean="0"/>
              <a:t>b) by a pilot-operated </a:t>
            </a:r>
            <a:r>
              <a:rPr lang="en-US" altLang="zh-CN" sz="1600" dirty="0"/>
              <a:t>check valve </a:t>
            </a:r>
            <a:r>
              <a:rPr lang="en-US" altLang="zh-CN" sz="1600" dirty="0" smtClean="0"/>
              <a:t>;    </a:t>
            </a:r>
            <a:r>
              <a:rPr lang="en-US" altLang="zh-CN" sz="1600" dirty="0"/>
              <a:t>c) </a:t>
            </a:r>
            <a:r>
              <a:rPr lang="en-US" altLang="zh-CN" sz="1600" dirty="0" smtClean="0"/>
              <a:t>by a </a:t>
            </a:r>
            <a:r>
              <a:rPr lang="en-US" altLang="zh-CN" sz="1600" dirty="0"/>
              <a:t>hydraulic -operated sequence </a:t>
            </a:r>
            <a:r>
              <a:rPr lang="en-US" altLang="zh-CN" sz="1600" dirty="0" smtClean="0"/>
              <a:t>valve</a:t>
            </a:r>
            <a:r>
              <a:rPr lang="en-US" altLang="zh-CN" sz="1800" dirty="0" smtClean="0"/>
              <a:t> </a:t>
            </a:r>
            <a:endParaRPr lang="en-US" altLang="zh-CN" sz="1800" dirty="0"/>
          </a:p>
        </p:txBody>
      </p:sp>
      <p:sp>
        <p:nvSpPr>
          <p:cNvPr id="14" name="Rectangle 5"/>
          <p:cNvSpPr>
            <a:spLocks noChangeArrowheads="1"/>
          </p:cNvSpPr>
          <p:nvPr/>
        </p:nvSpPr>
        <p:spPr bwMode="auto">
          <a:xfrm>
            <a:off x="58574" y="5856698"/>
            <a:ext cx="9026852"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r>
              <a:rPr lang="en-US" altLang="zh-CN" sz="1600" b="0" dirty="0" smtClean="0">
                <a:ea typeface="黑体" panose="02010609060101010101" pitchFamily="49" charset="-122"/>
              </a:rPr>
              <a:t>a</a:t>
            </a:r>
            <a:r>
              <a:rPr lang="en-US" altLang="zh-CN" sz="1600" b="0" dirty="0">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采用单向顺序阀的平衡回路 </a:t>
            </a:r>
            <a:r>
              <a:rPr lang="zh-CN" altLang="en-US" sz="1600" dirty="0" smtClean="0">
                <a:latin typeface="黑体" panose="02010609060101010101" pitchFamily="49" charset="-122"/>
                <a:ea typeface="黑体" panose="02010609060101010101" pitchFamily="49" charset="-122"/>
              </a:rPr>
              <a:t>   </a:t>
            </a:r>
            <a:r>
              <a:rPr lang="en-US" altLang="zh-CN" sz="1600" dirty="0" smtClean="0">
                <a:latin typeface="黑体" panose="02010609060101010101" pitchFamily="49" charset="-122"/>
                <a:ea typeface="黑体" panose="02010609060101010101" pitchFamily="49" charset="-122"/>
              </a:rPr>
              <a:t>b</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采用液控单向阀的平衡</a:t>
            </a:r>
            <a:r>
              <a:rPr lang="zh-CN" altLang="en-US" sz="1600" dirty="0" smtClean="0">
                <a:latin typeface="黑体" panose="02010609060101010101" pitchFamily="49" charset="-122"/>
                <a:ea typeface="黑体" panose="02010609060101010101" pitchFamily="49" charset="-122"/>
              </a:rPr>
              <a:t>回路</a:t>
            </a:r>
            <a:r>
              <a:rPr lang="zh-CN" altLang="en-US" sz="1600" dirty="0" smtClean="0">
                <a:ea typeface="黑体" panose="02010609060101010101" pitchFamily="49" charset="-122"/>
              </a:rPr>
              <a:t>         </a:t>
            </a:r>
            <a:r>
              <a:rPr lang="en-US" altLang="zh-CN" sz="1600" b="0" dirty="0">
                <a:ea typeface="黑体" panose="02010609060101010101" pitchFamily="49" charset="-122"/>
              </a:rPr>
              <a:t>c)</a:t>
            </a:r>
            <a:r>
              <a:rPr lang="zh-CN" altLang="en-US" sz="1600" dirty="0">
                <a:latin typeface="黑体" panose="02010609060101010101" pitchFamily="49" charset="-122"/>
                <a:ea typeface="黑体" panose="02010609060101010101" pitchFamily="49" charset="-122"/>
              </a:rPr>
              <a:t>采用远控平衡阀的平衡回路</a:t>
            </a:r>
            <a:endParaRPr lang="zh-CN" altLang="en-US" sz="1600" dirty="0">
              <a:latin typeface="黑体" panose="02010609060101010101" pitchFamily="49" charset="-122"/>
              <a:ea typeface="黑体" panose="02010609060101010101" pitchFamily="49" charset="-122"/>
            </a:endParaRPr>
          </a:p>
        </p:txBody>
      </p:sp>
      <p:sp>
        <p:nvSpPr>
          <p:cNvPr id="4" name="TextBox 3"/>
          <p:cNvSpPr txBox="1"/>
          <p:nvPr/>
        </p:nvSpPr>
        <p:spPr>
          <a:xfrm>
            <a:off x="236888" y="5307803"/>
            <a:ext cx="800219" cy="461665"/>
          </a:xfrm>
          <a:prstGeom prst="rect">
            <a:avLst/>
          </a:prstGeom>
          <a:noFill/>
        </p:spPr>
        <p:txBody>
          <a:bodyPr wrap="none" rtlCol="0">
            <a:spAutoFit/>
          </a:bodyPr>
          <a:lstStyle/>
          <a:p>
            <a:r>
              <a:rPr lang="zh-CN" altLang="en-US" sz="2400" b="1" i="1" dirty="0" smtClean="0">
                <a:hlinkClick r:id="rId2" action="ppaction://hlinkfile"/>
              </a:rPr>
              <a:t>动画</a:t>
            </a:r>
            <a:endParaRPr lang="zh-CN" altLang="en-US" sz="2400" b="1" i="1"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90600" y="2362200"/>
            <a:ext cx="3962400" cy="1485265"/>
          </a:xfrm>
          <a:prstGeom prst="rect">
            <a:avLst/>
          </a:prstGeom>
          <a:noFill/>
        </p:spPr>
        <p:txBody>
          <a:bodyPr wrap="square" rtlCol="0">
            <a:noAutofit/>
          </a:bodyPr>
          <a:p>
            <a:r>
              <a:rPr lang="zh-CN" altLang="en-US" sz="3600"/>
              <a:t>例题</a:t>
            </a:r>
            <a:endParaRPr lang="zh-CN" altLang="en-US" sz="3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603" descr="yeqi-400-28_clip_image001"/>
          <p:cNvPicPr>
            <a:picLocks noChangeAspect="1"/>
          </p:cNvPicPr>
          <p:nvPr>
            <p:custDataLst>
              <p:tags r:id="rId1"/>
            </p:custDataLst>
          </p:nvPr>
        </p:nvPicPr>
        <p:blipFill>
          <a:blip r:embed="rId2"/>
          <a:stretch>
            <a:fillRect/>
          </a:stretch>
        </p:blipFill>
        <p:spPr>
          <a:xfrm>
            <a:off x="4648200" y="1524000"/>
            <a:ext cx="4144645" cy="4251960"/>
          </a:xfrm>
          <a:prstGeom prst="rect">
            <a:avLst/>
          </a:prstGeom>
          <a:noFill/>
          <a:ln w="9525">
            <a:noFill/>
          </a:ln>
        </p:spPr>
      </p:pic>
      <p:sp>
        <p:nvSpPr>
          <p:cNvPr id="3" name="文本框 2"/>
          <p:cNvSpPr txBox="1"/>
          <p:nvPr/>
        </p:nvSpPr>
        <p:spPr>
          <a:xfrm>
            <a:off x="734060" y="1918335"/>
            <a:ext cx="3847465" cy="5782945"/>
          </a:xfrm>
          <a:prstGeom prst="rect">
            <a:avLst/>
          </a:prstGeom>
          <a:noFill/>
        </p:spPr>
        <p:txBody>
          <a:bodyPr wrap="square" rtlCol="0">
            <a:noAutofit/>
          </a:bodyPr>
          <a:p>
            <a:r>
              <a:rPr lang="zh-CN" altLang="en-US"/>
              <a:t>溢流阀1的调节压力为P1=4 Mpa，溢流阀2的调节压力为P2＝3 Mpa。</a:t>
            </a:r>
            <a:endParaRPr lang="zh-CN" altLang="en-US"/>
          </a:p>
          <a:p>
            <a:r>
              <a:rPr lang="zh-CN" altLang="en-US"/>
              <a:t>问：当两个二位二通电磁换向阀</a:t>
            </a:r>
            <a:endParaRPr lang="zh-CN" altLang="en-US"/>
          </a:p>
          <a:p>
            <a:r>
              <a:rPr lang="zh-CN" altLang="en-US"/>
              <a:t>(1)1DT、2DT都得电时，泵的出口压力P等于多少? </a:t>
            </a:r>
            <a:endParaRPr lang="zh-CN" altLang="en-US"/>
          </a:p>
          <a:p>
            <a:r>
              <a:rPr lang="zh-CN" altLang="en-US"/>
              <a:t>(2)1DT、2DT都失电时，泵的出口压力P等于多少? </a:t>
            </a:r>
            <a:endParaRPr lang="zh-CN" altLang="en-US"/>
          </a:p>
          <a:p>
            <a:r>
              <a:rPr lang="zh-CN" altLang="en-US"/>
              <a:t>(3)1DT失电、2DT得电时，泵的出口压力P等于多少? </a:t>
            </a:r>
            <a:endParaRPr lang="zh-CN" altLang="en-US"/>
          </a:p>
          <a:p>
            <a:r>
              <a:rPr lang="zh-CN" altLang="en-US"/>
              <a:t>(4)1DT得电、2DT失电时，泵的出口压力P等于多少? </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对象 -2147482597"/>
          <p:cNvGraphicFramePr>
            <a:graphicFrameLocks noChangeAspect="1"/>
          </p:cNvGraphicFramePr>
          <p:nvPr>
            <p:custDataLst>
              <p:tags r:id="rId1"/>
            </p:custDataLst>
          </p:nvPr>
        </p:nvGraphicFramePr>
        <p:xfrm>
          <a:off x="4972050" y="2922270"/>
          <a:ext cx="3806825" cy="1846580"/>
        </p:xfrm>
        <a:graphic>
          <a:graphicData uri="http://schemas.openxmlformats.org/presentationml/2006/ole">
            <mc:AlternateContent xmlns:mc="http://schemas.openxmlformats.org/markup-compatibility/2006">
              <mc:Choice xmlns:v="urn:schemas-microsoft-com:vml" Requires="v">
                <p:oleObj spid="_x0000_s3076" name="" r:id="rId2" imgW="5876925" imgH="1733550" progId="PBrush">
                  <p:embed/>
                </p:oleObj>
              </mc:Choice>
              <mc:Fallback>
                <p:oleObj name="" r:id="rId2" imgW="5876925" imgH="1733550" progId="PBrush">
                  <p:embed/>
                  <p:pic>
                    <p:nvPicPr>
                      <p:cNvPr id="0" name="图片 3075"/>
                      <p:cNvPicPr/>
                      <p:nvPr/>
                    </p:nvPicPr>
                    <p:blipFill>
                      <a:blip r:embed="rId3"/>
                      <a:stretch>
                        <a:fillRect/>
                      </a:stretch>
                    </p:blipFill>
                    <p:spPr>
                      <a:xfrm>
                        <a:off x="4972050" y="2922270"/>
                        <a:ext cx="3806825" cy="1846580"/>
                      </a:xfrm>
                      <a:prstGeom prst="rect">
                        <a:avLst/>
                      </a:prstGeom>
                      <a:noFill/>
                      <a:ln w="38100">
                        <a:noFill/>
                        <a:miter/>
                      </a:ln>
                    </p:spPr>
                  </p:pic>
                </p:oleObj>
              </mc:Fallback>
            </mc:AlternateContent>
          </a:graphicData>
        </a:graphic>
      </p:graphicFrame>
      <p:sp>
        <p:nvSpPr>
          <p:cNvPr id="3" name="文本框 2"/>
          <p:cNvSpPr txBox="1"/>
          <p:nvPr/>
        </p:nvSpPr>
        <p:spPr>
          <a:xfrm>
            <a:off x="278130" y="2240915"/>
            <a:ext cx="4236720" cy="4228465"/>
          </a:xfrm>
          <a:prstGeom prst="rect">
            <a:avLst/>
          </a:prstGeom>
          <a:noFill/>
        </p:spPr>
        <p:txBody>
          <a:bodyPr wrap="square" rtlCol="0">
            <a:noAutofit/>
          </a:bodyPr>
          <a:p>
            <a:r>
              <a:rPr lang="zh-CN" altLang="en-US"/>
              <a:t>两结构尺寸相同的液压缸，无杆腔面积A1，有杆腔A2，压力P1，流量q1。若不计摩擦损失和泄漏，试求： </a:t>
            </a:r>
            <a:endParaRPr lang="zh-CN" altLang="en-US"/>
          </a:p>
          <a:p>
            <a:r>
              <a:rPr lang="zh-CN" altLang="en-US"/>
              <a:t>（1）当两缸负载相同(F1=F2)时，两缸能承受的负载是多少？</a:t>
            </a:r>
            <a:endParaRPr lang="zh-CN" altLang="en-US"/>
          </a:p>
          <a:p>
            <a:r>
              <a:rPr lang="zh-CN" altLang="en-US"/>
              <a:t>（2）此时，两缸运动的速度各为多少？</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608" descr="20100401094941223"/>
          <p:cNvPicPr>
            <a:picLocks noChangeAspect="1"/>
          </p:cNvPicPr>
          <p:nvPr>
            <p:custDataLst>
              <p:tags r:id="rId1"/>
            </p:custDataLst>
          </p:nvPr>
        </p:nvPicPr>
        <p:blipFill>
          <a:blip r:embed="rId2"/>
          <a:stretch>
            <a:fillRect/>
          </a:stretch>
        </p:blipFill>
        <p:spPr>
          <a:xfrm>
            <a:off x="4251960" y="1689735"/>
            <a:ext cx="4130040" cy="4078605"/>
          </a:xfrm>
          <a:prstGeom prst="rect">
            <a:avLst/>
          </a:prstGeom>
          <a:noFill/>
          <a:ln w="9525">
            <a:noFill/>
          </a:ln>
        </p:spPr>
      </p:pic>
      <p:sp>
        <p:nvSpPr>
          <p:cNvPr id="3" name="文本框 2"/>
          <p:cNvSpPr txBox="1"/>
          <p:nvPr/>
        </p:nvSpPr>
        <p:spPr>
          <a:xfrm>
            <a:off x="562610" y="1781810"/>
            <a:ext cx="3285490" cy="4076065"/>
          </a:xfrm>
          <a:prstGeom prst="rect">
            <a:avLst/>
          </a:prstGeom>
          <a:noFill/>
        </p:spPr>
        <p:txBody>
          <a:bodyPr wrap="square" rtlCol="0">
            <a:noAutofit/>
          </a:bodyPr>
          <a:p>
            <a:r>
              <a:rPr lang="zh-CN" altLang="en-US"/>
              <a:t>如图所示的系统中，两个溢流阀串联，若已知每个溢流阀单独使用时的调整压力，py1=20×105Pa，py2=40×105Pa。</a:t>
            </a:r>
            <a:endParaRPr lang="zh-CN" altLang="en-US"/>
          </a:p>
          <a:p>
            <a:r>
              <a:rPr lang="zh-CN" altLang="en-US"/>
              <a:t>溢流阀卸载的压力损失忽略不计，试判断在二位二通电磁阀不同工况下，A点和B点的压力各为多少。</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607" descr="image002"/>
          <p:cNvPicPr>
            <a:picLocks noChangeAspect="1"/>
          </p:cNvPicPr>
          <p:nvPr>
            <p:custDataLst>
              <p:tags r:id="rId1"/>
            </p:custDataLst>
          </p:nvPr>
        </p:nvPicPr>
        <p:blipFill>
          <a:blip r:embed="rId2"/>
          <a:stretch>
            <a:fillRect/>
          </a:stretch>
        </p:blipFill>
        <p:spPr>
          <a:xfrm>
            <a:off x="5410200" y="1980883"/>
            <a:ext cx="3294380" cy="3609975"/>
          </a:xfrm>
          <a:prstGeom prst="rect">
            <a:avLst/>
          </a:prstGeom>
          <a:noFill/>
          <a:ln w="9525">
            <a:noFill/>
          </a:ln>
        </p:spPr>
      </p:pic>
      <p:sp>
        <p:nvSpPr>
          <p:cNvPr id="3" name="文本框 2"/>
          <p:cNvSpPr txBox="1"/>
          <p:nvPr/>
        </p:nvSpPr>
        <p:spPr>
          <a:xfrm>
            <a:off x="57785" y="1524000"/>
            <a:ext cx="5074920" cy="2584450"/>
          </a:xfrm>
          <a:prstGeom prst="rect">
            <a:avLst/>
          </a:prstGeom>
          <a:noFill/>
        </p:spPr>
        <p:txBody>
          <a:bodyPr wrap="square" rtlCol="0">
            <a:spAutoFit/>
          </a:bodyPr>
          <a:p>
            <a:r>
              <a:rPr lang="zh-CN" altLang="en-US"/>
              <a:t>如图液压回路可实现快进、工进和快退三个动作控制，已知液压缸的无杆腔面积A1=50cm2,有杆腔面积A2=30cm2，液压泵的流量为10升/分，溢流阀的调节压力p y =2 .2Mpa，液压缸工进时的负载为10KN（快进和快退无负载），不计摩擦损失和泄漏，要求： </a:t>
            </a:r>
            <a:endParaRPr lang="zh-CN" altLang="en-US"/>
          </a:p>
          <a:p>
            <a:r>
              <a:rPr lang="zh-CN" altLang="en-US"/>
              <a:t>（1）、分别求缸在快进、工进和快退时的速度。</a:t>
            </a:r>
            <a:endParaRPr lang="zh-CN" altLang="en-US"/>
          </a:p>
          <a:p>
            <a:r>
              <a:rPr lang="zh-CN" altLang="en-US"/>
              <a:t>（2）、液压缸工进时能克服的最大负载。</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57225" y="1676400"/>
            <a:ext cx="6849110" cy="1745615"/>
          </a:xfrm>
          <a:prstGeom prst="rect">
            <a:avLst/>
          </a:prstGeom>
          <a:noFill/>
        </p:spPr>
        <p:txBody>
          <a:bodyPr wrap="square" rtlCol="0">
            <a:noAutofit/>
          </a:bodyPr>
          <a:p>
            <a:r>
              <a:rPr lang="zh-CN" altLang="en-US"/>
              <a:t>已知活塞运动时的负载F=1.2KN，活塞面积A=15×10-4m2，溢流阀调整值为PP=4.5Mpa，两个减压阀的调整值分别为PJ1=3.5MPa和PJ2=2Mpa，如油液流过减压阀及管路时的损失可忽略不计，试确定活塞在运动时和停在终点端位时，A、B、C三点的压力值。</a:t>
            </a:r>
            <a:endParaRPr lang="zh-CN" altLang="en-US"/>
          </a:p>
        </p:txBody>
      </p:sp>
      <p:pic>
        <p:nvPicPr>
          <p:cNvPr id="1073742867" name="图片 1073742866" descr="image002"/>
          <p:cNvPicPr>
            <a:picLocks noChangeAspect="1"/>
          </p:cNvPicPr>
          <p:nvPr>
            <p:custDataLst>
              <p:tags r:id="rId1"/>
            </p:custDataLst>
          </p:nvPr>
        </p:nvPicPr>
        <p:blipFill>
          <a:blip r:embed="rId2"/>
          <a:stretch>
            <a:fillRect/>
          </a:stretch>
        </p:blipFill>
        <p:spPr>
          <a:xfrm>
            <a:off x="2317115" y="3643630"/>
            <a:ext cx="5188585" cy="270954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3825" y="2016125"/>
            <a:ext cx="4831715" cy="2738755"/>
          </a:xfrm>
          <a:prstGeom prst="rect">
            <a:avLst/>
          </a:prstGeom>
          <a:noFill/>
        </p:spPr>
        <p:txBody>
          <a:bodyPr wrap="square" rtlCol="0">
            <a:noAutofit/>
          </a:bodyPr>
          <a:p>
            <a:r>
              <a:rPr lang="zh-CN" altLang="en-US"/>
              <a:t>A hydraulic system as shown in fig. 3. The max flow rate produced by pump is 30 L/min. The motor has a dispalcement volume of 25cm3/r. The pressure relief valve setting is 7 Mpa. Find (assuming no power loss): ( 15%)</a:t>
            </a:r>
            <a:endParaRPr lang="zh-CN" altLang="en-US"/>
          </a:p>
          <a:p>
            <a:r>
              <a:rPr lang="zh-CN" altLang="en-US"/>
              <a:t>1) The max output power, the max speed and the max torque of the motor?</a:t>
            </a:r>
            <a:endParaRPr lang="zh-CN" altLang="en-US"/>
          </a:p>
          <a:p>
            <a:r>
              <a:rPr lang="zh-CN" altLang="en-US"/>
              <a:t>2) If the output power of the motor is 2 KW, then how much is the max speed and the max torque of the motor.</a:t>
            </a:r>
            <a:endParaRPr lang="zh-CN" altLang="en-US"/>
          </a:p>
        </p:txBody>
      </p:sp>
      <p:pic>
        <p:nvPicPr>
          <p:cNvPr id="1073742960" name="图片 1073742959" descr="B4-2"/>
          <p:cNvPicPr>
            <a:picLocks noChangeAspect="1"/>
          </p:cNvPicPr>
          <p:nvPr>
            <p:custDataLst>
              <p:tags r:id="rId1"/>
            </p:custDataLst>
          </p:nvPr>
        </p:nvPicPr>
        <p:blipFill>
          <a:blip r:embed="rId2"/>
          <a:stretch>
            <a:fillRect/>
          </a:stretch>
        </p:blipFill>
        <p:spPr>
          <a:xfrm>
            <a:off x="5324475" y="2633980"/>
            <a:ext cx="3489960" cy="204406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81610" y="2000885"/>
            <a:ext cx="4247515" cy="4258945"/>
          </a:xfrm>
          <a:prstGeom prst="rect">
            <a:avLst/>
          </a:prstGeom>
          <a:noFill/>
        </p:spPr>
        <p:txBody>
          <a:bodyPr wrap="square" rtlCol="0">
            <a:noAutofit/>
          </a:bodyPr>
          <a:p>
            <a:r>
              <a:rPr lang="zh-CN" altLang="en-US"/>
              <a:t> For the hydraulic system of Figure 4, the sequence of operations of the system is :</a:t>
            </a:r>
            <a:endParaRPr lang="zh-CN" altLang="en-US"/>
          </a:p>
          <a:p>
            <a:r>
              <a:rPr lang="zh-CN" altLang="en-US"/>
              <a:t>① rapid advance of cylinder I; </a:t>
            </a:r>
            <a:endParaRPr lang="zh-CN" altLang="en-US"/>
          </a:p>
          <a:p>
            <a:r>
              <a:rPr lang="zh-CN" altLang="en-US"/>
              <a:t>② slow feed of cylinder I;</a:t>
            </a:r>
            <a:endParaRPr lang="zh-CN" altLang="en-US"/>
          </a:p>
          <a:p>
            <a:r>
              <a:rPr lang="zh-CN" altLang="en-US"/>
              <a:t>③ rapidly retract for cylinder I;</a:t>
            </a:r>
            <a:endParaRPr lang="zh-CN" altLang="en-US"/>
          </a:p>
          <a:p>
            <a:r>
              <a:rPr lang="zh-CN" altLang="en-US"/>
              <a:t>④ slow feed of cylinder II;</a:t>
            </a:r>
            <a:endParaRPr lang="zh-CN" altLang="en-US"/>
          </a:p>
          <a:p>
            <a:r>
              <a:rPr lang="zh-CN" altLang="en-US"/>
              <a:t>⑤ rapidly retract for cylinder II; Name the components marked with 1, 2, 3, 4, 8, 9 respectively.  What function do the components act as in the hydraulic system, respectively? </a:t>
            </a:r>
            <a:endParaRPr lang="zh-CN" altLang="en-US"/>
          </a:p>
        </p:txBody>
      </p:sp>
      <p:pic>
        <p:nvPicPr>
          <p:cNvPr id="1073742921" name="图片 1073742920"/>
          <p:cNvPicPr>
            <a:picLocks noChangeAspect="1"/>
          </p:cNvPicPr>
          <p:nvPr>
            <p:custDataLst>
              <p:tags r:id="rId1"/>
            </p:custDataLst>
          </p:nvPr>
        </p:nvPicPr>
        <p:blipFill>
          <a:blip r:embed="rId2"/>
          <a:srcRect b="3236"/>
          <a:stretch>
            <a:fillRect/>
          </a:stretch>
        </p:blipFill>
        <p:spPr>
          <a:xfrm>
            <a:off x="4834890" y="2548255"/>
            <a:ext cx="3166110" cy="379095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0" y="1219200"/>
            <a:ext cx="6343650" cy="6265545"/>
          </a:xfrm>
          <a:prstGeom prst="rect">
            <a:avLst/>
          </a:prstGeom>
          <a:noFill/>
        </p:spPr>
        <p:txBody>
          <a:bodyPr wrap="square" rtlCol="0">
            <a:noAutofit/>
          </a:bodyPr>
          <a:p>
            <a:r>
              <a:rPr lang="zh-CN" altLang="en-US" sz="1400"/>
              <a:t>A cylinder having a bore of 50 mm</a:t>
            </a:r>
            <a:r>
              <a:rPr lang="en-US" altLang="zh-CN" sz="1400"/>
              <a:t> </a:t>
            </a:r>
            <a:r>
              <a:rPr lang="zh-CN" altLang="en-US" sz="1400"/>
              <a:t>with a rod diameter of 32 mm is used</a:t>
            </a:r>
            <a:r>
              <a:rPr lang="en-US" altLang="zh-CN" sz="1400"/>
              <a:t> </a:t>
            </a:r>
            <a:endParaRPr lang="en-US" altLang="zh-CN" sz="1400"/>
          </a:p>
          <a:p>
            <a:r>
              <a:rPr lang="zh-CN" altLang="en-US" sz="1400"/>
              <a:t>to lift a vertical load of 3 tonnes. The</a:t>
            </a:r>
            <a:r>
              <a:rPr lang="en-US" altLang="zh-CN" sz="1400"/>
              <a:t> </a:t>
            </a:r>
            <a:r>
              <a:rPr lang="zh-CN" altLang="en-US" sz="1400"/>
              <a:t>circuit used is shown in Figure</a:t>
            </a:r>
            <a:endParaRPr lang="zh-CN" altLang="en-US" sz="1400"/>
          </a:p>
          <a:p>
            <a:r>
              <a:rPr lang="zh-CN" altLang="en-US" sz="1400"/>
              <a:t>(Q3.b). The quantity delivered by thepump is 8 l/min, the relief valve is set</a:t>
            </a:r>
            <a:endParaRPr lang="zh-CN" altLang="en-US" sz="1400"/>
          </a:p>
          <a:p>
            <a:r>
              <a:rPr lang="en-US" altLang="zh-CN" sz="1400"/>
              <a:t> </a:t>
            </a:r>
            <a:r>
              <a:rPr lang="zh-CN" altLang="en-US" sz="1400"/>
              <a:t>at 180 bar and the cylinder extendmeter-out flow-control valve is set at 4</a:t>
            </a:r>
            <a:endParaRPr lang="zh-CN" altLang="en-US" sz="1400"/>
          </a:p>
          <a:p>
            <a:r>
              <a:rPr lang="zh-CN" altLang="en-US" sz="1400"/>
              <a:t>/min. Calculate:</a:t>
            </a:r>
            <a:endParaRPr lang="zh-CN" altLang="en-US" sz="1400"/>
          </a:p>
          <a:p>
            <a:r>
              <a:rPr lang="zh-CN" altLang="en-US" sz="1400"/>
              <a:t>1. The extend speed.</a:t>
            </a:r>
            <a:endParaRPr lang="zh-CN" altLang="en-US" sz="1400"/>
          </a:p>
          <a:p>
            <a:r>
              <a:rPr lang="zh-CN" altLang="en-US" sz="1400"/>
              <a:t>2. The pressure reading at gauge</a:t>
            </a:r>
            <a:r>
              <a:rPr lang="en-US" altLang="zh-CN" sz="1400"/>
              <a:t> </a:t>
            </a:r>
            <a:r>
              <a:rPr lang="zh-CN" altLang="en-US" sz="1400"/>
              <a:t>P1when</a:t>
            </a:r>
            <a:r>
              <a:rPr lang="en-US" altLang="zh-CN" sz="1400"/>
              <a:t> </a:t>
            </a:r>
            <a:r>
              <a:rPr lang="zh-CN" altLang="en-US" sz="1400"/>
              <a:t>the</a:t>
            </a:r>
            <a:r>
              <a:rPr lang="en-US" altLang="zh-CN" sz="1400"/>
              <a:t> </a:t>
            </a:r>
            <a:r>
              <a:rPr lang="zh-CN" altLang="en-US" sz="1400"/>
              <a:t>cylinder</a:t>
            </a:r>
            <a:r>
              <a:rPr lang="en-US" altLang="zh-CN" sz="1400"/>
              <a:t> </a:t>
            </a:r>
            <a:r>
              <a:rPr lang="zh-CN" altLang="en-US" sz="1400"/>
              <a:t>is</a:t>
            </a:r>
            <a:endParaRPr lang="zh-CN" altLang="en-US" sz="1400"/>
          </a:p>
          <a:p>
            <a:r>
              <a:rPr lang="zh-CN" altLang="en-US" sz="1400"/>
              <a:t>extending at a steady speed.</a:t>
            </a:r>
            <a:endParaRPr lang="zh-CN" altLang="en-US" sz="1400"/>
          </a:p>
          <a:p>
            <a:r>
              <a:rPr lang="zh-CN" altLang="en-US" sz="1400"/>
              <a:t>3. The pressure registered on</a:t>
            </a:r>
            <a:r>
              <a:rPr lang="en-US" altLang="zh-CN" sz="1400"/>
              <a:t> </a:t>
            </a:r>
            <a:r>
              <a:rPr lang="zh-CN" altLang="en-US" sz="1400"/>
              <a:t>gauge P1 if the cylinder is</a:t>
            </a:r>
            <a:endParaRPr lang="zh-CN" altLang="en-US" sz="1400"/>
          </a:p>
          <a:p>
            <a:r>
              <a:rPr lang="zh-CN" altLang="en-US" sz="1400"/>
              <a:t>extended</a:t>
            </a:r>
            <a:r>
              <a:rPr lang="en-US" altLang="zh-CN" sz="1400"/>
              <a:t> </a:t>
            </a:r>
            <a:r>
              <a:rPr lang="zh-CN" altLang="en-US" sz="1400"/>
              <a:t>under</a:t>
            </a:r>
            <a:r>
              <a:rPr lang="en-US" altLang="zh-CN" sz="1400"/>
              <a:t> </a:t>
            </a:r>
            <a:r>
              <a:rPr lang="zh-CN" altLang="en-US" sz="1400"/>
              <a:t>no</a:t>
            </a:r>
            <a:r>
              <a:rPr lang="en-US" altLang="zh-CN" sz="1400"/>
              <a:t> L</a:t>
            </a:r>
            <a:r>
              <a:rPr lang="zh-CN" altLang="en-US" sz="1400"/>
              <a:t>oad</a:t>
            </a:r>
            <a:r>
              <a:rPr lang="en-US" altLang="zh-CN" sz="1400"/>
              <a:t> </a:t>
            </a:r>
            <a:r>
              <a:rPr lang="zh-CN" altLang="en-US" sz="1400"/>
              <a:t>conditions, i.e. load removed.</a:t>
            </a:r>
            <a:endParaRPr lang="zh-CN" altLang="en-US" sz="1400"/>
          </a:p>
          <a:p>
            <a:r>
              <a:rPr lang="zh-CN" altLang="en-US" sz="1400"/>
              <a:t>4. The setting of the retract flow</a:t>
            </a:r>
            <a:r>
              <a:rPr lang="en-US" altLang="zh-CN" sz="1400"/>
              <a:t> </a:t>
            </a:r>
            <a:r>
              <a:rPr lang="zh-CN" altLang="en-US" sz="1400"/>
              <a:t>control valve in l/min if the</a:t>
            </a:r>
            <a:endParaRPr lang="zh-CN" altLang="en-US" sz="1400"/>
          </a:p>
          <a:p>
            <a:r>
              <a:rPr lang="zh-CN" altLang="en-US" sz="1400"/>
              <a:t>retract speed is the same as</a:t>
            </a:r>
            <a:r>
              <a:rPr lang="en-US" altLang="zh-CN" sz="1400"/>
              <a:t> </a:t>
            </a:r>
            <a:r>
              <a:rPr lang="zh-CN" altLang="en-US" sz="1400"/>
              <a:t>the extend speed</a:t>
            </a:r>
            <a:r>
              <a:rPr lang="zh-CN" altLang="en-US"/>
              <a:t>.</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5334000" y="2106295"/>
            <a:ext cx="3305175" cy="462661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2147482525" descr="13-8"/>
          <p:cNvPicPr>
            <a:picLocks noChangeAspect="1"/>
          </p:cNvPicPr>
          <p:nvPr>
            <p:custDataLst>
              <p:tags r:id="rId1"/>
            </p:custDataLst>
          </p:nvPr>
        </p:nvPicPr>
        <p:blipFill>
          <a:blip r:embed="rId2"/>
          <a:stretch>
            <a:fillRect/>
          </a:stretch>
        </p:blipFill>
        <p:spPr>
          <a:xfrm>
            <a:off x="850265" y="1440180"/>
            <a:ext cx="5812790" cy="3454400"/>
          </a:xfrm>
          <a:prstGeom prst="rect">
            <a:avLst/>
          </a:prstGeom>
          <a:noFill/>
          <a:ln w="9525">
            <a:noFill/>
          </a:ln>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PP_MARK_KEY" val="3c1fb05e-0cb6-4067-a01b-6c343931d1ef"/>
  <p:tag name="COMMONDATA" val="eyJoZGlkIjoiN2NlYmI1YjMzOTVlOGRlMzQ5MmY0YzU3N2RjNzg4Y2EifQ=="/>
</p:tagLst>
</file>

<file path=ppt/theme/theme1.xml><?xml version="1.0" encoding="utf-8"?>
<a:theme xmlns:a="http://schemas.openxmlformats.org/drawingml/2006/main" name="221TGp_sky_light">
  <a:themeElements>
    <a:clrScheme name="221TGp_sky_light 2">
      <a:dk1>
        <a:srgbClr val="000000"/>
      </a:dk1>
      <a:lt1>
        <a:srgbClr val="FFFFFF"/>
      </a:lt1>
      <a:dk2>
        <a:srgbClr val="364EB6"/>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fontScheme name="221TGp_sky_light">
      <a:majorFont>
        <a:latin typeface="黑体"/>
        <a:ea typeface="黑体"/>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221TGp_sky_light 1">
        <a:dk1>
          <a:srgbClr val="000000"/>
        </a:dk1>
        <a:lt1>
          <a:srgbClr val="FFFFFF"/>
        </a:lt1>
        <a:dk2>
          <a:srgbClr val="501A82"/>
        </a:dk2>
        <a:lt2>
          <a:srgbClr val="969696"/>
        </a:lt2>
        <a:accent1>
          <a:srgbClr val="117AC1"/>
        </a:accent1>
        <a:accent2>
          <a:srgbClr val="38B890"/>
        </a:accent2>
        <a:accent3>
          <a:srgbClr val="FFFFFF"/>
        </a:accent3>
        <a:accent4>
          <a:srgbClr val="000000"/>
        </a:accent4>
        <a:accent5>
          <a:srgbClr val="AABEDD"/>
        </a:accent5>
        <a:accent6>
          <a:srgbClr val="32A682"/>
        </a:accent6>
        <a:hlink>
          <a:srgbClr val="D17FB6"/>
        </a:hlink>
        <a:folHlink>
          <a:srgbClr val="E3981D"/>
        </a:folHlink>
      </a:clrScheme>
      <a:clrMap bg1="lt1" tx1="dk1" bg2="lt2" tx2="dk2" accent1="accent1" accent2="accent2" accent3="accent3" accent4="accent4" accent5="accent5" accent6="accent6" hlink="hlink" folHlink="folHlink"/>
    </a:extraClrScheme>
    <a:extraClrScheme>
      <a:clrScheme name="221TGp_sky_light 2">
        <a:dk1>
          <a:srgbClr val="000000"/>
        </a:dk1>
        <a:lt1>
          <a:srgbClr val="FFFFFF"/>
        </a:lt1>
        <a:dk2>
          <a:srgbClr val="364EB6"/>
        </a:dk2>
        <a:lt2>
          <a:srgbClr val="C0C0C0"/>
        </a:lt2>
        <a:accent1>
          <a:srgbClr val="4987E3"/>
        </a:accent1>
        <a:accent2>
          <a:srgbClr val="D9520F"/>
        </a:accent2>
        <a:accent3>
          <a:srgbClr val="FFFFFF"/>
        </a:accent3>
        <a:accent4>
          <a:srgbClr val="000000"/>
        </a:accent4>
        <a:accent5>
          <a:srgbClr val="B1C3EF"/>
        </a:accent5>
        <a:accent6>
          <a:srgbClr val="C4490C"/>
        </a:accent6>
        <a:hlink>
          <a:srgbClr val="36A1B6"/>
        </a:hlink>
        <a:folHlink>
          <a:srgbClr val="9CC769"/>
        </a:folHlink>
      </a:clrScheme>
      <a:clrMap bg1="lt1" tx1="dk1" bg2="lt2" tx2="dk2" accent1="accent1" accent2="accent2" accent3="accent3" accent4="accent4" accent5="accent5" accent6="accent6" hlink="hlink" folHlink="folHlink"/>
    </a:extraClrScheme>
    <a:extraClrScheme>
      <a:clrScheme name="221TGp_sky_light 3">
        <a:dk1>
          <a:srgbClr val="000000"/>
        </a:dk1>
        <a:lt1>
          <a:srgbClr val="FFFFFF"/>
        </a:lt1>
        <a:dk2>
          <a:srgbClr val="186894"/>
        </a:dk2>
        <a:lt2>
          <a:srgbClr val="969696"/>
        </a:lt2>
        <a:accent1>
          <a:srgbClr val="2AA08A"/>
        </a:accent1>
        <a:accent2>
          <a:srgbClr val="9C88E6"/>
        </a:accent2>
        <a:accent3>
          <a:srgbClr val="FFFFFF"/>
        </a:accent3>
        <a:accent4>
          <a:srgbClr val="000000"/>
        </a:accent4>
        <a:accent5>
          <a:srgbClr val="ACCDC4"/>
        </a:accent5>
        <a:accent6>
          <a:srgbClr val="8D7BD0"/>
        </a:accent6>
        <a:hlink>
          <a:srgbClr val="7D96D3"/>
        </a:hlink>
        <a:folHlink>
          <a:srgbClr val="DEDB7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7468</Words>
  <Application>WPS 演示</Application>
  <PresentationFormat>全屏显示(4:3)</PresentationFormat>
  <Paragraphs>339</Paragraphs>
  <Slides>35</Slides>
  <Notes>7</Notes>
  <HiddenSlides>0</HiddenSlides>
  <MMClips>1</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4</vt:i4>
      </vt:variant>
      <vt:variant>
        <vt:lpstr>幻灯片标题</vt:lpstr>
      </vt:variant>
      <vt:variant>
        <vt:i4>35</vt:i4>
      </vt:variant>
    </vt:vector>
  </HeadingPairs>
  <TitlesOfParts>
    <vt:vector size="57" baseType="lpstr">
      <vt:lpstr>Arial</vt:lpstr>
      <vt:lpstr>宋体</vt:lpstr>
      <vt:lpstr>Wingdings</vt:lpstr>
      <vt:lpstr>黑体</vt:lpstr>
      <vt:lpstr>Arial Black</vt:lpstr>
      <vt:lpstr>Arial Unicode MS</vt:lpstr>
      <vt:lpstr>Times New Roman</vt:lpstr>
      <vt:lpstr>Cambria Math</vt:lpstr>
      <vt:lpstr>Tahoma</vt:lpstr>
      <vt:lpstr>隶书_GB2312</vt:lpstr>
      <vt:lpstr>楷体_GB2312</vt:lpstr>
      <vt:lpstr>Cambria Math</vt:lpstr>
      <vt:lpstr>微软雅黑</vt:lpstr>
      <vt:lpstr>Arial Unicode MS</vt:lpstr>
      <vt:lpstr>新宋体</vt:lpstr>
      <vt:lpstr>华文中宋</vt:lpstr>
      <vt:lpstr>Verdana</vt:lpstr>
      <vt:lpstr>221TGp_sky_light</vt:lpstr>
      <vt:lpstr>Equation.DSMT4</vt:lpstr>
      <vt:lpstr>Equation.DSMT4</vt:lpstr>
      <vt:lpstr>Equation.DSMT4</vt:lpstr>
      <vt:lpstr>PBrush</vt:lpstr>
      <vt:lpstr>Outline课程内容</vt:lpstr>
      <vt:lpstr>压力的表示方法及单位 Definition and Units of Pressure </vt:lpstr>
      <vt:lpstr>流量连续性方程—质量守恒定律 Equation of Continuity-Conservation of Mass</vt:lpstr>
      <vt:lpstr>(2) Bernoulli Equation of Real Fluid      实际液体的伯努利方程</vt:lpstr>
      <vt:lpstr>(3) Equation of Momentum-Conservation of Momentum      动量方程—动量守恒方程</vt:lpstr>
      <vt:lpstr>液压泵分类 Pump Categories   </vt:lpstr>
      <vt:lpstr>液压泵的工作原理  Working Principle of Hydraulic Pumps</vt:lpstr>
      <vt:lpstr>液压泵的参数 Parameters of Hydraulic Pumps</vt:lpstr>
      <vt:lpstr>压力 Pressure</vt:lpstr>
      <vt:lpstr>排量 Displacement </vt:lpstr>
      <vt:lpstr>流量 Flow  Rate</vt:lpstr>
      <vt:lpstr>功率 Power</vt:lpstr>
      <vt:lpstr>PowerPoint 演示文稿</vt:lpstr>
      <vt:lpstr>单杆活塞缸运动速度和推力计算 Force and Speed Calculation </vt:lpstr>
      <vt:lpstr>液压控制阀的分类 Classification of Control Valves</vt:lpstr>
      <vt:lpstr>换向阀符号描述 Valve Description</vt:lpstr>
      <vt:lpstr>压力控制阀分类 Pressure Control Valves</vt:lpstr>
      <vt:lpstr>PowerPoint 演示文稿</vt:lpstr>
      <vt:lpstr>调速阀结构 Structure of Flow Control Valves</vt:lpstr>
      <vt:lpstr>溢流节流阀） Relief-Throttle Valves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Guilddesign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Sung Ha, Park</dc:creator>
  <cp:lastModifiedBy>大魏</cp:lastModifiedBy>
  <cp:revision>197</cp:revision>
  <dcterms:created xsi:type="dcterms:W3CDTF">2005-02-25T08:08:00Z</dcterms:created>
  <dcterms:modified xsi:type="dcterms:W3CDTF">2024-01-06T23:56:05Z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7DAFBDEE81BF43D4A55CE39109D44F64_13</vt:lpwstr>
  </property>
</Properties>
</file>