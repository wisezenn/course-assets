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av" ContentType="audio/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40" r:id="rId3"/>
    <p:sldId id="342" r:id="rId4"/>
    <p:sldId id="343"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0" d="100"/>
          <a:sy n="60" d="100"/>
        </p:scale>
        <p:origin x="1388" y="4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2021/6/1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2021/6/1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2021/6/1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2021/6/1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pPr/>
              <a:t>2021/6/1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pPr/>
              <a:t>2021/6/1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pPr/>
              <a:t>2021/6/1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2021/6/1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2021/6/1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2021/6/1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2021/6/1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pPr/>
              <a:t>2021/6/1</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oleObject" Target="../embeddings/oleObject1.bin"/><Relationship Id="rId1" Type="http://schemas.openxmlformats.org/officeDocument/2006/relationships/slideLayout" Target="../slideLayouts/slideLayout7.xml"/><Relationship Id="rId5" Type="http://schemas.openxmlformats.org/officeDocument/2006/relationships/image" Target="../media/image20.wmf"/><Relationship Id="rId4" Type="http://schemas.openxmlformats.org/officeDocument/2006/relationships/oleObject" Target="../embeddings/oleObject2.bin"/></Relationships>
</file>

<file path=ppt/slides/_rels/slide7.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oleObject" Target="../embeddings/oleObject3.bin"/><Relationship Id="rId1" Type="http://schemas.openxmlformats.org/officeDocument/2006/relationships/slideLayout" Target="../slideLayouts/slideLayout7.xml"/><Relationship Id="rId5" Type="http://schemas.openxmlformats.org/officeDocument/2006/relationships/image" Target="../media/image22.wmf"/><Relationship Id="rId4" Type="http://schemas.openxmlformats.org/officeDocument/2006/relationships/oleObject" Target="../embeddings/oleObject4.bin"/></Relationships>
</file>

<file path=ppt/slides/_rels/slide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8.bin"/><Relationship Id="rId3" Type="http://schemas.openxmlformats.org/officeDocument/2006/relationships/image" Target="../media/image25.emf"/><Relationship Id="rId7" Type="http://schemas.openxmlformats.org/officeDocument/2006/relationships/image" Target="../media/image27.emf"/><Relationship Id="rId2" Type="http://schemas.openxmlformats.org/officeDocument/2006/relationships/oleObject" Target="../embeddings/oleObject5.bin"/><Relationship Id="rId1" Type="http://schemas.openxmlformats.org/officeDocument/2006/relationships/slideLayout" Target="../slideLayouts/slideLayout7.xml"/><Relationship Id="rId6" Type="http://schemas.openxmlformats.org/officeDocument/2006/relationships/oleObject" Target="../embeddings/oleObject7.bin"/><Relationship Id="rId5" Type="http://schemas.openxmlformats.org/officeDocument/2006/relationships/image" Target="../media/image26.emf"/><Relationship Id="rId4" Type="http://schemas.openxmlformats.org/officeDocument/2006/relationships/oleObject" Target="../embeddings/oleObject6.bin"/><Relationship Id="rId9" Type="http://schemas.openxmlformats.org/officeDocument/2006/relationships/image" Target="../media/image28.wmf"/></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12.bin"/><Relationship Id="rId13" Type="http://schemas.openxmlformats.org/officeDocument/2006/relationships/image" Target="../media/image34.wmf"/><Relationship Id="rId3" Type="http://schemas.openxmlformats.org/officeDocument/2006/relationships/image" Target="../media/image29.wmf"/><Relationship Id="rId7" Type="http://schemas.openxmlformats.org/officeDocument/2006/relationships/image" Target="../media/image31.emf"/><Relationship Id="rId12" Type="http://schemas.openxmlformats.org/officeDocument/2006/relationships/oleObject" Target="../embeddings/oleObject14.bin"/><Relationship Id="rId17" Type="http://schemas.openxmlformats.org/officeDocument/2006/relationships/image" Target="../media/image36.wmf"/><Relationship Id="rId2" Type="http://schemas.openxmlformats.org/officeDocument/2006/relationships/oleObject" Target="../embeddings/oleObject9.bin"/><Relationship Id="rId16" Type="http://schemas.openxmlformats.org/officeDocument/2006/relationships/oleObject" Target="../embeddings/oleObject16.bin"/><Relationship Id="rId1" Type="http://schemas.openxmlformats.org/officeDocument/2006/relationships/slideLayout" Target="../slideLayouts/slideLayout7.xml"/><Relationship Id="rId6" Type="http://schemas.openxmlformats.org/officeDocument/2006/relationships/oleObject" Target="../embeddings/oleObject11.bin"/><Relationship Id="rId11" Type="http://schemas.openxmlformats.org/officeDocument/2006/relationships/image" Target="../media/image33.wmf"/><Relationship Id="rId5" Type="http://schemas.openxmlformats.org/officeDocument/2006/relationships/image" Target="../media/image30.wmf"/><Relationship Id="rId15" Type="http://schemas.openxmlformats.org/officeDocument/2006/relationships/image" Target="../media/image35.wmf"/><Relationship Id="rId10" Type="http://schemas.openxmlformats.org/officeDocument/2006/relationships/oleObject" Target="../embeddings/oleObject13.bin"/><Relationship Id="rId4" Type="http://schemas.openxmlformats.org/officeDocument/2006/relationships/oleObject" Target="../embeddings/oleObject10.bin"/><Relationship Id="rId9" Type="http://schemas.openxmlformats.org/officeDocument/2006/relationships/image" Target="../media/image32.wmf"/><Relationship Id="rId14" Type="http://schemas.openxmlformats.org/officeDocument/2006/relationships/oleObject" Target="../embeddings/oleObject15.bin"/></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20.bin"/><Relationship Id="rId13" Type="http://schemas.openxmlformats.org/officeDocument/2006/relationships/image" Target="../media/image42.wmf"/><Relationship Id="rId3" Type="http://schemas.openxmlformats.org/officeDocument/2006/relationships/image" Target="../media/image37.wmf"/><Relationship Id="rId7" Type="http://schemas.openxmlformats.org/officeDocument/2006/relationships/image" Target="../media/image39.wmf"/><Relationship Id="rId12" Type="http://schemas.openxmlformats.org/officeDocument/2006/relationships/oleObject" Target="../embeddings/oleObject22.bin"/><Relationship Id="rId2" Type="http://schemas.openxmlformats.org/officeDocument/2006/relationships/oleObject" Target="../embeddings/oleObject17.bin"/><Relationship Id="rId1" Type="http://schemas.openxmlformats.org/officeDocument/2006/relationships/slideLayout" Target="../slideLayouts/slideLayout7.xml"/><Relationship Id="rId6" Type="http://schemas.openxmlformats.org/officeDocument/2006/relationships/oleObject" Target="../embeddings/oleObject19.bin"/><Relationship Id="rId11" Type="http://schemas.openxmlformats.org/officeDocument/2006/relationships/image" Target="../media/image41.wmf"/><Relationship Id="rId5" Type="http://schemas.openxmlformats.org/officeDocument/2006/relationships/image" Target="../media/image38.wmf"/><Relationship Id="rId15" Type="http://schemas.openxmlformats.org/officeDocument/2006/relationships/image" Target="../media/image43.emf"/><Relationship Id="rId10" Type="http://schemas.openxmlformats.org/officeDocument/2006/relationships/oleObject" Target="../embeddings/oleObject21.bin"/><Relationship Id="rId4" Type="http://schemas.openxmlformats.org/officeDocument/2006/relationships/oleObject" Target="../embeddings/oleObject18.bin"/><Relationship Id="rId9" Type="http://schemas.openxmlformats.org/officeDocument/2006/relationships/image" Target="../media/image40.wmf"/><Relationship Id="rId14" Type="http://schemas.openxmlformats.org/officeDocument/2006/relationships/oleObject" Target="../embeddings/oleObject23.bin"/></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oleObject" Target="../embeddings/oleObject24.bin"/><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28.bin"/><Relationship Id="rId13" Type="http://schemas.openxmlformats.org/officeDocument/2006/relationships/image" Target="../media/image50.wmf"/><Relationship Id="rId3" Type="http://schemas.openxmlformats.org/officeDocument/2006/relationships/image" Target="../media/image45.wmf"/><Relationship Id="rId7" Type="http://schemas.openxmlformats.org/officeDocument/2006/relationships/image" Target="../media/image47.wmf"/><Relationship Id="rId12" Type="http://schemas.openxmlformats.org/officeDocument/2006/relationships/oleObject" Target="../embeddings/oleObject30.bin"/><Relationship Id="rId17" Type="http://schemas.openxmlformats.org/officeDocument/2006/relationships/image" Target="../media/image52.wmf"/><Relationship Id="rId2" Type="http://schemas.openxmlformats.org/officeDocument/2006/relationships/oleObject" Target="../embeddings/oleObject25.bin"/><Relationship Id="rId16" Type="http://schemas.openxmlformats.org/officeDocument/2006/relationships/oleObject" Target="../embeddings/oleObject32.bin"/><Relationship Id="rId1" Type="http://schemas.openxmlformats.org/officeDocument/2006/relationships/slideLayout" Target="../slideLayouts/slideLayout7.xml"/><Relationship Id="rId6" Type="http://schemas.openxmlformats.org/officeDocument/2006/relationships/oleObject" Target="../embeddings/oleObject27.bin"/><Relationship Id="rId11" Type="http://schemas.openxmlformats.org/officeDocument/2006/relationships/image" Target="../media/image49.wmf"/><Relationship Id="rId5" Type="http://schemas.openxmlformats.org/officeDocument/2006/relationships/image" Target="../media/image46.wmf"/><Relationship Id="rId15" Type="http://schemas.openxmlformats.org/officeDocument/2006/relationships/image" Target="../media/image51.wmf"/><Relationship Id="rId10" Type="http://schemas.openxmlformats.org/officeDocument/2006/relationships/oleObject" Target="../embeddings/oleObject29.bin"/><Relationship Id="rId4" Type="http://schemas.openxmlformats.org/officeDocument/2006/relationships/oleObject" Target="../embeddings/oleObject26.bin"/><Relationship Id="rId9" Type="http://schemas.openxmlformats.org/officeDocument/2006/relationships/image" Target="../media/image48.wmf"/><Relationship Id="rId14" Type="http://schemas.openxmlformats.org/officeDocument/2006/relationships/oleObject" Target="../embeddings/oleObject31.bin"/></Relationships>
</file>

<file path=ppt/slides/_rels/slide16.xml.rels><?xml version="1.0" encoding="UTF-8" standalone="yes"?>
<Relationships xmlns="http://schemas.openxmlformats.org/package/2006/relationships"><Relationship Id="rId3" Type="http://schemas.openxmlformats.org/officeDocument/2006/relationships/image" Target="../media/image53.emf"/><Relationship Id="rId2" Type="http://schemas.openxmlformats.org/officeDocument/2006/relationships/oleObject" Target="../embeddings/oleObject33.bin"/><Relationship Id="rId1" Type="http://schemas.openxmlformats.org/officeDocument/2006/relationships/slideLayout" Target="../slideLayouts/slideLayout7.xml"/><Relationship Id="rId5" Type="http://schemas.openxmlformats.org/officeDocument/2006/relationships/image" Target="../media/image54.emf"/><Relationship Id="rId4" Type="http://schemas.openxmlformats.org/officeDocument/2006/relationships/oleObject" Target="../embeddings/oleObject34.bin"/></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38.bin"/><Relationship Id="rId3" Type="http://schemas.openxmlformats.org/officeDocument/2006/relationships/image" Target="../media/image55.emf"/><Relationship Id="rId7" Type="http://schemas.openxmlformats.org/officeDocument/2006/relationships/image" Target="../media/image57.wmf"/><Relationship Id="rId2" Type="http://schemas.openxmlformats.org/officeDocument/2006/relationships/oleObject" Target="../embeddings/oleObject35.bin"/><Relationship Id="rId1" Type="http://schemas.openxmlformats.org/officeDocument/2006/relationships/slideLayout" Target="../slideLayouts/slideLayout7.xml"/><Relationship Id="rId6" Type="http://schemas.openxmlformats.org/officeDocument/2006/relationships/oleObject" Target="../embeddings/oleObject37.bin"/><Relationship Id="rId11" Type="http://schemas.openxmlformats.org/officeDocument/2006/relationships/image" Target="../media/image59.wmf"/><Relationship Id="rId5" Type="http://schemas.openxmlformats.org/officeDocument/2006/relationships/image" Target="../media/image56.wmf"/><Relationship Id="rId10" Type="http://schemas.openxmlformats.org/officeDocument/2006/relationships/oleObject" Target="../embeddings/oleObject39.bin"/><Relationship Id="rId4" Type="http://schemas.openxmlformats.org/officeDocument/2006/relationships/oleObject" Target="../embeddings/oleObject36.bin"/><Relationship Id="rId9" Type="http://schemas.openxmlformats.org/officeDocument/2006/relationships/image" Target="../media/image58.wmf"/></Relationships>
</file>

<file path=ppt/slides/_rels/slide18.xml.rels><?xml version="1.0" encoding="UTF-8" standalone="yes"?>
<Relationships xmlns="http://schemas.openxmlformats.org/package/2006/relationships"><Relationship Id="rId3" Type="http://schemas.openxmlformats.org/officeDocument/2006/relationships/image" Target="../media/image60.wmf"/><Relationship Id="rId7" Type="http://schemas.openxmlformats.org/officeDocument/2006/relationships/image" Target="../media/image62.wmf"/><Relationship Id="rId2" Type="http://schemas.openxmlformats.org/officeDocument/2006/relationships/oleObject" Target="../embeddings/oleObject40.bin"/><Relationship Id="rId1" Type="http://schemas.openxmlformats.org/officeDocument/2006/relationships/slideLayout" Target="../slideLayouts/slideLayout7.xml"/><Relationship Id="rId6" Type="http://schemas.openxmlformats.org/officeDocument/2006/relationships/oleObject" Target="../embeddings/oleObject42.bin"/><Relationship Id="rId5" Type="http://schemas.openxmlformats.org/officeDocument/2006/relationships/image" Target="../media/image61.wmf"/><Relationship Id="rId4" Type="http://schemas.openxmlformats.org/officeDocument/2006/relationships/oleObject" Target="../embeddings/oleObject41.bin"/></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46.bin"/><Relationship Id="rId13" Type="http://schemas.openxmlformats.org/officeDocument/2006/relationships/image" Target="../media/image68.wmf"/><Relationship Id="rId3" Type="http://schemas.openxmlformats.org/officeDocument/2006/relationships/image" Target="../media/image63.emf"/><Relationship Id="rId7" Type="http://schemas.openxmlformats.org/officeDocument/2006/relationships/image" Target="../media/image65.wmf"/><Relationship Id="rId12" Type="http://schemas.openxmlformats.org/officeDocument/2006/relationships/oleObject" Target="../embeddings/oleObject48.bin"/><Relationship Id="rId2" Type="http://schemas.openxmlformats.org/officeDocument/2006/relationships/oleObject" Target="../embeddings/oleObject43.bin"/><Relationship Id="rId1" Type="http://schemas.openxmlformats.org/officeDocument/2006/relationships/slideLayout" Target="../slideLayouts/slideLayout7.xml"/><Relationship Id="rId6" Type="http://schemas.openxmlformats.org/officeDocument/2006/relationships/oleObject" Target="../embeddings/oleObject45.bin"/><Relationship Id="rId11" Type="http://schemas.openxmlformats.org/officeDocument/2006/relationships/image" Target="../media/image67.wmf"/><Relationship Id="rId5" Type="http://schemas.openxmlformats.org/officeDocument/2006/relationships/image" Target="../media/image64.wmf"/><Relationship Id="rId10" Type="http://schemas.openxmlformats.org/officeDocument/2006/relationships/oleObject" Target="../embeddings/oleObject47.bin"/><Relationship Id="rId4" Type="http://schemas.openxmlformats.org/officeDocument/2006/relationships/oleObject" Target="../embeddings/oleObject44.bin"/><Relationship Id="rId9" Type="http://schemas.openxmlformats.org/officeDocument/2006/relationships/image" Target="../media/image66.wmf"/></Relationships>
</file>

<file path=ppt/slides/_rels/slide20.xml.rels><?xml version="1.0" encoding="UTF-8" standalone="yes"?>
<Relationships xmlns="http://schemas.openxmlformats.org/package/2006/relationships"><Relationship Id="rId3" Type="http://schemas.openxmlformats.org/officeDocument/2006/relationships/image" Target="../media/image69.wmf"/><Relationship Id="rId2" Type="http://schemas.openxmlformats.org/officeDocument/2006/relationships/oleObject" Target="../embeddings/oleObject49.bin"/><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70.emf"/><Relationship Id="rId2" Type="http://schemas.openxmlformats.org/officeDocument/2006/relationships/oleObject" Target="../embeddings/oleObject50.bin"/><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71.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72.wmf"/><Relationship Id="rId2" Type="http://schemas.openxmlformats.org/officeDocument/2006/relationships/oleObject" Target="../embeddings/oleObject51.bin"/><Relationship Id="rId1" Type="http://schemas.openxmlformats.org/officeDocument/2006/relationships/slideLayout" Target="../slideLayouts/slideLayout7.xml"/><Relationship Id="rId5" Type="http://schemas.openxmlformats.org/officeDocument/2006/relationships/image" Target="../media/image73.wmf"/><Relationship Id="rId4" Type="http://schemas.openxmlformats.org/officeDocument/2006/relationships/oleObject" Target="../embeddings/oleObject52.bin"/></Relationships>
</file>

<file path=ppt/slides/_rels/slide24.xml.rels><?xml version="1.0" encoding="UTF-8" standalone="yes"?>
<Relationships xmlns="http://schemas.openxmlformats.org/package/2006/relationships"><Relationship Id="rId3" Type="http://schemas.openxmlformats.org/officeDocument/2006/relationships/image" Target="../media/image74.emf"/><Relationship Id="rId2" Type="http://schemas.openxmlformats.org/officeDocument/2006/relationships/oleObject" Target="../embeddings/oleObject53.bin"/><Relationship Id="rId1" Type="http://schemas.openxmlformats.org/officeDocument/2006/relationships/slideLayout" Target="../slideLayouts/slideLayout7.xml"/><Relationship Id="rId6" Type="http://schemas.openxmlformats.org/officeDocument/2006/relationships/image" Target="../media/image76.wmf"/><Relationship Id="rId5" Type="http://schemas.openxmlformats.org/officeDocument/2006/relationships/oleObject" Target="../embeddings/oleObject54.bin"/><Relationship Id="rId4" Type="http://schemas.openxmlformats.org/officeDocument/2006/relationships/image" Target="../media/image75.png"/></Relationships>
</file>

<file path=ppt/slides/_rels/slide25.xml.rels><?xml version="1.0" encoding="UTF-8" standalone="yes"?>
<Relationships xmlns="http://schemas.openxmlformats.org/package/2006/relationships"><Relationship Id="rId2" Type="http://schemas.openxmlformats.org/officeDocument/2006/relationships/image" Target="../media/image77.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78.wmf"/><Relationship Id="rId7" Type="http://schemas.openxmlformats.org/officeDocument/2006/relationships/image" Target="../media/image80.wmf"/><Relationship Id="rId2" Type="http://schemas.openxmlformats.org/officeDocument/2006/relationships/oleObject" Target="../embeddings/oleObject55.bin"/><Relationship Id="rId1" Type="http://schemas.openxmlformats.org/officeDocument/2006/relationships/slideLayout" Target="../slideLayouts/slideLayout7.xml"/><Relationship Id="rId6" Type="http://schemas.openxmlformats.org/officeDocument/2006/relationships/oleObject" Target="../embeddings/oleObject57.bin"/><Relationship Id="rId5" Type="http://schemas.openxmlformats.org/officeDocument/2006/relationships/image" Target="../media/image79.wmf"/><Relationship Id="rId4" Type="http://schemas.openxmlformats.org/officeDocument/2006/relationships/oleObject" Target="../embeddings/oleObject56.bin"/></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61.bin"/><Relationship Id="rId3" Type="http://schemas.openxmlformats.org/officeDocument/2006/relationships/image" Target="../media/image81.wmf"/><Relationship Id="rId7" Type="http://schemas.openxmlformats.org/officeDocument/2006/relationships/image" Target="../media/image83.emf"/><Relationship Id="rId2" Type="http://schemas.openxmlformats.org/officeDocument/2006/relationships/oleObject" Target="../embeddings/oleObject58.bin"/><Relationship Id="rId1" Type="http://schemas.openxmlformats.org/officeDocument/2006/relationships/slideLayout" Target="../slideLayouts/slideLayout7.xml"/><Relationship Id="rId6" Type="http://schemas.openxmlformats.org/officeDocument/2006/relationships/oleObject" Target="../embeddings/oleObject60.bin"/><Relationship Id="rId11" Type="http://schemas.openxmlformats.org/officeDocument/2006/relationships/image" Target="../media/image85.emf"/><Relationship Id="rId5" Type="http://schemas.openxmlformats.org/officeDocument/2006/relationships/image" Target="../media/image82.wmf"/><Relationship Id="rId10" Type="http://schemas.openxmlformats.org/officeDocument/2006/relationships/oleObject" Target="../embeddings/oleObject62.bin"/><Relationship Id="rId4" Type="http://schemas.openxmlformats.org/officeDocument/2006/relationships/oleObject" Target="../embeddings/oleObject59.bin"/><Relationship Id="rId9" Type="http://schemas.openxmlformats.org/officeDocument/2006/relationships/image" Target="../media/image84.emf"/></Relationships>
</file>

<file path=ppt/slides/_rels/slide29.xml.rels><?xml version="1.0" encoding="UTF-8" standalone="yes"?>
<Relationships xmlns="http://schemas.openxmlformats.org/package/2006/relationships"><Relationship Id="rId3" Type="http://schemas.openxmlformats.org/officeDocument/2006/relationships/image" Target="../media/image86.emf"/><Relationship Id="rId2" Type="http://schemas.openxmlformats.org/officeDocument/2006/relationships/oleObject" Target="../embeddings/oleObject63.bin"/><Relationship Id="rId1" Type="http://schemas.openxmlformats.org/officeDocument/2006/relationships/slideLayout" Target="../slideLayouts/slideLayout7.xml"/><Relationship Id="rId5" Type="http://schemas.openxmlformats.org/officeDocument/2006/relationships/image" Target="../media/image87.emf"/><Relationship Id="rId4" Type="http://schemas.openxmlformats.org/officeDocument/2006/relationships/oleObject" Target="../embeddings/oleObject64.bin"/></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88.wmf"/><Relationship Id="rId2" Type="http://schemas.openxmlformats.org/officeDocument/2006/relationships/oleObject" Target="../embeddings/oleObject65.bin"/><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69.bin"/><Relationship Id="rId13" Type="http://schemas.openxmlformats.org/officeDocument/2006/relationships/image" Target="../media/image93.emf"/><Relationship Id="rId3" Type="http://schemas.openxmlformats.org/officeDocument/2006/relationships/image" Target="../media/image89.wmf"/><Relationship Id="rId7" Type="http://schemas.openxmlformats.org/officeDocument/2006/relationships/image" Target="../media/image91.wmf"/><Relationship Id="rId12" Type="http://schemas.openxmlformats.org/officeDocument/2006/relationships/oleObject" Target="../embeddings/oleObject71.bin"/><Relationship Id="rId2" Type="http://schemas.openxmlformats.org/officeDocument/2006/relationships/oleObject" Target="../embeddings/oleObject66.bin"/><Relationship Id="rId1" Type="http://schemas.openxmlformats.org/officeDocument/2006/relationships/slideLayout" Target="../slideLayouts/slideLayout7.xml"/><Relationship Id="rId6" Type="http://schemas.openxmlformats.org/officeDocument/2006/relationships/oleObject" Target="../embeddings/oleObject68.bin"/><Relationship Id="rId11" Type="http://schemas.openxmlformats.org/officeDocument/2006/relationships/image" Target="../media/image92.wmf"/><Relationship Id="rId5" Type="http://schemas.openxmlformats.org/officeDocument/2006/relationships/image" Target="../media/image90.wmf"/><Relationship Id="rId10" Type="http://schemas.openxmlformats.org/officeDocument/2006/relationships/oleObject" Target="../embeddings/oleObject70.bin"/><Relationship Id="rId4" Type="http://schemas.openxmlformats.org/officeDocument/2006/relationships/oleObject" Target="../embeddings/oleObject67.bin"/><Relationship Id="rId9" Type="http://schemas.openxmlformats.org/officeDocument/2006/relationships/image" Target="../media/image66.wmf"/></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75.bin"/><Relationship Id="rId13" Type="http://schemas.openxmlformats.org/officeDocument/2006/relationships/image" Target="../media/image99.wmf"/><Relationship Id="rId3" Type="http://schemas.openxmlformats.org/officeDocument/2006/relationships/image" Target="../media/image94.wmf"/><Relationship Id="rId7" Type="http://schemas.openxmlformats.org/officeDocument/2006/relationships/image" Target="../media/image96.wmf"/><Relationship Id="rId12" Type="http://schemas.openxmlformats.org/officeDocument/2006/relationships/oleObject" Target="../embeddings/oleObject77.bin"/><Relationship Id="rId2" Type="http://schemas.openxmlformats.org/officeDocument/2006/relationships/oleObject" Target="../embeddings/oleObject72.bin"/><Relationship Id="rId1" Type="http://schemas.openxmlformats.org/officeDocument/2006/relationships/slideLayout" Target="../slideLayouts/slideLayout7.xml"/><Relationship Id="rId6" Type="http://schemas.openxmlformats.org/officeDocument/2006/relationships/oleObject" Target="../embeddings/oleObject74.bin"/><Relationship Id="rId11" Type="http://schemas.openxmlformats.org/officeDocument/2006/relationships/image" Target="../media/image98.wmf"/><Relationship Id="rId5" Type="http://schemas.openxmlformats.org/officeDocument/2006/relationships/image" Target="../media/image95.wmf"/><Relationship Id="rId15" Type="http://schemas.openxmlformats.org/officeDocument/2006/relationships/image" Target="../media/image100.wmf"/><Relationship Id="rId10" Type="http://schemas.openxmlformats.org/officeDocument/2006/relationships/oleObject" Target="../embeddings/oleObject76.bin"/><Relationship Id="rId4" Type="http://schemas.openxmlformats.org/officeDocument/2006/relationships/oleObject" Target="../embeddings/oleObject73.bin"/><Relationship Id="rId9" Type="http://schemas.openxmlformats.org/officeDocument/2006/relationships/image" Target="../media/image97.wmf"/><Relationship Id="rId14" Type="http://schemas.openxmlformats.org/officeDocument/2006/relationships/oleObject" Target="../embeddings/oleObject78.bin"/></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82.bin"/><Relationship Id="rId3" Type="http://schemas.openxmlformats.org/officeDocument/2006/relationships/image" Target="../media/image101.wmf"/><Relationship Id="rId7" Type="http://schemas.openxmlformats.org/officeDocument/2006/relationships/image" Target="../media/image103.wmf"/><Relationship Id="rId2" Type="http://schemas.openxmlformats.org/officeDocument/2006/relationships/oleObject" Target="../embeddings/oleObject79.bin"/><Relationship Id="rId1" Type="http://schemas.openxmlformats.org/officeDocument/2006/relationships/slideLayout" Target="../slideLayouts/slideLayout7.xml"/><Relationship Id="rId6" Type="http://schemas.openxmlformats.org/officeDocument/2006/relationships/oleObject" Target="../embeddings/oleObject81.bin"/><Relationship Id="rId5" Type="http://schemas.openxmlformats.org/officeDocument/2006/relationships/image" Target="../media/image102.wmf"/><Relationship Id="rId4" Type="http://schemas.openxmlformats.org/officeDocument/2006/relationships/oleObject" Target="../embeddings/oleObject80.bin"/><Relationship Id="rId9" Type="http://schemas.openxmlformats.org/officeDocument/2006/relationships/image" Target="../media/image104.wm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105.wmf"/><Relationship Id="rId2" Type="http://schemas.openxmlformats.org/officeDocument/2006/relationships/oleObject" Target="../embeddings/oleObject83.bin"/><Relationship Id="rId1" Type="http://schemas.openxmlformats.org/officeDocument/2006/relationships/slideLayout" Target="../slideLayouts/slideLayout7.xml"/><Relationship Id="rId5" Type="http://schemas.openxmlformats.org/officeDocument/2006/relationships/image" Target="../media/image106.wmf"/><Relationship Id="rId4" Type="http://schemas.openxmlformats.org/officeDocument/2006/relationships/oleObject" Target="../embeddings/oleObject84.bin"/></Relationships>
</file>

<file path=ppt/slides/_rels/slide37.xml.rels><?xml version="1.0" encoding="UTF-8" standalone="yes"?>
<Relationships xmlns="http://schemas.openxmlformats.org/package/2006/relationships"><Relationship Id="rId3" Type="http://schemas.openxmlformats.org/officeDocument/2006/relationships/image" Target="../media/image107.wmf"/><Relationship Id="rId7" Type="http://schemas.openxmlformats.org/officeDocument/2006/relationships/image" Target="../media/image109.wmf"/><Relationship Id="rId2" Type="http://schemas.openxmlformats.org/officeDocument/2006/relationships/oleObject" Target="../embeddings/oleObject85.bin"/><Relationship Id="rId1" Type="http://schemas.openxmlformats.org/officeDocument/2006/relationships/slideLayout" Target="../slideLayouts/slideLayout7.xml"/><Relationship Id="rId6" Type="http://schemas.openxmlformats.org/officeDocument/2006/relationships/oleObject" Target="../embeddings/oleObject87.bin"/><Relationship Id="rId5" Type="http://schemas.openxmlformats.org/officeDocument/2006/relationships/image" Target="../media/image108.wmf"/><Relationship Id="rId4" Type="http://schemas.openxmlformats.org/officeDocument/2006/relationships/oleObject" Target="../embeddings/oleObject86.bin"/></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91.bin"/><Relationship Id="rId3" Type="http://schemas.openxmlformats.org/officeDocument/2006/relationships/image" Target="../media/image110.wmf"/><Relationship Id="rId7" Type="http://schemas.openxmlformats.org/officeDocument/2006/relationships/image" Target="../media/image112.wmf"/><Relationship Id="rId2" Type="http://schemas.openxmlformats.org/officeDocument/2006/relationships/oleObject" Target="../embeddings/oleObject88.bin"/><Relationship Id="rId1" Type="http://schemas.openxmlformats.org/officeDocument/2006/relationships/slideLayout" Target="../slideLayouts/slideLayout7.xml"/><Relationship Id="rId6" Type="http://schemas.openxmlformats.org/officeDocument/2006/relationships/oleObject" Target="../embeddings/oleObject90.bin"/><Relationship Id="rId5" Type="http://schemas.openxmlformats.org/officeDocument/2006/relationships/image" Target="../media/image111.wmf"/><Relationship Id="rId4" Type="http://schemas.openxmlformats.org/officeDocument/2006/relationships/oleObject" Target="../embeddings/oleObject89.bin"/><Relationship Id="rId9" Type="http://schemas.openxmlformats.org/officeDocument/2006/relationships/image" Target="../media/image113.wmf"/></Relationships>
</file>

<file path=ppt/slides/_rels/slide39.xml.rels><?xml version="1.0" encoding="UTF-8" standalone="yes"?>
<Relationships xmlns="http://schemas.openxmlformats.org/package/2006/relationships"><Relationship Id="rId3" Type="http://schemas.openxmlformats.org/officeDocument/2006/relationships/image" Target="../media/image114.wmf"/><Relationship Id="rId2" Type="http://schemas.openxmlformats.org/officeDocument/2006/relationships/oleObject" Target="../embeddings/oleObject92.bin"/><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115.wmf"/><Relationship Id="rId2" Type="http://schemas.openxmlformats.org/officeDocument/2006/relationships/oleObject" Target="../embeddings/oleObject93.bin"/><Relationship Id="rId1" Type="http://schemas.openxmlformats.org/officeDocument/2006/relationships/slideLayout" Target="../slideLayouts/slideLayout7.xml"/><Relationship Id="rId5" Type="http://schemas.openxmlformats.org/officeDocument/2006/relationships/image" Target="../media/image116.wmf"/><Relationship Id="rId4" Type="http://schemas.openxmlformats.org/officeDocument/2006/relationships/oleObject" Target="../embeddings/oleObject94.bin"/></Relationships>
</file>

<file path=ppt/slides/_rels/slide41.xml.rels><?xml version="1.0" encoding="UTF-8" standalone="yes"?>
<Relationships xmlns="http://schemas.openxmlformats.org/package/2006/relationships"><Relationship Id="rId8" Type="http://schemas.openxmlformats.org/officeDocument/2006/relationships/oleObject" Target="../embeddings/oleObject98.bin"/><Relationship Id="rId13" Type="http://schemas.openxmlformats.org/officeDocument/2006/relationships/image" Target="../media/image122.wmf"/><Relationship Id="rId3" Type="http://schemas.openxmlformats.org/officeDocument/2006/relationships/image" Target="../media/image117.wmf"/><Relationship Id="rId7" Type="http://schemas.openxmlformats.org/officeDocument/2006/relationships/image" Target="../media/image119.wmf"/><Relationship Id="rId12" Type="http://schemas.openxmlformats.org/officeDocument/2006/relationships/oleObject" Target="../embeddings/oleObject100.bin"/><Relationship Id="rId2" Type="http://schemas.openxmlformats.org/officeDocument/2006/relationships/oleObject" Target="../embeddings/oleObject95.bin"/><Relationship Id="rId1" Type="http://schemas.openxmlformats.org/officeDocument/2006/relationships/slideLayout" Target="../slideLayouts/slideLayout7.xml"/><Relationship Id="rId6" Type="http://schemas.openxmlformats.org/officeDocument/2006/relationships/oleObject" Target="../embeddings/oleObject97.bin"/><Relationship Id="rId11" Type="http://schemas.openxmlformats.org/officeDocument/2006/relationships/image" Target="../media/image121.wmf"/><Relationship Id="rId5" Type="http://schemas.openxmlformats.org/officeDocument/2006/relationships/image" Target="../media/image118.wmf"/><Relationship Id="rId10" Type="http://schemas.openxmlformats.org/officeDocument/2006/relationships/oleObject" Target="../embeddings/oleObject99.bin"/><Relationship Id="rId4" Type="http://schemas.openxmlformats.org/officeDocument/2006/relationships/oleObject" Target="../embeddings/oleObject96.bin"/><Relationship Id="rId9" Type="http://schemas.openxmlformats.org/officeDocument/2006/relationships/image" Target="../media/image120.wmf"/></Relationships>
</file>

<file path=ppt/slides/_rels/slide42.xml.rels><?xml version="1.0" encoding="UTF-8" standalone="yes"?>
<Relationships xmlns="http://schemas.openxmlformats.org/package/2006/relationships"><Relationship Id="rId3" Type="http://schemas.openxmlformats.org/officeDocument/2006/relationships/image" Target="../media/image123.emf"/><Relationship Id="rId7" Type="http://schemas.openxmlformats.org/officeDocument/2006/relationships/image" Target="../media/image125.wmf"/><Relationship Id="rId2" Type="http://schemas.openxmlformats.org/officeDocument/2006/relationships/oleObject" Target="../embeddings/oleObject101.bin"/><Relationship Id="rId1" Type="http://schemas.openxmlformats.org/officeDocument/2006/relationships/slideLayout" Target="../slideLayouts/slideLayout7.xml"/><Relationship Id="rId6" Type="http://schemas.openxmlformats.org/officeDocument/2006/relationships/oleObject" Target="../embeddings/oleObject103.bin"/><Relationship Id="rId5" Type="http://schemas.openxmlformats.org/officeDocument/2006/relationships/image" Target="../media/image124.wmf"/><Relationship Id="rId4" Type="http://schemas.openxmlformats.org/officeDocument/2006/relationships/oleObject" Target="../embeddings/oleObject102.bin"/></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104.bin"/><Relationship Id="rId2" Type="http://schemas.openxmlformats.org/officeDocument/2006/relationships/image" Target="../media/image126.emf"/><Relationship Id="rId1" Type="http://schemas.openxmlformats.org/officeDocument/2006/relationships/slideLayout" Target="../slideLayouts/slideLayout7.xml"/><Relationship Id="rId4" Type="http://schemas.openxmlformats.org/officeDocument/2006/relationships/image" Target="../media/image127.wmf"/></Relationships>
</file>

<file path=ppt/slides/_rels/slide44.xml.rels><?xml version="1.0" encoding="UTF-8" standalone="yes"?>
<Relationships xmlns="http://schemas.openxmlformats.org/package/2006/relationships"><Relationship Id="rId3" Type="http://schemas.openxmlformats.org/officeDocument/2006/relationships/image" Target="../media/image128.wmf"/><Relationship Id="rId2" Type="http://schemas.openxmlformats.org/officeDocument/2006/relationships/oleObject" Target="../embeddings/oleObject105.bin"/><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8" Type="http://schemas.openxmlformats.org/officeDocument/2006/relationships/oleObject" Target="../embeddings/oleObject109.bin"/><Relationship Id="rId13" Type="http://schemas.openxmlformats.org/officeDocument/2006/relationships/image" Target="../media/image134.wmf"/><Relationship Id="rId3" Type="http://schemas.openxmlformats.org/officeDocument/2006/relationships/image" Target="../media/image129.wmf"/><Relationship Id="rId7" Type="http://schemas.openxmlformats.org/officeDocument/2006/relationships/image" Target="../media/image131.wmf"/><Relationship Id="rId12" Type="http://schemas.openxmlformats.org/officeDocument/2006/relationships/oleObject" Target="../embeddings/oleObject111.bin"/><Relationship Id="rId2" Type="http://schemas.openxmlformats.org/officeDocument/2006/relationships/oleObject" Target="../embeddings/oleObject106.bin"/><Relationship Id="rId1" Type="http://schemas.openxmlformats.org/officeDocument/2006/relationships/slideLayout" Target="../slideLayouts/slideLayout7.xml"/><Relationship Id="rId6" Type="http://schemas.openxmlformats.org/officeDocument/2006/relationships/oleObject" Target="../embeddings/oleObject108.bin"/><Relationship Id="rId11" Type="http://schemas.openxmlformats.org/officeDocument/2006/relationships/image" Target="../media/image133.wmf"/><Relationship Id="rId5" Type="http://schemas.openxmlformats.org/officeDocument/2006/relationships/image" Target="../media/image130.wmf"/><Relationship Id="rId15" Type="http://schemas.openxmlformats.org/officeDocument/2006/relationships/image" Target="../media/image135.wmf"/><Relationship Id="rId10" Type="http://schemas.openxmlformats.org/officeDocument/2006/relationships/oleObject" Target="../embeddings/oleObject110.bin"/><Relationship Id="rId4" Type="http://schemas.openxmlformats.org/officeDocument/2006/relationships/oleObject" Target="../embeddings/oleObject107.bin"/><Relationship Id="rId9" Type="http://schemas.openxmlformats.org/officeDocument/2006/relationships/image" Target="../media/image132.wmf"/><Relationship Id="rId14" Type="http://schemas.openxmlformats.org/officeDocument/2006/relationships/oleObject" Target="../embeddings/oleObject112.bin"/></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8" Type="http://schemas.openxmlformats.org/officeDocument/2006/relationships/oleObject" Target="../embeddings/oleObject116.bin"/><Relationship Id="rId13" Type="http://schemas.openxmlformats.org/officeDocument/2006/relationships/image" Target="../media/image141.emf"/><Relationship Id="rId3" Type="http://schemas.openxmlformats.org/officeDocument/2006/relationships/image" Target="../media/image136.emf"/><Relationship Id="rId7" Type="http://schemas.openxmlformats.org/officeDocument/2006/relationships/image" Target="../media/image138.emf"/><Relationship Id="rId12" Type="http://schemas.openxmlformats.org/officeDocument/2006/relationships/oleObject" Target="../embeddings/oleObject118.bin"/><Relationship Id="rId2" Type="http://schemas.openxmlformats.org/officeDocument/2006/relationships/oleObject" Target="../embeddings/oleObject113.bin"/><Relationship Id="rId1" Type="http://schemas.openxmlformats.org/officeDocument/2006/relationships/slideLayout" Target="../slideLayouts/slideLayout7.xml"/><Relationship Id="rId6" Type="http://schemas.openxmlformats.org/officeDocument/2006/relationships/oleObject" Target="../embeddings/oleObject115.bin"/><Relationship Id="rId11" Type="http://schemas.openxmlformats.org/officeDocument/2006/relationships/image" Target="../media/image140.emf"/><Relationship Id="rId5" Type="http://schemas.openxmlformats.org/officeDocument/2006/relationships/image" Target="../media/image137.emf"/><Relationship Id="rId10" Type="http://schemas.openxmlformats.org/officeDocument/2006/relationships/oleObject" Target="../embeddings/oleObject117.bin"/><Relationship Id="rId4" Type="http://schemas.openxmlformats.org/officeDocument/2006/relationships/oleObject" Target="../embeddings/oleObject114.bin"/><Relationship Id="rId9" Type="http://schemas.openxmlformats.org/officeDocument/2006/relationships/image" Target="../media/image139.emf"/></Relationships>
</file>

<file path=ppt/slides/_rels/slide48.xml.rels><?xml version="1.0" encoding="UTF-8" standalone="yes"?>
<Relationships xmlns="http://schemas.openxmlformats.org/package/2006/relationships"><Relationship Id="rId8" Type="http://schemas.openxmlformats.org/officeDocument/2006/relationships/oleObject" Target="../embeddings/oleObject122.bin"/><Relationship Id="rId13" Type="http://schemas.openxmlformats.org/officeDocument/2006/relationships/image" Target="../media/image147.emf"/><Relationship Id="rId3" Type="http://schemas.openxmlformats.org/officeDocument/2006/relationships/image" Target="../media/image142.emf"/><Relationship Id="rId7" Type="http://schemas.openxmlformats.org/officeDocument/2006/relationships/image" Target="../media/image144.emf"/><Relationship Id="rId12" Type="http://schemas.openxmlformats.org/officeDocument/2006/relationships/oleObject" Target="../embeddings/oleObject124.bin"/><Relationship Id="rId17" Type="http://schemas.openxmlformats.org/officeDocument/2006/relationships/image" Target="../media/image149.emf"/><Relationship Id="rId2" Type="http://schemas.openxmlformats.org/officeDocument/2006/relationships/oleObject" Target="../embeddings/oleObject119.bin"/><Relationship Id="rId16" Type="http://schemas.openxmlformats.org/officeDocument/2006/relationships/oleObject" Target="../embeddings/oleObject126.bin"/><Relationship Id="rId1" Type="http://schemas.openxmlformats.org/officeDocument/2006/relationships/slideLayout" Target="../slideLayouts/slideLayout7.xml"/><Relationship Id="rId6" Type="http://schemas.openxmlformats.org/officeDocument/2006/relationships/oleObject" Target="../embeddings/oleObject121.bin"/><Relationship Id="rId11" Type="http://schemas.openxmlformats.org/officeDocument/2006/relationships/image" Target="../media/image146.emf"/><Relationship Id="rId5" Type="http://schemas.openxmlformats.org/officeDocument/2006/relationships/image" Target="../media/image143.emf"/><Relationship Id="rId15" Type="http://schemas.openxmlformats.org/officeDocument/2006/relationships/image" Target="../media/image148.emf"/><Relationship Id="rId10" Type="http://schemas.openxmlformats.org/officeDocument/2006/relationships/oleObject" Target="../embeddings/oleObject123.bin"/><Relationship Id="rId4" Type="http://schemas.openxmlformats.org/officeDocument/2006/relationships/oleObject" Target="../embeddings/oleObject120.bin"/><Relationship Id="rId9" Type="http://schemas.openxmlformats.org/officeDocument/2006/relationships/image" Target="../media/image145.emf"/><Relationship Id="rId14" Type="http://schemas.openxmlformats.org/officeDocument/2006/relationships/oleObject" Target="../embeddings/oleObject125.bin"/></Relationships>
</file>

<file path=ppt/slides/_rels/slide49.xml.rels><?xml version="1.0" encoding="UTF-8" standalone="yes"?>
<Relationships xmlns="http://schemas.openxmlformats.org/package/2006/relationships"><Relationship Id="rId8" Type="http://schemas.openxmlformats.org/officeDocument/2006/relationships/oleObject" Target="../embeddings/oleObject130.bin"/><Relationship Id="rId13" Type="http://schemas.openxmlformats.org/officeDocument/2006/relationships/image" Target="../media/image155.emf"/><Relationship Id="rId3" Type="http://schemas.openxmlformats.org/officeDocument/2006/relationships/image" Target="../media/image150.emf"/><Relationship Id="rId7" Type="http://schemas.openxmlformats.org/officeDocument/2006/relationships/image" Target="../media/image152.emf"/><Relationship Id="rId12" Type="http://schemas.openxmlformats.org/officeDocument/2006/relationships/oleObject" Target="../embeddings/oleObject132.bin"/><Relationship Id="rId2" Type="http://schemas.openxmlformats.org/officeDocument/2006/relationships/oleObject" Target="../embeddings/oleObject127.bin"/><Relationship Id="rId1" Type="http://schemas.openxmlformats.org/officeDocument/2006/relationships/slideLayout" Target="../slideLayouts/slideLayout7.xml"/><Relationship Id="rId6" Type="http://schemas.openxmlformats.org/officeDocument/2006/relationships/oleObject" Target="../embeddings/oleObject129.bin"/><Relationship Id="rId11" Type="http://schemas.openxmlformats.org/officeDocument/2006/relationships/image" Target="../media/image154.emf"/><Relationship Id="rId5" Type="http://schemas.openxmlformats.org/officeDocument/2006/relationships/image" Target="../media/image151.emf"/><Relationship Id="rId15" Type="http://schemas.openxmlformats.org/officeDocument/2006/relationships/image" Target="../media/image156.emf"/><Relationship Id="rId10" Type="http://schemas.openxmlformats.org/officeDocument/2006/relationships/oleObject" Target="../embeddings/oleObject131.bin"/><Relationship Id="rId4" Type="http://schemas.openxmlformats.org/officeDocument/2006/relationships/oleObject" Target="../embeddings/oleObject128.bin"/><Relationship Id="rId9" Type="http://schemas.openxmlformats.org/officeDocument/2006/relationships/image" Target="../media/image153.emf"/><Relationship Id="rId14" Type="http://schemas.openxmlformats.org/officeDocument/2006/relationships/oleObject" Target="../embeddings/oleObject133.bin"/></Relationships>
</file>

<file path=ppt/slides/_rels/slide50.xml.rels><?xml version="1.0" encoding="UTF-8" standalone="yes"?>
<Relationships xmlns="http://schemas.openxmlformats.org/package/2006/relationships"><Relationship Id="rId8" Type="http://schemas.openxmlformats.org/officeDocument/2006/relationships/oleObject" Target="../embeddings/oleObject137.bin"/><Relationship Id="rId13" Type="http://schemas.openxmlformats.org/officeDocument/2006/relationships/image" Target="../media/image162.emf"/><Relationship Id="rId3" Type="http://schemas.openxmlformats.org/officeDocument/2006/relationships/image" Target="../media/image157.emf"/><Relationship Id="rId7" Type="http://schemas.openxmlformats.org/officeDocument/2006/relationships/image" Target="../media/image159.emf"/><Relationship Id="rId12" Type="http://schemas.openxmlformats.org/officeDocument/2006/relationships/oleObject" Target="../embeddings/oleObject139.bin"/><Relationship Id="rId2" Type="http://schemas.openxmlformats.org/officeDocument/2006/relationships/oleObject" Target="../embeddings/oleObject134.bin"/><Relationship Id="rId1" Type="http://schemas.openxmlformats.org/officeDocument/2006/relationships/slideLayout" Target="../slideLayouts/slideLayout7.xml"/><Relationship Id="rId6" Type="http://schemas.openxmlformats.org/officeDocument/2006/relationships/oleObject" Target="../embeddings/oleObject136.bin"/><Relationship Id="rId11" Type="http://schemas.openxmlformats.org/officeDocument/2006/relationships/image" Target="../media/image161.emf"/><Relationship Id="rId5" Type="http://schemas.openxmlformats.org/officeDocument/2006/relationships/image" Target="../media/image158.emf"/><Relationship Id="rId15" Type="http://schemas.openxmlformats.org/officeDocument/2006/relationships/image" Target="../media/image163.emf"/><Relationship Id="rId10" Type="http://schemas.openxmlformats.org/officeDocument/2006/relationships/oleObject" Target="../embeddings/oleObject138.bin"/><Relationship Id="rId4" Type="http://schemas.openxmlformats.org/officeDocument/2006/relationships/oleObject" Target="../embeddings/oleObject135.bin"/><Relationship Id="rId9" Type="http://schemas.openxmlformats.org/officeDocument/2006/relationships/image" Target="../media/image160.emf"/><Relationship Id="rId14" Type="http://schemas.openxmlformats.org/officeDocument/2006/relationships/oleObject" Target="../embeddings/oleObject140.bin"/></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164.wmf"/><Relationship Id="rId7" Type="http://schemas.openxmlformats.org/officeDocument/2006/relationships/image" Target="../media/image166.wmf"/><Relationship Id="rId2" Type="http://schemas.openxmlformats.org/officeDocument/2006/relationships/oleObject" Target="../embeddings/oleObject141.bin"/><Relationship Id="rId1" Type="http://schemas.openxmlformats.org/officeDocument/2006/relationships/slideLayout" Target="../slideLayouts/slideLayout7.xml"/><Relationship Id="rId6" Type="http://schemas.openxmlformats.org/officeDocument/2006/relationships/oleObject" Target="../embeddings/oleObject143.bin"/><Relationship Id="rId5" Type="http://schemas.openxmlformats.org/officeDocument/2006/relationships/image" Target="../media/image165.wmf"/><Relationship Id="rId4" Type="http://schemas.openxmlformats.org/officeDocument/2006/relationships/oleObject" Target="../embeddings/oleObject142.bin"/></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8" Type="http://schemas.openxmlformats.org/officeDocument/2006/relationships/oleObject" Target="../embeddings/oleObject147.bin"/><Relationship Id="rId3" Type="http://schemas.openxmlformats.org/officeDocument/2006/relationships/image" Target="../media/image167.emf"/><Relationship Id="rId7" Type="http://schemas.openxmlformats.org/officeDocument/2006/relationships/image" Target="../media/image169.emf"/><Relationship Id="rId12" Type="http://schemas.openxmlformats.org/officeDocument/2006/relationships/oleObject" Target="../embeddings/oleObject149.bin"/><Relationship Id="rId2" Type="http://schemas.openxmlformats.org/officeDocument/2006/relationships/oleObject" Target="../embeddings/oleObject144.bin"/><Relationship Id="rId1" Type="http://schemas.openxmlformats.org/officeDocument/2006/relationships/slideLayout" Target="../slideLayouts/slideLayout7.xml"/><Relationship Id="rId6" Type="http://schemas.openxmlformats.org/officeDocument/2006/relationships/oleObject" Target="../embeddings/oleObject146.bin"/><Relationship Id="rId11" Type="http://schemas.openxmlformats.org/officeDocument/2006/relationships/image" Target="../media/image171.emf"/><Relationship Id="rId5" Type="http://schemas.openxmlformats.org/officeDocument/2006/relationships/image" Target="../media/image168.emf"/><Relationship Id="rId10" Type="http://schemas.openxmlformats.org/officeDocument/2006/relationships/oleObject" Target="../embeddings/oleObject148.bin"/><Relationship Id="rId4" Type="http://schemas.openxmlformats.org/officeDocument/2006/relationships/oleObject" Target="../embeddings/oleObject145.bin"/><Relationship Id="rId9" Type="http://schemas.openxmlformats.org/officeDocument/2006/relationships/image" Target="../media/image170.emf"/></Relationships>
</file>

<file path=ppt/slides/_rels/slide55.xml.rels><?xml version="1.0" encoding="UTF-8" standalone="yes"?>
<Relationships xmlns="http://schemas.openxmlformats.org/package/2006/relationships"><Relationship Id="rId8" Type="http://schemas.openxmlformats.org/officeDocument/2006/relationships/image" Target="../media/image174.emf"/><Relationship Id="rId3" Type="http://schemas.openxmlformats.org/officeDocument/2006/relationships/oleObject" Target="../embeddings/oleObject150.bin"/><Relationship Id="rId7" Type="http://schemas.openxmlformats.org/officeDocument/2006/relationships/oleObject" Target="../embeddings/oleObject152.bin"/><Relationship Id="rId12" Type="http://schemas.openxmlformats.org/officeDocument/2006/relationships/image" Target="../media/image176.emf"/><Relationship Id="rId2" Type="http://schemas.openxmlformats.org/officeDocument/2006/relationships/audio" Target="../media/audio1.wav"/><Relationship Id="rId1" Type="http://schemas.openxmlformats.org/officeDocument/2006/relationships/slideLayout" Target="../slideLayouts/slideLayout7.xml"/><Relationship Id="rId6" Type="http://schemas.openxmlformats.org/officeDocument/2006/relationships/image" Target="../media/image173.emf"/><Relationship Id="rId11" Type="http://schemas.openxmlformats.org/officeDocument/2006/relationships/oleObject" Target="../embeddings/oleObject154.bin"/><Relationship Id="rId5" Type="http://schemas.openxmlformats.org/officeDocument/2006/relationships/oleObject" Target="../embeddings/oleObject151.bin"/><Relationship Id="rId10" Type="http://schemas.openxmlformats.org/officeDocument/2006/relationships/image" Target="../media/image175.emf"/><Relationship Id="rId4" Type="http://schemas.openxmlformats.org/officeDocument/2006/relationships/image" Target="../media/image172.emf"/><Relationship Id="rId9" Type="http://schemas.openxmlformats.org/officeDocument/2006/relationships/oleObject" Target="../embeddings/oleObject153.bin"/></Relationships>
</file>

<file path=ppt/slides/_rels/slide56.xml.rels><?xml version="1.0" encoding="UTF-8" standalone="yes"?>
<Relationships xmlns="http://schemas.openxmlformats.org/package/2006/relationships"><Relationship Id="rId3" Type="http://schemas.openxmlformats.org/officeDocument/2006/relationships/image" Target="../media/image177.wmf"/><Relationship Id="rId2" Type="http://schemas.openxmlformats.org/officeDocument/2006/relationships/oleObject" Target="../embeddings/oleObject155.bin"/><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178.wmf"/><Relationship Id="rId7" Type="http://schemas.openxmlformats.org/officeDocument/2006/relationships/image" Target="../media/image180.wmf"/><Relationship Id="rId2" Type="http://schemas.openxmlformats.org/officeDocument/2006/relationships/oleObject" Target="../embeddings/oleObject156.bin"/><Relationship Id="rId1" Type="http://schemas.openxmlformats.org/officeDocument/2006/relationships/slideLayout" Target="../slideLayouts/slideLayout7.xml"/><Relationship Id="rId6" Type="http://schemas.openxmlformats.org/officeDocument/2006/relationships/oleObject" Target="../embeddings/oleObject158.bin"/><Relationship Id="rId5" Type="http://schemas.openxmlformats.org/officeDocument/2006/relationships/image" Target="../media/image179.wmf"/><Relationship Id="rId4" Type="http://schemas.openxmlformats.org/officeDocument/2006/relationships/oleObject" Target="../embeddings/oleObject157.bin"/></Relationships>
</file>

<file path=ppt/slides/_rels/slide58.xml.rels><?xml version="1.0" encoding="UTF-8" standalone="yes"?>
<Relationships xmlns="http://schemas.openxmlformats.org/package/2006/relationships"><Relationship Id="rId8" Type="http://schemas.openxmlformats.org/officeDocument/2006/relationships/oleObject" Target="../embeddings/oleObject162.bin"/><Relationship Id="rId3" Type="http://schemas.openxmlformats.org/officeDocument/2006/relationships/image" Target="../media/image181.wmf"/><Relationship Id="rId7" Type="http://schemas.openxmlformats.org/officeDocument/2006/relationships/image" Target="../media/image183.wmf"/><Relationship Id="rId2" Type="http://schemas.openxmlformats.org/officeDocument/2006/relationships/oleObject" Target="../embeddings/oleObject159.bin"/><Relationship Id="rId1" Type="http://schemas.openxmlformats.org/officeDocument/2006/relationships/slideLayout" Target="../slideLayouts/slideLayout7.xml"/><Relationship Id="rId6" Type="http://schemas.openxmlformats.org/officeDocument/2006/relationships/oleObject" Target="../embeddings/oleObject161.bin"/><Relationship Id="rId5" Type="http://schemas.openxmlformats.org/officeDocument/2006/relationships/image" Target="../media/image182.wmf"/><Relationship Id="rId4" Type="http://schemas.openxmlformats.org/officeDocument/2006/relationships/oleObject" Target="../embeddings/oleObject160.bin"/><Relationship Id="rId9" Type="http://schemas.openxmlformats.org/officeDocument/2006/relationships/image" Target="../media/image184.wmf"/></Relationships>
</file>

<file path=ppt/slides/_rels/slide59.xml.rels><?xml version="1.0" encoding="UTF-8" standalone="yes"?>
<Relationships xmlns="http://schemas.openxmlformats.org/package/2006/relationships"><Relationship Id="rId8" Type="http://schemas.openxmlformats.org/officeDocument/2006/relationships/oleObject" Target="../embeddings/oleObject166.bin"/><Relationship Id="rId13" Type="http://schemas.openxmlformats.org/officeDocument/2006/relationships/image" Target="../media/image190.wmf"/><Relationship Id="rId3" Type="http://schemas.openxmlformats.org/officeDocument/2006/relationships/image" Target="../media/image185.wmf"/><Relationship Id="rId7" Type="http://schemas.openxmlformats.org/officeDocument/2006/relationships/image" Target="../media/image187.wmf"/><Relationship Id="rId12" Type="http://schemas.openxmlformats.org/officeDocument/2006/relationships/oleObject" Target="../embeddings/oleObject168.bin"/><Relationship Id="rId2" Type="http://schemas.openxmlformats.org/officeDocument/2006/relationships/oleObject" Target="../embeddings/oleObject163.bin"/><Relationship Id="rId1" Type="http://schemas.openxmlformats.org/officeDocument/2006/relationships/slideLayout" Target="../slideLayouts/slideLayout7.xml"/><Relationship Id="rId6" Type="http://schemas.openxmlformats.org/officeDocument/2006/relationships/oleObject" Target="../embeddings/oleObject165.bin"/><Relationship Id="rId11" Type="http://schemas.openxmlformats.org/officeDocument/2006/relationships/image" Target="../media/image189.wmf"/><Relationship Id="rId5" Type="http://schemas.openxmlformats.org/officeDocument/2006/relationships/image" Target="../media/image186.wmf"/><Relationship Id="rId10" Type="http://schemas.openxmlformats.org/officeDocument/2006/relationships/oleObject" Target="../embeddings/oleObject167.bin"/><Relationship Id="rId4" Type="http://schemas.openxmlformats.org/officeDocument/2006/relationships/oleObject" Target="../embeddings/oleObject164.bin"/><Relationship Id="rId9" Type="http://schemas.openxmlformats.org/officeDocument/2006/relationships/image" Target="../media/image188.wmf"/></Relationships>
</file>

<file path=ppt/slides/_rels/slide60.xml.rels><?xml version="1.0" encoding="UTF-8" standalone="yes"?>
<Relationships xmlns="http://schemas.openxmlformats.org/package/2006/relationships"><Relationship Id="rId8" Type="http://schemas.openxmlformats.org/officeDocument/2006/relationships/oleObject" Target="../embeddings/oleObject172.bin"/><Relationship Id="rId13" Type="http://schemas.openxmlformats.org/officeDocument/2006/relationships/oleObject" Target="../embeddings/oleObject175.bin"/><Relationship Id="rId3" Type="http://schemas.openxmlformats.org/officeDocument/2006/relationships/image" Target="../media/image188.wmf"/><Relationship Id="rId7" Type="http://schemas.openxmlformats.org/officeDocument/2006/relationships/image" Target="../media/image189.wmf"/><Relationship Id="rId12" Type="http://schemas.openxmlformats.org/officeDocument/2006/relationships/image" Target="../media/image193.wmf"/><Relationship Id="rId2" Type="http://schemas.openxmlformats.org/officeDocument/2006/relationships/oleObject" Target="../embeddings/oleObject169.bin"/><Relationship Id="rId1" Type="http://schemas.openxmlformats.org/officeDocument/2006/relationships/slideLayout" Target="../slideLayouts/slideLayout7.xml"/><Relationship Id="rId6" Type="http://schemas.openxmlformats.org/officeDocument/2006/relationships/oleObject" Target="../embeddings/oleObject171.bin"/><Relationship Id="rId11" Type="http://schemas.openxmlformats.org/officeDocument/2006/relationships/oleObject" Target="../embeddings/oleObject174.bin"/><Relationship Id="rId5" Type="http://schemas.openxmlformats.org/officeDocument/2006/relationships/image" Target="../media/image191.wmf"/><Relationship Id="rId15" Type="http://schemas.openxmlformats.org/officeDocument/2006/relationships/image" Target="../media/image194.wmf"/><Relationship Id="rId10" Type="http://schemas.openxmlformats.org/officeDocument/2006/relationships/oleObject" Target="../embeddings/oleObject173.bin"/><Relationship Id="rId4" Type="http://schemas.openxmlformats.org/officeDocument/2006/relationships/oleObject" Target="../embeddings/oleObject170.bin"/><Relationship Id="rId9" Type="http://schemas.openxmlformats.org/officeDocument/2006/relationships/image" Target="../media/image192.wmf"/><Relationship Id="rId14" Type="http://schemas.openxmlformats.org/officeDocument/2006/relationships/oleObject" Target="../embeddings/oleObject176.bin"/></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195.jpe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196.emf"/><Relationship Id="rId2" Type="http://schemas.openxmlformats.org/officeDocument/2006/relationships/oleObject" Target="../embeddings/oleObject177.bin"/><Relationship Id="rId1" Type="http://schemas.openxmlformats.org/officeDocument/2006/relationships/slideLayout" Target="../slideLayouts/slideLayout7.xml"/><Relationship Id="rId5" Type="http://schemas.openxmlformats.org/officeDocument/2006/relationships/image" Target="../media/image197.wmf"/><Relationship Id="rId4" Type="http://schemas.openxmlformats.org/officeDocument/2006/relationships/oleObject" Target="../embeddings/oleObject178.bin"/></Relationships>
</file>

<file path=ppt/slides/_rels/slide64.xml.rels><?xml version="1.0" encoding="UTF-8" standalone="yes"?>
<Relationships xmlns="http://schemas.openxmlformats.org/package/2006/relationships"><Relationship Id="rId8" Type="http://schemas.openxmlformats.org/officeDocument/2006/relationships/oleObject" Target="../embeddings/oleObject182.bin"/><Relationship Id="rId13" Type="http://schemas.openxmlformats.org/officeDocument/2006/relationships/image" Target="../media/image203.wmf"/><Relationship Id="rId3" Type="http://schemas.openxmlformats.org/officeDocument/2006/relationships/image" Target="../media/image198.wmf"/><Relationship Id="rId7" Type="http://schemas.openxmlformats.org/officeDocument/2006/relationships/image" Target="../media/image200.wmf"/><Relationship Id="rId12" Type="http://schemas.openxmlformats.org/officeDocument/2006/relationships/oleObject" Target="../embeddings/oleObject184.bin"/><Relationship Id="rId2" Type="http://schemas.openxmlformats.org/officeDocument/2006/relationships/oleObject" Target="../embeddings/oleObject179.bin"/><Relationship Id="rId1" Type="http://schemas.openxmlformats.org/officeDocument/2006/relationships/slideLayout" Target="../slideLayouts/slideLayout7.xml"/><Relationship Id="rId6" Type="http://schemas.openxmlformats.org/officeDocument/2006/relationships/oleObject" Target="../embeddings/oleObject181.bin"/><Relationship Id="rId11" Type="http://schemas.openxmlformats.org/officeDocument/2006/relationships/image" Target="../media/image202.wmf"/><Relationship Id="rId5" Type="http://schemas.openxmlformats.org/officeDocument/2006/relationships/image" Target="../media/image199.wmf"/><Relationship Id="rId15" Type="http://schemas.openxmlformats.org/officeDocument/2006/relationships/image" Target="../media/image204.wmf"/><Relationship Id="rId10" Type="http://schemas.openxmlformats.org/officeDocument/2006/relationships/oleObject" Target="../embeddings/oleObject183.bin"/><Relationship Id="rId4" Type="http://schemas.openxmlformats.org/officeDocument/2006/relationships/oleObject" Target="../embeddings/oleObject180.bin"/><Relationship Id="rId9" Type="http://schemas.openxmlformats.org/officeDocument/2006/relationships/image" Target="../media/image201.wmf"/><Relationship Id="rId14" Type="http://schemas.openxmlformats.org/officeDocument/2006/relationships/oleObject" Target="../embeddings/oleObject185.bin"/></Relationships>
</file>

<file path=ppt/slides/_rels/slide65.xml.rels><?xml version="1.0" encoding="UTF-8" standalone="yes"?>
<Relationships xmlns="http://schemas.openxmlformats.org/package/2006/relationships"><Relationship Id="rId8" Type="http://schemas.openxmlformats.org/officeDocument/2006/relationships/oleObject" Target="../embeddings/oleObject189.bin"/><Relationship Id="rId13" Type="http://schemas.openxmlformats.org/officeDocument/2006/relationships/image" Target="../media/image210.wmf"/><Relationship Id="rId18" Type="http://schemas.openxmlformats.org/officeDocument/2006/relationships/oleObject" Target="../embeddings/oleObject194.bin"/><Relationship Id="rId3" Type="http://schemas.openxmlformats.org/officeDocument/2006/relationships/image" Target="../media/image205.wmf"/><Relationship Id="rId21" Type="http://schemas.openxmlformats.org/officeDocument/2006/relationships/image" Target="../media/image214.wmf"/><Relationship Id="rId7" Type="http://schemas.openxmlformats.org/officeDocument/2006/relationships/image" Target="../media/image207.wmf"/><Relationship Id="rId12" Type="http://schemas.openxmlformats.org/officeDocument/2006/relationships/oleObject" Target="../embeddings/oleObject191.bin"/><Relationship Id="rId17" Type="http://schemas.openxmlformats.org/officeDocument/2006/relationships/image" Target="../media/image212.wmf"/><Relationship Id="rId25" Type="http://schemas.openxmlformats.org/officeDocument/2006/relationships/image" Target="../media/image216.wmf"/><Relationship Id="rId2" Type="http://schemas.openxmlformats.org/officeDocument/2006/relationships/oleObject" Target="../embeddings/oleObject186.bin"/><Relationship Id="rId16" Type="http://schemas.openxmlformats.org/officeDocument/2006/relationships/oleObject" Target="../embeddings/oleObject193.bin"/><Relationship Id="rId20" Type="http://schemas.openxmlformats.org/officeDocument/2006/relationships/oleObject" Target="../embeddings/oleObject195.bin"/><Relationship Id="rId1" Type="http://schemas.openxmlformats.org/officeDocument/2006/relationships/slideLayout" Target="../slideLayouts/slideLayout7.xml"/><Relationship Id="rId6" Type="http://schemas.openxmlformats.org/officeDocument/2006/relationships/oleObject" Target="../embeddings/oleObject188.bin"/><Relationship Id="rId11" Type="http://schemas.openxmlformats.org/officeDocument/2006/relationships/image" Target="../media/image209.wmf"/><Relationship Id="rId24" Type="http://schemas.openxmlformats.org/officeDocument/2006/relationships/oleObject" Target="../embeddings/oleObject197.bin"/><Relationship Id="rId5" Type="http://schemas.openxmlformats.org/officeDocument/2006/relationships/image" Target="../media/image206.wmf"/><Relationship Id="rId15" Type="http://schemas.openxmlformats.org/officeDocument/2006/relationships/image" Target="../media/image211.wmf"/><Relationship Id="rId23" Type="http://schemas.openxmlformats.org/officeDocument/2006/relationships/image" Target="../media/image215.wmf"/><Relationship Id="rId10" Type="http://schemas.openxmlformats.org/officeDocument/2006/relationships/oleObject" Target="../embeddings/oleObject190.bin"/><Relationship Id="rId19" Type="http://schemas.openxmlformats.org/officeDocument/2006/relationships/image" Target="../media/image213.wmf"/><Relationship Id="rId4" Type="http://schemas.openxmlformats.org/officeDocument/2006/relationships/oleObject" Target="../embeddings/oleObject187.bin"/><Relationship Id="rId9" Type="http://schemas.openxmlformats.org/officeDocument/2006/relationships/image" Target="../media/image208.wmf"/><Relationship Id="rId14" Type="http://schemas.openxmlformats.org/officeDocument/2006/relationships/oleObject" Target="../embeddings/oleObject192.bin"/><Relationship Id="rId22" Type="http://schemas.openxmlformats.org/officeDocument/2006/relationships/oleObject" Target="../embeddings/oleObject196.bin"/></Relationships>
</file>

<file path=ppt/slides/_rels/slide66.xml.rels><?xml version="1.0" encoding="UTF-8" standalone="yes"?>
<Relationships xmlns="http://schemas.openxmlformats.org/package/2006/relationships"><Relationship Id="rId8" Type="http://schemas.openxmlformats.org/officeDocument/2006/relationships/oleObject" Target="../embeddings/oleObject201.bin"/><Relationship Id="rId13" Type="http://schemas.openxmlformats.org/officeDocument/2006/relationships/image" Target="../media/image222.wmf"/><Relationship Id="rId18" Type="http://schemas.openxmlformats.org/officeDocument/2006/relationships/oleObject" Target="../embeddings/oleObject206.bin"/><Relationship Id="rId3" Type="http://schemas.openxmlformats.org/officeDocument/2006/relationships/image" Target="../media/image217.wmf"/><Relationship Id="rId7" Type="http://schemas.openxmlformats.org/officeDocument/2006/relationships/image" Target="../media/image219.wmf"/><Relationship Id="rId12" Type="http://schemas.openxmlformats.org/officeDocument/2006/relationships/oleObject" Target="../embeddings/oleObject203.bin"/><Relationship Id="rId17" Type="http://schemas.openxmlformats.org/officeDocument/2006/relationships/image" Target="../media/image224.wmf"/><Relationship Id="rId2" Type="http://schemas.openxmlformats.org/officeDocument/2006/relationships/oleObject" Target="../embeddings/oleObject198.bin"/><Relationship Id="rId16" Type="http://schemas.openxmlformats.org/officeDocument/2006/relationships/oleObject" Target="../embeddings/oleObject205.bin"/><Relationship Id="rId1" Type="http://schemas.openxmlformats.org/officeDocument/2006/relationships/slideLayout" Target="../slideLayouts/slideLayout7.xml"/><Relationship Id="rId6" Type="http://schemas.openxmlformats.org/officeDocument/2006/relationships/oleObject" Target="../embeddings/oleObject200.bin"/><Relationship Id="rId11" Type="http://schemas.openxmlformats.org/officeDocument/2006/relationships/image" Target="../media/image221.wmf"/><Relationship Id="rId5" Type="http://schemas.openxmlformats.org/officeDocument/2006/relationships/image" Target="../media/image218.wmf"/><Relationship Id="rId15" Type="http://schemas.openxmlformats.org/officeDocument/2006/relationships/image" Target="../media/image223.wmf"/><Relationship Id="rId10" Type="http://schemas.openxmlformats.org/officeDocument/2006/relationships/oleObject" Target="../embeddings/oleObject202.bin"/><Relationship Id="rId19" Type="http://schemas.openxmlformats.org/officeDocument/2006/relationships/image" Target="../media/image225.wmf"/><Relationship Id="rId4" Type="http://schemas.openxmlformats.org/officeDocument/2006/relationships/oleObject" Target="../embeddings/oleObject199.bin"/><Relationship Id="rId9" Type="http://schemas.openxmlformats.org/officeDocument/2006/relationships/image" Target="../media/image220.wmf"/><Relationship Id="rId14" Type="http://schemas.openxmlformats.org/officeDocument/2006/relationships/oleObject" Target="../embeddings/oleObject204.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2666727"/>
          </a:xfrm>
        </p:spPr>
        <p:txBody>
          <a:bodyPr/>
          <a:lstStyle/>
          <a:p>
            <a:r>
              <a:rPr lang="zh-CN" altLang="en-US" b="1" dirty="0">
                <a:solidFill>
                  <a:srgbClr val="0000FF"/>
                </a:solidFill>
                <a:latin typeface="黑体" panose="02010609060101010101" pitchFamily="49" charset="-122"/>
                <a:ea typeface="黑体" panose="02010609060101010101" pitchFamily="49" charset="-122"/>
              </a:rPr>
              <a:t>材料力学复习</a:t>
            </a:r>
            <a:br>
              <a:rPr lang="en-US" altLang="zh-CN" b="1" dirty="0">
                <a:solidFill>
                  <a:srgbClr val="0000FF"/>
                </a:solidFill>
                <a:latin typeface="黑体" panose="02010609060101010101" pitchFamily="49" charset="-122"/>
                <a:ea typeface="黑体" panose="02010609060101010101" pitchFamily="49" charset="-122"/>
              </a:rPr>
            </a:br>
            <a:r>
              <a:rPr lang="en-US" altLang="zh-CN" b="1" dirty="0">
                <a:solidFill>
                  <a:srgbClr val="0000FF"/>
                </a:solidFill>
                <a:latin typeface="黑体" panose="02010609060101010101" pitchFamily="49" charset="-122"/>
                <a:ea typeface="黑体" panose="02010609060101010101" pitchFamily="49" charset="-122"/>
              </a:rPr>
              <a:t>2021.6.2</a:t>
            </a:r>
            <a:endParaRPr lang="zh-CN" altLang="en-US" b="1" dirty="0">
              <a:solidFill>
                <a:srgbClr val="0000FF"/>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9753452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a:grpSpLocks/>
          </p:cNvGrpSpPr>
          <p:nvPr/>
        </p:nvGrpSpPr>
        <p:grpSpPr bwMode="auto">
          <a:xfrm>
            <a:off x="311214" y="217637"/>
            <a:ext cx="4186237" cy="706437"/>
            <a:chOff x="2747962" y="868363"/>
            <a:chExt cx="4186237" cy="707005"/>
          </a:xfrm>
        </p:grpSpPr>
        <p:sp>
          <p:nvSpPr>
            <p:cNvPr id="5" name="圆角矩形 4"/>
            <p:cNvSpPr/>
            <p:nvPr/>
          </p:nvSpPr>
          <p:spPr bwMode="auto">
            <a:xfrm>
              <a:off x="2747962" y="889017"/>
              <a:ext cx="4186237" cy="686351"/>
            </a:xfrm>
            <a:prstGeom prst="roundRect">
              <a:avLst>
                <a:gd name="adj" fmla="val 10000"/>
              </a:avLst>
            </a:prstGeom>
            <a:ln>
              <a:solidFill>
                <a:srgbClr val="FF0000"/>
              </a:solidFill>
            </a:ln>
          </p:spPr>
          <p:style>
            <a:lnRef idx="2">
              <a:schemeClr val="accent2"/>
            </a:lnRef>
            <a:fillRef idx="1">
              <a:schemeClr val="lt1"/>
            </a:fillRef>
            <a:effectRef idx="0">
              <a:schemeClr val="accent2"/>
            </a:effectRef>
            <a:fontRef idx="minor">
              <a:schemeClr val="dk1"/>
            </a:fontRef>
          </p:style>
        </p:sp>
        <p:sp>
          <p:nvSpPr>
            <p:cNvPr id="6" name="圆角矩形 4"/>
            <p:cNvSpPr/>
            <p:nvPr/>
          </p:nvSpPr>
          <p:spPr bwMode="auto">
            <a:xfrm>
              <a:off x="2752724" y="868363"/>
              <a:ext cx="3952875" cy="645043"/>
            </a:xfrm>
            <a:prstGeom prst="rect">
              <a:avLst/>
            </a:prstGeom>
          </p:spPr>
          <p:style>
            <a:lnRef idx="0">
              <a:scrgbClr r="0" g="0" b="0"/>
            </a:lnRef>
            <a:fillRef idx="0">
              <a:scrgbClr r="0" g="0" b="0"/>
            </a:fillRef>
            <a:effectRef idx="0">
              <a:scrgbClr r="0" g="0" b="0"/>
            </a:effectRef>
            <a:fontRef idx="minor">
              <a:schemeClr val="lt1"/>
            </a:fontRef>
          </p:style>
          <p:txBody>
            <a:bodyPr lIns="68580" tIns="68580" rIns="68580" bIns="68580" spcCol="1270" anchor="ctr"/>
            <a:lstStyle/>
            <a:p>
              <a:pPr algn="ctr" defTabSz="800100" eaLnBrk="1" hangingPunct="1">
                <a:lnSpc>
                  <a:spcPct val="90000"/>
                </a:lnSpc>
                <a:spcAft>
                  <a:spcPct val="35000"/>
                </a:spcAft>
                <a:defRPr/>
              </a:pPr>
              <a:r>
                <a:rPr lang="zh-CN" altLang="en-US" sz="2800" b="1" dirty="0">
                  <a:solidFill>
                    <a:srgbClr val="FF0000"/>
                  </a:solidFill>
                  <a:latin typeface="楷体" panose="02010609060101010101" pitchFamily="49" charset="-122"/>
                  <a:ea typeface="楷体" panose="02010609060101010101" pitchFamily="49" charset="-122"/>
                </a:rPr>
                <a:t>重要公式</a:t>
              </a:r>
            </a:p>
          </p:txBody>
        </p:sp>
      </p:grpSp>
      <p:pic>
        <p:nvPicPr>
          <p:cNvPr id="69638" name="Picture 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1084" y="1124744"/>
            <a:ext cx="2895600" cy="962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9639" name="Picture 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51920" y="1124744"/>
            <a:ext cx="4248472" cy="9188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9640" name="Picture 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91119" y="2412055"/>
            <a:ext cx="1581150" cy="923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9641" name="Picture 9"/>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404332" y="2394242"/>
            <a:ext cx="1495425" cy="923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9642" name="Picture 10"/>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250821" y="2312152"/>
            <a:ext cx="2533974" cy="10238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9643" name="Picture 11"/>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092280" y="2312152"/>
            <a:ext cx="1296144" cy="109092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9645" name="Picture 13"/>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31108" y="3573016"/>
            <a:ext cx="7172325" cy="2705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62500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7544" y="332656"/>
            <a:ext cx="1819275" cy="1200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68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03848" y="116632"/>
            <a:ext cx="5084300" cy="189619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683"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34408" y="2204864"/>
            <a:ext cx="5338879" cy="21602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684" name="Picture 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788024" y="3717032"/>
            <a:ext cx="3014049" cy="27334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852861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0491" y="188640"/>
            <a:ext cx="6134100" cy="3009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2706" name="Picture 2"/>
          <p:cNvPicPr>
            <a:picLocks noChangeAspect="1" noChangeArrowheads="1"/>
          </p:cNvPicPr>
          <p:nvPr/>
        </p:nvPicPr>
        <p:blipFill>
          <a:blip r:embed="rId3" cstate="print">
            <a:biLevel thresh="75000"/>
            <a:extLst>
              <a:ext uri="{28A0092B-C50C-407E-A947-70E740481C1C}">
                <a14:useLocalDpi xmlns:a14="http://schemas.microsoft.com/office/drawing/2010/main" val="0"/>
              </a:ext>
            </a:extLst>
          </a:blip>
          <a:srcRect/>
          <a:stretch>
            <a:fillRect/>
          </a:stretch>
        </p:blipFill>
        <p:spPr bwMode="auto">
          <a:xfrm>
            <a:off x="763035" y="3334885"/>
            <a:ext cx="4961093" cy="14238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2707"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335368" y="5346148"/>
            <a:ext cx="1144669" cy="874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2708" name="Picture 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068624" y="4869160"/>
            <a:ext cx="1457833" cy="874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2709" name="Picture 5"/>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915614" y="4758737"/>
            <a:ext cx="1897953" cy="9017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2710" name="Picture 6"/>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724128" y="5733256"/>
            <a:ext cx="2705370" cy="9017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2711" name="Picture 7"/>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016677" y="5827222"/>
            <a:ext cx="1637772" cy="83453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227833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a:grpSpLocks/>
          </p:cNvGrpSpPr>
          <p:nvPr/>
        </p:nvGrpSpPr>
        <p:grpSpPr bwMode="auto">
          <a:xfrm>
            <a:off x="539814" y="332656"/>
            <a:ext cx="4186237" cy="706437"/>
            <a:chOff x="2747962" y="868363"/>
            <a:chExt cx="4186237" cy="707005"/>
          </a:xfrm>
        </p:grpSpPr>
        <p:sp>
          <p:nvSpPr>
            <p:cNvPr id="6" name="圆角矩形 5"/>
            <p:cNvSpPr/>
            <p:nvPr/>
          </p:nvSpPr>
          <p:spPr bwMode="auto">
            <a:xfrm>
              <a:off x="2747962" y="889017"/>
              <a:ext cx="4186237" cy="686351"/>
            </a:xfrm>
            <a:prstGeom prst="roundRect">
              <a:avLst>
                <a:gd name="adj" fmla="val 10000"/>
              </a:avLst>
            </a:prstGeom>
            <a:ln>
              <a:solidFill>
                <a:srgbClr val="FF0000"/>
              </a:solidFill>
            </a:ln>
          </p:spPr>
          <p:style>
            <a:lnRef idx="2">
              <a:schemeClr val="accent2"/>
            </a:lnRef>
            <a:fillRef idx="1">
              <a:schemeClr val="lt1"/>
            </a:fillRef>
            <a:effectRef idx="0">
              <a:schemeClr val="accent2"/>
            </a:effectRef>
            <a:fontRef idx="minor">
              <a:schemeClr val="dk1"/>
            </a:fontRef>
          </p:style>
        </p:sp>
        <p:sp>
          <p:nvSpPr>
            <p:cNvPr id="7" name="圆角矩形 4"/>
            <p:cNvSpPr/>
            <p:nvPr/>
          </p:nvSpPr>
          <p:spPr bwMode="auto">
            <a:xfrm>
              <a:off x="2752724" y="868363"/>
              <a:ext cx="3952875" cy="645043"/>
            </a:xfrm>
            <a:prstGeom prst="rect">
              <a:avLst/>
            </a:prstGeom>
          </p:spPr>
          <p:style>
            <a:lnRef idx="0">
              <a:scrgbClr r="0" g="0" b="0"/>
            </a:lnRef>
            <a:fillRef idx="0">
              <a:scrgbClr r="0" g="0" b="0"/>
            </a:fillRef>
            <a:effectRef idx="0">
              <a:scrgbClr r="0" g="0" b="0"/>
            </a:effectRef>
            <a:fontRef idx="minor">
              <a:schemeClr val="lt1"/>
            </a:fontRef>
          </p:style>
          <p:txBody>
            <a:bodyPr lIns="68580" tIns="68580" rIns="68580" bIns="68580" spcCol="1270" anchor="ctr"/>
            <a:lstStyle/>
            <a:p>
              <a:pPr algn="ctr" defTabSz="800100" eaLnBrk="1" hangingPunct="1">
                <a:lnSpc>
                  <a:spcPct val="90000"/>
                </a:lnSpc>
                <a:spcAft>
                  <a:spcPct val="35000"/>
                </a:spcAft>
                <a:defRPr/>
              </a:pPr>
              <a:r>
                <a:rPr lang="zh-CN" altLang="en-US" sz="2800" b="1" dirty="0">
                  <a:solidFill>
                    <a:srgbClr val="FF0000"/>
                  </a:solidFill>
                  <a:latin typeface="楷体" panose="02010609060101010101" pitchFamily="49" charset="-122"/>
                  <a:ea typeface="楷体" panose="02010609060101010101" pitchFamily="49" charset="-122"/>
                </a:rPr>
                <a:t>第一章 绪 论</a:t>
              </a:r>
            </a:p>
          </p:txBody>
        </p:sp>
      </p:grpSp>
      <p:sp>
        <p:nvSpPr>
          <p:cNvPr id="9" name="矩形 8"/>
          <p:cNvSpPr/>
          <p:nvPr/>
        </p:nvSpPr>
        <p:spPr bwMode="auto">
          <a:xfrm>
            <a:off x="544576" y="2106417"/>
            <a:ext cx="7987864" cy="530493"/>
          </a:xfrm>
          <a:prstGeom prst="rect">
            <a:avLst/>
          </a:prstGeom>
          <a:ln>
            <a:solidFill>
              <a:srgbClr val="FF000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a:lstStyle/>
          <a:p>
            <a:pPr>
              <a:spcBef>
                <a:spcPct val="50000"/>
              </a:spcBef>
            </a:pPr>
            <a:r>
              <a:rPr kumimoji="1" lang="zh-CN" altLang="en-US" sz="2400" b="1" dirty="0">
                <a:solidFill>
                  <a:srgbClr val="0000FF"/>
                </a:solidFill>
                <a:latin typeface="黑体" pitchFamily="2" charset="-122"/>
                <a:ea typeface="黑体" pitchFamily="2" charset="-122"/>
              </a:rPr>
              <a:t>研究对象</a:t>
            </a:r>
            <a:r>
              <a:rPr kumimoji="1" lang="en-US" altLang="zh-CN" sz="2400" b="1" dirty="0">
                <a:solidFill>
                  <a:srgbClr val="0000FF"/>
                </a:solidFill>
                <a:latin typeface="黑体" pitchFamily="2" charset="-122"/>
                <a:ea typeface="黑体" pitchFamily="2" charset="-122"/>
              </a:rPr>
              <a:t>—</a:t>
            </a:r>
            <a:r>
              <a:rPr kumimoji="1" lang="zh-CN" altLang="en-US" sz="2400" b="1" dirty="0">
                <a:solidFill>
                  <a:srgbClr val="0000FF"/>
                </a:solidFill>
                <a:latin typeface="黑体" pitchFamily="2" charset="-122"/>
                <a:ea typeface="黑体" pitchFamily="2" charset="-122"/>
              </a:rPr>
              <a:t>可变形固体：在外力作用下可发生</a:t>
            </a:r>
            <a:r>
              <a:rPr kumimoji="1" lang="zh-CN" altLang="en-US" sz="2400" b="1" dirty="0">
                <a:solidFill>
                  <a:srgbClr val="FF0000"/>
                </a:solidFill>
                <a:latin typeface="黑体" pitchFamily="2" charset="-122"/>
                <a:ea typeface="黑体" pitchFamily="2" charset="-122"/>
              </a:rPr>
              <a:t>变形</a:t>
            </a:r>
            <a:r>
              <a:rPr kumimoji="1" lang="zh-CN" altLang="en-US" sz="2400" b="1" dirty="0">
                <a:solidFill>
                  <a:srgbClr val="0000FF"/>
                </a:solidFill>
                <a:latin typeface="黑体" pitchFamily="2" charset="-122"/>
                <a:ea typeface="黑体" pitchFamily="2" charset="-122"/>
              </a:rPr>
              <a:t>的固体</a:t>
            </a:r>
          </a:p>
        </p:txBody>
      </p:sp>
      <p:sp>
        <p:nvSpPr>
          <p:cNvPr id="10" name="矩形 9"/>
          <p:cNvSpPr/>
          <p:nvPr/>
        </p:nvSpPr>
        <p:spPr bwMode="auto">
          <a:xfrm>
            <a:off x="544576" y="1268760"/>
            <a:ext cx="7987864" cy="576064"/>
          </a:xfrm>
          <a:prstGeom prst="rect">
            <a:avLst/>
          </a:prstGeom>
          <a:ln>
            <a:solidFill>
              <a:srgbClr val="FF000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a:lstStyle/>
          <a:p>
            <a:pPr>
              <a:spcBef>
                <a:spcPct val="50000"/>
              </a:spcBef>
            </a:pPr>
            <a:r>
              <a:rPr kumimoji="1" lang="zh-CN" altLang="en-US" sz="2400" b="1" dirty="0">
                <a:solidFill>
                  <a:srgbClr val="0000FF"/>
                </a:solidFill>
                <a:latin typeface="黑体" pitchFamily="2" charset="-122"/>
                <a:ea typeface="黑体" pitchFamily="2" charset="-122"/>
              </a:rPr>
              <a:t>材料力学研究力与物体的</a:t>
            </a:r>
            <a:r>
              <a:rPr kumimoji="1" lang="zh-CN" altLang="en-US" sz="2400" b="1" dirty="0">
                <a:solidFill>
                  <a:srgbClr val="FF0000"/>
                </a:solidFill>
                <a:latin typeface="黑体" pitchFamily="2" charset="-122"/>
                <a:ea typeface="黑体" pitchFamily="2" charset="-122"/>
              </a:rPr>
              <a:t>变形及破</a:t>
            </a:r>
            <a:r>
              <a:rPr kumimoji="1" lang="zh-CN" altLang="en-US" sz="2400" b="1" dirty="0">
                <a:solidFill>
                  <a:srgbClr val="0000FF"/>
                </a:solidFill>
                <a:latin typeface="黑体" pitchFamily="2" charset="-122"/>
                <a:ea typeface="黑体" pitchFamily="2" charset="-122"/>
              </a:rPr>
              <a:t>坏规律</a:t>
            </a:r>
          </a:p>
        </p:txBody>
      </p:sp>
      <p:sp>
        <p:nvSpPr>
          <p:cNvPr id="11" name="矩形 10"/>
          <p:cNvSpPr/>
          <p:nvPr/>
        </p:nvSpPr>
        <p:spPr bwMode="auto">
          <a:xfrm>
            <a:off x="529730" y="2924944"/>
            <a:ext cx="7987864" cy="530493"/>
          </a:xfrm>
          <a:prstGeom prst="rect">
            <a:avLst/>
          </a:prstGeom>
          <a:ln>
            <a:solidFill>
              <a:srgbClr val="FF000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a:lstStyle/>
          <a:p>
            <a:pPr>
              <a:spcBef>
                <a:spcPct val="50000"/>
              </a:spcBef>
            </a:pPr>
            <a:r>
              <a:rPr kumimoji="1" lang="zh-CN" altLang="en-US" sz="2400" b="1" dirty="0">
                <a:solidFill>
                  <a:srgbClr val="0000FF"/>
                </a:solidFill>
                <a:latin typeface="黑体" pitchFamily="2" charset="-122"/>
                <a:ea typeface="黑体" pitchFamily="2" charset="-122"/>
              </a:rPr>
              <a:t>衡量构件承载能力的三个主指标</a:t>
            </a:r>
            <a:r>
              <a:rPr kumimoji="1" lang="en-US" altLang="zh-CN" sz="2400" b="1" dirty="0">
                <a:solidFill>
                  <a:srgbClr val="0000FF"/>
                </a:solidFill>
                <a:latin typeface="黑体" pitchFamily="2" charset="-122"/>
                <a:ea typeface="黑体" pitchFamily="2" charset="-122"/>
              </a:rPr>
              <a:t>: </a:t>
            </a:r>
            <a:r>
              <a:rPr kumimoji="1" lang="zh-CN" altLang="en-US" sz="2400" b="1" dirty="0">
                <a:solidFill>
                  <a:srgbClr val="FF0000"/>
                </a:solidFill>
                <a:latin typeface="黑体" pitchFamily="2" charset="-122"/>
                <a:ea typeface="黑体" pitchFamily="2" charset="-122"/>
              </a:rPr>
              <a:t>强度，刚度，稳定性</a:t>
            </a:r>
          </a:p>
        </p:txBody>
      </p:sp>
      <p:sp>
        <p:nvSpPr>
          <p:cNvPr id="12" name="矩形 11"/>
          <p:cNvSpPr/>
          <p:nvPr/>
        </p:nvSpPr>
        <p:spPr bwMode="auto">
          <a:xfrm>
            <a:off x="539814" y="3607837"/>
            <a:ext cx="7987864" cy="530493"/>
          </a:xfrm>
          <a:prstGeom prst="rect">
            <a:avLst/>
          </a:prstGeom>
          <a:ln>
            <a:solidFill>
              <a:srgbClr val="FF000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a:lstStyle/>
          <a:p>
            <a:pPr>
              <a:spcBef>
                <a:spcPct val="50000"/>
              </a:spcBef>
            </a:pPr>
            <a:r>
              <a:rPr kumimoji="1" lang="zh-CN" altLang="en-US" sz="2400" b="1" dirty="0">
                <a:solidFill>
                  <a:srgbClr val="FF0000"/>
                </a:solidFill>
                <a:latin typeface="黑体" pitchFamily="2" charset="-122"/>
                <a:ea typeface="黑体" pitchFamily="2" charset="-122"/>
              </a:rPr>
              <a:t>基本假设</a:t>
            </a:r>
            <a:r>
              <a:rPr kumimoji="1" lang="zh-CN" altLang="en-US" sz="2400" b="1" dirty="0">
                <a:solidFill>
                  <a:srgbClr val="0000FF"/>
                </a:solidFill>
                <a:latin typeface="黑体" pitchFamily="2" charset="-122"/>
                <a:ea typeface="黑体" pitchFamily="2" charset="-122"/>
              </a:rPr>
              <a:t>：连续性假设，均匀性，各向同性，小变形</a:t>
            </a:r>
          </a:p>
        </p:txBody>
      </p:sp>
      <p:sp>
        <p:nvSpPr>
          <p:cNvPr id="13" name="矩形 12"/>
          <p:cNvSpPr/>
          <p:nvPr/>
        </p:nvSpPr>
        <p:spPr bwMode="auto">
          <a:xfrm>
            <a:off x="544576" y="4290730"/>
            <a:ext cx="7987864" cy="530493"/>
          </a:xfrm>
          <a:prstGeom prst="rect">
            <a:avLst/>
          </a:prstGeom>
          <a:ln>
            <a:solidFill>
              <a:srgbClr val="FF000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a:lstStyle/>
          <a:p>
            <a:pPr>
              <a:spcBef>
                <a:spcPct val="50000"/>
              </a:spcBef>
            </a:pPr>
            <a:r>
              <a:rPr kumimoji="1" lang="zh-CN" altLang="en-US" sz="2400" b="1" dirty="0">
                <a:solidFill>
                  <a:srgbClr val="FF0000"/>
                </a:solidFill>
                <a:latin typeface="黑体" pitchFamily="2" charset="-122"/>
                <a:ea typeface="黑体" pitchFamily="2" charset="-122"/>
              </a:rPr>
              <a:t>小变形</a:t>
            </a:r>
            <a:r>
              <a:rPr kumimoji="1" lang="zh-CN" altLang="en-US" sz="2400" b="1" dirty="0">
                <a:solidFill>
                  <a:srgbClr val="0000FF"/>
                </a:solidFill>
                <a:latin typeface="黑体" pitchFamily="2" charset="-122"/>
                <a:ea typeface="黑体" pitchFamily="2" charset="-122"/>
              </a:rPr>
              <a:t>：构件在外力作用下发生的变形量远小于自身尺寸</a:t>
            </a:r>
          </a:p>
          <a:p>
            <a:pPr>
              <a:spcBef>
                <a:spcPct val="50000"/>
              </a:spcBef>
            </a:pPr>
            <a:endParaRPr lang="zh-CN" altLang="en-US" sz="2400" b="1" dirty="0">
              <a:solidFill>
                <a:srgbClr val="003399"/>
              </a:solidFill>
              <a:latin typeface="华文楷体" panose="02010600040101010101" pitchFamily="2" charset="-122"/>
              <a:ea typeface="华文楷体" panose="02010600040101010101" pitchFamily="2" charset="-122"/>
            </a:endParaRPr>
          </a:p>
        </p:txBody>
      </p:sp>
      <p:sp>
        <p:nvSpPr>
          <p:cNvPr id="14" name="矩形 13"/>
          <p:cNvSpPr/>
          <p:nvPr/>
        </p:nvSpPr>
        <p:spPr bwMode="auto">
          <a:xfrm>
            <a:off x="527611" y="4997875"/>
            <a:ext cx="7987864" cy="951405"/>
          </a:xfrm>
          <a:prstGeom prst="rect">
            <a:avLst/>
          </a:prstGeom>
          <a:ln>
            <a:solidFill>
              <a:srgbClr val="FF000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a:lstStyle/>
          <a:p>
            <a:pPr>
              <a:spcBef>
                <a:spcPct val="50000"/>
              </a:spcBef>
            </a:pPr>
            <a:r>
              <a:rPr kumimoji="1" lang="zh-CN" altLang="en-US" sz="2400" b="1" dirty="0">
                <a:solidFill>
                  <a:srgbClr val="0000FF"/>
                </a:solidFill>
                <a:latin typeface="黑体" pitchFamily="2" charset="-122"/>
                <a:ea typeface="黑体" pitchFamily="2" charset="-122"/>
              </a:rPr>
              <a:t>内力：在外力作用下，构件内部各部分之间因相对位置改       变而引起的附加的相互作用力</a:t>
            </a:r>
            <a:r>
              <a:rPr kumimoji="1" lang="en-US" altLang="zh-CN" sz="2400" b="1" dirty="0">
                <a:solidFill>
                  <a:srgbClr val="0000FF"/>
                </a:solidFill>
                <a:latin typeface="黑体" pitchFamily="2" charset="-122"/>
                <a:ea typeface="黑体" pitchFamily="2" charset="-122"/>
              </a:rPr>
              <a:t>——</a:t>
            </a:r>
            <a:r>
              <a:rPr kumimoji="1" lang="zh-CN" altLang="en-US" sz="2400" b="1" dirty="0">
                <a:solidFill>
                  <a:srgbClr val="FF0000"/>
                </a:solidFill>
                <a:latin typeface="黑体" pitchFamily="2" charset="-122"/>
                <a:ea typeface="黑体" pitchFamily="2" charset="-122"/>
              </a:rPr>
              <a:t>附加内力</a:t>
            </a:r>
          </a:p>
        </p:txBody>
      </p:sp>
      <p:sp>
        <p:nvSpPr>
          <p:cNvPr id="16" name="矩形 15"/>
          <p:cNvSpPr/>
          <p:nvPr/>
        </p:nvSpPr>
        <p:spPr bwMode="auto">
          <a:xfrm>
            <a:off x="534237" y="6093296"/>
            <a:ext cx="7987864" cy="530493"/>
          </a:xfrm>
          <a:prstGeom prst="rect">
            <a:avLst/>
          </a:prstGeom>
          <a:ln>
            <a:solidFill>
              <a:srgbClr val="FF000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a:lstStyle/>
          <a:p>
            <a:pPr>
              <a:spcBef>
                <a:spcPct val="50000"/>
              </a:spcBef>
            </a:pPr>
            <a:r>
              <a:rPr kumimoji="1" lang="zh-CN" altLang="en-US" sz="2400" b="1" dirty="0">
                <a:solidFill>
                  <a:srgbClr val="0000FF"/>
                </a:solidFill>
                <a:latin typeface="黑体" pitchFamily="2" charset="-122"/>
                <a:ea typeface="黑体" pitchFamily="2" charset="-122"/>
              </a:rPr>
              <a:t>截面法：截开，代替，平衡</a:t>
            </a:r>
            <a:endParaRPr lang="zh-CN" altLang="en-US" sz="2400" b="1" dirty="0">
              <a:solidFill>
                <a:srgbClr val="003399"/>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3605749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39552" y="404664"/>
            <a:ext cx="8064896" cy="461665"/>
          </a:xfrm>
          <a:prstGeom prst="rect">
            <a:avLst/>
          </a:prstGeom>
          <a:ln w="28575">
            <a:solidFill>
              <a:srgbClr val="FF0000"/>
            </a:solidFill>
          </a:ln>
        </p:spPr>
        <p:txBody>
          <a:bodyPr wrap="square">
            <a:spAutoFit/>
          </a:bodyPr>
          <a:lstStyle/>
          <a:p>
            <a:r>
              <a:rPr kumimoji="1" lang="zh-CN" altLang="en-US" sz="2400" b="1" dirty="0">
                <a:solidFill>
                  <a:srgbClr val="0000FF"/>
                </a:solidFill>
                <a:latin typeface="黑体" pitchFamily="2" charset="-122"/>
                <a:ea typeface="黑体" pitchFamily="2" charset="-122"/>
                <a:cs typeface="Times New Roman" pitchFamily="18" charset="0"/>
              </a:rPr>
              <a:t>应力：截面上</a:t>
            </a:r>
            <a:r>
              <a:rPr kumimoji="1" lang="zh-CN" altLang="en-US" sz="2400" b="1" dirty="0">
                <a:solidFill>
                  <a:srgbClr val="FF0000"/>
                </a:solidFill>
                <a:latin typeface="黑体" pitchFamily="2" charset="-122"/>
                <a:ea typeface="黑体" pitchFamily="2" charset="-122"/>
                <a:cs typeface="Times New Roman" pitchFamily="18" charset="0"/>
              </a:rPr>
              <a:t>一点处</a:t>
            </a:r>
            <a:r>
              <a:rPr kumimoji="1" lang="zh-CN" altLang="en-US" sz="2400" b="1" dirty="0">
                <a:solidFill>
                  <a:srgbClr val="0000FF"/>
                </a:solidFill>
                <a:latin typeface="黑体" pitchFamily="2" charset="-122"/>
                <a:ea typeface="黑体" pitchFamily="2" charset="-122"/>
                <a:cs typeface="Times New Roman" pitchFamily="18" charset="0"/>
              </a:rPr>
              <a:t>内力的聚集程度</a:t>
            </a:r>
            <a:endParaRPr lang="zh-CN" altLang="en-US" sz="2400" dirty="0">
              <a:solidFill>
                <a:srgbClr val="0000FF"/>
              </a:solidFill>
            </a:endParaRPr>
          </a:p>
        </p:txBody>
      </p:sp>
      <p:sp>
        <p:nvSpPr>
          <p:cNvPr id="3" name="Rectangle 17"/>
          <p:cNvSpPr>
            <a:spLocks noChangeArrowheads="1"/>
          </p:cNvSpPr>
          <p:nvPr/>
        </p:nvSpPr>
        <p:spPr bwMode="auto">
          <a:xfrm>
            <a:off x="539552" y="1124744"/>
            <a:ext cx="8064896" cy="461665"/>
          </a:xfrm>
          <a:prstGeom prst="rect">
            <a:avLst/>
          </a:prstGeom>
          <a:noFill/>
          <a:ln w="28575" algn="ctr">
            <a:solidFill>
              <a:srgbClr val="FF0000"/>
            </a:solidFill>
            <a:miter lim="800000"/>
            <a:headEnd/>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a:spcBef>
                <a:spcPct val="50000"/>
              </a:spcBef>
              <a:buFontTx/>
              <a:buNone/>
            </a:pPr>
            <a:r>
              <a:rPr kumimoji="1" lang="zh-CN" altLang="en-US" sz="2400" b="1" dirty="0">
                <a:solidFill>
                  <a:srgbClr val="0000FF"/>
                </a:solidFill>
                <a:latin typeface="黑体" pitchFamily="2" charset="-122"/>
                <a:ea typeface="黑体" pitchFamily="2" charset="-122"/>
                <a:cs typeface="Times New Roman" pitchFamily="18" charset="0"/>
              </a:rPr>
              <a:t>垂直于截面的应力分量</a:t>
            </a:r>
            <a:r>
              <a:rPr kumimoji="1" lang="en-US" altLang="zh-CN" sz="2400" b="1" dirty="0">
                <a:solidFill>
                  <a:srgbClr val="0000FF"/>
                </a:solidFill>
                <a:latin typeface="黑体" pitchFamily="2" charset="-122"/>
                <a:ea typeface="黑体" pitchFamily="2" charset="-122"/>
                <a:cs typeface="Times New Roman" pitchFamily="18" charset="0"/>
              </a:rPr>
              <a:t>----</a:t>
            </a:r>
            <a:r>
              <a:rPr kumimoji="1" lang="zh-CN" altLang="en-US" sz="2400" b="1" dirty="0">
                <a:solidFill>
                  <a:srgbClr val="FF0000"/>
                </a:solidFill>
                <a:latin typeface="黑体" pitchFamily="2" charset="-122"/>
                <a:ea typeface="黑体" pitchFamily="2" charset="-122"/>
                <a:cs typeface="Times New Roman" pitchFamily="18" charset="0"/>
              </a:rPr>
              <a:t>正应力</a:t>
            </a:r>
          </a:p>
        </p:txBody>
      </p:sp>
      <p:sp>
        <p:nvSpPr>
          <p:cNvPr id="4" name="Rectangle 19"/>
          <p:cNvSpPr>
            <a:spLocks noChangeArrowheads="1"/>
          </p:cNvSpPr>
          <p:nvPr/>
        </p:nvSpPr>
        <p:spPr bwMode="auto">
          <a:xfrm>
            <a:off x="564360" y="1844824"/>
            <a:ext cx="8040088" cy="461665"/>
          </a:xfrm>
          <a:prstGeom prst="rect">
            <a:avLst/>
          </a:prstGeom>
          <a:noFill/>
          <a:ln w="28575" algn="ctr">
            <a:solidFill>
              <a:srgbClr val="FF0000"/>
            </a:solidFill>
            <a:miter lim="800000"/>
            <a:headEnd/>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a:spcBef>
                <a:spcPct val="50000"/>
              </a:spcBef>
              <a:buFontTx/>
              <a:buNone/>
            </a:pPr>
            <a:r>
              <a:rPr kumimoji="1" lang="zh-CN" altLang="en-US" sz="2400" b="1" dirty="0">
                <a:solidFill>
                  <a:srgbClr val="0000FF"/>
                </a:solidFill>
                <a:latin typeface="黑体" pitchFamily="2" charset="-122"/>
                <a:ea typeface="黑体" pitchFamily="2" charset="-122"/>
                <a:cs typeface="Times New Roman" pitchFamily="18" charset="0"/>
              </a:rPr>
              <a:t>切于截面的应力分量</a:t>
            </a:r>
            <a:r>
              <a:rPr kumimoji="1" lang="en-US" altLang="zh-CN" sz="2400" b="1" dirty="0">
                <a:solidFill>
                  <a:srgbClr val="0000FF"/>
                </a:solidFill>
                <a:latin typeface="黑体" pitchFamily="2" charset="-122"/>
                <a:ea typeface="黑体" pitchFamily="2" charset="-122"/>
                <a:cs typeface="Times New Roman" pitchFamily="18" charset="0"/>
              </a:rPr>
              <a:t>------</a:t>
            </a:r>
            <a:r>
              <a:rPr kumimoji="1" lang="zh-CN" altLang="en-US" sz="2400" b="1" dirty="0">
                <a:solidFill>
                  <a:srgbClr val="FF0000"/>
                </a:solidFill>
                <a:latin typeface="黑体" pitchFamily="2" charset="-122"/>
                <a:ea typeface="黑体" pitchFamily="2" charset="-122"/>
                <a:cs typeface="Times New Roman" pitchFamily="18" charset="0"/>
              </a:rPr>
              <a:t>切应</a:t>
            </a:r>
            <a:r>
              <a:rPr kumimoji="1" lang="zh-CN" altLang="en-US" sz="2400" b="1" dirty="0">
                <a:solidFill>
                  <a:srgbClr val="0000FF"/>
                </a:solidFill>
                <a:latin typeface="黑体" pitchFamily="2" charset="-122"/>
                <a:ea typeface="黑体" pitchFamily="2" charset="-122"/>
                <a:cs typeface="Times New Roman" pitchFamily="18" charset="0"/>
              </a:rPr>
              <a:t>力</a:t>
            </a:r>
          </a:p>
        </p:txBody>
      </p:sp>
      <p:sp>
        <p:nvSpPr>
          <p:cNvPr id="6" name="Rectangle 9"/>
          <p:cNvSpPr>
            <a:spLocks noChangeArrowheads="1"/>
          </p:cNvSpPr>
          <p:nvPr/>
        </p:nvSpPr>
        <p:spPr bwMode="auto">
          <a:xfrm>
            <a:off x="577048" y="2564905"/>
            <a:ext cx="8027399" cy="576064"/>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990000"/>
                  </a:outerShdw>
                </a:effectLst>
              </a14:hiddenEffects>
            </a:ext>
          </a:extLst>
        </p:spPr>
        <p:txBody>
          <a:bodyPr wrap="none" anchor="ct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eaLnBrk="1" hangingPunct="1">
              <a:spcBef>
                <a:spcPct val="0"/>
              </a:spcBef>
              <a:buFontTx/>
              <a:buNone/>
            </a:pPr>
            <a:r>
              <a:rPr kumimoji="1" lang="zh-CN" altLang="en-US" sz="2400" b="1" dirty="0">
                <a:solidFill>
                  <a:srgbClr val="0000FF"/>
                </a:solidFill>
                <a:latin typeface="黑体" pitchFamily="2" charset="-122"/>
                <a:ea typeface="黑体" pitchFamily="2" charset="-122"/>
              </a:rPr>
              <a:t>应 变：衡量</a:t>
            </a:r>
            <a:r>
              <a:rPr kumimoji="1" lang="zh-CN" altLang="en-US" sz="2400" b="1" dirty="0">
                <a:solidFill>
                  <a:srgbClr val="FF0000"/>
                </a:solidFill>
                <a:latin typeface="黑体" pitchFamily="2" charset="-122"/>
                <a:ea typeface="黑体" pitchFamily="2" charset="-122"/>
              </a:rPr>
              <a:t>变形程度</a:t>
            </a:r>
            <a:r>
              <a:rPr kumimoji="1" lang="zh-CN" altLang="en-US" sz="2400" b="1" dirty="0">
                <a:solidFill>
                  <a:srgbClr val="0000FF"/>
                </a:solidFill>
                <a:latin typeface="黑体" pitchFamily="2" charset="-122"/>
                <a:ea typeface="黑体" pitchFamily="2" charset="-122"/>
              </a:rPr>
              <a:t>的基本量</a:t>
            </a:r>
          </a:p>
        </p:txBody>
      </p:sp>
      <p:sp>
        <p:nvSpPr>
          <p:cNvPr id="8" name="Text Box 14"/>
          <p:cNvSpPr txBox="1">
            <a:spLocks noChangeArrowheads="1"/>
          </p:cNvSpPr>
          <p:nvPr/>
        </p:nvSpPr>
        <p:spPr bwMode="auto">
          <a:xfrm>
            <a:off x="582037" y="3356992"/>
            <a:ext cx="8022411" cy="461665"/>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algn="just" eaLnBrk="1" hangingPunct="1">
              <a:spcBef>
                <a:spcPct val="0"/>
              </a:spcBef>
              <a:buFontTx/>
              <a:buNone/>
            </a:pPr>
            <a:r>
              <a:rPr kumimoji="1" lang="zh-CN" altLang="en-US" sz="2400" b="1" dirty="0">
                <a:solidFill>
                  <a:srgbClr val="0000FF"/>
                </a:solidFill>
                <a:latin typeface="Times New Roman" pitchFamily="18" charset="0"/>
                <a:ea typeface="黑体" pitchFamily="2" charset="-122"/>
              </a:rPr>
              <a:t>正应变（线应变）；切应变，剪应变定义</a:t>
            </a:r>
          </a:p>
        </p:txBody>
      </p:sp>
      <p:sp>
        <p:nvSpPr>
          <p:cNvPr id="9" name="Rectangle 11"/>
          <p:cNvSpPr>
            <a:spLocks noChangeArrowheads="1"/>
          </p:cNvSpPr>
          <p:nvPr/>
        </p:nvSpPr>
        <p:spPr bwMode="auto">
          <a:xfrm>
            <a:off x="609375" y="4077072"/>
            <a:ext cx="7995072" cy="457200"/>
          </a:xfrm>
          <a:prstGeom prst="rect">
            <a:avLst/>
          </a:prstGeom>
          <a:noFill/>
          <a:ln w="2857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sz="3200">
                <a:solidFill>
                  <a:schemeClr val="tx1"/>
                </a:solidFill>
                <a:latin typeface="Arial" charset="0"/>
                <a:ea typeface="宋体" charset="-122"/>
              </a:defRPr>
            </a:lvl1pPr>
            <a:lvl2pPr marL="742950" indent="-285750" eaLnBrk="0" hangingPunct="0">
              <a:spcBef>
                <a:spcPct val="20000"/>
              </a:spcBef>
              <a:buChar char="–"/>
              <a:defRPr sz="2800">
                <a:solidFill>
                  <a:schemeClr val="tx1"/>
                </a:solidFill>
                <a:latin typeface="Arial" charset="0"/>
                <a:ea typeface="宋体" charset="-122"/>
              </a:defRPr>
            </a:lvl2pPr>
            <a:lvl3pPr marL="1143000" indent="-228600" eaLnBrk="0" hangingPunct="0">
              <a:spcBef>
                <a:spcPct val="20000"/>
              </a:spcBef>
              <a:buChar char="•"/>
              <a:defRPr sz="2400">
                <a:solidFill>
                  <a:schemeClr val="tx1"/>
                </a:solidFill>
                <a:latin typeface="Arial" charset="0"/>
                <a:ea typeface="宋体" charset="-122"/>
              </a:defRPr>
            </a:lvl3pPr>
            <a:lvl4pPr marL="1600200" indent="-228600" eaLnBrk="0" hangingPunct="0">
              <a:spcBef>
                <a:spcPct val="20000"/>
              </a:spcBef>
              <a:buChar char="–"/>
              <a:defRPr sz="2000">
                <a:solidFill>
                  <a:schemeClr val="tx1"/>
                </a:solidFill>
                <a:latin typeface="Arial" charset="0"/>
                <a:ea typeface="宋体" charset="-122"/>
              </a:defRPr>
            </a:lvl4pPr>
            <a:lvl5pPr marL="2057400" indent="-228600" eaLnBrk="0" hangingPunct="0">
              <a:spcBef>
                <a:spcPct val="20000"/>
              </a:spcBef>
              <a:buChar char="»"/>
              <a:defRPr sz="2000">
                <a:solidFill>
                  <a:schemeClr val="tx1"/>
                </a:solidFill>
                <a:latin typeface="Arial" charset="0"/>
                <a:ea typeface="宋体" charset="-122"/>
              </a:defRPr>
            </a:lvl5pPr>
            <a:lvl6pPr marL="2514600" indent="-228600" eaLnBrk="0" fontAlgn="base" hangingPunct="0">
              <a:spcBef>
                <a:spcPct val="20000"/>
              </a:spcBef>
              <a:spcAft>
                <a:spcPct val="0"/>
              </a:spcAft>
              <a:buChar char="»"/>
              <a:defRPr sz="2000">
                <a:solidFill>
                  <a:schemeClr val="tx1"/>
                </a:solidFill>
                <a:latin typeface="Arial" charset="0"/>
                <a:ea typeface="宋体" charset="-122"/>
              </a:defRPr>
            </a:lvl6pPr>
            <a:lvl7pPr marL="2971800" indent="-228600" eaLnBrk="0" fontAlgn="base" hangingPunct="0">
              <a:spcBef>
                <a:spcPct val="20000"/>
              </a:spcBef>
              <a:spcAft>
                <a:spcPct val="0"/>
              </a:spcAft>
              <a:buChar char="»"/>
              <a:defRPr sz="2000">
                <a:solidFill>
                  <a:schemeClr val="tx1"/>
                </a:solidFill>
                <a:latin typeface="Arial" charset="0"/>
                <a:ea typeface="宋体" charset="-122"/>
              </a:defRPr>
            </a:lvl7pPr>
            <a:lvl8pPr marL="3429000" indent="-228600" eaLnBrk="0" fontAlgn="base" hangingPunct="0">
              <a:spcBef>
                <a:spcPct val="20000"/>
              </a:spcBef>
              <a:spcAft>
                <a:spcPct val="0"/>
              </a:spcAft>
              <a:buChar char="»"/>
              <a:defRPr sz="2000">
                <a:solidFill>
                  <a:schemeClr val="tx1"/>
                </a:solidFill>
                <a:latin typeface="Arial" charset="0"/>
                <a:ea typeface="宋体" charset="-122"/>
              </a:defRPr>
            </a:lvl8pPr>
            <a:lvl9pPr marL="3886200" indent="-228600" eaLnBrk="0" fontAlgn="base" hangingPunct="0">
              <a:spcBef>
                <a:spcPct val="20000"/>
              </a:spcBef>
              <a:spcAft>
                <a:spcPct val="0"/>
              </a:spcAft>
              <a:buChar char="»"/>
              <a:defRPr sz="2000">
                <a:solidFill>
                  <a:schemeClr val="tx1"/>
                </a:solidFill>
                <a:latin typeface="Arial" charset="0"/>
                <a:ea typeface="宋体" charset="-122"/>
              </a:defRPr>
            </a:lvl9pPr>
          </a:lstStyle>
          <a:p>
            <a:pPr algn="just" eaLnBrk="1" hangingPunct="1">
              <a:spcBef>
                <a:spcPct val="0"/>
              </a:spcBef>
              <a:buFontTx/>
              <a:buNone/>
            </a:pPr>
            <a:r>
              <a:rPr kumimoji="1" lang="zh-CN" altLang="en-US" sz="2400" b="1" dirty="0">
                <a:solidFill>
                  <a:srgbClr val="0000FF"/>
                </a:solidFill>
                <a:latin typeface="Times New Roman" pitchFamily="18" charset="0"/>
                <a:ea typeface="黑体" pitchFamily="2" charset="-122"/>
              </a:rPr>
              <a:t>应力应变之间的相互关系</a:t>
            </a:r>
          </a:p>
        </p:txBody>
      </p:sp>
      <p:graphicFrame>
        <p:nvGraphicFramePr>
          <p:cNvPr id="12" name="Object 14"/>
          <p:cNvGraphicFramePr>
            <a:graphicFrameLocks noChangeAspect="1"/>
          </p:cNvGraphicFramePr>
          <p:nvPr>
            <p:extLst>
              <p:ext uri="{D42A27DB-BD31-4B8C-83A1-F6EECF244321}">
                <p14:modId xmlns:p14="http://schemas.microsoft.com/office/powerpoint/2010/main" val="3373885980"/>
              </p:ext>
            </p:extLst>
          </p:nvPr>
        </p:nvGraphicFramePr>
        <p:xfrm>
          <a:off x="2123728" y="5013176"/>
          <a:ext cx="1143000" cy="409575"/>
        </p:xfrm>
        <a:graphic>
          <a:graphicData uri="http://schemas.openxmlformats.org/presentationml/2006/ole">
            <mc:AlternateContent xmlns:mc="http://schemas.openxmlformats.org/markup-compatibility/2006">
              <mc:Choice xmlns:v="urn:schemas-microsoft-com:vml" Requires="v">
                <p:oleObj name="Equation" r:id="rId2" imgW="494870" imgH="177646" progId="">
                  <p:embed/>
                </p:oleObj>
              </mc:Choice>
              <mc:Fallback>
                <p:oleObj name="Equation" r:id="rId2" imgW="494870" imgH="177646" progId="">
                  <p:embed/>
                  <p:pic>
                    <p:nvPicPr>
                      <p:cNvPr id="0" name="Picture 4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3728" y="5013176"/>
                        <a:ext cx="1143000" cy="409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Object 17"/>
          <p:cNvGraphicFramePr>
            <a:graphicFrameLocks noChangeAspect="1"/>
          </p:cNvGraphicFramePr>
          <p:nvPr>
            <p:extLst>
              <p:ext uri="{D42A27DB-BD31-4B8C-83A1-F6EECF244321}">
                <p14:modId xmlns:p14="http://schemas.microsoft.com/office/powerpoint/2010/main" val="2654738499"/>
              </p:ext>
            </p:extLst>
          </p:nvPr>
        </p:nvGraphicFramePr>
        <p:xfrm>
          <a:off x="4014787" y="5013176"/>
          <a:ext cx="1114425" cy="468313"/>
        </p:xfrm>
        <a:graphic>
          <a:graphicData uri="http://schemas.openxmlformats.org/presentationml/2006/ole">
            <mc:AlternateContent xmlns:mc="http://schemas.openxmlformats.org/markup-compatibility/2006">
              <mc:Choice xmlns:v="urn:schemas-microsoft-com:vml" Requires="v">
                <p:oleObj name="Equation" r:id="rId4" imgW="482391" imgH="203112" progId="">
                  <p:embed/>
                </p:oleObj>
              </mc:Choice>
              <mc:Fallback>
                <p:oleObj name="Equation" r:id="rId4" imgW="482391" imgH="203112" progId="">
                  <p:embed/>
                  <p:pic>
                    <p:nvPicPr>
                      <p:cNvPr id="0" name="Picture 4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14787" y="5013176"/>
                        <a:ext cx="1114425" cy="468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04840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grpId="0" nodeType="clickEffect">
                                  <p:stCondLst>
                                    <p:cond delay="0"/>
                                  </p:stCondLst>
                                  <p:iterate type="wd">
                                    <p:tmPct val="100000"/>
                                  </p:iterate>
                                  <p:childTnLst>
                                    <p:set>
                                      <p:cBhvr>
                                        <p:cTn id="11" dur="1" fill="hold">
                                          <p:stCondLst>
                                            <p:cond delay="0"/>
                                          </p:stCondLst>
                                        </p:cTn>
                                        <p:tgtEl>
                                          <p:spTgt spid="3"/>
                                        </p:tgtEl>
                                        <p:attrNameLst>
                                          <p:attrName>style.visibility</p:attrName>
                                        </p:attrNameLst>
                                      </p:cBhvr>
                                      <p:to>
                                        <p:strVal val="visible"/>
                                      </p:to>
                                    </p:set>
                                    <p:animEffect transition="in" filter="barn(outHorizontal)">
                                      <p:cBhvr>
                                        <p:cTn id="12" dur="3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grpId="0" nodeType="clickEffect">
                                  <p:stCondLst>
                                    <p:cond delay="0"/>
                                  </p:stCondLst>
                                  <p:iterate type="wd">
                                    <p:tmPct val="100000"/>
                                  </p:iterate>
                                  <p:childTnLst>
                                    <p:set>
                                      <p:cBhvr>
                                        <p:cTn id="16" dur="1" fill="hold">
                                          <p:stCondLst>
                                            <p:cond delay="0"/>
                                          </p:stCondLst>
                                        </p:cTn>
                                        <p:tgtEl>
                                          <p:spTgt spid="4"/>
                                        </p:tgtEl>
                                        <p:attrNameLst>
                                          <p:attrName>style.visibility</p:attrName>
                                        </p:attrNameLst>
                                      </p:cBhvr>
                                      <p:to>
                                        <p:strVal val="visible"/>
                                      </p:to>
                                    </p:set>
                                    <p:animEffect transition="in" filter="barn(outHorizontal)">
                                      <p:cBhvr>
                                        <p:cTn id="17" dur="3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additive="base">
                                        <p:cTn id="22" dur="500" fill="hold"/>
                                        <p:tgtEl>
                                          <p:spTgt spid="6"/>
                                        </p:tgtEl>
                                        <p:attrNameLst>
                                          <p:attrName>ppt_x</p:attrName>
                                        </p:attrNameLst>
                                      </p:cBhvr>
                                      <p:tavLst>
                                        <p:tav tm="0">
                                          <p:val>
                                            <p:strVal val="0-#ppt_w/2"/>
                                          </p:val>
                                        </p:tav>
                                        <p:tav tm="100000">
                                          <p:val>
                                            <p:strVal val="#ppt_x"/>
                                          </p:val>
                                        </p:tav>
                                      </p:tavLst>
                                    </p:anim>
                                    <p:anim calcmode="lin" valueType="num">
                                      <p:cBhvr additive="base">
                                        <p:cTn id="23"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500"/>
                                        <p:tgtEl>
                                          <p:spTgt spid="8"/>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500"/>
                                        <p:tgtEl>
                                          <p:spTgt spid="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childTnLst>
                                </p:cTn>
                              </p:par>
                              <p:par>
                                <p:cTn id="39" presetID="10" presetClass="entr" presetSubtype="0" fill="hold" nodeType="with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autoUpdateAnimBg="0"/>
      <p:bldP spid="4" grpId="0" animBg="1" autoUpdateAnimBg="0"/>
      <p:bldP spid="6" grpId="0" animBg="1" autoUpdateAnimBg="0"/>
      <p:bldP spid="8" grpId="0" animBg="1"/>
      <p:bldP spid="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a:grpSpLocks/>
          </p:cNvGrpSpPr>
          <p:nvPr/>
        </p:nvGrpSpPr>
        <p:grpSpPr bwMode="auto">
          <a:xfrm>
            <a:off x="539814" y="332656"/>
            <a:ext cx="4186237" cy="706437"/>
            <a:chOff x="2747962" y="868363"/>
            <a:chExt cx="4186237" cy="707005"/>
          </a:xfrm>
        </p:grpSpPr>
        <p:sp>
          <p:nvSpPr>
            <p:cNvPr id="3" name="圆角矩形 2"/>
            <p:cNvSpPr/>
            <p:nvPr/>
          </p:nvSpPr>
          <p:spPr bwMode="auto">
            <a:xfrm>
              <a:off x="2747962" y="889017"/>
              <a:ext cx="4186237" cy="686351"/>
            </a:xfrm>
            <a:prstGeom prst="roundRect">
              <a:avLst>
                <a:gd name="adj" fmla="val 10000"/>
              </a:avLst>
            </a:prstGeom>
            <a:ln>
              <a:solidFill>
                <a:srgbClr val="FF0000"/>
              </a:solidFill>
            </a:ln>
          </p:spPr>
          <p:style>
            <a:lnRef idx="2">
              <a:schemeClr val="accent2"/>
            </a:lnRef>
            <a:fillRef idx="1">
              <a:schemeClr val="lt1"/>
            </a:fillRef>
            <a:effectRef idx="0">
              <a:schemeClr val="accent2"/>
            </a:effectRef>
            <a:fontRef idx="minor">
              <a:schemeClr val="dk1"/>
            </a:fontRef>
          </p:style>
        </p:sp>
        <p:sp>
          <p:nvSpPr>
            <p:cNvPr id="4" name="圆角矩形 4"/>
            <p:cNvSpPr/>
            <p:nvPr/>
          </p:nvSpPr>
          <p:spPr bwMode="auto">
            <a:xfrm>
              <a:off x="2752724" y="868363"/>
              <a:ext cx="3952875" cy="645043"/>
            </a:xfrm>
            <a:prstGeom prst="rect">
              <a:avLst/>
            </a:prstGeom>
          </p:spPr>
          <p:style>
            <a:lnRef idx="0">
              <a:scrgbClr r="0" g="0" b="0"/>
            </a:lnRef>
            <a:fillRef idx="0">
              <a:scrgbClr r="0" g="0" b="0"/>
            </a:fillRef>
            <a:effectRef idx="0">
              <a:scrgbClr r="0" g="0" b="0"/>
            </a:effectRef>
            <a:fontRef idx="minor">
              <a:schemeClr val="lt1"/>
            </a:fontRef>
          </p:style>
          <p:txBody>
            <a:bodyPr lIns="68580" tIns="68580" rIns="68580" bIns="68580" spcCol="1270" anchor="ctr"/>
            <a:lstStyle/>
            <a:p>
              <a:pPr algn="ctr" defTabSz="800100" eaLnBrk="1" hangingPunct="1">
                <a:lnSpc>
                  <a:spcPct val="90000"/>
                </a:lnSpc>
                <a:spcAft>
                  <a:spcPct val="35000"/>
                </a:spcAft>
                <a:defRPr/>
              </a:pPr>
              <a:r>
                <a:rPr lang="zh-CN" altLang="en-US" sz="2800" b="1" dirty="0">
                  <a:solidFill>
                    <a:srgbClr val="FF0000"/>
                  </a:solidFill>
                  <a:latin typeface="楷体" panose="02010609060101010101" pitchFamily="49" charset="-122"/>
                  <a:ea typeface="楷体" panose="02010609060101010101" pitchFamily="49" charset="-122"/>
                </a:rPr>
                <a:t>第二章 轴向拉压</a:t>
              </a:r>
            </a:p>
          </p:txBody>
        </p:sp>
      </p:grpSp>
      <p:sp>
        <p:nvSpPr>
          <p:cNvPr id="5" name="矩形 4"/>
          <p:cNvSpPr/>
          <p:nvPr/>
        </p:nvSpPr>
        <p:spPr bwMode="auto">
          <a:xfrm>
            <a:off x="544576" y="2106417"/>
            <a:ext cx="7987864" cy="530493"/>
          </a:xfrm>
          <a:prstGeom prst="rect">
            <a:avLst/>
          </a:prstGeom>
          <a:ln>
            <a:solidFill>
              <a:srgbClr val="FF000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a:lstStyle/>
          <a:p>
            <a:pPr>
              <a:spcBef>
                <a:spcPct val="50000"/>
              </a:spcBef>
            </a:pPr>
            <a:r>
              <a:rPr kumimoji="1" lang="zh-CN" altLang="en-US" sz="2400" b="1" dirty="0">
                <a:solidFill>
                  <a:srgbClr val="0000FF"/>
                </a:solidFill>
                <a:latin typeface="黑体" panose="02010609060101010101" pitchFamily="49" charset="-122"/>
                <a:ea typeface="黑体" panose="02010609060101010101" pitchFamily="49" charset="-122"/>
              </a:rPr>
              <a:t>变形特点：杆</a:t>
            </a:r>
            <a:r>
              <a:rPr kumimoji="1" lang="zh-CN" altLang="en-US" sz="2400" b="1" dirty="0">
                <a:solidFill>
                  <a:srgbClr val="FF0000"/>
                </a:solidFill>
                <a:latin typeface="黑体" panose="02010609060101010101" pitchFamily="49" charset="-122"/>
                <a:ea typeface="黑体" panose="02010609060101010101" pitchFamily="49" charset="-122"/>
              </a:rPr>
              <a:t>沿轴线方向</a:t>
            </a:r>
            <a:r>
              <a:rPr kumimoji="1" lang="zh-CN" altLang="en-US" sz="2400" b="1" dirty="0">
                <a:solidFill>
                  <a:srgbClr val="0000FF"/>
                </a:solidFill>
                <a:latin typeface="黑体" panose="02010609060101010101" pitchFamily="49" charset="-122"/>
                <a:ea typeface="黑体" panose="02010609060101010101" pitchFamily="49" charset="-122"/>
              </a:rPr>
              <a:t>伸长或缩短</a:t>
            </a:r>
          </a:p>
        </p:txBody>
      </p:sp>
      <p:sp>
        <p:nvSpPr>
          <p:cNvPr id="6" name="矩形 5"/>
          <p:cNvSpPr/>
          <p:nvPr/>
        </p:nvSpPr>
        <p:spPr bwMode="auto">
          <a:xfrm>
            <a:off x="544576" y="1268760"/>
            <a:ext cx="7987864" cy="576064"/>
          </a:xfrm>
          <a:prstGeom prst="rect">
            <a:avLst/>
          </a:prstGeom>
          <a:ln>
            <a:solidFill>
              <a:srgbClr val="FF000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a:lstStyle/>
          <a:p>
            <a:pPr>
              <a:spcBef>
                <a:spcPct val="50000"/>
              </a:spcBef>
            </a:pPr>
            <a:r>
              <a:rPr kumimoji="1" lang="zh-CN" altLang="en-US" sz="2400" b="1" dirty="0">
                <a:solidFill>
                  <a:srgbClr val="0000FF"/>
                </a:solidFill>
                <a:latin typeface="黑体" panose="02010609060101010101" pitchFamily="49" charset="-122"/>
                <a:ea typeface="黑体" panose="02010609060101010101" pitchFamily="49" charset="-122"/>
              </a:rPr>
              <a:t>受力特点：外力合力作用线与杆轴线</a:t>
            </a:r>
            <a:r>
              <a:rPr kumimoji="1" lang="zh-CN" altLang="en-US" sz="2400" b="1" dirty="0">
                <a:solidFill>
                  <a:srgbClr val="FF0000"/>
                </a:solidFill>
                <a:latin typeface="黑体" panose="02010609060101010101" pitchFamily="49" charset="-122"/>
                <a:ea typeface="黑体" panose="02010609060101010101" pitchFamily="49" charset="-122"/>
              </a:rPr>
              <a:t>重合</a:t>
            </a:r>
          </a:p>
        </p:txBody>
      </p:sp>
      <p:sp>
        <p:nvSpPr>
          <p:cNvPr id="7" name="矩形 6"/>
          <p:cNvSpPr/>
          <p:nvPr/>
        </p:nvSpPr>
        <p:spPr bwMode="auto">
          <a:xfrm>
            <a:off x="529730" y="2924944"/>
            <a:ext cx="7987864" cy="530493"/>
          </a:xfrm>
          <a:prstGeom prst="rect">
            <a:avLst/>
          </a:prstGeom>
          <a:ln>
            <a:solidFill>
              <a:srgbClr val="FF000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a:lstStyle/>
          <a:p>
            <a:pPr>
              <a:spcBef>
                <a:spcPct val="50000"/>
              </a:spcBef>
            </a:pPr>
            <a:r>
              <a:rPr kumimoji="1" lang="zh-CN" altLang="en-US" sz="2400" b="1" dirty="0">
                <a:solidFill>
                  <a:srgbClr val="0000FF"/>
                </a:solidFill>
                <a:latin typeface="黑体" panose="02010609060101010101" pitchFamily="49" charset="-122"/>
                <a:ea typeface="黑体" panose="02010609060101010101" pitchFamily="49" charset="-122"/>
              </a:rPr>
              <a:t>轴向拉压杆横截面的</a:t>
            </a:r>
            <a:r>
              <a:rPr kumimoji="1" lang="zh-CN" altLang="en-US" sz="2400" b="1" dirty="0">
                <a:solidFill>
                  <a:srgbClr val="FF0000"/>
                </a:solidFill>
                <a:latin typeface="黑体" panose="02010609060101010101" pitchFamily="49" charset="-122"/>
                <a:ea typeface="黑体" panose="02010609060101010101" pitchFamily="49" charset="-122"/>
              </a:rPr>
              <a:t>内力</a:t>
            </a:r>
            <a:r>
              <a:rPr kumimoji="1" lang="zh-CN" altLang="en-US" sz="2400" b="1" dirty="0">
                <a:solidFill>
                  <a:srgbClr val="0000FF"/>
                </a:solidFill>
                <a:latin typeface="黑体" panose="02010609060101010101" pitchFamily="49" charset="-122"/>
                <a:ea typeface="黑体" panose="02010609060101010101" pitchFamily="49" charset="-122"/>
              </a:rPr>
              <a:t> </a:t>
            </a:r>
            <a:r>
              <a:rPr kumimoji="1" lang="en-US" altLang="zh-CN" sz="2400" b="1" i="1" dirty="0">
                <a:solidFill>
                  <a:srgbClr val="0000FF"/>
                </a:solidFill>
                <a:latin typeface="黑体" panose="02010609060101010101" pitchFamily="49" charset="-122"/>
                <a:ea typeface="黑体" panose="02010609060101010101" pitchFamily="49" charset="-122"/>
              </a:rPr>
              <a:t>F</a:t>
            </a:r>
            <a:r>
              <a:rPr kumimoji="1" lang="en-US" altLang="zh-CN" sz="2400" b="1" i="1" baseline="-25000" dirty="0">
                <a:solidFill>
                  <a:srgbClr val="0000FF"/>
                </a:solidFill>
                <a:latin typeface="黑体" panose="02010609060101010101" pitchFamily="49" charset="-122"/>
                <a:ea typeface="黑体" panose="02010609060101010101" pitchFamily="49" charset="-122"/>
              </a:rPr>
              <a:t>N </a:t>
            </a:r>
            <a:r>
              <a:rPr kumimoji="1" lang="zh-CN" altLang="en-US" sz="2400" b="1" dirty="0">
                <a:solidFill>
                  <a:srgbClr val="FF0000"/>
                </a:solidFill>
                <a:latin typeface="黑体" pitchFamily="49" charset="-122"/>
                <a:ea typeface="黑体" pitchFamily="49" charset="-122"/>
              </a:rPr>
              <a:t>沿轴线方向</a:t>
            </a:r>
            <a:r>
              <a:rPr kumimoji="1" lang="zh-CN" altLang="en-US" sz="2400" b="1" dirty="0">
                <a:solidFill>
                  <a:srgbClr val="0000FF"/>
                </a:solidFill>
                <a:latin typeface="黑体" pitchFamily="49" charset="-122"/>
                <a:ea typeface="黑体" pitchFamily="49" charset="-122"/>
              </a:rPr>
              <a:t>，所以称为轴力</a:t>
            </a:r>
          </a:p>
        </p:txBody>
      </p:sp>
      <p:sp>
        <p:nvSpPr>
          <p:cNvPr id="8" name="矩形 7"/>
          <p:cNvSpPr/>
          <p:nvPr/>
        </p:nvSpPr>
        <p:spPr bwMode="auto">
          <a:xfrm>
            <a:off x="539814" y="3717032"/>
            <a:ext cx="7987864" cy="530493"/>
          </a:xfrm>
          <a:prstGeom prst="rect">
            <a:avLst/>
          </a:prstGeom>
          <a:ln>
            <a:solidFill>
              <a:srgbClr val="FF000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a:lstStyle/>
          <a:p>
            <a:pPr>
              <a:spcBef>
                <a:spcPct val="50000"/>
              </a:spcBef>
            </a:pPr>
            <a:r>
              <a:rPr kumimoji="1" lang="zh-CN" altLang="en-US" sz="2400" b="1" dirty="0">
                <a:solidFill>
                  <a:srgbClr val="0000FF"/>
                </a:solidFill>
                <a:latin typeface="黑体" panose="02010609060101010101" pitchFamily="49" charset="-122"/>
                <a:ea typeface="黑体" panose="02010609060101010101" pitchFamily="49" charset="-122"/>
              </a:rPr>
              <a:t>拉伸</a:t>
            </a:r>
            <a:r>
              <a:rPr kumimoji="1" lang="en-US" altLang="zh-CN" sz="2400" b="1" dirty="0">
                <a:solidFill>
                  <a:srgbClr val="0000FF"/>
                </a:solidFill>
                <a:latin typeface="黑体" panose="02010609060101010101" pitchFamily="49" charset="-122"/>
                <a:ea typeface="黑体" panose="02010609060101010101" pitchFamily="49" charset="-122"/>
              </a:rPr>
              <a:t>—</a:t>
            </a:r>
            <a:r>
              <a:rPr kumimoji="1" lang="zh-CN" altLang="en-US" sz="2400" b="1" dirty="0">
                <a:solidFill>
                  <a:srgbClr val="0000FF"/>
                </a:solidFill>
                <a:latin typeface="黑体" panose="02010609060101010101" pitchFamily="49" charset="-122"/>
                <a:ea typeface="黑体" panose="02010609060101010101" pitchFamily="49" charset="-122"/>
              </a:rPr>
              <a:t>拉力，其轴力为</a:t>
            </a:r>
            <a:r>
              <a:rPr kumimoji="1" lang="zh-CN" altLang="en-US" sz="2400" b="1" dirty="0">
                <a:solidFill>
                  <a:srgbClr val="FF0000"/>
                </a:solidFill>
                <a:latin typeface="黑体" panose="02010609060101010101" pitchFamily="49" charset="-122"/>
                <a:ea typeface="黑体" panose="02010609060101010101" pitchFamily="49" charset="-122"/>
              </a:rPr>
              <a:t>正值</a:t>
            </a:r>
            <a:r>
              <a:rPr kumimoji="1" lang="zh-CN" altLang="en-US" sz="2400" b="1" dirty="0">
                <a:solidFill>
                  <a:srgbClr val="0000FF"/>
                </a:solidFill>
                <a:latin typeface="黑体" panose="02010609060101010101" pitchFamily="49" charset="-122"/>
                <a:ea typeface="黑体" panose="02010609060101010101" pitchFamily="49" charset="-122"/>
              </a:rPr>
              <a:t>。方向</a:t>
            </a:r>
            <a:r>
              <a:rPr kumimoji="1" lang="zh-CN" altLang="en-US" sz="2400" b="1" dirty="0">
                <a:solidFill>
                  <a:srgbClr val="FF0000"/>
                </a:solidFill>
                <a:latin typeface="黑体" panose="02010609060101010101" pitchFamily="49" charset="-122"/>
                <a:ea typeface="黑体" panose="02010609060101010101" pitchFamily="49" charset="-122"/>
              </a:rPr>
              <a:t>背离</a:t>
            </a:r>
            <a:r>
              <a:rPr kumimoji="1" lang="zh-CN" altLang="en-US" sz="2400" b="1" dirty="0">
                <a:solidFill>
                  <a:srgbClr val="0000FF"/>
                </a:solidFill>
                <a:latin typeface="黑体" panose="02010609060101010101" pitchFamily="49" charset="-122"/>
                <a:ea typeface="黑体" panose="02010609060101010101" pitchFamily="49" charset="-122"/>
              </a:rPr>
              <a:t>所在截面</a:t>
            </a:r>
          </a:p>
        </p:txBody>
      </p:sp>
      <p:sp>
        <p:nvSpPr>
          <p:cNvPr id="9" name="矩形 8"/>
          <p:cNvSpPr/>
          <p:nvPr/>
        </p:nvSpPr>
        <p:spPr bwMode="auto">
          <a:xfrm>
            <a:off x="544576" y="4482683"/>
            <a:ext cx="7987864" cy="530493"/>
          </a:xfrm>
          <a:prstGeom prst="rect">
            <a:avLst/>
          </a:prstGeom>
          <a:ln>
            <a:solidFill>
              <a:srgbClr val="FF000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a:lstStyle/>
          <a:p>
            <a:pPr algn="just">
              <a:spcBef>
                <a:spcPct val="50000"/>
              </a:spcBef>
            </a:pPr>
            <a:r>
              <a:rPr kumimoji="1" lang="zh-CN" altLang="en-US" sz="2400" b="1" dirty="0">
                <a:solidFill>
                  <a:srgbClr val="0000FF"/>
                </a:solidFill>
                <a:latin typeface="黑体" panose="02010609060101010101" pitchFamily="49" charset="-122"/>
                <a:ea typeface="黑体" panose="02010609060101010101" pitchFamily="49" charset="-122"/>
              </a:rPr>
              <a:t>压缩</a:t>
            </a:r>
            <a:r>
              <a:rPr kumimoji="1" lang="en-US" altLang="zh-CN" sz="2400" b="1" dirty="0">
                <a:solidFill>
                  <a:srgbClr val="0000FF"/>
                </a:solidFill>
                <a:latin typeface="黑体" panose="02010609060101010101" pitchFamily="49" charset="-122"/>
                <a:ea typeface="黑体" panose="02010609060101010101" pitchFamily="49" charset="-122"/>
              </a:rPr>
              <a:t>—</a:t>
            </a:r>
            <a:r>
              <a:rPr kumimoji="1" lang="zh-CN" altLang="en-US" sz="2400" b="1" dirty="0">
                <a:solidFill>
                  <a:srgbClr val="0000FF"/>
                </a:solidFill>
                <a:latin typeface="黑体" panose="02010609060101010101" pitchFamily="49" charset="-122"/>
                <a:ea typeface="黑体" panose="02010609060101010101" pitchFamily="49" charset="-122"/>
              </a:rPr>
              <a:t>压力，其轴力为</a:t>
            </a:r>
            <a:r>
              <a:rPr kumimoji="1" lang="zh-CN" altLang="en-US" sz="2400" b="1" dirty="0">
                <a:solidFill>
                  <a:srgbClr val="FF0000"/>
                </a:solidFill>
                <a:latin typeface="黑体" panose="02010609060101010101" pitchFamily="49" charset="-122"/>
                <a:ea typeface="黑体" panose="02010609060101010101" pitchFamily="49" charset="-122"/>
              </a:rPr>
              <a:t>负</a:t>
            </a:r>
            <a:r>
              <a:rPr kumimoji="1" lang="zh-CN" altLang="en-US" sz="2400" b="1" dirty="0">
                <a:solidFill>
                  <a:srgbClr val="0000FF"/>
                </a:solidFill>
                <a:latin typeface="黑体" panose="02010609060101010101" pitchFamily="49" charset="-122"/>
                <a:ea typeface="黑体" panose="02010609060101010101" pitchFamily="49" charset="-122"/>
              </a:rPr>
              <a:t>值。方向</a:t>
            </a:r>
            <a:r>
              <a:rPr kumimoji="1" lang="zh-CN" altLang="en-US" sz="2400" b="1" dirty="0">
                <a:solidFill>
                  <a:srgbClr val="FF0000"/>
                </a:solidFill>
                <a:latin typeface="黑体" panose="02010609060101010101" pitchFamily="49" charset="-122"/>
                <a:ea typeface="黑体" panose="02010609060101010101" pitchFamily="49" charset="-122"/>
              </a:rPr>
              <a:t>指向</a:t>
            </a:r>
            <a:r>
              <a:rPr kumimoji="1" lang="zh-CN" altLang="en-US" sz="2400" b="1" dirty="0">
                <a:solidFill>
                  <a:srgbClr val="0000FF"/>
                </a:solidFill>
                <a:latin typeface="黑体" panose="02010609060101010101" pitchFamily="49" charset="-122"/>
                <a:ea typeface="黑体" panose="02010609060101010101" pitchFamily="49" charset="-122"/>
              </a:rPr>
              <a:t>所在截面。</a:t>
            </a:r>
          </a:p>
          <a:p>
            <a:pPr>
              <a:spcBef>
                <a:spcPct val="50000"/>
              </a:spcBef>
            </a:pPr>
            <a:endParaRPr lang="zh-CN" altLang="en-US" sz="2400" b="1" dirty="0">
              <a:solidFill>
                <a:srgbClr val="0000FF"/>
              </a:solidFill>
              <a:latin typeface="黑体" panose="02010609060101010101" pitchFamily="49" charset="-122"/>
              <a:ea typeface="黑体" panose="02010609060101010101" pitchFamily="49" charset="-122"/>
            </a:endParaRPr>
          </a:p>
        </p:txBody>
      </p:sp>
      <p:sp>
        <p:nvSpPr>
          <p:cNvPr id="10" name="矩形 9"/>
          <p:cNvSpPr/>
          <p:nvPr/>
        </p:nvSpPr>
        <p:spPr bwMode="auto">
          <a:xfrm>
            <a:off x="544575" y="5229200"/>
            <a:ext cx="7970899" cy="591365"/>
          </a:xfrm>
          <a:prstGeom prst="rect">
            <a:avLst/>
          </a:prstGeom>
          <a:ln>
            <a:solidFill>
              <a:srgbClr val="FF000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a:lstStyle/>
          <a:p>
            <a:pPr>
              <a:spcBef>
                <a:spcPct val="50000"/>
              </a:spcBef>
            </a:pPr>
            <a:r>
              <a:rPr kumimoji="1" lang="zh-CN" altLang="en-US" sz="2400" b="1" dirty="0">
                <a:solidFill>
                  <a:srgbClr val="0000FF"/>
                </a:solidFill>
                <a:latin typeface="黑体" panose="02010609060101010101" pitchFamily="49" charset="-122"/>
                <a:ea typeface="黑体" panose="02010609060101010101" pitchFamily="49" charset="-122"/>
              </a:rPr>
              <a:t>应力的计算公式</a:t>
            </a:r>
          </a:p>
        </p:txBody>
      </p:sp>
      <p:graphicFrame>
        <p:nvGraphicFramePr>
          <p:cNvPr id="12" name="对象 11"/>
          <p:cNvGraphicFramePr>
            <a:graphicFrameLocks noChangeAspect="1"/>
          </p:cNvGraphicFramePr>
          <p:nvPr>
            <p:extLst>
              <p:ext uri="{D42A27DB-BD31-4B8C-83A1-F6EECF244321}">
                <p14:modId xmlns:p14="http://schemas.microsoft.com/office/powerpoint/2010/main" val="1264795950"/>
              </p:ext>
            </p:extLst>
          </p:nvPr>
        </p:nvGraphicFramePr>
        <p:xfrm>
          <a:off x="2628425" y="5822206"/>
          <a:ext cx="1185862" cy="919162"/>
        </p:xfrm>
        <a:graphic>
          <a:graphicData uri="http://schemas.openxmlformats.org/presentationml/2006/ole">
            <mc:AlternateContent xmlns:mc="http://schemas.openxmlformats.org/markup-compatibility/2006">
              <mc:Choice xmlns:v="urn:schemas-microsoft-com:vml" Requires="v">
                <p:oleObj name="Equation" r:id="rId2" imgW="507780" imgH="393529" progId="">
                  <p:embed/>
                </p:oleObj>
              </mc:Choice>
              <mc:Fallback>
                <p:oleObj name="Equation" r:id="rId2" imgW="507780" imgH="393529" progId="">
                  <p:embed/>
                  <p:pic>
                    <p:nvPicPr>
                      <p:cNvPr id="0" name="Picture 4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8425" y="5822206"/>
                        <a:ext cx="1185862" cy="919162"/>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19050">
                            <a:solidFill>
                              <a:srgbClr val="800000"/>
                            </a:solidFill>
                            <a:prstDash val="dashDot"/>
                            <a:miter lim="800000"/>
                            <a:headEnd/>
                            <a:tailEnd/>
                          </a14:hiddenLine>
                        </a:ext>
                        <a:ext uri="{AF507438-7753-43E0-B8FC-AC1667EBCBE1}">
                          <a14:hiddenEffects xmlns:a14="http://schemas.microsoft.com/office/drawing/2010/main">
                            <a:effectLst>
                              <a:outerShdw dist="35921" dir="2700000" algn="ctr" rotWithShape="0">
                                <a:srgbClr val="990000"/>
                              </a:outerShdw>
                            </a:effectLst>
                          </a14:hiddenEffects>
                        </a:ext>
                      </a:extLst>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4122505353"/>
              </p:ext>
            </p:extLst>
          </p:nvPr>
        </p:nvGraphicFramePr>
        <p:xfrm>
          <a:off x="4428650" y="5822206"/>
          <a:ext cx="1571625" cy="919162"/>
        </p:xfrm>
        <a:graphic>
          <a:graphicData uri="http://schemas.openxmlformats.org/presentationml/2006/ole">
            <mc:AlternateContent xmlns:mc="http://schemas.openxmlformats.org/markup-compatibility/2006">
              <mc:Choice xmlns:v="urn:schemas-microsoft-com:vml" Requires="v">
                <p:oleObj name="Equation" r:id="rId4" imgW="672808" imgH="393529" progId="">
                  <p:embed/>
                </p:oleObj>
              </mc:Choice>
              <mc:Fallback>
                <p:oleObj name="Equation" r:id="rId4" imgW="672808" imgH="393529" progId="">
                  <p:embed/>
                  <p:pic>
                    <p:nvPicPr>
                      <p:cNvPr id="0" name="Picture 4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28650" y="5822206"/>
                        <a:ext cx="1571625" cy="919162"/>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19050">
                            <a:solidFill>
                              <a:srgbClr val="800000"/>
                            </a:solidFill>
                            <a:prstDash val="dashDot"/>
                            <a:miter lim="800000"/>
                            <a:headEnd/>
                            <a:tailEnd/>
                          </a14:hiddenLine>
                        </a:ext>
                        <a:ext uri="{AF507438-7753-43E0-B8FC-AC1667EBCBE1}">
                          <a14:hiddenEffects xmlns:a14="http://schemas.microsoft.com/office/drawing/2010/main">
                            <a:effectLst>
                              <a:outerShdw dist="35921" dir="2700000" algn="ctr" rotWithShape="0">
                                <a:srgbClr val="990000"/>
                              </a:outerShdw>
                            </a:effectLst>
                          </a14:hiddenEffects>
                        </a:ext>
                      </a:extLst>
                    </p:spPr>
                  </p:pic>
                </p:oleObj>
              </mc:Fallback>
            </mc:AlternateContent>
          </a:graphicData>
        </a:graphic>
      </p:graphicFrame>
    </p:spTree>
    <p:extLst>
      <p:ext uri="{BB962C8B-B14F-4D97-AF65-F5344CB8AC3E}">
        <p14:creationId xmlns:p14="http://schemas.microsoft.com/office/powerpoint/2010/main" val="3744892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12"/>
                                        </p:tgtEl>
                                        <p:attrNameLst>
                                          <p:attrName>style.visibility</p:attrName>
                                        </p:attrNameLst>
                                      </p:cBhvr>
                                      <p:to>
                                        <p:strVal val="visible"/>
                                      </p:to>
                                    </p:set>
                                    <p:anim calcmode="lin" valueType="num">
                                      <p:cBhvr additive="base">
                                        <p:cTn id="42" dur="500" fill="hold"/>
                                        <p:tgtEl>
                                          <p:spTgt spid="12"/>
                                        </p:tgtEl>
                                        <p:attrNameLst>
                                          <p:attrName>ppt_x</p:attrName>
                                        </p:attrNameLst>
                                      </p:cBhvr>
                                      <p:tavLst>
                                        <p:tav tm="0">
                                          <p:val>
                                            <p:strVal val="#ppt_x"/>
                                          </p:val>
                                        </p:tav>
                                        <p:tav tm="100000">
                                          <p:val>
                                            <p:strVal val="#ppt_x"/>
                                          </p:val>
                                        </p:tav>
                                      </p:tavLst>
                                    </p:anim>
                                    <p:anim calcmode="lin" valueType="num">
                                      <p:cBhvr additive="base">
                                        <p:cTn id="43"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nodeType="clickEffect">
                                  <p:stCondLst>
                                    <p:cond delay="0"/>
                                  </p:stCondLst>
                                  <p:childTnLst>
                                    <p:set>
                                      <p:cBhvr>
                                        <p:cTn id="47" dur="1" fill="hold">
                                          <p:stCondLst>
                                            <p:cond delay="0"/>
                                          </p:stCondLst>
                                        </p:cTn>
                                        <p:tgtEl>
                                          <p:spTgt spid="13"/>
                                        </p:tgtEl>
                                        <p:attrNameLst>
                                          <p:attrName>style.visibility</p:attrName>
                                        </p:attrNameLst>
                                      </p:cBhvr>
                                      <p:to>
                                        <p:strVal val="visible"/>
                                      </p:to>
                                    </p:set>
                                    <p:anim calcmode="lin" valueType="num">
                                      <p:cBhvr additive="base">
                                        <p:cTn id="48" dur="500" fill="hold"/>
                                        <p:tgtEl>
                                          <p:spTgt spid="13"/>
                                        </p:tgtEl>
                                        <p:attrNameLst>
                                          <p:attrName>ppt_x</p:attrName>
                                        </p:attrNameLst>
                                      </p:cBhvr>
                                      <p:tavLst>
                                        <p:tav tm="0">
                                          <p:val>
                                            <p:strVal val="#ppt_x"/>
                                          </p:val>
                                        </p:tav>
                                        <p:tav tm="100000">
                                          <p:val>
                                            <p:strVal val="#ppt_x"/>
                                          </p:val>
                                        </p:tav>
                                      </p:tavLst>
                                    </p:anim>
                                    <p:anim calcmode="lin" valueType="num">
                                      <p:cBhvr additive="base">
                                        <p:cTn id="49"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5"/>
          <p:cNvSpPr txBox="1">
            <a:spLocks noChangeArrowheads="1"/>
          </p:cNvSpPr>
          <p:nvPr/>
        </p:nvSpPr>
        <p:spPr bwMode="auto">
          <a:xfrm>
            <a:off x="467544" y="523229"/>
            <a:ext cx="8064896" cy="461665"/>
          </a:xfrm>
          <a:prstGeom prst="rect">
            <a:avLst/>
          </a:prstGeom>
          <a:noFill/>
          <a:ln w="19050">
            <a:solidFill>
              <a:srgbClr val="FF0000"/>
            </a:solidFill>
            <a:prstDash val="solid"/>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990000"/>
                  </a:outerShdw>
                </a:effectLst>
              </a14:hiddenEffects>
            </a:ext>
          </a:extLst>
        </p:spPr>
        <p:txBody>
          <a:bodyPr wrap="square"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lgn="just" eaLnBrk="1" hangingPunct="1">
              <a:spcBef>
                <a:spcPct val="50000"/>
              </a:spcBef>
              <a:buFontTx/>
              <a:buNone/>
            </a:pPr>
            <a:r>
              <a:rPr lang="zh-CN" altLang="en-US" sz="2400" b="1" dirty="0">
                <a:solidFill>
                  <a:srgbClr val="FF0000"/>
                </a:solidFill>
                <a:latin typeface="黑体" pitchFamily="49" charset="-122"/>
                <a:ea typeface="黑体" pitchFamily="49" charset="-122"/>
              </a:rPr>
              <a:t>力学性能</a:t>
            </a:r>
            <a:r>
              <a:rPr lang="zh-CN" altLang="en-US" sz="2400" b="1" dirty="0">
                <a:solidFill>
                  <a:srgbClr val="0000FF"/>
                </a:solidFill>
                <a:latin typeface="黑体" pitchFamily="49" charset="-122"/>
                <a:ea typeface="黑体" pitchFamily="49" charset="-122"/>
              </a:rPr>
              <a:t>：材料在受力后的表现出的变形和破坏特性</a:t>
            </a:r>
          </a:p>
        </p:txBody>
      </p:sp>
      <p:sp>
        <p:nvSpPr>
          <p:cNvPr id="3" name="矩形 2"/>
          <p:cNvSpPr/>
          <p:nvPr/>
        </p:nvSpPr>
        <p:spPr>
          <a:xfrm>
            <a:off x="467544" y="1268760"/>
            <a:ext cx="8064896" cy="461665"/>
          </a:xfrm>
          <a:prstGeom prst="rect">
            <a:avLst/>
          </a:prstGeom>
          <a:ln>
            <a:solidFill>
              <a:srgbClr val="FF0000"/>
            </a:solidFill>
          </a:ln>
        </p:spPr>
        <p:txBody>
          <a:bodyPr wrap="square">
            <a:spAutoFit/>
          </a:bodyPr>
          <a:lstStyle/>
          <a:p>
            <a:pPr>
              <a:spcBef>
                <a:spcPct val="50000"/>
              </a:spcBef>
            </a:pPr>
            <a:r>
              <a:rPr lang="zh-CN" altLang="en-US" sz="2400" b="1" dirty="0">
                <a:solidFill>
                  <a:srgbClr val="FF0000"/>
                </a:solidFill>
                <a:latin typeface="黑体" pitchFamily="49" charset="-122"/>
                <a:ea typeface="黑体" pitchFamily="49" charset="-122"/>
              </a:rPr>
              <a:t>低碳钢</a:t>
            </a:r>
            <a:r>
              <a:rPr lang="zh-CN" altLang="en-US" sz="2400" b="1" dirty="0">
                <a:solidFill>
                  <a:srgbClr val="0000FF"/>
                </a:solidFill>
                <a:latin typeface="黑体" pitchFamily="49" charset="-122"/>
                <a:ea typeface="黑体" pitchFamily="49" charset="-122"/>
              </a:rPr>
              <a:t>轴向拉伸时的力学性质 </a:t>
            </a:r>
            <a:r>
              <a:rPr lang="en-US" altLang="zh-CN" sz="2400" b="1" dirty="0">
                <a:solidFill>
                  <a:srgbClr val="0000FF"/>
                </a:solidFill>
                <a:latin typeface="黑体" pitchFamily="49" charset="-122"/>
                <a:ea typeface="黑体" pitchFamily="49" charset="-122"/>
              </a:rPr>
              <a:t>(</a:t>
            </a:r>
            <a:r>
              <a:rPr lang="zh-CN" altLang="en-US" sz="2400" b="1" dirty="0">
                <a:solidFill>
                  <a:srgbClr val="FF0000"/>
                </a:solidFill>
                <a:latin typeface="黑体" pitchFamily="49" charset="-122"/>
                <a:ea typeface="黑体" pitchFamily="49" charset="-122"/>
              </a:rPr>
              <a:t>四个阶段</a:t>
            </a:r>
            <a:r>
              <a:rPr lang="en-US" altLang="zh-CN" sz="2400" b="1" dirty="0">
                <a:solidFill>
                  <a:srgbClr val="0000FF"/>
                </a:solidFill>
                <a:latin typeface="黑体" pitchFamily="49" charset="-122"/>
                <a:ea typeface="黑体" pitchFamily="49" charset="-122"/>
              </a:rPr>
              <a:t>)</a:t>
            </a:r>
          </a:p>
        </p:txBody>
      </p:sp>
      <p:pic>
        <p:nvPicPr>
          <p:cNvPr id="4" name="Picture 2" descr="pf2-12b"/>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06650" y="1916832"/>
            <a:ext cx="4648200" cy="3703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accent1"/>
                </a:solidFill>
                <a:miter lim="800000"/>
                <a:headEnd/>
                <a:tailEnd/>
              </a14:hiddenLine>
            </a:ext>
          </a:extLst>
        </p:spPr>
      </p:pic>
      <p:sp>
        <p:nvSpPr>
          <p:cNvPr id="5" name="Rectangle 3"/>
          <p:cNvSpPr>
            <a:spLocks noChangeArrowheads="1"/>
          </p:cNvSpPr>
          <p:nvPr/>
        </p:nvSpPr>
        <p:spPr bwMode="auto">
          <a:xfrm>
            <a:off x="4615341" y="5621602"/>
            <a:ext cx="3263900" cy="1050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lgn="ctr" eaLnBrk="1" hangingPunct="1">
              <a:buFontTx/>
              <a:buNone/>
            </a:pPr>
            <a:r>
              <a:rPr kumimoji="1" lang="en-US" altLang="zh-TW" sz="2400" b="1" i="1" dirty="0" err="1">
                <a:solidFill>
                  <a:srgbClr val="0000CC"/>
                </a:solidFill>
                <a:latin typeface="Symbol" pitchFamily="18" charset="2"/>
                <a:ea typeface="仿宋体"/>
                <a:cs typeface="仿宋体"/>
              </a:rPr>
              <a:t>s</a:t>
            </a:r>
            <a:r>
              <a:rPr kumimoji="1" lang="en-US" altLang="zh-TW" sz="2400" b="1" baseline="-25000" dirty="0" err="1">
                <a:solidFill>
                  <a:srgbClr val="0000CC"/>
                </a:solidFill>
                <a:latin typeface="Times New Roman" pitchFamily="18" charset="0"/>
                <a:ea typeface="仿宋体"/>
                <a:cs typeface="仿宋体"/>
              </a:rPr>
              <a:t>b</a:t>
            </a:r>
            <a:r>
              <a:rPr kumimoji="1" lang="en-US" altLang="zh-TW" sz="2400" b="1" dirty="0">
                <a:solidFill>
                  <a:srgbClr val="0000CC"/>
                </a:solidFill>
                <a:latin typeface="Times New Roman" pitchFamily="18" charset="0"/>
                <a:ea typeface="仿宋体"/>
                <a:cs typeface="仿宋体"/>
              </a:rPr>
              <a:t>-</a:t>
            </a:r>
            <a:r>
              <a:rPr kumimoji="1" lang="zh-TW" altLang="zh-CN" sz="2400" b="1" dirty="0">
                <a:solidFill>
                  <a:srgbClr val="0000CC"/>
                </a:solidFill>
                <a:latin typeface="Times New Roman" pitchFamily="18" charset="0"/>
                <a:ea typeface="黑体" pitchFamily="49" charset="-122"/>
              </a:rPr>
              <a:t>强度极限 </a:t>
            </a:r>
          </a:p>
          <a:p>
            <a:pPr algn="ctr" eaLnBrk="1" hangingPunct="1">
              <a:buFontTx/>
              <a:buNone/>
            </a:pPr>
            <a:r>
              <a:rPr kumimoji="1" lang="zh-CN" altLang="zh-TW" sz="2400" b="1" i="1" dirty="0">
                <a:solidFill>
                  <a:srgbClr val="0000CC"/>
                </a:solidFill>
                <a:latin typeface="Times New Roman" pitchFamily="18" charset="0"/>
                <a:ea typeface="黑体" pitchFamily="49" charset="-122"/>
              </a:rPr>
              <a:t>E = </a:t>
            </a:r>
            <a:r>
              <a:rPr kumimoji="1" lang="zh-CN" altLang="zh-TW" sz="2400" b="1" dirty="0">
                <a:solidFill>
                  <a:srgbClr val="0000CC"/>
                </a:solidFill>
                <a:latin typeface="Times New Roman" pitchFamily="18" charset="0"/>
                <a:ea typeface="黑体" pitchFamily="49" charset="-122"/>
              </a:rPr>
              <a:t>t</a:t>
            </a:r>
            <a:r>
              <a:rPr kumimoji="1" lang="zh-TW" altLang="zh-CN" sz="2400" b="1" dirty="0">
                <a:solidFill>
                  <a:srgbClr val="0000CC"/>
                </a:solidFill>
                <a:latin typeface="Times New Roman" pitchFamily="18" charset="0"/>
                <a:ea typeface="黑体" pitchFamily="49" charset="-122"/>
              </a:rPr>
              <a:t>a</a:t>
            </a:r>
            <a:r>
              <a:rPr kumimoji="1" lang="zh-CN" altLang="zh-TW" sz="2400" b="1" dirty="0">
                <a:solidFill>
                  <a:srgbClr val="0000CC"/>
                </a:solidFill>
                <a:latin typeface="Times New Roman" pitchFamily="18" charset="0"/>
                <a:ea typeface="黑体" pitchFamily="49" charset="-122"/>
              </a:rPr>
              <a:t>n</a:t>
            </a:r>
            <a:r>
              <a:rPr kumimoji="1" lang="zh-TW" altLang="zh-CN" sz="2400" b="1" i="1" dirty="0">
                <a:solidFill>
                  <a:srgbClr val="0000CC"/>
                </a:solidFill>
                <a:latin typeface="Symbol" pitchFamily="18" charset="2"/>
                <a:ea typeface="黑体" pitchFamily="49" charset="-122"/>
              </a:rPr>
              <a:t>a</a:t>
            </a:r>
            <a:r>
              <a:rPr kumimoji="1" lang="zh-TW" altLang="zh-CN" sz="2400" b="1" dirty="0">
                <a:solidFill>
                  <a:srgbClr val="0000CC"/>
                </a:solidFill>
                <a:latin typeface="Symbol" pitchFamily="18" charset="2"/>
                <a:ea typeface="黑体" pitchFamily="49" charset="-122"/>
              </a:rPr>
              <a:t>  </a:t>
            </a:r>
            <a:r>
              <a:rPr kumimoji="1" lang="zh-TW" altLang="zh-CN" sz="2400" b="1" i="1" dirty="0">
                <a:solidFill>
                  <a:srgbClr val="0000CC"/>
                </a:solidFill>
                <a:latin typeface="Symbol" pitchFamily="18" charset="2"/>
                <a:ea typeface="黑体" pitchFamily="49" charset="-122"/>
              </a:rPr>
              <a:t> </a:t>
            </a:r>
            <a:r>
              <a:rPr kumimoji="1" lang="zh-TW" altLang="en-US" sz="2400" b="1" dirty="0">
                <a:solidFill>
                  <a:srgbClr val="0000CC"/>
                </a:solidFill>
                <a:latin typeface="Times New Roman" pitchFamily="18" charset="0"/>
                <a:ea typeface="黑体" pitchFamily="49" charset="-122"/>
              </a:rPr>
              <a:t>- </a:t>
            </a:r>
            <a:r>
              <a:rPr kumimoji="1" lang="zh-CN" altLang="en-US" sz="2400" b="1" dirty="0">
                <a:solidFill>
                  <a:srgbClr val="0000CC"/>
                </a:solidFill>
                <a:latin typeface="Symbol" pitchFamily="18" charset="2"/>
                <a:ea typeface="黑体" pitchFamily="49" charset="-122"/>
              </a:rPr>
              <a:t>弹性模量</a:t>
            </a:r>
            <a:endParaRPr kumimoji="1" lang="zh-CN" altLang="zh-CN" sz="2400" dirty="0">
              <a:solidFill>
                <a:srgbClr val="0000CC"/>
              </a:solidFill>
              <a:latin typeface="Symbol" pitchFamily="18" charset="2"/>
            </a:endParaRPr>
          </a:p>
        </p:txBody>
      </p:sp>
      <p:sp>
        <p:nvSpPr>
          <p:cNvPr id="6" name="Text Box 5"/>
          <p:cNvSpPr txBox="1">
            <a:spLocks noChangeArrowheads="1"/>
          </p:cNvSpPr>
          <p:nvPr/>
        </p:nvSpPr>
        <p:spPr bwMode="auto">
          <a:xfrm>
            <a:off x="2282254" y="5640652"/>
            <a:ext cx="2217737" cy="904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buClr>
                <a:schemeClr val="tx2"/>
              </a:buClr>
              <a:buSzPct val="75000"/>
              <a:buFont typeface="Monotype Sorts"/>
              <a:buNone/>
            </a:pPr>
            <a:r>
              <a:rPr lang="en-US" altLang="zh-CN" sz="2400" b="1" i="1" dirty="0" err="1">
                <a:solidFill>
                  <a:srgbClr val="0000CC"/>
                </a:solidFill>
                <a:latin typeface="Symbol" pitchFamily="18" charset="2"/>
              </a:rPr>
              <a:t>s</a:t>
            </a:r>
            <a:r>
              <a:rPr lang="en-US" altLang="zh-CN" sz="2400" b="1" baseline="-10000" dirty="0" err="1">
                <a:solidFill>
                  <a:srgbClr val="0000CC"/>
                </a:solidFill>
                <a:ea typeface="仿宋体"/>
                <a:cs typeface="仿宋体"/>
              </a:rPr>
              <a:t>p</a:t>
            </a:r>
            <a:r>
              <a:rPr lang="en-US" altLang="zh-CN" sz="2400" b="1" dirty="0">
                <a:solidFill>
                  <a:srgbClr val="0000CC"/>
                </a:solidFill>
                <a:ea typeface="仿宋体"/>
                <a:cs typeface="仿宋体"/>
              </a:rPr>
              <a:t>-</a:t>
            </a:r>
            <a:r>
              <a:rPr lang="zh-CN" altLang="zh-CN" sz="2400" b="1" dirty="0">
                <a:solidFill>
                  <a:srgbClr val="0000CC"/>
                </a:solidFill>
                <a:latin typeface="黑体" pitchFamily="49" charset="-122"/>
                <a:ea typeface="黑体" pitchFamily="49" charset="-122"/>
              </a:rPr>
              <a:t>比例极限</a:t>
            </a:r>
          </a:p>
          <a:p>
            <a:pPr>
              <a:buClr>
                <a:schemeClr val="tx2"/>
              </a:buClr>
              <a:buSzPct val="75000"/>
              <a:buFont typeface="Monotype Sorts"/>
              <a:buNone/>
            </a:pPr>
            <a:r>
              <a:rPr lang="en-US" altLang="zh-TW" sz="2400" b="1" i="1" dirty="0" err="1">
                <a:solidFill>
                  <a:srgbClr val="0000CC"/>
                </a:solidFill>
                <a:latin typeface="Symbol" pitchFamily="18" charset="2"/>
                <a:ea typeface="仿宋体"/>
                <a:cs typeface="仿宋体"/>
              </a:rPr>
              <a:t>s</a:t>
            </a:r>
            <a:r>
              <a:rPr lang="en-US" altLang="zh-TW" sz="2400" b="1" baseline="-25000" dirty="0" err="1">
                <a:solidFill>
                  <a:srgbClr val="0000CC"/>
                </a:solidFill>
                <a:ea typeface="仿宋体"/>
                <a:cs typeface="仿宋体"/>
              </a:rPr>
              <a:t>s</a:t>
            </a:r>
            <a:r>
              <a:rPr lang="en-US" altLang="zh-TW" sz="2400" b="1" dirty="0">
                <a:solidFill>
                  <a:srgbClr val="0000CC"/>
                </a:solidFill>
                <a:ea typeface="仿宋体"/>
                <a:cs typeface="仿宋体"/>
              </a:rPr>
              <a:t>-</a:t>
            </a:r>
            <a:r>
              <a:rPr lang="zh-TW" altLang="zh-CN" sz="2400" b="1" dirty="0">
                <a:solidFill>
                  <a:srgbClr val="0000CC"/>
                </a:solidFill>
                <a:ea typeface="黑体" pitchFamily="49" charset="-122"/>
              </a:rPr>
              <a:t>屈服极限</a:t>
            </a:r>
            <a:endParaRPr lang="zh-CN" altLang="en-US" sz="2400" b="1" dirty="0">
              <a:solidFill>
                <a:srgbClr val="0000CC"/>
              </a:solidFill>
              <a:ea typeface="黑体" pitchFamily="49" charset="-122"/>
            </a:endParaRPr>
          </a:p>
        </p:txBody>
      </p:sp>
    </p:spTree>
    <p:extLst>
      <p:ext uri="{BB962C8B-B14F-4D97-AF65-F5344CB8AC3E}">
        <p14:creationId xmlns:p14="http://schemas.microsoft.com/office/powerpoint/2010/main" val="684761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wipe(left)">
                                      <p:cBhvr>
                                        <p:cTn id="18" dur="500"/>
                                        <p:tgtEl>
                                          <p:spTgt spid="4"/>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6">
                                            <p:txEl>
                                              <p:pRg st="0" end="0"/>
                                            </p:txEl>
                                          </p:spTgt>
                                        </p:tgtEl>
                                        <p:attrNameLst>
                                          <p:attrName>style.visibility</p:attrName>
                                        </p:attrNameLst>
                                      </p:cBhvr>
                                      <p:to>
                                        <p:strVal val="visible"/>
                                      </p:to>
                                    </p:set>
                                    <p:animEffect transition="in" filter="wipe(left)">
                                      <p:cBhvr>
                                        <p:cTn id="23" dur="500"/>
                                        <p:tgtEl>
                                          <p:spTgt spid="6">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6">
                                            <p:txEl>
                                              <p:pRg st="1" end="1"/>
                                            </p:txEl>
                                          </p:spTgt>
                                        </p:tgtEl>
                                        <p:attrNameLst>
                                          <p:attrName>style.visibility</p:attrName>
                                        </p:attrNameLst>
                                      </p:cBhvr>
                                      <p:to>
                                        <p:strVal val="visible"/>
                                      </p:to>
                                    </p:set>
                                    <p:animEffect transition="in" filter="wipe(left)">
                                      <p:cBhvr>
                                        <p:cTn id="28" dur="500"/>
                                        <p:tgtEl>
                                          <p:spTgt spid="6">
                                            <p:txEl>
                                              <p:pRg st="1" end="1"/>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5">
                                            <p:txEl>
                                              <p:pRg st="0" end="0"/>
                                            </p:txEl>
                                          </p:spTgt>
                                        </p:tgtEl>
                                        <p:attrNameLst>
                                          <p:attrName>style.visibility</p:attrName>
                                        </p:attrNameLst>
                                      </p:cBhvr>
                                      <p:to>
                                        <p:strVal val="visible"/>
                                      </p:to>
                                    </p:set>
                                    <p:animEffect transition="in" filter="wipe(left)">
                                      <p:cBhvr>
                                        <p:cTn id="33" dur="500"/>
                                        <p:tgtEl>
                                          <p:spTgt spid="5">
                                            <p:txEl>
                                              <p:pRg st="0" end="0"/>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5">
                                            <p:txEl>
                                              <p:pRg st="1" end="1"/>
                                            </p:txEl>
                                          </p:spTgt>
                                        </p:tgtEl>
                                        <p:attrNameLst>
                                          <p:attrName>style.visibility</p:attrName>
                                        </p:attrNameLst>
                                      </p:cBhvr>
                                      <p:to>
                                        <p:strVal val="visible"/>
                                      </p:to>
                                    </p:set>
                                    <p:animEffect transition="in" filter="wipe(left)">
                                      <p:cBhvr>
                                        <p:cTn id="38"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autoUpdateAnimBg="0"/>
      <p:bldP spid="3" grpId="0" animBg="1"/>
      <p:bldP spid="5" grpId="0" build="p" autoUpdateAnimBg="0"/>
      <p:bldP spid="6" grpId="0" build="p"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2"/>
          <p:cNvSpPr txBox="1">
            <a:spLocks noChangeArrowheads="1"/>
          </p:cNvSpPr>
          <p:nvPr/>
        </p:nvSpPr>
        <p:spPr bwMode="auto">
          <a:xfrm>
            <a:off x="628463" y="332656"/>
            <a:ext cx="7920880" cy="830997"/>
          </a:xfrm>
          <a:prstGeom prst="rect">
            <a:avLst/>
          </a:prstGeom>
          <a:noFill/>
          <a:ln w="19050">
            <a:solidFill>
              <a:srgbClr val="FF0000"/>
            </a:solidFill>
            <a:prstDash val="solid"/>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990000"/>
                  </a:outerShdw>
                </a:effectLst>
              </a14:hiddenEffects>
            </a:ext>
          </a:extLst>
        </p:spPr>
        <p:txBody>
          <a:bodyPr wrap="square"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50000"/>
              </a:spcBef>
              <a:buFontTx/>
              <a:buNone/>
            </a:pPr>
            <a:r>
              <a:rPr lang="zh-CN" altLang="en-US" sz="2400" b="1" dirty="0">
                <a:solidFill>
                  <a:srgbClr val="FF0000"/>
                </a:solidFill>
                <a:latin typeface="黑体" panose="02010609060101010101" pitchFamily="49" charset="-122"/>
                <a:ea typeface="黑体" panose="02010609060101010101" pitchFamily="49" charset="-122"/>
              </a:rPr>
              <a:t>卸载定律</a:t>
            </a:r>
            <a:r>
              <a:rPr lang="zh-CN" altLang="en-US" sz="2400" b="1" dirty="0">
                <a:solidFill>
                  <a:srgbClr val="0000FF"/>
                </a:solidFill>
                <a:latin typeface="黑体" panose="02010609060101010101" pitchFamily="49" charset="-122"/>
                <a:ea typeface="黑体" panose="02010609060101010101" pitchFamily="49" charset="-122"/>
              </a:rPr>
              <a:t>：当拉伸超过屈服阶段后，如果逐渐卸载，在卸载过程中，应力</a:t>
            </a:r>
            <a:r>
              <a:rPr lang="en-US" altLang="zh-CN" sz="2400" b="1" dirty="0">
                <a:solidFill>
                  <a:srgbClr val="0000FF"/>
                </a:solidFill>
                <a:latin typeface="黑体" panose="02010609060101010101" pitchFamily="49" charset="-122"/>
                <a:ea typeface="黑体" panose="02010609060101010101" pitchFamily="49" charset="-122"/>
              </a:rPr>
              <a:t>——</a:t>
            </a:r>
            <a:r>
              <a:rPr lang="zh-CN" altLang="en-US" sz="2400" b="1" dirty="0">
                <a:solidFill>
                  <a:srgbClr val="0000FF"/>
                </a:solidFill>
                <a:latin typeface="黑体" panose="02010609060101010101" pitchFamily="49" charset="-122"/>
                <a:ea typeface="黑体" panose="02010609060101010101" pitchFamily="49" charset="-122"/>
              </a:rPr>
              <a:t>应变将按直线规律变化。</a:t>
            </a:r>
          </a:p>
        </p:txBody>
      </p:sp>
      <p:pic>
        <p:nvPicPr>
          <p:cNvPr id="3" name="Picture 4" descr="pf2-1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90997" y="1340768"/>
            <a:ext cx="4595812" cy="334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accent1"/>
                </a:solidFill>
                <a:miter lim="800000"/>
                <a:headEnd/>
                <a:tailEnd/>
              </a14:hiddenLine>
            </a:ext>
          </a:extLst>
        </p:spPr>
      </p:pic>
      <p:sp>
        <p:nvSpPr>
          <p:cNvPr id="4" name="Text Box 14"/>
          <p:cNvSpPr txBox="1">
            <a:spLocks noChangeArrowheads="1"/>
          </p:cNvSpPr>
          <p:nvPr/>
        </p:nvSpPr>
        <p:spPr bwMode="auto">
          <a:xfrm>
            <a:off x="628463" y="4573824"/>
            <a:ext cx="7920880" cy="1421928"/>
          </a:xfrm>
          <a:prstGeom prst="rect">
            <a:avLst/>
          </a:prstGeom>
          <a:noFill/>
          <a:ln w="19050">
            <a:solidFill>
              <a:schemeClr val="accent2"/>
            </a:solidFill>
            <a:prstDash val="solid"/>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990000"/>
                  </a:outerShdw>
                </a:effectLst>
              </a14:hiddenEffects>
            </a:ext>
          </a:extLst>
        </p:spPr>
        <p:txBody>
          <a:bodyPr wrap="square"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lnSpc>
                <a:spcPct val="120000"/>
              </a:lnSpc>
              <a:spcBef>
                <a:spcPct val="50000"/>
              </a:spcBef>
              <a:buFontTx/>
              <a:buNone/>
            </a:pPr>
            <a:r>
              <a:rPr lang="zh-CN" altLang="en-US" sz="2400" b="1" dirty="0">
                <a:solidFill>
                  <a:srgbClr val="FF0000"/>
                </a:solidFill>
                <a:latin typeface="黑体" panose="02010609060101010101" pitchFamily="49" charset="-122"/>
                <a:ea typeface="黑体" panose="02010609060101010101" pitchFamily="49" charset="-122"/>
              </a:rPr>
              <a:t>冷作硬化</a:t>
            </a:r>
            <a:r>
              <a:rPr lang="zh-CN" altLang="en-US" sz="2400" b="1" dirty="0">
                <a:solidFill>
                  <a:srgbClr val="0000FF"/>
                </a:solidFill>
                <a:latin typeface="黑体" panose="02010609060101010101" pitchFamily="49" charset="-122"/>
                <a:ea typeface="黑体" panose="02010609060101010101" pitchFamily="49" charset="-122"/>
              </a:rPr>
              <a:t>：在常温下将钢材拉伸超过屈服阶段，卸载后短期内又继续加载，材料的比例极限提高而塑性变形降低的现象</a:t>
            </a:r>
          </a:p>
        </p:txBody>
      </p:sp>
    </p:spTree>
    <p:extLst>
      <p:ext uri="{BB962C8B-B14F-4D97-AF65-F5344CB8AC3E}">
        <p14:creationId xmlns:p14="http://schemas.microsoft.com/office/powerpoint/2010/main" val="2127223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
                                          </p:val>
                                        </p:tav>
                                        <p:tav tm="100000">
                                          <p:val>
                                            <p:strVal val="#ppt_x"/>
                                          </p:val>
                                        </p:tav>
                                      </p:tavLst>
                                    </p:anim>
                                    <p:anim calcmode="lin" valueType="num">
                                      <p:cBhvr additive="base">
                                        <p:cTn id="1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13"/>
          <p:cNvSpPr txBox="1">
            <a:spLocks noChangeArrowheads="1"/>
          </p:cNvSpPr>
          <p:nvPr/>
        </p:nvSpPr>
        <p:spPr bwMode="auto">
          <a:xfrm>
            <a:off x="611560" y="682203"/>
            <a:ext cx="7920880" cy="461665"/>
          </a:xfrm>
          <a:prstGeom prst="rect">
            <a:avLst/>
          </a:prstGeom>
          <a:noFill/>
          <a:ln w="28575">
            <a:solidFill>
              <a:srgbClr val="FF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spcBef>
                <a:spcPct val="0"/>
              </a:spcBef>
              <a:buFontTx/>
              <a:buNone/>
            </a:pPr>
            <a:r>
              <a:rPr lang="zh-CN" altLang="en-US" sz="2400" b="1" dirty="0">
                <a:solidFill>
                  <a:srgbClr val="FF0000"/>
                </a:solidFill>
                <a:latin typeface="黑体" panose="02010609060101010101" pitchFamily="49" charset="-122"/>
                <a:ea typeface="黑体" panose="02010609060101010101" pitchFamily="49" charset="-122"/>
              </a:rPr>
              <a:t>塑性</a:t>
            </a:r>
            <a:r>
              <a:rPr lang="zh-CN" altLang="en-US" sz="2400" b="1" dirty="0">
                <a:solidFill>
                  <a:srgbClr val="0000FF"/>
                </a:solidFill>
                <a:latin typeface="黑体" panose="02010609060101010101" pitchFamily="49" charset="-122"/>
                <a:ea typeface="黑体" panose="02010609060101010101" pitchFamily="49" charset="-122"/>
              </a:rPr>
              <a:t>：材料能经受较大塑性变形而不破坏的能力</a:t>
            </a:r>
          </a:p>
        </p:txBody>
      </p:sp>
      <p:sp>
        <p:nvSpPr>
          <p:cNvPr id="4" name="Text Box 5"/>
          <p:cNvSpPr txBox="1">
            <a:spLocks noChangeArrowheads="1"/>
          </p:cNvSpPr>
          <p:nvPr/>
        </p:nvSpPr>
        <p:spPr bwMode="auto">
          <a:xfrm>
            <a:off x="611560" y="1474291"/>
            <a:ext cx="2424481" cy="461665"/>
          </a:xfrm>
          <a:prstGeom prst="rect">
            <a:avLst/>
          </a:prstGeom>
          <a:noFill/>
          <a:ln w="28575">
            <a:solidFill>
              <a:srgbClr val="FF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spcBef>
                <a:spcPct val="0"/>
              </a:spcBef>
              <a:buFontTx/>
              <a:buNone/>
            </a:pPr>
            <a:r>
              <a:rPr lang="zh-CN" altLang="en-US" sz="2400" b="1" dirty="0">
                <a:solidFill>
                  <a:srgbClr val="0000FF"/>
                </a:solidFill>
                <a:latin typeface="黑体" panose="02010609060101010101" pitchFamily="49" charset="-122"/>
                <a:ea typeface="黑体" panose="02010609060101010101" pitchFamily="49" charset="-122"/>
              </a:rPr>
              <a:t>延伸率</a:t>
            </a:r>
          </a:p>
        </p:txBody>
      </p:sp>
      <p:graphicFrame>
        <p:nvGraphicFramePr>
          <p:cNvPr id="5" name="对象 4"/>
          <p:cNvGraphicFramePr>
            <a:graphicFrameLocks noChangeAspect="1"/>
          </p:cNvGraphicFramePr>
          <p:nvPr>
            <p:extLst>
              <p:ext uri="{D42A27DB-BD31-4B8C-83A1-F6EECF244321}">
                <p14:modId xmlns:p14="http://schemas.microsoft.com/office/powerpoint/2010/main" val="3680580696"/>
              </p:ext>
            </p:extLst>
          </p:nvPr>
        </p:nvGraphicFramePr>
        <p:xfrm>
          <a:off x="3347864" y="1302840"/>
          <a:ext cx="2200275" cy="862013"/>
        </p:xfrm>
        <a:graphic>
          <a:graphicData uri="http://schemas.openxmlformats.org/presentationml/2006/ole">
            <mc:AlternateContent xmlns:mc="http://schemas.openxmlformats.org/markup-compatibility/2006">
              <mc:Choice xmlns:v="urn:schemas-microsoft-com:vml" Requires="v">
                <p:oleObj name="Equation" r:id="rId2" imgW="849600" imgH="318600" progId="">
                  <p:embed/>
                </p:oleObj>
              </mc:Choice>
              <mc:Fallback>
                <p:oleObj name="Equation" r:id="rId2" imgW="849600" imgH="318600" progId="">
                  <p:embed/>
                  <p:pic>
                    <p:nvPicPr>
                      <p:cNvPr id="0" name="Picture 8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47864" y="1302840"/>
                        <a:ext cx="2200275"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D60093"/>
                            </a:solidFill>
                            <a:miter lim="800000"/>
                            <a:headEnd/>
                            <a:tailEnd/>
                          </a14:hiddenLine>
                        </a:ext>
                      </a:extLst>
                    </p:spPr>
                  </p:pic>
                </p:oleObj>
              </mc:Fallback>
            </mc:AlternateContent>
          </a:graphicData>
        </a:graphic>
      </p:graphicFrame>
      <p:graphicFrame>
        <p:nvGraphicFramePr>
          <p:cNvPr id="6" name="Object 2"/>
          <p:cNvGraphicFramePr>
            <a:graphicFrameLocks noChangeAspect="1"/>
          </p:cNvGraphicFramePr>
          <p:nvPr>
            <p:extLst>
              <p:ext uri="{D42A27DB-BD31-4B8C-83A1-F6EECF244321}">
                <p14:modId xmlns:p14="http://schemas.microsoft.com/office/powerpoint/2010/main" val="704726679"/>
              </p:ext>
            </p:extLst>
          </p:nvPr>
        </p:nvGraphicFramePr>
        <p:xfrm>
          <a:off x="3334544" y="2266379"/>
          <a:ext cx="2474912" cy="746125"/>
        </p:xfrm>
        <a:graphic>
          <a:graphicData uri="http://schemas.openxmlformats.org/presentationml/2006/ole">
            <mc:AlternateContent xmlns:mc="http://schemas.openxmlformats.org/markup-compatibility/2006">
              <mc:Choice xmlns:v="urn:schemas-microsoft-com:vml" Requires="v">
                <p:oleObj name="公式" r:id="rId4" imgW="1862640" imgH="541800" progId="">
                  <p:embed/>
                </p:oleObj>
              </mc:Choice>
              <mc:Fallback>
                <p:oleObj name="公式" r:id="rId4" imgW="1862640" imgH="541800" progId="">
                  <p:embed/>
                  <p:pic>
                    <p:nvPicPr>
                      <p:cNvPr id="0" name="Picture 8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34544" y="2266379"/>
                        <a:ext cx="2474912" cy="74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D60093"/>
                            </a:solidFill>
                            <a:miter lim="800000"/>
                            <a:headEnd/>
                            <a:tailEnd/>
                          </a14:hiddenLine>
                        </a:ext>
                      </a:extLst>
                    </p:spPr>
                  </p:pic>
                </p:oleObj>
              </mc:Fallback>
            </mc:AlternateContent>
          </a:graphicData>
        </a:graphic>
      </p:graphicFrame>
      <p:sp>
        <p:nvSpPr>
          <p:cNvPr id="7" name="Text Box 3"/>
          <p:cNvSpPr txBox="1">
            <a:spLocks noChangeArrowheads="1"/>
          </p:cNvSpPr>
          <p:nvPr/>
        </p:nvSpPr>
        <p:spPr bwMode="auto">
          <a:xfrm>
            <a:off x="626209" y="2266379"/>
            <a:ext cx="2428875" cy="461665"/>
          </a:xfrm>
          <a:prstGeom prst="rect">
            <a:avLst/>
          </a:prstGeom>
          <a:noFill/>
          <a:ln w="28575">
            <a:solidFill>
              <a:srgbClr val="FF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spcBef>
                <a:spcPct val="0"/>
              </a:spcBef>
              <a:buFontTx/>
              <a:buNone/>
            </a:pPr>
            <a:r>
              <a:rPr lang="zh-CN" altLang="en-US" sz="2400" b="1" dirty="0">
                <a:solidFill>
                  <a:srgbClr val="0000FF"/>
                </a:solidFill>
                <a:latin typeface="黑体" panose="02010609060101010101" pitchFamily="49" charset="-122"/>
                <a:ea typeface="黑体" panose="02010609060101010101" pitchFamily="49" charset="-122"/>
              </a:rPr>
              <a:t>断面收缩率</a:t>
            </a:r>
          </a:p>
        </p:txBody>
      </p:sp>
      <p:sp>
        <p:nvSpPr>
          <p:cNvPr id="8" name="Text Box 4"/>
          <p:cNvSpPr txBox="1">
            <a:spLocks noChangeArrowheads="1"/>
          </p:cNvSpPr>
          <p:nvPr/>
        </p:nvSpPr>
        <p:spPr bwMode="auto">
          <a:xfrm>
            <a:off x="626209" y="3130475"/>
            <a:ext cx="7906231" cy="498598"/>
          </a:xfrm>
          <a:prstGeom prst="rect">
            <a:avLst/>
          </a:prstGeom>
          <a:noFill/>
          <a:ln w="28575">
            <a:solidFill>
              <a:srgbClr val="FF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lnSpc>
                <a:spcPct val="110000"/>
              </a:lnSpc>
              <a:spcBef>
                <a:spcPct val="0"/>
              </a:spcBef>
              <a:buFontTx/>
              <a:buNone/>
            </a:pPr>
            <a:r>
              <a:rPr lang="zh-CN" altLang="en-US" sz="2400" b="1" dirty="0">
                <a:solidFill>
                  <a:srgbClr val="0000CC"/>
                </a:solidFill>
                <a:latin typeface="黑体" panose="02010609060101010101" pitchFamily="49" charset="-122"/>
                <a:ea typeface="黑体" panose="02010609060101010101" pitchFamily="49" charset="-122"/>
              </a:rPr>
              <a:t>塑性材料： </a:t>
            </a:r>
            <a:r>
              <a:rPr lang="zh-CN" altLang="zh-CN" sz="2400" b="1" i="1" dirty="0">
                <a:solidFill>
                  <a:srgbClr val="0000CC"/>
                </a:solidFill>
                <a:latin typeface="Symbol" pitchFamily="18" charset="2"/>
              </a:rPr>
              <a:t>d </a:t>
            </a:r>
            <a:r>
              <a:rPr lang="zh-CN" altLang="zh-CN" sz="2400" b="1" dirty="0">
                <a:solidFill>
                  <a:srgbClr val="0000CC"/>
                </a:solidFill>
                <a:latin typeface="黑体" panose="02010609060101010101" pitchFamily="49" charset="-122"/>
                <a:ea typeface="黑体" panose="02010609060101010101" pitchFamily="49" charset="-122"/>
                <a:sym typeface="Symbol" pitchFamily="18" charset="2"/>
              </a:rPr>
              <a:t>≥ 5 %</a:t>
            </a:r>
            <a:r>
              <a:rPr lang="zh-CN" altLang="en-US" sz="2400" b="1" dirty="0">
                <a:solidFill>
                  <a:srgbClr val="0000CC"/>
                </a:solidFill>
                <a:latin typeface="黑体" panose="02010609060101010101" pitchFamily="49" charset="-122"/>
                <a:ea typeface="黑体" panose="02010609060101010101" pitchFamily="49" charset="-122"/>
                <a:sym typeface="Symbol" pitchFamily="18" charset="2"/>
              </a:rPr>
              <a:t>；</a:t>
            </a:r>
            <a:r>
              <a:rPr lang="zh-CN" altLang="en-US" sz="2400" b="1" dirty="0">
                <a:solidFill>
                  <a:srgbClr val="0000CC"/>
                </a:solidFill>
                <a:latin typeface="黑体" panose="02010609060101010101" pitchFamily="49" charset="-122"/>
                <a:ea typeface="黑体" panose="02010609060101010101" pitchFamily="49" charset="-122"/>
              </a:rPr>
              <a:t>脆性材料： </a:t>
            </a:r>
            <a:r>
              <a:rPr lang="zh-CN" altLang="zh-CN" sz="2400" b="1" i="1" dirty="0">
                <a:solidFill>
                  <a:srgbClr val="0000CC"/>
                </a:solidFill>
                <a:latin typeface="Symbol" pitchFamily="18" charset="2"/>
              </a:rPr>
              <a:t>d</a:t>
            </a:r>
            <a:r>
              <a:rPr lang="zh-CN" altLang="zh-CN" sz="2400" b="1" dirty="0">
                <a:solidFill>
                  <a:srgbClr val="0000CC"/>
                </a:solidFill>
                <a:latin typeface="黑体" panose="02010609060101010101" pitchFamily="49" charset="-122"/>
                <a:ea typeface="黑体" panose="02010609060101010101" pitchFamily="49" charset="-122"/>
              </a:rPr>
              <a:t> </a:t>
            </a:r>
            <a:r>
              <a:rPr lang="en-US" altLang="zh-CN" sz="2400" b="1" dirty="0">
                <a:solidFill>
                  <a:srgbClr val="0000CC"/>
                </a:solidFill>
                <a:latin typeface="黑体" panose="02010609060101010101" pitchFamily="49" charset="-122"/>
                <a:ea typeface="黑体" panose="02010609060101010101" pitchFamily="49" charset="-122"/>
                <a:cs typeface="Times New Roman" pitchFamily="18" charset="0"/>
                <a:sym typeface="Symbol" pitchFamily="18" charset="2"/>
              </a:rPr>
              <a:t>&lt;</a:t>
            </a:r>
            <a:r>
              <a:rPr lang="zh-CN" altLang="zh-CN" sz="2400" b="1" dirty="0">
                <a:solidFill>
                  <a:srgbClr val="0000CC"/>
                </a:solidFill>
                <a:latin typeface="黑体" panose="02010609060101010101" pitchFamily="49" charset="-122"/>
                <a:ea typeface="黑体" panose="02010609060101010101" pitchFamily="49" charset="-122"/>
                <a:sym typeface="Symbol" pitchFamily="18" charset="2"/>
              </a:rPr>
              <a:t>5 %</a:t>
            </a:r>
          </a:p>
        </p:txBody>
      </p:sp>
      <p:grpSp>
        <p:nvGrpSpPr>
          <p:cNvPr id="19" name="组合 18"/>
          <p:cNvGrpSpPr/>
          <p:nvPr/>
        </p:nvGrpSpPr>
        <p:grpSpPr>
          <a:xfrm>
            <a:off x="611560" y="3930636"/>
            <a:ext cx="7920880" cy="866516"/>
            <a:chOff x="611560" y="3850555"/>
            <a:chExt cx="7920880" cy="866516"/>
          </a:xfrm>
        </p:grpSpPr>
        <p:graphicFrame>
          <p:nvGraphicFramePr>
            <p:cNvPr id="11" name="Object 3"/>
            <p:cNvGraphicFramePr>
              <a:graphicFrameLocks noChangeAspect="1"/>
            </p:cNvGraphicFramePr>
            <p:nvPr>
              <p:extLst>
                <p:ext uri="{D42A27DB-BD31-4B8C-83A1-F6EECF244321}">
                  <p14:modId xmlns:p14="http://schemas.microsoft.com/office/powerpoint/2010/main" val="1539047963"/>
                </p:ext>
              </p:extLst>
            </p:nvPr>
          </p:nvGraphicFramePr>
          <p:xfrm>
            <a:off x="5041235" y="3946599"/>
            <a:ext cx="769677" cy="417512"/>
          </p:xfrm>
          <a:graphic>
            <a:graphicData uri="http://schemas.openxmlformats.org/presentationml/2006/ole">
              <mc:AlternateContent xmlns:mc="http://schemas.openxmlformats.org/markup-compatibility/2006">
                <mc:Choice xmlns:v="urn:schemas-microsoft-com:vml" Requires="v">
                  <p:oleObj name="公式" r:id="rId6" imgW="310320" imgH="159480" progId="">
                    <p:embed/>
                  </p:oleObj>
                </mc:Choice>
                <mc:Fallback>
                  <p:oleObj name="公式" r:id="rId6" imgW="310320" imgH="159480" progId="">
                    <p:embed/>
                    <p:pic>
                      <p:nvPicPr>
                        <p:cNvPr id="0" name="Picture 8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41235" y="3946599"/>
                          <a:ext cx="769677" cy="417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accent2"/>
                              </a:solidFill>
                              <a:prstDash val="dashDot"/>
                              <a:miter lim="800000"/>
                              <a:headEnd/>
                              <a:tailEnd/>
                            </a14:hiddenLine>
                          </a:ext>
                          <a:ext uri="{AF507438-7753-43E0-B8FC-AC1667EBCBE1}">
                            <a14:hiddenEffects xmlns:a14="http://schemas.microsoft.com/office/drawing/2010/main">
                              <a:effectLst>
                                <a:outerShdw dist="35921" dir="2700000" algn="ctr" rotWithShape="0">
                                  <a:srgbClr val="990000"/>
                                </a:outerShdw>
                              </a:effectLst>
                            </a14:hiddenEffects>
                          </a:ext>
                        </a:extLst>
                      </p:spPr>
                    </p:pic>
                  </p:oleObj>
                </mc:Fallback>
              </mc:AlternateContent>
            </a:graphicData>
          </a:graphic>
        </p:graphicFrame>
        <p:sp>
          <p:nvSpPr>
            <p:cNvPr id="13" name="Rectangle 39"/>
            <p:cNvSpPr>
              <a:spLocks noChangeArrowheads="1"/>
            </p:cNvSpPr>
            <p:nvPr/>
          </p:nvSpPr>
          <p:spPr bwMode="auto">
            <a:xfrm>
              <a:off x="611560" y="3883893"/>
              <a:ext cx="7920880" cy="833178"/>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990000"/>
                    </a:outerShdw>
                  </a:effectLst>
                </a14:hiddenEffects>
              </a:ext>
            </a:extLst>
          </p:spPr>
          <p:txBody>
            <a:bodyPr wrap="square" lIns="90000" tIns="46800" rIns="90000" bIns="46800">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50000"/>
                </a:spcBef>
                <a:buFontTx/>
                <a:buNone/>
              </a:pPr>
              <a:r>
                <a:rPr lang="zh-CN" altLang="en-US" sz="2400" b="1" dirty="0">
                  <a:solidFill>
                    <a:srgbClr val="FF0000"/>
                  </a:solidFill>
                  <a:latin typeface="黑体" panose="02010609060101010101" pitchFamily="49" charset="-122"/>
                  <a:ea typeface="黑体" panose="02010609060101010101" pitchFamily="49" charset="-122"/>
                </a:rPr>
                <a:t>名义屈服极限         </a:t>
              </a:r>
              <a:r>
                <a:rPr lang="zh-CN" altLang="en-US" sz="2400" b="1" dirty="0">
                  <a:solidFill>
                    <a:srgbClr val="0000FF"/>
                  </a:solidFill>
                  <a:latin typeface="黑体" panose="02010609060101010101" pitchFamily="49" charset="-122"/>
                  <a:ea typeface="黑体" panose="02010609060101010101" pitchFamily="49" charset="-122"/>
                </a:rPr>
                <a:t>：产生       的塑性应变时所对应的应力值</a:t>
              </a:r>
            </a:p>
          </p:txBody>
        </p:sp>
        <p:graphicFrame>
          <p:nvGraphicFramePr>
            <p:cNvPr id="14" name="Object 40"/>
            <p:cNvGraphicFramePr>
              <a:graphicFrameLocks noChangeAspect="1"/>
            </p:cNvGraphicFramePr>
            <p:nvPr>
              <p:extLst>
                <p:ext uri="{D42A27DB-BD31-4B8C-83A1-F6EECF244321}">
                  <p14:modId xmlns:p14="http://schemas.microsoft.com/office/powerpoint/2010/main" val="3274444444"/>
                </p:ext>
              </p:extLst>
            </p:nvPr>
          </p:nvGraphicFramePr>
          <p:xfrm>
            <a:off x="3175546" y="3850555"/>
            <a:ext cx="763263" cy="592138"/>
          </p:xfrm>
          <a:graphic>
            <a:graphicData uri="http://schemas.openxmlformats.org/presentationml/2006/ole">
              <mc:AlternateContent xmlns:mc="http://schemas.openxmlformats.org/markup-compatibility/2006">
                <mc:Choice xmlns:v="urn:schemas-microsoft-com:vml" Requires="v">
                  <p:oleObj name="Equation" r:id="rId8" imgW="291973" imgH="228501" progId="">
                    <p:embed/>
                  </p:oleObj>
                </mc:Choice>
                <mc:Fallback>
                  <p:oleObj name="Equation" r:id="rId8" imgW="291973" imgH="228501" progId="">
                    <p:embed/>
                    <p:pic>
                      <p:nvPicPr>
                        <p:cNvPr id="0" name="Picture 9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175546" y="3850555"/>
                          <a:ext cx="763263" cy="5921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Line 41"/>
            <p:cNvSpPr>
              <a:spLocks noChangeShapeType="1"/>
            </p:cNvSpPr>
            <p:nvPr/>
          </p:nvSpPr>
          <p:spPr bwMode="auto">
            <a:xfrm>
              <a:off x="2920590" y="4155355"/>
              <a:ext cx="230903"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990000"/>
                    </a:outerShdw>
                  </a:effectLst>
                </a14:hiddenEffects>
              </a:ext>
            </a:extLst>
          </p:spPr>
          <p:txBody>
            <a:bodyPr lIns="90000" tIns="46800" rIns="90000" bIns="46800">
              <a:spAutoFit/>
            </a:bodyPr>
            <a:lstStyle/>
            <a:p>
              <a:endParaRPr lang="zh-CN" altLang="en-US"/>
            </a:p>
          </p:txBody>
        </p:sp>
      </p:grpSp>
      <p:sp>
        <p:nvSpPr>
          <p:cNvPr id="16" name="Text Box 15"/>
          <p:cNvSpPr txBox="1">
            <a:spLocks noChangeArrowheads="1"/>
          </p:cNvSpPr>
          <p:nvPr/>
        </p:nvSpPr>
        <p:spPr bwMode="auto">
          <a:xfrm>
            <a:off x="611560" y="5132040"/>
            <a:ext cx="7920880" cy="457200"/>
          </a:xfrm>
          <a:prstGeom prst="rect">
            <a:avLst/>
          </a:prstGeom>
          <a:noFill/>
          <a:ln w="28575">
            <a:solidFill>
              <a:srgbClr val="FF0000"/>
            </a:solidFill>
            <a:prstDash val="solid"/>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990000"/>
                  </a:outerShdw>
                </a:effectLst>
              </a14:hiddenEffects>
            </a:ext>
          </a:extLst>
        </p:spPr>
        <p:txBody>
          <a:bodyPr wrap="square"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lgn="just" eaLnBrk="1" hangingPunct="1">
              <a:spcBef>
                <a:spcPct val="50000"/>
              </a:spcBef>
              <a:buFontTx/>
              <a:buNone/>
            </a:pPr>
            <a:r>
              <a:rPr lang="zh-CN" altLang="en-US" sz="2400" b="1" dirty="0">
                <a:solidFill>
                  <a:srgbClr val="0000FF"/>
                </a:solidFill>
                <a:latin typeface="黑体" pitchFamily="49" charset="-122"/>
                <a:ea typeface="黑体" pitchFamily="49" charset="-122"/>
              </a:rPr>
              <a:t>铸铁的压缩试验：破坏面</a:t>
            </a:r>
            <a:r>
              <a:rPr lang="zh-CN" altLang="en-US" sz="2400" b="1" dirty="0">
                <a:solidFill>
                  <a:srgbClr val="FF0000"/>
                </a:solidFill>
                <a:latin typeface="黑体" panose="02010609060101010101" pitchFamily="49" charset="-122"/>
                <a:ea typeface="黑体" panose="02010609060101010101" pitchFamily="49" charset="-122"/>
              </a:rPr>
              <a:t>大约为</a:t>
            </a:r>
            <a:r>
              <a:rPr lang="en-US" altLang="zh-CN" sz="2400" b="1" dirty="0">
                <a:solidFill>
                  <a:srgbClr val="FF0000"/>
                </a:solidFill>
                <a:latin typeface="黑体" panose="02010609060101010101" pitchFamily="49" charset="-122"/>
                <a:ea typeface="黑体" panose="02010609060101010101" pitchFamily="49" charset="-122"/>
              </a:rPr>
              <a:t>45</a:t>
            </a:r>
            <a:r>
              <a:rPr lang="en-US" altLang="zh-CN" sz="2400" b="1" baseline="30000" dirty="0">
                <a:solidFill>
                  <a:srgbClr val="FF0000"/>
                </a:solidFill>
                <a:latin typeface="黑体" panose="02010609060101010101" pitchFamily="49" charset="-122"/>
                <a:ea typeface="黑体" panose="02010609060101010101" pitchFamily="49" charset="-122"/>
              </a:rPr>
              <a:t>0</a:t>
            </a:r>
            <a:r>
              <a:rPr lang="zh-CN" altLang="en-US" sz="2400" b="1" dirty="0">
                <a:solidFill>
                  <a:srgbClr val="FF0000"/>
                </a:solidFill>
                <a:latin typeface="黑体" pitchFamily="49" charset="-122"/>
                <a:ea typeface="黑体" pitchFamily="49" charset="-122"/>
              </a:rPr>
              <a:t>的斜面</a:t>
            </a:r>
          </a:p>
        </p:txBody>
      </p:sp>
    </p:spTree>
    <p:extLst>
      <p:ext uri="{BB962C8B-B14F-4D97-AF65-F5344CB8AC3E}">
        <p14:creationId xmlns:p14="http://schemas.microsoft.com/office/powerpoint/2010/main" val="800831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500"/>
                                        <p:tgtEl>
                                          <p:spTgt spid="1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autoUpdateAnimBg="0"/>
      <p:bldP spid="4" grpId="0" animBg="1"/>
      <p:bldP spid="7" grpId="0" animBg="1"/>
      <p:bldP spid="8" grpId="0" animBg="1"/>
      <p:bldP spid="1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55576" y="548680"/>
            <a:ext cx="7561262" cy="461665"/>
          </a:xfrm>
          <a:prstGeom prst="rect">
            <a:avLst/>
          </a:prstGeom>
          <a:ln w="28575">
            <a:solidFill>
              <a:srgbClr val="FF0000"/>
            </a:solidFill>
          </a:ln>
        </p:spPr>
        <p:txBody>
          <a:bodyPr wrap="square">
            <a:spAutoFit/>
          </a:bodyPr>
          <a:lstStyle/>
          <a:p>
            <a:r>
              <a:rPr kumimoji="1" lang="zh-CN" altLang="en-US" sz="2400" b="1" dirty="0">
                <a:solidFill>
                  <a:srgbClr val="0000FF"/>
                </a:solidFill>
                <a:latin typeface="Times New Roman" pitchFamily="18" charset="0"/>
                <a:ea typeface="黑体" pitchFamily="49" charset="-122"/>
              </a:rPr>
              <a:t>拉压杆的</a:t>
            </a:r>
            <a:r>
              <a:rPr kumimoji="1" lang="zh-CN" altLang="en-US" sz="2400" b="1" dirty="0">
                <a:solidFill>
                  <a:srgbClr val="FF0000"/>
                </a:solidFill>
                <a:latin typeface="Times New Roman" pitchFamily="18" charset="0"/>
                <a:ea typeface="黑体" pitchFamily="49" charset="-122"/>
              </a:rPr>
              <a:t>强度</a:t>
            </a:r>
            <a:r>
              <a:rPr kumimoji="1" lang="zh-CN" altLang="en-US" sz="2400" b="1" dirty="0">
                <a:solidFill>
                  <a:srgbClr val="0000FF"/>
                </a:solidFill>
                <a:latin typeface="Times New Roman" pitchFamily="18" charset="0"/>
                <a:ea typeface="黑体" pitchFamily="49" charset="-122"/>
              </a:rPr>
              <a:t>计算</a:t>
            </a:r>
            <a:endParaRPr lang="zh-CN" altLang="en-US" sz="2400" dirty="0">
              <a:solidFill>
                <a:srgbClr val="0000FF"/>
              </a:solidFill>
            </a:endParaRPr>
          </a:p>
        </p:txBody>
      </p:sp>
      <p:sp>
        <p:nvSpPr>
          <p:cNvPr id="3" name="Text Box 2"/>
          <p:cNvSpPr txBox="1">
            <a:spLocks noChangeArrowheads="1"/>
          </p:cNvSpPr>
          <p:nvPr/>
        </p:nvSpPr>
        <p:spPr bwMode="auto">
          <a:xfrm>
            <a:off x="755576" y="1271761"/>
            <a:ext cx="7561262" cy="461665"/>
          </a:xfrm>
          <a:prstGeom prst="rect">
            <a:avLst/>
          </a:prstGeom>
          <a:noFill/>
          <a:ln w="28575" algn="ctr">
            <a:solidFill>
              <a:srgbClr val="FF0000"/>
            </a:solidFill>
            <a:prstDash val="solid"/>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990000"/>
                  </a:outerShdw>
                </a:effectLst>
              </a14:hiddenEffects>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50000"/>
              </a:spcBef>
              <a:buFontTx/>
              <a:buNone/>
            </a:pPr>
            <a:r>
              <a:rPr kumimoji="1" lang="zh-CN" altLang="en-US" sz="2400" b="1" dirty="0">
                <a:solidFill>
                  <a:srgbClr val="0000FF"/>
                </a:solidFill>
                <a:latin typeface="黑体" pitchFamily="49" charset="-122"/>
                <a:ea typeface="黑体" pitchFamily="49" charset="-122"/>
              </a:rPr>
              <a:t>强度条件：最大工作应力小于等于许用应力</a:t>
            </a:r>
          </a:p>
        </p:txBody>
      </p:sp>
      <p:grpSp>
        <p:nvGrpSpPr>
          <p:cNvPr id="4" name="Group 12"/>
          <p:cNvGrpSpPr>
            <a:grpSpLocks/>
          </p:cNvGrpSpPr>
          <p:nvPr/>
        </p:nvGrpSpPr>
        <p:grpSpPr bwMode="auto">
          <a:xfrm>
            <a:off x="3523828" y="2073738"/>
            <a:ext cx="1465262" cy="508000"/>
            <a:chOff x="1621" y="480"/>
            <a:chExt cx="923" cy="320"/>
          </a:xfrm>
        </p:grpSpPr>
        <p:graphicFrame>
          <p:nvGraphicFramePr>
            <p:cNvPr id="5" name="Object 13"/>
            <p:cNvGraphicFramePr>
              <a:graphicFrameLocks noChangeAspect="1"/>
            </p:cNvGraphicFramePr>
            <p:nvPr/>
          </p:nvGraphicFramePr>
          <p:xfrm>
            <a:off x="1621" y="480"/>
            <a:ext cx="923" cy="320"/>
          </p:xfrm>
          <a:graphic>
            <a:graphicData uri="http://schemas.openxmlformats.org/presentationml/2006/ole">
              <mc:AlternateContent xmlns:mc="http://schemas.openxmlformats.org/markup-compatibility/2006">
                <mc:Choice xmlns:v="urn:schemas-microsoft-com:vml" Requires="v">
                  <p:oleObj name="Equation" r:id="rId2" imgW="660400" imgH="228600" progId="">
                    <p:embed/>
                  </p:oleObj>
                </mc:Choice>
                <mc:Fallback>
                  <p:oleObj name="Equation" r:id="rId2" imgW="660400" imgH="228600" progId="">
                    <p:embed/>
                    <p:pic>
                      <p:nvPicPr>
                        <p:cNvPr id="0" name="Picture 17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21" y="480"/>
                          <a:ext cx="923" cy="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accent2"/>
                              </a:solidFill>
                              <a:prstDash val="dashDot"/>
                              <a:miter lim="800000"/>
                              <a:headEnd/>
                              <a:tailEnd/>
                            </a14:hiddenLine>
                          </a:ext>
                          <a:ext uri="{AF507438-7753-43E0-B8FC-AC1667EBCBE1}">
                            <a14:hiddenEffects xmlns:a14="http://schemas.microsoft.com/office/drawing/2010/main">
                              <a:effectLst>
                                <a:outerShdw dist="35921" dir="2700000" algn="ctr" rotWithShape="0">
                                  <a:srgbClr val="990000"/>
                                </a:outerShdw>
                              </a:effectLst>
                            </a14:hiddenEffects>
                          </a:ext>
                        </a:extLst>
                      </p:spPr>
                    </p:pic>
                  </p:oleObj>
                </mc:Fallback>
              </mc:AlternateContent>
            </a:graphicData>
          </a:graphic>
        </p:graphicFrame>
        <p:sp>
          <p:nvSpPr>
            <p:cNvPr id="6" name="Rectangle 14"/>
            <p:cNvSpPr>
              <a:spLocks noChangeArrowheads="1"/>
            </p:cNvSpPr>
            <p:nvPr/>
          </p:nvSpPr>
          <p:spPr bwMode="auto">
            <a:xfrm>
              <a:off x="1998" y="488"/>
              <a:ext cx="298" cy="279"/>
            </a:xfrm>
            <a:prstGeom prst="rect">
              <a:avLst/>
            </a:prstGeom>
            <a:noFill/>
            <a:ln w="19050">
              <a:no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990000"/>
                    </a:outerShdw>
                  </a:effectLst>
                </a14:hiddenEffects>
              </a:ext>
            </a:extLst>
          </p:spPr>
          <p:txBody>
            <a:bodyPr wrap="none" lIns="90000" tIns="46800" rIns="90000" bIns="46800">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50000"/>
                </a:spcBef>
                <a:buFontTx/>
                <a:buNone/>
              </a:pPr>
              <a:r>
                <a:rPr kumimoji="1" lang="en-US" altLang="zh-CN" sz="2300" dirty="0">
                  <a:solidFill>
                    <a:srgbClr val="000000"/>
                  </a:solidFill>
                  <a:latin typeface="黑体" pitchFamily="49" charset="-122"/>
                  <a:ea typeface="黑体" pitchFamily="49" charset="-122"/>
                </a:rPr>
                <a:t>≤</a:t>
              </a:r>
            </a:p>
          </p:txBody>
        </p:sp>
      </p:grpSp>
      <p:sp>
        <p:nvSpPr>
          <p:cNvPr id="7" name="矩形 6"/>
          <p:cNvSpPr/>
          <p:nvPr/>
        </p:nvSpPr>
        <p:spPr>
          <a:xfrm>
            <a:off x="778966" y="2683445"/>
            <a:ext cx="7537872" cy="461665"/>
          </a:xfrm>
          <a:prstGeom prst="rect">
            <a:avLst/>
          </a:prstGeom>
          <a:ln w="28575">
            <a:solidFill>
              <a:srgbClr val="FF0000"/>
            </a:solidFill>
          </a:ln>
        </p:spPr>
        <p:txBody>
          <a:bodyPr wrap="square">
            <a:spAutoFit/>
          </a:bodyPr>
          <a:lstStyle/>
          <a:p>
            <a:r>
              <a:rPr kumimoji="1" lang="zh-CN" altLang="en-US" sz="2400" b="1" dirty="0">
                <a:solidFill>
                  <a:srgbClr val="0000FF"/>
                </a:solidFill>
                <a:latin typeface="黑体" panose="02010609060101010101" pitchFamily="49" charset="-122"/>
                <a:ea typeface="黑体" panose="02010609060101010101" pitchFamily="49" charset="-122"/>
              </a:rPr>
              <a:t>轴向变形和横向变形</a:t>
            </a:r>
          </a:p>
        </p:txBody>
      </p:sp>
      <p:graphicFrame>
        <p:nvGraphicFramePr>
          <p:cNvPr id="8" name="对象 7"/>
          <p:cNvGraphicFramePr>
            <a:graphicFrameLocks noChangeAspect="1"/>
          </p:cNvGraphicFramePr>
          <p:nvPr>
            <p:extLst>
              <p:ext uri="{D42A27DB-BD31-4B8C-83A1-F6EECF244321}">
                <p14:modId xmlns:p14="http://schemas.microsoft.com/office/powerpoint/2010/main" val="4013121196"/>
              </p:ext>
            </p:extLst>
          </p:nvPr>
        </p:nvGraphicFramePr>
        <p:xfrm>
          <a:off x="1691680" y="3403525"/>
          <a:ext cx="990600" cy="806450"/>
        </p:xfrm>
        <a:graphic>
          <a:graphicData uri="http://schemas.openxmlformats.org/presentationml/2006/ole">
            <mc:AlternateContent xmlns:mc="http://schemas.openxmlformats.org/markup-compatibility/2006">
              <mc:Choice xmlns:v="urn:schemas-microsoft-com:vml" Requires="v">
                <p:oleObj name="Microsoft 公式 3.0" r:id="rId4" imgW="482391" imgH="393529" progId="">
                  <p:embed/>
                </p:oleObj>
              </mc:Choice>
              <mc:Fallback>
                <p:oleObj name="Microsoft 公式 3.0" r:id="rId4" imgW="482391" imgH="393529" progId="">
                  <p:embed/>
                  <p:pic>
                    <p:nvPicPr>
                      <p:cNvPr id="0" name="Picture 17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91680" y="3403525"/>
                        <a:ext cx="990600" cy="806450"/>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19050">
                            <a:solidFill>
                              <a:srgbClr val="0000FF"/>
                            </a:solidFill>
                            <a:miter lim="800000"/>
                            <a:headEnd/>
                            <a:tailEnd/>
                          </a14:hiddenLine>
                        </a:ext>
                        <a:ext uri="{AF507438-7753-43E0-B8FC-AC1667EBCBE1}">
                          <a14:hiddenEffects xmlns:a14="http://schemas.microsoft.com/office/drawing/2010/main">
                            <a:effectLst>
                              <a:outerShdw dist="35921" dir="2700000" algn="ctr" rotWithShape="0">
                                <a:srgbClr val="990000"/>
                              </a:outerShdw>
                            </a:effectLst>
                          </a14:hiddenEffects>
                        </a:ext>
                      </a:extLst>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1661613953"/>
              </p:ext>
            </p:extLst>
          </p:nvPr>
        </p:nvGraphicFramePr>
        <p:xfrm>
          <a:off x="3010349" y="3282800"/>
          <a:ext cx="1325563" cy="912813"/>
        </p:xfrm>
        <a:graphic>
          <a:graphicData uri="http://schemas.openxmlformats.org/presentationml/2006/ole">
            <mc:AlternateContent xmlns:mc="http://schemas.openxmlformats.org/markup-compatibility/2006">
              <mc:Choice xmlns:v="urn:schemas-microsoft-com:vml" Requires="v">
                <p:oleObj name="公式" r:id="rId6" imgW="457560" imgH="294840" progId="">
                  <p:embed/>
                </p:oleObj>
              </mc:Choice>
              <mc:Fallback>
                <p:oleObj name="公式" r:id="rId6" imgW="457560" imgH="294840" progId="">
                  <p:embed/>
                  <p:pic>
                    <p:nvPicPr>
                      <p:cNvPr id="0" name="Picture 17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10349" y="3282800"/>
                        <a:ext cx="1325563" cy="9128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2515705487"/>
              </p:ext>
            </p:extLst>
          </p:nvPr>
        </p:nvGraphicFramePr>
        <p:xfrm>
          <a:off x="4211960" y="3362176"/>
          <a:ext cx="1846262" cy="833437"/>
        </p:xfrm>
        <a:graphic>
          <a:graphicData uri="http://schemas.openxmlformats.org/presentationml/2006/ole">
            <mc:AlternateContent xmlns:mc="http://schemas.openxmlformats.org/markup-compatibility/2006">
              <mc:Choice xmlns:v="urn:schemas-microsoft-com:vml" Requires="v">
                <p:oleObj name="Microsoft 公式 3.0" r:id="rId8" imgW="672808" imgH="393529" progId="">
                  <p:embed/>
                </p:oleObj>
              </mc:Choice>
              <mc:Fallback>
                <p:oleObj name="Microsoft 公式 3.0" r:id="rId8" imgW="672808" imgH="393529" progId="">
                  <p:embed/>
                  <p:pic>
                    <p:nvPicPr>
                      <p:cNvPr id="0" name="Picture 17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11960" y="3362176"/>
                        <a:ext cx="1846262" cy="833437"/>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19050">
                            <a:solidFill>
                              <a:srgbClr val="0000FF"/>
                            </a:solidFill>
                            <a:miter lim="800000"/>
                            <a:headEnd/>
                            <a:tailEnd/>
                          </a14:hiddenLine>
                        </a:ext>
                        <a:ext uri="{AF507438-7753-43E0-B8FC-AC1667EBCBE1}">
                          <a14:hiddenEffects xmlns:a14="http://schemas.microsoft.com/office/drawing/2010/main">
                            <a:effectLst>
                              <a:outerShdw dist="35921" dir="2700000" algn="ctr" rotWithShape="0">
                                <a:srgbClr val="990000"/>
                              </a:outerShdw>
                            </a:effectLst>
                          </a14:hiddenEffects>
                        </a:ext>
                      </a:extLst>
                    </p:spPr>
                  </p:pic>
                </p:oleObj>
              </mc:Fallback>
            </mc:AlternateContent>
          </a:graphicData>
        </a:graphic>
      </p:graphicFrame>
      <p:sp>
        <p:nvSpPr>
          <p:cNvPr id="11" name="Text Box 48"/>
          <p:cNvSpPr txBox="1">
            <a:spLocks noChangeArrowheads="1"/>
          </p:cNvSpPr>
          <p:nvPr/>
        </p:nvSpPr>
        <p:spPr bwMode="auto">
          <a:xfrm>
            <a:off x="799028" y="4339629"/>
            <a:ext cx="7517810" cy="457200"/>
          </a:xfrm>
          <a:prstGeom prst="rect">
            <a:avLst/>
          </a:prstGeom>
          <a:noFill/>
          <a:ln w="28575">
            <a:solidFill>
              <a:srgbClr val="FF0000"/>
            </a:solidFill>
            <a:prstDash val="solid"/>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990000"/>
                  </a:outerShdw>
                </a:effectLst>
              </a14:hiddenEffects>
            </a:ext>
          </a:extLst>
        </p:spPr>
        <p:txBody>
          <a:bodyPr wrap="square"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lgn="just" eaLnBrk="1" hangingPunct="1">
              <a:spcBef>
                <a:spcPct val="50000"/>
              </a:spcBef>
              <a:buFontTx/>
              <a:buNone/>
            </a:pPr>
            <a:r>
              <a:rPr kumimoji="1" lang="zh-CN" altLang="en-US" sz="2400" b="1" dirty="0">
                <a:solidFill>
                  <a:srgbClr val="FF0000"/>
                </a:solidFill>
                <a:latin typeface="黑体" panose="02010609060101010101" pitchFamily="49" charset="-122"/>
                <a:ea typeface="黑体" panose="02010609060101010101" pitchFamily="49" charset="-122"/>
              </a:rPr>
              <a:t>泊松比</a:t>
            </a:r>
          </a:p>
        </p:txBody>
      </p:sp>
      <p:graphicFrame>
        <p:nvGraphicFramePr>
          <p:cNvPr id="12" name="对象 11"/>
          <p:cNvGraphicFramePr>
            <a:graphicFrameLocks noChangeAspect="1"/>
          </p:cNvGraphicFramePr>
          <p:nvPr>
            <p:extLst>
              <p:ext uri="{D42A27DB-BD31-4B8C-83A1-F6EECF244321}">
                <p14:modId xmlns:p14="http://schemas.microsoft.com/office/powerpoint/2010/main" val="3359215732"/>
              </p:ext>
            </p:extLst>
          </p:nvPr>
        </p:nvGraphicFramePr>
        <p:xfrm>
          <a:off x="2497931" y="4915693"/>
          <a:ext cx="1600200" cy="817563"/>
        </p:xfrm>
        <a:graphic>
          <a:graphicData uri="http://schemas.openxmlformats.org/presentationml/2006/ole">
            <mc:AlternateContent xmlns:mc="http://schemas.openxmlformats.org/markup-compatibility/2006">
              <mc:Choice xmlns:v="urn:schemas-microsoft-com:vml" Requires="v">
                <p:oleObj name="公式" r:id="rId10" imgW="482391" imgH="431613" progId="">
                  <p:embed/>
                </p:oleObj>
              </mc:Choice>
              <mc:Fallback>
                <p:oleObj name="公式" r:id="rId10" imgW="482391" imgH="431613" progId="">
                  <p:embed/>
                  <p:pic>
                    <p:nvPicPr>
                      <p:cNvPr id="0" name="Picture 17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497931" y="4915693"/>
                        <a:ext cx="1600200" cy="817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accent2"/>
                            </a:solidFill>
                            <a:prstDash val="dashDot"/>
                            <a:miter lim="800000"/>
                            <a:headEnd/>
                            <a:tailEnd/>
                          </a14:hiddenLine>
                        </a:ext>
                        <a:ext uri="{AF507438-7753-43E0-B8FC-AC1667EBCBE1}">
                          <a14:hiddenEffects xmlns:a14="http://schemas.microsoft.com/office/drawing/2010/main">
                            <a:effectLst>
                              <a:outerShdw dist="35921" dir="2700000" algn="ctr" rotWithShape="0">
                                <a:srgbClr val="990000"/>
                              </a:outerShdw>
                            </a:effectLst>
                          </a14:hiddenEffects>
                        </a:ext>
                      </a:extLst>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1574037563"/>
              </p:ext>
            </p:extLst>
          </p:nvPr>
        </p:nvGraphicFramePr>
        <p:xfrm>
          <a:off x="5276056" y="5058568"/>
          <a:ext cx="1600200" cy="565150"/>
        </p:xfrm>
        <a:graphic>
          <a:graphicData uri="http://schemas.openxmlformats.org/presentationml/2006/ole">
            <mc:AlternateContent xmlns:mc="http://schemas.openxmlformats.org/markup-compatibility/2006">
              <mc:Choice xmlns:v="urn:schemas-microsoft-com:vml" Requires="v">
                <p:oleObj name="公式" r:id="rId12" imgW="571252" imgH="203112" progId="">
                  <p:embed/>
                </p:oleObj>
              </mc:Choice>
              <mc:Fallback>
                <p:oleObj name="公式" r:id="rId12" imgW="571252" imgH="203112" progId="">
                  <p:embed/>
                  <p:pic>
                    <p:nvPicPr>
                      <p:cNvPr id="0" name="Picture 17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276056" y="5058568"/>
                        <a:ext cx="1600200" cy="565150"/>
                      </a:xfrm>
                      <a:prstGeom prst="rect">
                        <a:avLst/>
                      </a:prstGeom>
                      <a:noFill/>
                      <a:ln>
                        <a:noFill/>
                      </a:ln>
                      <a:effectLst/>
                      <a:extLst>
                        <a:ext uri="{909E8E84-426E-40DD-AFC4-6F175D3DCCD1}">
                          <a14:hiddenFill xmlns:a14="http://schemas.microsoft.com/office/drawing/2010/main">
                            <a:solidFill>
                              <a:srgbClr val="FFCC99">
                                <a:alpha val="50195"/>
                              </a:srgbClr>
                            </a:solidFill>
                          </a14:hiddenFill>
                        </a:ext>
                        <a:ext uri="{91240B29-F687-4F45-9708-019B960494DF}">
                          <a14:hiddenLine xmlns:a14="http://schemas.microsoft.com/office/drawing/2010/main" w="19050">
                            <a:solidFill>
                              <a:srgbClr val="0000FF"/>
                            </a:solidFill>
                            <a:miter lim="800000"/>
                            <a:headEnd/>
                            <a:tailEnd/>
                          </a14:hiddenLine>
                        </a:ext>
                        <a:ext uri="{AF507438-7753-43E0-B8FC-AC1667EBCBE1}">
                          <a14:hiddenEffects xmlns:a14="http://schemas.microsoft.com/office/drawing/2010/main">
                            <a:effectLst>
                              <a:outerShdw dist="35921" dir="2700000" algn="ctr" rotWithShape="0">
                                <a:srgbClr val="990000"/>
                              </a:outerShdw>
                            </a:effectLst>
                          </a14:hiddenEffects>
                        </a:ext>
                      </a:extLst>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4162083404"/>
              </p:ext>
            </p:extLst>
          </p:nvPr>
        </p:nvGraphicFramePr>
        <p:xfrm>
          <a:off x="4514056" y="5180806"/>
          <a:ext cx="457200" cy="334962"/>
        </p:xfrm>
        <a:graphic>
          <a:graphicData uri="http://schemas.openxmlformats.org/presentationml/2006/ole">
            <mc:AlternateContent xmlns:mc="http://schemas.openxmlformats.org/markup-compatibility/2006">
              <mc:Choice xmlns:v="urn:schemas-microsoft-com:vml" Requires="v">
                <p:oleObj name="公式" r:id="rId14" imgW="190417" imgH="139639" progId="">
                  <p:embed/>
                </p:oleObj>
              </mc:Choice>
              <mc:Fallback>
                <p:oleObj name="公式" r:id="rId14" imgW="190417" imgH="139639" progId="">
                  <p:embed/>
                  <p:pic>
                    <p:nvPicPr>
                      <p:cNvPr id="0" name="Picture 17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514056" y="5180806"/>
                        <a:ext cx="457200" cy="334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accent2"/>
                            </a:solidFill>
                            <a:prstDash val="dashDot"/>
                            <a:miter lim="800000"/>
                            <a:headEnd/>
                            <a:tailEnd/>
                          </a14:hiddenLine>
                        </a:ext>
                        <a:ext uri="{AF507438-7753-43E0-B8FC-AC1667EBCBE1}">
                          <a14:hiddenEffects xmlns:a14="http://schemas.microsoft.com/office/drawing/2010/main">
                            <a:effectLst>
                              <a:outerShdw dist="35921" dir="2700000" algn="ctr" rotWithShape="0">
                                <a:srgbClr val="990000"/>
                              </a:outerShdw>
                            </a:effectLst>
                          </a14:hiddenEffects>
                        </a:ext>
                      </a:extLst>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1743798302"/>
              </p:ext>
            </p:extLst>
          </p:nvPr>
        </p:nvGraphicFramePr>
        <p:xfrm>
          <a:off x="6156176" y="3331517"/>
          <a:ext cx="1600200" cy="842963"/>
        </p:xfrm>
        <a:graphic>
          <a:graphicData uri="http://schemas.openxmlformats.org/presentationml/2006/ole">
            <mc:AlternateContent xmlns:mc="http://schemas.openxmlformats.org/markup-compatibility/2006">
              <mc:Choice xmlns:v="urn:schemas-microsoft-com:vml" Requires="v">
                <p:oleObj name="Equation" r:id="rId16" imgW="507780" imgH="393529" progId="">
                  <p:embed/>
                </p:oleObj>
              </mc:Choice>
              <mc:Fallback>
                <p:oleObj name="Equation" r:id="rId16" imgW="507780" imgH="393529" progId="">
                  <p:embed/>
                  <p:pic>
                    <p:nvPicPr>
                      <p:cNvPr id="0" name="Picture 17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156176" y="3331517"/>
                        <a:ext cx="1600200" cy="842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accent2"/>
                            </a:solidFill>
                            <a:prstDash val="dashDot"/>
                            <a:miter lim="800000"/>
                            <a:headEnd/>
                            <a:tailEnd/>
                          </a14:hiddenLine>
                        </a:ext>
                        <a:ext uri="{AF507438-7753-43E0-B8FC-AC1667EBCBE1}">
                          <a14:hiddenEffects xmlns:a14="http://schemas.microsoft.com/office/drawing/2010/main">
                            <a:effectLst>
                              <a:outerShdw dist="35921" dir="2700000" algn="ctr" rotWithShape="0">
                                <a:srgbClr val="990000"/>
                              </a:outerShdw>
                            </a:effectLst>
                          </a14:hiddenEffects>
                        </a:ext>
                      </a:extLst>
                    </p:spPr>
                  </p:pic>
                </p:oleObj>
              </mc:Fallback>
            </mc:AlternateContent>
          </a:graphicData>
        </a:graphic>
      </p:graphicFrame>
    </p:spTree>
    <p:extLst>
      <p:ext uri="{BB962C8B-B14F-4D97-AF65-F5344CB8AC3E}">
        <p14:creationId xmlns:p14="http://schemas.microsoft.com/office/powerpoint/2010/main" val="2051409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slide(fromBottom)">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p:tgtEl>
                                          <p:spTgt spid="8"/>
                                        </p:tgtEl>
                                        <p:attrNameLst>
                                          <p:attrName>ppt_x</p:attrName>
                                        </p:attrNameLst>
                                      </p:cBhvr>
                                      <p:tavLst>
                                        <p:tav tm="0">
                                          <p:val>
                                            <p:strVal val="#ppt_x"/>
                                          </p:val>
                                        </p:tav>
                                        <p:tav tm="100000">
                                          <p:val>
                                            <p:strVal val="#ppt_x"/>
                                          </p:val>
                                        </p:tav>
                                      </p:tavLst>
                                    </p:anim>
                                    <p:anim calcmode="lin" valueType="num">
                                      <p:cBhvr additive="base">
                                        <p:cTn id="2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wipe(left)">
                                      <p:cBhvr>
                                        <p:cTn id="33" dur="500"/>
                                        <p:tgtEl>
                                          <p:spTgt spid="9"/>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10"/>
                                        </p:tgtEl>
                                        <p:attrNameLst>
                                          <p:attrName>style.visibility</p:attrName>
                                        </p:attrNameLst>
                                      </p:cBhvr>
                                      <p:to>
                                        <p:strVal val="visible"/>
                                      </p:to>
                                    </p:set>
                                    <p:anim calcmode="lin" valueType="num">
                                      <p:cBhvr additive="base">
                                        <p:cTn id="38" dur="500" fill="hold"/>
                                        <p:tgtEl>
                                          <p:spTgt spid="10"/>
                                        </p:tgtEl>
                                        <p:attrNameLst>
                                          <p:attrName>ppt_x</p:attrName>
                                        </p:attrNameLst>
                                      </p:cBhvr>
                                      <p:tavLst>
                                        <p:tav tm="0">
                                          <p:val>
                                            <p:strVal val="#ppt_x"/>
                                          </p:val>
                                        </p:tav>
                                        <p:tav tm="100000">
                                          <p:val>
                                            <p:strVal val="#ppt_x"/>
                                          </p:val>
                                        </p:tav>
                                      </p:tavLst>
                                    </p:anim>
                                    <p:anim calcmode="lin" valueType="num">
                                      <p:cBhvr additive="base">
                                        <p:cTn id="39"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nodeType="clickEffect">
                                  <p:stCondLst>
                                    <p:cond delay="0"/>
                                  </p:stCondLst>
                                  <p:childTnLst>
                                    <p:set>
                                      <p:cBhvr>
                                        <p:cTn id="43" dur="1" fill="hold">
                                          <p:stCondLst>
                                            <p:cond delay="0"/>
                                          </p:stCondLst>
                                        </p:cTn>
                                        <p:tgtEl>
                                          <p:spTgt spid="15"/>
                                        </p:tgtEl>
                                        <p:attrNameLst>
                                          <p:attrName>style.visibility</p:attrName>
                                        </p:attrNameLst>
                                      </p:cBhvr>
                                      <p:to>
                                        <p:strVal val="visible"/>
                                      </p:to>
                                    </p:set>
                                    <p:anim calcmode="lin" valueType="num">
                                      <p:cBhvr additive="base">
                                        <p:cTn id="44" dur="500" fill="hold"/>
                                        <p:tgtEl>
                                          <p:spTgt spid="15"/>
                                        </p:tgtEl>
                                        <p:attrNameLst>
                                          <p:attrName>ppt_x</p:attrName>
                                        </p:attrNameLst>
                                      </p:cBhvr>
                                      <p:tavLst>
                                        <p:tav tm="0">
                                          <p:val>
                                            <p:strVal val="#ppt_x"/>
                                          </p:val>
                                        </p:tav>
                                        <p:tav tm="100000">
                                          <p:val>
                                            <p:strVal val="#ppt_x"/>
                                          </p:val>
                                        </p:tav>
                                      </p:tavLst>
                                    </p:anim>
                                    <p:anim calcmode="lin" valueType="num">
                                      <p:cBhvr additive="base">
                                        <p:cTn id="45"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11"/>
                                        </p:tgtEl>
                                        <p:attrNameLst>
                                          <p:attrName>style.visibility</p:attrName>
                                        </p:attrNameLst>
                                      </p:cBhvr>
                                      <p:to>
                                        <p:strVal val="visible"/>
                                      </p:to>
                                    </p:set>
                                    <p:animEffect transition="in" filter="fade">
                                      <p:cBhvr>
                                        <p:cTn id="50" dur="500"/>
                                        <p:tgtEl>
                                          <p:spTgt spid="11"/>
                                        </p:tgtEl>
                                      </p:cBhvr>
                                    </p:animEffect>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12"/>
                                        </p:tgtEl>
                                        <p:attrNameLst>
                                          <p:attrName>style.visibility</p:attrName>
                                        </p:attrNameLst>
                                      </p:cBhvr>
                                      <p:to>
                                        <p:strVal val="visible"/>
                                      </p:to>
                                    </p:set>
                                    <p:anim calcmode="lin" valueType="num">
                                      <p:cBhvr additive="base">
                                        <p:cTn id="55" dur="500" fill="hold"/>
                                        <p:tgtEl>
                                          <p:spTgt spid="12"/>
                                        </p:tgtEl>
                                        <p:attrNameLst>
                                          <p:attrName>ppt_x</p:attrName>
                                        </p:attrNameLst>
                                      </p:cBhvr>
                                      <p:tavLst>
                                        <p:tav tm="0">
                                          <p:val>
                                            <p:strVal val="#ppt_x"/>
                                          </p:val>
                                        </p:tav>
                                        <p:tav tm="100000">
                                          <p:val>
                                            <p:strVal val="#ppt_x"/>
                                          </p:val>
                                        </p:tav>
                                      </p:tavLst>
                                    </p:anim>
                                    <p:anim calcmode="lin" valueType="num">
                                      <p:cBhvr additive="base">
                                        <p:cTn id="5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14"/>
                                        </p:tgtEl>
                                        <p:attrNameLst>
                                          <p:attrName>style.visibility</p:attrName>
                                        </p:attrNameLst>
                                      </p:cBhvr>
                                      <p:to>
                                        <p:strVal val="visible"/>
                                      </p:to>
                                    </p:set>
                                    <p:animEffect transition="in" filter="fade">
                                      <p:cBhvr>
                                        <p:cTn id="61" dur="500"/>
                                        <p:tgtEl>
                                          <p:spTgt spid="14"/>
                                        </p:tgtEl>
                                      </p:cBhvr>
                                    </p:animEffect>
                                  </p:childTnLst>
                                </p:cTn>
                              </p:par>
                              <p:par>
                                <p:cTn id="62" presetID="10" presetClass="entr" presetSubtype="0" fill="hold" nodeType="withEffect">
                                  <p:stCondLst>
                                    <p:cond delay="0"/>
                                  </p:stCondLst>
                                  <p:childTnLst>
                                    <p:set>
                                      <p:cBhvr>
                                        <p:cTn id="63" dur="1" fill="hold">
                                          <p:stCondLst>
                                            <p:cond delay="0"/>
                                          </p:stCondLst>
                                        </p:cTn>
                                        <p:tgtEl>
                                          <p:spTgt spid="13"/>
                                        </p:tgtEl>
                                        <p:attrNameLst>
                                          <p:attrName>style.visibility</p:attrName>
                                        </p:attrNameLst>
                                      </p:cBhvr>
                                      <p:to>
                                        <p:strVal val="visible"/>
                                      </p:to>
                                    </p:set>
                                    <p:animEffect transition="in" filter="fade">
                                      <p:cBhvr>
                                        <p:cTn id="64"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autoUpdateAnimBg="0"/>
      <p:bldP spid="7" grpId="0" animBg="1"/>
      <p:bldP spid="1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93"/>
          <p:cNvSpPr txBox="1">
            <a:spLocks noChangeArrowheads="1"/>
          </p:cNvSpPr>
          <p:nvPr/>
        </p:nvSpPr>
        <p:spPr bwMode="auto">
          <a:xfrm>
            <a:off x="467544" y="404664"/>
            <a:ext cx="8064896" cy="461665"/>
          </a:xfrm>
          <a:prstGeom prst="rect">
            <a:avLst/>
          </a:prstGeom>
          <a:noFill/>
          <a:ln w="28575">
            <a:solidFill>
              <a:srgbClr val="FF0000"/>
            </a:solidFill>
            <a:prstDash val="solid"/>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990000"/>
                  </a:outerShdw>
                </a:effectLst>
              </a14:hiddenEffects>
            </a:ext>
          </a:extLst>
        </p:spPr>
        <p:txBody>
          <a:bodyPr wrap="square"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lgn="just" eaLnBrk="1" hangingPunct="1">
              <a:spcBef>
                <a:spcPct val="50000"/>
              </a:spcBef>
              <a:buFontTx/>
              <a:buNone/>
            </a:pPr>
            <a:r>
              <a:rPr kumimoji="1" lang="zh-CN" altLang="en-US" sz="2400" b="1" dirty="0">
                <a:solidFill>
                  <a:srgbClr val="0000FF"/>
                </a:solidFill>
                <a:latin typeface="黑体" pitchFamily="49" charset="-122"/>
                <a:ea typeface="黑体" pitchFamily="49" charset="-122"/>
              </a:rPr>
              <a:t>计算节点位移</a:t>
            </a:r>
          </a:p>
        </p:txBody>
      </p:sp>
      <p:sp>
        <p:nvSpPr>
          <p:cNvPr id="3" name="Rectangle 3"/>
          <p:cNvSpPr>
            <a:spLocks noChangeArrowheads="1"/>
          </p:cNvSpPr>
          <p:nvPr/>
        </p:nvSpPr>
        <p:spPr bwMode="auto">
          <a:xfrm>
            <a:off x="4435152" y="2724498"/>
            <a:ext cx="4097288"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lnSpc>
                <a:spcPct val="120000"/>
              </a:lnSpc>
              <a:buFontTx/>
              <a:buNone/>
            </a:pPr>
            <a:r>
              <a:rPr lang="zh-CN" altLang="en-US" sz="2400" b="1" dirty="0">
                <a:solidFill>
                  <a:srgbClr val="0000FF"/>
                </a:solidFill>
                <a:latin typeface="宋体" pitchFamily="2" charset="-122"/>
                <a:sym typeface="Wingdings" pitchFamily="2" charset="2"/>
              </a:rPr>
              <a:t>画节点位移图求节点位移</a:t>
            </a:r>
          </a:p>
        </p:txBody>
      </p:sp>
      <p:sp>
        <p:nvSpPr>
          <p:cNvPr id="4" name="Rectangle 4"/>
          <p:cNvSpPr>
            <a:spLocks noChangeArrowheads="1"/>
          </p:cNvSpPr>
          <p:nvPr/>
        </p:nvSpPr>
        <p:spPr bwMode="auto">
          <a:xfrm>
            <a:off x="4363715" y="2003773"/>
            <a:ext cx="3885381" cy="665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lnSpc>
                <a:spcPct val="105000"/>
              </a:lnSpc>
              <a:spcBef>
                <a:spcPct val="0"/>
              </a:spcBef>
              <a:buFontTx/>
              <a:buNone/>
            </a:pPr>
            <a:r>
              <a:rPr lang="zh-CN" altLang="en-US" sz="2400" b="1" dirty="0">
                <a:solidFill>
                  <a:srgbClr val="0000FF"/>
                </a:solidFill>
                <a:latin typeface="宋体" pitchFamily="2" charset="-122"/>
                <a:sym typeface="Wingdings" pitchFamily="2" charset="2"/>
              </a:rPr>
              <a:t>求各杆的变形量△</a:t>
            </a:r>
            <a:r>
              <a:rPr lang="en-US" altLang="zh-CN" sz="2400" b="1" i="1" dirty="0">
                <a:solidFill>
                  <a:srgbClr val="0000FF"/>
                </a:solidFill>
                <a:latin typeface="Times New Roman" pitchFamily="18" charset="0"/>
                <a:sym typeface="Webdings" pitchFamily="18" charset="2"/>
              </a:rPr>
              <a:t>l</a:t>
            </a:r>
            <a:r>
              <a:rPr lang="en-US" altLang="zh-CN" sz="2400" b="1" i="1" baseline="-25000" dirty="0">
                <a:solidFill>
                  <a:srgbClr val="0000FF"/>
                </a:solidFill>
                <a:latin typeface="Times New Roman" pitchFamily="18" charset="0"/>
                <a:sym typeface="Webdings" pitchFamily="18" charset="2"/>
              </a:rPr>
              <a:t>i</a:t>
            </a:r>
            <a:r>
              <a:rPr lang="zh-CN" altLang="en-US" sz="2400" b="1" dirty="0">
                <a:solidFill>
                  <a:srgbClr val="0000FF"/>
                </a:solidFill>
                <a:latin typeface="宋体" pitchFamily="2" charset="-122"/>
                <a:sym typeface="Wingdings" pitchFamily="2" charset="2"/>
              </a:rPr>
              <a:t>；</a:t>
            </a:r>
          </a:p>
        </p:txBody>
      </p:sp>
      <p:sp>
        <p:nvSpPr>
          <p:cNvPr id="5" name="Text Box 7"/>
          <p:cNvSpPr txBox="1">
            <a:spLocks noChangeArrowheads="1"/>
          </p:cNvSpPr>
          <p:nvPr/>
        </p:nvSpPr>
        <p:spPr bwMode="auto">
          <a:xfrm>
            <a:off x="4292277" y="1266318"/>
            <a:ext cx="4240163" cy="4985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accent2"/>
                </a:solidFill>
                <a:prstDash val="dashDot"/>
                <a:miter lim="800000"/>
                <a:headEnd/>
                <a:tailEnd/>
              </a14:hiddenLine>
            </a:ext>
            <a:ext uri="{AF507438-7753-43E0-B8FC-AC1667EBCBE1}">
              <a14:hiddenEffects xmlns:a14="http://schemas.microsoft.com/office/drawing/2010/main">
                <a:effectLst>
                  <a:outerShdw dist="35921" dir="2700000" algn="ctr" rotWithShape="0">
                    <a:srgbClr val="990000"/>
                  </a:outerShdw>
                </a:effectLst>
              </a14:hiddenEffects>
            </a:ext>
          </a:extLst>
        </p:spPr>
        <p:txBody>
          <a:bodyPr wrap="square"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lnSpc>
                <a:spcPct val="110000"/>
              </a:lnSpc>
              <a:spcBef>
                <a:spcPct val="0"/>
              </a:spcBef>
              <a:buFontTx/>
              <a:buNone/>
            </a:pPr>
            <a:r>
              <a:rPr kumimoji="1" lang="zh-CN" altLang="en-US" sz="2400" b="1" dirty="0">
                <a:solidFill>
                  <a:srgbClr val="0000FF"/>
                </a:solidFill>
                <a:latin typeface="宋体" pitchFamily="2" charset="-122"/>
              </a:rPr>
              <a:t>分析受力确定各杆的内力 </a:t>
            </a:r>
            <a:r>
              <a:rPr kumimoji="1" lang="en-US" altLang="zh-CN" sz="2400" b="1" i="1" dirty="0" err="1">
                <a:solidFill>
                  <a:srgbClr val="0000FF"/>
                </a:solidFill>
                <a:latin typeface="Times New Roman" pitchFamily="18" charset="0"/>
              </a:rPr>
              <a:t>F</a:t>
            </a:r>
            <a:r>
              <a:rPr kumimoji="1" lang="en-US" altLang="zh-CN" sz="2400" b="1" i="1" baseline="-20000" dirty="0" err="1">
                <a:solidFill>
                  <a:srgbClr val="0000FF"/>
                </a:solidFill>
                <a:latin typeface="Times New Roman" pitchFamily="18" charset="0"/>
              </a:rPr>
              <a:t>Ni</a:t>
            </a:r>
            <a:endParaRPr kumimoji="1" lang="en-US" altLang="zh-CN" sz="2400" b="1" dirty="0">
              <a:solidFill>
                <a:srgbClr val="0000FF"/>
              </a:solidFill>
              <a:latin typeface="宋体" pitchFamily="2" charset="-122"/>
            </a:endParaRPr>
          </a:p>
        </p:txBody>
      </p:sp>
      <p:grpSp>
        <p:nvGrpSpPr>
          <p:cNvPr id="6" name="Group 8"/>
          <p:cNvGrpSpPr>
            <a:grpSpLocks/>
          </p:cNvGrpSpPr>
          <p:nvPr/>
        </p:nvGrpSpPr>
        <p:grpSpPr bwMode="auto">
          <a:xfrm>
            <a:off x="205234" y="1500535"/>
            <a:ext cx="3248025" cy="2808288"/>
            <a:chOff x="203" y="1303"/>
            <a:chExt cx="2046" cy="1769"/>
          </a:xfrm>
        </p:grpSpPr>
        <p:grpSp>
          <p:nvGrpSpPr>
            <p:cNvPr id="7" name="Group 9"/>
            <p:cNvGrpSpPr>
              <a:grpSpLocks/>
            </p:cNvGrpSpPr>
            <p:nvPr/>
          </p:nvGrpSpPr>
          <p:grpSpPr bwMode="auto">
            <a:xfrm>
              <a:off x="1715" y="1315"/>
              <a:ext cx="524" cy="247"/>
              <a:chOff x="1715" y="1315"/>
              <a:chExt cx="524" cy="247"/>
            </a:xfrm>
          </p:grpSpPr>
          <p:sp>
            <p:nvSpPr>
              <p:cNvPr id="38" name="Oval 10"/>
              <p:cNvSpPr>
                <a:spLocks noChangeArrowheads="1"/>
              </p:cNvSpPr>
              <p:nvPr/>
            </p:nvSpPr>
            <p:spPr bwMode="auto">
              <a:xfrm>
                <a:off x="1921" y="1448"/>
                <a:ext cx="114" cy="114"/>
              </a:xfrm>
              <a:prstGeom prst="ellipse">
                <a:avLst/>
              </a:pr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p>
            </p:txBody>
          </p:sp>
          <p:sp>
            <p:nvSpPr>
              <p:cNvPr id="39" name="Rectangle 11"/>
              <p:cNvSpPr>
                <a:spLocks noChangeArrowheads="1"/>
              </p:cNvSpPr>
              <p:nvPr/>
            </p:nvSpPr>
            <p:spPr bwMode="auto">
              <a:xfrm>
                <a:off x="1723" y="1441"/>
                <a:ext cx="516" cy="1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p>
            </p:txBody>
          </p:sp>
          <p:sp>
            <p:nvSpPr>
              <p:cNvPr id="40" name="Freeform 12"/>
              <p:cNvSpPr>
                <a:spLocks/>
              </p:cNvSpPr>
              <p:nvPr/>
            </p:nvSpPr>
            <p:spPr bwMode="auto">
              <a:xfrm>
                <a:off x="1715" y="1315"/>
                <a:ext cx="65" cy="138"/>
              </a:xfrm>
              <a:custGeom>
                <a:avLst/>
                <a:gdLst>
                  <a:gd name="T0" fmla="*/ 17 w 65"/>
                  <a:gd name="T1" fmla="*/ 0 h 138"/>
                  <a:gd name="T2" fmla="*/ 0 w 65"/>
                  <a:gd name="T3" fmla="*/ 6 h 138"/>
                  <a:gd name="T4" fmla="*/ 48 w 65"/>
                  <a:gd name="T5" fmla="*/ 138 h 138"/>
                  <a:gd name="T6" fmla="*/ 65 w 65"/>
                  <a:gd name="T7" fmla="*/ 132 h 138"/>
                  <a:gd name="T8" fmla="*/ 17 w 65"/>
                  <a:gd name="T9" fmla="*/ 0 h 1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138">
                    <a:moveTo>
                      <a:pt x="17" y="0"/>
                    </a:moveTo>
                    <a:lnTo>
                      <a:pt x="0" y="6"/>
                    </a:lnTo>
                    <a:lnTo>
                      <a:pt x="48" y="138"/>
                    </a:lnTo>
                    <a:lnTo>
                      <a:pt x="65" y="132"/>
                    </a:lnTo>
                    <a:lnTo>
                      <a:pt x="1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 name="Freeform 13"/>
              <p:cNvSpPr>
                <a:spLocks/>
              </p:cNvSpPr>
              <p:nvPr/>
            </p:nvSpPr>
            <p:spPr bwMode="auto">
              <a:xfrm>
                <a:off x="1799" y="1315"/>
                <a:ext cx="65" cy="138"/>
              </a:xfrm>
              <a:custGeom>
                <a:avLst/>
                <a:gdLst>
                  <a:gd name="T0" fmla="*/ 17 w 65"/>
                  <a:gd name="T1" fmla="*/ 0 h 138"/>
                  <a:gd name="T2" fmla="*/ 0 w 65"/>
                  <a:gd name="T3" fmla="*/ 6 h 138"/>
                  <a:gd name="T4" fmla="*/ 48 w 65"/>
                  <a:gd name="T5" fmla="*/ 138 h 138"/>
                  <a:gd name="T6" fmla="*/ 65 w 65"/>
                  <a:gd name="T7" fmla="*/ 132 h 138"/>
                  <a:gd name="T8" fmla="*/ 17 w 65"/>
                  <a:gd name="T9" fmla="*/ 0 h 1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138">
                    <a:moveTo>
                      <a:pt x="17" y="0"/>
                    </a:moveTo>
                    <a:lnTo>
                      <a:pt x="0" y="6"/>
                    </a:lnTo>
                    <a:lnTo>
                      <a:pt x="48" y="138"/>
                    </a:lnTo>
                    <a:lnTo>
                      <a:pt x="65" y="132"/>
                    </a:lnTo>
                    <a:lnTo>
                      <a:pt x="1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 name="Freeform 14"/>
              <p:cNvSpPr>
                <a:spLocks/>
              </p:cNvSpPr>
              <p:nvPr/>
            </p:nvSpPr>
            <p:spPr bwMode="auto">
              <a:xfrm>
                <a:off x="1883" y="1315"/>
                <a:ext cx="65" cy="138"/>
              </a:xfrm>
              <a:custGeom>
                <a:avLst/>
                <a:gdLst>
                  <a:gd name="T0" fmla="*/ 17 w 65"/>
                  <a:gd name="T1" fmla="*/ 0 h 138"/>
                  <a:gd name="T2" fmla="*/ 0 w 65"/>
                  <a:gd name="T3" fmla="*/ 6 h 138"/>
                  <a:gd name="T4" fmla="*/ 48 w 65"/>
                  <a:gd name="T5" fmla="*/ 138 h 138"/>
                  <a:gd name="T6" fmla="*/ 65 w 65"/>
                  <a:gd name="T7" fmla="*/ 132 h 138"/>
                  <a:gd name="T8" fmla="*/ 17 w 65"/>
                  <a:gd name="T9" fmla="*/ 0 h 1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138">
                    <a:moveTo>
                      <a:pt x="17" y="0"/>
                    </a:moveTo>
                    <a:lnTo>
                      <a:pt x="0" y="6"/>
                    </a:lnTo>
                    <a:lnTo>
                      <a:pt x="48" y="138"/>
                    </a:lnTo>
                    <a:lnTo>
                      <a:pt x="65" y="132"/>
                    </a:lnTo>
                    <a:lnTo>
                      <a:pt x="1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 name="Freeform 15"/>
              <p:cNvSpPr>
                <a:spLocks/>
              </p:cNvSpPr>
              <p:nvPr/>
            </p:nvSpPr>
            <p:spPr bwMode="auto">
              <a:xfrm>
                <a:off x="1967" y="1315"/>
                <a:ext cx="65" cy="138"/>
              </a:xfrm>
              <a:custGeom>
                <a:avLst/>
                <a:gdLst>
                  <a:gd name="T0" fmla="*/ 17 w 65"/>
                  <a:gd name="T1" fmla="*/ 0 h 138"/>
                  <a:gd name="T2" fmla="*/ 0 w 65"/>
                  <a:gd name="T3" fmla="*/ 6 h 138"/>
                  <a:gd name="T4" fmla="*/ 48 w 65"/>
                  <a:gd name="T5" fmla="*/ 138 h 138"/>
                  <a:gd name="T6" fmla="*/ 65 w 65"/>
                  <a:gd name="T7" fmla="*/ 132 h 138"/>
                  <a:gd name="T8" fmla="*/ 17 w 65"/>
                  <a:gd name="T9" fmla="*/ 0 h 1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138">
                    <a:moveTo>
                      <a:pt x="17" y="0"/>
                    </a:moveTo>
                    <a:lnTo>
                      <a:pt x="0" y="6"/>
                    </a:lnTo>
                    <a:lnTo>
                      <a:pt x="48" y="138"/>
                    </a:lnTo>
                    <a:lnTo>
                      <a:pt x="65" y="132"/>
                    </a:lnTo>
                    <a:lnTo>
                      <a:pt x="1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 name="Freeform 16"/>
              <p:cNvSpPr>
                <a:spLocks/>
              </p:cNvSpPr>
              <p:nvPr/>
            </p:nvSpPr>
            <p:spPr bwMode="auto">
              <a:xfrm>
                <a:off x="2051" y="1315"/>
                <a:ext cx="65" cy="138"/>
              </a:xfrm>
              <a:custGeom>
                <a:avLst/>
                <a:gdLst>
                  <a:gd name="T0" fmla="*/ 17 w 65"/>
                  <a:gd name="T1" fmla="*/ 0 h 138"/>
                  <a:gd name="T2" fmla="*/ 0 w 65"/>
                  <a:gd name="T3" fmla="*/ 6 h 138"/>
                  <a:gd name="T4" fmla="*/ 48 w 65"/>
                  <a:gd name="T5" fmla="*/ 138 h 138"/>
                  <a:gd name="T6" fmla="*/ 65 w 65"/>
                  <a:gd name="T7" fmla="*/ 132 h 138"/>
                  <a:gd name="T8" fmla="*/ 17 w 65"/>
                  <a:gd name="T9" fmla="*/ 0 h 1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138">
                    <a:moveTo>
                      <a:pt x="17" y="0"/>
                    </a:moveTo>
                    <a:lnTo>
                      <a:pt x="0" y="6"/>
                    </a:lnTo>
                    <a:lnTo>
                      <a:pt x="48" y="138"/>
                    </a:lnTo>
                    <a:lnTo>
                      <a:pt x="65" y="132"/>
                    </a:lnTo>
                    <a:lnTo>
                      <a:pt x="1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17"/>
              <p:cNvSpPr>
                <a:spLocks/>
              </p:cNvSpPr>
              <p:nvPr/>
            </p:nvSpPr>
            <p:spPr bwMode="auto">
              <a:xfrm>
                <a:off x="2147" y="1315"/>
                <a:ext cx="65" cy="138"/>
              </a:xfrm>
              <a:custGeom>
                <a:avLst/>
                <a:gdLst>
                  <a:gd name="T0" fmla="*/ 17 w 65"/>
                  <a:gd name="T1" fmla="*/ 0 h 138"/>
                  <a:gd name="T2" fmla="*/ 0 w 65"/>
                  <a:gd name="T3" fmla="*/ 6 h 138"/>
                  <a:gd name="T4" fmla="*/ 48 w 65"/>
                  <a:gd name="T5" fmla="*/ 138 h 138"/>
                  <a:gd name="T6" fmla="*/ 65 w 65"/>
                  <a:gd name="T7" fmla="*/ 132 h 138"/>
                  <a:gd name="T8" fmla="*/ 17 w 65"/>
                  <a:gd name="T9" fmla="*/ 0 h 1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138">
                    <a:moveTo>
                      <a:pt x="17" y="0"/>
                    </a:moveTo>
                    <a:lnTo>
                      <a:pt x="0" y="6"/>
                    </a:lnTo>
                    <a:lnTo>
                      <a:pt x="48" y="138"/>
                    </a:lnTo>
                    <a:lnTo>
                      <a:pt x="65" y="132"/>
                    </a:lnTo>
                    <a:lnTo>
                      <a:pt x="1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 name="Group 18"/>
            <p:cNvGrpSpPr>
              <a:grpSpLocks/>
            </p:cNvGrpSpPr>
            <p:nvPr/>
          </p:nvGrpSpPr>
          <p:grpSpPr bwMode="auto">
            <a:xfrm>
              <a:off x="203" y="1303"/>
              <a:ext cx="524" cy="247"/>
              <a:chOff x="203" y="1303"/>
              <a:chExt cx="524" cy="247"/>
            </a:xfrm>
          </p:grpSpPr>
          <p:sp>
            <p:nvSpPr>
              <p:cNvPr id="30" name="Oval 19"/>
              <p:cNvSpPr>
                <a:spLocks noChangeArrowheads="1"/>
              </p:cNvSpPr>
              <p:nvPr/>
            </p:nvSpPr>
            <p:spPr bwMode="auto">
              <a:xfrm>
                <a:off x="409" y="1436"/>
                <a:ext cx="114" cy="114"/>
              </a:xfrm>
              <a:prstGeom prst="ellipse">
                <a:avLst/>
              </a:pr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p>
            </p:txBody>
          </p:sp>
          <p:sp>
            <p:nvSpPr>
              <p:cNvPr id="31" name="Rectangle 20"/>
              <p:cNvSpPr>
                <a:spLocks noChangeArrowheads="1"/>
              </p:cNvSpPr>
              <p:nvPr/>
            </p:nvSpPr>
            <p:spPr bwMode="auto">
              <a:xfrm>
                <a:off x="211" y="1429"/>
                <a:ext cx="516" cy="1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p>
            </p:txBody>
          </p:sp>
          <p:sp>
            <p:nvSpPr>
              <p:cNvPr id="32" name="Freeform 21"/>
              <p:cNvSpPr>
                <a:spLocks/>
              </p:cNvSpPr>
              <p:nvPr/>
            </p:nvSpPr>
            <p:spPr bwMode="auto">
              <a:xfrm>
                <a:off x="203" y="1303"/>
                <a:ext cx="65" cy="138"/>
              </a:xfrm>
              <a:custGeom>
                <a:avLst/>
                <a:gdLst>
                  <a:gd name="T0" fmla="*/ 17 w 65"/>
                  <a:gd name="T1" fmla="*/ 0 h 138"/>
                  <a:gd name="T2" fmla="*/ 0 w 65"/>
                  <a:gd name="T3" fmla="*/ 6 h 138"/>
                  <a:gd name="T4" fmla="*/ 48 w 65"/>
                  <a:gd name="T5" fmla="*/ 138 h 138"/>
                  <a:gd name="T6" fmla="*/ 65 w 65"/>
                  <a:gd name="T7" fmla="*/ 132 h 138"/>
                  <a:gd name="T8" fmla="*/ 17 w 65"/>
                  <a:gd name="T9" fmla="*/ 0 h 1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138">
                    <a:moveTo>
                      <a:pt x="17" y="0"/>
                    </a:moveTo>
                    <a:lnTo>
                      <a:pt x="0" y="6"/>
                    </a:lnTo>
                    <a:lnTo>
                      <a:pt x="48" y="138"/>
                    </a:lnTo>
                    <a:lnTo>
                      <a:pt x="65" y="132"/>
                    </a:lnTo>
                    <a:lnTo>
                      <a:pt x="1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22"/>
              <p:cNvSpPr>
                <a:spLocks/>
              </p:cNvSpPr>
              <p:nvPr/>
            </p:nvSpPr>
            <p:spPr bwMode="auto">
              <a:xfrm>
                <a:off x="287" y="1303"/>
                <a:ext cx="65" cy="138"/>
              </a:xfrm>
              <a:custGeom>
                <a:avLst/>
                <a:gdLst>
                  <a:gd name="T0" fmla="*/ 17 w 65"/>
                  <a:gd name="T1" fmla="*/ 0 h 138"/>
                  <a:gd name="T2" fmla="*/ 0 w 65"/>
                  <a:gd name="T3" fmla="*/ 6 h 138"/>
                  <a:gd name="T4" fmla="*/ 48 w 65"/>
                  <a:gd name="T5" fmla="*/ 138 h 138"/>
                  <a:gd name="T6" fmla="*/ 65 w 65"/>
                  <a:gd name="T7" fmla="*/ 132 h 138"/>
                  <a:gd name="T8" fmla="*/ 17 w 65"/>
                  <a:gd name="T9" fmla="*/ 0 h 1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138">
                    <a:moveTo>
                      <a:pt x="17" y="0"/>
                    </a:moveTo>
                    <a:lnTo>
                      <a:pt x="0" y="6"/>
                    </a:lnTo>
                    <a:lnTo>
                      <a:pt x="48" y="138"/>
                    </a:lnTo>
                    <a:lnTo>
                      <a:pt x="65" y="132"/>
                    </a:lnTo>
                    <a:lnTo>
                      <a:pt x="1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23"/>
              <p:cNvSpPr>
                <a:spLocks/>
              </p:cNvSpPr>
              <p:nvPr/>
            </p:nvSpPr>
            <p:spPr bwMode="auto">
              <a:xfrm>
                <a:off x="371" y="1303"/>
                <a:ext cx="65" cy="138"/>
              </a:xfrm>
              <a:custGeom>
                <a:avLst/>
                <a:gdLst>
                  <a:gd name="T0" fmla="*/ 17 w 65"/>
                  <a:gd name="T1" fmla="*/ 0 h 138"/>
                  <a:gd name="T2" fmla="*/ 0 w 65"/>
                  <a:gd name="T3" fmla="*/ 6 h 138"/>
                  <a:gd name="T4" fmla="*/ 48 w 65"/>
                  <a:gd name="T5" fmla="*/ 138 h 138"/>
                  <a:gd name="T6" fmla="*/ 65 w 65"/>
                  <a:gd name="T7" fmla="*/ 132 h 138"/>
                  <a:gd name="T8" fmla="*/ 17 w 65"/>
                  <a:gd name="T9" fmla="*/ 0 h 1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138">
                    <a:moveTo>
                      <a:pt x="17" y="0"/>
                    </a:moveTo>
                    <a:lnTo>
                      <a:pt x="0" y="6"/>
                    </a:lnTo>
                    <a:lnTo>
                      <a:pt x="48" y="138"/>
                    </a:lnTo>
                    <a:lnTo>
                      <a:pt x="65" y="132"/>
                    </a:lnTo>
                    <a:lnTo>
                      <a:pt x="1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24"/>
              <p:cNvSpPr>
                <a:spLocks/>
              </p:cNvSpPr>
              <p:nvPr/>
            </p:nvSpPr>
            <p:spPr bwMode="auto">
              <a:xfrm>
                <a:off x="455" y="1303"/>
                <a:ext cx="65" cy="138"/>
              </a:xfrm>
              <a:custGeom>
                <a:avLst/>
                <a:gdLst>
                  <a:gd name="T0" fmla="*/ 17 w 65"/>
                  <a:gd name="T1" fmla="*/ 0 h 138"/>
                  <a:gd name="T2" fmla="*/ 0 w 65"/>
                  <a:gd name="T3" fmla="*/ 6 h 138"/>
                  <a:gd name="T4" fmla="*/ 48 w 65"/>
                  <a:gd name="T5" fmla="*/ 138 h 138"/>
                  <a:gd name="T6" fmla="*/ 65 w 65"/>
                  <a:gd name="T7" fmla="*/ 132 h 138"/>
                  <a:gd name="T8" fmla="*/ 17 w 65"/>
                  <a:gd name="T9" fmla="*/ 0 h 1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138">
                    <a:moveTo>
                      <a:pt x="17" y="0"/>
                    </a:moveTo>
                    <a:lnTo>
                      <a:pt x="0" y="6"/>
                    </a:lnTo>
                    <a:lnTo>
                      <a:pt x="48" y="138"/>
                    </a:lnTo>
                    <a:lnTo>
                      <a:pt x="65" y="132"/>
                    </a:lnTo>
                    <a:lnTo>
                      <a:pt x="1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25"/>
              <p:cNvSpPr>
                <a:spLocks/>
              </p:cNvSpPr>
              <p:nvPr/>
            </p:nvSpPr>
            <p:spPr bwMode="auto">
              <a:xfrm>
                <a:off x="539" y="1303"/>
                <a:ext cx="65" cy="138"/>
              </a:xfrm>
              <a:custGeom>
                <a:avLst/>
                <a:gdLst>
                  <a:gd name="T0" fmla="*/ 17 w 65"/>
                  <a:gd name="T1" fmla="*/ 0 h 138"/>
                  <a:gd name="T2" fmla="*/ 0 w 65"/>
                  <a:gd name="T3" fmla="*/ 6 h 138"/>
                  <a:gd name="T4" fmla="*/ 48 w 65"/>
                  <a:gd name="T5" fmla="*/ 138 h 138"/>
                  <a:gd name="T6" fmla="*/ 65 w 65"/>
                  <a:gd name="T7" fmla="*/ 132 h 138"/>
                  <a:gd name="T8" fmla="*/ 17 w 65"/>
                  <a:gd name="T9" fmla="*/ 0 h 1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138">
                    <a:moveTo>
                      <a:pt x="17" y="0"/>
                    </a:moveTo>
                    <a:lnTo>
                      <a:pt x="0" y="6"/>
                    </a:lnTo>
                    <a:lnTo>
                      <a:pt x="48" y="138"/>
                    </a:lnTo>
                    <a:lnTo>
                      <a:pt x="65" y="132"/>
                    </a:lnTo>
                    <a:lnTo>
                      <a:pt x="1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26"/>
              <p:cNvSpPr>
                <a:spLocks/>
              </p:cNvSpPr>
              <p:nvPr/>
            </p:nvSpPr>
            <p:spPr bwMode="auto">
              <a:xfrm>
                <a:off x="635" y="1303"/>
                <a:ext cx="65" cy="138"/>
              </a:xfrm>
              <a:custGeom>
                <a:avLst/>
                <a:gdLst>
                  <a:gd name="T0" fmla="*/ 17 w 65"/>
                  <a:gd name="T1" fmla="*/ 0 h 138"/>
                  <a:gd name="T2" fmla="*/ 0 w 65"/>
                  <a:gd name="T3" fmla="*/ 6 h 138"/>
                  <a:gd name="T4" fmla="*/ 48 w 65"/>
                  <a:gd name="T5" fmla="*/ 138 h 138"/>
                  <a:gd name="T6" fmla="*/ 65 w 65"/>
                  <a:gd name="T7" fmla="*/ 132 h 138"/>
                  <a:gd name="T8" fmla="*/ 17 w 65"/>
                  <a:gd name="T9" fmla="*/ 0 h 1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138">
                    <a:moveTo>
                      <a:pt x="17" y="0"/>
                    </a:moveTo>
                    <a:lnTo>
                      <a:pt x="0" y="6"/>
                    </a:lnTo>
                    <a:lnTo>
                      <a:pt x="48" y="138"/>
                    </a:lnTo>
                    <a:lnTo>
                      <a:pt x="65" y="132"/>
                    </a:lnTo>
                    <a:lnTo>
                      <a:pt x="1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9" name="Freeform 27"/>
            <p:cNvSpPr>
              <a:spLocks/>
            </p:cNvSpPr>
            <p:nvPr/>
          </p:nvSpPr>
          <p:spPr bwMode="auto">
            <a:xfrm>
              <a:off x="455" y="1494"/>
              <a:ext cx="1363" cy="1030"/>
            </a:xfrm>
            <a:custGeom>
              <a:avLst/>
              <a:gdLst>
                <a:gd name="T0" fmla="*/ 7 w 1363"/>
                <a:gd name="T1" fmla="*/ 0 h 1030"/>
                <a:gd name="T2" fmla="*/ 0 w 1363"/>
                <a:gd name="T3" fmla="*/ 10 h 1030"/>
                <a:gd name="T4" fmla="*/ 1356 w 1363"/>
                <a:gd name="T5" fmla="*/ 1030 h 1030"/>
                <a:gd name="T6" fmla="*/ 1363 w 1363"/>
                <a:gd name="T7" fmla="*/ 1020 h 1030"/>
                <a:gd name="T8" fmla="*/ 7 w 1363"/>
                <a:gd name="T9" fmla="*/ 0 h 10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3" h="1030">
                  <a:moveTo>
                    <a:pt x="7" y="0"/>
                  </a:moveTo>
                  <a:lnTo>
                    <a:pt x="0" y="10"/>
                  </a:lnTo>
                  <a:lnTo>
                    <a:pt x="1356" y="1030"/>
                  </a:lnTo>
                  <a:lnTo>
                    <a:pt x="1363" y="1020"/>
                  </a:lnTo>
                  <a:lnTo>
                    <a:pt x="7" y="0"/>
                  </a:lnTo>
                  <a:close/>
                </a:path>
              </a:pathLst>
            </a:custGeom>
            <a:solidFill>
              <a:srgbClr val="000000"/>
            </a:solidFill>
            <a:ln w="19050">
              <a:solidFill>
                <a:schemeClr val="tx1"/>
              </a:solidFill>
              <a:round/>
              <a:headEnd/>
              <a:tailEnd/>
            </a:ln>
          </p:spPr>
          <p:txBody>
            <a:bodyPr/>
            <a:lstStyle/>
            <a:p>
              <a:endParaRPr lang="zh-CN" altLang="en-US"/>
            </a:p>
          </p:txBody>
        </p:sp>
        <p:sp>
          <p:nvSpPr>
            <p:cNvPr id="10" name="Freeform 28"/>
            <p:cNvSpPr>
              <a:spLocks/>
            </p:cNvSpPr>
            <p:nvPr/>
          </p:nvSpPr>
          <p:spPr bwMode="auto">
            <a:xfrm>
              <a:off x="1797" y="1522"/>
              <a:ext cx="191" cy="986"/>
            </a:xfrm>
            <a:custGeom>
              <a:avLst/>
              <a:gdLst>
                <a:gd name="T0" fmla="*/ 191 w 191"/>
                <a:gd name="T1" fmla="*/ 2 h 986"/>
                <a:gd name="T2" fmla="*/ 180 w 191"/>
                <a:gd name="T3" fmla="*/ 0 h 986"/>
                <a:gd name="T4" fmla="*/ 0 w 191"/>
                <a:gd name="T5" fmla="*/ 984 h 986"/>
                <a:gd name="T6" fmla="*/ 11 w 191"/>
                <a:gd name="T7" fmla="*/ 986 h 986"/>
                <a:gd name="T8" fmla="*/ 191 w 191"/>
                <a:gd name="T9" fmla="*/ 2 h 98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1" h="986">
                  <a:moveTo>
                    <a:pt x="191" y="2"/>
                  </a:moveTo>
                  <a:lnTo>
                    <a:pt x="180" y="0"/>
                  </a:lnTo>
                  <a:lnTo>
                    <a:pt x="0" y="984"/>
                  </a:lnTo>
                  <a:lnTo>
                    <a:pt x="11" y="986"/>
                  </a:lnTo>
                  <a:lnTo>
                    <a:pt x="191" y="2"/>
                  </a:lnTo>
                  <a:close/>
                </a:path>
              </a:pathLst>
            </a:custGeom>
            <a:solidFill>
              <a:srgbClr val="000000"/>
            </a:solidFill>
            <a:ln w="19050">
              <a:solidFill>
                <a:schemeClr val="tx1"/>
              </a:solidFill>
              <a:round/>
              <a:headEnd/>
              <a:tailEnd/>
            </a:ln>
          </p:spPr>
          <p:txBody>
            <a:bodyPr/>
            <a:lstStyle/>
            <a:p>
              <a:endParaRPr lang="zh-CN" altLang="en-US"/>
            </a:p>
          </p:txBody>
        </p:sp>
        <p:sp>
          <p:nvSpPr>
            <p:cNvPr id="11" name="Oval 29"/>
            <p:cNvSpPr>
              <a:spLocks noChangeArrowheads="1"/>
            </p:cNvSpPr>
            <p:nvPr/>
          </p:nvSpPr>
          <p:spPr bwMode="auto">
            <a:xfrm>
              <a:off x="1730" y="2435"/>
              <a:ext cx="123" cy="123"/>
            </a:xfrm>
            <a:prstGeom prst="ellipse">
              <a:avLst/>
            </a:prstGeom>
            <a:noFill/>
            <a:ln w="381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p>
          </p:txBody>
        </p:sp>
        <p:grpSp>
          <p:nvGrpSpPr>
            <p:cNvPr id="12" name="Group 30"/>
            <p:cNvGrpSpPr>
              <a:grpSpLocks/>
            </p:cNvGrpSpPr>
            <p:nvPr/>
          </p:nvGrpSpPr>
          <p:grpSpPr bwMode="auto">
            <a:xfrm>
              <a:off x="1779" y="2493"/>
              <a:ext cx="117" cy="422"/>
              <a:chOff x="1779" y="2493"/>
              <a:chExt cx="117" cy="422"/>
            </a:xfrm>
          </p:grpSpPr>
          <p:sp>
            <p:nvSpPr>
              <p:cNvPr id="28" name="Freeform 31"/>
              <p:cNvSpPr>
                <a:spLocks/>
              </p:cNvSpPr>
              <p:nvPr/>
            </p:nvSpPr>
            <p:spPr bwMode="auto">
              <a:xfrm>
                <a:off x="1779" y="2493"/>
                <a:ext cx="77" cy="321"/>
              </a:xfrm>
              <a:custGeom>
                <a:avLst/>
                <a:gdLst>
                  <a:gd name="T0" fmla="*/ 23 w 77"/>
                  <a:gd name="T1" fmla="*/ 0 h 321"/>
                  <a:gd name="T2" fmla="*/ 0 w 77"/>
                  <a:gd name="T3" fmla="*/ 4 h 321"/>
                  <a:gd name="T4" fmla="*/ 54 w 77"/>
                  <a:gd name="T5" fmla="*/ 321 h 321"/>
                  <a:gd name="T6" fmla="*/ 77 w 77"/>
                  <a:gd name="T7" fmla="*/ 317 h 321"/>
                  <a:gd name="T8" fmla="*/ 23 w 77"/>
                  <a:gd name="T9" fmla="*/ 0 h 32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7" h="321">
                    <a:moveTo>
                      <a:pt x="23" y="0"/>
                    </a:moveTo>
                    <a:lnTo>
                      <a:pt x="0" y="4"/>
                    </a:lnTo>
                    <a:lnTo>
                      <a:pt x="54" y="321"/>
                    </a:lnTo>
                    <a:lnTo>
                      <a:pt x="77" y="317"/>
                    </a:lnTo>
                    <a:lnTo>
                      <a:pt x="2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32"/>
              <p:cNvSpPr>
                <a:spLocks/>
              </p:cNvSpPr>
              <p:nvPr/>
            </p:nvSpPr>
            <p:spPr bwMode="auto">
              <a:xfrm>
                <a:off x="1791" y="2801"/>
                <a:ext cx="105" cy="114"/>
              </a:xfrm>
              <a:custGeom>
                <a:avLst/>
                <a:gdLst>
                  <a:gd name="T0" fmla="*/ 0 w 105"/>
                  <a:gd name="T1" fmla="*/ 18 h 114"/>
                  <a:gd name="T2" fmla="*/ 71 w 105"/>
                  <a:gd name="T3" fmla="*/ 114 h 114"/>
                  <a:gd name="T4" fmla="*/ 105 w 105"/>
                  <a:gd name="T5" fmla="*/ 0 h 114"/>
                  <a:gd name="T6" fmla="*/ 0 w 105"/>
                  <a:gd name="T7" fmla="*/ 18 h 1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5" h="114">
                    <a:moveTo>
                      <a:pt x="0" y="18"/>
                    </a:moveTo>
                    <a:lnTo>
                      <a:pt x="71" y="114"/>
                    </a:lnTo>
                    <a:lnTo>
                      <a:pt x="105" y="0"/>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3" name="Rectangle 33"/>
            <p:cNvSpPr>
              <a:spLocks noChangeArrowheads="1"/>
            </p:cNvSpPr>
            <p:nvPr/>
          </p:nvSpPr>
          <p:spPr bwMode="auto">
            <a:xfrm>
              <a:off x="1668" y="1690"/>
              <a:ext cx="292"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p>
          </p:txBody>
        </p:sp>
        <p:sp>
          <p:nvSpPr>
            <p:cNvPr id="14" name="Rectangle 34"/>
            <p:cNvSpPr>
              <a:spLocks noChangeArrowheads="1"/>
            </p:cNvSpPr>
            <p:nvPr/>
          </p:nvSpPr>
          <p:spPr bwMode="auto">
            <a:xfrm>
              <a:off x="1726" y="1730"/>
              <a:ext cx="122"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50000"/>
                </a:spcBef>
                <a:buFontTx/>
                <a:buNone/>
              </a:pPr>
              <a:r>
                <a:rPr kumimoji="1" lang="en-US" altLang="zh-CN" sz="2400" b="1">
                  <a:solidFill>
                    <a:srgbClr val="000000"/>
                  </a:solidFill>
                  <a:latin typeface="Garamond" pitchFamily="18" charset="0"/>
                </a:rPr>
                <a:t>L</a:t>
              </a:r>
              <a:endParaRPr kumimoji="1" lang="en-US" altLang="zh-CN" sz="2400">
                <a:solidFill>
                  <a:srgbClr val="000000"/>
                </a:solidFill>
                <a:latin typeface="宋体" pitchFamily="2" charset="-122"/>
              </a:endParaRPr>
            </a:p>
          </p:txBody>
        </p:sp>
        <p:sp>
          <p:nvSpPr>
            <p:cNvPr id="15" name="Rectangle 35"/>
            <p:cNvSpPr>
              <a:spLocks noChangeArrowheads="1"/>
            </p:cNvSpPr>
            <p:nvPr/>
          </p:nvSpPr>
          <p:spPr bwMode="auto">
            <a:xfrm>
              <a:off x="1848" y="1798"/>
              <a:ext cx="5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50000"/>
                </a:spcBef>
                <a:buFontTx/>
                <a:buNone/>
              </a:pPr>
              <a:r>
                <a:rPr kumimoji="1" lang="en-US" altLang="zh-CN" sz="1400" b="1">
                  <a:solidFill>
                    <a:srgbClr val="000000"/>
                  </a:solidFill>
                  <a:latin typeface="Garamond" pitchFamily="18" charset="0"/>
                </a:rPr>
                <a:t>2</a:t>
              </a:r>
              <a:endParaRPr kumimoji="1" lang="en-US" altLang="zh-CN" sz="2400">
                <a:solidFill>
                  <a:srgbClr val="000000"/>
                </a:solidFill>
                <a:latin typeface="宋体" pitchFamily="2" charset="-122"/>
              </a:endParaRPr>
            </a:p>
          </p:txBody>
        </p:sp>
        <p:sp>
          <p:nvSpPr>
            <p:cNvPr id="16" name="Rectangle 36"/>
            <p:cNvSpPr>
              <a:spLocks noChangeArrowheads="1"/>
            </p:cNvSpPr>
            <p:nvPr/>
          </p:nvSpPr>
          <p:spPr bwMode="auto">
            <a:xfrm>
              <a:off x="228" y="1450"/>
              <a:ext cx="243"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p>
          </p:txBody>
        </p:sp>
        <p:sp>
          <p:nvSpPr>
            <p:cNvPr id="17" name="Rectangle 37"/>
            <p:cNvSpPr>
              <a:spLocks noChangeArrowheads="1"/>
            </p:cNvSpPr>
            <p:nvPr/>
          </p:nvSpPr>
          <p:spPr bwMode="auto">
            <a:xfrm>
              <a:off x="286" y="1490"/>
              <a:ext cx="12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50000"/>
                </a:spcBef>
                <a:buFontTx/>
                <a:buNone/>
              </a:pPr>
              <a:r>
                <a:rPr kumimoji="1" lang="en-US" altLang="zh-CN" sz="2400" b="1">
                  <a:solidFill>
                    <a:srgbClr val="000000"/>
                  </a:solidFill>
                  <a:latin typeface="Garamond" pitchFamily="18" charset="0"/>
                </a:rPr>
                <a:t>A</a:t>
              </a:r>
              <a:endParaRPr kumimoji="1" lang="en-US" altLang="zh-CN" sz="2400">
                <a:solidFill>
                  <a:srgbClr val="000000"/>
                </a:solidFill>
                <a:latin typeface="宋体" pitchFamily="2" charset="-122"/>
              </a:endParaRPr>
            </a:p>
          </p:txBody>
        </p:sp>
        <p:sp>
          <p:nvSpPr>
            <p:cNvPr id="18" name="Rectangle 38"/>
            <p:cNvSpPr>
              <a:spLocks noChangeArrowheads="1"/>
            </p:cNvSpPr>
            <p:nvPr/>
          </p:nvSpPr>
          <p:spPr bwMode="auto">
            <a:xfrm>
              <a:off x="2002" y="1426"/>
              <a:ext cx="247"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p>
          </p:txBody>
        </p:sp>
        <p:sp>
          <p:nvSpPr>
            <p:cNvPr id="19" name="Rectangle 39"/>
            <p:cNvSpPr>
              <a:spLocks noChangeArrowheads="1"/>
            </p:cNvSpPr>
            <p:nvPr/>
          </p:nvSpPr>
          <p:spPr bwMode="auto">
            <a:xfrm>
              <a:off x="2060" y="1466"/>
              <a:ext cx="13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50000"/>
                </a:spcBef>
                <a:buFontTx/>
                <a:buNone/>
              </a:pPr>
              <a:r>
                <a:rPr kumimoji="1" lang="en-US" altLang="zh-CN" sz="2400" b="1">
                  <a:solidFill>
                    <a:srgbClr val="000000"/>
                  </a:solidFill>
                  <a:latin typeface="Garamond" pitchFamily="18" charset="0"/>
                </a:rPr>
                <a:t>B</a:t>
              </a:r>
              <a:endParaRPr kumimoji="1" lang="en-US" altLang="zh-CN" sz="2400">
                <a:solidFill>
                  <a:srgbClr val="000000"/>
                </a:solidFill>
                <a:latin typeface="宋体" pitchFamily="2" charset="-122"/>
              </a:endParaRPr>
            </a:p>
          </p:txBody>
        </p:sp>
        <p:sp>
          <p:nvSpPr>
            <p:cNvPr id="20" name="Rectangle 40"/>
            <p:cNvSpPr>
              <a:spLocks noChangeArrowheads="1"/>
            </p:cNvSpPr>
            <p:nvPr/>
          </p:nvSpPr>
          <p:spPr bwMode="auto">
            <a:xfrm>
              <a:off x="892" y="1510"/>
              <a:ext cx="283"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p>
          </p:txBody>
        </p:sp>
        <p:sp>
          <p:nvSpPr>
            <p:cNvPr id="21" name="Rectangle 41"/>
            <p:cNvSpPr>
              <a:spLocks noChangeArrowheads="1"/>
            </p:cNvSpPr>
            <p:nvPr/>
          </p:nvSpPr>
          <p:spPr bwMode="auto">
            <a:xfrm>
              <a:off x="950" y="1550"/>
              <a:ext cx="122"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50000"/>
                </a:spcBef>
                <a:buFontTx/>
                <a:buNone/>
              </a:pPr>
              <a:r>
                <a:rPr kumimoji="1" lang="en-US" altLang="zh-CN" sz="2400" b="1">
                  <a:solidFill>
                    <a:srgbClr val="000000"/>
                  </a:solidFill>
                  <a:latin typeface="Garamond" pitchFamily="18" charset="0"/>
                </a:rPr>
                <a:t>L</a:t>
              </a:r>
              <a:endParaRPr kumimoji="1" lang="en-US" altLang="zh-CN" sz="2400">
                <a:solidFill>
                  <a:srgbClr val="000000"/>
                </a:solidFill>
                <a:latin typeface="宋体" pitchFamily="2" charset="-122"/>
              </a:endParaRPr>
            </a:p>
          </p:txBody>
        </p:sp>
        <p:sp>
          <p:nvSpPr>
            <p:cNvPr id="22" name="Rectangle 42"/>
            <p:cNvSpPr>
              <a:spLocks noChangeArrowheads="1"/>
            </p:cNvSpPr>
            <p:nvPr/>
          </p:nvSpPr>
          <p:spPr bwMode="auto">
            <a:xfrm>
              <a:off x="1072" y="1618"/>
              <a:ext cx="4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50000"/>
                </a:spcBef>
                <a:buFontTx/>
                <a:buNone/>
              </a:pPr>
              <a:r>
                <a:rPr kumimoji="1" lang="en-US" altLang="zh-CN" sz="1400" b="1">
                  <a:solidFill>
                    <a:srgbClr val="000000"/>
                  </a:solidFill>
                  <a:latin typeface="Garamond" pitchFamily="18" charset="0"/>
                </a:rPr>
                <a:t>1</a:t>
              </a:r>
              <a:endParaRPr kumimoji="1" lang="en-US" altLang="zh-CN" sz="2400">
                <a:solidFill>
                  <a:srgbClr val="000000"/>
                </a:solidFill>
                <a:latin typeface="宋体" pitchFamily="2" charset="-122"/>
              </a:endParaRPr>
            </a:p>
          </p:txBody>
        </p:sp>
        <p:sp>
          <p:nvSpPr>
            <p:cNvPr id="23" name="Rectangle 43"/>
            <p:cNvSpPr>
              <a:spLocks noChangeArrowheads="1"/>
            </p:cNvSpPr>
            <p:nvPr/>
          </p:nvSpPr>
          <p:spPr bwMode="auto">
            <a:xfrm>
              <a:off x="1582" y="2122"/>
              <a:ext cx="247"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p>
          </p:txBody>
        </p:sp>
        <p:sp>
          <p:nvSpPr>
            <p:cNvPr id="24" name="Rectangle 44"/>
            <p:cNvSpPr>
              <a:spLocks noChangeArrowheads="1"/>
            </p:cNvSpPr>
            <p:nvPr/>
          </p:nvSpPr>
          <p:spPr bwMode="auto">
            <a:xfrm>
              <a:off x="1640" y="2162"/>
              <a:ext cx="13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50000"/>
                </a:spcBef>
                <a:buFontTx/>
                <a:buNone/>
              </a:pPr>
              <a:r>
                <a:rPr kumimoji="1" lang="en-US" altLang="zh-CN" sz="2400" b="1">
                  <a:solidFill>
                    <a:srgbClr val="000000"/>
                  </a:solidFill>
                  <a:latin typeface="Garamond" pitchFamily="18" charset="0"/>
                </a:rPr>
                <a:t>C</a:t>
              </a:r>
              <a:endParaRPr kumimoji="1" lang="en-US" altLang="zh-CN" sz="2400">
                <a:solidFill>
                  <a:srgbClr val="000000"/>
                </a:solidFill>
                <a:latin typeface="宋体" pitchFamily="2" charset="-122"/>
              </a:endParaRPr>
            </a:p>
          </p:txBody>
        </p:sp>
        <p:sp>
          <p:nvSpPr>
            <p:cNvPr id="25" name="Rectangle 45"/>
            <p:cNvSpPr>
              <a:spLocks noChangeArrowheads="1"/>
            </p:cNvSpPr>
            <p:nvPr/>
          </p:nvSpPr>
          <p:spPr bwMode="auto">
            <a:xfrm>
              <a:off x="1588" y="2686"/>
              <a:ext cx="235"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p>
          </p:txBody>
        </p:sp>
        <p:sp>
          <p:nvSpPr>
            <p:cNvPr id="26" name="Rectangle 46"/>
            <p:cNvSpPr>
              <a:spLocks noChangeArrowheads="1"/>
            </p:cNvSpPr>
            <p:nvPr/>
          </p:nvSpPr>
          <p:spPr bwMode="auto">
            <a:xfrm>
              <a:off x="1920" y="2842"/>
              <a:ext cx="9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50000"/>
                </a:spcBef>
                <a:buFontTx/>
                <a:buNone/>
              </a:pPr>
              <a:r>
                <a:rPr kumimoji="1" lang="en-US" altLang="zh-CN" sz="2400" b="1">
                  <a:solidFill>
                    <a:srgbClr val="000000"/>
                  </a:solidFill>
                  <a:latin typeface="宋体" pitchFamily="2" charset="-122"/>
                </a:rPr>
                <a:t>F</a:t>
              </a:r>
              <a:endParaRPr kumimoji="1" lang="en-US" altLang="zh-CN" sz="2400">
                <a:solidFill>
                  <a:srgbClr val="000000"/>
                </a:solidFill>
                <a:latin typeface="宋体" pitchFamily="2" charset="-122"/>
              </a:endParaRPr>
            </a:p>
          </p:txBody>
        </p:sp>
        <p:sp>
          <p:nvSpPr>
            <p:cNvPr id="27" name="Text Box 47"/>
            <p:cNvSpPr txBox="1">
              <a:spLocks noChangeArrowheads="1"/>
            </p:cNvSpPr>
            <p:nvPr/>
          </p:nvSpPr>
          <p:spPr bwMode="auto">
            <a:xfrm>
              <a:off x="566" y="2448"/>
              <a:ext cx="11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accent2"/>
                  </a:solidFill>
                  <a:prstDash val="dashDot"/>
                  <a:miter lim="800000"/>
                  <a:headEnd/>
                  <a:tailEnd/>
                </a14:hiddenLine>
              </a:ext>
              <a:ext uri="{AF507438-7753-43E0-B8FC-AC1667EBCBE1}">
                <a14:hiddenEffects xmlns:a14="http://schemas.microsoft.com/office/drawing/2010/main">
                  <a:effectLst>
                    <a:outerShdw dist="35921" dir="2700000" algn="ctr" rotWithShape="0">
                      <a:srgbClr val="990000"/>
                    </a:outerShdw>
                  </a:effectLst>
                </a14:hiddenEffects>
              </a:ext>
            </a:extLst>
          </p:spPr>
          <p:txBody>
            <a:bodyPr wrap="none"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lgn="ctr" eaLnBrk="1" hangingPunct="1">
                <a:spcBef>
                  <a:spcPct val="50000"/>
                </a:spcBef>
                <a:buFontTx/>
                <a:buNone/>
              </a:pPr>
              <a:endParaRPr kumimoji="1" lang="zh-CN" altLang="zh-CN" sz="2400">
                <a:solidFill>
                  <a:srgbClr val="000000"/>
                </a:solidFill>
                <a:latin typeface="宋体" pitchFamily="2" charset="-122"/>
              </a:endParaRPr>
            </a:p>
          </p:txBody>
        </p:sp>
      </p:grpSp>
      <p:grpSp>
        <p:nvGrpSpPr>
          <p:cNvPr id="46" name="Group 98"/>
          <p:cNvGrpSpPr>
            <a:grpSpLocks/>
          </p:cNvGrpSpPr>
          <p:nvPr/>
        </p:nvGrpSpPr>
        <p:grpSpPr bwMode="auto">
          <a:xfrm>
            <a:off x="2707134" y="3227735"/>
            <a:ext cx="1325562" cy="889000"/>
            <a:chOff x="2699" y="3521"/>
            <a:chExt cx="835" cy="560"/>
          </a:xfrm>
        </p:grpSpPr>
        <p:graphicFrame>
          <p:nvGraphicFramePr>
            <p:cNvPr id="47" name="Object 67"/>
            <p:cNvGraphicFramePr>
              <a:graphicFrameLocks noChangeAspect="1"/>
            </p:cNvGraphicFramePr>
            <p:nvPr/>
          </p:nvGraphicFramePr>
          <p:xfrm>
            <a:off x="3334" y="3838"/>
            <a:ext cx="200" cy="243"/>
          </p:xfrm>
          <a:graphic>
            <a:graphicData uri="http://schemas.openxmlformats.org/presentationml/2006/ole">
              <mc:AlternateContent xmlns:mc="http://schemas.openxmlformats.org/markup-compatibility/2006">
                <mc:Choice xmlns:v="urn:schemas-microsoft-com:vml" Requires="v">
                  <p:oleObj name="Equation" r:id="rId2" imgW="177569" imgH="215619" progId="">
                    <p:embed/>
                  </p:oleObj>
                </mc:Choice>
                <mc:Fallback>
                  <p:oleObj name="Equation" r:id="rId2" imgW="177569" imgH="215619" progId="">
                    <p:embed/>
                    <p:pic>
                      <p:nvPicPr>
                        <p:cNvPr id="0" name="Picture 14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34" y="3838"/>
                          <a:ext cx="200"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FF"/>
                              </a:solidFill>
                              <a:prstDash val="sysDot"/>
                              <a:miter lim="800000"/>
                              <a:headEnd/>
                              <a:tailEnd/>
                            </a14:hiddenLine>
                          </a:ext>
                        </a:extLst>
                      </p:spPr>
                    </p:pic>
                  </p:oleObj>
                </mc:Fallback>
              </mc:AlternateContent>
            </a:graphicData>
          </a:graphic>
        </p:graphicFrame>
        <p:sp>
          <p:nvSpPr>
            <p:cNvPr id="48" name="Line 69"/>
            <p:cNvSpPr>
              <a:spLocks noChangeShapeType="1"/>
            </p:cNvSpPr>
            <p:nvPr/>
          </p:nvSpPr>
          <p:spPr bwMode="auto">
            <a:xfrm>
              <a:off x="2699" y="3612"/>
              <a:ext cx="576" cy="432"/>
            </a:xfrm>
            <a:prstGeom prst="line">
              <a:avLst/>
            </a:prstGeom>
            <a:noFill/>
            <a:ln w="28575" cap="rnd">
              <a:solidFill>
                <a:srgbClr val="0000FF"/>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9" name="Object 70"/>
            <p:cNvGraphicFramePr>
              <a:graphicFrameLocks noChangeAspect="1"/>
            </p:cNvGraphicFramePr>
            <p:nvPr/>
          </p:nvGraphicFramePr>
          <p:xfrm>
            <a:off x="2995" y="3521"/>
            <a:ext cx="272" cy="272"/>
          </p:xfrm>
          <a:graphic>
            <a:graphicData uri="http://schemas.openxmlformats.org/presentationml/2006/ole">
              <mc:AlternateContent xmlns:mc="http://schemas.openxmlformats.org/markup-compatibility/2006">
                <mc:Choice xmlns:v="urn:schemas-microsoft-com:vml" Requires="v">
                  <p:oleObj name="公式" r:id="rId4" imgW="215619" imgH="215619" progId="">
                    <p:embed/>
                  </p:oleObj>
                </mc:Choice>
                <mc:Fallback>
                  <p:oleObj name="公式" r:id="rId4" imgW="215619" imgH="215619" progId="">
                    <p:embed/>
                    <p:pic>
                      <p:nvPicPr>
                        <p:cNvPr id="0" name="Picture 14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95" y="3521"/>
                          <a:ext cx="272"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FF"/>
                              </a:solidFill>
                              <a:prstDash val="sysDot"/>
                              <a:miter lim="800000"/>
                              <a:headEnd/>
                              <a:tailEnd/>
                            </a14:hiddenLine>
                          </a:ext>
                        </a:extLst>
                      </p:spPr>
                    </p:pic>
                  </p:oleObj>
                </mc:Fallback>
              </mc:AlternateContent>
            </a:graphicData>
          </a:graphic>
        </p:graphicFrame>
      </p:grpSp>
      <p:grpSp>
        <p:nvGrpSpPr>
          <p:cNvPr id="50" name="Group 99"/>
          <p:cNvGrpSpPr>
            <a:grpSpLocks/>
          </p:cNvGrpSpPr>
          <p:nvPr/>
        </p:nvGrpSpPr>
        <p:grpSpPr bwMode="auto">
          <a:xfrm>
            <a:off x="2127696" y="3342035"/>
            <a:ext cx="622300" cy="1370013"/>
            <a:chOff x="2269" y="3294"/>
            <a:chExt cx="392" cy="863"/>
          </a:xfrm>
        </p:grpSpPr>
        <p:graphicFrame>
          <p:nvGraphicFramePr>
            <p:cNvPr id="51" name="Object 73"/>
            <p:cNvGraphicFramePr>
              <a:graphicFrameLocks noChangeAspect="1"/>
            </p:cNvGraphicFramePr>
            <p:nvPr/>
          </p:nvGraphicFramePr>
          <p:xfrm>
            <a:off x="2290" y="3914"/>
            <a:ext cx="214" cy="243"/>
          </p:xfrm>
          <a:graphic>
            <a:graphicData uri="http://schemas.openxmlformats.org/presentationml/2006/ole">
              <mc:AlternateContent xmlns:mc="http://schemas.openxmlformats.org/markup-compatibility/2006">
                <mc:Choice xmlns:v="urn:schemas-microsoft-com:vml" Requires="v">
                  <p:oleObj name="Equation" r:id="rId6" imgW="190335" imgH="215713" progId="">
                    <p:embed/>
                  </p:oleObj>
                </mc:Choice>
                <mc:Fallback>
                  <p:oleObj name="Equation" r:id="rId6" imgW="190335" imgH="215713" progId="">
                    <p:embed/>
                    <p:pic>
                      <p:nvPicPr>
                        <p:cNvPr id="0" name="Picture 14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90" y="3914"/>
                          <a:ext cx="214"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FF"/>
                              </a:solidFill>
                              <a:prstDash val="sysDot"/>
                              <a:miter lim="800000"/>
                              <a:headEnd/>
                              <a:tailEnd/>
                            </a14:hiddenLine>
                          </a:ext>
                        </a:extLst>
                      </p:spPr>
                    </p:pic>
                  </p:oleObj>
                </mc:Fallback>
              </mc:AlternateContent>
            </a:graphicData>
          </a:graphic>
        </p:graphicFrame>
        <p:sp>
          <p:nvSpPr>
            <p:cNvPr id="52" name="Line 75"/>
            <p:cNvSpPr>
              <a:spLocks noChangeShapeType="1"/>
            </p:cNvSpPr>
            <p:nvPr/>
          </p:nvSpPr>
          <p:spPr bwMode="auto">
            <a:xfrm flipH="1">
              <a:off x="2517" y="3294"/>
              <a:ext cx="144" cy="816"/>
            </a:xfrm>
            <a:prstGeom prst="line">
              <a:avLst/>
            </a:prstGeom>
            <a:noFill/>
            <a:ln w="28575" cap="rnd">
              <a:solidFill>
                <a:srgbClr val="0000FF"/>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53" name="Object 76"/>
            <p:cNvGraphicFramePr>
              <a:graphicFrameLocks noChangeAspect="1"/>
            </p:cNvGraphicFramePr>
            <p:nvPr/>
          </p:nvGraphicFramePr>
          <p:xfrm>
            <a:off x="2269" y="3430"/>
            <a:ext cx="288" cy="272"/>
          </p:xfrm>
          <a:graphic>
            <a:graphicData uri="http://schemas.openxmlformats.org/presentationml/2006/ole">
              <mc:AlternateContent xmlns:mc="http://schemas.openxmlformats.org/markup-compatibility/2006">
                <mc:Choice xmlns:v="urn:schemas-microsoft-com:vml" Requires="v">
                  <p:oleObj name="公式" r:id="rId8" imgW="228501" imgH="215806" progId="">
                    <p:embed/>
                  </p:oleObj>
                </mc:Choice>
                <mc:Fallback>
                  <p:oleObj name="公式" r:id="rId8" imgW="228501" imgH="215806" progId="">
                    <p:embed/>
                    <p:pic>
                      <p:nvPicPr>
                        <p:cNvPr id="0" name="Picture 14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69" y="3430"/>
                          <a:ext cx="288"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FF"/>
                              </a:solidFill>
                              <a:prstDash val="sysDot"/>
                              <a:miter lim="800000"/>
                              <a:headEnd/>
                              <a:tailEnd/>
                            </a14:hiddenLine>
                          </a:ext>
                        </a:extLst>
                      </p:spPr>
                    </p:pic>
                  </p:oleObj>
                </mc:Fallback>
              </mc:AlternateContent>
            </a:graphicData>
          </a:graphic>
        </p:graphicFrame>
      </p:grpSp>
      <p:sp>
        <p:nvSpPr>
          <p:cNvPr id="54" name="Freeform 77"/>
          <p:cNvSpPr>
            <a:spLocks/>
          </p:cNvSpPr>
          <p:nvPr/>
        </p:nvSpPr>
        <p:spPr bwMode="auto">
          <a:xfrm>
            <a:off x="2411859" y="3951635"/>
            <a:ext cx="1295400" cy="1447800"/>
          </a:xfrm>
          <a:custGeom>
            <a:avLst/>
            <a:gdLst>
              <a:gd name="T0" fmla="*/ 2056447500 w 816"/>
              <a:gd name="T1" fmla="*/ 0 h 912"/>
              <a:gd name="T2" fmla="*/ 1088707500 w 816"/>
              <a:gd name="T3" fmla="*/ 1451610000 h 912"/>
              <a:gd name="T4" fmla="*/ 0 w 816"/>
              <a:gd name="T5" fmla="*/ 2147483647 h 912"/>
              <a:gd name="T6" fmla="*/ 0 60000 65536"/>
              <a:gd name="T7" fmla="*/ 0 60000 65536"/>
              <a:gd name="T8" fmla="*/ 0 60000 65536"/>
            </a:gdLst>
            <a:ahLst/>
            <a:cxnLst>
              <a:cxn ang="T6">
                <a:pos x="T0" y="T1"/>
              </a:cxn>
              <a:cxn ang="T7">
                <a:pos x="T2" y="T3"/>
              </a:cxn>
              <a:cxn ang="T8">
                <a:pos x="T4" y="T5"/>
              </a:cxn>
            </a:cxnLst>
            <a:rect l="0" t="0" r="r" b="b"/>
            <a:pathLst>
              <a:path w="816" h="912">
                <a:moveTo>
                  <a:pt x="816" y="0"/>
                </a:moveTo>
                <a:cubicBezTo>
                  <a:pt x="692" y="212"/>
                  <a:pt x="568" y="424"/>
                  <a:pt x="432" y="576"/>
                </a:cubicBezTo>
                <a:cubicBezTo>
                  <a:pt x="296" y="728"/>
                  <a:pt x="148" y="820"/>
                  <a:pt x="0" y="912"/>
                </a:cubicBezTo>
              </a:path>
            </a:pathLst>
          </a:custGeom>
          <a:noFill/>
          <a:ln w="19050" cap="flat" cmpd="sng">
            <a:solidFill>
              <a:schemeClr val="tx1"/>
            </a:solidFill>
            <a:prstDash val="dash"/>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 name="Freeform 78"/>
          <p:cNvSpPr>
            <a:spLocks/>
          </p:cNvSpPr>
          <p:nvPr/>
        </p:nvSpPr>
        <p:spPr bwMode="auto">
          <a:xfrm>
            <a:off x="1892746" y="4446935"/>
            <a:ext cx="1905000" cy="457200"/>
          </a:xfrm>
          <a:custGeom>
            <a:avLst/>
            <a:gdLst>
              <a:gd name="T0" fmla="*/ 0 w 1200"/>
              <a:gd name="T1" fmla="*/ 0 h 288"/>
              <a:gd name="T2" fmla="*/ 1451610000 w 1200"/>
              <a:gd name="T3" fmla="*/ 483870000 h 288"/>
              <a:gd name="T4" fmla="*/ 2147483647 w 1200"/>
              <a:gd name="T5" fmla="*/ 725805000 h 288"/>
              <a:gd name="T6" fmla="*/ 0 60000 65536"/>
              <a:gd name="T7" fmla="*/ 0 60000 65536"/>
              <a:gd name="T8" fmla="*/ 0 60000 65536"/>
            </a:gdLst>
            <a:ahLst/>
            <a:cxnLst>
              <a:cxn ang="T6">
                <a:pos x="T0" y="T1"/>
              </a:cxn>
              <a:cxn ang="T7">
                <a:pos x="T2" y="T3"/>
              </a:cxn>
              <a:cxn ang="T8">
                <a:pos x="T4" y="T5"/>
              </a:cxn>
            </a:cxnLst>
            <a:rect l="0" t="0" r="r" b="b"/>
            <a:pathLst>
              <a:path w="1200" h="288">
                <a:moveTo>
                  <a:pt x="0" y="0"/>
                </a:moveTo>
                <a:cubicBezTo>
                  <a:pt x="188" y="72"/>
                  <a:pt x="376" y="144"/>
                  <a:pt x="576" y="192"/>
                </a:cubicBezTo>
                <a:cubicBezTo>
                  <a:pt x="776" y="240"/>
                  <a:pt x="988" y="264"/>
                  <a:pt x="1200" y="288"/>
                </a:cubicBezTo>
              </a:path>
            </a:pathLst>
          </a:custGeom>
          <a:noFill/>
          <a:ln w="19050" cap="flat" cmpd="sng">
            <a:solidFill>
              <a:schemeClr val="tx1"/>
            </a:solidFill>
            <a:prstDash val="dash"/>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56" name="Object 79"/>
          <p:cNvGraphicFramePr>
            <a:graphicFrameLocks noChangeAspect="1"/>
          </p:cNvGraphicFramePr>
          <p:nvPr>
            <p:extLst>
              <p:ext uri="{D42A27DB-BD31-4B8C-83A1-F6EECF244321}">
                <p14:modId xmlns:p14="http://schemas.microsoft.com/office/powerpoint/2010/main" val="4038312559"/>
              </p:ext>
            </p:extLst>
          </p:nvPr>
        </p:nvGraphicFramePr>
        <p:xfrm>
          <a:off x="3072259" y="5005735"/>
          <a:ext cx="363537" cy="363538"/>
        </p:xfrm>
        <a:graphic>
          <a:graphicData uri="http://schemas.openxmlformats.org/presentationml/2006/ole">
            <mc:AlternateContent xmlns:mc="http://schemas.openxmlformats.org/markup-compatibility/2006">
              <mc:Choice xmlns:v="urn:schemas-microsoft-com:vml" Requires="v">
                <p:oleObj name="Equation" r:id="rId10" imgW="203024" imgH="203024" progId="">
                  <p:embed/>
                </p:oleObj>
              </mc:Choice>
              <mc:Fallback>
                <p:oleObj name="Equation" r:id="rId10" imgW="203024" imgH="203024" progId="">
                  <p:embed/>
                  <p:pic>
                    <p:nvPicPr>
                      <p:cNvPr id="0" name="Picture 14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072259" y="5005735"/>
                        <a:ext cx="363537" cy="3635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7" name="Oval 80"/>
          <p:cNvSpPr>
            <a:spLocks noChangeArrowheads="1"/>
          </p:cNvSpPr>
          <p:nvPr/>
        </p:nvSpPr>
        <p:spPr bwMode="auto">
          <a:xfrm>
            <a:off x="3050034" y="4737448"/>
            <a:ext cx="152400" cy="152400"/>
          </a:xfrm>
          <a:prstGeom prst="ellipse">
            <a:avLst/>
          </a:prstGeom>
          <a:solidFill>
            <a:srgbClr val="FF0066"/>
          </a:solidFill>
          <a:ln w="12700">
            <a:solidFill>
              <a:srgbClr val="FF006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p>
        </p:txBody>
      </p:sp>
      <p:grpSp>
        <p:nvGrpSpPr>
          <p:cNvPr id="58" name="Group 81"/>
          <p:cNvGrpSpPr>
            <a:grpSpLocks/>
          </p:cNvGrpSpPr>
          <p:nvPr/>
        </p:nvGrpSpPr>
        <p:grpSpPr bwMode="auto">
          <a:xfrm>
            <a:off x="2540446" y="4451698"/>
            <a:ext cx="609600" cy="309562"/>
            <a:chOff x="1674" y="3162"/>
            <a:chExt cx="384" cy="195"/>
          </a:xfrm>
        </p:grpSpPr>
        <p:sp>
          <p:nvSpPr>
            <p:cNvPr id="59" name="Line 82"/>
            <p:cNvSpPr>
              <a:spLocks noChangeShapeType="1"/>
            </p:cNvSpPr>
            <p:nvPr/>
          </p:nvSpPr>
          <p:spPr bwMode="auto">
            <a:xfrm rot="155087">
              <a:off x="1674" y="3309"/>
              <a:ext cx="384" cy="48"/>
            </a:xfrm>
            <a:prstGeom prst="line">
              <a:avLst/>
            </a:prstGeom>
            <a:noFill/>
            <a:ln w="28575">
              <a:solidFill>
                <a:srgbClr val="FF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 name="Rectangle 83"/>
            <p:cNvSpPr>
              <a:spLocks noChangeArrowheads="1"/>
            </p:cNvSpPr>
            <p:nvPr/>
          </p:nvSpPr>
          <p:spPr bwMode="auto">
            <a:xfrm rot="819025">
              <a:off x="1680" y="3162"/>
              <a:ext cx="144" cy="144"/>
            </a:xfrm>
            <a:prstGeom prst="rect">
              <a:avLst/>
            </a:prstGeom>
            <a:noFill/>
            <a:ln w="12700">
              <a:solidFill>
                <a:srgbClr val="FF0066"/>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p>
          </p:txBody>
        </p:sp>
      </p:grpSp>
      <p:grpSp>
        <p:nvGrpSpPr>
          <p:cNvPr id="61" name="Group 84"/>
          <p:cNvGrpSpPr>
            <a:grpSpLocks/>
          </p:cNvGrpSpPr>
          <p:nvPr/>
        </p:nvGrpSpPr>
        <p:grpSpPr bwMode="auto">
          <a:xfrm>
            <a:off x="3083371" y="3999260"/>
            <a:ext cx="533400" cy="842963"/>
            <a:chOff x="2016" y="2877"/>
            <a:chExt cx="336" cy="531"/>
          </a:xfrm>
        </p:grpSpPr>
        <p:sp>
          <p:nvSpPr>
            <p:cNvPr id="62" name="Line 85"/>
            <p:cNvSpPr>
              <a:spLocks noChangeShapeType="1"/>
            </p:cNvSpPr>
            <p:nvPr/>
          </p:nvSpPr>
          <p:spPr bwMode="auto">
            <a:xfrm flipH="1">
              <a:off x="2016" y="2928"/>
              <a:ext cx="336" cy="480"/>
            </a:xfrm>
            <a:prstGeom prst="line">
              <a:avLst/>
            </a:prstGeom>
            <a:noFill/>
            <a:ln w="28575">
              <a:solidFill>
                <a:srgbClr val="800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 name="Rectangle 86"/>
            <p:cNvSpPr>
              <a:spLocks noChangeArrowheads="1"/>
            </p:cNvSpPr>
            <p:nvPr/>
          </p:nvSpPr>
          <p:spPr bwMode="auto">
            <a:xfrm rot="2119646">
              <a:off x="2178" y="2877"/>
              <a:ext cx="144" cy="144"/>
            </a:xfrm>
            <a:prstGeom prst="rect">
              <a:avLst/>
            </a:prstGeom>
            <a:noFill/>
            <a:ln w="12700">
              <a:solidFill>
                <a:srgbClr val="80008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p>
          </p:txBody>
        </p:sp>
      </p:grpSp>
      <p:graphicFrame>
        <p:nvGraphicFramePr>
          <p:cNvPr id="64" name="Object 88"/>
          <p:cNvGraphicFramePr>
            <a:graphicFrameLocks noChangeAspect="1"/>
          </p:cNvGraphicFramePr>
          <p:nvPr>
            <p:extLst>
              <p:ext uri="{D42A27DB-BD31-4B8C-83A1-F6EECF244321}">
                <p14:modId xmlns:p14="http://schemas.microsoft.com/office/powerpoint/2010/main" val="1721803720"/>
              </p:ext>
            </p:extLst>
          </p:nvPr>
        </p:nvGraphicFramePr>
        <p:xfrm>
          <a:off x="2851596" y="4380260"/>
          <a:ext cx="454025" cy="363538"/>
        </p:xfrm>
        <a:graphic>
          <a:graphicData uri="http://schemas.openxmlformats.org/presentationml/2006/ole">
            <mc:AlternateContent xmlns:mc="http://schemas.openxmlformats.org/markup-compatibility/2006">
              <mc:Choice xmlns:v="urn:schemas-microsoft-com:vml" Requires="v">
                <p:oleObj name="Equation" r:id="rId12" imgW="253780" imgH="203024" progId="">
                  <p:embed/>
                </p:oleObj>
              </mc:Choice>
              <mc:Fallback>
                <p:oleObj name="Equation" r:id="rId12" imgW="253780" imgH="203024" progId="">
                  <p:embed/>
                  <p:pic>
                    <p:nvPicPr>
                      <p:cNvPr id="0" name="Picture 14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51596" y="4380260"/>
                        <a:ext cx="454025" cy="3635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65" name="Group 90"/>
          <p:cNvGrpSpPr>
            <a:grpSpLocks/>
          </p:cNvGrpSpPr>
          <p:nvPr/>
        </p:nvGrpSpPr>
        <p:grpSpPr bwMode="auto">
          <a:xfrm>
            <a:off x="4723259" y="3628020"/>
            <a:ext cx="4056062" cy="457200"/>
            <a:chOff x="2618" y="3517"/>
            <a:chExt cx="2369" cy="288"/>
          </a:xfrm>
        </p:grpSpPr>
        <p:graphicFrame>
          <p:nvGraphicFramePr>
            <p:cNvPr id="66" name="Object 91"/>
            <p:cNvGraphicFramePr>
              <a:graphicFrameLocks noChangeAspect="1"/>
            </p:cNvGraphicFramePr>
            <p:nvPr/>
          </p:nvGraphicFramePr>
          <p:xfrm>
            <a:off x="2633" y="3556"/>
            <a:ext cx="400" cy="229"/>
          </p:xfrm>
          <a:graphic>
            <a:graphicData uri="http://schemas.openxmlformats.org/presentationml/2006/ole">
              <mc:AlternateContent xmlns:mc="http://schemas.openxmlformats.org/markup-compatibility/2006">
                <mc:Choice xmlns:v="urn:schemas-microsoft-com:vml" Requires="v">
                  <p:oleObj name="公式" r:id="rId14" imgW="277920" imgH="143280" progId="">
                    <p:embed/>
                  </p:oleObj>
                </mc:Choice>
                <mc:Fallback>
                  <p:oleObj name="公式" r:id="rId14" imgW="277920" imgH="143280" progId="">
                    <p:embed/>
                    <p:pic>
                      <p:nvPicPr>
                        <p:cNvPr id="0" name="Picture 14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633" y="3556"/>
                          <a:ext cx="400" cy="22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7" name="Rectangle 92"/>
            <p:cNvSpPr>
              <a:spLocks noChangeArrowheads="1"/>
            </p:cNvSpPr>
            <p:nvPr/>
          </p:nvSpPr>
          <p:spPr bwMode="auto">
            <a:xfrm>
              <a:off x="2618" y="3517"/>
              <a:ext cx="2369"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lgn="ctr" eaLnBrk="1" hangingPunct="1">
                <a:spcBef>
                  <a:spcPct val="50000"/>
                </a:spcBef>
                <a:buFontTx/>
                <a:buNone/>
              </a:pPr>
              <a:r>
                <a:rPr lang="en-US" altLang="zh-CN" sz="2400" b="1">
                  <a:solidFill>
                    <a:srgbClr val="0000FF"/>
                  </a:solidFill>
                  <a:latin typeface="宋体" pitchFamily="2" charset="-122"/>
                  <a:sym typeface="Wingdings" pitchFamily="2" charset="2"/>
                </a:rPr>
                <a:t>    </a:t>
              </a:r>
              <a:r>
                <a:rPr lang="zh-CN" altLang="en-US" sz="2400" b="1">
                  <a:solidFill>
                    <a:srgbClr val="0000FF"/>
                  </a:solidFill>
                  <a:latin typeface="宋体" pitchFamily="2" charset="-122"/>
                  <a:sym typeface="Wingdings" pitchFamily="2" charset="2"/>
                </a:rPr>
                <a:t>就是</a:t>
              </a:r>
              <a:r>
                <a:rPr lang="en-US" altLang="zh-CN" sz="2400" b="1" i="1">
                  <a:solidFill>
                    <a:srgbClr val="0000FF"/>
                  </a:solidFill>
                  <a:latin typeface="Times New Roman" pitchFamily="18" charset="0"/>
                  <a:sym typeface="Wingdings" pitchFamily="2" charset="2"/>
                </a:rPr>
                <a:t>C</a:t>
              </a:r>
              <a:r>
                <a:rPr lang="zh-CN" altLang="en-US" sz="2400" b="1">
                  <a:solidFill>
                    <a:srgbClr val="0000FF"/>
                  </a:solidFill>
                  <a:latin typeface="宋体" pitchFamily="2" charset="-122"/>
                  <a:sym typeface="Wingdings" pitchFamily="2" charset="2"/>
                </a:rPr>
                <a:t>点的近似位移。</a:t>
              </a:r>
            </a:p>
          </p:txBody>
        </p:sp>
      </p:grpSp>
      <p:sp>
        <p:nvSpPr>
          <p:cNvPr id="68" name="Rectangle 96"/>
          <p:cNvSpPr>
            <a:spLocks noChangeArrowheads="1"/>
          </p:cNvSpPr>
          <p:nvPr/>
        </p:nvSpPr>
        <p:spPr bwMode="auto">
          <a:xfrm>
            <a:off x="4796284" y="4214152"/>
            <a:ext cx="3452812"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lgn="ctr" eaLnBrk="1" hangingPunct="1">
              <a:spcBef>
                <a:spcPct val="50000"/>
              </a:spcBef>
              <a:buFontTx/>
              <a:buNone/>
            </a:pPr>
            <a:r>
              <a:rPr lang="zh-CN" altLang="en-US" sz="2400" b="1" dirty="0">
                <a:solidFill>
                  <a:srgbClr val="0000FF"/>
                </a:solidFill>
                <a:latin typeface="宋体" pitchFamily="2" charset="-122"/>
                <a:sym typeface="Wingdings" pitchFamily="2" charset="2"/>
              </a:rPr>
              <a:t>就是</a:t>
            </a:r>
            <a:r>
              <a:rPr lang="en-US" altLang="zh-CN" sz="2400" b="1" i="1" dirty="0">
                <a:solidFill>
                  <a:srgbClr val="0000FF"/>
                </a:solidFill>
                <a:latin typeface="Times New Roman" pitchFamily="18" charset="0"/>
                <a:sym typeface="Wingdings" pitchFamily="2" charset="2"/>
              </a:rPr>
              <a:t>C</a:t>
            </a:r>
            <a:r>
              <a:rPr lang="zh-CN" altLang="en-US" sz="2400" b="1" dirty="0">
                <a:solidFill>
                  <a:srgbClr val="0000FF"/>
                </a:solidFill>
                <a:latin typeface="宋体" pitchFamily="2" charset="-122"/>
                <a:sym typeface="Wingdings" pitchFamily="2" charset="2"/>
              </a:rPr>
              <a:t>点的节点位移图。</a:t>
            </a:r>
          </a:p>
        </p:txBody>
      </p:sp>
      <p:sp>
        <p:nvSpPr>
          <p:cNvPr id="69" name="Oval 97"/>
          <p:cNvSpPr>
            <a:spLocks noChangeArrowheads="1"/>
          </p:cNvSpPr>
          <p:nvPr/>
        </p:nvSpPr>
        <p:spPr bwMode="auto">
          <a:xfrm>
            <a:off x="1267271" y="2940398"/>
            <a:ext cx="2952750" cy="2808287"/>
          </a:xfrm>
          <a:prstGeom prst="ellipse">
            <a:avLst/>
          </a:prstGeom>
          <a:noFill/>
          <a:ln w="25400">
            <a:solidFill>
              <a:srgbClr val="800000"/>
            </a:solidFill>
            <a:prstDash val="lgDash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p>
        </p:txBody>
      </p:sp>
    </p:spTree>
    <p:extLst>
      <p:ext uri="{BB962C8B-B14F-4D97-AF65-F5344CB8AC3E}">
        <p14:creationId xmlns:p14="http://schemas.microsoft.com/office/powerpoint/2010/main" val="3932815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up)">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type="lt">
                                    <p:tmAbs val="75"/>
                                  </p:iterate>
                                  <p:childTnLst>
                                    <p:set>
                                      <p:cBhvr>
                                        <p:cTn id="16" dur="1" fill="hold">
                                          <p:stCondLst>
                                            <p:cond delay="74"/>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iterate type="lt">
                                    <p:tmAbs val="75"/>
                                  </p:iterate>
                                  <p:childTnLst>
                                    <p:set>
                                      <p:cBhvr>
                                        <p:cTn id="28" dur="1" fill="hold">
                                          <p:stCondLst>
                                            <p:cond delay="74"/>
                                          </p:stCondLst>
                                        </p:cTn>
                                        <p:tgtEl>
                                          <p:spTgt spid="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499"/>
                                          </p:stCondLst>
                                        </p:cTn>
                                        <p:tgtEl>
                                          <p:spTgt spid="5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499"/>
                                          </p:stCondLst>
                                        </p:cTn>
                                        <p:tgtEl>
                                          <p:spTgt spid="55"/>
                                        </p:tgtEl>
                                        <p:attrNameLst>
                                          <p:attrName>style.visibility</p:attrName>
                                        </p:attrNameLst>
                                      </p:cBhvr>
                                      <p:to>
                                        <p:strVal val="visible"/>
                                      </p:to>
                                    </p:set>
                                  </p:childTnLst>
                                </p:cTn>
                              </p:par>
                            </p:childTnLst>
                          </p:cTn>
                        </p:par>
                        <p:par>
                          <p:cTn id="37" fill="hold">
                            <p:stCondLst>
                              <p:cond delay="500"/>
                            </p:stCondLst>
                            <p:childTnLst>
                              <p:par>
                                <p:cTn id="38" presetID="1" presetClass="entr" presetSubtype="0" fill="hold" nodeType="afterEffect">
                                  <p:stCondLst>
                                    <p:cond delay="0"/>
                                  </p:stCondLst>
                                  <p:childTnLst>
                                    <p:set>
                                      <p:cBhvr>
                                        <p:cTn id="39" dur="1" fill="hold">
                                          <p:stCondLst>
                                            <p:cond delay="499"/>
                                          </p:stCondLst>
                                        </p:cTn>
                                        <p:tgtEl>
                                          <p:spTgt spid="56"/>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499"/>
                                          </p:stCondLst>
                                        </p:cTn>
                                        <p:tgtEl>
                                          <p:spTgt spid="61"/>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499"/>
                                          </p:stCondLst>
                                        </p:cTn>
                                        <p:tgtEl>
                                          <p:spTgt spid="58"/>
                                        </p:tgtEl>
                                        <p:attrNameLst>
                                          <p:attrName>style.visibility</p:attrName>
                                        </p:attrNameLst>
                                      </p:cBhvr>
                                      <p:to>
                                        <p:strVal val="visible"/>
                                      </p:to>
                                    </p:set>
                                  </p:childTnLst>
                                </p:cTn>
                              </p:par>
                            </p:childTnLst>
                          </p:cTn>
                        </p:par>
                        <p:par>
                          <p:cTn id="48" fill="hold">
                            <p:stCondLst>
                              <p:cond delay="500"/>
                            </p:stCondLst>
                            <p:childTnLst>
                              <p:par>
                                <p:cTn id="49" presetID="1" presetClass="entr" presetSubtype="0" fill="hold" nodeType="afterEffect">
                                  <p:stCondLst>
                                    <p:cond delay="0"/>
                                  </p:stCondLst>
                                  <p:childTnLst>
                                    <p:set>
                                      <p:cBhvr>
                                        <p:cTn id="50" dur="1" fill="hold">
                                          <p:stCondLst>
                                            <p:cond delay="499"/>
                                          </p:stCondLst>
                                        </p:cTn>
                                        <p:tgtEl>
                                          <p:spTgt spid="64"/>
                                        </p:tgtEl>
                                        <p:attrNameLst>
                                          <p:attrName>style.visibility</p:attrName>
                                        </p:attrNameLst>
                                      </p:cBhvr>
                                      <p:to>
                                        <p:strVal val="visible"/>
                                      </p:to>
                                    </p:set>
                                  </p:childTnLst>
                                </p:cTn>
                              </p:par>
                            </p:childTnLst>
                          </p:cTn>
                        </p:par>
                        <p:par>
                          <p:cTn id="51" fill="hold">
                            <p:stCondLst>
                              <p:cond delay="1000"/>
                            </p:stCondLst>
                            <p:childTnLst>
                              <p:par>
                                <p:cTn id="52" presetID="1" presetClass="entr" presetSubtype="0" fill="hold" grpId="0" nodeType="afterEffect">
                                  <p:stCondLst>
                                    <p:cond delay="0"/>
                                  </p:stCondLst>
                                  <p:childTnLst>
                                    <p:set>
                                      <p:cBhvr>
                                        <p:cTn id="53" dur="1" fill="hold">
                                          <p:stCondLst>
                                            <p:cond delay="499"/>
                                          </p:stCondLst>
                                        </p:cTn>
                                        <p:tgtEl>
                                          <p:spTgt spid="57"/>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nodeType="clickEffect">
                                  <p:stCondLst>
                                    <p:cond delay="0"/>
                                  </p:stCondLst>
                                  <p:childTnLst>
                                    <p:set>
                                      <p:cBhvr>
                                        <p:cTn id="57" dur="1" fill="hold">
                                          <p:stCondLst>
                                            <p:cond delay="499"/>
                                          </p:stCondLst>
                                        </p:cTn>
                                        <p:tgtEl>
                                          <p:spTgt spid="65"/>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2" presetClass="entr" presetSubtype="4" fill="hold" grpId="0" nodeType="clickEffect">
                                  <p:stCondLst>
                                    <p:cond delay="0"/>
                                  </p:stCondLst>
                                  <p:childTnLst>
                                    <p:set>
                                      <p:cBhvr>
                                        <p:cTn id="61" dur="1" fill="hold">
                                          <p:stCondLst>
                                            <p:cond delay="0"/>
                                          </p:stCondLst>
                                        </p:cTn>
                                        <p:tgtEl>
                                          <p:spTgt spid="69"/>
                                        </p:tgtEl>
                                        <p:attrNameLst>
                                          <p:attrName>style.visibility</p:attrName>
                                        </p:attrNameLst>
                                      </p:cBhvr>
                                      <p:to>
                                        <p:strVal val="visible"/>
                                      </p:to>
                                    </p:set>
                                    <p:anim calcmode="lin" valueType="num">
                                      <p:cBhvr additive="base">
                                        <p:cTn id="62" dur="500" fill="hold"/>
                                        <p:tgtEl>
                                          <p:spTgt spid="69"/>
                                        </p:tgtEl>
                                        <p:attrNameLst>
                                          <p:attrName>ppt_x</p:attrName>
                                        </p:attrNameLst>
                                      </p:cBhvr>
                                      <p:tavLst>
                                        <p:tav tm="0">
                                          <p:val>
                                            <p:strVal val="#ppt_x"/>
                                          </p:val>
                                        </p:tav>
                                        <p:tav tm="100000">
                                          <p:val>
                                            <p:strVal val="#ppt_x"/>
                                          </p:val>
                                        </p:tav>
                                      </p:tavLst>
                                    </p:anim>
                                    <p:anim calcmode="lin" valueType="num">
                                      <p:cBhvr additive="base">
                                        <p:cTn id="63" dur="500" fill="hold"/>
                                        <p:tgtEl>
                                          <p:spTgt spid="69"/>
                                        </p:tgtEl>
                                        <p:attrNameLst>
                                          <p:attrName>ppt_y</p:attrName>
                                        </p:attrNameLst>
                                      </p:cBhvr>
                                      <p:tavLst>
                                        <p:tav tm="0">
                                          <p:val>
                                            <p:strVal val="1+#ppt_h/2"/>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utoUpdateAnimBg="0"/>
      <p:bldP spid="4" grpId="0" autoUpdateAnimBg="0"/>
      <p:bldP spid="5" grpId="0" autoUpdateAnimBg="0"/>
      <p:bldP spid="54" grpId="0" animBg="1"/>
      <p:bldP spid="55" grpId="0" animBg="1"/>
      <p:bldP spid="57" grpId="0" animBg="1"/>
      <p:bldP spid="68" grpId="0"/>
      <p:bldP spid="6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4"/>
          <p:cNvSpPr txBox="1">
            <a:spLocks noChangeArrowheads="1"/>
          </p:cNvSpPr>
          <p:nvPr/>
        </p:nvSpPr>
        <p:spPr bwMode="auto">
          <a:xfrm>
            <a:off x="466849" y="557700"/>
            <a:ext cx="8209607" cy="941796"/>
          </a:xfrm>
          <a:prstGeom prst="rect">
            <a:avLst/>
          </a:prstGeom>
          <a:noFill/>
          <a:ln w="19050">
            <a:solidFill>
              <a:srgbClr val="FF0000"/>
            </a:solidFill>
            <a:prstDash val="solid"/>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990000"/>
                  </a:outerShdw>
                </a:effectLst>
              </a14:hiddenEffects>
            </a:ext>
          </a:extLst>
        </p:spPr>
        <p:txBody>
          <a:bodyPr wrap="square" anchor="ctr">
            <a:spAutoFit/>
          </a:bodyPr>
          <a:lstStyle/>
          <a:p>
            <a:pPr algn="just">
              <a:lnSpc>
                <a:spcPct val="115000"/>
              </a:lnSpc>
            </a:pPr>
            <a:r>
              <a:rPr lang="zh-CN" altLang="en-US" sz="2400" b="1" dirty="0">
                <a:solidFill>
                  <a:srgbClr val="FF0000"/>
                </a:solidFill>
                <a:latin typeface="黑体" panose="02010609060101010101" pitchFamily="49" charset="-122"/>
                <a:ea typeface="黑体" panose="02010609060101010101" pitchFamily="49" charset="-122"/>
              </a:rPr>
              <a:t>静定</a:t>
            </a:r>
            <a:r>
              <a:rPr lang="zh-CN" altLang="en-US" sz="2400" b="1" dirty="0">
                <a:solidFill>
                  <a:srgbClr val="0000FF"/>
                </a:solidFill>
                <a:latin typeface="黑体" panose="02010609060101010101" pitchFamily="49" charset="-122"/>
                <a:ea typeface="黑体" panose="02010609060101010101" pitchFamily="49" charset="-122"/>
              </a:rPr>
              <a:t>：结构或杆件的未知力个数等于有效静力方程的个数，利用静力平衡方程就可以求出所有的未知力</a:t>
            </a:r>
            <a:r>
              <a:rPr lang="en-US" altLang="zh-CN" sz="2400" b="1" dirty="0">
                <a:solidFill>
                  <a:srgbClr val="0000FF"/>
                </a:solidFill>
                <a:latin typeface="黑体" panose="02010609060101010101" pitchFamily="49" charset="-122"/>
                <a:ea typeface="黑体" panose="02010609060101010101" pitchFamily="49" charset="-122"/>
              </a:rPr>
              <a:t>—</a:t>
            </a:r>
            <a:r>
              <a:rPr lang="zh-CN" altLang="en-US" sz="2400" b="1" dirty="0">
                <a:solidFill>
                  <a:srgbClr val="0000FF"/>
                </a:solidFill>
                <a:latin typeface="黑体" panose="02010609060101010101" pitchFamily="49" charset="-122"/>
                <a:ea typeface="黑体" panose="02010609060101010101" pitchFamily="49" charset="-122"/>
              </a:rPr>
              <a:t>静定问题           </a:t>
            </a:r>
          </a:p>
        </p:txBody>
      </p:sp>
      <p:sp>
        <p:nvSpPr>
          <p:cNvPr id="3" name="Text Box 5"/>
          <p:cNvSpPr txBox="1">
            <a:spLocks noChangeArrowheads="1"/>
          </p:cNvSpPr>
          <p:nvPr/>
        </p:nvSpPr>
        <p:spPr bwMode="auto">
          <a:xfrm>
            <a:off x="489074" y="1695116"/>
            <a:ext cx="8187382" cy="941796"/>
          </a:xfrm>
          <a:prstGeom prst="rect">
            <a:avLst/>
          </a:prstGeom>
          <a:noFill/>
          <a:ln w="19050">
            <a:solidFill>
              <a:srgbClr val="FF0000"/>
            </a:solidFill>
            <a:prstDash val="solid"/>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990000"/>
                  </a:outerShdw>
                </a:effectLst>
              </a14:hiddenEffects>
            </a:ext>
          </a:extLst>
        </p:spPr>
        <p:txBody>
          <a:bodyPr wrap="square" anchor="ctr">
            <a:spAutoFit/>
          </a:bodyPr>
          <a:lstStyle/>
          <a:p>
            <a:pPr>
              <a:lnSpc>
                <a:spcPct val="115000"/>
              </a:lnSpc>
            </a:pPr>
            <a:r>
              <a:rPr lang="zh-CN" altLang="en-US" sz="2400" b="1" dirty="0">
                <a:solidFill>
                  <a:srgbClr val="FF0000"/>
                </a:solidFill>
                <a:latin typeface="黑体" panose="02010609060101010101" pitchFamily="49" charset="-122"/>
                <a:ea typeface="黑体" panose="02010609060101010101" pitchFamily="49" charset="-122"/>
              </a:rPr>
              <a:t>超静定</a:t>
            </a:r>
            <a:r>
              <a:rPr lang="zh-CN" altLang="en-US" sz="2400" dirty="0">
                <a:solidFill>
                  <a:srgbClr val="0000FF"/>
                </a:solidFill>
                <a:latin typeface="黑体" panose="02010609060101010101" pitchFamily="49" charset="-122"/>
                <a:ea typeface="黑体" panose="02010609060101010101" pitchFamily="49" charset="-122"/>
              </a:rPr>
              <a:t>：</a:t>
            </a:r>
            <a:r>
              <a:rPr lang="zh-CN" altLang="en-US" sz="2400" b="1" dirty="0">
                <a:solidFill>
                  <a:srgbClr val="0000FF"/>
                </a:solidFill>
                <a:latin typeface="黑体" panose="02010609060101010101" pitchFamily="49" charset="-122"/>
                <a:ea typeface="黑体" panose="02010609060101010101" pitchFamily="49" charset="-122"/>
              </a:rPr>
              <a:t>结构或杆件的未知力个数多于有效静力方程的个数，只利用静力方程不能求出所有的未知力</a:t>
            </a:r>
            <a:r>
              <a:rPr lang="en-US" altLang="zh-CN" sz="2400" b="1" dirty="0">
                <a:solidFill>
                  <a:srgbClr val="0000FF"/>
                </a:solidFill>
                <a:latin typeface="黑体" panose="02010609060101010101" pitchFamily="49" charset="-122"/>
                <a:ea typeface="黑体" panose="02010609060101010101" pitchFamily="49" charset="-122"/>
              </a:rPr>
              <a:t>—</a:t>
            </a:r>
            <a:r>
              <a:rPr lang="zh-CN" altLang="en-US" sz="2400" b="1" dirty="0">
                <a:solidFill>
                  <a:srgbClr val="0000FF"/>
                </a:solidFill>
                <a:latin typeface="黑体" panose="02010609060101010101" pitchFamily="49" charset="-122"/>
                <a:ea typeface="黑体" panose="02010609060101010101" pitchFamily="49" charset="-122"/>
              </a:rPr>
              <a:t>超静定问题</a:t>
            </a:r>
          </a:p>
        </p:txBody>
      </p:sp>
      <p:sp>
        <p:nvSpPr>
          <p:cNvPr id="4" name="Text Box 1121"/>
          <p:cNvSpPr txBox="1">
            <a:spLocks noChangeArrowheads="1"/>
          </p:cNvSpPr>
          <p:nvPr/>
        </p:nvSpPr>
        <p:spPr bwMode="auto">
          <a:xfrm>
            <a:off x="511086" y="2823319"/>
            <a:ext cx="8165370" cy="461665"/>
          </a:xfrm>
          <a:prstGeom prst="rect">
            <a:avLst/>
          </a:prstGeom>
          <a:noFill/>
          <a:ln w="19050">
            <a:solidFill>
              <a:srgbClr val="FF0000"/>
            </a:solidFill>
            <a:prstDash val="solid"/>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990000"/>
                  </a:outerShdw>
                </a:effectLst>
              </a14:hiddenEffects>
            </a:ext>
          </a:extLst>
        </p:spPr>
        <p:txBody>
          <a:bodyPr wrap="square" anchor="ctr">
            <a:spAutoFit/>
          </a:bodyPr>
          <a:lstStyle/>
          <a:p>
            <a:pPr algn="just">
              <a:spcBef>
                <a:spcPct val="50000"/>
              </a:spcBef>
            </a:pPr>
            <a:r>
              <a:rPr lang="zh-CN" altLang="en-US" sz="2400" b="1" dirty="0">
                <a:solidFill>
                  <a:srgbClr val="0000FF"/>
                </a:solidFill>
                <a:latin typeface="黑体" panose="02010609060101010101" pitchFamily="49" charset="-122"/>
                <a:ea typeface="黑体" panose="02010609060101010101" pitchFamily="49" charset="-122"/>
              </a:rPr>
              <a:t>超静定的求解步骤：</a:t>
            </a:r>
          </a:p>
        </p:txBody>
      </p:sp>
      <p:sp>
        <p:nvSpPr>
          <p:cNvPr id="5" name="Text Box 1122"/>
          <p:cNvSpPr txBox="1">
            <a:spLocks noChangeArrowheads="1"/>
          </p:cNvSpPr>
          <p:nvPr/>
        </p:nvSpPr>
        <p:spPr bwMode="auto">
          <a:xfrm>
            <a:off x="546948" y="4120207"/>
            <a:ext cx="8129508" cy="461665"/>
          </a:xfrm>
          <a:prstGeom prst="rect">
            <a:avLst/>
          </a:prstGeom>
          <a:noFill/>
          <a:ln w="19050">
            <a:solidFill>
              <a:srgbClr val="FF0000"/>
            </a:solidFill>
            <a:prstDash val="solid"/>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990000"/>
                  </a:outerShdw>
                </a:effectLst>
              </a14:hiddenEffects>
            </a:ext>
          </a:extLst>
        </p:spPr>
        <p:txBody>
          <a:bodyPr wrap="square" anchor="ctr">
            <a:spAutoFit/>
          </a:bodyPr>
          <a:lstStyle/>
          <a:p>
            <a:pPr algn="just">
              <a:spcBef>
                <a:spcPct val="50000"/>
              </a:spcBef>
            </a:pPr>
            <a:r>
              <a:rPr lang="zh-CN" altLang="en-US" sz="2400" b="1" dirty="0">
                <a:solidFill>
                  <a:srgbClr val="0000FF"/>
                </a:solidFill>
                <a:latin typeface="黑体" panose="02010609060101010101" pitchFamily="49" charset="-122"/>
                <a:ea typeface="黑体" panose="02010609060101010101" pitchFamily="49" charset="-122"/>
              </a:rPr>
              <a:t>根据变形协调条件列出</a:t>
            </a:r>
            <a:r>
              <a:rPr lang="zh-CN" altLang="en-US" sz="2400" b="1" dirty="0">
                <a:solidFill>
                  <a:srgbClr val="FF0000"/>
                </a:solidFill>
                <a:latin typeface="黑体" panose="02010609060101010101" pitchFamily="49" charset="-122"/>
                <a:ea typeface="黑体" panose="02010609060101010101" pitchFamily="49" charset="-122"/>
              </a:rPr>
              <a:t>变形几何方程</a:t>
            </a:r>
            <a:r>
              <a:rPr lang="zh-CN" altLang="en-US" sz="2400" b="1" dirty="0">
                <a:solidFill>
                  <a:srgbClr val="0000FF"/>
                </a:solidFill>
                <a:latin typeface="黑体" panose="02010609060101010101" pitchFamily="49" charset="-122"/>
                <a:ea typeface="黑体" panose="02010609060101010101" pitchFamily="49" charset="-122"/>
              </a:rPr>
              <a:t>。</a:t>
            </a:r>
            <a:endParaRPr lang="zh-CN" altLang="en-US" sz="2400" dirty="0">
              <a:solidFill>
                <a:srgbClr val="0000FF"/>
              </a:solidFill>
              <a:latin typeface="黑体" panose="02010609060101010101" pitchFamily="49" charset="-122"/>
              <a:ea typeface="黑体" panose="02010609060101010101" pitchFamily="49" charset="-122"/>
            </a:endParaRPr>
          </a:p>
        </p:txBody>
      </p:sp>
      <p:sp>
        <p:nvSpPr>
          <p:cNvPr id="6" name="Text Box 1123"/>
          <p:cNvSpPr txBox="1">
            <a:spLocks noChangeArrowheads="1"/>
          </p:cNvSpPr>
          <p:nvPr/>
        </p:nvSpPr>
        <p:spPr bwMode="auto">
          <a:xfrm>
            <a:off x="546948" y="4767907"/>
            <a:ext cx="8129508" cy="461665"/>
          </a:xfrm>
          <a:prstGeom prst="rect">
            <a:avLst/>
          </a:prstGeom>
          <a:noFill/>
          <a:ln w="19050">
            <a:solidFill>
              <a:srgbClr val="FF0000"/>
            </a:solidFill>
            <a:prstDash val="solid"/>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990000"/>
                  </a:outerShdw>
                </a:effectLst>
              </a14:hiddenEffects>
            </a:ext>
          </a:extLst>
        </p:spPr>
        <p:txBody>
          <a:bodyPr wrap="square" anchor="ctr">
            <a:spAutoFit/>
          </a:bodyPr>
          <a:lstStyle/>
          <a:p>
            <a:pPr algn="just">
              <a:spcBef>
                <a:spcPct val="50000"/>
              </a:spcBef>
            </a:pPr>
            <a:r>
              <a:rPr lang="zh-CN" altLang="en-US" sz="2400" b="1" dirty="0">
                <a:solidFill>
                  <a:srgbClr val="0000FF"/>
                </a:solidFill>
                <a:latin typeface="黑体" panose="02010609060101010101" pitchFamily="49" charset="-122"/>
                <a:ea typeface="黑体" panose="02010609060101010101" pitchFamily="49" charset="-122"/>
              </a:rPr>
              <a:t>根据物理关系写出</a:t>
            </a:r>
            <a:r>
              <a:rPr lang="zh-CN" altLang="en-US" sz="2400" b="1" dirty="0">
                <a:solidFill>
                  <a:srgbClr val="FF0000"/>
                </a:solidFill>
                <a:latin typeface="黑体" panose="02010609060101010101" pitchFamily="49" charset="-122"/>
                <a:ea typeface="黑体" panose="02010609060101010101" pitchFamily="49" charset="-122"/>
              </a:rPr>
              <a:t>补充方程</a:t>
            </a:r>
            <a:r>
              <a:rPr lang="zh-CN" altLang="en-US" sz="2400" b="1" dirty="0">
                <a:solidFill>
                  <a:srgbClr val="0000FF"/>
                </a:solidFill>
                <a:latin typeface="黑体" panose="02010609060101010101" pitchFamily="49" charset="-122"/>
                <a:ea typeface="黑体" panose="02010609060101010101" pitchFamily="49" charset="-122"/>
              </a:rPr>
              <a:t>。</a:t>
            </a:r>
            <a:endParaRPr lang="zh-CN" altLang="en-US" sz="2400" dirty="0">
              <a:solidFill>
                <a:srgbClr val="0000FF"/>
              </a:solidFill>
              <a:latin typeface="黑体" panose="02010609060101010101" pitchFamily="49" charset="-122"/>
              <a:ea typeface="黑体" panose="02010609060101010101" pitchFamily="49" charset="-122"/>
            </a:endParaRPr>
          </a:p>
        </p:txBody>
      </p:sp>
      <p:sp>
        <p:nvSpPr>
          <p:cNvPr id="7" name="Text Box 1125"/>
          <p:cNvSpPr txBox="1">
            <a:spLocks noChangeArrowheads="1"/>
          </p:cNvSpPr>
          <p:nvPr/>
        </p:nvSpPr>
        <p:spPr bwMode="auto">
          <a:xfrm>
            <a:off x="542460" y="5415607"/>
            <a:ext cx="8133996" cy="461665"/>
          </a:xfrm>
          <a:prstGeom prst="rect">
            <a:avLst/>
          </a:prstGeom>
          <a:noFill/>
          <a:ln w="19050">
            <a:solidFill>
              <a:srgbClr val="FF0000"/>
            </a:solidFill>
            <a:prstDash val="solid"/>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990000"/>
                  </a:outerShdw>
                </a:effectLst>
              </a14:hiddenEffects>
            </a:ext>
          </a:extLst>
        </p:spPr>
        <p:txBody>
          <a:bodyPr wrap="square" anchor="ctr">
            <a:spAutoFit/>
          </a:bodyPr>
          <a:lstStyle/>
          <a:p>
            <a:pPr algn="just">
              <a:spcBef>
                <a:spcPct val="50000"/>
              </a:spcBef>
            </a:pPr>
            <a:r>
              <a:rPr lang="zh-CN" altLang="en-US" sz="2400" b="1" dirty="0">
                <a:solidFill>
                  <a:srgbClr val="FF0000"/>
                </a:solidFill>
                <a:latin typeface="黑体" panose="02010609060101010101" pitchFamily="49" charset="-122"/>
                <a:ea typeface="黑体" panose="02010609060101010101" pitchFamily="49" charset="-122"/>
              </a:rPr>
              <a:t>联立</a:t>
            </a:r>
            <a:r>
              <a:rPr lang="zh-CN" altLang="en-US" sz="2400" b="1" dirty="0">
                <a:solidFill>
                  <a:srgbClr val="0000FF"/>
                </a:solidFill>
                <a:latin typeface="黑体" panose="02010609060101010101" pitchFamily="49" charset="-122"/>
                <a:ea typeface="黑体" panose="02010609060101010101" pitchFamily="49" charset="-122"/>
              </a:rPr>
              <a:t>静力方程与补充方程求出所有的未知力。</a:t>
            </a:r>
          </a:p>
        </p:txBody>
      </p:sp>
      <p:sp>
        <p:nvSpPr>
          <p:cNvPr id="8" name="Text Box 1129"/>
          <p:cNvSpPr txBox="1">
            <a:spLocks noChangeArrowheads="1"/>
          </p:cNvSpPr>
          <p:nvPr/>
        </p:nvSpPr>
        <p:spPr bwMode="auto">
          <a:xfrm>
            <a:off x="539552" y="3472507"/>
            <a:ext cx="8136904" cy="461665"/>
          </a:xfrm>
          <a:prstGeom prst="rect">
            <a:avLst/>
          </a:prstGeom>
          <a:noFill/>
          <a:ln w="19050">
            <a:solidFill>
              <a:srgbClr val="FF0000"/>
            </a:solidFill>
            <a:prstDash val="solid"/>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990000"/>
                  </a:outerShdw>
                </a:effectLst>
              </a14:hiddenEffects>
            </a:ext>
          </a:extLst>
        </p:spPr>
        <p:txBody>
          <a:bodyPr wrap="square" anchor="ctr">
            <a:spAutoFit/>
          </a:bodyPr>
          <a:lstStyle/>
          <a:p>
            <a:pPr algn="just">
              <a:spcBef>
                <a:spcPct val="50000"/>
              </a:spcBef>
            </a:pPr>
            <a:r>
              <a:rPr lang="zh-CN" altLang="en-US" sz="2400" b="1" dirty="0">
                <a:solidFill>
                  <a:srgbClr val="0000FF"/>
                </a:solidFill>
                <a:latin typeface="黑体" panose="02010609060101010101" pitchFamily="49" charset="-122"/>
                <a:ea typeface="黑体" panose="02010609060101010101" pitchFamily="49" charset="-122"/>
              </a:rPr>
              <a:t>根据平衡条件列</a:t>
            </a:r>
            <a:r>
              <a:rPr lang="zh-CN" altLang="en-US" sz="2400" b="1" dirty="0">
                <a:solidFill>
                  <a:srgbClr val="FF0000"/>
                </a:solidFill>
                <a:latin typeface="黑体" panose="02010609060101010101" pitchFamily="49" charset="-122"/>
                <a:ea typeface="黑体" panose="02010609060101010101" pitchFamily="49" charset="-122"/>
              </a:rPr>
              <a:t>平衡方程</a:t>
            </a:r>
            <a:r>
              <a:rPr lang="zh-CN" altLang="en-US" sz="2400" b="1" dirty="0">
                <a:solidFill>
                  <a:srgbClr val="0000FF"/>
                </a:solidFill>
                <a:latin typeface="黑体" panose="02010609060101010101" pitchFamily="49" charset="-122"/>
                <a:ea typeface="黑体" panose="02010609060101010101" pitchFamily="49" charset="-122"/>
              </a:rPr>
              <a:t>（确定超静定的次数）。</a:t>
            </a:r>
          </a:p>
        </p:txBody>
      </p:sp>
    </p:spTree>
    <p:extLst>
      <p:ext uri="{BB962C8B-B14F-4D97-AF65-F5344CB8AC3E}">
        <p14:creationId xmlns:p14="http://schemas.microsoft.com/office/powerpoint/2010/main" val="3414483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fade">
                                      <p:cBhvr>
                                        <p:cTn id="26" dur="500"/>
                                        <p:tgtEl>
                                          <p:spTgt spid="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500"/>
                                        <p:tgtEl>
                                          <p:spTgt spid="6"/>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
          <p:cNvSpPr txBox="1">
            <a:spLocks noChangeArrowheads="1"/>
          </p:cNvSpPr>
          <p:nvPr/>
        </p:nvSpPr>
        <p:spPr bwMode="auto">
          <a:xfrm>
            <a:off x="724372" y="836078"/>
            <a:ext cx="7736060" cy="461665"/>
          </a:xfrm>
          <a:prstGeom prst="rect">
            <a:avLst/>
          </a:prstGeom>
          <a:noFill/>
          <a:ln w="28575">
            <a:solidFill>
              <a:srgbClr val="FF0000"/>
            </a:solidFill>
            <a:prstDash val="solid"/>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990000"/>
                  </a:outerShdw>
                </a:effectLst>
              </a14:hiddenEffects>
            </a:ext>
          </a:extLst>
        </p:spPr>
        <p:txBody>
          <a:bodyPr wrap="square" anchor="ctr">
            <a:spAutoFit/>
          </a:bodyPr>
          <a:lstStyle/>
          <a:p>
            <a:pPr algn="just">
              <a:spcBef>
                <a:spcPct val="50000"/>
              </a:spcBef>
            </a:pPr>
            <a:r>
              <a:rPr lang="zh-CN" altLang="en-US" sz="2400" b="1" dirty="0">
                <a:solidFill>
                  <a:srgbClr val="0000FF"/>
                </a:solidFill>
                <a:latin typeface="黑体" panose="02010609060101010101" pitchFamily="49" charset="-122"/>
                <a:ea typeface="黑体" panose="02010609060101010101" pitchFamily="49" charset="-122"/>
              </a:rPr>
              <a:t>温度应力</a:t>
            </a:r>
            <a:r>
              <a:rPr lang="zh-CN" altLang="en-US" sz="2400" dirty="0">
                <a:solidFill>
                  <a:srgbClr val="0000FF"/>
                </a:solidFill>
                <a:latin typeface="黑体" panose="02010609060101010101" pitchFamily="49" charset="-122"/>
                <a:ea typeface="黑体" panose="02010609060101010101" pitchFamily="49" charset="-122"/>
              </a:rPr>
              <a:t>：</a:t>
            </a:r>
            <a:r>
              <a:rPr lang="zh-CN" altLang="en-US" sz="2400" b="1" dirty="0">
                <a:solidFill>
                  <a:srgbClr val="0000FF"/>
                </a:solidFill>
                <a:latin typeface="黑体" panose="02010609060101010101" pitchFamily="49" charset="-122"/>
                <a:ea typeface="黑体" panose="02010609060101010101" pitchFamily="49" charset="-122"/>
              </a:rPr>
              <a:t>由温度引起杆变形而产生的应力（热应力）</a:t>
            </a:r>
          </a:p>
        </p:txBody>
      </p:sp>
      <p:sp>
        <p:nvSpPr>
          <p:cNvPr id="3" name="Text Box 4"/>
          <p:cNvSpPr txBox="1">
            <a:spLocks noChangeArrowheads="1"/>
          </p:cNvSpPr>
          <p:nvPr/>
        </p:nvSpPr>
        <p:spPr bwMode="auto">
          <a:xfrm>
            <a:off x="736278" y="1445678"/>
            <a:ext cx="7724154" cy="461665"/>
          </a:xfrm>
          <a:prstGeom prst="rect">
            <a:avLst/>
          </a:prstGeom>
          <a:noFill/>
          <a:ln w="28575">
            <a:solidFill>
              <a:srgbClr val="FF0000"/>
            </a:solidFill>
            <a:prstDash val="solid"/>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990000"/>
                  </a:outerShdw>
                </a:effectLst>
              </a14:hiddenEffects>
            </a:ext>
          </a:extLst>
        </p:spPr>
        <p:txBody>
          <a:bodyPr wrap="square" anchor="ctr">
            <a:spAutoFit/>
          </a:bodyPr>
          <a:lstStyle/>
          <a:p>
            <a:pPr algn="just">
              <a:spcBef>
                <a:spcPct val="50000"/>
              </a:spcBef>
            </a:pPr>
            <a:r>
              <a:rPr lang="zh-CN" altLang="en-US" sz="2400" b="1">
                <a:solidFill>
                  <a:srgbClr val="0000FF"/>
                </a:solidFill>
                <a:latin typeface="黑体" panose="02010609060101010101" pitchFamily="49" charset="-122"/>
                <a:ea typeface="黑体" panose="02010609060101010101" pitchFamily="49" charset="-122"/>
              </a:rPr>
              <a:t>温度引起的变形量</a:t>
            </a:r>
            <a:r>
              <a:rPr lang="zh-CN" altLang="en-US" sz="2400">
                <a:solidFill>
                  <a:srgbClr val="0000FF"/>
                </a:solidFill>
                <a:latin typeface="黑体" panose="02010609060101010101" pitchFamily="49" charset="-122"/>
                <a:ea typeface="黑体" panose="02010609060101010101" pitchFamily="49" charset="-122"/>
              </a:rPr>
              <a:t>　</a:t>
            </a:r>
            <a:r>
              <a:rPr lang="en-US" altLang="zh-CN" sz="2400">
                <a:solidFill>
                  <a:srgbClr val="0000FF"/>
                </a:solidFill>
                <a:latin typeface="黑体" panose="02010609060101010101" pitchFamily="49" charset="-122"/>
                <a:ea typeface="黑体" panose="02010609060101010101" pitchFamily="49" charset="-122"/>
              </a:rPr>
              <a:t>—</a:t>
            </a:r>
          </a:p>
        </p:txBody>
      </p:sp>
      <p:graphicFrame>
        <p:nvGraphicFramePr>
          <p:cNvPr id="4" name="Object 5"/>
          <p:cNvGraphicFramePr>
            <a:graphicFrameLocks noChangeAspect="1"/>
          </p:cNvGraphicFramePr>
          <p:nvPr>
            <p:extLst>
              <p:ext uri="{D42A27DB-BD31-4B8C-83A1-F6EECF244321}">
                <p14:modId xmlns:p14="http://schemas.microsoft.com/office/powerpoint/2010/main" val="1639091435"/>
              </p:ext>
            </p:extLst>
          </p:nvPr>
        </p:nvGraphicFramePr>
        <p:xfrm>
          <a:off x="4090666" y="1405048"/>
          <a:ext cx="1631950" cy="447675"/>
        </p:xfrm>
        <a:graphic>
          <a:graphicData uri="http://schemas.openxmlformats.org/presentationml/2006/ole">
            <mc:AlternateContent xmlns:mc="http://schemas.openxmlformats.org/markup-compatibility/2006">
              <mc:Choice xmlns:v="urn:schemas-microsoft-com:vml" Requires="v">
                <p:oleObj name="公式" r:id="rId2" imgW="685502" imgH="177723" progId="">
                  <p:embed/>
                </p:oleObj>
              </mc:Choice>
              <mc:Fallback>
                <p:oleObj name="公式" r:id="rId2" imgW="685502" imgH="177723" progId="">
                  <p:embed/>
                  <p:pic>
                    <p:nvPicPr>
                      <p:cNvPr id="0" name="Picture 2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90666" y="1405048"/>
                        <a:ext cx="1631950" cy="447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accent2"/>
                            </a:solidFill>
                            <a:prstDash val="dashDot"/>
                            <a:miter lim="800000"/>
                            <a:headEnd/>
                            <a:tailEnd/>
                          </a14:hiddenLine>
                        </a:ext>
                        <a:ext uri="{AF507438-7753-43E0-B8FC-AC1667EBCBE1}">
                          <a14:hiddenEffects xmlns:a14="http://schemas.microsoft.com/office/drawing/2010/main">
                            <a:effectLst>
                              <a:outerShdw dist="35921" dir="2700000" algn="ctr" rotWithShape="0">
                                <a:srgbClr val="990000"/>
                              </a:outerShdw>
                            </a:effectLst>
                          </a14:hiddenEffects>
                        </a:ext>
                      </a:extLst>
                    </p:spPr>
                  </p:pic>
                </p:oleObj>
              </mc:Fallback>
            </mc:AlternateContent>
          </a:graphicData>
        </a:graphic>
      </p:graphicFrame>
      <p:sp>
        <p:nvSpPr>
          <p:cNvPr id="5" name="Rectangle 6"/>
          <p:cNvSpPr>
            <a:spLocks noChangeArrowheads="1"/>
          </p:cNvSpPr>
          <p:nvPr/>
        </p:nvSpPr>
        <p:spPr bwMode="auto">
          <a:xfrm>
            <a:off x="749664" y="2109071"/>
            <a:ext cx="7710767" cy="504056"/>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lvl1pPr algn="ctr">
              <a:defRPr kumimoji="1" sz="4400">
                <a:solidFill>
                  <a:schemeClr val="tx2"/>
                </a:solidFill>
                <a:latin typeface="Times New Roman" pitchFamily="18" charset="0"/>
                <a:ea typeface="宋体" charset="-122"/>
              </a:defRPr>
            </a:lvl1pPr>
            <a:lvl2pPr algn="ctr">
              <a:defRPr kumimoji="1" sz="4400">
                <a:solidFill>
                  <a:schemeClr val="tx2"/>
                </a:solidFill>
                <a:latin typeface="Times New Roman" pitchFamily="18" charset="0"/>
                <a:ea typeface="宋体" charset="-122"/>
              </a:defRPr>
            </a:lvl2pPr>
            <a:lvl3pPr algn="ctr">
              <a:defRPr kumimoji="1" sz="4400">
                <a:solidFill>
                  <a:schemeClr val="tx2"/>
                </a:solidFill>
                <a:latin typeface="Times New Roman" pitchFamily="18" charset="0"/>
                <a:ea typeface="宋体" charset="-122"/>
              </a:defRPr>
            </a:lvl3pPr>
            <a:lvl4pPr algn="ctr">
              <a:defRPr kumimoji="1" sz="4400">
                <a:solidFill>
                  <a:schemeClr val="tx2"/>
                </a:solidFill>
                <a:latin typeface="Times New Roman" pitchFamily="18" charset="0"/>
                <a:ea typeface="宋体" charset="-122"/>
              </a:defRPr>
            </a:lvl4pPr>
            <a:lvl5pPr algn="ctr">
              <a:defRPr kumimoji="1" sz="4400">
                <a:solidFill>
                  <a:schemeClr val="tx2"/>
                </a:solidFill>
                <a:latin typeface="Times New Roman" pitchFamily="18" charset="0"/>
                <a:ea typeface="宋体" charset="-122"/>
              </a:defRPr>
            </a:lvl5pPr>
            <a:lvl6pPr marL="457200" algn="ctr" fontAlgn="base">
              <a:spcBef>
                <a:spcPct val="0"/>
              </a:spcBef>
              <a:spcAft>
                <a:spcPct val="0"/>
              </a:spcAft>
              <a:defRPr kumimoji="1" sz="4400">
                <a:solidFill>
                  <a:schemeClr val="tx2"/>
                </a:solidFill>
                <a:latin typeface="Times New Roman" pitchFamily="18" charset="0"/>
                <a:ea typeface="宋体" charset="-122"/>
              </a:defRPr>
            </a:lvl6pPr>
            <a:lvl7pPr marL="914400" algn="ctr" fontAlgn="base">
              <a:spcBef>
                <a:spcPct val="0"/>
              </a:spcBef>
              <a:spcAft>
                <a:spcPct val="0"/>
              </a:spcAft>
              <a:defRPr kumimoji="1" sz="4400">
                <a:solidFill>
                  <a:schemeClr val="tx2"/>
                </a:solidFill>
                <a:latin typeface="Times New Roman" pitchFamily="18" charset="0"/>
                <a:ea typeface="宋体" charset="-122"/>
              </a:defRPr>
            </a:lvl7pPr>
            <a:lvl8pPr marL="1371600" algn="ctr" fontAlgn="base">
              <a:spcBef>
                <a:spcPct val="0"/>
              </a:spcBef>
              <a:spcAft>
                <a:spcPct val="0"/>
              </a:spcAft>
              <a:defRPr kumimoji="1" sz="4400">
                <a:solidFill>
                  <a:schemeClr val="tx2"/>
                </a:solidFill>
                <a:latin typeface="Times New Roman" pitchFamily="18" charset="0"/>
                <a:ea typeface="宋体" charset="-122"/>
              </a:defRPr>
            </a:lvl8pPr>
            <a:lvl9pPr marL="1828800" algn="ctr" fontAlgn="base">
              <a:spcBef>
                <a:spcPct val="0"/>
              </a:spcBef>
              <a:spcAft>
                <a:spcPct val="0"/>
              </a:spcAft>
              <a:defRPr kumimoji="1" sz="4400">
                <a:solidFill>
                  <a:schemeClr val="tx2"/>
                </a:solidFill>
                <a:latin typeface="Times New Roman" pitchFamily="18" charset="0"/>
                <a:ea typeface="宋体" charset="-122"/>
              </a:defRPr>
            </a:lvl9pPr>
          </a:lstStyle>
          <a:p>
            <a:pPr algn="l"/>
            <a:r>
              <a:rPr lang="zh-CN" altLang="en-US" sz="2400" b="1" dirty="0">
                <a:solidFill>
                  <a:srgbClr val="0000FF"/>
                </a:solidFill>
                <a:latin typeface="黑体" panose="02010609060101010101" pitchFamily="49" charset="-122"/>
                <a:ea typeface="黑体" panose="02010609060101010101" pitchFamily="49" charset="-122"/>
              </a:rPr>
              <a:t>静定问题</a:t>
            </a:r>
            <a:r>
              <a:rPr lang="zh-CN" altLang="en-US" sz="2400" b="1" dirty="0">
                <a:solidFill>
                  <a:srgbClr val="FF0000"/>
                </a:solidFill>
                <a:latin typeface="黑体" panose="02010609060101010101" pitchFamily="49" charset="-122"/>
                <a:ea typeface="黑体" panose="02010609060101010101" pitchFamily="49" charset="-122"/>
              </a:rPr>
              <a:t>无</a:t>
            </a:r>
            <a:r>
              <a:rPr lang="zh-CN" altLang="en-US" sz="2400" b="1" dirty="0">
                <a:solidFill>
                  <a:srgbClr val="0000FF"/>
                </a:solidFill>
                <a:latin typeface="黑体" panose="02010609060101010101" pitchFamily="49" charset="-122"/>
                <a:ea typeface="黑体" panose="02010609060101010101" pitchFamily="49" charset="-122"/>
              </a:rPr>
              <a:t>温度应力；超静定问题</a:t>
            </a:r>
            <a:r>
              <a:rPr lang="zh-CN" altLang="en-US" sz="2400" b="1" dirty="0">
                <a:solidFill>
                  <a:srgbClr val="FF0000"/>
                </a:solidFill>
                <a:latin typeface="黑体" panose="02010609060101010101" pitchFamily="49" charset="-122"/>
                <a:ea typeface="黑体" panose="02010609060101010101" pitchFamily="49" charset="-122"/>
              </a:rPr>
              <a:t>存在</a:t>
            </a:r>
            <a:r>
              <a:rPr lang="zh-CN" altLang="en-US" sz="2400" b="1" dirty="0">
                <a:solidFill>
                  <a:srgbClr val="0000FF"/>
                </a:solidFill>
                <a:latin typeface="黑体" panose="02010609060101010101" pitchFamily="49" charset="-122"/>
                <a:ea typeface="黑体" panose="02010609060101010101" pitchFamily="49" charset="-122"/>
              </a:rPr>
              <a:t>温度应力</a:t>
            </a:r>
          </a:p>
        </p:txBody>
      </p:sp>
      <p:sp>
        <p:nvSpPr>
          <p:cNvPr id="8" name="Rectangle 4"/>
          <p:cNvSpPr>
            <a:spLocks noChangeArrowheads="1"/>
          </p:cNvSpPr>
          <p:nvPr/>
        </p:nvSpPr>
        <p:spPr bwMode="auto">
          <a:xfrm>
            <a:off x="755575" y="3936706"/>
            <a:ext cx="7704855" cy="576014"/>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lvl1pPr algn="ctr">
              <a:defRPr kumimoji="1" sz="4400">
                <a:solidFill>
                  <a:schemeClr val="tx2"/>
                </a:solidFill>
                <a:latin typeface="Times New Roman" pitchFamily="18" charset="0"/>
                <a:ea typeface="宋体" charset="-122"/>
              </a:defRPr>
            </a:lvl1pPr>
            <a:lvl2pPr algn="ctr">
              <a:defRPr kumimoji="1" sz="4400">
                <a:solidFill>
                  <a:schemeClr val="tx2"/>
                </a:solidFill>
                <a:latin typeface="Times New Roman" pitchFamily="18" charset="0"/>
                <a:ea typeface="宋体" charset="-122"/>
              </a:defRPr>
            </a:lvl2pPr>
            <a:lvl3pPr algn="ctr">
              <a:defRPr kumimoji="1" sz="4400">
                <a:solidFill>
                  <a:schemeClr val="tx2"/>
                </a:solidFill>
                <a:latin typeface="Times New Roman" pitchFamily="18" charset="0"/>
                <a:ea typeface="宋体" charset="-122"/>
              </a:defRPr>
            </a:lvl3pPr>
            <a:lvl4pPr algn="ctr">
              <a:defRPr kumimoji="1" sz="4400">
                <a:solidFill>
                  <a:schemeClr val="tx2"/>
                </a:solidFill>
                <a:latin typeface="Times New Roman" pitchFamily="18" charset="0"/>
                <a:ea typeface="宋体" charset="-122"/>
              </a:defRPr>
            </a:lvl4pPr>
            <a:lvl5pPr algn="ctr">
              <a:defRPr kumimoji="1" sz="4400">
                <a:solidFill>
                  <a:schemeClr val="tx2"/>
                </a:solidFill>
                <a:latin typeface="Times New Roman" pitchFamily="18" charset="0"/>
                <a:ea typeface="宋体" charset="-122"/>
              </a:defRPr>
            </a:lvl5pPr>
            <a:lvl6pPr marL="457200" algn="ctr" fontAlgn="base">
              <a:spcBef>
                <a:spcPct val="0"/>
              </a:spcBef>
              <a:spcAft>
                <a:spcPct val="0"/>
              </a:spcAft>
              <a:defRPr kumimoji="1" sz="4400">
                <a:solidFill>
                  <a:schemeClr val="tx2"/>
                </a:solidFill>
                <a:latin typeface="Times New Roman" pitchFamily="18" charset="0"/>
                <a:ea typeface="宋体" charset="-122"/>
              </a:defRPr>
            </a:lvl6pPr>
            <a:lvl7pPr marL="914400" algn="ctr" fontAlgn="base">
              <a:spcBef>
                <a:spcPct val="0"/>
              </a:spcBef>
              <a:spcAft>
                <a:spcPct val="0"/>
              </a:spcAft>
              <a:defRPr kumimoji="1" sz="4400">
                <a:solidFill>
                  <a:schemeClr val="tx2"/>
                </a:solidFill>
                <a:latin typeface="Times New Roman" pitchFamily="18" charset="0"/>
                <a:ea typeface="宋体" charset="-122"/>
              </a:defRPr>
            </a:lvl7pPr>
            <a:lvl8pPr marL="1371600" algn="ctr" fontAlgn="base">
              <a:spcBef>
                <a:spcPct val="0"/>
              </a:spcBef>
              <a:spcAft>
                <a:spcPct val="0"/>
              </a:spcAft>
              <a:defRPr kumimoji="1" sz="4400">
                <a:solidFill>
                  <a:schemeClr val="tx2"/>
                </a:solidFill>
                <a:latin typeface="Times New Roman" pitchFamily="18" charset="0"/>
                <a:ea typeface="宋体" charset="-122"/>
              </a:defRPr>
            </a:lvl8pPr>
            <a:lvl9pPr marL="1828800" algn="ctr" fontAlgn="base">
              <a:spcBef>
                <a:spcPct val="0"/>
              </a:spcBef>
              <a:spcAft>
                <a:spcPct val="0"/>
              </a:spcAft>
              <a:defRPr kumimoji="1" sz="4400">
                <a:solidFill>
                  <a:schemeClr val="tx2"/>
                </a:solidFill>
                <a:latin typeface="Times New Roman" pitchFamily="18" charset="0"/>
                <a:ea typeface="宋体" charset="-122"/>
              </a:defRPr>
            </a:lvl9pPr>
          </a:lstStyle>
          <a:p>
            <a:pPr algn="l"/>
            <a:r>
              <a:rPr lang="zh-CN" altLang="en-US" sz="2400" b="1" dirty="0">
                <a:solidFill>
                  <a:srgbClr val="0000FF"/>
                </a:solidFill>
                <a:latin typeface="黑体" panose="02010609060101010101" pitchFamily="49" charset="-122"/>
                <a:ea typeface="黑体" panose="02010609060101010101" pitchFamily="49" charset="-122"/>
              </a:rPr>
              <a:t>静定问题</a:t>
            </a:r>
            <a:r>
              <a:rPr lang="zh-CN" altLang="en-US" sz="2400" b="1" dirty="0">
                <a:solidFill>
                  <a:srgbClr val="FF0000"/>
                </a:solidFill>
                <a:latin typeface="黑体" panose="02010609060101010101" pitchFamily="49" charset="-122"/>
                <a:ea typeface="黑体" panose="02010609060101010101" pitchFamily="49" charset="-122"/>
              </a:rPr>
              <a:t>无</a:t>
            </a:r>
            <a:r>
              <a:rPr lang="zh-CN" altLang="en-US" sz="2400" b="1" dirty="0">
                <a:solidFill>
                  <a:srgbClr val="0000FF"/>
                </a:solidFill>
                <a:latin typeface="黑体" panose="02010609060101010101" pitchFamily="49" charset="-122"/>
                <a:ea typeface="黑体" panose="02010609060101010101" pitchFamily="49" charset="-122"/>
              </a:rPr>
              <a:t>装配应力；超静定问题</a:t>
            </a:r>
            <a:r>
              <a:rPr lang="zh-CN" altLang="en-US" sz="2400" b="1" dirty="0">
                <a:solidFill>
                  <a:srgbClr val="FF0000"/>
                </a:solidFill>
                <a:latin typeface="黑体" panose="02010609060101010101" pitchFamily="49" charset="-122"/>
                <a:ea typeface="黑体" panose="02010609060101010101" pitchFamily="49" charset="-122"/>
              </a:rPr>
              <a:t>存在</a:t>
            </a:r>
            <a:r>
              <a:rPr lang="zh-CN" altLang="en-US" sz="2400" b="1" dirty="0">
                <a:solidFill>
                  <a:srgbClr val="0000FF"/>
                </a:solidFill>
                <a:latin typeface="黑体" panose="02010609060101010101" pitchFamily="49" charset="-122"/>
                <a:ea typeface="黑体" panose="02010609060101010101" pitchFamily="49" charset="-122"/>
              </a:rPr>
              <a:t>装配应力</a:t>
            </a:r>
          </a:p>
        </p:txBody>
      </p:sp>
      <p:sp>
        <p:nvSpPr>
          <p:cNvPr id="9" name="Text Box 5"/>
          <p:cNvSpPr txBox="1">
            <a:spLocks noChangeArrowheads="1"/>
          </p:cNvSpPr>
          <p:nvPr/>
        </p:nvSpPr>
        <p:spPr bwMode="auto">
          <a:xfrm>
            <a:off x="759670" y="2873011"/>
            <a:ext cx="7700759" cy="830997"/>
          </a:xfrm>
          <a:prstGeom prst="rect">
            <a:avLst/>
          </a:prstGeom>
          <a:noFill/>
          <a:ln w="28575">
            <a:solidFill>
              <a:srgbClr val="FF0000"/>
            </a:solidFill>
            <a:prstDash val="solid"/>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990000"/>
                  </a:outerShdw>
                </a:effectLst>
              </a14:hiddenEffects>
            </a:ext>
          </a:extLst>
        </p:spPr>
        <p:txBody>
          <a:bodyPr wrap="square" anchor="ctr">
            <a:spAutoFit/>
          </a:bodyPr>
          <a:lstStyle/>
          <a:p>
            <a:pPr>
              <a:spcBef>
                <a:spcPct val="50000"/>
              </a:spcBef>
            </a:pPr>
            <a:r>
              <a:rPr lang="zh-CN" altLang="en-US" sz="2400" b="1" dirty="0">
                <a:solidFill>
                  <a:srgbClr val="0000FF"/>
                </a:solidFill>
                <a:latin typeface="黑体" panose="02010609060101010101" pitchFamily="49" charset="-122"/>
                <a:ea typeface="黑体" panose="02010609060101010101" pitchFamily="49" charset="-122"/>
              </a:rPr>
              <a:t>由于构件制造尺寸产生的制造误差，在装配时产生变形而引起的应力</a:t>
            </a:r>
          </a:p>
        </p:txBody>
      </p:sp>
      <p:sp>
        <p:nvSpPr>
          <p:cNvPr id="10" name="矩形 9"/>
          <p:cNvSpPr/>
          <p:nvPr/>
        </p:nvSpPr>
        <p:spPr>
          <a:xfrm>
            <a:off x="768822" y="4728744"/>
            <a:ext cx="7691610" cy="572464"/>
          </a:xfrm>
          <a:prstGeom prst="rect">
            <a:avLst/>
          </a:prstGeom>
          <a:ln w="28575">
            <a:solidFill>
              <a:srgbClr val="FF0000"/>
            </a:solidFill>
          </a:ln>
        </p:spPr>
        <p:txBody>
          <a:bodyPr wrap="square">
            <a:spAutoFit/>
          </a:bodyPr>
          <a:lstStyle/>
          <a:p>
            <a:pPr>
              <a:lnSpc>
                <a:spcPct val="130000"/>
              </a:lnSpc>
            </a:pPr>
            <a:r>
              <a:rPr lang="zh-CN" altLang="en-US" sz="2400" b="1" dirty="0">
                <a:solidFill>
                  <a:srgbClr val="0000CC"/>
                </a:solidFill>
                <a:latin typeface="黑体" panose="02010609060101010101" pitchFamily="49" charset="-122"/>
                <a:ea typeface="黑体" panose="02010609060101010101" pitchFamily="49" charset="-122"/>
              </a:rPr>
              <a:t>由于截面急剧变化引起应力局部增大现象－</a:t>
            </a:r>
            <a:r>
              <a:rPr lang="zh-CN" altLang="en-US" sz="2400" b="1" dirty="0">
                <a:solidFill>
                  <a:srgbClr val="FF0000"/>
                </a:solidFill>
                <a:latin typeface="黑体" panose="02010609060101010101" pitchFamily="49" charset="-122"/>
                <a:ea typeface="黑体" panose="02010609060101010101" pitchFamily="49" charset="-122"/>
              </a:rPr>
              <a:t>应力集中</a:t>
            </a:r>
          </a:p>
        </p:txBody>
      </p:sp>
    </p:spTree>
    <p:extLst>
      <p:ext uri="{BB962C8B-B14F-4D97-AF65-F5344CB8AC3E}">
        <p14:creationId xmlns:p14="http://schemas.microsoft.com/office/powerpoint/2010/main" val="1287144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10"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500"/>
                                        <p:tgtEl>
                                          <p:spTgt spid="8"/>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8" grpId="0" animBg="1"/>
      <p:bldP spid="9" grpId="0" animBg="1"/>
      <p:bldP spid="1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52"/>
          <p:cNvSpPr>
            <a:spLocks noChangeArrowheads="1"/>
          </p:cNvSpPr>
          <p:nvPr/>
        </p:nvSpPr>
        <p:spPr bwMode="auto">
          <a:xfrm>
            <a:off x="467544" y="260648"/>
            <a:ext cx="4693914" cy="480131"/>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defTabSz="800100" eaLnBrk="1" hangingPunct="1">
              <a:lnSpc>
                <a:spcPct val="90000"/>
              </a:lnSpc>
              <a:spcAft>
                <a:spcPct val="35000"/>
              </a:spcAft>
              <a:defRPr/>
            </a:pPr>
            <a:r>
              <a:rPr lang="zh-CN" altLang="en-US" sz="2800" b="1" dirty="0">
                <a:solidFill>
                  <a:srgbClr val="FF0000"/>
                </a:solidFill>
                <a:latin typeface="楷体" panose="02010609060101010101" pitchFamily="49" charset="-122"/>
                <a:ea typeface="楷体" panose="02010609060101010101" pitchFamily="49" charset="-122"/>
              </a:rPr>
              <a:t>第三章 平面图形的几何性质</a:t>
            </a:r>
          </a:p>
        </p:txBody>
      </p:sp>
      <p:sp>
        <p:nvSpPr>
          <p:cNvPr id="4" name="Text Box 3080"/>
          <p:cNvSpPr txBox="1">
            <a:spLocks noChangeArrowheads="1"/>
          </p:cNvSpPr>
          <p:nvPr/>
        </p:nvSpPr>
        <p:spPr bwMode="auto">
          <a:xfrm>
            <a:off x="443838" y="1005114"/>
            <a:ext cx="8088602" cy="461665"/>
          </a:xfrm>
          <a:prstGeom prst="rect">
            <a:avLst/>
          </a:prstGeom>
          <a:noFill/>
          <a:ln w="2857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400" b="1" dirty="0">
                <a:solidFill>
                  <a:srgbClr val="FF0000"/>
                </a:solidFill>
                <a:latin typeface="宋体" pitchFamily="2" charset="-122"/>
                <a:ea typeface="黑体" pitchFamily="49" charset="-122"/>
              </a:rPr>
              <a:t>静矩</a:t>
            </a:r>
            <a:r>
              <a:rPr kumimoji="1" lang="zh-CN" altLang="en-US" sz="2400" b="1" dirty="0">
                <a:solidFill>
                  <a:srgbClr val="0000FF"/>
                </a:solidFill>
                <a:latin typeface="宋体" pitchFamily="2" charset="-122"/>
                <a:ea typeface="黑体" pitchFamily="49" charset="-122"/>
              </a:rPr>
              <a:t>（面积矩）</a:t>
            </a:r>
          </a:p>
        </p:txBody>
      </p:sp>
      <p:graphicFrame>
        <p:nvGraphicFramePr>
          <p:cNvPr id="7" name="Object 3084"/>
          <p:cNvGraphicFramePr>
            <a:graphicFrameLocks noChangeAspect="1"/>
          </p:cNvGraphicFramePr>
          <p:nvPr>
            <p:extLst>
              <p:ext uri="{D42A27DB-BD31-4B8C-83A1-F6EECF244321}">
                <p14:modId xmlns:p14="http://schemas.microsoft.com/office/powerpoint/2010/main" val="3624997368"/>
              </p:ext>
            </p:extLst>
          </p:nvPr>
        </p:nvGraphicFramePr>
        <p:xfrm>
          <a:off x="4453863" y="2397720"/>
          <a:ext cx="2667000" cy="1500188"/>
        </p:xfrm>
        <a:graphic>
          <a:graphicData uri="http://schemas.openxmlformats.org/presentationml/2006/ole">
            <mc:AlternateContent xmlns:mc="http://schemas.openxmlformats.org/markup-compatibility/2006">
              <mc:Choice xmlns:v="urn:schemas-microsoft-com:vml" Requires="v">
                <p:oleObj name="公式" r:id="rId2" imgW="723586" imgH="609336" progId="">
                  <p:embed/>
                </p:oleObj>
              </mc:Choice>
              <mc:Fallback>
                <p:oleObj name="公式" r:id="rId2" imgW="723586" imgH="609336" progId="">
                  <p:embed/>
                  <p:pic>
                    <p:nvPicPr>
                      <p:cNvPr id="0" name="Picture 15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53863" y="2397720"/>
                        <a:ext cx="2667000" cy="1500188"/>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5" name="组合 4"/>
          <p:cNvGrpSpPr/>
          <p:nvPr/>
        </p:nvGrpSpPr>
        <p:grpSpPr>
          <a:xfrm>
            <a:off x="377163" y="1700808"/>
            <a:ext cx="3933825" cy="2493962"/>
            <a:chOff x="377163" y="1700808"/>
            <a:chExt cx="3933825" cy="2493962"/>
          </a:xfrm>
        </p:grpSpPr>
        <p:sp>
          <p:nvSpPr>
            <p:cNvPr id="3" name="Oval 3112"/>
            <p:cNvSpPr>
              <a:spLocks noChangeArrowheads="1"/>
            </p:cNvSpPr>
            <p:nvPr/>
          </p:nvSpPr>
          <p:spPr bwMode="auto">
            <a:xfrm>
              <a:off x="1145513" y="1967508"/>
              <a:ext cx="2057400" cy="1447800"/>
            </a:xfrm>
            <a:prstGeom prst="ellipse">
              <a:avLst/>
            </a:prstGeom>
            <a:gradFill rotWithShape="1">
              <a:gsLst>
                <a:gs pos="0">
                  <a:srgbClr val="339966"/>
                </a:gs>
                <a:gs pos="50000">
                  <a:srgbClr val="FFFFFF"/>
                </a:gs>
                <a:gs pos="100000">
                  <a:srgbClr val="339966"/>
                </a:gs>
              </a:gsLst>
              <a:lin ang="5400000" scaled="1"/>
            </a:gradFill>
            <a:ln w="9525">
              <a:solidFill>
                <a:schemeClr val="tx1"/>
              </a:solidFill>
              <a:round/>
              <a:headEnd/>
              <a:tailEnd/>
            </a:ln>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en-US"/>
            </a:p>
          </p:txBody>
        </p:sp>
        <p:sp>
          <p:nvSpPr>
            <p:cNvPr id="8" name="Line 3088"/>
            <p:cNvSpPr>
              <a:spLocks noChangeShapeType="1"/>
            </p:cNvSpPr>
            <p:nvPr/>
          </p:nvSpPr>
          <p:spPr bwMode="auto">
            <a:xfrm>
              <a:off x="596238" y="4063008"/>
              <a:ext cx="3124200" cy="0"/>
            </a:xfrm>
            <a:prstGeom prst="line">
              <a:avLst/>
            </a:prstGeom>
            <a:noFill/>
            <a:ln w="19050">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 name="Line 3089"/>
            <p:cNvSpPr>
              <a:spLocks noChangeShapeType="1"/>
            </p:cNvSpPr>
            <p:nvPr/>
          </p:nvSpPr>
          <p:spPr bwMode="auto">
            <a:xfrm flipH="1" flipV="1">
              <a:off x="596238" y="1853208"/>
              <a:ext cx="0" cy="2209800"/>
            </a:xfrm>
            <a:prstGeom prst="line">
              <a:avLst/>
            </a:prstGeom>
            <a:noFill/>
            <a:ln w="19050">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 name="Rectangle 3090"/>
            <p:cNvSpPr>
              <a:spLocks noChangeArrowheads="1"/>
            </p:cNvSpPr>
            <p:nvPr/>
          </p:nvSpPr>
          <p:spPr bwMode="auto">
            <a:xfrm>
              <a:off x="2044038" y="2656483"/>
              <a:ext cx="111125" cy="111125"/>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en-US"/>
            </a:p>
          </p:txBody>
        </p:sp>
        <p:sp>
          <p:nvSpPr>
            <p:cNvPr id="11" name="Line 3096"/>
            <p:cNvSpPr>
              <a:spLocks noChangeShapeType="1"/>
            </p:cNvSpPr>
            <p:nvPr/>
          </p:nvSpPr>
          <p:spPr bwMode="auto">
            <a:xfrm>
              <a:off x="2044038" y="2767608"/>
              <a:ext cx="0" cy="1295400"/>
            </a:xfrm>
            <a:prstGeom prst="line">
              <a:avLst/>
            </a:prstGeom>
            <a:noFill/>
            <a:ln w="9525" cap="rnd">
              <a:solidFill>
                <a:schemeClr val="accent2"/>
              </a:solidFill>
              <a:prstDash val="sysDot"/>
              <a:round/>
              <a:headEnd type="arrow" w="med" len="med"/>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 name="Line 3097"/>
            <p:cNvSpPr>
              <a:spLocks noChangeShapeType="1"/>
            </p:cNvSpPr>
            <p:nvPr/>
          </p:nvSpPr>
          <p:spPr bwMode="auto">
            <a:xfrm flipH="1">
              <a:off x="596238" y="2767608"/>
              <a:ext cx="1447800" cy="0"/>
            </a:xfrm>
            <a:prstGeom prst="line">
              <a:avLst/>
            </a:prstGeom>
            <a:noFill/>
            <a:ln w="9525" cap="rnd">
              <a:solidFill>
                <a:schemeClr val="accent2"/>
              </a:solidFill>
              <a:prstDash val="sysDot"/>
              <a:round/>
              <a:headEnd type="arrow" w="med" len="med"/>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3" name="Object 3114"/>
            <p:cNvGraphicFramePr>
              <a:graphicFrameLocks noChangeAspect="1"/>
            </p:cNvGraphicFramePr>
            <p:nvPr>
              <p:extLst>
                <p:ext uri="{D42A27DB-BD31-4B8C-83A1-F6EECF244321}">
                  <p14:modId xmlns:p14="http://schemas.microsoft.com/office/powerpoint/2010/main" val="4013907737"/>
                </p:ext>
              </p:extLst>
            </p:nvPr>
          </p:nvGraphicFramePr>
          <p:xfrm>
            <a:off x="4196688" y="2583458"/>
            <a:ext cx="114300" cy="215900"/>
          </p:xfrm>
          <a:graphic>
            <a:graphicData uri="http://schemas.openxmlformats.org/presentationml/2006/ole">
              <mc:AlternateContent xmlns:mc="http://schemas.openxmlformats.org/markup-compatibility/2006">
                <mc:Choice xmlns:v="urn:schemas-microsoft-com:vml" Requires="v">
                  <p:oleObj name="Equation" r:id="rId4" imgW="114151" imgH="215619" progId="">
                    <p:embed/>
                  </p:oleObj>
                </mc:Choice>
                <mc:Fallback>
                  <p:oleObj name="Equation" r:id="rId4" imgW="114151" imgH="215619" progId="">
                    <p:embed/>
                    <p:pic>
                      <p:nvPicPr>
                        <p:cNvPr id="0" name="Picture 15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96688" y="2583458"/>
                          <a:ext cx="1143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 name="Object 3115"/>
            <p:cNvGraphicFramePr>
              <a:graphicFrameLocks noChangeAspect="1"/>
            </p:cNvGraphicFramePr>
            <p:nvPr>
              <p:extLst>
                <p:ext uri="{D42A27DB-BD31-4B8C-83A1-F6EECF244321}">
                  <p14:modId xmlns:p14="http://schemas.microsoft.com/office/powerpoint/2010/main" val="2894224584"/>
                </p:ext>
              </p:extLst>
            </p:nvPr>
          </p:nvGraphicFramePr>
          <p:xfrm>
            <a:off x="2118651" y="3104158"/>
            <a:ext cx="230187" cy="273050"/>
          </p:xfrm>
          <a:graphic>
            <a:graphicData uri="http://schemas.openxmlformats.org/presentationml/2006/ole">
              <mc:AlternateContent xmlns:mc="http://schemas.openxmlformats.org/markup-compatibility/2006">
                <mc:Choice xmlns:v="urn:schemas-microsoft-com:vml" Requires="v">
                  <p:oleObj name="Equation" r:id="rId6" imgW="139579" imgH="164957" progId="">
                    <p:embed/>
                  </p:oleObj>
                </mc:Choice>
                <mc:Fallback>
                  <p:oleObj name="Equation" r:id="rId6" imgW="139579" imgH="164957" progId="">
                    <p:embed/>
                    <p:pic>
                      <p:nvPicPr>
                        <p:cNvPr id="0" name="Picture 15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18651" y="3104158"/>
                          <a:ext cx="230187" cy="273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 name="Object 3116"/>
            <p:cNvGraphicFramePr>
              <a:graphicFrameLocks noChangeAspect="1"/>
            </p:cNvGraphicFramePr>
            <p:nvPr>
              <p:extLst>
                <p:ext uri="{D42A27DB-BD31-4B8C-83A1-F6EECF244321}">
                  <p14:modId xmlns:p14="http://schemas.microsoft.com/office/powerpoint/2010/main" val="3533014854"/>
                </p:ext>
              </p:extLst>
            </p:nvPr>
          </p:nvGraphicFramePr>
          <p:xfrm>
            <a:off x="1301088" y="2481858"/>
            <a:ext cx="209550" cy="209550"/>
          </p:xfrm>
          <a:graphic>
            <a:graphicData uri="http://schemas.openxmlformats.org/presentationml/2006/ole">
              <mc:AlternateContent xmlns:mc="http://schemas.openxmlformats.org/markup-compatibility/2006">
                <mc:Choice xmlns:v="urn:schemas-microsoft-com:vml" Requires="v">
                  <p:oleObj name="Equation" r:id="rId8" imgW="126725" imgH="126725" progId="">
                    <p:embed/>
                  </p:oleObj>
                </mc:Choice>
                <mc:Fallback>
                  <p:oleObj name="Equation" r:id="rId8" imgW="126725" imgH="126725" progId="">
                    <p:embed/>
                    <p:pic>
                      <p:nvPicPr>
                        <p:cNvPr id="0" name="Picture 15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01088" y="2481858"/>
                          <a:ext cx="209550" cy="209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 name="Object 3117"/>
            <p:cNvGraphicFramePr>
              <a:graphicFrameLocks noChangeAspect="1"/>
            </p:cNvGraphicFramePr>
            <p:nvPr>
              <p:extLst>
                <p:ext uri="{D42A27DB-BD31-4B8C-83A1-F6EECF244321}">
                  <p14:modId xmlns:p14="http://schemas.microsoft.com/office/powerpoint/2010/main" val="54599100"/>
                </p:ext>
              </p:extLst>
            </p:nvPr>
          </p:nvGraphicFramePr>
          <p:xfrm>
            <a:off x="2196438" y="2473920"/>
            <a:ext cx="355600" cy="293688"/>
          </p:xfrm>
          <a:graphic>
            <a:graphicData uri="http://schemas.openxmlformats.org/presentationml/2006/ole">
              <mc:AlternateContent xmlns:mc="http://schemas.openxmlformats.org/markup-compatibility/2006">
                <mc:Choice xmlns:v="urn:schemas-microsoft-com:vml" Requires="v">
                  <p:oleObj name="Equation" r:id="rId10" imgW="215619" imgH="177569" progId="">
                    <p:embed/>
                  </p:oleObj>
                </mc:Choice>
                <mc:Fallback>
                  <p:oleObj name="Equation" r:id="rId10" imgW="215619" imgH="177569" progId="">
                    <p:embed/>
                    <p:pic>
                      <p:nvPicPr>
                        <p:cNvPr id="0" name="Picture 15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196438" y="2473920"/>
                          <a:ext cx="355600" cy="2936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 name="Object 3119"/>
            <p:cNvGraphicFramePr>
              <a:graphicFrameLocks noChangeAspect="1"/>
            </p:cNvGraphicFramePr>
            <p:nvPr>
              <p:extLst>
                <p:ext uri="{D42A27DB-BD31-4B8C-83A1-F6EECF244321}">
                  <p14:modId xmlns:p14="http://schemas.microsoft.com/office/powerpoint/2010/main" val="1985757661"/>
                </p:ext>
              </p:extLst>
            </p:nvPr>
          </p:nvGraphicFramePr>
          <p:xfrm>
            <a:off x="672438" y="1700808"/>
            <a:ext cx="230188" cy="273050"/>
          </p:xfrm>
          <a:graphic>
            <a:graphicData uri="http://schemas.openxmlformats.org/presentationml/2006/ole">
              <mc:AlternateContent xmlns:mc="http://schemas.openxmlformats.org/markup-compatibility/2006">
                <mc:Choice xmlns:v="urn:schemas-microsoft-com:vml" Requires="v">
                  <p:oleObj name="Equation" r:id="rId12" imgW="139579" imgH="164957" progId="">
                    <p:embed/>
                  </p:oleObj>
                </mc:Choice>
                <mc:Fallback>
                  <p:oleObj name="Equation" r:id="rId12" imgW="139579" imgH="164957" progId="">
                    <p:embed/>
                    <p:pic>
                      <p:nvPicPr>
                        <p:cNvPr id="0" name="Picture 15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72438" y="1700808"/>
                          <a:ext cx="230188" cy="273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 name="Object 3120"/>
            <p:cNvGraphicFramePr>
              <a:graphicFrameLocks noChangeAspect="1"/>
            </p:cNvGraphicFramePr>
            <p:nvPr>
              <p:extLst>
                <p:ext uri="{D42A27DB-BD31-4B8C-83A1-F6EECF244321}">
                  <p14:modId xmlns:p14="http://schemas.microsoft.com/office/powerpoint/2010/main" val="3456673781"/>
                </p:ext>
              </p:extLst>
            </p:nvPr>
          </p:nvGraphicFramePr>
          <p:xfrm>
            <a:off x="3568038" y="3758208"/>
            <a:ext cx="209550" cy="209550"/>
          </p:xfrm>
          <a:graphic>
            <a:graphicData uri="http://schemas.openxmlformats.org/presentationml/2006/ole">
              <mc:AlternateContent xmlns:mc="http://schemas.openxmlformats.org/markup-compatibility/2006">
                <mc:Choice xmlns:v="urn:schemas-microsoft-com:vml" Requires="v">
                  <p:oleObj name="Equation" r:id="rId14" imgW="126725" imgH="126725" progId="">
                    <p:embed/>
                  </p:oleObj>
                </mc:Choice>
                <mc:Fallback>
                  <p:oleObj name="Equation" r:id="rId14" imgW="126725" imgH="126725" progId="">
                    <p:embed/>
                    <p:pic>
                      <p:nvPicPr>
                        <p:cNvPr id="0" name="Picture 16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568038" y="3758208"/>
                          <a:ext cx="209550" cy="209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 name="Object 3121"/>
            <p:cNvGraphicFramePr>
              <a:graphicFrameLocks noChangeAspect="1"/>
            </p:cNvGraphicFramePr>
            <p:nvPr>
              <p:extLst>
                <p:ext uri="{D42A27DB-BD31-4B8C-83A1-F6EECF244321}">
                  <p14:modId xmlns:p14="http://schemas.microsoft.com/office/powerpoint/2010/main" val="3271142877"/>
                </p:ext>
              </p:extLst>
            </p:nvPr>
          </p:nvGraphicFramePr>
          <p:xfrm>
            <a:off x="377163" y="3962995"/>
            <a:ext cx="209550" cy="231775"/>
          </p:xfrm>
          <a:graphic>
            <a:graphicData uri="http://schemas.openxmlformats.org/presentationml/2006/ole">
              <mc:AlternateContent xmlns:mc="http://schemas.openxmlformats.org/markup-compatibility/2006">
                <mc:Choice xmlns:v="urn:schemas-microsoft-com:vml" Requires="v">
                  <p:oleObj name="Equation" r:id="rId16" imgW="126835" imgH="139518" progId="">
                    <p:embed/>
                  </p:oleObj>
                </mc:Choice>
                <mc:Fallback>
                  <p:oleObj name="Equation" r:id="rId16" imgW="126835" imgH="139518" progId="">
                    <p:embed/>
                    <p:pic>
                      <p:nvPicPr>
                        <p:cNvPr id="0" name="Picture 16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77163" y="3962995"/>
                          <a:ext cx="209550" cy="231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0" name="Text Box 3122"/>
          <p:cNvSpPr txBox="1">
            <a:spLocks noChangeArrowheads="1"/>
          </p:cNvSpPr>
          <p:nvPr/>
        </p:nvSpPr>
        <p:spPr bwMode="auto">
          <a:xfrm>
            <a:off x="520038" y="4302720"/>
            <a:ext cx="7868386" cy="461665"/>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400" b="1" dirty="0">
                <a:solidFill>
                  <a:srgbClr val="0000FF"/>
                </a:solidFill>
                <a:latin typeface="黑体" pitchFamily="49" charset="-122"/>
                <a:ea typeface="黑体" pitchFamily="49" charset="-122"/>
              </a:rPr>
              <a:t>量纲：［长度］</a:t>
            </a:r>
            <a:r>
              <a:rPr kumimoji="1" lang="en-US" altLang="zh-CN" sz="2400" b="1" baseline="30000" dirty="0">
                <a:solidFill>
                  <a:srgbClr val="0000FF"/>
                </a:solidFill>
                <a:latin typeface="黑体" pitchFamily="49" charset="-122"/>
                <a:ea typeface="黑体" pitchFamily="49" charset="-122"/>
              </a:rPr>
              <a:t>3</a:t>
            </a:r>
            <a:r>
              <a:rPr kumimoji="1" lang="zh-CN" altLang="en-US" sz="2400" b="1" dirty="0">
                <a:solidFill>
                  <a:srgbClr val="0000FF"/>
                </a:solidFill>
                <a:latin typeface="黑体" pitchFamily="49" charset="-122"/>
                <a:ea typeface="黑体" pitchFamily="49" charset="-122"/>
              </a:rPr>
              <a:t>；单位：</a:t>
            </a:r>
            <a:r>
              <a:rPr kumimoji="1" lang="en-US" altLang="zh-CN" sz="2400" b="1" dirty="0">
                <a:solidFill>
                  <a:srgbClr val="0000FF"/>
                </a:solidFill>
                <a:latin typeface="黑体" pitchFamily="49" charset="-122"/>
                <a:ea typeface="黑体" pitchFamily="49" charset="-122"/>
              </a:rPr>
              <a:t>m</a:t>
            </a:r>
            <a:r>
              <a:rPr kumimoji="1" lang="en-US" altLang="zh-CN" sz="2400" b="1" baseline="30000" dirty="0">
                <a:solidFill>
                  <a:srgbClr val="0000FF"/>
                </a:solidFill>
                <a:latin typeface="黑体" pitchFamily="49" charset="-122"/>
                <a:ea typeface="黑体" pitchFamily="49" charset="-122"/>
              </a:rPr>
              <a:t>3</a:t>
            </a:r>
            <a:r>
              <a:rPr kumimoji="1" lang="zh-CN" altLang="en-US" sz="2400" b="1" dirty="0">
                <a:solidFill>
                  <a:srgbClr val="0000FF"/>
                </a:solidFill>
                <a:latin typeface="黑体" pitchFamily="49" charset="-122"/>
                <a:ea typeface="黑体" pitchFamily="49" charset="-122"/>
              </a:rPr>
              <a:t>、</a:t>
            </a:r>
            <a:r>
              <a:rPr kumimoji="1" lang="en-US" altLang="zh-CN" sz="2400" b="1" dirty="0">
                <a:solidFill>
                  <a:srgbClr val="0000FF"/>
                </a:solidFill>
                <a:latin typeface="黑体" pitchFamily="49" charset="-122"/>
                <a:ea typeface="黑体" pitchFamily="49" charset="-122"/>
              </a:rPr>
              <a:t>cm</a:t>
            </a:r>
            <a:r>
              <a:rPr kumimoji="1" lang="en-US" altLang="zh-CN" sz="2400" b="1" baseline="30000" dirty="0">
                <a:solidFill>
                  <a:srgbClr val="0000FF"/>
                </a:solidFill>
                <a:latin typeface="黑体" pitchFamily="49" charset="-122"/>
                <a:ea typeface="黑体" pitchFamily="49" charset="-122"/>
              </a:rPr>
              <a:t>3</a:t>
            </a:r>
            <a:r>
              <a:rPr kumimoji="1" lang="zh-CN" altLang="en-US" sz="2400" b="1" dirty="0">
                <a:solidFill>
                  <a:srgbClr val="0000FF"/>
                </a:solidFill>
                <a:latin typeface="黑体" pitchFamily="49" charset="-122"/>
                <a:ea typeface="黑体" pitchFamily="49" charset="-122"/>
              </a:rPr>
              <a:t>、</a:t>
            </a:r>
            <a:r>
              <a:rPr kumimoji="1" lang="en-US" altLang="zh-CN" sz="2400" b="1" dirty="0">
                <a:solidFill>
                  <a:srgbClr val="0000FF"/>
                </a:solidFill>
                <a:latin typeface="黑体" pitchFamily="49" charset="-122"/>
                <a:ea typeface="黑体" pitchFamily="49" charset="-122"/>
              </a:rPr>
              <a:t>mm</a:t>
            </a:r>
            <a:r>
              <a:rPr kumimoji="1" lang="en-US" altLang="zh-CN" sz="2400" b="1" baseline="30000" dirty="0">
                <a:solidFill>
                  <a:srgbClr val="0000FF"/>
                </a:solidFill>
                <a:latin typeface="黑体" pitchFamily="49" charset="-122"/>
                <a:ea typeface="黑体" pitchFamily="49" charset="-122"/>
              </a:rPr>
              <a:t>3</a:t>
            </a:r>
            <a:r>
              <a:rPr kumimoji="1" lang="zh-CN" altLang="en-US" sz="2400" b="1" dirty="0">
                <a:solidFill>
                  <a:srgbClr val="0000FF"/>
                </a:solidFill>
                <a:latin typeface="黑体" pitchFamily="49" charset="-122"/>
                <a:ea typeface="黑体" pitchFamily="49" charset="-122"/>
              </a:rPr>
              <a:t>。</a:t>
            </a:r>
          </a:p>
        </p:txBody>
      </p:sp>
      <p:sp>
        <p:nvSpPr>
          <p:cNvPr id="24" name="Text Box 3127"/>
          <p:cNvSpPr txBox="1">
            <a:spLocks noChangeArrowheads="1"/>
          </p:cNvSpPr>
          <p:nvPr/>
        </p:nvSpPr>
        <p:spPr bwMode="auto">
          <a:xfrm>
            <a:off x="520039" y="4894106"/>
            <a:ext cx="7868386" cy="461665"/>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400" b="1" dirty="0">
                <a:solidFill>
                  <a:srgbClr val="0000FF"/>
                </a:solidFill>
                <a:latin typeface="黑体" pitchFamily="49" charset="-122"/>
                <a:ea typeface="黑体" pitchFamily="49" charset="-122"/>
              </a:rPr>
              <a:t>静矩的值可以是正值、负值、或零。</a:t>
            </a:r>
          </a:p>
        </p:txBody>
      </p:sp>
    </p:spTree>
    <p:extLst>
      <p:ext uri="{BB962C8B-B14F-4D97-AF65-F5344CB8AC3E}">
        <p14:creationId xmlns:p14="http://schemas.microsoft.com/office/powerpoint/2010/main" val="1262124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2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20" grpId="0" animBg="1" autoUpdateAnimBg="0"/>
      <p:bldP spid="2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1"/>
          <p:cNvGraphicFramePr>
            <a:graphicFrameLocks noChangeAspect="1"/>
          </p:cNvGraphicFramePr>
          <p:nvPr>
            <p:extLst>
              <p:ext uri="{D42A27DB-BD31-4B8C-83A1-F6EECF244321}">
                <p14:modId xmlns:p14="http://schemas.microsoft.com/office/powerpoint/2010/main" val="3627017348"/>
              </p:ext>
            </p:extLst>
          </p:nvPr>
        </p:nvGraphicFramePr>
        <p:xfrm>
          <a:off x="1923579" y="404664"/>
          <a:ext cx="2590800" cy="1009650"/>
        </p:xfrm>
        <a:graphic>
          <a:graphicData uri="http://schemas.openxmlformats.org/presentationml/2006/ole">
            <mc:AlternateContent xmlns:mc="http://schemas.openxmlformats.org/markup-compatibility/2006">
              <mc:Choice xmlns:v="urn:schemas-microsoft-com:vml" Requires="v">
                <p:oleObj name="公式" r:id="rId2" imgW="800640" imgH="279000" progId="">
                  <p:embed/>
                </p:oleObj>
              </mc:Choice>
              <mc:Fallback>
                <p:oleObj name="公式" r:id="rId2" imgW="800640" imgH="279000" progId="">
                  <p:embed/>
                  <p:pic>
                    <p:nvPicPr>
                      <p:cNvPr id="0" name="Picture 3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3579" y="404664"/>
                        <a:ext cx="2590800" cy="1009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Object 32"/>
          <p:cNvGraphicFramePr>
            <a:graphicFrameLocks noChangeAspect="1"/>
          </p:cNvGraphicFramePr>
          <p:nvPr>
            <p:extLst>
              <p:ext uri="{D42A27DB-BD31-4B8C-83A1-F6EECF244321}">
                <p14:modId xmlns:p14="http://schemas.microsoft.com/office/powerpoint/2010/main" val="3667911211"/>
              </p:ext>
            </p:extLst>
          </p:nvPr>
        </p:nvGraphicFramePr>
        <p:xfrm>
          <a:off x="1907704" y="1528614"/>
          <a:ext cx="2624138" cy="1009650"/>
        </p:xfrm>
        <a:graphic>
          <a:graphicData uri="http://schemas.openxmlformats.org/presentationml/2006/ole">
            <mc:AlternateContent xmlns:mc="http://schemas.openxmlformats.org/markup-compatibility/2006">
              <mc:Choice xmlns:v="urn:schemas-microsoft-com:vml" Requires="v">
                <p:oleObj name="公式" r:id="rId4" imgW="808920" imgH="279000" progId="">
                  <p:embed/>
                </p:oleObj>
              </mc:Choice>
              <mc:Fallback>
                <p:oleObj name="公式" r:id="rId4" imgW="808920" imgH="279000" progId="">
                  <p:embed/>
                  <p:pic>
                    <p:nvPicPr>
                      <p:cNvPr id="0" name="Picture 3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07704" y="1528614"/>
                        <a:ext cx="2624138" cy="1009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AutoShape 33"/>
          <p:cNvSpPr>
            <a:spLocks/>
          </p:cNvSpPr>
          <p:nvPr/>
        </p:nvSpPr>
        <p:spPr bwMode="auto">
          <a:xfrm>
            <a:off x="4514379" y="633264"/>
            <a:ext cx="457200" cy="1524000"/>
          </a:xfrm>
          <a:prstGeom prst="rightBrace">
            <a:avLst>
              <a:gd name="adj1" fmla="val 27778"/>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en-US"/>
          </a:p>
        </p:txBody>
      </p:sp>
      <p:sp>
        <p:nvSpPr>
          <p:cNvPr id="7" name="Text Box 34"/>
          <p:cNvSpPr txBox="1">
            <a:spLocks noChangeArrowheads="1"/>
          </p:cNvSpPr>
          <p:nvPr/>
        </p:nvSpPr>
        <p:spPr bwMode="auto">
          <a:xfrm>
            <a:off x="5184304" y="1071414"/>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kumimoji="1" lang="zh-CN" altLang="zh-CN" sz="2400">
              <a:solidFill>
                <a:srgbClr val="FF3300"/>
              </a:solidFill>
              <a:latin typeface="宋体" pitchFamily="2" charset="-122"/>
            </a:endParaRPr>
          </a:p>
        </p:txBody>
      </p:sp>
      <p:sp>
        <p:nvSpPr>
          <p:cNvPr id="8" name="Rectangle 35"/>
          <p:cNvSpPr>
            <a:spLocks noChangeArrowheads="1"/>
          </p:cNvSpPr>
          <p:nvPr/>
        </p:nvSpPr>
        <p:spPr bwMode="auto">
          <a:xfrm>
            <a:off x="5260504" y="1147614"/>
            <a:ext cx="3048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400" b="1" dirty="0">
                <a:solidFill>
                  <a:srgbClr val="0000FF"/>
                </a:solidFill>
                <a:latin typeface="黑体" pitchFamily="49" charset="-122"/>
                <a:ea typeface="黑体" pitchFamily="49" charset="-122"/>
              </a:rPr>
              <a:t>静矩和形心的关系</a:t>
            </a:r>
          </a:p>
        </p:txBody>
      </p:sp>
      <p:sp>
        <p:nvSpPr>
          <p:cNvPr id="9" name="Text Box 37"/>
          <p:cNvSpPr txBox="1">
            <a:spLocks noChangeArrowheads="1"/>
          </p:cNvSpPr>
          <p:nvPr/>
        </p:nvSpPr>
        <p:spPr bwMode="auto">
          <a:xfrm>
            <a:off x="683568" y="2708920"/>
            <a:ext cx="7848872" cy="9787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20000"/>
              </a:lnSpc>
            </a:pPr>
            <a:r>
              <a:rPr kumimoji="1" lang="zh-CN" altLang="en-US" sz="2400" b="1" dirty="0">
                <a:solidFill>
                  <a:srgbClr val="0000FF"/>
                </a:solidFill>
                <a:latin typeface="黑体" pitchFamily="49" charset="-122"/>
                <a:ea typeface="黑体" pitchFamily="49" charset="-122"/>
              </a:rPr>
              <a:t>图形对过</a:t>
            </a:r>
            <a:r>
              <a:rPr kumimoji="1" lang="zh-CN" altLang="en-US" sz="2400" b="1" dirty="0">
                <a:solidFill>
                  <a:srgbClr val="FF0000"/>
                </a:solidFill>
                <a:latin typeface="黑体" pitchFamily="49" charset="-122"/>
                <a:ea typeface="黑体" pitchFamily="49" charset="-122"/>
              </a:rPr>
              <a:t>形心</a:t>
            </a:r>
            <a:r>
              <a:rPr kumimoji="1" lang="zh-CN" altLang="en-US" sz="2400" b="1" dirty="0">
                <a:solidFill>
                  <a:srgbClr val="0000FF"/>
                </a:solidFill>
                <a:latin typeface="黑体" pitchFamily="49" charset="-122"/>
                <a:ea typeface="黑体" pitchFamily="49" charset="-122"/>
              </a:rPr>
              <a:t>的轴的静矩为</a:t>
            </a:r>
            <a:r>
              <a:rPr kumimoji="1" lang="zh-CN" altLang="en-US" sz="2400" b="1" dirty="0">
                <a:solidFill>
                  <a:srgbClr val="FF0000"/>
                </a:solidFill>
                <a:latin typeface="黑体" pitchFamily="49" charset="-122"/>
                <a:ea typeface="黑体" pitchFamily="49" charset="-122"/>
              </a:rPr>
              <a:t>零</a:t>
            </a:r>
            <a:r>
              <a:rPr kumimoji="1" lang="zh-CN" altLang="en-US" sz="2400" b="1" dirty="0">
                <a:solidFill>
                  <a:srgbClr val="0000FF"/>
                </a:solidFill>
                <a:latin typeface="黑体" pitchFamily="49" charset="-122"/>
                <a:ea typeface="黑体" pitchFamily="49" charset="-122"/>
              </a:rPr>
              <a:t>；若图形对某轴的静矩为零，则此轴一定过图形的形心。</a:t>
            </a:r>
          </a:p>
        </p:txBody>
      </p:sp>
    </p:spTree>
    <p:extLst>
      <p:ext uri="{BB962C8B-B14F-4D97-AF65-F5344CB8AC3E}">
        <p14:creationId xmlns:p14="http://schemas.microsoft.com/office/powerpoint/2010/main" val="1903449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0-#ppt_w/2"/>
                                          </p:val>
                                        </p:tav>
                                        <p:tav tm="100000">
                                          <p:val>
                                            <p:strVal val="#ppt_x"/>
                                          </p:val>
                                        </p:tav>
                                      </p:tavLst>
                                    </p:anim>
                                    <p:anim calcmode="lin" valueType="num">
                                      <p:cBhvr additive="base">
                                        <p:cTn id="14"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0-#ppt_w/2"/>
                                          </p:val>
                                        </p:tav>
                                        <p:tav tm="100000">
                                          <p:val>
                                            <p:strVal val="#ppt_x"/>
                                          </p:val>
                                        </p:tav>
                                      </p:tavLst>
                                    </p:anim>
                                    <p:anim calcmode="lin" valueType="num">
                                      <p:cBhvr additive="base">
                                        <p:cTn id="20" dur="500" fill="hold"/>
                                        <p:tgtEl>
                                          <p:spTgt spid="5"/>
                                        </p:tgtEl>
                                        <p:attrNameLst>
                                          <p:attrName>ppt_y</p:attrName>
                                        </p:attrNameLst>
                                      </p:cBhvr>
                                      <p:tavLst>
                                        <p:tav tm="0">
                                          <p:val>
                                            <p:strVal val="#ppt_y"/>
                                          </p:val>
                                        </p:tav>
                                        <p:tav tm="100000">
                                          <p:val>
                                            <p:strVal val="#ppt_y"/>
                                          </p:val>
                                        </p:tav>
                                      </p:tavLst>
                                    </p:anim>
                                  </p:childTnLst>
                                </p:cTn>
                              </p:par>
                            </p:childTnLst>
                          </p:cTn>
                        </p:par>
                        <p:par>
                          <p:cTn id="21" fill="hold">
                            <p:stCondLst>
                              <p:cond delay="500"/>
                            </p:stCondLst>
                            <p:childTnLst>
                              <p:par>
                                <p:cTn id="22" presetID="2" presetClass="entr" presetSubtype="8" fill="hold" grpId="0" nodeType="afterEffect">
                                  <p:stCondLst>
                                    <p:cond delay="0"/>
                                  </p:stCondLst>
                                  <p:childTnLst>
                                    <p:set>
                                      <p:cBhvr>
                                        <p:cTn id="23" dur="1" fill="hold">
                                          <p:stCondLst>
                                            <p:cond delay="0"/>
                                          </p:stCondLst>
                                        </p:cTn>
                                        <p:tgtEl>
                                          <p:spTgt spid="6"/>
                                        </p:tgtEl>
                                        <p:attrNameLst>
                                          <p:attrName>style.visibility</p:attrName>
                                        </p:attrNameLst>
                                      </p:cBhvr>
                                      <p:to>
                                        <p:strVal val="visible"/>
                                      </p:to>
                                    </p:set>
                                    <p:anim calcmode="lin" valueType="num">
                                      <p:cBhvr additive="base">
                                        <p:cTn id="24" dur="500" fill="hold"/>
                                        <p:tgtEl>
                                          <p:spTgt spid="6"/>
                                        </p:tgtEl>
                                        <p:attrNameLst>
                                          <p:attrName>ppt_x</p:attrName>
                                        </p:attrNameLst>
                                      </p:cBhvr>
                                      <p:tavLst>
                                        <p:tav tm="0">
                                          <p:val>
                                            <p:strVal val="0-#ppt_w/2"/>
                                          </p:val>
                                        </p:tav>
                                        <p:tav tm="100000">
                                          <p:val>
                                            <p:strVal val="#ppt_x"/>
                                          </p:val>
                                        </p:tav>
                                      </p:tavLst>
                                    </p:anim>
                                    <p:anim calcmode="lin" valueType="num">
                                      <p:cBhvr additive="base">
                                        <p:cTn id="25"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grpId="0" nodeType="clickEffect">
                                  <p:stCondLst>
                                    <p:cond delay="0"/>
                                  </p:stCondLst>
                                  <p:childTnLst>
                                    <p:set>
                                      <p:cBhvr>
                                        <p:cTn id="29" dur="1" fill="hold">
                                          <p:stCondLst>
                                            <p:cond delay="0"/>
                                          </p:stCondLst>
                                        </p:cTn>
                                        <p:tgtEl>
                                          <p:spTgt spid="8"/>
                                        </p:tgtEl>
                                        <p:attrNameLst>
                                          <p:attrName>style.visibility</p:attrName>
                                        </p:attrNameLst>
                                      </p:cBhvr>
                                      <p:to>
                                        <p:strVal val="visible"/>
                                      </p:to>
                                    </p:set>
                                    <p:anim calcmode="lin" valueType="num">
                                      <p:cBhvr additive="base">
                                        <p:cTn id="30" dur="500" fill="hold"/>
                                        <p:tgtEl>
                                          <p:spTgt spid="8"/>
                                        </p:tgtEl>
                                        <p:attrNameLst>
                                          <p:attrName>ppt_x</p:attrName>
                                        </p:attrNameLst>
                                      </p:cBhvr>
                                      <p:tavLst>
                                        <p:tav tm="0">
                                          <p:val>
                                            <p:strVal val="0-#ppt_w/2"/>
                                          </p:val>
                                        </p:tav>
                                        <p:tav tm="100000">
                                          <p:val>
                                            <p:strVal val="#ppt_x"/>
                                          </p:val>
                                        </p:tav>
                                      </p:tavLst>
                                    </p:anim>
                                    <p:anim calcmode="lin" valueType="num">
                                      <p:cBhvr additive="base">
                                        <p:cTn id="31"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iterate type="lt">
                                    <p:tmPct val="100000"/>
                                  </p:iterate>
                                  <p:childTnLst>
                                    <p:set>
                                      <p:cBhvr>
                                        <p:cTn id="35" dur="1" fill="hold">
                                          <p:stCondLst>
                                            <p:cond delay="0"/>
                                          </p:stCondLst>
                                        </p:cTn>
                                        <p:tgtEl>
                                          <p:spTgt spid="9"/>
                                        </p:tgtEl>
                                        <p:attrNameLst>
                                          <p:attrName>style.visibility</p:attrName>
                                        </p:attrNameLst>
                                      </p:cBhvr>
                                      <p:to>
                                        <p:strVal val="visible"/>
                                      </p:to>
                                    </p:set>
                                    <p:animEffect transition="in" filter="dissolve">
                                      <p:cBhvr>
                                        <p:cTn id="36" dur="75"/>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utoUpdateAnimBg="0"/>
      <p:bldP spid="8" grpId="0" autoUpdateAnimBg="0"/>
      <p:bldP spid="9"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7"/>
          <p:cNvSpPr txBox="1">
            <a:spLocks noChangeArrowheads="1"/>
          </p:cNvSpPr>
          <p:nvPr/>
        </p:nvSpPr>
        <p:spPr bwMode="auto">
          <a:xfrm>
            <a:off x="467544" y="591071"/>
            <a:ext cx="1112805" cy="461665"/>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400" b="1" dirty="0">
                <a:solidFill>
                  <a:srgbClr val="FF0000"/>
                </a:solidFill>
                <a:latin typeface="宋体" pitchFamily="2" charset="-122"/>
                <a:ea typeface="黑体" pitchFamily="49" charset="-122"/>
              </a:rPr>
              <a:t>惯性矩</a:t>
            </a:r>
          </a:p>
        </p:txBody>
      </p:sp>
      <p:sp>
        <p:nvSpPr>
          <p:cNvPr id="7" name="Text Box 13"/>
          <p:cNvSpPr txBox="1">
            <a:spLocks noChangeArrowheads="1"/>
          </p:cNvSpPr>
          <p:nvPr/>
        </p:nvSpPr>
        <p:spPr bwMode="auto">
          <a:xfrm>
            <a:off x="503982" y="3044084"/>
            <a:ext cx="2943225" cy="457200"/>
          </a:xfrm>
          <a:prstGeom prst="rect">
            <a:avLst/>
          </a:prstGeom>
          <a:noFill/>
          <a:ln w="2857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400" b="1" dirty="0">
                <a:solidFill>
                  <a:srgbClr val="0000FF"/>
                </a:solidFill>
                <a:latin typeface="黑体" pitchFamily="49" charset="-122"/>
                <a:ea typeface="黑体" pitchFamily="49" charset="-122"/>
              </a:rPr>
              <a:t>量纲：</a:t>
            </a:r>
            <a:r>
              <a:rPr kumimoji="1" lang="en-US" altLang="zh-CN" sz="2400" b="1" dirty="0">
                <a:solidFill>
                  <a:srgbClr val="0000FF"/>
                </a:solidFill>
                <a:latin typeface="黑体" pitchFamily="49" charset="-122"/>
                <a:ea typeface="黑体" pitchFamily="49" charset="-122"/>
              </a:rPr>
              <a:t>m4</a:t>
            </a:r>
            <a:r>
              <a:rPr kumimoji="1" lang="zh-CN" altLang="en-US" sz="2400" b="1" dirty="0">
                <a:solidFill>
                  <a:srgbClr val="0000FF"/>
                </a:solidFill>
                <a:latin typeface="黑体" pitchFamily="49" charset="-122"/>
                <a:ea typeface="黑体" pitchFamily="49" charset="-122"/>
              </a:rPr>
              <a:t>、</a:t>
            </a:r>
            <a:r>
              <a:rPr kumimoji="1" lang="en-US" altLang="zh-CN" sz="2400" b="1" dirty="0">
                <a:solidFill>
                  <a:srgbClr val="0000FF"/>
                </a:solidFill>
                <a:latin typeface="黑体" pitchFamily="49" charset="-122"/>
                <a:ea typeface="黑体" pitchFamily="49" charset="-122"/>
              </a:rPr>
              <a:t>mm4</a:t>
            </a:r>
            <a:endParaRPr kumimoji="1" lang="zh-CN" altLang="en-US" sz="2400" b="1" dirty="0">
              <a:solidFill>
                <a:srgbClr val="0000FF"/>
              </a:solidFill>
              <a:latin typeface="黑体" pitchFamily="49" charset="-122"/>
              <a:ea typeface="黑体" pitchFamily="49" charset="-122"/>
            </a:endParaRPr>
          </a:p>
        </p:txBody>
      </p:sp>
      <p:graphicFrame>
        <p:nvGraphicFramePr>
          <p:cNvPr id="22" name="Object 28"/>
          <p:cNvGraphicFramePr>
            <a:graphicFrameLocks noChangeAspect="1"/>
          </p:cNvGraphicFramePr>
          <p:nvPr>
            <p:extLst>
              <p:ext uri="{D42A27DB-BD31-4B8C-83A1-F6EECF244321}">
                <p14:modId xmlns:p14="http://schemas.microsoft.com/office/powerpoint/2010/main" val="2100188021"/>
              </p:ext>
            </p:extLst>
          </p:nvPr>
        </p:nvGraphicFramePr>
        <p:xfrm>
          <a:off x="3382194" y="1248495"/>
          <a:ext cx="1905000" cy="922338"/>
        </p:xfrm>
        <a:graphic>
          <a:graphicData uri="http://schemas.openxmlformats.org/presentationml/2006/ole">
            <mc:AlternateContent xmlns:mc="http://schemas.openxmlformats.org/markup-compatibility/2006">
              <mc:Choice xmlns:v="urn:schemas-microsoft-com:vml" Requires="v">
                <p:oleObj name="公式" r:id="rId2" imgW="612720" imgH="271080" progId="">
                  <p:embed/>
                </p:oleObj>
              </mc:Choice>
              <mc:Fallback>
                <p:oleObj name="公式" r:id="rId2" imgW="612720" imgH="271080" progId="">
                  <p:embed/>
                  <p:pic>
                    <p:nvPicPr>
                      <p:cNvPr id="0" name="Picture 9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82194" y="1248495"/>
                        <a:ext cx="1905000" cy="922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 name="Text Box 48"/>
          <p:cNvSpPr txBox="1">
            <a:spLocks noChangeArrowheads="1"/>
          </p:cNvSpPr>
          <p:nvPr/>
        </p:nvSpPr>
        <p:spPr bwMode="auto">
          <a:xfrm>
            <a:off x="488181" y="3854461"/>
            <a:ext cx="4692725" cy="461665"/>
          </a:xfrm>
          <a:prstGeom prst="rect">
            <a:avLst/>
          </a:prstGeom>
          <a:noFill/>
          <a:ln w="2857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400" b="1" dirty="0">
                <a:solidFill>
                  <a:srgbClr val="0000FF"/>
                </a:solidFill>
                <a:latin typeface="黑体" pitchFamily="49" charset="-122"/>
                <a:ea typeface="黑体" pitchFamily="49" charset="-122"/>
              </a:rPr>
              <a:t>惯性矩是对轴而言（轴惯性矩）</a:t>
            </a:r>
          </a:p>
        </p:txBody>
      </p:sp>
      <p:sp>
        <p:nvSpPr>
          <p:cNvPr id="25" name="Text Box 49"/>
          <p:cNvSpPr txBox="1">
            <a:spLocks noChangeArrowheads="1"/>
          </p:cNvSpPr>
          <p:nvPr/>
        </p:nvSpPr>
        <p:spPr bwMode="auto">
          <a:xfrm>
            <a:off x="488181" y="4603885"/>
            <a:ext cx="4692725" cy="457200"/>
          </a:xfrm>
          <a:prstGeom prst="rect">
            <a:avLst/>
          </a:prstGeom>
          <a:noFill/>
          <a:ln w="2857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400" b="1" dirty="0">
                <a:solidFill>
                  <a:srgbClr val="0000FF"/>
                </a:solidFill>
                <a:latin typeface="黑体" pitchFamily="49" charset="-122"/>
                <a:ea typeface="黑体" pitchFamily="49" charset="-122"/>
              </a:rPr>
              <a:t>惯性矩的取值恒为正值</a:t>
            </a:r>
          </a:p>
        </p:txBody>
      </p:sp>
      <p:sp>
        <p:nvSpPr>
          <p:cNvPr id="26" name="Text Box 50"/>
          <p:cNvSpPr txBox="1">
            <a:spLocks noChangeArrowheads="1"/>
          </p:cNvSpPr>
          <p:nvPr/>
        </p:nvSpPr>
        <p:spPr bwMode="auto">
          <a:xfrm>
            <a:off x="490849" y="5353309"/>
            <a:ext cx="1492249" cy="457200"/>
          </a:xfrm>
          <a:prstGeom prst="rect">
            <a:avLst/>
          </a:prstGeom>
          <a:noFill/>
          <a:ln w="2857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400" b="1" dirty="0">
                <a:solidFill>
                  <a:srgbClr val="FF0000"/>
                </a:solidFill>
                <a:latin typeface="黑体" pitchFamily="49" charset="-122"/>
                <a:ea typeface="黑体" pitchFamily="49" charset="-122"/>
              </a:rPr>
              <a:t>极惯性矩</a:t>
            </a:r>
          </a:p>
        </p:txBody>
      </p:sp>
      <p:graphicFrame>
        <p:nvGraphicFramePr>
          <p:cNvPr id="28" name="Object 52"/>
          <p:cNvGraphicFramePr>
            <a:graphicFrameLocks noChangeAspect="1"/>
          </p:cNvGraphicFramePr>
          <p:nvPr>
            <p:extLst>
              <p:ext uri="{D42A27DB-BD31-4B8C-83A1-F6EECF244321}">
                <p14:modId xmlns:p14="http://schemas.microsoft.com/office/powerpoint/2010/main" val="1933008241"/>
              </p:ext>
            </p:extLst>
          </p:nvPr>
        </p:nvGraphicFramePr>
        <p:xfrm>
          <a:off x="2483768" y="5280943"/>
          <a:ext cx="1795463" cy="668337"/>
        </p:xfrm>
        <a:graphic>
          <a:graphicData uri="http://schemas.openxmlformats.org/presentationml/2006/ole">
            <mc:AlternateContent xmlns:mc="http://schemas.openxmlformats.org/markup-compatibility/2006">
              <mc:Choice xmlns:v="urn:schemas-microsoft-com:vml" Requires="v">
                <p:oleObj name="Equation" r:id="rId4" imgW="787400" imgH="292100" progId="">
                  <p:embed/>
                </p:oleObj>
              </mc:Choice>
              <mc:Fallback>
                <p:oleObj name="Equation" r:id="rId4" imgW="787400" imgH="292100" progId="">
                  <p:embed/>
                  <p:pic>
                    <p:nvPicPr>
                      <p:cNvPr id="0" name="Picture 9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83768" y="5280943"/>
                        <a:ext cx="1795463" cy="668337"/>
                      </a:xfrm>
                      <a:prstGeom prst="rect">
                        <a:avLst/>
                      </a:prstGeom>
                      <a:noFill/>
                      <a:extLst>
                        <a:ext uri="{909E8E84-426E-40DD-AFC4-6F175D3DCCD1}">
                          <a14:hiddenFill xmlns:a14="http://schemas.microsoft.com/office/drawing/2010/main">
                            <a:solidFill>
                              <a:schemeClr val="hlink"/>
                            </a:solidFill>
                          </a14:hiddenFill>
                        </a:ext>
                      </a:extLst>
                    </p:spPr>
                  </p:pic>
                </p:oleObj>
              </mc:Fallback>
            </mc:AlternateContent>
          </a:graphicData>
        </a:graphic>
      </p:graphicFrame>
      <p:grpSp>
        <p:nvGrpSpPr>
          <p:cNvPr id="37" name="组合 36"/>
          <p:cNvGrpSpPr/>
          <p:nvPr/>
        </p:nvGrpSpPr>
        <p:grpSpPr>
          <a:xfrm>
            <a:off x="5468938" y="422730"/>
            <a:ext cx="3443287" cy="2663825"/>
            <a:chOff x="5468938" y="422730"/>
            <a:chExt cx="3443287" cy="2663825"/>
          </a:xfrm>
        </p:grpSpPr>
        <p:sp>
          <p:nvSpPr>
            <p:cNvPr id="2" name="Oval 43"/>
            <p:cNvSpPr>
              <a:spLocks noChangeArrowheads="1"/>
            </p:cNvSpPr>
            <p:nvPr/>
          </p:nvSpPr>
          <p:spPr bwMode="auto">
            <a:xfrm>
              <a:off x="6080125" y="589417"/>
              <a:ext cx="2286000" cy="1600200"/>
            </a:xfrm>
            <a:prstGeom prst="ellipse">
              <a:avLst/>
            </a:prstGeom>
            <a:gradFill rotWithShape="1">
              <a:gsLst>
                <a:gs pos="0">
                  <a:srgbClr val="339966"/>
                </a:gs>
                <a:gs pos="50000">
                  <a:srgbClr val="FFFFFF"/>
                </a:gs>
                <a:gs pos="100000">
                  <a:srgbClr val="339966"/>
                </a:gs>
              </a:gsLst>
              <a:lin ang="5400000" scaled="1"/>
            </a:gradFill>
            <a:ln w="9525">
              <a:solidFill>
                <a:schemeClr val="tx1"/>
              </a:solidFill>
              <a:round/>
              <a:headEnd/>
              <a:tailEnd/>
            </a:ln>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en-US"/>
            </a:p>
          </p:txBody>
        </p:sp>
        <p:grpSp>
          <p:nvGrpSpPr>
            <p:cNvPr id="8" name="Group 60"/>
            <p:cNvGrpSpPr>
              <a:grpSpLocks/>
            </p:cNvGrpSpPr>
            <p:nvPr/>
          </p:nvGrpSpPr>
          <p:grpSpPr bwMode="auto">
            <a:xfrm>
              <a:off x="7069138" y="1399042"/>
              <a:ext cx="336550" cy="838200"/>
              <a:chOff x="4416" y="1326"/>
              <a:chExt cx="212" cy="528"/>
            </a:xfrm>
          </p:grpSpPr>
          <p:sp>
            <p:nvSpPr>
              <p:cNvPr id="9" name="Line 24"/>
              <p:cNvSpPr>
                <a:spLocks noChangeShapeType="1"/>
              </p:cNvSpPr>
              <p:nvPr/>
            </p:nvSpPr>
            <p:spPr bwMode="auto">
              <a:xfrm>
                <a:off x="4618" y="1326"/>
                <a:ext cx="0" cy="528"/>
              </a:xfrm>
              <a:prstGeom prst="line">
                <a:avLst/>
              </a:prstGeom>
              <a:noFill/>
              <a:ln w="9525">
                <a:solidFill>
                  <a:schemeClr val="tx1"/>
                </a:solidFill>
                <a:round/>
                <a:headEnd type="arrow" w="med" len="med"/>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 name="Text Box 26"/>
              <p:cNvSpPr txBox="1">
                <a:spLocks noChangeArrowheads="1"/>
              </p:cNvSpPr>
              <p:nvPr/>
            </p:nvSpPr>
            <p:spPr bwMode="auto">
              <a:xfrm>
                <a:off x="4416" y="1422"/>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2400">
                    <a:latin typeface="Times New Roman" pitchFamily="18" charset="0"/>
                  </a:rPr>
                  <a:t>y</a:t>
                </a:r>
              </a:p>
            </p:txBody>
          </p:sp>
        </p:grpSp>
        <p:grpSp>
          <p:nvGrpSpPr>
            <p:cNvPr id="11" name="Group 61"/>
            <p:cNvGrpSpPr>
              <a:grpSpLocks/>
            </p:cNvGrpSpPr>
            <p:nvPr/>
          </p:nvGrpSpPr>
          <p:grpSpPr bwMode="auto">
            <a:xfrm>
              <a:off x="5789613" y="1018042"/>
              <a:ext cx="1600200" cy="457200"/>
              <a:chOff x="3610" y="1086"/>
              <a:chExt cx="1008" cy="288"/>
            </a:xfrm>
          </p:grpSpPr>
          <p:sp>
            <p:nvSpPr>
              <p:cNvPr id="12" name="Line 25"/>
              <p:cNvSpPr>
                <a:spLocks noChangeShapeType="1"/>
              </p:cNvSpPr>
              <p:nvPr/>
            </p:nvSpPr>
            <p:spPr bwMode="auto">
              <a:xfrm flipH="1">
                <a:off x="3610" y="1326"/>
                <a:ext cx="1008" cy="0"/>
              </a:xfrm>
              <a:prstGeom prst="line">
                <a:avLst/>
              </a:prstGeom>
              <a:noFill/>
              <a:ln w="9525">
                <a:solidFill>
                  <a:schemeClr val="tx1"/>
                </a:solidFill>
                <a:round/>
                <a:headEnd type="arrow" w="med" len="med"/>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 name="Text Box 27"/>
              <p:cNvSpPr txBox="1">
                <a:spLocks noChangeArrowheads="1"/>
              </p:cNvSpPr>
              <p:nvPr/>
            </p:nvSpPr>
            <p:spPr bwMode="auto">
              <a:xfrm>
                <a:off x="3975" y="1086"/>
                <a:ext cx="2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2400">
                    <a:latin typeface="Times New Roman" pitchFamily="18" charset="0"/>
                  </a:rPr>
                  <a:t>z</a:t>
                </a:r>
              </a:p>
            </p:txBody>
          </p:sp>
        </p:grpSp>
        <p:grpSp>
          <p:nvGrpSpPr>
            <p:cNvPr id="14" name="Group 59"/>
            <p:cNvGrpSpPr>
              <a:grpSpLocks/>
            </p:cNvGrpSpPr>
            <p:nvPr/>
          </p:nvGrpSpPr>
          <p:grpSpPr bwMode="auto">
            <a:xfrm>
              <a:off x="7399338" y="1094242"/>
              <a:ext cx="660400" cy="457200"/>
              <a:chOff x="4624" y="1134"/>
              <a:chExt cx="416" cy="288"/>
            </a:xfrm>
          </p:grpSpPr>
          <p:sp>
            <p:nvSpPr>
              <p:cNvPr id="15" name="Text Box 21"/>
              <p:cNvSpPr txBox="1">
                <a:spLocks noChangeArrowheads="1"/>
              </p:cNvSpPr>
              <p:nvPr/>
            </p:nvSpPr>
            <p:spPr bwMode="auto">
              <a:xfrm>
                <a:off x="4689" y="1134"/>
                <a:ext cx="35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2400">
                    <a:latin typeface="Times New Roman" pitchFamily="18" charset="0"/>
                  </a:rPr>
                  <a:t>dA</a:t>
                </a:r>
              </a:p>
            </p:txBody>
          </p:sp>
          <p:sp>
            <p:nvSpPr>
              <p:cNvPr id="16" name="Rectangle 18"/>
              <p:cNvSpPr>
                <a:spLocks noChangeArrowheads="1"/>
              </p:cNvSpPr>
              <p:nvPr/>
            </p:nvSpPr>
            <p:spPr bwMode="auto">
              <a:xfrm>
                <a:off x="4624" y="1256"/>
                <a:ext cx="70" cy="70"/>
              </a:xfrm>
              <a:prstGeom prst="rect">
                <a:avLst/>
              </a:prstGeom>
              <a:solidFill>
                <a:srgbClr val="FF0000"/>
              </a:solidFill>
              <a:ln w="9525">
                <a:solidFill>
                  <a:srgbClr val="FF0000"/>
                </a:solidFill>
                <a:miter lim="800000"/>
                <a:headEnd/>
                <a:tailEnd/>
              </a:ln>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en-US"/>
              </a:p>
            </p:txBody>
          </p:sp>
        </p:grpSp>
        <p:sp>
          <p:nvSpPr>
            <p:cNvPr id="17" name="Text Box 19"/>
            <p:cNvSpPr txBox="1">
              <a:spLocks noChangeArrowheads="1"/>
            </p:cNvSpPr>
            <p:nvPr/>
          </p:nvSpPr>
          <p:spPr bwMode="auto">
            <a:xfrm>
              <a:off x="8593138" y="1856242"/>
              <a:ext cx="3190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2400">
                  <a:latin typeface="Times New Roman" pitchFamily="18" charset="0"/>
                </a:rPr>
                <a:t>z</a:t>
              </a:r>
            </a:p>
          </p:txBody>
        </p:sp>
        <p:sp>
          <p:nvSpPr>
            <p:cNvPr id="18" name="Line 15"/>
            <p:cNvSpPr>
              <a:spLocks noChangeShapeType="1"/>
            </p:cNvSpPr>
            <p:nvPr/>
          </p:nvSpPr>
          <p:spPr bwMode="auto">
            <a:xfrm>
              <a:off x="5789613" y="2237242"/>
              <a:ext cx="272732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 name="Line 16"/>
            <p:cNvSpPr>
              <a:spLocks noChangeShapeType="1"/>
            </p:cNvSpPr>
            <p:nvPr/>
          </p:nvSpPr>
          <p:spPr bwMode="auto">
            <a:xfrm flipH="1" flipV="1">
              <a:off x="5780088" y="422730"/>
              <a:ext cx="9525" cy="18145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 name="Text Box 20"/>
            <p:cNvSpPr txBox="1">
              <a:spLocks noChangeArrowheads="1"/>
            </p:cNvSpPr>
            <p:nvPr/>
          </p:nvSpPr>
          <p:spPr bwMode="auto">
            <a:xfrm>
              <a:off x="5468938" y="713242"/>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2400">
                  <a:latin typeface="Times New Roman" pitchFamily="18" charset="0"/>
                </a:rPr>
                <a:t>y</a:t>
              </a:r>
            </a:p>
          </p:txBody>
        </p:sp>
        <p:sp>
          <p:nvSpPr>
            <p:cNvPr id="21" name="Text Box 22"/>
            <p:cNvSpPr txBox="1">
              <a:spLocks noChangeArrowheads="1"/>
            </p:cNvSpPr>
            <p:nvPr/>
          </p:nvSpPr>
          <p:spPr bwMode="auto">
            <a:xfrm>
              <a:off x="5468938" y="1961017"/>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2400">
                  <a:latin typeface="Times New Roman" pitchFamily="18" charset="0"/>
                </a:rPr>
                <a:t>o</a:t>
              </a:r>
            </a:p>
          </p:txBody>
        </p:sp>
        <p:grpSp>
          <p:nvGrpSpPr>
            <p:cNvPr id="29" name="Group 63"/>
            <p:cNvGrpSpPr>
              <a:grpSpLocks/>
            </p:cNvGrpSpPr>
            <p:nvPr/>
          </p:nvGrpSpPr>
          <p:grpSpPr bwMode="auto">
            <a:xfrm>
              <a:off x="5783263" y="1394280"/>
              <a:ext cx="1600200" cy="838200"/>
              <a:chOff x="3606" y="1323"/>
              <a:chExt cx="1008" cy="528"/>
            </a:xfrm>
          </p:grpSpPr>
          <p:sp>
            <p:nvSpPr>
              <p:cNvPr id="30" name="Line 54"/>
              <p:cNvSpPr>
                <a:spLocks noChangeShapeType="1"/>
              </p:cNvSpPr>
              <p:nvPr/>
            </p:nvSpPr>
            <p:spPr bwMode="auto">
              <a:xfrm flipH="1">
                <a:off x="3606" y="1323"/>
                <a:ext cx="1008" cy="52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31" name="Object 55"/>
              <p:cNvGraphicFramePr>
                <a:graphicFrameLocks noChangeAspect="1"/>
              </p:cNvGraphicFramePr>
              <p:nvPr/>
            </p:nvGraphicFramePr>
            <p:xfrm>
              <a:off x="3696" y="1554"/>
              <a:ext cx="185" cy="200"/>
            </p:xfrm>
            <a:graphic>
              <a:graphicData uri="http://schemas.openxmlformats.org/presentationml/2006/ole">
                <mc:AlternateContent xmlns:mc="http://schemas.openxmlformats.org/markup-compatibility/2006">
                  <mc:Choice xmlns:v="urn:schemas-microsoft-com:vml" Requires="v">
                    <p:oleObj name="Equation" r:id="rId6" imgW="152268" imgH="164957" progId="">
                      <p:embed/>
                    </p:oleObj>
                  </mc:Choice>
                  <mc:Fallback>
                    <p:oleObj name="Equation" r:id="rId6" imgW="152268" imgH="164957" progId="">
                      <p:embed/>
                      <p:pic>
                        <p:nvPicPr>
                          <p:cNvPr id="0" name="Picture 9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96" y="1554"/>
                            <a:ext cx="185" cy="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32" name="Object 56"/>
            <p:cNvGraphicFramePr>
              <a:graphicFrameLocks noChangeAspect="1"/>
            </p:cNvGraphicFramePr>
            <p:nvPr>
              <p:extLst>
                <p:ext uri="{D42A27DB-BD31-4B8C-83A1-F6EECF244321}">
                  <p14:modId xmlns:p14="http://schemas.microsoft.com/office/powerpoint/2010/main" val="834293050"/>
                </p:ext>
              </p:extLst>
            </p:nvPr>
          </p:nvGraphicFramePr>
          <p:xfrm>
            <a:off x="6550025" y="2646817"/>
            <a:ext cx="1517650" cy="439738"/>
          </p:xfrm>
          <a:graphic>
            <a:graphicData uri="http://schemas.openxmlformats.org/presentationml/2006/ole">
              <mc:AlternateContent xmlns:mc="http://schemas.openxmlformats.org/markup-compatibility/2006">
                <mc:Choice xmlns:v="urn:schemas-microsoft-com:vml" Requires="v">
                  <p:oleObj name="Equation" r:id="rId8" imgW="787400" imgH="228600" progId="">
                    <p:embed/>
                  </p:oleObj>
                </mc:Choice>
                <mc:Fallback>
                  <p:oleObj name="Equation" r:id="rId8" imgW="787400" imgH="228600" progId="">
                    <p:embed/>
                    <p:pic>
                      <p:nvPicPr>
                        <p:cNvPr id="0" name="Picture 9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550025" y="2646817"/>
                          <a:ext cx="1517650" cy="4397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33" name="Text Box 64"/>
          <p:cNvSpPr txBox="1">
            <a:spLocks noChangeArrowheads="1"/>
          </p:cNvSpPr>
          <p:nvPr/>
        </p:nvSpPr>
        <p:spPr bwMode="auto">
          <a:xfrm>
            <a:off x="467544" y="1369145"/>
            <a:ext cx="2943225" cy="457200"/>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400" b="1">
                <a:solidFill>
                  <a:srgbClr val="0000FF"/>
                </a:solidFill>
                <a:latin typeface="黑体" pitchFamily="49" charset="-122"/>
                <a:ea typeface="黑体" pitchFamily="49" charset="-122"/>
              </a:rPr>
              <a:t>图形对</a:t>
            </a:r>
            <a:r>
              <a:rPr kumimoji="1" lang="en-US" altLang="zh-CN" sz="2400" b="1">
                <a:solidFill>
                  <a:srgbClr val="0000FF"/>
                </a:solidFill>
                <a:latin typeface="黑体" pitchFamily="49" charset="-122"/>
                <a:ea typeface="黑体" pitchFamily="49" charset="-122"/>
              </a:rPr>
              <a:t>z</a:t>
            </a:r>
            <a:r>
              <a:rPr kumimoji="1" lang="zh-CN" altLang="en-US" sz="2400" b="1">
                <a:solidFill>
                  <a:srgbClr val="0000FF"/>
                </a:solidFill>
                <a:latin typeface="黑体" pitchFamily="49" charset="-122"/>
                <a:ea typeface="黑体" pitchFamily="49" charset="-122"/>
              </a:rPr>
              <a:t>轴的惯性矩</a:t>
            </a:r>
            <a:r>
              <a:rPr kumimoji="1" lang="en-US" altLang="zh-CN" sz="2400" b="1">
                <a:solidFill>
                  <a:srgbClr val="0000FF"/>
                </a:solidFill>
                <a:latin typeface="黑体" pitchFamily="49" charset="-122"/>
                <a:ea typeface="黑体" pitchFamily="49" charset="-122"/>
              </a:rPr>
              <a:t>:</a:t>
            </a:r>
          </a:p>
        </p:txBody>
      </p:sp>
      <p:sp>
        <p:nvSpPr>
          <p:cNvPr id="34" name="Text Box 65"/>
          <p:cNvSpPr txBox="1">
            <a:spLocks noChangeArrowheads="1"/>
          </p:cNvSpPr>
          <p:nvPr/>
        </p:nvSpPr>
        <p:spPr bwMode="auto">
          <a:xfrm>
            <a:off x="467544" y="2228223"/>
            <a:ext cx="2943225" cy="457200"/>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400" b="1">
                <a:solidFill>
                  <a:srgbClr val="0000FF"/>
                </a:solidFill>
                <a:latin typeface="黑体" pitchFamily="49" charset="-122"/>
                <a:ea typeface="黑体" pitchFamily="49" charset="-122"/>
              </a:rPr>
              <a:t>图形对</a:t>
            </a:r>
            <a:r>
              <a:rPr kumimoji="1" lang="en-US" altLang="zh-CN" sz="2400" b="1">
                <a:solidFill>
                  <a:srgbClr val="0000FF"/>
                </a:solidFill>
                <a:latin typeface="黑体" pitchFamily="49" charset="-122"/>
                <a:ea typeface="黑体" pitchFamily="49" charset="-122"/>
              </a:rPr>
              <a:t>y</a:t>
            </a:r>
            <a:r>
              <a:rPr kumimoji="1" lang="zh-CN" altLang="en-US" sz="2400" b="1">
                <a:solidFill>
                  <a:srgbClr val="0000FF"/>
                </a:solidFill>
                <a:latin typeface="黑体" pitchFamily="49" charset="-122"/>
                <a:ea typeface="黑体" pitchFamily="49" charset="-122"/>
              </a:rPr>
              <a:t>轴的惯性矩</a:t>
            </a:r>
            <a:r>
              <a:rPr kumimoji="1" lang="en-US" altLang="zh-CN" sz="2400" b="1">
                <a:solidFill>
                  <a:srgbClr val="0000FF"/>
                </a:solidFill>
                <a:latin typeface="黑体" pitchFamily="49" charset="-122"/>
                <a:ea typeface="黑体" pitchFamily="49" charset="-122"/>
              </a:rPr>
              <a:t>:</a:t>
            </a:r>
          </a:p>
        </p:txBody>
      </p:sp>
      <p:graphicFrame>
        <p:nvGraphicFramePr>
          <p:cNvPr id="36" name="对象 35"/>
          <p:cNvGraphicFramePr>
            <a:graphicFrameLocks noChangeAspect="1"/>
          </p:cNvGraphicFramePr>
          <p:nvPr>
            <p:extLst>
              <p:ext uri="{D42A27DB-BD31-4B8C-83A1-F6EECF244321}">
                <p14:modId xmlns:p14="http://schemas.microsoft.com/office/powerpoint/2010/main" val="2026104785"/>
              </p:ext>
            </p:extLst>
          </p:nvPr>
        </p:nvGraphicFramePr>
        <p:xfrm>
          <a:off x="3432920" y="2231398"/>
          <a:ext cx="1873250" cy="720725"/>
        </p:xfrm>
        <a:graphic>
          <a:graphicData uri="http://schemas.openxmlformats.org/presentationml/2006/ole">
            <mc:AlternateContent xmlns:mc="http://schemas.openxmlformats.org/markup-compatibility/2006">
              <mc:Choice xmlns:v="urn:schemas-microsoft-com:vml" Requires="v">
                <p:oleObj name="Equation" r:id="rId10" imgW="660113" imgH="253890" progId="Equation.DSMT4">
                  <p:embed/>
                </p:oleObj>
              </mc:Choice>
              <mc:Fallback>
                <p:oleObj name="Equation" r:id="rId10" imgW="660113" imgH="253890" progId="Equation.DSMT4">
                  <p:embed/>
                  <p:pic>
                    <p:nvPicPr>
                      <p:cNvPr id="0" name="Picture 9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432920" y="2231398"/>
                        <a:ext cx="1873250" cy="720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553195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lt">
                                    <p:tmAbs val="75"/>
                                  </p:iterate>
                                  <p:childTnLst>
                                    <p:set>
                                      <p:cBhvr>
                                        <p:cTn id="6" dur="1" fill="hold">
                                          <p:stCondLst>
                                            <p:cond delay="74"/>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wipe(left)">
                                      <p:cBhvr>
                                        <p:cTn id="15" dur="5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499"/>
                                          </p:stCondLst>
                                        </p:cTn>
                                        <p:tgtEl>
                                          <p:spTgt spid="34"/>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6"/>
                                        </p:tgtEl>
                                        <p:attrNameLst>
                                          <p:attrName>style.visibility</p:attrName>
                                        </p:attrNameLst>
                                      </p:cBhvr>
                                      <p:to>
                                        <p:strVal val="visible"/>
                                      </p:to>
                                    </p:set>
                                    <p:animEffect transition="in" filter="fade">
                                      <p:cBhvr>
                                        <p:cTn id="24" dur="500"/>
                                        <p:tgtEl>
                                          <p:spTgt spid="36"/>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additive="base">
                                        <p:cTn id="29" dur="500" fill="hold"/>
                                        <p:tgtEl>
                                          <p:spTgt spid="7"/>
                                        </p:tgtEl>
                                        <p:attrNameLst>
                                          <p:attrName>ppt_x</p:attrName>
                                        </p:attrNameLst>
                                      </p:cBhvr>
                                      <p:tavLst>
                                        <p:tav tm="0">
                                          <p:val>
                                            <p:strVal val="#ppt_x"/>
                                          </p:val>
                                        </p:tav>
                                        <p:tav tm="100000">
                                          <p:val>
                                            <p:strVal val="#ppt_x"/>
                                          </p:val>
                                        </p:tav>
                                      </p:tavLst>
                                    </p:anim>
                                    <p:anim calcmode="lin" valueType="num">
                                      <p:cBhvr additive="base">
                                        <p:cTn id="3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24"/>
                                        </p:tgtEl>
                                        <p:attrNameLst>
                                          <p:attrName>style.visibility</p:attrName>
                                        </p:attrNameLst>
                                      </p:cBhvr>
                                      <p:to>
                                        <p:strVal val="visible"/>
                                      </p:to>
                                    </p:set>
                                    <p:anim calcmode="lin" valueType="num">
                                      <p:cBhvr additive="base">
                                        <p:cTn id="35" dur="500" fill="hold"/>
                                        <p:tgtEl>
                                          <p:spTgt spid="24"/>
                                        </p:tgtEl>
                                        <p:attrNameLst>
                                          <p:attrName>ppt_x</p:attrName>
                                        </p:attrNameLst>
                                      </p:cBhvr>
                                      <p:tavLst>
                                        <p:tav tm="0">
                                          <p:val>
                                            <p:strVal val="#ppt_x"/>
                                          </p:val>
                                        </p:tav>
                                        <p:tav tm="100000">
                                          <p:val>
                                            <p:strVal val="#ppt_x"/>
                                          </p:val>
                                        </p:tav>
                                      </p:tavLst>
                                    </p:anim>
                                    <p:anim calcmode="lin" valueType="num">
                                      <p:cBhvr additive="base">
                                        <p:cTn id="36"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499"/>
                                          </p:stCondLst>
                                        </p:cTn>
                                        <p:tgtEl>
                                          <p:spTgt spid="2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26"/>
                                        </p:tgtEl>
                                        <p:attrNameLst>
                                          <p:attrName>style.visibility</p:attrName>
                                        </p:attrNameLst>
                                      </p:cBhvr>
                                      <p:to>
                                        <p:strVal val="visible"/>
                                      </p:to>
                                    </p:set>
                                    <p:anim calcmode="lin" valueType="num">
                                      <p:cBhvr additive="base">
                                        <p:cTn id="45" dur="500" fill="hold"/>
                                        <p:tgtEl>
                                          <p:spTgt spid="26"/>
                                        </p:tgtEl>
                                        <p:attrNameLst>
                                          <p:attrName>ppt_x</p:attrName>
                                        </p:attrNameLst>
                                      </p:cBhvr>
                                      <p:tavLst>
                                        <p:tav tm="0">
                                          <p:val>
                                            <p:strVal val="#ppt_x"/>
                                          </p:val>
                                        </p:tav>
                                        <p:tav tm="100000">
                                          <p:val>
                                            <p:strVal val="#ppt_x"/>
                                          </p:val>
                                        </p:tav>
                                      </p:tavLst>
                                    </p:anim>
                                    <p:anim calcmode="lin" valueType="num">
                                      <p:cBhvr additive="base">
                                        <p:cTn id="46"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499"/>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autoUpdateAnimBg="0"/>
      <p:bldP spid="7" grpId="0" animBg="1" autoUpdateAnimBg="0"/>
      <p:bldP spid="24" grpId="0" animBg="1" autoUpdateAnimBg="0"/>
      <p:bldP spid="25" grpId="0" animBg="1" autoUpdateAnimBg="0"/>
      <p:bldP spid="26" grpId="0" animBg="1" autoUpdateAnimBg="0"/>
      <p:bldP spid="33" grpId="0" animBg="1" autoUpdateAnimBg="0"/>
      <p:bldP spid="34" grpId="0" animBg="1"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2"/>
          <p:cNvSpPr txBox="1">
            <a:spLocks noChangeArrowheads="1"/>
          </p:cNvSpPr>
          <p:nvPr/>
        </p:nvSpPr>
        <p:spPr bwMode="auto">
          <a:xfrm>
            <a:off x="827584" y="548680"/>
            <a:ext cx="7654471" cy="457200"/>
          </a:xfrm>
          <a:prstGeom prst="rect">
            <a:avLst/>
          </a:prstGeom>
          <a:noFill/>
          <a:ln w="2857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400" b="1" dirty="0">
                <a:solidFill>
                  <a:srgbClr val="0000FF"/>
                </a:solidFill>
                <a:latin typeface="黑体" pitchFamily="49" charset="-122"/>
                <a:ea typeface="黑体" pitchFamily="49" charset="-122"/>
              </a:rPr>
              <a:t>惯性矩与极惯性矩的关系：</a:t>
            </a:r>
          </a:p>
        </p:txBody>
      </p:sp>
      <p:sp>
        <p:nvSpPr>
          <p:cNvPr id="3" name="Text Box 15"/>
          <p:cNvSpPr txBox="1">
            <a:spLocks noChangeArrowheads="1"/>
          </p:cNvSpPr>
          <p:nvPr/>
        </p:nvSpPr>
        <p:spPr bwMode="auto">
          <a:xfrm>
            <a:off x="827584" y="2132856"/>
            <a:ext cx="7654471" cy="978729"/>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just" eaLnBrk="1" hangingPunct="1">
              <a:lnSpc>
                <a:spcPct val="120000"/>
              </a:lnSpc>
            </a:pPr>
            <a:r>
              <a:rPr kumimoji="1" lang="zh-CN" altLang="en-US" sz="2400" b="1" dirty="0">
                <a:solidFill>
                  <a:srgbClr val="0000FF"/>
                </a:solidFill>
                <a:latin typeface="黑体" pitchFamily="49" charset="-122"/>
                <a:ea typeface="黑体" pitchFamily="49" charset="-122"/>
              </a:rPr>
              <a:t>图形对任一对相互垂直的坐标系的惯性矩之和恒等于此图形对该两轴交点的极惯性矩</a:t>
            </a:r>
          </a:p>
        </p:txBody>
      </p:sp>
      <p:grpSp>
        <p:nvGrpSpPr>
          <p:cNvPr id="8" name="组合 7"/>
          <p:cNvGrpSpPr/>
          <p:nvPr/>
        </p:nvGrpSpPr>
        <p:grpSpPr>
          <a:xfrm>
            <a:off x="3207246" y="1248494"/>
            <a:ext cx="3016845" cy="668338"/>
            <a:chOff x="1071563" y="1524000"/>
            <a:chExt cx="3016845" cy="668338"/>
          </a:xfrm>
        </p:grpSpPr>
        <p:graphicFrame>
          <p:nvGraphicFramePr>
            <p:cNvPr id="4" name="Object 47"/>
            <p:cNvGraphicFramePr>
              <a:graphicFrameLocks noChangeAspect="1"/>
            </p:cNvGraphicFramePr>
            <p:nvPr>
              <p:extLst>
                <p:ext uri="{D42A27DB-BD31-4B8C-83A1-F6EECF244321}">
                  <p14:modId xmlns:p14="http://schemas.microsoft.com/office/powerpoint/2010/main" val="1696436572"/>
                </p:ext>
              </p:extLst>
            </p:nvPr>
          </p:nvGraphicFramePr>
          <p:xfrm>
            <a:off x="1071563" y="1524000"/>
            <a:ext cx="1824037" cy="668338"/>
          </p:xfrm>
          <a:graphic>
            <a:graphicData uri="http://schemas.openxmlformats.org/presentationml/2006/ole">
              <mc:AlternateContent xmlns:mc="http://schemas.openxmlformats.org/markup-compatibility/2006">
                <mc:Choice xmlns:v="urn:schemas-microsoft-com:vml" Requires="v">
                  <p:oleObj name="Equation" r:id="rId2" imgW="799753" imgH="291973" progId="">
                    <p:embed/>
                  </p:oleObj>
                </mc:Choice>
                <mc:Fallback>
                  <p:oleObj name="Equation" r:id="rId2" imgW="799753" imgH="291973" progId="">
                    <p:embed/>
                    <p:pic>
                      <p:nvPicPr>
                        <p:cNvPr id="0" name="Picture 5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1563" y="1524000"/>
                          <a:ext cx="1824037" cy="668338"/>
                        </a:xfrm>
                        <a:prstGeom prst="rect">
                          <a:avLst/>
                        </a:prstGeom>
                        <a:noFill/>
                        <a:extLst>
                          <a:ext uri="{909E8E84-426E-40DD-AFC4-6F175D3DCCD1}">
                            <a14:hiddenFill xmlns:a14="http://schemas.microsoft.com/office/drawing/2010/main">
                              <a:solidFill>
                                <a:schemeClr val="hlink"/>
                              </a:solidFill>
                            </a14:hiddenFill>
                          </a:ext>
                        </a:extLst>
                      </p:spPr>
                    </p:pic>
                  </p:oleObj>
                </mc:Fallback>
              </mc:AlternateContent>
            </a:graphicData>
          </a:graphic>
        </p:graphicFrame>
        <p:graphicFrame>
          <p:nvGraphicFramePr>
            <p:cNvPr id="7" name="Object 51"/>
            <p:cNvGraphicFramePr>
              <a:graphicFrameLocks noChangeAspect="1"/>
            </p:cNvGraphicFramePr>
            <p:nvPr>
              <p:extLst>
                <p:ext uri="{D42A27DB-BD31-4B8C-83A1-F6EECF244321}">
                  <p14:modId xmlns:p14="http://schemas.microsoft.com/office/powerpoint/2010/main" val="1429467881"/>
                </p:ext>
              </p:extLst>
            </p:nvPr>
          </p:nvGraphicFramePr>
          <p:xfrm>
            <a:off x="2843808" y="1556792"/>
            <a:ext cx="1244600" cy="550863"/>
          </p:xfrm>
          <a:graphic>
            <a:graphicData uri="http://schemas.openxmlformats.org/presentationml/2006/ole">
              <mc:AlternateContent xmlns:mc="http://schemas.openxmlformats.org/markup-compatibility/2006">
                <mc:Choice xmlns:v="urn:schemas-microsoft-com:vml" Requires="v">
                  <p:oleObj name="Equation" r:id="rId4" imgW="545863" imgH="241195" progId="">
                    <p:embed/>
                  </p:oleObj>
                </mc:Choice>
                <mc:Fallback>
                  <p:oleObj name="Equation" r:id="rId4" imgW="545863" imgH="241195" progId="">
                    <p:embed/>
                    <p:pic>
                      <p:nvPicPr>
                        <p:cNvPr id="0" name="Picture 5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43808" y="1556792"/>
                          <a:ext cx="1244600" cy="550863"/>
                        </a:xfrm>
                        <a:prstGeom prst="rect">
                          <a:avLst/>
                        </a:prstGeom>
                        <a:noFill/>
                        <a:extLst>
                          <a:ext uri="{909E8E84-426E-40DD-AFC4-6F175D3DCCD1}">
                            <a14:hiddenFill xmlns:a14="http://schemas.microsoft.com/office/drawing/2010/main">
                              <a:solidFill>
                                <a:schemeClr val="hlink"/>
                              </a:solidFill>
                            </a14:hiddenFill>
                          </a:ext>
                        </a:extLst>
                      </p:spPr>
                    </p:pic>
                  </p:oleObj>
                </mc:Fallback>
              </mc:AlternateContent>
            </a:graphicData>
          </a:graphic>
        </p:graphicFrame>
      </p:grpSp>
      <p:sp>
        <p:nvSpPr>
          <p:cNvPr id="9" name="Text Box 10"/>
          <p:cNvSpPr txBox="1">
            <a:spLocks noChangeArrowheads="1"/>
          </p:cNvSpPr>
          <p:nvPr/>
        </p:nvSpPr>
        <p:spPr bwMode="auto">
          <a:xfrm>
            <a:off x="838200" y="3573016"/>
            <a:ext cx="3301752" cy="461665"/>
          </a:xfrm>
          <a:prstGeom prst="rect">
            <a:avLst/>
          </a:prstGeom>
          <a:noFill/>
          <a:ln w="2857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400" b="1" dirty="0">
                <a:solidFill>
                  <a:srgbClr val="FF0000"/>
                </a:solidFill>
                <a:latin typeface="宋体" pitchFamily="2" charset="-122"/>
                <a:ea typeface="黑体" pitchFamily="49" charset="-122"/>
              </a:rPr>
              <a:t>惯性积</a:t>
            </a:r>
          </a:p>
        </p:txBody>
      </p:sp>
      <p:sp>
        <p:nvSpPr>
          <p:cNvPr id="11" name="Text Box 13"/>
          <p:cNvSpPr txBox="1">
            <a:spLocks noChangeArrowheads="1"/>
          </p:cNvSpPr>
          <p:nvPr/>
        </p:nvSpPr>
        <p:spPr bwMode="auto">
          <a:xfrm>
            <a:off x="827088" y="4428207"/>
            <a:ext cx="7654966" cy="457200"/>
          </a:xfrm>
          <a:prstGeom prst="rect">
            <a:avLst/>
          </a:prstGeom>
          <a:noFill/>
          <a:ln w="2857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400" b="1" dirty="0">
                <a:solidFill>
                  <a:srgbClr val="0000FF"/>
                </a:solidFill>
                <a:latin typeface="黑体" pitchFamily="49" charset="-122"/>
                <a:ea typeface="黑体" pitchFamily="49" charset="-122"/>
              </a:rPr>
              <a:t>量纲：［长度］</a:t>
            </a:r>
            <a:r>
              <a:rPr kumimoji="1" lang="en-US" altLang="zh-CN" sz="2400" b="1" baseline="30000" dirty="0">
                <a:solidFill>
                  <a:srgbClr val="0000FF"/>
                </a:solidFill>
                <a:latin typeface="黑体" pitchFamily="49" charset="-122"/>
                <a:ea typeface="黑体" pitchFamily="49" charset="-122"/>
              </a:rPr>
              <a:t>4</a:t>
            </a:r>
            <a:r>
              <a:rPr kumimoji="1" lang="zh-CN" altLang="en-US" sz="2400" b="1" dirty="0">
                <a:solidFill>
                  <a:srgbClr val="0000FF"/>
                </a:solidFill>
                <a:latin typeface="黑体" pitchFamily="49" charset="-122"/>
                <a:ea typeface="黑体" pitchFamily="49" charset="-122"/>
              </a:rPr>
              <a:t>，单位：</a:t>
            </a:r>
            <a:r>
              <a:rPr kumimoji="1" lang="en-US" altLang="zh-CN" sz="2400" b="1" dirty="0">
                <a:solidFill>
                  <a:srgbClr val="0000FF"/>
                </a:solidFill>
                <a:latin typeface="黑体" pitchFamily="49" charset="-122"/>
                <a:ea typeface="黑体" pitchFamily="49" charset="-122"/>
              </a:rPr>
              <a:t>m</a:t>
            </a:r>
            <a:r>
              <a:rPr kumimoji="1" lang="en-US" altLang="zh-CN" sz="2400" b="1" baseline="30000" dirty="0">
                <a:solidFill>
                  <a:srgbClr val="0000FF"/>
                </a:solidFill>
                <a:latin typeface="黑体" pitchFamily="49" charset="-122"/>
                <a:ea typeface="黑体" pitchFamily="49" charset="-122"/>
              </a:rPr>
              <a:t>4</a:t>
            </a:r>
            <a:r>
              <a:rPr kumimoji="1" lang="zh-CN" altLang="en-US" sz="2400" b="1" dirty="0">
                <a:solidFill>
                  <a:srgbClr val="0000FF"/>
                </a:solidFill>
                <a:latin typeface="黑体" pitchFamily="49" charset="-122"/>
                <a:ea typeface="黑体" pitchFamily="49" charset="-122"/>
              </a:rPr>
              <a:t>、</a:t>
            </a:r>
            <a:r>
              <a:rPr kumimoji="1" lang="en-US" altLang="zh-CN" sz="2400" b="1" dirty="0">
                <a:solidFill>
                  <a:srgbClr val="0000FF"/>
                </a:solidFill>
                <a:latin typeface="黑体" pitchFamily="49" charset="-122"/>
                <a:ea typeface="黑体" pitchFamily="49" charset="-122"/>
              </a:rPr>
              <a:t>mm</a:t>
            </a:r>
            <a:r>
              <a:rPr kumimoji="1" lang="en-US" altLang="zh-CN" sz="2400" b="1" baseline="30000" dirty="0">
                <a:solidFill>
                  <a:srgbClr val="0000FF"/>
                </a:solidFill>
                <a:latin typeface="黑体" pitchFamily="49" charset="-122"/>
                <a:ea typeface="黑体" pitchFamily="49" charset="-122"/>
              </a:rPr>
              <a:t>4</a:t>
            </a:r>
            <a:r>
              <a:rPr kumimoji="1" lang="zh-CN" altLang="en-US" sz="2400" b="1" dirty="0">
                <a:solidFill>
                  <a:srgbClr val="0000FF"/>
                </a:solidFill>
                <a:latin typeface="黑体" pitchFamily="49" charset="-122"/>
                <a:ea typeface="黑体" pitchFamily="49" charset="-122"/>
              </a:rPr>
              <a:t>。</a:t>
            </a:r>
          </a:p>
        </p:txBody>
      </p:sp>
      <p:graphicFrame>
        <p:nvGraphicFramePr>
          <p:cNvPr id="13" name="Object 33"/>
          <p:cNvGraphicFramePr>
            <a:graphicFrameLocks noChangeAspect="1"/>
          </p:cNvGraphicFramePr>
          <p:nvPr>
            <p:extLst>
              <p:ext uri="{D42A27DB-BD31-4B8C-83A1-F6EECF244321}">
                <p14:modId xmlns:p14="http://schemas.microsoft.com/office/powerpoint/2010/main" val="3359537483"/>
              </p:ext>
            </p:extLst>
          </p:nvPr>
        </p:nvGraphicFramePr>
        <p:xfrm>
          <a:off x="4355976" y="3429000"/>
          <a:ext cx="1659455" cy="816214"/>
        </p:xfrm>
        <a:graphic>
          <a:graphicData uri="http://schemas.openxmlformats.org/presentationml/2006/ole">
            <mc:AlternateContent xmlns:mc="http://schemas.openxmlformats.org/markup-compatibility/2006">
              <mc:Choice xmlns:v="urn:schemas-microsoft-com:vml" Requires="v">
                <p:oleObj name="公式" r:id="rId6" imgW="749300" imgH="368300" progId="">
                  <p:embed/>
                </p:oleObj>
              </mc:Choice>
              <mc:Fallback>
                <p:oleObj name="公式" r:id="rId6" imgW="749300" imgH="368300" progId="">
                  <p:embed/>
                  <p:pic>
                    <p:nvPicPr>
                      <p:cNvPr id="0" name="Picture 5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55976" y="3429000"/>
                        <a:ext cx="1659455" cy="81621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Text Box 37"/>
          <p:cNvSpPr txBox="1">
            <a:spLocks noChangeArrowheads="1"/>
          </p:cNvSpPr>
          <p:nvPr/>
        </p:nvSpPr>
        <p:spPr bwMode="auto">
          <a:xfrm>
            <a:off x="827088" y="5103012"/>
            <a:ext cx="7654966" cy="457200"/>
          </a:xfrm>
          <a:prstGeom prst="rect">
            <a:avLst/>
          </a:prstGeom>
          <a:noFill/>
          <a:ln w="2857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400" b="1" dirty="0">
                <a:solidFill>
                  <a:srgbClr val="0000FF"/>
                </a:solidFill>
                <a:latin typeface="黑体" pitchFamily="49" charset="-122"/>
                <a:ea typeface="黑体" pitchFamily="49" charset="-122"/>
              </a:rPr>
              <a:t>惯性积的取值为正值、负值、零。</a:t>
            </a:r>
          </a:p>
        </p:txBody>
      </p:sp>
      <p:sp>
        <p:nvSpPr>
          <p:cNvPr id="35" name="Text Box 62"/>
          <p:cNvSpPr txBox="1">
            <a:spLocks noChangeArrowheads="1"/>
          </p:cNvSpPr>
          <p:nvPr/>
        </p:nvSpPr>
        <p:spPr bwMode="auto">
          <a:xfrm>
            <a:off x="838199" y="5749493"/>
            <a:ext cx="7643855" cy="919867"/>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20000"/>
              </a:lnSpc>
            </a:pPr>
            <a:r>
              <a:rPr kumimoji="1" lang="zh-CN" altLang="en-US" sz="2400" b="1" dirty="0">
                <a:solidFill>
                  <a:srgbClr val="0000FF"/>
                </a:solidFill>
                <a:latin typeface="黑体" pitchFamily="49" charset="-122"/>
                <a:ea typeface="黑体" pitchFamily="49" charset="-122"/>
              </a:rPr>
              <a:t>两坐标轴中，只要有一个轴为图形的对称轴，则图形这一对坐标轴的惯性积为零。</a:t>
            </a:r>
          </a:p>
        </p:txBody>
      </p:sp>
    </p:spTree>
    <p:extLst>
      <p:ext uri="{BB962C8B-B14F-4D97-AF65-F5344CB8AC3E}">
        <p14:creationId xmlns:p14="http://schemas.microsoft.com/office/powerpoint/2010/main" val="1216278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iterate type="lt">
                                    <p:tmPct val="100000"/>
                                  </p:iterate>
                                  <p:childTnLst>
                                    <p:set>
                                      <p:cBhvr>
                                        <p:cTn id="17" dur="1" fill="hold">
                                          <p:stCondLst>
                                            <p:cond delay="0"/>
                                          </p:stCondLst>
                                        </p:cTn>
                                        <p:tgtEl>
                                          <p:spTgt spid="3"/>
                                        </p:tgtEl>
                                        <p:attrNameLst>
                                          <p:attrName>style.visibility</p:attrName>
                                        </p:attrNameLst>
                                      </p:cBhvr>
                                      <p:to>
                                        <p:strVal val="visible"/>
                                      </p:to>
                                    </p:set>
                                    <p:anim calcmode="lin" valueType="num">
                                      <p:cBhvr additive="base">
                                        <p:cTn id="18" dur="75" fill="hold"/>
                                        <p:tgtEl>
                                          <p:spTgt spid="3"/>
                                        </p:tgtEl>
                                        <p:attrNameLst>
                                          <p:attrName>ppt_x</p:attrName>
                                        </p:attrNameLst>
                                      </p:cBhvr>
                                      <p:tavLst>
                                        <p:tav tm="0">
                                          <p:val>
                                            <p:strVal val="#ppt_x"/>
                                          </p:val>
                                        </p:tav>
                                        <p:tav tm="100000">
                                          <p:val>
                                            <p:strVal val="#ppt_x"/>
                                          </p:val>
                                        </p:tav>
                                      </p:tavLst>
                                    </p:anim>
                                    <p:anim calcmode="lin" valueType="num">
                                      <p:cBhvr additive="base">
                                        <p:cTn id="19" dur="75"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iterate type="lt">
                                    <p:tmPct val="100000"/>
                                  </p:iterate>
                                  <p:childTnLst>
                                    <p:set>
                                      <p:cBhvr>
                                        <p:cTn id="23" dur="1" fill="hold">
                                          <p:stCondLst>
                                            <p:cond delay="0"/>
                                          </p:stCondLst>
                                        </p:cTn>
                                        <p:tgtEl>
                                          <p:spTgt spid="9"/>
                                        </p:tgtEl>
                                        <p:attrNameLst>
                                          <p:attrName>style.visibility</p:attrName>
                                        </p:attrNameLst>
                                      </p:cBhvr>
                                      <p:to>
                                        <p:strVal val="visible"/>
                                      </p:to>
                                    </p:set>
                                    <p:anim calcmode="lin" valueType="num">
                                      <p:cBhvr additive="base">
                                        <p:cTn id="24" dur="75" fill="hold"/>
                                        <p:tgtEl>
                                          <p:spTgt spid="9"/>
                                        </p:tgtEl>
                                        <p:attrNameLst>
                                          <p:attrName>ppt_x</p:attrName>
                                        </p:attrNameLst>
                                      </p:cBhvr>
                                      <p:tavLst>
                                        <p:tav tm="0">
                                          <p:val>
                                            <p:strVal val="#ppt_x"/>
                                          </p:val>
                                        </p:tav>
                                        <p:tav tm="100000">
                                          <p:val>
                                            <p:strVal val="#ppt_x"/>
                                          </p:val>
                                        </p:tav>
                                      </p:tavLst>
                                    </p:anim>
                                    <p:anim calcmode="lin" valueType="num">
                                      <p:cBhvr additive="base">
                                        <p:cTn id="25" dur="75"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wipe(left)">
                                      <p:cBhvr>
                                        <p:cTn id="30" dur="500"/>
                                        <p:tgtEl>
                                          <p:spTgt spid="13"/>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2"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anim calcmode="lin" valueType="num">
                                      <p:cBhvr additive="base">
                                        <p:cTn id="35" dur="500" fill="hold"/>
                                        <p:tgtEl>
                                          <p:spTgt spid="11"/>
                                        </p:tgtEl>
                                        <p:attrNameLst>
                                          <p:attrName>ppt_x</p:attrName>
                                        </p:attrNameLst>
                                      </p:cBhvr>
                                      <p:tavLst>
                                        <p:tav tm="0">
                                          <p:val>
                                            <p:strVal val="1+#ppt_w/2"/>
                                          </p:val>
                                        </p:tav>
                                        <p:tav tm="100000">
                                          <p:val>
                                            <p:strVal val="#ppt_x"/>
                                          </p:val>
                                        </p:tav>
                                      </p:tavLst>
                                    </p:anim>
                                    <p:anim calcmode="lin" valueType="num">
                                      <p:cBhvr additive="base">
                                        <p:cTn id="36"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2" fill="hold" grpId="0" nodeType="clickEffect">
                                  <p:stCondLst>
                                    <p:cond delay="0"/>
                                  </p:stCondLst>
                                  <p:childTnLst>
                                    <p:set>
                                      <p:cBhvr>
                                        <p:cTn id="40" dur="1" fill="hold">
                                          <p:stCondLst>
                                            <p:cond delay="0"/>
                                          </p:stCondLst>
                                        </p:cTn>
                                        <p:tgtEl>
                                          <p:spTgt spid="14"/>
                                        </p:tgtEl>
                                        <p:attrNameLst>
                                          <p:attrName>style.visibility</p:attrName>
                                        </p:attrNameLst>
                                      </p:cBhvr>
                                      <p:to>
                                        <p:strVal val="visible"/>
                                      </p:to>
                                    </p:set>
                                    <p:anim calcmode="lin" valueType="num">
                                      <p:cBhvr additive="base">
                                        <p:cTn id="41" dur="500" fill="hold"/>
                                        <p:tgtEl>
                                          <p:spTgt spid="14"/>
                                        </p:tgtEl>
                                        <p:attrNameLst>
                                          <p:attrName>ppt_x</p:attrName>
                                        </p:attrNameLst>
                                      </p:cBhvr>
                                      <p:tavLst>
                                        <p:tav tm="0">
                                          <p:val>
                                            <p:strVal val="1+#ppt_w/2"/>
                                          </p:val>
                                        </p:tav>
                                        <p:tav tm="100000">
                                          <p:val>
                                            <p:strVal val="#ppt_x"/>
                                          </p:val>
                                        </p:tav>
                                      </p:tavLst>
                                    </p:anim>
                                    <p:anim calcmode="lin" valueType="num">
                                      <p:cBhvr additive="base">
                                        <p:cTn id="42"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iterate type="lt">
                                    <p:tmAbs val="75"/>
                                  </p:iterate>
                                  <p:childTnLst>
                                    <p:set>
                                      <p:cBhvr>
                                        <p:cTn id="46" dur="1" fill="hold">
                                          <p:stCondLst>
                                            <p:cond delay="74"/>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autoUpdateAnimBg="0"/>
      <p:bldP spid="3" grpId="0" animBg="1" autoUpdateAnimBg="0"/>
      <p:bldP spid="9" grpId="0" animBg="1" autoUpdateAnimBg="0"/>
      <p:bldP spid="11" grpId="0" animBg="1" autoUpdateAnimBg="0"/>
      <p:bldP spid="14" grpId="0" animBg="1" autoUpdateAnimBg="0"/>
      <p:bldP spid="35" grpId="0" animBg="1"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34"/>
          <p:cNvSpPr txBox="1">
            <a:spLocks noChangeArrowheads="1"/>
          </p:cNvSpPr>
          <p:nvPr/>
        </p:nvSpPr>
        <p:spPr bwMode="auto">
          <a:xfrm>
            <a:off x="973139" y="3444030"/>
            <a:ext cx="7391400" cy="984250"/>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30000"/>
              </a:lnSpc>
            </a:pPr>
            <a:r>
              <a:rPr kumimoji="1" lang="zh-CN" altLang="en-US" sz="2400" b="1" dirty="0">
                <a:solidFill>
                  <a:srgbClr val="0000FF"/>
                </a:solidFill>
                <a:latin typeface="黑体" pitchFamily="49" charset="-122"/>
                <a:ea typeface="黑体" pitchFamily="49" charset="-122"/>
              </a:rPr>
              <a:t>注意：</a:t>
            </a:r>
            <a:r>
              <a:rPr kumimoji="1" lang="en-US" altLang="zh-CN" sz="2400" b="1" i="1" dirty="0">
                <a:solidFill>
                  <a:srgbClr val="0000FF"/>
                </a:solidFill>
                <a:latin typeface="Times New Roman" pitchFamily="18" charset="0"/>
                <a:ea typeface="黑体" pitchFamily="49" charset="-122"/>
              </a:rPr>
              <a:t>Z</a:t>
            </a:r>
            <a:r>
              <a:rPr kumimoji="1" lang="en-US" altLang="zh-CN" sz="2400" b="1" i="1" baseline="-16000" dirty="0">
                <a:solidFill>
                  <a:srgbClr val="0000FF"/>
                </a:solidFill>
                <a:latin typeface="Times New Roman" pitchFamily="18" charset="0"/>
                <a:ea typeface="黑体" pitchFamily="49" charset="-122"/>
              </a:rPr>
              <a:t>C</a:t>
            </a:r>
            <a:r>
              <a:rPr kumimoji="1" lang="zh-CN" altLang="en-US" sz="2400" b="1" dirty="0">
                <a:solidFill>
                  <a:srgbClr val="0000FF"/>
                </a:solidFill>
                <a:latin typeface="黑体" pitchFamily="49" charset="-122"/>
                <a:ea typeface="黑体" pitchFamily="49" charset="-122"/>
              </a:rPr>
              <a:t>、</a:t>
            </a:r>
            <a:r>
              <a:rPr kumimoji="1" lang="en-US" altLang="zh-CN" sz="2400" b="1" i="1" dirty="0">
                <a:solidFill>
                  <a:srgbClr val="0000FF"/>
                </a:solidFill>
                <a:latin typeface="Times New Roman" pitchFamily="18" charset="0"/>
                <a:ea typeface="黑体" pitchFamily="49" charset="-122"/>
              </a:rPr>
              <a:t>Y</a:t>
            </a:r>
            <a:r>
              <a:rPr kumimoji="1" lang="en-US" altLang="zh-CN" sz="2400" b="1" i="1" baseline="-25000" dirty="0">
                <a:solidFill>
                  <a:srgbClr val="0000FF"/>
                </a:solidFill>
                <a:latin typeface="Times New Roman" pitchFamily="18" charset="0"/>
                <a:ea typeface="黑体" pitchFamily="49" charset="-122"/>
              </a:rPr>
              <a:t>C</a:t>
            </a:r>
            <a:r>
              <a:rPr kumimoji="1" lang="en-US" altLang="zh-CN" sz="2400" b="1" dirty="0">
                <a:solidFill>
                  <a:srgbClr val="0000FF"/>
                </a:solidFill>
                <a:latin typeface="黑体" pitchFamily="49" charset="-122"/>
                <a:ea typeface="黑体" pitchFamily="49" charset="-122"/>
              </a:rPr>
              <a:t> </a:t>
            </a:r>
            <a:r>
              <a:rPr kumimoji="1" lang="zh-CN" altLang="en-US" sz="2400" b="1" dirty="0">
                <a:solidFill>
                  <a:srgbClr val="0000FF"/>
                </a:solidFill>
                <a:latin typeface="黑体" pitchFamily="49" charset="-122"/>
                <a:ea typeface="黑体" pitchFamily="49" charset="-122"/>
              </a:rPr>
              <a:t>为形心坐标。</a:t>
            </a:r>
            <a:r>
              <a:rPr kumimoji="1" lang="en-US" altLang="zh-CN" sz="2400" b="1" i="1" dirty="0">
                <a:solidFill>
                  <a:srgbClr val="0000FF"/>
                </a:solidFill>
                <a:latin typeface="Times New Roman" pitchFamily="18" charset="0"/>
                <a:ea typeface="黑体" pitchFamily="49" charset="-122"/>
              </a:rPr>
              <a:t>a</a:t>
            </a:r>
            <a:r>
              <a:rPr kumimoji="1" lang="zh-CN" altLang="en-US" sz="2400" b="1" i="1" dirty="0">
                <a:solidFill>
                  <a:srgbClr val="0000FF"/>
                </a:solidFill>
                <a:latin typeface="Times New Roman" pitchFamily="18" charset="0"/>
                <a:ea typeface="黑体" pitchFamily="49" charset="-122"/>
              </a:rPr>
              <a:t>、</a:t>
            </a:r>
            <a:r>
              <a:rPr kumimoji="1" lang="en-US" altLang="zh-CN" sz="2400" b="1" i="1" dirty="0">
                <a:solidFill>
                  <a:srgbClr val="0000FF"/>
                </a:solidFill>
                <a:latin typeface="Times New Roman" pitchFamily="18" charset="0"/>
                <a:ea typeface="黑体" pitchFamily="49" charset="-122"/>
              </a:rPr>
              <a:t>b</a:t>
            </a:r>
            <a:r>
              <a:rPr kumimoji="1" lang="zh-CN" altLang="en-US" sz="2400" b="1" dirty="0">
                <a:solidFill>
                  <a:srgbClr val="0000FF"/>
                </a:solidFill>
                <a:latin typeface="黑体" pitchFamily="49" charset="-122"/>
                <a:ea typeface="黑体" pitchFamily="49" charset="-122"/>
              </a:rPr>
              <a:t>为图形形心在</a:t>
            </a:r>
            <a:r>
              <a:rPr kumimoji="1" lang="en-US" altLang="zh-CN" sz="2400" b="1" i="1" dirty="0" err="1">
                <a:solidFill>
                  <a:srgbClr val="0000FF"/>
                </a:solidFill>
                <a:latin typeface="Times New Roman" pitchFamily="18" charset="0"/>
                <a:ea typeface="黑体" pitchFamily="49" charset="-122"/>
              </a:rPr>
              <a:t>yoz</a:t>
            </a:r>
            <a:r>
              <a:rPr kumimoji="1" lang="zh-CN" altLang="en-US" sz="2400" b="1" dirty="0">
                <a:solidFill>
                  <a:srgbClr val="0000FF"/>
                </a:solidFill>
                <a:latin typeface="黑体" pitchFamily="49" charset="-122"/>
                <a:ea typeface="黑体" pitchFamily="49" charset="-122"/>
              </a:rPr>
              <a:t>坐标系的坐标值，可正可负</a:t>
            </a:r>
          </a:p>
        </p:txBody>
      </p:sp>
      <p:sp>
        <p:nvSpPr>
          <p:cNvPr id="4" name="AutoShape 35"/>
          <p:cNvSpPr>
            <a:spLocks noChangeArrowheads="1"/>
          </p:cNvSpPr>
          <p:nvPr/>
        </p:nvSpPr>
        <p:spPr bwMode="auto">
          <a:xfrm>
            <a:off x="468313" y="3444030"/>
            <a:ext cx="457200" cy="457200"/>
          </a:xfrm>
          <a:prstGeom prst="star5">
            <a:avLst/>
          </a:prstGeom>
          <a:noFill/>
          <a:ln>
            <a:noFill/>
          </a:ln>
          <a:effectLst/>
        </p:spPr>
        <p:txBody>
          <a:bodyPr wrap="none" anchor="ctr"/>
          <a:lstStyle/>
          <a:p>
            <a:pPr>
              <a:defRPr/>
            </a:pPr>
            <a:endParaRPr lang="zh-CN" altLang="en-US">
              <a:latin typeface="Arial" charset="0"/>
            </a:endParaRPr>
          </a:p>
        </p:txBody>
      </p:sp>
      <p:graphicFrame>
        <p:nvGraphicFramePr>
          <p:cNvPr id="5" name="Object 32"/>
          <p:cNvGraphicFramePr>
            <a:graphicFrameLocks noChangeAspect="1"/>
          </p:cNvGraphicFramePr>
          <p:nvPr/>
        </p:nvGraphicFramePr>
        <p:xfrm>
          <a:off x="1476375" y="908050"/>
          <a:ext cx="2820988" cy="1752600"/>
        </p:xfrm>
        <a:graphic>
          <a:graphicData uri="http://schemas.openxmlformats.org/presentationml/2006/ole">
            <mc:AlternateContent xmlns:mc="http://schemas.openxmlformats.org/markup-compatibility/2006">
              <mc:Choice xmlns:v="urn:schemas-microsoft-com:vml" Requires="v">
                <p:oleObj name="公式" r:id="rId2" imgW="808920" imgH="597600" progId="">
                  <p:embed/>
                </p:oleObj>
              </mc:Choice>
              <mc:Fallback>
                <p:oleObj name="公式" r:id="rId2" imgW="808920" imgH="597600" progId="">
                  <p:embed/>
                  <p:pic>
                    <p:nvPicPr>
                      <p:cNvPr id="0" name="Picture 10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6375" y="908050"/>
                        <a:ext cx="2820988" cy="1752600"/>
                      </a:xfrm>
                      <a:prstGeom prst="rect">
                        <a:avLst/>
                      </a:prstGeom>
                      <a:noFill/>
                      <a:extLst>
                        <a:ext uri="{909E8E84-426E-40DD-AFC4-6F175D3DCCD1}">
                          <a14:hiddenFill xmlns:a14="http://schemas.microsoft.com/office/drawing/2010/main">
                            <a:solidFill>
                              <a:srgbClr val="00FFFF"/>
                            </a:solidFill>
                          </a14:hiddenFill>
                        </a:ext>
                      </a:extLst>
                    </p:spPr>
                  </p:pic>
                </p:oleObj>
              </mc:Fallback>
            </mc:AlternateContent>
          </a:graphicData>
        </a:graphic>
      </p:graphicFrame>
      <p:sp>
        <p:nvSpPr>
          <p:cNvPr id="6" name="Oval 48"/>
          <p:cNvSpPr>
            <a:spLocks noChangeArrowheads="1"/>
          </p:cNvSpPr>
          <p:nvPr/>
        </p:nvSpPr>
        <p:spPr bwMode="auto">
          <a:xfrm>
            <a:off x="5624513" y="1009650"/>
            <a:ext cx="2514600" cy="1905000"/>
          </a:xfrm>
          <a:prstGeom prst="ellipse">
            <a:avLst/>
          </a:prstGeom>
          <a:gradFill rotWithShape="1">
            <a:gsLst>
              <a:gs pos="0">
                <a:srgbClr val="006600"/>
              </a:gs>
              <a:gs pos="50000">
                <a:srgbClr val="FFFFFF"/>
              </a:gs>
              <a:gs pos="100000">
                <a:srgbClr val="006600"/>
              </a:gs>
            </a:gsLst>
            <a:lin ang="5400000" scaled="1"/>
          </a:gradFill>
          <a:ln w="9525">
            <a:solidFill>
              <a:schemeClr val="tx1"/>
            </a:solidFill>
            <a:round/>
            <a:headEnd/>
            <a:tailEnd/>
          </a:ln>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en-US"/>
          </a:p>
        </p:txBody>
      </p:sp>
      <p:grpSp>
        <p:nvGrpSpPr>
          <p:cNvPr id="7" name="Group 49"/>
          <p:cNvGrpSpPr>
            <a:grpSpLocks/>
          </p:cNvGrpSpPr>
          <p:nvPr/>
        </p:nvGrpSpPr>
        <p:grpSpPr bwMode="auto">
          <a:xfrm>
            <a:off x="5014913" y="781050"/>
            <a:ext cx="4129087" cy="2438400"/>
            <a:chOff x="2544" y="624"/>
            <a:chExt cx="2601" cy="1536"/>
          </a:xfrm>
        </p:grpSpPr>
        <p:sp>
          <p:nvSpPr>
            <p:cNvPr id="8" name="Line 50"/>
            <p:cNvSpPr>
              <a:spLocks noChangeShapeType="1"/>
            </p:cNvSpPr>
            <p:nvPr/>
          </p:nvSpPr>
          <p:spPr bwMode="auto">
            <a:xfrm>
              <a:off x="2784" y="2064"/>
              <a:ext cx="216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 name="Text Box 51"/>
            <p:cNvSpPr txBox="1">
              <a:spLocks noChangeArrowheads="1"/>
            </p:cNvSpPr>
            <p:nvPr/>
          </p:nvSpPr>
          <p:spPr bwMode="auto">
            <a:xfrm>
              <a:off x="4944" y="1872"/>
              <a:ext cx="2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2400">
                  <a:latin typeface="Times New Roman" pitchFamily="18" charset="0"/>
                </a:rPr>
                <a:t>z</a:t>
              </a:r>
            </a:p>
          </p:txBody>
        </p:sp>
        <p:sp>
          <p:nvSpPr>
            <p:cNvPr id="10" name="Text Box 52"/>
            <p:cNvSpPr txBox="1">
              <a:spLocks noChangeArrowheads="1"/>
            </p:cNvSpPr>
            <p:nvPr/>
          </p:nvSpPr>
          <p:spPr bwMode="auto">
            <a:xfrm>
              <a:off x="2544" y="62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2400">
                  <a:latin typeface="Times New Roman" pitchFamily="18" charset="0"/>
                </a:rPr>
                <a:t>y</a:t>
              </a:r>
            </a:p>
          </p:txBody>
        </p:sp>
        <p:sp>
          <p:nvSpPr>
            <p:cNvPr id="11" name="Text Box 53"/>
            <p:cNvSpPr txBox="1">
              <a:spLocks noChangeArrowheads="1"/>
            </p:cNvSpPr>
            <p:nvPr/>
          </p:nvSpPr>
          <p:spPr bwMode="auto">
            <a:xfrm>
              <a:off x="2582" y="184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2400">
                  <a:latin typeface="Times New Roman" pitchFamily="18" charset="0"/>
                </a:rPr>
                <a:t>o</a:t>
              </a:r>
            </a:p>
          </p:txBody>
        </p:sp>
        <p:sp>
          <p:nvSpPr>
            <p:cNvPr id="12" name="Line 54"/>
            <p:cNvSpPr>
              <a:spLocks noChangeShapeType="1"/>
            </p:cNvSpPr>
            <p:nvPr/>
          </p:nvSpPr>
          <p:spPr bwMode="auto">
            <a:xfrm flipV="1">
              <a:off x="2784" y="816"/>
              <a:ext cx="0" cy="124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3" name="Group 55"/>
          <p:cNvGrpSpPr>
            <a:grpSpLocks/>
          </p:cNvGrpSpPr>
          <p:nvPr/>
        </p:nvGrpSpPr>
        <p:grpSpPr bwMode="auto">
          <a:xfrm>
            <a:off x="7407275" y="1466850"/>
            <a:ext cx="427038" cy="500063"/>
            <a:chOff x="4051" y="1056"/>
            <a:chExt cx="269" cy="315"/>
          </a:xfrm>
        </p:grpSpPr>
        <p:sp>
          <p:nvSpPr>
            <p:cNvPr id="14" name="Text Box 56"/>
            <p:cNvSpPr txBox="1">
              <a:spLocks noChangeArrowheads="1"/>
            </p:cNvSpPr>
            <p:nvPr/>
          </p:nvSpPr>
          <p:spPr bwMode="auto">
            <a:xfrm>
              <a:off x="4051" y="1056"/>
              <a:ext cx="26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2400">
                  <a:solidFill>
                    <a:srgbClr val="800000"/>
                  </a:solidFill>
                  <a:latin typeface="Times New Roman" pitchFamily="18" charset="0"/>
                </a:rPr>
                <a:t>y</a:t>
              </a:r>
              <a:r>
                <a:rPr kumimoji="1" lang="en-US" altLang="zh-CN" sz="2400" baseline="-25000">
                  <a:solidFill>
                    <a:srgbClr val="800000"/>
                  </a:solidFill>
                  <a:latin typeface="Times New Roman" pitchFamily="18" charset="0"/>
                </a:rPr>
                <a:t>c</a:t>
              </a:r>
              <a:endParaRPr kumimoji="1" lang="en-US" altLang="zh-CN" sz="2400">
                <a:solidFill>
                  <a:srgbClr val="800000"/>
                </a:solidFill>
                <a:latin typeface="Times New Roman" pitchFamily="18" charset="0"/>
              </a:endParaRPr>
            </a:p>
          </p:txBody>
        </p:sp>
        <p:sp>
          <p:nvSpPr>
            <p:cNvPr id="15" name="Line 57"/>
            <p:cNvSpPr>
              <a:spLocks noChangeShapeType="1"/>
            </p:cNvSpPr>
            <p:nvPr/>
          </p:nvSpPr>
          <p:spPr bwMode="auto">
            <a:xfrm flipV="1">
              <a:off x="4080" y="1083"/>
              <a:ext cx="0" cy="288"/>
            </a:xfrm>
            <a:prstGeom prst="line">
              <a:avLst/>
            </a:prstGeom>
            <a:noFill/>
            <a:ln w="9525">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6" name="Group 58"/>
          <p:cNvGrpSpPr>
            <a:grpSpLocks/>
          </p:cNvGrpSpPr>
          <p:nvPr/>
        </p:nvGrpSpPr>
        <p:grpSpPr bwMode="auto">
          <a:xfrm>
            <a:off x="6900863" y="933450"/>
            <a:ext cx="417512" cy="533400"/>
            <a:chOff x="3732" y="720"/>
            <a:chExt cx="263" cy="336"/>
          </a:xfrm>
        </p:grpSpPr>
        <p:sp>
          <p:nvSpPr>
            <p:cNvPr id="17" name="Line 59"/>
            <p:cNvSpPr>
              <a:spLocks noChangeShapeType="1"/>
            </p:cNvSpPr>
            <p:nvPr/>
          </p:nvSpPr>
          <p:spPr bwMode="auto">
            <a:xfrm flipV="1">
              <a:off x="3732" y="1056"/>
              <a:ext cx="240" cy="0"/>
            </a:xfrm>
            <a:prstGeom prst="line">
              <a:avLst/>
            </a:prstGeom>
            <a:noFill/>
            <a:ln w="9525">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 name="Text Box 60"/>
            <p:cNvSpPr txBox="1">
              <a:spLocks noChangeArrowheads="1"/>
            </p:cNvSpPr>
            <p:nvPr/>
          </p:nvSpPr>
          <p:spPr bwMode="auto">
            <a:xfrm>
              <a:off x="3747" y="720"/>
              <a:ext cx="24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2400" i="1">
                  <a:solidFill>
                    <a:srgbClr val="800000"/>
                  </a:solidFill>
                  <a:latin typeface="Times New Roman" pitchFamily="18" charset="0"/>
                </a:rPr>
                <a:t>z</a:t>
              </a:r>
              <a:r>
                <a:rPr kumimoji="1" lang="en-US" altLang="zh-CN" sz="2400" i="1" baseline="-16000">
                  <a:solidFill>
                    <a:srgbClr val="800000"/>
                  </a:solidFill>
                  <a:latin typeface="Times New Roman" pitchFamily="18" charset="0"/>
                </a:rPr>
                <a:t>c</a:t>
              </a:r>
              <a:endParaRPr kumimoji="1" lang="en-US" altLang="zh-CN" sz="2400" i="1">
                <a:solidFill>
                  <a:srgbClr val="800000"/>
                </a:solidFill>
                <a:latin typeface="Times New Roman" pitchFamily="18" charset="0"/>
              </a:endParaRPr>
            </a:p>
          </p:txBody>
        </p:sp>
      </p:grpSp>
      <p:sp>
        <p:nvSpPr>
          <p:cNvPr id="19" name="Text Box 61"/>
          <p:cNvSpPr txBox="1">
            <a:spLocks noChangeArrowheads="1"/>
          </p:cNvSpPr>
          <p:nvPr/>
        </p:nvSpPr>
        <p:spPr bwMode="auto">
          <a:xfrm>
            <a:off x="6829425" y="1619250"/>
            <a:ext cx="319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2400">
                <a:latin typeface="Times New Roman" pitchFamily="18" charset="0"/>
              </a:rPr>
              <a:t>c</a:t>
            </a:r>
          </a:p>
        </p:txBody>
      </p:sp>
      <p:grpSp>
        <p:nvGrpSpPr>
          <p:cNvPr id="20" name="Group 67"/>
          <p:cNvGrpSpPr>
            <a:grpSpLocks/>
          </p:cNvGrpSpPr>
          <p:nvPr/>
        </p:nvGrpSpPr>
        <p:grpSpPr bwMode="auto">
          <a:xfrm>
            <a:off x="7315200" y="1274763"/>
            <a:ext cx="552450" cy="339725"/>
            <a:chOff x="3993" y="935"/>
            <a:chExt cx="348" cy="214"/>
          </a:xfrm>
        </p:grpSpPr>
        <p:sp>
          <p:nvSpPr>
            <p:cNvPr id="21" name="Rectangle 68"/>
            <p:cNvSpPr>
              <a:spLocks noChangeArrowheads="1"/>
            </p:cNvSpPr>
            <p:nvPr/>
          </p:nvSpPr>
          <p:spPr bwMode="auto">
            <a:xfrm>
              <a:off x="3993" y="1008"/>
              <a:ext cx="87" cy="96"/>
            </a:xfrm>
            <a:prstGeom prst="rect">
              <a:avLst/>
            </a:prstGeom>
            <a:solidFill>
              <a:srgbClr val="FF0000"/>
            </a:solidFill>
            <a:ln w="9525">
              <a:solidFill>
                <a:srgbClr val="FF0000"/>
              </a:solidFill>
              <a:miter lim="800000"/>
              <a:headEnd/>
              <a:tailEnd/>
            </a:ln>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en-US"/>
            </a:p>
          </p:txBody>
        </p:sp>
        <p:graphicFrame>
          <p:nvGraphicFramePr>
            <p:cNvPr id="22" name="Object 69"/>
            <p:cNvGraphicFramePr>
              <a:graphicFrameLocks noChangeAspect="1"/>
            </p:cNvGraphicFramePr>
            <p:nvPr/>
          </p:nvGraphicFramePr>
          <p:xfrm>
            <a:off x="4081" y="935"/>
            <a:ext cx="260" cy="214"/>
          </p:xfrm>
          <a:graphic>
            <a:graphicData uri="http://schemas.openxmlformats.org/presentationml/2006/ole">
              <mc:AlternateContent xmlns:mc="http://schemas.openxmlformats.org/markup-compatibility/2006">
                <mc:Choice xmlns:v="urn:schemas-microsoft-com:vml" Requires="v">
                  <p:oleObj name="Equation" r:id="rId4" imgW="215619" imgH="177569" progId="">
                    <p:embed/>
                  </p:oleObj>
                </mc:Choice>
                <mc:Fallback>
                  <p:oleObj name="Equation" r:id="rId4" imgW="215619" imgH="177569" progId="">
                    <p:embed/>
                    <p:pic>
                      <p:nvPicPr>
                        <p:cNvPr id="0" name="Picture 10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81" y="935"/>
                          <a:ext cx="260" cy="21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3" name="Group 70"/>
          <p:cNvGrpSpPr>
            <a:grpSpLocks/>
          </p:cNvGrpSpPr>
          <p:nvPr/>
        </p:nvGrpSpPr>
        <p:grpSpPr bwMode="auto">
          <a:xfrm>
            <a:off x="7196138" y="1543050"/>
            <a:ext cx="257175" cy="1524000"/>
            <a:chOff x="3918" y="1104"/>
            <a:chExt cx="162" cy="960"/>
          </a:xfrm>
        </p:grpSpPr>
        <p:sp>
          <p:nvSpPr>
            <p:cNvPr id="24" name="Line 71"/>
            <p:cNvSpPr>
              <a:spLocks noChangeShapeType="1"/>
            </p:cNvSpPr>
            <p:nvPr/>
          </p:nvSpPr>
          <p:spPr bwMode="auto">
            <a:xfrm>
              <a:off x="3990" y="1104"/>
              <a:ext cx="0" cy="960"/>
            </a:xfrm>
            <a:prstGeom prst="line">
              <a:avLst/>
            </a:prstGeom>
            <a:noFill/>
            <a:ln w="9525">
              <a:solidFill>
                <a:schemeClr val="tx1"/>
              </a:solidFill>
              <a:round/>
              <a:headEnd type="arrow" w="med" len="med"/>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5" name="Object 72"/>
            <p:cNvGraphicFramePr>
              <a:graphicFrameLocks noChangeAspect="1"/>
            </p:cNvGraphicFramePr>
            <p:nvPr/>
          </p:nvGraphicFramePr>
          <p:xfrm>
            <a:off x="3918" y="1536"/>
            <a:ext cx="162" cy="192"/>
          </p:xfrm>
          <a:graphic>
            <a:graphicData uri="http://schemas.openxmlformats.org/presentationml/2006/ole">
              <mc:AlternateContent xmlns:mc="http://schemas.openxmlformats.org/markup-compatibility/2006">
                <mc:Choice xmlns:v="urn:schemas-microsoft-com:vml" Requires="v">
                  <p:oleObj name="Equation" r:id="rId6" imgW="139579" imgH="164957" progId="">
                    <p:embed/>
                  </p:oleObj>
                </mc:Choice>
                <mc:Fallback>
                  <p:oleObj name="Equation" r:id="rId6" imgW="139579" imgH="164957" progId="">
                    <p:embed/>
                    <p:pic>
                      <p:nvPicPr>
                        <p:cNvPr id="0" name="Picture 10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18" y="1536"/>
                          <a:ext cx="162" cy="19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6" name="Group 73"/>
          <p:cNvGrpSpPr>
            <a:grpSpLocks/>
          </p:cNvGrpSpPr>
          <p:nvPr/>
        </p:nvGrpSpPr>
        <p:grpSpPr bwMode="auto">
          <a:xfrm>
            <a:off x="5395913" y="1419225"/>
            <a:ext cx="1905000" cy="234950"/>
            <a:chOff x="2784" y="1026"/>
            <a:chExt cx="1200" cy="148"/>
          </a:xfrm>
        </p:grpSpPr>
        <p:sp>
          <p:nvSpPr>
            <p:cNvPr id="27" name="Line 74"/>
            <p:cNvSpPr>
              <a:spLocks noChangeShapeType="1"/>
            </p:cNvSpPr>
            <p:nvPr/>
          </p:nvSpPr>
          <p:spPr bwMode="auto">
            <a:xfrm>
              <a:off x="2784" y="1104"/>
              <a:ext cx="1200" cy="0"/>
            </a:xfrm>
            <a:prstGeom prst="line">
              <a:avLst/>
            </a:prstGeom>
            <a:noFill/>
            <a:ln w="9525">
              <a:solidFill>
                <a:schemeClr val="tx1"/>
              </a:solidFill>
              <a:round/>
              <a:headEnd type="arrow" w="med" len="med"/>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8" name="Object 75"/>
            <p:cNvGraphicFramePr>
              <a:graphicFrameLocks noChangeAspect="1"/>
            </p:cNvGraphicFramePr>
            <p:nvPr/>
          </p:nvGraphicFramePr>
          <p:xfrm>
            <a:off x="3204" y="1026"/>
            <a:ext cx="147" cy="148"/>
          </p:xfrm>
          <a:graphic>
            <a:graphicData uri="http://schemas.openxmlformats.org/presentationml/2006/ole">
              <mc:AlternateContent xmlns:mc="http://schemas.openxmlformats.org/markup-compatibility/2006">
                <mc:Choice xmlns:v="urn:schemas-microsoft-com:vml" Requires="v">
                  <p:oleObj name="Equation" r:id="rId8" imgW="126725" imgH="126725" progId="">
                    <p:embed/>
                  </p:oleObj>
                </mc:Choice>
                <mc:Fallback>
                  <p:oleObj name="Equation" r:id="rId8" imgW="126725" imgH="126725" progId="">
                    <p:embed/>
                    <p:pic>
                      <p:nvPicPr>
                        <p:cNvPr id="0" name="Picture 10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04" y="1026"/>
                          <a:ext cx="147" cy="1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9" name="Group 76"/>
          <p:cNvGrpSpPr>
            <a:grpSpLocks/>
          </p:cNvGrpSpPr>
          <p:nvPr/>
        </p:nvGrpSpPr>
        <p:grpSpPr bwMode="auto">
          <a:xfrm>
            <a:off x="6767513" y="1976438"/>
            <a:ext cx="233362" cy="1066800"/>
            <a:chOff x="3648" y="1377"/>
            <a:chExt cx="147" cy="672"/>
          </a:xfrm>
        </p:grpSpPr>
        <p:sp>
          <p:nvSpPr>
            <p:cNvPr id="30" name="Line 77"/>
            <p:cNvSpPr>
              <a:spLocks noChangeShapeType="1"/>
            </p:cNvSpPr>
            <p:nvPr/>
          </p:nvSpPr>
          <p:spPr bwMode="auto">
            <a:xfrm>
              <a:off x="3723" y="1377"/>
              <a:ext cx="0" cy="672"/>
            </a:xfrm>
            <a:prstGeom prst="line">
              <a:avLst/>
            </a:prstGeom>
            <a:noFill/>
            <a:ln w="9525">
              <a:solidFill>
                <a:schemeClr val="tx1"/>
              </a:solidFill>
              <a:round/>
              <a:headEnd type="arrow" w="med" len="med"/>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31" name="Object 78"/>
            <p:cNvGraphicFramePr>
              <a:graphicFrameLocks noChangeAspect="1"/>
            </p:cNvGraphicFramePr>
            <p:nvPr/>
          </p:nvGraphicFramePr>
          <p:xfrm>
            <a:off x="3648" y="1584"/>
            <a:ext cx="147" cy="163"/>
          </p:xfrm>
          <a:graphic>
            <a:graphicData uri="http://schemas.openxmlformats.org/presentationml/2006/ole">
              <mc:AlternateContent xmlns:mc="http://schemas.openxmlformats.org/markup-compatibility/2006">
                <mc:Choice xmlns:v="urn:schemas-microsoft-com:vml" Requires="v">
                  <p:oleObj name="Equation" r:id="rId10" imgW="126835" imgH="139518" progId="">
                    <p:embed/>
                  </p:oleObj>
                </mc:Choice>
                <mc:Fallback>
                  <p:oleObj name="Equation" r:id="rId10" imgW="126835" imgH="139518" progId="">
                    <p:embed/>
                    <p:pic>
                      <p:nvPicPr>
                        <p:cNvPr id="0" name="Picture 10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648" y="1584"/>
                          <a:ext cx="147" cy="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32" name="Group 79"/>
          <p:cNvGrpSpPr>
            <a:grpSpLocks/>
          </p:cNvGrpSpPr>
          <p:nvPr/>
        </p:nvGrpSpPr>
        <p:grpSpPr bwMode="auto">
          <a:xfrm>
            <a:off x="5405438" y="1800225"/>
            <a:ext cx="1462087" cy="330200"/>
            <a:chOff x="2790" y="1266"/>
            <a:chExt cx="921" cy="208"/>
          </a:xfrm>
        </p:grpSpPr>
        <p:sp>
          <p:nvSpPr>
            <p:cNvPr id="33" name="Line 80"/>
            <p:cNvSpPr>
              <a:spLocks noChangeShapeType="1"/>
            </p:cNvSpPr>
            <p:nvPr/>
          </p:nvSpPr>
          <p:spPr bwMode="auto">
            <a:xfrm flipH="1">
              <a:off x="2790" y="1374"/>
              <a:ext cx="921" cy="0"/>
            </a:xfrm>
            <a:prstGeom prst="line">
              <a:avLst/>
            </a:prstGeom>
            <a:noFill/>
            <a:ln w="9525">
              <a:solidFill>
                <a:schemeClr val="tx1"/>
              </a:solidFill>
              <a:round/>
              <a:headEnd type="arrow" w="med" len="med"/>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34" name="Object 81"/>
            <p:cNvGraphicFramePr>
              <a:graphicFrameLocks noChangeAspect="1"/>
            </p:cNvGraphicFramePr>
            <p:nvPr/>
          </p:nvGraphicFramePr>
          <p:xfrm>
            <a:off x="3180" y="1266"/>
            <a:ext cx="147" cy="208"/>
          </p:xfrm>
          <a:graphic>
            <a:graphicData uri="http://schemas.openxmlformats.org/presentationml/2006/ole">
              <mc:AlternateContent xmlns:mc="http://schemas.openxmlformats.org/markup-compatibility/2006">
                <mc:Choice xmlns:v="urn:schemas-microsoft-com:vml" Requires="v">
                  <p:oleObj name="Equation" r:id="rId12" imgW="126725" imgH="177415" progId="">
                    <p:embed/>
                  </p:oleObj>
                </mc:Choice>
                <mc:Fallback>
                  <p:oleObj name="Equation" r:id="rId12" imgW="126725" imgH="177415" progId="">
                    <p:embed/>
                    <p:pic>
                      <p:nvPicPr>
                        <p:cNvPr id="0" name="Picture 10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180" y="1266"/>
                          <a:ext cx="147" cy="20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35" name="Text Box 82"/>
          <p:cNvSpPr txBox="1">
            <a:spLocks noChangeArrowheads="1"/>
          </p:cNvSpPr>
          <p:nvPr/>
        </p:nvSpPr>
        <p:spPr bwMode="auto">
          <a:xfrm>
            <a:off x="1763713" y="2781300"/>
            <a:ext cx="3095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2400" b="1" dirty="0">
                <a:solidFill>
                  <a:srgbClr val="0000FF"/>
                </a:solidFill>
                <a:latin typeface="Times New Roman" pitchFamily="18" charset="0"/>
                <a:ea typeface="黑体" pitchFamily="49" charset="-122"/>
              </a:rPr>
              <a:t>——</a:t>
            </a:r>
            <a:r>
              <a:rPr kumimoji="1" lang="zh-CN" altLang="en-US" sz="2400" b="1" dirty="0">
                <a:solidFill>
                  <a:srgbClr val="0000FF"/>
                </a:solidFill>
                <a:latin typeface="黑体" pitchFamily="49" charset="-122"/>
                <a:ea typeface="黑体" pitchFamily="49" charset="-122"/>
              </a:rPr>
              <a:t>平行移轴公式</a:t>
            </a:r>
            <a:endParaRPr kumimoji="1" lang="zh-CN" altLang="en-US" sz="2400" dirty="0">
              <a:solidFill>
                <a:srgbClr val="0000FF"/>
              </a:solidFill>
              <a:latin typeface="黑体" pitchFamily="49" charset="-122"/>
              <a:ea typeface="黑体" pitchFamily="49" charset="-122"/>
            </a:endParaRPr>
          </a:p>
        </p:txBody>
      </p:sp>
    </p:spTree>
    <p:extLst>
      <p:ext uri="{BB962C8B-B14F-4D97-AF65-F5344CB8AC3E}">
        <p14:creationId xmlns:p14="http://schemas.microsoft.com/office/powerpoint/2010/main" val="3879617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iterate type="lt">
                                    <p:tmPct val="100000"/>
                                  </p:iterate>
                                  <p:childTnLst>
                                    <p:set>
                                      <p:cBhvr>
                                        <p:cTn id="10" dur="1" fill="hold">
                                          <p:stCondLst>
                                            <p:cond delay="0"/>
                                          </p:stCondLst>
                                        </p:cTn>
                                        <p:tgtEl>
                                          <p:spTgt spid="35"/>
                                        </p:tgtEl>
                                        <p:attrNameLst>
                                          <p:attrName>style.visibility</p:attrName>
                                        </p:attrNameLst>
                                      </p:cBhvr>
                                      <p:to>
                                        <p:strVal val="visible"/>
                                      </p:to>
                                    </p:set>
                                    <p:anim calcmode="lin" valueType="num">
                                      <p:cBhvr additive="base">
                                        <p:cTn id="11" dur="75" fill="hold"/>
                                        <p:tgtEl>
                                          <p:spTgt spid="35"/>
                                        </p:tgtEl>
                                        <p:attrNameLst>
                                          <p:attrName>ppt_x</p:attrName>
                                        </p:attrNameLst>
                                      </p:cBhvr>
                                      <p:tavLst>
                                        <p:tav tm="0">
                                          <p:val>
                                            <p:strVal val="#ppt_x"/>
                                          </p:val>
                                        </p:tav>
                                        <p:tav tm="100000">
                                          <p:val>
                                            <p:strVal val="#ppt_x"/>
                                          </p:val>
                                        </p:tav>
                                      </p:tavLst>
                                    </p:anim>
                                    <p:anim calcmode="lin" valueType="num">
                                      <p:cBhvr additive="base">
                                        <p:cTn id="12" dur="75" fill="hold"/>
                                        <p:tgtEl>
                                          <p:spTgt spid="3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5"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522796" y="2329716"/>
            <a:ext cx="7941555" cy="461665"/>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400" b="1" dirty="0">
                <a:solidFill>
                  <a:srgbClr val="0000FF"/>
                </a:solidFill>
                <a:latin typeface="黑体" pitchFamily="49" charset="-122"/>
                <a:ea typeface="黑体" pitchFamily="49" charset="-122"/>
              </a:rPr>
              <a:t>主惯性矩（</a:t>
            </a:r>
            <a:r>
              <a:rPr kumimoji="1" lang="zh-CN" altLang="en-US" sz="2400" b="1" dirty="0">
                <a:solidFill>
                  <a:srgbClr val="FF0000"/>
                </a:solidFill>
                <a:latin typeface="黑体" pitchFamily="49" charset="-122"/>
                <a:ea typeface="黑体" pitchFamily="49" charset="-122"/>
              </a:rPr>
              <a:t>主矩</a:t>
            </a:r>
            <a:r>
              <a:rPr kumimoji="1" lang="zh-CN" altLang="en-US" sz="2400" b="1" dirty="0">
                <a:solidFill>
                  <a:srgbClr val="0000FF"/>
                </a:solidFill>
                <a:latin typeface="黑体" pitchFamily="49" charset="-122"/>
                <a:ea typeface="黑体" pitchFamily="49" charset="-122"/>
              </a:rPr>
              <a:t>）</a:t>
            </a:r>
          </a:p>
        </p:txBody>
      </p:sp>
      <p:sp>
        <p:nvSpPr>
          <p:cNvPr id="3" name="Text Box 3"/>
          <p:cNvSpPr txBox="1">
            <a:spLocks noChangeArrowheads="1"/>
          </p:cNvSpPr>
          <p:nvPr/>
        </p:nvSpPr>
        <p:spPr bwMode="auto">
          <a:xfrm>
            <a:off x="539552" y="2965485"/>
            <a:ext cx="7924800" cy="707886"/>
          </a:xfrm>
          <a:prstGeom prst="rect">
            <a:avLst/>
          </a:prstGeom>
          <a:solidFill>
            <a:schemeClr val="bg1"/>
          </a:solidFill>
          <a:ln w="28575">
            <a:solidFill>
              <a:srgbClr val="FF0000"/>
            </a:solidFill>
            <a:miter lim="800000"/>
            <a:headEnd/>
            <a:tailEnd/>
          </a:ln>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000" b="1" dirty="0">
                <a:solidFill>
                  <a:srgbClr val="0000FF"/>
                </a:solidFill>
                <a:latin typeface="黑体" pitchFamily="49" charset="-122"/>
                <a:ea typeface="黑体" pitchFamily="49" charset="-122"/>
              </a:rPr>
              <a:t>图形对主轴的惯性矩</a:t>
            </a:r>
            <a:r>
              <a:rPr kumimoji="1" lang="en-US" altLang="zh-CN" sz="2000" b="1" i="1" dirty="0">
                <a:solidFill>
                  <a:srgbClr val="0000FF"/>
                </a:solidFill>
                <a:latin typeface="Times New Roman" pitchFamily="18" charset="0"/>
                <a:ea typeface="黑体" pitchFamily="49" charset="-122"/>
              </a:rPr>
              <a:t>I</a:t>
            </a:r>
            <a:r>
              <a:rPr kumimoji="1" lang="en-US" altLang="zh-CN" sz="2000" b="1" i="1" baseline="-25000" dirty="0">
                <a:solidFill>
                  <a:srgbClr val="0000FF"/>
                </a:solidFill>
                <a:latin typeface="Times New Roman" pitchFamily="18" charset="0"/>
                <a:ea typeface="黑体" pitchFamily="49" charset="-122"/>
              </a:rPr>
              <a:t>z0</a:t>
            </a:r>
            <a:r>
              <a:rPr kumimoji="1" lang="zh-CN" altLang="en-US" sz="2000" b="1" i="1" baseline="-25000" dirty="0">
                <a:solidFill>
                  <a:srgbClr val="0000FF"/>
                </a:solidFill>
                <a:latin typeface="Times New Roman" pitchFamily="18" charset="0"/>
                <a:ea typeface="黑体" pitchFamily="49" charset="-122"/>
              </a:rPr>
              <a:t>、</a:t>
            </a:r>
            <a:r>
              <a:rPr kumimoji="1" lang="en-US" altLang="zh-CN" sz="2000" b="1" i="1" dirty="0">
                <a:solidFill>
                  <a:srgbClr val="0000FF"/>
                </a:solidFill>
                <a:latin typeface="Times New Roman" pitchFamily="18" charset="0"/>
                <a:ea typeface="黑体" pitchFamily="49" charset="-122"/>
              </a:rPr>
              <a:t>I</a:t>
            </a:r>
            <a:r>
              <a:rPr kumimoji="1" lang="en-US" altLang="zh-CN" sz="2000" b="1" i="1" baseline="-25000" dirty="0">
                <a:solidFill>
                  <a:srgbClr val="0000FF"/>
                </a:solidFill>
                <a:latin typeface="Times New Roman" pitchFamily="18" charset="0"/>
                <a:ea typeface="黑体" pitchFamily="49" charset="-122"/>
              </a:rPr>
              <a:t>y0</a:t>
            </a:r>
            <a:r>
              <a:rPr kumimoji="1" lang="en-US" altLang="zh-CN" sz="2000" b="1" baseline="-25000" dirty="0">
                <a:solidFill>
                  <a:srgbClr val="0000FF"/>
                </a:solidFill>
                <a:latin typeface="黑体" pitchFamily="49" charset="-122"/>
                <a:ea typeface="黑体" pitchFamily="49" charset="-122"/>
              </a:rPr>
              <a:t> </a:t>
            </a:r>
            <a:r>
              <a:rPr kumimoji="1" lang="zh-CN" altLang="en-US" sz="2000" b="1" dirty="0">
                <a:solidFill>
                  <a:srgbClr val="0000FF"/>
                </a:solidFill>
                <a:latin typeface="黑体" pitchFamily="49" charset="-122"/>
                <a:ea typeface="黑体" pitchFamily="49" charset="-122"/>
              </a:rPr>
              <a:t>称为主惯性矩，主惯性矩为图形对过该点的所有轴的惯性矩中的最大和最小值。</a:t>
            </a:r>
          </a:p>
        </p:txBody>
      </p:sp>
      <p:sp>
        <p:nvSpPr>
          <p:cNvPr id="4" name="Text Box 4"/>
          <p:cNvSpPr txBox="1">
            <a:spLocks noChangeArrowheads="1"/>
          </p:cNvSpPr>
          <p:nvPr/>
        </p:nvSpPr>
        <p:spPr bwMode="auto">
          <a:xfrm>
            <a:off x="509415" y="3913892"/>
            <a:ext cx="7954936" cy="461665"/>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400" b="1" dirty="0">
                <a:solidFill>
                  <a:srgbClr val="0000FF"/>
                </a:solidFill>
                <a:latin typeface="黑体" pitchFamily="49" charset="-122"/>
                <a:ea typeface="黑体" pitchFamily="49" charset="-122"/>
              </a:rPr>
              <a:t>形心主惯性轴（</a:t>
            </a:r>
            <a:r>
              <a:rPr kumimoji="1" lang="zh-CN" altLang="en-US" sz="2400" b="1" dirty="0">
                <a:solidFill>
                  <a:srgbClr val="FF0000"/>
                </a:solidFill>
                <a:latin typeface="黑体" pitchFamily="49" charset="-122"/>
                <a:ea typeface="黑体" pitchFamily="49" charset="-122"/>
              </a:rPr>
              <a:t>形心主轴</a:t>
            </a:r>
            <a:r>
              <a:rPr kumimoji="1" lang="zh-CN" altLang="en-US" sz="2400" b="1" dirty="0">
                <a:solidFill>
                  <a:srgbClr val="0000FF"/>
                </a:solidFill>
                <a:latin typeface="黑体" pitchFamily="49" charset="-122"/>
                <a:ea typeface="黑体" pitchFamily="49" charset="-122"/>
              </a:rPr>
              <a:t>）</a:t>
            </a:r>
            <a:endParaRPr kumimoji="1" lang="zh-CN" altLang="en-US" sz="2400" dirty="0">
              <a:solidFill>
                <a:srgbClr val="0000FF"/>
              </a:solidFill>
              <a:latin typeface="黑体" pitchFamily="49" charset="-122"/>
              <a:ea typeface="黑体" pitchFamily="49" charset="-122"/>
            </a:endParaRPr>
          </a:p>
        </p:txBody>
      </p:sp>
      <p:sp>
        <p:nvSpPr>
          <p:cNvPr id="5" name="Text Box 5"/>
          <p:cNvSpPr txBox="1">
            <a:spLocks noChangeArrowheads="1"/>
          </p:cNvSpPr>
          <p:nvPr/>
        </p:nvSpPr>
        <p:spPr bwMode="auto">
          <a:xfrm>
            <a:off x="539552" y="4531767"/>
            <a:ext cx="7924800" cy="707886"/>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000" b="1" dirty="0">
                <a:solidFill>
                  <a:srgbClr val="0000FF"/>
                </a:solidFill>
                <a:latin typeface="黑体" pitchFamily="49" charset="-122"/>
                <a:ea typeface="黑体" pitchFamily="49" charset="-122"/>
              </a:rPr>
              <a:t>如果图形的两个主轴为图形的形心轴，则此两轴为形心主惯轴。（</a:t>
            </a:r>
            <a:r>
              <a:rPr kumimoji="1" lang="en-US" altLang="zh-CN" sz="2000" b="1" i="1" dirty="0" err="1">
                <a:solidFill>
                  <a:srgbClr val="0000FF"/>
                </a:solidFill>
                <a:latin typeface="Times New Roman" pitchFamily="18" charset="0"/>
                <a:ea typeface="黑体" pitchFamily="49" charset="-122"/>
              </a:rPr>
              <a:t>I</a:t>
            </a:r>
            <a:r>
              <a:rPr kumimoji="1" lang="en-US" altLang="zh-CN" sz="2000" b="1" i="1" baseline="-25000" dirty="0" err="1">
                <a:solidFill>
                  <a:srgbClr val="0000FF"/>
                </a:solidFill>
                <a:latin typeface="Times New Roman" pitchFamily="18" charset="0"/>
                <a:ea typeface="黑体" pitchFamily="49" charset="-122"/>
              </a:rPr>
              <a:t>zcyc</a:t>
            </a:r>
            <a:r>
              <a:rPr kumimoji="1" lang="en-US" altLang="zh-CN" sz="2000" b="1" dirty="0">
                <a:solidFill>
                  <a:srgbClr val="0000FF"/>
                </a:solidFill>
                <a:latin typeface="黑体" pitchFamily="49" charset="-122"/>
                <a:ea typeface="黑体" pitchFamily="49" charset="-122"/>
              </a:rPr>
              <a:t>= 0</a:t>
            </a:r>
            <a:r>
              <a:rPr kumimoji="1" lang="zh-CN" altLang="en-US" sz="2000" b="1" dirty="0">
                <a:solidFill>
                  <a:srgbClr val="0000FF"/>
                </a:solidFill>
                <a:latin typeface="黑体" pitchFamily="49" charset="-122"/>
                <a:ea typeface="黑体" pitchFamily="49" charset="-122"/>
              </a:rPr>
              <a:t>。 </a:t>
            </a:r>
            <a:r>
              <a:rPr kumimoji="1" lang="en-US" altLang="zh-CN" sz="2000" b="1" i="1" dirty="0" err="1">
                <a:solidFill>
                  <a:srgbClr val="0000FF"/>
                </a:solidFill>
                <a:latin typeface="Times New Roman" pitchFamily="18" charset="0"/>
                <a:ea typeface="黑体" pitchFamily="49" charset="-122"/>
              </a:rPr>
              <a:t>z</a:t>
            </a:r>
            <a:r>
              <a:rPr kumimoji="1" lang="en-US" altLang="zh-CN" sz="2000" b="1" i="1" baseline="-25000" dirty="0" err="1">
                <a:solidFill>
                  <a:srgbClr val="0000FF"/>
                </a:solidFill>
                <a:latin typeface="Times New Roman" pitchFamily="18" charset="0"/>
                <a:ea typeface="黑体" pitchFamily="49" charset="-122"/>
              </a:rPr>
              <a:t>c</a:t>
            </a:r>
            <a:r>
              <a:rPr kumimoji="1" lang="zh-CN" altLang="en-US" sz="2000" b="1" i="1" dirty="0">
                <a:solidFill>
                  <a:srgbClr val="0000FF"/>
                </a:solidFill>
                <a:latin typeface="Times New Roman" pitchFamily="18" charset="0"/>
                <a:ea typeface="黑体" pitchFamily="49" charset="-122"/>
              </a:rPr>
              <a:t>、</a:t>
            </a:r>
            <a:r>
              <a:rPr kumimoji="1" lang="en-US" altLang="zh-CN" sz="2000" b="1" i="1" dirty="0" err="1">
                <a:solidFill>
                  <a:srgbClr val="0000FF"/>
                </a:solidFill>
                <a:latin typeface="Times New Roman" pitchFamily="18" charset="0"/>
                <a:ea typeface="黑体" pitchFamily="49" charset="-122"/>
              </a:rPr>
              <a:t>y</a:t>
            </a:r>
            <a:r>
              <a:rPr kumimoji="1" lang="en-US" altLang="zh-CN" sz="2000" b="1" i="1" baseline="-25000" dirty="0" err="1">
                <a:solidFill>
                  <a:srgbClr val="0000FF"/>
                </a:solidFill>
                <a:latin typeface="Times New Roman" pitchFamily="18" charset="0"/>
                <a:ea typeface="黑体" pitchFamily="49" charset="-122"/>
              </a:rPr>
              <a:t>c</a:t>
            </a:r>
            <a:r>
              <a:rPr kumimoji="1" lang="en-US" altLang="zh-CN" sz="2000" b="1" dirty="0">
                <a:solidFill>
                  <a:srgbClr val="0000FF"/>
                </a:solidFill>
                <a:latin typeface="黑体" pitchFamily="49" charset="-122"/>
                <a:ea typeface="黑体" pitchFamily="49" charset="-122"/>
              </a:rPr>
              <a:t> </a:t>
            </a:r>
            <a:r>
              <a:rPr kumimoji="1" lang="zh-CN" altLang="en-US" sz="2000" b="1" dirty="0">
                <a:solidFill>
                  <a:srgbClr val="0000FF"/>
                </a:solidFill>
                <a:latin typeface="黑体" pitchFamily="49" charset="-122"/>
                <a:ea typeface="黑体" pitchFamily="49" charset="-122"/>
              </a:rPr>
              <a:t>为形心轴。</a:t>
            </a:r>
            <a:r>
              <a:rPr kumimoji="1" lang="en-US" altLang="zh-CN" sz="2000" b="1" i="1" dirty="0" err="1">
                <a:solidFill>
                  <a:srgbClr val="0000FF"/>
                </a:solidFill>
                <a:latin typeface="Times New Roman" pitchFamily="18" charset="0"/>
                <a:ea typeface="黑体" pitchFamily="49" charset="-122"/>
              </a:rPr>
              <a:t>z</a:t>
            </a:r>
            <a:r>
              <a:rPr kumimoji="1" lang="en-US" altLang="zh-CN" sz="2000" b="1" i="1" baseline="-25000" dirty="0" err="1">
                <a:solidFill>
                  <a:srgbClr val="0000FF"/>
                </a:solidFill>
                <a:latin typeface="Times New Roman" pitchFamily="18" charset="0"/>
                <a:ea typeface="黑体" pitchFamily="49" charset="-122"/>
              </a:rPr>
              <a:t>c</a:t>
            </a:r>
            <a:r>
              <a:rPr kumimoji="1" lang="zh-CN" altLang="en-US" sz="2000" b="1" i="1" dirty="0">
                <a:solidFill>
                  <a:srgbClr val="0000FF"/>
                </a:solidFill>
                <a:latin typeface="Times New Roman" pitchFamily="18" charset="0"/>
                <a:ea typeface="黑体" pitchFamily="49" charset="-122"/>
              </a:rPr>
              <a:t>、</a:t>
            </a:r>
            <a:r>
              <a:rPr kumimoji="1" lang="en-US" altLang="zh-CN" sz="2000" b="1" i="1" dirty="0" err="1">
                <a:solidFill>
                  <a:srgbClr val="0000FF"/>
                </a:solidFill>
                <a:latin typeface="Times New Roman" pitchFamily="18" charset="0"/>
                <a:ea typeface="黑体" pitchFamily="49" charset="-122"/>
              </a:rPr>
              <a:t>y</a:t>
            </a:r>
            <a:r>
              <a:rPr kumimoji="1" lang="en-US" altLang="zh-CN" sz="2000" b="1" i="1" baseline="-25000" dirty="0" err="1">
                <a:solidFill>
                  <a:srgbClr val="0000FF"/>
                </a:solidFill>
                <a:latin typeface="Times New Roman" pitchFamily="18" charset="0"/>
                <a:ea typeface="黑体" pitchFamily="49" charset="-122"/>
              </a:rPr>
              <a:t>c</a:t>
            </a:r>
            <a:r>
              <a:rPr kumimoji="1" lang="en-US" altLang="zh-CN" sz="2000" b="1" baseline="-20000" dirty="0">
                <a:solidFill>
                  <a:srgbClr val="0000FF"/>
                </a:solidFill>
                <a:latin typeface="黑体" pitchFamily="49" charset="-122"/>
                <a:ea typeface="黑体" pitchFamily="49" charset="-122"/>
              </a:rPr>
              <a:t> </a:t>
            </a:r>
            <a:r>
              <a:rPr kumimoji="1" lang="zh-CN" altLang="en-US" sz="2000" b="1" dirty="0">
                <a:solidFill>
                  <a:srgbClr val="0000FF"/>
                </a:solidFill>
                <a:latin typeface="黑体" pitchFamily="49" charset="-122"/>
                <a:ea typeface="黑体" pitchFamily="49" charset="-122"/>
              </a:rPr>
              <a:t>为形心主轴）。</a:t>
            </a:r>
          </a:p>
        </p:txBody>
      </p:sp>
      <p:sp>
        <p:nvSpPr>
          <p:cNvPr id="6" name="Text Box 6"/>
          <p:cNvSpPr txBox="1">
            <a:spLocks noChangeArrowheads="1"/>
          </p:cNvSpPr>
          <p:nvPr/>
        </p:nvSpPr>
        <p:spPr bwMode="auto">
          <a:xfrm>
            <a:off x="565493" y="5426060"/>
            <a:ext cx="7898859" cy="523220"/>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400" b="1" dirty="0">
                <a:solidFill>
                  <a:srgbClr val="FF0000"/>
                </a:solidFill>
                <a:latin typeface="黑体" pitchFamily="49" charset="-122"/>
                <a:ea typeface="黑体" pitchFamily="49" charset="-122"/>
              </a:rPr>
              <a:t>形心主惯性矩</a:t>
            </a:r>
            <a:r>
              <a:rPr kumimoji="1" lang="zh-CN" altLang="en-US" sz="2400" b="1" dirty="0">
                <a:solidFill>
                  <a:srgbClr val="0000FF"/>
                </a:solidFill>
                <a:latin typeface="黑体" pitchFamily="49" charset="-122"/>
                <a:ea typeface="黑体" pitchFamily="49" charset="-122"/>
              </a:rPr>
              <a:t>：图形对形心主轴的惯性矩。（</a:t>
            </a:r>
            <a:r>
              <a:rPr kumimoji="1" lang="en-US" altLang="zh-CN" sz="2400" b="1" i="1" dirty="0" err="1">
                <a:solidFill>
                  <a:srgbClr val="0000FF"/>
                </a:solidFill>
                <a:latin typeface="Times New Roman" pitchFamily="18" charset="0"/>
                <a:ea typeface="黑体" pitchFamily="49" charset="-122"/>
              </a:rPr>
              <a:t>I</a:t>
            </a:r>
            <a:r>
              <a:rPr kumimoji="1" lang="en-US" altLang="zh-CN" sz="2400" b="1" i="1" baseline="-25000" dirty="0" err="1">
                <a:solidFill>
                  <a:srgbClr val="0000FF"/>
                </a:solidFill>
                <a:latin typeface="Times New Roman" pitchFamily="18" charset="0"/>
                <a:ea typeface="黑体" pitchFamily="49" charset="-122"/>
              </a:rPr>
              <a:t>zc</a:t>
            </a:r>
            <a:r>
              <a:rPr kumimoji="1" lang="zh-CN" altLang="en-US" sz="2400" b="1" i="1" dirty="0">
                <a:solidFill>
                  <a:srgbClr val="0000FF"/>
                </a:solidFill>
                <a:latin typeface="Times New Roman" pitchFamily="18" charset="0"/>
                <a:ea typeface="黑体" pitchFamily="49" charset="-122"/>
              </a:rPr>
              <a:t>、</a:t>
            </a:r>
            <a:r>
              <a:rPr kumimoji="1" lang="en-US" altLang="zh-CN" sz="2400" b="1" i="1" dirty="0" err="1">
                <a:solidFill>
                  <a:srgbClr val="0000FF"/>
                </a:solidFill>
                <a:latin typeface="Times New Roman" pitchFamily="18" charset="0"/>
                <a:ea typeface="黑体" pitchFamily="49" charset="-122"/>
              </a:rPr>
              <a:t>I</a:t>
            </a:r>
            <a:r>
              <a:rPr kumimoji="1" lang="en-US" altLang="zh-CN" sz="2400" b="1" i="1" baseline="-25000" dirty="0" err="1">
                <a:solidFill>
                  <a:srgbClr val="0000FF"/>
                </a:solidFill>
                <a:latin typeface="Times New Roman" pitchFamily="18" charset="0"/>
                <a:ea typeface="黑体" pitchFamily="49" charset="-122"/>
              </a:rPr>
              <a:t>yc</a:t>
            </a:r>
            <a:r>
              <a:rPr kumimoji="1" lang="zh-CN" altLang="en-US" sz="2400" b="1" dirty="0">
                <a:solidFill>
                  <a:srgbClr val="0000FF"/>
                </a:solidFill>
                <a:latin typeface="黑体" pitchFamily="49" charset="-122"/>
                <a:ea typeface="黑体" pitchFamily="49" charset="-122"/>
              </a:rPr>
              <a:t>）</a:t>
            </a:r>
            <a:r>
              <a:rPr kumimoji="1" lang="zh-CN" altLang="en-US" sz="2800" dirty="0">
                <a:solidFill>
                  <a:srgbClr val="0000FF"/>
                </a:solidFill>
                <a:latin typeface="黑体" pitchFamily="49" charset="-122"/>
                <a:ea typeface="黑体" pitchFamily="49" charset="-122"/>
              </a:rPr>
              <a:t>。</a:t>
            </a:r>
          </a:p>
        </p:txBody>
      </p:sp>
      <p:sp>
        <p:nvSpPr>
          <p:cNvPr id="8" name="Text Box 9"/>
          <p:cNvSpPr txBox="1">
            <a:spLocks noChangeArrowheads="1"/>
          </p:cNvSpPr>
          <p:nvPr/>
        </p:nvSpPr>
        <p:spPr bwMode="auto">
          <a:xfrm>
            <a:off x="514676" y="631141"/>
            <a:ext cx="7949676" cy="457200"/>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400" b="1" dirty="0">
                <a:solidFill>
                  <a:srgbClr val="0000FF"/>
                </a:solidFill>
                <a:latin typeface="黑体" pitchFamily="49" charset="-122"/>
                <a:ea typeface="黑体" pitchFamily="49" charset="-122"/>
              </a:rPr>
              <a:t>主惯性轴（</a:t>
            </a:r>
            <a:r>
              <a:rPr kumimoji="1" lang="zh-CN" altLang="en-US" sz="2400" b="1" dirty="0">
                <a:solidFill>
                  <a:srgbClr val="FF0000"/>
                </a:solidFill>
                <a:latin typeface="黑体" pitchFamily="49" charset="-122"/>
                <a:ea typeface="黑体" pitchFamily="49" charset="-122"/>
              </a:rPr>
              <a:t>主轴</a:t>
            </a:r>
            <a:r>
              <a:rPr kumimoji="1" lang="zh-CN" altLang="en-US" sz="2400" b="1" dirty="0">
                <a:solidFill>
                  <a:srgbClr val="0000FF"/>
                </a:solidFill>
                <a:latin typeface="黑体" pitchFamily="49" charset="-122"/>
                <a:ea typeface="黑体" pitchFamily="49" charset="-122"/>
              </a:rPr>
              <a:t>）</a:t>
            </a:r>
            <a:endParaRPr kumimoji="1" lang="zh-CN" altLang="en-US" sz="2400" dirty="0">
              <a:solidFill>
                <a:srgbClr val="0000FF"/>
              </a:solidFill>
              <a:latin typeface="黑体" pitchFamily="49" charset="-122"/>
              <a:ea typeface="黑体" pitchFamily="49" charset="-122"/>
            </a:endParaRPr>
          </a:p>
        </p:txBody>
      </p:sp>
      <p:sp>
        <p:nvSpPr>
          <p:cNvPr id="10" name="Rectangle 16"/>
          <p:cNvSpPr>
            <a:spLocks noChangeArrowheads="1"/>
          </p:cNvSpPr>
          <p:nvPr/>
        </p:nvSpPr>
        <p:spPr bwMode="auto">
          <a:xfrm>
            <a:off x="4211960" y="1542093"/>
            <a:ext cx="10239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kumimoji="1" lang="en-US" altLang="zh-CN" sz="2400" b="1" i="1" dirty="0">
                <a:solidFill>
                  <a:srgbClr val="0000FF"/>
                </a:solidFill>
                <a:latin typeface="黑体" pitchFamily="49" charset="-122"/>
                <a:ea typeface="黑体" pitchFamily="49" charset="-122"/>
              </a:rPr>
              <a:t>y</a:t>
            </a:r>
            <a:r>
              <a:rPr kumimoji="1" lang="en-US" altLang="zh-CN" sz="2400" b="1" baseline="-25000" dirty="0">
                <a:solidFill>
                  <a:srgbClr val="0000FF"/>
                </a:solidFill>
                <a:latin typeface="黑体" pitchFamily="49" charset="-122"/>
                <a:ea typeface="黑体" pitchFamily="49" charset="-122"/>
              </a:rPr>
              <a:t>0</a:t>
            </a:r>
            <a:r>
              <a:rPr kumimoji="1" lang="en-US" altLang="zh-CN" sz="2400" b="1" dirty="0">
                <a:solidFill>
                  <a:srgbClr val="0000FF"/>
                </a:solidFill>
                <a:latin typeface="黑体" pitchFamily="49" charset="-122"/>
                <a:ea typeface="黑体" pitchFamily="49" charset="-122"/>
              </a:rPr>
              <a:t>, </a:t>
            </a:r>
            <a:r>
              <a:rPr kumimoji="1" lang="en-US" altLang="zh-CN" sz="2400" b="1" i="1" dirty="0">
                <a:solidFill>
                  <a:srgbClr val="0000FF"/>
                </a:solidFill>
                <a:latin typeface="黑体" pitchFamily="49" charset="-122"/>
                <a:ea typeface="黑体" pitchFamily="49" charset="-122"/>
              </a:rPr>
              <a:t>z</a:t>
            </a:r>
            <a:r>
              <a:rPr kumimoji="1" lang="en-US" altLang="zh-CN" sz="2400" b="1" baseline="-25000" dirty="0">
                <a:solidFill>
                  <a:srgbClr val="0000FF"/>
                </a:solidFill>
                <a:latin typeface="黑体" pitchFamily="49" charset="-122"/>
                <a:ea typeface="黑体" pitchFamily="49" charset="-122"/>
              </a:rPr>
              <a:t>0</a:t>
            </a:r>
          </a:p>
        </p:txBody>
      </p:sp>
      <p:sp>
        <p:nvSpPr>
          <p:cNvPr id="12" name="Text Box 14"/>
          <p:cNvSpPr txBox="1">
            <a:spLocks noChangeArrowheads="1"/>
          </p:cNvSpPr>
          <p:nvPr/>
        </p:nvSpPr>
        <p:spPr bwMode="auto">
          <a:xfrm>
            <a:off x="539552" y="1278693"/>
            <a:ext cx="7924800" cy="769937"/>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000" b="1" dirty="0">
                <a:solidFill>
                  <a:srgbClr val="0000FF"/>
                </a:solidFill>
                <a:latin typeface="黑体" pitchFamily="49" charset="-122"/>
                <a:ea typeface="黑体" pitchFamily="49" charset="-122"/>
              </a:rPr>
              <a:t>如果图形对过某点的某一对坐标轴的惯性积为零，则该对轴为图形过该点的主惯性轴。（         ，       轴为主轴</a:t>
            </a:r>
            <a:r>
              <a:rPr kumimoji="1" lang="zh-CN" altLang="en-US" sz="2400" b="1" dirty="0">
                <a:solidFill>
                  <a:srgbClr val="0000FF"/>
                </a:solidFill>
                <a:latin typeface="黑体" pitchFamily="49" charset="-122"/>
                <a:ea typeface="黑体" pitchFamily="49" charset="-122"/>
              </a:rPr>
              <a:t>）。</a:t>
            </a:r>
          </a:p>
        </p:txBody>
      </p:sp>
      <p:graphicFrame>
        <p:nvGraphicFramePr>
          <p:cNvPr id="13" name="Object 17"/>
          <p:cNvGraphicFramePr>
            <a:graphicFrameLocks noChangeAspect="1"/>
          </p:cNvGraphicFramePr>
          <p:nvPr>
            <p:extLst>
              <p:ext uri="{D42A27DB-BD31-4B8C-83A1-F6EECF244321}">
                <p14:modId xmlns:p14="http://schemas.microsoft.com/office/powerpoint/2010/main" val="3478761093"/>
              </p:ext>
            </p:extLst>
          </p:nvPr>
        </p:nvGraphicFramePr>
        <p:xfrm>
          <a:off x="2916016" y="1639055"/>
          <a:ext cx="1180912" cy="522287"/>
        </p:xfrm>
        <a:graphic>
          <a:graphicData uri="http://schemas.openxmlformats.org/presentationml/2006/ole">
            <mc:AlternateContent xmlns:mc="http://schemas.openxmlformats.org/markup-compatibility/2006">
              <mc:Choice xmlns:v="urn:schemas-microsoft-com:vml" Requires="v">
                <p:oleObj name="公式" r:id="rId2" imgW="533169" imgH="241195" progId="">
                  <p:embed/>
                </p:oleObj>
              </mc:Choice>
              <mc:Fallback>
                <p:oleObj name="公式" r:id="rId2" imgW="533169" imgH="241195" progId="">
                  <p:embed/>
                  <p:pic>
                    <p:nvPicPr>
                      <p:cNvPr id="0" name="Picture 2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6016" y="1639055"/>
                        <a:ext cx="1180912" cy="522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863925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iterate type="lt">
                                    <p:tmPct val="100000"/>
                                  </p:iterate>
                                  <p:childTnLst>
                                    <p:set>
                                      <p:cBhvr>
                                        <p:cTn id="6" dur="1" fill="hold">
                                          <p:stCondLst>
                                            <p:cond delay="0"/>
                                          </p:stCondLst>
                                        </p:cTn>
                                        <p:tgtEl>
                                          <p:spTgt spid="8"/>
                                        </p:tgtEl>
                                        <p:attrNameLst>
                                          <p:attrName>style.visibility</p:attrName>
                                        </p:attrNameLst>
                                      </p:cBhvr>
                                      <p:to>
                                        <p:strVal val="visible"/>
                                      </p:to>
                                    </p:set>
                                    <p:anim calcmode="lin" valueType="num">
                                      <p:cBhvr additive="base">
                                        <p:cTn id="7" dur="75" fill="hold"/>
                                        <p:tgtEl>
                                          <p:spTgt spid="8"/>
                                        </p:tgtEl>
                                        <p:attrNameLst>
                                          <p:attrName>ppt_x</p:attrName>
                                        </p:attrNameLst>
                                      </p:cBhvr>
                                      <p:tavLst>
                                        <p:tav tm="0">
                                          <p:val>
                                            <p:strVal val="#ppt_x"/>
                                          </p:val>
                                        </p:tav>
                                        <p:tav tm="100000">
                                          <p:val>
                                            <p:strVal val="#ppt_x"/>
                                          </p:val>
                                        </p:tav>
                                      </p:tavLst>
                                    </p:anim>
                                    <p:anim calcmode="lin" valueType="num">
                                      <p:cBhvr additive="base">
                                        <p:cTn id="8" dur="75"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par>
                                <p:cTn id="17" presetID="10"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500"/>
                                        <p:tgtEl>
                                          <p:spTgt spid="13"/>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iterate type="lt">
                                    <p:tmPct val="100000"/>
                                  </p:iterate>
                                  <p:childTnLst>
                                    <p:set>
                                      <p:cBhvr>
                                        <p:cTn id="23" dur="1" fill="hold">
                                          <p:stCondLst>
                                            <p:cond delay="0"/>
                                          </p:stCondLst>
                                        </p:cTn>
                                        <p:tgtEl>
                                          <p:spTgt spid="2"/>
                                        </p:tgtEl>
                                        <p:attrNameLst>
                                          <p:attrName>style.visibility</p:attrName>
                                        </p:attrNameLst>
                                      </p:cBhvr>
                                      <p:to>
                                        <p:strVal val="visible"/>
                                      </p:to>
                                    </p:set>
                                    <p:anim calcmode="lin" valueType="num">
                                      <p:cBhvr additive="base">
                                        <p:cTn id="24" dur="75" fill="hold"/>
                                        <p:tgtEl>
                                          <p:spTgt spid="2"/>
                                        </p:tgtEl>
                                        <p:attrNameLst>
                                          <p:attrName>ppt_x</p:attrName>
                                        </p:attrNameLst>
                                      </p:cBhvr>
                                      <p:tavLst>
                                        <p:tav tm="0">
                                          <p:val>
                                            <p:strVal val="#ppt_x"/>
                                          </p:val>
                                        </p:tav>
                                        <p:tav tm="100000">
                                          <p:val>
                                            <p:strVal val="#ppt_x"/>
                                          </p:val>
                                        </p:tav>
                                      </p:tavLst>
                                    </p:anim>
                                    <p:anim calcmode="lin" valueType="num">
                                      <p:cBhvr additive="base">
                                        <p:cTn id="25" dur="75"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3"/>
                                        </p:tgtEl>
                                        <p:attrNameLst>
                                          <p:attrName>style.visibility</p:attrName>
                                        </p:attrNameLst>
                                      </p:cBhvr>
                                      <p:to>
                                        <p:strVal val="visible"/>
                                      </p:to>
                                    </p:set>
                                    <p:anim calcmode="lin" valueType="num">
                                      <p:cBhvr additive="base">
                                        <p:cTn id="30" dur="500" fill="hold"/>
                                        <p:tgtEl>
                                          <p:spTgt spid="3"/>
                                        </p:tgtEl>
                                        <p:attrNameLst>
                                          <p:attrName>ppt_x</p:attrName>
                                        </p:attrNameLst>
                                      </p:cBhvr>
                                      <p:tavLst>
                                        <p:tav tm="0">
                                          <p:val>
                                            <p:strVal val="#ppt_x"/>
                                          </p:val>
                                        </p:tav>
                                        <p:tav tm="100000">
                                          <p:val>
                                            <p:strVal val="#ppt_x"/>
                                          </p:val>
                                        </p:tav>
                                      </p:tavLst>
                                    </p:anim>
                                    <p:anim calcmode="lin" valueType="num">
                                      <p:cBhvr additive="base">
                                        <p:cTn id="31"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iterate type="lt">
                                    <p:tmPct val="100000"/>
                                  </p:iterate>
                                  <p:childTnLst>
                                    <p:set>
                                      <p:cBhvr>
                                        <p:cTn id="35" dur="1" fill="hold">
                                          <p:stCondLst>
                                            <p:cond delay="0"/>
                                          </p:stCondLst>
                                        </p:cTn>
                                        <p:tgtEl>
                                          <p:spTgt spid="4"/>
                                        </p:tgtEl>
                                        <p:attrNameLst>
                                          <p:attrName>style.visibility</p:attrName>
                                        </p:attrNameLst>
                                      </p:cBhvr>
                                      <p:to>
                                        <p:strVal val="visible"/>
                                      </p:to>
                                    </p:set>
                                    <p:anim calcmode="lin" valueType="num">
                                      <p:cBhvr additive="base">
                                        <p:cTn id="36" dur="75" fill="hold"/>
                                        <p:tgtEl>
                                          <p:spTgt spid="4"/>
                                        </p:tgtEl>
                                        <p:attrNameLst>
                                          <p:attrName>ppt_x</p:attrName>
                                        </p:attrNameLst>
                                      </p:cBhvr>
                                      <p:tavLst>
                                        <p:tav tm="0">
                                          <p:val>
                                            <p:strVal val="#ppt_x"/>
                                          </p:val>
                                        </p:tav>
                                        <p:tav tm="100000">
                                          <p:val>
                                            <p:strVal val="#ppt_x"/>
                                          </p:val>
                                        </p:tav>
                                      </p:tavLst>
                                    </p:anim>
                                    <p:anim calcmode="lin" valueType="num">
                                      <p:cBhvr additive="base">
                                        <p:cTn id="37" dur="75"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5"/>
                                        </p:tgtEl>
                                        <p:attrNameLst>
                                          <p:attrName>style.visibility</p:attrName>
                                        </p:attrNameLst>
                                      </p:cBhvr>
                                      <p:to>
                                        <p:strVal val="visible"/>
                                      </p:to>
                                    </p:set>
                                    <p:anim calcmode="lin" valueType="num">
                                      <p:cBhvr additive="base">
                                        <p:cTn id="42" dur="500" fill="hold"/>
                                        <p:tgtEl>
                                          <p:spTgt spid="5"/>
                                        </p:tgtEl>
                                        <p:attrNameLst>
                                          <p:attrName>ppt_x</p:attrName>
                                        </p:attrNameLst>
                                      </p:cBhvr>
                                      <p:tavLst>
                                        <p:tav tm="0">
                                          <p:val>
                                            <p:strVal val="#ppt_x"/>
                                          </p:val>
                                        </p:tav>
                                        <p:tav tm="100000">
                                          <p:val>
                                            <p:strVal val="#ppt_x"/>
                                          </p:val>
                                        </p:tav>
                                      </p:tavLst>
                                    </p:anim>
                                    <p:anim calcmode="lin" valueType="num">
                                      <p:cBhvr additive="base">
                                        <p:cTn id="4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iterate type="lt">
                                    <p:tmPct val="100000"/>
                                  </p:iterate>
                                  <p:childTnLst>
                                    <p:set>
                                      <p:cBhvr>
                                        <p:cTn id="47" dur="1" fill="hold">
                                          <p:stCondLst>
                                            <p:cond delay="0"/>
                                          </p:stCondLst>
                                        </p:cTn>
                                        <p:tgtEl>
                                          <p:spTgt spid="6"/>
                                        </p:tgtEl>
                                        <p:attrNameLst>
                                          <p:attrName>style.visibility</p:attrName>
                                        </p:attrNameLst>
                                      </p:cBhvr>
                                      <p:to>
                                        <p:strVal val="visible"/>
                                      </p:to>
                                    </p:set>
                                    <p:anim calcmode="lin" valueType="num">
                                      <p:cBhvr additive="base">
                                        <p:cTn id="48" dur="75" fill="hold"/>
                                        <p:tgtEl>
                                          <p:spTgt spid="6"/>
                                        </p:tgtEl>
                                        <p:attrNameLst>
                                          <p:attrName>ppt_x</p:attrName>
                                        </p:attrNameLst>
                                      </p:cBhvr>
                                      <p:tavLst>
                                        <p:tav tm="0">
                                          <p:val>
                                            <p:strVal val="#ppt_x"/>
                                          </p:val>
                                        </p:tav>
                                        <p:tav tm="100000">
                                          <p:val>
                                            <p:strVal val="#ppt_x"/>
                                          </p:val>
                                        </p:tav>
                                      </p:tavLst>
                                    </p:anim>
                                    <p:anim calcmode="lin" valueType="num">
                                      <p:cBhvr additive="base">
                                        <p:cTn id="49" dur="75"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autoUpdateAnimBg="0"/>
      <p:bldP spid="3" grpId="0" animBg="1" autoUpdateAnimBg="0"/>
      <p:bldP spid="4" grpId="0" animBg="1" autoUpdateAnimBg="0"/>
      <p:bldP spid="5" grpId="0" animBg="1" autoUpdateAnimBg="0"/>
      <p:bldP spid="6" grpId="0" animBg="1" autoUpdateAnimBg="0"/>
      <p:bldP spid="8" grpId="0" animBg="1" autoUpdateAnimBg="0"/>
      <p:bldP spid="10" grpId="0"/>
      <p:bldP spid="1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
          <p:cNvSpPr>
            <a:spLocks noChangeArrowheads="1"/>
          </p:cNvSpPr>
          <p:nvPr/>
        </p:nvSpPr>
        <p:spPr bwMode="auto">
          <a:xfrm>
            <a:off x="467544" y="341257"/>
            <a:ext cx="3744912" cy="480131"/>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lgn="ctr" defTabSz="800100" eaLnBrk="1" fontAlgn="b" hangingPunct="1">
              <a:lnSpc>
                <a:spcPct val="90000"/>
              </a:lnSpc>
              <a:spcBef>
                <a:spcPct val="0"/>
              </a:spcBef>
              <a:spcAft>
                <a:spcPct val="35000"/>
              </a:spcAft>
              <a:buFontTx/>
              <a:buNone/>
              <a:defRPr/>
            </a:pPr>
            <a:r>
              <a:rPr lang="zh-CN" altLang="en-US" sz="2800" b="1" dirty="0">
                <a:solidFill>
                  <a:srgbClr val="FF0000"/>
                </a:solidFill>
                <a:latin typeface="楷体" panose="02010609060101010101" pitchFamily="49" charset="-122"/>
                <a:ea typeface="楷体" panose="02010609060101010101" pitchFamily="49" charset="-122"/>
              </a:rPr>
              <a:t>第四章 扭 转</a:t>
            </a:r>
          </a:p>
        </p:txBody>
      </p:sp>
      <p:sp>
        <p:nvSpPr>
          <p:cNvPr id="3" name="Text Box 3"/>
          <p:cNvSpPr txBox="1">
            <a:spLocks noChangeArrowheads="1"/>
          </p:cNvSpPr>
          <p:nvPr/>
        </p:nvSpPr>
        <p:spPr bwMode="auto">
          <a:xfrm>
            <a:off x="457200" y="1111927"/>
            <a:ext cx="8305800" cy="978729"/>
          </a:xfrm>
          <a:prstGeom prst="rect">
            <a:avLst/>
          </a:prstGeom>
          <a:solidFill>
            <a:schemeClr val="bg1"/>
          </a:solidFill>
          <a:ln w="28575">
            <a:solidFill>
              <a:srgbClr val="FF0000"/>
            </a:solidFill>
            <a:miter lim="800000"/>
            <a:headEnd/>
            <a:tailEnd/>
          </a:ln>
        </p:spPr>
        <p:txBody>
          <a:bodyPr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lnSpc>
                <a:spcPct val="120000"/>
              </a:lnSpc>
              <a:spcBef>
                <a:spcPct val="0"/>
              </a:spcBef>
              <a:buFontTx/>
              <a:buNone/>
            </a:pPr>
            <a:r>
              <a:rPr kumimoji="1" lang="zh-CN" altLang="en-US" sz="2400" b="1" dirty="0">
                <a:solidFill>
                  <a:srgbClr val="0000FF"/>
                </a:solidFill>
                <a:latin typeface="黑体" panose="02010609060101010101" pitchFamily="49" charset="-122"/>
                <a:ea typeface="黑体" panose="02010609060101010101" pitchFamily="49" charset="-122"/>
              </a:rPr>
              <a:t>受力特点：杆两端作用着大小相等、方向相反的</a:t>
            </a:r>
            <a:r>
              <a:rPr kumimoji="1" lang="zh-CN" altLang="en-US" sz="2400" b="1" dirty="0">
                <a:solidFill>
                  <a:srgbClr val="FF0000"/>
                </a:solidFill>
                <a:latin typeface="黑体" panose="02010609060101010101" pitchFamily="49" charset="-122"/>
                <a:ea typeface="黑体" panose="02010609060101010101" pitchFamily="49" charset="-122"/>
              </a:rPr>
              <a:t>力偶</a:t>
            </a:r>
            <a:r>
              <a:rPr kumimoji="1" lang="zh-CN" altLang="en-US" sz="2400" b="1" dirty="0">
                <a:solidFill>
                  <a:srgbClr val="0000FF"/>
                </a:solidFill>
                <a:latin typeface="黑体" panose="02010609060101010101" pitchFamily="49" charset="-122"/>
                <a:ea typeface="黑体" panose="02010609060101010101" pitchFamily="49" charset="-122"/>
              </a:rPr>
              <a:t>，且力</a:t>
            </a:r>
          </a:p>
          <a:p>
            <a:pPr>
              <a:lnSpc>
                <a:spcPct val="120000"/>
              </a:lnSpc>
              <a:spcBef>
                <a:spcPct val="0"/>
              </a:spcBef>
              <a:buFontTx/>
              <a:buNone/>
            </a:pPr>
            <a:r>
              <a:rPr kumimoji="1" lang="zh-CN" altLang="en-US" sz="2400" b="1" dirty="0">
                <a:solidFill>
                  <a:srgbClr val="0000FF"/>
                </a:solidFill>
                <a:latin typeface="黑体" panose="02010609060101010101" pitchFamily="49" charset="-122"/>
                <a:ea typeface="黑体" panose="02010609060101010101" pitchFamily="49" charset="-122"/>
              </a:rPr>
              <a:t>          偶作用面</a:t>
            </a:r>
            <a:r>
              <a:rPr kumimoji="1" lang="zh-CN" altLang="en-US" sz="2400" b="1" dirty="0">
                <a:solidFill>
                  <a:srgbClr val="FF0000"/>
                </a:solidFill>
                <a:latin typeface="黑体" panose="02010609060101010101" pitchFamily="49" charset="-122"/>
                <a:ea typeface="黑体" panose="02010609060101010101" pitchFamily="49" charset="-122"/>
              </a:rPr>
              <a:t>垂直</a:t>
            </a:r>
            <a:r>
              <a:rPr kumimoji="1" lang="zh-CN" altLang="en-US" sz="2400" b="1" dirty="0">
                <a:solidFill>
                  <a:srgbClr val="0000FF"/>
                </a:solidFill>
                <a:latin typeface="黑体" panose="02010609060101010101" pitchFamily="49" charset="-122"/>
                <a:ea typeface="黑体" panose="02010609060101010101" pitchFamily="49" charset="-122"/>
              </a:rPr>
              <a:t>于杆的轴线。</a:t>
            </a:r>
          </a:p>
        </p:txBody>
      </p:sp>
      <p:sp>
        <p:nvSpPr>
          <p:cNvPr id="4" name="Text Box 4"/>
          <p:cNvSpPr txBox="1">
            <a:spLocks noChangeArrowheads="1"/>
          </p:cNvSpPr>
          <p:nvPr/>
        </p:nvSpPr>
        <p:spPr bwMode="auto">
          <a:xfrm>
            <a:off x="485775" y="2420888"/>
            <a:ext cx="6618288" cy="457200"/>
          </a:xfrm>
          <a:prstGeom prst="rect">
            <a:avLst/>
          </a:prstGeom>
          <a:solidFill>
            <a:schemeClr val="bg1"/>
          </a:solidFill>
          <a:ln w="28575">
            <a:solidFill>
              <a:srgbClr val="FF0000"/>
            </a:solidFill>
            <a:miter lim="800000"/>
            <a:headEnd/>
            <a:tailEnd/>
          </a:ln>
        </p:spPr>
        <p:txBody>
          <a:bodyPr wrap="none"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lgn="ctr">
              <a:spcBef>
                <a:spcPct val="50000"/>
              </a:spcBef>
              <a:buFontTx/>
              <a:buNone/>
            </a:pPr>
            <a:r>
              <a:rPr kumimoji="1" lang="zh-CN" altLang="en-US" sz="2400" b="1" dirty="0">
                <a:solidFill>
                  <a:srgbClr val="0000FF"/>
                </a:solidFill>
                <a:latin typeface="黑体" panose="02010609060101010101" pitchFamily="49" charset="-122"/>
                <a:ea typeface="黑体" panose="02010609060101010101" pitchFamily="49" charset="-122"/>
              </a:rPr>
              <a:t>变形特点：杆任意两截面绕轴线发生</a:t>
            </a:r>
            <a:r>
              <a:rPr kumimoji="1" lang="zh-CN" altLang="en-US" sz="2400" b="1" dirty="0">
                <a:solidFill>
                  <a:srgbClr val="FF0000"/>
                </a:solidFill>
                <a:latin typeface="黑体" panose="02010609060101010101" pitchFamily="49" charset="-122"/>
                <a:ea typeface="黑体" panose="02010609060101010101" pitchFamily="49" charset="-122"/>
              </a:rPr>
              <a:t>相对转动</a:t>
            </a:r>
            <a:r>
              <a:rPr kumimoji="1" lang="zh-CN" altLang="en-US" sz="2400" b="1" dirty="0">
                <a:solidFill>
                  <a:srgbClr val="0000FF"/>
                </a:solidFill>
                <a:latin typeface="黑体" panose="02010609060101010101" pitchFamily="49" charset="-122"/>
                <a:ea typeface="黑体" panose="02010609060101010101" pitchFamily="49" charset="-122"/>
              </a:rPr>
              <a:t>。</a:t>
            </a:r>
          </a:p>
        </p:txBody>
      </p:sp>
      <p:sp>
        <p:nvSpPr>
          <p:cNvPr id="5" name="Text Box 16"/>
          <p:cNvSpPr txBox="1">
            <a:spLocks noChangeArrowheads="1"/>
          </p:cNvSpPr>
          <p:nvPr/>
        </p:nvSpPr>
        <p:spPr bwMode="auto">
          <a:xfrm>
            <a:off x="467544" y="3500114"/>
            <a:ext cx="2040943" cy="461665"/>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lgn="ctr">
              <a:spcBef>
                <a:spcPct val="50000"/>
              </a:spcBef>
              <a:buFontTx/>
              <a:buNone/>
            </a:pPr>
            <a:r>
              <a:rPr kumimoji="1" lang="zh-CN" altLang="en-US" sz="2400" b="1" dirty="0">
                <a:solidFill>
                  <a:srgbClr val="0000FF"/>
                </a:solidFill>
                <a:latin typeface="黑体" panose="02010609060101010101" pitchFamily="49" charset="-122"/>
                <a:ea typeface="黑体" panose="02010609060101010101" pitchFamily="49" charset="-122"/>
              </a:rPr>
              <a:t>外力偶矩计算</a:t>
            </a:r>
          </a:p>
        </p:txBody>
      </p:sp>
      <p:graphicFrame>
        <p:nvGraphicFramePr>
          <p:cNvPr id="6" name="对象 5"/>
          <p:cNvGraphicFramePr>
            <a:graphicFrameLocks noChangeAspect="1"/>
          </p:cNvGraphicFramePr>
          <p:nvPr>
            <p:extLst>
              <p:ext uri="{D42A27DB-BD31-4B8C-83A1-F6EECF244321}">
                <p14:modId xmlns:p14="http://schemas.microsoft.com/office/powerpoint/2010/main" val="2562783267"/>
              </p:ext>
            </p:extLst>
          </p:nvPr>
        </p:nvGraphicFramePr>
        <p:xfrm>
          <a:off x="2699792" y="3111351"/>
          <a:ext cx="5184775" cy="1004888"/>
        </p:xfrm>
        <a:graphic>
          <a:graphicData uri="http://schemas.openxmlformats.org/presentationml/2006/ole">
            <mc:AlternateContent xmlns:mc="http://schemas.openxmlformats.org/markup-compatibility/2006">
              <mc:Choice xmlns:v="urn:schemas-microsoft-com:vml" Requires="v">
                <p:oleObj name="Equation" r:id="rId2" imgW="1821960" imgH="318600" progId="">
                  <p:embed/>
                </p:oleObj>
              </mc:Choice>
              <mc:Fallback>
                <p:oleObj name="Equation" r:id="rId2" imgW="1821960" imgH="318600" progId="">
                  <p:embed/>
                  <p:pic>
                    <p:nvPicPr>
                      <p:cNvPr id="0" name="Picture 1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9792" y="3111351"/>
                        <a:ext cx="5184775" cy="1004888"/>
                      </a:xfrm>
                      <a:prstGeom prst="rect">
                        <a:avLst/>
                      </a:prstGeom>
                      <a:noFill/>
                      <a:extLst>
                        <a:ext uri="{909E8E84-426E-40DD-AFC4-6F175D3DCCD1}">
                          <a14:hiddenFill xmlns:a14="http://schemas.microsoft.com/office/drawing/2010/main">
                            <a:solidFill>
                              <a:srgbClr val="CCFFFF"/>
                            </a:solidFill>
                          </a14:hiddenFill>
                        </a:ext>
                      </a:extLst>
                    </p:spPr>
                  </p:pic>
                </p:oleObj>
              </mc:Fallback>
            </mc:AlternateContent>
          </a:graphicData>
        </a:graphic>
      </p:graphicFrame>
      <p:sp>
        <p:nvSpPr>
          <p:cNvPr id="7" name="Text Box 3"/>
          <p:cNvSpPr txBox="1">
            <a:spLocks noChangeArrowheads="1"/>
          </p:cNvSpPr>
          <p:nvPr/>
        </p:nvSpPr>
        <p:spPr bwMode="auto">
          <a:xfrm>
            <a:off x="467544" y="4479503"/>
            <a:ext cx="8064896" cy="461665"/>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50000"/>
              </a:spcBef>
              <a:buFontTx/>
              <a:buNone/>
            </a:pPr>
            <a:r>
              <a:rPr lang="zh-CN" altLang="en-US" sz="2400" b="1" dirty="0">
                <a:solidFill>
                  <a:srgbClr val="0000FF"/>
                </a:solidFill>
                <a:latin typeface="黑体" pitchFamily="49" charset="-122"/>
                <a:ea typeface="黑体" pitchFamily="49" charset="-122"/>
              </a:rPr>
              <a:t>圆轴受扭时其横截面上的内力偶矩称为</a:t>
            </a:r>
            <a:r>
              <a:rPr lang="zh-CN" altLang="en-US" sz="2400" b="1" dirty="0">
                <a:solidFill>
                  <a:srgbClr val="FF0000"/>
                </a:solidFill>
                <a:latin typeface="黑体" pitchFamily="49" charset="-122"/>
                <a:ea typeface="黑体" pitchFamily="49" charset="-122"/>
              </a:rPr>
              <a:t>扭矩</a:t>
            </a:r>
            <a:r>
              <a:rPr lang="zh-CN" altLang="en-US" sz="2400" b="1" dirty="0">
                <a:solidFill>
                  <a:srgbClr val="0000FF"/>
                </a:solidFill>
                <a:latin typeface="黑体" pitchFamily="49" charset="-122"/>
                <a:ea typeface="黑体" pitchFamily="49" charset="-122"/>
              </a:rPr>
              <a:t>，符号</a:t>
            </a:r>
            <a:r>
              <a:rPr lang="en-US" altLang="zh-CN" sz="2400" i="1" dirty="0">
                <a:solidFill>
                  <a:srgbClr val="0000FF"/>
                </a:solidFill>
                <a:latin typeface="黑体" panose="02010609060101010101" pitchFamily="49" charset="-122"/>
                <a:ea typeface="黑体" panose="02010609060101010101" pitchFamily="49" charset="-122"/>
              </a:rPr>
              <a:t>T </a:t>
            </a:r>
            <a:endParaRPr lang="zh-CN" altLang="en-US" sz="2400" b="1" dirty="0">
              <a:solidFill>
                <a:srgbClr val="0000FF"/>
              </a:solidFill>
              <a:latin typeface="黑体" pitchFamily="49" charset="-122"/>
              <a:ea typeface="黑体" pitchFamily="49" charset="-122"/>
            </a:endParaRPr>
          </a:p>
        </p:txBody>
      </p:sp>
    </p:spTree>
    <p:extLst>
      <p:ext uri="{BB962C8B-B14F-4D97-AF65-F5344CB8AC3E}">
        <p14:creationId xmlns:p14="http://schemas.microsoft.com/office/powerpoint/2010/main" val="178264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par>
                                <p:cTn id="23" presetID="10" presetClass="entr" presetSubtype="0" fill="hold"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692313" y="547043"/>
            <a:ext cx="7720793" cy="461665"/>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lgn="just">
              <a:spcBef>
                <a:spcPct val="50000"/>
              </a:spcBef>
              <a:buFontTx/>
              <a:buNone/>
            </a:pPr>
            <a:r>
              <a:rPr kumimoji="1" lang="zh-CN" altLang="en-US" sz="2400" b="1" dirty="0">
                <a:solidFill>
                  <a:srgbClr val="0000FF"/>
                </a:solidFill>
                <a:latin typeface="黑体" pitchFamily="49" charset="-122"/>
                <a:ea typeface="黑体" pitchFamily="49" charset="-122"/>
              </a:rPr>
              <a:t>扭矩的符号规定：</a:t>
            </a:r>
            <a:r>
              <a:rPr kumimoji="1" lang="zh-CN" altLang="en-US" sz="2400" b="1" dirty="0">
                <a:solidFill>
                  <a:srgbClr val="0000FF"/>
                </a:solidFill>
                <a:latin typeface="宋体" pitchFamily="2" charset="-122"/>
              </a:rPr>
              <a:t>按</a:t>
            </a:r>
            <a:r>
              <a:rPr kumimoji="1" lang="zh-CN" altLang="en-US" sz="2400" b="1" dirty="0">
                <a:solidFill>
                  <a:srgbClr val="FF0000"/>
                </a:solidFill>
                <a:latin typeface="宋体" pitchFamily="2" charset="-122"/>
              </a:rPr>
              <a:t>右手螺旋法则</a:t>
            </a:r>
            <a:r>
              <a:rPr kumimoji="1" lang="zh-CN" altLang="en-US" sz="2400" b="1" dirty="0">
                <a:solidFill>
                  <a:srgbClr val="0000FF"/>
                </a:solidFill>
                <a:latin typeface="宋体" pitchFamily="2" charset="-122"/>
              </a:rPr>
              <a:t>判断</a:t>
            </a:r>
            <a:r>
              <a:rPr kumimoji="1" lang="zh-CN" altLang="en-US" sz="2400" dirty="0">
                <a:solidFill>
                  <a:srgbClr val="0000FF"/>
                </a:solidFill>
                <a:latin typeface="宋体" pitchFamily="2" charset="-122"/>
              </a:rPr>
              <a:t>。</a:t>
            </a:r>
          </a:p>
        </p:txBody>
      </p:sp>
      <p:sp>
        <p:nvSpPr>
          <p:cNvPr id="3" name="Text Box 3"/>
          <p:cNvSpPr txBox="1">
            <a:spLocks noChangeArrowheads="1"/>
          </p:cNvSpPr>
          <p:nvPr/>
        </p:nvSpPr>
        <p:spPr bwMode="auto">
          <a:xfrm>
            <a:off x="683568" y="1484784"/>
            <a:ext cx="7729538" cy="1282700"/>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lnSpc>
                <a:spcPct val="130000"/>
              </a:lnSpc>
              <a:spcBef>
                <a:spcPct val="50000"/>
              </a:spcBef>
              <a:buFontTx/>
              <a:buNone/>
            </a:pPr>
            <a:r>
              <a:rPr kumimoji="1" lang="en-US" altLang="zh-CN" sz="2000" b="1" dirty="0">
                <a:solidFill>
                  <a:srgbClr val="0000FF"/>
                </a:solidFill>
                <a:latin typeface="宋体" pitchFamily="2" charset="-122"/>
              </a:rPr>
              <a:t>    </a:t>
            </a:r>
            <a:r>
              <a:rPr kumimoji="1" lang="zh-CN" altLang="en-US" sz="2000" b="1" dirty="0">
                <a:solidFill>
                  <a:srgbClr val="0000FF"/>
                </a:solidFill>
                <a:latin typeface="宋体" pitchFamily="2" charset="-122"/>
              </a:rPr>
              <a:t>右手的四指代表扭矩的旋转方向，大拇指代表其矢量方向，若其矢量方向与截面的外法线方向相同，则扭矩规定为正值，反之为负值。</a:t>
            </a:r>
            <a:endParaRPr kumimoji="1" lang="zh-CN" altLang="en-US" sz="2000" dirty="0">
              <a:solidFill>
                <a:srgbClr val="0000FF"/>
              </a:solidFill>
              <a:latin typeface="宋体" pitchFamily="2" charset="-122"/>
            </a:endParaRPr>
          </a:p>
        </p:txBody>
      </p:sp>
      <p:pic>
        <p:nvPicPr>
          <p:cNvPr id="4" name="Picture 37" descr="正负规定"/>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2313" y="3284984"/>
            <a:ext cx="7720793" cy="2448272"/>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1784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6"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1+#ppt_w/2"/>
                                          </p:val>
                                        </p:tav>
                                        <p:tav tm="100000">
                                          <p:val>
                                            <p:strVal val="#ppt_x"/>
                                          </p:val>
                                        </p:tav>
                                      </p:tavLst>
                                    </p:anim>
                                    <p:anim calcmode="lin" valueType="num">
                                      <p:cBhvr additive="base">
                                        <p:cTn id="13"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blinds(horizontal)">
                                      <p:cBhvr>
                                        <p:cTn id="18"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7"/>
          <p:cNvSpPr txBox="1">
            <a:spLocks noChangeArrowheads="1"/>
          </p:cNvSpPr>
          <p:nvPr/>
        </p:nvSpPr>
        <p:spPr bwMode="auto">
          <a:xfrm>
            <a:off x="894184" y="476672"/>
            <a:ext cx="5334000" cy="457200"/>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marL="342900" indent="-342900"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3810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lvl="2" algn="just" fontAlgn="t">
              <a:spcBef>
                <a:spcPct val="0"/>
              </a:spcBef>
              <a:buFontTx/>
              <a:buNone/>
            </a:pPr>
            <a:r>
              <a:rPr kumimoji="1" lang="zh-CN" altLang="en-US" b="1" dirty="0">
                <a:solidFill>
                  <a:srgbClr val="0000FF"/>
                </a:solidFill>
                <a:latin typeface="宋体" pitchFamily="2" charset="-122"/>
                <a:ea typeface="黑体" pitchFamily="49" charset="-122"/>
              </a:rPr>
              <a:t>薄壁圆筒横截面上的应力</a:t>
            </a:r>
            <a:endParaRPr kumimoji="1" lang="zh-CN" altLang="en-US" b="1" dirty="0">
              <a:solidFill>
                <a:srgbClr val="000000"/>
              </a:solidFill>
              <a:latin typeface="宋体" pitchFamily="2" charset="-122"/>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242477226"/>
              </p:ext>
            </p:extLst>
          </p:nvPr>
        </p:nvGraphicFramePr>
        <p:xfrm>
          <a:off x="3563888" y="1052736"/>
          <a:ext cx="2016125" cy="1144587"/>
        </p:xfrm>
        <a:graphic>
          <a:graphicData uri="http://schemas.openxmlformats.org/presentationml/2006/ole">
            <mc:AlternateContent xmlns:mc="http://schemas.openxmlformats.org/markup-compatibility/2006">
              <mc:Choice xmlns:v="urn:schemas-microsoft-com:vml" Requires="v">
                <p:oleObj name="公式" r:id="rId2" imgW="647419" imgH="444307" progId="">
                  <p:embed/>
                </p:oleObj>
              </mc:Choice>
              <mc:Fallback>
                <p:oleObj name="公式" r:id="rId2" imgW="647419" imgH="444307" progId="">
                  <p:embed/>
                  <p:pic>
                    <p:nvPicPr>
                      <p:cNvPr id="0" name="Picture 3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63888" y="1052736"/>
                        <a:ext cx="2016125" cy="1144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0000FF"/>
                            </a:solidFill>
                            <a:miter lim="800000"/>
                            <a:headEnd/>
                            <a:tailEnd/>
                          </a14:hiddenLine>
                        </a:ext>
                        <a:ext uri="{AF507438-7753-43E0-B8FC-AC1667EBCBE1}">
                          <a14:hiddenEffects xmlns:a14="http://schemas.microsoft.com/office/drawing/2010/main">
                            <a:effectLst>
                              <a:outerShdw dist="35921" dir="2700000" algn="ctr" rotWithShape="0">
                                <a:srgbClr val="990000"/>
                              </a:outerShdw>
                            </a:effectLst>
                          </a14:hiddenEffects>
                        </a:ext>
                      </a:extLst>
                    </p:spPr>
                  </p:pic>
                </p:oleObj>
              </mc:Fallback>
            </mc:AlternateContent>
          </a:graphicData>
        </a:graphic>
      </p:graphicFrame>
      <p:sp>
        <p:nvSpPr>
          <p:cNvPr id="4" name="Text Box 23"/>
          <p:cNvSpPr txBox="1">
            <a:spLocks noChangeArrowheads="1"/>
          </p:cNvSpPr>
          <p:nvPr/>
        </p:nvSpPr>
        <p:spPr bwMode="auto">
          <a:xfrm>
            <a:off x="977776" y="2420888"/>
            <a:ext cx="2730128" cy="457200"/>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spcBef>
                <a:spcPct val="50000"/>
              </a:spcBef>
              <a:buFontTx/>
              <a:buNone/>
            </a:pPr>
            <a:r>
              <a:rPr kumimoji="1" lang="zh-CN" altLang="en-US" sz="2400" b="1" dirty="0">
                <a:solidFill>
                  <a:srgbClr val="0000FF"/>
                </a:solidFill>
                <a:latin typeface="黑体" pitchFamily="49" charset="-122"/>
                <a:ea typeface="黑体" pitchFamily="49" charset="-122"/>
              </a:rPr>
              <a:t>剪切虎克定律  </a:t>
            </a:r>
            <a:endParaRPr kumimoji="1" lang="zh-CN" altLang="en-US" sz="2400" dirty="0">
              <a:solidFill>
                <a:srgbClr val="0000FF"/>
              </a:solidFill>
              <a:latin typeface="宋体" pitchFamily="2" charset="-122"/>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1668382681"/>
              </p:ext>
            </p:extLst>
          </p:nvPr>
        </p:nvGraphicFramePr>
        <p:xfrm>
          <a:off x="4355976" y="2348880"/>
          <a:ext cx="1295400" cy="555625"/>
        </p:xfrm>
        <a:graphic>
          <a:graphicData uri="http://schemas.openxmlformats.org/presentationml/2006/ole">
            <mc:AlternateContent xmlns:mc="http://schemas.openxmlformats.org/markup-compatibility/2006">
              <mc:Choice xmlns:v="urn:schemas-microsoft-com:vml" Requires="v">
                <p:oleObj name="公式" r:id="rId4" imgW="469696" imgH="203112" progId="">
                  <p:embed/>
                </p:oleObj>
              </mc:Choice>
              <mc:Fallback>
                <p:oleObj name="公式" r:id="rId4" imgW="469696" imgH="203112" progId="">
                  <p:embed/>
                  <p:pic>
                    <p:nvPicPr>
                      <p:cNvPr id="0" name="Picture 3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55976" y="2348880"/>
                        <a:ext cx="1295400" cy="555625"/>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19050">
                            <a:solidFill>
                              <a:srgbClr val="CC3300"/>
                            </a:solidFill>
                            <a:miter lim="800000"/>
                            <a:headEnd/>
                            <a:tailEnd/>
                          </a14:hiddenLine>
                        </a:ext>
                        <a:ext uri="{AF507438-7753-43E0-B8FC-AC1667EBCBE1}">
                          <a14:hiddenEffects xmlns:a14="http://schemas.microsoft.com/office/drawing/2010/main">
                            <a:effectLst>
                              <a:outerShdw dist="35921" dir="2700000" algn="ctr" rotWithShape="0">
                                <a:srgbClr val="990000"/>
                              </a:outerShdw>
                            </a:effectLst>
                          </a14:hiddenEffects>
                        </a:ext>
                      </a:extLst>
                    </p:spPr>
                  </p:pic>
                </p:oleObj>
              </mc:Fallback>
            </mc:AlternateContent>
          </a:graphicData>
        </a:graphic>
      </p:graphicFrame>
      <p:sp>
        <p:nvSpPr>
          <p:cNvPr id="6" name="Text Box 119"/>
          <p:cNvSpPr txBox="1">
            <a:spLocks noChangeArrowheads="1"/>
          </p:cNvSpPr>
          <p:nvPr/>
        </p:nvSpPr>
        <p:spPr bwMode="auto">
          <a:xfrm>
            <a:off x="977776" y="3399383"/>
            <a:ext cx="2730128" cy="461665"/>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kumimoji="1" lang="zh-CN" altLang="en-US" sz="2400" b="1" dirty="0">
                <a:solidFill>
                  <a:srgbClr val="0000FF"/>
                </a:solidFill>
                <a:latin typeface="黑体" pitchFamily="49" charset="-122"/>
                <a:ea typeface="黑体" pitchFamily="49" charset="-122"/>
              </a:rPr>
              <a:t>切应力互等定理</a:t>
            </a:r>
          </a:p>
        </p:txBody>
      </p:sp>
      <p:sp>
        <p:nvSpPr>
          <p:cNvPr id="7" name="Text Box 116"/>
          <p:cNvSpPr txBox="1">
            <a:spLocks noChangeArrowheads="1"/>
          </p:cNvSpPr>
          <p:nvPr/>
        </p:nvSpPr>
        <p:spPr bwMode="auto">
          <a:xfrm>
            <a:off x="977776" y="4293096"/>
            <a:ext cx="7257976" cy="1363065"/>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lnSpc>
                <a:spcPct val="120000"/>
              </a:lnSpc>
              <a:spcBef>
                <a:spcPct val="50000"/>
              </a:spcBef>
              <a:buFontTx/>
              <a:buNone/>
            </a:pPr>
            <a:r>
              <a:rPr kumimoji="1" lang="en-US" altLang="zh-CN" sz="2400" b="1" dirty="0">
                <a:solidFill>
                  <a:srgbClr val="0000FF"/>
                </a:solidFill>
                <a:latin typeface="宋体" pitchFamily="2" charset="-122"/>
              </a:rPr>
              <a:t>    </a:t>
            </a:r>
            <a:r>
              <a:rPr kumimoji="1" lang="zh-CN" altLang="en-US" sz="2400" b="1" dirty="0">
                <a:solidFill>
                  <a:srgbClr val="0000FF"/>
                </a:solidFill>
                <a:latin typeface="宋体" pitchFamily="2" charset="-122"/>
              </a:rPr>
              <a:t>在相互垂直的两个面上，切应力总是成对出现，并且大小</a:t>
            </a:r>
            <a:r>
              <a:rPr kumimoji="1" lang="zh-CN" altLang="en-US" sz="2400" b="1" dirty="0">
                <a:solidFill>
                  <a:srgbClr val="0000FF"/>
                </a:solidFill>
                <a:latin typeface="Times New Roman" pitchFamily="18" charset="0"/>
              </a:rPr>
              <a:t>相等，</a:t>
            </a:r>
            <a:r>
              <a:rPr kumimoji="1" lang="zh-CN" altLang="en-US" sz="2400" b="1" dirty="0">
                <a:solidFill>
                  <a:srgbClr val="0000FF"/>
                </a:solidFill>
                <a:latin typeface="宋体" pitchFamily="2" charset="-122"/>
              </a:rPr>
              <a:t>方向同时指向或同时背离两个面的交线。</a:t>
            </a:r>
          </a:p>
        </p:txBody>
      </p:sp>
    </p:spTree>
    <p:extLst>
      <p:ext uri="{BB962C8B-B14F-4D97-AF65-F5344CB8AC3E}">
        <p14:creationId xmlns:p14="http://schemas.microsoft.com/office/powerpoint/2010/main" val="1318032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6"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additive="base">
                                        <p:cTn id="23" dur="500" fill="hold"/>
                                        <p:tgtEl>
                                          <p:spTgt spid="5"/>
                                        </p:tgtEl>
                                        <p:attrNameLst>
                                          <p:attrName>ppt_x</p:attrName>
                                        </p:attrNameLst>
                                      </p:cBhvr>
                                      <p:tavLst>
                                        <p:tav tm="0">
                                          <p:val>
                                            <p:strVal val="1+#ppt_w/2"/>
                                          </p:val>
                                        </p:tav>
                                        <p:tav tm="100000">
                                          <p:val>
                                            <p:strVal val="#ppt_x"/>
                                          </p:val>
                                        </p:tav>
                                      </p:tavLst>
                                    </p:anim>
                                    <p:anim calcmode="lin" valueType="num">
                                      <p:cBhvr additive="base">
                                        <p:cTn id="2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autoUpdateAnimBg="0"/>
      <p:bldP spid="4" grpId="0" animBg="1" autoUpdateAnimBg="0"/>
      <p:bldP spid="6" grpId="0" animBg="1"/>
      <p:bldP spid="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683568" y="523528"/>
            <a:ext cx="411918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spcBef>
                <a:spcPct val="50000"/>
              </a:spcBef>
              <a:buFontTx/>
              <a:buNone/>
            </a:pPr>
            <a:r>
              <a:rPr kumimoji="1" lang="zh-CN" altLang="en-US" sz="2400" b="1" dirty="0">
                <a:solidFill>
                  <a:srgbClr val="0000FF"/>
                </a:solidFill>
                <a:latin typeface="黑体" pitchFamily="49" charset="-122"/>
                <a:ea typeface="黑体" pitchFamily="49" charset="-122"/>
              </a:rPr>
              <a:t>圆轴扭转时横截面上的应力</a:t>
            </a:r>
            <a:endParaRPr kumimoji="1" lang="zh-CN" altLang="en-US" sz="2400" dirty="0">
              <a:solidFill>
                <a:srgbClr val="0000FF"/>
              </a:solidFill>
              <a:latin typeface="宋体" pitchFamily="2" charset="-122"/>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755280753"/>
              </p:ext>
            </p:extLst>
          </p:nvPr>
        </p:nvGraphicFramePr>
        <p:xfrm>
          <a:off x="2267744" y="2132856"/>
          <a:ext cx="1728787" cy="1082675"/>
        </p:xfrm>
        <a:graphic>
          <a:graphicData uri="http://schemas.openxmlformats.org/presentationml/2006/ole">
            <mc:AlternateContent xmlns:mc="http://schemas.openxmlformats.org/markup-compatibility/2006">
              <mc:Choice xmlns:v="urn:schemas-microsoft-com:vml" Requires="v">
                <p:oleObj name="公式" r:id="rId2" imgW="522720" imgH="310680" progId="">
                  <p:embed/>
                </p:oleObj>
              </mc:Choice>
              <mc:Fallback>
                <p:oleObj name="公式" r:id="rId2" imgW="522720" imgH="310680" progId="">
                  <p:embed/>
                  <p:pic>
                    <p:nvPicPr>
                      <p:cNvPr id="0" name="Picture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7744" y="2132856"/>
                        <a:ext cx="1728787" cy="1082675"/>
                      </a:xfrm>
                      <a:prstGeom prst="rect">
                        <a:avLst/>
                      </a:prstGeom>
                      <a:noFill/>
                      <a:ln>
                        <a:noFill/>
                      </a:ln>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CC0066"/>
                            </a:solidFill>
                            <a:miter lim="800000"/>
                            <a:headEnd/>
                            <a:tailEnd/>
                          </a14:hiddenLine>
                        </a:ext>
                      </a:extLst>
                    </p:spPr>
                  </p:pic>
                </p:oleObj>
              </mc:Fallback>
            </mc:AlternateContent>
          </a:graphicData>
        </a:graphic>
      </p:graphicFrame>
      <p:pic>
        <p:nvPicPr>
          <p:cNvPr id="4" name="Picture 44" descr="pf4-6a"/>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802753" y="1268760"/>
            <a:ext cx="3528392" cy="2843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 name="对象 4"/>
          <p:cNvGraphicFramePr>
            <a:graphicFrameLocks noChangeAspect="1"/>
          </p:cNvGraphicFramePr>
          <p:nvPr>
            <p:extLst>
              <p:ext uri="{D42A27DB-BD31-4B8C-83A1-F6EECF244321}">
                <p14:modId xmlns:p14="http://schemas.microsoft.com/office/powerpoint/2010/main" val="3121193351"/>
              </p:ext>
            </p:extLst>
          </p:nvPr>
        </p:nvGraphicFramePr>
        <p:xfrm>
          <a:off x="2635512" y="4581128"/>
          <a:ext cx="4334481" cy="1296144"/>
        </p:xfrm>
        <a:graphic>
          <a:graphicData uri="http://schemas.openxmlformats.org/presentationml/2006/ole">
            <mc:AlternateContent xmlns:mc="http://schemas.openxmlformats.org/markup-compatibility/2006">
              <mc:Choice xmlns:v="urn:schemas-microsoft-com:vml" Requires="v">
                <p:oleObj name="公式" r:id="rId5" imgW="1866900" imgH="558800" progId="">
                  <p:embed/>
                </p:oleObj>
              </mc:Choice>
              <mc:Fallback>
                <p:oleObj name="公式" r:id="rId5" imgW="1866900" imgH="558800" progId="">
                  <p:embed/>
                  <p:pic>
                    <p:nvPicPr>
                      <p:cNvPr id="0" name="Picture 3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35512" y="4581128"/>
                        <a:ext cx="4334481" cy="12961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998087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iterate type="lt">
                                    <p:tmPct val="100000"/>
                                  </p:iterate>
                                  <p:childTnLst>
                                    <p:set>
                                      <p:cBhvr>
                                        <p:cTn id="6" dur="1" fill="hold">
                                          <p:stCondLst>
                                            <p:cond delay="0"/>
                                          </p:stCondLst>
                                        </p:cTn>
                                        <p:tgtEl>
                                          <p:spTgt spid="2"/>
                                        </p:tgtEl>
                                        <p:attrNameLst>
                                          <p:attrName>style.visibility</p:attrName>
                                        </p:attrNameLst>
                                      </p:cBhvr>
                                      <p:to>
                                        <p:strVal val="visible"/>
                                      </p:to>
                                    </p:set>
                                    <p:anim calcmode="lin" valueType="num">
                                      <p:cBhvr additive="base">
                                        <p:cTn id="7" dur="75" fill="hold"/>
                                        <p:tgtEl>
                                          <p:spTgt spid="2"/>
                                        </p:tgtEl>
                                        <p:attrNameLst>
                                          <p:attrName>ppt_x</p:attrName>
                                        </p:attrNameLst>
                                      </p:cBhvr>
                                      <p:tavLst>
                                        <p:tav tm="0">
                                          <p:val>
                                            <p:strVal val="#ppt_x"/>
                                          </p:val>
                                        </p:tav>
                                        <p:tav tm="100000">
                                          <p:val>
                                            <p:strVal val="#ppt_x"/>
                                          </p:val>
                                        </p:tav>
                                      </p:tavLst>
                                    </p:anim>
                                    <p:anim calcmode="lin" valueType="num">
                                      <p:cBhvr additive="base">
                                        <p:cTn id="8" dur="75"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499"/>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1+#ppt_w/2"/>
                                          </p:val>
                                        </p:tav>
                                        <p:tav tm="100000">
                                          <p:val>
                                            <p:strVal val="#ppt_x"/>
                                          </p:val>
                                        </p:tav>
                                      </p:tavLst>
                                    </p:anim>
                                    <p:anim calcmode="lin" valueType="num">
                                      <p:cBhvr additive="base">
                                        <p:cTn id="18"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651294" y="495858"/>
            <a:ext cx="2659702" cy="461665"/>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kumimoji="1" lang="zh-CN" altLang="en-US" sz="2400" b="1" dirty="0">
                <a:solidFill>
                  <a:srgbClr val="0000FF"/>
                </a:solidFill>
                <a:latin typeface="黑体" pitchFamily="49" charset="-122"/>
                <a:ea typeface="黑体" pitchFamily="49" charset="-122"/>
              </a:rPr>
              <a:t>圆轴扭转破坏分析</a:t>
            </a:r>
          </a:p>
        </p:txBody>
      </p:sp>
      <p:sp>
        <p:nvSpPr>
          <p:cNvPr id="3" name="Text Box 4"/>
          <p:cNvSpPr txBox="1">
            <a:spLocks noChangeArrowheads="1"/>
          </p:cNvSpPr>
          <p:nvPr/>
        </p:nvSpPr>
        <p:spPr bwMode="auto">
          <a:xfrm>
            <a:off x="648023" y="1124744"/>
            <a:ext cx="7740401" cy="553998"/>
          </a:xfrm>
          <a:prstGeom prst="rect">
            <a:avLst/>
          </a:prstGeom>
          <a:noFill/>
          <a:ln w="28575">
            <a:solidFill>
              <a:srgbClr val="FF0000"/>
            </a:solidFill>
            <a:miter lim="800000"/>
            <a:headEnd/>
            <a:tailEnd/>
          </a:ln>
          <a:extLst>
            <a:ext uri="{909E8E84-426E-40DD-AFC4-6F175D3DCCD1}">
              <a14:hiddenFill xmlns:a14="http://schemas.microsoft.com/office/drawing/2010/main">
                <a:solidFill>
                  <a:schemeClr val="accent1"/>
                </a:solidFill>
              </a14:hiddenFill>
            </a:ext>
          </a:extLst>
        </p:spPr>
        <p:txBody>
          <a:bodyPr wrap="square">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lnSpc>
                <a:spcPct val="150000"/>
              </a:lnSpc>
              <a:spcBef>
                <a:spcPct val="50000"/>
              </a:spcBef>
              <a:buFontTx/>
              <a:buNone/>
            </a:pPr>
            <a:r>
              <a:rPr kumimoji="1" lang="zh-CN" altLang="en-US" sz="2000" b="1" dirty="0">
                <a:solidFill>
                  <a:srgbClr val="FF0000"/>
                </a:solidFill>
                <a:latin typeface="Times New Roman" pitchFamily="18" charset="0"/>
              </a:rPr>
              <a:t>低碳钢</a:t>
            </a:r>
            <a:r>
              <a:rPr kumimoji="1" lang="zh-CN" altLang="en-US" sz="2000" b="1" dirty="0">
                <a:solidFill>
                  <a:srgbClr val="0000FF"/>
                </a:solidFill>
                <a:latin typeface="Times New Roman" pitchFamily="18" charset="0"/>
              </a:rPr>
              <a:t>试件：沿</a:t>
            </a:r>
            <a:r>
              <a:rPr kumimoji="1" lang="zh-CN" altLang="en-US" sz="2000" b="1" dirty="0">
                <a:solidFill>
                  <a:srgbClr val="FF0000"/>
                </a:solidFill>
                <a:latin typeface="Times New Roman" pitchFamily="18" charset="0"/>
              </a:rPr>
              <a:t>横截面</a:t>
            </a:r>
            <a:r>
              <a:rPr kumimoji="1" lang="zh-CN" altLang="en-US" sz="2000" b="1" dirty="0">
                <a:solidFill>
                  <a:srgbClr val="0000FF"/>
                </a:solidFill>
                <a:latin typeface="Times New Roman" pitchFamily="18" charset="0"/>
              </a:rPr>
              <a:t>断开。</a:t>
            </a:r>
          </a:p>
        </p:txBody>
      </p:sp>
      <p:sp>
        <p:nvSpPr>
          <p:cNvPr id="4" name="Text Box 5"/>
          <p:cNvSpPr txBox="1">
            <a:spLocks noChangeArrowheads="1"/>
          </p:cNvSpPr>
          <p:nvPr/>
        </p:nvSpPr>
        <p:spPr bwMode="auto">
          <a:xfrm>
            <a:off x="683568" y="5035242"/>
            <a:ext cx="7734718" cy="553998"/>
          </a:xfrm>
          <a:prstGeom prst="rect">
            <a:avLst/>
          </a:prstGeom>
          <a:noFill/>
          <a:ln w="28575">
            <a:solidFill>
              <a:srgbClr val="FF0000"/>
            </a:solidFill>
            <a:miter lim="800000"/>
            <a:headEnd/>
            <a:tailEnd/>
          </a:ln>
          <a:extLst>
            <a:ext uri="{909E8E84-426E-40DD-AFC4-6F175D3DCCD1}">
              <a14:hiddenFill xmlns:a14="http://schemas.microsoft.com/office/drawing/2010/main">
                <a:solidFill>
                  <a:schemeClr val="accent1"/>
                </a:solidFill>
              </a14:hiddenFill>
            </a:ext>
          </a:extLst>
        </p:spPr>
        <p:txBody>
          <a:bodyPr wrap="square">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lnSpc>
                <a:spcPct val="150000"/>
              </a:lnSpc>
              <a:spcBef>
                <a:spcPct val="50000"/>
              </a:spcBef>
              <a:buFontTx/>
              <a:buNone/>
            </a:pPr>
            <a:r>
              <a:rPr kumimoji="1" lang="zh-CN" altLang="en-US" sz="2000" b="1" dirty="0">
                <a:solidFill>
                  <a:srgbClr val="FF0000"/>
                </a:solidFill>
                <a:latin typeface="Times New Roman" pitchFamily="18" charset="0"/>
              </a:rPr>
              <a:t>铸铁</a:t>
            </a:r>
            <a:r>
              <a:rPr kumimoji="1" lang="zh-CN" altLang="en-US" sz="2000" b="1" dirty="0">
                <a:solidFill>
                  <a:srgbClr val="0000FF"/>
                </a:solidFill>
                <a:latin typeface="Times New Roman" pitchFamily="18" charset="0"/>
              </a:rPr>
              <a:t>试件：</a:t>
            </a:r>
            <a:r>
              <a:rPr kumimoji="1" lang="zh-CN" altLang="en-US" sz="2000" b="1" dirty="0">
                <a:solidFill>
                  <a:srgbClr val="FF0000"/>
                </a:solidFill>
                <a:latin typeface="Times New Roman" pitchFamily="18" charset="0"/>
              </a:rPr>
              <a:t>沿与轴线约成</a:t>
            </a:r>
            <a:r>
              <a:rPr kumimoji="1" lang="en-US" altLang="zh-CN" sz="2000" b="1" dirty="0">
                <a:solidFill>
                  <a:srgbClr val="FF0000"/>
                </a:solidFill>
                <a:latin typeface="Times New Roman" pitchFamily="18" charset="0"/>
              </a:rPr>
              <a:t>45</a:t>
            </a:r>
            <a:r>
              <a:rPr kumimoji="1" lang="en-US" altLang="zh-CN" sz="2000" b="1" dirty="0">
                <a:solidFill>
                  <a:srgbClr val="FF0000"/>
                </a:solidFill>
                <a:latin typeface="Times New Roman" pitchFamily="18" charset="0"/>
                <a:sym typeface="Symbol" pitchFamily="18" charset="2"/>
              </a:rPr>
              <a:t></a:t>
            </a:r>
            <a:r>
              <a:rPr kumimoji="1" lang="zh-CN" altLang="en-US" sz="2000" b="1" dirty="0">
                <a:solidFill>
                  <a:srgbClr val="FF0000"/>
                </a:solidFill>
                <a:latin typeface="Times New Roman" pitchFamily="18" charset="0"/>
              </a:rPr>
              <a:t>的螺旋线</a:t>
            </a:r>
            <a:r>
              <a:rPr kumimoji="1" lang="zh-CN" altLang="en-US" sz="2000" b="1" dirty="0">
                <a:solidFill>
                  <a:srgbClr val="0000FF"/>
                </a:solidFill>
                <a:latin typeface="Times New Roman" pitchFamily="18" charset="0"/>
              </a:rPr>
              <a:t>断开。</a:t>
            </a:r>
          </a:p>
        </p:txBody>
      </p:sp>
      <p:sp>
        <p:nvSpPr>
          <p:cNvPr id="5" name="Text Box 13"/>
          <p:cNvSpPr txBox="1">
            <a:spLocks noChangeArrowheads="1"/>
          </p:cNvSpPr>
          <p:nvPr/>
        </p:nvSpPr>
        <p:spPr bwMode="auto">
          <a:xfrm>
            <a:off x="682750" y="5775647"/>
            <a:ext cx="7735536" cy="461665"/>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lnSpc>
                <a:spcPct val="120000"/>
              </a:lnSpc>
              <a:spcBef>
                <a:spcPct val="0"/>
              </a:spcBef>
              <a:buFontTx/>
              <a:buNone/>
            </a:pPr>
            <a:r>
              <a:rPr kumimoji="1" lang="zh-CN" altLang="en-US" sz="2000" b="1" dirty="0">
                <a:solidFill>
                  <a:srgbClr val="0000FF"/>
                </a:solidFill>
                <a:latin typeface="黑体" panose="02010609060101010101" pitchFamily="49" charset="-122"/>
                <a:ea typeface="黑体" panose="02010609060101010101" pitchFamily="49" charset="-122"/>
              </a:rPr>
              <a:t>材料抗拉能力差，构件沿</a:t>
            </a:r>
            <a:r>
              <a:rPr kumimoji="1" lang="en-US" altLang="zh-CN" sz="2000" b="1" dirty="0">
                <a:solidFill>
                  <a:srgbClr val="0000FF"/>
                </a:solidFill>
                <a:latin typeface="黑体" panose="02010609060101010101" pitchFamily="49" charset="-122"/>
                <a:ea typeface="黑体" panose="02010609060101010101" pitchFamily="49" charset="-122"/>
              </a:rPr>
              <a:t>45</a:t>
            </a:r>
            <a:r>
              <a:rPr kumimoji="1" lang="zh-CN" altLang="en-US" sz="2000" b="1" dirty="0">
                <a:solidFill>
                  <a:srgbClr val="0000FF"/>
                </a:solidFill>
                <a:latin typeface="黑体" panose="02010609060101010101" pitchFamily="49" charset="-122"/>
                <a:ea typeface="黑体" panose="02010609060101010101" pitchFamily="49" charset="-122"/>
              </a:rPr>
              <a:t>斜截面因拉应力而破坏（脆性材料）。</a:t>
            </a:r>
          </a:p>
        </p:txBody>
      </p:sp>
      <p:sp>
        <p:nvSpPr>
          <p:cNvPr id="6" name="Rectangle 15"/>
          <p:cNvSpPr>
            <a:spLocks noChangeArrowheads="1"/>
          </p:cNvSpPr>
          <p:nvPr/>
        </p:nvSpPr>
        <p:spPr bwMode="auto">
          <a:xfrm>
            <a:off x="659611" y="1835532"/>
            <a:ext cx="7728813" cy="400110"/>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lgn="just" eaLnBrk="1" hangingPunct="1">
              <a:spcBef>
                <a:spcPct val="0"/>
              </a:spcBef>
              <a:buFontTx/>
              <a:buNone/>
            </a:pPr>
            <a:r>
              <a:rPr kumimoji="1" lang="zh-CN" altLang="en-US" sz="2000" b="1" dirty="0">
                <a:solidFill>
                  <a:srgbClr val="0000FF"/>
                </a:solidFill>
                <a:latin typeface="黑体" panose="02010609060101010101" pitchFamily="49" charset="-122"/>
                <a:ea typeface="黑体" panose="02010609060101010101" pitchFamily="49" charset="-122"/>
              </a:rPr>
              <a:t>材料抗剪切能力差，构件</a:t>
            </a:r>
            <a:r>
              <a:rPr kumimoji="1" lang="zh-CN" altLang="en-US" sz="2000" b="1" dirty="0">
                <a:solidFill>
                  <a:srgbClr val="FF0000"/>
                </a:solidFill>
                <a:latin typeface="黑体" panose="02010609060101010101" pitchFamily="49" charset="-122"/>
                <a:ea typeface="黑体" panose="02010609060101010101" pitchFamily="49" charset="-122"/>
              </a:rPr>
              <a:t>沿横截面</a:t>
            </a:r>
            <a:r>
              <a:rPr kumimoji="1" lang="zh-CN" altLang="en-US" sz="2000" b="1" dirty="0">
                <a:solidFill>
                  <a:srgbClr val="0000FF"/>
                </a:solidFill>
                <a:latin typeface="黑体" panose="02010609060101010101" pitchFamily="49" charset="-122"/>
                <a:ea typeface="黑体" panose="02010609060101010101" pitchFamily="49" charset="-122"/>
              </a:rPr>
              <a:t>因切应力而发生破坏</a:t>
            </a:r>
            <a:r>
              <a:rPr kumimoji="1" lang="en-US" altLang="zh-CN" sz="2000" b="1" dirty="0">
                <a:solidFill>
                  <a:srgbClr val="0000FF"/>
                </a:solidFill>
                <a:latin typeface="黑体" panose="02010609060101010101" pitchFamily="49" charset="-122"/>
                <a:ea typeface="黑体" panose="02010609060101010101" pitchFamily="49" charset="-122"/>
              </a:rPr>
              <a:t>(</a:t>
            </a:r>
            <a:r>
              <a:rPr kumimoji="1" lang="zh-CN" altLang="en-US" sz="2000" b="1" dirty="0">
                <a:solidFill>
                  <a:srgbClr val="0000FF"/>
                </a:solidFill>
                <a:latin typeface="黑体" panose="02010609060101010101" pitchFamily="49" charset="-122"/>
                <a:ea typeface="黑体" panose="02010609060101010101" pitchFamily="49" charset="-122"/>
              </a:rPr>
              <a:t>塑性材料）</a:t>
            </a:r>
          </a:p>
        </p:txBody>
      </p:sp>
      <p:pic>
        <p:nvPicPr>
          <p:cNvPr id="7" name="Picture 16" descr="p63_3-1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62336" y="2352243"/>
            <a:ext cx="5364163" cy="2466975"/>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0180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lt">
                                    <p:tmPct val="100000"/>
                                  </p:iterate>
                                  <p:childTnLst>
                                    <p:set>
                                      <p:cBhvr>
                                        <p:cTn id="11" dur="1" fill="hold">
                                          <p:stCondLst>
                                            <p:cond delay="0"/>
                                          </p:stCondLst>
                                        </p:cTn>
                                        <p:tgtEl>
                                          <p:spTgt spid="3"/>
                                        </p:tgtEl>
                                        <p:attrNameLst>
                                          <p:attrName>style.visibility</p:attrName>
                                        </p:attrNameLst>
                                      </p:cBhvr>
                                      <p:to>
                                        <p:strVal val="visible"/>
                                      </p:to>
                                    </p:set>
                                    <p:animEffect transition="in" filter="wipe(left)">
                                      <p:cBhvr>
                                        <p:cTn id="12" dur="75"/>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ox(in)">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iterate type="lt">
                                    <p:tmPct val="100000"/>
                                  </p:iterate>
                                  <p:childTnLst>
                                    <p:set>
                                      <p:cBhvr>
                                        <p:cTn id="26" dur="1" fill="hold">
                                          <p:stCondLst>
                                            <p:cond delay="0"/>
                                          </p:stCondLst>
                                        </p:cTn>
                                        <p:tgtEl>
                                          <p:spTgt spid="4"/>
                                        </p:tgtEl>
                                        <p:attrNameLst>
                                          <p:attrName>style.visibility</p:attrName>
                                        </p:attrNameLst>
                                      </p:cBhvr>
                                      <p:to>
                                        <p:strVal val="visible"/>
                                      </p:to>
                                    </p:set>
                                    <p:animEffect transition="in" filter="wipe(left)">
                                      <p:cBhvr>
                                        <p:cTn id="27" dur="75"/>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12" fill="hold" grpId="0" nodeType="clickEffect">
                                  <p:stCondLst>
                                    <p:cond delay="0"/>
                                  </p:stCondLst>
                                  <p:childTnLst>
                                    <p:set>
                                      <p:cBhvr>
                                        <p:cTn id="31" dur="1" fill="hold">
                                          <p:stCondLst>
                                            <p:cond delay="0"/>
                                          </p:stCondLst>
                                        </p:cTn>
                                        <p:tgtEl>
                                          <p:spTgt spid="5"/>
                                        </p:tgtEl>
                                        <p:attrNameLst>
                                          <p:attrName>style.visibility</p:attrName>
                                        </p:attrNameLst>
                                      </p:cBhvr>
                                      <p:to>
                                        <p:strVal val="visible"/>
                                      </p:to>
                                    </p:set>
                                    <p:anim calcmode="lin" valueType="num">
                                      <p:cBhvr additive="base">
                                        <p:cTn id="32" dur="500" fill="hold"/>
                                        <p:tgtEl>
                                          <p:spTgt spid="5"/>
                                        </p:tgtEl>
                                        <p:attrNameLst>
                                          <p:attrName>ppt_x</p:attrName>
                                        </p:attrNameLst>
                                      </p:cBhvr>
                                      <p:tavLst>
                                        <p:tav tm="0">
                                          <p:val>
                                            <p:strVal val="0-#ppt_w/2"/>
                                          </p:val>
                                        </p:tav>
                                        <p:tav tm="100000">
                                          <p:val>
                                            <p:strVal val="#ppt_x"/>
                                          </p:val>
                                        </p:tav>
                                      </p:tavLst>
                                    </p:anim>
                                    <p:anim calcmode="lin" valueType="num">
                                      <p:cBhvr additive="base">
                                        <p:cTn id="3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autoUpdateAnimBg="0"/>
      <p:bldP spid="4" grpId="0" animBg="1" autoUpdateAnimBg="0"/>
      <p:bldP spid="5" grpId="0" animBg="1" autoUpdateAnimBg="0"/>
      <p:bldP spid="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539552" y="404664"/>
            <a:ext cx="4681537" cy="457200"/>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kumimoji="1" lang="zh-CN" altLang="en-US" sz="2400" b="1" dirty="0">
                <a:solidFill>
                  <a:srgbClr val="0000FF"/>
                </a:solidFill>
                <a:latin typeface="黑体" pitchFamily="49" charset="-122"/>
                <a:ea typeface="黑体" pitchFamily="49" charset="-122"/>
              </a:rPr>
              <a:t>扭转变形：（相对扭转角）</a:t>
            </a:r>
            <a:endParaRPr kumimoji="1" lang="zh-CN" altLang="en-US" sz="2400" dirty="0">
              <a:solidFill>
                <a:srgbClr val="0000FF"/>
              </a:solidFill>
              <a:latin typeface="宋体" pitchFamily="2" charset="-122"/>
            </a:endParaRPr>
          </a:p>
        </p:txBody>
      </p:sp>
      <p:sp>
        <p:nvSpPr>
          <p:cNvPr id="5" name="Text Box 7"/>
          <p:cNvSpPr txBox="1">
            <a:spLocks noChangeArrowheads="1"/>
          </p:cNvSpPr>
          <p:nvPr/>
        </p:nvSpPr>
        <p:spPr bwMode="auto">
          <a:xfrm>
            <a:off x="5048788" y="1131093"/>
            <a:ext cx="3529013" cy="1052596"/>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lnSpc>
                <a:spcPct val="130000"/>
              </a:lnSpc>
              <a:spcBef>
                <a:spcPct val="0"/>
              </a:spcBef>
              <a:buFontTx/>
              <a:buNone/>
            </a:pPr>
            <a:r>
              <a:rPr kumimoji="1" lang="zh-CN" altLang="en-US" sz="2400" b="1" dirty="0">
                <a:solidFill>
                  <a:srgbClr val="0000FF"/>
                </a:solidFill>
                <a:latin typeface="宋体" pitchFamily="2" charset="-122"/>
              </a:rPr>
              <a:t>扭转角单位：弧度（</a:t>
            </a:r>
            <a:r>
              <a:rPr kumimoji="1" lang="en-US" altLang="zh-CN" sz="2400" b="1" dirty="0">
                <a:solidFill>
                  <a:srgbClr val="0000FF"/>
                </a:solidFill>
                <a:latin typeface="宋体" pitchFamily="2" charset="-122"/>
              </a:rPr>
              <a:t>rad</a:t>
            </a:r>
            <a:r>
              <a:rPr kumimoji="1" lang="zh-CN" altLang="en-US" sz="2400" b="1" dirty="0">
                <a:solidFill>
                  <a:srgbClr val="0000FF"/>
                </a:solidFill>
                <a:latin typeface="宋体" pitchFamily="2" charset="-122"/>
              </a:rPr>
              <a:t>）</a:t>
            </a:r>
          </a:p>
          <a:p>
            <a:pPr eaLnBrk="1" hangingPunct="1">
              <a:lnSpc>
                <a:spcPct val="130000"/>
              </a:lnSpc>
              <a:spcBef>
                <a:spcPct val="0"/>
              </a:spcBef>
              <a:buFontTx/>
              <a:buNone/>
            </a:pPr>
            <a:r>
              <a:rPr kumimoji="1" lang="zh-CN" altLang="en-US" sz="2400" b="1" dirty="0">
                <a:solidFill>
                  <a:srgbClr val="0000FF"/>
                </a:solidFill>
                <a:latin typeface="Times New Roman" pitchFamily="18" charset="0"/>
              </a:rPr>
              <a:t>    </a:t>
            </a:r>
            <a:r>
              <a:rPr kumimoji="1" lang="en-US" altLang="zh-CN" sz="2400" b="1" dirty="0">
                <a:solidFill>
                  <a:srgbClr val="0000FF"/>
                </a:solidFill>
                <a:latin typeface="Times New Roman" pitchFamily="18" charset="0"/>
              </a:rPr>
              <a:t>GI</a:t>
            </a:r>
            <a:r>
              <a:rPr kumimoji="1" lang="en-US" altLang="zh-CN" sz="2400" b="1" baseline="-25000" dirty="0">
                <a:solidFill>
                  <a:srgbClr val="0000FF"/>
                </a:solidFill>
                <a:latin typeface="Times New Roman" pitchFamily="18" charset="0"/>
              </a:rPr>
              <a:t>P</a:t>
            </a:r>
            <a:r>
              <a:rPr kumimoji="1" lang="en-US" altLang="zh-CN" sz="2400" b="1" dirty="0">
                <a:solidFill>
                  <a:srgbClr val="0000FF"/>
                </a:solidFill>
                <a:latin typeface="Times New Roman" pitchFamily="18" charset="0"/>
              </a:rPr>
              <a:t>——</a:t>
            </a:r>
            <a:r>
              <a:rPr kumimoji="1" lang="zh-CN" altLang="en-US" sz="2400" b="1" dirty="0">
                <a:solidFill>
                  <a:srgbClr val="0000FF"/>
                </a:solidFill>
                <a:latin typeface="宋体" pitchFamily="2" charset="-122"/>
              </a:rPr>
              <a:t>抗扭刚度。</a:t>
            </a:r>
            <a:endParaRPr kumimoji="1" lang="zh-CN" altLang="en-US" sz="2400" dirty="0">
              <a:solidFill>
                <a:srgbClr val="0000FF"/>
              </a:solidFill>
              <a:latin typeface="宋体" pitchFamily="2" charset="-122"/>
            </a:endParaRPr>
          </a:p>
        </p:txBody>
      </p:sp>
      <p:graphicFrame>
        <p:nvGraphicFramePr>
          <p:cNvPr id="7" name="Object 12"/>
          <p:cNvGraphicFramePr>
            <a:graphicFrameLocks noChangeAspect="1"/>
          </p:cNvGraphicFramePr>
          <p:nvPr>
            <p:extLst>
              <p:ext uri="{D42A27DB-BD31-4B8C-83A1-F6EECF244321}">
                <p14:modId xmlns:p14="http://schemas.microsoft.com/office/powerpoint/2010/main" val="1864195025"/>
              </p:ext>
            </p:extLst>
          </p:nvPr>
        </p:nvGraphicFramePr>
        <p:xfrm>
          <a:off x="3492500" y="1124744"/>
          <a:ext cx="1217613" cy="969963"/>
        </p:xfrm>
        <a:graphic>
          <a:graphicData uri="http://schemas.openxmlformats.org/presentationml/2006/ole">
            <mc:AlternateContent xmlns:mc="http://schemas.openxmlformats.org/markup-compatibility/2006">
              <mc:Choice xmlns:v="urn:schemas-microsoft-com:vml" Requires="v">
                <p:oleObj name="公式" r:id="rId2" imgW="558558" imgH="444307" progId="">
                  <p:embed/>
                </p:oleObj>
              </mc:Choice>
              <mc:Fallback>
                <p:oleObj name="公式" r:id="rId2" imgW="558558" imgH="444307" progId="">
                  <p:embed/>
                  <p:pic>
                    <p:nvPicPr>
                      <p:cNvPr id="0" name="Picture 5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2500" y="1124744"/>
                        <a:ext cx="1217613" cy="969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9" name="Group 15"/>
          <p:cNvGrpSpPr>
            <a:grpSpLocks/>
          </p:cNvGrpSpPr>
          <p:nvPr/>
        </p:nvGrpSpPr>
        <p:grpSpPr bwMode="auto">
          <a:xfrm>
            <a:off x="3249761" y="2636912"/>
            <a:ext cx="4346575" cy="533400"/>
            <a:chOff x="1536" y="672"/>
            <a:chExt cx="2604" cy="336"/>
          </a:xfrm>
        </p:grpSpPr>
        <p:sp>
          <p:nvSpPr>
            <p:cNvPr id="10" name="Text Box 16"/>
            <p:cNvSpPr txBox="1">
              <a:spLocks noChangeArrowheads="1"/>
            </p:cNvSpPr>
            <p:nvPr/>
          </p:nvSpPr>
          <p:spPr bwMode="auto">
            <a:xfrm>
              <a:off x="2096" y="720"/>
              <a:ext cx="2044" cy="288"/>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rgbClr val="66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kumimoji="1" lang="en-US" altLang="zh-CN" sz="2400" b="1">
                  <a:solidFill>
                    <a:srgbClr val="0000FF"/>
                  </a:solidFill>
                  <a:latin typeface="Times New Roman" pitchFamily="18" charset="0"/>
                </a:rPr>
                <a:t>——</a:t>
              </a:r>
              <a:r>
                <a:rPr kumimoji="1" lang="zh-CN" altLang="en-US" sz="2400" b="1">
                  <a:solidFill>
                    <a:srgbClr val="0000FF"/>
                  </a:solidFill>
                  <a:latin typeface="宋体" pitchFamily="2" charset="-122"/>
                </a:rPr>
                <a:t>单位长度的扭转角</a:t>
              </a:r>
              <a:endParaRPr kumimoji="1" lang="zh-CN" altLang="en-US" sz="2400">
                <a:solidFill>
                  <a:srgbClr val="0000FF"/>
                </a:solidFill>
                <a:latin typeface="宋体" pitchFamily="2" charset="-122"/>
              </a:endParaRPr>
            </a:p>
          </p:txBody>
        </p:sp>
        <p:graphicFrame>
          <p:nvGraphicFramePr>
            <p:cNvPr id="11" name="Object 17"/>
            <p:cNvGraphicFramePr>
              <a:graphicFrameLocks noChangeAspect="1"/>
            </p:cNvGraphicFramePr>
            <p:nvPr/>
          </p:nvGraphicFramePr>
          <p:xfrm>
            <a:off x="1536" y="672"/>
            <a:ext cx="576" cy="336"/>
          </p:xfrm>
          <a:graphic>
            <a:graphicData uri="http://schemas.openxmlformats.org/presentationml/2006/ole">
              <mc:AlternateContent xmlns:mc="http://schemas.openxmlformats.org/markup-compatibility/2006">
                <mc:Choice xmlns:v="urn:schemas-microsoft-com:vml" Requires="v">
                  <p:oleObj name="公式" r:id="rId4" imgW="406048" imgH="304536" progId="">
                    <p:embed/>
                  </p:oleObj>
                </mc:Choice>
                <mc:Fallback>
                  <p:oleObj name="公式" r:id="rId4" imgW="406048" imgH="304536" progId="">
                    <p:embed/>
                    <p:pic>
                      <p:nvPicPr>
                        <p:cNvPr id="0" name="Picture 5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36" y="672"/>
                          <a:ext cx="576" cy="336"/>
                        </a:xfrm>
                        <a:prstGeom prst="rect">
                          <a:avLst/>
                        </a:prstGeom>
                        <a:noFill/>
                        <a:ln>
                          <a:noFill/>
                        </a:ln>
                        <a:extLst>
                          <a:ext uri="{909E8E84-426E-40DD-AFC4-6F175D3DCCD1}">
                            <a14:hiddenFill xmlns:a14="http://schemas.microsoft.com/office/drawing/2010/main">
                              <a:solidFill>
                                <a:srgbClr val="66FFFF"/>
                              </a:solidFill>
                            </a14:hiddenFill>
                          </a:ext>
                          <a:ext uri="{91240B29-F687-4F45-9708-019B960494DF}">
                            <a14:hiddenLine xmlns:a14="http://schemas.microsoft.com/office/drawing/2010/main" w="9525">
                              <a:solidFill>
                                <a:srgbClr val="00FFFF"/>
                              </a:solidFill>
                              <a:miter lim="800000"/>
                              <a:headEnd/>
                              <a:tailEnd/>
                            </a14:hiddenLine>
                          </a:ext>
                        </a:extLst>
                      </p:spPr>
                    </p:pic>
                  </p:oleObj>
                </mc:Fallback>
              </mc:AlternateContent>
            </a:graphicData>
          </a:graphic>
        </p:graphicFrame>
      </p:grpSp>
      <p:sp>
        <p:nvSpPr>
          <p:cNvPr id="14" name="Text Box 20"/>
          <p:cNvSpPr txBox="1">
            <a:spLocks noChangeArrowheads="1"/>
          </p:cNvSpPr>
          <p:nvPr/>
        </p:nvSpPr>
        <p:spPr bwMode="auto">
          <a:xfrm>
            <a:off x="580479" y="1340768"/>
            <a:ext cx="2659702" cy="461665"/>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kumimoji="1" lang="zh-CN" altLang="en-US" sz="2400" b="1" dirty="0">
                <a:solidFill>
                  <a:srgbClr val="0000FF"/>
                </a:solidFill>
                <a:latin typeface="宋体" pitchFamily="2" charset="-122"/>
              </a:rPr>
              <a:t>扭矩不变的等直轴</a:t>
            </a:r>
          </a:p>
        </p:txBody>
      </p:sp>
      <p:graphicFrame>
        <p:nvGraphicFramePr>
          <p:cNvPr id="15" name="Object 21"/>
          <p:cNvGraphicFramePr>
            <a:graphicFrameLocks noChangeAspect="1"/>
          </p:cNvGraphicFramePr>
          <p:nvPr>
            <p:extLst>
              <p:ext uri="{D42A27DB-BD31-4B8C-83A1-F6EECF244321}">
                <p14:modId xmlns:p14="http://schemas.microsoft.com/office/powerpoint/2010/main" val="1952137898"/>
              </p:ext>
            </p:extLst>
          </p:nvPr>
        </p:nvGraphicFramePr>
        <p:xfrm>
          <a:off x="851842" y="2376562"/>
          <a:ext cx="2108200" cy="996950"/>
        </p:xfrm>
        <a:graphic>
          <a:graphicData uri="http://schemas.openxmlformats.org/presentationml/2006/ole">
            <mc:AlternateContent xmlns:mc="http://schemas.openxmlformats.org/markup-compatibility/2006">
              <mc:Choice xmlns:v="urn:schemas-microsoft-com:vml" Requires="v">
                <p:oleObj name="公式" r:id="rId6" imgW="914400" imgH="431800" progId="">
                  <p:embed/>
                </p:oleObj>
              </mc:Choice>
              <mc:Fallback>
                <p:oleObj name="公式" r:id="rId6" imgW="914400" imgH="431800" progId="">
                  <p:embed/>
                  <p:pic>
                    <p:nvPicPr>
                      <p:cNvPr id="0" name="Picture 5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51842" y="2376562"/>
                        <a:ext cx="2108200" cy="996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110409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additive="base">
                                        <p:cTn id="25" dur="500" fill="hold"/>
                                        <p:tgtEl>
                                          <p:spTgt spid="15"/>
                                        </p:tgtEl>
                                        <p:attrNameLst>
                                          <p:attrName>ppt_x</p:attrName>
                                        </p:attrNameLst>
                                      </p:cBhvr>
                                      <p:tavLst>
                                        <p:tav tm="0">
                                          <p:val>
                                            <p:strVal val="#ppt_x"/>
                                          </p:val>
                                        </p:tav>
                                        <p:tav tm="100000">
                                          <p:val>
                                            <p:strVal val="#ppt_x"/>
                                          </p:val>
                                        </p:tav>
                                      </p:tavLst>
                                    </p:anim>
                                    <p:anim calcmode="lin" valueType="num">
                                      <p:cBhvr additive="base">
                                        <p:cTn id="26"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autoUpdateAnimBg="0"/>
      <p:bldP spid="5" grpId="0" animBg="1" autoUpdateAnimBg="0"/>
      <p:bldP spid="14" grpId="0" animBg="1"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40"/>
          <p:cNvSpPr txBox="1">
            <a:spLocks noChangeArrowheads="1"/>
          </p:cNvSpPr>
          <p:nvPr/>
        </p:nvSpPr>
        <p:spPr bwMode="auto">
          <a:xfrm>
            <a:off x="539874" y="3212976"/>
            <a:ext cx="8064574" cy="1052596"/>
          </a:xfrm>
          <a:prstGeom prst="rect">
            <a:avLst/>
          </a:prstGeom>
          <a:noFill/>
          <a:ln w="28575">
            <a:solidFill>
              <a:srgbClr val="FF0000"/>
            </a:solidFill>
            <a:miter lim="800000"/>
            <a:headEnd/>
            <a:tailEnd/>
          </a:ln>
          <a:extLst>
            <a:ext uri="{909E8E84-426E-40DD-AFC4-6F175D3DCCD1}">
              <a14:hiddenFill xmlns:a14="http://schemas.microsoft.com/office/drawing/2010/main">
                <a:solidFill>
                  <a:schemeClr val="accent1"/>
                </a:solidFill>
              </a14:hiddenFill>
            </a:ext>
          </a:extLst>
        </p:spPr>
        <p:txBody>
          <a:bodyPr wrap="square">
            <a:spAutoFit/>
          </a:bodyPr>
          <a:lstStyle>
            <a:lvl1pPr algn="l" eaLnBrk="0" hangingPunct="0">
              <a:spcBef>
                <a:spcPct val="20000"/>
              </a:spcBef>
              <a:buChar char="•"/>
              <a:defRPr sz="3200">
                <a:solidFill>
                  <a:schemeClr val="tx1"/>
                </a:solidFill>
                <a:latin typeface="Arial" pitchFamily="34" charset="0"/>
                <a:ea typeface="宋体" pitchFamily="2" charset="-122"/>
              </a:defRPr>
            </a:lvl1pPr>
            <a:lvl2pPr marL="742950" indent="-285750" algn="l" eaLnBrk="0" hangingPunct="0">
              <a:spcBef>
                <a:spcPct val="20000"/>
              </a:spcBef>
              <a:buChar char="–"/>
              <a:defRPr sz="2800">
                <a:solidFill>
                  <a:schemeClr val="tx1"/>
                </a:solidFill>
                <a:latin typeface="Arial" pitchFamily="34" charset="0"/>
                <a:ea typeface="宋体" pitchFamily="2" charset="-122"/>
              </a:defRPr>
            </a:lvl2pPr>
            <a:lvl3pPr marL="1143000" indent="-228600" algn="l" eaLnBrk="0" hangingPunct="0">
              <a:spcBef>
                <a:spcPct val="20000"/>
              </a:spcBef>
              <a:buChar char="•"/>
              <a:defRPr sz="2400">
                <a:solidFill>
                  <a:schemeClr val="tx1"/>
                </a:solidFill>
                <a:latin typeface="Arial" pitchFamily="34" charset="0"/>
                <a:ea typeface="宋体" pitchFamily="2" charset="-122"/>
              </a:defRPr>
            </a:lvl3pPr>
            <a:lvl4pPr marL="1600200" indent="-228600" algn="l" eaLnBrk="0" hangingPunct="0">
              <a:spcBef>
                <a:spcPct val="20000"/>
              </a:spcBef>
              <a:buChar char="–"/>
              <a:defRPr sz="2000">
                <a:solidFill>
                  <a:schemeClr val="tx1"/>
                </a:solidFill>
                <a:latin typeface="Arial" pitchFamily="34" charset="0"/>
                <a:ea typeface="宋体" pitchFamily="2" charset="-122"/>
              </a:defRPr>
            </a:lvl4pPr>
            <a:lvl5pPr marL="2057400" indent="-228600" algn="l"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lnSpc>
                <a:spcPct val="130000"/>
              </a:lnSpc>
              <a:spcBef>
                <a:spcPct val="0"/>
              </a:spcBef>
              <a:buFontTx/>
              <a:buNone/>
            </a:pPr>
            <a:r>
              <a:rPr kumimoji="1" lang="zh-CN" altLang="en-US" sz="2400" b="1" dirty="0">
                <a:solidFill>
                  <a:srgbClr val="FF0000"/>
                </a:solidFill>
                <a:latin typeface="黑体" panose="02010609060101010101" pitchFamily="49" charset="-122"/>
                <a:ea typeface="黑体" panose="02010609060101010101" pitchFamily="49" charset="-122"/>
              </a:rPr>
              <a:t>弯矩</a:t>
            </a:r>
            <a:r>
              <a:rPr kumimoji="1" lang="zh-CN" altLang="en-US" sz="2400" b="1" dirty="0">
                <a:solidFill>
                  <a:srgbClr val="0000FF"/>
                </a:solidFill>
                <a:latin typeface="黑体" panose="02010609060101010101" pitchFamily="49" charset="-122"/>
                <a:ea typeface="黑体" panose="02010609060101010101" pitchFamily="49" charset="-122"/>
              </a:rPr>
              <a:t>：</a:t>
            </a:r>
            <a:r>
              <a:rPr kumimoji="1" lang="en-US" altLang="zh-CN" sz="2400" b="1" i="1" dirty="0">
                <a:solidFill>
                  <a:srgbClr val="0000FF"/>
                </a:solidFill>
                <a:latin typeface="黑体" panose="02010609060101010101" pitchFamily="49" charset="-122"/>
                <a:ea typeface="黑体" panose="02010609060101010101" pitchFamily="49" charset="-122"/>
              </a:rPr>
              <a:t>M   </a:t>
            </a:r>
            <a:r>
              <a:rPr kumimoji="1" lang="zh-CN" altLang="en-US" sz="2400" b="1" dirty="0">
                <a:solidFill>
                  <a:srgbClr val="0000FF"/>
                </a:solidFill>
                <a:latin typeface="黑体" panose="02010609060101010101" pitchFamily="49" charset="-122"/>
                <a:ea typeface="黑体" panose="02010609060101010101" pitchFamily="49" charset="-122"/>
              </a:rPr>
              <a:t>构件受弯时，横截面上存在垂直于截面的内力偶矩（弯矩）。</a:t>
            </a:r>
          </a:p>
        </p:txBody>
      </p:sp>
      <p:sp>
        <p:nvSpPr>
          <p:cNvPr id="3" name="Text Box 60"/>
          <p:cNvSpPr txBox="1">
            <a:spLocks noChangeArrowheads="1"/>
          </p:cNvSpPr>
          <p:nvPr/>
        </p:nvSpPr>
        <p:spPr bwMode="auto">
          <a:xfrm>
            <a:off x="539874" y="4392628"/>
            <a:ext cx="8064573" cy="1052596"/>
          </a:xfrm>
          <a:prstGeom prst="rect">
            <a:avLst/>
          </a:prstGeom>
          <a:noFill/>
          <a:ln w="28575">
            <a:solidFill>
              <a:srgbClr val="FF0000"/>
            </a:solidFill>
            <a:miter lim="800000"/>
            <a:headEnd/>
            <a:tailEnd/>
          </a:ln>
          <a:extLst>
            <a:ext uri="{909E8E84-426E-40DD-AFC4-6F175D3DCCD1}">
              <a14:hiddenFill xmlns:a14="http://schemas.microsoft.com/office/drawing/2010/main">
                <a:solidFill>
                  <a:schemeClr val="accent1"/>
                </a:solidFill>
              </a14:hiddenFill>
            </a:ext>
          </a:extLst>
        </p:spPr>
        <p:txBody>
          <a:bodyPr wrap="square">
            <a:spAutoFit/>
          </a:bodyPr>
          <a:lstStyle>
            <a:lvl1pPr algn="l" eaLnBrk="0" hangingPunct="0">
              <a:spcBef>
                <a:spcPct val="20000"/>
              </a:spcBef>
              <a:buChar char="•"/>
              <a:defRPr sz="3200">
                <a:solidFill>
                  <a:schemeClr val="tx1"/>
                </a:solidFill>
                <a:latin typeface="Arial" pitchFamily="34" charset="0"/>
                <a:ea typeface="宋体" pitchFamily="2" charset="-122"/>
              </a:defRPr>
            </a:lvl1pPr>
            <a:lvl2pPr marL="742950" indent="-285750" algn="l" eaLnBrk="0" hangingPunct="0">
              <a:spcBef>
                <a:spcPct val="20000"/>
              </a:spcBef>
              <a:buChar char="–"/>
              <a:defRPr sz="2800">
                <a:solidFill>
                  <a:schemeClr val="tx1"/>
                </a:solidFill>
                <a:latin typeface="Arial" pitchFamily="34" charset="0"/>
                <a:ea typeface="宋体" pitchFamily="2" charset="-122"/>
              </a:defRPr>
            </a:lvl2pPr>
            <a:lvl3pPr marL="1143000" indent="-228600" algn="l" eaLnBrk="0" hangingPunct="0">
              <a:spcBef>
                <a:spcPct val="20000"/>
              </a:spcBef>
              <a:buChar char="•"/>
              <a:defRPr sz="2400">
                <a:solidFill>
                  <a:schemeClr val="tx1"/>
                </a:solidFill>
                <a:latin typeface="Arial" pitchFamily="34" charset="0"/>
                <a:ea typeface="宋体" pitchFamily="2" charset="-122"/>
              </a:defRPr>
            </a:lvl3pPr>
            <a:lvl4pPr marL="1600200" indent="-228600" algn="l" eaLnBrk="0" hangingPunct="0">
              <a:spcBef>
                <a:spcPct val="20000"/>
              </a:spcBef>
              <a:buChar char="–"/>
              <a:defRPr sz="2000">
                <a:solidFill>
                  <a:schemeClr val="tx1"/>
                </a:solidFill>
                <a:latin typeface="Arial" pitchFamily="34" charset="0"/>
                <a:ea typeface="宋体" pitchFamily="2" charset="-122"/>
              </a:defRPr>
            </a:lvl4pPr>
            <a:lvl5pPr marL="2057400" indent="-228600" algn="l"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lnSpc>
                <a:spcPct val="130000"/>
              </a:lnSpc>
              <a:spcBef>
                <a:spcPct val="0"/>
              </a:spcBef>
              <a:buFontTx/>
              <a:buNone/>
            </a:pPr>
            <a:r>
              <a:rPr kumimoji="1" lang="zh-CN" altLang="en-US" sz="2400" b="1" dirty="0">
                <a:solidFill>
                  <a:srgbClr val="FF0000"/>
                </a:solidFill>
                <a:latin typeface="黑体" panose="02010609060101010101" pitchFamily="49" charset="-122"/>
                <a:ea typeface="黑体" panose="02010609060101010101" pitchFamily="49" charset="-122"/>
              </a:rPr>
              <a:t>剪力</a:t>
            </a:r>
            <a:r>
              <a:rPr kumimoji="1" lang="zh-CN" altLang="en-US" sz="2400" b="1" dirty="0">
                <a:solidFill>
                  <a:srgbClr val="0000FF"/>
                </a:solidFill>
                <a:latin typeface="黑体" panose="02010609060101010101" pitchFamily="49" charset="-122"/>
                <a:ea typeface="黑体" panose="02010609060101010101" pitchFamily="49" charset="-122"/>
              </a:rPr>
              <a:t>： </a:t>
            </a:r>
            <a:r>
              <a:rPr kumimoji="1" lang="en-US" altLang="zh-CN" sz="2400" b="1" i="1" dirty="0">
                <a:solidFill>
                  <a:srgbClr val="0000FF"/>
                </a:solidFill>
                <a:latin typeface="黑体" panose="02010609060101010101" pitchFamily="49" charset="-122"/>
                <a:ea typeface="黑体" panose="02010609060101010101" pitchFamily="49" charset="-122"/>
              </a:rPr>
              <a:t>Fs  </a:t>
            </a:r>
            <a:r>
              <a:rPr kumimoji="1" lang="zh-CN" altLang="en-US" sz="2400" b="1" dirty="0">
                <a:solidFill>
                  <a:srgbClr val="0000FF"/>
                </a:solidFill>
                <a:latin typeface="黑体" panose="02010609060101010101" pitchFamily="49" charset="-122"/>
                <a:ea typeface="黑体" panose="02010609060101010101" pitchFamily="49" charset="-122"/>
              </a:rPr>
              <a:t>构件受弯时，横截面上存在平行于截面的内力（剪力）。</a:t>
            </a:r>
          </a:p>
        </p:txBody>
      </p:sp>
      <p:sp>
        <p:nvSpPr>
          <p:cNvPr id="42" name="Rectangle 3"/>
          <p:cNvSpPr>
            <a:spLocks noChangeArrowheads="1"/>
          </p:cNvSpPr>
          <p:nvPr/>
        </p:nvSpPr>
        <p:spPr bwMode="auto">
          <a:xfrm>
            <a:off x="539552" y="5827290"/>
            <a:ext cx="1487487" cy="554038"/>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lvl1pPr algn="l" eaLnBrk="0" hangingPunct="0">
              <a:spcBef>
                <a:spcPct val="20000"/>
              </a:spcBef>
              <a:buChar char="•"/>
              <a:defRPr sz="3200">
                <a:solidFill>
                  <a:schemeClr val="tx1"/>
                </a:solidFill>
                <a:latin typeface="Arial" pitchFamily="34" charset="0"/>
                <a:ea typeface="宋体" pitchFamily="2" charset="-122"/>
              </a:defRPr>
            </a:lvl1pPr>
            <a:lvl2pPr marL="742950" indent="-285750" algn="l" eaLnBrk="0" hangingPunct="0">
              <a:spcBef>
                <a:spcPct val="20000"/>
              </a:spcBef>
              <a:buChar char="–"/>
              <a:defRPr sz="2800">
                <a:solidFill>
                  <a:schemeClr val="tx1"/>
                </a:solidFill>
                <a:latin typeface="Arial" pitchFamily="34" charset="0"/>
                <a:ea typeface="宋体" pitchFamily="2" charset="-122"/>
              </a:defRPr>
            </a:lvl2pPr>
            <a:lvl3pPr marL="1143000" indent="-228600" algn="l" eaLnBrk="0" hangingPunct="0">
              <a:spcBef>
                <a:spcPct val="20000"/>
              </a:spcBef>
              <a:buChar char="•"/>
              <a:defRPr sz="2400">
                <a:solidFill>
                  <a:schemeClr val="tx1"/>
                </a:solidFill>
                <a:latin typeface="Arial" pitchFamily="34" charset="0"/>
                <a:ea typeface="宋体" pitchFamily="2" charset="-122"/>
              </a:defRPr>
            </a:lvl3pPr>
            <a:lvl4pPr marL="1600200" indent="-228600" algn="l" eaLnBrk="0" hangingPunct="0">
              <a:spcBef>
                <a:spcPct val="20000"/>
              </a:spcBef>
              <a:buChar char="–"/>
              <a:defRPr sz="2000">
                <a:solidFill>
                  <a:schemeClr val="tx1"/>
                </a:solidFill>
                <a:latin typeface="Arial" pitchFamily="34" charset="0"/>
                <a:ea typeface="宋体" pitchFamily="2" charset="-122"/>
              </a:defRPr>
            </a:lvl4pPr>
            <a:lvl5pPr marL="2057400" indent="-228600" algn="l"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lnSpc>
                <a:spcPct val="110000"/>
              </a:lnSpc>
              <a:spcBef>
                <a:spcPct val="0"/>
              </a:spcBef>
              <a:buFontTx/>
              <a:buNone/>
            </a:pPr>
            <a:r>
              <a:rPr lang="zh-CN" altLang="en-US" sz="2400" b="1" dirty="0">
                <a:solidFill>
                  <a:srgbClr val="0000FF"/>
                </a:solidFill>
                <a:latin typeface="黑体" panose="02010609060101010101" pitchFamily="49" charset="-122"/>
                <a:ea typeface="黑体" panose="02010609060101010101" pitchFamily="49" charset="-122"/>
              </a:rPr>
              <a:t>剪力</a:t>
            </a:r>
            <a:r>
              <a:rPr kumimoji="1" lang="en-US" altLang="zh-CN" sz="2400" b="1" i="1" dirty="0">
                <a:solidFill>
                  <a:srgbClr val="0000FF"/>
                </a:solidFill>
                <a:latin typeface="黑体" panose="02010609060101010101" pitchFamily="49" charset="-122"/>
                <a:ea typeface="黑体" panose="02010609060101010101" pitchFamily="49" charset="-122"/>
              </a:rPr>
              <a:t>Fs</a:t>
            </a:r>
            <a:endParaRPr lang="en-US" altLang="zh-CN" sz="2400" b="1" dirty="0">
              <a:solidFill>
                <a:srgbClr val="0000FF"/>
              </a:solidFill>
              <a:latin typeface="黑体" panose="02010609060101010101" pitchFamily="49" charset="-122"/>
              <a:ea typeface="黑体" panose="02010609060101010101" pitchFamily="49" charset="-122"/>
            </a:endParaRPr>
          </a:p>
        </p:txBody>
      </p:sp>
      <p:grpSp>
        <p:nvGrpSpPr>
          <p:cNvPr id="43" name="Group 5"/>
          <p:cNvGrpSpPr>
            <a:grpSpLocks/>
          </p:cNvGrpSpPr>
          <p:nvPr/>
        </p:nvGrpSpPr>
        <p:grpSpPr bwMode="auto">
          <a:xfrm>
            <a:off x="2915816" y="5550619"/>
            <a:ext cx="2209800" cy="974725"/>
            <a:chOff x="1248" y="2160"/>
            <a:chExt cx="1392" cy="614"/>
          </a:xfrm>
        </p:grpSpPr>
        <p:grpSp>
          <p:nvGrpSpPr>
            <p:cNvPr id="44" name="Group 6"/>
            <p:cNvGrpSpPr>
              <a:grpSpLocks/>
            </p:cNvGrpSpPr>
            <p:nvPr/>
          </p:nvGrpSpPr>
          <p:grpSpPr bwMode="auto">
            <a:xfrm>
              <a:off x="2064" y="2304"/>
              <a:ext cx="110" cy="357"/>
              <a:chOff x="2098" y="2299"/>
              <a:chExt cx="85" cy="266"/>
            </a:xfrm>
          </p:grpSpPr>
          <p:sp>
            <p:nvSpPr>
              <p:cNvPr id="52" name="Rectangle 7"/>
              <p:cNvSpPr>
                <a:spLocks noChangeArrowheads="1"/>
              </p:cNvSpPr>
              <p:nvPr/>
            </p:nvSpPr>
            <p:spPr bwMode="auto">
              <a:xfrm>
                <a:off x="2123" y="2299"/>
                <a:ext cx="36" cy="18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har char="•"/>
                  <a:defRPr sz="3200">
                    <a:solidFill>
                      <a:schemeClr val="tx1"/>
                    </a:solidFill>
                    <a:latin typeface="Arial" pitchFamily="34" charset="0"/>
                    <a:ea typeface="宋体" pitchFamily="2" charset="-122"/>
                  </a:defRPr>
                </a:lvl1pPr>
                <a:lvl2pPr marL="742950" indent="-285750" algn="l" eaLnBrk="0" hangingPunct="0">
                  <a:spcBef>
                    <a:spcPct val="20000"/>
                  </a:spcBef>
                  <a:buChar char="–"/>
                  <a:defRPr sz="2800">
                    <a:solidFill>
                      <a:schemeClr val="tx1"/>
                    </a:solidFill>
                    <a:latin typeface="Arial" pitchFamily="34" charset="0"/>
                    <a:ea typeface="宋体" pitchFamily="2" charset="-122"/>
                  </a:defRPr>
                </a:lvl2pPr>
                <a:lvl3pPr marL="1143000" indent="-228600" algn="l" eaLnBrk="0" hangingPunct="0">
                  <a:spcBef>
                    <a:spcPct val="20000"/>
                  </a:spcBef>
                  <a:buChar char="•"/>
                  <a:defRPr sz="2400">
                    <a:solidFill>
                      <a:schemeClr val="tx1"/>
                    </a:solidFill>
                    <a:latin typeface="Arial" pitchFamily="34" charset="0"/>
                    <a:ea typeface="宋体" pitchFamily="2" charset="-122"/>
                  </a:defRPr>
                </a:lvl3pPr>
                <a:lvl4pPr marL="1600200" indent="-228600" algn="l" eaLnBrk="0" hangingPunct="0">
                  <a:spcBef>
                    <a:spcPct val="20000"/>
                  </a:spcBef>
                  <a:buChar char="–"/>
                  <a:defRPr sz="2000">
                    <a:solidFill>
                      <a:schemeClr val="tx1"/>
                    </a:solidFill>
                    <a:latin typeface="Arial" pitchFamily="34" charset="0"/>
                    <a:ea typeface="宋体" pitchFamily="2" charset="-122"/>
                  </a:defRPr>
                </a:lvl4pPr>
                <a:lvl5pPr marL="2057400" indent="-228600" algn="l"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lgn="ctr" eaLnBrk="1" hangingPunct="1">
                  <a:spcBef>
                    <a:spcPct val="0"/>
                  </a:spcBef>
                  <a:buFontTx/>
                  <a:buNone/>
                </a:pPr>
                <a:endParaRPr lang="zh-CN" altLang="en-US" sz="1800"/>
              </a:p>
            </p:txBody>
          </p:sp>
          <p:sp>
            <p:nvSpPr>
              <p:cNvPr id="53" name="Freeform 8"/>
              <p:cNvSpPr>
                <a:spLocks/>
              </p:cNvSpPr>
              <p:nvPr/>
            </p:nvSpPr>
            <p:spPr bwMode="auto">
              <a:xfrm>
                <a:off x="2098" y="2480"/>
                <a:ext cx="85" cy="85"/>
              </a:xfrm>
              <a:custGeom>
                <a:avLst/>
                <a:gdLst>
                  <a:gd name="T0" fmla="*/ 0 w 85"/>
                  <a:gd name="T1" fmla="*/ 0 h 85"/>
                  <a:gd name="T2" fmla="*/ 43 w 85"/>
                  <a:gd name="T3" fmla="*/ 85 h 85"/>
                  <a:gd name="T4" fmla="*/ 85 w 85"/>
                  <a:gd name="T5" fmla="*/ 0 h 85"/>
                  <a:gd name="T6" fmla="*/ 0 w 85"/>
                  <a:gd name="T7" fmla="*/ 0 h 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5" h="85">
                    <a:moveTo>
                      <a:pt x="0" y="0"/>
                    </a:moveTo>
                    <a:lnTo>
                      <a:pt x="43" y="85"/>
                    </a:lnTo>
                    <a:lnTo>
                      <a:pt x="85"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5" name="Rectangle 9"/>
            <p:cNvSpPr>
              <a:spLocks noChangeArrowheads="1"/>
            </p:cNvSpPr>
            <p:nvPr/>
          </p:nvSpPr>
          <p:spPr bwMode="auto">
            <a:xfrm>
              <a:off x="2256" y="2544"/>
              <a:ext cx="384"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eaLnBrk="0" hangingPunct="0">
                <a:spcBef>
                  <a:spcPct val="20000"/>
                </a:spcBef>
                <a:buChar char="•"/>
                <a:defRPr sz="3200">
                  <a:solidFill>
                    <a:schemeClr val="tx1"/>
                  </a:solidFill>
                  <a:latin typeface="Arial" pitchFamily="34" charset="0"/>
                  <a:ea typeface="宋体" pitchFamily="2" charset="-122"/>
                </a:defRPr>
              </a:lvl1pPr>
              <a:lvl2pPr marL="742950" indent="-285750" algn="l" eaLnBrk="0" hangingPunct="0">
                <a:spcBef>
                  <a:spcPct val="20000"/>
                </a:spcBef>
                <a:buChar char="–"/>
                <a:defRPr sz="2800">
                  <a:solidFill>
                    <a:schemeClr val="tx1"/>
                  </a:solidFill>
                  <a:latin typeface="Arial" pitchFamily="34" charset="0"/>
                  <a:ea typeface="宋体" pitchFamily="2" charset="-122"/>
                </a:defRPr>
              </a:lvl2pPr>
              <a:lvl3pPr marL="1143000" indent="-228600" algn="l" eaLnBrk="0" hangingPunct="0">
                <a:spcBef>
                  <a:spcPct val="20000"/>
                </a:spcBef>
                <a:buChar char="•"/>
                <a:defRPr sz="2400">
                  <a:solidFill>
                    <a:schemeClr val="tx1"/>
                  </a:solidFill>
                  <a:latin typeface="Arial" pitchFamily="34" charset="0"/>
                  <a:ea typeface="宋体" pitchFamily="2" charset="-122"/>
                </a:defRPr>
              </a:lvl3pPr>
              <a:lvl4pPr marL="1600200" indent="-228600" algn="l" eaLnBrk="0" hangingPunct="0">
                <a:spcBef>
                  <a:spcPct val="20000"/>
                </a:spcBef>
                <a:buChar char="–"/>
                <a:defRPr sz="2000">
                  <a:solidFill>
                    <a:schemeClr val="tx1"/>
                  </a:solidFill>
                  <a:latin typeface="Arial" pitchFamily="34" charset="0"/>
                  <a:ea typeface="宋体" pitchFamily="2" charset="-122"/>
                </a:defRPr>
              </a:lvl4pPr>
              <a:lvl5pPr marL="2057400" indent="-228600" algn="l"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kumimoji="1" lang="en-US" altLang="zh-CN" sz="2400" b="1" i="1">
                  <a:solidFill>
                    <a:schemeClr val="accent2"/>
                  </a:solidFill>
                  <a:latin typeface="Times New Roman" pitchFamily="18" charset="0"/>
                </a:rPr>
                <a:t>Fs</a:t>
              </a:r>
              <a:r>
                <a:rPr kumimoji="1" lang="en-US" altLang="zh-CN" sz="2400" b="1" baseline="20000">
                  <a:solidFill>
                    <a:srgbClr val="000000"/>
                  </a:solidFill>
                  <a:latin typeface="Times New Roman" pitchFamily="18" charset="0"/>
                </a:rPr>
                <a:t>(+)</a:t>
              </a:r>
            </a:p>
          </p:txBody>
        </p:sp>
        <p:sp>
          <p:nvSpPr>
            <p:cNvPr id="46" name="Rectangle 10"/>
            <p:cNvSpPr>
              <a:spLocks noChangeArrowheads="1"/>
            </p:cNvSpPr>
            <p:nvPr/>
          </p:nvSpPr>
          <p:spPr bwMode="auto">
            <a:xfrm>
              <a:off x="1728" y="2208"/>
              <a:ext cx="336" cy="528"/>
            </a:xfrm>
            <a:prstGeom prst="rect">
              <a:avLst/>
            </a:prstGeom>
            <a:solidFill>
              <a:schemeClr val="hlink"/>
            </a:solidFill>
            <a:ln w="9525">
              <a:solidFill>
                <a:schemeClr val="hlink"/>
              </a:solidFill>
              <a:miter lim="800000"/>
              <a:headEnd/>
              <a:tailEnd/>
            </a:ln>
          </p:spPr>
          <p:txBody>
            <a:bodyPr wrap="none" anchor="ctr"/>
            <a:lstStyle>
              <a:lvl1pPr algn="l" eaLnBrk="0" hangingPunct="0">
                <a:spcBef>
                  <a:spcPct val="20000"/>
                </a:spcBef>
                <a:buChar char="•"/>
                <a:defRPr sz="3200">
                  <a:solidFill>
                    <a:schemeClr val="tx1"/>
                  </a:solidFill>
                  <a:latin typeface="Arial" pitchFamily="34" charset="0"/>
                  <a:ea typeface="宋体" pitchFamily="2" charset="-122"/>
                </a:defRPr>
              </a:lvl1pPr>
              <a:lvl2pPr marL="742950" indent="-285750" algn="l" eaLnBrk="0" hangingPunct="0">
                <a:spcBef>
                  <a:spcPct val="20000"/>
                </a:spcBef>
                <a:buChar char="–"/>
                <a:defRPr sz="2800">
                  <a:solidFill>
                    <a:schemeClr val="tx1"/>
                  </a:solidFill>
                  <a:latin typeface="Arial" pitchFamily="34" charset="0"/>
                  <a:ea typeface="宋体" pitchFamily="2" charset="-122"/>
                </a:defRPr>
              </a:lvl2pPr>
              <a:lvl3pPr marL="1143000" indent="-228600" algn="l" eaLnBrk="0" hangingPunct="0">
                <a:spcBef>
                  <a:spcPct val="20000"/>
                </a:spcBef>
                <a:buChar char="•"/>
                <a:defRPr sz="2400">
                  <a:solidFill>
                    <a:schemeClr val="tx1"/>
                  </a:solidFill>
                  <a:latin typeface="Arial" pitchFamily="34" charset="0"/>
                  <a:ea typeface="宋体" pitchFamily="2" charset="-122"/>
                </a:defRPr>
              </a:lvl3pPr>
              <a:lvl4pPr marL="1600200" indent="-228600" algn="l" eaLnBrk="0" hangingPunct="0">
                <a:spcBef>
                  <a:spcPct val="20000"/>
                </a:spcBef>
                <a:buChar char="–"/>
                <a:defRPr sz="2000">
                  <a:solidFill>
                    <a:schemeClr val="tx1"/>
                  </a:solidFill>
                  <a:latin typeface="Arial" pitchFamily="34" charset="0"/>
                  <a:ea typeface="宋体" pitchFamily="2" charset="-122"/>
                </a:defRPr>
              </a:lvl4pPr>
              <a:lvl5pPr marL="2057400" indent="-228600" algn="l"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lgn="ctr" eaLnBrk="1" hangingPunct="1">
                <a:spcBef>
                  <a:spcPct val="0"/>
                </a:spcBef>
                <a:buFontTx/>
                <a:buNone/>
              </a:pPr>
              <a:endParaRPr lang="zh-CN" altLang="en-US" sz="1800"/>
            </a:p>
          </p:txBody>
        </p:sp>
        <p:grpSp>
          <p:nvGrpSpPr>
            <p:cNvPr id="47" name="Group 11"/>
            <p:cNvGrpSpPr>
              <a:grpSpLocks/>
            </p:cNvGrpSpPr>
            <p:nvPr/>
          </p:nvGrpSpPr>
          <p:grpSpPr bwMode="auto">
            <a:xfrm flipV="1">
              <a:off x="1632" y="2256"/>
              <a:ext cx="110" cy="357"/>
              <a:chOff x="2098" y="2299"/>
              <a:chExt cx="85" cy="266"/>
            </a:xfrm>
          </p:grpSpPr>
          <p:sp>
            <p:nvSpPr>
              <p:cNvPr id="50" name="Rectangle 12"/>
              <p:cNvSpPr>
                <a:spLocks noChangeArrowheads="1"/>
              </p:cNvSpPr>
              <p:nvPr/>
            </p:nvSpPr>
            <p:spPr bwMode="auto">
              <a:xfrm>
                <a:off x="2123" y="2299"/>
                <a:ext cx="36" cy="18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har char="•"/>
                  <a:defRPr sz="3200">
                    <a:solidFill>
                      <a:schemeClr val="tx1"/>
                    </a:solidFill>
                    <a:latin typeface="Arial" pitchFamily="34" charset="0"/>
                    <a:ea typeface="宋体" pitchFamily="2" charset="-122"/>
                  </a:defRPr>
                </a:lvl1pPr>
                <a:lvl2pPr marL="742950" indent="-285750" algn="l" eaLnBrk="0" hangingPunct="0">
                  <a:spcBef>
                    <a:spcPct val="20000"/>
                  </a:spcBef>
                  <a:buChar char="–"/>
                  <a:defRPr sz="2800">
                    <a:solidFill>
                      <a:schemeClr val="tx1"/>
                    </a:solidFill>
                    <a:latin typeface="Arial" pitchFamily="34" charset="0"/>
                    <a:ea typeface="宋体" pitchFamily="2" charset="-122"/>
                  </a:defRPr>
                </a:lvl2pPr>
                <a:lvl3pPr marL="1143000" indent="-228600" algn="l" eaLnBrk="0" hangingPunct="0">
                  <a:spcBef>
                    <a:spcPct val="20000"/>
                  </a:spcBef>
                  <a:buChar char="•"/>
                  <a:defRPr sz="2400">
                    <a:solidFill>
                      <a:schemeClr val="tx1"/>
                    </a:solidFill>
                    <a:latin typeface="Arial" pitchFamily="34" charset="0"/>
                    <a:ea typeface="宋体" pitchFamily="2" charset="-122"/>
                  </a:defRPr>
                </a:lvl3pPr>
                <a:lvl4pPr marL="1600200" indent="-228600" algn="l" eaLnBrk="0" hangingPunct="0">
                  <a:spcBef>
                    <a:spcPct val="20000"/>
                  </a:spcBef>
                  <a:buChar char="–"/>
                  <a:defRPr sz="2000">
                    <a:solidFill>
                      <a:schemeClr val="tx1"/>
                    </a:solidFill>
                    <a:latin typeface="Arial" pitchFamily="34" charset="0"/>
                    <a:ea typeface="宋体" pitchFamily="2" charset="-122"/>
                  </a:defRPr>
                </a:lvl4pPr>
                <a:lvl5pPr marL="2057400" indent="-228600" algn="l"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lgn="ctr" eaLnBrk="1" hangingPunct="1">
                  <a:spcBef>
                    <a:spcPct val="0"/>
                  </a:spcBef>
                  <a:buFontTx/>
                  <a:buNone/>
                </a:pPr>
                <a:endParaRPr lang="zh-CN" altLang="en-US" sz="1800"/>
              </a:p>
            </p:txBody>
          </p:sp>
          <p:sp>
            <p:nvSpPr>
              <p:cNvPr id="51" name="Freeform 13"/>
              <p:cNvSpPr>
                <a:spLocks/>
              </p:cNvSpPr>
              <p:nvPr/>
            </p:nvSpPr>
            <p:spPr bwMode="auto">
              <a:xfrm>
                <a:off x="2098" y="2480"/>
                <a:ext cx="85" cy="85"/>
              </a:xfrm>
              <a:custGeom>
                <a:avLst/>
                <a:gdLst>
                  <a:gd name="T0" fmla="*/ 0 w 85"/>
                  <a:gd name="T1" fmla="*/ 0 h 85"/>
                  <a:gd name="T2" fmla="*/ 43 w 85"/>
                  <a:gd name="T3" fmla="*/ 85 h 85"/>
                  <a:gd name="T4" fmla="*/ 85 w 85"/>
                  <a:gd name="T5" fmla="*/ 0 h 85"/>
                  <a:gd name="T6" fmla="*/ 0 w 85"/>
                  <a:gd name="T7" fmla="*/ 0 h 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5" h="85">
                    <a:moveTo>
                      <a:pt x="0" y="0"/>
                    </a:moveTo>
                    <a:lnTo>
                      <a:pt x="43" y="85"/>
                    </a:lnTo>
                    <a:lnTo>
                      <a:pt x="85"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8" name="Rectangle 14"/>
            <p:cNvSpPr>
              <a:spLocks noChangeArrowheads="1"/>
            </p:cNvSpPr>
            <p:nvPr/>
          </p:nvSpPr>
          <p:spPr bwMode="auto">
            <a:xfrm>
              <a:off x="1248" y="2160"/>
              <a:ext cx="384"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eaLnBrk="0" hangingPunct="0">
                <a:spcBef>
                  <a:spcPct val="20000"/>
                </a:spcBef>
                <a:buChar char="•"/>
                <a:defRPr sz="3200">
                  <a:solidFill>
                    <a:schemeClr val="tx1"/>
                  </a:solidFill>
                  <a:latin typeface="Arial" pitchFamily="34" charset="0"/>
                  <a:ea typeface="宋体" pitchFamily="2" charset="-122"/>
                </a:defRPr>
              </a:lvl1pPr>
              <a:lvl2pPr marL="742950" indent="-285750" algn="l" eaLnBrk="0" hangingPunct="0">
                <a:spcBef>
                  <a:spcPct val="20000"/>
                </a:spcBef>
                <a:buChar char="–"/>
                <a:defRPr sz="2800">
                  <a:solidFill>
                    <a:schemeClr val="tx1"/>
                  </a:solidFill>
                  <a:latin typeface="Arial" pitchFamily="34" charset="0"/>
                  <a:ea typeface="宋体" pitchFamily="2" charset="-122"/>
                </a:defRPr>
              </a:lvl2pPr>
              <a:lvl3pPr marL="1143000" indent="-228600" algn="l" eaLnBrk="0" hangingPunct="0">
                <a:spcBef>
                  <a:spcPct val="20000"/>
                </a:spcBef>
                <a:buChar char="•"/>
                <a:defRPr sz="2400">
                  <a:solidFill>
                    <a:schemeClr val="tx1"/>
                  </a:solidFill>
                  <a:latin typeface="Arial" pitchFamily="34" charset="0"/>
                  <a:ea typeface="宋体" pitchFamily="2" charset="-122"/>
                </a:defRPr>
              </a:lvl3pPr>
              <a:lvl4pPr marL="1600200" indent="-228600" algn="l" eaLnBrk="0" hangingPunct="0">
                <a:spcBef>
                  <a:spcPct val="20000"/>
                </a:spcBef>
                <a:buChar char="–"/>
                <a:defRPr sz="2000">
                  <a:solidFill>
                    <a:schemeClr val="tx1"/>
                  </a:solidFill>
                  <a:latin typeface="Arial" pitchFamily="34" charset="0"/>
                  <a:ea typeface="宋体" pitchFamily="2" charset="-122"/>
                </a:defRPr>
              </a:lvl4pPr>
              <a:lvl5pPr marL="2057400" indent="-228600" algn="l"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kumimoji="1" lang="en-US" altLang="zh-CN" sz="2400" b="1" i="1">
                  <a:solidFill>
                    <a:schemeClr val="accent2"/>
                  </a:solidFill>
                  <a:latin typeface="Times New Roman" pitchFamily="18" charset="0"/>
                </a:rPr>
                <a:t>Fs</a:t>
              </a:r>
              <a:r>
                <a:rPr kumimoji="1" lang="en-US" altLang="zh-CN" sz="2400" b="1" baseline="20000">
                  <a:solidFill>
                    <a:srgbClr val="000000"/>
                  </a:solidFill>
                  <a:latin typeface="Times New Roman" pitchFamily="18" charset="0"/>
                </a:rPr>
                <a:t>(+)</a:t>
              </a:r>
            </a:p>
          </p:txBody>
        </p:sp>
        <p:sp>
          <p:nvSpPr>
            <p:cNvPr id="49" name="Oval 15"/>
            <p:cNvSpPr>
              <a:spLocks noChangeArrowheads="1"/>
            </p:cNvSpPr>
            <p:nvPr/>
          </p:nvSpPr>
          <p:spPr bwMode="auto">
            <a:xfrm>
              <a:off x="1872" y="2400"/>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sz="3200">
                  <a:solidFill>
                    <a:schemeClr val="tx1"/>
                  </a:solidFill>
                  <a:latin typeface="Arial" pitchFamily="34" charset="0"/>
                  <a:ea typeface="宋体" pitchFamily="2" charset="-122"/>
                </a:defRPr>
              </a:lvl1pPr>
              <a:lvl2pPr marL="742950" indent="-285750" algn="l" eaLnBrk="0" hangingPunct="0">
                <a:spcBef>
                  <a:spcPct val="20000"/>
                </a:spcBef>
                <a:buChar char="–"/>
                <a:defRPr sz="2800">
                  <a:solidFill>
                    <a:schemeClr val="tx1"/>
                  </a:solidFill>
                  <a:latin typeface="Arial" pitchFamily="34" charset="0"/>
                  <a:ea typeface="宋体" pitchFamily="2" charset="-122"/>
                </a:defRPr>
              </a:lvl2pPr>
              <a:lvl3pPr marL="1143000" indent="-228600" algn="l" eaLnBrk="0" hangingPunct="0">
                <a:spcBef>
                  <a:spcPct val="20000"/>
                </a:spcBef>
                <a:buChar char="•"/>
                <a:defRPr sz="2400">
                  <a:solidFill>
                    <a:schemeClr val="tx1"/>
                  </a:solidFill>
                  <a:latin typeface="Arial" pitchFamily="34" charset="0"/>
                  <a:ea typeface="宋体" pitchFamily="2" charset="-122"/>
                </a:defRPr>
              </a:lvl3pPr>
              <a:lvl4pPr marL="1600200" indent="-228600" algn="l" eaLnBrk="0" hangingPunct="0">
                <a:spcBef>
                  <a:spcPct val="20000"/>
                </a:spcBef>
                <a:buChar char="–"/>
                <a:defRPr sz="2000">
                  <a:solidFill>
                    <a:schemeClr val="tx1"/>
                  </a:solidFill>
                  <a:latin typeface="Arial" pitchFamily="34" charset="0"/>
                  <a:ea typeface="宋体" pitchFamily="2" charset="-122"/>
                </a:defRPr>
              </a:lvl4pPr>
              <a:lvl5pPr marL="2057400" indent="-228600" algn="l"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lgn="ctr" eaLnBrk="1" hangingPunct="1">
                <a:spcBef>
                  <a:spcPct val="0"/>
                </a:spcBef>
                <a:buFontTx/>
                <a:buNone/>
              </a:pPr>
              <a:endParaRPr lang="zh-CN" altLang="en-US" sz="1800"/>
            </a:p>
          </p:txBody>
        </p:sp>
      </p:grpSp>
      <p:grpSp>
        <p:nvGrpSpPr>
          <p:cNvPr id="54" name="Group 16"/>
          <p:cNvGrpSpPr>
            <a:grpSpLocks/>
          </p:cNvGrpSpPr>
          <p:nvPr/>
        </p:nvGrpSpPr>
        <p:grpSpPr bwMode="auto">
          <a:xfrm>
            <a:off x="5796136" y="5550619"/>
            <a:ext cx="2286000" cy="914400"/>
            <a:chOff x="2976" y="2208"/>
            <a:chExt cx="1440" cy="576"/>
          </a:xfrm>
        </p:grpSpPr>
        <p:sp>
          <p:nvSpPr>
            <p:cNvPr id="55" name="Rectangle 17"/>
            <p:cNvSpPr>
              <a:spLocks noChangeArrowheads="1"/>
            </p:cNvSpPr>
            <p:nvPr/>
          </p:nvSpPr>
          <p:spPr bwMode="auto">
            <a:xfrm>
              <a:off x="3456" y="2256"/>
              <a:ext cx="336" cy="528"/>
            </a:xfrm>
            <a:prstGeom prst="rect">
              <a:avLst/>
            </a:prstGeom>
            <a:solidFill>
              <a:schemeClr val="hlink"/>
            </a:solidFill>
            <a:ln w="9525">
              <a:solidFill>
                <a:schemeClr val="hlink"/>
              </a:solidFill>
              <a:miter lim="800000"/>
              <a:headEnd/>
              <a:tailEnd/>
            </a:ln>
          </p:spPr>
          <p:txBody>
            <a:bodyPr wrap="none" anchor="ctr"/>
            <a:lstStyle>
              <a:lvl1pPr algn="l" eaLnBrk="0" hangingPunct="0">
                <a:spcBef>
                  <a:spcPct val="20000"/>
                </a:spcBef>
                <a:buChar char="•"/>
                <a:defRPr sz="3200">
                  <a:solidFill>
                    <a:schemeClr val="tx1"/>
                  </a:solidFill>
                  <a:latin typeface="Arial" pitchFamily="34" charset="0"/>
                  <a:ea typeface="宋体" pitchFamily="2" charset="-122"/>
                </a:defRPr>
              </a:lvl1pPr>
              <a:lvl2pPr marL="742950" indent="-285750" algn="l" eaLnBrk="0" hangingPunct="0">
                <a:spcBef>
                  <a:spcPct val="20000"/>
                </a:spcBef>
                <a:buChar char="–"/>
                <a:defRPr sz="2800">
                  <a:solidFill>
                    <a:schemeClr val="tx1"/>
                  </a:solidFill>
                  <a:latin typeface="Arial" pitchFamily="34" charset="0"/>
                  <a:ea typeface="宋体" pitchFamily="2" charset="-122"/>
                </a:defRPr>
              </a:lvl2pPr>
              <a:lvl3pPr marL="1143000" indent="-228600" algn="l" eaLnBrk="0" hangingPunct="0">
                <a:spcBef>
                  <a:spcPct val="20000"/>
                </a:spcBef>
                <a:buChar char="•"/>
                <a:defRPr sz="2400">
                  <a:solidFill>
                    <a:schemeClr val="tx1"/>
                  </a:solidFill>
                  <a:latin typeface="Arial" pitchFamily="34" charset="0"/>
                  <a:ea typeface="宋体" pitchFamily="2" charset="-122"/>
                </a:defRPr>
              </a:lvl3pPr>
              <a:lvl4pPr marL="1600200" indent="-228600" algn="l" eaLnBrk="0" hangingPunct="0">
                <a:spcBef>
                  <a:spcPct val="20000"/>
                </a:spcBef>
                <a:buChar char="–"/>
                <a:defRPr sz="2000">
                  <a:solidFill>
                    <a:schemeClr val="tx1"/>
                  </a:solidFill>
                  <a:latin typeface="Arial" pitchFamily="34" charset="0"/>
                  <a:ea typeface="宋体" pitchFamily="2" charset="-122"/>
                </a:defRPr>
              </a:lvl4pPr>
              <a:lvl5pPr marL="2057400" indent="-228600" algn="l"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lgn="ctr" eaLnBrk="1" hangingPunct="1">
                <a:spcBef>
                  <a:spcPct val="0"/>
                </a:spcBef>
                <a:buFontTx/>
                <a:buNone/>
              </a:pPr>
              <a:endParaRPr lang="zh-CN" altLang="en-US" sz="1800"/>
            </a:p>
          </p:txBody>
        </p:sp>
        <p:sp>
          <p:nvSpPr>
            <p:cNvPr id="56" name="Rectangle 18"/>
            <p:cNvSpPr>
              <a:spLocks noChangeArrowheads="1"/>
            </p:cNvSpPr>
            <p:nvPr/>
          </p:nvSpPr>
          <p:spPr bwMode="auto">
            <a:xfrm>
              <a:off x="3936" y="2496"/>
              <a:ext cx="48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eaLnBrk="0" hangingPunct="0">
                <a:spcBef>
                  <a:spcPct val="20000"/>
                </a:spcBef>
                <a:buChar char="•"/>
                <a:defRPr sz="3200">
                  <a:solidFill>
                    <a:schemeClr val="tx1"/>
                  </a:solidFill>
                  <a:latin typeface="Arial" pitchFamily="34" charset="0"/>
                  <a:ea typeface="宋体" pitchFamily="2" charset="-122"/>
                </a:defRPr>
              </a:lvl1pPr>
              <a:lvl2pPr marL="742950" indent="-285750" algn="l" eaLnBrk="0" hangingPunct="0">
                <a:spcBef>
                  <a:spcPct val="20000"/>
                </a:spcBef>
                <a:buChar char="–"/>
                <a:defRPr sz="2800">
                  <a:solidFill>
                    <a:schemeClr val="tx1"/>
                  </a:solidFill>
                  <a:latin typeface="Arial" pitchFamily="34" charset="0"/>
                  <a:ea typeface="宋体" pitchFamily="2" charset="-122"/>
                </a:defRPr>
              </a:lvl2pPr>
              <a:lvl3pPr marL="1143000" indent="-228600" algn="l" eaLnBrk="0" hangingPunct="0">
                <a:spcBef>
                  <a:spcPct val="20000"/>
                </a:spcBef>
                <a:buChar char="•"/>
                <a:defRPr sz="2400">
                  <a:solidFill>
                    <a:schemeClr val="tx1"/>
                  </a:solidFill>
                  <a:latin typeface="Arial" pitchFamily="34" charset="0"/>
                  <a:ea typeface="宋体" pitchFamily="2" charset="-122"/>
                </a:defRPr>
              </a:lvl3pPr>
              <a:lvl4pPr marL="1600200" indent="-228600" algn="l" eaLnBrk="0" hangingPunct="0">
                <a:spcBef>
                  <a:spcPct val="20000"/>
                </a:spcBef>
                <a:buChar char="–"/>
                <a:defRPr sz="2000">
                  <a:solidFill>
                    <a:schemeClr val="tx1"/>
                  </a:solidFill>
                  <a:latin typeface="Arial" pitchFamily="34" charset="0"/>
                  <a:ea typeface="宋体" pitchFamily="2" charset="-122"/>
                </a:defRPr>
              </a:lvl4pPr>
              <a:lvl5pPr marL="2057400" indent="-228600" algn="l"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kumimoji="1" lang="en-US" altLang="zh-CN" sz="2400" b="1" i="1">
                  <a:solidFill>
                    <a:schemeClr val="accent2"/>
                  </a:solidFill>
                  <a:latin typeface="Times New Roman" pitchFamily="18" charset="0"/>
                </a:rPr>
                <a:t>Fs</a:t>
              </a:r>
              <a:r>
                <a:rPr kumimoji="1" lang="en-US" altLang="zh-CN" sz="2400" b="1">
                  <a:solidFill>
                    <a:srgbClr val="000000"/>
                  </a:solidFill>
                  <a:latin typeface="Times New Roman" pitchFamily="18" charset="0"/>
                </a:rPr>
                <a:t>(–)</a:t>
              </a:r>
            </a:p>
          </p:txBody>
        </p:sp>
        <p:grpSp>
          <p:nvGrpSpPr>
            <p:cNvPr id="57" name="Group 19"/>
            <p:cNvGrpSpPr>
              <a:grpSpLocks/>
            </p:cNvGrpSpPr>
            <p:nvPr/>
          </p:nvGrpSpPr>
          <p:grpSpPr bwMode="auto">
            <a:xfrm flipV="1">
              <a:off x="3792" y="2352"/>
              <a:ext cx="110" cy="357"/>
              <a:chOff x="2098" y="2299"/>
              <a:chExt cx="85" cy="266"/>
            </a:xfrm>
          </p:grpSpPr>
          <p:sp>
            <p:nvSpPr>
              <p:cNvPr id="63" name="Rectangle 20"/>
              <p:cNvSpPr>
                <a:spLocks noChangeArrowheads="1"/>
              </p:cNvSpPr>
              <p:nvPr/>
            </p:nvSpPr>
            <p:spPr bwMode="auto">
              <a:xfrm>
                <a:off x="2123" y="2299"/>
                <a:ext cx="36" cy="18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har char="•"/>
                  <a:defRPr sz="3200">
                    <a:solidFill>
                      <a:schemeClr val="tx1"/>
                    </a:solidFill>
                    <a:latin typeface="Arial" pitchFamily="34" charset="0"/>
                    <a:ea typeface="宋体" pitchFamily="2" charset="-122"/>
                  </a:defRPr>
                </a:lvl1pPr>
                <a:lvl2pPr marL="742950" indent="-285750" algn="l" eaLnBrk="0" hangingPunct="0">
                  <a:spcBef>
                    <a:spcPct val="20000"/>
                  </a:spcBef>
                  <a:buChar char="–"/>
                  <a:defRPr sz="2800">
                    <a:solidFill>
                      <a:schemeClr val="tx1"/>
                    </a:solidFill>
                    <a:latin typeface="Arial" pitchFamily="34" charset="0"/>
                    <a:ea typeface="宋体" pitchFamily="2" charset="-122"/>
                  </a:defRPr>
                </a:lvl2pPr>
                <a:lvl3pPr marL="1143000" indent="-228600" algn="l" eaLnBrk="0" hangingPunct="0">
                  <a:spcBef>
                    <a:spcPct val="20000"/>
                  </a:spcBef>
                  <a:buChar char="•"/>
                  <a:defRPr sz="2400">
                    <a:solidFill>
                      <a:schemeClr val="tx1"/>
                    </a:solidFill>
                    <a:latin typeface="Arial" pitchFamily="34" charset="0"/>
                    <a:ea typeface="宋体" pitchFamily="2" charset="-122"/>
                  </a:defRPr>
                </a:lvl3pPr>
                <a:lvl4pPr marL="1600200" indent="-228600" algn="l" eaLnBrk="0" hangingPunct="0">
                  <a:spcBef>
                    <a:spcPct val="20000"/>
                  </a:spcBef>
                  <a:buChar char="–"/>
                  <a:defRPr sz="2000">
                    <a:solidFill>
                      <a:schemeClr val="tx1"/>
                    </a:solidFill>
                    <a:latin typeface="Arial" pitchFamily="34" charset="0"/>
                    <a:ea typeface="宋体" pitchFamily="2" charset="-122"/>
                  </a:defRPr>
                </a:lvl4pPr>
                <a:lvl5pPr marL="2057400" indent="-228600" algn="l"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lgn="ctr" eaLnBrk="1" hangingPunct="1">
                  <a:spcBef>
                    <a:spcPct val="0"/>
                  </a:spcBef>
                  <a:buFontTx/>
                  <a:buNone/>
                </a:pPr>
                <a:endParaRPr lang="zh-CN" altLang="en-US" sz="1800"/>
              </a:p>
            </p:txBody>
          </p:sp>
          <p:sp>
            <p:nvSpPr>
              <p:cNvPr id="64" name="Freeform 21"/>
              <p:cNvSpPr>
                <a:spLocks/>
              </p:cNvSpPr>
              <p:nvPr/>
            </p:nvSpPr>
            <p:spPr bwMode="auto">
              <a:xfrm>
                <a:off x="2098" y="2480"/>
                <a:ext cx="85" cy="85"/>
              </a:xfrm>
              <a:custGeom>
                <a:avLst/>
                <a:gdLst>
                  <a:gd name="T0" fmla="*/ 0 w 85"/>
                  <a:gd name="T1" fmla="*/ 0 h 85"/>
                  <a:gd name="T2" fmla="*/ 43 w 85"/>
                  <a:gd name="T3" fmla="*/ 85 h 85"/>
                  <a:gd name="T4" fmla="*/ 85 w 85"/>
                  <a:gd name="T5" fmla="*/ 0 h 85"/>
                  <a:gd name="T6" fmla="*/ 0 w 85"/>
                  <a:gd name="T7" fmla="*/ 0 h 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5" h="85">
                    <a:moveTo>
                      <a:pt x="0" y="0"/>
                    </a:moveTo>
                    <a:lnTo>
                      <a:pt x="43" y="85"/>
                    </a:lnTo>
                    <a:lnTo>
                      <a:pt x="85"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58" name="Group 22"/>
            <p:cNvGrpSpPr>
              <a:grpSpLocks/>
            </p:cNvGrpSpPr>
            <p:nvPr/>
          </p:nvGrpSpPr>
          <p:grpSpPr bwMode="auto">
            <a:xfrm>
              <a:off x="3346" y="2352"/>
              <a:ext cx="110" cy="357"/>
              <a:chOff x="2098" y="2299"/>
              <a:chExt cx="85" cy="266"/>
            </a:xfrm>
          </p:grpSpPr>
          <p:sp>
            <p:nvSpPr>
              <p:cNvPr id="61" name="Rectangle 23"/>
              <p:cNvSpPr>
                <a:spLocks noChangeArrowheads="1"/>
              </p:cNvSpPr>
              <p:nvPr/>
            </p:nvSpPr>
            <p:spPr bwMode="auto">
              <a:xfrm>
                <a:off x="2123" y="2299"/>
                <a:ext cx="36" cy="18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har char="•"/>
                  <a:defRPr sz="3200">
                    <a:solidFill>
                      <a:schemeClr val="tx1"/>
                    </a:solidFill>
                    <a:latin typeface="Arial" pitchFamily="34" charset="0"/>
                    <a:ea typeface="宋体" pitchFamily="2" charset="-122"/>
                  </a:defRPr>
                </a:lvl1pPr>
                <a:lvl2pPr marL="742950" indent="-285750" algn="l" eaLnBrk="0" hangingPunct="0">
                  <a:spcBef>
                    <a:spcPct val="20000"/>
                  </a:spcBef>
                  <a:buChar char="–"/>
                  <a:defRPr sz="2800">
                    <a:solidFill>
                      <a:schemeClr val="tx1"/>
                    </a:solidFill>
                    <a:latin typeface="Arial" pitchFamily="34" charset="0"/>
                    <a:ea typeface="宋体" pitchFamily="2" charset="-122"/>
                  </a:defRPr>
                </a:lvl2pPr>
                <a:lvl3pPr marL="1143000" indent="-228600" algn="l" eaLnBrk="0" hangingPunct="0">
                  <a:spcBef>
                    <a:spcPct val="20000"/>
                  </a:spcBef>
                  <a:buChar char="•"/>
                  <a:defRPr sz="2400">
                    <a:solidFill>
                      <a:schemeClr val="tx1"/>
                    </a:solidFill>
                    <a:latin typeface="Arial" pitchFamily="34" charset="0"/>
                    <a:ea typeface="宋体" pitchFamily="2" charset="-122"/>
                  </a:defRPr>
                </a:lvl3pPr>
                <a:lvl4pPr marL="1600200" indent="-228600" algn="l" eaLnBrk="0" hangingPunct="0">
                  <a:spcBef>
                    <a:spcPct val="20000"/>
                  </a:spcBef>
                  <a:buChar char="–"/>
                  <a:defRPr sz="2000">
                    <a:solidFill>
                      <a:schemeClr val="tx1"/>
                    </a:solidFill>
                    <a:latin typeface="Arial" pitchFamily="34" charset="0"/>
                    <a:ea typeface="宋体" pitchFamily="2" charset="-122"/>
                  </a:defRPr>
                </a:lvl4pPr>
                <a:lvl5pPr marL="2057400" indent="-228600" algn="l"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lgn="ctr" eaLnBrk="1" hangingPunct="1">
                  <a:spcBef>
                    <a:spcPct val="0"/>
                  </a:spcBef>
                  <a:buFontTx/>
                  <a:buNone/>
                </a:pPr>
                <a:endParaRPr lang="zh-CN" altLang="en-US" sz="1800"/>
              </a:p>
            </p:txBody>
          </p:sp>
          <p:sp>
            <p:nvSpPr>
              <p:cNvPr id="62" name="Freeform 24"/>
              <p:cNvSpPr>
                <a:spLocks/>
              </p:cNvSpPr>
              <p:nvPr/>
            </p:nvSpPr>
            <p:spPr bwMode="auto">
              <a:xfrm>
                <a:off x="2098" y="2480"/>
                <a:ext cx="85" cy="85"/>
              </a:xfrm>
              <a:custGeom>
                <a:avLst/>
                <a:gdLst>
                  <a:gd name="T0" fmla="*/ 0 w 85"/>
                  <a:gd name="T1" fmla="*/ 0 h 85"/>
                  <a:gd name="T2" fmla="*/ 43 w 85"/>
                  <a:gd name="T3" fmla="*/ 85 h 85"/>
                  <a:gd name="T4" fmla="*/ 85 w 85"/>
                  <a:gd name="T5" fmla="*/ 0 h 85"/>
                  <a:gd name="T6" fmla="*/ 0 w 85"/>
                  <a:gd name="T7" fmla="*/ 0 h 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5" h="85">
                    <a:moveTo>
                      <a:pt x="0" y="0"/>
                    </a:moveTo>
                    <a:lnTo>
                      <a:pt x="43" y="85"/>
                    </a:lnTo>
                    <a:lnTo>
                      <a:pt x="85"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59" name="Rectangle 25"/>
            <p:cNvSpPr>
              <a:spLocks noChangeArrowheads="1"/>
            </p:cNvSpPr>
            <p:nvPr/>
          </p:nvSpPr>
          <p:spPr bwMode="auto">
            <a:xfrm>
              <a:off x="2976" y="2208"/>
              <a:ext cx="48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eaLnBrk="0" hangingPunct="0">
                <a:spcBef>
                  <a:spcPct val="20000"/>
                </a:spcBef>
                <a:buChar char="•"/>
                <a:defRPr sz="3200">
                  <a:solidFill>
                    <a:schemeClr val="tx1"/>
                  </a:solidFill>
                  <a:latin typeface="Arial" pitchFamily="34" charset="0"/>
                  <a:ea typeface="宋体" pitchFamily="2" charset="-122"/>
                </a:defRPr>
              </a:lvl1pPr>
              <a:lvl2pPr marL="742950" indent="-285750" algn="l" eaLnBrk="0" hangingPunct="0">
                <a:spcBef>
                  <a:spcPct val="20000"/>
                </a:spcBef>
                <a:buChar char="–"/>
                <a:defRPr sz="2800">
                  <a:solidFill>
                    <a:schemeClr val="tx1"/>
                  </a:solidFill>
                  <a:latin typeface="Arial" pitchFamily="34" charset="0"/>
                  <a:ea typeface="宋体" pitchFamily="2" charset="-122"/>
                </a:defRPr>
              </a:lvl2pPr>
              <a:lvl3pPr marL="1143000" indent="-228600" algn="l" eaLnBrk="0" hangingPunct="0">
                <a:spcBef>
                  <a:spcPct val="20000"/>
                </a:spcBef>
                <a:buChar char="•"/>
                <a:defRPr sz="2400">
                  <a:solidFill>
                    <a:schemeClr val="tx1"/>
                  </a:solidFill>
                  <a:latin typeface="Arial" pitchFamily="34" charset="0"/>
                  <a:ea typeface="宋体" pitchFamily="2" charset="-122"/>
                </a:defRPr>
              </a:lvl3pPr>
              <a:lvl4pPr marL="1600200" indent="-228600" algn="l" eaLnBrk="0" hangingPunct="0">
                <a:spcBef>
                  <a:spcPct val="20000"/>
                </a:spcBef>
                <a:buChar char="–"/>
                <a:defRPr sz="2000">
                  <a:solidFill>
                    <a:schemeClr val="tx1"/>
                  </a:solidFill>
                  <a:latin typeface="Arial" pitchFamily="34" charset="0"/>
                  <a:ea typeface="宋体" pitchFamily="2" charset="-122"/>
                </a:defRPr>
              </a:lvl4pPr>
              <a:lvl5pPr marL="2057400" indent="-228600" algn="l"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kumimoji="1" lang="en-US" altLang="zh-CN" sz="2400" b="1" i="1">
                  <a:solidFill>
                    <a:schemeClr val="accent2"/>
                  </a:solidFill>
                  <a:latin typeface="Times New Roman" pitchFamily="18" charset="0"/>
                </a:rPr>
                <a:t>Fs</a:t>
              </a:r>
              <a:r>
                <a:rPr kumimoji="1" lang="en-US" altLang="zh-CN" sz="2400" b="1">
                  <a:solidFill>
                    <a:srgbClr val="000000"/>
                  </a:solidFill>
                  <a:latin typeface="Times New Roman" pitchFamily="18" charset="0"/>
                </a:rPr>
                <a:t>(–)</a:t>
              </a:r>
            </a:p>
          </p:txBody>
        </p:sp>
        <p:sp>
          <p:nvSpPr>
            <p:cNvPr id="60" name="Oval 26"/>
            <p:cNvSpPr>
              <a:spLocks noChangeArrowheads="1"/>
            </p:cNvSpPr>
            <p:nvPr/>
          </p:nvSpPr>
          <p:spPr bwMode="auto">
            <a:xfrm>
              <a:off x="3600" y="2448"/>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sz="3200">
                  <a:solidFill>
                    <a:schemeClr val="tx1"/>
                  </a:solidFill>
                  <a:latin typeface="Arial" pitchFamily="34" charset="0"/>
                  <a:ea typeface="宋体" pitchFamily="2" charset="-122"/>
                </a:defRPr>
              </a:lvl1pPr>
              <a:lvl2pPr marL="742950" indent="-285750" algn="l" eaLnBrk="0" hangingPunct="0">
                <a:spcBef>
                  <a:spcPct val="20000"/>
                </a:spcBef>
                <a:buChar char="–"/>
                <a:defRPr sz="2800">
                  <a:solidFill>
                    <a:schemeClr val="tx1"/>
                  </a:solidFill>
                  <a:latin typeface="Arial" pitchFamily="34" charset="0"/>
                  <a:ea typeface="宋体" pitchFamily="2" charset="-122"/>
                </a:defRPr>
              </a:lvl2pPr>
              <a:lvl3pPr marL="1143000" indent="-228600" algn="l" eaLnBrk="0" hangingPunct="0">
                <a:spcBef>
                  <a:spcPct val="20000"/>
                </a:spcBef>
                <a:buChar char="•"/>
                <a:defRPr sz="2400">
                  <a:solidFill>
                    <a:schemeClr val="tx1"/>
                  </a:solidFill>
                  <a:latin typeface="Arial" pitchFamily="34" charset="0"/>
                  <a:ea typeface="宋体" pitchFamily="2" charset="-122"/>
                </a:defRPr>
              </a:lvl3pPr>
              <a:lvl4pPr marL="1600200" indent="-228600" algn="l" eaLnBrk="0" hangingPunct="0">
                <a:spcBef>
                  <a:spcPct val="20000"/>
                </a:spcBef>
                <a:buChar char="–"/>
                <a:defRPr sz="2000">
                  <a:solidFill>
                    <a:schemeClr val="tx1"/>
                  </a:solidFill>
                  <a:latin typeface="Arial" pitchFamily="34" charset="0"/>
                  <a:ea typeface="宋体" pitchFamily="2" charset="-122"/>
                </a:defRPr>
              </a:lvl4pPr>
              <a:lvl5pPr marL="2057400" indent="-228600" algn="l"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lgn="ctr" eaLnBrk="1" hangingPunct="1">
                <a:spcBef>
                  <a:spcPct val="0"/>
                </a:spcBef>
                <a:buFontTx/>
                <a:buNone/>
              </a:pPr>
              <a:endParaRPr lang="zh-CN" altLang="en-US" sz="1800"/>
            </a:p>
          </p:txBody>
        </p:sp>
      </p:grpSp>
      <p:sp>
        <p:nvSpPr>
          <p:cNvPr id="27" name="Rectangle 5"/>
          <p:cNvSpPr>
            <a:spLocks noChangeArrowheads="1"/>
          </p:cNvSpPr>
          <p:nvPr/>
        </p:nvSpPr>
        <p:spPr bwMode="auto">
          <a:xfrm>
            <a:off x="526114" y="121188"/>
            <a:ext cx="3600450" cy="461665"/>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har char="•"/>
              <a:defRPr sz="3200">
                <a:solidFill>
                  <a:schemeClr val="tx1"/>
                </a:solidFill>
                <a:latin typeface="Arial" pitchFamily="34" charset="0"/>
                <a:ea typeface="宋体" pitchFamily="2" charset="-122"/>
              </a:defRPr>
            </a:lvl1pPr>
            <a:lvl2pPr marL="742950" indent="-285750" algn="l" eaLnBrk="0" hangingPunct="0">
              <a:spcBef>
                <a:spcPct val="20000"/>
              </a:spcBef>
              <a:buChar char="–"/>
              <a:defRPr sz="2800">
                <a:solidFill>
                  <a:schemeClr val="tx1"/>
                </a:solidFill>
                <a:latin typeface="Arial" pitchFamily="34" charset="0"/>
                <a:ea typeface="宋体" pitchFamily="2" charset="-122"/>
              </a:defRPr>
            </a:lvl2pPr>
            <a:lvl3pPr marL="1143000" indent="-228600" algn="l" eaLnBrk="0" hangingPunct="0">
              <a:spcBef>
                <a:spcPct val="20000"/>
              </a:spcBef>
              <a:buChar char="•"/>
              <a:defRPr sz="2400">
                <a:solidFill>
                  <a:schemeClr val="tx1"/>
                </a:solidFill>
                <a:latin typeface="Arial" pitchFamily="34" charset="0"/>
                <a:ea typeface="宋体" pitchFamily="2" charset="-122"/>
              </a:defRPr>
            </a:lvl3pPr>
            <a:lvl4pPr marL="1600200" indent="-228600" algn="l" eaLnBrk="0" hangingPunct="0">
              <a:spcBef>
                <a:spcPct val="20000"/>
              </a:spcBef>
              <a:buChar char="–"/>
              <a:defRPr sz="2000">
                <a:solidFill>
                  <a:schemeClr val="tx1"/>
                </a:solidFill>
                <a:latin typeface="Arial" pitchFamily="34" charset="0"/>
                <a:ea typeface="宋体" pitchFamily="2" charset="-122"/>
              </a:defRPr>
            </a:lvl4pPr>
            <a:lvl5pPr marL="2057400" indent="-228600" algn="l"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lgn="ctr" eaLnBrk="1" hangingPunct="1">
              <a:spcBef>
                <a:spcPct val="0"/>
              </a:spcBef>
              <a:buFontTx/>
              <a:buNone/>
            </a:pPr>
            <a:r>
              <a:rPr kumimoji="1" lang="zh-CN" altLang="en-US" sz="2400" b="1" dirty="0">
                <a:solidFill>
                  <a:srgbClr val="FF0000"/>
                </a:solidFill>
                <a:latin typeface="楷体" pitchFamily="49" charset="-122"/>
                <a:ea typeface="楷体" pitchFamily="49" charset="-122"/>
              </a:rPr>
              <a:t>第五章 梁的内力</a:t>
            </a:r>
          </a:p>
        </p:txBody>
      </p:sp>
      <p:sp>
        <p:nvSpPr>
          <p:cNvPr id="28" name="Text Box 2"/>
          <p:cNvSpPr txBox="1">
            <a:spLocks noChangeArrowheads="1"/>
          </p:cNvSpPr>
          <p:nvPr/>
        </p:nvSpPr>
        <p:spPr bwMode="auto">
          <a:xfrm>
            <a:off x="509735" y="816059"/>
            <a:ext cx="8068065" cy="1200329"/>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l" eaLnBrk="0" hangingPunct="0">
              <a:spcBef>
                <a:spcPct val="20000"/>
              </a:spcBef>
              <a:buChar char="•"/>
              <a:defRPr sz="3200">
                <a:solidFill>
                  <a:schemeClr val="tx1"/>
                </a:solidFill>
                <a:latin typeface="Arial" pitchFamily="34" charset="0"/>
                <a:ea typeface="宋体" pitchFamily="2" charset="-122"/>
              </a:defRPr>
            </a:lvl1pPr>
            <a:lvl2pPr marL="742950" indent="-285750" algn="l" eaLnBrk="0" hangingPunct="0">
              <a:spcBef>
                <a:spcPct val="20000"/>
              </a:spcBef>
              <a:buChar char="–"/>
              <a:defRPr sz="2800">
                <a:solidFill>
                  <a:schemeClr val="tx1"/>
                </a:solidFill>
                <a:latin typeface="Arial" pitchFamily="34" charset="0"/>
                <a:ea typeface="宋体" pitchFamily="2" charset="-122"/>
              </a:defRPr>
            </a:lvl2pPr>
            <a:lvl3pPr marL="1143000" indent="-228600" algn="l" eaLnBrk="0" hangingPunct="0">
              <a:spcBef>
                <a:spcPct val="20000"/>
              </a:spcBef>
              <a:buChar char="•"/>
              <a:defRPr sz="2400">
                <a:solidFill>
                  <a:schemeClr val="tx1"/>
                </a:solidFill>
                <a:latin typeface="Arial" pitchFamily="34" charset="0"/>
                <a:ea typeface="宋体" pitchFamily="2" charset="-122"/>
              </a:defRPr>
            </a:lvl3pPr>
            <a:lvl4pPr marL="1600200" indent="-228600" algn="l" eaLnBrk="0" hangingPunct="0">
              <a:spcBef>
                <a:spcPct val="20000"/>
              </a:spcBef>
              <a:buChar char="–"/>
              <a:defRPr sz="2000">
                <a:solidFill>
                  <a:schemeClr val="tx1"/>
                </a:solidFill>
                <a:latin typeface="Arial" pitchFamily="34" charset="0"/>
                <a:ea typeface="宋体" pitchFamily="2" charset="-122"/>
              </a:defRPr>
            </a:lvl4pPr>
            <a:lvl5pPr marL="2057400" indent="-228600" algn="l"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lgn="just" eaLnBrk="1" hangingPunct="1">
              <a:spcBef>
                <a:spcPct val="0"/>
              </a:spcBef>
              <a:buFontTx/>
              <a:buNone/>
            </a:pPr>
            <a:r>
              <a:rPr kumimoji="1" lang="zh-CN" altLang="en-US" sz="2400" b="1" dirty="0">
                <a:solidFill>
                  <a:srgbClr val="0000FF"/>
                </a:solidFill>
                <a:latin typeface="黑体" panose="02010609060101010101" pitchFamily="49" charset="-122"/>
                <a:ea typeface="黑体" panose="02010609060101010101" pitchFamily="49" charset="-122"/>
              </a:rPr>
              <a:t>受力特点</a:t>
            </a:r>
            <a:r>
              <a:rPr kumimoji="1" lang="en-US" altLang="zh-CN" sz="2400" b="1" dirty="0">
                <a:solidFill>
                  <a:srgbClr val="0000FF"/>
                </a:solidFill>
                <a:latin typeface="黑体" panose="02010609060101010101" pitchFamily="49" charset="-122"/>
                <a:ea typeface="黑体" panose="02010609060101010101" pitchFamily="49" charset="-122"/>
              </a:rPr>
              <a:t>——</a:t>
            </a:r>
            <a:r>
              <a:rPr kumimoji="1" lang="zh-CN" altLang="en-US" sz="2400" b="1" dirty="0">
                <a:solidFill>
                  <a:srgbClr val="0000FF"/>
                </a:solidFill>
                <a:latin typeface="黑体" panose="02010609060101010101" pitchFamily="49" charset="-122"/>
                <a:ea typeface="黑体" panose="02010609060101010101" pitchFamily="49" charset="-122"/>
              </a:rPr>
              <a:t>作用于杆件上的外力都</a:t>
            </a:r>
            <a:r>
              <a:rPr kumimoji="1" lang="zh-CN" altLang="en-US" sz="2400" b="1" dirty="0">
                <a:solidFill>
                  <a:srgbClr val="FF0000"/>
                </a:solidFill>
                <a:latin typeface="黑体" panose="02010609060101010101" pitchFamily="49" charset="-122"/>
                <a:ea typeface="黑体" panose="02010609060101010101" pitchFamily="49" charset="-122"/>
              </a:rPr>
              <a:t>垂直</a:t>
            </a:r>
            <a:r>
              <a:rPr kumimoji="1" lang="zh-CN" altLang="en-US" sz="2400" b="1" dirty="0">
                <a:solidFill>
                  <a:srgbClr val="0000FF"/>
                </a:solidFill>
                <a:latin typeface="黑体" panose="02010609060101010101" pitchFamily="49" charset="-122"/>
                <a:ea typeface="黑体" panose="02010609060101010101" pitchFamily="49" charset="-122"/>
              </a:rPr>
              <a:t>于杆的轴线，且都在梁的</a:t>
            </a:r>
            <a:r>
              <a:rPr kumimoji="1" lang="zh-CN" altLang="en-US" sz="2400" b="1" dirty="0">
                <a:solidFill>
                  <a:srgbClr val="FF0000"/>
                </a:solidFill>
                <a:latin typeface="黑体" panose="02010609060101010101" pitchFamily="49" charset="-122"/>
                <a:ea typeface="黑体" panose="02010609060101010101" pitchFamily="49" charset="-122"/>
              </a:rPr>
              <a:t>纵向对称平面内</a:t>
            </a:r>
            <a:r>
              <a:rPr kumimoji="1" lang="zh-CN" altLang="en-US" sz="2400" b="1" dirty="0">
                <a:solidFill>
                  <a:srgbClr val="0000FF"/>
                </a:solidFill>
                <a:latin typeface="黑体" panose="02010609060101010101" pitchFamily="49" charset="-122"/>
                <a:ea typeface="黑体" panose="02010609060101010101" pitchFamily="49" charset="-122"/>
              </a:rPr>
              <a:t>（通过或平行形心主轴上且过弯曲中心）。</a:t>
            </a:r>
          </a:p>
        </p:txBody>
      </p:sp>
      <p:sp>
        <p:nvSpPr>
          <p:cNvPr id="29" name="Text Box 3"/>
          <p:cNvSpPr txBox="1">
            <a:spLocks noChangeArrowheads="1"/>
          </p:cNvSpPr>
          <p:nvPr/>
        </p:nvSpPr>
        <p:spPr bwMode="auto">
          <a:xfrm>
            <a:off x="509736" y="2204864"/>
            <a:ext cx="8068064" cy="830997"/>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l" eaLnBrk="0" hangingPunct="0">
              <a:spcBef>
                <a:spcPct val="20000"/>
              </a:spcBef>
              <a:buChar char="•"/>
              <a:defRPr sz="3200">
                <a:solidFill>
                  <a:schemeClr val="tx1"/>
                </a:solidFill>
                <a:latin typeface="Arial" pitchFamily="34" charset="0"/>
                <a:ea typeface="宋体" pitchFamily="2" charset="-122"/>
              </a:defRPr>
            </a:lvl1pPr>
            <a:lvl2pPr marL="742950" indent="-285750" algn="l" eaLnBrk="0" hangingPunct="0">
              <a:spcBef>
                <a:spcPct val="20000"/>
              </a:spcBef>
              <a:buChar char="–"/>
              <a:defRPr sz="2800">
                <a:solidFill>
                  <a:schemeClr val="tx1"/>
                </a:solidFill>
                <a:latin typeface="Arial" pitchFamily="34" charset="0"/>
                <a:ea typeface="宋体" pitchFamily="2" charset="-122"/>
              </a:defRPr>
            </a:lvl2pPr>
            <a:lvl3pPr marL="1143000" indent="-228600" algn="l" eaLnBrk="0" hangingPunct="0">
              <a:spcBef>
                <a:spcPct val="20000"/>
              </a:spcBef>
              <a:buChar char="•"/>
              <a:defRPr sz="2400">
                <a:solidFill>
                  <a:schemeClr val="tx1"/>
                </a:solidFill>
                <a:latin typeface="Arial" pitchFamily="34" charset="0"/>
                <a:ea typeface="宋体" pitchFamily="2" charset="-122"/>
              </a:defRPr>
            </a:lvl3pPr>
            <a:lvl4pPr marL="1600200" indent="-228600" algn="l" eaLnBrk="0" hangingPunct="0">
              <a:spcBef>
                <a:spcPct val="20000"/>
              </a:spcBef>
              <a:buChar char="–"/>
              <a:defRPr sz="2000">
                <a:solidFill>
                  <a:schemeClr val="tx1"/>
                </a:solidFill>
                <a:latin typeface="Arial" pitchFamily="34" charset="0"/>
                <a:ea typeface="宋体" pitchFamily="2" charset="-122"/>
              </a:defRPr>
            </a:lvl4pPr>
            <a:lvl5pPr marL="2057400" indent="-228600" algn="l"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kumimoji="1" lang="zh-CN" altLang="en-US" sz="2400" b="1" dirty="0">
                <a:solidFill>
                  <a:srgbClr val="0000FF"/>
                </a:solidFill>
                <a:latin typeface="黑体" panose="02010609060101010101" pitchFamily="49" charset="-122"/>
                <a:ea typeface="黑体" panose="02010609060101010101" pitchFamily="49" charset="-122"/>
              </a:rPr>
              <a:t>变形特点</a:t>
            </a:r>
            <a:r>
              <a:rPr kumimoji="1" lang="en-US" altLang="zh-CN" sz="2400" b="1" dirty="0">
                <a:solidFill>
                  <a:srgbClr val="0000FF"/>
                </a:solidFill>
                <a:latin typeface="黑体" panose="02010609060101010101" pitchFamily="49" charset="-122"/>
                <a:ea typeface="黑体" panose="02010609060101010101" pitchFamily="49" charset="-122"/>
              </a:rPr>
              <a:t>——</a:t>
            </a:r>
            <a:r>
              <a:rPr kumimoji="1" lang="zh-CN" altLang="en-US" sz="2400" b="1" dirty="0">
                <a:solidFill>
                  <a:srgbClr val="0000FF"/>
                </a:solidFill>
                <a:latin typeface="黑体" panose="02010609060101010101" pitchFamily="49" charset="-122"/>
                <a:ea typeface="黑体" panose="02010609060101010101" pitchFamily="49" charset="-122"/>
              </a:rPr>
              <a:t>杆的轴线在梁的纵向对称面内由</a:t>
            </a:r>
            <a:r>
              <a:rPr kumimoji="1" lang="zh-CN" altLang="en-US" sz="2400" b="1" dirty="0">
                <a:solidFill>
                  <a:srgbClr val="FF0000"/>
                </a:solidFill>
                <a:latin typeface="黑体" panose="02010609060101010101" pitchFamily="49" charset="-122"/>
                <a:ea typeface="黑体" panose="02010609060101010101" pitchFamily="49" charset="-122"/>
              </a:rPr>
              <a:t>直线</a:t>
            </a:r>
            <a:r>
              <a:rPr kumimoji="1" lang="zh-CN" altLang="en-US" sz="2400" b="1" dirty="0">
                <a:solidFill>
                  <a:srgbClr val="0000FF"/>
                </a:solidFill>
                <a:latin typeface="黑体" panose="02010609060101010101" pitchFamily="49" charset="-122"/>
                <a:ea typeface="黑体" panose="02010609060101010101" pitchFamily="49" charset="-122"/>
              </a:rPr>
              <a:t>变为一条平面</a:t>
            </a:r>
            <a:r>
              <a:rPr kumimoji="1" lang="zh-CN" altLang="en-US" sz="2400" b="1" dirty="0">
                <a:solidFill>
                  <a:srgbClr val="FF0000"/>
                </a:solidFill>
                <a:latin typeface="黑体" panose="02010609060101010101" pitchFamily="49" charset="-122"/>
                <a:ea typeface="黑体" panose="02010609060101010101" pitchFamily="49" charset="-122"/>
              </a:rPr>
              <a:t>曲线</a:t>
            </a:r>
            <a:r>
              <a:rPr kumimoji="1" lang="zh-CN" altLang="en-US" sz="2400" b="1" dirty="0">
                <a:solidFill>
                  <a:srgbClr val="0000FF"/>
                </a:solidFill>
                <a:latin typeface="黑体" panose="02010609060101010101" pitchFamily="49" charset="-122"/>
                <a:ea typeface="黑体" panose="02010609060101010101" pitchFamily="49" charset="-122"/>
              </a:rPr>
              <a:t>。</a:t>
            </a:r>
          </a:p>
        </p:txBody>
      </p:sp>
    </p:spTree>
    <p:extLst>
      <p:ext uri="{BB962C8B-B14F-4D97-AF65-F5344CB8AC3E}">
        <p14:creationId xmlns:p14="http://schemas.microsoft.com/office/powerpoint/2010/main" val="2708744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5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 calcmode="lin" valueType="num">
                                      <p:cBhvr additive="base">
                                        <p:cTn id="17" dur="500" fill="hold"/>
                                        <p:tgtEl>
                                          <p:spTgt spid="29"/>
                                        </p:tgtEl>
                                        <p:attrNameLst>
                                          <p:attrName>ppt_x</p:attrName>
                                        </p:attrNameLst>
                                      </p:cBhvr>
                                      <p:tavLst>
                                        <p:tav tm="0">
                                          <p:val>
                                            <p:strVal val="#ppt_x"/>
                                          </p:val>
                                        </p:tav>
                                        <p:tav tm="100000">
                                          <p:val>
                                            <p:strVal val="#ppt_x"/>
                                          </p:val>
                                        </p:tav>
                                      </p:tavLst>
                                    </p:anim>
                                    <p:anim calcmode="lin" valueType="num">
                                      <p:cBhvr additive="base">
                                        <p:cTn id="18"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iterate type="lt">
                                    <p:tmPct val="100000"/>
                                  </p:iterate>
                                  <p:childTnLst>
                                    <p:set>
                                      <p:cBhvr>
                                        <p:cTn id="22" dur="1" fill="hold">
                                          <p:stCondLst>
                                            <p:cond delay="0"/>
                                          </p:stCondLst>
                                        </p:cTn>
                                        <p:tgtEl>
                                          <p:spTgt spid="2"/>
                                        </p:tgtEl>
                                        <p:attrNameLst>
                                          <p:attrName>style.visibility</p:attrName>
                                        </p:attrNameLst>
                                      </p:cBhvr>
                                      <p:to>
                                        <p:strVal val="visible"/>
                                      </p:to>
                                    </p:set>
                                    <p:animEffect transition="in" filter="wipe(left)">
                                      <p:cBhvr>
                                        <p:cTn id="23" dur="75"/>
                                        <p:tgtEl>
                                          <p:spTgt spid="2"/>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iterate type="lt">
                                    <p:tmPct val="100000"/>
                                  </p:iterate>
                                  <p:childTnLst>
                                    <p:set>
                                      <p:cBhvr>
                                        <p:cTn id="27" dur="1" fill="hold">
                                          <p:stCondLst>
                                            <p:cond delay="0"/>
                                          </p:stCondLst>
                                        </p:cTn>
                                        <p:tgtEl>
                                          <p:spTgt spid="3"/>
                                        </p:tgtEl>
                                        <p:attrNameLst>
                                          <p:attrName>style.visibility</p:attrName>
                                        </p:attrNameLst>
                                      </p:cBhvr>
                                      <p:to>
                                        <p:strVal val="visible"/>
                                      </p:to>
                                    </p:set>
                                    <p:animEffect transition="in" filter="wipe(left)">
                                      <p:cBhvr>
                                        <p:cTn id="28" dur="75"/>
                                        <p:tgtEl>
                                          <p:spTgt spid="3"/>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iterate type="lt">
                                    <p:tmPct val="100000"/>
                                  </p:iterate>
                                  <p:childTnLst>
                                    <p:set>
                                      <p:cBhvr>
                                        <p:cTn id="32" dur="1" fill="hold">
                                          <p:stCondLst>
                                            <p:cond delay="0"/>
                                          </p:stCondLst>
                                        </p:cTn>
                                        <p:tgtEl>
                                          <p:spTgt spid="42"/>
                                        </p:tgtEl>
                                        <p:attrNameLst>
                                          <p:attrName>style.visibility</p:attrName>
                                        </p:attrNameLst>
                                      </p:cBhvr>
                                      <p:to>
                                        <p:strVal val="visible"/>
                                      </p:to>
                                    </p:set>
                                    <p:animEffect transition="in" filter="wipe(left)">
                                      <p:cBhvr>
                                        <p:cTn id="33" dur="75"/>
                                        <p:tgtEl>
                                          <p:spTgt spid="42"/>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43"/>
                                        </p:tgtEl>
                                        <p:attrNameLst>
                                          <p:attrName>style.visibility</p:attrName>
                                        </p:attrNameLst>
                                      </p:cBhvr>
                                      <p:to>
                                        <p:strVal val="visible"/>
                                      </p:to>
                                    </p:set>
                                    <p:anim calcmode="lin" valueType="num">
                                      <p:cBhvr additive="base">
                                        <p:cTn id="38" dur="500" fill="hold"/>
                                        <p:tgtEl>
                                          <p:spTgt spid="43"/>
                                        </p:tgtEl>
                                        <p:attrNameLst>
                                          <p:attrName>ppt_x</p:attrName>
                                        </p:attrNameLst>
                                      </p:cBhvr>
                                      <p:tavLst>
                                        <p:tav tm="0">
                                          <p:val>
                                            <p:strVal val="#ppt_x"/>
                                          </p:val>
                                        </p:tav>
                                        <p:tav tm="100000">
                                          <p:val>
                                            <p:strVal val="#ppt_x"/>
                                          </p:val>
                                        </p:tav>
                                      </p:tavLst>
                                    </p:anim>
                                    <p:anim calcmode="lin" valueType="num">
                                      <p:cBhvr additive="base">
                                        <p:cTn id="39"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nodeType="clickEffect">
                                  <p:stCondLst>
                                    <p:cond delay="0"/>
                                  </p:stCondLst>
                                  <p:childTnLst>
                                    <p:set>
                                      <p:cBhvr>
                                        <p:cTn id="43" dur="1" fill="hold">
                                          <p:stCondLst>
                                            <p:cond delay="0"/>
                                          </p:stCondLst>
                                        </p:cTn>
                                        <p:tgtEl>
                                          <p:spTgt spid="54"/>
                                        </p:tgtEl>
                                        <p:attrNameLst>
                                          <p:attrName>style.visibility</p:attrName>
                                        </p:attrNameLst>
                                      </p:cBhvr>
                                      <p:to>
                                        <p:strVal val="visible"/>
                                      </p:to>
                                    </p:set>
                                    <p:anim calcmode="lin" valueType="num">
                                      <p:cBhvr additive="base">
                                        <p:cTn id="44" dur="500" fill="hold"/>
                                        <p:tgtEl>
                                          <p:spTgt spid="54"/>
                                        </p:tgtEl>
                                        <p:attrNameLst>
                                          <p:attrName>ppt_x</p:attrName>
                                        </p:attrNameLst>
                                      </p:cBhvr>
                                      <p:tavLst>
                                        <p:tav tm="0">
                                          <p:val>
                                            <p:strVal val="#ppt_x"/>
                                          </p:val>
                                        </p:tav>
                                        <p:tav tm="100000">
                                          <p:val>
                                            <p:strVal val="#ppt_x"/>
                                          </p:val>
                                        </p:tav>
                                      </p:tavLst>
                                    </p:anim>
                                    <p:anim calcmode="lin" valueType="num">
                                      <p:cBhvr additive="base">
                                        <p:cTn id="45" dur="500" fill="hold"/>
                                        <p:tgtEl>
                                          <p:spTgt spid="5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autoUpdateAnimBg="0"/>
      <p:bldP spid="3" grpId="0" animBg="1" autoUpdateAnimBg="0"/>
      <p:bldP spid="42" grpId="0" animBg="1" autoUpdateAnimBg="0"/>
      <p:bldP spid="27" grpId="0" animBg="1"/>
      <p:bldP spid="28"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p:cNvSpPr>
            <a:spLocks noChangeArrowheads="1"/>
          </p:cNvSpPr>
          <p:nvPr/>
        </p:nvSpPr>
        <p:spPr bwMode="auto">
          <a:xfrm>
            <a:off x="609601" y="411138"/>
            <a:ext cx="1226096" cy="419100"/>
          </a:xfrm>
          <a:prstGeom prst="rect">
            <a:avLst/>
          </a:prstGeom>
          <a:ln w="28575">
            <a:solidFill>
              <a:srgbClr val="FF0000"/>
            </a:solidFill>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2"/>
          </a:lnRef>
          <a:fillRef idx="1">
            <a:schemeClr val="lt1"/>
          </a:fillRef>
          <a:effectRef idx="0">
            <a:schemeClr val="accent2"/>
          </a:effectRef>
          <a:fontRef idx="minor">
            <a:schemeClr val="dk1"/>
          </a:fontRef>
        </p:style>
        <p:txBody>
          <a:bodyPr lIns="92075" tIns="46038" rIns="92075" bIns="46038" anchor="ctr"/>
          <a:lstStyle>
            <a:lvl1pPr algn="l" eaLnBrk="0" hangingPunct="0">
              <a:spcBef>
                <a:spcPct val="20000"/>
              </a:spcBef>
              <a:buChar char="•"/>
              <a:defRPr sz="3200">
                <a:solidFill>
                  <a:schemeClr val="tx1"/>
                </a:solidFill>
                <a:latin typeface="Arial" pitchFamily="34" charset="0"/>
                <a:ea typeface="宋体" pitchFamily="2" charset="-122"/>
              </a:defRPr>
            </a:lvl1pPr>
            <a:lvl2pPr marL="742950" indent="-285750" algn="l" eaLnBrk="0" hangingPunct="0">
              <a:spcBef>
                <a:spcPct val="20000"/>
              </a:spcBef>
              <a:buChar char="–"/>
              <a:defRPr sz="2800">
                <a:solidFill>
                  <a:schemeClr val="tx1"/>
                </a:solidFill>
                <a:latin typeface="Arial" pitchFamily="34" charset="0"/>
                <a:ea typeface="宋体" pitchFamily="2" charset="-122"/>
              </a:defRPr>
            </a:lvl2pPr>
            <a:lvl3pPr marL="1143000" indent="-228600" algn="l" eaLnBrk="0" hangingPunct="0">
              <a:spcBef>
                <a:spcPct val="20000"/>
              </a:spcBef>
              <a:buChar char="•"/>
              <a:defRPr sz="2400">
                <a:solidFill>
                  <a:schemeClr val="tx1"/>
                </a:solidFill>
                <a:latin typeface="Arial" pitchFamily="34" charset="0"/>
                <a:ea typeface="宋体" pitchFamily="2" charset="-122"/>
              </a:defRPr>
            </a:lvl3pPr>
            <a:lvl4pPr marL="1600200" indent="-228600" algn="l" eaLnBrk="0" hangingPunct="0">
              <a:spcBef>
                <a:spcPct val="20000"/>
              </a:spcBef>
              <a:buChar char="–"/>
              <a:defRPr sz="2000">
                <a:solidFill>
                  <a:schemeClr val="tx1"/>
                </a:solidFill>
                <a:latin typeface="Arial" pitchFamily="34" charset="0"/>
                <a:ea typeface="宋体" pitchFamily="2" charset="-122"/>
              </a:defRPr>
            </a:lvl4pPr>
            <a:lvl5pPr marL="2057400" indent="-228600" algn="l"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lang="zh-CN" altLang="en-US" sz="2400" b="1" dirty="0">
                <a:solidFill>
                  <a:srgbClr val="0000FF"/>
                </a:solidFill>
                <a:latin typeface="宋体" pitchFamily="2" charset="-122"/>
              </a:rPr>
              <a:t>弯矩</a:t>
            </a:r>
            <a:r>
              <a:rPr lang="en-US" altLang="zh-CN" sz="2400" b="1" i="1" dirty="0">
                <a:solidFill>
                  <a:srgbClr val="0000FF"/>
                </a:solidFill>
              </a:rPr>
              <a:t>M</a:t>
            </a:r>
            <a:endParaRPr lang="zh-CN" altLang="en-US" sz="2400" b="1" dirty="0">
              <a:solidFill>
                <a:srgbClr val="0000FF"/>
              </a:solidFill>
              <a:latin typeface="宋体" pitchFamily="2" charset="-122"/>
            </a:endParaRPr>
          </a:p>
        </p:txBody>
      </p:sp>
      <p:grpSp>
        <p:nvGrpSpPr>
          <p:cNvPr id="28" name="组合 27"/>
          <p:cNvGrpSpPr/>
          <p:nvPr/>
        </p:nvGrpSpPr>
        <p:grpSpPr>
          <a:xfrm>
            <a:off x="609600" y="116632"/>
            <a:ext cx="3886200" cy="2438400"/>
            <a:chOff x="609600" y="620688"/>
            <a:chExt cx="3886200" cy="2438400"/>
          </a:xfrm>
        </p:grpSpPr>
        <p:grpSp>
          <p:nvGrpSpPr>
            <p:cNvPr id="3" name="Group 27"/>
            <p:cNvGrpSpPr>
              <a:grpSpLocks/>
            </p:cNvGrpSpPr>
            <p:nvPr/>
          </p:nvGrpSpPr>
          <p:grpSpPr bwMode="auto">
            <a:xfrm flipV="1">
              <a:off x="827088" y="620688"/>
              <a:ext cx="3124200" cy="2438400"/>
              <a:chOff x="1776" y="3312"/>
              <a:chExt cx="1968" cy="1536"/>
            </a:xfrm>
          </p:grpSpPr>
          <p:sp>
            <p:nvSpPr>
              <p:cNvPr id="4" name="AutoShape 28"/>
              <p:cNvSpPr>
                <a:spLocks noChangeArrowheads="1"/>
              </p:cNvSpPr>
              <p:nvPr/>
            </p:nvSpPr>
            <p:spPr bwMode="auto">
              <a:xfrm>
                <a:off x="1968" y="3312"/>
                <a:ext cx="1536" cy="1536"/>
              </a:xfrm>
              <a:custGeom>
                <a:avLst/>
                <a:gdLst>
                  <a:gd name="G0" fmla="+- 5400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400"/>
                  <a:gd name="G18" fmla="*/ 5400 1 2"/>
                  <a:gd name="G19" fmla="+- G18 5400 0"/>
                  <a:gd name="G20" fmla="cos G19 11796480"/>
                  <a:gd name="G21" fmla="sin G19 11796480"/>
                  <a:gd name="G22" fmla="+- G20 10800 0"/>
                  <a:gd name="G23" fmla="+- G21 10800 0"/>
                  <a:gd name="G24" fmla="+- 10800 0 G20"/>
                  <a:gd name="G25" fmla="+- 5400 10800 0"/>
                  <a:gd name="G26" fmla="?: G9 G17 G25"/>
                  <a:gd name="G27" fmla="?: G9 0 21600"/>
                  <a:gd name="G28" fmla="cos 10800 11796480"/>
                  <a:gd name="G29" fmla="sin 10800 11796480"/>
                  <a:gd name="G30" fmla="sin 5400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2700 w 21600"/>
                  <a:gd name="T15" fmla="*/ 10800 h 21600"/>
                  <a:gd name="T16" fmla="*/ 10800 w 21600"/>
                  <a:gd name="T17" fmla="*/ 5400 h 21600"/>
                  <a:gd name="T18" fmla="*/ 18900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gradFill rotWithShape="1">
                <a:gsLst>
                  <a:gs pos="0">
                    <a:schemeClr val="hlink"/>
                  </a:gs>
                  <a:gs pos="50000">
                    <a:srgbClr val="FFFFFF"/>
                  </a:gs>
                  <a:gs pos="100000">
                    <a:schemeClr val="hlink"/>
                  </a:gs>
                </a:gsLst>
                <a:lin ang="5400000" scaled="1"/>
              </a:gradFill>
              <a:ln w="9525">
                <a:solidFill>
                  <a:schemeClr val="hlink"/>
                </a:solidFill>
                <a:miter lim="800000"/>
                <a:headEnd/>
                <a:tailEnd/>
              </a:ln>
            </p:spPr>
            <p:txBody>
              <a:bodyPr wrap="none" anchor="ctr"/>
              <a:lstStyle/>
              <a:p>
                <a:pPr>
                  <a:defRPr/>
                </a:pPr>
                <a:endParaRPr lang="zh-CN" altLang="en-US">
                  <a:latin typeface="Arial" charset="0"/>
                </a:endParaRPr>
              </a:p>
            </p:txBody>
          </p:sp>
          <p:sp useBgFill="1">
            <p:nvSpPr>
              <p:cNvPr id="5" name="AutoShape 29"/>
              <p:cNvSpPr>
                <a:spLocks noChangeArrowheads="1"/>
              </p:cNvSpPr>
              <p:nvPr/>
            </p:nvSpPr>
            <p:spPr bwMode="auto">
              <a:xfrm>
                <a:off x="1776" y="3504"/>
                <a:ext cx="816" cy="624"/>
              </a:xfrm>
              <a:prstGeom prst="triangle">
                <a:avLst>
                  <a:gd name="adj" fmla="val 50000"/>
                </a:avLst>
              </a:prstGeom>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lvl1pPr algn="l" eaLnBrk="0" hangingPunct="0">
                  <a:spcBef>
                    <a:spcPct val="20000"/>
                  </a:spcBef>
                  <a:buChar char="•"/>
                  <a:defRPr sz="3200">
                    <a:solidFill>
                      <a:schemeClr val="tx1"/>
                    </a:solidFill>
                    <a:latin typeface="Arial" pitchFamily="34" charset="0"/>
                    <a:ea typeface="宋体" pitchFamily="2" charset="-122"/>
                  </a:defRPr>
                </a:lvl1pPr>
                <a:lvl2pPr marL="742950" indent="-285750" algn="l" eaLnBrk="0" hangingPunct="0">
                  <a:spcBef>
                    <a:spcPct val="20000"/>
                  </a:spcBef>
                  <a:buChar char="–"/>
                  <a:defRPr sz="2800">
                    <a:solidFill>
                      <a:schemeClr val="tx1"/>
                    </a:solidFill>
                    <a:latin typeface="Arial" pitchFamily="34" charset="0"/>
                    <a:ea typeface="宋体" pitchFamily="2" charset="-122"/>
                  </a:defRPr>
                </a:lvl2pPr>
                <a:lvl3pPr marL="1143000" indent="-228600" algn="l" eaLnBrk="0" hangingPunct="0">
                  <a:spcBef>
                    <a:spcPct val="20000"/>
                  </a:spcBef>
                  <a:buChar char="•"/>
                  <a:defRPr sz="2400">
                    <a:solidFill>
                      <a:schemeClr val="tx1"/>
                    </a:solidFill>
                    <a:latin typeface="Arial" pitchFamily="34" charset="0"/>
                    <a:ea typeface="宋体" pitchFamily="2" charset="-122"/>
                  </a:defRPr>
                </a:lvl3pPr>
                <a:lvl4pPr marL="1600200" indent="-228600" algn="l" eaLnBrk="0" hangingPunct="0">
                  <a:spcBef>
                    <a:spcPct val="20000"/>
                  </a:spcBef>
                  <a:buChar char="–"/>
                  <a:defRPr sz="2000">
                    <a:solidFill>
                      <a:schemeClr val="tx1"/>
                    </a:solidFill>
                    <a:latin typeface="Arial" pitchFamily="34" charset="0"/>
                    <a:ea typeface="宋体" pitchFamily="2" charset="-122"/>
                  </a:defRPr>
                </a:lvl4pPr>
                <a:lvl5pPr marL="2057400" indent="-228600" algn="l"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lgn="ctr" eaLnBrk="1" hangingPunct="1">
                  <a:spcBef>
                    <a:spcPct val="0"/>
                  </a:spcBef>
                  <a:buFontTx/>
                  <a:buNone/>
                </a:pPr>
                <a:endParaRPr lang="zh-CN" altLang="en-US" sz="1800"/>
              </a:p>
            </p:txBody>
          </p:sp>
          <p:sp useBgFill="1">
            <p:nvSpPr>
              <p:cNvPr id="6" name="AutoShape 30"/>
              <p:cNvSpPr>
                <a:spLocks noChangeArrowheads="1"/>
              </p:cNvSpPr>
              <p:nvPr/>
            </p:nvSpPr>
            <p:spPr bwMode="auto">
              <a:xfrm>
                <a:off x="2928" y="3504"/>
                <a:ext cx="816" cy="624"/>
              </a:xfrm>
              <a:prstGeom prst="triangle">
                <a:avLst>
                  <a:gd name="adj" fmla="val 50000"/>
                </a:avLst>
              </a:prstGeom>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lvl1pPr algn="l" eaLnBrk="0" hangingPunct="0">
                  <a:spcBef>
                    <a:spcPct val="20000"/>
                  </a:spcBef>
                  <a:buChar char="•"/>
                  <a:defRPr sz="3200">
                    <a:solidFill>
                      <a:schemeClr val="tx1"/>
                    </a:solidFill>
                    <a:latin typeface="Arial" pitchFamily="34" charset="0"/>
                    <a:ea typeface="宋体" pitchFamily="2" charset="-122"/>
                  </a:defRPr>
                </a:lvl1pPr>
                <a:lvl2pPr marL="742950" indent="-285750" algn="l" eaLnBrk="0" hangingPunct="0">
                  <a:spcBef>
                    <a:spcPct val="20000"/>
                  </a:spcBef>
                  <a:buChar char="–"/>
                  <a:defRPr sz="2800">
                    <a:solidFill>
                      <a:schemeClr val="tx1"/>
                    </a:solidFill>
                    <a:latin typeface="Arial" pitchFamily="34" charset="0"/>
                    <a:ea typeface="宋体" pitchFamily="2" charset="-122"/>
                  </a:defRPr>
                </a:lvl2pPr>
                <a:lvl3pPr marL="1143000" indent="-228600" algn="l" eaLnBrk="0" hangingPunct="0">
                  <a:spcBef>
                    <a:spcPct val="20000"/>
                  </a:spcBef>
                  <a:buChar char="•"/>
                  <a:defRPr sz="2400">
                    <a:solidFill>
                      <a:schemeClr val="tx1"/>
                    </a:solidFill>
                    <a:latin typeface="Arial" pitchFamily="34" charset="0"/>
                    <a:ea typeface="宋体" pitchFamily="2" charset="-122"/>
                  </a:defRPr>
                </a:lvl3pPr>
                <a:lvl4pPr marL="1600200" indent="-228600" algn="l" eaLnBrk="0" hangingPunct="0">
                  <a:spcBef>
                    <a:spcPct val="20000"/>
                  </a:spcBef>
                  <a:buChar char="–"/>
                  <a:defRPr sz="2000">
                    <a:solidFill>
                      <a:schemeClr val="tx1"/>
                    </a:solidFill>
                    <a:latin typeface="Arial" pitchFamily="34" charset="0"/>
                    <a:ea typeface="宋体" pitchFamily="2" charset="-122"/>
                  </a:defRPr>
                </a:lvl4pPr>
                <a:lvl5pPr marL="2057400" indent="-228600" algn="l"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lgn="ctr" eaLnBrk="1" hangingPunct="1">
                  <a:spcBef>
                    <a:spcPct val="0"/>
                  </a:spcBef>
                  <a:buFontTx/>
                  <a:buNone/>
                </a:pPr>
                <a:endParaRPr lang="zh-CN" altLang="en-US" sz="1800"/>
              </a:p>
            </p:txBody>
          </p:sp>
        </p:grpSp>
        <p:sp>
          <p:nvSpPr>
            <p:cNvPr id="7" name="Arc 35"/>
            <p:cNvSpPr>
              <a:spLocks/>
            </p:cNvSpPr>
            <p:nvPr/>
          </p:nvSpPr>
          <p:spPr bwMode="auto">
            <a:xfrm flipV="1">
              <a:off x="2819400" y="1916088"/>
              <a:ext cx="685800" cy="684213"/>
            </a:xfrm>
            <a:custGeom>
              <a:avLst/>
              <a:gdLst>
                <a:gd name="T0" fmla="*/ 503328321 w 24862"/>
                <a:gd name="T1" fmla="*/ 0 h 27704"/>
                <a:gd name="T2" fmla="*/ 0 w 24862"/>
                <a:gd name="T3" fmla="*/ 413603054 h 27704"/>
                <a:gd name="T4" fmla="*/ 68465029 w 24862"/>
                <a:gd name="T5" fmla="*/ 91951915 h 27704"/>
                <a:gd name="T6" fmla="*/ 0 60000 65536"/>
                <a:gd name="T7" fmla="*/ 0 60000 65536"/>
                <a:gd name="T8" fmla="*/ 0 60000 65536"/>
              </a:gdLst>
              <a:ahLst/>
              <a:cxnLst>
                <a:cxn ang="T6">
                  <a:pos x="T0" y="T1"/>
                </a:cxn>
                <a:cxn ang="T7">
                  <a:pos x="T2" y="T3"/>
                </a:cxn>
                <a:cxn ang="T8">
                  <a:pos x="T4" y="T5"/>
                </a:cxn>
              </a:cxnLst>
              <a:rect l="0" t="0" r="r" b="b"/>
              <a:pathLst>
                <a:path w="24862" h="27704" fill="none" extrusionOk="0">
                  <a:moveTo>
                    <a:pt x="23981" y="-1"/>
                  </a:moveTo>
                  <a:cubicBezTo>
                    <a:pt x="24565" y="1981"/>
                    <a:pt x="24862" y="4037"/>
                    <a:pt x="24862" y="6104"/>
                  </a:cubicBezTo>
                  <a:cubicBezTo>
                    <a:pt x="24862" y="18033"/>
                    <a:pt x="15191" y="27704"/>
                    <a:pt x="3262" y="27704"/>
                  </a:cubicBezTo>
                  <a:cubicBezTo>
                    <a:pt x="2169" y="27704"/>
                    <a:pt x="1079" y="27621"/>
                    <a:pt x="-1" y="27456"/>
                  </a:cubicBezTo>
                </a:path>
                <a:path w="24862" h="27704" stroke="0" extrusionOk="0">
                  <a:moveTo>
                    <a:pt x="23981" y="-1"/>
                  </a:moveTo>
                  <a:cubicBezTo>
                    <a:pt x="24565" y="1981"/>
                    <a:pt x="24862" y="4037"/>
                    <a:pt x="24862" y="6104"/>
                  </a:cubicBezTo>
                  <a:cubicBezTo>
                    <a:pt x="24862" y="18033"/>
                    <a:pt x="15191" y="27704"/>
                    <a:pt x="3262" y="27704"/>
                  </a:cubicBezTo>
                  <a:cubicBezTo>
                    <a:pt x="2169" y="27704"/>
                    <a:pt x="1079" y="27621"/>
                    <a:pt x="-1" y="27456"/>
                  </a:cubicBezTo>
                  <a:lnTo>
                    <a:pt x="3262" y="6104"/>
                  </a:lnTo>
                  <a:lnTo>
                    <a:pt x="23981" y="-1"/>
                  </a:lnTo>
                  <a:close/>
                </a:path>
              </a:pathLst>
            </a:custGeom>
            <a:noFill/>
            <a:ln w="57150">
              <a:solidFill>
                <a:schemeClr val="tx1"/>
              </a:solidFill>
              <a:round/>
              <a:headEnd/>
              <a:tailEnd type="stealth" w="med" len="lg"/>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8" name="Arc 36"/>
            <p:cNvSpPr>
              <a:spLocks/>
            </p:cNvSpPr>
            <p:nvPr/>
          </p:nvSpPr>
          <p:spPr bwMode="auto">
            <a:xfrm flipH="1" flipV="1">
              <a:off x="1371600" y="1916088"/>
              <a:ext cx="685800" cy="684213"/>
            </a:xfrm>
            <a:custGeom>
              <a:avLst/>
              <a:gdLst>
                <a:gd name="T0" fmla="*/ 503328321 w 24862"/>
                <a:gd name="T1" fmla="*/ 0 h 27704"/>
                <a:gd name="T2" fmla="*/ 0 w 24862"/>
                <a:gd name="T3" fmla="*/ 413603054 h 27704"/>
                <a:gd name="T4" fmla="*/ 68465029 w 24862"/>
                <a:gd name="T5" fmla="*/ 91951915 h 27704"/>
                <a:gd name="T6" fmla="*/ 0 60000 65536"/>
                <a:gd name="T7" fmla="*/ 0 60000 65536"/>
                <a:gd name="T8" fmla="*/ 0 60000 65536"/>
              </a:gdLst>
              <a:ahLst/>
              <a:cxnLst>
                <a:cxn ang="T6">
                  <a:pos x="T0" y="T1"/>
                </a:cxn>
                <a:cxn ang="T7">
                  <a:pos x="T2" y="T3"/>
                </a:cxn>
                <a:cxn ang="T8">
                  <a:pos x="T4" y="T5"/>
                </a:cxn>
              </a:cxnLst>
              <a:rect l="0" t="0" r="r" b="b"/>
              <a:pathLst>
                <a:path w="24862" h="27704" fill="none" extrusionOk="0">
                  <a:moveTo>
                    <a:pt x="23981" y="-1"/>
                  </a:moveTo>
                  <a:cubicBezTo>
                    <a:pt x="24565" y="1981"/>
                    <a:pt x="24862" y="4037"/>
                    <a:pt x="24862" y="6104"/>
                  </a:cubicBezTo>
                  <a:cubicBezTo>
                    <a:pt x="24862" y="18033"/>
                    <a:pt x="15191" y="27704"/>
                    <a:pt x="3262" y="27704"/>
                  </a:cubicBezTo>
                  <a:cubicBezTo>
                    <a:pt x="2169" y="27704"/>
                    <a:pt x="1079" y="27621"/>
                    <a:pt x="-1" y="27456"/>
                  </a:cubicBezTo>
                </a:path>
                <a:path w="24862" h="27704" stroke="0" extrusionOk="0">
                  <a:moveTo>
                    <a:pt x="23981" y="-1"/>
                  </a:moveTo>
                  <a:cubicBezTo>
                    <a:pt x="24565" y="1981"/>
                    <a:pt x="24862" y="4037"/>
                    <a:pt x="24862" y="6104"/>
                  </a:cubicBezTo>
                  <a:cubicBezTo>
                    <a:pt x="24862" y="18033"/>
                    <a:pt x="15191" y="27704"/>
                    <a:pt x="3262" y="27704"/>
                  </a:cubicBezTo>
                  <a:cubicBezTo>
                    <a:pt x="2169" y="27704"/>
                    <a:pt x="1079" y="27621"/>
                    <a:pt x="-1" y="27456"/>
                  </a:cubicBezTo>
                  <a:lnTo>
                    <a:pt x="3262" y="6104"/>
                  </a:lnTo>
                  <a:lnTo>
                    <a:pt x="23981" y="-1"/>
                  </a:lnTo>
                  <a:close/>
                </a:path>
              </a:pathLst>
            </a:custGeom>
            <a:noFill/>
            <a:ln w="57150">
              <a:solidFill>
                <a:schemeClr val="tx1"/>
              </a:solidFill>
              <a:round/>
              <a:headEnd/>
              <a:tailEnd type="stealth" w="med" len="lg"/>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9" name="Text Box 37"/>
            <p:cNvSpPr txBox="1">
              <a:spLocks noChangeArrowheads="1"/>
            </p:cNvSpPr>
            <p:nvPr/>
          </p:nvSpPr>
          <p:spPr bwMode="auto">
            <a:xfrm>
              <a:off x="609600" y="1839888"/>
              <a:ext cx="1143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lgn="l" eaLnBrk="0" hangingPunct="0">
                <a:spcBef>
                  <a:spcPct val="20000"/>
                </a:spcBef>
                <a:buChar char="•"/>
                <a:defRPr sz="3200">
                  <a:solidFill>
                    <a:schemeClr val="tx1"/>
                  </a:solidFill>
                  <a:latin typeface="Arial" pitchFamily="34" charset="0"/>
                  <a:ea typeface="宋体" pitchFamily="2" charset="-122"/>
                </a:defRPr>
              </a:lvl1pPr>
              <a:lvl2pPr marL="742950" indent="-285750" algn="l" eaLnBrk="0" hangingPunct="0">
                <a:spcBef>
                  <a:spcPct val="20000"/>
                </a:spcBef>
                <a:buChar char="–"/>
                <a:defRPr sz="2800">
                  <a:solidFill>
                    <a:schemeClr val="tx1"/>
                  </a:solidFill>
                  <a:latin typeface="Arial" pitchFamily="34" charset="0"/>
                  <a:ea typeface="宋体" pitchFamily="2" charset="-122"/>
                </a:defRPr>
              </a:lvl2pPr>
              <a:lvl3pPr marL="1143000" indent="-228600" algn="l" eaLnBrk="0" hangingPunct="0">
                <a:spcBef>
                  <a:spcPct val="20000"/>
                </a:spcBef>
                <a:buChar char="•"/>
                <a:defRPr sz="2400">
                  <a:solidFill>
                    <a:schemeClr val="tx1"/>
                  </a:solidFill>
                  <a:latin typeface="Arial" pitchFamily="34" charset="0"/>
                  <a:ea typeface="宋体" pitchFamily="2" charset="-122"/>
                </a:defRPr>
              </a:lvl3pPr>
              <a:lvl4pPr marL="1600200" indent="-228600" algn="l" eaLnBrk="0" hangingPunct="0">
                <a:spcBef>
                  <a:spcPct val="20000"/>
                </a:spcBef>
                <a:buChar char="–"/>
                <a:defRPr sz="2000">
                  <a:solidFill>
                    <a:schemeClr val="tx1"/>
                  </a:solidFill>
                  <a:latin typeface="Arial" pitchFamily="34" charset="0"/>
                  <a:ea typeface="宋体" pitchFamily="2" charset="-122"/>
                </a:defRPr>
              </a:lvl4pPr>
              <a:lvl5pPr marL="2057400" indent="-228600" algn="l"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50000"/>
                </a:spcBef>
                <a:buFontTx/>
                <a:buNone/>
              </a:pPr>
              <a:r>
                <a:rPr kumimoji="1" lang="en-US" altLang="zh-CN" sz="2400" b="1" i="1" dirty="0">
                  <a:latin typeface="Times New Roman" pitchFamily="18" charset="0"/>
                </a:rPr>
                <a:t>M</a:t>
              </a:r>
              <a:r>
                <a:rPr kumimoji="1" lang="en-US" altLang="zh-CN" sz="2400" b="1" dirty="0">
                  <a:latin typeface="Times New Roman" pitchFamily="18" charset="0"/>
                </a:rPr>
                <a:t>(</a:t>
              </a:r>
              <a:r>
                <a:rPr kumimoji="1" lang="en-US" altLang="zh-CN" sz="2400" b="1" i="1" dirty="0">
                  <a:latin typeface="Times New Roman" pitchFamily="18" charset="0"/>
                </a:rPr>
                <a:t>+</a:t>
              </a:r>
              <a:r>
                <a:rPr kumimoji="1" lang="en-US" altLang="zh-CN" sz="2400" b="1" dirty="0">
                  <a:latin typeface="Times New Roman" pitchFamily="18" charset="0"/>
                </a:rPr>
                <a:t>)</a:t>
              </a:r>
              <a:endParaRPr kumimoji="1" lang="en-US" altLang="zh-CN" sz="2400" b="1" i="1" dirty="0">
                <a:latin typeface="Times New Roman" pitchFamily="18" charset="0"/>
              </a:endParaRPr>
            </a:p>
          </p:txBody>
        </p:sp>
        <p:sp>
          <p:nvSpPr>
            <p:cNvPr id="10" name="Text Box 38"/>
            <p:cNvSpPr txBox="1">
              <a:spLocks noChangeArrowheads="1"/>
            </p:cNvSpPr>
            <p:nvPr/>
          </p:nvSpPr>
          <p:spPr bwMode="auto">
            <a:xfrm>
              <a:off x="3352800" y="1763688"/>
              <a:ext cx="1143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lgn="l" eaLnBrk="0" hangingPunct="0">
                <a:spcBef>
                  <a:spcPct val="20000"/>
                </a:spcBef>
                <a:buChar char="•"/>
                <a:defRPr sz="3200">
                  <a:solidFill>
                    <a:schemeClr val="tx1"/>
                  </a:solidFill>
                  <a:latin typeface="Arial" pitchFamily="34" charset="0"/>
                  <a:ea typeface="宋体" pitchFamily="2" charset="-122"/>
                </a:defRPr>
              </a:lvl1pPr>
              <a:lvl2pPr marL="742950" indent="-285750" algn="l" eaLnBrk="0" hangingPunct="0">
                <a:spcBef>
                  <a:spcPct val="20000"/>
                </a:spcBef>
                <a:buChar char="–"/>
                <a:defRPr sz="2800">
                  <a:solidFill>
                    <a:schemeClr val="tx1"/>
                  </a:solidFill>
                  <a:latin typeface="Arial" pitchFamily="34" charset="0"/>
                  <a:ea typeface="宋体" pitchFamily="2" charset="-122"/>
                </a:defRPr>
              </a:lvl2pPr>
              <a:lvl3pPr marL="1143000" indent="-228600" algn="l" eaLnBrk="0" hangingPunct="0">
                <a:spcBef>
                  <a:spcPct val="20000"/>
                </a:spcBef>
                <a:buChar char="•"/>
                <a:defRPr sz="2400">
                  <a:solidFill>
                    <a:schemeClr val="tx1"/>
                  </a:solidFill>
                  <a:latin typeface="Arial" pitchFamily="34" charset="0"/>
                  <a:ea typeface="宋体" pitchFamily="2" charset="-122"/>
                </a:defRPr>
              </a:lvl3pPr>
              <a:lvl4pPr marL="1600200" indent="-228600" algn="l" eaLnBrk="0" hangingPunct="0">
                <a:spcBef>
                  <a:spcPct val="20000"/>
                </a:spcBef>
                <a:buChar char="–"/>
                <a:defRPr sz="2000">
                  <a:solidFill>
                    <a:schemeClr val="tx1"/>
                  </a:solidFill>
                  <a:latin typeface="Arial" pitchFamily="34" charset="0"/>
                  <a:ea typeface="宋体" pitchFamily="2" charset="-122"/>
                </a:defRPr>
              </a:lvl4pPr>
              <a:lvl5pPr marL="2057400" indent="-228600" algn="l"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50000"/>
                </a:spcBef>
                <a:buFontTx/>
                <a:buNone/>
              </a:pPr>
              <a:r>
                <a:rPr kumimoji="1" lang="en-US" altLang="zh-CN" sz="2400" b="1" i="1">
                  <a:latin typeface="Times New Roman" pitchFamily="18" charset="0"/>
                </a:rPr>
                <a:t>M</a:t>
              </a:r>
              <a:r>
                <a:rPr kumimoji="1" lang="en-US" altLang="zh-CN" sz="2400" b="1">
                  <a:latin typeface="Times New Roman" pitchFamily="18" charset="0"/>
                </a:rPr>
                <a:t>(</a:t>
              </a:r>
              <a:r>
                <a:rPr kumimoji="1" lang="en-US" altLang="zh-CN" sz="2400" b="1" i="1">
                  <a:latin typeface="Times New Roman" pitchFamily="18" charset="0"/>
                </a:rPr>
                <a:t>+</a:t>
              </a:r>
              <a:r>
                <a:rPr kumimoji="1" lang="en-US" altLang="zh-CN" sz="2400" b="1">
                  <a:latin typeface="Times New Roman" pitchFamily="18" charset="0"/>
                </a:rPr>
                <a:t>)</a:t>
              </a:r>
              <a:endParaRPr kumimoji="1" lang="en-US" altLang="zh-CN" sz="2400" b="1" i="1">
                <a:latin typeface="Times New Roman" pitchFamily="18" charset="0"/>
              </a:endParaRPr>
            </a:p>
          </p:txBody>
        </p:sp>
      </p:grpSp>
      <p:grpSp>
        <p:nvGrpSpPr>
          <p:cNvPr id="27" name="组合 26"/>
          <p:cNvGrpSpPr/>
          <p:nvPr/>
        </p:nvGrpSpPr>
        <p:grpSpPr>
          <a:xfrm>
            <a:off x="5143500" y="1331640"/>
            <a:ext cx="3886200" cy="2286000"/>
            <a:chOff x="5143500" y="1763688"/>
            <a:chExt cx="3886200" cy="2286000"/>
          </a:xfrm>
        </p:grpSpPr>
        <p:grpSp>
          <p:nvGrpSpPr>
            <p:cNvPr id="19" name="Group 31"/>
            <p:cNvGrpSpPr>
              <a:grpSpLocks/>
            </p:cNvGrpSpPr>
            <p:nvPr/>
          </p:nvGrpSpPr>
          <p:grpSpPr bwMode="auto">
            <a:xfrm>
              <a:off x="5448300" y="1763688"/>
              <a:ext cx="3124200" cy="2286000"/>
              <a:chOff x="3168" y="3408"/>
              <a:chExt cx="1968" cy="1440"/>
            </a:xfrm>
          </p:grpSpPr>
          <p:sp>
            <p:nvSpPr>
              <p:cNvPr id="20" name="AutoShape 32"/>
              <p:cNvSpPr>
                <a:spLocks noChangeArrowheads="1"/>
              </p:cNvSpPr>
              <p:nvPr/>
            </p:nvSpPr>
            <p:spPr bwMode="auto">
              <a:xfrm>
                <a:off x="3360" y="3408"/>
                <a:ext cx="1536" cy="1440"/>
              </a:xfrm>
              <a:custGeom>
                <a:avLst/>
                <a:gdLst>
                  <a:gd name="G0" fmla="+- 5400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400"/>
                  <a:gd name="G18" fmla="*/ 5400 1 2"/>
                  <a:gd name="G19" fmla="+- G18 5400 0"/>
                  <a:gd name="G20" fmla="cos G19 11796480"/>
                  <a:gd name="G21" fmla="sin G19 11796480"/>
                  <a:gd name="G22" fmla="+- G20 10800 0"/>
                  <a:gd name="G23" fmla="+- G21 10800 0"/>
                  <a:gd name="G24" fmla="+- 10800 0 G20"/>
                  <a:gd name="G25" fmla="+- 5400 10800 0"/>
                  <a:gd name="G26" fmla="?: G9 G17 G25"/>
                  <a:gd name="G27" fmla="?: G9 0 21600"/>
                  <a:gd name="G28" fmla="cos 10800 11796480"/>
                  <a:gd name="G29" fmla="sin 10800 11796480"/>
                  <a:gd name="G30" fmla="sin 5400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2700 w 21600"/>
                  <a:gd name="T15" fmla="*/ 10800 h 21600"/>
                  <a:gd name="T16" fmla="*/ 10800 w 21600"/>
                  <a:gd name="T17" fmla="*/ 5400 h 21600"/>
                  <a:gd name="T18" fmla="*/ 18900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gradFill rotWithShape="1">
                <a:gsLst>
                  <a:gs pos="0">
                    <a:schemeClr val="hlink"/>
                  </a:gs>
                  <a:gs pos="50000">
                    <a:srgbClr val="FFFFFF"/>
                  </a:gs>
                  <a:gs pos="100000">
                    <a:schemeClr val="hlink"/>
                  </a:gs>
                </a:gsLst>
                <a:lin ang="5400000" scaled="1"/>
              </a:gradFill>
              <a:ln w="9525">
                <a:solidFill>
                  <a:schemeClr val="hlink"/>
                </a:solidFill>
                <a:miter lim="800000"/>
                <a:headEnd/>
                <a:tailEnd/>
              </a:ln>
            </p:spPr>
            <p:txBody>
              <a:bodyPr wrap="none" anchor="ctr"/>
              <a:lstStyle/>
              <a:p>
                <a:pPr>
                  <a:defRPr/>
                </a:pPr>
                <a:endParaRPr lang="zh-CN" altLang="en-US">
                  <a:latin typeface="Arial" charset="0"/>
                </a:endParaRPr>
              </a:p>
            </p:txBody>
          </p:sp>
          <p:sp useBgFill="1">
            <p:nvSpPr>
              <p:cNvPr id="21" name="AutoShape 33"/>
              <p:cNvSpPr>
                <a:spLocks noChangeArrowheads="1"/>
              </p:cNvSpPr>
              <p:nvPr/>
            </p:nvSpPr>
            <p:spPr bwMode="auto">
              <a:xfrm>
                <a:off x="3168" y="3588"/>
                <a:ext cx="816" cy="585"/>
              </a:xfrm>
              <a:prstGeom prst="triangle">
                <a:avLst>
                  <a:gd name="adj" fmla="val 50000"/>
                </a:avLst>
              </a:prstGeom>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lvl1pPr algn="l" eaLnBrk="0" hangingPunct="0">
                  <a:spcBef>
                    <a:spcPct val="20000"/>
                  </a:spcBef>
                  <a:buChar char="•"/>
                  <a:defRPr sz="3200">
                    <a:solidFill>
                      <a:schemeClr val="tx1"/>
                    </a:solidFill>
                    <a:latin typeface="Arial" pitchFamily="34" charset="0"/>
                    <a:ea typeface="宋体" pitchFamily="2" charset="-122"/>
                  </a:defRPr>
                </a:lvl1pPr>
                <a:lvl2pPr marL="742950" indent="-285750" algn="l" eaLnBrk="0" hangingPunct="0">
                  <a:spcBef>
                    <a:spcPct val="20000"/>
                  </a:spcBef>
                  <a:buChar char="–"/>
                  <a:defRPr sz="2800">
                    <a:solidFill>
                      <a:schemeClr val="tx1"/>
                    </a:solidFill>
                    <a:latin typeface="Arial" pitchFamily="34" charset="0"/>
                    <a:ea typeface="宋体" pitchFamily="2" charset="-122"/>
                  </a:defRPr>
                </a:lvl2pPr>
                <a:lvl3pPr marL="1143000" indent="-228600" algn="l" eaLnBrk="0" hangingPunct="0">
                  <a:spcBef>
                    <a:spcPct val="20000"/>
                  </a:spcBef>
                  <a:buChar char="•"/>
                  <a:defRPr sz="2400">
                    <a:solidFill>
                      <a:schemeClr val="tx1"/>
                    </a:solidFill>
                    <a:latin typeface="Arial" pitchFamily="34" charset="0"/>
                    <a:ea typeface="宋体" pitchFamily="2" charset="-122"/>
                  </a:defRPr>
                </a:lvl3pPr>
                <a:lvl4pPr marL="1600200" indent="-228600" algn="l" eaLnBrk="0" hangingPunct="0">
                  <a:spcBef>
                    <a:spcPct val="20000"/>
                  </a:spcBef>
                  <a:buChar char="–"/>
                  <a:defRPr sz="2000">
                    <a:solidFill>
                      <a:schemeClr val="tx1"/>
                    </a:solidFill>
                    <a:latin typeface="Arial" pitchFamily="34" charset="0"/>
                    <a:ea typeface="宋体" pitchFamily="2" charset="-122"/>
                  </a:defRPr>
                </a:lvl4pPr>
                <a:lvl5pPr marL="2057400" indent="-228600" algn="l"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lgn="ctr" eaLnBrk="1" hangingPunct="1">
                  <a:spcBef>
                    <a:spcPct val="0"/>
                  </a:spcBef>
                  <a:buFontTx/>
                  <a:buNone/>
                </a:pPr>
                <a:endParaRPr lang="zh-CN" altLang="en-US" sz="1800"/>
              </a:p>
            </p:txBody>
          </p:sp>
          <p:sp useBgFill="1">
            <p:nvSpPr>
              <p:cNvPr id="22" name="AutoShape 34"/>
              <p:cNvSpPr>
                <a:spLocks noChangeArrowheads="1"/>
              </p:cNvSpPr>
              <p:nvPr/>
            </p:nvSpPr>
            <p:spPr bwMode="auto">
              <a:xfrm>
                <a:off x="4320" y="3588"/>
                <a:ext cx="816" cy="585"/>
              </a:xfrm>
              <a:prstGeom prst="triangle">
                <a:avLst>
                  <a:gd name="adj" fmla="val 50000"/>
                </a:avLst>
              </a:prstGeom>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lvl1pPr algn="l" eaLnBrk="0" hangingPunct="0">
                  <a:spcBef>
                    <a:spcPct val="20000"/>
                  </a:spcBef>
                  <a:buChar char="•"/>
                  <a:defRPr sz="3200">
                    <a:solidFill>
                      <a:schemeClr val="tx1"/>
                    </a:solidFill>
                    <a:latin typeface="Arial" pitchFamily="34" charset="0"/>
                    <a:ea typeface="宋体" pitchFamily="2" charset="-122"/>
                  </a:defRPr>
                </a:lvl1pPr>
                <a:lvl2pPr marL="742950" indent="-285750" algn="l" eaLnBrk="0" hangingPunct="0">
                  <a:spcBef>
                    <a:spcPct val="20000"/>
                  </a:spcBef>
                  <a:buChar char="–"/>
                  <a:defRPr sz="2800">
                    <a:solidFill>
                      <a:schemeClr val="tx1"/>
                    </a:solidFill>
                    <a:latin typeface="Arial" pitchFamily="34" charset="0"/>
                    <a:ea typeface="宋体" pitchFamily="2" charset="-122"/>
                  </a:defRPr>
                </a:lvl2pPr>
                <a:lvl3pPr marL="1143000" indent="-228600" algn="l" eaLnBrk="0" hangingPunct="0">
                  <a:spcBef>
                    <a:spcPct val="20000"/>
                  </a:spcBef>
                  <a:buChar char="•"/>
                  <a:defRPr sz="2400">
                    <a:solidFill>
                      <a:schemeClr val="tx1"/>
                    </a:solidFill>
                    <a:latin typeface="Arial" pitchFamily="34" charset="0"/>
                    <a:ea typeface="宋体" pitchFamily="2" charset="-122"/>
                  </a:defRPr>
                </a:lvl3pPr>
                <a:lvl4pPr marL="1600200" indent="-228600" algn="l" eaLnBrk="0" hangingPunct="0">
                  <a:spcBef>
                    <a:spcPct val="20000"/>
                  </a:spcBef>
                  <a:buChar char="–"/>
                  <a:defRPr sz="2000">
                    <a:solidFill>
                      <a:schemeClr val="tx1"/>
                    </a:solidFill>
                    <a:latin typeface="Arial" pitchFamily="34" charset="0"/>
                    <a:ea typeface="宋体" pitchFamily="2" charset="-122"/>
                  </a:defRPr>
                </a:lvl4pPr>
                <a:lvl5pPr marL="2057400" indent="-228600" algn="l"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lgn="ctr" eaLnBrk="1" hangingPunct="1">
                  <a:spcBef>
                    <a:spcPct val="0"/>
                  </a:spcBef>
                  <a:buFontTx/>
                  <a:buNone/>
                </a:pPr>
                <a:endParaRPr lang="zh-CN" altLang="en-US" sz="1800"/>
              </a:p>
            </p:txBody>
          </p:sp>
        </p:grpSp>
        <p:sp>
          <p:nvSpPr>
            <p:cNvPr id="23" name="Arc 39"/>
            <p:cNvSpPr>
              <a:spLocks/>
            </p:cNvSpPr>
            <p:nvPr/>
          </p:nvSpPr>
          <p:spPr bwMode="auto">
            <a:xfrm flipH="1">
              <a:off x="5905500" y="1993876"/>
              <a:ext cx="609600" cy="762000"/>
            </a:xfrm>
            <a:custGeom>
              <a:avLst/>
              <a:gdLst>
                <a:gd name="T0" fmla="*/ 482990159 w 21657"/>
                <a:gd name="T1" fmla="*/ 12468860 h 21600"/>
                <a:gd name="T2" fmla="*/ 0 w 21657"/>
                <a:gd name="T3" fmla="*/ 948325475 h 21600"/>
                <a:gd name="T4" fmla="*/ 1316029 w 21657"/>
                <a:gd name="T5" fmla="*/ 0 h 21600"/>
                <a:gd name="T6" fmla="*/ 0 60000 65536"/>
                <a:gd name="T7" fmla="*/ 0 60000 65536"/>
                <a:gd name="T8" fmla="*/ 0 60000 65536"/>
              </a:gdLst>
              <a:ahLst/>
              <a:cxnLst>
                <a:cxn ang="T6">
                  <a:pos x="T0" y="T1"/>
                </a:cxn>
                <a:cxn ang="T7">
                  <a:pos x="T2" y="T3"/>
                </a:cxn>
                <a:cxn ang="T8">
                  <a:pos x="T4" y="T5"/>
                </a:cxn>
              </a:cxnLst>
              <a:rect l="0" t="0" r="r" b="b"/>
              <a:pathLst>
                <a:path w="21657" h="21600" fill="none" extrusionOk="0">
                  <a:moveTo>
                    <a:pt x="21657" y="284"/>
                  </a:moveTo>
                  <a:cubicBezTo>
                    <a:pt x="21501" y="12101"/>
                    <a:pt x="11877" y="21599"/>
                    <a:pt x="59" y="21600"/>
                  </a:cubicBezTo>
                  <a:cubicBezTo>
                    <a:pt x="39" y="21600"/>
                    <a:pt x="19" y="21599"/>
                    <a:pt x="0" y="21599"/>
                  </a:cubicBezTo>
                </a:path>
                <a:path w="21657" h="21600" stroke="0" extrusionOk="0">
                  <a:moveTo>
                    <a:pt x="21657" y="284"/>
                  </a:moveTo>
                  <a:cubicBezTo>
                    <a:pt x="21501" y="12101"/>
                    <a:pt x="11877" y="21599"/>
                    <a:pt x="59" y="21600"/>
                  </a:cubicBezTo>
                  <a:cubicBezTo>
                    <a:pt x="39" y="21600"/>
                    <a:pt x="19" y="21599"/>
                    <a:pt x="0" y="21599"/>
                  </a:cubicBezTo>
                  <a:lnTo>
                    <a:pt x="59" y="0"/>
                  </a:lnTo>
                  <a:lnTo>
                    <a:pt x="21657" y="284"/>
                  </a:lnTo>
                  <a:close/>
                </a:path>
              </a:pathLst>
            </a:custGeom>
            <a:noFill/>
            <a:ln w="57150">
              <a:solidFill>
                <a:schemeClr val="tx1"/>
              </a:solidFill>
              <a:round/>
              <a:headEnd/>
              <a:tailEnd type="stealth" w="med" len="lg"/>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24" name="Text Box 40"/>
            <p:cNvSpPr txBox="1">
              <a:spLocks noChangeArrowheads="1"/>
            </p:cNvSpPr>
            <p:nvPr/>
          </p:nvSpPr>
          <p:spPr bwMode="auto">
            <a:xfrm>
              <a:off x="5143500" y="2146276"/>
              <a:ext cx="1143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lgn="l" eaLnBrk="0" hangingPunct="0">
                <a:spcBef>
                  <a:spcPct val="20000"/>
                </a:spcBef>
                <a:buChar char="•"/>
                <a:defRPr sz="3200">
                  <a:solidFill>
                    <a:schemeClr val="tx1"/>
                  </a:solidFill>
                  <a:latin typeface="Arial" pitchFamily="34" charset="0"/>
                  <a:ea typeface="宋体" pitchFamily="2" charset="-122"/>
                </a:defRPr>
              </a:lvl1pPr>
              <a:lvl2pPr marL="742950" indent="-285750" algn="l" eaLnBrk="0" hangingPunct="0">
                <a:spcBef>
                  <a:spcPct val="20000"/>
                </a:spcBef>
                <a:buChar char="–"/>
                <a:defRPr sz="2800">
                  <a:solidFill>
                    <a:schemeClr val="tx1"/>
                  </a:solidFill>
                  <a:latin typeface="Arial" pitchFamily="34" charset="0"/>
                  <a:ea typeface="宋体" pitchFamily="2" charset="-122"/>
                </a:defRPr>
              </a:lvl2pPr>
              <a:lvl3pPr marL="1143000" indent="-228600" algn="l" eaLnBrk="0" hangingPunct="0">
                <a:spcBef>
                  <a:spcPct val="20000"/>
                </a:spcBef>
                <a:buChar char="•"/>
                <a:defRPr sz="2400">
                  <a:solidFill>
                    <a:schemeClr val="tx1"/>
                  </a:solidFill>
                  <a:latin typeface="Arial" pitchFamily="34" charset="0"/>
                  <a:ea typeface="宋体" pitchFamily="2" charset="-122"/>
                </a:defRPr>
              </a:lvl3pPr>
              <a:lvl4pPr marL="1600200" indent="-228600" algn="l" eaLnBrk="0" hangingPunct="0">
                <a:spcBef>
                  <a:spcPct val="20000"/>
                </a:spcBef>
                <a:buChar char="–"/>
                <a:defRPr sz="2000">
                  <a:solidFill>
                    <a:schemeClr val="tx1"/>
                  </a:solidFill>
                  <a:latin typeface="Arial" pitchFamily="34" charset="0"/>
                  <a:ea typeface="宋体" pitchFamily="2" charset="-122"/>
                </a:defRPr>
              </a:lvl4pPr>
              <a:lvl5pPr marL="2057400" indent="-228600" algn="l"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50000"/>
                </a:spcBef>
                <a:buFontTx/>
                <a:buNone/>
              </a:pPr>
              <a:r>
                <a:rPr kumimoji="1" lang="en-US" altLang="zh-CN" sz="2400" b="1" i="1">
                  <a:latin typeface="Times New Roman" pitchFamily="18" charset="0"/>
                </a:rPr>
                <a:t>M</a:t>
              </a:r>
              <a:r>
                <a:rPr kumimoji="1" lang="en-US" altLang="zh-CN" sz="2400" b="1">
                  <a:latin typeface="Times New Roman" pitchFamily="18" charset="0"/>
                </a:rPr>
                <a:t>(</a:t>
              </a:r>
              <a:r>
                <a:rPr kumimoji="1" lang="en-US" altLang="zh-CN" sz="2400" b="1" i="1">
                  <a:latin typeface="Times New Roman" pitchFamily="18" charset="0"/>
                </a:rPr>
                <a:t>–</a:t>
              </a:r>
              <a:r>
                <a:rPr kumimoji="1" lang="en-US" altLang="zh-CN" sz="2400" b="1">
                  <a:latin typeface="Times New Roman" pitchFamily="18" charset="0"/>
                </a:rPr>
                <a:t>)</a:t>
              </a:r>
              <a:endParaRPr kumimoji="1" lang="en-US" altLang="zh-CN" sz="2400" b="1" i="1">
                <a:latin typeface="Times New Roman" pitchFamily="18" charset="0"/>
              </a:endParaRPr>
            </a:p>
          </p:txBody>
        </p:sp>
        <p:sp>
          <p:nvSpPr>
            <p:cNvPr id="25" name="Text Box 41"/>
            <p:cNvSpPr txBox="1">
              <a:spLocks noChangeArrowheads="1"/>
            </p:cNvSpPr>
            <p:nvPr/>
          </p:nvSpPr>
          <p:spPr bwMode="auto">
            <a:xfrm>
              <a:off x="7886700" y="2146276"/>
              <a:ext cx="1143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lgn="l" eaLnBrk="0" hangingPunct="0">
                <a:spcBef>
                  <a:spcPct val="20000"/>
                </a:spcBef>
                <a:buChar char="•"/>
                <a:defRPr sz="3200">
                  <a:solidFill>
                    <a:schemeClr val="tx1"/>
                  </a:solidFill>
                  <a:latin typeface="Arial" pitchFamily="34" charset="0"/>
                  <a:ea typeface="宋体" pitchFamily="2" charset="-122"/>
                </a:defRPr>
              </a:lvl1pPr>
              <a:lvl2pPr marL="742950" indent="-285750" algn="l" eaLnBrk="0" hangingPunct="0">
                <a:spcBef>
                  <a:spcPct val="20000"/>
                </a:spcBef>
                <a:buChar char="–"/>
                <a:defRPr sz="2800">
                  <a:solidFill>
                    <a:schemeClr val="tx1"/>
                  </a:solidFill>
                  <a:latin typeface="Arial" pitchFamily="34" charset="0"/>
                  <a:ea typeface="宋体" pitchFamily="2" charset="-122"/>
                </a:defRPr>
              </a:lvl2pPr>
              <a:lvl3pPr marL="1143000" indent="-228600" algn="l" eaLnBrk="0" hangingPunct="0">
                <a:spcBef>
                  <a:spcPct val="20000"/>
                </a:spcBef>
                <a:buChar char="•"/>
                <a:defRPr sz="2400">
                  <a:solidFill>
                    <a:schemeClr val="tx1"/>
                  </a:solidFill>
                  <a:latin typeface="Arial" pitchFamily="34" charset="0"/>
                  <a:ea typeface="宋体" pitchFamily="2" charset="-122"/>
                </a:defRPr>
              </a:lvl3pPr>
              <a:lvl4pPr marL="1600200" indent="-228600" algn="l" eaLnBrk="0" hangingPunct="0">
                <a:spcBef>
                  <a:spcPct val="20000"/>
                </a:spcBef>
                <a:buChar char="–"/>
                <a:defRPr sz="2000">
                  <a:solidFill>
                    <a:schemeClr val="tx1"/>
                  </a:solidFill>
                  <a:latin typeface="Arial" pitchFamily="34" charset="0"/>
                  <a:ea typeface="宋体" pitchFamily="2" charset="-122"/>
                </a:defRPr>
              </a:lvl4pPr>
              <a:lvl5pPr marL="2057400" indent="-228600" algn="l"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50000"/>
                </a:spcBef>
                <a:buFontTx/>
                <a:buNone/>
              </a:pPr>
              <a:r>
                <a:rPr kumimoji="1" lang="en-US" altLang="zh-CN" sz="2400" b="1" i="1">
                  <a:latin typeface="Times New Roman" pitchFamily="18" charset="0"/>
                </a:rPr>
                <a:t>M</a:t>
              </a:r>
              <a:r>
                <a:rPr kumimoji="1" lang="en-US" altLang="zh-CN" sz="2400" b="1">
                  <a:latin typeface="Times New Roman" pitchFamily="18" charset="0"/>
                </a:rPr>
                <a:t>(</a:t>
              </a:r>
              <a:r>
                <a:rPr kumimoji="1" lang="en-US" altLang="zh-CN" sz="2400" b="1" i="1">
                  <a:latin typeface="Times New Roman" pitchFamily="18" charset="0"/>
                </a:rPr>
                <a:t>–</a:t>
              </a:r>
              <a:r>
                <a:rPr kumimoji="1" lang="en-US" altLang="zh-CN" sz="2400" b="1">
                  <a:latin typeface="Times New Roman" pitchFamily="18" charset="0"/>
                </a:rPr>
                <a:t>)</a:t>
              </a:r>
              <a:endParaRPr kumimoji="1" lang="en-US" altLang="zh-CN" sz="2400" b="1" i="1">
                <a:latin typeface="Times New Roman" pitchFamily="18" charset="0"/>
              </a:endParaRPr>
            </a:p>
          </p:txBody>
        </p:sp>
        <p:sp>
          <p:nvSpPr>
            <p:cNvPr id="26" name="Arc 42"/>
            <p:cNvSpPr>
              <a:spLocks/>
            </p:cNvSpPr>
            <p:nvPr/>
          </p:nvSpPr>
          <p:spPr bwMode="auto">
            <a:xfrm>
              <a:off x="7353300" y="1993876"/>
              <a:ext cx="609600" cy="762000"/>
            </a:xfrm>
            <a:custGeom>
              <a:avLst/>
              <a:gdLst>
                <a:gd name="T0" fmla="*/ 482990159 w 21657"/>
                <a:gd name="T1" fmla="*/ 12468860 h 21600"/>
                <a:gd name="T2" fmla="*/ 0 w 21657"/>
                <a:gd name="T3" fmla="*/ 948325475 h 21600"/>
                <a:gd name="T4" fmla="*/ 1316029 w 21657"/>
                <a:gd name="T5" fmla="*/ 0 h 21600"/>
                <a:gd name="T6" fmla="*/ 0 60000 65536"/>
                <a:gd name="T7" fmla="*/ 0 60000 65536"/>
                <a:gd name="T8" fmla="*/ 0 60000 65536"/>
              </a:gdLst>
              <a:ahLst/>
              <a:cxnLst>
                <a:cxn ang="T6">
                  <a:pos x="T0" y="T1"/>
                </a:cxn>
                <a:cxn ang="T7">
                  <a:pos x="T2" y="T3"/>
                </a:cxn>
                <a:cxn ang="T8">
                  <a:pos x="T4" y="T5"/>
                </a:cxn>
              </a:cxnLst>
              <a:rect l="0" t="0" r="r" b="b"/>
              <a:pathLst>
                <a:path w="21657" h="21600" fill="none" extrusionOk="0">
                  <a:moveTo>
                    <a:pt x="21657" y="284"/>
                  </a:moveTo>
                  <a:cubicBezTo>
                    <a:pt x="21501" y="12101"/>
                    <a:pt x="11877" y="21599"/>
                    <a:pt x="59" y="21600"/>
                  </a:cubicBezTo>
                  <a:cubicBezTo>
                    <a:pt x="39" y="21600"/>
                    <a:pt x="19" y="21599"/>
                    <a:pt x="0" y="21599"/>
                  </a:cubicBezTo>
                </a:path>
                <a:path w="21657" h="21600" stroke="0" extrusionOk="0">
                  <a:moveTo>
                    <a:pt x="21657" y="284"/>
                  </a:moveTo>
                  <a:cubicBezTo>
                    <a:pt x="21501" y="12101"/>
                    <a:pt x="11877" y="21599"/>
                    <a:pt x="59" y="21600"/>
                  </a:cubicBezTo>
                  <a:cubicBezTo>
                    <a:pt x="39" y="21600"/>
                    <a:pt x="19" y="21599"/>
                    <a:pt x="0" y="21599"/>
                  </a:cubicBezTo>
                  <a:lnTo>
                    <a:pt x="59" y="0"/>
                  </a:lnTo>
                  <a:lnTo>
                    <a:pt x="21657" y="284"/>
                  </a:lnTo>
                  <a:close/>
                </a:path>
              </a:pathLst>
            </a:custGeom>
            <a:noFill/>
            <a:ln w="57150">
              <a:solidFill>
                <a:schemeClr val="tx1"/>
              </a:solidFill>
              <a:round/>
              <a:headEnd/>
              <a:tailEnd type="stealth" w="med" len="lg"/>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grpSp>
      <p:grpSp>
        <p:nvGrpSpPr>
          <p:cNvPr id="29" name="Group 85"/>
          <p:cNvGrpSpPr>
            <a:grpSpLocks/>
          </p:cNvGrpSpPr>
          <p:nvPr/>
        </p:nvGrpSpPr>
        <p:grpSpPr bwMode="auto">
          <a:xfrm>
            <a:off x="641446" y="3100909"/>
            <a:ext cx="3671887" cy="1039812"/>
            <a:chOff x="3016" y="651"/>
            <a:chExt cx="2132" cy="655"/>
          </a:xfrm>
        </p:grpSpPr>
        <p:grpSp>
          <p:nvGrpSpPr>
            <p:cNvPr id="30" name="Group 83"/>
            <p:cNvGrpSpPr>
              <a:grpSpLocks/>
            </p:cNvGrpSpPr>
            <p:nvPr/>
          </p:nvGrpSpPr>
          <p:grpSpPr bwMode="auto">
            <a:xfrm>
              <a:off x="3016" y="651"/>
              <a:ext cx="2132" cy="292"/>
              <a:chOff x="3016" y="651"/>
              <a:chExt cx="2132" cy="292"/>
            </a:xfrm>
          </p:grpSpPr>
          <p:graphicFrame>
            <p:nvGraphicFramePr>
              <p:cNvPr id="34" name="Object 78"/>
              <p:cNvGraphicFramePr>
                <a:graphicFrameLocks noChangeAspect="1"/>
              </p:cNvGraphicFramePr>
              <p:nvPr/>
            </p:nvGraphicFramePr>
            <p:xfrm>
              <a:off x="4241" y="695"/>
              <a:ext cx="907" cy="248"/>
            </p:xfrm>
            <a:graphic>
              <a:graphicData uri="http://schemas.openxmlformats.org/presentationml/2006/ole">
                <mc:AlternateContent xmlns:mc="http://schemas.openxmlformats.org/markup-compatibility/2006">
                  <mc:Choice xmlns:v="urn:schemas-microsoft-com:vml" Requires="v">
                    <p:oleObj name="Equation" r:id="rId2" imgW="1624895" imgH="444307" progId="">
                      <p:embed/>
                    </p:oleObj>
                  </mc:Choice>
                  <mc:Fallback>
                    <p:oleObj name="Equation" r:id="rId2" imgW="1624895" imgH="444307" progId="">
                      <p:embed/>
                      <p:pic>
                        <p:nvPicPr>
                          <p:cNvPr id="0" name="Picture 7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41" y="695"/>
                            <a:ext cx="907" cy="2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 name="Rectangle 80"/>
              <p:cNvSpPr>
                <a:spLocks noChangeArrowheads="1"/>
              </p:cNvSpPr>
              <p:nvPr/>
            </p:nvSpPr>
            <p:spPr bwMode="auto">
              <a:xfrm>
                <a:off x="3016" y="651"/>
                <a:ext cx="882" cy="292"/>
              </a:xfrm>
              <a:prstGeom prst="rect">
                <a:avLst/>
              </a:prstGeom>
              <a:noFill/>
              <a:ln w="28575">
                <a:solidFill>
                  <a:srgbClr val="FF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har char="•"/>
                  <a:defRPr sz="3200">
                    <a:solidFill>
                      <a:schemeClr val="tx1"/>
                    </a:solidFill>
                    <a:latin typeface="Arial" pitchFamily="34" charset="0"/>
                    <a:ea typeface="宋体" pitchFamily="2" charset="-122"/>
                  </a:defRPr>
                </a:lvl1pPr>
                <a:lvl2pPr marL="742950" indent="-285750" algn="l" eaLnBrk="0" hangingPunct="0">
                  <a:spcBef>
                    <a:spcPct val="20000"/>
                  </a:spcBef>
                  <a:buChar char="–"/>
                  <a:defRPr sz="2800">
                    <a:solidFill>
                      <a:schemeClr val="tx1"/>
                    </a:solidFill>
                    <a:latin typeface="Arial" pitchFamily="34" charset="0"/>
                    <a:ea typeface="宋体" pitchFamily="2" charset="-122"/>
                  </a:defRPr>
                </a:lvl2pPr>
                <a:lvl3pPr marL="1143000" indent="-228600" algn="l" eaLnBrk="0" hangingPunct="0">
                  <a:spcBef>
                    <a:spcPct val="20000"/>
                  </a:spcBef>
                  <a:buChar char="•"/>
                  <a:defRPr sz="2400">
                    <a:solidFill>
                      <a:schemeClr val="tx1"/>
                    </a:solidFill>
                    <a:latin typeface="Arial" pitchFamily="34" charset="0"/>
                    <a:ea typeface="宋体" pitchFamily="2" charset="-122"/>
                  </a:defRPr>
                </a:lvl3pPr>
                <a:lvl4pPr marL="1600200" indent="-228600" algn="l" eaLnBrk="0" hangingPunct="0">
                  <a:spcBef>
                    <a:spcPct val="20000"/>
                  </a:spcBef>
                  <a:buChar char="–"/>
                  <a:defRPr sz="2000">
                    <a:solidFill>
                      <a:schemeClr val="tx1"/>
                    </a:solidFill>
                    <a:latin typeface="Arial" pitchFamily="34" charset="0"/>
                    <a:ea typeface="宋体" pitchFamily="2" charset="-122"/>
                  </a:defRPr>
                </a:lvl4pPr>
                <a:lvl5pPr marL="2057400" indent="-228600" algn="l"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50000"/>
                  </a:spcBef>
                  <a:buFontTx/>
                  <a:buNone/>
                </a:pPr>
                <a:r>
                  <a:rPr lang="zh-CN" altLang="en-US" sz="2400" b="1" dirty="0">
                    <a:solidFill>
                      <a:srgbClr val="0000FF"/>
                    </a:solidFill>
                    <a:latin typeface="黑体" panose="02010609060101010101" pitchFamily="49" charset="-122"/>
                    <a:ea typeface="黑体" panose="02010609060101010101" pitchFamily="49" charset="-122"/>
                  </a:rPr>
                  <a:t>剪力方程</a:t>
                </a:r>
              </a:p>
            </p:txBody>
          </p:sp>
        </p:grpSp>
        <p:grpSp>
          <p:nvGrpSpPr>
            <p:cNvPr id="31" name="Group 84"/>
            <p:cNvGrpSpPr>
              <a:grpSpLocks/>
            </p:cNvGrpSpPr>
            <p:nvPr/>
          </p:nvGrpSpPr>
          <p:grpSpPr bwMode="auto">
            <a:xfrm>
              <a:off x="3016" y="1014"/>
              <a:ext cx="2087" cy="292"/>
              <a:chOff x="3016" y="1014"/>
              <a:chExt cx="2087" cy="292"/>
            </a:xfrm>
          </p:grpSpPr>
          <p:graphicFrame>
            <p:nvGraphicFramePr>
              <p:cNvPr id="32" name="Object 79"/>
              <p:cNvGraphicFramePr>
                <a:graphicFrameLocks noChangeAspect="1"/>
              </p:cNvGraphicFramePr>
              <p:nvPr/>
            </p:nvGraphicFramePr>
            <p:xfrm>
              <a:off x="4150" y="1026"/>
              <a:ext cx="953" cy="242"/>
            </p:xfrm>
            <a:graphic>
              <a:graphicData uri="http://schemas.openxmlformats.org/presentationml/2006/ole">
                <mc:AlternateContent xmlns:mc="http://schemas.openxmlformats.org/markup-compatibility/2006">
                  <mc:Choice xmlns:v="urn:schemas-microsoft-com:vml" Requires="v">
                    <p:oleObj name="Equation" r:id="rId4" imgW="1651000" imgH="419100" progId="">
                      <p:embed/>
                    </p:oleObj>
                  </mc:Choice>
                  <mc:Fallback>
                    <p:oleObj name="Equation" r:id="rId4" imgW="1651000" imgH="419100" progId="">
                      <p:embed/>
                      <p:pic>
                        <p:nvPicPr>
                          <p:cNvPr id="0" name="Picture 7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50" y="1026"/>
                            <a:ext cx="953" cy="24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 name="Rectangle 81"/>
              <p:cNvSpPr>
                <a:spLocks noChangeArrowheads="1"/>
              </p:cNvSpPr>
              <p:nvPr/>
            </p:nvSpPr>
            <p:spPr bwMode="auto">
              <a:xfrm>
                <a:off x="3016" y="1014"/>
                <a:ext cx="824" cy="292"/>
              </a:xfrm>
              <a:prstGeom prst="rect">
                <a:avLst/>
              </a:prstGeom>
              <a:noFill/>
              <a:ln w="28575">
                <a:solidFill>
                  <a:srgbClr val="FF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lgn="l" eaLnBrk="0" hangingPunct="0">
                  <a:spcBef>
                    <a:spcPct val="20000"/>
                  </a:spcBef>
                  <a:buChar char="•"/>
                  <a:defRPr sz="3200">
                    <a:solidFill>
                      <a:schemeClr val="tx1"/>
                    </a:solidFill>
                    <a:latin typeface="Arial" pitchFamily="34" charset="0"/>
                    <a:ea typeface="宋体" pitchFamily="2" charset="-122"/>
                  </a:defRPr>
                </a:lvl1pPr>
                <a:lvl2pPr marL="742950" indent="-285750" algn="l" eaLnBrk="0" hangingPunct="0">
                  <a:spcBef>
                    <a:spcPct val="20000"/>
                  </a:spcBef>
                  <a:buChar char="–"/>
                  <a:defRPr sz="2800">
                    <a:solidFill>
                      <a:schemeClr val="tx1"/>
                    </a:solidFill>
                    <a:latin typeface="Arial" pitchFamily="34" charset="0"/>
                    <a:ea typeface="宋体" pitchFamily="2" charset="-122"/>
                  </a:defRPr>
                </a:lvl2pPr>
                <a:lvl3pPr marL="1143000" indent="-228600" algn="l" eaLnBrk="0" hangingPunct="0">
                  <a:spcBef>
                    <a:spcPct val="20000"/>
                  </a:spcBef>
                  <a:buChar char="•"/>
                  <a:defRPr sz="2400">
                    <a:solidFill>
                      <a:schemeClr val="tx1"/>
                    </a:solidFill>
                    <a:latin typeface="Arial" pitchFamily="34" charset="0"/>
                    <a:ea typeface="宋体" pitchFamily="2" charset="-122"/>
                  </a:defRPr>
                </a:lvl3pPr>
                <a:lvl4pPr marL="1600200" indent="-228600" algn="l" eaLnBrk="0" hangingPunct="0">
                  <a:spcBef>
                    <a:spcPct val="20000"/>
                  </a:spcBef>
                  <a:buChar char="–"/>
                  <a:defRPr sz="2000">
                    <a:solidFill>
                      <a:schemeClr val="tx1"/>
                    </a:solidFill>
                    <a:latin typeface="Arial" pitchFamily="34" charset="0"/>
                    <a:ea typeface="宋体" pitchFamily="2" charset="-122"/>
                  </a:defRPr>
                </a:lvl4pPr>
                <a:lvl5pPr marL="2057400" indent="-228600" algn="l"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50000"/>
                  </a:spcBef>
                  <a:buFontTx/>
                  <a:buNone/>
                </a:pPr>
                <a:r>
                  <a:rPr lang="zh-CN" altLang="en-US" sz="2400" b="1">
                    <a:solidFill>
                      <a:srgbClr val="0000FF"/>
                    </a:solidFill>
                    <a:latin typeface="黑体" panose="02010609060101010101" pitchFamily="49" charset="-122"/>
                    <a:ea typeface="黑体" panose="02010609060101010101" pitchFamily="49" charset="-122"/>
                  </a:rPr>
                  <a:t>弯矩方程</a:t>
                </a:r>
              </a:p>
            </p:txBody>
          </p:sp>
        </p:grpSp>
      </p:grpSp>
      <p:graphicFrame>
        <p:nvGraphicFramePr>
          <p:cNvPr id="38" name="Object 38"/>
          <p:cNvGraphicFramePr>
            <a:graphicFrameLocks noChangeAspect="1"/>
          </p:cNvGraphicFramePr>
          <p:nvPr>
            <p:extLst>
              <p:ext uri="{D42A27DB-BD31-4B8C-83A1-F6EECF244321}">
                <p14:modId xmlns:p14="http://schemas.microsoft.com/office/powerpoint/2010/main" val="3814736726"/>
              </p:ext>
            </p:extLst>
          </p:nvPr>
        </p:nvGraphicFramePr>
        <p:xfrm>
          <a:off x="827584" y="5163542"/>
          <a:ext cx="2074863" cy="928688"/>
        </p:xfrm>
        <a:graphic>
          <a:graphicData uri="http://schemas.openxmlformats.org/presentationml/2006/ole">
            <mc:AlternateContent xmlns:mc="http://schemas.openxmlformats.org/markup-compatibility/2006">
              <mc:Choice xmlns:v="urn:schemas-microsoft-com:vml" Requires="v">
                <p:oleObj name="公式" r:id="rId6" imgW="694440" imgH="294840" progId="">
                  <p:embed/>
                </p:oleObj>
              </mc:Choice>
              <mc:Fallback>
                <p:oleObj name="公式" r:id="rId6" imgW="694440" imgH="294840" progId="">
                  <p:embed/>
                  <p:pic>
                    <p:nvPicPr>
                      <p:cNvPr id="0" name="Picture 7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27584" y="5163542"/>
                        <a:ext cx="2074863" cy="928688"/>
                      </a:xfrm>
                      <a:prstGeom prst="rect">
                        <a:avLst/>
                      </a:prstGeom>
                      <a:noFill/>
                      <a:ln>
                        <a:noFill/>
                      </a:ln>
                      <a:extLst>
                        <a:ext uri="{909E8E84-426E-40DD-AFC4-6F175D3DCCD1}">
                          <a14:hiddenFill xmlns:a14="http://schemas.microsoft.com/office/drawing/2010/main">
                            <a:solidFill>
                              <a:srgbClr val="66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39" name="Object 39"/>
          <p:cNvGraphicFramePr>
            <a:graphicFrameLocks noChangeAspect="1"/>
          </p:cNvGraphicFramePr>
          <p:nvPr>
            <p:extLst>
              <p:ext uri="{D42A27DB-BD31-4B8C-83A1-F6EECF244321}">
                <p14:modId xmlns:p14="http://schemas.microsoft.com/office/powerpoint/2010/main" val="3387890662"/>
              </p:ext>
            </p:extLst>
          </p:nvPr>
        </p:nvGraphicFramePr>
        <p:xfrm>
          <a:off x="3453309" y="5157192"/>
          <a:ext cx="2171700" cy="928688"/>
        </p:xfrm>
        <a:graphic>
          <a:graphicData uri="http://schemas.openxmlformats.org/presentationml/2006/ole">
            <mc:AlternateContent xmlns:mc="http://schemas.openxmlformats.org/markup-compatibility/2006">
              <mc:Choice xmlns:v="urn:schemas-microsoft-com:vml" Requires="v">
                <p:oleObj name="公式" r:id="rId8" imgW="792360" imgH="294840" progId="">
                  <p:embed/>
                </p:oleObj>
              </mc:Choice>
              <mc:Fallback>
                <p:oleObj name="公式" r:id="rId8" imgW="792360" imgH="294840" progId="">
                  <p:embed/>
                  <p:pic>
                    <p:nvPicPr>
                      <p:cNvPr id="0" name="Picture 7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53309" y="5157192"/>
                        <a:ext cx="2171700" cy="928688"/>
                      </a:xfrm>
                      <a:prstGeom prst="rect">
                        <a:avLst/>
                      </a:prstGeom>
                      <a:noFill/>
                      <a:extLst>
                        <a:ext uri="{909E8E84-426E-40DD-AFC4-6F175D3DCCD1}">
                          <a14:hiddenFill xmlns:a14="http://schemas.microsoft.com/office/drawing/2010/main">
                            <a:solidFill>
                              <a:srgbClr val="66FFFF"/>
                            </a:solidFill>
                          </a14:hiddenFill>
                        </a:ext>
                      </a:extLst>
                    </p:spPr>
                  </p:pic>
                </p:oleObj>
              </mc:Fallback>
            </mc:AlternateContent>
          </a:graphicData>
        </a:graphic>
      </p:graphicFrame>
      <p:graphicFrame>
        <p:nvGraphicFramePr>
          <p:cNvPr id="40" name="Object 40"/>
          <p:cNvGraphicFramePr>
            <a:graphicFrameLocks noChangeAspect="1"/>
          </p:cNvGraphicFramePr>
          <p:nvPr>
            <p:extLst>
              <p:ext uri="{D42A27DB-BD31-4B8C-83A1-F6EECF244321}">
                <p14:modId xmlns:p14="http://schemas.microsoft.com/office/powerpoint/2010/main" val="3306337970"/>
              </p:ext>
            </p:extLst>
          </p:nvPr>
        </p:nvGraphicFramePr>
        <p:xfrm>
          <a:off x="6333034" y="5157192"/>
          <a:ext cx="2209800" cy="846138"/>
        </p:xfrm>
        <a:graphic>
          <a:graphicData uri="http://schemas.openxmlformats.org/presentationml/2006/ole">
            <mc:AlternateContent xmlns:mc="http://schemas.openxmlformats.org/markup-compatibility/2006">
              <mc:Choice xmlns:v="urn:schemas-microsoft-com:vml" Requires="v">
                <p:oleObj name="公式" r:id="rId10" imgW="776160" imgH="294840" progId="">
                  <p:embed/>
                </p:oleObj>
              </mc:Choice>
              <mc:Fallback>
                <p:oleObj name="公式" r:id="rId10" imgW="776160" imgH="294840" progId="">
                  <p:embed/>
                  <p:pic>
                    <p:nvPicPr>
                      <p:cNvPr id="0" name="Picture 7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333034" y="5157192"/>
                        <a:ext cx="2209800" cy="846138"/>
                      </a:xfrm>
                      <a:prstGeom prst="rect">
                        <a:avLst/>
                      </a:prstGeom>
                      <a:noFill/>
                      <a:extLst>
                        <a:ext uri="{909E8E84-426E-40DD-AFC4-6F175D3DCCD1}">
                          <a14:hiddenFill xmlns:a14="http://schemas.microsoft.com/office/drawing/2010/main">
                            <a:solidFill>
                              <a:srgbClr val="66FFFF"/>
                            </a:solidFill>
                          </a14:hiddenFill>
                        </a:ext>
                      </a:extLst>
                    </p:spPr>
                  </p:pic>
                </p:oleObj>
              </mc:Fallback>
            </mc:AlternateContent>
          </a:graphicData>
        </a:graphic>
      </p:graphicFrame>
      <p:sp>
        <p:nvSpPr>
          <p:cNvPr id="41" name="Text Box 41"/>
          <p:cNvSpPr txBox="1">
            <a:spLocks noChangeArrowheads="1"/>
          </p:cNvSpPr>
          <p:nvPr/>
        </p:nvSpPr>
        <p:spPr bwMode="auto">
          <a:xfrm>
            <a:off x="675917" y="4365104"/>
            <a:ext cx="3789363" cy="457200"/>
          </a:xfrm>
          <a:prstGeom prst="rect">
            <a:avLst/>
          </a:prstGeom>
          <a:noFill/>
          <a:ln w="28575">
            <a:solidFill>
              <a:srgbClr val="FF0000"/>
            </a:solidFill>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gn="l" eaLnBrk="0" hangingPunct="0">
              <a:spcBef>
                <a:spcPct val="20000"/>
              </a:spcBef>
              <a:buChar char="•"/>
              <a:defRPr sz="3200">
                <a:solidFill>
                  <a:schemeClr val="tx1"/>
                </a:solidFill>
                <a:latin typeface="Arial" pitchFamily="34" charset="0"/>
                <a:ea typeface="宋体" pitchFamily="2" charset="-122"/>
              </a:defRPr>
            </a:lvl1pPr>
            <a:lvl2pPr marL="742950" indent="-285750" algn="l" eaLnBrk="0" hangingPunct="0">
              <a:spcBef>
                <a:spcPct val="20000"/>
              </a:spcBef>
              <a:buChar char="–"/>
              <a:defRPr sz="2800">
                <a:solidFill>
                  <a:schemeClr val="tx1"/>
                </a:solidFill>
                <a:latin typeface="Arial" pitchFamily="34" charset="0"/>
                <a:ea typeface="宋体" pitchFamily="2" charset="-122"/>
              </a:defRPr>
            </a:lvl2pPr>
            <a:lvl3pPr marL="1143000" indent="-228600" algn="l" eaLnBrk="0" hangingPunct="0">
              <a:spcBef>
                <a:spcPct val="20000"/>
              </a:spcBef>
              <a:buChar char="•"/>
              <a:defRPr sz="2400">
                <a:solidFill>
                  <a:schemeClr val="tx1"/>
                </a:solidFill>
                <a:latin typeface="Arial" pitchFamily="34" charset="0"/>
                <a:ea typeface="宋体" pitchFamily="2" charset="-122"/>
              </a:defRPr>
            </a:lvl3pPr>
            <a:lvl4pPr marL="1600200" indent="-228600" algn="l" eaLnBrk="0" hangingPunct="0">
              <a:spcBef>
                <a:spcPct val="20000"/>
              </a:spcBef>
              <a:buChar char="–"/>
              <a:defRPr sz="2000">
                <a:solidFill>
                  <a:schemeClr val="tx1"/>
                </a:solidFill>
                <a:latin typeface="Arial" pitchFamily="34" charset="0"/>
                <a:ea typeface="宋体" pitchFamily="2" charset="-122"/>
              </a:defRPr>
            </a:lvl4pPr>
            <a:lvl5pPr marL="2057400" indent="-228600" algn="l"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kumimoji="1" lang="en-US" altLang="zh-CN" sz="2400" b="1" i="1" dirty="0">
                <a:solidFill>
                  <a:srgbClr val="0000FF"/>
                </a:solidFill>
                <a:latin typeface="黑体" panose="02010609060101010101" pitchFamily="49" charset="-122"/>
                <a:ea typeface="黑体" panose="02010609060101010101" pitchFamily="49" charset="-122"/>
              </a:rPr>
              <a:t>q</a:t>
            </a:r>
            <a:r>
              <a:rPr kumimoji="1" lang="zh-CN" altLang="en-US" sz="2400" b="1" i="1" dirty="0">
                <a:solidFill>
                  <a:srgbClr val="0000FF"/>
                </a:solidFill>
                <a:latin typeface="黑体" panose="02010609060101010101" pitchFamily="49" charset="-122"/>
                <a:ea typeface="黑体" panose="02010609060101010101" pitchFamily="49" charset="-122"/>
              </a:rPr>
              <a:t>、</a:t>
            </a:r>
            <a:r>
              <a:rPr kumimoji="1" lang="en-US" altLang="zh-CN" sz="2400" b="1" i="1" dirty="0">
                <a:solidFill>
                  <a:srgbClr val="0000FF"/>
                </a:solidFill>
                <a:latin typeface="黑体" panose="02010609060101010101" pitchFamily="49" charset="-122"/>
                <a:ea typeface="黑体" panose="02010609060101010101" pitchFamily="49" charset="-122"/>
              </a:rPr>
              <a:t>F</a:t>
            </a:r>
            <a:r>
              <a:rPr kumimoji="1" lang="en-US" altLang="zh-CN" sz="2400" b="1" i="1" baseline="-25000" dirty="0">
                <a:solidFill>
                  <a:srgbClr val="0000FF"/>
                </a:solidFill>
                <a:latin typeface="黑体" panose="02010609060101010101" pitchFamily="49" charset="-122"/>
                <a:ea typeface="黑体" panose="02010609060101010101" pitchFamily="49" charset="-122"/>
              </a:rPr>
              <a:t>s</a:t>
            </a:r>
            <a:r>
              <a:rPr kumimoji="1" lang="zh-CN" altLang="en-US" sz="2400" b="1" dirty="0">
                <a:solidFill>
                  <a:srgbClr val="0000FF"/>
                </a:solidFill>
                <a:latin typeface="黑体" panose="02010609060101010101" pitchFamily="49" charset="-122"/>
                <a:ea typeface="黑体" panose="02010609060101010101" pitchFamily="49" charset="-122"/>
              </a:rPr>
              <a:t>和</a:t>
            </a:r>
            <a:r>
              <a:rPr kumimoji="1" lang="en-US" altLang="zh-CN" sz="2400" b="1" i="1" dirty="0">
                <a:solidFill>
                  <a:srgbClr val="0000FF"/>
                </a:solidFill>
                <a:latin typeface="黑体" panose="02010609060101010101" pitchFamily="49" charset="-122"/>
                <a:ea typeface="黑体" panose="02010609060101010101" pitchFamily="49" charset="-122"/>
              </a:rPr>
              <a:t>M </a:t>
            </a:r>
            <a:r>
              <a:rPr kumimoji="1" lang="zh-CN" altLang="en-US" sz="2400" b="1" dirty="0">
                <a:solidFill>
                  <a:srgbClr val="0000FF"/>
                </a:solidFill>
                <a:latin typeface="黑体" panose="02010609060101010101" pitchFamily="49" charset="-122"/>
                <a:ea typeface="黑体" panose="02010609060101010101" pitchFamily="49" charset="-122"/>
              </a:rPr>
              <a:t>三者的微分关系</a:t>
            </a:r>
          </a:p>
        </p:txBody>
      </p:sp>
    </p:spTree>
    <p:extLst>
      <p:ext uri="{BB962C8B-B14F-4D97-AF65-F5344CB8AC3E}">
        <p14:creationId xmlns:p14="http://schemas.microsoft.com/office/powerpoint/2010/main" val="3891127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2"/>
                                        </p:tgtEl>
                                        <p:attrNameLst>
                                          <p:attrName>style.visibility</p:attrName>
                                        </p:attrNameLst>
                                      </p:cBhvr>
                                      <p:to>
                                        <p:strVal val="visible"/>
                                      </p:to>
                                    </p:set>
                                    <p:animEffect transition="in" filter="wipe(left)">
                                      <p:cBhvr>
                                        <p:cTn id="7" dur="75"/>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500"/>
                                        <p:tgtEl>
                                          <p:spTgt spid="28"/>
                                        </p:tgtEl>
                                      </p:cBhvr>
                                    </p:animEffect>
                                  </p:childTnLst>
                                </p:cTn>
                              </p:par>
                              <p:par>
                                <p:cTn id="13" presetID="10" presetClass="entr" presetSubtype="0" fill="hold" nodeType="with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fade">
                                      <p:cBhvr>
                                        <p:cTn id="15" dur="500"/>
                                        <p:tgtEl>
                                          <p:spTgt spid="27"/>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41"/>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38"/>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39"/>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autoUpdateAnimBg="0"/>
      <p:bldP spid="41"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547936" y="533400"/>
            <a:ext cx="6248400" cy="663352"/>
          </a:xfrm>
          <a:prstGeom prst="rect">
            <a:avLst/>
          </a:prstGeom>
          <a:noFill/>
          <a:ln w="28575">
            <a:solidFill>
              <a:srgbClr val="FF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lgn="l" eaLnBrk="0" hangingPunct="0">
              <a:spcBef>
                <a:spcPct val="20000"/>
              </a:spcBef>
              <a:buChar char="•"/>
              <a:defRPr sz="3200">
                <a:solidFill>
                  <a:schemeClr val="tx1"/>
                </a:solidFill>
                <a:latin typeface="Arial" pitchFamily="34" charset="0"/>
                <a:ea typeface="宋体" pitchFamily="2" charset="-122"/>
              </a:defRPr>
            </a:lvl1pPr>
            <a:lvl2pPr marL="742950" indent="-285750" algn="l" eaLnBrk="0" hangingPunct="0">
              <a:spcBef>
                <a:spcPct val="20000"/>
              </a:spcBef>
              <a:buChar char="–"/>
              <a:defRPr sz="2800">
                <a:solidFill>
                  <a:schemeClr val="tx1"/>
                </a:solidFill>
                <a:latin typeface="Arial" pitchFamily="34" charset="0"/>
                <a:ea typeface="宋体" pitchFamily="2" charset="-122"/>
              </a:defRPr>
            </a:lvl2pPr>
            <a:lvl3pPr marL="1143000" indent="-228600" algn="l" eaLnBrk="0" hangingPunct="0">
              <a:spcBef>
                <a:spcPct val="20000"/>
              </a:spcBef>
              <a:buChar char="•"/>
              <a:defRPr sz="2400">
                <a:solidFill>
                  <a:schemeClr val="tx1"/>
                </a:solidFill>
                <a:latin typeface="Arial" pitchFamily="34" charset="0"/>
                <a:ea typeface="宋体" pitchFamily="2" charset="-122"/>
              </a:defRPr>
            </a:lvl3pPr>
            <a:lvl4pPr marL="1600200" indent="-228600" algn="l" eaLnBrk="0" hangingPunct="0">
              <a:spcBef>
                <a:spcPct val="20000"/>
              </a:spcBef>
              <a:buChar char="–"/>
              <a:defRPr sz="2000">
                <a:solidFill>
                  <a:schemeClr val="tx1"/>
                </a:solidFill>
                <a:latin typeface="Arial" pitchFamily="34" charset="0"/>
                <a:ea typeface="宋体" pitchFamily="2" charset="-122"/>
              </a:defRPr>
            </a:lvl4pPr>
            <a:lvl5pPr marL="2057400" indent="-228600" algn="l"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lnSpc>
                <a:spcPct val="150000"/>
              </a:lnSpc>
              <a:spcBef>
                <a:spcPct val="0"/>
              </a:spcBef>
              <a:buFontTx/>
              <a:buNone/>
            </a:pPr>
            <a:r>
              <a:rPr lang="zh-CN" altLang="en-US" sz="2400" b="1" dirty="0">
                <a:solidFill>
                  <a:srgbClr val="0000FF"/>
                </a:solidFill>
                <a:latin typeface="黑体" panose="02010609060101010101" pitchFamily="49" charset="-122"/>
                <a:ea typeface="黑体" panose="02010609060101010101" pitchFamily="49" charset="-122"/>
              </a:rPr>
              <a:t>利用剪力、弯矩与分布荷载间积分关系定值</a:t>
            </a:r>
          </a:p>
        </p:txBody>
      </p:sp>
      <p:graphicFrame>
        <p:nvGraphicFramePr>
          <p:cNvPr id="3" name="Object 6"/>
          <p:cNvGraphicFramePr>
            <a:graphicFrameLocks noChangeAspect="1"/>
          </p:cNvGraphicFramePr>
          <p:nvPr>
            <p:extLst>
              <p:ext uri="{D42A27DB-BD31-4B8C-83A1-F6EECF244321}">
                <p14:modId xmlns:p14="http://schemas.microsoft.com/office/powerpoint/2010/main" val="2393913774"/>
              </p:ext>
            </p:extLst>
          </p:nvPr>
        </p:nvGraphicFramePr>
        <p:xfrm>
          <a:off x="624136" y="1905000"/>
          <a:ext cx="3783013" cy="2882900"/>
        </p:xfrm>
        <a:graphic>
          <a:graphicData uri="http://schemas.openxmlformats.org/presentationml/2006/ole">
            <mc:AlternateContent xmlns:mc="http://schemas.openxmlformats.org/markup-compatibility/2006">
              <mc:Choice xmlns:v="urn:schemas-microsoft-com:vml" Requires="v">
                <p:oleObj name="公式" r:id="rId2" imgW="1446120" imgH="1107720" progId="">
                  <p:embed/>
                </p:oleObj>
              </mc:Choice>
              <mc:Fallback>
                <p:oleObj name="公式" r:id="rId2" imgW="1446120" imgH="1107720" progId="">
                  <p:embed/>
                  <p:pic>
                    <p:nvPicPr>
                      <p:cNvPr id="0" name="Picture 3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136" y="1905000"/>
                        <a:ext cx="3783013" cy="2882900"/>
                      </a:xfrm>
                      <a:prstGeom prst="rect">
                        <a:avLst/>
                      </a:prstGeom>
                      <a:noFill/>
                      <a:ln>
                        <a:noFill/>
                      </a:ln>
                      <a:extLst>
                        <a:ext uri="{909E8E84-426E-40DD-AFC4-6F175D3DCCD1}">
                          <a14:hiddenFill xmlns:a14="http://schemas.microsoft.com/office/drawing/2010/main">
                            <a:solidFill>
                              <a:srgbClr val="66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4" name="Object 7"/>
          <p:cNvGraphicFramePr>
            <a:graphicFrameLocks noChangeAspect="1"/>
          </p:cNvGraphicFramePr>
          <p:nvPr>
            <p:extLst>
              <p:ext uri="{D42A27DB-BD31-4B8C-83A1-F6EECF244321}">
                <p14:modId xmlns:p14="http://schemas.microsoft.com/office/powerpoint/2010/main" val="2726636331"/>
              </p:ext>
            </p:extLst>
          </p:nvPr>
        </p:nvGraphicFramePr>
        <p:xfrm>
          <a:off x="4829424" y="1905000"/>
          <a:ext cx="4005262" cy="2882900"/>
        </p:xfrm>
        <a:graphic>
          <a:graphicData uri="http://schemas.openxmlformats.org/presentationml/2006/ole">
            <mc:AlternateContent xmlns:mc="http://schemas.openxmlformats.org/markup-compatibility/2006">
              <mc:Choice xmlns:v="urn:schemas-microsoft-com:vml" Requires="v">
                <p:oleObj name="公式" r:id="rId4" imgW="1535760" imgH="1107720" progId="">
                  <p:embed/>
                </p:oleObj>
              </mc:Choice>
              <mc:Fallback>
                <p:oleObj name="公式" r:id="rId4" imgW="1535760" imgH="1107720" progId="">
                  <p:embed/>
                  <p:pic>
                    <p:nvPicPr>
                      <p:cNvPr id="0" name="Picture 3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29424" y="1905000"/>
                        <a:ext cx="4005262" cy="2882900"/>
                      </a:xfrm>
                      <a:prstGeom prst="rect">
                        <a:avLst/>
                      </a:prstGeom>
                      <a:noFill/>
                      <a:ln>
                        <a:noFill/>
                      </a:ln>
                      <a:extLst>
                        <a:ext uri="{909E8E84-426E-40DD-AFC4-6F175D3DCCD1}">
                          <a14:hiddenFill xmlns:a14="http://schemas.microsoft.com/office/drawing/2010/main">
                            <a:solidFill>
                              <a:srgbClr val="66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5" name="Text Box 8"/>
          <p:cNvSpPr txBox="1">
            <a:spLocks noChangeArrowheads="1"/>
          </p:cNvSpPr>
          <p:nvPr/>
        </p:nvSpPr>
        <p:spPr bwMode="auto">
          <a:xfrm>
            <a:off x="854968" y="5029200"/>
            <a:ext cx="3573016" cy="707886"/>
          </a:xfrm>
          <a:prstGeom prst="rect">
            <a:avLst/>
          </a:prstGeom>
          <a:noFill/>
          <a:ln w="28575">
            <a:solidFill>
              <a:srgbClr val="FF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l" eaLnBrk="0" hangingPunct="0">
              <a:spcBef>
                <a:spcPct val="20000"/>
              </a:spcBef>
              <a:buChar char="•"/>
              <a:defRPr sz="3200">
                <a:solidFill>
                  <a:schemeClr val="tx1"/>
                </a:solidFill>
                <a:latin typeface="Arial" pitchFamily="34" charset="0"/>
                <a:ea typeface="宋体" pitchFamily="2" charset="-122"/>
              </a:defRPr>
            </a:lvl1pPr>
            <a:lvl2pPr marL="742950" indent="-285750" algn="l" eaLnBrk="0" hangingPunct="0">
              <a:spcBef>
                <a:spcPct val="20000"/>
              </a:spcBef>
              <a:buChar char="–"/>
              <a:defRPr sz="2800">
                <a:solidFill>
                  <a:schemeClr val="tx1"/>
                </a:solidFill>
                <a:latin typeface="Arial" pitchFamily="34" charset="0"/>
                <a:ea typeface="宋体" pitchFamily="2" charset="-122"/>
              </a:defRPr>
            </a:lvl2pPr>
            <a:lvl3pPr marL="1143000" indent="-228600" algn="l" eaLnBrk="0" hangingPunct="0">
              <a:spcBef>
                <a:spcPct val="20000"/>
              </a:spcBef>
              <a:buChar char="•"/>
              <a:defRPr sz="2400">
                <a:solidFill>
                  <a:schemeClr val="tx1"/>
                </a:solidFill>
                <a:latin typeface="Arial" pitchFamily="34" charset="0"/>
                <a:ea typeface="宋体" pitchFamily="2" charset="-122"/>
              </a:defRPr>
            </a:lvl3pPr>
            <a:lvl4pPr marL="1600200" indent="-228600" algn="l" eaLnBrk="0" hangingPunct="0">
              <a:spcBef>
                <a:spcPct val="20000"/>
              </a:spcBef>
              <a:buChar char="–"/>
              <a:defRPr sz="2000">
                <a:solidFill>
                  <a:schemeClr val="tx1"/>
                </a:solidFill>
                <a:latin typeface="Arial" pitchFamily="34" charset="0"/>
                <a:ea typeface="宋体" pitchFamily="2" charset="-122"/>
              </a:defRPr>
            </a:lvl4pPr>
            <a:lvl5pPr marL="2057400" indent="-228600" algn="l"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50000"/>
              </a:spcBef>
              <a:buFontTx/>
              <a:buNone/>
            </a:pPr>
            <a:r>
              <a:rPr kumimoji="1" lang="zh-CN" altLang="en-US" sz="2000" b="1" dirty="0">
                <a:solidFill>
                  <a:srgbClr val="0000FF"/>
                </a:solidFill>
                <a:latin typeface="黑体" panose="02010609060101010101" pitchFamily="49" charset="-122"/>
                <a:ea typeface="黑体" panose="02010609060101010101" pitchFamily="49" charset="-122"/>
              </a:rPr>
              <a:t>梁上任意两截面的剪力差等于两截面间载荷图所包围的面积</a:t>
            </a:r>
          </a:p>
        </p:txBody>
      </p:sp>
      <p:sp>
        <p:nvSpPr>
          <p:cNvPr id="6" name="Text Box 9"/>
          <p:cNvSpPr txBox="1">
            <a:spLocks noChangeArrowheads="1"/>
          </p:cNvSpPr>
          <p:nvPr/>
        </p:nvSpPr>
        <p:spPr bwMode="auto">
          <a:xfrm>
            <a:off x="5175448" y="4953000"/>
            <a:ext cx="3645024" cy="707886"/>
          </a:xfrm>
          <a:prstGeom prst="rect">
            <a:avLst/>
          </a:prstGeom>
          <a:noFill/>
          <a:ln w="28575">
            <a:solidFill>
              <a:srgbClr val="FF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l" eaLnBrk="0" hangingPunct="0">
              <a:spcBef>
                <a:spcPct val="20000"/>
              </a:spcBef>
              <a:buChar char="•"/>
              <a:defRPr sz="3200">
                <a:solidFill>
                  <a:schemeClr val="tx1"/>
                </a:solidFill>
                <a:latin typeface="Arial" pitchFamily="34" charset="0"/>
                <a:ea typeface="宋体" pitchFamily="2" charset="-122"/>
              </a:defRPr>
            </a:lvl1pPr>
            <a:lvl2pPr marL="742950" indent="-285750" algn="l" eaLnBrk="0" hangingPunct="0">
              <a:spcBef>
                <a:spcPct val="20000"/>
              </a:spcBef>
              <a:buChar char="–"/>
              <a:defRPr sz="2800">
                <a:solidFill>
                  <a:schemeClr val="tx1"/>
                </a:solidFill>
                <a:latin typeface="Arial" pitchFamily="34" charset="0"/>
                <a:ea typeface="宋体" pitchFamily="2" charset="-122"/>
              </a:defRPr>
            </a:lvl2pPr>
            <a:lvl3pPr marL="1143000" indent="-228600" algn="l" eaLnBrk="0" hangingPunct="0">
              <a:spcBef>
                <a:spcPct val="20000"/>
              </a:spcBef>
              <a:buChar char="•"/>
              <a:defRPr sz="2400">
                <a:solidFill>
                  <a:schemeClr val="tx1"/>
                </a:solidFill>
                <a:latin typeface="Arial" pitchFamily="34" charset="0"/>
                <a:ea typeface="宋体" pitchFamily="2" charset="-122"/>
              </a:defRPr>
            </a:lvl3pPr>
            <a:lvl4pPr marL="1600200" indent="-228600" algn="l" eaLnBrk="0" hangingPunct="0">
              <a:spcBef>
                <a:spcPct val="20000"/>
              </a:spcBef>
              <a:buChar char="–"/>
              <a:defRPr sz="2000">
                <a:solidFill>
                  <a:schemeClr val="tx1"/>
                </a:solidFill>
                <a:latin typeface="Arial" pitchFamily="34" charset="0"/>
                <a:ea typeface="宋体" pitchFamily="2" charset="-122"/>
              </a:defRPr>
            </a:lvl4pPr>
            <a:lvl5pPr marL="2057400" indent="-228600" algn="l"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50000"/>
              </a:spcBef>
              <a:buFontTx/>
              <a:buNone/>
            </a:pPr>
            <a:r>
              <a:rPr kumimoji="1" lang="zh-CN" altLang="en-US" sz="2000" b="1" dirty="0">
                <a:solidFill>
                  <a:srgbClr val="0000FF"/>
                </a:solidFill>
                <a:latin typeface="黑体" panose="02010609060101010101" pitchFamily="49" charset="-122"/>
                <a:ea typeface="黑体" panose="02010609060101010101" pitchFamily="49" charset="-122"/>
              </a:rPr>
              <a:t>梁上任意两截面的弯矩差等于两截面间剪力图所包围的面积</a:t>
            </a:r>
          </a:p>
        </p:txBody>
      </p:sp>
      <p:sp>
        <p:nvSpPr>
          <p:cNvPr id="7" name="Rectangle 10"/>
          <p:cNvSpPr>
            <a:spLocks noChangeArrowheads="1"/>
          </p:cNvSpPr>
          <p:nvPr/>
        </p:nvSpPr>
        <p:spPr bwMode="auto">
          <a:xfrm>
            <a:off x="560040" y="1371600"/>
            <a:ext cx="1563688" cy="457200"/>
          </a:xfrm>
          <a:prstGeom prst="rect">
            <a:avLst/>
          </a:prstGeom>
          <a:noFill/>
          <a:ln w="28575">
            <a:solidFill>
              <a:srgbClr val="FF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har char="•"/>
              <a:defRPr sz="3200">
                <a:solidFill>
                  <a:schemeClr val="tx1"/>
                </a:solidFill>
                <a:latin typeface="Arial" pitchFamily="34" charset="0"/>
                <a:ea typeface="宋体" pitchFamily="2" charset="-122"/>
              </a:defRPr>
            </a:lvl1pPr>
            <a:lvl2pPr marL="742950" indent="-285750" algn="l" eaLnBrk="0" hangingPunct="0">
              <a:spcBef>
                <a:spcPct val="20000"/>
              </a:spcBef>
              <a:buChar char="–"/>
              <a:defRPr sz="2800">
                <a:solidFill>
                  <a:schemeClr val="tx1"/>
                </a:solidFill>
                <a:latin typeface="Arial" pitchFamily="34" charset="0"/>
                <a:ea typeface="宋体" pitchFamily="2" charset="-122"/>
              </a:defRPr>
            </a:lvl2pPr>
            <a:lvl3pPr marL="1143000" indent="-228600" algn="l" eaLnBrk="0" hangingPunct="0">
              <a:spcBef>
                <a:spcPct val="20000"/>
              </a:spcBef>
              <a:buChar char="•"/>
              <a:defRPr sz="2400">
                <a:solidFill>
                  <a:schemeClr val="tx1"/>
                </a:solidFill>
                <a:latin typeface="Arial" pitchFamily="34" charset="0"/>
                <a:ea typeface="宋体" pitchFamily="2" charset="-122"/>
              </a:defRPr>
            </a:lvl3pPr>
            <a:lvl4pPr marL="1600200" indent="-228600" algn="l" eaLnBrk="0" hangingPunct="0">
              <a:spcBef>
                <a:spcPct val="20000"/>
              </a:spcBef>
              <a:buChar char="–"/>
              <a:defRPr sz="2000">
                <a:solidFill>
                  <a:schemeClr val="tx1"/>
                </a:solidFill>
                <a:latin typeface="Arial" pitchFamily="34" charset="0"/>
                <a:ea typeface="宋体" pitchFamily="2" charset="-122"/>
              </a:defRPr>
            </a:lvl4pPr>
            <a:lvl5pPr marL="2057400" indent="-228600" algn="l"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kumimoji="1" lang="zh-CN" altLang="en-US" sz="2400" b="1" dirty="0">
                <a:solidFill>
                  <a:srgbClr val="0000FF"/>
                </a:solidFill>
                <a:latin typeface="黑体" panose="02010609060101010101" pitchFamily="49" charset="-122"/>
                <a:ea typeface="黑体" panose="02010609060101010101" pitchFamily="49" charset="-122"/>
              </a:rPr>
              <a:t>积分关系</a:t>
            </a:r>
            <a:r>
              <a:rPr kumimoji="1" lang="en-US" altLang="zh-CN" sz="2400" b="1" dirty="0">
                <a:solidFill>
                  <a:srgbClr val="0000FF"/>
                </a:solidFill>
                <a:latin typeface="黑体" panose="02010609060101010101" pitchFamily="49" charset="-122"/>
                <a:ea typeface="黑体" panose="02010609060101010101" pitchFamily="49" charset="-122"/>
              </a:rPr>
              <a:t>:</a:t>
            </a:r>
          </a:p>
        </p:txBody>
      </p:sp>
    </p:spTree>
    <p:extLst>
      <p:ext uri="{BB962C8B-B14F-4D97-AF65-F5344CB8AC3E}">
        <p14:creationId xmlns:p14="http://schemas.microsoft.com/office/powerpoint/2010/main" val="4049748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0-#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left)">
                                      <p:cBhvr>
                                        <p:cTn id="18" dur="5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additive="base">
                                        <p:cTn id="23" dur="500" fill="hold"/>
                                        <p:tgtEl>
                                          <p:spTgt spid="5"/>
                                        </p:tgtEl>
                                        <p:attrNameLst>
                                          <p:attrName>ppt_x</p:attrName>
                                        </p:attrNameLst>
                                      </p:cBhvr>
                                      <p:tavLst>
                                        <p:tav tm="0">
                                          <p:val>
                                            <p:strVal val="0-#ppt_w/2"/>
                                          </p:val>
                                        </p:tav>
                                        <p:tav tm="100000">
                                          <p:val>
                                            <p:strVal val="#ppt_x"/>
                                          </p:val>
                                        </p:tav>
                                      </p:tavLst>
                                    </p:anim>
                                    <p:anim calcmode="lin" valueType="num">
                                      <p:cBhvr additive="base">
                                        <p:cTn id="24"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wipe(left)">
                                      <p:cBhvr>
                                        <p:cTn id="29" dur="500"/>
                                        <p:tgtEl>
                                          <p:spTgt spid="4"/>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8" fill="hold" grpId="0" nodeType="clickEffect">
                                  <p:stCondLst>
                                    <p:cond delay="0"/>
                                  </p:stCondLst>
                                  <p:childTnLst>
                                    <p:set>
                                      <p:cBhvr>
                                        <p:cTn id="33" dur="1" fill="hold">
                                          <p:stCondLst>
                                            <p:cond delay="0"/>
                                          </p:stCondLst>
                                        </p:cTn>
                                        <p:tgtEl>
                                          <p:spTgt spid="6"/>
                                        </p:tgtEl>
                                        <p:attrNameLst>
                                          <p:attrName>style.visibility</p:attrName>
                                        </p:attrNameLst>
                                      </p:cBhvr>
                                      <p:to>
                                        <p:strVal val="visible"/>
                                      </p:to>
                                    </p:set>
                                    <p:anim calcmode="lin" valueType="num">
                                      <p:cBhvr additive="base">
                                        <p:cTn id="34" dur="500" fill="hold"/>
                                        <p:tgtEl>
                                          <p:spTgt spid="6"/>
                                        </p:tgtEl>
                                        <p:attrNameLst>
                                          <p:attrName>ppt_x</p:attrName>
                                        </p:attrNameLst>
                                      </p:cBhvr>
                                      <p:tavLst>
                                        <p:tav tm="0">
                                          <p:val>
                                            <p:strVal val="0-#ppt_w/2"/>
                                          </p:val>
                                        </p:tav>
                                        <p:tav tm="100000">
                                          <p:val>
                                            <p:strVal val="#ppt_x"/>
                                          </p:val>
                                        </p:tav>
                                      </p:tavLst>
                                    </p:anim>
                                    <p:anim calcmode="lin" valueType="num">
                                      <p:cBhvr additive="base">
                                        <p:cTn id="35"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autoUpdateAnimBg="0"/>
      <p:bldP spid="6" grpId="0" animBg="1" autoUpdateAnimBg="0"/>
      <p:bldP spid="7" grpId="0" animBg="1"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97"/>
          <p:cNvSpPr txBox="1">
            <a:spLocks noChangeArrowheads="1"/>
          </p:cNvSpPr>
          <p:nvPr/>
        </p:nvSpPr>
        <p:spPr bwMode="auto">
          <a:xfrm>
            <a:off x="1043608" y="1661899"/>
            <a:ext cx="6984776" cy="854075"/>
          </a:xfrm>
          <a:prstGeom prst="rect">
            <a:avLst/>
          </a:prstGeom>
          <a:noFill/>
          <a:ln w="2857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l" eaLnBrk="0" hangingPunct="0">
              <a:spcBef>
                <a:spcPct val="20000"/>
              </a:spcBef>
              <a:buChar char="•"/>
              <a:defRPr sz="3200">
                <a:solidFill>
                  <a:schemeClr val="tx1"/>
                </a:solidFill>
                <a:latin typeface="Arial" pitchFamily="34" charset="0"/>
                <a:ea typeface="宋体" pitchFamily="2" charset="-122"/>
              </a:defRPr>
            </a:lvl1pPr>
            <a:lvl2pPr marL="742950" indent="-285750" algn="l" eaLnBrk="0" hangingPunct="0">
              <a:spcBef>
                <a:spcPct val="20000"/>
              </a:spcBef>
              <a:buChar char="–"/>
              <a:defRPr sz="2800">
                <a:solidFill>
                  <a:schemeClr val="tx1"/>
                </a:solidFill>
                <a:latin typeface="Arial" pitchFamily="34" charset="0"/>
                <a:ea typeface="宋体" pitchFamily="2" charset="-122"/>
              </a:defRPr>
            </a:lvl2pPr>
            <a:lvl3pPr marL="1143000" indent="-228600" algn="l" eaLnBrk="0" hangingPunct="0">
              <a:spcBef>
                <a:spcPct val="20000"/>
              </a:spcBef>
              <a:buChar char="•"/>
              <a:defRPr sz="2400">
                <a:solidFill>
                  <a:schemeClr val="tx1"/>
                </a:solidFill>
                <a:latin typeface="Arial" pitchFamily="34" charset="0"/>
                <a:ea typeface="宋体" pitchFamily="2" charset="-122"/>
              </a:defRPr>
            </a:lvl3pPr>
            <a:lvl4pPr marL="1600200" indent="-228600" algn="l" eaLnBrk="0" hangingPunct="0">
              <a:spcBef>
                <a:spcPct val="20000"/>
              </a:spcBef>
              <a:buChar char="–"/>
              <a:defRPr sz="2000">
                <a:solidFill>
                  <a:schemeClr val="tx1"/>
                </a:solidFill>
                <a:latin typeface="Arial" pitchFamily="34" charset="0"/>
                <a:ea typeface="宋体" pitchFamily="2" charset="-122"/>
              </a:defRPr>
            </a:lvl4pPr>
            <a:lvl5pPr marL="2057400" indent="-228600" algn="l"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50000"/>
              </a:spcBef>
              <a:buFontTx/>
              <a:buNone/>
            </a:pPr>
            <a:r>
              <a:rPr lang="en-US" altLang="zh-CN" sz="2000" b="1" dirty="0">
                <a:solidFill>
                  <a:srgbClr val="FF0000"/>
                </a:solidFill>
                <a:latin typeface="黑体" pitchFamily="49" charset="-122"/>
                <a:ea typeface="黑体" pitchFamily="49" charset="-122"/>
              </a:rPr>
              <a:t>* </a:t>
            </a:r>
            <a:r>
              <a:rPr lang="zh-CN" altLang="en-US" sz="2000" b="1" dirty="0">
                <a:solidFill>
                  <a:srgbClr val="FF0000"/>
                </a:solidFill>
                <a:latin typeface="黑体" pitchFamily="49" charset="-122"/>
                <a:ea typeface="黑体" pitchFamily="49" charset="-122"/>
              </a:rPr>
              <a:t>载荷对称、结构对称则剪力图反对称，弯矩图对称</a:t>
            </a:r>
          </a:p>
          <a:p>
            <a:pPr eaLnBrk="1" hangingPunct="1">
              <a:spcBef>
                <a:spcPct val="50000"/>
              </a:spcBef>
              <a:buFontTx/>
              <a:buNone/>
            </a:pPr>
            <a:r>
              <a:rPr lang="zh-CN" altLang="en-US" sz="2000" b="1" dirty="0">
                <a:solidFill>
                  <a:srgbClr val="FF0000"/>
                </a:solidFill>
                <a:latin typeface="黑体" pitchFamily="49" charset="-122"/>
                <a:ea typeface="黑体" pitchFamily="49" charset="-122"/>
              </a:rPr>
              <a:t>* 剪力为零的截面弯矩有极值。</a:t>
            </a:r>
          </a:p>
        </p:txBody>
      </p:sp>
      <p:sp>
        <p:nvSpPr>
          <p:cNvPr id="3" name="Text Box 266"/>
          <p:cNvSpPr txBox="1">
            <a:spLocks noChangeArrowheads="1"/>
          </p:cNvSpPr>
          <p:nvPr/>
        </p:nvSpPr>
        <p:spPr bwMode="auto">
          <a:xfrm>
            <a:off x="1043608" y="2814027"/>
            <a:ext cx="6984776" cy="738664"/>
          </a:xfrm>
          <a:prstGeom prst="rect">
            <a:avLst/>
          </a:prstGeom>
          <a:solidFill>
            <a:srgbClr val="FFFFFF"/>
          </a:solidFill>
          <a:ln w="28575">
            <a:solidFill>
              <a:srgbClr val="0000FF"/>
            </a:solidFill>
            <a:miter lim="800000"/>
            <a:headEnd/>
            <a:tailEnd/>
          </a:ln>
        </p:spPr>
        <p:txBody>
          <a:bodyPr wrap="square">
            <a:spAutoFit/>
          </a:bodyPr>
          <a:lstStyle>
            <a:lvl1pPr algn="l" eaLnBrk="0" hangingPunct="0">
              <a:spcBef>
                <a:spcPct val="20000"/>
              </a:spcBef>
              <a:buChar char="•"/>
              <a:defRPr sz="3200">
                <a:solidFill>
                  <a:schemeClr val="tx1"/>
                </a:solidFill>
                <a:latin typeface="Arial" pitchFamily="34" charset="0"/>
                <a:ea typeface="宋体" pitchFamily="2" charset="-122"/>
              </a:defRPr>
            </a:lvl1pPr>
            <a:lvl2pPr marL="742950" indent="-285750" algn="l" eaLnBrk="0" hangingPunct="0">
              <a:spcBef>
                <a:spcPct val="20000"/>
              </a:spcBef>
              <a:buChar char="–"/>
              <a:defRPr sz="2800">
                <a:solidFill>
                  <a:schemeClr val="tx1"/>
                </a:solidFill>
                <a:latin typeface="Arial" pitchFamily="34" charset="0"/>
                <a:ea typeface="宋体" pitchFamily="2" charset="-122"/>
              </a:defRPr>
            </a:lvl2pPr>
            <a:lvl3pPr marL="1143000" indent="-228600" algn="l" eaLnBrk="0" hangingPunct="0">
              <a:spcBef>
                <a:spcPct val="20000"/>
              </a:spcBef>
              <a:buChar char="•"/>
              <a:defRPr sz="2400">
                <a:solidFill>
                  <a:schemeClr val="tx1"/>
                </a:solidFill>
                <a:latin typeface="Arial" pitchFamily="34" charset="0"/>
                <a:ea typeface="宋体" pitchFamily="2" charset="-122"/>
              </a:defRPr>
            </a:lvl3pPr>
            <a:lvl4pPr marL="1600200" indent="-228600" algn="l" eaLnBrk="0" hangingPunct="0">
              <a:spcBef>
                <a:spcPct val="20000"/>
              </a:spcBef>
              <a:buChar char="–"/>
              <a:defRPr sz="2000">
                <a:solidFill>
                  <a:schemeClr val="tx1"/>
                </a:solidFill>
                <a:latin typeface="Arial" pitchFamily="34" charset="0"/>
                <a:ea typeface="宋体" pitchFamily="2" charset="-122"/>
              </a:defRPr>
            </a:lvl4pPr>
            <a:lvl5pPr marL="2057400" indent="-228600" algn="l"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lnSpc>
                <a:spcPct val="105000"/>
              </a:lnSpc>
              <a:spcBef>
                <a:spcPct val="0"/>
              </a:spcBef>
              <a:buFontTx/>
              <a:buNone/>
            </a:pPr>
            <a:r>
              <a:rPr kumimoji="1" lang="en-US" altLang="zh-CN" sz="2000" b="1" dirty="0">
                <a:solidFill>
                  <a:srgbClr val="FF0000"/>
                </a:solidFill>
                <a:latin typeface="Times New Roman" pitchFamily="18" charset="0"/>
                <a:ea typeface="黑体" pitchFamily="49" charset="-122"/>
              </a:rPr>
              <a:t>* </a:t>
            </a:r>
            <a:r>
              <a:rPr kumimoji="1" lang="zh-CN" altLang="en-US" sz="2000" b="1" dirty="0">
                <a:solidFill>
                  <a:srgbClr val="FF0000"/>
                </a:solidFill>
                <a:latin typeface="Times New Roman" pitchFamily="18" charset="0"/>
                <a:ea typeface="黑体" pitchFamily="49" charset="-122"/>
              </a:rPr>
              <a:t>在 集中力</a:t>
            </a:r>
            <a:r>
              <a:rPr kumimoji="1" lang="en-US" altLang="zh-CN" sz="2000" b="1" dirty="0">
                <a:solidFill>
                  <a:srgbClr val="FF0000"/>
                </a:solidFill>
                <a:latin typeface="Times New Roman" pitchFamily="18" charset="0"/>
                <a:ea typeface="黑体" pitchFamily="49" charset="-122"/>
              </a:rPr>
              <a:t>F </a:t>
            </a:r>
            <a:r>
              <a:rPr kumimoji="1" lang="zh-CN" altLang="en-US" sz="2000" b="1" dirty="0">
                <a:solidFill>
                  <a:srgbClr val="FF0000"/>
                </a:solidFill>
                <a:latin typeface="Times New Roman" pitchFamily="18" charset="0"/>
                <a:ea typeface="黑体" pitchFamily="49" charset="-122"/>
              </a:rPr>
              <a:t>作用处，剪力图有突变，突变值为集中力的大  小；弯矩图有转折</a:t>
            </a:r>
          </a:p>
        </p:txBody>
      </p:sp>
      <p:sp>
        <p:nvSpPr>
          <p:cNvPr id="4" name="Text Box 276"/>
          <p:cNvSpPr txBox="1">
            <a:spLocks noChangeArrowheads="1"/>
          </p:cNvSpPr>
          <p:nvPr/>
        </p:nvSpPr>
        <p:spPr bwMode="auto">
          <a:xfrm>
            <a:off x="1043608" y="3822139"/>
            <a:ext cx="7056784" cy="830997"/>
          </a:xfrm>
          <a:prstGeom prst="rect">
            <a:avLst/>
          </a:prstGeom>
          <a:noFill/>
          <a:ln w="28575">
            <a:solidFill>
              <a:srgbClr val="0000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lgn="l" eaLnBrk="0" hangingPunct="0">
              <a:spcBef>
                <a:spcPct val="20000"/>
              </a:spcBef>
              <a:buChar char="•"/>
              <a:defRPr sz="3200">
                <a:solidFill>
                  <a:schemeClr val="tx1"/>
                </a:solidFill>
                <a:latin typeface="Arial" pitchFamily="34" charset="0"/>
                <a:ea typeface="宋体" pitchFamily="2" charset="-122"/>
              </a:defRPr>
            </a:lvl1pPr>
            <a:lvl2pPr marL="742950" indent="-285750" algn="l" eaLnBrk="0" hangingPunct="0">
              <a:spcBef>
                <a:spcPct val="20000"/>
              </a:spcBef>
              <a:buChar char="–"/>
              <a:defRPr sz="2800">
                <a:solidFill>
                  <a:schemeClr val="tx1"/>
                </a:solidFill>
                <a:latin typeface="Arial" pitchFamily="34" charset="0"/>
                <a:ea typeface="宋体" pitchFamily="2" charset="-122"/>
              </a:defRPr>
            </a:lvl2pPr>
            <a:lvl3pPr marL="1143000" indent="-228600" algn="l" eaLnBrk="0" hangingPunct="0">
              <a:spcBef>
                <a:spcPct val="20000"/>
              </a:spcBef>
              <a:buChar char="•"/>
              <a:defRPr sz="2400">
                <a:solidFill>
                  <a:schemeClr val="tx1"/>
                </a:solidFill>
                <a:latin typeface="Arial" pitchFamily="34" charset="0"/>
                <a:ea typeface="宋体" pitchFamily="2" charset="-122"/>
              </a:defRPr>
            </a:lvl3pPr>
            <a:lvl4pPr marL="1600200" indent="-228600" algn="l" eaLnBrk="0" hangingPunct="0">
              <a:spcBef>
                <a:spcPct val="20000"/>
              </a:spcBef>
              <a:buChar char="–"/>
              <a:defRPr sz="2000">
                <a:solidFill>
                  <a:schemeClr val="tx1"/>
                </a:solidFill>
                <a:latin typeface="Arial" pitchFamily="34" charset="0"/>
                <a:ea typeface="宋体" pitchFamily="2" charset="-122"/>
              </a:defRPr>
            </a:lvl4pPr>
            <a:lvl5pPr marL="2057400" indent="-228600" algn="l"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lnSpc>
                <a:spcPct val="120000"/>
              </a:lnSpc>
              <a:spcBef>
                <a:spcPct val="0"/>
              </a:spcBef>
              <a:buFontTx/>
              <a:buNone/>
            </a:pPr>
            <a:r>
              <a:rPr kumimoji="1" lang="en-US" altLang="zh-CN" sz="2000" b="1" dirty="0">
                <a:solidFill>
                  <a:srgbClr val="FF0000"/>
                </a:solidFill>
                <a:latin typeface="黑体" pitchFamily="49" charset="-122"/>
                <a:ea typeface="黑体" pitchFamily="49" charset="-122"/>
              </a:rPr>
              <a:t>* </a:t>
            </a:r>
            <a:r>
              <a:rPr kumimoji="1" lang="zh-CN" altLang="en-US" sz="2000" b="1" dirty="0">
                <a:solidFill>
                  <a:srgbClr val="FF0000"/>
                </a:solidFill>
                <a:latin typeface="黑体" pitchFamily="49" charset="-122"/>
                <a:ea typeface="黑体" pitchFamily="49" charset="-122"/>
              </a:rPr>
              <a:t>集中力偶作用点处剪力图无影响，弯矩图有突变，突变值的大小等于集中力偶的大小。</a:t>
            </a:r>
          </a:p>
        </p:txBody>
      </p:sp>
    </p:spTree>
    <p:extLst>
      <p:ext uri="{BB962C8B-B14F-4D97-AF65-F5344CB8AC3E}">
        <p14:creationId xmlns:p14="http://schemas.microsoft.com/office/powerpoint/2010/main" val="865237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autoUpdateAnimBg="0"/>
      <p:bldP spid="3" grpId="0" animBg="1"/>
      <p:bldP spid="4" grpId="0" animBg="1"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p:cNvSpPr>
            <a:spLocks noChangeArrowheads="1"/>
          </p:cNvSpPr>
          <p:nvPr/>
        </p:nvSpPr>
        <p:spPr bwMode="auto">
          <a:xfrm>
            <a:off x="395536" y="260648"/>
            <a:ext cx="3482043" cy="584775"/>
          </a:xfrm>
          <a:prstGeom prst="rect">
            <a:avLst/>
          </a:prstGeom>
          <a:noFill/>
          <a:ln w="2857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200" b="1" dirty="0">
                <a:solidFill>
                  <a:srgbClr val="FF0000"/>
                </a:solidFill>
                <a:latin typeface="楷体" pitchFamily="49" charset="-122"/>
                <a:ea typeface="楷体" pitchFamily="49" charset="-122"/>
              </a:rPr>
              <a:t>第六章  梁的应力</a:t>
            </a:r>
          </a:p>
        </p:txBody>
      </p:sp>
      <p:sp>
        <p:nvSpPr>
          <p:cNvPr id="3" name="Text Box 2"/>
          <p:cNvSpPr txBox="1">
            <a:spLocks noChangeArrowheads="1"/>
          </p:cNvSpPr>
          <p:nvPr/>
        </p:nvSpPr>
        <p:spPr bwMode="auto">
          <a:xfrm>
            <a:off x="355696" y="1052736"/>
            <a:ext cx="8248752" cy="1052596"/>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lnSpc>
                <a:spcPct val="130000"/>
              </a:lnSpc>
            </a:pPr>
            <a:r>
              <a:rPr lang="zh-CN" altLang="en-US" sz="2400" b="1" dirty="0">
                <a:solidFill>
                  <a:srgbClr val="FF0000"/>
                </a:solidFill>
                <a:latin typeface="黑体" panose="02010609060101010101" pitchFamily="49" charset="-122"/>
                <a:ea typeface="黑体" panose="02010609060101010101" pitchFamily="49" charset="-122"/>
              </a:rPr>
              <a:t>纯弯曲</a:t>
            </a:r>
            <a:r>
              <a:rPr lang="en-US" altLang="zh-CN" sz="2400" b="1" dirty="0">
                <a:solidFill>
                  <a:srgbClr val="0000FF"/>
                </a:solidFill>
                <a:latin typeface="黑体" panose="02010609060101010101" pitchFamily="49" charset="-122"/>
                <a:ea typeface="黑体" panose="02010609060101010101" pitchFamily="49" charset="-122"/>
              </a:rPr>
              <a:t>:</a:t>
            </a:r>
            <a:r>
              <a:rPr lang="zh-CN" altLang="en-US" sz="2400" b="1" dirty="0">
                <a:solidFill>
                  <a:srgbClr val="0000FF"/>
                </a:solidFill>
                <a:latin typeface="黑体" panose="02010609060101010101" pitchFamily="49" charset="-122"/>
                <a:ea typeface="黑体" panose="02010609060101010101" pitchFamily="49" charset="-122"/>
              </a:rPr>
              <a:t>梁的横截面上只有弯矩而无剪力的弯曲（横截面上只有正应力而无剪应力的弯曲）。</a:t>
            </a:r>
          </a:p>
        </p:txBody>
      </p:sp>
      <p:sp>
        <p:nvSpPr>
          <p:cNvPr id="4" name="Text Box 4"/>
          <p:cNvSpPr txBox="1">
            <a:spLocks noChangeArrowheads="1"/>
          </p:cNvSpPr>
          <p:nvPr/>
        </p:nvSpPr>
        <p:spPr bwMode="auto">
          <a:xfrm>
            <a:off x="355696" y="2348880"/>
            <a:ext cx="8248752" cy="1052596"/>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lnSpc>
                <a:spcPct val="130000"/>
              </a:lnSpc>
            </a:pPr>
            <a:r>
              <a:rPr lang="zh-CN" altLang="en-US" sz="2400" b="1" dirty="0">
                <a:solidFill>
                  <a:srgbClr val="FF0000"/>
                </a:solidFill>
                <a:latin typeface="黑体" panose="02010609060101010101" pitchFamily="49" charset="-122"/>
                <a:ea typeface="黑体" panose="02010609060101010101" pitchFamily="49" charset="-122"/>
              </a:rPr>
              <a:t>横力弯曲</a:t>
            </a:r>
            <a:r>
              <a:rPr lang="zh-CN" altLang="en-US" sz="2400" b="1" dirty="0">
                <a:solidFill>
                  <a:srgbClr val="0000FF"/>
                </a:solidFill>
                <a:latin typeface="黑体" panose="02010609060101010101" pitchFamily="49" charset="-122"/>
                <a:ea typeface="黑体" panose="02010609060101010101" pitchFamily="49" charset="-122"/>
              </a:rPr>
              <a:t>（剪切弯曲）</a:t>
            </a:r>
            <a:r>
              <a:rPr lang="en-US" altLang="zh-CN" sz="2400" b="1" dirty="0">
                <a:solidFill>
                  <a:srgbClr val="0000FF"/>
                </a:solidFill>
                <a:latin typeface="黑体" panose="02010609060101010101" pitchFamily="49" charset="-122"/>
                <a:ea typeface="黑体" panose="02010609060101010101" pitchFamily="49" charset="-122"/>
              </a:rPr>
              <a:t> </a:t>
            </a:r>
            <a:r>
              <a:rPr lang="zh-CN" altLang="en-US" sz="2400" b="1" dirty="0">
                <a:solidFill>
                  <a:srgbClr val="0000FF"/>
                </a:solidFill>
                <a:latin typeface="黑体" panose="02010609060101010101" pitchFamily="49" charset="-122"/>
                <a:ea typeface="黑体" panose="02010609060101010101" pitchFamily="49" charset="-122"/>
              </a:rPr>
              <a:t>梁的横截面上既有弯矩又有剪力的弯曲（横截面上既有正应力又有剪应力的弯曲）。</a:t>
            </a:r>
          </a:p>
        </p:txBody>
      </p:sp>
      <p:graphicFrame>
        <p:nvGraphicFramePr>
          <p:cNvPr id="7" name="Object 10"/>
          <p:cNvGraphicFramePr>
            <a:graphicFrameLocks noChangeAspect="1"/>
          </p:cNvGraphicFramePr>
          <p:nvPr>
            <p:extLst>
              <p:ext uri="{D42A27DB-BD31-4B8C-83A1-F6EECF244321}">
                <p14:modId xmlns:p14="http://schemas.microsoft.com/office/powerpoint/2010/main" val="961523238"/>
              </p:ext>
            </p:extLst>
          </p:nvPr>
        </p:nvGraphicFramePr>
        <p:xfrm>
          <a:off x="3770372" y="3471183"/>
          <a:ext cx="1828800" cy="1066800"/>
        </p:xfrm>
        <a:graphic>
          <a:graphicData uri="http://schemas.openxmlformats.org/presentationml/2006/ole">
            <mc:AlternateContent xmlns:mc="http://schemas.openxmlformats.org/markup-compatibility/2006">
              <mc:Choice xmlns:v="urn:schemas-microsoft-com:vml" Requires="v">
                <p:oleObj name="公式" r:id="rId2" imgW="533169" imgH="431613" progId="">
                  <p:embed/>
                </p:oleObj>
              </mc:Choice>
              <mc:Fallback>
                <p:oleObj name="公式" r:id="rId2" imgW="533169" imgH="431613" progId="">
                  <p:embed/>
                  <p:pic>
                    <p:nvPicPr>
                      <p:cNvPr id="0" name="Picture 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70372" y="3471183"/>
                        <a:ext cx="1828800" cy="1066800"/>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 name="Text Box 12"/>
          <p:cNvSpPr txBox="1">
            <a:spLocks noChangeArrowheads="1"/>
          </p:cNvSpPr>
          <p:nvPr/>
        </p:nvSpPr>
        <p:spPr bwMode="auto">
          <a:xfrm>
            <a:off x="395536" y="3775983"/>
            <a:ext cx="3278462" cy="461665"/>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dirty="0">
                <a:solidFill>
                  <a:srgbClr val="FF0000"/>
                </a:solidFill>
                <a:latin typeface="黑体" panose="02010609060101010101" pitchFamily="49" charset="-122"/>
                <a:ea typeface="黑体" panose="02010609060101010101" pitchFamily="49" charset="-122"/>
              </a:rPr>
              <a:t>弯曲正应力</a:t>
            </a:r>
            <a:r>
              <a:rPr lang="zh-CN" altLang="en-US" sz="2400" b="1" dirty="0">
                <a:solidFill>
                  <a:srgbClr val="0000FF"/>
                </a:solidFill>
                <a:latin typeface="黑体" panose="02010609060101010101" pitchFamily="49" charset="-122"/>
                <a:ea typeface="黑体" panose="02010609060101010101" pitchFamily="49" charset="-122"/>
              </a:rPr>
              <a:t>计算公式。</a:t>
            </a:r>
            <a:endParaRPr lang="zh-CN" altLang="en-US" sz="2400" dirty="0">
              <a:solidFill>
                <a:srgbClr val="0000FF"/>
              </a:solidFill>
              <a:latin typeface="黑体" panose="02010609060101010101" pitchFamily="49" charset="-122"/>
              <a:ea typeface="黑体" panose="02010609060101010101" pitchFamily="49" charset="-122"/>
            </a:endParaRPr>
          </a:p>
        </p:txBody>
      </p:sp>
      <p:sp>
        <p:nvSpPr>
          <p:cNvPr id="9" name="Text Box 13"/>
          <p:cNvSpPr txBox="1">
            <a:spLocks noChangeArrowheads="1"/>
          </p:cNvSpPr>
          <p:nvPr/>
        </p:nvSpPr>
        <p:spPr bwMode="auto">
          <a:xfrm>
            <a:off x="395536" y="4653136"/>
            <a:ext cx="8208912" cy="1458861"/>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lnSpc>
                <a:spcPct val="130000"/>
              </a:lnSpc>
            </a:pPr>
            <a:r>
              <a:rPr lang="zh-CN" altLang="en-US" sz="2400" b="1" dirty="0">
                <a:solidFill>
                  <a:srgbClr val="0000FF"/>
                </a:solidFill>
                <a:latin typeface="黑体" panose="02010609060101010101" pitchFamily="49" charset="-122"/>
                <a:ea typeface="黑体" panose="02010609060101010101" pitchFamily="49" charset="-122"/>
              </a:rPr>
              <a:t>弯矩可代入</a:t>
            </a:r>
            <a:r>
              <a:rPr lang="zh-CN" altLang="en-US" sz="2400" b="1" dirty="0">
                <a:solidFill>
                  <a:srgbClr val="FF0000"/>
                </a:solidFill>
                <a:latin typeface="黑体" panose="02010609060101010101" pitchFamily="49" charset="-122"/>
                <a:ea typeface="黑体" panose="02010609060101010101" pitchFamily="49" charset="-122"/>
              </a:rPr>
              <a:t>绝对值</a:t>
            </a:r>
            <a:r>
              <a:rPr lang="zh-CN" altLang="en-US" sz="2400" b="1" dirty="0">
                <a:solidFill>
                  <a:srgbClr val="0000FF"/>
                </a:solidFill>
                <a:latin typeface="黑体" panose="02010609060101010101" pitchFamily="49" charset="-122"/>
                <a:ea typeface="黑体" panose="02010609060101010101" pitchFamily="49" charset="-122"/>
              </a:rPr>
              <a:t>，应力的符号由</a:t>
            </a:r>
            <a:r>
              <a:rPr lang="zh-CN" altLang="en-US" sz="2400" b="1" dirty="0">
                <a:solidFill>
                  <a:srgbClr val="FF0000"/>
                </a:solidFill>
                <a:latin typeface="黑体" panose="02010609060101010101" pitchFamily="49" charset="-122"/>
                <a:ea typeface="黑体" panose="02010609060101010101" pitchFamily="49" charset="-122"/>
              </a:rPr>
              <a:t>变形</a:t>
            </a:r>
            <a:r>
              <a:rPr lang="zh-CN" altLang="en-US" sz="2400" b="1" dirty="0">
                <a:solidFill>
                  <a:srgbClr val="0000FF"/>
                </a:solidFill>
                <a:latin typeface="黑体" panose="02010609060101010101" pitchFamily="49" charset="-122"/>
                <a:ea typeface="黑体" panose="02010609060101010101" pitchFamily="49" charset="-122"/>
              </a:rPr>
              <a:t>来判断。</a:t>
            </a:r>
          </a:p>
          <a:p>
            <a:pPr>
              <a:lnSpc>
                <a:spcPct val="120000"/>
              </a:lnSpc>
            </a:pPr>
            <a:r>
              <a:rPr lang="zh-CN" altLang="en-US" sz="2400" b="1" dirty="0">
                <a:solidFill>
                  <a:srgbClr val="0000FF"/>
                </a:solidFill>
                <a:latin typeface="黑体" panose="02010609060101010101" pitchFamily="49" charset="-122"/>
                <a:ea typeface="黑体" panose="02010609060101010101" pitchFamily="49" charset="-122"/>
              </a:rPr>
              <a:t>            当</a:t>
            </a:r>
            <a:r>
              <a:rPr lang="en-US" altLang="zh-CN" sz="2400" b="1" dirty="0">
                <a:solidFill>
                  <a:srgbClr val="0000FF"/>
                </a:solidFill>
                <a:latin typeface="黑体" panose="02010609060101010101" pitchFamily="49" charset="-122"/>
                <a:ea typeface="黑体" panose="02010609060101010101" pitchFamily="49" charset="-122"/>
              </a:rPr>
              <a:t>M &gt; 0</a:t>
            </a:r>
            <a:r>
              <a:rPr lang="zh-CN" altLang="en-US" sz="2400" b="1" dirty="0">
                <a:solidFill>
                  <a:srgbClr val="0000FF"/>
                </a:solidFill>
                <a:latin typeface="黑体" panose="02010609060101010101" pitchFamily="49" charset="-122"/>
                <a:ea typeface="黑体" panose="02010609060101010101" pitchFamily="49" charset="-122"/>
              </a:rPr>
              <a:t>时，下拉上压；</a:t>
            </a:r>
          </a:p>
          <a:p>
            <a:pPr>
              <a:lnSpc>
                <a:spcPct val="120000"/>
              </a:lnSpc>
            </a:pPr>
            <a:r>
              <a:rPr lang="zh-CN" altLang="en-US" sz="2400" b="1" dirty="0">
                <a:solidFill>
                  <a:srgbClr val="0000FF"/>
                </a:solidFill>
                <a:latin typeface="黑体" panose="02010609060101010101" pitchFamily="49" charset="-122"/>
                <a:ea typeface="黑体" panose="02010609060101010101" pitchFamily="49" charset="-122"/>
              </a:rPr>
              <a:t>            当</a:t>
            </a:r>
            <a:r>
              <a:rPr lang="en-US" altLang="zh-CN" sz="2400" b="1" dirty="0">
                <a:solidFill>
                  <a:srgbClr val="0000FF"/>
                </a:solidFill>
                <a:latin typeface="黑体" panose="02010609060101010101" pitchFamily="49" charset="-122"/>
                <a:ea typeface="黑体" panose="02010609060101010101" pitchFamily="49" charset="-122"/>
              </a:rPr>
              <a:t>M &lt; 0</a:t>
            </a:r>
            <a:r>
              <a:rPr lang="zh-CN" altLang="en-US" sz="2400" b="1" dirty="0">
                <a:solidFill>
                  <a:srgbClr val="0000FF"/>
                </a:solidFill>
                <a:latin typeface="黑体" panose="02010609060101010101" pitchFamily="49" charset="-122"/>
                <a:ea typeface="黑体" panose="02010609060101010101" pitchFamily="49" charset="-122"/>
              </a:rPr>
              <a:t>时，上拉下压。</a:t>
            </a:r>
          </a:p>
        </p:txBody>
      </p:sp>
    </p:spTree>
    <p:extLst>
      <p:ext uri="{BB962C8B-B14F-4D97-AF65-F5344CB8AC3E}">
        <p14:creationId xmlns:p14="http://schemas.microsoft.com/office/powerpoint/2010/main" val="2358836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iterate type="lt">
                                    <p:tmPct val="100000"/>
                                  </p:iterate>
                                  <p:childTnLst>
                                    <p:set>
                                      <p:cBhvr>
                                        <p:cTn id="11" dur="1" fill="hold">
                                          <p:stCondLst>
                                            <p:cond delay="0"/>
                                          </p:stCondLst>
                                        </p:cTn>
                                        <p:tgtEl>
                                          <p:spTgt spid="3"/>
                                        </p:tgtEl>
                                        <p:attrNameLst>
                                          <p:attrName>style.visibility</p:attrName>
                                        </p:attrNameLst>
                                      </p:cBhvr>
                                      <p:to>
                                        <p:strVal val="visible"/>
                                      </p:to>
                                    </p:set>
                                    <p:anim calcmode="lin" valueType="num">
                                      <p:cBhvr additive="base">
                                        <p:cTn id="12" dur="75" fill="hold"/>
                                        <p:tgtEl>
                                          <p:spTgt spid="3"/>
                                        </p:tgtEl>
                                        <p:attrNameLst>
                                          <p:attrName>ppt_x</p:attrName>
                                        </p:attrNameLst>
                                      </p:cBhvr>
                                      <p:tavLst>
                                        <p:tav tm="0">
                                          <p:val>
                                            <p:strVal val="#ppt_x"/>
                                          </p:val>
                                        </p:tav>
                                        <p:tav tm="100000">
                                          <p:val>
                                            <p:strVal val="#ppt_x"/>
                                          </p:val>
                                        </p:tav>
                                      </p:tavLst>
                                    </p:anim>
                                    <p:anim calcmode="lin" valueType="num">
                                      <p:cBhvr additive="base">
                                        <p:cTn id="13" dur="75"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iterate type="lt">
                                    <p:tmPct val="100000"/>
                                  </p:iterate>
                                  <p:childTnLst>
                                    <p:set>
                                      <p:cBhvr>
                                        <p:cTn id="17" dur="1" fill="hold">
                                          <p:stCondLst>
                                            <p:cond delay="0"/>
                                          </p:stCondLst>
                                        </p:cTn>
                                        <p:tgtEl>
                                          <p:spTgt spid="4"/>
                                        </p:tgtEl>
                                        <p:attrNameLst>
                                          <p:attrName>style.visibility</p:attrName>
                                        </p:attrNameLst>
                                      </p:cBhvr>
                                      <p:to>
                                        <p:strVal val="visible"/>
                                      </p:to>
                                    </p:set>
                                    <p:anim calcmode="lin" valueType="num">
                                      <p:cBhvr additive="base">
                                        <p:cTn id="18" dur="75" fill="hold"/>
                                        <p:tgtEl>
                                          <p:spTgt spid="4"/>
                                        </p:tgtEl>
                                        <p:attrNameLst>
                                          <p:attrName>ppt_x</p:attrName>
                                        </p:attrNameLst>
                                      </p:cBhvr>
                                      <p:tavLst>
                                        <p:tav tm="0">
                                          <p:val>
                                            <p:strVal val="#ppt_x"/>
                                          </p:val>
                                        </p:tav>
                                        <p:tav tm="100000">
                                          <p:val>
                                            <p:strVal val="#ppt_x"/>
                                          </p:val>
                                        </p:tav>
                                      </p:tavLst>
                                    </p:anim>
                                    <p:anim calcmode="lin" valueType="num">
                                      <p:cBhvr additive="base">
                                        <p:cTn id="19" dur="75"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7"/>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iterate type="lt">
                                    <p:tmPct val="100000"/>
                                  </p:iterate>
                                  <p:childTnLst>
                                    <p:set>
                                      <p:cBhvr>
                                        <p:cTn id="31" dur="1" fill="hold">
                                          <p:stCondLst>
                                            <p:cond delay="0"/>
                                          </p:stCondLst>
                                        </p:cTn>
                                        <p:tgtEl>
                                          <p:spTgt spid="9"/>
                                        </p:tgtEl>
                                        <p:attrNameLst>
                                          <p:attrName>style.visibility</p:attrName>
                                        </p:attrNameLst>
                                      </p:cBhvr>
                                      <p:to>
                                        <p:strVal val="visible"/>
                                      </p:to>
                                    </p:set>
                                    <p:anim calcmode="lin" valueType="num">
                                      <p:cBhvr additive="base">
                                        <p:cTn id="32" dur="75" fill="hold"/>
                                        <p:tgtEl>
                                          <p:spTgt spid="9"/>
                                        </p:tgtEl>
                                        <p:attrNameLst>
                                          <p:attrName>ppt_x</p:attrName>
                                        </p:attrNameLst>
                                      </p:cBhvr>
                                      <p:tavLst>
                                        <p:tav tm="0">
                                          <p:val>
                                            <p:strVal val="#ppt_x"/>
                                          </p:val>
                                        </p:tav>
                                        <p:tav tm="100000">
                                          <p:val>
                                            <p:strVal val="#ppt_x"/>
                                          </p:val>
                                        </p:tav>
                                      </p:tavLst>
                                    </p:anim>
                                    <p:anim calcmode="lin" valueType="num">
                                      <p:cBhvr additive="base">
                                        <p:cTn id="33" dur="75"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autoUpdateAnimBg="0"/>
      <p:bldP spid="4" grpId="0" animBg="1" autoUpdateAnimBg="0"/>
      <p:bldP spid="8" grpId="0" animBg="1"/>
      <p:bldP spid="9" grpId="0" animBg="1"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23"/>
          <p:cNvSpPr txBox="1">
            <a:spLocks noChangeArrowheads="1"/>
          </p:cNvSpPr>
          <p:nvPr/>
        </p:nvSpPr>
        <p:spPr bwMode="auto">
          <a:xfrm>
            <a:off x="2267744" y="2579042"/>
            <a:ext cx="3589444" cy="461665"/>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dirty="0">
                <a:solidFill>
                  <a:srgbClr val="0000FF"/>
                </a:solidFill>
                <a:latin typeface="黑体" panose="02010609060101010101" pitchFamily="49" charset="-122"/>
                <a:ea typeface="黑体" panose="02010609060101010101" pitchFamily="49" charset="-122"/>
              </a:rPr>
              <a:t>⑴  </a:t>
            </a:r>
            <a:r>
              <a:rPr lang="zh-CN" altLang="en-US" sz="2400" b="1" dirty="0">
                <a:solidFill>
                  <a:srgbClr val="0000FF"/>
                </a:solidFill>
                <a:latin typeface="黑体" panose="02010609060101010101" pitchFamily="49" charset="-122"/>
                <a:ea typeface="黑体" panose="02010609060101010101" pitchFamily="49" charset="-122"/>
              </a:rPr>
              <a:t>截面关于中性轴对称</a:t>
            </a:r>
          </a:p>
        </p:txBody>
      </p:sp>
      <p:graphicFrame>
        <p:nvGraphicFramePr>
          <p:cNvPr id="6" name="Object 24"/>
          <p:cNvGraphicFramePr>
            <a:graphicFrameLocks noChangeAspect="1"/>
          </p:cNvGraphicFramePr>
          <p:nvPr>
            <p:extLst>
              <p:ext uri="{D42A27DB-BD31-4B8C-83A1-F6EECF244321}">
                <p14:modId xmlns:p14="http://schemas.microsoft.com/office/powerpoint/2010/main" val="210993286"/>
              </p:ext>
            </p:extLst>
          </p:nvPr>
        </p:nvGraphicFramePr>
        <p:xfrm>
          <a:off x="5940152" y="2370931"/>
          <a:ext cx="2413000" cy="877888"/>
        </p:xfrm>
        <a:graphic>
          <a:graphicData uri="http://schemas.openxmlformats.org/presentationml/2006/ole">
            <mc:AlternateContent xmlns:mc="http://schemas.openxmlformats.org/markup-compatibility/2006">
              <mc:Choice xmlns:v="urn:schemas-microsoft-com:vml" Requires="v">
                <p:oleObj name="公式" r:id="rId2" imgW="1180588" imgH="431613" progId="">
                  <p:embed/>
                </p:oleObj>
              </mc:Choice>
              <mc:Fallback>
                <p:oleObj name="公式" r:id="rId2" imgW="1180588" imgH="431613" progId="">
                  <p:embed/>
                  <p:pic>
                    <p:nvPicPr>
                      <p:cNvPr id="0" name="Picture 8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0152" y="2370931"/>
                        <a:ext cx="2413000" cy="877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 name="Text Box 25"/>
          <p:cNvSpPr txBox="1">
            <a:spLocks noChangeArrowheads="1"/>
          </p:cNvSpPr>
          <p:nvPr/>
        </p:nvSpPr>
        <p:spPr bwMode="auto">
          <a:xfrm>
            <a:off x="2267744" y="3855846"/>
            <a:ext cx="3743332" cy="461665"/>
          </a:xfrm>
          <a:prstGeom prst="rect">
            <a:avLst/>
          </a:prstGeom>
          <a:noFill/>
          <a:ln w="2857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dirty="0">
                <a:solidFill>
                  <a:srgbClr val="0000FF"/>
                </a:solidFill>
                <a:latin typeface="黑体" panose="02010609060101010101" pitchFamily="49" charset="-122"/>
                <a:ea typeface="黑体" panose="02010609060101010101" pitchFamily="49" charset="-122"/>
              </a:rPr>
              <a:t>⑵ </a:t>
            </a:r>
            <a:r>
              <a:rPr lang="zh-CN" altLang="en-US" sz="2400" b="1" dirty="0">
                <a:solidFill>
                  <a:srgbClr val="0000FF"/>
                </a:solidFill>
                <a:latin typeface="黑体" panose="02010609060101010101" pitchFamily="49" charset="-122"/>
                <a:ea typeface="黑体" panose="02010609060101010101" pitchFamily="49" charset="-122"/>
              </a:rPr>
              <a:t>截面关于中性轴不对称</a:t>
            </a:r>
          </a:p>
        </p:txBody>
      </p:sp>
      <p:graphicFrame>
        <p:nvGraphicFramePr>
          <p:cNvPr id="8" name="Object 26"/>
          <p:cNvGraphicFramePr>
            <a:graphicFrameLocks noChangeAspect="1"/>
          </p:cNvGraphicFramePr>
          <p:nvPr>
            <p:extLst>
              <p:ext uri="{D42A27DB-BD31-4B8C-83A1-F6EECF244321}">
                <p14:modId xmlns:p14="http://schemas.microsoft.com/office/powerpoint/2010/main" val="885408673"/>
              </p:ext>
            </p:extLst>
          </p:nvPr>
        </p:nvGraphicFramePr>
        <p:xfrm>
          <a:off x="2771800" y="4725144"/>
          <a:ext cx="2160240" cy="1080120"/>
        </p:xfrm>
        <a:graphic>
          <a:graphicData uri="http://schemas.openxmlformats.org/presentationml/2006/ole">
            <mc:AlternateContent xmlns:mc="http://schemas.openxmlformats.org/markup-compatibility/2006">
              <mc:Choice xmlns:v="urn:schemas-microsoft-com:vml" Requires="v">
                <p:oleObj name="公式" r:id="rId4" imgW="939800" imgH="469900" progId="">
                  <p:embed/>
                </p:oleObj>
              </mc:Choice>
              <mc:Fallback>
                <p:oleObj name="公式" r:id="rId4" imgW="939800" imgH="469900" progId="">
                  <p:embed/>
                  <p:pic>
                    <p:nvPicPr>
                      <p:cNvPr id="0" name="Picture 8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71800" y="4725144"/>
                        <a:ext cx="2160240" cy="10801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27"/>
          <p:cNvGraphicFramePr>
            <a:graphicFrameLocks noChangeAspect="1"/>
          </p:cNvGraphicFramePr>
          <p:nvPr>
            <p:extLst>
              <p:ext uri="{D42A27DB-BD31-4B8C-83A1-F6EECF244321}">
                <p14:modId xmlns:p14="http://schemas.microsoft.com/office/powerpoint/2010/main" val="1563720273"/>
              </p:ext>
            </p:extLst>
          </p:nvPr>
        </p:nvGraphicFramePr>
        <p:xfrm>
          <a:off x="5292080" y="4653136"/>
          <a:ext cx="2215894" cy="1080120"/>
        </p:xfrm>
        <a:graphic>
          <a:graphicData uri="http://schemas.openxmlformats.org/presentationml/2006/ole">
            <mc:AlternateContent xmlns:mc="http://schemas.openxmlformats.org/markup-compatibility/2006">
              <mc:Choice xmlns:v="urn:schemas-microsoft-com:vml" Requires="v">
                <p:oleObj name="公式" r:id="rId6" imgW="965200" imgH="469900" progId="">
                  <p:embed/>
                </p:oleObj>
              </mc:Choice>
              <mc:Fallback>
                <p:oleObj name="公式" r:id="rId6" imgW="965200" imgH="469900" progId="">
                  <p:embed/>
                  <p:pic>
                    <p:nvPicPr>
                      <p:cNvPr id="0" name="Picture 8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92080" y="4653136"/>
                        <a:ext cx="2215894" cy="10801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0" name="Group 28"/>
          <p:cNvGrpSpPr>
            <a:grpSpLocks/>
          </p:cNvGrpSpPr>
          <p:nvPr/>
        </p:nvGrpSpPr>
        <p:grpSpPr bwMode="auto">
          <a:xfrm>
            <a:off x="395288" y="2276475"/>
            <a:ext cx="1485900" cy="1066800"/>
            <a:chOff x="321" y="1968"/>
            <a:chExt cx="936" cy="672"/>
          </a:xfrm>
        </p:grpSpPr>
        <p:sp>
          <p:nvSpPr>
            <p:cNvPr id="11" name="Rectangle 29" descr="浅色上对角线"/>
            <p:cNvSpPr>
              <a:spLocks noChangeArrowheads="1"/>
            </p:cNvSpPr>
            <p:nvPr/>
          </p:nvSpPr>
          <p:spPr bwMode="auto">
            <a:xfrm>
              <a:off x="480" y="1968"/>
              <a:ext cx="528" cy="672"/>
            </a:xfrm>
            <a:prstGeom prst="rect">
              <a:avLst/>
            </a:prstGeom>
            <a:pattFill prst="ltUpDiag">
              <a:fgClr>
                <a:schemeClr val="tx2"/>
              </a:fgClr>
              <a:bgClr>
                <a:srgbClr val="FFFFFF"/>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0000FF"/>
                </a:solidFill>
                <a:latin typeface="黑体" panose="02010609060101010101" pitchFamily="49" charset="-122"/>
                <a:ea typeface="黑体" panose="02010609060101010101" pitchFamily="49" charset="-122"/>
              </a:endParaRPr>
            </a:p>
          </p:txBody>
        </p:sp>
        <p:sp>
          <p:nvSpPr>
            <p:cNvPr id="12" name="Line 30"/>
            <p:cNvSpPr>
              <a:spLocks noChangeShapeType="1"/>
            </p:cNvSpPr>
            <p:nvPr/>
          </p:nvSpPr>
          <p:spPr bwMode="auto">
            <a:xfrm>
              <a:off x="321" y="2304"/>
              <a:ext cx="91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0000FF"/>
                </a:solidFill>
                <a:latin typeface="黑体" panose="02010609060101010101" pitchFamily="49" charset="-122"/>
                <a:ea typeface="黑体" panose="02010609060101010101" pitchFamily="49" charset="-122"/>
              </a:endParaRPr>
            </a:p>
          </p:txBody>
        </p:sp>
        <p:graphicFrame>
          <p:nvGraphicFramePr>
            <p:cNvPr id="13" name="Object 31"/>
            <p:cNvGraphicFramePr>
              <a:graphicFrameLocks noChangeAspect="1"/>
            </p:cNvGraphicFramePr>
            <p:nvPr/>
          </p:nvGraphicFramePr>
          <p:xfrm>
            <a:off x="1113" y="2142"/>
            <a:ext cx="144" cy="144"/>
          </p:xfrm>
          <a:graphic>
            <a:graphicData uri="http://schemas.openxmlformats.org/presentationml/2006/ole">
              <mc:AlternateContent xmlns:mc="http://schemas.openxmlformats.org/markup-compatibility/2006">
                <mc:Choice xmlns:v="urn:schemas-microsoft-com:vml" Requires="v">
                  <p:oleObj name="Equation" r:id="rId8" imgW="126725" imgH="126725" progId="">
                    <p:embed/>
                  </p:oleObj>
                </mc:Choice>
                <mc:Fallback>
                  <p:oleObj name="Equation" r:id="rId8" imgW="126725" imgH="126725" progId="">
                    <p:embed/>
                    <p:pic>
                      <p:nvPicPr>
                        <p:cNvPr id="0" name="Picture 8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13" y="2142"/>
                          <a:ext cx="144" cy="1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4" name="Group 32"/>
          <p:cNvGrpSpPr>
            <a:grpSpLocks/>
          </p:cNvGrpSpPr>
          <p:nvPr/>
        </p:nvGrpSpPr>
        <p:grpSpPr bwMode="auto">
          <a:xfrm>
            <a:off x="417039" y="3847533"/>
            <a:ext cx="1524000" cy="1116013"/>
            <a:chOff x="1344" y="1956"/>
            <a:chExt cx="960" cy="672"/>
          </a:xfrm>
        </p:grpSpPr>
        <p:grpSp>
          <p:nvGrpSpPr>
            <p:cNvPr id="15" name="Group 33"/>
            <p:cNvGrpSpPr>
              <a:grpSpLocks/>
            </p:cNvGrpSpPr>
            <p:nvPr/>
          </p:nvGrpSpPr>
          <p:grpSpPr bwMode="auto">
            <a:xfrm>
              <a:off x="1521" y="1956"/>
              <a:ext cx="528" cy="672"/>
              <a:chOff x="1536" y="2016"/>
              <a:chExt cx="528" cy="672"/>
            </a:xfrm>
          </p:grpSpPr>
          <p:sp>
            <p:nvSpPr>
              <p:cNvPr id="18" name="Rectangle 34" descr="浅色上对角线"/>
              <p:cNvSpPr>
                <a:spLocks noChangeArrowheads="1"/>
              </p:cNvSpPr>
              <p:nvPr/>
            </p:nvSpPr>
            <p:spPr bwMode="auto">
              <a:xfrm>
                <a:off x="1536" y="2016"/>
                <a:ext cx="528" cy="144"/>
              </a:xfrm>
              <a:prstGeom prst="rect">
                <a:avLst/>
              </a:prstGeom>
              <a:pattFill prst="ltUpDiag">
                <a:fgClr>
                  <a:schemeClr val="tx2"/>
                </a:fgClr>
                <a:bgClr>
                  <a:srgbClr val="FFFFFF"/>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0000FF"/>
                  </a:solidFill>
                  <a:latin typeface="黑体" panose="02010609060101010101" pitchFamily="49" charset="-122"/>
                  <a:ea typeface="黑体" panose="02010609060101010101" pitchFamily="49" charset="-122"/>
                </a:endParaRPr>
              </a:p>
            </p:txBody>
          </p:sp>
          <p:sp>
            <p:nvSpPr>
              <p:cNvPr id="19" name="Rectangle 35" descr="浅色上对角线"/>
              <p:cNvSpPr>
                <a:spLocks noChangeArrowheads="1"/>
              </p:cNvSpPr>
              <p:nvPr/>
            </p:nvSpPr>
            <p:spPr bwMode="auto">
              <a:xfrm rot="5400000">
                <a:off x="1539" y="2376"/>
                <a:ext cx="528" cy="96"/>
              </a:xfrm>
              <a:prstGeom prst="rect">
                <a:avLst/>
              </a:prstGeom>
              <a:pattFill prst="ltUpDiag">
                <a:fgClr>
                  <a:schemeClr val="tx2"/>
                </a:fgClr>
                <a:bgClr>
                  <a:srgbClr val="FFFFFF"/>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0000FF"/>
                  </a:solidFill>
                  <a:latin typeface="黑体" panose="02010609060101010101" pitchFamily="49" charset="-122"/>
                  <a:ea typeface="黑体" panose="02010609060101010101" pitchFamily="49" charset="-122"/>
                </a:endParaRPr>
              </a:p>
            </p:txBody>
          </p:sp>
        </p:grpSp>
        <p:sp>
          <p:nvSpPr>
            <p:cNvPr id="16" name="Line 36"/>
            <p:cNvSpPr>
              <a:spLocks noChangeShapeType="1"/>
            </p:cNvSpPr>
            <p:nvPr/>
          </p:nvSpPr>
          <p:spPr bwMode="auto">
            <a:xfrm>
              <a:off x="1344" y="2175"/>
              <a:ext cx="91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0000FF"/>
                </a:solidFill>
                <a:latin typeface="黑体" panose="02010609060101010101" pitchFamily="49" charset="-122"/>
                <a:ea typeface="黑体" panose="02010609060101010101" pitchFamily="49" charset="-122"/>
              </a:endParaRPr>
            </a:p>
          </p:txBody>
        </p:sp>
        <p:graphicFrame>
          <p:nvGraphicFramePr>
            <p:cNvPr id="17" name="Object 37"/>
            <p:cNvGraphicFramePr>
              <a:graphicFrameLocks noChangeAspect="1"/>
            </p:cNvGraphicFramePr>
            <p:nvPr/>
          </p:nvGraphicFramePr>
          <p:xfrm>
            <a:off x="2160" y="2208"/>
            <a:ext cx="144" cy="144"/>
          </p:xfrm>
          <a:graphic>
            <a:graphicData uri="http://schemas.openxmlformats.org/presentationml/2006/ole">
              <mc:AlternateContent xmlns:mc="http://schemas.openxmlformats.org/markup-compatibility/2006">
                <mc:Choice xmlns:v="urn:schemas-microsoft-com:vml" Requires="v">
                  <p:oleObj name="Equation" r:id="rId10" imgW="126725" imgH="126725" progId="">
                    <p:embed/>
                  </p:oleObj>
                </mc:Choice>
                <mc:Fallback>
                  <p:oleObj name="Equation" r:id="rId10" imgW="126725" imgH="126725" progId="">
                    <p:embed/>
                    <p:pic>
                      <p:nvPicPr>
                        <p:cNvPr id="0" name="Picture 9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160" y="2208"/>
                          <a:ext cx="144" cy="1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20" name="Object 3"/>
          <p:cNvGraphicFramePr>
            <a:graphicFrameLocks noChangeAspect="1"/>
          </p:cNvGraphicFramePr>
          <p:nvPr>
            <p:extLst>
              <p:ext uri="{D42A27DB-BD31-4B8C-83A1-F6EECF244321}">
                <p14:modId xmlns:p14="http://schemas.microsoft.com/office/powerpoint/2010/main" val="1657628405"/>
              </p:ext>
            </p:extLst>
          </p:nvPr>
        </p:nvGraphicFramePr>
        <p:xfrm>
          <a:off x="3707904" y="441375"/>
          <a:ext cx="1368226" cy="1109263"/>
        </p:xfrm>
        <a:graphic>
          <a:graphicData uri="http://schemas.openxmlformats.org/presentationml/2006/ole">
            <mc:AlternateContent xmlns:mc="http://schemas.openxmlformats.org/markup-compatibility/2006">
              <mc:Choice xmlns:v="urn:schemas-microsoft-com:vml" Requires="v">
                <p:oleObj name="公式" r:id="rId12" imgW="449280" imgH="350640" progId="">
                  <p:embed/>
                </p:oleObj>
              </mc:Choice>
              <mc:Fallback>
                <p:oleObj name="公式" r:id="rId12" imgW="449280" imgH="350640" progId="">
                  <p:embed/>
                  <p:pic>
                    <p:nvPicPr>
                      <p:cNvPr id="0" name="Picture 9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707904" y="441375"/>
                        <a:ext cx="1368226" cy="1109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 name="Text Box 22"/>
          <p:cNvSpPr txBox="1">
            <a:spLocks noChangeArrowheads="1"/>
          </p:cNvSpPr>
          <p:nvPr/>
        </p:nvSpPr>
        <p:spPr bwMode="auto">
          <a:xfrm>
            <a:off x="611188" y="765175"/>
            <a:ext cx="2659702" cy="461665"/>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dirty="0">
                <a:solidFill>
                  <a:srgbClr val="0000FF"/>
                </a:solidFill>
                <a:latin typeface="黑体" panose="02010609060101010101" pitchFamily="49" charset="-122"/>
                <a:ea typeface="黑体" panose="02010609060101010101" pitchFamily="49" charset="-122"/>
              </a:rPr>
              <a:t>最大正应力的确定</a:t>
            </a:r>
          </a:p>
        </p:txBody>
      </p:sp>
    </p:spTree>
    <p:extLst>
      <p:ext uri="{BB962C8B-B14F-4D97-AF65-F5344CB8AC3E}">
        <p14:creationId xmlns:p14="http://schemas.microsoft.com/office/powerpoint/2010/main" val="3782889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5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499"/>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0-#ppt_w/2"/>
                                          </p:val>
                                        </p:tav>
                                        <p:tav tm="100000">
                                          <p:val>
                                            <p:strVal val="#ppt_x"/>
                                          </p:val>
                                        </p:tav>
                                      </p:tavLst>
                                    </p:anim>
                                    <p:anim calcmode="lin" valueType="num">
                                      <p:cBhvr additive="base">
                                        <p:cTn id="32"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500" fill="hold"/>
                                        <p:tgtEl>
                                          <p:spTgt spid="8"/>
                                        </p:tgtEl>
                                        <p:attrNameLst>
                                          <p:attrName>ppt_x</p:attrName>
                                        </p:attrNameLst>
                                      </p:cBhvr>
                                      <p:tavLst>
                                        <p:tav tm="0">
                                          <p:val>
                                            <p:strVal val="1+#ppt_w/2"/>
                                          </p:val>
                                        </p:tav>
                                        <p:tav tm="100000">
                                          <p:val>
                                            <p:strVal val="#ppt_x"/>
                                          </p:val>
                                        </p:tav>
                                      </p:tavLst>
                                    </p:anim>
                                    <p:anim calcmode="lin" valueType="num">
                                      <p:cBhvr additive="base">
                                        <p:cTn id="38"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nodeType="clickEffect">
                                  <p:stCondLst>
                                    <p:cond delay="0"/>
                                  </p:stCondLst>
                                  <p:childTnLst>
                                    <p:set>
                                      <p:cBhvr>
                                        <p:cTn id="42" dur="1" fill="hold">
                                          <p:stCondLst>
                                            <p:cond delay="0"/>
                                          </p:stCondLst>
                                        </p:cTn>
                                        <p:tgtEl>
                                          <p:spTgt spid="9"/>
                                        </p:tgtEl>
                                        <p:attrNameLst>
                                          <p:attrName>style.visibility</p:attrName>
                                        </p:attrNameLst>
                                      </p:cBhvr>
                                      <p:to>
                                        <p:strVal val="visible"/>
                                      </p:to>
                                    </p:set>
                                    <p:anim calcmode="lin" valueType="num">
                                      <p:cBhvr additive="base">
                                        <p:cTn id="43" dur="500" fill="hold"/>
                                        <p:tgtEl>
                                          <p:spTgt spid="9"/>
                                        </p:tgtEl>
                                        <p:attrNameLst>
                                          <p:attrName>ppt_x</p:attrName>
                                        </p:attrNameLst>
                                      </p:cBhvr>
                                      <p:tavLst>
                                        <p:tav tm="0">
                                          <p:val>
                                            <p:strVal val="1+#ppt_w/2"/>
                                          </p:val>
                                        </p:tav>
                                        <p:tav tm="100000">
                                          <p:val>
                                            <p:strVal val="#ppt_x"/>
                                          </p:val>
                                        </p:tav>
                                      </p:tavLst>
                                    </p:anim>
                                    <p:anim calcmode="lin" valueType="num">
                                      <p:cBhvr additive="base">
                                        <p:cTn id="44"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autoUpdateAnimBg="0"/>
      <p:bldP spid="7" grpId="0" animBg="1" autoUpdateAnimBg="0"/>
      <p:bldP spid="21"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609600" y="404813"/>
            <a:ext cx="4683125" cy="488950"/>
          </a:xfrm>
          <a:prstGeom prst="rect">
            <a:avLst/>
          </a:prstGeom>
          <a:noFill/>
          <a:ln w="19050" algn="ctr">
            <a:solidFill>
              <a:srgbClr val="FF0000"/>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rgbClr val="990000"/>
                  </a:outerShdw>
                </a:effectLst>
              </a14:hiddenEffects>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50000"/>
              </a:spcBef>
              <a:buFontTx/>
              <a:buNone/>
            </a:pPr>
            <a:r>
              <a:rPr kumimoji="1" lang="zh-CN" altLang="en-US" sz="2600" b="1" dirty="0">
                <a:solidFill>
                  <a:srgbClr val="0000FF"/>
                </a:solidFill>
                <a:latin typeface="Times New Roman" pitchFamily="18" charset="0"/>
                <a:ea typeface="黑体" pitchFamily="49" charset="-122"/>
              </a:rPr>
              <a:t>梁的正应力</a:t>
            </a:r>
            <a:r>
              <a:rPr kumimoji="1" lang="zh-CN" altLang="en-US" sz="2600" b="1" dirty="0">
                <a:solidFill>
                  <a:srgbClr val="FF0000"/>
                </a:solidFill>
                <a:latin typeface="Times New Roman" pitchFamily="18" charset="0"/>
                <a:ea typeface="黑体" pitchFamily="49" charset="-122"/>
              </a:rPr>
              <a:t>强度</a:t>
            </a:r>
            <a:r>
              <a:rPr kumimoji="1" lang="zh-CN" altLang="en-US" sz="2600" b="1" dirty="0">
                <a:solidFill>
                  <a:srgbClr val="0000FF"/>
                </a:solidFill>
                <a:latin typeface="Times New Roman" pitchFamily="18" charset="0"/>
                <a:ea typeface="黑体" pitchFamily="49" charset="-122"/>
              </a:rPr>
              <a:t>条件</a:t>
            </a:r>
          </a:p>
        </p:txBody>
      </p:sp>
      <p:sp>
        <p:nvSpPr>
          <p:cNvPr id="3" name="Text Box 3"/>
          <p:cNvSpPr txBox="1">
            <a:spLocks noChangeArrowheads="1"/>
          </p:cNvSpPr>
          <p:nvPr/>
        </p:nvSpPr>
        <p:spPr bwMode="auto">
          <a:xfrm>
            <a:off x="4500563" y="1025525"/>
            <a:ext cx="3887787" cy="457200"/>
          </a:xfrm>
          <a:prstGeom prst="rect">
            <a:avLst/>
          </a:prstGeom>
          <a:noFill/>
          <a:ln w="190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lang="zh-CN" altLang="en-US" sz="2400" b="1">
                <a:solidFill>
                  <a:srgbClr val="0000FF"/>
                </a:solidFill>
                <a:latin typeface="Times New Roman" pitchFamily="18" charset="0"/>
                <a:ea typeface="黑体" pitchFamily="49" charset="-122"/>
              </a:rPr>
              <a:t>材料的许用弯曲正应力</a:t>
            </a:r>
          </a:p>
        </p:txBody>
      </p:sp>
      <p:graphicFrame>
        <p:nvGraphicFramePr>
          <p:cNvPr id="4" name="Object 4"/>
          <p:cNvGraphicFramePr>
            <a:graphicFrameLocks noChangeAspect="1"/>
          </p:cNvGraphicFramePr>
          <p:nvPr>
            <p:extLst>
              <p:ext uri="{D42A27DB-BD31-4B8C-83A1-F6EECF244321}">
                <p14:modId xmlns:p14="http://schemas.microsoft.com/office/powerpoint/2010/main" val="1823803107"/>
              </p:ext>
            </p:extLst>
          </p:nvPr>
        </p:nvGraphicFramePr>
        <p:xfrm>
          <a:off x="1619250" y="1025525"/>
          <a:ext cx="1439863" cy="488950"/>
        </p:xfrm>
        <a:graphic>
          <a:graphicData uri="http://schemas.openxmlformats.org/presentationml/2006/ole">
            <mc:AlternateContent xmlns:mc="http://schemas.openxmlformats.org/markup-compatibility/2006">
              <mc:Choice xmlns:v="urn:schemas-microsoft-com:vml" Requires="v">
                <p:oleObj name="Equation" r:id="rId2" imgW="672808" imgH="228501" progId="">
                  <p:embed/>
                </p:oleObj>
              </mc:Choice>
              <mc:Fallback>
                <p:oleObj name="Equation" r:id="rId2" imgW="672808" imgH="228501" progId="">
                  <p:embed/>
                  <p:pic>
                    <p:nvPicPr>
                      <p:cNvPr id="0" name="Picture 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250" y="1025525"/>
                        <a:ext cx="1439863" cy="488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AutoShape 5"/>
          <p:cNvSpPr>
            <a:spLocks noChangeArrowheads="1"/>
          </p:cNvSpPr>
          <p:nvPr/>
        </p:nvSpPr>
        <p:spPr bwMode="auto">
          <a:xfrm>
            <a:off x="3491880" y="1043778"/>
            <a:ext cx="548525" cy="368998"/>
          </a:xfrm>
          <a:prstGeom prst="notchedRightArrow">
            <a:avLst>
              <a:gd name="adj1" fmla="val 50000"/>
              <a:gd name="adj2" fmla="val 58333"/>
            </a:avLst>
          </a:prstGeom>
          <a:solidFill>
            <a:srgbClr val="800080"/>
          </a:solidFill>
          <a:ln w="19050">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solidFill>
                <a:srgbClr val="0000FF"/>
              </a:solidFill>
            </a:endParaRPr>
          </a:p>
        </p:txBody>
      </p:sp>
      <p:graphicFrame>
        <p:nvGraphicFramePr>
          <p:cNvPr id="6" name="Object 6"/>
          <p:cNvGraphicFramePr>
            <a:graphicFrameLocks noChangeAspect="1"/>
          </p:cNvGraphicFramePr>
          <p:nvPr>
            <p:extLst>
              <p:ext uri="{D42A27DB-BD31-4B8C-83A1-F6EECF244321}">
                <p14:modId xmlns:p14="http://schemas.microsoft.com/office/powerpoint/2010/main" val="2862157579"/>
              </p:ext>
            </p:extLst>
          </p:nvPr>
        </p:nvGraphicFramePr>
        <p:xfrm>
          <a:off x="5580063" y="1528763"/>
          <a:ext cx="1512887" cy="912812"/>
        </p:xfrm>
        <a:graphic>
          <a:graphicData uri="http://schemas.openxmlformats.org/presentationml/2006/ole">
            <mc:AlternateContent xmlns:mc="http://schemas.openxmlformats.org/markup-compatibility/2006">
              <mc:Choice xmlns:v="urn:schemas-microsoft-com:vml" Requires="v">
                <p:oleObj name="Equation" r:id="rId4" imgW="736280" imgH="444307" progId="">
                  <p:embed/>
                </p:oleObj>
              </mc:Choice>
              <mc:Fallback>
                <p:oleObj name="Equation" r:id="rId4" imgW="736280" imgH="444307" progId="">
                  <p:embed/>
                  <p:pic>
                    <p:nvPicPr>
                      <p:cNvPr id="0" name="Picture 9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80063" y="1528763"/>
                        <a:ext cx="1512887" cy="9128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 Box 7"/>
          <p:cNvSpPr txBox="1">
            <a:spLocks noChangeArrowheads="1"/>
          </p:cNvSpPr>
          <p:nvPr/>
        </p:nvSpPr>
        <p:spPr bwMode="auto">
          <a:xfrm>
            <a:off x="611188" y="1673225"/>
            <a:ext cx="4824412" cy="457200"/>
          </a:xfrm>
          <a:prstGeom prst="rect">
            <a:avLst/>
          </a:prstGeom>
          <a:noFill/>
          <a:ln w="190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50000"/>
              </a:spcBef>
              <a:buFontTx/>
              <a:buNone/>
            </a:pPr>
            <a:r>
              <a:rPr lang="zh-CN" altLang="en-US" sz="2400" b="1" dirty="0">
                <a:solidFill>
                  <a:srgbClr val="FF0000"/>
                </a:solidFill>
                <a:latin typeface="Times New Roman" pitchFamily="18" charset="0"/>
                <a:ea typeface="黑体" pitchFamily="49" charset="-122"/>
              </a:rPr>
              <a:t>中性轴</a:t>
            </a:r>
            <a:r>
              <a:rPr lang="zh-CN" altLang="en-US" sz="2400" b="1" dirty="0">
                <a:solidFill>
                  <a:srgbClr val="0000FF"/>
                </a:solidFill>
                <a:latin typeface="Times New Roman" pitchFamily="18" charset="0"/>
                <a:ea typeface="黑体" pitchFamily="49" charset="-122"/>
              </a:rPr>
              <a:t>为横截面对称轴的等直梁</a:t>
            </a:r>
          </a:p>
        </p:txBody>
      </p:sp>
      <p:sp>
        <p:nvSpPr>
          <p:cNvPr id="8" name="Text Box 8"/>
          <p:cNvSpPr txBox="1">
            <a:spLocks noChangeArrowheads="1"/>
          </p:cNvSpPr>
          <p:nvPr/>
        </p:nvSpPr>
        <p:spPr bwMode="auto">
          <a:xfrm>
            <a:off x="611013" y="2467744"/>
            <a:ext cx="7345363" cy="457200"/>
          </a:xfrm>
          <a:prstGeom prst="rect">
            <a:avLst/>
          </a:prstGeom>
          <a:noFill/>
          <a:ln w="19050"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50000"/>
              </a:spcBef>
              <a:buFontTx/>
              <a:buNone/>
            </a:pPr>
            <a:r>
              <a:rPr lang="zh-CN" altLang="en-US" sz="2400" b="1" dirty="0">
                <a:solidFill>
                  <a:srgbClr val="FF0000"/>
                </a:solidFill>
                <a:latin typeface="Times New Roman" pitchFamily="18" charset="0"/>
                <a:ea typeface="黑体" pitchFamily="49" charset="-122"/>
              </a:rPr>
              <a:t>拉、压强度不相等</a:t>
            </a:r>
            <a:r>
              <a:rPr lang="zh-CN" altLang="en-US" sz="2400" b="1" dirty="0">
                <a:solidFill>
                  <a:srgbClr val="0000FF"/>
                </a:solidFill>
                <a:latin typeface="Times New Roman" pitchFamily="18" charset="0"/>
                <a:ea typeface="黑体" pitchFamily="49" charset="-122"/>
              </a:rPr>
              <a:t>的铸铁等脆性材料制成的梁</a:t>
            </a:r>
          </a:p>
        </p:txBody>
      </p:sp>
      <p:graphicFrame>
        <p:nvGraphicFramePr>
          <p:cNvPr id="9" name="Object 9"/>
          <p:cNvGraphicFramePr>
            <a:graphicFrameLocks noChangeAspect="1"/>
          </p:cNvGraphicFramePr>
          <p:nvPr>
            <p:extLst>
              <p:ext uri="{D42A27DB-BD31-4B8C-83A1-F6EECF244321}">
                <p14:modId xmlns:p14="http://schemas.microsoft.com/office/powerpoint/2010/main" val="3173099774"/>
              </p:ext>
            </p:extLst>
          </p:nvPr>
        </p:nvGraphicFramePr>
        <p:xfrm>
          <a:off x="6056313" y="3038475"/>
          <a:ext cx="1611312" cy="492125"/>
        </p:xfrm>
        <a:graphic>
          <a:graphicData uri="http://schemas.openxmlformats.org/presentationml/2006/ole">
            <mc:AlternateContent xmlns:mc="http://schemas.openxmlformats.org/markup-compatibility/2006">
              <mc:Choice xmlns:v="urn:schemas-microsoft-com:vml" Requires="v">
                <p:oleObj name="公式" r:id="rId6" imgW="749300" imgH="228600" progId="">
                  <p:embed/>
                </p:oleObj>
              </mc:Choice>
              <mc:Fallback>
                <p:oleObj name="公式" r:id="rId6" imgW="749300" imgH="228600" progId="">
                  <p:embed/>
                  <p:pic>
                    <p:nvPicPr>
                      <p:cNvPr id="0" name="Picture 9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56313" y="3038475"/>
                        <a:ext cx="1611312" cy="492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Object 10"/>
          <p:cNvGraphicFramePr>
            <a:graphicFrameLocks noChangeAspect="1"/>
          </p:cNvGraphicFramePr>
          <p:nvPr>
            <p:extLst>
              <p:ext uri="{D42A27DB-BD31-4B8C-83A1-F6EECF244321}">
                <p14:modId xmlns:p14="http://schemas.microsoft.com/office/powerpoint/2010/main" val="2610032162"/>
              </p:ext>
            </p:extLst>
          </p:nvPr>
        </p:nvGraphicFramePr>
        <p:xfrm>
          <a:off x="6084888" y="3760788"/>
          <a:ext cx="1666875" cy="500062"/>
        </p:xfrm>
        <a:graphic>
          <a:graphicData uri="http://schemas.openxmlformats.org/presentationml/2006/ole">
            <mc:AlternateContent xmlns:mc="http://schemas.openxmlformats.org/markup-compatibility/2006">
              <mc:Choice xmlns:v="urn:schemas-microsoft-com:vml" Requires="v">
                <p:oleObj name="公式" r:id="rId8" imgW="761669" imgH="228501" progId="">
                  <p:embed/>
                </p:oleObj>
              </mc:Choice>
              <mc:Fallback>
                <p:oleObj name="公式" r:id="rId8" imgW="761669" imgH="228501" progId="">
                  <p:embed/>
                  <p:pic>
                    <p:nvPicPr>
                      <p:cNvPr id="0" name="Picture 9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084888" y="3760788"/>
                        <a:ext cx="1666875" cy="5000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1" name="Group 11"/>
          <p:cNvGrpSpPr>
            <a:grpSpLocks/>
          </p:cNvGrpSpPr>
          <p:nvPr/>
        </p:nvGrpSpPr>
        <p:grpSpPr bwMode="auto">
          <a:xfrm>
            <a:off x="377825" y="2757488"/>
            <a:ext cx="2386013" cy="2079720"/>
            <a:chOff x="622" y="768"/>
            <a:chExt cx="1696" cy="1908"/>
          </a:xfrm>
        </p:grpSpPr>
        <p:sp>
          <p:nvSpPr>
            <p:cNvPr id="12" name="Rectangle 12"/>
            <p:cNvSpPr>
              <a:spLocks noChangeArrowheads="1"/>
            </p:cNvSpPr>
            <p:nvPr/>
          </p:nvSpPr>
          <p:spPr bwMode="auto">
            <a:xfrm>
              <a:off x="1529" y="1900"/>
              <a:ext cx="132"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kumimoji="1" lang="en-US" altLang="zh-CN" sz="2000" i="1">
                  <a:solidFill>
                    <a:srgbClr val="0000FF"/>
                  </a:solidFill>
                  <a:latin typeface="Times New Roman" pitchFamily="18" charset="0"/>
                </a:rPr>
                <a:t>O</a:t>
              </a:r>
              <a:endParaRPr kumimoji="1" lang="en-US" altLang="zh-CN" sz="2000">
                <a:solidFill>
                  <a:srgbClr val="0000FF"/>
                </a:solidFill>
                <a:latin typeface="Times New Roman" pitchFamily="18" charset="0"/>
              </a:endParaRPr>
            </a:p>
          </p:txBody>
        </p:sp>
        <p:sp>
          <p:nvSpPr>
            <p:cNvPr id="13" name="Line 13"/>
            <p:cNvSpPr>
              <a:spLocks noChangeShapeType="1"/>
            </p:cNvSpPr>
            <p:nvPr/>
          </p:nvSpPr>
          <p:spPr bwMode="auto">
            <a:xfrm>
              <a:off x="1494" y="1084"/>
              <a:ext cx="1" cy="984"/>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0000FF"/>
                </a:solidFill>
              </a:endParaRPr>
            </a:p>
          </p:txBody>
        </p:sp>
        <p:sp>
          <p:nvSpPr>
            <p:cNvPr id="14" name="Line 14"/>
            <p:cNvSpPr>
              <a:spLocks noChangeShapeType="1"/>
            </p:cNvSpPr>
            <p:nvPr/>
          </p:nvSpPr>
          <p:spPr bwMode="auto">
            <a:xfrm flipH="1">
              <a:off x="1061" y="2068"/>
              <a:ext cx="433" cy="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0000FF"/>
                </a:solidFill>
              </a:endParaRPr>
            </a:p>
          </p:txBody>
        </p:sp>
        <p:sp>
          <p:nvSpPr>
            <p:cNvPr id="15" name="Line 15"/>
            <p:cNvSpPr>
              <a:spLocks noChangeShapeType="1"/>
            </p:cNvSpPr>
            <p:nvPr/>
          </p:nvSpPr>
          <p:spPr bwMode="auto">
            <a:xfrm>
              <a:off x="1061" y="2068"/>
              <a:ext cx="1" cy="18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0000FF"/>
                </a:solidFill>
              </a:endParaRPr>
            </a:p>
          </p:txBody>
        </p:sp>
        <p:sp>
          <p:nvSpPr>
            <p:cNvPr id="16" name="Line 16"/>
            <p:cNvSpPr>
              <a:spLocks noChangeShapeType="1"/>
            </p:cNvSpPr>
            <p:nvPr/>
          </p:nvSpPr>
          <p:spPr bwMode="auto">
            <a:xfrm>
              <a:off x="1584" y="768"/>
              <a:ext cx="1" cy="1238"/>
            </a:xfrm>
            <a:prstGeom prst="line">
              <a:avLst/>
            </a:prstGeom>
            <a:noFill/>
            <a:ln w="0">
              <a:solidFill>
                <a:srgbClr val="3366FF"/>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0000FF"/>
                </a:solidFill>
              </a:endParaRPr>
            </a:p>
          </p:txBody>
        </p:sp>
        <p:sp>
          <p:nvSpPr>
            <p:cNvPr id="17" name="Line 17"/>
            <p:cNvSpPr>
              <a:spLocks noChangeShapeType="1"/>
            </p:cNvSpPr>
            <p:nvPr/>
          </p:nvSpPr>
          <p:spPr bwMode="auto">
            <a:xfrm>
              <a:off x="1675" y="1084"/>
              <a:ext cx="1" cy="984"/>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0000FF"/>
                </a:solidFill>
              </a:endParaRPr>
            </a:p>
          </p:txBody>
        </p:sp>
        <p:sp>
          <p:nvSpPr>
            <p:cNvPr id="18" name="Line 18"/>
            <p:cNvSpPr>
              <a:spLocks noChangeShapeType="1"/>
            </p:cNvSpPr>
            <p:nvPr/>
          </p:nvSpPr>
          <p:spPr bwMode="auto">
            <a:xfrm>
              <a:off x="1675" y="2068"/>
              <a:ext cx="433" cy="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0000FF"/>
                </a:solidFill>
              </a:endParaRPr>
            </a:p>
          </p:txBody>
        </p:sp>
        <p:sp>
          <p:nvSpPr>
            <p:cNvPr id="19" name="Line 19"/>
            <p:cNvSpPr>
              <a:spLocks noChangeShapeType="1"/>
            </p:cNvSpPr>
            <p:nvPr/>
          </p:nvSpPr>
          <p:spPr bwMode="auto">
            <a:xfrm>
              <a:off x="2108" y="2068"/>
              <a:ext cx="1" cy="18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0000FF"/>
                </a:solidFill>
              </a:endParaRPr>
            </a:p>
          </p:txBody>
        </p:sp>
        <p:sp>
          <p:nvSpPr>
            <p:cNvPr id="20" name="Line 20"/>
            <p:cNvSpPr>
              <a:spLocks noChangeShapeType="1"/>
            </p:cNvSpPr>
            <p:nvPr/>
          </p:nvSpPr>
          <p:spPr bwMode="auto">
            <a:xfrm>
              <a:off x="1494" y="1084"/>
              <a:ext cx="181" cy="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0000FF"/>
                </a:solidFill>
              </a:endParaRPr>
            </a:p>
          </p:txBody>
        </p:sp>
        <p:sp>
          <p:nvSpPr>
            <p:cNvPr id="21" name="Line 21"/>
            <p:cNvSpPr>
              <a:spLocks noChangeShapeType="1"/>
            </p:cNvSpPr>
            <p:nvPr/>
          </p:nvSpPr>
          <p:spPr bwMode="auto">
            <a:xfrm>
              <a:off x="1061" y="2248"/>
              <a:ext cx="1047" cy="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0000FF"/>
                </a:solidFill>
              </a:endParaRPr>
            </a:p>
          </p:txBody>
        </p:sp>
        <p:sp>
          <p:nvSpPr>
            <p:cNvPr id="22" name="Line 22"/>
            <p:cNvSpPr>
              <a:spLocks noChangeShapeType="1"/>
            </p:cNvSpPr>
            <p:nvPr/>
          </p:nvSpPr>
          <p:spPr bwMode="auto">
            <a:xfrm>
              <a:off x="1489" y="1888"/>
              <a:ext cx="725" cy="1"/>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0000FF"/>
                </a:solidFill>
              </a:endParaRPr>
            </a:p>
          </p:txBody>
        </p:sp>
        <p:sp>
          <p:nvSpPr>
            <p:cNvPr id="23" name="Freeform 23"/>
            <p:cNvSpPr>
              <a:spLocks/>
            </p:cNvSpPr>
            <p:nvPr/>
          </p:nvSpPr>
          <p:spPr bwMode="auto">
            <a:xfrm>
              <a:off x="2209" y="1869"/>
              <a:ext cx="109" cy="37"/>
            </a:xfrm>
            <a:custGeom>
              <a:avLst/>
              <a:gdLst>
                <a:gd name="T0" fmla="*/ 0 w 650"/>
                <a:gd name="T1" fmla="*/ 0 h 218"/>
                <a:gd name="T2" fmla="*/ 3 w 650"/>
                <a:gd name="T3" fmla="*/ 1 h 218"/>
                <a:gd name="T4" fmla="*/ 0 w 650"/>
                <a:gd name="T5" fmla="*/ 1 h 218"/>
                <a:gd name="T6" fmla="*/ 0 w 650"/>
                <a:gd name="T7" fmla="*/ 0 h 2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50" h="218">
                  <a:moveTo>
                    <a:pt x="0" y="0"/>
                  </a:moveTo>
                  <a:lnTo>
                    <a:pt x="650" y="110"/>
                  </a:lnTo>
                  <a:lnTo>
                    <a:pt x="0" y="218"/>
                  </a:lnTo>
                  <a:lnTo>
                    <a:pt x="0" y="0"/>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rgbClr val="0000FF"/>
                </a:solidFill>
              </a:endParaRPr>
            </a:p>
          </p:txBody>
        </p:sp>
        <p:sp>
          <p:nvSpPr>
            <p:cNvPr id="24" name="Rectangle 24"/>
            <p:cNvSpPr>
              <a:spLocks noChangeArrowheads="1"/>
            </p:cNvSpPr>
            <p:nvPr/>
          </p:nvSpPr>
          <p:spPr bwMode="auto">
            <a:xfrm>
              <a:off x="2215" y="1917"/>
              <a:ext cx="99" cy="3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kumimoji="1" lang="en-US" altLang="zh-CN" sz="2800" i="1">
                  <a:solidFill>
                    <a:srgbClr val="0000FF"/>
                  </a:solidFill>
                  <a:latin typeface="Times New Roman" pitchFamily="18" charset="0"/>
                </a:rPr>
                <a:t>z</a:t>
              </a:r>
              <a:endParaRPr kumimoji="1" lang="en-US" altLang="zh-CN" sz="2800">
                <a:solidFill>
                  <a:srgbClr val="0000FF"/>
                </a:solidFill>
                <a:latin typeface="Times New Roman" pitchFamily="18" charset="0"/>
              </a:endParaRPr>
            </a:p>
          </p:txBody>
        </p:sp>
        <p:sp>
          <p:nvSpPr>
            <p:cNvPr id="25" name="Freeform 25"/>
            <p:cNvSpPr>
              <a:spLocks/>
            </p:cNvSpPr>
            <p:nvPr/>
          </p:nvSpPr>
          <p:spPr bwMode="auto">
            <a:xfrm>
              <a:off x="2209" y="1869"/>
              <a:ext cx="109" cy="37"/>
            </a:xfrm>
            <a:custGeom>
              <a:avLst/>
              <a:gdLst>
                <a:gd name="T0" fmla="*/ 0 w 650"/>
                <a:gd name="T1" fmla="*/ 0 h 218"/>
                <a:gd name="T2" fmla="*/ 3 w 650"/>
                <a:gd name="T3" fmla="*/ 1 h 218"/>
                <a:gd name="T4" fmla="*/ 0 w 650"/>
                <a:gd name="T5" fmla="*/ 1 h 218"/>
                <a:gd name="T6" fmla="*/ 0 w 650"/>
                <a:gd name="T7" fmla="*/ 0 h 2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50" h="218">
                  <a:moveTo>
                    <a:pt x="0" y="0"/>
                  </a:moveTo>
                  <a:lnTo>
                    <a:pt x="650" y="110"/>
                  </a:lnTo>
                  <a:lnTo>
                    <a:pt x="0" y="218"/>
                  </a:lnTo>
                  <a:lnTo>
                    <a:pt x="0" y="0"/>
                  </a:lnTo>
                </a:path>
              </a:pathLst>
            </a:cu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solidFill>
                  <a:srgbClr val="0000FF"/>
                </a:solidFill>
              </a:endParaRPr>
            </a:p>
          </p:txBody>
        </p:sp>
        <p:sp>
          <p:nvSpPr>
            <p:cNvPr id="26" name="Line 26"/>
            <p:cNvSpPr>
              <a:spLocks noChangeShapeType="1"/>
            </p:cNvSpPr>
            <p:nvPr/>
          </p:nvSpPr>
          <p:spPr bwMode="auto">
            <a:xfrm>
              <a:off x="2216" y="1888"/>
              <a:ext cx="102" cy="1"/>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0000FF"/>
                </a:solidFill>
              </a:endParaRPr>
            </a:p>
          </p:txBody>
        </p:sp>
        <p:sp>
          <p:nvSpPr>
            <p:cNvPr id="27" name="Rectangle 27"/>
            <p:cNvSpPr>
              <a:spLocks noChangeArrowheads="1"/>
            </p:cNvSpPr>
            <p:nvPr/>
          </p:nvSpPr>
          <p:spPr bwMode="auto">
            <a:xfrm>
              <a:off x="1672" y="2281"/>
              <a:ext cx="113" cy="3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kumimoji="1" lang="en-US" altLang="zh-CN" sz="2800" i="1">
                  <a:solidFill>
                    <a:srgbClr val="0000FF"/>
                  </a:solidFill>
                  <a:latin typeface="Times New Roman" pitchFamily="18" charset="0"/>
                </a:rPr>
                <a:t>y</a:t>
              </a:r>
              <a:endParaRPr kumimoji="1" lang="en-US" altLang="zh-CN" sz="2800">
                <a:solidFill>
                  <a:srgbClr val="0000FF"/>
                </a:solidFill>
                <a:latin typeface="Times New Roman" pitchFamily="18" charset="0"/>
              </a:endParaRPr>
            </a:p>
          </p:txBody>
        </p:sp>
        <p:sp>
          <p:nvSpPr>
            <p:cNvPr id="28" name="Line 28"/>
            <p:cNvSpPr>
              <a:spLocks noChangeShapeType="1"/>
            </p:cNvSpPr>
            <p:nvPr/>
          </p:nvSpPr>
          <p:spPr bwMode="auto">
            <a:xfrm>
              <a:off x="1584" y="2114"/>
              <a:ext cx="1" cy="273"/>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0000FF"/>
                </a:solidFill>
              </a:endParaRPr>
            </a:p>
          </p:txBody>
        </p:sp>
        <p:sp>
          <p:nvSpPr>
            <p:cNvPr id="29" name="Line 29"/>
            <p:cNvSpPr>
              <a:spLocks noChangeShapeType="1"/>
            </p:cNvSpPr>
            <p:nvPr/>
          </p:nvSpPr>
          <p:spPr bwMode="auto">
            <a:xfrm>
              <a:off x="1584" y="2387"/>
              <a:ext cx="1" cy="101"/>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0000FF"/>
                </a:solidFill>
              </a:endParaRPr>
            </a:p>
          </p:txBody>
        </p:sp>
        <p:sp>
          <p:nvSpPr>
            <p:cNvPr id="30" name="Freeform 30"/>
            <p:cNvSpPr>
              <a:spLocks/>
            </p:cNvSpPr>
            <p:nvPr/>
          </p:nvSpPr>
          <p:spPr bwMode="auto">
            <a:xfrm>
              <a:off x="1566" y="2380"/>
              <a:ext cx="37" cy="108"/>
            </a:xfrm>
            <a:custGeom>
              <a:avLst/>
              <a:gdLst>
                <a:gd name="T0" fmla="*/ 1 w 217"/>
                <a:gd name="T1" fmla="*/ 0 h 651"/>
                <a:gd name="T2" fmla="*/ 1 w 217"/>
                <a:gd name="T3" fmla="*/ 3 h 651"/>
                <a:gd name="T4" fmla="*/ 0 w 217"/>
                <a:gd name="T5" fmla="*/ 0 h 651"/>
                <a:gd name="T6" fmla="*/ 1 w 217"/>
                <a:gd name="T7" fmla="*/ 0 h 65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7" h="651">
                  <a:moveTo>
                    <a:pt x="217" y="0"/>
                  </a:moveTo>
                  <a:lnTo>
                    <a:pt x="108" y="651"/>
                  </a:lnTo>
                  <a:lnTo>
                    <a:pt x="0" y="0"/>
                  </a:lnTo>
                  <a:lnTo>
                    <a:pt x="217" y="0"/>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rgbClr val="0000FF"/>
                </a:solidFill>
              </a:endParaRPr>
            </a:p>
          </p:txBody>
        </p:sp>
        <p:sp>
          <p:nvSpPr>
            <p:cNvPr id="31" name="Freeform 31"/>
            <p:cNvSpPr>
              <a:spLocks/>
            </p:cNvSpPr>
            <p:nvPr/>
          </p:nvSpPr>
          <p:spPr bwMode="auto">
            <a:xfrm>
              <a:off x="1566" y="2380"/>
              <a:ext cx="37" cy="108"/>
            </a:xfrm>
            <a:custGeom>
              <a:avLst/>
              <a:gdLst>
                <a:gd name="T0" fmla="*/ 1 w 217"/>
                <a:gd name="T1" fmla="*/ 0 h 651"/>
                <a:gd name="T2" fmla="*/ 1 w 217"/>
                <a:gd name="T3" fmla="*/ 3 h 651"/>
                <a:gd name="T4" fmla="*/ 0 w 217"/>
                <a:gd name="T5" fmla="*/ 0 h 651"/>
                <a:gd name="T6" fmla="*/ 1 w 217"/>
                <a:gd name="T7" fmla="*/ 0 h 65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7" h="651">
                  <a:moveTo>
                    <a:pt x="217" y="0"/>
                  </a:moveTo>
                  <a:lnTo>
                    <a:pt x="108" y="651"/>
                  </a:lnTo>
                  <a:lnTo>
                    <a:pt x="0" y="0"/>
                  </a:lnTo>
                  <a:lnTo>
                    <a:pt x="217" y="0"/>
                  </a:lnTo>
                </a:path>
              </a:pathLst>
            </a:cu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solidFill>
                  <a:srgbClr val="0000FF"/>
                </a:solidFill>
              </a:endParaRPr>
            </a:p>
          </p:txBody>
        </p:sp>
        <p:sp>
          <p:nvSpPr>
            <p:cNvPr id="32" name="Line 32"/>
            <p:cNvSpPr>
              <a:spLocks noChangeShapeType="1"/>
            </p:cNvSpPr>
            <p:nvPr/>
          </p:nvSpPr>
          <p:spPr bwMode="auto">
            <a:xfrm flipH="1">
              <a:off x="905" y="2248"/>
              <a:ext cx="144" cy="1"/>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0000FF"/>
                </a:solidFill>
              </a:endParaRPr>
            </a:p>
          </p:txBody>
        </p:sp>
        <p:sp>
          <p:nvSpPr>
            <p:cNvPr id="33" name="Line 33"/>
            <p:cNvSpPr>
              <a:spLocks noChangeShapeType="1"/>
            </p:cNvSpPr>
            <p:nvPr/>
          </p:nvSpPr>
          <p:spPr bwMode="auto">
            <a:xfrm flipH="1">
              <a:off x="905" y="1888"/>
              <a:ext cx="577" cy="1"/>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0000FF"/>
                </a:solidFill>
              </a:endParaRPr>
            </a:p>
          </p:txBody>
        </p:sp>
        <p:sp>
          <p:nvSpPr>
            <p:cNvPr id="34" name="Line 34"/>
            <p:cNvSpPr>
              <a:spLocks noChangeShapeType="1"/>
            </p:cNvSpPr>
            <p:nvPr/>
          </p:nvSpPr>
          <p:spPr bwMode="auto">
            <a:xfrm flipV="1">
              <a:off x="927" y="1978"/>
              <a:ext cx="1" cy="180"/>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0000FF"/>
                </a:solidFill>
              </a:endParaRPr>
            </a:p>
          </p:txBody>
        </p:sp>
        <p:sp>
          <p:nvSpPr>
            <p:cNvPr id="35" name="Freeform 35"/>
            <p:cNvSpPr>
              <a:spLocks/>
            </p:cNvSpPr>
            <p:nvPr/>
          </p:nvSpPr>
          <p:spPr bwMode="auto">
            <a:xfrm>
              <a:off x="912" y="2158"/>
              <a:ext cx="30" cy="90"/>
            </a:xfrm>
            <a:custGeom>
              <a:avLst/>
              <a:gdLst>
                <a:gd name="T0" fmla="*/ 0 w 180"/>
                <a:gd name="T1" fmla="*/ 0 h 543"/>
                <a:gd name="T2" fmla="*/ 1 w 180"/>
                <a:gd name="T3" fmla="*/ 0 h 543"/>
                <a:gd name="T4" fmla="*/ 1 w 180"/>
                <a:gd name="T5" fmla="*/ 2 h 543"/>
                <a:gd name="T6" fmla="*/ 0 w 180"/>
                <a:gd name="T7" fmla="*/ 0 h 54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80" h="543">
                  <a:moveTo>
                    <a:pt x="0" y="0"/>
                  </a:moveTo>
                  <a:lnTo>
                    <a:pt x="180" y="0"/>
                  </a:lnTo>
                  <a:lnTo>
                    <a:pt x="90" y="543"/>
                  </a:lnTo>
                  <a:lnTo>
                    <a:pt x="0" y="0"/>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rgbClr val="0000FF"/>
                </a:solidFill>
              </a:endParaRPr>
            </a:p>
          </p:txBody>
        </p:sp>
        <p:sp>
          <p:nvSpPr>
            <p:cNvPr id="36" name="Freeform 36"/>
            <p:cNvSpPr>
              <a:spLocks/>
            </p:cNvSpPr>
            <p:nvPr/>
          </p:nvSpPr>
          <p:spPr bwMode="auto">
            <a:xfrm>
              <a:off x="912" y="2158"/>
              <a:ext cx="30" cy="90"/>
            </a:xfrm>
            <a:custGeom>
              <a:avLst/>
              <a:gdLst>
                <a:gd name="T0" fmla="*/ 0 w 180"/>
                <a:gd name="T1" fmla="*/ 0 h 543"/>
                <a:gd name="T2" fmla="*/ 1 w 180"/>
                <a:gd name="T3" fmla="*/ 0 h 543"/>
                <a:gd name="T4" fmla="*/ 1 w 180"/>
                <a:gd name="T5" fmla="*/ 2 h 543"/>
                <a:gd name="T6" fmla="*/ 0 w 180"/>
                <a:gd name="T7" fmla="*/ 0 h 54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80" h="543">
                  <a:moveTo>
                    <a:pt x="0" y="0"/>
                  </a:moveTo>
                  <a:lnTo>
                    <a:pt x="180" y="0"/>
                  </a:lnTo>
                  <a:lnTo>
                    <a:pt x="90" y="543"/>
                  </a:lnTo>
                  <a:lnTo>
                    <a:pt x="0" y="0"/>
                  </a:lnTo>
                </a:path>
              </a:pathLst>
            </a:cu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solidFill>
                  <a:srgbClr val="0000FF"/>
                </a:solidFill>
              </a:endParaRPr>
            </a:p>
          </p:txBody>
        </p:sp>
        <p:sp>
          <p:nvSpPr>
            <p:cNvPr id="37" name="Freeform 37"/>
            <p:cNvSpPr>
              <a:spLocks/>
            </p:cNvSpPr>
            <p:nvPr/>
          </p:nvSpPr>
          <p:spPr bwMode="auto">
            <a:xfrm>
              <a:off x="912" y="1888"/>
              <a:ext cx="30" cy="90"/>
            </a:xfrm>
            <a:custGeom>
              <a:avLst/>
              <a:gdLst>
                <a:gd name="T0" fmla="*/ 0 w 180"/>
                <a:gd name="T1" fmla="*/ 2 h 542"/>
                <a:gd name="T2" fmla="*/ 1 w 180"/>
                <a:gd name="T3" fmla="*/ 2 h 542"/>
                <a:gd name="T4" fmla="*/ 1 w 180"/>
                <a:gd name="T5" fmla="*/ 0 h 542"/>
                <a:gd name="T6" fmla="*/ 0 w 180"/>
                <a:gd name="T7" fmla="*/ 2 h 54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80" h="542">
                  <a:moveTo>
                    <a:pt x="0" y="542"/>
                  </a:moveTo>
                  <a:lnTo>
                    <a:pt x="180" y="542"/>
                  </a:lnTo>
                  <a:lnTo>
                    <a:pt x="90" y="0"/>
                  </a:lnTo>
                  <a:lnTo>
                    <a:pt x="0" y="542"/>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rgbClr val="0000FF"/>
                </a:solidFill>
              </a:endParaRPr>
            </a:p>
          </p:txBody>
        </p:sp>
        <p:sp>
          <p:nvSpPr>
            <p:cNvPr id="38" name="Freeform 38"/>
            <p:cNvSpPr>
              <a:spLocks/>
            </p:cNvSpPr>
            <p:nvPr/>
          </p:nvSpPr>
          <p:spPr bwMode="auto">
            <a:xfrm>
              <a:off x="912" y="1888"/>
              <a:ext cx="30" cy="90"/>
            </a:xfrm>
            <a:custGeom>
              <a:avLst/>
              <a:gdLst>
                <a:gd name="T0" fmla="*/ 0 w 180"/>
                <a:gd name="T1" fmla="*/ 2 h 542"/>
                <a:gd name="T2" fmla="*/ 1 w 180"/>
                <a:gd name="T3" fmla="*/ 2 h 542"/>
                <a:gd name="T4" fmla="*/ 1 w 180"/>
                <a:gd name="T5" fmla="*/ 0 h 542"/>
                <a:gd name="T6" fmla="*/ 0 w 180"/>
                <a:gd name="T7" fmla="*/ 2 h 54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80" h="542">
                  <a:moveTo>
                    <a:pt x="0" y="542"/>
                  </a:moveTo>
                  <a:lnTo>
                    <a:pt x="180" y="542"/>
                  </a:lnTo>
                  <a:lnTo>
                    <a:pt x="90" y="0"/>
                  </a:lnTo>
                  <a:lnTo>
                    <a:pt x="0" y="542"/>
                  </a:lnTo>
                </a:path>
              </a:pathLst>
            </a:cu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solidFill>
                  <a:srgbClr val="0000FF"/>
                </a:solidFill>
              </a:endParaRPr>
            </a:p>
          </p:txBody>
        </p:sp>
        <p:sp>
          <p:nvSpPr>
            <p:cNvPr id="39" name="Line 39"/>
            <p:cNvSpPr>
              <a:spLocks noChangeShapeType="1"/>
            </p:cNvSpPr>
            <p:nvPr/>
          </p:nvSpPr>
          <p:spPr bwMode="auto">
            <a:xfrm>
              <a:off x="1061" y="2248"/>
              <a:ext cx="1" cy="1"/>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0000FF"/>
                </a:solidFill>
              </a:endParaRPr>
            </a:p>
          </p:txBody>
        </p:sp>
        <p:sp>
          <p:nvSpPr>
            <p:cNvPr id="40" name="Line 40"/>
            <p:cNvSpPr>
              <a:spLocks noChangeShapeType="1"/>
            </p:cNvSpPr>
            <p:nvPr/>
          </p:nvSpPr>
          <p:spPr bwMode="auto">
            <a:xfrm>
              <a:off x="1494" y="1888"/>
              <a:ext cx="1" cy="1"/>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0000FF"/>
                </a:solidFill>
              </a:endParaRPr>
            </a:p>
          </p:txBody>
        </p:sp>
        <p:sp>
          <p:nvSpPr>
            <p:cNvPr id="41" name="Line 41"/>
            <p:cNvSpPr>
              <a:spLocks noChangeShapeType="1"/>
            </p:cNvSpPr>
            <p:nvPr/>
          </p:nvSpPr>
          <p:spPr bwMode="auto">
            <a:xfrm>
              <a:off x="927" y="1888"/>
              <a:ext cx="1" cy="1"/>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0000FF"/>
                </a:solidFill>
              </a:endParaRPr>
            </a:p>
          </p:txBody>
        </p:sp>
        <p:sp>
          <p:nvSpPr>
            <p:cNvPr id="42" name="Line 42"/>
            <p:cNvSpPr>
              <a:spLocks noChangeShapeType="1"/>
            </p:cNvSpPr>
            <p:nvPr/>
          </p:nvSpPr>
          <p:spPr bwMode="auto">
            <a:xfrm flipH="1">
              <a:off x="905" y="1888"/>
              <a:ext cx="566" cy="1"/>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0000FF"/>
                </a:solidFill>
              </a:endParaRPr>
            </a:p>
          </p:txBody>
        </p:sp>
        <p:sp>
          <p:nvSpPr>
            <p:cNvPr id="43" name="Line 43"/>
            <p:cNvSpPr>
              <a:spLocks noChangeShapeType="1"/>
            </p:cNvSpPr>
            <p:nvPr/>
          </p:nvSpPr>
          <p:spPr bwMode="auto">
            <a:xfrm flipH="1">
              <a:off x="905" y="1084"/>
              <a:ext cx="668" cy="1"/>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0000FF"/>
                </a:solidFill>
              </a:endParaRPr>
            </a:p>
          </p:txBody>
        </p:sp>
        <p:sp>
          <p:nvSpPr>
            <p:cNvPr id="44" name="Line 44"/>
            <p:cNvSpPr>
              <a:spLocks noChangeShapeType="1"/>
            </p:cNvSpPr>
            <p:nvPr/>
          </p:nvSpPr>
          <p:spPr bwMode="auto">
            <a:xfrm flipV="1">
              <a:off x="927" y="1174"/>
              <a:ext cx="1" cy="623"/>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0000FF"/>
                </a:solidFill>
              </a:endParaRPr>
            </a:p>
          </p:txBody>
        </p:sp>
        <p:sp>
          <p:nvSpPr>
            <p:cNvPr id="45" name="Freeform 45"/>
            <p:cNvSpPr>
              <a:spLocks/>
            </p:cNvSpPr>
            <p:nvPr/>
          </p:nvSpPr>
          <p:spPr bwMode="auto">
            <a:xfrm>
              <a:off x="912" y="1797"/>
              <a:ext cx="30" cy="91"/>
            </a:xfrm>
            <a:custGeom>
              <a:avLst/>
              <a:gdLst>
                <a:gd name="T0" fmla="*/ 0 w 180"/>
                <a:gd name="T1" fmla="*/ 0 h 544"/>
                <a:gd name="T2" fmla="*/ 1 w 180"/>
                <a:gd name="T3" fmla="*/ 0 h 544"/>
                <a:gd name="T4" fmla="*/ 1 w 180"/>
                <a:gd name="T5" fmla="*/ 3 h 544"/>
                <a:gd name="T6" fmla="*/ 0 w 180"/>
                <a:gd name="T7" fmla="*/ 0 h 54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80" h="544">
                  <a:moveTo>
                    <a:pt x="0" y="0"/>
                  </a:moveTo>
                  <a:lnTo>
                    <a:pt x="180" y="0"/>
                  </a:lnTo>
                  <a:lnTo>
                    <a:pt x="90" y="544"/>
                  </a:lnTo>
                  <a:lnTo>
                    <a:pt x="0" y="0"/>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rgbClr val="0000FF"/>
                </a:solidFill>
              </a:endParaRPr>
            </a:p>
          </p:txBody>
        </p:sp>
        <p:sp>
          <p:nvSpPr>
            <p:cNvPr id="46" name="Freeform 46"/>
            <p:cNvSpPr>
              <a:spLocks/>
            </p:cNvSpPr>
            <p:nvPr/>
          </p:nvSpPr>
          <p:spPr bwMode="auto">
            <a:xfrm>
              <a:off x="912" y="1797"/>
              <a:ext cx="30" cy="91"/>
            </a:xfrm>
            <a:custGeom>
              <a:avLst/>
              <a:gdLst>
                <a:gd name="T0" fmla="*/ 0 w 180"/>
                <a:gd name="T1" fmla="*/ 0 h 544"/>
                <a:gd name="T2" fmla="*/ 1 w 180"/>
                <a:gd name="T3" fmla="*/ 0 h 544"/>
                <a:gd name="T4" fmla="*/ 1 w 180"/>
                <a:gd name="T5" fmla="*/ 3 h 544"/>
                <a:gd name="T6" fmla="*/ 0 w 180"/>
                <a:gd name="T7" fmla="*/ 0 h 54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80" h="544">
                  <a:moveTo>
                    <a:pt x="0" y="0"/>
                  </a:moveTo>
                  <a:lnTo>
                    <a:pt x="180" y="0"/>
                  </a:lnTo>
                  <a:lnTo>
                    <a:pt x="90" y="544"/>
                  </a:lnTo>
                  <a:lnTo>
                    <a:pt x="0" y="0"/>
                  </a:lnTo>
                </a:path>
              </a:pathLst>
            </a:cu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solidFill>
                  <a:srgbClr val="0000FF"/>
                </a:solidFill>
              </a:endParaRPr>
            </a:p>
          </p:txBody>
        </p:sp>
        <p:sp>
          <p:nvSpPr>
            <p:cNvPr id="47" name="Freeform 47"/>
            <p:cNvSpPr>
              <a:spLocks/>
            </p:cNvSpPr>
            <p:nvPr/>
          </p:nvSpPr>
          <p:spPr bwMode="auto">
            <a:xfrm>
              <a:off x="912" y="1084"/>
              <a:ext cx="30" cy="90"/>
            </a:xfrm>
            <a:custGeom>
              <a:avLst/>
              <a:gdLst>
                <a:gd name="T0" fmla="*/ 0 w 180"/>
                <a:gd name="T1" fmla="*/ 2 h 542"/>
                <a:gd name="T2" fmla="*/ 1 w 180"/>
                <a:gd name="T3" fmla="*/ 2 h 542"/>
                <a:gd name="T4" fmla="*/ 1 w 180"/>
                <a:gd name="T5" fmla="*/ 0 h 542"/>
                <a:gd name="T6" fmla="*/ 0 w 180"/>
                <a:gd name="T7" fmla="*/ 2 h 54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80" h="542">
                  <a:moveTo>
                    <a:pt x="0" y="542"/>
                  </a:moveTo>
                  <a:lnTo>
                    <a:pt x="180" y="542"/>
                  </a:lnTo>
                  <a:lnTo>
                    <a:pt x="90" y="0"/>
                  </a:lnTo>
                  <a:lnTo>
                    <a:pt x="0" y="542"/>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rgbClr val="0000FF"/>
                </a:solidFill>
              </a:endParaRPr>
            </a:p>
          </p:txBody>
        </p:sp>
        <p:sp>
          <p:nvSpPr>
            <p:cNvPr id="48" name="Freeform 48"/>
            <p:cNvSpPr>
              <a:spLocks/>
            </p:cNvSpPr>
            <p:nvPr/>
          </p:nvSpPr>
          <p:spPr bwMode="auto">
            <a:xfrm>
              <a:off x="912" y="1084"/>
              <a:ext cx="30" cy="90"/>
            </a:xfrm>
            <a:custGeom>
              <a:avLst/>
              <a:gdLst>
                <a:gd name="T0" fmla="*/ 0 w 180"/>
                <a:gd name="T1" fmla="*/ 2 h 542"/>
                <a:gd name="T2" fmla="*/ 1 w 180"/>
                <a:gd name="T3" fmla="*/ 2 h 542"/>
                <a:gd name="T4" fmla="*/ 1 w 180"/>
                <a:gd name="T5" fmla="*/ 0 h 542"/>
                <a:gd name="T6" fmla="*/ 0 w 180"/>
                <a:gd name="T7" fmla="*/ 2 h 54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80" h="542">
                  <a:moveTo>
                    <a:pt x="0" y="542"/>
                  </a:moveTo>
                  <a:lnTo>
                    <a:pt x="180" y="542"/>
                  </a:lnTo>
                  <a:lnTo>
                    <a:pt x="90" y="0"/>
                  </a:lnTo>
                  <a:lnTo>
                    <a:pt x="0" y="542"/>
                  </a:lnTo>
                </a:path>
              </a:pathLst>
            </a:cu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solidFill>
                  <a:srgbClr val="0000FF"/>
                </a:solidFill>
              </a:endParaRPr>
            </a:p>
          </p:txBody>
        </p:sp>
        <p:sp>
          <p:nvSpPr>
            <p:cNvPr id="49" name="Line 49"/>
            <p:cNvSpPr>
              <a:spLocks noChangeShapeType="1"/>
            </p:cNvSpPr>
            <p:nvPr/>
          </p:nvSpPr>
          <p:spPr bwMode="auto">
            <a:xfrm>
              <a:off x="1482" y="1888"/>
              <a:ext cx="1" cy="1"/>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0000FF"/>
                </a:solidFill>
              </a:endParaRPr>
            </a:p>
          </p:txBody>
        </p:sp>
        <p:sp>
          <p:nvSpPr>
            <p:cNvPr id="50" name="Line 50"/>
            <p:cNvSpPr>
              <a:spLocks noChangeShapeType="1"/>
            </p:cNvSpPr>
            <p:nvPr/>
          </p:nvSpPr>
          <p:spPr bwMode="auto">
            <a:xfrm>
              <a:off x="1584" y="1084"/>
              <a:ext cx="1" cy="1"/>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0000FF"/>
                </a:solidFill>
              </a:endParaRPr>
            </a:p>
          </p:txBody>
        </p:sp>
        <p:sp>
          <p:nvSpPr>
            <p:cNvPr id="51" name="Rectangle 51"/>
            <p:cNvSpPr>
              <a:spLocks noChangeArrowheads="1"/>
            </p:cNvSpPr>
            <p:nvPr/>
          </p:nvSpPr>
          <p:spPr bwMode="auto">
            <a:xfrm rot="-5400000">
              <a:off x="407" y="2026"/>
              <a:ext cx="625"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kumimoji="1" lang="en-US" altLang="zh-CN" sz="1800" i="1">
                  <a:solidFill>
                    <a:srgbClr val="0000FF"/>
                  </a:solidFill>
                  <a:latin typeface="Times New Roman" pitchFamily="18" charset="0"/>
                </a:rPr>
                <a:t>y</a:t>
              </a:r>
              <a:r>
                <a:rPr kumimoji="1" lang="en-US" altLang="zh-CN" sz="1800" baseline="-25000">
                  <a:solidFill>
                    <a:srgbClr val="0000FF"/>
                  </a:solidFill>
                  <a:latin typeface="Times New Roman" pitchFamily="18" charset="0"/>
                </a:rPr>
                <a:t>tmax</a:t>
              </a:r>
            </a:p>
          </p:txBody>
        </p:sp>
        <p:sp>
          <p:nvSpPr>
            <p:cNvPr id="52" name="Line 52"/>
            <p:cNvSpPr>
              <a:spLocks noChangeShapeType="1"/>
            </p:cNvSpPr>
            <p:nvPr/>
          </p:nvSpPr>
          <p:spPr bwMode="auto">
            <a:xfrm>
              <a:off x="927" y="1084"/>
              <a:ext cx="1" cy="1"/>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0000FF"/>
                </a:solidFill>
              </a:endParaRPr>
            </a:p>
          </p:txBody>
        </p:sp>
        <p:sp>
          <p:nvSpPr>
            <p:cNvPr id="53" name="Rectangle 53"/>
            <p:cNvSpPr>
              <a:spLocks noChangeArrowheads="1"/>
            </p:cNvSpPr>
            <p:nvPr/>
          </p:nvSpPr>
          <p:spPr bwMode="auto">
            <a:xfrm rot="-5400000">
              <a:off x="518" y="1363"/>
              <a:ext cx="567" cy="2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kumimoji="1" lang="en-US" altLang="zh-CN" sz="1800" i="1">
                  <a:solidFill>
                    <a:srgbClr val="0000FF"/>
                  </a:solidFill>
                  <a:latin typeface="Times New Roman" pitchFamily="18" charset="0"/>
                </a:rPr>
                <a:t>y</a:t>
              </a:r>
              <a:r>
                <a:rPr kumimoji="1" lang="en-US" altLang="zh-CN" sz="1800" baseline="-25000">
                  <a:solidFill>
                    <a:srgbClr val="0000FF"/>
                  </a:solidFill>
                  <a:latin typeface="Times New Roman" pitchFamily="18" charset="0"/>
                </a:rPr>
                <a:t>cmax</a:t>
              </a:r>
            </a:p>
          </p:txBody>
        </p:sp>
      </p:grpSp>
      <p:grpSp>
        <p:nvGrpSpPr>
          <p:cNvPr id="54" name="Group 54"/>
          <p:cNvGrpSpPr>
            <a:grpSpLocks/>
          </p:cNvGrpSpPr>
          <p:nvPr/>
        </p:nvGrpSpPr>
        <p:grpSpPr bwMode="auto">
          <a:xfrm>
            <a:off x="2959100" y="3067050"/>
            <a:ext cx="2171700" cy="1363663"/>
            <a:chOff x="2824" y="1056"/>
            <a:chExt cx="1544" cy="1251"/>
          </a:xfrm>
        </p:grpSpPr>
        <p:sp>
          <p:nvSpPr>
            <p:cNvPr id="55" name="Line 55"/>
            <p:cNvSpPr>
              <a:spLocks noChangeShapeType="1"/>
            </p:cNvSpPr>
            <p:nvPr/>
          </p:nvSpPr>
          <p:spPr bwMode="auto">
            <a:xfrm>
              <a:off x="3114" y="1070"/>
              <a:ext cx="1048" cy="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0000FF"/>
                </a:solidFill>
              </a:endParaRPr>
            </a:p>
          </p:txBody>
        </p:sp>
        <p:sp>
          <p:nvSpPr>
            <p:cNvPr id="56" name="Line 56"/>
            <p:cNvSpPr>
              <a:spLocks noChangeShapeType="1"/>
            </p:cNvSpPr>
            <p:nvPr/>
          </p:nvSpPr>
          <p:spPr bwMode="auto">
            <a:xfrm>
              <a:off x="3114" y="1070"/>
              <a:ext cx="6" cy="1234"/>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0000FF"/>
                </a:solidFill>
              </a:endParaRPr>
            </a:p>
          </p:txBody>
        </p:sp>
        <p:sp>
          <p:nvSpPr>
            <p:cNvPr id="57" name="Line 57"/>
            <p:cNvSpPr>
              <a:spLocks noChangeShapeType="1"/>
            </p:cNvSpPr>
            <p:nvPr/>
          </p:nvSpPr>
          <p:spPr bwMode="auto">
            <a:xfrm>
              <a:off x="3114" y="2286"/>
              <a:ext cx="1048" cy="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0000FF"/>
                </a:solidFill>
              </a:endParaRPr>
            </a:p>
          </p:txBody>
        </p:sp>
        <p:sp>
          <p:nvSpPr>
            <p:cNvPr id="58" name="Line 58"/>
            <p:cNvSpPr>
              <a:spLocks noChangeShapeType="1"/>
            </p:cNvSpPr>
            <p:nvPr/>
          </p:nvSpPr>
          <p:spPr bwMode="auto">
            <a:xfrm flipH="1">
              <a:off x="2832" y="1070"/>
              <a:ext cx="801" cy="1234"/>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0000FF"/>
                </a:solidFill>
              </a:endParaRPr>
            </a:p>
          </p:txBody>
        </p:sp>
        <p:sp>
          <p:nvSpPr>
            <p:cNvPr id="59" name="Line 59"/>
            <p:cNvSpPr>
              <a:spLocks noChangeShapeType="1"/>
            </p:cNvSpPr>
            <p:nvPr/>
          </p:nvSpPr>
          <p:spPr bwMode="auto">
            <a:xfrm>
              <a:off x="2897" y="1875"/>
              <a:ext cx="1385" cy="1"/>
            </a:xfrm>
            <a:prstGeom prst="line">
              <a:avLst/>
            </a:prstGeom>
            <a:noFill/>
            <a:ln w="0">
              <a:solidFill>
                <a:srgbClr val="FF00FF"/>
              </a:solidFill>
              <a:prstDash val="lgDashDot"/>
              <a:round/>
              <a:headEnd/>
              <a:tailEnd/>
            </a:ln>
            <a:extLst>
              <a:ext uri="{909E8E84-426E-40DD-AFC4-6F175D3DCCD1}">
                <a14:hiddenFill xmlns:a14="http://schemas.microsoft.com/office/drawing/2010/main">
                  <a:noFill/>
                </a14:hiddenFill>
              </a:ext>
            </a:extLst>
          </p:spPr>
          <p:txBody>
            <a:bodyPr/>
            <a:lstStyle/>
            <a:p>
              <a:endParaRPr lang="zh-CN" altLang="en-US">
                <a:solidFill>
                  <a:srgbClr val="0000FF"/>
                </a:solidFill>
              </a:endParaRPr>
            </a:p>
          </p:txBody>
        </p:sp>
        <p:sp>
          <p:nvSpPr>
            <p:cNvPr id="60" name="Freeform 60"/>
            <p:cNvSpPr>
              <a:spLocks/>
            </p:cNvSpPr>
            <p:nvPr/>
          </p:nvSpPr>
          <p:spPr bwMode="auto">
            <a:xfrm>
              <a:off x="4128" y="1056"/>
              <a:ext cx="240" cy="1248"/>
            </a:xfrm>
            <a:custGeom>
              <a:avLst/>
              <a:gdLst>
                <a:gd name="T0" fmla="*/ 4 w 1106"/>
                <a:gd name="T1" fmla="*/ 1 h 9202"/>
                <a:gd name="T2" fmla="*/ 7 w 1106"/>
                <a:gd name="T3" fmla="*/ 2 h 9202"/>
                <a:gd name="T4" fmla="*/ 8 w 1106"/>
                <a:gd name="T5" fmla="*/ 2 h 9202"/>
                <a:gd name="T6" fmla="*/ 10 w 1106"/>
                <a:gd name="T7" fmla="*/ 3 h 9202"/>
                <a:gd name="T8" fmla="*/ 11 w 1106"/>
                <a:gd name="T9" fmla="*/ 4 h 9202"/>
                <a:gd name="T10" fmla="*/ 11 w 1106"/>
                <a:gd name="T11" fmla="*/ 5 h 9202"/>
                <a:gd name="T12" fmla="*/ 11 w 1106"/>
                <a:gd name="T13" fmla="*/ 5 h 9202"/>
                <a:gd name="T14" fmla="*/ 11 w 1106"/>
                <a:gd name="T15" fmla="*/ 6 h 9202"/>
                <a:gd name="T16" fmla="*/ 10 w 1106"/>
                <a:gd name="T17" fmla="*/ 7 h 9202"/>
                <a:gd name="T18" fmla="*/ 8 w 1106"/>
                <a:gd name="T19" fmla="*/ 7 h 9202"/>
                <a:gd name="T20" fmla="*/ 6 w 1106"/>
                <a:gd name="T21" fmla="*/ 8 h 9202"/>
                <a:gd name="T22" fmla="*/ 3 w 1106"/>
                <a:gd name="T23" fmla="*/ 9 h 9202"/>
                <a:gd name="T24" fmla="*/ 2 w 1106"/>
                <a:gd name="T25" fmla="*/ 10 h 9202"/>
                <a:gd name="T26" fmla="*/ 2 w 1106"/>
                <a:gd name="T27" fmla="*/ 11 h 9202"/>
                <a:gd name="T28" fmla="*/ 2 w 1106"/>
                <a:gd name="T29" fmla="*/ 12 h 9202"/>
                <a:gd name="T30" fmla="*/ 2 w 1106"/>
                <a:gd name="T31" fmla="*/ 12 h 9202"/>
                <a:gd name="T32" fmla="*/ 3 w 1106"/>
                <a:gd name="T33" fmla="*/ 13 h 9202"/>
                <a:gd name="T34" fmla="*/ 4 w 1106"/>
                <a:gd name="T35" fmla="*/ 14 h 9202"/>
                <a:gd name="T36" fmla="*/ 6 w 1106"/>
                <a:gd name="T37" fmla="*/ 15 h 9202"/>
                <a:gd name="T38" fmla="*/ 7 w 1106"/>
                <a:gd name="T39" fmla="*/ 15 h 9202"/>
                <a:gd name="T40" fmla="*/ 7 w 1106"/>
                <a:gd name="T41" fmla="*/ 16 h 9202"/>
                <a:gd name="T42" fmla="*/ 7 w 1106"/>
                <a:gd name="T43" fmla="*/ 16 h 9202"/>
                <a:gd name="T44" fmla="*/ 7 w 1106"/>
                <a:gd name="T45" fmla="*/ 17 h 9202"/>
                <a:gd name="T46" fmla="*/ 7 w 1106"/>
                <a:gd name="T47" fmla="*/ 17 h 9202"/>
                <a:gd name="T48" fmla="*/ 5 w 1106"/>
                <a:gd name="T49" fmla="*/ 17 h 9202"/>
                <a:gd name="T50" fmla="*/ 3 w 1106"/>
                <a:gd name="T51" fmla="*/ 18 h 9202"/>
                <a:gd name="T52" fmla="*/ 1 w 1106"/>
                <a:gd name="T53" fmla="*/ 19 h 9202"/>
                <a:gd name="T54" fmla="*/ 1 w 1106"/>
                <a:gd name="T55" fmla="*/ 20 h 9202"/>
                <a:gd name="T56" fmla="*/ 0 w 1106"/>
                <a:gd name="T57" fmla="*/ 20 h 9202"/>
                <a:gd name="T58" fmla="*/ 0 w 1106"/>
                <a:gd name="T59" fmla="*/ 21 h 9202"/>
                <a:gd name="T60" fmla="*/ 0 w 1106"/>
                <a:gd name="T61" fmla="*/ 22 h 9202"/>
                <a:gd name="T62" fmla="*/ 2 w 1106"/>
                <a:gd name="T63" fmla="*/ 23 h 920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106" h="9202">
                  <a:moveTo>
                    <a:pt x="159" y="0"/>
                  </a:moveTo>
                  <a:lnTo>
                    <a:pt x="356" y="284"/>
                  </a:lnTo>
                  <a:lnTo>
                    <a:pt x="545" y="570"/>
                  </a:lnTo>
                  <a:lnTo>
                    <a:pt x="633" y="712"/>
                  </a:lnTo>
                  <a:lnTo>
                    <a:pt x="718" y="854"/>
                  </a:lnTo>
                  <a:lnTo>
                    <a:pt x="797" y="997"/>
                  </a:lnTo>
                  <a:lnTo>
                    <a:pt x="869" y="1139"/>
                  </a:lnTo>
                  <a:lnTo>
                    <a:pt x="933" y="1281"/>
                  </a:lnTo>
                  <a:lnTo>
                    <a:pt x="990" y="1422"/>
                  </a:lnTo>
                  <a:lnTo>
                    <a:pt x="1035" y="1563"/>
                  </a:lnTo>
                  <a:lnTo>
                    <a:pt x="1071" y="1704"/>
                  </a:lnTo>
                  <a:lnTo>
                    <a:pt x="1094" y="1845"/>
                  </a:lnTo>
                  <a:lnTo>
                    <a:pt x="1106" y="1986"/>
                  </a:lnTo>
                  <a:lnTo>
                    <a:pt x="1104" y="2126"/>
                  </a:lnTo>
                  <a:lnTo>
                    <a:pt x="1088" y="2266"/>
                  </a:lnTo>
                  <a:lnTo>
                    <a:pt x="1057" y="2406"/>
                  </a:lnTo>
                  <a:lnTo>
                    <a:pt x="1012" y="2546"/>
                  </a:lnTo>
                  <a:lnTo>
                    <a:pt x="955" y="2685"/>
                  </a:lnTo>
                  <a:lnTo>
                    <a:pt x="890" y="2825"/>
                  </a:lnTo>
                  <a:lnTo>
                    <a:pt x="818" y="2964"/>
                  </a:lnTo>
                  <a:lnTo>
                    <a:pt x="739" y="3104"/>
                  </a:lnTo>
                  <a:lnTo>
                    <a:pt x="577" y="3384"/>
                  </a:lnTo>
                  <a:lnTo>
                    <a:pt x="422" y="3667"/>
                  </a:lnTo>
                  <a:lnTo>
                    <a:pt x="351" y="3810"/>
                  </a:lnTo>
                  <a:lnTo>
                    <a:pt x="288" y="3953"/>
                  </a:lnTo>
                  <a:lnTo>
                    <a:pt x="235" y="4096"/>
                  </a:lnTo>
                  <a:lnTo>
                    <a:pt x="195" y="4242"/>
                  </a:lnTo>
                  <a:lnTo>
                    <a:pt x="168" y="4388"/>
                  </a:lnTo>
                  <a:lnTo>
                    <a:pt x="157" y="4536"/>
                  </a:lnTo>
                  <a:lnTo>
                    <a:pt x="159" y="4610"/>
                  </a:lnTo>
                  <a:lnTo>
                    <a:pt x="166" y="4685"/>
                  </a:lnTo>
                  <a:lnTo>
                    <a:pt x="191" y="4835"/>
                  </a:lnTo>
                  <a:lnTo>
                    <a:pt x="232" y="4986"/>
                  </a:lnTo>
                  <a:lnTo>
                    <a:pt x="283" y="5138"/>
                  </a:lnTo>
                  <a:lnTo>
                    <a:pt x="342" y="5290"/>
                  </a:lnTo>
                  <a:lnTo>
                    <a:pt x="406" y="5441"/>
                  </a:lnTo>
                  <a:lnTo>
                    <a:pt x="534" y="5743"/>
                  </a:lnTo>
                  <a:lnTo>
                    <a:pt x="593" y="5893"/>
                  </a:lnTo>
                  <a:lnTo>
                    <a:pt x="643" y="6041"/>
                  </a:lnTo>
                  <a:lnTo>
                    <a:pt x="682" y="6187"/>
                  </a:lnTo>
                  <a:lnTo>
                    <a:pt x="706" y="6332"/>
                  </a:lnTo>
                  <a:lnTo>
                    <a:pt x="712" y="6402"/>
                  </a:lnTo>
                  <a:lnTo>
                    <a:pt x="712" y="6473"/>
                  </a:lnTo>
                  <a:lnTo>
                    <a:pt x="707" y="6542"/>
                  </a:lnTo>
                  <a:lnTo>
                    <a:pt x="696" y="6611"/>
                  </a:lnTo>
                  <a:lnTo>
                    <a:pt x="680" y="6680"/>
                  </a:lnTo>
                  <a:lnTo>
                    <a:pt x="658" y="6747"/>
                  </a:lnTo>
                  <a:lnTo>
                    <a:pt x="629" y="6814"/>
                  </a:lnTo>
                  <a:lnTo>
                    <a:pt x="597" y="6880"/>
                  </a:lnTo>
                  <a:lnTo>
                    <a:pt x="521" y="7012"/>
                  </a:lnTo>
                  <a:lnTo>
                    <a:pt x="435" y="7143"/>
                  </a:lnTo>
                  <a:lnTo>
                    <a:pt x="256" y="7406"/>
                  </a:lnTo>
                  <a:lnTo>
                    <a:pt x="175" y="7540"/>
                  </a:lnTo>
                  <a:lnTo>
                    <a:pt x="105" y="7677"/>
                  </a:lnTo>
                  <a:lnTo>
                    <a:pt x="77" y="7747"/>
                  </a:lnTo>
                  <a:lnTo>
                    <a:pt x="54" y="7817"/>
                  </a:lnTo>
                  <a:lnTo>
                    <a:pt x="20" y="7963"/>
                  </a:lnTo>
                  <a:lnTo>
                    <a:pt x="3" y="8111"/>
                  </a:lnTo>
                  <a:lnTo>
                    <a:pt x="0" y="8260"/>
                  </a:lnTo>
                  <a:lnTo>
                    <a:pt x="7" y="8414"/>
                  </a:lnTo>
                  <a:lnTo>
                    <a:pt x="26" y="8569"/>
                  </a:lnTo>
                  <a:lnTo>
                    <a:pt x="52" y="8726"/>
                  </a:lnTo>
                  <a:lnTo>
                    <a:pt x="84" y="8884"/>
                  </a:lnTo>
                  <a:lnTo>
                    <a:pt x="159" y="9202"/>
                  </a:lnTo>
                </a:path>
              </a:pathLst>
            </a:cu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solidFill>
                  <a:srgbClr val="0000FF"/>
                </a:solidFill>
              </a:endParaRPr>
            </a:p>
          </p:txBody>
        </p:sp>
        <p:sp>
          <p:nvSpPr>
            <p:cNvPr id="61" name="Line 61"/>
            <p:cNvSpPr>
              <a:spLocks noChangeShapeType="1"/>
            </p:cNvSpPr>
            <p:nvPr/>
          </p:nvSpPr>
          <p:spPr bwMode="auto">
            <a:xfrm flipH="1">
              <a:off x="3114" y="1159"/>
              <a:ext cx="465" cy="1"/>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0000FF"/>
                </a:solidFill>
              </a:endParaRPr>
            </a:p>
          </p:txBody>
        </p:sp>
        <p:sp>
          <p:nvSpPr>
            <p:cNvPr id="62" name="Line 62"/>
            <p:cNvSpPr>
              <a:spLocks noChangeShapeType="1"/>
            </p:cNvSpPr>
            <p:nvPr/>
          </p:nvSpPr>
          <p:spPr bwMode="auto">
            <a:xfrm flipH="1">
              <a:off x="3349" y="1249"/>
              <a:ext cx="172" cy="1"/>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0000FF"/>
                </a:solidFill>
              </a:endParaRPr>
            </a:p>
          </p:txBody>
        </p:sp>
        <p:sp>
          <p:nvSpPr>
            <p:cNvPr id="63" name="Line 63"/>
            <p:cNvSpPr>
              <a:spLocks noChangeShapeType="1"/>
            </p:cNvSpPr>
            <p:nvPr/>
          </p:nvSpPr>
          <p:spPr bwMode="auto">
            <a:xfrm flipH="1">
              <a:off x="3114" y="1340"/>
              <a:ext cx="348" cy="1"/>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0000FF"/>
                </a:solidFill>
              </a:endParaRPr>
            </a:p>
          </p:txBody>
        </p:sp>
        <p:sp>
          <p:nvSpPr>
            <p:cNvPr id="64" name="Freeform 64"/>
            <p:cNvSpPr>
              <a:spLocks/>
            </p:cNvSpPr>
            <p:nvPr/>
          </p:nvSpPr>
          <p:spPr bwMode="auto">
            <a:xfrm>
              <a:off x="3444" y="1236"/>
              <a:ext cx="77" cy="27"/>
            </a:xfrm>
            <a:custGeom>
              <a:avLst/>
              <a:gdLst>
                <a:gd name="T0" fmla="*/ 0 w 462"/>
                <a:gd name="T1" fmla="*/ 0 h 155"/>
                <a:gd name="T2" fmla="*/ 0 w 462"/>
                <a:gd name="T3" fmla="*/ 1 h 155"/>
                <a:gd name="T4" fmla="*/ 2 w 462"/>
                <a:gd name="T5" fmla="*/ 0 h 155"/>
                <a:gd name="T6" fmla="*/ 0 w 462"/>
                <a:gd name="T7" fmla="*/ 0 h 15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62" h="155">
                  <a:moveTo>
                    <a:pt x="0" y="0"/>
                  </a:moveTo>
                  <a:lnTo>
                    <a:pt x="0" y="155"/>
                  </a:lnTo>
                  <a:lnTo>
                    <a:pt x="462" y="77"/>
                  </a:lnTo>
                  <a:lnTo>
                    <a:pt x="0" y="0"/>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rgbClr val="0000FF"/>
                </a:solidFill>
              </a:endParaRPr>
            </a:p>
          </p:txBody>
        </p:sp>
        <p:sp>
          <p:nvSpPr>
            <p:cNvPr id="65" name="Freeform 65"/>
            <p:cNvSpPr>
              <a:spLocks/>
            </p:cNvSpPr>
            <p:nvPr/>
          </p:nvSpPr>
          <p:spPr bwMode="auto">
            <a:xfrm>
              <a:off x="3444" y="1236"/>
              <a:ext cx="77" cy="27"/>
            </a:xfrm>
            <a:custGeom>
              <a:avLst/>
              <a:gdLst>
                <a:gd name="T0" fmla="*/ 0 w 462"/>
                <a:gd name="T1" fmla="*/ 0 h 155"/>
                <a:gd name="T2" fmla="*/ 0 w 462"/>
                <a:gd name="T3" fmla="*/ 1 h 155"/>
                <a:gd name="T4" fmla="*/ 2 w 462"/>
                <a:gd name="T5" fmla="*/ 0 h 155"/>
                <a:gd name="T6" fmla="*/ 0 w 462"/>
                <a:gd name="T7" fmla="*/ 0 h 15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62" h="155">
                  <a:moveTo>
                    <a:pt x="0" y="0"/>
                  </a:moveTo>
                  <a:lnTo>
                    <a:pt x="0" y="155"/>
                  </a:lnTo>
                  <a:lnTo>
                    <a:pt x="462" y="77"/>
                  </a:lnTo>
                  <a:lnTo>
                    <a:pt x="0" y="0"/>
                  </a:lnTo>
                </a:path>
              </a:pathLst>
            </a:cu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solidFill>
                  <a:srgbClr val="0000FF"/>
                </a:solidFill>
              </a:endParaRPr>
            </a:p>
          </p:txBody>
        </p:sp>
        <p:sp>
          <p:nvSpPr>
            <p:cNvPr id="66" name="Freeform 66"/>
            <p:cNvSpPr>
              <a:spLocks/>
            </p:cNvSpPr>
            <p:nvPr/>
          </p:nvSpPr>
          <p:spPr bwMode="auto">
            <a:xfrm>
              <a:off x="3502" y="1146"/>
              <a:ext cx="77" cy="27"/>
            </a:xfrm>
            <a:custGeom>
              <a:avLst/>
              <a:gdLst>
                <a:gd name="T0" fmla="*/ 0 w 462"/>
                <a:gd name="T1" fmla="*/ 0 h 154"/>
                <a:gd name="T2" fmla="*/ 0 w 462"/>
                <a:gd name="T3" fmla="*/ 1 h 154"/>
                <a:gd name="T4" fmla="*/ 2 w 462"/>
                <a:gd name="T5" fmla="*/ 0 h 154"/>
                <a:gd name="T6" fmla="*/ 0 w 462"/>
                <a:gd name="T7" fmla="*/ 0 h 1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62" h="154">
                  <a:moveTo>
                    <a:pt x="0" y="0"/>
                  </a:moveTo>
                  <a:lnTo>
                    <a:pt x="0" y="154"/>
                  </a:lnTo>
                  <a:lnTo>
                    <a:pt x="462" y="77"/>
                  </a:lnTo>
                  <a:lnTo>
                    <a:pt x="0" y="0"/>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rgbClr val="0000FF"/>
                </a:solidFill>
              </a:endParaRPr>
            </a:p>
          </p:txBody>
        </p:sp>
        <p:sp>
          <p:nvSpPr>
            <p:cNvPr id="67" name="Freeform 67"/>
            <p:cNvSpPr>
              <a:spLocks/>
            </p:cNvSpPr>
            <p:nvPr/>
          </p:nvSpPr>
          <p:spPr bwMode="auto">
            <a:xfrm>
              <a:off x="3502" y="1146"/>
              <a:ext cx="77" cy="27"/>
            </a:xfrm>
            <a:custGeom>
              <a:avLst/>
              <a:gdLst>
                <a:gd name="T0" fmla="*/ 0 w 462"/>
                <a:gd name="T1" fmla="*/ 0 h 154"/>
                <a:gd name="T2" fmla="*/ 0 w 462"/>
                <a:gd name="T3" fmla="*/ 1 h 154"/>
                <a:gd name="T4" fmla="*/ 2 w 462"/>
                <a:gd name="T5" fmla="*/ 0 h 154"/>
                <a:gd name="T6" fmla="*/ 0 w 462"/>
                <a:gd name="T7" fmla="*/ 0 h 1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62" h="154">
                  <a:moveTo>
                    <a:pt x="0" y="0"/>
                  </a:moveTo>
                  <a:lnTo>
                    <a:pt x="0" y="154"/>
                  </a:lnTo>
                  <a:lnTo>
                    <a:pt x="462" y="77"/>
                  </a:lnTo>
                  <a:lnTo>
                    <a:pt x="0" y="0"/>
                  </a:lnTo>
                </a:path>
              </a:pathLst>
            </a:cu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solidFill>
                  <a:srgbClr val="0000FF"/>
                </a:solidFill>
              </a:endParaRPr>
            </a:p>
          </p:txBody>
        </p:sp>
        <p:sp>
          <p:nvSpPr>
            <p:cNvPr id="68" name="Freeform 68"/>
            <p:cNvSpPr>
              <a:spLocks/>
            </p:cNvSpPr>
            <p:nvPr/>
          </p:nvSpPr>
          <p:spPr bwMode="auto">
            <a:xfrm>
              <a:off x="3385" y="1326"/>
              <a:ext cx="77" cy="27"/>
            </a:xfrm>
            <a:custGeom>
              <a:avLst/>
              <a:gdLst>
                <a:gd name="T0" fmla="*/ 0 w 462"/>
                <a:gd name="T1" fmla="*/ 0 h 154"/>
                <a:gd name="T2" fmla="*/ 0 w 462"/>
                <a:gd name="T3" fmla="*/ 1 h 154"/>
                <a:gd name="T4" fmla="*/ 2 w 462"/>
                <a:gd name="T5" fmla="*/ 0 h 154"/>
                <a:gd name="T6" fmla="*/ 0 w 462"/>
                <a:gd name="T7" fmla="*/ 0 h 1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62" h="154">
                  <a:moveTo>
                    <a:pt x="0" y="0"/>
                  </a:moveTo>
                  <a:lnTo>
                    <a:pt x="0" y="154"/>
                  </a:lnTo>
                  <a:lnTo>
                    <a:pt x="462" y="77"/>
                  </a:lnTo>
                  <a:lnTo>
                    <a:pt x="0" y="0"/>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rgbClr val="0000FF"/>
                </a:solidFill>
              </a:endParaRPr>
            </a:p>
          </p:txBody>
        </p:sp>
        <p:sp>
          <p:nvSpPr>
            <p:cNvPr id="69" name="Freeform 69"/>
            <p:cNvSpPr>
              <a:spLocks/>
            </p:cNvSpPr>
            <p:nvPr/>
          </p:nvSpPr>
          <p:spPr bwMode="auto">
            <a:xfrm>
              <a:off x="3385" y="1326"/>
              <a:ext cx="77" cy="27"/>
            </a:xfrm>
            <a:custGeom>
              <a:avLst/>
              <a:gdLst>
                <a:gd name="T0" fmla="*/ 0 w 462"/>
                <a:gd name="T1" fmla="*/ 0 h 154"/>
                <a:gd name="T2" fmla="*/ 0 w 462"/>
                <a:gd name="T3" fmla="*/ 1 h 154"/>
                <a:gd name="T4" fmla="*/ 2 w 462"/>
                <a:gd name="T5" fmla="*/ 0 h 154"/>
                <a:gd name="T6" fmla="*/ 0 w 462"/>
                <a:gd name="T7" fmla="*/ 0 h 1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62" h="154">
                  <a:moveTo>
                    <a:pt x="0" y="0"/>
                  </a:moveTo>
                  <a:lnTo>
                    <a:pt x="0" y="154"/>
                  </a:lnTo>
                  <a:lnTo>
                    <a:pt x="462" y="77"/>
                  </a:lnTo>
                  <a:lnTo>
                    <a:pt x="0" y="0"/>
                  </a:lnTo>
                </a:path>
              </a:pathLst>
            </a:cu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solidFill>
                  <a:srgbClr val="0000FF"/>
                </a:solidFill>
              </a:endParaRPr>
            </a:p>
          </p:txBody>
        </p:sp>
        <p:sp>
          <p:nvSpPr>
            <p:cNvPr id="70" name="Freeform 70"/>
            <p:cNvSpPr>
              <a:spLocks/>
            </p:cNvSpPr>
            <p:nvPr/>
          </p:nvSpPr>
          <p:spPr bwMode="auto">
            <a:xfrm>
              <a:off x="3561" y="1056"/>
              <a:ext cx="77" cy="27"/>
            </a:xfrm>
            <a:custGeom>
              <a:avLst/>
              <a:gdLst>
                <a:gd name="T0" fmla="*/ 0 w 462"/>
                <a:gd name="T1" fmla="*/ 0 h 154"/>
                <a:gd name="T2" fmla="*/ 0 w 462"/>
                <a:gd name="T3" fmla="*/ 1 h 154"/>
                <a:gd name="T4" fmla="*/ 2 w 462"/>
                <a:gd name="T5" fmla="*/ 0 h 154"/>
                <a:gd name="T6" fmla="*/ 0 w 462"/>
                <a:gd name="T7" fmla="*/ 0 h 1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62" h="154">
                  <a:moveTo>
                    <a:pt x="0" y="0"/>
                  </a:moveTo>
                  <a:lnTo>
                    <a:pt x="0" y="154"/>
                  </a:lnTo>
                  <a:lnTo>
                    <a:pt x="462" y="77"/>
                  </a:lnTo>
                  <a:lnTo>
                    <a:pt x="0" y="0"/>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rgbClr val="0000FF"/>
                </a:solidFill>
              </a:endParaRPr>
            </a:p>
          </p:txBody>
        </p:sp>
        <p:sp>
          <p:nvSpPr>
            <p:cNvPr id="71" name="Freeform 71"/>
            <p:cNvSpPr>
              <a:spLocks/>
            </p:cNvSpPr>
            <p:nvPr/>
          </p:nvSpPr>
          <p:spPr bwMode="auto">
            <a:xfrm>
              <a:off x="3561" y="1056"/>
              <a:ext cx="77" cy="27"/>
            </a:xfrm>
            <a:custGeom>
              <a:avLst/>
              <a:gdLst>
                <a:gd name="T0" fmla="*/ 0 w 462"/>
                <a:gd name="T1" fmla="*/ 0 h 154"/>
                <a:gd name="T2" fmla="*/ 0 w 462"/>
                <a:gd name="T3" fmla="*/ 1 h 154"/>
                <a:gd name="T4" fmla="*/ 2 w 462"/>
                <a:gd name="T5" fmla="*/ 0 h 154"/>
                <a:gd name="T6" fmla="*/ 0 w 462"/>
                <a:gd name="T7" fmla="*/ 0 h 1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62" h="154">
                  <a:moveTo>
                    <a:pt x="0" y="0"/>
                  </a:moveTo>
                  <a:lnTo>
                    <a:pt x="0" y="154"/>
                  </a:lnTo>
                  <a:lnTo>
                    <a:pt x="462" y="77"/>
                  </a:lnTo>
                  <a:lnTo>
                    <a:pt x="0" y="0"/>
                  </a:lnTo>
                </a:path>
              </a:pathLst>
            </a:cu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solidFill>
                  <a:srgbClr val="0000FF"/>
                </a:solidFill>
              </a:endParaRPr>
            </a:p>
          </p:txBody>
        </p:sp>
        <p:sp>
          <p:nvSpPr>
            <p:cNvPr id="72" name="Line 72"/>
            <p:cNvSpPr>
              <a:spLocks noChangeShapeType="1"/>
            </p:cNvSpPr>
            <p:nvPr/>
          </p:nvSpPr>
          <p:spPr bwMode="auto">
            <a:xfrm flipH="1">
              <a:off x="3114" y="1070"/>
              <a:ext cx="447" cy="1"/>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0000FF"/>
                </a:solidFill>
              </a:endParaRPr>
            </a:p>
          </p:txBody>
        </p:sp>
        <p:sp>
          <p:nvSpPr>
            <p:cNvPr id="73" name="Line 73"/>
            <p:cNvSpPr>
              <a:spLocks noChangeShapeType="1"/>
            </p:cNvSpPr>
            <p:nvPr/>
          </p:nvSpPr>
          <p:spPr bwMode="auto">
            <a:xfrm flipH="1">
              <a:off x="3114" y="1609"/>
              <a:ext cx="173" cy="1"/>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0000FF"/>
                </a:solidFill>
              </a:endParaRPr>
            </a:p>
          </p:txBody>
        </p:sp>
        <p:sp>
          <p:nvSpPr>
            <p:cNvPr id="74" name="Line 74"/>
            <p:cNvSpPr>
              <a:spLocks noChangeShapeType="1"/>
            </p:cNvSpPr>
            <p:nvPr/>
          </p:nvSpPr>
          <p:spPr bwMode="auto">
            <a:xfrm flipH="1">
              <a:off x="3114" y="1519"/>
              <a:ext cx="231" cy="1"/>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0000FF"/>
                </a:solidFill>
              </a:endParaRPr>
            </a:p>
          </p:txBody>
        </p:sp>
        <p:sp>
          <p:nvSpPr>
            <p:cNvPr id="75" name="Freeform 75"/>
            <p:cNvSpPr>
              <a:spLocks/>
            </p:cNvSpPr>
            <p:nvPr/>
          </p:nvSpPr>
          <p:spPr bwMode="auto">
            <a:xfrm>
              <a:off x="3211" y="1596"/>
              <a:ext cx="77" cy="26"/>
            </a:xfrm>
            <a:custGeom>
              <a:avLst/>
              <a:gdLst>
                <a:gd name="T0" fmla="*/ 0 w 462"/>
                <a:gd name="T1" fmla="*/ 0 h 154"/>
                <a:gd name="T2" fmla="*/ 0 w 462"/>
                <a:gd name="T3" fmla="*/ 1 h 154"/>
                <a:gd name="T4" fmla="*/ 2 w 462"/>
                <a:gd name="T5" fmla="*/ 0 h 154"/>
                <a:gd name="T6" fmla="*/ 0 w 462"/>
                <a:gd name="T7" fmla="*/ 0 h 1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62" h="154">
                  <a:moveTo>
                    <a:pt x="0" y="0"/>
                  </a:moveTo>
                  <a:lnTo>
                    <a:pt x="0" y="154"/>
                  </a:lnTo>
                  <a:lnTo>
                    <a:pt x="462" y="77"/>
                  </a:lnTo>
                  <a:lnTo>
                    <a:pt x="0" y="0"/>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rgbClr val="0000FF"/>
                </a:solidFill>
              </a:endParaRPr>
            </a:p>
          </p:txBody>
        </p:sp>
        <p:sp>
          <p:nvSpPr>
            <p:cNvPr id="76" name="Freeform 76"/>
            <p:cNvSpPr>
              <a:spLocks/>
            </p:cNvSpPr>
            <p:nvPr/>
          </p:nvSpPr>
          <p:spPr bwMode="auto">
            <a:xfrm>
              <a:off x="3211" y="1596"/>
              <a:ext cx="77" cy="26"/>
            </a:xfrm>
            <a:custGeom>
              <a:avLst/>
              <a:gdLst>
                <a:gd name="T0" fmla="*/ 0 w 462"/>
                <a:gd name="T1" fmla="*/ 0 h 154"/>
                <a:gd name="T2" fmla="*/ 0 w 462"/>
                <a:gd name="T3" fmla="*/ 1 h 154"/>
                <a:gd name="T4" fmla="*/ 2 w 462"/>
                <a:gd name="T5" fmla="*/ 0 h 154"/>
                <a:gd name="T6" fmla="*/ 0 w 462"/>
                <a:gd name="T7" fmla="*/ 0 h 1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62" h="154">
                  <a:moveTo>
                    <a:pt x="0" y="0"/>
                  </a:moveTo>
                  <a:lnTo>
                    <a:pt x="0" y="154"/>
                  </a:lnTo>
                  <a:lnTo>
                    <a:pt x="462" y="77"/>
                  </a:lnTo>
                  <a:lnTo>
                    <a:pt x="0" y="0"/>
                  </a:lnTo>
                </a:path>
              </a:pathLst>
            </a:cu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solidFill>
                  <a:srgbClr val="0000FF"/>
                </a:solidFill>
              </a:endParaRPr>
            </a:p>
          </p:txBody>
        </p:sp>
        <p:sp>
          <p:nvSpPr>
            <p:cNvPr id="77" name="Freeform 77"/>
            <p:cNvSpPr>
              <a:spLocks/>
            </p:cNvSpPr>
            <p:nvPr/>
          </p:nvSpPr>
          <p:spPr bwMode="auto">
            <a:xfrm>
              <a:off x="3268" y="1505"/>
              <a:ext cx="77" cy="28"/>
            </a:xfrm>
            <a:custGeom>
              <a:avLst/>
              <a:gdLst>
                <a:gd name="T0" fmla="*/ 0 w 462"/>
                <a:gd name="T1" fmla="*/ 0 h 155"/>
                <a:gd name="T2" fmla="*/ 0 w 462"/>
                <a:gd name="T3" fmla="*/ 1 h 155"/>
                <a:gd name="T4" fmla="*/ 2 w 462"/>
                <a:gd name="T5" fmla="*/ 1 h 155"/>
                <a:gd name="T6" fmla="*/ 0 w 462"/>
                <a:gd name="T7" fmla="*/ 0 h 15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62" h="155">
                  <a:moveTo>
                    <a:pt x="0" y="0"/>
                  </a:moveTo>
                  <a:lnTo>
                    <a:pt x="0" y="155"/>
                  </a:lnTo>
                  <a:lnTo>
                    <a:pt x="462" y="77"/>
                  </a:lnTo>
                  <a:lnTo>
                    <a:pt x="0" y="0"/>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rgbClr val="0000FF"/>
                </a:solidFill>
              </a:endParaRPr>
            </a:p>
          </p:txBody>
        </p:sp>
        <p:sp>
          <p:nvSpPr>
            <p:cNvPr id="78" name="Freeform 78"/>
            <p:cNvSpPr>
              <a:spLocks/>
            </p:cNvSpPr>
            <p:nvPr/>
          </p:nvSpPr>
          <p:spPr bwMode="auto">
            <a:xfrm>
              <a:off x="3268" y="1505"/>
              <a:ext cx="77" cy="28"/>
            </a:xfrm>
            <a:custGeom>
              <a:avLst/>
              <a:gdLst>
                <a:gd name="T0" fmla="*/ 0 w 462"/>
                <a:gd name="T1" fmla="*/ 0 h 155"/>
                <a:gd name="T2" fmla="*/ 0 w 462"/>
                <a:gd name="T3" fmla="*/ 1 h 155"/>
                <a:gd name="T4" fmla="*/ 2 w 462"/>
                <a:gd name="T5" fmla="*/ 1 h 155"/>
                <a:gd name="T6" fmla="*/ 0 w 462"/>
                <a:gd name="T7" fmla="*/ 0 h 15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62" h="155">
                  <a:moveTo>
                    <a:pt x="0" y="0"/>
                  </a:moveTo>
                  <a:lnTo>
                    <a:pt x="0" y="155"/>
                  </a:lnTo>
                  <a:lnTo>
                    <a:pt x="462" y="77"/>
                  </a:lnTo>
                  <a:lnTo>
                    <a:pt x="0" y="0"/>
                  </a:lnTo>
                </a:path>
              </a:pathLst>
            </a:cu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solidFill>
                  <a:srgbClr val="0000FF"/>
                </a:solidFill>
              </a:endParaRPr>
            </a:p>
          </p:txBody>
        </p:sp>
        <p:sp>
          <p:nvSpPr>
            <p:cNvPr id="79" name="Line 79"/>
            <p:cNvSpPr>
              <a:spLocks noChangeShapeType="1"/>
            </p:cNvSpPr>
            <p:nvPr/>
          </p:nvSpPr>
          <p:spPr bwMode="auto">
            <a:xfrm flipH="1">
              <a:off x="3114" y="1429"/>
              <a:ext cx="290" cy="1"/>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0000FF"/>
                </a:solidFill>
              </a:endParaRPr>
            </a:p>
          </p:txBody>
        </p:sp>
        <p:sp>
          <p:nvSpPr>
            <p:cNvPr id="80" name="Freeform 80"/>
            <p:cNvSpPr>
              <a:spLocks/>
            </p:cNvSpPr>
            <p:nvPr/>
          </p:nvSpPr>
          <p:spPr bwMode="auto">
            <a:xfrm>
              <a:off x="3327" y="1415"/>
              <a:ext cx="77" cy="27"/>
            </a:xfrm>
            <a:custGeom>
              <a:avLst/>
              <a:gdLst>
                <a:gd name="T0" fmla="*/ 0 w 462"/>
                <a:gd name="T1" fmla="*/ 0 h 154"/>
                <a:gd name="T2" fmla="*/ 0 w 462"/>
                <a:gd name="T3" fmla="*/ 1 h 154"/>
                <a:gd name="T4" fmla="*/ 2 w 462"/>
                <a:gd name="T5" fmla="*/ 0 h 154"/>
                <a:gd name="T6" fmla="*/ 0 w 462"/>
                <a:gd name="T7" fmla="*/ 0 h 1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62" h="154">
                  <a:moveTo>
                    <a:pt x="0" y="0"/>
                  </a:moveTo>
                  <a:lnTo>
                    <a:pt x="0" y="154"/>
                  </a:lnTo>
                  <a:lnTo>
                    <a:pt x="462" y="77"/>
                  </a:lnTo>
                  <a:lnTo>
                    <a:pt x="0" y="0"/>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rgbClr val="0000FF"/>
                </a:solidFill>
              </a:endParaRPr>
            </a:p>
          </p:txBody>
        </p:sp>
        <p:sp>
          <p:nvSpPr>
            <p:cNvPr id="81" name="Freeform 81"/>
            <p:cNvSpPr>
              <a:spLocks/>
            </p:cNvSpPr>
            <p:nvPr/>
          </p:nvSpPr>
          <p:spPr bwMode="auto">
            <a:xfrm>
              <a:off x="3327" y="1415"/>
              <a:ext cx="77" cy="27"/>
            </a:xfrm>
            <a:custGeom>
              <a:avLst/>
              <a:gdLst>
                <a:gd name="T0" fmla="*/ 0 w 462"/>
                <a:gd name="T1" fmla="*/ 0 h 154"/>
                <a:gd name="T2" fmla="*/ 0 w 462"/>
                <a:gd name="T3" fmla="*/ 1 h 154"/>
                <a:gd name="T4" fmla="*/ 2 w 462"/>
                <a:gd name="T5" fmla="*/ 0 h 154"/>
                <a:gd name="T6" fmla="*/ 0 w 462"/>
                <a:gd name="T7" fmla="*/ 0 h 1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62" h="154">
                  <a:moveTo>
                    <a:pt x="0" y="0"/>
                  </a:moveTo>
                  <a:lnTo>
                    <a:pt x="0" y="154"/>
                  </a:lnTo>
                  <a:lnTo>
                    <a:pt x="462" y="77"/>
                  </a:lnTo>
                  <a:lnTo>
                    <a:pt x="0" y="0"/>
                  </a:lnTo>
                </a:path>
              </a:pathLst>
            </a:cu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solidFill>
                  <a:srgbClr val="0000FF"/>
                </a:solidFill>
              </a:endParaRPr>
            </a:p>
          </p:txBody>
        </p:sp>
        <p:sp>
          <p:nvSpPr>
            <p:cNvPr id="82" name="Freeform 82"/>
            <p:cNvSpPr>
              <a:spLocks/>
            </p:cNvSpPr>
            <p:nvPr/>
          </p:nvSpPr>
          <p:spPr bwMode="auto">
            <a:xfrm>
              <a:off x="3116" y="1779"/>
              <a:ext cx="54" cy="19"/>
            </a:xfrm>
            <a:custGeom>
              <a:avLst/>
              <a:gdLst>
                <a:gd name="T0" fmla="*/ 0 w 323"/>
                <a:gd name="T1" fmla="*/ 0 h 108"/>
                <a:gd name="T2" fmla="*/ 0 w 323"/>
                <a:gd name="T3" fmla="*/ 1 h 108"/>
                <a:gd name="T4" fmla="*/ 2 w 323"/>
                <a:gd name="T5" fmla="*/ 0 h 108"/>
                <a:gd name="T6" fmla="*/ 0 w 323"/>
                <a:gd name="T7" fmla="*/ 0 h 10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23" h="108">
                  <a:moveTo>
                    <a:pt x="0" y="0"/>
                  </a:moveTo>
                  <a:lnTo>
                    <a:pt x="0" y="108"/>
                  </a:lnTo>
                  <a:lnTo>
                    <a:pt x="323" y="54"/>
                  </a:lnTo>
                  <a:lnTo>
                    <a:pt x="0" y="0"/>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rgbClr val="0000FF"/>
                </a:solidFill>
              </a:endParaRPr>
            </a:p>
          </p:txBody>
        </p:sp>
        <p:sp>
          <p:nvSpPr>
            <p:cNvPr id="83" name="Freeform 83"/>
            <p:cNvSpPr>
              <a:spLocks/>
            </p:cNvSpPr>
            <p:nvPr/>
          </p:nvSpPr>
          <p:spPr bwMode="auto">
            <a:xfrm>
              <a:off x="3116" y="1779"/>
              <a:ext cx="54" cy="19"/>
            </a:xfrm>
            <a:custGeom>
              <a:avLst/>
              <a:gdLst>
                <a:gd name="T0" fmla="*/ 0 w 323"/>
                <a:gd name="T1" fmla="*/ 0 h 108"/>
                <a:gd name="T2" fmla="*/ 0 w 323"/>
                <a:gd name="T3" fmla="*/ 1 h 108"/>
                <a:gd name="T4" fmla="*/ 2 w 323"/>
                <a:gd name="T5" fmla="*/ 0 h 108"/>
                <a:gd name="T6" fmla="*/ 0 w 323"/>
                <a:gd name="T7" fmla="*/ 0 h 10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23" h="108">
                  <a:moveTo>
                    <a:pt x="0" y="0"/>
                  </a:moveTo>
                  <a:lnTo>
                    <a:pt x="0" y="108"/>
                  </a:lnTo>
                  <a:lnTo>
                    <a:pt x="323" y="54"/>
                  </a:lnTo>
                  <a:lnTo>
                    <a:pt x="0" y="0"/>
                  </a:lnTo>
                </a:path>
              </a:pathLst>
            </a:cu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solidFill>
                  <a:srgbClr val="0000FF"/>
                </a:solidFill>
              </a:endParaRPr>
            </a:p>
          </p:txBody>
        </p:sp>
        <p:sp>
          <p:nvSpPr>
            <p:cNvPr id="84" name="Line 84"/>
            <p:cNvSpPr>
              <a:spLocks noChangeShapeType="1"/>
            </p:cNvSpPr>
            <p:nvPr/>
          </p:nvSpPr>
          <p:spPr bwMode="auto">
            <a:xfrm flipH="1">
              <a:off x="3114" y="1699"/>
              <a:ext cx="114" cy="1"/>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0000FF"/>
                </a:solidFill>
              </a:endParaRPr>
            </a:p>
          </p:txBody>
        </p:sp>
        <p:sp>
          <p:nvSpPr>
            <p:cNvPr id="85" name="Freeform 85"/>
            <p:cNvSpPr>
              <a:spLocks/>
            </p:cNvSpPr>
            <p:nvPr/>
          </p:nvSpPr>
          <p:spPr bwMode="auto">
            <a:xfrm>
              <a:off x="3151" y="1685"/>
              <a:ext cx="77" cy="27"/>
            </a:xfrm>
            <a:custGeom>
              <a:avLst/>
              <a:gdLst>
                <a:gd name="T0" fmla="*/ 0 w 461"/>
                <a:gd name="T1" fmla="*/ 0 h 154"/>
                <a:gd name="T2" fmla="*/ 0 w 461"/>
                <a:gd name="T3" fmla="*/ 1 h 154"/>
                <a:gd name="T4" fmla="*/ 2 w 461"/>
                <a:gd name="T5" fmla="*/ 0 h 154"/>
                <a:gd name="T6" fmla="*/ 0 w 461"/>
                <a:gd name="T7" fmla="*/ 0 h 1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61" h="154">
                  <a:moveTo>
                    <a:pt x="0" y="0"/>
                  </a:moveTo>
                  <a:lnTo>
                    <a:pt x="0" y="154"/>
                  </a:lnTo>
                  <a:lnTo>
                    <a:pt x="461" y="77"/>
                  </a:lnTo>
                  <a:lnTo>
                    <a:pt x="0" y="0"/>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rgbClr val="0000FF"/>
                </a:solidFill>
              </a:endParaRPr>
            </a:p>
          </p:txBody>
        </p:sp>
        <p:sp>
          <p:nvSpPr>
            <p:cNvPr id="86" name="Freeform 86"/>
            <p:cNvSpPr>
              <a:spLocks/>
            </p:cNvSpPr>
            <p:nvPr/>
          </p:nvSpPr>
          <p:spPr bwMode="auto">
            <a:xfrm>
              <a:off x="3151" y="1685"/>
              <a:ext cx="77" cy="27"/>
            </a:xfrm>
            <a:custGeom>
              <a:avLst/>
              <a:gdLst>
                <a:gd name="T0" fmla="*/ 0 w 461"/>
                <a:gd name="T1" fmla="*/ 0 h 154"/>
                <a:gd name="T2" fmla="*/ 0 w 461"/>
                <a:gd name="T3" fmla="*/ 1 h 154"/>
                <a:gd name="T4" fmla="*/ 2 w 461"/>
                <a:gd name="T5" fmla="*/ 0 h 154"/>
                <a:gd name="T6" fmla="*/ 0 w 461"/>
                <a:gd name="T7" fmla="*/ 0 h 1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61" h="154">
                  <a:moveTo>
                    <a:pt x="0" y="0"/>
                  </a:moveTo>
                  <a:lnTo>
                    <a:pt x="0" y="154"/>
                  </a:lnTo>
                  <a:lnTo>
                    <a:pt x="461" y="77"/>
                  </a:lnTo>
                  <a:lnTo>
                    <a:pt x="0" y="0"/>
                  </a:lnTo>
                </a:path>
              </a:pathLst>
            </a:cu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solidFill>
                  <a:srgbClr val="0000FF"/>
                </a:solidFill>
              </a:endParaRPr>
            </a:p>
          </p:txBody>
        </p:sp>
        <p:sp>
          <p:nvSpPr>
            <p:cNvPr id="87" name="Line 87"/>
            <p:cNvSpPr>
              <a:spLocks noChangeShapeType="1"/>
            </p:cNvSpPr>
            <p:nvPr/>
          </p:nvSpPr>
          <p:spPr bwMode="auto">
            <a:xfrm>
              <a:off x="2999" y="2050"/>
              <a:ext cx="115" cy="1"/>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0000FF"/>
                </a:solidFill>
              </a:endParaRPr>
            </a:p>
          </p:txBody>
        </p:sp>
        <p:sp>
          <p:nvSpPr>
            <p:cNvPr id="88" name="Freeform 88"/>
            <p:cNvSpPr>
              <a:spLocks/>
            </p:cNvSpPr>
            <p:nvPr/>
          </p:nvSpPr>
          <p:spPr bwMode="auto">
            <a:xfrm>
              <a:off x="3058" y="1952"/>
              <a:ext cx="54" cy="19"/>
            </a:xfrm>
            <a:custGeom>
              <a:avLst/>
              <a:gdLst>
                <a:gd name="T0" fmla="*/ 2 w 323"/>
                <a:gd name="T1" fmla="*/ 1 h 108"/>
                <a:gd name="T2" fmla="*/ 2 w 323"/>
                <a:gd name="T3" fmla="*/ 0 h 108"/>
                <a:gd name="T4" fmla="*/ 0 w 323"/>
                <a:gd name="T5" fmla="*/ 0 h 108"/>
                <a:gd name="T6" fmla="*/ 2 w 323"/>
                <a:gd name="T7" fmla="*/ 1 h 10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23" h="108">
                  <a:moveTo>
                    <a:pt x="323" y="108"/>
                  </a:moveTo>
                  <a:lnTo>
                    <a:pt x="323" y="0"/>
                  </a:lnTo>
                  <a:lnTo>
                    <a:pt x="0" y="54"/>
                  </a:lnTo>
                  <a:lnTo>
                    <a:pt x="323" y="108"/>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rgbClr val="0000FF"/>
                </a:solidFill>
              </a:endParaRPr>
            </a:p>
          </p:txBody>
        </p:sp>
        <p:sp>
          <p:nvSpPr>
            <p:cNvPr id="89" name="Freeform 89"/>
            <p:cNvSpPr>
              <a:spLocks/>
            </p:cNvSpPr>
            <p:nvPr/>
          </p:nvSpPr>
          <p:spPr bwMode="auto">
            <a:xfrm>
              <a:off x="3058" y="1952"/>
              <a:ext cx="54" cy="19"/>
            </a:xfrm>
            <a:custGeom>
              <a:avLst/>
              <a:gdLst>
                <a:gd name="T0" fmla="*/ 2 w 323"/>
                <a:gd name="T1" fmla="*/ 1 h 108"/>
                <a:gd name="T2" fmla="*/ 2 w 323"/>
                <a:gd name="T3" fmla="*/ 0 h 108"/>
                <a:gd name="T4" fmla="*/ 0 w 323"/>
                <a:gd name="T5" fmla="*/ 0 h 108"/>
                <a:gd name="T6" fmla="*/ 2 w 323"/>
                <a:gd name="T7" fmla="*/ 1 h 10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23" h="108">
                  <a:moveTo>
                    <a:pt x="323" y="108"/>
                  </a:moveTo>
                  <a:lnTo>
                    <a:pt x="323" y="0"/>
                  </a:lnTo>
                  <a:lnTo>
                    <a:pt x="0" y="54"/>
                  </a:lnTo>
                  <a:lnTo>
                    <a:pt x="323" y="108"/>
                  </a:lnTo>
                </a:path>
              </a:pathLst>
            </a:cu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solidFill>
                  <a:srgbClr val="0000FF"/>
                </a:solidFill>
              </a:endParaRPr>
            </a:p>
          </p:txBody>
        </p:sp>
        <p:sp>
          <p:nvSpPr>
            <p:cNvPr id="90" name="Freeform 90"/>
            <p:cNvSpPr>
              <a:spLocks/>
            </p:cNvSpPr>
            <p:nvPr/>
          </p:nvSpPr>
          <p:spPr bwMode="auto">
            <a:xfrm>
              <a:off x="2999" y="2037"/>
              <a:ext cx="77" cy="27"/>
            </a:xfrm>
            <a:custGeom>
              <a:avLst/>
              <a:gdLst>
                <a:gd name="T0" fmla="*/ 2 w 462"/>
                <a:gd name="T1" fmla="*/ 1 h 154"/>
                <a:gd name="T2" fmla="*/ 2 w 462"/>
                <a:gd name="T3" fmla="*/ 0 h 154"/>
                <a:gd name="T4" fmla="*/ 0 w 462"/>
                <a:gd name="T5" fmla="*/ 0 h 154"/>
                <a:gd name="T6" fmla="*/ 2 w 462"/>
                <a:gd name="T7" fmla="*/ 1 h 1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62" h="154">
                  <a:moveTo>
                    <a:pt x="462" y="154"/>
                  </a:moveTo>
                  <a:lnTo>
                    <a:pt x="462" y="0"/>
                  </a:lnTo>
                  <a:lnTo>
                    <a:pt x="0" y="77"/>
                  </a:lnTo>
                  <a:lnTo>
                    <a:pt x="462" y="154"/>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rgbClr val="0000FF"/>
                </a:solidFill>
              </a:endParaRPr>
            </a:p>
          </p:txBody>
        </p:sp>
        <p:sp>
          <p:nvSpPr>
            <p:cNvPr id="91" name="Freeform 91"/>
            <p:cNvSpPr>
              <a:spLocks/>
            </p:cNvSpPr>
            <p:nvPr/>
          </p:nvSpPr>
          <p:spPr bwMode="auto">
            <a:xfrm>
              <a:off x="2999" y="2037"/>
              <a:ext cx="77" cy="27"/>
            </a:xfrm>
            <a:custGeom>
              <a:avLst/>
              <a:gdLst>
                <a:gd name="T0" fmla="*/ 2 w 462"/>
                <a:gd name="T1" fmla="*/ 1 h 154"/>
                <a:gd name="T2" fmla="*/ 2 w 462"/>
                <a:gd name="T3" fmla="*/ 0 h 154"/>
                <a:gd name="T4" fmla="*/ 0 w 462"/>
                <a:gd name="T5" fmla="*/ 0 h 154"/>
                <a:gd name="T6" fmla="*/ 2 w 462"/>
                <a:gd name="T7" fmla="*/ 1 h 1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62" h="154">
                  <a:moveTo>
                    <a:pt x="462" y="154"/>
                  </a:moveTo>
                  <a:lnTo>
                    <a:pt x="462" y="0"/>
                  </a:lnTo>
                  <a:lnTo>
                    <a:pt x="0" y="77"/>
                  </a:lnTo>
                  <a:lnTo>
                    <a:pt x="462" y="154"/>
                  </a:lnTo>
                </a:path>
              </a:pathLst>
            </a:cu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solidFill>
                  <a:srgbClr val="0000FF"/>
                </a:solidFill>
              </a:endParaRPr>
            </a:p>
          </p:txBody>
        </p:sp>
        <p:sp>
          <p:nvSpPr>
            <p:cNvPr id="92" name="Line 92"/>
            <p:cNvSpPr>
              <a:spLocks noChangeShapeType="1"/>
            </p:cNvSpPr>
            <p:nvPr/>
          </p:nvSpPr>
          <p:spPr bwMode="auto">
            <a:xfrm>
              <a:off x="2824" y="2293"/>
              <a:ext cx="290" cy="1"/>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0000FF"/>
                </a:solidFill>
              </a:endParaRPr>
            </a:p>
          </p:txBody>
        </p:sp>
        <p:sp>
          <p:nvSpPr>
            <p:cNvPr id="93" name="Line 93"/>
            <p:cNvSpPr>
              <a:spLocks noChangeShapeType="1"/>
            </p:cNvSpPr>
            <p:nvPr/>
          </p:nvSpPr>
          <p:spPr bwMode="auto">
            <a:xfrm>
              <a:off x="2882" y="2230"/>
              <a:ext cx="232" cy="1"/>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0000FF"/>
                </a:solidFill>
              </a:endParaRPr>
            </a:p>
          </p:txBody>
        </p:sp>
        <p:sp>
          <p:nvSpPr>
            <p:cNvPr id="94" name="Line 94"/>
            <p:cNvSpPr>
              <a:spLocks noChangeShapeType="1"/>
            </p:cNvSpPr>
            <p:nvPr/>
          </p:nvSpPr>
          <p:spPr bwMode="auto">
            <a:xfrm>
              <a:off x="2941" y="2141"/>
              <a:ext cx="173" cy="1"/>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0000FF"/>
                </a:solidFill>
              </a:endParaRPr>
            </a:p>
          </p:txBody>
        </p:sp>
        <p:sp>
          <p:nvSpPr>
            <p:cNvPr id="95" name="Freeform 95"/>
            <p:cNvSpPr>
              <a:spLocks/>
            </p:cNvSpPr>
            <p:nvPr/>
          </p:nvSpPr>
          <p:spPr bwMode="auto">
            <a:xfrm>
              <a:off x="2882" y="2223"/>
              <a:ext cx="77" cy="27"/>
            </a:xfrm>
            <a:custGeom>
              <a:avLst/>
              <a:gdLst>
                <a:gd name="T0" fmla="*/ 2 w 462"/>
                <a:gd name="T1" fmla="*/ 1 h 155"/>
                <a:gd name="T2" fmla="*/ 2 w 462"/>
                <a:gd name="T3" fmla="*/ 0 h 155"/>
                <a:gd name="T4" fmla="*/ 0 w 462"/>
                <a:gd name="T5" fmla="*/ 0 h 155"/>
                <a:gd name="T6" fmla="*/ 2 w 462"/>
                <a:gd name="T7" fmla="*/ 1 h 15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62" h="155">
                  <a:moveTo>
                    <a:pt x="462" y="155"/>
                  </a:moveTo>
                  <a:lnTo>
                    <a:pt x="462" y="0"/>
                  </a:lnTo>
                  <a:lnTo>
                    <a:pt x="0" y="78"/>
                  </a:lnTo>
                  <a:lnTo>
                    <a:pt x="462" y="155"/>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rgbClr val="0000FF"/>
                </a:solidFill>
              </a:endParaRPr>
            </a:p>
          </p:txBody>
        </p:sp>
        <p:sp>
          <p:nvSpPr>
            <p:cNvPr id="96" name="Freeform 96"/>
            <p:cNvSpPr>
              <a:spLocks/>
            </p:cNvSpPr>
            <p:nvPr/>
          </p:nvSpPr>
          <p:spPr bwMode="auto">
            <a:xfrm>
              <a:off x="2882" y="2223"/>
              <a:ext cx="77" cy="27"/>
            </a:xfrm>
            <a:custGeom>
              <a:avLst/>
              <a:gdLst>
                <a:gd name="T0" fmla="*/ 2 w 462"/>
                <a:gd name="T1" fmla="*/ 1 h 155"/>
                <a:gd name="T2" fmla="*/ 2 w 462"/>
                <a:gd name="T3" fmla="*/ 0 h 155"/>
                <a:gd name="T4" fmla="*/ 0 w 462"/>
                <a:gd name="T5" fmla="*/ 0 h 155"/>
                <a:gd name="T6" fmla="*/ 2 w 462"/>
                <a:gd name="T7" fmla="*/ 1 h 15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62" h="155">
                  <a:moveTo>
                    <a:pt x="462" y="155"/>
                  </a:moveTo>
                  <a:lnTo>
                    <a:pt x="462" y="0"/>
                  </a:lnTo>
                  <a:lnTo>
                    <a:pt x="0" y="78"/>
                  </a:lnTo>
                  <a:lnTo>
                    <a:pt x="462" y="155"/>
                  </a:lnTo>
                </a:path>
              </a:pathLst>
            </a:cu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solidFill>
                  <a:srgbClr val="0000FF"/>
                </a:solidFill>
              </a:endParaRPr>
            </a:p>
          </p:txBody>
        </p:sp>
        <p:sp>
          <p:nvSpPr>
            <p:cNvPr id="97" name="Freeform 97"/>
            <p:cNvSpPr>
              <a:spLocks/>
            </p:cNvSpPr>
            <p:nvPr/>
          </p:nvSpPr>
          <p:spPr bwMode="auto">
            <a:xfrm>
              <a:off x="2940" y="2127"/>
              <a:ext cx="77" cy="27"/>
            </a:xfrm>
            <a:custGeom>
              <a:avLst/>
              <a:gdLst>
                <a:gd name="T0" fmla="*/ 2 w 462"/>
                <a:gd name="T1" fmla="*/ 1 h 154"/>
                <a:gd name="T2" fmla="*/ 2 w 462"/>
                <a:gd name="T3" fmla="*/ 0 h 154"/>
                <a:gd name="T4" fmla="*/ 0 w 462"/>
                <a:gd name="T5" fmla="*/ 0 h 154"/>
                <a:gd name="T6" fmla="*/ 2 w 462"/>
                <a:gd name="T7" fmla="*/ 1 h 1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62" h="154">
                  <a:moveTo>
                    <a:pt x="462" y="154"/>
                  </a:moveTo>
                  <a:lnTo>
                    <a:pt x="462" y="0"/>
                  </a:lnTo>
                  <a:lnTo>
                    <a:pt x="0" y="77"/>
                  </a:lnTo>
                  <a:lnTo>
                    <a:pt x="462" y="154"/>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rgbClr val="0000FF"/>
                </a:solidFill>
              </a:endParaRPr>
            </a:p>
          </p:txBody>
        </p:sp>
        <p:sp>
          <p:nvSpPr>
            <p:cNvPr id="98" name="Freeform 98"/>
            <p:cNvSpPr>
              <a:spLocks/>
            </p:cNvSpPr>
            <p:nvPr/>
          </p:nvSpPr>
          <p:spPr bwMode="auto">
            <a:xfrm>
              <a:off x="2940" y="2127"/>
              <a:ext cx="77" cy="27"/>
            </a:xfrm>
            <a:custGeom>
              <a:avLst/>
              <a:gdLst>
                <a:gd name="T0" fmla="*/ 2 w 462"/>
                <a:gd name="T1" fmla="*/ 1 h 154"/>
                <a:gd name="T2" fmla="*/ 2 w 462"/>
                <a:gd name="T3" fmla="*/ 0 h 154"/>
                <a:gd name="T4" fmla="*/ 0 w 462"/>
                <a:gd name="T5" fmla="*/ 0 h 154"/>
                <a:gd name="T6" fmla="*/ 2 w 462"/>
                <a:gd name="T7" fmla="*/ 1 h 1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62" h="154">
                  <a:moveTo>
                    <a:pt x="462" y="154"/>
                  </a:moveTo>
                  <a:lnTo>
                    <a:pt x="462" y="0"/>
                  </a:lnTo>
                  <a:lnTo>
                    <a:pt x="0" y="77"/>
                  </a:lnTo>
                  <a:lnTo>
                    <a:pt x="462" y="154"/>
                  </a:lnTo>
                </a:path>
              </a:pathLst>
            </a:cu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solidFill>
                  <a:srgbClr val="0000FF"/>
                </a:solidFill>
              </a:endParaRPr>
            </a:p>
          </p:txBody>
        </p:sp>
        <p:sp>
          <p:nvSpPr>
            <p:cNvPr id="99" name="Freeform 99"/>
            <p:cNvSpPr>
              <a:spLocks/>
            </p:cNvSpPr>
            <p:nvPr/>
          </p:nvSpPr>
          <p:spPr bwMode="auto">
            <a:xfrm>
              <a:off x="2824" y="2280"/>
              <a:ext cx="77" cy="27"/>
            </a:xfrm>
            <a:custGeom>
              <a:avLst/>
              <a:gdLst>
                <a:gd name="T0" fmla="*/ 2 w 462"/>
                <a:gd name="T1" fmla="*/ 1 h 154"/>
                <a:gd name="T2" fmla="*/ 2 w 462"/>
                <a:gd name="T3" fmla="*/ 0 h 154"/>
                <a:gd name="T4" fmla="*/ 0 w 462"/>
                <a:gd name="T5" fmla="*/ 0 h 154"/>
                <a:gd name="T6" fmla="*/ 2 w 462"/>
                <a:gd name="T7" fmla="*/ 1 h 1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62" h="154">
                  <a:moveTo>
                    <a:pt x="462" y="154"/>
                  </a:moveTo>
                  <a:lnTo>
                    <a:pt x="462" y="0"/>
                  </a:lnTo>
                  <a:lnTo>
                    <a:pt x="0" y="77"/>
                  </a:lnTo>
                  <a:lnTo>
                    <a:pt x="462" y="154"/>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rgbClr val="0000FF"/>
                </a:solidFill>
              </a:endParaRPr>
            </a:p>
          </p:txBody>
        </p:sp>
        <p:sp>
          <p:nvSpPr>
            <p:cNvPr id="100" name="Freeform 100"/>
            <p:cNvSpPr>
              <a:spLocks/>
            </p:cNvSpPr>
            <p:nvPr/>
          </p:nvSpPr>
          <p:spPr bwMode="auto">
            <a:xfrm>
              <a:off x="2824" y="2280"/>
              <a:ext cx="77" cy="27"/>
            </a:xfrm>
            <a:custGeom>
              <a:avLst/>
              <a:gdLst>
                <a:gd name="T0" fmla="*/ 2 w 462"/>
                <a:gd name="T1" fmla="*/ 1 h 154"/>
                <a:gd name="T2" fmla="*/ 2 w 462"/>
                <a:gd name="T3" fmla="*/ 0 h 154"/>
                <a:gd name="T4" fmla="*/ 0 w 462"/>
                <a:gd name="T5" fmla="*/ 0 h 154"/>
                <a:gd name="T6" fmla="*/ 2 w 462"/>
                <a:gd name="T7" fmla="*/ 1 h 1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62" h="154">
                  <a:moveTo>
                    <a:pt x="462" y="154"/>
                  </a:moveTo>
                  <a:lnTo>
                    <a:pt x="462" y="0"/>
                  </a:lnTo>
                  <a:lnTo>
                    <a:pt x="0" y="77"/>
                  </a:lnTo>
                  <a:lnTo>
                    <a:pt x="462" y="154"/>
                  </a:lnTo>
                </a:path>
              </a:pathLst>
            </a:cu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solidFill>
                  <a:srgbClr val="0000FF"/>
                </a:solidFill>
              </a:endParaRPr>
            </a:p>
          </p:txBody>
        </p:sp>
        <p:sp>
          <p:nvSpPr>
            <p:cNvPr id="101" name="Line 101"/>
            <p:cNvSpPr>
              <a:spLocks noChangeShapeType="1"/>
            </p:cNvSpPr>
            <p:nvPr/>
          </p:nvSpPr>
          <p:spPr bwMode="auto">
            <a:xfrm>
              <a:off x="3250" y="1245"/>
              <a:ext cx="76" cy="1"/>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0000FF"/>
                </a:solidFill>
              </a:endParaRPr>
            </a:p>
          </p:txBody>
        </p:sp>
        <p:sp>
          <p:nvSpPr>
            <p:cNvPr id="102" name="Freeform 102"/>
            <p:cNvSpPr>
              <a:spLocks/>
            </p:cNvSpPr>
            <p:nvPr/>
          </p:nvSpPr>
          <p:spPr bwMode="auto">
            <a:xfrm>
              <a:off x="3228" y="1181"/>
              <a:ext cx="121" cy="128"/>
            </a:xfrm>
            <a:custGeom>
              <a:avLst/>
              <a:gdLst>
                <a:gd name="T0" fmla="*/ 3 w 728"/>
                <a:gd name="T1" fmla="*/ 2 h 730"/>
                <a:gd name="T2" fmla="*/ 3 w 728"/>
                <a:gd name="T3" fmla="*/ 2 h 730"/>
                <a:gd name="T4" fmla="*/ 3 w 728"/>
                <a:gd name="T5" fmla="*/ 1 h 730"/>
                <a:gd name="T6" fmla="*/ 3 w 728"/>
                <a:gd name="T7" fmla="*/ 1 h 730"/>
                <a:gd name="T8" fmla="*/ 3 w 728"/>
                <a:gd name="T9" fmla="*/ 0 h 730"/>
                <a:gd name="T10" fmla="*/ 2 w 728"/>
                <a:gd name="T11" fmla="*/ 0 h 730"/>
                <a:gd name="T12" fmla="*/ 2 w 728"/>
                <a:gd name="T13" fmla="*/ 0 h 730"/>
                <a:gd name="T14" fmla="*/ 2 w 728"/>
                <a:gd name="T15" fmla="*/ 0 h 730"/>
                <a:gd name="T16" fmla="*/ 1 w 728"/>
                <a:gd name="T17" fmla="*/ 0 h 730"/>
                <a:gd name="T18" fmla="*/ 1 w 728"/>
                <a:gd name="T19" fmla="*/ 0 h 730"/>
                <a:gd name="T20" fmla="*/ 1 w 728"/>
                <a:gd name="T21" fmla="*/ 0 h 730"/>
                <a:gd name="T22" fmla="*/ 0 w 728"/>
                <a:gd name="T23" fmla="*/ 1 h 730"/>
                <a:gd name="T24" fmla="*/ 0 w 728"/>
                <a:gd name="T25" fmla="*/ 1 h 730"/>
                <a:gd name="T26" fmla="*/ 0 w 728"/>
                <a:gd name="T27" fmla="*/ 2 h 730"/>
                <a:gd name="T28" fmla="*/ 0 w 728"/>
                <a:gd name="T29" fmla="*/ 2 h 730"/>
                <a:gd name="T30" fmla="*/ 0 w 728"/>
                <a:gd name="T31" fmla="*/ 2 h 730"/>
                <a:gd name="T32" fmla="*/ 0 w 728"/>
                <a:gd name="T33" fmla="*/ 3 h 730"/>
                <a:gd name="T34" fmla="*/ 0 w 728"/>
                <a:gd name="T35" fmla="*/ 3 h 730"/>
                <a:gd name="T36" fmla="*/ 1 w 728"/>
                <a:gd name="T37" fmla="*/ 4 h 730"/>
                <a:gd name="T38" fmla="*/ 1 w 728"/>
                <a:gd name="T39" fmla="*/ 4 h 730"/>
                <a:gd name="T40" fmla="*/ 1 w 728"/>
                <a:gd name="T41" fmla="*/ 4 h 730"/>
                <a:gd name="T42" fmla="*/ 2 w 728"/>
                <a:gd name="T43" fmla="*/ 4 h 730"/>
                <a:gd name="T44" fmla="*/ 2 w 728"/>
                <a:gd name="T45" fmla="*/ 4 h 730"/>
                <a:gd name="T46" fmla="*/ 2 w 728"/>
                <a:gd name="T47" fmla="*/ 4 h 730"/>
                <a:gd name="T48" fmla="*/ 3 w 728"/>
                <a:gd name="T49" fmla="*/ 4 h 730"/>
                <a:gd name="T50" fmla="*/ 3 w 728"/>
                <a:gd name="T51" fmla="*/ 3 h 730"/>
                <a:gd name="T52" fmla="*/ 3 w 728"/>
                <a:gd name="T53" fmla="*/ 3 h 730"/>
                <a:gd name="T54" fmla="*/ 3 w 728"/>
                <a:gd name="T55" fmla="*/ 2 h 730"/>
                <a:gd name="T56" fmla="*/ 3 w 728"/>
                <a:gd name="T57" fmla="*/ 2 h 73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728" h="730">
                  <a:moveTo>
                    <a:pt x="728" y="365"/>
                  </a:moveTo>
                  <a:lnTo>
                    <a:pt x="719" y="283"/>
                  </a:lnTo>
                  <a:lnTo>
                    <a:pt x="691" y="206"/>
                  </a:lnTo>
                  <a:lnTo>
                    <a:pt x="648" y="138"/>
                  </a:lnTo>
                  <a:lnTo>
                    <a:pt x="591" y="80"/>
                  </a:lnTo>
                  <a:lnTo>
                    <a:pt x="522" y="37"/>
                  </a:lnTo>
                  <a:lnTo>
                    <a:pt x="445" y="10"/>
                  </a:lnTo>
                  <a:lnTo>
                    <a:pt x="364" y="0"/>
                  </a:lnTo>
                  <a:lnTo>
                    <a:pt x="282" y="10"/>
                  </a:lnTo>
                  <a:lnTo>
                    <a:pt x="205" y="37"/>
                  </a:lnTo>
                  <a:lnTo>
                    <a:pt x="137" y="80"/>
                  </a:lnTo>
                  <a:lnTo>
                    <a:pt x="80" y="138"/>
                  </a:lnTo>
                  <a:lnTo>
                    <a:pt x="35" y="206"/>
                  </a:lnTo>
                  <a:lnTo>
                    <a:pt x="9" y="283"/>
                  </a:lnTo>
                  <a:lnTo>
                    <a:pt x="0" y="365"/>
                  </a:lnTo>
                  <a:lnTo>
                    <a:pt x="9" y="445"/>
                  </a:lnTo>
                  <a:lnTo>
                    <a:pt x="35" y="523"/>
                  </a:lnTo>
                  <a:lnTo>
                    <a:pt x="80" y="592"/>
                  </a:lnTo>
                  <a:lnTo>
                    <a:pt x="137" y="649"/>
                  </a:lnTo>
                  <a:lnTo>
                    <a:pt x="205" y="693"/>
                  </a:lnTo>
                  <a:lnTo>
                    <a:pt x="282" y="720"/>
                  </a:lnTo>
                  <a:lnTo>
                    <a:pt x="364" y="730"/>
                  </a:lnTo>
                  <a:lnTo>
                    <a:pt x="445" y="720"/>
                  </a:lnTo>
                  <a:lnTo>
                    <a:pt x="522" y="693"/>
                  </a:lnTo>
                  <a:lnTo>
                    <a:pt x="591" y="649"/>
                  </a:lnTo>
                  <a:lnTo>
                    <a:pt x="648" y="592"/>
                  </a:lnTo>
                  <a:lnTo>
                    <a:pt x="691" y="523"/>
                  </a:lnTo>
                  <a:lnTo>
                    <a:pt x="719" y="445"/>
                  </a:lnTo>
                  <a:lnTo>
                    <a:pt x="728" y="365"/>
                  </a:lnTo>
                </a:path>
              </a:pathLst>
            </a:cu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solidFill>
                  <a:srgbClr val="0000FF"/>
                </a:solidFill>
              </a:endParaRPr>
            </a:p>
          </p:txBody>
        </p:sp>
        <p:sp>
          <p:nvSpPr>
            <p:cNvPr id="103" name="Line 103"/>
            <p:cNvSpPr>
              <a:spLocks noChangeShapeType="1"/>
            </p:cNvSpPr>
            <p:nvPr/>
          </p:nvSpPr>
          <p:spPr bwMode="auto">
            <a:xfrm>
              <a:off x="3003" y="2230"/>
              <a:ext cx="76" cy="1"/>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0000FF"/>
                </a:solidFill>
              </a:endParaRPr>
            </a:p>
          </p:txBody>
        </p:sp>
        <p:sp>
          <p:nvSpPr>
            <p:cNvPr id="104" name="Line 104"/>
            <p:cNvSpPr>
              <a:spLocks noChangeShapeType="1"/>
            </p:cNvSpPr>
            <p:nvPr/>
          </p:nvSpPr>
          <p:spPr bwMode="auto">
            <a:xfrm>
              <a:off x="3041" y="2189"/>
              <a:ext cx="1" cy="81"/>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0000FF"/>
                </a:solidFill>
              </a:endParaRPr>
            </a:p>
          </p:txBody>
        </p:sp>
        <p:sp>
          <p:nvSpPr>
            <p:cNvPr id="105" name="Freeform 105"/>
            <p:cNvSpPr>
              <a:spLocks/>
            </p:cNvSpPr>
            <p:nvPr/>
          </p:nvSpPr>
          <p:spPr bwMode="auto">
            <a:xfrm>
              <a:off x="2980" y="2166"/>
              <a:ext cx="122" cy="127"/>
            </a:xfrm>
            <a:custGeom>
              <a:avLst/>
              <a:gdLst>
                <a:gd name="T0" fmla="*/ 3 w 729"/>
                <a:gd name="T1" fmla="*/ 2 h 728"/>
                <a:gd name="T2" fmla="*/ 3 w 729"/>
                <a:gd name="T3" fmla="*/ 2 h 728"/>
                <a:gd name="T4" fmla="*/ 3 w 729"/>
                <a:gd name="T5" fmla="*/ 1 h 728"/>
                <a:gd name="T6" fmla="*/ 3 w 729"/>
                <a:gd name="T7" fmla="*/ 1 h 728"/>
                <a:gd name="T8" fmla="*/ 3 w 729"/>
                <a:gd name="T9" fmla="*/ 0 h 728"/>
                <a:gd name="T10" fmla="*/ 3 w 729"/>
                <a:gd name="T11" fmla="*/ 0 h 728"/>
                <a:gd name="T12" fmla="*/ 2 w 729"/>
                <a:gd name="T13" fmla="*/ 0 h 728"/>
                <a:gd name="T14" fmla="*/ 2 w 729"/>
                <a:gd name="T15" fmla="*/ 0 h 728"/>
                <a:gd name="T16" fmla="*/ 1 w 729"/>
                <a:gd name="T17" fmla="*/ 0 h 728"/>
                <a:gd name="T18" fmla="*/ 1 w 729"/>
                <a:gd name="T19" fmla="*/ 0 h 728"/>
                <a:gd name="T20" fmla="*/ 1 w 729"/>
                <a:gd name="T21" fmla="*/ 0 h 728"/>
                <a:gd name="T22" fmla="*/ 0 w 729"/>
                <a:gd name="T23" fmla="*/ 1 h 728"/>
                <a:gd name="T24" fmla="*/ 0 w 729"/>
                <a:gd name="T25" fmla="*/ 1 h 728"/>
                <a:gd name="T26" fmla="*/ 0 w 729"/>
                <a:gd name="T27" fmla="*/ 2 h 728"/>
                <a:gd name="T28" fmla="*/ 0 w 729"/>
                <a:gd name="T29" fmla="*/ 2 h 728"/>
                <a:gd name="T30" fmla="*/ 0 w 729"/>
                <a:gd name="T31" fmla="*/ 2 h 728"/>
                <a:gd name="T32" fmla="*/ 0 w 729"/>
                <a:gd name="T33" fmla="*/ 3 h 728"/>
                <a:gd name="T34" fmla="*/ 0 w 729"/>
                <a:gd name="T35" fmla="*/ 3 h 728"/>
                <a:gd name="T36" fmla="*/ 1 w 729"/>
                <a:gd name="T37" fmla="*/ 3 h 728"/>
                <a:gd name="T38" fmla="*/ 1 w 729"/>
                <a:gd name="T39" fmla="*/ 4 h 728"/>
                <a:gd name="T40" fmla="*/ 1 w 729"/>
                <a:gd name="T41" fmla="*/ 4 h 728"/>
                <a:gd name="T42" fmla="*/ 2 w 729"/>
                <a:gd name="T43" fmla="*/ 4 h 728"/>
                <a:gd name="T44" fmla="*/ 2 w 729"/>
                <a:gd name="T45" fmla="*/ 4 h 728"/>
                <a:gd name="T46" fmla="*/ 3 w 729"/>
                <a:gd name="T47" fmla="*/ 4 h 728"/>
                <a:gd name="T48" fmla="*/ 3 w 729"/>
                <a:gd name="T49" fmla="*/ 3 h 728"/>
                <a:gd name="T50" fmla="*/ 3 w 729"/>
                <a:gd name="T51" fmla="*/ 3 h 728"/>
                <a:gd name="T52" fmla="*/ 3 w 729"/>
                <a:gd name="T53" fmla="*/ 3 h 728"/>
                <a:gd name="T54" fmla="*/ 3 w 729"/>
                <a:gd name="T55" fmla="*/ 2 h 728"/>
                <a:gd name="T56" fmla="*/ 3 w 729"/>
                <a:gd name="T57" fmla="*/ 2 h 72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729" h="728">
                  <a:moveTo>
                    <a:pt x="729" y="365"/>
                  </a:moveTo>
                  <a:lnTo>
                    <a:pt x="719" y="283"/>
                  </a:lnTo>
                  <a:lnTo>
                    <a:pt x="692" y="206"/>
                  </a:lnTo>
                  <a:lnTo>
                    <a:pt x="649" y="136"/>
                  </a:lnTo>
                  <a:lnTo>
                    <a:pt x="591" y="79"/>
                  </a:lnTo>
                  <a:lnTo>
                    <a:pt x="523" y="36"/>
                  </a:lnTo>
                  <a:lnTo>
                    <a:pt x="445" y="9"/>
                  </a:lnTo>
                  <a:lnTo>
                    <a:pt x="365" y="0"/>
                  </a:lnTo>
                  <a:lnTo>
                    <a:pt x="283" y="9"/>
                  </a:lnTo>
                  <a:lnTo>
                    <a:pt x="206" y="36"/>
                  </a:lnTo>
                  <a:lnTo>
                    <a:pt x="138" y="79"/>
                  </a:lnTo>
                  <a:lnTo>
                    <a:pt x="79" y="136"/>
                  </a:lnTo>
                  <a:lnTo>
                    <a:pt x="36" y="206"/>
                  </a:lnTo>
                  <a:lnTo>
                    <a:pt x="10" y="283"/>
                  </a:lnTo>
                  <a:lnTo>
                    <a:pt x="0" y="365"/>
                  </a:lnTo>
                  <a:lnTo>
                    <a:pt x="10" y="445"/>
                  </a:lnTo>
                  <a:lnTo>
                    <a:pt x="36" y="522"/>
                  </a:lnTo>
                  <a:lnTo>
                    <a:pt x="79" y="592"/>
                  </a:lnTo>
                  <a:lnTo>
                    <a:pt x="138" y="649"/>
                  </a:lnTo>
                  <a:lnTo>
                    <a:pt x="206" y="692"/>
                  </a:lnTo>
                  <a:lnTo>
                    <a:pt x="283" y="719"/>
                  </a:lnTo>
                  <a:lnTo>
                    <a:pt x="365" y="728"/>
                  </a:lnTo>
                  <a:lnTo>
                    <a:pt x="445" y="719"/>
                  </a:lnTo>
                  <a:lnTo>
                    <a:pt x="523" y="692"/>
                  </a:lnTo>
                  <a:lnTo>
                    <a:pt x="591" y="649"/>
                  </a:lnTo>
                  <a:lnTo>
                    <a:pt x="649" y="592"/>
                  </a:lnTo>
                  <a:lnTo>
                    <a:pt x="692" y="522"/>
                  </a:lnTo>
                  <a:lnTo>
                    <a:pt x="719" y="445"/>
                  </a:lnTo>
                  <a:lnTo>
                    <a:pt x="729" y="365"/>
                  </a:lnTo>
                </a:path>
              </a:pathLst>
            </a:custGeom>
            <a:noFill/>
            <a:ln w="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solidFill>
                  <a:srgbClr val="0000FF"/>
                </a:solidFill>
              </a:endParaRPr>
            </a:p>
          </p:txBody>
        </p:sp>
        <p:sp>
          <p:nvSpPr>
            <p:cNvPr id="106" name="Line 106"/>
            <p:cNvSpPr>
              <a:spLocks noChangeShapeType="1"/>
            </p:cNvSpPr>
            <p:nvPr/>
          </p:nvSpPr>
          <p:spPr bwMode="auto">
            <a:xfrm flipH="1">
              <a:off x="3114" y="1249"/>
              <a:ext cx="114" cy="1"/>
            </a:xfrm>
            <a:prstGeom prst="line">
              <a:avLst/>
            </a:prstGeom>
            <a:noFill/>
            <a:ln w="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0000FF"/>
                </a:solidFill>
              </a:endParaRPr>
            </a:p>
          </p:txBody>
        </p:sp>
        <p:sp>
          <p:nvSpPr>
            <p:cNvPr id="107" name="Line 107"/>
            <p:cNvSpPr>
              <a:spLocks noChangeShapeType="1"/>
            </p:cNvSpPr>
            <p:nvPr/>
          </p:nvSpPr>
          <p:spPr bwMode="auto">
            <a:xfrm>
              <a:off x="3120" y="2106"/>
              <a:ext cx="1048" cy="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0000FF"/>
                </a:solidFill>
              </a:endParaRPr>
            </a:p>
          </p:txBody>
        </p:sp>
      </p:grpSp>
      <p:graphicFrame>
        <p:nvGraphicFramePr>
          <p:cNvPr id="108" name="Object 108"/>
          <p:cNvGraphicFramePr>
            <a:graphicFrameLocks noChangeAspect="1"/>
          </p:cNvGraphicFramePr>
          <p:nvPr>
            <p:extLst>
              <p:ext uri="{D42A27DB-BD31-4B8C-83A1-F6EECF244321}">
                <p14:modId xmlns:p14="http://schemas.microsoft.com/office/powerpoint/2010/main" val="2362013738"/>
              </p:ext>
            </p:extLst>
          </p:nvPr>
        </p:nvGraphicFramePr>
        <p:xfrm>
          <a:off x="2141191" y="5148659"/>
          <a:ext cx="3067050" cy="922338"/>
        </p:xfrm>
        <a:graphic>
          <a:graphicData uri="http://schemas.openxmlformats.org/presentationml/2006/ole">
            <mc:AlternateContent xmlns:mc="http://schemas.openxmlformats.org/markup-compatibility/2006">
              <mc:Choice xmlns:v="urn:schemas-microsoft-com:vml" Requires="v">
                <p:oleObj name="公式" r:id="rId10" imgW="1435100" imgH="431800" progId="">
                  <p:embed/>
                </p:oleObj>
              </mc:Choice>
              <mc:Fallback>
                <p:oleObj name="公式" r:id="rId10" imgW="1435100" imgH="431800" progId="">
                  <p:embed/>
                  <p:pic>
                    <p:nvPicPr>
                      <p:cNvPr id="0" name="Picture 9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141191" y="5148659"/>
                        <a:ext cx="3067050" cy="922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9" name="Object 109"/>
          <p:cNvGraphicFramePr>
            <a:graphicFrameLocks noChangeAspect="1"/>
          </p:cNvGraphicFramePr>
          <p:nvPr>
            <p:extLst>
              <p:ext uri="{D42A27DB-BD31-4B8C-83A1-F6EECF244321}">
                <p14:modId xmlns:p14="http://schemas.microsoft.com/office/powerpoint/2010/main" val="2997616324"/>
              </p:ext>
            </p:extLst>
          </p:nvPr>
        </p:nvGraphicFramePr>
        <p:xfrm>
          <a:off x="2123728" y="5996384"/>
          <a:ext cx="3030538" cy="889000"/>
        </p:xfrm>
        <a:graphic>
          <a:graphicData uri="http://schemas.openxmlformats.org/presentationml/2006/ole">
            <mc:AlternateContent xmlns:mc="http://schemas.openxmlformats.org/markup-compatibility/2006">
              <mc:Choice xmlns:v="urn:schemas-microsoft-com:vml" Requires="v">
                <p:oleObj name="公式" r:id="rId12" imgW="1473200" imgH="431800" progId="">
                  <p:embed/>
                </p:oleObj>
              </mc:Choice>
              <mc:Fallback>
                <p:oleObj name="公式" r:id="rId12" imgW="1473200" imgH="431800" progId="">
                  <p:embed/>
                  <p:pic>
                    <p:nvPicPr>
                      <p:cNvPr id="0" name="Picture 9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123728" y="5996384"/>
                        <a:ext cx="3030538" cy="889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0" name="Object 110"/>
          <p:cNvGraphicFramePr>
            <a:graphicFrameLocks noChangeAspect="1"/>
          </p:cNvGraphicFramePr>
          <p:nvPr>
            <p:extLst>
              <p:ext uri="{D42A27DB-BD31-4B8C-83A1-F6EECF244321}">
                <p14:modId xmlns:p14="http://schemas.microsoft.com/office/powerpoint/2010/main" val="3657444700"/>
              </p:ext>
            </p:extLst>
          </p:nvPr>
        </p:nvGraphicFramePr>
        <p:xfrm>
          <a:off x="6300192" y="5517852"/>
          <a:ext cx="1936750" cy="1079500"/>
        </p:xfrm>
        <a:graphic>
          <a:graphicData uri="http://schemas.openxmlformats.org/presentationml/2006/ole">
            <mc:AlternateContent xmlns:mc="http://schemas.openxmlformats.org/markup-compatibility/2006">
              <mc:Choice xmlns:v="urn:schemas-microsoft-com:vml" Requires="v">
                <p:oleObj name="公式" r:id="rId14" imgW="774364" imgH="431613" progId="">
                  <p:embed/>
                </p:oleObj>
              </mc:Choice>
              <mc:Fallback>
                <p:oleObj name="公式" r:id="rId14" imgW="774364" imgH="431613" progId="">
                  <p:embed/>
                  <p:pic>
                    <p:nvPicPr>
                      <p:cNvPr id="0" name="Picture 9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300192" y="5517852"/>
                        <a:ext cx="1936750" cy="1079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1" name="Text Box 111"/>
          <p:cNvSpPr txBox="1">
            <a:spLocks noChangeArrowheads="1"/>
          </p:cNvSpPr>
          <p:nvPr/>
        </p:nvSpPr>
        <p:spPr bwMode="auto">
          <a:xfrm>
            <a:off x="683245" y="4797425"/>
            <a:ext cx="4968875" cy="402291"/>
          </a:xfrm>
          <a:prstGeom prst="rect">
            <a:avLst/>
          </a:prstGeom>
          <a:noFill/>
          <a:ln w="190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50000"/>
              </a:spcBef>
              <a:buFontTx/>
              <a:buNone/>
            </a:pPr>
            <a:r>
              <a:rPr lang="zh-CN" altLang="en-US" sz="2000" b="1" dirty="0">
                <a:solidFill>
                  <a:srgbClr val="0000FF"/>
                </a:solidFill>
                <a:latin typeface="Times New Roman" pitchFamily="18" charset="0"/>
                <a:ea typeface="黑体" pitchFamily="49" charset="-122"/>
              </a:rPr>
              <a:t>为充分发挥材料的强度，最合理的设计为</a:t>
            </a:r>
          </a:p>
        </p:txBody>
      </p:sp>
      <p:sp>
        <p:nvSpPr>
          <p:cNvPr id="112" name="AutoShape 112"/>
          <p:cNvSpPr>
            <a:spLocks/>
          </p:cNvSpPr>
          <p:nvPr/>
        </p:nvSpPr>
        <p:spPr bwMode="auto">
          <a:xfrm>
            <a:off x="5595938" y="5780945"/>
            <a:ext cx="510650" cy="411036"/>
          </a:xfrm>
          <a:prstGeom prst="rightBrace">
            <a:avLst>
              <a:gd name="adj1" fmla="val 16667"/>
              <a:gd name="adj2" fmla="val 50000"/>
            </a:avLst>
          </a:prstGeom>
          <a:noFill/>
          <a:ln w="2857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solidFill>
                <a:srgbClr val="0000FF"/>
              </a:solidFill>
            </a:endParaRPr>
          </a:p>
        </p:txBody>
      </p:sp>
    </p:spTree>
    <p:extLst>
      <p:ext uri="{BB962C8B-B14F-4D97-AF65-F5344CB8AC3E}">
        <p14:creationId xmlns:p14="http://schemas.microsoft.com/office/powerpoint/2010/main" val="1884409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499"/>
                                          </p:stCondLst>
                                        </p:cTn>
                                        <p:tgtEl>
                                          <p:spTgt spid="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fade">
                                      <p:cBhvr>
                                        <p:cTn id="20" dur="500"/>
                                        <p:tgtEl>
                                          <p:spTgt spid="3"/>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499"/>
                                          </p:stCondLst>
                                        </p:cTn>
                                        <p:tgtEl>
                                          <p:spTgt spid="6"/>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500"/>
                                        <p:tgtEl>
                                          <p:spTgt spid="8"/>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499"/>
                                          </p:stCondLst>
                                        </p:cTn>
                                        <p:tgtEl>
                                          <p:spTgt spid="1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499"/>
                                          </p:stCondLst>
                                        </p:cTn>
                                        <p:tgtEl>
                                          <p:spTgt spid="5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499"/>
                                          </p:stCondLst>
                                        </p:cTn>
                                        <p:tgtEl>
                                          <p:spTgt spid="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499"/>
                                          </p:stCondLst>
                                        </p:cTn>
                                        <p:tgtEl>
                                          <p:spTgt spid="1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11"/>
                                        </p:tgtEl>
                                        <p:attrNameLst>
                                          <p:attrName>style.visibility</p:attrName>
                                        </p:attrNameLst>
                                      </p:cBhvr>
                                      <p:to>
                                        <p:strVal val="visible"/>
                                      </p:to>
                                    </p:set>
                                    <p:animEffect transition="in" filter="fade">
                                      <p:cBhvr>
                                        <p:cTn id="55" dur="500"/>
                                        <p:tgtEl>
                                          <p:spTgt spid="111"/>
                                        </p:tgtEl>
                                      </p:cBhvr>
                                    </p:animEffec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nodeType="clickEffect">
                                  <p:stCondLst>
                                    <p:cond delay="0"/>
                                  </p:stCondLst>
                                  <p:childTnLst>
                                    <p:set>
                                      <p:cBhvr>
                                        <p:cTn id="59" dur="1" fill="hold">
                                          <p:stCondLst>
                                            <p:cond delay="499"/>
                                          </p:stCondLst>
                                        </p:cTn>
                                        <p:tgtEl>
                                          <p:spTgt spid="108"/>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clickEffect">
                                  <p:stCondLst>
                                    <p:cond delay="0"/>
                                  </p:stCondLst>
                                  <p:childTnLst>
                                    <p:set>
                                      <p:cBhvr>
                                        <p:cTn id="63" dur="1" fill="hold">
                                          <p:stCondLst>
                                            <p:cond delay="499"/>
                                          </p:stCondLst>
                                        </p:cTn>
                                        <p:tgtEl>
                                          <p:spTgt spid="109"/>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499"/>
                                          </p:stCondLst>
                                        </p:cTn>
                                        <p:tgtEl>
                                          <p:spTgt spid="112"/>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nodeType="clickEffect">
                                  <p:stCondLst>
                                    <p:cond delay="0"/>
                                  </p:stCondLst>
                                  <p:childTnLst>
                                    <p:set>
                                      <p:cBhvr>
                                        <p:cTn id="71" dur="1" fill="hold">
                                          <p:stCondLst>
                                            <p:cond delay="499"/>
                                          </p:stCondLst>
                                        </p:cTn>
                                        <p:tgtEl>
                                          <p:spTgt spid="1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autoUpdateAnimBg="0"/>
      <p:bldP spid="3" grpId="0" animBg="1"/>
      <p:bldP spid="5" grpId="0" animBg="1"/>
      <p:bldP spid="7" grpId="0" animBg="1"/>
      <p:bldP spid="8" grpId="0" animBg="1"/>
      <p:bldP spid="111" grpId="0" animBg="1"/>
      <p:bldP spid="11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755650" y="476250"/>
            <a:ext cx="3024262" cy="457200"/>
          </a:xfrm>
          <a:prstGeom prst="rect">
            <a:avLst/>
          </a:prstGeom>
          <a:noFill/>
          <a:ln w="190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lang="zh-CN" altLang="en-US" sz="2400" b="1" dirty="0">
                <a:solidFill>
                  <a:srgbClr val="0000FF"/>
                </a:solidFill>
                <a:latin typeface="Times New Roman" pitchFamily="18" charset="0"/>
                <a:ea typeface="黑体" pitchFamily="49" charset="-122"/>
              </a:rPr>
              <a:t>弯曲正应力强度条件</a:t>
            </a:r>
          </a:p>
        </p:txBody>
      </p:sp>
      <p:graphicFrame>
        <p:nvGraphicFramePr>
          <p:cNvPr id="3" name="Object 3"/>
          <p:cNvGraphicFramePr>
            <a:graphicFrameLocks noChangeAspect="1"/>
          </p:cNvGraphicFramePr>
          <p:nvPr/>
        </p:nvGraphicFramePr>
        <p:xfrm>
          <a:off x="838200" y="1828800"/>
          <a:ext cx="1600200" cy="560388"/>
        </p:xfrm>
        <a:graphic>
          <a:graphicData uri="http://schemas.openxmlformats.org/presentationml/2006/ole">
            <mc:AlternateContent xmlns:mc="http://schemas.openxmlformats.org/markup-compatibility/2006">
              <mc:Choice xmlns:v="urn:schemas-microsoft-com:vml" Requires="v">
                <p:oleObj name="公式" r:id="rId2" imgW="647700" imgH="228600" progId="">
                  <p:embed/>
                </p:oleObj>
              </mc:Choice>
              <mc:Fallback>
                <p:oleObj name="公式" r:id="rId2" imgW="647700" imgH="228600" progId="">
                  <p:embed/>
                  <p:pic>
                    <p:nvPicPr>
                      <p:cNvPr id="0" name="Picture 5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828800"/>
                        <a:ext cx="1600200" cy="560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 name="Object 4"/>
          <p:cNvGraphicFramePr>
            <a:graphicFrameLocks noChangeAspect="1"/>
          </p:cNvGraphicFramePr>
          <p:nvPr/>
        </p:nvGraphicFramePr>
        <p:xfrm>
          <a:off x="3505200" y="1008063"/>
          <a:ext cx="2290763" cy="863600"/>
        </p:xfrm>
        <a:graphic>
          <a:graphicData uri="http://schemas.openxmlformats.org/presentationml/2006/ole">
            <mc:AlternateContent xmlns:mc="http://schemas.openxmlformats.org/markup-compatibility/2006">
              <mc:Choice xmlns:v="urn:schemas-microsoft-com:vml" Requires="v">
                <p:oleObj name="公式" r:id="rId4" imgW="1143000" imgH="431800" progId="">
                  <p:embed/>
                </p:oleObj>
              </mc:Choice>
              <mc:Fallback>
                <p:oleObj name="公式" r:id="rId4" imgW="1143000" imgH="431800" progId="">
                  <p:embed/>
                  <p:pic>
                    <p:nvPicPr>
                      <p:cNvPr id="0" name="Picture 5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05200" y="1008063"/>
                        <a:ext cx="2290763" cy="86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5" name="Group 5"/>
          <p:cNvGrpSpPr>
            <a:grpSpLocks/>
          </p:cNvGrpSpPr>
          <p:nvPr/>
        </p:nvGrpSpPr>
        <p:grpSpPr bwMode="auto">
          <a:xfrm>
            <a:off x="1066800" y="3595688"/>
            <a:ext cx="5491163" cy="2065337"/>
            <a:chOff x="144" y="864"/>
            <a:chExt cx="3748" cy="1508"/>
          </a:xfrm>
        </p:grpSpPr>
        <p:sp>
          <p:nvSpPr>
            <p:cNvPr id="6" name="Text Box 6"/>
            <p:cNvSpPr txBox="1">
              <a:spLocks noChangeArrowheads="1"/>
            </p:cNvSpPr>
            <p:nvPr/>
          </p:nvSpPr>
          <p:spPr bwMode="auto">
            <a:xfrm>
              <a:off x="144" y="972"/>
              <a:ext cx="2310" cy="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kumimoji="1" lang="en-US" altLang="zh-CN" sz="2400" b="1">
                  <a:latin typeface="宋体" pitchFamily="2" charset="-122"/>
                </a:rPr>
                <a:t>  </a:t>
              </a:r>
              <a:r>
                <a:rPr kumimoji="1" lang="en-US" altLang="zh-CN" sz="2400" b="1">
                  <a:latin typeface="黑体" pitchFamily="49" charset="-122"/>
                  <a:ea typeface="黑体" pitchFamily="49" charset="-122"/>
                </a:rPr>
                <a:t>1</a:t>
              </a:r>
              <a:r>
                <a:rPr kumimoji="1" lang="zh-CN" altLang="en-US" sz="2400" b="1">
                  <a:latin typeface="黑体" pitchFamily="49" charset="-122"/>
                  <a:ea typeface="黑体" pitchFamily="49" charset="-122"/>
                </a:rPr>
                <a:t>、</a:t>
              </a:r>
              <a:r>
                <a:rPr kumimoji="1" lang="zh-CN" altLang="en-US" sz="2400">
                  <a:latin typeface="黑体" pitchFamily="49" charset="-122"/>
                  <a:ea typeface="黑体" pitchFamily="49" charset="-122"/>
                </a:rPr>
                <a:t>强度校核</a:t>
              </a:r>
              <a:r>
                <a:rPr kumimoji="1" lang="en-US" altLang="zh-CN" sz="2400">
                  <a:latin typeface="Times New Roman" pitchFamily="18" charset="0"/>
                  <a:ea typeface="黑体" pitchFamily="49" charset="-122"/>
                </a:rPr>
                <a:t>——</a:t>
              </a:r>
              <a:endParaRPr kumimoji="1" lang="en-US" altLang="zh-CN" sz="2400">
                <a:latin typeface="黑体" pitchFamily="49" charset="-122"/>
                <a:ea typeface="黑体" pitchFamily="49" charset="-122"/>
              </a:endParaRPr>
            </a:p>
            <a:p>
              <a:pPr eaLnBrk="1" hangingPunct="1">
                <a:spcBef>
                  <a:spcPct val="0"/>
                </a:spcBef>
                <a:buFontTx/>
                <a:buNone/>
              </a:pPr>
              <a:endParaRPr kumimoji="1" lang="en-US" altLang="zh-CN" sz="2400">
                <a:latin typeface="黑体" pitchFamily="49" charset="-122"/>
                <a:ea typeface="黑体" pitchFamily="49" charset="-122"/>
              </a:endParaRPr>
            </a:p>
            <a:p>
              <a:pPr eaLnBrk="1" hangingPunct="1">
                <a:spcBef>
                  <a:spcPct val="0"/>
                </a:spcBef>
                <a:buFontTx/>
                <a:buNone/>
              </a:pPr>
              <a:r>
                <a:rPr kumimoji="1" lang="en-US" altLang="zh-CN" sz="2400">
                  <a:latin typeface="黑体" pitchFamily="49" charset="-122"/>
                  <a:ea typeface="黑体" pitchFamily="49" charset="-122"/>
                </a:rPr>
                <a:t>  2</a:t>
              </a:r>
              <a:r>
                <a:rPr kumimoji="1" lang="zh-CN" altLang="en-US" sz="2400">
                  <a:latin typeface="黑体" pitchFamily="49" charset="-122"/>
                  <a:ea typeface="黑体" pitchFamily="49" charset="-122"/>
                </a:rPr>
                <a:t>、设计截面尺寸</a:t>
              </a:r>
              <a:r>
                <a:rPr kumimoji="1" lang="en-US" altLang="zh-CN" sz="2400">
                  <a:latin typeface="Times New Roman" pitchFamily="18" charset="0"/>
                  <a:ea typeface="黑体" pitchFamily="49" charset="-122"/>
                </a:rPr>
                <a:t>——</a:t>
              </a:r>
              <a:endParaRPr kumimoji="1" lang="en-US" altLang="zh-CN" sz="2400">
                <a:latin typeface="黑体" pitchFamily="49" charset="-122"/>
                <a:ea typeface="黑体" pitchFamily="49" charset="-122"/>
              </a:endParaRPr>
            </a:p>
            <a:p>
              <a:pPr eaLnBrk="1" hangingPunct="1">
                <a:spcBef>
                  <a:spcPct val="0"/>
                </a:spcBef>
                <a:buFontTx/>
                <a:buNone/>
              </a:pPr>
              <a:endParaRPr kumimoji="1" lang="en-US" altLang="zh-CN" sz="2400">
                <a:latin typeface="黑体" pitchFamily="49" charset="-122"/>
                <a:ea typeface="黑体" pitchFamily="49" charset="-122"/>
              </a:endParaRPr>
            </a:p>
            <a:p>
              <a:pPr eaLnBrk="1" hangingPunct="1">
                <a:spcBef>
                  <a:spcPct val="0"/>
                </a:spcBef>
                <a:buFontTx/>
                <a:buNone/>
              </a:pPr>
              <a:r>
                <a:rPr kumimoji="1" lang="en-US" altLang="zh-CN" sz="2400">
                  <a:latin typeface="黑体" pitchFamily="49" charset="-122"/>
                  <a:ea typeface="黑体" pitchFamily="49" charset="-122"/>
                </a:rPr>
                <a:t>  3</a:t>
              </a:r>
              <a:r>
                <a:rPr kumimoji="1" lang="zh-CN" altLang="en-US" sz="2400">
                  <a:latin typeface="黑体" pitchFamily="49" charset="-122"/>
                  <a:ea typeface="黑体" pitchFamily="49" charset="-122"/>
                </a:rPr>
                <a:t>、确定外荷载</a:t>
              </a:r>
              <a:r>
                <a:rPr kumimoji="1" lang="en-US" altLang="zh-CN" sz="2400">
                  <a:latin typeface="Times New Roman" pitchFamily="18" charset="0"/>
                  <a:ea typeface="黑体" pitchFamily="49" charset="-122"/>
                </a:rPr>
                <a:t>——</a:t>
              </a:r>
              <a:endParaRPr kumimoji="1" lang="en-US" altLang="zh-CN" sz="2400">
                <a:latin typeface="黑体" pitchFamily="49" charset="-122"/>
                <a:ea typeface="黑体" pitchFamily="49" charset="-122"/>
              </a:endParaRPr>
            </a:p>
          </p:txBody>
        </p:sp>
        <p:grpSp>
          <p:nvGrpSpPr>
            <p:cNvPr id="7" name="Group 7"/>
            <p:cNvGrpSpPr>
              <a:grpSpLocks/>
            </p:cNvGrpSpPr>
            <p:nvPr/>
          </p:nvGrpSpPr>
          <p:grpSpPr bwMode="auto">
            <a:xfrm>
              <a:off x="2361" y="864"/>
              <a:ext cx="1144" cy="473"/>
              <a:chOff x="2863" y="1715"/>
              <a:chExt cx="1144" cy="473"/>
            </a:xfrm>
          </p:grpSpPr>
          <p:grpSp>
            <p:nvGrpSpPr>
              <p:cNvPr id="51" name="Group 8"/>
              <p:cNvGrpSpPr>
                <a:grpSpLocks/>
              </p:cNvGrpSpPr>
              <p:nvPr/>
            </p:nvGrpSpPr>
            <p:grpSpPr bwMode="auto">
              <a:xfrm>
                <a:off x="2863" y="1715"/>
                <a:ext cx="860" cy="409"/>
                <a:chOff x="2863" y="1715"/>
                <a:chExt cx="860" cy="409"/>
              </a:xfrm>
            </p:grpSpPr>
            <p:sp>
              <p:nvSpPr>
                <p:cNvPr id="55" name="Rectangle 9"/>
                <p:cNvSpPr>
                  <a:spLocks noChangeArrowheads="1"/>
                </p:cNvSpPr>
                <p:nvPr/>
              </p:nvSpPr>
              <p:spPr bwMode="auto">
                <a:xfrm>
                  <a:off x="3424" y="1722"/>
                  <a:ext cx="95"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p>
              </p:txBody>
            </p:sp>
            <p:sp>
              <p:nvSpPr>
                <p:cNvPr id="56" name="Rectangle 10"/>
                <p:cNvSpPr>
                  <a:spLocks noChangeArrowheads="1"/>
                </p:cNvSpPr>
                <p:nvPr/>
              </p:nvSpPr>
              <p:spPr bwMode="auto">
                <a:xfrm>
                  <a:off x="3424" y="1715"/>
                  <a:ext cx="101" cy="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kumimoji="1" lang="en-US" altLang="zh-CN" sz="3500" b="1">
                      <a:solidFill>
                        <a:srgbClr val="000000"/>
                      </a:solidFill>
                      <a:latin typeface="Symbol" pitchFamily="18" charset="2"/>
                    </a:rPr>
                    <a:t>[</a:t>
                  </a:r>
                  <a:endParaRPr kumimoji="1" lang="en-US" altLang="zh-CN" sz="2400">
                    <a:latin typeface="Times New Roman" pitchFamily="18" charset="0"/>
                  </a:endParaRPr>
                </a:p>
              </p:txBody>
            </p:sp>
            <p:sp>
              <p:nvSpPr>
                <p:cNvPr id="57" name="Rectangle 11"/>
                <p:cNvSpPr>
                  <a:spLocks noChangeArrowheads="1"/>
                </p:cNvSpPr>
                <p:nvPr/>
              </p:nvSpPr>
              <p:spPr bwMode="auto">
                <a:xfrm>
                  <a:off x="3624" y="1722"/>
                  <a:ext cx="95"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p>
              </p:txBody>
            </p:sp>
            <p:sp>
              <p:nvSpPr>
                <p:cNvPr id="58" name="Rectangle 12"/>
                <p:cNvSpPr>
                  <a:spLocks noChangeArrowheads="1"/>
                </p:cNvSpPr>
                <p:nvPr/>
              </p:nvSpPr>
              <p:spPr bwMode="auto">
                <a:xfrm>
                  <a:off x="3623" y="1715"/>
                  <a:ext cx="100" cy="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kumimoji="1" lang="en-US" altLang="zh-CN" sz="3500" b="1">
                      <a:solidFill>
                        <a:srgbClr val="000000"/>
                      </a:solidFill>
                      <a:latin typeface="Symbol" pitchFamily="18" charset="2"/>
                    </a:rPr>
                    <a:t>]</a:t>
                  </a:r>
                  <a:endParaRPr kumimoji="1" lang="en-US" altLang="zh-CN" sz="2400">
                    <a:latin typeface="Times New Roman" pitchFamily="18" charset="0"/>
                  </a:endParaRPr>
                </a:p>
              </p:txBody>
            </p:sp>
            <p:sp>
              <p:nvSpPr>
                <p:cNvPr id="59" name="Rectangle 13"/>
                <p:cNvSpPr>
                  <a:spLocks noChangeArrowheads="1"/>
                </p:cNvSpPr>
                <p:nvPr/>
              </p:nvSpPr>
              <p:spPr bwMode="auto">
                <a:xfrm>
                  <a:off x="3480" y="1798"/>
                  <a:ext cx="127"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p>
              </p:txBody>
            </p:sp>
            <p:sp>
              <p:nvSpPr>
                <p:cNvPr id="60" name="Rectangle 14"/>
                <p:cNvSpPr>
                  <a:spLocks noChangeArrowheads="1"/>
                </p:cNvSpPr>
                <p:nvPr/>
              </p:nvSpPr>
              <p:spPr bwMode="auto">
                <a:xfrm>
                  <a:off x="3479" y="1794"/>
                  <a:ext cx="137"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kumimoji="1" lang="en-US" altLang="zh-CN" sz="2600" b="1" i="1">
                      <a:solidFill>
                        <a:srgbClr val="000000"/>
                      </a:solidFill>
                      <a:latin typeface="Symbol" pitchFamily="18" charset="2"/>
                    </a:rPr>
                    <a:t>s</a:t>
                  </a:r>
                  <a:endParaRPr kumimoji="1" lang="en-US" altLang="zh-CN" sz="2400">
                    <a:latin typeface="Times New Roman" pitchFamily="18" charset="0"/>
                  </a:endParaRPr>
                </a:p>
              </p:txBody>
            </p:sp>
            <p:sp>
              <p:nvSpPr>
                <p:cNvPr id="61" name="Rectangle 15"/>
                <p:cNvSpPr>
                  <a:spLocks noChangeArrowheads="1"/>
                </p:cNvSpPr>
                <p:nvPr/>
              </p:nvSpPr>
              <p:spPr bwMode="auto">
                <a:xfrm>
                  <a:off x="2863" y="1798"/>
                  <a:ext cx="127"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p>
              </p:txBody>
            </p:sp>
            <p:sp>
              <p:nvSpPr>
                <p:cNvPr id="62" name="Rectangle 16"/>
                <p:cNvSpPr>
                  <a:spLocks noChangeArrowheads="1"/>
                </p:cNvSpPr>
                <p:nvPr/>
              </p:nvSpPr>
              <p:spPr bwMode="auto">
                <a:xfrm>
                  <a:off x="2863" y="1794"/>
                  <a:ext cx="136"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kumimoji="1" lang="en-US" altLang="zh-CN" sz="2600" b="1" i="1">
                      <a:solidFill>
                        <a:srgbClr val="000000"/>
                      </a:solidFill>
                      <a:latin typeface="Symbol" pitchFamily="18" charset="2"/>
                    </a:rPr>
                    <a:t>s</a:t>
                  </a:r>
                  <a:endParaRPr kumimoji="1" lang="en-US" altLang="zh-CN" sz="2400">
                    <a:latin typeface="Times New Roman" pitchFamily="18" charset="0"/>
                  </a:endParaRPr>
                </a:p>
              </p:txBody>
            </p:sp>
            <p:sp>
              <p:nvSpPr>
                <p:cNvPr id="63" name="Rectangle 17"/>
                <p:cNvSpPr>
                  <a:spLocks noChangeArrowheads="1"/>
                </p:cNvSpPr>
                <p:nvPr/>
              </p:nvSpPr>
              <p:spPr bwMode="auto">
                <a:xfrm>
                  <a:off x="3287" y="1798"/>
                  <a:ext cx="115"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p>
              </p:txBody>
            </p:sp>
            <p:sp>
              <p:nvSpPr>
                <p:cNvPr id="64" name="Rectangle 18"/>
                <p:cNvSpPr>
                  <a:spLocks noChangeArrowheads="1"/>
                </p:cNvSpPr>
                <p:nvPr/>
              </p:nvSpPr>
              <p:spPr bwMode="auto">
                <a:xfrm>
                  <a:off x="3287" y="1794"/>
                  <a:ext cx="123"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kumimoji="1" lang="en-US" altLang="zh-CN" sz="2600" b="1">
                      <a:solidFill>
                        <a:srgbClr val="000000"/>
                      </a:solidFill>
                      <a:latin typeface="Symbol" pitchFamily="18" charset="2"/>
                    </a:rPr>
                    <a:t>£</a:t>
                  </a:r>
                  <a:endParaRPr kumimoji="1" lang="en-US" altLang="zh-CN" sz="2400">
                    <a:latin typeface="Times New Roman" pitchFamily="18" charset="0"/>
                  </a:endParaRPr>
                </a:p>
              </p:txBody>
            </p:sp>
            <p:sp>
              <p:nvSpPr>
                <p:cNvPr id="65" name="Rectangle 19"/>
                <p:cNvSpPr>
                  <a:spLocks noChangeArrowheads="1"/>
                </p:cNvSpPr>
                <p:nvPr/>
              </p:nvSpPr>
              <p:spPr bwMode="auto">
                <a:xfrm>
                  <a:off x="2968" y="1949"/>
                  <a:ext cx="221"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p>
              </p:txBody>
            </p:sp>
            <p:sp>
              <p:nvSpPr>
                <p:cNvPr id="66" name="Rectangle 20"/>
                <p:cNvSpPr>
                  <a:spLocks noChangeArrowheads="1"/>
                </p:cNvSpPr>
                <p:nvPr/>
              </p:nvSpPr>
              <p:spPr bwMode="auto">
                <a:xfrm>
                  <a:off x="2968" y="1957"/>
                  <a:ext cx="238"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kumimoji="1" lang="en-US" altLang="zh-CN" sz="1500" b="1">
                      <a:solidFill>
                        <a:srgbClr val="000000"/>
                      </a:solidFill>
                      <a:latin typeface="Times New Roman" pitchFamily="18" charset="0"/>
                    </a:rPr>
                    <a:t>max</a:t>
                  </a:r>
                  <a:endParaRPr kumimoji="1" lang="en-US" altLang="zh-CN" sz="2400">
                    <a:latin typeface="Times New Roman" pitchFamily="18" charset="0"/>
                  </a:endParaRPr>
                </a:p>
              </p:txBody>
            </p:sp>
          </p:grpSp>
          <p:sp>
            <p:nvSpPr>
              <p:cNvPr id="52" name="Rectangle 21"/>
              <p:cNvSpPr>
                <a:spLocks noChangeArrowheads="1"/>
              </p:cNvSpPr>
              <p:nvPr/>
            </p:nvSpPr>
            <p:spPr bwMode="auto">
              <a:xfrm>
                <a:off x="3693" y="1826"/>
                <a:ext cx="312"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p>
            </p:txBody>
          </p:sp>
          <p:sp>
            <p:nvSpPr>
              <p:cNvPr id="53" name="Rectangle 22"/>
              <p:cNvSpPr>
                <a:spLocks noChangeArrowheads="1"/>
              </p:cNvSpPr>
              <p:nvPr/>
            </p:nvSpPr>
            <p:spPr bwMode="auto">
              <a:xfrm>
                <a:off x="3799" y="1888"/>
                <a:ext cx="19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p>
            </p:txBody>
          </p:sp>
          <p:sp>
            <p:nvSpPr>
              <p:cNvPr id="54" name="Rectangle 23"/>
              <p:cNvSpPr>
                <a:spLocks noChangeArrowheads="1"/>
              </p:cNvSpPr>
              <p:nvPr/>
            </p:nvSpPr>
            <p:spPr bwMode="auto">
              <a:xfrm>
                <a:off x="3799" y="1921"/>
                <a:ext cx="208"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kumimoji="1" lang="zh-CN" altLang="en-US" sz="2400">
                    <a:solidFill>
                      <a:srgbClr val="000000"/>
                    </a:solidFill>
                    <a:latin typeface="宋体" pitchFamily="2" charset="-122"/>
                  </a:rPr>
                  <a:t>；</a:t>
                </a:r>
                <a:endParaRPr kumimoji="1" lang="zh-CN" altLang="en-US" sz="2400">
                  <a:latin typeface="Times New Roman" pitchFamily="18" charset="0"/>
                </a:endParaRPr>
              </a:p>
            </p:txBody>
          </p:sp>
        </p:grpSp>
        <p:grpSp>
          <p:nvGrpSpPr>
            <p:cNvPr id="8" name="Group 24"/>
            <p:cNvGrpSpPr>
              <a:grpSpLocks/>
            </p:cNvGrpSpPr>
            <p:nvPr/>
          </p:nvGrpSpPr>
          <p:grpSpPr bwMode="auto">
            <a:xfrm>
              <a:off x="2409" y="1322"/>
              <a:ext cx="967" cy="593"/>
              <a:chOff x="3327" y="2261"/>
              <a:chExt cx="967" cy="593"/>
            </a:xfrm>
          </p:grpSpPr>
          <p:sp>
            <p:nvSpPr>
              <p:cNvPr id="32" name="Rectangle 25"/>
              <p:cNvSpPr>
                <a:spLocks noChangeArrowheads="1"/>
              </p:cNvSpPr>
              <p:nvPr/>
            </p:nvSpPr>
            <p:spPr bwMode="auto">
              <a:xfrm>
                <a:off x="3918" y="2454"/>
                <a:ext cx="95"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p>
            </p:txBody>
          </p:sp>
          <p:sp>
            <p:nvSpPr>
              <p:cNvPr id="33" name="Rectangle 26"/>
              <p:cNvSpPr>
                <a:spLocks noChangeArrowheads="1"/>
              </p:cNvSpPr>
              <p:nvPr/>
            </p:nvSpPr>
            <p:spPr bwMode="auto">
              <a:xfrm>
                <a:off x="3918" y="2446"/>
                <a:ext cx="101" cy="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kumimoji="1" lang="en-US" altLang="zh-CN" sz="3500" b="1">
                    <a:solidFill>
                      <a:srgbClr val="000000"/>
                    </a:solidFill>
                    <a:latin typeface="Symbol" pitchFamily="18" charset="2"/>
                  </a:rPr>
                  <a:t>[</a:t>
                </a:r>
                <a:endParaRPr kumimoji="1" lang="en-US" altLang="zh-CN" sz="2400">
                  <a:latin typeface="Times New Roman" pitchFamily="18" charset="0"/>
                </a:endParaRPr>
              </a:p>
            </p:txBody>
          </p:sp>
          <p:sp>
            <p:nvSpPr>
              <p:cNvPr id="34" name="Rectangle 27"/>
              <p:cNvSpPr>
                <a:spLocks noChangeArrowheads="1"/>
              </p:cNvSpPr>
              <p:nvPr/>
            </p:nvSpPr>
            <p:spPr bwMode="auto">
              <a:xfrm>
                <a:off x="4195" y="2454"/>
                <a:ext cx="95"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p>
            </p:txBody>
          </p:sp>
          <p:sp>
            <p:nvSpPr>
              <p:cNvPr id="35" name="Rectangle 28"/>
              <p:cNvSpPr>
                <a:spLocks noChangeArrowheads="1"/>
              </p:cNvSpPr>
              <p:nvPr/>
            </p:nvSpPr>
            <p:spPr bwMode="auto">
              <a:xfrm>
                <a:off x="4193" y="2446"/>
                <a:ext cx="101" cy="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kumimoji="1" lang="en-US" altLang="zh-CN" sz="3500" b="1">
                    <a:solidFill>
                      <a:srgbClr val="000000"/>
                    </a:solidFill>
                    <a:latin typeface="Symbol" pitchFamily="18" charset="2"/>
                  </a:rPr>
                  <a:t>]</a:t>
                </a:r>
                <a:endParaRPr kumimoji="1" lang="en-US" altLang="zh-CN" sz="2400">
                  <a:latin typeface="Times New Roman" pitchFamily="18" charset="0"/>
                </a:endParaRPr>
              </a:p>
            </p:txBody>
          </p:sp>
          <p:sp>
            <p:nvSpPr>
              <p:cNvPr id="36" name="Freeform 29"/>
              <p:cNvSpPr>
                <a:spLocks/>
              </p:cNvSpPr>
              <p:nvPr/>
            </p:nvSpPr>
            <p:spPr bwMode="auto">
              <a:xfrm>
                <a:off x="3778" y="2522"/>
                <a:ext cx="498" cy="10"/>
              </a:xfrm>
              <a:custGeom>
                <a:avLst/>
                <a:gdLst>
                  <a:gd name="T0" fmla="*/ 0 w 498"/>
                  <a:gd name="T1" fmla="*/ 0 h 10"/>
                  <a:gd name="T2" fmla="*/ 0 w 498"/>
                  <a:gd name="T3" fmla="*/ 9 h 10"/>
                  <a:gd name="T4" fmla="*/ 498 w 498"/>
                  <a:gd name="T5" fmla="*/ 10 h 10"/>
                  <a:gd name="T6" fmla="*/ 498 w 498"/>
                  <a:gd name="T7" fmla="*/ 1 h 10"/>
                  <a:gd name="T8" fmla="*/ 0 w 498"/>
                  <a:gd name="T9" fmla="*/ 0 h 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8" h="10">
                    <a:moveTo>
                      <a:pt x="0" y="0"/>
                    </a:moveTo>
                    <a:lnTo>
                      <a:pt x="0" y="9"/>
                    </a:lnTo>
                    <a:lnTo>
                      <a:pt x="498" y="10"/>
                    </a:lnTo>
                    <a:lnTo>
                      <a:pt x="498" y="1"/>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Rectangle 30"/>
              <p:cNvSpPr>
                <a:spLocks noChangeArrowheads="1"/>
              </p:cNvSpPr>
              <p:nvPr/>
            </p:nvSpPr>
            <p:spPr bwMode="auto">
              <a:xfrm>
                <a:off x="4116" y="2554"/>
                <a:ext cx="53"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p>
            </p:txBody>
          </p:sp>
          <p:sp>
            <p:nvSpPr>
              <p:cNvPr id="38" name="Rectangle 31"/>
              <p:cNvSpPr>
                <a:spLocks noChangeArrowheads="1"/>
              </p:cNvSpPr>
              <p:nvPr/>
            </p:nvSpPr>
            <p:spPr bwMode="auto">
              <a:xfrm>
                <a:off x="4115" y="2564"/>
                <a:ext cx="57"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kumimoji="1" lang="en-US" altLang="zh-CN" sz="2600" b="1">
                    <a:solidFill>
                      <a:srgbClr val="000000"/>
                    </a:solidFill>
                    <a:latin typeface="Times New Roman" pitchFamily="18" charset="0"/>
                  </a:rPr>
                  <a:t> </a:t>
                </a:r>
                <a:endParaRPr kumimoji="1" lang="en-US" altLang="zh-CN" sz="2400">
                  <a:latin typeface="Times New Roman" pitchFamily="18" charset="0"/>
                </a:endParaRPr>
              </a:p>
            </p:txBody>
          </p:sp>
          <p:sp>
            <p:nvSpPr>
              <p:cNvPr id="39" name="Rectangle 32"/>
              <p:cNvSpPr>
                <a:spLocks noChangeArrowheads="1"/>
              </p:cNvSpPr>
              <p:nvPr/>
            </p:nvSpPr>
            <p:spPr bwMode="auto">
              <a:xfrm>
                <a:off x="4049" y="2390"/>
                <a:ext cx="221"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p>
            </p:txBody>
          </p:sp>
          <p:sp>
            <p:nvSpPr>
              <p:cNvPr id="40" name="Rectangle 33"/>
              <p:cNvSpPr>
                <a:spLocks noChangeArrowheads="1"/>
              </p:cNvSpPr>
              <p:nvPr/>
            </p:nvSpPr>
            <p:spPr bwMode="auto">
              <a:xfrm>
                <a:off x="4049" y="2396"/>
                <a:ext cx="239"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kumimoji="1" lang="en-US" altLang="zh-CN" sz="1500" b="1">
                    <a:solidFill>
                      <a:srgbClr val="000000"/>
                    </a:solidFill>
                    <a:latin typeface="Times New Roman" pitchFamily="18" charset="0"/>
                  </a:rPr>
                  <a:t>max</a:t>
                </a:r>
                <a:endParaRPr kumimoji="1" lang="en-US" altLang="zh-CN" sz="2400">
                  <a:latin typeface="Times New Roman" pitchFamily="18" charset="0"/>
                </a:endParaRPr>
              </a:p>
            </p:txBody>
          </p:sp>
          <p:sp>
            <p:nvSpPr>
              <p:cNvPr id="41" name="Rectangle 34"/>
              <p:cNvSpPr>
                <a:spLocks noChangeArrowheads="1"/>
              </p:cNvSpPr>
              <p:nvPr/>
            </p:nvSpPr>
            <p:spPr bwMode="auto">
              <a:xfrm>
                <a:off x="3980" y="2531"/>
                <a:ext cx="127"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p>
            </p:txBody>
          </p:sp>
          <p:sp>
            <p:nvSpPr>
              <p:cNvPr id="42" name="Rectangle 35"/>
              <p:cNvSpPr>
                <a:spLocks noChangeArrowheads="1"/>
              </p:cNvSpPr>
              <p:nvPr/>
            </p:nvSpPr>
            <p:spPr bwMode="auto">
              <a:xfrm>
                <a:off x="3980" y="2527"/>
                <a:ext cx="137"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kumimoji="1" lang="en-US" altLang="zh-CN" sz="2600" b="1" i="1">
                    <a:solidFill>
                      <a:srgbClr val="000000"/>
                    </a:solidFill>
                    <a:latin typeface="Symbol" pitchFamily="18" charset="2"/>
                  </a:rPr>
                  <a:t>s</a:t>
                </a:r>
                <a:endParaRPr kumimoji="1" lang="en-US" altLang="zh-CN" sz="2400">
                  <a:latin typeface="Times New Roman" pitchFamily="18" charset="0"/>
                </a:endParaRPr>
              </a:p>
            </p:txBody>
          </p:sp>
          <p:sp>
            <p:nvSpPr>
              <p:cNvPr id="43" name="Rectangle 36"/>
              <p:cNvSpPr>
                <a:spLocks noChangeArrowheads="1"/>
              </p:cNvSpPr>
              <p:nvPr/>
            </p:nvSpPr>
            <p:spPr bwMode="auto">
              <a:xfrm>
                <a:off x="3844" y="2261"/>
                <a:ext cx="186"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p>
            </p:txBody>
          </p:sp>
          <p:sp>
            <p:nvSpPr>
              <p:cNvPr id="44" name="Rectangle 37"/>
              <p:cNvSpPr>
                <a:spLocks noChangeArrowheads="1"/>
              </p:cNvSpPr>
              <p:nvPr/>
            </p:nvSpPr>
            <p:spPr bwMode="auto">
              <a:xfrm>
                <a:off x="3843" y="2275"/>
                <a:ext cx="201"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kumimoji="1" lang="en-US" altLang="zh-CN" sz="2600" b="1" i="1">
                    <a:solidFill>
                      <a:srgbClr val="000000"/>
                    </a:solidFill>
                    <a:latin typeface="Times New Roman" pitchFamily="18" charset="0"/>
                  </a:rPr>
                  <a:t>M</a:t>
                </a:r>
                <a:endParaRPr kumimoji="1" lang="en-US" altLang="zh-CN" sz="2400">
                  <a:latin typeface="Times New Roman" pitchFamily="18" charset="0"/>
                </a:endParaRPr>
              </a:p>
            </p:txBody>
          </p:sp>
          <p:sp>
            <p:nvSpPr>
              <p:cNvPr id="45" name="Rectangle 38"/>
              <p:cNvSpPr>
                <a:spLocks noChangeArrowheads="1"/>
              </p:cNvSpPr>
              <p:nvPr/>
            </p:nvSpPr>
            <p:spPr bwMode="auto">
              <a:xfrm>
                <a:off x="3327" y="2392"/>
                <a:ext cx="186"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p>
            </p:txBody>
          </p:sp>
          <p:sp>
            <p:nvSpPr>
              <p:cNvPr id="46" name="Rectangle 39"/>
              <p:cNvSpPr>
                <a:spLocks noChangeArrowheads="1"/>
              </p:cNvSpPr>
              <p:nvPr/>
            </p:nvSpPr>
            <p:spPr bwMode="auto">
              <a:xfrm>
                <a:off x="3327" y="2406"/>
                <a:ext cx="200"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kumimoji="1" lang="en-US" altLang="zh-CN" sz="2600" b="1" i="1">
                    <a:solidFill>
                      <a:srgbClr val="000000"/>
                    </a:solidFill>
                    <a:latin typeface="Times New Roman" pitchFamily="18" charset="0"/>
                  </a:rPr>
                  <a:t>W</a:t>
                </a:r>
                <a:endParaRPr kumimoji="1" lang="en-US" altLang="zh-CN" sz="2400">
                  <a:latin typeface="Times New Roman" pitchFamily="18" charset="0"/>
                </a:endParaRPr>
              </a:p>
            </p:txBody>
          </p:sp>
          <p:sp>
            <p:nvSpPr>
              <p:cNvPr id="47" name="Rectangle 40"/>
              <p:cNvSpPr>
                <a:spLocks noChangeArrowheads="1"/>
              </p:cNvSpPr>
              <p:nvPr/>
            </p:nvSpPr>
            <p:spPr bwMode="auto">
              <a:xfrm>
                <a:off x="3500" y="2521"/>
                <a:ext cx="48"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p>
            </p:txBody>
          </p:sp>
          <p:sp>
            <p:nvSpPr>
              <p:cNvPr id="48" name="Rectangle 41"/>
              <p:cNvSpPr>
                <a:spLocks noChangeArrowheads="1"/>
              </p:cNvSpPr>
              <p:nvPr/>
            </p:nvSpPr>
            <p:spPr bwMode="auto">
              <a:xfrm>
                <a:off x="3501" y="2529"/>
                <a:ext cx="51"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kumimoji="1" lang="en-US" altLang="zh-CN" sz="1500" b="1" i="1">
                    <a:solidFill>
                      <a:srgbClr val="000000"/>
                    </a:solidFill>
                    <a:latin typeface="Times New Roman" pitchFamily="18" charset="0"/>
                  </a:rPr>
                  <a:t>z</a:t>
                </a:r>
                <a:endParaRPr kumimoji="1" lang="en-US" altLang="zh-CN" sz="2400">
                  <a:latin typeface="Times New Roman" pitchFamily="18" charset="0"/>
                </a:endParaRPr>
              </a:p>
            </p:txBody>
          </p:sp>
          <p:sp>
            <p:nvSpPr>
              <p:cNvPr id="49" name="Rectangle 42"/>
              <p:cNvSpPr>
                <a:spLocks noChangeArrowheads="1"/>
              </p:cNvSpPr>
              <p:nvPr/>
            </p:nvSpPr>
            <p:spPr bwMode="auto">
              <a:xfrm>
                <a:off x="3671" y="2369"/>
                <a:ext cx="115"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p>
            </p:txBody>
          </p:sp>
          <p:sp>
            <p:nvSpPr>
              <p:cNvPr id="50" name="Rectangle 43"/>
              <p:cNvSpPr>
                <a:spLocks noChangeArrowheads="1"/>
              </p:cNvSpPr>
              <p:nvPr/>
            </p:nvSpPr>
            <p:spPr bwMode="auto">
              <a:xfrm>
                <a:off x="3671" y="2365"/>
                <a:ext cx="124"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kumimoji="1" lang="en-US" altLang="zh-CN" sz="2600" b="1">
                    <a:solidFill>
                      <a:srgbClr val="000000"/>
                    </a:solidFill>
                    <a:latin typeface="Symbol" pitchFamily="18" charset="2"/>
                  </a:rPr>
                  <a:t>³</a:t>
                </a:r>
                <a:endParaRPr kumimoji="1" lang="en-US" altLang="zh-CN" sz="2400">
                  <a:latin typeface="Times New Roman" pitchFamily="18" charset="0"/>
                </a:endParaRPr>
              </a:p>
            </p:txBody>
          </p:sp>
        </p:grpSp>
        <p:grpSp>
          <p:nvGrpSpPr>
            <p:cNvPr id="9" name="Group 44"/>
            <p:cNvGrpSpPr>
              <a:grpSpLocks/>
            </p:cNvGrpSpPr>
            <p:nvPr/>
          </p:nvGrpSpPr>
          <p:grpSpPr bwMode="auto">
            <a:xfrm>
              <a:off x="2409" y="1874"/>
              <a:ext cx="1483" cy="411"/>
              <a:chOff x="2343" y="3312"/>
              <a:chExt cx="1483" cy="411"/>
            </a:xfrm>
          </p:grpSpPr>
          <p:sp>
            <p:nvSpPr>
              <p:cNvPr id="10" name="Rectangle 45"/>
              <p:cNvSpPr>
                <a:spLocks noChangeArrowheads="1"/>
              </p:cNvSpPr>
              <p:nvPr/>
            </p:nvSpPr>
            <p:spPr bwMode="auto">
              <a:xfrm>
                <a:off x="3293" y="3317"/>
                <a:ext cx="95"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p>
            </p:txBody>
          </p:sp>
          <p:sp>
            <p:nvSpPr>
              <p:cNvPr id="11" name="Rectangle 46"/>
              <p:cNvSpPr>
                <a:spLocks noChangeArrowheads="1"/>
              </p:cNvSpPr>
              <p:nvPr/>
            </p:nvSpPr>
            <p:spPr bwMode="auto">
              <a:xfrm>
                <a:off x="3293" y="3312"/>
                <a:ext cx="101" cy="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kumimoji="1" lang="en-US" altLang="zh-CN" sz="3500" b="1">
                    <a:solidFill>
                      <a:srgbClr val="000000"/>
                    </a:solidFill>
                    <a:latin typeface="Symbol" pitchFamily="18" charset="2"/>
                  </a:rPr>
                  <a:t>[</a:t>
                </a:r>
                <a:endParaRPr kumimoji="1" lang="en-US" altLang="zh-CN" sz="2400">
                  <a:latin typeface="Times New Roman" pitchFamily="18" charset="0"/>
                </a:endParaRPr>
              </a:p>
            </p:txBody>
          </p:sp>
          <p:sp>
            <p:nvSpPr>
              <p:cNvPr id="12" name="Rectangle 47"/>
              <p:cNvSpPr>
                <a:spLocks noChangeArrowheads="1"/>
              </p:cNvSpPr>
              <p:nvPr/>
            </p:nvSpPr>
            <p:spPr bwMode="auto">
              <a:xfrm>
                <a:off x="3570" y="3317"/>
                <a:ext cx="95"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p>
            </p:txBody>
          </p:sp>
          <p:sp>
            <p:nvSpPr>
              <p:cNvPr id="13" name="Rectangle 48"/>
              <p:cNvSpPr>
                <a:spLocks noChangeArrowheads="1"/>
              </p:cNvSpPr>
              <p:nvPr/>
            </p:nvSpPr>
            <p:spPr bwMode="auto">
              <a:xfrm>
                <a:off x="3570" y="3312"/>
                <a:ext cx="101" cy="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kumimoji="1" lang="en-US" altLang="zh-CN" sz="3500" b="1">
                    <a:solidFill>
                      <a:srgbClr val="000000"/>
                    </a:solidFill>
                    <a:latin typeface="Symbol" pitchFamily="18" charset="2"/>
                  </a:rPr>
                  <a:t>]</a:t>
                </a:r>
                <a:endParaRPr kumimoji="1" lang="en-US" altLang="zh-CN" sz="2400">
                  <a:latin typeface="Times New Roman" pitchFamily="18" charset="0"/>
                </a:endParaRPr>
              </a:p>
            </p:txBody>
          </p:sp>
          <p:sp>
            <p:nvSpPr>
              <p:cNvPr id="14" name="Rectangle 49"/>
              <p:cNvSpPr>
                <a:spLocks noChangeArrowheads="1"/>
              </p:cNvSpPr>
              <p:nvPr/>
            </p:nvSpPr>
            <p:spPr bwMode="auto">
              <a:xfrm>
                <a:off x="3752" y="3418"/>
                <a:ext cx="70"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p>
            </p:txBody>
          </p:sp>
          <p:sp>
            <p:nvSpPr>
              <p:cNvPr id="15" name="Rectangle 50"/>
              <p:cNvSpPr>
                <a:spLocks noChangeArrowheads="1"/>
              </p:cNvSpPr>
              <p:nvPr/>
            </p:nvSpPr>
            <p:spPr bwMode="auto">
              <a:xfrm>
                <a:off x="3751" y="3431"/>
                <a:ext cx="75"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kumimoji="1" lang="en-US" altLang="zh-CN" sz="2600" b="1">
                    <a:solidFill>
                      <a:srgbClr val="000000"/>
                    </a:solidFill>
                    <a:latin typeface="Times New Roman" pitchFamily="18" charset="0"/>
                  </a:rPr>
                  <a:t>;</a:t>
                </a:r>
                <a:endParaRPr kumimoji="1" lang="en-US" altLang="zh-CN" sz="2400">
                  <a:latin typeface="Times New Roman" pitchFamily="18" charset="0"/>
                </a:endParaRPr>
              </a:p>
            </p:txBody>
          </p:sp>
          <p:sp>
            <p:nvSpPr>
              <p:cNvPr id="16" name="Rectangle 51"/>
              <p:cNvSpPr>
                <a:spLocks noChangeArrowheads="1"/>
              </p:cNvSpPr>
              <p:nvPr/>
            </p:nvSpPr>
            <p:spPr bwMode="auto">
              <a:xfrm>
                <a:off x="3606" y="3418"/>
                <a:ext cx="157"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p>
            </p:txBody>
          </p:sp>
          <p:sp>
            <p:nvSpPr>
              <p:cNvPr id="17" name="Rectangle 52"/>
              <p:cNvSpPr>
                <a:spLocks noChangeArrowheads="1"/>
              </p:cNvSpPr>
              <p:nvPr/>
            </p:nvSpPr>
            <p:spPr bwMode="auto">
              <a:xfrm>
                <a:off x="3606" y="3431"/>
                <a:ext cx="169"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kumimoji="1" lang="en-US" altLang="zh-CN" sz="2600" b="1">
                    <a:solidFill>
                      <a:srgbClr val="000000"/>
                    </a:solidFill>
                    <a:latin typeface="Times New Roman" pitchFamily="18" charset="0"/>
                  </a:rPr>
                  <a:t>   </a:t>
                </a:r>
                <a:endParaRPr kumimoji="1" lang="en-US" altLang="zh-CN" sz="2400">
                  <a:latin typeface="Times New Roman" pitchFamily="18" charset="0"/>
                </a:endParaRPr>
              </a:p>
            </p:txBody>
          </p:sp>
          <p:sp>
            <p:nvSpPr>
              <p:cNvPr id="18" name="Rectangle 53"/>
              <p:cNvSpPr>
                <a:spLocks noChangeArrowheads="1"/>
              </p:cNvSpPr>
              <p:nvPr/>
            </p:nvSpPr>
            <p:spPr bwMode="auto">
              <a:xfrm>
                <a:off x="3490" y="3418"/>
                <a:ext cx="53"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p>
            </p:txBody>
          </p:sp>
          <p:sp>
            <p:nvSpPr>
              <p:cNvPr id="19" name="Rectangle 54"/>
              <p:cNvSpPr>
                <a:spLocks noChangeArrowheads="1"/>
              </p:cNvSpPr>
              <p:nvPr/>
            </p:nvSpPr>
            <p:spPr bwMode="auto">
              <a:xfrm>
                <a:off x="3491" y="3431"/>
                <a:ext cx="57"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kumimoji="1" lang="en-US" altLang="zh-CN" sz="2600" b="1">
                    <a:solidFill>
                      <a:srgbClr val="000000"/>
                    </a:solidFill>
                    <a:latin typeface="Times New Roman" pitchFamily="18" charset="0"/>
                  </a:rPr>
                  <a:t> </a:t>
                </a:r>
                <a:endParaRPr kumimoji="1" lang="en-US" altLang="zh-CN" sz="2400">
                  <a:latin typeface="Times New Roman" pitchFamily="18" charset="0"/>
                </a:endParaRPr>
              </a:p>
            </p:txBody>
          </p:sp>
          <p:sp>
            <p:nvSpPr>
              <p:cNvPr id="20" name="Rectangle 55"/>
              <p:cNvSpPr>
                <a:spLocks noChangeArrowheads="1"/>
              </p:cNvSpPr>
              <p:nvPr/>
            </p:nvSpPr>
            <p:spPr bwMode="auto">
              <a:xfrm>
                <a:off x="2549" y="3545"/>
                <a:ext cx="221"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p>
            </p:txBody>
          </p:sp>
          <p:sp>
            <p:nvSpPr>
              <p:cNvPr id="21" name="Rectangle 56"/>
              <p:cNvSpPr>
                <a:spLocks noChangeArrowheads="1"/>
              </p:cNvSpPr>
              <p:nvPr/>
            </p:nvSpPr>
            <p:spPr bwMode="auto">
              <a:xfrm>
                <a:off x="2549" y="3553"/>
                <a:ext cx="238"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kumimoji="1" lang="en-US" altLang="zh-CN" sz="1500" b="1">
                    <a:solidFill>
                      <a:srgbClr val="000000"/>
                    </a:solidFill>
                    <a:latin typeface="Times New Roman" pitchFamily="18" charset="0"/>
                  </a:rPr>
                  <a:t>max</a:t>
                </a:r>
                <a:endParaRPr kumimoji="1" lang="en-US" altLang="zh-CN" sz="2400">
                  <a:latin typeface="Times New Roman" pitchFamily="18" charset="0"/>
                </a:endParaRPr>
              </a:p>
            </p:txBody>
          </p:sp>
          <p:sp>
            <p:nvSpPr>
              <p:cNvPr id="22" name="Rectangle 57"/>
              <p:cNvSpPr>
                <a:spLocks noChangeArrowheads="1"/>
              </p:cNvSpPr>
              <p:nvPr/>
            </p:nvSpPr>
            <p:spPr bwMode="auto">
              <a:xfrm>
                <a:off x="3354" y="3395"/>
                <a:ext cx="127"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p>
            </p:txBody>
          </p:sp>
          <p:sp>
            <p:nvSpPr>
              <p:cNvPr id="23" name="Rectangle 58"/>
              <p:cNvSpPr>
                <a:spLocks noChangeArrowheads="1"/>
              </p:cNvSpPr>
              <p:nvPr/>
            </p:nvSpPr>
            <p:spPr bwMode="auto">
              <a:xfrm>
                <a:off x="3354" y="3392"/>
                <a:ext cx="136"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kumimoji="1" lang="en-US" altLang="zh-CN" sz="2600" b="1" i="1">
                    <a:solidFill>
                      <a:srgbClr val="000000"/>
                    </a:solidFill>
                    <a:latin typeface="Symbol" pitchFamily="18" charset="2"/>
                  </a:rPr>
                  <a:t>s</a:t>
                </a:r>
                <a:endParaRPr kumimoji="1" lang="en-US" altLang="zh-CN" sz="2400">
                  <a:latin typeface="Times New Roman" pitchFamily="18" charset="0"/>
                </a:endParaRPr>
              </a:p>
            </p:txBody>
          </p:sp>
          <p:sp>
            <p:nvSpPr>
              <p:cNvPr id="24" name="Rectangle 59"/>
              <p:cNvSpPr>
                <a:spLocks noChangeArrowheads="1"/>
              </p:cNvSpPr>
              <p:nvPr/>
            </p:nvSpPr>
            <p:spPr bwMode="auto">
              <a:xfrm>
                <a:off x="3189" y="3546"/>
                <a:ext cx="48"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p>
            </p:txBody>
          </p:sp>
          <p:sp>
            <p:nvSpPr>
              <p:cNvPr id="25" name="Rectangle 60"/>
              <p:cNvSpPr>
                <a:spLocks noChangeArrowheads="1"/>
              </p:cNvSpPr>
              <p:nvPr/>
            </p:nvSpPr>
            <p:spPr bwMode="auto">
              <a:xfrm>
                <a:off x="3189" y="3554"/>
                <a:ext cx="51"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kumimoji="1" lang="en-US" altLang="zh-CN" sz="1500" b="1" i="1">
                    <a:solidFill>
                      <a:srgbClr val="000000"/>
                    </a:solidFill>
                    <a:latin typeface="Times New Roman" pitchFamily="18" charset="0"/>
                  </a:rPr>
                  <a:t>z</a:t>
                </a:r>
                <a:endParaRPr kumimoji="1" lang="en-US" altLang="zh-CN" sz="2400">
                  <a:latin typeface="Times New Roman" pitchFamily="18" charset="0"/>
                </a:endParaRPr>
              </a:p>
            </p:txBody>
          </p:sp>
          <p:sp>
            <p:nvSpPr>
              <p:cNvPr id="26" name="Rectangle 61"/>
              <p:cNvSpPr>
                <a:spLocks noChangeArrowheads="1"/>
              </p:cNvSpPr>
              <p:nvPr/>
            </p:nvSpPr>
            <p:spPr bwMode="auto">
              <a:xfrm>
                <a:off x="3016" y="3418"/>
                <a:ext cx="186"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p>
            </p:txBody>
          </p:sp>
          <p:sp>
            <p:nvSpPr>
              <p:cNvPr id="27" name="Rectangle 62"/>
              <p:cNvSpPr>
                <a:spLocks noChangeArrowheads="1"/>
              </p:cNvSpPr>
              <p:nvPr/>
            </p:nvSpPr>
            <p:spPr bwMode="auto">
              <a:xfrm>
                <a:off x="3016" y="3433"/>
                <a:ext cx="200"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kumimoji="1" lang="en-US" altLang="zh-CN" sz="2600" b="1" i="1">
                    <a:solidFill>
                      <a:srgbClr val="000000"/>
                    </a:solidFill>
                    <a:latin typeface="Times New Roman" pitchFamily="18" charset="0"/>
                  </a:rPr>
                  <a:t>W</a:t>
                </a:r>
                <a:endParaRPr kumimoji="1" lang="en-US" altLang="zh-CN" sz="2400">
                  <a:latin typeface="Times New Roman" pitchFamily="18" charset="0"/>
                </a:endParaRPr>
              </a:p>
            </p:txBody>
          </p:sp>
          <p:sp>
            <p:nvSpPr>
              <p:cNvPr id="28" name="Rectangle 63"/>
              <p:cNvSpPr>
                <a:spLocks noChangeArrowheads="1"/>
              </p:cNvSpPr>
              <p:nvPr/>
            </p:nvSpPr>
            <p:spPr bwMode="auto">
              <a:xfrm>
                <a:off x="2343" y="3418"/>
                <a:ext cx="186"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p>
            </p:txBody>
          </p:sp>
          <p:sp>
            <p:nvSpPr>
              <p:cNvPr id="29" name="Rectangle 64"/>
              <p:cNvSpPr>
                <a:spLocks noChangeArrowheads="1"/>
              </p:cNvSpPr>
              <p:nvPr/>
            </p:nvSpPr>
            <p:spPr bwMode="auto">
              <a:xfrm>
                <a:off x="2343" y="3433"/>
                <a:ext cx="200"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kumimoji="1" lang="en-US" altLang="zh-CN" sz="2600" b="1" i="1">
                    <a:solidFill>
                      <a:srgbClr val="000000"/>
                    </a:solidFill>
                    <a:latin typeface="Times New Roman" pitchFamily="18" charset="0"/>
                  </a:rPr>
                  <a:t>M</a:t>
                </a:r>
                <a:endParaRPr kumimoji="1" lang="en-US" altLang="zh-CN" sz="2400">
                  <a:latin typeface="Times New Roman" pitchFamily="18" charset="0"/>
                </a:endParaRPr>
              </a:p>
            </p:txBody>
          </p:sp>
          <p:sp>
            <p:nvSpPr>
              <p:cNvPr id="30" name="Rectangle 65"/>
              <p:cNvSpPr>
                <a:spLocks noChangeArrowheads="1"/>
              </p:cNvSpPr>
              <p:nvPr/>
            </p:nvSpPr>
            <p:spPr bwMode="auto">
              <a:xfrm>
                <a:off x="2887" y="3395"/>
                <a:ext cx="115"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p>
            </p:txBody>
          </p:sp>
          <p:sp>
            <p:nvSpPr>
              <p:cNvPr id="31" name="Rectangle 66"/>
              <p:cNvSpPr>
                <a:spLocks noChangeArrowheads="1"/>
              </p:cNvSpPr>
              <p:nvPr/>
            </p:nvSpPr>
            <p:spPr bwMode="auto">
              <a:xfrm>
                <a:off x="2887" y="3391"/>
                <a:ext cx="123"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kumimoji="1" lang="en-US" altLang="zh-CN" sz="2600" b="1">
                    <a:solidFill>
                      <a:srgbClr val="000000"/>
                    </a:solidFill>
                    <a:latin typeface="Symbol" pitchFamily="18" charset="2"/>
                  </a:rPr>
                  <a:t>£</a:t>
                </a:r>
                <a:endParaRPr kumimoji="1" lang="en-US" altLang="zh-CN" sz="2400">
                  <a:latin typeface="Times New Roman" pitchFamily="18" charset="0"/>
                </a:endParaRPr>
              </a:p>
            </p:txBody>
          </p:sp>
        </p:grpSp>
      </p:grpSp>
      <p:sp>
        <p:nvSpPr>
          <p:cNvPr id="67" name="AutoShape 67"/>
          <p:cNvSpPr>
            <a:spLocks/>
          </p:cNvSpPr>
          <p:nvPr/>
        </p:nvSpPr>
        <p:spPr bwMode="auto">
          <a:xfrm>
            <a:off x="2895600" y="1295400"/>
            <a:ext cx="228600" cy="1447800"/>
          </a:xfrm>
          <a:prstGeom prst="leftBrace">
            <a:avLst>
              <a:gd name="adj1" fmla="val 52778"/>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p>
        </p:txBody>
      </p:sp>
      <p:grpSp>
        <p:nvGrpSpPr>
          <p:cNvPr id="68" name="Group 68"/>
          <p:cNvGrpSpPr>
            <a:grpSpLocks/>
          </p:cNvGrpSpPr>
          <p:nvPr/>
        </p:nvGrpSpPr>
        <p:grpSpPr bwMode="auto">
          <a:xfrm>
            <a:off x="3124200" y="1828800"/>
            <a:ext cx="3824288" cy="1600200"/>
            <a:chOff x="2640" y="960"/>
            <a:chExt cx="2423" cy="878"/>
          </a:xfrm>
        </p:grpSpPr>
        <p:graphicFrame>
          <p:nvGraphicFramePr>
            <p:cNvPr id="69" name="Object 69"/>
            <p:cNvGraphicFramePr>
              <a:graphicFrameLocks noChangeAspect="1"/>
            </p:cNvGraphicFramePr>
            <p:nvPr/>
          </p:nvGraphicFramePr>
          <p:xfrm>
            <a:off x="2736" y="960"/>
            <a:ext cx="2327" cy="449"/>
          </p:xfrm>
          <a:graphic>
            <a:graphicData uri="http://schemas.openxmlformats.org/presentationml/2006/ole">
              <mc:AlternateContent xmlns:mc="http://schemas.openxmlformats.org/markup-compatibility/2006">
                <mc:Choice xmlns:v="urn:schemas-microsoft-com:vml" Requires="v">
                  <p:oleObj name="Equation" r:id="rId6" imgW="1511300" imgH="431800" progId="">
                    <p:embed/>
                  </p:oleObj>
                </mc:Choice>
                <mc:Fallback>
                  <p:oleObj name="Equation" r:id="rId6" imgW="1511300" imgH="431800" progId="">
                    <p:embed/>
                    <p:pic>
                      <p:nvPicPr>
                        <p:cNvPr id="0" name="Picture 5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36" y="960"/>
                          <a:ext cx="2327" cy="44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0" name="Object 70"/>
            <p:cNvGraphicFramePr>
              <a:graphicFrameLocks noChangeAspect="1"/>
            </p:cNvGraphicFramePr>
            <p:nvPr/>
          </p:nvGraphicFramePr>
          <p:xfrm>
            <a:off x="2736" y="1363"/>
            <a:ext cx="2304" cy="475"/>
          </p:xfrm>
          <a:graphic>
            <a:graphicData uri="http://schemas.openxmlformats.org/presentationml/2006/ole">
              <mc:AlternateContent xmlns:mc="http://schemas.openxmlformats.org/markup-compatibility/2006">
                <mc:Choice xmlns:v="urn:schemas-microsoft-com:vml" Requires="v">
                  <p:oleObj name="Equation" r:id="rId8" imgW="1536700" imgH="431800" progId="">
                    <p:embed/>
                  </p:oleObj>
                </mc:Choice>
                <mc:Fallback>
                  <p:oleObj name="Equation" r:id="rId8" imgW="1536700" imgH="431800" progId="">
                    <p:embed/>
                    <p:pic>
                      <p:nvPicPr>
                        <p:cNvPr id="0" name="Picture 5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36" y="1363"/>
                          <a:ext cx="2304" cy="4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1" name="AutoShape 71"/>
            <p:cNvSpPr>
              <a:spLocks/>
            </p:cNvSpPr>
            <p:nvPr/>
          </p:nvSpPr>
          <p:spPr bwMode="auto">
            <a:xfrm>
              <a:off x="2640" y="1152"/>
              <a:ext cx="48" cy="480"/>
            </a:xfrm>
            <a:prstGeom prst="leftBrace">
              <a:avLst>
                <a:gd name="adj1" fmla="val 8333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p>
          </p:txBody>
        </p:sp>
      </p:grpSp>
    </p:spTree>
    <p:extLst>
      <p:ext uri="{BB962C8B-B14F-4D97-AF65-F5344CB8AC3E}">
        <p14:creationId xmlns:p14="http://schemas.microsoft.com/office/powerpoint/2010/main" val="3322707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iterate type="lt">
                                    <p:tmPct val="100000"/>
                                  </p:iterate>
                                  <p:childTnLst>
                                    <p:set>
                                      <p:cBhvr>
                                        <p:cTn id="6" dur="1" fill="hold">
                                          <p:stCondLst>
                                            <p:cond delay="0"/>
                                          </p:stCondLst>
                                        </p:cTn>
                                        <p:tgtEl>
                                          <p:spTgt spid="2"/>
                                        </p:tgtEl>
                                        <p:attrNameLst>
                                          <p:attrName>style.visibility</p:attrName>
                                        </p:attrNameLst>
                                      </p:cBhvr>
                                      <p:to>
                                        <p:strVal val="visible"/>
                                      </p:to>
                                    </p:set>
                                    <p:anim calcmode="lin" valueType="num">
                                      <p:cBhvr additive="base">
                                        <p:cTn id="7" dur="75" fill="hold"/>
                                        <p:tgtEl>
                                          <p:spTgt spid="2"/>
                                        </p:tgtEl>
                                        <p:attrNameLst>
                                          <p:attrName>ppt_x</p:attrName>
                                        </p:attrNameLst>
                                      </p:cBhvr>
                                      <p:tavLst>
                                        <p:tav tm="0">
                                          <p:val>
                                            <p:strVal val="#ppt_x"/>
                                          </p:val>
                                        </p:tav>
                                        <p:tav tm="100000">
                                          <p:val>
                                            <p:strVal val="#ppt_x"/>
                                          </p:val>
                                        </p:tav>
                                      </p:tavLst>
                                    </p:anim>
                                    <p:anim calcmode="lin" valueType="num">
                                      <p:cBhvr additive="base">
                                        <p:cTn id="8" dur="75"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1+#ppt_w/2"/>
                                          </p:val>
                                        </p:tav>
                                        <p:tav tm="100000">
                                          <p:val>
                                            <p:strVal val="#ppt_x"/>
                                          </p:val>
                                        </p:tav>
                                      </p:tavLst>
                                    </p:anim>
                                    <p:anim calcmode="lin" valueType="num">
                                      <p:cBhvr additive="base">
                                        <p:cTn id="14"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7"/>
                                        </p:tgtEl>
                                        <p:attrNameLst>
                                          <p:attrName>style.visibility</p:attrName>
                                        </p:attrNameLst>
                                      </p:cBhvr>
                                      <p:to>
                                        <p:strVal val="visible"/>
                                      </p:to>
                                    </p:set>
                                    <p:anim calcmode="lin" valueType="num">
                                      <p:cBhvr additive="base">
                                        <p:cTn id="19" dur="500" fill="hold"/>
                                        <p:tgtEl>
                                          <p:spTgt spid="67"/>
                                        </p:tgtEl>
                                        <p:attrNameLst>
                                          <p:attrName>ppt_x</p:attrName>
                                        </p:attrNameLst>
                                      </p:cBhvr>
                                      <p:tavLst>
                                        <p:tav tm="0">
                                          <p:val>
                                            <p:strVal val="0-#ppt_w/2"/>
                                          </p:val>
                                        </p:tav>
                                        <p:tav tm="100000">
                                          <p:val>
                                            <p:strVal val="#ppt_x"/>
                                          </p:val>
                                        </p:tav>
                                      </p:tavLst>
                                    </p:anim>
                                    <p:anim calcmode="lin" valueType="num">
                                      <p:cBhvr additive="base">
                                        <p:cTn id="20" dur="500" fill="hold"/>
                                        <p:tgtEl>
                                          <p:spTgt spid="6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1+#ppt_w/2"/>
                                          </p:val>
                                        </p:tav>
                                        <p:tav tm="100000">
                                          <p:val>
                                            <p:strVal val="#ppt_x"/>
                                          </p:val>
                                        </p:tav>
                                      </p:tavLst>
                                    </p:anim>
                                    <p:anim calcmode="lin" valueType="num">
                                      <p:cBhvr additive="base">
                                        <p:cTn id="26"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68"/>
                                        </p:tgtEl>
                                        <p:attrNameLst>
                                          <p:attrName>style.visibility</p:attrName>
                                        </p:attrNameLst>
                                      </p:cBhvr>
                                      <p:to>
                                        <p:strVal val="visible"/>
                                      </p:to>
                                    </p:set>
                                    <p:anim calcmode="lin" valueType="num">
                                      <p:cBhvr additive="base">
                                        <p:cTn id="31" dur="500" fill="hold"/>
                                        <p:tgtEl>
                                          <p:spTgt spid="68"/>
                                        </p:tgtEl>
                                        <p:attrNameLst>
                                          <p:attrName>ppt_x</p:attrName>
                                        </p:attrNameLst>
                                      </p:cBhvr>
                                      <p:tavLst>
                                        <p:tav tm="0">
                                          <p:val>
                                            <p:strVal val="0-#ppt_w/2"/>
                                          </p:val>
                                        </p:tav>
                                        <p:tav tm="100000">
                                          <p:val>
                                            <p:strVal val="#ppt_x"/>
                                          </p:val>
                                        </p:tav>
                                      </p:tavLst>
                                    </p:anim>
                                    <p:anim calcmode="lin" valueType="num">
                                      <p:cBhvr additive="base">
                                        <p:cTn id="32" dur="500" fill="hold"/>
                                        <p:tgtEl>
                                          <p:spTgt spid="68"/>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anim calcmode="lin" valueType="num">
                                      <p:cBhvr additive="base">
                                        <p:cTn id="37" dur="500" fill="hold"/>
                                        <p:tgtEl>
                                          <p:spTgt spid="5"/>
                                        </p:tgtEl>
                                        <p:attrNameLst>
                                          <p:attrName>ppt_x</p:attrName>
                                        </p:attrNameLst>
                                      </p:cBhvr>
                                      <p:tavLst>
                                        <p:tav tm="0">
                                          <p:val>
                                            <p:strVal val="0-#ppt_w/2"/>
                                          </p:val>
                                        </p:tav>
                                        <p:tav tm="100000">
                                          <p:val>
                                            <p:strVal val="#ppt_x"/>
                                          </p:val>
                                        </p:tav>
                                      </p:tavLst>
                                    </p:anim>
                                    <p:anim calcmode="lin" valueType="num">
                                      <p:cBhvr additive="base">
                                        <p:cTn id="38"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autoUpdateAnimBg="0"/>
      <p:bldP spid="67"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755204" y="404814"/>
            <a:ext cx="3384748" cy="607218"/>
          </a:xfrm>
          <a:prstGeom prst="rect">
            <a:avLst/>
          </a:prstGeom>
          <a:ln w="28575">
            <a:solidFill>
              <a:srgbClr val="FF0000"/>
            </a:solidFill>
          </a:ln>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2400" b="1" dirty="0">
                <a:solidFill>
                  <a:srgbClr val="FF0000"/>
                </a:solidFill>
                <a:latin typeface="楷体" panose="02010609060101010101" pitchFamily="49" charset="-122"/>
                <a:ea typeface="楷体" panose="02010609060101010101" pitchFamily="49" charset="-122"/>
              </a:rPr>
              <a:t>第七章 弯曲变形</a:t>
            </a:r>
          </a:p>
        </p:txBody>
      </p:sp>
      <p:sp>
        <p:nvSpPr>
          <p:cNvPr id="3" name="Text Box 8"/>
          <p:cNvSpPr txBox="1">
            <a:spLocks noChangeArrowheads="1"/>
          </p:cNvSpPr>
          <p:nvPr/>
        </p:nvSpPr>
        <p:spPr bwMode="auto">
          <a:xfrm>
            <a:off x="784164" y="2420888"/>
            <a:ext cx="7460244" cy="535531"/>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lnSpc>
                <a:spcPct val="120000"/>
              </a:lnSpc>
              <a:spcBef>
                <a:spcPct val="0"/>
              </a:spcBef>
              <a:buFontTx/>
              <a:buNone/>
            </a:pPr>
            <a:r>
              <a:rPr lang="zh-CN" altLang="en-US" sz="2400" b="1" dirty="0">
                <a:solidFill>
                  <a:srgbClr val="FF0000"/>
                </a:solidFill>
                <a:latin typeface="黑体" pitchFamily="49" charset="-122"/>
                <a:ea typeface="黑体" pitchFamily="49" charset="-122"/>
              </a:rPr>
              <a:t>挠度</a:t>
            </a:r>
            <a:r>
              <a:rPr lang="zh-CN" altLang="en-US" sz="2400" b="1" dirty="0">
                <a:solidFill>
                  <a:srgbClr val="0000FF"/>
                </a:solidFill>
                <a:latin typeface="黑体" pitchFamily="49" charset="-122"/>
                <a:ea typeface="黑体" pitchFamily="49" charset="-122"/>
              </a:rPr>
              <a:t>：横截面形心沿垂直于轴线方向的位移。          </a:t>
            </a:r>
          </a:p>
        </p:txBody>
      </p:sp>
      <p:sp>
        <p:nvSpPr>
          <p:cNvPr id="4" name="Text Box 9"/>
          <p:cNvSpPr txBox="1">
            <a:spLocks noChangeArrowheads="1"/>
          </p:cNvSpPr>
          <p:nvPr/>
        </p:nvSpPr>
        <p:spPr bwMode="auto">
          <a:xfrm>
            <a:off x="775780" y="1233714"/>
            <a:ext cx="7468628" cy="830997"/>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None/>
            </a:pPr>
            <a:r>
              <a:rPr lang="zh-CN" altLang="en-US" sz="2400" b="1" dirty="0">
                <a:solidFill>
                  <a:srgbClr val="FF0000"/>
                </a:solidFill>
                <a:latin typeface="黑体" pitchFamily="49" charset="-122"/>
                <a:ea typeface="黑体" pitchFamily="49" charset="-122"/>
              </a:rPr>
              <a:t>挠曲线</a:t>
            </a:r>
            <a:r>
              <a:rPr lang="zh-CN" altLang="en-US" sz="2400" b="1" dirty="0">
                <a:solidFill>
                  <a:srgbClr val="0000FF"/>
                </a:solidFill>
                <a:latin typeface="黑体" pitchFamily="49" charset="-122"/>
                <a:ea typeface="黑体" pitchFamily="49" charset="-122"/>
              </a:rPr>
              <a:t>：梁变形后的轴线。</a:t>
            </a:r>
            <a:r>
              <a:rPr lang="en-US" altLang="zh-CN" sz="2400" b="1" dirty="0">
                <a:solidFill>
                  <a:srgbClr val="0000FF"/>
                </a:solidFill>
                <a:latin typeface="黑体" pitchFamily="49" charset="-122"/>
                <a:ea typeface="黑体" pitchFamily="49" charset="-122"/>
              </a:rPr>
              <a:t> </a:t>
            </a:r>
            <a:r>
              <a:rPr lang="zh-CN" altLang="en-US" sz="2400" b="1" dirty="0">
                <a:solidFill>
                  <a:srgbClr val="0000FF"/>
                </a:solidFill>
                <a:latin typeface="黑体" pitchFamily="49" charset="-122"/>
                <a:ea typeface="黑体" pitchFamily="49" charset="-122"/>
              </a:rPr>
              <a:t>性质：连续</a:t>
            </a:r>
            <a:r>
              <a:rPr lang="zh-CN" altLang="en-US" sz="2400" dirty="0">
                <a:solidFill>
                  <a:srgbClr val="0000FF"/>
                </a:solidFill>
                <a:latin typeface="黑体" pitchFamily="49" charset="-122"/>
                <a:ea typeface="黑体" pitchFamily="49" charset="-122"/>
              </a:rPr>
              <a:t>、光滑、弹性、极其平坦的平面曲线。</a:t>
            </a:r>
          </a:p>
        </p:txBody>
      </p:sp>
      <p:sp>
        <p:nvSpPr>
          <p:cNvPr id="6" name="Text Box 11"/>
          <p:cNvSpPr txBox="1">
            <a:spLocks noChangeArrowheads="1"/>
          </p:cNvSpPr>
          <p:nvPr/>
        </p:nvSpPr>
        <p:spPr bwMode="auto">
          <a:xfrm>
            <a:off x="775780" y="3327402"/>
            <a:ext cx="7468628" cy="572464"/>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lnSpc>
                <a:spcPct val="130000"/>
              </a:lnSpc>
              <a:spcBef>
                <a:spcPct val="0"/>
              </a:spcBef>
              <a:buFontTx/>
              <a:buNone/>
            </a:pPr>
            <a:r>
              <a:rPr lang="zh-CN" altLang="en-US" sz="2400" b="1" dirty="0">
                <a:solidFill>
                  <a:srgbClr val="FF0000"/>
                </a:solidFill>
                <a:latin typeface="黑体" pitchFamily="49" charset="-122"/>
                <a:ea typeface="黑体" pitchFamily="49" charset="-122"/>
              </a:rPr>
              <a:t>转角</a:t>
            </a:r>
            <a:r>
              <a:rPr lang="zh-CN" altLang="en-US" sz="2400" b="1" dirty="0">
                <a:solidFill>
                  <a:srgbClr val="0000FF"/>
                </a:solidFill>
                <a:latin typeface="黑体" pitchFamily="49" charset="-122"/>
                <a:ea typeface="黑体" pitchFamily="49" charset="-122"/>
              </a:rPr>
              <a:t>：横截面绕中性轴转过的角度。</a:t>
            </a:r>
            <a:endParaRPr lang="zh-CN" altLang="en-US" sz="2400" dirty="0">
              <a:solidFill>
                <a:srgbClr val="0000FF"/>
              </a:solidFill>
              <a:latin typeface="黑体" pitchFamily="49" charset="-122"/>
              <a:ea typeface="黑体" pitchFamily="49" charset="-122"/>
            </a:endParaRPr>
          </a:p>
        </p:txBody>
      </p:sp>
      <p:sp>
        <p:nvSpPr>
          <p:cNvPr id="8" name="Text Box 2"/>
          <p:cNvSpPr txBox="1">
            <a:spLocks noChangeArrowheads="1"/>
          </p:cNvSpPr>
          <p:nvPr/>
        </p:nvSpPr>
        <p:spPr bwMode="auto">
          <a:xfrm>
            <a:off x="775780" y="4365625"/>
            <a:ext cx="7468628" cy="461665"/>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zh-CN" altLang="en-US" sz="2400" b="1" dirty="0">
                <a:solidFill>
                  <a:srgbClr val="0000FF"/>
                </a:solidFill>
                <a:latin typeface="黑体" panose="02010609060101010101" pitchFamily="49" charset="-122"/>
                <a:ea typeface="黑体" panose="02010609060101010101" pitchFamily="49" charset="-122"/>
              </a:rPr>
              <a:t>挠度向下为正；向上为负。</a:t>
            </a:r>
          </a:p>
        </p:txBody>
      </p:sp>
      <p:sp>
        <p:nvSpPr>
          <p:cNvPr id="9" name="Text Box 3"/>
          <p:cNvSpPr txBox="1">
            <a:spLocks noChangeArrowheads="1"/>
          </p:cNvSpPr>
          <p:nvPr/>
        </p:nvSpPr>
        <p:spPr bwMode="auto">
          <a:xfrm>
            <a:off x="784164" y="5186575"/>
            <a:ext cx="7512048" cy="978729"/>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lnSpc>
                <a:spcPct val="120000"/>
              </a:lnSpc>
              <a:spcBef>
                <a:spcPct val="0"/>
              </a:spcBef>
              <a:buFontTx/>
              <a:buNone/>
            </a:pPr>
            <a:r>
              <a:rPr lang="zh-CN" altLang="en-US" sz="2400" b="1" dirty="0">
                <a:solidFill>
                  <a:srgbClr val="0000FF"/>
                </a:solidFill>
                <a:latin typeface="黑体" panose="02010609060101010101" pitchFamily="49" charset="-122"/>
                <a:ea typeface="黑体" panose="02010609060101010101" pitchFamily="49" charset="-122"/>
              </a:rPr>
              <a:t>变形前的横截面转到变形后，顺时针为正；逆时针为负 </a:t>
            </a:r>
          </a:p>
        </p:txBody>
      </p:sp>
    </p:spTree>
    <p:extLst>
      <p:ext uri="{BB962C8B-B14F-4D97-AF65-F5344CB8AC3E}">
        <p14:creationId xmlns:p14="http://schemas.microsoft.com/office/powerpoint/2010/main" val="2055386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0-#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499"/>
                                          </p:stCondLst>
                                        </p:cTn>
                                        <p:tgtEl>
                                          <p:spTgt spid="3"/>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499"/>
                                          </p:stCondLst>
                                        </p:cTn>
                                        <p:tgtEl>
                                          <p:spTgt spid="6"/>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499"/>
                                          </p:stCondLst>
                                        </p:cTn>
                                        <p:tgtEl>
                                          <p:spTgt spid="8"/>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499"/>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autoUpdateAnimBg="0"/>
      <p:bldP spid="4" grpId="0" animBg="1" autoUpdateAnimBg="0"/>
      <p:bldP spid="6" grpId="0" animBg="1" autoUpdateAnimBg="0"/>
      <p:bldP spid="8" grpId="0" animBg="1" autoUpdateAnimBg="0"/>
      <p:bldP spid="9" grpId="0" animBg="1"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flipV="1">
            <a:off x="484312" y="732383"/>
            <a:ext cx="3687763" cy="1676400"/>
            <a:chOff x="267" y="665"/>
            <a:chExt cx="2200" cy="1015"/>
          </a:xfrm>
        </p:grpSpPr>
        <p:grpSp>
          <p:nvGrpSpPr>
            <p:cNvPr id="3" name="Group 3"/>
            <p:cNvGrpSpPr>
              <a:grpSpLocks/>
            </p:cNvGrpSpPr>
            <p:nvPr/>
          </p:nvGrpSpPr>
          <p:grpSpPr bwMode="auto">
            <a:xfrm>
              <a:off x="288" y="1631"/>
              <a:ext cx="2179" cy="49"/>
              <a:chOff x="309" y="523"/>
              <a:chExt cx="2179" cy="49"/>
            </a:xfrm>
          </p:grpSpPr>
          <p:sp>
            <p:nvSpPr>
              <p:cNvPr id="9" name="Rectangle 4"/>
              <p:cNvSpPr>
                <a:spLocks noChangeArrowheads="1"/>
              </p:cNvSpPr>
              <p:nvPr/>
            </p:nvSpPr>
            <p:spPr bwMode="auto">
              <a:xfrm>
                <a:off x="309" y="541"/>
                <a:ext cx="2128"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endParaRPr lang="zh-CN" altLang="en-US" sz="2400"/>
              </a:p>
            </p:txBody>
          </p:sp>
          <p:sp>
            <p:nvSpPr>
              <p:cNvPr id="10" name="Freeform 5"/>
              <p:cNvSpPr>
                <a:spLocks/>
              </p:cNvSpPr>
              <p:nvPr/>
            </p:nvSpPr>
            <p:spPr bwMode="auto">
              <a:xfrm>
                <a:off x="2411" y="523"/>
                <a:ext cx="77" cy="49"/>
              </a:xfrm>
              <a:custGeom>
                <a:avLst/>
                <a:gdLst>
                  <a:gd name="T0" fmla="*/ 0 w 77"/>
                  <a:gd name="T1" fmla="*/ 25 h 98"/>
                  <a:gd name="T2" fmla="*/ 77 w 77"/>
                  <a:gd name="T3" fmla="*/ 12 h 98"/>
                  <a:gd name="T4" fmla="*/ 0 w 77"/>
                  <a:gd name="T5" fmla="*/ 0 h 98"/>
                  <a:gd name="T6" fmla="*/ 24 w 77"/>
                  <a:gd name="T7" fmla="*/ 12 h 98"/>
                  <a:gd name="T8" fmla="*/ 0 w 77"/>
                  <a:gd name="T9" fmla="*/ 25 h 9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7" h="98">
                    <a:moveTo>
                      <a:pt x="0" y="98"/>
                    </a:moveTo>
                    <a:lnTo>
                      <a:pt x="77" y="48"/>
                    </a:lnTo>
                    <a:lnTo>
                      <a:pt x="0" y="0"/>
                    </a:lnTo>
                    <a:lnTo>
                      <a:pt x="24" y="48"/>
                    </a:lnTo>
                    <a:lnTo>
                      <a:pt x="0" y="9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 name="Group 6"/>
            <p:cNvGrpSpPr>
              <a:grpSpLocks/>
            </p:cNvGrpSpPr>
            <p:nvPr/>
          </p:nvGrpSpPr>
          <p:grpSpPr bwMode="auto">
            <a:xfrm flipV="1">
              <a:off x="274" y="665"/>
              <a:ext cx="49" cy="999"/>
              <a:chOff x="274" y="547"/>
              <a:chExt cx="49" cy="999"/>
            </a:xfrm>
          </p:grpSpPr>
          <p:sp>
            <p:nvSpPr>
              <p:cNvPr id="7" name="Rectangle 7"/>
              <p:cNvSpPr>
                <a:spLocks noChangeArrowheads="1"/>
              </p:cNvSpPr>
              <p:nvPr/>
            </p:nvSpPr>
            <p:spPr bwMode="auto">
              <a:xfrm>
                <a:off x="293" y="547"/>
                <a:ext cx="12" cy="94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endParaRPr lang="zh-CN" altLang="en-US" sz="2400"/>
              </a:p>
            </p:txBody>
          </p:sp>
          <p:sp>
            <p:nvSpPr>
              <p:cNvPr id="8" name="Freeform 8"/>
              <p:cNvSpPr>
                <a:spLocks/>
              </p:cNvSpPr>
              <p:nvPr/>
            </p:nvSpPr>
            <p:spPr bwMode="auto">
              <a:xfrm>
                <a:off x="274" y="1469"/>
                <a:ext cx="49" cy="77"/>
              </a:xfrm>
              <a:custGeom>
                <a:avLst/>
                <a:gdLst>
                  <a:gd name="T0" fmla="*/ 0 w 49"/>
                  <a:gd name="T1" fmla="*/ 0 h 154"/>
                  <a:gd name="T2" fmla="*/ 25 w 49"/>
                  <a:gd name="T3" fmla="*/ 39 h 154"/>
                  <a:gd name="T4" fmla="*/ 49 w 49"/>
                  <a:gd name="T5" fmla="*/ 0 h 154"/>
                  <a:gd name="T6" fmla="*/ 25 w 49"/>
                  <a:gd name="T7" fmla="*/ 12 h 154"/>
                  <a:gd name="T8" fmla="*/ 0 w 49"/>
                  <a:gd name="T9" fmla="*/ 0 h 15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154">
                    <a:moveTo>
                      <a:pt x="0" y="0"/>
                    </a:moveTo>
                    <a:lnTo>
                      <a:pt x="25" y="154"/>
                    </a:lnTo>
                    <a:lnTo>
                      <a:pt x="49" y="0"/>
                    </a:lnTo>
                    <a:lnTo>
                      <a:pt x="25" y="48"/>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5" name="Rectangle 9"/>
            <p:cNvSpPr>
              <a:spLocks noChangeArrowheads="1"/>
            </p:cNvSpPr>
            <p:nvPr/>
          </p:nvSpPr>
          <p:spPr bwMode="auto">
            <a:xfrm>
              <a:off x="267" y="1304"/>
              <a:ext cx="0"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10800000" wrap="none" lIns="0" tIns="0" rIns="0" bIns="0">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zh-CN" altLang="zh-CN" sz="2400"/>
            </a:p>
          </p:txBody>
        </p:sp>
        <p:sp>
          <p:nvSpPr>
            <p:cNvPr id="6" name="Rectangle 10"/>
            <p:cNvSpPr>
              <a:spLocks noChangeArrowheads="1"/>
            </p:cNvSpPr>
            <p:nvPr/>
          </p:nvSpPr>
          <p:spPr bwMode="auto">
            <a:xfrm>
              <a:off x="2440" y="666"/>
              <a:ext cx="0"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10800000" wrap="none" lIns="0" tIns="0" rIns="0" bIns="0">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zh-CN" altLang="zh-CN" sz="2400"/>
            </a:p>
          </p:txBody>
        </p:sp>
      </p:grpSp>
      <p:grpSp>
        <p:nvGrpSpPr>
          <p:cNvPr id="11" name="Group 11"/>
          <p:cNvGrpSpPr>
            <a:grpSpLocks/>
          </p:cNvGrpSpPr>
          <p:nvPr/>
        </p:nvGrpSpPr>
        <p:grpSpPr bwMode="auto">
          <a:xfrm>
            <a:off x="1165350" y="854621"/>
            <a:ext cx="2100262" cy="1431925"/>
            <a:chOff x="621" y="701"/>
            <a:chExt cx="1323" cy="902"/>
          </a:xfrm>
        </p:grpSpPr>
        <p:grpSp>
          <p:nvGrpSpPr>
            <p:cNvPr id="12" name="Group 12"/>
            <p:cNvGrpSpPr>
              <a:grpSpLocks/>
            </p:cNvGrpSpPr>
            <p:nvPr/>
          </p:nvGrpSpPr>
          <p:grpSpPr bwMode="auto">
            <a:xfrm>
              <a:off x="621" y="887"/>
              <a:ext cx="259" cy="325"/>
              <a:chOff x="621" y="769"/>
              <a:chExt cx="259" cy="325"/>
            </a:xfrm>
          </p:grpSpPr>
          <p:sp>
            <p:nvSpPr>
              <p:cNvPr id="28" name="Freeform 13"/>
              <p:cNvSpPr>
                <a:spLocks/>
              </p:cNvSpPr>
              <p:nvPr/>
            </p:nvSpPr>
            <p:spPr bwMode="auto">
              <a:xfrm>
                <a:off x="621" y="819"/>
                <a:ext cx="224" cy="275"/>
              </a:xfrm>
              <a:custGeom>
                <a:avLst/>
                <a:gdLst>
                  <a:gd name="T0" fmla="*/ 224 w 224"/>
                  <a:gd name="T1" fmla="*/ 130 h 551"/>
                  <a:gd name="T2" fmla="*/ 197 w 224"/>
                  <a:gd name="T3" fmla="*/ 137 h 551"/>
                  <a:gd name="T4" fmla="*/ 161 w 224"/>
                  <a:gd name="T5" fmla="*/ 127 h 551"/>
                  <a:gd name="T6" fmla="*/ 124 w 224"/>
                  <a:gd name="T7" fmla="*/ 116 h 551"/>
                  <a:gd name="T8" fmla="*/ 91 w 224"/>
                  <a:gd name="T9" fmla="*/ 105 h 551"/>
                  <a:gd name="T10" fmla="*/ 61 w 224"/>
                  <a:gd name="T11" fmla="*/ 95 h 551"/>
                  <a:gd name="T12" fmla="*/ 49 w 224"/>
                  <a:gd name="T13" fmla="*/ 90 h 551"/>
                  <a:gd name="T14" fmla="*/ 45 w 224"/>
                  <a:gd name="T15" fmla="*/ 88 h 551"/>
                  <a:gd name="T16" fmla="*/ 33 w 224"/>
                  <a:gd name="T17" fmla="*/ 83 h 551"/>
                  <a:gd name="T18" fmla="*/ 22 w 224"/>
                  <a:gd name="T19" fmla="*/ 78 h 551"/>
                  <a:gd name="T20" fmla="*/ 14 w 224"/>
                  <a:gd name="T21" fmla="*/ 73 h 551"/>
                  <a:gd name="T22" fmla="*/ 7 w 224"/>
                  <a:gd name="T23" fmla="*/ 67 h 551"/>
                  <a:gd name="T24" fmla="*/ 3 w 224"/>
                  <a:gd name="T25" fmla="*/ 63 h 551"/>
                  <a:gd name="T26" fmla="*/ 1 w 224"/>
                  <a:gd name="T27" fmla="*/ 61 h 551"/>
                  <a:gd name="T28" fmla="*/ 0 w 224"/>
                  <a:gd name="T29" fmla="*/ 56 h 551"/>
                  <a:gd name="T30" fmla="*/ 0 w 224"/>
                  <a:gd name="T31" fmla="*/ 50 h 551"/>
                  <a:gd name="T32" fmla="*/ 4 w 224"/>
                  <a:gd name="T33" fmla="*/ 44 h 551"/>
                  <a:gd name="T34" fmla="*/ 5 w 224"/>
                  <a:gd name="T35" fmla="*/ 43 h 551"/>
                  <a:gd name="T36" fmla="*/ 12 w 224"/>
                  <a:gd name="T37" fmla="*/ 37 h 551"/>
                  <a:gd name="T38" fmla="*/ 22 w 224"/>
                  <a:gd name="T39" fmla="*/ 31 h 551"/>
                  <a:gd name="T40" fmla="*/ 36 w 224"/>
                  <a:gd name="T41" fmla="*/ 25 h 551"/>
                  <a:gd name="T42" fmla="*/ 39 w 224"/>
                  <a:gd name="T43" fmla="*/ 23 h 551"/>
                  <a:gd name="T44" fmla="*/ 56 w 224"/>
                  <a:gd name="T45" fmla="*/ 17 h 551"/>
                  <a:gd name="T46" fmla="*/ 74 w 224"/>
                  <a:gd name="T47" fmla="*/ 11 h 551"/>
                  <a:gd name="T48" fmla="*/ 94 w 224"/>
                  <a:gd name="T49" fmla="*/ 6 h 551"/>
                  <a:gd name="T50" fmla="*/ 117 w 224"/>
                  <a:gd name="T51" fmla="*/ 0 h 551"/>
                  <a:gd name="T52" fmla="*/ 141 w 224"/>
                  <a:gd name="T53" fmla="*/ 8 h 551"/>
                  <a:gd name="T54" fmla="*/ 120 w 224"/>
                  <a:gd name="T55" fmla="*/ 13 h 551"/>
                  <a:gd name="T56" fmla="*/ 101 w 224"/>
                  <a:gd name="T57" fmla="*/ 19 h 551"/>
                  <a:gd name="T58" fmla="*/ 82 w 224"/>
                  <a:gd name="T59" fmla="*/ 24 h 551"/>
                  <a:gd name="T60" fmla="*/ 66 w 224"/>
                  <a:gd name="T61" fmla="*/ 31 h 551"/>
                  <a:gd name="T62" fmla="*/ 53 w 224"/>
                  <a:gd name="T63" fmla="*/ 27 h 551"/>
                  <a:gd name="T64" fmla="*/ 70 w 224"/>
                  <a:gd name="T65" fmla="*/ 29 h 551"/>
                  <a:gd name="T66" fmla="*/ 56 w 224"/>
                  <a:gd name="T67" fmla="*/ 34 h 551"/>
                  <a:gd name="T68" fmla="*/ 46 w 224"/>
                  <a:gd name="T69" fmla="*/ 41 h 551"/>
                  <a:gd name="T70" fmla="*/ 39 w 224"/>
                  <a:gd name="T71" fmla="*/ 47 h 551"/>
                  <a:gd name="T72" fmla="*/ 22 w 224"/>
                  <a:gd name="T73" fmla="*/ 44 h 551"/>
                  <a:gd name="T74" fmla="*/ 40 w 224"/>
                  <a:gd name="T75" fmla="*/ 44 h 551"/>
                  <a:gd name="T76" fmla="*/ 35 w 224"/>
                  <a:gd name="T77" fmla="*/ 51 h 551"/>
                  <a:gd name="T78" fmla="*/ 18 w 224"/>
                  <a:gd name="T79" fmla="*/ 51 h 551"/>
                  <a:gd name="T80" fmla="*/ 36 w 224"/>
                  <a:gd name="T81" fmla="*/ 51 h 551"/>
                  <a:gd name="T82" fmla="*/ 36 w 224"/>
                  <a:gd name="T83" fmla="*/ 56 h 551"/>
                  <a:gd name="T84" fmla="*/ 38 w 224"/>
                  <a:gd name="T85" fmla="*/ 61 h 551"/>
                  <a:gd name="T86" fmla="*/ 19 w 224"/>
                  <a:gd name="T87" fmla="*/ 61 h 551"/>
                  <a:gd name="T88" fmla="*/ 36 w 224"/>
                  <a:gd name="T89" fmla="*/ 59 h 551"/>
                  <a:gd name="T90" fmla="*/ 40 w 224"/>
                  <a:gd name="T91" fmla="*/ 64 h 551"/>
                  <a:gd name="T92" fmla="*/ 47 w 224"/>
                  <a:gd name="T93" fmla="*/ 69 h 551"/>
                  <a:gd name="T94" fmla="*/ 56 w 224"/>
                  <a:gd name="T95" fmla="*/ 74 h 551"/>
                  <a:gd name="T96" fmla="*/ 67 w 224"/>
                  <a:gd name="T97" fmla="*/ 79 h 551"/>
                  <a:gd name="T98" fmla="*/ 78 w 224"/>
                  <a:gd name="T99" fmla="*/ 84 h 551"/>
                  <a:gd name="T100" fmla="*/ 61 w 224"/>
                  <a:gd name="T101" fmla="*/ 86 h 551"/>
                  <a:gd name="T102" fmla="*/ 74 w 224"/>
                  <a:gd name="T103" fmla="*/ 82 h 551"/>
                  <a:gd name="T104" fmla="*/ 87 w 224"/>
                  <a:gd name="T105" fmla="*/ 87 h 551"/>
                  <a:gd name="T106" fmla="*/ 117 w 224"/>
                  <a:gd name="T107" fmla="*/ 98 h 551"/>
                  <a:gd name="T108" fmla="*/ 151 w 224"/>
                  <a:gd name="T109" fmla="*/ 108 h 551"/>
                  <a:gd name="T110" fmla="*/ 187 w 224"/>
                  <a:gd name="T111" fmla="*/ 119 h 551"/>
                  <a:gd name="T112" fmla="*/ 224 w 224"/>
                  <a:gd name="T113" fmla="*/ 130 h 551"/>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24" h="551">
                    <a:moveTo>
                      <a:pt x="224" y="522"/>
                    </a:moveTo>
                    <a:lnTo>
                      <a:pt x="197" y="551"/>
                    </a:lnTo>
                    <a:lnTo>
                      <a:pt x="161" y="508"/>
                    </a:lnTo>
                    <a:lnTo>
                      <a:pt x="124" y="464"/>
                    </a:lnTo>
                    <a:lnTo>
                      <a:pt x="91" y="423"/>
                    </a:lnTo>
                    <a:lnTo>
                      <a:pt x="61" y="381"/>
                    </a:lnTo>
                    <a:lnTo>
                      <a:pt x="49" y="360"/>
                    </a:lnTo>
                    <a:lnTo>
                      <a:pt x="45" y="353"/>
                    </a:lnTo>
                    <a:lnTo>
                      <a:pt x="33" y="332"/>
                    </a:lnTo>
                    <a:lnTo>
                      <a:pt x="22" y="313"/>
                    </a:lnTo>
                    <a:lnTo>
                      <a:pt x="14" y="292"/>
                    </a:lnTo>
                    <a:lnTo>
                      <a:pt x="7" y="271"/>
                    </a:lnTo>
                    <a:lnTo>
                      <a:pt x="3" y="252"/>
                    </a:lnTo>
                    <a:lnTo>
                      <a:pt x="1" y="244"/>
                    </a:lnTo>
                    <a:lnTo>
                      <a:pt x="0" y="224"/>
                    </a:lnTo>
                    <a:lnTo>
                      <a:pt x="0" y="202"/>
                    </a:lnTo>
                    <a:lnTo>
                      <a:pt x="4" y="179"/>
                    </a:lnTo>
                    <a:lnTo>
                      <a:pt x="5" y="172"/>
                    </a:lnTo>
                    <a:lnTo>
                      <a:pt x="12" y="148"/>
                    </a:lnTo>
                    <a:lnTo>
                      <a:pt x="22" y="124"/>
                    </a:lnTo>
                    <a:lnTo>
                      <a:pt x="36" y="101"/>
                    </a:lnTo>
                    <a:lnTo>
                      <a:pt x="39" y="94"/>
                    </a:lnTo>
                    <a:lnTo>
                      <a:pt x="56" y="70"/>
                    </a:lnTo>
                    <a:lnTo>
                      <a:pt x="74" y="47"/>
                    </a:lnTo>
                    <a:lnTo>
                      <a:pt x="94" y="25"/>
                    </a:lnTo>
                    <a:lnTo>
                      <a:pt x="117" y="0"/>
                    </a:lnTo>
                    <a:lnTo>
                      <a:pt x="141" y="32"/>
                    </a:lnTo>
                    <a:lnTo>
                      <a:pt x="120" y="54"/>
                    </a:lnTo>
                    <a:lnTo>
                      <a:pt x="101" y="77"/>
                    </a:lnTo>
                    <a:lnTo>
                      <a:pt x="82" y="99"/>
                    </a:lnTo>
                    <a:lnTo>
                      <a:pt x="66" y="124"/>
                    </a:lnTo>
                    <a:lnTo>
                      <a:pt x="53" y="108"/>
                    </a:lnTo>
                    <a:lnTo>
                      <a:pt x="70" y="117"/>
                    </a:lnTo>
                    <a:lnTo>
                      <a:pt x="56" y="139"/>
                    </a:lnTo>
                    <a:lnTo>
                      <a:pt x="46" y="164"/>
                    </a:lnTo>
                    <a:lnTo>
                      <a:pt x="39" y="188"/>
                    </a:lnTo>
                    <a:lnTo>
                      <a:pt x="22" y="179"/>
                    </a:lnTo>
                    <a:lnTo>
                      <a:pt x="40" y="179"/>
                    </a:lnTo>
                    <a:lnTo>
                      <a:pt x="35" y="207"/>
                    </a:lnTo>
                    <a:lnTo>
                      <a:pt x="18" y="204"/>
                    </a:lnTo>
                    <a:lnTo>
                      <a:pt x="36" y="205"/>
                    </a:lnTo>
                    <a:lnTo>
                      <a:pt x="36" y="224"/>
                    </a:lnTo>
                    <a:lnTo>
                      <a:pt x="38" y="244"/>
                    </a:lnTo>
                    <a:lnTo>
                      <a:pt x="19" y="244"/>
                    </a:lnTo>
                    <a:lnTo>
                      <a:pt x="36" y="237"/>
                    </a:lnTo>
                    <a:lnTo>
                      <a:pt x="40" y="256"/>
                    </a:lnTo>
                    <a:lnTo>
                      <a:pt x="47" y="277"/>
                    </a:lnTo>
                    <a:lnTo>
                      <a:pt x="56" y="297"/>
                    </a:lnTo>
                    <a:lnTo>
                      <a:pt x="67" y="317"/>
                    </a:lnTo>
                    <a:lnTo>
                      <a:pt x="78" y="337"/>
                    </a:lnTo>
                    <a:lnTo>
                      <a:pt x="61" y="346"/>
                    </a:lnTo>
                    <a:lnTo>
                      <a:pt x="74" y="330"/>
                    </a:lnTo>
                    <a:lnTo>
                      <a:pt x="87" y="351"/>
                    </a:lnTo>
                    <a:lnTo>
                      <a:pt x="117" y="393"/>
                    </a:lnTo>
                    <a:lnTo>
                      <a:pt x="151" y="435"/>
                    </a:lnTo>
                    <a:lnTo>
                      <a:pt x="187" y="478"/>
                    </a:lnTo>
                    <a:lnTo>
                      <a:pt x="224" y="52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4"/>
              <p:cNvSpPr>
                <a:spLocks/>
              </p:cNvSpPr>
              <p:nvPr/>
            </p:nvSpPr>
            <p:spPr bwMode="auto">
              <a:xfrm>
                <a:off x="702" y="769"/>
                <a:ext cx="178" cy="94"/>
              </a:xfrm>
              <a:custGeom>
                <a:avLst/>
                <a:gdLst>
                  <a:gd name="T0" fmla="*/ 0 w 178"/>
                  <a:gd name="T1" fmla="*/ 11 h 188"/>
                  <a:gd name="T2" fmla="*/ 178 w 178"/>
                  <a:gd name="T3" fmla="*/ 0 h 188"/>
                  <a:gd name="T4" fmla="*/ 101 w 178"/>
                  <a:gd name="T5" fmla="*/ 47 h 188"/>
                  <a:gd name="T6" fmla="*/ 0 w 178"/>
                  <a:gd name="T7" fmla="*/ 11 h 18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8" h="188">
                    <a:moveTo>
                      <a:pt x="0" y="42"/>
                    </a:moveTo>
                    <a:lnTo>
                      <a:pt x="178" y="0"/>
                    </a:lnTo>
                    <a:lnTo>
                      <a:pt x="101" y="188"/>
                    </a:lnTo>
                    <a:lnTo>
                      <a:pt x="0" y="4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3" name="Group 15"/>
            <p:cNvGrpSpPr>
              <a:grpSpLocks/>
            </p:cNvGrpSpPr>
            <p:nvPr/>
          </p:nvGrpSpPr>
          <p:grpSpPr bwMode="auto">
            <a:xfrm>
              <a:off x="1706" y="888"/>
              <a:ext cx="238" cy="325"/>
              <a:chOff x="1706" y="770"/>
              <a:chExt cx="238" cy="325"/>
            </a:xfrm>
          </p:grpSpPr>
          <p:sp>
            <p:nvSpPr>
              <p:cNvPr id="26" name="Freeform 16"/>
              <p:cNvSpPr>
                <a:spLocks/>
              </p:cNvSpPr>
              <p:nvPr/>
            </p:nvSpPr>
            <p:spPr bwMode="auto">
              <a:xfrm>
                <a:off x="1738" y="820"/>
                <a:ext cx="206" cy="275"/>
              </a:xfrm>
              <a:custGeom>
                <a:avLst/>
                <a:gdLst>
                  <a:gd name="T0" fmla="*/ 0 w 206"/>
                  <a:gd name="T1" fmla="*/ 130 h 551"/>
                  <a:gd name="T2" fmla="*/ 24 w 206"/>
                  <a:gd name="T3" fmla="*/ 137 h 551"/>
                  <a:gd name="T4" fmla="*/ 57 w 206"/>
                  <a:gd name="T5" fmla="*/ 126 h 551"/>
                  <a:gd name="T6" fmla="*/ 91 w 206"/>
                  <a:gd name="T7" fmla="*/ 116 h 551"/>
                  <a:gd name="T8" fmla="*/ 122 w 206"/>
                  <a:gd name="T9" fmla="*/ 105 h 551"/>
                  <a:gd name="T10" fmla="*/ 150 w 206"/>
                  <a:gd name="T11" fmla="*/ 95 h 551"/>
                  <a:gd name="T12" fmla="*/ 161 w 206"/>
                  <a:gd name="T13" fmla="*/ 90 h 551"/>
                  <a:gd name="T14" fmla="*/ 165 w 206"/>
                  <a:gd name="T15" fmla="*/ 88 h 551"/>
                  <a:gd name="T16" fmla="*/ 175 w 206"/>
                  <a:gd name="T17" fmla="*/ 83 h 551"/>
                  <a:gd name="T18" fmla="*/ 185 w 206"/>
                  <a:gd name="T19" fmla="*/ 78 h 551"/>
                  <a:gd name="T20" fmla="*/ 193 w 206"/>
                  <a:gd name="T21" fmla="*/ 73 h 551"/>
                  <a:gd name="T22" fmla="*/ 199 w 206"/>
                  <a:gd name="T23" fmla="*/ 67 h 551"/>
                  <a:gd name="T24" fmla="*/ 203 w 206"/>
                  <a:gd name="T25" fmla="*/ 63 h 551"/>
                  <a:gd name="T26" fmla="*/ 204 w 206"/>
                  <a:gd name="T27" fmla="*/ 60 h 551"/>
                  <a:gd name="T28" fmla="*/ 206 w 206"/>
                  <a:gd name="T29" fmla="*/ 56 h 551"/>
                  <a:gd name="T30" fmla="*/ 206 w 206"/>
                  <a:gd name="T31" fmla="*/ 50 h 551"/>
                  <a:gd name="T32" fmla="*/ 202 w 206"/>
                  <a:gd name="T33" fmla="*/ 44 h 551"/>
                  <a:gd name="T34" fmla="*/ 200 w 206"/>
                  <a:gd name="T35" fmla="*/ 43 h 551"/>
                  <a:gd name="T36" fmla="*/ 195 w 206"/>
                  <a:gd name="T37" fmla="*/ 37 h 551"/>
                  <a:gd name="T38" fmla="*/ 185 w 206"/>
                  <a:gd name="T39" fmla="*/ 30 h 551"/>
                  <a:gd name="T40" fmla="*/ 172 w 206"/>
                  <a:gd name="T41" fmla="*/ 25 h 551"/>
                  <a:gd name="T42" fmla="*/ 169 w 206"/>
                  <a:gd name="T43" fmla="*/ 23 h 551"/>
                  <a:gd name="T44" fmla="*/ 154 w 206"/>
                  <a:gd name="T45" fmla="*/ 17 h 551"/>
                  <a:gd name="T46" fmla="*/ 137 w 206"/>
                  <a:gd name="T47" fmla="*/ 11 h 551"/>
                  <a:gd name="T48" fmla="*/ 119 w 206"/>
                  <a:gd name="T49" fmla="*/ 6 h 551"/>
                  <a:gd name="T50" fmla="*/ 98 w 206"/>
                  <a:gd name="T51" fmla="*/ 0 h 551"/>
                  <a:gd name="T52" fmla="*/ 76 w 206"/>
                  <a:gd name="T53" fmla="*/ 7 h 551"/>
                  <a:gd name="T54" fmla="*/ 95 w 206"/>
                  <a:gd name="T55" fmla="*/ 13 h 551"/>
                  <a:gd name="T56" fmla="*/ 113 w 206"/>
                  <a:gd name="T57" fmla="*/ 19 h 551"/>
                  <a:gd name="T58" fmla="*/ 130 w 206"/>
                  <a:gd name="T59" fmla="*/ 24 h 551"/>
                  <a:gd name="T60" fmla="*/ 146 w 206"/>
                  <a:gd name="T61" fmla="*/ 30 h 551"/>
                  <a:gd name="T62" fmla="*/ 157 w 206"/>
                  <a:gd name="T63" fmla="*/ 27 h 551"/>
                  <a:gd name="T64" fmla="*/ 141 w 206"/>
                  <a:gd name="T65" fmla="*/ 29 h 551"/>
                  <a:gd name="T66" fmla="*/ 154 w 206"/>
                  <a:gd name="T67" fmla="*/ 34 h 551"/>
                  <a:gd name="T68" fmla="*/ 164 w 206"/>
                  <a:gd name="T69" fmla="*/ 40 h 551"/>
                  <a:gd name="T70" fmla="*/ 169 w 206"/>
                  <a:gd name="T71" fmla="*/ 47 h 551"/>
                  <a:gd name="T72" fmla="*/ 185 w 206"/>
                  <a:gd name="T73" fmla="*/ 44 h 551"/>
                  <a:gd name="T74" fmla="*/ 168 w 206"/>
                  <a:gd name="T75" fmla="*/ 44 h 551"/>
                  <a:gd name="T76" fmla="*/ 174 w 206"/>
                  <a:gd name="T77" fmla="*/ 51 h 551"/>
                  <a:gd name="T78" fmla="*/ 189 w 206"/>
                  <a:gd name="T79" fmla="*/ 50 h 551"/>
                  <a:gd name="T80" fmla="*/ 172 w 206"/>
                  <a:gd name="T81" fmla="*/ 51 h 551"/>
                  <a:gd name="T82" fmla="*/ 172 w 206"/>
                  <a:gd name="T83" fmla="*/ 56 h 551"/>
                  <a:gd name="T84" fmla="*/ 171 w 206"/>
                  <a:gd name="T85" fmla="*/ 60 h 551"/>
                  <a:gd name="T86" fmla="*/ 188 w 206"/>
                  <a:gd name="T87" fmla="*/ 60 h 551"/>
                  <a:gd name="T88" fmla="*/ 172 w 206"/>
                  <a:gd name="T89" fmla="*/ 59 h 551"/>
                  <a:gd name="T90" fmla="*/ 168 w 206"/>
                  <a:gd name="T91" fmla="*/ 63 h 551"/>
                  <a:gd name="T92" fmla="*/ 162 w 206"/>
                  <a:gd name="T93" fmla="*/ 69 h 551"/>
                  <a:gd name="T94" fmla="*/ 154 w 206"/>
                  <a:gd name="T95" fmla="*/ 74 h 551"/>
                  <a:gd name="T96" fmla="*/ 144 w 206"/>
                  <a:gd name="T97" fmla="*/ 79 h 551"/>
                  <a:gd name="T98" fmla="*/ 134 w 206"/>
                  <a:gd name="T99" fmla="*/ 84 h 551"/>
                  <a:gd name="T100" fmla="*/ 150 w 206"/>
                  <a:gd name="T101" fmla="*/ 86 h 551"/>
                  <a:gd name="T102" fmla="*/ 137 w 206"/>
                  <a:gd name="T103" fmla="*/ 82 h 551"/>
                  <a:gd name="T104" fmla="*/ 126 w 206"/>
                  <a:gd name="T105" fmla="*/ 87 h 551"/>
                  <a:gd name="T106" fmla="*/ 98 w 206"/>
                  <a:gd name="T107" fmla="*/ 98 h 551"/>
                  <a:gd name="T108" fmla="*/ 67 w 206"/>
                  <a:gd name="T109" fmla="*/ 108 h 551"/>
                  <a:gd name="T110" fmla="*/ 34 w 206"/>
                  <a:gd name="T111" fmla="*/ 119 h 551"/>
                  <a:gd name="T112" fmla="*/ 0 w 206"/>
                  <a:gd name="T113" fmla="*/ 130 h 551"/>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06" h="551">
                    <a:moveTo>
                      <a:pt x="0" y="521"/>
                    </a:moveTo>
                    <a:lnTo>
                      <a:pt x="24" y="551"/>
                    </a:lnTo>
                    <a:lnTo>
                      <a:pt x="57" y="507"/>
                    </a:lnTo>
                    <a:lnTo>
                      <a:pt x="91" y="464"/>
                    </a:lnTo>
                    <a:lnTo>
                      <a:pt x="122" y="422"/>
                    </a:lnTo>
                    <a:lnTo>
                      <a:pt x="150" y="381"/>
                    </a:lnTo>
                    <a:lnTo>
                      <a:pt x="161" y="360"/>
                    </a:lnTo>
                    <a:lnTo>
                      <a:pt x="165" y="353"/>
                    </a:lnTo>
                    <a:lnTo>
                      <a:pt x="175" y="332"/>
                    </a:lnTo>
                    <a:lnTo>
                      <a:pt x="185" y="313"/>
                    </a:lnTo>
                    <a:lnTo>
                      <a:pt x="193" y="292"/>
                    </a:lnTo>
                    <a:lnTo>
                      <a:pt x="199" y="271"/>
                    </a:lnTo>
                    <a:lnTo>
                      <a:pt x="203" y="252"/>
                    </a:lnTo>
                    <a:lnTo>
                      <a:pt x="204" y="243"/>
                    </a:lnTo>
                    <a:lnTo>
                      <a:pt x="206" y="224"/>
                    </a:lnTo>
                    <a:lnTo>
                      <a:pt x="206" y="202"/>
                    </a:lnTo>
                    <a:lnTo>
                      <a:pt x="202" y="179"/>
                    </a:lnTo>
                    <a:lnTo>
                      <a:pt x="200" y="172"/>
                    </a:lnTo>
                    <a:lnTo>
                      <a:pt x="195" y="148"/>
                    </a:lnTo>
                    <a:lnTo>
                      <a:pt x="185" y="123"/>
                    </a:lnTo>
                    <a:lnTo>
                      <a:pt x="172" y="101"/>
                    </a:lnTo>
                    <a:lnTo>
                      <a:pt x="169" y="94"/>
                    </a:lnTo>
                    <a:lnTo>
                      <a:pt x="154" y="70"/>
                    </a:lnTo>
                    <a:lnTo>
                      <a:pt x="137" y="47"/>
                    </a:lnTo>
                    <a:lnTo>
                      <a:pt x="119" y="24"/>
                    </a:lnTo>
                    <a:lnTo>
                      <a:pt x="98" y="0"/>
                    </a:lnTo>
                    <a:lnTo>
                      <a:pt x="76" y="31"/>
                    </a:lnTo>
                    <a:lnTo>
                      <a:pt x="95" y="54"/>
                    </a:lnTo>
                    <a:lnTo>
                      <a:pt x="113" y="77"/>
                    </a:lnTo>
                    <a:lnTo>
                      <a:pt x="130" y="99"/>
                    </a:lnTo>
                    <a:lnTo>
                      <a:pt x="146" y="123"/>
                    </a:lnTo>
                    <a:lnTo>
                      <a:pt x="157" y="108"/>
                    </a:lnTo>
                    <a:lnTo>
                      <a:pt x="141" y="117"/>
                    </a:lnTo>
                    <a:lnTo>
                      <a:pt x="154" y="139"/>
                    </a:lnTo>
                    <a:lnTo>
                      <a:pt x="164" y="163"/>
                    </a:lnTo>
                    <a:lnTo>
                      <a:pt x="169" y="188"/>
                    </a:lnTo>
                    <a:lnTo>
                      <a:pt x="185" y="179"/>
                    </a:lnTo>
                    <a:lnTo>
                      <a:pt x="168" y="179"/>
                    </a:lnTo>
                    <a:lnTo>
                      <a:pt x="174" y="207"/>
                    </a:lnTo>
                    <a:lnTo>
                      <a:pt x="189" y="203"/>
                    </a:lnTo>
                    <a:lnTo>
                      <a:pt x="172" y="205"/>
                    </a:lnTo>
                    <a:lnTo>
                      <a:pt x="172" y="224"/>
                    </a:lnTo>
                    <a:lnTo>
                      <a:pt x="171" y="243"/>
                    </a:lnTo>
                    <a:lnTo>
                      <a:pt x="188" y="243"/>
                    </a:lnTo>
                    <a:lnTo>
                      <a:pt x="172" y="236"/>
                    </a:lnTo>
                    <a:lnTo>
                      <a:pt x="168" y="255"/>
                    </a:lnTo>
                    <a:lnTo>
                      <a:pt x="162" y="276"/>
                    </a:lnTo>
                    <a:lnTo>
                      <a:pt x="154" y="297"/>
                    </a:lnTo>
                    <a:lnTo>
                      <a:pt x="144" y="316"/>
                    </a:lnTo>
                    <a:lnTo>
                      <a:pt x="134" y="337"/>
                    </a:lnTo>
                    <a:lnTo>
                      <a:pt x="150" y="346"/>
                    </a:lnTo>
                    <a:lnTo>
                      <a:pt x="137" y="330"/>
                    </a:lnTo>
                    <a:lnTo>
                      <a:pt x="126" y="351"/>
                    </a:lnTo>
                    <a:lnTo>
                      <a:pt x="98" y="393"/>
                    </a:lnTo>
                    <a:lnTo>
                      <a:pt x="67" y="434"/>
                    </a:lnTo>
                    <a:lnTo>
                      <a:pt x="34" y="478"/>
                    </a:lnTo>
                    <a:lnTo>
                      <a:pt x="0" y="5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7"/>
              <p:cNvSpPr>
                <a:spLocks/>
              </p:cNvSpPr>
              <p:nvPr/>
            </p:nvSpPr>
            <p:spPr bwMode="auto">
              <a:xfrm>
                <a:off x="1706" y="770"/>
                <a:ext cx="164" cy="94"/>
              </a:xfrm>
              <a:custGeom>
                <a:avLst/>
                <a:gdLst>
                  <a:gd name="T0" fmla="*/ 164 w 164"/>
                  <a:gd name="T1" fmla="*/ 11 h 188"/>
                  <a:gd name="T2" fmla="*/ 0 w 164"/>
                  <a:gd name="T3" fmla="*/ 0 h 188"/>
                  <a:gd name="T4" fmla="*/ 71 w 164"/>
                  <a:gd name="T5" fmla="*/ 47 h 188"/>
                  <a:gd name="T6" fmla="*/ 164 w 164"/>
                  <a:gd name="T7" fmla="*/ 11 h 18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4" h="188">
                    <a:moveTo>
                      <a:pt x="164" y="42"/>
                    </a:moveTo>
                    <a:lnTo>
                      <a:pt x="0" y="0"/>
                    </a:lnTo>
                    <a:lnTo>
                      <a:pt x="71" y="188"/>
                    </a:lnTo>
                    <a:lnTo>
                      <a:pt x="164" y="4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4" name="Rectangle 18"/>
            <p:cNvSpPr>
              <a:spLocks noChangeArrowheads="1"/>
            </p:cNvSpPr>
            <p:nvPr/>
          </p:nvSpPr>
          <p:spPr bwMode="auto">
            <a:xfrm>
              <a:off x="1045" y="701"/>
              <a:ext cx="437" cy="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endParaRPr lang="zh-CN" altLang="en-US" sz="2400"/>
            </a:p>
          </p:txBody>
        </p:sp>
        <p:sp>
          <p:nvSpPr>
            <p:cNvPr id="15" name="Rectangle 19"/>
            <p:cNvSpPr>
              <a:spLocks noChangeArrowheads="1"/>
            </p:cNvSpPr>
            <p:nvPr/>
          </p:nvSpPr>
          <p:spPr bwMode="auto">
            <a:xfrm>
              <a:off x="1045" y="711"/>
              <a:ext cx="272"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100" b="1">
                  <a:solidFill>
                    <a:srgbClr val="000000"/>
                  </a:solidFill>
                  <a:latin typeface="Arial Narrow" pitchFamily="34" charset="0"/>
                </a:rPr>
                <a:t>M&gt;0</a:t>
              </a:r>
              <a:endParaRPr lang="en-US" altLang="zh-CN" sz="2400"/>
            </a:p>
          </p:txBody>
        </p:sp>
        <p:grpSp>
          <p:nvGrpSpPr>
            <p:cNvPr id="16" name="Group 20"/>
            <p:cNvGrpSpPr>
              <a:grpSpLocks/>
            </p:cNvGrpSpPr>
            <p:nvPr/>
          </p:nvGrpSpPr>
          <p:grpSpPr bwMode="auto">
            <a:xfrm>
              <a:off x="627" y="1284"/>
              <a:ext cx="1260" cy="319"/>
              <a:chOff x="627" y="1166"/>
              <a:chExt cx="1260" cy="319"/>
            </a:xfrm>
          </p:grpSpPr>
          <p:sp>
            <p:nvSpPr>
              <p:cNvPr id="18" name="Rectangle 21"/>
              <p:cNvSpPr>
                <a:spLocks noChangeArrowheads="1"/>
              </p:cNvSpPr>
              <p:nvPr/>
            </p:nvSpPr>
            <p:spPr bwMode="auto">
              <a:xfrm>
                <a:off x="1771" y="1207"/>
                <a:ext cx="116"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900">
                    <a:solidFill>
                      <a:srgbClr val="000000"/>
                    </a:solidFill>
                  </a:rPr>
                  <a:t>0</a:t>
                </a:r>
                <a:endParaRPr lang="en-US" altLang="zh-CN" sz="2400"/>
              </a:p>
            </p:txBody>
          </p:sp>
          <p:sp>
            <p:nvSpPr>
              <p:cNvPr id="19" name="Rectangle 22"/>
              <p:cNvSpPr>
                <a:spLocks noChangeArrowheads="1"/>
              </p:cNvSpPr>
              <p:nvPr/>
            </p:nvSpPr>
            <p:spPr bwMode="auto">
              <a:xfrm>
                <a:off x="1273" y="1207"/>
                <a:ext cx="77"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900">
                    <a:solidFill>
                      <a:srgbClr val="000000"/>
                    </a:solidFill>
                  </a:rPr>
                  <a:t>)</a:t>
                </a:r>
                <a:endParaRPr lang="en-US" altLang="zh-CN" sz="2400"/>
              </a:p>
            </p:txBody>
          </p:sp>
          <p:sp>
            <p:nvSpPr>
              <p:cNvPr id="20" name="Rectangle 23"/>
              <p:cNvSpPr>
                <a:spLocks noChangeArrowheads="1"/>
              </p:cNvSpPr>
              <p:nvPr/>
            </p:nvSpPr>
            <p:spPr bwMode="auto">
              <a:xfrm>
                <a:off x="951" y="1207"/>
                <a:ext cx="77"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900">
                    <a:solidFill>
                      <a:srgbClr val="000000"/>
                    </a:solidFill>
                  </a:rPr>
                  <a:t>(</a:t>
                </a:r>
                <a:endParaRPr lang="en-US" altLang="zh-CN" sz="2400"/>
              </a:p>
            </p:txBody>
          </p:sp>
          <p:sp>
            <p:nvSpPr>
              <p:cNvPr id="21" name="Rectangle 24"/>
              <p:cNvSpPr>
                <a:spLocks noChangeArrowheads="1"/>
              </p:cNvSpPr>
              <p:nvPr/>
            </p:nvSpPr>
            <p:spPr bwMode="auto">
              <a:xfrm>
                <a:off x="1482" y="1180"/>
                <a:ext cx="127"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900">
                    <a:solidFill>
                      <a:srgbClr val="000000"/>
                    </a:solidFill>
                    <a:latin typeface="Symbol" pitchFamily="18" charset="2"/>
                  </a:rPr>
                  <a:t>&lt;</a:t>
                </a:r>
                <a:endParaRPr lang="en-US" altLang="zh-CN" sz="2400"/>
              </a:p>
            </p:txBody>
          </p:sp>
          <p:sp>
            <p:nvSpPr>
              <p:cNvPr id="22" name="Rectangle 25"/>
              <p:cNvSpPr>
                <a:spLocks noChangeArrowheads="1"/>
              </p:cNvSpPr>
              <p:nvPr/>
            </p:nvSpPr>
            <p:spPr bwMode="auto">
              <a:xfrm>
                <a:off x="864" y="1166"/>
                <a:ext cx="57"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900">
                    <a:solidFill>
                      <a:srgbClr val="000000"/>
                    </a:solidFill>
                    <a:latin typeface="Symbol" pitchFamily="18" charset="2"/>
                  </a:rPr>
                  <a:t>¢</a:t>
                </a:r>
                <a:endParaRPr lang="en-US" altLang="zh-CN" sz="2400"/>
              </a:p>
            </p:txBody>
          </p:sp>
          <p:sp>
            <p:nvSpPr>
              <p:cNvPr id="23" name="Rectangle 26"/>
              <p:cNvSpPr>
                <a:spLocks noChangeArrowheads="1"/>
              </p:cNvSpPr>
              <p:nvPr/>
            </p:nvSpPr>
            <p:spPr bwMode="auto">
              <a:xfrm>
                <a:off x="818" y="1166"/>
                <a:ext cx="57"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900">
                    <a:solidFill>
                      <a:srgbClr val="000000"/>
                    </a:solidFill>
                    <a:latin typeface="Symbol" pitchFamily="18" charset="2"/>
                  </a:rPr>
                  <a:t>¢</a:t>
                </a:r>
                <a:endParaRPr lang="en-US" altLang="zh-CN" sz="2400"/>
              </a:p>
            </p:txBody>
          </p:sp>
          <p:sp>
            <p:nvSpPr>
              <p:cNvPr id="24" name="Rectangle 27"/>
              <p:cNvSpPr>
                <a:spLocks noChangeArrowheads="1"/>
              </p:cNvSpPr>
              <p:nvPr/>
            </p:nvSpPr>
            <p:spPr bwMode="auto">
              <a:xfrm>
                <a:off x="1100" y="1207"/>
                <a:ext cx="103"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900" i="1">
                    <a:solidFill>
                      <a:srgbClr val="000000"/>
                    </a:solidFill>
                  </a:rPr>
                  <a:t>x</a:t>
                </a:r>
                <a:endParaRPr lang="en-US" altLang="zh-CN" sz="2400"/>
              </a:p>
            </p:txBody>
          </p:sp>
          <p:sp>
            <p:nvSpPr>
              <p:cNvPr id="25" name="Rectangle 28"/>
              <p:cNvSpPr>
                <a:spLocks noChangeArrowheads="1"/>
              </p:cNvSpPr>
              <p:nvPr/>
            </p:nvSpPr>
            <p:spPr bwMode="auto">
              <a:xfrm>
                <a:off x="627" y="1207"/>
                <a:ext cx="103"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900" i="1">
                    <a:solidFill>
                      <a:srgbClr val="000000"/>
                    </a:solidFill>
                  </a:rPr>
                  <a:t>y</a:t>
                </a:r>
                <a:endParaRPr lang="en-US" altLang="zh-CN" sz="2400"/>
              </a:p>
            </p:txBody>
          </p:sp>
        </p:grpSp>
        <p:sp>
          <p:nvSpPr>
            <p:cNvPr id="17" name="Freeform 29"/>
            <p:cNvSpPr>
              <a:spLocks/>
            </p:cNvSpPr>
            <p:nvPr/>
          </p:nvSpPr>
          <p:spPr bwMode="auto">
            <a:xfrm>
              <a:off x="821" y="1021"/>
              <a:ext cx="861" cy="162"/>
            </a:xfrm>
            <a:custGeom>
              <a:avLst/>
              <a:gdLst>
                <a:gd name="T0" fmla="*/ 22 w 861"/>
                <a:gd name="T1" fmla="*/ 0 h 325"/>
                <a:gd name="T2" fmla="*/ 0 w 861"/>
                <a:gd name="T3" fmla="*/ 7 h 325"/>
                <a:gd name="T4" fmla="*/ 46 w 861"/>
                <a:gd name="T5" fmla="*/ 20 h 325"/>
                <a:gd name="T6" fmla="*/ 92 w 861"/>
                <a:gd name="T7" fmla="*/ 33 h 325"/>
                <a:gd name="T8" fmla="*/ 140 w 861"/>
                <a:gd name="T9" fmla="*/ 45 h 325"/>
                <a:gd name="T10" fmla="*/ 188 w 861"/>
                <a:gd name="T11" fmla="*/ 56 h 325"/>
                <a:gd name="T12" fmla="*/ 193 w 861"/>
                <a:gd name="T13" fmla="*/ 57 h 325"/>
                <a:gd name="T14" fmla="*/ 218 w 861"/>
                <a:gd name="T15" fmla="*/ 62 h 325"/>
                <a:gd name="T16" fmla="*/ 242 w 861"/>
                <a:gd name="T17" fmla="*/ 66 h 325"/>
                <a:gd name="T18" fmla="*/ 267 w 861"/>
                <a:gd name="T19" fmla="*/ 70 h 325"/>
                <a:gd name="T20" fmla="*/ 291 w 861"/>
                <a:gd name="T21" fmla="*/ 73 h 325"/>
                <a:gd name="T22" fmla="*/ 316 w 861"/>
                <a:gd name="T23" fmla="*/ 76 h 325"/>
                <a:gd name="T24" fmla="*/ 343 w 861"/>
                <a:gd name="T25" fmla="*/ 78 h 325"/>
                <a:gd name="T26" fmla="*/ 349 w 861"/>
                <a:gd name="T27" fmla="*/ 79 h 325"/>
                <a:gd name="T28" fmla="*/ 374 w 861"/>
                <a:gd name="T29" fmla="*/ 80 h 325"/>
                <a:gd name="T30" fmla="*/ 400 w 861"/>
                <a:gd name="T31" fmla="*/ 81 h 325"/>
                <a:gd name="T32" fmla="*/ 427 w 861"/>
                <a:gd name="T33" fmla="*/ 81 h 325"/>
                <a:gd name="T34" fmla="*/ 454 w 861"/>
                <a:gd name="T35" fmla="*/ 80 h 325"/>
                <a:gd name="T36" fmla="*/ 480 w 861"/>
                <a:gd name="T37" fmla="*/ 79 h 325"/>
                <a:gd name="T38" fmla="*/ 487 w 861"/>
                <a:gd name="T39" fmla="*/ 78 h 325"/>
                <a:gd name="T40" fmla="*/ 514 w 861"/>
                <a:gd name="T41" fmla="*/ 76 h 325"/>
                <a:gd name="T42" fmla="*/ 542 w 861"/>
                <a:gd name="T43" fmla="*/ 73 h 325"/>
                <a:gd name="T44" fmla="*/ 570 w 861"/>
                <a:gd name="T45" fmla="*/ 70 h 325"/>
                <a:gd name="T46" fmla="*/ 598 w 861"/>
                <a:gd name="T47" fmla="*/ 66 h 325"/>
                <a:gd name="T48" fmla="*/ 626 w 861"/>
                <a:gd name="T49" fmla="*/ 62 h 325"/>
                <a:gd name="T50" fmla="*/ 683 w 861"/>
                <a:gd name="T51" fmla="*/ 52 h 325"/>
                <a:gd name="T52" fmla="*/ 741 w 861"/>
                <a:gd name="T53" fmla="*/ 41 h 325"/>
                <a:gd name="T54" fmla="*/ 799 w 861"/>
                <a:gd name="T55" fmla="*/ 30 h 325"/>
                <a:gd name="T56" fmla="*/ 861 w 861"/>
                <a:gd name="T57" fmla="*/ 17 h 325"/>
                <a:gd name="T58" fmla="*/ 843 w 861"/>
                <a:gd name="T59" fmla="*/ 9 h 325"/>
                <a:gd name="T60" fmla="*/ 787 w 861"/>
                <a:gd name="T61" fmla="*/ 20 h 325"/>
                <a:gd name="T62" fmla="*/ 728 w 861"/>
                <a:gd name="T63" fmla="*/ 32 h 325"/>
                <a:gd name="T64" fmla="*/ 671 w 861"/>
                <a:gd name="T65" fmla="*/ 43 h 325"/>
                <a:gd name="T66" fmla="*/ 613 w 861"/>
                <a:gd name="T67" fmla="*/ 52 h 325"/>
                <a:gd name="T68" fmla="*/ 585 w 861"/>
                <a:gd name="T69" fmla="*/ 56 h 325"/>
                <a:gd name="T70" fmla="*/ 557 w 861"/>
                <a:gd name="T71" fmla="*/ 60 h 325"/>
                <a:gd name="T72" fmla="*/ 529 w 861"/>
                <a:gd name="T73" fmla="*/ 63 h 325"/>
                <a:gd name="T74" fmla="*/ 501 w 861"/>
                <a:gd name="T75" fmla="*/ 66 h 325"/>
                <a:gd name="T76" fmla="*/ 475 w 861"/>
                <a:gd name="T77" fmla="*/ 69 h 325"/>
                <a:gd name="T78" fmla="*/ 480 w 861"/>
                <a:gd name="T79" fmla="*/ 73 h 325"/>
                <a:gd name="T80" fmla="*/ 480 w 861"/>
                <a:gd name="T81" fmla="*/ 68 h 325"/>
                <a:gd name="T82" fmla="*/ 454 w 861"/>
                <a:gd name="T83" fmla="*/ 70 h 325"/>
                <a:gd name="T84" fmla="*/ 427 w 861"/>
                <a:gd name="T85" fmla="*/ 70 h 325"/>
                <a:gd name="T86" fmla="*/ 402 w 861"/>
                <a:gd name="T87" fmla="*/ 70 h 325"/>
                <a:gd name="T88" fmla="*/ 374 w 861"/>
                <a:gd name="T89" fmla="*/ 70 h 325"/>
                <a:gd name="T90" fmla="*/ 349 w 861"/>
                <a:gd name="T91" fmla="*/ 68 h 325"/>
                <a:gd name="T92" fmla="*/ 349 w 861"/>
                <a:gd name="T93" fmla="*/ 73 h 325"/>
                <a:gd name="T94" fmla="*/ 356 w 861"/>
                <a:gd name="T95" fmla="*/ 69 h 325"/>
                <a:gd name="T96" fmla="*/ 329 w 861"/>
                <a:gd name="T97" fmla="*/ 66 h 325"/>
                <a:gd name="T98" fmla="*/ 304 w 861"/>
                <a:gd name="T99" fmla="*/ 64 h 325"/>
                <a:gd name="T100" fmla="*/ 280 w 861"/>
                <a:gd name="T101" fmla="*/ 60 h 325"/>
                <a:gd name="T102" fmla="*/ 255 w 861"/>
                <a:gd name="T103" fmla="*/ 56 h 325"/>
                <a:gd name="T104" fmla="*/ 231 w 861"/>
                <a:gd name="T105" fmla="*/ 52 h 325"/>
                <a:gd name="T106" fmla="*/ 206 w 861"/>
                <a:gd name="T107" fmla="*/ 47 h 325"/>
                <a:gd name="T108" fmla="*/ 200 w 861"/>
                <a:gd name="T109" fmla="*/ 52 h 325"/>
                <a:gd name="T110" fmla="*/ 211 w 861"/>
                <a:gd name="T111" fmla="*/ 48 h 325"/>
                <a:gd name="T112" fmla="*/ 164 w 861"/>
                <a:gd name="T113" fmla="*/ 38 h 325"/>
                <a:gd name="T114" fmla="*/ 116 w 861"/>
                <a:gd name="T115" fmla="*/ 26 h 325"/>
                <a:gd name="T116" fmla="*/ 70 w 861"/>
                <a:gd name="T117" fmla="*/ 13 h 325"/>
                <a:gd name="T118" fmla="*/ 22 w 861"/>
                <a:gd name="T119" fmla="*/ 0 h 325"/>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861" h="325">
                  <a:moveTo>
                    <a:pt x="22" y="0"/>
                  </a:moveTo>
                  <a:lnTo>
                    <a:pt x="0" y="31"/>
                  </a:lnTo>
                  <a:lnTo>
                    <a:pt x="46" y="83"/>
                  </a:lnTo>
                  <a:lnTo>
                    <a:pt x="92" y="134"/>
                  </a:lnTo>
                  <a:lnTo>
                    <a:pt x="140" y="182"/>
                  </a:lnTo>
                  <a:lnTo>
                    <a:pt x="188" y="224"/>
                  </a:lnTo>
                  <a:lnTo>
                    <a:pt x="193" y="229"/>
                  </a:lnTo>
                  <a:lnTo>
                    <a:pt x="218" y="248"/>
                  </a:lnTo>
                  <a:lnTo>
                    <a:pt x="242" y="266"/>
                  </a:lnTo>
                  <a:lnTo>
                    <a:pt x="267" y="281"/>
                  </a:lnTo>
                  <a:lnTo>
                    <a:pt x="291" y="295"/>
                  </a:lnTo>
                  <a:lnTo>
                    <a:pt x="316" y="306"/>
                  </a:lnTo>
                  <a:lnTo>
                    <a:pt x="343" y="314"/>
                  </a:lnTo>
                  <a:lnTo>
                    <a:pt x="349" y="316"/>
                  </a:lnTo>
                  <a:lnTo>
                    <a:pt x="374" y="321"/>
                  </a:lnTo>
                  <a:lnTo>
                    <a:pt x="400" y="325"/>
                  </a:lnTo>
                  <a:lnTo>
                    <a:pt x="427" y="325"/>
                  </a:lnTo>
                  <a:lnTo>
                    <a:pt x="454" y="321"/>
                  </a:lnTo>
                  <a:lnTo>
                    <a:pt x="480" y="316"/>
                  </a:lnTo>
                  <a:lnTo>
                    <a:pt x="487" y="314"/>
                  </a:lnTo>
                  <a:lnTo>
                    <a:pt x="514" y="306"/>
                  </a:lnTo>
                  <a:lnTo>
                    <a:pt x="542" y="293"/>
                  </a:lnTo>
                  <a:lnTo>
                    <a:pt x="570" y="281"/>
                  </a:lnTo>
                  <a:lnTo>
                    <a:pt x="598" y="266"/>
                  </a:lnTo>
                  <a:lnTo>
                    <a:pt x="626" y="248"/>
                  </a:lnTo>
                  <a:lnTo>
                    <a:pt x="683" y="210"/>
                  </a:lnTo>
                  <a:lnTo>
                    <a:pt x="741" y="167"/>
                  </a:lnTo>
                  <a:lnTo>
                    <a:pt x="799" y="122"/>
                  </a:lnTo>
                  <a:lnTo>
                    <a:pt x="861" y="71"/>
                  </a:lnTo>
                  <a:lnTo>
                    <a:pt x="843" y="36"/>
                  </a:lnTo>
                  <a:lnTo>
                    <a:pt x="787" y="83"/>
                  </a:lnTo>
                  <a:lnTo>
                    <a:pt x="728" y="128"/>
                  </a:lnTo>
                  <a:lnTo>
                    <a:pt x="671" y="172"/>
                  </a:lnTo>
                  <a:lnTo>
                    <a:pt x="613" y="210"/>
                  </a:lnTo>
                  <a:lnTo>
                    <a:pt x="585" y="227"/>
                  </a:lnTo>
                  <a:lnTo>
                    <a:pt x="557" y="243"/>
                  </a:lnTo>
                  <a:lnTo>
                    <a:pt x="529" y="255"/>
                  </a:lnTo>
                  <a:lnTo>
                    <a:pt x="501" y="267"/>
                  </a:lnTo>
                  <a:lnTo>
                    <a:pt x="475" y="276"/>
                  </a:lnTo>
                  <a:lnTo>
                    <a:pt x="480" y="295"/>
                  </a:lnTo>
                  <a:lnTo>
                    <a:pt x="480" y="274"/>
                  </a:lnTo>
                  <a:lnTo>
                    <a:pt x="454" y="280"/>
                  </a:lnTo>
                  <a:lnTo>
                    <a:pt x="427" y="283"/>
                  </a:lnTo>
                  <a:lnTo>
                    <a:pt x="402" y="283"/>
                  </a:lnTo>
                  <a:lnTo>
                    <a:pt x="374" y="280"/>
                  </a:lnTo>
                  <a:lnTo>
                    <a:pt x="349" y="274"/>
                  </a:lnTo>
                  <a:lnTo>
                    <a:pt x="349" y="295"/>
                  </a:lnTo>
                  <a:lnTo>
                    <a:pt x="356" y="276"/>
                  </a:lnTo>
                  <a:lnTo>
                    <a:pt x="329" y="267"/>
                  </a:lnTo>
                  <a:lnTo>
                    <a:pt x="304" y="257"/>
                  </a:lnTo>
                  <a:lnTo>
                    <a:pt x="280" y="243"/>
                  </a:lnTo>
                  <a:lnTo>
                    <a:pt x="255" y="227"/>
                  </a:lnTo>
                  <a:lnTo>
                    <a:pt x="231" y="210"/>
                  </a:lnTo>
                  <a:lnTo>
                    <a:pt x="206" y="191"/>
                  </a:lnTo>
                  <a:lnTo>
                    <a:pt x="200" y="210"/>
                  </a:lnTo>
                  <a:lnTo>
                    <a:pt x="211" y="194"/>
                  </a:lnTo>
                  <a:lnTo>
                    <a:pt x="164" y="153"/>
                  </a:lnTo>
                  <a:lnTo>
                    <a:pt x="116" y="104"/>
                  </a:lnTo>
                  <a:lnTo>
                    <a:pt x="70" y="54"/>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34" name="Group 34"/>
          <p:cNvGrpSpPr>
            <a:grpSpLocks/>
          </p:cNvGrpSpPr>
          <p:nvPr/>
        </p:nvGrpSpPr>
        <p:grpSpPr bwMode="auto">
          <a:xfrm>
            <a:off x="5405562" y="951458"/>
            <a:ext cx="2138363" cy="1436688"/>
            <a:chOff x="3292" y="644"/>
            <a:chExt cx="1347" cy="905"/>
          </a:xfrm>
        </p:grpSpPr>
        <p:sp>
          <p:nvSpPr>
            <p:cNvPr id="35" name="Rectangle 35"/>
            <p:cNvSpPr>
              <a:spLocks noChangeArrowheads="1"/>
            </p:cNvSpPr>
            <p:nvPr/>
          </p:nvSpPr>
          <p:spPr bwMode="auto">
            <a:xfrm>
              <a:off x="3744" y="992"/>
              <a:ext cx="442"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endParaRPr lang="zh-CN" altLang="en-US" sz="2400"/>
            </a:p>
          </p:txBody>
        </p:sp>
        <p:sp>
          <p:nvSpPr>
            <p:cNvPr id="36" name="Rectangle 36"/>
            <p:cNvSpPr>
              <a:spLocks noChangeArrowheads="1"/>
            </p:cNvSpPr>
            <p:nvPr/>
          </p:nvSpPr>
          <p:spPr bwMode="auto">
            <a:xfrm>
              <a:off x="3744" y="1002"/>
              <a:ext cx="28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200" b="1">
                  <a:solidFill>
                    <a:srgbClr val="000000"/>
                  </a:solidFill>
                  <a:latin typeface="Arial Narrow" pitchFamily="34" charset="0"/>
                </a:rPr>
                <a:t>M&lt;0</a:t>
              </a:r>
              <a:endParaRPr lang="en-US" altLang="zh-CN" sz="2400"/>
            </a:p>
          </p:txBody>
        </p:sp>
        <p:grpSp>
          <p:nvGrpSpPr>
            <p:cNvPr id="37" name="Group 37"/>
            <p:cNvGrpSpPr>
              <a:grpSpLocks/>
            </p:cNvGrpSpPr>
            <p:nvPr/>
          </p:nvGrpSpPr>
          <p:grpSpPr bwMode="auto">
            <a:xfrm>
              <a:off x="3292" y="678"/>
              <a:ext cx="250" cy="341"/>
              <a:chOff x="3292" y="678"/>
              <a:chExt cx="250" cy="341"/>
            </a:xfrm>
          </p:grpSpPr>
          <p:sp>
            <p:nvSpPr>
              <p:cNvPr id="51" name="Freeform 38"/>
              <p:cNvSpPr>
                <a:spLocks/>
              </p:cNvSpPr>
              <p:nvPr/>
            </p:nvSpPr>
            <p:spPr bwMode="auto">
              <a:xfrm>
                <a:off x="3292" y="678"/>
                <a:ext cx="199" cy="292"/>
              </a:xfrm>
              <a:custGeom>
                <a:avLst/>
                <a:gdLst>
                  <a:gd name="T0" fmla="*/ 199 w 199"/>
                  <a:gd name="T1" fmla="*/ 8 h 583"/>
                  <a:gd name="T2" fmla="*/ 174 w 199"/>
                  <a:gd name="T3" fmla="*/ 0 h 583"/>
                  <a:gd name="T4" fmla="*/ 141 w 199"/>
                  <a:gd name="T5" fmla="*/ 12 h 583"/>
                  <a:gd name="T6" fmla="*/ 109 w 199"/>
                  <a:gd name="T7" fmla="*/ 24 h 583"/>
                  <a:gd name="T8" fmla="*/ 79 w 199"/>
                  <a:gd name="T9" fmla="*/ 35 h 583"/>
                  <a:gd name="T10" fmla="*/ 52 w 199"/>
                  <a:gd name="T11" fmla="*/ 46 h 583"/>
                  <a:gd name="T12" fmla="*/ 41 w 199"/>
                  <a:gd name="T13" fmla="*/ 52 h 583"/>
                  <a:gd name="T14" fmla="*/ 36 w 199"/>
                  <a:gd name="T15" fmla="*/ 54 h 583"/>
                  <a:gd name="T16" fmla="*/ 28 w 199"/>
                  <a:gd name="T17" fmla="*/ 60 h 583"/>
                  <a:gd name="T18" fmla="*/ 18 w 199"/>
                  <a:gd name="T19" fmla="*/ 65 h 583"/>
                  <a:gd name="T20" fmla="*/ 11 w 199"/>
                  <a:gd name="T21" fmla="*/ 70 h 583"/>
                  <a:gd name="T22" fmla="*/ 5 w 199"/>
                  <a:gd name="T23" fmla="*/ 76 h 583"/>
                  <a:gd name="T24" fmla="*/ 3 w 199"/>
                  <a:gd name="T25" fmla="*/ 81 h 583"/>
                  <a:gd name="T26" fmla="*/ 1 w 199"/>
                  <a:gd name="T27" fmla="*/ 83 h 583"/>
                  <a:gd name="T28" fmla="*/ 0 w 199"/>
                  <a:gd name="T29" fmla="*/ 88 h 583"/>
                  <a:gd name="T30" fmla="*/ 1 w 199"/>
                  <a:gd name="T31" fmla="*/ 94 h 583"/>
                  <a:gd name="T32" fmla="*/ 5 w 199"/>
                  <a:gd name="T33" fmla="*/ 100 h 583"/>
                  <a:gd name="T34" fmla="*/ 7 w 199"/>
                  <a:gd name="T35" fmla="*/ 102 h 583"/>
                  <a:gd name="T36" fmla="*/ 14 w 199"/>
                  <a:gd name="T37" fmla="*/ 108 h 583"/>
                  <a:gd name="T38" fmla="*/ 24 w 199"/>
                  <a:gd name="T39" fmla="*/ 114 h 583"/>
                  <a:gd name="T40" fmla="*/ 38 w 199"/>
                  <a:gd name="T41" fmla="*/ 120 h 583"/>
                  <a:gd name="T42" fmla="*/ 41 w 199"/>
                  <a:gd name="T43" fmla="*/ 122 h 583"/>
                  <a:gd name="T44" fmla="*/ 56 w 199"/>
                  <a:gd name="T45" fmla="*/ 128 h 583"/>
                  <a:gd name="T46" fmla="*/ 75 w 199"/>
                  <a:gd name="T47" fmla="*/ 134 h 583"/>
                  <a:gd name="T48" fmla="*/ 93 w 199"/>
                  <a:gd name="T49" fmla="*/ 140 h 583"/>
                  <a:gd name="T50" fmla="*/ 116 w 199"/>
                  <a:gd name="T51" fmla="*/ 146 h 583"/>
                  <a:gd name="T52" fmla="*/ 137 w 199"/>
                  <a:gd name="T53" fmla="*/ 137 h 583"/>
                  <a:gd name="T54" fmla="*/ 117 w 199"/>
                  <a:gd name="T55" fmla="*/ 132 h 583"/>
                  <a:gd name="T56" fmla="*/ 97 w 199"/>
                  <a:gd name="T57" fmla="*/ 126 h 583"/>
                  <a:gd name="T58" fmla="*/ 80 w 199"/>
                  <a:gd name="T59" fmla="*/ 120 h 583"/>
                  <a:gd name="T60" fmla="*/ 63 w 199"/>
                  <a:gd name="T61" fmla="*/ 114 h 583"/>
                  <a:gd name="T62" fmla="*/ 53 w 199"/>
                  <a:gd name="T63" fmla="*/ 118 h 583"/>
                  <a:gd name="T64" fmla="*/ 68 w 199"/>
                  <a:gd name="T65" fmla="*/ 116 h 583"/>
                  <a:gd name="T66" fmla="*/ 55 w 199"/>
                  <a:gd name="T67" fmla="*/ 110 h 583"/>
                  <a:gd name="T68" fmla="*/ 44 w 199"/>
                  <a:gd name="T69" fmla="*/ 104 h 583"/>
                  <a:gd name="T70" fmla="*/ 38 w 199"/>
                  <a:gd name="T71" fmla="*/ 98 h 583"/>
                  <a:gd name="T72" fmla="*/ 22 w 199"/>
                  <a:gd name="T73" fmla="*/ 100 h 583"/>
                  <a:gd name="T74" fmla="*/ 39 w 199"/>
                  <a:gd name="T75" fmla="*/ 100 h 583"/>
                  <a:gd name="T76" fmla="*/ 34 w 199"/>
                  <a:gd name="T77" fmla="*/ 93 h 583"/>
                  <a:gd name="T78" fmla="*/ 18 w 199"/>
                  <a:gd name="T79" fmla="*/ 93 h 583"/>
                  <a:gd name="T80" fmla="*/ 35 w 199"/>
                  <a:gd name="T81" fmla="*/ 93 h 583"/>
                  <a:gd name="T82" fmla="*/ 34 w 199"/>
                  <a:gd name="T83" fmla="*/ 88 h 583"/>
                  <a:gd name="T84" fmla="*/ 35 w 199"/>
                  <a:gd name="T85" fmla="*/ 83 h 583"/>
                  <a:gd name="T86" fmla="*/ 18 w 199"/>
                  <a:gd name="T87" fmla="*/ 83 h 583"/>
                  <a:gd name="T88" fmla="*/ 34 w 199"/>
                  <a:gd name="T89" fmla="*/ 85 h 583"/>
                  <a:gd name="T90" fmla="*/ 36 w 199"/>
                  <a:gd name="T91" fmla="*/ 80 h 583"/>
                  <a:gd name="T92" fmla="*/ 42 w 199"/>
                  <a:gd name="T93" fmla="*/ 74 h 583"/>
                  <a:gd name="T94" fmla="*/ 51 w 199"/>
                  <a:gd name="T95" fmla="*/ 68 h 583"/>
                  <a:gd name="T96" fmla="*/ 59 w 199"/>
                  <a:gd name="T97" fmla="*/ 63 h 583"/>
                  <a:gd name="T98" fmla="*/ 69 w 199"/>
                  <a:gd name="T99" fmla="*/ 58 h 583"/>
                  <a:gd name="T100" fmla="*/ 53 w 199"/>
                  <a:gd name="T101" fmla="*/ 56 h 583"/>
                  <a:gd name="T102" fmla="*/ 66 w 199"/>
                  <a:gd name="T103" fmla="*/ 60 h 583"/>
                  <a:gd name="T104" fmla="*/ 76 w 199"/>
                  <a:gd name="T105" fmla="*/ 54 h 583"/>
                  <a:gd name="T106" fmla="*/ 103 w 199"/>
                  <a:gd name="T107" fmla="*/ 43 h 583"/>
                  <a:gd name="T108" fmla="*/ 134 w 199"/>
                  <a:gd name="T109" fmla="*/ 31 h 583"/>
                  <a:gd name="T110" fmla="*/ 167 w 199"/>
                  <a:gd name="T111" fmla="*/ 19 h 583"/>
                  <a:gd name="T112" fmla="*/ 199 w 199"/>
                  <a:gd name="T113" fmla="*/ 8 h 58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199" h="583">
                    <a:moveTo>
                      <a:pt x="199" y="29"/>
                    </a:moveTo>
                    <a:lnTo>
                      <a:pt x="174" y="0"/>
                    </a:lnTo>
                    <a:lnTo>
                      <a:pt x="141" y="47"/>
                    </a:lnTo>
                    <a:lnTo>
                      <a:pt x="109" y="95"/>
                    </a:lnTo>
                    <a:lnTo>
                      <a:pt x="79" y="140"/>
                    </a:lnTo>
                    <a:lnTo>
                      <a:pt x="52" y="184"/>
                    </a:lnTo>
                    <a:lnTo>
                      <a:pt x="41" y="208"/>
                    </a:lnTo>
                    <a:lnTo>
                      <a:pt x="36" y="215"/>
                    </a:lnTo>
                    <a:lnTo>
                      <a:pt x="28" y="237"/>
                    </a:lnTo>
                    <a:lnTo>
                      <a:pt x="18" y="257"/>
                    </a:lnTo>
                    <a:lnTo>
                      <a:pt x="11" y="279"/>
                    </a:lnTo>
                    <a:lnTo>
                      <a:pt x="5" y="303"/>
                    </a:lnTo>
                    <a:lnTo>
                      <a:pt x="3" y="323"/>
                    </a:lnTo>
                    <a:lnTo>
                      <a:pt x="1" y="332"/>
                    </a:lnTo>
                    <a:lnTo>
                      <a:pt x="0" y="352"/>
                    </a:lnTo>
                    <a:lnTo>
                      <a:pt x="1" y="376"/>
                    </a:lnTo>
                    <a:lnTo>
                      <a:pt x="5" y="400"/>
                    </a:lnTo>
                    <a:lnTo>
                      <a:pt x="7" y="407"/>
                    </a:lnTo>
                    <a:lnTo>
                      <a:pt x="14" y="431"/>
                    </a:lnTo>
                    <a:lnTo>
                      <a:pt x="24" y="456"/>
                    </a:lnTo>
                    <a:lnTo>
                      <a:pt x="38" y="480"/>
                    </a:lnTo>
                    <a:lnTo>
                      <a:pt x="41" y="488"/>
                    </a:lnTo>
                    <a:lnTo>
                      <a:pt x="56" y="511"/>
                    </a:lnTo>
                    <a:lnTo>
                      <a:pt x="75" y="535"/>
                    </a:lnTo>
                    <a:lnTo>
                      <a:pt x="93" y="557"/>
                    </a:lnTo>
                    <a:lnTo>
                      <a:pt x="116" y="583"/>
                    </a:lnTo>
                    <a:lnTo>
                      <a:pt x="137" y="548"/>
                    </a:lnTo>
                    <a:lnTo>
                      <a:pt x="117" y="526"/>
                    </a:lnTo>
                    <a:lnTo>
                      <a:pt x="97" y="502"/>
                    </a:lnTo>
                    <a:lnTo>
                      <a:pt x="80" y="480"/>
                    </a:lnTo>
                    <a:lnTo>
                      <a:pt x="63" y="455"/>
                    </a:lnTo>
                    <a:lnTo>
                      <a:pt x="53" y="471"/>
                    </a:lnTo>
                    <a:lnTo>
                      <a:pt x="68" y="462"/>
                    </a:lnTo>
                    <a:lnTo>
                      <a:pt x="55" y="438"/>
                    </a:lnTo>
                    <a:lnTo>
                      <a:pt x="44" y="414"/>
                    </a:lnTo>
                    <a:lnTo>
                      <a:pt x="38" y="389"/>
                    </a:lnTo>
                    <a:lnTo>
                      <a:pt x="22" y="398"/>
                    </a:lnTo>
                    <a:lnTo>
                      <a:pt x="39" y="398"/>
                    </a:lnTo>
                    <a:lnTo>
                      <a:pt x="34" y="369"/>
                    </a:lnTo>
                    <a:lnTo>
                      <a:pt x="18" y="372"/>
                    </a:lnTo>
                    <a:lnTo>
                      <a:pt x="35" y="371"/>
                    </a:lnTo>
                    <a:lnTo>
                      <a:pt x="34" y="350"/>
                    </a:lnTo>
                    <a:lnTo>
                      <a:pt x="35" y="330"/>
                    </a:lnTo>
                    <a:lnTo>
                      <a:pt x="18" y="330"/>
                    </a:lnTo>
                    <a:lnTo>
                      <a:pt x="34" y="338"/>
                    </a:lnTo>
                    <a:lnTo>
                      <a:pt x="36" y="318"/>
                    </a:lnTo>
                    <a:lnTo>
                      <a:pt x="42" y="296"/>
                    </a:lnTo>
                    <a:lnTo>
                      <a:pt x="51" y="272"/>
                    </a:lnTo>
                    <a:lnTo>
                      <a:pt x="59" y="252"/>
                    </a:lnTo>
                    <a:lnTo>
                      <a:pt x="69" y="230"/>
                    </a:lnTo>
                    <a:lnTo>
                      <a:pt x="53" y="221"/>
                    </a:lnTo>
                    <a:lnTo>
                      <a:pt x="66" y="237"/>
                    </a:lnTo>
                    <a:lnTo>
                      <a:pt x="76" y="215"/>
                    </a:lnTo>
                    <a:lnTo>
                      <a:pt x="103" y="170"/>
                    </a:lnTo>
                    <a:lnTo>
                      <a:pt x="134" y="124"/>
                    </a:lnTo>
                    <a:lnTo>
                      <a:pt x="167" y="76"/>
                    </a:lnTo>
                    <a:lnTo>
                      <a:pt x="199"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39"/>
              <p:cNvSpPr>
                <a:spLocks/>
              </p:cNvSpPr>
              <p:nvPr/>
            </p:nvSpPr>
            <p:spPr bwMode="auto">
              <a:xfrm>
                <a:off x="3375" y="922"/>
                <a:ext cx="167" cy="97"/>
              </a:xfrm>
              <a:custGeom>
                <a:avLst/>
                <a:gdLst>
                  <a:gd name="T0" fmla="*/ 0 w 167"/>
                  <a:gd name="T1" fmla="*/ 40 h 193"/>
                  <a:gd name="T2" fmla="*/ 167 w 167"/>
                  <a:gd name="T3" fmla="*/ 49 h 193"/>
                  <a:gd name="T4" fmla="*/ 89 w 167"/>
                  <a:gd name="T5" fmla="*/ 0 h 193"/>
                  <a:gd name="T6" fmla="*/ 0 w 167"/>
                  <a:gd name="T7" fmla="*/ 40 h 19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7" h="193">
                    <a:moveTo>
                      <a:pt x="0" y="157"/>
                    </a:moveTo>
                    <a:lnTo>
                      <a:pt x="167" y="193"/>
                    </a:lnTo>
                    <a:lnTo>
                      <a:pt x="89" y="0"/>
                    </a:lnTo>
                    <a:lnTo>
                      <a:pt x="0" y="15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38" name="Group 40"/>
            <p:cNvGrpSpPr>
              <a:grpSpLocks/>
            </p:cNvGrpSpPr>
            <p:nvPr/>
          </p:nvGrpSpPr>
          <p:grpSpPr bwMode="auto">
            <a:xfrm>
              <a:off x="4426" y="665"/>
              <a:ext cx="204" cy="343"/>
              <a:chOff x="4426" y="665"/>
              <a:chExt cx="204" cy="343"/>
            </a:xfrm>
          </p:grpSpPr>
          <p:sp>
            <p:nvSpPr>
              <p:cNvPr id="49" name="Freeform 41"/>
              <p:cNvSpPr>
                <a:spLocks/>
              </p:cNvSpPr>
              <p:nvPr/>
            </p:nvSpPr>
            <p:spPr bwMode="auto">
              <a:xfrm>
                <a:off x="4435" y="665"/>
                <a:ext cx="195" cy="287"/>
              </a:xfrm>
              <a:custGeom>
                <a:avLst/>
                <a:gdLst>
                  <a:gd name="T0" fmla="*/ 0 w 195"/>
                  <a:gd name="T1" fmla="*/ 8 h 576"/>
                  <a:gd name="T2" fmla="*/ 19 w 195"/>
                  <a:gd name="T3" fmla="*/ 0 h 576"/>
                  <a:gd name="T4" fmla="*/ 52 w 195"/>
                  <a:gd name="T5" fmla="*/ 11 h 576"/>
                  <a:gd name="T6" fmla="*/ 83 w 195"/>
                  <a:gd name="T7" fmla="*/ 22 h 576"/>
                  <a:gd name="T8" fmla="*/ 111 w 195"/>
                  <a:gd name="T9" fmla="*/ 33 h 576"/>
                  <a:gd name="T10" fmla="*/ 138 w 195"/>
                  <a:gd name="T11" fmla="*/ 43 h 576"/>
                  <a:gd name="T12" fmla="*/ 149 w 195"/>
                  <a:gd name="T13" fmla="*/ 49 h 576"/>
                  <a:gd name="T14" fmla="*/ 152 w 195"/>
                  <a:gd name="T15" fmla="*/ 50 h 576"/>
                  <a:gd name="T16" fmla="*/ 162 w 195"/>
                  <a:gd name="T17" fmla="*/ 55 h 576"/>
                  <a:gd name="T18" fmla="*/ 172 w 195"/>
                  <a:gd name="T19" fmla="*/ 60 h 576"/>
                  <a:gd name="T20" fmla="*/ 181 w 195"/>
                  <a:gd name="T21" fmla="*/ 66 h 576"/>
                  <a:gd name="T22" fmla="*/ 186 w 195"/>
                  <a:gd name="T23" fmla="*/ 71 h 576"/>
                  <a:gd name="T24" fmla="*/ 190 w 195"/>
                  <a:gd name="T25" fmla="*/ 76 h 576"/>
                  <a:gd name="T26" fmla="*/ 192 w 195"/>
                  <a:gd name="T27" fmla="*/ 78 h 576"/>
                  <a:gd name="T28" fmla="*/ 193 w 195"/>
                  <a:gd name="T29" fmla="*/ 83 h 576"/>
                  <a:gd name="T30" fmla="*/ 195 w 195"/>
                  <a:gd name="T31" fmla="*/ 89 h 576"/>
                  <a:gd name="T32" fmla="*/ 190 w 195"/>
                  <a:gd name="T33" fmla="*/ 95 h 576"/>
                  <a:gd name="T34" fmla="*/ 190 w 195"/>
                  <a:gd name="T35" fmla="*/ 97 h 576"/>
                  <a:gd name="T36" fmla="*/ 186 w 195"/>
                  <a:gd name="T37" fmla="*/ 104 h 576"/>
                  <a:gd name="T38" fmla="*/ 178 w 195"/>
                  <a:gd name="T39" fmla="*/ 110 h 576"/>
                  <a:gd name="T40" fmla="*/ 166 w 195"/>
                  <a:gd name="T41" fmla="*/ 116 h 576"/>
                  <a:gd name="T42" fmla="*/ 165 w 195"/>
                  <a:gd name="T43" fmla="*/ 118 h 576"/>
                  <a:gd name="T44" fmla="*/ 151 w 195"/>
                  <a:gd name="T45" fmla="*/ 125 h 576"/>
                  <a:gd name="T46" fmla="*/ 137 w 195"/>
                  <a:gd name="T47" fmla="*/ 131 h 576"/>
                  <a:gd name="T48" fmla="*/ 121 w 195"/>
                  <a:gd name="T49" fmla="*/ 137 h 576"/>
                  <a:gd name="T50" fmla="*/ 103 w 195"/>
                  <a:gd name="T51" fmla="*/ 143 h 576"/>
                  <a:gd name="T52" fmla="*/ 82 w 195"/>
                  <a:gd name="T53" fmla="*/ 136 h 576"/>
                  <a:gd name="T54" fmla="*/ 99 w 195"/>
                  <a:gd name="T55" fmla="*/ 129 h 576"/>
                  <a:gd name="T56" fmla="*/ 114 w 195"/>
                  <a:gd name="T57" fmla="*/ 123 h 576"/>
                  <a:gd name="T58" fmla="*/ 130 w 195"/>
                  <a:gd name="T59" fmla="*/ 117 h 576"/>
                  <a:gd name="T60" fmla="*/ 142 w 195"/>
                  <a:gd name="T61" fmla="*/ 110 h 576"/>
                  <a:gd name="T62" fmla="*/ 152 w 195"/>
                  <a:gd name="T63" fmla="*/ 115 h 576"/>
                  <a:gd name="T64" fmla="*/ 138 w 195"/>
                  <a:gd name="T65" fmla="*/ 112 h 576"/>
                  <a:gd name="T66" fmla="*/ 149 w 195"/>
                  <a:gd name="T67" fmla="*/ 106 h 576"/>
                  <a:gd name="T68" fmla="*/ 158 w 195"/>
                  <a:gd name="T69" fmla="*/ 100 h 576"/>
                  <a:gd name="T70" fmla="*/ 162 w 195"/>
                  <a:gd name="T71" fmla="*/ 93 h 576"/>
                  <a:gd name="T72" fmla="*/ 176 w 195"/>
                  <a:gd name="T73" fmla="*/ 95 h 576"/>
                  <a:gd name="T74" fmla="*/ 161 w 195"/>
                  <a:gd name="T75" fmla="*/ 95 h 576"/>
                  <a:gd name="T76" fmla="*/ 165 w 195"/>
                  <a:gd name="T77" fmla="*/ 88 h 576"/>
                  <a:gd name="T78" fmla="*/ 179 w 195"/>
                  <a:gd name="T79" fmla="*/ 89 h 576"/>
                  <a:gd name="T80" fmla="*/ 164 w 195"/>
                  <a:gd name="T81" fmla="*/ 89 h 576"/>
                  <a:gd name="T82" fmla="*/ 164 w 195"/>
                  <a:gd name="T83" fmla="*/ 83 h 576"/>
                  <a:gd name="T84" fmla="*/ 161 w 195"/>
                  <a:gd name="T85" fmla="*/ 78 h 576"/>
                  <a:gd name="T86" fmla="*/ 176 w 195"/>
                  <a:gd name="T87" fmla="*/ 78 h 576"/>
                  <a:gd name="T88" fmla="*/ 162 w 195"/>
                  <a:gd name="T89" fmla="*/ 80 h 576"/>
                  <a:gd name="T90" fmla="*/ 158 w 195"/>
                  <a:gd name="T91" fmla="*/ 75 h 576"/>
                  <a:gd name="T92" fmla="*/ 152 w 195"/>
                  <a:gd name="T93" fmla="*/ 70 h 576"/>
                  <a:gd name="T94" fmla="*/ 145 w 195"/>
                  <a:gd name="T95" fmla="*/ 65 h 576"/>
                  <a:gd name="T96" fmla="*/ 135 w 195"/>
                  <a:gd name="T97" fmla="*/ 60 h 576"/>
                  <a:gd name="T98" fmla="*/ 125 w 195"/>
                  <a:gd name="T99" fmla="*/ 54 h 576"/>
                  <a:gd name="T100" fmla="*/ 140 w 195"/>
                  <a:gd name="T101" fmla="*/ 52 h 576"/>
                  <a:gd name="T102" fmla="*/ 128 w 195"/>
                  <a:gd name="T103" fmla="*/ 56 h 576"/>
                  <a:gd name="T104" fmla="*/ 118 w 195"/>
                  <a:gd name="T105" fmla="*/ 51 h 576"/>
                  <a:gd name="T106" fmla="*/ 91 w 195"/>
                  <a:gd name="T107" fmla="*/ 40 h 576"/>
                  <a:gd name="T108" fmla="*/ 62 w 195"/>
                  <a:gd name="T109" fmla="*/ 30 h 576"/>
                  <a:gd name="T110" fmla="*/ 31 w 195"/>
                  <a:gd name="T111" fmla="*/ 19 h 576"/>
                  <a:gd name="T112" fmla="*/ 0 w 195"/>
                  <a:gd name="T113" fmla="*/ 8 h 57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195" h="576">
                    <a:moveTo>
                      <a:pt x="0" y="33"/>
                    </a:moveTo>
                    <a:lnTo>
                      <a:pt x="19" y="0"/>
                    </a:lnTo>
                    <a:lnTo>
                      <a:pt x="52" y="44"/>
                    </a:lnTo>
                    <a:lnTo>
                      <a:pt x="83" y="88"/>
                    </a:lnTo>
                    <a:lnTo>
                      <a:pt x="111" y="132"/>
                    </a:lnTo>
                    <a:lnTo>
                      <a:pt x="138" y="174"/>
                    </a:lnTo>
                    <a:lnTo>
                      <a:pt x="149" y="196"/>
                    </a:lnTo>
                    <a:lnTo>
                      <a:pt x="152" y="203"/>
                    </a:lnTo>
                    <a:lnTo>
                      <a:pt x="162" y="223"/>
                    </a:lnTo>
                    <a:lnTo>
                      <a:pt x="172" y="243"/>
                    </a:lnTo>
                    <a:lnTo>
                      <a:pt x="181" y="265"/>
                    </a:lnTo>
                    <a:lnTo>
                      <a:pt x="186" y="287"/>
                    </a:lnTo>
                    <a:lnTo>
                      <a:pt x="190" y="307"/>
                    </a:lnTo>
                    <a:lnTo>
                      <a:pt x="192" y="316"/>
                    </a:lnTo>
                    <a:lnTo>
                      <a:pt x="193" y="336"/>
                    </a:lnTo>
                    <a:lnTo>
                      <a:pt x="195" y="360"/>
                    </a:lnTo>
                    <a:lnTo>
                      <a:pt x="190" y="384"/>
                    </a:lnTo>
                    <a:lnTo>
                      <a:pt x="190" y="391"/>
                    </a:lnTo>
                    <a:lnTo>
                      <a:pt x="186" y="417"/>
                    </a:lnTo>
                    <a:lnTo>
                      <a:pt x="178" y="442"/>
                    </a:lnTo>
                    <a:lnTo>
                      <a:pt x="166" y="466"/>
                    </a:lnTo>
                    <a:lnTo>
                      <a:pt x="165" y="474"/>
                    </a:lnTo>
                    <a:lnTo>
                      <a:pt x="151" y="501"/>
                    </a:lnTo>
                    <a:lnTo>
                      <a:pt x="137" y="525"/>
                    </a:lnTo>
                    <a:lnTo>
                      <a:pt x="121" y="550"/>
                    </a:lnTo>
                    <a:lnTo>
                      <a:pt x="103" y="576"/>
                    </a:lnTo>
                    <a:lnTo>
                      <a:pt x="82" y="545"/>
                    </a:lnTo>
                    <a:lnTo>
                      <a:pt x="99" y="519"/>
                    </a:lnTo>
                    <a:lnTo>
                      <a:pt x="114" y="495"/>
                    </a:lnTo>
                    <a:lnTo>
                      <a:pt x="130" y="470"/>
                    </a:lnTo>
                    <a:lnTo>
                      <a:pt x="142" y="444"/>
                    </a:lnTo>
                    <a:lnTo>
                      <a:pt x="152" y="461"/>
                    </a:lnTo>
                    <a:lnTo>
                      <a:pt x="138" y="452"/>
                    </a:lnTo>
                    <a:lnTo>
                      <a:pt x="149" y="428"/>
                    </a:lnTo>
                    <a:lnTo>
                      <a:pt x="158" y="402"/>
                    </a:lnTo>
                    <a:lnTo>
                      <a:pt x="162" y="375"/>
                    </a:lnTo>
                    <a:lnTo>
                      <a:pt x="176" y="384"/>
                    </a:lnTo>
                    <a:lnTo>
                      <a:pt x="161" y="384"/>
                    </a:lnTo>
                    <a:lnTo>
                      <a:pt x="165" y="355"/>
                    </a:lnTo>
                    <a:lnTo>
                      <a:pt x="179" y="358"/>
                    </a:lnTo>
                    <a:lnTo>
                      <a:pt x="164" y="357"/>
                    </a:lnTo>
                    <a:lnTo>
                      <a:pt x="164" y="336"/>
                    </a:lnTo>
                    <a:lnTo>
                      <a:pt x="161" y="316"/>
                    </a:lnTo>
                    <a:lnTo>
                      <a:pt x="176" y="316"/>
                    </a:lnTo>
                    <a:lnTo>
                      <a:pt x="162" y="324"/>
                    </a:lnTo>
                    <a:lnTo>
                      <a:pt x="158" y="304"/>
                    </a:lnTo>
                    <a:lnTo>
                      <a:pt x="152" y="283"/>
                    </a:lnTo>
                    <a:lnTo>
                      <a:pt x="145" y="262"/>
                    </a:lnTo>
                    <a:lnTo>
                      <a:pt x="135" y="241"/>
                    </a:lnTo>
                    <a:lnTo>
                      <a:pt x="125" y="219"/>
                    </a:lnTo>
                    <a:lnTo>
                      <a:pt x="140" y="210"/>
                    </a:lnTo>
                    <a:lnTo>
                      <a:pt x="128" y="227"/>
                    </a:lnTo>
                    <a:lnTo>
                      <a:pt x="118" y="205"/>
                    </a:lnTo>
                    <a:lnTo>
                      <a:pt x="91" y="163"/>
                    </a:lnTo>
                    <a:lnTo>
                      <a:pt x="62" y="121"/>
                    </a:lnTo>
                    <a:lnTo>
                      <a:pt x="31" y="77"/>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42"/>
              <p:cNvSpPr>
                <a:spLocks/>
              </p:cNvSpPr>
              <p:nvPr/>
            </p:nvSpPr>
            <p:spPr bwMode="auto">
              <a:xfrm>
                <a:off x="4426" y="908"/>
                <a:ext cx="146" cy="100"/>
              </a:xfrm>
              <a:custGeom>
                <a:avLst/>
                <a:gdLst>
                  <a:gd name="T0" fmla="*/ 146 w 146"/>
                  <a:gd name="T1" fmla="*/ 37 h 201"/>
                  <a:gd name="T2" fmla="*/ 0 w 146"/>
                  <a:gd name="T3" fmla="*/ 50 h 201"/>
                  <a:gd name="T4" fmla="*/ 58 w 146"/>
                  <a:gd name="T5" fmla="*/ 0 h 201"/>
                  <a:gd name="T6" fmla="*/ 146 w 146"/>
                  <a:gd name="T7" fmla="*/ 37 h 20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6" h="201">
                    <a:moveTo>
                      <a:pt x="146" y="150"/>
                    </a:moveTo>
                    <a:lnTo>
                      <a:pt x="0" y="201"/>
                    </a:lnTo>
                    <a:lnTo>
                      <a:pt x="58" y="0"/>
                    </a:lnTo>
                    <a:lnTo>
                      <a:pt x="146" y="15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39" name="Group 43"/>
            <p:cNvGrpSpPr>
              <a:grpSpLocks/>
            </p:cNvGrpSpPr>
            <p:nvPr/>
          </p:nvGrpSpPr>
          <p:grpSpPr bwMode="auto">
            <a:xfrm>
              <a:off x="3353" y="1208"/>
              <a:ext cx="1286" cy="341"/>
              <a:chOff x="3353" y="1208"/>
              <a:chExt cx="1286" cy="341"/>
            </a:xfrm>
          </p:grpSpPr>
          <p:sp>
            <p:nvSpPr>
              <p:cNvPr id="41" name="Rectangle 44"/>
              <p:cNvSpPr>
                <a:spLocks noChangeArrowheads="1"/>
              </p:cNvSpPr>
              <p:nvPr/>
            </p:nvSpPr>
            <p:spPr bwMode="auto">
              <a:xfrm>
                <a:off x="4515" y="1251"/>
                <a:ext cx="124"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3100">
                    <a:solidFill>
                      <a:srgbClr val="000000"/>
                    </a:solidFill>
                  </a:rPr>
                  <a:t>0</a:t>
                </a:r>
                <a:endParaRPr lang="en-US" altLang="zh-CN" sz="2400"/>
              </a:p>
            </p:txBody>
          </p:sp>
          <p:sp>
            <p:nvSpPr>
              <p:cNvPr id="42" name="Rectangle 45"/>
              <p:cNvSpPr>
                <a:spLocks noChangeArrowheads="1"/>
              </p:cNvSpPr>
              <p:nvPr/>
            </p:nvSpPr>
            <p:spPr bwMode="auto">
              <a:xfrm>
                <a:off x="4006" y="1251"/>
                <a:ext cx="83"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3100">
                    <a:solidFill>
                      <a:srgbClr val="000000"/>
                    </a:solidFill>
                  </a:rPr>
                  <a:t>)</a:t>
                </a:r>
                <a:endParaRPr lang="en-US" altLang="zh-CN" sz="2400"/>
              </a:p>
            </p:txBody>
          </p:sp>
          <p:sp>
            <p:nvSpPr>
              <p:cNvPr id="43" name="Rectangle 46"/>
              <p:cNvSpPr>
                <a:spLocks noChangeArrowheads="1"/>
              </p:cNvSpPr>
              <p:nvPr/>
            </p:nvSpPr>
            <p:spPr bwMode="auto">
              <a:xfrm>
                <a:off x="3680" y="1251"/>
                <a:ext cx="83"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3100">
                    <a:solidFill>
                      <a:srgbClr val="000000"/>
                    </a:solidFill>
                  </a:rPr>
                  <a:t>(</a:t>
                </a:r>
                <a:endParaRPr lang="en-US" altLang="zh-CN" sz="2400"/>
              </a:p>
            </p:txBody>
          </p:sp>
          <p:sp>
            <p:nvSpPr>
              <p:cNvPr id="44" name="Rectangle 47"/>
              <p:cNvSpPr>
                <a:spLocks noChangeArrowheads="1"/>
              </p:cNvSpPr>
              <p:nvPr/>
            </p:nvSpPr>
            <p:spPr bwMode="auto">
              <a:xfrm>
                <a:off x="4223" y="1223"/>
                <a:ext cx="10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400"/>
                  <a:t>&gt;</a:t>
                </a:r>
              </a:p>
            </p:txBody>
          </p:sp>
          <p:sp>
            <p:nvSpPr>
              <p:cNvPr id="45" name="Rectangle 48"/>
              <p:cNvSpPr>
                <a:spLocks noChangeArrowheads="1"/>
              </p:cNvSpPr>
              <p:nvPr/>
            </p:nvSpPr>
            <p:spPr bwMode="auto">
              <a:xfrm>
                <a:off x="3593" y="1208"/>
                <a:ext cx="61"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3100">
                    <a:solidFill>
                      <a:srgbClr val="000000"/>
                    </a:solidFill>
                    <a:latin typeface="Symbol" pitchFamily="18" charset="2"/>
                  </a:rPr>
                  <a:t>¢</a:t>
                </a:r>
                <a:endParaRPr lang="en-US" altLang="zh-CN" sz="2400"/>
              </a:p>
            </p:txBody>
          </p:sp>
          <p:sp>
            <p:nvSpPr>
              <p:cNvPr id="46" name="Rectangle 49"/>
              <p:cNvSpPr>
                <a:spLocks noChangeArrowheads="1"/>
              </p:cNvSpPr>
              <p:nvPr/>
            </p:nvSpPr>
            <p:spPr bwMode="auto">
              <a:xfrm>
                <a:off x="3547" y="1208"/>
                <a:ext cx="61"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3100">
                    <a:solidFill>
                      <a:srgbClr val="000000"/>
                    </a:solidFill>
                    <a:latin typeface="Symbol" pitchFamily="18" charset="2"/>
                  </a:rPr>
                  <a:t>¢</a:t>
                </a:r>
                <a:endParaRPr lang="en-US" altLang="zh-CN" sz="2400"/>
              </a:p>
            </p:txBody>
          </p:sp>
          <p:sp>
            <p:nvSpPr>
              <p:cNvPr id="47" name="Rectangle 50"/>
              <p:cNvSpPr>
                <a:spLocks noChangeArrowheads="1"/>
              </p:cNvSpPr>
              <p:nvPr/>
            </p:nvSpPr>
            <p:spPr bwMode="auto">
              <a:xfrm>
                <a:off x="3832" y="1251"/>
                <a:ext cx="110"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3100" i="1">
                    <a:solidFill>
                      <a:srgbClr val="000000"/>
                    </a:solidFill>
                  </a:rPr>
                  <a:t>x</a:t>
                </a:r>
                <a:endParaRPr lang="en-US" altLang="zh-CN" sz="2400"/>
              </a:p>
            </p:txBody>
          </p:sp>
          <p:sp>
            <p:nvSpPr>
              <p:cNvPr id="48" name="Rectangle 51"/>
              <p:cNvSpPr>
                <a:spLocks noChangeArrowheads="1"/>
              </p:cNvSpPr>
              <p:nvPr/>
            </p:nvSpPr>
            <p:spPr bwMode="auto">
              <a:xfrm>
                <a:off x="3353" y="1251"/>
                <a:ext cx="110"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3100" i="1">
                    <a:solidFill>
                      <a:srgbClr val="000000"/>
                    </a:solidFill>
                  </a:rPr>
                  <a:t>y</a:t>
                </a:r>
                <a:endParaRPr lang="en-US" altLang="zh-CN" sz="2400"/>
              </a:p>
            </p:txBody>
          </p:sp>
        </p:grpSp>
        <p:sp>
          <p:nvSpPr>
            <p:cNvPr id="40" name="Freeform 52"/>
            <p:cNvSpPr>
              <a:spLocks/>
            </p:cNvSpPr>
            <p:nvPr/>
          </p:nvSpPr>
          <p:spPr bwMode="auto">
            <a:xfrm>
              <a:off x="3440" y="644"/>
              <a:ext cx="980" cy="191"/>
            </a:xfrm>
            <a:custGeom>
              <a:avLst/>
              <a:gdLst>
                <a:gd name="T0" fmla="*/ 26 w 980"/>
                <a:gd name="T1" fmla="*/ 96 h 382"/>
                <a:gd name="T2" fmla="*/ 108 w 980"/>
                <a:gd name="T3" fmla="*/ 65 h 382"/>
                <a:gd name="T4" fmla="*/ 173 w 980"/>
                <a:gd name="T5" fmla="*/ 44 h 382"/>
                <a:gd name="T6" fmla="*/ 218 w 980"/>
                <a:gd name="T7" fmla="*/ 32 h 382"/>
                <a:gd name="T8" fmla="*/ 229 w 980"/>
                <a:gd name="T9" fmla="*/ 23 h 382"/>
                <a:gd name="T10" fmla="*/ 260 w 980"/>
                <a:gd name="T11" fmla="*/ 24 h 382"/>
                <a:gd name="T12" fmla="*/ 313 w 980"/>
                <a:gd name="T13" fmla="*/ 16 h 382"/>
                <a:gd name="T14" fmla="*/ 333 w 980"/>
                <a:gd name="T15" fmla="*/ 9 h 382"/>
                <a:gd name="T16" fmla="*/ 361 w 980"/>
                <a:gd name="T17" fmla="*/ 12 h 382"/>
                <a:gd name="T18" fmla="*/ 422 w 980"/>
                <a:gd name="T19" fmla="*/ 11 h 382"/>
                <a:gd name="T20" fmla="*/ 485 w 980"/>
                <a:gd name="T21" fmla="*/ 14 h 382"/>
                <a:gd name="T22" fmla="*/ 480 w 980"/>
                <a:gd name="T23" fmla="*/ 13 h 382"/>
                <a:gd name="T24" fmla="*/ 548 w 980"/>
                <a:gd name="T25" fmla="*/ 19 h 382"/>
                <a:gd name="T26" fmla="*/ 620 w 980"/>
                <a:gd name="T27" fmla="*/ 26 h 382"/>
                <a:gd name="T28" fmla="*/ 693 w 980"/>
                <a:gd name="T29" fmla="*/ 37 h 382"/>
                <a:gd name="T30" fmla="*/ 808 w 980"/>
                <a:gd name="T31" fmla="*/ 55 h 382"/>
                <a:gd name="T32" fmla="*/ 965 w 980"/>
                <a:gd name="T33" fmla="*/ 82 h 382"/>
                <a:gd name="T34" fmla="*/ 900 w 980"/>
                <a:gd name="T35" fmla="*/ 58 h 382"/>
                <a:gd name="T36" fmla="*/ 744 w 980"/>
                <a:gd name="T37" fmla="*/ 32 h 382"/>
                <a:gd name="T38" fmla="*/ 669 w 980"/>
                <a:gd name="T39" fmla="*/ 21 h 382"/>
                <a:gd name="T40" fmla="*/ 596 w 980"/>
                <a:gd name="T41" fmla="*/ 12 h 382"/>
                <a:gd name="T42" fmla="*/ 525 w 980"/>
                <a:gd name="T43" fmla="*/ 5 h 382"/>
                <a:gd name="T44" fmla="*/ 485 w 980"/>
                <a:gd name="T45" fmla="*/ 3 h 382"/>
                <a:gd name="T46" fmla="*/ 422 w 980"/>
                <a:gd name="T47" fmla="*/ 0 h 382"/>
                <a:gd name="T48" fmla="*/ 361 w 980"/>
                <a:gd name="T49" fmla="*/ 1 h 382"/>
                <a:gd name="T50" fmla="*/ 327 w 980"/>
                <a:gd name="T51" fmla="*/ 4 h 382"/>
                <a:gd name="T52" fmla="*/ 273 w 980"/>
                <a:gd name="T53" fmla="*/ 10 h 382"/>
                <a:gd name="T54" fmla="*/ 224 w 980"/>
                <a:gd name="T55" fmla="*/ 18 h 382"/>
                <a:gd name="T56" fmla="*/ 194 w 980"/>
                <a:gd name="T57" fmla="*/ 25 h 382"/>
                <a:gd name="T58" fmla="*/ 149 w 980"/>
                <a:gd name="T59" fmla="*/ 37 h 382"/>
                <a:gd name="T60" fmla="*/ 84 w 980"/>
                <a:gd name="T61" fmla="*/ 58 h 382"/>
                <a:gd name="T62" fmla="*/ 0 w 980"/>
                <a:gd name="T63" fmla="*/ 89 h 38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980" h="382">
                  <a:moveTo>
                    <a:pt x="0" y="355"/>
                  </a:moveTo>
                  <a:lnTo>
                    <a:pt x="26" y="382"/>
                  </a:lnTo>
                  <a:lnTo>
                    <a:pt x="65" y="320"/>
                  </a:lnTo>
                  <a:lnTo>
                    <a:pt x="108" y="260"/>
                  </a:lnTo>
                  <a:lnTo>
                    <a:pt x="150" y="203"/>
                  </a:lnTo>
                  <a:lnTo>
                    <a:pt x="173" y="176"/>
                  </a:lnTo>
                  <a:lnTo>
                    <a:pt x="195" y="152"/>
                  </a:lnTo>
                  <a:lnTo>
                    <a:pt x="218" y="128"/>
                  </a:lnTo>
                  <a:lnTo>
                    <a:pt x="242" y="108"/>
                  </a:lnTo>
                  <a:lnTo>
                    <a:pt x="229" y="92"/>
                  </a:lnTo>
                  <a:lnTo>
                    <a:pt x="236" y="112"/>
                  </a:lnTo>
                  <a:lnTo>
                    <a:pt x="260" y="93"/>
                  </a:lnTo>
                  <a:lnTo>
                    <a:pt x="286" y="77"/>
                  </a:lnTo>
                  <a:lnTo>
                    <a:pt x="313" y="64"/>
                  </a:lnTo>
                  <a:lnTo>
                    <a:pt x="340" y="53"/>
                  </a:lnTo>
                  <a:lnTo>
                    <a:pt x="333" y="33"/>
                  </a:lnTo>
                  <a:lnTo>
                    <a:pt x="333" y="55"/>
                  </a:lnTo>
                  <a:lnTo>
                    <a:pt x="361" y="48"/>
                  </a:lnTo>
                  <a:lnTo>
                    <a:pt x="392" y="44"/>
                  </a:lnTo>
                  <a:lnTo>
                    <a:pt x="422" y="44"/>
                  </a:lnTo>
                  <a:lnTo>
                    <a:pt x="453" y="48"/>
                  </a:lnTo>
                  <a:lnTo>
                    <a:pt x="485" y="53"/>
                  </a:lnTo>
                  <a:lnTo>
                    <a:pt x="485" y="31"/>
                  </a:lnTo>
                  <a:lnTo>
                    <a:pt x="480" y="51"/>
                  </a:lnTo>
                  <a:lnTo>
                    <a:pt x="512" y="60"/>
                  </a:lnTo>
                  <a:lnTo>
                    <a:pt x="548" y="73"/>
                  </a:lnTo>
                  <a:lnTo>
                    <a:pt x="583" y="88"/>
                  </a:lnTo>
                  <a:lnTo>
                    <a:pt x="620" y="104"/>
                  </a:lnTo>
                  <a:lnTo>
                    <a:pt x="656" y="124"/>
                  </a:lnTo>
                  <a:lnTo>
                    <a:pt x="693" y="145"/>
                  </a:lnTo>
                  <a:lnTo>
                    <a:pt x="731" y="168"/>
                  </a:lnTo>
                  <a:lnTo>
                    <a:pt x="808" y="218"/>
                  </a:lnTo>
                  <a:lnTo>
                    <a:pt x="887" y="271"/>
                  </a:lnTo>
                  <a:lnTo>
                    <a:pt x="965" y="325"/>
                  </a:lnTo>
                  <a:lnTo>
                    <a:pt x="980" y="287"/>
                  </a:lnTo>
                  <a:lnTo>
                    <a:pt x="900" y="230"/>
                  </a:lnTo>
                  <a:lnTo>
                    <a:pt x="821" y="177"/>
                  </a:lnTo>
                  <a:lnTo>
                    <a:pt x="744" y="128"/>
                  </a:lnTo>
                  <a:lnTo>
                    <a:pt x="706" y="104"/>
                  </a:lnTo>
                  <a:lnTo>
                    <a:pt x="669" y="84"/>
                  </a:lnTo>
                  <a:lnTo>
                    <a:pt x="632" y="64"/>
                  </a:lnTo>
                  <a:lnTo>
                    <a:pt x="596" y="48"/>
                  </a:lnTo>
                  <a:lnTo>
                    <a:pt x="560" y="33"/>
                  </a:lnTo>
                  <a:lnTo>
                    <a:pt x="525" y="20"/>
                  </a:lnTo>
                  <a:lnTo>
                    <a:pt x="492" y="11"/>
                  </a:lnTo>
                  <a:lnTo>
                    <a:pt x="485" y="9"/>
                  </a:lnTo>
                  <a:lnTo>
                    <a:pt x="453" y="4"/>
                  </a:lnTo>
                  <a:lnTo>
                    <a:pt x="422" y="0"/>
                  </a:lnTo>
                  <a:lnTo>
                    <a:pt x="391" y="0"/>
                  </a:lnTo>
                  <a:lnTo>
                    <a:pt x="361" y="4"/>
                  </a:lnTo>
                  <a:lnTo>
                    <a:pt x="333" y="11"/>
                  </a:lnTo>
                  <a:lnTo>
                    <a:pt x="327" y="13"/>
                  </a:lnTo>
                  <a:lnTo>
                    <a:pt x="300" y="24"/>
                  </a:lnTo>
                  <a:lnTo>
                    <a:pt x="273" y="37"/>
                  </a:lnTo>
                  <a:lnTo>
                    <a:pt x="248" y="53"/>
                  </a:lnTo>
                  <a:lnTo>
                    <a:pt x="224" y="71"/>
                  </a:lnTo>
                  <a:lnTo>
                    <a:pt x="218" y="77"/>
                  </a:lnTo>
                  <a:lnTo>
                    <a:pt x="194" y="97"/>
                  </a:lnTo>
                  <a:lnTo>
                    <a:pt x="171" y="121"/>
                  </a:lnTo>
                  <a:lnTo>
                    <a:pt x="149" y="145"/>
                  </a:lnTo>
                  <a:lnTo>
                    <a:pt x="126" y="172"/>
                  </a:lnTo>
                  <a:lnTo>
                    <a:pt x="84" y="229"/>
                  </a:lnTo>
                  <a:lnTo>
                    <a:pt x="41" y="289"/>
                  </a:lnTo>
                  <a:lnTo>
                    <a:pt x="0" y="35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aphicFrame>
        <p:nvGraphicFramePr>
          <p:cNvPr id="53" name="Object 53"/>
          <p:cNvGraphicFramePr>
            <a:graphicFrameLocks noChangeAspect="1"/>
          </p:cNvGraphicFramePr>
          <p:nvPr>
            <p:extLst>
              <p:ext uri="{D42A27DB-BD31-4B8C-83A1-F6EECF244321}">
                <p14:modId xmlns:p14="http://schemas.microsoft.com/office/powerpoint/2010/main" val="3183414063"/>
              </p:ext>
            </p:extLst>
          </p:nvPr>
        </p:nvGraphicFramePr>
        <p:xfrm>
          <a:off x="4932040" y="3170783"/>
          <a:ext cx="3089275" cy="533400"/>
        </p:xfrm>
        <a:graphic>
          <a:graphicData uri="http://schemas.openxmlformats.org/presentationml/2006/ole">
            <mc:AlternateContent xmlns:mc="http://schemas.openxmlformats.org/markup-compatibility/2006">
              <mc:Choice xmlns:v="urn:schemas-microsoft-com:vml" Requires="v">
                <p:oleObj name="公式" r:id="rId2" imgW="901309" imgH="203112" progId="">
                  <p:embed/>
                </p:oleObj>
              </mc:Choice>
              <mc:Fallback>
                <p:oleObj name="公式" r:id="rId2" imgW="901309" imgH="203112" progId="">
                  <p:embed/>
                  <p:pic>
                    <p:nvPicPr>
                      <p:cNvPr id="0" name="Picture 2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2040" y="3170783"/>
                        <a:ext cx="3089275" cy="533400"/>
                      </a:xfrm>
                      <a:prstGeom prst="rect">
                        <a:avLst/>
                      </a:prstGeom>
                      <a:noFill/>
                      <a:ln>
                        <a:noFill/>
                      </a:ln>
                      <a:effectLst/>
                      <a:extLst>
                        <a:ext uri="{909E8E84-426E-40DD-AFC4-6F175D3DCCD1}">
                          <a14:hiddenFill xmlns:a14="http://schemas.microsoft.com/office/drawing/2010/main">
                            <a:solidFill>
                              <a:srgbClr val="66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4" name="Text Box 54"/>
          <p:cNvSpPr txBox="1">
            <a:spLocks noChangeArrowheads="1"/>
          </p:cNvSpPr>
          <p:nvPr/>
        </p:nvSpPr>
        <p:spPr bwMode="auto">
          <a:xfrm>
            <a:off x="484312" y="3170783"/>
            <a:ext cx="3584636" cy="461665"/>
          </a:xfrm>
          <a:prstGeom prst="rect">
            <a:avLst/>
          </a:prstGeom>
          <a:noFill/>
          <a:ln w="19050">
            <a:solidFill>
              <a:srgbClr val="FF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zh-CN" altLang="en-US" sz="2400" b="1" dirty="0">
                <a:solidFill>
                  <a:srgbClr val="0000FF"/>
                </a:solidFill>
                <a:latin typeface="黑体" pitchFamily="49" charset="-122"/>
                <a:ea typeface="黑体" pitchFamily="49" charset="-122"/>
              </a:rPr>
              <a:t>挠曲线近似微分方程</a:t>
            </a:r>
            <a:r>
              <a:rPr lang="en-US" altLang="zh-CN" sz="2400" b="1" dirty="0">
                <a:solidFill>
                  <a:srgbClr val="0000FF"/>
                </a:solidFill>
                <a:latin typeface="黑体" pitchFamily="49" charset="-122"/>
                <a:ea typeface="黑体" pitchFamily="49" charset="-122"/>
              </a:rPr>
              <a:t>——</a:t>
            </a:r>
          </a:p>
        </p:txBody>
      </p:sp>
      <p:sp>
        <p:nvSpPr>
          <p:cNvPr id="55" name="Rectangle 58"/>
          <p:cNvSpPr>
            <a:spLocks noChangeArrowheads="1"/>
          </p:cNvSpPr>
          <p:nvPr/>
        </p:nvSpPr>
        <p:spPr bwMode="auto">
          <a:xfrm>
            <a:off x="3837112" y="737146"/>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400" b="1" i="1">
                <a:solidFill>
                  <a:srgbClr val="000000"/>
                </a:solidFill>
              </a:rPr>
              <a:t>x</a:t>
            </a:r>
          </a:p>
        </p:txBody>
      </p:sp>
      <p:sp>
        <p:nvSpPr>
          <p:cNvPr id="56" name="Rectangle 59"/>
          <p:cNvSpPr>
            <a:spLocks noChangeArrowheads="1"/>
          </p:cNvSpPr>
          <p:nvPr/>
        </p:nvSpPr>
        <p:spPr bwMode="auto">
          <a:xfrm>
            <a:off x="179512" y="2256383"/>
            <a:ext cx="3794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400" b="1" i="1">
                <a:solidFill>
                  <a:srgbClr val="000000"/>
                </a:solidFill>
              </a:rPr>
              <a:t>y</a:t>
            </a:r>
          </a:p>
        </p:txBody>
      </p:sp>
      <p:grpSp>
        <p:nvGrpSpPr>
          <p:cNvPr id="57" name="Group 60"/>
          <p:cNvGrpSpPr>
            <a:grpSpLocks/>
          </p:cNvGrpSpPr>
          <p:nvPr/>
        </p:nvGrpSpPr>
        <p:grpSpPr bwMode="auto">
          <a:xfrm>
            <a:off x="4218112" y="692696"/>
            <a:ext cx="4298950" cy="2025650"/>
            <a:chOff x="2544" y="599"/>
            <a:chExt cx="2708" cy="1276"/>
          </a:xfrm>
        </p:grpSpPr>
        <p:sp>
          <p:nvSpPr>
            <p:cNvPr id="58" name="Rectangle 61"/>
            <p:cNvSpPr>
              <a:spLocks noChangeArrowheads="1"/>
            </p:cNvSpPr>
            <p:nvPr/>
          </p:nvSpPr>
          <p:spPr bwMode="auto">
            <a:xfrm>
              <a:off x="5040" y="627"/>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400" b="1" i="1">
                  <a:solidFill>
                    <a:srgbClr val="000000"/>
                  </a:solidFill>
                </a:rPr>
                <a:t>x</a:t>
              </a:r>
            </a:p>
          </p:txBody>
        </p:sp>
        <p:grpSp>
          <p:nvGrpSpPr>
            <p:cNvPr id="59" name="Group 62"/>
            <p:cNvGrpSpPr>
              <a:grpSpLocks/>
            </p:cNvGrpSpPr>
            <p:nvPr/>
          </p:nvGrpSpPr>
          <p:grpSpPr bwMode="auto">
            <a:xfrm>
              <a:off x="2544" y="599"/>
              <a:ext cx="2467" cy="1276"/>
              <a:chOff x="2688" y="599"/>
              <a:chExt cx="2467" cy="1276"/>
            </a:xfrm>
          </p:grpSpPr>
          <p:grpSp>
            <p:nvGrpSpPr>
              <p:cNvPr id="60" name="Group 63"/>
              <p:cNvGrpSpPr>
                <a:grpSpLocks/>
              </p:cNvGrpSpPr>
              <p:nvPr/>
            </p:nvGrpSpPr>
            <p:grpSpPr bwMode="auto">
              <a:xfrm flipV="1">
                <a:off x="2955" y="599"/>
                <a:ext cx="2200" cy="1081"/>
                <a:chOff x="267" y="644"/>
                <a:chExt cx="2200" cy="1036"/>
              </a:xfrm>
            </p:grpSpPr>
            <p:grpSp>
              <p:nvGrpSpPr>
                <p:cNvPr id="62" name="Group 64"/>
                <p:cNvGrpSpPr>
                  <a:grpSpLocks/>
                </p:cNvGrpSpPr>
                <p:nvPr/>
              </p:nvGrpSpPr>
              <p:grpSpPr bwMode="auto">
                <a:xfrm>
                  <a:off x="288" y="1631"/>
                  <a:ext cx="2179" cy="49"/>
                  <a:chOff x="309" y="523"/>
                  <a:chExt cx="2179" cy="49"/>
                </a:xfrm>
              </p:grpSpPr>
              <p:sp>
                <p:nvSpPr>
                  <p:cNvPr id="68" name="Rectangle 65"/>
                  <p:cNvSpPr>
                    <a:spLocks noChangeArrowheads="1"/>
                  </p:cNvSpPr>
                  <p:nvPr/>
                </p:nvSpPr>
                <p:spPr bwMode="auto">
                  <a:xfrm>
                    <a:off x="309" y="541"/>
                    <a:ext cx="2128"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endParaRPr lang="zh-CN" altLang="en-US" sz="2400"/>
                  </a:p>
                </p:txBody>
              </p:sp>
              <p:sp>
                <p:nvSpPr>
                  <p:cNvPr id="69" name="Freeform 66"/>
                  <p:cNvSpPr>
                    <a:spLocks/>
                  </p:cNvSpPr>
                  <p:nvPr/>
                </p:nvSpPr>
                <p:spPr bwMode="auto">
                  <a:xfrm>
                    <a:off x="2411" y="523"/>
                    <a:ext cx="77" cy="49"/>
                  </a:xfrm>
                  <a:custGeom>
                    <a:avLst/>
                    <a:gdLst>
                      <a:gd name="T0" fmla="*/ 0 w 77"/>
                      <a:gd name="T1" fmla="*/ 25 h 98"/>
                      <a:gd name="T2" fmla="*/ 77 w 77"/>
                      <a:gd name="T3" fmla="*/ 12 h 98"/>
                      <a:gd name="T4" fmla="*/ 0 w 77"/>
                      <a:gd name="T5" fmla="*/ 0 h 98"/>
                      <a:gd name="T6" fmla="*/ 24 w 77"/>
                      <a:gd name="T7" fmla="*/ 12 h 98"/>
                      <a:gd name="T8" fmla="*/ 0 w 77"/>
                      <a:gd name="T9" fmla="*/ 25 h 9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7" h="98">
                        <a:moveTo>
                          <a:pt x="0" y="98"/>
                        </a:moveTo>
                        <a:lnTo>
                          <a:pt x="77" y="48"/>
                        </a:lnTo>
                        <a:lnTo>
                          <a:pt x="0" y="0"/>
                        </a:lnTo>
                        <a:lnTo>
                          <a:pt x="24" y="48"/>
                        </a:lnTo>
                        <a:lnTo>
                          <a:pt x="0" y="9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63" name="Group 67"/>
                <p:cNvGrpSpPr>
                  <a:grpSpLocks/>
                </p:cNvGrpSpPr>
                <p:nvPr/>
              </p:nvGrpSpPr>
              <p:grpSpPr bwMode="auto">
                <a:xfrm flipV="1">
                  <a:off x="274" y="665"/>
                  <a:ext cx="49" cy="999"/>
                  <a:chOff x="274" y="547"/>
                  <a:chExt cx="49" cy="999"/>
                </a:xfrm>
              </p:grpSpPr>
              <p:sp>
                <p:nvSpPr>
                  <p:cNvPr id="66" name="Rectangle 68"/>
                  <p:cNvSpPr>
                    <a:spLocks noChangeArrowheads="1"/>
                  </p:cNvSpPr>
                  <p:nvPr/>
                </p:nvSpPr>
                <p:spPr bwMode="auto">
                  <a:xfrm>
                    <a:off x="293" y="547"/>
                    <a:ext cx="12" cy="94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endParaRPr lang="zh-CN" altLang="en-US" sz="2400"/>
                  </a:p>
                </p:txBody>
              </p:sp>
              <p:sp>
                <p:nvSpPr>
                  <p:cNvPr id="67" name="Freeform 69"/>
                  <p:cNvSpPr>
                    <a:spLocks/>
                  </p:cNvSpPr>
                  <p:nvPr/>
                </p:nvSpPr>
                <p:spPr bwMode="auto">
                  <a:xfrm>
                    <a:off x="274" y="1469"/>
                    <a:ext cx="49" cy="77"/>
                  </a:xfrm>
                  <a:custGeom>
                    <a:avLst/>
                    <a:gdLst>
                      <a:gd name="T0" fmla="*/ 0 w 49"/>
                      <a:gd name="T1" fmla="*/ 0 h 154"/>
                      <a:gd name="T2" fmla="*/ 25 w 49"/>
                      <a:gd name="T3" fmla="*/ 39 h 154"/>
                      <a:gd name="T4" fmla="*/ 49 w 49"/>
                      <a:gd name="T5" fmla="*/ 0 h 154"/>
                      <a:gd name="T6" fmla="*/ 25 w 49"/>
                      <a:gd name="T7" fmla="*/ 12 h 154"/>
                      <a:gd name="T8" fmla="*/ 0 w 49"/>
                      <a:gd name="T9" fmla="*/ 0 h 15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154">
                        <a:moveTo>
                          <a:pt x="0" y="0"/>
                        </a:moveTo>
                        <a:lnTo>
                          <a:pt x="25" y="154"/>
                        </a:lnTo>
                        <a:lnTo>
                          <a:pt x="49" y="0"/>
                        </a:lnTo>
                        <a:lnTo>
                          <a:pt x="25" y="48"/>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64" name="Rectangle 70"/>
                <p:cNvSpPr>
                  <a:spLocks noChangeArrowheads="1"/>
                </p:cNvSpPr>
                <p:nvPr/>
              </p:nvSpPr>
              <p:spPr bwMode="auto">
                <a:xfrm>
                  <a:off x="267" y="644"/>
                  <a:ext cx="0"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10800000" wrap="none" lIns="0" tIns="0" rIns="0" bIns="0">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zh-CN" altLang="zh-CN" sz="2400"/>
                </a:p>
              </p:txBody>
            </p:sp>
            <p:sp>
              <p:nvSpPr>
                <p:cNvPr id="65" name="Rectangle 71"/>
                <p:cNvSpPr>
                  <a:spLocks noChangeArrowheads="1"/>
                </p:cNvSpPr>
                <p:nvPr/>
              </p:nvSpPr>
              <p:spPr bwMode="auto">
                <a:xfrm>
                  <a:off x="2440" y="1460"/>
                  <a:ext cx="0"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10800000" wrap="none" lIns="0" tIns="0" rIns="0" bIns="0">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zh-CN" altLang="zh-CN" sz="2400"/>
                </a:p>
              </p:txBody>
            </p:sp>
          </p:grpSp>
          <p:sp>
            <p:nvSpPr>
              <p:cNvPr id="61" name="Rectangle 72"/>
              <p:cNvSpPr>
                <a:spLocks noChangeArrowheads="1"/>
              </p:cNvSpPr>
              <p:nvPr/>
            </p:nvSpPr>
            <p:spPr bwMode="auto">
              <a:xfrm>
                <a:off x="2688" y="1587"/>
                <a:ext cx="20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400" b="1" i="1">
                    <a:solidFill>
                      <a:srgbClr val="000000"/>
                    </a:solidFill>
                  </a:rPr>
                  <a:t>y</a:t>
                </a:r>
              </a:p>
            </p:txBody>
          </p:sp>
        </p:grpSp>
      </p:grpSp>
      <p:graphicFrame>
        <p:nvGraphicFramePr>
          <p:cNvPr id="70" name="Object 73"/>
          <p:cNvGraphicFramePr>
            <a:graphicFrameLocks noChangeAspect="1"/>
          </p:cNvGraphicFramePr>
          <p:nvPr>
            <p:extLst>
              <p:ext uri="{D42A27DB-BD31-4B8C-83A1-F6EECF244321}">
                <p14:modId xmlns:p14="http://schemas.microsoft.com/office/powerpoint/2010/main" val="3014115360"/>
              </p:ext>
            </p:extLst>
          </p:nvPr>
        </p:nvGraphicFramePr>
        <p:xfrm>
          <a:off x="2714750" y="3856583"/>
          <a:ext cx="3398837" cy="1035050"/>
        </p:xfrm>
        <a:graphic>
          <a:graphicData uri="http://schemas.openxmlformats.org/presentationml/2006/ole">
            <mc:AlternateContent xmlns:mc="http://schemas.openxmlformats.org/markup-compatibility/2006">
              <mc:Choice xmlns:v="urn:schemas-microsoft-com:vml" Requires="v">
                <p:oleObj name="公式" r:id="rId4" imgW="1054100" imgH="419100" progId="">
                  <p:embed/>
                </p:oleObj>
              </mc:Choice>
              <mc:Fallback>
                <p:oleObj name="公式" r:id="rId4" imgW="1054100" imgH="419100" progId="">
                  <p:embed/>
                  <p:pic>
                    <p:nvPicPr>
                      <p:cNvPr id="0" name="Picture 2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14750" y="3856583"/>
                        <a:ext cx="3398837" cy="1035050"/>
                      </a:xfrm>
                      <a:prstGeom prst="rect">
                        <a:avLst/>
                      </a:prstGeom>
                      <a:noFill/>
                      <a:ln>
                        <a:noFill/>
                      </a:ln>
                      <a:effectLst/>
                      <a:extLst>
                        <a:ext uri="{909E8E84-426E-40DD-AFC4-6F175D3DCCD1}">
                          <a14:hiddenFill xmlns:a14="http://schemas.microsoft.com/office/drawing/2010/main">
                            <a:solidFill>
                              <a:srgbClr val="66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343266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ppt_x"/>
                                          </p:val>
                                        </p:tav>
                                        <p:tav tm="100000">
                                          <p:val>
                                            <p:strVal val="#ppt_x"/>
                                          </p:val>
                                        </p:tav>
                                      </p:tavLst>
                                    </p:anim>
                                    <p:anim calcmode="lin" valueType="num">
                                      <p:cBhvr additive="base">
                                        <p:cTn id="1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57"/>
                                        </p:tgtEl>
                                        <p:attrNameLst>
                                          <p:attrName>style.visibility</p:attrName>
                                        </p:attrNameLst>
                                      </p:cBhvr>
                                      <p:to>
                                        <p:strVal val="visible"/>
                                      </p:to>
                                    </p:set>
                                    <p:anim calcmode="lin" valueType="num">
                                      <p:cBhvr additive="base">
                                        <p:cTn id="17" dur="500" fill="hold"/>
                                        <p:tgtEl>
                                          <p:spTgt spid="57"/>
                                        </p:tgtEl>
                                        <p:attrNameLst>
                                          <p:attrName>ppt_x</p:attrName>
                                        </p:attrNameLst>
                                      </p:cBhvr>
                                      <p:tavLst>
                                        <p:tav tm="0">
                                          <p:val>
                                            <p:strVal val="0-#ppt_w/2"/>
                                          </p:val>
                                        </p:tav>
                                        <p:tav tm="100000">
                                          <p:val>
                                            <p:strVal val="#ppt_x"/>
                                          </p:val>
                                        </p:tav>
                                      </p:tavLst>
                                    </p:anim>
                                    <p:anim calcmode="lin" valueType="num">
                                      <p:cBhvr additive="base">
                                        <p:cTn id="18" dur="500" fill="hold"/>
                                        <p:tgtEl>
                                          <p:spTgt spid="57"/>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4"/>
                                        </p:tgtEl>
                                        <p:attrNameLst>
                                          <p:attrName>style.visibility</p:attrName>
                                        </p:attrNameLst>
                                      </p:cBhvr>
                                      <p:to>
                                        <p:strVal val="visible"/>
                                      </p:to>
                                    </p:set>
                                    <p:anim calcmode="lin" valueType="num">
                                      <p:cBhvr additive="base">
                                        <p:cTn id="23" dur="500" fill="hold"/>
                                        <p:tgtEl>
                                          <p:spTgt spid="34"/>
                                        </p:tgtEl>
                                        <p:attrNameLst>
                                          <p:attrName>ppt_x</p:attrName>
                                        </p:attrNameLst>
                                      </p:cBhvr>
                                      <p:tavLst>
                                        <p:tav tm="0">
                                          <p:val>
                                            <p:strVal val="#ppt_x"/>
                                          </p:val>
                                        </p:tav>
                                        <p:tav tm="100000">
                                          <p:val>
                                            <p:strVal val="#ppt_x"/>
                                          </p:val>
                                        </p:tav>
                                      </p:tavLst>
                                    </p:anim>
                                    <p:anim calcmode="lin" valueType="num">
                                      <p:cBhvr additive="base">
                                        <p:cTn id="24"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54"/>
                                        </p:tgtEl>
                                        <p:attrNameLst>
                                          <p:attrName>style.visibility</p:attrName>
                                        </p:attrNameLst>
                                      </p:cBhvr>
                                      <p:to>
                                        <p:strVal val="visible"/>
                                      </p:to>
                                    </p:set>
                                    <p:anim calcmode="lin" valueType="num">
                                      <p:cBhvr additive="base">
                                        <p:cTn id="29" dur="500" fill="hold"/>
                                        <p:tgtEl>
                                          <p:spTgt spid="54"/>
                                        </p:tgtEl>
                                        <p:attrNameLst>
                                          <p:attrName>ppt_x</p:attrName>
                                        </p:attrNameLst>
                                      </p:cBhvr>
                                      <p:tavLst>
                                        <p:tav tm="0">
                                          <p:val>
                                            <p:strVal val="0-#ppt_w/2"/>
                                          </p:val>
                                        </p:tav>
                                        <p:tav tm="100000">
                                          <p:val>
                                            <p:strVal val="#ppt_x"/>
                                          </p:val>
                                        </p:tav>
                                      </p:tavLst>
                                    </p:anim>
                                    <p:anim calcmode="lin" valueType="num">
                                      <p:cBhvr additive="base">
                                        <p:cTn id="30" dur="500" fill="hold"/>
                                        <p:tgtEl>
                                          <p:spTgt spid="54"/>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2" fill="hold" nodeType="clickEffect">
                                  <p:stCondLst>
                                    <p:cond delay="0"/>
                                  </p:stCondLst>
                                  <p:childTnLst>
                                    <p:set>
                                      <p:cBhvr>
                                        <p:cTn id="34" dur="1" fill="hold">
                                          <p:stCondLst>
                                            <p:cond delay="0"/>
                                          </p:stCondLst>
                                        </p:cTn>
                                        <p:tgtEl>
                                          <p:spTgt spid="53"/>
                                        </p:tgtEl>
                                        <p:attrNameLst>
                                          <p:attrName>style.visibility</p:attrName>
                                        </p:attrNameLst>
                                      </p:cBhvr>
                                      <p:to>
                                        <p:strVal val="visible"/>
                                      </p:to>
                                    </p:set>
                                    <p:anim calcmode="lin" valueType="num">
                                      <p:cBhvr additive="base">
                                        <p:cTn id="35" dur="500" fill="hold"/>
                                        <p:tgtEl>
                                          <p:spTgt spid="53"/>
                                        </p:tgtEl>
                                        <p:attrNameLst>
                                          <p:attrName>ppt_x</p:attrName>
                                        </p:attrNameLst>
                                      </p:cBhvr>
                                      <p:tavLst>
                                        <p:tav tm="0">
                                          <p:val>
                                            <p:strVal val="1+#ppt_w/2"/>
                                          </p:val>
                                        </p:tav>
                                        <p:tav tm="100000">
                                          <p:val>
                                            <p:strVal val="#ppt_x"/>
                                          </p:val>
                                        </p:tav>
                                      </p:tavLst>
                                    </p:anim>
                                    <p:anim calcmode="lin" valueType="num">
                                      <p:cBhvr additive="base">
                                        <p:cTn id="36" dur="500" fill="hold"/>
                                        <p:tgtEl>
                                          <p:spTgt spid="53"/>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2" fill="hold" nodeType="clickEffect">
                                  <p:stCondLst>
                                    <p:cond delay="0"/>
                                  </p:stCondLst>
                                  <p:childTnLst>
                                    <p:set>
                                      <p:cBhvr>
                                        <p:cTn id="40" dur="1" fill="hold">
                                          <p:stCondLst>
                                            <p:cond delay="0"/>
                                          </p:stCondLst>
                                        </p:cTn>
                                        <p:tgtEl>
                                          <p:spTgt spid="70"/>
                                        </p:tgtEl>
                                        <p:attrNameLst>
                                          <p:attrName>style.visibility</p:attrName>
                                        </p:attrNameLst>
                                      </p:cBhvr>
                                      <p:to>
                                        <p:strVal val="visible"/>
                                      </p:to>
                                    </p:set>
                                    <p:anim calcmode="lin" valueType="num">
                                      <p:cBhvr additive="base">
                                        <p:cTn id="41" dur="500" fill="hold"/>
                                        <p:tgtEl>
                                          <p:spTgt spid="70"/>
                                        </p:tgtEl>
                                        <p:attrNameLst>
                                          <p:attrName>ppt_x</p:attrName>
                                        </p:attrNameLst>
                                      </p:cBhvr>
                                      <p:tavLst>
                                        <p:tav tm="0">
                                          <p:val>
                                            <p:strVal val="1+#ppt_w/2"/>
                                          </p:val>
                                        </p:tav>
                                        <p:tav tm="100000">
                                          <p:val>
                                            <p:strVal val="#ppt_x"/>
                                          </p:val>
                                        </p:tav>
                                      </p:tavLst>
                                    </p:anim>
                                    <p:anim calcmode="lin" valueType="num">
                                      <p:cBhvr additive="base">
                                        <p:cTn id="42" dur="500" fill="hold"/>
                                        <p:tgtEl>
                                          <p:spTgt spid="7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animBg="1"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1" name="Object 2"/>
          <p:cNvGraphicFramePr>
            <a:graphicFrameLocks noChangeAspect="1"/>
          </p:cNvGraphicFramePr>
          <p:nvPr>
            <p:extLst>
              <p:ext uri="{D42A27DB-BD31-4B8C-83A1-F6EECF244321}">
                <p14:modId xmlns:p14="http://schemas.microsoft.com/office/powerpoint/2010/main" val="2922412899"/>
              </p:ext>
            </p:extLst>
          </p:nvPr>
        </p:nvGraphicFramePr>
        <p:xfrm>
          <a:off x="1979712" y="2584822"/>
          <a:ext cx="2184400" cy="425450"/>
        </p:xfrm>
        <a:graphic>
          <a:graphicData uri="http://schemas.openxmlformats.org/presentationml/2006/ole">
            <mc:AlternateContent xmlns:mc="http://schemas.openxmlformats.org/markup-compatibility/2006">
              <mc:Choice xmlns:v="urn:schemas-microsoft-com:vml" Requires="v">
                <p:oleObj name="公式" r:id="rId2" imgW="1091726" imgH="203112" progId="">
                  <p:embed/>
                </p:oleObj>
              </mc:Choice>
              <mc:Fallback>
                <p:oleObj name="公式" r:id="rId2" imgW="1091726" imgH="203112" progId="">
                  <p:embed/>
                  <p:pic>
                    <p:nvPicPr>
                      <p:cNvPr id="0" name="Picture 3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712" y="2584822"/>
                        <a:ext cx="2184400" cy="425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2" name="Object 3"/>
          <p:cNvGraphicFramePr>
            <a:graphicFrameLocks noChangeAspect="1"/>
          </p:cNvGraphicFramePr>
          <p:nvPr>
            <p:extLst>
              <p:ext uri="{D42A27DB-BD31-4B8C-83A1-F6EECF244321}">
                <p14:modId xmlns:p14="http://schemas.microsoft.com/office/powerpoint/2010/main" val="3225082269"/>
              </p:ext>
            </p:extLst>
          </p:nvPr>
        </p:nvGraphicFramePr>
        <p:xfrm>
          <a:off x="1940051" y="2945185"/>
          <a:ext cx="3584575" cy="598487"/>
        </p:xfrm>
        <a:graphic>
          <a:graphicData uri="http://schemas.openxmlformats.org/presentationml/2006/ole">
            <mc:AlternateContent xmlns:mc="http://schemas.openxmlformats.org/markup-compatibility/2006">
              <mc:Choice xmlns:v="urn:schemas-microsoft-com:vml" Requires="v">
                <p:oleObj name="公式" r:id="rId4" imgW="1600200" imgH="279400" progId="">
                  <p:embed/>
                </p:oleObj>
              </mc:Choice>
              <mc:Fallback>
                <p:oleObj name="公式" r:id="rId4" imgW="1600200" imgH="279400" progId="">
                  <p:embed/>
                  <p:pic>
                    <p:nvPicPr>
                      <p:cNvPr id="0" name="Picture 3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40051" y="2945185"/>
                        <a:ext cx="3584575" cy="5984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3" name="Object 4"/>
          <p:cNvGraphicFramePr>
            <a:graphicFrameLocks noChangeAspect="1"/>
          </p:cNvGraphicFramePr>
          <p:nvPr>
            <p:extLst>
              <p:ext uri="{D42A27DB-BD31-4B8C-83A1-F6EECF244321}">
                <p14:modId xmlns:p14="http://schemas.microsoft.com/office/powerpoint/2010/main" val="3597840735"/>
              </p:ext>
            </p:extLst>
          </p:nvPr>
        </p:nvGraphicFramePr>
        <p:xfrm>
          <a:off x="1846388" y="3467472"/>
          <a:ext cx="5995988" cy="587375"/>
        </p:xfrm>
        <a:graphic>
          <a:graphicData uri="http://schemas.openxmlformats.org/presentationml/2006/ole">
            <mc:AlternateContent xmlns:mc="http://schemas.openxmlformats.org/markup-compatibility/2006">
              <mc:Choice xmlns:v="urn:schemas-microsoft-com:vml" Requires="v">
                <p:oleObj name="公式" r:id="rId6" imgW="2273300" imgH="279400" progId="">
                  <p:embed/>
                </p:oleObj>
              </mc:Choice>
              <mc:Fallback>
                <p:oleObj name="公式" r:id="rId6" imgW="2273300" imgH="279400" progId="">
                  <p:embed/>
                  <p:pic>
                    <p:nvPicPr>
                      <p:cNvPr id="0" name="Picture 3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46388" y="3467472"/>
                        <a:ext cx="5995988" cy="587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4" name="Rectangle 5"/>
          <p:cNvSpPr>
            <a:spLocks noChangeArrowheads="1"/>
          </p:cNvSpPr>
          <p:nvPr/>
        </p:nvSpPr>
        <p:spPr bwMode="auto">
          <a:xfrm>
            <a:off x="179513" y="523528"/>
            <a:ext cx="2952328" cy="533400"/>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rgbClr val="FF993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zh-CN" altLang="en-US" sz="2400" b="1" dirty="0">
                <a:solidFill>
                  <a:srgbClr val="FF0000"/>
                </a:solidFill>
                <a:latin typeface="黑体" pitchFamily="49" charset="-122"/>
                <a:ea typeface="黑体" pitchFamily="49" charset="-122"/>
              </a:rPr>
              <a:t>积分法</a:t>
            </a:r>
            <a:r>
              <a:rPr lang="zh-CN" altLang="en-US" sz="2400" b="1" dirty="0">
                <a:solidFill>
                  <a:srgbClr val="0000FF"/>
                </a:solidFill>
                <a:latin typeface="黑体" pitchFamily="49" charset="-122"/>
                <a:ea typeface="黑体" pitchFamily="49" charset="-122"/>
              </a:rPr>
              <a:t>计算梁的变形</a:t>
            </a:r>
          </a:p>
        </p:txBody>
      </p:sp>
      <p:sp>
        <p:nvSpPr>
          <p:cNvPr id="76" name="Text Box 7"/>
          <p:cNvSpPr txBox="1">
            <a:spLocks noChangeArrowheads="1"/>
          </p:cNvSpPr>
          <p:nvPr/>
        </p:nvSpPr>
        <p:spPr bwMode="auto">
          <a:xfrm>
            <a:off x="179512" y="1406443"/>
            <a:ext cx="8784976" cy="457200"/>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400" b="1" dirty="0">
                <a:solidFill>
                  <a:srgbClr val="0000FF"/>
                </a:solidFill>
                <a:latin typeface="黑体" pitchFamily="49" charset="-122"/>
                <a:ea typeface="黑体" pitchFamily="49" charset="-122"/>
              </a:rPr>
              <a:t>1</a:t>
            </a:r>
            <a:r>
              <a:rPr lang="zh-CN" altLang="en-US" sz="2400" b="1" dirty="0">
                <a:solidFill>
                  <a:srgbClr val="0000FF"/>
                </a:solidFill>
                <a:latin typeface="黑体" pitchFamily="49" charset="-122"/>
                <a:ea typeface="黑体" pitchFamily="49" charset="-122"/>
              </a:rPr>
              <a:t>、根据荷载</a:t>
            </a:r>
            <a:r>
              <a:rPr lang="zh-CN" altLang="en-US" sz="2400" b="1" dirty="0">
                <a:solidFill>
                  <a:srgbClr val="FF0000"/>
                </a:solidFill>
                <a:latin typeface="黑体" pitchFamily="49" charset="-122"/>
                <a:ea typeface="黑体" pitchFamily="49" charset="-122"/>
              </a:rPr>
              <a:t>分段</a:t>
            </a:r>
            <a:r>
              <a:rPr lang="zh-CN" altLang="en-US" sz="2400" b="1" dirty="0">
                <a:solidFill>
                  <a:srgbClr val="0000FF"/>
                </a:solidFill>
                <a:latin typeface="黑体" pitchFamily="49" charset="-122"/>
                <a:ea typeface="黑体" pitchFamily="49" charset="-122"/>
              </a:rPr>
              <a:t>列出</a:t>
            </a:r>
            <a:r>
              <a:rPr lang="zh-CN" altLang="en-US" sz="2400" b="1" dirty="0">
                <a:solidFill>
                  <a:srgbClr val="FF0000"/>
                </a:solidFill>
                <a:latin typeface="黑体" pitchFamily="49" charset="-122"/>
                <a:ea typeface="黑体" pitchFamily="49" charset="-122"/>
              </a:rPr>
              <a:t>弯矩方程 </a:t>
            </a:r>
            <a:r>
              <a:rPr lang="en-US" altLang="zh-CN" sz="2400" b="1" dirty="0">
                <a:solidFill>
                  <a:srgbClr val="0000FF"/>
                </a:solidFill>
                <a:latin typeface="黑体" pitchFamily="49" charset="-122"/>
                <a:ea typeface="黑体" pitchFamily="49" charset="-122"/>
              </a:rPr>
              <a:t>M</a:t>
            </a:r>
            <a:r>
              <a:rPr lang="zh-CN" altLang="en-US" sz="2400" b="1" dirty="0">
                <a:solidFill>
                  <a:srgbClr val="0000FF"/>
                </a:solidFill>
                <a:latin typeface="黑体" pitchFamily="49" charset="-122"/>
                <a:ea typeface="黑体" pitchFamily="49" charset="-122"/>
              </a:rPr>
              <a:t>（</a:t>
            </a:r>
            <a:r>
              <a:rPr lang="en-US" altLang="zh-CN" sz="2400" b="1" dirty="0">
                <a:solidFill>
                  <a:srgbClr val="0000FF"/>
                </a:solidFill>
                <a:latin typeface="黑体" pitchFamily="49" charset="-122"/>
                <a:ea typeface="黑体" pitchFamily="49" charset="-122"/>
              </a:rPr>
              <a:t>x</a:t>
            </a:r>
            <a:r>
              <a:rPr lang="zh-CN" altLang="en-US" sz="2400" b="1" dirty="0">
                <a:solidFill>
                  <a:srgbClr val="0000FF"/>
                </a:solidFill>
                <a:latin typeface="黑体" pitchFamily="49" charset="-122"/>
                <a:ea typeface="黑体" pitchFamily="49" charset="-122"/>
              </a:rPr>
              <a:t>）。</a:t>
            </a:r>
          </a:p>
        </p:txBody>
      </p:sp>
      <p:sp>
        <p:nvSpPr>
          <p:cNvPr id="77" name="Text Box 8"/>
          <p:cNvSpPr txBox="1">
            <a:spLocks noChangeArrowheads="1"/>
          </p:cNvSpPr>
          <p:nvPr/>
        </p:nvSpPr>
        <p:spPr bwMode="auto">
          <a:xfrm>
            <a:off x="192930" y="2095872"/>
            <a:ext cx="8771558" cy="457200"/>
          </a:xfrm>
          <a:prstGeom prst="rect">
            <a:avLst/>
          </a:prstGeom>
          <a:noFill/>
          <a:ln w="2857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400" b="1" dirty="0">
                <a:solidFill>
                  <a:srgbClr val="0000FF"/>
                </a:solidFill>
                <a:latin typeface="黑体" pitchFamily="49" charset="-122"/>
                <a:ea typeface="黑体" pitchFamily="49" charset="-122"/>
              </a:rPr>
              <a:t>2</a:t>
            </a:r>
            <a:r>
              <a:rPr lang="zh-CN" altLang="en-US" sz="2400" b="1" dirty="0">
                <a:solidFill>
                  <a:srgbClr val="0000FF"/>
                </a:solidFill>
                <a:latin typeface="黑体" pitchFamily="49" charset="-122"/>
                <a:ea typeface="黑体" pitchFamily="49" charset="-122"/>
              </a:rPr>
              <a:t>、根据弯矩方程列出挠曲线的</a:t>
            </a:r>
            <a:r>
              <a:rPr lang="zh-CN" altLang="en-US" sz="2400" b="1" dirty="0">
                <a:solidFill>
                  <a:srgbClr val="FF0000"/>
                </a:solidFill>
                <a:latin typeface="黑体" pitchFamily="49" charset="-122"/>
                <a:ea typeface="黑体" pitchFamily="49" charset="-122"/>
              </a:rPr>
              <a:t>近似微分方程</a:t>
            </a:r>
            <a:r>
              <a:rPr lang="zh-CN" altLang="en-US" sz="2400" b="1" dirty="0">
                <a:solidFill>
                  <a:srgbClr val="0000FF"/>
                </a:solidFill>
                <a:latin typeface="黑体" pitchFamily="49" charset="-122"/>
                <a:ea typeface="黑体" pitchFamily="49" charset="-122"/>
              </a:rPr>
              <a:t>并进行</a:t>
            </a:r>
            <a:r>
              <a:rPr lang="zh-CN" altLang="en-US" sz="2400" b="1" dirty="0">
                <a:solidFill>
                  <a:srgbClr val="FF0000"/>
                </a:solidFill>
                <a:latin typeface="黑体" pitchFamily="49" charset="-122"/>
                <a:ea typeface="黑体" pitchFamily="49" charset="-122"/>
              </a:rPr>
              <a:t>积分</a:t>
            </a:r>
          </a:p>
        </p:txBody>
      </p:sp>
      <p:sp>
        <p:nvSpPr>
          <p:cNvPr id="78" name="Text Box 9"/>
          <p:cNvSpPr txBox="1">
            <a:spLocks noChangeArrowheads="1"/>
          </p:cNvSpPr>
          <p:nvPr/>
        </p:nvSpPr>
        <p:spPr bwMode="auto">
          <a:xfrm>
            <a:off x="246583" y="4026768"/>
            <a:ext cx="8717905" cy="457200"/>
          </a:xfrm>
          <a:prstGeom prst="rect">
            <a:avLst/>
          </a:prstGeom>
          <a:noFill/>
          <a:ln w="2857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400" b="1" dirty="0">
                <a:solidFill>
                  <a:srgbClr val="0000FF"/>
                </a:solidFill>
                <a:latin typeface="黑体" pitchFamily="49" charset="-122"/>
                <a:ea typeface="黑体" pitchFamily="49" charset="-122"/>
              </a:rPr>
              <a:t>3</a:t>
            </a:r>
            <a:r>
              <a:rPr lang="zh-CN" altLang="en-US" sz="2400" b="1" dirty="0">
                <a:solidFill>
                  <a:srgbClr val="0000FF"/>
                </a:solidFill>
                <a:latin typeface="黑体" pitchFamily="49" charset="-122"/>
                <a:ea typeface="黑体" pitchFamily="49" charset="-122"/>
              </a:rPr>
              <a:t>、根据弯曲梁变形的</a:t>
            </a:r>
            <a:r>
              <a:rPr lang="zh-CN" altLang="en-US" sz="2400" b="1" dirty="0">
                <a:solidFill>
                  <a:srgbClr val="FF0000"/>
                </a:solidFill>
                <a:latin typeface="黑体" pitchFamily="49" charset="-122"/>
                <a:ea typeface="黑体" pitchFamily="49" charset="-122"/>
              </a:rPr>
              <a:t>边界条件和连续条件</a:t>
            </a:r>
            <a:r>
              <a:rPr lang="zh-CN" altLang="en-US" sz="2400" b="1" dirty="0">
                <a:solidFill>
                  <a:srgbClr val="0000FF"/>
                </a:solidFill>
                <a:latin typeface="黑体" pitchFamily="49" charset="-122"/>
                <a:ea typeface="黑体" pitchFamily="49" charset="-122"/>
              </a:rPr>
              <a:t>确定积分常数。</a:t>
            </a:r>
          </a:p>
        </p:txBody>
      </p:sp>
      <p:sp>
        <p:nvSpPr>
          <p:cNvPr id="107" name="Text Box 5"/>
          <p:cNvSpPr txBox="1">
            <a:spLocks noChangeArrowheads="1"/>
          </p:cNvSpPr>
          <p:nvPr/>
        </p:nvSpPr>
        <p:spPr bwMode="auto">
          <a:xfrm>
            <a:off x="222498" y="4729758"/>
            <a:ext cx="8741990" cy="457200"/>
          </a:xfrm>
          <a:prstGeom prst="rect">
            <a:avLst/>
          </a:prstGeom>
          <a:noFill/>
          <a:ln w="2857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400" b="1" dirty="0">
                <a:solidFill>
                  <a:srgbClr val="0000FF"/>
                </a:solidFill>
                <a:latin typeface="黑体" pitchFamily="49" charset="-122"/>
                <a:ea typeface="黑体" pitchFamily="49" charset="-122"/>
              </a:rPr>
              <a:t>4</a:t>
            </a:r>
            <a:r>
              <a:rPr lang="zh-CN" altLang="en-US" sz="2400" b="1" dirty="0">
                <a:solidFill>
                  <a:srgbClr val="0000FF"/>
                </a:solidFill>
                <a:latin typeface="黑体" pitchFamily="49" charset="-122"/>
                <a:ea typeface="黑体" pitchFamily="49" charset="-122"/>
              </a:rPr>
              <a:t>、确定挠曲线方程和转角方程 。</a:t>
            </a:r>
          </a:p>
        </p:txBody>
      </p:sp>
      <p:sp>
        <p:nvSpPr>
          <p:cNvPr id="108" name="Text Box 6"/>
          <p:cNvSpPr txBox="1">
            <a:spLocks noChangeArrowheads="1"/>
          </p:cNvSpPr>
          <p:nvPr/>
        </p:nvSpPr>
        <p:spPr bwMode="auto">
          <a:xfrm>
            <a:off x="251520" y="5420072"/>
            <a:ext cx="8784976" cy="457200"/>
          </a:xfrm>
          <a:prstGeom prst="rect">
            <a:avLst/>
          </a:prstGeom>
          <a:noFill/>
          <a:ln w="2857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400" b="1" dirty="0">
                <a:solidFill>
                  <a:srgbClr val="0000FF"/>
                </a:solidFill>
                <a:latin typeface="黑体" pitchFamily="49" charset="-122"/>
                <a:ea typeface="黑体" pitchFamily="49" charset="-122"/>
              </a:rPr>
              <a:t>5</a:t>
            </a:r>
            <a:r>
              <a:rPr lang="zh-CN" altLang="en-US" sz="2400" b="1" dirty="0">
                <a:solidFill>
                  <a:srgbClr val="0000FF"/>
                </a:solidFill>
                <a:latin typeface="黑体" pitchFamily="49" charset="-122"/>
                <a:ea typeface="黑体" pitchFamily="49" charset="-122"/>
              </a:rPr>
              <a:t>、计算任意截面的挠度、转角；挠度的最大值、转角的最大值。</a:t>
            </a:r>
          </a:p>
        </p:txBody>
      </p:sp>
    </p:spTree>
    <p:extLst>
      <p:ext uri="{BB962C8B-B14F-4D97-AF65-F5344CB8AC3E}">
        <p14:creationId xmlns:p14="http://schemas.microsoft.com/office/powerpoint/2010/main" val="3062218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4"/>
                                        </p:tgtEl>
                                        <p:attrNameLst>
                                          <p:attrName>style.visibility</p:attrName>
                                        </p:attrNameLst>
                                      </p:cBhvr>
                                      <p:to>
                                        <p:strVal val="visible"/>
                                      </p:to>
                                    </p:set>
                                    <p:animEffect transition="in" filter="fade">
                                      <p:cBhvr>
                                        <p:cTn id="7" dur="500"/>
                                        <p:tgtEl>
                                          <p:spTgt spid="7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iterate type="lt">
                                    <p:tmPct val="100000"/>
                                  </p:iterate>
                                  <p:childTnLst>
                                    <p:set>
                                      <p:cBhvr>
                                        <p:cTn id="11" dur="1" fill="hold">
                                          <p:stCondLst>
                                            <p:cond delay="0"/>
                                          </p:stCondLst>
                                        </p:cTn>
                                        <p:tgtEl>
                                          <p:spTgt spid="76"/>
                                        </p:tgtEl>
                                        <p:attrNameLst>
                                          <p:attrName>style.visibility</p:attrName>
                                        </p:attrNameLst>
                                      </p:cBhvr>
                                      <p:to>
                                        <p:strVal val="visible"/>
                                      </p:to>
                                    </p:set>
                                    <p:anim calcmode="lin" valueType="num">
                                      <p:cBhvr additive="base">
                                        <p:cTn id="12" dur="75" fill="hold"/>
                                        <p:tgtEl>
                                          <p:spTgt spid="76"/>
                                        </p:tgtEl>
                                        <p:attrNameLst>
                                          <p:attrName>ppt_x</p:attrName>
                                        </p:attrNameLst>
                                      </p:cBhvr>
                                      <p:tavLst>
                                        <p:tav tm="0">
                                          <p:val>
                                            <p:strVal val="#ppt_x"/>
                                          </p:val>
                                        </p:tav>
                                        <p:tav tm="100000">
                                          <p:val>
                                            <p:strVal val="#ppt_x"/>
                                          </p:val>
                                        </p:tav>
                                      </p:tavLst>
                                    </p:anim>
                                    <p:anim calcmode="lin" valueType="num">
                                      <p:cBhvr additive="base">
                                        <p:cTn id="13" dur="75" fill="hold"/>
                                        <p:tgtEl>
                                          <p:spTgt spid="76"/>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iterate type="lt">
                                    <p:tmPct val="100000"/>
                                  </p:iterate>
                                  <p:childTnLst>
                                    <p:set>
                                      <p:cBhvr>
                                        <p:cTn id="17" dur="1" fill="hold">
                                          <p:stCondLst>
                                            <p:cond delay="0"/>
                                          </p:stCondLst>
                                        </p:cTn>
                                        <p:tgtEl>
                                          <p:spTgt spid="77"/>
                                        </p:tgtEl>
                                        <p:attrNameLst>
                                          <p:attrName>style.visibility</p:attrName>
                                        </p:attrNameLst>
                                      </p:cBhvr>
                                      <p:to>
                                        <p:strVal val="visible"/>
                                      </p:to>
                                    </p:set>
                                    <p:anim calcmode="lin" valueType="num">
                                      <p:cBhvr additive="base">
                                        <p:cTn id="18" dur="75" fill="hold"/>
                                        <p:tgtEl>
                                          <p:spTgt spid="77"/>
                                        </p:tgtEl>
                                        <p:attrNameLst>
                                          <p:attrName>ppt_x</p:attrName>
                                        </p:attrNameLst>
                                      </p:cBhvr>
                                      <p:tavLst>
                                        <p:tav tm="0">
                                          <p:val>
                                            <p:strVal val="#ppt_x"/>
                                          </p:val>
                                        </p:tav>
                                        <p:tav tm="100000">
                                          <p:val>
                                            <p:strVal val="#ppt_x"/>
                                          </p:val>
                                        </p:tav>
                                      </p:tavLst>
                                    </p:anim>
                                    <p:anim calcmode="lin" valueType="num">
                                      <p:cBhvr additive="base">
                                        <p:cTn id="19" dur="75" fill="hold"/>
                                        <p:tgtEl>
                                          <p:spTgt spid="77"/>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71"/>
                                        </p:tgtEl>
                                        <p:attrNameLst>
                                          <p:attrName>style.visibility</p:attrName>
                                        </p:attrNameLst>
                                      </p:cBhvr>
                                      <p:to>
                                        <p:strVal val="visible"/>
                                      </p:to>
                                    </p:set>
                                    <p:anim calcmode="lin" valueType="num">
                                      <p:cBhvr additive="base">
                                        <p:cTn id="24" dur="500" fill="hold"/>
                                        <p:tgtEl>
                                          <p:spTgt spid="71"/>
                                        </p:tgtEl>
                                        <p:attrNameLst>
                                          <p:attrName>ppt_x</p:attrName>
                                        </p:attrNameLst>
                                      </p:cBhvr>
                                      <p:tavLst>
                                        <p:tav tm="0">
                                          <p:val>
                                            <p:strVal val="#ppt_x"/>
                                          </p:val>
                                        </p:tav>
                                        <p:tav tm="100000">
                                          <p:val>
                                            <p:strVal val="#ppt_x"/>
                                          </p:val>
                                        </p:tav>
                                      </p:tavLst>
                                    </p:anim>
                                    <p:anim calcmode="lin" valueType="num">
                                      <p:cBhvr additive="base">
                                        <p:cTn id="25" dur="500" fill="hold"/>
                                        <p:tgtEl>
                                          <p:spTgt spid="71"/>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72"/>
                                        </p:tgtEl>
                                        <p:attrNameLst>
                                          <p:attrName>style.visibility</p:attrName>
                                        </p:attrNameLst>
                                      </p:cBhvr>
                                      <p:to>
                                        <p:strVal val="visible"/>
                                      </p:to>
                                    </p:set>
                                    <p:anim calcmode="lin" valueType="num">
                                      <p:cBhvr additive="base">
                                        <p:cTn id="30" dur="500" fill="hold"/>
                                        <p:tgtEl>
                                          <p:spTgt spid="72"/>
                                        </p:tgtEl>
                                        <p:attrNameLst>
                                          <p:attrName>ppt_x</p:attrName>
                                        </p:attrNameLst>
                                      </p:cBhvr>
                                      <p:tavLst>
                                        <p:tav tm="0">
                                          <p:val>
                                            <p:strVal val="#ppt_x"/>
                                          </p:val>
                                        </p:tav>
                                        <p:tav tm="100000">
                                          <p:val>
                                            <p:strVal val="#ppt_x"/>
                                          </p:val>
                                        </p:tav>
                                      </p:tavLst>
                                    </p:anim>
                                    <p:anim calcmode="lin" valueType="num">
                                      <p:cBhvr additive="base">
                                        <p:cTn id="31" dur="500" fill="hold"/>
                                        <p:tgtEl>
                                          <p:spTgt spid="72"/>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73"/>
                                        </p:tgtEl>
                                        <p:attrNameLst>
                                          <p:attrName>style.visibility</p:attrName>
                                        </p:attrNameLst>
                                      </p:cBhvr>
                                      <p:to>
                                        <p:strVal val="visible"/>
                                      </p:to>
                                    </p:set>
                                    <p:anim calcmode="lin" valueType="num">
                                      <p:cBhvr additive="base">
                                        <p:cTn id="36" dur="500" fill="hold"/>
                                        <p:tgtEl>
                                          <p:spTgt spid="73"/>
                                        </p:tgtEl>
                                        <p:attrNameLst>
                                          <p:attrName>ppt_x</p:attrName>
                                        </p:attrNameLst>
                                      </p:cBhvr>
                                      <p:tavLst>
                                        <p:tav tm="0">
                                          <p:val>
                                            <p:strVal val="#ppt_x"/>
                                          </p:val>
                                        </p:tav>
                                        <p:tav tm="100000">
                                          <p:val>
                                            <p:strVal val="#ppt_x"/>
                                          </p:val>
                                        </p:tav>
                                      </p:tavLst>
                                    </p:anim>
                                    <p:anim calcmode="lin" valueType="num">
                                      <p:cBhvr additive="base">
                                        <p:cTn id="37" dur="500" fill="hold"/>
                                        <p:tgtEl>
                                          <p:spTgt spid="73"/>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iterate type="lt">
                                    <p:tmPct val="100000"/>
                                  </p:iterate>
                                  <p:childTnLst>
                                    <p:set>
                                      <p:cBhvr>
                                        <p:cTn id="41" dur="1" fill="hold">
                                          <p:stCondLst>
                                            <p:cond delay="0"/>
                                          </p:stCondLst>
                                        </p:cTn>
                                        <p:tgtEl>
                                          <p:spTgt spid="78"/>
                                        </p:tgtEl>
                                        <p:attrNameLst>
                                          <p:attrName>style.visibility</p:attrName>
                                        </p:attrNameLst>
                                      </p:cBhvr>
                                      <p:to>
                                        <p:strVal val="visible"/>
                                      </p:to>
                                    </p:set>
                                    <p:anim calcmode="lin" valueType="num">
                                      <p:cBhvr additive="base">
                                        <p:cTn id="42" dur="75" fill="hold"/>
                                        <p:tgtEl>
                                          <p:spTgt spid="78"/>
                                        </p:tgtEl>
                                        <p:attrNameLst>
                                          <p:attrName>ppt_x</p:attrName>
                                        </p:attrNameLst>
                                      </p:cBhvr>
                                      <p:tavLst>
                                        <p:tav tm="0">
                                          <p:val>
                                            <p:strVal val="#ppt_x"/>
                                          </p:val>
                                        </p:tav>
                                        <p:tav tm="100000">
                                          <p:val>
                                            <p:strVal val="#ppt_x"/>
                                          </p:val>
                                        </p:tav>
                                      </p:tavLst>
                                    </p:anim>
                                    <p:anim calcmode="lin" valueType="num">
                                      <p:cBhvr additive="base">
                                        <p:cTn id="43" dur="75" fill="hold"/>
                                        <p:tgtEl>
                                          <p:spTgt spid="78"/>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iterate type="lt">
                                    <p:tmPct val="100000"/>
                                  </p:iterate>
                                  <p:childTnLst>
                                    <p:set>
                                      <p:cBhvr>
                                        <p:cTn id="47" dur="1" fill="hold">
                                          <p:stCondLst>
                                            <p:cond delay="0"/>
                                          </p:stCondLst>
                                        </p:cTn>
                                        <p:tgtEl>
                                          <p:spTgt spid="107"/>
                                        </p:tgtEl>
                                        <p:attrNameLst>
                                          <p:attrName>style.visibility</p:attrName>
                                        </p:attrNameLst>
                                      </p:cBhvr>
                                      <p:to>
                                        <p:strVal val="visible"/>
                                      </p:to>
                                    </p:set>
                                    <p:anim calcmode="lin" valueType="num">
                                      <p:cBhvr additive="base">
                                        <p:cTn id="48" dur="75" fill="hold"/>
                                        <p:tgtEl>
                                          <p:spTgt spid="107"/>
                                        </p:tgtEl>
                                        <p:attrNameLst>
                                          <p:attrName>ppt_x</p:attrName>
                                        </p:attrNameLst>
                                      </p:cBhvr>
                                      <p:tavLst>
                                        <p:tav tm="0">
                                          <p:val>
                                            <p:strVal val="#ppt_x"/>
                                          </p:val>
                                        </p:tav>
                                        <p:tav tm="100000">
                                          <p:val>
                                            <p:strVal val="#ppt_x"/>
                                          </p:val>
                                        </p:tav>
                                      </p:tavLst>
                                    </p:anim>
                                    <p:anim calcmode="lin" valueType="num">
                                      <p:cBhvr additive="base">
                                        <p:cTn id="49" dur="75" fill="hold"/>
                                        <p:tgtEl>
                                          <p:spTgt spid="107"/>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grpId="0" nodeType="clickEffect">
                                  <p:stCondLst>
                                    <p:cond delay="0"/>
                                  </p:stCondLst>
                                  <p:iterate type="lt">
                                    <p:tmPct val="100000"/>
                                  </p:iterate>
                                  <p:childTnLst>
                                    <p:set>
                                      <p:cBhvr>
                                        <p:cTn id="53" dur="1" fill="hold">
                                          <p:stCondLst>
                                            <p:cond delay="0"/>
                                          </p:stCondLst>
                                        </p:cTn>
                                        <p:tgtEl>
                                          <p:spTgt spid="108"/>
                                        </p:tgtEl>
                                        <p:attrNameLst>
                                          <p:attrName>style.visibility</p:attrName>
                                        </p:attrNameLst>
                                      </p:cBhvr>
                                      <p:to>
                                        <p:strVal val="visible"/>
                                      </p:to>
                                    </p:set>
                                    <p:anim calcmode="lin" valueType="num">
                                      <p:cBhvr additive="base">
                                        <p:cTn id="54" dur="75" fill="hold"/>
                                        <p:tgtEl>
                                          <p:spTgt spid="108"/>
                                        </p:tgtEl>
                                        <p:attrNameLst>
                                          <p:attrName>ppt_x</p:attrName>
                                        </p:attrNameLst>
                                      </p:cBhvr>
                                      <p:tavLst>
                                        <p:tav tm="0">
                                          <p:val>
                                            <p:strVal val="#ppt_x"/>
                                          </p:val>
                                        </p:tav>
                                        <p:tav tm="100000">
                                          <p:val>
                                            <p:strVal val="#ppt_x"/>
                                          </p:val>
                                        </p:tav>
                                      </p:tavLst>
                                    </p:anim>
                                    <p:anim calcmode="lin" valueType="num">
                                      <p:cBhvr additive="base">
                                        <p:cTn id="55" dur="75" fill="hold"/>
                                        <p:tgtEl>
                                          <p:spTgt spid="10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animBg="1"/>
      <p:bldP spid="76" grpId="0" animBg="1" autoUpdateAnimBg="0"/>
      <p:bldP spid="77" grpId="0" animBg="1" autoUpdateAnimBg="0"/>
      <p:bldP spid="78" grpId="0" animBg="1" autoUpdateAnimBg="0"/>
      <p:bldP spid="107" grpId="0" animBg="1" autoUpdateAnimBg="0"/>
      <p:bldP spid="108" grpId="0" animBg="1"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251519" y="5250904"/>
            <a:ext cx="8713093" cy="914400"/>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3470" dir="2700000" algn="ctr" rotWithShape="0">
                    <a:schemeClr val="bg2"/>
                  </a:outerShdw>
                </a:effectLst>
              </a14:hiddenEffects>
            </a:ext>
          </a:extLst>
        </p:spPr>
        <p:txBody>
          <a:bodyPr lIns="92075" tIns="46038" rIns="92075" bIns="46038" anchor="ct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fontAlgn="b" hangingPunct="1">
              <a:lnSpc>
                <a:spcPct val="130000"/>
              </a:lnSpc>
              <a:spcBef>
                <a:spcPct val="0"/>
              </a:spcBef>
              <a:buFontTx/>
              <a:buNone/>
            </a:pPr>
            <a:r>
              <a:rPr lang="en-US" altLang="zh-CN" sz="2400" b="1" dirty="0">
                <a:solidFill>
                  <a:srgbClr val="0000FF"/>
                </a:solidFill>
                <a:latin typeface="宋体" pitchFamily="2" charset="-122"/>
              </a:rPr>
              <a:t>1</a:t>
            </a:r>
            <a:r>
              <a:rPr lang="zh-CN" altLang="en-US" sz="2400" b="1" dirty="0">
                <a:solidFill>
                  <a:srgbClr val="0000FF"/>
                </a:solidFill>
                <a:latin typeface="宋体" pitchFamily="2" charset="-122"/>
              </a:rPr>
              <a:t>、梁在简单载荷作用下挠度、转角应为已知或有变形表可查；</a:t>
            </a:r>
            <a:br>
              <a:rPr lang="zh-CN" altLang="en-US" sz="2400" b="1" dirty="0">
                <a:solidFill>
                  <a:srgbClr val="0000FF"/>
                </a:solidFill>
                <a:latin typeface="宋体" pitchFamily="2" charset="-122"/>
              </a:rPr>
            </a:br>
            <a:r>
              <a:rPr lang="en-US" altLang="zh-CN" sz="2400" b="1" dirty="0">
                <a:solidFill>
                  <a:srgbClr val="0000FF"/>
                </a:solidFill>
                <a:latin typeface="宋体" pitchFamily="2" charset="-122"/>
              </a:rPr>
              <a:t>2</a:t>
            </a:r>
            <a:r>
              <a:rPr lang="zh-CN" altLang="en-US" sz="2400" b="1" dirty="0">
                <a:solidFill>
                  <a:srgbClr val="0000FF"/>
                </a:solidFill>
                <a:latin typeface="宋体" pitchFamily="2" charset="-122"/>
              </a:rPr>
              <a:t>、叠加法适用于求梁个别截面的挠度或转角值。</a:t>
            </a:r>
          </a:p>
        </p:txBody>
      </p:sp>
      <p:graphicFrame>
        <p:nvGraphicFramePr>
          <p:cNvPr id="3" name="Object 3"/>
          <p:cNvGraphicFramePr>
            <a:graphicFrameLocks noChangeAspect="1"/>
          </p:cNvGraphicFramePr>
          <p:nvPr>
            <p:extLst>
              <p:ext uri="{D42A27DB-BD31-4B8C-83A1-F6EECF244321}">
                <p14:modId xmlns:p14="http://schemas.microsoft.com/office/powerpoint/2010/main" val="1008405400"/>
              </p:ext>
            </p:extLst>
          </p:nvPr>
        </p:nvGraphicFramePr>
        <p:xfrm>
          <a:off x="809625" y="3462338"/>
          <a:ext cx="7185025" cy="528637"/>
        </p:xfrm>
        <a:graphic>
          <a:graphicData uri="http://schemas.openxmlformats.org/presentationml/2006/ole">
            <mc:AlternateContent xmlns:mc="http://schemas.openxmlformats.org/markup-compatibility/2006">
              <mc:Choice xmlns:v="urn:schemas-microsoft-com:vml" Requires="v">
                <p:oleObj name="Equation" r:id="rId2" imgW="3302000" imgH="228600" progId="">
                  <p:embed/>
                </p:oleObj>
              </mc:Choice>
              <mc:Fallback>
                <p:oleObj name="Equation" r:id="rId2" imgW="3302000" imgH="228600" progId="">
                  <p:embed/>
                  <p:pic>
                    <p:nvPicPr>
                      <p:cNvPr id="0" name="Picture 4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9625" y="3462338"/>
                        <a:ext cx="7185025" cy="5286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4"/>
          <p:cNvGraphicFramePr>
            <a:graphicFrameLocks noChangeAspect="1"/>
          </p:cNvGraphicFramePr>
          <p:nvPr>
            <p:extLst>
              <p:ext uri="{D42A27DB-BD31-4B8C-83A1-F6EECF244321}">
                <p14:modId xmlns:p14="http://schemas.microsoft.com/office/powerpoint/2010/main" val="3267677196"/>
              </p:ext>
            </p:extLst>
          </p:nvPr>
        </p:nvGraphicFramePr>
        <p:xfrm>
          <a:off x="744538" y="4038600"/>
          <a:ext cx="7469187" cy="533400"/>
        </p:xfrm>
        <a:graphic>
          <a:graphicData uri="http://schemas.openxmlformats.org/presentationml/2006/ole">
            <mc:AlternateContent xmlns:mc="http://schemas.openxmlformats.org/markup-compatibility/2006">
              <mc:Choice xmlns:v="urn:schemas-microsoft-com:vml" Requires="v">
                <p:oleObj name="公式" r:id="rId4" imgW="3213100" imgH="228600" progId="">
                  <p:embed/>
                </p:oleObj>
              </mc:Choice>
              <mc:Fallback>
                <p:oleObj name="公式" r:id="rId4" imgW="3213100" imgH="228600" progId="">
                  <p:embed/>
                  <p:pic>
                    <p:nvPicPr>
                      <p:cNvPr id="0" name="Picture 4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4538" y="4038600"/>
                        <a:ext cx="7469187"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Text Box 5"/>
          <p:cNvSpPr txBox="1">
            <a:spLocks noChangeArrowheads="1"/>
          </p:cNvSpPr>
          <p:nvPr/>
        </p:nvSpPr>
        <p:spPr bwMode="auto">
          <a:xfrm>
            <a:off x="141405" y="1843088"/>
            <a:ext cx="4473575" cy="457200"/>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zh-CN" altLang="en-US" sz="2400" b="1">
                <a:solidFill>
                  <a:srgbClr val="0000FF"/>
                </a:solidFill>
                <a:latin typeface="宋体" pitchFamily="2" charset="-122"/>
              </a:rPr>
              <a:t>一、前提条件：弹性、小变形。</a:t>
            </a:r>
          </a:p>
        </p:txBody>
      </p:sp>
      <p:sp>
        <p:nvSpPr>
          <p:cNvPr id="6" name="Text Box 7"/>
          <p:cNvSpPr txBox="1">
            <a:spLocks noChangeArrowheads="1"/>
          </p:cNvSpPr>
          <p:nvPr/>
        </p:nvSpPr>
        <p:spPr bwMode="auto">
          <a:xfrm>
            <a:off x="228600" y="4648200"/>
            <a:ext cx="2941638" cy="457200"/>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zh-CN" altLang="en-US" sz="2400" b="1">
                <a:solidFill>
                  <a:srgbClr val="0000FF"/>
                </a:solidFill>
              </a:rPr>
              <a:t>三、叠加法的特征：</a:t>
            </a:r>
          </a:p>
        </p:txBody>
      </p:sp>
      <p:graphicFrame>
        <p:nvGraphicFramePr>
          <p:cNvPr id="7" name="Object 11"/>
          <p:cNvGraphicFramePr>
            <a:graphicFrameLocks noChangeAspect="1"/>
          </p:cNvGraphicFramePr>
          <p:nvPr>
            <p:extLst>
              <p:ext uri="{D42A27DB-BD31-4B8C-83A1-F6EECF244321}">
                <p14:modId xmlns:p14="http://schemas.microsoft.com/office/powerpoint/2010/main" val="3174290587"/>
              </p:ext>
            </p:extLst>
          </p:nvPr>
        </p:nvGraphicFramePr>
        <p:xfrm>
          <a:off x="568325" y="1144166"/>
          <a:ext cx="2290763" cy="438150"/>
        </p:xfrm>
        <a:graphic>
          <a:graphicData uri="http://schemas.openxmlformats.org/presentationml/2006/ole">
            <mc:AlternateContent xmlns:mc="http://schemas.openxmlformats.org/markup-compatibility/2006">
              <mc:Choice xmlns:v="urn:schemas-microsoft-com:vml" Requires="v">
                <p:oleObj name="公式" r:id="rId6" imgW="812447" imgH="203112" progId="">
                  <p:embed/>
                </p:oleObj>
              </mc:Choice>
              <mc:Fallback>
                <p:oleObj name="公式" r:id="rId6" imgW="812447" imgH="203112" progId="">
                  <p:embed/>
                  <p:pic>
                    <p:nvPicPr>
                      <p:cNvPr id="0" name="Picture 4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8325" y="1144166"/>
                        <a:ext cx="2290763" cy="43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 name="Object 12"/>
          <p:cNvGraphicFramePr>
            <a:graphicFrameLocks noChangeAspect="1"/>
          </p:cNvGraphicFramePr>
          <p:nvPr>
            <p:extLst>
              <p:ext uri="{D42A27DB-BD31-4B8C-83A1-F6EECF244321}">
                <p14:modId xmlns:p14="http://schemas.microsoft.com/office/powerpoint/2010/main" val="2251341758"/>
              </p:ext>
            </p:extLst>
          </p:nvPr>
        </p:nvGraphicFramePr>
        <p:xfrm>
          <a:off x="3276600" y="1009229"/>
          <a:ext cx="3048000" cy="763587"/>
        </p:xfrm>
        <a:graphic>
          <a:graphicData uri="http://schemas.openxmlformats.org/presentationml/2006/ole">
            <mc:AlternateContent xmlns:mc="http://schemas.openxmlformats.org/markup-compatibility/2006">
              <mc:Choice xmlns:v="urn:schemas-microsoft-com:vml" Requires="v">
                <p:oleObj name="公式" r:id="rId8" imgW="1397000" imgH="457200" progId="">
                  <p:embed/>
                </p:oleObj>
              </mc:Choice>
              <mc:Fallback>
                <p:oleObj name="公式" r:id="rId8" imgW="1397000" imgH="457200" progId="">
                  <p:embed/>
                  <p:pic>
                    <p:nvPicPr>
                      <p:cNvPr id="0" name="Picture 4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76600" y="1009229"/>
                        <a:ext cx="3048000" cy="763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 name="AutoShape 13"/>
          <p:cNvSpPr>
            <a:spLocks/>
          </p:cNvSpPr>
          <p:nvPr/>
        </p:nvSpPr>
        <p:spPr bwMode="auto">
          <a:xfrm>
            <a:off x="3048000" y="1039391"/>
            <a:ext cx="76200" cy="685800"/>
          </a:xfrm>
          <a:prstGeom prst="leftBrace">
            <a:avLst>
              <a:gd name="adj1" fmla="val 75000"/>
              <a:gd name="adj2" fmla="val 50000"/>
            </a:avLst>
          </a:prstGeom>
          <a:noFill/>
          <a:ln w="2857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endParaRPr lang="zh-CN" altLang="en-US" sz="2400" b="1">
              <a:solidFill>
                <a:srgbClr val="0000FF"/>
              </a:solidFill>
            </a:endParaRPr>
          </a:p>
        </p:txBody>
      </p:sp>
      <p:sp>
        <p:nvSpPr>
          <p:cNvPr id="10" name="Rectangle 14"/>
          <p:cNvSpPr txBox="1">
            <a:spLocks noChangeArrowheads="1"/>
          </p:cNvSpPr>
          <p:nvPr/>
        </p:nvSpPr>
        <p:spPr>
          <a:xfrm>
            <a:off x="179512" y="457200"/>
            <a:ext cx="3657600" cy="457200"/>
          </a:xfrm>
          <a:prstGeom prst="rect">
            <a:avLst/>
          </a:prstGeom>
          <a:ln w="28575">
            <a:solidFill>
              <a:srgbClr val="FF0000"/>
            </a:solidFill>
          </a:ln>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400" b="1" dirty="0">
                <a:solidFill>
                  <a:srgbClr val="FF0000"/>
                </a:solidFill>
                <a:latin typeface="黑体" pitchFamily="49" charset="-122"/>
                <a:ea typeface="黑体" pitchFamily="49" charset="-122"/>
              </a:rPr>
              <a:t>叠加法</a:t>
            </a:r>
            <a:r>
              <a:rPr lang="zh-CN" altLang="en-US" sz="2400" b="1" dirty="0">
                <a:solidFill>
                  <a:srgbClr val="0000FF"/>
                </a:solidFill>
                <a:latin typeface="黑体" pitchFamily="49" charset="-122"/>
                <a:ea typeface="黑体" pitchFamily="49" charset="-122"/>
              </a:rPr>
              <a:t>计算梁的变形</a:t>
            </a:r>
            <a:endParaRPr lang="zh-CN" altLang="en-US" sz="2400" b="1" dirty="0">
              <a:solidFill>
                <a:srgbClr val="0000FF"/>
              </a:solidFill>
            </a:endParaRPr>
          </a:p>
        </p:txBody>
      </p:sp>
      <p:sp>
        <p:nvSpPr>
          <p:cNvPr id="11" name="Text Box 6"/>
          <p:cNvSpPr txBox="1">
            <a:spLocks noChangeArrowheads="1"/>
          </p:cNvSpPr>
          <p:nvPr/>
        </p:nvSpPr>
        <p:spPr bwMode="auto">
          <a:xfrm>
            <a:off x="136525" y="2404808"/>
            <a:ext cx="8828088" cy="952184"/>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lnSpc>
                <a:spcPct val="125000"/>
              </a:lnSpc>
              <a:spcBef>
                <a:spcPct val="0"/>
              </a:spcBef>
              <a:buFontTx/>
              <a:buNone/>
            </a:pPr>
            <a:r>
              <a:rPr lang="zh-CN" altLang="en-US" sz="2400" b="1" dirty="0">
                <a:solidFill>
                  <a:srgbClr val="0000FF"/>
                </a:solidFill>
                <a:latin typeface="宋体" pitchFamily="2" charset="-122"/>
              </a:rPr>
              <a:t>二、叠加原理：各荷载同时作用下，梁任一截面的挠度或转角，等于各荷载分别单独作用下同一梁同一截面挠度或转角的代数和。</a:t>
            </a:r>
          </a:p>
        </p:txBody>
      </p:sp>
    </p:spTree>
    <p:extLst>
      <p:ext uri="{BB962C8B-B14F-4D97-AF65-F5344CB8AC3E}">
        <p14:creationId xmlns:p14="http://schemas.microsoft.com/office/powerpoint/2010/main" val="2802697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499"/>
                                          </p:stCondLst>
                                        </p:cTn>
                                        <p:tgtEl>
                                          <p:spTgt spid="7"/>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9"/>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499"/>
                                          </p:stCondLst>
                                        </p:cTn>
                                        <p:tgtEl>
                                          <p:spTgt spid="8"/>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iterate type="lt">
                                    <p:tmPct val="100000"/>
                                  </p:iterate>
                                  <p:childTnLst>
                                    <p:set>
                                      <p:cBhvr>
                                        <p:cTn id="23" dur="1" fill="hold">
                                          <p:stCondLst>
                                            <p:cond delay="0"/>
                                          </p:stCondLst>
                                        </p:cTn>
                                        <p:tgtEl>
                                          <p:spTgt spid="5"/>
                                        </p:tgtEl>
                                        <p:attrNameLst>
                                          <p:attrName>style.visibility</p:attrName>
                                        </p:attrNameLst>
                                      </p:cBhvr>
                                      <p:to>
                                        <p:strVal val="visible"/>
                                      </p:to>
                                    </p:set>
                                    <p:anim calcmode="lin" valueType="num">
                                      <p:cBhvr additive="base">
                                        <p:cTn id="24" dur="75" fill="hold"/>
                                        <p:tgtEl>
                                          <p:spTgt spid="5"/>
                                        </p:tgtEl>
                                        <p:attrNameLst>
                                          <p:attrName>ppt_x</p:attrName>
                                        </p:attrNameLst>
                                      </p:cBhvr>
                                      <p:tavLst>
                                        <p:tav tm="0">
                                          <p:val>
                                            <p:strVal val="#ppt_x"/>
                                          </p:val>
                                        </p:tav>
                                        <p:tav tm="100000">
                                          <p:val>
                                            <p:strVal val="#ppt_x"/>
                                          </p:val>
                                        </p:tav>
                                      </p:tavLst>
                                    </p:anim>
                                    <p:anim calcmode="lin" valueType="num">
                                      <p:cBhvr additive="base">
                                        <p:cTn id="25" dur="75"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iterate type="lt">
                                    <p:tmPct val="100000"/>
                                  </p:iterate>
                                  <p:childTnLst>
                                    <p:set>
                                      <p:cBhvr>
                                        <p:cTn id="29" dur="1" fill="hold">
                                          <p:stCondLst>
                                            <p:cond delay="0"/>
                                          </p:stCondLst>
                                        </p:cTn>
                                        <p:tgtEl>
                                          <p:spTgt spid="11"/>
                                        </p:tgtEl>
                                        <p:attrNameLst>
                                          <p:attrName>style.visibility</p:attrName>
                                        </p:attrNameLst>
                                      </p:cBhvr>
                                      <p:to>
                                        <p:strVal val="visible"/>
                                      </p:to>
                                    </p:set>
                                    <p:anim calcmode="lin" valueType="num">
                                      <p:cBhvr additive="base">
                                        <p:cTn id="30" dur="75" fill="hold"/>
                                        <p:tgtEl>
                                          <p:spTgt spid="11"/>
                                        </p:tgtEl>
                                        <p:attrNameLst>
                                          <p:attrName>ppt_x</p:attrName>
                                        </p:attrNameLst>
                                      </p:cBhvr>
                                      <p:tavLst>
                                        <p:tav tm="0">
                                          <p:val>
                                            <p:strVal val="#ppt_x"/>
                                          </p:val>
                                        </p:tav>
                                        <p:tav tm="100000">
                                          <p:val>
                                            <p:strVal val="#ppt_x"/>
                                          </p:val>
                                        </p:tav>
                                      </p:tavLst>
                                    </p:anim>
                                    <p:anim calcmode="lin" valueType="num">
                                      <p:cBhvr additive="base">
                                        <p:cTn id="31" dur="75"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3"/>
                                        </p:tgtEl>
                                        <p:attrNameLst>
                                          <p:attrName>style.visibility</p:attrName>
                                        </p:attrNameLst>
                                      </p:cBhvr>
                                      <p:to>
                                        <p:strVal val="visible"/>
                                      </p:to>
                                    </p:set>
                                    <p:anim calcmode="lin" valueType="num">
                                      <p:cBhvr additive="base">
                                        <p:cTn id="36" dur="500" fill="hold"/>
                                        <p:tgtEl>
                                          <p:spTgt spid="3"/>
                                        </p:tgtEl>
                                        <p:attrNameLst>
                                          <p:attrName>ppt_x</p:attrName>
                                        </p:attrNameLst>
                                      </p:cBhvr>
                                      <p:tavLst>
                                        <p:tav tm="0">
                                          <p:val>
                                            <p:strVal val="#ppt_x"/>
                                          </p:val>
                                        </p:tav>
                                        <p:tav tm="100000">
                                          <p:val>
                                            <p:strVal val="#ppt_x"/>
                                          </p:val>
                                        </p:tav>
                                      </p:tavLst>
                                    </p:anim>
                                    <p:anim calcmode="lin" valueType="num">
                                      <p:cBhvr additive="base">
                                        <p:cTn id="37"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4"/>
                                        </p:tgtEl>
                                        <p:attrNameLst>
                                          <p:attrName>style.visibility</p:attrName>
                                        </p:attrNameLst>
                                      </p:cBhvr>
                                      <p:to>
                                        <p:strVal val="visible"/>
                                      </p:to>
                                    </p:set>
                                    <p:anim calcmode="lin" valueType="num">
                                      <p:cBhvr additive="base">
                                        <p:cTn id="42" dur="500" fill="hold"/>
                                        <p:tgtEl>
                                          <p:spTgt spid="4"/>
                                        </p:tgtEl>
                                        <p:attrNameLst>
                                          <p:attrName>ppt_x</p:attrName>
                                        </p:attrNameLst>
                                      </p:cBhvr>
                                      <p:tavLst>
                                        <p:tav tm="0">
                                          <p:val>
                                            <p:strVal val="#ppt_x"/>
                                          </p:val>
                                        </p:tav>
                                        <p:tav tm="100000">
                                          <p:val>
                                            <p:strVal val="#ppt_x"/>
                                          </p:val>
                                        </p:tav>
                                      </p:tavLst>
                                    </p:anim>
                                    <p:anim calcmode="lin" valueType="num">
                                      <p:cBhvr additive="base">
                                        <p:cTn id="4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iterate type="lt">
                                    <p:tmPct val="100000"/>
                                  </p:iterate>
                                  <p:childTnLst>
                                    <p:set>
                                      <p:cBhvr>
                                        <p:cTn id="47" dur="1" fill="hold">
                                          <p:stCondLst>
                                            <p:cond delay="0"/>
                                          </p:stCondLst>
                                        </p:cTn>
                                        <p:tgtEl>
                                          <p:spTgt spid="6"/>
                                        </p:tgtEl>
                                        <p:attrNameLst>
                                          <p:attrName>style.visibility</p:attrName>
                                        </p:attrNameLst>
                                      </p:cBhvr>
                                      <p:to>
                                        <p:strVal val="visible"/>
                                      </p:to>
                                    </p:set>
                                    <p:anim calcmode="lin" valueType="num">
                                      <p:cBhvr additive="base">
                                        <p:cTn id="48" dur="75" fill="hold"/>
                                        <p:tgtEl>
                                          <p:spTgt spid="6"/>
                                        </p:tgtEl>
                                        <p:attrNameLst>
                                          <p:attrName>ppt_x</p:attrName>
                                        </p:attrNameLst>
                                      </p:cBhvr>
                                      <p:tavLst>
                                        <p:tav tm="0">
                                          <p:val>
                                            <p:strVal val="#ppt_x"/>
                                          </p:val>
                                        </p:tav>
                                        <p:tav tm="100000">
                                          <p:val>
                                            <p:strVal val="#ppt_x"/>
                                          </p:val>
                                        </p:tav>
                                      </p:tavLst>
                                    </p:anim>
                                    <p:anim calcmode="lin" valueType="num">
                                      <p:cBhvr additive="base">
                                        <p:cTn id="49" dur="75"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8" fill="hold" grpId="0" nodeType="clickEffect">
                                  <p:stCondLst>
                                    <p:cond delay="0"/>
                                  </p:stCondLst>
                                  <p:childTnLst>
                                    <p:set>
                                      <p:cBhvr>
                                        <p:cTn id="53" dur="1" fill="hold">
                                          <p:stCondLst>
                                            <p:cond delay="0"/>
                                          </p:stCondLst>
                                        </p:cTn>
                                        <p:tgtEl>
                                          <p:spTgt spid="2"/>
                                        </p:tgtEl>
                                        <p:attrNameLst>
                                          <p:attrName>style.visibility</p:attrName>
                                        </p:attrNameLst>
                                      </p:cBhvr>
                                      <p:to>
                                        <p:strVal val="visible"/>
                                      </p:to>
                                    </p:set>
                                    <p:anim calcmode="lin" valueType="num">
                                      <p:cBhvr additive="base">
                                        <p:cTn id="54" dur="500" fill="hold"/>
                                        <p:tgtEl>
                                          <p:spTgt spid="2"/>
                                        </p:tgtEl>
                                        <p:attrNameLst>
                                          <p:attrName>ppt_x</p:attrName>
                                        </p:attrNameLst>
                                      </p:cBhvr>
                                      <p:tavLst>
                                        <p:tav tm="0">
                                          <p:val>
                                            <p:strVal val="0-#ppt_w/2"/>
                                          </p:val>
                                        </p:tav>
                                        <p:tav tm="100000">
                                          <p:val>
                                            <p:strVal val="#ppt_x"/>
                                          </p:val>
                                        </p:tav>
                                      </p:tavLst>
                                    </p:anim>
                                    <p:anim calcmode="lin" valueType="num">
                                      <p:cBhvr additive="base">
                                        <p:cTn id="55"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autoUpdateAnimBg="0"/>
      <p:bldP spid="5" grpId="0" animBg="1" autoUpdateAnimBg="0"/>
      <p:bldP spid="6" grpId="0" animBg="1" autoUpdateAnimBg="0"/>
      <p:bldP spid="9" grpId="0" animBg="1"/>
      <p:bldP spid="10" grpId="0" animBg="1"/>
      <p:bldP spid="11" grpId="0" animBg="1"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p:cNvSpPr>
            <a:spLocks noChangeArrowheads="1"/>
          </p:cNvSpPr>
          <p:nvPr/>
        </p:nvSpPr>
        <p:spPr bwMode="auto">
          <a:xfrm>
            <a:off x="395536" y="643518"/>
            <a:ext cx="8347075" cy="369332"/>
          </a:xfrm>
          <a:prstGeom prst="rect">
            <a:avLst/>
          </a:prstGeom>
          <a:noFill/>
          <a:ln w="28575">
            <a:solidFill>
              <a:srgbClr val="FF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lgn="ctr" eaLnBrk="1" hangingPunct="1">
              <a:spcBef>
                <a:spcPct val="0"/>
              </a:spcBef>
              <a:buFontTx/>
              <a:buNone/>
            </a:pPr>
            <a:r>
              <a:rPr kumimoji="1" lang="zh-CN" altLang="en-US" sz="2400" b="1" dirty="0">
                <a:solidFill>
                  <a:srgbClr val="FF0000"/>
                </a:solidFill>
                <a:latin typeface="楷体" pitchFamily="49" charset="-122"/>
                <a:ea typeface="楷体" pitchFamily="49" charset="-122"/>
              </a:rPr>
              <a:t>第八章  应力状态分析  强度理论</a:t>
            </a:r>
          </a:p>
        </p:txBody>
      </p:sp>
      <p:sp>
        <p:nvSpPr>
          <p:cNvPr id="3" name="Rectangle 2"/>
          <p:cNvSpPr txBox="1">
            <a:spLocks noChangeArrowheads="1"/>
          </p:cNvSpPr>
          <p:nvPr/>
        </p:nvSpPr>
        <p:spPr>
          <a:xfrm>
            <a:off x="395536" y="1588914"/>
            <a:ext cx="8347075" cy="504031"/>
          </a:xfrm>
          <a:prstGeom prst="rect">
            <a:avLst/>
          </a:prstGeom>
          <a:ln w="28575">
            <a:solidFill>
              <a:srgbClr val="FF0000"/>
            </a:solidFill>
          </a:ln>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Tx/>
              <a:buNone/>
              <a:defRPr/>
            </a:pPr>
            <a:r>
              <a:rPr lang="zh-CN" altLang="en-US" sz="2400" b="1" dirty="0">
                <a:solidFill>
                  <a:srgbClr val="0000FF"/>
                </a:solidFill>
                <a:effectLst>
                  <a:outerShdw blurRad="38100" dist="38100" dir="2700000" algn="tl">
                    <a:srgbClr val="C0C0C0"/>
                  </a:outerShdw>
                </a:effectLst>
                <a:latin typeface="黑体" pitchFamily="2" charset="-122"/>
                <a:ea typeface="黑体" pitchFamily="2" charset="-122"/>
              </a:rPr>
              <a:t>过一点不同方位截面上应力情况，称为这一点的</a:t>
            </a:r>
            <a:r>
              <a:rPr lang="zh-CN" altLang="en-US" sz="2400" b="1" u="sng" dirty="0">
                <a:solidFill>
                  <a:srgbClr val="FF0000"/>
                </a:solidFill>
                <a:effectLst>
                  <a:outerShdw blurRad="38100" dist="38100" dir="2700000" algn="tl">
                    <a:srgbClr val="C0C0C0"/>
                  </a:outerShdw>
                </a:effectLst>
                <a:latin typeface="黑体" pitchFamily="2" charset="-122"/>
                <a:ea typeface="黑体" pitchFamily="2" charset="-122"/>
              </a:rPr>
              <a:t>应力状态</a:t>
            </a:r>
            <a:endParaRPr lang="zh-CN" altLang="en-US" sz="2400" dirty="0">
              <a:solidFill>
                <a:srgbClr val="FF0000"/>
              </a:solidFill>
              <a:effectLst>
                <a:outerShdw blurRad="38100" dist="38100" dir="2700000" algn="tl">
                  <a:srgbClr val="C0C0C0"/>
                </a:outerShdw>
              </a:effectLst>
              <a:latin typeface="Times New Roman" pitchFamily="18" charset="0"/>
              <a:ea typeface="黑体" pitchFamily="2" charset="-122"/>
            </a:endParaRPr>
          </a:p>
        </p:txBody>
      </p:sp>
      <p:sp>
        <p:nvSpPr>
          <p:cNvPr id="5" name="Rectangle 10"/>
          <p:cNvSpPr>
            <a:spLocks noChangeArrowheads="1"/>
          </p:cNvSpPr>
          <p:nvPr/>
        </p:nvSpPr>
        <p:spPr bwMode="auto">
          <a:xfrm>
            <a:off x="395536" y="2308994"/>
            <a:ext cx="8318500" cy="457200"/>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kumimoji="1" lang="zh-CN" altLang="en-US" sz="2400" b="1" dirty="0">
                <a:solidFill>
                  <a:srgbClr val="FF0000"/>
                </a:solidFill>
                <a:latin typeface="黑体" pitchFamily="49" charset="-122"/>
                <a:ea typeface="黑体" pitchFamily="49" charset="-122"/>
              </a:rPr>
              <a:t>主平面</a:t>
            </a:r>
            <a:r>
              <a:rPr kumimoji="1" lang="zh-CN" altLang="en-US" sz="2400" b="1" dirty="0">
                <a:solidFill>
                  <a:srgbClr val="0000FF"/>
                </a:solidFill>
                <a:latin typeface="黑体" pitchFamily="49" charset="-122"/>
                <a:ea typeface="黑体" pitchFamily="49" charset="-122"/>
              </a:rPr>
              <a:t>：切应力为零的平面。</a:t>
            </a:r>
          </a:p>
        </p:txBody>
      </p:sp>
      <p:sp>
        <p:nvSpPr>
          <p:cNvPr id="6" name="Rectangle 11"/>
          <p:cNvSpPr>
            <a:spLocks noChangeArrowheads="1"/>
          </p:cNvSpPr>
          <p:nvPr/>
        </p:nvSpPr>
        <p:spPr bwMode="auto">
          <a:xfrm>
            <a:off x="395536" y="3075112"/>
            <a:ext cx="8318500" cy="457200"/>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kumimoji="1" lang="zh-CN" altLang="en-US" sz="2400" b="1" dirty="0">
                <a:solidFill>
                  <a:srgbClr val="FF0000"/>
                </a:solidFill>
                <a:latin typeface="黑体" pitchFamily="49" charset="-122"/>
                <a:ea typeface="黑体" pitchFamily="49" charset="-122"/>
              </a:rPr>
              <a:t>主应力</a:t>
            </a:r>
            <a:r>
              <a:rPr kumimoji="1" lang="zh-CN" altLang="en-US" sz="2400" b="1" dirty="0">
                <a:solidFill>
                  <a:srgbClr val="0000FF"/>
                </a:solidFill>
                <a:latin typeface="黑体" pitchFamily="49" charset="-122"/>
                <a:ea typeface="黑体" pitchFamily="49" charset="-122"/>
              </a:rPr>
              <a:t>：作用于主平面上的正应力。</a:t>
            </a:r>
          </a:p>
        </p:txBody>
      </p:sp>
      <p:sp>
        <p:nvSpPr>
          <p:cNvPr id="23" name="Rectangle 28"/>
          <p:cNvSpPr>
            <a:spLocks noChangeArrowheads="1"/>
          </p:cNvSpPr>
          <p:nvPr/>
        </p:nvSpPr>
        <p:spPr bwMode="auto">
          <a:xfrm>
            <a:off x="395536" y="4541242"/>
            <a:ext cx="8318500" cy="457200"/>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lnSpc>
                <a:spcPct val="90000"/>
              </a:lnSpc>
              <a:buFontTx/>
              <a:buNone/>
            </a:pPr>
            <a:r>
              <a:rPr lang="zh-CN" altLang="en-US" sz="2400" b="1" dirty="0">
                <a:solidFill>
                  <a:srgbClr val="FF0000"/>
                </a:solidFill>
                <a:latin typeface="黑体" pitchFamily="49" charset="-122"/>
                <a:ea typeface="黑体" pitchFamily="49" charset="-122"/>
              </a:rPr>
              <a:t>主应力排列规定</a:t>
            </a:r>
            <a:r>
              <a:rPr lang="zh-CN" altLang="en-US" sz="2400" b="1" dirty="0">
                <a:solidFill>
                  <a:srgbClr val="0000FF"/>
                </a:solidFill>
                <a:latin typeface="黑体" pitchFamily="49" charset="-122"/>
                <a:ea typeface="黑体" pitchFamily="49" charset="-122"/>
              </a:rPr>
              <a:t>：按代数值由大到小</a:t>
            </a:r>
            <a:r>
              <a:rPr lang="zh-CN" altLang="en-US" sz="2400" dirty="0">
                <a:solidFill>
                  <a:srgbClr val="0000FF"/>
                </a:solidFill>
                <a:latin typeface="黑体" pitchFamily="49" charset="-122"/>
                <a:ea typeface="黑体" pitchFamily="49" charset="-122"/>
              </a:rPr>
              <a:t>。</a:t>
            </a:r>
          </a:p>
        </p:txBody>
      </p:sp>
      <p:graphicFrame>
        <p:nvGraphicFramePr>
          <p:cNvPr id="24" name="Object 29"/>
          <p:cNvGraphicFramePr>
            <a:graphicFrameLocks noChangeAspect="1"/>
          </p:cNvGraphicFramePr>
          <p:nvPr>
            <p:extLst>
              <p:ext uri="{D42A27DB-BD31-4B8C-83A1-F6EECF244321}">
                <p14:modId xmlns:p14="http://schemas.microsoft.com/office/powerpoint/2010/main" val="4095169370"/>
              </p:ext>
            </p:extLst>
          </p:nvPr>
        </p:nvGraphicFramePr>
        <p:xfrm>
          <a:off x="3707904" y="5189314"/>
          <a:ext cx="2790825" cy="615950"/>
        </p:xfrm>
        <a:graphic>
          <a:graphicData uri="http://schemas.openxmlformats.org/presentationml/2006/ole">
            <mc:AlternateContent xmlns:mc="http://schemas.openxmlformats.org/markup-compatibility/2006">
              <mc:Choice xmlns:v="urn:schemas-microsoft-com:vml" Requires="v">
                <p:oleObj name="公式" r:id="rId2" imgW="825500" imgH="228600" progId="">
                  <p:embed/>
                </p:oleObj>
              </mc:Choice>
              <mc:Fallback>
                <p:oleObj name="公式" r:id="rId2" imgW="825500" imgH="228600" progId="">
                  <p:embed/>
                  <p:pic>
                    <p:nvPicPr>
                      <p:cNvPr id="0"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07904" y="5189314"/>
                        <a:ext cx="2790825" cy="615950"/>
                      </a:xfrm>
                      <a:prstGeom prst="rect">
                        <a:avLst/>
                      </a:prstGeom>
                      <a:noFill/>
                      <a:extLst>
                        <a:ext uri="{909E8E84-426E-40DD-AFC4-6F175D3DCCD1}">
                          <a14:hiddenFill xmlns:a14="http://schemas.microsoft.com/office/drawing/2010/main">
                            <a:solidFill>
                              <a:srgbClr val="FF9999"/>
                            </a:solidFill>
                          </a14:hiddenFill>
                        </a:ext>
                      </a:extLst>
                    </p:spPr>
                  </p:pic>
                </p:oleObj>
              </mc:Fallback>
            </mc:AlternateContent>
          </a:graphicData>
        </a:graphic>
      </p:graphicFrame>
      <p:sp>
        <p:nvSpPr>
          <p:cNvPr id="25" name="Rectangle 31"/>
          <p:cNvSpPr>
            <a:spLocks noChangeArrowheads="1"/>
          </p:cNvSpPr>
          <p:nvPr/>
        </p:nvSpPr>
        <p:spPr bwMode="auto">
          <a:xfrm>
            <a:off x="395536" y="3796010"/>
            <a:ext cx="8318500" cy="457200"/>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kumimoji="1" lang="zh-CN" altLang="en-US" sz="2400" b="1" dirty="0">
                <a:solidFill>
                  <a:srgbClr val="0000FF"/>
                </a:solidFill>
                <a:latin typeface="黑体" pitchFamily="49" charset="-122"/>
                <a:ea typeface="黑体" pitchFamily="49" charset="-122"/>
              </a:rPr>
              <a:t>过一点总存在三对相互垂直的主平面，对应三个主应力</a:t>
            </a:r>
          </a:p>
        </p:txBody>
      </p:sp>
    </p:spTree>
    <p:extLst>
      <p:ext uri="{BB962C8B-B14F-4D97-AF65-F5344CB8AC3E}">
        <p14:creationId xmlns:p14="http://schemas.microsoft.com/office/powerpoint/2010/main" val="129177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500"/>
                                        <p:tgtEl>
                                          <p:spTgt spid="2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fade">
                                      <p:cBhvr>
                                        <p:cTn id="32" dur="500"/>
                                        <p:tgtEl>
                                          <p:spTgt spid="2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6" grpId="0" animBg="1"/>
      <p:bldP spid="23" grpId="0" animBg="1"/>
      <p:bldP spid="25"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3"/>
          <p:cNvSpPr txBox="1">
            <a:spLocks noChangeArrowheads="1"/>
          </p:cNvSpPr>
          <p:nvPr/>
        </p:nvSpPr>
        <p:spPr bwMode="auto">
          <a:xfrm>
            <a:off x="557989" y="332656"/>
            <a:ext cx="7954963" cy="457200"/>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kumimoji="1" lang="zh-CN" altLang="en-US" sz="2400" b="1">
                <a:solidFill>
                  <a:srgbClr val="0000FF"/>
                </a:solidFill>
                <a:latin typeface="黑体" pitchFamily="49" charset="-122"/>
                <a:ea typeface="黑体" pitchFamily="49" charset="-122"/>
              </a:rPr>
              <a:t>平面应力状态</a:t>
            </a:r>
            <a:r>
              <a:rPr kumimoji="1" lang="zh-CN" altLang="en-US" sz="2400">
                <a:solidFill>
                  <a:srgbClr val="0000FF"/>
                </a:solidFill>
                <a:latin typeface="黑体" pitchFamily="49" charset="-122"/>
                <a:ea typeface="黑体" pitchFamily="49" charset="-122"/>
              </a:rPr>
              <a:t>：</a:t>
            </a:r>
            <a:r>
              <a:rPr kumimoji="1" lang="zh-CN" altLang="en-US" sz="2400" b="1">
                <a:solidFill>
                  <a:srgbClr val="0000FF"/>
                </a:solidFill>
                <a:latin typeface="黑体" pitchFamily="49" charset="-122"/>
                <a:ea typeface="黑体" pitchFamily="49" charset="-122"/>
              </a:rPr>
              <a:t>单向应力状态和二向应力状态的总称。</a:t>
            </a:r>
          </a:p>
        </p:txBody>
      </p:sp>
      <p:sp>
        <p:nvSpPr>
          <p:cNvPr id="3" name="Text Box 34"/>
          <p:cNvSpPr txBox="1">
            <a:spLocks noChangeArrowheads="1"/>
          </p:cNvSpPr>
          <p:nvPr/>
        </p:nvSpPr>
        <p:spPr bwMode="auto">
          <a:xfrm>
            <a:off x="513539" y="1932856"/>
            <a:ext cx="7999412" cy="457200"/>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kumimoji="1" lang="zh-CN" altLang="en-US" sz="2400" b="1">
                <a:solidFill>
                  <a:srgbClr val="0000FF"/>
                </a:solidFill>
                <a:latin typeface="黑体" pitchFamily="49" charset="-122"/>
                <a:ea typeface="黑体" pitchFamily="49" charset="-122"/>
              </a:rPr>
              <a:t>复杂应力状态：二向应力状态和三向应力状态的总称。</a:t>
            </a:r>
          </a:p>
        </p:txBody>
      </p:sp>
      <p:sp>
        <p:nvSpPr>
          <p:cNvPr id="4" name="Text Box 35"/>
          <p:cNvSpPr txBox="1">
            <a:spLocks noChangeArrowheads="1"/>
          </p:cNvSpPr>
          <p:nvPr/>
        </p:nvSpPr>
        <p:spPr bwMode="auto">
          <a:xfrm>
            <a:off x="557989" y="866056"/>
            <a:ext cx="7954963" cy="457200"/>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kumimoji="1" lang="zh-CN" altLang="en-US" sz="2400" b="1">
                <a:solidFill>
                  <a:srgbClr val="0000FF"/>
                </a:solidFill>
                <a:latin typeface="黑体" pitchFamily="49" charset="-122"/>
                <a:ea typeface="黑体" pitchFamily="49" charset="-122"/>
              </a:rPr>
              <a:t>空间应力状态</a:t>
            </a:r>
            <a:r>
              <a:rPr kumimoji="1" lang="zh-CN" altLang="en-US" sz="2400">
                <a:solidFill>
                  <a:srgbClr val="0000FF"/>
                </a:solidFill>
                <a:latin typeface="黑体" pitchFamily="49" charset="-122"/>
                <a:ea typeface="黑体" pitchFamily="49" charset="-122"/>
              </a:rPr>
              <a:t>：</a:t>
            </a:r>
            <a:r>
              <a:rPr kumimoji="1" lang="zh-CN" altLang="en-US" sz="2400" b="1">
                <a:solidFill>
                  <a:srgbClr val="0000FF"/>
                </a:solidFill>
                <a:latin typeface="黑体" pitchFamily="49" charset="-122"/>
                <a:ea typeface="黑体" pitchFamily="49" charset="-122"/>
              </a:rPr>
              <a:t>三向应力状态</a:t>
            </a:r>
          </a:p>
        </p:txBody>
      </p:sp>
      <p:sp>
        <p:nvSpPr>
          <p:cNvPr id="5" name="Text Box 36"/>
          <p:cNvSpPr txBox="1">
            <a:spLocks noChangeArrowheads="1"/>
          </p:cNvSpPr>
          <p:nvPr/>
        </p:nvSpPr>
        <p:spPr bwMode="auto">
          <a:xfrm>
            <a:off x="557988" y="1399456"/>
            <a:ext cx="7954963" cy="457200"/>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kumimoji="1" lang="zh-CN" altLang="en-US" sz="2400" b="1">
                <a:solidFill>
                  <a:srgbClr val="0000FF"/>
                </a:solidFill>
                <a:latin typeface="黑体" pitchFamily="49" charset="-122"/>
                <a:ea typeface="黑体" pitchFamily="49" charset="-122"/>
              </a:rPr>
              <a:t>简单应力状态：单向应力状态。</a:t>
            </a:r>
          </a:p>
        </p:txBody>
      </p:sp>
      <p:sp>
        <p:nvSpPr>
          <p:cNvPr id="6" name="Text Box 37"/>
          <p:cNvSpPr txBox="1">
            <a:spLocks noChangeArrowheads="1"/>
          </p:cNvSpPr>
          <p:nvPr/>
        </p:nvSpPr>
        <p:spPr bwMode="auto">
          <a:xfrm>
            <a:off x="519889" y="2491656"/>
            <a:ext cx="7993062" cy="457200"/>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kumimoji="1" lang="zh-CN" altLang="en-US" sz="2400" b="1">
                <a:solidFill>
                  <a:srgbClr val="0000FF"/>
                </a:solidFill>
                <a:latin typeface="黑体" pitchFamily="49" charset="-122"/>
                <a:ea typeface="黑体" pitchFamily="49" charset="-122"/>
              </a:rPr>
              <a:t>纯剪切应力状态</a:t>
            </a:r>
            <a:r>
              <a:rPr kumimoji="1" lang="zh-CN" altLang="en-US" sz="2400">
                <a:solidFill>
                  <a:srgbClr val="0000FF"/>
                </a:solidFill>
                <a:latin typeface="黑体" pitchFamily="49" charset="-122"/>
                <a:ea typeface="黑体" pitchFamily="49" charset="-122"/>
              </a:rPr>
              <a:t>：</a:t>
            </a:r>
            <a:r>
              <a:rPr kumimoji="1" lang="zh-CN" altLang="en-US" sz="2400" b="1">
                <a:solidFill>
                  <a:srgbClr val="0000FF"/>
                </a:solidFill>
                <a:latin typeface="黑体" pitchFamily="49" charset="-122"/>
                <a:ea typeface="黑体" pitchFamily="49" charset="-122"/>
              </a:rPr>
              <a:t>单元体上只存在剪应力无正应力</a:t>
            </a:r>
            <a:r>
              <a:rPr kumimoji="1" lang="zh-CN" altLang="en-US" sz="2400">
                <a:solidFill>
                  <a:srgbClr val="0000FF"/>
                </a:solidFill>
                <a:latin typeface="黑体" pitchFamily="49" charset="-122"/>
                <a:ea typeface="黑体" pitchFamily="49" charset="-122"/>
              </a:rPr>
              <a:t>。</a:t>
            </a:r>
          </a:p>
        </p:txBody>
      </p:sp>
      <p:sp>
        <p:nvSpPr>
          <p:cNvPr id="7" name="Rectangle 6"/>
          <p:cNvSpPr txBox="1">
            <a:spLocks noChangeArrowheads="1"/>
          </p:cNvSpPr>
          <p:nvPr/>
        </p:nvSpPr>
        <p:spPr>
          <a:xfrm>
            <a:off x="513539" y="3140968"/>
            <a:ext cx="7999413" cy="461665"/>
          </a:xfrm>
          <a:prstGeom prst="rect">
            <a:avLst/>
          </a:prstGeom>
          <a:noFill/>
          <a:ln w="28575" cap="flat" cmpd="sng" algn="ctr">
            <a:solidFill>
              <a:srgbClr val="FF0000"/>
            </a:solidFill>
            <a:prstDash val="solid"/>
            <a:miter lim="800000"/>
            <a:headEnd/>
            <a:tailEnd/>
          </a:ln>
        </p:spPr>
        <p:txBody>
          <a:bodyPr vert="horz" wrap="square" lIns="91440" tIns="45720" rIns="91440" bIns="45720" rtlCol="0" anchor="t">
            <a:sp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spcBef>
                <a:spcPct val="50000"/>
              </a:spcBef>
            </a:pPr>
            <a:r>
              <a:rPr kumimoji="1" lang="zh-CN" altLang="en-US" sz="2400" b="1" dirty="0">
                <a:solidFill>
                  <a:srgbClr val="0000FF"/>
                </a:solidFill>
                <a:latin typeface="黑体" pitchFamily="49" charset="-122"/>
                <a:ea typeface="黑体" pitchFamily="49" charset="-122"/>
              </a:rPr>
              <a:t>平面应力的应力状态分析 </a:t>
            </a:r>
            <a:r>
              <a:rPr kumimoji="1" lang="en-US" altLang="zh-CN" sz="2400" b="1" dirty="0">
                <a:solidFill>
                  <a:srgbClr val="0000FF"/>
                </a:solidFill>
                <a:latin typeface="Times New Roman" pitchFamily="18" charset="0"/>
                <a:ea typeface="黑体" pitchFamily="49" charset="-122"/>
              </a:rPr>
              <a:t>—</a:t>
            </a:r>
            <a:r>
              <a:rPr kumimoji="1" lang="en-US" altLang="zh-CN" sz="2400" b="1" dirty="0">
                <a:solidFill>
                  <a:srgbClr val="0000FF"/>
                </a:solidFill>
                <a:latin typeface="黑体" pitchFamily="49" charset="-122"/>
                <a:ea typeface="黑体" pitchFamily="49" charset="-122"/>
              </a:rPr>
              <a:t> </a:t>
            </a:r>
            <a:r>
              <a:rPr kumimoji="1" lang="zh-CN" altLang="en-US" sz="2400" b="1" dirty="0">
                <a:solidFill>
                  <a:srgbClr val="FF0000"/>
                </a:solidFill>
                <a:latin typeface="黑体" pitchFamily="49" charset="-122"/>
                <a:ea typeface="黑体" pitchFamily="49" charset="-122"/>
              </a:rPr>
              <a:t>解析法</a:t>
            </a:r>
          </a:p>
        </p:txBody>
      </p:sp>
      <p:graphicFrame>
        <p:nvGraphicFramePr>
          <p:cNvPr id="8" name="对象 7"/>
          <p:cNvGraphicFramePr>
            <a:graphicFrameLocks noChangeAspect="1"/>
          </p:cNvGraphicFramePr>
          <p:nvPr>
            <p:extLst>
              <p:ext uri="{D42A27DB-BD31-4B8C-83A1-F6EECF244321}">
                <p14:modId xmlns:p14="http://schemas.microsoft.com/office/powerpoint/2010/main" val="1779046434"/>
              </p:ext>
            </p:extLst>
          </p:nvPr>
        </p:nvGraphicFramePr>
        <p:xfrm>
          <a:off x="1508476" y="3861048"/>
          <a:ext cx="6015888" cy="1008112"/>
        </p:xfrm>
        <a:graphic>
          <a:graphicData uri="http://schemas.openxmlformats.org/presentationml/2006/ole">
            <mc:AlternateContent xmlns:mc="http://schemas.openxmlformats.org/markup-compatibility/2006">
              <mc:Choice xmlns:v="urn:schemas-microsoft-com:vml" Requires="v">
                <p:oleObj name="Equation" r:id="rId2" imgW="2616200" imgH="419100" progId="">
                  <p:embed/>
                </p:oleObj>
              </mc:Choice>
              <mc:Fallback>
                <p:oleObj name="Equation" r:id="rId2" imgW="2616200" imgH="419100" progId="">
                  <p:embed/>
                  <p:pic>
                    <p:nvPicPr>
                      <p:cNvPr id="0" name="Picture 2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08476" y="3861048"/>
                        <a:ext cx="6015888" cy="10081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2370210182"/>
              </p:ext>
            </p:extLst>
          </p:nvPr>
        </p:nvGraphicFramePr>
        <p:xfrm>
          <a:off x="1547664" y="4869160"/>
          <a:ext cx="5511321" cy="1132433"/>
        </p:xfrm>
        <a:graphic>
          <a:graphicData uri="http://schemas.openxmlformats.org/presentationml/2006/ole">
            <mc:AlternateContent xmlns:mc="http://schemas.openxmlformats.org/markup-compatibility/2006">
              <mc:Choice xmlns:v="urn:schemas-microsoft-com:vml" Requires="v">
                <p:oleObj name="公式" r:id="rId4" imgW="1954951" imgH="406224" progId="">
                  <p:embed/>
                </p:oleObj>
              </mc:Choice>
              <mc:Fallback>
                <p:oleObj name="公式" r:id="rId4" imgW="1954951" imgH="406224" progId="">
                  <p:embed/>
                  <p:pic>
                    <p:nvPicPr>
                      <p:cNvPr id="0" name="Picture 2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47664" y="4869160"/>
                        <a:ext cx="5511321" cy="113243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873545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additive="base">
                                        <p:cTn id="25" dur="500" fill="hold"/>
                                        <p:tgtEl>
                                          <p:spTgt spid="3"/>
                                        </p:tgtEl>
                                        <p:attrNameLst>
                                          <p:attrName>ppt_x</p:attrName>
                                        </p:attrNameLst>
                                      </p:cBhvr>
                                      <p:tavLst>
                                        <p:tav tm="0">
                                          <p:val>
                                            <p:strVal val="#ppt_x"/>
                                          </p:val>
                                        </p:tav>
                                        <p:tav tm="100000">
                                          <p:val>
                                            <p:strVal val="#ppt_x"/>
                                          </p:val>
                                        </p:tav>
                                      </p:tavLst>
                                    </p:anim>
                                    <p:anim calcmode="lin" valueType="num">
                                      <p:cBhvr additive="base">
                                        <p:cTn id="2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additive="base">
                                        <p:cTn id="31" dur="500" fill="hold"/>
                                        <p:tgtEl>
                                          <p:spTgt spid="6"/>
                                        </p:tgtEl>
                                        <p:attrNameLst>
                                          <p:attrName>ppt_x</p:attrName>
                                        </p:attrNameLst>
                                      </p:cBhvr>
                                      <p:tavLst>
                                        <p:tav tm="0">
                                          <p:val>
                                            <p:strVal val="#ppt_x"/>
                                          </p:val>
                                        </p:tav>
                                        <p:tav tm="100000">
                                          <p:val>
                                            <p:strVal val="#ppt_x"/>
                                          </p:val>
                                        </p:tav>
                                      </p:tavLst>
                                    </p:anim>
                                    <p:anim calcmode="lin" valueType="num">
                                      <p:cBhvr additive="base">
                                        <p:cTn id="3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fade">
                                      <p:cBhvr>
                                        <p:cTn id="37" dur="500"/>
                                        <p:tgtEl>
                                          <p:spTgt spid="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fade">
                                      <p:cBhvr>
                                        <p:cTn id="42" dur="500"/>
                                        <p:tgtEl>
                                          <p:spTgt spid="8"/>
                                        </p:tgtEl>
                                      </p:cBhvr>
                                    </p:animEffect>
                                  </p:childTnLst>
                                </p:cTn>
                              </p:par>
                              <p:par>
                                <p:cTn id="43" presetID="10" presetClass="entr" presetSubtype="0" fill="hold" nodeType="withEffect">
                                  <p:stCondLst>
                                    <p:cond delay="0"/>
                                  </p:stCondLst>
                                  <p:childTnLst>
                                    <p:set>
                                      <p:cBhvr>
                                        <p:cTn id="44" dur="1" fill="hold">
                                          <p:stCondLst>
                                            <p:cond delay="0"/>
                                          </p:stCondLst>
                                        </p:cTn>
                                        <p:tgtEl>
                                          <p:spTgt spid="9"/>
                                        </p:tgtEl>
                                        <p:attrNameLst>
                                          <p:attrName>style.visibility</p:attrName>
                                        </p:attrNameLst>
                                      </p:cBhvr>
                                      <p:to>
                                        <p:strVal val="visible"/>
                                      </p:to>
                                    </p:set>
                                    <p:animEffect transition="in" filter="fade">
                                      <p:cBhvr>
                                        <p:cTn id="4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autoUpdateAnimBg="0"/>
      <p:bldP spid="3" grpId="0" animBg="1" autoUpdateAnimBg="0"/>
      <p:bldP spid="4" grpId="0" animBg="1" autoUpdateAnimBg="0"/>
      <p:bldP spid="5" grpId="0" animBg="1" autoUpdateAnimBg="0"/>
      <p:bldP spid="6" grpId="0" animBg="1" autoUpdateAnimBg="0"/>
      <p:bldP spid="7"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8"/>
          <p:cNvGraphicFramePr>
            <a:graphicFrameLocks noChangeAspect="1"/>
          </p:cNvGraphicFramePr>
          <p:nvPr>
            <p:extLst>
              <p:ext uri="{D42A27DB-BD31-4B8C-83A1-F6EECF244321}">
                <p14:modId xmlns:p14="http://schemas.microsoft.com/office/powerpoint/2010/main" val="46569480"/>
              </p:ext>
            </p:extLst>
          </p:nvPr>
        </p:nvGraphicFramePr>
        <p:xfrm>
          <a:off x="1692275" y="261665"/>
          <a:ext cx="2305050" cy="904875"/>
        </p:xfrm>
        <a:graphic>
          <a:graphicData uri="http://schemas.openxmlformats.org/presentationml/2006/ole">
            <mc:AlternateContent xmlns:mc="http://schemas.openxmlformats.org/markup-compatibility/2006">
              <mc:Choice xmlns:v="urn:schemas-microsoft-com:vml" Requires="v">
                <p:oleObj name="公式" r:id="rId2" imgW="1054100" imgH="469900" progId="">
                  <p:embed/>
                </p:oleObj>
              </mc:Choice>
              <mc:Fallback>
                <p:oleObj name="公式" r:id="rId2" imgW="1054100" imgH="469900" progId="">
                  <p:embed/>
                  <p:pic>
                    <p:nvPicPr>
                      <p:cNvPr id="0" name="Picture 6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2275" y="261665"/>
                        <a:ext cx="2305050" cy="904875"/>
                      </a:xfrm>
                      <a:prstGeom prst="rect">
                        <a:avLst/>
                      </a:prstGeom>
                      <a:noFill/>
                      <a:extLst>
                        <a:ext uri="{909E8E84-426E-40DD-AFC4-6F175D3DCCD1}">
                          <a14:hiddenFill xmlns:a14="http://schemas.microsoft.com/office/drawing/2010/main">
                            <a:solidFill>
                              <a:srgbClr val="00FFFF"/>
                            </a:solidFill>
                          </a14:hiddenFill>
                        </a:ext>
                      </a:extLst>
                    </p:spPr>
                  </p:pic>
                </p:oleObj>
              </mc:Fallback>
            </mc:AlternateContent>
          </a:graphicData>
        </a:graphic>
      </p:graphicFrame>
      <p:sp>
        <p:nvSpPr>
          <p:cNvPr id="3" name="Text Box 9"/>
          <p:cNvSpPr txBox="1">
            <a:spLocks noChangeArrowheads="1"/>
          </p:cNvSpPr>
          <p:nvPr/>
        </p:nvSpPr>
        <p:spPr bwMode="auto">
          <a:xfrm>
            <a:off x="1475656" y="1628800"/>
            <a:ext cx="2632075" cy="396875"/>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kumimoji="1" lang="zh-CN" altLang="en-US" sz="2000" dirty="0">
                <a:solidFill>
                  <a:srgbClr val="0000FF"/>
                </a:solidFill>
                <a:latin typeface="黑体" pitchFamily="49" charset="-122"/>
                <a:ea typeface="黑体" pitchFamily="49" charset="-122"/>
              </a:rPr>
              <a:t>主平面的方位</a:t>
            </a:r>
          </a:p>
        </p:txBody>
      </p:sp>
      <p:graphicFrame>
        <p:nvGraphicFramePr>
          <p:cNvPr id="4" name="Object 10"/>
          <p:cNvGraphicFramePr>
            <a:graphicFrameLocks noChangeAspect="1"/>
          </p:cNvGraphicFramePr>
          <p:nvPr>
            <p:extLst>
              <p:ext uri="{D42A27DB-BD31-4B8C-83A1-F6EECF244321}">
                <p14:modId xmlns:p14="http://schemas.microsoft.com/office/powerpoint/2010/main" val="4040476344"/>
              </p:ext>
            </p:extLst>
          </p:nvPr>
        </p:nvGraphicFramePr>
        <p:xfrm>
          <a:off x="4416896" y="1585143"/>
          <a:ext cx="2819400" cy="484188"/>
        </p:xfrm>
        <a:graphic>
          <a:graphicData uri="http://schemas.openxmlformats.org/presentationml/2006/ole">
            <mc:AlternateContent xmlns:mc="http://schemas.openxmlformats.org/markup-compatibility/2006">
              <mc:Choice xmlns:v="urn:schemas-microsoft-com:vml" Requires="v">
                <p:oleObj name="公式" r:id="rId4" imgW="1397000" imgH="241300" progId="">
                  <p:embed/>
                </p:oleObj>
              </mc:Choice>
              <mc:Fallback>
                <p:oleObj name="公式" r:id="rId4" imgW="1397000" imgH="241300" progId="">
                  <p:embed/>
                  <p:pic>
                    <p:nvPicPr>
                      <p:cNvPr id="0" name="Picture 6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16896" y="1585143"/>
                        <a:ext cx="2819400" cy="48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00"/>
                            </a:solidFill>
                            <a:miter lim="800000"/>
                            <a:headEnd/>
                            <a:tailEnd/>
                          </a14:hiddenLine>
                        </a:ext>
                      </a:extLst>
                    </p:spPr>
                  </p:pic>
                </p:oleObj>
              </mc:Fallback>
            </mc:AlternateContent>
          </a:graphicData>
        </a:graphic>
      </p:graphicFrame>
      <p:graphicFrame>
        <p:nvGraphicFramePr>
          <p:cNvPr id="5" name="Object 17"/>
          <p:cNvGraphicFramePr>
            <a:graphicFrameLocks noChangeAspect="1"/>
          </p:cNvGraphicFramePr>
          <p:nvPr>
            <p:extLst>
              <p:ext uri="{D42A27DB-BD31-4B8C-83A1-F6EECF244321}">
                <p14:modId xmlns:p14="http://schemas.microsoft.com/office/powerpoint/2010/main" val="4077742843"/>
              </p:ext>
            </p:extLst>
          </p:nvPr>
        </p:nvGraphicFramePr>
        <p:xfrm>
          <a:off x="703263" y="2488754"/>
          <a:ext cx="4876800" cy="914400"/>
        </p:xfrm>
        <a:graphic>
          <a:graphicData uri="http://schemas.openxmlformats.org/presentationml/2006/ole">
            <mc:AlternateContent xmlns:mc="http://schemas.openxmlformats.org/markup-compatibility/2006">
              <mc:Choice xmlns:v="urn:schemas-microsoft-com:vml" Requires="v">
                <p:oleObj name="公式" r:id="rId6" imgW="2247900" imgH="469900" progId="">
                  <p:embed/>
                </p:oleObj>
              </mc:Choice>
              <mc:Fallback>
                <p:oleObj name="公式" r:id="rId6" imgW="2247900" imgH="469900" progId="">
                  <p:embed/>
                  <p:pic>
                    <p:nvPicPr>
                      <p:cNvPr id="0" name="Picture 6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03263" y="2488754"/>
                        <a:ext cx="4876800" cy="914400"/>
                      </a:xfrm>
                      <a:prstGeom prst="rect">
                        <a:avLst/>
                      </a:prstGeom>
                      <a:noFill/>
                      <a:extLst>
                        <a:ext uri="{909E8E84-426E-40DD-AFC4-6F175D3DCCD1}">
                          <a14:hiddenFill xmlns:a14="http://schemas.microsoft.com/office/drawing/2010/main">
                            <a:solidFill>
                              <a:srgbClr val="CCFFFF"/>
                            </a:solidFill>
                          </a14:hiddenFill>
                        </a:ext>
                      </a:extLst>
                    </p:spPr>
                  </p:pic>
                </p:oleObj>
              </mc:Fallback>
            </mc:AlternateContent>
          </a:graphicData>
        </a:graphic>
      </p:graphicFrame>
      <p:sp>
        <p:nvSpPr>
          <p:cNvPr id="6" name="Text Box 18"/>
          <p:cNvSpPr txBox="1">
            <a:spLocks noChangeArrowheads="1"/>
          </p:cNvSpPr>
          <p:nvPr/>
        </p:nvSpPr>
        <p:spPr bwMode="auto">
          <a:xfrm>
            <a:off x="5796136" y="2717354"/>
            <a:ext cx="3024187" cy="457200"/>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kumimoji="1" lang="en-US" altLang="zh-CN" sz="2400" b="1" dirty="0">
                <a:solidFill>
                  <a:srgbClr val="0000FF"/>
                </a:solidFill>
                <a:latin typeface="Times New Roman" pitchFamily="18" charset="0"/>
                <a:ea typeface="黑体" pitchFamily="49" charset="-122"/>
              </a:rPr>
              <a:t>——</a:t>
            </a:r>
            <a:r>
              <a:rPr kumimoji="1" lang="zh-CN" altLang="en-US" sz="2400" b="1" dirty="0">
                <a:solidFill>
                  <a:srgbClr val="FF0000"/>
                </a:solidFill>
                <a:latin typeface="黑体" pitchFamily="49" charset="-122"/>
                <a:ea typeface="黑体" pitchFamily="49" charset="-122"/>
              </a:rPr>
              <a:t>主应力</a:t>
            </a:r>
            <a:r>
              <a:rPr kumimoji="1" lang="zh-CN" altLang="en-US" sz="2400" b="1" dirty="0">
                <a:solidFill>
                  <a:srgbClr val="0000FF"/>
                </a:solidFill>
                <a:latin typeface="黑体" pitchFamily="49" charset="-122"/>
                <a:ea typeface="黑体" pitchFamily="49" charset="-122"/>
              </a:rPr>
              <a:t>的大小</a:t>
            </a:r>
            <a:endParaRPr kumimoji="1" lang="zh-CN" altLang="en-US" sz="2400" dirty="0">
              <a:solidFill>
                <a:srgbClr val="0000FF"/>
              </a:solidFill>
              <a:latin typeface="黑体" pitchFamily="49" charset="-122"/>
              <a:ea typeface="黑体" pitchFamily="49" charset="-122"/>
            </a:endParaRPr>
          </a:p>
        </p:txBody>
      </p:sp>
      <p:sp>
        <p:nvSpPr>
          <p:cNvPr id="7" name="Text Box 25"/>
          <p:cNvSpPr txBox="1">
            <a:spLocks noChangeArrowheads="1"/>
          </p:cNvSpPr>
          <p:nvPr/>
        </p:nvSpPr>
        <p:spPr bwMode="auto">
          <a:xfrm>
            <a:off x="4572000" y="188640"/>
            <a:ext cx="4032250" cy="1006475"/>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lgn="just" eaLnBrk="1" hangingPunct="1">
              <a:spcBef>
                <a:spcPct val="50000"/>
              </a:spcBef>
              <a:buFontTx/>
              <a:buNone/>
            </a:pPr>
            <a:r>
              <a:rPr kumimoji="1" lang="zh-CN" altLang="en-US" sz="2000" dirty="0">
                <a:solidFill>
                  <a:srgbClr val="0000FF"/>
                </a:solidFill>
                <a:latin typeface="黑体" pitchFamily="49" charset="-122"/>
                <a:ea typeface="黑体" pitchFamily="49" charset="-122"/>
              </a:rPr>
              <a:t>可以确定出两个相互垂直的平面</a:t>
            </a:r>
            <a:r>
              <a:rPr kumimoji="1" lang="en-US" altLang="zh-CN" sz="2000" dirty="0">
                <a:solidFill>
                  <a:srgbClr val="0000FF"/>
                </a:solidFill>
                <a:latin typeface="Times New Roman" pitchFamily="18" charset="0"/>
                <a:ea typeface="黑体" pitchFamily="49" charset="-122"/>
              </a:rPr>
              <a:t>——</a:t>
            </a:r>
            <a:r>
              <a:rPr kumimoji="1" lang="zh-CN" altLang="en-US" sz="1800" dirty="0">
                <a:solidFill>
                  <a:srgbClr val="0000FF"/>
                </a:solidFill>
                <a:ea typeface="黑体" pitchFamily="49" charset="-122"/>
              </a:rPr>
              <a:t>主平面</a:t>
            </a:r>
            <a:r>
              <a:rPr kumimoji="1" lang="zh-CN" altLang="en-US" sz="1800" dirty="0">
                <a:solidFill>
                  <a:srgbClr val="0000FF"/>
                </a:solidFill>
              </a:rPr>
              <a:t>，</a:t>
            </a:r>
            <a:r>
              <a:rPr kumimoji="1" lang="zh-CN" altLang="en-US" sz="2000" dirty="0">
                <a:solidFill>
                  <a:srgbClr val="0000FF"/>
                </a:solidFill>
                <a:latin typeface="黑体" pitchFamily="49" charset="-122"/>
                <a:ea typeface="黑体" pitchFamily="49" charset="-122"/>
              </a:rPr>
              <a:t>分别为</a:t>
            </a:r>
            <a:r>
              <a:rPr kumimoji="1" lang="zh-CN" altLang="en-US" sz="2000" dirty="0">
                <a:solidFill>
                  <a:srgbClr val="FF0000"/>
                </a:solidFill>
                <a:latin typeface="黑体" pitchFamily="49" charset="-122"/>
                <a:ea typeface="黑体" pitchFamily="49" charset="-122"/>
              </a:rPr>
              <a:t>最大正应力和最小正应力</a:t>
            </a:r>
            <a:r>
              <a:rPr kumimoji="1" lang="zh-CN" altLang="en-US" sz="2000" dirty="0">
                <a:solidFill>
                  <a:srgbClr val="0000FF"/>
                </a:solidFill>
                <a:latin typeface="黑体" pitchFamily="49" charset="-122"/>
                <a:ea typeface="黑体" pitchFamily="49" charset="-122"/>
              </a:rPr>
              <a:t>所在平面。</a:t>
            </a:r>
          </a:p>
        </p:txBody>
      </p:sp>
      <p:graphicFrame>
        <p:nvGraphicFramePr>
          <p:cNvPr id="8" name="Object 4"/>
          <p:cNvGraphicFramePr>
            <a:graphicFrameLocks noChangeAspect="1"/>
          </p:cNvGraphicFramePr>
          <p:nvPr>
            <p:extLst>
              <p:ext uri="{D42A27DB-BD31-4B8C-83A1-F6EECF244321}">
                <p14:modId xmlns:p14="http://schemas.microsoft.com/office/powerpoint/2010/main" val="1240811737"/>
              </p:ext>
            </p:extLst>
          </p:nvPr>
        </p:nvGraphicFramePr>
        <p:xfrm>
          <a:off x="1863006" y="3933056"/>
          <a:ext cx="2244725" cy="841375"/>
        </p:xfrm>
        <a:graphic>
          <a:graphicData uri="http://schemas.openxmlformats.org/presentationml/2006/ole">
            <mc:AlternateContent xmlns:mc="http://schemas.openxmlformats.org/markup-compatibility/2006">
              <mc:Choice xmlns:v="urn:schemas-microsoft-com:vml" Requires="v">
                <p:oleObj name="公式" r:id="rId8" imgW="1129810" imgH="469696" progId="">
                  <p:embed/>
                </p:oleObj>
              </mc:Choice>
              <mc:Fallback>
                <p:oleObj name="公式" r:id="rId8" imgW="1129810" imgH="469696" progId="">
                  <p:embed/>
                  <p:pic>
                    <p:nvPicPr>
                      <p:cNvPr id="0" name="Picture 6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63006" y="3933056"/>
                        <a:ext cx="2244725" cy="841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Object 7"/>
          <p:cNvGraphicFramePr>
            <a:graphicFrameLocks noChangeAspect="1"/>
          </p:cNvGraphicFramePr>
          <p:nvPr>
            <p:extLst>
              <p:ext uri="{D42A27DB-BD31-4B8C-83A1-F6EECF244321}">
                <p14:modId xmlns:p14="http://schemas.microsoft.com/office/powerpoint/2010/main" val="1081553887"/>
              </p:ext>
            </p:extLst>
          </p:nvPr>
        </p:nvGraphicFramePr>
        <p:xfrm>
          <a:off x="1247154" y="5229200"/>
          <a:ext cx="3810000" cy="914400"/>
        </p:xfrm>
        <a:graphic>
          <a:graphicData uri="http://schemas.openxmlformats.org/presentationml/2006/ole">
            <mc:AlternateContent xmlns:mc="http://schemas.openxmlformats.org/markup-compatibility/2006">
              <mc:Choice xmlns:v="urn:schemas-microsoft-com:vml" Requires="v">
                <p:oleObj name="公式" r:id="rId10" imgW="1676400" imgH="469900" progId="">
                  <p:embed/>
                </p:oleObj>
              </mc:Choice>
              <mc:Fallback>
                <p:oleObj name="公式" r:id="rId10" imgW="1676400" imgH="469900" progId="">
                  <p:embed/>
                  <p:pic>
                    <p:nvPicPr>
                      <p:cNvPr id="0" name="Picture 6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247154" y="5229200"/>
                        <a:ext cx="3810000" cy="914400"/>
                      </a:xfrm>
                      <a:prstGeom prst="rect">
                        <a:avLst/>
                      </a:prstGeom>
                      <a:noFill/>
                      <a:ln>
                        <a:noFill/>
                      </a:ln>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D60093"/>
                            </a:solidFill>
                            <a:miter lim="800000"/>
                            <a:headEnd/>
                            <a:tailEnd/>
                          </a14:hiddenLine>
                        </a:ext>
                      </a:extLst>
                    </p:spPr>
                  </p:pic>
                </p:oleObj>
              </mc:Fallback>
            </mc:AlternateContent>
          </a:graphicData>
        </a:graphic>
      </p:graphicFrame>
      <p:sp>
        <p:nvSpPr>
          <p:cNvPr id="11" name="Text Box 8"/>
          <p:cNvSpPr txBox="1">
            <a:spLocks noChangeArrowheads="1"/>
          </p:cNvSpPr>
          <p:nvPr/>
        </p:nvSpPr>
        <p:spPr bwMode="auto">
          <a:xfrm>
            <a:off x="5756034" y="5464150"/>
            <a:ext cx="3040062" cy="396875"/>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kumimoji="1" lang="en-US" altLang="zh-CN" sz="2000" b="1" dirty="0">
                <a:solidFill>
                  <a:srgbClr val="0000FF"/>
                </a:solidFill>
                <a:latin typeface="Times New Roman" pitchFamily="18" charset="0"/>
              </a:rPr>
              <a:t>——</a:t>
            </a:r>
            <a:r>
              <a:rPr kumimoji="1" lang="en-US" altLang="zh-CN" sz="2000" b="1" i="1" dirty="0" err="1">
                <a:solidFill>
                  <a:srgbClr val="0000FF"/>
                </a:solidFill>
                <a:latin typeface="Times New Roman" pitchFamily="18" charset="0"/>
              </a:rPr>
              <a:t>xy</a:t>
            </a:r>
            <a:r>
              <a:rPr kumimoji="1" lang="en-US" altLang="zh-CN" sz="2000" b="1" i="1" dirty="0">
                <a:solidFill>
                  <a:srgbClr val="0000FF"/>
                </a:solidFill>
                <a:latin typeface="Times New Roman" pitchFamily="18" charset="0"/>
              </a:rPr>
              <a:t> </a:t>
            </a:r>
            <a:r>
              <a:rPr kumimoji="1" lang="zh-CN" altLang="en-US" sz="2000" b="1" dirty="0">
                <a:solidFill>
                  <a:srgbClr val="0000FF"/>
                </a:solidFill>
                <a:latin typeface="黑体" pitchFamily="49" charset="-122"/>
                <a:ea typeface="黑体" pitchFamily="49" charset="-122"/>
              </a:rPr>
              <a:t>面内的</a:t>
            </a:r>
            <a:r>
              <a:rPr kumimoji="1" lang="zh-CN" altLang="en-US" sz="2000" b="1" dirty="0">
                <a:solidFill>
                  <a:srgbClr val="FF0000"/>
                </a:solidFill>
                <a:latin typeface="黑体" pitchFamily="49" charset="-122"/>
                <a:ea typeface="黑体" pitchFamily="49" charset="-122"/>
              </a:rPr>
              <a:t>最大切应力</a:t>
            </a:r>
            <a:endParaRPr kumimoji="1" lang="zh-CN" altLang="en-US" sz="2000" dirty="0">
              <a:solidFill>
                <a:srgbClr val="FF0000"/>
              </a:solidFill>
              <a:latin typeface="黑体" pitchFamily="49" charset="-122"/>
              <a:ea typeface="黑体" pitchFamily="49" charset="-122"/>
            </a:endParaRPr>
          </a:p>
        </p:txBody>
      </p:sp>
      <p:graphicFrame>
        <p:nvGraphicFramePr>
          <p:cNvPr id="15" name="Object 15"/>
          <p:cNvGraphicFramePr>
            <a:graphicFrameLocks noChangeAspect="1"/>
          </p:cNvGraphicFramePr>
          <p:nvPr>
            <p:extLst>
              <p:ext uri="{D42A27DB-BD31-4B8C-83A1-F6EECF244321}">
                <p14:modId xmlns:p14="http://schemas.microsoft.com/office/powerpoint/2010/main" val="261221252"/>
              </p:ext>
            </p:extLst>
          </p:nvPr>
        </p:nvGraphicFramePr>
        <p:xfrm>
          <a:off x="4964186" y="4077072"/>
          <a:ext cx="2840037" cy="482600"/>
        </p:xfrm>
        <a:graphic>
          <a:graphicData uri="http://schemas.openxmlformats.org/presentationml/2006/ole">
            <mc:AlternateContent xmlns:mc="http://schemas.openxmlformats.org/markup-compatibility/2006">
              <mc:Choice xmlns:v="urn:schemas-microsoft-com:vml" Requires="v">
                <p:oleObj name="公式" r:id="rId12" imgW="1346200" imgH="228600" progId="">
                  <p:embed/>
                </p:oleObj>
              </mc:Choice>
              <mc:Fallback>
                <p:oleObj name="公式" r:id="rId12" imgW="1346200" imgH="228600" progId="">
                  <p:embed/>
                  <p:pic>
                    <p:nvPicPr>
                      <p:cNvPr id="0" name="Picture 6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964186" y="4077072"/>
                        <a:ext cx="2840037" cy="482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713009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500"/>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3"/>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499"/>
                                          </p:stCondLst>
                                        </p:cTn>
                                        <p:tgtEl>
                                          <p:spTgt spid="4"/>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499"/>
                                          </p:stCondLst>
                                        </p:cTn>
                                        <p:tgtEl>
                                          <p:spTgt spid="5"/>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499"/>
                                          </p:stCondLst>
                                        </p:cTn>
                                        <p:tgtEl>
                                          <p:spTgt spid="6"/>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499"/>
                                          </p:stCondLst>
                                        </p:cTn>
                                        <p:tgtEl>
                                          <p:spTgt spid="8"/>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2" presetClass="entr" presetSubtype="2" fill="hold" nodeType="clickEffect">
                                  <p:stCondLst>
                                    <p:cond delay="0"/>
                                  </p:stCondLst>
                                  <p:childTnLst>
                                    <p:set>
                                      <p:cBhvr>
                                        <p:cTn id="35" dur="1" fill="hold">
                                          <p:stCondLst>
                                            <p:cond delay="0"/>
                                          </p:stCondLst>
                                        </p:cTn>
                                        <p:tgtEl>
                                          <p:spTgt spid="15"/>
                                        </p:tgtEl>
                                        <p:attrNameLst>
                                          <p:attrName>style.visibility</p:attrName>
                                        </p:attrNameLst>
                                      </p:cBhvr>
                                      <p:to>
                                        <p:strVal val="visible"/>
                                      </p:to>
                                    </p:set>
                                    <p:anim calcmode="lin" valueType="num">
                                      <p:cBhvr additive="base">
                                        <p:cTn id="36" dur="500" fill="hold"/>
                                        <p:tgtEl>
                                          <p:spTgt spid="15"/>
                                        </p:tgtEl>
                                        <p:attrNameLst>
                                          <p:attrName>ppt_x</p:attrName>
                                        </p:attrNameLst>
                                      </p:cBhvr>
                                      <p:tavLst>
                                        <p:tav tm="0">
                                          <p:val>
                                            <p:strVal val="1+#ppt_w/2"/>
                                          </p:val>
                                        </p:tav>
                                        <p:tav tm="100000">
                                          <p:val>
                                            <p:strVal val="#ppt_x"/>
                                          </p:val>
                                        </p:tav>
                                      </p:tavLst>
                                    </p:anim>
                                    <p:anim calcmode="lin" valueType="num">
                                      <p:cBhvr additive="base">
                                        <p:cTn id="37"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500"/>
                                        <p:tgtEl>
                                          <p:spTgt spid="10"/>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1"/>
                                        </p:tgtEl>
                                        <p:attrNameLst>
                                          <p:attrName>style.visibility</p:attrName>
                                        </p:attrNameLst>
                                      </p:cBhvr>
                                      <p:to>
                                        <p:strVal val="visible"/>
                                      </p:to>
                                    </p:set>
                                    <p:animEffect transition="in" filter="fade">
                                      <p:cBhvr>
                                        <p:cTn id="4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autoUpdateAnimBg="0"/>
      <p:bldP spid="6" grpId="0" animBg="1" autoUpdateAnimBg="0"/>
      <p:bldP spid="7" grpId="0" animBg="1" autoUpdateAnimBg="0"/>
      <p:bldP spid="11"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4"/>
          <p:cNvGraphicFramePr>
            <a:graphicFrameLocks noChangeAspect="1"/>
          </p:cNvGraphicFramePr>
          <p:nvPr>
            <p:extLst>
              <p:ext uri="{D42A27DB-BD31-4B8C-83A1-F6EECF244321}">
                <p14:modId xmlns:p14="http://schemas.microsoft.com/office/powerpoint/2010/main" val="848005763"/>
              </p:ext>
            </p:extLst>
          </p:nvPr>
        </p:nvGraphicFramePr>
        <p:xfrm>
          <a:off x="2193636" y="88751"/>
          <a:ext cx="6191250" cy="1058863"/>
        </p:xfrm>
        <a:graphic>
          <a:graphicData uri="http://schemas.openxmlformats.org/presentationml/2006/ole">
            <mc:AlternateContent xmlns:mc="http://schemas.openxmlformats.org/markup-compatibility/2006">
              <mc:Choice xmlns:v="urn:schemas-microsoft-com:vml" Requires="v">
                <p:oleObj name="Equation" r:id="rId2" imgW="2205720" imgH="310680" progId="">
                  <p:embed/>
                </p:oleObj>
              </mc:Choice>
              <mc:Fallback>
                <p:oleObj name="Equation" r:id="rId2" imgW="2205720" imgH="310680" progId="">
                  <p:embed/>
                  <p:pic>
                    <p:nvPicPr>
                      <p:cNvPr id="0" name="Picture 3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3636" y="88751"/>
                        <a:ext cx="6191250" cy="1058863"/>
                      </a:xfrm>
                      <a:prstGeom prst="rect">
                        <a:avLst/>
                      </a:prstGeom>
                      <a:noFill/>
                      <a:ln>
                        <a:noFill/>
                      </a:ln>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solidFill>
                              <a:srgbClr val="FF0000"/>
                            </a:solidFill>
                            <a:miter lim="800000"/>
                            <a:headEnd/>
                            <a:tailEnd/>
                          </a14:hiddenLine>
                        </a:ext>
                      </a:extLst>
                    </p:spPr>
                  </p:pic>
                </p:oleObj>
              </mc:Fallback>
            </mc:AlternateContent>
          </a:graphicData>
        </a:graphic>
      </p:graphicFrame>
      <p:sp>
        <p:nvSpPr>
          <p:cNvPr id="6" name="Rectangle 12"/>
          <p:cNvSpPr>
            <a:spLocks noChangeArrowheads="1"/>
          </p:cNvSpPr>
          <p:nvPr/>
        </p:nvSpPr>
        <p:spPr bwMode="auto">
          <a:xfrm>
            <a:off x="608765" y="404664"/>
            <a:ext cx="1298939" cy="504056"/>
          </a:xfrm>
          <a:prstGeom prst="rect">
            <a:avLst/>
          </a:prstGeom>
          <a:noFill/>
          <a:ln w="28575">
            <a:solidFill>
              <a:srgbClr val="FF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fontAlgn="base">
              <a:spcBef>
                <a:spcPct val="20000"/>
              </a:spcBef>
              <a:spcAft>
                <a:spcPct val="0"/>
              </a:spcAft>
              <a:buChar char="»"/>
              <a:defRPr sz="2000">
                <a:solidFill>
                  <a:schemeClr val="tx1"/>
                </a:solidFill>
                <a:latin typeface="Arial" charset="0"/>
                <a:ea typeface="宋体" pitchFamily="2" charset="-122"/>
              </a:defRPr>
            </a:lvl6pPr>
            <a:lvl7pPr marL="2971800" indent="-228600" fontAlgn="base">
              <a:spcBef>
                <a:spcPct val="20000"/>
              </a:spcBef>
              <a:spcAft>
                <a:spcPct val="0"/>
              </a:spcAft>
              <a:buChar char="»"/>
              <a:defRPr sz="2000">
                <a:solidFill>
                  <a:schemeClr val="tx1"/>
                </a:solidFill>
                <a:latin typeface="Arial" charset="0"/>
                <a:ea typeface="宋体" pitchFamily="2" charset="-122"/>
              </a:defRPr>
            </a:lvl7pPr>
            <a:lvl8pPr marL="3429000" indent="-228600" fontAlgn="base">
              <a:spcBef>
                <a:spcPct val="20000"/>
              </a:spcBef>
              <a:spcAft>
                <a:spcPct val="0"/>
              </a:spcAft>
              <a:buChar char="»"/>
              <a:defRPr sz="2000">
                <a:solidFill>
                  <a:schemeClr val="tx1"/>
                </a:solidFill>
                <a:latin typeface="Arial" charset="0"/>
                <a:ea typeface="宋体" pitchFamily="2" charset="-122"/>
              </a:defRPr>
            </a:lvl8pPr>
            <a:lvl9pPr marL="3886200" indent="-228600" fontAlgn="base">
              <a:spcBef>
                <a:spcPct val="20000"/>
              </a:spcBef>
              <a:spcAft>
                <a:spcPct val="0"/>
              </a:spcAft>
              <a:buChar char="»"/>
              <a:defRPr sz="2000">
                <a:solidFill>
                  <a:schemeClr val="tx1"/>
                </a:solidFill>
                <a:latin typeface="Arial" charset="0"/>
                <a:ea typeface="宋体" pitchFamily="2" charset="-122"/>
              </a:defRPr>
            </a:lvl9pPr>
          </a:lstStyle>
          <a:p>
            <a:pPr>
              <a:buFont typeface="Monotype Sorts" pitchFamily="2" charset="2"/>
              <a:buNone/>
              <a:defRPr/>
            </a:pPr>
            <a:r>
              <a:rPr lang="zh-CN" altLang="en-US" sz="2600" b="1" dirty="0">
                <a:solidFill>
                  <a:srgbClr val="0000FF"/>
                </a:solidFill>
                <a:effectLst>
                  <a:outerShdw blurRad="38100" dist="38100" dir="2700000" algn="tl">
                    <a:srgbClr val="C0C0C0"/>
                  </a:outerShdw>
                </a:effectLst>
                <a:latin typeface="黑体" pitchFamily="2" charset="-122"/>
                <a:ea typeface="黑体" pitchFamily="2" charset="-122"/>
                <a:sym typeface="Wingdings" pitchFamily="2" charset="2"/>
              </a:rPr>
              <a:t>应力</a:t>
            </a:r>
            <a:r>
              <a:rPr lang="zh-CN" altLang="en-US" sz="2600" b="1" dirty="0">
                <a:solidFill>
                  <a:srgbClr val="0000FF"/>
                </a:solidFill>
                <a:effectLst>
                  <a:outerShdw blurRad="38100" dist="38100" dir="2700000" algn="tl">
                    <a:srgbClr val="C0C0C0"/>
                  </a:outerShdw>
                </a:effectLst>
                <a:latin typeface="黑体" pitchFamily="2" charset="-122"/>
                <a:ea typeface="黑体" pitchFamily="2" charset="-122"/>
              </a:rPr>
              <a:t>圆</a:t>
            </a:r>
          </a:p>
        </p:txBody>
      </p:sp>
      <p:graphicFrame>
        <p:nvGraphicFramePr>
          <p:cNvPr id="7" name="Object 13"/>
          <p:cNvGraphicFramePr>
            <a:graphicFrameLocks noChangeAspect="1"/>
          </p:cNvGraphicFramePr>
          <p:nvPr>
            <p:extLst>
              <p:ext uri="{D42A27DB-BD31-4B8C-83A1-F6EECF244321}">
                <p14:modId xmlns:p14="http://schemas.microsoft.com/office/powerpoint/2010/main" val="3951358201"/>
              </p:ext>
            </p:extLst>
          </p:nvPr>
        </p:nvGraphicFramePr>
        <p:xfrm>
          <a:off x="1986037" y="1412206"/>
          <a:ext cx="1676400" cy="908050"/>
        </p:xfrm>
        <a:graphic>
          <a:graphicData uri="http://schemas.openxmlformats.org/presentationml/2006/ole">
            <mc:AlternateContent xmlns:mc="http://schemas.openxmlformats.org/markup-compatibility/2006">
              <mc:Choice xmlns:v="urn:schemas-microsoft-com:vml" Requires="v">
                <p:oleObj name="公式" r:id="rId4" imgW="774364" imgH="418918" progId="">
                  <p:embed/>
                </p:oleObj>
              </mc:Choice>
              <mc:Fallback>
                <p:oleObj name="公式" r:id="rId4" imgW="774364" imgH="418918" progId="">
                  <p:embed/>
                  <p:pic>
                    <p:nvPicPr>
                      <p:cNvPr id="0" name="Picture 3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86037" y="1412206"/>
                        <a:ext cx="1676400" cy="908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Text Box 14"/>
          <p:cNvSpPr txBox="1">
            <a:spLocks noChangeArrowheads="1"/>
          </p:cNvSpPr>
          <p:nvPr/>
        </p:nvSpPr>
        <p:spPr bwMode="auto">
          <a:xfrm>
            <a:off x="619200" y="1699543"/>
            <a:ext cx="153035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kumimoji="1" lang="zh-CN" altLang="en-US" sz="2000" b="1">
                <a:solidFill>
                  <a:srgbClr val="0000FF"/>
                </a:solidFill>
                <a:latin typeface="黑体" pitchFamily="49" charset="-122"/>
                <a:ea typeface="黑体" pitchFamily="49" charset="-122"/>
              </a:rPr>
              <a:t>圆心：</a:t>
            </a:r>
            <a:endParaRPr kumimoji="1" lang="zh-CN" altLang="en-US" sz="2000">
              <a:solidFill>
                <a:srgbClr val="0000FF"/>
              </a:solidFill>
              <a:latin typeface="黑体" pitchFamily="49" charset="-122"/>
              <a:ea typeface="黑体" pitchFamily="49" charset="-122"/>
            </a:endParaRPr>
          </a:p>
        </p:txBody>
      </p:sp>
      <p:sp>
        <p:nvSpPr>
          <p:cNvPr id="9" name="Text Box 15"/>
          <p:cNvSpPr txBox="1">
            <a:spLocks noChangeArrowheads="1"/>
          </p:cNvSpPr>
          <p:nvPr/>
        </p:nvSpPr>
        <p:spPr bwMode="auto">
          <a:xfrm>
            <a:off x="3930725" y="1651918"/>
            <a:ext cx="14001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kumimoji="1" lang="zh-CN" altLang="en-US" sz="2000" b="1">
                <a:solidFill>
                  <a:srgbClr val="0000FF"/>
                </a:solidFill>
                <a:latin typeface="黑体" pitchFamily="49" charset="-122"/>
                <a:ea typeface="黑体" pitchFamily="49" charset="-122"/>
              </a:rPr>
              <a:t>半径</a:t>
            </a:r>
            <a:r>
              <a:rPr kumimoji="1" lang="zh-CN" altLang="en-US" sz="2400" b="1">
                <a:solidFill>
                  <a:srgbClr val="0000FF"/>
                </a:solidFill>
                <a:latin typeface="宋体" pitchFamily="2" charset="-122"/>
              </a:rPr>
              <a:t>：</a:t>
            </a:r>
            <a:endParaRPr kumimoji="1" lang="zh-CN" altLang="en-US" sz="2400">
              <a:solidFill>
                <a:srgbClr val="0000FF"/>
              </a:solidFill>
              <a:latin typeface="宋体" pitchFamily="2" charset="-122"/>
            </a:endParaRPr>
          </a:p>
        </p:txBody>
      </p:sp>
      <p:graphicFrame>
        <p:nvGraphicFramePr>
          <p:cNvPr id="10" name="Object 16"/>
          <p:cNvGraphicFramePr>
            <a:graphicFrameLocks noChangeAspect="1"/>
          </p:cNvGraphicFramePr>
          <p:nvPr>
            <p:extLst>
              <p:ext uri="{D42A27DB-BD31-4B8C-83A1-F6EECF244321}">
                <p14:modId xmlns:p14="http://schemas.microsoft.com/office/powerpoint/2010/main" val="1464871069"/>
              </p:ext>
            </p:extLst>
          </p:nvPr>
        </p:nvGraphicFramePr>
        <p:xfrm>
          <a:off x="5154687" y="1340768"/>
          <a:ext cx="3124200" cy="1031875"/>
        </p:xfrm>
        <a:graphic>
          <a:graphicData uri="http://schemas.openxmlformats.org/presentationml/2006/ole">
            <mc:AlternateContent xmlns:mc="http://schemas.openxmlformats.org/markup-compatibility/2006">
              <mc:Choice xmlns:v="urn:schemas-microsoft-com:vml" Requires="v">
                <p:oleObj name="公式" r:id="rId6" imgW="1384300" imgH="457200" progId="">
                  <p:embed/>
                </p:oleObj>
              </mc:Choice>
              <mc:Fallback>
                <p:oleObj name="公式" r:id="rId6" imgW="1384300" imgH="457200" progId="">
                  <p:embed/>
                  <p:pic>
                    <p:nvPicPr>
                      <p:cNvPr id="0" name="Picture 3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54687" y="1340768"/>
                        <a:ext cx="3124200" cy="1031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4" name="Rectangle 2"/>
          <p:cNvSpPr>
            <a:spLocks noChangeArrowheads="1"/>
          </p:cNvSpPr>
          <p:nvPr/>
        </p:nvSpPr>
        <p:spPr bwMode="auto">
          <a:xfrm>
            <a:off x="484187" y="2636912"/>
            <a:ext cx="8499475" cy="936104"/>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buFont typeface="Monotype Sorts" pitchFamily="2" charset="2"/>
              <a:buNone/>
            </a:pPr>
            <a:r>
              <a:rPr kumimoji="1" lang="zh-CN" altLang="en-US" sz="2400" b="1" dirty="0">
                <a:solidFill>
                  <a:srgbClr val="FF0000"/>
                </a:solidFill>
                <a:latin typeface="黑体" pitchFamily="49" charset="-122"/>
                <a:ea typeface="黑体" pitchFamily="49" charset="-122"/>
              </a:rPr>
              <a:t>点面</a:t>
            </a:r>
            <a:r>
              <a:rPr kumimoji="1" lang="zh-CN" altLang="en-US" sz="2400" b="1" dirty="0">
                <a:solidFill>
                  <a:srgbClr val="0000FF"/>
                </a:solidFill>
                <a:latin typeface="黑体" pitchFamily="49" charset="-122"/>
                <a:ea typeface="黑体" pitchFamily="49" charset="-122"/>
              </a:rPr>
              <a:t>对应</a:t>
            </a:r>
            <a:r>
              <a:rPr kumimoji="1" lang="en-US" altLang="zh-CN" sz="2400" b="1" dirty="0">
                <a:solidFill>
                  <a:srgbClr val="0000FF"/>
                </a:solidFill>
                <a:latin typeface="Times New Roman" pitchFamily="18" charset="0"/>
                <a:ea typeface="黑体" pitchFamily="49" charset="-122"/>
              </a:rPr>
              <a:t>——</a:t>
            </a:r>
            <a:r>
              <a:rPr kumimoji="1" lang="zh-CN" altLang="en-US" sz="2400" b="1" dirty="0">
                <a:solidFill>
                  <a:srgbClr val="0000FF"/>
                </a:solidFill>
                <a:latin typeface="黑体" pitchFamily="49" charset="-122"/>
                <a:ea typeface="黑体" pitchFamily="49" charset="-122"/>
              </a:rPr>
              <a:t>应力圆上某一点的坐标值对应着单元体某一截面</a:t>
            </a:r>
          </a:p>
          <a:p>
            <a:pPr eaLnBrk="1" hangingPunct="1">
              <a:buFont typeface="Monotype Sorts" pitchFamily="2" charset="2"/>
              <a:buNone/>
            </a:pPr>
            <a:r>
              <a:rPr kumimoji="1" lang="zh-CN" altLang="en-US" sz="2400" b="1" dirty="0">
                <a:solidFill>
                  <a:srgbClr val="0000FF"/>
                </a:solidFill>
                <a:latin typeface="黑体" pitchFamily="49" charset="-122"/>
                <a:ea typeface="黑体" pitchFamily="49" charset="-122"/>
              </a:rPr>
              <a:t>           上的正应力和切应力</a:t>
            </a:r>
          </a:p>
        </p:txBody>
      </p:sp>
      <p:sp>
        <p:nvSpPr>
          <p:cNvPr id="45" name="Rectangle 106"/>
          <p:cNvSpPr>
            <a:spLocks noChangeArrowheads="1"/>
          </p:cNvSpPr>
          <p:nvPr/>
        </p:nvSpPr>
        <p:spPr bwMode="auto">
          <a:xfrm>
            <a:off x="484188" y="3835896"/>
            <a:ext cx="8499474" cy="457200"/>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defRPr/>
            </a:pPr>
            <a:r>
              <a:rPr kumimoji="1" lang="zh-CN" altLang="en-US" sz="2400" b="1" dirty="0">
                <a:solidFill>
                  <a:srgbClr val="FF0000"/>
                </a:solidFill>
                <a:latin typeface="黑体" pitchFamily="2" charset="-122"/>
                <a:ea typeface="黑体" pitchFamily="2" charset="-122"/>
              </a:rPr>
              <a:t>转向</a:t>
            </a:r>
            <a:r>
              <a:rPr kumimoji="1" lang="zh-CN" altLang="en-US" sz="2400" b="1" dirty="0">
                <a:solidFill>
                  <a:srgbClr val="0000FF"/>
                </a:solidFill>
                <a:latin typeface="黑体" pitchFamily="2" charset="-122"/>
                <a:ea typeface="黑体" pitchFamily="2" charset="-122"/>
              </a:rPr>
              <a:t>对应</a:t>
            </a:r>
            <a:r>
              <a:rPr lang="en-US" altLang="zh-CN" sz="2400" b="1" dirty="0">
                <a:solidFill>
                  <a:srgbClr val="0000FF"/>
                </a:solidFill>
                <a:effectLst>
                  <a:outerShdw blurRad="38100" dist="38100" dir="2700000" algn="tl">
                    <a:srgbClr val="C0C0C0"/>
                  </a:outerShdw>
                </a:effectLst>
                <a:latin typeface="Arial" charset="0"/>
              </a:rPr>
              <a:t>——</a:t>
            </a:r>
            <a:r>
              <a:rPr lang="zh-CN" altLang="en-US" sz="2400" b="1" dirty="0">
                <a:solidFill>
                  <a:srgbClr val="0000FF"/>
                </a:solidFill>
                <a:effectLst>
                  <a:outerShdw blurRad="38100" dist="38100" dir="2700000" algn="tl">
                    <a:srgbClr val="C0C0C0"/>
                  </a:outerShdw>
                </a:effectLst>
                <a:latin typeface="Arial" charset="0"/>
                <a:ea typeface="黑体" pitchFamily="2" charset="-122"/>
              </a:rPr>
              <a:t>半径旋转方向与截面法线的旋转方向一致；</a:t>
            </a:r>
            <a:endParaRPr lang="zh-CN" altLang="en-US" sz="2400" b="1" dirty="0">
              <a:solidFill>
                <a:srgbClr val="0000FF"/>
              </a:solidFill>
              <a:effectLst>
                <a:outerShdw blurRad="38100" dist="38100" dir="2700000" algn="tl">
                  <a:srgbClr val="C0C0C0"/>
                </a:outerShdw>
              </a:effectLst>
              <a:latin typeface="Arial" charset="0"/>
            </a:endParaRPr>
          </a:p>
        </p:txBody>
      </p:sp>
      <p:sp>
        <p:nvSpPr>
          <p:cNvPr id="46" name="Rectangle 107"/>
          <p:cNvSpPr>
            <a:spLocks noChangeArrowheads="1"/>
          </p:cNvSpPr>
          <p:nvPr/>
        </p:nvSpPr>
        <p:spPr bwMode="auto">
          <a:xfrm>
            <a:off x="484187" y="4554714"/>
            <a:ext cx="8508803" cy="457200"/>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defRPr/>
            </a:pPr>
            <a:r>
              <a:rPr kumimoji="1" lang="zh-CN" altLang="en-US" sz="2400" b="1" dirty="0">
                <a:solidFill>
                  <a:srgbClr val="FF0000"/>
                </a:solidFill>
                <a:latin typeface="Arial" charset="0"/>
                <a:ea typeface="黑体" pitchFamily="2" charset="-122"/>
              </a:rPr>
              <a:t>二倍角</a:t>
            </a:r>
            <a:r>
              <a:rPr kumimoji="1" lang="zh-CN" altLang="en-US" sz="2400" b="1" dirty="0">
                <a:solidFill>
                  <a:srgbClr val="0000FF"/>
                </a:solidFill>
                <a:latin typeface="Arial" charset="0"/>
                <a:ea typeface="黑体" pitchFamily="2" charset="-122"/>
              </a:rPr>
              <a:t>对应</a:t>
            </a:r>
            <a:r>
              <a:rPr lang="en-US" altLang="zh-CN" sz="2400" b="1" dirty="0">
                <a:solidFill>
                  <a:srgbClr val="0000FF"/>
                </a:solidFill>
                <a:effectLst>
                  <a:outerShdw blurRad="38100" dist="38100" dir="2700000" algn="tl">
                    <a:srgbClr val="C0C0C0"/>
                  </a:outerShdw>
                </a:effectLst>
                <a:latin typeface="Arial" charset="0"/>
                <a:ea typeface="黑体" pitchFamily="2" charset="-122"/>
              </a:rPr>
              <a:t>——</a:t>
            </a:r>
            <a:r>
              <a:rPr lang="zh-CN" altLang="en-US" sz="2400" b="1" dirty="0">
                <a:solidFill>
                  <a:srgbClr val="0000FF"/>
                </a:solidFill>
                <a:effectLst>
                  <a:outerShdw blurRad="38100" dist="38100" dir="2700000" algn="tl">
                    <a:srgbClr val="C0C0C0"/>
                  </a:outerShdw>
                </a:effectLst>
                <a:latin typeface="Arial" charset="0"/>
                <a:ea typeface="黑体" pitchFamily="2" charset="-122"/>
              </a:rPr>
              <a:t>半径转过的角度是截面法线旋转角度的两倍。</a:t>
            </a:r>
          </a:p>
        </p:txBody>
      </p:sp>
    </p:spTree>
    <p:extLst>
      <p:ext uri="{BB962C8B-B14F-4D97-AF65-F5344CB8AC3E}">
        <p14:creationId xmlns:p14="http://schemas.microsoft.com/office/powerpoint/2010/main" val="2295879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iterate type="lt">
                                    <p:tmPct val="100000"/>
                                  </p:iterate>
                                  <p:childTnLst>
                                    <p:set>
                                      <p:cBhvr>
                                        <p:cTn id="6" dur="1" fill="hold">
                                          <p:stCondLst>
                                            <p:cond delay="0"/>
                                          </p:stCondLst>
                                        </p:cTn>
                                        <p:tgtEl>
                                          <p:spTgt spid="6"/>
                                        </p:tgtEl>
                                        <p:attrNameLst>
                                          <p:attrName>style.visibility</p:attrName>
                                        </p:attrNameLst>
                                      </p:cBhvr>
                                      <p:to>
                                        <p:strVal val="visible"/>
                                      </p:to>
                                    </p:set>
                                    <p:anim calcmode="lin" valueType="num">
                                      <p:cBhvr additive="base">
                                        <p:cTn id="7" dur="75" fill="hold"/>
                                        <p:tgtEl>
                                          <p:spTgt spid="6"/>
                                        </p:tgtEl>
                                        <p:attrNameLst>
                                          <p:attrName>ppt_x</p:attrName>
                                        </p:attrNameLst>
                                      </p:cBhvr>
                                      <p:tavLst>
                                        <p:tav tm="0">
                                          <p:val>
                                            <p:strVal val="#ppt_x"/>
                                          </p:val>
                                        </p:tav>
                                        <p:tav tm="100000">
                                          <p:val>
                                            <p:strVal val="#ppt_x"/>
                                          </p:val>
                                        </p:tav>
                                      </p:tavLst>
                                    </p:anim>
                                    <p:anim calcmode="lin" valueType="num">
                                      <p:cBhvr additive="base">
                                        <p:cTn id="8" dur="75"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left)">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499"/>
                                          </p:stCondLst>
                                        </p:cTn>
                                        <p:tgtEl>
                                          <p:spTgt spid="8"/>
                                        </p:tgtEl>
                                        <p:attrNameLst>
                                          <p:attrName>style.visibility</p:attrName>
                                        </p:attrNameLst>
                                      </p:cBhvr>
                                      <p:to>
                                        <p:strVal val="visible"/>
                                      </p:to>
                                    </p:set>
                                  </p:childTnLst>
                                </p:cTn>
                              </p:par>
                            </p:childTnLst>
                          </p:cTn>
                        </p:par>
                        <p:par>
                          <p:cTn id="18" fill="hold">
                            <p:stCondLst>
                              <p:cond delay="500"/>
                            </p:stCondLst>
                            <p:childTnLst>
                              <p:par>
                                <p:cTn id="19" presetID="1" presetClass="entr" presetSubtype="0" fill="hold" nodeType="afterEffect">
                                  <p:stCondLst>
                                    <p:cond delay="0"/>
                                  </p:stCondLst>
                                  <p:childTnLst>
                                    <p:set>
                                      <p:cBhvr>
                                        <p:cTn id="20" dur="1" fill="hold">
                                          <p:stCondLst>
                                            <p:cond delay="499"/>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499"/>
                                          </p:stCondLst>
                                        </p:cTn>
                                        <p:tgtEl>
                                          <p:spTgt spid="1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44"/>
                                        </p:tgtEl>
                                        <p:attrNameLst>
                                          <p:attrName>style.visibility</p:attrName>
                                        </p:attrNameLst>
                                      </p:cBhvr>
                                      <p:to>
                                        <p:strVal val="visible"/>
                                      </p:to>
                                    </p:set>
                                    <p:animEffect transition="in" filter="fade">
                                      <p:cBhvr>
                                        <p:cTn id="33" dur="500"/>
                                        <p:tgtEl>
                                          <p:spTgt spid="44"/>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45"/>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autoUpdateAnimBg="0"/>
      <p:bldP spid="8" grpId="0" autoUpdateAnimBg="0"/>
      <p:bldP spid="9" grpId="0" autoUpdateAnimBg="0"/>
      <p:bldP spid="44" grpId="0" animBg="1"/>
      <p:bldP spid="45" grpId="0" animBg="1"/>
      <p:bldP spid="46"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11760" y="548680"/>
            <a:ext cx="4619625" cy="3697288"/>
          </a:xfrm>
          <a:prstGeom prst="rect">
            <a:avLst/>
          </a:prstGeom>
          <a:noFill/>
          <a:ln>
            <a:noFill/>
          </a:ln>
          <a:effectLst/>
          <a:extLst>
            <a:ext uri="{909E8E84-426E-40DD-AFC4-6F175D3DCCD1}">
              <a14:hiddenFill xmlns:a14="http://schemas.microsoft.com/office/drawing/2010/main">
                <a:solidFill>
                  <a:srgbClr val="0000FF"/>
                </a:solidFill>
              </a14:hiddenFill>
            </a:ext>
            <a:ext uri="{91240B29-F687-4F45-9708-019B960494DF}">
              <a14:hiddenLine xmlns:a14="http://schemas.microsoft.com/office/drawing/2010/main" w="38100">
                <a:solidFill>
                  <a:schemeClr val="bg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4"/>
          <p:cNvSpPr>
            <a:spLocks noChangeArrowheads="1"/>
          </p:cNvSpPr>
          <p:nvPr/>
        </p:nvSpPr>
        <p:spPr bwMode="auto">
          <a:xfrm>
            <a:off x="611560" y="4267200"/>
            <a:ext cx="7772400" cy="1219200"/>
          </a:xfrm>
          <a:prstGeom prst="rect">
            <a:avLst/>
          </a:prstGeom>
          <a:noFill/>
          <a:ln w="28575">
            <a:solidFill>
              <a:srgbClr val="FF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lnSpc>
                <a:spcPct val="150000"/>
              </a:lnSpc>
              <a:buFontTx/>
              <a:buNone/>
            </a:pPr>
            <a:r>
              <a:rPr lang="en-US" altLang="zh-CN" sz="2400" b="1" dirty="0">
                <a:solidFill>
                  <a:srgbClr val="0000FF"/>
                </a:solidFill>
                <a:latin typeface="黑体" pitchFamily="49" charset="-122"/>
                <a:ea typeface="黑体" pitchFamily="49" charset="-122"/>
                <a:sym typeface="Wingdings" pitchFamily="2" charset="2"/>
              </a:rPr>
              <a:t>1).</a:t>
            </a:r>
            <a:r>
              <a:rPr lang="zh-CN" altLang="en-US" sz="2400" b="1" dirty="0">
                <a:solidFill>
                  <a:srgbClr val="0000FF"/>
                </a:solidFill>
                <a:latin typeface="黑体" pitchFamily="49" charset="-122"/>
                <a:ea typeface="黑体" pitchFamily="49" charset="-122"/>
              </a:rPr>
              <a:t>弹性理论证明，图</a:t>
            </a:r>
            <a:r>
              <a:rPr lang="en-US" altLang="zh-CN" sz="2400" b="1" i="1" dirty="0">
                <a:solidFill>
                  <a:srgbClr val="0000FF"/>
                </a:solidFill>
                <a:latin typeface="Times New Roman" pitchFamily="18" charset="0"/>
                <a:ea typeface="黑体" pitchFamily="49" charset="-122"/>
              </a:rPr>
              <a:t>a</a:t>
            </a:r>
            <a:r>
              <a:rPr lang="zh-CN" altLang="en-US" sz="2400" b="1" dirty="0">
                <a:solidFill>
                  <a:srgbClr val="0000FF"/>
                </a:solidFill>
                <a:latin typeface="黑体" pitchFamily="49" charset="-122"/>
                <a:ea typeface="黑体" pitchFamily="49" charset="-122"/>
              </a:rPr>
              <a:t>单元体内任意截面上的应力都对应着图</a:t>
            </a:r>
            <a:r>
              <a:rPr lang="en-US" altLang="zh-CN" sz="2400" b="1" dirty="0">
                <a:solidFill>
                  <a:srgbClr val="0000FF"/>
                </a:solidFill>
                <a:latin typeface="黑体" pitchFamily="49" charset="-122"/>
                <a:ea typeface="黑体" pitchFamily="49" charset="-122"/>
              </a:rPr>
              <a:t>b</a:t>
            </a:r>
            <a:r>
              <a:rPr lang="zh-CN" altLang="en-US" sz="2400" b="1" dirty="0">
                <a:solidFill>
                  <a:srgbClr val="0000FF"/>
                </a:solidFill>
                <a:latin typeface="黑体" pitchFamily="49" charset="-122"/>
                <a:ea typeface="黑体" pitchFamily="49" charset="-122"/>
              </a:rPr>
              <a:t>的应力圆上或阴影区内的一点。</a:t>
            </a:r>
          </a:p>
        </p:txBody>
      </p:sp>
      <p:sp>
        <p:nvSpPr>
          <p:cNvPr id="4" name="Rectangle 7"/>
          <p:cNvSpPr>
            <a:spLocks noChangeArrowheads="1"/>
          </p:cNvSpPr>
          <p:nvPr/>
        </p:nvSpPr>
        <p:spPr bwMode="auto">
          <a:xfrm>
            <a:off x="611561" y="5764213"/>
            <a:ext cx="4824536" cy="560387"/>
          </a:xfrm>
          <a:prstGeom prst="rect">
            <a:avLst/>
          </a:prstGeom>
          <a:noFill/>
          <a:ln w="28575">
            <a:solidFill>
              <a:srgbClr val="FF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lnSpc>
                <a:spcPct val="90000"/>
              </a:lnSpc>
              <a:buFontTx/>
              <a:buNone/>
            </a:pPr>
            <a:r>
              <a:rPr lang="en-US" altLang="zh-CN" sz="2400" b="1" dirty="0">
                <a:solidFill>
                  <a:srgbClr val="0000FF"/>
                </a:solidFill>
                <a:latin typeface="黑体" pitchFamily="49" charset="-122"/>
                <a:ea typeface="黑体" pitchFamily="49" charset="-122"/>
                <a:sym typeface="Wingdings" pitchFamily="2" charset="2"/>
              </a:rPr>
              <a:t>2).</a:t>
            </a:r>
            <a:r>
              <a:rPr lang="zh-CN" altLang="en-US" sz="2400" b="1" dirty="0">
                <a:solidFill>
                  <a:srgbClr val="0000FF"/>
                </a:solidFill>
                <a:latin typeface="黑体" pitchFamily="49" charset="-122"/>
                <a:ea typeface="黑体" pitchFamily="49" charset="-122"/>
              </a:rPr>
              <a:t>整个单元体内的最大切应力为</a:t>
            </a:r>
            <a:r>
              <a:rPr lang="zh-CN" altLang="en-US" sz="2400" dirty="0">
                <a:solidFill>
                  <a:srgbClr val="0000FF"/>
                </a:solidFill>
                <a:latin typeface="黑体" pitchFamily="49" charset="-122"/>
                <a:ea typeface="黑体" pitchFamily="49" charset="-122"/>
              </a:rPr>
              <a:t>：</a:t>
            </a:r>
          </a:p>
        </p:txBody>
      </p:sp>
      <p:graphicFrame>
        <p:nvGraphicFramePr>
          <p:cNvPr id="5" name="Object 16"/>
          <p:cNvGraphicFramePr>
            <a:graphicFrameLocks noChangeAspect="1"/>
          </p:cNvGraphicFramePr>
          <p:nvPr>
            <p:extLst>
              <p:ext uri="{D42A27DB-BD31-4B8C-83A1-F6EECF244321}">
                <p14:modId xmlns:p14="http://schemas.microsoft.com/office/powerpoint/2010/main" val="1292659743"/>
              </p:ext>
            </p:extLst>
          </p:nvPr>
        </p:nvGraphicFramePr>
        <p:xfrm>
          <a:off x="5488360" y="5521325"/>
          <a:ext cx="2387600" cy="787400"/>
        </p:xfrm>
        <a:graphic>
          <a:graphicData uri="http://schemas.openxmlformats.org/presentationml/2006/ole">
            <mc:AlternateContent xmlns:mc="http://schemas.openxmlformats.org/markup-compatibility/2006">
              <mc:Choice xmlns:v="urn:schemas-microsoft-com:vml" Requires="v">
                <p:oleObj name="Equation" r:id="rId3" imgW="1193800" imgH="393700" progId="">
                  <p:embed/>
                </p:oleObj>
              </mc:Choice>
              <mc:Fallback>
                <p:oleObj name="Equation" r:id="rId3" imgW="1193800" imgH="393700" progId="">
                  <p:embed/>
                  <p:pic>
                    <p:nvPicPr>
                      <p:cNvPr id="0"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88360" y="5521325"/>
                        <a:ext cx="2387600" cy="787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429338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lt">
                                    <p:tmPct val="100000"/>
                                  </p:iterate>
                                  <p:childTnLst>
                                    <p:set>
                                      <p:cBhvr>
                                        <p:cTn id="11" dur="1" fill="hold">
                                          <p:stCondLst>
                                            <p:cond delay="0"/>
                                          </p:stCondLst>
                                        </p:cTn>
                                        <p:tgtEl>
                                          <p:spTgt spid="3"/>
                                        </p:tgtEl>
                                        <p:attrNameLst>
                                          <p:attrName>style.visibility</p:attrName>
                                        </p:attrNameLst>
                                      </p:cBhvr>
                                      <p:to>
                                        <p:strVal val="visible"/>
                                      </p:to>
                                    </p:set>
                                    <p:animEffect transition="in" filter="wipe(left)">
                                      <p:cBhvr>
                                        <p:cTn id="12" dur="75"/>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lt">
                                    <p:tmPct val="100000"/>
                                  </p:iterate>
                                  <p:childTnLst>
                                    <p:set>
                                      <p:cBhvr>
                                        <p:cTn id="16" dur="1" fill="hold">
                                          <p:stCondLst>
                                            <p:cond delay="0"/>
                                          </p:stCondLst>
                                        </p:cTn>
                                        <p:tgtEl>
                                          <p:spTgt spid="4"/>
                                        </p:tgtEl>
                                        <p:attrNameLst>
                                          <p:attrName>style.visibility</p:attrName>
                                        </p:attrNameLst>
                                      </p:cBhvr>
                                      <p:to>
                                        <p:strVal val="visible"/>
                                      </p:to>
                                    </p:set>
                                    <p:animEffect transition="in" filter="wipe(left)">
                                      <p:cBhvr>
                                        <p:cTn id="17" dur="75"/>
                                        <p:tgtEl>
                                          <p:spTgt spid="4"/>
                                        </p:tgtEl>
                                      </p:cBhvr>
                                    </p:animEffect>
                                  </p:childTnLst>
                                </p:cTn>
                              </p:par>
                            </p:childTnLst>
                          </p:cTn>
                        </p:par>
                        <p:par>
                          <p:cTn id="18" fill="hold">
                            <p:stCondLst>
                              <p:cond delay="1275"/>
                            </p:stCondLst>
                            <p:childTnLst>
                              <p:par>
                                <p:cTn id="19" presetID="1" presetClass="entr" presetSubtype="0" fill="hold" nodeType="afterEffect">
                                  <p:stCondLst>
                                    <p:cond delay="0"/>
                                  </p:stCondLst>
                                  <p:childTnLst>
                                    <p:set>
                                      <p:cBhvr>
                                        <p:cTn id="20" dur="1" fill="hold">
                                          <p:stCondLst>
                                            <p:cond delay="499"/>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autoUpdateAnimBg="0"/>
      <p:bldP spid="4" grpId="0" animBg="1"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4"/>
          <p:cNvSpPr>
            <a:spLocks noChangeArrowheads="1"/>
          </p:cNvSpPr>
          <p:nvPr/>
        </p:nvSpPr>
        <p:spPr bwMode="auto">
          <a:xfrm>
            <a:off x="467544" y="459469"/>
            <a:ext cx="2376264" cy="519112"/>
          </a:xfrm>
          <a:prstGeom prst="rect">
            <a:avLst/>
          </a:prstGeom>
          <a:noFill/>
          <a:ln w="28575">
            <a:solidFill>
              <a:srgbClr val="FF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50000"/>
              </a:spcBef>
              <a:buFontTx/>
              <a:buNone/>
            </a:pPr>
            <a:r>
              <a:rPr kumimoji="1" lang="zh-CN" altLang="en-US" sz="2800" b="1" dirty="0">
                <a:solidFill>
                  <a:srgbClr val="0000FF"/>
                </a:solidFill>
                <a:latin typeface="黑体" pitchFamily="49" charset="-122"/>
                <a:ea typeface="黑体" pitchFamily="49" charset="-122"/>
              </a:rPr>
              <a:t>广义胡克定律</a:t>
            </a:r>
          </a:p>
        </p:txBody>
      </p:sp>
      <p:graphicFrame>
        <p:nvGraphicFramePr>
          <p:cNvPr id="3" name="对象 2"/>
          <p:cNvGraphicFramePr>
            <a:graphicFrameLocks noChangeAspect="1"/>
          </p:cNvGraphicFramePr>
          <p:nvPr>
            <p:extLst>
              <p:ext uri="{D42A27DB-BD31-4B8C-83A1-F6EECF244321}">
                <p14:modId xmlns:p14="http://schemas.microsoft.com/office/powerpoint/2010/main" val="2833491027"/>
              </p:ext>
            </p:extLst>
          </p:nvPr>
        </p:nvGraphicFramePr>
        <p:xfrm>
          <a:off x="2843808" y="1124744"/>
          <a:ext cx="3657600" cy="2944813"/>
        </p:xfrm>
        <a:graphic>
          <a:graphicData uri="http://schemas.openxmlformats.org/presentationml/2006/ole">
            <mc:AlternateContent xmlns:mc="http://schemas.openxmlformats.org/markup-compatibility/2006">
              <mc:Choice xmlns:v="urn:schemas-microsoft-com:vml" Requires="v">
                <p:oleObj name="公式" r:id="rId2" imgW="1498600" imgH="1206500" progId="">
                  <p:embed/>
                </p:oleObj>
              </mc:Choice>
              <mc:Fallback>
                <p:oleObj name="公式" r:id="rId2" imgW="1498600" imgH="1206500" progId="">
                  <p:embed/>
                  <p:pic>
                    <p:nvPicPr>
                      <p:cNvPr id="0" name="Picture 1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3808" y="1124744"/>
                        <a:ext cx="3657600" cy="2944813"/>
                      </a:xfrm>
                      <a:prstGeom prst="rect">
                        <a:avLst/>
                      </a:prstGeom>
                      <a:noFill/>
                      <a:ln>
                        <a:noFill/>
                      </a:ln>
                      <a:effectLst/>
                      <a:extLst>
                        <a:ext uri="{909E8E84-426E-40DD-AFC4-6F175D3DCCD1}">
                          <a14:hiddenFill xmlns:a14="http://schemas.microsoft.com/office/drawing/2010/main">
                            <a:solidFill>
                              <a:srgbClr val="CCCCFF"/>
                            </a:solidFill>
                          </a14:hiddenFill>
                        </a:ext>
                        <a:ext uri="{91240B29-F687-4F45-9708-019B960494DF}">
                          <a14:hiddenLine xmlns:a14="http://schemas.microsoft.com/office/drawing/2010/main" w="38100">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223313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0-#ppt_w/2"/>
                                          </p:val>
                                        </p:tav>
                                        <p:tav tm="100000">
                                          <p:val>
                                            <p:strVal val="#ppt_x"/>
                                          </p:val>
                                        </p:tav>
                                      </p:tavLst>
                                    </p:anim>
                                    <p:anim calcmode="lin" valueType="num">
                                      <p:cBhvr additive="base">
                                        <p:cTn id="13"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ine 2"/>
          <p:cNvSpPr>
            <a:spLocks noChangeShapeType="1"/>
          </p:cNvSpPr>
          <p:nvPr/>
        </p:nvSpPr>
        <p:spPr bwMode="auto">
          <a:xfrm>
            <a:off x="1934071" y="3351758"/>
            <a:ext cx="2057400" cy="0"/>
          </a:xfrm>
          <a:prstGeom prst="line">
            <a:avLst/>
          </a:prstGeom>
          <a:noFill/>
          <a:ln w="19050">
            <a:solidFill>
              <a:schemeClr val="accent2"/>
            </a:solidFill>
            <a:prstDash val="lgDash"/>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solidFill>
                <a:srgbClr val="0000FF"/>
              </a:solidFill>
            </a:endParaRPr>
          </a:p>
        </p:txBody>
      </p:sp>
      <p:grpSp>
        <p:nvGrpSpPr>
          <p:cNvPr id="3" name="Group 3"/>
          <p:cNvGrpSpPr>
            <a:grpSpLocks/>
          </p:cNvGrpSpPr>
          <p:nvPr/>
        </p:nvGrpSpPr>
        <p:grpSpPr bwMode="auto">
          <a:xfrm>
            <a:off x="827584" y="2208758"/>
            <a:ext cx="2266950" cy="2097087"/>
            <a:chOff x="215" y="768"/>
            <a:chExt cx="1428" cy="1321"/>
          </a:xfrm>
        </p:grpSpPr>
        <p:grpSp>
          <p:nvGrpSpPr>
            <p:cNvPr id="4" name="Group 4"/>
            <p:cNvGrpSpPr>
              <a:grpSpLocks/>
            </p:cNvGrpSpPr>
            <p:nvPr/>
          </p:nvGrpSpPr>
          <p:grpSpPr bwMode="auto">
            <a:xfrm>
              <a:off x="1224" y="1334"/>
              <a:ext cx="67" cy="380"/>
              <a:chOff x="5045" y="2996"/>
              <a:chExt cx="67" cy="429"/>
            </a:xfrm>
          </p:grpSpPr>
          <p:sp>
            <p:nvSpPr>
              <p:cNvPr id="22" name="Rectangle 5"/>
              <p:cNvSpPr>
                <a:spLocks noChangeArrowheads="1"/>
              </p:cNvSpPr>
              <p:nvPr/>
            </p:nvSpPr>
            <p:spPr bwMode="auto">
              <a:xfrm>
                <a:off x="5067" y="2996"/>
                <a:ext cx="24" cy="32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solidFill>
                    <a:srgbClr val="0000FF"/>
                  </a:solidFill>
                </a:endParaRPr>
              </a:p>
            </p:txBody>
          </p:sp>
          <p:sp>
            <p:nvSpPr>
              <p:cNvPr id="23" name="Freeform 6"/>
              <p:cNvSpPr>
                <a:spLocks/>
              </p:cNvSpPr>
              <p:nvPr/>
            </p:nvSpPr>
            <p:spPr bwMode="auto">
              <a:xfrm>
                <a:off x="5045" y="3318"/>
                <a:ext cx="67" cy="107"/>
              </a:xfrm>
              <a:custGeom>
                <a:avLst/>
                <a:gdLst>
                  <a:gd name="T0" fmla="*/ 0 w 67"/>
                  <a:gd name="T1" fmla="*/ 0 h 107"/>
                  <a:gd name="T2" fmla="*/ 34 w 67"/>
                  <a:gd name="T3" fmla="*/ 107 h 107"/>
                  <a:gd name="T4" fmla="*/ 67 w 67"/>
                  <a:gd name="T5" fmla="*/ 0 h 107"/>
                  <a:gd name="T6" fmla="*/ 0 w 67"/>
                  <a:gd name="T7" fmla="*/ 0 h 10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7" h="107">
                    <a:moveTo>
                      <a:pt x="0" y="0"/>
                    </a:moveTo>
                    <a:lnTo>
                      <a:pt x="34" y="107"/>
                    </a:lnTo>
                    <a:lnTo>
                      <a:pt x="67"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rgbClr val="0000FF"/>
                  </a:solidFill>
                </a:endParaRPr>
              </a:p>
            </p:txBody>
          </p:sp>
        </p:grpSp>
        <p:grpSp>
          <p:nvGrpSpPr>
            <p:cNvPr id="5" name="Group 7"/>
            <p:cNvGrpSpPr>
              <a:grpSpLocks/>
            </p:cNvGrpSpPr>
            <p:nvPr/>
          </p:nvGrpSpPr>
          <p:grpSpPr bwMode="auto">
            <a:xfrm>
              <a:off x="671" y="1185"/>
              <a:ext cx="434" cy="59"/>
              <a:chOff x="4519" y="2828"/>
              <a:chExt cx="434" cy="67"/>
            </a:xfrm>
          </p:grpSpPr>
          <p:sp>
            <p:nvSpPr>
              <p:cNvPr id="20" name="Rectangle 8"/>
              <p:cNvSpPr>
                <a:spLocks noChangeArrowheads="1"/>
              </p:cNvSpPr>
              <p:nvPr/>
            </p:nvSpPr>
            <p:spPr bwMode="auto">
              <a:xfrm>
                <a:off x="4624" y="2850"/>
                <a:ext cx="329" cy="2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solidFill>
                    <a:srgbClr val="0000FF"/>
                  </a:solidFill>
                </a:endParaRPr>
              </a:p>
            </p:txBody>
          </p:sp>
          <p:sp>
            <p:nvSpPr>
              <p:cNvPr id="21" name="Freeform 9"/>
              <p:cNvSpPr>
                <a:spLocks/>
              </p:cNvSpPr>
              <p:nvPr/>
            </p:nvSpPr>
            <p:spPr bwMode="auto">
              <a:xfrm>
                <a:off x="4519" y="2828"/>
                <a:ext cx="107" cy="67"/>
              </a:xfrm>
              <a:custGeom>
                <a:avLst/>
                <a:gdLst>
                  <a:gd name="T0" fmla="*/ 107 w 107"/>
                  <a:gd name="T1" fmla="*/ 0 h 67"/>
                  <a:gd name="T2" fmla="*/ 0 w 107"/>
                  <a:gd name="T3" fmla="*/ 34 h 67"/>
                  <a:gd name="T4" fmla="*/ 107 w 107"/>
                  <a:gd name="T5" fmla="*/ 67 h 67"/>
                  <a:gd name="T6" fmla="*/ 107 w 107"/>
                  <a:gd name="T7" fmla="*/ 0 h 6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7" h="67">
                    <a:moveTo>
                      <a:pt x="107" y="0"/>
                    </a:moveTo>
                    <a:lnTo>
                      <a:pt x="0" y="34"/>
                    </a:lnTo>
                    <a:lnTo>
                      <a:pt x="107" y="67"/>
                    </a:lnTo>
                    <a:lnTo>
                      <a:pt x="10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rgbClr val="0000FF"/>
                  </a:solidFill>
                </a:endParaRPr>
              </a:p>
            </p:txBody>
          </p:sp>
        </p:grpSp>
        <p:grpSp>
          <p:nvGrpSpPr>
            <p:cNvPr id="6" name="Group 10"/>
            <p:cNvGrpSpPr>
              <a:grpSpLocks/>
            </p:cNvGrpSpPr>
            <p:nvPr/>
          </p:nvGrpSpPr>
          <p:grpSpPr bwMode="auto">
            <a:xfrm>
              <a:off x="629" y="1255"/>
              <a:ext cx="577" cy="512"/>
              <a:chOff x="4462" y="2899"/>
              <a:chExt cx="577" cy="577"/>
            </a:xfrm>
          </p:grpSpPr>
          <p:sp>
            <p:nvSpPr>
              <p:cNvPr id="16" name="Rectangle 11"/>
              <p:cNvSpPr>
                <a:spLocks noChangeArrowheads="1"/>
              </p:cNvSpPr>
              <p:nvPr/>
            </p:nvSpPr>
            <p:spPr bwMode="auto">
              <a:xfrm>
                <a:off x="4462" y="2899"/>
                <a:ext cx="576" cy="576"/>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solidFill>
                    <a:srgbClr val="0000FF"/>
                  </a:solidFill>
                </a:endParaRPr>
              </a:p>
            </p:txBody>
          </p:sp>
          <p:sp>
            <p:nvSpPr>
              <p:cNvPr id="17" name="Rectangle 12"/>
              <p:cNvSpPr>
                <a:spLocks noChangeArrowheads="1"/>
              </p:cNvSpPr>
              <p:nvPr/>
            </p:nvSpPr>
            <p:spPr bwMode="auto">
              <a:xfrm>
                <a:off x="4462" y="2899"/>
                <a:ext cx="576" cy="576"/>
              </a:xfrm>
              <a:prstGeom prst="rect">
                <a:avLst/>
              </a:prstGeom>
              <a:solidFill>
                <a:srgbClr val="00FFFF"/>
              </a:solidFill>
              <a:ln w="0">
                <a:solidFill>
                  <a:srgbClr val="FFFFFF"/>
                </a:solidFill>
                <a:miter lim="800000"/>
                <a:headEnd/>
                <a:tailEnd/>
              </a:ln>
            </p:spPr>
            <p:txBody>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solidFill>
                    <a:srgbClr val="0000FF"/>
                  </a:solidFill>
                </a:endParaRPr>
              </a:p>
            </p:txBody>
          </p:sp>
          <p:sp>
            <p:nvSpPr>
              <p:cNvPr id="18" name="Rectangle 13"/>
              <p:cNvSpPr>
                <a:spLocks noChangeArrowheads="1"/>
              </p:cNvSpPr>
              <p:nvPr/>
            </p:nvSpPr>
            <p:spPr bwMode="auto">
              <a:xfrm>
                <a:off x="4462" y="2899"/>
                <a:ext cx="577" cy="577"/>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solidFill>
                    <a:srgbClr val="0000FF"/>
                  </a:solidFill>
                </a:endParaRPr>
              </a:p>
            </p:txBody>
          </p:sp>
          <p:sp>
            <p:nvSpPr>
              <p:cNvPr id="19" name="Rectangle 14"/>
              <p:cNvSpPr>
                <a:spLocks noChangeArrowheads="1"/>
              </p:cNvSpPr>
              <p:nvPr/>
            </p:nvSpPr>
            <p:spPr bwMode="auto">
              <a:xfrm>
                <a:off x="4462" y="2899"/>
                <a:ext cx="576" cy="576"/>
              </a:xfrm>
              <a:prstGeom prst="rect">
                <a:avLst/>
              </a:prstGeom>
              <a:solidFill>
                <a:srgbClr val="FF99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zh-CN" sz="1800">
                  <a:solidFill>
                    <a:srgbClr val="0000FF"/>
                  </a:solidFill>
                </a:endParaRPr>
              </a:p>
            </p:txBody>
          </p:sp>
        </p:grpSp>
        <p:grpSp>
          <p:nvGrpSpPr>
            <p:cNvPr id="7" name="Group 15"/>
            <p:cNvGrpSpPr>
              <a:grpSpLocks/>
            </p:cNvGrpSpPr>
            <p:nvPr/>
          </p:nvGrpSpPr>
          <p:grpSpPr bwMode="auto">
            <a:xfrm>
              <a:off x="545" y="1290"/>
              <a:ext cx="67" cy="469"/>
              <a:chOff x="4393" y="2947"/>
              <a:chExt cx="67" cy="528"/>
            </a:xfrm>
          </p:grpSpPr>
          <p:sp>
            <p:nvSpPr>
              <p:cNvPr id="14" name="Rectangle 16"/>
              <p:cNvSpPr>
                <a:spLocks noChangeArrowheads="1"/>
              </p:cNvSpPr>
              <p:nvPr/>
            </p:nvSpPr>
            <p:spPr bwMode="auto">
              <a:xfrm>
                <a:off x="4414" y="3116"/>
                <a:ext cx="24" cy="3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solidFill>
                    <a:srgbClr val="0000FF"/>
                  </a:solidFill>
                </a:endParaRPr>
              </a:p>
            </p:txBody>
          </p:sp>
          <p:sp>
            <p:nvSpPr>
              <p:cNvPr id="15" name="Freeform 17"/>
              <p:cNvSpPr>
                <a:spLocks/>
              </p:cNvSpPr>
              <p:nvPr/>
            </p:nvSpPr>
            <p:spPr bwMode="auto">
              <a:xfrm>
                <a:off x="4393" y="2947"/>
                <a:ext cx="67" cy="171"/>
              </a:xfrm>
              <a:custGeom>
                <a:avLst/>
                <a:gdLst>
                  <a:gd name="T0" fmla="*/ 67 w 67"/>
                  <a:gd name="T1" fmla="*/ 171 h 171"/>
                  <a:gd name="T2" fmla="*/ 33 w 67"/>
                  <a:gd name="T3" fmla="*/ 0 h 171"/>
                  <a:gd name="T4" fmla="*/ 0 w 67"/>
                  <a:gd name="T5" fmla="*/ 171 h 171"/>
                  <a:gd name="T6" fmla="*/ 67 w 67"/>
                  <a:gd name="T7" fmla="*/ 171 h 17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7" h="171">
                    <a:moveTo>
                      <a:pt x="67" y="171"/>
                    </a:moveTo>
                    <a:lnTo>
                      <a:pt x="33" y="0"/>
                    </a:lnTo>
                    <a:lnTo>
                      <a:pt x="0" y="171"/>
                    </a:lnTo>
                    <a:lnTo>
                      <a:pt x="67" y="17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rgbClr val="0000FF"/>
                  </a:solidFill>
                </a:endParaRPr>
              </a:p>
            </p:txBody>
          </p:sp>
        </p:grpSp>
        <p:graphicFrame>
          <p:nvGraphicFramePr>
            <p:cNvPr id="8" name="Object 18"/>
            <p:cNvGraphicFramePr>
              <a:graphicFrameLocks noChangeAspect="1"/>
            </p:cNvGraphicFramePr>
            <p:nvPr/>
          </p:nvGraphicFramePr>
          <p:xfrm>
            <a:off x="1415" y="1228"/>
            <a:ext cx="228" cy="273"/>
          </p:xfrm>
          <a:graphic>
            <a:graphicData uri="http://schemas.openxmlformats.org/presentationml/2006/ole">
              <mc:AlternateContent xmlns:mc="http://schemas.openxmlformats.org/markup-compatibility/2006">
                <mc:Choice xmlns:v="urn:schemas-microsoft-com:vml" Requires="v">
                  <p:oleObj name="Equation" r:id="rId2" imgW="190500" imgH="228600" progId="">
                    <p:embed/>
                  </p:oleObj>
                </mc:Choice>
                <mc:Fallback>
                  <p:oleObj name="Equation" r:id="rId2" imgW="190500" imgH="228600" progId="">
                    <p:embed/>
                    <p:pic>
                      <p:nvPicPr>
                        <p:cNvPr id="0" name="Picture 7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5" y="1228"/>
                          <a:ext cx="228" cy="27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Line 19"/>
            <p:cNvSpPr>
              <a:spLocks noChangeShapeType="1"/>
            </p:cNvSpPr>
            <p:nvPr/>
          </p:nvSpPr>
          <p:spPr bwMode="auto">
            <a:xfrm flipH="1" flipV="1">
              <a:off x="215" y="1534"/>
              <a:ext cx="288" cy="0"/>
            </a:xfrm>
            <a:prstGeom prst="line">
              <a:avLst/>
            </a:prstGeom>
            <a:noFill/>
            <a:ln w="28575">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FF"/>
                </a:solidFill>
              </a:endParaRPr>
            </a:p>
          </p:txBody>
        </p:sp>
        <p:sp>
          <p:nvSpPr>
            <p:cNvPr id="10" name="Line 20"/>
            <p:cNvSpPr>
              <a:spLocks noChangeShapeType="1"/>
            </p:cNvSpPr>
            <p:nvPr/>
          </p:nvSpPr>
          <p:spPr bwMode="auto">
            <a:xfrm flipV="1">
              <a:off x="905" y="919"/>
              <a:ext cx="0" cy="240"/>
            </a:xfrm>
            <a:prstGeom prst="line">
              <a:avLst/>
            </a:prstGeom>
            <a:noFill/>
            <a:ln w="28575">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FF"/>
                </a:solidFill>
              </a:endParaRPr>
            </a:p>
          </p:txBody>
        </p:sp>
        <p:sp>
          <p:nvSpPr>
            <p:cNvPr id="11" name="Line 21"/>
            <p:cNvSpPr>
              <a:spLocks noChangeShapeType="1"/>
            </p:cNvSpPr>
            <p:nvPr/>
          </p:nvSpPr>
          <p:spPr bwMode="auto">
            <a:xfrm>
              <a:off x="896" y="1849"/>
              <a:ext cx="0" cy="240"/>
            </a:xfrm>
            <a:prstGeom prst="line">
              <a:avLst/>
            </a:prstGeom>
            <a:noFill/>
            <a:ln w="28575">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FF"/>
                </a:solidFill>
              </a:endParaRPr>
            </a:p>
          </p:txBody>
        </p:sp>
        <p:sp>
          <p:nvSpPr>
            <p:cNvPr id="12" name="Line 22"/>
            <p:cNvSpPr>
              <a:spLocks noChangeShapeType="1"/>
            </p:cNvSpPr>
            <p:nvPr/>
          </p:nvSpPr>
          <p:spPr bwMode="auto">
            <a:xfrm>
              <a:off x="1271" y="1495"/>
              <a:ext cx="336" cy="0"/>
            </a:xfrm>
            <a:prstGeom prst="line">
              <a:avLst/>
            </a:prstGeom>
            <a:noFill/>
            <a:ln w="28575">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FF"/>
                </a:solidFill>
              </a:endParaRPr>
            </a:p>
          </p:txBody>
        </p:sp>
        <p:graphicFrame>
          <p:nvGraphicFramePr>
            <p:cNvPr id="13" name="Object 23"/>
            <p:cNvGraphicFramePr>
              <a:graphicFrameLocks noChangeAspect="1"/>
            </p:cNvGraphicFramePr>
            <p:nvPr/>
          </p:nvGraphicFramePr>
          <p:xfrm>
            <a:off x="652" y="768"/>
            <a:ext cx="243" cy="288"/>
          </p:xfrm>
          <a:graphic>
            <a:graphicData uri="http://schemas.openxmlformats.org/presentationml/2006/ole">
              <mc:AlternateContent xmlns:mc="http://schemas.openxmlformats.org/markup-compatibility/2006">
                <mc:Choice xmlns:v="urn:schemas-microsoft-com:vml" Requires="v">
                  <p:oleObj name="Equation" r:id="rId4" imgW="203112" imgH="241195" progId="">
                    <p:embed/>
                  </p:oleObj>
                </mc:Choice>
                <mc:Fallback>
                  <p:oleObj name="Equation" r:id="rId4" imgW="203112" imgH="241195" progId="">
                    <p:embed/>
                    <p:pic>
                      <p:nvPicPr>
                        <p:cNvPr id="0" name="Picture 7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2" y="768"/>
                          <a:ext cx="243"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4" name="Text Box 24"/>
          <p:cNvSpPr txBox="1">
            <a:spLocks noChangeArrowheads="1"/>
          </p:cNvSpPr>
          <p:nvPr/>
        </p:nvSpPr>
        <p:spPr bwMode="auto">
          <a:xfrm>
            <a:off x="755576" y="1114307"/>
            <a:ext cx="7542783" cy="833178"/>
          </a:xfrm>
          <a:prstGeom prst="rect">
            <a:avLst/>
          </a:prstGeom>
          <a:noFill/>
          <a:ln w="28575">
            <a:solidFill>
              <a:srgbClr val="FF0000"/>
            </a:solidFill>
          </a:ln>
          <a:effectLst/>
          <a:extLst>
            <a:ext uri="{909E8E84-426E-40DD-AFC4-6F175D3DCCD1}">
              <a14:hiddenFill xmlns:a14="http://schemas.microsoft.com/office/drawing/2010/main">
                <a:solidFill>
                  <a:srgbClr val="0000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kumimoji="1" lang="zh-CN" altLang="en-US" sz="2400" b="1" dirty="0">
                <a:solidFill>
                  <a:srgbClr val="0000FF"/>
                </a:solidFill>
                <a:ea typeface="黑体" pitchFamily="49" charset="-122"/>
              </a:rPr>
              <a:t>广义胡克定律的应用</a:t>
            </a:r>
            <a:r>
              <a:rPr kumimoji="1" lang="en-US" altLang="zh-CN" sz="2400" b="1" dirty="0">
                <a:solidFill>
                  <a:srgbClr val="0000FF"/>
                </a:solidFill>
                <a:ea typeface="黑体" pitchFamily="49" charset="-122"/>
              </a:rPr>
              <a:t>——</a:t>
            </a:r>
            <a:r>
              <a:rPr kumimoji="1" lang="zh-CN" altLang="en-US" sz="2400" b="1" dirty="0">
                <a:solidFill>
                  <a:srgbClr val="0000FF"/>
                </a:solidFill>
                <a:latin typeface="宋体" pitchFamily="2" charset="-122"/>
                <a:ea typeface="黑体" pitchFamily="49" charset="-122"/>
              </a:rPr>
              <a:t>求平面应力状态下任意方向</a:t>
            </a:r>
          </a:p>
          <a:p>
            <a:pPr eaLnBrk="1" hangingPunct="1">
              <a:spcBef>
                <a:spcPct val="0"/>
              </a:spcBef>
              <a:buFontTx/>
              <a:buNone/>
            </a:pPr>
            <a:r>
              <a:rPr kumimoji="1" lang="zh-CN" altLang="en-US" sz="2400" b="1" dirty="0">
                <a:solidFill>
                  <a:srgbClr val="0000FF"/>
                </a:solidFill>
                <a:latin typeface="宋体" pitchFamily="2" charset="-122"/>
                <a:ea typeface="黑体" pitchFamily="49" charset="-122"/>
              </a:rPr>
              <a:t>                      的正应变：</a:t>
            </a:r>
          </a:p>
        </p:txBody>
      </p:sp>
      <p:graphicFrame>
        <p:nvGraphicFramePr>
          <p:cNvPr id="25" name="Object 25"/>
          <p:cNvGraphicFramePr>
            <a:graphicFrameLocks noChangeAspect="1"/>
          </p:cNvGraphicFramePr>
          <p:nvPr>
            <p:extLst>
              <p:ext uri="{D42A27DB-BD31-4B8C-83A1-F6EECF244321}">
                <p14:modId xmlns:p14="http://schemas.microsoft.com/office/powerpoint/2010/main" val="3915934301"/>
              </p:ext>
            </p:extLst>
          </p:nvPr>
        </p:nvGraphicFramePr>
        <p:xfrm>
          <a:off x="4482009" y="2556420"/>
          <a:ext cx="3784600" cy="1006475"/>
        </p:xfrm>
        <a:graphic>
          <a:graphicData uri="http://schemas.openxmlformats.org/presentationml/2006/ole">
            <mc:AlternateContent xmlns:mc="http://schemas.openxmlformats.org/markup-compatibility/2006">
              <mc:Choice xmlns:v="urn:schemas-microsoft-com:vml" Requires="v">
                <p:oleObj name="公式" r:id="rId6" imgW="1345616" imgH="393529" progId="">
                  <p:embed/>
                </p:oleObj>
              </mc:Choice>
              <mc:Fallback>
                <p:oleObj name="公式" r:id="rId6" imgW="1345616" imgH="393529" progId="">
                  <p:embed/>
                  <p:pic>
                    <p:nvPicPr>
                      <p:cNvPr id="0" name="Picture 7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82009" y="2556420"/>
                        <a:ext cx="37846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Lst>
                    </p:spPr>
                  </p:pic>
                </p:oleObj>
              </mc:Fallback>
            </mc:AlternateContent>
          </a:graphicData>
        </a:graphic>
      </p:graphicFrame>
      <p:sp>
        <p:nvSpPr>
          <p:cNvPr id="26" name="Rectangle 29"/>
          <p:cNvSpPr>
            <a:spLocks noChangeArrowheads="1"/>
          </p:cNvSpPr>
          <p:nvPr/>
        </p:nvSpPr>
        <p:spPr bwMode="auto">
          <a:xfrm>
            <a:off x="2673846" y="2851695"/>
            <a:ext cx="555625"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solidFill>
                <a:srgbClr val="0000FF"/>
              </a:solidFill>
            </a:endParaRPr>
          </a:p>
        </p:txBody>
      </p:sp>
      <p:sp>
        <p:nvSpPr>
          <p:cNvPr id="27" name="Rectangle 30"/>
          <p:cNvSpPr>
            <a:spLocks noChangeArrowheads="1"/>
          </p:cNvSpPr>
          <p:nvPr/>
        </p:nvSpPr>
        <p:spPr bwMode="auto">
          <a:xfrm>
            <a:off x="3031034" y="3164433"/>
            <a:ext cx="25400" cy="122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lgn="ctr" eaLnBrk="1" hangingPunct="1">
              <a:spcBef>
                <a:spcPct val="0"/>
              </a:spcBef>
              <a:buFontTx/>
              <a:buNone/>
            </a:pPr>
            <a:r>
              <a:rPr kumimoji="1" lang="en-US" altLang="zh-CN" sz="800" b="1">
                <a:solidFill>
                  <a:srgbClr val="0000FF"/>
                </a:solidFill>
                <a:latin typeface="Times New Roman" pitchFamily="18" charset="0"/>
              </a:rPr>
              <a:t> </a:t>
            </a:r>
            <a:endParaRPr kumimoji="1" lang="en-US" altLang="zh-CN" sz="2400">
              <a:solidFill>
                <a:srgbClr val="0000FF"/>
              </a:solidFill>
              <a:latin typeface="Times New Roman" pitchFamily="18" charset="0"/>
            </a:endParaRPr>
          </a:p>
        </p:txBody>
      </p:sp>
      <p:sp>
        <p:nvSpPr>
          <p:cNvPr id="28" name="Rectangle 31"/>
          <p:cNvSpPr>
            <a:spLocks noChangeArrowheads="1"/>
          </p:cNvSpPr>
          <p:nvPr/>
        </p:nvSpPr>
        <p:spPr bwMode="auto">
          <a:xfrm>
            <a:off x="2340471" y="3515270"/>
            <a:ext cx="590550"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solidFill>
                <a:srgbClr val="0000FF"/>
              </a:solidFill>
            </a:endParaRPr>
          </a:p>
        </p:txBody>
      </p:sp>
      <p:sp>
        <p:nvSpPr>
          <p:cNvPr id="29" name="Rectangle 32"/>
          <p:cNvSpPr>
            <a:spLocks noChangeArrowheads="1"/>
          </p:cNvSpPr>
          <p:nvPr/>
        </p:nvSpPr>
        <p:spPr bwMode="auto">
          <a:xfrm>
            <a:off x="3064371" y="3977233"/>
            <a:ext cx="25400" cy="122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lgn="ctr" eaLnBrk="1" hangingPunct="1">
              <a:spcBef>
                <a:spcPct val="0"/>
              </a:spcBef>
              <a:buFontTx/>
              <a:buNone/>
            </a:pPr>
            <a:r>
              <a:rPr kumimoji="1" lang="en-US" altLang="zh-CN" sz="800" b="1">
                <a:solidFill>
                  <a:srgbClr val="0000FF"/>
                </a:solidFill>
                <a:latin typeface="Times New Roman" pitchFamily="18" charset="0"/>
              </a:rPr>
              <a:t> </a:t>
            </a:r>
            <a:endParaRPr kumimoji="1" lang="en-US" altLang="zh-CN" sz="2400">
              <a:solidFill>
                <a:srgbClr val="0000FF"/>
              </a:solidFill>
              <a:latin typeface="Times New Roman" pitchFamily="18" charset="0"/>
            </a:endParaRPr>
          </a:p>
        </p:txBody>
      </p:sp>
      <p:sp>
        <p:nvSpPr>
          <p:cNvPr id="30" name="Rectangle 33"/>
          <p:cNvSpPr>
            <a:spLocks noChangeArrowheads="1"/>
          </p:cNvSpPr>
          <p:nvPr/>
        </p:nvSpPr>
        <p:spPr bwMode="auto">
          <a:xfrm>
            <a:off x="2361109" y="2380208"/>
            <a:ext cx="25400" cy="122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lgn="ctr" eaLnBrk="1" hangingPunct="1">
              <a:spcBef>
                <a:spcPct val="0"/>
              </a:spcBef>
              <a:buFontTx/>
              <a:buNone/>
            </a:pPr>
            <a:r>
              <a:rPr kumimoji="1" lang="en-US" altLang="zh-CN" sz="800" b="1">
                <a:solidFill>
                  <a:srgbClr val="0000FF"/>
                </a:solidFill>
                <a:latin typeface="Times New Roman" pitchFamily="18" charset="0"/>
              </a:rPr>
              <a:t> </a:t>
            </a:r>
            <a:endParaRPr kumimoji="1" lang="en-US" altLang="zh-CN" sz="2400">
              <a:solidFill>
                <a:srgbClr val="0000FF"/>
              </a:solidFill>
              <a:latin typeface="Times New Roman" pitchFamily="18" charset="0"/>
            </a:endParaRPr>
          </a:p>
        </p:txBody>
      </p:sp>
      <p:grpSp>
        <p:nvGrpSpPr>
          <p:cNvPr id="31" name="Group 34"/>
          <p:cNvGrpSpPr>
            <a:grpSpLocks/>
          </p:cNvGrpSpPr>
          <p:nvPr/>
        </p:nvGrpSpPr>
        <p:grpSpPr bwMode="auto">
          <a:xfrm>
            <a:off x="1548309" y="3813720"/>
            <a:ext cx="823912" cy="95250"/>
            <a:chOff x="4517" y="3478"/>
            <a:chExt cx="519" cy="67"/>
          </a:xfrm>
        </p:grpSpPr>
        <p:sp>
          <p:nvSpPr>
            <p:cNvPr id="32" name="Rectangle 35"/>
            <p:cNvSpPr>
              <a:spLocks noChangeArrowheads="1"/>
            </p:cNvSpPr>
            <p:nvPr/>
          </p:nvSpPr>
          <p:spPr bwMode="auto">
            <a:xfrm>
              <a:off x="4517" y="3499"/>
              <a:ext cx="350" cy="2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solidFill>
                  <a:srgbClr val="0000FF"/>
                </a:solidFill>
              </a:endParaRPr>
            </a:p>
          </p:txBody>
        </p:sp>
        <p:sp>
          <p:nvSpPr>
            <p:cNvPr id="33" name="Freeform 36"/>
            <p:cNvSpPr>
              <a:spLocks/>
            </p:cNvSpPr>
            <p:nvPr/>
          </p:nvSpPr>
          <p:spPr bwMode="auto">
            <a:xfrm>
              <a:off x="4865" y="3478"/>
              <a:ext cx="171" cy="67"/>
            </a:xfrm>
            <a:custGeom>
              <a:avLst/>
              <a:gdLst>
                <a:gd name="T0" fmla="*/ 0 w 171"/>
                <a:gd name="T1" fmla="*/ 67 h 67"/>
                <a:gd name="T2" fmla="*/ 171 w 171"/>
                <a:gd name="T3" fmla="*/ 33 h 67"/>
                <a:gd name="T4" fmla="*/ 0 w 171"/>
                <a:gd name="T5" fmla="*/ 0 h 67"/>
                <a:gd name="T6" fmla="*/ 0 w 171"/>
                <a:gd name="T7" fmla="*/ 67 h 6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1" h="67">
                  <a:moveTo>
                    <a:pt x="0" y="67"/>
                  </a:moveTo>
                  <a:lnTo>
                    <a:pt x="171" y="33"/>
                  </a:lnTo>
                  <a:lnTo>
                    <a:pt x="0" y="0"/>
                  </a:lnTo>
                  <a:lnTo>
                    <a:pt x="0" y="6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rgbClr val="0000FF"/>
                </a:solidFill>
              </a:endParaRPr>
            </a:p>
          </p:txBody>
        </p:sp>
      </p:grpSp>
      <p:sp>
        <p:nvSpPr>
          <p:cNvPr id="34" name="Line 37"/>
          <p:cNvSpPr>
            <a:spLocks noChangeShapeType="1"/>
          </p:cNvSpPr>
          <p:nvPr/>
        </p:nvSpPr>
        <p:spPr bwMode="auto">
          <a:xfrm>
            <a:off x="1813421" y="3305720"/>
            <a:ext cx="1720850" cy="808038"/>
          </a:xfrm>
          <a:prstGeom prst="line">
            <a:avLst/>
          </a:prstGeom>
          <a:noFill/>
          <a:ln w="19050">
            <a:solidFill>
              <a:srgbClr val="33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solidFill>
                <a:srgbClr val="0000FF"/>
              </a:solidFill>
            </a:endParaRPr>
          </a:p>
        </p:txBody>
      </p:sp>
      <p:sp>
        <p:nvSpPr>
          <p:cNvPr id="35" name="Freeform 38"/>
          <p:cNvSpPr>
            <a:spLocks/>
          </p:cNvSpPr>
          <p:nvPr/>
        </p:nvSpPr>
        <p:spPr bwMode="auto">
          <a:xfrm>
            <a:off x="1934071" y="2455595"/>
            <a:ext cx="704850" cy="371513"/>
          </a:xfrm>
          <a:custGeom>
            <a:avLst/>
            <a:gdLst>
              <a:gd name="T0" fmla="*/ 0 w 444"/>
              <a:gd name="T1" fmla="*/ 2147483647 h 897"/>
              <a:gd name="T2" fmla="*/ 2147483647 w 444"/>
              <a:gd name="T3" fmla="*/ 0 h 897"/>
              <a:gd name="T4" fmla="*/ 0 60000 65536"/>
              <a:gd name="T5" fmla="*/ 0 60000 65536"/>
            </a:gdLst>
            <a:ahLst/>
            <a:cxnLst>
              <a:cxn ang="T4">
                <a:pos x="T0" y="T1"/>
              </a:cxn>
              <a:cxn ang="T5">
                <a:pos x="T2" y="T3"/>
              </a:cxn>
            </a:cxnLst>
            <a:rect l="0" t="0" r="r" b="b"/>
            <a:pathLst>
              <a:path w="444" h="897">
                <a:moveTo>
                  <a:pt x="0" y="897"/>
                </a:moveTo>
                <a:lnTo>
                  <a:pt x="444" y="0"/>
                </a:lnTo>
              </a:path>
            </a:pathLst>
          </a:custGeom>
          <a:noFill/>
          <a:ln w="19050" cap="flat" cmpd="sng">
            <a:solidFill>
              <a:srgbClr val="3333CC"/>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solidFill>
                <a:srgbClr val="0000FF"/>
              </a:solidFill>
            </a:endParaRPr>
          </a:p>
        </p:txBody>
      </p:sp>
      <p:sp>
        <p:nvSpPr>
          <p:cNvPr id="36" name="Freeform 39"/>
          <p:cNvSpPr>
            <a:spLocks/>
          </p:cNvSpPr>
          <p:nvPr/>
        </p:nvSpPr>
        <p:spPr bwMode="auto">
          <a:xfrm>
            <a:off x="3146921" y="3445401"/>
            <a:ext cx="181822" cy="371513"/>
          </a:xfrm>
          <a:custGeom>
            <a:avLst/>
            <a:gdLst>
              <a:gd name="T0" fmla="*/ 2147483647 w 88"/>
              <a:gd name="T1" fmla="*/ 0 h 336"/>
              <a:gd name="T2" fmla="*/ 2147483647 w 88"/>
              <a:gd name="T3" fmla="*/ 2147483647 h 336"/>
              <a:gd name="T4" fmla="*/ 0 w 88"/>
              <a:gd name="T5" fmla="*/ 2147483647 h 336"/>
              <a:gd name="T6" fmla="*/ 0 60000 65536"/>
              <a:gd name="T7" fmla="*/ 0 60000 65536"/>
              <a:gd name="T8" fmla="*/ 0 60000 65536"/>
            </a:gdLst>
            <a:ahLst/>
            <a:cxnLst>
              <a:cxn ang="T6">
                <a:pos x="T0" y="T1"/>
              </a:cxn>
              <a:cxn ang="T7">
                <a:pos x="T2" y="T3"/>
              </a:cxn>
              <a:cxn ang="T8">
                <a:pos x="T4" y="T5"/>
              </a:cxn>
            </a:cxnLst>
            <a:rect l="0" t="0" r="r" b="b"/>
            <a:pathLst>
              <a:path w="88" h="336">
                <a:moveTo>
                  <a:pt x="72" y="0"/>
                </a:moveTo>
                <a:cubicBezTo>
                  <a:pt x="73" y="25"/>
                  <a:pt x="88" y="92"/>
                  <a:pt x="76" y="148"/>
                </a:cubicBezTo>
                <a:cubicBezTo>
                  <a:pt x="64" y="204"/>
                  <a:pt x="16" y="297"/>
                  <a:pt x="0" y="336"/>
                </a:cubicBezTo>
              </a:path>
            </a:pathLst>
          </a:custGeom>
          <a:noFill/>
          <a:ln w="28575" cap="flat" cmpd="sng">
            <a:solidFill>
              <a:srgbClr val="336600"/>
            </a:solidFill>
            <a:prstDash val="solid"/>
            <a:round/>
            <a:headEnd/>
            <a:tailEnd type="triangle" w="sm" len="lg"/>
          </a:ln>
          <a:effectLst/>
          <a:extLst>
            <a:ext uri="{909E8E84-426E-40DD-AFC4-6F175D3DCCD1}">
              <a14:hiddenFill xmlns:a14="http://schemas.microsoft.com/office/drawing/2010/main">
                <a:solidFill>
                  <a:srgbClr val="0000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solidFill>
                <a:srgbClr val="0000FF"/>
              </a:solidFill>
            </a:endParaRPr>
          </a:p>
        </p:txBody>
      </p:sp>
      <p:sp>
        <p:nvSpPr>
          <p:cNvPr id="37" name="Freeform 40"/>
          <p:cNvSpPr>
            <a:spLocks/>
          </p:cNvSpPr>
          <p:nvPr/>
        </p:nvSpPr>
        <p:spPr bwMode="auto">
          <a:xfrm>
            <a:off x="2543671" y="2591326"/>
            <a:ext cx="181822" cy="371513"/>
          </a:xfrm>
          <a:custGeom>
            <a:avLst/>
            <a:gdLst>
              <a:gd name="T0" fmla="*/ 0 w 460"/>
              <a:gd name="T1" fmla="*/ 0 h 684"/>
              <a:gd name="T2" fmla="*/ 2147483647 w 460"/>
              <a:gd name="T3" fmla="*/ 2147483647 h 684"/>
              <a:gd name="T4" fmla="*/ 2147483647 w 460"/>
              <a:gd name="T5" fmla="*/ 2147483647 h 684"/>
              <a:gd name="T6" fmla="*/ 2147483647 w 460"/>
              <a:gd name="T7" fmla="*/ 2147483647 h 6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60" h="684">
                <a:moveTo>
                  <a:pt x="0" y="0"/>
                </a:moveTo>
                <a:cubicBezTo>
                  <a:pt x="51" y="33"/>
                  <a:pt x="233" y="133"/>
                  <a:pt x="304" y="200"/>
                </a:cubicBezTo>
                <a:cubicBezTo>
                  <a:pt x="375" y="267"/>
                  <a:pt x="402" y="323"/>
                  <a:pt x="428" y="404"/>
                </a:cubicBezTo>
                <a:cubicBezTo>
                  <a:pt x="454" y="485"/>
                  <a:pt x="453" y="626"/>
                  <a:pt x="460" y="684"/>
                </a:cubicBezTo>
              </a:path>
            </a:pathLst>
          </a:custGeom>
          <a:noFill/>
          <a:ln w="28575" cap="flat" cmpd="sng">
            <a:solidFill>
              <a:srgbClr val="336600"/>
            </a:solidFill>
            <a:prstDash val="solid"/>
            <a:round/>
            <a:headEnd type="triangle" w="sm" len="lg"/>
            <a:tailEnd type="none" w="med" len="med"/>
          </a:ln>
          <a:effectLst/>
          <a:extLst>
            <a:ext uri="{909E8E84-426E-40DD-AFC4-6F175D3DCCD1}">
              <a14:hiddenFill xmlns:a14="http://schemas.microsoft.com/office/drawing/2010/main">
                <a:solidFill>
                  <a:srgbClr val="00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solidFill>
                <a:srgbClr val="0000FF"/>
              </a:solidFill>
            </a:endParaRPr>
          </a:p>
        </p:txBody>
      </p:sp>
      <p:sp>
        <p:nvSpPr>
          <p:cNvPr id="38" name="Text Box 41"/>
          <p:cNvSpPr txBox="1">
            <a:spLocks noChangeArrowheads="1"/>
          </p:cNvSpPr>
          <p:nvPr/>
        </p:nvSpPr>
        <p:spPr bwMode="auto">
          <a:xfrm>
            <a:off x="3253542" y="3316685"/>
            <a:ext cx="375722" cy="463846"/>
          </a:xfrm>
          <a:prstGeom prst="rect">
            <a:avLst/>
          </a:prstGeom>
          <a:noFill/>
          <a:ln>
            <a:noFill/>
          </a:ln>
          <a:effectLst/>
          <a:extLst>
            <a:ext uri="{909E8E84-426E-40DD-AFC4-6F175D3DCCD1}">
              <a14:hiddenFill xmlns:a14="http://schemas.microsoft.com/office/drawing/2010/main">
                <a:solidFill>
                  <a:srgbClr val="0000FF"/>
                </a:solidFill>
              </a14:hiddenFill>
            </a:ext>
            <a:ext uri="{91240B29-F687-4F45-9708-019B960494DF}">
              <a14:hiddenLine xmlns:a14="http://schemas.microsoft.com/office/drawing/2010/main" w="38100">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lgn="ctr" eaLnBrk="1" hangingPunct="1">
              <a:spcBef>
                <a:spcPct val="0"/>
              </a:spcBef>
              <a:buFontTx/>
              <a:buNone/>
            </a:pPr>
            <a:r>
              <a:rPr kumimoji="1" lang="en-US" altLang="zh-CN" sz="2400" b="1" i="1">
                <a:solidFill>
                  <a:srgbClr val="0000FF"/>
                </a:solidFill>
                <a:latin typeface="Symbol" pitchFamily="18" charset="2"/>
              </a:rPr>
              <a:t>a</a:t>
            </a:r>
            <a:endParaRPr kumimoji="1" lang="en-US" altLang="zh-CN" sz="2400" i="1">
              <a:solidFill>
                <a:srgbClr val="0000FF"/>
              </a:solidFill>
              <a:latin typeface="Symbol" pitchFamily="18" charset="2"/>
            </a:endParaRPr>
          </a:p>
        </p:txBody>
      </p:sp>
      <p:sp>
        <p:nvSpPr>
          <p:cNvPr id="39" name="Text Box 42"/>
          <p:cNvSpPr txBox="1">
            <a:spLocks noChangeArrowheads="1"/>
          </p:cNvSpPr>
          <p:nvPr/>
        </p:nvSpPr>
        <p:spPr bwMode="auto">
          <a:xfrm>
            <a:off x="2754809" y="2409558"/>
            <a:ext cx="1296987" cy="371513"/>
          </a:xfrm>
          <a:prstGeom prst="rect">
            <a:avLst/>
          </a:prstGeom>
          <a:noFill/>
          <a:ln>
            <a:noFill/>
          </a:ln>
          <a:effectLst/>
          <a:extLst>
            <a:ext uri="{909E8E84-426E-40DD-AFC4-6F175D3DCCD1}">
              <a14:hiddenFill xmlns:a14="http://schemas.microsoft.com/office/drawing/2010/main">
                <a:solidFill>
                  <a:srgbClr val="0000FF"/>
                </a:solidFill>
              </a14:hiddenFill>
            </a:ext>
            <a:ext uri="{91240B29-F687-4F45-9708-019B960494DF}">
              <a14:hiddenLine xmlns:a14="http://schemas.microsoft.com/office/drawing/2010/main" w="38100">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lgn="ctr" eaLnBrk="1" hangingPunct="1">
              <a:spcBef>
                <a:spcPct val="0"/>
              </a:spcBef>
              <a:buFontTx/>
              <a:buNone/>
            </a:pPr>
            <a:r>
              <a:rPr kumimoji="1" lang="en-US" altLang="zh-CN" sz="1800" b="1" i="1">
                <a:solidFill>
                  <a:srgbClr val="0000FF"/>
                </a:solidFill>
                <a:latin typeface="Symbol" pitchFamily="18" charset="2"/>
              </a:rPr>
              <a:t>a</a:t>
            </a:r>
            <a:r>
              <a:rPr kumimoji="1" lang="en-US" altLang="zh-CN" sz="1800">
                <a:solidFill>
                  <a:srgbClr val="0000FF"/>
                </a:solidFill>
                <a:latin typeface="Symbol" pitchFamily="18" charset="2"/>
              </a:rPr>
              <a:t>+</a:t>
            </a:r>
            <a:r>
              <a:rPr kumimoji="1" lang="en-US" altLang="zh-CN" sz="1800" b="1">
                <a:solidFill>
                  <a:srgbClr val="0000FF"/>
                </a:solidFill>
                <a:latin typeface="Symbol" pitchFamily="18" charset="2"/>
              </a:rPr>
              <a:t>90</a:t>
            </a:r>
            <a:endParaRPr kumimoji="1" lang="en-US" altLang="zh-CN" sz="1800">
              <a:solidFill>
                <a:srgbClr val="0000FF"/>
              </a:solidFill>
              <a:latin typeface="Symbol" pitchFamily="18" charset="2"/>
            </a:endParaRPr>
          </a:p>
        </p:txBody>
      </p:sp>
      <p:graphicFrame>
        <p:nvGraphicFramePr>
          <p:cNvPr id="40" name="Object 43"/>
          <p:cNvGraphicFramePr>
            <a:graphicFrameLocks noChangeAspect="1"/>
          </p:cNvGraphicFramePr>
          <p:nvPr>
            <p:extLst>
              <p:ext uri="{D42A27DB-BD31-4B8C-83A1-F6EECF244321}">
                <p14:modId xmlns:p14="http://schemas.microsoft.com/office/powerpoint/2010/main" val="3376159985"/>
              </p:ext>
            </p:extLst>
          </p:nvPr>
        </p:nvGraphicFramePr>
        <p:xfrm>
          <a:off x="2427784" y="3591470"/>
          <a:ext cx="385762" cy="457200"/>
        </p:xfrm>
        <a:graphic>
          <a:graphicData uri="http://schemas.openxmlformats.org/presentationml/2006/ole">
            <mc:AlternateContent xmlns:mc="http://schemas.openxmlformats.org/markup-compatibility/2006">
              <mc:Choice xmlns:v="urn:schemas-microsoft-com:vml" Requires="v">
                <p:oleObj name="Equation" r:id="rId8" imgW="203112" imgH="241195" progId="">
                  <p:embed/>
                </p:oleObj>
              </mc:Choice>
              <mc:Fallback>
                <p:oleObj name="Equation" r:id="rId8" imgW="203112" imgH="241195" progId="">
                  <p:embed/>
                  <p:pic>
                    <p:nvPicPr>
                      <p:cNvPr id="0" name="Picture 7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27784" y="3591470"/>
                        <a:ext cx="385762"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1" name="Group 44"/>
          <p:cNvGrpSpPr>
            <a:grpSpLocks/>
          </p:cNvGrpSpPr>
          <p:nvPr/>
        </p:nvGrpSpPr>
        <p:grpSpPr bwMode="auto">
          <a:xfrm>
            <a:off x="1386384" y="4717008"/>
            <a:ext cx="6419850" cy="584200"/>
            <a:chOff x="96" y="2640"/>
            <a:chExt cx="4044" cy="368"/>
          </a:xfrm>
        </p:grpSpPr>
        <p:sp>
          <p:nvSpPr>
            <p:cNvPr id="42" name="Rectangle 45"/>
            <p:cNvSpPr>
              <a:spLocks noChangeArrowheads="1"/>
            </p:cNvSpPr>
            <p:nvPr/>
          </p:nvSpPr>
          <p:spPr bwMode="auto">
            <a:xfrm>
              <a:off x="1282" y="2640"/>
              <a:ext cx="350" cy="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solidFill>
                  <a:srgbClr val="0000FF"/>
                </a:solidFill>
              </a:endParaRPr>
            </a:p>
          </p:txBody>
        </p:sp>
        <p:sp>
          <p:nvSpPr>
            <p:cNvPr id="43" name="Text Box 46"/>
            <p:cNvSpPr txBox="1">
              <a:spLocks noChangeArrowheads="1"/>
            </p:cNvSpPr>
            <p:nvPr/>
          </p:nvSpPr>
          <p:spPr bwMode="auto">
            <a:xfrm>
              <a:off x="96" y="2686"/>
              <a:ext cx="3922" cy="292"/>
            </a:xfrm>
            <a:prstGeom prst="rect">
              <a:avLst/>
            </a:prstGeom>
            <a:noFill/>
            <a:ln>
              <a:noFill/>
            </a:ln>
            <a:effectLst/>
            <a:extLst>
              <a:ext uri="{909E8E84-426E-40DD-AFC4-6F175D3DCCD1}">
                <a14:hiddenFill xmlns:a14="http://schemas.microsoft.com/office/drawing/2010/main">
                  <a:solidFill>
                    <a:srgbClr val="0000FF"/>
                  </a:solidFill>
                </a14:hiddenFill>
              </a:ext>
              <a:ext uri="{91240B29-F687-4F45-9708-019B960494DF}">
                <a14:hiddenLine xmlns:a14="http://schemas.microsoft.com/office/drawing/2010/main" w="19050">
                  <a:solidFill>
                    <a:schemeClr val="bg2"/>
                  </a:solidFill>
                  <a:miter lim="800000"/>
                  <a:headEnd type="none" w="sm" len="me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kumimoji="1" lang="zh-CN" altLang="en-US" sz="2400" b="1">
                  <a:solidFill>
                    <a:srgbClr val="0000FF"/>
                  </a:solidFill>
                  <a:latin typeface="黑体" pitchFamily="49" charset="-122"/>
                  <a:ea typeface="黑体" pitchFamily="49" charset="-122"/>
                </a:rPr>
                <a:t>求出          </a:t>
              </a:r>
              <a:r>
                <a:rPr kumimoji="1" lang="en-US" altLang="zh-CN" sz="2400" b="1">
                  <a:solidFill>
                    <a:srgbClr val="0000FF"/>
                  </a:solidFill>
                  <a:latin typeface="黑体" pitchFamily="49" charset="-122"/>
                  <a:ea typeface="黑体" pitchFamily="49" charset="-122"/>
                </a:rPr>
                <a:t>,</a:t>
              </a:r>
              <a:r>
                <a:rPr kumimoji="1" lang="zh-CN" altLang="en-US" sz="2400" b="1">
                  <a:solidFill>
                    <a:srgbClr val="0000FF"/>
                  </a:solidFill>
                  <a:latin typeface="黑体" pitchFamily="49" charset="-122"/>
                  <a:ea typeface="黑体" pitchFamily="49" charset="-122"/>
                </a:rPr>
                <a:t>就可求得   方向的正应变 </a:t>
              </a:r>
            </a:p>
          </p:txBody>
        </p:sp>
        <p:graphicFrame>
          <p:nvGraphicFramePr>
            <p:cNvPr id="44" name="Object 47"/>
            <p:cNvGraphicFramePr>
              <a:graphicFrameLocks noChangeAspect="1"/>
            </p:cNvGraphicFramePr>
            <p:nvPr/>
          </p:nvGraphicFramePr>
          <p:xfrm>
            <a:off x="2426" y="2750"/>
            <a:ext cx="192" cy="192"/>
          </p:xfrm>
          <a:graphic>
            <a:graphicData uri="http://schemas.openxmlformats.org/presentationml/2006/ole">
              <mc:AlternateContent xmlns:mc="http://schemas.openxmlformats.org/markup-compatibility/2006">
                <mc:Choice xmlns:v="urn:schemas-microsoft-com:vml" Requires="v">
                  <p:oleObj name="Equation" r:id="rId10" imgW="139700" imgH="139700" progId="">
                    <p:embed/>
                  </p:oleObj>
                </mc:Choice>
                <mc:Fallback>
                  <p:oleObj name="Equation" r:id="rId10" imgW="139700" imgH="139700" progId="">
                    <p:embed/>
                    <p:pic>
                      <p:nvPicPr>
                        <p:cNvPr id="0" name="Picture 7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426" y="2750"/>
                          <a:ext cx="192" cy="19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5" name="Object 48"/>
            <p:cNvGraphicFramePr>
              <a:graphicFrameLocks noChangeAspect="1"/>
            </p:cNvGraphicFramePr>
            <p:nvPr/>
          </p:nvGraphicFramePr>
          <p:xfrm>
            <a:off x="3878" y="2659"/>
            <a:ext cx="262" cy="314"/>
          </p:xfrm>
          <a:graphic>
            <a:graphicData uri="http://schemas.openxmlformats.org/presentationml/2006/ole">
              <mc:AlternateContent xmlns:mc="http://schemas.openxmlformats.org/markup-compatibility/2006">
                <mc:Choice xmlns:v="urn:schemas-microsoft-com:vml" Requires="v">
                  <p:oleObj name="Equation" r:id="rId12" imgW="190500" imgH="228600" progId="">
                    <p:embed/>
                  </p:oleObj>
                </mc:Choice>
                <mc:Fallback>
                  <p:oleObj name="Equation" r:id="rId12" imgW="190500" imgH="228600" progId="">
                    <p:embed/>
                    <p:pic>
                      <p:nvPicPr>
                        <p:cNvPr id="0" name="Picture 7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878" y="2659"/>
                          <a:ext cx="262" cy="31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6" name="Object 49"/>
            <p:cNvGraphicFramePr>
              <a:graphicFrameLocks noChangeAspect="1"/>
            </p:cNvGraphicFramePr>
            <p:nvPr/>
          </p:nvGraphicFramePr>
          <p:xfrm>
            <a:off x="612" y="2704"/>
            <a:ext cx="864" cy="304"/>
          </p:xfrm>
          <a:graphic>
            <a:graphicData uri="http://schemas.openxmlformats.org/presentationml/2006/ole">
              <mc:AlternateContent xmlns:mc="http://schemas.openxmlformats.org/markup-compatibility/2006">
                <mc:Choice xmlns:v="urn:schemas-microsoft-com:vml" Requires="v">
                  <p:oleObj name="公式" r:id="rId14" imgW="685800" imgH="241300" progId="">
                    <p:embed/>
                  </p:oleObj>
                </mc:Choice>
                <mc:Fallback>
                  <p:oleObj name="公式" r:id="rId14" imgW="685800" imgH="241300" progId="">
                    <p:embed/>
                    <p:pic>
                      <p:nvPicPr>
                        <p:cNvPr id="0" name="Picture 7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12" y="2704"/>
                          <a:ext cx="864" cy="3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2984118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499"/>
                                          </p:stCondLst>
                                        </p:cTn>
                                        <p:tgtEl>
                                          <p:spTgt spid="3"/>
                                        </p:tgtEl>
                                        <p:attrNameLst>
                                          <p:attrName>style.visibility</p:attrName>
                                        </p:attrNameLst>
                                      </p:cBhvr>
                                      <p:to>
                                        <p:strVal val="visible"/>
                                      </p:to>
                                    </p:set>
                                  </p:childTnLst>
                                </p:cTn>
                              </p:par>
                            </p:childTnLst>
                          </p:cTn>
                        </p:par>
                        <p:par>
                          <p:cTn id="12" fill="hold">
                            <p:stCondLst>
                              <p:cond delay="500"/>
                            </p:stCondLst>
                            <p:childTnLst>
                              <p:par>
                                <p:cTn id="13" presetID="1" presetClass="entr" presetSubtype="0" fill="hold" nodeType="afterEffect">
                                  <p:stCondLst>
                                    <p:cond delay="0"/>
                                  </p:stCondLst>
                                  <p:childTnLst>
                                    <p:set>
                                      <p:cBhvr>
                                        <p:cTn id="14" dur="1" fill="hold">
                                          <p:stCondLst>
                                            <p:cond delay="499"/>
                                          </p:stCondLst>
                                        </p:cTn>
                                        <p:tgtEl>
                                          <p:spTgt spid="31"/>
                                        </p:tgtEl>
                                        <p:attrNameLst>
                                          <p:attrName>style.visibility</p:attrName>
                                        </p:attrNameLst>
                                      </p:cBhvr>
                                      <p:to>
                                        <p:strVal val="visible"/>
                                      </p:to>
                                    </p:set>
                                  </p:childTnLst>
                                </p:cTn>
                              </p:par>
                            </p:childTnLst>
                          </p:cTn>
                        </p:par>
                        <p:par>
                          <p:cTn id="15" fill="hold">
                            <p:stCondLst>
                              <p:cond delay="1000"/>
                            </p:stCondLst>
                            <p:childTnLst>
                              <p:par>
                                <p:cTn id="16" presetID="1" presetClass="entr" presetSubtype="0" fill="hold" nodeType="afterEffect">
                                  <p:stCondLst>
                                    <p:cond delay="0"/>
                                  </p:stCondLst>
                                  <p:childTnLst>
                                    <p:set>
                                      <p:cBhvr>
                                        <p:cTn id="17" dur="1" fill="hold">
                                          <p:stCondLst>
                                            <p:cond delay="499"/>
                                          </p:stCondLst>
                                        </p:cTn>
                                        <p:tgtEl>
                                          <p:spTgt spid="40"/>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499"/>
                                          </p:stCondLst>
                                        </p:cTn>
                                        <p:tgtEl>
                                          <p:spTgt spid="2"/>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34"/>
                                        </p:tgtEl>
                                        <p:attrNameLst>
                                          <p:attrName>style.visibility</p:attrName>
                                        </p:attrNameLst>
                                      </p:cBhvr>
                                      <p:to>
                                        <p:strVal val="visible"/>
                                      </p:to>
                                    </p:set>
                                    <p:animEffect transition="in" filter="wipe(up)">
                                      <p:cBhvr>
                                        <p:cTn id="26" dur="500"/>
                                        <p:tgtEl>
                                          <p:spTgt spid="34"/>
                                        </p:tgtEl>
                                      </p:cBhvr>
                                    </p:animEffect>
                                  </p:childTnLst>
                                </p:cTn>
                              </p:par>
                            </p:childTnLst>
                          </p:cTn>
                        </p:par>
                        <p:par>
                          <p:cTn id="27" fill="hold">
                            <p:stCondLst>
                              <p:cond delay="500"/>
                            </p:stCondLst>
                            <p:childTnLst>
                              <p:par>
                                <p:cTn id="28" presetID="22" presetClass="entr" presetSubtype="1" fill="hold" grpId="0" nodeType="afterEffect">
                                  <p:stCondLst>
                                    <p:cond delay="0"/>
                                  </p:stCondLst>
                                  <p:childTnLst>
                                    <p:set>
                                      <p:cBhvr>
                                        <p:cTn id="29" dur="1" fill="hold">
                                          <p:stCondLst>
                                            <p:cond delay="0"/>
                                          </p:stCondLst>
                                        </p:cTn>
                                        <p:tgtEl>
                                          <p:spTgt spid="36"/>
                                        </p:tgtEl>
                                        <p:attrNameLst>
                                          <p:attrName>style.visibility</p:attrName>
                                        </p:attrNameLst>
                                      </p:cBhvr>
                                      <p:to>
                                        <p:strVal val="visible"/>
                                      </p:to>
                                    </p:set>
                                    <p:animEffect transition="in" filter="wipe(up)">
                                      <p:cBhvr>
                                        <p:cTn id="30" dur="500"/>
                                        <p:tgtEl>
                                          <p:spTgt spid="36"/>
                                        </p:tgtEl>
                                      </p:cBhvr>
                                    </p:animEffect>
                                  </p:childTnLst>
                                </p:cTn>
                              </p:par>
                            </p:childTnLst>
                          </p:cTn>
                        </p:par>
                        <p:par>
                          <p:cTn id="31" fill="hold">
                            <p:stCondLst>
                              <p:cond delay="1000"/>
                            </p:stCondLst>
                            <p:childTnLst>
                              <p:par>
                                <p:cTn id="32" presetID="22" presetClass="entr" presetSubtype="1" fill="hold" grpId="0" nodeType="afterEffect">
                                  <p:stCondLst>
                                    <p:cond delay="0"/>
                                  </p:stCondLst>
                                  <p:childTnLst>
                                    <p:set>
                                      <p:cBhvr>
                                        <p:cTn id="33" dur="1" fill="hold">
                                          <p:stCondLst>
                                            <p:cond delay="0"/>
                                          </p:stCondLst>
                                        </p:cTn>
                                        <p:tgtEl>
                                          <p:spTgt spid="38"/>
                                        </p:tgtEl>
                                        <p:attrNameLst>
                                          <p:attrName>style.visibility</p:attrName>
                                        </p:attrNameLst>
                                      </p:cBhvr>
                                      <p:to>
                                        <p:strVal val="visible"/>
                                      </p:to>
                                    </p:set>
                                    <p:animEffect transition="in" filter="wipe(up)">
                                      <p:cBhvr>
                                        <p:cTn id="34" dur="500"/>
                                        <p:tgtEl>
                                          <p:spTgt spid="38"/>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499"/>
                                          </p:stCondLst>
                                        </p:cTn>
                                        <p:tgtEl>
                                          <p:spTgt spid="2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grpId="0" nodeType="clickEffect">
                                  <p:stCondLst>
                                    <p:cond delay="0"/>
                                  </p:stCondLst>
                                  <p:childTnLst>
                                    <p:set>
                                      <p:cBhvr>
                                        <p:cTn id="42" dur="1" fill="hold">
                                          <p:stCondLst>
                                            <p:cond delay="0"/>
                                          </p:stCondLst>
                                        </p:cTn>
                                        <p:tgtEl>
                                          <p:spTgt spid="37"/>
                                        </p:tgtEl>
                                        <p:attrNameLst>
                                          <p:attrName>style.visibility</p:attrName>
                                        </p:attrNameLst>
                                      </p:cBhvr>
                                      <p:to>
                                        <p:strVal val="visible"/>
                                      </p:to>
                                    </p:set>
                                    <p:animEffect transition="in" filter="wipe(up)">
                                      <p:cBhvr>
                                        <p:cTn id="43" dur="500"/>
                                        <p:tgtEl>
                                          <p:spTgt spid="37"/>
                                        </p:tgtEl>
                                      </p:cBhvr>
                                    </p:animEffect>
                                  </p:childTnLst>
                                </p:cTn>
                              </p:par>
                            </p:childTnLst>
                          </p:cTn>
                        </p:par>
                        <p:par>
                          <p:cTn id="44" fill="hold">
                            <p:stCondLst>
                              <p:cond delay="500"/>
                            </p:stCondLst>
                            <p:childTnLst>
                              <p:par>
                                <p:cTn id="45" presetID="22" presetClass="entr" presetSubtype="1" fill="hold" grpId="0" nodeType="afterEffect">
                                  <p:stCondLst>
                                    <p:cond delay="0"/>
                                  </p:stCondLst>
                                  <p:childTnLst>
                                    <p:set>
                                      <p:cBhvr>
                                        <p:cTn id="46" dur="1" fill="hold">
                                          <p:stCondLst>
                                            <p:cond delay="0"/>
                                          </p:stCondLst>
                                        </p:cTn>
                                        <p:tgtEl>
                                          <p:spTgt spid="39"/>
                                        </p:tgtEl>
                                        <p:attrNameLst>
                                          <p:attrName>style.visibility</p:attrName>
                                        </p:attrNameLst>
                                      </p:cBhvr>
                                      <p:to>
                                        <p:strVal val="visible"/>
                                      </p:to>
                                    </p:set>
                                    <p:animEffect transition="in" filter="wipe(up)">
                                      <p:cBhvr>
                                        <p:cTn id="47" dur="500"/>
                                        <p:tgtEl>
                                          <p:spTgt spid="39"/>
                                        </p:tgtEl>
                                      </p:cBhvr>
                                    </p:animEffect>
                                  </p:childTnLst>
                                </p:cTn>
                              </p:par>
                            </p:childTnLst>
                          </p:cTn>
                        </p:par>
                        <p:par>
                          <p:cTn id="48" fill="hold">
                            <p:stCondLst>
                              <p:cond delay="1000"/>
                            </p:stCondLst>
                            <p:childTnLst>
                              <p:par>
                                <p:cTn id="49" presetID="22" presetClass="entr" presetSubtype="1" fill="hold" grpId="0" nodeType="afterEffect">
                                  <p:stCondLst>
                                    <p:cond delay="0"/>
                                  </p:stCondLst>
                                  <p:childTnLst>
                                    <p:set>
                                      <p:cBhvr>
                                        <p:cTn id="50" dur="1" fill="hold">
                                          <p:stCondLst>
                                            <p:cond delay="0"/>
                                          </p:stCondLst>
                                        </p:cTn>
                                        <p:tgtEl>
                                          <p:spTgt spid="35"/>
                                        </p:tgtEl>
                                        <p:attrNameLst>
                                          <p:attrName>style.visibility</p:attrName>
                                        </p:attrNameLst>
                                      </p:cBhvr>
                                      <p:to>
                                        <p:strVal val="visible"/>
                                      </p:to>
                                    </p:set>
                                    <p:animEffect transition="in" filter="wipe(up)">
                                      <p:cBhvr>
                                        <p:cTn id="51" dur="500"/>
                                        <p:tgtEl>
                                          <p:spTgt spid="35"/>
                                        </p:tgtEl>
                                      </p:cBhvr>
                                    </p:animEffec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4" grpId="0" animBg="1"/>
      <p:bldP spid="34" grpId="0" animBg="1"/>
      <p:bldP spid="35" grpId="0" animBg="1"/>
      <p:bldP spid="36" grpId="0" animBg="1"/>
      <p:bldP spid="37" grpId="0" animBg="1"/>
      <p:bldP spid="38" grpId="0" autoUpdateAnimBg="0"/>
      <p:bldP spid="39" grpId="0"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3"/>
          <p:cNvSpPr txBox="1">
            <a:spLocks noChangeArrowheads="1"/>
          </p:cNvSpPr>
          <p:nvPr/>
        </p:nvSpPr>
        <p:spPr bwMode="auto">
          <a:xfrm>
            <a:off x="539552" y="677639"/>
            <a:ext cx="2232248" cy="519113"/>
          </a:xfrm>
          <a:prstGeom prst="rect">
            <a:avLst/>
          </a:prstGeom>
          <a:noFill/>
          <a:ln w="19050">
            <a:solidFill>
              <a:srgbClr val="FF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lgn="ctr" eaLnBrk="1" hangingPunct="1">
              <a:spcBef>
                <a:spcPct val="50000"/>
              </a:spcBef>
              <a:buFontTx/>
              <a:buNone/>
            </a:pPr>
            <a:r>
              <a:rPr kumimoji="1" lang="zh-CN" altLang="en-US" sz="2800" b="1" dirty="0">
                <a:solidFill>
                  <a:srgbClr val="0000FF"/>
                </a:solidFill>
                <a:latin typeface="黑体" pitchFamily="49" charset="-122"/>
                <a:ea typeface="黑体" pitchFamily="49" charset="-122"/>
              </a:rPr>
              <a:t>强度理论</a:t>
            </a:r>
          </a:p>
        </p:txBody>
      </p:sp>
      <p:sp>
        <p:nvSpPr>
          <p:cNvPr id="4" name="Text Box 4"/>
          <p:cNvSpPr txBox="1">
            <a:spLocks noChangeArrowheads="1"/>
          </p:cNvSpPr>
          <p:nvPr/>
        </p:nvSpPr>
        <p:spPr bwMode="auto">
          <a:xfrm>
            <a:off x="539031" y="2636912"/>
            <a:ext cx="8065417" cy="457200"/>
          </a:xfrm>
          <a:prstGeom prst="rect">
            <a:avLst/>
          </a:prstGeom>
          <a:noFill/>
          <a:ln w="19050">
            <a:solidFill>
              <a:srgbClr val="FF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 typeface="Monotype Sorts" pitchFamily="2" charset="2"/>
              <a:buNone/>
            </a:pPr>
            <a:r>
              <a:rPr kumimoji="1" lang="zh-CN" altLang="en-US" sz="2400" b="1" dirty="0">
                <a:solidFill>
                  <a:srgbClr val="0000FF"/>
                </a:solidFill>
                <a:latin typeface="黑体" pitchFamily="49" charset="-122"/>
                <a:ea typeface="黑体" pitchFamily="49" charset="-122"/>
              </a:rPr>
              <a:t>构件在</a:t>
            </a:r>
            <a:r>
              <a:rPr kumimoji="1" lang="zh-CN" altLang="en-US" sz="2400" b="1" dirty="0">
                <a:solidFill>
                  <a:srgbClr val="FF0000"/>
                </a:solidFill>
                <a:latin typeface="黑体" pitchFamily="49" charset="-122"/>
                <a:ea typeface="黑体" pitchFamily="49" charset="-122"/>
              </a:rPr>
              <a:t>静载荷</a:t>
            </a:r>
            <a:r>
              <a:rPr kumimoji="1" lang="zh-CN" altLang="en-US" sz="2400" b="1" dirty="0">
                <a:solidFill>
                  <a:srgbClr val="0000FF"/>
                </a:solidFill>
                <a:latin typeface="黑体" pitchFamily="49" charset="-122"/>
                <a:ea typeface="黑体" pitchFamily="49" charset="-122"/>
              </a:rPr>
              <a:t>作用下的两种失效形式：</a:t>
            </a:r>
          </a:p>
        </p:txBody>
      </p:sp>
      <p:sp>
        <p:nvSpPr>
          <p:cNvPr id="5" name="Text Box 5"/>
          <p:cNvSpPr txBox="1">
            <a:spLocks noChangeArrowheads="1"/>
          </p:cNvSpPr>
          <p:nvPr/>
        </p:nvSpPr>
        <p:spPr bwMode="auto">
          <a:xfrm>
            <a:off x="568099" y="3401124"/>
            <a:ext cx="8108357" cy="1107996"/>
          </a:xfrm>
          <a:prstGeom prst="rect">
            <a:avLst/>
          </a:prstGeom>
          <a:noFill/>
          <a:ln w="19050">
            <a:solidFill>
              <a:srgbClr val="FF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kumimoji="1" lang="en-US" altLang="zh-CN" sz="2000" b="1" dirty="0">
                <a:solidFill>
                  <a:srgbClr val="0000FF"/>
                </a:solidFill>
                <a:latin typeface="黑体" pitchFamily="49" charset="-122"/>
                <a:ea typeface="黑体" pitchFamily="49" charset="-122"/>
              </a:rPr>
              <a:t> </a:t>
            </a:r>
            <a:r>
              <a:rPr kumimoji="1" lang="en-US" altLang="zh-CN" sz="2200" b="1" dirty="0">
                <a:solidFill>
                  <a:srgbClr val="0000FF"/>
                </a:solidFill>
                <a:latin typeface="宋体" pitchFamily="2" charset="-122"/>
              </a:rPr>
              <a:t>(1)  </a:t>
            </a:r>
            <a:r>
              <a:rPr kumimoji="1" lang="zh-CN" altLang="en-US" sz="2200" b="1" dirty="0">
                <a:solidFill>
                  <a:srgbClr val="FF0000"/>
                </a:solidFill>
                <a:latin typeface="宋体" pitchFamily="2" charset="-122"/>
              </a:rPr>
              <a:t>脆性断裂</a:t>
            </a:r>
            <a:r>
              <a:rPr kumimoji="1" lang="zh-CN" altLang="en-US" sz="2200" b="1" dirty="0">
                <a:solidFill>
                  <a:srgbClr val="0000FF"/>
                </a:solidFill>
                <a:latin typeface="宋体" pitchFamily="2" charset="-122"/>
              </a:rPr>
              <a:t>：材料无明显的塑性变形即发生断裂，断面较粗糙，且多发生在垂直于最大正应力的截面上，如铸铁受拉、扭，低温脆断等。</a:t>
            </a:r>
          </a:p>
        </p:txBody>
      </p:sp>
      <p:sp>
        <p:nvSpPr>
          <p:cNvPr id="6" name="Text Box 6"/>
          <p:cNvSpPr txBox="1">
            <a:spLocks noChangeArrowheads="1"/>
          </p:cNvSpPr>
          <p:nvPr/>
        </p:nvSpPr>
        <p:spPr bwMode="auto">
          <a:xfrm>
            <a:off x="568098" y="4769276"/>
            <a:ext cx="8108358" cy="1107996"/>
          </a:xfrm>
          <a:prstGeom prst="rect">
            <a:avLst/>
          </a:prstGeom>
          <a:noFill/>
          <a:ln w="19050">
            <a:solidFill>
              <a:srgbClr val="FF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kumimoji="1" lang="en-US" altLang="zh-CN" sz="2000" b="1" dirty="0">
                <a:solidFill>
                  <a:srgbClr val="0000FF"/>
                </a:solidFill>
                <a:latin typeface="黑体" pitchFamily="49" charset="-122"/>
                <a:ea typeface="黑体" pitchFamily="49" charset="-122"/>
              </a:rPr>
              <a:t> </a:t>
            </a:r>
            <a:r>
              <a:rPr kumimoji="1" lang="en-US" altLang="zh-CN" sz="2200" b="1" dirty="0">
                <a:solidFill>
                  <a:srgbClr val="0000FF"/>
                </a:solidFill>
                <a:latin typeface="宋体" pitchFamily="2" charset="-122"/>
              </a:rPr>
              <a:t>(2)  </a:t>
            </a:r>
            <a:r>
              <a:rPr kumimoji="1" lang="zh-CN" altLang="en-US" sz="2200" b="1" dirty="0">
                <a:solidFill>
                  <a:srgbClr val="FF0000"/>
                </a:solidFill>
                <a:latin typeface="宋体" pitchFamily="2" charset="-122"/>
              </a:rPr>
              <a:t>塑性屈服</a:t>
            </a:r>
            <a:r>
              <a:rPr kumimoji="1" lang="zh-CN" altLang="en-US" sz="2200" b="1" dirty="0">
                <a:solidFill>
                  <a:srgbClr val="0000FF"/>
                </a:solidFill>
                <a:latin typeface="宋体" pitchFamily="2" charset="-122"/>
              </a:rPr>
              <a:t>（流动）：材料破坏前发生显著的塑性变形，破坏断面粒子较光滑，且多发生在最大剪应力面上，例如低碳钢拉、扭，铸铁压。</a:t>
            </a:r>
          </a:p>
        </p:txBody>
      </p:sp>
      <p:sp>
        <p:nvSpPr>
          <p:cNvPr id="7" name="Rectangle 8"/>
          <p:cNvSpPr>
            <a:spLocks noChangeArrowheads="1"/>
          </p:cNvSpPr>
          <p:nvPr/>
        </p:nvSpPr>
        <p:spPr bwMode="auto">
          <a:xfrm>
            <a:off x="558800" y="1579439"/>
            <a:ext cx="8027988" cy="769441"/>
          </a:xfrm>
          <a:prstGeom prst="rect">
            <a:avLst/>
          </a:prstGeom>
          <a:noFill/>
          <a:ln w="19050">
            <a:solidFill>
              <a:srgbClr val="FF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kumimoji="1" lang="zh-CN" altLang="en-US" sz="2200" b="1" dirty="0">
                <a:solidFill>
                  <a:srgbClr val="0000FF"/>
                </a:solidFill>
              </a:rPr>
              <a:t>为了建立</a:t>
            </a:r>
            <a:r>
              <a:rPr kumimoji="1" lang="zh-CN" altLang="en-US" sz="2200" b="1" dirty="0">
                <a:solidFill>
                  <a:srgbClr val="FF0000"/>
                </a:solidFill>
              </a:rPr>
              <a:t>复杂应力状态</a:t>
            </a:r>
            <a:r>
              <a:rPr kumimoji="1" lang="zh-CN" altLang="en-US" sz="2200" b="1" dirty="0">
                <a:solidFill>
                  <a:srgbClr val="0000FF"/>
                </a:solidFill>
              </a:rPr>
              <a:t>下的强度条件，而提出的关于材料破坏原因的假设及计算方法</a:t>
            </a:r>
          </a:p>
        </p:txBody>
      </p:sp>
    </p:spTree>
    <p:extLst>
      <p:ext uri="{BB962C8B-B14F-4D97-AF65-F5344CB8AC3E}">
        <p14:creationId xmlns:p14="http://schemas.microsoft.com/office/powerpoint/2010/main" val="1234743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left)">
                                      <p:cBhvr>
                                        <p:cTn id="16" dur="5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wipe(left)">
                                      <p:cBhvr>
                                        <p:cTn id="21" dur="500"/>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wipe(left)">
                                      <p:cBhvr>
                                        <p:cTn id="2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autoUpdateAnimBg="0"/>
      <p:bldP spid="6" grpId="0" animBg="1"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304800" y="1052513"/>
            <a:ext cx="8153400" cy="504279"/>
          </a:xfrm>
          <a:prstGeom prst="rect">
            <a:avLst/>
          </a:prstGeom>
          <a:noFill/>
          <a:ln w="19050">
            <a:solidFill>
              <a:srgbClr val="FF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fontAlgn="base">
              <a:spcBef>
                <a:spcPct val="0"/>
              </a:spcBef>
              <a:spcAft>
                <a:spcPct val="0"/>
              </a:spcAft>
              <a:defRPr>
                <a:solidFill>
                  <a:schemeClr val="tx1"/>
                </a:solidFill>
                <a:latin typeface="Arial" charset="0"/>
                <a:ea typeface="宋体" pitchFamily="2" charset="-122"/>
              </a:defRPr>
            </a:lvl6pPr>
            <a:lvl7pPr marL="2971800" indent="-228600" fontAlgn="base">
              <a:spcBef>
                <a:spcPct val="0"/>
              </a:spcBef>
              <a:spcAft>
                <a:spcPct val="0"/>
              </a:spcAft>
              <a:defRPr>
                <a:solidFill>
                  <a:schemeClr val="tx1"/>
                </a:solidFill>
                <a:latin typeface="Arial" charset="0"/>
                <a:ea typeface="宋体" pitchFamily="2" charset="-122"/>
              </a:defRPr>
            </a:lvl7pPr>
            <a:lvl8pPr marL="3429000" indent="-228600" fontAlgn="base">
              <a:spcBef>
                <a:spcPct val="0"/>
              </a:spcBef>
              <a:spcAft>
                <a:spcPct val="0"/>
              </a:spcAft>
              <a:defRPr>
                <a:solidFill>
                  <a:schemeClr val="tx1"/>
                </a:solidFill>
                <a:latin typeface="Arial" charset="0"/>
                <a:ea typeface="宋体" pitchFamily="2" charset="-122"/>
              </a:defRPr>
            </a:lvl8pPr>
            <a:lvl9pPr marL="3886200" indent="-228600" fontAlgn="base">
              <a:spcBef>
                <a:spcPct val="0"/>
              </a:spcBef>
              <a:spcAft>
                <a:spcPct val="0"/>
              </a:spcAft>
              <a:defRPr>
                <a:solidFill>
                  <a:schemeClr val="tx1"/>
                </a:solidFill>
                <a:latin typeface="Arial" charset="0"/>
                <a:ea typeface="宋体" pitchFamily="2" charset="-122"/>
              </a:defRPr>
            </a:lvl9pPr>
          </a:lstStyle>
          <a:p>
            <a:pPr>
              <a:spcBef>
                <a:spcPct val="20000"/>
              </a:spcBef>
              <a:buFont typeface="Monotype Sorts" pitchFamily="2" charset="2"/>
              <a:buNone/>
              <a:defRPr/>
            </a:pPr>
            <a:r>
              <a:rPr lang="en-US" altLang="zh-CN" sz="2600" b="1">
                <a:solidFill>
                  <a:srgbClr val="0000FF"/>
                </a:solidFill>
                <a:effectLst>
                  <a:outerShdw blurRad="38100" dist="38100" dir="2700000" algn="tl">
                    <a:srgbClr val="C0C0C0"/>
                  </a:outerShdw>
                </a:effectLst>
                <a:latin typeface="黑体" pitchFamily="2" charset="-122"/>
                <a:ea typeface="黑体" pitchFamily="2" charset="-122"/>
                <a:sym typeface="Monotype Sorts" pitchFamily="2" charset="2"/>
              </a:rPr>
              <a:t>1. </a:t>
            </a:r>
            <a:r>
              <a:rPr lang="zh-CN" altLang="en-US" sz="2600" b="1">
                <a:solidFill>
                  <a:srgbClr val="0000FF"/>
                </a:solidFill>
                <a:effectLst>
                  <a:outerShdw blurRad="38100" dist="38100" dir="2700000" algn="tl">
                    <a:srgbClr val="C0C0C0"/>
                  </a:outerShdw>
                </a:effectLst>
                <a:latin typeface="黑体" pitchFamily="2" charset="-122"/>
                <a:ea typeface="黑体" pitchFamily="2" charset="-122"/>
              </a:rPr>
              <a:t>最大拉应力理论（第一强度理论）</a:t>
            </a:r>
          </a:p>
        </p:txBody>
      </p:sp>
      <p:sp>
        <p:nvSpPr>
          <p:cNvPr id="3" name="Rectangle 3"/>
          <p:cNvSpPr>
            <a:spLocks noChangeArrowheads="1"/>
          </p:cNvSpPr>
          <p:nvPr/>
        </p:nvSpPr>
        <p:spPr bwMode="auto">
          <a:xfrm>
            <a:off x="323528" y="1655483"/>
            <a:ext cx="8136904" cy="549381"/>
          </a:xfrm>
          <a:prstGeom prst="rect">
            <a:avLst/>
          </a:prstGeom>
          <a:noFill/>
          <a:ln w="19050">
            <a:solidFill>
              <a:srgbClr val="FF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lnSpc>
                <a:spcPct val="135000"/>
              </a:lnSpc>
              <a:spcBef>
                <a:spcPct val="50000"/>
              </a:spcBef>
              <a:buFontTx/>
              <a:buNone/>
            </a:pPr>
            <a:r>
              <a:rPr kumimoji="1" lang="en-US" altLang="zh-CN" sz="2000" b="1" dirty="0">
                <a:solidFill>
                  <a:srgbClr val="0000FF"/>
                </a:solidFill>
                <a:latin typeface="黑体" pitchFamily="49" charset="-122"/>
                <a:ea typeface="黑体" pitchFamily="49" charset="-122"/>
              </a:rPr>
              <a:t>  </a:t>
            </a:r>
            <a:r>
              <a:rPr kumimoji="1" lang="zh-CN" altLang="en-US" sz="2200" b="1" dirty="0">
                <a:solidFill>
                  <a:srgbClr val="0000FF"/>
                </a:solidFill>
                <a:latin typeface="黑体" pitchFamily="49" charset="-122"/>
                <a:ea typeface="黑体" pitchFamily="49" charset="-122"/>
              </a:rPr>
              <a:t>材料发生脆性断裂的主要因素是最大拉应力达到极限值</a:t>
            </a:r>
          </a:p>
        </p:txBody>
      </p:sp>
      <p:graphicFrame>
        <p:nvGraphicFramePr>
          <p:cNvPr id="4" name="Object 4"/>
          <p:cNvGraphicFramePr>
            <a:graphicFrameLocks noChangeAspect="1"/>
          </p:cNvGraphicFramePr>
          <p:nvPr>
            <p:extLst>
              <p:ext uri="{D42A27DB-BD31-4B8C-83A1-F6EECF244321}">
                <p14:modId xmlns:p14="http://schemas.microsoft.com/office/powerpoint/2010/main" val="2655061979"/>
              </p:ext>
            </p:extLst>
          </p:nvPr>
        </p:nvGraphicFramePr>
        <p:xfrm>
          <a:off x="3492500" y="2276475"/>
          <a:ext cx="1152525" cy="581025"/>
        </p:xfrm>
        <a:graphic>
          <a:graphicData uri="http://schemas.openxmlformats.org/presentationml/2006/ole">
            <mc:AlternateContent xmlns:mc="http://schemas.openxmlformats.org/markup-compatibility/2006">
              <mc:Choice xmlns:v="urn:schemas-microsoft-com:vml" Requires="v">
                <p:oleObj name="Equation" r:id="rId2" imgW="408600" imgH="151560" progId="">
                  <p:embed/>
                </p:oleObj>
              </mc:Choice>
              <mc:Fallback>
                <p:oleObj name="Equation" r:id="rId2" imgW="408600" imgH="151560" progId="">
                  <p:embed/>
                  <p:pic>
                    <p:nvPicPr>
                      <p:cNvPr id="0" name="Picture 6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2500" y="2276475"/>
                        <a:ext cx="1152525"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5" name="Group 5"/>
          <p:cNvGrpSpPr>
            <a:grpSpLocks/>
          </p:cNvGrpSpPr>
          <p:nvPr/>
        </p:nvGrpSpPr>
        <p:grpSpPr bwMode="auto">
          <a:xfrm>
            <a:off x="1476375" y="2891938"/>
            <a:ext cx="4248150" cy="588960"/>
            <a:chOff x="240" y="2287"/>
            <a:chExt cx="5376" cy="601"/>
          </a:xfrm>
        </p:grpSpPr>
        <p:sp>
          <p:nvSpPr>
            <p:cNvPr id="6" name="Rectangle 6"/>
            <p:cNvSpPr>
              <a:spLocks noChangeArrowheads="1"/>
            </p:cNvSpPr>
            <p:nvPr/>
          </p:nvSpPr>
          <p:spPr bwMode="auto">
            <a:xfrm>
              <a:off x="240" y="2287"/>
              <a:ext cx="5376" cy="6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lnSpc>
                  <a:spcPct val="135000"/>
                </a:lnSpc>
                <a:spcBef>
                  <a:spcPct val="50000"/>
                </a:spcBef>
                <a:buFontTx/>
                <a:buNone/>
              </a:pPr>
              <a:r>
                <a:rPr kumimoji="1" lang="en-US" altLang="zh-CN" sz="2800" b="1">
                  <a:solidFill>
                    <a:srgbClr val="0000FF"/>
                  </a:solidFill>
                  <a:latin typeface="黑体" pitchFamily="49" charset="-122"/>
                  <a:ea typeface="黑体" pitchFamily="49" charset="-122"/>
                </a:rPr>
                <a:t>   </a:t>
              </a:r>
              <a:r>
                <a:rPr kumimoji="1" lang="zh-CN" altLang="en-US" sz="2200" b="1">
                  <a:solidFill>
                    <a:srgbClr val="0000FF"/>
                  </a:solidFill>
                  <a:latin typeface="黑体" pitchFamily="49" charset="-122"/>
                  <a:ea typeface="黑体" pitchFamily="49" charset="-122"/>
                </a:rPr>
                <a:t>－构件危险点的最大拉应力</a:t>
              </a:r>
            </a:p>
          </p:txBody>
        </p:sp>
        <p:graphicFrame>
          <p:nvGraphicFramePr>
            <p:cNvPr id="7" name="Object 7"/>
            <p:cNvGraphicFramePr>
              <a:graphicFrameLocks noChangeAspect="1"/>
            </p:cNvGraphicFramePr>
            <p:nvPr/>
          </p:nvGraphicFramePr>
          <p:xfrm>
            <a:off x="336" y="2352"/>
            <a:ext cx="364" cy="473"/>
          </p:xfrm>
          <a:graphic>
            <a:graphicData uri="http://schemas.openxmlformats.org/presentationml/2006/ole">
              <mc:AlternateContent xmlns:mc="http://schemas.openxmlformats.org/markup-compatibility/2006">
                <mc:Choice xmlns:v="urn:schemas-microsoft-com:vml" Requires="v">
                  <p:oleObj name="Equation" r:id="rId4" imgW="122400" imgH="143280" progId="">
                    <p:embed/>
                  </p:oleObj>
                </mc:Choice>
                <mc:Fallback>
                  <p:oleObj name="Equation" r:id="rId4" imgW="122400" imgH="143280" progId="">
                    <p:embed/>
                    <p:pic>
                      <p:nvPicPr>
                        <p:cNvPr id="0" name="Picture 6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6" y="2352"/>
                          <a:ext cx="364" cy="4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8" name="Group 8"/>
          <p:cNvGrpSpPr>
            <a:grpSpLocks/>
          </p:cNvGrpSpPr>
          <p:nvPr/>
        </p:nvGrpSpPr>
        <p:grpSpPr bwMode="auto">
          <a:xfrm>
            <a:off x="684213" y="3573463"/>
            <a:ext cx="7993062" cy="603250"/>
            <a:chOff x="192" y="3036"/>
            <a:chExt cx="5376" cy="529"/>
          </a:xfrm>
        </p:grpSpPr>
        <p:grpSp>
          <p:nvGrpSpPr>
            <p:cNvPr id="9" name="Group 9"/>
            <p:cNvGrpSpPr>
              <a:grpSpLocks/>
            </p:cNvGrpSpPr>
            <p:nvPr/>
          </p:nvGrpSpPr>
          <p:grpSpPr bwMode="auto">
            <a:xfrm>
              <a:off x="192" y="3036"/>
              <a:ext cx="5376" cy="529"/>
              <a:chOff x="192" y="3229"/>
              <a:chExt cx="5376" cy="529"/>
            </a:xfrm>
          </p:grpSpPr>
          <p:sp>
            <p:nvSpPr>
              <p:cNvPr id="11" name="Rectangle 10"/>
              <p:cNvSpPr>
                <a:spLocks noChangeArrowheads="1"/>
              </p:cNvSpPr>
              <p:nvPr/>
            </p:nvSpPr>
            <p:spPr bwMode="auto">
              <a:xfrm>
                <a:off x="192" y="3275"/>
                <a:ext cx="5376" cy="4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lnSpc>
                    <a:spcPct val="135000"/>
                  </a:lnSpc>
                  <a:spcBef>
                    <a:spcPct val="50000"/>
                  </a:spcBef>
                  <a:buFontTx/>
                  <a:buNone/>
                </a:pPr>
                <a:r>
                  <a:rPr kumimoji="1" lang="en-US" altLang="zh-CN" sz="2000" b="1">
                    <a:solidFill>
                      <a:srgbClr val="0000FF"/>
                    </a:solidFill>
                    <a:latin typeface="黑体" pitchFamily="49" charset="-122"/>
                    <a:ea typeface="黑体" pitchFamily="49" charset="-122"/>
                  </a:rPr>
                  <a:t>      </a:t>
                </a:r>
                <a:r>
                  <a:rPr kumimoji="1" lang="zh-CN" altLang="en-US" sz="2200" b="1">
                    <a:solidFill>
                      <a:srgbClr val="0000FF"/>
                    </a:solidFill>
                    <a:latin typeface="黑体" pitchFamily="49" charset="-122"/>
                    <a:ea typeface="黑体" pitchFamily="49" charset="-122"/>
                  </a:rPr>
                  <a:t>－极限拉应力，由单向拉伸实验测得</a:t>
                </a:r>
              </a:p>
            </p:txBody>
          </p:sp>
          <p:graphicFrame>
            <p:nvGraphicFramePr>
              <p:cNvPr id="12" name="Object 11"/>
              <p:cNvGraphicFramePr>
                <a:graphicFrameLocks noChangeAspect="1"/>
              </p:cNvGraphicFramePr>
              <p:nvPr/>
            </p:nvGraphicFramePr>
            <p:xfrm>
              <a:off x="4262" y="3229"/>
              <a:ext cx="1018" cy="529"/>
            </p:xfrm>
            <a:graphic>
              <a:graphicData uri="http://schemas.openxmlformats.org/presentationml/2006/ole">
                <mc:AlternateContent xmlns:mc="http://schemas.openxmlformats.org/markup-compatibility/2006">
                  <mc:Choice xmlns:v="urn:schemas-microsoft-com:vml" Requires="v">
                    <p:oleObj name="Equation" r:id="rId6" imgW="416520" imgH="159480" progId="">
                      <p:embed/>
                    </p:oleObj>
                  </mc:Choice>
                  <mc:Fallback>
                    <p:oleObj name="Equation" r:id="rId6" imgW="416520" imgH="159480" progId="">
                      <p:embed/>
                      <p:pic>
                        <p:nvPicPr>
                          <p:cNvPr id="0" name="Picture 6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62" y="3229"/>
                            <a:ext cx="1018" cy="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10" name="Object 12"/>
            <p:cNvGraphicFramePr>
              <a:graphicFrameLocks noChangeAspect="1"/>
            </p:cNvGraphicFramePr>
            <p:nvPr/>
          </p:nvGraphicFramePr>
          <p:xfrm>
            <a:off x="276" y="3085"/>
            <a:ext cx="389" cy="445"/>
          </p:xfrm>
          <a:graphic>
            <a:graphicData uri="http://schemas.openxmlformats.org/presentationml/2006/ole">
              <mc:AlternateContent xmlns:mc="http://schemas.openxmlformats.org/markup-compatibility/2006">
                <mc:Choice xmlns:v="urn:schemas-microsoft-com:vml" Requires="v">
                  <p:oleObj name="Equation" r:id="rId8" imgW="130680" imgH="127440" progId="">
                    <p:embed/>
                  </p:oleObj>
                </mc:Choice>
                <mc:Fallback>
                  <p:oleObj name="Equation" r:id="rId8" imgW="130680" imgH="127440" progId="">
                    <p:embed/>
                    <p:pic>
                      <p:nvPicPr>
                        <p:cNvPr id="0" name="Picture 6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6" y="3085"/>
                          <a:ext cx="389" cy="4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13" name="Text Box 13"/>
          <p:cNvSpPr txBox="1">
            <a:spLocks noChangeArrowheads="1"/>
          </p:cNvSpPr>
          <p:nvPr/>
        </p:nvSpPr>
        <p:spPr bwMode="auto">
          <a:xfrm>
            <a:off x="323528" y="404664"/>
            <a:ext cx="3309162" cy="519112"/>
          </a:xfrm>
          <a:prstGeom prst="rect">
            <a:avLst/>
          </a:prstGeom>
          <a:noFill/>
          <a:ln w="19050">
            <a:solidFill>
              <a:srgbClr val="FF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50000"/>
              </a:spcBef>
              <a:buFontTx/>
              <a:buNone/>
            </a:pPr>
            <a:r>
              <a:rPr kumimoji="1" lang="zh-CN" altLang="en-US" sz="2800" b="1" dirty="0">
                <a:solidFill>
                  <a:srgbClr val="0000FF"/>
                </a:solidFill>
                <a:latin typeface="黑体" pitchFamily="49" charset="-122"/>
                <a:ea typeface="黑体" pitchFamily="49" charset="-122"/>
              </a:rPr>
              <a:t>四个经典强度理论</a:t>
            </a:r>
          </a:p>
        </p:txBody>
      </p:sp>
      <p:grpSp>
        <p:nvGrpSpPr>
          <p:cNvPr id="14" name="Group 14"/>
          <p:cNvGrpSpPr>
            <a:grpSpLocks/>
          </p:cNvGrpSpPr>
          <p:nvPr/>
        </p:nvGrpSpPr>
        <p:grpSpPr bwMode="auto">
          <a:xfrm>
            <a:off x="1835150" y="5266568"/>
            <a:ext cx="4729817" cy="811213"/>
            <a:chOff x="1008" y="1500"/>
            <a:chExt cx="3200" cy="630"/>
          </a:xfrm>
        </p:grpSpPr>
        <p:sp>
          <p:nvSpPr>
            <p:cNvPr id="15" name="Rectangle 15"/>
            <p:cNvSpPr>
              <a:spLocks noChangeArrowheads="1"/>
            </p:cNvSpPr>
            <p:nvPr/>
          </p:nvSpPr>
          <p:spPr bwMode="auto">
            <a:xfrm>
              <a:off x="2448" y="1688"/>
              <a:ext cx="125" cy="287"/>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12700" cap="sq">
                  <a:solidFill>
                    <a:srgbClr val="FF66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solidFill>
                  <a:srgbClr val="0000FF"/>
                </a:solidFill>
              </a:endParaRPr>
            </a:p>
          </p:txBody>
        </p:sp>
        <p:graphicFrame>
          <p:nvGraphicFramePr>
            <p:cNvPr id="16" name="Object 16"/>
            <p:cNvGraphicFramePr>
              <a:graphicFrameLocks noChangeAspect="1"/>
            </p:cNvGraphicFramePr>
            <p:nvPr/>
          </p:nvGraphicFramePr>
          <p:xfrm>
            <a:off x="2520" y="1500"/>
            <a:ext cx="1688" cy="630"/>
          </p:xfrm>
          <a:graphic>
            <a:graphicData uri="http://schemas.openxmlformats.org/presentationml/2006/ole">
              <mc:AlternateContent xmlns:mc="http://schemas.openxmlformats.org/markup-compatibility/2006">
                <mc:Choice xmlns:v="urn:schemas-microsoft-com:vml" Requires="v">
                  <p:oleObj name="Equation" r:id="rId10" imgW="718920" imgH="286920" progId="">
                    <p:embed/>
                  </p:oleObj>
                </mc:Choice>
                <mc:Fallback>
                  <p:oleObj name="Equation" r:id="rId10" imgW="718920" imgH="286920" progId="">
                    <p:embed/>
                    <p:pic>
                      <p:nvPicPr>
                        <p:cNvPr id="0" name="Picture 6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20" y="1500"/>
                          <a:ext cx="1688" cy="6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 name="Text Box 17"/>
            <p:cNvSpPr txBox="1">
              <a:spLocks noChangeArrowheads="1"/>
            </p:cNvSpPr>
            <p:nvPr/>
          </p:nvSpPr>
          <p:spPr bwMode="auto">
            <a:xfrm>
              <a:off x="1008" y="1633"/>
              <a:ext cx="1296" cy="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50000"/>
                </a:spcBef>
                <a:buFontTx/>
                <a:buNone/>
              </a:pPr>
              <a:r>
                <a:rPr kumimoji="1" lang="zh-CN" altLang="en-US" sz="2400" b="1">
                  <a:solidFill>
                    <a:srgbClr val="0000FF"/>
                  </a:solidFill>
                  <a:latin typeface="黑体" pitchFamily="49" charset="-122"/>
                  <a:ea typeface="黑体" pitchFamily="49" charset="-122"/>
                </a:rPr>
                <a:t>强度条件</a:t>
              </a:r>
              <a:endParaRPr kumimoji="1" lang="zh-CN" altLang="en-US" sz="2400">
                <a:solidFill>
                  <a:srgbClr val="0000FF"/>
                </a:solidFill>
                <a:latin typeface="黑体" pitchFamily="49" charset="-122"/>
                <a:ea typeface="黑体" pitchFamily="49" charset="-122"/>
              </a:endParaRPr>
            </a:p>
          </p:txBody>
        </p:sp>
      </p:grpSp>
      <p:grpSp>
        <p:nvGrpSpPr>
          <p:cNvPr id="18" name="Group 18"/>
          <p:cNvGrpSpPr>
            <a:grpSpLocks/>
          </p:cNvGrpSpPr>
          <p:nvPr/>
        </p:nvGrpSpPr>
        <p:grpSpPr bwMode="auto">
          <a:xfrm>
            <a:off x="1835150" y="4508500"/>
            <a:ext cx="4105275" cy="515938"/>
            <a:chOff x="1020" y="728"/>
            <a:chExt cx="2640" cy="416"/>
          </a:xfrm>
        </p:grpSpPr>
        <p:graphicFrame>
          <p:nvGraphicFramePr>
            <p:cNvPr id="19" name="Object 19"/>
            <p:cNvGraphicFramePr>
              <a:graphicFrameLocks noChangeAspect="1"/>
            </p:cNvGraphicFramePr>
            <p:nvPr/>
          </p:nvGraphicFramePr>
          <p:xfrm>
            <a:off x="2700" y="728"/>
            <a:ext cx="960" cy="410"/>
          </p:xfrm>
          <a:graphic>
            <a:graphicData uri="http://schemas.openxmlformats.org/presentationml/2006/ole">
              <mc:AlternateContent xmlns:mc="http://schemas.openxmlformats.org/markup-compatibility/2006">
                <mc:Choice xmlns:v="urn:schemas-microsoft-com:vml" Requires="v">
                  <p:oleObj name="公式" r:id="rId12" imgW="424800" imgH="159480" progId="">
                    <p:embed/>
                  </p:oleObj>
                </mc:Choice>
                <mc:Fallback>
                  <p:oleObj name="公式" r:id="rId12" imgW="424800" imgH="159480" progId="">
                    <p:embed/>
                    <p:pic>
                      <p:nvPicPr>
                        <p:cNvPr id="0" name="Picture 6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700" y="728"/>
                          <a:ext cx="960" cy="4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 name="Text Box 20"/>
            <p:cNvSpPr txBox="1">
              <a:spLocks noChangeArrowheads="1"/>
            </p:cNvSpPr>
            <p:nvPr/>
          </p:nvSpPr>
          <p:spPr bwMode="auto">
            <a:xfrm>
              <a:off x="1020" y="775"/>
              <a:ext cx="1295" cy="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50000"/>
                </a:spcBef>
                <a:buFontTx/>
                <a:buNone/>
              </a:pPr>
              <a:r>
                <a:rPr kumimoji="1" lang="zh-CN" altLang="en-US" sz="2400" b="1">
                  <a:solidFill>
                    <a:srgbClr val="0000FF"/>
                  </a:solidFill>
                  <a:latin typeface="黑体" pitchFamily="49" charset="-122"/>
                  <a:ea typeface="黑体" pitchFamily="49" charset="-122"/>
                </a:rPr>
                <a:t>断裂条件</a:t>
              </a:r>
            </a:p>
          </p:txBody>
        </p:sp>
      </p:grpSp>
    </p:spTree>
    <p:extLst>
      <p:ext uri="{BB962C8B-B14F-4D97-AF65-F5344CB8AC3E}">
        <p14:creationId xmlns:p14="http://schemas.microsoft.com/office/powerpoint/2010/main" val="1788016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left)">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left)">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left)">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wipe(left)">
                                      <p:cBhvr>
                                        <p:cTn id="37" dur="500"/>
                                        <p:tgtEl>
                                          <p:spTgt spid="1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wipe(left)">
                                      <p:cBhvr>
                                        <p:cTn id="4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autoUpdateAnimBg="0"/>
      <p:bldP spid="13"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450854" y="260648"/>
            <a:ext cx="8153594" cy="503907"/>
          </a:xfrm>
          <a:prstGeom prst="rect">
            <a:avLst/>
          </a:prstGeom>
          <a:noFill/>
          <a:ln w="19050">
            <a:solidFill>
              <a:srgbClr val="FF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fontAlgn="base">
              <a:spcBef>
                <a:spcPct val="0"/>
              </a:spcBef>
              <a:spcAft>
                <a:spcPct val="0"/>
              </a:spcAft>
              <a:defRPr>
                <a:solidFill>
                  <a:schemeClr val="tx1"/>
                </a:solidFill>
                <a:latin typeface="Arial" charset="0"/>
                <a:ea typeface="宋体" pitchFamily="2" charset="-122"/>
              </a:defRPr>
            </a:lvl6pPr>
            <a:lvl7pPr marL="2971800" indent="-228600" fontAlgn="base">
              <a:spcBef>
                <a:spcPct val="0"/>
              </a:spcBef>
              <a:spcAft>
                <a:spcPct val="0"/>
              </a:spcAft>
              <a:defRPr>
                <a:solidFill>
                  <a:schemeClr val="tx1"/>
                </a:solidFill>
                <a:latin typeface="Arial" charset="0"/>
                <a:ea typeface="宋体" pitchFamily="2" charset="-122"/>
              </a:defRPr>
            </a:lvl7pPr>
            <a:lvl8pPr marL="3429000" indent="-228600" fontAlgn="base">
              <a:spcBef>
                <a:spcPct val="0"/>
              </a:spcBef>
              <a:spcAft>
                <a:spcPct val="0"/>
              </a:spcAft>
              <a:defRPr>
                <a:solidFill>
                  <a:schemeClr val="tx1"/>
                </a:solidFill>
                <a:latin typeface="Arial" charset="0"/>
                <a:ea typeface="宋体" pitchFamily="2" charset="-122"/>
              </a:defRPr>
            </a:lvl8pPr>
            <a:lvl9pPr marL="3886200" indent="-228600" fontAlgn="base">
              <a:spcBef>
                <a:spcPct val="0"/>
              </a:spcBef>
              <a:spcAft>
                <a:spcPct val="0"/>
              </a:spcAft>
              <a:defRPr>
                <a:solidFill>
                  <a:schemeClr val="tx1"/>
                </a:solidFill>
                <a:latin typeface="Arial" charset="0"/>
                <a:ea typeface="宋体" pitchFamily="2" charset="-122"/>
              </a:defRPr>
            </a:lvl9pPr>
          </a:lstStyle>
          <a:p>
            <a:pPr>
              <a:spcBef>
                <a:spcPct val="20000"/>
              </a:spcBef>
              <a:buFont typeface="Monotype Sorts" pitchFamily="2" charset="2"/>
              <a:buNone/>
              <a:defRPr/>
            </a:pPr>
            <a:r>
              <a:rPr lang="en-US" altLang="zh-CN" sz="2600" b="1" dirty="0">
                <a:solidFill>
                  <a:srgbClr val="0000FF"/>
                </a:solidFill>
                <a:effectLst>
                  <a:outerShdw blurRad="38100" dist="38100" dir="2700000" algn="tl">
                    <a:srgbClr val="C0C0C0"/>
                  </a:outerShdw>
                </a:effectLst>
                <a:latin typeface="黑体" pitchFamily="2" charset="-122"/>
                <a:ea typeface="黑体" pitchFamily="2" charset="-122"/>
                <a:sym typeface="Monotype Sorts" pitchFamily="2" charset="2"/>
              </a:rPr>
              <a:t>2. </a:t>
            </a:r>
            <a:r>
              <a:rPr lang="zh-CN" altLang="en-US" sz="2600" b="1" dirty="0">
                <a:solidFill>
                  <a:srgbClr val="0000FF"/>
                </a:solidFill>
                <a:effectLst>
                  <a:outerShdw blurRad="38100" dist="38100" dir="2700000" algn="tl">
                    <a:srgbClr val="C0C0C0"/>
                  </a:outerShdw>
                </a:effectLst>
                <a:latin typeface="黑体" pitchFamily="2" charset="-122"/>
                <a:ea typeface="黑体" pitchFamily="2" charset="-122"/>
              </a:rPr>
              <a:t>最大伸长拉应变理论（第二强度理论）</a:t>
            </a:r>
          </a:p>
        </p:txBody>
      </p:sp>
      <p:sp>
        <p:nvSpPr>
          <p:cNvPr id="3" name="Rectangle 3"/>
          <p:cNvSpPr>
            <a:spLocks noChangeArrowheads="1"/>
          </p:cNvSpPr>
          <p:nvPr/>
        </p:nvSpPr>
        <p:spPr bwMode="auto">
          <a:xfrm>
            <a:off x="451743" y="910403"/>
            <a:ext cx="8136904" cy="1006429"/>
          </a:xfrm>
          <a:prstGeom prst="rect">
            <a:avLst/>
          </a:prstGeom>
          <a:noFill/>
          <a:ln w="19050">
            <a:solidFill>
              <a:srgbClr val="FF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lnSpc>
                <a:spcPct val="135000"/>
              </a:lnSpc>
              <a:spcBef>
                <a:spcPct val="50000"/>
              </a:spcBef>
              <a:buFontTx/>
              <a:buNone/>
            </a:pPr>
            <a:r>
              <a:rPr kumimoji="1" lang="en-US" altLang="zh-CN" sz="2000" b="1" dirty="0">
                <a:solidFill>
                  <a:srgbClr val="0000FF"/>
                </a:solidFill>
                <a:latin typeface="黑体" pitchFamily="49" charset="-122"/>
                <a:ea typeface="黑体" pitchFamily="49" charset="-122"/>
              </a:rPr>
              <a:t>    </a:t>
            </a:r>
            <a:r>
              <a:rPr kumimoji="1" lang="zh-CN" altLang="en-US" sz="2200" b="1" dirty="0">
                <a:solidFill>
                  <a:srgbClr val="0000FF"/>
                </a:solidFill>
                <a:latin typeface="黑体" pitchFamily="49" charset="-122"/>
                <a:ea typeface="黑体" pitchFamily="49" charset="-122"/>
              </a:rPr>
              <a:t>无论材料处于什么应力状态</a:t>
            </a:r>
            <a:r>
              <a:rPr kumimoji="1" lang="en-US" altLang="zh-CN" sz="2200" b="1" dirty="0">
                <a:solidFill>
                  <a:srgbClr val="0000FF"/>
                </a:solidFill>
                <a:latin typeface="黑体" pitchFamily="49" charset="-122"/>
                <a:ea typeface="黑体" pitchFamily="49" charset="-122"/>
              </a:rPr>
              <a:t>,</a:t>
            </a:r>
            <a:r>
              <a:rPr kumimoji="1" lang="zh-CN" altLang="en-US" sz="2200" b="1" dirty="0">
                <a:solidFill>
                  <a:srgbClr val="0000FF"/>
                </a:solidFill>
                <a:latin typeface="黑体" pitchFamily="49" charset="-122"/>
                <a:ea typeface="黑体" pitchFamily="49" charset="-122"/>
              </a:rPr>
              <a:t>只要发生脆性断裂</a:t>
            </a:r>
            <a:r>
              <a:rPr kumimoji="1" lang="en-US" altLang="zh-CN" sz="2200" b="1" dirty="0">
                <a:solidFill>
                  <a:srgbClr val="0000FF"/>
                </a:solidFill>
                <a:latin typeface="黑体" pitchFamily="49" charset="-122"/>
                <a:ea typeface="黑体" pitchFamily="49" charset="-122"/>
              </a:rPr>
              <a:t>,</a:t>
            </a:r>
            <a:r>
              <a:rPr kumimoji="1" lang="zh-CN" altLang="en-US" sz="2200" b="1" dirty="0">
                <a:solidFill>
                  <a:srgbClr val="0000FF"/>
                </a:solidFill>
                <a:latin typeface="黑体" pitchFamily="49" charset="-122"/>
                <a:ea typeface="黑体" pitchFamily="49" charset="-122"/>
              </a:rPr>
              <a:t>都是由于最大拉应变（线变形）达到极限值导致的。                         </a:t>
            </a:r>
          </a:p>
        </p:txBody>
      </p:sp>
      <p:graphicFrame>
        <p:nvGraphicFramePr>
          <p:cNvPr id="4" name="Object 4"/>
          <p:cNvGraphicFramePr>
            <a:graphicFrameLocks noChangeAspect="1"/>
          </p:cNvGraphicFramePr>
          <p:nvPr>
            <p:extLst>
              <p:ext uri="{D42A27DB-BD31-4B8C-83A1-F6EECF244321}">
                <p14:modId xmlns:p14="http://schemas.microsoft.com/office/powerpoint/2010/main" val="2249901810"/>
              </p:ext>
            </p:extLst>
          </p:nvPr>
        </p:nvGraphicFramePr>
        <p:xfrm>
          <a:off x="3995738" y="1844675"/>
          <a:ext cx="1223962" cy="581025"/>
        </p:xfrm>
        <a:graphic>
          <a:graphicData uri="http://schemas.openxmlformats.org/presentationml/2006/ole">
            <mc:AlternateContent xmlns:mc="http://schemas.openxmlformats.org/markup-compatibility/2006">
              <mc:Choice xmlns:v="urn:schemas-microsoft-com:vml" Requires="v">
                <p:oleObj name="Equation" r:id="rId2" imgW="351360" imgH="151560" progId="">
                  <p:embed/>
                </p:oleObj>
              </mc:Choice>
              <mc:Fallback>
                <p:oleObj name="Equation" r:id="rId2" imgW="351360" imgH="151560" progId="">
                  <p:embed/>
                  <p:pic>
                    <p:nvPicPr>
                      <p:cNvPr id="0" name="Picture 8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95738" y="1844675"/>
                        <a:ext cx="1223962"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5" name="Group 5"/>
          <p:cNvGrpSpPr>
            <a:grpSpLocks/>
          </p:cNvGrpSpPr>
          <p:nvPr/>
        </p:nvGrpSpPr>
        <p:grpSpPr bwMode="auto">
          <a:xfrm>
            <a:off x="755650" y="2441537"/>
            <a:ext cx="8102600" cy="463998"/>
            <a:chOff x="192" y="2688"/>
            <a:chExt cx="5376" cy="473"/>
          </a:xfrm>
        </p:grpSpPr>
        <p:sp>
          <p:nvSpPr>
            <p:cNvPr id="6" name="Rectangle 6"/>
            <p:cNvSpPr>
              <a:spLocks noChangeArrowheads="1"/>
            </p:cNvSpPr>
            <p:nvPr/>
          </p:nvSpPr>
          <p:spPr bwMode="auto">
            <a:xfrm>
              <a:off x="192" y="2696"/>
              <a:ext cx="5376" cy="4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lnSpc>
                  <a:spcPct val="135000"/>
                </a:lnSpc>
                <a:spcBef>
                  <a:spcPct val="50000"/>
                </a:spcBef>
                <a:buFontTx/>
                <a:buNone/>
              </a:pPr>
              <a:r>
                <a:rPr kumimoji="1" lang="en-US" altLang="zh-CN" sz="2000" b="1">
                  <a:solidFill>
                    <a:srgbClr val="0000FF"/>
                  </a:solidFill>
                  <a:latin typeface="黑体" pitchFamily="49" charset="-122"/>
                  <a:ea typeface="黑体" pitchFamily="49" charset="-122"/>
                </a:rPr>
                <a:t>    </a:t>
              </a:r>
              <a:r>
                <a:rPr kumimoji="1" lang="zh-CN" altLang="en-US" sz="2000" b="1">
                  <a:solidFill>
                    <a:srgbClr val="0000FF"/>
                  </a:solidFill>
                  <a:latin typeface="黑体" pitchFamily="49" charset="-122"/>
                  <a:ea typeface="黑体" pitchFamily="49" charset="-122"/>
                </a:rPr>
                <a:t>－构件危险点的最大伸长线应变</a:t>
              </a:r>
            </a:p>
          </p:txBody>
        </p:sp>
        <p:graphicFrame>
          <p:nvGraphicFramePr>
            <p:cNvPr id="7" name="Object 7"/>
            <p:cNvGraphicFramePr>
              <a:graphicFrameLocks noChangeAspect="1"/>
            </p:cNvGraphicFramePr>
            <p:nvPr/>
          </p:nvGraphicFramePr>
          <p:xfrm>
            <a:off x="312" y="2688"/>
            <a:ext cx="315" cy="473"/>
          </p:xfrm>
          <a:graphic>
            <a:graphicData uri="http://schemas.openxmlformats.org/presentationml/2006/ole">
              <mc:AlternateContent xmlns:mc="http://schemas.openxmlformats.org/markup-compatibility/2006">
                <mc:Choice xmlns:v="urn:schemas-microsoft-com:vml" Requires="v">
                  <p:oleObj name="Equation" r:id="rId4" imgW="97920" imgH="143280" progId="">
                    <p:embed/>
                  </p:oleObj>
                </mc:Choice>
                <mc:Fallback>
                  <p:oleObj name="Equation" r:id="rId4" imgW="97920" imgH="143280" progId="">
                    <p:embed/>
                    <p:pic>
                      <p:nvPicPr>
                        <p:cNvPr id="0" name="Picture 8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2" y="2688"/>
                          <a:ext cx="315" cy="4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8" name="Group 8"/>
          <p:cNvGrpSpPr>
            <a:grpSpLocks/>
          </p:cNvGrpSpPr>
          <p:nvPr/>
        </p:nvGrpSpPr>
        <p:grpSpPr bwMode="auto">
          <a:xfrm>
            <a:off x="684213" y="3019249"/>
            <a:ext cx="7920037" cy="490708"/>
            <a:chOff x="192" y="3395"/>
            <a:chExt cx="5376" cy="445"/>
          </a:xfrm>
        </p:grpSpPr>
        <p:sp>
          <p:nvSpPr>
            <p:cNvPr id="9" name="Rectangle 9"/>
            <p:cNvSpPr>
              <a:spLocks noChangeArrowheads="1"/>
            </p:cNvSpPr>
            <p:nvPr/>
          </p:nvSpPr>
          <p:spPr bwMode="auto">
            <a:xfrm>
              <a:off x="192" y="3401"/>
              <a:ext cx="5376" cy="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lnSpc>
                  <a:spcPct val="135000"/>
                </a:lnSpc>
                <a:spcBef>
                  <a:spcPct val="50000"/>
                </a:spcBef>
                <a:buFontTx/>
                <a:buNone/>
              </a:pPr>
              <a:r>
                <a:rPr kumimoji="1" lang="en-US" altLang="zh-CN" sz="2000" b="1">
                  <a:solidFill>
                    <a:srgbClr val="0000FF"/>
                  </a:solidFill>
                  <a:latin typeface="黑体" pitchFamily="49" charset="-122"/>
                  <a:ea typeface="黑体" pitchFamily="49" charset="-122"/>
                </a:rPr>
                <a:t>     </a:t>
              </a:r>
              <a:r>
                <a:rPr kumimoji="1" lang="zh-CN" altLang="en-US" sz="2000" b="1">
                  <a:solidFill>
                    <a:srgbClr val="0000FF"/>
                  </a:solidFill>
                  <a:latin typeface="黑体" pitchFamily="49" charset="-122"/>
                  <a:ea typeface="黑体" pitchFamily="49" charset="-122"/>
                </a:rPr>
                <a:t>－极限伸长线应变，由单向拉伸实验测得</a:t>
              </a:r>
            </a:p>
          </p:txBody>
        </p:sp>
        <p:graphicFrame>
          <p:nvGraphicFramePr>
            <p:cNvPr id="10" name="Object 10"/>
            <p:cNvGraphicFramePr>
              <a:graphicFrameLocks noChangeAspect="1"/>
            </p:cNvGraphicFramePr>
            <p:nvPr/>
          </p:nvGraphicFramePr>
          <p:xfrm>
            <a:off x="300" y="3395"/>
            <a:ext cx="340" cy="445"/>
          </p:xfrm>
          <a:graphic>
            <a:graphicData uri="http://schemas.openxmlformats.org/presentationml/2006/ole">
              <mc:AlternateContent xmlns:mc="http://schemas.openxmlformats.org/markup-compatibility/2006">
                <mc:Choice xmlns:v="urn:schemas-microsoft-com:vml" Requires="v">
                  <p:oleObj name="Equation" r:id="rId6" imgW="114480" imgH="127440" progId="">
                    <p:embed/>
                  </p:oleObj>
                </mc:Choice>
                <mc:Fallback>
                  <p:oleObj name="Equation" r:id="rId6" imgW="114480" imgH="127440" progId="">
                    <p:embed/>
                    <p:pic>
                      <p:nvPicPr>
                        <p:cNvPr id="0" name="Picture 8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0" y="3395"/>
                          <a:ext cx="340" cy="4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11" name="Object 11"/>
          <p:cNvGraphicFramePr>
            <a:graphicFrameLocks noChangeAspect="1"/>
          </p:cNvGraphicFramePr>
          <p:nvPr>
            <p:extLst>
              <p:ext uri="{D42A27DB-BD31-4B8C-83A1-F6EECF244321}">
                <p14:modId xmlns:p14="http://schemas.microsoft.com/office/powerpoint/2010/main" val="2927756229"/>
              </p:ext>
            </p:extLst>
          </p:nvPr>
        </p:nvGraphicFramePr>
        <p:xfrm>
          <a:off x="5076825" y="2492375"/>
          <a:ext cx="3529013" cy="476250"/>
        </p:xfrm>
        <a:graphic>
          <a:graphicData uri="http://schemas.openxmlformats.org/presentationml/2006/ole">
            <mc:AlternateContent xmlns:mc="http://schemas.openxmlformats.org/markup-compatibility/2006">
              <mc:Choice xmlns:v="urn:schemas-microsoft-com:vml" Requires="v">
                <p:oleObj name="Equation" r:id="rId8" imgW="1339920" imgH="151560" progId="">
                  <p:embed/>
                </p:oleObj>
              </mc:Choice>
              <mc:Fallback>
                <p:oleObj name="Equation" r:id="rId8" imgW="1339920" imgH="151560" progId="">
                  <p:embed/>
                  <p:pic>
                    <p:nvPicPr>
                      <p:cNvPr id="0" name="Picture 8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76825" y="2492375"/>
                        <a:ext cx="3529013"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 name="Object 12"/>
          <p:cNvGraphicFramePr>
            <a:graphicFrameLocks noChangeAspect="1"/>
          </p:cNvGraphicFramePr>
          <p:nvPr>
            <p:extLst>
              <p:ext uri="{D42A27DB-BD31-4B8C-83A1-F6EECF244321}">
                <p14:modId xmlns:p14="http://schemas.microsoft.com/office/powerpoint/2010/main" val="491278794"/>
              </p:ext>
            </p:extLst>
          </p:nvPr>
        </p:nvGraphicFramePr>
        <p:xfrm>
          <a:off x="6588125" y="2997200"/>
          <a:ext cx="1800225" cy="568325"/>
        </p:xfrm>
        <a:graphic>
          <a:graphicData uri="http://schemas.openxmlformats.org/presentationml/2006/ole">
            <mc:AlternateContent xmlns:mc="http://schemas.openxmlformats.org/markup-compatibility/2006">
              <mc:Choice xmlns:v="urn:schemas-microsoft-com:vml" Requires="v">
                <p:oleObj name="Equation" r:id="rId10" imgW="579960" imgH="159480" progId="">
                  <p:embed/>
                </p:oleObj>
              </mc:Choice>
              <mc:Fallback>
                <p:oleObj name="Equation" r:id="rId10" imgW="579960" imgH="159480" progId="">
                  <p:embed/>
                  <p:pic>
                    <p:nvPicPr>
                      <p:cNvPr id="0" name="Picture 8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588125" y="2997200"/>
                        <a:ext cx="1800225" cy="568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3" name="Group 13"/>
          <p:cNvGrpSpPr>
            <a:grpSpLocks/>
          </p:cNvGrpSpPr>
          <p:nvPr/>
        </p:nvGrpSpPr>
        <p:grpSpPr bwMode="auto">
          <a:xfrm>
            <a:off x="1331913" y="5445126"/>
            <a:ext cx="5616575" cy="814865"/>
            <a:chOff x="576" y="2034"/>
            <a:chExt cx="3888" cy="604"/>
          </a:xfrm>
        </p:grpSpPr>
        <p:sp>
          <p:nvSpPr>
            <p:cNvPr id="14" name="Text Box 14"/>
            <p:cNvSpPr txBox="1">
              <a:spLocks noChangeArrowheads="1"/>
            </p:cNvSpPr>
            <p:nvPr/>
          </p:nvSpPr>
          <p:spPr bwMode="auto">
            <a:xfrm>
              <a:off x="576" y="2160"/>
              <a:ext cx="1296" cy="3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50000"/>
                </a:spcBef>
                <a:buFontTx/>
                <a:buNone/>
              </a:pPr>
              <a:r>
                <a:rPr kumimoji="1" lang="zh-CN" altLang="en-US" sz="2400" b="1">
                  <a:solidFill>
                    <a:srgbClr val="0000FF"/>
                  </a:solidFill>
                  <a:latin typeface="黑体" pitchFamily="49" charset="-122"/>
                  <a:ea typeface="黑体" pitchFamily="49" charset="-122"/>
                </a:rPr>
                <a:t>强度条件</a:t>
              </a:r>
            </a:p>
          </p:txBody>
        </p:sp>
        <p:sp>
          <p:nvSpPr>
            <p:cNvPr id="15" name="Rectangle 15"/>
            <p:cNvSpPr>
              <a:spLocks noChangeArrowheads="1"/>
            </p:cNvSpPr>
            <p:nvPr/>
          </p:nvSpPr>
          <p:spPr bwMode="auto">
            <a:xfrm>
              <a:off x="1872" y="2215"/>
              <a:ext cx="2592" cy="274"/>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12700" cap="sq">
                  <a:solidFill>
                    <a:srgbClr val="FF66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solidFill>
                  <a:srgbClr val="0000FF"/>
                </a:solidFill>
              </a:endParaRPr>
            </a:p>
          </p:txBody>
        </p:sp>
        <p:graphicFrame>
          <p:nvGraphicFramePr>
            <p:cNvPr id="16" name="Object 16"/>
            <p:cNvGraphicFramePr>
              <a:graphicFrameLocks noChangeAspect="1"/>
            </p:cNvGraphicFramePr>
            <p:nvPr/>
          </p:nvGraphicFramePr>
          <p:xfrm>
            <a:off x="1984" y="2034"/>
            <a:ext cx="2320" cy="604"/>
          </p:xfrm>
          <a:graphic>
            <a:graphicData uri="http://schemas.openxmlformats.org/presentationml/2006/ole">
              <mc:AlternateContent xmlns:mc="http://schemas.openxmlformats.org/markup-compatibility/2006">
                <mc:Choice xmlns:v="urn:schemas-microsoft-com:vml" Requires="v">
                  <p:oleObj name="公式" r:id="rId12" imgW="1421640" imgH="286920" progId="">
                    <p:embed/>
                  </p:oleObj>
                </mc:Choice>
                <mc:Fallback>
                  <p:oleObj name="公式" r:id="rId12" imgW="1421640" imgH="286920" progId="">
                    <p:embed/>
                    <p:pic>
                      <p:nvPicPr>
                        <p:cNvPr id="0" name="Picture 8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984" y="2034"/>
                          <a:ext cx="2320" cy="6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7" name="Group 17"/>
          <p:cNvGrpSpPr>
            <a:grpSpLocks/>
          </p:cNvGrpSpPr>
          <p:nvPr/>
        </p:nvGrpSpPr>
        <p:grpSpPr bwMode="auto">
          <a:xfrm>
            <a:off x="1331913" y="3789363"/>
            <a:ext cx="4968875" cy="820737"/>
            <a:chOff x="576" y="864"/>
            <a:chExt cx="3535" cy="608"/>
          </a:xfrm>
        </p:grpSpPr>
        <p:sp>
          <p:nvSpPr>
            <p:cNvPr id="18" name="Text Box 18"/>
            <p:cNvSpPr txBox="1">
              <a:spLocks noChangeArrowheads="1"/>
            </p:cNvSpPr>
            <p:nvPr/>
          </p:nvSpPr>
          <p:spPr bwMode="auto">
            <a:xfrm>
              <a:off x="576" y="960"/>
              <a:ext cx="1297" cy="3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50000"/>
                </a:spcBef>
                <a:buFontTx/>
                <a:buNone/>
              </a:pPr>
              <a:r>
                <a:rPr kumimoji="1" lang="zh-CN" altLang="en-US" sz="2400" b="1">
                  <a:solidFill>
                    <a:srgbClr val="0000FF"/>
                  </a:solidFill>
                  <a:latin typeface="黑体" pitchFamily="49" charset="-122"/>
                  <a:ea typeface="黑体" pitchFamily="49" charset="-122"/>
                </a:rPr>
                <a:t>断裂条件</a:t>
              </a:r>
            </a:p>
          </p:txBody>
        </p:sp>
        <p:graphicFrame>
          <p:nvGraphicFramePr>
            <p:cNvPr id="19" name="Object 19"/>
            <p:cNvGraphicFramePr>
              <a:graphicFrameLocks noChangeAspect="1"/>
            </p:cNvGraphicFramePr>
            <p:nvPr/>
          </p:nvGraphicFramePr>
          <p:xfrm>
            <a:off x="1946" y="864"/>
            <a:ext cx="2165" cy="608"/>
          </p:xfrm>
          <a:graphic>
            <a:graphicData uri="http://schemas.openxmlformats.org/presentationml/2006/ole">
              <mc:AlternateContent xmlns:mc="http://schemas.openxmlformats.org/markup-compatibility/2006">
                <mc:Choice xmlns:v="urn:schemas-microsoft-com:vml" Requires="v">
                  <p:oleObj name="公式" r:id="rId14" imgW="1323360" imgH="286920" progId="">
                    <p:embed/>
                  </p:oleObj>
                </mc:Choice>
                <mc:Fallback>
                  <p:oleObj name="公式" r:id="rId14" imgW="1323360" imgH="286920" progId="">
                    <p:embed/>
                    <p:pic>
                      <p:nvPicPr>
                        <p:cNvPr id="0" name="Picture 8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946" y="864"/>
                          <a:ext cx="2165" cy="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20" name="Object 20"/>
          <p:cNvGraphicFramePr>
            <a:graphicFrameLocks noChangeAspect="1"/>
          </p:cNvGraphicFramePr>
          <p:nvPr>
            <p:extLst>
              <p:ext uri="{D42A27DB-BD31-4B8C-83A1-F6EECF244321}">
                <p14:modId xmlns:p14="http://schemas.microsoft.com/office/powerpoint/2010/main" val="2929239989"/>
              </p:ext>
            </p:extLst>
          </p:nvPr>
        </p:nvGraphicFramePr>
        <p:xfrm>
          <a:off x="3635375" y="4772025"/>
          <a:ext cx="2592388" cy="512763"/>
        </p:xfrm>
        <a:graphic>
          <a:graphicData uri="http://schemas.openxmlformats.org/presentationml/2006/ole">
            <mc:AlternateContent xmlns:mc="http://schemas.openxmlformats.org/markup-compatibility/2006">
              <mc:Choice xmlns:v="urn:schemas-microsoft-com:vml" Requires="v">
                <p:oleObj name="公式" r:id="rId16" imgW="1078560" imgH="151560" progId="">
                  <p:embed/>
                </p:oleObj>
              </mc:Choice>
              <mc:Fallback>
                <p:oleObj name="公式" r:id="rId16" imgW="1078560" imgH="151560" progId="">
                  <p:embed/>
                  <p:pic>
                    <p:nvPicPr>
                      <p:cNvPr id="0" name="Picture 8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635375" y="4772025"/>
                        <a:ext cx="2592388" cy="512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 name="Text Box 21"/>
          <p:cNvSpPr txBox="1">
            <a:spLocks noChangeArrowheads="1"/>
          </p:cNvSpPr>
          <p:nvPr/>
        </p:nvSpPr>
        <p:spPr bwMode="auto">
          <a:xfrm>
            <a:off x="2555875" y="4797425"/>
            <a:ext cx="5762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50000"/>
              </a:spcBef>
              <a:buFontTx/>
              <a:buNone/>
            </a:pPr>
            <a:r>
              <a:rPr kumimoji="1" lang="zh-CN" altLang="en-US" sz="2400" b="1">
                <a:solidFill>
                  <a:srgbClr val="0000FF"/>
                </a:solidFill>
                <a:latin typeface="黑体" pitchFamily="49" charset="-122"/>
                <a:ea typeface="黑体" pitchFamily="49" charset="-122"/>
              </a:rPr>
              <a:t>即</a:t>
            </a:r>
          </a:p>
        </p:txBody>
      </p:sp>
    </p:spTree>
    <p:extLst>
      <p:ext uri="{BB962C8B-B14F-4D97-AF65-F5344CB8AC3E}">
        <p14:creationId xmlns:p14="http://schemas.microsoft.com/office/powerpoint/2010/main" val="1550791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left)">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left)">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ipe(left)">
                                      <p:cBhvr>
                                        <p:cTn id="37" dur="5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wipe(left)">
                                      <p:cBhvr>
                                        <p:cTn id="42" dur="500"/>
                                        <p:tgtEl>
                                          <p:spTgt spid="1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wipe(left)">
                                      <p:cBhvr>
                                        <p:cTn id="47" dur="500"/>
                                        <p:tgtEl>
                                          <p:spTgt spid="21"/>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wipe(left)">
                                      <p:cBhvr>
                                        <p:cTn id="52" dur="500"/>
                                        <p:tgtEl>
                                          <p:spTgt spid="20"/>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3"/>
                                        </p:tgtEl>
                                        <p:attrNameLst>
                                          <p:attrName>style.visibility</p:attrName>
                                        </p:attrNameLst>
                                      </p:cBhvr>
                                      <p:to>
                                        <p:strVal val="visible"/>
                                      </p:to>
                                    </p:set>
                                    <p:animEffect transition="in" filter="wipe(left)">
                                      <p:cBhvr>
                                        <p:cTn id="5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autoUpdateAnimBg="0"/>
      <p:bldP spid="21" grpId="0"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395288" y="1065572"/>
            <a:ext cx="8382000" cy="735586"/>
          </a:xfrm>
          <a:prstGeom prst="rect">
            <a:avLst/>
          </a:prstGeom>
          <a:noFill/>
          <a:ln w="19050">
            <a:solidFill>
              <a:srgbClr val="FF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lnSpc>
                <a:spcPct val="95000"/>
              </a:lnSpc>
              <a:spcBef>
                <a:spcPct val="0"/>
              </a:spcBef>
              <a:buFontTx/>
              <a:buNone/>
            </a:pPr>
            <a:r>
              <a:rPr kumimoji="1" lang="en-US" altLang="zh-CN" sz="2000" b="1">
                <a:solidFill>
                  <a:srgbClr val="0000FF"/>
                </a:solidFill>
                <a:latin typeface="黑体" pitchFamily="49" charset="-122"/>
                <a:ea typeface="黑体" pitchFamily="49" charset="-122"/>
              </a:rPr>
              <a:t>    </a:t>
            </a:r>
            <a:r>
              <a:rPr kumimoji="1" lang="zh-CN" altLang="en-US" sz="2200" b="1">
                <a:solidFill>
                  <a:srgbClr val="0000FF"/>
                </a:solidFill>
                <a:latin typeface="黑体" pitchFamily="49" charset="-122"/>
                <a:ea typeface="黑体" pitchFamily="49" charset="-122"/>
              </a:rPr>
              <a:t>无论材料处于什么应力状态</a:t>
            </a:r>
            <a:r>
              <a:rPr kumimoji="1" lang="en-US" altLang="zh-CN" sz="2200" b="1">
                <a:solidFill>
                  <a:srgbClr val="0000FF"/>
                </a:solidFill>
                <a:latin typeface="黑体" pitchFamily="49" charset="-122"/>
                <a:ea typeface="黑体" pitchFamily="49" charset="-122"/>
              </a:rPr>
              <a:t>,</a:t>
            </a:r>
            <a:r>
              <a:rPr kumimoji="1" lang="zh-CN" altLang="en-US" sz="2200" b="1">
                <a:solidFill>
                  <a:srgbClr val="0000FF"/>
                </a:solidFill>
                <a:latin typeface="黑体" pitchFamily="49" charset="-122"/>
                <a:ea typeface="黑体" pitchFamily="49" charset="-122"/>
              </a:rPr>
              <a:t>只要发生屈服</a:t>
            </a:r>
            <a:r>
              <a:rPr kumimoji="1" lang="en-US" altLang="zh-CN" sz="2200" b="1">
                <a:solidFill>
                  <a:srgbClr val="0000FF"/>
                </a:solidFill>
                <a:latin typeface="黑体" pitchFamily="49" charset="-122"/>
                <a:ea typeface="黑体" pitchFamily="49" charset="-122"/>
              </a:rPr>
              <a:t>,</a:t>
            </a:r>
            <a:r>
              <a:rPr kumimoji="1" lang="zh-CN" altLang="en-US" sz="2200" b="1">
                <a:solidFill>
                  <a:srgbClr val="0000FF"/>
                </a:solidFill>
                <a:latin typeface="黑体" pitchFamily="49" charset="-122"/>
                <a:ea typeface="黑体" pitchFamily="49" charset="-122"/>
              </a:rPr>
              <a:t>都是由于最大切应力达到了某一极限值。</a:t>
            </a:r>
          </a:p>
        </p:txBody>
      </p:sp>
      <p:graphicFrame>
        <p:nvGraphicFramePr>
          <p:cNvPr id="3" name="Object 3"/>
          <p:cNvGraphicFramePr>
            <a:graphicFrameLocks noChangeAspect="1"/>
          </p:cNvGraphicFramePr>
          <p:nvPr>
            <p:extLst>
              <p:ext uri="{D42A27DB-BD31-4B8C-83A1-F6EECF244321}">
                <p14:modId xmlns:p14="http://schemas.microsoft.com/office/powerpoint/2010/main" val="453661090"/>
              </p:ext>
            </p:extLst>
          </p:nvPr>
        </p:nvGraphicFramePr>
        <p:xfrm>
          <a:off x="3348038" y="1773238"/>
          <a:ext cx="1368425" cy="654050"/>
        </p:xfrm>
        <a:graphic>
          <a:graphicData uri="http://schemas.openxmlformats.org/presentationml/2006/ole">
            <mc:AlternateContent xmlns:mc="http://schemas.openxmlformats.org/markup-compatibility/2006">
              <mc:Choice xmlns:v="urn:schemas-microsoft-com:vml" Requires="v">
                <p:oleObj name="Equation" r:id="rId2" imgW="457560" imgH="175320" progId="">
                  <p:embed/>
                </p:oleObj>
              </mc:Choice>
              <mc:Fallback>
                <p:oleObj name="Equation" r:id="rId2" imgW="457560" imgH="175320" progId="">
                  <p:embed/>
                  <p:pic>
                    <p:nvPicPr>
                      <p:cNvPr id="0" name="Picture 7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48038" y="1773238"/>
                        <a:ext cx="1368425" cy="654050"/>
                      </a:xfrm>
                      <a:prstGeom prst="rect">
                        <a:avLst/>
                      </a:prstGeom>
                      <a:noFill/>
                      <a:extLst>
                        <a:ext uri="{909E8E84-426E-40DD-AFC4-6F175D3DCCD1}">
                          <a14:hiddenFill xmlns:a14="http://schemas.microsoft.com/office/drawing/2010/main">
                            <a:solidFill>
                              <a:schemeClr val="tx1"/>
                            </a:solidFill>
                          </a14:hiddenFill>
                        </a:ext>
                      </a:extLst>
                    </p:spPr>
                  </p:pic>
                </p:oleObj>
              </mc:Fallback>
            </mc:AlternateContent>
          </a:graphicData>
        </a:graphic>
      </p:graphicFrame>
      <p:sp>
        <p:nvSpPr>
          <p:cNvPr id="4" name="Text Box 4"/>
          <p:cNvSpPr txBox="1">
            <a:spLocks noChangeArrowheads="1"/>
          </p:cNvSpPr>
          <p:nvPr/>
        </p:nvSpPr>
        <p:spPr bwMode="auto">
          <a:xfrm>
            <a:off x="395288" y="404664"/>
            <a:ext cx="8353176" cy="439738"/>
          </a:xfrm>
          <a:prstGeom prst="rect">
            <a:avLst/>
          </a:prstGeom>
          <a:noFill/>
          <a:ln w="19050">
            <a:solidFill>
              <a:srgbClr val="FF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fontAlgn="base">
              <a:spcBef>
                <a:spcPct val="0"/>
              </a:spcBef>
              <a:spcAft>
                <a:spcPct val="0"/>
              </a:spcAft>
              <a:defRPr>
                <a:solidFill>
                  <a:schemeClr val="tx1"/>
                </a:solidFill>
                <a:latin typeface="Arial" charset="0"/>
                <a:ea typeface="宋体" pitchFamily="2" charset="-122"/>
              </a:defRPr>
            </a:lvl6pPr>
            <a:lvl7pPr marL="2971800" indent="-228600" fontAlgn="base">
              <a:spcBef>
                <a:spcPct val="0"/>
              </a:spcBef>
              <a:spcAft>
                <a:spcPct val="0"/>
              </a:spcAft>
              <a:defRPr>
                <a:solidFill>
                  <a:schemeClr val="tx1"/>
                </a:solidFill>
                <a:latin typeface="Arial" charset="0"/>
                <a:ea typeface="宋体" pitchFamily="2" charset="-122"/>
              </a:defRPr>
            </a:lvl7pPr>
            <a:lvl8pPr marL="3429000" indent="-228600" fontAlgn="base">
              <a:spcBef>
                <a:spcPct val="0"/>
              </a:spcBef>
              <a:spcAft>
                <a:spcPct val="0"/>
              </a:spcAft>
              <a:defRPr>
                <a:solidFill>
                  <a:schemeClr val="tx1"/>
                </a:solidFill>
                <a:latin typeface="Arial" charset="0"/>
                <a:ea typeface="宋体" pitchFamily="2" charset="-122"/>
              </a:defRPr>
            </a:lvl8pPr>
            <a:lvl9pPr marL="3886200" indent="-228600" fontAlgn="base">
              <a:spcBef>
                <a:spcPct val="0"/>
              </a:spcBef>
              <a:spcAft>
                <a:spcPct val="0"/>
              </a:spcAft>
              <a:defRPr>
                <a:solidFill>
                  <a:schemeClr val="tx1"/>
                </a:solidFill>
                <a:latin typeface="Arial" charset="0"/>
                <a:ea typeface="宋体" pitchFamily="2" charset="-122"/>
              </a:defRPr>
            </a:lvl9pPr>
          </a:lstStyle>
          <a:p>
            <a:pPr>
              <a:spcBef>
                <a:spcPct val="20000"/>
              </a:spcBef>
              <a:buFont typeface="Monotype Sorts" pitchFamily="2" charset="2"/>
              <a:buNone/>
              <a:defRPr/>
            </a:pPr>
            <a:r>
              <a:rPr lang="en-US" altLang="zh-CN" sz="2600" b="1" dirty="0">
                <a:solidFill>
                  <a:srgbClr val="0000FF"/>
                </a:solidFill>
                <a:effectLst>
                  <a:outerShdw blurRad="38100" dist="38100" dir="2700000" algn="tl">
                    <a:srgbClr val="C0C0C0"/>
                  </a:outerShdw>
                </a:effectLst>
                <a:latin typeface="黑体" pitchFamily="2" charset="-122"/>
                <a:ea typeface="黑体" pitchFamily="2" charset="-122"/>
                <a:sym typeface="Monotype Sorts" pitchFamily="2" charset="2"/>
              </a:rPr>
              <a:t>3. </a:t>
            </a:r>
            <a:r>
              <a:rPr lang="zh-CN" altLang="en-US" sz="2600" b="1" dirty="0">
                <a:solidFill>
                  <a:srgbClr val="0000FF"/>
                </a:solidFill>
                <a:effectLst>
                  <a:outerShdw blurRad="38100" dist="38100" dir="2700000" algn="tl">
                    <a:srgbClr val="C0C0C0"/>
                  </a:outerShdw>
                </a:effectLst>
                <a:latin typeface="黑体" pitchFamily="2" charset="-122"/>
                <a:ea typeface="黑体" pitchFamily="2" charset="-122"/>
              </a:rPr>
              <a:t>最大切应力理论（第三强度理论）</a:t>
            </a:r>
          </a:p>
        </p:txBody>
      </p:sp>
      <p:grpSp>
        <p:nvGrpSpPr>
          <p:cNvPr id="5" name="Group 5"/>
          <p:cNvGrpSpPr>
            <a:grpSpLocks/>
          </p:cNvGrpSpPr>
          <p:nvPr/>
        </p:nvGrpSpPr>
        <p:grpSpPr bwMode="auto">
          <a:xfrm>
            <a:off x="1403350" y="2389054"/>
            <a:ext cx="6624638" cy="589233"/>
            <a:chOff x="179" y="2345"/>
            <a:chExt cx="5389" cy="581"/>
          </a:xfrm>
        </p:grpSpPr>
        <p:sp>
          <p:nvSpPr>
            <p:cNvPr id="6" name="Rectangle 6"/>
            <p:cNvSpPr>
              <a:spLocks noChangeArrowheads="1"/>
            </p:cNvSpPr>
            <p:nvPr/>
          </p:nvSpPr>
          <p:spPr bwMode="auto">
            <a:xfrm>
              <a:off x="192" y="2345"/>
              <a:ext cx="5376" cy="5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lnSpc>
                  <a:spcPct val="135000"/>
                </a:lnSpc>
                <a:spcBef>
                  <a:spcPct val="50000"/>
                </a:spcBef>
                <a:buFontTx/>
                <a:buNone/>
              </a:pPr>
              <a:r>
                <a:rPr kumimoji="1" lang="en-US" altLang="zh-CN" sz="2800" b="1">
                  <a:solidFill>
                    <a:srgbClr val="0000FF"/>
                  </a:solidFill>
                  <a:latin typeface="黑体" pitchFamily="49" charset="-122"/>
                  <a:ea typeface="黑体" pitchFamily="49" charset="-122"/>
                </a:rPr>
                <a:t>    </a:t>
              </a:r>
              <a:r>
                <a:rPr kumimoji="1" lang="zh-CN" altLang="en-US" sz="2000" b="1">
                  <a:solidFill>
                    <a:srgbClr val="0000FF"/>
                  </a:solidFill>
                  <a:latin typeface="黑体" pitchFamily="49" charset="-122"/>
                  <a:ea typeface="黑体" pitchFamily="49" charset="-122"/>
                </a:rPr>
                <a:t>－构件危险点的最大切应力</a:t>
              </a:r>
            </a:p>
          </p:txBody>
        </p:sp>
        <p:graphicFrame>
          <p:nvGraphicFramePr>
            <p:cNvPr id="7" name="Object 7"/>
            <p:cNvGraphicFramePr>
              <a:graphicFrameLocks noChangeAspect="1"/>
            </p:cNvGraphicFramePr>
            <p:nvPr/>
          </p:nvGraphicFramePr>
          <p:xfrm>
            <a:off x="179" y="2386"/>
            <a:ext cx="533" cy="501"/>
          </p:xfrm>
          <a:graphic>
            <a:graphicData uri="http://schemas.openxmlformats.org/presentationml/2006/ole">
              <mc:AlternateContent xmlns:mc="http://schemas.openxmlformats.org/markup-compatibility/2006">
                <mc:Choice xmlns:v="urn:schemas-microsoft-com:vml" Requires="v">
                  <p:oleObj name="Equation" r:id="rId4" imgW="196200" imgH="151560" progId="">
                    <p:embed/>
                  </p:oleObj>
                </mc:Choice>
                <mc:Fallback>
                  <p:oleObj name="Equation" r:id="rId4" imgW="196200" imgH="151560" progId="">
                    <p:embed/>
                    <p:pic>
                      <p:nvPicPr>
                        <p:cNvPr id="0" name="Picture 7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9" y="2386"/>
                          <a:ext cx="533" cy="5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8" name="Group 8"/>
          <p:cNvGrpSpPr>
            <a:grpSpLocks/>
          </p:cNvGrpSpPr>
          <p:nvPr/>
        </p:nvGrpSpPr>
        <p:grpSpPr bwMode="auto">
          <a:xfrm>
            <a:off x="1331913" y="3036967"/>
            <a:ext cx="6915150" cy="588800"/>
            <a:chOff x="192" y="3089"/>
            <a:chExt cx="5376" cy="533"/>
          </a:xfrm>
        </p:grpSpPr>
        <p:sp>
          <p:nvSpPr>
            <p:cNvPr id="9" name="Rectangle 9"/>
            <p:cNvSpPr>
              <a:spLocks noChangeArrowheads="1"/>
            </p:cNvSpPr>
            <p:nvPr/>
          </p:nvSpPr>
          <p:spPr bwMode="auto">
            <a:xfrm>
              <a:off x="192" y="3089"/>
              <a:ext cx="5376" cy="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lnSpc>
                  <a:spcPct val="135000"/>
                </a:lnSpc>
                <a:spcBef>
                  <a:spcPct val="50000"/>
                </a:spcBef>
                <a:buFontTx/>
                <a:buNone/>
              </a:pPr>
              <a:r>
                <a:rPr kumimoji="1" lang="en-US" altLang="zh-CN" sz="2800" b="1">
                  <a:solidFill>
                    <a:srgbClr val="0000FF"/>
                  </a:solidFill>
                  <a:latin typeface="黑体" pitchFamily="49" charset="-122"/>
                  <a:ea typeface="黑体" pitchFamily="49" charset="-122"/>
                </a:rPr>
                <a:t>    </a:t>
              </a:r>
              <a:r>
                <a:rPr kumimoji="1" lang="zh-CN" altLang="en-US" sz="2000" b="1">
                  <a:solidFill>
                    <a:srgbClr val="0000FF"/>
                  </a:solidFill>
                  <a:latin typeface="黑体" pitchFamily="49" charset="-122"/>
                  <a:ea typeface="黑体" pitchFamily="49" charset="-122"/>
                </a:rPr>
                <a:t>－极限切应力，由单向拉伸实验测得</a:t>
              </a:r>
            </a:p>
          </p:txBody>
        </p:sp>
        <p:graphicFrame>
          <p:nvGraphicFramePr>
            <p:cNvPr id="10" name="Object 10"/>
            <p:cNvGraphicFramePr>
              <a:graphicFrameLocks noChangeAspect="1"/>
            </p:cNvGraphicFramePr>
            <p:nvPr/>
          </p:nvGraphicFramePr>
          <p:xfrm>
            <a:off x="300" y="3147"/>
            <a:ext cx="340" cy="445"/>
          </p:xfrm>
          <a:graphic>
            <a:graphicData uri="http://schemas.openxmlformats.org/presentationml/2006/ole">
              <mc:AlternateContent xmlns:mc="http://schemas.openxmlformats.org/markup-compatibility/2006">
                <mc:Choice xmlns:v="urn:schemas-microsoft-com:vml" Requires="v">
                  <p:oleObj name="Equation" r:id="rId6" imgW="114480" imgH="127440" progId="">
                    <p:embed/>
                  </p:oleObj>
                </mc:Choice>
                <mc:Fallback>
                  <p:oleObj name="Equation" r:id="rId6" imgW="114480" imgH="127440" progId="">
                    <p:embed/>
                    <p:pic>
                      <p:nvPicPr>
                        <p:cNvPr id="0" name="Picture 7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0" y="3147"/>
                          <a:ext cx="340" cy="4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11" name="Object 11"/>
          <p:cNvGraphicFramePr>
            <a:graphicFrameLocks noChangeAspect="1"/>
          </p:cNvGraphicFramePr>
          <p:nvPr>
            <p:extLst>
              <p:ext uri="{D42A27DB-BD31-4B8C-83A1-F6EECF244321}">
                <p14:modId xmlns:p14="http://schemas.microsoft.com/office/powerpoint/2010/main" val="1550415080"/>
              </p:ext>
            </p:extLst>
          </p:nvPr>
        </p:nvGraphicFramePr>
        <p:xfrm>
          <a:off x="6372225" y="3141663"/>
          <a:ext cx="1708150" cy="581025"/>
        </p:xfrm>
        <a:graphic>
          <a:graphicData uri="http://schemas.openxmlformats.org/presentationml/2006/ole">
            <mc:AlternateContent xmlns:mc="http://schemas.openxmlformats.org/markup-compatibility/2006">
              <mc:Choice xmlns:v="urn:schemas-microsoft-com:vml" Requires="v">
                <p:oleObj name="Equation" r:id="rId8" imgW="539280" imgH="159480" progId="">
                  <p:embed/>
                </p:oleObj>
              </mc:Choice>
              <mc:Fallback>
                <p:oleObj name="Equation" r:id="rId8" imgW="539280" imgH="159480" progId="">
                  <p:embed/>
                  <p:pic>
                    <p:nvPicPr>
                      <p:cNvPr id="0" name="Picture 7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72225" y="3141663"/>
                        <a:ext cx="170815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 name="Object 12"/>
          <p:cNvGraphicFramePr>
            <a:graphicFrameLocks noChangeAspect="1"/>
          </p:cNvGraphicFramePr>
          <p:nvPr>
            <p:extLst>
              <p:ext uri="{D42A27DB-BD31-4B8C-83A1-F6EECF244321}">
                <p14:modId xmlns:p14="http://schemas.microsoft.com/office/powerpoint/2010/main" val="592174372"/>
              </p:ext>
            </p:extLst>
          </p:nvPr>
        </p:nvGraphicFramePr>
        <p:xfrm>
          <a:off x="5435600" y="2532063"/>
          <a:ext cx="2160588" cy="492125"/>
        </p:xfrm>
        <a:graphic>
          <a:graphicData uri="http://schemas.openxmlformats.org/presentationml/2006/ole">
            <mc:AlternateContent xmlns:mc="http://schemas.openxmlformats.org/markup-compatibility/2006">
              <mc:Choice xmlns:v="urn:schemas-microsoft-com:vml" Requires="v">
                <p:oleObj name="公式" r:id="rId10" imgW="947880" imgH="151560" progId="">
                  <p:embed/>
                </p:oleObj>
              </mc:Choice>
              <mc:Fallback>
                <p:oleObj name="公式" r:id="rId10" imgW="947880" imgH="151560" progId="">
                  <p:embed/>
                  <p:pic>
                    <p:nvPicPr>
                      <p:cNvPr id="0" name="Picture 7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435600" y="2532063"/>
                        <a:ext cx="2160588" cy="49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3" name="Group 13"/>
          <p:cNvGrpSpPr>
            <a:grpSpLocks/>
          </p:cNvGrpSpPr>
          <p:nvPr/>
        </p:nvGrpSpPr>
        <p:grpSpPr bwMode="auto">
          <a:xfrm>
            <a:off x="1541654" y="3933825"/>
            <a:ext cx="4854383" cy="498475"/>
            <a:chOff x="638" y="960"/>
            <a:chExt cx="3153" cy="432"/>
          </a:xfrm>
        </p:grpSpPr>
        <p:graphicFrame>
          <p:nvGraphicFramePr>
            <p:cNvPr id="14" name="Object 14"/>
            <p:cNvGraphicFramePr>
              <a:graphicFrameLocks noChangeAspect="1"/>
            </p:cNvGraphicFramePr>
            <p:nvPr/>
          </p:nvGraphicFramePr>
          <p:xfrm>
            <a:off x="2208" y="960"/>
            <a:ext cx="1583" cy="432"/>
          </p:xfrm>
          <a:graphic>
            <a:graphicData uri="http://schemas.openxmlformats.org/presentationml/2006/ole">
              <mc:AlternateContent xmlns:mc="http://schemas.openxmlformats.org/markup-compatibility/2006">
                <mc:Choice xmlns:v="urn:schemas-microsoft-com:vml" Requires="v">
                  <p:oleObj name="公式" r:id="rId12" imgW="686160" imgH="159480" progId="">
                    <p:embed/>
                  </p:oleObj>
                </mc:Choice>
                <mc:Fallback>
                  <p:oleObj name="公式" r:id="rId12" imgW="686160" imgH="159480" progId="">
                    <p:embed/>
                    <p:pic>
                      <p:nvPicPr>
                        <p:cNvPr id="0" name="Picture 77"/>
                        <p:cNvPicPr>
                          <a:picLocks noChangeAspect="1" noChangeArrowheads="1"/>
                        </p:cNvPicPr>
                        <p:nvPr/>
                      </p:nvPicPr>
                      <p:blipFill>
                        <a:blip r:embed="rId13">
                          <a:grayscl/>
                          <a:biLevel thresh="50000"/>
                          <a:extLst>
                            <a:ext uri="{28A0092B-C50C-407E-A947-70E740481C1C}">
                              <a14:useLocalDpi xmlns:a14="http://schemas.microsoft.com/office/drawing/2010/main" val="0"/>
                            </a:ext>
                          </a:extLst>
                        </a:blip>
                        <a:srcRect/>
                        <a:stretch>
                          <a:fillRect/>
                        </a:stretch>
                      </p:blipFill>
                      <p:spPr bwMode="auto">
                        <a:xfrm>
                          <a:off x="2208" y="960"/>
                          <a:ext cx="1583" cy="432"/>
                        </a:xfrm>
                        <a:prstGeom prst="rect">
                          <a:avLst/>
                        </a:prstGeom>
                        <a:noFill/>
                        <a:extLst>
                          <a:ext uri="{909E8E84-426E-40DD-AFC4-6F175D3DCCD1}">
                            <a14:hiddenFill xmlns:a14="http://schemas.microsoft.com/office/drawing/2010/main">
                              <a:solidFill>
                                <a:schemeClr val="bg1"/>
                              </a:solidFill>
                            </a14:hiddenFill>
                          </a:ext>
                        </a:extLst>
                      </p:spPr>
                    </p:pic>
                  </p:oleObj>
                </mc:Fallback>
              </mc:AlternateContent>
            </a:graphicData>
          </a:graphic>
        </p:graphicFrame>
        <p:sp>
          <p:nvSpPr>
            <p:cNvPr id="15" name="Text Box 15"/>
            <p:cNvSpPr txBox="1">
              <a:spLocks noChangeArrowheads="1"/>
            </p:cNvSpPr>
            <p:nvPr/>
          </p:nvSpPr>
          <p:spPr bwMode="auto">
            <a:xfrm>
              <a:off x="638" y="990"/>
              <a:ext cx="924" cy="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lgn="ctr" eaLnBrk="1" hangingPunct="1">
                <a:spcBef>
                  <a:spcPct val="50000"/>
                </a:spcBef>
                <a:buFontTx/>
                <a:buNone/>
              </a:pPr>
              <a:r>
                <a:rPr kumimoji="1" lang="zh-CN" altLang="en-US" sz="2400" b="1">
                  <a:solidFill>
                    <a:srgbClr val="0000FF"/>
                  </a:solidFill>
                  <a:latin typeface="黑体" pitchFamily="49" charset="-122"/>
                  <a:ea typeface="黑体" pitchFamily="49" charset="-122"/>
                </a:rPr>
                <a:t>屈服条件</a:t>
              </a:r>
            </a:p>
          </p:txBody>
        </p:sp>
      </p:grpSp>
      <p:grpSp>
        <p:nvGrpSpPr>
          <p:cNvPr id="16" name="Group 16"/>
          <p:cNvGrpSpPr>
            <a:grpSpLocks/>
          </p:cNvGrpSpPr>
          <p:nvPr/>
        </p:nvGrpSpPr>
        <p:grpSpPr bwMode="auto">
          <a:xfrm>
            <a:off x="1619250" y="4437063"/>
            <a:ext cx="5338763" cy="801687"/>
            <a:chOff x="639" y="1480"/>
            <a:chExt cx="3466" cy="695"/>
          </a:xfrm>
        </p:grpSpPr>
        <p:graphicFrame>
          <p:nvGraphicFramePr>
            <p:cNvPr id="17" name="Object 17"/>
            <p:cNvGraphicFramePr>
              <a:graphicFrameLocks noChangeAspect="1"/>
            </p:cNvGraphicFramePr>
            <p:nvPr/>
          </p:nvGraphicFramePr>
          <p:xfrm>
            <a:off x="2205" y="1480"/>
            <a:ext cx="1900" cy="695"/>
          </p:xfrm>
          <a:graphic>
            <a:graphicData uri="http://schemas.openxmlformats.org/presentationml/2006/ole">
              <mc:AlternateContent xmlns:mc="http://schemas.openxmlformats.org/markup-compatibility/2006">
                <mc:Choice xmlns:v="urn:schemas-microsoft-com:vml" Requires="v">
                  <p:oleObj name="公式" r:id="rId14" imgW="972360" imgH="318600" progId="">
                    <p:embed/>
                  </p:oleObj>
                </mc:Choice>
                <mc:Fallback>
                  <p:oleObj name="公式" r:id="rId14" imgW="972360" imgH="318600" progId="">
                    <p:embed/>
                    <p:pic>
                      <p:nvPicPr>
                        <p:cNvPr id="0" name="Picture 7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205" y="1480"/>
                          <a:ext cx="1900" cy="695"/>
                        </a:xfrm>
                        <a:prstGeom prst="rect">
                          <a:avLst/>
                        </a:prstGeom>
                        <a:noFill/>
                        <a:extLst>
                          <a:ext uri="{909E8E84-426E-40DD-AFC4-6F175D3DCCD1}">
                            <a14:hiddenFill xmlns:a14="http://schemas.microsoft.com/office/drawing/2010/main">
                              <a:solidFill>
                                <a:srgbClr val="99CCFF"/>
                              </a:solidFill>
                            </a14:hiddenFill>
                          </a:ext>
                        </a:extLst>
                      </p:spPr>
                    </p:pic>
                  </p:oleObj>
                </mc:Fallback>
              </mc:AlternateContent>
            </a:graphicData>
          </a:graphic>
        </p:graphicFrame>
        <p:sp>
          <p:nvSpPr>
            <p:cNvPr id="18" name="Rectangle 18"/>
            <p:cNvSpPr>
              <a:spLocks noChangeArrowheads="1"/>
            </p:cNvSpPr>
            <p:nvPr/>
          </p:nvSpPr>
          <p:spPr bwMode="auto">
            <a:xfrm>
              <a:off x="639" y="1657"/>
              <a:ext cx="101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kumimoji="1" lang="zh-CN" altLang="en-US" sz="2400" b="1">
                  <a:solidFill>
                    <a:srgbClr val="0000FF"/>
                  </a:solidFill>
                  <a:latin typeface="黑体" pitchFamily="49" charset="-122"/>
                  <a:ea typeface="黑体" pitchFamily="49" charset="-122"/>
                </a:rPr>
                <a:t>强度条件</a:t>
              </a:r>
            </a:p>
          </p:txBody>
        </p:sp>
      </p:grpSp>
      <p:sp>
        <p:nvSpPr>
          <p:cNvPr id="19" name="Text Box 19"/>
          <p:cNvSpPr txBox="1">
            <a:spLocks noChangeArrowheads="1"/>
          </p:cNvSpPr>
          <p:nvPr/>
        </p:nvSpPr>
        <p:spPr bwMode="auto">
          <a:xfrm>
            <a:off x="539552" y="5157788"/>
            <a:ext cx="8208912" cy="15142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lnSpc>
                <a:spcPct val="140000"/>
              </a:lnSpc>
              <a:spcBef>
                <a:spcPct val="0"/>
              </a:spcBef>
              <a:buFontTx/>
              <a:buNone/>
            </a:pPr>
            <a:r>
              <a:rPr kumimoji="1" lang="en-US" altLang="zh-CN" sz="1600" dirty="0">
                <a:solidFill>
                  <a:srgbClr val="0000FF"/>
                </a:solidFill>
                <a:latin typeface="黑体" pitchFamily="49" charset="-122"/>
                <a:ea typeface="黑体" pitchFamily="49" charset="-122"/>
              </a:rPr>
              <a:t>     </a:t>
            </a:r>
            <a:r>
              <a:rPr kumimoji="1" lang="zh-CN" altLang="en-US" sz="2200" dirty="0">
                <a:solidFill>
                  <a:srgbClr val="0000FF"/>
                </a:solidFill>
                <a:latin typeface="黑体" pitchFamily="49" charset="-122"/>
                <a:ea typeface="黑体" pitchFamily="49" charset="-122"/>
              </a:rPr>
              <a:t>实验表明：此理论对于塑性材料的屈服破坏能够得到较为满意的解释。并能解释材料在三向均压下不发生塑性变形或断裂的事实。</a:t>
            </a:r>
          </a:p>
        </p:txBody>
      </p:sp>
    </p:spTree>
    <p:extLst>
      <p:ext uri="{BB962C8B-B14F-4D97-AF65-F5344CB8AC3E}">
        <p14:creationId xmlns:p14="http://schemas.microsoft.com/office/powerpoint/2010/main" val="2856684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wipe(left)">
                                      <p:cBhvr>
                                        <p:cTn id="12" dur="500"/>
                                        <p:tgtEl>
                                          <p:spTgt spid="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left)">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left)">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wipe(left)">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wipe(left)">
                                      <p:cBhvr>
                                        <p:cTn id="42" dur="50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wipe(left)">
                                      <p:cBhvr>
                                        <p:cTn id="47" dur="500"/>
                                        <p:tgtEl>
                                          <p:spTgt spid="1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wipe(left)">
                                      <p:cBhvr>
                                        <p:cTn id="5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utoUpdateAnimBg="0"/>
      <p:bldP spid="4" grpId="0" animBg="1"/>
      <p:bldP spid="19" grpId="0"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251520" y="813881"/>
            <a:ext cx="8543230" cy="954107"/>
          </a:xfrm>
          <a:prstGeom prst="rect">
            <a:avLst/>
          </a:prstGeom>
          <a:noFill/>
          <a:ln w="19050">
            <a:solidFill>
              <a:srgbClr val="FF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lnSpc>
                <a:spcPct val="140000"/>
              </a:lnSpc>
              <a:spcBef>
                <a:spcPct val="0"/>
              </a:spcBef>
              <a:buFont typeface="Monotype Sorts" pitchFamily="2" charset="2"/>
              <a:buNone/>
            </a:pPr>
            <a:r>
              <a:rPr kumimoji="1" lang="en-US" altLang="zh-CN" sz="2000" b="1">
                <a:solidFill>
                  <a:srgbClr val="0000FF"/>
                </a:solidFill>
                <a:latin typeface="黑体" pitchFamily="49" charset="-122"/>
                <a:ea typeface="黑体" pitchFamily="49" charset="-122"/>
              </a:rPr>
              <a:t>    </a:t>
            </a:r>
            <a:r>
              <a:rPr kumimoji="1" lang="zh-CN" altLang="en-US" sz="2000" b="1">
                <a:solidFill>
                  <a:srgbClr val="0000FF"/>
                </a:solidFill>
                <a:latin typeface="黑体" pitchFamily="49" charset="-122"/>
                <a:ea typeface="黑体" pitchFamily="49" charset="-122"/>
              </a:rPr>
              <a:t>无论材料处于什么应力状态</a:t>
            </a:r>
            <a:r>
              <a:rPr kumimoji="1" lang="en-US" altLang="zh-CN" sz="2000" b="1">
                <a:solidFill>
                  <a:srgbClr val="0000FF"/>
                </a:solidFill>
                <a:latin typeface="黑体" pitchFamily="49" charset="-122"/>
                <a:ea typeface="黑体" pitchFamily="49" charset="-122"/>
              </a:rPr>
              <a:t>,</a:t>
            </a:r>
            <a:r>
              <a:rPr kumimoji="1" lang="zh-CN" altLang="en-US" sz="2000" b="1">
                <a:solidFill>
                  <a:srgbClr val="0000FF"/>
                </a:solidFill>
                <a:latin typeface="黑体" pitchFamily="49" charset="-122"/>
                <a:ea typeface="黑体" pitchFamily="49" charset="-122"/>
              </a:rPr>
              <a:t>只要发生屈服</a:t>
            </a:r>
            <a:r>
              <a:rPr kumimoji="1" lang="en-US" altLang="zh-CN" sz="2000" b="1">
                <a:solidFill>
                  <a:srgbClr val="0000FF"/>
                </a:solidFill>
                <a:latin typeface="黑体" pitchFamily="49" charset="-122"/>
                <a:ea typeface="黑体" pitchFamily="49" charset="-122"/>
              </a:rPr>
              <a:t>,</a:t>
            </a:r>
            <a:r>
              <a:rPr kumimoji="1" lang="zh-CN" altLang="en-US" sz="2000" b="1">
                <a:solidFill>
                  <a:srgbClr val="0000FF"/>
                </a:solidFill>
                <a:latin typeface="黑体" pitchFamily="49" charset="-122"/>
                <a:ea typeface="黑体" pitchFamily="49" charset="-122"/>
              </a:rPr>
              <a:t>都是由于单元体的最大形状改变比能达到一个极限值。</a:t>
            </a:r>
          </a:p>
        </p:txBody>
      </p:sp>
      <p:graphicFrame>
        <p:nvGraphicFramePr>
          <p:cNvPr id="3" name="Object 3"/>
          <p:cNvGraphicFramePr>
            <a:graphicFrameLocks noChangeAspect="1"/>
          </p:cNvGraphicFramePr>
          <p:nvPr>
            <p:extLst>
              <p:ext uri="{D42A27DB-BD31-4B8C-83A1-F6EECF244321}">
                <p14:modId xmlns:p14="http://schemas.microsoft.com/office/powerpoint/2010/main" val="341223272"/>
              </p:ext>
            </p:extLst>
          </p:nvPr>
        </p:nvGraphicFramePr>
        <p:xfrm>
          <a:off x="3883025" y="1854151"/>
          <a:ext cx="1449388" cy="566737"/>
        </p:xfrm>
        <a:graphic>
          <a:graphicData uri="http://schemas.openxmlformats.org/presentationml/2006/ole">
            <mc:AlternateContent xmlns:mc="http://schemas.openxmlformats.org/markup-compatibility/2006">
              <mc:Choice xmlns:v="urn:schemas-microsoft-com:vml" Requires="v">
                <p:oleObj name="公式" r:id="rId2" imgW="343080" imgH="159480" progId="">
                  <p:embed/>
                </p:oleObj>
              </mc:Choice>
              <mc:Fallback>
                <p:oleObj name="公式" r:id="rId2" imgW="343080" imgH="159480" progId="">
                  <p:embed/>
                  <p:pic>
                    <p:nvPicPr>
                      <p:cNvPr id="0" name="Picture 7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3025" y="1854151"/>
                        <a:ext cx="1449388"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 name="Rectangle 4"/>
          <p:cNvSpPr>
            <a:spLocks noChangeArrowheads="1"/>
          </p:cNvSpPr>
          <p:nvPr/>
        </p:nvSpPr>
        <p:spPr bwMode="auto">
          <a:xfrm>
            <a:off x="250824" y="260648"/>
            <a:ext cx="8497639" cy="457200"/>
          </a:xfrm>
          <a:prstGeom prst="rect">
            <a:avLst/>
          </a:prstGeom>
          <a:noFill/>
          <a:ln w="19050">
            <a:solidFill>
              <a:srgbClr val="FF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fontAlgn="base">
              <a:spcBef>
                <a:spcPct val="0"/>
              </a:spcBef>
              <a:spcAft>
                <a:spcPct val="0"/>
              </a:spcAft>
              <a:defRPr>
                <a:solidFill>
                  <a:schemeClr val="tx1"/>
                </a:solidFill>
                <a:latin typeface="Arial" charset="0"/>
                <a:ea typeface="宋体" pitchFamily="2" charset="-122"/>
              </a:defRPr>
            </a:lvl6pPr>
            <a:lvl7pPr marL="2971800" indent="-228600" fontAlgn="base">
              <a:spcBef>
                <a:spcPct val="0"/>
              </a:spcBef>
              <a:spcAft>
                <a:spcPct val="0"/>
              </a:spcAft>
              <a:defRPr>
                <a:solidFill>
                  <a:schemeClr val="tx1"/>
                </a:solidFill>
                <a:latin typeface="Arial" charset="0"/>
                <a:ea typeface="宋体" pitchFamily="2" charset="-122"/>
              </a:defRPr>
            </a:lvl7pPr>
            <a:lvl8pPr marL="3429000" indent="-228600" fontAlgn="base">
              <a:spcBef>
                <a:spcPct val="0"/>
              </a:spcBef>
              <a:spcAft>
                <a:spcPct val="0"/>
              </a:spcAft>
              <a:defRPr>
                <a:solidFill>
                  <a:schemeClr val="tx1"/>
                </a:solidFill>
                <a:latin typeface="Arial" charset="0"/>
                <a:ea typeface="宋体" pitchFamily="2" charset="-122"/>
              </a:defRPr>
            </a:lvl8pPr>
            <a:lvl9pPr marL="3886200" indent="-228600" fontAlgn="base">
              <a:spcBef>
                <a:spcPct val="0"/>
              </a:spcBef>
              <a:spcAft>
                <a:spcPct val="0"/>
              </a:spcAft>
              <a:defRPr>
                <a:solidFill>
                  <a:schemeClr val="tx1"/>
                </a:solidFill>
                <a:latin typeface="Arial" charset="0"/>
                <a:ea typeface="宋体" pitchFamily="2" charset="-122"/>
              </a:defRPr>
            </a:lvl9pPr>
          </a:lstStyle>
          <a:p>
            <a:pPr>
              <a:spcBef>
                <a:spcPct val="20000"/>
              </a:spcBef>
              <a:buFont typeface="Monotype Sorts" pitchFamily="2" charset="2"/>
              <a:buNone/>
              <a:defRPr/>
            </a:pPr>
            <a:r>
              <a:rPr lang="en-US" altLang="zh-CN" sz="2600" b="1" dirty="0">
                <a:solidFill>
                  <a:srgbClr val="0000FF"/>
                </a:solidFill>
                <a:effectLst>
                  <a:outerShdw blurRad="38100" dist="38100" dir="2700000" algn="tl">
                    <a:srgbClr val="C0C0C0"/>
                  </a:outerShdw>
                </a:effectLst>
                <a:latin typeface="黑体" pitchFamily="2" charset="-122"/>
                <a:ea typeface="黑体" pitchFamily="2" charset="-122"/>
                <a:sym typeface="Monotype Sorts" pitchFamily="2" charset="2"/>
              </a:rPr>
              <a:t>4. </a:t>
            </a:r>
            <a:r>
              <a:rPr lang="zh-CN" altLang="en-US" sz="2600" b="1" dirty="0">
                <a:solidFill>
                  <a:srgbClr val="0000FF"/>
                </a:solidFill>
                <a:effectLst>
                  <a:outerShdw blurRad="38100" dist="38100" dir="2700000" algn="tl">
                    <a:srgbClr val="C0C0C0"/>
                  </a:outerShdw>
                </a:effectLst>
                <a:latin typeface="黑体" pitchFamily="2" charset="-122"/>
                <a:ea typeface="黑体" pitchFamily="2" charset="-122"/>
                <a:sym typeface="Monotype Sorts" pitchFamily="2" charset="2"/>
              </a:rPr>
              <a:t>形状改变比</a:t>
            </a:r>
            <a:r>
              <a:rPr lang="zh-CN" altLang="en-US" sz="2600" b="1" dirty="0">
                <a:solidFill>
                  <a:srgbClr val="0000FF"/>
                </a:solidFill>
                <a:effectLst>
                  <a:outerShdw blurRad="38100" dist="38100" dir="2700000" algn="tl">
                    <a:srgbClr val="C0C0C0"/>
                  </a:outerShdw>
                </a:effectLst>
                <a:latin typeface="黑体" pitchFamily="2" charset="-122"/>
                <a:ea typeface="黑体" pitchFamily="2" charset="-122"/>
              </a:rPr>
              <a:t>能理论（第四强度理论）</a:t>
            </a:r>
          </a:p>
        </p:txBody>
      </p:sp>
      <p:graphicFrame>
        <p:nvGraphicFramePr>
          <p:cNvPr id="5" name="Object 5"/>
          <p:cNvGraphicFramePr>
            <a:graphicFrameLocks noChangeAspect="1"/>
          </p:cNvGraphicFramePr>
          <p:nvPr>
            <p:extLst>
              <p:ext uri="{D42A27DB-BD31-4B8C-83A1-F6EECF244321}">
                <p14:modId xmlns:p14="http://schemas.microsoft.com/office/powerpoint/2010/main" val="4128107552"/>
              </p:ext>
            </p:extLst>
          </p:nvPr>
        </p:nvGraphicFramePr>
        <p:xfrm>
          <a:off x="3819525" y="2997200"/>
          <a:ext cx="4889500" cy="785813"/>
        </p:xfrm>
        <a:graphic>
          <a:graphicData uri="http://schemas.openxmlformats.org/presentationml/2006/ole">
            <mc:AlternateContent xmlns:mc="http://schemas.openxmlformats.org/markup-compatibility/2006">
              <mc:Choice xmlns:v="urn:schemas-microsoft-com:vml" Requires="v">
                <p:oleObj name="公式" r:id="rId4" imgW="2369160" imgH="286920" progId="">
                  <p:embed/>
                </p:oleObj>
              </mc:Choice>
              <mc:Fallback>
                <p:oleObj name="公式" r:id="rId4" imgW="2369160" imgH="286920" progId="">
                  <p:embed/>
                  <p:pic>
                    <p:nvPicPr>
                      <p:cNvPr id="0" name="Picture 73"/>
                      <p:cNvPicPr>
                        <a:picLocks noChangeAspect="1" noChangeArrowheads="1"/>
                      </p:cNvPicPr>
                      <p:nvPr/>
                    </p:nvPicPr>
                    <p:blipFill>
                      <a:blip r:embed="rId5">
                        <a:grayscl/>
                        <a:biLevel thresh="50000"/>
                        <a:extLst>
                          <a:ext uri="{28A0092B-C50C-407E-A947-70E740481C1C}">
                            <a14:useLocalDpi xmlns:a14="http://schemas.microsoft.com/office/drawing/2010/main" val="0"/>
                          </a:ext>
                        </a:extLst>
                      </a:blip>
                      <a:srcRect/>
                      <a:stretch>
                        <a:fillRect/>
                      </a:stretch>
                    </p:blipFill>
                    <p:spPr bwMode="auto">
                      <a:xfrm>
                        <a:off x="3819525" y="2997200"/>
                        <a:ext cx="4889500" cy="7858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6" name="Group 6"/>
          <p:cNvGrpSpPr>
            <a:grpSpLocks/>
          </p:cNvGrpSpPr>
          <p:nvPr/>
        </p:nvGrpSpPr>
        <p:grpSpPr bwMode="auto">
          <a:xfrm>
            <a:off x="684213" y="2389067"/>
            <a:ext cx="7488237" cy="589204"/>
            <a:chOff x="192" y="2197"/>
            <a:chExt cx="5376" cy="685"/>
          </a:xfrm>
        </p:grpSpPr>
        <p:sp>
          <p:nvSpPr>
            <p:cNvPr id="7" name="Rectangle 7"/>
            <p:cNvSpPr>
              <a:spLocks noChangeArrowheads="1"/>
            </p:cNvSpPr>
            <p:nvPr/>
          </p:nvSpPr>
          <p:spPr bwMode="auto">
            <a:xfrm>
              <a:off x="192" y="2197"/>
              <a:ext cx="5376" cy="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lnSpc>
                  <a:spcPct val="135000"/>
                </a:lnSpc>
                <a:spcBef>
                  <a:spcPct val="50000"/>
                </a:spcBef>
                <a:buFontTx/>
                <a:buNone/>
              </a:pPr>
              <a:r>
                <a:rPr kumimoji="1" lang="en-US" altLang="zh-CN" sz="2800" b="1">
                  <a:solidFill>
                    <a:srgbClr val="0000FF"/>
                  </a:solidFill>
                  <a:latin typeface="黑体" pitchFamily="49" charset="-122"/>
                  <a:ea typeface="黑体" pitchFamily="49" charset="-122"/>
                </a:rPr>
                <a:t>   </a:t>
              </a:r>
              <a:r>
                <a:rPr kumimoji="1" lang="zh-CN" altLang="en-US" sz="2000" b="1">
                  <a:solidFill>
                    <a:srgbClr val="0000FF"/>
                  </a:solidFill>
                  <a:latin typeface="黑体" pitchFamily="49" charset="-122"/>
                  <a:ea typeface="黑体" pitchFamily="49" charset="-122"/>
                </a:rPr>
                <a:t>－构件危险点的形状改变比能</a:t>
              </a:r>
            </a:p>
          </p:txBody>
        </p:sp>
        <p:graphicFrame>
          <p:nvGraphicFramePr>
            <p:cNvPr id="8" name="Object 8"/>
            <p:cNvGraphicFramePr>
              <a:graphicFrameLocks noChangeAspect="1"/>
            </p:cNvGraphicFramePr>
            <p:nvPr/>
          </p:nvGraphicFramePr>
          <p:xfrm>
            <a:off x="275" y="2304"/>
            <a:ext cx="340" cy="500"/>
          </p:xfrm>
          <a:graphic>
            <a:graphicData uri="http://schemas.openxmlformats.org/presentationml/2006/ole">
              <mc:AlternateContent xmlns:mc="http://schemas.openxmlformats.org/markup-compatibility/2006">
                <mc:Choice xmlns:v="urn:schemas-microsoft-com:vml" Requires="v">
                  <p:oleObj name="公式" r:id="rId6" imgW="114480" imgH="151560" progId="">
                    <p:embed/>
                  </p:oleObj>
                </mc:Choice>
                <mc:Fallback>
                  <p:oleObj name="公式" r:id="rId6" imgW="114480" imgH="151560" progId="">
                    <p:embed/>
                    <p:pic>
                      <p:nvPicPr>
                        <p:cNvPr id="0" name="Picture 7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5" y="2304"/>
                          <a:ext cx="340" cy="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9" name="Object 9"/>
          <p:cNvGraphicFramePr>
            <a:graphicFrameLocks noChangeAspect="1"/>
          </p:cNvGraphicFramePr>
          <p:nvPr>
            <p:extLst>
              <p:ext uri="{D42A27DB-BD31-4B8C-83A1-F6EECF244321}">
                <p14:modId xmlns:p14="http://schemas.microsoft.com/office/powerpoint/2010/main" val="2339445386"/>
              </p:ext>
            </p:extLst>
          </p:nvPr>
        </p:nvGraphicFramePr>
        <p:xfrm>
          <a:off x="6464300" y="3716338"/>
          <a:ext cx="1541463" cy="865187"/>
        </p:xfrm>
        <a:graphic>
          <a:graphicData uri="http://schemas.openxmlformats.org/presentationml/2006/ole">
            <mc:AlternateContent xmlns:mc="http://schemas.openxmlformats.org/markup-compatibility/2006">
              <mc:Choice xmlns:v="urn:schemas-microsoft-com:vml" Requires="v">
                <p:oleObj name="公式" r:id="rId8" imgW="743400" imgH="286920" progId="">
                  <p:embed/>
                </p:oleObj>
              </mc:Choice>
              <mc:Fallback>
                <p:oleObj name="公式" r:id="rId8" imgW="743400" imgH="286920" progId="">
                  <p:embed/>
                  <p:pic>
                    <p:nvPicPr>
                      <p:cNvPr id="0" name="Picture 75"/>
                      <p:cNvPicPr>
                        <a:picLocks noChangeAspect="1" noChangeArrowheads="1"/>
                      </p:cNvPicPr>
                      <p:nvPr/>
                    </p:nvPicPr>
                    <p:blipFill>
                      <a:blip r:embed="rId9">
                        <a:grayscl/>
                        <a:biLevel thresh="50000"/>
                        <a:extLst>
                          <a:ext uri="{28A0092B-C50C-407E-A947-70E740481C1C}">
                            <a14:useLocalDpi xmlns:a14="http://schemas.microsoft.com/office/drawing/2010/main" val="0"/>
                          </a:ext>
                        </a:extLst>
                      </a:blip>
                      <a:srcRect/>
                      <a:stretch>
                        <a:fillRect/>
                      </a:stretch>
                    </p:blipFill>
                    <p:spPr bwMode="auto">
                      <a:xfrm>
                        <a:off x="6464300" y="3716338"/>
                        <a:ext cx="1541463" cy="86518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0" name="Group 10"/>
          <p:cNvGrpSpPr>
            <a:grpSpLocks/>
          </p:cNvGrpSpPr>
          <p:nvPr/>
        </p:nvGrpSpPr>
        <p:grpSpPr bwMode="auto">
          <a:xfrm>
            <a:off x="755650" y="3756237"/>
            <a:ext cx="7019925" cy="589442"/>
            <a:chOff x="192" y="2983"/>
            <a:chExt cx="5568" cy="650"/>
          </a:xfrm>
        </p:grpSpPr>
        <p:sp>
          <p:nvSpPr>
            <p:cNvPr id="11" name="Rectangle 11"/>
            <p:cNvSpPr>
              <a:spLocks noChangeArrowheads="1"/>
            </p:cNvSpPr>
            <p:nvPr/>
          </p:nvSpPr>
          <p:spPr bwMode="auto">
            <a:xfrm>
              <a:off x="192" y="2983"/>
              <a:ext cx="5568" cy="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lnSpc>
                  <a:spcPct val="135000"/>
                </a:lnSpc>
                <a:spcBef>
                  <a:spcPct val="50000"/>
                </a:spcBef>
                <a:buFontTx/>
                <a:buNone/>
              </a:pPr>
              <a:r>
                <a:rPr kumimoji="1" lang="en-US" altLang="zh-CN" sz="2800" b="1">
                  <a:solidFill>
                    <a:srgbClr val="0000FF"/>
                  </a:solidFill>
                  <a:latin typeface="黑体" pitchFamily="49" charset="-122"/>
                  <a:ea typeface="黑体" pitchFamily="49" charset="-122"/>
                </a:rPr>
                <a:t>   </a:t>
              </a:r>
              <a:r>
                <a:rPr kumimoji="1" lang="zh-CN" altLang="en-US" sz="2000" b="1">
                  <a:solidFill>
                    <a:srgbClr val="0000FF"/>
                  </a:solidFill>
                  <a:latin typeface="黑体" pitchFamily="49" charset="-122"/>
                  <a:ea typeface="黑体" pitchFamily="49" charset="-122"/>
                </a:rPr>
                <a:t>－形状改变比能的极限值，由单拉实验测得</a:t>
              </a:r>
            </a:p>
          </p:txBody>
        </p:sp>
        <p:graphicFrame>
          <p:nvGraphicFramePr>
            <p:cNvPr id="12" name="Object 12"/>
            <p:cNvGraphicFramePr>
              <a:graphicFrameLocks noChangeAspect="1"/>
            </p:cNvGraphicFramePr>
            <p:nvPr/>
          </p:nvGraphicFramePr>
          <p:xfrm>
            <a:off x="275" y="3072"/>
            <a:ext cx="339" cy="501"/>
          </p:xfrm>
          <a:graphic>
            <a:graphicData uri="http://schemas.openxmlformats.org/presentationml/2006/ole">
              <mc:AlternateContent xmlns:mc="http://schemas.openxmlformats.org/markup-compatibility/2006">
                <mc:Choice xmlns:v="urn:schemas-microsoft-com:vml" Requires="v">
                  <p:oleObj name="公式" r:id="rId10" imgW="114480" imgH="151560" progId="">
                    <p:embed/>
                  </p:oleObj>
                </mc:Choice>
                <mc:Fallback>
                  <p:oleObj name="公式" r:id="rId10" imgW="114480" imgH="151560" progId="">
                    <p:embed/>
                    <p:pic>
                      <p:nvPicPr>
                        <p:cNvPr id="0" name="Picture 7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75" y="3072"/>
                          <a:ext cx="339" cy="5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3" name="Group 13"/>
          <p:cNvGrpSpPr>
            <a:grpSpLocks/>
          </p:cNvGrpSpPr>
          <p:nvPr/>
        </p:nvGrpSpPr>
        <p:grpSpPr bwMode="auto">
          <a:xfrm>
            <a:off x="468313" y="4652963"/>
            <a:ext cx="7235825" cy="597031"/>
            <a:chOff x="292" y="956"/>
            <a:chExt cx="4662" cy="610"/>
          </a:xfrm>
        </p:grpSpPr>
        <p:sp>
          <p:nvSpPr>
            <p:cNvPr id="14" name="Rectangle 14"/>
            <p:cNvSpPr>
              <a:spLocks noChangeArrowheads="1"/>
            </p:cNvSpPr>
            <p:nvPr/>
          </p:nvSpPr>
          <p:spPr bwMode="auto">
            <a:xfrm>
              <a:off x="292" y="1094"/>
              <a:ext cx="916" cy="4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kumimoji="1" lang="zh-CN" altLang="en-US" sz="2400" b="1">
                  <a:solidFill>
                    <a:srgbClr val="0000FF"/>
                  </a:solidFill>
                  <a:latin typeface="黑体" pitchFamily="49" charset="-122"/>
                  <a:ea typeface="黑体" pitchFamily="49" charset="-122"/>
                </a:rPr>
                <a:t>屈服条件</a:t>
              </a:r>
            </a:p>
          </p:txBody>
        </p:sp>
        <p:graphicFrame>
          <p:nvGraphicFramePr>
            <p:cNvPr id="15" name="Object 15"/>
            <p:cNvGraphicFramePr>
              <a:graphicFrameLocks noChangeAspect="1"/>
            </p:cNvGraphicFramePr>
            <p:nvPr/>
          </p:nvGraphicFramePr>
          <p:xfrm>
            <a:off x="1630" y="956"/>
            <a:ext cx="3324" cy="444"/>
          </p:xfrm>
          <a:graphic>
            <a:graphicData uri="http://schemas.openxmlformats.org/presentationml/2006/ole">
              <mc:AlternateContent xmlns:mc="http://schemas.openxmlformats.org/markup-compatibility/2006">
                <mc:Choice xmlns:v="urn:schemas-microsoft-com:vml" Requires="v">
                  <p:oleObj name="Equation" r:id="rId12" imgW="2205720" imgH="159480" progId="">
                    <p:embed/>
                  </p:oleObj>
                </mc:Choice>
                <mc:Fallback>
                  <p:oleObj name="Equation" r:id="rId12" imgW="2205720" imgH="159480" progId="">
                    <p:embed/>
                    <p:pic>
                      <p:nvPicPr>
                        <p:cNvPr id="0" name="Picture 77"/>
                        <p:cNvPicPr>
                          <a:picLocks noChangeAspect="1" noChangeArrowheads="1"/>
                        </p:cNvPicPr>
                        <p:nvPr/>
                      </p:nvPicPr>
                      <p:blipFill>
                        <a:blip r:embed="rId13">
                          <a:grayscl/>
                          <a:biLevel thresh="50000"/>
                          <a:extLst>
                            <a:ext uri="{28A0092B-C50C-407E-A947-70E740481C1C}">
                              <a14:useLocalDpi xmlns:a14="http://schemas.microsoft.com/office/drawing/2010/main" val="0"/>
                            </a:ext>
                          </a:extLst>
                        </a:blip>
                        <a:srcRect/>
                        <a:stretch>
                          <a:fillRect/>
                        </a:stretch>
                      </p:blipFill>
                      <p:spPr bwMode="auto">
                        <a:xfrm>
                          <a:off x="1630" y="956"/>
                          <a:ext cx="3324" cy="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16" name="Rectangle 16"/>
          <p:cNvSpPr>
            <a:spLocks noChangeArrowheads="1"/>
          </p:cNvSpPr>
          <p:nvPr/>
        </p:nvSpPr>
        <p:spPr bwMode="auto">
          <a:xfrm>
            <a:off x="468313" y="5445125"/>
            <a:ext cx="17827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kumimoji="1" lang="zh-CN" altLang="en-US" sz="2400" b="1">
                <a:solidFill>
                  <a:srgbClr val="0000FF"/>
                </a:solidFill>
                <a:latin typeface="黑体" pitchFamily="49" charset="-122"/>
                <a:ea typeface="黑体" pitchFamily="49" charset="-122"/>
              </a:rPr>
              <a:t>强度条件</a:t>
            </a:r>
          </a:p>
        </p:txBody>
      </p:sp>
      <p:grpSp>
        <p:nvGrpSpPr>
          <p:cNvPr id="17" name="Group 17"/>
          <p:cNvGrpSpPr>
            <a:grpSpLocks/>
          </p:cNvGrpSpPr>
          <p:nvPr/>
        </p:nvGrpSpPr>
        <p:grpSpPr bwMode="auto">
          <a:xfrm>
            <a:off x="2124075" y="5333803"/>
            <a:ext cx="6840538" cy="944563"/>
            <a:chOff x="672" y="3117"/>
            <a:chExt cx="4512" cy="840"/>
          </a:xfrm>
        </p:grpSpPr>
        <p:sp>
          <p:nvSpPr>
            <p:cNvPr id="18" name="Rectangle 18"/>
            <p:cNvSpPr>
              <a:spLocks noChangeArrowheads="1"/>
            </p:cNvSpPr>
            <p:nvPr/>
          </p:nvSpPr>
          <p:spPr bwMode="auto">
            <a:xfrm>
              <a:off x="672" y="3340"/>
              <a:ext cx="4512" cy="328"/>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12700" cap="sq">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800">
                <a:solidFill>
                  <a:srgbClr val="0000FF"/>
                </a:solidFill>
              </a:endParaRPr>
            </a:p>
          </p:txBody>
        </p:sp>
        <p:graphicFrame>
          <p:nvGraphicFramePr>
            <p:cNvPr id="19" name="Object 19"/>
            <p:cNvGraphicFramePr>
              <a:graphicFrameLocks noChangeAspect="1"/>
            </p:cNvGraphicFramePr>
            <p:nvPr/>
          </p:nvGraphicFramePr>
          <p:xfrm>
            <a:off x="726" y="3117"/>
            <a:ext cx="4355" cy="840"/>
          </p:xfrm>
          <a:graphic>
            <a:graphicData uri="http://schemas.openxmlformats.org/presentationml/2006/ole">
              <mc:AlternateContent xmlns:mc="http://schemas.openxmlformats.org/markup-compatibility/2006">
                <mc:Choice xmlns:v="urn:schemas-microsoft-com:vml" Requires="v">
                  <p:oleObj name="公式" r:id="rId14" imgW="2638800" imgH="350640" progId="">
                    <p:embed/>
                  </p:oleObj>
                </mc:Choice>
                <mc:Fallback>
                  <p:oleObj name="公式" r:id="rId14" imgW="2638800" imgH="350640" progId="">
                    <p:embed/>
                    <p:pic>
                      <p:nvPicPr>
                        <p:cNvPr id="0" name="Picture 78"/>
                        <p:cNvPicPr>
                          <a:picLocks noChangeAspect="1" noChangeArrowheads="1"/>
                        </p:cNvPicPr>
                        <p:nvPr/>
                      </p:nvPicPr>
                      <p:blipFill>
                        <a:blip r:embed="rId15">
                          <a:grayscl/>
                          <a:biLevel thresh="50000"/>
                          <a:extLst>
                            <a:ext uri="{28A0092B-C50C-407E-A947-70E740481C1C}">
                              <a14:useLocalDpi xmlns:a14="http://schemas.microsoft.com/office/drawing/2010/main" val="0"/>
                            </a:ext>
                          </a:extLst>
                        </a:blip>
                        <a:srcRect/>
                        <a:stretch>
                          <a:fillRect/>
                        </a:stretch>
                      </p:blipFill>
                      <p:spPr bwMode="auto">
                        <a:xfrm>
                          <a:off x="726" y="3117"/>
                          <a:ext cx="4355" cy="8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20" name="Text Box 20"/>
          <p:cNvSpPr txBox="1">
            <a:spLocks noChangeArrowheads="1"/>
          </p:cNvSpPr>
          <p:nvPr/>
        </p:nvSpPr>
        <p:spPr bwMode="auto">
          <a:xfrm>
            <a:off x="323850" y="6237288"/>
            <a:ext cx="8820150" cy="385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lnSpc>
                <a:spcPct val="140000"/>
              </a:lnSpc>
              <a:spcBef>
                <a:spcPct val="0"/>
              </a:spcBef>
              <a:buFontTx/>
              <a:buNone/>
            </a:pPr>
            <a:r>
              <a:rPr kumimoji="1" lang="zh-CN" altLang="en-US" sz="1600">
                <a:solidFill>
                  <a:srgbClr val="0000FF"/>
                </a:solidFill>
                <a:latin typeface="黑体" pitchFamily="49" charset="-122"/>
                <a:ea typeface="黑体" pitchFamily="49" charset="-122"/>
              </a:rPr>
              <a:t>实验表明：对塑性材料，此理论比第三强度理论更符合试验结果，在工程中得到了广泛应用。</a:t>
            </a:r>
          </a:p>
        </p:txBody>
      </p:sp>
    </p:spTree>
    <p:extLst>
      <p:ext uri="{BB962C8B-B14F-4D97-AF65-F5344CB8AC3E}">
        <p14:creationId xmlns:p14="http://schemas.microsoft.com/office/powerpoint/2010/main" val="1568776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left)">
                                      <p:cBhvr>
                                        <p:cTn id="16" dur="500"/>
                                        <p:tgtEl>
                                          <p:spTgt spid="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left)">
                                      <p:cBhvr>
                                        <p:cTn id="21" dur="5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wipe(left)">
                                      <p:cBhvr>
                                        <p:cTn id="26" dur="500"/>
                                        <p:tgtEl>
                                          <p:spTgt spid="5"/>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wipe(left)">
                                      <p:cBhvr>
                                        <p:cTn id="31" dur="500"/>
                                        <p:tgtEl>
                                          <p:spTgt spid="10"/>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wipe(left)">
                                      <p:cBhvr>
                                        <p:cTn id="36" dur="500"/>
                                        <p:tgtEl>
                                          <p:spTgt spid="9"/>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wipe(left)">
                                      <p:cBhvr>
                                        <p:cTn id="41" dur="500"/>
                                        <p:tgtEl>
                                          <p:spTgt spid="13"/>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wipe(left)">
                                      <p:cBhvr>
                                        <p:cTn id="46" dur="500"/>
                                        <p:tgtEl>
                                          <p:spTgt spid="16"/>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wipe(left)">
                                      <p:cBhvr>
                                        <p:cTn id="51" dur="500"/>
                                        <p:tgtEl>
                                          <p:spTgt spid="17"/>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wipe(left)">
                                      <p:cBhvr>
                                        <p:cTn id="56"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autoUpdateAnimBg="0"/>
      <p:bldP spid="4" grpId="0" animBg="1"/>
      <p:bldP spid="16" grpId="0" autoUpdateAnimBg="0"/>
      <p:bldP spid="20" grpId="0"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p:cNvSpPr>
            <a:spLocks noChangeArrowheads="1"/>
          </p:cNvSpPr>
          <p:nvPr/>
        </p:nvSpPr>
        <p:spPr bwMode="auto">
          <a:xfrm>
            <a:off x="683568" y="303213"/>
            <a:ext cx="3384376" cy="533400"/>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lgn="ctr" eaLnBrk="1" hangingPunct="1">
              <a:spcBef>
                <a:spcPct val="0"/>
              </a:spcBef>
              <a:buFontTx/>
              <a:buNone/>
            </a:pPr>
            <a:r>
              <a:rPr kumimoji="1" lang="zh-CN" altLang="en-US" sz="2400" b="1" dirty="0">
                <a:solidFill>
                  <a:srgbClr val="FF0000"/>
                </a:solidFill>
                <a:latin typeface="楷体" panose="02010609060101010101" pitchFamily="49" charset="-122"/>
                <a:ea typeface="楷体" panose="02010609060101010101" pitchFamily="49" charset="-122"/>
              </a:rPr>
              <a:t>第九章  组合变形</a:t>
            </a:r>
            <a:endParaRPr kumimoji="1" lang="zh-CN" altLang="en-US" sz="2400" dirty="0">
              <a:solidFill>
                <a:srgbClr val="FF0000"/>
              </a:solidFill>
              <a:latin typeface="楷体" panose="02010609060101010101" pitchFamily="49" charset="-122"/>
              <a:ea typeface="楷体" panose="02010609060101010101" pitchFamily="49" charset="-122"/>
            </a:endParaRPr>
          </a:p>
        </p:txBody>
      </p:sp>
      <p:sp>
        <p:nvSpPr>
          <p:cNvPr id="3" name="Rectangle 2"/>
          <p:cNvSpPr txBox="1">
            <a:spLocks noChangeArrowheads="1"/>
          </p:cNvSpPr>
          <p:nvPr/>
        </p:nvSpPr>
        <p:spPr>
          <a:xfrm>
            <a:off x="683568" y="1268761"/>
            <a:ext cx="8136903" cy="936104"/>
          </a:xfrm>
          <a:prstGeom prst="rect">
            <a:avLst/>
          </a:prstGeom>
          <a:noFill/>
          <a:ln w="19050">
            <a:solidFill>
              <a:srgbClr val="FF0000"/>
            </a:solidFill>
          </a:ln>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FontTx/>
              <a:buNone/>
            </a:pPr>
            <a:r>
              <a:rPr lang="zh-CN" altLang="en-US" sz="2400" b="1" dirty="0">
                <a:solidFill>
                  <a:srgbClr val="0000FF"/>
                </a:solidFill>
                <a:latin typeface="黑体" pitchFamily="49" charset="-122"/>
                <a:ea typeface="黑体" pitchFamily="49" charset="-122"/>
              </a:rPr>
              <a:t>  构件同时发生</a:t>
            </a:r>
            <a:r>
              <a:rPr lang="zh-CN" altLang="en-US" sz="2400" b="1" dirty="0">
                <a:solidFill>
                  <a:srgbClr val="FF0000"/>
                </a:solidFill>
                <a:latin typeface="黑体" pitchFamily="49" charset="-122"/>
                <a:ea typeface="黑体" pitchFamily="49" charset="-122"/>
              </a:rPr>
              <a:t>两种或两种</a:t>
            </a:r>
            <a:r>
              <a:rPr lang="zh-CN" altLang="en-US" sz="2400" b="1" dirty="0">
                <a:solidFill>
                  <a:srgbClr val="0000FF"/>
                </a:solidFill>
                <a:latin typeface="黑体" pitchFamily="49" charset="-122"/>
                <a:ea typeface="黑体" pitchFamily="49" charset="-122"/>
              </a:rPr>
              <a:t>以上的基本变形，如几种变形所对应的应力（或变形）属同一量级，称为组合变形      </a:t>
            </a:r>
          </a:p>
        </p:txBody>
      </p:sp>
      <p:sp>
        <p:nvSpPr>
          <p:cNvPr id="5" name="Rectangle 2"/>
          <p:cNvSpPr>
            <a:spLocks noChangeArrowheads="1"/>
          </p:cNvSpPr>
          <p:nvPr/>
        </p:nvSpPr>
        <p:spPr bwMode="auto">
          <a:xfrm>
            <a:off x="679450" y="2518792"/>
            <a:ext cx="4828654" cy="838200"/>
          </a:xfrm>
          <a:prstGeom prst="rect">
            <a:avLst/>
          </a:prstGeom>
          <a:noFill/>
          <a:ln w="19050">
            <a:solidFill>
              <a:srgbClr val="FF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lnSpc>
                <a:spcPct val="110000"/>
              </a:lnSpc>
              <a:buFontTx/>
              <a:buNone/>
            </a:pPr>
            <a:r>
              <a:rPr lang="zh-CN" altLang="en-US" sz="2800" b="1" dirty="0">
                <a:solidFill>
                  <a:srgbClr val="0000FF"/>
                </a:solidFill>
                <a:latin typeface="黑体" pitchFamily="49" charset="-122"/>
                <a:ea typeface="黑体" pitchFamily="49" charset="-122"/>
              </a:rPr>
              <a:t>研究方法 </a:t>
            </a:r>
            <a:r>
              <a:rPr lang="en-US" altLang="zh-CN" sz="2800" b="1" dirty="0">
                <a:solidFill>
                  <a:srgbClr val="0000FF"/>
                </a:solidFill>
                <a:ea typeface="黑体" pitchFamily="49" charset="-122"/>
              </a:rPr>
              <a:t>——</a:t>
            </a:r>
            <a:r>
              <a:rPr lang="en-US" altLang="zh-CN" sz="2800" b="1" dirty="0">
                <a:solidFill>
                  <a:srgbClr val="0000FF"/>
                </a:solidFill>
                <a:latin typeface="黑体" pitchFamily="49" charset="-122"/>
                <a:ea typeface="黑体" pitchFamily="49" charset="-122"/>
              </a:rPr>
              <a:t> </a:t>
            </a:r>
            <a:r>
              <a:rPr lang="zh-CN" altLang="en-US" sz="2800" b="1" dirty="0">
                <a:solidFill>
                  <a:srgbClr val="FF0000"/>
                </a:solidFill>
                <a:latin typeface="黑体" pitchFamily="49" charset="-122"/>
                <a:ea typeface="黑体" pitchFamily="49" charset="-122"/>
              </a:rPr>
              <a:t>叠加原理</a:t>
            </a:r>
          </a:p>
        </p:txBody>
      </p:sp>
      <p:sp>
        <p:nvSpPr>
          <p:cNvPr id="6" name="Rectangle 3"/>
          <p:cNvSpPr>
            <a:spLocks noChangeArrowheads="1"/>
          </p:cNvSpPr>
          <p:nvPr/>
        </p:nvSpPr>
        <p:spPr bwMode="auto">
          <a:xfrm>
            <a:off x="683568" y="3501008"/>
            <a:ext cx="3529013" cy="617537"/>
          </a:xfrm>
          <a:prstGeom prst="rect">
            <a:avLst/>
          </a:prstGeom>
          <a:noFill/>
          <a:ln w="19050">
            <a:solidFill>
              <a:srgbClr val="FF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lnSpc>
                <a:spcPct val="90000"/>
              </a:lnSpc>
              <a:buFontTx/>
              <a:buNone/>
            </a:pPr>
            <a:r>
              <a:rPr lang="en-US" altLang="zh-CN" sz="2400" b="1" dirty="0">
                <a:solidFill>
                  <a:srgbClr val="0000FF"/>
                </a:solidFill>
                <a:latin typeface="黑体" pitchFamily="49" charset="-122"/>
                <a:ea typeface="黑体" pitchFamily="49" charset="-122"/>
              </a:rPr>
              <a:t>①</a:t>
            </a:r>
            <a:r>
              <a:rPr lang="zh-CN" altLang="en-US" sz="2400" b="1" dirty="0">
                <a:solidFill>
                  <a:srgbClr val="FF0000"/>
                </a:solidFill>
                <a:latin typeface="黑体" pitchFamily="49" charset="-122"/>
                <a:ea typeface="黑体" pitchFamily="49" charset="-122"/>
              </a:rPr>
              <a:t>外力</a:t>
            </a:r>
            <a:r>
              <a:rPr lang="zh-CN" altLang="en-US" sz="2400" b="1" dirty="0">
                <a:solidFill>
                  <a:srgbClr val="0000FF"/>
                </a:solidFill>
                <a:latin typeface="黑体" pitchFamily="49" charset="-122"/>
                <a:ea typeface="黑体" pitchFamily="49" charset="-122"/>
              </a:rPr>
              <a:t>分解和简化</a:t>
            </a:r>
            <a:endParaRPr lang="zh-CN" altLang="en-US" sz="2400" b="1" dirty="0">
              <a:solidFill>
                <a:srgbClr val="0000FF"/>
              </a:solidFill>
              <a:latin typeface="宋体" pitchFamily="2" charset="-122"/>
            </a:endParaRPr>
          </a:p>
        </p:txBody>
      </p:sp>
      <p:sp>
        <p:nvSpPr>
          <p:cNvPr id="7" name="Rectangle 4"/>
          <p:cNvSpPr>
            <a:spLocks noChangeArrowheads="1"/>
          </p:cNvSpPr>
          <p:nvPr/>
        </p:nvSpPr>
        <p:spPr bwMode="auto">
          <a:xfrm>
            <a:off x="683568" y="4250740"/>
            <a:ext cx="4824413" cy="720725"/>
          </a:xfrm>
          <a:prstGeom prst="rect">
            <a:avLst/>
          </a:prstGeom>
          <a:noFill/>
          <a:ln w="19050">
            <a:solidFill>
              <a:srgbClr val="FF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lnSpc>
                <a:spcPct val="150000"/>
              </a:lnSpc>
              <a:buFontTx/>
              <a:buNone/>
            </a:pPr>
            <a:r>
              <a:rPr lang="en-US" altLang="zh-CN" sz="2400" b="1" dirty="0">
                <a:solidFill>
                  <a:srgbClr val="0000FF"/>
                </a:solidFill>
                <a:latin typeface="黑体" pitchFamily="49" charset="-122"/>
                <a:ea typeface="黑体" pitchFamily="49" charset="-122"/>
              </a:rPr>
              <a:t>②</a:t>
            </a:r>
            <a:r>
              <a:rPr lang="zh-CN" altLang="en-US" sz="2400" b="1" dirty="0">
                <a:solidFill>
                  <a:srgbClr val="FF0000"/>
                </a:solidFill>
                <a:latin typeface="黑体" pitchFamily="49" charset="-122"/>
                <a:ea typeface="黑体" pitchFamily="49" charset="-122"/>
              </a:rPr>
              <a:t>内力</a:t>
            </a:r>
            <a:r>
              <a:rPr lang="zh-CN" altLang="en-US" sz="2400" b="1" dirty="0">
                <a:solidFill>
                  <a:srgbClr val="0000FF"/>
                </a:solidFill>
                <a:latin typeface="黑体" pitchFamily="49" charset="-122"/>
                <a:ea typeface="黑体" pitchFamily="49" charset="-122"/>
              </a:rPr>
              <a:t>分析</a:t>
            </a:r>
            <a:r>
              <a:rPr lang="en-US" altLang="zh-CN" sz="2400" b="1" dirty="0">
                <a:solidFill>
                  <a:srgbClr val="0000FF"/>
                </a:solidFill>
                <a:ea typeface="黑体" pitchFamily="49" charset="-122"/>
              </a:rPr>
              <a:t>——</a:t>
            </a:r>
            <a:r>
              <a:rPr lang="zh-CN" altLang="en-US" sz="2400" b="1" dirty="0">
                <a:solidFill>
                  <a:srgbClr val="0000FF"/>
                </a:solidFill>
                <a:latin typeface="黑体" pitchFamily="49" charset="-122"/>
                <a:ea typeface="黑体" pitchFamily="49" charset="-122"/>
              </a:rPr>
              <a:t>确定危险面。</a:t>
            </a:r>
          </a:p>
        </p:txBody>
      </p:sp>
      <p:sp>
        <p:nvSpPr>
          <p:cNvPr id="8" name="Text Box 5"/>
          <p:cNvSpPr txBox="1">
            <a:spLocks noChangeArrowheads="1"/>
          </p:cNvSpPr>
          <p:nvPr/>
        </p:nvSpPr>
        <p:spPr bwMode="auto">
          <a:xfrm>
            <a:off x="683568" y="5150091"/>
            <a:ext cx="6769100" cy="1115948"/>
          </a:xfrm>
          <a:prstGeom prst="rect">
            <a:avLst/>
          </a:prstGeom>
          <a:noFill/>
          <a:ln w="19050">
            <a:solidFill>
              <a:srgbClr val="FF0000"/>
            </a:solidFill>
          </a:ln>
          <a:effectLst/>
          <a:extLst>
            <a:ext uri="{909E8E84-426E-40DD-AFC4-6F175D3DCCD1}">
              <a14:hiddenFill xmlns:a14="http://schemas.microsoft.com/office/drawing/2010/main">
                <a:solidFill>
                  <a:srgbClr val="0000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eaLnBrk="0" hangingPunct="0">
              <a:lnSpc>
                <a:spcPct val="150000"/>
              </a:lnSpc>
              <a:defRPr/>
            </a:pPr>
            <a:r>
              <a:rPr kumimoji="1" lang="en-US" altLang="zh-CN" sz="2400" b="1" dirty="0">
                <a:solidFill>
                  <a:srgbClr val="0000FF"/>
                </a:solidFill>
                <a:effectLst>
                  <a:outerShdw blurRad="38100" dist="38100" dir="2700000" algn="tl">
                    <a:srgbClr val="C0C0C0"/>
                  </a:outerShdw>
                </a:effectLst>
                <a:latin typeface="黑体" pitchFamily="2" charset="-122"/>
                <a:ea typeface="黑体" pitchFamily="2" charset="-122"/>
              </a:rPr>
              <a:t>③</a:t>
            </a:r>
            <a:r>
              <a:rPr kumimoji="1" lang="zh-CN" altLang="en-US" sz="2400" b="1" dirty="0">
                <a:solidFill>
                  <a:srgbClr val="FF0000"/>
                </a:solidFill>
                <a:effectLst>
                  <a:outerShdw blurRad="38100" dist="38100" dir="2700000" algn="tl">
                    <a:srgbClr val="C0C0C0"/>
                  </a:outerShdw>
                </a:effectLst>
                <a:latin typeface="黑体" pitchFamily="2" charset="-122"/>
                <a:ea typeface="黑体" pitchFamily="2" charset="-122"/>
              </a:rPr>
              <a:t>应力</a:t>
            </a:r>
            <a:r>
              <a:rPr kumimoji="1" lang="zh-CN" altLang="en-US" sz="2400" b="1" dirty="0">
                <a:solidFill>
                  <a:srgbClr val="0000FF"/>
                </a:solidFill>
                <a:effectLst>
                  <a:outerShdw blurRad="38100" dist="38100" dir="2700000" algn="tl">
                    <a:srgbClr val="C0C0C0"/>
                  </a:outerShdw>
                </a:effectLst>
                <a:latin typeface="黑体" pitchFamily="2" charset="-122"/>
                <a:ea typeface="黑体" pitchFamily="2" charset="-122"/>
              </a:rPr>
              <a:t>分析：确定</a:t>
            </a:r>
            <a:r>
              <a:rPr kumimoji="1" lang="zh-CN" altLang="en-US" sz="2400" b="1" dirty="0">
                <a:solidFill>
                  <a:srgbClr val="0000FF"/>
                </a:solidFill>
                <a:latin typeface="宋体" pitchFamily="2" charset="-122"/>
                <a:ea typeface="黑体" pitchFamily="2" charset="-122"/>
              </a:rPr>
              <a:t>危险面上的应力分布，</a:t>
            </a:r>
          </a:p>
          <a:p>
            <a:pPr eaLnBrk="0" hangingPunct="0">
              <a:lnSpc>
                <a:spcPct val="150000"/>
              </a:lnSpc>
              <a:defRPr/>
            </a:pPr>
            <a:r>
              <a:rPr kumimoji="1" lang="zh-CN" altLang="en-US" sz="2400" b="1" dirty="0">
                <a:solidFill>
                  <a:srgbClr val="0000FF"/>
                </a:solidFill>
                <a:latin typeface="宋体" pitchFamily="2" charset="-122"/>
                <a:ea typeface="黑体" pitchFamily="2" charset="-122"/>
              </a:rPr>
              <a:t>            建立危险点的强度条件。 </a:t>
            </a:r>
          </a:p>
        </p:txBody>
      </p:sp>
    </p:spTree>
    <p:extLst>
      <p:ext uri="{BB962C8B-B14F-4D97-AF65-F5344CB8AC3E}">
        <p14:creationId xmlns:p14="http://schemas.microsoft.com/office/powerpoint/2010/main" val="3102158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6" grpId="0" animBg="1"/>
      <p:bldP spid="7" grpId="0" animBg="1"/>
      <p:bldP spid="8"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a:xfrm>
            <a:off x="241424" y="260648"/>
            <a:ext cx="8686800" cy="1944216"/>
          </a:xfrm>
          <a:prstGeom prst="rect">
            <a:avLst/>
          </a:prstGeom>
          <a:noFill/>
          <a:ln w="19050">
            <a:solidFill>
              <a:srgbClr val="FF0000"/>
            </a:solidFill>
          </a:ln>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80000"/>
              </a:lnSpc>
              <a:buFontTx/>
              <a:buNone/>
            </a:pPr>
            <a:r>
              <a:rPr lang="zh-CN" altLang="en-US" sz="2400" b="1" dirty="0">
                <a:solidFill>
                  <a:srgbClr val="FF0000"/>
                </a:solidFill>
                <a:latin typeface="黑体" pitchFamily="49" charset="-122"/>
                <a:ea typeface="黑体" pitchFamily="49" charset="-122"/>
              </a:rPr>
              <a:t>平面弯曲</a:t>
            </a:r>
            <a:r>
              <a:rPr lang="zh-CN" altLang="en-US" sz="2400" b="1" dirty="0">
                <a:solidFill>
                  <a:srgbClr val="0000FF"/>
                </a:solidFill>
                <a:latin typeface="黑体" pitchFamily="49" charset="-122"/>
                <a:ea typeface="黑体" pitchFamily="49" charset="-122"/>
              </a:rPr>
              <a:t>：横向力通过弯曲中心，与一个形心主惯性轴</a:t>
            </a:r>
          </a:p>
          <a:p>
            <a:pPr>
              <a:lnSpc>
                <a:spcPct val="80000"/>
              </a:lnSpc>
              <a:buFontTx/>
              <a:buNone/>
            </a:pPr>
            <a:r>
              <a:rPr lang="zh-CN" altLang="en-US" sz="2400" b="1" dirty="0">
                <a:solidFill>
                  <a:srgbClr val="0000FF"/>
                </a:solidFill>
                <a:latin typeface="黑体" pitchFamily="49" charset="-122"/>
                <a:ea typeface="黑体" pitchFamily="49" charset="-122"/>
              </a:rPr>
              <a:t>              方向平行</a:t>
            </a:r>
            <a:r>
              <a:rPr lang="en-US" altLang="zh-CN" sz="2400" b="1" dirty="0">
                <a:solidFill>
                  <a:srgbClr val="0000FF"/>
                </a:solidFill>
                <a:latin typeface="黑体" pitchFamily="49" charset="-122"/>
                <a:ea typeface="黑体" pitchFamily="49" charset="-122"/>
              </a:rPr>
              <a:t>,</a:t>
            </a:r>
            <a:r>
              <a:rPr lang="zh-CN" altLang="en-US" sz="2400" b="1" dirty="0">
                <a:solidFill>
                  <a:srgbClr val="0000FF"/>
                </a:solidFill>
                <a:latin typeface="黑体" pitchFamily="49" charset="-122"/>
                <a:ea typeface="黑体" pitchFamily="49" charset="-122"/>
              </a:rPr>
              <a:t>挠曲线在纵向对称面内。</a:t>
            </a:r>
          </a:p>
          <a:p>
            <a:pPr>
              <a:lnSpc>
                <a:spcPct val="80000"/>
              </a:lnSpc>
              <a:buFontTx/>
              <a:buNone/>
            </a:pPr>
            <a:endParaRPr lang="zh-CN" altLang="en-US" sz="2400" b="1" dirty="0">
              <a:solidFill>
                <a:srgbClr val="0000FF"/>
              </a:solidFill>
              <a:latin typeface="黑体" pitchFamily="49" charset="-122"/>
              <a:ea typeface="黑体" pitchFamily="49" charset="-122"/>
            </a:endParaRPr>
          </a:p>
          <a:p>
            <a:pPr>
              <a:lnSpc>
                <a:spcPct val="80000"/>
              </a:lnSpc>
              <a:buFontTx/>
              <a:buNone/>
            </a:pPr>
            <a:r>
              <a:rPr lang="zh-CN" altLang="en-US" sz="2400" b="1" dirty="0">
                <a:solidFill>
                  <a:srgbClr val="FF0000"/>
                </a:solidFill>
                <a:latin typeface="黑体" pitchFamily="49" charset="-122"/>
                <a:ea typeface="黑体" pitchFamily="49" charset="-122"/>
              </a:rPr>
              <a:t>斜弯曲</a:t>
            </a:r>
            <a:r>
              <a:rPr lang="zh-CN" altLang="en-US" sz="2400" b="1" dirty="0">
                <a:solidFill>
                  <a:srgbClr val="0000FF"/>
                </a:solidFill>
                <a:latin typeface="黑体" pitchFamily="49" charset="-122"/>
                <a:ea typeface="黑体" pitchFamily="49" charset="-122"/>
              </a:rPr>
              <a:t>： 横向力通过弯曲中心，但不与形心主惯性轴平行</a:t>
            </a:r>
          </a:p>
          <a:p>
            <a:pPr>
              <a:lnSpc>
                <a:spcPct val="80000"/>
              </a:lnSpc>
              <a:buFontTx/>
              <a:buNone/>
            </a:pPr>
            <a:r>
              <a:rPr lang="zh-CN" altLang="en-US" sz="2400" b="1" dirty="0">
                <a:solidFill>
                  <a:srgbClr val="0000FF"/>
                </a:solidFill>
                <a:latin typeface="黑体" pitchFamily="49" charset="-122"/>
                <a:ea typeface="黑体" pitchFamily="49" charset="-122"/>
              </a:rPr>
              <a:t>             挠曲线不位于外力所在的纵向平面内</a:t>
            </a:r>
          </a:p>
        </p:txBody>
      </p:sp>
      <p:sp>
        <p:nvSpPr>
          <p:cNvPr id="6" name="Text Box 14"/>
          <p:cNvSpPr txBox="1">
            <a:spLocks noChangeArrowheads="1"/>
          </p:cNvSpPr>
          <p:nvPr/>
        </p:nvSpPr>
        <p:spPr bwMode="auto">
          <a:xfrm>
            <a:off x="251520" y="2389413"/>
            <a:ext cx="8673661" cy="476669"/>
          </a:xfrm>
          <a:prstGeom prst="rect">
            <a:avLst/>
          </a:prstGeom>
          <a:noFill/>
          <a:ln w="19050">
            <a:solidFill>
              <a:srgbClr val="FF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lnSpc>
                <a:spcPct val="120000"/>
              </a:lnSpc>
              <a:spcBef>
                <a:spcPct val="0"/>
              </a:spcBef>
              <a:buFontTx/>
              <a:buNone/>
            </a:pPr>
            <a:r>
              <a:rPr kumimoji="1" lang="zh-CN" altLang="en-US" sz="2400" b="1" dirty="0">
                <a:solidFill>
                  <a:srgbClr val="FF0000"/>
                </a:solidFill>
                <a:latin typeface="黑体" panose="02010609060101010101" pitchFamily="49" charset="-122"/>
                <a:ea typeface="黑体" panose="02010609060101010101" pitchFamily="49" charset="-122"/>
              </a:rPr>
              <a:t>偏心拉</a:t>
            </a:r>
            <a:r>
              <a:rPr kumimoji="1" lang="en-US" altLang="zh-CN" sz="2400" b="1" dirty="0">
                <a:solidFill>
                  <a:srgbClr val="FF0000"/>
                </a:solidFill>
                <a:latin typeface="黑体" panose="02010609060101010101" pitchFamily="49" charset="-122"/>
                <a:ea typeface="黑体" panose="02010609060101010101" pitchFamily="49" charset="-122"/>
              </a:rPr>
              <a:t>(</a:t>
            </a:r>
            <a:r>
              <a:rPr kumimoji="1" lang="zh-CN" altLang="en-US" sz="2400" b="1" dirty="0">
                <a:solidFill>
                  <a:srgbClr val="FF0000"/>
                </a:solidFill>
                <a:latin typeface="黑体" panose="02010609060101010101" pitchFamily="49" charset="-122"/>
                <a:ea typeface="黑体" panose="02010609060101010101" pitchFamily="49" charset="-122"/>
              </a:rPr>
              <a:t>压</a:t>
            </a:r>
            <a:r>
              <a:rPr kumimoji="1" lang="en-US" altLang="zh-CN" sz="2400" b="1" dirty="0">
                <a:solidFill>
                  <a:srgbClr val="FF0000"/>
                </a:solidFill>
                <a:latin typeface="黑体" panose="02010609060101010101" pitchFamily="49" charset="-122"/>
                <a:ea typeface="黑体" panose="02010609060101010101" pitchFamily="49" charset="-122"/>
              </a:rPr>
              <a:t>)</a:t>
            </a:r>
            <a:r>
              <a:rPr kumimoji="1" lang="zh-CN" altLang="en-US" sz="2400" b="1" dirty="0">
                <a:solidFill>
                  <a:srgbClr val="FF0000"/>
                </a:solidFill>
                <a:latin typeface="黑体" panose="02010609060101010101" pitchFamily="49" charset="-122"/>
                <a:ea typeface="黑体" panose="02010609060101010101" pitchFamily="49" charset="-122"/>
              </a:rPr>
              <a:t> </a:t>
            </a:r>
            <a:r>
              <a:rPr kumimoji="1" lang="zh-CN" altLang="en-US" sz="2400" b="1" dirty="0">
                <a:solidFill>
                  <a:srgbClr val="0000FF"/>
                </a:solidFill>
                <a:latin typeface="黑体" panose="02010609060101010101" pitchFamily="49" charset="-122"/>
                <a:ea typeface="黑体" panose="02010609060101010101" pitchFamily="49" charset="-122"/>
              </a:rPr>
              <a:t>：作用在杆件上的外力与杆的轴线</a:t>
            </a:r>
            <a:r>
              <a:rPr kumimoji="1" lang="zh-CN" altLang="en-US" sz="2400" b="1" dirty="0">
                <a:solidFill>
                  <a:srgbClr val="FF0000"/>
                </a:solidFill>
                <a:latin typeface="黑体" panose="02010609060101010101" pitchFamily="49" charset="-122"/>
                <a:ea typeface="黑体" panose="02010609060101010101" pitchFamily="49" charset="-122"/>
              </a:rPr>
              <a:t>平行但不重合</a:t>
            </a:r>
          </a:p>
        </p:txBody>
      </p:sp>
      <p:sp>
        <p:nvSpPr>
          <p:cNvPr id="7" name="Text Box 3"/>
          <p:cNvSpPr txBox="1">
            <a:spLocks noChangeArrowheads="1"/>
          </p:cNvSpPr>
          <p:nvPr/>
        </p:nvSpPr>
        <p:spPr bwMode="auto">
          <a:xfrm>
            <a:off x="4394715" y="3751214"/>
            <a:ext cx="4425757" cy="771623"/>
          </a:xfrm>
          <a:prstGeom prst="rect">
            <a:avLst/>
          </a:prstGeom>
          <a:noFill/>
          <a:ln w="19050">
            <a:solidFill>
              <a:srgbClr val="FF0000"/>
            </a:solidFill>
          </a:ln>
          <a:effectLst/>
          <a:extLst>
            <a:ext uri="{909E8E84-426E-40DD-AFC4-6F175D3DCCD1}">
              <a14:hiddenFill xmlns:a14="http://schemas.microsoft.com/office/drawing/2010/main">
                <a:solidFill>
                  <a:srgbClr val="0000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p>
            <a:pPr algn="ctr">
              <a:defRPr/>
            </a:pPr>
            <a:r>
              <a:rPr kumimoji="1" lang="en-US" altLang="zh-CN" sz="2000" b="1" dirty="0">
                <a:solidFill>
                  <a:srgbClr val="0000FF"/>
                </a:solidFill>
                <a:effectLst>
                  <a:outerShdw blurRad="38100" dist="38100" dir="2700000" algn="tl">
                    <a:srgbClr val="C0C0C0"/>
                  </a:outerShdw>
                </a:effectLst>
                <a:latin typeface="Times New Roman" pitchFamily="18" charset="0"/>
              </a:rPr>
              <a:t>——</a:t>
            </a:r>
            <a:r>
              <a:rPr kumimoji="1" lang="zh-CN" altLang="en-US" sz="2000" b="1" dirty="0">
                <a:solidFill>
                  <a:srgbClr val="0000FF"/>
                </a:solidFill>
                <a:effectLst>
                  <a:outerShdw blurRad="38100" dist="38100" dir="2700000" algn="tl">
                    <a:srgbClr val="C0C0C0"/>
                  </a:outerShdw>
                </a:effectLst>
                <a:latin typeface="Times New Roman" pitchFamily="18" charset="0"/>
              </a:rPr>
              <a:t>中性轴方程（不经过</a:t>
            </a:r>
          </a:p>
          <a:p>
            <a:pPr algn="ctr">
              <a:defRPr/>
            </a:pPr>
            <a:r>
              <a:rPr kumimoji="1" lang="zh-CN" altLang="en-US" sz="2000" b="1" dirty="0">
                <a:solidFill>
                  <a:srgbClr val="0000FF"/>
                </a:solidFill>
                <a:effectLst>
                  <a:outerShdw blurRad="38100" dist="38100" dir="2700000" algn="tl">
                    <a:srgbClr val="C0C0C0"/>
                  </a:outerShdw>
                </a:effectLst>
                <a:latin typeface="Times New Roman" pitchFamily="18" charset="0"/>
              </a:rPr>
              <a:t>截面形心的一条斜直线</a:t>
            </a:r>
            <a:r>
              <a:rPr kumimoji="1" lang="zh-CN" altLang="en-US" sz="2400" b="1" dirty="0">
                <a:solidFill>
                  <a:srgbClr val="0000FF"/>
                </a:solidFill>
                <a:effectLst>
                  <a:outerShdw blurRad="38100" dist="38100" dir="2700000" algn="tl">
                    <a:srgbClr val="C0C0C0"/>
                  </a:outerShdw>
                </a:effectLst>
                <a:latin typeface="Times New Roman" pitchFamily="18" charset="0"/>
              </a:rPr>
              <a:t>）</a:t>
            </a:r>
          </a:p>
        </p:txBody>
      </p:sp>
      <p:graphicFrame>
        <p:nvGraphicFramePr>
          <p:cNvPr id="8" name="Object 38"/>
          <p:cNvGraphicFramePr>
            <a:graphicFrameLocks noChangeAspect="1"/>
          </p:cNvGraphicFramePr>
          <p:nvPr>
            <p:extLst>
              <p:ext uri="{D42A27DB-BD31-4B8C-83A1-F6EECF244321}">
                <p14:modId xmlns:p14="http://schemas.microsoft.com/office/powerpoint/2010/main" val="3926168453"/>
              </p:ext>
            </p:extLst>
          </p:nvPr>
        </p:nvGraphicFramePr>
        <p:xfrm>
          <a:off x="1538882" y="3573463"/>
          <a:ext cx="2635250" cy="952500"/>
        </p:xfrm>
        <a:graphic>
          <a:graphicData uri="http://schemas.openxmlformats.org/presentationml/2006/ole">
            <mc:AlternateContent xmlns:mc="http://schemas.openxmlformats.org/markup-compatibility/2006">
              <mc:Choice xmlns:v="urn:schemas-microsoft-com:vml" Requires="v">
                <p:oleObj name="公式" r:id="rId2" imgW="1371600" imgH="495300" progId="">
                  <p:embed/>
                </p:oleObj>
              </mc:Choice>
              <mc:Fallback>
                <p:oleObj name="公式" r:id="rId2" imgW="1371600" imgH="495300" progId="">
                  <p:embed/>
                  <p:pic>
                    <p:nvPicPr>
                      <p:cNvPr id="0" name="Picture 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38882" y="3573463"/>
                        <a:ext cx="2635250" cy="952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4078397950"/>
              </p:ext>
            </p:extLst>
          </p:nvPr>
        </p:nvGraphicFramePr>
        <p:xfrm>
          <a:off x="1691680" y="4941168"/>
          <a:ext cx="3498850" cy="1158875"/>
        </p:xfrm>
        <a:graphic>
          <a:graphicData uri="http://schemas.openxmlformats.org/presentationml/2006/ole">
            <mc:AlternateContent xmlns:mc="http://schemas.openxmlformats.org/markup-compatibility/2006">
              <mc:Choice xmlns:v="urn:schemas-microsoft-com:vml" Requires="v">
                <p:oleObj name="公式" r:id="rId4" imgW="1574800" imgH="520700" progId="">
                  <p:embed/>
                </p:oleObj>
              </mc:Choice>
              <mc:Fallback>
                <p:oleObj name="公式" r:id="rId4" imgW="1574800" imgH="520700" progId="">
                  <p:embed/>
                  <p:pic>
                    <p:nvPicPr>
                      <p:cNvPr id="0" name="Picture 3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91680" y="4941168"/>
                        <a:ext cx="3498850" cy="1158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3619331121"/>
              </p:ext>
            </p:extLst>
          </p:nvPr>
        </p:nvGraphicFramePr>
        <p:xfrm>
          <a:off x="5580112" y="4869160"/>
          <a:ext cx="1304925" cy="1152525"/>
        </p:xfrm>
        <a:graphic>
          <a:graphicData uri="http://schemas.openxmlformats.org/presentationml/2006/ole">
            <mc:AlternateContent xmlns:mc="http://schemas.openxmlformats.org/markup-compatibility/2006">
              <mc:Choice xmlns:v="urn:schemas-microsoft-com:vml" Requires="v">
                <p:oleObj name="公式" r:id="rId6" imgW="634725" imgH="558558" progId="">
                  <p:embed/>
                </p:oleObj>
              </mc:Choice>
              <mc:Fallback>
                <p:oleObj name="公式" r:id="rId6" imgW="634725" imgH="558558" progId="">
                  <p:embed/>
                  <p:pic>
                    <p:nvPicPr>
                      <p:cNvPr id="0" name="Picture 3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80112" y="4869160"/>
                        <a:ext cx="1304925" cy="1152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604610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0-#ppt_w/2"/>
                                          </p:val>
                                        </p:tav>
                                        <p:tav tm="100000">
                                          <p:val>
                                            <p:strVal val="#ppt_x"/>
                                          </p:val>
                                        </p:tav>
                                      </p:tavLst>
                                    </p:anim>
                                    <p:anim calcmode="lin" valueType="num">
                                      <p:cBhvr additive="base">
                                        <p:cTn id="18"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ppt_x</p:attrName>
                                        </p:attrNameLst>
                                      </p:cBhvr>
                                      <p:tavLst>
                                        <p:tav tm="0">
                                          <p:val>
                                            <p:strVal val="#ppt_x"/>
                                          </p:val>
                                        </p:tav>
                                        <p:tav tm="100000">
                                          <p:val>
                                            <p:strVal val="#ppt_x"/>
                                          </p:val>
                                        </p:tav>
                                      </p:tavLst>
                                    </p:anim>
                                    <p:anim calcmode="lin" valueType="num">
                                      <p:cBhvr additive="base">
                                        <p:cTn id="2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9"/>
                                        </p:tgtEl>
                                        <p:attrNameLst>
                                          <p:attrName>style.visibility</p:attrName>
                                        </p:attrNameLst>
                                      </p:cBhvr>
                                      <p:to>
                                        <p:strVal val="visible"/>
                                      </p:to>
                                    </p:set>
                                    <p:anim calcmode="lin" valueType="num">
                                      <p:cBhvr additive="base">
                                        <p:cTn id="29" dur="500" fill="hold"/>
                                        <p:tgtEl>
                                          <p:spTgt spid="9"/>
                                        </p:tgtEl>
                                        <p:attrNameLst>
                                          <p:attrName>ppt_x</p:attrName>
                                        </p:attrNameLst>
                                      </p:cBhvr>
                                      <p:tavLst>
                                        <p:tav tm="0">
                                          <p:val>
                                            <p:strVal val="#ppt_x"/>
                                          </p:val>
                                        </p:tav>
                                        <p:tav tm="100000">
                                          <p:val>
                                            <p:strVal val="#ppt_x"/>
                                          </p:val>
                                        </p:tav>
                                      </p:tavLst>
                                    </p:anim>
                                    <p:anim calcmode="lin" valueType="num">
                                      <p:cBhvr additive="base">
                                        <p:cTn id="3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7" grpId="0" animBg="1"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7"/>
          <p:cNvSpPr txBox="1">
            <a:spLocks noChangeArrowheads="1"/>
          </p:cNvSpPr>
          <p:nvPr/>
        </p:nvSpPr>
        <p:spPr bwMode="auto">
          <a:xfrm>
            <a:off x="467544" y="332656"/>
            <a:ext cx="8380413" cy="2492990"/>
          </a:xfrm>
          <a:prstGeom prst="rect">
            <a:avLst/>
          </a:prstGeom>
          <a:noFill/>
          <a:ln w="19050">
            <a:solidFill>
              <a:srgbClr val="FF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lnSpc>
                <a:spcPct val="120000"/>
              </a:lnSpc>
              <a:spcBef>
                <a:spcPct val="0"/>
              </a:spcBef>
              <a:buFontTx/>
              <a:buNone/>
            </a:pPr>
            <a:r>
              <a:rPr kumimoji="1" lang="zh-CN" altLang="en-US" sz="2000" dirty="0">
                <a:solidFill>
                  <a:srgbClr val="0000FF"/>
                </a:solidFill>
                <a:latin typeface="黑体" pitchFamily="49" charset="-122"/>
                <a:ea typeface="黑体" pitchFamily="49" charset="-122"/>
              </a:rPr>
              <a:t>中性轴不过截面形心，与外力无关，与偏心距及截面形状、尺寸有关；</a:t>
            </a:r>
          </a:p>
          <a:p>
            <a:pPr eaLnBrk="1" hangingPunct="1">
              <a:lnSpc>
                <a:spcPct val="120000"/>
              </a:lnSpc>
              <a:spcBef>
                <a:spcPct val="0"/>
              </a:spcBef>
              <a:buFontTx/>
              <a:buNone/>
            </a:pPr>
            <a:endParaRPr kumimoji="1" lang="en-US" altLang="zh-CN" sz="2000" dirty="0">
              <a:solidFill>
                <a:srgbClr val="0000FF"/>
              </a:solidFill>
              <a:latin typeface="黑体" pitchFamily="49" charset="-122"/>
              <a:ea typeface="黑体" pitchFamily="49" charset="-122"/>
            </a:endParaRPr>
          </a:p>
          <a:p>
            <a:pPr eaLnBrk="1" hangingPunct="1">
              <a:lnSpc>
                <a:spcPct val="120000"/>
              </a:lnSpc>
              <a:spcBef>
                <a:spcPct val="0"/>
              </a:spcBef>
              <a:buFontTx/>
              <a:buNone/>
            </a:pPr>
            <a:r>
              <a:rPr kumimoji="1" lang="zh-CN" altLang="en-US" sz="2000" dirty="0">
                <a:solidFill>
                  <a:srgbClr val="0000FF"/>
                </a:solidFill>
                <a:latin typeface="黑体" pitchFamily="49" charset="-122"/>
                <a:ea typeface="黑体" pitchFamily="49" charset="-122"/>
              </a:rPr>
              <a:t>中性轴的截距与偏心距符号相反，表明外力作用点与中性轴分别在截面形心的相对两侧；</a:t>
            </a:r>
          </a:p>
          <a:p>
            <a:pPr eaLnBrk="1" hangingPunct="1">
              <a:spcBef>
                <a:spcPct val="0"/>
              </a:spcBef>
              <a:buFontTx/>
              <a:buNone/>
            </a:pPr>
            <a:endParaRPr kumimoji="1" lang="en-US" altLang="zh-CN" sz="2000" dirty="0">
              <a:solidFill>
                <a:srgbClr val="0000FF"/>
              </a:solidFill>
              <a:latin typeface="黑体" pitchFamily="49" charset="-122"/>
              <a:ea typeface="黑体" pitchFamily="49" charset="-122"/>
            </a:endParaRPr>
          </a:p>
          <a:p>
            <a:pPr eaLnBrk="1" hangingPunct="1">
              <a:spcBef>
                <a:spcPct val="0"/>
              </a:spcBef>
              <a:buFontTx/>
              <a:buNone/>
            </a:pPr>
            <a:r>
              <a:rPr kumimoji="1" lang="zh-CN" altLang="en-US" sz="2000" dirty="0">
                <a:solidFill>
                  <a:srgbClr val="0000FF"/>
                </a:solidFill>
                <a:latin typeface="黑体" pitchFamily="49" charset="-122"/>
                <a:ea typeface="黑体" pitchFamily="49" charset="-122"/>
              </a:rPr>
              <a:t>外力作用点越是向形心靠拢，中性轴离形心越远，甚至移到截面外面。当中性轴移到与截面相切或截面以外时，截面上则只存在压应力或拉应力；</a:t>
            </a:r>
          </a:p>
        </p:txBody>
      </p:sp>
      <p:sp>
        <p:nvSpPr>
          <p:cNvPr id="4" name="Text Box 3"/>
          <p:cNvSpPr txBox="1">
            <a:spLocks noChangeArrowheads="1"/>
          </p:cNvSpPr>
          <p:nvPr/>
        </p:nvSpPr>
        <p:spPr bwMode="auto">
          <a:xfrm>
            <a:off x="489520" y="3105745"/>
            <a:ext cx="3938464" cy="476669"/>
          </a:xfrm>
          <a:prstGeom prst="rect">
            <a:avLst/>
          </a:prstGeom>
          <a:noFill/>
          <a:ln w="19050">
            <a:solidFill>
              <a:srgbClr val="FF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lnSpc>
                <a:spcPct val="120000"/>
              </a:lnSpc>
              <a:spcBef>
                <a:spcPct val="0"/>
              </a:spcBef>
              <a:buFontTx/>
              <a:buNone/>
            </a:pPr>
            <a:r>
              <a:rPr kumimoji="1" lang="zh-CN" altLang="en-US" sz="2000" b="1" dirty="0">
                <a:solidFill>
                  <a:srgbClr val="FF0000"/>
                </a:solidFill>
                <a:latin typeface="黑体" pitchFamily="49" charset="-122"/>
                <a:ea typeface="黑体" pitchFamily="49" charset="-122"/>
              </a:rPr>
              <a:t>截面核心</a:t>
            </a:r>
            <a:r>
              <a:rPr kumimoji="1" lang="zh-CN" altLang="en-US" sz="2000" b="1" dirty="0">
                <a:solidFill>
                  <a:srgbClr val="0000FF"/>
                </a:solidFill>
                <a:latin typeface="黑体" pitchFamily="49" charset="-122"/>
                <a:ea typeface="黑体" pitchFamily="49" charset="-122"/>
              </a:rPr>
              <a:t>的概念：     </a:t>
            </a:r>
            <a:endParaRPr kumimoji="1" lang="zh-CN" altLang="en-US" sz="2000" dirty="0">
              <a:solidFill>
                <a:srgbClr val="0000FF"/>
              </a:solidFill>
              <a:latin typeface="黑体" pitchFamily="49" charset="-122"/>
              <a:ea typeface="黑体" pitchFamily="49" charset="-122"/>
            </a:endParaRPr>
          </a:p>
        </p:txBody>
      </p:sp>
      <p:sp>
        <p:nvSpPr>
          <p:cNvPr id="5" name="Text Box 9"/>
          <p:cNvSpPr txBox="1">
            <a:spLocks noChangeArrowheads="1"/>
          </p:cNvSpPr>
          <p:nvPr/>
        </p:nvSpPr>
        <p:spPr bwMode="auto">
          <a:xfrm>
            <a:off x="539552" y="5121870"/>
            <a:ext cx="8339781" cy="1200329"/>
          </a:xfrm>
          <a:prstGeom prst="rect">
            <a:avLst/>
          </a:prstGeom>
          <a:noFill/>
          <a:ln w="19050">
            <a:solidFill>
              <a:srgbClr val="FF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lnSpc>
                <a:spcPct val="120000"/>
              </a:lnSpc>
              <a:spcBef>
                <a:spcPct val="0"/>
              </a:spcBef>
              <a:buFontTx/>
              <a:buNone/>
            </a:pPr>
            <a:r>
              <a:rPr kumimoji="1" lang="en-US" altLang="zh-CN" sz="2000" b="1" dirty="0">
                <a:solidFill>
                  <a:srgbClr val="0000FF"/>
                </a:solidFill>
                <a:latin typeface="黑体" pitchFamily="49" charset="-122"/>
                <a:ea typeface="黑体" pitchFamily="49" charset="-122"/>
              </a:rPr>
              <a:t>1</a:t>
            </a:r>
            <a:r>
              <a:rPr kumimoji="1" lang="zh-CN" altLang="en-US" sz="2000" b="1" dirty="0">
                <a:solidFill>
                  <a:srgbClr val="0000FF"/>
                </a:solidFill>
                <a:latin typeface="黑体" pitchFamily="49" charset="-122"/>
                <a:ea typeface="黑体" pitchFamily="49" charset="-122"/>
              </a:rPr>
              <a:t>、在截面的边缘处做与截面相切的中性轴，并确定中性轴的截距；</a:t>
            </a:r>
          </a:p>
          <a:p>
            <a:pPr eaLnBrk="1" hangingPunct="1">
              <a:lnSpc>
                <a:spcPct val="120000"/>
              </a:lnSpc>
              <a:spcBef>
                <a:spcPct val="0"/>
              </a:spcBef>
              <a:buFontTx/>
              <a:buNone/>
            </a:pPr>
            <a:r>
              <a:rPr kumimoji="1" lang="en-US" altLang="zh-CN" sz="2000" b="1" dirty="0">
                <a:solidFill>
                  <a:srgbClr val="0000FF"/>
                </a:solidFill>
                <a:latin typeface="黑体" pitchFamily="49" charset="-122"/>
                <a:ea typeface="黑体" pitchFamily="49" charset="-122"/>
              </a:rPr>
              <a:t>2</a:t>
            </a:r>
            <a:r>
              <a:rPr kumimoji="1" lang="zh-CN" altLang="en-US" sz="2000" b="1" dirty="0">
                <a:solidFill>
                  <a:srgbClr val="0000FF"/>
                </a:solidFill>
                <a:latin typeface="黑体" pitchFamily="49" charset="-122"/>
                <a:ea typeface="黑体" pitchFamily="49" charset="-122"/>
              </a:rPr>
              <a:t>、由中性轴的截距，计算外力作用点的坐标；</a:t>
            </a:r>
          </a:p>
          <a:p>
            <a:pPr eaLnBrk="1" hangingPunct="1">
              <a:lnSpc>
                <a:spcPct val="120000"/>
              </a:lnSpc>
              <a:spcBef>
                <a:spcPct val="0"/>
              </a:spcBef>
              <a:buFontTx/>
              <a:buNone/>
            </a:pPr>
            <a:r>
              <a:rPr kumimoji="1" lang="en-US" altLang="zh-CN" sz="2000" b="1" dirty="0">
                <a:solidFill>
                  <a:srgbClr val="0000FF"/>
                </a:solidFill>
                <a:latin typeface="黑体" pitchFamily="49" charset="-122"/>
                <a:ea typeface="黑体" pitchFamily="49" charset="-122"/>
              </a:rPr>
              <a:t>3</a:t>
            </a:r>
            <a:r>
              <a:rPr kumimoji="1" lang="zh-CN" altLang="en-US" sz="2000" b="1" dirty="0">
                <a:solidFill>
                  <a:srgbClr val="0000FF"/>
                </a:solidFill>
                <a:latin typeface="黑体" pitchFamily="49" charset="-122"/>
                <a:ea typeface="黑体" pitchFamily="49" charset="-122"/>
              </a:rPr>
              <a:t>、最后连接力作用点得到一个在截面形心附近的区域 </a:t>
            </a:r>
            <a:r>
              <a:rPr kumimoji="1" lang="en-US" altLang="zh-CN" sz="2000" b="1" dirty="0">
                <a:solidFill>
                  <a:srgbClr val="0000FF"/>
                </a:solidFill>
                <a:latin typeface="Times New Roman" pitchFamily="18" charset="0"/>
                <a:ea typeface="黑体" pitchFamily="49" charset="-122"/>
              </a:rPr>
              <a:t>——</a:t>
            </a:r>
            <a:r>
              <a:rPr kumimoji="1" lang="zh-CN" altLang="en-US" sz="2000" b="1" dirty="0">
                <a:solidFill>
                  <a:srgbClr val="0000FF"/>
                </a:solidFill>
                <a:latin typeface="黑体" pitchFamily="49" charset="-122"/>
                <a:ea typeface="黑体" pitchFamily="49" charset="-122"/>
              </a:rPr>
              <a:t>截面核心。</a:t>
            </a:r>
          </a:p>
        </p:txBody>
      </p:sp>
      <p:sp>
        <p:nvSpPr>
          <p:cNvPr id="6" name="Text Box 10"/>
          <p:cNvSpPr txBox="1">
            <a:spLocks noChangeArrowheads="1"/>
          </p:cNvSpPr>
          <p:nvPr/>
        </p:nvSpPr>
        <p:spPr bwMode="auto">
          <a:xfrm>
            <a:off x="510355" y="4647177"/>
            <a:ext cx="2765501" cy="400110"/>
          </a:xfrm>
          <a:prstGeom prst="rect">
            <a:avLst/>
          </a:prstGeom>
          <a:noFill/>
          <a:ln w="19050">
            <a:solidFill>
              <a:srgbClr val="FF0000"/>
            </a:solidFill>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lgn="ctr" eaLnBrk="1" hangingPunct="1">
              <a:spcBef>
                <a:spcPct val="0"/>
              </a:spcBef>
              <a:buFontTx/>
              <a:buNone/>
            </a:pPr>
            <a:r>
              <a:rPr kumimoji="1" lang="zh-CN" altLang="en-US" sz="2000" b="1" dirty="0">
                <a:solidFill>
                  <a:srgbClr val="0000FF"/>
                </a:solidFill>
                <a:latin typeface="黑体" pitchFamily="49" charset="-122"/>
                <a:ea typeface="黑体" pitchFamily="49" charset="-122"/>
              </a:rPr>
              <a:t>确定截面核心的思路：</a:t>
            </a:r>
          </a:p>
        </p:txBody>
      </p:sp>
      <p:sp>
        <p:nvSpPr>
          <p:cNvPr id="7" name="Rectangle 11"/>
          <p:cNvSpPr>
            <a:spLocks noChangeArrowheads="1"/>
          </p:cNvSpPr>
          <p:nvPr/>
        </p:nvSpPr>
        <p:spPr bwMode="auto">
          <a:xfrm>
            <a:off x="467545" y="3645024"/>
            <a:ext cx="8380412" cy="830997"/>
          </a:xfrm>
          <a:prstGeom prst="rect">
            <a:avLst/>
          </a:prstGeom>
          <a:noFill/>
          <a:ln w="19050">
            <a:solidFill>
              <a:srgbClr val="FF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lnSpc>
                <a:spcPct val="120000"/>
              </a:lnSpc>
              <a:spcBef>
                <a:spcPct val="0"/>
              </a:spcBef>
              <a:buFontTx/>
              <a:buNone/>
            </a:pPr>
            <a:r>
              <a:rPr kumimoji="1" lang="en-US" altLang="zh-CN" sz="2000" b="1" dirty="0">
                <a:solidFill>
                  <a:srgbClr val="0000FF"/>
                </a:solidFill>
                <a:latin typeface="黑体" pitchFamily="49" charset="-122"/>
                <a:ea typeface="黑体" pitchFamily="49" charset="-122"/>
              </a:rPr>
              <a:t>    </a:t>
            </a:r>
            <a:r>
              <a:rPr kumimoji="1" lang="zh-CN" altLang="en-US" sz="2000" b="1" dirty="0">
                <a:solidFill>
                  <a:srgbClr val="0000FF"/>
                </a:solidFill>
                <a:latin typeface="黑体" pitchFamily="49" charset="-122"/>
                <a:ea typeface="黑体" pitchFamily="49" charset="-122"/>
              </a:rPr>
              <a:t>在横截面上存在一个包围形心的区域，当轴向力的作用点在此区域内，横截面上不会出现异号正应力，此区域即为截面核心。</a:t>
            </a:r>
          </a:p>
        </p:txBody>
      </p:sp>
    </p:spTree>
    <p:extLst>
      <p:ext uri="{BB962C8B-B14F-4D97-AF65-F5344CB8AC3E}">
        <p14:creationId xmlns:p14="http://schemas.microsoft.com/office/powerpoint/2010/main" val="3943594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iterate type="lt">
                                    <p:tmPct val="100000"/>
                                  </p:iterate>
                                  <p:childTnLst>
                                    <p:set>
                                      <p:cBhvr>
                                        <p:cTn id="12" dur="1" fill="hold">
                                          <p:stCondLst>
                                            <p:cond delay="0"/>
                                          </p:stCondLst>
                                        </p:cTn>
                                        <p:tgtEl>
                                          <p:spTgt spid="4"/>
                                        </p:tgtEl>
                                        <p:attrNameLst>
                                          <p:attrName>style.visibility</p:attrName>
                                        </p:attrNameLst>
                                      </p:cBhvr>
                                      <p:to>
                                        <p:strVal val="visible"/>
                                      </p:to>
                                    </p:set>
                                    <p:anim calcmode="lin" valueType="num">
                                      <p:cBhvr additive="base">
                                        <p:cTn id="13" dur="75" fill="hold"/>
                                        <p:tgtEl>
                                          <p:spTgt spid="4"/>
                                        </p:tgtEl>
                                        <p:attrNameLst>
                                          <p:attrName>ppt_x</p:attrName>
                                        </p:attrNameLst>
                                      </p:cBhvr>
                                      <p:tavLst>
                                        <p:tav tm="0">
                                          <p:val>
                                            <p:strVal val="#ppt_x"/>
                                          </p:val>
                                        </p:tav>
                                        <p:tav tm="100000">
                                          <p:val>
                                            <p:strVal val="#ppt_x"/>
                                          </p:val>
                                        </p:tav>
                                      </p:tavLst>
                                    </p:anim>
                                    <p:anim calcmode="lin" valueType="num">
                                      <p:cBhvr additive="base">
                                        <p:cTn id="14" dur="75"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autoUpdateAnimBg="0"/>
      <p:bldP spid="4" grpId="0" animBg="1" autoUpdateAnimBg="0"/>
      <p:bldP spid="5" grpId="0" animBg="1"/>
      <p:bldP spid="6" grpId="0" animBg="1"/>
      <p:bldP spid="7"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3"/>
          <p:cNvSpPr txBox="1">
            <a:spLocks noChangeArrowheads="1"/>
          </p:cNvSpPr>
          <p:nvPr/>
        </p:nvSpPr>
        <p:spPr bwMode="auto">
          <a:xfrm>
            <a:off x="989576" y="922338"/>
            <a:ext cx="1422184" cy="461665"/>
          </a:xfrm>
          <a:prstGeom prst="rect">
            <a:avLst/>
          </a:prstGeom>
          <a:noFill/>
          <a:ln w="19050">
            <a:solidFill>
              <a:srgbClr val="FF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spcBef>
                <a:spcPct val="0"/>
              </a:spcBef>
              <a:buFontTx/>
              <a:buNone/>
            </a:pPr>
            <a:r>
              <a:rPr kumimoji="1" lang="zh-CN" altLang="en-US" sz="2400" b="1" dirty="0">
                <a:solidFill>
                  <a:srgbClr val="0000FF"/>
                </a:solidFill>
                <a:latin typeface="黑体" pitchFamily="49" charset="-122"/>
                <a:ea typeface="黑体" pitchFamily="49" charset="-122"/>
              </a:rPr>
              <a:t>弯扭组合</a:t>
            </a:r>
          </a:p>
        </p:txBody>
      </p:sp>
      <p:graphicFrame>
        <p:nvGraphicFramePr>
          <p:cNvPr id="6" name="Object 6"/>
          <p:cNvGraphicFramePr>
            <a:graphicFrameLocks noChangeAspect="1"/>
          </p:cNvGraphicFramePr>
          <p:nvPr>
            <p:extLst>
              <p:ext uri="{D42A27DB-BD31-4B8C-83A1-F6EECF244321}">
                <p14:modId xmlns:p14="http://schemas.microsoft.com/office/powerpoint/2010/main" val="2890416901"/>
              </p:ext>
            </p:extLst>
          </p:nvPr>
        </p:nvGraphicFramePr>
        <p:xfrm>
          <a:off x="1335087" y="1628800"/>
          <a:ext cx="952500" cy="584200"/>
        </p:xfrm>
        <a:graphic>
          <a:graphicData uri="http://schemas.openxmlformats.org/presentationml/2006/ole">
            <mc:AlternateContent xmlns:mc="http://schemas.openxmlformats.org/markup-compatibility/2006">
              <mc:Choice xmlns:v="urn:schemas-microsoft-com:vml" Requires="v">
                <p:oleObj name="Equation" r:id="rId2" imgW="784440" imgH="454320" progId="">
                  <p:embed/>
                </p:oleObj>
              </mc:Choice>
              <mc:Fallback>
                <p:oleObj name="Equation" r:id="rId2" imgW="784440" imgH="454320" progId="">
                  <p:embed/>
                  <p:pic>
                    <p:nvPicPr>
                      <p:cNvPr id="0" name="Picture 6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5087" y="1628800"/>
                        <a:ext cx="952500" cy="584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7"/>
          <p:cNvGraphicFramePr>
            <a:graphicFrameLocks noChangeAspect="1"/>
          </p:cNvGraphicFramePr>
          <p:nvPr>
            <p:extLst>
              <p:ext uri="{D42A27DB-BD31-4B8C-83A1-F6EECF244321}">
                <p14:modId xmlns:p14="http://schemas.microsoft.com/office/powerpoint/2010/main" val="1943643847"/>
              </p:ext>
            </p:extLst>
          </p:nvPr>
        </p:nvGraphicFramePr>
        <p:xfrm>
          <a:off x="2844006" y="1628800"/>
          <a:ext cx="1536700" cy="685800"/>
        </p:xfrm>
        <a:graphic>
          <a:graphicData uri="http://schemas.openxmlformats.org/presentationml/2006/ole">
            <mc:AlternateContent xmlns:mc="http://schemas.openxmlformats.org/markup-compatibility/2006">
              <mc:Choice xmlns:v="urn:schemas-microsoft-com:vml" Requires="v">
                <p:oleObj name="Equation" r:id="rId4" imgW="1282680" imgH="541800" progId="">
                  <p:embed/>
                </p:oleObj>
              </mc:Choice>
              <mc:Fallback>
                <p:oleObj name="Equation" r:id="rId4" imgW="1282680" imgH="541800" progId="">
                  <p:embed/>
                  <p:pic>
                    <p:nvPicPr>
                      <p:cNvPr id="0" name="Picture 6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44006" y="1628800"/>
                        <a:ext cx="1536700" cy="685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Text Box 8"/>
          <p:cNvSpPr txBox="1">
            <a:spLocks noChangeArrowheads="1"/>
          </p:cNvSpPr>
          <p:nvPr/>
        </p:nvSpPr>
        <p:spPr bwMode="auto">
          <a:xfrm>
            <a:off x="1066800" y="2636912"/>
            <a:ext cx="3554413" cy="457200"/>
          </a:xfrm>
          <a:prstGeom prst="rect">
            <a:avLst/>
          </a:prstGeom>
          <a:noFill/>
          <a:ln w="19050">
            <a:solidFill>
              <a:srgbClr val="FF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spcBef>
                <a:spcPct val="0"/>
              </a:spcBef>
              <a:buFontTx/>
              <a:buNone/>
            </a:pPr>
            <a:r>
              <a:rPr kumimoji="1" lang="zh-CN" altLang="en-US" sz="2400" b="1" dirty="0">
                <a:solidFill>
                  <a:srgbClr val="0000FF"/>
                </a:solidFill>
                <a:latin typeface="黑体" pitchFamily="49" charset="-122"/>
                <a:ea typeface="黑体" pitchFamily="49" charset="-122"/>
              </a:rPr>
              <a:t>应力状态－单向＋纯剪切</a:t>
            </a:r>
          </a:p>
        </p:txBody>
      </p:sp>
      <p:sp>
        <p:nvSpPr>
          <p:cNvPr id="9" name="Text Box 9"/>
          <p:cNvSpPr txBox="1">
            <a:spLocks noChangeArrowheads="1"/>
          </p:cNvSpPr>
          <p:nvPr/>
        </p:nvSpPr>
        <p:spPr bwMode="auto">
          <a:xfrm>
            <a:off x="1066800" y="3170312"/>
            <a:ext cx="4475163" cy="457200"/>
          </a:xfrm>
          <a:prstGeom prst="rect">
            <a:avLst/>
          </a:prstGeom>
          <a:noFill/>
          <a:ln w="19050">
            <a:solidFill>
              <a:srgbClr val="FF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spcBef>
                <a:spcPct val="0"/>
              </a:spcBef>
              <a:buFontTx/>
              <a:buNone/>
            </a:pPr>
            <a:r>
              <a:rPr kumimoji="1" lang="zh-CN" altLang="en-US" sz="2400" b="1" dirty="0">
                <a:solidFill>
                  <a:srgbClr val="0000FF"/>
                </a:solidFill>
                <a:latin typeface="黑体" pitchFamily="49" charset="-122"/>
                <a:ea typeface="黑体" pitchFamily="49" charset="-122"/>
              </a:rPr>
              <a:t>强度条件（塑性材料</a:t>
            </a:r>
            <a:r>
              <a:rPr kumimoji="1" lang="en-US" altLang="zh-CN" sz="2400" b="1" dirty="0">
                <a:solidFill>
                  <a:srgbClr val="0000FF"/>
                </a:solidFill>
                <a:latin typeface="黑体" pitchFamily="49" charset="-122"/>
                <a:ea typeface="黑体" pitchFamily="49" charset="-122"/>
              </a:rPr>
              <a:t>, </a:t>
            </a:r>
            <a:r>
              <a:rPr kumimoji="1" lang="zh-CN" altLang="en-US" sz="2400" b="1" dirty="0">
                <a:solidFill>
                  <a:srgbClr val="0000FF"/>
                </a:solidFill>
                <a:latin typeface="黑体" pitchFamily="49" charset="-122"/>
                <a:ea typeface="黑体" pitchFamily="49" charset="-122"/>
              </a:rPr>
              <a:t>圆截面）</a:t>
            </a:r>
          </a:p>
        </p:txBody>
      </p:sp>
      <p:graphicFrame>
        <p:nvGraphicFramePr>
          <p:cNvPr id="10" name="Object 10"/>
          <p:cNvGraphicFramePr>
            <a:graphicFrameLocks noChangeAspect="1"/>
          </p:cNvGraphicFramePr>
          <p:nvPr>
            <p:extLst>
              <p:ext uri="{D42A27DB-BD31-4B8C-83A1-F6EECF244321}">
                <p14:modId xmlns:p14="http://schemas.microsoft.com/office/powerpoint/2010/main" val="2187685238"/>
              </p:ext>
            </p:extLst>
          </p:nvPr>
        </p:nvGraphicFramePr>
        <p:xfrm>
          <a:off x="1692275" y="4018012"/>
          <a:ext cx="2362200" cy="419100"/>
        </p:xfrm>
        <a:graphic>
          <a:graphicData uri="http://schemas.openxmlformats.org/presentationml/2006/ole">
            <mc:AlternateContent xmlns:mc="http://schemas.openxmlformats.org/markup-compatibility/2006">
              <mc:Choice xmlns:v="urn:schemas-microsoft-com:vml" Requires="v">
                <p:oleObj name="Equation" r:id="rId6" imgW="1993320" imgH="318600" progId="">
                  <p:embed/>
                </p:oleObj>
              </mc:Choice>
              <mc:Fallback>
                <p:oleObj name="Equation" r:id="rId6" imgW="1993320" imgH="318600" progId="">
                  <p:embed/>
                  <p:pic>
                    <p:nvPicPr>
                      <p:cNvPr id="0" name="Picture 6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92275" y="4018012"/>
                        <a:ext cx="2362200" cy="419100"/>
                      </a:xfrm>
                      <a:prstGeom prst="rect">
                        <a:avLst/>
                      </a:prstGeom>
                      <a:noFill/>
                      <a:effectLst/>
                      <a:extLst>
                        <a:ext uri="{909E8E84-426E-40DD-AFC4-6F175D3DCCD1}">
                          <a14:hiddenFill xmlns:a14="http://schemas.microsoft.com/office/drawing/2010/main">
                            <a:solidFill>
                              <a:srgbClr val="FFFF99"/>
                            </a:solidFill>
                          </a14:hiddenFill>
                        </a:ext>
                        <a:ext uri="{AF507438-7753-43E0-B8FC-AC1667EBCBE1}">
                          <a14:hiddenEffects xmlns:a14="http://schemas.microsoft.com/office/drawing/2010/main">
                            <a:effectLst>
                              <a:outerShdw dist="17961" dir="13500000" algn="ctr" rotWithShape="0">
                                <a:srgbClr val="99995C"/>
                              </a:outerShdw>
                            </a:effectLst>
                          </a14:hiddenEffects>
                        </a:ext>
                      </a:extLst>
                    </p:spPr>
                  </p:pic>
                </p:oleObj>
              </mc:Fallback>
            </mc:AlternateContent>
          </a:graphicData>
        </a:graphic>
      </p:graphicFrame>
      <p:graphicFrame>
        <p:nvGraphicFramePr>
          <p:cNvPr id="11" name="Object 11"/>
          <p:cNvGraphicFramePr>
            <a:graphicFrameLocks noChangeAspect="1"/>
          </p:cNvGraphicFramePr>
          <p:nvPr>
            <p:extLst>
              <p:ext uri="{D42A27DB-BD31-4B8C-83A1-F6EECF244321}">
                <p14:modId xmlns:p14="http://schemas.microsoft.com/office/powerpoint/2010/main" val="2808213450"/>
              </p:ext>
            </p:extLst>
          </p:nvPr>
        </p:nvGraphicFramePr>
        <p:xfrm>
          <a:off x="5181600" y="4018012"/>
          <a:ext cx="2362200" cy="419100"/>
        </p:xfrm>
        <a:graphic>
          <a:graphicData uri="http://schemas.openxmlformats.org/presentationml/2006/ole">
            <mc:AlternateContent xmlns:mc="http://schemas.openxmlformats.org/markup-compatibility/2006">
              <mc:Choice xmlns:v="urn:schemas-microsoft-com:vml" Requires="v">
                <p:oleObj name="Equation" r:id="rId8" imgW="1993320" imgH="318600" progId="">
                  <p:embed/>
                </p:oleObj>
              </mc:Choice>
              <mc:Fallback>
                <p:oleObj name="Equation" r:id="rId8" imgW="1993320" imgH="318600" progId="">
                  <p:embed/>
                  <p:pic>
                    <p:nvPicPr>
                      <p:cNvPr id="0" name="Picture 6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181600" y="4018012"/>
                        <a:ext cx="2362200" cy="419100"/>
                      </a:xfrm>
                      <a:prstGeom prst="rect">
                        <a:avLst/>
                      </a:prstGeom>
                      <a:noFill/>
                      <a:effectLst/>
                      <a:extLst>
                        <a:ext uri="{909E8E84-426E-40DD-AFC4-6F175D3DCCD1}">
                          <a14:hiddenFill xmlns:a14="http://schemas.microsoft.com/office/drawing/2010/main">
                            <a:solidFill>
                              <a:srgbClr val="FFFF99"/>
                            </a:solidFill>
                          </a14:hiddenFill>
                        </a:ext>
                        <a:ext uri="{AF507438-7753-43E0-B8FC-AC1667EBCBE1}">
                          <a14:hiddenEffects xmlns:a14="http://schemas.microsoft.com/office/drawing/2010/main">
                            <a:effectLst>
                              <a:outerShdw dist="17961" dir="13500000" algn="ctr" rotWithShape="0">
                                <a:srgbClr val="99995C"/>
                              </a:outerShdw>
                            </a:effectLst>
                          </a14:hiddenEffects>
                        </a:ext>
                      </a:extLst>
                    </p:spPr>
                  </p:pic>
                </p:oleObj>
              </mc:Fallback>
            </mc:AlternateContent>
          </a:graphicData>
        </a:graphic>
      </p:graphicFrame>
      <p:graphicFrame>
        <p:nvGraphicFramePr>
          <p:cNvPr id="14" name="Object 14"/>
          <p:cNvGraphicFramePr>
            <a:graphicFrameLocks noChangeAspect="1"/>
          </p:cNvGraphicFramePr>
          <p:nvPr>
            <p:extLst>
              <p:ext uri="{D42A27DB-BD31-4B8C-83A1-F6EECF244321}">
                <p14:modId xmlns:p14="http://schemas.microsoft.com/office/powerpoint/2010/main" val="2060446707"/>
              </p:ext>
            </p:extLst>
          </p:nvPr>
        </p:nvGraphicFramePr>
        <p:xfrm>
          <a:off x="1692275" y="4954240"/>
          <a:ext cx="2336800" cy="635000"/>
        </p:xfrm>
        <a:graphic>
          <a:graphicData uri="http://schemas.openxmlformats.org/presentationml/2006/ole">
            <mc:AlternateContent xmlns:mc="http://schemas.openxmlformats.org/markup-compatibility/2006">
              <mc:Choice xmlns:v="urn:schemas-microsoft-com:vml" Requires="v">
                <p:oleObj name="Equation" r:id="rId10" imgW="1968840" imgH="502200" progId="">
                  <p:embed/>
                </p:oleObj>
              </mc:Choice>
              <mc:Fallback>
                <p:oleObj name="Equation" r:id="rId10" imgW="1968840" imgH="502200" progId="">
                  <p:embed/>
                  <p:pic>
                    <p:nvPicPr>
                      <p:cNvPr id="0" name="Picture 6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692275" y="4954240"/>
                        <a:ext cx="2336800" cy="635000"/>
                      </a:xfrm>
                      <a:prstGeom prst="rect">
                        <a:avLst/>
                      </a:prstGeom>
                      <a:noFill/>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17961" dir="13500000" algn="ctr" rotWithShape="0">
                                <a:srgbClr val="997A99"/>
                              </a:outerShdw>
                            </a:effectLst>
                          </a14:hiddenEffects>
                        </a:ext>
                      </a:extLst>
                    </p:spPr>
                  </p:pic>
                </p:oleObj>
              </mc:Fallback>
            </mc:AlternateContent>
          </a:graphicData>
        </a:graphic>
      </p:graphicFrame>
      <p:graphicFrame>
        <p:nvGraphicFramePr>
          <p:cNvPr id="15" name="Object 15"/>
          <p:cNvGraphicFramePr>
            <a:graphicFrameLocks noChangeAspect="1"/>
          </p:cNvGraphicFramePr>
          <p:nvPr>
            <p:extLst>
              <p:ext uri="{D42A27DB-BD31-4B8C-83A1-F6EECF244321}">
                <p14:modId xmlns:p14="http://schemas.microsoft.com/office/powerpoint/2010/main" val="2142330970"/>
              </p:ext>
            </p:extLst>
          </p:nvPr>
        </p:nvGraphicFramePr>
        <p:xfrm>
          <a:off x="4943475" y="4941168"/>
          <a:ext cx="2832100" cy="635000"/>
        </p:xfrm>
        <a:graphic>
          <a:graphicData uri="http://schemas.openxmlformats.org/presentationml/2006/ole">
            <mc:AlternateContent xmlns:mc="http://schemas.openxmlformats.org/markup-compatibility/2006">
              <mc:Choice xmlns:v="urn:schemas-microsoft-com:vml" Requires="v">
                <p:oleObj name="Equation" r:id="rId12" imgW="0" imgH="0" progId="">
                  <p:embed/>
                </p:oleObj>
              </mc:Choice>
              <mc:Fallback>
                <p:oleObj name="Equation" r:id="rId12" imgW="0" imgH="0" progId="">
                  <p:embed/>
                  <p:pic>
                    <p:nvPicPr>
                      <p:cNvPr id="0" name="AutoShape 67"/>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4943475" y="4941168"/>
                        <a:ext cx="2832100" cy="635000"/>
                      </a:xfrm>
                      <a:prstGeom prst="rect">
                        <a:avLst/>
                      </a:prstGeom>
                      <a:noFill/>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17961" dir="13500000" algn="ctr" rotWithShape="0">
                                <a:srgbClr val="997A99"/>
                              </a:outerShdw>
                            </a:effectLst>
                          </a14:hiddenEffects>
                        </a:ext>
                      </a:extLst>
                    </p:spPr>
                  </p:pic>
                </p:oleObj>
              </mc:Fallback>
            </mc:AlternateContent>
          </a:graphicData>
        </a:graphic>
      </p:graphicFrame>
    </p:spTree>
    <p:extLst>
      <p:ext uri="{BB962C8B-B14F-4D97-AF65-F5344CB8AC3E}">
        <p14:creationId xmlns:p14="http://schemas.microsoft.com/office/powerpoint/2010/main" val="3545209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animBg="1"/>
      <p:bldP spid="9"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4"/>
          <p:cNvSpPr txBox="1">
            <a:spLocks noChangeArrowheads="1"/>
          </p:cNvSpPr>
          <p:nvPr/>
        </p:nvSpPr>
        <p:spPr bwMode="auto">
          <a:xfrm>
            <a:off x="899592" y="632024"/>
            <a:ext cx="1731564" cy="461665"/>
          </a:xfrm>
          <a:prstGeom prst="rect">
            <a:avLst/>
          </a:prstGeom>
          <a:noFill/>
          <a:ln w="19050">
            <a:solidFill>
              <a:srgbClr val="FF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spcBef>
                <a:spcPct val="0"/>
              </a:spcBef>
              <a:buFontTx/>
              <a:buNone/>
            </a:pPr>
            <a:r>
              <a:rPr kumimoji="1" lang="zh-CN" altLang="en-US" sz="2400" b="1" dirty="0">
                <a:solidFill>
                  <a:srgbClr val="0000FF"/>
                </a:solidFill>
                <a:latin typeface="黑体" pitchFamily="49" charset="-122"/>
                <a:ea typeface="黑体" pitchFamily="49" charset="-122"/>
              </a:rPr>
              <a:t>弯拉扭组合</a:t>
            </a:r>
          </a:p>
        </p:txBody>
      </p:sp>
      <p:graphicFrame>
        <p:nvGraphicFramePr>
          <p:cNvPr id="5" name="Object 7"/>
          <p:cNvGraphicFramePr>
            <a:graphicFrameLocks noChangeAspect="1"/>
          </p:cNvGraphicFramePr>
          <p:nvPr>
            <p:extLst>
              <p:ext uri="{D42A27DB-BD31-4B8C-83A1-F6EECF244321}">
                <p14:modId xmlns:p14="http://schemas.microsoft.com/office/powerpoint/2010/main" val="3478078104"/>
              </p:ext>
            </p:extLst>
          </p:nvPr>
        </p:nvGraphicFramePr>
        <p:xfrm>
          <a:off x="964293" y="1432496"/>
          <a:ext cx="1473200" cy="355600"/>
        </p:xfrm>
        <a:graphic>
          <a:graphicData uri="http://schemas.openxmlformats.org/presentationml/2006/ole">
            <mc:AlternateContent xmlns:mc="http://schemas.openxmlformats.org/markup-compatibility/2006">
              <mc:Choice xmlns:v="urn:schemas-microsoft-com:vml" Requires="v">
                <p:oleObj name="公式" r:id="rId3" imgW="1233720" imgH="262800" progId="">
                  <p:embed/>
                </p:oleObj>
              </mc:Choice>
              <mc:Fallback>
                <p:oleObj name="公式" r:id="rId3" imgW="1233720" imgH="262800" progId="">
                  <p:embed/>
                  <p:pic>
                    <p:nvPicPr>
                      <p:cNvPr id="0" name="Picture 5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4293" y="1432496"/>
                        <a:ext cx="1473200" cy="355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Object 8"/>
          <p:cNvGraphicFramePr>
            <a:graphicFrameLocks noChangeAspect="1"/>
          </p:cNvGraphicFramePr>
          <p:nvPr>
            <p:extLst>
              <p:ext uri="{D42A27DB-BD31-4B8C-83A1-F6EECF244321}">
                <p14:modId xmlns:p14="http://schemas.microsoft.com/office/powerpoint/2010/main" val="1344601997"/>
              </p:ext>
            </p:extLst>
          </p:nvPr>
        </p:nvGraphicFramePr>
        <p:xfrm>
          <a:off x="4716016" y="1280096"/>
          <a:ext cx="1993900" cy="685800"/>
        </p:xfrm>
        <a:graphic>
          <a:graphicData uri="http://schemas.openxmlformats.org/presentationml/2006/ole">
            <mc:AlternateContent xmlns:mc="http://schemas.openxmlformats.org/markup-compatibility/2006">
              <mc:Choice xmlns:v="urn:schemas-microsoft-com:vml" Requires="v">
                <p:oleObj name="Equation" r:id="rId5" imgW="1674720" imgH="541800" progId="">
                  <p:embed/>
                </p:oleObj>
              </mc:Choice>
              <mc:Fallback>
                <p:oleObj name="Equation" r:id="rId5" imgW="1674720" imgH="541800" progId="">
                  <p:embed/>
                  <p:pic>
                    <p:nvPicPr>
                      <p:cNvPr id="0" name="Picture 5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16016" y="1280096"/>
                        <a:ext cx="1993900" cy="685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 Box 9"/>
          <p:cNvSpPr txBox="1">
            <a:spLocks noChangeArrowheads="1"/>
          </p:cNvSpPr>
          <p:nvPr/>
        </p:nvSpPr>
        <p:spPr bwMode="auto">
          <a:xfrm>
            <a:off x="946150" y="2360216"/>
            <a:ext cx="2995613" cy="396875"/>
          </a:xfrm>
          <a:prstGeom prst="rect">
            <a:avLst/>
          </a:prstGeom>
          <a:noFill/>
          <a:ln w="19050">
            <a:solidFill>
              <a:srgbClr val="FF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spcBef>
                <a:spcPct val="0"/>
              </a:spcBef>
              <a:buFontTx/>
              <a:buNone/>
            </a:pPr>
            <a:r>
              <a:rPr kumimoji="1" lang="zh-CN" altLang="en-US" sz="2000" b="1" dirty="0">
                <a:solidFill>
                  <a:srgbClr val="0000FF"/>
                </a:solidFill>
                <a:latin typeface="黑体" pitchFamily="49" charset="-122"/>
                <a:ea typeface="黑体" pitchFamily="49" charset="-122"/>
              </a:rPr>
              <a:t>应力状态－单向＋纯剪切</a:t>
            </a:r>
          </a:p>
        </p:txBody>
      </p:sp>
      <p:sp>
        <p:nvSpPr>
          <p:cNvPr id="8" name="Text Box 10"/>
          <p:cNvSpPr txBox="1">
            <a:spLocks noChangeArrowheads="1"/>
          </p:cNvSpPr>
          <p:nvPr/>
        </p:nvSpPr>
        <p:spPr bwMode="auto">
          <a:xfrm>
            <a:off x="946150" y="3085827"/>
            <a:ext cx="3276600" cy="396875"/>
          </a:xfrm>
          <a:prstGeom prst="rect">
            <a:avLst/>
          </a:prstGeom>
          <a:noFill/>
          <a:ln w="19050">
            <a:solidFill>
              <a:srgbClr val="FF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spcBef>
                <a:spcPct val="0"/>
              </a:spcBef>
              <a:buFontTx/>
              <a:buNone/>
            </a:pPr>
            <a:r>
              <a:rPr kumimoji="1" lang="zh-CN" altLang="en-US" sz="2000" b="1" dirty="0">
                <a:solidFill>
                  <a:srgbClr val="0000FF"/>
                </a:solidFill>
                <a:latin typeface="黑体" pitchFamily="49" charset="-122"/>
                <a:ea typeface="黑体" pitchFamily="49" charset="-122"/>
              </a:rPr>
              <a:t>强度条件（塑性材料）</a:t>
            </a:r>
          </a:p>
        </p:txBody>
      </p:sp>
      <p:graphicFrame>
        <p:nvGraphicFramePr>
          <p:cNvPr id="9" name="Object 11"/>
          <p:cNvGraphicFramePr>
            <a:graphicFrameLocks noChangeAspect="1"/>
          </p:cNvGraphicFramePr>
          <p:nvPr>
            <p:extLst>
              <p:ext uri="{D42A27DB-BD31-4B8C-83A1-F6EECF244321}">
                <p14:modId xmlns:p14="http://schemas.microsoft.com/office/powerpoint/2010/main" val="3023412156"/>
              </p:ext>
            </p:extLst>
          </p:nvPr>
        </p:nvGraphicFramePr>
        <p:xfrm>
          <a:off x="3155950" y="3743052"/>
          <a:ext cx="3175000" cy="444500"/>
        </p:xfrm>
        <a:graphic>
          <a:graphicData uri="http://schemas.openxmlformats.org/presentationml/2006/ole">
            <mc:AlternateContent xmlns:mc="http://schemas.openxmlformats.org/markup-compatibility/2006">
              <mc:Choice xmlns:v="urn:schemas-microsoft-com:vml" Requires="v">
                <p:oleObj name="Equation" r:id="rId7" imgW="2687760" imgH="342720" progId="">
                  <p:embed/>
                </p:oleObj>
              </mc:Choice>
              <mc:Fallback>
                <p:oleObj name="Equation" r:id="rId7" imgW="2687760" imgH="342720" progId="">
                  <p:embed/>
                  <p:pic>
                    <p:nvPicPr>
                      <p:cNvPr id="0" name="Picture 5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55950" y="3743052"/>
                        <a:ext cx="3175000" cy="444500"/>
                      </a:xfrm>
                      <a:prstGeom prst="rect">
                        <a:avLst/>
                      </a:prstGeom>
                      <a:noFill/>
                      <a:effectLst/>
                      <a:extLst>
                        <a:ext uri="{909E8E84-426E-40DD-AFC4-6F175D3DCCD1}">
                          <a14:hiddenFill xmlns:a14="http://schemas.microsoft.com/office/drawing/2010/main">
                            <a:solidFill>
                              <a:srgbClr val="FFFF99"/>
                            </a:solidFill>
                          </a14:hiddenFill>
                        </a:ext>
                        <a:ext uri="{AF507438-7753-43E0-B8FC-AC1667EBCBE1}">
                          <a14:hiddenEffects xmlns:a14="http://schemas.microsoft.com/office/drawing/2010/main">
                            <a:effectLst>
                              <a:outerShdw dist="17961" dir="13500000" algn="ctr" rotWithShape="0">
                                <a:srgbClr val="99995C"/>
                              </a:outerShdw>
                            </a:effectLst>
                          </a14:hiddenEffects>
                        </a:ext>
                      </a:extLst>
                    </p:spPr>
                  </p:pic>
                </p:oleObj>
              </mc:Fallback>
            </mc:AlternateContent>
          </a:graphicData>
        </a:graphic>
      </p:graphicFrame>
      <p:graphicFrame>
        <p:nvGraphicFramePr>
          <p:cNvPr id="10" name="Object 12"/>
          <p:cNvGraphicFramePr>
            <a:graphicFrameLocks noChangeAspect="1"/>
          </p:cNvGraphicFramePr>
          <p:nvPr>
            <p:extLst>
              <p:ext uri="{D42A27DB-BD31-4B8C-83A1-F6EECF244321}">
                <p14:modId xmlns:p14="http://schemas.microsoft.com/office/powerpoint/2010/main" val="3530047306"/>
              </p:ext>
            </p:extLst>
          </p:nvPr>
        </p:nvGraphicFramePr>
        <p:xfrm>
          <a:off x="3155950" y="4640684"/>
          <a:ext cx="3187700" cy="444500"/>
        </p:xfrm>
        <a:graphic>
          <a:graphicData uri="http://schemas.openxmlformats.org/presentationml/2006/ole">
            <mc:AlternateContent xmlns:mc="http://schemas.openxmlformats.org/markup-compatibility/2006">
              <mc:Choice xmlns:v="urn:schemas-microsoft-com:vml" Requires="v">
                <p:oleObj name="Equation" r:id="rId9" imgW="2704320" imgH="342720" progId="">
                  <p:embed/>
                </p:oleObj>
              </mc:Choice>
              <mc:Fallback>
                <p:oleObj name="Equation" r:id="rId9" imgW="2704320" imgH="342720" progId="">
                  <p:embed/>
                  <p:pic>
                    <p:nvPicPr>
                      <p:cNvPr id="0" name="Picture 5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55950" y="4640684"/>
                        <a:ext cx="3187700" cy="444500"/>
                      </a:xfrm>
                      <a:prstGeom prst="rect">
                        <a:avLst/>
                      </a:prstGeom>
                      <a:noFill/>
                      <a:effectLst/>
                      <a:extLst>
                        <a:ext uri="{909E8E84-426E-40DD-AFC4-6F175D3DCCD1}">
                          <a14:hiddenFill xmlns:a14="http://schemas.microsoft.com/office/drawing/2010/main">
                            <a:solidFill>
                              <a:srgbClr val="FFFF99"/>
                            </a:solidFill>
                          </a14:hiddenFill>
                        </a:ext>
                        <a:ext uri="{AF507438-7753-43E0-B8FC-AC1667EBCBE1}">
                          <a14:hiddenEffects xmlns:a14="http://schemas.microsoft.com/office/drawing/2010/main">
                            <a:effectLst>
                              <a:outerShdw dist="17961" dir="13500000" algn="ctr" rotWithShape="0">
                                <a:srgbClr val="99995C"/>
                              </a:outerShdw>
                            </a:effectLst>
                          </a14:hiddenEffects>
                        </a:ext>
                      </a:extLst>
                    </p:spPr>
                  </p:pic>
                </p:oleObj>
              </mc:Fallback>
            </mc:AlternateContent>
          </a:graphicData>
        </a:graphic>
      </p:graphicFrame>
      <p:graphicFrame>
        <p:nvGraphicFramePr>
          <p:cNvPr id="13" name="Object 15"/>
          <p:cNvGraphicFramePr>
            <a:graphicFrameLocks noChangeAspect="1"/>
          </p:cNvGraphicFramePr>
          <p:nvPr>
            <p:extLst>
              <p:ext uri="{D42A27DB-BD31-4B8C-83A1-F6EECF244321}">
                <p14:modId xmlns:p14="http://schemas.microsoft.com/office/powerpoint/2010/main" val="1493153230"/>
              </p:ext>
            </p:extLst>
          </p:nvPr>
        </p:nvGraphicFramePr>
        <p:xfrm>
          <a:off x="2466068" y="1280096"/>
          <a:ext cx="1104900" cy="622300"/>
        </p:xfrm>
        <a:graphic>
          <a:graphicData uri="http://schemas.openxmlformats.org/presentationml/2006/ole">
            <mc:AlternateContent xmlns:mc="http://schemas.openxmlformats.org/markup-compatibility/2006">
              <mc:Choice xmlns:v="urn:schemas-microsoft-com:vml" Requires="v">
                <p:oleObj name="Equation" r:id="rId11" imgW="915120" imgH="486000" progId="">
                  <p:embed/>
                </p:oleObj>
              </mc:Choice>
              <mc:Fallback>
                <p:oleObj name="Equation" r:id="rId11" imgW="915120" imgH="486000" progId="">
                  <p:embed/>
                  <p:pic>
                    <p:nvPicPr>
                      <p:cNvPr id="0" name="Picture 5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466068" y="1280096"/>
                        <a:ext cx="1104900" cy="622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90799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subTnLst>
                                    <p:audio>
                                      <p:cMediaNode>
                                        <p:cTn display="0" masterRel="sameClick">
                                          <p:stCondLst>
                                            <p:cond evt="begin" delay="0">
                                              <p:tn val="10"/>
                                            </p:cond>
                                          </p:stCondLst>
                                          <p:endCondLst>
                                            <p:cond evt="onStopAudio" delay="0">
                                              <p:tgtEl>
                                                <p:sldTgt/>
                                              </p:tgtEl>
                                            </p:cond>
                                          </p:endCondLst>
                                        </p:cTn>
                                        <p:tgtEl>
                                          <p:sndTgt r:embed="rId2" name="whoosh.wav"/>
                                        </p:tgtEl>
                                      </p:cMediaNode>
                                    </p:audio>
                                  </p:sub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left)">
                                      <p:cBhvr>
                                        <p:cTn id="17" dur="500"/>
                                        <p:tgtEl>
                                          <p:spTgt spid="13"/>
                                        </p:tgtEl>
                                      </p:cBhvr>
                                    </p:animEffect>
                                  </p:childTnLst>
                                  <p:subTnLst>
                                    <p:audio>
                                      <p:cMediaNode>
                                        <p:cTn display="0" masterRel="sameClick">
                                          <p:stCondLst>
                                            <p:cond evt="begin" delay="0">
                                              <p:tn val="15"/>
                                            </p:cond>
                                          </p:stCondLst>
                                          <p:endCondLst>
                                            <p:cond evt="onStopAudio" delay="0">
                                              <p:tgtEl>
                                                <p:sldTgt/>
                                              </p:tgtEl>
                                            </p:cond>
                                          </p:endCondLst>
                                        </p:cTn>
                                        <p:tgtEl>
                                          <p:sndTgt r:embed="rId2" name="whoosh.wav"/>
                                        </p:tgtEl>
                                      </p:cMediaNode>
                                    </p:audio>
                                  </p:sub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subTnLst>
                                    <p:audio>
                                      <p:cMediaNode>
                                        <p:cTn display="0" masterRel="sameClick">
                                          <p:stCondLst>
                                            <p:cond evt="begin" delay="0">
                                              <p:tn val="20"/>
                                            </p:cond>
                                          </p:stCondLst>
                                          <p:endCondLst>
                                            <p:cond evt="onStopAudio" delay="0">
                                              <p:tgtEl>
                                                <p:sldTgt/>
                                              </p:tgtEl>
                                            </p:cond>
                                          </p:endCondLst>
                                        </p:cTn>
                                        <p:tgtEl>
                                          <p:sndTgt r:embed="rId2" name="whoosh.wav"/>
                                        </p:tgtEl>
                                      </p:cMediaNode>
                                    </p:audio>
                                  </p:sub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wipe(left)">
                                      <p:cBhvr>
                                        <p:cTn id="37" dur="500"/>
                                        <p:tgtEl>
                                          <p:spTgt spid="9"/>
                                        </p:tgtEl>
                                      </p:cBhvr>
                                    </p:animEffect>
                                  </p:childTnLst>
                                  <p:subTnLst>
                                    <p:audio>
                                      <p:cMediaNode>
                                        <p:cTn display="0" masterRel="sameClick">
                                          <p:stCondLst>
                                            <p:cond evt="begin" delay="0">
                                              <p:tn val="35"/>
                                            </p:cond>
                                          </p:stCondLst>
                                          <p:endCondLst>
                                            <p:cond evt="onStopAudio" delay="0">
                                              <p:tgtEl>
                                                <p:sldTgt/>
                                              </p:tgtEl>
                                            </p:cond>
                                          </p:endCondLst>
                                        </p:cTn>
                                        <p:tgtEl>
                                          <p:sndTgt r:embed="rId2" name="whoosh.wav"/>
                                        </p:tgtEl>
                                      </p:cMediaNode>
                                    </p:audio>
                                  </p:sub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wipe(left)">
                                      <p:cBhvr>
                                        <p:cTn id="42" dur="500"/>
                                        <p:tgtEl>
                                          <p:spTgt spid="10"/>
                                        </p:tgtEl>
                                      </p:cBhvr>
                                    </p:animEffect>
                                  </p:childTnLst>
                                  <p:subTnLst>
                                    <p:audio>
                                      <p:cMediaNode>
                                        <p:cTn display="0" masterRel="sameClick">
                                          <p:stCondLst>
                                            <p:cond evt="begin" delay="0">
                                              <p:tn val="40"/>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P spid="8"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a:spLocks/>
          </p:cNvSpPr>
          <p:nvPr/>
        </p:nvSpPr>
        <p:spPr>
          <a:xfrm>
            <a:off x="755576" y="339502"/>
            <a:ext cx="3096344" cy="551259"/>
          </a:xfrm>
          <a:prstGeom prst="rect">
            <a:avLst/>
          </a:prstGeom>
          <a:ln w="19050">
            <a:solidFill>
              <a:srgbClr val="FF0000"/>
            </a:solidFill>
          </a:ln>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2400" b="1" dirty="0">
                <a:solidFill>
                  <a:srgbClr val="FF0000"/>
                </a:solidFill>
                <a:latin typeface="楷体" pitchFamily="49" charset="-122"/>
                <a:ea typeface="楷体" pitchFamily="49" charset="-122"/>
              </a:rPr>
              <a:t>第十章 能量方法</a:t>
            </a:r>
          </a:p>
        </p:txBody>
      </p:sp>
      <p:sp>
        <p:nvSpPr>
          <p:cNvPr id="3" name="Text Box 8"/>
          <p:cNvSpPr txBox="1">
            <a:spLocks noChangeArrowheads="1"/>
          </p:cNvSpPr>
          <p:nvPr/>
        </p:nvSpPr>
        <p:spPr bwMode="auto">
          <a:xfrm>
            <a:off x="755576" y="1507831"/>
            <a:ext cx="7848872" cy="830997"/>
          </a:xfrm>
          <a:prstGeom prst="rect">
            <a:avLst/>
          </a:prstGeom>
          <a:noFill/>
          <a:ln w="19050" algn="ctr">
            <a:solidFill>
              <a:srgbClr val="FF0000"/>
            </a:solidFill>
            <a:miter lim="800000"/>
            <a:headEnd/>
            <a:tailEnd/>
          </a:ln>
          <a:effectLst/>
        </p:spPr>
        <p:txBody>
          <a:bodyPr wrap="square">
            <a:spAutoFit/>
          </a:bodyPr>
          <a:lstStyle/>
          <a:p>
            <a:pPr eaLnBrk="1" hangingPunct="1"/>
            <a:r>
              <a:rPr lang="zh-CN" altLang="en-US" sz="2400" b="1" dirty="0">
                <a:solidFill>
                  <a:srgbClr val="0000FF"/>
                </a:solidFill>
                <a:latin typeface="黑体" pitchFamily="49" charset="-122"/>
                <a:ea typeface="黑体" pitchFamily="49" charset="-122"/>
              </a:rPr>
              <a:t>杆件发生弹性变形，外力功转变为变形能贮存在杆内，这种能量称为应变能，用“</a:t>
            </a:r>
            <a:r>
              <a:rPr lang="en-US" altLang="zh-CN" sz="2400" b="1" dirty="0">
                <a:solidFill>
                  <a:srgbClr val="0000FF"/>
                </a:solidFill>
                <a:latin typeface="黑体" pitchFamily="49" charset="-122"/>
                <a:ea typeface="黑体" pitchFamily="49" charset="-122"/>
              </a:rPr>
              <a:t>V</a:t>
            </a:r>
            <a:r>
              <a:rPr lang="el-GR" altLang="zh-CN" sz="2400" b="1" i="1" baseline="-25000" dirty="0">
                <a:solidFill>
                  <a:srgbClr val="0000FF"/>
                </a:solidFill>
                <a:latin typeface="黑体" pitchFamily="49" charset="-122"/>
                <a:ea typeface="黑体" pitchFamily="49" charset="-122"/>
              </a:rPr>
              <a:t>ε</a:t>
            </a:r>
            <a:r>
              <a:rPr lang="zh-CN" altLang="en-US" sz="2400" b="1" dirty="0">
                <a:solidFill>
                  <a:srgbClr val="0000FF"/>
                </a:solidFill>
                <a:latin typeface="黑体" pitchFamily="49" charset="-122"/>
                <a:ea typeface="黑体" pitchFamily="49" charset="-122"/>
              </a:rPr>
              <a:t>”表示。</a:t>
            </a:r>
          </a:p>
        </p:txBody>
      </p:sp>
      <p:graphicFrame>
        <p:nvGraphicFramePr>
          <p:cNvPr id="4" name="对象 3"/>
          <p:cNvGraphicFramePr>
            <a:graphicFrameLocks noChangeAspect="1"/>
          </p:cNvGraphicFramePr>
          <p:nvPr>
            <p:extLst>
              <p:ext uri="{D42A27DB-BD31-4B8C-83A1-F6EECF244321}">
                <p14:modId xmlns:p14="http://schemas.microsoft.com/office/powerpoint/2010/main" val="2434666288"/>
              </p:ext>
            </p:extLst>
          </p:nvPr>
        </p:nvGraphicFramePr>
        <p:xfrm>
          <a:off x="4067944" y="3717032"/>
          <a:ext cx="1086184" cy="481561"/>
        </p:xfrm>
        <a:graphic>
          <a:graphicData uri="http://schemas.openxmlformats.org/presentationml/2006/ole">
            <mc:AlternateContent xmlns:mc="http://schemas.openxmlformats.org/markup-compatibility/2006">
              <mc:Choice xmlns:v="urn:schemas-microsoft-com:vml" Requires="v">
                <p:oleObj name="Equation" r:id="rId2" imgW="533169" imgH="241195" progId="Equation.DSMT4">
                  <p:embed/>
                </p:oleObj>
              </mc:Choice>
              <mc:Fallback>
                <p:oleObj name="Equation" r:id="rId2" imgW="533169" imgH="241195" progId="Equation.DSMT4">
                  <p:embed/>
                  <p:pic>
                    <p:nvPicPr>
                      <p:cNvPr id="0"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7944" y="3717032"/>
                        <a:ext cx="1086184" cy="48156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ext Box 8"/>
          <p:cNvSpPr txBox="1">
            <a:spLocks noChangeArrowheads="1"/>
          </p:cNvSpPr>
          <p:nvPr/>
        </p:nvSpPr>
        <p:spPr bwMode="auto">
          <a:xfrm>
            <a:off x="755576" y="2708920"/>
            <a:ext cx="7848872" cy="830997"/>
          </a:xfrm>
          <a:prstGeom prst="rect">
            <a:avLst/>
          </a:prstGeom>
          <a:noFill/>
          <a:ln w="19050" algn="ctr">
            <a:solidFill>
              <a:srgbClr val="FF0000"/>
            </a:solidFill>
            <a:miter lim="800000"/>
            <a:headEnd/>
            <a:tailEnd/>
          </a:ln>
          <a:effectLst/>
        </p:spPr>
        <p:txBody>
          <a:bodyPr wrap="square">
            <a:spAutoFit/>
          </a:bodyPr>
          <a:lstStyle/>
          <a:p>
            <a:pPr eaLnBrk="1" hangingPunct="1"/>
            <a:r>
              <a:rPr lang="zh-CN" altLang="en-US" sz="2400" b="1" dirty="0">
                <a:solidFill>
                  <a:srgbClr val="0000FF"/>
                </a:solidFill>
                <a:latin typeface="黑体" pitchFamily="49" charset="-122"/>
                <a:ea typeface="黑体" pitchFamily="49" charset="-122"/>
              </a:rPr>
              <a:t>弹性体内部所贮存的变形能，在数值上等于外力所做的功，即</a:t>
            </a:r>
          </a:p>
        </p:txBody>
      </p:sp>
      <p:sp>
        <p:nvSpPr>
          <p:cNvPr id="7" name="Text Box 8"/>
          <p:cNvSpPr txBox="1">
            <a:spLocks noChangeArrowheads="1"/>
          </p:cNvSpPr>
          <p:nvPr/>
        </p:nvSpPr>
        <p:spPr bwMode="auto">
          <a:xfrm>
            <a:off x="779350" y="4470211"/>
            <a:ext cx="7848872" cy="830997"/>
          </a:xfrm>
          <a:prstGeom prst="rect">
            <a:avLst/>
          </a:prstGeom>
          <a:noFill/>
          <a:ln w="19050" algn="ctr">
            <a:solidFill>
              <a:srgbClr val="FF0000"/>
            </a:solidFill>
            <a:miter lim="800000"/>
            <a:headEnd/>
            <a:tailEnd/>
          </a:ln>
          <a:effectLst/>
        </p:spPr>
        <p:txBody>
          <a:bodyPr wrap="square">
            <a:spAutoFit/>
          </a:bodyPr>
          <a:lstStyle/>
          <a:p>
            <a:pPr eaLnBrk="1" hangingPunct="1"/>
            <a:r>
              <a:rPr lang="zh-CN" altLang="en-US" sz="2400" b="1" dirty="0">
                <a:solidFill>
                  <a:srgbClr val="0000FF"/>
                </a:solidFill>
                <a:latin typeface="黑体" pitchFamily="49" charset="-122"/>
                <a:ea typeface="黑体" pitchFamily="49" charset="-122"/>
              </a:rPr>
              <a:t>利用这种功</a:t>
            </a:r>
            <a:r>
              <a:rPr lang="en-US" altLang="zh-CN" sz="2400" b="1" dirty="0">
                <a:solidFill>
                  <a:srgbClr val="0000FF"/>
                </a:solidFill>
                <a:latin typeface="黑体" pitchFamily="49" charset="-122"/>
                <a:ea typeface="黑体" pitchFamily="49" charset="-122"/>
              </a:rPr>
              <a:t>-</a:t>
            </a:r>
            <a:r>
              <a:rPr lang="zh-CN" altLang="en-US" sz="2400" b="1" dirty="0">
                <a:solidFill>
                  <a:srgbClr val="0000FF"/>
                </a:solidFill>
                <a:latin typeface="黑体" pitchFamily="49" charset="-122"/>
                <a:ea typeface="黑体" pitchFamily="49" charset="-122"/>
              </a:rPr>
              <a:t>能关系分析计算变形固体的位移，变形和内力的方法称为能量方法。</a:t>
            </a:r>
          </a:p>
        </p:txBody>
      </p:sp>
    </p:spTree>
    <p:extLst>
      <p:ext uri="{BB962C8B-B14F-4D97-AF65-F5344CB8AC3E}">
        <p14:creationId xmlns:p14="http://schemas.microsoft.com/office/powerpoint/2010/main" val="4025778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linds(horizontal)">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blinds(horizontal)">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blinds(horizontal)">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autoUpdateAnimBg="0"/>
      <p:bldP spid="6" grpId="0" animBg="1" autoUpdateAnimBg="0"/>
      <p:bldP spid="7" grpId="0" animBg="1"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6"/>
          <p:cNvSpPr txBox="1">
            <a:spLocks noChangeArrowheads="1"/>
          </p:cNvSpPr>
          <p:nvPr/>
        </p:nvSpPr>
        <p:spPr bwMode="auto">
          <a:xfrm>
            <a:off x="1691680" y="980728"/>
            <a:ext cx="5062574" cy="461665"/>
          </a:xfrm>
          <a:prstGeom prst="rect">
            <a:avLst/>
          </a:prstGeom>
          <a:noFill/>
          <a:ln w="19050">
            <a:solidFill>
              <a:srgbClr val="FF0000"/>
            </a:solidFill>
            <a:miter lim="800000"/>
            <a:headEnd/>
            <a:tailEnd/>
          </a:ln>
          <a:effectLst/>
        </p:spPr>
        <p:txBody>
          <a:bodyPr wrap="square">
            <a:spAutoFit/>
          </a:bodyPr>
          <a:lstStyle/>
          <a:p>
            <a:pPr eaLnBrk="1" hangingPunct="1"/>
            <a:r>
              <a:rPr lang="zh-CN" altLang="en-US" sz="2400" b="1" dirty="0">
                <a:solidFill>
                  <a:srgbClr val="0000FF"/>
                </a:solidFill>
                <a:latin typeface="黑体" pitchFamily="49" charset="-122"/>
                <a:ea typeface="黑体" pitchFamily="49" charset="-122"/>
              </a:rPr>
              <a:t>杆件基本变形的应变能计算公式</a:t>
            </a:r>
            <a:endParaRPr lang="zh-CN" altLang="en-US" sz="2400" dirty="0">
              <a:solidFill>
                <a:srgbClr val="0000FF"/>
              </a:solidFill>
              <a:latin typeface="黑体" pitchFamily="49" charset="-122"/>
              <a:ea typeface="黑体" pitchFamily="49" charset="-122"/>
            </a:endParaRPr>
          </a:p>
        </p:txBody>
      </p:sp>
      <p:sp>
        <p:nvSpPr>
          <p:cNvPr id="3" name="Text Box 6"/>
          <p:cNvSpPr txBox="1">
            <a:spLocks noChangeArrowheads="1"/>
          </p:cNvSpPr>
          <p:nvPr/>
        </p:nvSpPr>
        <p:spPr bwMode="auto">
          <a:xfrm>
            <a:off x="1835696" y="1937922"/>
            <a:ext cx="857256" cy="461665"/>
          </a:xfrm>
          <a:prstGeom prst="rect">
            <a:avLst/>
          </a:prstGeom>
          <a:noFill/>
          <a:ln w="19050">
            <a:solidFill>
              <a:srgbClr val="FF0000"/>
            </a:solidFill>
            <a:miter lim="800000"/>
            <a:headEnd/>
            <a:tailEnd/>
          </a:ln>
          <a:effectLst/>
        </p:spPr>
        <p:txBody>
          <a:bodyPr wrap="square">
            <a:spAutoFit/>
          </a:bodyPr>
          <a:lstStyle/>
          <a:p>
            <a:pPr eaLnBrk="1" hangingPunct="1"/>
            <a:r>
              <a:rPr lang="zh-CN" altLang="en-US" sz="2400" dirty="0">
                <a:solidFill>
                  <a:srgbClr val="0000FF"/>
                </a:solidFill>
                <a:latin typeface="黑体" pitchFamily="49" charset="-122"/>
                <a:ea typeface="黑体" pitchFamily="49" charset="-122"/>
              </a:rPr>
              <a:t>拉压</a:t>
            </a:r>
          </a:p>
        </p:txBody>
      </p:sp>
      <p:sp>
        <p:nvSpPr>
          <p:cNvPr id="4" name="右箭头 3"/>
          <p:cNvSpPr/>
          <p:nvPr/>
        </p:nvSpPr>
        <p:spPr>
          <a:xfrm>
            <a:off x="3020314" y="2080798"/>
            <a:ext cx="1643074" cy="214314"/>
          </a:xfrm>
          <a:prstGeom prst="rightArrow">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00FF"/>
              </a:solidFill>
            </a:endParaRPr>
          </a:p>
        </p:txBody>
      </p:sp>
      <p:graphicFrame>
        <p:nvGraphicFramePr>
          <p:cNvPr id="5" name="Object 2"/>
          <p:cNvGraphicFramePr>
            <a:graphicFrameLocks noChangeAspect="1"/>
          </p:cNvGraphicFramePr>
          <p:nvPr>
            <p:extLst>
              <p:ext uri="{D42A27DB-BD31-4B8C-83A1-F6EECF244321}">
                <p14:modId xmlns:p14="http://schemas.microsoft.com/office/powerpoint/2010/main" val="991233650"/>
              </p:ext>
            </p:extLst>
          </p:nvPr>
        </p:nvGraphicFramePr>
        <p:xfrm>
          <a:off x="4790396" y="1723619"/>
          <a:ext cx="2101850" cy="855662"/>
        </p:xfrm>
        <a:graphic>
          <a:graphicData uri="http://schemas.openxmlformats.org/presentationml/2006/ole">
            <mc:AlternateContent xmlns:mc="http://schemas.openxmlformats.org/markup-compatibility/2006">
              <mc:Choice xmlns:v="urn:schemas-microsoft-com:vml" Requires="v">
                <p:oleObj name="Equation" r:id="rId2" imgW="1002865" imgH="520474" progId="Equation.DSMT4">
                  <p:embed/>
                </p:oleObj>
              </mc:Choice>
              <mc:Fallback>
                <p:oleObj name="Equation" r:id="rId2" imgW="1002865" imgH="520474" progId="Equation.DSMT4">
                  <p:embed/>
                  <p:pic>
                    <p:nvPicPr>
                      <p:cNvPr id="0" name="Picture 2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90396" y="1723619"/>
                        <a:ext cx="2101850" cy="8556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ext Box 6"/>
          <p:cNvSpPr txBox="1">
            <a:spLocks noChangeArrowheads="1"/>
          </p:cNvSpPr>
          <p:nvPr/>
        </p:nvSpPr>
        <p:spPr bwMode="auto">
          <a:xfrm>
            <a:off x="1805868" y="3011075"/>
            <a:ext cx="857256" cy="461665"/>
          </a:xfrm>
          <a:prstGeom prst="rect">
            <a:avLst/>
          </a:prstGeom>
          <a:noFill/>
          <a:ln w="19050">
            <a:solidFill>
              <a:srgbClr val="FF0000"/>
            </a:solidFill>
            <a:miter lim="800000"/>
            <a:headEnd/>
            <a:tailEnd/>
          </a:ln>
          <a:effectLst/>
        </p:spPr>
        <p:txBody>
          <a:bodyPr wrap="square">
            <a:spAutoFit/>
          </a:bodyPr>
          <a:lstStyle/>
          <a:p>
            <a:pPr eaLnBrk="1" hangingPunct="1"/>
            <a:r>
              <a:rPr lang="zh-CN" altLang="en-US" sz="2400" dirty="0">
                <a:solidFill>
                  <a:srgbClr val="0000FF"/>
                </a:solidFill>
                <a:latin typeface="黑体" pitchFamily="49" charset="-122"/>
                <a:ea typeface="黑体" pitchFamily="49" charset="-122"/>
              </a:rPr>
              <a:t>扭转</a:t>
            </a:r>
          </a:p>
        </p:txBody>
      </p:sp>
      <p:sp>
        <p:nvSpPr>
          <p:cNvPr id="7" name="右箭头 6"/>
          <p:cNvSpPr/>
          <p:nvPr/>
        </p:nvSpPr>
        <p:spPr>
          <a:xfrm>
            <a:off x="2948876" y="3153951"/>
            <a:ext cx="1643074" cy="214314"/>
          </a:xfrm>
          <a:prstGeom prst="rightArrow">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00FF"/>
              </a:solidFill>
            </a:endParaRPr>
          </a:p>
        </p:txBody>
      </p:sp>
      <p:graphicFrame>
        <p:nvGraphicFramePr>
          <p:cNvPr id="8" name="Object 5"/>
          <p:cNvGraphicFramePr>
            <a:graphicFrameLocks noChangeAspect="1"/>
          </p:cNvGraphicFramePr>
          <p:nvPr>
            <p:extLst>
              <p:ext uri="{D42A27DB-BD31-4B8C-83A1-F6EECF244321}">
                <p14:modId xmlns:p14="http://schemas.microsoft.com/office/powerpoint/2010/main" val="3755220762"/>
              </p:ext>
            </p:extLst>
          </p:nvPr>
        </p:nvGraphicFramePr>
        <p:xfrm>
          <a:off x="4806264" y="2866616"/>
          <a:ext cx="2143141" cy="785818"/>
        </p:xfrm>
        <a:graphic>
          <a:graphicData uri="http://schemas.openxmlformats.org/presentationml/2006/ole">
            <mc:AlternateContent xmlns:mc="http://schemas.openxmlformats.org/markup-compatibility/2006">
              <mc:Choice xmlns:v="urn:schemas-microsoft-com:vml" Requires="v">
                <p:oleObj name="Equation" r:id="rId4" imgW="1143000" imgH="520700" progId="Equation.DSMT4">
                  <p:embed/>
                </p:oleObj>
              </mc:Choice>
              <mc:Fallback>
                <p:oleObj name="Equation" r:id="rId4" imgW="1143000" imgH="520700" progId="Equation.DSMT4">
                  <p:embed/>
                  <p:pic>
                    <p:nvPicPr>
                      <p:cNvPr id="0" name="Picture 3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06264" y="2866616"/>
                        <a:ext cx="2143141" cy="78581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Text Box 6"/>
          <p:cNvSpPr txBox="1">
            <a:spLocks noChangeArrowheads="1"/>
          </p:cNvSpPr>
          <p:nvPr/>
        </p:nvSpPr>
        <p:spPr bwMode="auto">
          <a:xfrm>
            <a:off x="1805868" y="4011207"/>
            <a:ext cx="857256" cy="461665"/>
          </a:xfrm>
          <a:prstGeom prst="rect">
            <a:avLst/>
          </a:prstGeom>
          <a:noFill/>
          <a:ln w="19050">
            <a:solidFill>
              <a:srgbClr val="FF0000"/>
            </a:solidFill>
            <a:miter lim="800000"/>
            <a:headEnd/>
            <a:tailEnd/>
          </a:ln>
          <a:effectLst/>
        </p:spPr>
        <p:txBody>
          <a:bodyPr wrap="square">
            <a:spAutoFit/>
          </a:bodyPr>
          <a:lstStyle/>
          <a:p>
            <a:pPr eaLnBrk="1" hangingPunct="1"/>
            <a:r>
              <a:rPr lang="zh-CN" altLang="en-US" sz="2400" dirty="0">
                <a:solidFill>
                  <a:srgbClr val="0000FF"/>
                </a:solidFill>
                <a:latin typeface="黑体" pitchFamily="49" charset="-122"/>
                <a:ea typeface="黑体" pitchFamily="49" charset="-122"/>
              </a:rPr>
              <a:t>弯曲</a:t>
            </a:r>
          </a:p>
        </p:txBody>
      </p:sp>
      <p:sp>
        <p:nvSpPr>
          <p:cNvPr id="10" name="右箭头 9"/>
          <p:cNvSpPr/>
          <p:nvPr/>
        </p:nvSpPr>
        <p:spPr>
          <a:xfrm>
            <a:off x="2948876" y="4154083"/>
            <a:ext cx="1643074" cy="214314"/>
          </a:xfrm>
          <a:prstGeom prst="rightArrow">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00FF"/>
              </a:solidFill>
            </a:endParaRPr>
          </a:p>
        </p:txBody>
      </p:sp>
      <p:graphicFrame>
        <p:nvGraphicFramePr>
          <p:cNvPr id="11" name="Object 7"/>
          <p:cNvGraphicFramePr>
            <a:graphicFrameLocks noChangeAspect="1"/>
          </p:cNvGraphicFramePr>
          <p:nvPr>
            <p:extLst>
              <p:ext uri="{D42A27DB-BD31-4B8C-83A1-F6EECF244321}">
                <p14:modId xmlns:p14="http://schemas.microsoft.com/office/powerpoint/2010/main" val="1997422353"/>
              </p:ext>
            </p:extLst>
          </p:nvPr>
        </p:nvGraphicFramePr>
        <p:xfrm>
          <a:off x="4813985" y="3866748"/>
          <a:ext cx="2278295" cy="714380"/>
        </p:xfrm>
        <a:graphic>
          <a:graphicData uri="http://schemas.openxmlformats.org/presentationml/2006/ole">
            <mc:AlternateContent xmlns:mc="http://schemas.openxmlformats.org/markup-compatibility/2006">
              <mc:Choice xmlns:v="urn:schemas-microsoft-com:vml" Requires="v">
                <p:oleObj name="Equation" r:id="rId6" imgW="1206500" imgH="469900" progId="Equation.DSMT4">
                  <p:embed/>
                </p:oleObj>
              </mc:Choice>
              <mc:Fallback>
                <p:oleObj name="Equation" r:id="rId6" imgW="1206500" imgH="469900" progId="Equation.DSMT4">
                  <p:embed/>
                  <p:pic>
                    <p:nvPicPr>
                      <p:cNvPr id="0" name="Picture 3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13985" y="3866748"/>
                        <a:ext cx="2278295" cy="7143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839110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linds(horizontal)">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blinds(horizontal)">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blinds(horizontal)">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blinds(horizontal)">
                                      <p:cBhvr>
                                        <p:cTn id="37" dur="50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blinds(horizontal)">
                                      <p:cBhvr>
                                        <p:cTn id="42" dur="500"/>
                                        <p:tgtEl>
                                          <p:spTgt spid="9"/>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blinds(horizontal)">
                                      <p:cBhvr>
                                        <p:cTn id="47" dur="500"/>
                                        <p:tgtEl>
                                          <p:spTgt spid="10"/>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blinds(horizontal)">
                                      <p:cBhvr>
                                        <p:cTn id="5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6" grpId="0" animBg="1"/>
      <p:bldP spid="7" grpId="0" animBg="1"/>
      <p:bldP spid="9" grpId="0" animBg="1"/>
      <p:bldP spid="10"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6"/>
          <p:cNvSpPr txBox="1">
            <a:spLocks noChangeArrowheads="1"/>
          </p:cNvSpPr>
          <p:nvPr/>
        </p:nvSpPr>
        <p:spPr bwMode="auto">
          <a:xfrm>
            <a:off x="624095" y="1081236"/>
            <a:ext cx="3357586" cy="461665"/>
          </a:xfrm>
          <a:prstGeom prst="rect">
            <a:avLst/>
          </a:prstGeom>
          <a:noFill/>
          <a:ln w="19050">
            <a:solidFill>
              <a:srgbClr val="FF0000"/>
            </a:solidFill>
            <a:miter lim="800000"/>
            <a:headEnd/>
            <a:tailEnd/>
          </a:ln>
          <a:effectLst/>
        </p:spPr>
        <p:txBody>
          <a:bodyPr wrap="square">
            <a:spAutoFit/>
          </a:bodyPr>
          <a:lstStyle/>
          <a:p>
            <a:pPr eaLnBrk="1" hangingPunct="1"/>
            <a:r>
              <a:rPr lang="zh-CN" altLang="en-US" sz="2400" b="1" dirty="0">
                <a:solidFill>
                  <a:srgbClr val="0000FF"/>
                </a:solidFill>
                <a:latin typeface="黑体" pitchFamily="49" charset="-122"/>
                <a:ea typeface="黑体" pitchFamily="49" charset="-122"/>
              </a:rPr>
              <a:t>广义力和广义位移</a:t>
            </a:r>
            <a:endParaRPr lang="zh-CN" altLang="en-US" sz="2400" dirty="0">
              <a:solidFill>
                <a:srgbClr val="0000FF"/>
              </a:solidFill>
              <a:latin typeface="黑体" pitchFamily="49" charset="-122"/>
              <a:ea typeface="黑体" pitchFamily="49" charset="-122"/>
            </a:endParaRPr>
          </a:p>
        </p:txBody>
      </p:sp>
      <p:graphicFrame>
        <p:nvGraphicFramePr>
          <p:cNvPr id="3" name="Object 2"/>
          <p:cNvGraphicFramePr>
            <a:graphicFrameLocks noChangeAspect="1"/>
          </p:cNvGraphicFramePr>
          <p:nvPr>
            <p:extLst>
              <p:ext uri="{D42A27DB-BD31-4B8C-83A1-F6EECF244321}">
                <p14:modId xmlns:p14="http://schemas.microsoft.com/office/powerpoint/2010/main" val="2711706350"/>
              </p:ext>
            </p:extLst>
          </p:nvPr>
        </p:nvGraphicFramePr>
        <p:xfrm>
          <a:off x="1552789" y="1867054"/>
          <a:ext cx="1738310" cy="750084"/>
        </p:xfrm>
        <a:graphic>
          <a:graphicData uri="http://schemas.openxmlformats.org/presentationml/2006/ole">
            <mc:AlternateContent xmlns:mc="http://schemas.openxmlformats.org/markup-compatibility/2006">
              <mc:Choice xmlns:v="urn:schemas-microsoft-com:vml" Requires="v">
                <p:oleObj name="Equation" r:id="rId2" imgW="812447" imgH="444307" progId="Equation.DSMT4">
                  <p:embed/>
                </p:oleObj>
              </mc:Choice>
              <mc:Fallback>
                <p:oleObj name="Equation" r:id="rId2" imgW="812447" imgH="444307" progId="Equation.DSMT4">
                  <p:embed/>
                  <p:pic>
                    <p:nvPicPr>
                      <p:cNvPr id="0" name="Picture 3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52789" y="1867054"/>
                        <a:ext cx="1738310" cy="75008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3"/>
          <p:cNvGraphicFramePr>
            <a:graphicFrameLocks noChangeAspect="1"/>
          </p:cNvGraphicFramePr>
          <p:nvPr>
            <p:extLst>
              <p:ext uri="{D42A27DB-BD31-4B8C-83A1-F6EECF244321}">
                <p14:modId xmlns:p14="http://schemas.microsoft.com/office/powerpoint/2010/main" val="777703871"/>
              </p:ext>
            </p:extLst>
          </p:nvPr>
        </p:nvGraphicFramePr>
        <p:xfrm>
          <a:off x="3910243" y="1795616"/>
          <a:ext cx="1619257" cy="784973"/>
        </p:xfrm>
        <a:graphic>
          <a:graphicData uri="http://schemas.openxmlformats.org/presentationml/2006/ole">
            <mc:AlternateContent xmlns:mc="http://schemas.openxmlformats.org/markup-compatibility/2006">
              <mc:Choice xmlns:v="urn:schemas-microsoft-com:vml" Requires="v">
                <p:oleObj name="Equation" r:id="rId4" imgW="723586" imgH="444307" progId="Equation.DSMT4">
                  <p:embed/>
                </p:oleObj>
              </mc:Choice>
              <mc:Fallback>
                <p:oleObj name="Equation" r:id="rId4" imgW="723586" imgH="444307" progId="Equation.DSMT4">
                  <p:embed/>
                  <p:pic>
                    <p:nvPicPr>
                      <p:cNvPr id="0" name="Picture 3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10243" y="1795616"/>
                        <a:ext cx="1619257" cy="78497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Object 4"/>
          <p:cNvGraphicFramePr>
            <a:graphicFrameLocks noChangeAspect="1"/>
          </p:cNvGraphicFramePr>
          <p:nvPr>
            <p:extLst>
              <p:ext uri="{D42A27DB-BD31-4B8C-83A1-F6EECF244321}">
                <p14:modId xmlns:p14="http://schemas.microsoft.com/office/powerpoint/2010/main" val="1136066218"/>
              </p:ext>
            </p:extLst>
          </p:nvPr>
        </p:nvGraphicFramePr>
        <p:xfrm>
          <a:off x="6196259" y="1795616"/>
          <a:ext cx="1811335" cy="807628"/>
        </p:xfrm>
        <a:graphic>
          <a:graphicData uri="http://schemas.openxmlformats.org/presentationml/2006/ole">
            <mc:AlternateContent xmlns:mc="http://schemas.openxmlformats.org/markup-compatibility/2006">
              <mc:Choice xmlns:v="urn:schemas-microsoft-com:vml" Requires="v">
                <p:oleObj name="Equation" r:id="rId6" imgW="787058" imgH="444307" progId="Equation.DSMT4">
                  <p:embed/>
                </p:oleObj>
              </mc:Choice>
              <mc:Fallback>
                <p:oleObj name="Equation" r:id="rId6" imgW="787058" imgH="444307" progId="Equation.DSMT4">
                  <p:embed/>
                  <p:pic>
                    <p:nvPicPr>
                      <p:cNvPr id="0" name="Picture 4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96259" y="1795616"/>
                        <a:ext cx="1811335" cy="80762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右大括号 5"/>
          <p:cNvSpPr/>
          <p:nvPr/>
        </p:nvSpPr>
        <p:spPr>
          <a:xfrm rot="5400000">
            <a:off x="4481747" y="1081236"/>
            <a:ext cx="714380" cy="3714776"/>
          </a:xfrm>
          <a:prstGeom prst="rightBrace">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rgbClr val="0000FF"/>
              </a:solidFill>
            </a:endParaRPr>
          </a:p>
        </p:txBody>
      </p:sp>
      <p:graphicFrame>
        <p:nvGraphicFramePr>
          <p:cNvPr id="7" name="Object 5"/>
          <p:cNvGraphicFramePr>
            <a:graphicFrameLocks noChangeAspect="1"/>
          </p:cNvGraphicFramePr>
          <p:nvPr>
            <p:extLst>
              <p:ext uri="{D42A27DB-BD31-4B8C-83A1-F6EECF244321}">
                <p14:modId xmlns:p14="http://schemas.microsoft.com/office/powerpoint/2010/main" val="2320875667"/>
              </p:ext>
            </p:extLst>
          </p:nvPr>
        </p:nvGraphicFramePr>
        <p:xfrm>
          <a:off x="4124557" y="3438690"/>
          <a:ext cx="1533524" cy="717387"/>
        </p:xfrm>
        <a:graphic>
          <a:graphicData uri="http://schemas.openxmlformats.org/presentationml/2006/ole">
            <mc:AlternateContent xmlns:mc="http://schemas.openxmlformats.org/markup-compatibility/2006">
              <mc:Choice xmlns:v="urn:schemas-microsoft-com:vml" Requires="v">
                <p:oleObj name="Equation" r:id="rId8" imgW="748975" imgH="444307" progId="Equation.DSMT4">
                  <p:embed/>
                </p:oleObj>
              </mc:Choice>
              <mc:Fallback>
                <p:oleObj name="Equation" r:id="rId8" imgW="748975" imgH="444307" progId="Equation.DSMT4">
                  <p:embed/>
                  <p:pic>
                    <p:nvPicPr>
                      <p:cNvPr id="0" name="Picture 4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124557" y="3438690"/>
                        <a:ext cx="1533524" cy="7173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Text Box 6"/>
          <p:cNvSpPr txBox="1">
            <a:spLocks noChangeArrowheads="1"/>
          </p:cNvSpPr>
          <p:nvPr/>
        </p:nvSpPr>
        <p:spPr bwMode="auto">
          <a:xfrm>
            <a:off x="395536" y="4224508"/>
            <a:ext cx="8443929" cy="369332"/>
          </a:xfrm>
          <a:prstGeom prst="rect">
            <a:avLst/>
          </a:prstGeom>
          <a:noFill/>
          <a:ln w="19050">
            <a:solidFill>
              <a:srgbClr val="FF0000"/>
            </a:solidFill>
            <a:miter lim="800000"/>
            <a:headEnd/>
            <a:tailEnd/>
          </a:ln>
          <a:effectLst/>
        </p:spPr>
        <p:txBody>
          <a:bodyPr wrap="square">
            <a:spAutoFit/>
          </a:bodyPr>
          <a:lstStyle/>
          <a:p>
            <a:pPr eaLnBrk="1" hangingPunct="1"/>
            <a:r>
              <a:rPr lang="en-US" altLang="zh-CN" dirty="0">
                <a:solidFill>
                  <a:srgbClr val="0000FF"/>
                </a:solidFill>
                <a:latin typeface="黑体" pitchFamily="49" charset="-122"/>
                <a:ea typeface="黑体" pitchFamily="49" charset="-122"/>
              </a:rPr>
              <a:t>F</a:t>
            </a:r>
            <a:r>
              <a:rPr lang="zh-CN" altLang="en-US" dirty="0">
                <a:solidFill>
                  <a:srgbClr val="0000FF"/>
                </a:solidFill>
                <a:latin typeface="黑体" pitchFamily="49" charset="-122"/>
                <a:ea typeface="黑体" pitchFamily="49" charset="-122"/>
              </a:rPr>
              <a:t>称为广义力，可以代表集中力，集中力偶，分布力，一对集中力或一对集中力偶</a:t>
            </a:r>
          </a:p>
        </p:txBody>
      </p:sp>
      <p:sp>
        <p:nvSpPr>
          <p:cNvPr id="9" name="Text Box 6"/>
          <p:cNvSpPr txBox="1">
            <a:spLocks noChangeArrowheads="1"/>
          </p:cNvSpPr>
          <p:nvPr/>
        </p:nvSpPr>
        <p:spPr bwMode="auto">
          <a:xfrm>
            <a:off x="364911" y="4798893"/>
            <a:ext cx="8474554" cy="646331"/>
          </a:xfrm>
          <a:prstGeom prst="rect">
            <a:avLst/>
          </a:prstGeom>
          <a:noFill/>
          <a:ln w="19050">
            <a:solidFill>
              <a:srgbClr val="FF0000"/>
            </a:solidFill>
            <a:miter lim="800000"/>
            <a:headEnd/>
            <a:tailEnd/>
          </a:ln>
          <a:effectLst/>
        </p:spPr>
        <p:txBody>
          <a:bodyPr wrap="square">
            <a:spAutoFit/>
          </a:bodyPr>
          <a:lstStyle/>
          <a:p>
            <a:pPr eaLnBrk="1" hangingPunct="1"/>
            <a:r>
              <a:rPr lang="en-US" altLang="zh-CN" dirty="0">
                <a:solidFill>
                  <a:srgbClr val="0000FF"/>
                </a:solidFill>
                <a:latin typeface="黑体" pitchFamily="49" charset="-122"/>
                <a:ea typeface="黑体" pitchFamily="49" charset="-122"/>
              </a:rPr>
              <a:t>△</a:t>
            </a:r>
            <a:r>
              <a:rPr lang="zh-CN" altLang="en-US" dirty="0">
                <a:solidFill>
                  <a:srgbClr val="0000FF"/>
                </a:solidFill>
                <a:latin typeface="黑体" pitchFamily="49" charset="-122"/>
                <a:ea typeface="黑体" pitchFamily="49" charset="-122"/>
              </a:rPr>
              <a:t>称为广义位移，可以代表线位移，角位移，两点之间的相对线位移或两个截面的      相对角位移</a:t>
            </a:r>
          </a:p>
        </p:txBody>
      </p:sp>
    </p:spTree>
    <p:extLst>
      <p:ext uri="{BB962C8B-B14F-4D97-AF65-F5344CB8AC3E}">
        <p14:creationId xmlns:p14="http://schemas.microsoft.com/office/powerpoint/2010/main" val="2539418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linds(horizontal)">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blinds(horizontal)">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blinds(horizontal)">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blinds(horizontal)">
                                      <p:cBhvr>
                                        <p:cTn id="37" dur="50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blinds(horizontal)">
                                      <p:cBhvr>
                                        <p:cTn id="4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8" grpId="0" animBg="1"/>
      <p:bldP spid="9"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对象 5"/>
          <p:cNvGraphicFramePr>
            <a:graphicFrameLocks noChangeAspect="1"/>
          </p:cNvGraphicFramePr>
          <p:nvPr>
            <p:extLst>
              <p:ext uri="{D42A27DB-BD31-4B8C-83A1-F6EECF244321}">
                <p14:modId xmlns:p14="http://schemas.microsoft.com/office/powerpoint/2010/main" val="652449766"/>
              </p:ext>
            </p:extLst>
          </p:nvPr>
        </p:nvGraphicFramePr>
        <p:xfrm>
          <a:off x="3563888" y="528511"/>
          <a:ext cx="1558156" cy="835025"/>
        </p:xfrm>
        <a:graphic>
          <a:graphicData uri="http://schemas.openxmlformats.org/presentationml/2006/ole">
            <mc:AlternateContent xmlns:mc="http://schemas.openxmlformats.org/markup-compatibility/2006">
              <mc:Choice xmlns:v="urn:schemas-microsoft-com:vml" Requires="v">
                <p:oleObj name="Equation" r:id="rId2" imgW="647419" imgH="495085" progId="Equation.DSMT4">
                  <p:embed/>
                </p:oleObj>
              </mc:Choice>
              <mc:Fallback>
                <p:oleObj name="Equation" r:id="rId2" imgW="647419" imgH="495085" progId="Equation.DSMT4">
                  <p:embed/>
                  <p:pic>
                    <p:nvPicPr>
                      <p:cNvPr id="0" name="Picture 6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63888" y="528511"/>
                        <a:ext cx="1558156" cy="835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2411625545"/>
              </p:ext>
            </p:extLst>
          </p:nvPr>
        </p:nvGraphicFramePr>
        <p:xfrm>
          <a:off x="3635896" y="1844824"/>
          <a:ext cx="1618840" cy="835025"/>
        </p:xfrm>
        <a:graphic>
          <a:graphicData uri="http://schemas.openxmlformats.org/presentationml/2006/ole">
            <mc:AlternateContent xmlns:mc="http://schemas.openxmlformats.org/markup-compatibility/2006">
              <mc:Choice xmlns:v="urn:schemas-microsoft-com:vml" Requires="v">
                <p:oleObj name="Equation" r:id="rId4" imgW="672808" imgH="495085" progId="Equation.DSMT4">
                  <p:embed/>
                </p:oleObj>
              </mc:Choice>
              <mc:Fallback>
                <p:oleObj name="Equation" r:id="rId4" imgW="672808" imgH="495085" progId="Equation.DSMT4">
                  <p:embed/>
                  <p:pic>
                    <p:nvPicPr>
                      <p:cNvPr id="0" name="Picture 6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35896" y="1844824"/>
                        <a:ext cx="1618840" cy="835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Text Box 6"/>
          <p:cNvSpPr txBox="1">
            <a:spLocks noChangeArrowheads="1"/>
          </p:cNvSpPr>
          <p:nvPr/>
        </p:nvSpPr>
        <p:spPr bwMode="auto">
          <a:xfrm>
            <a:off x="828790" y="548680"/>
            <a:ext cx="2159034" cy="461665"/>
          </a:xfrm>
          <a:prstGeom prst="rect">
            <a:avLst/>
          </a:prstGeom>
          <a:noFill/>
          <a:ln w="19050">
            <a:solidFill>
              <a:srgbClr val="FF0000"/>
            </a:solidFill>
            <a:miter lim="800000"/>
            <a:headEnd/>
            <a:tailEnd/>
          </a:ln>
          <a:effectLst/>
        </p:spPr>
        <p:txBody>
          <a:bodyPr wrap="square">
            <a:spAutoFit/>
          </a:bodyPr>
          <a:lstStyle/>
          <a:p>
            <a:r>
              <a:rPr lang="zh-CN" altLang="en-US" sz="2400" dirty="0">
                <a:solidFill>
                  <a:srgbClr val="0000FF"/>
                </a:solidFill>
                <a:latin typeface="黑体" pitchFamily="49" charset="-122"/>
                <a:ea typeface="黑体" pitchFamily="49" charset="-122"/>
              </a:rPr>
              <a:t>卡氏第一定理</a:t>
            </a:r>
          </a:p>
        </p:txBody>
      </p:sp>
      <p:sp>
        <p:nvSpPr>
          <p:cNvPr id="13" name="Text Box 6"/>
          <p:cNvSpPr txBox="1">
            <a:spLocks noChangeArrowheads="1"/>
          </p:cNvSpPr>
          <p:nvPr/>
        </p:nvSpPr>
        <p:spPr bwMode="auto">
          <a:xfrm>
            <a:off x="866540" y="1844824"/>
            <a:ext cx="2121284" cy="830997"/>
          </a:xfrm>
          <a:prstGeom prst="rect">
            <a:avLst/>
          </a:prstGeom>
          <a:noFill/>
          <a:ln w="19050">
            <a:solidFill>
              <a:srgbClr val="FF0000"/>
            </a:solidFill>
            <a:miter lim="800000"/>
            <a:headEnd/>
            <a:tailEnd/>
          </a:ln>
          <a:effectLst/>
        </p:spPr>
        <p:txBody>
          <a:bodyPr wrap="square">
            <a:spAutoFit/>
          </a:bodyPr>
          <a:lstStyle/>
          <a:p>
            <a:r>
              <a:rPr lang="zh-CN" altLang="en-US" sz="2400" dirty="0">
                <a:solidFill>
                  <a:srgbClr val="0000FF"/>
                </a:solidFill>
                <a:latin typeface="黑体" pitchFamily="49" charset="-122"/>
                <a:ea typeface="黑体" pitchFamily="49" charset="-122"/>
              </a:rPr>
              <a:t>卡氏第二定理</a:t>
            </a:r>
            <a:endParaRPr lang="en-US" altLang="zh-CN" sz="2400" dirty="0">
              <a:solidFill>
                <a:srgbClr val="0000FF"/>
              </a:solidFill>
              <a:latin typeface="黑体" pitchFamily="49" charset="-122"/>
              <a:ea typeface="黑体" pitchFamily="49" charset="-122"/>
            </a:endParaRPr>
          </a:p>
          <a:p>
            <a:r>
              <a:rPr lang="zh-CN" altLang="en-US" sz="2400" dirty="0">
                <a:solidFill>
                  <a:srgbClr val="0000FF"/>
                </a:solidFill>
                <a:latin typeface="黑体" pitchFamily="49" charset="-122"/>
                <a:ea typeface="黑体" pitchFamily="49" charset="-122"/>
              </a:rPr>
              <a:t>（余能定理）</a:t>
            </a:r>
          </a:p>
        </p:txBody>
      </p:sp>
      <p:sp>
        <p:nvSpPr>
          <p:cNvPr id="14" name="Text Box 6"/>
          <p:cNvSpPr txBox="1">
            <a:spLocks noChangeArrowheads="1"/>
          </p:cNvSpPr>
          <p:nvPr/>
        </p:nvSpPr>
        <p:spPr bwMode="auto">
          <a:xfrm>
            <a:off x="866540" y="3068960"/>
            <a:ext cx="3705460" cy="461665"/>
          </a:xfrm>
          <a:prstGeom prst="rect">
            <a:avLst/>
          </a:prstGeom>
          <a:noFill/>
          <a:ln w="19050">
            <a:solidFill>
              <a:srgbClr val="FF0000"/>
            </a:solidFill>
            <a:miter lim="800000"/>
            <a:headEnd/>
            <a:tailEnd/>
          </a:ln>
          <a:effectLst/>
        </p:spPr>
        <p:txBody>
          <a:bodyPr wrap="square">
            <a:spAutoFit/>
          </a:bodyPr>
          <a:lstStyle/>
          <a:p>
            <a:r>
              <a:rPr lang="zh-CN" altLang="en-US" sz="2400" dirty="0">
                <a:solidFill>
                  <a:srgbClr val="0000FF"/>
                </a:solidFill>
                <a:latin typeface="黑体" pitchFamily="49" charset="-122"/>
                <a:ea typeface="黑体" pitchFamily="49" charset="-122"/>
              </a:rPr>
              <a:t>基本变形的卡式定理应用</a:t>
            </a:r>
          </a:p>
        </p:txBody>
      </p:sp>
      <p:grpSp>
        <p:nvGrpSpPr>
          <p:cNvPr id="19" name="组合 18"/>
          <p:cNvGrpSpPr/>
          <p:nvPr/>
        </p:nvGrpSpPr>
        <p:grpSpPr>
          <a:xfrm>
            <a:off x="1908307" y="4149080"/>
            <a:ext cx="5137448" cy="1944216"/>
            <a:chOff x="611560" y="4005064"/>
            <a:chExt cx="5137448" cy="1944216"/>
          </a:xfrm>
        </p:grpSpPr>
        <p:graphicFrame>
          <p:nvGraphicFramePr>
            <p:cNvPr id="15" name="对象 14"/>
            <p:cNvGraphicFramePr>
              <a:graphicFrameLocks noChangeAspect="1"/>
            </p:cNvGraphicFramePr>
            <p:nvPr>
              <p:extLst>
                <p:ext uri="{D42A27DB-BD31-4B8C-83A1-F6EECF244321}">
                  <p14:modId xmlns:p14="http://schemas.microsoft.com/office/powerpoint/2010/main" val="3562557388"/>
                </p:ext>
              </p:extLst>
            </p:nvPr>
          </p:nvGraphicFramePr>
          <p:xfrm>
            <a:off x="2051720" y="4005064"/>
            <a:ext cx="3697288" cy="838200"/>
          </p:xfrm>
          <a:graphic>
            <a:graphicData uri="http://schemas.openxmlformats.org/presentationml/2006/ole">
              <mc:AlternateContent xmlns:mc="http://schemas.openxmlformats.org/markup-compatibility/2006">
                <mc:Choice xmlns:v="urn:schemas-microsoft-com:vml" Requires="v">
                  <p:oleObj name="Equation" r:id="rId6" imgW="1726451" imgH="495085" progId="Equation.DSMT4">
                    <p:embed/>
                  </p:oleObj>
                </mc:Choice>
                <mc:Fallback>
                  <p:oleObj name="Equation" r:id="rId6" imgW="1726451" imgH="495085" progId="Equation.DSMT4">
                    <p:embed/>
                    <p:pic>
                      <p:nvPicPr>
                        <p:cNvPr id="0" name="Picture 6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51720" y="4005064"/>
                          <a:ext cx="3697288" cy="838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 name="对象 15"/>
            <p:cNvGraphicFramePr>
              <a:graphicFrameLocks noChangeAspect="1"/>
            </p:cNvGraphicFramePr>
            <p:nvPr>
              <p:extLst>
                <p:ext uri="{D42A27DB-BD31-4B8C-83A1-F6EECF244321}">
                  <p14:modId xmlns:p14="http://schemas.microsoft.com/office/powerpoint/2010/main" val="2530318950"/>
                </p:ext>
              </p:extLst>
            </p:nvPr>
          </p:nvGraphicFramePr>
          <p:xfrm>
            <a:off x="611560" y="4005064"/>
            <a:ext cx="1439862" cy="835025"/>
          </p:xfrm>
          <a:graphic>
            <a:graphicData uri="http://schemas.openxmlformats.org/presentationml/2006/ole">
              <mc:AlternateContent xmlns:mc="http://schemas.openxmlformats.org/markup-compatibility/2006">
                <mc:Choice xmlns:v="urn:schemas-microsoft-com:vml" Requires="v">
                  <p:oleObj name="Equation" r:id="rId8" imgW="672808" imgH="495085" progId="Equation.DSMT4">
                    <p:embed/>
                  </p:oleObj>
                </mc:Choice>
                <mc:Fallback>
                  <p:oleObj name="Equation" r:id="rId8" imgW="672808" imgH="495085" progId="Equation.DSMT4">
                    <p:embed/>
                    <p:pic>
                      <p:nvPicPr>
                        <p:cNvPr id="0" name="Picture 6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11560" y="4005064"/>
                          <a:ext cx="1439862" cy="835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 name="对象 16"/>
            <p:cNvGraphicFramePr>
              <a:graphicFrameLocks noChangeAspect="1"/>
            </p:cNvGraphicFramePr>
            <p:nvPr>
              <p:extLst>
                <p:ext uri="{D42A27DB-BD31-4B8C-83A1-F6EECF244321}">
                  <p14:modId xmlns:p14="http://schemas.microsoft.com/office/powerpoint/2010/main" val="4083596680"/>
                </p:ext>
              </p:extLst>
            </p:nvPr>
          </p:nvGraphicFramePr>
          <p:xfrm>
            <a:off x="683568" y="5085184"/>
            <a:ext cx="1385887" cy="835025"/>
          </p:xfrm>
          <a:graphic>
            <a:graphicData uri="http://schemas.openxmlformats.org/presentationml/2006/ole">
              <mc:AlternateContent xmlns:mc="http://schemas.openxmlformats.org/markup-compatibility/2006">
                <mc:Choice xmlns:v="urn:schemas-microsoft-com:vml" Requires="v">
                  <p:oleObj name="Equation" r:id="rId10" imgW="647419" imgH="495085" progId="Equation.DSMT4">
                    <p:embed/>
                  </p:oleObj>
                </mc:Choice>
                <mc:Fallback>
                  <p:oleObj name="Equation" r:id="rId10" imgW="647419" imgH="495085" progId="Equation.DSMT4">
                    <p:embed/>
                    <p:pic>
                      <p:nvPicPr>
                        <p:cNvPr id="0" name="Picture 6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83568" y="5085184"/>
                          <a:ext cx="1385887" cy="835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 name="对象 17"/>
            <p:cNvGraphicFramePr>
              <a:graphicFrameLocks noChangeAspect="1"/>
            </p:cNvGraphicFramePr>
            <p:nvPr>
              <p:extLst>
                <p:ext uri="{D42A27DB-BD31-4B8C-83A1-F6EECF244321}">
                  <p14:modId xmlns:p14="http://schemas.microsoft.com/office/powerpoint/2010/main" val="3108040003"/>
                </p:ext>
              </p:extLst>
            </p:nvPr>
          </p:nvGraphicFramePr>
          <p:xfrm>
            <a:off x="2051720" y="5111080"/>
            <a:ext cx="3697287" cy="838200"/>
          </p:xfrm>
          <a:graphic>
            <a:graphicData uri="http://schemas.openxmlformats.org/presentationml/2006/ole">
              <mc:AlternateContent xmlns:mc="http://schemas.openxmlformats.org/markup-compatibility/2006">
                <mc:Choice xmlns:v="urn:schemas-microsoft-com:vml" Requires="v">
                  <p:oleObj name="Equation" r:id="rId12" imgW="1726451" imgH="495085" progId="Equation.DSMT4">
                    <p:embed/>
                  </p:oleObj>
                </mc:Choice>
                <mc:Fallback>
                  <p:oleObj name="Equation" r:id="rId12" imgW="1726451" imgH="495085" progId="Equation.DSMT4">
                    <p:embed/>
                    <p:pic>
                      <p:nvPicPr>
                        <p:cNvPr id="0" name="Picture 6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051720" y="5111080"/>
                          <a:ext cx="3697287" cy="838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3523660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linds(horizontal)">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blinds(horizontal)">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linds(horizontal)">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blinds(horizontal)">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2051720" y="620688"/>
            <a:ext cx="4847952" cy="1990328"/>
            <a:chOff x="2051720" y="620688"/>
            <a:chExt cx="4847952" cy="1990328"/>
          </a:xfrm>
        </p:grpSpPr>
        <p:grpSp>
          <p:nvGrpSpPr>
            <p:cNvPr id="7" name="组合 6"/>
            <p:cNvGrpSpPr/>
            <p:nvPr/>
          </p:nvGrpSpPr>
          <p:grpSpPr>
            <a:xfrm>
              <a:off x="2051720" y="620688"/>
              <a:ext cx="4847952" cy="838200"/>
              <a:chOff x="683568" y="476672"/>
              <a:chExt cx="4847952" cy="838200"/>
            </a:xfrm>
          </p:grpSpPr>
          <p:graphicFrame>
            <p:nvGraphicFramePr>
              <p:cNvPr id="2" name="对象 1"/>
              <p:cNvGraphicFramePr>
                <a:graphicFrameLocks noChangeAspect="1"/>
              </p:cNvGraphicFramePr>
              <p:nvPr>
                <p:extLst>
                  <p:ext uri="{D42A27DB-BD31-4B8C-83A1-F6EECF244321}">
                    <p14:modId xmlns:p14="http://schemas.microsoft.com/office/powerpoint/2010/main" val="3712935788"/>
                  </p:ext>
                </p:extLst>
              </p:nvPr>
            </p:nvGraphicFramePr>
            <p:xfrm>
              <a:off x="683568" y="476672"/>
              <a:ext cx="1439862" cy="835025"/>
            </p:xfrm>
            <a:graphic>
              <a:graphicData uri="http://schemas.openxmlformats.org/presentationml/2006/ole">
                <mc:AlternateContent xmlns:mc="http://schemas.openxmlformats.org/markup-compatibility/2006">
                  <mc:Choice xmlns:v="urn:schemas-microsoft-com:vml" Requires="v">
                    <p:oleObj name="Equation" r:id="rId2" imgW="672808" imgH="495085" progId="Equation.DSMT4">
                      <p:embed/>
                    </p:oleObj>
                  </mc:Choice>
                  <mc:Fallback>
                    <p:oleObj name="Equation" r:id="rId2" imgW="672808" imgH="495085" progId="Equation.DSMT4">
                      <p:embed/>
                      <p:pic>
                        <p:nvPicPr>
                          <p:cNvPr id="0" name="Picture 8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568" y="476672"/>
                            <a:ext cx="1439862" cy="835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1297325953"/>
                  </p:ext>
                </p:extLst>
              </p:nvPr>
            </p:nvGraphicFramePr>
            <p:xfrm>
              <a:off x="2051720" y="476672"/>
              <a:ext cx="3479800" cy="838200"/>
            </p:xfrm>
            <a:graphic>
              <a:graphicData uri="http://schemas.openxmlformats.org/presentationml/2006/ole">
                <mc:AlternateContent xmlns:mc="http://schemas.openxmlformats.org/markup-compatibility/2006">
                  <mc:Choice xmlns:v="urn:schemas-microsoft-com:vml" Requires="v">
                    <p:oleObj name="Equation" r:id="rId4" imgW="1624895" imgH="495085" progId="Equation.DSMT4">
                      <p:embed/>
                    </p:oleObj>
                  </mc:Choice>
                  <mc:Fallback>
                    <p:oleObj name="Equation" r:id="rId4" imgW="1624895" imgH="495085" progId="Equation.DSMT4">
                      <p:embed/>
                      <p:pic>
                        <p:nvPicPr>
                          <p:cNvPr id="0" name="Picture 8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1720" y="476672"/>
                            <a:ext cx="3479800" cy="838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6" name="组合 5"/>
            <p:cNvGrpSpPr/>
            <p:nvPr/>
          </p:nvGrpSpPr>
          <p:grpSpPr>
            <a:xfrm>
              <a:off x="2051720" y="1772816"/>
              <a:ext cx="4846935" cy="838200"/>
              <a:chOff x="756593" y="2204864"/>
              <a:chExt cx="4846935" cy="838200"/>
            </a:xfrm>
          </p:grpSpPr>
          <p:graphicFrame>
            <p:nvGraphicFramePr>
              <p:cNvPr id="4" name="对象 3"/>
              <p:cNvGraphicFramePr>
                <a:graphicFrameLocks noChangeAspect="1"/>
              </p:cNvGraphicFramePr>
              <p:nvPr>
                <p:extLst>
                  <p:ext uri="{D42A27DB-BD31-4B8C-83A1-F6EECF244321}">
                    <p14:modId xmlns:p14="http://schemas.microsoft.com/office/powerpoint/2010/main" val="86957513"/>
                  </p:ext>
                </p:extLst>
              </p:nvPr>
            </p:nvGraphicFramePr>
            <p:xfrm>
              <a:off x="756593" y="2205460"/>
              <a:ext cx="1385887" cy="835025"/>
            </p:xfrm>
            <a:graphic>
              <a:graphicData uri="http://schemas.openxmlformats.org/presentationml/2006/ole">
                <mc:AlternateContent xmlns:mc="http://schemas.openxmlformats.org/markup-compatibility/2006">
                  <mc:Choice xmlns:v="urn:schemas-microsoft-com:vml" Requires="v">
                    <p:oleObj name="Equation" r:id="rId6" imgW="647419" imgH="495085" progId="Equation.DSMT4">
                      <p:embed/>
                    </p:oleObj>
                  </mc:Choice>
                  <mc:Fallback>
                    <p:oleObj name="Equation" r:id="rId6" imgW="647419" imgH="495085" progId="Equation.DSMT4">
                      <p:embed/>
                      <p:pic>
                        <p:nvPicPr>
                          <p:cNvPr id="0" name="Picture 8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6593" y="2205460"/>
                            <a:ext cx="1385887" cy="835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1469132969"/>
                  </p:ext>
                </p:extLst>
              </p:nvPr>
            </p:nvGraphicFramePr>
            <p:xfrm>
              <a:off x="2123728" y="2204864"/>
              <a:ext cx="3479800" cy="838200"/>
            </p:xfrm>
            <a:graphic>
              <a:graphicData uri="http://schemas.openxmlformats.org/presentationml/2006/ole">
                <mc:AlternateContent xmlns:mc="http://schemas.openxmlformats.org/markup-compatibility/2006">
                  <mc:Choice xmlns:v="urn:schemas-microsoft-com:vml" Requires="v">
                    <p:oleObj name="Equation" r:id="rId8" imgW="1624895" imgH="495085" progId="Equation.DSMT4">
                      <p:embed/>
                    </p:oleObj>
                  </mc:Choice>
                  <mc:Fallback>
                    <p:oleObj name="Equation" r:id="rId8" imgW="1624895" imgH="495085" progId="Equation.DSMT4">
                      <p:embed/>
                      <p:pic>
                        <p:nvPicPr>
                          <p:cNvPr id="0" name="Picture 8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23728" y="2204864"/>
                            <a:ext cx="3479800" cy="838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grpSp>
        <p:nvGrpSpPr>
          <p:cNvPr id="15" name="组合 14"/>
          <p:cNvGrpSpPr/>
          <p:nvPr/>
        </p:nvGrpSpPr>
        <p:grpSpPr>
          <a:xfrm>
            <a:off x="2091358" y="3356992"/>
            <a:ext cx="4962872" cy="1846312"/>
            <a:chOff x="2091358" y="3356992"/>
            <a:chExt cx="4962872" cy="1846312"/>
          </a:xfrm>
        </p:grpSpPr>
        <p:grpSp>
          <p:nvGrpSpPr>
            <p:cNvPr id="14" name="组合 13"/>
            <p:cNvGrpSpPr/>
            <p:nvPr/>
          </p:nvGrpSpPr>
          <p:grpSpPr>
            <a:xfrm>
              <a:off x="2091358" y="3356992"/>
              <a:ext cx="4928914" cy="838200"/>
              <a:chOff x="1979712" y="3140968"/>
              <a:chExt cx="4928914" cy="838200"/>
            </a:xfrm>
          </p:grpSpPr>
          <p:graphicFrame>
            <p:nvGraphicFramePr>
              <p:cNvPr id="9" name="对象 8"/>
              <p:cNvGraphicFramePr>
                <a:graphicFrameLocks noChangeAspect="1"/>
              </p:cNvGraphicFramePr>
              <p:nvPr>
                <p:extLst>
                  <p:ext uri="{D42A27DB-BD31-4B8C-83A1-F6EECF244321}">
                    <p14:modId xmlns:p14="http://schemas.microsoft.com/office/powerpoint/2010/main" val="512807135"/>
                  </p:ext>
                </p:extLst>
              </p:nvPr>
            </p:nvGraphicFramePr>
            <p:xfrm>
              <a:off x="1979712" y="3140968"/>
              <a:ext cx="1439862" cy="835025"/>
            </p:xfrm>
            <a:graphic>
              <a:graphicData uri="http://schemas.openxmlformats.org/presentationml/2006/ole">
                <mc:AlternateContent xmlns:mc="http://schemas.openxmlformats.org/markup-compatibility/2006">
                  <mc:Choice xmlns:v="urn:schemas-microsoft-com:vml" Requires="v">
                    <p:oleObj name="Equation" r:id="rId10" imgW="672808" imgH="495085" progId="Equation.DSMT4">
                      <p:embed/>
                    </p:oleObj>
                  </mc:Choice>
                  <mc:Fallback>
                    <p:oleObj name="Equation" r:id="rId10" imgW="672808" imgH="495085" progId="Equation.DSMT4">
                      <p:embed/>
                      <p:pic>
                        <p:nvPicPr>
                          <p:cNvPr id="0" name="Picture 8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712" y="3140968"/>
                            <a:ext cx="1439862" cy="835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2930842755"/>
                  </p:ext>
                </p:extLst>
              </p:nvPr>
            </p:nvGraphicFramePr>
            <p:xfrm>
              <a:off x="3347864" y="3140968"/>
              <a:ext cx="3560762" cy="838200"/>
            </p:xfrm>
            <a:graphic>
              <a:graphicData uri="http://schemas.openxmlformats.org/presentationml/2006/ole">
                <mc:AlternateContent xmlns:mc="http://schemas.openxmlformats.org/markup-compatibility/2006">
                  <mc:Choice xmlns:v="urn:schemas-microsoft-com:vml" Requires="v">
                    <p:oleObj name="Equation" r:id="rId11" imgW="1663700" imgH="495300" progId="Equation.DSMT4">
                      <p:embed/>
                    </p:oleObj>
                  </mc:Choice>
                  <mc:Fallback>
                    <p:oleObj name="Equation" r:id="rId11" imgW="1663700" imgH="495300" progId="Equation.DSMT4">
                      <p:embed/>
                      <p:pic>
                        <p:nvPicPr>
                          <p:cNvPr id="0" name="Picture 8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347864" y="3140968"/>
                            <a:ext cx="3560762" cy="838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3" name="组合 12"/>
            <p:cNvGrpSpPr/>
            <p:nvPr/>
          </p:nvGrpSpPr>
          <p:grpSpPr>
            <a:xfrm>
              <a:off x="2195736" y="4365104"/>
              <a:ext cx="4858494" cy="838200"/>
              <a:chOff x="1907704" y="4437112"/>
              <a:chExt cx="4858494" cy="838200"/>
            </a:xfrm>
          </p:grpSpPr>
          <p:graphicFrame>
            <p:nvGraphicFramePr>
              <p:cNvPr id="11" name="对象 10"/>
              <p:cNvGraphicFramePr>
                <a:graphicFrameLocks noChangeAspect="1"/>
              </p:cNvGraphicFramePr>
              <p:nvPr>
                <p:extLst>
                  <p:ext uri="{D42A27DB-BD31-4B8C-83A1-F6EECF244321}">
                    <p14:modId xmlns:p14="http://schemas.microsoft.com/office/powerpoint/2010/main" val="908361607"/>
                  </p:ext>
                </p:extLst>
              </p:nvPr>
            </p:nvGraphicFramePr>
            <p:xfrm>
              <a:off x="1907704" y="4437112"/>
              <a:ext cx="1385887" cy="835025"/>
            </p:xfrm>
            <a:graphic>
              <a:graphicData uri="http://schemas.openxmlformats.org/presentationml/2006/ole">
                <mc:AlternateContent xmlns:mc="http://schemas.openxmlformats.org/markup-compatibility/2006">
                  <mc:Choice xmlns:v="urn:schemas-microsoft-com:vml" Requires="v">
                    <p:oleObj name="Equation" r:id="rId13" imgW="647419" imgH="495085" progId="Equation.DSMT4">
                      <p:embed/>
                    </p:oleObj>
                  </mc:Choice>
                  <mc:Fallback>
                    <p:oleObj name="Equation" r:id="rId13" imgW="647419" imgH="495085" progId="Equation.DSMT4">
                      <p:embed/>
                      <p:pic>
                        <p:nvPicPr>
                          <p:cNvPr id="0" name="Picture 8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07704" y="4437112"/>
                            <a:ext cx="1385887" cy="835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3598447526"/>
                  </p:ext>
                </p:extLst>
              </p:nvPr>
            </p:nvGraphicFramePr>
            <p:xfrm>
              <a:off x="3203848" y="4437112"/>
              <a:ext cx="3562350" cy="838200"/>
            </p:xfrm>
            <a:graphic>
              <a:graphicData uri="http://schemas.openxmlformats.org/presentationml/2006/ole">
                <mc:AlternateContent xmlns:mc="http://schemas.openxmlformats.org/markup-compatibility/2006">
                  <mc:Choice xmlns:v="urn:schemas-microsoft-com:vml" Requires="v">
                    <p:oleObj name="Equation" r:id="rId14" imgW="1663700" imgH="495300" progId="Equation.DSMT4">
                      <p:embed/>
                    </p:oleObj>
                  </mc:Choice>
                  <mc:Fallback>
                    <p:oleObj name="Equation" r:id="rId14" imgW="1663700" imgH="495300" progId="Equation.DSMT4">
                      <p:embed/>
                      <p:pic>
                        <p:nvPicPr>
                          <p:cNvPr id="0" name="Picture 8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203848" y="4437112"/>
                            <a:ext cx="3562350" cy="838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spTree>
    <p:extLst>
      <p:ext uri="{BB962C8B-B14F-4D97-AF65-F5344CB8AC3E}">
        <p14:creationId xmlns:p14="http://schemas.microsoft.com/office/powerpoint/2010/main" val="2811550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6"/>
          <p:cNvSpPr txBox="1">
            <a:spLocks noChangeArrowheads="1"/>
          </p:cNvSpPr>
          <p:nvPr/>
        </p:nvSpPr>
        <p:spPr bwMode="auto">
          <a:xfrm>
            <a:off x="1043608" y="1340768"/>
            <a:ext cx="5184576" cy="461665"/>
          </a:xfrm>
          <a:prstGeom prst="rect">
            <a:avLst/>
          </a:prstGeom>
          <a:noFill/>
          <a:ln w="19050">
            <a:solidFill>
              <a:srgbClr val="FF0000"/>
            </a:solidFill>
            <a:miter lim="800000"/>
            <a:headEnd/>
            <a:tailEnd/>
          </a:ln>
          <a:effectLst/>
        </p:spPr>
        <p:txBody>
          <a:bodyPr wrap="square">
            <a:spAutoFit/>
          </a:bodyPr>
          <a:lstStyle/>
          <a:p>
            <a:r>
              <a:rPr lang="zh-CN" altLang="en-US" sz="2400" dirty="0">
                <a:solidFill>
                  <a:srgbClr val="0000FF"/>
                </a:solidFill>
                <a:latin typeface="黑体" pitchFamily="49" charset="-122"/>
                <a:ea typeface="黑体" pitchFamily="49" charset="-122"/>
              </a:rPr>
              <a:t>用卡氏定理计算位移的解题步骤</a:t>
            </a:r>
          </a:p>
        </p:txBody>
      </p:sp>
      <p:sp>
        <p:nvSpPr>
          <p:cNvPr id="3" name="Text Box 6"/>
          <p:cNvSpPr txBox="1">
            <a:spLocks noChangeArrowheads="1"/>
          </p:cNvSpPr>
          <p:nvPr/>
        </p:nvSpPr>
        <p:spPr bwMode="auto">
          <a:xfrm>
            <a:off x="1043608" y="1916832"/>
            <a:ext cx="7344816" cy="461665"/>
          </a:xfrm>
          <a:prstGeom prst="rect">
            <a:avLst/>
          </a:prstGeom>
          <a:noFill/>
          <a:ln w="19050">
            <a:solidFill>
              <a:srgbClr val="FF0000"/>
            </a:solidFill>
            <a:miter lim="800000"/>
            <a:headEnd/>
            <a:tailEnd/>
          </a:ln>
          <a:effectLst/>
        </p:spPr>
        <p:txBody>
          <a:bodyPr wrap="square">
            <a:spAutoFit/>
          </a:bodyPr>
          <a:lstStyle/>
          <a:p>
            <a:r>
              <a:rPr lang="zh-CN" altLang="en-US" sz="2400" dirty="0">
                <a:solidFill>
                  <a:srgbClr val="0000FF"/>
                </a:solidFill>
                <a:latin typeface="黑体" pitchFamily="49" charset="-122"/>
                <a:ea typeface="黑体" pitchFamily="49" charset="-122"/>
              </a:rPr>
              <a:t>（</a:t>
            </a:r>
            <a:r>
              <a:rPr lang="en-US" altLang="zh-CN" sz="2400" dirty="0">
                <a:solidFill>
                  <a:srgbClr val="0000FF"/>
                </a:solidFill>
                <a:latin typeface="黑体" pitchFamily="49" charset="-122"/>
                <a:ea typeface="黑体" pitchFamily="49" charset="-122"/>
              </a:rPr>
              <a:t>1</a:t>
            </a:r>
            <a:r>
              <a:rPr lang="zh-CN" altLang="en-US" sz="2400" dirty="0">
                <a:solidFill>
                  <a:srgbClr val="0000FF"/>
                </a:solidFill>
                <a:latin typeface="黑体" pitchFamily="49" charset="-122"/>
                <a:ea typeface="黑体" pitchFamily="49" charset="-122"/>
              </a:rPr>
              <a:t>）添加与所求广义位移相对应的虚拟广义力</a:t>
            </a:r>
          </a:p>
        </p:txBody>
      </p:sp>
      <p:sp>
        <p:nvSpPr>
          <p:cNvPr id="4" name="Text Box 6"/>
          <p:cNvSpPr txBox="1">
            <a:spLocks noChangeArrowheads="1"/>
          </p:cNvSpPr>
          <p:nvPr/>
        </p:nvSpPr>
        <p:spPr bwMode="auto">
          <a:xfrm>
            <a:off x="1043608" y="2453987"/>
            <a:ext cx="7344816" cy="830997"/>
          </a:xfrm>
          <a:prstGeom prst="rect">
            <a:avLst/>
          </a:prstGeom>
          <a:noFill/>
          <a:ln w="19050">
            <a:solidFill>
              <a:srgbClr val="FF0000"/>
            </a:solidFill>
            <a:miter lim="800000"/>
            <a:headEnd/>
            <a:tailEnd/>
          </a:ln>
          <a:effectLst/>
        </p:spPr>
        <p:txBody>
          <a:bodyPr wrap="square">
            <a:spAutoFit/>
          </a:bodyPr>
          <a:lstStyle/>
          <a:p>
            <a:r>
              <a:rPr lang="zh-CN" altLang="en-US" sz="2400" dirty="0">
                <a:solidFill>
                  <a:srgbClr val="0000FF"/>
                </a:solidFill>
                <a:latin typeface="黑体" pitchFamily="49" charset="-122"/>
                <a:ea typeface="黑体" pitchFamily="49" charset="-122"/>
              </a:rPr>
              <a:t>（</a:t>
            </a:r>
            <a:r>
              <a:rPr lang="en-US" altLang="zh-CN" sz="2400" dirty="0">
                <a:solidFill>
                  <a:srgbClr val="0000FF"/>
                </a:solidFill>
                <a:latin typeface="黑体" pitchFamily="49" charset="-122"/>
                <a:ea typeface="黑体" pitchFamily="49" charset="-122"/>
              </a:rPr>
              <a:t>2</a:t>
            </a:r>
            <a:r>
              <a:rPr lang="zh-CN" altLang="en-US" sz="2400" dirty="0">
                <a:solidFill>
                  <a:srgbClr val="0000FF"/>
                </a:solidFill>
                <a:latin typeface="黑体" pitchFamily="49" charset="-122"/>
                <a:ea typeface="黑体" pitchFamily="49" charset="-122"/>
              </a:rPr>
              <a:t>）分段列出轴力、扭矩和弯矩方程，以及它们对广义力的偏导数</a:t>
            </a:r>
          </a:p>
        </p:txBody>
      </p:sp>
      <p:sp>
        <p:nvSpPr>
          <p:cNvPr id="5" name="Text Box 6"/>
          <p:cNvSpPr txBox="1">
            <a:spLocks noChangeArrowheads="1"/>
          </p:cNvSpPr>
          <p:nvPr/>
        </p:nvSpPr>
        <p:spPr bwMode="auto">
          <a:xfrm>
            <a:off x="1043608" y="3452807"/>
            <a:ext cx="7416824" cy="461665"/>
          </a:xfrm>
          <a:prstGeom prst="rect">
            <a:avLst/>
          </a:prstGeom>
          <a:noFill/>
          <a:ln w="19050">
            <a:solidFill>
              <a:srgbClr val="FF0000"/>
            </a:solidFill>
            <a:miter lim="800000"/>
            <a:headEnd/>
            <a:tailEnd/>
          </a:ln>
          <a:effectLst/>
        </p:spPr>
        <p:txBody>
          <a:bodyPr wrap="square">
            <a:spAutoFit/>
          </a:bodyPr>
          <a:lstStyle/>
          <a:p>
            <a:r>
              <a:rPr lang="zh-CN" altLang="en-US" sz="2400" dirty="0">
                <a:solidFill>
                  <a:srgbClr val="0000FF"/>
                </a:solidFill>
                <a:latin typeface="黑体" pitchFamily="49" charset="-122"/>
                <a:ea typeface="黑体" pitchFamily="49" charset="-122"/>
              </a:rPr>
              <a:t>（</a:t>
            </a:r>
            <a:r>
              <a:rPr lang="en-US" altLang="zh-CN" sz="2400" dirty="0">
                <a:solidFill>
                  <a:srgbClr val="0000FF"/>
                </a:solidFill>
                <a:latin typeface="黑体" pitchFamily="49" charset="-122"/>
                <a:ea typeface="黑体" pitchFamily="49" charset="-122"/>
              </a:rPr>
              <a:t>3</a:t>
            </a:r>
            <a:r>
              <a:rPr lang="zh-CN" altLang="en-US" sz="2400" dirty="0">
                <a:solidFill>
                  <a:srgbClr val="0000FF"/>
                </a:solidFill>
                <a:latin typeface="黑体" pitchFamily="49" charset="-122"/>
                <a:ea typeface="黑体" pitchFamily="49" charset="-122"/>
              </a:rPr>
              <a:t>）代入积分表达式，恢复荷载，令虚拟广义力为零</a:t>
            </a:r>
          </a:p>
        </p:txBody>
      </p:sp>
      <p:sp>
        <p:nvSpPr>
          <p:cNvPr id="6" name="Text Box 6"/>
          <p:cNvSpPr txBox="1">
            <a:spLocks noChangeArrowheads="1"/>
          </p:cNvSpPr>
          <p:nvPr/>
        </p:nvSpPr>
        <p:spPr bwMode="auto">
          <a:xfrm>
            <a:off x="1043608" y="4038163"/>
            <a:ext cx="7416824" cy="461665"/>
          </a:xfrm>
          <a:prstGeom prst="rect">
            <a:avLst/>
          </a:prstGeom>
          <a:noFill/>
          <a:ln w="19050">
            <a:solidFill>
              <a:srgbClr val="FF0000"/>
            </a:solidFill>
            <a:miter lim="800000"/>
            <a:headEnd/>
            <a:tailEnd/>
          </a:ln>
          <a:effectLst/>
        </p:spPr>
        <p:txBody>
          <a:bodyPr wrap="square">
            <a:spAutoFit/>
          </a:bodyPr>
          <a:lstStyle/>
          <a:p>
            <a:r>
              <a:rPr lang="zh-CN" altLang="en-US" sz="2400" dirty="0">
                <a:solidFill>
                  <a:srgbClr val="0000FF"/>
                </a:solidFill>
                <a:latin typeface="黑体" pitchFamily="49" charset="-122"/>
                <a:ea typeface="黑体" pitchFamily="49" charset="-122"/>
              </a:rPr>
              <a:t>（</a:t>
            </a:r>
            <a:r>
              <a:rPr lang="en-US" altLang="zh-CN" sz="2400" dirty="0">
                <a:solidFill>
                  <a:srgbClr val="0000FF"/>
                </a:solidFill>
                <a:latin typeface="黑体" pitchFamily="49" charset="-122"/>
                <a:ea typeface="黑体" pitchFamily="49" charset="-122"/>
              </a:rPr>
              <a:t>4</a:t>
            </a:r>
            <a:r>
              <a:rPr lang="zh-CN" altLang="en-US" sz="2400" dirty="0">
                <a:solidFill>
                  <a:srgbClr val="0000FF"/>
                </a:solidFill>
                <a:latin typeface="黑体" pitchFamily="49" charset="-122"/>
                <a:ea typeface="黑体" pitchFamily="49" charset="-122"/>
              </a:rPr>
              <a:t>）积分求位移，注意积分区间与坐标系的统一</a:t>
            </a:r>
          </a:p>
        </p:txBody>
      </p:sp>
    </p:spTree>
    <p:extLst>
      <p:ext uri="{BB962C8B-B14F-4D97-AF65-F5344CB8AC3E}">
        <p14:creationId xmlns:p14="http://schemas.microsoft.com/office/powerpoint/2010/main" val="918728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linds(horizontal)">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blinds(horizontal)">
                                      <p:cBhvr>
                                        <p:cTn id="2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2"/>
          <p:cNvSpPr txBox="1">
            <a:spLocks noChangeArrowheads="1"/>
          </p:cNvSpPr>
          <p:nvPr/>
        </p:nvSpPr>
        <p:spPr bwMode="auto">
          <a:xfrm>
            <a:off x="395536" y="260648"/>
            <a:ext cx="4298950" cy="369332"/>
          </a:xfrm>
          <a:prstGeom prst="rect">
            <a:avLst/>
          </a:prstGeom>
          <a:noFill/>
          <a:ln w="19050">
            <a:solidFill>
              <a:srgbClr val="FF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ctr">
              <a:defRPr/>
            </a:pPr>
            <a:r>
              <a:rPr kumimoji="1" lang="zh-CN" altLang="en-US" sz="2400" b="1" dirty="0">
                <a:solidFill>
                  <a:srgbClr val="FF0000"/>
                </a:solidFill>
                <a:effectLst>
                  <a:outerShdw blurRad="38100" dist="38100" dir="2700000" algn="tl">
                    <a:srgbClr val="C0C0C0"/>
                  </a:outerShdw>
                </a:effectLst>
                <a:latin typeface="楷体" pitchFamily="49" charset="-122"/>
                <a:ea typeface="楷体" pitchFamily="49" charset="-122"/>
              </a:rPr>
              <a:t>第十一章  压杆稳定</a:t>
            </a:r>
          </a:p>
        </p:txBody>
      </p:sp>
      <p:sp>
        <p:nvSpPr>
          <p:cNvPr id="3" name="Text Box 3"/>
          <p:cNvSpPr txBox="1">
            <a:spLocks noChangeArrowheads="1"/>
          </p:cNvSpPr>
          <p:nvPr/>
        </p:nvSpPr>
        <p:spPr bwMode="auto">
          <a:xfrm>
            <a:off x="416248" y="836712"/>
            <a:ext cx="8424862" cy="461665"/>
          </a:xfrm>
          <a:prstGeom prst="rect">
            <a:avLst/>
          </a:prstGeom>
          <a:noFill/>
          <a:ln w="19050">
            <a:solidFill>
              <a:srgbClr val="FF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黑体" pitchFamily="49" charset="-122"/>
              </a:defRPr>
            </a:lvl1pPr>
            <a:lvl2pPr marL="742950" indent="-285750" eaLnBrk="0" hangingPunct="0">
              <a:defRPr>
                <a:solidFill>
                  <a:schemeClr val="tx1"/>
                </a:solidFill>
                <a:latin typeface="Arial" pitchFamily="34" charset="0"/>
                <a:ea typeface="黑体" pitchFamily="49" charset="-122"/>
              </a:defRPr>
            </a:lvl2pPr>
            <a:lvl3pPr marL="1143000" indent="-228600" eaLnBrk="0" hangingPunct="0">
              <a:defRPr>
                <a:solidFill>
                  <a:schemeClr val="tx1"/>
                </a:solidFill>
                <a:latin typeface="Arial" pitchFamily="34" charset="0"/>
                <a:ea typeface="黑体" pitchFamily="49" charset="-122"/>
              </a:defRPr>
            </a:lvl3pPr>
            <a:lvl4pPr marL="1600200" indent="-228600" eaLnBrk="0" hangingPunct="0">
              <a:defRPr>
                <a:solidFill>
                  <a:schemeClr val="tx1"/>
                </a:solidFill>
                <a:latin typeface="Arial" pitchFamily="34" charset="0"/>
                <a:ea typeface="黑体" pitchFamily="49" charset="-122"/>
              </a:defRPr>
            </a:lvl4pPr>
            <a:lvl5pPr marL="2057400" indent="-228600" eaLnBrk="0" hangingPunct="0">
              <a:defRPr>
                <a:solidFill>
                  <a:schemeClr val="tx1"/>
                </a:solidFill>
                <a:latin typeface="Arial" pitchFamily="34" charset="0"/>
                <a:ea typeface="黑体" pitchFamily="49" charset="-122"/>
              </a:defRPr>
            </a:lvl5pPr>
            <a:lvl6pPr marL="2514600" indent="-228600" eaLnBrk="0" fontAlgn="base" hangingPunct="0">
              <a:spcBef>
                <a:spcPct val="0"/>
              </a:spcBef>
              <a:spcAft>
                <a:spcPct val="0"/>
              </a:spcAft>
              <a:defRPr>
                <a:solidFill>
                  <a:schemeClr val="tx1"/>
                </a:solidFill>
                <a:latin typeface="Arial" pitchFamily="34" charset="0"/>
                <a:ea typeface="黑体" pitchFamily="49" charset="-122"/>
              </a:defRPr>
            </a:lvl6pPr>
            <a:lvl7pPr marL="2971800" indent="-228600" eaLnBrk="0" fontAlgn="base" hangingPunct="0">
              <a:spcBef>
                <a:spcPct val="0"/>
              </a:spcBef>
              <a:spcAft>
                <a:spcPct val="0"/>
              </a:spcAft>
              <a:defRPr>
                <a:solidFill>
                  <a:schemeClr val="tx1"/>
                </a:solidFill>
                <a:latin typeface="Arial" pitchFamily="34" charset="0"/>
                <a:ea typeface="黑体" pitchFamily="49" charset="-122"/>
              </a:defRPr>
            </a:lvl7pPr>
            <a:lvl8pPr marL="3429000" indent="-228600" eaLnBrk="0" fontAlgn="base" hangingPunct="0">
              <a:spcBef>
                <a:spcPct val="0"/>
              </a:spcBef>
              <a:spcAft>
                <a:spcPct val="0"/>
              </a:spcAft>
              <a:defRPr>
                <a:solidFill>
                  <a:schemeClr val="tx1"/>
                </a:solidFill>
                <a:latin typeface="Arial" pitchFamily="34" charset="0"/>
                <a:ea typeface="黑体" pitchFamily="49" charset="-122"/>
              </a:defRPr>
            </a:lvl8pPr>
            <a:lvl9pPr marL="3886200" indent="-228600" eaLnBrk="0" fontAlgn="base" hangingPunct="0">
              <a:spcBef>
                <a:spcPct val="0"/>
              </a:spcBef>
              <a:spcAft>
                <a:spcPct val="0"/>
              </a:spcAft>
              <a:defRPr>
                <a:solidFill>
                  <a:schemeClr val="tx1"/>
                </a:solidFill>
                <a:latin typeface="Arial" pitchFamily="34" charset="0"/>
                <a:ea typeface="黑体" pitchFamily="49" charset="-122"/>
              </a:defRPr>
            </a:lvl9pPr>
          </a:lstStyle>
          <a:p>
            <a:pPr eaLnBrk="1" hangingPunct="1"/>
            <a:r>
              <a:rPr kumimoji="1" lang="zh-CN" altLang="en-US" sz="2400" b="1" dirty="0">
                <a:solidFill>
                  <a:srgbClr val="FF0000"/>
                </a:solidFill>
                <a:latin typeface="黑体" pitchFamily="49" charset="-122"/>
              </a:rPr>
              <a:t>稳定性</a:t>
            </a:r>
            <a:r>
              <a:rPr kumimoji="1" lang="zh-CN" altLang="en-US" sz="2400" b="1" dirty="0">
                <a:solidFill>
                  <a:srgbClr val="0000FF"/>
                </a:solidFill>
                <a:latin typeface="黑体" pitchFamily="49" charset="-122"/>
              </a:rPr>
              <a:t>：</a:t>
            </a:r>
            <a:r>
              <a:rPr kumimoji="1" lang="zh-CN" altLang="en-US" sz="2400" b="1" dirty="0">
                <a:solidFill>
                  <a:srgbClr val="0000FF"/>
                </a:solidFill>
                <a:latin typeface="Times New Roman" pitchFamily="18" charset="0"/>
              </a:rPr>
              <a:t>平衡物体在其原来平衡状态下抵抗干扰的能力。</a:t>
            </a:r>
            <a:endParaRPr kumimoji="1" lang="zh-CN" altLang="en-US" sz="2400" b="1" dirty="0">
              <a:solidFill>
                <a:srgbClr val="0000FF"/>
              </a:solidFill>
              <a:latin typeface="Times New Roman" pitchFamily="18" charset="0"/>
              <a:ea typeface="宋体" pitchFamily="2" charset="-122"/>
            </a:endParaRPr>
          </a:p>
        </p:txBody>
      </p:sp>
      <p:sp>
        <p:nvSpPr>
          <p:cNvPr id="4" name="Rectangle 2"/>
          <p:cNvSpPr>
            <a:spLocks noChangeArrowheads="1"/>
          </p:cNvSpPr>
          <p:nvPr/>
        </p:nvSpPr>
        <p:spPr bwMode="auto">
          <a:xfrm>
            <a:off x="900310" y="5445224"/>
            <a:ext cx="7704138" cy="830997"/>
          </a:xfrm>
          <a:prstGeom prst="rect">
            <a:avLst/>
          </a:prstGeom>
          <a:noFill/>
          <a:ln w="19050">
            <a:solidFill>
              <a:srgbClr val="FF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kumimoji="1" lang="en-US" altLang="zh-CN" sz="2400" b="1" dirty="0">
                <a:solidFill>
                  <a:srgbClr val="0000FF"/>
                </a:solidFill>
                <a:effectLst>
                  <a:outerShdw blurRad="38100" dist="38100" dir="2700000" algn="tl">
                    <a:srgbClr val="C0C0C0"/>
                  </a:outerShdw>
                </a:effectLst>
                <a:latin typeface="Times New Roman" pitchFamily="18" charset="0"/>
                <a:ea typeface="宋体" pitchFamily="2" charset="-122"/>
              </a:rPr>
              <a:t>  </a:t>
            </a:r>
            <a:r>
              <a:rPr kumimoji="1" lang="zh-CN" altLang="en-US" sz="2400" b="1" dirty="0">
                <a:solidFill>
                  <a:srgbClr val="FF0000"/>
                </a:solidFill>
                <a:latin typeface="Times New Roman" pitchFamily="18" charset="0"/>
                <a:ea typeface="宋体" pitchFamily="2" charset="-122"/>
              </a:rPr>
              <a:t>稳定</a:t>
            </a:r>
            <a:r>
              <a:rPr kumimoji="1" lang="zh-CN" altLang="en-US" sz="2400" b="1" dirty="0">
                <a:solidFill>
                  <a:srgbClr val="0000FF"/>
                </a:solidFill>
                <a:latin typeface="Times New Roman" pitchFamily="18" charset="0"/>
                <a:ea typeface="宋体" pitchFamily="2" charset="-122"/>
              </a:rPr>
              <a:t>平衡               </a:t>
            </a:r>
            <a:r>
              <a:rPr kumimoji="1" lang="zh-CN" altLang="en-US" sz="2400" b="1" dirty="0">
                <a:solidFill>
                  <a:srgbClr val="FF0000"/>
                </a:solidFill>
                <a:latin typeface="Times New Roman" pitchFamily="18" charset="0"/>
                <a:ea typeface="宋体" pitchFamily="2" charset="-122"/>
              </a:rPr>
              <a:t>随遇</a:t>
            </a:r>
            <a:r>
              <a:rPr kumimoji="1" lang="zh-CN" altLang="en-US" sz="2400" b="1" dirty="0">
                <a:solidFill>
                  <a:srgbClr val="0000FF"/>
                </a:solidFill>
                <a:latin typeface="Times New Roman" pitchFamily="18" charset="0"/>
                <a:ea typeface="宋体" pitchFamily="2" charset="-122"/>
              </a:rPr>
              <a:t>平衡             </a:t>
            </a:r>
            <a:r>
              <a:rPr kumimoji="1" lang="zh-CN" altLang="en-US" sz="2400" b="1" dirty="0">
                <a:solidFill>
                  <a:srgbClr val="FF0000"/>
                </a:solidFill>
                <a:latin typeface="Times New Roman" pitchFamily="18" charset="0"/>
                <a:ea typeface="宋体" pitchFamily="2" charset="-122"/>
              </a:rPr>
              <a:t>不稳定</a:t>
            </a:r>
            <a:r>
              <a:rPr kumimoji="1" lang="zh-CN" altLang="en-US" sz="2400" b="1" dirty="0">
                <a:solidFill>
                  <a:srgbClr val="0000FF"/>
                </a:solidFill>
                <a:latin typeface="Times New Roman" pitchFamily="18" charset="0"/>
                <a:ea typeface="宋体" pitchFamily="2" charset="-122"/>
              </a:rPr>
              <a:t>平衡</a:t>
            </a:r>
          </a:p>
          <a:p>
            <a:pPr>
              <a:defRPr/>
            </a:pPr>
            <a:r>
              <a:rPr kumimoji="1" lang="zh-CN" altLang="en-US" sz="2400" b="1" dirty="0">
                <a:solidFill>
                  <a:srgbClr val="0000FF"/>
                </a:solidFill>
                <a:latin typeface="Times New Roman" pitchFamily="18" charset="0"/>
                <a:ea typeface="宋体" pitchFamily="2" charset="-122"/>
              </a:rPr>
              <a:t>                           （ 临界状态 ）</a:t>
            </a:r>
          </a:p>
        </p:txBody>
      </p:sp>
      <p:pic>
        <p:nvPicPr>
          <p:cNvPr id="5" name="Picture 3" descr="gan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59471" y="2114645"/>
            <a:ext cx="6264696" cy="3267431"/>
          </a:xfrm>
          <a:prstGeom prst="rect">
            <a:avLst/>
          </a:prstGeom>
          <a:noFill/>
          <a:ln w="19050">
            <a:solidFill>
              <a:srgbClr val="FF0000"/>
            </a:solidFill>
          </a:ln>
          <a:extLst>
            <a:ext uri="{909E8E84-426E-40DD-AFC4-6F175D3DCCD1}">
              <a14:hiddenFill xmlns:a14="http://schemas.microsoft.com/office/drawing/2010/main">
                <a:solidFill>
                  <a:srgbClr val="FFFFFF"/>
                </a:solidFill>
              </a14:hiddenFill>
            </a:ext>
          </a:extLst>
        </p:spPr>
      </p:pic>
      <p:sp>
        <p:nvSpPr>
          <p:cNvPr id="6" name="Text Box 4"/>
          <p:cNvSpPr txBox="1">
            <a:spLocks noChangeArrowheads="1"/>
          </p:cNvSpPr>
          <p:nvPr/>
        </p:nvSpPr>
        <p:spPr bwMode="auto">
          <a:xfrm>
            <a:off x="395536" y="1484784"/>
            <a:ext cx="3587842" cy="461665"/>
          </a:xfrm>
          <a:prstGeom prst="rect">
            <a:avLst/>
          </a:prstGeom>
          <a:noFill/>
          <a:ln w="19050">
            <a:solidFill>
              <a:srgbClr val="FF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黑体" pitchFamily="49" charset="-122"/>
              </a:defRPr>
            </a:lvl1pPr>
            <a:lvl2pPr marL="742950" indent="-285750" eaLnBrk="0" hangingPunct="0">
              <a:defRPr>
                <a:solidFill>
                  <a:schemeClr val="tx1"/>
                </a:solidFill>
                <a:latin typeface="Arial" pitchFamily="34" charset="0"/>
                <a:ea typeface="黑体" pitchFamily="49" charset="-122"/>
              </a:defRPr>
            </a:lvl2pPr>
            <a:lvl3pPr marL="1143000" indent="-228600" eaLnBrk="0" hangingPunct="0">
              <a:defRPr>
                <a:solidFill>
                  <a:schemeClr val="tx1"/>
                </a:solidFill>
                <a:latin typeface="Arial" pitchFamily="34" charset="0"/>
                <a:ea typeface="黑体" pitchFamily="49" charset="-122"/>
              </a:defRPr>
            </a:lvl3pPr>
            <a:lvl4pPr marL="1600200" indent="-228600" eaLnBrk="0" hangingPunct="0">
              <a:defRPr>
                <a:solidFill>
                  <a:schemeClr val="tx1"/>
                </a:solidFill>
                <a:latin typeface="Arial" pitchFamily="34" charset="0"/>
                <a:ea typeface="黑体" pitchFamily="49" charset="-122"/>
              </a:defRPr>
            </a:lvl4pPr>
            <a:lvl5pPr marL="2057400" indent="-228600" eaLnBrk="0" hangingPunct="0">
              <a:defRPr>
                <a:solidFill>
                  <a:schemeClr val="tx1"/>
                </a:solidFill>
                <a:latin typeface="Arial" pitchFamily="34" charset="0"/>
                <a:ea typeface="黑体" pitchFamily="49" charset="-122"/>
              </a:defRPr>
            </a:lvl5pPr>
            <a:lvl6pPr marL="2514600" indent="-228600" eaLnBrk="0" fontAlgn="base" hangingPunct="0">
              <a:spcBef>
                <a:spcPct val="0"/>
              </a:spcBef>
              <a:spcAft>
                <a:spcPct val="0"/>
              </a:spcAft>
              <a:defRPr>
                <a:solidFill>
                  <a:schemeClr val="tx1"/>
                </a:solidFill>
                <a:latin typeface="Arial" pitchFamily="34" charset="0"/>
                <a:ea typeface="黑体" pitchFamily="49" charset="-122"/>
              </a:defRPr>
            </a:lvl6pPr>
            <a:lvl7pPr marL="2971800" indent="-228600" eaLnBrk="0" fontAlgn="base" hangingPunct="0">
              <a:spcBef>
                <a:spcPct val="0"/>
              </a:spcBef>
              <a:spcAft>
                <a:spcPct val="0"/>
              </a:spcAft>
              <a:defRPr>
                <a:solidFill>
                  <a:schemeClr val="tx1"/>
                </a:solidFill>
                <a:latin typeface="Arial" pitchFamily="34" charset="0"/>
                <a:ea typeface="黑体" pitchFamily="49" charset="-122"/>
              </a:defRPr>
            </a:lvl7pPr>
            <a:lvl8pPr marL="3429000" indent="-228600" eaLnBrk="0" fontAlgn="base" hangingPunct="0">
              <a:spcBef>
                <a:spcPct val="0"/>
              </a:spcBef>
              <a:spcAft>
                <a:spcPct val="0"/>
              </a:spcAft>
              <a:defRPr>
                <a:solidFill>
                  <a:schemeClr val="tx1"/>
                </a:solidFill>
                <a:latin typeface="Arial" pitchFamily="34" charset="0"/>
                <a:ea typeface="黑体" pitchFamily="49" charset="-122"/>
              </a:defRPr>
            </a:lvl8pPr>
            <a:lvl9pPr marL="3886200" indent="-228600" eaLnBrk="0" fontAlgn="base" hangingPunct="0">
              <a:spcBef>
                <a:spcPct val="0"/>
              </a:spcBef>
              <a:spcAft>
                <a:spcPct val="0"/>
              </a:spcAft>
              <a:defRPr>
                <a:solidFill>
                  <a:schemeClr val="tx1"/>
                </a:solidFill>
                <a:latin typeface="Arial" pitchFamily="34" charset="0"/>
                <a:ea typeface="黑体" pitchFamily="49" charset="-122"/>
              </a:defRPr>
            </a:lvl9pPr>
          </a:lstStyle>
          <a:p>
            <a:r>
              <a:rPr lang="zh-CN" altLang="en-US" sz="2400" b="1" dirty="0">
                <a:solidFill>
                  <a:srgbClr val="0000FF"/>
                </a:solidFill>
                <a:latin typeface="Times New Roman" pitchFamily="18" charset="0"/>
              </a:rPr>
              <a:t>受压直杆</a:t>
            </a:r>
            <a:r>
              <a:rPr lang="zh-CN" altLang="en-US" sz="2400" b="1" dirty="0">
                <a:solidFill>
                  <a:srgbClr val="FF0000"/>
                </a:solidFill>
                <a:latin typeface="Times New Roman" pitchFamily="18" charset="0"/>
              </a:rPr>
              <a:t>平衡的三种形式</a:t>
            </a:r>
          </a:p>
        </p:txBody>
      </p:sp>
    </p:spTree>
    <p:extLst>
      <p:ext uri="{BB962C8B-B14F-4D97-AF65-F5344CB8AC3E}">
        <p14:creationId xmlns:p14="http://schemas.microsoft.com/office/powerpoint/2010/main" val="574251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6"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897959262"/>
              </p:ext>
            </p:extLst>
          </p:nvPr>
        </p:nvGraphicFramePr>
        <p:xfrm>
          <a:off x="3450520" y="1253431"/>
          <a:ext cx="2592288" cy="1110406"/>
        </p:xfrm>
        <a:graphic>
          <a:graphicData uri="http://schemas.openxmlformats.org/presentationml/2006/ole">
            <mc:AlternateContent xmlns:mc="http://schemas.openxmlformats.org/markup-compatibility/2006">
              <mc:Choice xmlns:v="urn:schemas-microsoft-com:vml" Requires="v">
                <p:oleObj name="公式" r:id="rId2" imgW="718920" imgH="326880" progId="">
                  <p:embed/>
                </p:oleObj>
              </mc:Choice>
              <mc:Fallback>
                <p:oleObj name="公式" r:id="rId2" imgW="718920" imgH="326880" progId="">
                  <p:embed/>
                  <p:pic>
                    <p:nvPicPr>
                      <p:cNvPr id="0" name="Picture 1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50520" y="1253431"/>
                        <a:ext cx="2592288" cy="111040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Rectangle 3"/>
          <p:cNvSpPr>
            <a:spLocks noChangeArrowheads="1"/>
          </p:cNvSpPr>
          <p:nvPr/>
        </p:nvSpPr>
        <p:spPr bwMode="auto">
          <a:xfrm>
            <a:off x="436602" y="488145"/>
            <a:ext cx="4392488" cy="461665"/>
          </a:xfrm>
          <a:prstGeom prst="rect">
            <a:avLst/>
          </a:prstGeom>
          <a:noFill/>
          <a:ln w="19050">
            <a:solidFill>
              <a:srgbClr val="FF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itchFamily="34" charset="0"/>
                <a:ea typeface="黑体" pitchFamily="49" charset="-122"/>
              </a:defRPr>
            </a:lvl1pPr>
            <a:lvl2pPr marL="742950" indent="-285750" eaLnBrk="0" hangingPunct="0">
              <a:defRPr>
                <a:solidFill>
                  <a:schemeClr val="tx1"/>
                </a:solidFill>
                <a:latin typeface="Arial" pitchFamily="34" charset="0"/>
                <a:ea typeface="黑体" pitchFamily="49" charset="-122"/>
              </a:defRPr>
            </a:lvl2pPr>
            <a:lvl3pPr marL="1143000" indent="-228600" eaLnBrk="0" hangingPunct="0">
              <a:defRPr>
                <a:solidFill>
                  <a:schemeClr val="tx1"/>
                </a:solidFill>
                <a:latin typeface="Arial" pitchFamily="34" charset="0"/>
                <a:ea typeface="黑体" pitchFamily="49" charset="-122"/>
              </a:defRPr>
            </a:lvl3pPr>
            <a:lvl4pPr marL="1600200" indent="-228600" eaLnBrk="0" hangingPunct="0">
              <a:defRPr>
                <a:solidFill>
                  <a:schemeClr val="tx1"/>
                </a:solidFill>
                <a:latin typeface="Arial" pitchFamily="34" charset="0"/>
                <a:ea typeface="黑体" pitchFamily="49" charset="-122"/>
              </a:defRPr>
            </a:lvl4pPr>
            <a:lvl5pPr marL="2057400" indent="-228600" eaLnBrk="0" hangingPunct="0">
              <a:defRPr>
                <a:solidFill>
                  <a:schemeClr val="tx1"/>
                </a:solidFill>
                <a:latin typeface="Arial" pitchFamily="34" charset="0"/>
                <a:ea typeface="黑体" pitchFamily="49" charset="-122"/>
              </a:defRPr>
            </a:lvl5pPr>
            <a:lvl6pPr marL="2514600" indent="-228600" eaLnBrk="0" fontAlgn="base" hangingPunct="0">
              <a:spcBef>
                <a:spcPct val="0"/>
              </a:spcBef>
              <a:spcAft>
                <a:spcPct val="0"/>
              </a:spcAft>
              <a:defRPr>
                <a:solidFill>
                  <a:schemeClr val="tx1"/>
                </a:solidFill>
                <a:latin typeface="Arial" pitchFamily="34" charset="0"/>
                <a:ea typeface="黑体" pitchFamily="49" charset="-122"/>
              </a:defRPr>
            </a:lvl6pPr>
            <a:lvl7pPr marL="2971800" indent="-228600" eaLnBrk="0" fontAlgn="base" hangingPunct="0">
              <a:spcBef>
                <a:spcPct val="0"/>
              </a:spcBef>
              <a:spcAft>
                <a:spcPct val="0"/>
              </a:spcAft>
              <a:defRPr>
                <a:solidFill>
                  <a:schemeClr val="tx1"/>
                </a:solidFill>
                <a:latin typeface="Arial" pitchFamily="34" charset="0"/>
                <a:ea typeface="黑体" pitchFamily="49" charset="-122"/>
              </a:defRPr>
            </a:lvl7pPr>
            <a:lvl8pPr marL="3429000" indent="-228600" eaLnBrk="0" fontAlgn="base" hangingPunct="0">
              <a:spcBef>
                <a:spcPct val="0"/>
              </a:spcBef>
              <a:spcAft>
                <a:spcPct val="0"/>
              </a:spcAft>
              <a:defRPr>
                <a:solidFill>
                  <a:schemeClr val="tx1"/>
                </a:solidFill>
                <a:latin typeface="Arial" pitchFamily="34" charset="0"/>
                <a:ea typeface="黑体" pitchFamily="49" charset="-122"/>
              </a:defRPr>
            </a:lvl8pPr>
            <a:lvl9pPr marL="3886200" indent="-228600" eaLnBrk="0" fontAlgn="base" hangingPunct="0">
              <a:spcBef>
                <a:spcPct val="0"/>
              </a:spcBef>
              <a:spcAft>
                <a:spcPct val="0"/>
              </a:spcAft>
              <a:defRPr>
                <a:solidFill>
                  <a:schemeClr val="tx1"/>
                </a:solidFill>
                <a:latin typeface="Arial" pitchFamily="34" charset="0"/>
                <a:ea typeface="黑体" pitchFamily="49" charset="-122"/>
              </a:defRPr>
            </a:lvl9pPr>
          </a:lstStyle>
          <a:p>
            <a:pPr eaLnBrk="1" hangingPunct="1">
              <a:spcBef>
                <a:spcPct val="50000"/>
              </a:spcBef>
            </a:pPr>
            <a:r>
              <a:rPr kumimoji="1" lang="zh-CN" altLang="en-US" sz="2400" b="1" dirty="0">
                <a:solidFill>
                  <a:srgbClr val="0000FF"/>
                </a:solidFill>
                <a:latin typeface="黑体" pitchFamily="49" charset="-122"/>
              </a:rPr>
              <a:t>细长压杆临界压力的</a:t>
            </a:r>
            <a:r>
              <a:rPr kumimoji="1" lang="zh-CN" altLang="en-US" sz="2400" b="1" dirty="0">
                <a:solidFill>
                  <a:srgbClr val="FF0000"/>
                </a:solidFill>
                <a:latin typeface="黑体" pitchFamily="49" charset="-122"/>
              </a:rPr>
              <a:t>欧拉公式</a:t>
            </a:r>
          </a:p>
        </p:txBody>
      </p:sp>
      <p:sp>
        <p:nvSpPr>
          <p:cNvPr id="7" name="Text Box 2"/>
          <p:cNvSpPr txBox="1">
            <a:spLocks noChangeArrowheads="1"/>
          </p:cNvSpPr>
          <p:nvPr/>
        </p:nvSpPr>
        <p:spPr bwMode="auto">
          <a:xfrm>
            <a:off x="541089" y="2909615"/>
            <a:ext cx="3669594" cy="400110"/>
          </a:xfrm>
          <a:prstGeom prst="rect">
            <a:avLst/>
          </a:prstGeom>
          <a:noFill/>
          <a:ln w="19050">
            <a:solidFill>
              <a:srgbClr val="FF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黑体" pitchFamily="49" charset="-122"/>
              </a:defRPr>
            </a:lvl1pPr>
            <a:lvl2pPr marL="742950" indent="-285750" eaLnBrk="0" hangingPunct="0">
              <a:defRPr>
                <a:solidFill>
                  <a:schemeClr val="tx1"/>
                </a:solidFill>
                <a:latin typeface="Arial" pitchFamily="34" charset="0"/>
                <a:ea typeface="黑体" pitchFamily="49" charset="-122"/>
              </a:defRPr>
            </a:lvl2pPr>
            <a:lvl3pPr marL="1143000" indent="-228600" eaLnBrk="0" hangingPunct="0">
              <a:defRPr>
                <a:solidFill>
                  <a:schemeClr val="tx1"/>
                </a:solidFill>
                <a:latin typeface="Arial" pitchFamily="34" charset="0"/>
                <a:ea typeface="黑体" pitchFamily="49" charset="-122"/>
              </a:defRPr>
            </a:lvl3pPr>
            <a:lvl4pPr marL="1600200" indent="-228600" eaLnBrk="0" hangingPunct="0">
              <a:defRPr>
                <a:solidFill>
                  <a:schemeClr val="tx1"/>
                </a:solidFill>
                <a:latin typeface="Arial" pitchFamily="34" charset="0"/>
                <a:ea typeface="黑体" pitchFamily="49" charset="-122"/>
              </a:defRPr>
            </a:lvl4pPr>
            <a:lvl5pPr marL="2057400" indent="-228600" eaLnBrk="0" hangingPunct="0">
              <a:defRPr>
                <a:solidFill>
                  <a:schemeClr val="tx1"/>
                </a:solidFill>
                <a:latin typeface="Arial" pitchFamily="34" charset="0"/>
                <a:ea typeface="黑体" pitchFamily="49" charset="-122"/>
              </a:defRPr>
            </a:lvl5pPr>
            <a:lvl6pPr marL="2514600" indent="-228600" eaLnBrk="0" fontAlgn="base" hangingPunct="0">
              <a:spcBef>
                <a:spcPct val="0"/>
              </a:spcBef>
              <a:spcAft>
                <a:spcPct val="0"/>
              </a:spcAft>
              <a:defRPr>
                <a:solidFill>
                  <a:schemeClr val="tx1"/>
                </a:solidFill>
                <a:latin typeface="Arial" pitchFamily="34" charset="0"/>
                <a:ea typeface="黑体" pitchFamily="49" charset="-122"/>
              </a:defRPr>
            </a:lvl6pPr>
            <a:lvl7pPr marL="2971800" indent="-228600" eaLnBrk="0" fontAlgn="base" hangingPunct="0">
              <a:spcBef>
                <a:spcPct val="0"/>
              </a:spcBef>
              <a:spcAft>
                <a:spcPct val="0"/>
              </a:spcAft>
              <a:defRPr>
                <a:solidFill>
                  <a:schemeClr val="tx1"/>
                </a:solidFill>
                <a:latin typeface="Arial" pitchFamily="34" charset="0"/>
                <a:ea typeface="黑体" pitchFamily="49" charset="-122"/>
              </a:defRPr>
            </a:lvl7pPr>
            <a:lvl8pPr marL="3429000" indent="-228600" eaLnBrk="0" fontAlgn="base" hangingPunct="0">
              <a:spcBef>
                <a:spcPct val="0"/>
              </a:spcBef>
              <a:spcAft>
                <a:spcPct val="0"/>
              </a:spcAft>
              <a:defRPr>
                <a:solidFill>
                  <a:schemeClr val="tx1"/>
                </a:solidFill>
                <a:latin typeface="Arial" pitchFamily="34" charset="0"/>
                <a:ea typeface="黑体" pitchFamily="49" charset="-122"/>
              </a:defRPr>
            </a:lvl8pPr>
            <a:lvl9pPr marL="3886200" indent="-228600" eaLnBrk="0" fontAlgn="base" hangingPunct="0">
              <a:spcBef>
                <a:spcPct val="0"/>
              </a:spcBef>
              <a:spcAft>
                <a:spcPct val="0"/>
              </a:spcAft>
              <a:defRPr>
                <a:solidFill>
                  <a:schemeClr val="tx1"/>
                </a:solidFill>
                <a:latin typeface="Arial" pitchFamily="34" charset="0"/>
                <a:ea typeface="黑体" pitchFamily="49" charset="-122"/>
              </a:defRPr>
            </a:lvl9pPr>
          </a:lstStyle>
          <a:p>
            <a:pPr eaLnBrk="1" hangingPunct="1"/>
            <a:r>
              <a:rPr kumimoji="1" lang="zh-CN" altLang="en-US" sz="2000" b="1" dirty="0">
                <a:solidFill>
                  <a:srgbClr val="0000FF"/>
                </a:solidFill>
                <a:latin typeface="黑体" pitchFamily="49" charset="-122"/>
              </a:rPr>
              <a:t>临界载荷</a:t>
            </a:r>
            <a:r>
              <a:rPr kumimoji="1" lang="zh-CN" altLang="en-US" sz="2000" b="1" dirty="0">
                <a:solidFill>
                  <a:srgbClr val="FF0000"/>
                </a:solidFill>
                <a:latin typeface="黑体" pitchFamily="49" charset="-122"/>
              </a:rPr>
              <a:t>欧拉公式</a:t>
            </a:r>
            <a:r>
              <a:rPr kumimoji="1" lang="zh-CN" altLang="en-US" sz="2000" b="1" dirty="0">
                <a:solidFill>
                  <a:srgbClr val="0000FF"/>
                </a:solidFill>
                <a:latin typeface="黑体" pitchFamily="49" charset="-122"/>
              </a:rPr>
              <a:t>的一般形式</a:t>
            </a:r>
            <a:r>
              <a:rPr kumimoji="1" lang="en-US" altLang="zh-CN" sz="2000" b="1" dirty="0">
                <a:solidFill>
                  <a:srgbClr val="0000FF"/>
                </a:solidFill>
                <a:latin typeface="黑体" pitchFamily="49" charset="-122"/>
              </a:rPr>
              <a:t>:</a:t>
            </a:r>
          </a:p>
        </p:txBody>
      </p:sp>
      <p:grpSp>
        <p:nvGrpSpPr>
          <p:cNvPr id="4" name="组合 3"/>
          <p:cNvGrpSpPr/>
          <p:nvPr/>
        </p:nvGrpSpPr>
        <p:grpSpPr>
          <a:xfrm>
            <a:off x="4139951" y="3485877"/>
            <a:ext cx="4608513" cy="1311275"/>
            <a:chOff x="4139951" y="3485877"/>
            <a:chExt cx="4608513" cy="1311275"/>
          </a:xfrm>
        </p:grpSpPr>
        <p:sp>
          <p:nvSpPr>
            <p:cNvPr id="8" name="Line 3"/>
            <p:cNvSpPr>
              <a:spLocks noChangeShapeType="1"/>
            </p:cNvSpPr>
            <p:nvPr/>
          </p:nvSpPr>
          <p:spPr bwMode="auto">
            <a:xfrm>
              <a:off x="4371726" y="4339952"/>
              <a:ext cx="958850" cy="0"/>
            </a:xfrm>
            <a:prstGeom prst="line">
              <a:avLst/>
            </a:prstGeom>
            <a:noFill/>
            <a:ln w="19050">
              <a:solidFill>
                <a:srgbClr val="FF0000"/>
              </a:solidFil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solidFill>
                  <a:srgbClr val="0000FF"/>
                </a:solidFill>
              </a:endParaRPr>
            </a:p>
          </p:txBody>
        </p:sp>
        <p:sp>
          <p:nvSpPr>
            <p:cNvPr id="9" name="Text Box 4"/>
            <p:cNvSpPr txBox="1">
              <a:spLocks noChangeArrowheads="1"/>
            </p:cNvSpPr>
            <p:nvPr/>
          </p:nvSpPr>
          <p:spPr bwMode="auto">
            <a:xfrm>
              <a:off x="4139951" y="3485877"/>
              <a:ext cx="4608513" cy="1311275"/>
            </a:xfrm>
            <a:prstGeom prst="rect">
              <a:avLst/>
            </a:prstGeom>
            <a:noFill/>
            <a:ln w="19050">
              <a:solidFill>
                <a:srgbClr val="FF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黑体" pitchFamily="49" charset="-122"/>
                </a:defRPr>
              </a:lvl1pPr>
              <a:lvl2pPr marL="742950" indent="-285750" eaLnBrk="0" hangingPunct="0">
                <a:defRPr>
                  <a:solidFill>
                    <a:schemeClr val="tx1"/>
                  </a:solidFill>
                  <a:latin typeface="Arial" pitchFamily="34" charset="0"/>
                  <a:ea typeface="黑体" pitchFamily="49" charset="-122"/>
                </a:defRPr>
              </a:lvl2pPr>
              <a:lvl3pPr marL="1143000" indent="-228600" eaLnBrk="0" hangingPunct="0">
                <a:defRPr>
                  <a:solidFill>
                    <a:schemeClr val="tx1"/>
                  </a:solidFill>
                  <a:latin typeface="Arial" pitchFamily="34" charset="0"/>
                  <a:ea typeface="黑体" pitchFamily="49" charset="-122"/>
                </a:defRPr>
              </a:lvl3pPr>
              <a:lvl4pPr marL="1600200" indent="-228600" eaLnBrk="0" hangingPunct="0">
                <a:defRPr>
                  <a:solidFill>
                    <a:schemeClr val="tx1"/>
                  </a:solidFill>
                  <a:latin typeface="Arial" pitchFamily="34" charset="0"/>
                  <a:ea typeface="黑体" pitchFamily="49" charset="-122"/>
                </a:defRPr>
              </a:lvl4pPr>
              <a:lvl5pPr marL="2057400" indent="-228600" eaLnBrk="0" hangingPunct="0">
                <a:defRPr>
                  <a:solidFill>
                    <a:schemeClr val="tx1"/>
                  </a:solidFill>
                  <a:latin typeface="Arial" pitchFamily="34" charset="0"/>
                  <a:ea typeface="黑体" pitchFamily="49" charset="-122"/>
                </a:defRPr>
              </a:lvl5pPr>
              <a:lvl6pPr marL="2514600" indent="-228600" eaLnBrk="0" fontAlgn="base" hangingPunct="0">
                <a:spcBef>
                  <a:spcPct val="0"/>
                </a:spcBef>
                <a:spcAft>
                  <a:spcPct val="0"/>
                </a:spcAft>
                <a:defRPr>
                  <a:solidFill>
                    <a:schemeClr val="tx1"/>
                  </a:solidFill>
                  <a:latin typeface="Arial" pitchFamily="34" charset="0"/>
                  <a:ea typeface="黑体" pitchFamily="49" charset="-122"/>
                </a:defRPr>
              </a:lvl6pPr>
              <a:lvl7pPr marL="2971800" indent="-228600" eaLnBrk="0" fontAlgn="base" hangingPunct="0">
                <a:spcBef>
                  <a:spcPct val="0"/>
                </a:spcBef>
                <a:spcAft>
                  <a:spcPct val="0"/>
                </a:spcAft>
                <a:defRPr>
                  <a:solidFill>
                    <a:schemeClr val="tx1"/>
                  </a:solidFill>
                  <a:latin typeface="Arial" pitchFamily="34" charset="0"/>
                  <a:ea typeface="黑体" pitchFamily="49" charset="-122"/>
                </a:defRPr>
              </a:lvl7pPr>
              <a:lvl8pPr marL="3429000" indent="-228600" eaLnBrk="0" fontAlgn="base" hangingPunct="0">
                <a:spcBef>
                  <a:spcPct val="0"/>
                </a:spcBef>
                <a:spcAft>
                  <a:spcPct val="0"/>
                </a:spcAft>
                <a:defRPr>
                  <a:solidFill>
                    <a:schemeClr val="tx1"/>
                  </a:solidFill>
                  <a:latin typeface="Arial" pitchFamily="34" charset="0"/>
                  <a:ea typeface="黑体" pitchFamily="49" charset="-122"/>
                </a:defRPr>
              </a:lvl8pPr>
              <a:lvl9pPr marL="3886200" indent="-228600" eaLnBrk="0" fontAlgn="base" hangingPunct="0">
                <a:spcBef>
                  <a:spcPct val="0"/>
                </a:spcBef>
                <a:spcAft>
                  <a:spcPct val="0"/>
                </a:spcAft>
                <a:defRPr>
                  <a:solidFill>
                    <a:schemeClr val="tx1"/>
                  </a:solidFill>
                  <a:latin typeface="Arial" pitchFamily="34" charset="0"/>
                  <a:ea typeface="黑体" pitchFamily="49" charset="-122"/>
                </a:defRPr>
              </a:lvl9pPr>
            </a:lstStyle>
            <a:p>
              <a:pPr eaLnBrk="1" hangingPunct="1"/>
              <a:r>
                <a:rPr kumimoji="1" lang="zh-CN" altLang="en-US" sz="2000" b="1" dirty="0">
                  <a:solidFill>
                    <a:srgbClr val="0000FF"/>
                  </a:solidFill>
                  <a:latin typeface="黑体" pitchFamily="49" charset="-122"/>
                </a:rPr>
                <a:t>一端自由，一端固定 </a:t>
              </a:r>
              <a:r>
                <a:rPr kumimoji="1" lang="en-US" altLang="zh-CN" sz="2000" b="1" dirty="0">
                  <a:solidFill>
                    <a:srgbClr val="0000FF"/>
                  </a:solidFill>
                  <a:latin typeface="黑体" pitchFamily="49" charset="-122"/>
                </a:rPr>
                <a:t>:   </a:t>
              </a:r>
              <a:r>
                <a:rPr kumimoji="1" lang="en-US" altLang="zh-CN" sz="2000" i="1" dirty="0">
                  <a:solidFill>
                    <a:srgbClr val="0000FF"/>
                  </a:solidFill>
                  <a:latin typeface="黑体" pitchFamily="49" charset="-122"/>
                  <a:sym typeface="Symbol" pitchFamily="18" charset="2"/>
                </a:rPr>
                <a:t> </a:t>
              </a:r>
              <a:r>
                <a:rPr kumimoji="1" lang="zh-CN" altLang="en-US" sz="2000" b="1" dirty="0">
                  <a:solidFill>
                    <a:srgbClr val="0000FF"/>
                  </a:solidFill>
                  <a:latin typeface="黑体" pitchFamily="49" charset="-122"/>
                  <a:sym typeface="Symbol" pitchFamily="18" charset="2"/>
                </a:rPr>
                <a:t>＝ </a:t>
              </a:r>
              <a:r>
                <a:rPr kumimoji="1" lang="en-US" altLang="zh-CN" sz="2000" dirty="0">
                  <a:solidFill>
                    <a:srgbClr val="0000FF"/>
                  </a:solidFill>
                  <a:latin typeface="黑体" pitchFamily="49" charset="-122"/>
                  <a:sym typeface="Symbol" pitchFamily="18" charset="2"/>
                </a:rPr>
                <a:t>2.0</a:t>
              </a:r>
              <a:endParaRPr kumimoji="1" lang="en-US" altLang="zh-CN" sz="2000" b="1" dirty="0">
                <a:solidFill>
                  <a:srgbClr val="0000FF"/>
                </a:solidFill>
                <a:latin typeface="黑体" pitchFamily="49" charset="-122"/>
              </a:endParaRPr>
            </a:p>
            <a:p>
              <a:pPr eaLnBrk="1" hangingPunct="1"/>
              <a:r>
                <a:rPr kumimoji="1" lang="zh-CN" altLang="en-US" sz="2000" b="1" dirty="0">
                  <a:solidFill>
                    <a:srgbClr val="0000FF"/>
                  </a:solidFill>
                  <a:latin typeface="黑体" pitchFamily="49" charset="-122"/>
                </a:rPr>
                <a:t>一端铰支，一端固定 </a:t>
              </a:r>
              <a:r>
                <a:rPr kumimoji="1" lang="en-US" altLang="zh-CN" sz="2000" b="1" dirty="0">
                  <a:solidFill>
                    <a:srgbClr val="0000FF"/>
                  </a:solidFill>
                  <a:latin typeface="黑体" pitchFamily="49" charset="-122"/>
                </a:rPr>
                <a:t>:</a:t>
              </a:r>
              <a:r>
                <a:rPr kumimoji="1" lang="en-US" altLang="zh-CN" sz="2000" i="1" dirty="0">
                  <a:solidFill>
                    <a:srgbClr val="0000FF"/>
                  </a:solidFill>
                  <a:latin typeface="黑体" pitchFamily="49" charset="-122"/>
                </a:rPr>
                <a:t>   </a:t>
              </a:r>
              <a:r>
                <a:rPr kumimoji="1" lang="en-US" altLang="zh-CN" sz="2000" i="1" dirty="0">
                  <a:solidFill>
                    <a:srgbClr val="0000FF"/>
                  </a:solidFill>
                  <a:latin typeface="黑体" pitchFamily="49" charset="-122"/>
                  <a:sym typeface="Symbol" pitchFamily="18" charset="2"/>
                </a:rPr>
                <a:t> </a:t>
              </a:r>
              <a:r>
                <a:rPr kumimoji="1" lang="zh-CN" altLang="en-US" sz="2000" b="1" dirty="0">
                  <a:solidFill>
                    <a:srgbClr val="0000FF"/>
                  </a:solidFill>
                  <a:latin typeface="黑体" pitchFamily="49" charset="-122"/>
                  <a:sym typeface="Symbol" pitchFamily="18" charset="2"/>
                </a:rPr>
                <a:t>＝ </a:t>
              </a:r>
              <a:r>
                <a:rPr kumimoji="1" lang="en-US" altLang="zh-CN" sz="2000" dirty="0">
                  <a:solidFill>
                    <a:srgbClr val="0000FF"/>
                  </a:solidFill>
                  <a:latin typeface="黑体" pitchFamily="49" charset="-122"/>
                  <a:sym typeface="Symbol" pitchFamily="18" charset="2"/>
                </a:rPr>
                <a:t>0.7</a:t>
              </a:r>
            </a:p>
            <a:p>
              <a:pPr eaLnBrk="1" hangingPunct="1"/>
              <a:r>
                <a:rPr kumimoji="1" lang="en-US" altLang="zh-CN" sz="2000" b="1" dirty="0">
                  <a:solidFill>
                    <a:srgbClr val="0000FF"/>
                  </a:solidFill>
                  <a:latin typeface="黑体" pitchFamily="49" charset="-122"/>
                </a:rPr>
                <a:t>          </a:t>
              </a:r>
              <a:r>
                <a:rPr kumimoji="1" lang="zh-CN" altLang="en-US" sz="2000" b="1" dirty="0">
                  <a:solidFill>
                    <a:srgbClr val="0000FF"/>
                  </a:solidFill>
                  <a:latin typeface="黑体" pitchFamily="49" charset="-122"/>
                </a:rPr>
                <a:t>两端固定 </a:t>
              </a:r>
              <a:r>
                <a:rPr kumimoji="1" lang="en-US" altLang="zh-CN" sz="2000" b="1" dirty="0">
                  <a:solidFill>
                    <a:srgbClr val="0000FF"/>
                  </a:solidFill>
                  <a:latin typeface="黑体" pitchFamily="49" charset="-122"/>
                </a:rPr>
                <a:t>:   </a:t>
              </a:r>
              <a:r>
                <a:rPr kumimoji="1" lang="en-US" altLang="zh-CN" sz="2000" i="1" dirty="0">
                  <a:solidFill>
                    <a:srgbClr val="0000FF"/>
                  </a:solidFill>
                  <a:latin typeface="黑体" pitchFamily="49" charset="-122"/>
                  <a:sym typeface="Symbol" pitchFamily="18" charset="2"/>
                </a:rPr>
                <a:t> </a:t>
              </a:r>
              <a:r>
                <a:rPr kumimoji="1" lang="zh-CN" altLang="en-US" sz="2000" b="1" dirty="0">
                  <a:solidFill>
                    <a:srgbClr val="0000FF"/>
                  </a:solidFill>
                  <a:latin typeface="黑体" pitchFamily="49" charset="-122"/>
                  <a:sym typeface="Symbol" pitchFamily="18" charset="2"/>
                </a:rPr>
                <a:t>＝ </a:t>
              </a:r>
              <a:r>
                <a:rPr kumimoji="1" lang="en-US" altLang="zh-CN" sz="2000" dirty="0">
                  <a:solidFill>
                    <a:srgbClr val="0000FF"/>
                  </a:solidFill>
                  <a:latin typeface="黑体" pitchFamily="49" charset="-122"/>
                  <a:sym typeface="Symbol" pitchFamily="18" charset="2"/>
                </a:rPr>
                <a:t>0.5</a:t>
              </a:r>
            </a:p>
            <a:p>
              <a:pPr eaLnBrk="1" hangingPunct="1"/>
              <a:r>
                <a:rPr kumimoji="1" lang="en-US" altLang="zh-CN" sz="2000" b="1" dirty="0">
                  <a:solidFill>
                    <a:srgbClr val="0000FF"/>
                  </a:solidFill>
                  <a:latin typeface="黑体" pitchFamily="49" charset="-122"/>
                </a:rPr>
                <a:t>          </a:t>
              </a:r>
              <a:r>
                <a:rPr kumimoji="1" lang="zh-CN" altLang="en-US" sz="2000" b="1" dirty="0">
                  <a:solidFill>
                    <a:srgbClr val="0000FF"/>
                  </a:solidFill>
                  <a:latin typeface="黑体" pitchFamily="49" charset="-122"/>
                </a:rPr>
                <a:t>两端铰支 </a:t>
              </a:r>
              <a:r>
                <a:rPr kumimoji="1" lang="en-US" altLang="zh-CN" sz="2000" b="1" dirty="0">
                  <a:solidFill>
                    <a:srgbClr val="0000FF"/>
                  </a:solidFill>
                  <a:latin typeface="黑体" pitchFamily="49" charset="-122"/>
                </a:rPr>
                <a:t>:   </a:t>
              </a:r>
              <a:r>
                <a:rPr kumimoji="1" lang="en-US" altLang="zh-CN" sz="2000" i="1" dirty="0">
                  <a:solidFill>
                    <a:srgbClr val="0000FF"/>
                  </a:solidFill>
                  <a:latin typeface="黑体" pitchFamily="49" charset="-122"/>
                  <a:sym typeface="Symbol" pitchFamily="18" charset="2"/>
                </a:rPr>
                <a:t> </a:t>
              </a:r>
              <a:r>
                <a:rPr kumimoji="1" lang="zh-CN" altLang="en-US" sz="2000" b="1" dirty="0">
                  <a:solidFill>
                    <a:srgbClr val="0000FF"/>
                  </a:solidFill>
                  <a:latin typeface="黑体" pitchFamily="49" charset="-122"/>
                  <a:sym typeface="Symbol" pitchFamily="18" charset="2"/>
                </a:rPr>
                <a:t>＝ </a:t>
              </a:r>
              <a:r>
                <a:rPr kumimoji="1" lang="en-US" altLang="zh-CN" sz="2000" dirty="0">
                  <a:solidFill>
                    <a:srgbClr val="0000FF"/>
                  </a:solidFill>
                  <a:latin typeface="黑体" pitchFamily="49" charset="-122"/>
                  <a:sym typeface="Symbol" pitchFamily="18" charset="2"/>
                </a:rPr>
                <a:t>1.0</a:t>
              </a:r>
              <a:endParaRPr kumimoji="1" lang="en-US" altLang="zh-CN" sz="2000" b="1" dirty="0">
                <a:solidFill>
                  <a:srgbClr val="0000FF"/>
                </a:solidFill>
                <a:latin typeface="黑体" pitchFamily="49" charset="-122"/>
                <a:sym typeface="Symbol" pitchFamily="18" charset="2"/>
              </a:endParaRPr>
            </a:p>
          </p:txBody>
        </p:sp>
      </p:grpSp>
      <p:graphicFrame>
        <p:nvGraphicFramePr>
          <p:cNvPr id="10" name="Object 5"/>
          <p:cNvGraphicFramePr>
            <a:graphicFrameLocks noChangeAspect="1"/>
          </p:cNvGraphicFramePr>
          <p:nvPr>
            <p:extLst>
              <p:ext uri="{D42A27DB-BD31-4B8C-83A1-F6EECF244321}">
                <p14:modId xmlns:p14="http://schemas.microsoft.com/office/powerpoint/2010/main" val="3118541684"/>
              </p:ext>
            </p:extLst>
          </p:nvPr>
        </p:nvGraphicFramePr>
        <p:xfrm>
          <a:off x="1044326" y="3485877"/>
          <a:ext cx="2087563" cy="1257300"/>
        </p:xfrm>
        <a:graphic>
          <a:graphicData uri="http://schemas.openxmlformats.org/presentationml/2006/ole">
            <mc:AlternateContent xmlns:mc="http://schemas.openxmlformats.org/markup-compatibility/2006">
              <mc:Choice xmlns:v="urn:schemas-microsoft-com:vml" Requires="v">
                <p:oleObj name="公式" r:id="rId4" imgW="736280" imgH="444307" progId="">
                  <p:embed/>
                </p:oleObj>
              </mc:Choice>
              <mc:Fallback>
                <p:oleObj name="公式" r:id="rId4" imgW="736280" imgH="444307" progId="">
                  <p:embed/>
                  <p:pic>
                    <p:nvPicPr>
                      <p:cNvPr id="0" name="Picture 2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44326" y="3485877"/>
                        <a:ext cx="2087563" cy="1257300"/>
                      </a:xfrm>
                      <a:prstGeom prst="rect">
                        <a:avLst/>
                      </a:prstGeom>
                      <a:noFill/>
                      <a:extLst>
                        <a:ext uri="{909E8E84-426E-40DD-AFC4-6F175D3DCCD1}">
                          <a14:hiddenFill xmlns:a14="http://schemas.microsoft.com/office/drawing/2010/main">
                            <a:solidFill>
                              <a:srgbClr val="00FFFF"/>
                            </a:solidFill>
                          </a14:hiddenFill>
                        </a:ext>
                      </a:extLst>
                    </p:spPr>
                  </p:pic>
                </p:oleObj>
              </mc:Fallback>
            </mc:AlternateContent>
          </a:graphicData>
        </a:graphic>
      </p:graphicFrame>
    </p:spTree>
    <p:extLst>
      <p:ext uri="{BB962C8B-B14F-4D97-AF65-F5344CB8AC3E}">
        <p14:creationId xmlns:p14="http://schemas.microsoft.com/office/powerpoint/2010/main" val="815711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6" presetClass="entr" presetSubtype="37"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barn(outVertical)">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500" fill="hold"/>
                                        <p:tgtEl>
                                          <p:spTgt spid="10"/>
                                        </p:tgtEl>
                                        <p:attrNameLst>
                                          <p:attrName>ppt_x</p:attrName>
                                        </p:attrNameLst>
                                      </p:cBhvr>
                                      <p:tavLst>
                                        <p:tav tm="0">
                                          <p:val>
                                            <p:strVal val="0-#ppt_w/2"/>
                                          </p:val>
                                        </p:tav>
                                        <p:tav tm="100000">
                                          <p:val>
                                            <p:strVal val="#ppt_x"/>
                                          </p:val>
                                        </p:tav>
                                      </p:tavLst>
                                    </p:anim>
                                    <p:anim calcmode="lin" valueType="num">
                                      <p:cBhvr additive="base">
                                        <p:cTn id="22"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autoUpdateAnimBg="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1121568" y="692696"/>
            <a:ext cx="1943894" cy="461665"/>
          </a:xfrm>
          <a:prstGeom prst="rect">
            <a:avLst/>
          </a:prstGeom>
          <a:noFill/>
          <a:ln w="19050">
            <a:solidFill>
              <a:srgbClr val="FF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itchFamily="34" charset="0"/>
                <a:ea typeface="黑体" pitchFamily="49" charset="-122"/>
              </a:defRPr>
            </a:lvl1pPr>
            <a:lvl2pPr marL="742950" indent="-285750" eaLnBrk="0" hangingPunct="0">
              <a:defRPr>
                <a:solidFill>
                  <a:schemeClr val="tx1"/>
                </a:solidFill>
                <a:latin typeface="Arial" pitchFamily="34" charset="0"/>
                <a:ea typeface="黑体" pitchFamily="49" charset="-122"/>
              </a:defRPr>
            </a:lvl2pPr>
            <a:lvl3pPr marL="1143000" indent="-228600" eaLnBrk="0" hangingPunct="0">
              <a:defRPr>
                <a:solidFill>
                  <a:schemeClr val="tx1"/>
                </a:solidFill>
                <a:latin typeface="Arial" pitchFamily="34" charset="0"/>
                <a:ea typeface="黑体" pitchFamily="49" charset="-122"/>
              </a:defRPr>
            </a:lvl3pPr>
            <a:lvl4pPr marL="1600200" indent="-228600" eaLnBrk="0" hangingPunct="0">
              <a:defRPr>
                <a:solidFill>
                  <a:schemeClr val="tx1"/>
                </a:solidFill>
                <a:latin typeface="Arial" pitchFamily="34" charset="0"/>
                <a:ea typeface="黑体" pitchFamily="49" charset="-122"/>
              </a:defRPr>
            </a:lvl4pPr>
            <a:lvl5pPr marL="2057400" indent="-228600" eaLnBrk="0" hangingPunct="0">
              <a:defRPr>
                <a:solidFill>
                  <a:schemeClr val="tx1"/>
                </a:solidFill>
                <a:latin typeface="Arial" pitchFamily="34" charset="0"/>
                <a:ea typeface="黑体" pitchFamily="49" charset="-122"/>
              </a:defRPr>
            </a:lvl5pPr>
            <a:lvl6pPr marL="2514600" indent="-228600" eaLnBrk="0" fontAlgn="base" hangingPunct="0">
              <a:spcBef>
                <a:spcPct val="0"/>
              </a:spcBef>
              <a:spcAft>
                <a:spcPct val="0"/>
              </a:spcAft>
              <a:defRPr>
                <a:solidFill>
                  <a:schemeClr val="tx1"/>
                </a:solidFill>
                <a:latin typeface="Arial" pitchFamily="34" charset="0"/>
                <a:ea typeface="黑体" pitchFamily="49" charset="-122"/>
              </a:defRPr>
            </a:lvl6pPr>
            <a:lvl7pPr marL="2971800" indent="-228600" eaLnBrk="0" fontAlgn="base" hangingPunct="0">
              <a:spcBef>
                <a:spcPct val="0"/>
              </a:spcBef>
              <a:spcAft>
                <a:spcPct val="0"/>
              </a:spcAft>
              <a:defRPr>
                <a:solidFill>
                  <a:schemeClr val="tx1"/>
                </a:solidFill>
                <a:latin typeface="Arial" pitchFamily="34" charset="0"/>
                <a:ea typeface="黑体" pitchFamily="49" charset="-122"/>
              </a:defRPr>
            </a:lvl7pPr>
            <a:lvl8pPr marL="3429000" indent="-228600" eaLnBrk="0" fontAlgn="base" hangingPunct="0">
              <a:spcBef>
                <a:spcPct val="0"/>
              </a:spcBef>
              <a:spcAft>
                <a:spcPct val="0"/>
              </a:spcAft>
              <a:defRPr>
                <a:solidFill>
                  <a:schemeClr val="tx1"/>
                </a:solidFill>
                <a:latin typeface="Arial" pitchFamily="34" charset="0"/>
                <a:ea typeface="黑体" pitchFamily="49" charset="-122"/>
              </a:defRPr>
            </a:lvl8pPr>
            <a:lvl9pPr marL="3886200" indent="-228600" eaLnBrk="0" fontAlgn="base" hangingPunct="0">
              <a:spcBef>
                <a:spcPct val="0"/>
              </a:spcBef>
              <a:spcAft>
                <a:spcPct val="0"/>
              </a:spcAft>
              <a:defRPr>
                <a:solidFill>
                  <a:schemeClr val="tx1"/>
                </a:solidFill>
                <a:latin typeface="Arial" pitchFamily="34" charset="0"/>
                <a:ea typeface="黑体" pitchFamily="49" charset="-122"/>
              </a:defRPr>
            </a:lvl9pPr>
          </a:lstStyle>
          <a:p>
            <a:pPr eaLnBrk="1" hangingPunct="1"/>
            <a:r>
              <a:rPr kumimoji="1" lang="zh-CN" altLang="en-US" sz="2400" b="1" dirty="0">
                <a:solidFill>
                  <a:srgbClr val="0000FF"/>
                </a:solidFill>
                <a:latin typeface="Times New Roman" pitchFamily="18" charset="0"/>
              </a:rPr>
              <a:t>临界应力</a:t>
            </a:r>
          </a:p>
        </p:txBody>
      </p:sp>
      <p:graphicFrame>
        <p:nvGraphicFramePr>
          <p:cNvPr id="4" name="Object 5"/>
          <p:cNvGraphicFramePr>
            <a:graphicFrameLocks noChangeAspect="1"/>
          </p:cNvGraphicFramePr>
          <p:nvPr>
            <p:extLst>
              <p:ext uri="{D42A27DB-BD31-4B8C-83A1-F6EECF244321}">
                <p14:modId xmlns:p14="http://schemas.microsoft.com/office/powerpoint/2010/main" val="1577173414"/>
              </p:ext>
            </p:extLst>
          </p:nvPr>
        </p:nvGraphicFramePr>
        <p:xfrm>
          <a:off x="4657725" y="1695393"/>
          <a:ext cx="1066800" cy="915987"/>
        </p:xfrm>
        <a:graphic>
          <a:graphicData uri="http://schemas.openxmlformats.org/presentationml/2006/ole">
            <mc:AlternateContent xmlns:mc="http://schemas.openxmlformats.org/markup-compatibility/2006">
              <mc:Choice xmlns:v="urn:schemas-microsoft-com:vml" Requires="v">
                <p:oleObj name="公式" r:id="rId2" imgW="457002" imgH="393529" progId="">
                  <p:embed/>
                </p:oleObj>
              </mc:Choice>
              <mc:Fallback>
                <p:oleObj name="公式" r:id="rId2" imgW="457002" imgH="393529" progId="">
                  <p:embed/>
                  <p:pic>
                    <p:nvPicPr>
                      <p:cNvPr id="0" name="Picture 5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57725" y="1695393"/>
                        <a:ext cx="1066800" cy="915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Text Box 6"/>
          <p:cNvSpPr txBox="1">
            <a:spLocks noChangeArrowheads="1"/>
          </p:cNvSpPr>
          <p:nvPr/>
        </p:nvSpPr>
        <p:spPr bwMode="auto">
          <a:xfrm>
            <a:off x="1161703" y="1924787"/>
            <a:ext cx="3266281" cy="457200"/>
          </a:xfrm>
          <a:prstGeom prst="rect">
            <a:avLst/>
          </a:prstGeom>
          <a:noFill/>
          <a:ln w="19050">
            <a:solidFill>
              <a:srgbClr val="FF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itchFamily="34" charset="0"/>
                <a:ea typeface="黑体" pitchFamily="49" charset="-122"/>
              </a:defRPr>
            </a:lvl1pPr>
            <a:lvl2pPr marL="742950" indent="-285750" eaLnBrk="0" hangingPunct="0">
              <a:defRPr>
                <a:solidFill>
                  <a:schemeClr val="tx1"/>
                </a:solidFill>
                <a:latin typeface="Arial" pitchFamily="34" charset="0"/>
                <a:ea typeface="黑体" pitchFamily="49" charset="-122"/>
              </a:defRPr>
            </a:lvl2pPr>
            <a:lvl3pPr marL="1143000" indent="-228600" eaLnBrk="0" hangingPunct="0">
              <a:defRPr>
                <a:solidFill>
                  <a:schemeClr val="tx1"/>
                </a:solidFill>
                <a:latin typeface="Arial" pitchFamily="34" charset="0"/>
                <a:ea typeface="黑体" pitchFamily="49" charset="-122"/>
              </a:defRPr>
            </a:lvl3pPr>
            <a:lvl4pPr marL="1600200" indent="-228600" eaLnBrk="0" hangingPunct="0">
              <a:defRPr>
                <a:solidFill>
                  <a:schemeClr val="tx1"/>
                </a:solidFill>
                <a:latin typeface="Arial" pitchFamily="34" charset="0"/>
                <a:ea typeface="黑体" pitchFamily="49" charset="-122"/>
              </a:defRPr>
            </a:lvl4pPr>
            <a:lvl5pPr marL="2057400" indent="-228600" eaLnBrk="0" hangingPunct="0">
              <a:defRPr>
                <a:solidFill>
                  <a:schemeClr val="tx1"/>
                </a:solidFill>
                <a:latin typeface="Arial" pitchFamily="34" charset="0"/>
                <a:ea typeface="黑体" pitchFamily="49" charset="-122"/>
              </a:defRPr>
            </a:lvl5pPr>
            <a:lvl6pPr marL="2514600" indent="-228600" eaLnBrk="0" fontAlgn="base" hangingPunct="0">
              <a:spcBef>
                <a:spcPct val="0"/>
              </a:spcBef>
              <a:spcAft>
                <a:spcPct val="0"/>
              </a:spcAft>
              <a:defRPr>
                <a:solidFill>
                  <a:schemeClr val="tx1"/>
                </a:solidFill>
                <a:latin typeface="Arial" pitchFamily="34" charset="0"/>
                <a:ea typeface="黑体" pitchFamily="49" charset="-122"/>
              </a:defRPr>
            </a:lvl6pPr>
            <a:lvl7pPr marL="2971800" indent="-228600" eaLnBrk="0" fontAlgn="base" hangingPunct="0">
              <a:spcBef>
                <a:spcPct val="0"/>
              </a:spcBef>
              <a:spcAft>
                <a:spcPct val="0"/>
              </a:spcAft>
              <a:defRPr>
                <a:solidFill>
                  <a:schemeClr val="tx1"/>
                </a:solidFill>
                <a:latin typeface="Arial" pitchFamily="34" charset="0"/>
                <a:ea typeface="黑体" pitchFamily="49" charset="-122"/>
              </a:defRPr>
            </a:lvl7pPr>
            <a:lvl8pPr marL="3429000" indent="-228600" eaLnBrk="0" fontAlgn="base" hangingPunct="0">
              <a:spcBef>
                <a:spcPct val="0"/>
              </a:spcBef>
              <a:spcAft>
                <a:spcPct val="0"/>
              </a:spcAft>
              <a:defRPr>
                <a:solidFill>
                  <a:schemeClr val="tx1"/>
                </a:solidFill>
                <a:latin typeface="Arial" pitchFamily="34" charset="0"/>
                <a:ea typeface="黑体" pitchFamily="49" charset="-122"/>
              </a:defRPr>
            </a:lvl8pPr>
            <a:lvl9pPr marL="3886200" indent="-228600" eaLnBrk="0" fontAlgn="base" hangingPunct="0">
              <a:spcBef>
                <a:spcPct val="0"/>
              </a:spcBef>
              <a:spcAft>
                <a:spcPct val="0"/>
              </a:spcAft>
              <a:defRPr>
                <a:solidFill>
                  <a:schemeClr val="tx1"/>
                </a:solidFill>
                <a:latin typeface="Arial" pitchFamily="34" charset="0"/>
                <a:ea typeface="黑体" pitchFamily="49" charset="-122"/>
              </a:defRPr>
            </a:lvl9pPr>
          </a:lstStyle>
          <a:p>
            <a:pPr eaLnBrk="1" hangingPunct="1"/>
            <a:r>
              <a:rPr kumimoji="1" lang="zh-CN" altLang="en-US" sz="2400" b="1" dirty="0">
                <a:solidFill>
                  <a:srgbClr val="0000CC"/>
                </a:solidFill>
                <a:latin typeface="黑体" pitchFamily="49" charset="-122"/>
              </a:rPr>
              <a:t>压杆的柔度（长细比）</a:t>
            </a:r>
          </a:p>
        </p:txBody>
      </p:sp>
      <p:graphicFrame>
        <p:nvGraphicFramePr>
          <p:cNvPr id="6" name="Object 7"/>
          <p:cNvGraphicFramePr>
            <a:graphicFrameLocks noChangeAspect="1"/>
          </p:cNvGraphicFramePr>
          <p:nvPr>
            <p:extLst>
              <p:ext uri="{D42A27DB-BD31-4B8C-83A1-F6EECF244321}">
                <p14:modId xmlns:p14="http://schemas.microsoft.com/office/powerpoint/2010/main" val="4254381849"/>
              </p:ext>
            </p:extLst>
          </p:nvPr>
        </p:nvGraphicFramePr>
        <p:xfrm>
          <a:off x="1691680" y="3167955"/>
          <a:ext cx="985838" cy="908050"/>
        </p:xfrm>
        <a:graphic>
          <a:graphicData uri="http://schemas.openxmlformats.org/presentationml/2006/ole">
            <mc:AlternateContent xmlns:mc="http://schemas.openxmlformats.org/markup-compatibility/2006">
              <mc:Choice xmlns:v="urn:schemas-microsoft-com:vml" Requires="v">
                <p:oleObj name="公式" r:id="rId4" imgW="482391" imgH="444307" progId="">
                  <p:embed/>
                </p:oleObj>
              </mc:Choice>
              <mc:Fallback>
                <p:oleObj name="公式" r:id="rId4" imgW="482391" imgH="444307" progId="">
                  <p:embed/>
                  <p:pic>
                    <p:nvPicPr>
                      <p:cNvPr id="0" name="Picture 5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91680" y="3167955"/>
                        <a:ext cx="985838" cy="908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 name="Text Box 8"/>
          <p:cNvSpPr txBox="1">
            <a:spLocks noChangeArrowheads="1"/>
          </p:cNvSpPr>
          <p:nvPr/>
        </p:nvSpPr>
        <p:spPr bwMode="auto">
          <a:xfrm>
            <a:off x="3131543" y="3383855"/>
            <a:ext cx="2379662" cy="457200"/>
          </a:xfrm>
          <a:prstGeom prst="rect">
            <a:avLst/>
          </a:prstGeom>
          <a:noFill/>
          <a:ln w="19050">
            <a:solidFill>
              <a:srgbClr val="FF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黑体" pitchFamily="49" charset="-122"/>
              </a:defRPr>
            </a:lvl1pPr>
            <a:lvl2pPr marL="742950" indent="-285750" eaLnBrk="0" hangingPunct="0">
              <a:defRPr>
                <a:solidFill>
                  <a:schemeClr val="tx1"/>
                </a:solidFill>
                <a:latin typeface="Arial" pitchFamily="34" charset="0"/>
                <a:ea typeface="黑体" pitchFamily="49" charset="-122"/>
              </a:defRPr>
            </a:lvl2pPr>
            <a:lvl3pPr marL="1143000" indent="-228600" eaLnBrk="0" hangingPunct="0">
              <a:defRPr>
                <a:solidFill>
                  <a:schemeClr val="tx1"/>
                </a:solidFill>
                <a:latin typeface="Arial" pitchFamily="34" charset="0"/>
                <a:ea typeface="黑体" pitchFamily="49" charset="-122"/>
              </a:defRPr>
            </a:lvl3pPr>
            <a:lvl4pPr marL="1600200" indent="-228600" eaLnBrk="0" hangingPunct="0">
              <a:defRPr>
                <a:solidFill>
                  <a:schemeClr val="tx1"/>
                </a:solidFill>
                <a:latin typeface="Arial" pitchFamily="34" charset="0"/>
                <a:ea typeface="黑体" pitchFamily="49" charset="-122"/>
              </a:defRPr>
            </a:lvl4pPr>
            <a:lvl5pPr marL="2057400" indent="-228600" eaLnBrk="0" hangingPunct="0">
              <a:defRPr>
                <a:solidFill>
                  <a:schemeClr val="tx1"/>
                </a:solidFill>
                <a:latin typeface="Arial" pitchFamily="34" charset="0"/>
                <a:ea typeface="黑体" pitchFamily="49" charset="-122"/>
              </a:defRPr>
            </a:lvl5pPr>
            <a:lvl6pPr marL="2514600" indent="-228600" eaLnBrk="0" fontAlgn="base" hangingPunct="0">
              <a:spcBef>
                <a:spcPct val="0"/>
              </a:spcBef>
              <a:spcAft>
                <a:spcPct val="0"/>
              </a:spcAft>
              <a:defRPr>
                <a:solidFill>
                  <a:schemeClr val="tx1"/>
                </a:solidFill>
                <a:latin typeface="Arial" pitchFamily="34" charset="0"/>
                <a:ea typeface="黑体" pitchFamily="49" charset="-122"/>
              </a:defRPr>
            </a:lvl6pPr>
            <a:lvl7pPr marL="2971800" indent="-228600" eaLnBrk="0" fontAlgn="base" hangingPunct="0">
              <a:spcBef>
                <a:spcPct val="0"/>
              </a:spcBef>
              <a:spcAft>
                <a:spcPct val="0"/>
              </a:spcAft>
              <a:defRPr>
                <a:solidFill>
                  <a:schemeClr val="tx1"/>
                </a:solidFill>
                <a:latin typeface="Arial" pitchFamily="34" charset="0"/>
                <a:ea typeface="黑体" pitchFamily="49" charset="-122"/>
              </a:defRPr>
            </a:lvl7pPr>
            <a:lvl8pPr marL="3429000" indent="-228600" eaLnBrk="0" fontAlgn="base" hangingPunct="0">
              <a:spcBef>
                <a:spcPct val="0"/>
              </a:spcBef>
              <a:spcAft>
                <a:spcPct val="0"/>
              </a:spcAft>
              <a:defRPr>
                <a:solidFill>
                  <a:schemeClr val="tx1"/>
                </a:solidFill>
                <a:latin typeface="Arial" pitchFamily="34" charset="0"/>
                <a:ea typeface="黑体" pitchFamily="49" charset="-122"/>
              </a:defRPr>
            </a:lvl8pPr>
            <a:lvl9pPr marL="3886200" indent="-228600" eaLnBrk="0" fontAlgn="base" hangingPunct="0">
              <a:spcBef>
                <a:spcPct val="0"/>
              </a:spcBef>
              <a:spcAft>
                <a:spcPct val="0"/>
              </a:spcAft>
              <a:defRPr>
                <a:solidFill>
                  <a:schemeClr val="tx1"/>
                </a:solidFill>
                <a:latin typeface="Arial" pitchFamily="34" charset="0"/>
                <a:ea typeface="黑体" pitchFamily="49" charset="-122"/>
              </a:defRPr>
            </a:lvl9pPr>
          </a:lstStyle>
          <a:p>
            <a:pPr eaLnBrk="1" hangingPunct="1"/>
            <a:r>
              <a:rPr kumimoji="1" lang="en-US" altLang="zh-CN" sz="2400">
                <a:solidFill>
                  <a:srgbClr val="0000FF"/>
                </a:solidFill>
                <a:latin typeface="Times New Roman" pitchFamily="18" charset="0"/>
                <a:ea typeface="宋体" pitchFamily="2" charset="-122"/>
              </a:rPr>
              <a:t>——</a:t>
            </a:r>
            <a:r>
              <a:rPr kumimoji="1" lang="zh-CN" altLang="en-US" sz="2400" b="1">
                <a:solidFill>
                  <a:srgbClr val="0000FF"/>
                </a:solidFill>
                <a:latin typeface="宋体" pitchFamily="2" charset="-122"/>
                <a:ea typeface="宋体" pitchFamily="2" charset="-122"/>
              </a:rPr>
              <a:t>惯性半径</a:t>
            </a:r>
          </a:p>
        </p:txBody>
      </p:sp>
      <p:graphicFrame>
        <p:nvGraphicFramePr>
          <p:cNvPr id="8" name="Object 9"/>
          <p:cNvGraphicFramePr>
            <a:graphicFrameLocks noChangeAspect="1"/>
          </p:cNvGraphicFramePr>
          <p:nvPr>
            <p:extLst>
              <p:ext uri="{D42A27DB-BD31-4B8C-83A1-F6EECF244321}">
                <p14:modId xmlns:p14="http://schemas.microsoft.com/office/powerpoint/2010/main" val="1640977666"/>
              </p:ext>
            </p:extLst>
          </p:nvPr>
        </p:nvGraphicFramePr>
        <p:xfrm>
          <a:off x="2558455" y="4391918"/>
          <a:ext cx="2295525" cy="619125"/>
        </p:xfrm>
        <a:graphic>
          <a:graphicData uri="http://schemas.openxmlformats.org/presentationml/2006/ole">
            <mc:AlternateContent xmlns:mc="http://schemas.openxmlformats.org/markup-compatibility/2006">
              <mc:Choice xmlns:v="urn:schemas-microsoft-com:vml" Requires="v">
                <p:oleObj name="公式" r:id="rId6" imgW="888614" imgH="241195" progId="">
                  <p:embed/>
                </p:oleObj>
              </mc:Choice>
              <mc:Fallback>
                <p:oleObj name="公式" r:id="rId6" imgW="888614" imgH="241195" progId="">
                  <p:embed/>
                  <p:pic>
                    <p:nvPicPr>
                      <p:cNvPr id="0" name="Picture 6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58455" y="4391918"/>
                        <a:ext cx="2295525" cy="619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 name="Text Box 10"/>
          <p:cNvSpPr txBox="1">
            <a:spLocks noChangeArrowheads="1"/>
          </p:cNvSpPr>
          <p:nvPr/>
        </p:nvSpPr>
        <p:spPr bwMode="auto">
          <a:xfrm>
            <a:off x="5222280" y="4463355"/>
            <a:ext cx="2444750" cy="457200"/>
          </a:xfrm>
          <a:prstGeom prst="rect">
            <a:avLst/>
          </a:prstGeom>
          <a:noFill/>
          <a:ln w="19050">
            <a:solidFill>
              <a:srgbClr val="FF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黑体" pitchFamily="49" charset="-122"/>
              </a:defRPr>
            </a:lvl1pPr>
            <a:lvl2pPr marL="742950" indent="-285750" eaLnBrk="0" hangingPunct="0">
              <a:defRPr>
                <a:solidFill>
                  <a:schemeClr val="tx1"/>
                </a:solidFill>
                <a:latin typeface="Arial" pitchFamily="34" charset="0"/>
                <a:ea typeface="黑体" pitchFamily="49" charset="-122"/>
              </a:defRPr>
            </a:lvl2pPr>
            <a:lvl3pPr marL="1143000" indent="-228600" eaLnBrk="0" hangingPunct="0">
              <a:defRPr>
                <a:solidFill>
                  <a:schemeClr val="tx1"/>
                </a:solidFill>
                <a:latin typeface="Arial" pitchFamily="34" charset="0"/>
                <a:ea typeface="黑体" pitchFamily="49" charset="-122"/>
              </a:defRPr>
            </a:lvl3pPr>
            <a:lvl4pPr marL="1600200" indent="-228600" eaLnBrk="0" hangingPunct="0">
              <a:defRPr>
                <a:solidFill>
                  <a:schemeClr val="tx1"/>
                </a:solidFill>
                <a:latin typeface="Arial" pitchFamily="34" charset="0"/>
                <a:ea typeface="黑体" pitchFamily="49" charset="-122"/>
              </a:defRPr>
            </a:lvl4pPr>
            <a:lvl5pPr marL="2057400" indent="-228600" eaLnBrk="0" hangingPunct="0">
              <a:defRPr>
                <a:solidFill>
                  <a:schemeClr val="tx1"/>
                </a:solidFill>
                <a:latin typeface="Arial" pitchFamily="34" charset="0"/>
                <a:ea typeface="黑体" pitchFamily="49" charset="-122"/>
              </a:defRPr>
            </a:lvl5pPr>
            <a:lvl6pPr marL="2514600" indent="-228600" eaLnBrk="0" fontAlgn="base" hangingPunct="0">
              <a:spcBef>
                <a:spcPct val="0"/>
              </a:spcBef>
              <a:spcAft>
                <a:spcPct val="0"/>
              </a:spcAft>
              <a:defRPr>
                <a:solidFill>
                  <a:schemeClr val="tx1"/>
                </a:solidFill>
                <a:latin typeface="Arial" pitchFamily="34" charset="0"/>
                <a:ea typeface="黑体" pitchFamily="49" charset="-122"/>
              </a:defRPr>
            </a:lvl6pPr>
            <a:lvl7pPr marL="2971800" indent="-228600" eaLnBrk="0" fontAlgn="base" hangingPunct="0">
              <a:spcBef>
                <a:spcPct val="0"/>
              </a:spcBef>
              <a:spcAft>
                <a:spcPct val="0"/>
              </a:spcAft>
              <a:defRPr>
                <a:solidFill>
                  <a:schemeClr val="tx1"/>
                </a:solidFill>
                <a:latin typeface="Arial" pitchFamily="34" charset="0"/>
                <a:ea typeface="黑体" pitchFamily="49" charset="-122"/>
              </a:defRPr>
            </a:lvl7pPr>
            <a:lvl8pPr marL="3429000" indent="-228600" eaLnBrk="0" fontAlgn="base" hangingPunct="0">
              <a:spcBef>
                <a:spcPct val="0"/>
              </a:spcBef>
              <a:spcAft>
                <a:spcPct val="0"/>
              </a:spcAft>
              <a:defRPr>
                <a:solidFill>
                  <a:schemeClr val="tx1"/>
                </a:solidFill>
                <a:latin typeface="Arial" pitchFamily="34" charset="0"/>
                <a:ea typeface="黑体" pitchFamily="49" charset="-122"/>
              </a:defRPr>
            </a:lvl8pPr>
            <a:lvl9pPr marL="3886200" indent="-228600" eaLnBrk="0" fontAlgn="base" hangingPunct="0">
              <a:spcBef>
                <a:spcPct val="0"/>
              </a:spcBef>
              <a:spcAft>
                <a:spcPct val="0"/>
              </a:spcAft>
              <a:defRPr>
                <a:solidFill>
                  <a:schemeClr val="tx1"/>
                </a:solidFill>
                <a:latin typeface="Arial" pitchFamily="34" charset="0"/>
                <a:ea typeface="黑体" pitchFamily="49" charset="-122"/>
              </a:defRPr>
            </a:lvl9pPr>
          </a:lstStyle>
          <a:p>
            <a:pPr eaLnBrk="1" hangingPunct="1"/>
            <a:r>
              <a:rPr kumimoji="1" lang="zh-CN" altLang="en-US" sz="2400" b="1">
                <a:solidFill>
                  <a:srgbClr val="0000FF"/>
                </a:solidFill>
                <a:latin typeface="黑体" pitchFamily="49" charset="-122"/>
              </a:rPr>
              <a:t>压杆容易失稳</a:t>
            </a:r>
          </a:p>
        </p:txBody>
      </p:sp>
      <p:graphicFrame>
        <p:nvGraphicFramePr>
          <p:cNvPr id="10" name="Object 23"/>
          <p:cNvGraphicFramePr>
            <a:graphicFrameLocks noChangeAspect="1"/>
          </p:cNvGraphicFramePr>
          <p:nvPr>
            <p:extLst>
              <p:ext uri="{D42A27DB-BD31-4B8C-83A1-F6EECF244321}">
                <p14:modId xmlns:p14="http://schemas.microsoft.com/office/powerpoint/2010/main" val="3604707010"/>
              </p:ext>
            </p:extLst>
          </p:nvPr>
        </p:nvGraphicFramePr>
        <p:xfrm>
          <a:off x="6158905" y="3140968"/>
          <a:ext cx="1452563" cy="550862"/>
        </p:xfrm>
        <a:graphic>
          <a:graphicData uri="http://schemas.openxmlformats.org/presentationml/2006/ole">
            <mc:AlternateContent xmlns:mc="http://schemas.openxmlformats.org/markup-compatibility/2006">
              <mc:Choice xmlns:v="urn:schemas-microsoft-com:vml" Requires="v">
                <p:oleObj name="公式" r:id="rId8" imgW="672808" imgH="253890" progId="">
                  <p:embed/>
                </p:oleObj>
              </mc:Choice>
              <mc:Fallback>
                <p:oleObj name="公式" r:id="rId8" imgW="672808" imgH="253890" progId="">
                  <p:embed/>
                  <p:pic>
                    <p:nvPicPr>
                      <p:cNvPr id="0" name="Picture 6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158905" y="3140968"/>
                        <a:ext cx="1452563" cy="5508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Object 24"/>
          <p:cNvGraphicFramePr>
            <a:graphicFrameLocks noChangeAspect="1"/>
          </p:cNvGraphicFramePr>
          <p:nvPr>
            <p:extLst>
              <p:ext uri="{D42A27DB-BD31-4B8C-83A1-F6EECF244321}">
                <p14:modId xmlns:p14="http://schemas.microsoft.com/office/powerpoint/2010/main" val="2292500432"/>
              </p:ext>
            </p:extLst>
          </p:nvPr>
        </p:nvGraphicFramePr>
        <p:xfrm>
          <a:off x="6158905" y="3644205"/>
          <a:ext cx="1455738" cy="603250"/>
        </p:xfrm>
        <a:graphic>
          <a:graphicData uri="http://schemas.openxmlformats.org/presentationml/2006/ole">
            <mc:AlternateContent xmlns:mc="http://schemas.openxmlformats.org/markup-compatibility/2006">
              <mc:Choice xmlns:v="urn:schemas-microsoft-com:vml" Requires="v">
                <p:oleObj name="公式" r:id="rId10" imgW="672808" imgH="279279" progId="">
                  <p:embed/>
                </p:oleObj>
              </mc:Choice>
              <mc:Fallback>
                <p:oleObj name="公式" r:id="rId10" imgW="672808" imgH="279279" progId="">
                  <p:embed/>
                  <p:pic>
                    <p:nvPicPr>
                      <p:cNvPr id="0" name="Picture 6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158905" y="3644205"/>
                        <a:ext cx="1455738" cy="603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7" name="组合 16"/>
          <p:cNvGrpSpPr/>
          <p:nvPr/>
        </p:nvGrpSpPr>
        <p:grpSpPr>
          <a:xfrm>
            <a:off x="3347740" y="503634"/>
            <a:ext cx="2088356" cy="839787"/>
            <a:chOff x="1700213" y="1196752"/>
            <a:chExt cx="2088356" cy="839787"/>
          </a:xfrm>
        </p:grpSpPr>
        <p:graphicFrame>
          <p:nvGraphicFramePr>
            <p:cNvPr id="3" name="Object 3"/>
            <p:cNvGraphicFramePr>
              <a:graphicFrameLocks noChangeAspect="1"/>
            </p:cNvGraphicFramePr>
            <p:nvPr>
              <p:extLst>
                <p:ext uri="{D42A27DB-BD31-4B8C-83A1-F6EECF244321}">
                  <p14:modId xmlns:p14="http://schemas.microsoft.com/office/powerpoint/2010/main" val="3471578022"/>
                </p:ext>
              </p:extLst>
            </p:nvPr>
          </p:nvGraphicFramePr>
          <p:xfrm>
            <a:off x="1700213" y="1274309"/>
            <a:ext cx="1223962" cy="744537"/>
          </p:xfrm>
          <a:graphic>
            <a:graphicData uri="http://schemas.openxmlformats.org/presentationml/2006/ole">
              <mc:AlternateContent xmlns:mc="http://schemas.openxmlformats.org/markup-compatibility/2006">
                <mc:Choice xmlns:v="urn:schemas-microsoft-com:vml" Requires="v">
                  <p:oleObj name="公式" r:id="rId12" imgW="647419" imgH="393529" progId="">
                    <p:embed/>
                  </p:oleObj>
                </mc:Choice>
                <mc:Fallback>
                  <p:oleObj name="公式" r:id="rId12" imgW="647419" imgH="393529" progId="">
                    <p:embed/>
                    <p:pic>
                      <p:nvPicPr>
                        <p:cNvPr id="0" name="Picture 6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00213" y="1274309"/>
                          <a:ext cx="1223962" cy="744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 name="Object 29"/>
            <p:cNvGraphicFramePr>
              <a:graphicFrameLocks noChangeAspect="1"/>
            </p:cNvGraphicFramePr>
            <p:nvPr>
              <p:extLst>
                <p:ext uri="{D42A27DB-BD31-4B8C-83A1-F6EECF244321}">
                  <p14:modId xmlns:p14="http://schemas.microsoft.com/office/powerpoint/2010/main" val="3721672312"/>
                </p:ext>
              </p:extLst>
            </p:nvPr>
          </p:nvGraphicFramePr>
          <p:xfrm>
            <a:off x="2901157" y="1196752"/>
            <a:ext cx="887412" cy="839787"/>
          </p:xfrm>
          <a:graphic>
            <a:graphicData uri="http://schemas.openxmlformats.org/presentationml/2006/ole">
              <mc:AlternateContent xmlns:mc="http://schemas.openxmlformats.org/markup-compatibility/2006">
                <mc:Choice xmlns:v="urn:schemas-microsoft-com:vml" Requires="v">
                  <p:oleObj name="公式" r:id="rId14" imgW="469696" imgH="444307" progId="">
                    <p:embed/>
                  </p:oleObj>
                </mc:Choice>
                <mc:Fallback>
                  <p:oleObj name="公式" r:id="rId14" imgW="469696" imgH="444307" progId="">
                    <p:embed/>
                    <p:pic>
                      <p:nvPicPr>
                        <p:cNvPr id="0" name="Picture 6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901157" y="1196752"/>
                          <a:ext cx="887412" cy="839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Tree>
    <p:extLst>
      <p:ext uri="{BB962C8B-B14F-4D97-AF65-F5344CB8AC3E}">
        <p14:creationId xmlns:p14="http://schemas.microsoft.com/office/powerpoint/2010/main" val="3098976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iterate type="lt">
                                    <p:tmPct val="100000"/>
                                  </p:iterate>
                                  <p:childTnLst>
                                    <p:set>
                                      <p:cBhvr>
                                        <p:cTn id="6" dur="1" fill="hold">
                                          <p:stCondLst>
                                            <p:cond delay="0"/>
                                          </p:stCondLst>
                                        </p:cTn>
                                        <p:tgtEl>
                                          <p:spTgt spid="2"/>
                                        </p:tgtEl>
                                        <p:attrNameLst>
                                          <p:attrName>style.visibility</p:attrName>
                                        </p:attrNameLst>
                                      </p:cBhvr>
                                      <p:to>
                                        <p:strVal val="visible"/>
                                      </p:to>
                                    </p:set>
                                    <p:anim calcmode="lin" valueType="num">
                                      <p:cBhvr additive="base">
                                        <p:cTn id="7" dur="75" fill="hold"/>
                                        <p:tgtEl>
                                          <p:spTgt spid="2"/>
                                        </p:tgtEl>
                                        <p:attrNameLst>
                                          <p:attrName>ppt_x</p:attrName>
                                        </p:attrNameLst>
                                      </p:cBhvr>
                                      <p:tavLst>
                                        <p:tav tm="0">
                                          <p:val>
                                            <p:strVal val="#ppt_x"/>
                                          </p:val>
                                        </p:tav>
                                        <p:tav tm="100000">
                                          <p:val>
                                            <p:strVal val="#ppt_x"/>
                                          </p:val>
                                        </p:tav>
                                      </p:tavLst>
                                    </p:anim>
                                    <p:anim calcmode="lin" valueType="num">
                                      <p:cBhvr additive="base">
                                        <p:cTn id="8" dur="75"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left)">
                                      <p:cBhvr>
                                        <p:cTn id="18" dur="20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wipe(left)">
                                      <p:cBhvr>
                                        <p:cTn id="23" dur="2000"/>
                                        <p:tgtEl>
                                          <p:spTgt spid="4"/>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wipe(left)">
                                      <p:cBhvr>
                                        <p:cTn id="28" dur="2000"/>
                                        <p:tgtEl>
                                          <p:spTgt spid="6"/>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wipe(left)">
                                      <p:cBhvr>
                                        <p:cTn id="33" dur="2000"/>
                                        <p:tgtEl>
                                          <p:spTgt spid="7"/>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nodeType="click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wipe(down)">
                                      <p:cBhvr>
                                        <p:cTn id="38" dur="3000"/>
                                        <p:tgtEl>
                                          <p:spTgt spid="10"/>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wipe(left)">
                                      <p:cBhvr>
                                        <p:cTn id="43" dur="3000"/>
                                        <p:tgtEl>
                                          <p:spTgt spid="11"/>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8"/>
                                        </p:tgtEl>
                                        <p:attrNameLst>
                                          <p:attrName>style.visibility</p:attrName>
                                        </p:attrNameLst>
                                      </p:cBhvr>
                                      <p:to>
                                        <p:strVal val="visible"/>
                                      </p:to>
                                    </p:set>
                                    <p:animEffect transition="in" filter="wipe(left)">
                                      <p:cBhvr>
                                        <p:cTn id="48" dur="500"/>
                                        <p:tgtEl>
                                          <p:spTgt spid="8"/>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4" fill="hold" grpId="0" nodeType="clickEffect">
                                  <p:stCondLst>
                                    <p:cond delay="0"/>
                                  </p:stCondLst>
                                  <p:childTnLst>
                                    <p:set>
                                      <p:cBhvr>
                                        <p:cTn id="52" dur="1" fill="hold">
                                          <p:stCondLst>
                                            <p:cond delay="0"/>
                                          </p:stCondLst>
                                        </p:cTn>
                                        <p:tgtEl>
                                          <p:spTgt spid="9"/>
                                        </p:tgtEl>
                                        <p:attrNameLst>
                                          <p:attrName>style.visibility</p:attrName>
                                        </p:attrNameLst>
                                      </p:cBhvr>
                                      <p:to>
                                        <p:strVal val="visible"/>
                                      </p:to>
                                    </p:set>
                                    <p:animEffect transition="in" filter="wipe(down)">
                                      <p:cBhvr>
                                        <p:cTn id="53"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autoUpdateAnimBg="0"/>
      <p:bldP spid="5" grpId="0" animBg="1"/>
      <p:bldP spid="7" grpId="0" animBg="1"/>
      <p:bldP spid="9"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ChangeAspect="1"/>
          </p:cNvGraphicFramePr>
          <p:nvPr>
            <p:extLst>
              <p:ext uri="{D42A27DB-BD31-4B8C-83A1-F6EECF244321}">
                <p14:modId xmlns:p14="http://schemas.microsoft.com/office/powerpoint/2010/main" val="2508117468"/>
              </p:ext>
            </p:extLst>
          </p:nvPr>
        </p:nvGraphicFramePr>
        <p:xfrm>
          <a:off x="1979613" y="1125538"/>
          <a:ext cx="1155700" cy="523875"/>
        </p:xfrm>
        <a:graphic>
          <a:graphicData uri="http://schemas.openxmlformats.org/presentationml/2006/ole">
            <mc:AlternateContent xmlns:mc="http://schemas.openxmlformats.org/markup-compatibility/2006">
              <mc:Choice xmlns:v="urn:schemas-microsoft-com:vml" Requires="v">
                <p:oleObj name="公式" r:id="rId2" imgW="533169" imgH="241195" progId="">
                  <p:embed/>
                </p:oleObj>
              </mc:Choice>
              <mc:Fallback>
                <p:oleObj name="公式" r:id="rId2" imgW="533169" imgH="241195" progId="">
                  <p:embed/>
                  <p:pic>
                    <p:nvPicPr>
                      <p:cNvPr id="0" name="Picture 9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613" y="1125538"/>
                        <a:ext cx="115570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3" name="Group 3"/>
          <p:cNvGrpSpPr>
            <a:grpSpLocks/>
          </p:cNvGrpSpPr>
          <p:nvPr/>
        </p:nvGrpSpPr>
        <p:grpSpPr bwMode="auto">
          <a:xfrm>
            <a:off x="1436688" y="1916113"/>
            <a:ext cx="2209800" cy="958850"/>
            <a:chOff x="3600" y="720"/>
            <a:chExt cx="1392" cy="604"/>
          </a:xfrm>
        </p:grpSpPr>
        <p:graphicFrame>
          <p:nvGraphicFramePr>
            <p:cNvPr id="4" name="Object 4"/>
            <p:cNvGraphicFramePr>
              <a:graphicFrameLocks noChangeAspect="1"/>
            </p:cNvGraphicFramePr>
            <p:nvPr/>
          </p:nvGraphicFramePr>
          <p:xfrm>
            <a:off x="4176" y="720"/>
            <a:ext cx="816" cy="604"/>
          </p:xfrm>
          <a:graphic>
            <a:graphicData uri="http://schemas.openxmlformats.org/presentationml/2006/ole">
              <mc:AlternateContent xmlns:mc="http://schemas.openxmlformats.org/markup-compatibility/2006">
                <mc:Choice xmlns:v="urn:schemas-microsoft-com:vml" Requires="v">
                  <p:oleObj name="公式" r:id="rId4" imgW="685800" imgH="508000" progId="">
                    <p:embed/>
                  </p:oleObj>
                </mc:Choice>
                <mc:Fallback>
                  <p:oleObj name="公式" r:id="rId4" imgW="685800" imgH="508000" progId="">
                    <p:embed/>
                    <p:pic>
                      <p:nvPicPr>
                        <p:cNvPr id="0" name="Picture 9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76" y="720"/>
                          <a:ext cx="816" cy="6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AutoShape 5"/>
            <p:cNvSpPr>
              <a:spLocks noChangeArrowheads="1"/>
            </p:cNvSpPr>
            <p:nvPr/>
          </p:nvSpPr>
          <p:spPr bwMode="auto">
            <a:xfrm>
              <a:off x="3600" y="912"/>
              <a:ext cx="480" cy="144"/>
            </a:xfrm>
            <a:prstGeom prst="rightArrow">
              <a:avLst>
                <a:gd name="adj1" fmla="val 50000"/>
                <a:gd name="adj2" fmla="val 83333"/>
              </a:avLst>
            </a:prstGeom>
            <a:solidFill>
              <a:srgbClr val="FF6600"/>
            </a:solidFill>
            <a:ln w="19050">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itchFamily="34" charset="0"/>
                  <a:ea typeface="黑体" pitchFamily="49" charset="-122"/>
                </a:defRPr>
              </a:lvl1pPr>
              <a:lvl2pPr marL="742950" indent="-285750" eaLnBrk="0" hangingPunct="0">
                <a:defRPr>
                  <a:solidFill>
                    <a:schemeClr val="tx1"/>
                  </a:solidFill>
                  <a:latin typeface="Arial" pitchFamily="34" charset="0"/>
                  <a:ea typeface="黑体" pitchFamily="49" charset="-122"/>
                </a:defRPr>
              </a:lvl2pPr>
              <a:lvl3pPr marL="1143000" indent="-228600" eaLnBrk="0" hangingPunct="0">
                <a:defRPr>
                  <a:solidFill>
                    <a:schemeClr val="tx1"/>
                  </a:solidFill>
                  <a:latin typeface="Arial" pitchFamily="34" charset="0"/>
                  <a:ea typeface="黑体" pitchFamily="49" charset="-122"/>
                </a:defRPr>
              </a:lvl3pPr>
              <a:lvl4pPr marL="1600200" indent="-228600" eaLnBrk="0" hangingPunct="0">
                <a:defRPr>
                  <a:solidFill>
                    <a:schemeClr val="tx1"/>
                  </a:solidFill>
                  <a:latin typeface="Arial" pitchFamily="34" charset="0"/>
                  <a:ea typeface="黑体" pitchFamily="49" charset="-122"/>
                </a:defRPr>
              </a:lvl4pPr>
              <a:lvl5pPr marL="2057400" indent="-228600" eaLnBrk="0" hangingPunct="0">
                <a:defRPr>
                  <a:solidFill>
                    <a:schemeClr val="tx1"/>
                  </a:solidFill>
                  <a:latin typeface="Arial" pitchFamily="34" charset="0"/>
                  <a:ea typeface="黑体" pitchFamily="49" charset="-122"/>
                </a:defRPr>
              </a:lvl5pPr>
              <a:lvl6pPr marL="2514600" indent="-228600" eaLnBrk="0" fontAlgn="base" hangingPunct="0">
                <a:spcBef>
                  <a:spcPct val="0"/>
                </a:spcBef>
                <a:spcAft>
                  <a:spcPct val="0"/>
                </a:spcAft>
                <a:defRPr>
                  <a:solidFill>
                    <a:schemeClr val="tx1"/>
                  </a:solidFill>
                  <a:latin typeface="Arial" pitchFamily="34" charset="0"/>
                  <a:ea typeface="黑体" pitchFamily="49" charset="-122"/>
                </a:defRPr>
              </a:lvl6pPr>
              <a:lvl7pPr marL="2971800" indent="-228600" eaLnBrk="0" fontAlgn="base" hangingPunct="0">
                <a:spcBef>
                  <a:spcPct val="0"/>
                </a:spcBef>
                <a:spcAft>
                  <a:spcPct val="0"/>
                </a:spcAft>
                <a:defRPr>
                  <a:solidFill>
                    <a:schemeClr val="tx1"/>
                  </a:solidFill>
                  <a:latin typeface="Arial" pitchFamily="34" charset="0"/>
                  <a:ea typeface="黑体" pitchFamily="49" charset="-122"/>
                </a:defRPr>
              </a:lvl7pPr>
              <a:lvl8pPr marL="3429000" indent="-228600" eaLnBrk="0" fontAlgn="base" hangingPunct="0">
                <a:spcBef>
                  <a:spcPct val="0"/>
                </a:spcBef>
                <a:spcAft>
                  <a:spcPct val="0"/>
                </a:spcAft>
                <a:defRPr>
                  <a:solidFill>
                    <a:schemeClr val="tx1"/>
                  </a:solidFill>
                  <a:latin typeface="Arial" pitchFamily="34" charset="0"/>
                  <a:ea typeface="黑体" pitchFamily="49" charset="-122"/>
                </a:defRPr>
              </a:lvl8pPr>
              <a:lvl9pPr marL="3886200" indent="-228600" eaLnBrk="0" fontAlgn="base" hangingPunct="0">
                <a:spcBef>
                  <a:spcPct val="0"/>
                </a:spcBef>
                <a:spcAft>
                  <a:spcPct val="0"/>
                </a:spcAft>
                <a:defRPr>
                  <a:solidFill>
                    <a:schemeClr val="tx1"/>
                  </a:solidFill>
                  <a:latin typeface="Arial" pitchFamily="34" charset="0"/>
                  <a:ea typeface="黑体" pitchFamily="49" charset="-122"/>
                </a:defRPr>
              </a:lvl9pPr>
            </a:lstStyle>
            <a:p>
              <a:pPr eaLnBrk="1" hangingPunct="1"/>
              <a:endParaRPr lang="zh-CN" altLang="en-US" sz="2400">
                <a:solidFill>
                  <a:srgbClr val="0000FF"/>
                </a:solidFill>
                <a:latin typeface="黑体" panose="02010609060101010101" pitchFamily="49" charset="-122"/>
              </a:endParaRPr>
            </a:p>
          </p:txBody>
        </p:sp>
      </p:grpSp>
      <p:graphicFrame>
        <p:nvGraphicFramePr>
          <p:cNvPr id="6" name="Object 6"/>
          <p:cNvGraphicFramePr>
            <a:graphicFrameLocks noChangeAspect="1"/>
          </p:cNvGraphicFramePr>
          <p:nvPr>
            <p:extLst>
              <p:ext uri="{D42A27DB-BD31-4B8C-83A1-F6EECF244321}">
                <p14:modId xmlns:p14="http://schemas.microsoft.com/office/powerpoint/2010/main" val="994364300"/>
              </p:ext>
            </p:extLst>
          </p:nvPr>
        </p:nvGraphicFramePr>
        <p:xfrm>
          <a:off x="4244975" y="1938338"/>
          <a:ext cx="1371600" cy="914400"/>
        </p:xfrm>
        <a:graphic>
          <a:graphicData uri="http://schemas.openxmlformats.org/presentationml/2006/ole">
            <mc:AlternateContent xmlns:mc="http://schemas.openxmlformats.org/markup-compatibility/2006">
              <mc:Choice xmlns:v="urn:schemas-microsoft-com:vml" Requires="v">
                <p:oleObj name="公式" r:id="rId6" imgW="761669" imgH="507780" progId="">
                  <p:embed/>
                </p:oleObj>
              </mc:Choice>
              <mc:Fallback>
                <p:oleObj name="公式" r:id="rId6" imgW="761669" imgH="507780" progId="">
                  <p:embed/>
                  <p:pic>
                    <p:nvPicPr>
                      <p:cNvPr id="0" name="Picture 10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44975" y="1938338"/>
                        <a:ext cx="13716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 name="Text Box 7"/>
          <p:cNvSpPr txBox="1">
            <a:spLocks noChangeArrowheads="1"/>
          </p:cNvSpPr>
          <p:nvPr/>
        </p:nvSpPr>
        <p:spPr bwMode="auto">
          <a:xfrm>
            <a:off x="5803900" y="2155825"/>
            <a:ext cx="3232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黑体" pitchFamily="49" charset="-122"/>
              </a:defRPr>
            </a:lvl1pPr>
            <a:lvl2pPr marL="742950" indent="-285750" eaLnBrk="0" hangingPunct="0">
              <a:defRPr>
                <a:solidFill>
                  <a:schemeClr val="tx1"/>
                </a:solidFill>
                <a:latin typeface="Arial" pitchFamily="34" charset="0"/>
                <a:ea typeface="黑体" pitchFamily="49" charset="-122"/>
              </a:defRPr>
            </a:lvl2pPr>
            <a:lvl3pPr marL="1143000" indent="-228600" eaLnBrk="0" hangingPunct="0">
              <a:defRPr>
                <a:solidFill>
                  <a:schemeClr val="tx1"/>
                </a:solidFill>
                <a:latin typeface="Arial" pitchFamily="34" charset="0"/>
                <a:ea typeface="黑体" pitchFamily="49" charset="-122"/>
              </a:defRPr>
            </a:lvl3pPr>
            <a:lvl4pPr marL="1600200" indent="-228600" eaLnBrk="0" hangingPunct="0">
              <a:defRPr>
                <a:solidFill>
                  <a:schemeClr val="tx1"/>
                </a:solidFill>
                <a:latin typeface="Arial" pitchFamily="34" charset="0"/>
                <a:ea typeface="黑体" pitchFamily="49" charset="-122"/>
              </a:defRPr>
            </a:lvl4pPr>
            <a:lvl5pPr marL="2057400" indent="-228600" eaLnBrk="0" hangingPunct="0">
              <a:defRPr>
                <a:solidFill>
                  <a:schemeClr val="tx1"/>
                </a:solidFill>
                <a:latin typeface="Arial" pitchFamily="34" charset="0"/>
                <a:ea typeface="黑体" pitchFamily="49" charset="-122"/>
              </a:defRPr>
            </a:lvl5pPr>
            <a:lvl6pPr marL="2514600" indent="-228600" eaLnBrk="0" fontAlgn="base" hangingPunct="0">
              <a:spcBef>
                <a:spcPct val="0"/>
              </a:spcBef>
              <a:spcAft>
                <a:spcPct val="0"/>
              </a:spcAft>
              <a:defRPr>
                <a:solidFill>
                  <a:schemeClr val="tx1"/>
                </a:solidFill>
                <a:latin typeface="Arial" pitchFamily="34" charset="0"/>
                <a:ea typeface="黑体" pitchFamily="49" charset="-122"/>
              </a:defRPr>
            </a:lvl6pPr>
            <a:lvl7pPr marL="2971800" indent="-228600" eaLnBrk="0" fontAlgn="base" hangingPunct="0">
              <a:spcBef>
                <a:spcPct val="0"/>
              </a:spcBef>
              <a:spcAft>
                <a:spcPct val="0"/>
              </a:spcAft>
              <a:defRPr>
                <a:solidFill>
                  <a:schemeClr val="tx1"/>
                </a:solidFill>
                <a:latin typeface="Arial" pitchFamily="34" charset="0"/>
                <a:ea typeface="黑体" pitchFamily="49" charset="-122"/>
              </a:defRPr>
            </a:lvl7pPr>
            <a:lvl8pPr marL="3429000" indent="-228600" eaLnBrk="0" fontAlgn="base" hangingPunct="0">
              <a:spcBef>
                <a:spcPct val="0"/>
              </a:spcBef>
              <a:spcAft>
                <a:spcPct val="0"/>
              </a:spcAft>
              <a:defRPr>
                <a:solidFill>
                  <a:schemeClr val="tx1"/>
                </a:solidFill>
                <a:latin typeface="Arial" pitchFamily="34" charset="0"/>
                <a:ea typeface="黑体" pitchFamily="49" charset="-122"/>
              </a:defRPr>
            </a:lvl8pPr>
            <a:lvl9pPr marL="3886200" indent="-228600" eaLnBrk="0" fontAlgn="base" hangingPunct="0">
              <a:spcBef>
                <a:spcPct val="0"/>
              </a:spcBef>
              <a:spcAft>
                <a:spcPct val="0"/>
              </a:spcAft>
              <a:defRPr>
                <a:solidFill>
                  <a:schemeClr val="tx1"/>
                </a:solidFill>
                <a:latin typeface="Arial" pitchFamily="34" charset="0"/>
                <a:ea typeface="黑体" pitchFamily="49" charset="-122"/>
              </a:defRPr>
            </a:lvl9pPr>
          </a:lstStyle>
          <a:p>
            <a:pPr eaLnBrk="1" hangingPunct="1"/>
            <a:r>
              <a:rPr kumimoji="1" lang="zh-CN" altLang="en-US" sz="2400" dirty="0">
                <a:solidFill>
                  <a:srgbClr val="0000FF"/>
                </a:solidFill>
                <a:latin typeface="黑体" panose="02010609060101010101" pitchFamily="49" charset="-122"/>
              </a:rPr>
              <a:t>（细长压杆临界柔度）</a:t>
            </a:r>
          </a:p>
        </p:txBody>
      </p:sp>
      <p:sp>
        <p:nvSpPr>
          <p:cNvPr id="9" name="Rectangle 16"/>
          <p:cNvSpPr txBox="1">
            <a:spLocks noChangeArrowheads="1"/>
          </p:cNvSpPr>
          <p:nvPr/>
        </p:nvSpPr>
        <p:spPr>
          <a:xfrm>
            <a:off x="179388" y="536575"/>
            <a:ext cx="2736428" cy="371475"/>
          </a:xfrm>
          <a:prstGeom prst="rect">
            <a:avLst/>
          </a:prstGeom>
          <a:ln w="19050">
            <a:solidFill>
              <a:srgbClr val="FF0000"/>
            </a:solidFill>
          </a:ln>
        </p:spPr>
        <p:txBody>
          <a:bodyPr vert="horz" lIns="91440" tIns="45720" rIns="91440" bIns="45720" rtlCol="0" anchor="ctr">
            <a:normAutofit fontScale="9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400" b="1" dirty="0">
                <a:solidFill>
                  <a:srgbClr val="0000FF"/>
                </a:solidFill>
                <a:latin typeface="黑体" panose="02010609060101010101" pitchFamily="49" charset="-122"/>
                <a:ea typeface="黑体" panose="02010609060101010101" pitchFamily="49" charset="-122"/>
              </a:rPr>
              <a:t>欧拉公式的适用范围</a:t>
            </a:r>
          </a:p>
        </p:txBody>
      </p:sp>
      <p:graphicFrame>
        <p:nvGraphicFramePr>
          <p:cNvPr id="10" name="Object 17"/>
          <p:cNvGraphicFramePr>
            <a:graphicFrameLocks noChangeAspect="1"/>
          </p:cNvGraphicFramePr>
          <p:nvPr>
            <p:extLst>
              <p:ext uri="{D42A27DB-BD31-4B8C-83A1-F6EECF244321}">
                <p14:modId xmlns:p14="http://schemas.microsoft.com/office/powerpoint/2010/main" val="627971631"/>
              </p:ext>
            </p:extLst>
          </p:nvPr>
        </p:nvGraphicFramePr>
        <p:xfrm>
          <a:off x="3276600" y="1125538"/>
          <a:ext cx="1509713" cy="479425"/>
        </p:xfrm>
        <a:graphic>
          <a:graphicData uri="http://schemas.openxmlformats.org/presentationml/2006/ole">
            <mc:AlternateContent xmlns:mc="http://schemas.openxmlformats.org/markup-compatibility/2006">
              <mc:Choice xmlns:v="urn:schemas-microsoft-com:vml" Requires="v">
                <p:oleObj name="公式" r:id="rId8" imgW="761669" imgH="241195" progId="">
                  <p:embed/>
                </p:oleObj>
              </mc:Choice>
              <mc:Fallback>
                <p:oleObj name="公式" r:id="rId8" imgW="761669" imgH="241195" progId="">
                  <p:embed/>
                  <p:pic>
                    <p:nvPicPr>
                      <p:cNvPr id="0" name="Picture 10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76600" y="1125538"/>
                        <a:ext cx="1509713"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 name="Object 18"/>
          <p:cNvGraphicFramePr>
            <a:graphicFrameLocks noChangeAspect="1"/>
          </p:cNvGraphicFramePr>
          <p:nvPr>
            <p:extLst>
              <p:ext uri="{D42A27DB-BD31-4B8C-83A1-F6EECF244321}">
                <p14:modId xmlns:p14="http://schemas.microsoft.com/office/powerpoint/2010/main" val="239970278"/>
              </p:ext>
            </p:extLst>
          </p:nvPr>
        </p:nvGraphicFramePr>
        <p:xfrm>
          <a:off x="5076825" y="836613"/>
          <a:ext cx="2792413" cy="969962"/>
        </p:xfrm>
        <a:graphic>
          <a:graphicData uri="http://schemas.openxmlformats.org/presentationml/2006/ole">
            <mc:AlternateContent xmlns:mc="http://schemas.openxmlformats.org/markup-compatibility/2006">
              <mc:Choice xmlns:v="urn:schemas-microsoft-com:vml" Requires="v">
                <p:oleObj name="公式" r:id="rId10" imgW="1282700" imgH="444500" progId="">
                  <p:embed/>
                </p:oleObj>
              </mc:Choice>
              <mc:Fallback>
                <p:oleObj name="公式" r:id="rId10" imgW="1282700" imgH="444500" progId="">
                  <p:embed/>
                  <p:pic>
                    <p:nvPicPr>
                      <p:cNvPr id="0" name="Picture 10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076825" y="836613"/>
                        <a:ext cx="2792413" cy="969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2" name="Group 32"/>
          <p:cNvGrpSpPr>
            <a:grpSpLocks/>
          </p:cNvGrpSpPr>
          <p:nvPr/>
        </p:nvGrpSpPr>
        <p:grpSpPr bwMode="auto">
          <a:xfrm>
            <a:off x="251520" y="2977133"/>
            <a:ext cx="8064896" cy="523875"/>
            <a:chOff x="521" y="2102"/>
            <a:chExt cx="4446" cy="330"/>
          </a:xfrm>
        </p:grpSpPr>
        <p:sp>
          <p:nvSpPr>
            <p:cNvPr id="13" name="Rectangle 27"/>
            <p:cNvSpPr>
              <a:spLocks noChangeArrowheads="1"/>
            </p:cNvSpPr>
            <p:nvPr/>
          </p:nvSpPr>
          <p:spPr bwMode="auto">
            <a:xfrm>
              <a:off x="521" y="2115"/>
              <a:ext cx="4446" cy="234"/>
            </a:xfrm>
            <a:prstGeom prst="rect">
              <a:avLst/>
            </a:prstGeom>
            <a:noFill/>
            <a:ln w="19050">
              <a:solidFill>
                <a:srgbClr val="FF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a:solidFill>
                    <a:schemeClr val="tx1"/>
                  </a:solidFill>
                  <a:latin typeface="Arial" pitchFamily="34" charset="0"/>
                  <a:ea typeface="黑体" pitchFamily="49" charset="-122"/>
                </a:defRPr>
              </a:lvl1pPr>
              <a:lvl2pPr marL="742950" indent="-285750" eaLnBrk="0" hangingPunct="0">
                <a:defRPr>
                  <a:solidFill>
                    <a:schemeClr val="tx1"/>
                  </a:solidFill>
                  <a:latin typeface="Arial" pitchFamily="34" charset="0"/>
                  <a:ea typeface="黑体" pitchFamily="49" charset="-122"/>
                </a:defRPr>
              </a:lvl2pPr>
              <a:lvl3pPr marL="1143000" indent="-228600" eaLnBrk="0" hangingPunct="0">
                <a:defRPr>
                  <a:solidFill>
                    <a:schemeClr val="tx1"/>
                  </a:solidFill>
                  <a:latin typeface="Arial" pitchFamily="34" charset="0"/>
                  <a:ea typeface="黑体" pitchFamily="49" charset="-122"/>
                </a:defRPr>
              </a:lvl3pPr>
              <a:lvl4pPr marL="1600200" indent="-228600" eaLnBrk="0" hangingPunct="0">
                <a:defRPr>
                  <a:solidFill>
                    <a:schemeClr val="tx1"/>
                  </a:solidFill>
                  <a:latin typeface="Arial" pitchFamily="34" charset="0"/>
                  <a:ea typeface="黑体" pitchFamily="49" charset="-122"/>
                </a:defRPr>
              </a:lvl4pPr>
              <a:lvl5pPr marL="2057400" indent="-228600" eaLnBrk="0" hangingPunct="0">
                <a:defRPr>
                  <a:solidFill>
                    <a:schemeClr val="tx1"/>
                  </a:solidFill>
                  <a:latin typeface="Arial" pitchFamily="34" charset="0"/>
                  <a:ea typeface="黑体" pitchFamily="49" charset="-122"/>
                </a:defRPr>
              </a:lvl5pPr>
              <a:lvl6pPr marL="2514600" indent="-228600" eaLnBrk="0" fontAlgn="base" hangingPunct="0">
                <a:spcBef>
                  <a:spcPct val="0"/>
                </a:spcBef>
                <a:spcAft>
                  <a:spcPct val="0"/>
                </a:spcAft>
                <a:defRPr>
                  <a:solidFill>
                    <a:schemeClr val="tx1"/>
                  </a:solidFill>
                  <a:latin typeface="Arial" pitchFamily="34" charset="0"/>
                  <a:ea typeface="黑体" pitchFamily="49" charset="-122"/>
                </a:defRPr>
              </a:lvl6pPr>
              <a:lvl7pPr marL="2971800" indent="-228600" eaLnBrk="0" fontAlgn="base" hangingPunct="0">
                <a:spcBef>
                  <a:spcPct val="0"/>
                </a:spcBef>
                <a:spcAft>
                  <a:spcPct val="0"/>
                </a:spcAft>
                <a:defRPr>
                  <a:solidFill>
                    <a:schemeClr val="tx1"/>
                  </a:solidFill>
                  <a:latin typeface="Arial" pitchFamily="34" charset="0"/>
                  <a:ea typeface="黑体" pitchFamily="49" charset="-122"/>
                </a:defRPr>
              </a:lvl7pPr>
              <a:lvl8pPr marL="3429000" indent="-228600" eaLnBrk="0" fontAlgn="base" hangingPunct="0">
                <a:spcBef>
                  <a:spcPct val="0"/>
                </a:spcBef>
                <a:spcAft>
                  <a:spcPct val="0"/>
                </a:spcAft>
                <a:defRPr>
                  <a:solidFill>
                    <a:schemeClr val="tx1"/>
                  </a:solidFill>
                  <a:latin typeface="Arial" pitchFamily="34" charset="0"/>
                  <a:ea typeface="黑体" pitchFamily="49" charset="-122"/>
                </a:defRPr>
              </a:lvl8pPr>
              <a:lvl9pPr marL="3886200" indent="-228600" eaLnBrk="0" fontAlgn="base" hangingPunct="0">
                <a:spcBef>
                  <a:spcPct val="0"/>
                </a:spcBef>
                <a:spcAft>
                  <a:spcPct val="0"/>
                </a:spcAft>
                <a:defRPr>
                  <a:solidFill>
                    <a:schemeClr val="tx1"/>
                  </a:solidFill>
                  <a:latin typeface="Arial" pitchFamily="34" charset="0"/>
                  <a:ea typeface="黑体" pitchFamily="49" charset="-122"/>
                </a:defRPr>
              </a:lvl9pPr>
            </a:lstStyle>
            <a:p>
              <a:pPr eaLnBrk="1" hangingPunct="1"/>
              <a:r>
                <a:rPr lang="zh-CN" altLang="en-US" sz="2400" dirty="0">
                  <a:solidFill>
                    <a:srgbClr val="0000FF"/>
                  </a:solidFill>
                  <a:latin typeface="黑体" panose="02010609060101010101" pitchFamily="49" charset="-122"/>
                </a:rPr>
                <a:t>欧拉公式的适用范围</a:t>
              </a:r>
              <a:r>
                <a:rPr lang="en-US" altLang="zh-CN" sz="2400" dirty="0">
                  <a:solidFill>
                    <a:srgbClr val="0000FF"/>
                  </a:solidFill>
                  <a:latin typeface="黑体" panose="02010609060101010101" pitchFamily="49" charset="-122"/>
                </a:rPr>
                <a:t>:      </a:t>
              </a:r>
              <a:r>
                <a:rPr lang="zh-CN" altLang="en-US" sz="2400" dirty="0">
                  <a:solidFill>
                    <a:srgbClr val="0000FF"/>
                  </a:solidFill>
                  <a:latin typeface="黑体" panose="02010609060101010101" pitchFamily="49" charset="-122"/>
                </a:rPr>
                <a:t>，称大柔度杆（细长杆 ）</a:t>
              </a:r>
            </a:p>
          </p:txBody>
        </p:sp>
        <p:graphicFrame>
          <p:nvGraphicFramePr>
            <p:cNvPr id="14" name="Object 29"/>
            <p:cNvGraphicFramePr>
              <a:graphicFrameLocks noChangeAspect="1"/>
            </p:cNvGraphicFramePr>
            <p:nvPr>
              <p:extLst>
                <p:ext uri="{D42A27DB-BD31-4B8C-83A1-F6EECF244321}">
                  <p14:modId xmlns:p14="http://schemas.microsoft.com/office/powerpoint/2010/main" val="2282831126"/>
                </p:ext>
              </p:extLst>
            </p:nvPr>
          </p:nvGraphicFramePr>
          <p:xfrm>
            <a:off x="2274" y="2102"/>
            <a:ext cx="590" cy="330"/>
          </p:xfrm>
          <a:graphic>
            <a:graphicData uri="http://schemas.openxmlformats.org/presentationml/2006/ole">
              <mc:AlternateContent xmlns:mc="http://schemas.openxmlformats.org/markup-compatibility/2006">
                <mc:Choice xmlns:v="urn:schemas-microsoft-com:vml" Requires="v">
                  <p:oleObj name="公式" r:id="rId12" imgW="431613" imgH="241195" progId="">
                    <p:embed/>
                  </p:oleObj>
                </mc:Choice>
                <mc:Fallback>
                  <p:oleObj name="公式" r:id="rId12" imgW="431613" imgH="241195" progId="">
                    <p:embed/>
                    <p:pic>
                      <p:nvPicPr>
                        <p:cNvPr id="0" name="Picture 10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274" y="2102"/>
                          <a:ext cx="590"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15" name="Text Box 2"/>
          <p:cNvSpPr txBox="1">
            <a:spLocks noChangeArrowheads="1"/>
          </p:cNvSpPr>
          <p:nvPr/>
        </p:nvSpPr>
        <p:spPr bwMode="auto">
          <a:xfrm>
            <a:off x="250825" y="3789040"/>
            <a:ext cx="8015288" cy="457200"/>
          </a:xfrm>
          <a:prstGeom prst="rect">
            <a:avLst/>
          </a:prstGeom>
          <a:noFill/>
          <a:ln w="19050">
            <a:solidFill>
              <a:srgbClr val="FF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黑体" pitchFamily="49" charset="-122"/>
              </a:defRPr>
            </a:lvl1pPr>
            <a:lvl2pPr marL="742950" indent="-285750" eaLnBrk="0" hangingPunct="0">
              <a:defRPr>
                <a:solidFill>
                  <a:schemeClr val="tx1"/>
                </a:solidFill>
                <a:latin typeface="Arial" pitchFamily="34" charset="0"/>
                <a:ea typeface="黑体" pitchFamily="49" charset="-122"/>
              </a:defRPr>
            </a:lvl2pPr>
            <a:lvl3pPr marL="1143000" indent="-228600" eaLnBrk="0" hangingPunct="0">
              <a:defRPr>
                <a:solidFill>
                  <a:schemeClr val="tx1"/>
                </a:solidFill>
                <a:latin typeface="Arial" pitchFamily="34" charset="0"/>
                <a:ea typeface="黑体" pitchFamily="49" charset="-122"/>
              </a:defRPr>
            </a:lvl3pPr>
            <a:lvl4pPr marL="1600200" indent="-228600" eaLnBrk="0" hangingPunct="0">
              <a:defRPr>
                <a:solidFill>
                  <a:schemeClr val="tx1"/>
                </a:solidFill>
                <a:latin typeface="Arial" pitchFamily="34" charset="0"/>
                <a:ea typeface="黑体" pitchFamily="49" charset="-122"/>
              </a:defRPr>
            </a:lvl4pPr>
            <a:lvl5pPr marL="2057400" indent="-228600" eaLnBrk="0" hangingPunct="0">
              <a:defRPr>
                <a:solidFill>
                  <a:schemeClr val="tx1"/>
                </a:solidFill>
                <a:latin typeface="Arial" pitchFamily="34" charset="0"/>
                <a:ea typeface="黑体" pitchFamily="49" charset="-122"/>
              </a:defRPr>
            </a:lvl5pPr>
            <a:lvl6pPr marL="2514600" indent="-228600" eaLnBrk="0" fontAlgn="base" hangingPunct="0">
              <a:spcBef>
                <a:spcPct val="0"/>
              </a:spcBef>
              <a:spcAft>
                <a:spcPct val="0"/>
              </a:spcAft>
              <a:defRPr>
                <a:solidFill>
                  <a:schemeClr val="tx1"/>
                </a:solidFill>
                <a:latin typeface="Arial" pitchFamily="34" charset="0"/>
                <a:ea typeface="黑体" pitchFamily="49" charset="-122"/>
              </a:defRPr>
            </a:lvl6pPr>
            <a:lvl7pPr marL="2971800" indent="-228600" eaLnBrk="0" fontAlgn="base" hangingPunct="0">
              <a:spcBef>
                <a:spcPct val="0"/>
              </a:spcBef>
              <a:spcAft>
                <a:spcPct val="0"/>
              </a:spcAft>
              <a:defRPr>
                <a:solidFill>
                  <a:schemeClr val="tx1"/>
                </a:solidFill>
                <a:latin typeface="Arial" pitchFamily="34" charset="0"/>
                <a:ea typeface="黑体" pitchFamily="49" charset="-122"/>
              </a:defRPr>
            </a:lvl7pPr>
            <a:lvl8pPr marL="3429000" indent="-228600" eaLnBrk="0" fontAlgn="base" hangingPunct="0">
              <a:spcBef>
                <a:spcPct val="0"/>
              </a:spcBef>
              <a:spcAft>
                <a:spcPct val="0"/>
              </a:spcAft>
              <a:defRPr>
                <a:solidFill>
                  <a:schemeClr val="tx1"/>
                </a:solidFill>
                <a:latin typeface="Arial" pitchFamily="34" charset="0"/>
                <a:ea typeface="黑体" pitchFamily="49" charset="-122"/>
              </a:defRPr>
            </a:lvl8pPr>
            <a:lvl9pPr marL="3886200" indent="-228600" eaLnBrk="0" fontAlgn="base" hangingPunct="0">
              <a:spcBef>
                <a:spcPct val="0"/>
              </a:spcBef>
              <a:spcAft>
                <a:spcPct val="0"/>
              </a:spcAft>
              <a:defRPr>
                <a:solidFill>
                  <a:schemeClr val="tx1"/>
                </a:solidFill>
                <a:latin typeface="Arial" pitchFamily="34" charset="0"/>
                <a:ea typeface="黑体" pitchFamily="49" charset="-122"/>
              </a:defRPr>
            </a:lvl9pPr>
          </a:lstStyle>
          <a:p>
            <a:pPr eaLnBrk="1" hangingPunct="1"/>
            <a:r>
              <a:rPr kumimoji="1" lang="en-US" altLang="zh-CN" sz="2400" b="1" dirty="0">
                <a:solidFill>
                  <a:srgbClr val="0000FF"/>
                </a:solidFill>
                <a:latin typeface="黑体" pitchFamily="49" charset="-122"/>
              </a:rPr>
              <a:t>1</a:t>
            </a:r>
            <a:r>
              <a:rPr kumimoji="1" lang="zh-CN" altLang="en-US" sz="2400" b="1" dirty="0">
                <a:solidFill>
                  <a:srgbClr val="0000FF"/>
                </a:solidFill>
                <a:latin typeface="黑体" pitchFamily="49" charset="-122"/>
              </a:rPr>
              <a:t>、大柔度杆（细长压杆）采用欧拉公式计算。</a:t>
            </a:r>
            <a:endParaRPr kumimoji="1" lang="zh-CN" altLang="en-US" sz="2400" dirty="0">
              <a:solidFill>
                <a:srgbClr val="0000FF"/>
              </a:solidFill>
              <a:latin typeface="黑体" pitchFamily="49" charset="-122"/>
            </a:endParaRPr>
          </a:p>
        </p:txBody>
      </p:sp>
      <p:graphicFrame>
        <p:nvGraphicFramePr>
          <p:cNvPr id="16" name="Object 3"/>
          <p:cNvGraphicFramePr>
            <a:graphicFrameLocks noChangeAspect="1"/>
          </p:cNvGraphicFramePr>
          <p:nvPr>
            <p:extLst>
              <p:ext uri="{D42A27DB-BD31-4B8C-83A1-F6EECF244321}">
                <p14:modId xmlns:p14="http://schemas.microsoft.com/office/powerpoint/2010/main" val="3269013665"/>
              </p:ext>
            </p:extLst>
          </p:nvPr>
        </p:nvGraphicFramePr>
        <p:xfrm>
          <a:off x="4230688" y="4193853"/>
          <a:ext cx="1420812" cy="871537"/>
        </p:xfrm>
        <a:graphic>
          <a:graphicData uri="http://schemas.openxmlformats.org/presentationml/2006/ole">
            <mc:AlternateContent xmlns:mc="http://schemas.openxmlformats.org/markup-compatibility/2006">
              <mc:Choice xmlns:v="urn:schemas-microsoft-com:vml" Requires="v">
                <p:oleObj name="公式" r:id="rId14" imgW="723586" imgH="444307" progId="">
                  <p:embed/>
                </p:oleObj>
              </mc:Choice>
              <mc:Fallback>
                <p:oleObj name="公式" r:id="rId14" imgW="723586" imgH="444307" progId="">
                  <p:embed/>
                  <p:pic>
                    <p:nvPicPr>
                      <p:cNvPr id="0" name="Picture 10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230688" y="4193853"/>
                        <a:ext cx="1420812" cy="87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 name="Object 4"/>
          <p:cNvGraphicFramePr>
            <a:graphicFrameLocks noChangeAspect="1"/>
          </p:cNvGraphicFramePr>
          <p:nvPr>
            <p:extLst>
              <p:ext uri="{D42A27DB-BD31-4B8C-83A1-F6EECF244321}">
                <p14:modId xmlns:p14="http://schemas.microsoft.com/office/powerpoint/2010/main" val="3716499997"/>
              </p:ext>
            </p:extLst>
          </p:nvPr>
        </p:nvGraphicFramePr>
        <p:xfrm>
          <a:off x="7366000" y="4166865"/>
          <a:ext cx="1454150" cy="890588"/>
        </p:xfrm>
        <a:graphic>
          <a:graphicData uri="http://schemas.openxmlformats.org/presentationml/2006/ole">
            <mc:AlternateContent xmlns:mc="http://schemas.openxmlformats.org/markup-compatibility/2006">
              <mc:Choice xmlns:v="urn:schemas-microsoft-com:vml" Requires="v">
                <p:oleObj name="公式" r:id="rId16" imgW="685800" imgH="419100" progId="">
                  <p:embed/>
                </p:oleObj>
              </mc:Choice>
              <mc:Fallback>
                <p:oleObj name="公式" r:id="rId16" imgW="685800" imgH="419100" progId="">
                  <p:embed/>
                  <p:pic>
                    <p:nvPicPr>
                      <p:cNvPr id="0" name="Picture 10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366000" y="4166865"/>
                        <a:ext cx="1454150" cy="890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 name="Object 5"/>
          <p:cNvGraphicFramePr>
            <a:graphicFrameLocks noChangeAspect="1"/>
          </p:cNvGraphicFramePr>
          <p:nvPr>
            <p:extLst>
              <p:ext uri="{D42A27DB-BD31-4B8C-83A1-F6EECF244321}">
                <p14:modId xmlns:p14="http://schemas.microsoft.com/office/powerpoint/2010/main" val="4167107166"/>
              </p:ext>
            </p:extLst>
          </p:nvPr>
        </p:nvGraphicFramePr>
        <p:xfrm>
          <a:off x="684213" y="4433565"/>
          <a:ext cx="1981200" cy="479425"/>
        </p:xfrm>
        <a:graphic>
          <a:graphicData uri="http://schemas.openxmlformats.org/presentationml/2006/ole">
            <mc:AlternateContent xmlns:mc="http://schemas.openxmlformats.org/markup-compatibility/2006">
              <mc:Choice xmlns:v="urn:schemas-microsoft-com:vml" Requires="v">
                <p:oleObj name="公式" r:id="rId18" imgW="990170" imgH="241195" progId="">
                  <p:embed/>
                </p:oleObj>
              </mc:Choice>
              <mc:Fallback>
                <p:oleObj name="公式" r:id="rId18" imgW="990170" imgH="241195" progId="">
                  <p:embed/>
                  <p:pic>
                    <p:nvPicPr>
                      <p:cNvPr id="0" name="Picture 106"/>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84213" y="4433565"/>
                        <a:ext cx="1981200"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9" name="Text Box 6"/>
          <p:cNvSpPr txBox="1">
            <a:spLocks noChangeArrowheads="1"/>
          </p:cNvSpPr>
          <p:nvPr/>
        </p:nvSpPr>
        <p:spPr bwMode="auto">
          <a:xfrm>
            <a:off x="323850" y="5013003"/>
            <a:ext cx="7410450" cy="457200"/>
          </a:xfrm>
          <a:prstGeom prst="rect">
            <a:avLst/>
          </a:prstGeom>
          <a:noFill/>
          <a:ln w="19050">
            <a:solidFill>
              <a:srgbClr val="FF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黑体" pitchFamily="49" charset="-122"/>
              </a:defRPr>
            </a:lvl1pPr>
            <a:lvl2pPr marL="742950" indent="-285750" eaLnBrk="0" hangingPunct="0">
              <a:defRPr>
                <a:solidFill>
                  <a:schemeClr val="tx1"/>
                </a:solidFill>
                <a:latin typeface="Arial" pitchFamily="34" charset="0"/>
                <a:ea typeface="黑体" pitchFamily="49" charset="-122"/>
              </a:defRPr>
            </a:lvl2pPr>
            <a:lvl3pPr marL="1143000" indent="-228600" eaLnBrk="0" hangingPunct="0">
              <a:defRPr>
                <a:solidFill>
                  <a:schemeClr val="tx1"/>
                </a:solidFill>
                <a:latin typeface="Arial" pitchFamily="34" charset="0"/>
                <a:ea typeface="黑体" pitchFamily="49" charset="-122"/>
              </a:defRPr>
            </a:lvl3pPr>
            <a:lvl4pPr marL="1600200" indent="-228600" eaLnBrk="0" hangingPunct="0">
              <a:defRPr>
                <a:solidFill>
                  <a:schemeClr val="tx1"/>
                </a:solidFill>
                <a:latin typeface="Arial" pitchFamily="34" charset="0"/>
                <a:ea typeface="黑体" pitchFamily="49" charset="-122"/>
              </a:defRPr>
            </a:lvl4pPr>
            <a:lvl5pPr marL="2057400" indent="-228600" eaLnBrk="0" hangingPunct="0">
              <a:defRPr>
                <a:solidFill>
                  <a:schemeClr val="tx1"/>
                </a:solidFill>
                <a:latin typeface="Arial" pitchFamily="34" charset="0"/>
                <a:ea typeface="黑体" pitchFamily="49" charset="-122"/>
              </a:defRPr>
            </a:lvl5pPr>
            <a:lvl6pPr marL="2514600" indent="-228600" eaLnBrk="0" fontAlgn="base" hangingPunct="0">
              <a:spcBef>
                <a:spcPct val="0"/>
              </a:spcBef>
              <a:spcAft>
                <a:spcPct val="0"/>
              </a:spcAft>
              <a:defRPr>
                <a:solidFill>
                  <a:schemeClr val="tx1"/>
                </a:solidFill>
                <a:latin typeface="Arial" pitchFamily="34" charset="0"/>
                <a:ea typeface="黑体" pitchFamily="49" charset="-122"/>
              </a:defRPr>
            </a:lvl6pPr>
            <a:lvl7pPr marL="2971800" indent="-228600" eaLnBrk="0" fontAlgn="base" hangingPunct="0">
              <a:spcBef>
                <a:spcPct val="0"/>
              </a:spcBef>
              <a:spcAft>
                <a:spcPct val="0"/>
              </a:spcAft>
              <a:defRPr>
                <a:solidFill>
                  <a:schemeClr val="tx1"/>
                </a:solidFill>
                <a:latin typeface="Arial" pitchFamily="34" charset="0"/>
                <a:ea typeface="黑体" pitchFamily="49" charset="-122"/>
              </a:defRPr>
            </a:lvl7pPr>
            <a:lvl8pPr marL="3429000" indent="-228600" eaLnBrk="0" fontAlgn="base" hangingPunct="0">
              <a:spcBef>
                <a:spcPct val="0"/>
              </a:spcBef>
              <a:spcAft>
                <a:spcPct val="0"/>
              </a:spcAft>
              <a:defRPr>
                <a:solidFill>
                  <a:schemeClr val="tx1"/>
                </a:solidFill>
                <a:latin typeface="Arial" pitchFamily="34" charset="0"/>
                <a:ea typeface="黑体" pitchFamily="49" charset="-122"/>
              </a:defRPr>
            </a:lvl8pPr>
            <a:lvl9pPr marL="3886200" indent="-228600" eaLnBrk="0" fontAlgn="base" hangingPunct="0">
              <a:spcBef>
                <a:spcPct val="0"/>
              </a:spcBef>
              <a:spcAft>
                <a:spcPct val="0"/>
              </a:spcAft>
              <a:defRPr>
                <a:solidFill>
                  <a:schemeClr val="tx1"/>
                </a:solidFill>
                <a:latin typeface="Arial" pitchFamily="34" charset="0"/>
                <a:ea typeface="黑体" pitchFamily="49" charset="-122"/>
              </a:defRPr>
            </a:lvl9pPr>
          </a:lstStyle>
          <a:p>
            <a:pPr eaLnBrk="1" hangingPunct="1"/>
            <a:r>
              <a:rPr kumimoji="1" lang="en-US" altLang="zh-CN" sz="2400" b="1">
                <a:solidFill>
                  <a:srgbClr val="0000FF"/>
                </a:solidFill>
                <a:latin typeface="黑体" pitchFamily="49" charset="-122"/>
              </a:rPr>
              <a:t>2</a:t>
            </a:r>
            <a:r>
              <a:rPr kumimoji="1" lang="zh-CN" altLang="en-US" sz="2400" b="1">
                <a:solidFill>
                  <a:srgbClr val="0000FF"/>
                </a:solidFill>
                <a:latin typeface="黑体" pitchFamily="49" charset="-122"/>
              </a:rPr>
              <a:t>：中柔度杆（中长压杆）采用经验公式计算。</a:t>
            </a:r>
            <a:endParaRPr kumimoji="1" lang="zh-CN" altLang="en-US" sz="2400">
              <a:solidFill>
                <a:srgbClr val="0000FF"/>
              </a:solidFill>
              <a:latin typeface="黑体" pitchFamily="49" charset="-122"/>
            </a:endParaRPr>
          </a:p>
        </p:txBody>
      </p:sp>
      <p:graphicFrame>
        <p:nvGraphicFramePr>
          <p:cNvPr id="20" name="Object 7"/>
          <p:cNvGraphicFramePr>
            <a:graphicFrameLocks noChangeAspect="1"/>
          </p:cNvGraphicFramePr>
          <p:nvPr>
            <p:extLst>
              <p:ext uri="{D42A27DB-BD31-4B8C-83A1-F6EECF244321}">
                <p14:modId xmlns:p14="http://schemas.microsoft.com/office/powerpoint/2010/main" val="387300237"/>
              </p:ext>
            </p:extLst>
          </p:nvPr>
        </p:nvGraphicFramePr>
        <p:xfrm>
          <a:off x="1066800" y="6094090"/>
          <a:ext cx="1633538" cy="482600"/>
        </p:xfrm>
        <a:graphic>
          <a:graphicData uri="http://schemas.openxmlformats.org/presentationml/2006/ole">
            <mc:AlternateContent xmlns:mc="http://schemas.openxmlformats.org/markup-compatibility/2006">
              <mc:Choice xmlns:v="urn:schemas-microsoft-com:vml" Requires="v">
                <p:oleObj name="公式" r:id="rId20" imgW="774364" imgH="228501" progId="">
                  <p:embed/>
                </p:oleObj>
              </mc:Choice>
              <mc:Fallback>
                <p:oleObj name="公式" r:id="rId20" imgW="774364" imgH="228501" progId="">
                  <p:embed/>
                  <p:pic>
                    <p:nvPicPr>
                      <p:cNvPr id="0" name="Picture 107"/>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066800" y="6094090"/>
                        <a:ext cx="1633538" cy="48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 name="Text Box 8"/>
          <p:cNvSpPr txBox="1">
            <a:spLocks noChangeArrowheads="1"/>
          </p:cNvSpPr>
          <p:nvPr/>
        </p:nvSpPr>
        <p:spPr bwMode="auto">
          <a:xfrm>
            <a:off x="2879725" y="6095678"/>
            <a:ext cx="3060700" cy="457200"/>
          </a:xfrm>
          <a:prstGeom prst="rect">
            <a:avLst/>
          </a:prstGeom>
          <a:noFill/>
          <a:ln w="19050">
            <a:solidFill>
              <a:srgbClr val="FF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黑体" pitchFamily="49" charset="-122"/>
              </a:defRPr>
            </a:lvl1pPr>
            <a:lvl2pPr marL="742950" indent="-285750" eaLnBrk="0" hangingPunct="0">
              <a:defRPr>
                <a:solidFill>
                  <a:schemeClr val="tx1"/>
                </a:solidFill>
                <a:latin typeface="Arial" pitchFamily="34" charset="0"/>
                <a:ea typeface="黑体" pitchFamily="49" charset="-122"/>
              </a:defRPr>
            </a:lvl2pPr>
            <a:lvl3pPr marL="1143000" indent="-228600" eaLnBrk="0" hangingPunct="0">
              <a:defRPr>
                <a:solidFill>
                  <a:schemeClr val="tx1"/>
                </a:solidFill>
                <a:latin typeface="Arial" pitchFamily="34" charset="0"/>
                <a:ea typeface="黑体" pitchFamily="49" charset="-122"/>
              </a:defRPr>
            </a:lvl3pPr>
            <a:lvl4pPr marL="1600200" indent="-228600" eaLnBrk="0" hangingPunct="0">
              <a:defRPr>
                <a:solidFill>
                  <a:schemeClr val="tx1"/>
                </a:solidFill>
                <a:latin typeface="Arial" pitchFamily="34" charset="0"/>
                <a:ea typeface="黑体" pitchFamily="49" charset="-122"/>
              </a:defRPr>
            </a:lvl4pPr>
            <a:lvl5pPr marL="2057400" indent="-228600" eaLnBrk="0" hangingPunct="0">
              <a:defRPr>
                <a:solidFill>
                  <a:schemeClr val="tx1"/>
                </a:solidFill>
                <a:latin typeface="Arial" pitchFamily="34" charset="0"/>
                <a:ea typeface="黑体" pitchFamily="49" charset="-122"/>
              </a:defRPr>
            </a:lvl5pPr>
            <a:lvl6pPr marL="2514600" indent="-228600" eaLnBrk="0" fontAlgn="base" hangingPunct="0">
              <a:spcBef>
                <a:spcPct val="0"/>
              </a:spcBef>
              <a:spcAft>
                <a:spcPct val="0"/>
              </a:spcAft>
              <a:defRPr>
                <a:solidFill>
                  <a:schemeClr val="tx1"/>
                </a:solidFill>
                <a:latin typeface="Arial" pitchFamily="34" charset="0"/>
                <a:ea typeface="黑体" pitchFamily="49" charset="-122"/>
              </a:defRPr>
            </a:lvl6pPr>
            <a:lvl7pPr marL="2971800" indent="-228600" eaLnBrk="0" fontAlgn="base" hangingPunct="0">
              <a:spcBef>
                <a:spcPct val="0"/>
              </a:spcBef>
              <a:spcAft>
                <a:spcPct val="0"/>
              </a:spcAft>
              <a:defRPr>
                <a:solidFill>
                  <a:schemeClr val="tx1"/>
                </a:solidFill>
                <a:latin typeface="Arial" pitchFamily="34" charset="0"/>
                <a:ea typeface="黑体" pitchFamily="49" charset="-122"/>
              </a:defRPr>
            </a:lvl7pPr>
            <a:lvl8pPr marL="3429000" indent="-228600" eaLnBrk="0" fontAlgn="base" hangingPunct="0">
              <a:spcBef>
                <a:spcPct val="0"/>
              </a:spcBef>
              <a:spcAft>
                <a:spcPct val="0"/>
              </a:spcAft>
              <a:defRPr>
                <a:solidFill>
                  <a:schemeClr val="tx1"/>
                </a:solidFill>
                <a:latin typeface="Arial" pitchFamily="34" charset="0"/>
                <a:ea typeface="黑体" pitchFamily="49" charset="-122"/>
              </a:defRPr>
            </a:lvl8pPr>
            <a:lvl9pPr marL="3886200" indent="-228600" eaLnBrk="0" fontAlgn="base" hangingPunct="0">
              <a:spcBef>
                <a:spcPct val="0"/>
              </a:spcBef>
              <a:spcAft>
                <a:spcPct val="0"/>
              </a:spcAft>
              <a:defRPr>
                <a:solidFill>
                  <a:schemeClr val="tx1"/>
                </a:solidFill>
                <a:latin typeface="Arial" pitchFamily="34" charset="0"/>
                <a:ea typeface="黑体" pitchFamily="49" charset="-122"/>
              </a:defRPr>
            </a:lvl9pPr>
          </a:lstStyle>
          <a:p>
            <a:pPr eaLnBrk="1" hangingPunct="1"/>
            <a:r>
              <a:rPr kumimoji="1" lang="en-US" altLang="zh-CN" sz="2400">
                <a:solidFill>
                  <a:srgbClr val="0000FF"/>
                </a:solidFill>
                <a:latin typeface="Times New Roman" pitchFamily="18" charset="0"/>
                <a:ea typeface="宋体" pitchFamily="2" charset="-122"/>
              </a:rPr>
              <a:t>——</a:t>
            </a:r>
            <a:r>
              <a:rPr kumimoji="1" lang="zh-CN" altLang="en-US" sz="2400" b="1">
                <a:solidFill>
                  <a:srgbClr val="0000FF"/>
                </a:solidFill>
                <a:latin typeface="宋体" pitchFamily="2" charset="-122"/>
                <a:ea typeface="宋体" pitchFamily="2" charset="-122"/>
              </a:rPr>
              <a:t>直线型经验公式</a:t>
            </a:r>
          </a:p>
        </p:txBody>
      </p:sp>
      <p:graphicFrame>
        <p:nvGraphicFramePr>
          <p:cNvPr id="22" name="Object 9"/>
          <p:cNvGraphicFramePr>
            <a:graphicFrameLocks noChangeAspect="1"/>
          </p:cNvGraphicFramePr>
          <p:nvPr>
            <p:extLst>
              <p:ext uri="{D42A27DB-BD31-4B8C-83A1-F6EECF244321}">
                <p14:modId xmlns:p14="http://schemas.microsoft.com/office/powerpoint/2010/main" val="1200643722"/>
              </p:ext>
            </p:extLst>
          </p:nvPr>
        </p:nvGraphicFramePr>
        <p:xfrm>
          <a:off x="6083300" y="5835328"/>
          <a:ext cx="1584325" cy="842962"/>
        </p:xfrm>
        <a:graphic>
          <a:graphicData uri="http://schemas.openxmlformats.org/presentationml/2006/ole">
            <mc:AlternateContent xmlns:mc="http://schemas.openxmlformats.org/markup-compatibility/2006">
              <mc:Choice xmlns:v="urn:schemas-microsoft-com:vml" Requires="v">
                <p:oleObj name="公式" r:id="rId22" imgW="736280" imgH="393529" progId="">
                  <p:embed/>
                </p:oleObj>
              </mc:Choice>
              <mc:Fallback>
                <p:oleObj name="公式" r:id="rId22" imgW="736280" imgH="393529" progId="">
                  <p:embed/>
                  <p:pic>
                    <p:nvPicPr>
                      <p:cNvPr id="0" name="Picture 108"/>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6083300" y="5835328"/>
                        <a:ext cx="1584325" cy="842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 name="Object 10"/>
          <p:cNvGraphicFramePr>
            <a:graphicFrameLocks noChangeAspect="1"/>
          </p:cNvGraphicFramePr>
          <p:nvPr>
            <p:extLst>
              <p:ext uri="{D42A27DB-BD31-4B8C-83A1-F6EECF244321}">
                <p14:modId xmlns:p14="http://schemas.microsoft.com/office/powerpoint/2010/main" val="3911144011"/>
              </p:ext>
            </p:extLst>
          </p:nvPr>
        </p:nvGraphicFramePr>
        <p:xfrm>
          <a:off x="1101725" y="5589265"/>
          <a:ext cx="3470275" cy="503238"/>
        </p:xfrm>
        <a:graphic>
          <a:graphicData uri="http://schemas.openxmlformats.org/presentationml/2006/ole">
            <mc:AlternateContent xmlns:mc="http://schemas.openxmlformats.org/markup-compatibility/2006">
              <mc:Choice xmlns:v="urn:schemas-microsoft-com:vml" Requires="v">
                <p:oleObj name="公式" r:id="rId24" imgW="1651000" imgH="241300" progId="">
                  <p:embed/>
                </p:oleObj>
              </mc:Choice>
              <mc:Fallback>
                <p:oleObj name="公式" r:id="rId24" imgW="1651000" imgH="241300" progId="">
                  <p:embed/>
                  <p:pic>
                    <p:nvPicPr>
                      <p:cNvPr id="0" name="Picture 109"/>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101725" y="5589265"/>
                        <a:ext cx="3470275" cy="503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4" name="Rectangle 14"/>
          <p:cNvSpPr>
            <a:spLocks noChangeArrowheads="1"/>
          </p:cNvSpPr>
          <p:nvPr/>
        </p:nvSpPr>
        <p:spPr bwMode="auto">
          <a:xfrm>
            <a:off x="2700338" y="4384353"/>
            <a:ext cx="1944687" cy="457200"/>
          </a:xfrm>
          <a:prstGeom prst="rect">
            <a:avLst/>
          </a:prstGeom>
          <a:noFill/>
          <a:ln w="19050">
            <a:solidFill>
              <a:srgbClr val="FF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黑体" pitchFamily="49" charset="-122"/>
              </a:defRPr>
            </a:lvl1pPr>
            <a:lvl2pPr marL="742950" indent="-285750" eaLnBrk="0" hangingPunct="0">
              <a:defRPr>
                <a:solidFill>
                  <a:schemeClr val="tx1"/>
                </a:solidFill>
                <a:latin typeface="Arial" pitchFamily="34" charset="0"/>
                <a:ea typeface="黑体" pitchFamily="49" charset="-122"/>
              </a:defRPr>
            </a:lvl2pPr>
            <a:lvl3pPr marL="1143000" indent="-228600" eaLnBrk="0" hangingPunct="0">
              <a:defRPr>
                <a:solidFill>
                  <a:schemeClr val="tx1"/>
                </a:solidFill>
                <a:latin typeface="Arial" pitchFamily="34" charset="0"/>
                <a:ea typeface="黑体" pitchFamily="49" charset="-122"/>
              </a:defRPr>
            </a:lvl3pPr>
            <a:lvl4pPr marL="1600200" indent="-228600" eaLnBrk="0" hangingPunct="0">
              <a:defRPr>
                <a:solidFill>
                  <a:schemeClr val="tx1"/>
                </a:solidFill>
                <a:latin typeface="Arial" pitchFamily="34" charset="0"/>
                <a:ea typeface="黑体" pitchFamily="49" charset="-122"/>
              </a:defRPr>
            </a:lvl4pPr>
            <a:lvl5pPr marL="2057400" indent="-228600" eaLnBrk="0" hangingPunct="0">
              <a:defRPr>
                <a:solidFill>
                  <a:schemeClr val="tx1"/>
                </a:solidFill>
                <a:latin typeface="Arial" pitchFamily="34" charset="0"/>
                <a:ea typeface="黑体" pitchFamily="49" charset="-122"/>
              </a:defRPr>
            </a:lvl5pPr>
            <a:lvl6pPr marL="2514600" indent="-228600" eaLnBrk="0" fontAlgn="base" hangingPunct="0">
              <a:spcBef>
                <a:spcPct val="0"/>
              </a:spcBef>
              <a:spcAft>
                <a:spcPct val="0"/>
              </a:spcAft>
              <a:defRPr>
                <a:solidFill>
                  <a:schemeClr val="tx1"/>
                </a:solidFill>
                <a:latin typeface="Arial" pitchFamily="34" charset="0"/>
                <a:ea typeface="黑体" pitchFamily="49" charset="-122"/>
              </a:defRPr>
            </a:lvl6pPr>
            <a:lvl7pPr marL="2971800" indent="-228600" eaLnBrk="0" fontAlgn="base" hangingPunct="0">
              <a:spcBef>
                <a:spcPct val="0"/>
              </a:spcBef>
              <a:spcAft>
                <a:spcPct val="0"/>
              </a:spcAft>
              <a:defRPr>
                <a:solidFill>
                  <a:schemeClr val="tx1"/>
                </a:solidFill>
                <a:latin typeface="Arial" pitchFamily="34" charset="0"/>
                <a:ea typeface="黑体" pitchFamily="49" charset="-122"/>
              </a:defRPr>
            </a:lvl7pPr>
            <a:lvl8pPr marL="3429000" indent="-228600" eaLnBrk="0" fontAlgn="base" hangingPunct="0">
              <a:spcBef>
                <a:spcPct val="0"/>
              </a:spcBef>
              <a:spcAft>
                <a:spcPct val="0"/>
              </a:spcAft>
              <a:defRPr>
                <a:solidFill>
                  <a:schemeClr val="tx1"/>
                </a:solidFill>
                <a:latin typeface="Arial" pitchFamily="34" charset="0"/>
                <a:ea typeface="黑体" pitchFamily="49" charset="-122"/>
              </a:defRPr>
            </a:lvl8pPr>
            <a:lvl9pPr marL="3886200" indent="-228600" eaLnBrk="0" fontAlgn="base" hangingPunct="0">
              <a:spcBef>
                <a:spcPct val="0"/>
              </a:spcBef>
              <a:spcAft>
                <a:spcPct val="0"/>
              </a:spcAft>
              <a:defRPr>
                <a:solidFill>
                  <a:schemeClr val="tx1"/>
                </a:solidFill>
                <a:latin typeface="Arial" pitchFamily="34" charset="0"/>
                <a:ea typeface="黑体" pitchFamily="49" charset="-122"/>
              </a:defRPr>
            </a:lvl9pPr>
          </a:lstStyle>
          <a:p>
            <a:pPr eaLnBrk="1" hangingPunct="1"/>
            <a:r>
              <a:rPr kumimoji="1" lang="zh-CN" altLang="en-US" sz="2400" b="1">
                <a:solidFill>
                  <a:srgbClr val="0000FF"/>
                </a:solidFill>
                <a:latin typeface="Times New Roman" pitchFamily="18" charset="0"/>
              </a:rPr>
              <a:t>临界压力：</a:t>
            </a:r>
          </a:p>
        </p:txBody>
      </p:sp>
      <p:sp>
        <p:nvSpPr>
          <p:cNvPr id="25" name="Rectangle 15"/>
          <p:cNvSpPr>
            <a:spLocks noChangeArrowheads="1"/>
          </p:cNvSpPr>
          <p:nvPr/>
        </p:nvSpPr>
        <p:spPr bwMode="auto">
          <a:xfrm>
            <a:off x="5580063" y="4409753"/>
            <a:ext cx="2233612" cy="457200"/>
          </a:xfrm>
          <a:prstGeom prst="rect">
            <a:avLst/>
          </a:prstGeom>
          <a:noFill/>
          <a:ln w="19050">
            <a:solidFill>
              <a:srgbClr val="FF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黑体" pitchFamily="49" charset="-122"/>
              </a:defRPr>
            </a:lvl1pPr>
            <a:lvl2pPr marL="742950" indent="-285750" eaLnBrk="0" hangingPunct="0">
              <a:defRPr>
                <a:solidFill>
                  <a:schemeClr val="tx1"/>
                </a:solidFill>
                <a:latin typeface="Arial" pitchFamily="34" charset="0"/>
                <a:ea typeface="黑体" pitchFamily="49" charset="-122"/>
              </a:defRPr>
            </a:lvl2pPr>
            <a:lvl3pPr marL="1143000" indent="-228600" eaLnBrk="0" hangingPunct="0">
              <a:defRPr>
                <a:solidFill>
                  <a:schemeClr val="tx1"/>
                </a:solidFill>
                <a:latin typeface="Arial" pitchFamily="34" charset="0"/>
                <a:ea typeface="黑体" pitchFamily="49" charset="-122"/>
              </a:defRPr>
            </a:lvl3pPr>
            <a:lvl4pPr marL="1600200" indent="-228600" eaLnBrk="0" hangingPunct="0">
              <a:defRPr>
                <a:solidFill>
                  <a:schemeClr val="tx1"/>
                </a:solidFill>
                <a:latin typeface="Arial" pitchFamily="34" charset="0"/>
                <a:ea typeface="黑体" pitchFamily="49" charset="-122"/>
              </a:defRPr>
            </a:lvl4pPr>
            <a:lvl5pPr marL="2057400" indent="-228600" eaLnBrk="0" hangingPunct="0">
              <a:defRPr>
                <a:solidFill>
                  <a:schemeClr val="tx1"/>
                </a:solidFill>
                <a:latin typeface="Arial" pitchFamily="34" charset="0"/>
                <a:ea typeface="黑体" pitchFamily="49" charset="-122"/>
              </a:defRPr>
            </a:lvl5pPr>
            <a:lvl6pPr marL="2514600" indent="-228600" eaLnBrk="0" fontAlgn="base" hangingPunct="0">
              <a:spcBef>
                <a:spcPct val="0"/>
              </a:spcBef>
              <a:spcAft>
                <a:spcPct val="0"/>
              </a:spcAft>
              <a:defRPr>
                <a:solidFill>
                  <a:schemeClr val="tx1"/>
                </a:solidFill>
                <a:latin typeface="Arial" pitchFamily="34" charset="0"/>
                <a:ea typeface="黑体" pitchFamily="49" charset="-122"/>
              </a:defRPr>
            </a:lvl6pPr>
            <a:lvl7pPr marL="2971800" indent="-228600" eaLnBrk="0" fontAlgn="base" hangingPunct="0">
              <a:spcBef>
                <a:spcPct val="0"/>
              </a:spcBef>
              <a:spcAft>
                <a:spcPct val="0"/>
              </a:spcAft>
              <a:defRPr>
                <a:solidFill>
                  <a:schemeClr val="tx1"/>
                </a:solidFill>
                <a:latin typeface="Arial" pitchFamily="34" charset="0"/>
                <a:ea typeface="黑体" pitchFamily="49" charset="-122"/>
              </a:defRPr>
            </a:lvl7pPr>
            <a:lvl8pPr marL="3429000" indent="-228600" eaLnBrk="0" fontAlgn="base" hangingPunct="0">
              <a:spcBef>
                <a:spcPct val="0"/>
              </a:spcBef>
              <a:spcAft>
                <a:spcPct val="0"/>
              </a:spcAft>
              <a:defRPr>
                <a:solidFill>
                  <a:schemeClr val="tx1"/>
                </a:solidFill>
                <a:latin typeface="Arial" pitchFamily="34" charset="0"/>
                <a:ea typeface="黑体" pitchFamily="49" charset="-122"/>
              </a:defRPr>
            </a:lvl8pPr>
            <a:lvl9pPr marL="3886200" indent="-228600" eaLnBrk="0" fontAlgn="base" hangingPunct="0">
              <a:spcBef>
                <a:spcPct val="0"/>
              </a:spcBef>
              <a:spcAft>
                <a:spcPct val="0"/>
              </a:spcAft>
              <a:defRPr>
                <a:solidFill>
                  <a:schemeClr val="tx1"/>
                </a:solidFill>
                <a:latin typeface="Arial" pitchFamily="34" charset="0"/>
                <a:ea typeface="黑体" pitchFamily="49" charset="-122"/>
              </a:defRPr>
            </a:lvl9pPr>
          </a:lstStyle>
          <a:p>
            <a:pPr eaLnBrk="1" hangingPunct="1"/>
            <a:r>
              <a:rPr kumimoji="1" lang="zh-CN" altLang="en-US" sz="2400" b="1">
                <a:solidFill>
                  <a:srgbClr val="0000FF"/>
                </a:solidFill>
                <a:latin typeface="Times New Roman" pitchFamily="18" charset="0"/>
              </a:rPr>
              <a:t>临界压应力：</a:t>
            </a:r>
          </a:p>
        </p:txBody>
      </p:sp>
    </p:spTree>
    <p:extLst>
      <p:ext uri="{BB962C8B-B14F-4D97-AF65-F5344CB8AC3E}">
        <p14:creationId xmlns:p14="http://schemas.microsoft.com/office/powerpoint/2010/main" val="640685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left)">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ipe(left)">
                                      <p:cBhvr>
                                        <p:cTn id="27" dur="2000"/>
                                        <p:tgtEl>
                                          <p:spTgt spid="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wipe(left)">
                                      <p:cBhvr>
                                        <p:cTn id="32" dur="20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2"/>
                                        </p:tgtEl>
                                        <p:attrNameLst>
                                          <p:attrName>style.visibility</p:attrName>
                                        </p:attrNameLst>
                                      </p:cBhvr>
                                      <p:to>
                                        <p:strVal val="visible"/>
                                      </p:to>
                                    </p:set>
                                    <p:anim calcmode="lin" valueType="num">
                                      <p:cBhvr additive="base">
                                        <p:cTn id="37" dur="500" fill="hold"/>
                                        <p:tgtEl>
                                          <p:spTgt spid="12"/>
                                        </p:tgtEl>
                                        <p:attrNameLst>
                                          <p:attrName>ppt_x</p:attrName>
                                        </p:attrNameLst>
                                      </p:cBhvr>
                                      <p:tavLst>
                                        <p:tav tm="0">
                                          <p:val>
                                            <p:strVal val="#ppt_x"/>
                                          </p:val>
                                        </p:tav>
                                        <p:tav tm="100000">
                                          <p:val>
                                            <p:strVal val="#ppt_x"/>
                                          </p:val>
                                        </p:tav>
                                      </p:tavLst>
                                    </p:anim>
                                    <p:anim calcmode="lin" valueType="num">
                                      <p:cBhvr additive="base">
                                        <p:cTn id="3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animEffect transition="in" filter="wipe(left)">
                                      <p:cBhvr>
                                        <p:cTn id="43" dur="2000"/>
                                        <p:tgtEl>
                                          <p:spTgt spid="7"/>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5"/>
                                        </p:tgtEl>
                                        <p:attrNameLst>
                                          <p:attrName>style.visibility</p:attrName>
                                        </p:attrNameLst>
                                      </p:cBhvr>
                                      <p:to>
                                        <p:strVal val="visible"/>
                                      </p:to>
                                    </p:set>
                                    <p:animEffect transition="in" filter="fade">
                                      <p:cBhvr>
                                        <p:cTn id="48" dur="500"/>
                                        <p:tgtEl>
                                          <p:spTgt spid="15"/>
                                        </p:tgtEl>
                                      </p:cBhvr>
                                    </p:animEffec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8"/>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4"/>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6"/>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5"/>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7"/>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grpId="0" nodeType="clickEffect">
                                  <p:stCondLst>
                                    <p:cond delay="0"/>
                                  </p:stCondLst>
                                  <p:childTnLst>
                                    <p:set>
                                      <p:cBhvr>
                                        <p:cTn id="64" dur="1" fill="hold">
                                          <p:stCondLst>
                                            <p:cond delay="0"/>
                                          </p:stCondLst>
                                        </p:cTn>
                                        <p:tgtEl>
                                          <p:spTgt spid="19"/>
                                        </p:tgtEl>
                                        <p:attrNameLst>
                                          <p:attrName>style.visibility</p:attrName>
                                        </p:attrNameLst>
                                      </p:cBhvr>
                                      <p:to>
                                        <p:strVal val="visible"/>
                                      </p:to>
                                    </p:set>
                                    <p:anim calcmode="lin" valueType="num">
                                      <p:cBhvr additive="base">
                                        <p:cTn id="65" dur="500" fill="hold"/>
                                        <p:tgtEl>
                                          <p:spTgt spid="19"/>
                                        </p:tgtEl>
                                        <p:attrNameLst>
                                          <p:attrName>ppt_x</p:attrName>
                                        </p:attrNameLst>
                                      </p:cBhvr>
                                      <p:tavLst>
                                        <p:tav tm="0">
                                          <p:val>
                                            <p:strVal val="#ppt_x"/>
                                          </p:val>
                                        </p:tav>
                                        <p:tav tm="100000">
                                          <p:val>
                                            <p:strVal val="#ppt_x"/>
                                          </p:val>
                                        </p:tav>
                                      </p:tavLst>
                                    </p:anim>
                                    <p:anim calcmode="lin" valueType="num">
                                      <p:cBhvr additive="base">
                                        <p:cTn id="66"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nodeType="clickEffect">
                                  <p:stCondLst>
                                    <p:cond delay="0"/>
                                  </p:stCondLst>
                                  <p:childTnLst>
                                    <p:set>
                                      <p:cBhvr>
                                        <p:cTn id="70" dur="1" fill="hold">
                                          <p:stCondLst>
                                            <p:cond delay="0"/>
                                          </p:stCondLst>
                                        </p:cTn>
                                        <p:tgtEl>
                                          <p:spTgt spid="23"/>
                                        </p:tgtEl>
                                        <p:attrNameLst>
                                          <p:attrName>style.visibility</p:attrName>
                                        </p:attrNameLst>
                                      </p:cBhvr>
                                      <p:to>
                                        <p:strVal val="visible"/>
                                      </p:to>
                                    </p:set>
                                    <p:anim calcmode="lin" valueType="num">
                                      <p:cBhvr additive="base">
                                        <p:cTn id="71" dur="500" fill="hold"/>
                                        <p:tgtEl>
                                          <p:spTgt spid="23"/>
                                        </p:tgtEl>
                                        <p:attrNameLst>
                                          <p:attrName>ppt_x</p:attrName>
                                        </p:attrNameLst>
                                      </p:cBhvr>
                                      <p:tavLst>
                                        <p:tav tm="0">
                                          <p:val>
                                            <p:strVal val="#ppt_x"/>
                                          </p:val>
                                        </p:tav>
                                        <p:tav tm="100000">
                                          <p:val>
                                            <p:strVal val="#ppt_x"/>
                                          </p:val>
                                        </p:tav>
                                      </p:tavLst>
                                    </p:anim>
                                    <p:anim calcmode="lin" valueType="num">
                                      <p:cBhvr additive="base">
                                        <p:cTn id="72"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20"/>
                                        </p:tgtEl>
                                        <p:attrNameLst>
                                          <p:attrName>style.visibility</p:attrName>
                                        </p:attrNameLst>
                                      </p:cBhvr>
                                      <p:to>
                                        <p:strVal val="visible"/>
                                      </p:to>
                                    </p:set>
                                    <p:animEffect transition="in" filter="wipe(left)">
                                      <p:cBhvr>
                                        <p:cTn id="77" dur="500"/>
                                        <p:tgtEl>
                                          <p:spTgt spid="20"/>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wipe(left)">
                                      <p:cBhvr>
                                        <p:cTn id="82" dur="2000"/>
                                        <p:tgtEl>
                                          <p:spTgt spid="21"/>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nodeType="clickEffect">
                                  <p:stCondLst>
                                    <p:cond delay="0"/>
                                  </p:stCondLst>
                                  <p:childTnLst>
                                    <p:set>
                                      <p:cBhvr>
                                        <p:cTn id="86" dur="1" fill="hold">
                                          <p:stCondLst>
                                            <p:cond delay="0"/>
                                          </p:stCondLst>
                                        </p:cTn>
                                        <p:tgtEl>
                                          <p:spTgt spid="22"/>
                                        </p:tgtEl>
                                        <p:attrNameLst>
                                          <p:attrName>style.visibility</p:attrName>
                                        </p:attrNameLst>
                                      </p:cBhvr>
                                      <p:to>
                                        <p:strVal val="visible"/>
                                      </p:to>
                                    </p:set>
                                    <p:animEffect transition="in" filter="wipe(left)">
                                      <p:cBhvr>
                                        <p:cTn id="87" dur="20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animBg="1"/>
      <p:bldP spid="15" grpId="0" animBg="1"/>
      <p:bldP spid="19" grpId="0" animBg="1" autoUpdateAnimBg="0"/>
      <p:bldP spid="21" grpId="0" animBg="1"/>
      <p:bldP spid="24" grpId="0" animBg="1"/>
      <p:bldP spid="25"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ChangeArrowheads="1"/>
          </p:cNvSpPr>
          <p:nvPr/>
        </p:nvSpPr>
        <p:spPr bwMode="auto">
          <a:xfrm>
            <a:off x="635001" y="1039586"/>
            <a:ext cx="4606925" cy="420688"/>
          </a:xfrm>
          <a:prstGeom prst="rect">
            <a:avLst/>
          </a:prstGeom>
          <a:noFill/>
          <a:ln w="19050">
            <a:solidFill>
              <a:srgbClr val="FF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lnSpc>
                <a:spcPct val="80000"/>
              </a:lnSpc>
              <a:buFontTx/>
              <a:buNone/>
            </a:pPr>
            <a:r>
              <a:rPr kumimoji="1" lang="en-US" altLang="zh-CN" sz="2400" b="1" dirty="0">
                <a:solidFill>
                  <a:srgbClr val="0000FF"/>
                </a:solidFill>
                <a:latin typeface="黑体" pitchFamily="49" charset="-122"/>
                <a:ea typeface="黑体" pitchFamily="49" charset="-122"/>
              </a:rPr>
              <a:t>1</a:t>
            </a:r>
            <a:r>
              <a:rPr kumimoji="1" lang="zh-CN" altLang="en-US" sz="2400" b="1" dirty="0">
                <a:solidFill>
                  <a:srgbClr val="0000FF"/>
                </a:solidFill>
                <a:latin typeface="黑体" pitchFamily="49" charset="-122"/>
                <a:ea typeface="黑体" pitchFamily="49" charset="-122"/>
              </a:rPr>
              <a:t>、安全系数法</a:t>
            </a:r>
            <a:r>
              <a:rPr kumimoji="1" lang="en-US" altLang="zh-CN" sz="2400" b="1" dirty="0">
                <a:solidFill>
                  <a:srgbClr val="0000FF"/>
                </a:solidFill>
                <a:latin typeface="黑体" pitchFamily="49" charset="-122"/>
                <a:ea typeface="黑体" pitchFamily="49" charset="-122"/>
              </a:rPr>
              <a:t>:</a:t>
            </a:r>
          </a:p>
        </p:txBody>
      </p:sp>
      <p:sp>
        <p:nvSpPr>
          <p:cNvPr id="3" name="Text Box 4"/>
          <p:cNvSpPr txBox="1">
            <a:spLocks noChangeArrowheads="1"/>
          </p:cNvSpPr>
          <p:nvPr/>
        </p:nvSpPr>
        <p:spPr bwMode="auto">
          <a:xfrm>
            <a:off x="682129" y="260648"/>
            <a:ext cx="3025775" cy="519112"/>
          </a:xfrm>
          <a:prstGeom prst="rect">
            <a:avLst/>
          </a:prstGeom>
          <a:noFill/>
          <a:ln w="19050">
            <a:solidFill>
              <a:srgbClr val="FF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黑体" pitchFamily="49" charset="-122"/>
              </a:defRPr>
            </a:lvl1pPr>
            <a:lvl2pPr marL="742950" indent="-285750" eaLnBrk="0" hangingPunct="0">
              <a:defRPr>
                <a:solidFill>
                  <a:schemeClr val="tx1"/>
                </a:solidFill>
                <a:latin typeface="Arial" pitchFamily="34" charset="0"/>
                <a:ea typeface="黑体" pitchFamily="49" charset="-122"/>
              </a:defRPr>
            </a:lvl2pPr>
            <a:lvl3pPr marL="1143000" indent="-228600" eaLnBrk="0" hangingPunct="0">
              <a:defRPr>
                <a:solidFill>
                  <a:schemeClr val="tx1"/>
                </a:solidFill>
                <a:latin typeface="Arial" pitchFamily="34" charset="0"/>
                <a:ea typeface="黑体" pitchFamily="49" charset="-122"/>
              </a:defRPr>
            </a:lvl3pPr>
            <a:lvl4pPr marL="1600200" indent="-228600" eaLnBrk="0" hangingPunct="0">
              <a:defRPr>
                <a:solidFill>
                  <a:schemeClr val="tx1"/>
                </a:solidFill>
                <a:latin typeface="Arial" pitchFamily="34" charset="0"/>
                <a:ea typeface="黑体" pitchFamily="49" charset="-122"/>
              </a:defRPr>
            </a:lvl4pPr>
            <a:lvl5pPr marL="2057400" indent="-228600" eaLnBrk="0" hangingPunct="0">
              <a:defRPr>
                <a:solidFill>
                  <a:schemeClr val="tx1"/>
                </a:solidFill>
                <a:latin typeface="Arial" pitchFamily="34" charset="0"/>
                <a:ea typeface="黑体" pitchFamily="49" charset="-122"/>
              </a:defRPr>
            </a:lvl5pPr>
            <a:lvl6pPr marL="2514600" indent="-228600" eaLnBrk="0" fontAlgn="base" hangingPunct="0">
              <a:spcBef>
                <a:spcPct val="0"/>
              </a:spcBef>
              <a:spcAft>
                <a:spcPct val="0"/>
              </a:spcAft>
              <a:defRPr>
                <a:solidFill>
                  <a:schemeClr val="tx1"/>
                </a:solidFill>
                <a:latin typeface="Arial" pitchFamily="34" charset="0"/>
                <a:ea typeface="黑体" pitchFamily="49" charset="-122"/>
              </a:defRPr>
            </a:lvl6pPr>
            <a:lvl7pPr marL="2971800" indent="-228600" eaLnBrk="0" fontAlgn="base" hangingPunct="0">
              <a:spcBef>
                <a:spcPct val="0"/>
              </a:spcBef>
              <a:spcAft>
                <a:spcPct val="0"/>
              </a:spcAft>
              <a:defRPr>
                <a:solidFill>
                  <a:schemeClr val="tx1"/>
                </a:solidFill>
                <a:latin typeface="Arial" pitchFamily="34" charset="0"/>
                <a:ea typeface="黑体" pitchFamily="49" charset="-122"/>
              </a:defRPr>
            </a:lvl7pPr>
            <a:lvl8pPr marL="3429000" indent="-228600" eaLnBrk="0" fontAlgn="base" hangingPunct="0">
              <a:spcBef>
                <a:spcPct val="0"/>
              </a:spcBef>
              <a:spcAft>
                <a:spcPct val="0"/>
              </a:spcAft>
              <a:defRPr>
                <a:solidFill>
                  <a:schemeClr val="tx1"/>
                </a:solidFill>
                <a:latin typeface="Arial" pitchFamily="34" charset="0"/>
                <a:ea typeface="黑体" pitchFamily="49" charset="-122"/>
              </a:defRPr>
            </a:lvl8pPr>
            <a:lvl9pPr marL="3886200" indent="-228600" eaLnBrk="0" fontAlgn="base" hangingPunct="0">
              <a:spcBef>
                <a:spcPct val="0"/>
              </a:spcBef>
              <a:spcAft>
                <a:spcPct val="0"/>
              </a:spcAft>
              <a:defRPr>
                <a:solidFill>
                  <a:schemeClr val="tx1"/>
                </a:solidFill>
                <a:latin typeface="Arial" pitchFamily="34" charset="0"/>
                <a:ea typeface="黑体" pitchFamily="49" charset="-122"/>
              </a:defRPr>
            </a:lvl9pPr>
          </a:lstStyle>
          <a:p>
            <a:pPr eaLnBrk="1" hangingPunct="1"/>
            <a:r>
              <a:rPr kumimoji="1" lang="zh-CN" altLang="en-US" sz="2800" b="1" dirty="0">
                <a:solidFill>
                  <a:srgbClr val="0000FF"/>
                </a:solidFill>
                <a:latin typeface="黑体" pitchFamily="49" charset="-122"/>
              </a:rPr>
              <a:t>稳定条件</a:t>
            </a:r>
          </a:p>
        </p:txBody>
      </p:sp>
      <p:graphicFrame>
        <p:nvGraphicFramePr>
          <p:cNvPr id="4" name="Object 5"/>
          <p:cNvGraphicFramePr>
            <a:graphicFrameLocks noChangeAspect="1"/>
          </p:cNvGraphicFramePr>
          <p:nvPr>
            <p:extLst>
              <p:ext uri="{D42A27DB-BD31-4B8C-83A1-F6EECF244321}">
                <p14:modId xmlns:p14="http://schemas.microsoft.com/office/powerpoint/2010/main" val="3273832762"/>
              </p:ext>
            </p:extLst>
          </p:nvPr>
        </p:nvGraphicFramePr>
        <p:xfrm>
          <a:off x="1044576" y="1409474"/>
          <a:ext cx="1987550" cy="898525"/>
        </p:xfrm>
        <a:graphic>
          <a:graphicData uri="http://schemas.openxmlformats.org/presentationml/2006/ole">
            <mc:AlternateContent xmlns:mc="http://schemas.openxmlformats.org/markup-compatibility/2006">
              <mc:Choice xmlns:v="urn:schemas-microsoft-com:vml" Requires="v">
                <p:oleObj name="公式" r:id="rId2" imgW="952087" imgH="431613" progId="">
                  <p:embed/>
                </p:oleObj>
              </mc:Choice>
              <mc:Fallback>
                <p:oleObj name="公式" r:id="rId2" imgW="952087" imgH="431613" progId="">
                  <p:embed/>
                  <p:pic>
                    <p:nvPicPr>
                      <p:cNvPr id="0" name="Picture 7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4576" y="1409474"/>
                        <a:ext cx="1987550" cy="898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 name="Object 6"/>
          <p:cNvGraphicFramePr>
            <a:graphicFrameLocks noChangeAspect="1"/>
          </p:cNvGraphicFramePr>
          <p:nvPr>
            <p:extLst>
              <p:ext uri="{D42A27DB-BD31-4B8C-83A1-F6EECF244321}">
                <p14:modId xmlns:p14="http://schemas.microsoft.com/office/powerpoint/2010/main" val="400072826"/>
              </p:ext>
            </p:extLst>
          </p:nvPr>
        </p:nvGraphicFramePr>
        <p:xfrm>
          <a:off x="1117601" y="2325461"/>
          <a:ext cx="1976437" cy="882650"/>
        </p:xfrm>
        <a:graphic>
          <a:graphicData uri="http://schemas.openxmlformats.org/presentationml/2006/ole">
            <mc:AlternateContent xmlns:mc="http://schemas.openxmlformats.org/markup-compatibility/2006">
              <mc:Choice xmlns:v="urn:schemas-microsoft-com:vml" Requires="v">
                <p:oleObj name="公式" r:id="rId4" imgW="965200" imgH="431800" progId="">
                  <p:embed/>
                </p:oleObj>
              </mc:Choice>
              <mc:Fallback>
                <p:oleObj name="公式" r:id="rId4" imgW="965200" imgH="431800" progId="">
                  <p:embed/>
                  <p:pic>
                    <p:nvPicPr>
                      <p:cNvPr id="0" name="Picture 7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17601" y="2325461"/>
                        <a:ext cx="1976437" cy="882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 name="Object 10"/>
          <p:cNvGraphicFramePr>
            <a:graphicFrameLocks noChangeAspect="1"/>
          </p:cNvGraphicFramePr>
          <p:nvPr>
            <p:extLst>
              <p:ext uri="{D42A27DB-BD31-4B8C-83A1-F6EECF244321}">
                <p14:modId xmlns:p14="http://schemas.microsoft.com/office/powerpoint/2010/main" val="232184158"/>
              </p:ext>
            </p:extLst>
          </p:nvPr>
        </p:nvGraphicFramePr>
        <p:xfrm>
          <a:off x="3421063" y="1556643"/>
          <a:ext cx="361950" cy="433387"/>
        </p:xfrm>
        <a:graphic>
          <a:graphicData uri="http://schemas.openxmlformats.org/presentationml/2006/ole">
            <mc:AlternateContent xmlns:mc="http://schemas.openxmlformats.org/markup-compatibility/2006">
              <mc:Choice xmlns:v="urn:schemas-microsoft-com:vml" Requires="v">
                <p:oleObj name="公式" r:id="rId6" imgW="190500" imgH="228600" progId="">
                  <p:embed/>
                </p:oleObj>
              </mc:Choice>
              <mc:Fallback>
                <p:oleObj name="公式" r:id="rId6" imgW="190500" imgH="228600" progId="">
                  <p:embed/>
                  <p:pic>
                    <p:nvPicPr>
                      <p:cNvPr id="0" name="Picture 7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21063" y="1556643"/>
                        <a:ext cx="361950" cy="4333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11"/>
          <p:cNvSpPr>
            <a:spLocks noChangeArrowheads="1"/>
          </p:cNvSpPr>
          <p:nvPr/>
        </p:nvSpPr>
        <p:spPr bwMode="auto">
          <a:xfrm>
            <a:off x="4139952" y="1540768"/>
            <a:ext cx="3544125" cy="457200"/>
          </a:xfrm>
          <a:prstGeom prst="rect">
            <a:avLst/>
          </a:prstGeom>
          <a:noFill/>
          <a:ln w="19050">
            <a:solidFill>
              <a:srgbClr val="FF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itchFamily="34" charset="0"/>
                <a:ea typeface="黑体" pitchFamily="49" charset="-122"/>
              </a:defRPr>
            </a:lvl1pPr>
            <a:lvl2pPr marL="742950" indent="-285750" eaLnBrk="0" hangingPunct="0">
              <a:defRPr>
                <a:solidFill>
                  <a:schemeClr val="tx1"/>
                </a:solidFill>
                <a:latin typeface="Arial" pitchFamily="34" charset="0"/>
                <a:ea typeface="黑体" pitchFamily="49" charset="-122"/>
              </a:defRPr>
            </a:lvl2pPr>
            <a:lvl3pPr marL="1143000" indent="-228600" eaLnBrk="0" hangingPunct="0">
              <a:defRPr>
                <a:solidFill>
                  <a:schemeClr val="tx1"/>
                </a:solidFill>
                <a:latin typeface="Arial" pitchFamily="34" charset="0"/>
                <a:ea typeface="黑体" pitchFamily="49" charset="-122"/>
              </a:defRPr>
            </a:lvl3pPr>
            <a:lvl4pPr marL="1600200" indent="-228600" eaLnBrk="0" hangingPunct="0">
              <a:defRPr>
                <a:solidFill>
                  <a:schemeClr val="tx1"/>
                </a:solidFill>
                <a:latin typeface="Arial" pitchFamily="34" charset="0"/>
                <a:ea typeface="黑体" pitchFamily="49" charset="-122"/>
              </a:defRPr>
            </a:lvl4pPr>
            <a:lvl5pPr marL="2057400" indent="-228600" eaLnBrk="0" hangingPunct="0">
              <a:defRPr>
                <a:solidFill>
                  <a:schemeClr val="tx1"/>
                </a:solidFill>
                <a:latin typeface="Arial" pitchFamily="34" charset="0"/>
                <a:ea typeface="黑体" pitchFamily="49" charset="-122"/>
              </a:defRPr>
            </a:lvl5pPr>
            <a:lvl6pPr marL="2514600" indent="-228600" eaLnBrk="0" fontAlgn="base" hangingPunct="0">
              <a:spcBef>
                <a:spcPct val="0"/>
              </a:spcBef>
              <a:spcAft>
                <a:spcPct val="0"/>
              </a:spcAft>
              <a:defRPr>
                <a:solidFill>
                  <a:schemeClr val="tx1"/>
                </a:solidFill>
                <a:latin typeface="Arial" pitchFamily="34" charset="0"/>
                <a:ea typeface="黑体" pitchFamily="49" charset="-122"/>
              </a:defRPr>
            </a:lvl6pPr>
            <a:lvl7pPr marL="2971800" indent="-228600" eaLnBrk="0" fontAlgn="base" hangingPunct="0">
              <a:spcBef>
                <a:spcPct val="0"/>
              </a:spcBef>
              <a:spcAft>
                <a:spcPct val="0"/>
              </a:spcAft>
              <a:defRPr>
                <a:solidFill>
                  <a:schemeClr val="tx1"/>
                </a:solidFill>
                <a:latin typeface="Arial" pitchFamily="34" charset="0"/>
                <a:ea typeface="黑体" pitchFamily="49" charset="-122"/>
              </a:defRPr>
            </a:lvl7pPr>
            <a:lvl8pPr marL="3429000" indent="-228600" eaLnBrk="0" fontAlgn="base" hangingPunct="0">
              <a:spcBef>
                <a:spcPct val="0"/>
              </a:spcBef>
              <a:spcAft>
                <a:spcPct val="0"/>
              </a:spcAft>
              <a:defRPr>
                <a:solidFill>
                  <a:schemeClr val="tx1"/>
                </a:solidFill>
                <a:latin typeface="Arial" pitchFamily="34" charset="0"/>
                <a:ea typeface="黑体" pitchFamily="49" charset="-122"/>
              </a:defRPr>
            </a:lvl8pPr>
            <a:lvl9pPr marL="3886200" indent="-228600" eaLnBrk="0" fontAlgn="base" hangingPunct="0">
              <a:spcBef>
                <a:spcPct val="0"/>
              </a:spcBef>
              <a:spcAft>
                <a:spcPct val="0"/>
              </a:spcAft>
              <a:defRPr>
                <a:solidFill>
                  <a:schemeClr val="tx1"/>
                </a:solidFill>
                <a:latin typeface="Arial" pitchFamily="34" charset="0"/>
                <a:ea typeface="黑体" pitchFamily="49" charset="-122"/>
              </a:defRPr>
            </a:lvl9pPr>
          </a:lstStyle>
          <a:p>
            <a:pPr eaLnBrk="1" hangingPunct="1"/>
            <a:r>
              <a:rPr kumimoji="1" lang="zh-CN" altLang="en-US" sz="2400" b="1">
                <a:solidFill>
                  <a:srgbClr val="0000FF"/>
                </a:solidFill>
                <a:latin typeface="黑体" pitchFamily="49" charset="-122"/>
              </a:rPr>
              <a:t>－稳定安全系数；</a:t>
            </a:r>
          </a:p>
        </p:txBody>
      </p:sp>
      <p:graphicFrame>
        <p:nvGraphicFramePr>
          <p:cNvPr id="8" name="Object 12"/>
          <p:cNvGraphicFramePr>
            <a:graphicFrameLocks noChangeAspect="1"/>
          </p:cNvGraphicFramePr>
          <p:nvPr>
            <p:extLst>
              <p:ext uri="{D42A27DB-BD31-4B8C-83A1-F6EECF244321}">
                <p14:modId xmlns:p14="http://schemas.microsoft.com/office/powerpoint/2010/main" val="2755733776"/>
              </p:ext>
            </p:extLst>
          </p:nvPr>
        </p:nvGraphicFramePr>
        <p:xfrm>
          <a:off x="3376613" y="2053530"/>
          <a:ext cx="625475" cy="433388"/>
        </p:xfrm>
        <a:graphic>
          <a:graphicData uri="http://schemas.openxmlformats.org/presentationml/2006/ole">
            <mc:AlternateContent xmlns:mc="http://schemas.openxmlformats.org/markup-compatibility/2006">
              <mc:Choice xmlns:v="urn:schemas-microsoft-com:vml" Requires="v">
                <p:oleObj name="公式" r:id="rId8" imgW="330200" imgH="228600" progId="">
                  <p:embed/>
                </p:oleObj>
              </mc:Choice>
              <mc:Fallback>
                <p:oleObj name="公式" r:id="rId8" imgW="330200" imgH="228600" progId="">
                  <p:embed/>
                  <p:pic>
                    <p:nvPicPr>
                      <p:cNvPr id="0" name="Picture 7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376613" y="2053530"/>
                        <a:ext cx="625475" cy="433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Rectangle 13"/>
          <p:cNvSpPr>
            <a:spLocks noChangeArrowheads="1"/>
          </p:cNvSpPr>
          <p:nvPr/>
        </p:nvSpPr>
        <p:spPr bwMode="auto">
          <a:xfrm>
            <a:off x="4139952" y="2107704"/>
            <a:ext cx="3528392" cy="457200"/>
          </a:xfrm>
          <a:prstGeom prst="rect">
            <a:avLst/>
          </a:prstGeom>
          <a:noFill/>
          <a:ln w="19050">
            <a:solidFill>
              <a:srgbClr val="FF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itchFamily="34" charset="0"/>
                <a:ea typeface="黑体" pitchFamily="49" charset="-122"/>
              </a:defRPr>
            </a:lvl1pPr>
            <a:lvl2pPr marL="742950" indent="-285750" eaLnBrk="0" hangingPunct="0">
              <a:defRPr>
                <a:solidFill>
                  <a:schemeClr val="tx1"/>
                </a:solidFill>
                <a:latin typeface="Arial" pitchFamily="34" charset="0"/>
                <a:ea typeface="黑体" pitchFamily="49" charset="-122"/>
              </a:defRPr>
            </a:lvl2pPr>
            <a:lvl3pPr marL="1143000" indent="-228600" eaLnBrk="0" hangingPunct="0">
              <a:defRPr>
                <a:solidFill>
                  <a:schemeClr val="tx1"/>
                </a:solidFill>
                <a:latin typeface="Arial" pitchFamily="34" charset="0"/>
                <a:ea typeface="黑体" pitchFamily="49" charset="-122"/>
              </a:defRPr>
            </a:lvl3pPr>
            <a:lvl4pPr marL="1600200" indent="-228600" eaLnBrk="0" hangingPunct="0">
              <a:defRPr>
                <a:solidFill>
                  <a:schemeClr val="tx1"/>
                </a:solidFill>
                <a:latin typeface="Arial" pitchFamily="34" charset="0"/>
                <a:ea typeface="黑体" pitchFamily="49" charset="-122"/>
              </a:defRPr>
            </a:lvl4pPr>
            <a:lvl5pPr marL="2057400" indent="-228600" eaLnBrk="0" hangingPunct="0">
              <a:defRPr>
                <a:solidFill>
                  <a:schemeClr val="tx1"/>
                </a:solidFill>
                <a:latin typeface="Arial" pitchFamily="34" charset="0"/>
                <a:ea typeface="黑体" pitchFamily="49" charset="-122"/>
              </a:defRPr>
            </a:lvl5pPr>
            <a:lvl6pPr marL="2514600" indent="-228600" eaLnBrk="0" fontAlgn="base" hangingPunct="0">
              <a:spcBef>
                <a:spcPct val="0"/>
              </a:spcBef>
              <a:spcAft>
                <a:spcPct val="0"/>
              </a:spcAft>
              <a:defRPr>
                <a:solidFill>
                  <a:schemeClr val="tx1"/>
                </a:solidFill>
                <a:latin typeface="Arial" pitchFamily="34" charset="0"/>
                <a:ea typeface="黑体" pitchFamily="49" charset="-122"/>
              </a:defRPr>
            </a:lvl6pPr>
            <a:lvl7pPr marL="2971800" indent="-228600" eaLnBrk="0" fontAlgn="base" hangingPunct="0">
              <a:spcBef>
                <a:spcPct val="0"/>
              </a:spcBef>
              <a:spcAft>
                <a:spcPct val="0"/>
              </a:spcAft>
              <a:defRPr>
                <a:solidFill>
                  <a:schemeClr val="tx1"/>
                </a:solidFill>
                <a:latin typeface="Arial" pitchFamily="34" charset="0"/>
                <a:ea typeface="黑体" pitchFamily="49" charset="-122"/>
              </a:defRPr>
            </a:lvl7pPr>
            <a:lvl8pPr marL="3429000" indent="-228600" eaLnBrk="0" fontAlgn="base" hangingPunct="0">
              <a:spcBef>
                <a:spcPct val="0"/>
              </a:spcBef>
              <a:spcAft>
                <a:spcPct val="0"/>
              </a:spcAft>
              <a:defRPr>
                <a:solidFill>
                  <a:schemeClr val="tx1"/>
                </a:solidFill>
                <a:latin typeface="Arial" pitchFamily="34" charset="0"/>
                <a:ea typeface="黑体" pitchFamily="49" charset="-122"/>
              </a:defRPr>
            </a:lvl8pPr>
            <a:lvl9pPr marL="3886200" indent="-228600" eaLnBrk="0" fontAlgn="base" hangingPunct="0">
              <a:spcBef>
                <a:spcPct val="0"/>
              </a:spcBef>
              <a:spcAft>
                <a:spcPct val="0"/>
              </a:spcAft>
              <a:defRPr>
                <a:solidFill>
                  <a:schemeClr val="tx1"/>
                </a:solidFill>
                <a:latin typeface="Arial" pitchFamily="34" charset="0"/>
                <a:ea typeface="黑体" pitchFamily="49" charset="-122"/>
              </a:defRPr>
            </a:lvl9pPr>
          </a:lstStyle>
          <a:p>
            <a:pPr eaLnBrk="1" hangingPunct="1"/>
            <a:r>
              <a:rPr kumimoji="1" lang="zh-CN" altLang="en-US" sz="2400" b="1">
                <a:solidFill>
                  <a:srgbClr val="0000FF"/>
                </a:solidFill>
                <a:latin typeface="黑体" pitchFamily="49" charset="-122"/>
              </a:rPr>
              <a:t>－稳定许用压力。</a:t>
            </a:r>
          </a:p>
        </p:txBody>
      </p:sp>
      <p:graphicFrame>
        <p:nvGraphicFramePr>
          <p:cNvPr id="10" name="Object 14"/>
          <p:cNvGraphicFramePr>
            <a:graphicFrameLocks noChangeAspect="1"/>
          </p:cNvGraphicFramePr>
          <p:nvPr>
            <p:extLst>
              <p:ext uri="{D42A27DB-BD31-4B8C-83A1-F6EECF244321}">
                <p14:modId xmlns:p14="http://schemas.microsoft.com/office/powerpoint/2010/main" val="1290517762"/>
              </p:ext>
            </p:extLst>
          </p:nvPr>
        </p:nvGraphicFramePr>
        <p:xfrm>
          <a:off x="3359151" y="2699643"/>
          <a:ext cx="625475" cy="433387"/>
        </p:xfrm>
        <a:graphic>
          <a:graphicData uri="http://schemas.openxmlformats.org/presentationml/2006/ole">
            <mc:AlternateContent xmlns:mc="http://schemas.openxmlformats.org/markup-compatibility/2006">
              <mc:Choice xmlns:v="urn:schemas-microsoft-com:vml" Requires="v">
                <p:oleObj name="公式" r:id="rId10" imgW="330200" imgH="228600" progId="">
                  <p:embed/>
                </p:oleObj>
              </mc:Choice>
              <mc:Fallback>
                <p:oleObj name="公式" r:id="rId10" imgW="330200" imgH="228600" progId="">
                  <p:embed/>
                  <p:pic>
                    <p:nvPicPr>
                      <p:cNvPr id="0" name="Picture 7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359151" y="2699643"/>
                        <a:ext cx="625475" cy="4333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Rectangle 15"/>
          <p:cNvSpPr>
            <a:spLocks noChangeArrowheads="1"/>
          </p:cNvSpPr>
          <p:nvPr/>
        </p:nvSpPr>
        <p:spPr bwMode="auto">
          <a:xfrm>
            <a:off x="4139952" y="2683768"/>
            <a:ext cx="3570287" cy="457200"/>
          </a:xfrm>
          <a:prstGeom prst="rect">
            <a:avLst/>
          </a:prstGeom>
          <a:noFill/>
          <a:ln w="19050">
            <a:solidFill>
              <a:srgbClr val="FF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黑体" pitchFamily="49" charset="-122"/>
              </a:defRPr>
            </a:lvl1pPr>
            <a:lvl2pPr marL="742950" indent="-285750" eaLnBrk="0" hangingPunct="0">
              <a:defRPr>
                <a:solidFill>
                  <a:schemeClr val="tx1"/>
                </a:solidFill>
                <a:latin typeface="Arial" pitchFamily="34" charset="0"/>
                <a:ea typeface="黑体" pitchFamily="49" charset="-122"/>
              </a:defRPr>
            </a:lvl2pPr>
            <a:lvl3pPr marL="1143000" indent="-228600" eaLnBrk="0" hangingPunct="0">
              <a:defRPr>
                <a:solidFill>
                  <a:schemeClr val="tx1"/>
                </a:solidFill>
                <a:latin typeface="Arial" pitchFamily="34" charset="0"/>
                <a:ea typeface="黑体" pitchFamily="49" charset="-122"/>
              </a:defRPr>
            </a:lvl3pPr>
            <a:lvl4pPr marL="1600200" indent="-228600" eaLnBrk="0" hangingPunct="0">
              <a:defRPr>
                <a:solidFill>
                  <a:schemeClr val="tx1"/>
                </a:solidFill>
                <a:latin typeface="Arial" pitchFamily="34" charset="0"/>
                <a:ea typeface="黑体" pitchFamily="49" charset="-122"/>
              </a:defRPr>
            </a:lvl4pPr>
            <a:lvl5pPr marL="2057400" indent="-228600" eaLnBrk="0" hangingPunct="0">
              <a:defRPr>
                <a:solidFill>
                  <a:schemeClr val="tx1"/>
                </a:solidFill>
                <a:latin typeface="Arial" pitchFamily="34" charset="0"/>
                <a:ea typeface="黑体" pitchFamily="49" charset="-122"/>
              </a:defRPr>
            </a:lvl5pPr>
            <a:lvl6pPr marL="2514600" indent="-228600" eaLnBrk="0" fontAlgn="base" hangingPunct="0">
              <a:spcBef>
                <a:spcPct val="0"/>
              </a:spcBef>
              <a:spcAft>
                <a:spcPct val="0"/>
              </a:spcAft>
              <a:defRPr>
                <a:solidFill>
                  <a:schemeClr val="tx1"/>
                </a:solidFill>
                <a:latin typeface="Arial" pitchFamily="34" charset="0"/>
                <a:ea typeface="黑体" pitchFamily="49" charset="-122"/>
              </a:defRPr>
            </a:lvl6pPr>
            <a:lvl7pPr marL="2971800" indent="-228600" eaLnBrk="0" fontAlgn="base" hangingPunct="0">
              <a:spcBef>
                <a:spcPct val="0"/>
              </a:spcBef>
              <a:spcAft>
                <a:spcPct val="0"/>
              </a:spcAft>
              <a:defRPr>
                <a:solidFill>
                  <a:schemeClr val="tx1"/>
                </a:solidFill>
                <a:latin typeface="Arial" pitchFamily="34" charset="0"/>
                <a:ea typeface="黑体" pitchFamily="49" charset="-122"/>
              </a:defRPr>
            </a:lvl7pPr>
            <a:lvl8pPr marL="3429000" indent="-228600" eaLnBrk="0" fontAlgn="base" hangingPunct="0">
              <a:spcBef>
                <a:spcPct val="0"/>
              </a:spcBef>
              <a:spcAft>
                <a:spcPct val="0"/>
              </a:spcAft>
              <a:defRPr>
                <a:solidFill>
                  <a:schemeClr val="tx1"/>
                </a:solidFill>
                <a:latin typeface="Arial" pitchFamily="34" charset="0"/>
                <a:ea typeface="黑体" pitchFamily="49" charset="-122"/>
              </a:defRPr>
            </a:lvl8pPr>
            <a:lvl9pPr marL="3886200" indent="-228600" eaLnBrk="0" fontAlgn="base" hangingPunct="0">
              <a:spcBef>
                <a:spcPct val="0"/>
              </a:spcBef>
              <a:spcAft>
                <a:spcPct val="0"/>
              </a:spcAft>
              <a:defRPr>
                <a:solidFill>
                  <a:schemeClr val="tx1"/>
                </a:solidFill>
                <a:latin typeface="Arial" pitchFamily="34" charset="0"/>
                <a:ea typeface="黑体" pitchFamily="49" charset="-122"/>
              </a:defRPr>
            </a:lvl9pPr>
          </a:lstStyle>
          <a:p>
            <a:pPr eaLnBrk="1" hangingPunct="1"/>
            <a:r>
              <a:rPr kumimoji="1" lang="zh-CN" altLang="en-US" sz="2400" b="1">
                <a:solidFill>
                  <a:srgbClr val="0000FF"/>
                </a:solidFill>
                <a:latin typeface="黑体" pitchFamily="49" charset="-122"/>
              </a:rPr>
              <a:t>－稳定许用压应力。</a:t>
            </a:r>
          </a:p>
        </p:txBody>
      </p:sp>
      <p:sp>
        <p:nvSpPr>
          <p:cNvPr id="12" name="Rectangle 16"/>
          <p:cNvSpPr>
            <a:spLocks noChangeArrowheads="1"/>
          </p:cNvSpPr>
          <p:nvPr/>
        </p:nvSpPr>
        <p:spPr bwMode="auto">
          <a:xfrm>
            <a:off x="757238" y="3408136"/>
            <a:ext cx="2570163" cy="460375"/>
          </a:xfrm>
          <a:prstGeom prst="rect">
            <a:avLst/>
          </a:prstGeom>
          <a:noFill/>
          <a:ln w="19050">
            <a:solidFill>
              <a:srgbClr val="FF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lnSpc>
                <a:spcPct val="80000"/>
              </a:lnSpc>
              <a:buFontTx/>
              <a:buNone/>
            </a:pPr>
            <a:r>
              <a:rPr kumimoji="1" lang="en-US" altLang="zh-CN" sz="2400" b="1">
                <a:solidFill>
                  <a:srgbClr val="0000FF"/>
                </a:solidFill>
                <a:latin typeface="黑体" pitchFamily="49" charset="-122"/>
                <a:ea typeface="黑体" pitchFamily="49" charset="-122"/>
              </a:rPr>
              <a:t>2</a:t>
            </a:r>
            <a:r>
              <a:rPr kumimoji="1" lang="zh-CN" altLang="en-US" sz="2400" b="1">
                <a:solidFill>
                  <a:srgbClr val="0000FF"/>
                </a:solidFill>
                <a:latin typeface="黑体" pitchFamily="49" charset="-122"/>
                <a:ea typeface="黑体" pitchFamily="49" charset="-122"/>
              </a:rPr>
              <a:t>、折减系数法</a:t>
            </a:r>
            <a:r>
              <a:rPr kumimoji="1" lang="en-US" altLang="zh-CN" sz="2400" b="1">
                <a:solidFill>
                  <a:srgbClr val="0000FF"/>
                </a:solidFill>
                <a:latin typeface="黑体" pitchFamily="49" charset="-122"/>
                <a:ea typeface="黑体" pitchFamily="49" charset="-122"/>
              </a:rPr>
              <a:t>:</a:t>
            </a:r>
          </a:p>
        </p:txBody>
      </p:sp>
      <p:graphicFrame>
        <p:nvGraphicFramePr>
          <p:cNvPr id="13" name="Object 17"/>
          <p:cNvGraphicFramePr>
            <a:graphicFrameLocks noChangeAspect="1"/>
          </p:cNvGraphicFramePr>
          <p:nvPr>
            <p:extLst>
              <p:ext uri="{D42A27DB-BD31-4B8C-83A1-F6EECF244321}">
                <p14:modId xmlns:p14="http://schemas.microsoft.com/office/powerpoint/2010/main" val="4009071984"/>
              </p:ext>
            </p:extLst>
          </p:nvPr>
        </p:nvGraphicFramePr>
        <p:xfrm>
          <a:off x="898526" y="3909786"/>
          <a:ext cx="3092450" cy="804863"/>
        </p:xfrm>
        <a:graphic>
          <a:graphicData uri="http://schemas.openxmlformats.org/presentationml/2006/ole">
            <mc:AlternateContent xmlns:mc="http://schemas.openxmlformats.org/markup-compatibility/2006">
              <mc:Choice xmlns:v="urn:schemas-microsoft-com:vml" Requires="v">
                <p:oleObj name="公式" r:id="rId12" imgW="1511300" imgH="393700" progId="">
                  <p:embed/>
                </p:oleObj>
              </mc:Choice>
              <mc:Fallback>
                <p:oleObj name="公式" r:id="rId12" imgW="1511300" imgH="393700" progId="">
                  <p:embed/>
                  <p:pic>
                    <p:nvPicPr>
                      <p:cNvPr id="0" name="Picture 7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98526" y="3909786"/>
                        <a:ext cx="3092450" cy="804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 name="Object 18"/>
          <p:cNvGraphicFramePr>
            <a:graphicFrameLocks noChangeAspect="1"/>
          </p:cNvGraphicFramePr>
          <p:nvPr>
            <p:extLst>
              <p:ext uri="{D42A27DB-BD31-4B8C-83A1-F6EECF244321}">
                <p14:modId xmlns:p14="http://schemas.microsoft.com/office/powerpoint/2010/main" val="3211868335"/>
              </p:ext>
            </p:extLst>
          </p:nvPr>
        </p:nvGraphicFramePr>
        <p:xfrm>
          <a:off x="5124451" y="4125686"/>
          <a:ext cx="1974850" cy="466725"/>
        </p:xfrm>
        <a:graphic>
          <a:graphicData uri="http://schemas.openxmlformats.org/presentationml/2006/ole">
            <mc:AlternateContent xmlns:mc="http://schemas.openxmlformats.org/markup-compatibility/2006">
              <mc:Choice xmlns:v="urn:schemas-microsoft-com:vml" Requires="v">
                <p:oleObj name="公式" r:id="rId14" imgW="965200" imgH="228600" progId="">
                  <p:embed/>
                </p:oleObj>
              </mc:Choice>
              <mc:Fallback>
                <p:oleObj name="公式" r:id="rId14" imgW="965200" imgH="228600" progId="">
                  <p:embed/>
                  <p:pic>
                    <p:nvPicPr>
                      <p:cNvPr id="0" name="Picture 8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124451" y="4125686"/>
                        <a:ext cx="1974850"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 name="Object 19"/>
          <p:cNvGraphicFramePr>
            <a:graphicFrameLocks noChangeAspect="1"/>
          </p:cNvGraphicFramePr>
          <p:nvPr>
            <p:extLst>
              <p:ext uri="{D42A27DB-BD31-4B8C-83A1-F6EECF244321}">
                <p14:modId xmlns:p14="http://schemas.microsoft.com/office/powerpoint/2010/main" val="1045355041"/>
              </p:ext>
            </p:extLst>
          </p:nvPr>
        </p:nvGraphicFramePr>
        <p:xfrm>
          <a:off x="1176338" y="4957536"/>
          <a:ext cx="457200" cy="384175"/>
        </p:xfrm>
        <a:graphic>
          <a:graphicData uri="http://schemas.openxmlformats.org/presentationml/2006/ole">
            <mc:AlternateContent xmlns:mc="http://schemas.openxmlformats.org/markup-compatibility/2006">
              <mc:Choice xmlns:v="urn:schemas-microsoft-com:vml" Requires="v">
                <p:oleObj name="公式" r:id="rId16" imgW="241195" imgH="203112" progId="">
                  <p:embed/>
                </p:oleObj>
              </mc:Choice>
              <mc:Fallback>
                <p:oleObj name="公式" r:id="rId16" imgW="241195" imgH="203112" progId="">
                  <p:embed/>
                  <p:pic>
                    <p:nvPicPr>
                      <p:cNvPr id="0" name="Picture 8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176338" y="4957536"/>
                        <a:ext cx="457200" cy="384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Rectangle 20"/>
          <p:cNvSpPr>
            <a:spLocks noChangeArrowheads="1"/>
          </p:cNvSpPr>
          <p:nvPr/>
        </p:nvSpPr>
        <p:spPr bwMode="auto">
          <a:xfrm>
            <a:off x="1663701" y="4917849"/>
            <a:ext cx="2452687" cy="457200"/>
          </a:xfrm>
          <a:prstGeom prst="rect">
            <a:avLst/>
          </a:prstGeom>
          <a:noFill/>
          <a:ln w="19050">
            <a:solidFill>
              <a:srgbClr val="FF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黑体" pitchFamily="49" charset="-122"/>
              </a:defRPr>
            </a:lvl1pPr>
            <a:lvl2pPr marL="742950" indent="-285750" eaLnBrk="0" hangingPunct="0">
              <a:defRPr>
                <a:solidFill>
                  <a:schemeClr val="tx1"/>
                </a:solidFill>
                <a:latin typeface="Arial" pitchFamily="34" charset="0"/>
                <a:ea typeface="黑体" pitchFamily="49" charset="-122"/>
              </a:defRPr>
            </a:lvl2pPr>
            <a:lvl3pPr marL="1143000" indent="-228600" eaLnBrk="0" hangingPunct="0">
              <a:defRPr>
                <a:solidFill>
                  <a:schemeClr val="tx1"/>
                </a:solidFill>
                <a:latin typeface="Arial" pitchFamily="34" charset="0"/>
                <a:ea typeface="黑体" pitchFamily="49" charset="-122"/>
              </a:defRPr>
            </a:lvl3pPr>
            <a:lvl4pPr marL="1600200" indent="-228600" eaLnBrk="0" hangingPunct="0">
              <a:defRPr>
                <a:solidFill>
                  <a:schemeClr val="tx1"/>
                </a:solidFill>
                <a:latin typeface="Arial" pitchFamily="34" charset="0"/>
                <a:ea typeface="黑体" pitchFamily="49" charset="-122"/>
              </a:defRPr>
            </a:lvl4pPr>
            <a:lvl5pPr marL="2057400" indent="-228600" eaLnBrk="0" hangingPunct="0">
              <a:defRPr>
                <a:solidFill>
                  <a:schemeClr val="tx1"/>
                </a:solidFill>
                <a:latin typeface="Arial" pitchFamily="34" charset="0"/>
                <a:ea typeface="黑体" pitchFamily="49" charset="-122"/>
              </a:defRPr>
            </a:lvl5pPr>
            <a:lvl6pPr marL="2514600" indent="-228600" eaLnBrk="0" fontAlgn="base" hangingPunct="0">
              <a:spcBef>
                <a:spcPct val="0"/>
              </a:spcBef>
              <a:spcAft>
                <a:spcPct val="0"/>
              </a:spcAft>
              <a:defRPr>
                <a:solidFill>
                  <a:schemeClr val="tx1"/>
                </a:solidFill>
                <a:latin typeface="Arial" pitchFamily="34" charset="0"/>
                <a:ea typeface="黑体" pitchFamily="49" charset="-122"/>
              </a:defRPr>
            </a:lvl6pPr>
            <a:lvl7pPr marL="2971800" indent="-228600" eaLnBrk="0" fontAlgn="base" hangingPunct="0">
              <a:spcBef>
                <a:spcPct val="0"/>
              </a:spcBef>
              <a:spcAft>
                <a:spcPct val="0"/>
              </a:spcAft>
              <a:defRPr>
                <a:solidFill>
                  <a:schemeClr val="tx1"/>
                </a:solidFill>
                <a:latin typeface="Arial" pitchFamily="34" charset="0"/>
                <a:ea typeface="黑体" pitchFamily="49" charset="-122"/>
              </a:defRPr>
            </a:lvl7pPr>
            <a:lvl8pPr marL="3429000" indent="-228600" eaLnBrk="0" fontAlgn="base" hangingPunct="0">
              <a:spcBef>
                <a:spcPct val="0"/>
              </a:spcBef>
              <a:spcAft>
                <a:spcPct val="0"/>
              </a:spcAft>
              <a:defRPr>
                <a:solidFill>
                  <a:schemeClr val="tx1"/>
                </a:solidFill>
                <a:latin typeface="Arial" pitchFamily="34" charset="0"/>
                <a:ea typeface="黑体" pitchFamily="49" charset="-122"/>
              </a:defRPr>
            </a:lvl8pPr>
            <a:lvl9pPr marL="3886200" indent="-228600" eaLnBrk="0" fontAlgn="base" hangingPunct="0">
              <a:spcBef>
                <a:spcPct val="0"/>
              </a:spcBef>
              <a:spcAft>
                <a:spcPct val="0"/>
              </a:spcAft>
              <a:defRPr>
                <a:solidFill>
                  <a:schemeClr val="tx1"/>
                </a:solidFill>
                <a:latin typeface="Arial" pitchFamily="34" charset="0"/>
                <a:ea typeface="黑体" pitchFamily="49" charset="-122"/>
              </a:defRPr>
            </a:lvl9pPr>
          </a:lstStyle>
          <a:p>
            <a:pPr eaLnBrk="1" hangingPunct="1"/>
            <a:r>
              <a:rPr kumimoji="1" lang="zh-CN" altLang="en-US" sz="2400" b="1">
                <a:solidFill>
                  <a:srgbClr val="0000FF"/>
                </a:solidFill>
                <a:latin typeface="Times New Roman" pitchFamily="18" charset="0"/>
                <a:ea typeface="宋体" pitchFamily="2" charset="-122"/>
              </a:rPr>
              <a:t>－许用应力；</a:t>
            </a:r>
          </a:p>
        </p:txBody>
      </p:sp>
      <p:graphicFrame>
        <p:nvGraphicFramePr>
          <p:cNvPr id="17" name="Object 21"/>
          <p:cNvGraphicFramePr>
            <a:graphicFrameLocks noChangeAspect="1"/>
          </p:cNvGraphicFramePr>
          <p:nvPr>
            <p:extLst>
              <p:ext uri="{D42A27DB-BD31-4B8C-83A1-F6EECF244321}">
                <p14:modId xmlns:p14="http://schemas.microsoft.com/office/powerpoint/2010/main" val="2198500411"/>
              </p:ext>
            </p:extLst>
          </p:nvPr>
        </p:nvGraphicFramePr>
        <p:xfrm>
          <a:off x="1115616" y="5733256"/>
          <a:ext cx="1268412" cy="431800"/>
        </p:xfrm>
        <a:graphic>
          <a:graphicData uri="http://schemas.openxmlformats.org/presentationml/2006/ole">
            <mc:AlternateContent xmlns:mc="http://schemas.openxmlformats.org/markup-compatibility/2006">
              <mc:Choice xmlns:v="urn:schemas-microsoft-com:vml" Requires="v">
                <p:oleObj name="公式" r:id="rId18" imgW="596641" imgH="203112" progId="">
                  <p:embed/>
                </p:oleObj>
              </mc:Choice>
              <mc:Fallback>
                <p:oleObj name="公式" r:id="rId18" imgW="596641" imgH="203112" progId="">
                  <p:embed/>
                  <p:pic>
                    <p:nvPicPr>
                      <p:cNvPr id="0" name="Picture 82"/>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115616" y="5733256"/>
                        <a:ext cx="1268412"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Rectangle 22"/>
          <p:cNvSpPr>
            <a:spLocks noChangeArrowheads="1"/>
          </p:cNvSpPr>
          <p:nvPr/>
        </p:nvSpPr>
        <p:spPr bwMode="auto">
          <a:xfrm>
            <a:off x="2339752" y="5589240"/>
            <a:ext cx="4206601" cy="830997"/>
          </a:xfrm>
          <a:prstGeom prst="rect">
            <a:avLst/>
          </a:prstGeom>
          <a:noFill/>
          <a:ln w="19050">
            <a:solidFill>
              <a:srgbClr val="FF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黑体" pitchFamily="49" charset="-122"/>
              </a:defRPr>
            </a:lvl1pPr>
            <a:lvl2pPr marL="742950" indent="-285750" eaLnBrk="0" hangingPunct="0">
              <a:defRPr>
                <a:solidFill>
                  <a:schemeClr val="tx1"/>
                </a:solidFill>
                <a:latin typeface="Arial" pitchFamily="34" charset="0"/>
                <a:ea typeface="黑体" pitchFamily="49" charset="-122"/>
              </a:defRPr>
            </a:lvl2pPr>
            <a:lvl3pPr marL="1143000" indent="-228600" eaLnBrk="0" hangingPunct="0">
              <a:defRPr>
                <a:solidFill>
                  <a:schemeClr val="tx1"/>
                </a:solidFill>
                <a:latin typeface="Arial" pitchFamily="34" charset="0"/>
                <a:ea typeface="黑体" pitchFamily="49" charset="-122"/>
              </a:defRPr>
            </a:lvl3pPr>
            <a:lvl4pPr marL="1600200" indent="-228600" eaLnBrk="0" hangingPunct="0">
              <a:defRPr>
                <a:solidFill>
                  <a:schemeClr val="tx1"/>
                </a:solidFill>
                <a:latin typeface="Arial" pitchFamily="34" charset="0"/>
                <a:ea typeface="黑体" pitchFamily="49" charset="-122"/>
              </a:defRPr>
            </a:lvl4pPr>
            <a:lvl5pPr marL="2057400" indent="-228600" eaLnBrk="0" hangingPunct="0">
              <a:defRPr>
                <a:solidFill>
                  <a:schemeClr val="tx1"/>
                </a:solidFill>
                <a:latin typeface="Arial" pitchFamily="34" charset="0"/>
                <a:ea typeface="黑体" pitchFamily="49" charset="-122"/>
              </a:defRPr>
            </a:lvl5pPr>
            <a:lvl6pPr marL="2514600" indent="-228600" eaLnBrk="0" fontAlgn="base" hangingPunct="0">
              <a:spcBef>
                <a:spcPct val="0"/>
              </a:spcBef>
              <a:spcAft>
                <a:spcPct val="0"/>
              </a:spcAft>
              <a:defRPr>
                <a:solidFill>
                  <a:schemeClr val="tx1"/>
                </a:solidFill>
                <a:latin typeface="Arial" pitchFamily="34" charset="0"/>
                <a:ea typeface="黑体" pitchFamily="49" charset="-122"/>
              </a:defRPr>
            </a:lvl6pPr>
            <a:lvl7pPr marL="2971800" indent="-228600" eaLnBrk="0" fontAlgn="base" hangingPunct="0">
              <a:spcBef>
                <a:spcPct val="0"/>
              </a:spcBef>
              <a:spcAft>
                <a:spcPct val="0"/>
              </a:spcAft>
              <a:defRPr>
                <a:solidFill>
                  <a:schemeClr val="tx1"/>
                </a:solidFill>
                <a:latin typeface="Arial" pitchFamily="34" charset="0"/>
                <a:ea typeface="黑体" pitchFamily="49" charset="-122"/>
              </a:defRPr>
            </a:lvl7pPr>
            <a:lvl8pPr marL="3429000" indent="-228600" eaLnBrk="0" fontAlgn="base" hangingPunct="0">
              <a:spcBef>
                <a:spcPct val="0"/>
              </a:spcBef>
              <a:spcAft>
                <a:spcPct val="0"/>
              </a:spcAft>
              <a:defRPr>
                <a:solidFill>
                  <a:schemeClr val="tx1"/>
                </a:solidFill>
                <a:latin typeface="Arial" pitchFamily="34" charset="0"/>
                <a:ea typeface="黑体" pitchFamily="49" charset="-122"/>
              </a:defRPr>
            </a:lvl8pPr>
            <a:lvl9pPr marL="3886200" indent="-228600" eaLnBrk="0" fontAlgn="base" hangingPunct="0">
              <a:spcBef>
                <a:spcPct val="0"/>
              </a:spcBef>
              <a:spcAft>
                <a:spcPct val="0"/>
              </a:spcAft>
              <a:defRPr>
                <a:solidFill>
                  <a:schemeClr val="tx1"/>
                </a:solidFill>
                <a:latin typeface="Arial" pitchFamily="34" charset="0"/>
                <a:ea typeface="黑体" pitchFamily="49" charset="-122"/>
              </a:defRPr>
            </a:lvl9pPr>
          </a:lstStyle>
          <a:p>
            <a:pPr eaLnBrk="1" hangingPunct="1"/>
            <a:r>
              <a:rPr kumimoji="1" lang="zh-CN" altLang="en-US" sz="2400" b="1">
                <a:solidFill>
                  <a:srgbClr val="0000FF"/>
                </a:solidFill>
                <a:latin typeface="黑体" pitchFamily="49" charset="-122"/>
              </a:rPr>
              <a:t>－折减系数，与压杆的柔度和</a:t>
            </a:r>
          </a:p>
          <a:p>
            <a:pPr eaLnBrk="1" hangingPunct="1"/>
            <a:r>
              <a:rPr kumimoji="1" lang="zh-CN" altLang="en-US" sz="2400" b="1">
                <a:solidFill>
                  <a:srgbClr val="0000FF"/>
                </a:solidFill>
                <a:latin typeface="黑体" pitchFamily="49" charset="-122"/>
              </a:rPr>
              <a:t>　材料有关。</a:t>
            </a:r>
          </a:p>
        </p:txBody>
      </p:sp>
    </p:spTree>
    <p:extLst>
      <p:ext uri="{BB962C8B-B14F-4D97-AF65-F5344CB8AC3E}">
        <p14:creationId xmlns:p14="http://schemas.microsoft.com/office/powerpoint/2010/main" val="3382249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3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30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30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3000"/>
                                        <p:tgtEl>
                                          <p:spTgt spid="6"/>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wipe(left)">
                                      <p:cBhvr>
                                        <p:cTn id="25" dur="3000"/>
                                        <p:tgtEl>
                                          <p:spTgt spid="7"/>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wipe(left)">
                                      <p:cBhvr>
                                        <p:cTn id="30" dur="3000"/>
                                        <p:tgtEl>
                                          <p:spTgt spid="8"/>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wipe(left)">
                                      <p:cBhvr>
                                        <p:cTn id="33" dur="3000"/>
                                        <p:tgtEl>
                                          <p:spTgt spid="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5"/>
                                        </p:tgtEl>
                                        <p:attrNameLst>
                                          <p:attrName>style.visibility</p:attrName>
                                        </p:attrNameLst>
                                      </p:cBhvr>
                                      <p:to>
                                        <p:strVal val="visible"/>
                                      </p:to>
                                    </p:set>
                                    <p:animEffect transition="in" filter="wipe(left)">
                                      <p:cBhvr>
                                        <p:cTn id="38" dur="3000"/>
                                        <p:tgtEl>
                                          <p:spTgt spid="5"/>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wipe(left)">
                                      <p:cBhvr>
                                        <p:cTn id="43" dur="3000"/>
                                        <p:tgtEl>
                                          <p:spTgt spid="10"/>
                                        </p:tgtEl>
                                      </p:cBhvr>
                                    </p:animEffect>
                                  </p:childTnLst>
                                </p:cTn>
                              </p:par>
                              <p:par>
                                <p:cTn id="44" presetID="22" presetClass="entr" presetSubtype="8" fill="hold" grpId="0" nodeType="with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wipe(left)">
                                      <p:cBhvr>
                                        <p:cTn id="46" dur="3000"/>
                                        <p:tgtEl>
                                          <p:spTgt spid="11"/>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iterate type="lt">
                                    <p:tmPct val="100000"/>
                                  </p:iterate>
                                  <p:childTnLst>
                                    <p:set>
                                      <p:cBhvr>
                                        <p:cTn id="50" dur="1" fill="hold">
                                          <p:stCondLst>
                                            <p:cond delay="0"/>
                                          </p:stCondLst>
                                        </p:cTn>
                                        <p:tgtEl>
                                          <p:spTgt spid="12"/>
                                        </p:tgtEl>
                                        <p:attrNameLst>
                                          <p:attrName>style.visibility</p:attrName>
                                        </p:attrNameLst>
                                      </p:cBhvr>
                                      <p:to>
                                        <p:strVal val="visible"/>
                                      </p:to>
                                    </p:set>
                                    <p:animEffect transition="in" filter="wipe(left)">
                                      <p:cBhvr>
                                        <p:cTn id="51" dur="75"/>
                                        <p:tgtEl>
                                          <p:spTgt spid="12"/>
                                        </p:tgtEl>
                                      </p:cBhvr>
                                    </p:animEffect>
                                  </p:childTnLst>
                                </p:cTn>
                              </p:par>
                            </p:childTnLst>
                          </p:cTn>
                        </p:par>
                      </p:childTnLst>
                    </p:cTn>
                  </p:par>
                  <p:par>
                    <p:cTn id="52" fill="hold">
                      <p:stCondLst>
                        <p:cond delay="indefinite"/>
                      </p:stCondLst>
                      <p:childTnLst>
                        <p:par>
                          <p:cTn id="53" fill="hold">
                            <p:stCondLst>
                              <p:cond delay="0"/>
                            </p:stCondLst>
                            <p:childTnLst>
                              <p:par>
                                <p:cTn id="54" presetID="2" presetClass="entr" presetSubtype="8" fill="hold" nodeType="clickEffect">
                                  <p:stCondLst>
                                    <p:cond delay="0"/>
                                  </p:stCondLst>
                                  <p:childTnLst>
                                    <p:set>
                                      <p:cBhvr>
                                        <p:cTn id="55" dur="1" fill="hold">
                                          <p:stCondLst>
                                            <p:cond delay="0"/>
                                          </p:stCondLst>
                                        </p:cTn>
                                        <p:tgtEl>
                                          <p:spTgt spid="13"/>
                                        </p:tgtEl>
                                        <p:attrNameLst>
                                          <p:attrName>style.visibility</p:attrName>
                                        </p:attrNameLst>
                                      </p:cBhvr>
                                      <p:to>
                                        <p:strVal val="visible"/>
                                      </p:to>
                                    </p:set>
                                    <p:anim calcmode="lin" valueType="num">
                                      <p:cBhvr additive="base">
                                        <p:cTn id="56" dur="500" fill="hold"/>
                                        <p:tgtEl>
                                          <p:spTgt spid="13"/>
                                        </p:tgtEl>
                                        <p:attrNameLst>
                                          <p:attrName>ppt_x</p:attrName>
                                        </p:attrNameLst>
                                      </p:cBhvr>
                                      <p:tavLst>
                                        <p:tav tm="0">
                                          <p:val>
                                            <p:strVal val="0-#ppt_w/2"/>
                                          </p:val>
                                        </p:tav>
                                        <p:tav tm="100000">
                                          <p:val>
                                            <p:strVal val="#ppt_x"/>
                                          </p:val>
                                        </p:tav>
                                      </p:tavLst>
                                    </p:anim>
                                    <p:anim calcmode="lin" valueType="num">
                                      <p:cBhvr additive="base">
                                        <p:cTn id="57"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2" presetClass="entr" presetSubtype="8" fill="hold" nodeType="clickEffect">
                                  <p:stCondLst>
                                    <p:cond delay="0"/>
                                  </p:stCondLst>
                                  <p:childTnLst>
                                    <p:set>
                                      <p:cBhvr>
                                        <p:cTn id="61" dur="1" fill="hold">
                                          <p:stCondLst>
                                            <p:cond delay="0"/>
                                          </p:stCondLst>
                                        </p:cTn>
                                        <p:tgtEl>
                                          <p:spTgt spid="14"/>
                                        </p:tgtEl>
                                        <p:attrNameLst>
                                          <p:attrName>style.visibility</p:attrName>
                                        </p:attrNameLst>
                                      </p:cBhvr>
                                      <p:to>
                                        <p:strVal val="visible"/>
                                      </p:to>
                                    </p:set>
                                    <p:anim calcmode="lin" valueType="num">
                                      <p:cBhvr additive="base">
                                        <p:cTn id="62" dur="500" fill="hold"/>
                                        <p:tgtEl>
                                          <p:spTgt spid="14"/>
                                        </p:tgtEl>
                                        <p:attrNameLst>
                                          <p:attrName>ppt_x</p:attrName>
                                        </p:attrNameLst>
                                      </p:cBhvr>
                                      <p:tavLst>
                                        <p:tav tm="0">
                                          <p:val>
                                            <p:strVal val="0-#ppt_w/2"/>
                                          </p:val>
                                        </p:tav>
                                        <p:tav tm="100000">
                                          <p:val>
                                            <p:strVal val="#ppt_x"/>
                                          </p:val>
                                        </p:tav>
                                      </p:tavLst>
                                    </p:anim>
                                    <p:anim calcmode="lin" valueType="num">
                                      <p:cBhvr additive="base">
                                        <p:cTn id="63"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nodeType="clickEffect">
                                  <p:stCondLst>
                                    <p:cond delay="0"/>
                                  </p:stCondLst>
                                  <p:childTnLst>
                                    <p:set>
                                      <p:cBhvr>
                                        <p:cTn id="67" dur="1" fill="hold">
                                          <p:stCondLst>
                                            <p:cond delay="0"/>
                                          </p:stCondLst>
                                        </p:cTn>
                                        <p:tgtEl>
                                          <p:spTgt spid="15"/>
                                        </p:tgtEl>
                                        <p:attrNameLst>
                                          <p:attrName>style.visibility</p:attrName>
                                        </p:attrNameLst>
                                      </p:cBhvr>
                                      <p:to>
                                        <p:strVal val="visible"/>
                                      </p:to>
                                    </p:set>
                                    <p:animEffect transition="in" filter="wipe(left)">
                                      <p:cBhvr>
                                        <p:cTn id="68" dur="3000"/>
                                        <p:tgtEl>
                                          <p:spTgt spid="15"/>
                                        </p:tgtEl>
                                      </p:cBhvr>
                                    </p:animEffect>
                                  </p:childTnLst>
                                </p:cTn>
                              </p:par>
                              <p:par>
                                <p:cTn id="69" presetID="22" presetClass="entr" presetSubtype="8" fill="hold" grpId="0" nodeType="withEffect">
                                  <p:stCondLst>
                                    <p:cond delay="0"/>
                                  </p:stCondLst>
                                  <p:childTnLst>
                                    <p:set>
                                      <p:cBhvr>
                                        <p:cTn id="70" dur="1" fill="hold">
                                          <p:stCondLst>
                                            <p:cond delay="0"/>
                                          </p:stCondLst>
                                        </p:cTn>
                                        <p:tgtEl>
                                          <p:spTgt spid="16"/>
                                        </p:tgtEl>
                                        <p:attrNameLst>
                                          <p:attrName>style.visibility</p:attrName>
                                        </p:attrNameLst>
                                      </p:cBhvr>
                                      <p:to>
                                        <p:strVal val="visible"/>
                                      </p:to>
                                    </p:set>
                                    <p:animEffect transition="in" filter="wipe(left)">
                                      <p:cBhvr>
                                        <p:cTn id="71" dur="3000"/>
                                        <p:tgtEl>
                                          <p:spTgt spid="16"/>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4" fill="hold" nodeType="clickEffect">
                                  <p:stCondLst>
                                    <p:cond delay="0"/>
                                  </p:stCondLst>
                                  <p:childTnLst>
                                    <p:set>
                                      <p:cBhvr>
                                        <p:cTn id="75" dur="1" fill="hold">
                                          <p:stCondLst>
                                            <p:cond delay="0"/>
                                          </p:stCondLst>
                                        </p:cTn>
                                        <p:tgtEl>
                                          <p:spTgt spid="17"/>
                                        </p:tgtEl>
                                        <p:attrNameLst>
                                          <p:attrName>style.visibility</p:attrName>
                                        </p:attrNameLst>
                                      </p:cBhvr>
                                      <p:to>
                                        <p:strVal val="visible"/>
                                      </p:to>
                                    </p:set>
                                    <p:animEffect transition="in" filter="wipe(down)">
                                      <p:cBhvr>
                                        <p:cTn id="76" dur="500"/>
                                        <p:tgtEl>
                                          <p:spTgt spid="17"/>
                                        </p:tgtEl>
                                      </p:cBhvr>
                                    </p:animEffect>
                                  </p:childTnLst>
                                </p:cTn>
                              </p:par>
                              <p:par>
                                <p:cTn id="77" presetID="22" presetClass="entr" presetSubtype="8" fill="hold" grpId="0" nodeType="withEffect">
                                  <p:stCondLst>
                                    <p:cond delay="0"/>
                                  </p:stCondLst>
                                  <p:childTnLst>
                                    <p:set>
                                      <p:cBhvr>
                                        <p:cTn id="78" dur="1" fill="hold">
                                          <p:stCondLst>
                                            <p:cond delay="0"/>
                                          </p:stCondLst>
                                        </p:cTn>
                                        <p:tgtEl>
                                          <p:spTgt spid="18"/>
                                        </p:tgtEl>
                                        <p:attrNameLst>
                                          <p:attrName>style.visibility</p:attrName>
                                        </p:attrNameLst>
                                      </p:cBhvr>
                                      <p:to>
                                        <p:strVal val="visible"/>
                                      </p:to>
                                    </p:set>
                                    <p:animEffect transition="in" filter="wipe(left)">
                                      <p:cBhvr>
                                        <p:cTn id="79" dur="3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7" grpId="0" animBg="1"/>
      <p:bldP spid="9" grpId="0" animBg="1"/>
      <p:bldP spid="11" grpId="0" animBg="1"/>
      <p:bldP spid="12" grpId="0" animBg="1" autoUpdateAnimBg="0"/>
      <p:bldP spid="16" grpId="0" animBg="1"/>
      <p:bldP spid="18" grpId="0" animBg="1"/>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398</TotalTime>
  <Words>3487</Words>
  <Application>Microsoft Office PowerPoint</Application>
  <PresentationFormat>全屏显示(4:3)</PresentationFormat>
  <Paragraphs>403</Paragraphs>
  <Slides>66</Slides>
  <Notes>0</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3</vt:i4>
      </vt:variant>
      <vt:variant>
        <vt:lpstr>幻灯片标题</vt:lpstr>
      </vt:variant>
      <vt:variant>
        <vt:i4>66</vt:i4>
      </vt:variant>
    </vt:vector>
  </HeadingPairs>
  <TitlesOfParts>
    <vt:vector size="81" baseType="lpstr">
      <vt:lpstr>Monotype Sorts</vt:lpstr>
      <vt:lpstr>黑体</vt:lpstr>
      <vt:lpstr>华文楷体</vt:lpstr>
      <vt:lpstr>楷体</vt:lpstr>
      <vt:lpstr>宋体</vt:lpstr>
      <vt:lpstr>Arial</vt:lpstr>
      <vt:lpstr>Arial Narrow</vt:lpstr>
      <vt:lpstr>Calibri</vt:lpstr>
      <vt:lpstr>Garamond</vt:lpstr>
      <vt:lpstr>Symbol</vt:lpstr>
      <vt:lpstr>Times New Roman</vt:lpstr>
      <vt:lpstr>Office 主题</vt:lpstr>
      <vt:lpstr>Equation</vt:lpstr>
      <vt:lpstr>公式</vt:lpstr>
      <vt:lpstr>Microsoft 公式 3.0</vt:lpstr>
      <vt:lpstr>材料力学复习 2021.6.2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yaya</dc:creator>
  <cp:lastModifiedBy>Q.T Deng</cp:lastModifiedBy>
  <cp:revision>45</cp:revision>
  <dcterms:created xsi:type="dcterms:W3CDTF">2019-06-24T11:50:36Z</dcterms:created>
  <dcterms:modified xsi:type="dcterms:W3CDTF">2021-06-01T14:22:57Z</dcterms:modified>
</cp:coreProperties>
</file>