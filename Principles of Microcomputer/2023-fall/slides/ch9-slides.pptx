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259" r:id="rId2"/>
    <p:sldId id="260" r:id="rId3"/>
    <p:sldId id="257" r:id="rId4"/>
    <p:sldId id="261" r:id="rId5"/>
    <p:sldId id="262"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CC"/>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8" d="100"/>
          <a:sy n="108" d="100"/>
        </p:scale>
        <p:origin x="948"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image" Target="../media/image5.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2020/11/4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218962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2020/11/4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687810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11426606-9BAD-42CC-8403-7B224A35E75E}" type="datetimeFigureOut">
              <a:rPr lang="zh-CN" altLang="en-US" smtClean="0"/>
              <a:t>2020/11/4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95461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11426606-9BAD-42CC-8403-7B224A35E75E}" type="datetimeFigureOut">
              <a:rPr lang="zh-CN" altLang="en-US" smtClean="0"/>
              <a:t>2020/11/4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740243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11426606-9BAD-42CC-8403-7B224A35E75E}" type="datetimeFigureOut">
              <a:rPr lang="zh-CN" altLang="en-US" smtClean="0"/>
              <a:t>2020/11/4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138775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11426606-9BAD-42CC-8403-7B224A35E75E}" type="datetimeFigureOut">
              <a:rPr lang="zh-CN" altLang="en-US" smtClean="0"/>
              <a:t>2020/11/4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753537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26606-9BAD-42CC-8403-7B224A35E75E}" type="datetimeFigureOut">
              <a:rPr lang="zh-CN" altLang="en-US" smtClean="0"/>
              <a:t>2020/11/4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1485881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11426606-9BAD-42CC-8403-7B224A35E75E}" type="datetimeFigureOut">
              <a:rPr lang="zh-CN" altLang="en-US" smtClean="0"/>
              <a:t>2020/11/4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1204059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11426606-9BAD-42CC-8403-7B224A35E75E}" type="datetimeFigureOut">
              <a:rPr lang="zh-CN" altLang="en-US" smtClean="0"/>
              <a:t>2020/11/4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3428145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2020/11/4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3657718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2020/11/4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696641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92437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226352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426606-9BAD-42CC-8403-7B224A35E75E}" type="datetimeFigureOut">
              <a:rPr lang="zh-CN" altLang="en-US" smtClean="0"/>
              <a:t>2020/11/4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43455098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5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6.png"/><Relationship Id="rId5" Type="http://schemas.openxmlformats.org/officeDocument/2006/relationships/oleObject" Target="../embeddings/oleObject3.bin"/><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6.png"/><Relationship Id="rId5" Type="http://schemas.openxmlformats.org/officeDocument/2006/relationships/oleObject" Target="../embeddings/oleObject6.bin"/><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9.png"/><Relationship Id="rId5" Type="http://schemas.openxmlformats.org/officeDocument/2006/relationships/oleObject" Target="../embeddings/oleObject8.bin"/><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7.v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8.v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2.xml"/><Relationship Id="rId1" Type="http://schemas.openxmlformats.org/officeDocument/2006/relationships/vmlDrawing" Target="../drawings/vmlDrawing9.vml"/><Relationship Id="rId5" Type="http://schemas.openxmlformats.org/officeDocument/2006/relationships/image" Target="../media/image3.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10.v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
            <a:extLst>
              <a:ext uri="{FF2B5EF4-FFF2-40B4-BE49-F238E27FC236}">
                <a16:creationId xmlns:a16="http://schemas.microsoft.com/office/drawing/2014/main" id="{72D32F27-61CF-44B4-A758-0E942AB12FB7}"/>
              </a:ext>
            </a:extLst>
          </p:cNvPr>
          <p:cNvSpPr txBox="1"/>
          <p:nvPr/>
        </p:nvSpPr>
        <p:spPr>
          <a:xfrm>
            <a:off x="757931" y="1747866"/>
            <a:ext cx="8229600" cy="928688"/>
          </a:xfrm>
          <a:prstGeom prst="rect">
            <a:avLst/>
          </a:prstGeom>
        </p:spPr>
        <p:txBody>
          <a:bodyPr anchor="ctr"/>
          <a:lstStyle>
            <a:lvl1pPr eaLnBrk="0" hangingPunct="0">
              <a:defRPr sz="2800" b="1">
                <a:solidFill>
                  <a:schemeClr val="tx2"/>
                </a:solidFill>
                <a:latin typeface="楷体_GB2312" pitchFamily="49" charset="-122"/>
                <a:ea typeface="楷体_GB2312" pitchFamily="49" charset="-122"/>
              </a:defRPr>
            </a:lvl1pPr>
            <a:lvl2pPr marL="742950" indent="-285750" eaLnBrk="0" hangingPunct="0">
              <a:defRPr sz="2800" b="1">
                <a:solidFill>
                  <a:schemeClr val="tx2"/>
                </a:solidFill>
                <a:latin typeface="楷体_GB2312" pitchFamily="49" charset="-122"/>
                <a:ea typeface="楷体_GB2312" pitchFamily="49" charset="-122"/>
              </a:defRPr>
            </a:lvl2pPr>
            <a:lvl3pPr marL="1143000" indent="-228600" eaLnBrk="0" hangingPunct="0">
              <a:defRPr sz="2800" b="1">
                <a:solidFill>
                  <a:schemeClr val="tx2"/>
                </a:solidFill>
                <a:latin typeface="楷体_GB2312" pitchFamily="49" charset="-122"/>
                <a:ea typeface="楷体_GB2312" pitchFamily="49" charset="-122"/>
              </a:defRPr>
            </a:lvl3pPr>
            <a:lvl4pPr marL="1600200" indent="-228600" eaLnBrk="0" hangingPunct="0">
              <a:defRPr sz="2800" b="1">
                <a:solidFill>
                  <a:schemeClr val="tx2"/>
                </a:solidFill>
                <a:latin typeface="楷体_GB2312" pitchFamily="49" charset="-122"/>
                <a:ea typeface="楷体_GB2312" pitchFamily="49" charset="-122"/>
              </a:defRPr>
            </a:lvl4pPr>
            <a:lvl5pPr marL="2057400" indent="-228600" eaLnBrk="0" hangingPunct="0">
              <a:defRPr sz="2800" b="1">
                <a:solidFill>
                  <a:schemeClr val="tx2"/>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2"/>
                </a:solidFill>
                <a:latin typeface="楷体_GB2312" pitchFamily="49" charset="-122"/>
                <a:ea typeface="楷体_GB2312" pitchFamily="49" charset="-122"/>
              </a:defRPr>
            </a:lvl9pPr>
          </a:lstStyle>
          <a:p>
            <a:pPr algn="ctr" eaLnBrk="1" hangingPunct="1">
              <a:lnSpc>
                <a:spcPct val="90000"/>
              </a:lnSpc>
              <a:spcBef>
                <a:spcPct val="20000"/>
              </a:spcBef>
              <a:buClr>
                <a:schemeClr val="tx2"/>
              </a:buClr>
              <a:defRPr/>
            </a:pPr>
            <a:r>
              <a:rPr lang="zh-CN" altLang="en-US" sz="4100" dirty="0" smtClean="0">
                <a:solidFill>
                  <a:schemeClr val="tx1"/>
                </a:solidFill>
                <a:latin typeface="微软雅黑" pitchFamily="34" charset="-122"/>
                <a:ea typeface="微软雅黑" pitchFamily="34" charset="-122"/>
              </a:rPr>
              <a:t>第</a:t>
            </a:r>
            <a:r>
              <a:rPr lang="zh-CN" altLang="en-US" sz="4100" dirty="0">
                <a:solidFill>
                  <a:schemeClr val="tx1"/>
                </a:solidFill>
                <a:latin typeface="微软雅黑" pitchFamily="34" charset="-122"/>
                <a:ea typeface="微软雅黑" pitchFamily="34" charset="-122"/>
              </a:rPr>
              <a:t>九</a:t>
            </a:r>
            <a:r>
              <a:rPr lang="zh-CN" altLang="en-US" sz="4100" dirty="0" smtClean="0">
                <a:solidFill>
                  <a:schemeClr val="tx1"/>
                </a:solidFill>
                <a:latin typeface="微软雅黑" pitchFamily="34" charset="-122"/>
                <a:ea typeface="微软雅黑" pitchFamily="34" charset="-122"/>
              </a:rPr>
              <a:t>章 </a:t>
            </a:r>
            <a:r>
              <a:rPr lang="zh-CN" altLang="en-US" sz="4100" dirty="0" smtClean="0">
                <a:solidFill>
                  <a:schemeClr val="tx1"/>
                </a:solidFill>
                <a:effectLst>
                  <a:outerShdw blurRad="38100" dist="38100" dir="2700000" algn="tl">
                    <a:srgbClr val="C0C0C0"/>
                  </a:outerShdw>
                </a:effectLst>
                <a:latin typeface="微软雅黑" pitchFamily="34" charset="-122"/>
                <a:ea typeface="微软雅黑" pitchFamily="34" charset="-122"/>
              </a:rPr>
              <a:t>输入输出</a:t>
            </a:r>
            <a:r>
              <a:rPr lang="zh-CN" altLang="en-US" sz="4100" dirty="0">
                <a:solidFill>
                  <a:schemeClr val="tx1"/>
                </a:solidFill>
                <a:effectLst>
                  <a:outerShdw blurRad="38100" dist="38100" dir="2700000" algn="tl">
                    <a:srgbClr val="C0C0C0"/>
                  </a:outerShdw>
                </a:effectLst>
                <a:latin typeface="微软雅黑" pitchFamily="34" charset="-122"/>
                <a:ea typeface="微软雅黑" pitchFamily="34" charset="-122"/>
              </a:rPr>
              <a:t>和接口</a:t>
            </a:r>
            <a:r>
              <a:rPr lang="zh-CN" altLang="en-US" sz="4100" dirty="0" smtClean="0">
                <a:solidFill>
                  <a:schemeClr val="tx1"/>
                </a:solidFill>
                <a:effectLst>
                  <a:outerShdw blurRad="38100" dist="38100" dir="2700000" algn="tl">
                    <a:srgbClr val="C0C0C0"/>
                  </a:outerShdw>
                </a:effectLst>
                <a:latin typeface="微软雅黑" pitchFamily="34" charset="-122"/>
                <a:ea typeface="微软雅黑" pitchFamily="34" charset="-122"/>
              </a:rPr>
              <a:t>技术</a:t>
            </a:r>
            <a:endParaRPr lang="zh-CN" altLang="en-US" sz="4100" dirty="0">
              <a:solidFill>
                <a:schemeClr val="tx1"/>
              </a:solidFill>
              <a:effectLst>
                <a:outerShdw blurRad="38100" dist="38100" dir="2700000" algn="tl">
                  <a:srgbClr val="C0C0C0"/>
                </a:outerShdw>
              </a:effectLst>
              <a:latin typeface="微软雅黑" pitchFamily="34" charset="-122"/>
              <a:ea typeface="微软雅黑" pitchFamily="34" charset="-122"/>
            </a:endParaRPr>
          </a:p>
        </p:txBody>
      </p:sp>
      <p:sp>
        <p:nvSpPr>
          <p:cNvPr id="3" name="Rectangle 78"/>
          <p:cNvSpPr>
            <a:spLocks noChangeArrowheads="1"/>
          </p:cNvSpPr>
          <p:nvPr/>
        </p:nvSpPr>
        <p:spPr bwMode="auto">
          <a:xfrm>
            <a:off x="1948356" y="2860904"/>
            <a:ext cx="5095446" cy="609600"/>
          </a:xfrm>
          <a:prstGeom prst="rect">
            <a:avLst/>
          </a:prstGeom>
          <a:gradFill rotWithShape="0">
            <a:gsLst>
              <a:gs pos="0">
                <a:srgbClr val="FFFFFF"/>
              </a:gs>
              <a:gs pos="100000">
                <a:srgbClr val="DDDDDD"/>
              </a:gs>
            </a:gsLst>
            <a:lin ang="5400000" scaled="1"/>
          </a:gradFill>
          <a:ln w="12700"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latin typeface="华文楷体" panose="02010600040101010101" pitchFamily="2" charset="-122"/>
              <a:ea typeface="华文楷体" panose="02010600040101010101" pitchFamily="2" charset="-122"/>
            </a:endParaRPr>
          </a:p>
        </p:txBody>
      </p:sp>
      <p:sp>
        <p:nvSpPr>
          <p:cNvPr id="4" name="Rectangle 80"/>
          <p:cNvSpPr>
            <a:spLocks noChangeArrowheads="1"/>
          </p:cNvSpPr>
          <p:nvPr/>
        </p:nvSpPr>
        <p:spPr bwMode="auto">
          <a:xfrm>
            <a:off x="1948356" y="3692045"/>
            <a:ext cx="5095446" cy="609600"/>
          </a:xfrm>
          <a:prstGeom prst="rect">
            <a:avLst/>
          </a:prstGeom>
          <a:gradFill rotWithShape="0">
            <a:gsLst>
              <a:gs pos="0">
                <a:srgbClr val="FFFFFF"/>
              </a:gs>
              <a:gs pos="100000">
                <a:srgbClr val="DDDDDD"/>
              </a:gs>
            </a:gsLst>
            <a:lin ang="5400000" scaled="1"/>
          </a:gradFill>
          <a:ln w="12700"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latin typeface="华文楷体" panose="02010600040101010101" pitchFamily="2" charset="-122"/>
              <a:ea typeface="华文楷体" panose="02010600040101010101" pitchFamily="2" charset="-122"/>
            </a:endParaRPr>
          </a:p>
        </p:txBody>
      </p:sp>
      <p:sp>
        <p:nvSpPr>
          <p:cNvPr id="5" name="Rectangle 82"/>
          <p:cNvSpPr>
            <a:spLocks noChangeArrowheads="1"/>
          </p:cNvSpPr>
          <p:nvPr/>
        </p:nvSpPr>
        <p:spPr bwMode="auto">
          <a:xfrm>
            <a:off x="1948356" y="4582664"/>
            <a:ext cx="5095446" cy="609600"/>
          </a:xfrm>
          <a:prstGeom prst="rect">
            <a:avLst/>
          </a:prstGeom>
          <a:gradFill rotWithShape="0">
            <a:gsLst>
              <a:gs pos="0">
                <a:srgbClr val="FFFFFF"/>
              </a:gs>
              <a:gs pos="100000">
                <a:srgbClr val="DDDDDD"/>
              </a:gs>
            </a:gsLst>
            <a:lin ang="5400000" scaled="1"/>
          </a:gradFill>
          <a:ln w="12700"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spcBef>
                <a:spcPct val="0"/>
              </a:spcBef>
              <a:buClr>
                <a:schemeClr val="tx2"/>
              </a:buClr>
              <a:buFont typeface="Arial" panose="020B0604020202020204" pitchFamily="34" charset="0"/>
              <a:buNone/>
            </a:pPr>
            <a:endParaRPr lang="zh-CN" altLang="en-US" sz="2800">
              <a:latin typeface="华文楷体" panose="02010600040101010101" pitchFamily="2" charset="-122"/>
              <a:ea typeface="华文楷体" panose="02010600040101010101" pitchFamily="2" charset="-122"/>
            </a:endParaRPr>
          </a:p>
        </p:txBody>
      </p:sp>
      <p:sp>
        <p:nvSpPr>
          <p:cNvPr id="6" name="Rectangle 84"/>
          <p:cNvSpPr>
            <a:spLocks noChangeArrowheads="1"/>
          </p:cNvSpPr>
          <p:nvPr/>
        </p:nvSpPr>
        <p:spPr bwMode="auto">
          <a:xfrm>
            <a:off x="1948356" y="3692045"/>
            <a:ext cx="1099432" cy="609600"/>
          </a:xfrm>
          <a:prstGeom prst="rect">
            <a:avLst/>
          </a:prstGeom>
          <a:gradFill rotWithShape="0">
            <a:gsLst>
              <a:gs pos="0">
                <a:srgbClr val="F9F9F9"/>
              </a:gs>
              <a:gs pos="100000">
                <a:srgbClr val="C0C0C0"/>
              </a:gs>
            </a:gsLst>
            <a:path path="shape">
              <a:fillToRect l="50000" t="50000" r="50000" b="50000"/>
            </a:path>
          </a:gradFill>
          <a:ln w="9525"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90000"/>
              </a:lnSpc>
              <a:spcBef>
                <a:spcPct val="0"/>
              </a:spcBef>
              <a:buClr>
                <a:schemeClr val="tx2"/>
              </a:buClr>
              <a:buFont typeface="Arial" panose="020B0604020202020204" pitchFamily="34" charset="0"/>
              <a:buNone/>
            </a:pPr>
            <a:r>
              <a:rPr lang="en-US" altLang="ko-KR" sz="3000">
                <a:solidFill>
                  <a:schemeClr val="tx2"/>
                </a:solidFill>
                <a:latin typeface="华文楷体" panose="02010600040101010101" pitchFamily="2" charset="-122"/>
                <a:ea typeface="华文楷体" panose="02010600040101010101" pitchFamily="2" charset="-122"/>
              </a:rPr>
              <a:t>2</a:t>
            </a:r>
          </a:p>
        </p:txBody>
      </p:sp>
      <p:sp>
        <p:nvSpPr>
          <p:cNvPr id="7" name="Rectangle 85"/>
          <p:cNvSpPr>
            <a:spLocks noChangeArrowheads="1"/>
          </p:cNvSpPr>
          <p:nvPr/>
        </p:nvSpPr>
        <p:spPr bwMode="auto">
          <a:xfrm>
            <a:off x="1948356" y="4582664"/>
            <a:ext cx="1099432" cy="609600"/>
          </a:xfrm>
          <a:prstGeom prst="rect">
            <a:avLst/>
          </a:prstGeom>
          <a:gradFill rotWithShape="0">
            <a:gsLst>
              <a:gs pos="0">
                <a:srgbClr val="F9F9F9"/>
              </a:gs>
              <a:gs pos="100000">
                <a:srgbClr val="C0C0C0"/>
              </a:gs>
            </a:gsLst>
            <a:path path="shape">
              <a:fillToRect l="50000" t="50000" r="50000" b="50000"/>
            </a:path>
          </a:gradFill>
          <a:ln w="9525" cap="rnd">
            <a:solidFill>
              <a:srgbClr val="620062"/>
            </a:solidFill>
            <a:prstDash val="sysDot"/>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lnSpc>
                <a:spcPct val="90000"/>
              </a:lnSpc>
              <a:spcBef>
                <a:spcPct val="0"/>
              </a:spcBef>
              <a:buClr>
                <a:schemeClr val="tx2"/>
              </a:buClr>
              <a:buFont typeface="Arial" panose="020B0604020202020204" pitchFamily="34" charset="0"/>
              <a:buNone/>
            </a:pPr>
            <a:r>
              <a:rPr lang="en-US" altLang="ko-KR" sz="3000">
                <a:solidFill>
                  <a:schemeClr val="tx2"/>
                </a:solidFill>
                <a:latin typeface="华文楷体" panose="02010600040101010101" pitchFamily="2" charset="-122"/>
                <a:ea typeface="华文楷体" panose="02010600040101010101" pitchFamily="2" charset="-122"/>
              </a:rPr>
              <a:t>3</a:t>
            </a:r>
          </a:p>
        </p:txBody>
      </p:sp>
      <p:sp>
        <p:nvSpPr>
          <p:cNvPr id="8" name="Text Box 87"/>
          <p:cNvSpPr txBox="1">
            <a:spLocks noChangeArrowheads="1"/>
          </p:cNvSpPr>
          <p:nvPr/>
        </p:nvSpPr>
        <p:spPr bwMode="auto">
          <a:xfrm>
            <a:off x="3090074" y="2926531"/>
            <a:ext cx="2698175"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90000"/>
              </a:lnSpc>
              <a:buClr>
                <a:schemeClr val="tx2"/>
              </a:buClr>
              <a:buNone/>
            </a:pPr>
            <a:r>
              <a:rPr lang="zh-CN" altLang="en-US" sz="2800" dirty="0">
                <a:latin typeface="华文楷体" panose="02010600040101010101" pitchFamily="2" charset="-122"/>
                <a:ea typeface="华文楷体" panose="02010600040101010101" pitchFamily="2" charset="-122"/>
              </a:rPr>
              <a:t>接口的基本概念</a:t>
            </a:r>
          </a:p>
        </p:txBody>
      </p:sp>
      <p:sp>
        <p:nvSpPr>
          <p:cNvPr id="9" name="Text Box 88"/>
          <p:cNvSpPr txBox="1">
            <a:spLocks noChangeArrowheads="1"/>
          </p:cNvSpPr>
          <p:nvPr/>
        </p:nvSpPr>
        <p:spPr bwMode="auto">
          <a:xfrm>
            <a:off x="3047788" y="3805205"/>
            <a:ext cx="3871573"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90000"/>
              </a:lnSpc>
              <a:spcBef>
                <a:spcPct val="0"/>
              </a:spcBef>
              <a:buClr>
                <a:schemeClr val="tx2"/>
              </a:buClr>
              <a:buNone/>
            </a:pPr>
            <a:r>
              <a:rPr lang="en-US" altLang="zh-CN" sz="2800" dirty="0">
                <a:latin typeface="华文楷体" panose="02010600040101010101" pitchFamily="2" charset="-122"/>
                <a:ea typeface="华文楷体" panose="02010600040101010101" pitchFamily="2" charset="-122"/>
              </a:rPr>
              <a:t>I/O</a:t>
            </a:r>
            <a:r>
              <a:rPr lang="zh-CN" altLang="en-US" sz="2800" dirty="0">
                <a:latin typeface="华文楷体" panose="02010600040101010101" pitchFamily="2" charset="-122"/>
                <a:ea typeface="华文楷体" panose="02010600040101010101" pitchFamily="2" charset="-122"/>
              </a:rPr>
              <a:t>指令和</a:t>
            </a:r>
            <a:r>
              <a:rPr lang="en-US" altLang="zh-CN" sz="2800" dirty="0">
                <a:latin typeface="华文楷体" panose="02010600040101010101" pitchFamily="2" charset="-122"/>
                <a:ea typeface="华文楷体" panose="02010600040101010101" pitchFamily="2" charset="-122"/>
              </a:rPr>
              <a:t>I/O</a:t>
            </a:r>
            <a:r>
              <a:rPr lang="zh-CN" altLang="en-US" sz="2800" dirty="0">
                <a:latin typeface="华文楷体" panose="02010600040101010101" pitchFamily="2" charset="-122"/>
                <a:ea typeface="华文楷体" panose="02010600040101010101" pitchFamily="2" charset="-122"/>
              </a:rPr>
              <a:t>地址译码</a:t>
            </a:r>
          </a:p>
        </p:txBody>
      </p:sp>
      <p:sp>
        <p:nvSpPr>
          <p:cNvPr id="10" name="Text Box 89"/>
          <p:cNvSpPr txBox="1">
            <a:spLocks noChangeArrowheads="1"/>
          </p:cNvSpPr>
          <p:nvPr/>
        </p:nvSpPr>
        <p:spPr bwMode="auto">
          <a:xfrm>
            <a:off x="3090074" y="4676727"/>
            <a:ext cx="2566728"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nSpc>
                <a:spcPct val="90000"/>
              </a:lnSpc>
              <a:spcBef>
                <a:spcPct val="0"/>
              </a:spcBef>
              <a:buClr>
                <a:schemeClr val="tx2"/>
              </a:buClr>
              <a:buNone/>
            </a:pPr>
            <a:r>
              <a:rPr lang="zh-CN" altLang="en-US" sz="2800" dirty="0">
                <a:latin typeface="华文楷体" panose="02010600040101010101" pitchFamily="2" charset="-122"/>
                <a:ea typeface="华文楷体" panose="02010600040101010101" pitchFamily="2" charset="-122"/>
              </a:rPr>
              <a:t>简单的</a:t>
            </a:r>
            <a:r>
              <a:rPr lang="en-US" altLang="zh-CN" sz="2800" dirty="0">
                <a:latin typeface="华文楷体" panose="02010600040101010101" pitchFamily="2" charset="-122"/>
                <a:ea typeface="华文楷体" panose="02010600040101010101" pitchFamily="2" charset="-122"/>
              </a:rPr>
              <a:t>I/O</a:t>
            </a:r>
            <a:r>
              <a:rPr lang="zh-CN" altLang="en-US" sz="2800" dirty="0">
                <a:latin typeface="华文楷体" panose="02010600040101010101" pitchFamily="2" charset="-122"/>
                <a:ea typeface="华文楷体" panose="02010600040101010101" pitchFamily="2" charset="-122"/>
              </a:rPr>
              <a:t>接口</a:t>
            </a:r>
          </a:p>
        </p:txBody>
      </p:sp>
      <p:sp>
        <p:nvSpPr>
          <p:cNvPr id="14" name="Rectangle 77"/>
          <p:cNvSpPr>
            <a:spLocks noChangeArrowheads="1"/>
          </p:cNvSpPr>
          <p:nvPr/>
        </p:nvSpPr>
        <p:spPr bwMode="auto">
          <a:xfrm>
            <a:off x="1951743" y="2870429"/>
            <a:ext cx="1099432" cy="609600"/>
          </a:xfrm>
          <a:prstGeom prst="rect">
            <a:avLst/>
          </a:prstGeom>
          <a:gradFill rotWithShape="0">
            <a:gsLst>
              <a:gs pos="0">
                <a:srgbClr val="F9F9F9"/>
              </a:gs>
              <a:gs pos="100000">
                <a:srgbClr val="C0C0C0"/>
              </a:gs>
            </a:gsLst>
            <a:path path="shape">
              <a:fillToRect l="50000" t="50000" r="50000" b="50000"/>
            </a:path>
          </a:gradFill>
          <a:ln w="9525" cap="rnd">
            <a:solidFill>
              <a:srgbClr val="620062"/>
            </a:solidFill>
            <a:prstDash val="sysDot"/>
            <a:miter lim="800000"/>
            <a:headEnd/>
            <a:tailEnd/>
          </a:ln>
        </p:spPr>
        <p:txBody>
          <a:bodyPr wrap="none" anchor="ctr"/>
          <a:lstStyle/>
          <a:p>
            <a:pPr algn="ctr">
              <a:lnSpc>
                <a:spcPct val="90000"/>
              </a:lnSpc>
              <a:spcBef>
                <a:spcPct val="0"/>
              </a:spcBef>
              <a:buClr>
                <a:schemeClr val="tx2"/>
              </a:buClr>
              <a:buFont typeface="Arial" panose="020B0604020202020204" pitchFamily="34" charset="0"/>
              <a:buNone/>
            </a:pPr>
            <a:r>
              <a:rPr lang="en-US" altLang="ko-KR" sz="3000">
                <a:solidFill>
                  <a:schemeClr val="tx2"/>
                </a:solidFill>
                <a:latin typeface="华文楷体" panose="02010600040101010101" pitchFamily="2" charset="-122"/>
                <a:ea typeface="华文楷体" panose="02010600040101010101" pitchFamily="2" charset="-122"/>
              </a:rPr>
              <a:t>1</a:t>
            </a:r>
          </a:p>
        </p:txBody>
      </p:sp>
    </p:spTree>
    <p:extLst>
      <p:ext uri="{BB962C8B-B14F-4D97-AF65-F5344CB8AC3E}">
        <p14:creationId xmlns:p14="http://schemas.microsoft.com/office/powerpoint/2010/main" val="36146997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p:cNvSpPr>
          <p:nvPr/>
        </p:nvSpPr>
        <p:spPr bwMode="auto">
          <a:xfrm>
            <a:off x="392451" y="1696514"/>
            <a:ext cx="8675687"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indent="0" eaLnBrk="1" hangingPunct="1">
              <a:lnSpc>
                <a:spcPct val="120000"/>
              </a:lnSpc>
              <a:spcBef>
                <a:spcPts val="0"/>
              </a:spcBef>
              <a:buFont typeface="Arial" panose="020B0604020202020204" pitchFamily="34" charset="0"/>
              <a:buNone/>
            </a:pPr>
            <a:r>
              <a:rPr lang="zh-CN" altLang="en-US" sz="2400" dirty="0" smtClean="0">
                <a:latin typeface="楷体" panose="02010609060101010101" pitchFamily="49" charset="-122"/>
                <a:ea typeface="楷体" panose="02010609060101010101" pitchFamily="49" charset="-122"/>
              </a:rPr>
              <a:t>    输入输出</a:t>
            </a:r>
            <a:r>
              <a:rPr lang="en-US" altLang="zh-CN" sz="2400" dirty="0">
                <a:latin typeface="楷体" panose="02010609060101010101" pitchFamily="49" charset="-122"/>
                <a:ea typeface="楷体" panose="02010609060101010101" pitchFamily="49" charset="-122"/>
              </a:rPr>
              <a:t>(I/O)</a:t>
            </a:r>
            <a:r>
              <a:rPr lang="zh-CN" altLang="en-US" sz="2400" dirty="0">
                <a:latin typeface="楷体" panose="02010609060101010101" pitchFamily="49" charset="-122"/>
                <a:ea typeface="楷体" panose="02010609060101010101" pitchFamily="49" charset="-122"/>
              </a:rPr>
              <a:t>是指</a:t>
            </a:r>
            <a:r>
              <a:rPr lang="zh-CN" altLang="en-US" sz="2400" dirty="0">
                <a:solidFill>
                  <a:srgbClr val="FF0000"/>
                </a:solidFill>
                <a:latin typeface="楷体" panose="02010609060101010101" pitchFamily="49" charset="-122"/>
                <a:ea typeface="楷体" panose="02010609060101010101" pitchFamily="49" charset="-122"/>
              </a:rPr>
              <a:t>微型计算机与外界的信息交换，即通信</a:t>
            </a:r>
            <a:r>
              <a:rPr lang="en-US" altLang="zh-CN" sz="2400" dirty="0">
                <a:solidFill>
                  <a:srgbClr val="FF0000"/>
                </a:solidFill>
                <a:latin typeface="楷体" panose="02010609060101010101" pitchFamily="49" charset="-122"/>
                <a:ea typeface="楷体" panose="02010609060101010101" pitchFamily="49" charset="-122"/>
              </a:rPr>
              <a:t>(communication)</a:t>
            </a:r>
            <a:r>
              <a:rPr lang="zh-CN" altLang="en-US" sz="2400" dirty="0">
                <a:latin typeface="楷体" panose="02010609060101010101" pitchFamily="49" charset="-122"/>
                <a:ea typeface="楷体" panose="02010609060101010101" pitchFamily="49" charset="-122"/>
              </a:rPr>
              <a:t>。微型计算机与外界的通信，是通过输入输出设备进行的，通常一种</a:t>
            </a:r>
            <a:r>
              <a:rPr lang="en-US" altLang="zh-CN" sz="2400" dirty="0">
                <a:latin typeface="楷体" panose="02010609060101010101" pitchFamily="49" charset="-122"/>
                <a:ea typeface="楷体" panose="02010609060101010101" pitchFamily="49" charset="-122"/>
              </a:rPr>
              <a:t>I/O</a:t>
            </a:r>
            <a:r>
              <a:rPr lang="zh-CN" altLang="en-US" sz="2400" dirty="0">
                <a:latin typeface="楷体" panose="02010609060101010101" pitchFamily="49" charset="-122"/>
                <a:ea typeface="楷体" panose="02010609060101010101" pitchFamily="49" charset="-122"/>
              </a:rPr>
              <a:t>设备与微型机连接，就需要一个连接电路，我们称之为</a:t>
            </a:r>
            <a:r>
              <a:rPr lang="en-US" altLang="zh-CN" sz="2400" dirty="0">
                <a:latin typeface="楷体" panose="02010609060101010101" pitchFamily="49" charset="-122"/>
                <a:ea typeface="楷体" panose="02010609060101010101" pitchFamily="49" charset="-122"/>
              </a:rPr>
              <a:t>I/O</a:t>
            </a:r>
            <a:r>
              <a:rPr lang="zh-CN" altLang="en-US" sz="2400" dirty="0">
                <a:latin typeface="楷体" panose="02010609060101010101" pitchFamily="49" charset="-122"/>
                <a:ea typeface="楷体" panose="02010609060101010101" pitchFamily="49" charset="-122"/>
              </a:rPr>
              <a:t>接口。</a:t>
            </a:r>
          </a:p>
        </p:txBody>
      </p:sp>
      <p:sp>
        <p:nvSpPr>
          <p:cNvPr id="3" name="Text Box 3"/>
          <p:cNvSpPr txBox="1">
            <a:spLocks noChangeArrowheads="1"/>
          </p:cNvSpPr>
          <p:nvPr/>
        </p:nvSpPr>
        <p:spPr bwMode="auto">
          <a:xfrm>
            <a:off x="392452" y="3785664"/>
            <a:ext cx="8675687"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indent="0" eaLnBrk="1" hangingPunct="1">
              <a:lnSpc>
                <a:spcPct val="120000"/>
              </a:lnSpc>
              <a:spcBef>
                <a:spcPts val="0"/>
              </a:spcBef>
              <a:buClr>
                <a:srgbClr val="0BD0D9"/>
              </a:buClr>
              <a:buSzPct val="95000"/>
              <a:buFont typeface="Wingdings 2" panose="05020102010507070707" pitchFamily="18" charset="2"/>
              <a:buNone/>
            </a:pPr>
            <a:r>
              <a:rPr lang="zh-CN" altLang="en-US" sz="2400" dirty="0" smtClean="0">
                <a:latin typeface="楷体" panose="02010609060101010101" pitchFamily="49" charset="-122"/>
                <a:ea typeface="楷体" panose="02010609060101010101" pitchFamily="49" charset="-122"/>
              </a:rPr>
              <a:t>    接口</a:t>
            </a:r>
            <a:r>
              <a:rPr lang="zh-CN" altLang="en-US" sz="2400" dirty="0">
                <a:latin typeface="楷体" panose="02010609060101010101" pitchFamily="49" charset="-122"/>
                <a:ea typeface="楷体" panose="02010609060101010101" pitchFamily="49" charset="-122"/>
              </a:rPr>
              <a:t>是用于控制微机系统与外设或外设与系统设备之间的数据交换和通信的硬件电路。接口设计涉及到两个基本问题，一是</a:t>
            </a:r>
            <a:r>
              <a:rPr lang="zh-CN" altLang="en-US" sz="2400" dirty="0">
                <a:solidFill>
                  <a:srgbClr val="FF0000"/>
                </a:solidFill>
                <a:latin typeface="楷体" panose="02010609060101010101" pitchFamily="49" charset="-122"/>
                <a:ea typeface="楷体" panose="02010609060101010101" pitchFamily="49" charset="-122"/>
              </a:rPr>
              <a:t>中央处理器如何寻址外部设备，实现多个设备的识别</a:t>
            </a:r>
            <a:r>
              <a:rPr lang="zh-CN" altLang="en-US" sz="2400" dirty="0">
                <a:latin typeface="楷体" panose="02010609060101010101" pitchFamily="49" charset="-122"/>
                <a:ea typeface="楷体" panose="02010609060101010101" pitchFamily="49" charset="-122"/>
              </a:rPr>
              <a:t>；二是</a:t>
            </a:r>
            <a:r>
              <a:rPr lang="zh-CN" altLang="en-US" sz="2400" dirty="0">
                <a:solidFill>
                  <a:srgbClr val="FF0000"/>
                </a:solidFill>
                <a:latin typeface="楷体" panose="02010609060101010101" pitchFamily="49" charset="-122"/>
                <a:ea typeface="楷体" panose="02010609060101010101" pitchFamily="49" charset="-122"/>
              </a:rPr>
              <a:t>中央处理器如何与外设连接，进行数据、状态和控制信号的交换</a:t>
            </a:r>
            <a:r>
              <a:rPr lang="zh-CN" altLang="en-US" sz="2400" dirty="0">
                <a:latin typeface="楷体" panose="02010609060101010101" pitchFamily="49" charset="-122"/>
                <a:ea typeface="楷体" panose="02010609060101010101" pitchFamily="49" charset="-122"/>
              </a:rPr>
              <a:t>。</a:t>
            </a:r>
          </a:p>
        </p:txBody>
      </p:sp>
      <p:sp>
        <p:nvSpPr>
          <p:cNvPr id="4"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9</a:t>
            </a: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.1 </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接口的基本概念</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725787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2000"/>
                            </p:stCondLst>
                            <p:childTnLst>
                              <p:par>
                                <p:cTn id="9" presetID="10" presetClass="entr" presetSubtype="0" fill="hold" grpId="0" nodeType="afterEffect">
                                  <p:stCondLst>
                                    <p:cond delay="10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9.1.1 </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接口的功能</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5" name="内容占位符 4"/>
          <p:cNvSpPr>
            <a:spLocks/>
          </p:cNvSpPr>
          <p:nvPr/>
        </p:nvSpPr>
        <p:spPr bwMode="auto">
          <a:xfrm>
            <a:off x="287338" y="1980631"/>
            <a:ext cx="8856662" cy="386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nSpc>
                <a:spcPct val="150000"/>
              </a:lnSpc>
              <a:buClr>
                <a:srgbClr val="0BD0D9"/>
              </a:buClr>
              <a:buSzPct val="95000"/>
              <a:buFont typeface="Wingdings 2" panose="05020102010507070707" pitchFamily="18" charset="2"/>
              <a:buNone/>
            </a:pP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接口的一般定义 </a:t>
            </a:r>
          </a:p>
          <a:p>
            <a:pPr>
              <a:lnSpc>
                <a:spcPct val="150000"/>
              </a:lnSpc>
              <a:buClr>
                <a:srgbClr val="0BD0D9"/>
              </a:buClr>
              <a:buSzPct val="95000"/>
              <a:buFont typeface="Wingdings 2" panose="05020102010507070707" pitchFamily="18" charset="2"/>
              <a:buNone/>
            </a:pPr>
            <a:r>
              <a:rPr lang="zh-CN" altLang="en-US" sz="2800" dirty="0" smtClean="0">
                <a:latin typeface="楷体" panose="02010609060101010101" pitchFamily="49" charset="-122"/>
                <a:ea typeface="楷体" panose="02010609060101010101" pitchFamily="49" charset="-122"/>
              </a:rPr>
              <a:t>    接口</a:t>
            </a:r>
            <a:r>
              <a:rPr lang="zh-CN" altLang="en-US" sz="2800" dirty="0">
                <a:latin typeface="楷体" panose="02010609060101010101" pitchFamily="49" charset="-122"/>
                <a:ea typeface="楷体" panose="02010609060101010101" pitchFamily="49" charset="-122"/>
              </a:rPr>
              <a:t>是一组电路，是中央处理器与存储器、输入输出设备等外设之间协调动作的控制电路。</a:t>
            </a:r>
          </a:p>
          <a:p>
            <a:pPr>
              <a:lnSpc>
                <a:spcPct val="150000"/>
              </a:lnSpc>
              <a:buClr>
                <a:srgbClr val="0BD0D9"/>
              </a:buClr>
              <a:buSzPct val="95000"/>
              <a:buFont typeface="Wingdings 2" panose="05020102010507070707" pitchFamily="18" charset="2"/>
              <a:buNone/>
            </a:pPr>
            <a:r>
              <a:rPr lang="zh-CN" altLang="en-US" sz="2800" dirty="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接口</a:t>
            </a:r>
            <a:r>
              <a:rPr lang="zh-CN" altLang="en-US" sz="2800" dirty="0">
                <a:latin typeface="楷体" panose="02010609060101010101" pitchFamily="49" charset="-122"/>
                <a:ea typeface="楷体" panose="02010609060101010101" pitchFamily="49" charset="-122"/>
              </a:rPr>
              <a:t>电路并不局限在中央处理器与存储器或外设之间，也可在存储器与外设之间，如直接存储器存取</a:t>
            </a:r>
            <a:r>
              <a:rPr lang="en-US" altLang="zh-CN" sz="2800" dirty="0">
                <a:latin typeface="楷体" panose="02010609060101010101" pitchFamily="49" charset="-122"/>
                <a:ea typeface="楷体" panose="02010609060101010101" pitchFamily="49" charset="-122"/>
              </a:rPr>
              <a:t>DMA</a:t>
            </a:r>
            <a:r>
              <a:rPr lang="zh-CN" altLang="en-US" sz="2800" dirty="0">
                <a:latin typeface="楷体" panose="02010609060101010101" pitchFamily="49" charset="-122"/>
                <a:ea typeface="楷体" panose="02010609060101010101" pitchFamily="49" charset="-122"/>
              </a:rPr>
              <a:t>接口就是控制存储器与外设之间数据传送的电路。</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3599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179388" y="1268413"/>
            <a:ext cx="8761412" cy="4616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defPPr>
              <a:defRPr lang="en-US"/>
            </a:defPPr>
            <a:lvl1pPr>
              <a:lnSpc>
                <a:spcPct val="150000"/>
              </a:lnSpc>
              <a:buClr>
                <a:srgbClr val="0BD0D9"/>
              </a:buClr>
              <a:buSzPct val="95000"/>
              <a:buFont typeface="Wingdings 2" panose="05020102010507070707" pitchFamily="18" charset="2"/>
              <a:buNone/>
              <a:defRPr sz="2800">
                <a:latin typeface="楷体" panose="02010609060101010101" pitchFamily="49" charset="-122"/>
                <a:ea typeface="楷体" panose="02010609060101010101" pitchFamily="49" charset="-122"/>
              </a:defRPr>
            </a:lvl1pPr>
          </a:lstStyle>
          <a:p>
            <a:r>
              <a:rPr lang="en-US" altLang="zh-CN" dirty="0"/>
              <a:t>2.</a:t>
            </a:r>
            <a:r>
              <a:rPr lang="zh-CN" altLang="en-US" dirty="0"/>
              <a:t>接口电路的</a:t>
            </a:r>
            <a:r>
              <a:rPr lang="zh-CN" altLang="en-US" dirty="0" smtClean="0"/>
              <a:t>功能</a:t>
            </a:r>
            <a:endParaRPr lang="en-US" altLang="zh-CN" dirty="0" smtClean="0"/>
          </a:p>
          <a:p>
            <a:r>
              <a:rPr lang="zh-CN" altLang="en-US" dirty="0"/>
              <a:t> </a:t>
            </a:r>
            <a:r>
              <a:rPr lang="zh-CN" altLang="en-US" dirty="0" smtClean="0"/>
              <a:t>   接口</a:t>
            </a:r>
            <a:r>
              <a:rPr lang="zh-CN" altLang="en-US" dirty="0"/>
              <a:t>电路的作用就是将来自外部设备的数据信号传送给处理器，处理器对数据进行适当加工，再通过接口传回外部设备。</a:t>
            </a:r>
          </a:p>
          <a:p>
            <a:r>
              <a:rPr lang="zh-CN" altLang="en-US" dirty="0"/>
              <a:t>    </a:t>
            </a:r>
            <a:r>
              <a:rPr lang="zh-CN" altLang="en-US" dirty="0" smtClean="0"/>
              <a:t>所以</a:t>
            </a:r>
            <a:r>
              <a:rPr lang="zh-CN" altLang="en-US" dirty="0"/>
              <a:t>，接口的基本功能就是</a:t>
            </a:r>
            <a:r>
              <a:rPr lang="zh-CN" altLang="en-US" dirty="0">
                <a:solidFill>
                  <a:srgbClr val="FF0000"/>
                </a:solidFill>
              </a:rPr>
              <a:t>对数据传送实现控制</a:t>
            </a:r>
            <a:r>
              <a:rPr lang="zh-CN" altLang="en-US" dirty="0"/>
              <a:t>，具体包括以下</a:t>
            </a:r>
            <a:r>
              <a:rPr lang="en-US" altLang="zh-CN" dirty="0"/>
              <a:t>5</a:t>
            </a:r>
            <a:r>
              <a:rPr lang="zh-CN" altLang="en-US" dirty="0"/>
              <a:t>种功能：</a:t>
            </a:r>
            <a:r>
              <a:rPr lang="zh-CN" altLang="en-US" dirty="0">
                <a:solidFill>
                  <a:srgbClr val="FF0000"/>
                </a:solidFill>
              </a:rPr>
              <a:t>地址译码、数据缓冲、信息转换、提供命令译码和状态信息</a:t>
            </a:r>
            <a:r>
              <a:rPr lang="zh-CN" altLang="en-US" dirty="0"/>
              <a:t>以及</a:t>
            </a:r>
            <a:r>
              <a:rPr lang="zh-CN" altLang="en-US" dirty="0">
                <a:solidFill>
                  <a:srgbClr val="FF0000"/>
                </a:solidFill>
              </a:rPr>
              <a:t>定时和控制</a:t>
            </a:r>
            <a:r>
              <a:rPr lang="zh-CN" altLang="en-US" dirty="0"/>
              <a:t>。</a:t>
            </a:r>
          </a:p>
        </p:txBody>
      </p:sp>
    </p:spTree>
    <p:extLst>
      <p:ext uri="{BB962C8B-B14F-4D97-AF65-F5344CB8AC3E}">
        <p14:creationId xmlns:p14="http://schemas.microsoft.com/office/powerpoint/2010/main" val="69738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247989" y="1048890"/>
            <a:ext cx="75961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defPPr>
              <a:defRPr lang="en-US"/>
            </a:defPPr>
            <a:lvl1pPr>
              <a:lnSpc>
                <a:spcPct val="150000"/>
              </a:lnSpc>
              <a:buClr>
                <a:srgbClr val="0BD0D9"/>
              </a:buClr>
              <a:buSzPct val="95000"/>
              <a:buFont typeface="Wingdings 2" panose="05020102010507070707" pitchFamily="18" charset="2"/>
              <a:buNone/>
              <a:defRPr sz="2800">
                <a:latin typeface="楷体" panose="02010609060101010101" pitchFamily="49" charset="-122"/>
                <a:ea typeface="楷体" panose="02010609060101010101" pitchFamily="49" charset="-122"/>
              </a:defRPr>
            </a:lvl1pPr>
          </a:lstStyle>
          <a:p>
            <a:r>
              <a:rPr lang="en-US" altLang="zh-CN" dirty="0"/>
              <a:t>3.</a:t>
            </a:r>
            <a:r>
              <a:rPr lang="zh-CN" altLang="en-US" dirty="0"/>
              <a:t>接口电路的基本</a:t>
            </a:r>
            <a:r>
              <a:rPr lang="zh-CN" altLang="en-US" dirty="0" smtClean="0"/>
              <a:t>结构</a:t>
            </a:r>
            <a:endParaRPr lang="zh-CN" altLang="en-US" dirty="0"/>
          </a:p>
        </p:txBody>
      </p:sp>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6376" y="910260"/>
            <a:ext cx="4090880" cy="263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3"/>
          <p:cNvSpPr txBox="1">
            <a:spLocks noChangeArrowheads="1"/>
          </p:cNvSpPr>
          <p:nvPr/>
        </p:nvSpPr>
        <p:spPr bwMode="auto">
          <a:xfrm>
            <a:off x="441680" y="3653970"/>
            <a:ext cx="804537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en-US"/>
            </a:defPPr>
            <a:lvl1pPr indent="0">
              <a:lnSpc>
                <a:spcPct val="120000"/>
              </a:lnSpc>
              <a:spcBef>
                <a:spcPts val="0"/>
              </a:spcBef>
              <a:buClr>
                <a:srgbClr val="0BD0D9"/>
              </a:buClr>
              <a:buSzPct val="95000"/>
              <a:buFont typeface="Wingdings 2" panose="05020102010507070707" pitchFamily="18" charset="2"/>
              <a:buNone/>
              <a:defRPr sz="2400">
                <a:latin typeface="楷体" panose="02010609060101010101" pitchFamily="49" charset="-122"/>
                <a:ea typeface="楷体" panose="02010609060101010101" pitchFamily="49" charset="-122"/>
              </a:defRPr>
            </a:lvl1pPr>
            <a:lvl2pPr marL="742950" indent="-285750">
              <a:spcBef>
                <a:spcPct val="20000"/>
              </a:spcBef>
              <a:buFont typeface="Arial" panose="020B0604020202020204" pitchFamily="34" charset="0"/>
              <a:buChar char="–"/>
              <a:defRPr sz="2800">
                <a:latin typeface="Calibri" panose="020F0502020204030204" pitchFamily="34" charset="0"/>
              </a:defRPr>
            </a:lvl2pPr>
            <a:lvl3pPr marL="1143000" indent="-228600">
              <a:spcBef>
                <a:spcPct val="20000"/>
              </a:spcBef>
              <a:buFont typeface="Arial" panose="020B0604020202020204" pitchFamily="34" charset="0"/>
              <a:buChar char="•"/>
              <a:defRPr sz="2400">
                <a:latin typeface="Calibri" panose="020F0502020204030204" pitchFamily="34" charset="0"/>
              </a:defRPr>
            </a:lvl3pPr>
            <a:lvl4pPr marL="1600200" indent="-228600">
              <a:spcBef>
                <a:spcPct val="20000"/>
              </a:spcBef>
              <a:buFont typeface="Arial" panose="020B0604020202020204" pitchFamily="34" charset="0"/>
              <a:buChar char="–"/>
              <a:defRPr sz="2000">
                <a:latin typeface="Calibri" panose="020F0502020204030204" pitchFamily="34" charset="0"/>
              </a:defRPr>
            </a:lvl4pPr>
            <a:lvl5pPr marL="2057400" indent="-228600">
              <a:spcBef>
                <a:spcPct val="20000"/>
              </a:spcBef>
              <a:buFont typeface="Arial" panose="020B0604020202020204" pitchFamily="34" charset="0"/>
              <a:buChar char="»"/>
              <a:defRPr sz="2000">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9pPr>
          </a:lstStyle>
          <a:p>
            <a:r>
              <a:rPr lang="zh-CN" altLang="en-US" sz="2000" dirty="0"/>
              <a:t>    </a:t>
            </a:r>
            <a:r>
              <a:rPr lang="zh-CN" altLang="en-US" sz="2000" dirty="0" smtClean="0">
                <a:solidFill>
                  <a:srgbClr val="FF0000"/>
                </a:solidFill>
              </a:rPr>
              <a:t>控制</a:t>
            </a:r>
            <a:r>
              <a:rPr lang="zh-CN" altLang="en-US" sz="2000" dirty="0">
                <a:solidFill>
                  <a:srgbClr val="FF0000"/>
                </a:solidFill>
              </a:rPr>
              <a:t>命令逻辑电路</a:t>
            </a:r>
            <a:r>
              <a:rPr lang="zh-CN" altLang="en-US" sz="2000" dirty="0"/>
              <a:t>一般由命令字寄存器和控制执行逻辑组成，这一部分是接口电路的“中央处理器”，用来完成全部接口操作的控制。 </a:t>
            </a:r>
          </a:p>
        </p:txBody>
      </p:sp>
      <p:sp>
        <p:nvSpPr>
          <p:cNvPr id="5" name="Text Box 4"/>
          <p:cNvSpPr txBox="1">
            <a:spLocks noChangeArrowheads="1"/>
          </p:cNvSpPr>
          <p:nvPr/>
        </p:nvSpPr>
        <p:spPr bwMode="auto">
          <a:xfrm>
            <a:off x="441680" y="4652449"/>
            <a:ext cx="804537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en-US"/>
            </a:defPPr>
            <a:lvl1pPr indent="0">
              <a:lnSpc>
                <a:spcPct val="120000"/>
              </a:lnSpc>
              <a:spcBef>
                <a:spcPts val="0"/>
              </a:spcBef>
              <a:buClr>
                <a:srgbClr val="0BD0D9"/>
              </a:buClr>
              <a:buSzPct val="95000"/>
              <a:buFont typeface="Wingdings 2" panose="05020102010507070707" pitchFamily="18" charset="2"/>
              <a:buNone/>
              <a:defRPr sz="2400">
                <a:latin typeface="楷体" panose="02010609060101010101" pitchFamily="49" charset="-122"/>
                <a:ea typeface="楷体" panose="02010609060101010101" pitchFamily="49" charset="-122"/>
              </a:defRPr>
            </a:lvl1pPr>
            <a:lvl2pPr marL="742950" indent="-285750">
              <a:spcBef>
                <a:spcPct val="20000"/>
              </a:spcBef>
              <a:buFont typeface="Arial" panose="020B0604020202020204" pitchFamily="34" charset="0"/>
              <a:buChar char="–"/>
              <a:defRPr sz="2800">
                <a:latin typeface="Calibri" panose="020F0502020204030204" pitchFamily="34" charset="0"/>
              </a:defRPr>
            </a:lvl2pPr>
            <a:lvl3pPr marL="1143000" indent="-228600">
              <a:spcBef>
                <a:spcPct val="20000"/>
              </a:spcBef>
              <a:buFont typeface="Arial" panose="020B0604020202020204" pitchFamily="34" charset="0"/>
              <a:buChar char="•"/>
              <a:defRPr sz="2400">
                <a:latin typeface="Calibri" panose="020F0502020204030204" pitchFamily="34" charset="0"/>
              </a:defRPr>
            </a:lvl3pPr>
            <a:lvl4pPr marL="1600200" indent="-228600">
              <a:spcBef>
                <a:spcPct val="20000"/>
              </a:spcBef>
              <a:buFont typeface="Arial" panose="020B0604020202020204" pitchFamily="34" charset="0"/>
              <a:buChar char="–"/>
              <a:defRPr sz="2000">
                <a:latin typeface="Calibri" panose="020F0502020204030204" pitchFamily="34" charset="0"/>
              </a:defRPr>
            </a:lvl4pPr>
            <a:lvl5pPr marL="2057400" indent="-228600">
              <a:spcBef>
                <a:spcPct val="20000"/>
              </a:spcBef>
              <a:buFont typeface="Arial" panose="020B0604020202020204" pitchFamily="34" charset="0"/>
              <a:buChar char="»"/>
              <a:defRPr sz="2000">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9pPr>
          </a:lstStyle>
          <a:p>
            <a:r>
              <a:rPr lang="zh-CN" altLang="en-US" sz="2000" dirty="0"/>
              <a:t>    </a:t>
            </a:r>
            <a:r>
              <a:rPr lang="zh-CN" altLang="en-US" sz="2000" dirty="0">
                <a:solidFill>
                  <a:srgbClr val="FF0000"/>
                </a:solidFill>
              </a:rPr>
              <a:t>状态设置和存储电路</a:t>
            </a:r>
            <a:r>
              <a:rPr lang="zh-CN" altLang="en-US" sz="2000" dirty="0"/>
              <a:t>主要由一组数据寄存器构成</a:t>
            </a:r>
            <a:r>
              <a:rPr lang="zh-CN" altLang="en-US" sz="2000" dirty="0" smtClean="0"/>
              <a:t>，中央处理器</a:t>
            </a:r>
            <a:r>
              <a:rPr lang="zh-CN" altLang="en-US" sz="2000" dirty="0"/>
              <a:t>和外设就是根据状态寄存器的内容进行协调动作的。 </a:t>
            </a:r>
          </a:p>
        </p:txBody>
      </p:sp>
      <p:sp>
        <p:nvSpPr>
          <p:cNvPr id="6" name="Text Box 5"/>
          <p:cNvSpPr txBox="1">
            <a:spLocks noChangeArrowheads="1"/>
          </p:cNvSpPr>
          <p:nvPr/>
        </p:nvSpPr>
        <p:spPr bwMode="auto">
          <a:xfrm>
            <a:off x="441680" y="5639724"/>
            <a:ext cx="804537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defPPr>
              <a:defRPr lang="en-US"/>
            </a:defPPr>
            <a:lvl1pPr indent="0">
              <a:lnSpc>
                <a:spcPct val="120000"/>
              </a:lnSpc>
              <a:spcBef>
                <a:spcPts val="0"/>
              </a:spcBef>
              <a:buClr>
                <a:srgbClr val="0BD0D9"/>
              </a:buClr>
              <a:buSzPct val="95000"/>
              <a:buFont typeface="Wingdings 2" panose="05020102010507070707" pitchFamily="18" charset="2"/>
              <a:buNone/>
              <a:defRPr sz="2400">
                <a:latin typeface="楷体" panose="02010609060101010101" pitchFamily="49" charset="-122"/>
                <a:ea typeface="楷体" panose="02010609060101010101" pitchFamily="49" charset="-122"/>
              </a:defRPr>
            </a:lvl1pPr>
            <a:lvl2pPr marL="742950" indent="-285750">
              <a:spcBef>
                <a:spcPct val="20000"/>
              </a:spcBef>
              <a:buFont typeface="Arial" panose="020B0604020202020204" pitchFamily="34" charset="0"/>
              <a:buChar char="–"/>
              <a:defRPr sz="2800">
                <a:latin typeface="Calibri" panose="020F0502020204030204" pitchFamily="34" charset="0"/>
              </a:defRPr>
            </a:lvl2pPr>
            <a:lvl3pPr marL="1143000" indent="-228600">
              <a:spcBef>
                <a:spcPct val="20000"/>
              </a:spcBef>
              <a:buFont typeface="Arial" panose="020B0604020202020204" pitchFamily="34" charset="0"/>
              <a:buChar char="•"/>
              <a:defRPr sz="2400">
                <a:latin typeface="Calibri" panose="020F0502020204030204" pitchFamily="34" charset="0"/>
              </a:defRPr>
            </a:lvl3pPr>
            <a:lvl4pPr marL="1600200" indent="-228600">
              <a:spcBef>
                <a:spcPct val="20000"/>
              </a:spcBef>
              <a:buFont typeface="Arial" panose="020B0604020202020204" pitchFamily="34" charset="0"/>
              <a:buChar char="–"/>
              <a:defRPr sz="2000">
                <a:latin typeface="Calibri" panose="020F0502020204030204" pitchFamily="34" charset="0"/>
              </a:defRPr>
            </a:lvl4pPr>
            <a:lvl5pPr marL="2057400" indent="-228600">
              <a:spcBef>
                <a:spcPct val="20000"/>
              </a:spcBef>
              <a:buFont typeface="Arial" panose="020B0604020202020204" pitchFamily="34" charset="0"/>
              <a:buChar char="»"/>
              <a:defRPr sz="2000">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latin typeface="Calibri" panose="020F0502020204030204" pitchFamily="34" charset="0"/>
              </a:defRPr>
            </a:lvl9pPr>
          </a:lstStyle>
          <a:p>
            <a:r>
              <a:rPr lang="zh-CN" altLang="en-US" sz="2000" dirty="0"/>
              <a:t>    </a:t>
            </a:r>
            <a:r>
              <a:rPr lang="zh-CN" altLang="en-US" sz="2000" dirty="0">
                <a:solidFill>
                  <a:srgbClr val="FF0000"/>
                </a:solidFill>
              </a:rPr>
              <a:t>数据存储和缓冲电路</a:t>
            </a:r>
            <a:r>
              <a:rPr lang="zh-CN" altLang="en-US" sz="2000" dirty="0"/>
              <a:t>也是一组寄存器，用于暂</a:t>
            </a:r>
            <a:r>
              <a:rPr lang="zh-CN" altLang="en-US" sz="2000" dirty="0" smtClean="0"/>
              <a:t>存中央处理器</a:t>
            </a:r>
            <a:r>
              <a:rPr lang="zh-CN" altLang="en-US" sz="2000" dirty="0"/>
              <a:t>和外设之间传送的数据，以完成速度</a:t>
            </a:r>
            <a:r>
              <a:rPr lang="zh-CN" altLang="en-US" sz="2000" dirty="0" smtClean="0"/>
              <a:t>匹配工作</a:t>
            </a:r>
            <a:r>
              <a:rPr lang="zh-CN" altLang="en-US" sz="2000" dirty="0"/>
              <a:t>。 </a:t>
            </a:r>
          </a:p>
        </p:txBody>
      </p:sp>
    </p:spTree>
    <p:extLst>
      <p:ext uri="{BB962C8B-B14F-4D97-AF65-F5344CB8AC3E}">
        <p14:creationId xmlns:p14="http://schemas.microsoft.com/office/powerpoint/2010/main" val="168339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9.1.2 </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接口控制原理</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3" name="Rectangle 2"/>
          <p:cNvSpPr>
            <a:spLocks noChangeArrowheads="1"/>
          </p:cNvSpPr>
          <p:nvPr/>
        </p:nvSpPr>
        <p:spPr bwMode="auto">
          <a:xfrm>
            <a:off x="466725" y="1204636"/>
            <a:ext cx="828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kumimoji="1"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数据传送方式</a:t>
            </a:r>
            <a:r>
              <a:rPr lang="zh-CN" altLang="en-US" sz="2800" dirty="0">
                <a:solidFill>
                  <a:schemeClr val="tx2"/>
                </a:solidFill>
                <a:latin typeface="楷体" panose="02010609060101010101" pitchFamily="49" charset="-122"/>
                <a:ea typeface="楷体" panose="02010609060101010101" pitchFamily="49" charset="-122"/>
              </a:rPr>
              <a:t> </a:t>
            </a:r>
            <a:endParaRPr lang="en-US" altLang="zh-CN" sz="2800" dirty="0">
              <a:solidFill>
                <a:schemeClr val="tx2"/>
              </a:solidFill>
              <a:latin typeface="楷体" panose="02010609060101010101" pitchFamily="49" charset="-122"/>
              <a:ea typeface="楷体" panose="02010609060101010101" pitchFamily="49" charset="-122"/>
            </a:endParaRPr>
          </a:p>
        </p:txBody>
      </p:sp>
      <p:grpSp>
        <p:nvGrpSpPr>
          <p:cNvPr id="4" name="Group 13"/>
          <p:cNvGrpSpPr>
            <a:grpSpLocks/>
          </p:cNvGrpSpPr>
          <p:nvPr/>
        </p:nvGrpSpPr>
        <p:grpSpPr bwMode="auto">
          <a:xfrm>
            <a:off x="395288" y="1844675"/>
            <a:ext cx="8424862" cy="4321175"/>
            <a:chOff x="249" y="1162"/>
            <a:chExt cx="5307" cy="2722"/>
          </a:xfrm>
        </p:grpSpPr>
        <p:sp>
          <p:nvSpPr>
            <p:cNvPr id="5" name="AutoShape 72">
              <a:extLst>
                <a:ext uri="{FF2B5EF4-FFF2-40B4-BE49-F238E27FC236}">
                  <a16:creationId xmlns:a16="http://schemas.microsoft.com/office/drawing/2014/main" id="{82CA65DA-DB2F-4F5B-9BB4-C011BD005A3D}"/>
                </a:ext>
              </a:extLst>
            </p:cNvPr>
            <p:cNvSpPr>
              <a:spLocks noChangeArrowheads="1"/>
            </p:cNvSpPr>
            <p:nvPr/>
          </p:nvSpPr>
          <p:spPr bwMode="auto">
            <a:xfrm>
              <a:off x="305" y="1171"/>
              <a:ext cx="5220" cy="2713"/>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headEnd/>
              <a:tailE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spcBef>
                  <a:spcPts val="0"/>
                </a:spcBef>
                <a:spcAft>
                  <a:spcPts val="0"/>
                </a:spcAft>
                <a:defRPr/>
              </a:pPr>
              <a:endParaRPr lang="zh-CN" altLang="en-US" sz="1800">
                <a:solidFill>
                  <a:schemeClr val="tx1"/>
                </a:solidFill>
                <a:latin typeface="楷体" panose="02010609060101010101" pitchFamily="49" charset="-122"/>
                <a:ea typeface="楷体" panose="02010609060101010101" pitchFamily="49" charset="-122"/>
              </a:endParaRPr>
            </a:p>
          </p:txBody>
        </p:sp>
        <p:sp>
          <p:nvSpPr>
            <p:cNvPr id="6" name="Rectangle 6"/>
            <p:cNvSpPr>
              <a:spLocks noChangeArrowheads="1"/>
            </p:cNvSpPr>
            <p:nvPr/>
          </p:nvSpPr>
          <p:spPr bwMode="auto">
            <a:xfrm>
              <a:off x="249" y="1646"/>
              <a:ext cx="5307" cy="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5000"/>
                </a:lnSpc>
                <a:spcBef>
                  <a:spcPct val="25000"/>
                </a:spcBef>
                <a:buFontTx/>
                <a:buNone/>
              </a:pPr>
              <a:r>
                <a:rPr lang="zh-CN" altLang="en-US" sz="2800">
                  <a:latin typeface="楷体" panose="02010609060101010101" pitchFamily="49" charset="-122"/>
                  <a:ea typeface="楷体" panose="02010609060101010101" pitchFamily="49" charset="-122"/>
                </a:rPr>
                <a:t>    在微机系统内，如，大系统部件之间的数据传送都采用并行数据传送方式。</a:t>
              </a:r>
            </a:p>
            <a:p>
              <a:pPr eaLnBrk="1" hangingPunct="1">
                <a:lnSpc>
                  <a:spcPct val="115000"/>
                </a:lnSpc>
                <a:spcBef>
                  <a:spcPct val="25000"/>
                </a:spcBef>
                <a:buFontTx/>
                <a:buNone/>
              </a:pPr>
              <a:r>
                <a:rPr lang="zh-CN" altLang="en-US" sz="2800">
                  <a:latin typeface="楷体" panose="02010609060101010101" pitchFamily="49" charset="-122"/>
                  <a:ea typeface="楷体" panose="02010609060101010101" pitchFamily="49" charset="-122"/>
                </a:rPr>
                <a:t>    并行数据的每一位都对应独立的传输线路，所以数据传送速度快，但线路多，一般只用于较短距离的数据传送。 </a:t>
              </a:r>
              <a:endParaRPr kumimoji="1" lang="en-US" altLang="zh-CN" sz="2800">
                <a:latin typeface="楷体" panose="02010609060101010101" pitchFamily="49" charset="-122"/>
                <a:ea typeface="楷体" panose="02010609060101010101" pitchFamily="49" charset="-122"/>
              </a:endParaRPr>
            </a:p>
          </p:txBody>
        </p:sp>
        <p:grpSp>
          <p:nvGrpSpPr>
            <p:cNvPr id="7" name="Group 7"/>
            <p:cNvGrpSpPr>
              <a:grpSpLocks/>
            </p:cNvGrpSpPr>
            <p:nvPr/>
          </p:nvGrpSpPr>
          <p:grpSpPr bwMode="auto">
            <a:xfrm>
              <a:off x="294" y="1162"/>
              <a:ext cx="5241" cy="453"/>
              <a:chOff x="340" y="1162"/>
              <a:chExt cx="5241" cy="453"/>
            </a:xfrm>
          </p:grpSpPr>
          <p:grpSp>
            <p:nvGrpSpPr>
              <p:cNvPr id="8" name="Group 22"/>
              <p:cNvGrpSpPr>
                <a:grpSpLocks/>
              </p:cNvGrpSpPr>
              <p:nvPr/>
            </p:nvGrpSpPr>
            <p:grpSpPr bwMode="auto">
              <a:xfrm>
                <a:off x="340" y="1162"/>
                <a:ext cx="5241" cy="453"/>
                <a:chOff x="266" y="1248"/>
                <a:chExt cx="5304" cy="672"/>
              </a:xfrm>
            </p:grpSpPr>
            <p:sp>
              <p:nvSpPr>
                <p:cNvPr id="10"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zh-CN" sz="2800">
                    <a:latin typeface="楷体" panose="02010609060101010101" pitchFamily="49" charset="-122"/>
                    <a:ea typeface="楷体" panose="02010609060101010101" pitchFamily="49" charset="-122"/>
                    <a:cs typeface="Times New Roman" panose="02020603050405020304" pitchFamily="18" charset="0"/>
                  </a:endParaRPr>
                </a:p>
              </p:txBody>
            </p:sp>
            <p:pic>
              <p:nvPicPr>
                <p:cNvPr id="11"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Rectangle 11"/>
              <p:cNvSpPr>
                <a:spLocks noChangeArrowheads="1"/>
              </p:cNvSpPr>
              <p:nvPr/>
            </p:nvSpPr>
            <p:spPr bwMode="auto">
              <a:xfrm>
                <a:off x="793" y="1162"/>
                <a:ext cx="202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5000"/>
                  </a:lnSpc>
                  <a:spcBef>
                    <a:spcPct val="50000"/>
                  </a:spcBef>
                  <a:buFontTx/>
                  <a:buNone/>
                </a:pPr>
                <a:r>
                  <a:rPr kumimoji="1" lang="zh-CN" altLang="en-US" sz="2800">
                    <a:latin typeface="楷体" panose="02010609060101010101" pitchFamily="49" charset="-122"/>
                    <a:ea typeface="楷体" panose="02010609060101010101" pitchFamily="49" charset="-122"/>
                  </a:rPr>
                  <a:t>（</a:t>
                </a:r>
                <a:r>
                  <a:rPr kumimoji="1" lang="en-US" altLang="zh-CN" sz="2800">
                    <a:latin typeface="楷体" panose="02010609060101010101" pitchFamily="49" charset="-122"/>
                    <a:ea typeface="楷体" panose="02010609060101010101" pitchFamily="49" charset="-122"/>
                  </a:rPr>
                  <a:t>1</a:t>
                </a:r>
                <a:r>
                  <a:rPr kumimoji="1" lang="zh-CN" altLang="en-US" sz="2800">
                    <a:latin typeface="楷体" panose="02010609060101010101" pitchFamily="49" charset="-122"/>
                    <a:ea typeface="楷体" panose="02010609060101010101" pitchFamily="49" charset="-122"/>
                  </a:rPr>
                  <a:t>）</a:t>
                </a:r>
                <a:r>
                  <a:rPr lang="zh-CN" altLang="en-US" sz="2800">
                    <a:latin typeface="楷体" panose="02010609060101010101" pitchFamily="49" charset="-122"/>
                    <a:ea typeface="楷体" panose="02010609060101010101" pitchFamily="49" charset="-122"/>
                  </a:rPr>
                  <a:t>并行数据传送</a:t>
                </a:r>
              </a:p>
            </p:txBody>
          </p:sp>
        </p:grpSp>
      </p:grpSp>
    </p:spTree>
    <p:extLst>
      <p:ext uri="{BB962C8B-B14F-4D97-AF65-F5344CB8AC3E}">
        <p14:creationId xmlns:p14="http://schemas.microsoft.com/office/powerpoint/2010/main" val="3810206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
          <p:cNvGrpSpPr>
            <a:grpSpLocks/>
          </p:cNvGrpSpPr>
          <p:nvPr/>
        </p:nvGrpSpPr>
        <p:grpSpPr bwMode="auto">
          <a:xfrm>
            <a:off x="395288" y="1484313"/>
            <a:ext cx="8497887" cy="4321175"/>
            <a:chOff x="249" y="935"/>
            <a:chExt cx="5353" cy="2722"/>
          </a:xfrm>
        </p:grpSpPr>
        <p:sp>
          <p:nvSpPr>
            <p:cNvPr id="3" name="AutoShape 72">
              <a:extLst>
                <a:ext uri="{FF2B5EF4-FFF2-40B4-BE49-F238E27FC236}">
                  <a16:creationId xmlns:a16="http://schemas.microsoft.com/office/drawing/2014/main" id="{08B8F97D-6B18-4959-A2BD-CA6125DA9D85}"/>
                </a:ext>
              </a:extLst>
            </p:cNvPr>
            <p:cNvSpPr>
              <a:spLocks noChangeArrowheads="1"/>
            </p:cNvSpPr>
            <p:nvPr/>
          </p:nvSpPr>
          <p:spPr bwMode="auto">
            <a:xfrm>
              <a:off x="305" y="944"/>
              <a:ext cx="5251" cy="2713"/>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headEnd/>
              <a:tailE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spcBef>
                  <a:spcPts val="0"/>
                </a:spcBef>
                <a:spcAft>
                  <a:spcPts val="0"/>
                </a:spcAft>
                <a:defRPr/>
              </a:pPr>
              <a:endParaRPr lang="zh-CN" altLang="en-US" sz="1800">
                <a:solidFill>
                  <a:schemeClr val="tx1"/>
                </a:solidFill>
                <a:latin typeface="楷体" panose="02010609060101010101" pitchFamily="49" charset="-122"/>
                <a:ea typeface="楷体" panose="02010609060101010101" pitchFamily="49" charset="-122"/>
              </a:endParaRPr>
            </a:p>
          </p:txBody>
        </p:sp>
        <p:sp>
          <p:nvSpPr>
            <p:cNvPr id="4" name="Rectangle 4"/>
            <p:cNvSpPr>
              <a:spLocks noChangeArrowheads="1"/>
            </p:cNvSpPr>
            <p:nvPr/>
          </p:nvSpPr>
          <p:spPr bwMode="auto">
            <a:xfrm>
              <a:off x="249" y="1486"/>
              <a:ext cx="5353" cy="1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zh-CN" altLang="en-US" sz="2800">
                  <a:latin typeface="楷体" panose="02010609060101010101" pitchFamily="49" charset="-122"/>
                  <a:ea typeface="楷体" panose="02010609060101010101" pitchFamily="49" charset="-122"/>
                </a:rPr>
                <a:t>    串行数据传送是将构成字符的每个二进制数据位，按一定的顺序逐位进行传送的方式。</a:t>
              </a:r>
            </a:p>
            <a:p>
              <a:pPr eaLnBrk="1" hangingPunct="1">
                <a:spcBef>
                  <a:spcPct val="0"/>
                </a:spcBef>
                <a:buFontTx/>
                <a:buNone/>
              </a:pPr>
              <a:r>
                <a:rPr lang="zh-CN" altLang="en-US" sz="2800">
                  <a:latin typeface="楷体" panose="02010609060101010101" pitchFamily="49" charset="-122"/>
                  <a:ea typeface="楷体" panose="02010609060101010101" pitchFamily="49" charset="-122"/>
                </a:rPr>
                <a:t>    串行数据传送主要用于远程终端或经过公共电话网的计算机之间的通信。</a:t>
              </a:r>
            </a:p>
            <a:p>
              <a:pPr eaLnBrk="1" hangingPunct="1">
                <a:spcBef>
                  <a:spcPct val="0"/>
                </a:spcBef>
                <a:buFontTx/>
                <a:buNone/>
              </a:pPr>
              <a:r>
                <a:rPr lang="zh-CN" altLang="en-US" sz="2800">
                  <a:latin typeface="楷体" panose="02010609060101010101" pitchFamily="49" charset="-122"/>
                  <a:ea typeface="楷体" panose="02010609060101010101" pitchFamily="49" charset="-122"/>
                </a:rPr>
                <a:t>    远距离数据传送采用串行方式比较经济，但串行数据传送比并行数据传送控制复杂。</a:t>
              </a:r>
              <a:endParaRPr lang="en-US" altLang="zh-CN" sz="2800">
                <a:latin typeface="楷体" panose="02010609060101010101" pitchFamily="49" charset="-122"/>
                <a:ea typeface="楷体" panose="02010609060101010101" pitchFamily="49" charset="-122"/>
              </a:endParaRPr>
            </a:p>
          </p:txBody>
        </p:sp>
        <p:grpSp>
          <p:nvGrpSpPr>
            <p:cNvPr id="5" name="Group 5"/>
            <p:cNvGrpSpPr>
              <a:grpSpLocks/>
            </p:cNvGrpSpPr>
            <p:nvPr/>
          </p:nvGrpSpPr>
          <p:grpSpPr bwMode="auto">
            <a:xfrm>
              <a:off x="294" y="935"/>
              <a:ext cx="5241" cy="453"/>
              <a:chOff x="340" y="1162"/>
              <a:chExt cx="5241" cy="453"/>
            </a:xfrm>
          </p:grpSpPr>
          <p:grpSp>
            <p:nvGrpSpPr>
              <p:cNvPr id="6" name="Group 22"/>
              <p:cNvGrpSpPr>
                <a:grpSpLocks/>
              </p:cNvGrpSpPr>
              <p:nvPr/>
            </p:nvGrpSpPr>
            <p:grpSpPr bwMode="auto">
              <a:xfrm>
                <a:off x="340" y="1162"/>
                <a:ext cx="5241" cy="453"/>
                <a:chOff x="266" y="1248"/>
                <a:chExt cx="5304" cy="672"/>
              </a:xfrm>
            </p:grpSpPr>
            <p:sp>
              <p:nvSpPr>
                <p:cNvPr id="8"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zh-CN" sz="2800">
                    <a:latin typeface="楷体" panose="02010609060101010101" pitchFamily="49" charset="-122"/>
                    <a:ea typeface="楷体" panose="02010609060101010101" pitchFamily="49" charset="-122"/>
                    <a:cs typeface="Times New Roman" panose="02020603050405020304" pitchFamily="18" charset="0"/>
                  </a:endParaRPr>
                </a:p>
              </p:txBody>
            </p:sp>
            <p:pic>
              <p:nvPicPr>
                <p:cNvPr id="9"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Rectangle 9"/>
              <p:cNvSpPr>
                <a:spLocks noChangeArrowheads="1"/>
              </p:cNvSpPr>
              <p:nvPr/>
            </p:nvSpPr>
            <p:spPr bwMode="auto">
              <a:xfrm>
                <a:off x="793" y="1162"/>
                <a:ext cx="203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5000"/>
                  </a:lnSpc>
                  <a:spcBef>
                    <a:spcPct val="50000"/>
                  </a:spcBef>
                  <a:buFontTx/>
                  <a:buNone/>
                </a:pPr>
                <a:r>
                  <a:rPr kumimoji="1" lang="zh-CN" altLang="en-US" sz="2800">
                    <a:latin typeface="楷体" panose="02010609060101010101" pitchFamily="49" charset="-122"/>
                    <a:ea typeface="楷体" panose="02010609060101010101" pitchFamily="49" charset="-122"/>
                  </a:rPr>
                  <a:t>（</a:t>
                </a:r>
                <a:r>
                  <a:rPr kumimoji="1" lang="en-US" altLang="zh-CN" sz="2800">
                    <a:latin typeface="楷体" panose="02010609060101010101" pitchFamily="49" charset="-122"/>
                    <a:ea typeface="楷体" panose="02010609060101010101" pitchFamily="49" charset="-122"/>
                  </a:rPr>
                  <a:t>2</a:t>
                </a:r>
                <a:r>
                  <a:rPr kumimoji="1" lang="zh-CN" altLang="en-US" sz="2800">
                    <a:latin typeface="楷体" panose="02010609060101010101" pitchFamily="49" charset="-122"/>
                    <a:ea typeface="楷体" panose="02010609060101010101" pitchFamily="49" charset="-122"/>
                  </a:rPr>
                  <a:t>）</a:t>
                </a:r>
                <a:r>
                  <a:rPr lang="zh-CN" altLang="en-US" sz="2800">
                    <a:latin typeface="楷体" panose="02010609060101010101" pitchFamily="49" charset="-122"/>
                    <a:ea typeface="楷体" panose="02010609060101010101" pitchFamily="49" charset="-122"/>
                  </a:rPr>
                  <a:t>串行数据传送</a:t>
                </a:r>
              </a:p>
            </p:txBody>
          </p:sp>
        </p:grpSp>
      </p:grpSp>
    </p:spTree>
    <p:extLst>
      <p:ext uri="{BB962C8B-B14F-4D97-AF65-F5344CB8AC3E}">
        <p14:creationId xmlns:p14="http://schemas.microsoft.com/office/powerpoint/2010/main" val="106201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4"/>
          <p:cNvSpPr>
            <a:spLocks/>
          </p:cNvSpPr>
          <p:nvPr/>
        </p:nvSpPr>
        <p:spPr bwMode="auto">
          <a:xfrm>
            <a:off x="395288" y="1238250"/>
            <a:ext cx="835342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r>
              <a:rPr lang="zh-CN" altLang="en-US" sz="2800" dirty="0">
                <a:latin typeface="楷体" panose="02010609060101010101" pitchFamily="49" charset="-122"/>
                <a:ea typeface="楷体" panose="02010609060101010101" pitchFamily="49" charset="-122"/>
              </a:rPr>
              <a:t>异步串行通信协议规定字符数据的传送格式： </a:t>
            </a:r>
          </a:p>
        </p:txBody>
      </p:sp>
      <p:sp>
        <p:nvSpPr>
          <p:cNvPr id="3" name="Rectangle 3"/>
          <p:cNvSpPr>
            <a:spLocks noChangeArrowheads="1"/>
          </p:cNvSpPr>
          <p:nvPr/>
        </p:nvSpPr>
        <p:spPr bwMode="auto">
          <a:xfrm>
            <a:off x="0" y="2610178"/>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2800">
              <a:solidFill>
                <a:schemeClr val="tx2"/>
              </a:solidFill>
              <a:latin typeface="楷体" panose="02010609060101010101" pitchFamily="49" charset="-122"/>
              <a:ea typeface="楷体" panose="02010609060101010101" pitchFamily="49" charset="-122"/>
            </a:endParaRPr>
          </a:p>
        </p:txBody>
      </p:sp>
      <p:grpSp>
        <p:nvGrpSpPr>
          <p:cNvPr id="4" name="Group 4"/>
          <p:cNvGrpSpPr>
            <a:grpSpLocks/>
          </p:cNvGrpSpPr>
          <p:nvPr/>
        </p:nvGrpSpPr>
        <p:grpSpPr bwMode="auto">
          <a:xfrm>
            <a:off x="468313" y="1916113"/>
            <a:ext cx="8280400" cy="2663825"/>
            <a:chOff x="249" y="890"/>
            <a:chExt cx="5216" cy="1678"/>
          </a:xfrm>
        </p:grpSpPr>
        <p:graphicFrame>
          <p:nvGraphicFramePr>
            <p:cNvPr id="5" name="Object 5"/>
            <p:cNvGraphicFramePr>
              <a:graphicFrameLocks noChangeAspect="1"/>
            </p:cNvGraphicFramePr>
            <p:nvPr/>
          </p:nvGraphicFramePr>
          <p:xfrm>
            <a:off x="249" y="890"/>
            <a:ext cx="5216" cy="1406"/>
          </p:xfrm>
          <a:graphic>
            <a:graphicData uri="http://schemas.openxmlformats.org/presentationml/2006/ole">
              <mc:AlternateContent xmlns:mc="http://schemas.openxmlformats.org/markup-compatibility/2006">
                <mc:Choice xmlns:v="urn:schemas-microsoft-com:vml" Requires="v">
                  <p:oleObj spid="_x0000_s1038" name="位图图像" r:id="rId3" imgW="4095238" imgH="1114581" progId="Paint.Picture">
                    <p:embed/>
                  </p:oleObj>
                </mc:Choice>
                <mc:Fallback>
                  <p:oleObj name="位图图像" r:id="rId3" imgW="4095238" imgH="1114581" progId="Paint.Picture">
                    <p:embed/>
                    <p:pic>
                      <p:nvPicPr>
                        <p:cNvPr id="51207" name="Object 5"/>
                        <p:cNvPicPr>
                          <a:picLocks noChangeAspect="1" noChangeArrowheads="1"/>
                        </p:cNvPicPr>
                        <p:nvPr/>
                      </p:nvPicPr>
                      <p:blipFill>
                        <a:blip r:embed="rId4">
                          <a:lum contrast="28000"/>
                          <a:extLst>
                            <a:ext uri="{28A0092B-C50C-407E-A947-70E740481C1C}">
                              <a14:useLocalDpi xmlns:a14="http://schemas.microsoft.com/office/drawing/2010/main" val="0"/>
                            </a:ext>
                          </a:extLst>
                        </a:blip>
                        <a:srcRect/>
                        <a:stretch>
                          <a:fillRect/>
                        </a:stretch>
                      </p:blipFill>
                      <p:spPr bwMode="auto">
                        <a:xfrm>
                          <a:off x="249" y="890"/>
                          <a:ext cx="5216"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6"/>
            <p:cNvSpPr txBox="1">
              <a:spLocks noChangeArrowheads="1"/>
            </p:cNvSpPr>
            <p:nvPr/>
          </p:nvSpPr>
          <p:spPr bwMode="auto">
            <a:xfrm>
              <a:off x="1429" y="2251"/>
              <a:ext cx="11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endParaRPr lang="zh-CN" altLang="en-US" sz="2700">
                <a:latin typeface="楷体" panose="02010609060101010101" pitchFamily="49" charset="-122"/>
                <a:ea typeface="楷体" panose="02010609060101010101" pitchFamily="49" charset="-122"/>
              </a:endParaRPr>
            </a:p>
          </p:txBody>
        </p:sp>
      </p:grpSp>
      <p:sp>
        <p:nvSpPr>
          <p:cNvPr id="7" name="Text Box 7"/>
          <p:cNvSpPr txBox="1">
            <a:spLocks noChangeArrowheads="1"/>
          </p:cNvSpPr>
          <p:nvPr/>
        </p:nvSpPr>
        <p:spPr bwMode="auto">
          <a:xfrm>
            <a:off x="222250" y="4468813"/>
            <a:ext cx="8921750"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dirty="0">
                <a:latin typeface="楷体" panose="02010609060101010101" pitchFamily="49" charset="-122"/>
                <a:ea typeface="楷体" panose="02010609060101010101" pitchFamily="49" charset="-122"/>
              </a:rPr>
              <a:t>     异步串行通信中，接收设备和发送设备必须保持相同的传送</a:t>
            </a:r>
            <a:r>
              <a:rPr lang="zh-CN" altLang="en-US" sz="2700" dirty="0">
                <a:solidFill>
                  <a:srgbClr val="FF0000"/>
                </a:solidFill>
                <a:latin typeface="楷体" panose="02010609060101010101" pitchFamily="49" charset="-122"/>
                <a:ea typeface="楷体" panose="02010609060101010101" pitchFamily="49" charset="-122"/>
              </a:rPr>
              <a:t>波特率</a:t>
            </a:r>
            <a:r>
              <a:rPr lang="zh-CN" altLang="en-US" sz="2700" dirty="0">
                <a:latin typeface="楷体" panose="02010609060101010101" pitchFamily="49" charset="-122"/>
                <a:ea typeface="楷体" panose="02010609060101010101" pitchFamily="49" charset="-122"/>
              </a:rPr>
              <a:t>，并与每个字符数据的起始位同步。</a:t>
            </a:r>
          </a:p>
          <a:p>
            <a:pPr eaLnBrk="1" fontAlgn="b" hangingPunct="1">
              <a:buClr>
                <a:srgbClr val="0BD0D9"/>
              </a:buClr>
              <a:buSzPct val="95000"/>
              <a:buFont typeface="Wingdings 2" panose="05020102010507070707" pitchFamily="18" charset="2"/>
              <a:buNone/>
            </a:pPr>
            <a:r>
              <a:rPr lang="zh-CN" altLang="en-US" sz="2700" dirty="0">
                <a:latin typeface="楷体" panose="02010609060101010101" pitchFamily="49" charset="-122"/>
                <a:ea typeface="楷体" panose="02010609060101010101" pitchFamily="49" charset="-122"/>
              </a:rPr>
              <a:t>    起始位、数据位、奇偶位和停止位约定，在同一</a:t>
            </a:r>
          </a:p>
          <a:p>
            <a:pPr eaLnBrk="1" fontAlgn="b" hangingPunct="1">
              <a:buClr>
                <a:srgbClr val="0BD0D9"/>
              </a:buClr>
              <a:buSzPct val="95000"/>
              <a:buFont typeface="Wingdings 2" panose="05020102010507070707" pitchFamily="18" charset="2"/>
              <a:buNone/>
            </a:pPr>
            <a:r>
              <a:rPr lang="zh-CN" altLang="en-US" sz="2700" dirty="0">
                <a:latin typeface="楷体" panose="02010609060101010101" pitchFamily="49" charset="-122"/>
                <a:ea typeface="楷体" panose="02010609060101010101" pitchFamily="49" charset="-122"/>
              </a:rPr>
              <a:t>次传送过程中必须保持一致。 </a:t>
            </a:r>
          </a:p>
        </p:txBody>
      </p:sp>
    </p:spTree>
    <p:extLst>
      <p:ext uri="{BB962C8B-B14F-4D97-AF65-F5344CB8AC3E}">
        <p14:creationId xmlns:p14="http://schemas.microsoft.com/office/powerpoint/2010/main" val="121799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539750" y="1196975"/>
            <a:ext cx="828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kumimoji="1" lang="en-US" altLang="zh-CN" sz="2800">
                <a:latin typeface="楷体" panose="02010609060101010101" pitchFamily="49" charset="-122"/>
                <a:ea typeface="楷体" panose="02010609060101010101" pitchFamily="49" charset="-122"/>
              </a:rPr>
              <a:t>2.</a:t>
            </a:r>
            <a:r>
              <a:rPr lang="zh-CN" altLang="en-US" sz="2800">
                <a:latin typeface="楷体" panose="02010609060101010101" pitchFamily="49" charset="-122"/>
                <a:ea typeface="楷体" panose="02010609060101010101" pitchFamily="49" charset="-122"/>
              </a:rPr>
              <a:t> 传送控制方式</a:t>
            </a:r>
            <a:r>
              <a:rPr lang="zh-CN" altLang="en-US" sz="2800">
                <a:solidFill>
                  <a:schemeClr val="tx2"/>
                </a:solidFill>
                <a:latin typeface="楷体" panose="02010609060101010101" pitchFamily="49" charset="-122"/>
                <a:ea typeface="楷体" panose="02010609060101010101" pitchFamily="49" charset="-122"/>
              </a:rPr>
              <a:t> </a:t>
            </a:r>
            <a:endParaRPr lang="en-US" altLang="zh-CN" sz="2800">
              <a:solidFill>
                <a:schemeClr val="tx2"/>
              </a:solidFill>
              <a:latin typeface="楷体" panose="02010609060101010101" pitchFamily="49" charset="-122"/>
              <a:ea typeface="楷体" panose="02010609060101010101" pitchFamily="49" charset="-122"/>
            </a:endParaRPr>
          </a:p>
        </p:txBody>
      </p:sp>
      <p:sp>
        <p:nvSpPr>
          <p:cNvPr id="3" name="Text Box 11"/>
          <p:cNvSpPr txBox="1">
            <a:spLocks noChangeArrowheads="1"/>
          </p:cNvSpPr>
          <p:nvPr/>
        </p:nvSpPr>
        <p:spPr bwMode="auto">
          <a:xfrm>
            <a:off x="525463" y="1701800"/>
            <a:ext cx="83677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30000"/>
              </a:lnSpc>
              <a:buClr>
                <a:srgbClr val="0BD0D9"/>
              </a:buClr>
              <a:buSzPct val="95000"/>
              <a:buFont typeface="Wingdings 2" panose="05020102010507070707" pitchFamily="18" charset="2"/>
              <a:buNone/>
            </a:pPr>
            <a:r>
              <a:rPr lang="zh-CN" altLang="en-US" sz="2800">
                <a:latin typeface="楷体" panose="02010609060101010101" pitchFamily="49" charset="-122"/>
                <a:ea typeface="楷体" panose="02010609060101010101" pitchFamily="49" charset="-122"/>
              </a:rPr>
              <a:t>传送控制方式有</a:t>
            </a:r>
            <a:r>
              <a:rPr lang="zh-CN" altLang="en-US" sz="2800">
                <a:solidFill>
                  <a:srgbClr val="FF0066"/>
                </a:solidFill>
                <a:latin typeface="楷体" panose="02010609060101010101" pitchFamily="49" charset="-122"/>
                <a:ea typeface="楷体" panose="02010609060101010101" pitchFamily="49" charset="-122"/>
              </a:rPr>
              <a:t>查询</a:t>
            </a:r>
            <a:r>
              <a:rPr lang="zh-CN" altLang="en-US" sz="2800">
                <a:latin typeface="楷体" panose="02010609060101010101" pitchFamily="49" charset="-122"/>
                <a:ea typeface="楷体" panose="02010609060101010101" pitchFamily="49" charset="-122"/>
              </a:rPr>
              <a:t>、</a:t>
            </a:r>
            <a:r>
              <a:rPr lang="zh-CN" altLang="en-US" sz="2800">
                <a:solidFill>
                  <a:srgbClr val="FF0066"/>
                </a:solidFill>
                <a:latin typeface="楷体" panose="02010609060101010101" pitchFamily="49" charset="-122"/>
                <a:ea typeface="楷体" panose="02010609060101010101" pitchFamily="49" charset="-122"/>
              </a:rPr>
              <a:t>中断</a:t>
            </a:r>
            <a:r>
              <a:rPr lang="zh-CN" altLang="en-US" sz="2800">
                <a:latin typeface="楷体" panose="02010609060101010101" pitchFamily="49" charset="-122"/>
                <a:ea typeface="楷体" panose="02010609060101010101" pitchFamily="49" charset="-122"/>
              </a:rPr>
              <a:t>和</a:t>
            </a:r>
            <a:r>
              <a:rPr lang="en-US" altLang="zh-CN" sz="2800">
                <a:solidFill>
                  <a:srgbClr val="FF0066"/>
                </a:solidFill>
                <a:latin typeface="楷体" panose="02010609060101010101" pitchFamily="49" charset="-122"/>
                <a:ea typeface="楷体" panose="02010609060101010101" pitchFamily="49" charset="-122"/>
              </a:rPr>
              <a:t>DMA</a:t>
            </a:r>
            <a:r>
              <a:rPr lang="en-US" altLang="zh-CN" sz="2800">
                <a:latin typeface="楷体" panose="02010609060101010101" pitchFamily="49" charset="-122"/>
                <a:ea typeface="楷体" panose="02010609060101010101" pitchFamily="49" charset="-122"/>
              </a:rPr>
              <a:t>3</a:t>
            </a:r>
            <a:r>
              <a:rPr lang="zh-CN" altLang="en-US" sz="2800">
                <a:latin typeface="楷体" panose="02010609060101010101" pitchFamily="49" charset="-122"/>
                <a:ea typeface="楷体" panose="02010609060101010101" pitchFamily="49" charset="-122"/>
              </a:rPr>
              <a:t>种。</a:t>
            </a:r>
          </a:p>
        </p:txBody>
      </p:sp>
      <p:grpSp>
        <p:nvGrpSpPr>
          <p:cNvPr id="4" name="Group 15"/>
          <p:cNvGrpSpPr>
            <a:grpSpLocks/>
          </p:cNvGrpSpPr>
          <p:nvPr/>
        </p:nvGrpSpPr>
        <p:grpSpPr bwMode="auto">
          <a:xfrm>
            <a:off x="395288" y="2420938"/>
            <a:ext cx="8424862" cy="3168650"/>
            <a:chOff x="249" y="1525"/>
            <a:chExt cx="5307" cy="1996"/>
          </a:xfrm>
        </p:grpSpPr>
        <p:sp>
          <p:nvSpPr>
            <p:cNvPr id="5" name="AutoShape 72">
              <a:extLst>
                <a:ext uri="{FF2B5EF4-FFF2-40B4-BE49-F238E27FC236}">
                  <a16:creationId xmlns:a16="http://schemas.microsoft.com/office/drawing/2014/main" id="{9D4AD59D-3B2E-4D2D-B064-007002457963}"/>
                </a:ext>
              </a:extLst>
            </p:cNvPr>
            <p:cNvSpPr>
              <a:spLocks noChangeArrowheads="1"/>
            </p:cNvSpPr>
            <p:nvPr/>
          </p:nvSpPr>
          <p:spPr bwMode="auto">
            <a:xfrm>
              <a:off x="305" y="1579"/>
              <a:ext cx="5220" cy="1942"/>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headEnd/>
              <a:tailE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spcBef>
                  <a:spcPts val="0"/>
                </a:spcBef>
                <a:spcAft>
                  <a:spcPts val="0"/>
                </a:spcAft>
                <a:defRPr/>
              </a:pPr>
              <a:endParaRPr lang="zh-CN" altLang="en-US" sz="1800">
                <a:solidFill>
                  <a:schemeClr val="tx1"/>
                </a:solidFill>
                <a:latin typeface="楷体" panose="02010609060101010101" pitchFamily="49" charset="-122"/>
                <a:ea typeface="楷体" panose="02010609060101010101" pitchFamily="49" charset="-122"/>
              </a:endParaRPr>
            </a:p>
          </p:txBody>
        </p:sp>
        <p:grpSp>
          <p:nvGrpSpPr>
            <p:cNvPr id="6" name="Group 5"/>
            <p:cNvGrpSpPr>
              <a:grpSpLocks/>
            </p:cNvGrpSpPr>
            <p:nvPr/>
          </p:nvGrpSpPr>
          <p:grpSpPr bwMode="auto">
            <a:xfrm>
              <a:off x="294" y="1525"/>
              <a:ext cx="5241" cy="453"/>
              <a:chOff x="340" y="1162"/>
              <a:chExt cx="5241" cy="453"/>
            </a:xfrm>
          </p:grpSpPr>
          <p:grpSp>
            <p:nvGrpSpPr>
              <p:cNvPr id="8" name="Group 22"/>
              <p:cNvGrpSpPr>
                <a:grpSpLocks/>
              </p:cNvGrpSpPr>
              <p:nvPr/>
            </p:nvGrpSpPr>
            <p:grpSpPr bwMode="auto">
              <a:xfrm>
                <a:off x="340" y="1162"/>
                <a:ext cx="5241" cy="453"/>
                <a:chOff x="266" y="1248"/>
                <a:chExt cx="5304" cy="672"/>
              </a:xfrm>
            </p:grpSpPr>
            <p:sp>
              <p:nvSpPr>
                <p:cNvPr id="10"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zh-CN" sz="2800">
                    <a:latin typeface="楷体" panose="02010609060101010101" pitchFamily="49" charset="-122"/>
                    <a:ea typeface="楷体" panose="02010609060101010101" pitchFamily="49" charset="-122"/>
                    <a:cs typeface="Times New Roman" panose="02020603050405020304" pitchFamily="18" charset="0"/>
                  </a:endParaRPr>
                </a:p>
              </p:txBody>
            </p:sp>
            <p:pic>
              <p:nvPicPr>
                <p:cNvPr id="11"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Rectangle 9"/>
              <p:cNvSpPr>
                <a:spLocks noChangeArrowheads="1"/>
              </p:cNvSpPr>
              <p:nvPr/>
            </p:nvSpPr>
            <p:spPr bwMode="auto">
              <a:xfrm>
                <a:off x="793" y="1162"/>
                <a:ext cx="1572"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5000"/>
                  </a:lnSpc>
                  <a:spcBef>
                    <a:spcPct val="50000"/>
                  </a:spcBef>
                  <a:buFontTx/>
                  <a:buNone/>
                </a:pPr>
                <a:r>
                  <a:rPr kumimoji="1" lang="zh-CN" altLang="en-US" sz="2800">
                    <a:latin typeface="楷体" panose="02010609060101010101" pitchFamily="49" charset="-122"/>
                    <a:ea typeface="楷体" panose="02010609060101010101" pitchFamily="49" charset="-122"/>
                  </a:rPr>
                  <a:t>（</a:t>
                </a:r>
                <a:r>
                  <a:rPr kumimoji="1" lang="en-US" altLang="zh-CN" sz="2800">
                    <a:latin typeface="楷体" panose="02010609060101010101" pitchFamily="49" charset="-122"/>
                    <a:ea typeface="楷体" panose="02010609060101010101" pitchFamily="49" charset="-122"/>
                  </a:rPr>
                  <a:t>1</a:t>
                </a:r>
                <a:r>
                  <a:rPr kumimoji="1" lang="zh-CN" altLang="en-US" sz="2800">
                    <a:latin typeface="楷体" panose="02010609060101010101" pitchFamily="49" charset="-122"/>
                    <a:ea typeface="楷体" panose="02010609060101010101" pitchFamily="49" charset="-122"/>
                  </a:rPr>
                  <a:t>）</a:t>
                </a:r>
                <a:r>
                  <a:rPr lang="zh-CN" altLang="en-US" sz="2800">
                    <a:latin typeface="楷体" panose="02010609060101010101" pitchFamily="49" charset="-122"/>
                    <a:ea typeface="楷体" panose="02010609060101010101" pitchFamily="49" charset="-122"/>
                  </a:rPr>
                  <a:t>查询方式</a:t>
                </a:r>
              </a:p>
            </p:txBody>
          </p:sp>
        </p:grpSp>
        <p:sp>
          <p:nvSpPr>
            <p:cNvPr id="7" name="Text Box 12"/>
            <p:cNvSpPr txBox="1">
              <a:spLocks noChangeArrowheads="1"/>
            </p:cNvSpPr>
            <p:nvPr/>
          </p:nvSpPr>
          <p:spPr bwMode="auto">
            <a:xfrm>
              <a:off x="249" y="1933"/>
              <a:ext cx="5307" cy="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20000"/>
                </a:lnSpc>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查询方式是中央处理器在数据传送之前通过接口的状态设置存储电路询问外设，待外设允许传送数据后才传送数据的操作方式。</a:t>
              </a:r>
            </a:p>
          </p:txBody>
        </p:sp>
      </p:grpSp>
    </p:spTree>
    <p:extLst>
      <p:ext uri="{BB962C8B-B14F-4D97-AF65-F5344CB8AC3E}">
        <p14:creationId xmlns:p14="http://schemas.microsoft.com/office/powerpoint/2010/main" val="259278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000"/>
                                        <p:tgtEl>
                                          <p:spTgt spid="3"/>
                                        </p:tgtEl>
                                      </p:cBhvr>
                                    </p:animEffect>
                                  </p:childTnLst>
                                </p:cTn>
                              </p:par>
                            </p:childTnLst>
                          </p:cTn>
                        </p:par>
                        <p:par>
                          <p:cTn id="12" fill="hold">
                            <p:stCondLst>
                              <p:cond delay="4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539750" y="1196975"/>
            <a:ext cx="828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kumimoji="1" lang="en-US" altLang="zh-CN" sz="2800">
                <a:latin typeface="楷体" panose="02010609060101010101" pitchFamily="49" charset="-122"/>
                <a:ea typeface="楷体" panose="02010609060101010101" pitchFamily="49" charset="-122"/>
              </a:rPr>
              <a:t>2.</a:t>
            </a:r>
            <a:r>
              <a:rPr lang="zh-CN" altLang="en-US" sz="2800">
                <a:latin typeface="楷体" panose="02010609060101010101" pitchFamily="49" charset="-122"/>
                <a:ea typeface="楷体" panose="02010609060101010101" pitchFamily="49" charset="-122"/>
              </a:rPr>
              <a:t> 传送控制方式</a:t>
            </a:r>
            <a:r>
              <a:rPr lang="zh-CN" altLang="en-US" sz="2800">
                <a:solidFill>
                  <a:schemeClr val="tx2"/>
                </a:solidFill>
                <a:latin typeface="楷体" panose="02010609060101010101" pitchFamily="49" charset="-122"/>
                <a:ea typeface="楷体" panose="02010609060101010101" pitchFamily="49" charset="-122"/>
              </a:rPr>
              <a:t> </a:t>
            </a:r>
            <a:endParaRPr lang="en-US" altLang="zh-CN" sz="2800">
              <a:solidFill>
                <a:schemeClr val="tx2"/>
              </a:solidFill>
              <a:latin typeface="楷体" panose="02010609060101010101" pitchFamily="49" charset="-122"/>
              <a:ea typeface="楷体" panose="02010609060101010101" pitchFamily="49" charset="-122"/>
            </a:endParaRPr>
          </a:p>
        </p:txBody>
      </p:sp>
      <p:sp>
        <p:nvSpPr>
          <p:cNvPr id="3" name="AutoShape 72">
            <a:extLst>
              <a:ext uri="{FF2B5EF4-FFF2-40B4-BE49-F238E27FC236}">
                <a16:creationId xmlns:a16="http://schemas.microsoft.com/office/drawing/2014/main" id="{BF7DF071-193C-46FE-8D18-E393D543CB32}"/>
              </a:ext>
            </a:extLst>
          </p:cNvPr>
          <p:cNvSpPr>
            <a:spLocks noChangeArrowheads="1"/>
          </p:cNvSpPr>
          <p:nvPr/>
        </p:nvSpPr>
        <p:spPr bwMode="auto">
          <a:xfrm>
            <a:off x="484188" y="2508250"/>
            <a:ext cx="8286750" cy="3441700"/>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headEnd/>
            <a:tailE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spcBef>
                <a:spcPts val="0"/>
              </a:spcBef>
              <a:spcAft>
                <a:spcPts val="0"/>
              </a:spcAft>
              <a:defRPr/>
            </a:pPr>
            <a:endParaRPr lang="zh-CN" altLang="en-US" sz="1800">
              <a:solidFill>
                <a:schemeClr val="tx1"/>
              </a:solidFill>
              <a:latin typeface="楷体" panose="02010609060101010101" pitchFamily="49" charset="-122"/>
              <a:ea typeface="楷体" panose="02010609060101010101" pitchFamily="49" charset="-122"/>
            </a:endParaRPr>
          </a:p>
        </p:txBody>
      </p:sp>
      <p:grpSp>
        <p:nvGrpSpPr>
          <p:cNvPr id="4" name="Group 4"/>
          <p:cNvGrpSpPr>
            <a:grpSpLocks/>
          </p:cNvGrpSpPr>
          <p:nvPr/>
        </p:nvGrpSpPr>
        <p:grpSpPr bwMode="auto">
          <a:xfrm>
            <a:off x="466725" y="2422525"/>
            <a:ext cx="8320088" cy="719138"/>
            <a:chOff x="340" y="1162"/>
            <a:chExt cx="5241" cy="453"/>
          </a:xfrm>
        </p:grpSpPr>
        <p:grpSp>
          <p:nvGrpSpPr>
            <p:cNvPr id="5" name="Group 22"/>
            <p:cNvGrpSpPr>
              <a:grpSpLocks/>
            </p:cNvGrpSpPr>
            <p:nvPr/>
          </p:nvGrpSpPr>
          <p:grpSpPr bwMode="auto">
            <a:xfrm>
              <a:off x="340" y="1162"/>
              <a:ext cx="5241" cy="453"/>
              <a:chOff x="266" y="1248"/>
              <a:chExt cx="5304" cy="672"/>
            </a:xfrm>
          </p:grpSpPr>
          <p:sp>
            <p:nvSpPr>
              <p:cNvPr id="7"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zh-CN" sz="2800">
                  <a:latin typeface="楷体" panose="02010609060101010101" pitchFamily="49" charset="-122"/>
                  <a:ea typeface="楷体" panose="02010609060101010101" pitchFamily="49" charset="-122"/>
                  <a:cs typeface="Times New Roman" panose="02020603050405020304" pitchFamily="18" charset="0"/>
                </a:endParaRPr>
              </a:p>
            </p:txBody>
          </p:sp>
          <p:pic>
            <p:nvPicPr>
              <p:cNvPr id="8"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Rectangle 8"/>
            <p:cNvSpPr>
              <a:spLocks noChangeArrowheads="1"/>
            </p:cNvSpPr>
            <p:nvPr/>
          </p:nvSpPr>
          <p:spPr bwMode="auto">
            <a:xfrm>
              <a:off x="793" y="1162"/>
              <a:ext cx="1572"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5000"/>
                </a:lnSpc>
                <a:spcBef>
                  <a:spcPct val="50000"/>
                </a:spcBef>
                <a:buFontTx/>
                <a:buNone/>
              </a:pPr>
              <a:r>
                <a:rPr kumimoji="1" lang="zh-CN" altLang="en-US" sz="2800">
                  <a:latin typeface="楷体" panose="02010609060101010101" pitchFamily="49" charset="-122"/>
                  <a:ea typeface="楷体" panose="02010609060101010101" pitchFamily="49" charset="-122"/>
                </a:rPr>
                <a:t>（</a:t>
              </a:r>
              <a:r>
                <a:rPr kumimoji="1" lang="en-US" altLang="zh-CN" sz="2800">
                  <a:latin typeface="楷体" panose="02010609060101010101" pitchFamily="49" charset="-122"/>
                  <a:ea typeface="楷体" panose="02010609060101010101" pitchFamily="49" charset="-122"/>
                </a:rPr>
                <a:t>1</a:t>
              </a:r>
              <a:r>
                <a:rPr kumimoji="1" lang="zh-CN" altLang="en-US" sz="2800">
                  <a:latin typeface="楷体" panose="02010609060101010101" pitchFamily="49" charset="-122"/>
                  <a:ea typeface="楷体" panose="02010609060101010101" pitchFamily="49" charset="-122"/>
                </a:rPr>
                <a:t>）</a:t>
              </a:r>
              <a:r>
                <a:rPr lang="zh-CN" altLang="en-US" sz="2800">
                  <a:latin typeface="楷体" panose="02010609060101010101" pitchFamily="49" charset="-122"/>
                  <a:ea typeface="楷体" panose="02010609060101010101" pitchFamily="49" charset="-122"/>
                </a:rPr>
                <a:t>查询方式</a:t>
              </a:r>
            </a:p>
          </p:txBody>
        </p:sp>
      </p:grpSp>
      <p:sp>
        <p:nvSpPr>
          <p:cNvPr id="9" name="Text Box 12"/>
          <p:cNvSpPr txBox="1">
            <a:spLocks noChangeArrowheads="1"/>
          </p:cNvSpPr>
          <p:nvPr/>
        </p:nvSpPr>
        <p:spPr bwMode="auto">
          <a:xfrm>
            <a:off x="611188" y="3287713"/>
            <a:ext cx="8243887"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在查询方式下，</a:t>
            </a:r>
            <a:r>
              <a:rPr lang="en-US" altLang="zh-CN" sz="2700">
                <a:latin typeface="楷体" panose="02010609060101010101" pitchFamily="49" charset="-122"/>
                <a:ea typeface="楷体" panose="02010609060101010101" pitchFamily="49" charset="-122"/>
              </a:rPr>
              <a:t>CPU</a:t>
            </a:r>
            <a:r>
              <a:rPr lang="zh-CN" altLang="en-US" sz="2700">
                <a:latin typeface="楷体" panose="02010609060101010101" pitchFamily="49" charset="-122"/>
                <a:ea typeface="楷体" panose="02010609060101010101" pitchFamily="49" charset="-122"/>
              </a:rPr>
              <a:t>需要完成以下操作：</a:t>
            </a:r>
          </a:p>
          <a:p>
            <a:pPr eaLnBrk="1" fontAlgn="b" hangingPunct="1">
              <a:buClr>
                <a:srgbClr val="0BD0D9"/>
              </a:buClr>
              <a:buSzPct val="95000"/>
              <a:buFont typeface="Wingdings 2" panose="05020102010507070707" pitchFamily="18" charset="2"/>
              <a:buNone/>
            </a:pPr>
            <a:r>
              <a:rPr lang="en-US" altLang="zh-CN" sz="2700">
                <a:latin typeface="楷体" panose="02010609060101010101" pitchFamily="49" charset="-122"/>
                <a:ea typeface="楷体" panose="02010609060101010101" pitchFamily="49" charset="-122"/>
              </a:rPr>
              <a:t>(1)CPU</a:t>
            </a:r>
            <a:r>
              <a:rPr lang="zh-CN" altLang="en-US" sz="2700">
                <a:latin typeface="楷体" panose="02010609060101010101" pitchFamily="49" charset="-122"/>
                <a:ea typeface="楷体" panose="02010609060101010101" pitchFamily="49" charset="-122"/>
              </a:rPr>
              <a:t>向接口发出传送命令，输入数据或输出数据；</a:t>
            </a:r>
          </a:p>
          <a:p>
            <a:pPr eaLnBrk="1" fontAlgn="b" hangingPunct="1">
              <a:buClr>
                <a:srgbClr val="0BD0D9"/>
              </a:buClr>
              <a:buSzPct val="95000"/>
              <a:buFont typeface="Wingdings 2" panose="05020102010507070707" pitchFamily="18" charset="2"/>
              <a:buNone/>
            </a:pPr>
            <a:r>
              <a:rPr lang="en-US" altLang="zh-CN" sz="2700">
                <a:latin typeface="楷体" panose="02010609060101010101" pitchFamily="49" charset="-122"/>
                <a:ea typeface="楷体" panose="02010609060101010101" pitchFamily="49" charset="-122"/>
              </a:rPr>
              <a:t>(2)</a:t>
            </a:r>
            <a:r>
              <a:rPr lang="zh-CN" altLang="en-US" sz="2700">
                <a:latin typeface="楷体" panose="02010609060101010101" pitchFamily="49" charset="-122"/>
                <a:ea typeface="楷体" panose="02010609060101010101" pitchFamily="49" charset="-122"/>
              </a:rPr>
              <a:t>中央处理器查询外设是否允许传送？ </a:t>
            </a:r>
          </a:p>
        </p:txBody>
      </p:sp>
      <p:sp>
        <p:nvSpPr>
          <p:cNvPr id="10" name="Text Box 13"/>
          <p:cNvSpPr txBox="1">
            <a:spLocks noChangeArrowheads="1"/>
          </p:cNvSpPr>
          <p:nvPr/>
        </p:nvSpPr>
        <p:spPr bwMode="auto">
          <a:xfrm>
            <a:off x="344488" y="4943475"/>
            <a:ext cx="841375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zh-CN" altLang="en-US" sz="2700">
                <a:solidFill>
                  <a:srgbClr val="FF0066"/>
                </a:solidFill>
                <a:latin typeface="楷体" panose="02010609060101010101" pitchFamily="49" charset="-122"/>
                <a:ea typeface="楷体" panose="02010609060101010101" pitchFamily="49" charset="-122"/>
              </a:rPr>
              <a:t>在查询方式下，中央处理器需要花费较多的时间去不</a:t>
            </a:r>
          </a:p>
          <a:p>
            <a:pPr eaLnBrk="1" fontAlgn="b" hangingPunct="1">
              <a:buClr>
                <a:srgbClr val="0BD0D9"/>
              </a:buClr>
              <a:buSzPct val="95000"/>
              <a:buFont typeface="Wingdings 2" panose="05020102010507070707" pitchFamily="18" charset="2"/>
              <a:buNone/>
            </a:pPr>
            <a:r>
              <a:rPr lang="zh-CN" altLang="en-US" sz="2700">
                <a:solidFill>
                  <a:srgbClr val="FF0066"/>
                </a:solidFill>
                <a:latin typeface="楷体" panose="02010609060101010101" pitchFamily="49" charset="-122"/>
                <a:ea typeface="楷体" panose="02010609060101010101" pitchFamily="49" charset="-122"/>
              </a:rPr>
              <a:t>断地“询问” 外设，外设的接口电路处于被动状态。 </a:t>
            </a:r>
          </a:p>
        </p:txBody>
      </p:sp>
      <p:sp>
        <p:nvSpPr>
          <p:cNvPr id="11" name="Text Box 14"/>
          <p:cNvSpPr txBox="1">
            <a:spLocks noChangeArrowheads="1"/>
          </p:cNvSpPr>
          <p:nvPr/>
        </p:nvSpPr>
        <p:spPr bwMode="auto">
          <a:xfrm>
            <a:off x="525463" y="1701800"/>
            <a:ext cx="83677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30000"/>
              </a:lnSpc>
              <a:buClr>
                <a:srgbClr val="0BD0D9"/>
              </a:buClr>
              <a:buSzPct val="95000"/>
              <a:buFont typeface="Wingdings 2" panose="05020102010507070707" pitchFamily="18" charset="2"/>
              <a:buNone/>
            </a:pPr>
            <a:r>
              <a:rPr lang="zh-CN" altLang="en-US" sz="2800">
                <a:latin typeface="楷体" panose="02010609060101010101" pitchFamily="49" charset="-122"/>
                <a:ea typeface="楷体" panose="02010609060101010101" pitchFamily="49" charset="-122"/>
              </a:rPr>
              <a:t>传送控制方式有</a:t>
            </a:r>
            <a:r>
              <a:rPr lang="zh-CN" altLang="en-US" sz="2800">
                <a:solidFill>
                  <a:srgbClr val="FF0066"/>
                </a:solidFill>
                <a:latin typeface="楷体" panose="02010609060101010101" pitchFamily="49" charset="-122"/>
                <a:ea typeface="楷体" panose="02010609060101010101" pitchFamily="49" charset="-122"/>
              </a:rPr>
              <a:t>查询</a:t>
            </a:r>
            <a:r>
              <a:rPr lang="zh-CN" altLang="en-US" sz="2800">
                <a:latin typeface="楷体" panose="02010609060101010101" pitchFamily="49" charset="-122"/>
                <a:ea typeface="楷体" panose="02010609060101010101" pitchFamily="49" charset="-122"/>
              </a:rPr>
              <a:t>、</a:t>
            </a:r>
            <a:r>
              <a:rPr lang="zh-CN" altLang="en-US" sz="2800">
                <a:solidFill>
                  <a:srgbClr val="FF0066"/>
                </a:solidFill>
                <a:latin typeface="楷体" panose="02010609060101010101" pitchFamily="49" charset="-122"/>
                <a:ea typeface="楷体" panose="02010609060101010101" pitchFamily="49" charset="-122"/>
              </a:rPr>
              <a:t>中断</a:t>
            </a:r>
            <a:r>
              <a:rPr lang="zh-CN" altLang="en-US" sz="2800">
                <a:latin typeface="楷体" panose="02010609060101010101" pitchFamily="49" charset="-122"/>
                <a:ea typeface="楷体" panose="02010609060101010101" pitchFamily="49" charset="-122"/>
              </a:rPr>
              <a:t>和</a:t>
            </a:r>
            <a:r>
              <a:rPr lang="en-US" altLang="zh-CN" sz="2800">
                <a:solidFill>
                  <a:srgbClr val="FF0066"/>
                </a:solidFill>
                <a:latin typeface="楷体" panose="02010609060101010101" pitchFamily="49" charset="-122"/>
                <a:ea typeface="楷体" panose="02010609060101010101" pitchFamily="49" charset="-122"/>
              </a:rPr>
              <a:t>DMA</a:t>
            </a:r>
            <a:r>
              <a:rPr lang="en-US" altLang="zh-CN" sz="2800">
                <a:latin typeface="楷体" panose="02010609060101010101" pitchFamily="49" charset="-122"/>
                <a:ea typeface="楷体" panose="02010609060101010101" pitchFamily="49" charset="-122"/>
              </a:rPr>
              <a:t>3</a:t>
            </a:r>
            <a:r>
              <a:rPr lang="zh-CN" altLang="en-US" sz="2800">
                <a:latin typeface="楷体" panose="02010609060101010101" pitchFamily="49" charset="-122"/>
                <a:ea typeface="楷体" panose="02010609060101010101" pitchFamily="49" charset="-122"/>
              </a:rPr>
              <a:t>种。</a:t>
            </a:r>
          </a:p>
        </p:txBody>
      </p:sp>
    </p:spTree>
    <p:extLst>
      <p:ext uri="{BB962C8B-B14F-4D97-AF65-F5344CB8AC3E}">
        <p14:creationId xmlns:p14="http://schemas.microsoft.com/office/powerpoint/2010/main" val="338543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a:grpSpLocks/>
          </p:cNvGrpSpPr>
          <p:nvPr/>
        </p:nvGrpSpPr>
        <p:grpSpPr bwMode="auto">
          <a:xfrm>
            <a:off x="466725" y="1341438"/>
            <a:ext cx="8353425" cy="4751387"/>
            <a:chOff x="294" y="845"/>
            <a:chExt cx="5262" cy="2993"/>
          </a:xfrm>
        </p:grpSpPr>
        <p:sp>
          <p:nvSpPr>
            <p:cNvPr id="3" name="AutoShape 72">
              <a:extLst>
                <a:ext uri="{FF2B5EF4-FFF2-40B4-BE49-F238E27FC236}">
                  <a16:creationId xmlns:a16="http://schemas.microsoft.com/office/drawing/2014/main" id="{90ED11DD-E33A-4183-AEBD-BA3145499363}"/>
                </a:ext>
              </a:extLst>
            </p:cNvPr>
            <p:cNvSpPr>
              <a:spLocks noChangeArrowheads="1"/>
            </p:cNvSpPr>
            <p:nvPr/>
          </p:nvSpPr>
          <p:spPr bwMode="auto">
            <a:xfrm>
              <a:off x="305" y="854"/>
              <a:ext cx="5251" cy="2984"/>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headEnd/>
              <a:tailE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spcBef>
                  <a:spcPts val="0"/>
                </a:spcBef>
                <a:spcAft>
                  <a:spcPts val="0"/>
                </a:spcAft>
                <a:defRPr/>
              </a:pPr>
              <a:endParaRPr lang="zh-CN" altLang="en-US" sz="1800">
                <a:solidFill>
                  <a:schemeClr val="tx1"/>
                </a:solidFill>
                <a:latin typeface="楷体" panose="02010609060101010101" pitchFamily="49" charset="-122"/>
                <a:ea typeface="楷体" panose="02010609060101010101" pitchFamily="49" charset="-122"/>
              </a:endParaRPr>
            </a:p>
          </p:txBody>
        </p:sp>
        <p:grpSp>
          <p:nvGrpSpPr>
            <p:cNvPr id="4" name="Group 4"/>
            <p:cNvGrpSpPr>
              <a:grpSpLocks/>
            </p:cNvGrpSpPr>
            <p:nvPr/>
          </p:nvGrpSpPr>
          <p:grpSpPr bwMode="auto">
            <a:xfrm>
              <a:off x="294" y="845"/>
              <a:ext cx="5241" cy="453"/>
              <a:chOff x="340" y="1162"/>
              <a:chExt cx="5241" cy="453"/>
            </a:xfrm>
          </p:grpSpPr>
          <p:grpSp>
            <p:nvGrpSpPr>
              <p:cNvPr id="5" name="Group 22"/>
              <p:cNvGrpSpPr>
                <a:grpSpLocks/>
              </p:cNvGrpSpPr>
              <p:nvPr/>
            </p:nvGrpSpPr>
            <p:grpSpPr bwMode="auto">
              <a:xfrm>
                <a:off x="340" y="1162"/>
                <a:ext cx="5241" cy="453"/>
                <a:chOff x="266" y="1248"/>
                <a:chExt cx="5304" cy="672"/>
              </a:xfrm>
            </p:grpSpPr>
            <p:sp>
              <p:nvSpPr>
                <p:cNvPr id="7"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zh-CN" sz="2800">
                    <a:latin typeface="楷体" panose="02010609060101010101" pitchFamily="49" charset="-122"/>
                    <a:ea typeface="楷体" panose="02010609060101010101" pitchFamily="49" charset="-122"/>
                    <a:cs typeface="Times New Roman" panose="02020603050405020304" pitchFamily="18" charset="0"/>
                  </a:endParaRPr>
                </a:p>
              </p:txBody>
            </p:sp>
            <p:pic>
              <p:nvPicPr>
                <p:cNvPr id="8"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Rectangle 8"/>
              <p:cNvSpPr>
                <a:spLocks noChangeArrowheads="1"/>
              </p:cNvSpPr>
              <p:nvPr/>
            </p:nvSpPr>
            <p:spPr bwMode="auto">
              <a:xfrm>
                <a:off x="793" y="1162"/>
                <a:ext cx="158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5000"/>
                  </a:lnSpc>
                  <a:spcBef>
                    <a:spcPct val="50000"/>
                  </a:spcBef>
                  <a:buFontTx/>
                  <a:buNone/>
                </a:pPr>
                <a:r>
                  <a:rPr kumimoji="1" lang="zh-CN" altLang="en-US" sz="2800">
                    <a:latin typeface="楷体" panose="02010609060101010101" pitchFamily="49" charset="-122"/>
                    <a:ea typeface="楷体" panose="02010609060101010101" pitchFamily="49" charset="-122"/>
                  </a:rPr>
                  <a:t>（</a:t>
                </a:r>
                <a:r>
                  <a:rPr kumimoji="1" lang="en-US" altLang="zh-CN" sz="2800">
                    <a:latin typeface="楷体" panose="02010609060101010101" pitchFamily="49" charset="-122"/>
                    <a:ea typeface="楷体" panose="02010609060101010101" pitchFamily="49" charset="-122"/>
                  </a:rPr>
                  <a:t>2</a:t>
                </a:r>
                <a:r>
                  <a:rPr kumimoji="1" lang="zh-CN" altLang="en-US" sz="2800">
                    <a:latin typeface="楷体" panose="02010609060101010101" pitchFamily="49" charset="-122"/>
                    <a:ea typeface="楷体" panose="02010609060101010101" pitchFamily="49" charset="-122"/>
                  </a:rPr>
                  <a:t>）</a:t>
                </a:r>
                <a:r>
                  <a:rPr lang="zh-CN" altLang="en-US" sz="2800">
                    <a:latin typeface="楷体" panose="02010609060101010101" pitchFamily="49" charset="-122"/>
                    <a:ea typeface="楷体" panose="02010609060101010101" pitchFamily="49" charset="-122"/>
                  </a:rPr>
                  <a:t>中断方式</a:t>
                </a:r>
                <a:endParaRPr lang="en-US" altLang="zh-CN" sz="2800">
                  <a:latin typeface="楷体" panose="02010609060101010101" pitchFamily="49" charset="-122"/>
                  <a:ea typeface="楷体" panose="02010609060101010101" pitchFamily="49" charset="-122"/>
                </a:endParaRPr>
              </a:p>
            </p:txBody>
          </p:sp>
        </p:grpSp>
      </p:grpSp>
      <p:sp>
        <p:nvSpPr>
          <p:cNvPr id="9" name="Text Box 10"/>
          <p:cNvSpPr txBox="1">
            <a:spLocks noChangeArrowheads="1"/>
          </p:cNvSpPr>
          <p:nvPr/>
        </p:nvSpPr>
        <p:spPr bwMode="auto">
          <a:xfrm>
            <a:off x="95250" y="1989138"/>
            <a:ext cx="8724900" cy="178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40000"/>
              </a:lnSpc>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zh-CN" altLang="en-US" sz="2800">
                <a:latin typeface="楷体" panose="02010609060101010101" pitchFamily="49" charset="-122"/>
                <a:ea typeface="楷体" panose="02010609060101010101" pitchFamily="49" charset="-122"/>
              </a:rPr>
              <a:t>中断方式是在外设要与中央处理器传送数据时，外设向中央处理器发出请求，中央处理器响应后再传送数据的操作方式。</a:t>
            </a:r>
            <a:r>
              <a:rPr lang="zh-CN" altLang="en-US" sz="2700">
                <a:latin typeface="楷体" panose="02010609060101010101" pitchFamily="49" charset="-122"/>
                <a:ea typeface="楷体" panose="02010609060101010101" pitchFamily="49" charset="-122"/>
              </a:rPr>
              <a:t> </a:t>
            </a:r>
          </a:p>
        </p:txBody>
      </p:sp>
      <p:sp>
        <p:nvSpPr>
          <p:cNvPr id="10" name="Text Box 11"/>
          <p:cNvSpPr txBox="1">
            <a:spLocks noChangeArrowheads="1"/>
          </p:cNvSpPr>
          <p:nvPr/>
        </p:nvSpPr>
        <p:spPr bwMode="auto">
          <a:xfrm>
            <a:off x="107950" y="3933825"/>
            <a:ext cx="8785225" cy="188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40000"/>
              </a:lnSpc>
              <a:buClr>
                <a:srgbClr val="0BD0D9"/>
              </a:buClr>
              <a:buSzPct val="95000"/>
              <a:buFont typeface="Wingdings 2" panose="05020102010507070707" pitchFamily="18" charset="2"/>
              <a:buNone/>
            </a:pPr>
            <a:r>
              <a:rPr lang="zh-CN" altLang="en-US" sz="2700">
                <a:solidFill>
                  <a:srgbClr val="FF0066"/>
                </a:solidFill>
                <a:latin typeface="楷体" panose="02010609060101010101" pitchFamily="49" charset="-122"/>
                <a:ea typeface="楷体" panose="02010609060101010101" pitchFamily="49" charset="-122"/>
              </a:rPr>
              <a:t>      </a:t>
            </a:r>
            <a:r>
              <a:rPr lang="zh-CN" altLang="en-US" sz="2800">
                <a:solidFill>
                  <a:srgbClr val="FF0066"/>
                </a:solidFill>
                <a:latin typeface="楷体" panose="02010609060101010101" pitchFamily="49" charset="-122"/>
                <a:ea typeface="楷体" panose="02010609060101010101" pitchFamily="49" charset="-122"/>
              </a:rPr>
              <a:t>在中断方式下，中央处理器不必查询外设，提高了系统的工作效率，但中央处理器管理中断的接口比管理查询复杂。</a:t>
            </a:r>
            <a:r>
              <a:rPr lang="zh-CN" altLang="en-US" sz="270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346901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000"/>
                                        <p:tgtEl>
                                          <p:spTgt spid="9"/>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3"/>
          <p:cNvGrpSpPr>
            <a:grpSpLocks/>
          </p:cNvGrpSpPr>
          <p:nvPr/>
        </p:nvGrpSpPr>
        <p:grpSpPr bwMode="auto">
          <a:xfrm>
            <a:off x="466725" y="1341438"/>
            <a:ext cx="8353425" cy="4751387"/>
            <a:chOff x="294" y="845"/>
            <a:chExt cx="5262" cy="2993"/>
          </a:xfrm>
        </p:grpSpPr>
        <p:sp>
          <p:nvSpPr>
            <p:cNvPr id="3" name="AutoShape 72">
              <a:extLst>
                <a:ext uri="{FF2B5EF4-FFF2-40B4-BE49-F238E27FC236}">
                  <a16:creationId xmlns:a16="http://schemas.microsoft.com/office/drawing/2014/main" id="{2887AD5F-1466-47D3-855C-6EF37DE0BEBF}"/>
                </a:ext>
              </a:extLst>
            </p:cNvPr>
            <p:cNvSpPr>
              <a:spLocks noChangeArrowheads="1"/>
            </p:cNvSpPr>
            <p:nvPr/>
          </p:nvSpPr>
          <p:spPr bwMode="auto">
            <a:xfrm>
              <a:off x="305" y="854"/>
              <a:ext cx="5251" cy="2984"/>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headEnd/>
              <a:tailE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spcBef>
                  <a:spcPts val="0"/>
                </a:spcBef>
                <a:spcAft>
                  <a:spcPts val="0"/>
                </a:spcAft>
                <a:defRPr/>
              </a:pPr>
              <a:endParaRPr lang="zh-CN" altLang="en-US" sz="1800">
                <a:solidFill>
                  <a:schemeClr val="tx1"/>
                </a:solidFill>
                <a:latin typeface="楷体" panose="02010609060101010101" pitchFamily="49" charset="-122"/>
                <a:ea typeface="楷体" panose="02010609060101010101" pitchFamily="49" charset="-122"/>
              </a:endParaRPr>
            </a:p>
          </p:txBody>
        </p:sp>
        <p:grpSp>
          <p:nvGrpSpPr>
            <p:cNvPr id="4" name="Group 3"/>
            <p:cNvGrpSpPr>
              <a:grpSpLocks/>
            </p:cNvGrpSpPr>
            <p:nvPr/>
          </p:nvGrpSpPr>
          <p:grpSpPr bwMode="auto">
            <a:xfrm>
              <a:off x="294" y="845"/>
              <a:ext cx="5241" cy="453"/>
              <a:chOff x="340" y="1162"/>
              <a:chExt cx="5241" cy="453"/>
            </a:xfrm>
          </p:grpSpPr>
          <p:grpSp>
            <p:nvGrpSpPr>
              <p:cNvPr id="5" name="Group 22"/>
              <p:cNvGrpSpPr>
                <a:grpSpLocks/>
              </p:cNvGrpSpPr>
              <p:nvPr/>
            </p:nvGrpSpPr>
            <p:grpSpPr bwMode="auto">
              <a:xfrm>
                <a:off x="340" y="1162"/>
                <a:ext cx="5241" cy="453"/>
                <a:chOff x="266" y="1248"/>
                <a:chExt cx="5304" cy="672"/>
              </a:xfrm>
            </p:grpSpPr>
            <p:sp>
              <p:nvSpPr>
                <p:cNvPr id="7"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zh-CN" sz="2800">
                    <a:latin typeface="楷体" panose="02010609060101010101" pitchFamily="49" charset="-122"/>
                    <a:ea typeface="楷体" panose="02010609060101010101" pitchFamily="49" charset="-122"/>
                    <a:cs typeface="Times New Roman" panose="02020603050405020304" pitchFamily="18" charset="0"/>
                  </a:endParaRPr>
                </a:p>
              </p:txBody>
            </p:sp>
            <p:pic>
              <p:nvPicPr>
                <p:cNvPr id="8"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Rectangle 7"/>
              <p:cNvSpPr>
                <a:spLocks noChangeArrowheads="1"/>
              </p:cNvSpPr>
              <p:nvPr/>
            </p:nvSpPr>
            <p:spPr bwMode="auto">
              <a:xfrm>
                <a:off x="793" y="1162"/>
                <a:ext cx="3493"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5000"/>
                  </a:lnSpc>
                  <a:spcBef>
                    <a:spcPct val="50000"/>
                  </a:spcBef>
                  <a:buFontTx/>
                  <a:buNone/>
                </a:pPr>
                <a:r>
                  <a:rPr kumimoji="1" lang="zh-CN" altLang="en-US" sz="2800">
                    <a:latin typeface="楷体" panose="02010609060101010101" pitchFamily="49" charset="-122"/>
                    <a:ea typeface="楷体" panose="02010609060101010101" pitchFamily="49" charset="-122"/>
                  </a:rPr>
                  <a:t>（</a:t>
                </a:r>
                <a:r>
                  <a:rPr kumimoji="1" lang="en-US" altLang="zh-CN" sz="2800">
                    <a:latin typeface="楷体" panose="02010609060101010101" pitchFamily="49" charset="-122"/>
                    <a:ea typeface="楷体" panose="02010609060101010101" pitchFamily="49" charset="-122"/>
                  </a:rPr>
                  <a:t>3</a:t>
                </a:r>
                <a:r>
                  <a:rPr kumimoji="1" lang="zh-CN" altLang="en-US" sz="2800">
                    <a:latin typeface="楷体" panose="02010609060101010101" pitchFamily="49" charset="-122"/>
                    <a:ea typeface="楷体" panose="02010609060101010101" pitchFamily="49" charset="-122"/>
                  </a:rPr>
                  <a:t>）</a:t>
                </a:r>
                <a:r>
                  <a:rPr lang="zh-CN" altLang="en-US" sz="2800">
                    <a:latin typeface="楷体" panose="02010609060101010101" pitchFamily="49" charset="-122"/>
                    <a:ea typeface="楷体" panose="02010609060101010101" pitchFamily="49" charset="-122"/>
                  </a:rPr>
                  <a:t>直接存储器存取（</a:t>
                </a:r>
                <a:r>
                  <a:rPr lang="en-US" altLang="zh-CN" sz="2800">
                    <a:latin typeface="楷体" panose="02010609060101010101" pitchFamily="49" charset="-122"/>
                    <a:ea typeface="楷体" panose="02010609060101010101" pitchFamily="49" charset="-122"/>
                  </a:rPr>
                  <a:t>DMA</a:t>
                </a:r>
                <a:r>
                  <a:rPr lang="zh-CN" altLang="en-US" sz="2800">
                    <a:latin typeface="楷体" panose="02010609060101010101" pitchFamily="49" charset="-122"/>
                    <a:ea typeface="楷体" panose="02010609060101010101" pitchFamily="49" charset="-122"/>
                  </a:rPr>
                  <a:t>）方式</a:t>
                </a:r>
                <a:endParaRPr lang="en-US" altLang="zh-CN" sz="2800">
                  <a:latin typeface="楷体" panose="02010609060101010101" pitchFamily="49" charset="-122"/>
                  <a:ea typeface="楷体" panose="02010609060101010101" pitchFamily="49" charset="-122"/>
                </a:endParaRPr>
              </a:p>
            </p:txBody>
          </p:sp>
        </p:grpSp>
      </p:grpSp>
      <p:sp>
        <p:nvSpPr>
          <p:cNvPr id="9" name="Text Box 11"/>
          <p:cNvSpPr txBox="1">
            <a:spLocks noChangeArrowheads="1"/>
          </p:cNvSpPr>
          <p:nvPr/>
        </p:nvSpPr>
        <p:spPr bwMode="auto">
          <a:xfrm>
            <a:off x="396875" y="2060575"/>
            <a:ext cx="8278813"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20000"/>
              </a:lnSpc>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en-US" altLang="zh-CN" sz="2800">
                <a:latin typeface="楷体" panose="02010609060101010101" pitchFamily="49" charset="-122"/>
                <a:ea typeface="楷体" panose="02010609060101010101" pitchFamily="49" charset="-122"/>
              </a:rPr>
              <a:t>DMA </a:t>
            </a:r>
            <a:r>
              <a:rPr lang="zh-CN" altLang="en-US" sz="2800">
                <a:latin typeface="楷体" panose="02010609060101010101" pitchFamily="49" charset="-122"/>
                <a:ea typeface="楷体" panose="02010609060101010101" pitchFamily="49" charset="-122"/>
              </a:rPr>
              <a:t>方式是数据不经过中央处理器在存储器和外</a:t>
            </a:r>
          </a:p>
          <a:p>
            <a:pPr eaLnBrk="1" fontAlgn="b" hangingPunct="1">
              <a:lnSpc>
                <a:spcPct val="120000"/>
              </a:lnSpc>
              <a:buClr>
                <a:srgbClr val="0BD0D9"/>
              </a:buClr>
              <a:buSzPct val="95000"/>
              <a:buFont typeface="Wingdings 2" panose="05020102010507070707" pitchFamily="18" charset="2"/>
              <a:buNone/>
            </a:pPr>
            <a:r>
              <a:rPr lang="zh-CN" altLang="en-US" sz="2800">
                <a:latin typeface="楷体" panose="02010609060101010101" pitchFamily="49" charset="-122"/>
                <a:ea typeface="楷体" panose="02010609060101010101" pitchFamily="49" charset="-122"/>
              </a:rPr>
              <a:t>设之间直接传送的操作方式。</a:t>
            </a:r>
            <a:r>
              <a:rPr lang="en-US" altLang="zh-CN" sz="2800">
                <a:latin typeface="楷体" panose="02010609060101010101" pitchFamily="49" charset="-122"/>
                <a:ea typeface="楷体" panose="02010609060101010101" pitchFamily="49" charset="-122"/>
              </a:rPr>
              <a:t>DMA</a:t>
            </a:r>
            <a:r>
              <a:rPr lang="zh-CN" altLang="en-US" sz="2800">
                <a:latin typeface="楷体" panose="02010609060101010101" pitchFamily="49" charset="-122"/>
                <a:ea typeface="楷体" panose="02010609060101010101" pitchFamily="49" charset="-122"/>
              </a:rPr>
              <a:t>方式是这</a:t>
            </a:r>
            <a:r>
              <a:rPr lang="en-US" altLang="zh-CN" sz="2800">
                <a:latin typeface="楷体" panose="02010609060101010101" pitchFamily="49" charset="-122"/>
                <a:ea typeface="楷体" panose="02010609060101010101" pitchFamily="49" charset="-122"/>
              </a:rPr>
              <a:t>3</a:t>
            </a:r>
            <a:r>
              <a:rPr lang="zh-CN" altLang="en-US" sz="2800">
                <a:latin typeface="楷体" panose="02010609060101010101" pitchFamily="49" charset="-122"/>
                <a:ea typeface="楷体" panose="02010609060101010101" pitchFamily="49" charset="-122"/>
              </a:rPr>
              <a:t>种方式中</a:t>
            </a:r>
          </a:p>
          <a:p>
            <a:pPr eaLnBrk="1" fontAlgn="b" hangingPunct="1">
              <a:lnSpc>
                <a:spcPct val="120000"/>
              </a:lnSpc>
              <a:buClr>
                <a:srgbClr val="0BD0D9"/>
              </a:buClr>
              <a:buSzPct val="95000"/>
              <a:buFont typeface="Wingdings 2" panose="05020102010507070707" pitchFamily="18" charset="2"/>
              <a:buNone/>
            </a:pPr>
            <a:r>
              <a:rPr lang="zh-CN" altLang="en-US" sz="2800">
                <a:latin typeface="楷体" panose="02010609060101010101" pitchFamily="49" charset="-122"/>
                <a:ea typeface="楷体" panose="02010609060101010101" pitchFamily="49" charset="-122"/>
              </a:rPr>
              <a:t>效率最高的一种传送方式，</a:t>
            </a:r>
            <a:r>
              <a:rPr lang="en-US" altLang="zh-CN" sz="2800">
                <a:latin typeface="楷体" panose="02010609060101010101" pitchFamily="49" charset="-122"/>
                <a:ea typeface="楷体" panose="02010609060101010101" pitchFamily="49" charset="-122"/>
              </a:rPr>
              <a:t>DMA </a:t>
            </a:r>
            <a:r>
              <a:rPr lang="zh-CN" altLang="en-US" sz="2800">
                <a:latin typeface="楷体" panose="02010609060101010101" pitchFamily="49" charset="-122"/>
                <a:ea typeface="楷体" panose="02010609060101010101" pitchFamily="49" charset="-122"/>
              </a:rPr>
              <a:t>方式控制接口也最复</a:t>
            </a:r>
          </a:p>
          <a:p>
            <a:pPr eaLnBrk="1" fontAlgn="b" hangingPunct="1">
              <a:lnSpc>
                <a:spcPct val="120000"/>
              </a:lnSpc>
              <a:buClr>
                <a:srgbClr val="0BD0D9"/>
              </a:buClr>
              <a:buSzPct val="95000"/>
              <a:buFont typeface="Wingdings 2" panose="05020102010507070707" pitchFamily="18" charset="2"/>
              <a:buNone/>
            </a:pPr>
            <a:r>
              <a:rPr lang="zh-CN" altLang="en-US" sz="2800">
                <a:latin typeface="楷体" panose="02010609060101010101" pitchFamily="49" charset="-122"/>
                <a:ea typeface="楷体" panose="02010609060101010101" pitchFamily="49" charset="-122"/>
              </a:rPr>
              <a:t>杂，需要专用的</a:t>
            </a:r>
            <a:r>
              <a:rPr lang="en-US" altLang="zh-CN" sz="2800">
                <a:latin typeface="楷体" panose="02010609060101010101" pitchFamily="49" charset="-122"/>
                <a:ea typeface="楷体" panose="02010609060101010101" pitchFamily="49" charset="-122"/>
              </a:rPr>
              <a:t>DMA</a:t>
            </a:r>
            <a:r>
              <a:rPr lang="zh-CN" altLang="en-US" sz="2800">
                <a:latin typeface="楷体" panose="02010609060101010101" pitchFamily="49" charset="-122"/>
                <a:ea typeface="楷体" panose="02010609060101010101" pitchFamily="49" charset="-122"/>
              </a:rPr>
              <a:t>控制器。 </a:t>
            </a:r>
          </a:p>
        </p:txBody>
      </p:sp>
      <p:sp>
        <p:nvSpPr>
          <p:cNvPr id="10" name="Text Box 12"/>
          <p:cNvSpPr txBox="1">
            <a:spLocks noChangeArrowheads="1"/>
          </p:cNvSpPr>
          <p:nvPr/>
        </p:nvSpPr>
        <p:spPr bwMode="auto">
          <a:xfrm>
            <a:off x="179388" y="4652963"/>
            <a:ext cx="8713787"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20000"/>
              </a:lnSpc>
              <a:buClr>
                <a:srgbClr val="0BD0D9"/>
              </a:buClr>
              <a:buSzPct val="95000"/>
              <a:buFont typeface="Wingdings 2" panose="05020102010507070707" pitchFamily="18" charset="2"/>
              <a:buNone/>
            </a:pPr>
            <a:r>
              <a:rPr lang="zh-CN" altLang="en-US" sz="2700">
                <a:solidFill>
                  <a:srgbClr val="FF0066"/>
                </a:solidFill>
                <a:latin typeface="楷体" panose="02010609060101010101" pitchFamily="49" charset="-122"/>
                <a:ea typeface="楷体" panose="02010609060101010101" pitchFamily="49" charset="-122"/>
              </a:rPr>
              <a:t>    </a:t>
            </a:r>
            <a:r>
              <a:rPr lang="en-US" altLang="zh-CN" sz="2800">
                <a:solidFill>
                  <a:srgbClr val="FF0066"/>
                </a:solidFill>
                <a:latin typeface="楷体" panose="02010609060101010101" pitchFamily="49" charset="-122"/>
                <a:ea typeface="楷体" panose="02010609060101010101" pitchFamily="49" charset="-122"/>
              </a:rPr>
              <a:t>DMA </a:t>
            </a:r>
            <a:r>
              <a:rPr lang="zh-CN" altLang="en-US" sz="2800">
                <a:solidFill>
                  <a:srgbClr val="FF0066"/>
                </a:solidFill>
                <a:latin typeface="楷体" panose="02010609060101010101" pitchFamily="49" charset="-122"/>
                <a:ea typeface="楷体" panose="02010609060101010101" pitchFamily="49" charset="-122"/>
              </a:rPr>
              <a:t>方式适合数据量较大的传送，如存储器与磁盘之间的数据传送。 </a:t>
            </a:r>
          </a:p>
        </p:txBody>
      </p:sp>
    </p:spTree>
    <p:extLst>
      <p:ext uri="{BB962C8B-B14F-4D97-AF65-F5344CB8AC3E}">
        <p14:creationId xmlns:p14="http://schemas.microsoft.com/office/powerpoint/2010/main" val="94590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000"/>
                                        <p:tgtEl>
                                          <p:spTgt spid="9"/>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Clr>
                <a:schemeClr val="tx2"/>
              </a:buClr>
              <a:buFontTx/>
              <a:buNone/>
            </a:pP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9.1.3 </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接口控制信号</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3" name="Text Box 3"/>
          <p:cNvSpPr txBox="1">
            <a:spLocks noChangeArrowheads="1"/>
          </p:cNvSpPr>
          <p:nvPr/>
        </p:nvSpPr>
        <p:spPr bwMode="auto">
          <a:xfrm>
            <a:off x="122238" y="1423988"/>
            <a:ext cx="86979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dirty="0">
                <a:latin typeface="楷体" panose="02010609060101010101" pitchFamily="49" charset="-122"/>
                <a:ea typeface="楷体" panose="02010609060101010101" pitchFamily="49" charset="-122"/>
              </a:rPr>
              <a:t>  </a:t>
            </a:r>
            <a:r>
              <a:rPr lang="zh-CN" altLang="en-US" sz="2700" dirty="0" smtClean="0">
                <a:latin typeface="楷体" panose="02010609060101010101" pitchFamily="49" charset="-122"/>
                <a:ea typeface="楷体" panose="02010609060101010101" pitchFamily="49" charset="-122"/>
              </a:rPr>
              <a:t>  接口</a:t>
            </a:r>
            <a:r>
              <a:rPr lang="zh-CN" altLang="en-US" sz="2700" dirty="0">
                <a:latin typeface="楷体" panose="02010609060101010101" pitchFamily="49" charset="-122"/>
                <a:ea typeface="楷体" panose="02010609060101010101" pitchFamily="49" charset="-122"/>
              </a:rPr>
              <a:t>控制信号可分为两类：</a:t>
            </a:r>
            <a:r>
              <a:rPr lang="zh-CN" altLang="en-US" sz="2700" dirty="0">
                <a:solidFill>
                  <a:srgbClr val="FF0066"/>
                </a:solidFill>
                <a:latin typeface="楷体" panose="02010609060101010101" pitchFamily="49" charset="-122"/>
                <a:ea typeface="楷体" panose="02010609060101010101" pitchFamily="49" charset="-122"/>
              </a:rPr>
              <a:t>总线控制信号 </a:t>
            </a:r>
            <a:r>
              <a:rPr lang="zh-CN" altLang="en-US" sz="2700" dirty="0">
                <a:latin typeface="楷体" panose="02010609060101010101" pitchFamily="49" charset="-122"/>
                <a:ea typeface="楷体" panose="02010609060101010101" pitchFamily="49" charset="-122"/>
              </a:rPr>
              <a:t>和 </a:t>
            </a:r>
            <a:r>
              <a:rPr lang="zh-CN" altLang="en-US" sz="2700" dirty="0">
                <a:solidFill>
                  <a:srgbClr val="FF0066"/>
                </a:solidFill>
                <a:latin typeface="楷体" panose="02010609060101010101" pitchFamily="49" charset="-122"/>
                <a:ea typeface="楷体" panose="02010609060101010101" pitchFamily="49" charset="-122"/>
              </a:rPr>
              <a:t>输入输出控制信号</a:t>
            </a:r>
            <a:r>
              <a:rPr lang="zh-CN" altLang="en-US" sz="2700" dirty="0">
                <a:latin typeface="楷体" panose="02010609060101010101" pitchFamily="49" charset="-122"/>
                <a:ea typeface="楷体" panose="02010609060101010101" pitchFamily="49" charset="-122"/>
              </a:rPr>
              <a:t>。 </a:t>
            </a:r>
          </a:p>
        </p:txBody>
      </p:sp>
      <p:sp>
        <p:nvSpPr>
          <p:cNvPr id="4" name="Rectangle 4"/>
          <p:cNvSpPr>
            <a:spLocks noChangeArrowheads="1"/>
          </p:cNvSpPr>
          <p:nvPr/>
        </p:nvSpPr>
        <p:spPr bwMode="auto">
          <a:xfrm>
            <a:off x="0" y="2276803"/>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2800">
              <a:solidFill>
                <a:schemeClr val="tx2"/>
              </a:solidFill>
              <a:latin typeface="楷体" panose="02010609060101010101" pitchFamily="49" charset="-122"/>
              <a:ea typeface="楷体" panose="02010609060101010101" pitchFamily="49" charset="-122"/>
            </a:endParaRPr>
          </a:p>
        </p:txBody>
      </p:sp>
      <p:sp>
        <p:nvSpPr>
          <p:cNvPr id="5" name="Text Box 7"/>
          <p:cNvSpPr txBox="1">
            <a:spLocks noChangeArrowheads="1"/>
          </p:cNvSpPr>
          <p:nvPr/>
        </p:nvSpPr>
        <p:spPr bwMode="auto">
          <a:xfrm>
            <a:off x="122238" y="3295650"/>
            <a:ext cx="86979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输入输出控制信号比较复杂，不同控制方式的接口信号不同。一般包括数据线、输入输出应答信号等。 </a:t>
            </a:r>
          </a:p>
        </p:txBody>
      </p:sp>
      <p:sp>
        <p:nvSpPr>
          <p:cNvPr id="6" name="Text Box 8"/>
          <p:cNvSpPr txBox="1">
            <a:spLocks noChangeArrowheads="1"/>
          </p:cNvSpPr>
          <p:nvPr/>
        </p:nvSpPr>
        <p:spPr bwMode="auto">
          <a:xfrm>
            <a:off x="63500" y="4519613"/>
            <a:ext cx="86852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中断接口和</a:t>
            </a:r>
            <a:r>
              <a:rPr lang="en-US" altLang="zh-CN" sz="2700">
                <a:latin typeface="楷体" panose="02010609060101010101" pitchFamily="49" charset="-122"/>
                <a:ea typeface="楷体" panose="02010609060101010101" pitchFamily="49" charset="-122"/>
              </a:rPr>
              <a:t>DMA</a:t>
            </a:r>
            <a:r>
              <a:rPr lang="zh-CN" altLang="en-US" sz="2700">
                <a:latin typeface="楷体" panose="02010609060101010101" pitchFamily="49" charset="-122"/>
                <a:ea typeface="楷体" panose="02010609060101010101" pitchFamily="49" charset="-122"/>
              </a:rPr>
              <a:t>接口的控制信号更复杂一些，通常由接口芯片提供专用控制信号来完成数据传送控制。 </a:t>
            </a:r>
          </a:p>
        </p:txBody>
      </p:sp>
      <p:sp>
        <p:nvSpPr>
          <p:cNvPr id="7" name="Rectangle 9"/>
          <p:cNvSpPr>
            <a:spLocks noChangeArrowheads="1"/>
          </p:cNvSpPr>
          <p:nvPr/>
        </p:nvSpPr>
        <p:spPr bwMode="auto">
          <a:xfrm>
            <a:off x="0" y="3105478"/>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2800">
              <a:solidFill>
                <a:schemeClr val="tx2"/>
              </a:solidFill>
              <a:latin typeface="楷体" panose="02010609060101010101" pitchFamily="49" charset="-122"/>
              <a:ea typeface="楷体" panose="02010609060101010101" pitchFamily="49" charset="-122"/>
            </a:endParaRPr>
          </a:p>
        </p:txBody>
      </p:sp>
      <p:grpSp>
        <p:nvGrpSpPr>
          <p:cNvPr id="8" name="Group 10"/>
          <p:cNvGrpSpPr>
            <a:grpSpLocks/>
          </p:cNvGrpSpPr>
          <p:nvPr/>
        </p:nvGrpSpPr>
        <p:grpSpPr bwMode="auto">
          <a:xfrm>
            <a:off x="820738" y="2593975"/>
            <a:ext cx="8013700" cy="503238"/>
            <a:chOff x="517" y="1634"/>
            <a:chExt cx="5048" cy="317"/>
          </a:xfrm>
        </p:grpSpPr>
        <p:sp>
          <p:nvSpPr>
            <p:cNvPr id="9" name="Text Box 11"/>
            <p:cNvSpPr txBox="1">
              <a:spLocks noChangeArrowheads="1"/>
            </p:cNvSpPr>
            <p:nvPr/>
          </p:nvSpPr>
          <p:spPr bwMode="auto">
            <a:xfrm>
              <a:off x="517" y="1634"/>
              <a:ext cx="504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总线控制信号包括数据线、地址线、 、 、等。 </a:t>
              </a:r>
            </a:p>
          </p:txBody>
        </p:sp>
        <p:graphicFrame>
          <p:nvGraphicFramePr>
            <p:cNvPr id="10" name="Object 12"/>
            <p:cNvGraphicFramePr>
              <a:graphicFrameLocks noChangeAspect="1"/>
            </p:cNvGraphicFramePr>
            <p:nvPr/>
          </p:nvGraphicFramePr>
          <p:xfrm>
            <a:off x="3942" y="1714"/>
            <a:ext cx="228" cy="171"/>
          </p:xfrm>
          <a:graphic>
            <a:graphicData uri="http://schemas.openxmlformats.org/presentationml/2006/ole">
              <mc:AlternateContent xmlns:mc="http://schemas.openxmlformats.org/markup-compatibility/2006">
                <mc:Choice xmlns:v="urn:schemas-microsoft-com:vml" Requires="v">
                  <p:oleObj spid="_x0000_s2074" name="位图图像" r:id="rId3" imgW="219222" imgH="133192" progId="Paint.Picture">
                    <p:embed/>
                  </p:oleObj>
                </mc:Choice>
                <mc:Fallback>
                  <p:oleObj name="位图图像" r:id="rId3" imgW="219222" imgH="133192" progId="Paint.Picture">
                    <p:embed/>
                    <p:pic>
                      <p:nvPicPr>
                        <p:cNvPr id="56332"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2" y="1714"/>
                          <a:ext cx="22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3"/>
            <p:cNvGraphicFramePr>
              <a:graphicFrameLocks noChangeAspect="1"/>
            </p:cNvGraphicFramePr>
            <p:nvPr/>
          </p:nvGraphicFramePr>
          <p:xfrm>
            <a:off x="4270" y="1720"/>
            <a:ext cx="243" cy="160"/>
          </p:xfrm>
          <a:graphic>
            <a:graphicData uri="http://schemas.openxmlformats.org/presentationml/2006/ole">
              <mc:AlternateContent xmlns:mc="http://schemas.openxmlformats.org/markup-compatibility/2006">
                <mc:Choice xmlns:v="urn:schemas-microsoft-com:vml" Requires="v">
                  <p:oleObj spid="_x0000_s2075" name="位图图像" r:id="rId5" imgW="228571" imgH="123842" progId="Paint.Picture">
                    <p:embed/>
                  </p:oleObj>
                </mc:Choice>
                <mc:Fallback>
                  <p:oleObj name="位图图像" r:id="rId5" imgW="228571" imgH="123842" progId="Paint.Picture">
                    <p:embed/>
                    <p:pic>
                      <p:nvPicPr>
                        <p:cNvPr id="56333"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0" y="1720"/>
                          <a:ext cx="24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1510616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000"/>
                                        <p:tgtEl>
                                          <p:spTgt spid="8"/>
                                        </p:tgtEl>
                                      </p:cBhvr>
                                    </p:animEffect>
                                  </p:childTnLst>
                                </p:cTn>
                              </p:par>
                            </p:childTnLst>
                          </p:cTn>
                        </p:par>
                        <p:par>
                          <p:cTn id="12" fill="hold">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0"/>
                                        <p:tgtEl>
                                          <p:spTgt spid="5"/>
                                        </p:tgtEl>
                                      </p:cBhvr>
                                    </p:animEffect>
                                  </p:childTnLst>
                                </p:cTn>
                              </p:par>
                            </p:childTnLst>
                          </p:cTn>
                        </p:par>
                        <p:par>
                          <p:cTn id="16" fill="hold">
                            <p:stCondLst>
                              <p:cond delay="60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a:spLocks noChangeArrowheads="1"/>
          </p:cNvSpPr>
          <p:nvPr/>
        </p:nvSpPr>
        <p:spPr bwMode="auto">
          <a:xfrm>
            <a:off x="0" y="2276803"/>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2800">
              <a:solidFill>
                <a:schemeClr val="tx2"/>
              </a:solidFill>
              <a:latin typeface="楷体" panose="02010609060101010101" pitchFamily="49" charset="-122"/>
              <a:ea typeface="楷体" panose="02010609060101010101" pitchFamily="49" charset="-122"/>
            </a:endParaRPr>
          </a:p>
        </p:txBody>
      </p:sp>
      <p:graphicFrame>
        <p:nvGraphicFramePr>
          <p:cNvPr id="3" name="Object 4"/>
          <p:cNvGraphicFramePr>
            <a:graphicFrameLocks noChangeAspect="1"/>
          </p:cNvGraphicFramePr>
          <p:nvPr>
            <p:extLst>
              <p:ext uri="{D42A27DB-BD31-4B8C-83A1-F6EECF244321}">
                <p14:modId xmlns:p14="http://schemas.microsoft.com/office/powerpoint/2010/main" val="550808623"/>
              </p:ext>
            </p:extLst>
          </p:nvPr>
        </p:nvGraphicFramePr>
        <p:xfrm>
          <a:off x="452761" y="2042404"/>
          <a:ext cx="8362950" cy="3619500"/>
        </p:xfrm>
        <a:graphic>
          <a:graphicData uri="http://schemas.openxmlformats.org/presentationml/2006/ole">
            <mc:AlternateContent xmlns:mc="http://schemas.openxmlformats.org/markup-compatibility/2006">
              <mc:Choice xmlns:v="urn:schemas-microsoft-com:vml" Requires="v">
                <p:oleObj spid="_x0000_s3086" name="位图图像" r:id="rId3" imgW="4114286" imgH="1781424" progId="Paint.Picture">
                  <p:embed/>
                </p:oleObj>
              </mc:Choice>
              <mc:Fallback>
                <p:oleObj name="位图图像" r:id="rId3" imgW="4114286" imgH="1781424" progId="Paint.Picture">
                  <p:embed/>
                  <p:pic>
                    <p:nvPicPr>
                      <p:cNvPr id="5734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761" y="2042404"/>
                        <a:ext cx="836295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5">
            <a:hlinkClick r:id="" action="ppaction://noaction"/>
          </p:cNvPr>
          <p:cNvSpPr txBox="1">
            <a:spLocks noChangeArrowheads="1"/>
          </p:cNvSpPr>
          <p:nvPr/>
        </p:nvSpPr>
        <p:spPr bwMode="auto">
          <a:xfrm>
            <a:off x="539750" y="1196975"/>
            <a:ext cx="479266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dirty="0">
                <a:solidFill>
                  <a:srgbClr val="33CC33"/>
                </a:solidFill>
                <a:latin typeface="楷体" panose="02010609060101010101" pitchFamily="49" charset="-122"/>
                <a:ea typeface="楷体" panose="02010609060101010101" pitchFamily="49" charset="-122"/>
                <a:hlinkClick r:id="" action="ppaction://noaction"/>
              </a:rPr>
              <a:t>接口控制信号图</a:t>
            </a:r>
            <a:endParaRPr lang="zh-CN" altLang="en-US" sz="2700" dirty="0">
              <a:solidFill>
                <a:srgbClr val="33CC33"/>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143118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7"/>
          <p:cNvSpPr>
            <a:spLocks noChangeArrowheads="1"/>
          </p:cNvSpPr>
          <p:nvPr/>
        </p:nvSpPr>
        <p:spPr bwMode="auto">
          <a:xfrm>
            <a:off x="2064057" y="330869"/>
            <a:ext cx="5819313" cy="663430"/>
          </a:xfrm>
          <a:prstGeom prst="rect">
            <a:avLst/>
          </a:prstGeom>
          <a:solidFill>
            <a:schemeClr val="accent5">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lIns="342000" tIns="46800" rIns="89966" bIns="144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Clr>
                <a:schemeClr val="tx2"/>
              </a:buClr>
              <a:buNone/>
            </a:pPr>
            <a:r>
              <a:rPr lang="en-US" altLang="zh-CN"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9</a:t>
            </a: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.2 I/O</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指令和</a:t>
            </a:r>
            <a:r>
              <a:rPr lang="en-US" altLang="zh-CN"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I/O</a:t>
            </a:r>
            <a:r>
              <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地址</a:t>
            </a:r>
            <a:r>
              <a:rPr lang="zh-CN" altLang="en-US" dirty="0" smtClean="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rPr>
              <a:t>译码</a:t>
            </a:r>
            <a:endParaRPr lang="zh-CN" altLang="en-US" dirty="0">
              <a:ln w="0"/>
              <a:effectLst>
                <a:outerShdw blurRad="38100" dist="19050" dir="2700000" algn="tl" rotWithShape="0">
                  <a:schemeClr val="dk1">
                    <a:alpha val="40000"/>
                  </a:schemeClr>
                </a:outerShdw>
              </a:effectLst>
              <a:latin typeface="楷体" panose="02010609060101010101" pitchFamily="49" charset="-122"/>
              <a:ea typeface="楷体" panose="02010609060101010101" pitchFamily="49" charset="-122"/>
              <a:cs typeface="Times New Roman" panose="02020603050405020304" pitchFamily="18" charset="0"/>
            </a:endParaRPr>
          </a:p>
        </p:txBody>
      </p:sp>
      <p:sp>
        <p:nvSpPr>
          <p:cNvPr id="3" name="Text Box 2"/>
          <p:cNvSpPr txBox="1">
            <a:spLocks noChangeArrowheads="1"/>
          </p:cNvSpPr>
          <p:nvPr/>
        </p:nvSpPr>
        <p:spPr bwMode="auto">
          <a:xfrm>
            <a:off x="179388" y="1700213"/>
            <a:ext cx="8964612"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20000"/>
              </a:lnSpc>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zh-CN" altLang="en-US" sz="2800">
                <a:latin typeface="楷体" panose="02010609060101010101" pitchFamily="49" charset="-122"/>
                <a:ea typeface="楷体" panose="02010609060101010101" pitchFamily="49" charset="-122"/>
              </a:rPr>
              <a:t>微处理器进行</a:t>
            </a:r>
            <a:r>
              <a:rPr lang="en-US" altLang="zh-CN" sz="2800">
                <a:latin typeface="楷体" panose="02010609060101010101" pitchFamily="49" charset="-122"/>
                <a:ea typeface="楷体" panose="02010609060101010101" pitchFamily="49" charset="-122"/>
              </a:rPr>
              <a:t>I/O</a:t>
            </a:r>
            <a:r>
              <a:rPr lang="zh-CN" altLang="en-US" sz="2800">
                <a:latin typeface="楷体" panose="02010609060101010101" pitchFamily="49" charset="-122"/>
                <a:ea typeface="楷体" panose="02010609060101010101" pitchFamily="49" charset="-122"/>
              </a:rPr>
              <a:t>操作时，对</a:t>
            </a:r>
            <a:r>
              <a:rPr lang="en-US" altLang="zh-CN" sz="2800">
                <a:latin typeface="楷体" panose="02010609060101010101" pitchFamily="49" charset="-122"/>
                <a:ea typeface="楷体" panose="02010609060101010101" pitchFamily="49" charset="-122"/>
              </a:rPr>
              <a:t>I/O</a:t>
            </a:r>
            <a:r>
              <a:rPr lang="zh-CN" altLang="en-US" sz="2800">
                <a:latin typeface="楷体" panose="02010609060101010101" pitchFamily="49" charset="-122"/>
                <a:ea typeface="楷体" panose="02010609060101010101" pitchFamily="49" charset="-122"/>
              </a:rPr>
              <a:t>接口的寻址方式与存储器寻址方式相似。即必须完成</a:t>
            </a:r>
            <a:r>
              <a:rPr lang="zh-CN" altLang="en-US" sz="2800">
                <a:solidFill>
                  <a:srgbClr val="3333FF"/>
                </a:solidFill>
                <a:latin typeface="楷体" panose="02010609060101010101" pitchFamily="49" charset="-122"/>
                <a:ea typeface="楷体" panose="02010609060101010101" pitchFamily="49" charset="-122"/>
              </a:rPr>
              <a:t>两种选择</a:t>
            </a:r>
            <a:r>
              <a:rPr lang="zh-CN" altLang="en-US" sz="2800">
                <a:latin typeface="楷体" panose="02010609060101010101" pitchFamily="49" charset="-122"/>
                <a:ea typeface="楷体" panose="02010609060101010101" pitchFamily="49" charset="-122"/>
              </a:rPr>
              <a:t>：一是选择出所选中的</a:t>
            </a:r>
            <a:r>
              <a:rPr lang="en-US" altLang="zh-CN" sz="2800">
                <a:latin typeface="楷体" panose="02010609060101010101" pitchFamily="49" charset="-122"/>
                <a:ea typeface="楷体" panose="02010609060101010101" pitchFamily="49" charset="-122"/>
              </a:rPr>
              <a:t>I/O</a:t>
            </a:r>
            <a:r>
              <a:rPr lang="zh-CN" altLang="en-US" sz="2800">
                <a:latin typeface="楷体" panose="02010609060101010101" pitchFamily="49" charset="-122"/>
                <a:ea typeface="楷体" panose="02010609060101010101" pitchFamily="49" charset="-122"/>
              </a:rPr>
              <a:t>接口芯片</a:t>
            </a:r>
            <a:r>
              <a:rPr lang="en-US" altLang="zh-CN" sz="2800">
                <a:latin typeface="楷体" panose="02010609060101010101" pitchFamily="49" charset="-122"/>
                <a:ea typeface="楷体" panose="02010609060101010101" pitchFamily="49" charset="-122"/>
              </a:rPr>
              <a:t>(</a:t>
            </a:r>
            <a:r>
              <a:rPr lang="zh-CN" altLang="en-US" sz="2800">
                <a:latin typeface="楷体" panose="02010609060101010101" pitchFamily="49" charset="-122"/>
                <a:ea typeface="楷体" panose="02010609060101010101" pitchFamily="49" charset="-122"/>
              </a:rPr>
              <a:t>称为</a:t>
            </a:r>
            <a:r>
              <a:rPr lang="zh-CN" altLang="en-US" sz="2800">
                <a:solidFill>
                  <a:srgbClr val="FF0066"/>
                </a:solidFill>
                <a:latin typeface="楷体" panose="02010609060101010101" pitchFamily="49" charset="-122"/>
                <a:ea typeface="楷体" panose="02010609060101010101" pitchFamily="49" charset="-122"/>
              </a:rPr>
              <a:t>片选</a:t>
            </a:r>
            <a:r>
              <a:rPr lang="en-US" altLang="zh-CN" sz="2800">
                <a:latin typeface="楷体" panose="02010609060101010101" pitchFamily="49" charset="-122"/>
                <a:ea typeface="楷体" panose="02010609060101010101" pitchFamily="49" charset="-122"/>
              </a:rPr>
              <a:t>)</a:t>
            </a:r>
            <a:r>
              <a:rPr lang="zh-CN" altLang="en-US" sz="2800">
                <a:latin typeface="楷体" panose="02010609060101010101" pitchFamily="49" charset="-122"/>
                <a:ea typeface="楷体" panose="02010609060101010101" pitchFamily="49" charset="-122"/>
              </a:rPr>
              <a:t>；二是选择出该芯片中的某一寄存器</a:t>
            </a:r>
            <a:r>
              <a:rPr lang="en-US" altLang="zh-CN" sz="2800">
                <a:latin typeface="楷体" panose="02010609060101010101" pitchFamily="49" charset="-122"/>
                <a:ea typeface="楷体" panose="02010609060101010101" pitchFamily="49" charset="-122"/>
              </a:rPr>
              <a:t>(</a:t>
            </a:r>
            <a:r>
              <a:rPr lang="zh-CN" altLang="en-US" sz="2800">
                <a:latin typeface="楷体" panose="02010609060101010101" pitchFamily="49" charset="-122"/>
                <a:ea typeface="楷体" panose="02010609060101010101" pitchFamily="49" charset="-122"/>
              </a:rPr>
              <a:t>称为</a:t>
            </a:r>
            <a:r>
              <a:rPr lang="zh-CN" altLang="en-US" sz="2800">
                <a:solidFill>
                  <a:srgbClr val="FF0066"/>
                </a:solidFill>
                <a:latin typeface="楷体" panose="02010609060101010101" pitchFamily="49" charset="-122"/>
                <a:ea typeface="楷体" panose="02010609060101010101" pitchFamily="49" charset="-122"/>
              </a:rPr>
              <a:t>字选</a:t>
            </a:r>
            <a:r>
              <a:rPr lang="en-US" altLang="zh-CN" sz="2800">
                <a:latin typeface="楷体" panose="02010609060101010101" pitchFamily="49" charset="-122"/>
                <a:ea typeface="楷体" panose="02010609060101010101" pitchFamily="49" charset="-122"/>
              </a:rPr>
              <a:t>)</a:t>
            </a:r>
            <a:r>
              <a:rPr lang="zh-CN" altLang="en-US" sz="2800">
                <a:latin typeface="楷体" panose="02010609060101010101" pitchFamily="49" charset="-122"/>
                <a:ea typeface="楷体" panose="02010609060101010101" pitchFamily="49" charset="-122"/>
              </a:rPr>
              <a:t>。 </a:t>
            </a:r>
          </a:p>
        </p:txBody>
      </p:sp>
      <p:sp>
        <p:nvSpPr>
          <p:cNvPr id="4" name="Text Box 4"/>
          <p:cNvSpPr txBox="1">
            <a:spLocks noChangeArrowheads="1"/>
          </p:cNvSpPr>
          <p:nvPr/>
        </p:nvSpPr>
        <p:spPr bwMode="auto">
          <a:xfrm>
            <a:off x="179388" y="4221163"/>
            <a:ext cx="8964612" cy="1544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20000"/>
              </a:lnSpc>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zh-CN" altLang="en-US" sz="2800">
                <a:latin typeface="楷体" panose="02010609060101010101" pitchFamily="49" charset="-122"/>
                <a:ea typeface="楷体" panose="02010609060101010101" pitchFamily="49" charset="-122"/>
              </a:rPr>
              <a:t>通常有</a:t>
            </a:r>
            <a:r>
              <a:rPr lang="zh-CN" altLang="en-US" sz="2800">
                <a:solidFill>
                  <a:srgbClr val="3333FF"/>
                </a:solidFill>
                <a:latin typeface="楷体" panose="02010609060101010101" pitchFamily="49" charset="-122"/>
                <a:ea typeface="楷体" panose="02010609060101010101" pitchFamily="49" charset="-122"/>
              </a:rPr>
              <a:t>两种</a:t>
            </a:r>
            <a:r>
              <a:rPr lang="en-US" altLang="zh-CN" sz="2800">
                <a:solidFill>
                  <a:srgbClr val="3333FF"/>
                </a:solidFill>
                <a:latin typeface="楷体" panose="02010609060101010101" pitchFamily="49" charset="-122"/>
                <a:ea typeface="楷体" panose="02010609060101010101" pitchFamily="49" charset="-122"/>
              </a:rPr>
              <a:t>I/O</a:t>
            </a:r>
            <a:r>
              <a:rPr lang="zh-CN" altLang="en-US" sz="2800">
                <a:solidFill>
                  <a:srgbClr val="3333FF"/>
                </a:solidFill>
                <a:latin typeface="楷体" panose="02010609060101010101" pitchFamily="49" charset="-122"/>
                <a:ea typeface="楷体" panose="02010609060101010101" pitchFamily="49" charset="-122"/>
              </a:rPr>
              <a:t>接口结构</a:t>
            </a:r>
            <a:r>
              <a:rPr lang="zh-CN" altLang="en-US" sz="2800">
                <a:latin typeface="楷体" panose="02010609060101010101" pitchFamily="49" charset="-122"/>
                <a:ea typeface="楷体" panose="02010609060101010101" pitchFamily="49" charset="-122"/>
              </a:rPr>
              <a:t>：一种是标准的</a:t>
            </a:r>
            <a:r>
              <a:rPr lang="en-US" altLang="zh-CN" sz="2800">
                <a:latin typeface="楷体" panose="02010609060101010101" pitchFamily="49" charset="-122"/>
                <a:ea typeface="楷体" panose="02010609060101010101" pitchFamily="49" charset="-122"/>
              </a:rPr>
              <a:t>I/O</a:t>
            </a:r>
            <a:r>
              <a:rPr lang="zh-CN" altLang="en-US" sz="2800">
                <a:latin typeface="楷体" panose="02010609060101010101" pitchFamily="49" charset="-122"/>
                <a:ea typeface="楷体" panose="02010609060101010101" pitchFamily="49" charset="-122"/>
              </a:rPr>
              <a:t>结构，另一种是存储器映象</a:t>
            </a:r>
            <a:r>
              <a:rPr lang="en-US" altLang="zh-CN" sz="2800">
                <a:latin typeface="楷体" panose="02010609060101010101" pitchFamily="49" charset="-122"/>
                <a:ea typeface="楷体" panose="02010609060101010101" pitchFamily="49" charset="-122"/>
              </a:rPr>
              <a:t>I/O</a:t>
            </a:r>
            <a:r>
              <a:rPr lang="zh-CN" altLang="en-US" sz="2800">
                <a:latin typeface="楷体" panose="02010609060101010101" pitchFamily="49" charset="-122"/>
                <a:ea typeface="楷体" panose="02010609060101010101" pitchFamily="49" charset="-122"/>
              </a:rPr>
              <a:t>结构</a:t>
            </a:r>
            <a:r>
              <a:rPr lang="en-US" altLang="zh-CN" sz="2800">
                <a:latin typeface="楷体" panose="02010609060101010101" pitchFamily="49" charset="-122"/>
                <a:ea typeface="楷体" panose="02010609060101010101" pitchFamily="49" charset="-122"/>
              </a:rPr>
              <a:t>(memory mapped I/O)</a:t>
            </a:r>
            <a:r>
              <a:rPr lang="zh-CN" altLang="en-US" sz="2800">
                <a:latin typeface="楷体" panose="02010609060101010101" pitchFamily="49" charset="-122"/>
                <a:ea typeface="楷体" panose="02010609060101010101" pitchFamily="49" charset="-122"/>
              </a:rPr>
              <a:t>。与之对应的有</a:t>
            </a:r>
            <a:r>
              <a:rPr lang="zh-CN" altLang="en-US" sz="2800">
                <a:solidFill>
                  <a:srgbClr val="FF0066"/>
                </a:solidFill>
                <a:latin typeface="楷体" panose="02010609060101010101" pitchFamily="49" charset="-122"/>
                <a:ea typeface="楷体" panose="02010609060101010101" pitchFamily="49" charset="-122"/>
              </a:rPr>
              <a:t>两种</a:t>
            </a:r>
            <a:r>
              <a:rPr lang="en-US" altLang="zh-CN" sz="2800">
                <a:solidFill>
                  <a:srgbClr val="FF0066"/>
                </a:solidFill>
                <a:latin typeface="楷体" panose="02010609060101010101" pitchFamily="49" charset="-122"/>
                <a:ea typeface="楷体" panose="02010609060101010101" pitchFamily="49" charset="-122"/>
              </a:rPr>
              <a:t>I/O</a:t>
            </a:r>
            <a:r>
              <a:rPr lang="zh-CN" altLang="en-US" sz="2800">
                <a:solidFill>
                  <a:srgbClr val="FF0066"/>
                </a:solidFill>
                <a:latin typeface="楷体" panose="02010609060101010101" pitchFamily="49" charset="-122"/>
                <a:ea typeface="楷体" panose="02010609060101010101" pitchFamily="49" charset="-122"/>
              </a:rPr>
              <a:t>寻址方式</a:t>
            </a:r>
            <a:r>
              <a:rPr lang="zh-CN" altLang="en-US" sz="280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726644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par>
                          <p:cTn id="8" fill="hold">
                            <p:stCondLst>
                              <p:cond delay="2000"/>
                            </p:stCondLst>
                            <p:childTnLst>
                              <p:par>
                                <p:cTn id="9" presetID="10" presetClass="entr" presetSubtype="0" fill="hold" grpId="0" nodeType="after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33350" y="1412875"/>
            <a:ext cx="67738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zh-CN" altLang="en-US" sz="2800">
                <a:latin typeface="楷体" panose="02010609060101010101" pitchFamily="49" charset="-122"/>
                <a:ea typeface="楷体" panose="02010609060101010101" pitchFamily="49" charset="-122"/>
              </a:rPr>
              <a:t>标准的</a:t>
            </a:r>
            <a:r>
              <a:rPr lang="en-US" altLang="zh-CN" sz="2800">
                <a:latin typeface="楷体" panose="02010609060101010101" pitchFamily="49" charset="-122"/>
                <a:ea typeface="楷体" panose="02010609060101010101" pitchFamily="49" charset="-122"/>
              </a:rPr>
              <a:t>I/O</a:t>
            </a:r>
            <a:r>
              <a:rPr lang="zh-CN" altLang="en-US" sz="2800">
                <a:latin typeface="楷体" panose="02010609060101010101" pitchFamily="49" charset="-122"/>
                <a:ea typeface="楷体" panose="02010609060101010101" pitchFamily="49" charset="-122"/>
              </a:rPr>
              <a:t>寻址方式有以下</a:t>
            </a:r>
            <a:r>
              <a:rPr lang="en-US" altLang="zh-CN" sz="2800">
                <a:latin typeface="楷体" panose="02010609060101010101" pitchFamily="49" charset="-122"/>
                <a:ea typeface="楷体" panose="02010609060101010101" pitchFamily="49" charset="-122"/>
              </a:rPr>
              <a:t>3</a:t>
            </a:r>
            <a:r>
              <a:rPr lang="zh-CN" altLang="en-US" sz="2800">
                <a:latin typeface="楷体" panose="02010609060101010101" pitchFamily="49" charset="-122"/>
                <a:ea typeface="楷体" panose="02010609060101010101" pitchFamily="49" charset="-122"/>
              </a:rPr>
              <a:t>个特点： </a:t>
            </a:r>
          </a:p>
        </p:txBody>
      </p:sp>
      <p:sp>
        <p:nvSpPr>
          <p:cNvPr id="3" name="Text Box 4"/>
          <p:cNvSpPr txBox="1">
            <a:spLocks noChangeArrowheads="1"/>
          </p:cNvSpPr>
          <p:nvPr/>
        </p:nvSpPr>
        <p:spPr bwMode="auto">
          <a:xfrm>
            <a:off x="150813" y="2109788"/>
            <a:ext cx="87423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en-US" altLang="zh-CN" sz="2800" dirty="0">
                <a:latin typeface="楷体" panose="02010609060101010101" pitchFamily="49" charset="-122"/>
                <a:ea typeface="楷体" panose="02010609060101010101" pitchFamily="49" charset="-122"/>
              </a:rPr>
              <a:t>    </a:t>
            </a:r>
            <a:r>
              <a:rPr lang="en-US" altLang="zh-CN" sz="2800" dirty="0">
                <a:solidFill>
                  <a:srgbClr val="3333FF"/>
                </a:solidFill>
                <a:latin typeface="楷体" panose="02010609060101010101" pitchFamily="49" charset="-122"/>
                <a:ea typeface="楷体" panose="02010609060101010101" pitchFamily="49" charset="-122"/>
              </a:rPr>
              <a:t>(1)</a:t>
            </a:r>
            <a:r>
              <a:rPr lang="en-US" altLang="zh-CN" sz="2800" dirty="0">
                <a:solidFill>
                  <a:srgbClr val="FF0066"/>
                </a:solidFill>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I/O</a:t>
            </a:r>
            <a:r>
              <a:rPr lang="zh-CN" altLang="en-US" sz="2800" dirty="0">
                <a:latin typeface="楷体" panose="02010609060101010101" pitchFamily="49" charset="-122"/>
                <a:ea typeface="楷体" panose="02010609060101010101" pitchFamily="49" charset="-122"/>
              </a:rPr>
              <a:t>设备的地址空间和存储器地址空间是独立的、分开的</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即</a:t>
            </a:r>
            <a:r>
              <a:rPr lang="en-US" altLang="zh-CN" sz="2800" dirty="0">
                <a:latin typeface="楷体" panose="02010609060101010101" pitchFamily="49" charset="-122"/>
                <a:ea typeface="楷体" panose="02010609060101010101" pitchFamily="49" charset="-122"/>
              </a:rPr>
              <a:t>I/O</a:t>
            </a:r>
            <a:r>
              <a:rPr lang="zh-CN" altLang="en-US" sz="2800" dirty="0">
                <a:latin typeface="楷体" panose="02010609060101010101" pitchFamily="49" charset="-122"/>
                <a:ea typeface="楷体" panose="02010609060101010101" pitchFamily="49" charset="-122"/>
              </a:rPr>
              <a:t>接口地址不占用存储器的地址空间。</a:t>
            </a:r>
          </a:p>
        </p:txBody>
      </p:sp>
      <p:sp>
        <p:nvSpPr>
          <p:cNvPr id="4" name="Text Box 5"/>
          <p:cNvSpPr txBox="1">
            <a:spLocks noChangeArrowheads="1"/>
          </p:cNvSpPr>
          <p:nvPr/>
        </p:nvSpPr>
        <p:spPr bwMode="auto">
          <a:xfrm>
            <a:off x="144463" y="3284538"/>
            <a:ext cx="89995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en-US" altLang="zh-CN" sz="2800" dirty="0">
                <a:solidFill>
                  <a:srgbClr val="FF0066"/>
                </a:solidFill>
                <a:latin typeface="楷体" panose="02010609060101010101" pitchFamily="49" charset="-122"/>
                <a:ea typeface="楷体" panose="02010609060101010101" pitchFamily="49" charset="-122"/>
              </a:rPr>
              <a:t>    </a:t>
            </a:r>
            <a:r>
              <a:rPr lang="en-US" altLang="zh-CN" sz="2800" dirty="0">
                <a:solidFill>
                  <a:srgbClr val="3333FF"/>
                </a:solidFill>
                <a:latin typeface="楷体" panose="02010609060101010101" pitchFamily="49" charset="-122"/>
                <a:ea typeface="楷体" panose="02010609060101010101" pitchFamily="49" charset="-122"/>
              </a:rPr>
              <a:t>(2)</a:t>
            </a:r>
            <a:r>
              <a:rPr lang="en-US" altLang="zh-CN" sz="2800" dirty="0">
                <a:solidFill>
                  <a:srgbClr val="FF0066"/>
                </a:solidFill>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微处理器对</a:t>
            </a:r>
            <a:r>
              <a:rPr lang="en-US" altLang="zh-CN" sz="2800" dirty="0">
                <a:latin typeface="楷体" panose="02010609060101010101" pitchFamily="49" charset="-122"/>
                <a:ea typeface="楷体" panose="02010609060101010101" pitchFamily="49" charset="-122"/>
              </a:rPr>
              <a:t>I/O</a:t>
            </a:r>
            <a:r>
              <a:rPr lang="zh-CN" altLang="en-US" sz="2800" dirty="0">
                <a:latin typeface="楷体" panose="02010609060101010101" pitchFamily="49" charset="-122"/>
                <a:ea typeface="楷体" panose="02010609060101010101" pitchFamily="49" charset="-122"/>
              </a:rPr>
              <a:t>设备的管理是利用专用的</a:t>
            </a:r>
            <a:r>
              <a:rPr lang="en-US" altLang="zh-CN" sz="2800" dirty="0">
                <a:latin typeface="楷体" panose="02010609060101010101" pitchFamily="49" charset="-122"/>
                <a:ea typeface="楷体" panose="02010609060101010101" pitchFamily="49" charset="-122"/>
              </a:rPr>
              <a:t>IN(</a:t>
            </a:r>
            <a:r>
              <a:rPr lang="zh-CN" altLang="en-US" sz="2800" dirty="0">
                <a:latin typeface="楷体" panose="02010609060101010101" pitchFamily="49" charset="-122"/>
                <a:ea typeface="楷体" panose="02010609060101010101" pitchFamily="49" charset="-122"/>
              </a:rPr>
              <a:t>输入</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和</a:t>
            </a:r>
            <a:r>
              <a:rPr lang="en-US" altLang="zh-CN" sz="2800" dirty="0">
                <a:latin typeface="楷体" panose="02010609060101010101" pitchFamily="49" charset="-122"/>
                <a:ea typeface="楷体" panose="02010609060101010101" pitchFamily="49" charset="-122"/>
              </a:rPr>
              <a:t>OUT(</a:t>
            </a:r>
            <a:r>
              <a:rPr lang="zh-CN" altLang="en-US" sz="2800" dirty="0">
                <a:latin typeface="楷体" panose="02010609060101010101" pitchFamily="49" charset="-122"/>
                <a:ea typeface="楷体" panose="02010609060101010101" pitchFamily="49" charset="-122"/>
              </a:rPr>
              <a:t>输出</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指令来实现数据传送的。 </a:t>
            </a:r>
          </a:p>
        </p:txBody>
      </p:sp>
      <p:sp>
        <p:nvSpPr>
          <p:cNvPr id="5" name="Rectangle 6"/>
          <p:cNvSpPr>
            <a:spLocks noChangeArrowheads="1"/>
          </p:cNvSpPr>
          <p:nvPr/>
        </p:nvSpPr>
        <p:spPr bwMode="auto">
          <a:xfrm>
            <a:off x="0" y="3100715"/>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2800">
              <a:solidFill>
                <a:schemeClr val="tx2"/>
              </a:solidFill>
              <a:latin typeface="楷体" panose="02010609060101010101" pitchFamily="49" charset="-122"/>
              <a:ea typeface="楷体" panose="02010609060101010101" pitchFamily="49" charset="-122"/>
            </a:endParaRPr>
          </a:p>
        </p:txBody>
      </p:sp>
      <p:grpSp>
        <p:nvGrpSpPr>
          <p:cNvPr id="6" name="Group 14"/>
          <p:cNvGrpSpPr>
            <a:grpSpLocks/>
          </p:cNvGrpSpPr>
          <p:nvPr/>
        </p:nvGrpSpPr>
        <p:grpSpPr bwMode="auto">
          <a:xfrm>
            <a:off x="157163" y="4437063"/>
            <a:ext cx="8736012" cy="946150"/>
            <a:chOff x="99" y="2795"/>
            <a:chExt cx="5503" cy="596"/>
          </a:xfrm>
        </p:grpSpPr>
        <p:sp>
          <p:nvSpPr>
            <p:cNvPr id="7" name="Text Box 9"/>
            <p:cNvSpPr txBox="1">
              <a:spLocks noChangeArrowheads="1"/>
            </p:cNvSpPr>
            <p:nvPr/>
          </p:nvSpPr>
          <p:spPr bwMode="auto">
            <a:xfrm>
              <a:off x="99" y="2795"/>
              <a:ext cx="5503"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en-US" altLang="zh-CN" sz="2800" dirty="0">
                  <a:solidFill>
                    <a:srgbClr val="FF0066"/>
                  </a:solidFill>
                  <a:latin typeface="楷体" panose="02010609060101010101" pitchFamily="49" charset="-122"/>
                  <a:ea typeface="楷体" panose="02010609060101010101" pitchFamily="49" charset="-122"/>
                </a:rPr>
                <a:t>    </a:t>
              </a:r>
              <a:r>
                <a:rPr lang="en-US" altLang="zh-CN" sz="2800" dirty="0">
                  <a:solidFill>
                    <a:srgbClr val="3333FF"/>
                  </a:solidFill>
                  <a:latin typeface="楷体" panose="02010609060101010101" pitchFamily="49" charset="-122"/>
                  <a:ea typeface="楷体" panose="02010609060101010101" pitchFamily="49" charset="-122"/>
                </a:rPr>
                <a:t>(3)</a:t>
              </a:r>
              <a:r>
                <a:rPr lang="en-US" altLang="zh-CN" sz="2800" dirty="0">
                  <a:solidFill>
                    <a:srgbClr val="FF0066"/>
                  </a:solidFill>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CPU</a:t>
              </a:r>
              <a:r>
                <a:rPr lang="zh-CN" altLang="en-US" sz="2800" dirty="0">
                  <a:latin typeface="楷体" panose="02010609060101010101" pitchFamily="49" charset="-122"/>
                  <a:ea typeface="楷体" panose="02010609060101010101" pitchFamily="49" charset="-122"/>
                </a:rPr>
                <a:t>对</a:t>
              </a:r>
              <a:r>
                <a:rPr lang="en-US" altLang="zh-CN" sz="2800" dirty="0">
                  <a:latin typeface="楷体" panose="02010609060101010101" pitchFamily="49" charset="-122"/>
                  <a:ea typeface="楷体" panose="02010609060101010101" pitchFamily="49" charset="-122"/>
                </a:rPr>
                <a:t>I/O</a:t>
              </a:r>
              <a:r>
                <a:rPr lang="zh-CN" altLang="en-US" sz="2800" dirty="0">
                  <a:latin typeface="楷体" panose="02010609060101010101" pitchFamily="49" charset="-122"/>
                  <a:ea typeface="楷体" panose="02010609060101010101" pitchFamily="49" charset="-122"/>
                </a:rPr>
                <a:t>设备的读</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写控制是用</a:t>
              </a:r>
              <a:r>
                <a:rPr lang="en-US" altLang="zh-CN" sz="2800" dirty="0">
                  <a:latin typeface="楷体" panose="02010609060101010101" pitchFamily="49" charset="-122"/>
                  <a:ea typeface="楷体" panose="02010609060101010101" pitchFamily="49" charset="-122"/>
                </a:rPr>
                <a:t>I/O</a:t>
              </a:r>
              <a:r>
                <a:rPr lang="zh-CN" altLang="en-US" sz="2800" dirty="0">
                  <a:latin typeface="楷体" panose="02010609060101010101" pitchFamily="49" charset="-122"/>
                  <a:ea typeface="楷体" panose="02010609060101010101" pitchFamily="49" charset="-122"/>
                </a:rPr>
                <a:t>读</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写控制信号</a:t>
              </a:r>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 </a:t>
              </a:r>
            </a:p>
          </p:txBody>
        </p:sp>
        <p:graphicFrame>
          <p:nvGraphicFramePr>
            <p:cNvPr id="8" name="Object 10"/>
            <p:cNvGraphicFramePr>
              <a:graphicFrameLocks noChangeAspect="1"/>
            </p:cNvGraphicFramePr>
            <p:nvPr/>
          </p:nvGraphicFramePr>
          <p:xfrm>
            <a:off x="912" y="3176"/>
            <a:ext cx="217" cy="139"/>
          </p:xfrm>
          <a:graphic>
            <a:graphicData uri="http://schemas.openxmlformats.org/presentationml/2006/ole">
              <mc:AlternateContent xmlns:mc="http://schemas.openxmlformats.org/markup-compatibility/2006">
                <mc:Choice xmlns:v="urn:schemas-microsoft-com:vml" Requires="v">
                  <p:oleObj spid="_x0000_s4120" name="位图图像" r:id="rId3" imgW="219222" imgH="133192" progId="Paint.Picture">
                    <p:embed/>
                  </p:oleObj>
                </mc:Choice>
                <mc:Fallback>
                  <p:oleObj name="位图图像" r:id="rId3" imgW="219222" imgH="133192" progId="Paint.Picture">
                    <p:embed/>
                    <p:pic>
                      <p:nvPicPr>
                        <p:cNvPr id="60426"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3176"/>
                          <a:ext cx="217"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1"/>
            <p:cNvGraphicFramePr>
              <a:graphicFrameLocks noChangeAspect="1"/>
            </p:cNvGraphicFramePr>
            <p:nvPr/>
          </p:nvGraphicFramePr>
          <p:xfrm>
            <a:off x="1247" y="3185"/>
            <a:ext cx="225" cy="127"/>
          </p:xfrm>
          <a:graphic>
            <a:graphicData uri="http://schemas.openxmlformats.org/presentationml/2006/ole">
              <mc:AlternateContent xmlns:mc="http://schemas.openxmlformats.org/markup-compatibility/2006">
                <mc:Choice xmlns:v="urn:schemas-microsoft-com:vml" Requires="v">
                  <p:oleObj spid="_x0000_s4121" name="位图图像" r:id="rId5" imgW="228571" imgH="123842" progId="Paint.Picture">
                    <p:embed/>
                  </p:oleObj>
                </mc:Choice>
                <mc:Fallback>
                  <p:oleObj name="位图图像" r:id="rId5" imgW="228571" imgH="123842" progId="Paint.Picture">
                    <p:embed/>
                    <p:pic>
                      <p:nvPicPr>
                        <p:cNvPr id="60427"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7" y="3185"/>
                          <a:ext cx="225"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0" name="Text Box 12"/>
          <p:cNvSpPr txBox="1">
            <a:spLocks noChangeArrowheads="1"/>
          </p:cNvSpPr>
          <p:nvPr/>
        </p:nvSpPr>
        <p:spPr bwMode="auto">
          <a:xfrm>
            <a:off x="971550" y="5589588"/>
            <a:ext cx="5364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800">
                <a:solidFill>
                  <a:srgbClr val="3333FF"/>
                </a:solidFill>
                <a:latin typeface="楷体" panose="02010609060101010101" pitchFamily="49" charset="-122"/>
                <a:ea typeface="楷体" panose="02010609060101010101" pitchFamily="49" charset="-122"/>
              </a:rPr>
              <a:t>一个外设常有若干个端口地址。</a:t>
            </a:r>
            <a:r>
              <a:rPr lang="zh-CN" altLang="en-US" sz="280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310267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2000"/>
                            </p:stCondLst>
                            <p:childTnLst>
                              <p:par>
                                <p:cTn id="9" presetID="10" presetClass="entr" presetSubtype="0" fill="hold" grpId="0" nodeType="afterEffect">
                                  <p:stCondLst>
                                    <p:cond delay="5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000"/>
                                        <p:tgtEl>
                                          <p:spTgt spid="3"/>
                                        </p:tgtEl>
                                      </p:cBhvr>
                                    </p:animEffect>
                                  </p:childTnLst>
                                </p:cTn>
                              </p:par>
                            </p:childTnLst>
                          </p:cTn>
                        </p:par>
                        <p:par>
                          <p:cTn id="12" fill="hold">
                            <p:stCondLst>
                              <p:cond delay="45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2000"/>
                                        <p:tgtEl>
                                          <p:spTgt spid="4"/>
                                        </p:tgtEl>
                                      </p:cBhvr>
                                    </p:animEffect>
                                  </p:childTnLst>
                                </p:cTn>
                              </p:par>
                            </p:childTnLst>
                          </p:cTn>
                        </p:par>
                        <p:par>
                          <p:cTn id="16" fill="hold">
                            <p:stCondLst>
                              <p:cond delay="65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0"/>
                                        <p:tgtEl>
                                          <p:spTgt spid="6"/>
                                        </p:tgtEl>
                                      </p:cBhvr>
                                    </p:animEffect>
                                  </p:childTnLst>
                                </p:cTn>
                              </p:par>
                            </p:childTnLst>
                          </p:cTn>
                        </p:par>
                        <p:par>
                          <p:cTn id="20" fill="hold">
                            <p:stCondLst>
                              <p:cond delay="85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230188" y="1341438"/>
            <a:ext cx="858996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fontAlgn="b" hangingPunct="1">
              <a:buClr>
                <a:srgbClr val="0BD0D9"/>
              </a:buClr>
              <a:buSzPct val="95000"/>
              <a:buFont typeface="Wingdings 2" panose="05020102010507070707" pitchFamily="18" charset="2"/>
              <a:buNone/>
            </a:pPr>
            <a:r>
              <a:rPr lang="en-US" altLang="zh-CN" sz="2700" dirty="0">
                <a:latin typeface="楷体" panose="02010609060101010101" pitchFamily="49" charset="-122"/>
                <a:ea typeface="楷体" panose="02010609060101010101" pitchFamily="49" charset="-122"/>
              </a:rPr>
              <a:t>    </a:t>
            </a:r>
            <a:r>
              <a:rPr lang="zh-CN" altLang="en-US" sz="2700" dirty="0" smtClean="0">
                <a:latin typeface="楷体" panose="02010609060101010101" pitchFamily="49" charset="-122"/>
                <a:ea typeface="楷体" panose="02010609060101010101" pitchFamily="49" charset="-122"/>
              </a:rPr>
              <a:t>存储器</a:t>
            </a:r>
            <a:r>
              <a:rPr lang="zh-CN" altLang="en-US" sz="2700" dirty="0">
                <a:latin typeface="楷体" panose="02010609060101010101" pitchFamily="49" charset="-122"/>
                <a:ea typeface="楷体" panose="02010609060101010101" pitchFamily="49" charset="-122"/>
              </a:rPr>
              <a:t>映象</a:t>
            </a:r>
            <a:r>
              <a:rPr lang="en-US" altLang="zh-CN" sz="2700" dirty="0">
                <a:latin typeface="楷体" panose="02010609060101010101" pitchFamily="49" charset="-122"/>
                <a:ea typeface="楷体" panose="02010609060101010101" pitchFamily="49" charset="-122"/>
              </a:rPr>
              <a:t>I/O</a:t>
            </a:r>
            <a:r>
              <a:rPr lang="zh-CN" altLang="en-US" sz="2700" dirty="0">
                <a:latin typeface="楷体" panose="02010609060101010101" pitchFamily="49" charset="-122"/>
                <a:ea typeface="楷体" panose="02010609060101010101" pitchFamily="49" charset="-122"/>
              </a:rPr>
              <a:t>寻址方式又称为存储器对应</a:t>
            </a:r>
            <a:r>
              <a:rPr lang="en-US" altLang="zh-CN" sz="2700" dirty="0">
                <a:latin typeface="楷体" panose="02010609060101010101" pitchFamily="49" charset="-122"/>
                <a:ea typeface="楷体" panose="02010609060101010101" pitchFamily="49" charset="-122"/>
              </a:rPr>
              <a:t>I/O</a:t>
            </a:r>
            <a:r>
              <a:rPr lang="zh-CN" altLang="en-US" sz="2700" dirty="0">
                <a:latin typeface="楷体" panose="02010609060101010101" pitchFamily="49" charset="-122"/>
                <a:ea typeface="楷体" panose="02010609060101010101" pitchFamily="49" charset="-122"/>
              </a:rPr>
              <a:t>寻址方式，有</a:t>
            </a:r>
            <a:r>
              <a:rPr lang="en-US" altLang="zh-CN" sz="2700" dirty="0">
                <a:latin typeface="楷体" panose="02010609060101010101" pitchFamily="49" charset="-122"/>
                <a:ea typeface="楷体" panose="02010609060101010101" pitchFamily="49" charset="-122"/>
              </a:rPr>
              <a:t>3</a:t>
            </a:r>
            <a:r>
              <a:rPr lang="zh-CN" altLang="en-US" sz="2700" dirty="0">
                <a:latin typeface="楷体" panose="02010609060101010101" pitchFamily="49" charset="-122"/>
                <a:ea typeface="楷体" panose="02010609060101010101" pitchFamily="49" charset="-122"/>
              </a:rPr>
              <a:t>个特点： </a:t>
            </a:r>
          </a:p>
        </p:txBody>
      </p:sp>
      <p:sp>
        <p:nvSpPr>
          <p:cNvPr id="3" name="Text Box 4"/>
          <p:cNvSpPr txBox="1">
            <a:spLocks noChangeArrowheads="1"/>
          </p:cNvSpPr>
          <p:nvPr/>
        </p:nvSpPr>
        <p:spPr bwMode="auto">
          <a:xfrm>
            <a:off x="146050" y="2349500"/>
            <a:ext cx="8747125"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fontAlgn="b" hangingPunct="1">
              <a:buClr>
                <a:srgbClr val="0BD0D9"/>
              </a:buClr>
              <a:buSzPct val="95000"/>
              <a:buFont typeface="Wingdings 2" panose="05020102010507070707" pitchFamily="18" charset="2"/>
              <a:buNone/>
            </a:pPr>
            <a:r>
              <a:rPr lang="en-US" altLang="zh-CN" sz="2700">
                <a:solidFill>
                  <a:srgbClr val="FF0066"/>
                </a:solidFill>
                <a:latin typeface="楷体" panose="02010609060101010101" pitchFamily="49" charset="-122"/>
                <a:ea typeface="楷体" panose="02010609060101010101" pitchFamily="49" charset="-122"/>
              </a:rPr>
              <a:t>    </a:t>
            </a:r>
            <a:r>
              <a:rPr lang="en-US" altLang="zh-CN" sz="2700">
                <a:solidFill>
                  <a:srgbClr val="3333FF"/>
                </a:solidFill>
                <a:latin typeface="楷体" panose="02010609060101010101" pitchFamily="49" charset="-122"/>
                <a:ea typeface="楷体" panose="02010609060101010101" pitchFamily="49" charset="-122"/>
              </a:rPr>
              <a:t>(1)</a:t>
            </a:r>
            <a:r>
              <a:rPr lang="en-US" altLang="zh-CN" sz="2700">
                <a:solidFill>
                  <a:srgbClr val="FF0066"/>
                </a:solidFill>
                <a:latin typeface="楷体" panose="02010609060101010101" pitchFamily="49" charset="-122"/>
                <a:ea typeface="楷体" panose="02010609060101010101" pitchFamily="49" charset="-122"/>
              </a:rPr>
              <a:t>I/O</a:t>
            </a:r>
            <a:r>
              <a:rPr lang="zh-CN" altLang="en-US" sz="2700">
                <a:solidFill>
                  <a:srgbClr val="FF0066"/>
                </a:solidFill>
                <a:latin typeface="楷体" panose="02010609060101010101" pitchFamily="49" charset="-122"/>
                <a:ea typeface="楷体" panose="02010609060101010101" pitchFamily="49" charset="-122"/>
              </a:rPr>
              <a:t>接口与存储器共用同一个地址空间。</a:t>
            </a:r>
            <a:r>
              <a:rPr lang="zh-CN" altLang="en-US" sz="2700">
                <a:latin typeface="楷体" panose="02010609060101010101" pitchFamily="49" charset="-122"/>
                <a:ea typeface="楷体" panose="02010609060101010101" pitchFamily="49" charset="-122"/>
              </a:rPr>
              <a:t>即在系统设计时指定存储器地址空间内的一个区域供</a:t>
            </a:r>
            <a:r>
              <a:rPr lang="en-US" altLang="zh-CN" sz="2700">
                <a:latin typeface="楷体" panose="02010609060101010101" pitchFamily="49" charset="-122"/>
                <a:ea typeface="楷体" panose="02010609060101010101" pitchFamily="49" charset="-122"/>
              </a:rPr>
              <a:t>I/O</a:t>
            </a:r>
            <a:r>
              <a:rPr lang="zh-CN" altLang="en-US" sz="2700">
                <a:latin typeface="楷体" panose="02010609060101010101" pitchFamily="49" charset="-122"/>
                <a:ea typeface="楷体" panose="02010609060101010101" pitchFamily="49" charset="-122"/>
              </a:rPr>
              <a:t>设备使用，故</a:t>
            </a:r>
            <a:r>
              <a:rPr lang="en-US" altLang="zh-CN" sz="2700">
                <a:latin typeface="楷体" panose="02010609060101010101" pitchFamily="49" charset="-122"/>
                <a:ea typeface="楷体" panose="02010609060101010101" pitchFamily="49" charset="-122"/>
              </a:rPr>
              <a:t>I/O</a:t>
            </a:r>
            <a:r>
              <a:rPr lang="zh-CN" altLang="en-US" sz="2700">
                <a:latin typeface="楷体" panose="02010609060101010101" pitchFamily="49" charset="-122"/>
                <a:ea typeface="楷体" panose="02010609060101010101" pitchFamily="49" charset="-122"/>
              </a:rPr>
              <a:t>设备的每一个寄存器占用存储器空间的一个地址。</a:t>
            </a:r>
            <a:r>
              <a:rPr lang="zh-CN" altLang="en-US" sz="2700">
                <a:solidFill>
                  <a:srgbClr val="FF0066"/>
                </a:solidFill>
                <a:latin typeface="楷体" panose="02010609060101010101" pitchFamily="49" charset="-122"/>
                <a:ea typeface="楷体" panose="02010609060101010101" pitchFamily="49" charset="-122"/>
              </a:rPr>
              <a:t>这时存储器与</a:t>
            </a:r>
            <a:r>
              <a:rPr lang="en-US" altLang="zh-CN" sz="2700">
                <a:solidFill>
                  <a:srgbClr val="FF0066"/>
                </a:solidFill>
                <a:latin typeface="楷体" panose="02010609060101010101" pitchFamily="49" charset="-122"/>
                <a:ea typeface="楷体" panose="02010609060101010101" pitchFamily="49" charset="-122"/>
              </a:rPr>
              <a:t>I/O</a:t>
            </a:r>
            <a:r>
              <a:rPr lang="zh-CN" altLang="en-US" sz="2700">
                <a:solidFill>
                  <a:srgbClr val="FF0066"/>
                </a:solidFill>
                <a:latin typeface="楷体" panose="02010609060101010101" pitchFamily="49" charset="-122"/>
                <a:ea typeface="楷体" panose="02010609060101010101" pitchFamily="49" charset="-122"/>
              </a:rPr>
              <a:t>设备之间的唯一区别是其所占用的地址不同。 </a:t>
            </a:r>
          </a:p>
        </p:txBody>
      </p:sp>
      <p:sp>
        <p:nvSpPr>
          <p:cNvPr id="4" name="Text Box 5"/>
          <p:cNvSpPr txBox="1">
            <a:spLocks noChangeArrowheads="1"/>
          </p:cNvSpPr>
          <p:nvPr/>
        </p:nvSpPr>
        <p:spPr bwMode="auto">
          <a:xfrm>
            <a:off x="166688" y="4581525"/>
            <a:ext cx="87264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fontAlgn="b" hangingPunct="1">
              <a:buClr>
                <a:srgbClr val="0BD0D9"/>
              </a:buClr>
              <a:buSzPct val="95000"/>
              <a:buFont typeface="Wingdings 2" panose="05020102010507070707" pitchFamily="18" charset="2"/>
              <a:buNone/>
            </a:pPr>
            <a:r>
              <a:rPr lang="en-US" altLang="zh-CN" sz="2700">
                <a:solidFill>
                  <a:srgbClr val="FF0066"/>
                </a:solidFill>
                <a:latin typeface="楷体" panose="02010609060101010101" pitchFamily="49" charset="-122"/>
                <a:ea typeface="楷体" panose="02010609060101010101" pitchFamily="49" charset="-122"/>
              </a:rPr>
              <a:t>    </a:t>
            </a:r>
            <a:r>
              <a:rPr lang="en-US" altLang="zh-CN" sz="2700">
                <a:solidFill>
                  <a:srgbClr val="3333FF"/>
                </a:solidFill>
                <a:latin typeface="楷体" panose="02010609060101010101" pitchFamily="49" charset="-122"/>
                <a:ea typeface="楷体" panose="02010609060101010101" pitchFamily="49" charset="-122"/>
              </a:rPr>
              <a:t>(2)</a:t>
            </a:r>
            <a:r>
              <a:rPr lang="en-US" altLang="zh-CN" sz="2700">
                <a:solidFill>
                  <a:srgbClr val="FF0066"/>
                </a:solidFill>
                <a:latin typeface="楷体" panose="02010609060101010101" pitchFamily="49" charset="-122"/>
                <a:ea typeface="楷体" panose="02010609060101010101" pitchFamily="49" charset="-122"/>
              </a:rPr>
              <a:t>CPU</a:t>
            </a:r>
            <a:r>
              <a:rPr lang="zh-CN" altLang="en-US" sz="2700">
                <a:solidFill>
                  <a:srgbClr val="FF0066"/>
                </a:solidFill>
                <a:latin typeface="楷体" panose="02010609060101010101" pitchFamily="49" charset="-122"/>
                <a:ea typeface="楷体" panose="02010609060101010101" pitchFamily="49" charset="-122"/>
              </a:rPr>
              <a:t>利用对存储器的存储单元进行操作的指令来实现对</a:t>
            </a:r>
            <a:r>
              <a:rPr lang="en-US" altLang="zh-CN" sz="2700">
                <a:solidFill>
                  <a:srgbClr val="FF0066"/>
                </a:solidFill>
                <a:latin typeface="楷体" panose="02010609060101010101" pitchFamily="49" charset="-122"/>
                <a:ea typeface="楷体" panose="02010609060101010101" pitchFamily="49" charset="-122"/>
              </a:rPr>
              <a:t>I/O</a:t>
            </a:r>
            <a:r>
              <a:rPr lang="zh-CN" altLang="en-US" sz="2700">
                <a:solidFill>
                  <a:srgbClr val="FF0066"/>
                </a:solidFill>
                <a:latin typeface="楷体" panose="02010609060101010101" pitchFamily="49" charset="-122"/>
                <a:ea typeface="楷体" panose="02010609060101010101" pitchFamily="49" charset="-122"/>
              </a:rPr>
              <a:t>设备的管理。 </a:t>
            </a:r>
          </a:p>
        </p:txBody>
      </p:sp>
      <p:grpSp>
        <p:nvGrpSpPr>
          <p:cNvPr id="5" name="Group 12"/>
          <p:cNvGrpSpPr>
            <a:grpSpLocks/>
          </p:cNvGrpSpPr>
          <p:nvPr/>
        </p:nvGrpSpPr>
        <p:grpSpPr bwMode="auto">
          <a:xfrm>
            <a:off x="179388" y="5516563"/>
            <a:ext cx="8734425" cy="914400"/>
            <a:chOff x="113" y="3475"/>
            <a:chExt cx="5502" cy="576"/>
          </a:xfrm>
        </p:grpSpPr>
        <p:sp>
          <p:nvSpPr>
            <p:cNvPr id="6" name="Text Box 8"/>
            <p:cNvSpPr txBox="1">
              <a:spLocks noChangeArrowheads="1"/>
            </p:cNvSpPr>
            <p:nvPr/>
          </p:nvSpPr>
          <p:spPr bwMode="auto">
            <a:xfrm>
              <a:off x="113" y="3475"/>
              <a:ext cx="550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fontAlgn="b" hangingPunct="1">
                <a:buClr>
                  <a:srgbClr val="0BD0D9"/>
                </a:buClr>
                <a:buSzPct val="95000"/>
                <a:buFont typeface="Wingdings 2" panose="05020102010507070707" pitchFamily="18" charset="2"/>
                <a:buNone/>
              </a:pPr>
              <a:r>
                <a:rPr lang="en-US" altLang="zh-CN" sz="2700">
                  <a:solidFill>
                    <a:srgbClr val="FF0066"/>
                  </a:solidFill>
                  <a:latin typeface="楷体" panose="02010609060101010101" pitchFamily="49" charset="-122"/>
                  <a:ea typeface="楷体" panose="02010609060101010101" pitchFamily="49" charset="-122"/>
                </a:rPr>
                <a:t>    </a:t>
              </a:r>
              <a:r>
                <a:rPr lang="en-US" altLang="zh-CN" sz="2700">
                  <a:solidFill>
                    <a:srgbClr val="3333FF"/>
                  </a:solidFill>
                  <a:latin typeface="楷体" panose="02010609060101010101" pitchFamily="49" charset="-122"/>
                  <a:ea typeface="楷体" panose="02010609060101010101" pitchFamily="49" charset="-122"/>
                </a:rPr>
                <a:t>(3)</a:t>
              </a:r>
              <a:r>
                <a:rPr lang="en-US" altLang="zh-CN" sz="2700">
                  <a:solidFill>
                    <a:srgbClr val="FF0066"/>
                  </a:solidFill>
                  <a:latin typeface="楷体" panose="02010609060101010101" pitchFamily="49" charset="-122"/>
                  <a:ea typeface="楷体" panose="02010609060101010101" pitchFamily="49" charset="-122"/>
                </a:rPr>
                <a:t>CPU</a:t>
              </a:r>
              <a:r>
                <a:rPr lang="zh-CN" altLang="en-US" sz="2700">
                  <a:solidFill>
                    <a:srgbClr val="FF0066"/>
                  </a:solidFill>
                  <a:latin typeface="楷体" panose="02010609060101010101" pitchFamily="49" charset="-122"/>
                  <a:ea typeface="楷体" panose="02010609060101010101" pitchFamily="49" charset="-122"/>
                </a:rPr>
                <a:t>用存储器读</a:t>
              </a:r>
              <a:r>
                <a:rPr lang="en-US" altLang="zh-CN" sz="2700">
                  <a:solidFill>
                    <a:srgbClr val="FF0066"/>
                  </a:solidFill>
                  <a:latin typeface="楷体" panose="02010609060101010101" pitchFamily="49" charset="-122"/>
                  <a:ea typeface="楷体" panose="02010609060101010101" pitchFamily="49" charset="-122"/>
                </a:rPr>
                <a:t>/</a:t>
              </a:r>
              <a:r>
                <a:rPr lang="zh-CN" altLang="en-US" sz="2700">
                  <a:solidFill>
                    <a:srgbClr val="FF0066"/>
                  </a:solidFill>
                  <a:latin typeface="楷体" panose="02010609060101010101" pitchFamily="49" charset="-122"/>
                  <a:ea typeface="楷体" panose="02010609060101010101" pitchFamily="49" charset="-122"/>
                </a:rPr>
                <a:t>写控制信号</a:t>
              </a:r>
              <a:r>
                <a:rPr lang="en-US" altLang="zh-CN" sz="2700">
                  <a:solidFill>
                    <a:srgbClr val="FF0066"/>
                  </a:solidFill>
                  <a:latin typeface="楷体" panose="02010609060101010101" pitchFamily="49" charset="-122"/>
                  <a:ea typeface="楷体" panose="02010609060101010101" pitchFamily="49" charset="-122"/>
                </a:rPr>
                <a:t>(   </a:t>
              </a:r>
              <a:r>
                <a:rPr lang="zh-CN" altLang="en-US" sz="2700">
                  <a:solidFill>
                    <a:srgbClr val="FF0066"/>
                  </a:solidFill>
                  <a:latin typeface="楷体" panose="02010609060101010101" pitchFamily="49" charset="-122"/>
                  <a:ea typeface="楷体" panose="02010609060101010101" pitchFamily="49" charset="-122"/>
                </a:rPr>
                <a:t>、  </a:t>
              </a:r>
              <a:r>
                <a:rPr lang="en-US" altLang="zh-CN" sz="2700">
                  <a:solidFill>
                    <a:srgbClr val="FF0066"/>
                  </a:solidFill>
                  <a:latin typeface="楷体" panose="02010609060101010101" pitchFamily="49" charset="-122"/>
                  <a:ea typeface="楷体" panose="02010609060101010101" pitchFamily="49" charset="-122"/>
                </a:rPr>
                <a:t>)</a:t>
              </a:r>
              <a:r>
                <a:rPr lang="zh-CN" altLang="en-US" sz="2700">
                  <a:solidFill>
                    <a:srgbClr val="FF0066"/>
                  </a:solidFill>
                  <a:latin typeface="楷体" panose="02010609060101010101" pitchFamily="49" charset="-122"/>
                  <a:ea typeface="楷体" panose="02010609060101010101" pitchFamily="49" charset="-122"/>
                </a:rPr>
                <a:t>对</a:t>
              </a:r>
              <a:r>
                <a:rPr lang="en-US" altLang="zh-CN" sz="2700">
                  <a:solidFill>
                    <a:srgbClr val="FF0066"/>
                  </a:solidFill>
                  <a:latin typeface="楷体" panose="02010609060101010101" pitchFamily="49" charset="-122"/>
                  <a:ea typeface="楷体" panose="02010609060101010101" pitchFamily="49" charset="-122"/>
                </a:rPr>
                <a:t>I/O</a:t>
              </a:r>
              <a:r>
                <a:rPr lang="zh-CN" altLang="en-US" sz="2700">
                  <a:solidFill>
                    <a:srgbClr val="FF0066"/>
                  </a:solidFill>
                  <a:latin typeface="楷体" panose="02010609060101010101" pitchFamily="49" charset="-122"/>
                  <a:ea typeface="楷体" panose="02010609060101010101" pitchFamily="49" charset="-122"/>
                </a:rPr>
                <a:t>设备进行读</a:t>
              </a:r>
              <a:r>
                <a:rPr lang="en-US" altLang="zh-CN" sz="2700">
                  <a:solidFill>
                    <a:srgbClr val="FF0066"/>
                  </a:solidFill>
                  <a:latin typeface="楷体" panose="02010609060101010101" pitchFamily="49" charset="-122"/>
                  <a:ea typeface="楷体" panose="02010609060101010101" pitchFamily="49" charset="-122"/>
                </a:rPr>
                <a:t>/</a:t>
              </a:r>
              <a:r>
                <a:rPr lang="zh-CN" altLang="en-US" sz="2700">
                  <a:solidFill>
                    <a:srgbClr val="FF0066"/>
                  </a:solidFill>
                  <a:latin typeface="楷体" panose="02010609060101010101" pitchFamily="49" charset="-122"/>
                  <a:ea typeface="楷体" panose="02010609060101010101" pitchFamily="49" charset="-122"/>
                </a:rPr>
                <a:t>写控制。 </a:t>
              </a:r>
            </a:p>
          </p:txBody>
        </p:sp>
        <p:graphicFrame>
          <p:nvGraphicFramePr>
            <p:cNvPr id="7" name="Object 9"/>
            <p:cNvGraphicFramePr>
              <a:graphicFrameLocks noChangeAspect="1"/>
            </p:cNvGraphicFramePr>
            <p:nvPr/>
          </p:nvGraphicFramePr>
          <p:xfrm>
            <a:off x="4157" y="3565"/>
            <a:ext cx="220" cy="166"/>
          </p:xfrm>
          <a:graphic>
            <a:graphicData uri="http://schemas.openxmlformats.org/presentationml/2006/ole">
              <mc:AlternateContent xmlns:mc="http://schemas.openxmlformats.org/markup-compatibility/2006">
                <mc:Choice xmlns:v="urn:schemas-microsoft-com:vml" Requires="v">
                  <p:oleObj spid="_x0000_s5144" name="位图图像" r:id="rId3" imgW="304923" imgH="133192" progId="Paint.Picture">
                    <p:embed/>
                  </p:oleObj>
                </mc:Choice>
                <mc:Fallback>
                  <p:oleObj name="位图图像" r:id="rId3" imgW="304923" imgH="133192" progId="Paint.Picture">
                    <p:embed/>
                    <p:pic>
                      <p:nvPicPr>
                        <p:cNvPr id="61449" name="Object 9"/>
                        <p:cNvPicPr>
                          <a:picLocks noChangeAspect="1" noChangeArrowheads="1"/>
                        </p:cNvPicPr>
                        <p:nvPr/>
                      </p:nvPicPr>
                      <p:blipFill>
                        <a:blip r:embed="rId4">
                          <a:lum contrast="66000"/>
                          <a:extLst>
                            <a:ext uri="{28A0092B-C50C-407E-A947-70E740481C1C}">
                              <a14:useLocalDpi xmlns:a14="http://schemas.microsoft.com/office/drawing/2010/main" val="0"/>
                            </a:ext>
                          </a:extLst>
                        </a:blip>
                        <a:srcRect/>
                        <a:stretch>
                          <a:fillRect/>
                        </a:stretch>
                      </p:blipFill>
                      <p:spPr bwMode="auto">
                        <a:xfrm>
                          <a:off x="4157" y="3565"/>
                          <a:ext cx="22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p:cNvGraphicFramePr>
              <a:graphicFrameLocks noChangeAspect="1"/>
            </p:cNvGraphicFramePr>
            <p:nvPr/>
          </p:nvGraphicFramePr>
          <p:xfrm>
            <a:off x="3703" y="3565"/>
            <a:ext cx="220" cy="175"/>
          </p:xfrm>
          <a:graphic>
            <a:graphicData uri="http://schemas.openxmlformats.org/presentationml/2006/ole">
              <mc:AlternateContent xmlns:mc="http://schemas.openxmlformats.org/markup-compatibility/2006">
                <mc:Choice xmlns:v="urn:schemas-microsoft-com:vml" Requires="v">
                  <p:oleObj spid="_x0000_s5145" name="位图图像" r:id="rId5" imgW="295238" imgH="133192" progId="Paint.Picture">
                    <p:embed/>
                  </p:oleObj>
                </mc:Choice>
                <mc:Fallback>
                  <p:oleObj name="位图图像" r:id="rId5" imgW="295238" imgH="133192" progId="Paint.Picture">
                    <p:embed/>
                    <p:pic>
                      <p:nvPicPr>
                        <p:cNvPr id="61450" name="Object 10"/>
                        <p:cNvPicPr>
                          <a:picLocks noChangeAspect="1" noChangeArrowheads="1"/>
                        </p:cNvPicPr>
                        <p:nvPr/>
                      </p:nvPicPr>
                      <p:blipFill>
                        <a:blip r:embed="rId6">
                          <a:lum contrast="72000"/>
                          <a:extLst>
                            <a:ext uri="{28A0092B-C50C-407E-A947-70E740481C1C}">
                              <a14:useLocalDpi xmlns:a14="http://schemas.microsoft.com/office/drawing/2010/main" val="0"/>
                            </a:ext>
                          </a:extLst>
                        </a:blip>
                        <a:srcRect/>
                        <a:stretch>
                          <a:fillRect/>
                        </a:stretch>
                      </p:blipFill>
                      <p:spPr bwMode="auto">
                        <a:xfrm>
                          <a:off x="3703" y="3565"/>
                          <a:ext cx="220"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380138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0" y="1125538"/>
            <a:ext cx="628491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fontAlgn="b" hangingPunct="1">
              <a:buClr>
                <a:srgbClr val="0BD0D9"/>
              </a:buClr>
              <a:buSzPct val="95000"/>
              <a:buFont typeface="Wingdings 2" panose="05020102010507070707" pitchFamily="18" charset="2"/>
              <a:buNone/>
            </a:pPr>
            <a:r>
              <a:rPr lang="en-US" altLang="zh-CN" sz="2700" dirty="0">
                <a:latin typeface="楷体" panose="02010609060101010101" pitchFamily="49" charset="-122"/>
                <a:ea typeface="楷体" panose="02010609060101010101" pitchFamily="49" charset="-122"/>
              </a:rPr>
              <a:t>  </a:t>
            </a:r>
            <a:r>
              <a:rPr lang="zh-CN" altLang="en-US" sz="2700" dirty="0" smtClean="0">
                <a:solidFill>
                  <a:srgbClr val="FF0066"/>
                </a:solidFill>
                <a:latin typeface="楷体" panose="02010609060101010101" pitchFamily="49" charset="-122"/>
                <a:ea typeface="楷体" panose="02010609060101010101" pitchFamily="49" charset="-122"/>
              </a:rPr>
              <a:t>存储器</a:t>
            </a:r>
            <a:r>
              <a:rPr lang="zh-CN" altLang="en-US" sz="2700" dirty="0">
                <a:solidFill>
                  <a:srgbClr val="FF0066"/>
                </a:solidFill>
                <a:latin typeface="楷体" panose="02010609060101010101" pitchFamily="49" charset="-122"/>
                <a:ea typeface="楷体" panose="02010609060101010101" pitchFamily="49" charset="-122"/>
              </a:rPr>
              <a:t>映象</a:t>
            </a:r>
            <a:r>
              <a:rPr lang="en-US" altLang="zh-CN" sz="2700" dirty="0">
                <a:solidFill>
                  <a:srgbClr val="FF0066"/>
                </a:solidFill>
                <a:latin typeface="楷体" panose="02010609060101010101" pitchFamily="49" charset="-122"/>
                <a:ea typeface="楷体" panose="02010609060101010101" pitchFamily="49" charset="-122"/>
              </a:rPr>
              <a:t>I/O</a:t>
            </a:r>
            <a:r>
              <a:rPr lang="zh-CN" altLang="en-US" sz="2700" dirty="0">
                <a:solidFill>
                  <a:srgbClr val="FF0066"/>
                </a:solidFill>
                <a:latin typeface="楷体" panose="02010609060101010101" pitchFamily="49" charset="-122"/>
                <a:ea typeface="楷体" panose="02010609060101010101" pitchFamily="49" charset="-122"/>
              </a:rPr>
              <a:t>寻址方式的优点：</a:t>
            </a:r>
            <a:r>
              <a:rPr lang="zh-CN" altLang="en-US" sz="2700" dirty="0">
                <a:latin typeface="楷体" panose="02010609060101010101" pitchFamily="49" charset="-122"/>
                <a:ea typeface="楷体" panose="02010609060101010101" pitchFamily="49" charset="-122"/>
              </a:rPr>
              <a:t> </a:t>
            </a:r>
          </a:p>
        </p:txBody>
      </p:sp>
      <p:sp>
        <p:nvSpPr>
          <p:cNvPr id="3" name="Text Box 3"/>
          <p:cNvSpPr txBox="1">
            <a:spLocks noChangeArrowheads="1"/>
          </p:cNvSpPr>
          <p:nvPr/>
        </p:nvSpPr>
        <p:spPr bwMode="auto">
          <a:xfrm>
            <a:off x="117475" y="1628775"/>
            <a:ext cx="902652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fontAlgn="b" hangingPunct="1">
              <a:lnSpc>
                <a:spcPct val="105000"/>
              </a:lnSpc>
              <a:buClr>
                <a:srgbClr val="0BD0D9"/>
              </a:buClr>
              <a:buSzPct val="95000"/>
              <a:buFont typeface="Wingdings 2" panose="05020102010507070707" pitchFamily="18" charset="2"/>
              <a:buNone/>
            </a:pPr>
            <a:r>
              <a:rPr lang="en-US" altLang="zh-CN" sz="2800">
                <a:solidFill>
                  <a:srgbClr val="FF0066"/>
                </a:solidFill>
                <a:latin typeface="楷体" panose="02010609060101010101" pitchFamily="49" charset="-122"/>
                <a:ea typeface="楷体" panose="02010609060101010101" pitchFamily="49" charset="-122"/>
              </a:rPr>
              <a:t>   </a:t>
            </a:r>
            <a:r>
              <a:rPr lang="zh-CN" altLang="en-US" sz="2700">
                <a:solidFill>
                  <a:srgbClr val="3333FF"/>
                </a:solidFill>
                <a:latin typeface="楷体" panose="02010609060101010101" pitchFamily="49" charset="-122"/>
                <a:ea typeface="楷体" panose="02010609060101010101" pitchFamily="49" charset="-122"/>
              </a:rPr>
              <a:t>（</a:t>
            </a:r>
            <a:r>
              <a:rPr lang="en-US" altLang="zh-CN" sz="2700">
                <a:solidFill>
                  <a:srgbClr val="3333FF"/>
                </a:solidFill>
                <a:latin typeface="楷体" panose="02010609060101010101" pitchFamily="49" charset="-122"/>
                <a:ea typeface="楷体" panose="02010609060101010101" pitchFamily="49" charset="-122"/>
              </a:rPr>
              <a:t>1</a:t>
            </a:r>
            <a:r>
              <a:rPr lang="zh-CN" altLang="en-US" sz="2700">
                <a:solidFill>
                  <a:srgbClr val="3333FF"/>
                </a:solidFill>
                <a:latin typeface="楷体" panose="02010609060101010101" pitchFamily="49" charset="-122"/>
                <a:ea typeface="楷体" panose="02010609060101010101" pitchFamily="49" charset="-122"/>
              </a:rPr>
              <a:t>）</a:t>
            </a:r>
            <a:r>
              <a:rPr lang="en-US" altLang="zh-CN" sz="2700">
                <a:latin typeface="楷体" panose="02010609060101010101" pitchFamily="49" charset="-122"/>
                <a:ea typeface="楷体" panose="02010609060101010101" pitchFamily="49" charset="-122"/>
              </a:rPr>
              <a:t>CPU</a:t>
            </a:r>
            <a:r>
              <a:rPr lang="zh-CN" altLang="en-US" sz="2700">
                <a:latin typeface="楷体" panose="02010609060101010101" pitchFamily="49" charset="-122"/>
                <a:ea typeface="楷体" panose="02010609060101010101" pitchFamily="49" charset="-122"/>
              </a:rPr>
              <a:t>对外设的操作可使用全部的存储器操作指令，故指令多，使用方便，如可对外设中的数据</a:t>
            </a:r>
            <a:r>
              <a:rPr lang="en-US" altLang="zh-CN" sz="2700">
                <a:latin typeface="楷体" panose="02010609060101010101" pitchFamily="49" charset="-122"/>
                <a:ea typeface="楷体" panose="02010609060101010101" pitchFamily="49" charset="-122"/>
              </a:rPr>
              <a:t>(</a:t>
            </a:r>
            <a:r>
              <a:rPr lang="zh-CN" altLang="en-US" sz="2700">
                <a:latin typeface="楷体" panose="02010609060101010101" pitchFamily="49" charset="-122"/>
                <a:ea typeface="楷体" panose="02010609060101010101" pitchFamily="49" charset="-122"/>
              </a:rPr>
              <a:t>存于外设的寄存器中</a:t>
            </a:r>
            <a:r>
              <a:rPr lang="en-US" altLang="zh-CN" sz="2700">
                <a:latin typeface="楷体" panose="02010609060101010101" pitchFamily="49" charset="-122"/>
                <a:ea typeface="楷体" panose="02010609060101010101" pitchFamily="49" charset="-122"/>
              </a:rPr>
              <a:t>)</a:t>
            </a:r>
            <a:r>
              <a:rPr lang="zh-CN" altLang="en-US" sz="2700">
                <a:latin typeface="楷体" panose="02010609060101010101" pitchFamily="49" charset="-122"/>
                <a:ea typeface="楷体" panose="02010609060101010101" pitchFamily="49" charset="-122"/>
              </a:rPr>
              <a:t>进行算术和逻辑运算，进行循环或移位等；</a:t>
            </a:r>
          </a:p>
          <a:p>
            <a:pPr eaLnBrk="1" fontAlgn="b" hangingPunct="1">
              <a:lnSpc>
                <a:spcPct val="105000"/>
              </a:lnSpc>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zh-CN" altLang="en-US" sz="2700">
                <a:solidFill>
                  <a:srgbClr val="3333FF"/>
                </a:solidFill>
                <a:latin typeface="楷体" panose="02010609060101010101" pitchFamily="49" charset="-122"/>
                <a:ea typeface="楷体" panose="02010609060101010101" pitchFamily="49" charset="-122"/>
              </a:rPr>
              <a:t>（</a:t>
            </a:r>
            <a:r>
              <a:rPr lang="en-US" altLang="zh-CN" sz="2700">
                <a:solidFill>
                  <a:srgbClr val="3333FF"/>
                </a:solidFill>
                <a:latin typeface="楷体" panose="02010609060101010101" pitchFamily="49" charset="-122"/>
                <a:ea typeface="楷体" panose="02010609060101010101" pitchFamily="49" charset="-122"/>
              </a:rPr>
              <a:t>2</a:t>
            </a:r>
            <a:r>
              <a:rPr lang="zh-CN" altLang="en-US" sz="2700">
                <a:solidFill>
                  <a:srgbClr val="3333FF"/>
                </a:solidFill>
                <a:latin typeface="楷体" panose="02010609060101010101" pitchFamily="49" charset="-122"/>
                <a:ea typeface="楷体" panose="02010609060101010101" pitchFamily="49" charset="-122"/>
              </a:rPr>
              <a:t>）</a:t>
            </a:r>
            <a:r>
              <a:rPr lang="zh-CN" altLang="en-US" sz="2700">
                <a:latin typeface="楷体" panose="02010609060101010101" pitchFamily="49" charset="-122"/>
                <a:ea typeface="楷体" panose="02010609060101010101" pitchFamily="49" charset="-122"/>
              </a:rPr>
              <a:t>存储器和外设的地址分布图是同一个；</a:t>
            </a:r>
          </a:p>
          <a:p>
            <a:pPr eaLnBrk="1" fontAlgn="b" hangingPunct="1">
              <a:lnSpc>
                <a:spcPct val="105000"/>
              </a:lnSpc>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zh-CN" altLang="en-US" sz="2700">
                <a:solidFill>
                  <a:srgbClr val="3333FF"/>
                </a:solidFill>
                <a:latin typeface="楷体" panose="02010609060101010101" pitchFamily="49" charset="-122"/>
                <a:ea typeface="楷体" panose="02010609060101010101" pitchFamily="49" charset="-122"/>
              </a:rPr>
              <a:t>（</a:t>
            </a:r>
            <a:r>
              <a:rPr lang="en-US" altLang="zh-CN" sz="2700">
                <a:solidFill>
                  <a:srgbClr val="3333FF"/>
                </a:solidFill>
                <a:latin typeface="楷体" panose="02010609060101010101" pitchFamily="49" charset="-122"/>
                <a:ea typeface="楷体" panose="02010609060101010101" pitchFamily="49" charset="-122"/>
              </a:rPr>
              <a:t>3</a:t>
            </a:r>
            <a:r>
              <a:rPr lang="zh-CN" altLang="en-US" sz="2700">
                <a:solidFill>
                  <a:srgbClr val="3333FF"/>
                </a:solidFill>
                <a:latin typeface="楷体" panose="02010609060101010101" pitchFamily="49" charset="-122"/>
                <a:ea typeface="楷体" panose="02010609060101010101" pitchFamily="49" charset="-122"/>
              </a:rPr>
              <a:t>）</a:t>
            </a:r>
            <a:r>
              <a:rPr lang="zh-CN" altLang="en-US" sz="2700">
                <a:latin typeface="楷体" panose="02010609060101010101" pitchFamily="49" charset="-122"/>
                <a:ea typeface="楷体" panose="02010609060101010101" pitchFamily="49" charset="-122"/>
              </a:rPr>
              <a:t>不需要专门的输入</a:t>
            </a:r>
            <a:r>
              <a:rPr lang="en-US" altLang="zh-CN" sz="2700">
                <a:latin typeface="楷体" panose="02010609060101010101" pitchFamily="49" charset="-122"/>
                <a:ea typeface="楷体" panose="02010609060101010101" pitchFamily="49" charset="-122"/>
              </a:rPr>
              <a:t>/</a:t>
            </a:r>
            <a:r>
              <a:rPr lang="zh-CN" altLang="en-US" sz="2700">
                <a:latin typeface="楷体" panose="02010609060101010101" pitchFamily="49" charset="-122"/>
                <a:ea typeface="楷体" panose="02010609060101010101" pitchFamily="49" charset="-122"/>
              </a:rPr>
              <a:t>输出指令。 </a:t>
            </a:r>
          </a:p>
        </p:txBody>
      </p:sp>
      <p:sp>
        <p:nvSpPr>
          <p:cNvPr id="4" name="Text Box 4"/>
          <p:cNvSpPr txBox="1">
            <a:spLocks noChangeArrowheads="1"/>
          </p:cNvSpPr>
          <p:nvPr/>
        </p:nvSpPr>
        <p:spPr bwMode="auto">
          <a:xfrm>
            <a:off x="238125" y="4292600"/>
            <a:ext cx="5126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fontAlgn="b" hangingPunct="1">
              <a:buClr>
                <a:srgbClr val="0BD0D9"/>
              </a:buClr>
              <a:buSzPct val="95000"/>
              <a:buFont typeface="Wingdings 2" panose="05020102010507070707" pitchFamily="18" charset="2"/>
              <a:buNone/>
            </a:pPr>
            <a:r>
              <a:rPr lang="zh-CN" altLang="en-US" sz="2800" dirty="0">
                <a:latin typeface="楷体" panose="02010609060101010101" pitchFamily="49" charset="-122"/>
                <a:ea typeface="楷体" panose="02010609060101010101" pitchFamily="49" charset="-122"/>
              </a:rPr>
              <a:t> </a:t>
            </a:r>
            <a:r>
              <a:rPr lang="zh-CN" altLang="en-US" sz="2800" dirty="0" smtClean="0">
                <a:solidFill>
                  <a:srgbClr val="FF0066"/>
                </a:solidFill>
                <a:latin typeface="楷体" panose="02010609060101010101" pitchFamily="49" charset="-122"/>
                <a:ea typeface="楷体" panose="02010609060101010101" pitchFamily="49" charset="-122"/>
              </a:rPr>
              <a:t>其</a:t>
            </a:r>
            <a:r>
              <a:rPr lang="zh-CN" altLang="en-US" sz="2800" dirty="0">
                <a:solidFill>
                  <a:srgbClr val="FF0066"/>
                </a:solidFill>
                <a:latin typeface="楷体" panose="02010609060101010101" pitchFamily="49" charset="-122"/>
                <a:ea typeface="楷体" panose="02010609060101010101" pitchFamily="49" charset="-122"/>
              </a:rPr>
              <a:t>缺点有以下两种：</a:t>
            </a:r>
          </a:p>
        </p:txBody>
      </p:sp>
      <p:sp>
        <p:nvSpPr>
          <p:cNvPr id="5" name="Rectangle 5"/>
          <p:cNvSpPr>
            <a:spLocks noChangeArrowheads="1"/>
          </p:cNvSpPr>
          <p:nvPr/>
        </p:nvSpPr>
        <p:spPr bwMode="auto">
          <a:xfrm>
            <a:off x="107950" y="4941888"/>
            <a:ext cx="8712200" cy="14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fontAlgn="b" hangingPunct="1">
              <a:lnSpc>
                <a:spcPct val="105000"/>
              </a:lnSpc>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zh-CN" altLang="en-US" sz="2700">
                <a:solidFill>
                  <a:srgbClr val="3333FF"/>
                </a:solidFill>
                <a:latin typeface="楷体" panose="02010609060101010101" pitchFamily="49" charset="-122"/>
                <a:ea typeface="楷体" panose="02010609060101010101" pitchFamily="49" charset="-122"/>
              </a:rPr>
              <a:t>（</a:t>
            </a:r>
            <a:r>
              <a:rPr lang="en-US" altLang="zh-CN" sz="2700">
                <a:solidFill>
                  <a:srgbClr val="3333FF"/>
                </a:solidFill>
                <a:latin typeface="楷体" panose="02010609060101010101" pitchFamily="49" charset="-122"/>
                <a:ea typeface="楷体" panose="02010609060101010101" pitchFamily="49" charset="-122"/>
              </a:rPr>
              <a:t>1</a:t>
            </a:r>
            <a:r>
              <a:rPr lang="zh-CN" altLang="en-US" sz="2700">
                <a:solidFill>
                  <a:srgbClr val="3333FF"/>
                </a:solidFill>
                <a:latin typeface="楷体" panose="02010609060101010101" pitchFamily="49" charset="-122"/>
                <a:ea typeface="楷体" panose="02010609060101010101" pitchFamily="49" charset="-122"/>
              </a:rPr>
              <a:t>）</a:t>
            </a:r>
            <a:r>
              <a:rPr lang="zh-CN" altLang="en-US" sz="2700">
                <a:latin typeface="楷体" panose="02010609060101010101" pitchFamily="49" charset="-122"/>
                <a:ea typeface="楷体" panose="02010609060101010101" pitchFamily="49" charset="-122"/>
              </a:rPr>
              <a:t>外设占用了内存单元，使内存容量减小；</a:t>
            </a:r>
          </a:p>
          <a:p>
            <a:pPr eaLnBrk="1" fontAlgn="b" hangingPunct="1">
              <a:lnSpc>
                <a:spcPct val="105000"/>
              </a:lnSpc>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zh-CN" altLang="en-US" sz="2700">
                <a:solidFill>
                  <a:srgbClr val="3333FF"/>
                </a:solidFill>
                <a:latin typeface="楷体" panose="02010609060101010101" pitchFamily="49" charset="-122"/>
                <a:ea typeface="楷体" panose="02010609060101010101" pitchFamily="49" charset="-122"/>
              </a:rPr>
              <a:t>（</a:t>
            </a:r>
            <a:r>
              <a:rPr lang="en-US" altLang="zh-CN" sz="2700">
                <a:solidFill>
                  <a:srgbClr val="3333FF"/>
                </a:solidFill>
                <a:latin typeface="楷体" panose="02010609060101010101" pitchFamily="49" charset="-122"/>
                <a:ea typeface="楷体" panose="02010609060101010101" pitchFamily="49" charset="-122"/>
              </a:rPr>
              <a:t>2</a:t>
            </a:r>
            <a:r>
              <a:rPr lang="zh-CN" altLang="en-US" sz="2700">
                <a:solidFill>
                  <a:srgbClr val="3333FF"/>
                </a:solidFill>
                <a:latin typeface="楷体" panose="02010609060101010101" pitchFamily="49" charset="-122"/>
                <a:ea typeface="楷体" panose="02010609060101010101" pitchFamily="49" charset="-122"/>
              </a:rPr>
              <a:t>）</a:t>
            </a:r>
            <a:r>
              <a:rPr lang="zh-CN" altLang="en-US" sz="2700">
                <a:latin typeface="楷体" panose="02010609060101010101" pitchFamily="49" charset="-122"/>
                <a:ea typeface="楷体" panose="02010609060101010101" pitchFamily="49" charset="-122"/>
              </a:rPr>
              <a:t>存储器操作指令通常要比</a:t>
            </a:r>
            <a:r>
              <a:rPr lang="en-US" altLang="zh-CN" sz="2700">
                <a:latin typeface="楷体" panose="02010609060101010101" pitchFamily="49" charset="-122"/>
                <a:ea typeface="楷体" panose="02010609060101010101" pitchFamily="49" charset="-122"/>
              </a:rPr>
              <a:t>I/O</a:t>
            </a:r>
            <a:r>
              <a:rPr lang="zh-CN" altLang="en-US" sz="2700">
                <a:latin typeface="楷体" panose="02010609060101010101" pitchFamily="49" charset="-122"/>
                <a:ea typeface="楷体" panose="02010609060101010101" pitchFamily="49" charset="-122"/>
              </a:rPr>
              <a:t>指令的字节多，故加长了</a:t>
            </a:r>
            <a:r>
              <a:rPr lang="en-US" altLang="zh-CN" sz="2700">
                <a:latin typeface="楷体" panose="02010609060101010101" pitchFamily="49" charset="-122"/>
                <a:ea typeface="楷体" panose="02010609060101010101" pitchFamily="49" charset="-122"/>
              </a:rPr>
              <a:t>I/O</a:t>
            </a:r>
            <a:r>
              <a:rPr lang="zh-CN" altLang="en-US" sz="2700">
                <a:latin typeface="楷体" panose="02010609060101010101" pitchFamily="49" charset="-122"/>
                <a:ea typeface="楷体" panose="02010609060101010101" pitchFamily="49" charset="-122"/>
              </a:rPr>
              <a:t>操作的时间。</a:t>
            </a:r>
          </a:p>
        </p:txBody>
      </p:sp>
    </p:spTree>
    <p:extLst>
      <p:ext uri="{BB962C8B-B14F-4D97-AF65-F5344CB8AC3E}">
        <p14:creationId xmlns:p14="http://schemas.microsoft.com/office/powerpoint/2010/main" val="253639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2000"/>
                            </p:stCondLst>
                            <p:childTnLst>
                              <p:par>
                                <p:cTn id="9" presetID="10" presetClass="entr" presetSubtype="0" fill="hold" grpId="0" nodeType="afterEffect">
                                  <p:stCondLst>
                                    <p:cond delay="5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2000"/>
                                        <p:tgtEl>
                                          <p:spTgt spid="4"/>
                                        </p:tgtEl>
                                      </p:cBhvr>
                                    </p:animEffect>
                                  </p:childTnLst>
                                </p:cTn>
                              </p:par>
                            </p:childTnLst>
                          </p:cTn>
                        </p:par>
                        <p:par>
                          <p:cTn id="17" fill="hold">
                            <p:stCondLst>
                              <p:cond delay="2000"/>
                            </p:stCondLst>
                            <p:childTnLst>
                              <p:par>
                                <p:cTn id="18" presetID="10" presetClass="entr" presetSubtype="0" fill="hold" grpId="0" nodeType="afterEffect">
                                  <p:stCondLst>
                                    <p:cond delay="50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3"/>
          <p:cNvGrpSpPr>
            <a:grpSpLocks/>
          </p:cNvGrpSpPr>
          <p:nvPr/>
        </p:nvGrpSpPr>
        <p:grpSpPr bwMode="auto">
          <a:xfrm>
            <a:off x="428625" y="1414463"/>
            <a:ext cx="8320088" cy="4462462"/>
            <a:chOff x="270" y="891"/>
            <a:chExt cx="5241" cy="2811"/>
          </a:xfrm>
        </p:grpSpPr>
        <p:sp>
          <p:nvSpPr>
            <p:cNvPr id="3" name="AutoShape 72">
              <a:extLst>
                <a:ext uri="{FF2B5EF4-FFF2-40B4-BE49-F238E27FC236}">
                  <a16:creationId xmlns:a16="http://schemas.microsoft.com/office/drawing/2014/main" id="{191BB9E4-5B83-4673-B195-A82CCE7DCB65}"/>
                </a:ext>
              </a:extLst>
            </p:cNvPr>
            <p:cNvSpPr>
              <a:spLocks noChangeArrowheads="1"/>
            </p:cNvSpPr>
            <p:nvPr/>
          </p:nvSpPr>
          <p:spPr bwMode="auto">
            <a:xfrm>
              <a:off x="281" y="900"/>
              <a:ext cx="5220" cy="2802"/>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headEnd/>
              <a:tailE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spcBef>
                  <a:spcPts val="0"/>
                </a:spcBef>
                <a:spcAft>
                  <a:spcPts val="0"/>
                </a:spcAft>
                <a:defRPr/>
              </a:pPr>
              <a:endParaRPr lang="zh-CN" altLang="en-US" sz="1800">
                <a:solidFill>
                  <a:schemeClr val="tx1"/>
                </a:solidFill>
                <a:latin typeface="楷体" panose="02010609060101010101" pitchFamily="49" charset="-122"/>
                <a:ea typeface="楷体" panose="02010609060101010101" pitchFamily="49" charset="-122"/>
              </a:endParaRPr>
            </a:p>
          </p:txBody>
        </p:sp>
        <p:grpSp>
          <p:nvGrpSpPr>
            <p:cNvPr id="4" name="Group 12"/>
            <p:cNvGrpSpPr>
              <a:grpSpLocks/>
            </p:cNvGrpSpPr>
            <p:nvPr/>
          </p:nvGrpSpPr>
          <p:grpSpPr bwMode="auto">
            <a:xfrm>
              <a:off x="270" y="891"/>
              <a:ext cx="5241" cy="453"/>
              <a:chOff x="270" y="891"/>
              <a:chExt cx="5241" cy="453"/>
            </a:xfrm>
          </p:grpSpPr>
          <p:grpSp>
            <p:nvGrpSpPr>
              <p:cNvPr id="5" name="Group 22"/>
              <p:cNvGrpSpPr>
                <a:grpSpLocks/>
              </p:cNvGrpSpPr>
              <p:nvPr/>
            </p:nvGrpSpPr>
            <p:grpSpPr bwMode="auto">
              <a:xfrm>
                <a:off x="270" y="891"/>
                <a:ext cx="5241" cy="453"/>
                <a:chOff x="266" y="1248"/>
                <a:chExt cx="5304" cy="672"/>
              </a:xfrm>
            </p:grpSpPr>
            <p:sp>
              <p:nvSpPr>
                <p:cNvPr id="7"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zh-CN" sz="2800">
                    <a:latin typeface="楷体" panose="02010609060101010101" pitchFamily="49" charset="-122"/>
                    <a:ea typeface="楷体" panose="02010609060101010101" pitchFamily="49" charset="-122"/>
                    <a:cs typeface="Times New Roman" panose="02020603050405020304" pitchFamily="18" charset="0"/>
                  </a:endParaRPr>
                </a:p>
              </p:txBody>
            </p:sp>
            <p:pic>
              <p:nvPicPr>
                <p:cNvPr id="8"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Rectangle 7"/>
              <p:cNvSpPr>
                <a:spLocks noChangeArrowheads="1"/>
              </p:cNvSpPr>
              <p:nvPr/>
            </p:nvSpPr>
            <p:spPr bwMode="auto">
              <a:xfrm>
                <a:off x="727" y="936"/>
                <a:ext cx="40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kumimoji="1" lang="en-US" altLang="zh-CN" sz="2800">
                    <a:latin typeface="楷体" panose="02010609060101010101" pitchFamily="49" charset="-122"/>
                    <a:ea typeface="楷体" panose="02010609060101010101" pitchFamily="49" charset="-122"/>
                  </a:rPr>
                  <a:t>1.</a:t>
                </a:r>
                <a:r>
                  <a:rPr lang="zh-CN" altLang="en-US" sz="2800">
                    <a:latin typeface="楷体" panose="02010609060101010101" pitchFamily="49" charset="-122"/>
                    <a:ea typeface="楷体" panose="02010609060101010101" pitchFamily="49" charset="-122"/>
                  </a:rPr>
                  <a:t>输入指令</a:t>
                </a:r>
                <a:r>
                  <a:rPr lang="en-US" altLang="zh-CN" sz="2800">
                    <a:latin typeface="楷体" panose="02010609060101010101" pitchFamily="49" charset="-122"/>
                    <a:ea typeface="楷体" panose="02010609060101010101" pitchFamily="49" charset="-122"/>
                  </a:rPr>
                  <a:t>IN Acc</a:t>
                </a: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Port</a:t>
                </a:r>
                <a:r>
                  <a:rPr lang="zh-CN" altLang="en-US" sz="2800">
                    <a:latin typeface="楷体" panose="02010609060101010101" pitchFamily="49" charset="-122"/>
                    <a:ea typeface="楷体" panose="02010609060101010101" pitchFamily="49" charset="-122"/>
                  </a:rPr>
                  <a:t>或</a:t>
                </a:r>
                <a:r>
                  <a:rPr lang="en-US" altLang="zh-CN" sz="2800">
                    <a:latin typeface="楷体" panose="02010609060101010101" pitchFamily="49" charset="-122"/>
                    <a:ea typeface="楷体" panose="02010609060101010101" pitchFamily="49" charset="-122"/>
                  </a:rPr>
                  <a:t>IN Acc</a:t>
                </a: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DX</a:t>
                </a:r>
                <a:r>
                  <a:rPr lang="zh-CN" altLang="en-US" sz="2800">
                    <a:solidFill>
                      <a:schemeClr val="tx2"/>
                    </a:solidFill>
                    <a:latin typeface="楷体" panose="02010609060101010101" pitchFamily="49" charset="-122"/>
                    <a:ea typeface="楷体" panose="02010609060101010101" pitchFamily="49" charset="-122"/>
                  </a:rPr>
                  <a:t> </a:t>
                </a:r>
              </a:p>
            </p:txBody>
          </p:sp>
        </p:grpSp>
      </p:grpSp>
      <p:sp>
        <p:nvSpPr>
          <p:cNvPr id="9" name="Text Box 10"/>
          <p:cNvSpPr txBox="1">
            <a:spLocks noChangeArrowheads="1"/>
          </p:cNvSpPr>
          <p:nvPr/>
        </p:nvSpPr>
        <p:spPr bwMode="auto">
          <a:xfrm>
            <a:off x="122238" y="2349500"/>
            <a:ext cx="8697912" cy="295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25000"/>
              </a:lnSpc>
              <a:spcBef>
                <a:spcPct val="45000"/>
              </a:spcBef>
              <a:buClr>
                <a:srgbClr val="0BD0D9"/>
              </a:buClr>
              <a:buSzPct val="95000"/>
              <a:buFont typeface="Wingdings 2" panose="05020102010507070707" pitchFamily="18" charset="2"/>
              <a:buNone/>
            </a:pPr>
            <a:r>
              <a:rPr lang="en-US" altLang="zh-CN" sz="2700">
                <a:latin typeface="楷体" panose="02010609060101010101" pitchFamily="49" charset="-122"/>
                <a:ea typeface="楷体" panose="02010609060101010101" pitchFamily="49" charset="-122"/>
              </a:rPr>
              <a:t> </a:t>
            </a:r>
            <a:r>
              <a:rPr lang="zh-CN" altLang="en-US" sz="2700">
                <a:latin typeface="楷体" panose="02010609060101010101" pitchFamily="49" charset="-122"/>
                <a:ea typeface="楷体" panose="02010609060101010101" pitchFamily="49" charset="-122"/>
              </a:rPr>
              <a:t>   </a:t>
            </a:r>
            <a:r>
              <a:rPr lang="zh-CN" altLang="en-US" sz="2800">
                <a:latin typeface="楷体" panose="02010609060101010101" pitchFamily="49" charset="-122"/>
                <a:ea typeface="楷体" panose="02010609060101010101" pitchFamily="49" charset="-122"/>
              </a:rPr>
              <a:t>输入指令是把一个字节或一个字由输入端口传送至</a:t>
            </a:r>
            <a:r>
              <a:rPr lang="en-US" altLang="zh-CN" sz="2800">
                <a:latin typeface="楷体" panose="02010609060101010101" pitchFamily="49" charset="-122"/>
                <a:ea typeface="楷体" panose="02010609060101010101" pitchFamily="49" charset="-122"/>
              </a:rPr>
              <a:t>AL(8</a:t>
            </a:r>
            <a:r>
              <a:rPr lang="zh-CN" altLang="en-US" sz="2800">
                <a:latin typeface="楷体" panose="02010609060101010101" pitchFamily="49" charset="-122"/>
                <a:ea typeface="楷体" panose="02010609060101010101" pitchFamily="49" charset="-122"/>
              </a:rPr>
              <a:t>位</a:t>
            </a:r>
            <a:r>
              <a:rPr lang="en-US" altLang="zh-CN" sz="2800">
                <a:latin typeface="楷体" panose="02010609060101010101" pitchFamily="49" charset="-122"/>
                <a:ea typeface="楷体" panose="02010609060101010101" pitchFamily="49" charset="-122"/>
              </a:rPr>
              <a:t>Acc)</a:t>
            </a:r>
            <a:r>
              <a:rPr lang="zh-CN" altLang="en-US" sz="2800">
                <a:latin typeface="楷体" panose="02010609060101010101" pitchFamily="49" charset="-122"/>
                <a:ea typeface="楷体" panose="02010609060101010101" pitchFamily="49" charset="-122"/>
              </a:rPr>
              <a:t>或</a:t>
            </a:r>
            <a:r>
              <a:rPr lang="en-US" altLang="zh-CN" sz="2800">
                <a:latin typeface="楷体" panose="02010609060101010101" pitchFamily="49" charset="-122"/>
                <a:ea typeface="楷体" panose="02010609060101010101" pitchFamily="49" charset="-122"/>
              </a:rPr>
              <a:t>AX(16</a:t>
            </a:r>
            <a:r>
              <a:rPr lang="zh-CN" altLang="en-US" sz="2800">
                <a:latin typeface="楷体" panose="02010609060101010101" pitchFamily="49" charset="-122"/>
                <a:ea typeface="楷体" panose="02010609060101010101" pitchFamily="49" charset="-122"/>
              </a:rPr>
              <a:t>位</a:t>
            </a:r>
            <a:r>
              <a:rPr lang="en-US" altLang="zh-CN" sz="2800">
                <a:latin typeface="楷体" panose="02010609060101010101" pitchFamily="49" charset="-122"/>
                <a:ea typeface="楷体" panose="02010609060101010101" pitchFamily="49" charset="-122"/>
              </a:rPr>
              <a:t>Acc)</a:t>
            </a:r>
            <a:r>
              <a:rPr lang="zh-CN" altLang="en-US" sz="2800">
                <a:latin typeface="楷体" panose="02010609060101010101" pitchFamily="49" charset="-122"/>
                <a:ea typeface="楷体" panose="02010609060101010101" pitchFamily="49" charset="-122"/>
              </a:rPr>
              <a:t>或</a:t>
            </a:r>
            <a:r>
              <a:rPr lang="en-US" altLang="zh-CN" sz="2800">
                <a:latin typeface="楷体" panose="02010609060101010101" pitchFamily="49" charset="-122"/>
                <a:ea typeface="楷体" panose="02010609060101010101" pitchFamily="49" charset="-122"/>
              </a:rPr>
              <a:t>EAX(32</a:t>
            </a:r>
            <a:r>
              <a:rPr lang="zh-CN" altLang="en-US" sz="2800">
                <a:latin typeface="楷体" panose="02010609060101010101" pitchFamily="49" charset="-122"/>
                <a:ea typeface="楷体" panose="02010609060101010101" pitchFamily="49" charset="-122"/>
              </a:rPr>
              <a:t>位</a:t>
            </a:r>
            <a:r>
              <a:rPr lang="en-US" altLang="zh-CN" sz="2800">
                <a:latin typeface="楷体" panose="02010609060101010101" pitchFamily="49" charset="-122"/>
                <a:ea typeface="楷体" panose="02010609060101010101" pitchFamily="49" charset="-122"/>
              </a:rPr>
              <a:t>Acc)</a:t>
            </a:r>
            <a:r>
              <a:rPr lang="zh-CN" altLang="en-US" sz="2800">
                <a:latin typeface="楷体" panose="02010609060101010101" pitchFamily="49" charset="-122"/>
                <a:ea typeface="楷体" panose="02010609060101010101" pitchFamily="49" charset="-122"/>
              </a:rPr>
              <a:t>。</a:t>
            </a:r>
          </a:p>
          <a:p>
            <a:pPr eaLnBrk="1" fontAlgn="b" hangingPunct="1">
              <a:lnSpc>
                <a:spcPct val="125000"/>
              </a:lnSpc>
              <a:spcBef>
                <a:spcPct val="45000"/>
              </a:spcBef>
              <a:buClr>
                <a:srgbClr val="0BD0D9"/>
              </a:buClr>
              <a:buSzPct val="95000"/>
              <a:buFont typeface="Wingdings 2" panose="05020102010507070707" pitchFamily="18" charset="2"/>
              <a:buNone/>
            </a:pPr>
            <a:r>
              <a:rPr lang="zh-CN" altLang="en-US" sz="2800">
                <a:latin typeface="楷体" panose="02010609060101010101" pitchFamily="49" charset="-122"/>
                <a:ea typeface="楷体" panose="02010609060101010101" pitchFamily="49" charset="-122"/>
              </a:rPr>
              <a:t>    </a:t>
            </a:r>
            <a:r>
              <a:rPr lang="zh-CN" altLang="en-US" sz="2800">
                <a:solidFill>
                  <a:srgbClr val="FF0066"/>
                </a:solidFill>
                <a:latin typeface="楷体" panose="02010609060101010101" pitchFamily="49" charset="-122"/>
                <a:ea typeface="楷体" panose="02010609060101010101" pitchFamily="49" charset="-122"/>
              </a:rPr>
              <a:t>端口地址若是由指令中的</a:t>
            </a:r>
            <a:r>
              <a:rPr lang="en-US" altLang="zh-CN" sz="2800">
                <a:solidFill>
                  <a:srgbClr val="FF0066"/>
                </a:solidFill>
                <a:latin typeface="楷体" panose="02010609060101010101" pitchFamily="49" charset="-122"/>
                <a:ea typeface="楷体" panose="02010609060101010101" pitchFamily="49" charset="-122"/>
              </a:rPr>
              <a:t>port</a:t>
            </a:r>
            <a:r>
              <a:rPr lang="zh-CN" altLang="en-US" sz="2800">
                <a:solidFill>
                  <a:srgbClr val="FF0066"/>
                </a:solidFill>
                <a:latin typeface="楷体" panose="02010609060101010101" pitchFamily="49" charset="-122"/>
                <a:ea typeface="楷体" panose="02010609060101010101" pitchFamily="49" charset="-122"/>
              </a:rPr>
              <a:t>所规定，则只可寻址 </a:t>
            </a:r>
            <a:r>
              <a:rPr lang="en-US" altLang="zh-CN" sz="2800">
                <a:solidFill>
                  <a:srgbClr val="FF0066"/>
                </a:solidFill>
                <a:latin typeface="楷体" panose="02010609060101010101" pitchFamily="49" charset="-122"/>
                <a:ea typeface="楷体" panose="02010609060101010101" pitchFamily="49" charset="-122"/>
              </a:rPr>
              <a:t>0</a:t>
            </a:r>
            <a:r>
              <a:rPr lang="zh-CN" altLang="en-US" sz="2800">
                <a:solidFill>
                  <a:srgbClr val="FF0066"/>
                </a:solidFill>
                <a:latin typeface="楷体" panose="02010609060101010101" pitchFamily="49" charset="-122"/>
                <a:ea typeface="楷体" panose="02010609060101010101" pitchFamily="49" charset="-122"/>
              </a:rPr>
              <a:t>～</a:t>
            </a:r>
            <a:r>
              <a:rPr lang="en-US" altLang="zh-CN" sz="2800">
                <a:solidFill>
                  <a:srgbClr val="FF0066"/>
                </a:solidFill>
                <a:latin typeface="楷体" panose="02010609060101010101" pitchFamily="49" charset="-122"/>
                <a:ea typeface="楷体" panose="02010609060101010101" pitchFamily="49" charset="-122"/>
              </a:rPr>
              <a:t>255</a:t>
            </a:r>
            <a:r>
              <a:rPr lang="zh-CN" altLang="en-US" sz="2800">
                <a:latin typeface="楷体" panose="02010609060101010101" pitchFamily="49" charset="-122"/>
                <a:ea typeface="楷体" panose="02010609060101010101" pitchFamily="49" charset="-122"/>
              </a:rPr>
              <a:t>。</a:t>
            </a:r>
            <a:r>
              <a:rPr lang="zh-CN" altLang="en-US" sz="2800">
                <a:solidFill>
                  <a:srgbClr val="FF0066"/>
                </a:solidFill>
                <a:latin typeface="楷体" panose="02010609060101010101" pitchFamily="49" charset="-122"/>
                <a:ea typeface="楷体" panose="02010609060101010101" pitchFamily="49" charset="-122"/>
              </a:rPr>
              <a:t>端口地址若用寄存器</a:t>
            </a:r>
            <a:r>
              <a:rPr lang="en-US" altLang="zh-CN" sz="2800">
                <a:solidFill>
                  <a:srgbClr val="FF0066"/>
                </a:solidFill>
                <a:latin typeface="楷体" panose="02010609060101010101" pitchFamily="49" charset="-122"/>
                <a:ea typeface="楷体" panose="02010609060101010101" pitchFamily="49" charset="-122"/>
              </a:rPr>
              <a:t>DX</a:t>
            </a:r>
            <a:r>
              <a:rPr lang="zh-CN" altLang="en-US" sz="2800">
                <a:solidFill>
                  <a:srgbClr val="FF0066"/>
                </a:solidFill>
                <a:latin typeface="楷体" panose="02010609060101010101" pitchFamily="49" charset="-122"/>
                <a:ea typeface="楷体" panose="02010609060101010101" pitchFamily="49" charset="-122"/>
              </a:rPr>
              <a:t>间址，则允许寻址</a:t>
            </a:r>
            <a:r>
              <a:rPr lang="en-US" altLang="zh-CN" sz="2800">
                <a:solidFill>
                  <a:srgbClr val="FF0066"/>
                </a:solidFill>
                <a:latin typeface="楷体" panose="02010609060101010101" pitchFamily="49" charset="-122"/>
                <a:ea typeface="楷体" panose="02010609060101010101" pitchFamily="49" charset="-122"/>
              </a:rPr>
              <a:t>64K</a:t>
            </a:r>
            <a:r>
              <a:rPr lang="zh-CN" altLang="en-US" sz="2800">
                <a:solidFill>
                  <a:srgbClr val="FF0066"/>
                </a:solidFill>
                <a:latin typeface="楷体" panose="02010609060101010101" pitchFamily="49" charset="-122"/>
                <a:ea typeface="楷体" panose="02010609060101010101" pitchFamily="49" charset="-122"/>
              </a:rPr>
              <a:t>个端口</a:t>
            </a:r>
            <a:r>
              <a:rPr lang="zh-CN" altLang="en-US" sz="280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2851407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
          <p:cNvGrpSpPr>
            <a:grpSpLocks/>
          </p:cNvGrpSpPr>
          <p:nvPr/>
        </p:nvGrpSpPr>
        <p:grpSpPr bwMode="auto">
          <a:xfrm>
            <a:off x="428625" y="1414463"/>
            <a:ext cx="8320088" cy="4462462"/>
            <a:chOff x="270" y="891"/>
            <a:chExt cx="5241" cy="2811"/>
          </a:xfrm>
        </p:grpSpPr>
        <p:sp>
          <p:nvSpPr>
            <p:cNvPr id="3" name="AutoShape 72">
              <a:extLst>
                <a:ext uri="{FF2B5EF4-FFF2-40B4-BE49-F238E27FC236}">
                  <a16:creationId xmlns:a16="http://schemas.microsoft.com/office/drawing/2014/main" id="{7C54EC07-8221-4E7F-A0CF-1CFD2C0D6F20}"/>
                </a:ext>
              </a:extLst>
            </p:cNvPr>
            <p:cNvSpPr>
              <a:spLocks noChangeArrowheads="1"/>
            </p:cNvSpPr>
            <p:nvPr/>
          </p:nvSpPr>
          <p:spPr bwMode="auto">
            <a:xfrm>
              <a:off x="281" y="900"/>
              <a:ext cx="5220" cy="2802"/>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headEnd/>
              <a:tailE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spcBef>
                  <a:spcPts val="0"/>
                </a:spcBef>
                <a:spcAft>
                  <a:spcPts val="0"/>
                </a:spcAft>
                <a:defRPr/>
              </a:pPr>
              <a:endParaRPr lang="zh-CN" altLang="en-US" sz="1800">
                <a:solidFill>
                  <a:schemeClr val="tx1"/>
                </a:solidFill>
                <a:latin typeface="楷体" panose="02010609060101010101" pitchFamily="49" charset="-122"/>
                <a:ea typeface="楷体" panose="02010609060101010101" pitchFamily="49" charset="-122"/>
              </a:endParaRPr>
            </a:p>
          </p:txBody>
        </p:sp>
        <p:grpSp>
          <p:nvGrpSpPr>
            <p:cNvPr id="4" name="Group 22"/>
            <p:cNvGrpSpPr>
              <a:grpSpLocks/>
            </p:cNvGrpSpPr>
            <p:nvPr/>
          </p:nvGrpSpPr>
          <p:grpSpPr bwMode="auto">
            <a:xfrm>
              <a:off x="270" y="891"/>
              <a:ext cx="5241" cy="453"/>
              <a:chOff x="266" y="1248"/>
              <a:chExt cx="5304" cy="672"/>
            </a:xfrm>
          </p:grpSpPr>
          <p:sp>
            <p:nvSpPr>
              <p:cNvPr id="6"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zh-CN" sz="2800">
                  <a:latin typeface="楷体" panose="02010609060101010101" pitchFamily="49" charset="-122"/>
                  <a:ea typeface="楷体" panose="02010609060101010101" pitchFamily="49" charset="-122"/>
                  <a:cs typeface="Times New Roman" panose="02020603050405020304" pitchFamily="18" charset="0"/>
                </a:endParaRPr>
              </a:p>
            </p:txBody>
          </p:sp>
          <p:pic>
            <p:nvPicPr>
              <p:cNvPr id="7"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Rectangle 6"/>
            <p:cNvSpPr>
              <a:spLocks noChangeArrowheads="1"/>
            </p:cNvSpPr>
            <p:nvPr/>
          </p:nvSpPr>
          <p:spPr bwMode="auto">
            <a:xfrm>
              <a:off x="727" y="936"/>
              <a:ext cx="417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kumimoji="1" lang="en-US" altLang="zh-CN" sz="2800">
                  <a:latin typeface="楷体" panose="02010609060101010101" pitchFamily="49" charset="-122"/>
                  <a:ea typeface="楷体" panose="02010609060101010101" pitchFamily="49" charset="-122"/>
                </a:rPr>
                <a:t>2.</a:t>
              </a:r>
              <a:r>
                <a:rPr lang="zh-CN" altLang="en-US" sz="2800">
                  <a:latin typeface="楷体" panose="02010609060101010101" pitchFamily="49" charset="-122"/>
                  <a:ea typeface="楷体" panose="02010609060101010101" pitchFamily="49" charset="-122"/>
                </a:rPr>
                <a:t>输出指令</a:t>
              </a:r>
              <a:r>
                <a:rPr lang="en-US" altLang="zh-CN" sz="2800">
                  <a:latin typeface="楷体" panose="02010609060101010101" pitchFamily="49" charset="-122"/>
                  <a:ea typeface="楷体" panose="02010609060101010101" pitchFamily="49" charset="-122"/>
                </a:rPr>
                <a:t>OUT Port</a:t>
              </a: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Acc</a:t>
              </a:r>
              <a:r>
                <a:rPr lang="zh-CN" altLang="en-US" sz="2800">
                  <a:latin typeface="楷体" panose="02010609060101010101" pitchFamily="49" charset="-122"/>
                  <a:ea typeface="楷体" panose="02010609060101010101" pitchFamily="49" charset="-122"/>
                </a:rPr>
                <a:t>或</a:t>
              </a:r>
              <a:r>
                <a:rPr lang="en-US" altLang="zh-CN" sz="2800">
                  <a:latin typeface="楷体" panose="02010609060101010101" pitchFamily="49" charset="-122"/>
                  <a:ea typeface="楷体" panose="02010609060101010101" pitchFamily="49" charset="-122"/>
                </a:rPr>
                <a:t>OUT DX</a:t>
              </a:r>
              <a:r>
                <a:rPr lang="zh-CN" altLang="en-US" sz="2800">
                  <a:latin typeface="楷体" panose="02010609060101010101" pitchFamily="49" charset="-122"/>
                  <a:ea typeface="楷体" panose="02010609060101010101" pitchFamily="49" charset="-122"/>
                </a:rPr>
                <a:t>，</a:t>
              </a:r>
              <a:r>
                <a:rPr lang="en-US" altLang="zh-CN" sz="2800">
                  <a:latin typeface="楷体" panose="02010609060101010101" pitchFamily="49" charset="-122"/>
                  <a:ea typeface="楷体" panose="02010609060101010101" pitchFamily="49" charset="-122"/>
                </a:rPr>
                <a:t>Acc</a:t>
              </a:r>
              <a:endParaRPr lang="zh-CN" altLang="en-US" sz="2800">
                <a:latin typeface="楷体" panose="02010609060101010101" pitchFamily="49" charset="-122"/>
                <a:ea typeface="楷体" panose="02010609060101010101" pitchFamily="49" charset="-122"/>
              </a:endParaRPr>
            </a:p>
          </p:txBody>
        </p:sp>
      </p:grpSp>
      <p:sp>
        <p:nvSpPr>
          <p:cNvPr id="8" name="Text Box 8"/>
          <p:cNvSpPr txBox="1">
            <a:spLocks noChangeArrowheads="1"/>
          </p:cNvSpPr>
          <p:nvPr/>
        </p:nvSpPr>
        <p:spPr bwMode="auto">
          <a:xfrm>
            <a:off x="554038" y="2349500"/>
            <a:ext cx="8194675" cy="182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5000"/>
              </a:lnSpc>
              <a:spcBef>
                <a:spcPct val="30000"/>
              </a:spcBef>
              <a:buFontTx/>
              <a:buNone/>
            </a:pPr>
            <a:r>
              <a:rPr lang="zh-CN" altLang="en-US" sz="2800">
                <a:latin typeface="楷体" panose="02010609060101010101" pitchFamily="49" charset="-122"/>
                <a:ea typeface="楷体" panose="02010609060101010101" pitchFamily="49" charset="-122"/>
              </a:rPr>
              <a:t>    输出指令是把</a:t>
            </a:r>
            <a:r>
              <a:rPr lang="en-US" altLang="zh-CN" sz="2800">
                <a:latin typeface="楷体" panose="02010609060101010101" pitchFamily="49" charset="-122"/>
                <a:ea typeface="楷体" panose="02010609060101010101" pitchFamily="49" charset="-122"/>
              </a:rPr>
              <a:t>AL</a:t>
            </a:r>
            <a:r>
              <a:rPr lang="zh-CN" altLang="en-US" sz="2800">
                <a:latin typeface="楷体" panose="02010609060101010101" pitchFamily="49" charset="-122"/>
                <a:ea typeface="楷体" panose="02010609060101010101" pitchFamily="49" charset="-122"/>
              </a:rPr>
              <a:t>中的一个字节或</a:t>
            </a:r>
            <a:r>
              <a:rPr lang="en-US" altLang="zh-CN" sz="2800">
                <a:latin typeface="楷体" panose="02010609060101010101" pitchFamily="49" charset="-122"/>
                <a:ea typeface="楷体" panose="02010609060101010101" pitchFamily="49" charset="-122"/>
              </a:rPr>
              <a:t>AX</a:t>
            </a:r>
            <a:r>
              <a:rPr lang="zh-CN" altLang="en-US" sz="2800">
                <a:latin typeface="楷体" panose="02010609060101010101" pitchFamily="49" charset="-122"/>
                <a:ea typeface="楷体" panose="02010609060101010101" pitchFamily="49" charset="-122"/>
              </a:rPr>
              <a:t>中的一个字或者</a:t>
            </a:r>
            <a:r>
              <a:rPr lang="en-US" altLang="zh-CN" sz="2800">
                <a:latin typeface="楷体" panose="02010609060101010101" pitchFamily="49" charset="-122"/>
                <a:ea typeface="楷体" panose="02010609060101010101" pitchFamily="49" charset="-122"/>
              </a:rPr>
              <a:t>EAX</a:t>
            </a:r>
            <a:r>
              <a:rPr lang="zh-CN" altLang="en-US" sz="2800">
                <a:latin typeface="楷体" panose="02010609060101010101" pitchFamily="49" charset="-122"/>
                <a:ea typeface="楷体" panose="02010609060101010101" pitchFamily="49" charset="-122"/>
              </a:rPr>
              <a:t>中的一个双字，传送至输出端口。</a:t>
            </a:r>
          </a:p>
          <a:p>
            <a:pPr eaLnBrk="1" hangingPunct="1">
              <a:lnSpc>
                <a:spcPct val="125000"/>
              </a:lnSpc>
              <a:spcBef>
                <a:spcPct val="30000"/>
              </a:spcBef>
              <a:buFontTx/>
              <a:buNone/>
            </a:pPr>
            <a:r>
              <a:rPr lang="zh-CN" altLang="en-US" sz="2800">
                <a:latin typeface="楷体" panose="02010609060101010101" pitchFamily="49" charset="-122"/>
                <a:ea typeface="楷体" panose="02010609060101010101" pitchFamily="49" charset="-122"/>
              </a:rPr>
              <a:t>    端口寻址方式与</a:t>
            </a:r>
            <a:r>
              <a:rPr lang="en-US" altLang="zh-CN" sz="2800">
                <a:latin typeface="楷体" panose="02010609060101010101" pitchFamily="49" charset="-122"/>
                <a:ea typeface="楷体" panose="02010609060101010101" pitchFamily="49" charset="-122"/>
              </a:rPr>
              <a:t>IN</a:t>
            </a:r>
            <a:r>
              <a:rPr lang="zh-CN" altLang="en-US" sz="2800">
                <a:latin typeface="楷体" panose="02010609060101010101" pitchFamily="49" charset="-122"/>
                <a:ea typeface="楷体" panose="02010609060101010101" pitchFamily="49" charset="-122"/>
              </a:rPr>
              <a:t>指令相同。</a:t>
            </a:r>
            <a:endParaRPr lang="zh-CN" altLang="en-US" sz="2800">
              <a:solidFill>
                <a:schemeClr val="tx2"/>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24426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107950" y="1484313"/>
            <a:ext cx="8785225"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fontAlgn="b" hangingPunct="1">
              <a:buClr>
                <a:srgbClr val="0BD0D9"/>
              </a:buClr>
              <a:buSzPct val="95000"/>
              <a:buFont typeface="Wingdings 2" panose="05020102010507070707" pitchFamily="18" charset="2"/>
              <a:buNone/>
            </a:pPr>
            <a:r>
              <a:rPr lang="en-US" altLang="zh-CN" sz="2700" dirty="0">
                <a:latin typeface="楷体" panose="02010609060101010101" pitchFamily="49" charset="-122"/>
                <a:ea typeface="楷体" panose="02010609060101010101" pitchFamily="49" charset="-122"/>
              </a:rPr>
              <a:t>   </a:t>
            </a:r>
            <a:r>
              <a:rPr lang="en-US" altLang="zh-CN" sz="2700" dirty="0" smtClean="0">
                <a:latin typeface="楷体" panose="02010609060101010101" pitchFamily="49" charset="-122"/>
                <a:ea typeface="楷体" panose="02010609060101010101" pitchFamily="49" charset="-122"/>
              </a:rPr>
              <a:t>  </a:t>
            </a:r>
            <a:r>
              <a:rPr lang="en-US" altLang="zh-CN" sz="2500" dirty="0" smtClean="0">
                <a:latin typeface="楷体" panose="02010609060101010101" pitchFamily="49" charset="-122"/>
                <a:ea typeface="楷体" panose="02010609060101010101" pitchFamily="49" charset="-122"/>
              </a:rPr>
              <a:t>80x86</a:t>
            </a:r>
            <a:r>
              <a:rPr lang="zh-CN" altLang="en-US" sz="2500" dirty="0">
                <a:latin typeface="楷体" panose="02010609060101010101" pitchFamily="49" charset="-122"/>
                <a:ea typeface="楷体" panose="02010609060101010101" pitchFamily="49" charset="-122"/>
              </a:rPr>
              <a:t>微处理器都由低</a:t>
            </a:r>
            <a:r>
              <a:rPr lang="en-US" altLang="zh-CN" sz="2500" dirty="0">
                <a:latin typeface="楷体" panose="02010609060101010101" pitchFamily="49" charset="-122"/>
                <a:ea typeface="楷体" panose="02010609060101010101" pitchFamily="49" charset="-122"/>
              </a:rPr>
              <a:t>16</a:t>
            </a:r>
            <a:r>
              <a:rPr lang="zh-CN" altLang="en-US" sz="2500" dirty="0">
                <a:latin typeface="楷体" panose="02010609060101010101" pitchFamily="49" charset="-122"/>
                <a:ea typeface="楷体" panose="02010609060101010101" pitchFamily="49" charset="-122"/>
              </a:rPr>
              <a:t>位地址线寻址 </a:t>
            </a:r>
            <a:r>
              <a:rPr lang="en-US" altLang="zh-CN" sz="2500" dirty="0">
                <a:latin typeface="楷体" panose="02010609060101010101" pitchFamily="49" charset="-122"/>
                <a:ea typeface="楷体" panose="02010609060101010101" pitchFamily="49" charset="-122"/>
              </a:rPr>
              <a:t>I/O</a:t>
            </a:r>
            <a:r>
              <a:rPr lang="zh-CN" altLang="en-US" sz="2500" dirty="0">
                <a:latin typeface="楷体" panose="02010609060101010101" pitchFamily="49" charset="-122"/>
                <a:ea typeface="楷体" panose="02010609060101010101" pitchFamily="49" charset="-122"/>
              </a:rPr>
              <a:t>端口，故可寻址</a:t>
            </a:r>
            <a:r>
              <a:rPr lang="en-US" altLang="zh-CN" sz="2500" dirty="0">
                <a:latin typeface="楷体" panose="02010609060101010101" pitchFamily="49" charset="-122"/>
                <a:ea typeface="楷体" panose="02010609060101010101" pitchFamily="49" charset="-122"/>
              </a:rPr>
              <a:t>64K</a:t>
            </a:r>
            <a:r>
              <a:rPr lang="zh-CN" altLang="en-US" sz="2500" dirty="0">
                <a:latin typeface="楷体" panose="02010609060101010101" pitchFamily="49" charset="-122"/>
                <a:ea typeface="楷体" panose="02010609060101010101" pitchFamily="49" charset="-122"/>
              </a:rPr>
              <a:t>个</a:t>
            </a:r>
            <a:r>
              <a:rPr lang="en-US" altLang="zh-CN" sz="2500" dirty="0">
                <a:latin typeface="楷体" panose="02010609060101010101" pitchFamily="49" charset="-122"/>
                <a:ea typeface="楷体" panose="02010609060101010101" pitchFamily="49" charset="-122"/>
              </a:rPr>
              <a:t>I/O</a:t>
            </a:r>
            <a:r>
              <a:rPr lang="zh-CN" altLang="en-US" sz="2500" dirty="0">
                <a:latin typeface="楷体" panose="02010609060101010101" pitchFamily="49" charset="-122"/>
                <a:ea typeface="楷体" panose="02010609060101010101" pitchFamily="49" charset="-122"/>
              </a:rPr>
              <a:t>端口，但</a:t>
            </a:r>
            <a:r>
              <a:rPr lang="zh-CN" altLang="en-US" sz="2500" dirty="0">
                <a:solidFill>
                  <a:srgbClr val="FF0066"/>
                </a:solidFill>
                <a:latin typeface="楷体" panose="02010609060101010101" pitchFamily="49" charset="-122"/>
                <a:ea typeface="楷体" panose="02010609060101010101" pitchFamily="49" charset="-122"/>
              </a:rPr>
              <a:t>在实际的</a:t>
            </a:r>
            <a:r>
              <a:rPr lang="en-US" altLang="zh-CN" sz="2500" dirty="0">
                <a:solidFill>
                  <a:srgbClr val="FF0066"/>
                </a:solidFill>
                <a:latin typeface="楷体" panose="02010609060101010101" pitchFamily="49" charset="-122"/>
                <a:ea typeface="楷体" panose="02010609060101010101" pitchFamily="49" charset="-122"/>
              </a:rPr>
              <a:t>80x86PC</a:t>
            </a:r>
            <a:r>
              <a:rPr lang="zh-CN" altLang="en-US" sz="2500" dirty="0">
                <a:solidFill>
                  <a:srgbClr val="FF0066"/>
                </a:solidFill>
                <a:latin typeface="楷体" panose="02010609060101010101" pitchFamily="49" charset="-122"/>
                <a:ea typeface="楷体" panose="02010609060101010101" pitchFamily="49" charset="-122"/>
              </a:rPr>
              <a:t>机中，只用了最前面 </a:t>
            </a:r>
            <a:r>
              <a:rPr lang="en-US" altLang="zh-CN" sz="2500" dirty="0">
                <a:solidFill>
                  <a:srgbClr val="FF0066"/>
                </a:solidFill>
                <a:latin typeface="楷体" panose="02010609060101010101" pitchFamily="49" charset="-122"/>
                <a:ea typeface="楷体" panose="02010609060101010101" pitchFamily="49" charset="-122"/>
              </a:rPr>
              <a:t>1K</a:t>
            </a:r>
            <a:r>
              <a:rPr lang="zh-CN" altLang="en-US" sz="2500" dirty="0">
                <a:solidFill>
                  <a:srgbClr val="FF0066"/>
                </a:solidFill>
                <a:latin typeface="楷体" panose="02010609060101010101" pitchFamily="49" charset="-122"/>
                <a:ea typeface="楷体" panose="02010609060101010101" pitchFamily="49" charset="-122"/>
              </a:rPr>
              <a:t>个端口地址</a:t>
            </a:r>
            <a:r>
              <a:rPr lang="zh-CN" altLang="en-US" sz="2500" dirty="0">
                <a:latin typeface="楷体" panose="02010609060101010101" pitchFamily="49" charset="-122"/>
                <a:ea typeface="楷体" panose="02010609060101010101" pitchFamily="49" charset="-122"/>
              </a:rPr>
              <a:t>，也即只寻址</a:t>
            </a:r>
            <a:r>
              <a:rPr lang="en-US" altLang="zh-CN" sz="2500" dirty="0">
                <a:latin typeface="楷体" panose="02010609060101010101" pitchFamily="49" charset="-122"/>
                <a:ea typeface="楷体" panose="02010609060101010101" pitchFamily="49" charset="-122"/>
              </a:rPr>
              <a:t>1K</a:t>
            </a:r>
            <a:r>
              <a:rPr lang="zh-CN" altLang="en-US" sz="2500" dirty="0">
                <a:latin typeface="楷体" panose="02010609060101010101" pitchFamily="49" charset="-122"/>
                <a:ea typeface="楷体" panose="02010609060101010101" pitchFamily="49" charset="-122"/>
              </a:rPr>
              <a:t>范围内的</a:t>
            </a:r>
            <a:r>
              <a:rPr lang="en-US" altLang="zh-CN" sz="2500" dirty="0">
                <a:latin typeface="楷体" panose="02010609060101010101" pitchFamily="49" charset="-122"/>
                <a:ea typeface="楷体" panose="02010609060101010101" pitchFamily="49" charset="-122"/>
              </a:rPr>
              <a:t>I/O</a:t>
            </a:r>
            <a:r>
              <a:rPr lang="zh-CN" altLang="en-US" sz="2500" dirty="0">
                <a:latin typeface="楷体" panose="02010609060101010101" pitchFamily="49" charset="-122"/>
                <a:ea typeface="楷体" panose="02010609060101010101" pitchFamily="49" charset="-122"/>
              </a:rPr>
              <a:t>空间。因此仅使用了地址总线的低</a:t>
            </a:r>
            <a:r>
              <a:rPr lang="en-US" altLang="zh-CN" sz="2500" dirty="0">
                <a:latin typeface="楷体" panose="02010609060101010101" pitchFamily="49" charset="-122"/>
                <a:ea typeface="楷体" panose="02010609060101010101" pitchFamily="49" charset="-122"/>
              </a:rPr>
              <a:t>10</a:t>
            </a:r>
            <a:r>
              <a:rPr lang="zh-CN" altLang="en-US" sz="2500" dirty="0">
                <a:latin typeface="楷体" panose="02010609060101010101" pitchFamily="49" charset="-122"/>
                <a:ea typeface="楷体" panose="02010609060101010101" pitchFamily="49" charset="-122"/>
              </a:rPr>
              <a:t>位，</a:t>
            </a:r>
            <a:r>
              <a:rPr lang="zh-CN" altLang="en-US" sz="2500" dirty="0">
                <a:solidFill>
                  <a:srgbClr val="FF0066"/>
                </a:solidFill>
                <a:latin typeface="楷体" panose="02010609060101010101" pitchFamily="49" charset="-122"/>
                <a:ea typeface="楷体" panose="02010609060101010101" pitchFamily="49" charset="-122"/>
              </a:rPr>
              <a:t>即只有地址线</a:t>
            </a:r>
            <a:r>
              <a:rPr lang="en-US" altLang="zh-CN" sz="2500" dirty="0">
                <a:solidFill>
                  <a:srgbClr val="FF0066"/>
                </a:solidFill>
                <a:latin typeface="楷体" panose="02010609060101010101" pitchFamily="49" charset="-122"/>
                <a:ea typeface="楷体" panose="02010609060101010101" pitchFamily="49" charset="-122"/>
              </a:rPr>
              <a:t>A9</a:t>
            </a:r>
            <a:r>
              <a:rPr lang="zh-CN" altLang="en-US" sz="2500" dirty="0">
                <a:solidFill>
                  <a:srgbClr val="FF0066"/>
                </a:solidFill>
                <a:latin typeface="楷体" panose="02010609060101010101" pitchFamily="49" charset="-122"/>
                <a:ea typeface="楷体" panose="02010609060101010101" pitchFamily="49" charset="-122"/>
              </a:rPr>
              <a:t>～</a:t>
            </a:r>
            <a:r>
              <a:rPr lang="en-US" altLang="zh-CN" sz="2500" dirty="0">
                <a:solidFill>
                  <a:srgbClr val="FF0066"/>
                </a:solidFill>
                <a:latin typeface="楷体" panose="02010609060101010101" pitchFamily="49" charset="-122"/>
                <a:ea typeface="楷体" panose="02010609060101010101" pitchFamily="49" charset="-122"/>
              </a:rPr>
              <a:t>A0</a:t>
            </a:r>
            <a:r>
              <a:rPr lang="zh-CN" altLang="en-US" sz="2500" dirty="0">
                <a:solidFill>
                  <a:srgbClr val="FF0066"/>
                </a:solidFill>
                <a:latin typeface="楷体" panose="02010609060101010101" pitchFamily="49" charset="-122"/>
                <a:ea typeface="楷体" panose="02010609060101010101" pitchFamily="49" charset="-122"/>
              </a:rPr>
              <a:t>用于</a:t>
            </a:r>
            <a:r>
              <a:rPr lang="en-US" altLang="zh-CN" sz="2500" dirty="0">
                <a:solidFill>
                  <a:srgbClr val="FF0066"/>
                </a:solidFill>
                <a:latin typeface="楷体" panose="02010609060101010101" pitchFamily="49" charset="-122"/>
                <a:ea typeface="楷体" panose="02010609060101010101" pitchFamily="49" charset="-122"/>
              </a:rPr>
              <a:t>I/O</a:t>
            </a:r>
            <a:r>
              <a:rPr lang="zh-CN" altLang="en-US" sz="2500" dirty="0">
                <a:solidFill>
                  <a:srgbClr val="FF0066"/>
                </a:solidFill>
                <a:latin typeface="楷体" panose="02010609060101010101" pitchFamily="49" charset="-122"/>
                <a:ea typeface="楷体" panose="02010609060101010101" pitchFamily="49" charset="-122"/>
              </a:rPr>
              <a:t>地址译码</a:t>
            </a:r>
            <a:r>
              <a:rPr lang="zh-CN" altLang="en-US" sz="2500" dirty="0">
                <a:latin typeface="楷体" panose="02010609060101010101" pitchFamily="49" charset="-122"/>
                <a:ea typeface="楷体" panose="02010609060101010101" pitchFamily="49" charset="-122"/>
              </a:rPr>
              <a:t>。 </a:t>
            </a:r>
          </a:p>
        </p:txBody>
      </p:sp>
      <p:sp>
        <p:nvSpPr>
          <p:cNvPr id="3" name="Text Box 4"/>
          <p:cNvSpPr txBox="1">
            <a:spLocks noChangeArrowheads="1"/>
          </p:cNvSpPr>
          <p:nvPr/>
        </p:nvSpPr>
        <p:spPr bwMode="auto">
          <a:xfrm>
            <a:off x="14288" y="3684588"/>
            <a:ext cx="8805862" cy="240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fontAlgn="b" hangingPunct="1">
              <a:buClr>
                <a:srgbClr val="0BD0D9"/>
              </a:buClr>
              <a:buSzPct val="95000"/>
              <a:buFont typeface="Wingdings 2" panose="05020102010507070707" pitchFamily="18" charset="2"/>
              <a:buNone/>
            </a:pPr>
            <a:r>
              <a:rPr lang="zh-CN" altLang="en-US" sz="2700" dirty="0">
                <a:latin typeface="楷体" panose="02010609060101010101" pitchFamily="49" charset="-122"/>
                <a:ea typeface="楷体" panose="02010609060101010101" pitchFamily="49" charset="-122"/>
              </a:rPr>
              <a:t>   </a:t>
            </a:r>
            <a:r>
              <a:rPr lang="zh-CN" altLang="en-US" sz="2700" dirty="0" smtClean="0">
                <a:latin typeface="楷体" panose="02010609060101010101" pitchFamily="49" charset="-122"/>
                <a:ea typeface="楷体" panose="02010609060101010101" pitchFamily="49" charset="-122"/>
              </a:rPr>
              <a:t>  </a:t>
            </a:r>
            <a:r>
              <a:rPr lang="zh-CN" altLang="en-US" sz="2500" dirty="0" smtClean="0">
                <a:solidFill>
                  <a:srgbClr val="FF0066"/>
                </a:solidFill>
                <a:latin typeface="楷体" panose="02010609060101010101" pitchFamily="49" charset="-122"/>
                <a:ea typeface="楷体" panose="02010609060101010101" pitchFamily="49" charset="-122"/>
              </a:rPr>
              <a:t>在</a:t>
            </a:r>
            <a:r>
              <a:rPr lang="en-US" altLang="zh-CN" sz="2500" dirty="0">
                <a:solidFill>
                  <a:srgbClr val="FF0066"/>
                </a:solidFill>
                <a:latin typeface="楷体" panose="02010609060101010101" pitchFamily="49" charset="-122"/>
                <a:ea typeface="楷体" panose="02010609060101010101" pitchFamily="49" charset="-122"/>
              </a:rPr>
              <a:t>DMA</a:t>
            </a:r>
            <a:r>
              <a:rPr lang="zh-CN" altLang="en-US" sz="2500" dirty="0">
                <a:solidFill>
                  <a:srgbClr val="FF0066"/>
                </a:solidFill>
                <a:latin typeface="楷体" panose="02010609060101010101" pitchFamily="49" charset="-122"/>
                <a:ea typeface="楷体" panose="02010609060101010101" pitchFamily="49" charset="-122"/>
              </a:rPr>
              <a:t>操作时，</a:t>
            </a:r>
            <a:r>
              <a:rPr lang="en-US" altLang="zh-CN" sz="2500" dirty="0">
                <a:solidFill>
                  <a:srgbClr val="FF0066"/>
                </a:solidFill>
                <a:latin typeface="楷体" panose="02010609060101010101" pitchFamily="49" charset="-122"/>
                <a:ea typeface="楷体" panose="02010609060101010101" pitchFamily="49" charset="-122"/>
              </a:rPr>
              <a:t>DMA</a:t>
            </a:r>
            <a:r>
              <a:rPr lang="zh-CN" altLang="en-US" sz="2500" dirty="0">
                <a:solidFill>
                  <a:srgbClr val="FF0066"/>
                </a:solidFill>
                <a:latin typeface="楷体" panose="02010609060101010101" pitchFamily="49" charset="-122"/>
                <a:ea typeface="楷体" panose="02010609060101010101" pitchFamily="49" charset="-122"/>
              </a:rPr>
              <a:t>控制器控制了系统总线</a:t>
            </a:r>
            <a:r>
              <a:rPr lang="zh-CN" altLang="en-US" sz="2500" dirty="0">
                <a:latin typeface="楷体" panose="02010609060101010101" pitchFamily="49" charset="-122"/>
                <a:ea typeface="楷体" panose="02010609060101010101" pitchFamily="49" charset="-122"/>
              </a:rPr>
              <a:t>。</a:t>
            </a:r>
            <a:r>
              <a:rPr lang="en-US" altLang="zh-CN" sz="2500" dirty="0">
                <a:latin typeface="楷体" panose="02010609060101010101" pitchFamily="49" charset="-122"/>
                <a:ea typeface="楷体" panose="02010609060101010101" pitchFamily="49" charset="-122"/>
              </a:rPr>
              <a:t>DMA</a:t>
            </a:r>
            <a:r>
              <a:rPr lang="zh-CN" altLang="en-US" sz="2500" dirty="0">
                <a:latin typeface="楷体" panose="02010609060101010101" pitchFamily="49" charset="-122"/>
                <a:ea typeface="楷体" panose="02010609060101010101" pitchFamily="49" charset="-122"/>
              </a:rPr>
              <a:t>控制器在发出地址的同时还要发出地址允许信号</a:t>
            </a:r>
            <a:r>
              <a:rPr lang="en-US" altLang="zh-CN" sz="2500" dirty="0">
                <a:latin typeface="楷体" panose="02010609060101010101" pitchFamily="49" charset="-122"/>
                <a:ea typeface="楷体" panose="02010609060101010101" pitchFamily="49" charset="-122"/>
              </a:rPr>
              <a:t>AEN</a:t>
            </a:r>
            <a:r>
              <a:rPr lang="zh-CN" altLang="en-US" sz="2500" dirty="0">
                <a:latin typeface="楷体" panose="02010609060101010101" pitchFamily="49" charset="-122"/>
                <a:ea typeface="楷体" panose="02010609060101010101" pitchFamily="49" charset="-122"/>
              </a:rPr>
              <a:t>，所以还必须将</a:t>
            </a:r>
            <a:r>
              <a:rPr lang="en-US" altLang="zh-CN" sz="2500" dirty="0">
                <a:latin typeface="楷体" panose="02010609060101010101" pitchFamily="49" charset="-122"/>
                <a:ea typeface="楷体" panose="02010609060101010101" pitchFamily="49" charset="-122"/>
              </a:rPr>
              <a:t>DMA</a:t>
            </a:r>
            <a:r>
              <a:rPr lang="zh-CN" altLang="en-US" sz="2500" dirty="0">
                <a:latin typeface="楷体" panose="02010609060101010101" pitchFamily="49" charset="-122"/>
                <a:ea typeface="楷体" panose="02010609060101010101" pitchFamily="49" charset="-122"/>
              </a:rPr>
              <a:t>控制器发出的地址允许信号</a:t>
            </a:r>
            <a:r>
              <a:rPr lang="en-US" altLang="zh-CN" sz="2500" dirty="0">
                <a:latin typeface="楷体" panose="02010609060101010101" pitchFamily="49" charset="-122"/>
                <a:ea typeface="楷体" panose="02010609060101010101" pitchFamily="49" charset="-122"/>
              </a:rPr>
              <a:t>AEN</a:t>
            </a:r>
            <a:r>
              <a:rPr lang="zh-CN" altLang="en-US" sz="2500" dirty="0">
                <a:latin typeface="楷体" panose="02010609060101010101" pitchFamily="49" charset="-122"/>
                <a:ea typeface="楷体" panose="02010609060101010101" pitchFamily="49" charset="-122"/>
              </a:rPr>
              <a:t>也参加端口地址的译码，用</a:t>
            </a:r>
            <a:r>
              <a:rPr lang="en-US" altLang="zh-CN" sz="2500" dirty="0">
                <a:latin typeface="楷体" panose="02010609060101010101" pitchFamily="49" charset="-122"/>
                <a:ea typeface="楷体" panose="02010609060101010101" pitchFamily="49" charset="-122"/>
              </a:rPr>
              <a:t>AEN</a:t>
            </a:r>
            <a:r>
              <a:rPr lang="zh-CN" altLang="en-US" sz="2500" dirty="0">
                <a:latin typeface="楷体" panose="02010609060101010101" pitchFamily="49" charset="-122"/>
                <a:ea typeface="楷体" panose="02010609060101010101" pitchFamily="49" charset="-122"/>
              </a:rPr>
              <a:t>限定地址译码电路的输出。</a:t>
            </a:r>
            <a:r>
              <a:rPr lang="zh-CN" altLang="en-US" sz="2500" dirty="0">
                <a:solidFill>
                  <a:srgbClr val="3333FF"/>
                </a:solidFill>
                <a:latin typeface="楷体" panose="02010609060101010101" pitchFamily="49" charset="-122"/>
                <a:ea typeface="楷体" panose="02010609060101010101" pitchFamily="49" charset="-122"/>
              </a:rPr>
              <a:t>当 </a:t>
            </a:r>
            <a:r>
              <a:rPr lang="en-US" altLang="zh-CN" sz="2500" dirty="0">
                <a:solidFill>
                  <a:srgbClr val="3333FF"/>
                </a:solidFill>
                <a:latin typeface="楷体" panose="02010609060101010101" pitchFamily="49" charset="-122"/>
                <a:ea typeface="楷体" panose="02010609060101010101" pitchFamily="49" charset="-122"/>
              </a:rPr>
              <a:t>AEN</a:t>
            </a:r>
            <a:r>
              <a:rPr lang="zh-CN" altLang="en-US" sz="2500" dirty="0">
                <a:solidFill>
                  <a:srgbClr val="3333FF"/>
                </a:solidFill>
                <a:latin typeface="楷体" panose="02010609060101010101" pitchFamily="49" charset="-122"/>
                <a:ea typeface="楷体" panose="02010609060101010101" pitchFamily="49" charset="-122"/>
              </a:rPr>
              <a:t>信号有效时即 </a:t>
            </a:r>
            <a:r>
              <a:rPr lang="en-US" altLang="zh-CN" sz="2500" dirty="0">
                <a:solidFill>
                  <a:srgbClr val="3333FF"/>
                </a:solidFill>
                <a:latin typeface="楷体" panose="02010609060101010101" pitchFamily="49" charset="-122"/>
                <a:ea typeface="楷体" panose="02010609060101010101" pitchFamily="49" charset="-122"/>
              </a:rPr>
              <a:t>DMA</a:t>
            </a:r>
            <a:r>
              <a:rPr lang="zh-CN" altLang="en-US" sz="2500" dirty="0">
                <a:solidFill>
                  <a:srgbClr val="3333FF"/>
                </a:solidFill>
                <a:latin typeface="楷体" panose="02010609060101010101" pitchFamily="49" charset="-122"/>
                <a:ea typeface="楷体" panose="02010609060101010101" pitchFamily="49" charset="-122"/>
              </a:rPr>
              <a:t>控制器控制系统总线时，地址译码电路无输出</a:t>
            </a:r>
            <a:r>
              <a:rPr lang="zh-CN" altLang="en-US" sz="2500" dirty="0">
                <a:latin typeface="楷体" panose="02010609060101010101" pitchFamily="49" charset="-122"/>
                <a:ea typeface="楷体" panose="02010609060101010101" pitchFamily="49" charset="-122"/>
              </a:rPr>
              <a:t>；</a:t>
            </a:r>
            <a:r>
              <a:rPr lang="zh-CN" altLang="en-US" sz="2500" dirty="0">
                <a:solidFill>
                  <a:srgbClr val="3333FF"/>
                </a:solidFill>
                <a:latin typeface="楷体" panose="02010609060101010101" pitchFamily="49" charset="-122"/>
                <a:ea typeface="楷体" panose="02010609060101010101" pitchFamily="49" charset="-122"/>
              </a:rPr>
              <a:t>当 </a:t>
            </a:r>
            <a:r>
              <a:rPr lang="en-US" altLang="zh-CN" sz="2500" dirty="0">
                <a:solidFill>
                  <a:srgbClr val="3333FF"/>
                </a:solidFill>
                <a:latin typeface="楷体" panose="02010609060101010101" pitchFamily="49" charset="-122"/>
                <a:ea typeface="楷体" panose="02010609060101010101" pitchFamily="49" charset="-122"/>
              </a:rPr>
              <a:t>AEN</a:t>
            </a:r>
            <a:r>
              <a:rPr lang="zh-CN" altLang="en-US" sz="2500" dirty="0">
                <a:solidFill>
                  <a:srgbClr val="3333FF"/>
                </a:solidFill>
                <a:latin typeface="楷体" panose="02010609060101010101" pitchFamily="49" charset="-122"/>
                <a:ea typeface="楷体" panose="02010609060101010101" pitchFamily="49" charset="-122"/>
              </a:rPr>
              <a:t>信号无效时，地址译码电路才有输出</a:t>
            </a:r>
            <a:r>
              <a:rPr lang="zh-CN" altLang="en-US" sz="2500"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3225792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93663" y="1484313"/>
            <a:ext cx="8799512" cy="369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15000"/>
              </a:lnSpc>
              <a:buClr>
                <a:srgbClr val="0BD0D9"/>
              </a:buClr>
              <a:buSzPct val="95000"/>
              <a:buFont typeface="Wingdings 2" panose="05020102010507070707" pitchFamily="18" charset="2"/>
              <a:buNone/>
            </a:pPr>
            <a:r>
              <a:rPr lang="zh-CN" altLang="en-US" sz="2700" dirty="0">
                <a:latin typeface="楷体" panose="02010609060101010101" pitchFamily="49" charset="-122"/>
                <a:ea typeface="楷体" panose="02010609060101010101" pitchFamily="49" charset="-122"/>
              </a:rPr>
              <a:t>    </a:t>
            </a:r>
            <a:r>
              <a:rPr lang="zh-CN" altLang="en-US" sz="2700" dirty="0" smtClean="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无论</a:t>
            </a:r>
            <a:r>
              <a:rPr lang="zh-CN" altLang="en-US" sz="2800" dirty="0">
                <a:latin typeface="楷体" panose="02010609060101010101" pitchFamily="49" charset="-122"/>
                <a:ea typeface="楷体" panose="02010609060101010101" pitchFamily="49" charset="-122"/>
              </a:rPr>
              <a:t>是大规模集成电路的接口芯片，还是基本的输入输出缓冲单元，都是由一个或多个寄存器加上一些附加控制逻辑构成的。</a:t>
            </a:r>
            <a:r>
              <a:rPr lang="zh-CN" altLang="en-US" sz="2800" dirty="0">
                <a:solidFill>
                  <a:srgbClr val="FF0066"/>
                </a:solidFill>
                <a:latin typeface="楷体" panose="02010609060101010101" pitchFamily="49" charset="-122"/>
                <a:ea typeface="楷体" panose="02010609060101010101" pitchFamily="49" charset="-122"/>
              </a:rPr>
              <a:t>对这些寄存器的寻址就是对接口的寻址</a:t>
            </a:r>
            <a:r>
              <a:rPr lang="zh-CN" altLang="en-US" sz="2800" dirty="0">
                <a:latin typeface="楷体" panose="02010609060101010101" pitchFamily="49" charset="-122"/>
                <a:ea typeface="楷体" panose="02010609060101010101" pitchFamily="49" charset="-122"/>
              </a:rPr>
              <a:t>。</a:t>
            </a:r>
          </a:p>
          <a:p>
            <a:pPr eaLnBrk="1" fontAlgn="b" hangingPunct="1">
              <a:lnSpc>
                <a:spcPct val="115000"/>
              </a:lnSpc>
              <a:spcBef>
                <a:spcPct val="40000"/>
              </a:spcBef>
              <a:buClr>
                <a:srgbClr val="0BD0D9"/>
              </a:buClr>
              <a:buSzPct val="95000"/>
              <a:buFont typeface="Wingdings 2" panose="05020102010507070707" pitchFamily="18" charset="2"/>
              <a:buNone/>
            </a:pPr>
            <a:r>
              <a:rPr lang="zh-CN" altLang="en-US" sz="2800" dirty="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  通常</a:t>
            </a:r>
            <a:r>
              <a:rPr lang="zh-CN" altLang="en-US" sz="2800" dirty="0">
                <a:latin typeface="楷体" panose="02010609060101010101" pitchFamily="49" charset="-122"/>
                <a:ea typeface="楷体" panose="02010609060101010101" pitchFamily="49" charset="-122"/>
              </a:rPr>
              <a:t>采用</a:t>
            </a:r>
            <a:r>
              <a:rPr lang="zh-CN" altLang="en-US" sz="2800" dirty="0">
                <a:solidFill>
                  <a:srgbClr val="3333FF"/>
                </a:solidFill>
                <a:latin typeface="楷体" panose="02010609060101010101" pitchFamily="49" charset="-122"/>
                <a:ea typeface="楷体" panose="02010609060101010101" pitchFamily="49" charset="-122"/>
              </a:rPr>
              <a:t>两级译码方法</a:t>
            </a:r>
            <a:r>
              <a:rPr lang="zh-CN" altLang="en-US" sz="2800" dirty="0">
                <a:latin typeface="楷体" panose="02010609060101010101" pitchFamily="49" charset="-122"/>
                <a:ea typeface="楷体" panose="02010609060101010101" pitchFamily="49" charset="-122"/>
              </a:rPr>
              <a:t>，译码地址的高位组确定一个地址区域，作为组选信号；低位组地址直接接到芯片的地址输入端，选择芯片内各寄存器。 </a:t>
            </a:r>
          </a:p>
        </p:txBody>
      </p:sp>
    </p:spTree>
    <p:extLst>
      <p:ext uri="{BB962C8B-B14F-4D97-AF65-F5344CB8AC3E}">
        <p14:creationId xmlns:p14="http://schemas.microsoft.com/office/powerpoint/2010/main" val="13322081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539750" y="4508500"/>
            <a:ext cx="810895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下</a:t>
            </a:r>
            <a:r>
              <a:rPr lang="zh-CN" altLang="en-US" sz="2700">
                <a:solidFill>
                  <a:srgbClr val="3333FF"/>
                </a:solidFill>
                <a:latin typeface="楷体" panose="02010609060101010101" pitchFamily="49" charset="-122"/>
                <a:ea typeface="楷体" panose="02010609060101010101" pitchFamily="49" charset="-122"/>
              </a:rPr>
              <a:t>图所示的直接地址译码电路的输出线分别用于输</a:t>
            </a:r>
          </a:p>
          <a:p>
            <a:pPr eaLnBrk="1" fontAlgn="b" hangingPunct="1">
              <a:buClr>
                <a:srgbClr val="0BD0D9"/>
              </a:buClr>
              <a:buSzPct val="95000"/>
              <a:buFont typeface="Wingdings 2" panose="05020102010507070707" pitchFamily="18" charset="2"/>
              <a:buNone/>
            </a:pPr>
            <a:r>
              <a:rPr lang="zh-CN" altLang="en-US" sz="2700">
                <a:solidFill>
                  <a:srgbClr val="3333FF"/>
                </a:solidFill>
                <a:latin typeface="楷体" panose="02010609060101010101" pitchFamily="49" charset="-122"/>
                <a:ea typeface="楷体" panose="02010609060101010101" pitchFamily="49" charset="-122"/>
              </a:rPr>
              <a:t>入和输出。</a:t>
            </a:r>
            <a:r>
              <a:rPr lang="zh-CN" altLang="en-US" sz="2700">
                <a:latin typeface="楷体" panose="02010609060101010101" pitchFamily="49" charset="-122"/>
                <a:ea typeface="楷体" panose="02010609060101010101" pitchFamily="49" charset="-122"/>
              </a:rPr>
              <a:t> </a:t>
            </a:r>
          </a:p>
        </p:txBody>
      </p:sp>
      <p:grpSp>
        <p:nvGrpSpPr>
          <p:cNvPr id="3" name="Group 14"/>
          <p:cNvGrpSpPr>
            <a:grpSpLocks/>
          </p:cNvGrpSpPr>
          <p:nvPr/>
        </p:nvGrpSpPr>
        <p:grpSpPr bwMode="auto">
          <a:xfrm>
            <a:off x="107950" y="1270000"/>
            <a:ext cx="8640763" cy="3238500"/>
            <a:chOff x="68" y="800"/>
            <a:chExt cx="5443" cy="2040"/>
          </a:xfrm>
        </p:grpSpPr>
        <p:grpSp>
          <p:nvGrpSpPr>
            <p:cNvPr id="4" name="Group 13"/>
            <p:cNvGrpSpPr>
              <a:grpSpLocks/>
            </p:cNvGrpSpPr>
            <p:nvPr/>
          </p:nvGrpSpPr>
          <p:grpSpPr bwMode="auto">
            <a:xfrm>
              <a:off x="270" y="800"/>
              <a:ext cx="5241" cy="2040"/>
              <a:chOff x="270" y="800"/>
              <a:chExt cx="5241" cy="2040"/>
            </a:xfrm>
          </p:grpSpPr>
          <p:sp>
            <p:nvSpPr>
              <p:cNvPr id="6" name="AutoShape 72">
                <a:extLst>
                  <a:ext uri="{FF2B5EF4-FFF2-40B4-BE49-F238E27FC236}">
                    <a16:creationId xmlns:a16="http://schemas.microsoft.com/office/drawing/2014/main" id="{A3D0B462-E38A-40DA-B491-03C3030CF0B2}"/>
                  </a:ext>
                </a:extLst>
              </p:cNvPr>
              <p:cNvSpPr>
                <a:spLocks noChangeArrowheads="1"/>
              </p:cNvSpPr>
              <p:nvPr/>
            </p:nvSpPr>
            <p:spPr bwMode="auto">
              <a:xfrm>
                <a:off x="281" y="809"/>
                <a:ext cx="5220" cy="2031"/>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headEnd/>
                <a:tailE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spcBef>
                    <a:spcPts val="0"/>
                  </a:spcBef>
                  <a:spcAft>
                    <a:spcPts val="0"/>
                  </a:spcAft>
                  <a:defRPr/>
                </a:pPr>
                <a:endParaRPr lang="zh-CN" altLang="en-US" sz="1800">
                  <a:solidFill>
                    <a:schemeClr val="tx1"/>
                  </a:solidFill>
                  <a:latin typeface="楷体" panose="02010609060101010101" pitchFamily="49" charset="-122"/>
                  <a:ea typeface="楷体" panose="02010609060101010101" pitchFamily="49" charset="-122"/>
                </a:endParaRPr>
              </a:p>
            </p:txBody>
          </p:sp>
          <p:grpSp>
            <p:nvGrpSpPr>
              <p:cNvPr id="7" name="Group 22"/>
              <p:cNvGrpSpPr>
                <a:grpSpLocks/>
              </p:cNvGrpSpPr>
              <p:nvPr/>
            </p:nvGrpSpPr>
            <p:grpSpPr bwMode="auto">
              <a:xfrm>
                <a:off x="270" y="800"/>
                <a:ext cx="5241" cy="453"/>
                <a:chOff x="266" y="1248"/>
                <a:chExt cx="5304" cy="672"/>
              </a:xfrm>
            </p:grpSpPr>
            <p:sp>
              <p:nvSpPr>
                <p:cNvPr id="9"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zh-CN" sz="2800">
                    <a:latin typeface="楷体" panose="02010609060101010101" pitchFamily="49" charset="-122"/>
                    <a:ea typeface="楷体" panose="02010609060101010101" pitchFamily="49" charset="-122"/>
                    <a:cs typeface="Times New Roman" panose="02020603050405020304" pitchFamily="18" charset="0"/>
                  </a:endParaRPr>
                </a:p>
              </p:txBody>
            </p:sp>
            <p:pic>
              <p:nvPicPr>
                <p:cNvPr id="10"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Rectangle 11"/>
              <p:cNvSpPr>
                <a:spLocks noChangeArrowheads="1"/>
              </p:cNvSpPr>
              <p:nvPr/>
            </p:nvSpPr>
            <p:spPr bwMode="auto">
              <a:xfrm>
                <a:off x="727" y="845"/>
                <a:ext cx="16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kumimoji="1" lang="en-US" altLang="zh-CN" sz="2800">
                    <a:latin typeface="楷体" panose="02010609060101010101" pitchFamily="49" charset="-122"/>
                    <a:ea typeface="楷体" panose="02010609060101010101" pitchFamily="49" charset="-122"/>
                  </a:rPr>
                  <a:t>1.</a:t>
                </a:r>
                <a:r>
                  <a:rPr kumimoji="1" lang="zh-CN" altLang="en-US" sz="2800">
                    <a:latin typeface="楷体" panose="02010609060101010101" pitchFamily="49" charset="-122"/>
                    <a:ea typeface="楷体" panose="02010609060101010101" pitchFamily="49" charset="-122"/>
                  </a:rPr>
                  <a:t>直接地址译码</a:t>
                </a:r>
              </a:p>
            </p:txBody>
          </p:sp>
        </p:grpSp>
        <p:sp>
          <p:nvSpPr>
            <p:cNvPr id="5" name="Text Box 12"/>
            <p:cNvSpPr txBox="1">
              <a:spLocks noChangeArrowheads="1"/>
            </p:cNvSpPr>
            <p:nvPr/>
          </p:nvSpPr>
          <p:spPr bwMode="auto">
            <a:xfrm>
              <a:off x="68" y="1256"/>
              <a:ext cx="5443" cy="1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05000"/>
                </a:lnSpc>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zh-CN" altLang="en-US" sz="2800">
                  <a:solidFill>
                    <a:srgbClr val="FF0066"/>
                  </a:solidFill>
                  <a:latin typeface="楷体" panose="02010609060101010101" pitchFamily="49" charset="-122"/>
                  <a:ea typeface="楷体" panose="02010609060101010101" pitchFamily="49" charset="-122"/>
                </a:rPr>
                <a:t>直接地址译码是一种局部译码方法</a:t>
              </a:r>
              <a:r>
                <a:rPr lang="zh-CN" altLang="en-US" sz="2800">
                  <a:latin typeface="楷体" panose="02010609060101010101" pitchFamily="49" charset="-122"/>
                  <a:ea typeface="楷体" panose="02010609060101010101" pitchFamily="49" charset="-122"/>
                </a:rPr>
                <a:t>，按照系统分配给某接口的地址区域，对地址总线的某些位进行译码，产生对该接口包含的缓冲器和寄存器的组选信号，再由低位地址线对组内缓冲器和寄存器译码寻址。 </a:t>
              </a:r>
            </a:p>
          </p:txBody>
        </p:sp>
      </p:grpSp>
    </p:spTree>
    <p:extLst>
      <p:ext uri="{BB962C8B-B14F-4D97-AF65-F5344CB8AC3E}">
        <p14:creationId xmlns:p14="http://schemas.microsoft.com/office/powerpoint/2010/main" val="32598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4"/>
          <p:cNvGraphicFramePr>
            <a:graphicFrameLocks noChangeAspect="1"/>
          </p:cNvGraphicFramePr>
          <p:nvPr>
            <p:extLst>
              <p:ext uri="{D42A27DB-BD31-4B8C-83A1-F6EECF244321}">
                <p14:modId xmlns:p14="http://schemas.microsoft.com/office/powerpoint/2010/main" val="3455982488"/>
              </p:ext>
            </p:extLst>
          </p:nvPr>
        </p:nvGraphicFramePr>
        <p:xfrm>
          <a:off x="859762" y="1070222"/>
          <a:ext cx="7667625" cy="5610225"/>
        </p:xfrm>
        <a:graphic>
          <a:graphicData uri="http://schemas.openxmlformats.org/presentationml/2006/ole">
            <mc:AlternateContent xmlns:mc="http://schemas.openxmlformats.org/markup-compatibility/2006">
              <mc:Choice xmlns:v="urn:schemas-microsoft-com:vml" Requires="v">
                <p:oleObj spid="_x0000_s6157" name="位图图像" r:id="rId3" imgW="3761905" imgH="2752381" progId="Paint.Picture">
                  <p:embed/>
                </p:oleObj>
              </mc:Choice>
              <mc:Fallback>
                <p:oleObj name="位图图像" r:id="rId3" imgW="3761905" imgH="2752381" progId="Paint.Picture">
                  <p:embed/>
                  <p:pic>
                    <p:nvPicPr>
                      <p:cNvPr id="6861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762" y="1070222"/>
                        <a:ext cx="7667625" cy="561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249033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250825" y="1125538"/>
            <a:ext cx="8455025"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下图所示的直接地址译码电路的输出线，既可以用</a:t>
            </a:r>
          </a:p>
          <a:p>
            <a:pPr eaLnBrk="1" fontAlgn="b" hangingPunct="1">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于输入也可以用于输出。</a:t>
            </a:r>
          </a:p>
        </p:txBody>
      </p:sp>
      <p:sp>
        <p:nvSpPr>
          <p:cNvPr id="3" name="Rectangle 3"/>
          <p:cNvSpPr>
            <a:spLocks noChangeArrowheads="1"/>
          </p:cNvSpPr>
          <p:nvPr/>
        </p:nvSpPr>
        <p:spPr bwMode="auto">
          <a:xfrm>
            <a:off x="0" y="244349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2800">
              <a:solidFill>
                <a:schemeClr val="tx2"/>
              </a:solidFill>
              <a:latin typeface="楷体" panose="02010609060101010101" pitchFamily="49" charset="-122"/>
              <a:ea typeface="楷体" panose="02010609060101010101" pitchFamily="49" charset="-122"/>
            </a:endParaRPr>
          </a:p>
        </p:txBody>
      </p:sp>
      <p:pic>
        <p:nvPicPr>
          <p:cNvPr id="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7669" y="2443490"/>
            <a:ext cx="5008855" cy="2808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6101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79388" y="1196975"/>
            <a:ext cx="89646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en-US" altLang="zh-CN" sz="2800">
                <a:latin typeface="楷体" panose="02010609060101010101" pitchFamily="49" charset="-122"/>
                <a:ea typeface="楷体" panose="02010609060101010101" pitchFamily="49" charset="-122"/>
              </a:rPr>
              <a:t>PC</a:t>
            </a:r>
            <a:r>
              <a:rPr lang="zh-CN" altLang="en-US" sz="2800">
                <a:latin typeface="楷体" panose="02010609060101010101" pitchFamily="49" charset="-122"/>
                <a:ea typeface="楷体" panose="02010609060101010101" pitchFamily="49" charset="-122"/>
              </a:rPr>
              <a:t>微机接口芯片的译码电路</a:t>
            </a:r>
          </a:p>
        </p:txBody>
      </p:sp>
      <p:sp>
        <p:nvSpPr>
          <p:cNvPr id="3" name="Rectangle 3"/>
          <p:cNvSpPr>
            <a:spLocks noChangeArrowheads="1"/>
          </p:cNvSpPr>
          <p:nvPr/>
        </p:nvSpPr>
        <p:spPr bwMode="auto">
          <a:xfrm>
            <a:off x="0" y="2267278"/>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2800">
              <a:solidFill>
                <a:schemeClr val="tx2"/>
              </a:solidFill>
              <a:latin typeface="楷体" panose="02010609060101010101" pitchFamily="49" charset="-122"/>
              <a:ea typeface="楷体" panose="02010609060101010101" pitchFamily="49" charset="-122"/>
            </a:endParaRPr>
          </a:p>
        </p:txBody>
      </p:sp>
      <p:graphicFrame>
        <p:nvGraphicFramePr>
          <p:cNvPr id="4" name="Object 5"/>
          <p:cNvGraphicFramePr>
            <a:graphicFrameLocks noChangeAspect="1"/>
          </p:cNvGraphicFramePr>
          <p:nvPr>
            <p:extLst>
              <p:ext uri="{D42A27DB-BD31-4B8C-83A1-F6EECF244321}">
                <p14:modId xmlns:p14="http://schemas.microsoft.com/office/powerpoint/2010/main" val="2180002667"/>
              </p:ext>
            </p:extLst>
          </p:nvPr>
        </p:nvGraphicFramePr>
        <p:xfrm>
          <a:off x="323850" y="1844675"/>
          <a:ext cx="8280400" cy="4098925"/>
        </p:xfrm>
        <a:graphic>
          <a:graphicData uri="http://schemas.openxmlformats.org/presentationml/2006/ole">
            <mc:AlternateContent xmlns:mc="http://schemas.openxmlformats.org/markup-compatibility/2006">
              <mc:Choice xmlns:v="urn:schemas-microsoft-com:vml" Requires="v">
                <p:oleObj spid="_x0000_s7181" name="位图图像" r:id="rId3" imgW="3971429" imgH="1800476" progId="Paint.Picture">
                  <p:embed/>
                </p:oleObj>
              </mc:Choice>
              <mc:Fallback>
                <p:oleObj name="位图图像" r:id="rId3" imgW="3971429" imgH="1800476" progId="Paint.Picture">
                  <p:embed/>
                  <p:pic>
                    <p:nvPicPr>
                      <p:cNvPr id="70660" name="Object 5"/>
                      <p:cNvPicPr>
                        <a:picLocks noChangeAspect="1" noChangeArrowheads="1"/>
                      </p:cNvPicPr>
                      <p:nvPr/>
                    </p:nvPicPr>
                    <p:blipFill>
                      <a:blip r:embed="rId4">
                        <a:lum contrast="30000"/>
                        <a:extLst>
                          <a:ext uri="{28A0092B-C50C-407E-A947-70E740481C1C}">
                            <a14:useLocalDpi xmlns:a14="http://schemas.microsoft.com/office/drawing/2010/main" val="0"/>
                          </a:ext>
                        </a:extLst>
                      </a:blip>
                      <a:srcRect/>
                      <a:stretch>
                        <a:fillRect/>
                      </a:stretch>
                    </p:blipFill>
                    <p:spPr bwMode="auto">
                      <a:xfrm>
                        <a:off x="323850" y="1844675"/>
                        <a:ext cx="8280400"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486786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a:grpSpLocks/>
          </p:cNvGrpSpPr>
          <p:nvPr/>
        </p:nvGrpSpPr>
        <p:grpSpPr bwMode="auto">
          <a:xfrm>
            <a:off x="165100" y="1270000"/>
            <a:ext cx="8583613" cy="4679950"/>
            <a:chOff x="104" y="800"/>
            <a:chExt cx="5407" cy="2948"/>
          </a:xfrm>
        </p:grpSpPr>
        <p:grpSp>
          <p:nvGrpSpPr>
            <p:cNvPr id="3" name="Group 11"/>
            <p:cNvGrpSpPr>
              <a:grpSpLocks/>
            </p:cNvGrpSpPr>
            <p:nvPr/>
          </p:nvGrpSpPr>
          <p:grpSpPr bwMode="auto">
            <a:xfrm>
              <a:off x="270" y="800"/>
              <a:ext cx="5241" cy="2948"/>
              <a:chOff x="270" y="800"/>
              <a:chExt cx="5241" cy="2948"/>
            </a:xfrm>
          </p:grpSpPr>
          <p:sp>
            <p:nvSpPr>
              <p:cNvPr id="5" name="AutoShape 72">
                <a:extLst>
                  <a:ext uri="{FF2B5EF4-FFF2-40B4-BE49-F238E27FC236}">
                    <a16:creationId xmlns:a16="http://schemas.microsoft.com/office/drawing/2014/main" id="{41693C6F-334E-492E-ABA2-11D3C1B2D390}"/>
                  </a:ext>
                </a:extLst>
              </p:cNvPr>
              <p:cNvSpPr>
                <a:spLocks noChangeArrowheads="1"/>
              </p:cNvSpPr>
              <p:nvPr/>
            </p:nvSpPr>
            <p:spPr bwMode="auto">
              <a:xfrm>
                <a:off x="281" y="809"/>
                <a:ext cx="5220" cy="2939"/>
              </a:xfrm>
              <a:prstGeom prst="roundRect">
                <a:avLst>
                  <a:gd name="adj" fmla="val 0"/>
                </a:avLst>
              </a:prstGeom>
              <a:gradFill rotWithShape="1">
                <a:gsLst>
                  <a:gs pos="0">
                    <a:schemeClr val="bg1">
                      <a:gamma/>
                      <a:shade val="76078"/>
                      <a:invGamma/>
                    </a:schemeClr>
                  </a:gs>
                  <a:gs pos="100000">
                    <a:schemeClr val="bg1"/>
                  </a:gs>
                </a:gsLst>
                <a:lin ang="5400000" scaled="1"/>
              </a:gradFill>
              <a:ln w="9525" algn="ctr">
                <a:noFill/>
                <a:round/>
                <a:headEnd/>
                <a:tailEnd/>
              </a:ln>
              <a:effectLst/>
              <a:scene3d>
                <a:camera prst="legacyObliqueBottomRight"/>
                <a:lightRig rig="legacyFlat4" dir="b"/>
              </a:scene3d>
              <a:sp3d extrusionH="100000" prstMaterial="legacyMatte">
                <a:bevelT w="13500" h="13500" prst="angle"/>
                <a:bevelB w="13500" h="13500" prst="angle"/>
                <a:extrusionClr>
                  <a:schemeClr val="bg1"/>
                </a:extrusionClr>
              </a:sp3d>
            </p:spPr>
            <p:txBody>
              <a:bodyPr wrap="none" anchor="ctr">
                <a:flatTx/>
              </a:bodyPr>
              <a:lstStyle/>
              <a:p>
                <a:pPr eaLnBrk="1" fontAlgn="auto" hangingPunct="1">
                  <a:spcBef>
                    <a:spcPts val="0"/>
                  </a:spcBef>
                  <a:spcAft>
                    <a:spcPts val="0"/>
                  </a:spcAft>
                  <a:defRPr/>
                </a:pPr>
                <a:endParaRPr lang="zh-CN" altLang="en-US" sz="1800">
                  <a:solidFill>
                    <a:schemeClr val="tx1"/>
                  </a:solidFill>
                  <a:latin typeface="楷体" panose="02010609060101010101" pitchFamily="49" charset="-122"/>
                  <a:ea typeface="楷体" panose="02010609060101010101" pitchFamily="49" charset="-122"/>
                </a:endParaRPr>
              </a:p>
            </p:txBody>
          </p:sp>
          <p:grpSp>
            <p:nvGrpSpPr>
              <p:cNvPr id="6" name="Group 22"/>
              <p:cNvGrpSpPr>
                <a:grpSpLocks/>
              </p:cNvGrpSpPr>
              <p:nvPr/>
            </p:nvGrpSpPr>
            <p:grpSpPr bwMode="auto">
              <a:xfrm>
                <a:off x="270" y="800"/>
                <a:ext cx="5241" cy="453"/>
                <a:chOff x="266" y="1248"/>
                <a:chExt cx="5304" cy="672"/>
              </a:xfrm>
            </p:grpSpPr>
            <p:sp>
              <p:nvSpPr>
                <p:cNvPr id="8"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zh-CN" sz="2800">
                    <a:latin typeface="楷体" panose="02010609060101010101" pitchFamily="49" charset="-122"/>
                    <a:ea typeface="楷体" panose="02010609060101010101" pitchFamily="49" charset="-122"/>
                    <a:cs typeface="Times New Roman" panose="02020603050405020304" pitchFamily="18" charset="0"/>
                  </a:endParaRPr>
                </a:p>
              </p:txBody>
            </p:sp>
            <p:pic>
              <p:nvPicPr>
                <p:cNvPr id="9" name="Picture 9" descr="박스1"/>
                <p:cNvPicPr>
                  <a:picLocks noChangeAspect="1" noChangeArrowheads="1"/>
                </p:cNvPicPr>
                <p:nvPr/>
              </p:nvPicPr>
              <p:blipFill>
                <a:blip r:embed="rId2">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Rectangle 9"/>
              <p:cNvSpPr>
                <a:spLocks noChangeArrowheads="1"/>
              </p:cNvSpPr>
              <p:nvPr/>
            </p:nvSpPr>
            <p:spPr bwMode="auto">
              <a:xfrm>
                <a:off x="727" y="845"/>
                <a:ext cx="21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kumimoji="1" lang="en-US" altLang="zh-CN" sz="2800">
                    <a:latin typeface="楷体" panose="02010609060101010101" pitchFamily="49" charset="-122"/>
                    <a:ea typeface="楷体" panose="02010609060101010101" pitchFamily="49" charset="-122"/>
                  </a:rPr>
                  <a:t>2.</a:t>
                </a:r>
                <a:r>
                  <a:rPr kumimoji="1" lang="zh-CN" altLang="en-US" sz="2800">
                    <a:latin typeface="楷体" panose="02010609060101010101" pitchFamily="49" charset="-122"/>
                    <a:ea typeface="楷体" panose="02010609060101010101" pitchFamily="49" charset="-122"/>
                  </a:rPr>
                  <a:t>间接端口地址译码</a:t>
                </a:r>
              </a:p>
            </p:txBody>
          </p:sp>
        </p:grpSp>
        <p:sp>
          <p:nvSpPr>
            <p:cNvPr id="4" name="Text Box 10"/>
            <p:cNvSpPr txBox="1">
              <a:spLocks noChangeArrowheads="1"/>
            </p:cNvSpPr>
            <p:nvPr/>
          </p:nvSpPr>
          <p:spPr bwMode="auto">
            <a:xfrm>
              <a:off x="104" y="1292"/>
              <a:ext cx="5407" cy="2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120000"/>
                </a:lnSpc>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间接端口地址译码仅使用两个端口地址就可以对多个端口进行寻址，</a:t>
              </a:r>
              <a:r>
                <a:rPr lang="zh-CN" altLang="en-US" sz="2700">
                  <a:solidFill>
                    <a:srgbClr val="FF0066"/>
                  </a:solidFill>
                  <a:latin typeface="楷体" panose="02010609060101010101" pitchFamily="49" charset="-122"/>
                  <a:ea typeface="楷体" panose="02010609060101010101" pitchFamily="49" charset="-122"/>
                </a:rPr>
                <a:t>第一个端口地址指向地址寄存器</a:t>
              </a:r>
              <a:r>
                <a:rPr lang="zh-CN" altLang="en-US" sz="2700">
                  <a:latin typeface="楷体" panose="02010609060101010101" pitchFamily="49" charset="-122"/>
                  <a:ea typeface="楷体" panose="02010609060101010101" pitchFamily="49" charset="-122"/>
                </a:rPr>
                <a:t>，</a:t>
              </a:r>
              <a:r>
                <a:rPr lang="zh-CN" altLang="en-US" sz="2700">
                  <a:solidFill>
                    <a:srgbClr val="FF0066"/>
                  </a:solidFill>
                  <a:latin typeface="楷体" panose="02010609060101010101" pitchFamily="49" charset="-122"/>
                  <a:ea typeface="楷体" panose="02010609060101010101" pitchFamily="49" charset="-122"/>
                </a:rPr>
                <a:t>第二个端口地址指向数据寄存器</a:t>
              </a:r>
              <a:r>
                <a:rPr lang="zh-CN" altLang="en-US" sz="2700">
                  <a:latin typeface="楷体" panose="02010609060101010101" pitchFamily="49" charset="-122"/>
                  <a:ea typeface="楷体" panose="02010609060101010101" pitchFamily="49" charset="-122"/>
                </a:rPr>
                <a:t>。端口寄存器的地址都要先送到地址存器，然后再根据地址寄存器的内容来选择端口寄存器。</a:t>
              </a:r>
              <a:r>
                <a:rPr lang="zh-CN" altLang="en-US" sz="2700">
                  <a:solidFill>
                    <a:srgbClr val="3333FF"/>
                  </a:solidFill>
                  <a:latin typeface="楷体" panose="02010609060101010101" pitchFamily="49" charset="-122"/>
                  <a:ea typeface="楷体" panose="02010609060101010101" pitchFamily="49" charset="-122"/>
                </a:rPr>
                <a:t>从处理器看来，系统只须对地址寄存器和数据寄存器进行寻即可，对端口各寄存器的第二次寻址由地址寄存器的内容确定。</a:t>
              </a:r>
              <a:r>
                <a:rPr lang="zh-CN" altLang="en-US" sz="2700">
                  <a:latin typeface="楷体" panose="02010609060101010101" pitchFamily="49" charset="-122"/>
                  <a:ea typeface="楷体" panose="02010609060101010101" pitchFamily="49" charset="-122"/>
                </a:rPr>
                <a:t> </a:t>
              </a:r>
            </a:p>
          </p:txBody>
        </p:sp>
      </p:grpSp>
    </p:spTree>
    <p:extLst>
      <p:ext uri="{BB962C8B-B14F-4D97-AF65-F5344CB8AC3E}">
        <p14:creationId xmlns:p14="http://schemas.microsoft.com/office/powerpoint/2010/main" val="517913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0" y="1798965"/>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2800">
              <a:solidFill>
                <a:schemeClr val="tx2"/>
              </a:solidFill>
              <a:latin typeface="楷体" panose="02010609060101010101" pitchFamily="49" charset="-122"/>
              <a:ea typeface="楷体" panose="02010609060101010101" pitchFamily="49" charset="-122"/>
            </a:endParaRPr>
          </a:p>
        </p:txBody>
      </p:sp>
      <p:graphicFrame>
        <p:nvGraphicFramePr>
          <p:cNvPr id="6" name="Object 4"/>
          <p:cNvGraphicFramePr>
            <a:graphicFrameLocks noChangeAspect="1"/>
          </p:cNvGraphicFramePr>
          <p:nvPr>
            <p:extLst>
              <p:ext uri="{D42A27DB-BD31-4B8C-83A1-F6EECF244321}">
                <p14:modId xmlns:p14="http://schemas.microsoft.com/office/powerpoint/2010/main" val="2401780180"/>
              </p:ext>
            </p:extLst>
          </p:nvPr>
        </p:nvGraphicFramePr>
        <p:xfrm>
          <a:off x="0" y="1065213"/>
          <a:ext cx="9144000" cy="4678362"/>
        </p:xfrm>
        <a:graphic>
          <a:graphicData uri="http://schemas.openxmlformats.org/presentationml/2006/ole">
            <mc:AlternateContent xmlns:mc="http://schemas.openxmlformats.org/markup-compatibility/2006">
              <mc:Choice xmlns:v="urn:schemas-microsoft-com:vml" Requires="v">
                <p:oleObj spid="_x0000_s8205" name="位图图像" r:id="rId3" imgW="5334745" imgH="2695951" progId="Paint.Picture">
                  <p:embed/>
                </p:oleObj>
              </mc:Choice>
              <mc:Fallback>
                <p:oleObj name="位图图像" r:id="rId3" imgW="5334745" imgH="2695951" progId="Paint.Picture">
                  <p:embed/>
                  <p:pic>
                    <p:nvPicPr>
                      <p:cNvPr id="72707" name="Object 4"/>
                      <p:cNvPicPr>
                        <a:picLocks noChangeAspect="1" noChangeArrowheads="1"/>
                      </p:cNvPicPr>
                      <p:nvPr/>
                    </p:nvPicPr>
                    <p:blipFill>
                      <a:blip r:embed="rId4">
                        <a:lum contrast="30000"/>
                        <a:extLst>
                          <a:ext uri="{28A0092B-C50C-407E-A947-70E740481C1C}">
                            <a14:useLocalDpi xmlns:a14="http://schemas.microsoft.com/office/drawing/2010/main" val="0"/>
                          </a:ext>
                        </a:extLst>
                      </a:blip>
                      <a:srcRect/>
                      <a:stretch>
                        <a:fillRect/>
                      </a:stretch>
                    </p:blipFill>
                    <p:spPr bwMode="auto">
                      <a:xfrm>
                        <a:off x="0" y="1065213"/>
                        <a:ext cx="9144000"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5"/>
          <p:cNvSpPr>
            <a:spLocks noChangeArrowheads="1"/>
          </p:cNvSpPr>
          <p:nvPr/>
        </p:nvSpPr>
        <p:spPr bwMode="auto">
          <a:xfrm>
            <a:off x="344488" y="5734050"/>
            <a:ext cx="87995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zh-CN" altLang="en-US" sz="2700">
                <a:latin typeface="楷体" panose="02010609060101010101" pitchFamily="49" charset="-122"/>
                <a:ea typeface="楷体" panose="02010609060101010101" pitchFamily="49" charset="-122"/>
              </a:rPr>
              <a:t>   </a:t>
            </a:r>
            <a:r>
              <a:rPr lang="zh-CN" altLang="en-US" sz="2700">
                <a:solidFill>
                  <a:srgbClr val="3333FF"/>
                </a:solidFill>
                <a:latin typeface="楷体" panose="02010609060101010101" pitchFamily="49" charset="-122"/>
                <a:ea typeface="楷体" panose="02010609060101010101" pitchFamily="49" charset="-122"/>
              </a:rPr>
              <a:t>这种译码电路节省系统地址空间，但在寻址时必须把</a:t>
            </a:r>
          </a:p>
          <a:p>
            <a:pPr>
              <a:spcBef>
                <a:spcPct val="0"/>
              </a:spcBef>
              <a:buFontTx/>
              <a:buNone/>
            </a:pPr>
            <a:r>
              <a:rPr lang="zh-CN" altLang="en-US" sz="2700">
                <a:solidFill>
                  <a:srgbClr val="3333FF"/>
                </a:solidFill>
                <a:latin typeface="楷体" panose="02010609060101010101" pitchFamily="49" charset="-122"/>
                <a:ea typeface="楷体" panose="02010609060101010101" pitchFamily="49" charset="-122"/>
              </a:rPr>
              <a:t>间接地址作为数据输出，这样就多使用了一条</a:t>
            </a:r>
            <a:r>
              <a:rPr lang="en-US" altLang="zh-CN" sz="2700">
                <a:solidFill>
                  <a:srgbClr val="3333FF"/>
                </a:solidFill>
                <a:latin typeface="楷体" panose="02010609060101010101" pitchFamily="49" charset="-122"/>
                <a:ea typeface="楷体" panose="02010609060101010101" pitchFamily="49" charset="-122"/>
              </a:rPr>
              <a:t>OUT</a:t>
            </a:r>
            <a:r>
              <a:rPr lang="zh-CN" altLang="en-US" sz="2700">
                <a:solidFill>
                  <a:srgbClr val="3333FF"/>
                </a:solidFill>
                <a:latin typeface="楷体" panose="02010609060101010101" pitchFamily="49" charset="-122"/>
                <a:ea typeface="楷体" panose="02010609060101010101" pitchFamily="49" charset="-122"/>
              </a:rPr>
              <a:t>指令。 </a:t>
            </a:r>
          </a:p>
        </p:txBody>
      </p:sp>
      <p:sp>
        <p:nvSpPr>
          <p:cNvPr id="9" name="Rectangle 2"/>
          <p:cNvSpPr>
            <a:spLocks noChangeArrowheads="1"/>
          </p:cNvSpPr>
          <p:nvPr/>
        </p:nvSpPr>
        <p:spPr bwMode="auto">
          <a:xfrm>
            <a:off x="250825" y="1125538"/>
            <a:ext cx="361156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zh-CN" altLang="en-US" sz="2700">
                <a:solidFill>
                  <a:schemeClr val="hlink"/>
                </a:solidFill>
                <a:latin typeface="楷体" panose="02010609060101010101" pitchFamily="49" charset="-122"/>
                <a:ea typeface="楷体" panose="02010609060101010101" pitchFamily="49" charset="-122"/>
              </a:rPr>
              <a:t>间接端口译码电路图</a:t>
            </a:r>
            <a:r>
              <a:rPr lang="zh-CN" altLang="en-US" sz="270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407255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0" y="2114878"/>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2800">
              <a:solidFill>
                <a:schemeClr val="tx2"/>
              </a:solidFill>
              <a:latin typeface="楷体" panose="02010609060101010101" pitchFamily="49" charset="-122"/>
              <a:ea typeface="楷体" panose="02010609060101010101" pitchFamily="49" charset="-122"/>
            </a:endParaRPr>
          </a:p>
        </p:txBody>
      </p:sp>
      <p:sp>
        <p:nvSpPr>
          <p:cNvPr id="3" name="Text Box 3"/>
          <p:cNvSpPr txBox="1">
            <a:spLocks noChangeArrowheads="1"/>
          </p:cNvSpPr>
          <p:nvPr/>
        </p:nvSpPr>
        <p:spPr bwMode="auto">
          <a:xfrm>
            <a:off x="101600" y="1989138"/>
            <a:ext cx="9042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fontAlgn="b" hangingPunct="1">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    </a:t>
            </a:r>
            <a:r>
              <a:rPr lang="zh-CN" altLang="en-US" sz="2800">
                <a:latin typeface="楷体" panose="02010609060101010101" pitchFamily="49" charset="-122"/>
                <a:ea typeface="楷体" panose="02010609060101010101" pitchFamily="49" charset="-122"/>
              </a:rPr>
              <a:t>发光二极管显示器（</a:t>
            </a:r>
            <a:r>
              <a:rPr lang="en-US" altLang="zh-CN" sz="2800">
                <a:latin typeface="楷体" panose="02010609060101010101" pitchFamily="49" charset="-122"/>
                <a:ea typeface="楷体" panose="02010609060101010101" pitchFamily="49" charset="-122"/>
              </a:rPr>
              <a:t>LED</a:t>
            </a:r>
            <a:r>
              <a:rPr lang="zh-CN" altLang="en-US" sz="2800">
                <a:latin typeface="楷体" panose="02010609060101010101" pitchFamily="49" charset="-122"/>
                <a:ea typeface="楷体" panose="02010609060101010101" pitchFamily="49" charset="-122"/>
              </a:rPr>
              <a:t>）是微型计算机应用系统中常用的输出装置。</a:t>
            </a:r>
            <a:r>
              <a:rPr lang="zh-CN" altLang="en-US" sz="2700">
                <a:latin typeface="楷体" panose="02010609060101010101" pitchFamily="49" charset="-122"/>
                <a:ea typeface="楷体" panose="02010609060101010101" pitchFamily="49" charset="-122"/>
              </a:rPr>
              <a:t> </a:t>
            </a:r>
          </a:p>
        </p:txBody>
      </p:sp>
      <p:graphicFrame>
        <p:nvGraphicFramePr>
          <p:cNvPr id="4" name="Object 5"/>
          <p:cNvGraphicFramePr>
            <a:graphicFrameLocks noChangeAspect="1"/>
          </p:cNvGraphicFramePr>
          <p:nvPr>
            <p:extLst>
              <p:ext uri="{D42A27DB-BD31-4B8C-83A1-F6EECF244321}">
                <p14:modId xmlns:p14="http://schemas.microsoft.com/office/powerpoint/2010/main" val="263857798"/>
              </p:ext>
            </p:extLst>
          </p:nvPr>
        </p:nvGraphicFramePr>
        <p:xfrm>
          <a:off x="3708400" y="2708275"/>
          <a:ext cx="3113088" cy="3384550"/>
        </p:xfrm>
        <a:graphic>
          <a:graphicData uri="http://schemas.openxmlformats.org/presentationml/2006/ole">
            <mc:AlternateContent xmlns:mc="http://schemas.openxmlformats.org/markup-compatibility/2006">
              <mc:Choice xmlns:v="urn:schemas-microsoft-com:vml" Requires="v">
                <p:oleObj spid="_x0000_s9223" name="位图图像" r:id="rId3" imgW="1628571" imgH="2104762" progId="Paint.Picture">
                  <p:embed/>
                </p:oleObj>
              </mc:Choice>
              <mc:Fallback>
                <p:oleObj name="位图图像" r:id="rId3" imgW="1628571" imgH="2104762" progId="Paint.Picture">
                  <p:embed/>
                  <p:pic>
                    <p:nvPicPr>
                      <p:cNvPr id="82948" name="Object 5"/>
                      <p:cNvPicPr>
                        <a:picLocks noChangeAspect="1" noChangeArrowheads="1"/>
                      </p:cNvPicPr>
                      <p:nvPr/>
                    </p:nvPicPr>
                    <p:blipFill>
                      <a:blip r:embed="rId4">
                        <a:lum contrast="60000"/>
                        <a:extLst>
                          <a:ext uri="{28A0092B-C50C-407E-A947-70E740481C1C}">
                            <a14:useLocalDpi xmlns:a14="http://schemas.microsoft.com/office/drawing/2010/main" val="0"/>
                          </a:ext>
                        </a:extLst>
                      </a:blip>
                      <a:srcRect/>
                      <a:stretch>
                        <a:fillRect/>
                      </a:stretch>
                    </p:blipFill>
                    <p:spPr bwMode="auto">
                      <a:xfrm>
                        <a:off x="3708400" y="2708275"/>
                        <a:ext cx="3113088"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Group 12"/>
          <p:cNvGrpSpPr>
            <a:grpSpLocks/>
          </p:cNvGrpSpPr>
          <p:nvPr/>
        </p:nvGrpSpPr>
        <p:grpSpPr bwMode="auto">
          <a:xfrm>
            <a:off x="284163" y="1268413"/>
            <a:ext cx="8609012" cy="719137"/>
            <a:chOff x="179" y="799"/>
            <a:chExt cx="5423" cy="453"/>
          </a:xfrm>
        </p:grpSpPr>
        <p:grpSp>
          <p:nvGrpSpPr>
            <p:cNvPr id="6" name="Group 22"/>
            <p:cNvGrpSpPr>
              <a:grpSpLocks/>
            </p:cNvGrpSpPr>
            <p:nvPr/>
          </p:nvGrpSpPr>
          <p:grpSpPr bwMode="auto">
            <a:xfrm>
              <a:off x="179" y="799"/>
              <a:ext cx="5423" cy="453"/>
              <a:chOff x="266" y="1248"/>
              <a:chExt cx="5304" cy="672"/>
            </a:xfrm>
          </p:grpSpPr>
          <p:sp>
            <p:nvSpPr>
              <p:cNvPr id="8" name="AutoShape 8"/>
              <p:cNvSpPr>
                <a:spLocks noChangeArrowheads="1"/>
              </p:cNvSpPr>
              <p:nvPr/>
            </p:nvSpPr>
            <p:spPr bwMode="auto">
              <a:xfrm>
                <a:off x="385" y="1279"/>
                <a:ext cx="5185" cy="528"/>
              </a:xfrm>
              <a:prstGeom prst="roundRect">
                <a:avLst>
                  <a:gd name="adj" fmla="val 2190"/>
                </a:avLst>
              </a:prstGeom>
              <a:gradFill rotWithShape="0">
                <a:gsLst>
                  <a:gs pos="0">
                    <a:srgbClr val="FDFEFE"/>
                  </a:gs>
                  <a:gs pos="100000">
                    <a:srgbClr val="BDE2E3"/>
                  </a:gs>
                </a:gsLst>
                <a:lin ang="5400000" scaled="1"/>
              </a:gradFill>
              <a:ln w="15875" algn="ctr">
                <a:solidFill>
                  <a:schemeClr val="bg1"/>
                </a:solidFill>
                <a:round/>
                <a:headEnd/>
                <a:tailEnd/>
              </a:ln>
              <a:effectLst>
                <a:outerShdw dist="68392" dir="4091915" algn="ctr" rotWithShape="0">
                  <a:schemeClr val="bg2">
                    <a:alpha val="50000"/>
                  </a:schemeClr>
                </a:outerShdw>
              </a:effec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US" altLang="zh-CN" sz="2800">
                  <a:latin typeface="楷体" panose="02010609060101010101" pitchFamily="49" charset="-122"/>
                  <a:ea typeface="楷体" panose="02010609060101010101" pitchFamily="49" charset="-122"/>
                  <a:cs typeface="Times New Roman" panose="02020603050405020304" pitchFamily="18" charset="0"/>
                </a:endParaRPr>
              </a:p>
            </p:txBody>
          </p:sp>
          <p:pic>
            <p:nvPicPr>
              <p:cNvPr id="9" name="Picture 9" descr="박스1"/>
              <p:cNvPicPr>
                <a:picLocks noChangeAspect="1" noChangeArrowheads="1"/>
              </p:cNvPicPr>
              <p:nvPr/>
            </p:nvPicPr>
            <p:blipFill>
              <a:blip r:embed="rId5">
                <a:extLst>
                  <a:ext uri="{28A0092B-C50C-407E-A947-70E740481C1C}">
                    <a14:useLocalDpi xmlns:a14="http://schemas.microsoft.com/office/drawing/2010/main" val="0"/>
                  </a:ext>
                </a:extLst>
              </a:blip>
              <a:srcRect r="22664"/>
              <a:stretch>
                <a:fillRect/>
              </a:stretch>
            </p:blipFill>
            <p:spPr bwMode="auto">
              <a:xfrm>
                <a:off x="266" y="1248"/>
                <a:ext cx="433" cy="672"/>
              </a:xfrm>
              <a:prstGeom prst="rect">
                <a:avLst/>
              </a:prstGeom>
              <a:noFill/>
              <a:ln>
                <a:noFill/>
              </a:ln>
              <a:effectLst>
                <a:outerShdw dist="68392" dir="4091915"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Rectangle 11"/>
            <p:cNvSpPr>
              <a:spLocks noChangeArrowheads="1"/>
            </p:cNvSpPr>
            <p:nvPr/>
          </p:nvSpPr>
          <p:spPr bwMode="auto">
            <a:xfrm>
              <a:off x="636" y="844"/>
              <a:ext cx="407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1" lang="zh-CN" altLang="en-US" sz="2800" dirty="0" smtClean="0">
                  <a:latin typeface="楷体" panose="02010609060101010101" pitchFamily="49" charset="-122"/>
                  <a:ea typeface="楷体" panose="02010609060101010101" pitchFamily="49" charset="-122"/>
                </a:rPr>
                <a:t>应用实例：</a:t>
              </a:r>
              <a:r>
                <a:rPr lang="zh-CN" altLang="en-US" sz="2800" dirty="0" smtClean="0">
                  <a:latin typeface="楷体" panose="02010609060101010101" pitchFamily="49" charset="-122"/>
                  <a:ea typeface="楷体" panose="02010609060101010101" pitchFamily="49" charset="-122"/>
                </a:rPr>
                <a:t>七段</a:t>
              </a:r>
              <a:r>
                <a:rPr lang="zh-CN" altLang="en-US" sz="2800" dirty="0">
                  <a:latin typeface="楷体" panose="02010609060101010101" pitchFamily="49" charset="-122"/>
                  <a:ea typeface="楷体" panose="02010609060101010101" pitchFamily="49" charset="-122"/>
                </a:rPr>
                <a:t>发光二极管显示器接口</a:t>
              </a:r>
              <a:r>
                <a:rPr lang="zh-CN" altLang="en-US" sz="2800" dirty="0">
                  <a:solidFill>
                    <a:schemeClr val="tx2"/>
                  </a:solidFill>
                  <a:latin typeface="楷体" panose="02010609060101010101" pitchFamily="49" charset="-122"/>
                  <a:ea typeface="楷体" panose="02010609060101010101" pitchFamily="49" charset="-122"/>
                </a:rPr>
                <a:t> </a:t>
              </a:r>
            </a:p>
          </p:txBody>
        </p:sp>
      </p:grpSp>
    </p:spTree>
    <p:extLst>
      <p:ext uri="{BB962C8B-B14F-4D97-AF65-F5344CB8AC3E}">
        <p14:creationId xmlns:p14="http://schemas.microsoft.com/office/powerpoint/2010/main" val="14868136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1200478"/>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2800">
              <a:solidFill>
                <a:schemeClr val="tx2"/>
              </a:solidFill>
              <a:latin typeface="楷体" panose="02010609060101010101" pitchFamily="49" charset="-122"/>
              <a:ea typeface="楷体" panose="02010609060101010101" pitchFamily="49" charset="-122"/>
            </a:endParaRPr>
          </a:p>
        </p:txBody>
      </p:sp>
      <p:graphicFrame>
        <p:nvGraphicFramePr>
          <p:cNvPr id="3" name="Object 3"/>
          <p:cNvGraphicFramePr>
            <a:graphicFrameLocks noChangeAspect="1"/>
          </p:cNvGraphicFramePr>
          <p:nvPr>
            <p:extLst>
              <p:ext uri="{D42A27DB-BD31-4B8C-83A1-F6EECF244321}">
                <p14:modId xmlns:p14="http://schemas.microsoft.com/office/powerpoint/2010/main" val="1361892207"/>
              </p:ext>
            </p:extLst>
          </p:nvPr>
        </p:nvGraphicFramePr>
        <p:xfrm>
          <a:off x="755650" y="1306513"/>
          <a:ext cx="7704138" cy="5362575"/>
        </p:xfrm>
        <a:graphic>
          <a:graphicData uri="http://schemas.openxmlformats.org/presentationml/2006/ole">
            <mc:AlternateContent xmlns:mc="http://schemas.openxmlformats.org/markup-compatibility/2006">
              <mc:Choice xmlns:v="urn:schemas-microsoft-com:vml" Requires="v">
                <p:oleObj spid="_x0000_s10246" name="位图图像" r:id="rId3" imgW="5152381" imgH="3933333" progId="Paint.Picture">
                  <p:embed/>
                </p:oleObj>
              </mc:Choice>
              <mc:Fallback>
                <p:oleObj name="位图图像" r:id="rId3" imgW="5152381" imgH="3933333" progId="Paint.Picture">
                  <p:embed/>
                  <p:pic>
                    <p:nvPicPr>
                      <p:cNvPr id="83971" name="Object 3"/>
                      <p:cNvPicPr>
                        <a:picLocks noChangeAspect="1" noChangeArrowheads="1"/>
                      </p:cNvPicPr>
                      <p:nvPr/>
                    </p:nvPicPr>
                    <p:blipFill>
                      <a:blip r:embed="rId4">
                        <a:lum contrast="54000"/>
                        <a:extLst>
                          <a:ext uri="{28A0092B-C50C-407E-A947-70E740481C1C}">
                            <a14:useLocalDpi xmlns:a14="http://schemas.microsoft.com/office/drawing/2010/main" val="0"/>
                          </a:ext>
                        </a:extLst>
                      </a:blip>
                      <a:srcRect/>
                      <a:stretch>
                        <a:fillRect/>
                      </a:stretch>
                    </p:blipFill>
                    <p:spPr bwMode="auto">
                      <a:xfrm>
                        <a:off x="755650" y="1306513"/>
                        <a:ext cx="7704138" cy="536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Text Box 4"/>
          <p:cNvSpPr txBox="1">
            <a:spLocks noChangeArrowheads="1"/>
          </p:cNvSpPr>
          <p:nvPr/>
        </p:nvSpPr>
        <p:spPr bwMode="auto">
          <a:xfrm>
            <a:off x="107950" y="1196975"/>
            <a:ext cx="55594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buClr>
                <a:srgbClr val="0BD0D9"/>
              </a:buClr>
              <a:buSzPct val="95000"/>
              <a:buFont typeface="Wingdings 2" panose="05020102010507070707" pitchFamily="18" charset="2"/>
              <a:buNone/>
            </a:pPr>
            <a:r>
              <a:rPr lang="zh-CN" altLang="en-US" sz="2700">
                <a:latin typeface="楷体" panose="02010609060101010101" pitchFamily="49" charset="-122"/>
                <a:ea typeface="楷体" panose="02010609060101010101" pitchFamily="49" charset="-122"/>
              </a:rPr>
              <a:t>七段显示器动态显示接口电路</a:t>
            </a:r>
          </a:p>
        </p:txBody>
      </p:sp>
    </p:spTree>
    <p:extLst>
      <p:ext uri="{BB962C8B-B14F-4D97-AF65-F5344CB8AC3E}">
        <p14:creationId xmlns:p14="http://schemas.microsoft.com/office/powerpoint/2010/main" val="11268214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87849" y="1169927"/>
            <a:ext cx="86185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indent="0" eaLnBrk="1" fontAlgn="b" hangingPunct="1">
              <a:buClr>
                <a:srgbClr val="0BD0D9"/>
              </a:buClr>
              <a:buSzPct val="95000"/>
              <a:buFont typeface="Wingdings 2" panose="05020102010507070707" pitchFamily="18" charset="2"/>
              <a:buNone/>
            </a:pPr>
            <a:r>
              <a:rPr lang="zh-CN" altLang="en-US" sz="2700" dirty="0">
                <a:latin typeface="楷体" panose="02010609060101010101" pitchFamily="49" charset="-122"/>
                <a:ea typeface="楷体" panose="02010609060101010101" pitchFamily="49" charset="-122"/>
              </a:rPr>
              <a:t> </a:t>
            </a:r>
            <a:r>
              <a:rPr lang="zh-CN" altLang="en-US" sz="2700" dirty="0" smtClean="0">
                <a:latin typeface="楷体" panose="02010609060101010101" pitchFamily="49" charset="-122"/>
                <a:ea typeface="楷体" panose="02010609060101010101" pitchFamily="49" charset="-122"/>
              </a:rPr>
              <a:t>   把</a:t>
            </a:r>
            <a:r>
              <a:rPr lang="zh-CN" altLang="en-US" sz="2700" dirty="0">
                <a:latin typeface="楷体" panose="02010609060101010101" pitchFamily="49" charset="-122"/>
                <a:ea typeface="楷体" panose="02010609060101010101" pitchFamily="49" charset="-122"/>
              </a:rPr>
              <a:t>从</a:t>
            </a:r>
            <a:r>
              <a:rPr lang="en-US" altLang="zh-CN" sz="2700" dirty="0">
                <a:latin typeface="楷体" panose="02010609060101010101" pitchFamily="49" charset="-122"/>
                <a:ea typeface="楷体" panose="02010609060101010101" pitchFamily="49" charset="-122"/>
              </a:rPr>
              <a:t>PC</a:t>
            </a:r>
            <a:r>
              <a:rPr lang="zh-CN" altLang="en-US" sz="2700" dirty="0">
                <a:latin typeface="楷体" panose="02010609060101010101" pitchFamily="49" charset="-122"/>
                <a:ea typeface="楷体" panose="02010609060101010101" pitchFamily="49" charset="-122"/>
              </a:rPr>
              <a:t>机的键盘键入的六位十进制数送七段显示器显示的程序如下： </a:t>
            </a:r>
          </a:p>
        </p:txBody>
      </p:sp>
      <p:sp>
        <p:nvSpPr>
          <p:cNvPr id="3" name="Text Box 3"/>
          <p:cNvSpPr txBox="1">
            <a:spLocks noChangeArrowheads="1"/>
          </p:cNvSpPr>
          <p:nvPr/>
        </p:nvSpPr>
        <p:spPr bwMode="auto">
          <a:xfrm>
            <a:off x="107950" y="2347497"/>
            <a:ext cx="903605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IBF      DB 7</a:t>
            </a:r>
            <a:r>
              <a:rPr lang="zh-CN" altLang="en-US" sz="2400" dirty="0">
                <a:latin typeface="楷体_GB2312" pitchFamily="49" charset="-122"/>
              </a:rPr>
              <a:t>，</a:t>
            </a:r>
            <a:r>
              <a:rPr lang="en-US" altLang="zh-CN" sz="2400" dirty="0">
                <a:latin typeface="楷体_GB2312" pitchFamily="49" charset="-122"/>
              </a:rPr>
              <a:t>0</a:t>
            </a:r>
            <a:r>
              <a:rPr lang="zh-CN" altLang="en-US" sz="2400" dirty="0">
                <a:latin typeface="楷体_GB2312" pitchFamily="49" charset="-122"/>
              </a:rPr>
              <a:t>，</a:t>
            </a:r>
            <a:r>
              <a:rPr lang="en-US" altLang="zh-CN" sz="2400" dirty="0">
                <a:latin typeface="楷体_GB2312" pitchFamily="49" charset="-122"/>
              </a:rPr>
              <a:t>7 DUP(0)</a:t>
            </a:r>
          </a:p>
          <a:p>
            <a:pPr eaLnBrk="1" fontAlgn="b" hangingPunct="1">
              <a:lnSpc>
                <a:spcPct val="60000"/>
              </a:lnSpc>
              <a:buClr>
                <a:srgbClr val="0BD0D9"/>
              </a:buClr>
              <a:buSzPct val="95000"/>
              <a:buFont typeface="Wingdings 2" panose="05020102010507070707" pitchFamily="18" charset="2"/>
              <a:buNone/>
            </a:pPr>
            <a:endParaRPr lang="en-US" altLang="zh-CN" sz="2400" dirty="0">
              <a:latin typeface="楷体_GB2312" pitchFamily="49" charset="-122"/>
            </a:endParaRP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SEGPT    DB 40H,79H,24H,30H,19H</a:t>
            </a: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         DB 12H,2,78H,0,18H</a:t>
            </a: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         </a:t>
            </a:r>
            <a:endParaRPr lang="en-US" altLang="zh-CN" sz="2400" dirty="0" smtClean="0">
              <a:latin typeface="楷体_GB2312" pitchFamily="49" charset="-122"/>
            </a:endParaRP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 </a:t>
            </a:r>
            <a:r>
              <a:rPr lang="en-US" altLang="zh-CN" sz="2400" dirty="0" smtClean="0">
                <a:latin typeface="楷体_GB2312" pitchFamily="49" charset="-122"/>
              </a:rPr>
              <a:t>        MOV </a:t>
            </a:r>
            <a:r>
              <a:rPr lang="en-US" altLang="zh-CN" sz="2400" dirty="0">
                <a:latin typeface="楷体_GB2312" pitchFamily="49" charset="-122"/>
              </a:rPr>
              <a:t>DX</a:t>
            </a:r>
            <a:r>
              <a:rPr lang="zh-CN" altLang="en-US" sz="2400" dirty="0">
                <a:latin typeface="楷体_GB2312" pitchFamily="49" charset="-122"/>
              </a:rPr>
              <a:t>，</a:t>
            </a:r>
            <a:r>
              <a:rPr lang="en-US" altLang="zh-CN" sz="2400" dirty="0">
                <a:latin typeface="楷体_GB2312" pitchFamily="49" charset="-122"/>
              </a:rPr>
              <a:t>OFFSET IBF     </a:t>
            </a:r>
            <a:r>
              <a:rPr lang="zh-CN" altLang="en-US" sz="2400" dirty="0">
                <a:latin typeface="楷体_GB2312" pitchFamily="49" charset="-122"/>
              </a:rPr>
              <a:t>；键入</a:t>
            </a: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         MOV AH</a:t>
            </a:r>
            <a:r>
              <a:rPr lang="zh-CN" altLang="en-US" sz="2400" dirty="0">
                <a:latin typeface="楷体_GB2312" pitchFamily="49" charset="-122"/>
              </a:rPr>
              <a:t>，</a:t>
            </a:r>
            <a:r>
              <a:rPr lang="en-US" altLang="zh-CN" sz="2400" dirty="0">
                <a:latin typeface="楷体_GB2312" pitchFamily="49" charset="-122"/>
              </a:rPr>
              <a:t>10</a:t>
            </a: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         INT 21H</a:t>
            </a: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AGANO</a:t>
            </a:r>
            <a:r>
              <a:rPr lang="zh-CN" altLang="en-US" sz="2400" dirty="0">
                <a:latin typeface="楷体_GB2312" pitchFamily="49" charset="-122"/>
              </a:rPr>
              <a:t>：  </a:t>
            </a:r>
            <a:r>
              <a:rPr lang="en-US" altLang="zh-CN" sz="2400" dirty="0">
                <a:latin typeface="楷体_GB2312" pitchFamily="49" charset="-122"/>
              </a:rPr>
              <a:t>MOV BP</a:t>
            </a:r>
            <a:r>
              <a:rPr lang="zh-CN" altLang="en-US" sz="2400" dirty="0">
                <a:latin typeface="楷体_GB2312" pitchFamily="49" charset="-122"/>
              </a:rPr>
              <a:t>，</a:t>
            </a:r>
            <a:r>
              <a:rPr lang="en-US" altLang="zh-CN" sz="2400" dirty="0">
                <a:latin typeface="楷体_GB2312" pitchFamily="49" charset="-122"/>
              </a:rPr>
              <a:t>OFFSET IBF+2   </a:t>
            </a:r>
            <a:r>
              <a:rPr lang="zh-CN" altLang="en-US" sz="2400" dirty="0">
                <a:latin typeface="楷体_GB2312" pitchFamily="49" charset="-122"/>
              </a:rPr>
              <a:t>；建立指针</a:t>
            </a: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         MOV AH</a:t>
            </a:r>
            <a:r>
              <a:rPr lang="zh-CN" altLang="en-US" sz="2400" dirty="0">
                <a:latin typeface="楷体_GB2312" pitchFamily="49" charset="-122"/>
              </a:rPr>
              <a:t>，</a:t>
            </a:r>
            <a:r>
              <a:rPr lang="en-US" altLang="zh-CN" sz="2400" dirty="0">
                <a:latin typeface="楷体_GB2312" pitchFamily="49" charset="-122"/>
              </a:rPr>
              <a:t>20H            </a:t>
            </a:r>
            <a:r>
              <a:rPr lang="zh-CN" altLang="en-US" sz="2400" dirty="0">
                <a:latin typeface="楷体_GB2312" pitchFamily="49" charset="-122"/>
              </a:rPr>
              <a:t>；位指针代码</a:t>
            </a: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         MOV BH</a:t>
            </a:r>
            <a:r>
              <a:rPr lang="zh-CN" altLang="en-US" sz="2400" dirty="0">
                <a:latin typeface="楷体_GB2312" pitchFamily="49" charset="-122"/>
              </a:rPr>
              <a:t>，</a:t>
            </a:r>
            <a:r>
              <a:rPr lang="en-US" altLang="zh-CN" sz="2400" dirty="0">
                <a:latin typeface="楷体_GB2312" pitchFamily="49" charset="-122"/>
              </a:rPr>
              <a:t>0              </a:t>
            </a:r>
            <a:r>
              <a:rPr lang="zh-CN" altLang="en-US" sz="2400" dirty="0">
                <a:latin typeface="楷体_GB2312" pitchFamily="49" charset="-122"/>
              </a:rPr>
              <a:t>；将键入的</a:t>
            </a:r>
            <a:r>
              <a:rPr lang="en-US" altLang="zh-CN" sz="2400" dirty="0">
                <a:latin typeface="楷体_GB2312" pitchFamily="49" charset="-122"/>
              </a:rPr>
              <a:t>ASCII</a:t>
            </a:r>
            <a:r>
              <a:rPr lang="zh-CN" altLang="en-US" sz="2400" dirty="0">
                <a:latin typeface="楷体_GB2312" pitchFamily="49" charset="-122"/>
              </a:rPr>
              <a:t>码变为</a:t>
            </a:r>
            <a:r>
              <a:rPr lang="en-US" altLang="zh-CN" sz="2400" dirty="0">
                <a:latin typeface="楷体_GB2312" pitchFamily="49" charset="-122"/>
              </a:rPr>
              <a:t>BCD</a:t>
            </a:r>
            <a:r>
              <a:rPr lang="zh-CN" altLang="en-US" sz="2400" dirty="0">
                <a:latin typeface="楷体_GB2312" pitchFamily="49" charset="-122"/>
              </a:rPr>
              <a:t>数</a:t>
            </a: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AGANI</a:t>
            </a:r>
            <a:r>
              <a:rPr lang="zh-CN" altLang="en-US" sz="2400" dirty="0">
                <a:latin typeface="楷体_GB2312" pitchFamily="49" charset="-122"/>
              </a:rPr>
              <a:t>：  </a:t>
            </a:r>
            <a:r>
              <a:rPr lang="en-US" altLang="zh-CN" sz="2400" dirty="0">
                <a:latin typeface="楷体_GB2312" pitchFamily="49" charset="-122"/>
              </a:rPr>
              <a:t>MOV BL</a:t>
            </a:r>
            <a:r>
              <a:rPr lang="zh-CN" altLang="en-US" sz="2400" dirty="0">
                <a:latin typeface="楷体_GB2312" pitchFamily="49" charset="-122"/>
              </a:rPr>
              <a:t>，</a:t>
            </a:r>
            <a:r>
              <a:rPr lang="en-US" altLang="zh-CN" sz="2400" dirty="0">
                <a:latin typeface="楷体_GB2312" pitchFamily="49" charset="-122"/>
              </a:rPr>
              <a:t>DS</a:t>
            </a:r>
            <a:r>
              <a:rPr lang="zh-CN" altLang="en-US" sz="2400" dirty="0">
                <a:latin typeface="楷体_GB2312" pitchFamily="49" charset="-122"/>
              </a:rPr>
              <a:t>：</a:t>
            </a:r>
            <a:r>
              <a:rPr lang="en-US" altLang="zh-CN" sz="2400" dirty="0">
                <a:latin typeface="楷体_GB2312" pitchFamily="49" charset="-122"/>
              </a:rPr>
              <a:t>[BP]</a:t>
            </a: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         AND BL</a:t>
            </a:r>
            <a:r>
              <a:rPr lang="zh-CN" altLang="en-US" sz="2400" dirty="0">
                <a:latin typeface="楷体_GB2312" pitchFamily="49" charset="-122"/>
              </a:rPr>
              <a:t>，</a:t>
            </a:r>
            <a:r>
              <a:rPr lang="en-US" altLang="zh-CN" sz="2400" dirty="0">
                <a:latin typeface="楷体_GB2312" pitchFamily="49" charset="-122"/>
              </a:rPr>
              <a:t>0FH</a:t>
            </a:r>
          </a:p>
          <a:p>
            <a:pPr eaLnBrk="1" fontAlgn="b" hangingPunct="1">
              <a:lnSpc>
                <a:spcPct val="60000"/>
              </a:lnSpc>
              <a:buClr>
                <a:srgbClr val="0BD0D9"/>
              </a:buClr>
              <a:buSzPct val="95000"/>
              <a:buFont typeface="Wingdings 2" panose="05020102010507070707" pitchFamily="18" charset="2"/>
              <a:buNone/>
            </a:pPr>
            <a:r>
              <a:rPr lang="en-US" altLang="zh-CN" sz="2400" dirty="0">
                <a:latin typeface="楷体_GB2312" pitchFamily="49" charset="-122"/>
              </a:rPr>
              <a:t>         MOV AL</a:t>
            </a:r>
            <a:r>
              <a:rPr lang="zh-CN" altLang="en-US" sz="2400" dirty="0">
                <a:latin typeface="楷体_GB2312" pitchFamily="49" charset="-122"/>
              </a:rPr>
              <a:t>，</a:t>
            </a:r>
            <a:r>
              <a:rPr lang="en-US" altLang="zh-CN" sz="2400" dirty="0">
                <a:latin typeface="楷体_GB2312" pitchFamily="49" charset="-122"/>
              </a:rPr>
              <a:t>SEGPT[BX]      </a:t>
            </a:r>
            <a:r>
              <a:rPr lang="zh-CN" altLang="en-US" sz="2400" dirty="0">
                <a:latin typeface="楷体_GB2312" pitchFamily="49" charset="-122"/>
              </a:rPr>
              <a:t>；取</a:t>
            </a:r>
            <a:r>
              <a:rPr lang="en-US" altLang="zh-CN" sz="2400" dirty="0">
                <a:latin typeface="楷体_GB2312" pitchFamily="49" charset="-122"/>
              </a:rPr>
              <a:t>BCD</a:t>
            </a:r>
            <a:r>
              <a:rPr lang="zh-CN" altLang="en-US" sz="2400" dirty="0">
                <a:latin typeface="楷体_GB2312" pitchFamily="49" charset="-122"/>
              </a:rPr>
              <a:t>数的七段显示代码</a:t>
            </a:r>
            <a:endParaRPr lang="en-US" altLang="zh-CN" sz="2400" dirty="0">
              <a:latin typeface="楷体_GB2312" pitchFamily="49" charset="-122"/>
            </a:endParaRPr>
          </a:p>
        </p:txBody>
      </p:sp>
    </p:spTree>
    <p:extLst>
      <p:ext uri="{BB962C8B-B14F-4D97-AF65-F5344CB8AC3E}">
        <p14:creationId xmlns:p14="http://schemas.microsoft.com/office/powerpoint/2010/main" val="1889557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79388" y="996950"/>
            <a:ext cx="8748712" cy="549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MOV DX</a:t>
            </a:r>
            <a:r>
              <a:rPr lang="zh-CN" altLang="en-US" sz="2400" dirty="0">
                <a:latin typeface="楷体_GB2312" pitchFamily="49" charset="-122"/>
              </a:rPr>
              <a:t>，</a:t>
            </a:r>
            <a:r>
              <a:rPr lang="en-US" altLang="zh-CN" sz="2400" dirty="0">
                <a:latin typeface="楷体_GB2312" pitchFamily="49" charset="-122"/>
              </a:rPr>
              <a:t>380H    </a:t>
            </a:r>
            <a:r>
              <a:rPr lang="zh-CN" altLang="en-US" sz="2400" dirty="0">
                <a:latin typeface="楷体_GB2312" pitchFamily="49" charset="-122"/>
              </a:rPr>
              <a:t>；输出段码</a:t>
            </a:r>
          </a:p>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OUT DX</a:t>
            </a:r>
            <a:r>
              <a:rPr lang="zh-CN" altLang="en-US" sz="2400" dirty="0">
                <a:latin typeface="楷体_GB2312" pitchFamily="49" charset="-122"/>
              </a:rPr>
              <a:t>，</a:t>
            </a:r>
            <a:r>
              <a:rPr lang="en-US" altLang="zh-CN" sz="2400" dirty="0">
                <a:latin typeface="楷体_GB2312" pitchFamily="49" charset="-122"/>
              </a:rPr>
              <a:t>AL</a:t>
            </a:r>
          </a:p>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MOV AL</a:t>
            </a:r>
            <a:r>
              <a:rPr lang="zh-CN" altLang="en-US" sz="2400" dirty="0">
                <a:latin typeface="楷体_GB2312" pitchFamily="49" charset="-122"/>
              </a:rPr>
              <a:t>，</a:t>
            </a:r>
            <a:r>
              <a:rPr lang="en-US" altLang="zh-CN" sz="2400" dirty="0">
                <a:latin typeface="楷体_GB2312" pitchFamily="49" charset="-122"/>
              </a:rPr>
              <a:t>AH      </a:t>
            </a:r>
            <a:r>
              <a:rPr lang="zh-CN" altLang="en-US" sz="2400" dirty="0">
                <a:latin typeface="楷体_GB2312" pitchFamily="49" charset="-122"/>
              </a:rPr>
              <a:t>；输出位码</a:t>
            </a:r>
          </a:p>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MOV DX</a:t>
            </a:r>
            <a:r>
              <a:rPr lang="zh-CN" altLang="en-US" sz="2400" dirty="0">
                <a:latin typeface="楷体_GB2312" pitchFamily="49" charset="-122"/>
              </a:rPr>
              <a:t>，</a:t>
            </a:r>
            <a:r>
              <a:rPr lang="en-US" altLang="zh-CN" sz="2400" dirty="0">
                <a:latin typeface="楷体_GB2312" pitchFamily="49" charset="-122"/>
              </a:rPr>
              <a:t>384H</a:t>
            </a:r>
          </a:p>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OUT DX</a:t>
            </a:r>
            <a:r>
              <a:rPr lang="zh-CN" altLang="en-US" sz="2400" dirty="0">
                <a:latin typeface="楷体_GB2312" pitchFamily="49" charset="-122"/>
              </a:rPr>
              <a:t>，</a:t>
            </a:r>
            <a:r>
              <a:rPr lang="en-US" altLang="zh-CN" sz="2400" dirty="0">
                <a:latin typeface="楷体_GB2312" pitchFamily="49" charset="-122"/>
              </a:rPr>
              <a:t>AL</a:t>
            </a:r>
          </a:p>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MOV CX</a:t>
            </a:r>
            <a:r>
              <a:rPr lang="zh-CN" altLang="en-US" sz="2400" dirty="0">
                <a:latin typeface="楷体_GB2312" pitchFamily="49" charset="-122"/>
              </a:rPr>
              <a:t>，</a:t>
            </a:r>
            <a:r>
              <a:rPr lang="en-US" altLang="zh-CN" sz="2400" dirty="0">
                <a:latin typeface="楷体_GB2312" pitchFamily="49" charset="-122"/>
              </a:rPr>
              <a:t>1000    </a:t>
            </a:r>
            <a:r>
              <a:rPr lang="zh-CN" altLang="en-US" sz="2400" dirty="0">
                <a:latin typeface="楷体_GB2312" pitchFamily="49" charset="-122"/>
              </a:rPr>
              <a:t>；延时</a:t>
            </a:r>
          </a:p>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LOOP $</a:t>
            </a:r>
          </a:p>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INC BP          </a:t>
            </a:r>
            <a:r>
              <a:rPr lang="zh-CN" altLang="en-US" sz="2400" dirty="0">
                <a:latin typeface="楷体_GB2312" pitchFamily="49" charset="-122"/>
              </a:rPr>
              <a:t>；调整</a:t>
            </a:r>
            <a:r>
              <a:rPr lang="en-US" altLang="zh-CN" sz="2400" dirty="0">
                <a:latin typeface="楷体_GB2312" pitchFamily="49" charset="-122"/>
              </a:rPr>
              <a:t>BCD</a:t>
            </a:r>
            <a:r>
              <a:rPr lang="zh-CN" altLang="en-US" sz="2400" dirty="0">
                <a:latin typeface="楷体_GB2312" pitchFamily="49" charset="-122"/>
              </a:rPr>
              <a:t>数存放指针</a:t>
            </a:r>
          </a:p>
          <a:p>
            <a:pPr eaLnBrk="1" fontAlgn="b" hangingPunct="1">
              <a:lnSpc>
                <a:spcPct val="80000"/>
              </a:lnSpc>
              <a:buClr>
                <a:srgbClr val="0BD0D9"/>
              </a:buClr>
              <a:buSzPct val="95000"/>
              <a:buFont typeface="Wingdings 2" panose="05020102010507070707" pitchFamily="18" charset="2"/>
              <a:buNone/>
            </a:pPr>
            <a:r>
              <a:rPr lang="zh-CN" altLang="en-US" sz="2400" dirty="0">
                <a:latin typeface="楷体_GB2312" pitchFamily="49" charset="-122"/>
              </a:rPr>
              <a:t>           </a:t>
            </a:r>
            <a:r>
              <a:rPr lang="en-US" altLang="zh-CN" sz="2400" dirty="0">
                <a:latin typeface="楷体_GB2312" pitchFamily="49" charset="-122"/>
              </a:rPr>
              <a:t>SHR AH</a:t>
            </a:r>
            <a:r>
              <a:rPr lang="zh-CN" altLang="en-US" sz="2400" dirty="0">
                <a:latin typeface="楷体_GB2312" pitchFamily="49" charset="-122"/>
              </a:rPr>
              <a:t>，</a:t>
            </a:r>
            <a:r>
              <a:rPr lang="en-US" altLang="zh-CN" sz="2400" dirty="0">
                <a:latin typeface="楷体_GB2312" pitchFamily="49" charset="-122"/>
              </a:rPr>
              <a:t>1       </a:t>
            </a:r>
            <a:r>
              <a:rPr lang="zh-CN" altLang="en-US" sz="2400" dirty="0">
                <a:latin typeface="楷体_GB2312" pitchFamily="49" charset="-122"/>
              </a:rPr>
              <a:t>；调整位指针</a:t>
            </a:r>
          </a:p>
          <a:p>
            <a:pPr eaLnBrk="1" fontAlgn="b" hangingPunct="1">
              <a:lnSpc>
                <a:spcPct val="80000"/>
              </a:lnSpc>
              <a:buClr>
                <a:srgbClr val="0BD0D9"/>
              </a:buClr>
              <a:buSzPct val="95000"/>
              <a:buFont typeface="Wingdings 2" panose="05020102010507070707" pitchFamily="18" charset="2"/>
              <a:buNone/>
            </a:pPr>
            <a:r>
              <a:rPr lang="zh-CN" altLang="en-US" sz="2400" dirty="0">
                <a:latin typeface="楷体_GB2312" pitchFamily="49" charset="-122"/>
              </a:rPr>
              <a:t>           </a:t>
            </a:r>
            <a:r>
              <a:rPr lang="en-US" altLang="zh-CN" sz="2400" dirty="0">
                <a:latin typeface="楷体_GB2312" pitchFamily="49" charset="-122"/>
              </a:rPr>
              <a:t>AND AH</a:t>
            </a:r>
            <a:r>
              <a:rPr lang="zh-CN" altLang="en-US" sz="2400" dirty="0">
                <a:latin typeface="楷体_GB2312" pitchFamily="49" charset="-122"/>
              </a:rPr>
              <a:t>，</a:t>
            </a:r>
            <a:r>
              <a:rPr lang="en-US" altLang="zh-CN" sz="2400" dirty="0">
                <a:latin typeface="楷体_GB2312" pitchFamily="49" charset="-122"/>
              </a:rPr>
              <a:t>AH      </a:t>
            </a:r>
            <a:r>
              <a:rPr lang="zh-CN" altLang="en-US" sz="2400" dirty="0">
                <a:latin typeface="楷体_GB2312" pitchFamily="49" charset="-122"/>
              </a:rPr>
              <a:t>；键入的</a:t>
            </a:r>
            <a:r>
              <a:rPr lang="en-US" altLang="zh-CN" sz="2400" dirty="0">
                <a:latin typeface="楷体_GB2312" pitchFamily="49" charset="-122"/>
              </a:rPr>
              <a:t>6</a:t>
            </a:r>
            <a:r>
              <a:rPr lang="zh-CN" altLang="en-US" sz="2400" dirty="0">
                <a:latin typeface="楷体_GB2312" pitchFamily="49" charset="-122"/>
              </a:rPr>
              <a:t>位数都输出否</a:t>
            </a:r>
            <a:r>
              <a:rPr lang="en-US" altLang="zh-CN" sz="2400" dirty="0">
                <a:latin typeface="楷体_GB2312" pitchFamily="49" charset="-122"/>
              </a:rPr>
              <a:t>?</a:t>
            </a:r>
          </a:p>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JNZ AGANI       </a:t>
            </a:r>
            <a:r>
              <a:rPr lang="zh-CN" altLang="en-US" sz="2400" dirty="0">
                <a:latin typeface="楷体_GB2312" pitchFamily="49" charset="-122"/>
              </a:rPr>
              <a:t>；</a:t>
            </a:r>
            <a:r>
              <a:rPr lang="en-US" altLang="zh-CN" sz="2400" dirty="0">
                <a:latin typeface="楷体_GB2312" pitchFamily="49" charset="-122"/>
              </a:rPr>
              <a:t>6</a:t>
            </a:r>
            <a:r>
              <a:rPr lang="zh-CN" altLang="en-US" sz="2400" dirty="0">
                <a:latin typeface="楷体_GB2312" pitchFamily="49" charset="-122"/>
              </a:rPr>
              <a:t>位数都已输出则退出内循环</a:t>
            </a:r>
          </a:p>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MOV AH</a:t>
            </a:r>
            <a:r>
              <a:rPr lang="zh-CN" altLang="en-US" sz="2400" dirty="0">
                <a:latin typeface="楷体_GB2312" pitchFamily="49" charset="-122"/>
              </a:rPr>
              <a:t>，</a:t>
            </a:r>
            <a:r>
              <a:rPr lang="en-US" altLang="zh-CN" sz="2400" dirty="0">
                <a:latin typeface="楷体_GB2312" pitchFamily="49" charset="-122"/>
              </a:rPr>
              <a:t>11      </a:t>
            </a:r>
            <a:r>
              <a:rPr lang="zh-CN" altLang="en-US" sz="2400" dirty="0">
                <a:latin typeface="楷体_GB2312" pitchFamily="49" charset="-122"/>
              </a:rPr>
              <a:t>；功能调用检查键盘有无输入</a:t>
            </a:r>
          </a:p>
          <a:p>
            <a:pPr eaLnBrk="1" fontAlgn="b" hangingPunct="1">
              <a:lnSpc>
                <a:spcPct val="80000"/>
              </a:lnSpc>
              <a:buClr>
                <a:srgbClr val="0BD0D9"/>
              </a:buClr>
              <a:buSzPct val="95000"/>
              <a:buFont typeface="Wingdings 2" panose="05020102010507070707" pitchFamily="18" charset="2"/>
              <a:buNone/>
            </a:pPr>
            <a:r>
              <a:rPr lang="zh-CN" altLang="en-US" sz="2400" dirty="0">
                <a:latin typeface="楷体_GB2312" pitchFamily="49" charset="-122"/>
              </a:rPr>
              <a:t>           </a:t>
            </a:r>
            <a:r>
              <a:rPr lang="en-US" altLang="zh-CN" sz="2400" dirty="0">
                <a:latin typeface="楷体_GB2312" pitchFamily="49" charset="-122"/>
              </a:rPr>
              <a:t>INT 21H</a:t>
            </a:r>
          </a:p>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CMP AL</a:t>
            </a:r>
            <a:r>
              <a:rPr lang="zh-CN" altLang="en-US" sz="2400" dirty="0">
                <a:latin typeface="楷体_GB2312" pitchFamily="49" charset="-122"/>
              </a:rPr>
              <a:t>，</a:t>
            </a:r>
            <a:r>
              <a:rPr lang="en-US" altLang="zh-CN" sz="2400" dirty="0">
                <a:latin typeface="楷体_GB2312" pitchFamily="49" charset="-122"/>
              </a:rPr>
              <a:t>0       </a:t>
            </a:r>
            <a:r>
              <a:rPr lang="zh-CN" altLang="en-US" sz="2400" dirty="0">
                <a:latin typeface="楷体_GB2312" pitchFamily="49" charset="-122"/>
              </a:rPr>
              <a:t>；有输入</a:t>
            </a:r>
            <a:r>
              <a:rPr lang="en-US" altLang="zh-CN" sz="2400" dirty="0">
                <a:latin typeface="楷体_GB2312" pitchFamily="49" charset="-122"/>
              </a:rPr>
              <a:t>AL=0FFH</a:t>
            </a:r>
            <a:r>
              <a:rPr lang="zh-CN" altLang="en-US" sz="2400" dirty="0">
                <a:latin typeface="楷体_GB2312" pitchFamily="49" charset="-122"/>
              </a:rPr>
              <a:t>，无输入</a:t>
            </a:r>
            <a:r>
              <a:rPr lang="en-US" altLang="zh-CN" sz="2400" dirty="0">
                <a:latin typeface="楷体_GB2312" pitchFamily="49" charset="-122"/>
              </a:rPr>
              <a:t>AL=0</a:t>
            </a:r>
          </a:p>
          <a:p>
            <a:pPr eaLnBrk="1" fontAlgn="b" hangingPunct="1">
              <a:lnSpc>
                <a:spcPct val="80000"/>
              </a:lnSpc>
              <a:buClr>
                <a:srgbClr val="0BD0D9"/>
              </a:buClr>
              <a:buSzPct val="95000"/>
              <a:buFont typeface="Wingdings 2" panose="05020102010507070707" pitchFamily="18" charset="2"/>
              <a:buNone/>
            </a:pPr>
            <a:r>
              <a:rPr lang="en-US" altLang="zh-CN" sz="2400" dirty="0">
                <a:latin typeface="楷体_GB2312" pitchFamily="49" charset="-122"/>
              </a:rPr>
              <a:t>           JE AGANO        </a:t>
            </a:r>
            <a:r>
              <a:rPr lang="zh-CN" altLang="en-US" sz="2400" dirty="0">
                <a:latin typeface="楷体_GB2312" pitchFamily="49" charset="-122"/>
              </a:rPr>
              <a:t>；有键入结束运行，无键入循环                  </a:t>
            </a:r>
            <a:endParaRPr lang="en-US" altLang="zh-CN" sz="2400" dirty="0">
              <a:latin typeface="楷体_GB2312" pitchFamily="49" charset="-122"/>
            </a:endParaRPr>
          </a:p>
        </p:txBody>
      </p:sp>
    </p:spTree>
    <p:extLst>
      <p:ext uri="{BB962C8B-B14F-4D97-AF65-F5344CB8AC3E}">
        <p14:creationId xmlns:p14="http://schemas.microsoft.com/office/powerpoint/2010/main" val="19989030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311370" y="1917577"/>
            <a:ext cx="2040943" cy="584775"/>
          </a:xfrm>
          <a:prstGeom prst="rect">
            <a:avLst/>
          </a:prstGeom>
          <a:noFill/>
        </p:spPr>
        <p:txBody>
          <a:bodyPr wrap="none" rtlCol="0">
            <a:spAutoFit/>
          </a:bodyPr>
          <a:lstStyle/>
          <a:p>
            <a:r>
              <a:rPr lang="zh-CN" altLang="en-US" sz="3200" b="1" dirty="0" smtClean="0">
                <a:latin typeface="楷体" panose="02010609060101010101" pitchFamily="49" charset="-122"/>
                <a:ea typeface="楷体" panose="02010609060101010101" pitchFamily="49" charset="-122"/>
              </a:rPr>
              <a:t>作业：</a:t>
            </a:r>
            <a:r>
              <a:rPr lang="en-US" altLang="zh-CN" sz="3200" b="1" dirty="0" smtClean="0">
                <a:latin typeface="楷体" panose="02010609060101010101" pitchFamily="49" charset="-122"/>
                <a:ea typeface="楷体" panose="02010609060101010101" pitchFamily="49" charset="-122"/>
              </a:rPr>
              <a:t>9.1</a:t>
            </a:r>
            <a:endParaRPr lang="zh-CN" altLang="en-US" sz="32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68351003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1515</TotalTime>
  <Words>2269</Words>
  <Application>Microsoft Office PowerPoint</Application>
  <PresentationFormat>全屏显示(4:3)</PresentationFormat>
  <Paragraphs>136</Paragraphs>
  <Slides>33</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33</vt:i4>
      </vt:variant>
    </vt:vector>
  </HeadingPairs>
  <TitlesOfParts>
    <vt:vector size="46" baseType="lpstr">
      <vt:lpstr>等线</vt:lpstr>
      <vt:lpstr>等线 Light</vt:lpstr>
      <vt:lpstr>华文楷体</vt:lpstr>
      <vt:lpstr>楷体</vt:lpstr>
      <vt:lpstr>楷体_GB2312</vt:lpstr>
      <vt:lpstr>微软雅黑</vt:lpstr>
      <vt:lpstr>Arial</vt:lpstr>
      <vt:lpstr>Calibri</vt:lpstr>
      <vt:lpstr>Calibri Light</vt:lpstr>
      <vt:lpstr>Times New Roman</vt:lpstr>
      <vt:lpstr>Wingdings 2</vt:lpstr>
      <vt:lpstr>Office 主题</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Enjia Deng</dc:creator>
  <cp:lastModifiedBy>陈佩</cp:lastModifiedBy>
  <cp:revision>31</cp:revision>
  <dcterms:created xsi:type="dcterms:W3CDTF">2020-03-31T02:45:39Z</dcterms:created>
  <dcterms:modified xsi:type="dcterms:W3CDTF">2020-11-04T12:50:37Z</dcterms:modified>
</cp:coreProperties>
</file>