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9" r:id="rId2"/>
    <p:sldId id="300" r:id="rId3"/>
    <p:sldId id="301" r:id="rId4"/>
    <p:sldId id="302" r:id="rId5"/>
    <p:sldId id="303" r:id="rId6"/>
    <p:sldId id="296" r:id="rId7"/>
    <p:sldId id="297" r:id="rId8"/>
    <p:sldId id="298" r:id="rId9"/>
    <p:sldId id="299" r:id="rId10"/>
    <p:sldId id="292" r:id="rId11"/>
    <p:sldId id="293" r:id="rId12"/>
    <p:sldId id="294" r:id="rId13"/>
    <p:sldId id="295" r:id="rId14"/>
    <p:sldId id="288" r:id="rId15"/>
    <p:sldId id="289" r:id="rId16"/>
    <p:sldId id="290" r:id="rId17"/>
    <p:sldId id="291" r:id="rId18"/>
    <p:sldId id="284" r:id="rId19"/>
    <p:sldId id="285" r:id="rId20"/>
    <p:sldId id="286" r:id="rId21"/>
    <p:sldId id="287" r:id="rId22"/>
    <p:sldId id="280" r:id="rId23"/>
    <p:sldId id="281" r:id="rId24"/>
    <p:sldId id="282" r:id="rId25"/>
    <p:sldId id="283" r:id="rId26"/>
    <p:sldId id="276" r:id="rId27"/>
    <p:sldId id="277" r:id="rId28"/>
    <p:sldId id="278" r:id="rId29"/>
    <p:sldId id="279" r:id="rId30"/>
    <p:sldId id="272" r:id="rId31"/>
    <p:sldId id="273" r:id="rId32"/>
    <p:sldId id="274" r:id="rId33"/>
    <p:sldId id="275" r:id="rId34"/>
    <p:sldId id="268" r:id="rId35"/>
    <p:sldId id="269" r:id="rId36"/>
    <p:sldId id="270" r:id="rId37"/>
    <p:sldId id="271" r:id="rId38"/>
    <p:sldId id="264" r:id="rId39"/>
    <p:sldId id="265" r:id="rId40"/>
    <p:sldId id="266" r:id="rId41"/>
    <p:sldId id="267" r:id="rId42"/>
    <p:sldId id="260" r:id="rId43"/>
    <p:sldId id="261" r:id="rId44"/>
    <p:sldId id="262" r:id="rId45"/>
    <p:sldId id="26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22" r:id="rId61"/>
    <p:sldId id="323" r:id="rId62"/>
    <p:sldId id="324" r:id="rId63"/>
    <p:sldId id="325" r:id="rId64"/>
    <p:sldId id="326" r:id="rId65"/>
    <p:sldId id="331" r:id="rId66"/>
    <p:sldId id="332" r:id="rId67"/>
    <p:sldId id="333" r:id="rId68"/>
    <p:sldId id="334" r:id="rId69"/>
    <p:sldId id="335" r:id="rId70"/>
    <p:sldId id="340" r:id="rId71"/>
    <p:sldId id="341" r:id="rId72"/>
    <p:sldId id="342" r:id="rId73"/>
    <p:sldId id="343" r:id="rId74"/>
    <p:sldId id="344" r:id="rId75"/>
    <p:sldId id="349" r:id="rId76"/>
    <p:sldId id="350" r:id="rId77"/>
    <p:sldId id="351" r:id="rId78"/>
    <p:sldId id="352" r:id="rId79"/>
    <p:sldId id="353" r:id="rId80"/>
    <p:sldId id="358" r:id="rId81"/>
    <p:sldId id="359" r:id="rId82"/>
    <p:sldId id="360" r:id="rId83"/>
    <p:sldId id="361" r:id="rId84"/>
    <p:sldId id="362" r:id="rId85"/>
    <p:sldId id="363" r:id="rId86"/>
    <p:sldId id="364" r:id="rId87"/>
    <p:sldId id="365" r:id="rId88"/>
    <p:sldId id="366" r:id="rId89"/>
    <p:sldId id="354" r:id="rId90"/>
    <p:sldId id="355" r:id="rId91"/>
    <p:sldId id="356" r:id="rId92"/>
    <p:sldId id="357" r:id="rId93"/>
    <p:sldId id="345" r:id="rId94"/>
    <p:sldId id="346" r:id="rId95"/>
    <p:sldId id="347" r:id="rId96"/>
    <p:sldId id="348" r:id="rId97"/>
    <p:sldId id="336" r:id="rId98"/>
    <p:sldId id="337" r:id="rId99"/>
    <p:sldId id="338" r:id="rId100"/>
    <p:sldId id="339" r:id="rId101"/>
    <p:sldId id="327" r:id="rId102"/>
    <p:sldId id="328" r:id="rId103"/>
    <p:sldId id="329" r:id="rId104"/>
    <p:sldId id="330" r:id="rId105"/>
    <p:sldId id="318" r:id="rId106"/>
    <p:sldId id="319" r:id="rId107"/>
    <p:sldId id="320" r:id="rId108"/>
    <p:sldId id="321" r:id="rId109"/>
    <p:sldId id="368" r:id="rId110"/>
    <p:sldId id="367" r:id="rId111"/>
    <p:sldId id="369" r:id="rId112"/>
    <p:sldId id="370" r:id="rId113"/>
    <p:sldId id="371" r:id="rId114"/>
    <p:sldId id="372" r:id="rId115"/>
    <p:sldId id="373" r:id="rId116"/>
    <p:sldId id="374" r:id="rId117"/>
    <p:sldId id="377" r:id="rId1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8"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4" autoAdjust="0"/>
    <p:restoredTop sz="94660"/>
  </p:normalViewPr>
  <p:slideViewPr>
    <p:cSldViewPr snapToGrid="0" showGuides="1">
      <p:cViewPr>
        <p:scale>
          <a:sx n="80" d="100"/>
          <a:sy n="80" d="100"/>
        </p:scale>
        <p:origin x="1275" y="158"/>
      </p:cViewPr>
      <p:guideLst>
        <p:guide pos="408"/>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21896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68781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9546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74024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13877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75353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48588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20405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42814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65771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69664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24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26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26606-9BAD-42CC-8403-7B224A35E75E}" type="datetimeFigureOut">
              <a:rPr lang="zh-CN" altLang="en-US" smtClean="0"/>
              <a:t>2023/10/24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43455098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5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72D32F27-61CF-44B4-A758-0E942AB12FB7}"/>
              </a:ext>
            </a:extLst>
          </p:cNvPr>
          <p:cNvSpPr txBox="1"/>
          <p:nvPr/>
        </p:nvSpPr>
        <p:spPr>
          <a:xfrm>
            <a:off x="757931" y="904490"/>
            <a:ext cx="8229600" cy="928688"/>
          </a:xfrm>
          <a:prstGeom prst="rect">
            <a:avLst/>
          </a:prstGeom>
        </p:spPr>
        <p:txBody>
          <a:bodyPr anchor="ctr"/>
          <a:lstStyle>
            <a:lvl1pPr eaLnBrk="0" hangingPunct="0">
              <a:defRPr sz="2800" b="1">
                <a:solidFill>
                  <a:schemeClr val="tx2"/>
                </a:solidFill>
                <a:latin typeface="楷体_GB2312" pitchFamily="49" charset="-122"/>
                <a:ea typeface="楷体_GB2312" pitchFamily="49" charset="-122"/>
              </a:defRPr>
            </a:lvl1pPr>
            <a:lvl2pPr marL="742950" indent="-285750" eaLnBrk="0" hangingPunct="0">
              <a:defRPr sz="2800" b="1">
                <a:solidFill>
                  <a:schemeClr val="tx2"/>
                </a:solidFill>
                <a:latin typeface="楷体_GB2312" pitchFamily="49" charset="-122"/>
                <a:ea typeface="楷体_GB2312" pitchFamily="49" charset="-122"/>
              </a:defRPr>
            </a:lvl2pPr>
            <a:lvl3pPr marL="1143000" indent="-228600" eaLnBrk="0" hangingPunct="0">
              <a:defRPr sz="2800" b="1">
                <a:solidFill>
                  <a:schemeClr val="tx2"/>
                </a:solidFill>
                <a:latin typeface="楷体_GB2312" pitchFamily="49" charset="-122"/>
                <a:ea typeface="楷体_GB2312" pitchFamily="49" charset="-122"/>
              </a:defRPr>
            </a:lvl3pPr>
            <a:lvl4pPr marL="1600200" indent="-228600" eaLnBrk="0" hangingPunct="0">
              <a:defRPr sz="2800" b="1">
                <a:solidFill>
                  <a:schemeClr val="tx2"/>
                </a:solidFill>
                <a:latin typeface="楷体_GB2312" pitchFamily="49" charset="-122"/>
                <a:ea typeface="楷体_GB2312" pitchFamily="49" charset="-122"/>
              </a:defRPr>
            </a:lvl4pPr>
            <a:lvl5pPr marL="2057400" indent="-228600" eaLnBrk="0" hangingPunct="0">
              <a:defRPr sz="28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9pPr>
          </a:lstStyle>
          <a:p>
            <a:pPr algn="ctr" eaLnBrk="1" hangingPunct="1">
              <a:lnSpc>
                <a:spcPct val="90000"/>
              </a:lnSpc>
              <a:spcBef>
                <a:spcPct val="20000"/>
              </a:spcBef>
              <a:buClr>
                <a:schemeClr val="tx2"/>
              </a:buClr>
              <a:defRPr/>
            </a:pPr>
            <a:r>
              <a:rPr lang="zh-CN" altLang="en-US" sz="4100" dirty="0">
                <a:solidFill>
                  <a:schemeClr val="tx1"/>
                </a:solidFill>
                <a:latin typeface="微软雅黑" pitchFamily="34" charset="-122"/>
                <a:ea typeface="微软雅黑" pitchFamily="34" charset="-122"/>
              </a:rPr>
              <a:t>第七章 汇编语言与汇编程序</a:t>
            </a:r>
            <a:endParaRPr lang="zh-CN" altLang="en-US" sz="4100" dirty="0">
              <a:solidFill>
                <a:schemeClr val="tx1"/>
              </a:solidFill>
              <a:effectLst>
                <a:outerShdw blurRad="38100" dist="38100" dir="2700000" algn="tl">
                  <a:srgbClr val="C0C0C0"/>
                </a:outerShdw>
              </a:effectLst>
              <a:latin typeface="微软雅黑" pitchFamily="34" charset="-122"/>
              <a:ea typeface="微软雅黑" pitchFamily="34" charset="-122"/>
            </a:endParaRPr>
          </a:p>
        </p:txBody>
      </p:sp>
      <p:sp>
        <p:nvSpPr>
          <p:cNvPr id="3" name="Rectangle 78"/>
          <p:cNvSpPr>
            <a:spLocks noChangeArrowheads="1"/>
          </p:cNvSpPr>
          <p:nvPr/>
        </p:nvSpPr>
        <p:spPr bwMode="auto">
          <a:xfrm>
            <a:off x="1948356" y="2017528"/>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4" name="Rectangle 80"/>
          <p:cNvSpPr>
            <a:spLocks noChangeArrowheads="1"/>
          </p:cNvSpPr>
          <p:nvPr/>
        </p:nvSpPr>
        <p:spPr bwMode="auto">
          <a:xfrm>
            <a:off x="1948356" y="2848669"/>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solidFill>
                <a:schemeClr val="tx2"/>
              </a:solidFill>
              <a:latin typeface="华文楷体" panose="02010600040101010101" pitchFamily="2" charset="-122"/>
              <a:ea typeface="华文楷体" panose="02010600040101010101" pitchFamily="2" charset="-122"/>
            </a:endParaRPr>
          </a:p>
        </p:txBody>
      </p:sp>
      <p:sp>
        <p:nvSpPr>
          <p:cNvPr id="5" name="Rectangle 82"/>
          <p:cNvSpPr>
            <a:spLocks noChangeArrowheads="1"/>
          </p:cNvSpPr>
          <p:nvPr/>
        </p:nvSpPr>
        <p:spPr bwMode="auto">
          <a:xfrm>
            <a:off x="1948356" y="3739288"/>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solidFill>
                <a:schemeClr val="tx2"/>
              </a:solidFill>
              <a:latin typeface="华文楷体" panose="02010600040101010101" pitchFamily="2" charset="-122"/>
              <a:ea typeface="华文楷体" panose="02010600040101010101" pitchFamily="2" charset="-122"/>
            </a:endParaRPr>
          </a:p>
        </p:txBody>
      </p:sp>
      <p:sp>
        <p:nvSpPr>
          <p:cNvPr id="6" name="Rectangle 84"/>
          <p:cNvSpPr>
            <a:spLocks noChangeArrowheads="1"/>
          </p:cNvSpPr>
          <p:nvPr/>
        </p:nvSpPr>
        <p:spPr bwMode="auto">
          <a:xfrm>
            <a:off x="1948356" y="2848669"/>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2</a:t>
            </a:r>
          </a:p>
        </p:txBody>
      </p:sp>
      <p:sp>
        <p:nvSpPr>
          <p:cNvPr id="7" name="Rectangle 85"/>
          <p:cNvSpPr>
            <a:spLocks noChangeArrowheads="1"/>
          </p:cNvSpPr>
          <p:nvPr/>
        </p:nvSpPr>
        <p:spPr bwMode="auto">
          <a:xfrm>
            <a:off x="1948356" y="3739288"/>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3</a:t>
            </a:r>
          </a:p>
        </p:txBody>
      </p:sp>
      <p:sp>
        <p:nvSpPr>
          <p:cNvPr id="8" name="Text Box 87"/>
          <p:cNvSpPr txBox="1">
            <a:spLocks noChangeArrowheads="1"/>
          </p:cNvSpPr>
          <p:nvPr/>
        </p:nvSpPr>
        <p:spPr bwMode="auto">
          <a:xfrm>
            <a:off x="3090074" y="2083155"/>
            <a:ext cx="3416320"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800" dirty="0">
                <a:latin typeface="华文楷体" panose="02010600040101010101" pitchFamily="2" charset="-122"/>
                <a:ea typeface="华文楷体" panose="02010600040101010101" pitchFamily="2" charset="-122"/>
              </a:rPr>
              <a:t>符号指令中的表达式</a:t>
            </a:r>
            <a:endParaRPr lang="ko-KR" altLang="en-US" sz="2800" dirty="0">
              <a:latin typeface="华文楷体" panose="02010600040101010101" pitchFamily="2" charset="-122"/>
              <a:ea typeface="华文楷体" panose="02010600040101010101" pitchFamily="2" charset="-122"/>
            </a:endParaRPr>
          </a:p>
        </p:txBody>
      </p:sp>
      <p:sp>
        <p:nvSpPr>
          <p:cNvPr id="9" name="Text Box 88"/>
          <p:cNvSpPr txBox="1">
            <a:spLocks noChangeArrowheads="1"/>
          </p:cNvSpPr>
          <p:nvPr/>
        </p:nvSpPr>
        <p:spPr bwMode="auto">
          <a:xfrm>
            <a:off x="3047788" y="2961829"/>
            <a:ext cx="3416320"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zh-CN" altLang="en-US" sz="2800" dirty="0">
                <a:solidFill>
                  <a:schemeClr val="tx2"/>
                </a:solidFill>
                <a:latin typeface="华文楷体" panose="02010600040101010101" pitchFamily="2" charset="-122"/>
                <a:ea typeface="华文楷体" panose="02010600040101010101" pitchFamily="2" charset="-122"/>
              </a:rPr>
              <a:t>符号指令的寻址方式</a:t>
            </a:r>
            <a:endParaRPr lang="ko-KR" altLang="en-US" sz="2800" dirty="0">
              <a:solidFill>
                <a:schemeClr val="tx2"/>
              </a:solidFill>
              <a:latin typeface="华文楷体" panose="02010600040101010101" pitchFamily="2" charset="-122"/>
              <a:ea typeface="华文楷体" panose="02010600040101010101" pitchFamily="2" charset="-122"/>
            </a:endParaRPr>
          </a:p>
        </p:txBody>
      </p:sp>
      <p:sp>
        <p:nvSpPr>
          <p:cNvPr id="10" name="Text Box 89"/>
          <p:cNvSpPr txBox="1">
            <a:spLocks noChangeArrowheads="1"/>
          </p:cNvSpPr>
          <p:nvPr/>
        </p:nvSpPr>
        <p:spPr bwMode="auto">
          <a:xfrm>
            <a:off x="3090074" y="3833351"/>
            <a:ext cx="162095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zh-CN" altLang="en-US" sz="2800" dirty="0">
                <a:solidFill>
                  <a:schemeClr val="tx2"/>
                </a:solidFill>
                <a:latin typeface="华文楷体" panose="02010600040101010101" pitchFamily="2" charset="-122"/>
                <a:ea typeface="华文楷体" panose="02010600040101010101" pitchFamily="2" charset="-122"/>
              </a:rPr>
              <a:t>常用指令</a:t>
            </a:r>
            <a:endParaRPr lang="ko-KR" altLang="en-US" sz="2800" dirty="0">
              <a:solidFill>
                <a:schemeClr val="tx2"/>
              </a:solidFill>
              <a:latin typeface="华文楷体" panose="02010600040101010101" pitchFamily="2" charset="-122"/>
              <a:ea typeface="华文楷体" panose="02010600040101010101" pitchFamily="2" charset="-122"/>
            </a:endParaRPr>
          </a:p>
        </p:txBody>
      </p:sp>
      <p:sp>
        <p:nvSpPr>
          <p:cNvPr id="11" name="Rectangle 82"/>
          <p:cNvSpPr>
            <a:spLocks noChangeArrowheads="1"/>
          </p:cNvSpPr>
          <p:nvPr/>
        </p:nvSpPr>
        <p:spPr bwMode="auto">
          <a:xfrm>
            <a:off x="1948356" y="4546477"/>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solidFill>
                <a:schemeClr val="tx2"/>
              </a:solidFill>
              <a:latin typeface="华文楷体" panose="02010600040101010101" pitchFamily="2" charset="-122"/>
              <a:ea typeface="华文楷体" panose="02010600040101010101" pitchFamily="2" charset="-122"/>
            </a:endParaRPr>
          </a:p>
        </p:txBody>
      </p:sp>
      <p:sp>
        <p:nvSpPr>
          <p:cNvPr id="12" name="Rectangle 85"/>
          <p:cNvSpPr>
            <a:spLocks noChangeArrowheads="1"/>
          </p:cNvSpPr>
          <p:nvPr/>
        </p:nvSpPr>
        <p:spPr bwMode="auto">
          <a:xfrm>
            <a:off x="1948356" y="4546477"/>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4</a:t>
            </a:r>
          </a:p>
        </p:txBody>
      </p:sp>
      <p:sp>
        <p:nvSpPr>
          <p:cNvPr id="13" name="Text Box 89"/>
          <p:cNvSpPr txBox="1">
            <a:spLocks noChangeArrowheads="1"/>
          </p:cNvSpPr>
          <p:nvPr/>
        </p:nvSpPr>
        <p:spPr bwMode="auto">
          <a:xfrm>
            <a:off x="3029287" y="4636826"/>
            <a:ext cx="2359199"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en-US" altLang="zh-CN" sz="2800" dirty="0">
                <a:solidFill>
                  <a:schemeClr val="tx2"/>
                </a:solidFill>
                <a:latin typeface="华文楷体" panose="02010600040101010101" pitchFamily="2" charset="-122"/>
                <a:ea typeface="华文楷体" panose="02010600040101010101" pitchFamily="2" charset="-122"/>
              </a:rPr>
              <a:t> </a:t>
            </a:r>
            <a:r>
              <a:rPr lang="zh-CN" altLang="en-US" sz="2800" dirty="0">
                <a:solidFill>
                  <a:schemeClr val="tx2"/>
                </a:solidFill>
                <a:latin typeface="华文楷体" panose="02010600040101010101" pitchFamily="2" charset="-122"/>
                <a:ea typeface="华文楷体" panose="02010600040101010101" pitchFamily="2" charset="-122"/>
              </a:rPr>
              <a:t>常用伪指令</a:t>
            </a:r>
            <a:endParaRPr lang="ko-KR" altLang="en-US" sz="2800" dirty="0">
              <a:solidFill>
                <a:schemeClr val="tx2"/>
              </a:solidFill>
              <a:latin typeface="华文楷体" panose="02010600040101010101" pitchFamily="2" charset="-122"/>
              <a:ea typeface="华文楷体" panose="02010600040101010101" pitchFamily="2" charset="-122"/>
            </a:endParaRPr>
          </a:p>
        </p:txBody>
      </p:sp>
      <p:sp>
        <p:nvSpPr>
          <p:cNvPr id="14" name="Rectangle 77"/>
          <p:cNvSpPr>
            <a:spLocks noChangeArrowheads="1"/>
          </p:cNvSpPr>
          <p:nvPr/>
        </p:nvSpPr>
        <p:spPr bwMode="auto">
          <a:xfrm>
            <a:off x="1951743" y="2027053"/>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p>
            <a:pPr algn="ctr">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1</a:t>
            </a:r>
          </a:p>
        </p:txBody>
      </p:sp>
      <p:sp>
        <p:nvSpPr>
          <p:cNvPr id="15" name="Rectangle 82"/>
          <p:cNvSpPr>
            <a:spLocks noChangeArrowheads="1"/>
          </p:cNvSpPr>
          <p:nvPr/>
        </p:nvSpPr>
        <p:spPr bwMode="auto">
          <a:xfrm>
            <a:off x="1948356" y="5406054"/>
            <a:ext cx="5095446" cy="921888"/>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solidFill>
                <a:schemeClr val="tx2"/>
              </a:solidFill>
              <a:latin typeface="华文楷体" panose="02010600040101010101" pitchFamily="2" charset="-122"/>
              <a:ea typeface="华文楷体" panose="02010600040101010101" pitchFamily="2" charset="-122"/>
            </a:endParaRPr>
          </a:p>
        </p:txBody>
      </p:sp>
      <p:sp>
        <p:nvSpPr>
          <p:cNvPr id="16" name="Rectangle 85"/>
          <p:cNvSpPr>
            <a:spLocks noChangeArrowheads="1"/>
          </p:cNvSpPr>
          <p:nvPr/>
        </p:nvSpPr>
        <p:spPr bwMode="auto">
          <a:xfrm>
            <a:off x="1948356" y="5406054"/>
            <a:ext cx="1099432" cy="92858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dirty="0">
                <a:solidFill>
                  <a:schemeClr val="tx2"/>
                </a:solidFill>
                <a:latin typeface="华文楷体" panose="02010600040101010101" pitchFamily="2" charset="-122"/>
                <a:ea typeface="华文楷体" panose="02010600040101010101" pitchFamily="2" charset="-122"/>
              </a:rPr>
              <a:t>5</a:t>
            </a:r>
          </a:p>
        </p:txBody>
      </p:sp>
      <p:sp>
        <p:nvSpPr>
          <p:cNvPr id="17" name="Text Box 89"/>
          <p:cNvSpPr txBox="1">
            <a:spLocks noChangeArrowheads="1"/>
          </p:cNvSpPr>
          <p:nvPr/>
        </p:nvSpPr>
        <p:spPr bwMode="auto">
          <a:xfrm>
            <a:off x="3090075" y="5472729"/>
            <a:ext cx="3953728"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zh-CN" altLang="en-US" sz="2800" dirty="0">
                <a:solidFill>
                  <a:schemeClr val="tx2"/>
                </a:solidFill>
                <a:latin typeface="华文楷体" panose="02010600040101010101" pitchFamily="2" charset="-122"/>
                <a:ea typeface="华文楷体" panose="02010600040101010101" pitchFamily="2" charset="-122"/>
              </a:rPr>
              <a:t>常用</a:t>
            </a:r>
            <a:r>
              <a:rPr lang="en-US" altLang="zh-CN" sz="2800" dirty="0">
                <a:solidFill>
                  <a:schemeClr val="tx2"/>
                </a:solidFill>
                <a:latin typeface="华文楷体" panose="02010600040101010101" pitchFamily="2" charset="-122"/>
                <a:ea typeface="华文楷体" panose="02010600040101010101" pitchFamily="2" charset="-122"/>
              </a:rPr>
              <a:t>DOS</a:t>
            </a:r>
            <a:r>
              <a:rPr lang="zh-CN" altLang="en-US" sz="2800" dirty="0">
                <a:solidFill>
                  <a:schemeClr val="tx2"/>
                </a:solidFill>
                <a:latin typeface="华文楷体" panose="02010600040101010101" pitchFamily="2" charset="-122"/>
                <a:ea typeface="华文楷体" panose="02010600040101010101" pitchFamily="2" charset="-122"/>
              </a:rPr>
              <a:t>系统功能调用和</a:t>
            </a:r>
            <a:r>
              <a:rPr lang="en-US" altLang="zh-CN" sz="2800" dirty="0">
                <a:solidFill>
                  <a:schemeClr val="tx2"/>
                </a:solidFill>
                <a:latin typeface="华文楷体" panose="02010600040101010101" pitchFamily="2" charset="-122"/>
                <a:ea typeface="华文楷体" panose="02010600040101010101" pitchFamily="2" charset="-122"/>
              </a:rPr>
              <a:t>BIOS</a:t>
            </a:r>
            <a:r>
              <a:rPr lang="zh-CN" altLang="en-US" sz="2800" dirty="0">
                <a:solidFill>
                  <a:schemeClr val="tx2"/>
                </a:solidFill>
                <a:latin typeface="华文楷体" panose="02010600040101010101" pitchFamily="2" charset="-122"/>
                <a:ea typeface="华文楷体" panose="02010600040101010101" pitchFamily="2" charset="-122"/>
              </a:rPr>
              <a:t>功能调用</a:t>
            </a:r>
            <a:endParaRPr lang="ko-KR" altLang="en-US" sz="2800" dirty="0">
              <a:solidFill>
                <a:schemeClr val="tx2"/>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99636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03749" y="1188514"/>
            <a:ext cx="8496300" cy="107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sz="2600" dirty="0">
                <a:solidFill>
                  <a:srgbClr val="00B050"/>
                </a:solidFill>
                <a:latin typeface="楷体" panose="02010609060101010101" pitchFamily="49" charset="-122"/>
                <a:ea typeface="楷体" panose="02010609060101010101" pitchFamily="49" charset="-122"/>
              </a:rPr>
              <a:t>机器指令</a:t>
            </a:r>
            <a:r>
              <a:rPr lang="en-US" altLang="zh-CN" sz="2600" dirty="0">
                <a:latin typeface="楷体" panose="02010609060101010101" pitchFamily="49" charset="-122"/>
                <a:ea typeface="楷体" panose="02010609060101010101" pitchFamily="49" charset="-122"/>
              </a:rPr>
              <a:t>——</a:t>
            </a:r>
            <a:r>
              <a:rPr lang="zh-CN" altLang="en-US" sz="2600" dirty="0">
                <a:latin typeface="楷体" panose="02010609060101010101" pitchFamily="49" charset="-122"/>
                <a:ea typeface="楷体" panose="02010609060101010101" pitchFamily="49" charset="-122"/>
              </a:rPr>
              <a:t>用二进制编码形式下达的指示和命令。</a:t>
            </a:r>
          </a:p>
          <a:p>
            <a:pPr>
              <a:buFont typeface="Arial" panose="020B0604020202020204" pitchFamily="34" charset="0"/>
              <a:buNone/>
            </a:pPr>
            <a:r>
              <a:rPr lang="zh-CN" altLang="en-US" sz="2600" dirty="0">
                <a:solidFill>
                  <a:schemeClr val="accent1"/>
                </a:solidFill>
                <a:latin typeface="楷体" panose="02010609060101010101" pitchFamily="49" charset="-122"/>
                <a:ea typeface="楷体" panose="02010609060101010101" pitchFamily="49" charset="-122"/>
              </a:rPr>
              <a:t>如：</a:t>
            </a:r>
            <a:r>
              <a:rPr lang="en-US" altLang="zh-CN" sz="2600" dirty="0">
                <a:solidFill>
                  <a:schemeClr val="accent1"/>
                </a:solidFill>
                <a:latin typeface="楷体" panose="02010609060101010101" pitchFamily="49" charset="-122"/>
                <a:ea typeface="楷体" panose="02010609060101010101" pitchFamily="49" charset="-122"/>
              </a:rPr>
              <a:t>1100 1101 0010 0001</a:t>
            </a:r>
            <a:endParaRPr lang="zh-CN" altLang="en-US" sz="2600" dirty="0">
              <a:latin typeface="楷体" panose="02010609060101010101" pitchFamily="49" charset="-122"/>
              <a:ea typeface="楷体" panose="02010609060101010101" pitchFamily="49" charset="-122"/>
            </a:endParaRPr>
          </a:p>
        </p:txBody>
      </p:sp>
      <p:sp>
        <p:nvSpPr>
          <p:cNvPr id="3" name="Rectangle 4"/>
          <p:cNvSpPr>
            <a:spLocks noChangeArrowheads="1"/>
          </p:cNvSpPr>
          <p:nvPr/>
        </p:nvSpPr>
        <p:spPr bwMode="auto">
          <a:xfrm>
            <a:off x="330724" y="4069826"/>
            <a:ext cx="8497888"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Arial" panose="020B0604020202020204" pitchFamily="34" charset="0"/>
              <a:buNone/>
            </a:pPr>
            <a:endParaRPr lang="zh-CN" altLang="en-US" sz="2800">
              <a:latin typeface="楷体" panose="02010609060101010101" pitchFamily="49" charset="-122"/>
              <a:ea typeface="楷体" panose="02010609060101010101" pitchFamily="49" charset="-122"/>
              <a:sym typeface="Wingdings" panose="05000000000000000000" pitchFamily="2" charset="2"/>
            </a:endParaRPr>
          </a:p>
        </p:txBody>
      </p:sp>
      <p:sp>
        <p:nvSpPr>
          <p:cNvPr id="4" name="AutoShape 6">
            <a:extLst>
              <a:ext uri="{FF2B5EF4-FFF2-40B4-BE49-F238E27FC236}">
                <a16:creationId xmlns:a16="http://schemas.microsoft.com/office/drawing/2014/main" id="{B6739B05-8A70-473A-8D3D-CE3BF681D544}"/>
              </a:ext>
            </a:extLst>
          </p:cNvPr>
          <p:cNvSpPr>
            <a:spLocks noChangeArrowheads="1"/>
          </p:cNvSpPr>
          <p:nvPr/>
        </p:nvSpPr>
        <p:spPr bwMode="auto">
          <a:xfrm>
            <a:off x="2851674" y="2341039"/>
            <a:ext cx="576263" cy="936625"/>
          </a:xfrm>
          <a:prstGeom prst="downArrow">
            <a:avLst>
              <a:gd name="adj1" fmla="val 50000"/>
              <a:gd name="adj2" fmla="val 40634"/>
            </a:avLst>
          </a:prstGeom>
        </p:spPr>
        <p:style>
          <a:lnRef idx="3">
            <a:schemeClr val="lt1"/>
          </a:lnRef>
          <a:fillRef idx="1">
            <a:schemeClr val="accent1"/>
          </a:fillRef>
          <a:effectRef idx="1">
            <a:schemeClr val="accent1"/>
          </a:effectRef>
          <a:fontRef idx="minor">
            <a:schemeClr val="lt1"/>
          </a:fontRef>
        </p:style>
        <p:txBody>
          <a:bodyPr vert="eaVert" wrap="none" anchor="ctr"/>
          <a:lstStyle/>
          <a:p>
            <a:pPr eaLnBrk="1" hangingPunct="1">
              <a:defRPr/>
            </a:pPr>
            <a:endParaRPr lang="zh-CN" altLang="en-US" sz="1800">
              <a:solidFill>
                <a:srgbClr val="FFFFFF"/>
              </a:solidFill>
              <a:latin typeface="楷体" panose="02010609060101010101" pitchFamily="49" charset="-122"/>
              <a:ea typeface="楷体" panose="02010609060101010101" pitchFamily="49" charset="-122"/>
            </a:endParaRPr>
          </a:p>
        </p:txBody>
      </p:sp>
      <p:sp>
        <p:nvSpPr>
          <p:cNvPr id="5" name="Rectangle 7"/>
          <p:cNvSpPr>
            <a:spLocks noChangeArrowheads="1"/>
          </p:cNvSpPr>
          <p:nvPr/>
        </p:nvSpPr>
        <p:spPr bwMode="auto">
          <a:xfrm>
            <a:off x="3715274" y="2341039"/>
            <a:ext cx="4105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200">
                <a:latin typeface="楷体" panose="02010609060101010101" pitchFamily="49" charset="-122"/>
                <a:ea typeface="楷体" panose="02010609060101010101" pitchFamily="49" charset="-122"/>
              </a:rPr>
              <a:t>机器语言编写程序烦琐，难记忆，不易理解，易出错</a:t>
            </a:r>
          </a:p>
        </p:txBody>
      </p:sp>
      <p:sp>
        <p:nvSpPr>
          <p:cNvPr id="6" name="Rectangle 8"/>
          <p:cNvSpPr>
            <a:spLocks noChangeArrowheads="1"/>
          </p:cNvSpPr>
          <p:nvPr/>
        </p:nvSpPr>
        <p:spPr bwMode="auto">
          <a:xfrm>
            <a:off x="403749" y="3420539"/>
            <a:ext cx="84724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dirty="0">
                <a:solidFill>
                  <a:srgbClr val="00B050"/>
                </a:solidFill>
                <a:latin typeface="楷体" panose="02010609060101010101" pitchFamily="49" charset="-122"/>
                <a:ea typeface="楷体" panose="02010609060101010101" pitchFamily="49" charset="-122"/>
                <a:sym typeface="Wingdings" panose="05000000000000000000" pitchFamily="2" charset="2"/>
              </a:rPr>
              <a:t>符号指令</a:t>
            </a:r>
            <a:r>
              <a:rPr lang="en-US" altLang="zh-CN" sz="2400" dirty="0">
                <a:latin typeface="楷体" panose="02010609060101010101" pitchFamily="49" charset="-122"/>
                <a:ea typeface="楷体" panose="02010609060101010101" pitchFamily="49" charset="-122"/>
                <a:sym typeface="Wingdings" panose="05000000000000000000" pitchFamily="2" charset="2"/>
              </a:rPr>
              <a:t>——</a:t>
            </a:r>
            <a:r>
              <a:rPr lang="zh-CN" altLang="en-US" sz="2400" dirty="0">
                <a:latin typeface="楷体" panose="02010609060101010101" pitchFamily="49" charset="-122"/>
                <a:ea typeface="楷体" panose="02010609060101010101" pitchFamily="49" charset="-122"/>
              </a:rPr>
              <a:t>由</a:t>
            </a:r>
            <a:r>
              <a:rPr lang="zh-CN" altLang="en-US" sz="2400" dirty="0">
                <a:solidFill>
                  <a:srgbClr val="FF0000"/>
                </a:solidFill>
                <a:latin typeface="楷体" panose="02010609060101010101" pitchFamily="49" charset="-122"/>
                <a:ea typeface="楷体" panose="02010609060101010101" pitchFamily="49" charset="-122"/>
              </a:rPr>
              <a:t>助记符、符号</a:t>
            </a:r>
            <a:r>
              <a:rPr lang="zh-CN" altLang="en-US" sz="2400" dirty="0">
                <a:latin typeface="楷体" panose="02010609060101010101" pitchFamily="49" charset="-122"/>
                <a:ea typeface="楷体" panose="02010609060101010101" pitchFamily="49" charset="-122"/>
              </a:rPr>
              <a:t>组成，它与机器指令一一对应。</a:t>
            </a:r>
            <a:endParaRPr lang="zh-CN" altLang="en-US" sz="2400" dirty="0">
              <a:solidFill>
                <a:schemeClr val="tx2"/>
              </a:solidFill>
              <a:latin typeface="楷体" panose="02010609060101010101" pitchFamily="49" charset="-122"/>
              <a:ea typeface="楷体" panose="02010609060101010101" pitchFamily="49" charset="-122"/>
              <a:sym typeface="Wingdings" panose="05000000000000000000" pitchFamily="2" charset="2"/>
            </a:endParaRPr>
          </a:p>
          <a:p>
            <a:pPr eaLnBrk="1" hangingPunct="1">
              <a:lnSpc>
                <a:spcPct val="150000"/>
              </a:lnSpc>
              <a:spcBef>
                <a:spcPct val="0"/>
              </a:spcBef>
              <a:buFont typeface="Arial" panose="020B0604020202020204" pitchFamily="34" charset="0"/>
              <a:buNone/>
            </a:pPr>
            <a:r>
              <a:rPr lang="zh-CN" altLang="en-US" sz="2400" dirty="0">
                <a:solidFill>
                  <a:srgbClr val="00B0F0"/>
                </a:solidFill>
                <a:latin typeface="楷体" panose="02010609060101010101" pitchFamily="49" charset="-122"/>
                <a:ea typeface="楷体" panose="02010609060101010101" pitchFamily="49" charset="-122"/>
              </a:rPr>
              <a:t>汇编</a:t>
            </a:r>
            <a:r>
              <a:rPr lang="en-US" altLang="zh-CN" sz="2400" b="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机器只能识别机器指令，所以需要将符号指令翻译成机器指令，翻译的过程称作汇编。</a:t>
            </a:r>
          </a:p>
          <a:p>
            <a:pPr eaLnBrk="1" hangingPunct="1">
              <a:lnSpc>
                <a:spcPct val="150000"/>
              </a:lnSpc>
              <a:spcBef>
                <a:spcPct val="0"/>
              </a:spcBef>
              <a:buFont typeface="Arial" panose="020B0604020202020204" pitchFamily="34" charset="0"/>
              <a:buNone/>
            </a:pPr>
            <a:r>
              <a:rPr lang="zh-CN" altLang="en-US" sz="2400" dirty="0">
                <a:solidFill>
                  <a:srgbClr val="00B0F0"/>
                </a:solidFill>
                <a:latin typeface="楷体" panose="02010609060101010101" pitchFamily="49" charset="-122"/>
                <a:ea typeface="楷体" panose="02010609060101010101" pitchFamily="49" charset="-122"/>
              </a:rPr>
              <a:t>汇编程序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完成汇编任务的程序。</a:t>
            </a:r>
            <a:endParaRPr lang="en-US" altLang="zh-CN" sz="240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zh-CN" altLang="en-US" sz="2400" dirty="0">
                <a:solidFill>
                  <a:srgbClr val="00B0F0"/>
                </a:solidFill>
                <a:latin typeface="楷体" panose="02010609060101010101" pitchFamily="49" charset="-122"/>
                <a:ea typeface="楷体" panose="02010609060101010101" pitchFamily="49" charset="-122"/>
                <a:sym typeface="Wingdings" panose="05000000000000000000" pitchFamily="2" charset="2"/>
              </a:rPr>
              <a:t>汇编语言</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用符号指令书写程序的语言。</a:t>
            </a:r>
            <a:endParaRPr lang="zh-CN" altLang="en-US" sz="2400" dirty="0">
              <a:solidFill>
                <a:srgbClr val="0070C0"/>
              </a:solidFill>
              <a:latin typeface="楷体" panose="02010609060101010101" pitchFamily="49" charset="-122"/>
              <a:ea typeface="楷体" panose="02010609060101010101" pitchFamily="49" charset="-122"/>
              <a:sym typeface="Wingdings" panose="05000000000000000000" pitchFamily="2" charset="2"/>
            </a:endParaRPr>
          </a:p>
        </p:txBody>
      </p:sp>
    </p:spTree>
    <p:extLst>
      <p:ext uri="{BB962C8B-B14F-4D97-AF65-F5344CB8AC3E}">
        <p14:creationId xmlns:p14="http://schemas.microsoft.com/office/powerpoint/2010/main" val="2835403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000125" y="1936750"/>
            <a:ext cx="7286625" cy="203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buClr>
                <a:schemeClr val="tx2"/>
              </a:buClr>
              <a:buFont typeface="Arial" panose="020B0604020202020204" pitchFamily="34" charset="0"/>
              <a:buNone/>
            </a:pPr>
            <a:r>
              <a:rPr lang="en-US" altLang="zh-CN" sz="26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	1E					           PUSH DS</a:t>
            </a:r>
          </a:p>
          <a:p>
            <a:pPr>
              <a:spcBef>
                <a:spcPct val="0"/>
              </a:spcBef>
              <a:buFont typeface="Arial" panose="020B0604020202020204" pitchFamily="34" charset="0"/>
              <a:buNone/>
            </a:pPr>
            <a:r>
              <a:rPr lang="en-US" altLang="zh-CN" sz="26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	2BC0				           SUB AX,AX</a:t>
            </a:r>
          </a:p>
          <a:p>
            <a:pPr>
              <a:spcBef>
                <a:spcPct val="0"/>
              </a:spcBef>
              <a:buFont typeface="Arial" panose="020B0604020202020204" pitchFamily="34" charset="0"/>
              <a:buNone/>
            </a:pPr>
            <a:r>
              <a:rPr lang="en-US" altLang="zh-CN" sz="26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	50				         	  	PUSH AX</a:t>
            </a:r>
          </a:p>
          <a:p>
            <a:pPr>
              <a:spcBef>
                <a:spcPct val="0"/>
              </a:spcBef>
              <a:buFont typeface="Arial" panose="020B0604020202020204" pitchFamily="34" charset="0"/>
              <a:buNone/>
            </a:pPr>
            <a:r>
              <a:rPr lang="en-US" altLang="zh-CN" sz="26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	B84D14			      	  	MOV AX,144DH</a:t>
            </a:r>
          </a:p>
          <a:p>
            <a:pPr>
              <a:spcBef>
                <a:spcPct val="0"/>
              </a:spcBef>
              <a:buFont typeface="Arial" panose="020B0604020202020204" pitchFamily="34" charset="0"/>
              <a:buNone/>
            </a:pPr>
            <a:r>
              <a:rPr lang="en-US" altLang="zh-CN" sz="26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	8ED8			    				MOV DS,AX </a:t>
            </a:r>
          </a:p>
        </p:txBody>
      </p:sp>
      <p:sp>
        <p:nvSpPr>
          <p:cNvPr id="3" name="TextBox 6"/>
          <p:cNvSpPr txBox="1">
            <a:spLocks noChangeArrowheads="1"/>
          </p:cNvSpPr>
          <p:nvPr/>
        </p:nvSpPr>
        <p:spPr bwMode="auto">
          <a:xfrm>
            <a:off x="5357813" y="4643438"/>
            <a:ext cx="271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a:latin typeface="楷体" panose="02010609060101010101" pitchFamily="49" charset="-122"/>
                <a:ea typeface="楷体" panose="02010609060101010101" pitchFamily="49" charset="-122"/>
              </a:rPr>
              <a:t>汇编语言</a:t>
            </a:r>
            <a:r>
              <a:rPr lang="zh-CN" altLang="en-US" sz="2800">
                <a:solidFill>
                  <a:srgbClr val="FF0066"/>
                </a:solidFill>
                <a:latin typeface="楷体" panose="02010609060101010101" pitchFamily="49" charset="-122"/>
                <a:ea typeface="楷体" panose="02010609060101010101" pitchFamily="49" charset="-122"/>
              </a:rPr>
              <a:t>源程序</a:t>
            </a:r>
          </a:p>
        </p:txBody>
      </p:sp>
      <p:sp>
        <p:nvSpPr>
          <p:cNvPr id="4" name="右箭头 7"/>
          <p:cNvSpPr>
            <a:spLocks noChangeArrowheads="1"/>
          </p:cNvSpPr>
          <p:nvPr/>
        </p:nvSpPr>
        <p:spPr bwMode="auto">
          <a:xfrm rot="10800000">
            <a:off x="3286125" y="4786313"/>
            <a:ext cx="1714500" cy="285750"/>
          </a:xfrm>
          <a:prstGeom prst="rightArrow">
            <a:avLst>
              <a:gd name="adj1" fmla="val 50000"/>
              <a:gd name="adj2" fmla="val 50000"/>
            </a:avLst>
          </a:prstGeom>
          <a:solidFill>
            <a:schemeClr val="accent1"/>
          </a:solidFill>
          <a:ln>
            <a:noFill/>
          </a:ln>
          <a:effectLst>
            <a:outerShdw dist="1796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a:solidFill>
                <a:srgbClr val="FFFF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TextBox 8"/>
          <p:cNvSpPr txBox="1">
            <a:spLocks noChangeArrowheads="1"/>
          </p:cNvSpPr>
          <p:nvPr/>
        </p:nvSpPr>
        <p:spPr bwMode="auto">
          <a:xfrm>
            <a:off x="3414713" y="5119688"/>
            <a:ext cx="144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2800">
                <a:solidFill>
                  <a:srgbClr val="FF0066"/>
                </a:solidFill>
                <a:latin typeface="楷体" panose="02010609060101010101" pitchFamily="49" charset="-122"/>
                <a:ea typeface="楷体" panose="02010609060101010101" pitchFamily="49" charset="-122"/>
              </a:rPr>
              <a:t>汇编</a:t>
            </a:r>
          </a:p>
        </p:txBody>
      </p:sp>
      <p:sp>
        <p:nvSpPr>
          <p:cNvPr id="6" name="TextBox 9"/>
          <p:cNvSpPr txBox="1">
            <a:spLocks noChangeArrowheads="1"/>
          </p:cNvSpPr>
          <p:nvPr/>
        </p:nvSpPr>
        <p:spPr bwMode="auto">
          <a:xfrm>
            <a:off x="1071563" y="4643438"/>
            <a:ext cx="1928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a:solidFill>
                  <a:srgbClr val="FF0066"/>
                </a:solidFill>
                <a:latin typeface="楷体" panose="02010609060101010101" pitchFamily="49" charset="-122"/>
                <a:ea typeface="楷体" panose="02010609060101010101" pitchFamily="49" charset="-122"/>
              </a:rPr>
              <a:t>目标文件</a:t>
            </a:r>
          </a:p>
        </p:txBody>
      </p:sp>
      <p:sp>
        <p:nvSpPr>
          <p:cNvPr id="7" name="右箭头 11"/>
          <p:cNvSpPr>
            <a:spLocks noChangeArrowheads="1"/>
          </p:cNvSpPr>
          <p:nvPr/>
        </p:nvSpPr>
        <p:spPr bwMode="auto">
          <a:xfrm rot="16200000">
            <a:off x="6429375" y="4214813"/>
            <a:ext cx="428625" cy="285750"/>
          </a:xfrm>
          <a:prstGeom prst="rightArrow">
            <a:avLst>
              <a:gd name="adj1" fmla="val 50000"/>
              <a:gd name="adj2" fmla="val 50000"/>
            </a:avLst>
          </a:prstGeom>
          <a:solidFill>
            <a:schemeClr val="accent1"/>
          </a:solidFill>
          <a:ln>
            <a:noFill/>
          </a:ln>
          <a:effectLst>
            <a:outerShdw dist="1796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a:solidFill>
                <a:srgbClr val="FFFF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8" name="右箭头 12"/>
          <p:cNvSpPr>
            <a:spLocks noChangeArrowheads="1"/>
          </p:cNvSpPr>
          <p:nvPr/>
        </p:nvSpPr>
        <p:spPr bwMode="auto">
          <a:xfrm rot="16200000">
            <a:off x="1643062" y="4286251"/>
            <a:ext cx="428625" cy="285750"/>
          </a:xfrm>
          <a:prstGeom prst="rightArrow">
            <a:avLst>
              <a:gd name="adj1" fmla="val 50000"/>
              <a:gd name="adj2" fmla="val 50000"/>
            </a:avLst>
          </a:prstGeom>
          <a:solidFill>
            <a:schemeClr val="accent1"/>
          </a:solidFill>
          <a:ln>
            <a:noFill/>
          </a:ln>
          <a:effectLst>
            <a:outerShdw dist="1796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a:solidFill>
                <a:srgbClr val="FFFF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9" name="Rectangle 10"/>
          <p:cNvSpPr>
            <a:spLocks noChangeArrowheads="1"/>
          </p:cNvSpPr>
          <p:nvPr/>
        </p:nvSpPr>
        <p:spPr bwMode="auto">
          <a:xfrm>
            <a:off x="900113" y="1289050"/>
            <a:ext cx="77251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dirty="0">
                <a:solidFill>
                  <a:srgbClr val="FF0066"/>
                </a:solidFill>
                <a:latin typeface="楷体" panose="02010609060101010101" pitchFamily="49" charset="-122"/>
                <a:ea typeface="楷体" panose="02010609060101010101" pitchFamily="49" charset="-122"/>
              </a:rPr>
              <a:t>汇编语言源程序 </a:t>
            </a:r>
            <a:r>
              <a:rPr lang="en-US" altLang="zh-CN" sz="2800" dirty="0">
                <a:solidFill>
                  <a:srgbClr val="FF0066"/>
                </a:solidFill>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用符号指令书写的程序。</a:t>
            </a:r>
          </a:p>
        </p:txBody>
      </p:sp>
    </p:spTree>
    <p:extLst>
      <p:ext uri="{BB962C8B-B14F-4D97-AF65-F5344CB8AC3E}">
        <p14:creationId xmlns:p14="http://schemas.microsoft.com/office/powerpoint/2010/main" val="2627490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p:cNvSpPr>
            <a:spLocks noChangeArrowheads="1"/>
          </p:cNvSpPr>
          <p:nvPr/>
        </p:nvSpPr>
        <p:spPr bwMode="auto">
          <a:xfrm>
            <a:off x="468312" y="1533001"/>
            <a:ext cx="82073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en-US" sz="2400" b="0" dirty="0">
                <a:solidFill>
                  <a:srgbClr val="FF0000"/>
                </a:solidFill>
                <a:latin typeface="楷体" panose="02010609060101010101" pitchFamily="49" charset="-122"/>
                <a:ea typeface="楷体" panose="02010609060101010101" pitchFamily="49" charset="-122"/>
              </a:rPr>
              <a:t>    伪指令</a:t>
            </a:r>
            <a:r>
              <a:rPr lang="zh-CN" altLang="en-US" sz="2400" b="0" dirty="0">
                <a:solidFill>
                  <a:srgbClr val="333333"/>
                </a:solidFill>
                <a:latin typeface="楷体" panose="02010609060101010101" pitchFamily="49" charset="-122"/>
                <a:ea typeface="楷体" panose="02010609060101010101" pitchFamily="49" charset="-122"/>
              </a:rPr>
              <a:t>（</a:t>
            </a:r>
            <a:r>
              <a:rPr lang="en-US" altLang="zh-CN" sz="2400" b="0" dirty="0">
                <a:solidFill>
                  <a:srgbClr val="333333"/>
                </a:solidFill>
                <a:latin typeface="楷体" panose="02010609060101010101" pitchFamily="49" charset="-122"/>
                <a:ea typeface="楷体" panose="02010609060101010101" pitchFamily="49" charset="-122"/>
              </a:rPr>
              <a:t>Pseudo instruction</a:t>
            </a:r>
            <a:r>
              <a:rPr lang="zh-CN" altLang="en-US" sz="2400" b="0" dirty="0">
                <a:solidFill>
                  <a:srgbClr val="333333"/>
                </a:solidFill>
                <a:latin typeface="楷体" panose="02010609060101010101" pitchFamily="49" charset="-122"/>
                <a:ea typeface="楷体" panose="02010609060101010101" pitchFamily="49" charset="-122"/>
              </a:rPr>
              <a:t>）是用于告诉</a:t>
            </a:r>
            <a:r>
              <a:rPr lang="zh-CN" altLang="en-US" sz="2400" b="0" dirty="0">
                <a:latin typeface="楷体" panose="02010609060101010101" pitchFamily="49" charset="-122"/>
                <a:ea typeface="楷体" panose="02010609060101010101" pitchFamily="49" charset="-122"/>
              </a:rPr>
              <a:t>汇编程序</a:t>
            </a:r>
            <a:r>
              <a:rPr lang="zh-CN" altLang="en-US" sz="2400" b="0" dirty="0">
                <a:solidFill>
                  <a:srgbClr val="333333"/>
                </a:solidFill>
                <a:latin typeface="楷体" panose="02010609060101010101" pitchFamily="49" charset="-122"/>
                <a:ea typeface="楷体" panose="02010609060101010101" pitchFamily="49" charset="-122"/>
              </a:rPr>
              <a:t>如何进行汇编的指令。它既不控制机器的操作也不被汇编成机器代码，只能为汇编程序所识别并指导汇编如何进行。</a:t>
            </a:r>
            <a:endParaRPr lang="zh-CN" altLang="en-US" sz="2400" dirty="0">
              <a:solidFill>
                <a:schemeClr val="tx2"/>
              </a:solidFill>
              <a:latin typeface="楷体" panose="02010609060101010101" pitchFamily="49" charset="-122"/>
              <a:ea typeface="楷体" panose="02010609060101010101" pitchFamily="49" charset="-122"/>
            </a:endParaRPr>
          </a:p>
        </p:txBody>
      </p:sp>
      <p:sp>
        <p:nvSpPr>
          <p:cNvPr id="3" name="矩形 4"/>
          <p:cNvSpPr>
            <a:spLocks noChangeArrowheads="1"/>
          </p:cNvSpPr>
          <p:nvPr/>
        </p:nvSpPr>
        <p:spPr bwMode="auto">
          <a:xfrm>
            <a:off x="468313" y="3878263"/>
            <a:ext cx="82073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en-US" sz="2400" b="0" dirty="0">
                <a:solidFill>
                  <a:srgbClr val="333333"/>
                </a:solidFill>
                <a:latin typeface="楷体" panose="02010609060101010101" pitchFamily="49" charset="-122"/>
                <a:ea typeface="楷体" panose="02010609060101010101" pitchFamily="49" charset="-122"/>
              </a:rPr>
              <a:t>    </a:t>
            </a:r>
            <a:r>
              <a:rPr lang="zh-CN" altLang="en-US" sz="2400" b="0" dirty="0">
                <a:solidFill>
                  <a:srgbClr val="003399"/>
                </a:solidFill>
                <a:latin typeface="楷体" panose="02010609060101010101" pitchFamily="49" charset="-122"/>
                <a:ea typeface="楷体" panose="02010609060101010101" pitchFamily="49" charset="-122"/>
              </a:rPr>
              <a:t>指令是在执行阶段发挥作用的，由</a:t>
            </a:r>
            <a:r>
              <a:rPr lang="en-US" altLang="zh-CN" sz="2400" b="0" dirty="0">
                <a:solidFill>
                  <a:srgbClr val="003399"/>
                </a:solidFill>
                <a:latin typeface="楷体" panose="02010609060101010101" pitchFamily="49" charset="-122"/>
                <a:ea typeface="楷体" panose="02010609060101010101" pitchFamily="49" charset="-122"/>
              </a:rPr>
              <a:t>CPU</a:t>
            </a:r>
            <a:r>
              <a:rPr lang="zh-CN" altLang="en-US" sz="2400" b="0" dirty="0">
                <a:solidFill>
                  <a:srgbClr val="003399"/>
                </a:solidFill>
                <a:latin typeface="楷体" panose="02010609060101010101" pitchFamily="49" charset="-122"/>
                <a:ea typeface="楷体" panose="02010609060101010101" pitchFamily="49" charset="-122"/>
              </a:rPr>
              <a:t>来执行。</a:t>
            </a:r>
          </a:p>
          <a:p>
            <a:pPr>
              <a:lnSpc>
                <a:spcPct val="150000"/>
              </a:lnSpc>
              <a:spcBef>
                <a:spcPct val="0"/>
              </a:spcBef>
              <a:buFontTx/>
              <a:buNone/>
            </a:pPr>
            <a:r>
              <a:rPr lang="zh-CN" altLang="en-US" sz="2400" b="0" dirty="0">
                <a:solidFill>
                  <a:srgbClr val="003399"/>
                </a:solidFill>
                <a:latin typeface="楷体" panose="02010609060101010101" pitchFamily="49" charset="-122"/>
                <a:ea typeface="楷体" panose="02010609060101010101" pitchFamily="49" charset="-122"/>
              </a:rPr>
              <a:t>    伪指令是在编译阶段发挥作用的，由汇编器（</a:t>
            </a:r>
            <a:r>
              <a:rPr lang="en-US" altLang="zh-CN" sz="2400" b="0" dirty="0">
                <a:solidFill>
                  <a:srgbClr val="003399"/>
                </a:solidFill>
                <a:latin typeface="楷体" panose="02010609060101010101" pitchFamily="49" charset="-122"/>
                <a:ea typeface="楷体" panose="02010609060101010101" pitchFamily="49" charset="-122"/>
              </a:rPr>
              <a:t>MASM</a:t>
            </a:r>
            <a:r>
              <a:rPr lang="zh-CN" altLang="en-US" sz="2400" b="0" dirty="0">
                <a:solidFill>
                  <a:srgbClr val="003399"/>
                </a:solidFill>
                <a:latin typeface="楷体" panose="02010609060101010101" pitchFamily="49" charset="-122"/>
                <a:ea typeface="楷体" panose="02010609060101010101" pitchFamily="49" charset="-122"/>
              </a:rPr>
              <a:t>、</a:t>
            </a:r>
            <a:r>
              <a:rPr lang="en-US" altLang="zh-CN" sz="2400" b="0" dirty="0">
                <a:solidFill>
                  <a:srgbClr val="003399"/>
                </a:solidFill>
                <a:latin typeface="楷体" panose="02010609060101010101" pitchFamily="49" charset="-122"/>
                <a:ea typeface="楷体" panose="02010609060101010101" pitchFamily="49" charset="-122"/>
              </a:rPr>
              <a:t>TASM</a:t>
            </a:r>
            <a:r>
              <a:rPr lang="zh-CN" altLang="en-US" sz="2400" b="0" dirty="0">
                <a:solidFill>
                  <a:srgbClr val="003399"/>
                </a:solidFill>
                <a:latin typeface="楷体" panose="02010609060101010101" pitchFamily="49" charset="-122"/>
                <a:ea typeface="楷体" panose="02010609060101010101" pitchFamily="49" charset="-122"/>
              </a:rPr>
              <a:t>等）来解释。</a:t>
            </a:r>
          </a:p>
        </p:txBody>
      </p:sp>
    </p:spTree>
    <p:extLst>
      <p:ext uri="{BB962C8B-B14F-4D97-AF65-F5344CB8AC3E}">
        <p14:creationId xmlns:p14="http://schemas.microsoft.com/office/powerpoint/2010/main" val="2502188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094450" y="1584972"/>
            <a:ext cx="8207375" cy="37798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buFont typeface="Arial" panose="020B0604020202020204" pitchFamily="34" charset="0"/>
              <a:buNone/>
            </a:pPr>
            <a:r>
              <a:rPr lang="zh-CN" altLang="en-US" b="1">
                <a:latin typeface="楷体" panose="02010609060101010101" pitchFamily="49" charset="-122"/>
                <a:ea typeface="楷体" panose="02010609060101010101" pitchFamily="49" charset="-122"/>
              </a:rPr>
              <a:t>学习要点</a:t>
            </a:r>
            <a:r>
              <a:rPr lang="en-US" altLang="zh-CN" b="1">
                <a:latin typeface="楷体" panose="02010609060101010101" pitchFamily="49" charset="-122"/>
                <a:ea typeface="楷体" panose="02010609060101010101" pitchFamily="49" charset="-122"/>
              </a:rPr>
              <a:t>:</a:t>
            </a:r>
          </a:p>
          <a:p>
            <a:pPr>
              <a:lnSpc>
                <a:spcPct val="150000"/>
              </a:lnSpc>
              <a:buClr>
                <a:srgbClr val="00B0F0"/>
              </a:buClr>
              <a:buSzPct val="80000"/>
              <a:buFont typeface="Wingdings" panose="05000000000000000000" pitchFamily="2" charset="2"/>
              <a:buChar char="l"/>
            </a:pPr>
            <a:r>
              <a:rPr lang="zh-CN" altLang="en-US">
                <a:latin typeface="楷体" panose="02010609060101010101" pitchFamily="49" charset="-122"/>
                <a:ea typeface="楷体" panose="02010609060101010101" pitchFamily="49" charset="-122"/>
              </a:rPr>
              <a:t>正确定义各种符号，熟练使用地址表达式</a:t>
            </a:r>
          </a:p>
          <a:p>
            <a:pPr>
              <a:lnSpc>
                <a:spcPct val="150000"/>
              </a:lnSpc>
              <a:buClr>
                <a:srgbClr val="00B0F0"/>
              </a:buClr>
              <a:buSzPct val="80000"/>
              <a:buFont typeface="Wingdings" panose="05000000000000000000" pitchFamily="2" charset="2"/>
              <a:buChar char="l"/>
            </a:pPr>
            <a:r>
              <a:rPr lang="zh-CN" altLang="en-US">
                <a:latin typeface="楷体" panose="02010609060101010101" pitchFamily="49" charset="-122"/>
                <a:ea typeface="楷体" panose="02010609060101010101" pitchFamily="49" charset="-122"/>
              </a:rPr>
              <a:t>熟练掌握符号指令的寻址方式</a:t>
            </a:r>
          </a:p>
          <a:p>
            <a:pPr>
              <a:lnSpc>
                <a:spcPct val="150000"/>
              </a:lnSpc>
              <a:buClr>
                <a:srgbClr val="00B0F0"/>
              </a:buClr>
              <a:buSzPct val="80000"/>
              <a:buFont typeface="Wingdings" panose="05000000000000000000" pitchFamily="2" charset="2"/>
              <a:buChar char="l"/>
            </a:pPr>
            <a:r>
              <a:rPr lang="zh-CN" altLang="en-US">
                <a:latin typeface="楷体" panose="02010609060101010101" pitchFamily="49" charset="-122"/>
                <a:ea typeface="楷体" panose="02010609060101010101" pitchFamily="49" charset="-122"/>
              </a:rPr>
              <a:t>掌握符号指令</a:t>
            </a:r>
          </a:p>
          <a:p>
            <a:pPr>
              <a:lnSpc>
                <a:spcPct val="150000"/>
              </a:lnSpc>
              <a:buClr>
                <a:srgbClr val="00B0F0"/>
              </a:buClr>
              <a:buSzPct val="80000"/>
              <a:buFont typeface="Wingdings" panose="05000000000000000000" pitchFamily="2" charset="2"/>
              <a:buChar char="l"/>
            </a:pPr>
            <a:r>
              <a:rPr lang="zh-CN" altLang="en-US">
                <a:latin typeface="楷体" panose="02010609060101010101" pitchFamily="49" charset="-122"/>
                <a:ea typeface="楷体" panose="02010609060101010101" pitchFamily="49" charset="-122"/>
              </a:rPr>
              <a:t>汇编语言源程序的格式</a:t>
            </a:r>
          </a:p>
        </p:txBody>
      </p:sp>
    </p:spTree>
    <p:extLst>
      <p:ext uri="{BB962C8B-B14F-4D97-AF65-F5344CB8AC3E}">
        <p14:creationId xmlns:p14="http://schemas.microsoft.com/office/powerpoint/2010/main" val="133426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7"/>
          <p:cNvGrpSpPr>
            <a:grpSpLocks/>
          </p:cNvGrpSpPr>
          <p:nvPr/>
        </p:nvGrpSpPr>
        <p:grpSpPr bwMode="auto">
          <a:xfrm>
            <a:off x="562622" y="2301675"/>
            <a:ext cx="8064500" cy="2571750"/>
            <a:chOff x="377" y="960"/>
            <a:chExt cx="5080" cy="507"/>
          </a:xfrm>
        </p:grpSpPr>
        <p:sp>
          <p:nvSpPr>
            <p:cNvPr id="3" name="AutoShape 72">
              <a:extLst>
                <a:ext uri="{FF2B5EF4-FFF2-40B4-BE49-F238E27FC236}">
                  <a16:creationId xmlns:a16="http://schemas.microsoft.com/office/drawing/2014/main" id="{B7511A88-D556-4BA0-855C-2C5780A89FD6}"/>
                </a:ext>
              </a:extLst>
            </p:cNvPr>
            <p:cNvSpPr>
              <a:spLocks noChangeArrowheads="1"/>
            </p:cNvSpPr>
            <p:nvPr/>
          </p:nvSpPr>
          <p:spPr bwMode="auto">
            <a:xfrm>
              <a:off x="384" y="973"/>
              <a:ext cx="5073" cy="494"/>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4" name="AutoShape 75"/>
            <p:cNvSpPr>
              <a:spLocks noChangeArrowheads="1"/>
            </p:cNvSpPr>
            <p:nvPr/>
          </p:nvSpPr>
          <p:spPr bwMode="auto">
            <a:xfrm>
              <a:off x="377" y="960"/>
              <a:ext cx="5068" cy="310"/>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10000"/>
                </a:lnSpc>
                <a:spcBef>
                  <a:spcPct val="0"/>
                </a:spcBef>
                <a:buClr>
                  <a:schemeClr val="accent1"/>
                </a:buClr>
                <a:buSzPct val="65000"/>
                <a:buFont typeface="Arial" panose="020B0604020202020204" pitchFamily="34" charset="0"/>
                <a:buNone/>
              </a:pPr>
              <a:r>
                <a:rPr lang="zh-CN" altLang="en-US" sz="2800" dirty="0">
                  <a:solidFill>
                    <a:schemeClr val="bg1"/>
                  </a:solidFill>
                  <a:latin typeface="楷体" panose="02010609060101010101" pitchFamily="49" charset="-122"/>
                  <a:ea typeface="楷体" panose="02010609060101010101" pitchFamily="49" charset="-122"/>
                </a:rPr>
                <a:t>    为了区别符号和数据，以字母开头的十六进制数，其前面要加一个前导</a:t>
              </a:r>
              <a:r>
                <a:rPr lang="en-US" altLang="zh-CN" sz="2800" dirty="0">
                  <a:solidFill>
                    <a:schemeClr val="bg1"/>
                  </a:solidFill>
                  <a:latin typeface="楷体" panose="02010609060101010101" pitchFamily="49" charset="-122"/>
                  <a:ea typeface="楷体" panose="02010609060101010101" pitchFamily="49" charset="-122"/>
                </a:rPr>
                <a:t>0</a:t>
              </a:r>
              <a:endParaRPr lang="zh-CN" altLang="en-US" sz="2800" dirty="0">
                <a:solidFill>
                  <a:schemeClr val="bg1"/>
                </a:solidFill>
                <a:latin typeface="楷体" panose="02010609060101010101" pitchFamily="49" charset="-122"/>
                <a:ea typeface="楷体" panose="02010609060101010101" pitchFamily="49" charset="-122"/>
              </a:endParaRPr>
            </a:p>
          </p:txBody>
        </p:sp>
      </p:grpSp>
      <p:sp>
        <p:nvSpPr>
          <p:cNvPr id="5" name="Text Box 86"/>
          <p:cNvSpPr txBox="1">
            <a:spLocks noChangeArrowheads="1"/>
          </p:cNvSpPr>
          <p:nvPr/>
        </p:nvSpPr>
        <p:spPr bwMode="auto">
          <a:xfrm>
            <a:off x="573735" y="3940110"/>
            <a:ext cx="7858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75000"/>
              </a:lnSpc>
              <a:spcBef>
                <a:spcPct val="45000"/>
              </a:spcBef>
              <a:buFont typeface="Arial" panose="020B0604020202020204" pitchFamily="34" charset="0"/>
              <a:buNone/>
            </a:pPr>
            <a:r>
              <a:rPr lang="zh-CN" altLang="en-US" sz="2800" dirty="0">
                <a:solidFill>
                  <a:srgbClr val="660066"/>
                </a:solidFill>
                <a:latin typeface="楷体" panose="02010609060101010101" pitchFamily="49" charset="-122"/>
                <a:ea typeface="楷体" panose="02010609060101010101" pitchFamily="49" charset="-122"/>
              </a:rPr>
              <a:t>如： </a:t>
            </a:r>
            <a:r>
              <a:rPr lang="en-US" altLang="zh-CN" sz="2800" dirty="0">
                <a:solidFill>
                  <a:srgbClr val="660066"/>
                </a:solidFill>
                <a:latin typeface="楷体" panose="02010609060101010101" pitchFamily="49" charset="-122"/>
                <a:ea typeface="楷体" panose="02010609060101010101" pitchFamily="49" charset="-122"/>
              </a:rPr>
              <a:t>0FFH    </a:t>
            </a:r>
            <a:r>
              <a:rPr lang="zh-CN" altLang="en-US" sz="2800" dirty="0">
                <a:solidFill>
                  <a:srgbClr val="660066"/>
                </a:solidFill>
                <a:latin typeface="楷体" panose="02010609060101010101" pitchFamily="49" charset="-122"/>
                <a:ea typeface="楷体" panose="02010609060101010101" pitchFamily="49" charset="-122"/>
              </a:rPr>
              <a:t>数据</a:t>
            </a:r>
          </a:p>
          <a:p>
            <a:pPr eaLnBrk="1" hangingPunct="1">
              <a:lnSpc>
                <a:spcPct val="75000"/>
              </a:lnSpc>
              <a:buFont typeface="Arial" panose="020B0604020202020204" pitchFamily="34" charset="0"/>
              <a:buNone/>
            </a:pPr>
            <a:r>
              <a:rPr lang="en-US" altLang="zh-CN" sz="2800" dirty="0">
                <a:solidFill>
                  <a:srgbClr val="660066"/>
                </a:solidFill>
                <a:latin typeface="楷体" panose="02010609060101010101" pitchFamily="49" charset="-122"/>
                <a:ea typeface="楷体" panose="02010609060101010101" pitchFamily="49" charset="-122"/>
              </a:rPr>
              <a:t>     FFH     </a:t>
            </a:r>
            <a:r>
              <a:rPr lang="zh-CN" altLang="en-US" sz="2800" dirty="0">
                <a:solidFill>
                  <a:srgbClr val="660066"/>
                </a:solidFill>
                <a:latin typeface="楷体" panose="02010609060101010101" pitchFamily="49" charset="-122"/>
                <a:ea typeface="楷体" panose="02010609060101010101" pitchFamily="49" charset="-122"/>
              </a:rPr>
              <a:t>符号</a:t>
            </a:r>
          </a:p>
        </p:txBody>
      </p:sp>
      <p:sp>
        <p:nvSpPr>
          <p:cNvPr id="6" name="矩形 7"/>
          <p:cNvSpPr>
            <a:spLocks noChangeArrowheads="1"/>
          </p:cNvSpPr>
          <p:nvPr/>
        </p:nvSpPr>
        <p:spPr bwMode="auto">
          <a:xfrm>
            <a:off x="491185" y="1639687"/>
            <a:ext cx="521493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800" dirty="0">
                <a:solidFill>
                  <a:srgbClr val="00B0F0"/>
                </a:solidFill>
                <a:latin typeface="楷体" panose="02010609060101010101" pitchFamily="49" charset="-122"/>
                <a:ea typeface="楷体" panose="02010609060101010101" pitchFamily="49" charset="-122"/>
              </a:rPr>
              <a:t>符号：</a:t>
            </a:r>
            <a:r>
              <a:rPr lang="zh-CN" altLang="en-US" sz="2800" dirty="0">
                <a:latin typeface="楷体" panose="02010609060101010101" pitchFamily="49" charset="-122"/>
                <a:ea typeface="楷体" panose="02010609060101010101" pitchFamily="49" charset="-122"/>
              </a:rPr>
              <a:t>以字母开头的字符。</a:t>
            </a:r>
          </a:p>
        </p:txBody>
      </p:sp>
      <p:sp>
        <p:nvSpPr>
          <p:cNvPr id="7" name="矩形 8"/>
          <p:cNvSpPr>
            <a:spLocks noChangeArrowheads="1"/>
          </p:cNvSpPr>
          <p:nvPr/>
        </p:nvSpPr>
        <p:spPr bwMode="auto">
          <a:xfrm>
            <a:off x="562622" y="5337976"/>
            <a:ext cx="7286625" cy="55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符号分为</a:t>
            </a:r>
            <a:r>
              <a:rPr lang="en-US" altLang="zh-CN" sz="2800" dirty="0">
                <a:latin typeface="楷体" panose="02010609060101010101" pitchFamily="49" charset="-122"/>
                <a:ea typeface="楷体" panose="02010609060101010101" pitchFamily="49" charset="-122"/>
              </a:rPr>
              <a:t>: </a:t>
            </a:r>
            <a:r>
              <a:rPr lang="zh-CN" altLang="en-US" sz="2800" dirty="0">
                <a:solidFill>
                  <a:srgbClr val="FF0000"/>
                </a:solidFill>
                <a:latin typeface="楷体" panose="02010609060101010101" pitchFamily="49" charset="-122"/>
                <a:ea typeface="楷体" panose="02010609060101010101" pitchFamily="49" charset="-122"/>
              </a:rPr>
              <a:t>常量、变量和标号</a:t>
            </a:r>
            <a:r>
              <a:rPr lang="zh-CN" altLang="en-US" sz="2800" dirty="0">
                <a:latin typeface="楷体" panose="02010609060101010101" pitchFamily="49" charset="-122"/>
                <a:ea typeface="楷体" panose="02010609060101010101" pitchFamily="49" charset="-122"/>
              </a:rPr>
              <a:t>三类</a:t>
            </a:r>
          </a:p>
        </p:txBody>
      </p:sp>
      <p:sp>
        <p:nvSpPr>
          <p:cNvPr id="9"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符号指令中的表达式</a:t>
            </a:r>
          </a:p>
        </p:txBody>
      </p:sp>
    </p:spTree>
    <p:extLst>
      <p:ext uri="{BB962C8B-B14F-4D97-AF65-F5344CB8AC3E}">
        <p14:creationId xmlns:p14="http://schemas.microsoft.com/office/powerpoint/2010/main" val="2632200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B3A0A490-831D-43A1-A10F-568F4C4A5E05}"/>
              </a:ext>
            </a:extLst>
          </p:cNvPr>
          <p:cNvSpPr>
            <a:spLocks noChangeArrowheads="1"/>
          </p:cNvSpPr>
          <p:nvPr/>
        </p:nvSpPr>
        <p:spPr bwMode="auto">
          <a:xfrm>
            <a:off x="609600" y="2597150"/>
            <a:ext cx="8053388" cy="2271713"/>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3" name="AutoShape 75"/>
          <p:cNvSpPr>
            <a:spLocks noChangeArrowheads="1"/>
          </p:cNvSpPr>
          <p:nvPr/>
        </p:nvSpPr>
        <p:spPr bwMode="auto">
          <a:xfrm>
            <a:off x="611188" y="2636838"/>
            <a:ext cx="8053387" cy="936625"/>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SzPct val="65000"/>
              <a:buFont typeface="Arial" panose="020B0604020202020204" pitchFamily="34" charset="0"/>
              <a:buNone/>
            </a:pPr>
            <a:r>
              <a:rPr lang="zh-CN" altLang="en-US" sz="2500" dirty="0">
                <a:solidFill>
                  <a:schemeClr val="bg1"/>
                </a:solidFill>
                <a:latin typeface="楷体" panose="02010609060101010101" pitchFamily="49" charset="-122"/>
                <a:ea typeface="楷体" panose="02010609060101010101" pitchFamily="49" charset="-122"/>
              </a:rPr>
              <a:t>数值常量的形式：</a:t>
            </a:r>
            <a:r>
              <a:rPr lang="zh-CN" altLang="en-US" sz="2500" b="0" dirty="0">
                <a:solidFill>
                  <a:schemeClr val="bg1"/>
                </a:solidFill>
                <a:latin typeface="楷体" panose="02010609060101010101" pitchFamily="49" charset="-122"/>
                <a:ea typeface="楷体" panose="02010609060101010101" pitchFamily="49" charset="-122"/>
              </a:rPr>
              <a:t>二进制数、十进制</a:t>
            </a:r>
            <a:r>
              <a:rPr lang="zh-CN" altLang="zh-CN" sz="2500" b="0" dirty="0">
                <a:solidFill>
                  <a:schemeClr val="bg1"/>
                </a:solidFill>
                <a:latin typeface="楷体" panose="02010609060101010101" pitchFamily="49" charset="-122"/>
                <a:ea typeface="楷体" panose="02010609060101010101" pitchFamily="49" charset="-122"/>
              </a:rPr>
              <a:t>数</a:t>
            </a:r>
            <a:r>
              <a:rPr lang="zh-CN" altLang="en-US" sz="2500" b="0" dirty="0">
                <a:solidFill>
                  <a:schemeClr val="bg1"/>
                </a:solidFill>
                <a:latin typeface="楷体" panose="02010609060101010101" pitchFamily="49" charset="-122"/>
                <a:ea typeface="楷体" panose="02010609060101010101" pitchFamily="49" charset="-122"/>
              </a:rPr>
              <a:t>、十六进制</a:t>
            </a:r>
            <a:r>
              <a:rPr lang="zh-CN" altLang="zh-CN" sz="2500" b="0" dirty="0">
                <a:solidFill>
                  <a:schemeClr val="bg1"/>
                </a:solidFill>
                <a:latin typeface="楷体" panose="02010609060101010101" pitchFamily="49" charset="-122"/>
                <a:ea typeface="楷体" panose="02010609060101010101" pitchFamily="49" charset="-122"/>
              </a:rPr>
              <a:t>数</a:t>
            </a:r>
            <a:r>
              <a:rPr lang="zh-CN" altLang="en-US" sz="2500" b="0" dirty="0">
                <a:solidFill>
                  <a:schemeClr val="bg1"/>
                </a:solidFill>
                <a:latin typeface="楷体" panose="02010609060101010101" pitchFamily="49" charset="-122"/>
                <a:ea typeface="楷体" panose="02010609060101010101" pitchFamily="49" charset="-122"/>
              </a:rPr>
              <a:t>和</a:t>
            </a:r>
            <a:r>
              <a:rPr lang="en-US" altLang="zh-CN" sz="2500" b="0" dirty="0">
                <a:solidFill>
                  <a:srgbClr val="FF0000"/>
                </a:solidFill>
                <a:latin typeface="楷体" panose="02010609060101010101" pitchFamily="49" charset="-122"/>
                <a:ea typeface="楷体" panose="02010609060101010101" pitchFamily="49" charset="-122"/>
              </a:rPr>
              <a:t>ASCII</a:t>
            </a:r>
            <a:r>
              <a:rPr lang="zh-CN" altLang="en-US" sz="2500" b="0" dirty="0">
                <a:solidFill>
                  <a:srgbClr val="FF0000"/>
                </a:solidFill>
                <a:latin typeface="楷体" panose="02010609060101010101" pitchFamily="49" charset="-122"/>
                <a:ea typeface="楷体" panose="02010609060101010101" pitchFamily="49" charset="-122"/>
              </a:rPr>
              <a:t>字符</a:t>
            </a:r>
            <a:r>
              <a:rPr lang="zh-CN" altLang="en-US" sz="2500" b="0" dirty="0">
                <a:solidFill>
                  <a:srgbClr val="003399"/>
                </a:solidFill>
                <a:latin typeface="楷体" panose="02010609060101010101" pitchFamily="49" charset="-122"/>
                <a:ea typeface="楷体" panose="02010609060101010101" pitchFamily="49" charset="-122"/>
              </a:rPr>
              <a:t>（</a:t>
            </a:r>
            <a:r>
              <a:rPr lang="en-US" altLang="zh-CN" sz="2500" b="0" dirty="0">
                <a:solidFill>
                  <a:srgbClr val="003399"/>
                </a:solidFill>
                <a:latin typeface="楷体" panose="02010609060101010101" pitchFamily="49" charset="-122"/>
                <a:ea typeface="楷体" panose="02010609060101010101" pitchFamily="49" charset="-122"/>
              </a:rPr>
              <a:t> ASCII</a:t>
            </a:r>
            <a:r>
              <a:rPr lang="zh-CN" altLang="en-US" sz="2500" b="0" dirty="0">
                <a:solidFill>
                  <a:srgbClr val="003399"/>
                </a:solidFill>
                <a:latin typeface="楷体" panose="02010609060101010101" pitchFamily="49" charset="-122"/>
                <a:ea typeface="楷体" panose="02010609060101010101" pitchFamily="49" charset="-122"/>
              </a:rPr>
              <a:t>字符做数值常量时，需加单引号）</a:t>
            </a:r>
          </a:p>
        </p:txBody>
      </p:sp>
      <p:sp>
        <p:nvSpPr>
          <p:cNvPr id="4" name="Text Box 86"/>
          <p:cNvSpPr txBox="1">
            <a:spLocks noChangeArrowheads="1"/>
          </p:cNvSpPr>
          <p:nvPr/>
        </p:nvSpPr>
        <p:spPr bwMode="auto">
          <a:xfrm>
            <a:off x="684213" y="4076700"/>
            <a:ext cx="78581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25000"/>
              </a:lnSpc>
              <a:spcBef>
                <a:spcPct val="40000"/>
              </a:spcBef>
              <a:buClr>
                <a:schemeClr val="tx2"/>
              </a:buClr>
              <a:buNone/>
            </a:pPr>
            <a:r>
              <a:rPr lang="zh-CN" altLang="en-US" sz="2400" dirty="0">
                <a:solidFill>
                  <a:srgbClr val="660066"/>
                </a:solidFill>
                <a:latin typeface="楷体" panose="02010609060101010101" pitchFamily="49" charset="-122"/>
                <a:ea typeface="楷体" panose="02010609060101010101" pitchFamily="49" charset="-122"/>
              </a:rPr>
              <a:t>如： </a:t>
            </a:r>
            <a:r>
              <a:rPr lang="en-US" altLang="zh-CN" sz="2400" dirty="0">
                <a:solidFill>
                  <a:srgbClr val="660066"/>
                </a:solidFill>
                <a:latin typeface="楷体" panose="02010609060101010101" pitchFamily="49" charset="-122"/>
                <a:ea typeface="楷体" panose="02010609060101010101" pitchFamily="49" charset="-122"/>
              </a:rPr>
              <a:t>1010B</a:t>
            </a:r>
            <a:r>
              <a:rPr lang="zh-CN" altLang="en-US"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660066"/>
                </a:solidFill>
                <a:latin typeface="楷体" panose="02010609060101010101" pitchFamily="49" charset="-122"/>
                <a:ea typeface="楷体" panose="02010609060101010101" pitchFamily="49" charset="-122"/>
              </a:rPr>
              <a:t>10D</a:t>
            </a:r>
            <a:r>
              <a:rPr lang="zh-CN" altLang="en-US"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660066"/>
                </a:solidFill>
                <a:latin typeface="楷体" panose="02010609060101010101" pitchFamily="49" charset="-122"/>
                <a:ea typeface="楷体" panose="02010609060101010101" pitchFamily="49" charset="-122"/>
              </a:rPr>
              <a:t>0AH</a:t>
            </a:r>
            <a:r>
              <a:rPr lang="zh-CN" altLang="en-US"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660066"/>
                </a:solidFill>
                <a:latin typeface="+mn-lt"/>
                <a:ea typeface="楷体" panose="02010609060101010101" pitchFamily="49" charset="-122"/>
              </a:rPr>
              <a:t>’</a:t>
            </a:r>
            <a:r>
              <a:rPr lang="en-US" altLang="zh-CN" sz="2400" dirty="0">
                <a:solidFill>
                  <a:srgbClr val="660066"/>
                </a:solidFill>
                <a:latin typeface="楷体" panose="02010609060101010101" pitchFamily="49" charset="-122"/>
                <a:ea typeface="楷体" panose="02010609060101010101" pitchFamily="49" charset="-122"/>
              </a:rPr>
              <a:t>A</a:t>
            </a:r>
            <a:r>
              <a:rPr lang="en-US" altLang="zh-CN" sz="2400" dirty="0">
                <a:solidFill>
                  <a:srgbClr val="660066"/>
                </a:solidFill>
                <a:ea typeface="楷体" panose="02010609060101010101" pitchFamily="49" charset="-122"/>
              </a:rPr>
              <a:t>’</a:t>
            </a:r>
            <a:r>
              <a:rPr lang="en-US" altLang="zh-CN" sz="2400" dirty="0">
                <a:solidFill>
                  <a:srgbClr val="660066"/>
                </a:solidFill>
                <a:latin typeface="楷体" panose="02010609060101010101" pitchFamily="49" charset="-122"/>
                <a:ea typeface="楷体" panose="02010609060101010101" pitchFamily="49" charset="-122"/>
              </a:rPr>
              <a:t>, </a:t>
            </a:r>
            <a:r>
              <a:rPr lang="en-US" altLang="zh-CN" sz="2400" dirty="0">
                <a:solidFill>
                  <a:srgbClr val="660066"/>
                </a:solidFill>
                <a:ea typeface="楷体" panose="02010609060101010101" pitchFamily="49" charset="-122"/>
              </a:rPr>
              <a:t> ’</a:t>
            </a:r>
            <a:r>
              <a:rPr lang="en-US" altLang="zh-CN"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660066"/>
                </a:solidFill>
                <a:ea typeface="楷体" panose="02010609060101010101" pitchFamily="49" charset="-122"/>
              </a:rPr>
              <a:t>’</a:t>
            </a:r>
            <a:r>
              <a:rPr lang="en-US" altLang="zh-CN"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C00000"/>
                </a:solidFill>
                <a:latin typeface="楷体" panose="02010609060101010101" pitchFamily="49" charset="-122"/>
                <a:ea typeface="楷体" panose="02010609060101010101" pitchFamily="49" charset="-122"/>
              </a:rPr>
              <a:t> </a:t>
            </a:r>
            <a:r>
              <a:rPr lang="en-US" altLang="zh-CN" sz="2400" dirty="0">
                <a:solidFill>
                  <a:srgbClr val="C00000"/>
                </a:solidFill>
                <a:ea typeface="楷体" panose="02010609060101010101" pitchFamily="49" charset="-122"/>
              </a:rPr>
              <a:t> ’</a:t>
            </a:r>
            <a:r>
              <a:rPr lang="en-US" altLang="zh-CN" sz="2400" dirty="0">
                <a:solidFill>
                  <a:srgbClr val="C00000"/>
                </a:solidFill>
                <a:latin typeface="楷体" panose="02010609060101010101" pitchFamily="49" charset="-122"/>
                <a:ea typeface="楷体" panose="02010609060101010101" pitchFamily="49" charset="-122"/>
              </a:rPr>
              <a:t>,</a:t>
            </a:r>
            <a:r>
              <a:rPr lang="en-US" altLang="zh-CN" sz="2400" dirty="0">
                <a:solidFill>
                  <a:srgbClr val="C00000"/>
                </a:solidFill>
                <a:ea typeface="楷体" panose="02010609060101010101" pitchFamily="49" charset="-122"/>
              </a:rPr>
              <a:t> ’ </a:t>
            </a:r>
            <a:r>
              <a:rPr lang="en-US" altLang="zh-CN" sz="2400" dirty="0">
                <a:solidFill>
                  <a:srgbClr val="660066"/>
                </a:solidFill>
                <a:ea typeface="楷体" panose="02010609060101010101" pitchFamily="49" charset="-122"/>
              </a:rPr>
              <a:t> </a:t>
            </a:r>
            <a:r>
              <a:rPr lang="en-US" altLang="zh-CN" sz="2400" dirty="0">
                <a:solidFill>
                  <a:srgbClr val="660066"/>
                </a:solidFill>
                <a:latin typeface="楷体" panose="02010609060101010101" pitchFamily="49" charset="-122"/>
                <a:ea typeface="楷体" panose="02010609060101010101" pitchFamily="49" charset="-122"/>
              </a:rPr>
              <a:t>,</a:t>
            </a:r>
            <a:r>
              <a:rPr lang="en-US" altLang="zh-CN" sz="2400" dirty="0">
                <a:solidFill>
                  <a:srgbClr val="660066"/>
                </a:solidFill>
                <a:ea typeface="楷体" panose="02010609060101010101" pitchFamily="49" charset="-122"/>
              </a:rPr>
              <a:t> ’</a:t>
            </a:r>
            <a:r>
              <a:rPr lang="en-US" altLang="zh-CN" sz="2400" dirty="0">
                <a:solidFill>
                  <a:srgbClr val="660066"/>
                </a:solidFill>
                <a:latin typeface="楷体" panose="02010609060101010101" pitchFamily="49" charset="-122"/>
                <a:ea typeface="楷体" panose="02010609060101010101" pitchFamily="49" charset="-122"/>
              </a:rPr>
              <a:t>ABC</a:t>
            </a:r>
            <a:r>
              <a:rPr lang="en-US" altLang="zh-CN" sz="2400" dirty="0">
                <a:solidFill>
                  <a:srgbClr val="660066"/>
                </a:solidFill>
                <a:ea typeface="楷体" panose="02010609060101010101" pitchFamily="49" charset="-122"/>
              </a:rPr>
              <a:t>’</a:t>
            </a:r>
            <a:endParaRPr lang="en-US" altLang="zh-CN" sz="2400" dirty="0">
              <a:solidFill>
                <a:srgbClr val="660066"/>
              </a:solidFill>
              <a:latin typeface="楷体" panose="02010609060101010101" pitchFamily="49" charset="-122"/>
              <a:ea typeface="楷体" panose="02010609060101010101" pitchFamily="49" charset="-122"/>
            </a:endParaRPr>
          </a:p>
        </p:txBody>
      </p:sp>
      <p:sp>
        <p:nvSpPr>
          <p:cNvPr id="5" name="矩形 7"/>
          <p:cNvSpPr>
            <a:spLocks noChangeArrowheads="1"/>
          </p:cNvSpPr>
          <p:nvPr/>
        </p:nvSpPr>
        <p:spPr bwMode="auto">
          <a:xfrm>
            <a:off x="500063" y="1283914"/>
            <a:ext cx="610936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en-US" altLang="zh-CN" sz="2800" dirty="0">
                <a:solidFill>
                  <a:srgbClr val="FF0000"/>
                </a:solidFill>
                <a:latin typeface="楷体" panose="02010609060101010101" pitchFamily="49" charset="-122"/>
                <a:ea typeface="楷体" panose="02010609060101010101" pitchFamily="49" charset="-122"/>
              </a:rPr>
              <a:t>1.</a:t>
            </a:r>
            <a:r>
              <a:rPr lang="zh-CN" altLang="en-US" sz="2800" dirty="0">
                <a:solidFill>
                  <a:srgbClr val="FF0000"/>
                </a:solidFill>
                <a:latin typeface="楷体" panose="02010609060101010101" pitchFamily="49" charset="-122"/>
                <a:ea typeface="楷体" panose="02010609060101010101" pitchFamily="49" charset="-122"/>
              </a:rPr>
              <a:t>常量 </a:t>
            </a:r>
            <a:r>
              <a:rPr lang="en-US" altLang="zh-CN" sz="2800" dirty="0">
                <a:latin typeface="楷体" panose="02010609060101010101" pitchFamily="49" charset="-122"/>
                <a:ea typeface="楷体" panose="02010609060101010101" pitchFamily="49" charset="-122"/>
              </a:rPr>
              <a:t>: </a:t>
            </a:r>
            <a:r>
              <a:rPr lang="zh-CN" altLang="en-US" sz="2800" b="0" dirty="0">
                <a:latin typeface="楷体" panose="02010609060101010101" pitchFamily="49" charset="-122"/>
                <a:ea typeface="楷体" panose="02010609060101010101" pitchFamily="49" charset="-122"/>
              </a:rPr>
              <a:t>在汇编时已有确定数值的量</a:t>
            </a:r>
          </a:p>
        </p:txBody>
      </p:sp>
      <p:sp>
        <p:nvSpPr>
          <p:cNvPr id="7" name="矩形 10"/>
          <p:cNvSpPr>
            <a:spLocks noChangeArrowheads="1"/>
          </p:cNvSpPr>
          <p:nvPr/>
        </p:nvSpPr>
        <p:spPr bwMode="auto">
          <a:xfrm>
            <a:off x="214313" y="2000250"/>
            <a:ext cx="87153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800" dirty="0">
                <a:solidFill>
                  <a:srgbClr val="00B0F0"/>
                </a:solidFill>
                <a:latin typeface="楷体" panose="02010609060101010101" pitchFamily="49" charset="-122"/>
                <a:ea typeface="楷体" panose="02010609060101010101" pitchFamily="49" charset="-122"/>
              </a:rPr>
              <a:t>（</a:t>
            </a:r>
            <a:r>
              <a:rPr lang="en-US" altLang="zh-CN" sz="2800" dirty="0">
                <a:solidFill>
                  <a:srgbClr val="00B0F0"/>
                </a:solidFill>
                <a:latin typeface="楷体" panose="02010609060101010101" pitchFamily="49" charset="-122"/>
                <a:ea typeface="楷体" panose="02010609060101010101" pitchFamily="49" charset="-122"/>
              </a:rPr>
              <a:t>1</a:t>
            </a:r>
            <a:r>
              <a:rPr lang="zh-CN" altLang="en-US" sz="2800" dirty="0">
                <a:solidFill>
                  <a:srgbClr val="00B0F0"/>
                </a:solidFill>
                <a:latin typeface="楷体" panose="02010609060101010101" pitchFamily="49" charset="-122"/>
                <a:ea typeface="楷体" panose="02010609060101010101" pitchFamily="49" charset="-122"/>
              </a:rPr>
              <a:t>）数值常量</a:t>
            </a:r>
            <a:r>
              <a:rPr lang="zh-CN" altLang="en-US" sz="2800" dirty="0">
                <a:latin typeface="楷体" panose="02010609060101010101" pitchFamily="49" charset="-122"/>
                <a:ea typeface="楷体" panose="02010609060101010101" pitchFamily="49" charset="-122"/>
              </a:rPr>
              <a:t>：</a:t>
            </a:r>
            <a:r>
              <a:rPr lang="zh-CN" altLang="en-US" sz="2800" b="0" dirty="0">
                <a:latin typeface="楷体" panose="02010609060101010101" pitchFamily="49" charset="-122"/>
                <a:ea typeface="楷体" panose="02010609060101010101" pitchFamily="49" charset="-122"/>
              </a:rPr>
              <a:t>以数值形式出现在符号指令中的常量</a:t>
            </a:r>
          </a:p>
        </p:txBody>
      </p:sp>
      <p:sp>
        <p:nvSpPr>
          <p:cNvPr id="8" name="矩形 10"/>
          <p:cNvSpPr>
            <a:spLocks noChangeArrowheads="1"/>
          </p:cNvSpPr>
          <p:nvPr/>
        </p:nvSpPr>
        <p:spPr bwMode="auto">
          <a:xfrm>
            <a:off x="684213" y="5273506"/>
            <a:ext cx="7978775"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eaLnBrk="1" hangingPunct="1">
              <a:lnSpc>
                <a:spcPct val="90000"/>
              </a:lnSpc>
              <a:buClr>
                <a:schemeClr val="tx2"/>
              </a:buClr>
              <a:buFont typeface="Arial" panose="020B0604020202020204" pitchFamily="34" charset="0"/>
              <a:buNone/>
            </a:pPr>
            <a:r>
              <a:rPr lang="en-US" altLang="zh-CN" sz="2400" dirty="0">
                <a:solidFill>
                  <a:srgbClr val="FF0000"/>
                </a:solidFill>
                <a:latin typeface="楷体" panose="02010609060101010101" pitchFamily="49" charset="-122"/>
                <a:ea typeface="楷体" panose="02010609060101010101" pitchFamily="49" charset="-122"/>
              </a:rPr>
              <a:t>ASCII</a:t>
            </a:r>
            <a:r>
              <a:rPr lang="zh-CN" altLang="en-US" sz="2400" dirty="0">
                <a:solidFill>
                  <a:srgbClr val="FF0000"/>
                </a:solidFill>
                <a:latin typeface="楷体" panose="02010609060101010101" pitchFamily="49" charset="-122"/>
                <a:ea typeface="楷体" panose="02010609060101010101" pitchFamily="49" charset="-122"/>
              </a:rPr>
              <a:t>字符</a:t>
            </a:r>
            <a:r>
              <a:rPr lang="zh-CN" altLang="en-US" sz="240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是基于拉丁字母的一套（单字节）编码系统，解决了以数字形式表示文本的问题，主要用于显示现代英语和其他西欧语言。</a:t>
            </a:r>
          </a:p>
        </p:txBody>
      </p:sp>
      <p:sp>
        <p:nvSpPr>
          <p:cNvPr id="9"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常量和数值表达式</a:t>
            </a:r>
          </a:p>
        </p:txBody>
      </p:sp>
    </p:spTree>
    <p:extLst>
      <p:ext uri="{BB962C8B-B14F-4D97-AF65-F5344CB8AC3E}">
        <p14:creationId xmlns:p14="http://schemas.microsoft.com/office/powerpoint/2010/main" val="3591998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97"/>
          <p:cNvGrpSpPr>
            <a:grpSpLocks/>
          </p:cNvGrpSpPr>
          <p:nvPr/>
        </p:nvGrpSpPr>
        <p:grpSpPr bwMode="auto">
          <a:xfrm>
            <a:off x="623364" y="3119205"/>
            <a:ext cx="8064500" cy="2144713"/>
            <a:chOff x="377" y="960"/>
            <a:chExt cx="5080" cy="503"/>
          </a:xfrm>
        </p:grpSpPr>
        <p:sp>
          <p:nvSpPr>
            <p:cNvPr id="4" name="AutoShape 72">
              <a:extLst>
                <a:ext uri="{FF2B5EF4-FFF2-40B4-BE49-F238E27FC236}">
                  <a16:creationId xmlns:a16="http://schemas.microsoft.com/office/drawing/2014/main" id="{880677A8-E3C0-4835-AA33-0C56CDC181AF}"/>
                </a:ext>
              </a:extLst>
            </p:cNvPr>
            <p:cNvSpPr>
              <a:spLocks noChangeArrowheads="1"/>
            </p:cNvSpPr>
            <p:nvPr/>
          </p:nvSpPr>
          <p:spPr bwMode="auto">
            <a:xfrm>
              <a:off x="384" y="973"/>
              <a:ext cx="5073" cy="490"/>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5" name="AutoShape 75"/>
            <p:cNvSpPr>
              <a:spLocks noChangeArrowheads="1"/>
            </p:cNvSpPr>
            <p:nvPr/>
          </p:nvSpPr>
          <p:spPr bwMode="auto">
            <a:xfrm>
              <a:off x="377" y="960"/>
              <a:ext cx="5068" cy="205"/>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buClr>
                  <a:schemeClr val="tx2"/>
                </a:buClr>
                <a:buNone/>
              </a:pPr>
              <a:r>
                <a:rPr lang="zh-CN" altLang="en-US" sz="2800" dirty="0">
                  <a:solidFill>
                    <a:schemeClr val="bg1"/>
                  </a:solidFill>
                  <a:latin typeface="楷体" panose="02010609060101010101" pitchFamily="49" charset="-122"/>
                  <a:ea typeface="楷体" panose="02010609060101010101" pitchFamily="49" charset="-122"/>
                </a:rPr>
                <a:t>符号常量用“</a:t>
              </a:r>
              <a:r>
                <a:rPr lang="en-US" altLang="zh-CN" sz="2800" dirty="0">
                  <a:solidFill>
                    <a:srgbClr val="FF0066"/>
                  </a:solidFill>
                  <a:latin typeface="楷体" panose="02010609060101010101" pitchFamily="49" charset="-122"/>
                  <a:ea typeface="楷体" panose="02010609060101010101" pitchFamily="49" charset="-122"/>
                </a:rPr>
                <a:t>EQU</a:t>
              </a:r>
              <a:r>
                <a:rPr lang="zh-CN" altLang="en-US" sz="2800" dirty="0">
                  <a:solidFill>
                    <a:schemeClr val="bg1"/>
                  </a:solidFill>
                  <a:latin typeface="楷体" panose="02010609060101010101" pitchFamily="49" charset="-122"/>
                  <a:ea typeface="楷体" panose="02010609060101010101" pitchFamily="49" charset="-122"/>
                </a:rPr>
                <a:t>”或“</a:t>
              </a:r>
              <a:r>
                <a:rPr lang="zh-CN" altLang="en-US" sz="2800" dirty="0">
                  <a:solidFill>
                    <a:srgbClr val="FF0066"/>
                  </a:solidFill>
                  <a:latin typeface="楷体" panose="02010609060101010101" pitchFamily="49" charset="-122"/>
                  <a:ea typeface="楷体" panose="02010609060101010101" pitchFamily="49" charset="-122"/>
                </a:rPr>
                <a:t>＝</a:t>
              </a:r>
              <a:r>
                <a:rPr lang="zh-CN" altLang="en-US" sz="2800" dirty="0">
                  <a:solidFill>
                    <a:schemeClr val="bg1"/>
                  </a:solidFill>
                  <a:latin typeface="楷体" panose="02010609060101010101" pitchFamily="49" charset="-122"/>
                  <a:ea typeface="楷体" panose="02010609060101010101" pitchFamily="49" charset="-122"/>
                </a:rPr>
                <a:t>”伪指令定义，如：</a:t>
              </a:r>
            </a:p>
          </p:txBody>
        </p:sp>
      </p:grpSp>
      <p:sp>
        <p:nvSpPr>
          <p:cNvPr id="6" name="Text Box 86"/>
          <p:cNvSpPr txBox="1">
            <a:spLocks noChangeArrowheads="1"/>
          </p:cNvSpPr>
          <p:nvPr/>
        </p:nvSpPr>
        <p:spPr bwMode="auto">
          <a:xfrm>
            <a:off x="636064" y="4117743"/>
            <a:ext cx="7858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Wingdings 2" panose="05020102010507070707" pitchFamily="18" charset="2"/>
              <a:buNone/>
            </a:pPr>
            <a:r>
              <a:rPr lang="en-US" altLang="zh-CN" sz="2800">
                <a:solidFill>
                  <a:srgbClr val="660066"/>
                </a:solidFill>
                <a:latin typeface="楷体" panose="02010609060101010101" pitchFamily="49" charset="-122"/>
                <a:ea typeface="楷体" panose="02010609060101010101" pitchFamily="49" charset="-122"/>
              </a:rPr>
              <a:t>    P EQU 314</a:t>
            </a:r>
          </a:p>
          <a:p>
            <a:pPr eaLnBrk="1" hangingPunct="1">
              <a:lnSpc>
                <a:spcPct val="90000"/>
              </a:lnSpc>
              <a:buClr>
                <a:schemeClr val="tx2"/>
              </a:buClr>
              <a:buFont typeface="Wingdings 2" panose="05020102010507070707" pitchFamily="18" charset="2"/>
              <a:buNone/>
            </a:pPr>
            <a:r>
              <a:rPr lang="en-US" altLang="zh-CN" sz="2800">
                <a:solidFill>
                  <a:srgbClr val="660066"/>
                </a:solidFill>
                <a:latin typeface="楷体" panose="02010609060101010101" pitchFamily="49" charset="-122"/>
                <a:ea typeface="楷体" panose="02010609060101010101" pitchFamily="49" charset="-122"/>
              </a:rPr>
              <a:t>    P=314</a:t>
            </a:r>
          </a:p>
        </p:txBody>
      </p:sp>
      <p:sp>
        <p:nvSpPr>
          <p:cNvPr id="7" name="矩形 8"/>
          <p:cNvSpPr>
            <a:spLocks noChangeArrowheads="1"/>
          </p:cNvSpPr>
          <p:nvPr/>
        </p:nvSpPr>
        <p:spPr bwMode="auto">
          <a:xfrm>
            <a:off x="493189" y="5492518"/>
            <a:ext cx="8135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a:solidFill>
                  <a:srgbClr val="FF0000"/>
                </a:solidFill>
                <a:latin typeface="楷体" panose="02010609060101010101" pitchFamily="49" charset="-122"/>
                <a:ea typeface="楷体" panose="02010609060101010101" pitchFamily="49" charset="-122"/>
              </a:rPr>
              <a:t>注：汇编时，汇编程序不给符号常量分配存储单元</a:t>
            </a:r>
          </a:p>
        </p:txBody>
      </p:sp>
      <p:sp>
        <p:nvSpPr>
          <p:cNvPr id="8" name="矩形 10"/>
          <p:cNvSpPr>
            <a:spLocks noChangeArrowheads="1"/>
          </p:cNvSpPr>
          <p:nvPr/>
        </p:nvSpPr>
        <p:spPr bwMode="auto">
          <a:xfrm>
            <a:off x="339451" y="1260370"/>
            <a:ext cx="842565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20000"/>
              </a:spcBef>
              <a:buClr>
                <a:schemeClr val="tx2"/>
              </a:buClr>
              <a:buFont typeface="Arial" panose="020B0604020202020204" pitchFamily="34" charset="0"/>
              <a:buNone/>
            </a:pPr>
            <a:r>
              <a:rPr lang="zh-CN" altLang="en-US" sz="2800" dirty="0">
                <a:solidFill>
                  <a:srgbClr val="00B0F0"/>
                </a:solidFill>
                <a:latin typeface="楷体" panose="02010609060101010101" pitchFamily="49" charset="-122"/>
                <a:ea typeface="楷体" panose="02010609060101010101" pitchFamily="49" charset="-122"/>
              </a:rPr>
              <a:t>（</a:t>
            </a:r>
            <a:r>
              <a:rPr lang="en-US" altLang="zh-CN" sz="2800" dirty="0">
                <a:solidFill>
                  <a:srgbClr val="00B0F0"/>
                </a:solidFill>
                <a:latin typeface="楷体" panose="02010609060101010101" pitchFamily="49" charset="-122"/>
                <a:ea typeface="楷体" panose="02010609060101010101" pitchFamily="49" charset="-122"/>
              </a:rPr>
              <a:t>2</a:t>
            </a:r>
            <a:r>
              <a:rPr lang="zh-CN" altLang="en-US" sz="2800" dirty="0">
                <a:solidFill>
                  <a:srgbClr val="00B0F0"/>
                </a:solidFill>
                <a:latin typeface="楷体" panose="02010609060101010101" pitchFamily="49" charset="-122"/>
                <a:ea typeface="楷体" panose="02010609060101010101" pitchFamily="49" charset="-122"/>
              </a:rPr>
              <a:t>）符号常量：</a:t>
            </a:r>
            <a:r>
              <a:rPr lang="zh-CN" altLang="en-US" sz="2800" dirty="0">
                <a:latin typeface="楷体" panose="02010609060101010101" pitchFamily="49" charset="-122"/>
                <a:ea typeface="楷体" panose="02010609060101010101" pitchFamily="49" charset="-122"/>
              </a:rPr>
              <a:t>程序中为经常使用的数值定义一个名字，然后用该名字来表示该常量。</a:t>
            </a:r>
          </a:p>
        </p:txBody>
      </p:sp>
      <p:sp>
        <p:nvSpPr>
          <p:cNvPr id="9"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常量和数值表达式</a:t>
            </a:r>
          </a:p>
        </p:txBody>
      </p:sp>
    </p:spTree>
    <p:extLst>
      <p:ext uri="{BB962C8B-B14F-4D97-AF65-F5344CB8AC3E}">
        <p14:creationId xmlns:p14="http://schemas.microsoft.com/office/powerpoint/2010/main" val="1522546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7"/>
          <p:cNvSpPr>
            <a:spLocks noChangeArrowheads="1"/>
          </p:cNvSpPr>
          <p:nvPr/>
        </p:nvSpPr>
        <p:spPr bwMode="auto">
          <a:xfrm>
            <a:off x="413043" y="1338726"/>
            <a:ext cx="8248650" cy="1877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Aft>
                <a:spcPts val="1200"/>
              </a:spcAft>
              <a:buClr>
                <a:schemeClr val="tx2"/>
              </a:buClr>
              <a:buFont typeface="Arial" panose="020B0604020202020204" pitchFamily="34" charset="0"/>
              <a:buNone/>
            </a:pPr>
            <a:r>
              <a:rPr lang="en-US" altLang="zh-CN" sz="2800" dirty="0">
                <a:solidFill>
                  <a:srgbClr val="FF0000"/>
                </a:solidFill>
                <a:latin typeface="楷体" panose="02010609060101010101" pitchFamily="49" charset="-122"/>
                <a:ea typeface="楷体" panose="02010609060101010101" pitchFamily="49" charset="-122"/>
              </a:rPr>
              <a:t>2.</a:t>
            </a:r>
            <a:r>
              <a:rPr lang="zh-CN" altLang="en-US" sz="2800" dirty="0">
                <a:solidFill>
                  <a:srgbClr val="FF0000"/>
                </a:solidFill>
                <a:latin typeface="楷体" panose="02010609060101010101" pitchFamily="49" charset="-122"/>
                <a:ea typeface="楷体" panose="02010609060101010101" pitchFamily="49" charset="-122"/>
              </a:rPr>
              <a:t>数值表达式</a:t>
            </a:r>
            <a:endParaRPr lang="en-US" altLang="zh-CN" sz="2800" dirty="0">
              <a:solidFill>
                <a:srgbClr val="FF0000"/>
              </a:solidFill>
              <a:latin typeface="楷体" panose="02010609060101010101" pitchFamily="49" charset="-122"/>
              <a:ea typeface="楷体" panose="02010609060101010101" pitchFamily="49" charset="-122"/>
            </a:endParaRPr>
          </a:p>
          <a:p>
            <a:pPr eaLnBrk="1" hangingPunct="1">
              <a:lnSpc>
                <a:spcPct val="150000"/>
              </a:lnSpc>
              <a:buClr>
                <a:schemeClr val="tx2"/>
              </a:buClr>
              <a:buFont typeface="Arial" panose="020B0604020202020204" pitchFamily="34" charset="0"/>
              <a:buNone/>
            </a:pPr>
            <a:r>
              <a:rPr lang="zh-CN" altLang="en-US" sz="2800" dirty="0">
                <a:solidFill>
                  <a:srgbClr val="00B0F0"/>
                </a:solidFill>
                <a:latin typeface="楷体" panose="02010609060101010101" pitchFamily="49" charset="-122"/>
                <a:ea typeface="楷体" panose="02010609060101010101" pitchFamily="49" charset="-122"/>
              </a:rPr>
              <a:t>    </a:t>
            </a:r>
            <a:r>
              <a:rPr lang="zh-CN" altLang="en-US" sz="2400" dirty="0">
                <a:solidFill>
                  <a:srgbClr val="00B0F0"/>
                </a:solidFill>
                <a:latin typeface="楷体" panose="02010609060101010101" pitchFamily="49" charset="-122"/>
                <a:ea typeface="楷体" panose="02010609060101010101" pitchFamily="49" charset="-122"/>
              </a:rPr>
              <a:t>定义：</a:t>
            </a:r>
            <a:r>
              <a:rPr lang="zh-CN" altLang="en-US" sz="2400" b="0" dirty="0">
                <a:latin typeface="楷体" panose="02010609060101010101" pitchFamily="49" charset="-122"/>
                <a:ea typeface="楷体" panose="02010609060101010101" pitchFamily="49" charset="-122"/>
              </a:rPr>
              <a:t>由常量与（三类）运算符组成的（有意义的）式子，结果为一数值。</a:t>
            </a:r>
          </a:p>
        </p:txBody>
      </p:sp>
      <p:sp>
        <p:nvSpPr>
          <p:cNvPr id="4" name="矩形 11"/>
          <p:cNvSpPr>
            <a:spLocks noChangeArrowheads="1"/>
          </p:cNvSpPr>
          <p:nvPr/>
        </p:nvSpPr>
        <p:spPr bwMode="auto">
          <a:xfrm>
            <a:off x="413043" y="3506794"/>
            <a:ext cx="8491259" cy="281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chemeClr val="tx2"/>
              </a:buClr>
              <a:buFont typeface="Wingdings 2" panose="05020102010507070707" pitchFamily="18" charset="2"/>
              <a:buNone/>
            </a:pPr>
            <a:r>
              <a:rPr lang="zh-CN" altLang="en-US" sz="2600" dirty="0">
                <a:latin typeface="楷体" panose="02010609060101010101" pitchFamily="49" charset="-122"/>
                <a:ea typeface="楷体" panose="02010609060101010101" pitchFamily="49" charset="-122"/>
              </a:rPr>
              <a:t>    在汇编语言源程序中，允许对常量进行以下三种类型的运算：</a:t>
            </a:r>
          </a:p>
          <a:p>
            <a:pPr eaLnBrk="1" hangingPunct="1">
              <a:buClr>
                <a:schemeClr val="tx2"/>
              </a:buClr>
              <a:buFont typeface="Wingdings 2" panose="05020102010507070707" pitchFamily="18" charset="2"/>
              <a:buNone/>
            </a:pP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1</a:t>
            </a:r>
            <a:r>
              <a:rPr lang="zh-CN" altLang="en-US" sz="2600" dirty="0">
                <a:latin typeface="楷体" panose="02010609060101010101" pitchFamily="49" charset="-122"/>
                <a:ea typeface="楷体" panose="02010609060101010101" pitchFamily="49" charset="-122"/>
              </a:rPr>
              <a:t>）算术运算 ：</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MOD</a:t>
            </a:r>
            <a:r>
              <a:rPr lang="zh-CN" altLang="en-US" sz="2600" b="0" dirty="0">
                <a:latin typeface="楷体" panose="02010609060101010101" pitchFamily="49" charset="-122"/>
                <a:ea typeface="楷体" panose="02010609060101010101" pitchFamily="49" charset="-122"/>
              </a:rPr>
              <a:t>（求余）</a:t>
            </a:r>
          </a:p>
          <a:p>
            <a:pPr eaLnBrk="1" hangingPunct="1">
              <a:buClr>
                <a:schemeClr val="tx2"/>
              </a:buClr>
              <a:buFont typeface="Wingdings 2" panose="05020102010507070707" pitchFamily="18" charset="2"/>
              <a:buNone/>
            </a:pP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2</a:t>
            </a:r>
            <a:r>
              <a:rPr lang="zh-CN" altLang="en-US" sz="2600" dirty="0">
                <a:latin typeface="楷体" panose="02010609060101010101" pitchFamily="49" charset="-122"/>
                <a:ea typeface="楷体" panose="02010609060101010101" pitchFamily="49" charset="-122"/>
              </a:rPr>
              <a:t>）逻辑运算 ：</a:t>
            </a:r>
            <a:r>
              <a:rPr lang="en-US" altLang="zh-CN" sz="2600" b="0" dirty="0">
                <a:latin typeface="楷体" panose="02010609060101010101" pitchFamily="49" charset="-122"/>
                <a:ea typeface="楷体" panose="02010609060101010101" pitchFamily="49" charset="-122"/>
              </a:rPr>
              <a:t>AND</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OR</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XOR</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NOT</a:t>
            </a:r>
          </a:p>
          <a:p>
            <a:pPr eaLnBrk="1" hangingPunct="1">
              <a:buClr>
                <a:schemeClr val="tx2"/>
              </a:buClr>
              <a:buFont typeface="Wingdings" panose="05000000000000000000" pitchFamily="2" charset="2"/>
              <a:buNone/>
            </a:pP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3</a:t>
            </a:r>
            <a:r>
              <a:rPr lang="zh-CN" altLang="en-US" sz="2600" dirty="0">
                <a:latin typeface="楷体" panose="02010609060101010101" pitchFamily="49" charset="-122"/>
                <a:ea typeface="楷体" panose="02010609060101010101" pitchFamily="49" charset="-122"/>
              </a:rPr>
              <a:t>）关系运算 ：</a:t>
            </a:r>
            <a:r>
              <a:rPr lang="en-US" altLang="zh-CN" sz="2600" b="0" dirty="0">
                <a:latin typeface="楷体" panose="02010609060101010101" pitchFamily="49" charset="-122"/>
                <a:ea typeface="楷体" panose="02010609060101010101" pitchFamily="49" charset="-122"/>
              </a:rPr>
              <a:t>EQ</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NE</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LT</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GT</a:t>
            </a:r>
          </a:p>
          <a:p>
            <a:pPr eaLnBrk="1" hangingPunct="1">
              <a:buClr>
                <a:schemeClr val="tx2"/>
              </a:buClr>
              <a:buFont typeface="Wingdings" panose="05000000000000000000" pitchFamily="2" charset="2"/>
              <a:buNone/>
            </a:pPr>
            <a:r>
              <a:rPr lang="en-US" altLang="zh-CN" sz="2600" dirty="0">
                <a:latin typeface="楷体" panose="02010609060101010101" pitchFamily="49" charset="-122"/>
                <a:ea typeface="楷体" panose="02010609060101010101" pitchFamily="49" charset="-122"/>
              </a:rPr>
              <a:t>   </a:t>
            </a:r>
            <a:r>
              <a:rPr lang="en-US" altLang="zh-CN" sz="2600" b="0" dirty="0">
                <a:latin typeface="楷体" panose="02010609060101010101" pitchFamily="49" charset="-122"/>
                <a:ea typeface="楷体" panose="02010609060101010101" pitchFamily="49" charset="-122"/>
              </a:rPr>
              <a:t> </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LE</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GE</a:t>
            </a:r>
            <a:r>
              <a:rPr lang="zh-CN" altLang="en-US" sz="2600" b="0" dirty="0">
                <a:latin typeface="楷体" panose="02010609060101010101" pitchFamily="49" charset="-122"/>
                <a:ea typeface="楷体" panose="02010609060101010101" pitchFamily="49" charset="-122"/>
              </a:rPr>
              <a:t>（≥）</a:t>
            </a:r>
          </a:p>
        </p:txBody>
      </p:sp>
      <p:sp>
        <p:nvSpPr>
          <p:cNvPr id="5"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常量和数值表达式</a:t>
            </a:r>
          </a:p>
        </p:txBody>
      </p:sp>
    </p:spTree>
    <p:extLst>
      <p:ext uri="{BB962C8B-B14F-4D97-AF65-F5344CB8AC3E}">
        <p14:creationId xmlns:p14="http://schemas.microsoft.com/office/powerpoint/2010/main" val="2784049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11286" y="2552330"/>
            <a:ext cx="8732713"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标号的</a:t>
            </a:r>
            <a:r>
              <a:rPr lang="zh-CN" altLang="en-US" sz="2400" dirty="0">
                <a:solidFill>
                  <a:srgbClr val="FF0066"/>
                </a:solidFill>
                <a:latin typeface="楷体" panose="02010609060101010101" pitchFamily="49" charset="-122"/>
                <a:ea typeface="楷体" panose="02010609060101010101" pitchFamily="49" charset="-122"/>
              </a:rPr>
              <a:t>三个属性</a:t>
            </a:r>
          </a:p>
          <a:p>
            <a:pPr>
              <a:lnSpc>
                <a:spcPct val="150000"/>
              </a:lnSpc>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200" dirty="0">
                <a:solidFill>
                  <a:srgbClr val="FF0000"/>
                </a:solidFill>
                <a:latin typeface="楷体" panose="02010609060101010101" pitchFamily="49" charset="-122"/>
                <a:ea typeface="楷体" panose="02010609060101010101" pitchFamily="49" charset="-122"/>
              </a:rPr>
              <a:t>（</a:t>
            </a:r>
            <a:r>
              <a:rPr lang="en-US" altLang="zh-CN" sz="2200" dirty="0">
                <a:solidFill>
                  <a:srgbClr val="FF0000"/>
                </a:solidFill>
                <a:latin typeface="楷体" panose="02010609060101010101" pitchFamily="49" charset="-122"/>
                <a:ea typeface="楷体" panose="02010609060101010101" pitchFamily="49" charset="-122"/>
              </a:rPr>
              <a:t>1</a:t>
            </a:r>
            <a:r>
              <a:rPr lang="zh-CN" altLang="en-US" sz="2200" dirty="0">
                <a:solidFill>
                  <a:srgbClr val="FF0000"/>
                </a:solidFill>
                <a:latin typeface="楷体" panose="02010609060101010101" pitchFamily="49" charset="-122"/>
                <a:ea typeface="楷体" panose="02010609060101010101" pitchFamily="49" charset="-122"/>
              </a:rPr>
              <a:t>）段基址：</a:t>
            </a:r>
            <a:r>
              <a:rPr lang="zh-CN" altLang="en-US" sz="2200" dirty="0">
                <a:latin typeface="楷体" panose="02010609060101010101" pitchFamily="49" charset="-122"/>
                <a:ea typeface="楷体" panose="02010609060101010101" pitchFamily="49" charset="-122"/>
              </a:rPr>
              <a:t>定义该标号所在段的起始地址，段首址的高</a:t>
            </a:r>
            <a:r>
              <a:rPr lang="en-US" altLang="zh-CN" sz="2200" dirty="0">
                <a:latin typeface="楷体" panose="02010609060101010101" pitchFamily="49" charset="-122"/>
                <a:ea typeface="楷体" panose="02010609060101010101" pitchFamily="49" charset="-122"/>
              </a:rPr>
              <a:t>16</a:t>
            </a:r>
            <a:r>
              <a:rPr lang="zh-CN" altLang="en-US" sz="2200" dirty="0">
                <a:latin typeface="楷体" panose="02010609060101010101" pitchFamily="49" charset="-122"/>
                <a:ea typeface="楷体" panose="02010609060101010101" pitchFamily="49" charset="-122"/>
              </a:rPr>
              <a:t>位</a:t>
            </a:r>
          </a:p>
          <a:p>
            <a:pPr>
              <a:lnSpc>
                <a:spcPct val="150000"/>
              </a:lnSpc>
              <a:buFont typeface="Wingdings 2" panose="05020102010507070707" pitchFamily="18" charset="2"/>
              <a:buNone/>
            </a:pPr>
            <a:r>
              <a:rPr lang="zh-CN" altLang="en-US" sz="2200" dirty="0">
                <a:latin typeface="楷体" panose="02010609060101010101" pitchFamily="49" charset="-122"/>
                <a:ea typeface="楷体" panose="02010609060101010101" pitchFamily="49" charset="-122"/>
              </a:rPr>
              <a:t>  </a:t>
            </a:r>
            <a:r>
              <a:rPr lang="zh-CN" altLang="en-US" sz="2200" dirty="0">
                <a:solidFill>
                  <a:srgbClr val="FF0000"/>
                </a:solidFill>
                <a:latin typeface="楷体" panose="02010609060101010101" pitchFamily="49" charset="-122"/>
                <a:ea typeface="楷体" panose="02010609060101010101" pitchFamily="49" charset="-122"/>
              </a:rPr>
              <a:t>（</a:t>
            </a:r>
            <a:r>
              <a:rPr lang="en-US" altLang="zh-CN" sz="2200" dirty="0">
                <a:solidFill>
                  <a:srgbClr val="FF0000"/>
                </a:solidFill>
                <a:latin typeface="楷体" panose="02010609060101010101" pitchFamily="49" charset="-122"/>
                <a:ea typeface="楷体" panose="02010609060101010101" pitchFamily="49" charset="-122"/>
              </a:rPr>
              <a:t>2</a:t>
            </a:r>
            <a:r>
              <a:rPr lang="zh-CN" altLang="en-US" sz="2200" dirty="0">
                <a:solidFill>
                  <a:srgbClr val="FF0000"/>
                </a:solidFill>
                <a:latin typeface="楷体" panose="02010609060101010101" pitchFamily="49" charset="-122"/>
                <a:ea typeface="楷体" panose="02010609060101010101" pitchFamily="49" charset="-122"/>
              </a:rPr>
              <a:t>）偏移地址</a:t>
            </a:r>
            <a:r>
              <a:rPr lang="en-US" altLang="zh-CN" sz="2200" dirty="0">
                <a:solidFill>
                  <a:srgbClr val="FF0000"/>
                </a:solidFill>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标号所在段的段基址到该标号定义指令的字节距离</a:t>
            </a:r>
          </a:p>
          <a:p>
            <a:pPr>
              <a:lnSpc>
                <a:spcPct val="150000"/>
              </a:lnSpc>
              <a:buFont typeface="Wingdings 2" panose="05020102010507070707" pitchFamily="18" charset="2"/>
              <a:buNone/>
            </a:pPr>
            <a:r>
              <a:rPr lang="zh-CN" altLang="en-US" sz="2200" dirty="0">
                <a:latin typeface="楷体" panose="02010609060101010101" pitchFamily="49" charset="-122"/>
                <a:ea typeface="楷体" panose="02010609060101010101" pitchFamily="49" charset="-122"/>
              </a:rPr>
              <a:t>  </a:t>
            </a:r>
            <a:r>
              <a:rPr lang="zh-CN" altLang="en-US" sz="2200" dirty="0">
                <a:solidFill>
                  <a:srgbClr val="FF0000"/>
                </a:solidFill>
                <a:latin typeface="楷体" panose="02010609060101010101" pitchFamily="49" charset="-122"/>
                <a:ea typeface="楷体" panose="02010609060101010101" pitchFamily="49" charset="-122"/>
              </a:rPr>
              <a:t>（</a:t>
            </a:r>
            <a:r>
              <a:rPr lang="en-US" altLang="zh-CN" sz="2200" dirty="0">
                <a:solidFill>
                  <a:srgbClr val="FF0000"/>
                </a:solidFill>
                <a:latin typeface="楷体" panose="02010609060101010101" pitchFamily="49" charset="-122"/>
                <a:ea typeface="楷体" panose="02010609060101010101" pitchFamily="49" charset="-122"/>
              </a:rPr>
              <a:t>3</a:t>
            </a:r>
            <a:r>
              <a:rPr lang="zh-CN" altLang="en-US" sz="2200" dirty="0">
                <a:solidFill>
                  <a:srgbClr val="FF0000"/>
                </a:solidFill>
                <a:latin typeface="楷体" panose="02010609060101010101" pitchFamily="49" charset="-122"/>
                <a:ea typeface="楷体" panose="02010609060101010101" pitchFamily="49" charset="-122"/>
              </a:rPr>
              <a:t>）类型：</a:t>
            </a:r>
            <a:r>
              <a:rPr lang="en-US" altLang="zh-CN" sz="2200" dirty="0">
                <a:latin typeface="楷体" panose="02010609060101010101" pitchFamily="49" charset="-122"/>
                <a:ea typeface="楷体" panose="02010609060101010101" pitchFamily="49" charset="-122"/>
              </a:rPr>
              <a:t>NEAR</a:t>
            </a:r>
            <a:r>
              <a:rPr lang="zh-CN" altLang="en-US" sz="2200" dirty="0">
                <a:latin typeface="楷体" panose="02010609060101010101" pitchFamily="49" charset="-122"/>
                <a:ea typeface="楷体" panose="02010609060101010101" pitchFamily="49" charset="-122"/>
              </a:rPr>
              <a:t>和</a:t>
            </a:r>
            <a:r>
              <a:rPr lang="en-US" altLang="zh-CN" sz="2200" dirty="0">
                <a:latin typeface="楷体" panose="02010609060101010101" pitchFamily="49" charset="-122"/>
                <a:ea typeface="楷体" panose="02010609060101010101" pitchFamily="49" charset="-122"/>
              </a:rPr>
              <a:t>FAR</a:t>
            </a:r>
            <a:r>
              <a:rPr lang="zh-CN" altLang="en-US" sz="2200" dirty="0">
                <a:latin typeface="楷体" panose="02010609060101010101" pitchFamily="49" charset="-122"/>
                <a:ea typeface="楷体" panose="02010609060101010101" pitchFamily="49" charset="-122"/>
              </a:rPr>
              <a:t>两种</a:t>
            </a:r>
          </a:p>
          <a:p>
            <a:pPr>
              <a:lnSpc>
                <a:spcPct val="150000"/>
              </a:lnSpc>
              <a:buFont typeface="Wingdings 2" panose="05020102010507070707" pitchFamily="18" charset="2"/>
              <a:buNone/>
            </a:pPr>
            <a:r>
              <a:rPr lang="zh-CN" altLang="en-US" sz="2200" dirty="0">
                <a:latin typeface="楷体" panose="02010609060101010101" pitchFamily="49" charset="-122"/>
                <a:ea typeface="楷体" panose="02010609060101010101" pitchFamily="49" charset="-122"/>
              </a:rPr>
              <a:t>       </a:t>
            </a:r>
            <a:r>
              <a:rPr lang="en-US" altLang="zh-CN" sz="2200" dirty="0">
                <a:latin typeface="楷体" panose="02010609060101010101" pitchFamily="49" charset="-122"/>
                <a:ea typeface="楷体" panose="02010609060101010101" pitchFamily="49" charset="-122"/>
              </a:rPr>
              <a:t>NEAR—</a:t>
            </a:r>
            <a:r>
              <a:rPr lang="zh-CN" altLang="en-US" sz="2200" dirty="0">
                <a:latin typeface="楷体" panose="02010609060101010101" pitchFamily="49" charset="-122"/>
                <a:ea typeface="楷体" panose="02010609060101010101" pitchFamily="49" charset="-122"/>
              </a:rPr>
              <a:t>只能在定义该标号的段内调用，</a:t>
            </a:r>
            <a:r>
              <a:rPr lang="en-US" altLang="zh-CN" sz="2200" dirty="0">
                <a:latin typeface="楷体" panose="02010609060101010101" pitchFamily="49" charset="-122"/>
                <a:ea typeface="楷体" panose="02010609060101010101" pitchFamily="49" charset="-122"/>
              </a:rPr>
              <a:t>FAR—</a:t>
            </a:r>
            <a:r>
              <a:rPr lang="zh-CN" altLang="en-US" sz="2200" dirty="0">
                <a:latin typeface="楷体" panose="02010609060101010101" pitchFamily="49" charset="-122"/>
                <a:ea typeface="楷体" panose="02010609060101010101" pitchFamily="49" charset="-122"/>
              </a:rPr>
              <a:t>可段间调</a:t>
            </a:r>
            <a:r>
              <a:rPr lang="zh-CN" altLang="en-US" sz="2400" dirty="0">
                <a:latin typeface="楷体" panose="02010609060101010101" pitchFamily="49" charset="-122"/>
                <a:ea typeface="楷体" panose="02010609060101010101" pitchFamily="49" charset="-122"/>
              </a:rPr>
              <a:t>用</a:t>
            </a:r>
            <a:endParaRPr lang="en-US" altLang="zh-CN" sz="2400" dirty="0">
              <a:latin typeface="楷体" panose="02010609060101010101" pitchFamily="49" charset="-122"/>
              <a:ea typeface="楷体" panose="02010609060101010101" pitchFamily="49" charset="-122"/>
            </a:endParaRPr>
          </a:p>
        </p:txBody>
      </p:sp>
      <p:sp>
        <p:nvSpPr>
          <p:cNvPr id="4" name="矩形 3"/>
          <p:cNvSpPr>
            <a:spLocks noChangeArrowheads="1"/>
          </p:cNvSpPr>
          <p:nvPr/>
        </p:nvSpPr>
        <p:spPr bwMode="auto">
          <a:xfrm>
            <a:off x="411287" y="1243137"/>
            <a:ext cx="843915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dirty="0">
                <a:solidFill>
                  <a:srgbClr val="003399"/>
                </a:solidFill>
                <a:latin typeface="楷体" panose="02010609060101010101" pitchFamily="49" charset="-122"/>
                <a:ea typeface="楷体" panose="02010609060101010101" pitchFamily="49" charset="-122"/>
              </a:rPr>
              <a:t>标号：</a:t>
            </a:r>
            <a:r>
              <a:rPr lang="zh-CN" altLang="en-US" sz="2400" dirty="0">
                <a:solidFill>
                  <a:srgbClr val="FF0000"/>
                </a:solidFill>
                <a:latin typeface="楷体" panose="02010609060101010101" pitchFamily="49" charset="-122"/>
                <a:ea typeface="楷体" panose="02010609060101010101" pitchFamily="49" charset="-122"/>
              </a:rPr>
              <a:t>指令地址的符号表示。</a:t>
            </a:r>
            <a:r>
              <a:rPr lang="zh-CN" altLang="en-US" sz="2400" dirty="0">
                <a:latin typeface="楷体" panose="02010609060101010101" pitchFamily="49" charset="-122"/>
                <a:ea typeface="楷体" panose="02010609060101010101" pitchFamily="49" charset="-122"/>
              </a:rPr>
              <a:t>标号只在代码段中定义和使用，代表指令的地址。</a:t>
            </a:r>
          </a:p>
        </p:txBody>
      </p:sp>
      <p:sp>
        <p:nvSpPr>
          <p:cNvPr id="5"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7.1.2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标号</a:t>
            </a:r>
          </a:p>
        </p:txBody>
      </p:sp>
    </p:spTree>
    <p:extLst>
      <p:ext uri="{BB962C8B-B14F-4D97-AF65-F5344CB8AC3E}">
        <p14:creationId xmlns:p14="http://schemas.microsoft.com/office/powerpoint/2010/main" val="524539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3"/>
          <p:cNvSpPr>
            <a:spLocks noChangeArrowheads="1"/>
          </p:cNvSpPr>
          <p:nvPr/>
        </p:nvSpPr>
        <p:spPr bwMode="auto">
          <a:xfrm>
            <a:off x="382157" y="1291409"/>
            <a:ext cx="8628679" cy="523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spcAft>
                <a:spcPts val="1200"/>
              </a:spcAft>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标号的</a:t>
            </a:r>
            <a:r>
              <a:rPr lang="zh-CN" altLang="en-US" sz="2400" dirty="0">
                <a:solidFill>
                  <a:srgbClr val="FF0000"/>
                </a:solidFill>
                <a:latin typeface="楷体" panose="02010609060101010101" pitchFamily="49" charset="-122"/>
                <a:ea typeface="楷体" panose="02010609060101010101" pitchFamily="49" charset="-122"/>
              </a:rPr>
              <a:t>定义方式</a:t>
            </a:r>
            <a:r>
              <a:rPr lang="zh-CN" altLang="en-US" sz="2400" dirty="0">
                <a:solidFill>
                  <a:schemeClr val="tx2"/>
                </a:solidFill>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）用</a:t>
            </a:r>
            <a:r>
              <a:rPr lang="zh-CN" altLang="en-US" sz="2400" dirty="0">
                <a:solidFill>
                  <a:srgbClr val="FF000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定义，书写在指令助记符前，定义的标号为</a:t>
            </a:r>
            <a:r>
              <a:rPr lang="en-US" altLang="zh-CN" sz="2400" dirty="0">
                <a:latin typeface="楷体" panose="02010609060101010101" pitchFamily="49" charset="-122"/>
                <a:ea typeface="楷体" panose="02010609060101010101" pitchFamily="49" charset="-122"/>
              </a:rPr>
              <a:t>NEAR</a:t>
            </a:r>
            <a:r>
              <a:rPr lang="zh-CN" altLang="en-US" sz="2400" dirty="0">
                <a:latin typeface="楷体" panose="02010609060101010101" pitchFamily="49" charset="-122"/>
                <a:ea typeface="楷体" panose="02010609060101010101" pitchFamily="49" charset="-122"/>
              </a:rPr>
              <a:t>类型， </a:t>
            </a:r>
            <a:r>
              <a:rPr lang="en-US" altLang="zh-CN" sz="2400" dirty="0">
                <a:latin typeface="楷体" panose="02010609060101010101" pitchFamily="49" charset="-122"/>
                <a:ea typeface="楷体" panose="02010609060101010101" pitchFamily="49" charset="-122"/>
              </a:rPr>
              <a:t>NEAR</a:t>
            </a:r>
            <a:r>
              <a:rPr lang="zh-CN" altLang="en-US" sz="2400" dirty="0">
                <a:latin typeface="楷体" panose="02010609060101010101" pitchFamily="49" charset="-122"/>
                <a:ea typeface="楷体" panose="02010609060101010101" pitchFamily="49" charset="-122"/>
              </a:rPr>
              <a:t>型标号只能在段内使用！</a:t>
            </a:r>
          </a:p>
          <a:p>
            <a:pPr eaLnBrk="1" hangingPunct="1">
              <a:lnSpc>
                <a:spcPct val="150000"/>
              </a:lnSpc>
              <a:spcBef>
                <a:spcPct val="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  </a:t>
            </a:r>
            <a:r>
              <a:rPr lang="en-US" altLang="zh-CN" sz="2400" dirty="0">
                <a:solidFill>
                  <a:srgbClr val="000099"/>
                </a:solidFill>
                <a:latin typeface="楷体" panose="02010609060101010101" pitchFamily="49" charset="-122"/>
                <a:ea typeface="楷体" panose="02010609060101010101" pitchFamily="49" charset="-122"/>
              </a:rPr>
              <a:t>CYCLE</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MOV AL</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[SI]  </a:t>
            </a:r>
            <a:r>
              <a:rPr lang="zh-CN" altLang="en-US" sz="2400" dirty="0">
                <a:latin typeface="楷体" panose="02010609060101010101" pitchFamily="49" charset="-122"/>
                <a:ea typeface="楷体" panose="02010609060101010101" pitchFamily="49" charset="-122"/>
              </a:rPr>
              <a:t>；定义近标号</a:t>
            </a:r>
            <a:r>
              <a:rPr lang="en-US" altLang="zh-CN" sz="2400" dirty="0">
                <a:latin typeface="楷体" panose="02010609060101010101" pitchFamily="49" charset="-122"/>
                <a:ea typeface="楷体" panose="02010609060101010101" pitchFamily="49" charset="-122"/>
              </a:rPr>
              <a:t>CYCLE</a:t>
            </a:r>
          </a:p>
          <a:p>
            <a:pPr eaLnBrk="1" hangingPunct="1">
              <a:lnSpc>
                <a:spcPct val="150000"/>
              </a:lnSpc>
              <a:spcBef>
                <a:spcPct val="0"/>
              </a:spcBef>
              <a:buFont typeface="Arial" panose="020B0604020202020204" pitchFamily="34" charset="0"/>
              <a:buNone/>
            </a:pPr>
            <a:endParaRPr lang="en-US" altLang="zh-CN" sz="2400" dirty="0">
              <a:solidFill>
                <a:srgbClr val="000099"/>
              </a:solidFill>
              <a:latin typeface="楷体" panose="02010609060101010101" pitchFamily="49" charset="-122"/>
              <a:ea typeface="楷体" panose="02010609060101010101" pitchFamily="49" charset="-122"/>
            </a:endParaRPr>
          </a:p>
          <a:p>
            <a:pPr eaLnBrk="1" hangingPunct="1">
              <a:lnSpc>
                <a:spcPct val="150000"/>
              </a:lnSpc>
              <a:spcBef>
                <a:spcPct val="0"/>
              </a:spcBef>
              <a:buClr>
                <a:schemeClr val="tx2"/>
              </a:buClr>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）用</a:t>
            </a:r>
            <a:r>
              <a:rPr lang="en-US" altLang="zh-CN" sz="2400" dirty="0">
                <a:solidFill>
                  <a:srgbClr val="FF0000"/>
                </a:solidFill>
                <a:latin typeface="楷体" panose="02010609060101010101" pitchFamily="49" charset="-122"/>
                <a:ea typeface="楷体" panose="02010609060101010101" pitchFamily="49" charset="-122"/>
              </a:rPr>
              <a:t>PROC</a:t>
            </a:r>
            <a:r>
              <a:rPr lang="zh-CN" altLang="en-US" sz="2400" dirty="0">
                <a:latin typeface="楷体" panose="02010609060101010101" pitchFamily="49" charset="-122"/>
                <a:ea typeface="楷体" panose="02010609060101010101" pitchFamily="49" charset="-122"/>
              </a:rPr>
              <a:t>和</a:t>
            </a:r>
            <a:r>
              <a:rPr lang="en-US" altLang="zh-CN" sz="2400" dirty="0">
                <a:solidFill>
                  <a:srgbClr val="FF0000"/>
                </a:solidFill>
                <a:latin typeface="楷体" panose="02010609060101010101" pitchFamily="49" charset="-122"/>
                <a:ea typeface="楷体" panose="02010609060101010101" pitchFamily="49" charset="-122"/>
              </a:rPr>
              <a:t>ENDP</a:t>
            </a:r>
            <a:r>
              <a:rPr lang="zh-CN" altLang="en-US" sz="2400" dirty="0">
                <a:latin typeface="楷体" panose="02010609060101010101" pitchFamily="49" charset="-122"/>
                <a:ea typeface="楷体" panose="02010609060101010101" pitchFamily="49" charset="-122"/>
              </a:rPr>
              <a:t>伪指令定义过程</a:t>
            </a:r>
            <a:endParaRPr lang="en-US" altLang="zh-CN" sz="2400" dirty="0">
              <a:latin typeface="楷体" panose="02010609060101010101" pitchFamily="49" charset="-122"/>
              <a:ea typeface="楷体" panose="02010609060101010101" pitchFamily="49" charset="-122"/>
            </a:endParaRPr>
          </a:p>
          <a:p>
            <a:pPr eaLnBrk="1" hangingPunct="1">
              <a:lnSpc>
                <a:spcPct val="150000"/>
              </a:lnSpc>
              <a:spcBef>
                <a:spcPct val="0"/>
              </a:spcBef>
              <a:buClr>
                <a:schemeClr val="tx2"/>
              </a:buClr>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ABC  PROC  FAR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定义过程名</a:t>
            </a:r>
            <a:r>
              <a:rPr lang="en-US" altLang="zh-CN" sz="2400" dirty="0">
                <a:latin typeface="楷体" panose="02010609060101010101" pitchFamily="49" charset="-122"/>
                <a:ea typeface="楷体" panose="02010609060101010101" pitchFamily="49" charset="-122"/>
              </a:rPr>
              <a:t>ABC</a:t>
            </a:r>
            <a:r>
              <a:rPr lang="zh-CN" altLang="en-US" sz="2400" dirty="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FAR</a:t>
            </a:r>
            <a:r>
              <a:rPr lang="zh-CN" altLang="en-US" sz="2400" dirty="0">
                <a:latin typeface="楷体" panose="02010609060101010101" pitchFamily="49" charset="-122"/>
                <a:ea typeface="楷体" panose="02010609060101010101" pitchFamily="49" charset="-122"/>
              </a:rPr>
              <a:t>型标号</a:t>
            </a:r>
          </a:p>
          <a:p>
            <a:pPr eaLnBrk="1" hangingPunct="1">
              <a:lnSpc>
                <a:spcPct val="150000"/>
              </a:lnSpc>
              <a:spcBef>
                <a:spcPct val="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en-US" altLang="zh-CN" sz="2400" dirty="0">
                <a:solidFill>
                  <a:srgbClr val="000099"/>
                </a:solidFill>
                <a:latin typeface="楷体" panose="02010609060101010101" pitchFamily="49" charset="-122"/>
                <a:ea typeface="楷体" panose="02010609060101010101" pitchFamily="49" charset="-122"/>
              </a:rPr>
              <a:t>    ABC  ENDP</a:t>
            </a:r>
          </a:p>
        </p:txBody>
      </p:sp>
      <p:pic>
        <p:nvPicPr>
          <p:cNvPr id="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5197" y="5507531"/>
            <a:ext cx="1143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7.1.2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标号</a:t>
            </a:r>
          </a:p>
        </p:txBody>
      </p:sp>
    </p:spTree>
    <p:extLst>
      <p:ext uri="{BB962C8B-B14F-4D97-AF65-F5344CB8AC3E}">
        <p14:creationId xmlns:p14="http://schemas.microsoft.com/office/powerpoint/2010/main" val="3079640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433634" y="2062776"/>
            <a:ext cx="817770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eaLnBrk="1" hangingPunct="1">
              <a:lnSpc>
                <a:spcPct val="150000"/>
              </a:lnSpc>
              <a:spcBef>
                <a:spcPct val="0"/>
              </a:spcBef>
              <a:buClr>
                <a:srgbClr val="00B0F0"/>
              </a:buClr>
              <a:buSzPct val="80000"/>
              <a:buFont typeface="Wingdings" panose="05000000000000000000" pitchFamily="2" charset="2"/>
              <a:buNone/>
            </a:pPr>
            <a:r>
              <a:rPr lang="zh-CN" altLang="en-US" sz="2400" dirty="0">
                <a:solidFill>
                  <a:srgbClr val="003399"/>
                </a:solidFill>
                <a:latin typeface="楷体" panose="02010609060101010101" pitchFamily="49" charset="-122"/>
                <a:ea typeface="楷体" panose="02010609060101010101" pitchFamily="49" charset="-122"/>
              </a:rPr>
              <a:t>在汇编中都使用变量和地址表达式来表示存储器的地址。</a:t>
            </a:r>
          </a:p>
          <a:p>
            <a:pPr marL="0" indent="0" eaLnBrk="1" hangingPunct="1">
              <a:lnSpc>
                <a:spcPct val="150000"/>
              </a:lnSpc>
              <a:spcBef>
                <a:spcPct val="0"/>
              </a:spcBef>
              <a:buClr>
                <a:srgbClr val="00B0F0"/>
              </a:buClr>
              <a:buSzPct val="80000"/>
              <a:buFont typeface="Wingdings" panose="05000000000000000000" pitchFamily="2" charset="2"/>
              <a:buNone/>
            </a:pPr>
            <a:r>
              <a:rPr lang="zh-CN" altLang="en-US" sz="2400" dirty="0">
                <a:solidFill>
                  <a:srgbClr val="FF0000"/>
                </a:solidFill>
                <a:latin typeface="楷体" panose="02010609060101010101" pitchFamily="49" charset="-122"/>
                <a:ea typeface="楷体" panose="02010609060101010101" pitchFamily="49" charset="-122"/>
              </a:rPr>
              <a:t>变量：</a:t>
            </a:r>
            <a:r>
              <a:rPr lang="zh-CN" altLang="en-US" sz="2400" dirty="0">
                <a:latin typeface="楷体" panose="02010609060101010101" pitchFamily="49" charset="-122"/>
                <a:ea typeface="楷体" panose="02010609060101010101" pitchFamily="49" charset="-122"/>
              </a:rPr>
              <a:t>是存储器中的数据或数据区的符号表示。变量名是数据的地址或数据区的首地址。</a:t>
            </a:r>
            <a:endParaRPr lang="en-US" altLang="zh-CN" sz="2400" dirty="0">
              <a:latin typeface="楷体" panose="02010609060101010101" pitchFamily="49" charset="-122"/>
              <a:ea typeface="楷体" panose="02010609060101010101" pitchFamily="49" charset="-122"/>
            </a:endParaRPr>
          </a:p>
          <a:p>
            <a:pPr marL="0" indent="0" eaLnBrk="1" hangingPunct="1">
              <a:lnSpc>
                <a:spcPct val="150000"/>
              </a:lnSpc>
              <a:spcBef>
                <a:spcPct val="0"/>
              </a:spcBef>
              <a:buClr>
                <a:srgbClr val="00B0F0"/>
              </a:buClr>
              <a:buSzPct val="80000"/>
              <a:buFont typeface="Wingdings" panose="05000000000000000000" pitchFamily="2" charset="2"/>
              <a:buNone/>
            </a:pPr>
            <a:r>
              <a:rPr lang="zh-CN" altLang="en-US" sz="2400" dirty="0">
                <a:solidFill>
                  <a:srgbClr val="FF0000"/>
                </a:solidFill>
                <a:latin typeface="楷体" panose="02010609060101010101" pitchFamily="49" charset="-122"/>
                <a:ea typeface="楷体" panose="02010609060101010101" pitchFamily="49" charset="-122"/>
              </a:rPr>
              <a:t>地址表达式：</a:t>
            </a:r>
            <a:r>
              <a:rPr lang="zh-CN" altLang="en-US" sz="2400" dirty="0">
                <a:latin typeface="楷体" panose="02010609060101010101" pitchFamily="49" charset="-122"/>
                <a:ea typeface="楷体" panose="02010609060101010101" pitchFamily="49" charset="-122"/>
              </a:rPr>
              <a:t>由变量、标号、寄存器、常量和运算符组成的有意义的式子。</a:t>
            </a:r>
            <a:r>
              <a:rPr lang="zh-CN" altLang="en-US" sz="2400" dirty="0">
                <a:solidFill>
                  <a:schemeClr val="tx2"/>
                </a:solidFill>
                <a:latin typeface="楷体" panose="02010609060101010101" pitchFamily="49" charset="-122"/>
                <a:ea typeface="楷体" panose="02010609060101010101" pitchFamily="49" charset="-122"/>
              </a:rPr>
              <a:t>寄存器只能是</a:t>
            </a:r>
            <a:r>
              <a:rPr lang="en-US" altLang="zh-CN" sz="2400" dirty="0">
                <a:solidFill>
                  <a:schemeClr val="tx2"/>
                </a:solidFill>
                <a:latin typeface="楷体" panose="02010609060101010101" pitchFamily="49" charset="-122"/>
                <a:ea typeface="楷体" panose="02010609060101010101" pitchFamily="49" charset="-122"/>
              </a:rPr>
              <a:t>16</a:t>
            </a:r>
            <a:r>
              <a:rPr lang="zh-CN" altLang="en-US" sz="2400" dirty="0">
                <a:solidFill>
                  <a:schemeClr val="tx2"/>
                </a:solidFill>
                <a:latin typeface="楷体" panose="02010609060101010101" pitchFamily="49" charset="-122"/>
                <a:ea typeface="楷体" panose="02010609060101010101" pitchFamily="49" charset="-122"/>
              </a:rPr>
              <a:t>位的</a:t>
            </a:r>
            <a:r>
              <a:rPr lang="en-US" altLang="zh-CN" sz="2400" dirty="0">
                <a:solidFill>
                  <a:srgbClr val="FF0000"/>
                </a:solidFill>
                <a:latin typeface="楷体" panose="02010609060101010101" pitchFamily="49" charset="-122"/>
                <a:ea typeface="楷体" panose="02010609060101010101" pitchFamily="49" charset="-122"/>
              </a:rPr>
              <a:t>SI</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a:solidFill>
                  <a:srgbClr val="FF0000"/>
                </a:solidFill>
                <a:latin typeface="楷体" panose="02010609060101010101" pitchFamily="49" charset="-122"/>
                <a:ea typeface="楷体" panose="02010609060101010101" pitchFamily="49" charset="-122"/>
              </a:rPr>
              <a:t>DI</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a:solidFill>
                  <a:srgbClr val="FF0000"/>
                </a:solidFill>
                <a:latin typeface="楷体" panose="02010609060101010101" pitchFamily="49" charset="-122"/>
                <a:ea typeface="楷体" panose="02010609060101010101" pitchFamily="49" charset="-122"/>
              </a:rPr>
              <a:t>BX</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a:solidFill>
                  <a:srgbClr val="FF0000"/>
                </a:solidFill>
                <a:latin typeface="楷体" panose="02010609060101010101" pitchFamily="49" charset="-122"/>
                <a:ea typeface="楷体" panose="02010609060101010101" pitchFamily="49" charset="-122"/>
              </a:rPr>
              <a:t>BP</a:t>
            </a:r>
            <a:r>
              <a:rPr lang="zh-CN" altLang="en-US" sz="2400" dirty="0">
                <a:latin typeface="楷体" panose="02010609060101010101" pitchFamily="49" charset="-122"/>
                <a:ea typeface="楷体" panose="02010609060101010101" pitchFamily="49" charset="-122"/>
              </a:rPr>
              <a:t>和</a:t>
            </a:r>
            <a:r>
              <a:rPr lang="en-US" altLang="zh-CN" sz="2400" dirty="0">
                <a:solidFill>
                  <a:schemeClr val="tx2"/>
                </a:solidFill>
                <a:latin typeface="楷体" panose="02010609060101010101" pitchFamily="49" charset="-122"/>
                <a:ea typeface="楷体" panose="02010609060101010101" pitchFamily="49" charset="-122"/>
              </a:rPr>
              <a:t>32</a:t>
            </a:r>
            <a:r>
              <a:rPr lang="zh-CN" altLang="en-US" sz="2400" dirty="0">
                <a:solidFill>
                  <a:schemeClr val="tx2"/>
                </a:solidFill>
                <a:latin typeface="楷体" panose="02010609060101010101" pitchFamily="49" charset="-122"/>
                <a:ea typeface="楷体" panose="02010609060101010101" pitchFamily="49" charset="-122"/>
              </a:rPr>
              <a:t>位的通用寄存器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且寄存器必须位于</a:t>
            </a:r>
            <a:r>
              <a:rPr lang="en-US" altLang="zh-CN" sz="2400" dirty="0">
                <a:solidFill>
                  <a:srgbClr val="FF0000"/>
                </a:solidFill>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中。</a:t>
            </a:r>
          </a:p>
        </p:txBody>
      </p:sp>
      <p:sp>
        <p:nvSpPr>
          <p:cNvPr id="4" name="TextBox 5"/>
          <p:cNvSpPr txBox="1">
            <a:spLocks noChangeArrowheads="1"/>
          </p:cNvSpPr>
          <p:nvPr/>
        </p:nvSpPr>
        <p:spPr bwMode="auto">
          <a:xfrm>
            <a:off x="433634" y="1360093"/>
            <a:ext cx="39241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1.</a:t>
            </a:r>
            <a:r>
              <a:rPr lang="zh-CN" altLang="en-US" sz="2800" dirty="0">
                <a:solidFill>
                  <a:srgbClr val="000099"/>
                </a:solidFill>
                <a:latin typeface="楷体" panose="02010609060101010101" pitchFamily="49" charset="-122"/>
                <a:ea typeface="楷体" panose="02010609060101010101" pitchFamily="49" charset="-122"/>
              </a:rPr>
              <a:t>变量和地址表达式</a:t>
            </a:r>
          </a:p>
        </p:txBody>
      </p:sp>
      <p:sp>
        <p:nvSpPr>
          <p:cNvPr id="5"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Tree>
    <p:extLst>
      <p:ext uri="{BB962C8B-B14F-4D97-AF65-F5344CB8AC3E}">
        <p14:creationId xmlns:p14="http://schemas.microsoft.com/office/powerpoint/2010/main" val="1982143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7"/>
          <p:cNvGrpSpPr>
            <a:grpSpLocks/>
          </p:cNvGrpSpPr>
          <p:nvPr/>
        </p:nvGrpSpPr>
        <p:grpSpPr bwMode="auto">
          <a:xfrm>
            <a:off x="539750" y="1774065"/>
            <a:ext cx="8064500" cy="1357312"/>
            <a:chOff x="377" y="960"/>
            <a:chExt cx="5080" cy="570"/>
          </a:xfrm>
        </p:grpSpPr>
        <p:sp>
          <p:nvSpPr>
            <p:cNvPr id="3" name="AutoShape 72">
              <a:extLst>
                <a:ext uri="{FF2B5EF4-FFF2-40B4-BE49-F238E27FC236}">
                  <a16:creationId xmlns:a16="http://schemas.microsoft.com/office/drawing/2014/main" id="{5C950F90-F723-4679-95BD-A917CBBFDD90}"/>
                </a:ext>
              </a:extLst>
            </p:cNvPr>
            <p:cNvSpPr>
              <a:spLocks noChangeArrowheads="1"/>
            </p:cNvSpPr>
            <p:nvPr/>
          </p:nvSpPr>
          <p:spPr bwMode="auto">
            <a:xfrm>
              <a:off x="384" y="973"/>
              <a:ext cx="5073" cy="557"/>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hangingPunct="1">
                <a:lnSpc>
                  <a:spcPct val="90000"/>
                </a:lnSpc>
                <a:buClr>
                  <a:schemeClr val="tx2"/>
                </a:buClr>
                <a:defRPr/>
              </a:pPr>
              <a:endParaRPr lang="zh-CN" altLang="en-US" sz="2600">
                <a:latin typeface="楷体" panose="02010609060101010101" pitchFamily="49" charset="-122"/>
                <a:ea typeface="楷体" panose="02010609060101010101" pitchFamily="49" charset="-122"/>
              </a:endParaRPr>
            </a:p>
          </p:txBody>
        </p:sp>
        <p:sp>
          <p:nvSpPr>
            <p:cNvPr id="4" name="AutoShape 75"/>
            <p:cNvSpPr>
              <a:spLocks noChangeArrowheads="1"/>
            </p:cNvSpPr>
            <p:nvPr/>
          </p:nvSpPr>
          <p:spPr bwMode="auto">
            <a:xfrm>
              <a:off x="377" y="960"/>
              <a:ext cx="5073" cy="360"/>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600" dirty="0">
                  <a:solidFill>
                    <a:schemeClr val="bg1"/>
                  </a:solidFill>
                  <a:latin typeface="楷体" panose="02010609060101010101" pitchFamily="49" charset="-122"/>
                  <a:ea typeface="楷体" panose="02010609060101010101" pitchFamily="49" charset="-122"/>
                </a:rPr>
                <a:t>（</a:t>
              </a:r>
              <a:r>
                <a:rPr lang="en-US" altLang="zh-CN" sz="2600" dirty="0">
                  <a:solidFill>
                    <a:schemeClr val="bg1"/>
                  </a:solidFill>
                  <a:latin typeface="楷体" panose="02010609060101010101" pitchFamily="49" charset="-122"/>
                  <a:ea typeface="楷体" panose="02010609060101010101" pitchFamily="49" charset="-122"/>
                </a:rPr>
                <a:t>1</a:t>
              </a:r>
              <a:r>
                <a:rPr lang="zh-CN" altLang="en-US" sz="2600" dirty="0">
                  <a:solidFill>
                    <a:schemeClr val="bg1"/>
                  </a:solidFill>
                  <a:latin typeface="楷体" panose="02010609060101010101" pitchFamily="49" charset="-122"/>
                  <a:ea typeface="楷体" panose="02010609060101010101" pitchFamily="49" charset="-122"/>
                </a:rPr>
                <a:t>）段基址</a:t>
              </a:r>
              <a:r>
                <a:rPr lang="en-US" altLang="zh-CN" sz="2600" dirty="0">
                  <a:solidFill>
                    <a:schemeClr val="bg1"/>
                  </a:solidFill>
                  <a:latin typeface="楷体" panose="02010609060101010101" pitchFamily="49" charset="-122"/>
                  <a:ea typeface="楷体" panose="02010609060101010101" pitchFamily="49" charset="-122"/>
                </a:rPr>
                <a:t>—</a:t>
              </a:r>
              <a:r>
                <a:rPr lang="zh-CN" altLang="en-US" sz="2600" dirty="0">
                  <a:solidFill>
                    <a:schemeClr val="bg1"/>
                  </a:solidFill>
                  <a:latin typeface="楷体" panose="02010609060101010101" pitchFamily="49" charset="-122"/>
                  <a:ea typeface="楷体" panose="02010609060101010101" pitchFamily="49" charset="-122"/>
                </a:rPr>
                <a:t>是指变量所在段的起始地址的高</a:t>
              </a:r>
              <a:r>
                <a:rPr lang="en-US" altLang="zh-CN" sz="2600" dirty="0">
                  <a:solidFill>
                    <a:schemeClr val="bg1"/>
                  </a:solidFill>
                  <a:latin typeface="楷体" panose="02010609060101010101" pitchFamily="49" charset="-122"/>
                  <a:ea typeface="楷体" panose="02010609060101010101" pitchFamily="49" charset="-122"/>
                </a:rPr>
                <a:t>16</a:t>
              </a:r>
              <a:r>
                <a:rPr lang="zh-CN" altLang="en-US" sz="2600" dirty="0">
                  <a:solidFill>
                    <a:schemeClr val="bg1"/>
                  </a:solidFill>
                  <a:latin typeface="楷体" panose="02010609060101010101" pitchFamily="49" charset="-122"/>
                  <a:ea typeface="楷体" panose="02010609060101010101" pitchFamily="49" charset="-122"/>
                </a:rPr>
                <a:t>位，</a:t>
              </a:r>
            </a:p>
            <a:p>
              <a:pPr eaLnBrk="1" hangingPunct="1">
                <a:lnSpc>
                  <a:spcPct val="90000"/>
                </a:lnSpc>
                <a:buClr>
                  <a:schemeClr val="tx2"/>
                </a:buClr>
                <a:buFont typeface="Arial" panose="020B0604020202020204" pitchFamily="34" charset="0"/>
                <a:buNone/>
              </a:pPr>
              <a:r>
                <a:rPr lang="zh-CN" altLang="en-US" sz="2600" dirty="0">
                  <a:solidFill>
                    <a:schemeClr val="bg1"/>
                  </a:solidFill>
                  <a:latin typeface="楷体" panose="02010609060101010101" pitchFamily="49" charset="-122"/>
                  <a:ea typeface="楷体" panose="02010609060101010101" pitchFamily="49" charset="-122"/>
                </a:rPr>
                <a:t>     由</a:t>
              </a:r>
              <a:r>
                <a:rPr lang="en-US" altLang="zh-CN" sz="2600" dirty="0">
                  <a:solidFill>
                    <a:srgbClr val="FFFF00"/>
                  </a:solidFill>
                  <a:latin typeface="楷体" panose="02010609060101010101" pitchFamily="49" charset="-122"/>
                  <a:ea typeface="楷体" panose="02010609060101010101" pitchFamily="49" charset="-122"/>
                </a:rPr>
                <a:t>SEG</a:t>
              </a:r>
              <a:r>
                <a:rPr lang="zh-CN" altLang="en-US" sz="2600" dirty="0">
                  <a:solidFill>
                    <a:schemeClr val="bg1"/>
                  </a:solidFill>
                  <a:latin typeface="楷体" panose="02010609060101010101" pitchFamily="49" charset="-122"/>
                  <a:ea typeface="楷体" panose="02010609060101010101" pitchFamily="49" charset="-122"/>
                </a:rPr>
                <a:t>算符指定</a:t>
              </a:r>
              <a:endParaRPr lang="en-US" altLang="zh-CN" sz="2600" dirty="0">
                <a:solidFill>
                  <a:schemeClr val="bg1"/>
                </a:solidFill>
                <a:latin typeface="楷体" panose="02010609060101010101" pitchFamily="49" charset="-122"/>
                <a:ea typeface="楷体" panose="02010609060101010101" pitchFamily="49" charset="-122"/>
              </a:endParaRPr>
            </a:p>
          </p:txBody>
        </p:sp>
      </p:grpSp>
      <p:sp>
        <p:nvSpPr>
          <p:cNvPr id="5" name="Text Box 86"/>
          <p:cNvSpPr txBox="1">
            <a:spLocks noChangeArrowheads="1"/>
          </p:cNvSpPr>
          <p:nvPr/>
        </p:nvSpPr>
        <p:spPr bwMode="auto">
          <a:xfrm>
            <a:off x="755650" y="2639252"/>
            <a:ext cx="7858125" cy="43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05000"/>
              </a:lnSpc>
              <a:spcBef>
                <a:spcPct val="45000"/>
              </a:spcBef>
              <a:buClr>
                <a:schemeClr val="accent1"/>
              </a:buClr>
              <a:buSzPct val="60000"/>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如： </a:t>
            </a:r>
            <a:r>
              <a:rPr lang="en-US" altLang="zh-CN" sz="2400" dirty="0">
                <a:latin typeface="楷体" panose="02010609060101010101" pitchFamily="49" charset="-122"/>
                <a:ea typeface="楷体" panose="02010609060101010101" pitchFamily="49" charset="-122"/>
              </a:rPr>
              <a:t>SEG  W  </a:t>
            </a:r>
            <a:r>
              <a:rPr lang="zh-CN" altLang="en-US" sz="2400" dirty="0">
                <a:latin typeface="楷体" panose="02010609060101010101" pitchFamily="49" charset="-122"/>
                <a:ea typeface="楷体" panose="02010609060101010101" pitchFamily="49" charset="-122"/>
              </a:rPr>
              <a:t>；取变量</a:t>
            </a:r>
            <a:r>
              <a:rPr lang="en-US" altLang="zh-CN" sz="2400" dirty="0">
                <a:latin typeface="楷体" panose="02010609060101010101" pitchFamily="49" charset="-122"/>
                <a:ea typeface="楷体" panose="02010609060101010101" pitchFamily="49" charset="-122"/>
              </a:rPr>
              <a:t>W</a:t>
            </a:r>
            <a:r>
              <a:rPr lang="zh-CN" altLang="en-US" sz="2400" dirty="0">
                <a:latin typeface="楷体" panose="02010609060101010101" pitchFamily="49" charset="-122"/>
                <a:ea typeface="楷体" panose="02010609060101010101" pitchFamily="49" charset="-122"/>
              </a:rPr>
              <a:t>的段基址</a:t>
            </a:r>
          </a:p>
        </p:txBody>
      </p:sp>
      <p:grpSp>
        <p:nvGrpSpPr>
          <p:cNvPr id="6" name="Group 98"/>
          <p:cNvGrpSpPr>
            <a:grpSpLocks/>
          </p:cNvGrpSpPr>
          <p:nvPr/>
        </p:nvGrpSpPr>
        <p:grpSpPr bwMode="auto">
          <a:xfrm>
            <a:off x="611188" y="3215515"/>
            <a:ext cx="8053387" cy="1439862"/>
            <a:chOff x="384" y="2352"/>
            <a:chExt cx="5073" cy="589"/>
          </a:xfrm>
        </p:grpSpPr>
        <p:sp>
          <p:nvSpPr>
            <p:cNvPr id="7" name="AutoShape 77">
              <a:extLst>
                <a:ext uri="{FF2B5EF4-FFF2-40B4-BE49-F238E27FC236}">
                  <a16:creationId xmlns:a16="http://schemas.microsoft.com/office/drawing/2014/main" id="{D242354C-ED7D-42BF-AE02-4DD13FDCAB11}"/>
                </a:ext>
              </a:extLst>
            </p:cNvPr>
            <p:cNvSpPr>
              <a:spLocks noChangeArrowheads="1"/>
            </p:cNvSpPr>
            <p:nvPr/>
          </p:nvSpPr>
          <p:spPr bwMode="auto">
            <a:xfrm>
              <a:off x="384" y="2352"/>
              <a:ext cx="5073" cy="589"/>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hangingPunct="1">
                <a:lnSpc>
                  <a:spcPct val="90000"/>
                </a:lnSpc>
                <a:buClr>
                  <a:schemeClr val="tx2"/>
                </a:buClr>
                <a:defRPr/>
              </a:pPr>
              <a:endParaRPr lang="zh-CN" altLang="en-US" sz="2600">
                <a:latin typeface="楷体" panose="02010609060101010101" pitchFamily="49" charset="-122"/>
                <a:ea typeface="楷体" panose="02010609060101010101" pitchFamily="49" charset="-122"/>
              </a:endParaRPr>
            </a:p>
          </p:txBody>
        </p:sp>
        <p:sp>
          <p:nvSpPr>
            <p:cNvPr id="8" name="AutoShape 80"/>
            <p:cNvSpPr>
              <a:spLocks noChangeArrowheads="1"/>
            </p:cNvSpPr>
            <p:nvPr/>
          </p:nvSpPr>
          <p:spPr bwMode="auto">
            <a:xfrm>
              <a:off x="384" y="2352"/>
              <a:ext cx="5073" cy="360"/>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nSpc>
                  <a:spcPct val="90000"/>
                </a:lnSpc>
                <a:spcBef>
                  <a:spcPct val="20000"/>
                </a:spcBef>
                <a:buClr>
                  <a:schemeClr val="tx2"/>
                </a:buClr>
                <a:buFont typeface="Arial" panose="020B0604020202020204" pitchFamily="34" charset="0"/>
                <a:buNone/>
              </a:pPr>
              <a:r>
                <a:rPr lang="zh-CN" altLang="en-US" sz="2600" dirty="0">
                  <a:solidFill>
                    <a:schemeClr val="bg1"/>
                  </a:solidFill>
                  <a:latin typeface="楷体" panose="02010609060101010101" pitchFamily="49" charset="-122"/>
                  <a:ea typeface="楷体" panose="02010609060101010101" pitchFamily="49" charset="-122"/>
                </a:rPr>
                <a:t>（</a:t>
              </a:r>
              <a:r>
                <a:rPr lang="en-US" altLang="zh-CN" sz="2600" dirty="0">
                  <a:solidFill>
                    <a:schemeClr val="bg1"/>
                  </a:solidFill>
                  <a:latin typeface="楷体" panose="02010609060101010101" pitchFamily="49" charset="-122"/>
                  <a:ea typeface="楷体" panose="02010609060101010101" pitchFamily="49" charset="-122"/>
                </a:rPr>
                <a:t>2</a:t>
              </a:r>
              <a:r>
                <a:rPr lang="zh-CN" altLang="en-US" sz="2600" dirty="0">
                  <a:solidFill>
                    <a:schemeClr val="bg1"/>
                  </a:solidFill>
                  <a:latin typeface="楷体" panose="02010609060101010101" pitchFamily="49" charset="-122"/>
                  <a:ea typeface="楷体" panose="02010609060101010101" pitchFamily="49" charset="-122"/>
                </a:rPr>
                <a:t>）偏移地址</a:t>
              </a:r>
              <a:r>
                <a:rPr lang="en-US" altLang="zh-CN" sz="2600" dirty="0">
                  <a:solidFill>
                    <a:schemeClr val="bg1"/>
                  </a:solidFill>
                  <a:latin typeface="楷体" panose="02010609060101010101" pitchFamily="49" charset="-122"/>
                  <a:ea typeface="楷体" panose="02010609060101010101" pitchFamily="49" charset="-122"/>
                </a:rPr>
                <a:t>—</a:t>
              </a:r>
              <a:r>
                <a:rPr lang="zh-CN" altLang="en-US" sz="2600" dirty="0">
                  <a:solidFill>
                    <a:schemeClr val="bg1"/>
                  </a:solidFill>
                  <a:latin typeface="楷体" panose="02010609060101010101" pitchFamily="49" charset="-122"/>
                  <a:ea typeface="楷体" panose="02010609060101010101" pitchFamily="49" charset="-122"/>
                </a:rPr>
                <a:t>是指变量所在段的起始首址到该变量的字节距离</a:t>
              </a:r>
              <a:r>
                <a:rPr lang="en-US" altLang="zh-CN" sz="2600" dirty="0">
                  <a:solidFill>
                    <a:schemeClr val="bg1"/>
                  </a:solidFill>
                  <a:latin typeface="楷体" panose="02010609060101010101" pitchFamily="49" charset="-122"/>
                  <a:ea typeface="楷体" panose="02010609060101010101" pitchFamily="49" charset="-122"/>
                </a:rPr>
                <a:t>.</a:t>
              </a:r>
              <a:r>
                <a:rPr lang="zh-CN" altLang="en-US" sz="2600" dirty="0">
                  <a:solidFill>
                    <a:schemeClr val="bg1"/>
                  </a:solidFill>
                  <a:latin typeface="楷体" panose="02010609060101010101" pitchFamily="49" charset="-122"/>
                  <a:ea typeface="楷体" panose="02010609060101010101" pitchFamily="49" charset="-122"/>
                </a:rPr>
                <a:t>由</a:t>
              </a:r>
              <a:r>
                <a:rPr lang="en-US" altLang="zh-CN" sz="2600" dirty="0">
                  <a:solidFill>
                    <a:schemeClr val="bg1"/>
                  </a:solidFill>
                  <a:latin typeface="楷体" panose="02010609060101010101" pitchFamily="49" charset="-122"/>
                  <a:ea typeface="楷体" panose="02010609060101010101" pitchFamily="49" charset="-122"/>
                </a:rPr>
                <a:t>OFFSET</a:t>
              </a:r>
              <a:r>
                <a:rPr lang="zh-CN" altLang="en-US" sz="2600" dirty="0">
                  <a:solidFill>
                    <a:schemeClr val="bg1"/>
                  </a:solidFill>
                  <a:latin typeface="楷体" panose="02010609060101010101" pitchFamily="49" charset="-122"/>
                  <a:ea typeface="楷体" panose="02010609060101010101" pitchFamily="49" charset="-122"/>
                </a:rPr>
                <a:t>算符指定</a:t>
              </a:r>
              <a:endParaRPr lang="ko-KR" altLang="en-US" sz="2600" dirty="0">
                <a:solidFill>
                  <a:schemeClr val="bg1"/>
                </a:solidFill>
                <a:latin typeface="楷体" panose="02010609060101010101" pitchFamily="49" charset="-122"/>
                <a:ea typeface="楷体" panose="02010609060101010101" pitchFamily="49" charset="-122"/>
              </a:endParaRPr>
            </a:p>
          </p:txBody>
        </p:sp>
      </p:grpSp>
      <p:sp>
        <p:nvSpPr>
          <p:cNvPr id="9" name="矩形 24"/>
          <p:cNvSpPr>
            <a:spLocks noChangeArrowheads="1"/>
          </p:cNvSpPr>
          <p:nvPr/>
        </p:nvSpPr>
        <p:spPr bwMode="auto">
          <a:xfrm>
            <a:off x="756959" y="4152488"/>
            <a:ext cx="77866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如：</a:t>
            </a:r>
            <a:r>
              <a:rPr lang="en-US" altLang="zh-CN" sz="2400" dirty="0">
                <a:latin typeface="楷体" panose="02010609060101010101" pitchFamily="49" charset="-122"/>
                <a:ea typeface="楷体" panose="02010609060101010101" pitchFamily="49" charset="-122"/>
              </a:rPr>
              <a:t> OFFSET  W  </a:t>
            </a:r>
            <a:r>
              <a:rPr lang="zh-CN" altLang="en-US" sz="2400" dirty="0">
                <a:latin typeface="楷体" panose="02010609060101010101" pitchFamily="49" charset="-122"/>
                <a:ea typeface="楷体" panose="02010609060101010101" pitchFamily="49" charset="-122"/>
              </a:rPr>
              <a:t>；取变量</a:t>
            </a:r>
            <a:r>
              <a:rPr lang="en-US" altLang="zh-CN" sz="2400" dirty="0">
                <a:latin typeface="楷体" panose="02010609060101010101" pitchFamily="49" charset="-122"/>
                <a:ea typeface="楷体" panose="02010609060101010101" pitchFamily="49" charset="-122"/>
              </a:rPr>
              <a:t>W</a:t>
            </a:r>
            <a:r>
              <a:rPr lang="zh-CN" altLang="en-US" sz="2400" dirty="0">
                <a:latin typeface="楷体" panose="02010609060101010101" pitchFamily="49" charset="-122"/>
                <a:ea typeface="楷体" panose="02010609060101010101" pitchFamily="49" charset="-122"/>
              </a:rPr>
              <a:t>的偏移地址</a:t>
            </a:r>
          </a:p>
        </p:txBody>
      </p:sp>
      <p:sp>
        <p:nvSpPr>
          <p:cNvPr id="10" name="矩形 10"/>
          <p:cNvSpPr>
            <a:spLocks noChangeArrowheads="1"/>
          </p:cNvSpPr>
          <p:nvPr/>
        </p:nvSpPr>
        <p:spPr bwMode="auto">
          <a:xfrm>
            <a:off x="461022" y="1109701"/>
            <a:ext cx="800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2.</a:t>
            </a:r>
            <a:r>
              <a:rPr lang="zh-CN" altLang="en-US" sz="2800" dirty="0">
                <a:solidFill>
                  <a:srgbClr val="000099"/>
                </a:solidFill>
                <a:latin typeface="楷体" panose="02010609060101010101" pitchFamily="49" charset="-122"/>
                <a:ea typeface="楷体" panose="02010609060101010101" pitchFamily="49" charset="-122"/>
              </a:rPr>
              <a:t>变量的属性</a:t>
            </a:r>
          </a:p>
        </p:txBody>
      </p:sp>
      <p:grpSp>
        <p:nvGrpSpPr>
          <p:cNvPr id="11" name="Group 98"/>
          <p:cNvGrpSpPr>
            <a:grpSpLocks/>
          </p:cNvGrpSpPr>
          <p:nvPr/>
        </p:nvGrpSpPr>
        <p:grpSpPr bwMode="auto">
          <a:xfrm>
            <a:off x="611188" y="4726815"/>
            <a:ext cx="8053387" cy="1989137"/>
            <a:chOff x="384" y="2352"/>
            <a:chExt cx="5073" cy="810"/>
          </a:xfrm>
        </p:grpSpPr>
        <p:sp>
          <p:nvSpPr>
            <p:cNvPr id="12" name="AutoShape 77">
              <a:extLst>
                <a:ext uri="{FF2B5EF4-FFF2-40B4-BE49-F238E27FC236}">
                  <a16:creationId xmlns:a16="http://schemas.microsoft.com/office/drawing/2014/main" id="{AD7B3F1F-55F9-4816-B185-1C9A819FB8C6}"/>
                </a:ext>
              </a:extLst>
            </p:cNvPr>
            <p:cNvSpPr>
              <a:spLocks noChangeArrowheads="1"/>
            </p:cNvSpPr>
            <p:nvPr/>
          </p:nvSpPr>
          <p:spPr bwMode="auto">
            <a:xfrm>
              <a:off x="384" y="2352"/>
              <a:ext cx="5073" cy="810"/>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hangingPunct="1">
                <a:lnSpc>
                  <a:spcPct val="90000"/>
                </a:lnSpc>
                <a:buClr>
                  <a:schemeClr val="tx2"/>
                </a:buClr>
                <a:defRPr/>
              </a:pPr>
              <a:endParaRPr lang="zh-CN" altLang="en-US" sz="2600">
                <a:latin typeface="楷体" panose="02010609060101010101" pitchFamily="49" charset="-122"/>
                <a:ea typeface="楷体" panose="02010609060101010101" pitchFamily="49" charset="-122"/>
              </a:endParaRPr>
            </a:p>
          </p:txBody>
        </p:sp>
        <p:sp>
          <p:nvSpPr>
            <p:cNvPr id="13" name="AutoShape 80">
              <a:extLst>
                <a:ext uri="{FF2B5EF4-FFF2-40B4-BE49-F238E27FC236}">
                  <a16:creationId xmlns:a16="http://schemas.microsoft.com/office/drawing/2014/main" id="{79D55C83-1251-4BF5-9E89-E52817C76C19}"/>
                </a:ext>
              </a:extLst>
            </p:cNvPr>
            <p:cNvSpPr>
              <a:spLocks noChangeArrowheads="1"/>
            </p:cNvSpPr>
            <p:nvPr/>
          </p:nvSpPr>
          <p:spPr bwMode="auto">
            <a:xfrm>
              <a:off x="384" y="2352"/>
              <a:ext cx="5073" cy="221"/>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nSpc>
                  <a:spcPct val="90000"/>
                </a:lnSpc>
                <a:spcBef>
                  <a:spcPct val="20000"/>
                </a:spcBef>
                <a:buClr>
                  <a:schemeClr val="tx2"/>
                </a:buClr>
                <a:buFont typeface="Arial" panose="020B0604020202020204" pitchFamily="34" charset="0"/>
                <a:buNone/>
              </a:pPr>
              <a:r>
                <a:rPr lang="zh-CN" altLang="en-US" sz="2600" dirty="0">
                  <a:solidFill>
                    <a:schemeClr val="bg1"/>
                  </a:solidFill>
                  <a:latin typeface="楷体" panose="02010609060101010101" pitchFamily="49" charset="-122"/>
                  <a:ea typeface="楷体" panose="02010609060101010101" pitchFamily="49" charset="-122"/>
                </a:rPr>
                <a:t>（</a:t>
              </a:r>
              <a:r>
                <a:rPr lang="en-US" altLang="zh-CN" sz="2600" dirty="0">
                  <a:solidFill>
                    <a:schemeClr val="bg1"/>
                  </a:solidFill>
                  <a:latin typeface="楷体" panose="02010609060101010101" pitchFamily="49" charset="-122"/>
                  <a:ea typeface="楷体" panose="02010609060101010101" pitchFamily="49" charset="-122"/>
                </a:rPr>
                <a:t>3</a:t>
              </a:r>
              <a:r>
                <a:rPr lang="zh-CN" altLang="en-US" sz="2600" dirty="0">
                  <a:solidFill>
                    <a:schemeClr val="bg1"/>
                  </a:solidFill>
                  <a:latin typeface="楷体" panose="02010609060101010101" pitchFamily="49" charset="-122"/>
                  <a:ea typeface="楷体" panose="02010609060101010101" pitchFamily="49" charset="-122"/>
                </a:rPr>
                <a:t>）类型</a:t>
              </a:r>
              <a:r>
                <a:rPr lang="en-US" altLang="zh-CN" sz="2600" dirty="0">
                  <a:solidFill>
                    <a:schemeClr val="bg1"/>
                  </a:solidFill>
                  <a:latin typeface="楷体" panose="02010609060101010101" pitchFamily="49" charset="-122"/>
                  <a:ea typeface="楷体" panose="02010609060101010101" pitchFamily="49" charset="-122"/>
                </a:rPr>
                <a:t>—</a:t>
              </a:r>
              <a:r>
                <a:rPr lang="zh-CN" altLang="en-US" sz="2600" dirty="0">
                  <a:solidFill>
                    <a:schemeClr val="bg1"/>
                  </a:solidFill>
                  <a:latin typeface="楷体" panose="02010609060101010101" pitchFamily="49" charset="-122"/>
                  <a:ea typeface="楷体" panose="02010609060101010101" pitchFamily="49" charset="-122"/>
                </a:rPr>
                <a:t>存取该变量中数据的字节数</a:t>
              </a:r>
              <a:endParaRPr lang="ko-KR" altLang="en-US" sz="2600" dirty="0">
                <a:solidFill>
                  <a:schemeClr val="bg1"/>
                </a:solidFill>
                <a:latin typeface="楷体" panose="02010609060101010101" pitchFamily="49" charset="-122"/>
                <a:ea typeface="楷体" panose="02010609060101010101" pitchFamily="49" charset="-122"/>
              </a:endParaRPr>
            </a:p>
          </p:txBody>
        </p:sp>
      </p:grpSp>
      <p:sp>
        <p:nvSpPr>
          <p:cNvPr id="14" name="矩形 24"/>
          <p:cNvSpPr>
            <a:spLocks noChangeArrowheads="1"/>
          </p:cNvSpPr>
          <p:nvPr/>
        </p:nvSpPr>
        <p:spPr bwMode="auto">
          <a:xfrm>
            <a:off x="636033" y="5364990"/>
            <a:ext cx="8028541"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变量的类型有：</a:t>
            </a:r>
            <a:r>
              <a:rPr lang="zh-CN" altLang="en-US" sz="2400" b="0" dirty="0">
                <a:latin typeface="楷体" panose="02010609060101010101" pitchFamily="49" charset="-122"/>
                <a:ea typeface="楷体" panose="02010609060101010101" pitchFamily="49" charset="-122"/>
              </a:rPr>
              <a:t>字节（</a:t>
            </a:r>
            <a:r>
              <a:rPr lang="en-US" altLang="zh-CN" sz="2400" b="0" dirty="0">
                <a:solidFill>
                  <a:srgbClr val="FF0000"/>
                </a:solidFill>
                <a:latin typeface="楷体" panose="02010609060101010101" pitchFamily="49" charset="-122"/>
                <a:ea typeface="楷体" panose="02010609060101010101" pitchFamily="49" charset="-122"/>
              </a:rPr>
              <a:t>Byte</a:t>
            </a:r>
            <a:r>
              <a:rPr lang="zh-CN" altLang="en-US" sz="2400" b="0" dirty="0">
                <a:latin typeface="楷体" panose="02010609060101010101" pitchFamily="49" charset="-122"/>
                <a:ea typeface="楷体" panose="02010609060101010101" pitchFamily="49" charset="-122"/>
              </a:rPr>
              <a:t>），字（</a:t>
            </a:r>
            <a:r>
              <a:rPr lang="en-US" altLang="zh-CN" sz="2400" b="0" dirty="0">
                <a:solidFill>
                  <a:srgbClr val="FF0000"/>
                </a:solidFill>
                <a:latin typeface="楷体" panose="02010609060101010101" pitchFamily="49" charset="-122"/>
                <a:ea typeface="楷体" panose="02010609060101010101" pitchFamily="49" charset="-122"/>
              </a:rPr>
              <a:t>Word</a:t>
            </a:r>
            <a:r>
              <a:rPr lang="zh-CN" altLang="en-US" sz="2400" b="0" dirty="0">
                <a:latin typeface="楷体" panose="02010609060101010101" pitchFamily="49" charset="-122"/>
                <a:ea typeface="楷体" panose="02010609060101010101" pitchFamily="49" charset="-122"/>
              </a:rPr>
              <a:t>），双字（</a:t>
            </a:r>
            <a:r>
              <a:rPr lang="en-US" altLang="zh-CN" sz="2400" b="0" dirty="0" err="1">
                <a:solidFill>
                  <a:srgbClr val="FF0000"/>
                </a:solidFill>
                <a:latin typeface="楷体" panose="02010609060101010101" pitchFamily="49" charset="-122"/>
                <a:ea typeface="楷体" panose="02010609060101010101" pitchFamily="49" charset="-122"/>
              </a:rPr>
              <a:t>Dword</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6</a:t>
            </a:r>
            <a:r>
              <a:rPr lang="zh-CN" altLang="en-US" sz="2400" b="0" dirty="0">
                <a:latin typeface="楷体" panose="02010609060101010101" pitchFamily="49" charset="-122"/>
                <a:ea typeface="楷体" panose="02010609060101010101" pitchFamily="49" charset="-122"/>
              </a:rPr>
              <a:t>字节（</a:t>
            </a:r>
            <a:r>
              <a:rPr lang="en-US" altLang="zh-CN" sz="2400" b="0" dirty="0" err="1">
                <a:latin typeface="楷体" panose="02010609060101010101" pitchFamily="49" charset="-122"/>
                <a:ea typeface="楷体" panose="02010609060101010101" pitchFamily="49" charset="-122"/>
              </a:rPr>
              <a:t>Fbyte</a:t>
            </a:r>
            <a:r>
              <a:rPr lang="zh-CN" altLang="en-US" sz="2400" b="0" dirty="0">
                <a:latin typeface="楷体" panose="02010609060101010101" pitchFamily="49" charset="-122"/>
                <a:ea typeface="楷体" panose="02010609060101010101" pitchFamily="49" charset="-122"/>
              </a:rPr>
              <a:t>），四字（</a:t>
            </a:r>
            <a:r>
              <a:rPr lang="en-US" altLang="zh-CN" sz="2400" b="0" dirty="0">
                <a:latin typeface="楷体" panose="02010609060101010101" pitchFamily="49" charset="-122"/>
                <a:ea typeface="楷体" panose="02010609060101010101" pitchFamily="49" charset="-122"/>
              </a:rPr>
              <a:t>Qword</a:t>
            </a:r>
            <a:r>
              <a:rPr lang="zh-CN" altLang="en-US" sz="2400" b="0" dirty="0">
                <a:latin typeface="楷体" panose="02010609060101010101" pitchFamily="49" charset="-122"/>
                <a:ea typeface="楷体" panose="02010609060101010101" pitchFamily="49" charset="-122"/>
              </a:rPr>
              <a:t>），十字节（</a:t>
            </a:r>
            <a:r>
              <a:rPr lang="en-US" altLang="zh-CN" sz="2400" b="0" dirty="0" err="1">
                <a:latin typeface="楷体" panose="02010609060101010101" pitchFamily="49" charset="-122"/>
                <a:ea typeface="楷体" panose="02010609060101010101" pitchFamily="49" charset="-122"/>
              </a:rPr>
              <a:t>Tbyte</a:t>
            </a:r>
            <a:r>
              <a:rPr lang="zh-CN" altLang="en-US" sz="2400" b="0" dirty="0">
                <a:latin typeface="楷体" panose="02010609060101010101" pitchFamily="49" charset="-122"/>
                <a:ea typeface="楷体" panose="02010609060101010101" pitchFamily="49" charset="-122"/>
              </a:rPr>
              <a:t>），一个数据分别占</a:t>
            </a:r>
            <a:r>
              <a:rPr lang="en-US" altLang="zh-CN" sz="2400" b="0" dirty="0">
                <a:latin typeface="楷体" panose="02010609060101010101" pitchFamily="49" charset="-122"/>
                <a:ea typeface="楷体" panose="02010609060101010101" pitchFamily="49" charset="-122"/>
              </a:rPr>
              <a:t>1</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2</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4</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6</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8</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10</a:t>
            </a:r>
            <a:r>
              <a:rPr lang="zh-CN" altLang="en-US" sz="2400" b="0" dirty="0">
                <a:latin typeface="楷体" panose="02010609060101010101" pitchFamily="49" charset="-122"/>
                <a:ea typeface="楷体" panose="02010609060101010101" pitchFamily="49" charset="-122"/>
              </a:rPr>
              <a:t>个字节单元</a:t>
            </a:r>
          </a:p>
        </p:txBody>
      </p:sp>
      <p:sp>
        <p:nvSpPr>
          <p:cNvPr id="16"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Tree>
    <p:extLst>
      <p:ext uri="{BB962C8B-B14F-4D97-AF65-F5344CB8AC3E}">
        <p14:creationId xmlns:p14="http://schemas.microsoft.com/office/powerpoint/2010/main" val="3644977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468313" y="1726586"/>
            <a:ext cx="5727700" cy="49050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10000"/>
              </a:spcBef>
              <a:buClr>
                <a:schemeClr val="accent1"/>
              </a:buClr>
              <a:buSzPct val="71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数据存放规律</a:t>
            </a:r>
          </a:p>
          <a:p>
            <a:pPr marL="0" indent="0">
              <a:lnSpc>
                <a:spcPct val="110000"/>
              </a:lnSpc>
              <a:spcBef>
                <a:spcPct val="10000"/>
              </a:spcBef>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字节</a:t>
            </a:r>
            <a:r>
              <a:rPr lang="zh-CN" altLang="en-US" sz="2400" dirty="0">
                <a:latin typeface="楷体" panose="02010609060101010101" pitchFamily="49" charset="-122"/>
                <a:ea typeface="楷体" panose="02010609060101010101" pitchFamily="49" charset="-122"/>
              </a:rPr>
              <a:t>数据</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个字节占据</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个存储单元</a:t>
            </a:r>
          </a:p>
          <a:p>
            <a:pPr marL="0" indent="0">
              <a:lnSpc>
                <a:spcPct val="110000"/>
              </a:lnSpc>
              <a:spcBef>
                <a:spcPct val="10000"/>
              </a:spcBef>
              <a:buFont typeface="Wingdings 2" panose="05020102010507070707" pitchFamily="18" charset="2"/>
              <a:buNone/>
            </a:pP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字</a:t>
            </a:r>
            <a:r>
              <a:rPr lang="zh-CN" altLang="en-US" sz="2400" dirty="0">
                <a:latin typeface="楷体" panose="02010609060101010101" pitchFamily="49" charset="-122"/>
                <a:ea typeface="楷体" panose="02010609060101010101" pitchFamily="49" charset="-122"/>
                <a:sym typeface="Wingdings" panose="05000000000000000000" pitchFamily="2" charset="2"/>
              </a:rPr>
              <a:t>数据</a:t>
            </a:r>
            <a:r>
              <a:rPr lang="en-US" altLang="zh-CN" sz="2400" dirty="0">
                <a:latin typeface="楷体" panose="02010609060101010101" pitchFamily="49" charset="-122"/>
                <a:ea typeface="楷体" panose="02010609060101010101" pitchFamily="49" charset="-122"/>
                <a:sym typeface="Wingdings" panose="05000000000000000000" pitchFamily="2" charset="2"/>
              </a:rPr>
              <a:t>---1</a:t>
            </a:r>
            <a:r>
              <a:rPr lang="zh-CN" altLang="en-US" sz="2400" dirty="0">
                <a:latin typeface="楷体" panose="02010609060101010101" pitchFamily="49" charset="-122"/>
                <a:ea typeface="楷体" panose="02010609060101010101" pitchFamily="49" charset="-122"/>
                <a:sym typeface="Wingdings" panose="05000000000000000000" pitchFamily="2" charset="2"/>
              </a:rPr>
              <a:t>个字（</a:t>
            </a:r>
            <a:r>
              <a:rPr lang="en-US" altLang="zh-CN" sz="2400" dirty="0">
                <a:latin typeface="楷体" panose="02010609060101010101" pitchFamily="49" charset="-122"/>
                <a:ea typeface="楷体" panose="02010609060101010101" pitchFamily="49" charset="-122"/>
                <a:sym typeface="Wingdings" panose="05000000000000000000" pitchFamily="2" charset="2"/>
              </a:rPr>
              <a:t>16</a:t>
            </a:r>
            <a:r>
              <a:rPr lang="zh-CN" altLang="en-US" sz="2400" dirty="0">
                <a:latin typeface="楷体" panose="02010609060101010101" pitchFamily="49" charset="-122"/>
                <a:ea typeface="楷体" panose="02010609060101010101" pitchFamily="49" charset="-122"/>
                <a:sym typeface="Wingdings" panose="05000000000000000000" pitchFamily="2" charset="2"/>
              </a:rPr>
              <a:t>位的二进制数据）占据</a:t>
            </a:r>
            <a:r>
              <a:rPr lang="en-US" altLang="zh-CN" sz="2400" dirty="0">
                <a:latin typeface="楷体" panose="02010609060101010101" pitchFamily="49" charset="-122"/>
                <a:ea typeface="楷体" panose="02010609060101010101" pitchFamily="49" charset="-122"/>
                <a:sym typeface="Wingdings" panose="05000000000000000000" pitchFamily="2" charset="2"/>
              </a:rPr>
              <a:t>2</a:t>
            </a:r>
            <a:r>
              <a:rPr lang="zh-CN" altLang="en-US" sz="2400" dirty="0">
                <a:latin typeface="楷体" panose="02010609060101010101" pitchFamily="49" charset="-122"/>
                <a:ea typeface="楷体" panose="02010609060101010101" pitchFamily="49" charset="-122"/>
                <a:sym typeface="Wingdings" panose="05000000000000000000" pitchFamily="2" charset="2"/>
              </a:rPr>
              <a:t>个连续的存储单元</a:t>
            </a:r>
          </a:p>
          <a:p>
            <a:pPr marL="0" indent="0">
              <a:lnSpc>
                <a:spcPct val="110000"/>
              </a:lnSpc>
              <a:spcBef>
                <a:spcPct val="10000"/>
              </a:spcBef>
              <a:buFont typeface="Wingdings 2" panose="05020102010507070707" pitchFamily="18" charset="2"/>
              <a:buNone/>
            </a:pP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双字</a:t>
            </a:r>
            <a:r>
              <a:rPr lang="zh-CN" altLang="en-US" sz="2400" dirty="0">
                <a:latin typeface="楷体" panose="02010609060101010101" pitchFamily="49" charset="-122"/>
                <a:ea typeface="楷体" panose="02010609060101010101" pitchFamily="49" charset="-122"/>
                <a:sym typeface="Wingdings" panose="05000000000000000000" pitchFamily="2" charset="2"/>
              </a:rPr>
              <a:t>数据</a:t>
            </a:r>
            <a:r>
              <a:rPr lang="en-US" altLang="zh-CN" sz="2400" dirty="0">
                <a:latin typeface="楷体" panose="02010609060101010101" pitchFamily="49" charset="-122"/>
                <a:ea typeface="楷体" panose="02010609060101010101" pitchFamily="49" charset="-122"/>
                <a:sym typeface="Wingdings" panose="05000000000000000000" pitchFamily="2" charset="2"/>
              </a:rPr>
              <a:t>--- 1</a:t>
            </a:r>
            <a:r>
              <a:rPr lang="zh-CN" altLang="en-US" sz="2400" dirty="0">
                <a:latin typeface="楷体" panose="02010609060101010101" pitchFamily="49" charset="-122"/>
                <a:ea typeface="楷体" panose="02010609060101010101" pitchFamily="49" charset="-122"/>
                <a:sym typeface="Wingdings" panose="05000000000000000000" pitchFamily="2" charset="2"/>
              </a:rPr>
              <a:t>个双字占据</a:t>
            </a:r>
            <a:r>
              <a:rPr lang="en-US" altLang="zh-CN" sz="2400" dirty="0">
                <a:latin typeface="楷体" panose="02010609060101010101" pitchFamily="49" charset="-122"/>
                <a:ea typeface="楷体" panose="02010609060101010101" pitchFamily="49" charset="-122"/>
                <a:sym typeface="Wingdings" panose="05000000000000000000" pitchFamily="2" charset="2"/>
              </a:rPr>
              <a:t>4</a:t>
            </a:r>
            <a:r>
              <a:rPr lang="zh-CN" altLang="en-US" sz="2400" dirty="0">
                <a:latin typeface="楷体" panose="02010609060101010101" pitchFamily="49" charset="-122"/>
                <a:ea typeface="楷体" panose="02010609060101010101" pitchFamily="49" charset="-122"/>
                <a:sym typeface="Wingdings" panose="05000000000000000000" pitchFamily="2" charset="2"/>
              </a:rPr>
              <a:t>个连续的存储单元</a:t>
            </a:r>
          </a:p>
          <a:p>
            <a:pPr marL="0" indent="0">
              <a:lnSpc>
                <a:spcPct val="110000"/>
              </a:lnSpc>
              <a:spcBef>
                <a:spcPct val="100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规定：</a:t>
            </a:r>
          </a:p>
          <a:p>
            <a:pPr marL="0" indent="0">
              <a:lnSpc>
                <a:spcPct val="110000"/>
              </a:lnSpc>
              <a:spcBef>
                <a:spcPct val="10000"/>
              </a:spcBef>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sym typeface="Wingdings" panose="05000000000000000000" pitchFamily="2" charset="2"/>
              </a:rPr>
              <a:t>  (1)</a:t>
            </a:r>
            <a:r>
              <a:rPr lang="zh-CN" altLang="en-US" sz="2400" dirty="0">
                <a:latin typeface="楷体" panose="02010609060101010101" pitchFamily="49" charset="-122"/>
                <a:ea typeface="楷体" panose="02010609060101010101" pitchFamily="49" charset="-122"/>
                <a:sym typeface="Wingdings" panose="05000000000000000000" pitchFamily="2" charset="2"/>
              </a:rPr>
              <a:t>低位字节的地址为字的地址</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10000"/>
              </a:lnSpc>
              <a:spcBef>
                <a:spcPct val="10000"/>
              </a:spcBef>
              <a:spcAft>
                <a:spcPts val="1200"/>
              </a:spcAft>
              <a:buClr>
                <a:srgbClr val="558ED5"/>
              </a:buClr>
              <a:buSzPct val="71000"/>
              <a:buFont typeface="Wingdings" panose="05000000000000000000" pitchFamily="2" charset="2"/>
              <a:buNone/>
            </a:pPr>
            <a:r>
              <a:rPr lang="en-US" altLang="zh-CN" sz="2400" dirty="0">
                <a:latin typeface="楷体" panose="02010609060101010101" pitchFamily="49" charset="-122"/>
                <a:ea typeface="楷体" panose="02010609060101010101" pitchFamily="49" charset="-122"/>
                <a:sym typeface="Wingdings" panose="05000000000000000000" pitchFamily="2" charset="2"/>
              </a:rPr>
              <a:t>  (2)</a:t>
            </a:r>
            <a:r>
              <a:rPr lang="zh-CN" altLang="en-US" sz="2400" dirty="0">
                <a:latin typeface="楷体" panose="02010609060101010101" pitchFamily="49" charset="-122"/>
                <a:ea typeface="楷体" panose="02010609060101010101" pitchFamily="49" charset="-122"/>
                <a:sym typeface="Wingdings" panose="05000000000000000000" pitchFamily="2" charset="2"/>
              </a:rPr>
              <a:t>规则字和非规则字</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10000"/>
              </a:lnSpc>
              <a:spcBef>
                <a:spcPct val="10000"/>
              </a:spcBef>
              <a:buClr>
                <a:srgbClr val="558ED5"/>
              </a:buClr>
              <a:buSzPct val="71000"/>
              <a:buFont typeface="Wingdings" panose="05000000000000000000" pitchFamily="2" charset="2"/>
              <a:buNone/>
            </a:pPr>
            <a:r>
              <a:rPr lang="en-US" altLang="zh-CN" sz="2400" dirty="0" err="1">
                <a:solidFill>
                  <a:srgbClr val="003399"/>
                </a:solidFill>
                <a:latin typeface="楷体" panose="02010609060101010101" pitchFamily="49" charset="-122"/>
                <a:ea typeface="楷体" panose="02010609060101010101" pitchFamily="49" charset="-122"/>
                <a:sym typeface="Wingdings" panose="05000000000000000000" pitchFamily="2" charset="2"/>
              </a:rPr>
              <a:t>e.g</a:t>
            </a:r>
            <a:r>
              <a:rPr lang="en-US" altLang="zh-CN" sz="2400" dirty="0">
                <a:solidFill>
                  <a:srgbClr val="003399"/>
                </a:solidFill>
                <a:latin typeface="楷体" panose="02010609060101010101" pitchFamily="49" charset="-122"/>
                <a:ea typeface="楷体" panose="02010609060101010101" pitchFamily="49" charset="-122"/>
                <a:sym typeface="Wingdings" panose="05000000000000000000" pitchFamily="2" charset="2"/>
              </a:rPr>
              <a:t>: </a:t>
            </a:r>
            <a:r>
              <a:rPr lang="zh-CN" altLang="en-US" sz="2400" dirty="0">
                <a:solidFill>
                  <a:srgbClr val="003399"/>
                </a:solidFill>
                <a:latin typeface="楷体" panose="02010609060101010101" pitchFamily="49" charset="-122"/>
                <a:ea typeface="楷体" panose="02010609060101010101" pitchFamily="49" charset="-122"/>
                <a:sym typeface="Wingdings" panose="05000000000000000000" pitchFamily="2" charset="2"/>
              </a:rPr>
              <a:t>地址为</a:t>
            </a:r>
            <a:r>
              <a:rPr lang="en-US" altLang="zh-CN" sz="2400" dirty="0">
                <a:solidFill>
                  <a:srgbClr val="003399"/>
                </a:solidFill>
                <a:latin typeface="楷体" panose="02010609060101010101" pitchFamily="49" charset="-122"/>
                <a:ea typeface="楷体" panose="02010609060101010101" pitchFamily="49" charset="-122"/>
                <a:sym typeface="Wingdings" panose="05000000000000000000" pitchFamily="2" charset="2"/>
              </a:rPr>
              <a:t>BUFF+1</a:t>
            </a:r>
            <a:r>
              <a:rPr lang="zh-CN" altLang="en-US" sz="2400" dirty="0">
                <a:solidFill>
                  <a:srgbClr val="003399"/>
                </a:solidFill>
                <a:latin typeface="楷体" panose="02010609060101010101" pitchFamily="49" charset="-122"/>
                <a:ea typeface="楷体" panose="02010609060101010101" pitchFamily="49" charset="-122"/>
                <a:sym typeface="Wingdings" panose="05000000000000000000" pitchFamily="2" charset="2"/>
              </a:rPr>
              <a:t>的存储单元中存放的字节，字，双字分别是什么？</a:t>
            </a:r>
          </a:p>
        </p:txBody>
      </p:sp>
      <p:sp>
        <p:nvSpPr>
          <p:cNvPr id="4" name="矩形 10"/>
          <p:cNvSpPr>
            <a:spLocks noChangeArrowheads="1"/>
          </p:cNvSpPr>
          <p:nvPr/>
        </p:nvSpPr>
        <p:spPr bwMode="auto">
          <a:xfrm>
            <a:off x="468313" y="1125538"/>
            <a:ext cx="800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3.</a:t>
            </a:r>
            <a:r>
              <a:rPr lang="zh-CN" altLang="en-US" sz="2800" dirty="0">
                <a:solidFill>
                  <a:srgbClr val="000099"/>
                </a:solidFill>
                <a:latin typeface="楷体" panose="02010609060101010101" pitchFamily="49" charset="-122"/>
                <a:ea typeface="楷体" panose="02010609060101010101" pitchFamily="49" charset="-122"/>
              </a:rPr>
              <a:t>变量存储区中数据的存放</a:t>
            </a:r>
          </a:p>
        </p:txBody>
      </p:sp>
      <p:graphicFrame>
        <p:nvGraphicFramePr>
          <p:cNvPr id="5" name="Object 9"/>
          <p:cNvGraphicFramePr>
            <a:graphicFrameLocks/>
          </p:cNvGraphicFramePr>
          <p:nvPr>
            <p:extLst>
              <p:ext uri="{D42A27DB-BD31-4B8C-83A1-F6EECF244321}">
                <p14:modId xmlns:p14="http://schemas.microsoft.com/office/powerpoint/2010/main" val="634033887"/>
              </p:ext>
            </p:extLst>
          </p:nvPr>
        </p:nvGraphicFramePr>
        <p:xfrm>
          <a:off x="6213475" y="2507294"/>
          <a:ext cx="2930525" cy="4124325"/>
        </p:xfrm>
        <a:graphic>
          <a:graphicData uri="http://schemas.openxmlformats.org/presentationml/2006/ole">
            <mc:AlternateContent xmlns:mc="http://schemas.openxmlformats.org/markup-compatibility/2006">
              <mc:Choice xmlns:v="urn:schemas-microsoft-com:vml" Requires="v">
                <p:oleObj r:id="rId2" imgW="1495634" imgH="2104762" progId="PBrush">
                  <p:embed/>
                </p:oleObj>
              </mc:Choice>
              <mc:Fallback>
                <p:oleObj r:id="rId2" imgW="1495634" imgH="2104762" progId="PBrush">
                  <p:embed/>
                  <p:pic>
                    <p:nvPicPr>
                      <p:cNvPr id="28677"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3475" y="2507294"/>
                        <a:ext cx="293052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Tree>
    <p:extLst>
      <p:ext uri="{BB962C8B-B14F-4D97-AF65-F5344CB8AC3E}">
        <p14:creationId xmlns:p14="http://schemas.microsoft.com/office/powerpoint/2010/main" val="3478614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4D02FC0-FFBC-409A-99D2-9ECE975D2335}"/>
              </a:ext>
            </a:extLst>
          </p:cNvPr>
          <p:cNvSpPr/>
          <p:nvPr/>
        </p:nvSpPr>
        <p:spPr>
          <a:xfrm>
            <a:off x="2786063" y="2714625"/>
            <a:ext cx="357187" cy="292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3" name="Group 97"/>
          <p:cNvGrpSpPr>
            <a:grpSpLocks/>
          </p:cNvGrpSpPr>
          <p:nvPr/>
        </p:nvGrpSpPr>
        <p:grpSpPr bwMode="auto">
          <a:xfrm>
            <a:off x="825500" y="2352504"/>
            <a:ext cx="8064500" cy="3429000"/>
            <a:chOff x="377" y="960"/>
            <a:chExt cx="5080" cy="1440"/>
          </a:xfrm>
        </p:grpSpPr>
        <p:sp>
          <p:nvSpPr>
            <p:cNvPr id="4" name="AutoShape 72">
              <a:extLst>
                <a:ext uri="{FF2B5EF4-FFF2-40B4-BE49-F238E27FC236}">
                  <a16:creationId xmlns:a16="http://schemas.microsoft.com/office/drawing/2014/main" id="{8670C33E-53F0-4F2A-8F5E-5250432B4D89}"/>
                </a:ext>
              </a:extLst>
            </p:cNvPr>
            <p:cNvSpPr>
              <a:spLocks noChangeArrowheads="1"/>
            </p:cNvSpPr>
            <p:nvPr/>
          </p:nvSpPr>
          <p:spPr bwMode="auto">
            <a:xfrm>
              <a:off x="384" y="973"/>
              <a:ext cx="5073" cy="1427"/>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5" name="AutoShape 75"/>
            <p:cNvSpPr>
              <a:spLocks noChangeArrowheads="1"/>
            </p:cNvSpPr>
            <p:nvPr/>
          </p:nvSpPr>
          <p:spPr bwMode="auto">
            <a:xfrm>
              <a:off x="377" y="960"/>
              <a:ext cx="5073" cy="210"/>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zh-CN" altLang="en-US" sz="2800" dirty="0">
                  <a:solidFill>
                    <a:schemeClr val="bg1"/>
                  </a:solidFill>
                  <a:latin typeface="楷体" panose="02010609060101010101" pitchFamily="49" charset="-122"/>
                  <a:ea typeface="楷体" panose="02010609060101010101" pitchFamily="49" charset="-122"/>
                </a:rPr>
                <a:t>变量使用数据定义伪指令，其格式是：</a:t>
              </a:r>
              <a:endParaRPr lang="en-US" altLang="zh-CN" sz="2800" dirty="0">
                <a:solidFill>
                  <a:schemeClr val="bg1"/>
                </a:solidFill>
                <a:latin typeface="楷体" panose="02010609060101010101" pitchFamily="49" charset="-122"/>
                <a:ea typeface="楷体" panose="02010609060101010101" pitchFamily="49" charset="-122"/>
              </a:endParaRPr>
            </a:p>
          </p:txBody>
        </p:sp>
      </p:grpSp>
      <p:sp>
        <p:nvSpPr>
          <p:cNvPr id="6" name="Text Box 86"/>
          <p:cNvSpPr txBox="1">
            <a:spLocks noChangeArrowheads="1"/>
          </p:cNvSpPr>
          <p:nvPr/>
        </p:nvSpPr>
        <p:spPr bwMode="auto">
          <a:xfrm>
            <a:off x="719932" y="2889251"/>
            <a:ext cx="8286750"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DB</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；定义字节变量</a:t>
            </a:r>
          </a:p>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DW </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；定义字变量</a:t>
            </a:r>
          </a:p>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 DD </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；定义双字变量</a:t>
            </a:r>
          </a:p>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DQ </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；定义四字变量</a:t>
            </a:r>
          </a:p>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DF </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；定义六字节变量</a:t>
            </a:r>
          </a:p>
          <a:p>
            <a:pPr eaLnBrk="1" hangingPunct="1">
              <a:lnSpc>
                <a:spcPct val="90000"/>
              </a:lnSpc>
              <a:buClr>
                <a:schemeClr val="tx2"/>
              </a:buClr>
              <a:buFont typeface="Wingdings 2" panose="05020102010507070707" pitchFamily="18" charset="2"/>
              <a:buNone/>
            </a:pPr>
            <a:r>
              <a:rPr lang="en-US" altLang="zh-CN" sz="2800" dirty="0">
                <a:solidFill>
                  <a:schemeClr val="tx2"/>
                </a:solidFill>
                <a:latin typeface="楷体" panose="02010609060101010101" pitchFamily="49" charset="-122"/>
                <a:ea typeface="楷体" panose="02010609060101010101" pitchFamily="49" charset="-122"/>
              </a:rPr>
              <a:t>[</a:t>
            </a:r>
            <a:r>
              <a:rPr lang="zh-CN" altLang="en-US" sz="2800" dirty="0">
                <a:solidFill>
                  <a:schemeClr val="tx2"/>
                </a:solidFill>
                <a:latin typeface="楷体" panose="02010609060101010101" pitchFamily="49" charset="-122"/>
                <a:ea typeface="楷体" panose="02010609060101010101" pitchFamily="49" charset="-122"/>
              </a:rPr>
              <a:t>变量名</a:t>
            </a:r>
            <a:r>
              <a:rPr lang="en-US" altLang="zh-CN" sz="2800" dirty="0">
                <a:solidFill>
                  <a:schemeClr val="tx2"/>
                </a:solidFill>
                <a:latin typeface="楷体" panose="02010609060101010101" pitchFamily="49" charset="-122"/>
                <a:ea typeface="楷体" panose="02010609060101010101" pitchFamily="49" charset="-122"/>
              </a:rPr>
              <a:t>]  </a:t>
            </a:r>
            <a:r>
              <a:rPr lang="en-US" altLang="zh-CN" sz="2800" dirty="0">
                <a:solidFill>
                  <a:srgbClr val="FF0066"/>
                </a:solidFill>
                <a:latin typeface="楷体" panose="02010609060101010101" pitchFamily="49" charset="-122"/>
                <a:ea typeface="楷体" panose="02010609060101010101" pitchFamily="49" charset="-122"/>
              </a:rPr>
              <a:t>DT </a:t>
            </a:r>
            <a:r>
              <a:rPr lang="en-US" altLang="zh-CN" sz="2800" dirty="0">
                <a:solidFill>
                  <a:schemeClr val="tx2"/>
                </a:solidFill>
                <a:latin typeface="楷体" panose="02010609060101010101" pitchFamily="49" charset="-122"/>
                <a:ea typeface="楷体" panose="02010609060101010101" pitchFamily="49" charset="-122"/>
              </a:rPr>
              <a:t> </a:t>
            </a:r>
            <a:r>
              <a:rPr lang="zh-CN" altLang="en-US" sz="2800" dirty="0">
                <a:solidFill>
                  <a:schemeClr val="tx2"/>
                </a:solidFill>
                <a:latin typeface="楷体" panose="02010609060101010101" pitchFamily="49" charset="-122"/>
                <a:ea typeface="楷体" panose="02010609060101010101" pitchFamily="49" charset="-122"/>
              </a:rPr>
              <a:t>表达式</a:t>
            </a:r>
            <a:r>
              <a:rPr lang="en-US" altLang="zh-CN" sz="2800" dirty="0">
                <a:solidFill>
                  <a:schemeClr val="tx2"/>
                </a:solidFill>
                <a:latin typeface="楷体" panose="02010609060101010101" pitchFamily="49" charset="-122"/>
                <a:ea typeface="楷体" panose="02010609060101010101" pitchFamily="49" charset="-122"/>
              </a:rPr>
              <a:t>[, ……] </a:t>
            </a:r>
            <a:r>
              <a:rPr lang="zh-CN" altLang="en-US" sz="2800" dirty="0">
                <a:solidFill>
                  <a:schemeClr val="tx2"/>
                </a:solidFill>
                <a:latin typeface="楷体" panose="02010609060101010101" pitchFamily="49" charset="-122"/>
                <a:ea typeface="楷体" panose="02010609060101010101" pitchFamily="49" charset="-122"/>
              </a:rPr>
              <a:t>；定义十字节变量</a:t>
            </a:r>
            <a:endParaRPr lang="en-US" altLang="zh-CN" sz="2800" dirty="0">
              <a:solidFill>
                <a:schemeClr val="tx2"/>
              </a:solidFill>
              <a:latin typeface="楷体" panose="02010609060101010101" pitchFamily="49" charset="-122"/>
              <a:ea typeface="楷体" panose="02010609060101010101" pitchFamily="49" charset="-122"/>
            </a:endParaRPr>
          </a:p>
        </p:txBody>
      </p:sp>
      <p:sp>
        <p:nvSpPr>
          <p:cNvPr id="7" name="矩形 14"/>
          <p:cNvSpPr>
            <a:spLocks noChangeArrowheads="1"/>
          </p:cNvSpPr>
          <p:nvPr/>
        </p:nvSpPr>
        <p:spPr bwMode="auto">
          <a:xfrm>
            <a:off x="714375" y="5918798"/>
            <a:ext cx="75009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eaLnBrk="1" hangingPunct="1">
              <a:spcBef>
                <a:spcPts val="0"/>
              </a:spcBef>
              <a:buClr>
                <a:srgbClr val="00B0F0"/>
              </a:buClr>
              <a:buSzPct val="8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数据定义伪指令指明了变量的</a:t>
            </a:r>
            <a:r>
              <a:rPr lang="zh-CN" altLang="en-US" sz="2400" dirty="0">
                <a:solidFill>
                  <a:srgbClr val="FF0000"/>
                </a:solidFill>
                <a:latin typeface="楷体" panose="02010609060101010101" pitchFamily="49" charset="-122"/>
                <a:ea typeface="楷体" panose="02010609060101010101" pitchFamily="49" charset="-122"/>
              </a:rPr>
              <a:t>类型</a:t>
            </a:r>
          </a:p>
          <a:p>
            <a:pPr marL="0" indent="0" eaLnBrk="1" hangingPunct="1">
              <a:spcBef>
                <a:spcPts val="0"/>
              </a:spcBef>
              <a:buClr>
                <a:srgbClr val="00B0F0"/>
              </a:buClr>
              <a:buSzPct val="8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表达式确定变量的</a:t>
            </a:r>
            <a:r>
              <a:rPr lang="zh-CN" altLang="en-US" sz="2400" dirty="0">
                <a:solidFill>
                  <a:srgbClr val="FF0000"/>
                </a:solidFill>
                <a:latin typeface="楷体" panose="02010609060101010101" pitchFamily="49" charset="-122"/>
                <a:ea typeface="楷体" panose="02010609060101010101" pitchFamily="49" charset="-122"/>
              </a:rPr>
              <a:t>初值</a:t>
            </a:r>
            <a:r>
              <a:rPr lang="zh-CN" altLang="en-US" sz="2400" dirty="0">
                <a:latin typeface="楷体" panose="02010609060101010101" pitchFamily="49" charset="-122"/>
                <a:ea typeface="楷体" panose="02010609060101010101" pitchFamily="49" charset="-122"/>
              </a:rPr>
              <a:t>。表达式有如下几种：</a:t>
            </a:r>
          </a:p>
        </p:txBody>
      </p:sp>
      <p:sp>
        <p:nvSpPr>
          <p:cNvPr id="8" name="矩形 10"/>
          <p:cNvSpPr>
            <a:spLocks noChangeArrowheads="1"/>
          </p:cNvSpPr>
          <p:nvPr/>
        </p:nvSpPr>
        <p:spPr bwMode="auto">
          <a:xfrm>
            <a:off x="428625" y="1019182"/>
            <a:ext cx="857250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4.</a:t>
            </a:r>
            <a:r>
              <a:rPr lang="zh-CN" altLang="en-US" sz="2800" dirty="0">
                <a:solidFill>
                  <a:srgbClr val="000099"/>
                </a:solidFill>
                <a:latin typeface="楷体" panose="02010609060101010101" pitchFamily="49" charset="-122"/>
                <a:ea typeface="楷体" panose="02010609060101010101" pitchFamily="49" charset="-122"/>
              </a:rPr>
              <a:t>变量的类型属性及定义</a:t>
            </a:r>
            <a:endParaRPr lang="en-US" altLang="zh-CN" sz="2800" dirty="0">
              <a:solidFill>
                <a:srgbClr val="000099"/>
              </a:solidFill>
              <a:latin typeface="楷体" panose="02010609060101010101" pitchFamily="49" charset="-122"/>
              <a:ea typeface="楷体" panose="02010609060101010101" pitchFamily="49" charset="-122"/>
            </a:endParaRPr>
          </a:p>
          <a:p>
            <a:pPr>
              <a:spcBef>
                <a:spcPct val="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    变量的类型：是指存取该变量中的数据所需要的字节数，即存取变量需要的字节数。</a:t>
            </a:r>
          </a:p>
        </p:txBody>
      </p:sp>
      <p:sp>
        <p:nvSpPr>
          <p:cNvPr id="9" name="矩形 8">
            <a:extLst>
              <a:ext uri="{FF2B5EF4-FFF2-40B4-BE49-F238E27FC236}">
                <a16:creationId xmlns:a16="http://schemas.microsoft.com/office/drawing/2014/main" id="{C6D96921-900F-402F-B3BE-4E331D1CBD3A}"/>
              </a:ext>
            </a:extLst>
          </p:cNvPr>
          <p:cNvSpPr/>
          <p:nvPr/>
        </p:nvSpPr>
        <p:spPr>
          <a:xfrm>
            <a:off x="2552959" y="2816524"/>
            <a:ext cx="428625" cy="3000375"/>
          </a:xfrm>
          <a:prstGeom prst="rect">
            <a:avLst/>
          </a:prstGeom>
          <a:solidFill>
            <a:schemeClr val="accent1">
              <a:alpha val="0"/>
            </a:schemeClr>
          </a:solidFill>
          <a:ln w="44450">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Tree>
    <p:extLst>
      <p:ext uri="{BB962C8B-B14F-4D97-AF65-F5344CB8AC3E}">
        <p14:creationId xmlns:p14="http://schemas.microsoft.com/office/powerpoint/2010/main" val="1076215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1984159" y="393013"/>
            <a:ext cx="5175682" cy="65469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Tx/>
              <a:buNone/>
            </a:pPr>
            <a:r>
              <a:rPr lang="en-US" altLang="zh-CN" dirty="0">
                <a:solidFill>
                  <a:srgbClr val="0066CC"/>
                </a:solidFill>
                <a:latin typeface="楷体" panose="02010609060101010101" pitchFamily="49" charset="-122"/>
                <a:ea typeface="楷体" panose="02010609060101010101" pitchFamily="49" charset="-122"/>
                <a:cs typeface="Times New Roman" panose="02020603050405020304" pitchFamily="18" charset="0"/>
              </a:rPr>
              <a:t>7.1.2  </a:t>
            </a:r>
            <a:r>
              <a:rPr lang="zh-CN" altLang="en-US" dirty="0">
                <a:solidFill>
                  <a:srgbClr val="0066CC"/>
                </a:solidFill>
                <a:latin typeface="楷体" panose="02010609060101010101" pitchFamily="49" charset="-122"/>
                <a:ea typeface="楷体" panose="02010609060101010101" pitchFamily="49" charset="-122"/>
                <a:cs typeface="Times New Roman" panose="02020603050405020304" pitchFamily="18" charset="0"/>
              </a:rPr>
              <a:t>变量</a:t>
            </a:r>
          </a:p>
        </p:txBody>
      </p:sp>
      <p:sp>
        <p:nvSpPr>
          <p:cNvPr id="3" name="Rectangle 3"/>
          <p:cNvSpPr txBox="1">
            <a:spLocks noChangeArrowheads="1"/>
          </p:cNvSpPr>
          <p:nvPr/>
        </p:nvSpPr>
        <p:spPr>
          <a:xfrm>
            <a:off x="381740" y="1259242"/>
            <a:ext cx="8584707" cy="54022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5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）表达式为常量或数值表达式</a:t>
            </a:r>
            <a:r>
              <a:rPr lang="zh-CN" altLang="en-US" sz="2400" dirty="0">
                <a:solidFill>
                  <a:srgbClr val="FF0066"/>
                </a:solidFill>
                <a:latin typeface="楷体" panose="02010609060101010101" pitchFamily="49" charset="-122"/>
                <a:ea typeface="楷体" panose="02010609060101010101" pitchFamily="49" charset="-122"/>
              </a:rPr>
              <a:t>→存入数值</a:t>
            </a:r>
            <a:endParaRPr lang="en-US" altLang="zh-CN" sz="2400" dirty="0">
              <a:solidFill>
                <a:srgbClr val="FF0066"/>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     如：</a:t>
            </a:r>
            <a:r>
              <a:rPr lang="en-US" altLang="zh-CN" sz="2400" dirty="0">
                <a:solidFill>
                  <a:srgbClr val="000099"/>
                </a:solidFill>
                <a:latin typeface="楷体" panose="02010609060101010101" pitchFamily="49" charset="-122"/>
                <a:ea typeface="楷体" panose="02010609060101010101" pitchFamily="49" charset="-122"/>
              </a:rPr>
              <a:t>W1</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DW</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1</a:t>
            </a:r>
            <a:endParaRPr lang="zh-CN" altLang="en-US" sz="2400" dirty="0">
              <a:solidFill>
                <a:srgbClr val="000099"/>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）表达式为</a:t>
            </a:r>
            <a:r>
              <a:rPr lang="en-US" altLang="zh-CN" sz="2400" dirty="0">
                <a:latin typeface="楷体" panose="02010609060101010101" pitchFamily="49" charset="-122"/>
                <a:ea typeface="楷体" panose="02010609060101010101" pitchFamily="49" charset="-122"/>
              </a:rPr>
              <a:t>ASCII</a:t>
            </a:r>
            <a:r>
              <a:rPr lang="zh-CN" altLang="en-US" sz="2400" dirty="0">
                <a:latin typeface="楷体" panose="02010609060101010101" pitchFamily="49" charset="-122"/>
                <a:ea typeface="楷体" panose="02010609060101010101" pitchFamily="49" charset="-122"/>
              </a:rPr>
              <a:t>字符串 </a:t>
            </a:r>
            <a:r>
              <a:rPr lang="zh-CN" altLang="en-US" sz="2400" dirty="0">
                <a:solidFill>
                  <a:srgbClr val="FF0066"/>
                </a:solidFill>
                <a:latin typeface="楷体" panose="02010609060101010101" pitchFamily="49" charset="-122"/>
                <a:ea typeface="楷体" panose="02010609060101010101" pitchFamily="49" charset="-122"/>
              </a:rPr>
              <a:t>→存入</a:t>
            </a:r>
            <a:r>
              <a:rPr lang="en-US" altLang="zh-CN" sz="2400" dirty="0">
                <a:solidFill>
                  <a:srgbClr val="FF0066"/>
                </a:solidFill>
                <a:latin typeface="楷体" panose="02010609060101010101" pitchFamily="49" charset="-122"/>
                <a:ea typeface="楷体" panose="02010609060101010101" pitchFamily="49" charset="-122"/>
              </a:rPr>
              <a:t>ASCII</a:t>
            </a:r>
            <a:r>
              <a:rPr lang="zh-CN" altLang="en-US" sz="2400" dirty="0">
                <a:solidFill>
                  <a:srgbClr val="FF0066"/>
                </a:solidFill>
                <a:latin typeface="楷体" panose="02010609060101010101" pitchFamily="49" charset="-122"/>
                <a:ea typeface="楷体" panose="02010609060101010101" pitchFamily="49" charset="-122"/>
              </a:rPr>
              <a:t>值</a:t>
            </a:r>
            <a:endParaRPr lang="en-US" altLang="zh-CN" sz="2400" dirty="0">
              <a:solidFill>
                <a:srgbClr val="FF0066"/>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     如：</a:t>
            </a:r>
            <a:r>
              <a:rPr lang="en-US" altLang="zh-CN" sz="2400" dirty="0">
                <a:solidFill>
                  <a:srgbClr val="000099"/>
                </a:solidFill>
                <a:latin typeface="楷体" panose="02010609060101010101" pitchFamily="49" charset="-122"/>
                <a:ea typeface="楷体" panose="02010609060101010101" pitchFamily="49" charset="-122"/>
              </a:rPr>
              <a:t>B2</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DB</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mj-lt"/>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AB$</a:t>
            </a:r>
            <a:r>
              <a:rPr lang="en-US" altLang="zh-CN" sz="2400" dirty="0">
                <a:solidFill>
                  <a:srgbClr val="000099"/>
                </a:solidFill>
                <a:latin typeface="+mj-lt"/>
                <a:ea typeface="楷体" panose="02010609060101010101" pitchFamily="49" charset="-122"/>
              </a:rPr>
              <a:t>’</a:t>
            </a:r>
            <a:r>
              <a:rPr lang="zh-CN" altLang="en-US" sz="2400" dirty="0">
                <a:solidFill>
                  <a:srgbClr val="000099"/>
                </a:solidFill>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用</a:t>
            </a:r>
            <a:r>
              <a:rPr lang="en-US" altLang="zh-CN" sz="2400" dirty="0">
                <a:latin typeface="楷体" panose="02010609060101010101" pitchFamily="49" charset="-122"/>
                <a:ea typeface="楷体" panose="02010609060101010101" pitchFamily="49" charset="-122"/>
              </a:rPr>
              <a:t>DB</a:t>
            </a:r>
            <a:r>
              <a:rPr lang="zh-CN" altLang="en-US" sz="2400" dirty="0">
                <a:latin typeface="楷体" panose="02010609060101010101" pitchFamily="49" charset="-122"/>
                <a:ea typeface="楷体" panose="02010609060101010101" pitchFamily="49" charset="-122"/>
              </a:rPr>
              <a:t>定义时，字符按先后顺序存放且</a:t>
            </a:r>
            <a:endParaRPr lang="en-US" altLang="zh-CN" sz="2400" dirty="0">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串长度可大于</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个字符</a:t>
            </a:r>
            <a:endParaRPr lang="en-US" altLang="zh-CN" sz="2400" dirty="0">
              <a:latin typeface="楷体" panose="02010609060101010101" pitchFamily="49" charset="-122"/>
              <a:ea typeface="楷体" panose="02010609060101010101" pitchFamily="49" charset="-122"/>
            </a:endParaRPr>
          </a:p>
          <a:p>
            <a:pPr marL="0" indent="0">
              <a:lnSpc>
                <a:spcPct val="110000"/>
              </a:lnSpc>
              <a:spcBef>
                <a:spcPts val="500"/>
              </a:spcBef>
              <a:buNone/>
            </a:pPr>
            <a:r>
              <a:rPr lang="en-US" altLang="zh-CN" sz="2400" dirty="0">
                <a:solidFill>
                  <a:srgbClr val="000099"/>
                </a:solidFill>
                <a:latin typeface="楷体" panose="02010609060101010101" pitchFamily="49" charset="-122"/>
                <a:ea typeface="楷体" panose="02010609060101010101" pitchFamily="49" charset="-122"/>
              </a:rPr>
              <a:t>         W2</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DW</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mj-lt"/>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AB</a:t>
            </a:r>
            <a:r>
              <a:rPr lang="en-US" altLang="zh-CN" sz="2400" dirty="0">
                <a:solidFill>
                  <a:srgbClr val="000099"/>
                </a:solidFill>
                <a:latin typeface="+mj-lt"/>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用</a:t>
            </a:r>
            <a:r>
              <a:rPr lang="en-US" altLang="zh-CN" sz="2400" dirty="0">
                <a:latin typeface="楷体" panose="02010609060101010101" pitchFamily="49" charset="-122"/>
                <a:ea typeface="楷体" panose="02010609060101010101" pitchFamily="49" charset="-122"/>
              </a:rPr>
              <a:t>DW</a:t>
            </a:r>
            <a:r>
              <a:rPr lang="zh-CN" altLang="en-US" sz="2400" dirty="0">
                <a:latin typeface="楷体" panose="02010609060101010101" pitchFamily="49" charset="-122"/>
                <a:ea typeface="楷体" panose="02010609060101010101" pitchFamily="49" charset="-122"/>
              </a:rPr>
              <a:t>定义时，将字符的</a:t>
            </a:r>
            <a:r>
              <a:rPr lang="en-US" altLang="zh-CN" sz="2400" dirty="0">
                <a:latin typeface="楷体" panose="02010609060101010101" pitchFamily="49" charset="-122"/>
                <a:ea typeface="楷体" panose="02010609060101010101" pitchFamily="49" charset="-122"/>
              </a:rPr>
              <a:t>ASCII</a:t>
            </a:r>
            <a:r>
              <a:rPr lang="zh-CN" altLang="en-US" sz="2400" dirty="0">
                <a:latin typeface="楷体" panose="02010609060101010101" pitchFamily="49" charset="-122"/>
                <a:ea typeface="楷体" panose="02010609060101010101" pitchFamily="49" charset="-122"/>
              </a:rPr>
              <a:t>码按字存</a:t>
            </a:r>
            <a:endParaRPr lang="en-US" altLang="zh-CN" sz="2400" dirty="0">
              <a:latin typeface="楷体" panose="02010609060101010101" pitchFamily="49" charset="-122"/>
              <a:ea typeface="楷体" panose="02010609060101010101" pitchFamily="49" charset="-122"/>
            </a:endParaRPr>
          </a:p>
          <a:p>
            <a:pPr marL="0" indent="0">
              <a:lnSpc>
                <a:spcPct val="110000"/>
              </a:lnSpc>
              <a:spcBef>
                <a:spcPts val="500"/>
              </a:spcBef>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放，但串长度不可超过</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个字符</a:t>
            </a:r>
            <a:endParaRPr lang="zh-CN" altLang="en-US" sz="2400" dirty="0">
              <a:solidFill>
                <a:srgbClr val="000099"/>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）表达式为重复子句</a:t>
            </a:r>
            <a:endParaRPr lang="en-US" altLang="zh-CN" sz="2400" dirty="0">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格式：</a:t>
            </a:r>
            <a:r>
              <a:rPr lang="en-US" altLang="zh-CN" sz="2400" dirty="0">
                <a:solidFill>
                  <a:srgbClr val="FF0066"/>
                </a:solidFill>
                <a:latin typeface="楷体" panose="02010609060101010101" pitchFamily="49" charset="-122"/>
                <a:ea typeface="楷体" panose="02010609060101010101" pitchFamily="49" charset="-122"/>
              </a:rPr>
              <a:t>n  DUP</a:t>
            </a:r>
            <a:r>
              <a:rPr lang="zh-CN" altLang="en-US" sz="2400" dirty="0">
                <a:solidFill>
                  <a:srgbClr val="FF0066"/>
                </a:solidFill>
                <a:latin typeface="楷体" panose="02010609060101010101" pitchFamily="49" charset="-122"/>
                <a:ea typeface="楷体" panose="02010609060101010101" pitchFamily="49" charset="-122"/>
              </a:rPr>
              <a:t>（表达式）</a:t>
            </a:r>
            <a:r>
              <a:rPr lang="en-US" altLang="zh-CN" sz="2400" dirty="0">
                <a:solidFill>
                  <a:srgbClr val="FF0066"/>
                </a:solidFill>
                <a:latin typeface="楷体" panose="02010609060101010101" pitchFamily="49" charset="-122"/>
                <a:ea typeface="楷体" panose="02010609060101010101" pitchFamily="49" charset="-122"/>
              </a:rPr>
              <a:t>; n</a:t>
            </a:r>
            <a:r>
              <a:rPr lang="zh-CN" altLang="en-US" sz="2400" dirty="0">
                <a:solidFill>
                  <a:srgbClr val="FF0066"/>
                </a:solidFill>
                <a:latin typeface="楷体" panose="02010609060101010101" pitchFamily="49" charset="-122"/>
                <a:ea typeface="楷体" panose="02010609060101010101" pitchFamily="49" charset="-122"/>
              </a:rPr>
              <a:t>是重复因子（取非</a:t>
            </a:r>
            <a:r>
              <a:rPr lang="en-US" altLang="zh-CN" sz="2400" dirty="0">
                <a:solidFill>
                  <a:srgbClr val="FF0066"/>
                </a:solidFill>
                <a:latin typeface="楷体" panose="02010609060101010101" pitchFamily="49" charset="-122"/>
                <a:ea typeface="楷体" panose="02010609060101010101" pitchFamily="49" charset="-122"/>
              </a:rPr>
              <a:t>0</a:t>
            </a:r>
            <a:r>
              <a:rPr lang="zh-CN" altLang="en-US" sz="2400" dirty="0">
                <a:solidFill>
                  <a:srgbClr val="FF0066"/>
                </a:solidFill>
                <a:latin typeface="楷体" panose="02010609060101010101" pitchFamily="49" charset="-122"/>
                <a:ea typeface="楷体" panose="02010609060101010101" pitchFamily="49" charset="-122"/>
              </a:rPr>
              <a:t>自然数，表示定义了</a:t>
            </a:r>
            <a:r>
              <a:rPr lang="en-US" altLang="zh-CN" sz="2400" dirty="0">
                <a:solidFill>
                  <a:srgbClr val="FF0066"/>
                </a:solidFill>
                <a:latin typeface="楷体" panose="02010609060101010101" pitchFamily="49" charset="-122"/>
                <a:ea typeface="楷体" panose="02010609060101010101" pitchFamily="49" charset="-122"/>
              </a:rPr>
              <a:t>n</a:t>
            </a:r>
            <a:r>
              <a:rPr lang="zh-CN" altLang="en-US" sz="2400" dirty="0">
                <a:solidFill>
                  <a:srgbClr val="FF0066"/>
                </a:solidFill>
                <a:latin typeface="楷体" panose="02010609060101010101" pitchFamily="49" charset="-122"/>
                <a:ea typeface="楷体" panose="02010609060101010101" pitchFamily="49" charset="-122"/>
              </a:rPr>
              <a:t>个表达式）</a:t>
            </a:r>
            <a:endParaRPr lang="en-US" altLang="zh-CN" sz="2400" dirty="0">
              <a:solidFill>
                <a:srgbClr val="FF0066"/>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     如：</a:t>
            </a:r>
            <a:r>
              <a:rPr lang="en-US" altLang="zh-CN" sz="2400" dirty="0">
                <a:solidFill>
                  <a:srgbClr val="000099"/>
                </a:solidFill>
                <a:latin typeface="楷体" panose="02010609060101010101" pitchFamily="49" charset="-122"/>
                <a:ea typeface="楷体" panose="02010609060101010101" pitchFamily="49" charset="-122"/>
              </a:rPr>
              <a:t>B3</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DB</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FF3399"/>
                </a:solidFill>
                <a:latin typeface="楷体" panose="02010609060101010101" pitchFamily="49" charset="-122"/>
                <a:ea typeface="楷体" panose="02010609060101010101" pitchFamily="49" charset="-122"/>
              </a:rPr>
              <a:t>2</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DUP(0)</a:t>
            </a:r>
            <a:r>
              <a:rPr lang="zh-CN" altLang="en-US" sz="2400" dirty="0">
                <a:solidFill>
                  <a:srgbClr val="000099"/>
                </a:solidFill>
                <a:latin typeface="楷体" panose="02010609060101010101" pitchFamily="49" charset="-122"/>
                <a:ea typeface="楷体" panose="02010609060101010101" pitchFamily="49" charset="-122"/>
              </a:rPr>
              <a:t> </a:t>
            </a:r>
            <a:endParaRPr lang="en-US" altLang="zh-CN" sz="2400" dirty="0">
              <a:solidFill>
                <a:srgbClr val="000099"/>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B4</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DB</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FF3399"/>
                </a:solidFill>
                <a:latin typeface="楷体" panose="02010609060101010101" pitchFamily="49" charset="-122"/>
                <a:ea typeface="楷体" panose="02010609060101010101" pitchFamily="49" charset="-122"/>
              </a:rPr>
              <a:t>2</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DUP(5,</a:t>
            </a:r>
            <a:r>
              <a:rPr lang="en-US" altLang="zh-CN" sz="2400" dirty="0">
                <a:solidFill>
                  <a:srgbClr val="000099"/>
                </a:solidFill>
                <a:latin typeface="+mj-lt"/>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A</a:t>
            </a:r>
            <a:r>
              <a:rPr lang="en-US" altLang="zh-CN" sz="2400" dirty="0">
                <a:solidFill>
                  <a:srgbClr val="000099"/>
                </a:solidFill>
                <a:latin typeface="+mj-lt"/>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a:t>
            </a:r>
            <a:endParaRPr lang="zh-CN" altLang="en-US" sz="2400" dirty="0">
              <a:solidFill>
                <a:srgbClr val="FF0066"/>
              </a:solidFill>
              <a:latin typeface="楷体" panose="02010609060101010101" pitchFamily="49" charset="-122"/>
              <a:ea typeface="楷体" panose="02010609060101010101" pitchFamily="49" charset="-122"/>
            </a:endParaRPr>
          </a:p>
          <a:p>
            <a:pPr marL="0" indent="0">
              <a:lnSpc>
                <a:spcPct val="110000"/>
              </a:lnSpc>
              <a:spcBef>
                <a:spcPts val="500"/>
              </a:spcBef>
              <a:buFont typeface="Wingdings 2" panose="05020102010507070707" pitchFamily="18" charset="2"/>
              <a:buNone/>
            </a:pPr>
            <a:endParaRPr lang="zh-CN" altLang="en-US" sz="2400" dirty="0">
              <a:latin typeface="楷体" panose="02010609060101010101" pitchFamily="49" charset="-122"/>
              <a:ea typeface="楷体" panose="02010609060101010101" pitchFamily="49" charset="-122"/>
            </a:endParaRPr>
          </a:p>
        </p:txBody>
      </p:sp>
      <p:sp>
        <p:nvSpPr>
          <p:cNvPr id="4"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Tree>
    <p:extLst>
      <p:ext uri="{BB962C8B-B14F-4D97-AF65-F5344CB8AC3E}">
        <p14:creationId xmlns:p14="http://schemas.microsoft.com/office/powerpoint/2010/main" val="337722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
        <p:nvSpPr>
          <p:cNvPr id="3" name="Rectangle 3"/>
          <p:cNvSpPr txBox="1">
            <a:spLocks noChangeArrowheads="1"/>
          </p:cNvSpPr>
          <p:nvPr/>
        </p:nvSpPr>
        <p:spPr>
          <a:xfrm>
            <a:off x="360794" y="1415295"/>
            <a:ext cx="8422412" cy="5000625"/>
          </a:xfrm>
          <a:prstGeom prst="rect">
            <a:avLst/>
          </a:prstGeom>
        </p:spPr>
        <p:txBody>
          <a:bodyPr/>
          <a:lstStyle>
            <a:defPPr>
              <a:defRPr lang="en-US"/>
            </a:defPPr>
            <a:lvl1pPr indent="0" defTabSz="914400">
              <a:lnSpc>
                <a:spcPct val="110000"/>
              </a:lnSpc>
              <a:spcBef>
                <a:spcPts val="500"/>
              </a:spcBef>
              <a:buFont typeface="Wingdings 2" panose="05020102010507070707" pitchFamily="18" charset="2"/>
              <a:buNone/>
              <a:defRPr sz="2400">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a:t>
            </a:r>
            <a:r>
              <a:rPr lang="en-US" altLang="zh-CN" dirty="0"/>
              <a:t>4</a:t>
            </a:r>
            <a:r>
              <a:rPr lang="zh-CN" altLang="en-US" dirty="0"/>
              <a:t>）地址表达式</a:t>
            </a:r>
            <a:r>
              <a:rPr lang="en-US" altLang="zh-CN" dirty="0"/>
              <a:t>(</a:t>
            </a:r>
            <a:r>
              <a:rPr lang="zh-CN" altLang="en-US" dirty="0"/>
              <a:t>只适用</a:t>
            </a:r>
            <a:r>
              <a:rPr lang="en-US" altLang="zh-CN" dirty="0"/>
              <a:t>DW</a:t>
            </a:r>
            <a:r>
              <a:rPr lang="zh-CN" altLang="en-US" dirty="0"/>
              <a:t>、</a:t>
            </a:r>
            <a:r>
              <a:rPr lang="en-US" altLang="zh-CN" dirty="0"/>
              <a:t>DD</a:t>
            </a:r>
            <a:r>
              <a:rPr lang="zh-CN" altLang="en-US" dirty="0"/>
              <a:t>和</a:t>
            </a:r>
            <a:r>
              <a:rPr lang="en-US" altLang="zh-CN" dirty="0"/>
              <a:t>DF</a:t>
            </a:r>
            <a:r>
              <a:rPr lang="zh-CN" altLang="en-US" dirty="0"/>
              <a:t>三个伪指令</a:t>
            </a:r>
            <a:r>
              <a:rPr lang="en-US" altLang="zh-CN" dirty="0"/>
              <a:t>) </a:t>
            </a:r>
          </a:p>
          <a:p>
            <a:r>
              <a:rPr lang="zh-CN" altLang="en-US" dirty="0"/>
              <a:t>格式：</a:t>
            </a:r>
            <a:r>
              <a:rPr lang="en-US" altLang="zh-CN" dirty="0">
                <a:solidFill>
                  <a:srgbClr val="FF0000"/>
                </a:solidFill>
              </a:rPr>
              <a:t>[</a:t>
            </a:r>
            <a:r>
              <a:rPr lang="zh-CN" altLang="en-US" dirty="0">
                <a:solidFill>
                  <a:srgbClr val="FF0000"/>
                </a:solidFill>
              </a:rPr>
              <a:t>变量名</a:t>
            </a:r>
            <a:r>
              <a:rPr lang="en-US" altLang="zh-CN" dirty="0">
                <a:solidFill>
                  <a:srgbClr val="FF0000"/>
                </a:solidFill>
              </a:rPr>
              <a:t>]  DW  </a:t>
            </a:r>
            <a:r>
              <a:rPr lang="zh-CN" altLang="en-US" dirty="0">
                <a:solidFill>
                  <a:srgbClr val="FF0000"/>
                </a:solidFill>
              </a:rPr>
              <a:t>地址表达式 </a:t>
            </a:r>
            <a:r>
              <a:rPr lang="en-US" altLang="zh-CN" dirty="0">
                <a:solidFill>
                  <a:srgbClr val="003399"/>
                </a:solidFill>
              </a:rPr>
              <a:t>;</a:t>
            </a:r>
            <a:r>
              <a:rPr lang="zh-CN" altLang="en-US" dirty="0">
                <a:solidFill>
                  <a:srgbClr val="003399"/>
                </a:solidFill>
              </a:rPr>
              <a:t>取其偏移地址来初始化</a:t>
            </a:r>
            <a:endParaRPr lang="en-US" altLang="zh-CN" dirty="0">
              <a:solidFill>
                <a:srgbClr val="003399"/>
              </a:solidFill>
            </a:endParaRPr>
          </a:p>
          <a:p>
            <a:r>
              <a:rPr lang="en-US" altLang="zh-CN" dirty="0">
                <a:solidFill>
                  <a:srgbClr val="003399"/>
                </a:solidFill>
              </a:rPr>
              <a:t>   </a:t>
            </a:r>
            <a:r>
              <a:rPr lang="zh-CN" altLang="en-US" dirty="0">
                <a:solidFill>
                  <a:srgbClr val="003399"/>
                </a:solidFill>
              </a:rPr>
              <a:t>如：</a:t>
            </a:r>
            <a:r>
              <a:rPr lang="en-US" altLang="zh-CN" dirty="0">
                <a:solidFill>
                  <a:srgbClr val="003399"/>
                </a:solidFill>
              </a:rPr>
              <a:t>W3  DW   W2              </a:t>
            </a:r>
            <a:r>
              <a:rPr lang="zh-CN" altLang="en-US" dirty="0">
                <a:solidFill>
                  <a:srgbClr val="003399"/>
                </a:solidFill>
              </a:rPr>
              <a:t>变量</a:t>
            </a:r>
            <a:endParaRPr lang="en-US" altLang="zh-CN" dirty="0">
              <a:solidFill>
                <a:srgbClr val="003399"/>
              </a:solidFill>
            </a:endParaRPr>
          </a:p>
          <a:p>
            <a:r>
              <a:rPr lang="zh-CN" altLang="en-US" dirty="0"/>
              <a:t>      </a:t>
            </a:r>
            <a:r>
              <a:rPr lang="en-US" altLang="zh-CN" dirty="0">
                <a:solidFill>
                  <a:srgbClr val="FF0000"/>
                </a:solidFill>
              </a:rPr>
              <a:t>[</a:t>
            </a:r>
            <a:r>
              <a:rPr lang="zh-CN" altLang="en-US" dirty="0">
                <a:solidFill>
                  <a:srgbClr val="FF0000"/>
                </a:solidFill>
              </a:rPr>
              <a:t>变量名</a:t>
            </a:r>
            <a:r>
              <a:rPr lang="en-US" altLang="zh-CN" dirty="0">
                <a:solidFill>
                  <a:srgbClr val="FF0000"/>
                </a:solidFill>
              </a:rPr>
              <a:t>]  DD  </a:t>
            </a:r>
            <a:r>
              <a:rPr lang="zh-CN" altLang="en-US" dirty="0">
                <a:solidFill>
                  <a:srgbClr val="FF0000"/>
                </a:solidFill>
              </a:rPr>
              <a:t>地址表达式 </a:t>
            </a:r>
            <a:r>
              <a:rPr lang="en-US" altLang="zh-CN" dirty="0">
                <a:solidFill>
                  <a:srgbClr val="003399"/>
                </a:solidFill>
              </a:rPr>
              <a:t>;</a:t>
            </a:r>
            <a:r>
              <a:rPr lang="zh-CN" altLang="en-US" dirty="0">
                <a:solidFill>
                  <a:srgbClr val="003399"/>
                </a:solidFill>
              </a:rPr>
              <a:t>取</a:t>
            </a:r>
            <a:r>
              <a:rPr lang="en-US" altLang="zh-CN" dirty="0">
                <a:solidFill>
                  <a:srgbClr val="003399"/>
                </a:solidFill>
              </a:rPr>
              <a:t>16</a:t>
            </a:r>
            <a:r>
              <a:rPr lang="zh-CN" altLang="en-US" dirty="0">
                <a:solidFill>
                  <a:srgbClr val="003399"/>
                </a:solidFill>
              </a:rPr>
              <a:t>位偏移地址和段基址</a:t>
            </a:r>
            <a:endParaRPr lang="en-US" altLang="zh-CN" dirty="0">
              <a:solidFill>
                <a:srgbClr val="003399"/>
              </a:solidFill>
            </a:endParaRPr>
          </a:p>
          <a:p>
            <a:r>
              <a:rPr lang="en-US" altLang="zh-CN" dirty="0">
                <a:solidFill>
                  <a:srgbClr val="003399"/>
                </a:solidFill>
              </a:rPr>
              <a:t>                                </a:t>
            </a:r>
            <a:r>
              <a:rPr lang="zh-CN" altLang="en-US" dirty="0">
                <a:solidFill>
                  <a:srgbClr val="003399"/>
                </a:solidFill>
              </a:rPr>
              <a:t>来初始化其变量</a:t>
            </a:r>
          </a:p>
          <a:p>
            <a:r>
              <a:rPr lang="en-US" altLang="zh-CN" dirty="0"/>
              <a:t>	</a:t>
            </a:r>
            <a:r>
              <a:rPr lang="en-US" altLang="zh-CN" dirty="0">
                <a:solidFill>
                  <a:srgbClr val="FF0000"/>
                </a:solidFill>
              </a:rPr>
              <a:t>[</a:t>
            </a:r>
            <a:r>
              <a:rPr lang="zh-CN" altLang="en-US" dirty="0">
                <a:solidFill>
                  <a:srgbClr val="FF0000"/>
                </a:solidFill>
              </a:rPr>
              <a:t>变量名</a:t>
            </a:r>
            <a:r>
              <a:rPr lang="en-US" altLang="zh-CN" dirty="0">
                <a:solidFill>
                  <a:srgbClr val="FF0000"/>
                </a:solidFill>
              </a:rPr>
              <a:t>]  DF  </a:t>
            </a:r>
            <a:r>
              <a:rPr lang="zh-CN" altLang="en-US" dirty="0">
                <a:solidFill>
                  <a:srgbClr val="FF0000"/>
                </a:solidFill>
              </a:rPr>
              <a:t>地址表达式 </a:t>
            </a:r>
            <a:r>
              <a:rPr lang="en-US" altLang="zh-CN" dirty="0">
                <a:solidFill>
                  <a:srgbClr val="003399"/>
                </a:solidFill>
              </a:rPr>
              <a:t>;</a:t>
            </a:r>
            <a:r>
              <a:rPr lang="zh-CN" altLang="en-US" dirty="0">
                <a:solidFill>
                  <a:srgbClr val="003399"/>
                </a:solidFill>
              </a:rPr>
              <a:t>取</a:t>
            </a:r>
            <a:r>
              <a:rPr lang="en-US" altLang="zh-CN" dirty="0">
                <a:solidFill>
                  <a:srgbClr val="003399"/>
                </a:solidFill>
              </a:rPr>
              <a:t>32</a:t>
            </a:r>
            <a:r>
              <a:rPr lang="zh-CN" altLang="en-US" dirty="0">
                <a:solidFill>
                  <a:srgbClr val="003399"/>
                </a:solidFill>
              </a:rPr>
              <a:t>位偏移地址和段基址</a:t>
            </a:r>
            <a:endParaRPr lang="en-US" altLang="zh-CN" dirty="0">
              <a:solidFill>
                <a:srgbClr val="003399"/>
              </a:solidFill>
            </a:endParaRPr>
          </a:p>
          <a:p>
            <a:r>
              <a:rPr lang="en-US" altLang="zh-CN" dirty="0">
                <a:solidFill>
                  <a:srgbClr val="003399"/>
                </a:solidFill>
              </a:rPr>
              <a:t>                                </a:t>
            </a:r>
            <a:r>
              <a:rPr lang="zh-CN" altLang="en-US" dirty="0">
                <a:solidFill>
                  <a:srgbClr val="003399"/>
                </a:solidFill>
              </a:rPr>
              <a:t>来初始化其变量</a:t>
            </a:r>
          </a:p>
          <a:p>
            <a:r>
              <a:rPr lang="zh-CN" altLang="en-US" dirty="0"/>
              <a:t>（</a:t>
            </a:r>
            <a:r>
              <a:rPr lang="en-US" altLang="zh-CN" dirty="0"/>
              <a:t>5</a:t>
            </a:r>
            <a:r>
              <a:rPr lang="zh-CN" altLang="en-US" dirty="0"/>
              <a:t>）由以上表达式组成的序列，各表达式之间用‘ </a:t>
            </a:r>
            <a:r>
              <a:rPr lang="zh-CN" altLang="en-US" dirty="0">
                <a:solidFill>
                  <a:srgbClr val="FF0000"/>
                </a:solidFill>
              </a:rPr>
              <a:t>，</a:t>
            </a:r>
            <a:r>
              <a:rPr lang="zh-CN" altLang="en-US" dirty="0"/>
              <a:t>’分隔</a:t>
            </a:r>
            <a:endParaRPr lang="en-US" altLang="zh-CN" dirty="0"/>
          </a:p>
          <a:p>
            <a:r>
              <a:rPr lang="en-US" altLang="zh-CN" dirty="0"/>
              <a:t>       </a:t>
            </a:r>
            <a:r>
              <a:rPr lang="en-US" altLang="zh-CN" dirty="0">
                <a:solidFill>
                  <a:srgbClr val="003399"/>
                </a:solidFill>
              </a:rPr>
              <a:t>B5</a:t>
            </a:r>
            <a:r>
              <a:rPr lang="zh-CN" altLang="en-US" dirty="0">
                <a:solidFill>
                  <a:srgbClr val="003399"/>
                </a:solidFill>
              </a:rPr>
              <a:t>   </a:t>
            </a:r>
            <a:r>
              <a:rPr lang="en-US" altLang="zh-CN" dirty="0">
                <a:solidFill>
                  <a:srgbClr val="003399"/>
                </a:solidFill>
              </a:rPr>
              <a:t>DB</a:t>
            </a:r>
            <a:r>
              <a:rPr lang="zh-CN" altLang="en-US" dirty="0">
                <a:solidFill>
                  <a:srgbClr val="003399"/>
                </a:solidFill>
              </a:rPr>
              <a:t> </a:t>
            </a:r>
            <a:r>
              <a:rPr lang="en-US" altLang="zh-CN" dirty="0">
                <a:solidFill>
                  <a:srgbClr val="003399"/>
                </a:solidFill>
              </a:rPr>
              <a:t>1,2,3</a:t>
            </a:r>
          </a:p>
          <a:p>
            <a:r>
              <a:rPr lang="zh-CN" altLang="en-US" dirty="0">
                <a:solidFill>
                  <a:srgbClr val="003399"/>
                </a:solidFill>
              </a:rPr>
              <a:t>       </a:t>
            </a:r>
            <a:r>
              <a:rPr lang="en-US" altLang="zh-CN" dirty="0">
                <a:solidFill>
                  <a:srgbClr val="003399"/>
                </a:solidFill>
              </a:rPr>
              <a:t>B6  </a:t>
            </a:r>
            <a:r>
              <a:rPr lang="zh-CN" altLang="en-US" dirty="0">
                <a:solidFill>
                  <a:srgbClr val="003399"/>
                </a:solidFill>
              </a:rPr>
              <a:t> </a:t>
            </a:r>
            <a:r>
              <a:rPr lang="en-US" altLang="zh-CN" dirty="0">
                <a:solidFill>
                  <a:srgbClr val="003399"/>
                </a:solidFill>
              </a:rPr>
              <a:t>DB</a:t>
            </a:r>
            <a:r>
              <a:rPr lang="zh-CN" altLang="en-US" dirty="0">
                <a:solidFill>
                  <a:srgbClr val="003399"/>
                </a:solidFill>
              </a:rPr>
              <a:t> </a:t>
            </a:r>
            <a:r>
              <a:rPr lang="en-US" altLang="zh-CN" dirty="0">
                <a:solidFill>
                  <a:srgbClr val="003399"/>
                </a:solidFill>
                <a:latin typeface="+mj-lt"/>
              </a:rPr>
              <a:t>’</a:t>
            </a:r>
            <a:r>
              <a:rPr lang="en-US" altLang="zh-CN" dirty="0">
                <a:solidFill>
                  <a:srgbClr val="003399"/>
                </a:solidFill>
              </a:rPr>
              <a:t>1,2,3</a:t>
            </a:r>
            <a:r>
              <a:rPr lang="en-US" altLang="zh-CN" dirty="0">
                <a:solidFill>
                  <a:srgbClr val="003399"/>
                </a:solidFill>
                <a:latin typeface="+mj-lt"/>
              </a:rPr>
              <a:t>’  </a:t>
            </a:r>
            <a:r>
              <a:rPr lang="en-US" altLang="zh-CN" dirty="0">
                <a:solidFill>
                  <a:srgbClr val="0066CC"/>
                </a:solidFill>
              </a:rPr>
              <a:t>; </a:t>
            </a:r>
            <a:r>
              <a:rPr lang="zh-CN" altLang="en-US" dirty="0">
                <a:solidFill>
                  <a:srgbClr val="0066CC"/>
                </a:solidFill>
              </a:rPr>
              <a:t>此行的引号内</a:t>
            </a:r>
            <a:r>
              <a:rPr lang="en-US" altLang="zh-CN" dirty="0">
                <a:solidFill>
                  <a:srgbClr val="0066CC"/>
                </a:solidFill>
              </a:rPr>
              <a:t>,</a:t>
            </a:r>
            <a:r>
              <a:rPr lang="zh-CN" altLang="en-US" dirty="0">
                <a:solidFill>
                  <a:srgbClr val="0066CC"/>
                </a:solidFill>
              </a:rPr>
              <a:t>不是序列分隔符</a:t>
            </a:r>
          </a:p>
        </p:txBody>
      </p:sp>
    </p:spTree>
    <p:extLst>
      <p:ext uri="{BB962C8B-B14F-4D97-AF65-F5344CB8AC3E}">
        <p14:creationId xmlns:p14="http://schemas.microsoft.com/office/powerpoint/2010/main" val="1214445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48648" y="1260651"/>
            <a:ext cx="5939415" cy="52555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0"/>
              </a:spcBef>
              <a:buNone/>
            </a:pPr>
            <a:r>
              <a:rPr lang="zh-CN" altLang="en-US" sz="2000" dirty="0">
                <a:latin typeface="楷体" panose="02010609060101010101" pitchFamily="49" charset="-122"/>
                <a:ea typeface="楷体" panose="02010609060101010101" pitchFamily="49" charset="-122"/>
              </a:rPr>
              <a:t>在数据段</a:t>
            </a:r>
            <a:r>
              <a:rPr lang="en-US" altLang="zh-CN" sz="2000" dirty="0">
                <a:latin typeface="楷体" panose="02010609060101010101" pitchFamily="49" charset="-122"/>
                <a:ea typeface="楷体" panose="02010609060101010101" pitchFamily="49" charset="-122"/>
              </a:rPr>
              <a:t>DATA1</a:t>
            </a:r>
            <a:r>
              <a:rPr lang="zh-CN" altLang="en-US" sz="2000" dirty="0">
                <a:latin typeface="楷体" panose="02010609060101010101" pitchFamily="49" charset="-122"/>
                <a:ea typeface="楷体" panose="02010609060101010101" pitchFamily="49" charset="-122"/>
              </a:rPr>
              <a:t>中定义的变量如下：</a:t>
            </a:r>
            <a:endParaRPr lang="en-US" altLang="zh-CN" sz="2000" dirty="0">
              <a:latin typeface="楷体" panose="02010609060101010101" pitchFamily="49" charset="-122"/>
              <a:ea typeface="楷体" panose="02010609060101010101" pitchFamily="49" charset="-122"/>
            </a:endParaRPr>
          </a:p>
          <a:p>
            <a:pPr marL="0" indent="0">
              <a:lnSpc>
                <a:spcPct val="130000"/>
              </a:lnSpc>
              <a:spcBef>
                <a:spcPts val="500"/>
              </a:spcBef>
              <a:buNone/>
            </a:pPr>
            <a:r>
              <a:rPr lang="en-US" altLang="zh-CN" sz="2000" dirty="0">
                <a:solidFill>
                  <a:srgbClr val="0070C0"/>
                </a:solidFill>
                <a:latin typeface="楷体" panose="02010609060101010101" pitchFamily="49" charset="-122"/>
                <a:ea typeface="楷体" panose="02010609060101010101" pitchFamily="49" charset="-122"/>
              </a:rPr>
              <a:t>W1   DW  B2 ; </a:t>
            </a:r>
            <a:r>
              <a:rPr lang="zh-CN" altLang="en-US" sz="2000" dirty="0">
                <a:solidFill>
                  <a:srgbClr val="FF0066"/>
                </a:solidFill>
                <a:latin typeface="楷体" panose="02010609060101010101" pitchFamily="49" charset="-122"/>
                <a:ea typeface="楷体" panose="02010609060101010101" pitchFamily="49" charset="-122"/>
              </a:rPr>
              <a:t>用</a:t>
            </a:r>
            <a:r>
              <a:rPr lang="en-US" altLang="zh-CN" sz="2000" dirty="0">
                <a:solidFill>
                  <a:srgbClr val="FF0066"/>
                </a:solidFill>
                <a:latin typeface="楷体" panose="02010609060101010101" pitchFamily="49" charset="-122"/>
                <a:ea typeface="楷体" panose="02010609060101010101" pitchFamily="49" charset="-122"/>
              </a:rPr>
              <a:t>B2</a:t>
            </a:r>
            <a:r>
              <a:rPr lang="zh-CN" altLang="en-US" sz="2000" dirty="0">
                <a:solidFill>
                  <a:srgbClr val="FF0066"/>
                </a:solidFill>
                <a:latin typeface="楷体" panose="02010609060101010101" pitchFamily="49" charset="-122"/>
                <a:ea typeface="楷体" panose="02010609060101010101" pitchFamily="49" charset="-122"/>
              </a:rPr>
              <a:t>的偏移地址初始化变量</a:t>
            </a:r>
            <a:r>
              <a:rPr lang="en-US" altLang="zh-CN" sz="2000" dirty="0">
                <a:solidFill>
                  <a:srgbClr val="FF0066"/>
                </a:solidFill>
                <a:latin typeface="楷体" panose="02010609060101010101" pitchFamily="49" charset="-122"/>
                <a:ea typeface="楷体" panose="02010609060101010101" pitchFamily="49" charset="-122"/>
              </a:rPr>
              <a:t>W1</a:t>
            </a:r>
            <a:endParaRPr lang="zh-CN" altLang="en-US" sz="2000" dirty="0">
              <a:solidFill>
                <a:srgbClr val="FF0066"/>
              </a:solidFill>
              <a:latin typeface="楷体" panose="02010609060101010101" pitchFamily="49" charset="-122"/>
              <a:ea typeface="楷体" panose="02010609060101010101" pitchFamily="49" charset="-122"/>
            </a:endParaRPr>
          </a:p>
          <a:p>
            <a:pPr marL="0" indent="0">
              <a:lnSpc>
                <a:spcPct val="130000"/>
              </a:lnSpc>
              <a:spcBef>
                <a:spcPts val="500"/>
              </a:spcBef>
              <a:buNone/>
            </a:pPr>
            <a:r>
              <a:rPr lang="en-US" altLang="zh-CN" sz="2000" dirty="0">
                <a:solidFill>
                  <a:srgbClr val="0070C0"/>
                </a:solidFill>
                <a:latin typeface="楷体" panose="02010609060101010101" pitchFamily="49" charset="-122"/>
                <a:ea typeface="楷体" panose="02010609060101010101" pitchFamily="49" charset="-122"/>
              </a:rPr>
              <a:t>B1   DB  </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AB$</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 </a:t>
            </a:r>
            <a:r>
              <a:rPr lang="zh-CN" altLang="en-US" sz="2000" dirty="0">
                <a:solidFill>
                  <a:srgbClr val="FF0066"/>
                </a:solidFill>
                <a:latin typeface="楷体" panose="02010609060101010101" pitchFamily="49" charset="-122"/>
                <a:ea typeface="楷体" panose="02010609060101010101" pitchFamily="49" charset="-122"/>
              </a:rPr>
              <a:t>用</a:t>
            </a:r>
            <a:r>
              <a:rPr lang="en-US" altLang="zh-CN" sz="2000" dirty="0">
                <a:solidFill>
                  <a:srgbClr val="FF0066"/>
                </a:solidFill>
                <a:latin typeface="楷体" panose="02010609060101010101" pitchFamily="49" charset="-122"/>
                <a:ea typeface="楷体" panose="02010609060101010101" pitchFamily="49" charset="-122"/>
              </a:rPr>
              <a:t>A</a:t>
            </a:r>
            <a:r>
              <a:rPr lang="zh-CN" altLang="en-US" sz="2000" dirty="0">
                <a:solidFill>
                  <a:srgbClr val="FF0066"/>
                </a:solidFill>
                <a:latin typeface="楷体" panose="02010609060101010101" pitchFamily="49" charset="-122"/>
                <a:ea typeface="楷体" panose="02010609060101010101" pitchFamily="49" charset="-122"/>
              </a:rPr>
              <a:t>、</a:t>
            </a:r>
            <a:r>
              <a:rPr lang="en-US" altLang="zh-CN" sz="2000" dirty="0">
                <a:solidFill>
                  <a:srgbClr val="FF0066"/>
                </a:solidFill>
                <a:latin typeface="楷体" panose="02010609060101010101" pitchFamily="49" charset="-122"/>
                <a:ea typeface="楷体" panose="02010609060101010101" pitchFamily="49" charset="-122"/>
              </a:rPr>
              <a:t>B</a:t>
            </a:r>
            <a:r>
              <a:rPr lang="zh-CN" altLang="en-US" sz="2000" dirty="0">
                <a:solidFill>
                  <a:srgbClr val="FF0066"/>
                </a:solidFill>
                <a:latin typeface="楷体" panose="02010609060101010101" pitchFamily="49" charset="-122"/>
                <a:ea typeface="楷体" panose="02010609060101010101" pitchFamily="49" charset="-122"/>
              </a:rPr>
              <a:t>、</a:t>
            </a:r>
            <a:r>
              <a:rPr lang="en-US" altLang="zh-CN" sz="2000" dirty="0">
                <a:solidFill>
                  <a:srgbClr val="FF0066"/>
                </a:solidFill>
                <a:latin typeface="楷体" panose="02010609060101010101" pitchFamily="49" charset="-122"/>
                <a:ea typeface="楷体" panose="02010609060101010101" pitchFamily="49" charset="-122"/>
              </a:rPr>
              <a:t>$</a:t>
            </a:r>
            <a:r>
              <a:rPr lang="zh-CN" altLang="en-US" sz="2000" dirty="0">
                <a:solidFill>
                  <a:srgbClr val="FF0066"/>
                </a:solidFill>
                <a:latin typeface="楷体" panose="02010609060101010101" pitchFamily="49" charset="-122"/>
                <a:ea typeface="楷体" panose="02010609060101010101" pitchFamily="49" charset="-122"/>
              </a:rPr>
              <a:t>的</a:t>
            </a:r>
            <a:r>
              <a:rPr lang="en-US" altLang="zh-CN" sz="2000" dirty="0">
                <a:solidFill>
                  <a:srgbClr val="FF0066"/>
                </a:solidFill>
                <a:latin typeface="楷体" panose="02010609060101010101" pitchFamily="49" charset="-122"/>
                <a:ea typeface="楷体" panose="02010609060101010101" pitchFamily="49" charset="-122"/>
              </a:rPr>
              <a:t>ASCII</a:t>
            </a:r>
            <a:r>
              <a:rPr lang="zh-CN" altLang="en-US" sz="2000" dirty="0">
                <a:solidFill>
                  <a:srgbClr val="FF0066"/>
                </a:solidFill>
                <a:latin typeface="楷体" panose="02010609060101010101" pitchFamily="49" charset="-122"/>
                <a:ea typeface="楷体" panose="02010609060101010101" pitchFamily="49" charset="-122"/>
              </a:rPr>
              <a:t>码初始化变量</a:t>
            </a:r>
            <a:r>
              <a:rPr lang="en-US" altLang="zh-CN" sz="2000" dirty="0">
                <a:solidFill>
                  <a:srgbClr val="FF0066"/>
                </a:solidFill>
                <a:latin typeface="楷体" panose="02010609060101010101" pitchFamily="49" charset="-122"/>
                <a:ea typeface="楷体" panose="02010609060101010101" pitchFamily="49" charset="-122"/>
              </a:rPr>
              <a:t>B1</a:t>
            </a:r>
          </a:p>
          <a:p>
            <a:pPr marL="0" indent="0">
              <a:lnSpc>
                <a:spcPct val="130000"/>
              </a:lnSpc>
              <a:spcBef>
                <a:spcPts val="500"/>
              </a:spcBef>
              <a:buNone/>
            </a:pPr>
            <a:r>
              <a:rPr lang="en-US" altLang="zh-CN" sz="2000" dirty="0">
                <a:solidFill>
                  <a:srgbClr val="0070C0"/>
                </a:solidFill>
                <a:latin typeface="楷体" panose="02010609060101010101" pitchFamily="49" charset="-122"/>
                <a:ea typeface="楷体" panose="02010609060101010101" pitchFamily="49" charset="-122"/>
              </a:rPr>
              <a:t>W2   DW 1994H</a:t>
            </a:r>
            <a:endParaRPr lang="zh-CN" altLang="en-US" sz="2000" dirty="0">
              <a:solidFill>
                <a:srgbClr val="0070C0"/>
              </a:solidFill>
              <a:latin typeface="楷体" panose="02010609060101010101" pitchFamily="49" charset="-122"/>
              <a:ea typeface="楷体" panose="02010609060101010101" pitchFamily="49" charset="-122"/>
            </a:endParaRPr>
          </a:p>
          <a:p>
            <a:pPr marL="0" indent="0">
              <a:lnSpc>
                <a:spcPct val="130000"/>
              </a:lnSpc>
              <a:spcBef>
                <a:spcPts val="500"/>
              </a:spcBef>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D    DD  EW; </a:t>
            </a:r>
            <a:r>
              <a:rPr lang="zh-CN" altLang="en-US" sz="2000" dirty="0">
                <a:solidFill>
                  <a:srgbClr val="FF0066"/>
                </a:solidFill>
                <a:latin typeface="楷体" panose="02010609060101010101" pitchFamily="49" charset="-122"/>
                <a:ea typeface="楷体" panose="02010609060101010101" pitchFamily="49" charset="-122"/>
              </a:rPr>
              <a:t>用 </a:t>
            </a:r>
            <a:r>
              <a:rPr lang="en-US" altLang="zh-CN" sz="2000" dirty="0">
                <a:solidFill>
                  <a:srgbClr val="FF0066"/>
                </a:solidFill>
                <a:latin typeface="楷体" panose="02010609060101010101" pitchFamily="49" charset="-122"/>
                <a:ea typeface="楷体" panose="02010609060101010101" pitchFamily="49" charset="-122"/>
              </a:rPr>
              <a:t>EW</a:t>
            </a:r>
            <a:r>
              <a:rPr lang="zh-CN" altLang="en-US" sz="2000" dirty="0">
                <a:solidFill>
                  <a:srgbClr val="FF0066"/>
                </a:solidFill>
                <a:latin typeface="楷体" panose="02010609060101010101" pitchFamily="49" charset="-122"/>
                <a:ea typeface="楷体" panose="02010609060101010101" pitchFamily="49" charset="-122"/>
              </a:rPr>
              <a:t>的段基址和偏移地址初始化</a:t>
            </a:r>
            <a:r>
              <a:rPr lang="en-US" altLang="zh-CN" sz="2000" dirty="0">
                <a:solidFill>
                  <a:srgbClr val="FF0066"/>
                </a:solidFill>
                <a:latin typeface="楷体" panose="02010609060101010101" pitchFamily="49" charset="-122"/>
                <a:ea typeface="楷体" panose="02010609060101010101" pitchFamily="49" charset="-122"/>
              </a:rPr>
              <a:t>D</a:t>
            </a:r>
          </a:p>
          <a:p>
            <a:pPr marL="0" indent="0">
              <a:lnSpc>
                <a:spcPct val="130000"/>
              </a:lnSpc>
              <a:spcBef>
                <a:spcPts val="500"/>
              </a:spcBef>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B2   DB 2 DUP(-5,-1)</a:t>
            </a:r>
          </a:p>
          <a:p>
            <a:pPr marL="0" indent="0">
              <a:lnSpc>
                <a:spcPct val="130000"/>
              </a:lnSpc>
              <a:spcBef>
                <a:spcPts val="500"/>
              </a:spcBef>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     DB 1 DUP(10,</a:t>
            </a:r>
            <a:r>
              <a:rPr lang="zh-CN" altLang="en-US"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E</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 </a:t>
            </a:r>
            <a:r>
              <a:rPr lang="zh-CN" altLang="en-US" sz="2000" dirty="0">
                <a:solidFill>
                  <a:srgbClr val="FF0066"/>
                </a:solidFill>
                <a:latin typeface="楷体" panose="02010609060101010101" pitchFamily="49" charset="-122"/>
                <a:ea typeface="楷体" panose="02010609060101010101" pitchFamily="49" charset="-122"/>
              </a:rPr>
              <a:t>；重复因子</a:t>
            </a:r>
            <a:r>
              <a:rPr lang="en-US" altLang="zh-CN" sz="2000" dirty="0">
                <a:solidFill>
                  <a:srgbClr val="FF0066"/>
                </a:solidFill>
                <a:latin typeface="楷体" panose="02010609060101010101" pitchFamily="49" charset="-122"/>
                <a:ea typeface="楷体" panose="02010609060101010101" pitchFamily="49" charset="-122"/>
              </a:rPr>
              <a:t>1</a:t>
            </a:r>
            <a:r>
              <a:rPr lang="zh-CN" altLang="en-US" sz="2000" dirty="0">
                <a:solidFill>
                  <a:srgbClr val="FF0066"/>
                </a:solidFill>
                <a:latin typeface="楷体" panose="02010609060101010101" pitchFamily="49" charset="-122"/>
                <a:ea typeface="楷体" panose="02010609060101010101" pitchFamily="49" charset="-122"/>
              </a:rPr>
              <a:t>不能省</a:t>
            </a:r>
          </a:p>
          <a:p>
            <a:pPr marL="0" indent="0">
              <a:lnSpc>
                <a:spcPct val="130000"/>
              </a:lnSpc>
              <a:spcBef>
                <a:spcPts val="500"/>
              </a:spcBef>
              <a:spcAft>
                <a:spcPts val="600"/>
              </a:spcAft>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     DB </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13</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1,3</a:t>
            </a:r>
          </a:p>
          <a:p>
            <a:pPr marL="0" indent="0">
              <a:lnSpc>
                <a:spcPct val="130000"/>
              </a:lnSpc>
              <a:spcBef>
                <a:spcPts val="500"/>
              </a:spcBef>
              <a:buFont typeface="Wingdings" panose="05000000000000000000" pitchFamily="2" charset="2"/>
              <a:buNone/>
            </a:pPr>
            <a:r>
              <a:rPr lang="zh-CN" altLang="en-US" sz="2000" dirty="0">
                <a:latin typeface="楷体" panose="02010609060101010101" pitchFamily="49" charset="-122"/>
                <a:ea typeface="楷体" panose="02010609060101010101" pitchFamily="49" charset="-122"/>
              </a:rPr>
              <a:t>在附加数据段</a:t>
            </a:r>
            <a:r>
              <a:rPr lang="en-US" altLang="zh-CN" sz="2000" dirty="0">
                <a:latin typeface="楷体" panose="02010609060101010101" pitchFamily="49" charset="-122"/>
                <a:ea typeface="楷体" panose="02010609060101010101" pitchFamily="49" charset="-122"/>
              </a:rPr>
              <a:t>DATA2</a:t>
            </a:r>
            <a:r>
              <a:rPr lang="zh-CN" altLang="en-US" sz="2000" dirty="0">
                <a:latin typeface="楷体" panose="02010609060101010101" pitchFamily="49" charset="-122"/>
                <a:ea typeface="楷体" panose="02010609060101010101" pitchFamily="49" charset="-122"/>
              </a:rPr>
              <a:t>中定义的变量如下：</a:t>
            </a:r>
          </a:p>
          <a:p>
            <a:pPr marL="0" indent="0">
              <a:lnSpc>
                <a:spcPct val="130000"/>
              </a:lnSpc>
              <a:spcBef>
                <a:spcPts val="500"/>
              </a:spcBef>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EQ   DQ  1234567890ABCDEFH</a:t>
            </a:r>
          </a:p>
          <a:p>
            <a:pPr marL="0" indent="0">
              <a:lnSpc>
                <a:spcPct val="130000"/>
              </a:lnSpc>
              <a:spcBef>
                <a:spcPts val="500"/>
              </a:spcBef>
              <a:buFont typeface="Wingdings" panose="05000000000000000000" pitchFamily="2" charset="2"/>
              <a:buNone/>
            </a:pPr>
            <a:r>
              <a:rPr lang="en-US" altLang="zh-CN" sz="2000" dirty="0">
                <a:solidFill>
                  <a:srgbClr val="0070C0"/>
                </a:solidFill>
                <a:latin typeface="楷体" panose="02010609060101010101" pitchFamily="49" charset="-122"/>
                <a:ea typeface="楷体" panose="02010609060101010101" pitchFamily="49" charset="-122"/>
              </a:rPr>
              <a:t>EW   DW  </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AB</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zh-CN" altLang="en-US" sz="2000" dirty="0">
                <a:solidFill>
                  <a:srgbClr val="0070C0"/>
                </a:solidFill>
                <a:latin typeface="楷体" panose="02010609060101010101" pitchFamily="49" charset="-122"/>
                <a:ea typeface="楷体" panose="02010609060101010101" pitchFamily="49" charset="-122"/>
                <a:sym typeface="Symbol" panose="05050102010706020507" pitchFamily="18" charset="2"/>
              </a:rPr>
              <a:t></a:t>
            </a:r>
            <a:r>
              <a:rPr lang="en-US" altLang="zh-CN" sz="2000" dirty="0">
                <a:solidFill>
                  <a:srgbClr val="0070C0"/>
                </a:solidFill>
                <a:latin typeface="楷体" panose="02010609060101010101" pitchFamily="49" charset="-122"/>
                <a:ea typeface="楷体" panose="02010609060101010101" pitchFamily="49" charset="-122"/>
              </a:rPr>
              <a:t>CD</a:t>
            </a:r>
            <a:r>
              <a:rPr lang="en-US" altLang="zh-CN" sz="2000" dirty="0">
                <a:solidFill>
                  <a:srgbClr val="0070C0"/>
                </a:solidFill>
                <a:latin typeface="楷体" panose="02010609060101010101" pitchFamily="49" charset="-122"/>
                <a:ea typeface="楷体" panose="02010609060101010101" pitchFamily="49" charset="-122"/>
                <a:sym typeface="Symbol" panose="05050102010706020507" pitchFamily="18" charset="2"/>
              </a:rPr>
              <a:t>; </a:t>
            </a:r>
            <a:r>
              <a:rPr lang="zh-CN" altLang="en-US" sz="2000" dirty="0">
                <a:solidFill>
                  <a:srgbClr val="FF0066"/>
                </a:solidFill>
                <a:latin typeface="楷体" panose="02010609060101010101" pitchFamily="49" charset="-122"/>
                <a:ea typeface="楷体" panose="02010609060101010101" pitchFamily="49" charset="-122"/>
              </a:rPr>
              <a:t>用</a:t>
            </a:r>
            <a:r>
              <a:rPr lang="en-US" altLang="zh-CN" sz="2000" dirty="0">
                <a:solidFill>
                  <a:srgbClr val="FF0066"/>
                </a:solidFill>
                <a:latin typeface="楷体" panose="02010609060101010101" pitchFamily="49" charset="-122"/>
                <a:ea typeface="楷体" panose="02010609060101010101" pitchFamily="49" charset="-122"/>
              </a:rPr>
              <a:t>DW</a:t>
            </a:r>
            <a:r>
              <a:rPr lang="zh-CN" altLang="en-US" sz="2000" dirty="0">
                <a:solidFill>
                  <a:srgbClr val="FF0066"/>
                </a:solidFill>
                <a:latin typeface="楷体" panose="02010609060101010101" pitchFamily="49" charset="-122"/>
                <a:ea typeface="楷体" panose="02010609060101010101" pitchFamily="49" charset="-122"/>
              </a:rPr>
              <a:t>定义，字符不超过</a:t>
            </a:r>
            <a:r>
              <a:rPr lang="en-US" altLang="zh-CN" sz="2000" dirty="0">
                <a:solidFill>
                  <a:srgbClr val="FF0066"/>
                </a:solidFill>
                <a:latin typeface="楷体" panose="02010609060101010101" pitchFamily="49" charset="-122"/>
                <a:ea typeface="楷体" panose="02010609060101010101" pitchFamily="49" charset="-122"/>
              </a:rPr>
              <a:t>2</a:t>
            </a:r>
            <a:r>
              <a:rPr lang="zh-CN" altLang="en-US" sz="2000" dirty="0">
                <a:solidFill>
                  <a:srgbClr val="FF0066"/>
                </a:solidFill>
                <a:latin typeface="楷体" panose="02010609060101010101" pitchFamily="49" charset="-122"/>
                <a:ea typeface="楷体" panose="02010609060101010101" pitchFamily="49" charset="-122"/>
              </a:rPr>
              <a:t>个</a:t>
            </a:r>
          </a:p>
        </p:txBody>
      </p:sp>
      <p:sp>
        <p:nvSpPr>
          <p:cNvPr id="3" name="Rectangle 6"/>
          <p:cNvSpPr>
            <a:spLocks noChangeArrowheads="1"/>
          </p:cNvSpPr>
          <p:nvPr/>
        </p:nvSpPr>
        <p:spPr bwMode="auto">
          <a:xfrm>
            <a:off x="0" y="1176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endParaRPr lang="zh-CN" altLang="en-US" sz="2800">
              <a:solidFill>
                <a:schemeClr val="tx2"/>
              </a:solidFill>
              <a:latin typeface="楷体_GB2312" pitchFamily="49" charset="-122"/>
              <a:ea typeface="楷体_GB2312" pitchFamily="49" charset="-122"/>
            </a:endParaRPr>
          </a:p>
        </p:txBody>
      </p:sp>
      <p:sp>
        <p:nvSpPr>
          <p:cNvPr id="7"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8063" y="0"/>
            <a:ext cx="32702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588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8063" y="0"/>
            <a:ext cx="32702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a:xfrm>
            <a:off x="124704" y="1076186"/>
            <a:ext cx="5868987" cy="508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zh-CN" altLang="en-US" sz="2000" dirty="0">
                <a:solidFill>
                  <a:srgbClr val="FF3399"/>
                </a:solidFill>
                <a:latin typeface="楷体" panose="02010609060101010101" pitchFamily="49" charset="-122"/>
                <a:ea typeface="楷体" panose="02010609060101010101" pitchFamily="49" charset="-122"/>
              </a:rPr>
              <a:t>图中偏移地址和存储单元中的内容都是十六进制数。</a:t>
            </a:r>
            <a:endParaRPr lang="en-US" altLang="zh-CN" sz="2000" dirty="0">
              <a:solidFill>
                <a:srgbClr val="FF3399"/>
              </a:solidFill>
              <a:latin typeface="楷体" panose="02010609060101010101" pitchFamily="49" charset="-122"/>
              <a:ea typeface="楷体" panose="02010609060101010101" pitchFamily="49" charset="-122"/>
            </a:endParaRPr>
          </a:p>
          <a:p>
            <a:pPr>
              <a:lnSpc>
                <a:spcPct val="150000"/>
              </a:lnSpc>
              <a:buFont typeface="Wingdings" panose="05000000000000000000" pitchFamily="2" charset="2"/>
              <a:buNone/>
            </a:pP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变量名代表数据存储区中第</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个数据的存储地址；</a:t>
            </a:r>
            <a:endParaRPr lang="en-US" altLang="zh-CN" sz="2000" dirty="0">
              <a:latin typeface="楷体" panose="02010609060101010101" pitchFamily="49" charset="-122"/>
              <a:ea typeface="楷体" panose="02010609060101010101" pitchFamily="49" charset="-122"/>
            </a:endParaRPr>
          </a:p>
          <a:p>
            <a:pPr>
              <a:lnSpc>
                <a:spcPct val="150000"/>
              </a:lnSpc>
              <a:buFont typeface="Wingdings" panose="05000000000000000000" pitchFamily="2" charset="2"/>
              <a:buNone/>
            </a:pP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变量值代表数据存储区中第</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个数据</a:t>
            </a:r>
            <a:endParaRPr lang="en-US" altLang="zh-CN" sz="2000" dirty="0">
              <a:latin typeface="楷体" panose="02010609060101010101" pitchFamily="49" charset="-122"/>
              <a:ea typeface="楷体" panose="02010609060101010101" pitchFamily="49" charset="-122"/>
            </a:endParaRPr>
          </a:p>
          <a:p>
            <a:pPr marL="0" indent="0">
              <a:lnSpc>
                <a:spcPct val="150000"/>
              </a:lnSpc>
              <a:buNone/>
            </a:pP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第</a:t>
            </a:r>
            <a:r>
              <a:rPr lang="en-US" altLang="zh-CN" sz="2000" dirty="0">
                <a:latin typeface="楷体" panose="02010609060101010101" pitchFamily="49" charset="-122"/>
                <a:ea typeface="楷体" panose="02010609060101010101" pitchFamily="49" charset="-122"/>
              </a:rPr>
              <a:t>n</a:t>
            </a:r>
            <a:r>
              <a:rPr lang="zh-CN" altLang="en-US" sz="2000" dirty="0">
                <a:latin typeface="楷体" panose="02010609060101010101" pitchFamily="49" charset="-122"/>
                <a:ea typeface="楷体" panose="02010609060101010101" pitchFamily="49" charset="-122"/>
              </a:rPr>
              <a:t>个字节数据的存储地址</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字节变量名</a:t>
            </a:r>
            <a:r>
              <a:rPr lang="en-US" altLang="zh-CN" sz="2000" dirty="0">
                <a:latin typeface="楷体" panose="02010609060101010101" pitchFamily="49" charset="-122"/>
                <a:ea typeface="楷体" panose="02010609060101010101" pitchFamily="49" charset="-122"/>
              </a:rPr>
              <a:t>+(n-1),</a:t>
            </a:r>
            <a:r>
              <a:rPr lang="zh-CN" altLang="en-US" sz="2000" dirty="0">
                <a:latin typeface="楷体" panose="02010609060101010101" pitchFamily="49" charset="-122"/>
                <a:ea typeface="楷体" panose="02010609060101010101" pitchFamily="49" charset="-122"/>
              </a:rPr>
              <a:t>第</a:t>
            </a:r>
            <a:r>
              <a:rPr lang="en-US" altLang="zh-CN" sz="2000" dirty="0">
                <a:latin typeface="楷体" panose="02010609060101010101" pitchFamily="49" charset="-122"/>
                <a:ea typeface="楷体" panose="02010609060101010101" pitchFamily="49" charset="-122"/>
              </a:rPr>
              <a:t>m</a:t>
            </a:r>
            <a:r>
              <a:rPr lang="zh-CN" altLang="en-US" sz="2000" dirty="0">
                <a:latin typeface="楷体" panose="02010609060101010101" pitchFamily="49" charset="-122"/>
                <a:ea typeface="楷体" panose="02010609060101010101" pitchFamily="49" charset="-122"/>
              </a:rPr>
              <a:t>个字数据的存储地址</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字节变量名</a:t>
            </a:r>
            <a:r>
              <a:rPr lang="en-US" altLang="zh-CN" sz="2000" dirty="0">
                <a:latin typeface="楷体" panose="02010609060101010101" pitchFamily="49" charset="-122"/>
                <a:ea typeface="楷体" panose="02010609060101010101" pitchFamily="49" charset="-122"/>
              </a:rPr>
              <a:t>+2(m-1).</a:t>
            </a:r>
          </a:p>
          <a:p>
            <a:pPr marL="0" indent="0">
              <a:lnSpc>
                <a:spcPct val="150000"/>
              </a:lnSpc>
              <a:buNone/>
            </a:pPr>
            <a:r>
              <a:rPr lang="en-US" altLang="zh-CN" sz="2000" dirty="0" err="1">
                <a:solidFill>
                  <a:srgbClr val="FF3399"/>
                </a:solidFill>
                <a:latin typeface="楷体" panose="02010609060101010101" pitchFamily="49" charset="-122"/>
                <a:ea typeface="楷体" panose="02010609060101010101" pitchFamily="49" charset="-122"/>
              </a:rPr>
              <a:t>e.g</a:t>
            </a:r>
            <a:r>
              <a:rPr lang="zh-CN" altLang="en-US" sz="2000" dirty="0">
                <a:solidFill>
                  <a:srgbClr val="FF3399"/>
                </a:solidFill>
                <a:latin typeface="楷体" panose="02010609060101010101" pitchFamily="49" charset="-122"/>
                <a:ea typeface="楷体" panose="02010609060101010101" pitchFamily="49" charset="-122"/>
              </a:rPr>
              <a:t>：</a:t>
            </a:r>
            <a:r>
              <a:rPr lang="zh-CN" altLang="en-US" sz="2000" dirty="0">
                <a:solidFill>
                  <a:srgbClr val="00B0F0"/>
                </a:solidFill>
                <a:latin typeface="楷体" panose="02010609060101010101" pitchFamily="49" charset="-122"/>
                <a:ea typeface="楷体" panose="02010609060101010101" pitchFamily="49" charset="-122"/>
              </a:rPr>
              <a:t>字节变量</a:t>
            </a:r>
            <a:r>
              <a:rPr lang="en-US" altLang="zh-CN" sz="2000" dirty="0">
                <a:solidFill>
                  <a:srgbClr val="00B0F0"/>
                </a:solidFill>
                <a:latin typeface="楷体" panose="02010609060101010101" pitchFamily="49" charset="-122"/>
                <a:ea typeface="楷体" panose="02010609060101010101" pitchFamily="49" charset="-122"/>
              </a:rPr>
              <a:t>B1</a:t>
            </a:r>
            <a:r>
              <a:rPr lang="zh-CN" altLang="en-US" sz="2000" dirty="0">
                <a:solidFill>
                  <a:srgbClr val="00B0F0"/>
                </a:solidFill>
                <a:latin typeface="楷体" panose="02010609060101010101" pitchFamily="49" charset="-122"/>
                <a:ea typeface="楷体" panose="02010609060101010101" pitchFamily="49" charset="-122"/>
              </a:rPr>
              <a:t>的第</a:t>
            </a:r>
            <a:r>
              <a:rPr lang="en-US" altLang="zh-CN" sz="2000" dirty="0">
                <a:solidFill>
                  <a:srgbClr val="00B0F0"/>
                </a:solidFill>
                <a:latin typeface="楷体" panose="02010609060101010101" pitchFamily="49" charset="-122"/>
                <a:ea typeface="楷体" panose="02010609060101010101" pitchFamily="49" charset="-122"/>
              </a:rPr>
              <a:t>2</a:t>
            </a:r>
            <a:r>
              <a:rPr lang="zh-CN" altLang="en-US" sz="2000" dirty="0">
                <a:solidFill>
                  <a:srgbClr val="00B0F0"/>
                </a:solidFill>
                <a:latin typeface="楷体" panose="02010609060101010101" pitchFamily="49" charset="-122"/>
                <a:ea typeface="楷体" panose="02010609060101010101" pitchFamily="49" charset="-122"/>
              </a:rPr>
              <a:t>个数据的存储地址为？</a:t>
            </a:r>
            <a:endParaRPr lang="en-US" altLang="zh-CN" sz="2000" dirty="0">
              <a:solidFill>
                <a:srgbClr val="00B0F0"/>
              </a:solidFill>
              <a:latin typeface="楷体" panose="02010609060101010101" pitchFamily="49" charset="-122"/>
              <a:ea typeface="楷体" panose="02010609060101010101" pitchFamily="49" charset="-122"/>
            </a:endParaRPr>
          </a:p>
          <a:p>
            <a:pPr marL="0" indent="0">
              <a:lnSpc>
                <a:spcPct val="150000"/>
              </a:lnSpc>
              <a:buNone/>
            </a:pPr>
            <a:r>
              <a:rPr lang="zh-CN" altLang="en-US" sz="2000" dirty="0">
                <a:solidFill>
                  <a:srgbClr val="00B0F0"/>
                </a:solidFill>
                <a:latin typeface="楷体" panose="02010609060101010101" pitchFamily="49" charset="-122"/>
                <a:ea typeface="楷体" panose="02010609060101010101" pitchFamily="49" charset="-122"/>
              </a:rPr>
              <a:t>     字变量</a:t>
            </a:r>
            <a:r>
              <a:rPr lang="en-US" altLang="zh-CN" sz="2000" dirty="0">
                <a:solidFill>
                  <a:srgbClr val="00B0F0"/>
                </a:solidFill>
                <a:latin typeface="楷体" panose="02010609060101010101" pitchFamily="49" charset="-122"/>
                <a:ea typeface="楷体" panose="02010609060101010101" pitchFamily="49" charset="-122"/>
              </a:rPr>
              <a:t>EW</a:t>
            </a:r>
            <a:r>
              <a:rPr lang="zh-CN" altLang="en-US" sz="2000" dirty="0">
                <a:solidFill>
                  <a:srgbClr val="00B0F0"/>
                </a:solidFill>
                <a:latin typeface="楷体" panose="02010609060101010101" pitchFamily="49" charset="-122"/>
                <a:ea typeface="楷体" panose="02010609060101010101" pitchFamily="49" charset="-122"/>
              </a:rPr>
              <a:t>的第</a:t>
            </a:r>
            <a:r>
              <a:rPr lang="en-US" altLang="zh-CN" sz="2000" dirty="0">
                <a:solidFill>
                  <a:srgbClr val="00B0F0"/>
                </a:solidFill>
                <a:latin typeface="楷体" panose="02010609060101010101" pitchFamily="49" charset="-122"/>
                <a:ea typeface="楷体" panose="02010609060101010101" pitchFamily="49" charset="-122"/>
              </a:rPr>
              <a:t>2</a:t>
            </a:r>
            <a:r>
              <a:rPr lang="zh-CN" altLang="en-US" sz="2000" dirty="0">
                <a:solidFill>
                  <a:srgbClr val="00B0F0"/>
                </a:solidFill>
                <a:latin typeface="楷体" panose="02010609060101010101" pitchFamily="49" charset="-122"/>
                <a:ea typeface="楷体" panose="02010609060101010101" pitchFamily="49" charset="-122"/>
              </a:rPr>
              <a:t>个数据的存储地址是？</a:t>
            </a:r>
            <a:endParaRPr lang="en-US" altLang="zh-CN" sz="2000" dirty="0">
              <a:solidFill>
                <a:srgbClr val="00B0F0"/>
              </a:solidFill>
              <a:latin typeface="楷体" panose="02010609060101010101" pitchFamily="49" charset="-122"/>
              <a:ea typeface="楷体" panose="02010609060101010101" pitchFamily="49" charset="-122"/>
            </a:endParaRPr>
          </a:p>
          <a:p>
            <a:pPr marL="0" indent="0">
              <a:lnSpc>
                <a:spcPct val="150000"/>
              </a:lnSpc>
              <a:buNone/>
            </a:pPr>
            <a:r>
              <a:rPr lang="zh-CN" altLang="en-US" sz="2000" dirty="0">
                <a:solidFill>
                  <a:srgbClr val="00B0F0"/>
                </a:solidFill>
                <a:latin typeface="楷体" panose="02010609060101010101" pitchFamily="49" charset="-122"/>
                <a:ea typeface="楷体" panose="02010609060101010101" pitchFamily="49" charset="-122"/>
              </a:rPr>
              <a:t>     字节变量</a:t>
            </a:r>
            <a:r>
              <a:rPr lang="en-US" altLang="zh-CN" sz="2000" dirty="0">
                <a:solidFill>
                  <a:srgbClr val="00B0F0"/>
                </a:solidFill>
                <a:latin typeface="楷体" panose="02010609060101010101" pitchFamily="49" charset="-122"/>
                <a:ea typeface="楷体" panose="02010609060101010101" pitchFamily="49" charset="-122"/>
              </a:rPr>
              <a:t>EW</a:t>
            </a:r>
            <a:r>
              <a:rPr lang="zh-CN" altLang="en-US" sz="2000" dirty="0">
                <a:solidFill>
                  <a:srgbClr val="00B0F0"/>
                </a:solidFill>
                <a:latin typeface="楷体" panose="02010609060101010101" pitchFamily="49" charset="-122"/>
                <a:ea typeface="楷体" panose="02010609060101010101" pitchFamily="49" charset="-122"/>
              </a:rPr>
              <a:t>的第</a:t>
            </a:r>
            <a:r>
              <a:rPr lang="en-US" altLang="zh-CN" sz="2000" dirty="0">
                <a:solidFill>
                  <a:srgbClr val="00B0F0"/>
                </a:solidFill>
                <a:latin typeface="楷体" panose="02010609060101010101" pitchFamily="49" charset="-122"/>
                <a:ea typeface="楷体" panose="02010609060101010101" pitchFamily="49" charset="-122"/>
              </a:rPr>
              <a:t>2</a:t>
            </a:r>
            <a:r>
              <a:rPr lang="zh-CN" altLang="en-US" sz="2000" dirty="0">
                <a:solidFill>
                  <a:srgbClr val="00B0F0"/>
                </a:solidFill>
                <a:latin typeface="楷体" panose="02010609060101010101" pitchFamily="49" charset="-122"/>
                <a:ea typeface="楷体" panose="02010609060101010101" pitchFamily="49" charset="-122"/>
              </a:rPr>
              <a:t>个数据的存储地址是？</a:t>
            </a:r>
            <a:endParaRPr lang="en-US" altLang="zh-CN" sz="2000" dirty="0">
              <a:solidFill>
                <a:srgbClr val="00B0F0"/>
              </a:solidFill>
              <a:latin typeface="楷体" panose="02010609060101010101" pitchFamily="49" charset="-122"/>
              <a:ea typeface="楷体" panose="02010609060101010101" pitchFamily="49" charset="-122"/>
            </a:endParaRPr>
          </a:p>
          <a:p>
            <a:pPr marL="0" indent="0">
              <a:lnSpc>
                <a:spcPct val="150000"/>
              </a:lnSpc>
              <a:buNone/>
            </a:pPr>
            <a:r>
              <a:rPr lang="zh-CN" altLang="en-US" sz="2000" dirty="0">
                <a:solidFill>
                  <a:srgbClr val="00B0F0"/>
                </a:solidFill>
                <a:latin typeface="楷体" panose="02010609060101010101" pitchFamily="49" charset="-122"/>
                <a:ea typeface="楷体" panose="02010609060101010101" pitchFamily="49" charset="-122"/>
              </a:rPr>
              <a:t>     字变量</a:t>
            </a:r>
            <a:r>
              <a:rPr lang="en-US" altLang="zh-CN" sz="2000" dirty="0">
                <a:solidFill>
                  <a:srgbClr val="00B0F0"/>
                </a:solidFill>
                <a:latin typeface="楷体" panose="02010609060101010101" pitchFamily="49" charset="-122"/>
                <a:ea typeface="楷体" panose="02010609060101010101" pitchFamily="49" charset="-122"/>
              </a:rPr>
              <a:t>B2</a:t>
            </a:r>
            <a:r>
              <a:rPr lang="zh-CN" altLang="en-US" sz="2000" dirty="0">
                <a:solidFill>
                  <a:srgbClr val="00B0F0"/>
                </a:solidFill>
                <a:latin typeface="楷体" panose="02010609060101010101" pitchFamily="49" charset="-122"/>
                <a:ea typeface="楷体" panose="02010609060101010101" pitchFamily="49" charset="-122"/>
              </a:rPr>
              <a:t>的第</a:t>
            </a:r>
            <a:r>
              <a:rPr lang="en-US" altLang="zh-CN" sz="2000" dirty="0">
                <a:solidFill>
                  <a:srgbClr val="00B0F0"/>
                </a:solidFill>
                <a:latin typeface="楷体" panose="02010609060101010101" pitchFamily="49" charset="-122"/>
                <a:ea typeface="楷体" panose="02010609060101010101" pitchFamily="49" charset="-122"/>
              </a:rPr>
              <a:t>2</a:t>
            </a:r>
            <a:r>
              <a:rPr lang="zh-CN" altLang="en-US" sz="2000" dirty="0">
                <a:solidFill>
                  <a:srgbClr val="00B0F0"/>
                </a:solidFill>
                <a:latin typeface="楷体" panose="02010609060101010101" pitchFamily="49" charset="-122"/>
                <a:ea typeface="楷体" panose="02010609060101010101" pitchFamily="49" charset="-122"/>
              </a:rPr>
              <a:t>个数据的存储地址为？</a:t>
            </a:r>
            <a:endParaRPr lang="en-US" altLang="zh-CN" sz="2000" dirty="0">
              <a:solidFill>
                <a:srgbClr val="00B0F0"/>
              </a:solidFill>
              <a:latin typeface="楷体" panose="02010609060101010101" pitchFamily="49" charset="-122"/>
              <a:ea typeface="楷体" panose="02010609060101010101" pitchFamily="49" charset="-122"/>
            </a:endParaRPr>
          </a:p>
          <a:p>
            <a:pPr marL="0" indent="0">
              <a:lnSpc>
                <a:spcPct val="150000"/>
              </a:lnSpc>
              <a:buNone/>
            </a:pPr>
            <a:r>
              <a:rPr lang="en-US" altLang="zh-CN" sz="2000" dirty="0">
                <a:solidFill>
                  <a:srgbClr val="00B0F0"/>
                </a:solidFill>
                <a:latin typeface="楷体" panose="02010609060101010101" pitchFamily="49" charset="-122"/>
                <a:ea typeface="楷体" panose="02010609060101010101" pitchFamily="49" charset="-122"/>
              </a:rPr>
              <a:t>     EW</a:t>
            </a:r>
            <a:r>
              <a:rPr lang="zh-CN" altLang="en-US" sz="2000" dirty="0">
                <a:solidFill>
                  <a:srgbClr val="00B0F0"/>
                </a:solidFill>
                <a:latin typeface="楷体" panose="02010609060101010101" pitchFamily="49" charset="-122"/>
                <a:ea typeface="楷体" panose="02010609060101010101" pitchFamily="49" charset="-122"/>
              </a:rPr>
              <a:t>的偏移地址为？</a:t>
            </a:r>
            <a:r>
              <a:rPr lang="en-US" altLang="zh-CN" sz="2000" dirty="0">
                <a:solidFill>
                  <a:srgbClr val="00B0F0"/>
                </a:solidFill>
                <a:latin typeface="楷体" panose="02010609060101010101" pitchFamily="49" charset="-122"/>
                <a:ea typeface="楷体" panose="02010609060101010101" pitchFamily="49" charset="-122"/>
              </a:rPr>
              <a:t>EQ</a:t>
            </a:r>
            <a:r>
              <a:rPr lang="zh-CN" altLang="en-US" sz="2000" dirty="0">
                <a:solidFill>
                  <a:srgbClr val="00B0F0"/>
                </a:solidFill>
                <a:latin typeface="楷体" panose="02010609060101010101" pitchFamily="49" charset="-122"/>
                <a:ea typeface="楷体" panose="02010609060101010101" pitchFamily="49" charset="-122"/>
              </a:rPr>
              <a:t>的段基址是？</a:t>
            </a:r>
            <a:endParaRPr lang="en-US" altLang="zh-CN" sz="2000" dirty="0">
              <a:solidFill>
                <a:srgbClr val="00B0F0"/>
              </a:solidFill>
              <a:latin typeface="楷体" panose="02010609060101010101" pitchFamily="49" charset="-122"/>
              <a:ea typeface="楷体" panose="02010609060101010101" pitchFamily="49" charset="-122"/>
            </a:endParaRPr>
          </a:p>
          <a:p>
            <a:pPr>
              <a:lnSpc>
                <a:spcPct val="150000"/>
              </a:lnSpc>
            </a:pPr>
            <a:endParaRPr lang="zh-CN" altLang="en-US" sz="2000" dirty="0">
              <a:solidFill>
                <a:srgbClr val="FF3399"/>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8739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
        <p:nvSpPr>
          <p:cNvPr id="3" name="Rectangle 3"/>
          <p:cNvSpPr txBox="1">
            <a:spLocks noChangeArrowheads="1"/>
          </p:cNvSpPr>
          <p:nvPr/>
        </p:nvSpPr>
        <p:spPr>
          <a:xfrm>
            <a:off x="179388" y="1710288"/>
            <a:ext cx="8964612" cy="50133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ts val="200"/>
              </a:spcBef>
              <a:spcAft>
                <a:spcPts val="600"/>
              </a:spcAft>
              <a:buNone/>
            </a:pPr>
            <a:r>
              <a:rPr lang="zh-CN" altLang="en-US" sz="2400" dirty="0">
                <a:latin typeface="楷体" panose="02010609060101010101" pitchFamily="49" charset="-122"/>
                <a:ea typeface="楷体" panose="02010609060101010101" pitchFamily="49" charset="-122"/>
              </a:rPr>
              <a:t>    变量、标号以及由其组成的地址表达式均有类型属性。地址表达式的类型属性由其中的变量或标号（</a:t>
            </a:r>
            <a:r>
              <a:rPr lang="zh-CN" altLang="en-US" sz="2400" dirty="0">
                <a:solidFill>
                  <a:srgbClr val="000099"/>
                </a:solidFill>
                <a:latin typeface="楷体" panose="02010609060101010101" pitchFamily="49" charset="-122"/>
                <a:ea typeface="楷体" panose="02010609060101010101" pitchFamily="49" charset="-122"/>
              </a:rPr>
              <a:t>一个地址表达式不可能同时含有变量和标号</a:t>
            </a:r>
            <a:r>
              <a:rPr lang="zh-CN" altLang="en-US" sz="2400" dirty="0">
                <a:latin typeface="楷体" panose="02010609060101010101" pitchFamily="49" charset="-122"/>
                <a:ea typeface="楷体" panose="02010609060101010101" pitchFamily="49" charset="-122"/>
              </a:rPr>
              <a:t>）决定。</a:t>
            </a:r>
            <a:r>
              <a:rPr lang="zh-CN" altLang="en-US" sz="2400" dirty="0">
                <a:solidFill>
                  <a:srgbClr val="FF0000"/>
                </a:solidFill>
                <a:latin typeface="楷体" panose="02010609060101010101" pitchFamily="49" charset="-122"/>
                <a:ea typeface="楷体" panose="02010609060101010101" pitchFamily="49" charset="-122"/>
              </a:rPr>
              <a:t>不含变量或标号，仅含寄存器的地址表达式没有类型属性。</a:t>
            </a:r>
            <a:r>
              <a:rPr lang="zh-CN" altLang="en-US" sz="2400" dirty="0">
                <a:latin typeface="楷体" panose="02010609060101010101" pitchFamily="49" charset="-122"/>
                <a:ea typeface="楷体" panose="02010609060101010101" pitchFamily="49" charset="-122"/>
              </a:rPr>
              <a:t>可以使用</a:t>
            </a:r>
            <a:r>
              <a:rPr lang="zh-CN" altLang="en-US" sz="2400" dirty="0">
                <a:solidFill>
                  <a:srgbClr val="FF0000"/>
                </a:solidFill>
                <a:latin typeface="楷体" panose="02010609060101010101" pitchFamily="49" charset="-122"/>
                <a:ea typeface="楷体" panose="02010609060101010101" pitchFamily="49" charset="-122"/>
              </a:rPr>
              <a:t>组合运算符</a:t>
            </a:r>
            <a:r>
              <a:rPr lang="en-US" altLang="zh-CN" sz="2400" dirty="0">
                <a:solidFill>
                  <a:srgbClr val="FF0000"/>
                </a:solidFill>
                <a:latin typeface="楷体" panose="02010609060101010101" pitchFamily="49" charset="-122"/>
                <a:ea typeface="楷体" panose="02010609060101010101" pitchFamily="49" charset="-122"/>
              </a:rPr>
              <a:t>PTR</a:t>
            </a:r>
            <a:r>
              <a:rPr lang="zh-CN" altLang="en-US" sz="2400" dirty="0">
                <a:solidFill>
                  <a:srgbClr val="003399"/>
                </a:solidFill>
                <a:latin typeface="楷体" panose="02010609060101010101" pitchFamily="49" charset="-122"/>
                <a:ea typeface="楷体" panose="02010609060101010101" pitchFamily="49" charset="-122"/>
              </a:rPr>
              <a:t>临时</a:t>
            </a:r>
            <a:r>
              <a:rPr lang="zh-CN" altLang="en-US" sz="2400" dirty="0">
                <a:latin typeface="楷体" panose="02010609060101010101" pitchFamily="49" charset="-122"/>
                <a:ea typeface="楷体" panose="02010609060101010101" pitchFamily="49" charset="-122"/>
              </a:rPr>
              <a:t>变更原地址表达式的类型属性</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或者明确没有类型属性的地址表达式的类型，而仍</a:t>
            </a:r>
            <a:r>
              <a:rPr lang="zh-CN" altLang="en-US" sz="2400" dirty="0">
                <a:solidFill>
                  <a:srgbClr val="FF0000"/>
                </a:solidFill>
                <a:latin typeface="楷体" panose="02010609060101010101" pitchFamily="49" charset="-122"/>
                <a:ea typeface="楷体" panose="02010609060101010101" pitchFamily="49" charset="-122"/>
              </a:rPr>
              <a:t>保持</a:t>
            </a:r>
            <a:r>
              <a:rPr lang="zh-CN" altLang="en-US" sz="2400" dirty="0">
                <a:latin typeface="楷体" panose="02010609060101010101" pitchFamily="49" charset="-122"/>
                <a:ea typeface="楷体" panose="02010609060101010101" pitchFamily="49" charset="-122"/>
              </a:rPr>
              <a:t>它们原来的段基址和偏移地址属性不变。</a:t>
            </a:r>
          </a:p>
          <a:p>
            <a:pPr marL="0" indent="0">
              <a:lnSpc>
                <a:spcPct val="125000"/>
              </a:lnSpc>
              <a:spcBef>
                <a:spcPts val="200"/>
              </a:spcBef>
              <a:buNone/>
            </a:pPr>
            <a:r>
              <a:rPr lang="zh-CN" altLang="en-US" sz="2400" dirty="0">
                <a:latin typeface="楷体" panose="02010609060101010101" pitchFamily="49" charset="-122"/>
                <a:ea typeface="楷体" panose="02010609060101010101" pitchFamily="49" charset="-122"/>
              </a:rPr>
              <a:t>格式： </a:t>
            </a:r>
            <a:r>
              <a:rPr lang="zh-CN" altLang="en-US" sz="2400" dirty="0">
                <a:solidFill>
                  <a:srgbClr val="FF0000"/>
                </a:solidFill>
                <a:latin typeface="楷体" panose="02010609060101010101" pitchFamily="49" charset="-122"/>
                <a:ea typeface="楷体" panose="02010609060101010101" pitchFamily="49" charset="-122"/>
              </a:rPr>
              <a:t>类型 </a:t>
            </a:r>
            <a:r>
              <a:rPr lang="en-US" altLang="zh-CN" sz="2400" dirty="0">
                <a:solidFill>
                  <a:srgbClr val="FF0000"/>
                </a:solidFill>
                <a:latin typeface="楷体" panose="02010609060101010101" pitchFamily="49" charset="-122"/>
                <a:ea typeface="楷体" panose="02010609060101010101" pitchFamily="49" charset="-122"/>
              </a:rPr>
              <a:t>PTR  </a:t>
            </a:r>
            <a:r>
              <a:rPr lang="zh-CN" altLang="en-US" sz="2400" dirty="0">
                <a:solidFill>
                  <a:srgbClr val="FF0000"/>
                </a:solidFill>
                <a:latin typeface="楷体" panose="02010609060101010101" pitchFamily="49" charset="-122"/>
                <a:ea typeface="楷体" panose="02010609060101010101" pitchFamily="49" charset="-122"/>
              </a:rPr>
              <a:t>地址表达式</a:t>
            </a:r>
          </a:p>
          <a:p>
            <a:pPr marL="0" indent="0">
              <a:lnSpc>
                <a:spcPct val="125000"/>
              </a:lnSpc>
              <a:spcBef>
                <a:spcPts val="200"/>
              </a:spcBef>
              <a:buNone/>
            </a:pPr>
            <a:r>
              <a:rPr lang="zh-CN" altLang="en-US" sz="2400" dirty="0">
                <a:solidFill>
                  <a:srgbClr val="FF0066"/>
                </a:solidFill>
                <a:latin typeface="楷体" panose="02010609060101010101" pitchFamily="49" charset="-122"/>
                <a:ea typeface="楷体" panose="02010609060101010101" pitchFamily="49" charset="-122"/>
              </a:rPr>
              <a:t>如： </a:t>
            </a:r>
            <a:r>
              <a:rPr lang="en-US" altLang="zh-CN" sz="2400" dirty="0">
                <a:solidFill>
                  <a:srgbClr val="003399"/>
                </a:solidFill>
                <a:latin typeface="楷体" panose="02010609060101010101" pitchFamily="49" charset="-122"/>
                <a:ea typeface="楷体" panose="02010609060101010101" pitchFamily="49" charset="-122"/>
              </a:rPr>
              <a:t>BYTE</a:t>
            </a:r>
            <a:r>
              <a:rPr lang="zh-CN" altLang="en-US" sz="2400" dirty="0">
                <a:solidFill>
                  <a:srgbClr val="003399"/>
                </a:solidFill>
                <a:latin typeface="楷体" panose="02010609060101010101" pitchFamily="49" charset="-122"/>
                <a:ea typeface="楷体" panose="02010609060101010101" pitchFamily="49" charset="-122"/>
              </a:rPr>
              <a:t>  </a:t>
            </a:r>
            <a:r>
              <a:rPr lang="en-US" altLang="zh-CN" sz="2400" dirty="0">
                <a:solidFill>
                  <a:srgbClr val="003399"/>
                </a:solidFill>
                <a:latin typeface="楷体" panose="02010609060101010101" pitchFamily="49" charset="-122"/>
                <a:ea typeface="楷体" panose="02010609060101010101" pitchFamily="49" charset="-122"/>
              </a:rPr>
              <a:t>PTR [BX+5]  </a:t>
            </a:r>
            <a:r>
              <a:rPr lang="zh-CN" altLang="en-US" sz="2400" dirty="0">
                <a:latin typeface="楷体" panose="02010609060101010101" pitchFamily="49" charset="-122"/>
                <a:ea typeface="楷体" panose="02010609060101010101" pitchFamily="49" charset="-122"/>
              </a:rPr>
              <a:t>；明确地址表达式</a:t>
            </a:r>
            <a:r>
              <a:rPr lang="en-US" altLang="zh-CN" sz="2400" dirty="0">
                <a:solidFill>
                  <a:srgbClr val="FF0066"/>
                </a:solidFill>
                <a:latin typeface="楷体" panose="02010609060101010101" pitchFamily="49" charset="-122"/>
                <a:ea typeface="楷体" panose="02010609060101010101" pitchFamily="49" charset="-122"/>
              </a:rPr>
              <a:t>[BX+5]</a:t>
            </a:r>
            <a:r>
              <a:rPr lang="zh-CN" altLang="en-US" sz="2400" dirty="0">
                <a:solidFill>
                  <a:srgbClr val="FF0066"/>
                </a:solidFill>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类型属性为</a:t>
            </a:r>
            <a:endParaRPr lang="en-US" altLang="zh-CN" sz="2400" dirty="0">
              <a:latin typeface="楷体" panose="02010609060101010101" pitchFamily="49" charset="-122"/>
              <a:ea typeface="楷体" panose="02010609060101010101" pitchFamily="49" charset="-122"/>
            </a:endParaRPr>
          </a:p>
          <a:p>
            <a:pPr marL="0" indent="0">
              <a:lnSpc>
                <a:spcPct val="125000"/>
              </a:lnSpc>
              <a:spcBef>
                <a:spcPts val="200"/>
              </a:spcBef>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字节类型</a:t>
            </a:r>
            <a:endParaRPr lang="en-US" altLang="zh-CN" sz="2400" dirty="0">
              <a:solidFill>
                <a:srgbClr val="FF0066"/>
              </a:solidFill>
              <a:latin typeface="楷体" panose="02010609060101010101" pitchFamily="49" charset="-122"/>
              <a:ea typeface="楷体" panose="02010609060101010101" pitchFamily="49" charset="-122"/>
            </a:endParaRPr>
          </a:p>
          <a:p>
            <a:pPr marL="0" indent="0">
              <a:lnSpc>
                <a:spcPct val="125000"/>
              </a:lnSpc>
              <a:spcBef>
                <a:spcPts val="200"/>
              </a:spcBef>
              <a:buNone/>
            </a:pPr>
            <a:r>
              <a:rPr lang="zh-CN" altLang="en-US" sz="2400" dirty="0">
                <a:solidFill>
                  <a:srgbClr val="FF0066"/>
                </a:solidFill>
                <a:latin typeface="楷体" panose="02010609060101010101" pitchFamily="49" charset="-122"/>
                <a:ea typeface="楷体" panose="02010609060101010101" pitchFamily="49" charset="-122"/>
              </a:rPr>
              <a:t>     </a:t>
            </a:r>
            <a:r>
              <a:rPr lang="en-US" altLang="zh-CN" sz="2400" dirty="0">
                <a:solidFill>
                  <a:srgbClr val="003399"/>
                </a:solidFill>
                <a:latin typeface="楷体" panose="02010609060101010101" pitchFamily="49" charset="-122"/>
                <a:ea typeface="楷体" panose="02010609060101010101" pitchFamily="49" charset="-122"/>
              </a:rPr>
              <a:t>WORD</a:t>
            </a:r>
            <a:r>
              <a:rPr lang="zh-CN" altLang="en-US" sz="2400" dirty="0">
                <a:solidFill>
                  <a:srgbClr val="003399"/>
                </a:solidFill>
                <a:latin typeface="楷体" panose="02010609060101010101" pitchFamily="49" charset="-122"/>
                <a:ea typeface="楷体" panose="02010609060101010101" pitchFamily="49" charset="-122"/>
              </a:rPr>
              <a:t>  </a:t>
            </a:r>
            <a:r>
              <a:rPr lang="en-US" altLang="zh-CN" sz="2400" dirty="0">
                <a:solidFill>
                  <a:srgbClr val="003399"/>
                </a:solidFill>
                <a:latin typeface="楷体" panose="02010609060101010101" pitchFamily="49" charset="-122"/>
                <a:ea typeface="楷体" panose="02010609060101010101" pitchFamily="49" charset="-122"/>
              </a:rPr>
              <a:t>PTR  B2     </a:t>
            </a:r>
            <a:r>
              <a:rPr lang="zh-CN" altLang="en-US" sz="2400" dirty="0">
                <a:latin typeface="楷体" panose="02010609060101010101" pitchFamily="49" charset="-122"/>
                <a:ea typeface="楷体" panose="02010609060101010101" pitchFamily="49" charset="-122"/>
              </a:rPr>
              <a:t>；临时改变</a:t>
            </a:r>
            <a:r>
              <a:rPr lang="en-US" altLang="zh-CN" sz="2400" dirty="0">
                <a:latin typeface="楷体" panose="02010609060101010101" pitchFamily="49" charset="-122"/>
                <a:ea typeface="楷体" panose="02010609060101010101" pitchFamily="49" charset="-122"/>
              </a:rPr>
              <a:t>B2</a:t>
            </a:r>
            <a:r>
              <a:rPr lang="zh-CN" altLang="en-US" sz="2400" dirty="0">
                <a:latin typeface="楷体" panose="02010609060101010101" pitchFamily="49" charset="-122"/>
                <a:ea typeface="楷体" panose="02010609060101010101" pitchFamily="49" charset="-122"/>
              </a:rPr>
              <a:t>的类型属性为字类型</a:t>
            </a:r>
          </a:p>
        </p:txBody>
      </p:sp>
      <p:sp>
        <p:nvSpPr>
          <p:cNvPr id="4" name="Rectangle 57"/>
          <p:cNvSpPr>
            <a:spLocks noChangeArrowheads="1"/>
          </p:cNvSpPr>
          <p:nvPr/>
        </p:nvSpPr>
        <p:spPr bwMode="auto">
          <a:xfrm>
            <a:off x="179388" y="1153438"/>
            <a:ext cx="65008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5. </a:t>
            </a:r>
            <a:r>
              <a:rPr lang="zh-CN" altLang="en-US" sz="2800" dirty="0">
                <a:solidFill>
                  <a:srgbClr val="000099"/>
                </a:solidFill>
                <a:latin typeface="楷体" panose="02010609060101010101" pitchFamily="49" charset="-122"/>
                <a:ea typeface="楷体" panose="02010609060101010101" pitchFamily="49" charset="-122"/>
              </a:rPr>
              <a:t>地址表达式类型的变更</a:t>
            </a:r>
          </a:p>
        </p:txBody>
      </p:sp>
    </p:spTree>
    <p:extLst>
      <p:ext uri="{BB962C8B-B14F-4D97-AF65-F5344CB8AC3E}">
        <p14:creationId xmlns:p14="http://schemas.microsoft.com/office/powerpoint/2010/main" val="2976843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7.1.3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变量</a:t>
            </a:r>
          </a:p>
        </p:txBody>
      </p:sp>
      <p:sp>
        <p:nvSpPr>
          <p:cNvPr id="3" name="Rectangle 3"/>
          <p:cNvSpPr txBox="1">
            <a:spLocks noChangeArrowheads="1"/>
          </p:cNvSpPr>
          <p:nvPr/>
        </p:nvSpPr>
        <p:spPr>
          <a:xfrm>
            <a:off x="319088" y="1268413"/>
            <a:ext cx="8610600" cy="4752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例： </a:t>
            </a:r>
            <a:r>
              <a:rPr lang="en-US" altLang="zh-CN" dirty="0">
                <a:solidFill>
                  <a:srgbClr val="000099"/>
                </a:solidFill>
                <a:latin typeface="楷体" panose="02010609060101010101" pitchFamily="49" charset="-122"/>
                <a:ea typeface="楷体" panose="02010609060101010101" pitchFamily="49" charset="-122"/>
              </a:rPr>
              <a:t>B  DB  3</a:t>
            </a:r>
          </a:p>
          <a:p>
            <a:pPr marL="0" indent="0">
              <a:lnSpc>
                <a:spcPct val="150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W</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DW  1122H</a:t>
            </a:r>
            <a:r>
              <a:rPr lang="zh-CN" altLang="en-US" dirty="0">
                <a:solidFill>
                  <a:srgbClr val="000099"/>
                </a:solidFill>
                <a:latin typeface="楷体" panose="02010609060101010101" pitchFamily="49" charset="-122"/>
                <a:ea typeface="楷体" panose="02010609060101010101" pitchFamily="49" charset="-122"/>
              </a:rPr>
              <a:t>  </a:t>
            </a:r>
            <a:br>
              <a:rPr lang="zh-CN" altLang="en-US" dirty="0">
                <a:solidFill>
                  <a:srgbClr val="000099"/>
                </a:solidFill>
                <a:latin typeface="楷体" panose="02010609060101010101" pitchFamily="49" charset="-122"/>
                <a:ea typeface="楷体" panose="02010609060101010101" pitchFamily="49" charset="-122"/>
              </a:rPr>
            </a:b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WORD  PTR  B  ;</a:t>
            </a:r>
            <a:r>
              <a:rPr lang="zh-CN" altLang="en-US" sz="2200" dirty="0">
                <a:solidFill>
                  <a:srgbClr val="000099"/>
                </a:solidFill>
                <a:latin typeface="楷体" panose="02010609060101010101" pitchFamily="49" charset="-122"/>
                <a:ea typeface="楷体" panose="02010609060101010101" pitchFamily="49" charset="-122"/>
              </a:rPr>
              <a:t>将</a:t>
            </a:r>
            <a:r>
              <a:rPr lang="en-US" altLang="zh-CN" sz="2200" dirty="0">
                <a:solidFill>
                  <a:srgbClr val="000099"/>
                </a:solidFill>
                <a:latin typeface="楷体" panose="02010609060101010101" pitchFamily="49" charset="-122"/>
                <a:ea typeface="楷体" panose="02010609060101010101" pitchFamily="49" charset="-122"/>
              </a:rPr>
              <a:t>B</a:t>
            </a:r>
            <a:r>
              <a:rPr lang="zh-CN" altLang="en-US" sz="2200" dirty="0">
                <a:solidFill>
                  <a:srgbClr val="000099"/>
                </a:solidFill>
                <a:latin typeface="楷体" panose="02010609060101010101" pitchFamily="49" charset="-122"/>
                <a:ea typeface="楷体" panose="02010609060101010101" pitchFamily="49" charset="-122"/>
              </a:rPr>
              <a:t>临时改变为字类型</a:t>
            </a:r>
            <a:endParaRPr lang="en-US" altLang="zh-CN" sz="2200" dirty="0">
              <a:solidFill>
                <a:srgbClr val="000099"/>
              </a:solidFill>
              <a:latin typeface="楷体" panose="02010609060101010101" pitchFamily="49" charset="-122"/>
              <a:ea typeface="楷体" panose="02010609060101010101" pitchFamily="49" charset="-122"/>
            </a:endParaRPr>
          </a:p>
          <a:p>
            <a:pPr marL="0" indent="0">
              <a:lnSpc>
                <a:spcPct val="150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BYTE</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PTR </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W  ;</a:t>
            </a:r>
            <a:r>
              <a:rPr lang="zh-CN" altLang="en-US" sz="2200" dirty="0">
                <a:solidFill>
                  <a:srgbClr val="000099"/>
                </a:solidFill>
                <a:latin typeface="楷体" panose="02010609060101010101" pitchFamily="49" charset="-122"/>
                <a:ea typeface="楷体" panose="02010609060101010101" pitchFamily="49" charset="-122"/>
              </a:rPr>
              <a:t>将</a:t>
            </a:r>
            <a:r>
              <a:rPr lang="en-US" altLang="zh-CN" sz="2200" dirty="0">
                <a:solidFill>
                  <a:srgbClr val="000099"/>
                </a:solidFill>
                <a:latin typeface="楷体" panose="02010609060101010101" pitchFamily="49" charset="-122"/>
                <a:ea typeface="楷体" panose="02010609060101010101" pitchFamily="49" charset="-122"/>
              </a:rPr>
              <a:t>W</a:t>
            </a:r>
            <a:r>
              <a:rPr lang="zh-CN" altLang="en-US" sz="2200" dirty="0">
                <a:solidFill>
                  <a:srgbClr val="000099"/>
                </a:solidFill>
                <a:latin typeface="楷体" panose="02010609060101010101" pitchFamily="49" charset="-122"/>
                <a:ea typeface="楷体" panose="02010609060101010101" pitchFamily="49" charset="-122"/>
              </a:rPr>
              <a:t>临时改变为字节类型</a:t>
            </a:r>
            <a:endParaRPr lang="en-US" altLang="zh-CN" sz="2200" dirty="0">
              <a:solidFill>
                <a:srgbClr val="000099"/>
              </a:solidFill>
              <a:latin typeface="楷体" panose="02010609060101010101" pitchFamily="49" charset="-122"/>
              <a:ea typeface="楷体" panose="02010609060101010101" pitchFamily="49" charset="-122"/>
            </a:endParaRPr>
          </a:p>
          <a:p>
            <a:pPr marL="0" indent="0">
              <a:lnSpc>
                <a:spcPct val="150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例： </a:t>
            </a:r>
            <a:r>
              <a:rPr lang="en-US" altLang="zh-CN" dirty="0">
                <a:solidFill>
                  <a:srgbClr val="000099"/>
                </a:solidFill>
                <a:latin typeface="楷体" panose="02010609060101010101" pitchFamily="49" charset="-122"/>
                <a:ea typeface="楷体" panose="02010609060101010101" pitchFamily="49" charset="-122"/>
              </a:rPr>
              <a:t>BYTE</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PTR</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BX</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FF0000"/>
                </a:solidFill>
                <a:latin typeface="楷体" panose="02010609060101010101" pitchFamily="49" charset="-122"/>
                <a:ea typeface="楷体" panose="02010609060101010101" pitchFamily="49" charset="-122"/>
              </a:rPr>
              <a:t>;  </a:t>
            </a:r>
            <a:r>
              <a:rPr lang="en-US" altLang="zh-CN" sz="1800" dirty="0">
                <a:solidFill>
                  <a:srgbClr val="FF0000"/>
                </a:solidFill>
                <a:latin typeface="楷体" panose="02010609060101010101" pitchFamily="49" charset="-122"/>
                <a:ea typeface="楷体" panose="02010609060101010101" pitchFamily="49" charset="-122"/>
              </a:rPr>
              <a:t>╳</a:t>
            </a:r>
            <a:r>
              <a:rPr lang="en-US" altLang="zh-CN" sz="1600" dirty="0">
                <a:solidFill>
                  <a:srgbClr val="FF0000"/>
                </a:solidFill>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寄存器有类型属性，不能变更</a:t>
            </a:r>
          </a:p>
          <a:p>
            <a:pPr marL="0" indent="0">
              <a:lnSpc>
                <a:spcPct val="150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BYTE</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PTR</a:t>
            </a:r>
            <a:r>
              <a:rPr lang="zh-CN" altLang="en-US" dirty="0">
                <a:solidFill>
                  <a:srgbClr val="000099"/>
                </a:solidFill>
                <a:latin typeface="楷体" panose="02010609060101010101" pitchFamily="49" charset="-122"/>
                <a:ea typeface="楷体" panose="02010609060101010101" pitchFamily="49" charset="-122"/>
              </a:rPr>
              <a:t> </a:t>
            </a:r>
            <a:r>
              <a:rPr lang="en-US" altLang="zh-CN" dirty="0">
                <a:solidFill>
                  <a:srgbClr val="000099"/>
                </a:solidFill>
                <a:latin typeface="楷体" panose="02010609060101010101" pitchFamily="49" charset="-122"/>
                <a:ea typeface="楷体" panose="02010609060101010101" pitchFamily="49" charset="-122"/>
              </a:rPr>
              <a:t>[BX]</a:t>
            </a:r>
            <a:r>
              <a:rPr lang="zh-CN" altLang="en-US" dirty="0">
                <a:solidFill>
                  <a:srgbClr val="000099"/>
                </a:solidFill>
                <a:latin typeface="楷体" panose="02010609060101010101" pitchFamily="49" charset="-122"/>
                <a:ea typeface="楷体" panose="02010609060101010101" pitchFamily="49" charset="-122"/>
              </a:rPr>
              <a:t> </a:t>
            </a:r>
            <a:r>
              <a:rPr lang="zh-CN" altLang="en-US" dirty="0">
                <a:solidFill>
                  <a:srgbClr val="FF0000"/>
                </a:solidFill>
                <a:latin typeface="楷体" panose="02010609060101010101" pitchFamily="49" charset="-122"/>
                <a:ea typeface="楷体" panose="02010609060101010101" pitchFamily="49" charset="-122"/>
              </a:rPr>
              <a:t>；</a:t>
            </a:r>
            <a:r>
              <a:rPr lang="en-US" altLang="zh-CN"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明确仅含寄存器的地址表达式的类型属性为字节类型</a:t>
            </a:r>
            <a:endParaRPr lang="en-US" altLang="zh-CN" sz="2400" dirty="0">
              <a:solidFill>
                <a:srgbClr val="000099"/>
              </a:solidFill>
              <a:latin typeface="楷体" panose="02010609060101010101" pitchFamily="49" charset="-122"/>
              <a:ea typeface="楷体" panose="02010609060101010101" pitchFamily="49" charset="-122"/>
            </a:endParaRPr>
          </a:p>
        </p:txBody>
      </p:sp>
      <p:graphicFrame>
        <p:nvGraphicFramePr>
          <p:cNvPr id="4" name="Object 8"/>
          <p:cNvGraphicFramePr>
            <a:graphicFrameLocks/>
          </p:cNvGraphicFramePr>
          <p:nvPr>
            <p:extLst>
              <p:ext uri="{D42A27DB-BD31-4B8C-83A1-F6EECF244321}">
                <p14:modId xmlns:p14="http://schemas.microsoft.com/office/powerpoint/2010/main" val="911646745"/>
              </p:ext>
            </p:extLst>
          </p:nvPr>
        </p:nvGraphicFramePr>
        <p:xfrm>
          <a:off x="7040440" y="1196682"/>
          <a:ext cx="2009775" cy="2665412"/>
        </p:xfrm>
        <a:graphic>
          <a:graphicData uri="http://schemas.openxmlformats.org/presentationml/2006/ole">
            <mc:AlternateContent xmlns:mc="http://schemas.openxmlformats.org/markup-compatibility/2006">
              <mc:Choice xmlns:v="urn:schemas-microsoft-com:vml" Requires="v">
                <p:oleObj r:id="rId2" imgW="933580" imgH="1238423" progId="PBrush">
                  <p:embed/>
                </p:oleObj>
              </mc:Choice>
              <mc:Fallback>
                <p:oleObj r:id="rId2" imgW="933580" imgH="1238423" progId="PBrush">
                  <p:embed/>
                  <p:pic>
                    <p:nvPicPr>
                      <p:cNvPr id="35843"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0440" y="1196682"/>
                        <a:ext cx="2009775"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2553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7.2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符号指令的寻址方式</a:t>
            </a:r>
          </a:p>
        </p:txBody>
      </p:sp>
      <p:sp>
        <p:nvSpPr>
          <p:cNvPr id="3" name="Rectangle 3"/>
          <p:cNvSpPr txBox="1">
            <a:spLocks noChangeArrowheads="1"/>
          </p:cNvSpPr>
          <p:nvPr/>
        </p:nvSpPr>
        <p:spPr>
          <a:xfrm>
            <a:off x="321014" y="1241426"/>
            <a:ext cx="8432369" cy="52392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Font typeface="Wingdings 2" panose="05020102010507070707" pitchFamily="18" charset="2"/>
              <a:buNone/>
            </a:pPr>
            <a:r>
              <a:rPr lang="zh-CN" altLang="en-US" sz="2400" b="1" dirty="0">
                <a:latin typeface="楷体" panose="02010609060101010101" pitchFamily="49" charset="-122"/>
                <a:ea typeface="楷体" panose="02010609060101010101" pitchFamily="49" charset="-122"/>
              </a:rPr>
              <a:t>符号指令的格式：</a:t>
            </a:r>
          </a:p>
          <a:p>
            <a:pPr marL="0" indent="0">
              <a:lnSpc>
                <a:spcPct val="120000"/>
              </a:lnSpc>
              <a:spcBef>
                <a:spcPts val="0"/>
              </a:spcBef>
              <a:buNone/>
            </a:pPr>
            <a:r>
              <a:rPr lang="zh-CN" altLang="en-US" sz="2400" dirty="0">
                <a:solidFill>
                  <a:srgbClr val="FF0066"/>
                </a:solidFill>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操作助记符  目的操作数</a:t>
            </a:r>
            <a:r>
              <a:rPr lang="en-US" altLang="zh-CN" sz="2400" dirty="0">
                <a:solidFill>
                  <a:srgbClr val="FF0000"/>
                </a:solidFill>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源操作数</a:t>
            </a:r>
            <a:r>
              <a:rPr lang="en-US" altLang="zh-CN" sz="2400" dirty="0">
                <a:solidFill>
                  <a:srgbClr val="FF0000"/>
                </a:solidFill>
                <a:latin typeface="楷体" panose="02010609060101010101" pitchFamily="49" charset="-122"/>
                <a:ea typeface="楷体" panose="02010609060101010101" pitchFamily="49" charset="-122"/>
              </a:rPr>
              <a:t> </a:t>
            </a:r>
            <a:r>
              <a:rPr lang="zh-CN" altLang="en-US" sz="2400" dirty="0">
                <a:solidFill>
                  <a:srgbClr val="003399"/>
                </a:solidFill>
                <a:latin typeface="楷体" panose="02010609060101010101" pitchFamily="49" charset="-122"/>
                <a:ea typeface="楷体" panose="02010609060101010101" pitchFamily="49" charset="-122"/>
              </a:rPr>
              <a:t>；注释</a:t>
            </a:r>
            <a:endParaRPr lang="en-US" altLang="zh-CN" sz="2400" dirty="0">
              <a:solidFill>
                <a:srgbClr val="003399"/>
              </a:solidFill>
              <a:latin typeface="楷体" panose="02010609060101010101" pitchFamily="49" charset="-122"/>
              <a:ea typeface="楷体" panose="02010609060101010101" pitchFamily="49" charset="-122"/>
            </a:endParaRPr>
          </a:p>
          <a:p>
            <a:pPr marL="0" indent="0">
              <a:lnSpc>
                <a:spcPct val="120000"/>
              </a:lnSpc>
              <a:spcBef>
                <a:spcPts val="0"/>
              </a:spcBef>
              <a:buFont typeface="Wingdings 2" panose="05020102010507070707" pitchFamily="18" charset="2"/>
              <a:buNone/>
            </a:pPr>
            <a:r>
              <a:rPr lang="zh-CN" altLang="en-US" sz="2400" dirty="0">
                <a:solidFill>
                  <a:srgbClr val="FF0066"/>
                </a:solidFill>
                <a:latin typeface="楷体" panose="02010609060101010101" pitchFamily="49" charset="-122"/>
                <a:ea typeface="楷体" panose="02010609060101010101" pitchFamily="49" charset="-122"/>
              </a:rPr>
              <a:t>    </a:t>
            </a:r>
            <a:r>
              <a:rPr lang="zh-CN" altLang="en-US" sz="2400" dirty="0">
                <a:solidFill>
                  <a:srgbClr val="003399"/>
                </a:solidFill>
                <a:latin typeface="楷体" panose="02010609060101010101" pitchFamily="49" charset="-122"/>
                <a:ea typeface="楷体" panose="02010609060101010101" pitchFamily="49" charset="-122"/>
              </a:rPr>
              <a:t>操作助记符：</a:t>
            </a:r>
            <a:r>
              <a:rPr lang="zh-CN" altLang="en-US" sz="2400" dirty="0">
                <a:latin typeface="楷体" panose="02010609060101010101" pitchFamily="49" charset="-122"/>
                <a:ea typeface="楷体" panose="02010609060101010101" pitchFamily="49" charset="-122"/>
              </a:rPr>
              <a:t>指明指令进行什么操作</a:t>
            </a:r>
          </a:p>
          <a:p>
            <a:pPr marL="0" indent="0">
              <a:lnSpc>
                <a:spcPct val="120000"/>
              </a:lnSpc>
              <a:spcBef>
                <a:spcPts val="0"/>
              </a:spcBef>
              <a:buFont typeface="Wingdings 2" panose="05020102010507070707" pitchFamily="18" charset="2"/>
              <a:buNone/>
            </a:pPr>
            <a:r>
              <a:rPr lang="zh-CN" altLang="en-US" sz="2400" dirty="0">
                <a:solidFill>
                  <a:srgbClr val="00B0F0"/>
                </a:solidFill>
                <a:latin typeface="楷体" panose="02010609060101010101" pitchFamily="49" charset="-122"/>
                <a:ea typeface="楷体" panose="02010609060101010101" pitchFamily="49" charset="-122"/>
              </a:rPr>
              <a:t>    </a:t>
            </a:r>
            <a:r>
              <a:rPr lang="zh-CN" altLang="en-US" sz="2400" dirty="0">
                <a:solidFill>
                  <a:srgbClr val="003399"/>
                </a:solidFill>
                <a:latin typeface="楷体" panose="02010609060101010101" pitchFamily="49" charset="-122"/>
                <a:ea typeface="楷体" panose="02010609060101010101" pitchFamily="49" charset="-122"/>
              </a:rPr>
              <a:t>源操作数：  </a:t>
            </a:r>
            <a:r>
              <a:rPr lang="zh-CN" altLang="en-US" sz="2400" dirty="0">
                <a:latin typeface="楷体" panose="02010609060101010101" pitchFamily="49" charset="-122"/>
                <a:ea typeface="楷体" panose="02010609060101010101" pitchFamily="49" charset="-122"/>
              </a:rPr>
              <a:t>指明操作数据的地址；</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0"/>
              </a:spcBef>
              <a:buFont typeface="Wingdings 2" panose="05020102010507070707" pitchFamily="18" charset="2"/>
              <a:buNone/>
            </a:pPr>
            <a:r>
              <a:rPr lang="zh-CN" altLang="en-US" sz="2400" dirty="0">
                <a:solidFill>
                  <a:srgbClr val="00B050"/>
                </a:solidFill>
                <a:latin typeface="楷体" panose="02010609060101010101" pitchFamily="49" charset="-122"/>
                <a:ea typeface="楷体" panose="02010609060101010101" pitchFamily="49" charset="-122"/>
              </a:rPr>
              <a:t>    </a:t>
            </a:r>
            <a:r>
              <a:rPr lang="zh-CN" altLang="en-US" sz="2400" dirty="0">
                <a:solidFill>
                  <a:srgbClr val="003399"/>
                </a:solidFill>
                <a:latin typeface="楷体" panose="02010609060101010101" pitchFamily="49" charset="-122"/>
                <a:ea typeface="楷体" panose="02010609060101010101" pitchFamily="49" charset="-122"/>
              </a:rPr>
              <a:t>目的操作数：</a:t>
            </a:r>
            <a:r>
              <a:rPr lang="zh-CN" altLang="en-US" sz="2400" dirty="0">
                <a:latin typeface="楷体" panose="02010609060101010101" pitchFamily="49" charset="-122"/>
                <a:ea typeface="楷体" panose="02010609060101010101" pitchFamily="49" charset="-122"/>
              </a:rPr>
              <a:t>既指明操作数据的地址，还指明（操作后）数据的存放地址</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0"/>
              </a:spcBef>
              <a:buFont typeface="Wingdings 2" panose="05020102010507070707" pitchFamily="18" charset="2"/>
              <a:buNone/>
            </a:pPr>
            <a:r>
              <a:rPr lang="zh-CN" altLang="en-US" sz="2400" dirty="0">
                <a:solidFill>
                  <a:srgbClr val="FF0000"/>
                </a:solidFill>
                <a:latin typeface="楷体" panose="02010609060101010101" pitchFamily="49" charset="-122"/>
                <a:ea typeface="楷体" panose="02010609060101010101" pitchFamily="49" charset="-122"/>
              </a:rPr>
              <a:t>    寻址方式</a:t>
            </a:r>
            <a:r>
              <a:rPr lang="en-US" altLang="zh-CN" sz="2400" dirty="0">
                <a:solidFill>
                  <a:srgbClr val="000099"/>
                </a:solidFill>
                <a:latin typeface="楷体" panose="02010609060101010101" pitchFamily="49" charset="-122"/>
                <a:ea typeface="楷体" panose="02010609060101010101" pitchFamily="49" charset="-122"/>
              </a:rPr>
              <a:t>——</a:t>
            </a:r>
            <a:r>
              <a:rPr lang="zh-CN" altLang="en-US" sz="2400" dirty="0">
                <a:solidFill>
                  <a:srgbClr val="000099"/>
                </a:solidFill>
                <a:latin typeface="楷体" panose="02010609060101010101" pitchFamily="49" charset="-122"/>
                <a:ea typeface="楷体" panose="02010609060101010101" pitchFamily="49" charset="-122"/>
              </a:rPr>
              <a:t>寻找操作数据（或数据的存放）的方式</a:t>
            </a:r>
          </a:p>
          <a:p>
            <a:pPr marL="0" indent="0">
              <a:lnSpc>
                <a:spcPct val="120000"/>
              </a:lnSpc>
              <a:spcBef>
                <a:spcPts val="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    寻址方式可分为三大类：</a:t>
            </a:r>
            <a:endParaRPr lang="en-US" altLang="zh-CN" sz="2400" dirty="0">
              <a:solidFill>
                <a:srgbClr val="000099"/>
              </a:solidFill>
              <a:latin typeface="楷体" panose="02010609060101010101" pitchFamily="49" charset="-122"/>
              <a:ea typeface="楷体" panose="02010609060101010101" pitchFamily="49" charset="-122"/>
            </a:endParaRPr>
          </a:p>
          <a:p>
            <a:pPr indent="0">
              <a:lnSpc>
                <a:spcPct val="120000"/>
              </a:lnSpc>
              <a:spcBef>
                <a:spcPts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立即寻址：   </a:t>
            </a:r>
            <a:r>
              <a:rPr lang="zh-CN" altLang="en-US" sz="2400" dirty="0">
                <a:latin typeface="楷体" panose="02010609060101010101" pitchFamily="49" charset="-122"/>
                <a:ea typeface="楷体" panose="02010609060101010101" pitchFamily="49" charset="-122"/>
              </a:rPr>
              <a:t>操作数就是操作数据本身 </a:t>
            </a:r>
            <a:endParaRPr lang="en-US" altLang="zh-CN" sz="2400" dirty="0">
              <a:latin typeface="楷体" panose="02010609060101010101" pitchFamily="49" charset="-122"/>
              <a:ea typeface="楷体" panose="02010609060101010101" pitchFamily="49" charset="-122"/>
            </a:endParaRPr>
          </a:p>
          <a:p>
            <a:pPr indent="0">
              <a:lnSpc>
                <a:spcPct val="120000"/>
              </a:lnSpc>
              <a:spcBef>
                <a:spcPts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寄存器寻址： </a:t>
            </a:r>
            <a:r>
              <a:rPr lang="zh-CN" altLang="en-US" sz="2400" dirty="0">
                <a:latin typeface="楷体" panose="02010609060101010101" pitchFamily="49" charset="-122"/>
                <a:ea typeface="楷体" panose="02010609060101010101" pitchFamily="49" charset="-122"/>
              </a:rPr>
              <a:t>操作数是寄存器名</a:t>
            </a:r>
            <a:endParaRPr lang="en-US" altLang="zh-CN" sz="2400" dirty="0">
              <a:latin typeface="楷体" panose="02010609060101010101" pitchFamily="49" charset="-122"/>
              <a:ea typeface="楷体" panose="02010609060101010101" pitchFamily="49" charset="-122"/>
            </a:endParaRPr>
          </a:p>
          <a:p>
            <a:pPr indent="0">
              <a:lnSpc>
                <a:spcPct val="120000"/>
              </a:lnSpc>
              <a:spcBef>
                <a:spcPts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存储器寻址 ：</a:t>
            </a:r>
            <a:r>
              <a:rPr lang="zh-CN" altLang="en-US" sz="2400" dirty="0">
                <a:latin typeface="楷体" panose="02010609060101010101" pitchFamily="49" charset="-122"/>
                <a:ea typeface="楷体" panose="02010609060101010101" pitchFamily="49" charset="-122"/>
              </a:rPr>
              <a:t>操作数是地址表达式</a:t>
            </a:r>
          </a:p>
        </p:txBody>
      </p:sp>
    </p:spTree>
    <p:extLst>
      <p:ext uri="{BB962C8B-B14F-4D97-AF65-F5344CB8AC3E}">
        <p14:creationId xmlns:p14="http://schemas.microsoft.com/office/powerpoint/2010/main" val="3206894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4"/>
          <p:cNvSpPr>
            <a:spLocks noChangeArrowheads="1"/>
          </p:cNvSpPr>
          <p:nvPr/>
        </p:nvSpPr>
        <p:spPr bwMode="auto">
          <a:xfrm>
            <a:off x="87776" y="3802663"/>
            <a:ext cx="8569324"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eaLnBrk="1" hangingPunct="1">
              <a:lnSpc>
                <a:spcPct val="150000"/>
              </a:lnSpc>
              <a:spcBef>
                <a:spcPct val="0"/>
              </a:spcBef>
              <a:buClr>
                <a:srgbClr val="00B0F0"/>
              </a:buClr>
              <a:buSzPct val="80000"/>
              <a:buFont typeface="Wingdings" panose="05000000000000000000" pitchFamily="2" charset="2"/>
              <a:buChar char="l"/>
            </a:pPr>
            <a:r>
              <a:rPr lang="zh-CN" altLang="en-US" sz="2400" b="0" dirty="0">
                <a:latin typeface="楷体" panose="02010609060101010101" pitchFamily="49" charset="-122"/>
                <a:ea typeface="楷体" panose="02010609060101010101" pitchFamily="49" charset="-122"/>
              </a:rPr>
              <a:t>立即寻址方式</a:t>
            </a:r>
            <a:r>
              <a:rPr lang="zh-CN" altLang="en-US" sz="2400" b="0" dirty="0">
                <a:solidFill>
                  <a:srgbClr val="FF0000"/>
                </a:solidFill>
                <a:latin typeface="楷体" panose="02010609060101010101" pitchFamily="49" charset="-122"/>
                <a:ea typeface="楷体" panose="02010609060101010101" pitchFamily="49" charset="-122"/>
              </a:rPr>
              <a:t>只能用于源操作数</a:t>
            </a:r>
            <a:r>
              <a:rPr lang="zh-CN" altLang="en-US" sz="2400" b="0" dirty="0">
                <a:latin typeface="楷体" panose="02010609060101010101" pitchFamily="49" charset="-122"/>
                <a:ea typeface="楷体" panose="02010609060101010101" pitchFamily="49" charset="-122"/>
              </a:rPr>
              <a:t>，主要用来给寄存器或存储器赋初值</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Clr>
                <a:srgbClr val="00B0F0"/>
              </a:buClr>
              <a:buSzPct val="80000"/>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   例：</a:t>
            </a:r>
            <a:r>
              <a:rPr lang="en-US" altLang="zh-CN" sz="2400" b="0" dirty="0">
                <a:solidFill>
                  <a:srgbClr val="000099"/>
                </a:solidFill>
                <a:latin typeface="楷体" panose="02010609060101010101" pitchFamily="49" charset="-122"/>
                <a:ea typeface="楷体" panose="02010609060101010101" pitchFamily="49" charset="-122"/>
              </a:rPr>
              <a:t>MOV  5,  AL     </a:t>
            </a:r>
            <a:r>
              <a:rPr lang="en-US" altLang="zh-CN" sz="2400" b="0" dirty="0">
                <a:solidFill>
                  <a:srgbClr val="FF0000"/>
                </a:solidFill>
                <a:latin typeface="楷体" panose="02010609060101010101" pitchFamily="49" charset="-122"/>
                <a:ea typeface="楷体" panose="02010609060101010101" pitchFamily="49" charset="-122"/>
              </a:rPr>
              <a:t>╳</a:t>
            </a:r>
            <a:r>
              <a:rPr lang="en-US" altLang="zh-CN" sz="2400" b="0" dirty="0">
                <a:solidFill>
                  <a:schemeClr val="accent2"/>
                </a:solidFill>
                <a:latin typeface="楷体" panose="02010609060101010101" pitchFamily="49" charset="-122"/>
                <a:ea typeface="楷体" panose="02010609060101010101" pitchFamily="49" charset="-122"/>
              </a:rPr>
              <a:t> </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Clr>
                <a:srgbClr val="00B0F0"/>
              </a:buClr>
              <a:buSzPct val="80000"/>
              <a:buFont typeface="Wingdings" panose="05000000000000000000" pitchFamily="2" charset="2"/>
              <a:buChar char="l"/>
            </a:pPr>
            <a:r>
              <a:rPr lang="zh-CN" altLang="en-US" sz="2400" b="0" dirty="0">
                <a:latin typeface="楷体" panose="02010609060101010101" pitchFamily="49" charset="-122"/>
                <a:ea typeface="楷体" panose="02010609060101010101" pitchFamily="49" charset="-122"/>
              </a:rPr>
              <a:t>立即数没有类型属性</a:t>
            </a:r>
            <a:endParaRPr lang="zh-CN" altLang="en-US" sz="2400" b="0" dirty="0">
              <a:solidFill>
                <a:schemeClr val="accent2"/>
              </a:solidFill>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endParaRPr lang="en-US" altLang="zh-CN" sz="1800" dirty="0">
              <a:solidFill>
                <a:schemeClr val="accent2"/>
              </a:solidFill>
              <a:latin typeface="楷体" panose="02010609060101010101" pitchFamily="49" charset="-122"/>
              <a:ea typeface="楷体" panose="02010609060101010101" pitchFamily="49" charset="-122"/>
            </a:endParaRPr>
          </a:p>
        </p:txBody>
      </p:sp>
      <p:sp>
        <p:nvSpPr>
          <p:cNvPr id="4" name="Rectangle 57"/>
          <p:cNvSpPr>
            <a:spLocks noChangeArrowheads="1"/>
          </p:cNvSpPr>
          <p:nvPr/>
        </p:nvSpPr>
        <p:spPr bwMode="auto">
          <a:xfrm>
            <a:off x="0" y="1204913"/>
            <a:ext cx="902859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en-US" altLang="zh-CN" sz="2600" dirty="0">
                <a:latin typeface="楷体" panose="02010609060101010101" pitchFamily="49" charset="-122"/>
                <a:ea typeface="楷体" panose="02010609060101010101" pitchFamily="49" charset="-122"/>
              </a:rPr>
              <a:t>1. </a:t>
            </a:r>
            <a:r>
              <a:rPr lang="zh-CN" altLang="en-US" sz="2600" dirty="0">
                <a:solidFill>
                  <a:srgbClr val="FF0000"/>
                </a:solidFill>
                <a:latin typeface="楷体" panose="02010609060101010101" pitchFamily="49" charset="-122"/>
                <a:ea typeface="楷体" panose="02010609060101010101" pitchFamily="49" charset="-122"/>
              </a:rPr>
              <a:t>立即寻址</a:t>
            </a:r>
            <a:r>
              <a:rPr lang="en-US" altLang="zh-CN" sz="2600" dirty="0">
                <a:solidFill>
                  <a:srgbClr val="FF0000"/>
                </a:solidFill>
                <a:latin typeface="楷体" panose="02010609060101010101" pitchFamily="49" charset="-122"/>
                <a:ea typeface="楷体" panose="02010609060101010101" pitchFamily="49" charset="-122"/>
              </a:rPr>
              <a:t>:  </a:t>
            </a:r>
            <a:r>
              <a:rPr lang="zh-CN" altLang="en-US" sz="2600" b="0" dirty="0">
                <a:latin typeface="楷体" panose="02010609060101010101" pitchFamily="49" charset="-122"/>
                <a:ea typeface="楷体" panose="02010609060101010101" pitchFamily="49" charset="-122"/>
              </a:rPr>
              <a:t>操作数即为操作数据，操作数据就在指令中</a:t>
            </a:r>
            <a:endParaRPr lang="en-US" altLang="zh-CN" sz="2600" b="0" dirty="0">
              <a:latin typeface="楷体" panose="02010609060101010101" pitchFamily="49" charset="-122"/>
              <a:ea typeface="楷体" panose="02010609060101010101" pitchFamily="49" charset="-122"/>
            </a:endParaRPr>
          </a:p>
        </p:txBody>
      </p:sp>
      <p:sp>
        <p:nvSpPr>
          <p:cNvPr id="5" name="矩形 22"/>
          <p:cNvSpPr>
            <a:spLocks noChangeArrowheads="1"/>
          </p:cNvSpPr>
          <p:nvPr/>
        </p:nvSpPr>
        <p:spPr bwMode="auto">
          <a:xfrm>
            <a:off x="392113" y="2205038"/>
            <a:ext cx="8393767" cy="115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MOV  AL, 5   ;  </a:t>
            </a:r>
            <a:r>
              <a:rPr lang="zh-CN" altLang="en-US" sz="2400" b="0" dirty="0">
                <a:solidFill>
                  <a:srgbClr val="000099"/>
                </a:solidFill>
                <a:latin typeface="楷体" panose="02010609060101010101" pitchFamily="49" charset="-122"/>
                <a:ea typeface="楷体" panose="02010609060101010101" pitchFamily="49" charset="-122"/>
              </a:rPr>
              <a:t>将字节</a:t>
            </a:r>
            <a:r>
              <a:rPr lang="en-US" altLang="zh-CN" sz="2400" b="0" dirty="0">
                <a:solidFill>
                  <a:srgbClr val="000099"/>
                </a:solidFill>
                <a:latin typeface="楷体" panose="02010609060101010101" pitchFamily="49" charset="-122"/>
                <a:ea typeface="楷体" panose="02010609060101010101" pitchFamily="49" charset="-122"/>
              </a:rPr>
              <a:t>05H</a:t>
            </a:r>
            <a:r>
              <a:rPr lang="zh-CN" altLang="en-US" sz="2400" b="0" dirty="0">
                <a:solidFill>
                  <a:srgbClr val="000099"/>
                </a:solidFill>
                <a:latin typeface="楷体" panose="02010609060101010101" pitchFamily="49" charset="-122"/>
                <a:ea typeface="楷体" panose="02010609060101010101" pitchFamily="49" charset="-122"/>
              </a:rPr>
              <a:t>送</a:t>
            </a:r>
            <a:r>
              <a:rPr lang="en-US" altLang="zh-CN" sz="2400" b="0" dirty="0">
                <a:solidFill>
                  <a:srgbClr val="000099"/>
                </a:solidFill>
                <a:latin typeface="楷体" panose="02010609060101010101" pitchFamily="49" charset="-122"/>
                <a:ea typeface="楷体" panose="02010609060101010101" pitchFamily="49" charset="-122"/>
              </a:rPr>
              <a:t>AL</a:t>
            </a:r>
            <a:r>
              <a:rPr lang="zh-CN" altLang="en-US"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0099"/>
                </a:solidFill>
                <a:latin typeface="楷体" panose="02010609060101010101" pitchFamily="49" charset="-122"/>
                <a:ea typeface="楷体" panose="02010609060101010101" pitchFamily="49" charset="-122"/>
              </a:rPr>
              <a:t>AL=05H</a:t>
            </a:r>
          </a:p>
          <a:p>
            <a:pPr eaLnBrk="1" hangingPunct="1">
              <a:lnSpc>
                <a:spcPct val="150000"/>
              </a:lnSpc>
              <a:spcBef>
                <a:spcPct val="10000"/>
              </a:spcBef>
              <a:buFont typeface="Arial" panose="020B0604020202020204" pitchFamily="34" charset="0"/>
              <a:buNone/>
            </a:pPr>
            <a:r>
              <a:rPr lang="en-US" altLang="zh-CN" sz="2400" b="0" dirty="0">
                <a:solidFill>
                  <a:srgbClr val="000099"/>
                </a:solidFill>
                <a:latin typeface="楷体" panose="02010609060101010101" pitchFamily="49" charset="-122"/>
                <a:ea typeface="楷体" panose="02010609060101010101" pitchFamily="49" charset="-122"/>
              </a:rPr>
              <a:t>    MOV  AX, 18  ;  </a:t>
            </a:r>
            <a:r>
              <a:rPr lang="zh-CN" altLang="en-US" sz="2400" b="0" dirty="0">
                <a:solidFill>
                  <a:srgbClr val="000099"/>
                </a:solidFill>
                <a:latin typeface="楷体" panose="02010609060101010101" pitchFamily="49" charset="-122"/>
                <a:ea typeface="楷体" panose="02010609060101010101" pitchFamily="49" charset="-122"/>
              </a:rPr>
              <a:t>将字</a:t>
            </a:r>
            <a:r>
              <a:rPr lang="en-US" altLang="zh-CN" sz="2400" b="0" dirty="0">
                <a:solidFill>
                  <a:srgbClr val="000099"/>
                </a:solidFill>
                <a:latin typeface="楷体" panose="02010609060101010101" pitchFamily="49" charset="-122"/>
                <a:ea typeface="楷体" panose="02010609060101010101" pitchFamily="49" charset="-122"/>
              </a:rPr>
              <a:t>0012H</a:t>
            </a:r>
            <a:r>
              <a:rPr lang="zh-CN" altLang="en-US" sz="2400" b="0" dirty="0">
                <a:solidFill>
                  <a:srgbClr val="000099"/>
                </a:solidFill>
                <a:latin typeface="楷体" panose="02010609060101010101" pitchFamily="49" charset="-122"/>
                <a:ea typeface="楷体" panose="02010609060101010101" pitchFamily="49" charset="-122"/>
              </a:rPr>
              <a:t>送</a:t>
            </a:r>
            <a:r>
              <a:rPr lang="en-US" altLang="zh-CN" sz="2400" b="0" dirty="0">
                <a:solidFill>
                  <a:srgbClr val="000099"/>
                </a:solidFill>
                <a:latin typeface="楷体" panose="02010609060101010101" pitchFamily="49" charset="-122"/>
                <a:ea typeface="楷体" panose="02010609060101010101" pitchFamily="49" charset="-122"/>
              </a:rPr>
              <a:t>AX</a:t>
            </a:r>
            <a:r>
              <a:rPr lang="zh-CN" altLang="en-US"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0099"/>
                </a:solidFill>
                <a:latin typeface="楷体" panose="02010609060101010101" pitchFamily="49" charset="-122"/>
                <a:ea typeface="楷体" panose="02010609060101010101" pitchFamily="49" charset="-122"/>
              </a:rPr>
              <a:t>AX=0012H </a:t>
            </a:r>
            <a:endParaRPr lang="zh-CN" altLang="en-US" sz="2400" b="0" dirty="0">
              <a:solidFill>
                <a:srgbClr val="000099"/>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87586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0" y="1052513"/>
            <a:ext cx="9144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  </a:t>
            </a:r>
            <a:r>
              <a:rPr lang="zh-CN" altLang="en-US" sz="2800" dirty="0">
                <a:solidFill>
                  <a:srgbClr val="FF0000"/>
                </a:solidFill>
                <a:latin typeface="楷体" panose="02010609060101010101" pitchFamily="49" charset="-122"/>
                <a:ea typeface="楷体" panose="02010609060101010101" pitchFamily="49" charset="-122"/>
              </a:rPr>
              <a:t>寄存器寻址</a:t>
            </a:r>
            <a:r>
              <a:rPr lang="en-US" altLang="zh-CN" sz="2800" dirty="0">
                <a:latin typeface="楷体" panose="02010609060101010101" pitchFamily="49" charset="-122"/>
                <a:ea typeface="楷体" panose="02010609060101010101" pitchFamily="49" charset="-122"/>
              </a:rPr>
              <a:t>:  </a:t>
            </a:r>
            <a:r>
              <a:rPr lang="zh-CN" altLang="en-US" sz="2800" b="0" dirty="0">
                <a:solidFill>
                  <a:srgbClr val="00B0F0"/>
                </a:solidFill>
                <a:latin typeface="楷体" panose="02010609060101010101" pitchFamily="49" charset="-122"/>
                <a:ea typeface="楷体" panose="02010609060101010101" pitchFamily="49" charset="-122"/>
              </a:rPr>
              <a:t>操作数据在指定的寄存器中</a:t>
            </a:r>
          </a:p>
        </p:txBody>
      </p:sp>
      <p:sp>
        <p:nvSpPr>
          <p:cNvPr id="3" name="Rectangle 3"/>
          <p:cNvSpPr txBox="1">
            <a:spLocks noChangeArrowheads="1"/>
          </p:cNvSpPr>
          <p:nvPr/>
        </p:nvSpPr>
        <p:spPr bwMode="auto">
          <a:xfrm>
            <a:off x="0" y="3786188"/>
            <a:ext cx="885825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   </a:t>
            </a: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(1) </a:t>
            </a:r>
            <a:r>
              <a:rPr lang="zh-CN" altLang="en-US" sz="2400" b="0" dirty="0">
                <a:solidFill>
                  <a:srgbClr val="000099"/>
                </a:solidFill>
                <a:latin typeface="楷体" panose="02010609060101010101" pitchFamily="49" charset="-122"/>
                <a:ea typeface="楷体" panose="02010609060101010101" pitchFamily="49" charset="-122"/>
              </a:rPr>
              <a:t>若</a:t>
            </a:r>
            <a:r>
              <a:rPr lang="en-US" altLang="zh-CN" sz="2400" b="0" dirty="0">
                <a:solidFill>
                  <a:srgbClr val="000099"/>
                </a:solidFill>
                <a:latin typeface="楷体" panose="02010609060101010101" pitchFamily="49" charset="-122"/>
                <a:ea typeface="楷体" panose="02010609060101010101" pitchFamily="49" charset="-122"/>
              </a:rPr>
              <a:t>AX=2035H,  BX=0178H </a:t>
            </a:r>
          </a:p>
          <a:p>
            <a:pPr eaLnBrk="1" hangingPunct="1">
              <a:lnSpc>
                <a:spcPct val="150000"/>
              </a:lnSpc>
              <a:spcBef>
                <a:spcPct val="0"/>
              </a:spcBef>
              <a:buFont typeface="Arial" panose="020B0604020202020204" pitchFamily="34" charset="0"/>
              <a:buNone/>
            </a:pPr>
            <a:r>
              <a:rPr lang="en-US" altLang="zh-CN" sz="2400" b="0" dirty="0">
                <a:solidFill>
                  <a:srgbClr val="000099"/>
                </a:solidFill>
                <a:latin typeface="楷体" panose="02010609060101010101" pitchFamily="49" charset="-122"/>
                <a:ea typeface="楷体" panose="02010609060101010101" pitchFamily="49" charset="-122"/>
              </a:rPr>
              <a:t>          MOV  BX</a:t>
            </a:r>
            <a:r>
              <a:rPr lang="zh-CN" altLang="en-US"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0099"/>
                </a:solidFill>
                <a:latin typeface="楷体" panose="02010609060101010101" pitchFamily="49" charset="-122"/>
                <a:ea typeface="楷体" panose="02010609060101010101" pitchFamily="49" charset="-122"/>
              </a:rPr>
              <a:t>AX; </a:t>
            </a:r>
            <a:r>
              <a:rPr lang="zh-CN" altLang="en-US" sz="2400" b="0" dirty="0">
                <a:solidFill>
                  <a:srgbClr val="FF0000"/>
                </a:solidFill>
                <a:latin typeface="楷体" panose="02010609060101010101" pitchFamily="49" charset="-122"/>
                <a:ea typeface="楷体" panose="02010609060101010101" pitchFamily="49" charset="-122"/>
              </a:rPr>
              <a:t>则执行该指令后</a:t>
            </a:r>
            <a:r>
              <a:rPr lang="en-US" altLang="zh-CN" sz="2400" b="0" dirty="0">
                <a:solidFill>
                  <a:srgbClr val="FF0000"/>
                </a:solidFill>
                <a:latin typeface="楷体" panose="02010609060101010101" pitchFamily="49" charset="-122"/>
                <a:ea typeface="楷体" panose="02010609060101010101" pitchFamily="49" charset="-122"/>
              </a:rPr>
              <a:t>BX=</a:t>
            </a:r>
            <a:r>
              <a:rPr lang="zh-CN" altLang="en-US" sz="2400" b="0" dirty="0">
                <a:solidFill>
                  <a:srgbClr val="FF0000"/>
                </a:solidFill>
                <a:latin typeface="楷体" panose="02010609060101010101" pitchFamily="49" charset="-122"/>
                <a:ea typeface="楷体" panose="02010609060101010101" pitchFamily="49" charset="-122"/>
              </a:rPr>
              <a:t>？ </a:t>
            </a:r>
            <a:r>
              <a:rPr lang="en-US" altLang="zh-CN" sz="2400" b="0" dirty="0">
                <a:solidFill>
                  <a:srgbClr val="FF0000"/>
                </a:solidFill>
                <a:latin typeface="楷体" panose="02010609060101010101" pitchFamily="49" charset="-122"/>
                <a:ea typeface="楷体" panose="02010609060101010101" pitchFamily="49" charset="-122"/>
              </a:rPr>
              <a:t>AX=</a:t>
            </a:r>
            <a:r>
              <a:rPr lang="zh-CN" altLang="en-US" sz="2400" b="0" dirty="0">
                <a:solidFill>
                  <a:srgbClr val="FF0000"/>
                </a:solidFill>
                <a:latin typeface="楷体" panose="02010609060101010101" pitchFamily="49" charset="-122"/>
                <a:ea typeface="楷体" panose="02010609060101010101" pitchFamily="49" charset="-122"/>
              </a:rPr>
              <a:t>？</a:t>
            </a:r>
            <a:endParaRPr lang="en-US" altLang="zh-CN" sz="2400" b="0" dirty="0">
              <a:solidFill>
                <a:srgbClr val="FF0000"/>
              </a:solidFill>
              <a:latin typeface="楷体" panose="02010609060101010101" pitchFamily="49" charset="-122"/>
              <a:ea typeface="楷体" panose="02010609060101010101" pitchFamily="49" charset="-122"/>
            </a:endParaRPr>
          </a:p>
          <a:p>
            <a:pPr eaLnBrk="1" hangingPunct="1">
              <a:lnSpc>
                <a:spcPct val="150000"/>
              </a:lnSpc>
              <a:spcBef>
                <a:spcPct val="0"/>
              </a:spcBef>
              <a:buFont typeface="Wingdings 2" panose="05020102010507070707" pitchFamily="18" charset="2"/>
              <a:buNone/>
            </a:pPr>
            <a:r>
              <a:rPr lang="en-US" altLang="zh-CN" sz="2400" b="0" dirty="0">
                <a:solidFill>
                  <a:srgbClr val="000099"/>
                </a:solidFill>
                <a:latin typeface="楷体" panose="02010609060101010101" pitchFamily="49" charset="-122"/>
                <a:ea typeface="楷体" panose="02010609060101010101" pitchFamily="49" charset="-122"/>
              </a:rPr>
              <a:t>       (2) </a:t>
            </a:r>
            <a:r>
              <a:rPr lang="zh-CN" altLang="en-US" sz="2400" b="0" dirty="0">
                <a:solidFill>
                  <a:srgbClr val="000099"/>
                </a:solidFill>
                <a:latin typeface="楷体" panose="02010609060101010101" pitchFamily="49" charset="-122"/>
                <a:ea typeface="楷体" panose="02010609060101010101" pitchFamily="49" charset="-122"/>
              </a:rPr>
              <a:t>若</a:t>
            </a:r>
            <a:r>
              <a:rPr lang="en-US" altLang="zh-CN" sz="2400" b="0" dirty="0">
                <a:solidFill>
                  <a:srgbClr val="000099"/>
                </a:solidFill>
                <a:latin typeface="楷体" panose="02010609060101010101" pitchFamily="49" charset="-122"/>
                <a:ea typeface="楷体" panose="02010609060101010101" pitchFamily="49" charset="-122"/>
              </a:rPr>
              <a:t>AL=53H,BL=87H</a:t>
            </a:r>
          </a:p>
          <a:p>
            <a:pPr eaLnBrk="1" hangingPunct="1">
              <a:lnSpc>
                <a:spcPct val="150000"/>
              </a:lnSpc>
              <a:spcBef>
                <a:spcPct val="0"/>
              </a:spcBef>
              <a:buFont typeface="Wingdings 2" panose="05020102010507070707" pitchFamily="18" charset="2"/>
              <a:buNone/>
            </a:pPr>
            <a:r>
              <a:rPr lang="en-US" altLang="zh-CN" sz="2400" b="0" dirty="0">
                <a:solidFill>
                  <a:srgbClr val="000099"/>
                </a:solidFill>
                <a:latin typeface="楷体" panose="02010609060101010101" pitchFamily="49" charset="-122"/>
                <a:ea typeface="楷体" panose="02010609060101010101" pitchFamily="49" charset="-122"/>
              </a:rPr>
              <a:t>          ADD  AL</a:t>
            </a:r>
            <a:r>
              <a:rPr lang="zh-CN" altLang="en-US"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0099"/>
                </a:solidFill>
                <a:latin typeface="楷体" panose="02010609060101010101" pitchFamily="49" charset="-122"/>
                <a:ea typeface="楷体" panose="02010609060101010101" pitchFamily="49" charset="-122"/>
              </a:rPr>
              <a:t>BL;  </a:t>
            </a:r>
            <a:r>
              <a:rPr lang="zh-CN" altLang="en-US" sz="2400" b="0" dirty="0">
                <a:solidFill>
                  <a:srgbClr val="FF0000"/>
                </a:solidFill>
                <a:latin typeface="楷体" panose="02010609060101010101" pitchFamily="49" charset="-122"/>
                <a:ea typeface="楷体" panose="02010609060101010101" pitchFamily="49" charset="-122"/>
              </a:rPr>
              <a:t>则执行该指令后</a:t>
            </a:r>
            <a:r>
              <a:rPr lang="en-US" altLang="zh-CN" sz="2400" b="0" dirty="0">
                <a:solidFill>
                  <a:srgbClr val="FF0000"/>
                </a:solidFill>
                <a:latin typeface="楷体" panose="02010609060101010101" pitchFamily="49" charset="-122"/>
                <a:ea typeface="楷体" panose="02010609060101010101" pitchFamily="49" charset="-122"/>
              </a:rPr>
              <a:t>BL=</a:t>
            </a:r>
            <a:r>
              <a:rPr lang="zh-CN" altLang="en-US" sz="2400" b="0" dirty="0">
                <a:solidFill>
                  <a:srgbClr val="FF0000"/>
                </a:solidFill>
                <a:latin typeface="楷体" panose="02010609060101010101" pitchFamily="49" charset="-122"/>
                <a:ea typeface="楷体" panose="02010609060101010101" pitchFamily="49" charset="-122"/>
              </a:rPr>
              <a:t>？ </a:t>
            </a:r>
            <a:r>
              <a:rPr lang="en-US" altLang="zh-CN" sz="2400" b="0" dirty="0">
                <a:solidFill>
                  <a:srgbClr val="FF0000"/>
                </a:solidFill>
                <a:latin typeface="楷体" panose="02010609060101010101" pitchFamily="49" charset="-122"/>
                <a:ea typeface="楷体" panose="02010609060101010101" pitchFamily="49" charset="-122"/>
              </a:rPr>
              <a:t>AL=?</a:t>
            </a:r>
          </a:p>
        </p:txBody>
      </p:sp>
      <p:sp>
        <p:nvSpPr>
          <p:cNvPr id="4" name="Text Box 5"/>
          <p:cNvSpPr txBox="1">
            <a:spLocks noChangeArrowheads="1"/>
          </p:cNvSpPr>
          <p:nvPr/>
        </p:nvSpPr>
        <p:spPr bwMode="auto">
          <a:xfrm>
            <a:off x="395288" y="2060575"/>
            <a:ext cx="7669212"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400" b="0">
                <a:latin typeface="楷体" panose="02010609060101010101" pitchFamily="49" charset="-122"/>
                <a:ea typeface="楷体" panose="02010609060101010101" pitchFamily="49" charset="-122"/>
              </a:rPr>
              <a:t>AH,AL,BH,BL,CH,CL,DH,DL→8</a:t>
            </a:r>
            <a:r>
              <a:rPr lang="zh-CN" altLang="en-US" sz="2400" b="0">
                <a:latin typeface="楷体" panose="02010609060101010101" pitchFamily="49" charset="-122"/>
                <a:ea typeface="楷体" panose="02010609060101010101" pitchFamily="49" charset="-122"/>
              </a:rPr>
              <a:t>位通用寄存器</a:t>
            </a:r>
          </a:p>
          <a:p>
            <a:pPr eaLnBrk="1" hangingPunct="1">
              <a:buFont typeface="Arial" panose="020B0604020202020204" pitchFamily="34" charset="0"/>
              <a:buNone/>
            </a:pPr>
            <a:r>
              <a:rPr lang="en-US" altLang="zh-CN" sz="2400" b="0">
                <a:latin typeface="楷体" panose="02010609060101010101" pitchFamily="49" charset="-122"/>
                <a:ea typeface="楷体" panose="02010609060101010101" pitchFamily="49" charset="-122"/>
              </a:rPr>
              <a:t>AX,BX,CX,DX,SI,DI,BP,SP→16</a:t>
            </a:r>
            <a:r>
              <a:rPr lang="zh-CN" altLang="en-US" sz="2400" b="0">
                <a:latin typeface="楷体" panose="02010609060101010101" pitchFamily="49" charset="-122"/>
                <a:ea typeface="楷体" panose="02010609060101010101" pitchFamily="49" charset="-122"/>
              </a:rPr>
              <a:t>位通用寄存器</a:t>
            </a:r>
          </a:p>
          <a:p>
            <a:pPr eaLnBrk="1" hangingPunct="1">
              <a:buFont typeface="Arial" panose="020B0604020202020204" pitchFamily="34" charset="0"/>
              <a:buNone/>
            </a:pPr>
            <a:r>
              <a:rPr lang="en-US" altLang="zh-CN" sz="2400" b="0">
                <a:latin typeface="楷体" panose="02010609060101010101" pitchFamily="49" charset="-122"/>
                <a:ea typeface="楷体" panose="02010609060101010101" pitchFamily="49" charset="-122"/>
              </a:rPr>
              <a:t>EAX,EBX,ECX,EDX,ESI,EDI,EBP,ESP→32</a:t>
            </a:r>
            <a:r>
              <a:rPr lang="zh-CN" altLang="en-US" sz="2400" b="0">
                <a:latin typeface="楷体" panose="02010609060101010101" pitchFamily="49" charset="-122"/>
                <a:ea typeface="楷体" panose="02010609060101010101" pitchFamily="49" charset="-122"/>
              </a:rPr>
              <a:t>位通用寄存器</a:t>
            </a:r>
          </a:p>
        </p:txBody>
      </p:sp>
    </p:spTree>
    <p:extLst>
      <p:ext uri="{BB962C8B-B14F-4D97-AF65-F5344CB8AC3E}">
        <p14:creationId xmlns:p14="http://schemas.microsoft.com/office/powerpoint/2010/main" val="1916235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0" y="1069851"/>
            <a:ext cx="914400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p>
            <a:pPr>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3.  </a:t>
            </a:r>
            <a:r>
              <a:rPr lang="zh-CN" altLang="en-US" sz="2800" dirty="0">
                <a:solidFill>
                  <a:srgbClr val="FF0000"/>
                </a:solidFill>
                <a:latin typeface="楷体" panose="02010609060101010101" pitchFamily="49" charset="-122"/>
                <a:ea typeface="楷体" panose="02010609060101010101" pitchFamily="49" charset="-122"/>
              </a:rPr>
              <a:t>直接寻址：</a:t>
            </a:r>
            <a:r>
              <a:rPr lang="zh-CN" altLang="en-US" sz="2800" dirty="0">
                <a:latin typeface="楷体" panose="02010609060101010101" pitchFamily="49" charset="-122"/>
                <a:ea typeface="楷体" panose="02010609060101010101" pitchFamily="49" charset="-122"/>
              </a:rPr>
              <a:t>操作数据在存储器中</a:t>
            </a:r>
            <a:endParaRPr lang="en-US" altLang="zh-CN" sz="2800" dirty="0">
              <a:latin typeface="楷体" panose="02010609060101010101" pitchFamily="49" charset="-122"/>
              <a:ea typeface="楷体" panose="02010609060101010101" pitchFamily="49" charset="-122"/>
            </a:endParaRPr>
          </a:p>
        </p:txBody>
      </p:sp>
      <p:sp>
        <p:nvSpPr>
          <p:cNvPr id="3" name="矩形 6"/>
          <p:cNvSpPr>
            <a:spLocks noChangeArrowheads="1"/>
          </p:cNvSpPr>
          <p:nvPr/>
        </p:nvSpPr>
        <p:spPr bwMode="auto">
          <a:xfrm>
            <a:off x="0" y="1628775"/>
            <a:ext cx="914400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Clr>
                <a:schemeClr val="tx2"/>
              </a:buClr>
              <a:buFont typeface="Arial" panose="020B0604020202020204" pitchFamily="34" charset="0"/>
              <a:buNone/>
            </a:pPr>
            <a:r>
              <a:rPr lang="zh-CN" altLang="en-US" sz="2300" dirty="0">
                <a:solidFill>
                  <a:srgbClr val="00B050"/>
                </a:solidFill>
                <a:latin typeface="楷体" panose="02010609060101010101" pitchFamily="49" charset="-122"/>
                <a:ea typeface="楷体" panose="02010609060101010101" pitchFamily="49" charset="-122"/>
              </a:rPr>
              <a:t>偏移地址：</a:t>
            </a:r>
            <a:r>
              <a:rPr lang="zh-CN" altLang="en-US" sz="2300" b="0" dirty="0">
                <a:latin typeface="楷体" panose="02010609060101010101" pitchFamily="49" charset="-122"/>
                <a:ea typeface="楷体" panose="02010609060101010101" pitchFamily="49" charset="-122"/>
              </a:rPr>
              <a:t>由不含寄存器的地址表达式</a:t>
            </a:r>
            <a:r>
              <a:rPr lang="en-US" altLang="zh-CN" sz="2300" b="0" dirty="0">
                <a:solidFill>
                  <a:srgbClr val="00B050"/>
                </a:solidFill>
                <a:latin typeface="楷体" panose="02010609060101010101" pitchFamily="49" charset="-122"/>
                <a:ea typeface="楷体" panose="02010609060101010101" pitchFamily="49" charset="-122"/>
              </a:rPr>
              <a:t>(</a:t>
            </a:r>
            <a:r>
              <a:rPr lang="zh-CN" altLang="en-US" sz="2300" b="0" dirty="0">
                <a:solidFill>
                  <a:srgbClr val="00B050"/>
                </a:solidFill>
                <a:latin typeface="楷体" panose="02010609060101010101" pitchFamily="49" charset="-122"/>
                <a:ea typeface="楷体" panose="02010609060101010101" pitchFamily="49" charset="-122"/>
              </a:rPr>
              <a:t>式中只有变量名和常量）</a:t>
            </a:r>
            <a:r>
              <a:rPr lang="zh-CN" altLang="en-US" sz="2300" b="0" dirty="0">
                <a:latin typeface="楷体" panose="02010609060101010101" pitchFamily="49" charset="-122"/>
                <a:ea typeface="楷体" panose="02010609060101010101" pitchFamily="49" charset="-122"/>
              </a:rPr>
              <a:t>给出。</a:t>
            </a:r>
            <a:r>
              <a:rPr lang="zh-CN" altLang="en-US" sz="2300" dirty="0">
                <a:solidFill>
                  <a:srgbClr val="00B0F0"/>
                </a:solidFill>
                <a:latin typeface="楷体" panose="02010609060101010101" pitchFamily="49" charset="-122"/>
                <a:ea typeface="楷体" panose="02010609060101010101" pitchFamily="49" charset="-122"/>
              </a:rPr>
              <a:t>段基址：</a:t>
            </a:r>
            <a:r>
              <a:rPr lang="zh-CN" altLang="en-US" sz="2300" b="0" dirty="0">
                <a:solidFill>
                  <a:srgbClr val="00B0F0"/>
                </a:solidFill>
                <a:latin typeface="楷体" panose="02010609060101010101" pitchFamily="49" charset="-122"/>
                <a:ea typeface="楷体" panose="02010609060101010101" pitchFamily="49" charset="-122"/>
              </a:rPr>
              <a:t>由当前数据段寄存器</a:t>
            </a:r>
            <a:r>
              <a:rPr lang="en-US" altLang="zh-CN" sz="2300" b="0" dirty="0">
                <a:solidFill>
                  <a:srgbClr val="00B0F0"/>
                </a:solidFill>
                <a:latin typeface="楷体" panose="02010609060101010101" pitchFamily="49" charset="-122"/>
                <a:ea typeface="楷体" panose="02010609060101010101" pitchFamily="49" charset="-122"/>
              </a:rPr>
              <a:t>DS</a:t>
            </a:r>
            <a:r>
              <a:rPr lang="zh-CN" altLang="en-US" sz="2300" b="0" dirty="0">
                <a:solidFill>
                  <a:srgbClr val="00B0F0"/>
                </a:solidFill>
                <a:latin typeface="楷体" panose="02010609060101010101" pitchFamily="49" charset="-122"/>
                <a:ea typeface="楷体" panose="02010609060101010101" pitchFamily="49" charset="-122"/>
              </a:rPr>
              <a:t>确定（不作说明时）；</a:t>
            </a:r>
            <a:r>
              <a:rPr lang="zh-CN" altLang="en-US" sz="2300" b="0" dirty="0">
                <a:solidFill>
                  <a:srgbClr val="FF0000"/>
                </a:solidFill>
                <a:latin typeface="楷体" panose="02010609060101010101" pitchFamily="49" charset="-122"/>
                <a:ea typeface="楷体" panose="02010609060101010101" pitchFamily="49" charset="-122"/>
              </a:rPr>
              <a:t>若变量定义的段不是当前</a:t>
            </a:r>
            <a:r>
              <a:rPr lang="en-US" altLang="zh-CN" sz="2300" b="0" dirty="0">
                <a:solidFill>
                  <a:srgbClr val="FF0000"/>
                </a:solidFill>
                <a:latin typeface="楷体" panose="02010609060101010101" pitchFamily="49" charset="-122"/>
                <a:ea typeface="楷体" panose="02010609060101010101" pitchFamily="49" charset="-122"/>
              </a:rPr>
              <a:t>DS</a:t>
            </a:r>
            <a:r>
              <a:rPr lang="zh-CN" altLang="en-US" sz="2300" b="0" dirty="0">
                <a:solidFill>
                  <a:srgbClr val="FF0000"/>
                </a:solidFill>
                <a:latin typeface="楷体" panose="02010609060101010101" pitchFamily="49" charset="-122"/>
                <a:ea typeface="楷体" panose="02010609060101010101" pitchFamily="49" charset="-122"/>
              </a:rPr>
              <a:t>，而是其他段，则应在地址表达式前加段名或段寄存器和冒号</a:t>
            </a:r>
            <a:endParaRPr lang="en-US" altLang="zh-CN" sz="2300" b="0" dirty="0">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0"/>
              </a:spcBef>
              <a:spcAft>
                <a:spcPts val="600"/>
              </a:spcAft>
              <a:buClr>
                <a:schemeClr val="accent1"/>
              </a:buClr>
              <a:buSzPct val="65000"/>
              <a:buFont typeface="Wingdings" panose="05000000000000000000" pitchFamily="2" charset="2"/>
              <a:buNone/>
            </a:pPr>
            <a:r>
              <a:rPr lang="zh-CN" altLang="en-US" sz="2300" dirty="0">
                <a:latin typeface="楷体" panose="02010609060101010101" pitchFamily="49" charset="-122"/>
                <a:ea typeface="楷体" panose="02010609060101010101" pitchFamily="49" charset="-122"/>
              </a:rPr>
              <a:t>地址表达式：</a:t>
            </a:r>
            <a:r>
              <a:rPr lang="zh-CN" altLang="en-US" sz="2300" b="0" dirty="0">
                <a:solidFill>
                  <a:srgbClr val="00B0F0"/>
                </a:solidFill>
                <a:latin typeface="楷体" panose="02010609060101010101" pitchFamily="49" charset="-122"/>
                <a:ea typeface="楷体" panose="02010609060101010101" pitchFamily="49" charset="-122"/>
              </a:rPr>
              <a:t>只有变量名和常量；</a:t>
            </a:r>
            <a:r>
              <a:rPr lang="zh-CN" altLang="en-US" sz="2300" b="0" dirty="0">
                <a:latin typeface="楷体" panose="02010609060101010101" pitchFamily="49" charset="-122"/>
                <a:ea typeface="楷体" panose="02010609060101010101" pitchFamily="49" charset="-122"/>
              </a:rPr>
              <a:t>形式：</a:t>
            </a:r>
            <a:r>
              <a:rPr lang="zh-CN" altLang="en-US" sz="2300" b="0" dirty="0">
                <a:solidFill>
                  <a:srgbClr val="00B0F0"/>
                </a:solidFill>
                <a:latin typeface="楷体" panose="02010609060101010101" pitchFamily="49" charset="-122"/>
                <a:ea typeface="楷体" panose="02010609060101010101" pitchFamily="49" charset="-122"/>
              </a:rPr>
              <a:t>变量名   </a:t>
            </a:r>
            <a:r>
              <a:rPr lang="zh-CN" altLang="en-US" sz="2300" b="0" dirty="0">
                <a:latin typeface="楷体" panose="02010609060101010101" pitchFamily="49" charset="-122"/>
                <a:ea typeface="楷体" panose="02010609060101010101" pitchFamily="49" charset="-122"/>
              </a:rPr>
              <a:t>或  </a:t>
            </a:r>
            <a:r>
              <a:rPr lang="zh-CN" altLang="en-US" sz="2300" b="0" dirty="0">
                <a:solidFill>
                  <a:srgbClr val="00B0F0"/>
                </a:solidFill>
                <a:latin typeface="楷体" panose="02010609060101010101" pitchFamily="49" charset="-122"/>
                <a:ea typeface="楷体" panose="02010609060101010101" pitchFamily="49" charset="-122"/>
              </a:rPr>
              <a:t>变量名</a:t>
            </a:r>
            <a:r>
              <a:rPr lang="en-US" altLang="zh-CN" sz="2300" b="0" dirty="0">
                <a:solidFill>
                  <a:srgbClr val="00B0F0"/>
                </a:solidFill>
                <a:latin typeface="楷体" panose="02010609060101010101" pitchFamily="49" charset="-122"/>
                <a:ea typeface="楷体" panose="02010609060101010101" pitchFamily="49" charset="-122"/>
              </a:rPr>
              <a:t>+</a:t>
            </a:r>
            <a:r>
              <a:rPr lang="zh-CN" altLang="en-US" sz="2300" b="0" dirty="0">
                <a:solidFill>
                  <a:srgbClr val="00B0F0"/>
                </a:solidFill>
                <a:latin typeface="楷体" panose="02010609060101010101" pitchFamily="49" charset="-122"/>
                <a:ea typeface="楷体" panose="02010609060101010101" pitchFamily="49" charset="-122"/>
              </a:rPr>
              <a:t>常量</a:t>
            </a:r>
            <a:endParaRPr lang="en-US" altLang="zh-CN" sz="2300" b="0" dirty="0">
              <a:solidFill>
                <a:srgbClr val="00B0F0"/>
              </a:solidFill>
              <a:latin typeface="楷体" panose="02010609060101010101" pitchFamily="49" charset="-122"/>
              <a:ea typeface="楷体" panose="02010609060101010101" pitchFamily="49" charset="-122"/>
            </a:endParaRPr>
          </a:p>
          <a:p>
            <a:pPr eaLnBrk="1" hangingPunct="1">
              <a:lnSpc>
                <a:spcPct val="125000"/>
              </a:lnSpc>
              <a:spcBef>
                <a:spcPct val="0"/>
              </a:spcBef>
              <a:buClr>
                <a:srgbClr val="00B0F0"/>
              </a:buClr>
              <a:buSzPct val="80000"/>
              <a:buFont typeface="Wingdings" panose="05000000000000000000" pitchFamily="2" charset="2"/>
              <a:buChar char="l"/>
            </a:pPr>
            <a:r>
              <a:rPr lang="zh-CN" altLang="en-US" sz="2300" b="0" dirty="0">
                <a:latin typeface="楷体" panose="02010609060101010101" pitchFamily="49" charset="-122"/>
                <a:ea typeface="楷体" panose="02010609060101010101" pitchFamily="49" charset="-122"/>
              </a:rPr>
              <a:t>  段地址默认在</a:t>
            </a:r>
            <a:r>
              <a:rPr lang="en-US" altLang="zh-CN" sz="2300" b="0" dirty="0">
                <a:latin typeface="楷体" panose="02010609060101010101" pitchFamily="49" charset="-122"/>
                <a:ea typeface="楷体" panose="02010609060101010101" pitchFamily="49" charset="-122"/>
              </a:rPr>
              <a:t>DS</a:t>
            </a:r>
            <a:r>
              <a:rPr lang="zh-CN" altLang="en-US" sz="2300" b="0" dirty="0">
                <a:latin typeface="楷体" panose="02010609060101010101" pitchFamily="49" charset="-122"/>
                <a:ea typeface="楷体" panose="02010609060101010101" pitchFamily="49" charset="-122"/>
              </a:rPr>
              <a:t>中</a:t>
            </a:r>
            <a:endParaRPr lang="en-US" altLang="zh-CN" sz="2300" b="0" dirty="0">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None/>
            </a:pPr>
            <a:r>
              <a:rPr lang="zh-CN" altLang="en-US" sz="2300" b="0" dirty="0">
                <a:solidFill>
                  <a:srgbClr val="00B0F0"/>
                </a:solidFill>
                <a:latin typeface="楷体" panose="02010609060101010101" pitchFamily="49" charset="-122"/>
                <a:ea typeface="楷体" panose="02010609060101010101" pitchFamily="49" charset="-122"/>
              </a:rPr>
              <a:t>    例：</a:t>
            </a:r>
            <a:r>
              <a:rPr lang="en-US" altLang="zh-CN" sz="2300" b="0" dirty="0">
                <a:solidFill>
                  <a:srgbClr val="00B0F0"/>
                </a:solidFill>
                <a:latin typeface="楷体" panose="02010609060101010101" pitchFamily="49" charset="-122"/>
                <a:ea typeface="楷体" panose="02010609060101010101" pitchFamily="49" charset="-122"/>
              </a:rPr>
              <a:t>MOV  AX,  W  </a:t>
            </a:r>
          </a:p>
          <a:p>
            <a:pPr eaLnBrk="1" hangingPunct="1">
              <a:lnSpc>
                <a:spcPct val="125000"/>
              </a:lnSpc>
              <a:spcBef>
                <a:spcPct val="0"/>
              </a:spcBef>
              <a:buFont typeface="Arial" panose="020B0604020202020204" pitchFamily="34" charset="0"/>
              <a:buNone/>
            </a:pPr>
            <a:r>
              <a:rPr lang="zh-CN" altLang="en-US" sz="2300" b="0" dirty="0">
                <a:solidFill>
                  <a:srgbClr val="00B0F0"/>
                </a:solidFill>
                <a:latin typeface="楷体" panose="02010609060101010101" pitchFamily="49" charset="-122"/>
                <a:ea typeface="楷体" panose="02010609060101010101" pitchFamily="49" charset="-122"/>
              </a:rPr>
              <a:t>    该指令的源操作数的地址为 </a:t>
            </a:r>
            <a:r>
              <a:rPr lang="en-US" altLang="zh-CN" sz="2300" b="0" dirty="0">
                <a:solidFill>
                  <a:srgbClr val="00B0F0"/>
                </a:solidFill>
                <a:latin typeface="楷体" panose="02010609060101010101" pitchFamily="49" charset="-122"/>
                <a:ea typeface="楷体" panose="02010609060101010101" pitchFamily="49" charset="-122"/>
              </a:rPr>
              <a:t>DS</a:t>
            </a:r>
            <a:r>
              <a:rPr lang="zh-CN" altLang="en-US" sz="2300" b="0" dirty="0">
                <a:solidFill>
                  <a:srgbClr val="00B0F0"/>
                </a:solidFill>
                <a:latin typeface="楷体" panose="02010609060101010101" pitchFamily="49" charset="-122"/>
                <a:ea typeface="楷体" panose="02010609060101010101" pitchFamily="49" charset="-122"/>
              </a:rPr>
              <a:t>：</a:t>
            </a:r>
            <a:r>
              <a:rPr lang="en-US" altLang="zh-CN" sz="2300" b="0" dirty="0">
                <a:solidFill>
                  <a:srgbClr val="00B0F0"/>
                </a:solidFill>
                <a:latin typeface="楷体" panose="02010609060101010101" pitchFamily="49" charset="-122"/>
                <a:ea typeface="楷体" panose="02010609060101010101" pitchFamily="49" charset="-122"/>
              </a:rPr>
              <a:t>OFFSET W</a:t>
            </a:r>
          </a:p>
          <a:p>
            <a:pPr eaLnBrk="1" hangingPunct="1">
              <a:lnSpc>
                <a:spcPct val="120000"/>
              </a:lnSpc>
              <a:spcBef>
                <a:spcPct val="0"/>
              </a:spcBef>
              <a:buClr>
                <a:srgbClr val="00B0F0"/>
              </a:buClr>
              <a:buSzPct val="80000"/>
              <a:buFont typeface="Wingdings" panose="05000000000000000000" pitchFamily="2" charset="2"/>
              <a:buChar char="l"/>
            </a:pPr>
            <a:r>
              <a:rPr lang="zh-CN" altLang="en-US" sz="2300" b="0" dirty="0">
                <a:latin typeface="楷体" panose="02010609060101010101" pitchFamily="49" charset="-122"/>
                <a:ea typeface="楷体" panose="02010609060101010101" pitchFamily="49" charset="-122"/>
              </a:rPr>
              <a:t>  段地址不在</a:t>
            </a:r>
            <a:r>
              <a:rPr lang="en-US" altLang="zh-CN" sz="2300" b="0" dirty="0">
                <a:latin typeface="楷体" panose="02010609060101010101" pitchFamily="49" charset="-122"/>
                <a:ea typeface="楷体" panose="02010609060101010101" pitchFamily="49" charset="-122"/>
              </a:rPr>
              <a:t>DS</a:t>
            </a:r>
            <a:r>
              <a:rPr lang="zh-CN" altLang="en-US" sz="2300" b="0" dirty="0">
                <a:latin typeface="楷体" panose="02010609060101010101" pitchFamily="49" charset="-122"/>
                <a:ea typeface="楷体" panose="02010609060101010101" pitchFamily="49" charset="-122"/>
              </a:rPr>
              <a:t>中</a:t>
            </a:r>
            <a:endParaRPr lang="en-US" altLang="zh-CN" sz="2300" b="0" dirty="0">
              <a:latin typeface="楷体" panose="02010609060101010101" pitchFamily="49" charset="-122"/>
              <a:ea typeface="楷体" panose="02010609060101010101" pitchFamily="49" charset="-122"/>
            </a:endParaRPr>
          </a:p>
          <a:p>
            <a:pPr eaLnBrk="1" hangingPunct="1">
              <a:lnSpc>
                <a:spcPct val="125000"/>
              </a:lnSpc>
              <a:spcBef>
                <a:spcPct val="10000"/>
              </a:spcBef>
              <a:buFont typeface="Arial" panose="020B0604020202020204" pitchFamily="34" charset="0"/>
              <a:buNone/>
            </a:pPr>
            <a:r>
              <a:rPr lang="zh-CN" altLang="en-US" sz="2300" b="0" dirty="0">
                <a:solidFill>
                  <a:srgbClr val="FF0000"/>
                </a:solidFill>
                <a:latin typeface="楷体" panose="02010609060101010101" pitchFamily="49" charset="-122"/>
                <a:ea typeface="楷体" panose="02010609060101010101" pitchFamily="49" charset="-122"/>
              </a:rPr>
              <a:t>    例：</a:t>
            </a:r>
            <a:r>
              <a:rPr lang="en-US" altLang="zh-CN" sz="2300" b="0" dirty="0">
                <a:solidFill>
                  <a:srgbClr val="FF0000"/>
                </a:solidFill>
                <a:latin typeface="楷体" panose="02010609060101010101" pitchFamily="49" charset="-122"/>
                <a:ea typeface="楷体" panose="02010609060101010101" pitchFamily="49" charset="-122"/>
              </a:rPr>
              <a:t>MOV  AX,  ES: W  </a:t>
            </a:r>
          </a:p>
          <a:p>
            <a:pPr eaLnBrk="1" hangingPunct="1">
              <a:lnSpc>
                <a:spcPct val="125000"/>
              </a:lnSpc>
              <a:spcBef>
                <a:spcPct val="10000"/>
              </a:spcBef>
              <a:buFont typeface="Arial" panose="020B0604020202020204" pitchFamily="34" charset="0"/>
              <a:buNone/>
            </a:pPr>
            <a:r>
              <a:rPr lang="zh-CN" altLang="en-US" sz="2300" b="0" dirty="0">
                <a:solidFill>
                  <a:srgbClr val="FF0000"/>
                </a:solidFill>
                <a:latin typeface="楷体" panose="02010609060101010101" pitchFamily="49" charset="-122"/>
                <a:ea typeface="楷体" panose="02010609060101010101" pitchFamily="49" charset="-122"/>
              </a:rPr>
              <a:t>    该指令的源操作数的地址为 </a:t>
            </a:r>
            <a:r>
              <a:rPr lang="en-US" altLang="zh-CN" sz="2300" b="0" dirty="0">
                <a:solidFill>
                  <a:srgbClr val="FF0000"/>
                </a:solidFill>
                <a:latin typeface="楷体" panose="02010609060101010101" pitchFamily="49" charset="-122"/>
                <a:ea typeface="楷体" panose="02010609060101010101" pitchFamily="49" charset="-122"/>
              </a:rPr>
              <a:t>ES</a:t>
            </a:r>
            <a:r>
              <a:rPr lang="zh-CN" altLang="en-US" sz="2300" b="0" dirty="0">
                <a:solidFill>
                  <a:srgbClr val="FF0000"/>
                </a:solidFill>
                <a:latin typeface="楷体" panose="02010609060101010101" pitchFamily="49" charset="-122"/>
                <a:ea typeface="楷体" panose="02010609060101010101" pitchFamily="49" charset="-122"/>
              </a:rPr>
              <a:t>：</a:t>
            </a:r>
            <a:r>
              <a:rPr lang="en-US" altLang="zh-CN" sz="2300" b="0" dirty="0">
                <a:solidFill>
                  <a:srgbClr val="FF0000"/>
                </a:solidFill>
                <a:latin typeface="楷体" panose="02010609060101010101" pitchFamily="49" charset="-122"/>
                <a:ea typeface="楷体" panose="02010609060101010101" pitchFamily="49" charset="-122"/>
              </a:rPr>
              <a:t>OFFSET W</a:t>
            </a:r>
          </a:p>
        </p:txBody>
      </p:sp>
    </p:spTree>
    <p:extLst>
      <p:ext uri="{BB962C8B-B14F-4D97-AF65-F5344CB8AC3E}">
        <p14:creationId xmlns:p14="http://schemas.microsoft.com/office/powerpoint/2010/main" val="1198468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2133600"/>
            <a:ext cx="9144000" cy="29511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92175" indent="-457200">
              <a:lnSpc>
                <a:spcPct val="125000"/>
              </a:lnSpc>
              <a:spcBef>
                <a:spcPct val="0"/>
              </a:spcBef>
              <a:buClr>
                <a:srgbClr val="00B0F0"/>
              </a:buClr>
              <a:buSzPct val="80000"/>
              <a:buFont typeface="Wingdings" panose="05000000000000000000" pitchFamily="2" charset="2"/>
              <a:buChar char="l"/>
            </a:pPr>
            <a:r>
              <a:rPr lang="zh-CN" altLang="en-US" dirty="0">
                <a:latin typeface="楷体" panose="02010609060101010101" pitchFamily="49" charset="-122"/>
                <a:ea typeface="楷体" panose="02010609060101010101" pitchFamily="49" charset="-122"/>
              </a:rPr>
              <a:t>立即寻址与直接寻址的区别：</a:t>
            </a:r>
            <a:r>
              <a:rPr lang="zh-CN" altLang="en-US" dirty="0">
                <a:solidFill>
                  <a:srgbClr val="00B0F0"/>
                </a:solidFill>
                <a:latin typeface="楷体" panose="02010609060101010101" pitchFamily="49" charset="-122"/>
                <a:ea typeface="楷体" panose="02010609060101010101" pitchFamily="49" charset="-122"/>
              </a:rPr>
              <a:t>从变量中取数据属于直接寻址方式，注意与符号常量区别</a:t>
            </a:r>
          </a:p>
          <a:p>
            <a:pPr marL="434975" indent="0">
              <a:lnSpc>
                <a:spcPct val="125000"/>
              </a:lnSpc>
              <a:spcBef>
                <a:spcPct val="0"/>
              </a:spcBef>
              <a:buNone/>
            </a:pPr>
            <a:r>
              <a:rPr lang="zh-CN" altLang="en-US" dirty="0">
                <a:solidFill>
                  <a:srgbClr val="000099"/>
                </a:solidFill>
                <a:latin typeface="楷体" panose="02010609060101010101" pitchFamily="49" charset="-122"/>
                <a:ea typeface="楷体" panose="02010609060101010101" pitchFamily="49" charset="-122"/>
              </a:rPr>
              <a:t>   例：</a:t>
            </a:r>
            <a:r>
              <a:rPr lang="en-US" altLang="zh-CN" dirty="0">
                <a:solidFill>
                  <a:srgbClr val="000099"/>
                </a:solidFill>
                <a:latin typeface="楷体" panose="02010609060101010101" pitchFamily="49" charset="-122"/>
                <a:ea typeface="楷体" panose="02010609060101010101" pitchFamily="49" charset="-122"/>
              </a:rPr>
              <a:t>AA  EQU  10</a:t>
            </a:r>
          </a:p>
          <a:p>
            <a:pPr marL="434975" indent="0">
              <a:lnSpc>
                <a:spcPct val="125000"/>
              </a:lnSpc>
              <a:spcBef>
                <a:spcPct val="0"/>
              </a:spcBef>
              <a:buNone/>
            </a:pPr>
            <a:r>
              <a:rPr lang="en-US" altLang="zh-CN" dirty="0">
                <a:solidFill>
                  <a:srgbClr val="000099"/>
                </a:solidFill>
                <a:latin typeface="楷体" panose="02010609060101010101" pitchFamily="49" charset="-122"/>
                <a:ea typeface="楷体" panose="02010609060101010101" pitchFamily="49" charset="-122"/>
              </a:rPr>
              <a:t>       MOV  AX,  AA;  </a:t>
            </a:r>
            <a:r>
              <a:rPr lang="zh-CN" altLang="en-US" dirty="0">
                <a:solidFill>
                  <a:srgbClr val="000099"/>
                </a:solidFill>
                <a:latin typeface="楷体" panose="02010609060101010101" pitchFamily="49" charset="-122"/>
                <a:ea typeface="楷体" panose="02010609060101010101" pitchFamily="49" charset="-122"/>
              </a:rPr>
              <a:t>立即寻址，</a:t>
            </a:r>
            <a:r>
              <a:rPr lang="en-US" altLang="zh-CN" dirty="0">
                <a:solidFill>
                  <a:srgbClr val="000099"/>
                </a:solidFill>
                <a:latin typeface="楷体" panose="02010609060101010101" pitchFamily="49" charset="-122"/>
                <a:ea typeface="楷体" panose="02010609060101010101" pitchFamily="49" charset="-122"/>
              </a:rPr>
              <a:t>AX=000AH</a:t>
            </a:r>
          </a:p>
          <a:p>
            <a:pPr marL="434975" indent="0">
              <a:lnSpc>
                <a:spcPct val="125000"/>
              </a:lnSpc>
              <a:spcBef>
                <a:spcPct val="0"/>
              </a:spcBef>
              <a:buNone/>
            </a:pPr>
            <a:r>
              <a:rPr lang="en-US" altLang="zh-CN" dirty="0">
                <a:solidFill>
                  <a:srgbClr val="000099"/>
                </a:solidFill>
                <a:latin typeface="楷体" panose="02010609060101010101" pitchFamily="49" charset="-122"/>
                <a:ea typeface="楷体" panose="02010609060101010101" pitchFamily="49" charset="-122"/>
              </a:rPr>
              <a:t>       MOV  BX,  AA+5;  </a:t>
            </a:r>
            <a:r>
              <a:rPr lang="zh-CN" altLang="en-US" dirty="0">
                <a:solidFill>
                  <a:srgbClr val="000099"/>
                </a:solidFill>
                <a:latin typeface="楷体" panose="02010609060101010101" pitchFamily="49" charset="-122"/>
                <a:ea typeface="楷体" panose="02010609060101010101" pitchFamily="49" charset="-122"/>
              </a:rPr>
              <a:t>立即寻址，</a:t>
            </a:r>
            <a:r>
              <a:rPr lang="en-US" altLang="zh-CN" dirty="0">
                <a:solidFill>
                  <a:srgbClr val="000099"/>
                </a:solidFill>
                <a:latin typeface="楷体" panose="02010609060101010101" pitchFamily="49" charset="-122"/>
                <a:ea typeface="楷体" panose="02010609060101010101" pitchFamily="49" charset="-122"/>
              </a:rPr>
              <a:t>BX=000FH</a:t>
            </a:r>
          </a:p>
        </p:txBody>
      </p:sp>
    </p:spTree>
    <p:extLst>
      <p:ext uri="{BB962C8B-B14F-4D97-AF65-F5344CB8AC3E}">
        <p14:creationId xmlns:p14="http://schemas.microsoft.com/office/powerpoint/2010/main" val="2708546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a:spLocks noChangeArrowheads="1"/>
          </p:cNvSpPr>
          <p:nvPr/>
        </p:nvSpPr>
        <p:spPr bwMode="auto">
          <a:xfrm>
            <a:off x="539750" y="2897188"/>
            <a:ext cx="8208963"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Arial" panose="020B0604020202020204" pitchFamily="34" charset="0"/>
              <a:buNone/>
            </a:pPr>
            <a:endParaRPr lang="en-US" altLang="zh-CN" sz="2800">
              <a:solidFill>
                <a:srgbClr val="FF0066"/>
              </a:solidFill>
              <a:latin typeface="华文楷体" panose="02010600040101010101" pitchFamily="2" charset="-122"/>
              <a:ea typeface="华文楷体" panose="02010600040101010101" pitchFamily="2" charset="-122"/>
            </a:endParaRPr>
          </a:p>
        </p:txBody>
      </p:sp>
      <p:sp>
        <p:nvSpPr>
          <p:cNvPr id="3" name="Rectangle 57"/>
          <p:cNvSpPr>
            <a:spLocks noChangeArrowheads="1"/>
          </p:cNvSpPr>
          <p:nvPr/>
        </p:nvSpPr>
        <p:spPr bwMode="auto">
          <a:xfrm>
            <a:off x="0" y="1090613"/>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p>
            <a:pPr>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4.  </a:t>
            </a:r>
            <a:r>
              <a:rPr lang="zh-CN" altLang="en-US" sz="2800" dirty="0">
                <a:solidFill>
                  <a:srgbClr val="FF0000"/>
                </a:solidFill>
                <a:latin typeface="楷体" panose="02010609060101010101" pitchFamily="49" charset="-122"/>
                <a:ea typeface="楷体" panose="02010609060101010101" pitchFamily="49" charset="-122"/>
              </a:rPr>
              <a:t>间接寻址</a:t>
            </a:r>
            <a:r>
              <a:rPr lang="zh-CN" altLang="en-US" sz="2800" dirty="0">
                <a:latin typeface="楷体" panose="02010609060101010101" pitchFamily="49" charset="-122"/>
                <a:ea typeface="楷体" panose="02010609060101010101" pitchFamily="49" charset="-122"/>
              </a:rPr>
              <a:t>：操作的数据在存储器中</a:t>
            </a:r>
          </a:p>
        </p:txBody>
      </p:sp>
      <p:graphicFrame>
        <p:nvGraphicFramePr>
          <p:cNvPr id="4" name="Object 10"/>
          <p:cNvGraphicFramePr>
            <a:graphicFrameLocks/>
          </p:cNvGraphicFramePr>
          <p:nvPr>
            <p:extLst>
              <p:ext uri="{D42A27DB-BD31-4B8C-83A1-F6EECF244321}">
                <p14:modId xmlns:p14="http://schemas.microsoft.com/office/powerpoint/2010/main" val="1638195308"/>
              </p:ext>
            </p:extLst>
          </p:nvPr>
        </p:nvGraphicFramePr>
        <p:xfrm>
          <a:off x="6907609" y="4994091"/>
          <a:ext cx="2038747" cy="1127309"/>
        </p:xfrm>
        <a:graphic>
          <a:graphicData uri="http://schemas.openxmlformats.org/presentationml/2006/ole">
            <mc:AlternateContent xmlns:mc="http://schemas.openxmlformats.org/markup-compatibility/2006">
              <mc:Choice xmlns:v="urn:schemas-microsoft-com:vml" Requires="v">
                <p:oleObj r:id="rId2" imgW="1352381" imgH="838095" progId="PBrush">
                  <p:embed/>
                </p:oleObj>
              </mc:Choice>
              <mc:Fallback>
                <p:oleObj r:id="rId2" imgW="1352381" imgH="838095" progId="PBrush">
                  <p:embed/>
                  <p:pic>
                    <p:nvPicPr>
                      <p:cNvPr id="41988" name="Object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7609" y="4994091"/>
                        <a:ext cx="2038747" cy="1127309"/>
                      </a:xfrm>
                      <a:prstGeom prst="rect">
                        <a:avLst/>
                      </a:prstGeom>
                      <a:noFill/>
                      <a:ln>
                        <a:noFill/>
                      </a:ln>
                    </p:spPr>
                  </p:pic>
                </p:oleObj>
              </mc:Fallback>
            </mc:AlternateContent>
          </a:graphicData>
        </a:graphic>
      </p:graphicFrame>
      <p:sp>
        <p:nvSpPr>
          <p:cNvPr id="5" name="Rectangle 57"/>
          <p:cNvSpPr>
            <a:spLocks noChangeArrowheads="1"/>
          </p:cNvSpPr>
          <p:nvPr/>
        </p:nvSpPr>
        <p:spPr bwMode="auto">
          <a:xfrm>
            <a:off x="197643" y="1738313"/>
            <a:ext cx="8748713"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Clr>
                <a:schemeClr val="tx2"/>
              </a:buClr>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偏移地址</a:t>
            </a:r>
            <a:r>
              <a:rPr lang="zh-CN" altLang="en-US" sz="2400" b="0" dirty="0">
                <a:latin typeface="楷体" panose="02010609060101010101" pitchFamily="49" charset="-122"/>
                <a:ea typeface="楷体" panose="02010609060101010101" pitchFamily="49" charset="-122"/>
              </a:rPr>
              <a:t>：方括号中寄存器的内容为操作数据的偏移地址；</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Clr>
                <a:schemeClr val="tx2"/>
              </a:buClr>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段基址</a:t>
            </a:r>
            <a:r>
              <a:rPr lang="zh-CN" altLang="en-US" sz="2400" b="0" dirty="0">
                <a:latin typeface="楷体" panose="02010609060101010101" pitchFamily="49" charset="-122"/>
                <a:ea typeface="楷体" panose="02010609060101010101" pitchFamily="49" charset="-122"/>
              </a:rPr>
              <a:t>：由间址寄存器确定，</a:t>
            </a:r>
            <a:r>
              <a:rPr lang="zh-CN" altLang="en-US" sz="2400" b="0" dirty="0">
                <a:solidFill>
                  <a:srgbClr val="FF3399"/>
                </a:solidFill>
                <a:latin typeface="楷体" panose="02010609060101010101" pitchFamily="49" charset="-122"/>
                <a:ea typeface="楷体" panose="02010609060101010101" pitchFamily="49" charset="-122"/>
              </a:rPr>
              <a:t>若用</a:t>
            </a:r>
            <a:r>
              <a:rPr lang="en-US" altLang="zh-CN" sz="2400" b="0" dirty="0">
                <a:solidFill>
                  <a:srgbClr val="FF3399"/>
                </a:solidFill>
                <a:latin typeface="楷体" panose="02010609060101010101" pitchFamily="49" charset="-122"/>
                <a:ea typeface="楷体" panose="02010609060101010101" pitchFamily="49" charset="-122"/>
              </a:rPr>
              <a:t>BP</a:t>
            </a:r>
            <a:r>
              <a:rPr lang="zh-CN" altLang="en-US" sz="2400" b="0" dirty="0">
                <a:solidFill>
                  <a:srgbClr val="FF3399"/>
                </a:solidFill>
                <a:latin typeface="楷体" panose="02010609060101010101" pitchFamily="49" charset="-122"/>
                <a:ea typeface="楷体" panose="02010609060101010101" pitchFamily="49" charset="-122"/>
              </a:rPr>
              <a:t>、</a:t>
            </a:r>
            <a:r>
              <a:rPr lang="en-US" altLang="zh-CN" sz="2400" b="0" dirty="0">
                <a:solidFill>
                  <a:srgbClr val="FF3399"/>
                </a:solidFill>
                <a:latin typeface="楷体" panose="02010609060101010101" pitchFamily="49" charset="-122"/>
                <a:ea typeface="楷体" panose="02010609060101010101" pitchFamily="49" charset="-122"/>
              </a:rPr>
              <a:t>EBP</a:t>
            </a:r>
            <a:r>
              <a:rPr lang="zh-CN" altLang="en-US" sz="2400" b="0" dirty="0">
                <a:solidFill>
                  <a:srgbClr val="FF3399"/>
                </a:solidFill>
                <a:latin typeface="楷体" panose="02010609060101010101" pitchFamily="49" charset="-122"/>
                <a:ea typeface="楷体" panose="02010609060101010101" pitchFamily="49" charset="-122"/>
              </a:rPr>
              <a:t>、</a:t>
            </a:r>
            <a:r>
              <a:rPr lang="en-US" altLang="zh-CN" sz="2400" b="0" dirty="0">
                <a:solidFill>
                  <a:srgbClr val="FF3399"/>
                </a:solidFill>
                <a:latin typeface="楷体" panose="02010609060101010101" pitchFamily="49" charset="-122"/>
                <a:ea typeface="楷体" panose="02010609060101010101" pitchFamily="49" charset="-122"/>
              </a:rPr>
              <a:t>ESP</a:t>
            </a:r>
            <a:r>
              <a:rPr lang="zh-CN" altLang="en-US" sz="2400" b="0" dirty="0">
                <a:solidFill>
                  <a:srgbClr val="FF3399"/>
                </a:solidFill>
                <a:latin typeface="楷体" panose="02010609060101010101" pitchFamily="49" charset="-122"/>
                <a:ea typeface="楷体" panose="02010609060101010101" pitchFamily="49" charset="-122"/>
              </a:rPr>
              <a:t>间址，段基址在</a:t>
            </a:r>
            <a:r>
              <a:rPr lang="en-US" altLang="zh-CN" sz="2400" b="0" dirty="0">
                <a:solidFill>
                  <a:srgbClr val="FF3399"/>
                </a:solidFill>
                <a:latin typeface="楷体" panose="02010609060101010101" pitchFamily="49" charset="-122"/>
                <a:ea typeface="楷体" panose="02010609060101010101" pitchFamily="49" charset="-122"/>
              </a:rPr>
              <a:t>SS</a:t>
            </a:r>
            <a:r>
              <a:rPr lang="zh-CN" altLang="en-US" sz="2400" b="0" dirty="0">
                <a:solidFill>
                  <a:srgbClr val="FF3399"/>
                </a:solidFill>
                <a:latin typeface="楷体" panose="02010609060101010101" pitchFamily="49" charset="-122"/>
                <a:ea typeface="楷体" panose="02010609060101010101" pitchFamily="49" charset="-122"/>
              </a:rPr>
              <a:t>中</a:t>
            </a:r>
            <a:r>
              <a:rPr lang="zh-CN" altLang="en-US" sz="2400" b="0" dirty="0">
                <a:latin typeface="楷体" panose="02010609060101010101" pitchFamily="49" charset="-122"/>
                <a:ea typeface="楷体" panose="02010609060101010101" pitchFamily="49" charset="-122"/>
              </a:rPr>
              <a:t>；</a:t>
            </a:r>
            <a:r>
              <a:rPr lang="zh-CN" altLang="en-US" sz="2400" b="0" dirty="0">
                <a:solidFill>
                  <a:srgbClr val="FF0066"/>
                </a:solidFill>
                <a:latin typeface="楷体" panose="02010609060101010101" pitchFamily="49" charset="-122"/>
                <a:ea typeface="楷体" panose="02010609060101010101" pitchFamily="49" charset="-122"/>
              </a:rPr>
              <a:t>若用其他寄存器间址，则操作数在当前</a:t>
            </a:r>
            <a:r>
              <a:rPr lang="en-US" altLang="zh-CN" sz="2400" b="0" dirty="0">
                <a:solidFill>
                  <a:srgbClr val="FF0066"/>
                </a:solidFill>
                <a:latin typeface="楷体" panose="02010609060101010101" pitchFamily="49" charset="-122"/>
                <a:ea typeface="楷体" panose="02010609060101010101" pitchFamily="49" charset="-122"/>
              </a:rPr>
              <a:t>DS</a:t>
            </a:r>
            <a:r>
              <a:rPr lang="zh-CN" altLang="en-US" sz="2400" b="0" dirty="0">
                <a:solidFill>
                  <a:srgbClr val="FF0066"/>
                </a:solidFill>
                <a:latin typeface="楷体" panose="02010609060101010101" pitchFamily="49" charset="-122"/>
                <a:ea typeface="楷体" panose="02010609060101010101" pitchFamily="49" charset="-122"/>
              </a:rPr>
              <a:t>中</a:t>
            </a:r>
            <a:endParaRPr lang="en-US" altLang="zh-CN" sz="2400" b="0" dirty="0">
              <a:solidFill>
                <a:srgbClr val="FF0066"/>
              </a:solidFill>
              <a:latin typeface="楷体" panose="02010609060101010101" pitchFamily="49" charset="-122"/>
              <a:ea typeface="楷体" panose="02010609060101010101" pitchFamily="49" charset="-122"/>
            </a:endParaRPr>
          </a:p>
          <a:p>
            <a:pPr>
              <a:lnSpc>
                <a:spcPct val="150000"/>
              </a:lnSpc>
              <a:spcBef>
                <a:spcPct val="0"/>
              </a:spcBef>
              <a:buFont typeface="Arial" panose="020B0604020202020204" pitchFamily="34" charset="0"/>
              <a:buNone/>
            </a:pPr>
            <a:r>
              <a:rPr lang="en-US" altLang="zh-CN" sz="2400" b="0" dirty="0" err="1">
                <a:latin typeface="楷体" panose="02010609060101010101" pitchFamily="49" charset="-122"/>
                <a:ea typeface="楷体" panose="02010609060101010101" pitchFamily="49" charset="-122"/>
              </a:rPr>
              <a:t>操作数</a:t>
            </a:r>
            <a:r>
              <a:rPr lang="zh-CN" altLang="en-US" sz="2400" b="0" dirty="0">
                <a:latin typeface="楷体" panose="02010609060101010101" pitchFamily="49" charset="-122"/>
                <a:ea typeface="楷体" panose="02010609060101010101" pitchFamily="49" charset="-122"/>
              </a:rPr>
              <a:t>为带方括号的寄存器</a:t>
            </a:r>
            <a:r>
              <a:rPr lang="en-US" altLang="zh-CN" sz="2400" b="0" dirty="0">
                <a:latin typeface="楷体" panose="02010609060101010101" pitchFamily="49" charset="-122"/>
                <a:ea typeface="楷体" panose="02010609060101010101" pitchFamily="49" charset="-122"/>
              </a:rPr>
              <a:t>: </a:t>
            </a:r>
            <a:r>
              <a:rPr lang="en-US" altLang="zh-CN" sz="2400" b="0" dirty="0">
                <a:solidFill>
                  <a:srgbClr val="FF0000"/>
                </a:solidFill>
                <a:latin typeface="楷体" panose="02010609060101010101" pitchFamily="49" charset="-122"/>
                <a:ea typeface="楷体" panose="02010609060101010101" pitchFamily="49" charset="-122"/>
              </a:rPr>
              <a:t>[SI],[DI],[BX],[BP]</a:t>
            </a:r>
            <a:r>
              <a:rPr lang="en-US" altLang="zh-CN" sz="2400" b="0" dirty="0">
                <a:latin typeface="楷体" panose="02010609060101010101" pitchFamily="49" charset="-122"/>
                <a:ea typeface="楷体" panose="02010609060101010101" pitchFamily="49" charset="-122"/>
              </a:rPr>
              <a:t>,[EAX]…[ESP]</a:t>
            </a:r>
          </a:p>
          <a:p>
            <a:pPr>
              <a:lnSpc>
                <a:spcPct val="15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若</a:t>
            </a:r>
            <a:r>
              <a:rPr lang="en-US" altLang="zh-CN" sz="2400" b="0" dirty="0">
                <a:solidFill>
                  <a:schemeClr val="tx2"/>
                </a:solidFill>
                <a:latin typeface="楷体" panose="02010609060101010101" pitchFamily="49" charset="-122"/>
                <a:ea typeface="楷体" panose="02010609060101010101" pitchFamily="49" charset="-122"/>
              </a:rPr>
              <a:t>BX=0124H</a:t>
            </a:r>
            <a:r>
              <a:rPr lang="zh-CN" altLang="en-US" sz="2400" b="0" dirty="0">
                <a:solidFill>
                  <a:schemeClr val="tx2"/>
                </a:solidFill>
                <a:latin typeface="楷体" panose="02010609060101010101" pitchFamily="49" charset="-122"/>
                <a:ea typeface="楷体" panose="02010609060101010101" pitchFamily="49" charset="-122"/>
              </a:rPr>
              <a:t>，</a:t>
            </a:r>
          </a:p>
          <a:p>
            <a:pPr>
              <a:lnSpc>
                <a:spcPct val="150000"/>
              </a:lnSpc>
              <a:spcBef>
                <a:spcPct val="0"/>
              </a:spcBef>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MOV</a:t>
            </a:r>
            <a:r>
              <a:rPr lang="zh-CN" altLang="en-US" sz="2400" b="0" dirty="0">
                <a:solidFill>
                  <a:srgbClr val="000099"/>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CX,  [BX];  </a:t>
            </a:r>
            <a:r>
              <a:rPr lang="zh-CN" altLang="en-US" sz="2400" b="0" dirty="0">
                <a:solidFill>
                  <a:srgbClr val="000099"/>
                </a:solidFill>
                <a:latin typeface="楷体" panose="02010609060101010101" pitchFamily="49" charset="-122"/>
                <a:ea typeface="楷体" panose="02010609060101010101" pitchFamily="49" charset="-122"/>
              </a:rPr>
              <a:t>间接寻址</a:t>
            </a:r>
            <a:r>
              <a:rPr lang="en-US" altLang="zh-CN" sz="2400" b="0" dirty="0">
                <a:solidFill>
                  <a:srgbClr val="000099"/>
                </a:solidFill>
                <a:latin typeface="楷体" panose="02010609060101010101" pitchFamily="49" charset="-122"/>
                <a:ea typeface="楷体" panose="02010609060101010101" pitchFamily="49" charset="-122"/>
              </a:rPr>
              <a:t>,  CX=1958H</a:t>
            </a:r>
          </a:p>
          <a:p>
            <a:pPr>
              <a:lnSpc>
                <a:spcPct val="150000"/>
              </a:lnSpc>
              <a:spcBef>
                <a:spcPct val="0"/>
              </a:spcBef>
              <a:buFont typeface="Arial" panose="020B0604020202020204" pitchFamily="34" charset="0"/>
              <a:buNone/>
            </a:pPr>
            <a:r>
              <a:rPr lang="en-US" altLang="zh-CN" sz="2400" b="0" dirty="0">
                <a:solidFill>
                  <a:srgbClr val="000099"/>
                </a:solidFill>
                <a:latin typeface="楷体" panose="02010609060101010101" pitchFamily="49" charset="-122"/>
                <a:ea typeface="楷体" panose="02010609060101010101" pitchFamily="49" charset="-122"/>
              </a:rPr>
              <a:t> MOV</a:t>
            </a:r>
            <a:r>
              <a:rPr lang="zh-CN" altLang="en-US" sz="2400" b="0" dirty="0">
                <a:solidFill>
                  <a:srgbClr val="000099"/>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AX,  BX;    </a:t>
            </a:r>
            <a:r>
              <a:rPr lang="zh-CN" altLang="en-US" sz="2400" b="0" dirty="0">
                <a:solidFill>
                  <a:srgbClr val="000099"/>
                </a:solidFill>
                <a:latin typeface="楷体" panose="02010609060101010101" pitchFamily="49" charset="-122"/>
                <a:ea typeface="楷体" panose="02010609060101010101" pitchFamily="49" charset="-122"/>
              </a:rPr>
              <a:t>寄存器寻址</a:t>
            </a:r>
            <a:r>
              <a:rPr lang="en-US" altLang="zh-CN" sz="2400" b="0" dirty="0">
                <a:solidFill>
                  <a:srgbClr val="000099"/>
                </a:solidFill>
                <a:latin typeface="楷体" panose="02010609060101010101" pitchFamily="49" charset="-122"/>
                <a:ea typeface="楷体" panose="02010609060101010101" pitchFamily="49" charset="-122"/>
              </a:rPr>
              <a:t>,  AX=0124H</a:t>
            </a:r>
            <a:endParaRPr lang="en-US" altLang="zh-CN"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91306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a:extLst>
              <a:ext uri="{FF2B5EF4-FFF2-40B4-BE49-F238E27FC236}">
                <a16:creationId xmlns:a16="http://schemas.microsoft.com/office/drawing/2014/main" id="{AF29DEC6-5CEB-4BBB-9624-857615FE833B}"/>
              </a:ext>
            </a:extLst>
          </p:cNvPr>
          <p:cNvSpPr>
            <a:spLocks noChangeArrowheads="1"/>
          </p:cNvSpPr>
          <p:nvPr/>
        </p:nvSpPr>
        <p:spPr bwMode="auto">
          <a:xfrm>
            <a:off x="248575" y="1189036"/>
            <a:ext cx="8380520" cy="2193355"/>
          </a:xfrm>
          <a:prstGeom prst="rect">
            <a:avLst/>
          </a:prstGeom>
          <a:noFill/>
          <a:ln w="9525">
            <a:noFill/>
            <a:miter lim="800000"/>
          </a:ln>
          <a:effectLst/>
        </p:spPr>
        <p:txBody>
          <a:bodyPr lIns="342000" tIns="46800" rIns="89966" bIns="144000" anchor="ctr"/>
          <a:lstStyle>
            <a:lvl1pPr eaLnBrk="0" hangingPunct="0">
              <a:defRPr sz="2800" b="1">
                <a:solidFill>
                  <a:schemeClr val="tx2"/>
                </a:solidFill>
                <a:latin typeface="楷体_GB2312" pitchFamily="49" charset="-122"/>
                <a:ea typeface="楷体_GB2312" pitchFamily="49" charset="-122"/>
              </a:defRPr>
            </a:lvl1pPr>
            <a:lvl2pPr marL="742950" indent="-285750" eaLnBrk="0" hangingPunct="0">
              <a:defRPr sz="2800" b="1">
                <a:solidFill>
                  <a:schemeClr val="tx2"/>
                </a:solidFill>
                <a:latin typeface="楷体_GB2312" pitchFamily="49" charset="-122"/>
                <a:ea typeface="楷体_GB2312" pitchFamily="49" charset="-122"/>
              </a:defRPr>
            </a:lvl2pPr>
            <a:lvl3pPr marL="1143000" indent="-228600" eaLnBrk="0" hangingPunct="0">
              <a:defRPr sz="2800" b="1">
                <a:solidFill>
                  <a:schemeClr val="tx2"/>
                </a:solidFill>
                <a:latin typeface="楷体_GB2312" pitchFamily="49" charset="-122"/>
                <a:ea typeface="楷体_GB2312" pitchFamily="49" charset="-122"/>
              </a:defRPr>
            </a:lvl3pPr>
            <a:lvl4pPr marL="1600200" indent="-228600" eaLnBrk="0" hangingPunct="0">
              <a:defRPr sz="2800" b="1">
                <a:solidFill>
                  <a:schemeClr val="tx2"/>
                </a:solidFill>
                <a:latin typeface="楷体_GB2312" pitchFamily="49" charset="-122"/>
                <a:ea typeface="楷体_GB2312" pitchFamily="49" charset="-122"/>
              </a:defRPr>
            </a:lvl4pPr>
            <a:lvl5pPr marL="2057400" indent="-228600" eaLnBrk="0" hangingPunct="0">
              <a:defRPr sz="28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9pPr>
          </a:lstStyle>
          <a:p>
            <a:pPr eaLnBrk="1" hangingPunct="1">
              <a:lnSpc>
                <a:spcPct val="150000"/>
              </a:lnSpc>
              <a:buClr>
                <a:schemeClr val="tx2"/>
              </a:buClr>
              <a:defRPr/>
            </a:pPr>
            <a:r>
              <a:rPr lang="zh-CN" altLang="en-US" sz="2400" b="0" dirty="0">
                <a:solidFill>
                  <a:srgbClr val="FF0066"/>
                </a:solidFill>
                <a:latin typeface="楷体" panose="02010609060101010101" pitchFamily="49" charset="-122"/>
                <a:ea typeface="楷体" panose="02010609060101010101" pitchFamily="49" charset="-122"/>
                <a:cs typeface="Times New Roman" pitchFamily="18" charset="0"/>
              </a:rPr>
              <a:t>例如：</a:t>
            </a:r>
            <a:r>
              <a:rPr lang="en-US" altLang="zh-CN" sz="2400" b="0" dirty="0">
                <a:solidFill>
                  <a:srgbClr val="FF0066"/>
                </a:solidFill>
                <a:latin typeface="楷体" panose="02010609060101010101" pitchFamily="49" charset="-122"/>
                <a:ea typeface="楷体" panose="02010609060101010101" pitchFamily="49" charset="-122"/>
                <a:cs typeface="Times New Roman" pitchFamily="18" charset="0"/>
              </a:rPr>
              <a:t>MOV   CX,  [BX]</a:t>
            </a:r>
          </a:p>
          <a:p>
            <a:pPr eaLnBrk="1" hangingPunct="1">
              <a:lnSpc>
                <a:spcPct val="15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该指令的源地址在当前数据段中，源操作数地址是</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DS: [BX], </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目的操作数是</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CX</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，执行的操作是：</a:t>
            </a:r>
            <a:endPar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endParaRPr>
          </a:p>
          <a:p>
            <a:pPr eaLnBrk="1" hangingPunct="1">
              <a:lnSpc>
                <a:spcPct val="150000"/>
              </a:lnSpc>
              <a:buClr>
                <a:schemeClr val="tx2"/>
              </a:buClr>
              <a:defRPr/>
            </a:pP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DS: [BX]     CL</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 DS: [BX+1]     CH                </a:t>
            </a:r>
            <a:endPar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endParaRPr>
          </a:p>
        </p:txBody>
      </p:sp>
      <p:sp>
        <p:nvSpPr>
          <p:cNvPr id="3" name="右箭头 2">
            <a:extLst>
              <a:ext uri="{FF2B5EF4-FFF2-40B4-BE49-F238E27FC236}">
                <a16:creationId xmlns:a16="http://schemas.microsoft.com/office/drawing/2014/main" id="{DA433A0F-598E-497A-A52D-AF6F4EC0F14B}"/>
              </a:ext>
            </a:extLst>
          </p:cNvPr>
          <p:cNvSpPr/>
          <p:nvPr/>
        </p:nvSpPr>
        <p:spPr>
          <a:xfrm>
            <a:off x="1918686" y="2976825"/>
            <a:ext cx="618663" cy="214312"/>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楷体" panose="02010609060101010101" pitchFamily="49" charset="-122"/>
              <a:ea typeface="楷体" panose="02010609060101010101" pitchFamily="49" charset="-122"/>
            </a:endParaRPr>
          </a:p>
        </p:txBody>
      </p:sp>
      <p:sp>
        <p:nvSpPr>
          <p:cNvPr id="4" name="右箭头 3">
            <a:extLst>
              <a:ext uri="{FF2B5EF4-FFF2-40B4-BE49-F238E27FC236}">
                <a16:creationId xmlns:a16="http://schemas.microsoft.com/office/drawing/2014/main" id="{C3E5FB36-ED50-4C2C-9961-4AD65CA77463}"/>
              </a:ext>
            </a:extLst>
          </p:cNvPr>
          <p:cNvSpPr/>
          <p:nvPr/>
        </p:nvSpPr>
        <p:spPr>
          <a:xfrm>
            <a:off x="4968858" y="2976825"/>
            <a:ext cx="618663" cy="214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楷体" panose="02010609060101010101" pitchFamily="49" charset="-122"/>
              <a:ea typeface="楷体" panose="02010609060101010101" pitchFamily="49" charset="-122"/>
            </a:endParaRPr>
          </a:p>
        </p:txBody>
      </p:sp>
      <p:sp>
        <p:nvSpPr>
          <p:cNvPr id="5" name="Rectangle 57"/>
          <p:cNvSpPr>
            <a:spLocks noChangeArrowheads="1"/>
          </p:cNvSpPr>
          <p:nvPr/>
        </p:nvSpPr>
        <p:spPr bwMode="auto">
          <a:xfrm>
            <a:off x="248575" y="3720252"/>
            <a:ext cx="8105313" cy="257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Clr>
                <a:schemeClr val="tx2"/>
              </a:buClr>
              <a:buFontTx/>
              <a:buNone/>
            </a:pPr>
            <a:r>
              <a:rPr lang="zh-CN" altLang="en-US" sz="2400" b="0" dirty="0">
                <a:solidFill>
                  <a:srgbClr val="FF0066"/>
                </a:solidFill>
                <a:latin typeface="楷体" panose="02010609060101010101" pitchFamily="49" charset="-122"/>
                <a:ea typeface="楷体" panose="02010609060101010101" pitchFamily="49" charset="-122"/>
                <a:cs typeface="Times New Roman" panose="02020603050405020304" pitchFamily="18" charset="0"/>
              </a:rPr>
              <a:t>例如：</a:t>
            </a:r>
            <a:r>
              <a:rPr lang="en-US" altLang="zh-CN" sz="2400" b="0" dirty="0">
                <a:solidFill>
                  <a:srgbClr val="FF0066"/>
                </a:solidFill>
                <a:latin typeface="楷体" panose="02010609060101010101" pitchFamily="49" charset="-122"/>
                <a:ea typeface="楷体" panose="02010609060101010101" pitchFamily="49" charset="-122"/>
                <a:cs typeface="Times New Roman" panose="02020603050405020304" pitchFamily="18" charset="0"/>
              </a:rPr>
              <a:t>MOV   EAX,  [BX]</a:t>
            </a:r>
          </a:p>
          <a:p>
            <a:pPr eaLnBrk="1" hangingPunct="1">
              <a:lnSpc>
                <a:spcPct val="150000"/>
              </a:lnSpc>
              <a:spcBef>
                <a:spcPct val="0"/>
              </a:spcBef>
              <a:buClr>
                <a:schemeClr val="tx2"/>
              </a:buClr>
              <a:buFontTx/>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该指令的源地址在当前数据段中，源操作数地址是</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DS: [BX], </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目的操作数是</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EAX</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，执行的操作是将间址寄存器</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BX</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所指向的四个连续单元中的</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32</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位二进制数送入</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EAX</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中。</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eaLnBrk="1" hangingPunct="1">
              <a:lnSpc>
                <a:spcPct val="90000"/>
              </a:lnSpc>
              <a:spcBef>
                <a:spcPct val="0"/>
              </a:spcBef>
              <a:buClr>
                <a:schemeClr val="tx2"/>
              </a:buClr>
              <a:buFontTx/>
              <a:buNone/>
            </a:pPr>
            <a:r>
              <a:rPr lang="en-US" altLang="zh-CN" sz="2600" b="0" dirty="0">
                <a:latin typeface="楷体" panose="02010609060101010101" pitchFamily="49" charset="-122"/>
                <a:ea typeface="楷体" panose="02010609060101010101" pitchFamily="49" charset="-122"/>
                <a:cs typeface="Times New Roman" panose="02020603050405020304" pitchFamily="18" charset="0"/>
              </a:rPr>
              <a:t>               </a:t>
            </a:r>
            <a:endParaRPr lang="zh-CN" altLang="en-US" sz="2600" b="0" dirty="0">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0861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1021" y="1125538"/>
            <a:ext cx="8948691" cy="55593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1200"/>
              </a:spcAft>
              <a:buClr>
                <a:schemeClr val="accent1"/>
              </a:buClr>
              <a:buSzPct val="65000"/>
              <a:buFont typeface="Wingdings" panose="05000000000000000000" pitchFamily="2" charset="2"/>
              <a:buNone/>
            </a:pPr>
            <a:r>
              <a:rPr lang="zh-CN" altLang="en-US" sz="2400" dirty="0">
                <a:solidFill>
                  <a:srgbClr val="00B0F0"/>
                </a:solidFill>
                <a:latin typeface="楷体" panose="02010609060101010101" pitchFamily="49" charset="-122"/>
                <a:ea typeface="楷体" panose="02010609060101010101" pitchFamily="49" charset="-122"/>
              </a:rPr>
              <a:t>     间接寻址</a:t>
            </a:r>
            <a:r>
              <a:rPr lang="zh-CN" altLang="en-US" sz="2400" dirty="0">
                <a:latin typeface="楷体" panose="02010609060101010101" pitchFamily="49" charset="-122"/>
                <a:ea typeface="楷体" panose="02010609060101010101" pitchFamily="49" charset="-122"/>
              </a:rPr>
              <a:t>和寄存器寻址的区别：</a:t>
            </a:r>
            <a:r>
              <a:rPr lang="zh-CN" altLang="en-US" sz="2400" dirty="0">
                <a:solidFill>
                  <a:srgbClr val="00B0F0"/>
                </a:solidFill>
                <a:latin typeface="楷体" panose="02010609060101010101" pitchFamily="49" charset="-122"/>
                <a:ea typeface="楷体" panose="02010609060101010101" pitchFamily="49" charset="-122"/>
              </a:rPr>
              <a:t>间接寻址属于存储器寻址，寄存器中的内容为操作数据的偏移地址</a:t>
            </a:r>
            <a:r>
              <a:rPr lang="zh-CN" altLang="en-US" sz="2400" dirty="0">
                <a:latin typeface="楷体" panose="02010609060101010101" pitchFamily="49" charset="-122"/>
                <a:ea typeface="楷体" panose="02010609060101010101" pitchFamily="49" charset="-122"/>
              </a:rPr>
              <a:t>。寄存器寻址中，寄存器内容即为操作数据。</a:t>
            </a:r>
          </a:p>
          <a:p>
            <a:pPr>
              <a:lnSpc>
                <a:spcPct val="125000"/>
              </a:lnSpc>
              <a:spcBef>
                <a:spcPct val="0"/>
              </a:spcBef>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 只有</a:t>
            </a:r>
            <a:r>
              <a:rPr lang="en-US" altLang="zh-CN" sz="2400" dirty="0">
                <a:solidFill>
                  <a:srgbClr val="FF0000"/>
                </a:solidFill>
                <a:latin typeface="楷体" panose="02010609060101010101" pitchFamily="49" charset="-122"/>
                <a:ea typeface="楷体" panose="02010609060101010101" pitchFamily="49" charset="-122"/>
              </a:rPr>
              <a:t>SI,DI,BX,BP</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位的寄存器可用于间接寻址。</a:t>
            </a:r>
          </a:p>
          <a:p>
            <a:pPr marL="0" indent="0">
              <a:lnSpc>
                <a:spcPct val="125000"/>
              </a:lnSpc>
              <a:spcBef>
                <a:spcPct val="15000"/>
              </a:spcBef>
              <a:spcAft>
                <a:spcPct val="15000"/>
              </a:spcAft>
              <a:buNone/>
            </a:pPr>
            <a:r>
              <a:rPr lang="zh-CN" altLang="en-US" sz="2400" dirty="0">
                <a:solidFill>
                  <a:schemeClr val="tx2"/>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例： </a:t>
            </a:r>
            <a:r>
              <a:rPr lang="en-US" altLang="zh-CN" sz="2400" dirty="0">
                <a:solidFill>
                  <a:srgbClr val="000099"/>
                </a:solidFill>
                <a:latin typeface="楷体" panose="02010609060101010101" pitchFamily="49" charset="-122"/>
                <a:ea typeface="楷体" panose="02010609060101010101" pitchFamily="49" charset="-122"/>
              </a:rPr>
              <a:t>MOV  AX,  [ECX] </a:t>
            </a:r>
          </a:p>
          <a:p>
            <a:pPr marL="0" indent="0">
              <a:lnSpc>
                <a:spcPct val="125000"/>
              </a:lnSpc>
              <a:spcBef>
                <a:spcPct val="15000"/>
              </a:spcBef>
              <a:spcAft>
                <a:spcPct val="15000"/>
              </a:spcAft>
              <a:buNone/>
            </a:pPr>
            <a:r>
              <a:rPr lang="en-US" altLang="zh-CN" sz="2400" dirty="0">
                <a:solidFill>
                  <a:srgbClr val="000099"/>
                </a:solidFill>
                <a:latin typeface="楷体" panose="02010609060101010101" pitchFamily="49" charset="-122"/>
                <a:ea typeface="楷体" panose="02010609060101010101" pitchFamily="49" charset="-122"/>
              </a:rPr>
              <a:t>        MOV  AX,  [CX]   </a:t>
            </a:r>
            <a:r>
              <a:rPr lang="en-US" altLang="zh-CN" sz="2400" dirty="0">
                <a:solidFill>
                  <a:srgbClr val="FF0000"/>
                </a:solidFill>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 </a:t>
            </a:r>
          </a:p>
          <a:p>
            <a:pPr>
              <a:lnSpc>
                <a:spcPct val="125000"/>
              </a:lnSpc>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sym typeface="Wingdings" panose="05000000000000000000" pitchFamily="2" charset="2"/>
              </a:rPr>
              <a:t> 若用</a:t>
            </a:r>
            <a:r>
              <a:rPr lang="en-US" altLang="zh-CN" sz="2400" dirty="0">
                <a:latin typeface="楷体" panose="02010609060101010101" pitchFamily="49" charset="-122"/>
                <a:ea typeface="楷体" panose="02010609060101010101" pitchFamily="49" charset="-122"/>
                <a:sym typeface="Wingdings" panose="05000000000000000000" pitchFamily="2" charset="2"/>
              </a:rPr>
              <a:t>BP</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en-US" altLang="zh-CN" sz="2400" dirty="0">
                <a:latin typeface="楷体" panose="02010609060101010101" pitchFamily="49" charset="-122"/>
                <a:ea typeface="楷体" panose="02010609060101010101" pitchFamily="49" charset="-122"/>
                <a:sym typeface="Wingdings" panose="05000000000000000000" pitchFamily="2" charset="2"/>
              </a:rPr>
              <a:t>EBP</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en-US" altLang="zh-CN" sz="2400" dirty="0">
                <a:latin typeface="楷体" panose="02010609060101010101" pitchFamily="49" charset="-122"/>
                <a:ea typeface="楷体" panose="02010609060101010101" pitchFamily="49" charset="-122"/>
                <a:sym typeface="Wingdings" panose="05000000000000000000" pitchFamily="2" charset="2"/>
              </a:rPr>
              <a:t>ESP</a:t>
            </a:r>
            <a:r>
              <a:rPr lang="zh-CN" altLang="en-US" sz="2400" dirty="0">
                <a:latin typeface="楷体" panose="02010609060101010101" pitchFamily="49" charset="-122"/>
                <a:ea typeface="楷体" panose="02010609060101010101" pitchFamily="49" charset="-122"/>
                <a:sym typeface="Wingdings" panose="05000000000000000000" pitchFamily="2" charset="2"/>
              </a:rPr>
              <a:t>间址，段基址在</a:t>
            </a:r>
            <a:r>
              <a:rPr lang="zh-CN" altLang="en-US" sz="2400" dirty="0">
                <a:latin typeface="楷体" panose="02010609060101010101" pitchFamily="49" charset="-122"/>
                <a:ea typeface="楷体" panose="02010609060101010101" pitchFamily="49" charset="-122"/>
              </a:rPr>
              <a:t>段寄存器</a:t>
            </a:r>
            <a:r>
              <a:rPr lang="en-US" altLang="zh-CN" sz="2400" dirty="0">
                <a:solidFill>
                  <a:srgbClr val="FF0066"/>
                </a:solidFill>
                <a:latin typeface="楷体" panose="02010609060101010101" pitchFamily="49" charset="-122"/>
                <a:ea typeface="楷体" panose="02010609060101010101" pitchFamily="49" charset="-122"/>
              </a:rPr>
              <a:t>SS</a:t>
            </a:r>
            <a:r>
              <a:rPr lang="zh-CN" altLang="en-US" sz="2400" dirty="0">
                <a:solidFill>
                  <a:srgbClr val="FF0066"/>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否则，段基址在段寄存器</a:t>
            </a:r>
            <a:r>
              <a:rPr lang="en-US" altLang="zh-CN" sz="2400" dirty="0">
                <a:solidFill>
                  <a:srgbClr val="FF0066"/>
                </a:solidFill>
                <a:latin typeface="楷体" panose="02010609060101010101" pitchFamily="49" charset="-122"/>
                <a:ea typeface="楷体" panose="02010609060101010101" pitchFamily="49" charset="-122"/>
              </a:rPr>
              <a:t>DS</a:t>
            </a:r>
            <a:r>
              <a:rPr lang="zh-CN" altLang="en-US" sz="2400" dirty="0">
                <a:solidFill>
                  <a:srgbClr val="FF0066"/>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    </a:t>
            </a:r>
          </a:p>
          <a:p>
            <a:pPr marL="0" indent="0">
              <a:lnSpc>
                <a:spcPct val="125000"/>
              </a:lnSpc>
              <a:spcBef>
                <a:spcPct val="15000"/>
              </a:spcBef>
              <a:spcAft>
                <a:spcPct val="15000"/>
              </a:spcAft>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MOV  AX,  [BX];  (DS:[BX])</a:t>
            </a:r>
            <a:r>
              <a:rPr lang="en-US" altLang="zh-CN" sz="2400" dirty="0">
                <a:solidFill>
                  <a:srgbClr val="000099"/>
                </a:solidFill>
                <a:latin typeface="楷体" panose="02010609060101010101" pitchFamily="49" charset="-122"/>
                <a:ea typeface="楷体" panose="02010609060101010101" pitchFamily="49" charset="-122"/>
                <a:sym typeface="Wingdings" panose="05000000000000000000" pitchFamily="2" charset="2"/>
              </a:rPr>
              <a:t>→AX  </a:t>
            </a:r>
          </a:p>
          <a:p>
            <a:pPr marL="0" indent="0">
              <a:lnSpc>
                <a:spcPct val="125000"/>
              </a:lnSpc>
              <a:buClr>
                <a:srgbClr val="00B0F0"/>
              </a:buClr>
              <a:buSzPct val="80000"/>
              <a:buNone/>
            </a:pPr>
            <a:r>
              <a:rPr lang="en-US" altLang="zh-CN" sz="2400" dirty="0">
                <a:solidFill>
                  <a:srgbClr val="FF0066"/>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MOV  AX,  [BP];  (SS:[BP])</a:t>
            </a:r>
            <a:r>
              <a:rPr lang="en-US" altLang="zh-CN" sz="2400" dirty="0">
                <a:solidFill>
                  <a:srgbClr val="000099"/>
                </a:solidFill>
                <a:latin typeface="楷体" panose="02010609060101010101" pitchFamily="49" charset="-122"/>
                <a:ea typeface="楷体" panose="02010609060101010101" pitchFamily="49" charset="-122"/>
                <a:sym typeface="Wingdings" panose="05000000000000000000" pitchFamily="2" charset="2"/>
              </a:rPr>
              <a:t>→AX</a:t>
            </a:r>
            <a:r>
              <a:rPr lang="en-US" altLang="zh-CN" sz="2400" dirty="0">
                <a:solidFill>
                  <a:srgbClr val="000099"/>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770466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0" y="1566863"/>
            <a:ext cx="9144000"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偏移地址</a:t>
            </a:r>
            <a:r>
              <a:rPr lang="zh-CN" altLang="en-US" sz="2400" b="0" dirty="0">
                <a:latin typeface="楷体" panose="02010609060101010101" pitchFamily="49" charset="-122"/>
                <a:ea typeface="楷体" panose="02010609060101010101" pitchFamily="49" charset="-122"/>
              </a:rPr>
              <a:t>：指令中给出的地址表达式的偏移地址；</a:t>
            </a:r>
            <a:r>
              <a:rPr lang="zh-CN" altLang="en-US" sz="2400" b="0" dirty="0">
                <a:solidFill>
                  <a:srgbClr val="003399"/>
                </a:solidFill>
                <a:latin typeface="楷体" panose="02010609060101010101" pitchFamily="49" charset="-122"/>
                <a:ea typeface="楷体" panose="02010609060101010101" pitchFamily="49" charset="-122"/>
              </a:rPr>
              <a:t>为基址寄存器</a:t>
            </a:r>
            <a:endParaRPr lang="en-US" altLang="zh-CN" sz="2400" b="0" dirty="0">
              <a:solidFill>
                <a:srgbClr val="003399"/>
              </a:solidFill>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None/>
            </a:pPr>
            <a:r>
              <a:rPr lang="en-US" altLang="zh-CN" sz="2400" dirty="0">
                <a:solidFill>
                  <a:srgbClr val="003399"/>
                </a:solidFill>
                <a:latin typeface="楷体" panose="02010609060101010101" pitchFamily="49" charset="-122"/>
                <a:ea typeface="楷体" panose="02010609060101010101" pitchFamily="49" charset="-122"/>
              </a:rPr>
              <a:t>       </a:t>
            </a:r>
            <a:r>
              <a:rPr lang="zh-CN" altLang="en-US" sz="2400" b="0" dirty="0">
                <a:solidFill>
                  <a:srgbClr val="003399"/>
                </a:solidFill>
                <a:latin typeface="楷体" panose="02010609060101010101" pitchFamily="49" charset="-122"/>
                <a:ea typeface="楷体" panose="02010609060101010101" pitchFamily="49" charset="-122"/>
              </a:rPr>
              <a:t>  （</a:t>
            </a:r>
            <a:r>
              <a:rPr lang="en-US" altLang="zh-CN" sz="2400" b="0" dirty="0">
                <a:solidFill>
                  <a:srgbClr val="003399"/>
                </a:solidFill>
                <a:latin typeface="楷体" panose="02010609060101010101" pitchFamily="49" charset="-122"/>
                <a:ea typeface="楷体" panose="02010609060101010101" pitchFamily="49" charset="-122"/>
              </a:rPr>
              <a:t>BX</a:t>
            </a:r>
            <a:r>
              <a:rPr lang="zh-CN" altLang="en-US" sz="2400" b="0" dirty="0">
                <a:solidFill>
                  <a:srgbClr val="003399"/>
                </a:solidFill>
                <a:latin typeface="楷体" panose="02010609060101010101" pitchFamily="49" charset="-122"/>
                <a:ea typeface="楷体" panose="02010609060101010101" pitchFamily="49" charset="-122"/>
              </a:rPr>
              <a:t>或</a:t>
            </a:r>
            <a:r>
              <a:rPr lang="en-US" altLang="zh-CN" sz="2400" b="0" dirty="0">
                <a:solidFill>
                  <a:srgbClr val="003399"/>
                </a:solidFill>
                <a:latin typeface="楷体" panose="02010609060101010101" pitchFamily="49" charset="-122"/>
                <a:ea typeface="楷体" panose="02010609060101010101" pitchFamily="49" charset="-122"/>
              </a:rPr>
              <a:t>BP</a:t>
            </a:r>
            <a:r>
              <a:rPr lang="zh-CN" altLang="en-US" sz="2400" b="0" dirty="0">
                <a:solidFill>
                  <a:srgbClr val="003399"/>
                </a:solidFill>
                <a:latin typeface="楷体" panose="02010609060101010101" pitchFamily="49" charset="-122"/>
                <a:ea typeface="楷体" panose="02010609060101010101" pitchFamily="49" charset="-122"/>
              </a:rPr>
              <a:t>或</a:t>
            </a:r>
            <a:r>
              <a:rPr lang="en-US" altLang="zh-CN" sz="2400" b="0" dirty="0">
                <a:solidFill>
                  <a:srgbClr val="003399"/>
                </a:solidFill>
                <a:latin typeface="楷体" panose="02010609060101010101" pitchFamily="49" charset="-122"/>
                <a:ea typeface="楷体" panose="02010609060101010101" pitchFamily="49" charset="-122"/>
              </a:rPr>
              <a:t>32</a:t>
            </a:r>
            <a:r>
              <a:rPr lang="zh-CN" altLang="en-US" sz="2400" b="0" dirty="0">
                <a:solidFill>
                  <a:srgbClr val="003399"/>
                </a:solidFill>
                <a:latin typeface="楷体" panose="02010609060101010101" pitchFamily="49" charset="-122"/>
                <a:ea typeface="楷体" panose="02010609060101010101" pitchFamily="49" charset="-122"/>
              </a:rPr>
              <a:t>位寄存器）的内容</a:t>
            </a:r>
            <a:r>
              <a:rPr lang="en-US" altLang="zh-CN" sz="2400" b="0" dirty="0">
                <a:solidFill>
                  <a:srgbClr val="003399"/>
                </a:solidFill>
                <a:latin typeface="楷体" panose="02010609060101010101" pitchFamily="49" charset="-122"/>
                <a:ea typeface="楷体" panose="02010609060101010101" pitchFamily="49" charset="-122"/>
              </a:rPr>
              <a:t>+</a:t>
            </a:r>
            <a:r>
              <a:rPr lang="zh-CN" altLang="en-US" sz="2400" b="0" dirty="0">
                <a:solidFill>
                  <a:srgbClr val="003399"/>
                </a:solidFill>
                <a:latin typeface="楷体" panose="02010609060101010101" pitchFamily="49" charset="-122"/>
                <a:ea typeface="楷体" panose="02010609060101010101" pitchFamily="49" charset="-122"/>
              </a:rPr>
              <a:t>变量的偏移地址</a:t>
            </a:r>
            <a:r>
              <a:rPr lang="en-US" altLang="zh-CN" sz="2400" b="0" dirty="0">
                <a:solidFill>
                  <a:srgbClr val="003399"/>
                </a:solidFill>
                <a:latin typeface="楷体" panose="02010609060101010101" pitchFamily="49" charset="-122"/>
                <a:ea typeface="楷体" panose="02010609060101010101" pitchFamily="49" charset="-122"/>
              </a:rPr>
              <a:t>+</a:t>
            </a:r>
            <a:r>
              <a:rPr lang="zh-CN" altLang="en-US" sz="2400" b="0" dirty="0">
                <a:solidFill>
                  <a:srgbClr val="003399"/>
                </a:solidFill>
                <a:latin typeface="楷体" panose="02010609060101010101" pitchFamily="49" charset="-122"/>
                <a:ea typeface="楷体" panose="02010609060101010101" pitchFamily="49" charset="-122"/>
              </a:rPr>
              <a:t>常量</a:t>
            </a:r>
            <a:endParaRPr lang="en-US" altLang="zh-CN" sz="2400" b="0" dirty="0">
              <a:solidFill>
                <a:srgbClr val="003399"/>
              </a:solidFill>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段基址：</a:t>
            </a:r>
            <a:r>
              <a:rPr lang="zh-CN" altLang="en-US" sz="2400" b="0" dirty="0">
                <a:latin typeface="楷体" panose="02010609060101010101" pitchFamily="49" charset="-122"/>
                <a:ea typeface="楷体" panose="02010609060101010101" pitchFamily="49" charset="-122"/>
              </a:rPr>
              <a:t>由变量和基址寄存器确定在哪个段寄存器中；</a:t>
            </a:r>
            <a:r>
              <a:rPr lang="zh-CN" altLang="en-US" sz="2400" b="0" dirty="0">
                <a:solidFill>
                  <a:srgbClr val="FF3399"/>
                </a:solidFill>
                <a:latin typeface="楷体" panose="02010609060101010101" pitchFamily="49" charset="-122"/>
                <a:ea typeface="楷体" panose="02010609060101010101" pitchFamily="49" charset="-122"/>
              </a:rPr>
              <a:t>若表达式中含有变量名，则段基址由变量名确定；</a:t>
            </a:r>
            <a:r>
              <a:rPr lang="zh-CN" altLang="en-US" sz="2400" b="0" dirty="0">
                <a:solidFill>
                  <a:srgbClr val="003399"/>
                </a:solidFill>
                <a:latin typeface="楷体" panose="02010609060101010101" pitchFamily="49" charset="-122"/>
                <a:ea typeface="楷体" panose="02010609060101010101" pitchFamily="49" charset="-122"/>
              </a:rPr>
              <a:t>若无变量名，段基址的确定同间址</a:t>
            </a:r>
            <a:r>
              <a:rPr lang="zh-CN" altLang="en-US" sz="2400" b="0" dirty="0">
                <a:latin typeface="楷体" panose="02010609060101010101" pitchFamily="49" charset="-122"/>
                <a:ea typeface="楷体" panose="02010609060101010101" pitchFamily="49" charset="-122"/>
              </a:rPr>
              <a:t>（若用</a:t>
            </a:r>
            <a:r>
              <a:rPr lang="en-US" altLang="zh-CN" sz="2400" b="0" dirty="0">
                <a:latin typeface="楷体" panose="02010609060101010101" pitchFamily="49" charset="-122"/>
                <a:ea typeface="楷体" panose="02010609060101010101" pitchFamily="49" charset="-122"/>
              </a:rPr>
              <a:t>BP, EBP</a:t>
            </a:r>
            <a:r>
              <a:rPr lang="zh-CN" altLang="en-US" sz="2400" b="0" dirty="0">
                <a:latin typeface="楷体" panose="02010609060101010101" pitchFamily="49" charset="-122"/>
                <a:ea typeface="楷体" panose="02010609060101010101" pitchFamily="49" charset="-122"/>
              </a:rPr>
              <a:t>和</a:t>
            </a:r>
            <a:r>
              <a:rPr lang="en-US" altLang="zh-CN" sz="2400" b="0" dirty="0">
                <a:latin typeface="楷体" panose="02010609060101010101" pitchFamily="49" charset="-122"/>
                <a:ea typeface="楷体" panose="02010609060101010101" pitchFamily="49" charset="-122"/>
              </a:rPr>
              <a:t>ESP</a:t>
            </a:r>
            <a:r>
              <a:rPr lang="zh-CN" altLang="en-US" sz="2400" b="0" dirty="0">
                <a:latin typeface="楷体" panose="02010609060101010101" pitchFamily="49" charset="-122"/>
                <a:ea typeface="楷体" panose="02010609060101010101" pitchFamily="49" charset="-122"/>
              </a:rPr>
              <a:t>寄存器，则段基址在</a:t>
            </a:r>
            <a:r>
              <a:rPr lang="en-US" altLang="zh-CN" sz="2400" b="0" dirty="0">
                <a:latin typeface="楷体" panose="02010609060101010101" pitchFamily="49" charset="-122"/>
                <a:ea typeface="楷体" panose="02010609060101010101" pitchFamily="49" charset="-122"/>
              </a:rPr>
              <a:t>SS</a:t>
            </a:r>
            <a:r>
              <a:rPr lang="zh-CN" altLang="en-US" sz="2400" b="0" dirty="0">
                <a:latin typeface="楷体" panose="02010609060101010101" pitchFamily="49" charset="-122"/>
                <a:ea typeface="楷体" panose="02010609060101010101" pitchFamily="49" charset="-122"/>
              </a:rPr>
              <a:t>中；若用其他寄存器，段基址在</a:t>
            </a:r>
            <a:r>
              <a:rPr lang="en-US" altLang="zh-CN" sz="2400" b="0" dirty="0">
                <a:latin typeface="楷体" panose="02010609060101010101" pitchFamily="49" charset="-122"/>
                <a:ea typeface="楷体" panose="02010609060101010101" pitchFamily="49" charset="-122"/>
              </a:rPr>
              <a:t>DS</a:t>
            </a:r>
            <a:r>
              <a:rPr lang="zh-CN" altLang="en-US" sz="2400" b="0" dirty="0">
                <a:latin typeface="楷体" panose="02010609060101010101" pitchFamily="49" charset="-122"/>
                <a:ea typeface="楷体" panose="02010609060101010101" pitchFamily="49" charset="-122"/>
              </a:rPr>
              <a:t>中）。</a:t>
            </a:r>
            <a:endParaRPr lang="en-US" altLang="zh-CN" sz="2400" b="0" dirty="0">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None/>
            </a:pPr>
            <a:r>
              <a:rPr lang="zh-CN" altLang="en-US" sz="2400" b="0" dirty="0">
                <a:solidFill>
                  <a:srgbClr val="003399"/>
                </a:solidFill>
                <a:latin typeface="楷体" panose="02010609060101010101" pitchFamily="49" charset="-122"/>
                <a:ea typeface="楷体" panose="02010609060101010101" pitchFamily="49" charset="-122"/>
              </a:rPr>
              <a:t>基址寄存器</a:t>
            </a:r>
            <a:r>
              <a:rPr lang="en-US" altLang="zh-CN" sz="2400" b="0" dirty="0">
                <a:solidFill>
                  <a:srgbClr val="003399"/>
                </a:solidFill>
                <a:latin typeface="楷体" panose="02010609060101010101" pitchFamily="49" charset="-122"/>
                <a:ea typeface="楷体" panose="02010609060101010101" pitchFamily="49" charset="-122"/>
              </a:rPr>
              <a:t>: </a:t>
            </a:r>
            <a:r>
              <a:rPr lang="en-US" altLang="zh-CN" sz="2400" b="0" dirty="0">
                <a:solidFill>
                  <a:srgbClr val="FF0000"/>
                </a:solidFill>
                <a:latin typeface="楷体" panose="02010609060101010101" pitchFamily="49" charset="-122"/>
                <a:ea typeface="楷体" panose="02010609060101010101" pitchFamily="49" charset="-122"/>
              </a:rPr>
              <a:t>BX</a:t>
            </a:r>
            <a:r>
              <a:rPr lang="zh-CN" altLang="en-US" sz="2400" b="0" dirty="0">
                <a:solidFill>
                  <a:srgbClr val="FF0000"/>
                </a:solidFill>
                <a:latin typeface="楷体" panose="02010609060101010101" pitchFamily="49" charset="-122"/>
                <a:ea typeface="楷体" panose="02010609060101010101" pitchFamily="49" charset="-122"/>
              </a:rPr>
              <a:t>或</a:t>
            </a:r>
            <a:r>
              <a:rPr lang="en-US" altLang="zh-CN" sz="2400" b="0" dirty="0">
                <a:solidFill>
                  <a:srgbClr val="FF0000"/>
                </a:solidFill>
                <a:latin typeface="楷体" panose="02010609060101010101" pitchFamily="49" charset="-122"/>
                <a:ea typeface="楷体" panose="02010609060101010101" pitchFamily="49" charset="-122"/>
              </a:rPr>
              <a:t>BP</a:t>
            </a:r>
            <a:r>
              <a:rPr lang="zh-CN" altLang="en-US" sz="2400" b="0" dirty="0">
                <a:latin typeface="楷体" panose="02010609060101010101" pitchFamily="49" charset="-122"/>
                <a:ea typeface="楷体" panose="02010609060101010101" pitchFamily="49" charset="-122"/>
              </a:rPr>
              <a:t>或</a:t>
            </a:r>
            <a:r>
              <a:rPr lang="en-US" altLang="zh-CN" sz="2400" b="0" dirty="0">
                <a:latin typeface="楷体" panose="02010609060101010101" pitchFamily="49" charset="-122"/>
                <a:ea typeface="楷体" panose="02010609060101010101" pitchFamily="49" charset="-122"/>
              </a:rPr>
              <a:t>32</a:t>
            </a:r>
            <a:r>
              <a:rPr lang="zh-CN" altLang="en-US" sz="2400" b="0" dirty="0">
                <a:latin typeface="楷体" panose="02010609060101010101" pitchFamily="49" charset="-122"/>
                <a:ea typeface="楷体" panose="02010609060101010101" pitchFamily="49" charset="-122"/>
              </a:rPr>
              <a:t>位的寄存器</a:t>
            </a:r>
          </a:p>
          <a:p>
            <a:pPr eaLnBrk="1" hangingPunct="1">
              <a:lnSpc>
                <a:spcPct val="125000"/>
              </a:lnSpc>
              <a:spcBef>
                <a:spcPct val="0"/>
              </a:spcBef>
              <a:buFont typeface="Arial" panose="020B0604020202020204" pitchFamily="34" charset="0"/>
              <a:buNone/>
            </a:pPr>
            <a:r>
              <a:rPr lang="zh-CN" altLang="en-US" sz="2400" b="0" dirty="0">
                <a:solidFill>
                  <a:srgbClr val="FF0066"/>
                </a:solidFill>
                <a:latin typeface="楷体" panose="02010609060101010101" pitchFamily="49" charset="-122"/>
                <a:ea typeface="楷体" panose="02010609060101010101" pitchFamily="49" charset="-122"/>
              </a:rPr>
              <a:t>地址表达式的形式：</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变量名</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基址寄存器</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常量</a:t>
            </a:r>
            <a:r>
              <a:rPr lang="en-US" altLang="zh-CN" sz="2400" b="0" dirty="0">
                <a:latin typeface="楷体" panose="02010609060101010101" pitchFamily="49" charset="-122"/>
                <a:ea typeface="楷体" panose="02010609060101010101" pitchFamily="49" charset="-122"/>
              </a:rPr>
              <a:t>] or </a:t>
            </a:r>
            <a:r>
              <a:rPr lang="zh-CN" altLang="en-US" sz="2400" b="0" dirty="0">
                <a:latin typeface="楷体" panose="02010609060101010101" pitchFamily="49" charset="-122"/>
                <a:ea typeface="楷体" panose="02010609060101010101" pitchFamily="49" charset="-122"/>
              </a:rPr>
              <a:t>变量名</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基</a:t>
            </a:r>
            <a:r>
              <a:rPr lang="zh-CN" altLang="zh-CN" sz="2400" b="0" dirty="0">
                <a:latin typeface="楷体" panose="02010609060101010101" pitchFamily="49" charset="-122"/>
                <a:ea typeface="楷体" panose="02010609060101010101" pitchFamily="49" charset="-122"/>
              </a:rPr>
              <a:t>址寄存器</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常量</a:t>
            </a:r>
            <a:r>
              <a:rPr lang="en-US" altLang="zh-CN" sz="2400" b="0" dirty="0">
                <a:latin typeface="楷体" panose="02010609060101010101" pitchFamily="49" charset="-122"/>
                <a:ea typeface="楷体" panose="02010609060101010101" pitchFamily="49" charset="-122"/>
              </a:rPr>
              <a:t>]</a:t>
            </a:r>
          </a:p>
          <a:p>
            <a:pPr eaLnBrk="1" hangingPunct="1">
              <a:spcBef>
                <a:spcPct val="0"/>
              </a:spcBef>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  MOV  BL, 2[BX]</a:t>
            </a:r>
            <a:r>
              <a:rPr lang="zh-CN" altLang="en-US" sz="2400" b="0" dirty="0">
                <a:solidFill>
                  <a:srgbClr val="000099"/>
                </a:solidFill>
                <a:latin typeface="楷体" panose="02010609060101010101" pitchFamily="49" charset="-122"/>
                <a:ea typeface="楷体" panose="02010609060101010101" pitchFamily="49" charset="-122"/>
              </a:rPr>
              <a:t> 或 </a:t>
            </a:r>
            <a:r>
              <a:rPr lang="en-US" altLang="zh-CN" sz="2400" b="0" dirty="0">
                <a:solidFill>
                  <a:srgbClr val="000099"/>
                </a:solidFill>
                <a:latin typeface="楷体" panose="02010609060101010101" pitchFamily="49" charset="-122"/>
                <a:ea typeface="楷体" panose="02010609060101010101" pitchFamily="49" charset="-122"/>
              </a:rPr>
              <a:t>MOV  BL, [BX+2]; (DS:[BX+2])</a:t>
            </a:r>
            <a:r>
              <a:rPr lang="en-US" altLang="zh-CN" sz="2400" b="0" dirty="0">
                <a:solidFill>
                  <a:srgbClr val="000099"/>
                </a:solidFill>
                <a:latin typeface="楷体" panose="02010609060101010101" pitchFamily="49" charset="-122"/>
                <a:ea typeface="楷体" panose="02010609060101010101" pitchFamily="49" charset="-122"/>
                <a:sym typeface="Wingdings" panose="05000000000000000000" pitchFamily="2" charset="2"/>
              </a:rPr>
              <a:t>→BL</a:t>
            </a:r>
            <a:endParaRPr lang="en-US" altLang="zh-CN" sz="2400" b="0" dirty="0">
              <a:solidFill>
                <a:srgbClr val="000099"/>
              </a:solidFill>
              <a:latin typeface="楷体" panose="02010609060101010101" pitchFamily="49" charset="-122"/>
              <a:ea typeface="楷体" panose="02010609060101010101" pitchFamily="49" charset="-122"/>
            </a:endParaRPr>
          </a:p>
          <a:p>
            <a:pPr eaLnBrk="1" hangingPunct="1">
              <a:lnSpc>
                <a:spcPct val="120000"/>
              </a:lnSpc>
              <a:spcBef>
                <a:spcPct val="50000"/>
              </a:spcBef>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 </a:t>
            </a:r>
            <a:r>
              <a:rPr lang="zh-CN" altLang="en-US" sz="2400" b="0" dirty="0">
                <a:solidFill>
                  <a:srgbClr val="000099"/>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MOV  6[BP], AX</a:t>
            </a:r>
            <a:r>
              <a:rPr lang="zh-CN" altLang="en-US" sz="2400" b="0" dirty="0">
                <a:solidFill>
                  <a:srgbClr val="000099"/>
                </a:solidFill>
                <a:latin typeface="楷体" panose="02010609060101010101" pitchFamily="49" charset="-122"/>
                <a:ea typeface="楷体" panose="02010609060101010101" pitchFamily="49" charset="-122"/>
              </a:rPr>
              <a:t> 或 </a:t>
            </a:r>
            <a:r>
              <a:rPr lang="en-US" altLang="zh-CN" sz="2400" b="0" dirty="0">
                <a:solidFill>
                  <a:srgbClr val="000099"/>
                </a:solidFill>
                <a:latin typeface="楷体" panose="02010609060101010101" pitchFamily="49" charset="-122"/>
                <a:ea typeface="楷体" panose="02010609060101010101" pitchFamily="49" charset="-122"/>
              </a:rPr>
              <a:t>MOV  [BP+6], AX; </a:t>
            </a:r>
            <a:r>
              <a:rPr lang="en-US" altLang="zh-CN" sz="2400" b="0" dirty="0">
                <a:solidFill>
                  <a:srgbClr val="000099"/>
                </a:solidFill>
                <a:latin typeface="楷体" panose="02010609060101010101" pitchFamily="49" charset="-122"/>
                <a:ea typeface="楷体" panose="02010609060101010101" pitchFamily="49" charset="-122"/>
                <a:sym typeface="Wingdings" panose="05000000000000000000" pitchFamily="2" charset="2"/>
              </a:rPr>
              <a:t>AX→</a:t>
            </a:r>
            <a:r>
              <a:rPr lang="en-US" altLang="zh-CN" sz="2400" b="0" dirty="0">
                <a:solidFill>
                  <a:srgbClr val="000099"/>
                </a:solidFill>
                <a:latin typeface="楷体" panose="02010609060101010101" pitchFamily="49" charset="-122"/>
                <a:ea typeface="楷体" panose="02010609060101010101" pitchFamily="49" charset="-122"/>
              </a:rPr>
              <a:t>SS:[BP+6]</a:t>
            </a:r>
          </a:p>
        </p:txBody>
      </p:sp>
      <p:sp>
        <p:nvSpPr>
          <p:cNvPr id="3" name="Rectangle 57"/>
          <p:cNvSpPr>
            <a:spLocks noChangeArrowheads="1"/>
          </p:cNvSpPr>
          <p:nvPr/>
        </p:nvSpPr>
        <p:spPr bwMode="auto">
          <a:xfrm>
            <a:off x="0" y="1032984"/>
            <a:ext cx="8929688"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p>
            <a:pPr>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5.  </a:t>
            </a:r>
            <a:r>
              <a:rPr lang="zh-CN" altLang="en-US" sz="2800" dirty="0">
                <a:solidFill>
                  <a:srgbClr val="FF0000"/>
                </a:solidFill>
                <a:latin typeface="楷体" panose="02010609060101010101" pitchFamily="49" charset="-122"/>
                <a:ea typeface="楷体" panose="02010609060101010101" pitchFamily="49" charset="-122"/>
              </a:rPr>
              <a:t>基址寻址</a:t>
            </a:r>
            <a:r>
              <a:rPr lang="zh-CN" altLang="en-US" sz="2800" dirty="0">
                <a:latin typeface="楷体" panose="02010609060101010101" pitchFamily="49" charset="-122"/>
                <a:ea typeface="楷体" panose="02010609060101010101" pitchFamily="49" charset="-122"/>
              </a:rPr>
              <a:t>：操作数据在存储器中</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03878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7D40E9F8-EA78-4F03-BCF9-436A165F965A}"/>
              </a:ext>
            </a:extLst>
          </p:cNvPr>
          <p:cNvSpPr>
            <a:spLocks noChangeArrowheads="1"/>
          </p:cNvSpPr>
          <p:nvPr/>
        </p:nvSpPr>
        <p:spPr bwMode="auto">
          <a:xfrm>
            <a:off x="543372" y="1132412"/>
            <a:ext cx="8137525" cy="4789487"/>
          </a:xfrm>
          <a:prstGeom prst="rect">
            <a:avLst/>
          </a:prstGeom>
          <a:noFill/>
          <a:ln w="9525">
            <a:noFill/>
            <a:miter lim="800000"/>
          </a:ln>
        </p:spPr>
        <p:txBody>
          <a:bodyPr>
            <a:spAutoFit/>
          </a:bodyPr>
          <a:lstStyle/>
          <a:p>
            <a:pPr eaLnBrk="1" hangingPunct="1">
              <a:lnSpc>
                <a:spcPct val="125000"/>
              </a:lnSpc>
              <a:defRPr/>
            </a:pPr>
            <a:r>
              <a:rPr lang="zh-CN" altLang="en-US" sz="2400" b="0" dirty="0">
                <a:solidFill>
                  <a:srgbClr val="00B0F0"/>
                </a:solidFill>
                <a:latin typeface="楷体" panose="02010609060101010101" pitchFamily="49" charset="-122"/>
                <a:ea typeface="楷体" panose="02010609060101010101" pitchFamily="49" charset="-122"/>
                <a:cs typeface="Times New Roman" pitchFamily="18" charset="0"/>
              </a:rPr>
              <a:t>例如：</a:t>
            </a:r>
            <a:r>
              <a:rPr lang="en-US" altLang="zh-CN" sz="2400" b="0" dirty="0">
                <a:solidFill>
                  <a:srgbClr val="00B0F0"/>
                </a:solidFill>
                <a:latin typeface="楷体" panose="02010609060101010101" pitchFamily="49" charset="-122"/>
                <a:ea typeface="楷体" panose="02010609060101010101" pitchFamily="49" charset="-122"/>
                <a:cs typeface="Times New Roman" pitchFamily="18" charset="0"/>
              </a:rPr>
              <a:t>MOV  [BX+BUF+2], AL </a:t>
            </a:r>
            <a:r>
              <a:rPr lang="zh-CN" altLang="en-US" sz="2400" b="0" dirty="0">
                <a:solidFill>
                  <a:srgbClr val="00B0F0"/>
                </a:solidFill>
                <a:latin typeface="楷体" panose="02010609060101010101" pitchFamily="49" charset="-122"/>
                <a:ea typeface="楷体" panose="02010609060101010101" pitchFamily="49" charset="-122"/>
                <a:cs typeface="Times New Roman" pitchFamily="18" charset="0"/>
              </a:rPr>
              <a:t>或</a:t>
            </a:r>
          </a:p>
          <a:p>
            <a:pPr eaLnBrk="1" hangingPunct="1">
              <a:lnSpc>
                <a:spcPct val="125000"/>
              </a:lnSpc>
              <a:defRPr/>
            </a:pPr>
            <a:r>
              <a:rPr lang="en-US" altLang="zh-CN" sz="2400" b="0" dirty="0">
                <a:solidFill>
                  <a:srgbClr val="00B0F0"/>
                </a:solidFill>
                <a:latin typeface="楷体" panose="02010609060101010101" pitchFamily="49" charset="-122"/>
                <a:ea typeface="楷体" panose="02010609060101010101" pitchFamily="49" charset="-122"/>
                <a:cs typeface="Times New Roman" pitchFamily="18" charset="0"/>
              </a:rPr>
              <a:t>      MOV  BUF[BX+2], AL </a:t>
            </a:r>
          </a:p>
          <a:p>
            <a:pPr marL="609600" indent="-609600" eaLnBrk="1" hangingPunct="1">
              <a:lnSpc>
                <a:spcPct val="125000"/>
              </a:lnSpc>
              <a:defRPr/>
            </a:pP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段基址在</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DS</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中，执行的操作是：</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sym typeface="Wingdings" pitchFamily="2" charset="2"/>
              </a:rPr>
              <a:t> AL→</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DS:[BX+BUF+2]</a:t>
            </a:r>
          </a:p>
          <a:p>
            <a:pPr marL="609600" indent="-609600" eaLnBrk="1" hangingPunct="1">
              <a:lnSpc>
                <a:spcPct val="125000"/>
              </a:lnSpc>
              <a:spcAft>
                <a:spcPts val="1200"/>
              </a:spcAft>
              <a:defRPr/>
            </a:pP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若</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DS=1359H, BX=0124H,</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字节变量</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BUF</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的偏移地址</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=4</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，则该指令执行的操作是将</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AL</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中的内容送入</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136BAH</a:t>
            </a:r>
            <a:r>
              <a:rPr lang="zh-CN" altLang="en-US" sz="2400" b="0" dirty="0">
                <a:solidFill>
                  <a:schemeClr val="tx1"/>
                </a:solidFill>
                <a:latin typeface="楷体" panose="02010609060101010101" pitchFamily="49" charset="-122"/>
                <a:ea typeface="楷体" panose="02010609060101010101" pitchFamily="49" charset="-122"/>
                <a:cs typeface="Times New Roman" pitchFamily="18" charset="0"/>
              </a:rPr>
              <a:t>单元</a:t>
            </a:r>
            <a:r>
              <a:rPr lang="en-US" altLang="zh-CN" sz="2400" b="0" dirty="0">
                <a:solidFill>
                  <a:schemeClr val="tx1"/>
                </a:solidFill>
                <a:latin typeface="楷体" panose="02010609060101010101" pitchFamily="49" charset="-122"/>
                <a:ea typeface="楷体" panose="02010609060101010101" pitchFamily="49" charset="-122"/>
                <a:cs typeface="Times New Roman" pitchFamily="18" charset="0"/>
              </a:rPr>
              <a:t>.</a:t>
            </a:r>
          </a:p>
          <a:p>
            <a:pPr eaLnBrk="1" hangingPunct="1">
              <a:lnSpc>
                <a:spcPct val="125000"/>
              </a:lnSpc>
              <a:defRPr/>
            </a:pPr>
            <a:r>
              <a:rPr lang="zh-CN" altLang="en-US" sz="2400" b="0" dirty="0">
                <a:solidFill>
                  <a:srgbClr val="00B0F0"/>
                </a:solidFill>
                <a:latin typeface="楷体" panose="02010609060101010101" pitchFamily="49" charset="-122"/>
                <a:ea typeface="楷体" panose="02010609060101010101" pitchFamily="49" charset="-122"/>
                <a:cs typeface="Times New Roman" pitchFamily="18" charset="0"/>
              </a:rPr>
              <a:t>例如：</a:t>
            </a:r>
            <a:r>
              <a:rPr lang="en-US" altLang="zh-CN" sz="2400" b="0" dirty="0">
                <a:solidFill>
                  <a:srgbClr val="00B0F0"/>
                </a:solidFill>
                <a:latin typeface="楷体" panose="02010609060101010101" pitchFamily="49" charset="-122"/>
                <a:ea typeface="楷体" panose="02010609060101010101" pitchFamily="49" charset="-122"/>
                <a:cs typeface="Times New Roman" pitchFamily="18" charset="0"/>
              </a:rPr>
              <a:t>MOV  [BP+6],  AX </a:t>
            </a:r>
            <a:r>
              <a:rPr lang="zh-CN" altLang="en-US" sz="2400" b="0" dirty="0">
                <a:solidFill>
                  <a:srgbClr val="00B0F0"/>
                </a:solidFill>
                <a:latin typeface="楷体" panose="02010609060101010101" pitchFamily="49" charset="-122"/>
                <a:ea typeface="楷体" panose="02010609060101010101" pitchFamily="49" charset="-122"/>
                <a:cs typeface="Times New Roman" pitchFamily="18" charset="0"/>
              </a:rPr>
              <a:t>或 </a:t>
            </a:r>
            <a:r>
              <a:rPr lang="en-US" altLang="zh-CN" sz="2400" b="0" dirty="0">
                <a:solidFill>
                  <a:srgbClr val="00B0F0"/>
                </a:solidFill>
                <a:latin typeface="楷体" panose="02010609060101010101" pitchFamily="49" charset="-122"/>
                <a:ea typeface="楷体" panose="02010609060101010101" pitchFamily="49" charset="-122"/>
                <a:cs typeface="Times New Roman" pitchFamily="18" charset="0"/>
              </a:rPr>
              <a:t>MOV  6[BP],  AX </a:t>
            </a:r>
          </a:p>
          <a:p>
            <a:pPr marL="609600" indent="-609600" eaLnBrk="1" hangingPunct="1">
              <a:lnSpc>
                <a:spcPct val="120000"/>
              </a:lnSpc>
              <a:defRPr/>
            </a:pPr>
            <a:r>
              <a:rPr lang="zh-CN" altLang="en-US" sz="2400" b="0" dirty="0">
                <a:solidFill>
                  <a:srgbClr val="000099"/>
                </a:solidFill>
                <a:latin typeface="楷体" panose="02010609060101010101" pitchFamily="49" charset="-122"/>
                <a:ea typeface="楷体" panose="02010609060101010101" pitchFamily="49" charset="-122"/>
                <a:cs typeface="楷体_GB2312"/>
              </a:rPr>
              <a:t>段基址所在的寄存器是？</a:t>
            </a:r>
            <a:endParaRPr lang="en-US" altLang="zh-CN" sz="2400" b="0" dirty="0">
              <a:solidFill>
                <a:srgbClr val="000099"/>
              </a:solidFill>
              <a:latin typeface="楷体" panose="02010609060101010101" pitchFamily="49" charset="-122"/>
              <a:ea typeface="楷体" panose="02010609060101010101" pitchFamily="49" charset="-122"/>
              <a:cs typeface="楷体_GB2312"/>
            </a:endParaRPr>
          </a:p>
          <a:p>
            <a:pPr marL="609600" indent="-609600" eaLnBrk="1" hangingPunct="1">
              <a:lnSpc>
                <a:spcPct val="120000"/>
              </a:lnSpc>
              <a:defRPr/>
            </a:pPr>
            <a:r>
              <a:rPr lang="zh-CN" altLang="en-US" sz="2400" b="0" dirty="0">
                <a:solidFill>
                  <a:srgbClr val="000099"/>
                </a:solidFill>
                <a:latin typeface="楷体" panose="02010609060101010101" pitchFamily="49" charset="-122"/>
                <a:ea typeface="楷体" panose="02010609060101010101" pitchFamily="49" charset="-122"/>
                <a:cs typeface="楷体_GB2312"/>
              </a:rPr>
              <a:t>目的操作数的地址？</a:t>
            </a:r>
            <a:endParaRPr lang="en-US" altLang="zh-CN" sz="2400" b="0" dirty="0">
              <a:solidFill>
                <a:srgbClr val="000099"/>
              </a:solidFill>
              <a:latin typeface="楷体" panose="02010609060101010101" pitchFamily="49" charset="-122"/>
              <a:ea typeface="楷体" panose="02010609060101010101" pitchFamily="49" charset="-122"/>
              <a:cs typeface="楷体_GB2312"/>
            </a:endParaRPr>
          </a:p>
          <a:p>
            <a:pPr marL="609600" indent="-609600" eaLnBrk="1" hangingPunct="1">
              <a:lnSpc>
                <a:spcPct val="120000"/>
              </a:lnSpc>
              <a:defRPr/>
            </a:pPr>
            <a:r>
              <a:rPr lang="zh-CN" altLang="en-US" sz="2400" b="0" dirty="0">
                <a:solidFill>
                  <a:srgbClr val="000099"/>
                </a:solidFill>
                <a:latin typeface="楷体" panose="02010609060101010101" pitchFamily="49" charset="-122"/>
                <a:ea typeface="楷体" panose="02010609060101010101" pitchFamily="49" charset="-122"/>
                <a:cs typeface="楷体_GB2312"/>
              </a:rPr>
              <a:t>若</a:t>
            </a:r>
            <a:r>
              <a:rPr lang="en-US" altLang="zh-CN" sz="2400" b="0" dirty="0">
                <a:solidFill>
                  <a:srgbClr val="000099"/>
                </a:solidFill>
                <a:latin typeface="楷体" panose="02010609060101010101" pitchFamily="49" charset="-122"/>
                <a:ea typeface="楷体" panose="02010609060101010101" pitchFamily="49" charset="-122"/>
                <a:cs typeface="楷体_GB2312"/>
              </a:rPr>
              <a:t>SS=1355H, BP=0030H</a:t>
            </a:r>
            <a:r>
              <a:rPr lang="zh-CN" altLang="en-US" sz="2400" b="0" dirty="0">
                <a:solidFill>
                  <a:srgbClr val="000099"/>
                </a:solidFill>
                <a:latin typeface="楷体" panose="02010609060101010101" pitchFamily="49" charset="-122"/>
                <a:ea typeface="楷体" panose="02010609060101010101" pitchFamily="49" charset="-122"/>
                <a:cs typeface="楷体_GB2312"/>
              </a:rPr>
              <a:t>，则该操作指令是将</a:t>
            </a:r>
            <a:r>
              <a:rPr lang="zh-CN" altLang="en-US" sz="2400" b="0" u="sng" dirty="0">
                <a:solidFill>
                  <a:srgbClr val="000099"/>
                </a:solidFill>
                <a:latin typeface="楷体" panose="02010609060101010101" pitchFamily="49" charset="-122"/>
                <a:ea typeface="楷体" panose="02010609060101010101" pitchFamily="49" charset="-122"/>
                <a:cs typeface="楷体_GB2312"/>
              </a:rPr>
              <a:t>    </a:t>
            </a:r>
            <a:r>
              <a:rPr lang="zh-CN" altLang="en-US" sz="2400" b="0" dirty="0">
                <a:solidFill>
                  <a:srgbClr val="000099"/>
                </a:solidFill>
                <a:latin typeface="楷体" panose="02010609060101010101" pitchFamily="49" charset="-122"/>
                <a:ea typeface="楷体" panose="02010609060101010101" pitchFamily="49" charset="-122"/>
                <a:cs typeface="楷体_GB2312"/>
              </a:rPr>
              <a:t>中的内容送入</a:t>
            </a:r>
            <a:r>
              <a:rPr lang="zh-CN" altLang="en-US" sz="2400" b="0" u="sng" dirty="0">
                <a:solidFill>
                  <a:srgbClr val="000099"/>
                </a:solidFill>
                <a:latin typeface="楷体" panose="02010609060101010101" pitchFamily="49" charset="-122"/>
                <a:ea typeface="楷体" panose="02010609060101010101" pitchFamily="49" charset="-122"/>
                <a:cs typeface="楷体_GB2312"/>
              </a:rPr>
              <a:t>      </a:t>
            </a:r>
            <a:r>
              <a:rPr lang="zh-CN" altLang="en-US" sz="2400" b="0" dirty="0">
                <a:solidFill>
                  <a:srgbClr val="000099"/>
                </a:solidFill>
                <a:latin typeface="楷体" panose="02010609060101010101" pitchFamily="49" charset="-122"/>
                <a:ea typeface="楷体" panose="02010609060101010101" pitchFamily="49" charset="-122"/>
                <a:cs typeface="楷体_GB2312"/>
              </a:rPr>
              <a:t>单元？</a:t>
            </a:r>
          </a:p>
        </p:txBody>
      </p:sp>
    </p:spTree>
    <p:extLst>
      <p:ext uri="{BB962C8B-B14F-4D97-AF65-F5344CB8AC3E}">
        <p14:creationId xmlns:p14="http://schemas.microsoft.com/office/powerpoint/2010/main" val="1961629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517742" y="2471369"/>
            <a:ext cx="2997817"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以</a:t>
            </a:r>
            <a:r>
              <a:rPr lang="en-US" altLang="zh-CN" sz="2400" b="0" dirty="0">
                <a:latin typeface="楷体" panose="02010609060101010101" pitchFamily="49" charset="-122"/>
                <a:ea typeface="楷体" panose="02010609060101010101" pitchFamily="49" charset="-122"/>
              </a:rPr>
              <a:t>BX</a:t>
            </a:r>
            <a:r>
              <a:rPr lang="zh-CN" altLang="en-US" sz="2400" b="0" dirty="0">
                <a:latin typeface="楷体" panose="02010609060101010101" pitchFamily="49" charset="-122"/>
                <a:ea typeface="楷体" panose="02010609060101010101" pitchFamily="49" charset="-122"/>
              </a:rPr>
              <a:t>的内容作基地址，</a:t>
            </a:r>
          </a:p>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字变量</a:t>
            </a:r>
            <a:r>
              <a:rPr lang="en-US" altLang="zh-CN" sz="2400" b="0" dirty="0">
                <a:latin typeface="楷体" panose="02010609060101010101" pitchFamily="49" charset="-122"/>
                <a:ea typeface="楷体" panose="02010609060101010101" pitchFamily="49" charset="-122"/>
              </a:rPr>
              <a:t>W1</a:t>
            </a:r>
            <a:r>
              <a:rPr lang="zh-CN" altLang="en-US" sz="2400" b="0" dirty="0">
                <a:latin typeface="楷体" panose="02010609060101010101" pitchFamily="49" charset="-122"/>
                <a:ea typeface="楷体" panose="02010609060101010101" pitchFamily="49" charset="-122"/>
              </a:rPr>
              <a:t>的偏移地为</a:t>
            </a:r>
          </a:p>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位移量或者以字变量</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W1</a:t>
            </a:r>
            <a:r>
              <a:rPr lang="zh-CN" altLang="en-US" sz="2400" b="0" dirty="0">
                <a:latin typeface="楷体" panose="02010609060101010101" pitchFamily="49" charset="-122"/>
                <a:ea typeface="楷体" panose="02010609060101010101" pitchFamily="49" charset="-122"/>
              </a:rPr>
              <a:t>的偏移地址作基地</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址，</a:t>
            </a:r>
            <a:r>
              <a:rPr lang="en-US" altLang="zh-CN" sz="2400" b="0" dirty="0">
                <a:latin typeface="楷体" panose="02010609060101010101" pitchFamily="49" charset="-122"/>
                <a:ea typeface="楷体" panose="02010609060101010101" pitchFamily="49" charset="-122"/>
              </a:rPr>
              <a:t>BX</a:t>
            </a:r>
            <a:r>
              <a:rPr lang="zh-CN" altLang="en-US" sz="2400" b="0" dirty="0">
                <a:latin typeface="楷体" panose="02010609060101010101" pitchFamily="49" charset="-122"/>
                <a:ea typeface="楷体" panose="02010609060101010101" pitchFamily="49" charset="-122"/>
              </a:rPr>
              <a:t>的内容看作该</a:t>
            </a:r>
            <a:endParaRPr lang="en-US" altLang="zh-CN" sz="2400" b="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变量数据区的位移量</a:t>
            </a:r>
          </a:p>
          <a:p>
            <a:pPr eaLnBrk="1" hangingPunct="1">
              <a:lnSpc>
                <a:spcPct val="150000"/>
              </a:lnSpc>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所以</a:t>
            </a:r>
            <a:r>
              <a:rPr lang="en-US" altLang="zh-CN" sz="2400" b="0" dirty="0">
                <a:latin typeface="楷体" panose="02010609060101010101" pitchFamily="49" charset="-122"/>
                <a:ea typeface="楷体" panose="02010609060101010101" pitchFamily="49" charset="-122"/>
              </a:rPr>
              <a:t> AL=19H</a:t>
            </a:r>
          </a:p>
        </p:txBody>
      </p:sp>
      <p:graphicFrame>
        <p:nvGraphicFramePr>
          <p:cNvPr id="3" name="Object 8"/>
          <p:cNvGraphicFramePr>
            <a:graphicFrameLocks/>
          </p:cNvGraphicFramePr>
          <p:nvPr>
            <p:extLst>
              <p:ext uri="{D42A27DB-BD31-4B8C-83A1-F6EECF244321}">
                <p14:modId xmlns:p14="http://schemas.microsoft.com/office/powerpoint/2010/main" val="2573585504"/>
              </p:ext>
            </p:extLst>
          </p:nvPr>
        </p:nvGraphicFramePr>
        <p:xfrm>
          <a:off x="3737284" y="2604709"/>
          <a:ext cx="5076825" cy="3703637"/>
        </p:xfrm>
        <a:graphic>
          <a:graphicData uri="http://schemas.openxmlformats.org/presentationml/2006/ole">
            <mc:AlternateContent xmlns:mc="http://schemas.openxmlformats.org/markup-compatibility/2006">
              <mc:Choice xmlns:v="urn:schemas-microsoft-com:vml" Requires="v">
                <p:oleObj r:id="rId2" imgW="3029373" imgH="2209524" progId="PBrush">
                  <p:embed/>
                </p:oleObj>
              </mc:Choice>
              <mc:Fallback>
                <p:oleObj r:id="rId2" imgW="3029373" imgH="2209524" progId="PBrush">
                  <p:embed/>
                  <p:pic>
                    <p:nvPicPr>
                      <p:cNvPr id="47107"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284" y="2604709"/>
                        <a:ext cx="5076825" cy="370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Rectangle 6"/>
          <p:cNvSpPr>
            <a:spLocks noChangeArrowheads="1"/>
          </p:cNvSpPr>
          <p:nvPr/>
        </p:nvSpPr>
        <p:spPr bwMode="auto">
          <a:xfrm>
            <a:off x="517742" y="1230067"/>
            <a:ext cx="81375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b="0" dirty="0">
                <a:solidFill>
                  <a:srgbClr val="000099"/>
                </a:solidFill>
                <a:latin typeface="楷体" panose="02010609060101010101" pitchFamily="49" charset="-122"/>
                <a:ea typeface="楷体" panose="02010609060101010101" pitchFamily="49" charset="-122"/>
              </a:rPr>
              <a:t>例如：</a:t>
            </a:r>
            <a:r>
              <a:rPr lang="en-US" altLang="zh-CN" sz="2800" b="0" dirty="0">
                <a:solidFill>
                  <a:srgbClr val="000099"/>
                </a:solidFill>
                <a:latin typeface="楷体" panose="02010609060101010101" pitchFamily="49" charset="-122"/>
                <a:ea typeface="楷体" panose="02010609060101010101" pitchFamily="49" charset="-122"/>
              </a:rPr>
              <a:t>MOV  AL,  BYTE  PTR  [BX+W1]  </a:t>
            </a:r>
            <a:r>
              <a:rPr lang="zh-CN" altLang="en-US" sz="2800" b="0" dirty="0">
                <a:solidFill>
                  <a:srgbClr val="000099"/>
                </a:solidFill>
                <a:latin typeface="楷体" panose="02010609060101010101" pitchFamily="49" charset="-122"/>
                <a:ea typeface="楷体" panose="02010609060101010101" pitchFamily="49" charset="-122"/>
              </a:rPr>
              <a:t>或者</a:t>
            </a:r>
          </a:p>
          <a:p>
            <a:pPr eaLnBrk="1" hangingPunct="1">
              <a:spcBef>
                <a:spcPct val="0"/>
              </a:spcBef>
              <a:buFont typeface="Arial" panose="020B0604020202020204" pitchFamily="34" charset="0"/>
              <a:buNone/>
            </a:pPr>
            <a:r>
              <a:rPr lang="en-US" altLang="zh-CN" sz="2800" b="0" dirty="0">
                <a:solidFill>
                  <a:srgbClr val="000099"/>
                </a:solidFill>
                <a:latin typeface="楷体" panose="02010609060101010101" pitchFamily="49" charset="-122"/>
                <a:ea typeface="楷体" panose="02010609060101010101" pitchFamily="49" charset="-122"/>
              </a:rPr>
              <a:t>      MOV  AL,  BYTE </a:t>
            </a:r>
            <a:r>
              <a:rPr lang="en-US" altLang="zh-CN" sz="2800" b="0" dirty="0">
                <a:solidFill>
                  <a:schemeClr val="tx2"/>
                </a:solidFill>
                <a:latin typeface="楷体" panose="02010609060101010101" pitchFamily="49" charset="-122"/>
                <a:ea typeface="楷体" panose="02010609060101010101" pitchFamily="49" charset="-122"/>
              </a:rPr>
              <a:t> </a:t>
            </a:r>
            <a:r>
              <a:rPr lang="en-US" altLang="zh-CN" sz="2800" b="0" dirty="0">
                <a:solidFill>
                  <a:srgbClr val="000099"/>
                </a:solidFill>
                <a:latin typeface="楷体" panose="02010609060101010101" pitchFamily="49" charset="-122"/>
                <a:ea typeface="楷体" panose="02010609060101010101" pitchFamily="49" charset="-122"/>
              </a:rPr>
              <a:t>PTR  W1[BX]</a:t>
            </a:r>
            <a:r>
              <a:rPr lang="en-US" altLang="zh-CN" sz="2800" b="0" dirty="0">
                <a:solidFill>
                  <a:schemeClr val="tx2"/>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878782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35718" y="1115119"/>
            <a:ext cx="914400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p>
            <a:pPr>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6.  </a:t>
            </a:r>
            <a:r>
              <a:rPr lang="zh-CN" altLang="en-US" sz="2800" dirty="0">
                <a:solidFill>
                  <a:srgbClr val="FF0000"/>
                </a:solidFill>
                <a:latin typeface="楷体" panose="02010609060101010101" pitchFamily="49" charset="-122"/>
                <a:ea typeface="楷体" panose="02010609060101010101" pitchFamily="49" charset="-122"/>
              </a:rPr>
              <a:t>变址寻址</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操作数据在存储器中</a:t>
            </a:r>
            <a:endParaRPr lang="en-US" altLang="zh-CN" sz="2800" dirty="0">
              <a:latin typeface="楷体" panose="02010609060101010101" pitchFamily="49" charset="-122"/>
              <a:ea typeface="楷体" panose="02010609060101010101" pitchFamily="49" charset="-122"/>
            </a:endParaRPr>
          </a:p>
        </p:txBody>
      </p:sp>
      <p:sp>
        <p:nvSpPr>
          <p:cNvPr id="3" name="Rectangle 3"/>
          <p:cNvSpPr txBox="1">
            <a:spLocks noChangeArrowheads="1"/>
          </p:cNvSpPr>
          <p:nvPr/>
        </p:nvSpPr>
        <p:spPr bwMode="auto">
          <a:xfrm>
            <a:off x="250825" y="1773238"/>
            <a:ext cx="8713788"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eaLnBrk="1" hangingPunct="1">
              <a:lnSpc>
                <a:spcPct val="150000"/>
              </a:lnSpc>
              <a:buFont typeface="Arial" panose="020B0604020202020204" pitchFamily="34" charset="0"/>
              <a:buNone/>
            </a:pPr>
            <a:r>
              <a:rPr lang="zh-CN" altLang="en-US" sz="2600" b="0" dirty="0">
                <a:solidFill>
                  <a:srgbClr val="0070C0"/>
                </a:solidFill>
                <a:latin typeface="楷体" panose="02010609060101010101" pitchFamily="49" charset="-122"/>
                <a:ea typeface="楷体" panose="02010609060101010101" pitchFamily="49" charset="-122"/>
              </a:rPr>
              <a:t>偏移地址：</a:t>
            </a:r>
            <a:r>
              <a:rPr lang="zh-CN" altLang="en-US" sz="2600" b="0" dirty="0">
                <a:latin typeface="楷体" panose="02010609060101010101" pitchFamily="49" charset="-122"/>
                <a:ea typeface="楷体" panose="02010609060101010101" pitchFamily="49" charset="-122"/>
              </a:rPr>
              <a:t>变址寄存器（</a:t>
            </a:r>
            <a:r>
              <a:rPr lang="en-US" altLang="zh-CN" sz="2600" b="0" dirty="0">
                <a:solidFill>
                  <a:srgbClr val="FF0000"/>
                </a:solidFill>
                <a:latin typeface="楷体" panose="02010609060101010101" pitchFamily="49" charset="-122"/>
                <a:ea typeface="楷体" panose="02010609060101010101" pitchFamily="49" charset="-122"/>
              </a:rPr>
              <a:t>SI</a:t>
            </a:r>
            <a:r>
              <a:rPr lang="zh-CN" altLang="en-US" sz="2600" b="0" dirty="0">
                <a:solidFill>
                  <a:srgbClr val="FF0000"/>
                </a:solidFill>
                <a:latin typeface="楷体" panose="02010609060101010101" pitchFamily="49" charset="-122"/>
                <a:ea typeface="楷体" panose="02010609060101010101" pitchFamily="49" charset="-122"/>
              </a:rPr>
              <a:t>、</a:t>
            </a:r>
            <a:r>
              <a:rPr lang="en-US" altLang="zh-CN" sz="2600" b="0" dirty="0">
                <a:solidFill>
                  <a:srgbClr val="FF0000"/>
                </a:solidFill>
                <a:latin typeface="楷体" panose="02010609060101010101" pitchFamily="49" charset="-122"/>
                <a:ea typeface="楷体" panose="02010609060101010101" pitchFamily="49" charset="-122"/>
              </a:rPr>
              <a:t>DI</a:t>
            </a:r>
            <a:r>
              <a:rPr lang="zh-CN" altLang="en-US" sz="2600" b="0" dirty="0">
                <a:latin typeface="楷体" panose="02010609060101010101" pitchFamily="49" charset="-122"/>
                <a:ea typeface="楷体" panose="02010609060101010101" pitchFamily="49" charset="-122"/>
              </a:rPr>
              <a:t>或</a:t>
            </a:r>
            <a:r>
              <a:rPr lang="en-US" altLang="zh-CN" sz="2600" b="0" dirty="0">
                <a:latin typeface="楷体" panose="02010609060101010101" pitchFamily="49" charset="-122"/>
                <a:ea typeface="楷体" panose="02010609060101010101" pitchFamily="49" charset="-122"/>
              </a:rPr>
              <a:t>32</a:t>
            </a:r>
            <a:r>
              <a:rPr lang="zh-CN" altLang="en-US" sz="2600" b="0" dirty="0">
                <a:latin typeface="楷体" panose="02010609060101010101" pitchFamily="49" charset="-122"/>
                <a:ea typeface="楷体" panose="02010609060101010101" pitchFamily="49" charset="-122"/>
              </a:rPr>
              <a:t>位的寄存器）的内容</a:t>
            </a:r>
            <a:r>
              <a:rPr lang="en-US" altLang="zh-CN" sz="2600" b="0" dirty="0">
                <a:latin typeface="楷体" panose="02010609060101010101" pitchFamily="49" charset="-122"/>
                <a:ea typeface="楷体" panose="02010609060101010101" pitchFamily="49" charset="-122"/>
              </a:rPr>
              <a:t>+</a:t>
            </a:r>
            <a:r>
              <a:rPr lang="zh-CN" altLang="en-US" sz="2600" b="0" dirty="0">
                <a:latin typeface="楷体" panose="02010609060101010101" pitchFamily="49" charset="-122"/>
                <a:ea typeface="楷体" panose="02010609060101010101" pitchFamily="49" charset="-122"/>
              </a:rPr>
              <a:t>变量的偏移地址</a:t>
            </a:r>
            <a:r>
              <a:rPr lang="en-US" altLang="zh-CN" sz="2600" b="0" dirty="0">
                <a:latin typeface="楷体" panose="02010609060101010101" pitchFamily="49" charset="-122"/>
                <a:ea typeface="楷体" panose="02010609060101010101" pitchFamily="49" charset="-122"/>
              </a:rPr>
              <a:t>+</a:t>
            </a:r>
            <a:r>
              <a:rPr lang="zh-CN" altLang="en-US" sz="2600" b="0" dirty="0">
                <a:latin typeface="楷体" panose="02010609060101010101" pitchFamily="49" charset="-122"/>
                <a:ea typeface="楷体" panose="02010609060101010101" pitchFamily="49" charset="-122"/>
              </a:rPr>
              <a:t>常量。</a:t>
            </a:r>
            <a:endParaRPr lang="en-US" altLang="zh-CN" sz="2600" b="0" dirty="0">
              <a:latin typeface="楷体" panose="02010609060101010101" pitchFamily="49" charset="-122"/>
              <a:ea typeface="楷体" panose="02010609060101010101" pitchFamily="49" charset="-122"/>
            </a:endParaRPr>
          </a:p>
          <a:p>
            <a:pPr marL="0" indent="0" eaLnBrk="1" hangingPunct="1">
              <a:lnSpc>
                <a:spcPct val="150000"/>
              </a:lnSpc>
              <a:buFont typeface="Arial" panose="020B0604020202020204" pitchFamily="34" charset="0"/>
              <a:buNone/>
            </a:pPr>
            <a:r>
              <a:rPr lang="zh-CN" altLang="en-US" sz="2600" b="0" dirty="0">
                <a:solidFill>
                  <a:srgbClr val="0070C0"/>
                </a:solidFill>
                <a:latin typeface="楷体" panose="02010609060101010101" pitchFamily="49" charset="-122"/>
                <a:ea typeface="楷体" panose="02010609060101010101" pitchFamily="49" charset="-122"/>
              </a:rPr>
              <a:t>段基址</a:t>
            </a:r>
            <a:r>
              <a:rPr lang="zh-CN" altLang="en-US" sz="2600" b="0" dirty="0">
                <a:latin typeface="楷体" panose="02010609060101010101" pitchFamily="49" charset="-122"/>
                <a:ea typeface="楷体" panose="02010609060101010101" pitchFamily="49" charset="-122"/>
              </a:rPr>
              <a:t>：</a:t>
            </a:r>
            <a:r>
              <a:rPr lang="zh-CN" altLang="en-US" sz="2600" b="0" dirty="0">
                <a:solidFill>
                  <a:srgbClr val="000099"/>
                </a:solidFill>
                <a:latin typeface="楷体" panose="02010609060101010101" pitchFamily="49" charset="-122"/>
                <a:ea typeface="楷体" panose="02010609060101010101" pitchFamily="49" charset="-122"/>
              </a:rPr>
              <a:t>首先由变量确定；若无变量，则由寄存器确定，寄存器确定的原则同间址</a:t>
            </a:r>
            <a:r>
              <a:rPr lang="zh-CN" altLang="en-US" sz="2600" b="0" dirty="0">
                <a:latin typeface="楷体" panose="02010609060101010101" pitchFamily="49" charset="-122"/>
                <a:ea typeface="楷体" panose="02010609060101010101" pitchFamily="49" charset="-122"/>
              </a:rPr>
              <a:t>（若用</a:t>
            </a:r>
            <a:r>
              <a:rPr lang="en-US" altLang="zh-CN" sz="2600" b="0" dirty="0">
                <a:latin typeface="楷体" panose="02010609060101010101" pitchFamily="49" charset="-122"/>
                <a:ea typeface="楷体" panose="02010609060101010101" pitchFamily="49" charset="-122"/>
              </a:rPr>
              <a:t>BP, EBP</a:t>
            </a:r>
            <a:r>
              <a:rPr lang="zh-CN" altLang="en-US" sz="2600" b="0" dirty="0">
                <a:latin typeface="楷体" panose="02010609060101010101" pitchFamily="49" charset="-122"/>
                <a:ea typeface="楷体" panose="02010609060101010101" pitchFamily="49" charset="-122"/>
              </a:rPr>
              <a:t>和</a:t>
            </a:r>
            <a:r>
              <a:rPr lang="en-US" altLang="zh-CN" sz="2600" b="0" dirty="0">
                <a:latin typeface="楷体" panose="02010609060101010101" pitchFamily="49" charset="-122"/>
                <a:ea typeface="楷体" panose="02010609060101010101" pitchFamily="49" charset="-122"/>
              </a:rPr>
              <a:t>ESP</a:t>
            </a:r>
            <a:r>
              <a:rPr lang="zh-CN" altLang="en-US" sz="2600" b="0" dirty="0">
                <a:latin typeface="楷体" panose="02010609060101010101" pitchFamily="49" charset="-122"/>
                <a:ea typeface="楷体" panose="02010609060101010101" pitchFamily="49" charset="-122"/>
              </a:rPr>
              <a:t>寄存器，则段基址在</a:t>
            </a:r>
            <a:r>
              <a:rPr lang="en-US" altLang="zh-CN" sz="2600" b="0" dirty="0">
                <a:latin typeface="楷体" panose="02010609060101010101" pitchFamily="49" charset="-122"/>
                <a:ea typeface="楷体" panose="02010609060101010101" pitchFamily="49" charset="-122"/>
              </a:rPr>
              <a:t>SS</a:t>
            </a:r>
            <a:r>
              <a:rPr lang="zh-CN" altLang="en-US" sz="2600" b="0" dirty="0">
                <a:latin typeface="楷体" panose="02010609060101010101" pitchFamily="49" charset="-122"/>
                <a:ea typeface="楷体" panose="02010609060101010101" pitchFamily="49" charset="-122"/>
              </a:rPr>
              <a:t>中；若用其他寄存器，段基址在</a:t>
            </a:r>
            <a:r>
              <a:rPr lang="en-US" altLang="zh-CN" sz="2600" b="0" dirty="0">
                <a:latin typeface="楷体" panose="02010609060101010101" pitchFamily="49" charset="-122"/>
                <a:ea typeface="楷体" panose="02010609060101010101" pitchFamily="49" charset="-122"/>
              </a:rPr>
              <a:t>DS</a:t>
            </a:r>
            <a:r>
              <a:rPr lang="zh-CN" altLang="en-US" sz="2600" b="0" dirty="0">
                <a:latin typeface="楷体" panose="02010609060101010101" pitchFamily="49" charset="-122"/>
                <a:ea typeface="楷体" panose="02010609060101010101" pitchFamily="49" charset="-122"/>
              </a:rPr>
              <a:t>中） </a:t>
            </a:r>
            <a:r>
              <a:rPr lang="zh-CN" altLang="en-US" sz="2600" b="0" dirty="0">
                <a:solidFill>
                  <a:srgbClr val="000099"/>
                </a:solidFill>
                <a:latin typeface="楷体" panose="02010609060101010101" pitchFamily="49" charset="-122"/>
                <a:ea typeface="楷体" panose="02010609060101010101" pitchFamily="49" charset="-122"/>
              </a:rPr>
              <a:t>。</a:t>
            </a:r>
            <a:r>
              <a:rPr lang="zh-CN" altLang="en-US" sz="2600" b="0" dirty="0">
                <a:latin typeface="楷体" panose="02010609060101010101" pitchFamily="49" charset="-122"/>
                <a:ea typeface="楷体" panose="02010609060101010101" pitchFamily="49" charset="-122"/>
              </a:rPr>
              <a:t> </a:t>
            </a:r>
            <a:endParaRPr lang="en-US" altLang="zh-CN" sz="2600" b="0" dirty="0">
              <a:latin typeface="楷体" panose="02010609060101010101" pitchFamily="49" charset="-122"/>
              <a:ea typeface="楷体" panose="02010609060101010101" pitchFamily="49" charset="-122"/>
            </a:endParaRPr>
          </a:p>
          <a:p>
            <a:pPr marL="0" indent="0" eaLnBrk="1" hangingPunct="1">
              <a:lnSpc>
                <a:spcPct val="150000"/>
              </a:lnSpc>
              <a:spcBef>
                <a:spcPct val="0"/>
              </a:spcBef>
              <a:buFont typeface="Arial" panose="020B0604020202020204" pitchFamily="34" charset="0"/>
              <a:buNone/>
            </a:pPr>
            <a:r>
              <a:rPr lang="zh-CN" altLang="en-US" sz="2600" b="0" dirty="0">
                <a:solidFill>
                  <a:srgbClr val="000099"/>
                </a:solidFill>
                <a:latin typeface="楷体" panose="02010609060101010101" pitchFamily="49" charset="-122"/>
                <a:ea typeface="楷体" panose="02010609060101010101" pitchFamily="49" charset="-122"/>
              </a:rPr>
              <a:t>例：</a:t>
            </a:r>
            <a:r>
              <a:rPr lang="en-US" altLang="zh-CN" sz="2600" b="0" dirty="0">
                <a:solidFill>
                  <a:srgbClr val="000099"/>
                </a:solidFill>
                <a:latin typeface="楷体" panose="02010609060101010101" pitchFamily="49" charset="-122"/>
                <a:ea typeface="楷体" panose="02010609060101010101" pitchFamily="49" charset="-122"/>
              </a:rPr>
              <a:t>MOV  AX,  2[SI] </a:t>
            </a:r>
            <a:r>
              <a:rPr lang="zh-CN" altLang="en-US" sz="2600" b="0" dirty="0">
                <a:solidFill>
                  <a:srgbClr val="000099"/>
                </a:solidFill>
                <a:latin typeface="楷体" panose="02010609060101010101" pitchFamily="49" charset="-122"/>
                <a:ea typeface="楷体" panose="02010609060101010101" pitchFamily="49" charset="-122"/>
              </a:rPr>
              <a:t>或  </a:t>
            </a:r>
            <a:r>
              <a:rPr lang="en-US" altLang="zh-CN" sz="2600" b="0" dirty="0">
                <a:solidFill>
                  <a:srgbClr val="000099"/>
                </a:solidFill>
                <a:latin typeface="楷体" panose="02010609060101010101" pitchFamily="49" charset="-122"/>
                <a:ea typeface="楷体" panose="02010609060101010101" pitchFamily="49" charset="-122"/>
              </a:rPr>
              <a:t>MOV  AX,  [SI+2]  </a:t>
            </a:r>
          </a:p>
          <a:p>
            <a:pPr marL="0" indent="0" eaLnBrk="1" hangingPunct="1">
              <a:lnSpc>
                <a:spcPct val="150000"/>
              </a:lnSpc>
              <a:spcBef>
                <a:spcPct val="15000"/>
              </a:spcBef>
              <a:buFont typeface="Arial" panose="020B0604020202020204" pitchFamily="34" charset="0"/>
              <a:buNone/>
            </a:pPr>
            <a:r>
              <a:rPr lang="zh-CN" altLang="en-US" sz="2600" b="0" dirty="0">
                <a:solidFill>
                  <a:srgbClr val="000099"/>
                </a:solidFill>
                <a:latin typeface="楷体" panose="02010609060101010101" pitchFamily="49" charset="-122"/>
                <a:ea typeface="楷体" panose="02010609060101010101" pitchFamily="49" charset="-122"/>
              </a:rPr>
              <a:t>    执行的操作是</a:t>
            </a:r>
            <a:r>
              <a:rPr lang="en-US" altLang="zh-CN" sz="2600" b="0" dirty="0">
                <a:solidFill>
                  <a:srgbClr val="000099"/>
                </a:solidFill>
                <a:latin typeface="楷体" panose="02010609060101010101" pitchFamily="49" charset="-122"/>
                <a:ea typeface="楷体" panose="02010609060101010101" pitchFamily="49" charset="-122"/>
              </a:rPr>
              <a:t>(DS: [SI+2]) →AX</a:t>
            </a:r>
          </a:p>
        </p:txBody>
      </p:sp>
    </p:spTree>
    <p:extLst>
      <p:ext uri="{BB962C8B-B14F-4D97-AF65-F5344CB8AC3E}">
        <p14:creationId xmlns:p14="http://schemas.microsoft.com/office/powerpoint/2010/main" val="3193531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0" y="1122594"/>
            <a:ext cx="9144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p>
            <a:pPr>
              <a:lnSpc>
                <a:spcPct val="90000"/>
              </a:lnSpc>
              <a:spcBef>
                <a:spcPct val="0"/>
              </a:spcBef>
              <a:buClr>
                <a:schemeClr val="tx2"/>
              </a:buClr>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7.  </a:t>
            </a:r>
            <a:r>
              <a:rPr lang="zh-CN" altLang="en-US" sz="2800" dirty="0">
                <a:solidFill>
                  <a:srgbClr val="FF0000"/>
                </a:solidFill>
                <a:latin typeface="楷体" panose="02010609060101010101" pitchFamily="49" charset="-122"/>
                <a:ea typeface="楷体" panose="02010609060101010101" pitchFamily="49" charset="-122"/>
              </a:rPr>
              <a:t>基址变址寻址：</a:t>
            </a:r>
            <a:r>
              <a:rPr lang="zh-CN" altLang="en-US" sz="2800" dirty="0">
                <a:latin typeface="楷体" panose="02010609060101010101" pitchFamily="49" charset="-122"/>
                <a:ea typeface="楷体" panose="02010609060101010101" pitchFamily="49" charset="-122"/>
              </a:rPr>
              <a:t>操作数据在存储器中</a:t>
            </a:r>
            <a:endParaRPr lang="en-US" altLang="zh-CN" sz="2800" dirty="0">
              <a:latin typeface="楷体" panose="02010609060101010101" pitchFamily="49" charset="-122"/>
              <a:ea typeface="楷体" panose="02010609060101010101" pitchFamily="49" charset="-122"/>
            </a:endParaRPr>
          </a:p>
        </p:txBody>
      </p:sp>
      <p:sp>
        <p:nvSpPr>
          <p:cNvPr id="3" name="矩形 7"/>
          <p:cNvSpPr>
            <a:spLocks noChangeArrowheads="1"/>
          </p:cNvSpPr>
          <p:nvPr/>
        </p:nvSpPr>
        <p:spPr bwMode="auto">
          <a:xfrm>
            <a:off x="204186" y="1762357"/>
            <a:ext cx="8939814" cy="4659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buClr>
                <a:schemeClr val="tx2"/>
              </a:buClr>
              <a:buFont typeface="Arial" panose="020B0604020202020204" pitchFamily="34" charset="0"/>
              <a:buNone/>
            </a:pPr>
            <a:r>
              <a:rPr lang="zh-CN" altLang="en-US" sz="2400" b="0" dirty="0">
                <a:solidFill>
                  <a:srgbClr val="FF0000"/>
                </a:solidFill>
                <a:latin typeface="楷体" panose="02010609060101010101" pitchFamily="49" charset="-122"/>
                <a:ea typeface="楷体" panose="02010609060101010101" pitchFamily="49" charset="-122"/>
              </a:rPr>
              <a:t>偏移地址：</a:t>
            </a:r>
            <a:r>
              <a:rPr lang="zh-CN" altLang="en-US" sz="2400" b="0" dirty="0">
                <a:latin typeface="楷体" panose="02010609060101010101" pitchFamily="49" charset="-122"/>
                <a:ea typeface="楷体" panose="02010609060101010101" pitchFamily="49" charset="-122"/>
              </a:rPr>
              <a:t>是指令中给出的地址表达式的偏移地址</a:t>
            </a:r>
            <a:r>
              <a:rPr lang="en-US" altLang="zh-CN" sz="2400" b="0" dirty="0">
                <a:solidFill>
                  <a:srgbClr val="00B0F0"/>
                </a:solidFill>
                <a:latin typeface="楷体" panose="02010609060101010101" pitchFamily="49" charset="-122"/>
                <a:ea typeface="楷体" panose="02010609060101010101" pitchFamily="49" charset="-122"/>
              </a:rPr>
              <a:t>= </a:t>
            </a:r>
            <a:r>
              <a:rPr lang="zh-CN" altLang="en-US" sz="2400" b="0" dirty="0">
                <a:solidFill>
                  <a:srgbClr val="00B0F0"/>
                </a:solidFill>
                <a:latin typeface="楷体" panose="02010609060101010101" pitchFamily="49" charset="-122"/>
                <a:ea typeface="楷体" panose="02010609060101010101" pitchFamily="49" charset="-122"/>
              </a:rPr>
              <a:t>基址寄存器和变址寄存器中的内容</a:t>
            </a:r>
            <a:r>
              <a:rPr lang="en-US" altLang="zh-CN" sz="2400" b="0" dirty="0">
                <a:latin typeface="楷体" panose="02010609060101010101" pitchFamily="49" charset="-122"/>
                <a:ea typeface="楷体" panose="02010609060101010101" pitchFamily="49" charset="-122"/>
              </a:rPr>
              <a:t>+</a:t>
            </a:r>
            <a:r>
              <a:rPr lang="zh-CN" altLang="en-US" sz="2400" b="0" dirty="0">
                <a:solidFill>
                  <a:srgbClr val="00B0F0"/>
                </a:solidFill>
                <a:latin typeface="楷体" panose="02010609060101010101" pitchFamily="49" charset="-122"/>
                <a:ea typeface="楷体" panose="02010609060101010101" pitchFamily="49" charset="-122"/>
              </a:rPr>
              <a:t>变量的偏移地址</a:t>
            </a:r>
            <a:r>
              <a:rPr lang="en-US" altLang="zh-CN" sz="2400" b="0" dirty="0">
                <a:latin typeface="楷体" panose="02010609060101010101" pitchFamily="49" charset="-122"/>
                <a:ea typeface="楷体" panose="02010609060101010101" pitchFamily="49" charset="-122"/>
              </a:rPr>
              <a:t>+</a:t>
            </a:r>
            <a:r>
              <a:rPr lang="zh-CN" altLang="en-US" sz="2400" b="0" dirty="0">
                <a:solidFill>
                  <a:srgbClr val="00B0F0"/>
                </a:solidFill>
                <a:latin typeface="楷体" panose="02010609060101010101" pitchFamily="49" charset="-122"/>
                <a:ea typeface="楷体" panose="02010609060101010101" pitchFamily="49" charset="-122"/>
              </a:rPr>
              <a:t>常量</a:t>
            </a:r>
            <a:r>
              <a:rPr lang="zh-CN" altLang="en-US" sz="2400" b="0" dirty="0">
                <a:solidFill>
                  <a:schemeClr val="bg1"/>
                </a:solidFill>
                <a:latin typeface="楷体" panose="02010609060101010101" pitchFamily="49" charset="-122"/>
                <a:ea typeface="楷体" panose="02010609060101010101" pitchFamily="49" charset="-122"/>
              </a:rPr>
              <a:t>。</a:t>
            </a:r>
            <a:endParaRPr lang="en-US" altLang="zh-CN" sz="2400" b="0" dirty="0">
              <a:solidFill>
                <a:schemeClr val="bg1"/>
              </a:solidFill>
              <a:latin typeface="楷体" panose="02010609060101010101" pitchFamily="49" charset="-122"/>
              <a:ea typeface="楷体" panose="02010609060101010101" pitchFamily="49" charset="-122"/>
            </a:endParaRPr>
          </a:p>
          <a:p>
            <a:pPr eaLnBrk="1" hangingPunct="1">
              <a:lnSpc>
                <a:spcPct val="150000"/>
              </a:lnSpc>
              <a:buClr>
                <a:schemeClr val="tx2"/>
              </a:buClr>
              <a:buFont typeface="Arial" panose="020B0604020202020204" pitchFamily="34" charset="0"/>
              <a:buNone/>
            </a:pPr>
            <a:r>
              <a:rPr lang="zh-CN" altLang="en-US" sz="2400" b="0" dirty="0">
                <a:solidFill>
                  <a:srgbClr val="FF0000"/>
                </a:solidFill>
                <a:latin typeface="楷体" panose="02010609060101010101" pitchFamily="49" charset="-122"/>
                <a:ea typeface="楷体" panose="02010609060101010101" pitchFamily="49" charset="-122"/>
              </a:rPr>
              <a:t>段基址：</a:t>
            </a:r>
            <a:r>
              <a:rPr lang="zh-CN" altLang="en-US" sz="2400" b="0" dirty="0">
                <a:solidFill>
                  <a:srgbClr val="000099"/>
                </a:solidFill>
                <a:latin typeface="楷体" panose="02010609060101010101" pitchFamily="49" charset="-122"/>
                <a:ea typeface="楷体" panose="02010609060101010101" pitchFamily="49" charset="-122"/>
              </a:rPr>
              <a:t>段寄存器的确定，首先由变量确定；若无变量，则由基址寄存器确定，基</a:t>
            </a:r>
            <a:r>
              <a:rPr lang="zh-CN" altLang="zh-CN" sz="2400" b="0" dirty="0">
                <a:solidFill>
                  <a:srgbClr val="000099"/>
                </a:solidFill>
                <a:latin typeface="楷体" panose="02010609060101010101" pitchFamily="49" charset="-122"/>
                <a:ea typeface="楷体" panose="02010609060101010101" pitchFamily="49" charset="-122"/>
              </a:rPr>
              <a:t>址</a:t>
            </a:r>
            <a:r>
              <a:rPr lang="zh-CN" altLang="en-US" sz="2400" b="0" dirty="0">
                <a:solidFill>
                  <a:srgbClr val="000099"/>
                </a:solidFill>
                <a:latin typeface="楷体" panose="02010609060101010101" pitchFamily="49" charset="-122"/>
                <a:ea typeface="楷体" panose="02010609060101010101" pitchFamily="49" charset="-122"/>
              </a:rPr>
              <a:t>寄存器确定的原则同间址</a:t>
            </a:r>
            <a:r>
              <a:rPr lang="zh-CN" altLang="en-US" sz="2400" b="0" dirty="0">
                <a:latin typeface="楷体" panose="02010609060101010101" pitchFamily="49" charset="-122"/>
                <a:ea typeface="楷体" panose="02010609060101010101" pitchFamily="49" charset="-122"/>
              </a:rPr>
              <a:t>（若用</a:t>
            </a:r>
            <a:r>
              <a:rPr lang="en-US" altLang="zh-CN" sz="2400" b="0" dirty="0">
                <a:latin typeface="楷体" panose="02010609060101010101" pitchFamily="49" charset="-122"/>
                <a:ea typeface="楷体" panose="02010609060101010101" pitchFamily="49" charset="-122"/>
              </a:rPr>
              <a:t>BP, EBP</a:t>
            </a:r>
            <a:r>
              <a:rPr lang="zh-CN" altLang="en-US" sz="2400" b="0" dirty="0">
                <a:latin typeface="楷体" panose="02010609060101010101" pitchFamily="49" charset="-122"/>
                <a:ea typeface="楷体" panose="02010609060101010101" pitchFamily="49" charset="-122"/>
              </a:rPr>
              <a:t>和</a:t>
            </a:r>
            <a:r>
              <a:rPr lang="en-US" altLang="zh-CN" sz="2400" b="0" dirty="0">
                <a:latin typeface="楷体" panose="02010609060101010101" pitchFamily="49" charset="-122"/>
                <a:ea typeface="楷体" panose="02010609060101010101" pitchFamily="49" charset="-122"/>
              </a:rPr>
              <a:t>ESP</a:t>
            </a:r>
            <a:r>
              <a:rPr lang="zh-CN" altLang="en-US" sz="2400" b="0" dirty="0">
                <a:latin typeface="楷体" panose="02010609060101010101" pitchFamily="49" charset="-122"/>
                <a:ea typeface="楷体" panose="02010609060101010101" pitchFamily="49" charset="-122"/>
              </a:rPr>
              <a:t>寄存器，则段基址在</a:t>
            </a:r>
            <a:r>
              <a:rPr lang="en-US" altLang="zh-CN" sz="2400" b="0" dirty="0">
                <a:latin typeface="楷体" panose="02010609060101010101" pitchFamily="49" charset="-122"/>
                <a:ea typeface="楷体" panose="02010609060101010101" pitchFamily="49" charset="-122"/>
              </a:rPr>
              <a:t>SS</a:t>
            </a:r>
            <a:r>
              <a:rPr lang="zh-CN" altLang="en-US" sz="2400" b="0" dirty="0">
                <a:latin typeface="楷体" panose="02010609060101010101" pitchFamily="49" charset="-122"/>
                <a:ea typeface="楷体" panose="02010609060101010101" pitchFamily="49" charset="-122"/>
              </a:rPr>
              <a:t>中；若用其他寄存器，段基址在</a:t>
            </a:r>
            <a:r>
              <a:rPr lang="en-US" altLang="zh-CN" sz="2400" b="0" dirty="0">
                <a:latin typeface="楷体" panose="02010609060101010101" pitchFamily="49" charset="-122"/>
                <a:ea typeface="楷体" panose="02010609060101010101" pitchFamily="49" charset="-122"/>
              </a:rPr>
              <a:t>DS</a:t>
            </a:r>
            <a:r>
              <a:rPr lang="zh-CN" altLang="en-US" sz="2400" b="0" dirty="0">
                <a:latin typeface="楷体" panose="02010609060101010101" pitchFamily="49" charset="-122"/>
                <a:ea typeface="楷体" panose="02010609060101010101" pitchFamily="49" charset="-122"/>
              </a:rPr>
              <a:t>中）</a:t>
            </a:r>
            <a:r>
              <a:rPr lang="zh-CN" altLang="en-US" sz="2400" b="0" dirty="0">
                <a:solidFill>
                  <a:srgbClr val="000099"/>
                </a:solidFill>
                <a:latin typeface="楷体" panose="02010609060101010101" pitchFamily="49" charset="-122"/>
                <a:ea typeface="楷体" panose="02010609060101010101" pitchFamily="49" charset="-122"/>
              </a:rPr>
              <a:t>。</a:t>
            </a:r>
            <a:endParaRPr lang="en-US" altLang="zh-CN" sz="2400" b="0" dirty="0">
              <a:solidFill>
                <a:srgbClr val="FF0000"/>
              </a:solidFill>
              <a:latin typeface="楷体" panose="02010609060101010101" pitchFamily="49" charset="-122"/>
              <a:ea typeface="楷体" panose="02010609060101010101" pitchFamily="49" charset="-122"/>
            </a:endParaRPr>
          </a:p>
          <a:p>
            <a:pPr eaLnBrk="1" hangingPunct="1">
              <a:lnSpc>
                <a:spcPct val="150000"/>
              </a:lnSpc>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  MOV  AX,  4[ BX+DI] </a:t>
            </a:r>
            <a:r>
              <a:rPr lang="zh-CN" altLang="en-US" sz="2400" b="0" dirty="0">
                <a:solidFill>
                  <a:srgbClr val="000099"/>
                </a:solidFill>
                <a:latin typeface="楷体" panose="02010609060101010101" pitchFamily="49" charset="-122"/>
                <a:ea typeface="楷体" panose="02010609060101010101" pitchFamily="49" charset="-122"/>
              </a:rPr>
              <a:t>或 </a:t>
            </a:r>
            <a:r>
              <a:rPr lang="en-US" altLang="zh-CN" sz="2400" b="0" dirty="0">
                <a:solidFill>
                  <a:srgbClr val="000099"/>
                </a:solidFill>
                <a:latin typeface="楷体" panose="02010609060101010101" pitchFamily="49" charset="-122"/>
                <a:ea typeface="楷体" panose="02010609060101010101" pitchFamily="49" charset="-122"/>
              </a:rPr>
              <a:t>MOV  AX,  [BX+DI+4]</a:t>
            </a:r>
            <a:r>
              <a:rPr lang="zh-CN" altLang="en-US" sz="2400" b="0" dirty="0">
                <a:solidFill>
                  <a:srgbClr val="000099"/>
                </a:solidFill>
                <a:latin typeface="楷体" panose="02010609060101010101" pitchFamily="49" charset="-122"/>
                <a:ea typeface="楷体" panose="02010609060101010101" pitchFamily="49" charset="-122"/>
              </a:rPr>
              <a:t>      </a:t>
            </a:r>
            <a:endParaRPr lang="en-US" altLang="zh-CN" sz="2400" b="0" dirty="0">
              <a:solidFill>
                <a:srgbClr val="000099"/>
              </a:solidFill>
              <a:latin typeface="楷体" panose="02010609060101010101" pitchFamily="49" charset="-122"/>
              <a:ea typeface="楷体" panose="02010609060101010101" pitchFamily="49" charset="-122"/>
            </a:endParaRPr>
          </a:p>
          <a:p>
            <a:pPr eaLnBrk="1" hangingPunct="1">
              <a:lnSpc>
                <a:spcPct val="150000"/>
              </a:lnSpc>
              <a:buFont typeface="Arial" panose="020B0604020202020204" pitchFamily="34" charset="0"/>
              <a:buNone/>
            </a:pPr>
            <a:r>
              <a:rPr lang="en-US" altLang="zh-CN" sz="2400" b="0" dirty="0">
                <a:solidFill>
                  <a:srgbClr val="000099"/>
                </a:solidFill>
                <a:latin typeface="楷体" panose="02010609060101010101" pitchFamily="49" charset="-122"/>
                <a:ea typeface="楷体" panose="02010609060101010101" pitchFamily="49" charset="-122"/>
              </a:rPr>
              <a:t>      </a:t>
            </a:r>
            <a:r>
              <a:rPr lang="zh-CN" altLang="en-US" sz="2400" b="0" dirty="0">
                <a:solidFill>
                  <a:srgbClr val="FF0000"/>
                </a:solidFill>
                <a:latin typeface="楷体" panose="02010609060101010101" pitchFamily="49" charset="-122"/>
                <a:ea typeface="楷体" panose="02010609060101010101" pitchFamily="49" charset="-122"/>
              </a:rPr>
              <a:t>操作：</a:t>
            </a:r>
            <a:r>
              <a:rPr lang="en-US" altLang="zh-CN" sz="2400" b="0" dirty="0">
                <a:solidFill>
                  <a:srgbClr val="FF0000"/>
                </a:solidFill>
                <a:latin typeface="楷体" panose="02010609060101010101" pitchFamily="49" charset="-122"/>
                <a:ea typeface="楷体" panose="02010609060101010101" pitchFamily="49" charset="-122"/>
              </a:rPr>
              <a:t>(DS: [BX+DI+4])→AX   </a:t>
            </a:r>
            <a:endParaRPr lang="zh-CN" altLang="en-US" sz="2400" b="0" dirty="0">
              <a:solidFill>
                <a:srgbClr val="FF0000"/>
              </a:solidFill>
              <a:latin typeface="楷体" panose="02010609060101010101" pitchFamily="49" charset="-122"/>
              <a:ea typeface="楷体" panose="02010609060101010101" pitchFamily="49" charset="-122"/>
            </a:endParaRPr>
          </a:p>
          <a:p>
            <a:pPr eaLnBrk="1" hangingPunct="1">
              <a:lnSpc>
                <a:spcPct val="150000"/>
              </a:lnSpc>
              <a:spcBef>
                <a:spcPct val="0"/>
              </a:spcBef>
              <a:buFont typeface="Wingdings 2" panose="05020102010507070707" pitchFamily="18" charset="2"/>
              <a:buNone/>
            </a:pPr>
            <a:r>
              <a:rPr lang="zh-CN" altLang="en-US" sz="2400" b="0" dirty="0">
                <a:solidFill>
                  <a:schemeClr val="bg1"/>
                </a:solidFill>
                <a:latin typeface="楷体" panose="02010609060101010101" pitchFamily="49" charset="-122"/>
                <a:ea typeface="楷体" panose="02010609060101010101" pitchFamily="49" charset="-122"/>
              </a:rPr>
              <a:t>  </a:t>
            </a:r>
            <a:r>
              <a:rPr lang="en-US" altLang="zh-CN" sz="2400" b="0" dirty="0">
                <a:solidFill>
                  <a:srgbClr val="00B0F0"/>
                </a:solidFill>
                <a:latin typeface="楷体" panose="02010609060101010101" pitchFamily="49" charset="-122"/>
                <a:ea typeface="楷体" panose="02010609060101010101" pitchFamily="49" charset="-122"/>
              </a:rPr>
              <a:t>PS: </a:t>
            </a:r>
            <a:r>
              <a:rPr lang="zh-CN" altLang="en-US" sz="2400" b="0" dirty="0">
                <a:latin typeface="楷体" panose="02010609060101010101" pitchFamily="49" charset="-122"/>
                <a:ea typeface="楷体" panose="02010609060101010101" pitchFamily="49" charset="-122"/>
              </a:rPr>
              <a:t>基址寄存器和变址寄存器的位数要相同。</a:t>
            </a:r>
            <a:endParaRPr lang="zh-CN" altLang="en-US" sz="2400" b="0" dirty="0">
              <a:solidFill>
                <a:schemeClr val="bg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31299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250825" y="1214438"/>
            <a:ext cx="864235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spcAft>
                <a:spcPts val="1200"/>
              </a:spcAft>
              <a:buFont typeface="Arial" panose="020B0604020202020204" pitchFamily="34" charset="0"/>
              <a:buNone/>
            </a:pPr>
            <a:r>
              <a:rPr lang="zh-CN" altLang="en-US" sz="2400" b="0" dirty="0">
                <a:solidFill>
                  <a:srgbClr val="000000"/>
                </a:solidFill>
                <a:latin typeface="楷体" panose="02010609060101010101" pitchFamily="49" charset="-122"/>
                <a:ea typeface="楷体" panose="02010609060101010101" pitchFamily="49" charset="-122"/>
              </a:rPr>
              <a:t>    在符号指令中的基址，变址，基址变址三种寻址中，其</a:t>
            </a:r>
            <a:r>
              <a:rPr lang="zh-CN" altLang="en-US" sz="2400" b="0" dirty="0">
                <a:latin typeface="楷体" panose="02010609060101010101" pitchFamily="49" charset="-122"/>
                <a:ea typeface="楷体" panose="02010609060101010101" pitchFamily="49" charset="-122"/>
              </a:rPr>
              <a:t>位移量可以是常数或符号常量，还可以是变量名</a:t>
            </a:r>
            <a:r>
              <a:rPr lang="zh-CN" altLang="en-US" sz="2400" b="0" dirty="0">
                <a:solidFill>
                  <a:srgbClr val="000000"/>
                </a:solidFill>
                <a:latin typeface="楷体" panose="02010609060101010101" pitchFamily="49" charset="-122"/>
                <a:ea typeface="楷体" panose="02010609060101010101" pitchFamily="49" charset="-122"/>
              </a:rPr>
              <a:t>。若是变量名，它给出变量所在段的偏移地址，其意义是</a:t>
            </a:r>
            <a:r>
              <a:rPr lang="zh-CN" altLang="en-US" sz="2400" b="0" dirty="0">
                <a:solidFill>
                  <a:srgbClr val="FF0066"/>
                </a:solidFill>
                <a:latin typeface="楷体" panose="02010609060101010101" pitchFamily="49" charset="-122"/>
                <a:ea typeface="楷体" panose="02010609060101010101" pitchFamily="49" charset="-122"/>
              </a:rPr>
              <a:t>取变量单元中的数据</a:t>
            </a:r>
            <a:r>
              <a:rPr lang="zh-CN" altLang="en-US" sz="2400" b="0" dirty="0">
                <a:solidFill>
                  <a:srgbClr val="000000"/>
                </a:solidFill>
                <a:latin typeface="楷体" panose="02010609060101010101" pitchFamily="49" charset="-122"/>
                <a:ea typeface="楷体" panose="02010609060101010101" pitchFamily="49" charset="-122"/>
              </a:rPr>
              <a:t>，所以其</a:t>
            </a:r>
            <a:r>
              <a:rPr lang="zh-CN" altLang="en-US" sz="2400" b="0" dirty="0">
                <a:solidFill>
                  <a:srgbClr val="FF0066"/>
                </a:solidFill>
                <a:latin typeface="楷体" panose="02010609060101010101" pitchFamily="49" charset="-122"/>
                <a:ea typeface="楷体" panose="02010609060101010101" pitchFamily="49" charset="-122"/>
              </a:rPr>
              <a:t>类型要与另一操作数的类型一致。</a:t>
            </a:r>
            <a:endParaRPr lang="en-US" altLang="zh-CN" sz="2400" b="0" dirty="0">
              <a:solidFill>
                <a:srgbClr val="FF0066"/>
              </a:solidFill>
              <a:latin typeface="楷体" panose="02010609060101010101" pitchFamily="49" charset="-122"/>
              <a:ea typeface="楷体" panose="02010609060101010101" pitchFamily="49" charset="-122"/>
            </a:endParaRPr>
          </a:p>
          <a:p>
            <a:pPr eaLnBrk="1" hangingPunct="1">
              <a:lnSpc>
                <a:spcPct val="150000"/>
              </a:lnSpc>
              <a:spcBef>
                <a:spcPct val="0"/>
              </a:spcBef>
              <a:buFont typeface="Wingdings 2" panose="05020102010507070707" pitchFamily="18" charset="2"/>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W</a:t>
            </a:r>
            <a:r>
              <a:rPr lang="zh-CN" altLang="en-US" sz="2400" b="0" dirty="0">
                <a:solidFill>
                  <a:srgbClr val="000099"/>
                </a:solidFill>
                <a:latin typeface="楷体" panose="02010609060101010101" pitchFamily="49" charset="-122"/>
                <a:ea typeface="楷体" panose="02010609060101010101" pitchFamily="49" charset="-122"/>
              </a:rPr>
              <a:t>为一字变量，</a:t>
            </a:r>
            <a:r>
              <a:rPr lang="en-US" altLang="zh-CN" sz="2400" b="0" dirty="0">
                <a:solidFill>
                  <a:srgbClr val="000099"/>
                </a:solidFill>
                <a:latin typeface="楷体" panose="02010609060101010101" pitchFamily="49" charset="-122"/>
                <a:ea typeface="楷体" panose="02010609060101010101" pitchFamily="49" charset="-122"/>
              </a:rPr>
              <a:t>B</a:t>
            </a:r>
            <a:r>
              <a:rPr lang="zh-CN" altLang="en-US" sz="2400" b="0" dirty="0">
                <a:solidFill>
                  <a:srgbClr val="000099"/>
                </a:solidFill>
                <a:latin typeface="楷体" panose="02010609060101010101" pitchFamily="49" charset="-122"/>
                <a:ea typeface="楷体" panose="02010609060101010101" pitchFamily="49" charset="-122"/>
              </a:rPr>
              <a:t>为一字节变量，则：</a:t>
            </a:r>
          </a:p>
          <a:p>
            <a:pPr eaLnBrk="1" hangingPunct="1">
              <a:lnSpc>
                <a:spcPct val="150000"/>
              </a:lnSpc>
              <a:spcBef>
                <a:spcPct val="0"/>
              </a:spcBef>
              <a:buFont typeface="Wingdings 2" panose="05020102010507070707" pitchFamily="18" charset="2"/>
              <a:buNone/>
            </a:pPr>
            <a:r>
              <a:rPr lang="zh-CN" altLang="en-US" sz="2400" b="0" dirty="0">
                <a:solidFill>
                  <a:srgbClr val="0070C0"/>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MOV  AL,  W[BX]     </a:t>
            </a:r>
            <a:r>
              <a:rPr lang="en-US" altLang="zh-CN" sz="2400" b="0" dirty="0">
                <a:solidFill>
                  <a:srgbClr val="FF0066"/>
                </a:solidFill>
                <a:latin typeface="楷体" panose="02010609060101010101" pitchFamily="49" charset="-122"/>
                <a:ea typeface="楷体" panose="02010609060101010101" pitchFamily="49" charset="-122"/>
              </a:rPr>
              <a:t>╳</a:t>
            </a:r>
            <a:r>
              <a:rPr lang="en-US" altLang="zh-CN" sz="2400" b="0" dirty="0">
                <a:solidFill>
                  <a:schemeClr val="tx2"/>
                </a:solidFill>
                <a:latin typeface="楷体" panose="02010609060101010101" pitchFamily="49" charset="-122"/>
                <a:ea typeface="楷体" panose="02010609060101010101" pitchFamily="49" charset="-122"/>
              </a:rPr>
              <a:t> </a:t>
            </a:r>
          </a:p>
          <a:p>
            <a:pPr eaLnBrk="1" hangingPunct="1">
              <a:lnSpc>
                <a:spcPct val="150000"/>
              </a:lnSpc>
              <a:spcBef>
                <a:spcPct val="0"/>
              </a:spcBef>
              <a:buFont typeface="Wingdings 2" panose="05020102010507070707" pitchFamily="18" charset="2"/>
              <a:buNone/>
            </a:pPr>
            <a:r>
              <a:rPr lang="en-US" altLang="zh-CN" sz="2400" b="0" dirty="0">
                <a:solidFill>
                  <a:srgbClr val="000099"/>
                </a:solidFill>
                <a:latin typeface="楷体" panose="02010609060101010101" pitchFamily="49" charset="-122"/>
                <a:ea typeface="楷体" panose="02010609060101010101" pitchFamily="49" charset="-122"/>
              </a:rPr>
              <a:t>    MOV  AL,  BYTE  PTR  W[BX]  √</a:t>
            </a:r>
          </a:p>
          <a:p>
            <a:pPr eaLnBrk="1" hangingPunct="1">
              <a:lnSpc>
                <a:spcPct val="150000"/>
              </a:lnSpc>
              <a:spcBef>
                <a:spcPct val="0"/>
              </a:spcBef>
              <a:buFont typeface="Wingdings 2" panose="05020102010507070707" pitchFamily="18" charset="2"/>
              <a:buNone/>
            </a:pPr>
            <a:r>
              <a:rPr lang="en-US" altLang="zh-CN" sz="2400" b="0" dirty="0">
                <a:solidFill>
                  <a:srgbClr val="0070C0"/>
                </a:solidFill>
                <a:latin typeface="楷体" panose="02010609060101010101" pitchFamily="49" charset="-122"/>
                <a:ea typeface="楷体" panose="02010609060101010101" pitchFamily="49" charset="-122"/>
              </a:rPr>
              <a:t>    </a:t>
            </a:r>
            <a:r>
              <a:rPr lang="en-US" altLang="zh-CN" sz="2400" b="0" dirty="0">
                <a:solidFill>
                  <a:srgbClr val="000099"/>
                </a:solidFill>
                <a:latin typeface="楷体" panose="02010609060101010101" pitchFamily="49" charset="-122"/>
                <a:ea typeface="楷体" panose="02010609060101010101" pitchFamily="49" charset="-122"/>
              </a:rPr>
              <a:t>MOV  AX,  </a:t>
            </a:r>
            <a:r>
              <a:rPr lang="en-US" altLang="zh-CN" sz="2400" b="0" dirty="0">
                <a:solidFill>
                  <a:srgbClr val="FF0000"/>
                </a:solidFill>
                <a:latin typeface="楷体" panose="02010609060101010101" pitchFamily="49" charset="-122"/>
                <a:ea typeface="楷体" panose="02010609060101010101" pitchFamily="49" charset="-122"/>
              </a:rPr>
              <a:t>B</a:t>
            </a:r>
            <a:r>
              <a:rPr lang="en-US" altLang="zh-CN"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B0F0"/>
                </a:solidFill>
                <a:latin typeface="楷体" panose="02010609060101010101" pitchFamily="49" charset="-122"/>
                <a:ea typeface="楷体" panose="02010609060101010101" pitchFamily="49" charset="-122"/>
              </a:rPr>
              <a:t>SI</a:t>
            </a:r>
            <a:r>
              <a:rPr lang="en-US" altLang="zh-CN" sz="2400" b="0" dirty="0">
                <a:solidFill>
                  <a:srgbClr val="000099"/>
                </a:solidFill>
                <a:latin typeface="楷体" panose="02010609060101010101" pitchFamily="49" charset="-122"/>
                <a:ea typeface="楷体" panose="02010609060101010101" pitchFamily="49" charset="-122"/>
              </a:rPr>
              <a:t>+5]     </a:t>
            </a:r>
            <a:r>
              <a:rPr lang="en-US" altLang="zh-CN" sz="2400" b="0" dirty="0">
                <a:solidFill>
                  <a:srgbClr val="FF0066"/>
                </a:solidFill>
                <a:latin typeface="楷体" panose="02010609060101010101" pitchFamily="49" charset="-122"/>
                <a:ea typeface="楷体" panose="02010609060101010101" pitchFamily="49" charset="-122"/>
              </a:rPr>
              <a:t>╳</a:t>
            </a:r>
          </a:p>
          <a:p>
            <a:pPr eaLnBrk="1" hangingPunct="1">
              <a:lnSpc>
                <a:spcPct val="150000"/>
              </a:lnSpc>
              <a:spcBef>
                <a:spcPct val="0"/>
              </a:spcBef>
              <a:buFont typeface="Wingdings 2" panose="05020102010507070707" pitchFamily="18" charset="2"/>
              <a:buNone/>
            </a:pPr>
            <a:r>
              <a:rPr lang="en-US" altLang="zh-CN" sz="2400" b="0" dirty="0">
                <a:solidFill>
                  <a:srgbClr val="000099"/>
                </a:solidFill>
                <a:latin typeface="楷体" panose="02010609060101010101" pitchFamily="49" charset="-122"/>
                <a:ea typeface="楷体" panose="02010609060101010101" pitchFamily="49" charset="-122"/>
              </a:rPr>
              <a:t>    MOV  AX,  WORD  PTR B[SI+5]  </a:t>
            </a:r>
            <a:r>
              <a:rPr lang="en-US" altLang="zh-CN" sz="2400" b="0" dirty="0">
                <a:solidFill>
                  <a:schemeClr val="tx2"/>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4026189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539750" y="2133600"/>
            <a:ext cx="8424862"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直接寻址</a:t>
            </a:r>
            <a:r>
              <a:rPr lang="en-US" altLang="zh-CN" sz="2400" b="0" dirty="0">
                <a:solidFill>
                  <a:srgbClr val="00B0F0"/>
                </a:solidFill>
                <a:latin typeface="楷体" panose="02010609060101010101" pitchFamily="49" charset="-122"/>
                <a:ea typeface="楷体" panose="02010609060101010101" pitchFamily="49" charset="-122"/>
              </a:rPr>
              <a:t>:  </a:t>
            </a:r>
            <a:r>
              <a:rPr lang="en-US" altLang="zh-CN" sz="2400" b="0" dirty="0">
                <a:latin typeface="楷体" panose="02010609060101010101" pitchFamily="49" charset="-122"/>
                <a:ea typeface="楷体" panose="02010609060101010101" pitchFamily="49" charset="-122"/>
              </a:rPr>
              <a:t>MOV  BUF+5,  35H</a:t>
            </a:r>
          </a:p>
          <a:p>
            <a:pPr eaLnBrk="1" hangingPunct="1">
              <a:lnSpc>
                <a:spcPct val="150000"/>
              </a:lnSpc>
              <a:spcBef>
                <a:spcPct val="0"/>
              </a:spcBef>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间接寻址</a:t>
            </a:r>
            <a:r>
              <a:rPr lang="en-US" altLang="zh-CN" sz="2400" b="0" dirty="0">
                <a:solidFill>
                  <a:srgbClr val="00B0F0"/>
                </a:solidFill>
                <a:latin typeface="楷体" panose="02010609060101010101" pitchFamily="49" charset="-122"/>
                <a:ea typeface="楷体" panose="02010609060101010101" pitchFamily="49" charset="-122"/>
              </a:rPr>
              <a:t>:  </a:t>
            </a:r>
            <a:r>
              <a:rPr lang="en-US" altLang="zh-CN" sz="2400" b="0" dirty="0">
                <a:latin typeface="楷体" panose="02010609060101010101" pitchFamily="49" charset="-122"/>
                <a:ea typeface="楷体" panose="02010609060101010101" pitchFamily="49" charset="-122"/>
              </a:rPr>
              <a:t>MOV  BX,  OFFSET BUF+5</a:t>
            </a:r>
          </a:p>
          <a:p>
            <a:pPr eaLnBrk="1" hangingPunct="1">
              <a:lnSpc>
                <a:spcPct val="150000"/>
              </a:lnSpc>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           MOV  BYTE  PTR [BX], 35H</a:t>
            </a:r>
            <a:endParaRPr lang="zh-CN" altLang="en-US" sz="2400" b="0" dirty="0">
              <a:latin typeface="楷体" panose="02010609060101010101" pitchFamily="49" charset="-122"/>
              <a:ea typeface="楷体" panose="02010609060101010101" pitchFamily="49" charset="-122"/>
            </a:endParaRPr>
          </a:p>
          <a:p>
            <a:pPr eaLnBrk="1" hangingPunct="1">
              <a:lnSpc>
                <a:spcPct val="150000"/>
              </a:lnSpc>
              <a:spcBef>
                <a:spcPct val="0"/>
              </a:spcBef>
              <a:buFont typeface="Arial" panose="020B0604020202020204" pitchFamily="34" charset="0"/>
              <a:buNone/>
            </a:pPr>
            <a:r>
              <a:rPr lang="zh-CN" altLang="en-US" sz="2400" b="0" dirty="0">
                <a:solidFill>
                  <a:srgbClr val="00B0F0"/>
                </a:solidFill>
                <a:latin typeface="楷体" panose="02010609060101010101" pitchFamily="49" charset="-122"/>
                <a:ea typeface="楷体" panose="02010609060101010101" pitchFamily="49" charset="-122"/>
              </a:rPr>
              <a:t>基址寻址</a:t>
            </a:r>
            <a:r>
              <a:rPr lang="en-US" altLang="zh-CN" sz="2400" b="0" dirty="0">
                <a:solidFill>
                  <a:srgbClr val="00B0F0"/>
                </a:solidFill>
                <a:latin typeface="楷体" panose="02010609060101010101" pitchFamily="49" charset="-122"/>
                <a:ea typeface="楷体" panose="02010609060101010101" pitchFamily="49" charset="-122"/>
              </a:rPr>
              <a:t>:  </a:t>
            </a:r>
            <a:r>
              <a:rPr lang="en-US" altLang="zh-CN" sz="2400" b="0" dirty="0">
                <a:latin typeface="楷体" panose="02010609060101010101" pitchFamily="49" charset="-122"/>
                <a:ea typeface="楷体" panose="02010609060101010101" pitchFamily="49" charset="-122"/>
              </a:rPr>
              <a:t>MOV  BX, 5</a:t>
            </a:r>
          </a:p>
          <a:p>
            <a:pPr eaLnBrk="1" hangingPunct="1">
              <a:lnSpc>
                <a:spcPct val="150000"/>
              </a:lnSpc>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           MOV  BUF[BX], 35H; </a:t>
            </a:r>
            <a:endParaRPr lang="zh-CN" altLang="en-US" sz="2400" b="0" dirty="0">
              <a:latin typeface="楷体" panose="02010609060101010101" pitchFamily="49" charset="-122"/>
              <a:ea typeface="楷体" panose="02010609060101010101" pitchFamily="49" charset="-122"/>
            </a:endParaRPr>
          </a:p>
        </p:txBody>
      </p:sp>
      <p:sp>
        <p:nvSpPr>
          <p:cNvPr id="3" name="矩形 1"/>
          <p:cNvSpPr>
            <a:spLocks noChangeArrowheads="1"/>
          </p:cNvSpPr>
          <p:nvPr/>
        </p:nvSpPr>
        <p:spPr bwMode="auto">
          <a:xfrm>
            <a:off x="539750" y="1273175"/>
            <a:ext cx="691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0">
                <a:solidFill>
                  <a:srgbClr val="1F497D"/>
                </a:solidFill>
                <a:latin typeface="楷体" panose="02010609060101010101" pitchFamily="49" charset="-122"/>
                <a:ea typeface="楷体" panose="02010609060101010101" pitchFamily="49" charset="-122"/>
              </a:rPr>
              <a:t> </a:t>
            </a:r>
            <a:r>
              <a:rPr lang="zh-CN" altLang="en-US" sz="2400" b="0">
                <a:solidFill>
                  <a:srgbClr val="000099"/>
                </a:solidFill>
                <a:latin typeface="楷体" panose="02010609060101010101" pitchFamily="49" charset="-122"/>
                <a:ea typeface="楷体" panose="02010609060101010101" pitchFamily="49" charset="-122"/>
              </a:rPr>
              <a:t>例：将立即数</a:t>
            </a:r>
            <a:r>
              <a:rPr lang="en-US" altLang="zh-CN" sz="2400" b="0">
                <a:solidFill>
                  <a:srgbClr val="000099"/>
                </a:solidFill>
                <a:latin typeface="楷体" panose="02010609060101010101" pitchFamily="49" charset="-122"/>
                <a:ea typeface="楷体" panose="02010609060101010101" pitchFamily="49" charset="-122"/>
              </a:rPr>
              <a:t>35H</a:t>
            </a:r>
            <a:r>
              <a:rPr lang="zh-CN" altLang="en-US" sz="2400" b="0">
                <a:solidFill>
                  <a:srgbClr val="000099"/>
                </a:solidFill>
                <a:latin typeface="楷体" panose="02010609060101010101" pitchFamily="49" charset="-122"/>
                <a:ea typeface="楷体" panose="02010609060101010101" pitchFamily="49" charset="-122"/>
              </a:rPr>
              <a:t>存入字节变量</a:t>
            </a:r>
            <a:r>
              <a:rPr lang="en-US" altLang="zh-CN" sz="2400" b="0">
                <a:solidFill>
                  <a:srgbClr val="000099"/>
                </a:solidFill>
                <a:latin typeface="楷体" panose="02010609060101010101" pitchFamily="49" charset="-122"/>
                <a:ea typeface="楷体" panose="02010609060101010101" pitchFamily="49" charset="-122"/>
              </a:rPr>
              <a:t>BUF+5</a:t>
            </a:r>
            <a:r>
              <a:rPr lang="zh-CN" altLang="en-US" sz="2400" b="0">
                <a:solidFill>
                  <a:srgbClr val="000099"/>
                </a:solidFill>
                <a:latin typeface="楷体" panose="02010609060101010101" pitchFamily="49" charset="-122"/>
                <a:ea typeface="楷体" panose="02010609060101010101" pitchFamily="49" charset="-122"/>
              </a:rPr>
              <a:t>单元中</a:t>
            </a:r>
            <a:endParaRPr lang="zh-CN" altLang="en-US" sz="280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4403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0" y="999247"/>
            <a:ext cx="9144000" cy="554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eaLnBrk="1" hangingPunct="1">
              <a:lnSpc>
                <a:spcPct val="110000"/>
              </a:lnSpc>
              <a:spcBef>
                <a:spcPct val="0"/>
              </a:spcBef>
              <a:buFont typeface="Arial" panose="020B0604020202020204" pitchFamily="34" charset="0"/>
              <a:buNone/>
            </a:pPr>
            <a:r>
              <a:rPr lang="en-US" altLang="zh-CN" sz="2200" dirty="0">
                <a:solidFill>
                  <a:schemeClr val="tx2"/>
                </a:solidFill>
                <a:latin typeface="楷体" panose="02010609060101010101" pitchFamily="49" charset="-122"/>
                <a:ea typeface="楷体" panose="02010609060101010101" pitchFamily="49" charset="-122"/>
              </a:rPr>
              <a:t>8. </a:t>
            </a:r>
            <a:r>
              <a:rPr lang="zh-CN" altLang="en-US" sz="2200" dirty="0">
                <a:solidFill>
                  <a:srgbClr val="FF0000"/>
                </a:solidFill>
                <a:latin typeface="楷体" panose="02010609060101010101" pitchFamily="49" charset="-122"/>
                <a:ea typeface="楷体" panose="02010609060101010101" pitchFamily="49" charset="-122"/>
              </a:rPr>
              <a:t>比例变址寻址</a:t>
            </a:r>
            <a:r>
              <a:rPr lang="zh-CN" altLang="en-US" sz="2200" dirty="0">
                <a:solidFill>
                  <a:srgbClr val="000099"/>
                </a:solidFill>
                <a:latin typeface="楷体" panose="02010609060101010101" pitchFamily="49" charset="-122"/>
                <a:ea typeface="楷体" panose="02010609060101010101" pitchFamily="49" charset="-122"/>
              </a:rPr>
              <a:t>：操作数据在在存储器中</a:t>
            </a:r>
            <a:endParaRPr lang="en-US" altLang="zh-CN" sz="2200" dirty="0">
              <a:solidFill>
                <a:srgbClr val="000099"/>
              </a:solidFill>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B0F0"/>
                </a:solidFill>
                <a:latin typeface="楷体" panose="02010609060101010101" pitchFamily="49" charset="-122"/>
                <a:ea typeface="楷体" panose="02010609060101010101" pitchFamily="49" charset="-122"/>
              </a:rPr>
              <a:t>偏移地址：</a:t>
            </a:r>
            <a:r>
              <a:rPr lang="zh-CN" altLang="en-US" sz="2200" b="0" dirty="0">
                <a:latin typeface="楷体" panose="02010609060101010101" pitchFamily="49" charset="-122"/>
                <a:ea typeface="楷体" panose="02010609060101010101" pitchFamily="49" charset="-122"/>
              </a:rPr>
              <a:t>指令中给出的含有变址寄存器</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比例因子的</a:t>
            </a:r>
            <a:r>
              <a:rPr lang="zh-CN" altLang="en-US" sz="2200" b="0" dirty="0">
                <a:solidFill>
                  <a:srgbClr val="00B0F0"/>
                </a:solidFill>
                <a:latin typeface="楷体" panose="02010609060101010101" pitchFamily="49" charset="-122"/>
                <a:ea typeface="楷体" panose="02010609060101010101" pitchFamily="49" charset="-122"/>
              </a:rPr>
              <a:t>地址表达式的偏移地址</a:t>
            </a:r>
            <a:r>
              <a:rPr lang="zh-CN" altLang="en-US" sz="2200" b="0" dirty="0">
                <a:latin typeface="楷体" panose="02010609060101010101" pitchFamily="49" charset="-122"/>
                <a:ea typeface="楷体" panose="02010609060101010101" pitchFamily="49" charset="-122"/>
              </a:rPr>
              <a:t>。</a:t>
            </a:r>
            <a:endParaRPr lang="en-US" altLang="zh-CN" sz="2200" b="0" dirty="0">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段基址：</a:t>
            </a:r>
            <a:r>
              <a:rPr lang="zh-CN" altLang="en-US" sz="2200" b="0" dirty="0">
                <a:latin typeface="楷体" panose="02010609060101010101" pitchFamily="49" charset="-122"/>
                <a:ea typeface="楷体" panose="02010609060101010101" pitchFamily="49" charset="-122"/>
              </a:rPr>
              <a:t>同变址寻址，即同间接寻址（若用</a:t>
            </a:r>
            <a:r>
              <a:rPr lang="en-US" altLang="zh-CN" sz="2200" b="0" dirty="0">
                <a:latin typeface="楷体" panose="02010609060101010101" pitchFamily="49" charset="-122"/>
                <a:ea typeface="楷体" panose="02010609060101010101" pitchFamily="49" charset="-122"/>
              </a:rPr>
              <a:t>BP, EBP</a:t>
            </a:r>
            <a:r>
              <a:rPr lang="zh-CN" altLang="en-US" sz="2200" b="0" dirty="0">
                <a:latin typeface="楷体" panose="02010609060101010101" pitchFamily="49" charset="-122"/>
                <a:ea typeface="楷体" panose="02010609060101010101" pitchFamily="49" charset="-122"/>
              </a:rPr>
              <a:t>和</a:t>
            </a:r>
            <a:r>
              <a:rPr lang="en-US" altLang="zh-CN" sz="2200" b="0" dirty="0">
                <a:latin typeface="楷体" panose="02010609060101010101" pitchFamily="49" charset="-122"/>
                <a:ea typeface="楷体" panose="02010609060101010101" pitchFamily="49" charset="-122"/>
              </a:rPr>
              <a:t>ESP</a:t>
            </a:r>
            <a:r>
              <a:rPr lang="zh-CN" altLang="en-US" sz="2200" b="0" dirty="0">
                <a:latin typeface="楷体" panose="02010609060101010101" pitchFamily="49" charset="-122"/>
                <a:ea typeface="楷体" panose="02010609060101010101" pitchFamily="49" charset="-122"/>
              </a:rPr>
              <a:t>寄存器，则段基址在</a:t>
            </a:r>
            <a:r>
              <a:rPr lang="en-US" altLang="zh-CN" sz="2200" b="0" dirty="0">
                <a:latin typeface="楷体" panose="02010609060101010101" pitchFamily="49" charset="-122"/>
                <a:ea typeface="楷体" panose="02010609060101010101" pitchFamily="49" charset="-122"/>
              </a:rPr>
              <a:t>SS</a:t>
            </a:r>
            <a:r>
              <a:rPr lang="zh-CN" altLang="en-US" sz="2200" b="0" dirty="0">
                <a:latin typeface="楷体" panose="02010609060101010101" pitchFamily="49" charset="-122"/>
                <a:ea typeface="楷体" panose="02010609060101010101" pitchFamily="49" charset="-122"/>
              </a:rPr>
              <a:t>中；若用其他寄存器，段基址在</a:t>
            </a:r>
            <a:r>
              <a:rPr lang="en-US" altLang="zh-CN" sz="2200" b="0" dirty="0">
                <a:latin typeface="楷体" panose="02010609060101010101" pitchFamily="49" charset="-122"/>
                <a:ea typeface="楷体" panose="02010609060101010101" pitchFamily="49" charset="-122"/>
              </a:rPr>
              <a:t>DS</a:t>
            </a:r>
            <a:r>
              <a:rPr lang="zh-CN" altLang="en-US" sz="2200" b="0" dirty="0">
                <a:latin typeface="楷体" panose="02010609060101010101" pitchFamily="49" charset="-122"/>
                <a:ea typeface="楷体" panose="02010609060101010101" pitchFamily="49" charset="-122"/>
              </a:rPr>
              <a:t>中）</a:t>
            </a:r>
            <a:endParaRPr lang="en-US" altLang="zh-CN" sz="2200" b="0" dirty="0">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比例因子：</a:t>
            </a:r>
            <a:r>
              <a:rPr lang="zh-CN" altLang="en-US" sz="2200" b="0" dirty="0">
                <a:latin typeface="楷体" panose="02010609060101010101" pitchFamily="49" charset="-122"/>
                <a:ea typeface="楷体" panose="02010609060101010101" pitchFamily="49" charset="-122"/>
              </a:rPr>
              <a:t>只能为</a:t>
            </a:r>
            <a:r>
              <a:rPr lang="en-US" altLang="zh-CN" sz="2200" b="0" dirty="0">
                <a:latin typeface="楷体" panose="02010609060101010101" pitchFamily="49" charset="-122"/>
                <a:ea typeface="楷体" panose="02010609060101010101" pitchFamily="49" charset="-122"/>
              </a:rPr>
              <a:t>1, 2, 4, 8</a:t>
            </a:r>
          </a:p>
          <a:p>
            <a:pPr marL="0" indent="0" eaLnBrk="1" hangingPunct="1">
              <a:lnSpc>
                <a:spcPct val="110000"/>
              </a:lnSpc>
              <a:spcBef>
                <a:spcPct val="0"/>
              </a:spcBef>
              <a:spcAft>
                <a:spcPts val="1200"/>
              </a:spcAft>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如：</a:t>
            </a:r>
            <a:r>
              <a:rPr lang="en-US" altLang="zh-CN" sz="2200" b="0" dirty="0">
                <a:solidFill>
                  <a:srgbClr val="000099"/>
                </a:solidFill>
                <a:latin typeface="楷体" panose="02010609060101010101" pitchFamily="49" charset="-122"/>
                <a:ea typeface="楷体" panose="02010609060101010101" pitchFamily="49" charset="-122"/>
              </a:rPr>
              <a:t>MOV EBX, [ESI ×4]</a:t>
            </a:r>
          </a:p>
          <a:p>
            <a:pPr marL="0" indent="0" eaLnBrk="1" hangingPunct="1">
              <a:lnSpc>
                <a:spcPct val="110000"/>
              </a:lnSpc>
              <a:spcBef>
                <a:spcPct val="0"/>
              </a:spcBef>
              <a:buFont typeface="Arial" panose="020B0604020202020204" pitchFamily="34" charset="0"/>
              <a:buNone/>
            </a:pPr>
            <a:r>
              <a:rPr lang="en-US" altLang="zh-CN" sz="2200" dirty="0">
                <a:solidFill>
                  <a:srgbClr val="000099"/>
                </a:solidFill>
                <a:latin typeface="楷体" panose="02010609060101010101" pitchFamily="49" charset="-122"/>
                <a:ea typeface="楷体" panose="02010609060101010101" pitchFamily="49" charset="-122"/>
              </a:rPr>
              <a:t>9. </a:t>
            </a:r>
            <a:r>
              <a:rPr lang="zh-CN" altLang="en-US" sz="2200" dirty="0">
                <a:solidFill>
                  <a:srgbClr val="FF0000"/>
                </a:solidFill>
                <a:latin typeface="楷体" panose="02010609060101010101" pitchFamily="49" charset="-122"/>
                <a:ea typeface="楷体" panose="02010609060101010101" pitchFamily="49" charset="-122"/>
              </a:rPr>
              <a:t>基址比例变址寻址</a:t>
            </a:r>
            <a:r>
              <a:rPr lang="zh-CN" altLang="en-US" sz="2200" dirty="0">
                <a:solidFill>
                  <a:srgbClr val="000099"/>
                </a:solidFill>
                <a:latin typeface="楷体" panose="02010609060101010101" pitchFamily="49" charset="-122"/>
                <a:ea typeface="楷体" panose="02010609060101010101" pitchFamily="49" charset="-122"/>
              </a:rPr>
              <a:t>：操作数在存储器中</a:t>
            </a:r>
            <a:endParaRPr lang="en-US" altLang="zh-CN" sz="2200" dirty="0">
              <a:solidFill>
                <a:srgbClr val="000099"/>
              </a:solidFill>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偏移地址：</a:t>
            </a:r>
            <a:r>
              <a:rPr lang="zh-CN" altLang="en-US" sz="2200" b="0" dirty="0">
                <a:latin typeface="楷体" panose="02010609060101010101" pitchFamily="49" charset="-122"/>
                <a:ea typeface="楷体" panose="02010609060101010101" pitchFamily="49" charset="-122"/>
              </a:rPr>
              <a:t>指令中给出的地址表达式（含有基址寄存器和变址寄存器</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比例因子的）的偏移地址。</a:t>
            </a:r>
            <a:endParaRPr lang="en-US" altLang="zh-CN" sz="2200" b="0" dirty="0">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段基址的确定：</a:t>
            </a:r>
            <a:r>
              <a:rPr lang="zh-CN" altLang="en-US" sz="2200" b="0" dirty="0">
                <a:latin typeface="楷体" panose="02010609060101010101" pitchFamily="49" charset="-122"/>
                <a:ea typeface="楷体" panose="02010609060101010101" pitchFamily="49" charset="-122"/>
              </a:rPr>
              <a:t>同基址变址寻址。</a:t>
            </a:r>
            <a:r>
              <a:rPr lang="zh-CN" altLang="en-US" sz="2200" b="0" dirty="0">
                <a:solidFill>
                  <a:srgbClr val="000099"/>
                </a:solidFill>
                <a:latin typeface="楷体" panose="02010609060101010101" pitchFamily="49" charset="-122"/>
                <a:ea typeface="楷体" panose="02010609060101010101" pitchFamily="49" charset="-122"/>
              </a:rPr>
              <a:t>段寄存器的确定，首先由变量确定；若无变量，则由基址寄存器确定，基</a:t>
            </a:r>
            <a:r>
              <a:rPr lang="zh-CN" altLang="zh-CN" sz="2200" b="0" dirty="0">
                <a:solidFill>
                  <a:srgbClr val="000099"/>
                </a:solidFill>
                <a:latin typeface="楷体" panose="02010609060101010101" pitchFamily="49" charset="-122"/>
                <a:ea typeface="楷体" panose="02010609060101010101" pitchFamily="49" charset="-122"/>
              </a:rPr>
              <a:t>址</a:t>
            </a:r>
            <a:r>
              <a:rPr lang="zh-CN" altLang="en-US" sz="2200" b="0" dirty="0">
                <a:solidFill>
                  <a:srgbClr val="000099"/>
                </a:solidFill>
                <a:latin typeface="楷体" panose="02010609060101010101" pitchFamily="49" charset="-122"/>
                <a:ea typeface="楷体" panose="02010609060101010101" pitchFamily="49" charset="-122"/>
              </a:rPr>
              <a:t>寄存器确定的原则同间址</a:t>
            </a:r>
            <a:r>
              <a:rPr lang="zh-CN" altLang="en-US" sz="2200" b="0" dirty="0">
                <a:latin typeface="楷体" panose="02010609060101010101" pitchFamily="49" charset="-122"/>
                <a:ea typeface="楷体" panose="02010609060101010101" pitchFamily="49" charset="-122"/>
              </a:rPr>
              <a:t>（若用</a:t>
            </a:r>
            <a:r>
              <a:rPr lang="en-US" altLang="zh-CN" sz="2200" b="0" dirty="0">
                <a:latin typeface="楷体" panose="02010609060101010101" pitchFamily="49" charset="-122"/>
                <a:ea typeface="楷体" panose="02010609060101010101" pitchFamily="49" charset="-122"/>
              </a:rPr>
              <a:t>BP, EBP</a:t>
            </a:r>
            <a:r>
              <a:rPr lang="zh-CN" altLang="en-US" sz="2200" b="0" dirty="0">
                <a:latin typeface="楷体" panose="02010609060101010101" pitchFamily="49" charset="-122"/>
                <a:ea typeface="楷体" panose="02010609060101010101" pitchFamily="49" charset="-122"/>
              </a:rPr>
              <a:t>和</a:t>
            </a:r>
            <a:r>
              <a:rPr lang="en-US" altLang="zh-CN" sz="2200" b="0" dirty="0">
                <a:latin typeface="楷体" panose="02010609060101010101" pitchFamily="49" charset="-122"/>
                <a:ea typeface="楷体" panose="02010609060101010101" pitchFamily="49" charset="-122"/>
              </a:rPr>
              <a:t>ESP</a:t>
            </a:r>
            <a:r>
              <a:rPr lang="zh-CN" altLang="en-US" sz="2200" b="0" dirty="0">
                <a:latin typeface="楷体" panose="02010609060101010101" pitchFamily="49" charset="-122"/>
                <a:ea typeface="楷体" panose="02010609060101010101" pitchFamily="49" charset="-122"/>
              </a:rPr>
              <a:t>寄存器，则段基址在</a:t>
            </a:r>
            <a:r>
              <a:rPr lang="en-US" altLang="zh-CN" sz="2200" b="0" dirty="0">
                <a:latin typeface="楷体" panose="02010609060101010101" pitchFamily="49" charset="-122"/>
                <a:ea typeface="楷体" panose="02010609060101010101" pitchFamily="49" charset="-122"/>
              </a:rPr>
              <a:t>SS</a:t>
            </a:r>
            <a:r>
              <a:rPr lang="zh-CN" altLang="en-US" sz="2200" b="0" dirty="0">
                <a:latin typeface="楷体" panose="02010609060101010101" pitchFamily="49" charset="-122"/>
                <a:ea typeface="楷体" panose="02010609060101010101" pitchFamily="49" charset="-122"/>
              </a:rPr>
              <a:t>中；若用其他寄存器，段基址在</a:t>
            </a:r>
            <a:r>
              <a:rPr lang="en-US" altLang="zh-CN" sz="2200" b="0" dirty="0">
                <a:latin typeface="楷体" panose="02010609060101010101" pitchFamily="49" charset="-122"/>
                <a:ea typeface="楷体" panose="02010609060101010101" pitchFamily="49" charset="-122"/>
              </a:rPr>
              <a:t>DS</a:t>
            </a:r>
            <a:r>
              <a:rPr lang="zh-CN" altLang="en-US" sz="2200" b="0" dirty="0">
                <a:latin typeface="楷体" panose="02010609060101010101" pitchFamily="49" charset="-122"/>
                <a:ea typeface="楷体" panose="02010609060101010101" pitchFamily="49" charset="-122"/>
              </a:rPr>
              <a:t>中）</a:t>
            </a:r>
            <a:endParaRPr lang="en-US" altLang="zh-CN" sz="2200" b="0" dirty="0">
              <a:latin typeface="楷体" panose="02010609060101010101" pitchFamily="49" charset="-122"/>
              <a:ea typeface="楷体" panose="02010609060101010101" pitchFamily="49" charset="-122"/>
            </a:endParaRPr>
          </a:p>
          <a:p>
            <a:pPr marL="0" indent="0" eaLnBrk="1" hangingPunct="1">
              <a:lnSpc>
                <a:spcPct val="110000"/>
              </a:lnSpc>
              <a:spcBef>
                <a:spcPct val="0"/>
              </a:spcBef>
              <a:buFont typeface="Arial" panose="020B0604020202020204" pitchFamily="34" charset="0"/>
              <a:buNone/>
            </a:pPr>
            <a:r>
              <a:rPr lang="zh-CN" altLang="en-US" sz="2200" b="0" dirty="0">
                <a:solidFill>
                  <a:srgbClr val="000099"/>
                </a:solidFill>
                <a:latin typeface="楷体" panose="02010609060101010101" pitchFamily="49" charset="-122"/>
                <a:ea typeface="楷体" panose="02010609060101010101" pitchFamily="49" charset="-122"/>
              </a:rPr>
              <a:t>如：</a:t>
            </a:r>
            <a:r>
              <a:rPr lang="en-US" altLang="zh-CN" sz="2200" b="0" dirty="0">
                <a:solidFill>
                  <a:srgbClr val="000099"/>
                </a:solidFill>
                <a:latin typeface="楷体" panose="02010609060101010101" pitchFamily="49" charset="-122"/>
                <a:ea typeface="楷体" panose="02010609060101010101" pitchFamily="49" charset="-122"/>
              </a:rPr>
              <a:t>MOV ECX, [EDI ×8+EAX]</a:t>
            </a:r>
            <a:endParaRPr lang="en-US" altLang="zh-CN" sz="2200" b="0" dirty="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22195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0" y="981075"/>
            <a:ext cx="91440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
                <a:schemeClr val="tx2"/>
              </a:buClr>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10. </a:t>
            </a:r>
            <a:r>
              <a:rPr lang="zh-CN" altLang="en-US" sz="2400" dirty="0">
                <a:latin typeface="楷体" panose="02010609060101010101" pitchFamily="49" charset="-122"/>
                <a:ea typeface="楷体" panose="02010609060101010101" pitchFamily="49" charset="-122"/>
              </a:rPr>
              <a:t>存储器寻址及存储器中段基址的确定</a:t>
            </a:r>
            <a:endParaRPr lang="en-US" altLang="zh-CN" sz="2400" dirty="0">
              <a:latin typeface="楷体" panose="02010609060101010101" pitchFamily="49" charset="-122"/>
              <a:ea typeface="楷体" panose="02010609060101010101" pitchFamily="49" charset="-122"/>
            </a:endParaRPr>
          </a:p>
        </p:txBody>
      </p:sp>
      <p:sp>
        <p:nvSpPr>
          <p:cNvPr id="3" name="矩形 6"/>
          <p:cNvSpPr>
            <a:spLocks noChangeArrowheads="1"/>
          </p:cNvSpPr>
          <p:nvPr/>
        </p:nvSpPr>
        <p:spPr bwMode="auto">
          <a:xfrm>
            <a:off x="84338" y="1484313"/>
            <a:ext cx="8975324" cy="53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rgbClr val="00B0F0"/>
              </a:buClr>
              <a:buSzPct val="80000"/>
              <a:buFont typeface="Arial" panose="020B0604020202020204" pitchFamily="34" charset="0"/>
              <a:buNone/>
            </a:pPr>
            <a:r>
              <a:rPr lang="en-US" altLang="zh-CN" sz="2300" b="0" dirty="0">
                <a:latin typeface="楷体" panose="02010609060101010101" pitchFamily="49" charset="-122"/>
                <a:ea typeface="楷体" panose="02010609060101010101" pitchFamily="49" charset="-122"/>
              </a:rPr>
              <a:t>(</a:t>
            </a:r>
            <a:r>
              <a:rPr lang="en-US" altLang="en-US" sz="2300" b="0" dirty="0">
                <a:latin typeface="楷体" panose="02010609060101010101" pitchFamily="49" charset="-122"/>
                <a:ea typeface="楷体" panose="02010609060101010101" pitchFamily="49" charset="-122"/>
              </a:rPr>
              <a:t>1</a:t>
            </a:r>
            <a:r>
              <a:rPr lang="en-US" altLang="zh-CN"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存储器寻址与地址表达式</a:t>
            </a:r>
          </a:p>
          <a:p>
            <a:pPr eaLnBrk="1" hangingPunct="1">
              <a:lnSpc>
                <a:spcPct val="120000"/>
              </a:lnSpc>
              <a:spcBef>
                <a:spcPct val="0"/>
              </a:spcBef>
              <a:buFont typeface="Arial" panose="020B0604020202020204" pitchFamily="34" charset="0"/>
              <a:buNone/>
            </a:pPr>
            <a:r>
              <a:rPr lang="zh-CN" altLang="en-US" sz="2300" b="0" dirty="0">
                <a:solidFill>
                  <a:srgbClr val="000099"/>
                </a:solidFill>
                <a:latin typeface="楷体" panose="02010609060101010101" pitchFamily="49" charset="-122"/>
                <a:ea typeface="楷体" panose="02010609060101010101" pitchFamily="49" charset="-122"/>
              </a:rPr>
              <a:t>地址表达式的一般形式：</a:t>
            </a:r>
          </a:p>
          <a:p>
            <a:pPr eaLnBrk="1" hangingPunct="1">
              <a:lnSpc>
                <a:spcPct val="120000"/>
              </a:lnSpc>
              <a:spcBef>
                <a:spcPct val="0"/>
              </a:spcBef>
              <a:buFont typeface="Arial" panose="020B0604020202020204" pitchFamily="34" charset="0"/>
              <a:buNone/>
            </a:pP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基址寄存器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比例因子</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 or </a:t>
            </a:r>
          </a:p>
          <a:p>
            <a:pPr eaLnBrk="1" hangingPunct="1">
              <a:lnSpc>
                <a:spcPct val="120000"/>
              </a:lnSpc>
              <a:spcBef>
                <a:spcPct val="0"/>
              </a:spcBef>
              <a:spcAft>
                <a:spcPts val="1200"/>
              </a:spcAft>
              <a:buFont typeface="Arial" panose="020B0604020202020204" pitchFamily="34" charset="0"/>
              <a:buNone/>
            </a:pPr>
            <a:r>
              <a:rPr lang="en-US" altLang="en-US" sz="2300" b="0" dirty="0">
                <a:solidFill>
                  <a:srgbClr val="FF0000"/>
                </a:solidFill>
                <a:latin typeface="楷体" panose="02010609060101010101" pitchFamily="49" charset="-122"/>
                <a:ea typeface="楷体" panose="02010609060101010101" pitchFamily="49" charset="-122"/>
              </a:rPr>
              <a:t>[</a:t>
            </a:r>
            <a:r>
              <a:rPr lang="zh-CN" altLang="en-US" sz="2300" b="0" dirty="0">
                <a:solidFill>
                  <a:srgbClr val="FF0000"/>
                </a:solidFill>
                <a:latin typeface="楷体" panose="02010609060101010101" pitchFamily="49" charset="-122"/>
                <a:ea typeface="楷体" panose="02010609060101010101" pitchFamily="49" charset="-122"/>
              </a:rPr>
              <a:t>基址寄存器</a:t>
            </a:r>
            <a:r>
              <a:rPr lang="en-US" altLang="en-US" sz="2300" b="0" dirty="0">
                <a:solidFill>
                  <a:srgbClr val="FF0000"/>
                </a:solidFill>
                <a:latin typeface="楷体" panose="02010609060101010101" pitchFamily="49" charset="-122"/>
                <a:ea typeface="楷体" panose="02010609060101010101" pitchFamily="49" charset="-122"/>
              </a:rPr>
              <a:t>+</a:t>
            </a:r>
            <a:r>
              <a:rPr lang="zh-CN" altLang="en-US" sz="2300" b="0" dirty="0">
                <a:solidFill>
                  <a:srgbClr val="FF0000"/>
                </a:solidFill>
                <a:latin typeface="楷体" panose="02010609060101010101" pitchFamily="49" charset="-122"/>
                <a:ea typeface="楷体" panose="02010609060101010101" pitchFamily="49" charset="-122"/>
              </a:rPr>
              <a:t>变址寄存器</a:t>
            </a:r>
            <a:r>
              <a:rPr lang="en-US" altLang="en-US" sz="2300" b="0" dirty="0">
                <a:solidFill>
                  <a:srgbClr val="FF0000"/>
                </a:solidFill>
                <a:latin typeface="楷体" panose="02010609060101010101" pitchFamily="49" charset="-122"/>
                <a:ea typeface="楷体" panose="02010609060101010101" pitchFamily="49" charset="-122"/>
              </a:rPr>
              <a:t>×</a:t>
            </a:r>
            <a:r>
              <a:rPr lang="zh-CN" altLang="en-US" sz="2300" b="0" dirty="0">
                <a:solidFill>
                  <a:srgbClr val="FF0000"/>
                </a:solidFill>
                <a:latin typeface="楷体" panose="02010609060101010101" pitchFamily="49" charset="-122"/>
                <a:ea typeface="楷体" panose="02010609060101010101" pitchFamily="49" charset="-122"/>
              </a:rPr>
              <a:t>比例因子</a:t>
            </a:r>
            <a:r>
              <a:rPr lang="en-US" altLang="en-US" sz="2300" b="0" dirty="0">
                <a:solidFill>
                  <a:srgbClr val="FF0000"/>
                </a:solidFill>
                <a:latin typeface="楷体" panose="02010609060101010101" pitchFamily="49" charset="-122"/>
                <a:ea typeface="楷体" panose="02010609060101010101" pitchFamily="49" charset="-122"/>
              </a:rPr>
              <a:t>+</a:t>
            </a:r>
            <a:r>
              <a:rPr lang="zh-CN" altLang="en-US" sz="2300" b="0" dirty="0">
                <a:solidFill>
                  <a:srgbClr val="FF0000"/>
                </a:solidFill>
                <a:latin typeface="楷体" panose="02010609060101010101" pitchFamily="49" charset="-122"/>
                <a:ea typeface="楷体" panose="02010609060101010101" pitchFamily="49" charset="-122"/>
              </a:rPr>
              <a:t>变量</a:t>
            </a:r>
            <a:r>
              <a:rPr lang="en-US" altLang="en-US" sz="2300" b="0" dirty="0">
                <a:solidFill>
                  <a:srgbClr val="FF0000"/>
                </a:solidFill>
                <a:latin typeface="楷体" panose="02010609060101010101" pitchFamily="49" charset="-122"/>
                <a:ea typeface="楷体" panose="02010609060101010101" pitchFamily="49" charset="-122"/>
              </a:rPr>
              <a:t>+</a:t>
            </a:r>
            <a:r>
              <a:rPr lang="zh-CN" altLang="en-US" sz="2300" b="0" dirty="0">
                <a:solidFill>
                  <a:srgbClr val="FF0000"/>
                </a:solidFill>
                <a:latin typeface="楷体" panose="02010609060101010101" pitchFamily="49" charset="-122"/>
                <a:ea typeface="楷体" panose="02010609060101010101" pitchFamily="49" charset="-122"/>
              </a:rPr>
              <a:t>常量</a:t>
            </a:r>
            <a:r>
              <a:rPr lang="en-US" altLang="en-US" sz="2300" b="0" dirty="0">
                <a:solidFill>
                  <a:srgbClr val="FF0000"/>
                </a:solidFill>
                <a:latin typeface="楷体" panose="02010609060101010101" pitchFamily="49" charset="-122"/>
                <a:ea typeface="楷体" panose="02010609060101010101" pitchFamily="49" charset="-122"/>
              </a:rPr>
              <a:t>]</a:t>
            </a:r>
          </a:p>
          <a:p>
            <a:pPr eaLnBrk="1" hangingPunct="1">
              <a:lnSpc>
                <a:spcPct val="120000"/>
              </a:lnSpc>
              <a:spcBef>
                <a:spcPct val="0"/>
              </a:spcBef>
              <a:buFont typeface="Arial" panose="020B0604020202020204" pitchFamily="34" charset="0"/>
              <a:buNone/>
            </a:pPr>
            <a:r>
              <a:rPr lang="zh-CN" altLang="en-US" sz="2300" b="0" dirty="0">
                <a:solidFill>
                  <a:schemeClr val="tx2"/>
                </a:solidFill>
                <a:latin typeface="楷体" panose="02010609060101010101" pitchFamily="49" charset="-122"/>
                <a:ea typeface="楷体" panose="02010609060101010101" pitchFamily="49" charset="-122"/>
              </a:rPr>
              <a:t>其他寻址方式都是</a:t>
            </a:r>
            <a:r>
              <a:rPr lang="zh-CN" altLang="en-US" sz="2300" b="0" dirty="0">
                <a:solidFill>
                  <a:srgbClr val="000099"/>
                </a:solidFill>
                <a:latin typeface="楷体" panose="02010609060101010101" pitchFamily="49" charset="-122"/>
                <a:ea typeface="楷体" panose="02010609060101010101" pitchFamily="49" charset="-122"/>
              </a:rPr>
              <a:t>一般形式</a:t>
            </a:r>
            <a:r>
              <a:rPr lang="zh-CN" altLang="en-US" sz="2300" b="0" dirty="0">
                <a:solidFill>
                  <a:schemeClr val="tx2"/>
                </a:solidFill>
                <a:latin typeface="楷体" panose="02010609060101010101" pitchFamily="49" charset="-122"/>
                <a:ea typeface="楷体" panose="02010609060101010101" pitchFamily="49" charset="-122"/>
              </a:rPr>
              <a:t>的不完整形式</a:t>
            </a:r>
            <a:r>
              <a:rPr lang="en-US" altLang="zh-CN" sz="2300" b="0" dirty="0">
                <a:solidFill>
                  <a:schemeClr val="tx2"/>
                </a:solidFill>
                <a:latin typeface="楷体" panose="02010609060101010101" pitchFamily="49" charset="-122"/>
                <a:ea typeface="楷体" panose="02010609060101010101" pitchFamily="49" charset="-122"/>
              </a:rPr>
              <a:t>: </a:t>
            </a:r>
            <a:endParaRPr lang="en-US" altLang="en-US" sz="2300" b="0" dirty="0">
              <a:solidFill>
                <a:srgbClr val="FF0066"/>
              </a:solidFill>
              <a:latin typeface="楷体" panose="02010609060101010101" pitchFamily="49" charset="-122"/>
              <a:ea typeface="楷体" panose="02010609060101010101" pitchFamily="49" charset="-122"/>
            </a:endParaRPr>
          </a:p>
          <a:p>
            <a:pPr eaLnBrk="1" hangingPunct="1">
              <a:lnSpc>
                <a:spcPct val="120000"/>
              </a:lnSpc>
              <a:spcBef>
                <a:spcPct val="0"/>
              </a:spcBef>
              <a:buFont typeface="Arial" panose="020B0604020202020204" pitchFamily="34" charset="0"/>
              <a:buNone/>
            </a:pPr>
            <a:r>
              <a:rPr lang="zh-CN" altLang="en-US" sz="2300" b="0" dirty="0">
                <a:solidFill>
                  <a:srgbClr val="FF3399"/>
                </a:solidFill>
                <a:latin typeface="楷体" panose="02010609060101010101" pitchFamily="49" charset="-122"/>
                <a:ea typeface="楷体" panose="02010609060101010101" pitchFamily="49" charset="-122"/>
              </a:rPr>
              <a:t>直接寻址</a:t>
            </a:r>
            <a:r>
              <a:rPr lang="en-US" altLang="zh-CN" sz="2300" b="0" dirty="0">
                <a:solidFill>
                  <a:srgbClr val="FF3399"/>
                </a:solidFill>
                <a:latin typeface="楷体" panose="02010609060101010101" pitchFamily="49" charset="-122"/>
                <a:ea typeface="楷体" panose="02010609060101010101" pitchFamily="49" charset="-122"/>
              </a:rPr>
              <a:t>:  </a:t>
            </a:r>
            <a:r>
              <a:rPr lang="zh-CN" altLang="en-US" sz="2300" b="0" dirty="0">
                <a:latin typeface="楷体" panose="02010609060101010101" pitchFamily="49" charset="-122"/>
                <a:ea typeface="楷体" panose="02010609060101010101" pitchFamily="49" charset="-122"/>
              </a:rPr>
              <a:t>变量 或 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endParaRPr lang="en-US" altLang="zh-CN" sz="2300" b="0" dirty="0">
              <a:latin typeface="楷体" panose="02010609060101010101" pitchFamily="49" charset="-122"/>
              <a:ea typeface="楷体" panose="02010609060101010101" pitchFamily="49" charset="-122"/>
            </a:endParaRPr>
          </a:p>
          <a:p>
            <a:pPr eaLnBrk="1" hangingPunct="1">
              <a:lnSpc>
                <a:spcPct val="120000"/>
              </a:lnSpc>
              <a:spcBef>
                <a:spcPct val="0"/>
              </a:spcBef>
              <a:buFont typeface="Arial" panose="020B0604020202020204" pitchFamily="34" charset="0"/>
              <a:buNone/>
            </a:pPr>
            <a:r>
              <a:rPr lang="zh-CN" altLang="en-US" sz="2300" b="0" dirty="0">
                <a:solidFill>
                  <a:srgbClr val="FF3399"/>
                </a:solidFill>
                <a:latin typeface="楷体" panose="02010609060101010101" pitchFamily="49" charset="-122"/>
                <a:ea typeface="楷体" panose="02010609060101010101" pitchFamily="49" charset="-122"/>
              </a:rPr>
              <a:t>间接寻址</a:t>
            </a:r>
            <a:r>
              <a:rPr lang="en-US" altLang="zh-CN" sz="2300" b="0" dirty="0">
                <a:solidFill>
                  <a:srgbClr val="FF3399"/>
                </a:solidFill>
                <a:latin typeface="楷体" panose="02010609060101010101" pitchFamily="49" charset="-122"/>
                <a:ea typeface="楷体" panose="02010609060101010101" pitchFamily="49" charset="-122"/>
              </a:rPr>
              <a:t>: </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寄存器</a:t>
            </a:r>
            <a:r>
              <a:rPr lang="en-US" altLang="en-US" sz="2300" b="0" dirty="0">
                <a:latin typeface="楷体" panose="02010609060101010101" pitchFamily="49" charset="-122"/>
                <a:ea typeface="楷体" panose="02010609060101010101" pitchFamily="49" charset="-122"/>
              </a:rPr>
              <a:t>]</a:t>
            </a:r>
            <a:endParaRPr lang="en-US" altLang="zh-CN" sz="2300" b="0" dirty="0">
              <a:latin typeface="楷体" panose="02010609060101010101" pitchFamily="49" charset="-122"/>
              <a:ea typeface="楷体" panose="02010609060101010101" pitchFamily="49" charset="-122"/>
            </a:endParaRPr>
          </a:p>
          <a:p>
            <a:pPr eaLnBrk="1" hangingPunct="1">
              <a:lnSpc>
                <a:spcPct val="120000"/>
              </a:lnSpc>
              <a:spcBef>
                <a:spcPct val="0"/>
              </a:spcBef>
              <a:buFont typeface="Arial" panose="020B0604020202020204" pitchFamily="34" charset="0"/>
              <a:buNone/>
            </a:pPr>
            <a:r>
              <a:rPr lang="zh-CN" altLang="en-US" sz="2300" b="0" dirty="0">
                <a:solidFill>
                  <a:srgbClr val="FF3399"/>
                </a:solidFill>
                <a:latin typeface="楷体" panose="02010609060101010101" pitchFamily="49" charset="-122"/>
                <a:ea typeface="楷体" panose="02010609060101010101" pitchFamily="49" charset="-122"/>
              </a:rPr>
              <a:t>基址或变址寻址</a:t>
            </a:r>
            <a:r>
              <a:rPr lang="en-US" altLang="zh-CN" sz="2300" b="0" dirty="0">
                <a:solidFill>
                  <a:srgbClr val="FF3399"/>
                </a:solidFill>
                <a:latin typeface="楷体" panose="02010609060101010101" pitchFamily="49" charset="-122"/>
                <a:ea typeface="楷体" panose="02010609060101010101" pitchFamily="49" charset="-122"/>
              </a:rPr>
              <a:t>:  </a:t>
            </a: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 </a:t>
            </a:r>
            <a:r>
              <a:rPr lang="en-US" altLang="zh-CN" sz="2300" b="0" dirty="0">
                <a:solidFill>
                  <a:srgbClr val="FF0066"/>
                </a:solidFill>
                <a:latin typeface="楷体" panose="02010609060101010101" pitchFamily="49" charset="-122"/>
                <a:ea typeface="楷体" panose="02010609060101010101" pitchFamily="49" charset="-122"/>
              </a:rPr>
              <a:t>or</a:t>
            </a:r>
            <a:r>
              <a:rPr lang="en-US" altLang="zh-CN" sz="2300" b="0" dirty="0">
                <a:solidFill>
                  <a:schemeClr val="tx2"/>
                </a:solidFill>
                <a:latin typeface="楷体" panose="02010609060101010101" pitchFamily="49" charset="-122"/>
                <a:ea typeface="楷体" panose="02010609060101010101" pitchFamily="49" charset="-122"/>
              </a:rPr>
              <a:t> </a:t>
            </a:r>
            <a:r>
              <a:rPr lang="zh-CN" altLang="en-US" sz="2300" b="0" dirty="0">
                <a:latin typeface="楷体" panose="02010609060101010101" pitchFamily="49" charset="-122"/>
                <a:ea typeface="楷体" panose="02010609060101010101" pitchFamily="49" charset="-122"/>
              </a:rPr>
              <a:t>变量</a:t>
            </a:r>
            <a:r>
              <a:rPr lang="en-US" altLang="zh-CN"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寄存器</a:t>
            </a:r>
            <a:r>
              <a:rPr lang="en-US" altLang="en-US" sz="2300" b="0" dirty="0">
                <a:latin typeface="楷体" panose="02010609060101010101" pitchFamily="49" charset="-122"/>
                <a:ea typeface="楷体" panose="02010609060101010101" pitchFamily="49" charset="-122"/>
              </a:rPr>
              <a:t>]</a:t>
            </a:r>
            <a:endParaRPr lang="en-US" altLang="zh-CN" sz="2300" b="0" dirty="0">
              <a:latin typeface="楷体" panose="02010609060101010101" pitchFamily="49" charset="-122"/>
              <a:ea typeface="楷体" panose="02010609060101010101" pitchFamily="49" charset="-122"/>
            </a:endParaRPr>
          </a:p>
          <a:p>
            <a:pPr eaLnBrk="1" hangingPunct="1">
              <a:lnSpc>
                <a:spcPct val="120000"/>
              </a:lnSpc>
              <a:spcBef>
                <a:spcPct val="0"/>
              </a:spcBef>
              <a:buFont typeface="Arial" panose="020B0604020202020204" pitchFamily="34" charset="0"/>
              <a:buNone/>
            </a:pPr>
            <a:r>
              <a:rPr lang="zh-CN" altLang="en-US" sz="2300" b="0" dirty="0">
                <a:solidFill>
                  <a:srgbClr val="FF0066"/>
                </a:solidFill>
                <a:latin typeface="楷体" panose="02010609060101010101" pitchFamily="49" charset="-122"/>
                <a:ea typeface="楷体" panose="02010609060101010101" pitchFamily="49" charset="-122"/>
              </a:rPr>
              <a:t>基址变址寻址</a:t>
            </a:r>
            <a:r>
              <a:rPr lang="en-US" altLang="zh-CN" sz="2300" b="0" dirty="0">
                <a:solidFill>
                  <a:srgbClr val="FF0066"/>
                </a:solidFill>
                <a:latin typeface="楷体" panose="02010609060101010101" pitchFamily="49" charset="-122"/>
                <a:ea typeface="楷体" panose="02010609060101010101" pitchFamily="49" charset="-122"/>
              </a:rPr>
              <a:t>:  </a:t>
            </a: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基址寄存器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 </a:t>
            </a:r>
            <a:r>
              <a:rPr lang="en-US" altLang="en-US" sz="2300" b="0" dirty="0">
                <a:solidFill>
                  <a:srgbClr val="FF0066"/>
                </a:solidFill>
                <a:latin typeface="楷体" panose="02010609060101010101" pitchFamily="49" charset="-122"/>
                <a:ea typeface="楷体" panose="02010609060101010101" pitchFamily="49" charset="-122"/>
              </a:rPr>
              <a:t>or</a:t>
            </a:r>
            <a:r>
              <a:rPr lang="en-US" altLang="en-US" sz="2300" b="0" dirty="0">
                <a:latin typeface="楷体" panose="02010609060101010101" pitchFamily="49" charset="-122"/>
                <a:ea typeface="楷体" panose="02010609060101010101" pitchFamily="49" charset="-122"/>
              </a:rPr>
              <a:t> </a:t>
            </a:r>
          </a:p>
          <a:p>
            <a:pPr eaLnBrk="1" hangingPunct="1">
              <a:lnSpc>
                <a:spcPct val="120000"/>
              </a:lnSpc>
              <a:spcBef>
                <a:spcPct val="0"/>
              </a:spcBef>
              <a:buFont typeface="Arial" panose="020B0604020202020204" pitchFamily="34" charset="0"/>
              <a:buNone/>
            </a:pPr>
            <a:r>
              <a:rPr lang="zh-CN" altLang="en-US" sz="2300" b="0" dirty="0">
                <a:latin typeface="楷体" panose="02010609060101010101" pitchFamily="49" charset="-122"/>
                <a:ea typeface="楷体" panose="02010609060101010101" pitchFamily="49" charset="-122"/>
              </a:rPr>
              <a:t>               基址寄存器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a:t>
            </a:r>
          </a:p>
          <a:p>
            <a:pPr eaLnBrk="1" hangingPunct="1">
              <a:lnSpc>
                <a:spcPct val="120000"/>
              </a:lnSpc>
              <a:spcBef>
                <a:spcPct val="0"/>
              </a:spcBef>
              <a:buFont typeface="Arial" panose="020B0604020202020204" pitchFamily="34" charset="0"/>
              <a:buNone/>
            </a:pPr>
            <a:r>
              <a:rPr lang="zh-CN" altLang="en-US" sz="2300" b="0" dirty="0">
                <a:solidFill>
                  <a:srgbClr val="FF0066"/>
                </a:solidFill>
                <a:latin typeface="楷体" panose="02010609060101010101" pitchFamily="49" charset="-122"/>
                <a:ea typeface="楷体" panose="02010609060101010101" pitchFamily="49" charset="-122"/>
              </a:rPr>
              <a:t>比例变址寻址</a:t>
            </a:r>
            <a:r>
              <a:rPr lang="en-US" altLang="zh-CN" sz="2300" b="0" dirty="0">
                <a:solidFill>
                  <a:srgbClr val="FF0066"/>
                </a:solidFill>
                <a:latin typeface="楷体" panose="02010609060101010101" pitchFamily="49" charset="-122"/>
                <a:ea typeface="楷体" panose="02010609060101010101" pitchFamily="49" charset="-122"/>
              </a:rPr>
              <a:t>:  </a:t>
            </a: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比例因子</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 </a:t>
            </a:r>
            <a:r>
              <a:rPr lang="en-US" altLang="en-US" sz="2300" b="0" dirty="0">
                <a:solidFill>
                  <a:srgbClr val="FF0066"/>
                </a:solidFill>
                <a:latin typeface="楷体" panose="02010609060101010101" pitchFamily="49" charset="-122"/>
                <a:ea typeface="楷体" panose="02010609060101010101" pitchFamily="49" charset="-122"/>
              </a:rPr>
              <a:t>or</a:t>
            </a:r>
            <a:r>
              <a:rPr lang="en-US" altLang="en-US" sz="2300" b="0" dirty="0">
                <a:latin typeface="楷体" panose="02010609060101010101" pitchFamily="49" charset="-122"/>
                <a:ea typeface="楷体" panose="02010609060101010101" pitchFamily="49" charset="-122"/>
              </a:rPr>
              <a:t> </a:t>
            </a:r>
            <a:endParaRPr lang="en-US" altLang="zh-CN" sz="2300" b="0" dirty="0">
              <a:latin typeface="楷体" panose="02010609060101010101" pitchFamily="49" charset="-122"/>
              <a:ea typeface="楷体" panose="02010609060101010101" pitchFamily="49" charset="-122"/>
            </a:endParaRPr>
          </a:p>
          <a:p>
            <a:pPr eaLnBrk="1" hangingPunct="1">
              <a:lnSpc>
                <a:spcPct val="120000"/>
              </a:lnSpc>
              <a:spcBef>
                <a:spcPct val="0"/>
              </a:spcBef>
              <a:buFont typeface="Arial" panose="020B0604020202020204" pitchFamily="34" charset="0"/>
              <a:buNone/>
            </a:pPr>
            <a:r>
              <a:rPr lang="zh-CN" altLang="en-US" sz="2300" b="0" dirty="0">
                <a:latin typeface="楷体" panose="02010609060101010101" pitchFamily="49" charset="-122"/>
                <a:ea typeface="楷体" panose="02010609060101010101" pitchFamily="49" charset="-122"/>
              </a:rPr>
              <a:t>               变址寄存器</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比例因子</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变量</a:t>
            </a:r>
            <a:r>
              <a:rPr lang="en-US" altLang="en-US" sz="2300" b="0" dirty="0">
                <a:latin typeface="楷体" panose="02010609060101010101" pitchFamily="49" charset="-122"/>
                <a:ea typeface="楷体" panose="02010609060101010101" pitchFamily="49" charset="-122"/>
              </a:rPr>
              <a:t>+</a:t>
            </a:r>
            <a:r>
              <a:rPr lang="zh-CN" altLang="en-US" sz="2300" b="0" dirty="0">
                <a:latin typeface="楷体" panose="02010609060101010101" pitchFamily="49" charset="-122"/>
                <a:ea typeface="楷体" panose="02010609060101010101" pitchFamily="49" charset="-122"/>
              </a:rPr>
              <a:t>常量</a:t>
            </a:r>
            <a:r>
              <a:rPr lang="en-US" altLang="en-US" sz="2300" b="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019859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1073150"/>
            <a:ext cx="9144000" cy="4841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存储器寻址时段寄存器的确定：</a:t>
            </a:r>
            <a:r>
              <a:rPr lang="zh-CN" altLang="en-US" sz="2400" dirty="0">
                <a:solidFill>
                  <a:srgbClr val="FF0066"/>
                </a:solidFill>
                <a:latin typeface="楷体" panose="02010609060101010101" pitchFamily="49" charset="-122"/>
                <a:ea typeface="楷体" panose="02010609060101010101" pitchFamily="49" charset="-122"/>
              </a:rPr>
              <a:t>基本约定和段更换</a:t>
            </a:r>
            <a:r>
              <a:rPr lang="zh-CN" altLang="en-US" sz="2400" dirty="0">
                <a:latin typeface="楷体" panose="02010609060101010101" pitchFamily="49" charset="-122"/>
                <a:ea typeface="楷体" panose="02010609060101010101" pitchFamily="49" charset="-122"/>
              </a:rPr>
              <a:t>见下表</a:t>
            </a:r>
          </a:p>
        </p:txBody>
      </p:sp>
      <p:graphicFrame>
        <p:nvGraphicFramePr>
          <p:cNvPr id="3" name="Group 51">
            <a:extLst>
              <a:ext uri="{FF2B5EF4-FFF2-40B4-BE49-F238E27FC236}">
                <a16:creationId xmlns:a16="http://schemas.microsoft.com/office/drawing/2014/main" id="{1BFFD6EF-5C71-4352-A20A-8532A1038B18}"/>
              </a:ext>
            </a:extLst>
          </p:cNvPr>
          <p:cNvGraphicFramePr>
            <a:graphicFrameLocks noGrp="1"/>
          </p:cNvGraphicFramePr>
          <p:nvPr>
            <p:extLst>
              <p:ext uri="{D42A27DB-BD31-4B8C-83A1-F6EECF244321}">
                <p14:modId xmlns:p14="http://schemas.microsoft.com/office/powerpoint/2010/main" val="3207948204"/>
              </p:ext>
            </p:extLst>
          </p:nvPr>
        </p:nvGraphicFramePr>
        <p:xfrm>
          <a:off x="0" y="1692275"/>
          <a:ext cx="9144000" cy="3689350"/>
        </p:xfrm>
        <a:graphic>
          <a:graphicData uri="http://schemas.openxmlformats.org/drawingml/2006/table">
            <a:tbl>
              <a:tblPr/>
              <a:tblGrid>
                <a:gridCol w="4067175">
                  <a:extLst>
                    <a:ext uri="{9D8B030D-6E8A-4147-A177-3AD203B41FA5}">
                      <a16:colId xmlns:a16="http://schemas.microsoft.com/office/drawing/2014/main" val="20000"/>
                    </a:ext>
                  </a:extLst>
                </a:gridCol>
                <a:gridCol w="1728788">
                  <a:extLst>
                    <a:ext uri="{9D8B030D-6E8A-4147-A177-3AD203B41FA5}">
                      <a16:colId xmlns:a16="http://schemas.microsoft.com/office/drawing/2014/main" val="20001"/>
                    </a:ext>
                  </a:extLst>
                </a:gridCol>
                <a:gridCol w="2205061">
                  <a:extLst>
                    <a:ext uri="{9D8B030D-6E8A-4147-A177-3AD203B41FA5}">
                      <a16:colId xmlns:a16="http://schemas.microsoft.com/office/drawing/2014/main" val="20002"/>
                    </a:ext>
                  </a:extLst>
                </a:gridCol>
                <a:gridCol w="1142976">
                  <a:extLst>
                    <a:ext uri="{9D8B030D-6E8A-4147-A177-3AD203B41FA5}">
                      <a16:colId xmlns:a16="http://schemas.microsoft.com/office/drawing/2014/main" val="20003"/>
                    </a:ext>
                  </a:extLst>
                </a:gridCol>
              </a:tblGrid>
              <a:tr h="70129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存储器存取方式</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约定段寄存器 </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段更换</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偏移地址</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7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取指令</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CS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不允许</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IP</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EIP</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7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堆栈操作</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SS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不允许</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SP</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ESP</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29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数据存取</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(BP</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EBP</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和</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ESP</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间址、基址除外</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DS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5</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个段寄存器</a:t>
                      </a: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(ES, FS,GS,SS,CS)</a:t>
                      </a:r>
                      <a:endPar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EA</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129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BP</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EBP</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和</a:t>
                      </a: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ESP</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间址、基址数据存取</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SS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5</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个段寄存器</a:t>
                      </a: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(ES, FS,GS,DS,CS)</a:t>
                      </a:r>
                      <a:endPar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EA</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7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字符串处理指令的源串</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DS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ES CS SS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SI</a:t>
                      </a:r>
                      <a:r>
                        <a:rPr kumimoji="0" lang="zh-CN" altLang="en-US"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ESI</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370">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字符串处理指令的目的串</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itchFamily="18" charset="0"/>
                        </a:rPr>
                        <a:t>ES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不允许</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sz="2800">
                          <a:solidFill>
                            <a:schemeClr val="tx1"/>
                          </a:solidFill>
                          <a:latin typeface="Calibri" pitchFamily="34" charset="0"/>
                        </a:defRPr>
                      </a:lvl1pPr>
                      <a:lvl2pPr marL="742950" indent="-285750" eaLnBrk="0" hangingPunct="0">
                        <a:spcBef>
                          <a:spcPct val="20000"/>
                        </a:spcBef>
                        <a:buFont typeface="Arial" pitchFamily="34" charset="0"/>
                        <a:defRPr sz="2400">
                          <a:solidFill>
                            <a:schemeClr val="tx1"/>
                          </a:solidFill>
                          <a:latin typeface="Calibri" pitchFamily="34" charset="0"/>
                        </a:defRPr>
                      </a:lvl2pPr>
                      <a:lvl3pPr marL="1143000" indent="-228600" eaLnBrk="0" hangingPunct="0">
                        <a:spcBef>
                          <a:spcPct val="20000"/>
                        </a:spcBef>
                        <a:buFont typeface="Arial" pitchFamily="34" charset="0"/>
                        <a:defRPr sz="2000">
                          <a:solidFill>
                            <a:schemeClr val="tx1"/>
                          </a:solidFill>
                          <a:latin typeface="Calibri" pitchFamily="34" charset="0"/>
                        </a:defRPr>
                      </a:lvl3pPr>
                      <a:lvl4pPr marL="1600200" indent="-228600" eaLnBrk="0" hangingPunct="0">
                        <a:spcBef>
                          <a:spcPct val="20000"/>
                        </a:spcBef>
                        <a:buFont typeface="Arial" pitchFamily="34" charset="0"/>
                        <a:defRPr>
                          <a:solidFill>
                            <a:schemeClr val="tx1"/>
                          </a:solidFill>
                          <a:latin typeface="Calibri" pitchFamily="34" charset="0"/>
                        </a:defRPr>
                      </a:lvl4pPr>
                      <a:lvl5pPr marL="2057400" indent="-228600" eaLnBrk="0" hangingPunct="0">
                        <a:spcBef>
                          <a:spcPct val="20000"/>
                        </a:spcBef>
                        <a:buFont typeface="Arial" pitchFamily="34" charset="0"/>
                        <a:defRPr>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defRPr>
                      </a:lvl9pPr>
                    </a:lstStyle>
                    <a:p>
                      <a:pPr marL="0" marR="0" lvl="0" indent="0" algn="l" defTabSz="914400" rtl="0" eaLnBrk="0" fontAlgn="base" latinLnBrk="0" hangingPunct="0">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DI</a:t>
                      </a:r>
                      <a:r>
                        <a:rPr kumimoji="0" lang="zh-CN" altLang="en-US"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EDI</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Rectangle 197"/>
          <p:cNvSpPr>
            <a:spLocks noChangeArrowheads="1"/>
          </p:cNvSpPr>
          <p:nvPr/>
        </p:nvSpPr>
        <p:spPr bwMode="auto">
          <a:xfrm>
            <a:off x="0" y="5516563"/>
            <a:ext cx="9144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zh-CN" altLang="en-US" sz="2200" b="0" dirty="0">
                <a:solidFill>
                  <a:srgbClr val="00B0F0"/>
                </a:solidFill>
                <a:latin typeface="楷体" panose="02010609060101010101" pitchFamily="49" charset="-122"/>
                <a:ea typeface="楷体" panose="02010609060101010101" pitchFamily="49" charset="-122"/>
              </a:rPr>
              <a:t>有效地址</a:t>
            </a:r>
            <a:r>
              <a:rPr lang="en-US" altLang="zh-CN" sz="2200" b="0" dirty="0">
                <a:solidFill>
                  <a:srgbClr val="00B0F0"/>
                </a:solidFill>
                <a:latin typeface="楷体" panose="02010609060101010101" pitchFamily="49" charset="-122"/>
                <a:ea typeface="楷体" panose="02010609060101010101" pitchFamily="49" charset="-122"/>
              </a:rPr>
              <a:t>EA(Effective Address)</a:t>
            </a:r>
            <a:r>
              <a:rPr lang="zh-CN" altLang="en-US" sz="2200" b="0" dirty="0">
                <a:solidFill>
                  <a:schemeClr val="tx2"/>
                </a:solidFill>
                <a:latin typeface="楷体" panose="02010609060101010101" pitchFamily="49" charset="-122"/>
                <a:ea typeface="楷体" panose="02010609060101010101" pitchFamily="49" charset="-122"/>
              </a:rPr>
              <a:t>：是汇编程序计算后得到的地址表达式的偏移地址（</a:t>
            </a:r>
            <a:r>
              <a:rPr lang="en-US" altLang="zh-CN" sz="2200" b="0" dirty="0">
                <a:solidFill>
                  <a:schemeClr val="tx2"/>
                </a:solidFill>
                <a:latin typeface="楷体" panose="02010609060101010101" pitchFamily="49" charset="-122"/>
                <a:ea typeface="楷体" panose="02010609060101010101" pitchFamily="49" charset="-122"/>
              </a:rPr>
              <a:t>=</a:t>
            </a:r>
            <a:r>
              <a:rPr lang="zh-CN" altLang="en-US" sz="2200" b="0" dirty="0">
                <a:solidFill>
                  <a:schemeClr val="tx2"/>
                </a:solidFill>
                <a:latin typeface="楷体" panose="02010609060101010101" pitchFamily="49" charset="-122"/>
                <a:ea typeface="楷体" panose="02010609060101010101" pitchFamily="49" charset="-122"/>
              </a:rPr>
              <a:t>变量的偏移地址</a:t>
            </a:r>
            <a:r>
              <a:rPr lang="en-US" altLang="zh-CN" sz="2200" b="0" dirty="0">
                <a:solidFill>
                  <a:schemeClr val="tx2"/>
                </a:solidFill>
                <a:latin typeface="楷体" panose="02010609060101010101" pitchFamily="49" charset="-122"/>
                <a:ea typeface="楷体" panose="02010609060101010101" pitchFamily="49" charset="-122"/>
              </a:rPr>
              <a:t>+</a:t>
            </a:r>
            <a:r>
              <a:rPr lang="zh-CN" altLang="en-US" sz="2200" b="0" dirty="0">
                <a:solidFill>
                  <a:schemeClr val="tx2"/>
                </a:solidFill>
                <a:latin typeface="楷体" panose="02010609060101010101" pitchFamily="49" charset="-122"/>
                <a:ea typeface="楷体" panose="02010609060101010101" pitchFamily="49" charset="-122"/>
              </a:rPr>
              <a:t>基址寄存器的内容</a:t>
            </a:r>
            <a:r>
              <a:rPr lang="en-US" altLang="zh-CN" sz="2200" b="0" dirty="0">
                <a:solidFill>
                  <a:schemeClr val="tx2"/>
                </a:solidFill>
                <a:latin typeface="楷体" panose="02010609060101010101" pitchFamily="49" charset="-122"/>
                <a:ea typeface="楷体" panose="02010609060101010101" pitchFamily="49" charset="-122"/>
              </a:rPr>
              <a:t>+</a:t>
            </a:r>
            <a:r>
              <a:rPr lang="zh-CN" altLang="en-US" sz="2200" b="0" dirty="0">
                <a:solidFill>
                  <a:schemeClr val="tx2"/>
                </a:solidFill>
                <a:latin typeface="楷体" panose="02010609060101010101" pitchFamily="49" charset="-122"/>
                <a:ea typeface="楷体" panose="02010609060101010101" pitchFamily="49" charset="-122"/>
              </a:rPr>
              <a:t>变址寄存器的内容</a:t>
            </a:r>
            <a:r>
              <a:rPr lang="en-US" altLang="zh-CN" sz="2200" b="0" dirty="0">
                <a:solidFill>
                  <a:schemeClr val="tx2"/>
                </a:solidFill>
                <a:latin typeface="楷体" panose="02010609060101010101" pitchFamily="49" charset="-122"/>
                <a:ea typeface="楷体" panose="02010609060101010101" pitchFamily="49" charset="-122"/>
              </a:rPr>
              <a:t>x</a:t>
            </a:r>
            <a:r>
              <a:rPr lang="zh-CN" altLang="en-US" sz="2200" b="0" dirty="0">
                <a:solidFill>
                  <a:schemeClr val="tx2"/>
                </a:solidFill>
                <a:latin typeface="楷体" panose="02010609060101010101" pitchFamily="49" charset="-122"/>
                <a:ea typeface="楷体" panose="02010609060101010101" pitchFamily="49" charset="-122"/>
              </a:rPr>
              <a:t>比例因子</a:t>
            </a:r>
            <a:r>
              <a:rPr lang="en-US" altLang="zh-CN" sz="2200" b="0" dirty="0">
                <a:solidFill>
                  <a:schemeClr val="tx2"/>
                </a:solidFill>
                <a:latin typeface="楷体" panose="02010609060101010101" pitchFamily="49" charset="-122"/>
                <a:ea typeface="楷体" panose="02010609060101010101" pitchFamily="49" charset="-122"/>
              </a:rPr>
              <a:t>+</a:t>
            </a:r>
            <a:r>
              <a:rPr lang="zh-CN" altLang="en-US" sz="2200" b="0" dirty="0">
                <a:solidFill>
                  <a:schemeClr val="tx2"/>
                </a:solidFill>
                <a:latin typeface="楷体" panose="02010609060101010101" pitchFamily="49" charset="-122"/>
                <a:ea typeface="楷体" panose="02010609060101010101" pitchFamily="49" charset="-122"/>
              </a:rPr>
              <a:t>常量）。 </a:t>
            </a:r>
          </a:p>
        </p:txBody>
      </p:sp>
    </p:spTree>
    <p:extLst>
      <p:ext uri="{BB962C8B-B14F-4D97-AF65-F5344CB8AC3E}">
        <p14:creationId xmlns:p14="http://schemas.microsoft.com/office/powerpoint/2010/main" val="1804867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CCE05E10-5D7E-4D3C-93D9-B6E93A264C41}"/>
              </a:ext>
            </a:extLst>
          </p:cNvPr>
          <p:cNvSpPr>
            <a:spLocks noChangeArrowheads="1"/>
          </p:cNvSpPr>
          <p:nvPr/>
        </p:nvSpPr>
        <p:spPr bwMode="auto">
          <a:xfrm>
            <a:off x="609600" y="1871663"/>
            <a:ext cx="8053388" cy="105727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3" name="AutoShape 75"/>
          <p:cNvSpPr>
            <a:spLocks noChangeArrowheads="1"/>
          </p:cNvSpPr>
          <p:nvPr/>
        </p:nvSpPr>
        <p:spPr bwMode="auto">
          <a:xfrm>
            <a:off x="598488" y="1839913"/>
            <a:ext cx="8053387" cy="1090612"/>
          </a:xfrm>
          <a:prstGeom prst="roundRect">
            <a:avLst>
              <a:gd name="adj" fmla="val 0"/>
            </a:avLst>
          </a:prstGeom>
          <a:gradFill rotWithShape="1">
            <a:gsLst>
              <a:gs pos="0">
                <a:srgbClr val="0099CC"/>
              </a:gs>
              <a:gs pos="100000">
                <a:srgbClr val="007CA8"/>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solidFill>
                <a:schemeClr val="bg1"/>
              </a:solidFill>
              <a:latin typeface="楷体" panose="02010609060101010101" pitchFamily="49" charset="-122"/>
              <a:ea typeface="楷体" panose="02010609060101010101" pitchFamily="49" charset="-122"/>
            </a:endParaRPr>
          </a:p>
        </p:txBody>
      </p:sp>
      <p:sp>
        <p:nvSpPr>
          <p:cNvPr id="4" name="Rectangle 3"/>
          <p:cNvSpPr txBox="1">
            <a:spLocks noChangeArrowheads="1"/>
          </p:cNvSpPr>
          <p:nvPr/>
        </p:nvSpPr>
        <p:spPr bwMode="auto">
          <a:xfrm>
            <a:off x="484187" y="3095271"/>
            <a:ext cx="850423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40000"/>
              </a:lnSpc>
              <a:buClr>
                <a:schemeClr val="tx2"/>
              </a:buClr>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例如</a:t>
            </a:r>
            <a:r>
              <a:rPr lang="en-US" altLang="zh-CN" sz="2400" b="0" dirty="0">
                <a:solidFill>
                  <a:srgbClr val="000099"/>
                </a:solidFill>
                <a:latin typeface="楷体" panose="02010609060101010101" pitchFamily="49" charset="-122"/>
                <a:ea typeface="楷体" panose="02010609060101010101" pitchFamily="49" charset="-122"/>
              </a:rPr>
              <a:t>: MOV  ES: [DI],  AL;  AL → ES:[DI]</a:t>
            </a:r>
          </a:p>
          <a:p>
            <a:pPr eaLnBrk="1" hangingPunct="1">
              <a:lnSpc>
                <a:spcPct val="14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其中</a:t>
            </a:r>
            <a:r>
              <a:rPr lang="en-US" altLang="zh-CN" sz="2400" b="0" dirty="0">
                <a:solidFill>
                  <a:schemeClr val="tx2"/>
                </a:solidFill>
                <a:latin typeface="楷体" panose="02010609060101010101" pitchFamily="49" charset="-122"/>
                <a:ea typeface="楷体" panose="02010609060101010101" pitchFamily="49" charset="-122"/>
              </a:rPr>
              <a:t>ES</a:t>
            </a:r>
            <a:r>
              <a:rPr lang="zh-CN" altLang="en-US" sz="2400" b="0" dirty="0">
                <a:solidFill>
                  <a:schemeClr val="tx2"/>
                </a:solidFill>
                <a:latin typeface="楷体" panose="02010609060101010101" pitchFamily="49" charset="-122"/>
                <a:ea typeface="楷体" panose="02010609060101010101" pitchFamily="49" charset="-122"/>
              </a:rPr>
              <a:t>为前缀字节，产生目标代码时，它将放在这条</a:t>
            </a:r>
            <a:r>
              <a:rPr lang="en-US" altLang="zh-CN" sz="2400" b="0" dirty="0">
                <a:solidFill>
                  <a:schemeClr val="tx2"/>
                </a:solidFill>
                <a:latin typeface="楷体" panose="02010609060101010101" pitchFamily="49" charset="-122"/>
                <a:ea typeface="楷体" panose="02010609060101010101" pitchFamily="49" charset="-122"/>
              </a:rPr>
              <a:t>MOV</a:t>
            </a:r>
            <a:r>
              <a:rPr lang="zh-CN" altLang="en-US" sz="2400" b="0" dirty="0">
                <a:solidFill>
                  <a:schemeClr val="tx2"/>
                </a:solidFill>
                <a:latin typeface="楷体" panose="02010609060101010101" pitchFamily="49" charset="-122"/>
                <a:ea typeface="楷体" panose="02010609060101010101" pitchFamily="49" charset="-122"/>
              </a:rPr>
              <a:t>指令的前面：</a:t>
            </a:r>
          </a:p>
          <a:p>
            <a:pPr eaLnBrk="1" hangingPunct="1">
              <a:lnSpc>
                <a:spcPct val="14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        </a:t>
            </a:r>
            <a:r>
              <a:rPr lang="en-US" altLang="zh-CN" sz="2400" b="0" dirty="0">
                <a:solidFill>
                  <a:schemeClr val="tx2"/>
                </a:solidFill>
                <a:latin typeface="楷体" panose="02010609060101010101" pitchFamily="49" charset="-122"/>
                <a:ea typeface="楷体" panose="02010609060101010101" pitchFamily="49" charset="-122"/>
              </a:rPr>
              <a:t>26     ES</a:t>
            </a:r>
            <a:r>
              <a:rPr lang="zh-CN" altLang="en-US" sz="2400" b="0" dirty="0">
                <a:solidFill>
                  <a:schemeClr val="tx2"/>
                </a:solidFill>
                <a:latin typeface="楷体" panose="02010609060101010101" pitchFamily="49" charset="-122"/>
                <a:ea typeface="楷体" panose="02010609060101010101" pitchFamily="49" charset="-122"/>
              </a:rPr>
              <a:t>：</a:t>
            </a:r>
          </a:p>
          <a:p>
            <a:pPr eaLnBrk="1" hangingPunct="1">
              <a:lnSpc>
                <a:spcPct val="14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        </a:t>
            </a:r>
            <a:r>
              <a:rPr lang="en-US" altLang="zh-CN" sz="2400" b="0" dirty="0">
                <a:solidFill>
                  <a:schemeClr val="tx2"/>
                </a:solidFill>
                <a:latin typeface="楷体" panose="02010609060101010101" pitchFamily="49" charset="-122"/>
                <a:ea typeface="楷体" panose="02010609060101010101" pitchFamily="49" charset="-122"/>
              </a:rPr>
              <a:t>8805   MOV</a:t>
            </a:r>
            <a:r>
              <a:rPr lang="zh-CN" altLang="en-US" sz="2400" b="0" dirty="0">
                <a:solidFill>
                  <a:schemeClr val="tx2"/>
                </a:solidFill>
                <a:latin typeface="楷体" panose="02010609060101010101" pitchFamily="49" charset="-122"/>
                <a:ea typeface="楷体" panose="02010609060101010101" pitchFamily="49" charset="-122"/>
              </a:rPr>
              <a:t>［</a:t>
            </a:r>
            <a:r>
              <a:rPr lang="en-US" altLang="zh-CN" sz="2400" b="0" dirty="0">
                <a:solidFill>
                  <a:schemeClr val="tx2"/>
                </a:solidFill>
                <a:latin typeface="楷体" panose="02010609060101010101" pitchFamily="49" charset="-122"/>
                <a:ea typeface="楷体" panose="02010609060101010101" pitchFamily="49" charset="-122"/>
              </a:rPr>
              <a:t>DI</a:t>
            </a:r>
            <a:r>
              <a:rPr lang="zh-CN" altLang="en-US" sz="2400" b="0" dirty="0">
                <a:solidFill>
                  <a:schemeClr val="tx2"/>
                </a:solidFill>
                <a:latin typeface="楷体" panose="02010609060101010101" pitchFamily="49" charset="-122"/>
                <a:ea typeface="楷体" panose="02010609060101010101" pitchFamily="49" charset="-122"/>
              </a:rPr>
              <a:t>］，</a:t>
            </a:r>
            <a:r>
              <a:rPr lang="en-US" altLang="zh-CN" sz="2400" b="0" dirty="0">
                <a:solidFill>
                  <a:schemeClr val="tx2"/>
                </a:solidFill>
                <a:latin typeface="楷体" panose="02010609060101010101" pitchFamily="49" charset="-122"/>
                <a:ea typeface="楷体" panose="02010609060101010101" pitchFamily="49" charset="-122"/>
              </a:rPr>
              <a:t>AL</a:t>
            </a:r>
          </a:p>
          <a:p>
            <a:pPr eaLnBrk="1" hangingPunct="1">
              <a:lnSpc>
                <a:spcPct val="140000"/>
              </a:lnSpc>
              <a:spcBef>
                <a:spcPct val="0"/>
              </a:spcBef>
              <a:buFont typeface="Arial" panose="020B0604020202020204" pitchFamily="34" charset="0"/>
              <a:buNone/>
            </a:pPr>
            <a:r>
              <a:rPr lang="zh-CN" altLang="en-US" sz="2400" b="0" dirty="0">
                <a:solidFill>
                  <a:schemeClr val="tx2"/>
                </a:solidFill>
                <a:latin typeface="楷体" panose="02010609060101010101" pitchFamily="49" charset="-122"/>
                <a:ea typeface="楷体" panose="02010609060101010101" pitchFamily="49" charset="-122"/>
              </a:rPr>
              <a:t>其中符号指令前</a:t>
            </a:r>
            <a:r>
              <a:rPr lang="en-US" altLang="zh-CN" sz="2400" b="0" dirty="0">
                <a:solidFill>
                  <a:schemeClr val="tx2"/>
                </a:solidFill>
                <a:latin typeface="楷体" panose="02010609060101010101" pitchFamily="49" charset="-122"/>
                <a:ea typeface="楷体" panose="02010609060101010101" pitchFamily="49" charset="-122"/>
              </a:rPr>
              <a:t>3</a:t>
            </a:r>
            <a:r>
              <a:rPr lang="zh-CN" altLang="en-US" sz="2400" b="0" dirty="0">
                <a:solidFill>
                  <a:schemeClr val="tx2"/>
                </a:solidFill>
                <a:latin typeface="楷体" panose="02010609060101010101" pitchFamily="49" charset="-122"/>
                <a:ea typeface="楷体" panose="02010609060101010101" pitchFamily="49" charset="-122"/>
              </a:rPr>
              <a:t>个字节的十六进制数</a:t>
            </a:r>
            <a:r>
              <a:rPr lang="en-US" altLang="zh-CN" sz="2400" b="0" dirty="0">
                <a:solidFill>
                  <a:schemeClr val="tx2"/>
                </a:solidFill>
                <a:latin typeface="楷体" panose="02010609060101010101" pitchFamily="49" charset="-122"/>
                <a:ea typeface="楷体" panose="02010609060101010101" pitchFamily="49" charset="-122"/>
              </a:rPr>
              <a:t>26 88 05</a:t>
            </a:r>
            <a:r>
              <a:rPr lang="zh-CN" altLang="en-US" sz="2400" b="0" dirty="0">
                <a:solidFill>
                  <a:schemeClr val="tx2"/>
                </a:solidFill>
                <a:latin typeface="楷体" panose="02010609060101010101" pitchFamily="49" charset="-122"/>
                <a:ea typeface="楷体" panose="02010609060101010101" pitchFamily="49" charset="-122"/>
              </a:rPr>
              <a:t>是符号指令</a:t>
            </a:r>
            <a:r>
              <a:rPr lang="en-US" altLang="zh-CN" sz="2400" b="0" dirty="0">
                <a:solidFill>
                  <a:schemeClr val="tx2"/>
                </a:solidFill>
                <a:latin typeface="楷体" panose="02010609060101010101" pitchFamily="49" charset="-122"/>
                <a:ea typeface="楷体" panose="02010609060101010101" pitchFamily="49" charset="-122"/>
              </a:rPr>
              <a:t>MOV  ES:</a:t>
            </a:r>
            <a:r>
              <a:rPr lang="zh-CN" altLang="en-US" sz="2400" b="0" dirty="0">
                <a:solidFill>
                  <a:schemeClr val="tx2"/>
                </a:solidFill>
                <a:latin typeface="楷体" panose="02010609060101010101" pitchFamily="49" charset="-122"/>
                <a:ea typeface="楷体" panose="02010609060101010101" pitchFamily="49" charset="-122"/>
              </a:rPr>
              <a:t>［</a:t>
            </a:r>
            <a:r>
              <a:rPr lang="en-US" altLang="zh-CN" sz="2400" b="0" dirty="0">
                <a:solidFill>
                  <a:schemeClr val="tx2"/>
                </a:solidFill>
                <a:latin typeface="楷体" panose="02010609060101010101" pitchFamily="49" charset="-122"/>
                <a:ea typeface="楷体" panose="02010609060101010101" pitchFamily="49" charset="-122"/>
              </a:rPr>
              <a:t>DI</a:t>
            </a:r>
            <a:r>
              <a:rPr lang="zh-CN" altLang="en-US" sz="2400" b="0" dirty="0">
                <a:solidFill>
                  <a:schemeClr val="tx2"/>
                </a:solidFill>
                <a:latin typeface="楷体" panose="02010609060101010101" pitchFamily="49" charset="-122"/>
                <a:ea typeface="楷体" panose="02010609060101010101" pitchFamily="49" charset="-122"/>
              </a:rPr>
              <a:t>］，</a:t>
            </a:r>
            <a:r>
              <a:rPr lang="en-US" altLang="zh-CN" sz="2400" b="0" dirty="0">
                <a:solidFill>
                  <a:schemeClr val="tx2"/>
                </a:solidFill>
                <a:latin typeface="楷体" panose="02010609060101010101" pitchFamily="49" charset="-122"/>
                <a:ea typeface="楷体" panose="02010609060101010101" pitchFamily="49" charset="-122"/>
              </a:rPr>
              <a:t>AL</a:t>
            </a:r>
            <a:r>
              <a:rPr lang="zh-CN" altLang="en-US" sz="2400" b="0" dirty="0">
                <a:solidFill>
                  <a:schemeClr val="tx2"/>
                </a:solidFill>
                <a:latin typeface="楷体" panose="02010609060101010101" pitchFamily="49" charset="-122"/>
                <a:ea typeface="楷体" panose="02010609060101010101" pitchFamily="49" charset="-122"/>
              </a:rPr>
              <a:t>的目标代码，即机器指令。</a:t>
            </a:r>
            <a:r>
              <a:rPr lang="en-US" altLang="zh-CN" sz="2400" b="0" dirty="0">
                <a:solidFill>
                  <a:srgbClr val="000099"/>
                </a:solidFill>
                <a:latin typeface="楷体" panose="02010609060101010101" pitchFamily="49" charset="-122"/>
                <a:ea typeface="楷体" panose="02010609060101010101" pitchFamily="49" charset="-122"/>
              </a:rPr>
              <a:t>   </a:t>
            </a:r>
            <a:endParaRPr lang="zh-CN" altLang="en-US" sz="2400" b="0" dirty="0">
              <a:solidFill>
                <a:srgbClr val="000099"/>
              </a:solidFill>
              <a:latin typeface="楷体" panose="02010609060101010101" pitchFamily="49" charset="-122"/>
              <a:ea typeface="楷体" panose="02010609060101010101" pitchFamily="49" charset="-122"/>
            </a:endParaRPr>
          </a:p>
        </p:txBody>
      </p:sp>
      <p:sp>
        <p:nvSpPr>
          <p:cNvPr id="5" name="矩形 7"/>
          <p:cNvSpPr>
            <a:spLocks noChangeArrowheads="1"/>
          </p:cNvSpPr>
          <p:nvPr/>
        </p:nvSpPr>
        <p:spPr bwMode="auto">
          <a:xfrm>
            <a:off x="611188" y="1844675"/>
            <a:ext cx="8250237" cy="944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05000"/>
              </a:lnSpc>
              <a:buClr>
                <a:schemeClr val="tx2"/>
              </a:buClr>
              <a:buFont typeface="Arial" panose="020B0604020202020204" pitchFamily="34" charset="0"/>
              <a:buNone/>
            </a:pPr>
            <a:r>
              <a:rPr lang="zh-CN" altLang="en-US" sz="2800">
                <a:solidFill>
                  <a:schemeClr val="bg2"/>
                </a:solidFill>
                <a:latin typeface="楷体" panose="02010609060101010101" pitchFamily="49" charset="-122"/>
                <a:ea typeface="楷体" panose="02010609060101010101" pitchFamily="49" charset="-122"/>
              </a:rPr>
              <a:t>段超越或段更换是在地址表达式前写上段名或段寄存器来表示的。</a:t>
            </a:r>
          </a:p>
        </p:txBody>
      </p:sp>
      <p:sp>
        <p:nvSpPr>
          <p:cNvPr id="6" name="矩形 8"/>
          <p:cNvSpPr>
            <a:spLocks noChangeArrowheads="1"/>
          </p:cNvSpPr>
          <p:nvPr/>
        </p:nvSpPr>
        <p:spPr bwMode="auto">
          <a:xfrm>
            <a:off x="0" y="1052513"/>
            <a:ext cx="51657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 段超越或段更换</a:t>
            </a:r>
            <a:endParaRPr lang="zh-CN" altLang="en-US" sz="280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92788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常用指令</a:t>
            </a:r>
          </a:p>
        </p:txBody>
      </p:sp>
      <p:sp>
        <p:nvSpPr>
          <p:cNvPr id="3" name="Rectangle 3"/>
          <p:cNvSpPr txBox="1">
            <a:spLocks noChangeArrowheads="1"/>
          </p:cNvSpPr>
          <p:nvPr/>
        </p:nvSpPr>
        <p:spPr>
          <a:xfrm>
            <a:off x="2484566" y="1611020"/>
            <a:ext cx="6185655" cy="3656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dirty="0">
                <a:latin typeface="楷体" panose="02010609060101010101" pitchFamily="49" charset="-122"/>
                <a:ea typeface="楷体" panose="02010609060101010101" pitchFamily="49" charset="-122"/>
              </a:rPr>
              <a:t>      ① </a:t>
            </a:r>
            <a:r>
              <a:rPr lang="zh-CN" altLang="en-US" dirty="0">
                <a:solidFill>
                  <a:srgbClr val="00B0F0"/>
                </a:solidFill>
                <a:latin typeface="楷体" panose="02010609060101010101" pitchFamily="49" charset="-122"/>
                <a:ea typeface="楷体" panose="02010609060101010101" pitchFamily="49" charset="-122"/>
              </a:rPr>
              <a:t>数据传送</a:t>
            </a:r>
            <a:r>
              <a:rPr lang="zh-CN" altLang="en-US" dirty="0">
                <a:latin typeface="楷体" panose="02010609060101010101" pitchFamily="49" charset="-122"/>
                <a:ea typeface="楷体" panose="02010609060101010101" pitchFamily="49" charset="-122"/>
              </a:rPr>
              <a:t>指令</a:t>
            </a:r>
            <a:endParaRPr lang="en-US" altLang="zh-CN" dirty="0">
              <a:latin typeface="楷体" panose="02010609060101010101" pitchFamily="49" charset="-122"/>
              <a:ea typeface="楷体" panose="02010609060101010101" pitchFamily="49" charset="-122"/>
            </a:endParaRPr>
          </a:p>
          <a:p>
            <a:pPr marL="0" indent="0">
              <a:lnSpc>
                <a:spcPct val="125000"/>
              </a:lnSpc>
              <a:buNone/>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② </a:t>
            </a:r>
            <a:r>
              <a:rPr lang="zh-CN" altLang="en-US" dirty="0">
                <a:solidFill>
                  <a:srgbClr val="00B0F0"/>
                </a:solidFill>
                <a:latin typeface="楷体" panose="02010609060101010101" pitchFamily="49" charset="-122"/>
                <a:ea typeface="楷体" panose="02010609060101010101" pitchFamily="49" charset="-122"/>
              </a:rPr>
              <a:t>加减运算</a:t>
            </a:r>
            <a:r>
              <a:rPr lang="zh-CN" altLang="en-US" dirty="0">
                <a:latin typeface="楷体" panose="02010609060101010101" pitchFamily="49" charset="-122"/>
                <a:ea typeface="楷体" panose="02010609060101010101" pitchFamily="49" charset="-122"/>
              </a:rPr>
              <a:t>指令</a:t>
            </a:r>
            <a:endParaRPr lang="en-US" altLang="zh-CN" dirty="0">
              <a:latin typeface="楷体" panose="02010609060101010101" pitchFamily="49" charset="-122"/>
              <a:ea typeface="楷体" panose="02010609060101010101" pitchFamily="49" charset="-122"/>
            </a:endParaRPr>
          </a:p>
          <a:p>
            <a:pPr marL="0" indent="0">
              <a:lnSpc>
                <a:spcPct val="125000"/>
              </a:lnSpc>
              <a:buNone/>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③ </a:t>
            </a:r>
            <a:r>
              <a:rPr lang="zh-CN" altLang="en-US" dirty="0">
                <a:solidFill>
                  <a:srgbClr val="00B0F0"/>
                </a:solidFill>
                <a:latin typeface="楷体" panose="02010609060101010101" pitchFamily="49" charset="-122"/>
                <a:ea typeface="楷体" panose="02010609060101010101" pitchFamily="49" charset="-122"/>
              </a:rPr>
              <a:t>逻辑运算</a:t>
            </a:r>
            <a:r>
              <a:rPr lang="zh-CN" altLang="en-US" dirty="0">
                <a:latin typeface="楷体" panose="02010609060101010101" pitchFamily="49" charset="-122"/>
                <a:ea typeface="楷体" panose="02010609060101010101" pitchFamily="49" charset="-122"/>
              </a:rPr>
              <a:t>指令</a:t>
            </a:r>
          </a:p>
          <a:p>
            <a:pPr marL="0" indent="0">
              <a:lnSpc>
                <a:spcPct val="125000"/>
              </a:lnSpc>
              <a:buNone/>
            </a:pP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④ </a:t>
            </a:r>
            <a:r>
              <a:rPr lang="zh-CN" altLang="en-US" dirty="0">
                <a:solidFill>
                  <a:srgbClr val="00B0F0"/>
                </a:solidFill>
                <a:latin typeface="楷体" panose="02010609060101010101" pitchFamily="49" charset="-122"/>
                <a:ea typeface="楷体" panose="02010609060101010101" pitchFamily="49" charset="-122"/>
              </a:rPr>
              <a:t>移位</a:t>
            </a:r>
            <a:r>
              <a:rPr lang="zh-CN" altLang="en-US" dirty="0">
                <a:latin typeface="楷体" panose="02010609060101010101" pitchFamily="49" charset="-122"/>
                <a:ea typeface="楷体" panose="02010609060101010101" pitchFamily="49" charset="-122"/>
              </a:rPr>
              <a:t>指令</a:t>
            </a:r>
            <a:endParaRPr lang="en-US" altLang="zh-CN" dirty="0">
              <a:latin typeface="楷体" panose="02010609060101010101" pitchFamily="49" charset="-122"/>
              <a:ea typeface="楷体" panose="02010609060101010101" pitchFamily="49" charset="-122"/>
            </a:endParaRPr>
          </a:p>
          <a:p>
            <a:pPr marL="0" indent="0">
              <a:lnSpc>
                <a:spcPct val="125000"/>
              </a:lnSpc>
              <a:buNone/>
            </a:pP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a:p>
            <a:pPr marL="0" indent="0">
              <a:lnSpc>
                <a:spcPct val="125000"/>
              </a:lnSpc>
              <a:buNone/>
            </a:pPr>
            <a:r>
              <a:rPr lang="zh-CN" altLang="en-US" dirty="0">
                <a:latin typeface="楷体" panose="02010609060101010101" pitchFamily="49" charset="-122"/>
                <a:ea typeface="楷体" panose="02010609060101010101" pitchFamily="49" charset="-122"/>
              </a:rPr>
              <a:t>      注意</a:t>
            </a:r>
            <a:r>
              <a:rPr lang="zh-CN" altLang="en-US" dirty="0">
                <a:solidFill>
                  <a:srgbClr val="FF0066"/>
                </a:solidFill>
                <a:latin typeface="楷体" panose="02010609060101010101" pitchFamily="49" charset="-122"/>
                <a:ea typeface="楷体" panose="02010609060101010101" pitchFamily="49" charset="-122"/>
              </a:rPr>
              <a:t>指令格式及功能</a:t>
            </a:r>
          </a:p>
        </p:txBody>
      </p:sp>
    </p:spTree>
    <p:extLst>
      <p:ext uri="{BB962C8B-B14F-4D97-AF65-F5344CB8AC3E}">
        <p14:creationId xmlns:p14="http://schemas.microsoft.com/office/powerpoint/2010/main" val="2260822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数据传送类指令</a:t>
            </a:r>
          </a:p>
        </p:txBody>
      </p:sp>
      <p:sp>
        <p:nvSpPr>
          <p:cNvPr id="3" name="Rectangle 7"/>
          <p:cNvSpPr txBox="1">
            <a:spLocks noChangeArrowheads="1"/>
          </p:cNvSpPr>
          <p:nvPr/>
        </p:nvSpPr>
        <p:spPr>
          <a:xfrm>
            <a:off x="250825" y="1268413"/>
            <a:ext cx="8645525" cy="54075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Clr>
                <a:schemeClr val="tx2"/>
              </a:buClr>
              <a:buNone/>
            </a:pPr>
            <a:r>
              <a:rPr lang="zh-CN" altLang="en-US" sz="2400" dirty="0">
                <a:solidFill>
                  <a:srgbClr val="FF0000"/>
                </a:solidFill>
                <a:latin typeface="楷体" panose="02010609060101010101" pitchFamily="49" charset="-122"/>
                <a:ea typeface="楷体" panose="02010609060101010101" pitchFamily="49" charset="-122"/>
              </a:rPr>
              <a:t>特点：</a:t>
            </a: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将数据从计算机一个部位传送到另一部位；</a:t>
            </a:r>
            <a:endParaRPr lang="en-US" altLang="zh-CN" sz="2400" dirty="0">
              <a:latin typeface="楷体" panose="02010609060101010101" pitchFamily="49" charset="-122"/>
              <a:ea typeface="楷体" panose="02010609060101010101" pitchFamily="49" charset="-122"/>
            </a:endParaRPr>
          </a:p>
          <a:p>
            <a:pPr marL="0" indent="0">
              <a:lnSpc>
                <a:spcPct val="150000"/>
              </a:lnSpc>
              <a:spcAft>
                <a:spcPts val="1200"/>
              </a:spcAft>
              <a:buClr>
                <a:schemeClr val="tx2"/>
              </a:buClr>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大多数</a:t>
            </a:r>
            <a:r>
              <a:rPr lang="zh-CN" altLang="en-US" sz="2400" dirty="0">
                <a:solidFill>
                  <a:srgbClr val="FF0000"/>
                </a:solidFill>
                <a:latin typeface="楷体" panose="02010609060101010101" pitchFamily="49" charset="-122"/>
                <a:ea typeface="楷体" panose="02010609060101010101" pitchFamily="49" charset="-122"/>
              </a:rPr>
              <a:t>数据传送指令</a:t>
            </a:r>
            <a:r>
              <a:rPr lang="zh-CN" altLang="en-US" sz="2400" dirty="0">
                <a:latin typeface="楷体" panose="02010609060101010101" pitchFamily="49" charset="-122"/>
                <a:ea typeface="楷体" panose="02010609060101010101" pitchFamily="49" charset="-122"/>
              </a:rPr>
              <a:t>是将源中的数据送到目的地， </a:t>
            </a:r>
            <a:r>
              <a:rPr lang="zh-CN" altLang="en-US" sz="2400" dirty="0">
                <a:solidFill>
                  <a:srgbClr val="FF0000"/>
                </a:solidFill>
                <a:latin typeface="楷体" panose="02010609060101010101" pitchFamily="49" charset="-122"/>
                <a:ea typeface="楷体" panose="02010609060101010101" pitchFamily="49" charset="-122"/>
              </a:rPr>
              <a:t>交换指令</a:t>
            </a:r>
            <a:r>
              <a:rPr lang="zh-CN" altLang="en-US" sz="2400" dirty="0">
                <a:latin typeface="楷体" panose="02010609060101010101" pitchFamily="49" charset="-122"/>
                <a:ea typeface="楷体" panose="02010609060101010101" pitchFamily="49" charset="-122"/>
              </a:rPr>
              <a:t>是将源和目的地中的数据进行交换。</a:t>
            </a:r>
            <a:endParaRPr lang="en-US" altLang="zh-CN" sz="2400" dirty="0">
              <a:latin typeface="楷体" panose="02010609060101010101" pitchFamily="49" charset="-122"/>
              <a:ea typeface="楷体" panose="02010609060101010101" pitchFamily="49" charset="-122"/>
            </a:endParaRPr>
          </a:p>
          <a:p>
            <a:pPr marL="0" indent="0">
              <a:lnSpc>
                <a:spcPct val="150000"/>
              </a:lnSpc>
              <a:buNone/>
            </a:pPr>
            <a:r>
              <a:rPr lang="en-US" altLang="zh-CN" sz="2400" dirty="0">
                <a:solidFill>
                  <a:srgbClr val="00B0F0"/>
                </a:solidFill>
                <a:latin typeface="楷体" panose="02010609060101010101" pitchFamily="49" charset="-122"/>
                <a:ea typeface="楷体" panose="02010609060101010101" pitchFamily="49" charset="-122"/>
              </a:rPr>
              <a:t>1. </a:t>
            </a:r>
            <a:r>
              <a:rPr lang="zh-CN" altLang="en-US" sz="2400" dirty="0">
                <a:solidFill>
                  <a:srgbClr val="00B0F0"/>
                </a:solidFill>
                <a:latin typeface="楷体" panose="02010609060101010101" pitchFamily="49" charset="-122"/>
                <a:ea typeface="楷体" panose="02010609060101010101" pitchFamily="49" charset="-122"/>
              </a:rPr>
              <a:t>通用数据传送指令</a:t>
            </a:r>
          </a:p>
          <a:p>
            <a:pPr marL="0" indent="0">
              <a:lnSpc>
                <a:spcPct val="150000"/>
              </a:lnSpc>
              <a:buNone/>
            </a:pPr>
            <a:r>
              <a:rPr lang="zh-CN" altLang="en-US" sz="2400" dirty="0">
                <a:solidFill>
                  <a:srgbClr val="FF0000"/>
                </a:solidFill>
                <a:latin typeface="楷体" panose="02010609060101010101" pitchFamily="49" charset="-122"/>
                <a:ea typeface="楷体" panose="02010609060101010101" pitchFamily="49" charset="-122"/>
              </a:rPr>
              <a:t>   格式： </a:t>
            </a:r>
            <a:r>
              <a:rPr lang="en-US" altLang="zh-CN" sz="2400" dirty="0">
                <a:solidFill>
                  <a:srgbClr val="FF0066"/>
                </a:solidFill>
                <a:latin typeface="楷体" panose="02010609060101010101" pitchFamily="49" charset="-122"/>
                <a:ea typeface="楷体" panose="02010609060101010101" pitchFamily="49" charset="-122"/>
              </a:rPr>
              <a:t>MOV    </a:t>
            </a:r>
            <a:r>
              <a:rPr lang="en-US" altLang="zh-CN" sz="2400" dirty="0" err="1">
                <a:solidFill>
                  <a:srgbClr val="FF0066"/>
                </a:solidFill>
                <a:latin typeface="楷体" panose="02010609060101010101" pitchFamily="49" charset="-122"/>
                <a:ea typeface="楷体" panose="02010609060101010101" pitchFamily="49" charset="-122"/>
              </a:rPr>
              <a:t>dest</a:t>
            </a:r>
            <a:r>
              <a:rPr lang="en-US" altLang="zh-CN" sz="2400" dirty="0">
                <a:solidFill>
                  <a:srgbClr val="FF0066"/>
                </a:solidFill>
                <a:latin typeface="楷体" panose="02010609060101010101" pitchFamily="49" charset="-122"/>
                <a:ea typeface="楷体" panose="02010609060101010101" pitchFamily="49" charset="-122"/>
              </a:rPr>
              <a:t> </a:t>
            </a:r>
            <a:r>
              <a:rPr lang="zh-CN" altLang="en-US" sz="2400" dirty="0">
                <a:solidFill>
                  <a:srgbClr val="FF0066"/>
                </a:solidFill>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50000"/>
              </a:lnSpc>
              <a:buNone/>
            </a:pPr>
            <a:r>
              <a:rPr lang="en-US" altLang="zh-CN" sz="2400" dirty="0">
                <a:latin typeface="楷体" panose="02010609060101010101" pitchFamily="49" charset="-122"/>
                <a:ea typeface="楷体" panose="02010609060101010101" pitchFamily="49" charset="-122"/>
              </a:rPr>
              <a:t>              </a:t>
            </a:r>
            <a:r>
              <a:rPr lang="zh-CN" altLang="en-US" sz="2400" dirty="0">
                <a:solidFill>
                  <a:schemeClr val="accent1"/>
                </a:solidFill>
                <a:latin typeface="楷体" panose="02010609060101010101" pitchFamily="49" charset="-122"/>
                <a:ea typeface="楷体" panose="02010609060101010101" pitchFamily="49" charset="-122"/>
              </a:rPr>
              <a:t>目的操作数  源操作数</a:t>
            </a:r>
          </a:p>
          <a:p>
            <a:pPr marL="0" indent="0">
              <a:lnSpc>
                <a:spcPct val="150000"/>
              </a:lnSpc>
              <a:buNone/>
            </a:pPr>
            <a:r>
              <a:rPr lang="zh-CN" altLang="en-US" sz="2400" dirty="0">
                <a:solidFill>
                  <a:srgbClr val="FF0000"/>
                </a:solidFill>
                <a:latin typeface="楷体" panose="02010609060101010101" pitchFamily="49" charset="-122"/>
                <a:ea typeface="楷体" panose="02010609060101010101" pitchFamily="49" charset="-122"/>
              </a:rPr>
              <a:t>   功能：</a:t>
            </a:r>
            <a:r>
              <a:rPr lang="zh-CN" altLang="en-US" sz="2400" dirty="0">
                <a:latin typeface="楷体" panose="02010609060101010101" pitchFamily="49" charset="-122"/>
                <a:ea typeface="楷体" panose="02010609060101010101" pitchFamily="49" charset="-122"/>
              </a:rPr>
              <a:t>将一个</a:t>
            </a:r>
            <a:r>
              <a:rPr lang="zh-CN" altLang="en-US" sz="2400" dirty="0">
                <a:solidFill>
                  <a:srgbClr val="FF0000"/>
                </a:solidFill>
                <a:latin typeface="楷体" panose="02010609060101010101" pitchFamily="49" charset="-122"/>
                <a:ea typeface="楷体" panose="02010609060101010101" pitchFamily="49" charset="-122"/>
              </a:rPr>
              <a:t>字节</a:t>
            </a:r>
            <a:r>
              <a:rPr lang="zh-CN" altLang="en-US" sz="2400" dirty="0">
                <a:latin typeface="楷体" panose="02010609060101010101" pitchFamily="49" charset="-122"/>
                <a:ea typeface="楷体" panose="02010609060101010101" pitchFamily="49" charset="-122"/>
              </a:rPr>
              <a:t>或一个</a:t>
            </a:r>
            <a:r>
              <a:rPr lang="zh-CN" altLang="en-US" sz="2400" dirty="0">
                <a:solidFill>
                  <a:srgbClr val="FF0000"/>
                </a:solidFill>
                <a:latin typeface="楷体" panose="02010609060101010101" pitchFamily="49" charset="-122"/>
                <a:ea typeface="楷体" panose="02010609060101010101" pitchFamily="49" charset="-122"/>
              </a:rPr>
              <a:t>字</a:t>
            </a:r>
            <a:r>
              <a:rPr lang="zh-CN" altLang="en-US" sz="2400" dirty="0">
                <a:latin typeface="楷体" panose="02010609060101010101" pitchFamily="49" charset="-122"/>
                <a:ea typeface="楷体" panose="02010609060101010101" pitchFamily="49" charset="-122"/>
              </a:rPr>
              <a:t>或一个双字数据从源传送至目的     地址中，源保持不变</a:t>
            </a:r>
          </a:p>
        </p:txBody>
      </p:sp>
    </p:spTree>
    <p:extLst>
      <p:ext uri="{BB962C8B-B14F-4D97-AF65-F5344CB8AC3E}">
        <p14:creationId xmlns:p14="http://schemas.microsoft.com/office/powerpoint/2010/main" val="1183325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4925" y="1095375"/>
            <a:ext cx="4248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MOV</a:t>
            </a:r>
            <a:r>
              <a:rPr lang="zh-CN" altLang="en-US" sz="2400" dirty="0">
                <a:latin typeface="楷体" panose="02010609060101010101" pitchFamily="49" charset="-122"/>
                <a:ea typeface="楷体" panose="02010609060101010101" pitchFamily="49" charset="-122"/>
              </a:rPr>
              <a:t>指令的</a:t>
            </a:r>
            <a:r>
              <a:rPr lang="en-US" altLang="zh-CN" sz="2400" dirty="0">
                <a:solidFill>
                  <a:srgbClr val="FF0000"/>
                </a:solidFill>
                <a:latin typeface="楷体" panose="02010609060101010101" pitchFamily="49" charset="-122"/>
                <a:ea typeface="楷体" panose="02010609060101010101" pitchFamily="49" charset="-122"/>
              </a:rPr>
              <a:t>9</a:t>
            </a:r>
            <a:r>
              <a:rPr lang="zh-CN" altLang="en-US" sz="2400" dirty="0">
                <a:solidFill>
                  <a:srgbClr val="FF0000"/>
                </a:solidFill>
                <a:latin typeface="楷体" panose="02010609060101010101" pitchFamily="49" charset="-122"/>
                <a:ea typeface="楷体" panose="02010609060101010101" pitchFamily="49" charset="-122"/>
              </a:rPr>
              <a:t>种</a:t>
            </a:r>
            <a:r>
              <a:rPr lang="zh-CN" altLang="en-US" sz="2400" dirty="0">
                <a:latin typeface="楷体" panose="02010609060101010101" pitchFamily="49" charset="-122"/>
                <a:ea typeface="楷体" panose="02010609060101010101" pitchFamily="49" charset="-122"/>
              </a:rPr>
              <a:t>形式：</a:t>
            </a:r>
          </a:p>
        </p:txBody>
      </p:sp>
      <p:sp>
        <p:nvSpPr>
          <p:cNvPr id="3" name="Rectangle 6"/>
          <p:cNvSpPr>
            <a:spLocks noChangeArrowheads="1"/>
          </p:cNvSpPr>
          <p:nvPr/>
        </p:nvSpPr>
        <p:spPr bwMode="auto">
          <a:xfrm>
            <a:off x="0" y="2152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endParaRPr lang="zh-CN" altLang="en-US" sz="2800">
              <a:solidFill>
                <a:schemeClr val="tx2"/>
              </a:solidFill>
              <a:latin typeface="楷体_GB2312" pitchFamily="49" charset="-122"/>
              <a:ea typeface="楷体_GB2312" pitchFamily="49" charset="-122"/>
            </a:endParaRPr>
          </a:p>
        </p:txBody>
      </p:sp>
      <p:graphicFrame>
        <p:nvGraphicFramePr>
          <p:cNvPr id="4" name="Object 9"/>
          <p:cNvGraphicFramePr>
            <a:graphicFrameLocks/>
          </p:cNvGraphicFramePr>
          <p:nvPr/>
        </p:nvGraphicFramePr>
        <p:xfrm>
          <a:off x="5429250" y="1428750"/>
          <a:ext cx="3624263" cy="3959225"/>
        </p:xfrm>
        <a:graphic>
          <a:graphicData uri="http://schemas.openxmlformats.org/presentationml/2006/ole">
            <mc:AlternateContent xmlns:mc="http://schemas.openxmlformats.org/markup-compatibility/2006">
              <mc:Choice xmlns:v="urn:schemas-microsoft-com:vml" Requires="v">
                <p:oleObj r:id="rId2" imgW="2572109" imgH="2553056" progId="PBrush">
                  <p:embed/>
                </p:oleObj>
              </mc:Choice>
              <mc:Fallback>
                <p:oleObj r:id="rId2" imgW="2572109" imgH="2553056" progId="PBrush">
                  <p:embed/>
                  <p:pic>
                    <p:nvPicPr>
                      <p:cNvPr id="58372" name="Object 9"/>
                      <p:cNvPicPr>
                        <a:picLocks noChangeArrowheads="1"/>
                      </p:cNvPicPr>
                      <p:nvPr/>
                    </p:nvPicPr>
                    <p:blipFill>
                      <a:blip r:embed="rId3">
                        <a:extLst>
                          <a:ext uri="{28A0092B-C50C-407E-A947-70E740481C1C}">
                            <a14:useLocalDpi xmlns:a14="http://schemas.microsoft.com/office/drawing/2010/main" val="0"/>
                          </a:ext>
                        </a:extLst>
                      </a:blip>
                      <a:srcRect l="1399" t="1410" r="1399" b="2820"/>
                      <a:stretch>
                        <a:fillRect/>
                      </a:stretch>
                    </p:blipFill>
                    <p:spPr bwMode="auto">
                      <a:xfrm>
                        <a:off x="5429250" y="1428750"/>
                        <a:ext cx="3624263"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Rectangle 7"/>
          <p:cNvSpPr>
            <a:spLocks noChangeArrowheads="1"/>
          </p:cNvSpPr>
          <p:nvPr/>
        </p:nvSpPr>
        <p:spPr bwMode="auto">
          <a:xfrm>
            <a:off x="7938" y="1609725"/>
            <a:ext cx="5643562"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Arial" panose="020B0604020202020204" pitchFamily="34" charset="0"/>
              <a:buAutoNum type="circleNumDbPlain"/>
            </a:pPr>
            <a:r>
              <a:rPr lang="en-US" altLang="zh-CN" sz="2100" b="0" dirty="0">
                <a:latin typeface="楷体" panose="02010609060101010101" pitchFamily="49" charset="-122"/>
                <a:ea typeface="楷体" panose="02010609060101010101" pitchFamily="49" charset="-122"/>
              </a:rPr>
              <a:t> MOV  REG,  REG;  </a:t>
            </a:r>
            <a:r>
              <a:rPr lang="zh-CN" altLang="en-US" sz="2100" b="0" dirty="0">
                <a:latin typeface="楷体" panose="02010609060101010101" pitchFamily="49" charset="-122"/>
                <a:ea typeface="楷体" panose="02010609060101010101" pitchFamily="49" charset="-122"/>
              </a:rPr>
              <a:t>通用寄存器间传送</a:t>
            </a:r>
          </a:p>
          <a:p>
            <a:pPr eaLnBrk="1" hangingPunct="1">
              <a:lnSpc>
                <a:spcPct val="125000"/>
              </a:lnSpc>
              <a:spcBef>
                <a:spcPct val="0"/>
              </a:spcBef>
              <a:buFont typeface="Arial" panose="020B0604020202020204" pitchFamily="34" charset="0"/>
              <a:buAutoNum type="circleNumDbPlain" startAt="2"/>
            </a:pPr>
            <a:r>
              <a:rPr lang="en-US" altLang="zh-CN" sz="2100" b="0" dirty="0">
                <a:latin typeface="楷体" panose="02010609060101010101" pitchFamily="49" charset="-122"/>
                <a:ea typeface="楷体" panose="02010609060101010101" pitchFamily="49" charset="-122"/>
              </a:rPr>
              <a:t> MOV  REG,  IMM;  </a:t>
            </a:r>
            <a:r>
              <a:rPr lang="zh-CN" altLang="en-US" sz="2100" b="0" dirty="0">
                <a:latin typeface="楷体" panose="02010609060101010101" pitchFamily="49" charset="-122"/>
                <a:ea typeface="楷体" panose="02010609060101010101" pitchFamily="49" charset="-122"/>
              </a:rPr>
              <a:t>立即数送通用寄存器</a:t>
            </a:r>
          </a:p>
          <a:p>
            <a:pPr eaLnBrk="1" hangingPunct="1">
              <a:lnSpc>
                <a:spcPct val="125000"/>
              </a:lnSpc>
              <a:spcBef>
                <a:spcPct val="0"/>
              </a:spcBef>
              <a:buFont typeface="Arial" panose="020B0604020202020204" pitchFamily="34" charset="0"/>
              <a:buAutoNum type="circleNumDbPlain" startAt="3"/>
            </a:pPr>
            <a:r>
              <a:rPr lang="en-US" altLang="zh-CN" sz="2100" b="0" dirty="0">
                <a:latin typeface="楷体" panose="02010609060101010101" pitchFamily="49" charset="-122"/>
                <a:ea typeface="楷体" panose="02010609060101010101" pitchFamily="49" charset="-122"/>
              </a:rPr>
              <a:t> MOV  MEM,  IMM;  </a:t>
            </a:r>
            <a:r>
              <a:rPr lang="zh-CN" altLang="en-US" sz="2100" b="0" dirty="0">
                <a:latin typeface="楷体" panose="02010609060101010101" pitchFamily="49" charset="-122"/>
                <a:ea typeface="楷体" panose="02010609060101010101" pitchFamily="49" charset="-122"/>
              </a:rPr>
              <a:t>立即数送存储器</a:t>
            </a:r>
            <a:endParaRPr lang="en-US" altLang="zh-CN" sz="2100" b="0" dirty="0">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AutoNum type="circleNumDbPlain" startAt="3"/>
            </a:pPr>
            <a:r>
              <a:rPr lang="en-US" altLang="zh-CN" sz="2100" b="0" dirty="0">
                <a:latin typeface="楷体" panose="02010609060101010101" pitchFamily="49" charset="-122"/>
                <a:ea typeface="楷体" panose="02010609060101010101" pitchFamily="49" charset="-122"/>
              </a:rPr>
              <a:t> MOV  MEM,  REG;  </a:t>
            </a:r>
            <a:r>
              <a:rPr lang="zh-CN" altLang="en-US" sz="2100" b="0" dirty="0">
                <a:latin typeface="楷体" panose="02010609060101010101" pitchFamily="49" charset="-122"/>
                <a:ea typeface="楷体" panose="02010609060101010101" pitchFamily="49" charset="-122"/>
              </a:rPr>
              <a:t>通用寄存器送存储器</a:t>
            </a:r>
          </a:p>
          <a:p>
            <a:pPr eaLnBrk="1" hangingPunct="1">
              <a:lnSpc>
                <a:spcPct val="125000"/>
              </a:lnSpc>
              <a:spcBef>
                <a:spcPct val="0"/>
              </a:spcBef>
              <a:buFont typeface="Arial" panose="020B0604020202020204" pitchFamily="34" charset="0"/>
              <a:buAutoNum type="circleNumDbPlain" startAt="5"/>
            </a:pPr>
            <a:r>
              <a:rPr lang="en-US" altLang="zh-CN" sz="2100" b="0" dirty="0">
                <a:latin typeface="楷体" panose="02010609060101010101" pitchFamily="49" charset="-122"/>
                <a:ea typeface="楷体" panose="02010609060101010101" pitchFamily="49" charset="-122"/>
              </a:rPr>
              <a:t> MOV  REG,  MEM;  </a:t>
            </a:r>
            <a:r>
              <a:rPr lang="zh-CN" altLang="en-US" sz="2100" b="0" dirty="0">
                <a:latin typeface="楷体" panose="02010609060101010101" pitchFamily="49" charset="-122"/>
                <a:ea typeface="楷体" panose="02010609060101010101" pitchFamily="49" charset="-122"/>
              </a:rPr>
              <a:t>存储器送通用寄存器</a:t>
            </a:r>
          </a:p>
          <a:p>
            <a:pPr eaLnBrk="1" hangingPunct="1">
              <a:lnSpc>
                <a:spcPct val="125000"/>
              </a:lnSpc>
              <a:spcBef>
                <a:spcPct val="0"/>
              </a:spcBef>
              <a:buFont typeface="Arial" panose="020B0604020202020204" pitchFamily="34" charset="0"/>
              <a:buAutoNum type="circleNumDbPlain" startAt="6"/>
            </a:pPr>
            <a:r>
              <a:rPr lang="en-US" altLang="zh-CN" sz="2100" b="0" dirty="0">
                <a:latin typeface="楷体" panose="02010609060101010101" pitchFamily="49" charset="-122"/>
                <a:ea typeface="楷体" panose="02010609060101010101" pitchFamily="49" charset="-122"/>
              </a:rPr>
              <a:t> MOV  SEGREG,  REG;  </a:t>
            </a:r>
            <a:r>
              <a:rPr lang="zh-CN" altLang="en-US" sz="2100" b="0" dirty="0">
                <a:latin typeface="楷体" panose="02010609060101010101" pitchFamily="49" charset="-122"/>
                <a:ea typeface="楷体" panose="02010609060101010101" pitchFamily="49" charset="-122"/>
              </a:rPr>
              <a:t>通用寄存器送段寄存器</a:t>
            </a:r>
            <a:r>
              <a:rPr lang="en-US" altLang="zh-CN" sz="2100" b="0" dirty="0">
                <a:latin typeface="楷体" panose="02010609060101010101" pitchFamily="49" charset="-122"/>
                <a:ea typeface="楷体" panose="02010609060101010101" pitchFamily="49" charset="-122"/>
              </a:rPr>
              <a:t>,</a:t>
            </a:r>
            <a:r>
              <a:rPr lang="en-US" altLang="zh-CN" sz="2100" b="0" dirty="0">
                <a:solidFill>
                  <a:srgbClr val="FF0066"/>
                </a:solidFill>
                <a:latin typeface="楷体" panose="02010609060101010101" pitchFamily="49" charset="-122"/>
                <a:ea typeface="楷体" panose="02010609060101010101" pitchFamily="49" charset="-122"/>
              </a:rPr>
              <a:t>CS</a:t>
            </a:r>
            <a:r>
              <a:rPr lang="zh-CN" altLang="en-US" sz="2100" b="0" dirty="0">
                <a:solidFill>
                  <a:srgbClr val="FF0066"/>
                </a:solidFill>
                <a:latin typeface="楷体" panose="02010609060101010101" pitchFamily="49" charset="-122"/>
                <a:ea typeface="楷体" panose="02010609060101010101" pitchFamily="49" charset="-122"/>
              </a:rPr>
              <a:t>除外</a:t>
            </a:r>
            <a:endParaRPr lang="en-US" altLang="zh-CN" sz="2100" b="0" dirty="0">
              <a:solidFill>
                <a:srgbClr val="FF0066"/>
              </a:solidFill>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AutoNum type="circleNumDbPlain" startAt="7"/>
            </a:pPr>
            <a:r>
              <a:rPr lang="en-US" altLang="zh-CN" sz="2100" b="0" dirty="0">
                <a:latin typeface="楷体" panose="02010609060101010101" pitchFamily="49" charset="-122"/>
                <a:ea typeface="楷体" panose="02010609060101010101" pitchFamily="49" charset="-122"/>
              </a:rPr>
              <a:t> MOV  REG,  SEGREG;  </a:t>
            </a:r>
            <a:r>
              <a:rPr lang="zh-CN" altLang="en-US" sz="2100" b="0" dirty="0">
                <a:latin typeface="楷体" panose="02010609060101010101" pitchFamily="49" charset="-122"/>
                <a:ea typeface="楷体" panose="02010609060101010101" pitchFamily="49" charset="-122"/>
              </a:rPr>
              <a:t>段寄存器送通用寄存器</a:t>
            </a:r>
            <a:endParaRPr lang="en-US" altLang="zh-CN" sz="2100" b="0" dirty="0">
              <a:latin typeface="楷体" panose="02010609060101010101" pitchFamily="49" charset="-122"/>
              <a:ea typeface="楷体" panose="02010609060101010101" pitchFamily="49" charset="-122"/>
            </a:endParaRPr>
          </a:p>
          <a:p>
            <a:pPr eaLnBrk="1" hangingPunct="1">
              <a:lnSpc>
                <a:spcPct val="125000"/>
              </a:lnSpc>
              <a:spcBef>
                <a:spcPct val="0"/>
              </a:spcBef>
              <a:buFont typeface="Arial" panose="020B0604020202020204" pitchFamily="34" charset="0"/>
              <a:buAutoNum type="circleNumDbPlain" startAt="8"/>
            </a:pPr>
            <a:r>
              <a:rPr lang="en-US" altLang="zh-CN" sz="2100" b="0" dirty="0">
                <a:latin typeface="楷体" panose="02010609060101010101" pitchFamily="49" charset="-122"/>
                <a:ea typeface="楷体" panose="02010609060101010101" pitchFamily="49" charset="-122"/>
              </a:rPr>
              <a:t> MOV  SEGREG,  MEM;  </a:t>
            </a:r>
            <a:r>
              <a:rPr lang="zh-CN" altLang="en-US" sz="2100" b="0" dirty="0">
                <a:latin typeface="楷体" panose="02010609060101010101" pitchFamily="49" charset="-122"/>
                <a:ea typeface="楷体" panose="02010609060101010101" pitchFamily="49" charset="-122"/>
              </a:rPr>
              <a:t>存储器送段寄存器，</a:t>
            </a:r>
            <a:r>
              <a:rPr lang="en-US" altLang="zh-CN" sz="2100" b="0" dirty="0">
                <a:solidFill>
                  <a:srgbClr val="FF0066"/>
                </a:solidFill>
                <a:latin typeface="楷体" panose="02010609060101010101" pitchFamily="49" charset="-122"/>
                <a:ea typeface="楷体" panose="02010609060101010101" pitchFamily="49" charset="-122"/>
              </a:rPr>
              <a:t>CS</a:t>
            </a:r>
            <a:r>
              <a:rPr lang="zh-CN" altLang="en-US" sz="2100" b="0" dirty="0">
                <a:solidFill>
                  <a:srgbClr val="FF0066"/>
                </a:solidFill>
                <a:latin typeface="楷体" panose="02010609060101010101" pitchFamily="49" charset="-122"/>
                <a:ea typeface="楷体" panose="02010609060101010101" pitchFamily="49" charset="-122"/>
              </a:rPr>
              <a:t>除外</a:t>
            </a:r>
          </a:p>
          <a:p>
            <a:pPr eaLnBrk="1" hangingPunct="1">
              <a:lnSpc>
                <a:spcPct val="125000"/>
              </a:lnSpc>
              <a:spcBef>
                <a:spcPct val="0"/>
              </a:spcBef>
              <a:buFont typeface="Arial" panose="020B0604020202020204" pitchFamily="34" charset="0"/>
              <a:buAutoNum type="circleNumDbPlain" startAt="9"/>
            </a:pPr>
            <a:r>
              <a:rPr lang="en-US" altLang="zh-CN" sz="2100" b="0" dirty="0">
                <a:latin typeface="楷体" panose="02010609060101010101" pitchFamily="49" charset="-122"/>
                <a:ea typeface="楷体" panose="02010609060101010101" pitchFamily="49" charset="-122"/>
              </a:rPr>
              <a:t> MOV  MEM,  SEGREG;  </a:t>
            </a:r>
            <a:r>
              <a:rPr lang="zh-CN" altLang="en-US" sz="2100" b="0" dirty="0">
                <a:latin typeface="楷体" panose="02010609060101010101" pitchFamily="49" charset="-122"/>
                <a:ea typeface="楷体" panose="02010609060101010101" pitchFamily="49" charset="-122"/>
              </a:rPr>
              <a:t>段寄存器送存储器</a:t>
            </a:r>
            <a:endParaRPr lang="en-US" altLang="zh-CN" sz="2100" b="0" dirty="0">
              <a:solidFill>
                <a:srgbClr val="FF0066"/>
              </a:solidFill>
              <a:latin typeface="楷体" panose="02010609060101010101" pitchFamily="49" charset="-122"/>
              <a:ea typeface="楷体" panose="02010609060101010101" pitchFamily="49" charset="-122"/>
            </a:endParaRPr>
          </a:p>
        </p:txBody>
      </p:sp>
      <p:sp>
        <p:nvSpPr>
          <p:cNvPr id="7" name="Text Box 4"/>
          <p:cNvSpPr txBox="1">
            <a:spLocks noChangeArrowheads="1"/>
          </p:cNvSpPr>
          <p:nvPr/>
        </p:nvSpPr>
        <p:spPr bwMode="auto">
          <a:xfrm>
            <a:off x="5538788" y="5624513"/>
            <a:ext cx="3605212"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sz="2200" b="0" dirty="0">
                <a:solidFill>
                  <a:srgbClr val="00B0F0"/>
                </a:solidFill>
                <a:latin typeface="楷体" panose="02010609060101010101" pitchFamily="49" charset="-122"/>
                <a:ea typeface="楷体" panose="02010609060101010101" pitchFamily="49" charset="-122"/>
              </a:rPr>
              <a:t>图</a:t>
            </a:r>
            <a:r>
              <a:rPr lang="en-US" altLang="zh-CN" sz="2200" b="0" dirty="0">
                <a:solidFill>
                  <a:srgbClr val="00B0F0"/>
                </a:solidFill>
                <a:latin typeface="楷体" panose="02010609060101010101" pitchFamily="49" charset="-122"/>
                <a:ea typeface="楷体" panose="02010609060101010101" pitchFamily="49" charset="-122"/>
              </a:rPr>
              <a:t>7-3</a:t>
            </a:r>
            <a:r>
              <a:rPr lang="zh-CN" altLang="en-US" sz="2200" b="0" dirty="0">
                <a:solidFill>
                  <a:srgbClr val="00B0F0"/>
                </a:solidFill>
                <a:latin typeface="楷体" panose="02010609060101010101" pitchFamily="49" charset="-122"/>
                <a:ea typeface="楷体" panose="02010609060101010101" pitchFamily="49" charset="-122"/>
              </a:rPr>
              <a:t>：</a:t>
            </a:r>
            <a:r>
              <a:rPr lang="en-US" altLang="zh-CN" sz="2200" b="0" dirty="0">
                <a:solidFill>
                  <a:srgbClr val="00B0F0"/>
                </a:solidFill>
                <a:latin typeface="楷体" panose="02010609060101010101" pitchFamily="49" charset="-122"/>
                <a:ea typeface="楷体" panose="02010609060101010101" pitchFamily="49" charset="-122"/>
              </a:rPr>
              <a:t>MOV</a:t>
            </a:r>
            <a:r>
              <a:rPr lang="zh-CN" altLang="en-US" sz="2200" b="0" dirty="0">
                <a:solidFill>
                  <a:srgbClr val="00B0F0"/>
                </a:solidFill>
                <a:latin typeface="楷体" panose="02010609060101010101" pitchFamily="49" charset="-122"/>
                <a:ea typeface="楷体" panose="02010609060101010101" pitchFamily="49" charset="-122"/>
              </a:rPr>
              <a:t>指令的操作数及传送方向</a:t>
            </a:r>
          </a:p>
        </p:txBody>
      </p:sp>
    </p:spTree>
    <p:extLst>
      <p:ext uri="{BB962C8B-B14F-4D97-AF65-F5344CB8AC3E}">
        <p14:creationId xmlns:p14="http://schemas.microsoft.com/office/powerpoint/2010/main" val="1270265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59997" y="1510313"/>
            <a:ext cx="5827651" cy="5143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Clr>
                <a:srgbClr val="00B0F0"/>
              </a:buClr>
              <a:buSzPct val="80000"/>
              <a:buNone/>
            </a:pPr>
            <a:r>
              <a:rPr lang="zh-CN" altLang="en-US" sz="2000" b="1" dirty="0">
                <a:latin typeface="楷体" panose="02010609060101010101" pitchFamily="49" charset="-122"/>
                <a:ea typeface="楷体" panose="02010609060101010101" pitchFamily="49" charset="-122"/>
              </a:rPr>
              <a:t>注意：</a:t>
            </a:r>
            <a:r>
              <a:rPr lang="en-US" altLang="zh-CN" sz="2000" b="1" dirty="0">
                <a:latin typeface="楷体" panose="02010609060101010101" pitchFamily="49" charset="-122"/>
                <a:ea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rPr>
              <a:t>指令格式： </a:t>
            </a:r>
            <a:r>
              <a:rPr lang="en-US" altLang="zh-CN" sz="2000" dirty="0">
                <a:solidFill>
                  <a:srgbClr val="FF0066"/>
                </a:solidFill>
                <a:latin typeface="楷体" panose="02010609060101010101" pitchFamily="49" charset="-122"/>
                <a:ea typeface="楷体" panose="02010609060101010101" pitchFamily="49" charset="-122"/>
              </a:rPr>
              <a:t>MOV    </a:t>
            </a:r>
            <a:r>
              <a:rPr lang="en-US" altLang="zh-CN" sz="2000" dirty="0" err="1">
                <a:solidFill>
                  <a:srgbClr val="FF0066"/>
                </a:solidFill>
                <a:latin typeface="楷体" panose="02010609060101010101" pitchFamily="49" charset="-122"/>
                <a:ea typeface="楷体" panose="02010609060101010101" pitchFamily="49" charset="-122"/>
              </a:rPr>
              <a:t>dest</a:t>
            </a:r>
            <a:r>
              <a:rPr lang="zh-CN" altLang="en-US" sz="2000" dirty="0">
                <a:solidFill>
                  <a:srgbClr val="FF0066"/>
                </a:solidFill>
                <a:latin typeface="楷体" panose="02010609060101010101" pitchFamily="49" charset="-122"/>
                <a:ea typeface="楷体" panose="02010609060101010101" pitchFamily="49" charset="-122"/>
              </a:rPr>
              <a:t>， </a:t>
            </a:r>
            <a:r>
              <a:rPr lang="en-US" altLang="zh-CN" sz="2000" dirty="0">
                <a:solidFill>
                  <a:srgbClr val="FF0066"/>
                </a:solidFill>
                <a:latin typeface="楷体" panose="02010609060101010101" pitchFamily="49" charset="-122"/>
                <a:ea typeface="楷体" panose="02010609060101010101" pitchFamily="49" charset="-122"/>
              </a:rPr>
              <a:t>source</a:t>
            </a:r>
            <a:r>
              <a:rPr lang="zh-CN" altLang="en-US" sz="2000" dirty="0">
                <a:latin typeface="楷体" panose="02010609060101010101" pitchFamily="49" charset="-122"/>
                <a:ea typeface="楷体" panose="02010609060101010101" pitchFamily="49" charset="-122"/>
              </a:rPr>
              <a:t>）</a:t>
            </a:r>
            <a:endParaRPr lang="en-US" altLang="zh-CN" sz="2000" b="1" dirty="0">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一个指令中，两操作数</a:t>
            </a:r>
            <a:r>
              <a:rPr lang="zh-CN" altLang="en-US" sz="2000" dirty="0">
                <a:solidFill>
                  <a:srgbClr val="FF0066"/>
                </a:solidFill>
                <a:latin typeface="楷体" panose="02010609060101010101" pitchFamily="49" charset="-122"/>
                <a:ea typeface="楷体" panose="02010609060101010101" pitchFamily="49" charset="-122"/>
              </a:rPr>
              <a:t>类型必须一致</a:t>
            </a:r>
            <a:endParaRPr lang="en-US" altLang="zh-CN" sz="2000" dirty="0">
              <a:solidFill>
                <a:srgbClr val="FF0066"/>
              </a:solidFill>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至少</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个操作数的</a:t>
            </a:r>
            <a:r>
              <a:rPr lang="zh-CN" altLang="en-US" sz="2000" dirty="0">
                <a:solidFill>
                  <a:srgbClr val="FF0066"/>
                </a:solidFill>
                <a:latin typeface="楷体" panose="02010609060101010101" pitchFamily="49" charset="-122"/>
                <a:ea typeface="楷体" panose="02010609060101010101" pitchFamily="49" charset="-122"/>
              </a:rPr>
              <a:t>类型要明确</a:t>
            </a:r>
            <a:r>
              <a:rPr lang="zh-CN" altLang="en-US" sz="2000" dirty="0">
                <a:latin typeface="楷体" panose="02010609060101010101" pitchFamily="49" charset="-122"/>
                <a:ea typeface="楷体" panose="02010609060101010101" pitchFamily="49" charset="-122"/>
              </a:rPr>
              <a:t>，不能出现二义性</a:t>
            </a:r>
            <a:endParaRPr lang="en-US" altLang="zh-CN" sz="2000" dirty="0">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代码段寄存器</a:t>
            </a:r>
            <a:r>
              <a:rPr lang="en-US" altLang="zh-CN" sz="2000" dirty="0">
                <a:solidFill>
                  <a:srgbClr val="FF0066"/>
                </a:solidFill>
                <a:latin typeface="楷体" panose="02010609060101010101" pitchFamily="49" charset="-122"/>
                <a:ea typeface="楷体" panose="02010609060101010101" pitchFamily="49" charset="-122"/>
              </a:rPr>
              <a:t>CS</a:t>
            </a:r>
            <a:r>
              <a:rPr lang="zh-CN" altLang="en-US" sz="2000" dirty="0">
                <a:latin typeface="楷体" panose="02010609060101010101" pitchFamily="49" charset="-122"/>
                <a:ea typeface="楷体" panose="02010609060101010101" pitchFamily="49" charset="-122"/>
              </a:rPr>
              <a:t>和</a:t>
            </a:r>
            <a:r>
              <a:rPr lang="zh-CN" altLang="en-US" sz="2000" dirty="0">
                <a:solidFill>
                  <a:srgbClr val="FF0066"/>
                </a:solidFill>
                <a:latin typeface="楷体" panose="02010609060101010101" pitchFamily="49" charset="-122"/>
                <a:ea typeface="楷体" panose="02010609060101010101" pitchFamily="49" charset="-122"/>
              </a:rPr>
              <a:t>立即数</a:t>
            </a:r>
            <a:r>
              <a:rPr lang="zh-CN" altLang="en-US" sz="2000" dirty="0">
                <a:latin typeface="楷体" panose="02010609060101010101" pitchFamily="49" charset="-122"/>
                <a:ea typeface="楷体" panose="02010609060101010101" pitchFamily="49" charset="-122"/>
              </a:rPr>
              <a:t>均不能作为目的操作数</a:t>
            </a:r>
            <a:endParaRPr lang="en-US" altLang="zh-CN" sz="2000" dirty="0">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源操作数和目的操作数</a:t>
            </a:r>
            <a:r>
              <a:rPr lang="zh-CN" altLang="en-US" sz="2000" dirty="0">
                <a:solidFill>
                  <a:srgbClr val="FF0066"/>
                </a:solidFill>
                <a:latin typeface="楷体" panose="02010609060101010101" pitchFamily="49" charset="-122"/>
                <a:ea typeface="楷体" panose="02010609060101010101" pitchFamily="49" charset="-122"/>
              </a:rPr>
              <a:t>不能同时为</a:t>
            </a:r>
            <a:r>
              <a:rPr lang="zh-CN" altLang="en-US" sz="2000" dirty="0">
                <a:latin typeface="楷体" panose="02010609060101010101" pitchFamily="49" charset="-122"/>
                <a:ea typeface="楷体" panose="02010609060101010101" pitchFamily="49" charset="-122"/>
              </a:rPr>
              <a:t>存储器操作数 </a:t>
            </a:r>
            <a:endParaRPr lang="en-US" altLang="zh-CN" sz="2000" dirty="0">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存储器操作数的类型由地址表达式的变量名确定</a:t>
            </a:r>
            <a:endParaRPr lang="en-US" altLang="zh-CN" sz="2000" dirty="0">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buFont typeface="Wingdings" panose="05000000000000000000" pitchFamily="2" charset="2"/>
              <a:buChar char="Ø"/>
            </a:pPr>
            <a:r>
              <a:rPr lang="zh-CN" altLang="en-US" sz="2000" dirty="0">
                <a:solidFill>
                  <a:srgbClr val="00B0F0"/>
                </a:solidFill>
                <a:latin typeface="楷体" panose="02010609060101010101" pitchFamily="49" charset="-122"/>
                <a:ea typeface="楷体" panose="02010609060101010101" pitchFamily="49" charset="-122"/>
              </a:rPr>
              <a:t>立即数的类型不明确</a:t>
            </a:r>
            <a:r>
              <a:rPr lang="en-US" altLang="zh-CN" sz="2000" dirty="0">
                <a:solidFill>
                  <a:srgbClr val="00B0F0"/>
                </a:solidFill>
                <a:latin typeface="楷体" panose="02010609060101010101" pitchFamily="49" charset="-122"/>
                <a:ea typeface="楷体" panose="02010609060101010101" pitchFamily="49" charset="-122"/>
              </a:rPr>
              <a:t>,</a:t>
            </a:r>
            <a:r>
              <a:rPr lang="zh-CN" altLang="en-US" sz="2000" dirty="0">
                <a:solidFill>
                  <a:srgbClr val="00B0F0"/>
                </a:solidFill>
                <a:latin typeface="楷体" panose="02010609060101010101" pitchFamily="49" charset="-122"/>
                <a:ea typeface="楷体" panose="02010609060101010101" pitchFamily="49" charset="-122"/>
              </a:rPr>
              <a:t>不含变量名的地址表达式的类型也不明确</a:t>
            </a:r>
            <a:r>
              <a:rPr lang="zh-CN" altLang="en-US" sz="2000" dirty="0">
                <a:latin typeface="楷体" panose="02010609060101010101" pitchFamily="49" charset="-122"/>
                <a:ea typeface="楷体" panose="02010609060101010101" pitchFamily="49" charset="-122"/>
              </a:rPr>
              <a:t>。在立即数送存储器的指令中</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若存储器操作数是不含变量名的地址表达式</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则必需使用组合运算符</a:t>
            </a:r>
            <a:r>
              <a:rPr lang="en-US" altLang="zh-CN" sz="2000" dirty="0">
                <a:latin typeface="楷体" panose="02010609060101010101" pitchFamily="49" charset="-122"/>
                <a:ea typeface="楷体" panose="02010609060101010101" pitchFamily="49" charset="-122"/>
              </a:rPr>
              <a:t>PTR</a:t>
            </a:r>
            <a:r>
              <a:rPr lang="zh-CN" altLang="en-US" sz="2000" dirty="0">
                <a:latin typeface="楷体" panose="02010609060101010101" pitchFamily="49" charset="-122"/>
                <a:ea typeface="楷体" panose="02010609060101010101" pitchFamily="49" charset="-122"/>
              </a:rPr>
              <a:t>来明确其中一个操作数的类型。</a:t>
            </a:r>
          </a:p>
        </p:txBody>
      </p:sp>
      <p:graphicFrame>
        <p:nvGraphicFramePr>
          <p:cNvPr id="4" name="Object 9"/>
          <p:cNvGraphicFramePr>
            <a:graphicFrameLocks/>
          </p:cNvGraphicFramePr>
          <p:nvPr/>
        </p:nvGraphicFramePr>
        <p:xfrm>
          <a:off x="6156325" y="1844675"/>
          <a:ext cx="2900363" cy="3168650"/>
        </p:xfrm>
        <a:graphic>
          <a:graphicData uri="http://schemas.openxmlformats.org/presentationml/2006/ole">
            <mc:AlternateContent xmlns:mc="http://schemas.openxmlformats.org/markup-compatibility/2006">
              <mc:Choice xmlns:v="urn:schemas-microsoft-com:vml" Requires="v">
                <p:oleObj r:id="rId2" imgW="2572109" imgH="2553056" progId="PBrush">
                  <p:embed/>
                </p:oleObj>
              </mc:Choice>
              <mc:Fallback>
                <p:oleObj r:id="rId2" imgW="2572109" imgH="2553056" progId="PBrush">
                  <p:embed/>
                  <p:pic>
                    <p:nvPicPr>
                      <p:cNvPr id="59396" name="Object 9"/>
                      <p:cNvPicPr>
                        <a:picLocks noChangeArrowheads="1"/>
                      </p:cNvPicPr>
                      <p:nvPr/>
                    </p:nvPicPr>
                    <p:blipFill>
                      <a:blip r:embed="rId3">
                        <a:extLst>
                          <a:ext uri="{28A0092B-C50C-407E-A947-70E740481C1C}">
                            <a14:useLocalDpi xmlns:a14="http://schemas.microsoft.com/office/drawing/2010/main" val="0"/>
                          </a:ext>
                        </a:extLst>
                      </a:blip>
                      <a:srcRect l="1399" t="1410" r="1399" b="2820"/>
                      <a:stretch>
                        <a:fillRect/>
                      </a:stretch>
                    </p:blipFill>
                    <p:spPr bwMode="auto">
                      <a:xfrm>
                        <a:off x="6156325" y="1844675"/>
                        <a:ext cx="290036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Text Box 4"/>
          <p:cNvSpPr txBox="1">
            <a:spLocks noChangeArrowheads="1"/>
          </p:cNvSpPr>
          <p:nvPr/>
        </p:nvSpPr>
        <p:spPr bwMode="auto">
          <a:xfrm>
            <a:off x="6227763" y="5624513"/>
            <a:ext cx="29162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sz="2000" b="0" dirty="0">
                <a:solidFill>
                  <a:srgbClr val="00B0F0"/>
                </a:solidFill>
                <a:latin typeface="楷体" panose="02010609060101010101" pitchFamily="49" charset="-122"/>
                <a:ea typeface="楷体" panose="02010609060101010101" pitchFamily="49" charset="-122"/>
              </a:rPr>
              <a:t>图</a:t>
            </a:r>
            <a:r>
              <a:rPr lang="en-US" altLang="zh-CN" sz="2000" b="0" dirty="0">
                <a:solidFill>
                  <a:srgbClr val="00B0F0"/>
                </a:solidFill>
                <a:latin typeface="楷体" panose="02010609060101010101" pitchFamily="49" charset="-122"/>
                <a:ea typeface="楷体" panose="02010609060101010101" pitchFamily="49" charset="-122"/>
              </a:rPr>
              <a:t>7-3</a:t>
            </a:r>
            <a:r>
              <a:rPr lang="zh-CN" altLang="en-US" sz="2000" b="0" dirty="0">
                <a:solidFill>
                  <a:srgbClr val="00B0F0"/>
                </a:solidFill>
                <a:latin typeface="楷体" panose="02010609060101010101" pitchFamily="49" charset="-122"/>
                <a:ea typeface="楷体" panose="02010609060101010101" pitchFamily="49" charset="-122"/>
              </a:rPr>
              <a:t>：</a:t>
            </a:r>
            <a:r>
              <a:rPr lang="en-US" altLang="zh-CN" sz="2000" b="0" dirty="0">
                <a:solidFill>
                  <a:srgbClr val="00B0F0"/>
                </a:solidFill>
                <a:latin typeface="楷体" panose="02010609060101010101" pitchFamily="49" charset="-122"/>
                <a:ea typeface="楷体" panose="02010609060101010101" pitchFamily="49" charset="-122"/>
              </a:rPr>
              <a:t>MOV</a:t>
            </a:r>
            <a:r>
              <a:rPr lang="zh-CN" altLang="en-US" sz="2000" b="0" dirty="0">
                <a:solidFill>
                  <a:srgbClr val="00B0F0"/>
                </a:solidFill>
                <a:latin typeface="楷体" panose="02010609060101010101" pitchFamily="49" charset="-122"/>
                <a:ea typeface="楷体" panose="02010609060101010101" pitchFamily="49" charset="-122"/>
              </a:rPr>
              <a:t>指令的操作数及传送方向</a:t>
            </a:r>
          </a:p>
        </p:txBody>
      </p:sp>
    </p:spTree>
    <p:extLst>
      <p:ext uri="{BB962C8B-B14F-4D97-AF65-F5344CB8AC3E}">
        <p14:creationId xmlns:p14="http://schemas.microsoft.com/office/powerpoint/2010/main" val="3798082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14067" y="1571625"/>
            <a:ext cx="8654725" cy="51182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2400" dirty="0">
                <a:solidFill>
                  <a:srgbClr val="00B0F0"/>
                </a:solidFill>
                <a:latin typeface="楷体" panose="02010609060101010101" pitchFamily="49" charset="-122"/>
                <a:ea typeface="楷体" panose="02010609060101010101" pitchFamily="49" charset="-122"/>
              </a:rPr>
              <a:t>（</a:t>
            </a:r>
            <a:r>
              <a:rPr lang="en-US" altLang="en-US" sz="2400" dirty="0">
                <a:solidFill>
                  <a:srgbClr val="00B0F0"/>
                </a:solidFill>
                <a:latin typeface="楷体" panose="02010609060101010101" pitchFamily="49" charset="-122"/>
                <a:ea typeface="楷体" panose="02010609060101010101" pitchFamily="49" charset="-122"/>
              </a:rPr>
              <a:t>1</a:t>
            </a:r>
            <a:r>
              <a:rPr lang="zh-CN" altLang="en-US" sz="2400" dirty="0">
                <a:solidFill>
                  <a:srgbClr val="00B0F0"/>
                </a:solidFill>
                <a:latin typeface="楷体" panose="02010609060101010101" pitchFamily="49" charset="-122"/>
                <a:ea typeface="楷体" panose="02010609060101010101" pitchFamily="49" charset="-122"/>
              </a:rPr>
              <a:t>）符号位扩展传送指令</a:t>
            </a:r>
            <a:endParaRPr lang="en-US" altLang="zh-CN" sz="2400" dirty="0">
              <a:solidFill>
                <a:srgbClr val="00B0F0"/>
              </a:solidFill>
              <a:latin typeface="楷体" panose="02010609060101010101" pitchFamily="49" charset="-122"/>
              <a:ea typeface="楷体" panose="02010609060101010101" pitchFamily="49" charset="-122"/>
            </a:endParaRPr>
          </a:p>
          <a:p>
            <a:pPr marL="0" indent="0">
              <a:lnSpc>
                <a:spcPct val="125000"/>
              </a:lnSpc>
              <a:buNone/>
            </a:pPr>
            <a:r>
              <a:rPr lang="zh-CN" altLang="en-US" sz="2400" dirty="0">
                <a:latin typeface="楷体" panose="02010609060101010101" pitchFamily="49" charset="-122"/>
                <a:ea typeface="楷体" panose="02010609060101010101" pitchFamily="49" charset="-122"/>
              </a:rPr>
              <a:t>格式： </a:t>
            </a:r>
            <a:r>
              <a:rPr lang="en-US" altLang="zh-CN" sz="2400" dirty="0">
                <a:solidFill>
                  <a:srgbClr val="FF0066"/>
                </a:solidFill>
                <a:latin typeface="楷体" panose="02010609060101010101" pitchFamily="49" charset="-122"/>
                <a:ea typeface="楷体" panose="02010609060101010101" pitchFamily="49" charset="-122"/>
              </a:rPr>
              <a:t>MOVSX  </a:t>
            </a:r>
            <a:r>
              <a:rPr lang="en-US" altLang="zh-CN" sz="2400" dirty="0" err="1">
                <a:solidFill>
                  <a:srgbClr val="FF0066"/>
                </a:solidFill>
                <a:latin typeface="楷体" panose="02010609060101010101" pitchFamily="49" charset="-122"/>
                <a:ea typeface="楷体" panose="02010609060101010101" pitchFamily="49" charset="-122"/>
              </a:rPr>
              <a:t>reg</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25000"/>
              </a:lnSpc>
              <a:spcBef>
                <a:spcPct val="0"/>
              </a:spcBef>
              <a:buNone/>
            </a:pPr>
            <a:r>
              <a:rPr lang="zh-CN" altLang="en-US" sz="2400" dirty="0">
                <a:latin typeface="楷体" panose="02010609060101010101" pitchFamily="49" charset="-122"/>
                <a:ea typeface="楷体" panose="02010609060101010101" pitchFamily="49" charset="-122"/>
              </a:rPr>
              <a:t>功能</a:t>
            </a:r>
            <a:r>
              <a:rPr lang="en-US" altLang="zh-CN" sz="2400" dirty="0">
                <a:latin typeface="楷体" panose="02010609060101010101" pitchFamily="49" charset="-122"/>
                <a:ea typeface="楷体" panose="02010609060101010101" pitchFamily="49" charset="-122"/>
                <a:sym typeface="Wingdings" panose="05000000000000000000" pitchFamily="2" charset="2"/>
              </a:rPr>
              <a:t>: </a:t>
            </a:r>
            <a:r>
              <a:rPr lang="zh-CN" altLang="en-US" sz="2400" dirty="0">
                <a:latin typeface="楷体" panose="02010609060101010101" pitchFamily="49" charset="-122"/>
                <a:ea typeface="楷体" panose="02010609060101010101" pitchFamily="49" charset="-122"/>
              </a:rPr>
              <a:t>对源操作数中的</a:t>
            </a:r>
            <a:r>
              <a:rPr lang="en-US" altLang="en-US"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位或</a:t>
            </a:r>
            <a:r>
              <a:rPr lang="en-US" altLang="en-US"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位补码数的符号位进行扩展，形成</a:t>
            </a:r>
            <a:r>
              <a:rPr lang="en-US" altLang="en-US"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位或</a:t>
            </a:r>
            <a:r>
              <a:rPr lang="en-US" altLang="en-US"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位补码数</a:t>
            </a:r>
            <a:endParaRPr lang="zh-CN" altLang="en-US"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5000"/>
              </a:lnSpc>
              <a:spcBef>
                <a:spcPct val="0"/>
              </a:spcBef>
              <a:spcAft>
                <a:spcPts val="1200"/>
              </a:spcAft>
              <a:buNone/>
            </a:pPr>
            <a:r>
              <a:rPr lang="zh-CN" altLang="en-US" sz="2400" dirty="0">
                <a:solidFill>
                  <a:srgbClr val="7030A0"/>
                </a:solidFill>
                <a:latin typeface="楷体" panose="02010609060101010101" pitchFamily="49" charset="-122"/>
                <a:ea typeface="楷体" panose="02010609060101010101" pitchFamily="49" charset="-122"/>
              </a:rPr>
              <a:t>如</a:t>
            </a:r>
            <a:r>
              <a:rPr lang="en-US" altLang="zh-CN" sz="2400" dirty="0">
                <a:solidFill>
                  <a:srgbClr val="7030A0"/>
                </a:solidFill>
                <a:latin typeface="楷体" panose="02010609060101010101" pitchFamily="49" charset="-122"/>
                <a:ea typeface="楷体" panose="02010609060101010101" pitchFamily="49" charset="-122"/>
              </a:rPr>
              <a:t>:</a:t>
            </a:r>
            <a:r>
              <a:rPr lang="en-US" altLang="en-US" sz="2400" dirty="0">
                <a:solidFill>
                  <a:srgbClr val="7030A0"/>
                </a:solidFill>
                <a:latin typeface="楷体" panose="02010609060101010101" pitchFamily="49" charset="-122"/>
                <a:ea typeface="楷体" panose="02010609060101010101" pitchFamily="49" charset="-122"/>
              </a:rPr>
              <a:t> MOVSX  EAX</a:t>
            </a:r>
            <a:r>
              <a:rPr lang="zh-CN" altLang="en-US" sz="2400" dirty="0">
                <a:solidFill>
                  <a:srgbClr val="7030A0"/>
                </a:solidFill>
                <a:latin typeface="楷体" panose="02010609060101010101" pitchFamily="49" charset="-122"/>
                <a:ea typeface="楷体" panose="02010609060101010101" pitchFamily="49" charset="-122"/>
              </a:rPr>
              <a:t>，</a:t>
            </a:r>
            <a:r>
              <a:rPr lang="en-US" altLang="en-US" sz="2400" dirty="0">
                <a:solidFill>
                  <a:srgbClr val="7030A0"/>
                </a:solidFill>
                <a:latin typeface="楷体" panose="02010609060101010101" pitchFamily="49" charset="-122"/>
                <a:ea typeface="楷体" panose="02010609060101010101" pitchFamily="49" charset="-122"/>
              </a:rPr>
              <a:t>BX</a:t>
            </a:r>
            <a:r>
              <a:rPr lang="en-US" altLang="zh-CN" sz="2400" dirty="0">
                <a:solidFill>
                  <a:srgbClr val="7030A0"/>
                </a:solidFill>
                <a:latin typeface="楷体" panose="02010609060101010101" pitchFamily="49" charset="-122"/>
                <a:ea typeface="楷体" panose="02010609060101010101" pitchFamily="49" charset="-122"/>
              </a:rPr>
              <a:t> ; </a:t>
            </a:r>
            <a:r>
              <a:rPr lang="zh-CN" altLang="en-US" sz="2400" dirty="0">
                <a:solidFill>
                  <a:srgbClr val="7030A0"/>
                </a:solidFill>
                <a:latin typeface="楷体" panose="02010609060101010101" pitchFamily="49" charset="-122"/>
                <a:ea typeface="楷体" panose="02010609060101010101" pitchFamily="49" charset="-122"/>
              </a:rPr>
              <a:t>若</a:t>
            </a:r>
            <a:r>
              <a:rPr lang="en-US" altLang="en-US" sz="2400" dirty="0">
                <a:solidFill>
                  <a:srgbClr val="7030A0"/>
                </a:solidFill>
                <a:latin typeface="楷体" panose="02010609060101010101" pitchFamily="49" charset="-122"/>
                <a:ea typeface="楷体" panose="02010609060101010101" pitchFamily="49" charset="-122"/>
              </a:rPr>
              <a:t>BX=8765H</a:t>
            </a:r>
            <a:r>
              <a:rPr lang="en-US" altLang="zh-CN" sz="2400" dirty="0">
                <a:solidFill>
                  <a:srgbClr val="7030A0"/>
                </a:solidFill>
                <a:latin typeface="楷体" panose="02010609060101010101" pitchFamily="49" charset="-122"/>
                <a:ea typeface="楷体" panose="02010609060101010101" pitchFamily="49" charset="-122"/>
              </a:rPr>
              <a:t>,</a:t>
            </a:r>
            <a:r>
              <a:rPr lang="zh-CN" altLang="en-US" sz="2400" dirty="0">
                <a:solidFill>
                  <a:srgbClr val="7030A0"/>
                </a:solidFill>
                <a:latin typeface="楷体" panose="02010609060101010101" pitchFamily="49" charset="-122"/>
                <a:ea typeface="楷体" panose="02010609060101010101" pitchFamily="49" charset="-122"/>
              </a:rPr>
              <a:t>则</a:t>
            </a:r>
            <a:r>
              <a:rPr lang="en-US" altLang="en-US" sz="2400" dirty="0">
                <a:solidFill>
                  <a:srgbClr val="7030A0"/>
                </a:solidFill>
                <a:latin typeface="楷体" panose="02010609060101010101" pitchFamily="49" charset="-122"/>
                <a:ea typeface="楷体" panose="02010609060101010101" pitchFamily="49" charset="-122"/>
              </a:rPr>
              <a:t>EAX=FFFF8765H</a:t>
            </a:r>
            <a:endParaRPr lang="en-US" altLang="zh-CN" sz="2400" dirty="0">
              <a:solidFill>
                <a:srgbClr val="7030A0"/>
              </a:solidFill>
              <a:latin typeface="楷体" panose="02010609060101010101" pitchFamily="49" charset="-122"/>
              <a:ea typeface="楷体" panose="02010609060101010101" pitchFamily="49" charset="-122"/>
            </a:endParaRPr>
          </a:p>
          <a:p>
            <a:pPr marL="0" indent="0">
              <a:lnSpc>
                <a:spcPct val="125000"/>
              </a:lnSpc>
              <a:spcBef>
                <a:spcPct val="0"/>
              </a:spcBef>
              <a:buNone/>
            </a:pPr>
            <a:r>
              <a:rPr lang="zh-CN" altLang="en-US" sz="2400" dirty="0">
                <a:solidFill>
                  <a:srgbClr val="00B0F0"/>
                </a:solidFill>
                <a:latin typeface="楷体" panose="02010609060101010101" pitchFamily="49" charset="-122"/>
                <a:ea typeface="楷体" panose="02010609060101010101" pitchFamily="49" charset="-122"/>
              </a:rPr>
              <a:t>（</a:t>
            </a:r>
            <a:r>
              <a:rPr lang="en-US" altLang="zh-CN" sz="2400" dirty="0">
                <a:solidFill>
                  <a:srgbClr val="00B0F0"/>
                </a:solidFill>
                <a:latin typeface="楷体" panose="02010609060101010101" pitchFamily="49" charset="-122"/>
                <a:ea typeface="楷体" panose="02010609060101010101" pitchFamily="49" charset="-122"/>
              </a:rPr>
              <a:t>2</a:t>
            </a:r>
            <a:r>
              <a:rPr lang="zh-CN" altLang="en-US" sz="2400" dirty="0">
                <a:solidFill>
                  <a:srgbClr val="00B0F0"/>
                </a:solidFill>
                <a:latin typeface="楷体" panose="02010609060101010101" pitchFamily="49" charset="-122"/>
                <a:ea typeface="楷体" panose="02010609060101010101" pitchFamily="49" charset="-122"/>
              </a:rPr>
              <a:t>）零扩展传送指令</a:t>
            </a:r>
            <a:endParaRPr lang="en-US" altLang="zh-CN" sz="2400" dirty="0">
              <a:solidFill>
                <a:srgbClr val="00B0F0"/>
              </a:solidFill>
              <a:latin typeface="楷体" panose="02010609060101010101" pitchFamily="49" charset="-122"/>
              <a:ea typeface="楷体" panose="02010609060101010101" pitchFamily="49" charset="-122"/>
            </a:endParaRPr>
          </a:p>
          <a:p>
            <a:pPr marL="0" indent="0">
              <a:lnSpc>
                <a:spcPct val="125000"/>
              </a:lnSpc>
              <a:buNone/>
            </a:pPr>
            <a:r>
              <a:rPr lang="zh-CN" altLang="en-US" sz="2400" dirty="0">
                <a:latin typeface="楷体" panose="02010609060101010101" pitchFamily="49" charset="-122"/>
                <a:ea typeface="楷体" panose="02010609060101010101" pitchFamily="49" charset="-122"/>
              </a:rPr>
              <a:t>格式： </a:t>
            </a:r>
            <a:r>
              <a:rPr lang="en-US" altLang="zh-CN" sz="2400" dirty="0">
                <a:solidFill>
                  <a:srgbClr val="FF0066"/>
                </a:solidFill>
                <a:latin typeface="楷体" panose="02010609060101010101" pitchFamily="49" charset="-122"/>
                <a:ea typeface="楷体" panose="02010609060101010101" pitchFamily="49" charset="-122"/>
              </a:rPr>
              <a:t>MOVZX  </a:t>
            </a:r>
            <a:r>
              <a:rPr lang="en-US" altLang="zh-CN" sz="2400" dirty="0" err="1">
                <a:solidFill>
                  <a:srgbClr val="FF0066"/>
                </a:solidFill>
                <a:latin typeface="楷体" panose="02010609060101010101" pitchFamily="49" charset="-122"/>
                <a:ea typeface="楷体" panose="02010609060101010101" pitchFamily="49" charset="-122"/>
              </a:rPr>
              <a:t>reg</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 </a:t>
            </a:r>
          </a:p>
          <a:p>
            <a:pPr marL="0" indent="0">
              <a:lnSpc>
                <a:spcPct val="125000"/>
              </a:lnSpc>
              <a:spcBef>
                <a:spcPct val="0"/>
              </a:spcBef>
              <a:buNone/>
            </a:pPr>
            <a:r>
              <a:rPr lang="zh-CN" altLang="en-US" sz="2400" dirty="0">
                <a:latin typeface="楷体" panose="02010609060101010101" pitchFamily="49" charset="-122"/>
                <a:ea typeface="楷体" panose="02010609060101010101" pitchFamily="49" charset="-122"/>
              </a:rPr>
              <a:t>功能</a:t>
            </a:r>
            <a:r>
              <a:rPr lang="en-US" altLang="zh-CN" sz="2400" dirty="0">
                <a:latin typeface="楷体" panose="02010609060101010101" pitchFamily="49" charset="-122"/>
                <a:ea typeface="楷体" panose="02010609060101010101" pitchFamily="49" charset="-122"/>
                <a:sym typeface="Wingdings" panose="05000000000000000000" pitchFamily="2" charset="2"/>
              </a:rPr>
              <a:t>:</a:t>
            </a:r>
            <a:r>
              <a:rPr lang="zh-CN" altLang="en-US" sz="2400" dirty="0">
                <a:latin typeface="楷体" panose="02010609060101010101" pitchFamily="49" charset="-122"/>
                <a:ea typeface="楷体" panose="02010609060101010101" pitchFamily="49" charset="-122"/>
              </a:rPr>
              <a:t>对源操作数中的</a:t>
            </a:r>
            <a:r>
              <a:rPr lang="en-US" altLang="en-US"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位或</a:t>
            </a:r>
            <a:r>
              <a:rPr lang="en-US" altLang="en-US"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位无符号数进行扩展，形成</a:t>
            </a:r>
            <a:r>
              <a:rPr lang="en-US" altLang="en-US"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位或</a:t>
            </a:r>
            <a:r>
              <a:rPr lang="en-US" altLang="en-US"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位无符号数</a:t>
            </a:r>
            <a:endParaRPr lang="zh-CN" altLang="en-US"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5000"/>
              </a:lnSpc>
              <a:spcBef>
                <a:spcPct val="0"/>
              </a:spcBef>
              <a:buNone/>
            </a:pPr>
            <a:r>
              <a:rPr lang="zh-CN" altLang="en-US" sz="2400" dirty="0">
                <a:solidFill>
                  <a:srgbClr val="7030A0"/>
                </a:solidFill>
                <a:latin typeface="楷体" panose="02010609060101010101" pitchFamily="49" charset="-122"/>
                <a:ea typeface="楷体" panose="02010609060101010101" pitchFamily="49" charset="-122"/>
              </a:rPr>
              <a:t>如：</a:t>
            </a:r>
            <a:r>
              <a:rPr lang="en-US" altLang="en-US" sz="2400" dirty="0">
                <a:solidFill>
                  <a:srgbClr val="7030A0"/>
                </a:solidFill>
                <a:latin typeface="楷体" panose="02010609060101010101" pitchFamily="49" charset="-122"/>
                <a:ea typeface="楷体" panose="02010609060101010101" pitchFamily="49" charset="-122"/>
              </a:rPr>
              <a:t>MOVZX EAX</a:t>
            </a:r>
            <a:r>
              <a:rPr lang="zh-CN" altLang="en-US" sz="2400" dirty="0">
                <a:solidFill>
                  <a:srgbClr val="7030A0"/>
                </a:solidFill>
                <a:latin typeface="楷体" panose="02010609060101010101" pitchFamily="49" charset="-122"/>
                <a:ea typeface="楷体" panose="02010609060101010101" pitchFamily="49" charset="-122"/>
              </a:rPr>
              <a:t>，</a:t>
            </a:r>
            <a:r>
              <a:rPr lang="en-US" altLang="en-US" sz="2400" dirty="0">
                <a:solidFill>
                  <a:srgbClr val="7030A0"/>
                </a:solidFill>
                <a:latin typeface="楷体" panose="02010609060101010101" pitchFamily="49" charset="-122"/>
                <a:ea typeface="楷体" panose="02010609060101010101" pitchFamily="49" charset="-122"/>
              </a:rPr>
              <a:t>BL</a:t>
            </a:r>
            <a:r>
              <a:rPr lang="en-US" altLang="zh-CN" sz="2400" dirty="0">
                <a:solidFill>
                  <a:srgbClr val="7030A0"/>
                </a:solidFill>
                <a:latin typeface="楷体" panose="02010609060101010101" pitchFamily="49" charset="-122"/>
                <a:ea typeface="楷体" panose="02010609060101010101" pitchFamily="49" charset="-122"/>
              </a:rPr>
              <a:t> ;</a:t>
            </a:r>
            <a:r>
              <a:rPr lang="zh-CN" altLang="en-US" sz="2400" dirty="0">
                <a:solidFill>
                  <a:srgbClr val="7030A0"/>
                </a:solidFill>
                <a:latin typeface="楷体" panose="02010609060101010101" pitchFamily="49" charset="-122"/>
                <a:ea typeface="楷体" panose="02010609060101010101" pitchFamily="49" charset="-122"/>
              </a:rPr>
              <a:t>若</a:t>
            </a:r>
            <a:r>
              <a:rPr lang="en-US" altLang="en-US" sz="2400" dirty="0">
                <a:solidFill>
                  <a:srgbClr val="7030A0"/>
                </a:solidFill>
                <a:latin typeface="楷体" panose="02010609060101010101" pitchFamily="49" charset="-122"/>
                <a:ea typeface="楷体" panose="02010609060101010101" pitchFamily="49" charset="-122"/>
              </a:rPr>
              <a:t>BL=65H</a:t>
            </a:r>
            <a:r>
              <a:rPr lang="zh-CN" altLang="en-US" sz="2400" dirty="0">
                <a:solidFill>
                  <a:srgbClr val="7030A0"/>
                </a:solidFill>
                <a:latin typeface="楷体" panose="02010609060101010101" pitchFamily="49" charset="-122"/>
                <a:ea typeface="楷体" panose="02010609060101010101" pitchFamily="49" charset="-122"/>
              </a:rPr>
              <a:t>，则</a:t>
            </a:r>
            <a:r>
              <a:rPr lang="en-US" altLang="en-US" sz="2400" dirty="0">
                <a:solidFill>
                  <a:srgbClr val="7030A0"/>
                </a:solidFill>
                <a:latin typeface="楷体" panose="02010609060101010101" pitchFamily="49" charset="-122"/>
                <a:ea typeface="楷体" panose="02010609060101010101" pitchFamily="49" charset="-122"/>
              </a:rPr>
              <a:t>EAX=00000065H</a:t>
            </a:r>
            <a:endParaRPr lang="en-US" altLang="zh-CN" sz="2400" dirty="0">
              <a:solidFill>
                <a:srgbClr val="7030A0"/>
              </a:solidFill>
              <a:latin typeface="楷体" panose="02010609060101010101" pitchFamily="49" charset="-122"/>
              <a:ea typeface="楷体" panose="02010609060101010101" pitchFamily="49" charset="-122"/>
              <a:sym typeface="Wingdings" panose="05000000000000000000" pitchFamily="2" charset="2"/>
            </a:endParaRPr>
          </a:p>
        </p:txBody>
      </p:sp>
      <p:sp>
        <p:nvSpPr>
          <p:cNvPr id="3" name="矩形 5"/>
          <p:cNvSpPr>
            <a:spLocks noChangeArrowheads="1"/>
          </p:cNvSpPr>
          <p:nvPr/>
        </p:nvSpPr>
        <p:spPr bwMode="auto">
          <a:xfrm>
            <a:off x="218666" y="954859"/>
            <a:ext cx="4322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扩展传送指令</a:t>
            </a:r>
          </a:p>
        </p:txBody>
      </p:sp>
    </p:spTree>
    <p:extLst>
      <p:ext uri="{BB962C8B-B14F-4D97-AF65-F5344CB8AC3E}">
        <p14:creationId xmlns:p14="http://schemas.microsoft.com/office/powerpoint/2010/main" val="10132095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45123" y="1649413"/>
            <a:ext cx="8015704" cy="50657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字节、字和双字交换指令</a:t>
            </a:r>
            <a:endParaRPr lang="en-US" altLang="zh-CN" sz="2400" dirty="0">
              <a:latin typeface="楷体" panose="02010609060101010101" pitchFamily="49" charset="-122"/>
              <a:ea typeface="楷体" panose="02010609060101010101" pitchFamily="49" charset="-122"/>
            </a:endParaRPr>
          </a:p>
          <a:p>
            <a:pPr marL="0" indent="0">
              <a:lnSpc>
                <a:spcPct val="120000"/>
              </a:lnSpc>
              <a:buNone/>
            </a:pPr>
            <a:r>
              <a:rPr lang="zh-CN" altLang="en-US" sz="2400" dirty="0">
                <a:latin typeface="楷体" panose="02010609060101010101" pitchFamily="49" charset="-122"/>
                <a:ea typeface="楷体" panose="02010609060101010101" pitchFamily="49" charset="-122"/>
              </a:rPr>
              <a:t>格式：</a:t>
            </a:r>
            <a:r>
              <a:rPr lang="en-US" altLang="zh-CN" sz="2400" dirty="0">
                <a:solidFill>
                  <a:srgbClr val="FF0066"/>
                </a:solidFill>
                <a:latin typeface="楷体" panose="02010609060101010101" pitchFamily="49" charset="-122"/>
                <a:ea typeface="楷体" panose="02010609060101010101" pitchFamily="49" charset="-122"/>
              </a:rPr>
              <a:t>XCHG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20000"/>
              </a:lnSpc>
              <a:buNone/>
            </a:pPr>
            <a:r>
              <a:rPr lang="zh-CN" altLang="en-US" sz="2400" dirty="0">
                <a:latin typeface="楷体" panose="02010609060101010101" pitchFamily="49" charset="-122"/>
                <a:ea typeface="楷体" panose="02010609060101010101" pitchFamily="49" charset="-122"/>
              </a:rPr>
              <a:t>功能</a:t>
            </a:r>
            <a:r>
              <a:rPr lang="en-US" altLang="zh-CN" sz="2400" dirty="0">
                <a:latin typeface="楷体" panose="02010609060101010101" pitchFamily="49" charset="-122"/>
                <a:ea typeface="楷体" panose="02010609060101010101" pitchFamily="49" charset="-122"/>
                <a:sym typeface="Wingdings" panose="05000000000000000000" pitchFamily="2" charset="2"/>
              </a:rPr>
              <a:t>: </a:t>
            </a:r>
            <a:r>
              <a:rPr lang="zh-CN" altLang="en-US" sz="2400" dirty="0">
                <a:latin typeface="楷体" panose="02010609060101010101" pitchFamily="49" charset="-122"/>
                <a:ea typeface="楷体" panose="02010609060101010101" pitchFamily="49" charset="-122"/>
                <a:sym typeface="Wingdings" panose="05000000000000000000" pitchFamily="2" charset="2"/>
              </a:rPr>
              <a:t>将源地址与目的地址中的内容互换</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特点：交换能在两个通用寄存器之间，通用寄存器与存储器之间，但</a:t>
            </a: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不能在存储器之间进行</a:t>
            </a:r>
            <a:r>
              <a:rPr lang="zh-CN" altLang="en-US" sz="2400" dirty="0">
                <a:latin typeface="楷体" panose="02010609060101010101" pitchFamily="49" charset="-122"/>
                <a:ea typeface="楷体" panose="02010609060101010101" pitchFamily="49" charset="-122"/>
                <a:sym typeface="Wingdings" panose="05000000000000000000" pitchFamily="2" charset="2"/>
              </a:rPr>
              <a:t>；源操作数和目的操作数的</a:t>
            </a: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类型属性必须一致</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p>
          <a:p>
            <a:pPr marL="0" indent="0">
              <a:lnSpc>
                <a:spcPct val="10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      </a:t>
            </a:r>
            <a:r>
              <a:rPr lang="en-US" altLang="zh-CN" sz="2400" dirty="0">
                <a:latin typeface="楷体" panose="02010609060101010101" pitchFamily="49" charset="-122"/>
                <a:ea typeface="楷体" panose="02010609060101010101" pitchFamily="49" charset="-122"/>
                <a:sym typeface="Wingdings" panose="05000000000000000000" pitchFamily="2" charset="2"/>
              </a:rPr>
              <a:t>XCHG  REG, REG</a:t>
            </a:r>
          </a:p>
          <a:p>
            <a:pPr marL="0" indent="0">
              <a:lnSpc>
                <a:spcPct val="100000"/>
              </a:lnSpc>
              <a:buNone/>
            </a:pPr>
            <a:r>
              <a:rPr lang="en-US" altLang="zh-CN" sz="2400" dirty="0">
                <a:latin typeface="楷体" panose="02010609060101010101" pitchFamily="49" charset="-122"/>
                <a:ea typeface="楷体" panose="02010609060101010101" pitchFamily="49" charset="-122"/>
                <a:sym typeface="Wingdings" panose="05000000000000000000" pitchFamily="2" charset="2"/>
              </a:rPr>
              <a:t>      XCHG  REG, MEM</a:t>
            </a:r>
          </a:p>
          <a:p>
            <a:pPr marL="0" indent="0">
              <a:lnSpc>
                <a:spcPct val="100000"/>
              </a:lnSpc>
              <a:buNone/>
            </a:pPr>
            <a:r>
              <a:rPr lang="en-US" altLang="zh-CN" sz="2400" dirty="0">
                <a:latin typeface="楷体" panose="02010609060101010101" pitchFamily="49" charset="-122"/>
                <a:ea typeface="楷体" panose="02010609060101010101" pitchFamily="49" charset="-122"/>
                <a:sym typeface="Wingdings" panose="05000000000000000000" pitchFamily="2" charset="2"/>
              </a:rPr>
              <a:t>      XCHG  MEM, REG</a:t>
            </a:r>
          </a:p>
          <a:p>
            <a:pPr marL="0" indent="0">
              <a:lnSpc>
                <a:spcPct val="100000"/>
              </a:lnSpc>
              <a:buNone/>
            </a:pP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      XCHG  MEM, MEM   X</a:t>
            </a:r>
          </a:p>
        </p:txBody>
      </p:sp>
      <p:sp>
        <p:nvSpPr>
          <p:cNvPr id="3" name="矩形 5"/>
          <p:cNvSpPr>
            <a:spLocks noChangeArrowheads="1"/>
          </p:cNvSpPr>
          <p:nvPr/>
        </p:nvSpPr>
        <p:spPr bwMode="auto">
          <a:xfrm>
            <a:off x="142875" y="1035636"/>
            <a:ext cx="4610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数据交换指令</a:t>
            </a:r>
          </a:p>
        </p:txBody>
      </p:sp>
    </p:spTree>
    <p:extLst>
      <p:ext uri="{BB962C8B-B14F-4D97-AF65-F5344CB8AC3E}">
        <p14:creationId xmlns:p14="http://schemas.microsoft.com/office/powerpoint/2010/main" val="5812745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00064" y="1177925"/>
            <a:ext cx="8075766"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例：数据段中有两个字变量</a:t>
            </a:r>
            <a:r>
              <a:rPr lang="en-US" altLang="zh-CN" sz="2400" b="0" dirty="0">
                <a:latin typeface="楷体" panose="02010609060101010101" pitchFamily="49" charset="-122"/>
                <a:ea typeface="楷体" panose="02010609060101010101" pitchFamily="49" charset="-122"/>
              </a:rPr>
              <a:t>W1</a:t>
            </a:r>
            <a:r>
              <a:rPr lang="zh-CN" altLang="en-US" sz="2400" b="0" dirty="0">
                <a:latin typeface="楷体" panose="02010609060101010101" pitchFamily="49" charset="-122"/>
                <a:ea typeface="楷体" panose="02010609060101010101" pitchFamily="49" charset="-122"/>
              </a:rPr>
              <a:t>和</a:t>
            </a:r>
            <a:r>
              <a:rPr lang="en-US" altLang="zh-CN" sz="2400" b="0" dirty="0">
                <a:latin typeface="楷体" panose="02010609060101010101" pitchFamily="49" charset="-122"/>
                <a:ea typeface="楷体" panose="02010609060101010101" pitchFamily="49" charset="-122"/>
              </a:rPr>
              <a:t>W2</a:t>
            </a:r>
            <a:r>
              <a:rPr lang="zh-CN" altLang="en-US" sz="2400" b="0" dirty="0">
                <a:latin typeface="楷体" panose="02010609060101010101" pitchFamily="49" charset="-122"/>
                <a:ea typeface="楷体" panose="02010609060101010101" pitchFamily="49" charset="-122"/>
              </a:rPr>
              <a:t>，编写程序段将两个字变量互换</a:t>
            </a:r>
          </a:p>
          <a:p>
            <a:pPr eaLnBrk="1" hangingPunct="1">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     </a:t>
            </a:r>
            <a:r>
              <a:rPr lang="en-US" altLang="zh-CN" sz="2400" b="0" dirty="0">
                <a:latin typeface="楷体" panose="02010609060101010101" pitchFamily="49" charset="-122"/>
                <a:ea typeface="楷体" panose="02010609060101010101" pitchFamily="49" charset="-122"/>
              </a:rPr>
              <a:t>W1  DW   1234H</a:t>
            </a:r>
          </a:p>
          <a:p>
            <a:pPr eaLnBrk="1" hangingPunct="1">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     W2  DW   5678H</a:t>
            </a:r>
          </a:p>
          <a:p>
            <a:pPr eaLnBrk="1" hangingPunct="1">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①</a:t>
            </a:r>
            <a:r>
              <a:rPr lang="zh-CN" altLang="en-US" sz="2400" b="0" dirty="0">
                <a:latin typeface="楷体" panose="02010609060101010101" pitchFamily="49" charset="-122"/>
                <a:ea typeface="楷体" panose="02010609060101010101" pitchFamily="49" charset="-122"/>
              </a:rPr>
              <a:t>用数据交换指令实现：</a:t>
            </a:r>
          </a:p>
          <a:p>
            <a:pPr eaLnBrk="1" hangingPunct="1">
              <a:spcBef>
                <a:spcPct val="0"/>
              </a:spcBef>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     </a:t>
            </a:r>
            <a:r>
              <a:rPr lang="en-US" altLang="zh-CN" sz="2400" b="0" dirty="0">
                <a:latin typeface="楷体" panose="02010609060101010101" pitchFamily="49" charset="-122"/>
                <a:ea typeface="楷体" panose="02010609060101010101" pitchFamily="49" charset="-122"/>
              </a:rPr>
              <a:t>MOV   AX</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W1  </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AX=1234H</a:t>
            </a:r>
          </a:p>
          <a:p>
            <a:pPr eaLnBrk="1" hangingPunct="1">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     XCHG  AX</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W2  </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AX=5678H</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W2=1234H</a:t>
            </a:r>
          </a:p>
          <a:p>
            <a:pPr eaLnBrk="1" hangingPunct="1">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     MOV   W1</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AX  </a:t>
            </a:r>
            <a:r>
              <a:rPr lang="zh-CN" altLang="en-US" sz="2400" b="0" dirty="0">
                <a:latin typeface="楷体" panose="02010609060101010101" pitchFamily="49" charset="-122"/>
                <a:ea typeface="楷体" panose="02010609060101010101" pitchFamily="49" charset="-122"/>
              </a:rPr>
              <a:t>；</a:t>
            </a:r>
            <a:r>
              <a:rPr lang="en-US" altLang="zh-CN" sz="2400" b="0" dirty="0">
                <a:latin typeface="楷体" panose="02010609060101010101" pitchFamily="49" charset="-122"/>
                <a:ea typeface="楷体" panose="02010609060101010101" pitchFamily="49" charset="-122"/>
              </a:rPr>
              <a:t>W1=5678H</a:t>
            </a:r>
          </a:p>
          <a:p>
            <a:pPr eaLnBrk="1" hangingPunct="1">
              <a:spcBef>
                <a:spcPct val="0"/>
              </a:spcBef>
              <a:buFont typeface="Arial" panose="020B0604020202020204" pitchFamily="34" charset="0"/>
              <a:buNone/>
            </a:pPr>
            <a:r>
              <a:rPr lang="en-US" altLang="zh-CN" sz="2400" b="0" dirty="0">
                <a:latin typeface="楷体" panose="02010609060101010101" pitchFamily="49" charset="-122"/>
                <a:ea typeface="楷体" panose="02010609060101010101" pitchFamily="49" charset="-122"/>
              </a:rPr>
              <a:t>②</a:t>
            </a:r>
            <a:r>
              <a:rPr lang="zh-CN" altLang="en-US" sz="2400" b="0" dirty="0">
                <a:latin typeface="楷体" panose="02010609060101010101" pitchFamily="49" charset="-122"/>
                <a:ea typeface="楷体" panose="02010609060101010101" pitchFamily="49" charset="-122"/>
              </a:rPr>
              <a:t>仅用</a:t>
            </a:r>
            <a:r>
              <a:rPr lang="en-US" altLang="zh-CN" sz="2400" b="0" dirty="0">
                <a:latin typeface="楷体" panose="02010609060101010101" pitchFamily="49" charset="-122"/>
                <a:ea typeface="楷体" panose="02010609060101010101" pitchFamily="49" charset="-122"/>
              </a:rPr>
              <a:t>MOV</a:t>
            </a:r>
            <a:r>
              <a:rPr lang="zh-CN" altLang="en-US" sz="2400" b="0" dirty="0">
                <a:latin typeface="楷体" panose="02010609060101010101" pitchFamily="49" charset="-122"/>
                <a:ea typeface="楷体" panose="02010609060101010101" pitchFamily="49" charset="-122"/>
              </a:rPr>
              <a:t>指令实现：</a:t>
            </a:r>
          </a:p>
        </p:txBody>
      </p:sp>
      <p:sp>
        <p:nvSpPr>
          <p:cNvPr id="4" name="矩形 3"/>
          <p:cNvSpPr>
            <a:spLocks noChangeArrowheads="1"/>
          </p:cNvSpPr>
          <p:nvPr/>
        </p:nvSpPr>
        <p:spPr bwMode="auto">
          <a:xfrm>
            <a:off x="395288" y="4594225"/>
            <a:ext cx="4572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800" b="0" dirty="0">
                <a:latin typeface="楷体" panose="02010609060101010101" pitchFamily="49" charset="-122"/>
                <a:ea typeface="楷体" panose="02010609060101010101" pitchFamily="49" charset="-122"/>
              </a:rPr>
              <a:t>     </a:t>
            </a:r>
            <a:r>
              <a:rPr lang="en-US" altLang="zh-CN" sz="2800" b="0" dirty="0">
                <a:latin typeface="楷体" panose="02010609060101010101" pitchFamily="49" charset="-122"/>
                <a:ea typeface="楷体" panose="02010609060101010101" pitchFamily="49" charset="-122"/>
              </a:rPr>
              <a:t>MOV   AX</a:t>
            </a:r>
            <a:r>
              <a:rPr lang="zh-CN" altLang="en-US" sz="2800" b="0" dirty="0">
                <a:latin typeface="楷体" panose="02010609060101010101" pitchFamily="49" charset="-122"/>
                <a:ea typeface="楷体" panose="02010609060101010101" pitchFamily="49" charset="-122"/>
              </a:rPr>
              <a:t>，</a:t>
            </a:r>
            <a:r>
              <a:rPr lang="en-US" altLang="zh-CN" sz="2800" b="0" dirty="0">
                <a:latin typeface="楷体" panose="02010609060101010101" pitchFamily="49" charset="-122"/>
                <a:ea typeface="楷体" panose="02010609060101010101" pitchFamily="49" charset="-122"/>
              </a:rPr>
              <a:t>W1</a:t>
            </a:r>
          </a:p>
          <a:p>
            <a:pPr eaLnBrk="1" hangingPunct="1">
              <a:spcBef>
                <a:spcPct val="0"/>
              </a:spcBef>
              <a:buFontTx/>
              <a:buNone/>
            </a:pPr>
            <a:r>
              <a:rPr lang="en-US" altLang="zh-CN" sz="2800" b="0" dirty="0">
                <a:latin typeface="楷体" panose="02010609060101010101" pitchFamily="49" charset="-122"/>
                <a:ea typeface="楷体" panose="02010609060101010101" pitchFamily="49" charset="-122"/>
              </a:rPr>
              <a:t>     MOV   BX</a:t>
            </a:r>
            <a:r>
              <a:rPr lang="zh-CN" altLang="en-US" sz="2800" b="0" dirty="0">
                <a:latin typeface="楷体" panose="02010609060101010101" pitchFamily="49" charset="-122"/>
                <a:ea typeface="楷体" panose="02010609060101010101" pitchFamily="49" charset="-122"/>
              </a:rPr>
              <a:t>，</a:t>
            </a:r>
            <a:r>
              <a:rPr lang="en-US" altLang="zh-CN" sz="2800" b="0" dirty="0">
                <a:latin typeface="楷体" panose="02010609060101010101" pitchFamily="49" charset="-122"/>
                <a:ea typeface="楷体" panose="02010609060101010101" pitchFamily="49" charset="-122"/>
              </a:rPr>
              <a:t>W2</a:t>
            </a:r>
          </a:p>
          <a:p>
            <a:pPr eaLnBrk="1" hangingPunct="1">
              <a:spcBef>
                <a:spcPct val="0"/>
              </a:spcBef>
              <a:buFontTx/>
              <a:buNone/>
            </a:pPr>
            <a:r>
              <a:rPr lang="en-US" altLang="zh-CN" sz="2800" b="0" dirty="0">
                <a:latin typeface="楷体" panose="02010609060101010101" pitchFamily="49" charset="-122"/>
                <a:ea typeface="楷体" panose="02010609060101010101" pitchFamily="49" charset="-122"/>
              </a:rPr>
              <a:t>     MOV   W1</a:t>
            </a:r>
            <a:r>
              <a:rPr lang="zh-CN" altLang="en-US" sz="2800" b="0" dirty="0">
                <a:latin typeface="楷体" panose="02010609060101010101" pitchFamily="49" charset="-122"/>
                <a:ea typeface="楷体" panose="02010609060101010101" pitchFamily="49" charset="-122"/>
              </a:rPr>
              <a:t>，</a:t>
            </a:r>
            <a:r>
              <a:rPr lang="en-US" altLang="zh-CN" sz="2800" b="0" dirty="0">
                <a:latin typeface="楷体" panose="02010609060101010101" pitchFamily="49" charset="-122"/>
                <a:ea typeface="楷体" panose="02010609060101010101" pitchFamily="49" charset="-122"/>
              </a:rPr>
              <a:t>BX</a:t>
            </a:r>
          </a:p>
          <a:p>
            <a:pPr eaLnBrk="1" hangingPunct="1">
              <a:spcBef>
                <a:spcPct val="0"/>
              </a:spcBef>
              <a:buFontTx/>
              <a:buNone/>
            </a:pPr>
            <a:r>
              <a:rPr lang="en-US" altLang="zh-CN" sz="2800" b="0" dirty="0">
                <a:latin typeface="楷体" panose="02010609060101010101" pitchFamily="49" charset="-122"/>
                <a:ea typeface="楷体" panose="02010609060101010101" pitchFamily="49" charset="-122"/>
              </a:rPr>
              <a:t>     MOV   W2</a:t>
            </a:r>
            <a:r>
              <a:rPr lang="zh-CN" altLang="en-US" sz="2800" b="0" dirty="0">
                <a:latin typeface="楷体" panose="02010609060101010101" pitchFamily="49" charset="-122"/>
                <a:ea typeface="楷体" panose="02010609060101010101" pitchFamily="49" charset="-122"/>
              </a:rPr>
              <a:t>，</a:t>
            </a:r>
            <a:r>
              <a:rPr lang="en-US" altLang="zh-CN" sz="2800" b="0" dirty="0">
                <a:latin typeface="楷体" panose="02010609060101010101" pitchFamily="49" charset="-122"/>
                <a:ea typeface="楷体" panose="02010609060101010101" pitchFamily="49" charset="-122"/>
              </a:rPr>
              <a:t>AX</a:t>
            </a:r>
            <a:endParaRPr lang="zh-CN" altLang="en-US" sz="2800" dirty="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6217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95288" y="1274763"/>
            <a:ext cx="8166100" cy="5083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400" dirty="0">
                <a:latin typeface="楷体" panose="02010609060101010101" pitchFamily="49" charset="-122"/>
                <a:ea typeface="楷体" panose="02010609060101010101" pitchFamily="49" charset="-122"/>
              </a:rPr>
              <a:t>(2) 32</a:t>
            </a:r>
            <a:r>
              <a:rPr lang="zh-CN" altLang="en-US" sz="2400" dirty="0">
                <a:latin typeface="楷体" panose="02010609060101010101" pitchFamily="49" charset="-122"/>
                <a:ea typeface="楷体" panose="02010609060101010101" pitchFamily="49" charset="-122"/>
              </a:rPr>
              <a:t>位通用寄存器中</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字节交换（</a:t>
            </a:r>
            <a:r>
              <a:rPr lang="en-US" altLang="zh-CN" sz="2400" dirty="0">
                <a:latin typeface="楷体" panose="02010609060101010101" pitchFamily="49" charset="-122"/>
                <a:ea typeface="楷体" panose="02010609060101010101" pitchFamily="49" charset="-122"/>
              </a:rPr>
              <a:t>Byte Swap</a:t>
            </a:r>
            <a:r>
              <a:rPr lang="zh-CN" altLang="en-US" sz="2400" dirty="0">
                <a:latin typeface="楷体" panose="02010609060101010101" pitchFamily="49" charset="-122"/>
                <a:ea typeface="楷体" panose="02010609060101010101" pitchFamily="49" charset="-122"/>
              </a:rPr>
              <a:t>）指令</a:t>
            </a:r>
            <a:endParaRPr lang="en-US" altLang="zh-CN" sz="2400" dirty="0">
              <a:latin typeface="楷体" panose="02010609060101010101" pitchFamily="49" charset="-122"/>
              <a:ea typeface="楷体" panose="02010609060101010101" pitchFamily="49" charset="-122"/>
            </a:endParaRPr>
          </a:p>
          <a:p>
            <a:pPr marL="0" indent="0">
              <a:lnSpc>
                <a:spcPct val="150000"/>
              </a:lnSpc>
              <a:buNone/>
            </a:pPr>
            <a:r>
              <a:rPr lang="zh-CN" altLang="en-US" sz="2400" b="1" dirty="0">
                <a:latin typeface="楷体" panose="02010609060101010101" pitchFamily="49" charset="-122"/>
                <a:ea typeface="楷体" panose="02010609060101010101" pitchFamily="49" charset="-122"/>
              </a:rPr>
              <a:t>功能</a:t>
            </a:r>
            <a:r>
              <a:rPr lang="en-US" altLang="zh-CN" sz="2400" b="1" dirty="0">
                <a:latin typeface="楷体" panose="02010609060101010101" pitchFamily="49" charset="-122"/>
                <a:ea typeface="楷体" panose="02010609060101010101" pitchFamily="49" charset="-122"/>
                <a:sym typeface="Wingdings" panose="05000000000000000000" pitchFamily="2" charset="2"/>
              </a:rPr>
              <a:t>: </a:t>
            </a:r>
            <a:r>
              <a:rPr lang="zh-CN" altLang="en-US" sz="2400" dirty="0">
                <a:latin typeface="楷体" panose="02010609060101010101" pitchFamily="49" charset="-122"/>
                <a:ea typeface="楷体" panose="02010609060101010101" pitchFamily="49" charset="-122"/>
                <a:sym typeface="Wingdings" panose="05000000000000000000" pitchFamily="2" charset="2"/>
              </a:rPr>
              <a:t>将</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位通用寄存器中的第</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字节与第</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个字节交换，第</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个字节与第</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个字节交换。</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50000"/>
              </a:lnSpc>
              <a:buNone/>
            </a:pP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例如指令：</a:t>
            </a:r>
          </a:p>
          <a:p>
            <a:pPr marL="0" indent="0">
              <a:lnSpc>
                <a:spcPct val="15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      </a:t>
            </a: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BSWAP  EAX</a:t>
            </a:r>
          </a:p>
          <a:p>
            <a:pPr marL="0" indent="0">
              <a:lnSpc>
                <a:spcPct val="150000"/>
              </a:lnSpc>
              <a:buNone/>
            </a:pP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 </a:t>
            </a:r>
            <a:r>
              <a:rPr lang="zh-CN" altLang="en-US"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若执行前</a:t>
            </a: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EAX=01234567H,</a:t>
            </a:r>
            <a:r>
              <a:rPr lang="zh-CN" altLang="en-US"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则指令执行后</a:t>
            </a: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EAX=?</a:t>
            </a:r>
          </a:p>
        </p:txBody>
      </p:sp>
    </p:spTree>
    <p:extLst>
      <p:ext uri="{BB962C8B-B14F-4D97-AF65-F5344CB8AC3E}">
        <p14:creationId xmlns:p14="http://schemas.microsoft.com/office/powerpoint/2010/main" val="4222666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9">
            <a:extLst>
              <a:ext uri="{FF2B5EF4-FFF2-40B4-BE49-F238E27FC236}">
                <a16:creationId xmlns:a16="http://schemas.microsoft.com/office/drawing/2014/main" id="{67C3DDCE-8FEB-436B-9EB5-84D1147E54D0}"/>
              </a:ext>
            </a:extLst>
          </p:cNvPr>
          <p:cNvSpPr>
            <a:spLocks noChangeArrowheads="1"/>
          </p:cNvSpPr>
          <p:nvPr/>
        </p:nvSpPr>
        <p:spPr bwMode="auto">
          <a:xfrm>
            <a:off x="323850" y="1052513"/>
            <a:ext cx="8497888" cy="5516562"/>
          </a:xfrm>
          <a:prstGeom prst="roundRect">
            <a:avLst>
              <a:gd name="adj" fmla="val 6236"/>
            </a:avLst>
          </a:prstGeom>
          <a:gradFill rotWithShape="1">
            <a:gsLst>
              <a:gs pos="0">
                <a:srgbClr val="DDDDDD"/>
              </a:gs>
              <a:gs pos="50000">
                <a:schemeClr val="bg1"/>
              </a:gs>
              <a:gs pos="100000">
                <a:srgbClr val="DDDDDD"/>
              </a:gs>
            </a:gsLst>
            <a:lin ang="2700000" scaled="1"/>
          </a:gradFill>
          <a:ln w="38100" algn="ctr">
            <a:solidFill>
              <a:schemeClr val="bg1"/>
            </a:solidFill>
            <a:round/>
          </a:ln>
          <a:effectLst/>
        </p:spPr>
        <p:txBody>
          <a:bodyPr anchor="ctr"/>
          <a:lstStyle/>
          <a:p>
            <a:pPr marL="532130" indent="-457200" eaLnBrk="1" hangingPunct="1">
              <a:lnSpc>
                <a:spcPct val="150000"/>
              </a:lnSpc>
              <a:buFont typeface="Wingdings 2" pitchFamily="18" charset="2"/>
              <a:buNone/>
              <a:defRPr/>
            </a:pPr>
            <a:r>
              <a:rPr lang="en-US" altLang="zh-CN" sz="2400" dirty="0">
                <a:solidFill>
                  <a:schemeClr val="tx1"/>
                </a:solidFill>
                <a:latin typeface="楷体" panose="02010609060101010101" pitchFamily="49" charset="-122"/>
                <a:ea typeface="楷体" panose="02010609060101010101" pitchFamily="49" charset="-122"/>
              </a:rPr>
              <a:t>4. </a:t>
            </a:r>
            <a:r>
              <a:rPr lang="zh-CN" altLang="en-US" sz="2400" dirty="0">
                <a:solidFill>
                  <a:schemeClr val="tx1"/>
                </a:solidFill>
                <a:latin typeface="楷体" panose="02010609060101010101" pitchFamily="49" charset="-122"/>
                <a:ea typeface="楷体" panose="02010609060101010101" pitchFamily="49" charset="-122"/>
              </a:rPr>
              <a:t>栈操作指令</a:t>
            </a:r>
          </a:p>
          <a:p>
            <a:pPr marL="532130" indent="-457200" eaLnBrk="1" hangingPunct="1">
              <a:lnSpc>
                <a:spcPct val="150000"/>
              </a:lnSpc>
              <a:buFont typeface="Wingdings 2" pitchFamily="18" charset="2"/>
              <a:buNone/>
              <a:defRPr/>
            </a:pPr>
            <a:r>
              <a:rPr lang="zh-CN" altLang="en-US" sz="2400" dirty="0">
                <a:solidFill>
                  <a:srgbClr val="FF0000"/>
                </a:solidFill>
                <a:latin typeface="楷体" panose="02010609060101010101" pitchFamily="49" charset="-122"/>
                <a:ea typeface="楷体" panose="02010609060101010101" pitchFamily="49" charset="-122"/>
              </a:rPr>
              <a:t>堆栈</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b="0" dirty="0">
                <a:solidFill>
                  <a:srgbClr val="2F2F41"/>
                </a:solidFill>
                <a:latin typeface="楷体" panose="02010609060101010101" pitchFamily="49" charset="-122"/>
                <a:ea typeface="楷体" panose="02010609060101010101" pitchFamily="49" charset="-122"/>
              </a:rPr>
              <a:t>是在存储器中开辟的一片数据存储区，这片存储区的一端固定，另一端活动，且只允许数据从活动端进</a:t>
            </a:r>
            <a:r>
              <a:rPr lang="en-US" altLang="zh-CN" sz="2400" b="0" dirty="0">
                <a:solidFill>
                  <a:srgbClr val="2F2F41"/>
                </a:solidFill>
                <a:latin typeface="楷体" panose="02010609060101010101" pitchFamily="49" charset="-122"/>
                <a:ea typeface="楷体" panose="02010609060101010101" pitchFamily="49" charset="-122"/>
              </a:rPr>
              <a:t>/</a:t>
            </a:r>
            <a:r>
              <a:rPr lang="zh-CN" altLang="en-US" sz="2400" b="0" dirty="0">
                <a:solidFill>
                  <a:srgbClr val="2F2F41"/>
                </a:solidFill>
                <a:latin typeface="楷体" panose="02010609060101010101" pitchFamily="49" charset="-122"/>
                <a:ea typeface="楷体" panose="02010609060101010101" pitchFamily="49" charset="-122"/>
              </a:rPr>
              <a:t>出。</a:t>
            </a:r>
          </a:p>
          <a:p>
            <a:pPr marL="532130" indent="-457200" eaLnBrk="1" hangingPunct="1">
              <a:lnSpc>
                <a:spcPct val="150000"/>
              </a:lnSpc>
              <a:buClr>
                <a:srgbClr val="00B0F0"/>
              </a:buClr>
              <a:buSzPct val="80000"/>
              <a:buFont typeface="Wingdings" pitchFamily="2" charset="2"/>
              <a:buChar char="l"/>
              <a:defRPr/>
            </a:pPr>
            <a:r>
              <a:rPr lang="zh-CN" altLang="en-US" sz="2400" b="0" dirty="0">
                <a:solidFill>
                  <a:srgbClr val="2F2F41"/>
                </a:solidFill>
                <a:latin typeface="楷体" panose="02010609060101010101" pitchFamily="49" charset="-122"/>
                <a:ea typeface="楷体" panose="02010609060101010101" pitchFamily="49" charset="-122"/>
              </a:rPr>
              <a:t>堆栈中数据的存取遵循“</a:t>
            </a:r>
            <a:r>
              <a:rPr lang="zh-CN" altLang="en-US" sz="2400" b="0" dirty="0">
                <a:solidFill>
                  <a:srgbClr val="FF0000"/>
                </a:solidFill>
                <a:latin typeface="楷体" panose="02010609060101010101" pitchFamily="49" charset="-122"/>
                <a:ea typeface="楷体" panose="02010609060101010101" pitchFamily="49" charset="-122"/>
              </a:rPr>
              <a:t>先进后出</a:t>
            </a:r>
            <a:r>
              <a:rPr lang="zh-CN" altLang="en-US" sz="2400" b="0" dirty="0">
                <a:solidFill>
                  <a:srgbClr val="2F2F41"/>
                </a:solidFill>
                <a:latin typeface="楷体" panose="02010609060101010101" pitchFamily="49" charset="-122"/>
                <a:ea typeface="楷体" panose="02010609060101010101" pitchFamily="49" charset="-122"/>
              </a:rPr>
              <a:t>”的原则。</a:t>
            </a:r>
            <a:endParaRPr lang="en-US" altLang="zh-CN" sz="2400" b="0" dirty="0">
              <a:solidFill>
                <a:srgbClr val="2F2F41"/>
              </a:solidFill>
              <a:latin typeface="楷体" panose="02010609060101010101" pitchFamily="49" charset="-122"/>
              <a:ea typeface="楷体" panose="02010609060101010101" pitchFamily="49" charset="-122"/>
            </a:endParaRPr>
          </a:p>
          <a:p>
            <a:pPr marL="532130" indent="-457200" eaLnBrk="1" hangingPunct="1">
              <a:lnSpc>
                <a:spcPct val="150000"/>
              </a:lnSpc>
              <a:buClr>
                <a:srgbClr val="00B0F0"/>
              </a:buClr>
              <a:buSzPct val="80000"/>
              <a:buFont typeface="Wingdings" pitchFamily="2" charset="2"/>
              <a:buChar char="l"/>
              <a:defRPr/>
            </a:pPr>
            <a:r>
              <a:rPr lang="zh-CN" altLang="en-US" sz="2400" b="0" dirty="0">
                <a:solidFill>
                  <a:srgbClr val="2F2F41"/>
                </a:solidFill>
                <a:latin typeface="楷体" panose="02010609060101010101" pitchFamily="49" charset="-122"/>
                <a:ea typeface="楷体" panose="02010609060101010101" pitchFamily="49" charset="-122"/>
              </a:rPr>
              <a:t>堆栈的活动端称为栈顶，固定端称为栈底。 </a:t>
            </a:r>
            <a:endParaRPr lang="en-US" altLang="zh-CN" sz="2400" b="0" dirty="0">
              <a:solidFill>
                <a:srgbClr val="2F2F41"/>
              </a:solidFill>
              <a:latin typeface="楷体" panose="02010609060101010101" pitchFamily="49" charset="-122"/>
              <a:ea typeface="楷体" panose="02010609060101010101" pitchFamily="49" charset="-122"/>
            </a:endParaRPr>
          </a:p>
          <a:p>
            <a:pPr marL="532130" indent="-457200" eaLnBrk="1" hangingPunct="1">
              <a:lnSpc>
                <a:spcPct val="150000"/>
              </a:lnSpc>
              <a:buClr>
                <a:srgbClr val="00B0F0"/>
              </a:buClr>
              <a:buSzPct val="80000"/>
              <a:buFont typeface="Wingdings" pitchFamily="2" charset="2"/>
              <a:buChar char="l"/>
              <a:defRPr/>
            </a:pPr>
            <a:r>
              <a:rPr lang="en-US" altLang="zh-CN" sz="2400" b="0" dirty="0">
                <a:solidFill>
                  <a:srgbClr val="2F2F41"/>
                </a:solidFill>
                <a:latin typeface="楷体" panose="02010609060101010101" pitchFamily="49" charset="-122"/>
                <a:ea typeface="楷体" panose="02010609060101010101" pitchFamily="49" charset="-122"/>
              </a:rPr>
              <a:t>80x86</a:t>
            </a:r>
            <a:r>
              <a:rPr lang="zh-CN" altLang="en-US" sz="2400" b="0" dirty="0">
                <a:solidFill>
                  <a:srgbClr val="2F2F41"/>
                </a:solidFill>
                <a:latin typeface="楷体" panose="02010609060101010101" pitchFamily="49" charset="-122"/>
                <a:ea typeface="楷体" panose="02010609060101010101" pitchFamily="49" charset="-122"/>
              </a:rPr>
              <a:t>的堆栈的伸展方向是</a:t>
            </a:r>
            <a:r>
              <a:rPr lang="zh-CN" altLang="en-US" sz="2400" b="0" dirty="0">
                <a:solidFill>
                  <a:srgbClr val="FF0000"/>
                </a:solidFill>
                <a:latin typeface="楷体" panose="02010609060101010101" pitchFamily="49" charset="-122"/>
                <a:ea typeface="楷体" panose="02010609060101010101" pitchFamily="49" charset="-122"/>
              </a:rPr>
              <a:t>从高地址向低地址</a:t>
            </a:r>
            <a:r>
              <a:rPr lang="zh-CN" altLang="en-US" sz="2400" b="0" dirty="0">
                <a:solidFill>
                  <a:srgbClr val="2F2F41"/>
                </a:solidFill>
                <a:latin typeface="楷体" panose="02010609060101010101" pitchFamily="49" charset="-122"/>
                <a:ea typeface="楷体" panose="02010609060101010101" pitchFamily="49" charset="-122"/>
              </a:rPr>
              <a:t>。</a:t>
            </a:r>
            <a:endParaRPr lang="en-US" altLang="zh-CN" sz="2400" b="0" dirty="0">
              <a:solidFill>
                <a:srgbClr val="2F2F41"/>
              </a:solidFill>
              <a:latin typeface="楷体" panose="02010609060101010101" pitchFamily="49" charset="-122"/>
              <a:ea typeface="楷体" panose="02010609060101010101" pitchFamily="49" charset="-122"/>
            </a:endParaRPr>
          </a:p>
          <a:p>
            <a:pPr marL="532130" indent="-457200" eaLnBrk="1" hangingPunct="1">
              <a:lnSpc>
                <a:spcPct val="150000"/>
              </a:lnSpc>
              <a:buClr>
                <a:srgbClr val="00B0F0"/>
              </a:buClr>
              <a:buSzPct val="80000"/>
              <a:buFont typeface="Wingdings" pitchFamily="2" charset="2"/>
              <a:buChar char="l"/>
              <a:defRPr/>
            </a:pPr>
            <a:r>
              <a:rPr lang="zh-CN" altLang="en-US" sz="2400" b="0" dirty="0">
                <a:solidFill>
                  <a:srgbClr val="2F2F41"/>
                </a:solidFill>
                <a:latin typeface="楷体" panose="02010609060101010101" pitchFamily="49" charset="-122"/>
                <a:ea typeface="楷体" panose="02010609060101010101" pitchFamily="49" charset="-122"/>
              </a:rPr>
              <a:t>堆栈指示器</a:t>
            </a:r>
            <a:r>
              <a:rPr lang="en-US" altLang="zh-CN" sz="2400" b="0" dirty="0">
                <a:solidFill>
                  <a:srgbClr val="FF0000"/>
                </a:solidFill>
                <a:latin typeface="楷体" panose="02010609060101010101" pitchFamily="49" charset="-122"/>
                <a:ea typeface="楷体" panose="02010609060101010101" pitchFamily="49" charset="-122"/>
              </a:rPr>
              <a:t>SP</a:t>
            </a:r>
            <a:r>
              <a:rPr lang="zh-CN" altLang="en-US" sz="2400" b="0" dirty="0">
                <a:solidFill>
                  <a:srgbClr val="FF0000"/>
                </a:solidFill>
                <a:latin typeface="楷体" panose="02010609060101010101" pitchFamily="49" charset="-122"/>
                <a:ea typeface="楷体" panose="02010609060101010101" pitchFamily="49" charset="-122"/>
              </a:rPr>
              <a:t>总是指向堆栈的栈顶</a:t>
            </a:r>
            <a:r>
              <a:rPr lang="zh-CN" altLang="en-US" sz="2400" b="0" dirty="0">
                <a:solidFill>
                  <a:srgbClr val="2F2F41"/>
                </a:solidFill>
                <a:latin typeface="楷体" panose="02010609060101010101" pitchFamily="49" charset="-122"/>
                <a:ea typeface="楷体" panose="02010609060101010101" pitchFamily="49" charset="-122"/>
              </a:rPr>
              <a:t>。</a:t>
            </a:r>
            <a:endParaRPr lang="en-US" altLang="zh-CN" sz="2400" b="0" dirty="0">
              <a:solidFill>
                <a:srgbClr val="2F2F41"/>
              </a:solidFill>
              <a:latin typeface="楷体" panose="02010609060101010101" pitchFamily="49" charset="-122"/>
              <a:ea typeface="楷体" panose="02010609060101010101" pitchFamily="49" charset="-122"/>
            </a:endParaRPr>
          </a:p>
          <a:p>
            <a:pPr marL="532130" indent="-457200" eaLnBrk="1" hangingPunct="1">
              <a:lnSpc>
                <a:spcPct val="150000"/>
              </a:lnSpc>
              <a:buClr>
                <a:srgbClr val="00B0F0"/>
              </a:buClr>
              <a:buSzPct val="80000"/>
              <a:buFont typeface="Wingdings" pitchFamily="2" charset="2"/>
              <a:buChar char="l"/>
              <a:defRPr/>
            </a:pPr>
            <a:r>
              <a:rPr lang="zh-CN" altLang="en-US" sz="2400" b="0" dirty="0">
                <a:solidFill>
                  <a:srgbClr val="2F2F41"/>
                </a:solidFill>
                <a:latin typeface="楷体" panose="02010609060101010101" pitchFamily="49" charset="-122"/>
                <a:ea typeface="楷体" panose="02010609060101010101" pitchFamily="49" charset="-122"/>
              </a:rPr>
              <a:t>堆栈操作都是</a:t>
            </a:r>
            <a:r>
              <a:rPr lang="zh-CN" altLang="en-US" sz="2400" b="0" dirty="0">
                <a:solidFill>
                  <a:srgbClr val="FF0000"/>
                </a:solidFill>
                <a:latin typeface="楷体" panose="02010609060101010101" pitchFamily="49" charset="-122"/>
                <a:ea typeface="楷体" panose="02010609060101010101" pitchFamily="49" charset="-122"/>
              </a:rPr>
              <a:t>字或双字操作</a:t>
            </a:r>
            <a:r>
              <a:rPr lang="en-US" altLang="zh-CN" sz="2400" b="0" dirty="0">
                <a:solidFill>
                  <a:srgbClr val="2F2F41"/>
                </a:solidFill>
                <a:latin typeface="楷体" panose="02010609060101010101" pitchFamily="49" charset="-122"/>
                <a:ea typeface="楷体" panose="02010609060101010101" pitchFamily="49" charset="-122"/>
              </a:rPr>
              <a:t>,</a:t>
            </a:r>
            <a:r>
              <a:rPr lang="zh-CN" altLang="en-US" sz="2400" b="0" dirty="0">
                <a:solidFill>
                  <a:srgbClr val="2F2F41"/>
                </a:solidFill>
                <a:latin typeface="楷体" panose="02010609060101010101" pitchFamily="49" charset="-122"/>
                <a:ea typeface="楷体" panose="02010609060101010101" pitchFamily="49" charset="-122"/>
              </a:rPr>
              <a:t>进栈时</a:t>
            </a:r>
            <a:r>
              <a:rPr lang="en-US" altLang="zh-CN" sz="2400" b="0" dirty="0">
                <a:solidFill>
                  <a:srgbClr val="2F2F41"/>
                </a:solidFill>
                <a:latin typeface="楷体" panose="02010609060101010101" pitchFamily="49" charset="-122"/>
                <a:ea typeface="楷体" panose="02010609060101010101" pitchFamily="49" charset="-122"/>
              </a:rPr>
              <a:t>SP</a:t>
            </a:r>
            <a:r>
              <a:rPr lang="zh-CN" altLang="en-US" sz="2400" b="0" dirty="0">
                <a:solidFill>
                  <a:srgbClr val="2F2F41"/>
                </a:solidFill>
                <a:latin typeface="楷体" panose="02010609060101010101" pitchFamily="49" charset="-122"/>
                <a:ea typeface="楷体" panose="02010609060101010101" pitchFamily="49" charset="-122"/>
              </a:rPr>
              <a:t>自动减</a:t>
            </a:r>
            <a:r>
              <a:rPr lang="en-US" altLang="zh-CN" sz="2400" b="0" dirty="0">
                <a:solidFill>
                  <a:srgbClr val="2F2F41"/>
                </a:solidFill>
                <a:latin typeface="楷体" panose="02010609060101010101" pitchFamily="49" charset="-122"/>
                <a:ea typeface="楷体" panose="02010609060101010101" pitchFamily="49" charset="-122"/>
              </a:rPr>
              <a:t>2/4,</a:t>
            </a:r>
            <a:r>
              <a:rPr lang="zh-CN" altLang="en-US" sz="2400" b="0" dirty="0">
                <a:solidFill>
                  <a:srgbClr val="2F2F41"/>
                </a:solidFill>
                <a:latin typeface="楷体" panose="02010609060101010101" pitchFamily="49" charset="-122"/>
                <a:ea typeface="楷体" panose="02010609060101010101" pitchFamily="49" charset="-122"/>
              </a:rPr>
              <a:t>出栈时</a:t>
            </a:r>
            <a:r>
              <a:rPr lang="en-US" altLang="zh-CN" sz="2400" b="0" dirty="0">
                <a:solidFill>
                  <a:srgbClr val="2F2F41"/>
                </a:solidFill>
                <a:latin typeface="楷体" panose="02010609060101010101" pitchFamily="49" charset="-122"/>
                <a:ea typeface="楷体" panose="02010609060101010101" pitchFamily="49" charset="-122"/>
              </a:rPr>
              <a:t>SP</a:t>
            </a:r>
            <a:r>
              <a:rPr lang="zh-CN" altLang="en-US" sz="2400" b="0" dirty="0">
                <a:solidFill>
                  <a:srgbClr val="2F2F41"/>
                </a:solidFill>
                <a:latin typeface="楷体" panose="02010609060101010101" pitchFamily="49" charset="-122"/>
                <a:ea typeface="楷体" panose="02010609060101010101" pitchFamily="49" charset="-122"/>
              </a:rPr>
              <a:t>自动加</a:t>
            </a:r>
            <a:r>
              <a:rPr lang="en-US" altLang="zh-CN" sz="2400" b="0" dirty="0">
                <a:solidFill>
                  <a:srgbClr val="2F2F41"/>
                </a:solidFill>
                <a:latin typeface="楷体" panose="02010609060101010101" pitchFamily="49" charset="-122"/>
                <a:ea typeface="楷体" panose="02010609060101010101" pitchFamily="49" charset="-122"/>
              </a:rPr>
              <a:t>2/4</a:t>
            </a:r>
            <a:r>
              <a:rPr lang="zh-CN" altLang="en-US" sz="2400" b="0" dirty="0">
                <a:solidFill>
                  <a:srgbClr val="2F2F41"/>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797436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9">
            <a:extLst>
              <a:ext uri="{FF2B5EF4-FFF2-40B4-BE49-F238E27FC236}">
                <a16:creationId xmlns:a16="http://schemas.microsoft.com/office/drawing/2014/main" id="{CBAE24CE-FC45-4CF1-8492-7A6A7589C7FE}"/>
              </a:ext>
            </a:extLst>
          </p:cNvPr>
          <p:cNvSpPr>
            <a:spLocks noChangeArrowheads="1"/>
          </p:cNvSpPr>
          <p:nvPr/>
        </p:nvSpPr>
        <p:spPr bwMode="auto">
          <a:xfrm>
            <a:off x="141288" y="1102794"/>
            <a:ext cx="8497887" cy="5516563"/>
          </a:xfrm>
          <a:prstGeom prst="roundRect">
            <a:avLst>
              <a:gd name="adj" fmla="val 6236"/>
            </a:avLst>
          </a:prstGeom>
          <a:gradFill rotWithShape="1">
            <a:gsLst>
              <a:gs pos="0">
                <a:srgbClr val="DDDDDD"/>
              </a:gs>
              <a:gs pos="50000">
                <a:schemeClr val="bg1"/>
              </a:gs>
              <a:gs pos="100000">
                <a:srgbClr val="DDDDDD"/>
              </a:gs>
            </a:gsLst>
            <a:lin ang="2700000" scaled="1"/>
          </a:gradFill>
          <a:ln w="38100" algn="ctr">
            <a:solidFill>
              <a:schemeClr val="bg1"/>
            </a:solidFill>
            <a:round/>
          </a:ln>
          <a:effectLst/>
        </p:spPr>
        <p:txBody>
          <a:bodyPr anchor="ctr"/>
          <a:lstStyle/>
          <a:p>
            <a:pPr marL="532765" indent="-457200" eaLnBrk="1" fontAlgn="auto" hangingPunct="1">
              <a:lnSpc>
                <a:spcPct val="120000"/>
              </a:lnSpc>
              <a:spcBef>
                <a:spcPts val="0"/>
              </a:spcBef>
              <a:spcAft>
                <a:spcPts val="0"/>
              </a:spcAft>
              <a:buFont typeface="Wingdings 2" pitchFamily="18" charset="2"/>
              <a:buNone/>
              <a:defRPr/>
            </a:pPr>
            <a:endParaRPr lang="zh-CN" altLang="en-US" sz="3200" dirty="0">
              <a:solidFill>
                <a:srgbClr val="2F2F41"/>
              </a:solidFill>
              <a:latin typeface="楷体_GB2312" pitchFamily="49" charset="-122"/>
            </a:endParaRPr>
          </a:p>
        </p:txBody>
      </p:sp>
      <p:sp>
        <p:nvSpPr>
          <p:cNvPr id="3" name="Rectangle 4"/>
          <p:cNvSpPr txBox="1">
            <a:spLocks noChangeArrowheads="1"/>
          </p:cNvSpPr>
          <p:nvPr/>
        </p:nvSpPr>
        <p:spPr>
          <a:xfrm>
            <a:off x="285750" y="1052513"/>
            <a:ext cx="8001000" cy="25058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400" dirty="0">
                <a:solidFill>
                  <a:srgbClr val="2F2F41"/>
                </a:solidFill>
                <a:latin typeface="楷体" panose="02010609060101010101" pitchFamily="49" charset="-122"/>
                <a:ea typeface="楷体" panose="02010609060101010101" pitchFamily="49" charset="-122"/>
              </a:rPr>
              <a:t>(1)</a:t>
            </a:r>
            <a:r>
              <a:rPr lang="zh-CN" altLang="en-US" sz="2400" dirty="0">
                <a:solidFill>
                  <a:srgbClr val="2F2F41"/>
                </a:solidFill>
                <a:latin typeface="楷体" panose="02010609060101010101" pitchFamily="49" charset="-122"/>
                <a:ea typeface="楷体" panose="02010609060101010101" pitchFamily="49" charset="-122"/>
              </a:rPr>
              <a:t>进栈指令 </a:t>
            </a:r>
          </a:p>
          <a:p>
            <a:pPr marL="0" indent="0">
              <a:lnSpc>
                <a:spcPct val="150000"/>
              </a:lnSpc>
              <a:buNone/>
            </a:pPr>
            <a:r>
              <a:rPr lang="zh-CN" altLang="en-US" sz="2400" dirty="0">
                <a:solidFill>
                  <a:srgbClr val="2F2F41"/>
                </a:solidFill>
                <a:latin typeface="楷体" panose="02010609060101010101" pitchFamily="49" charset="-122"/>
                <a:ea typeface="楷体" panose="02010609060101010101" pitchFamily="49" charset="-122"/>
              </a:rPr>
              <a:t>功能：将通用寄存器、段寄存器或存储器中的一个字或双字压入栈顶。</a:t>
            </a:r>
            <a:endParaRPr lang="en-US" altLang="zh-CN" sz="2400" dirty="0">
              <a:solidFill>
                <a:srgbClr val="2F2F41"/>
              </a:solidFill>
              <a:latin typeface="楷体" panose="02010609060101010101" pitchFamily="49" charset="-122"/>
              <a:ea typeface="楷体" panose="02010609060101010101" pitchFamily="49" charset="-122"/>
            </a:endParaRPr>
          </a:p>
          <a:p>
            <a:pPr marL="0" indent="0">
              <a:lnSpc>
                <a:spcPct val="150000"/>
              </a:lnSpc>
              <a:buNone/>
            </a:pPr>
            <a:r>
              <a:rPr lang="zh-CN" altLang="en-US" sz="2400" dirty="0">
                <a:solidFill>
                  <a:srgbClr val="2F2F41"/>
                </a:solidFill>
                <a:latin typeface="楷体" panose="02010609060101010101" pitchFamily="49" charset="-122"/>
                <a:ea typeface="楷体" panose="02010609060101010101" pitchFamily="49" charset="-122"/>
              </a:rPr>
              <a:t>格式：</a:t>
            </a:r>
            <a:r>
              <a:rPr lang="en-US" altLang="zh-CN" sz="2400" dirty="0">
                <a:solidFill>
                  <a:srgbClr val="FF0000"/>
                </a:solidFill>
                <a:latin typeface="楷体" panose="02010609060101010101" pitchFamily="49" charset="-122"/>
                <a:ea typeface="楷体" panose="02010609060101010101" pitchFamily="49" charset="-122"/>
              </a:rPr>
              <a:t>PUSH source</a:t>
            </a:r>
            <a:endParaRPr lang="zh-CN" altLang="en-US" sz="2400" dirty="0">
              <a:solidFill>
                <a:srgbClr val="FF0000"/>
              </a:solidFill>
              <a:latin typeface="楷体" panose="02010609060101010101" pitchFamily="49" charset="-122"/>
              <a:ea typeface="楷体" panose="02010609060101010101" pitchFamily="49" charset="-122"/>
            </a:endParaRPr>
          </a:p>
        </p:txBody>
      </p:sp>
      <p:grpSp>
        <p:nvGrpSpPr>
          <p:cNvPr id="4" name="Group 5"/>
          <p:cNvGrpSpPr>
            <a:grpSpLocks/>
          </p:cNvGrpSpPr>
          <p:nvPr/>
        </p:nvGrpSpPr>
        <p:grpSpPr bwMode="auto">
          <a:xfrm>
            <a:off x="7270750" y="4583113"/>
            <a:ext cx="792163" cy="1250950"/>
            <a:chOff x="4195" y="2251"/>
            <a:chExt cx="499" cy="1134"/>
          </a:xfrm>
        </p:grpSpPr>
        <p:sp>
          <p:nvSpPr>
            <p:cNvPr id="5" name="Line 6"/>
            <p:cNvSpPr>
              <a:spLocks noChangeShapeType="1"/>
            </p:cNvSpPr>
            <p:nvPr/>
          </p:nvSpPr>
          <p:spPr bwMode="auto">
            <a:xfrm>
              <a:off x="4694" y="2251"/>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Line 7"/>
            <p:cNvSpPr>
              <a:spLocks noChangeShapeType="1"/>
            </p:cNvSpPr>
            <p:nvPr/>
          </p:nvSpPr>
          <p:spPr bwMode="auto">
            <a:xfrm flipH="1">
              <a:off x="4195" y="3385"/>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 name="Rectangle 8"/>
          <p:cNvSpPr>
            <a:spLocks noChangeArrowheads="1"/>
          </p:cNvSpPr>
          <p:nvPr/>
        </p:nvSpPr>
        <p:spPr bwMode="auto">
          <a:xfrm>
            <a:off x="4751388" y="5748338"/>
            <a:ext cx="13684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SP→0040H</a:t>
            </a:r>
          </a:p>
        </p:txBody>
      </p:sp>
      <p:sp>
        <p:nvSpPr>
          <p:cNvPr id="8" name="Rectangle 9"/>
          <p:cNvSpPr>
            <a:spLocks noChangeArrowheads="1"/>
          </p:cNvSpPr>
          <p:nvPr/>
        </p:nvSpPr>
        <p:spPr bwMode="auto">
          <a:xfrm>
            <a:off x="4751388" y="5575300"/>
            <a:ext cx="13684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SP→003FH</a:t>
            </a:r>
          </a:p>
        </p:txBody>
      </p:sp>
      <p:sp>
        <p:nvSpPr>
          <p:cNvPr id="9" name="Rectangle 10"/>
          <p:cNvSpPr>
            <a:spLocks noChangeArrowheads="1"/>
          </p:cNvSpPr>
          <p:nvPr/>
        </p:nvSpPr>
        <p:spPr bwMode="auto">
          <a:xfrm>
            <a:off x="4751388" y="5143500"/>
            <a:ext cx="13684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SP→003EH</a:t>
            </a:r>
          </a:p>
        </p:txBody>
      </p:sp>
      <p:sp>
        <p:nvSpPr>
          <p:cNvPr id="10" name="Rectangle 11"/>
          <p:cNvSpPr>
            <a:spLocks noChangeArrowheads="1"/>
          </p:cNvSpPr>
          <p:nvPr/>
        </p:nvSpPr>
        <p:spPr bwMode="auto">
          <a:xfrm>
            <a:off x="6478588" y="5705475"/>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12</a:t>
            </a:r>
          </a:p>
        </p:txBody>
      </p:sp>
      <p:sp>
        <p:nvSpPr>
          <p:cNvPr id="11" name="Rectangle 12"/>
          <p:cNvSpPr>
            <a:spLocks noChangeArrowheads="1"/>
          </p:cNvSpPr>
          <p:nvPr/>
        </p:nvSpPr>
        <p:spPr bwMode="auto">
          <a:xfrm>
            <a:off x="6478588" y="5243513"/>
            <a:ext cx="576262"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34</a:t>
            </a:r>
          </a:p>
        </p:txBody>
      </p:sp>
      <p:grpSp>
        <p:nvGrpSpPr>
          <p:cNvPr id="12" name="Group 13"/>
          <p:cNvGrpSpPr>
            <a:grpSpLocks/>
          </p:cNvGrpSpPr>
          <p:nvPr/>
        </p:nvGrpSpPr>
        <p:grpSpPr bwMode="auto">
          <a:xfrm>
            <a:off x="7270750" y="4594225"/>
            <a:ext cx="1368425" cy="793750"/>
            <a:chOff x="4195" y="2251"/>
            <a:chExt cx="862" cy="771"/>
          </a:xfrm>
        </p:grpSpPr>
        <p:sp>
          <p:nvSpPr>
            <p:cNvPr id="13" name="Line 14"/>
            <p:cNvSpPr>
              <a:spLocks noChangeShapeType="1"/>
            </p:cNvSpPr>
            <p:nvPr/>
          </p:nvSpPr>
          <p:spPr bwMode="auto">
            <a:xfrm>
              <a:off x="5057" y="2251"/>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5"/>
            <p:cNvSpPr>
              <a:spLocks noChangeShapeType="1"/>
            </p:cNvSpPr>
            <p:nvPr/>
          </p:nvSpPr>
          <p:spPr bwMode="auto">
            <a:xfrm flipH="1">
              <a:off x="4195" y="3022"/>
              <a:ext cx="8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 name="Text Box 16"/>
          <p:cNvSpPr txBox="1">
            <a:spLocks noChangeArrowheads="1"/>
          </p:cNvSpPr>
          <p:nvPr/>
        </p:nvSpPr>
        <p:spPr bwMode="auto">
          <a:xfrm>
            <a:off x="4302125" y="2373313"/>
            <a:ext cx="2841625"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Font typeface="Arial" panose="020B0604020202020204" pitchFamily="34" charset="0"/>
              <a:buNone/>
            </a:pPr>
            <a:r>
              <a:rPr lang="zh-CN" altLang="en-US" sz="2800" dirty="0">
                <a:solidFill>
                  <a:srgbClr val="3366CC"/>
                </a:solidFill>
                <a:latin typeface="楷体_GB2312" pitchFamily="49" charset="-122"/>
                <a:ea typeface="楷体_GB2312" pitchFamily="49" charset="-122"/>
              </a:rPr>
              <a:t>例：</a:t>
            </a:r>
            <a:r>
              <a:rPr lang="en-US" altLang="zh-CN" sz="2600" dirty="0">
                <a:solidFill>
                  <a:srgbClr val="3366CC"/>
                </a:solidFill>
                <a:latin typeface="楷体_GB2312" pitchFamily="49" charset="-122"/>
                <a:ea typeface="楷体_GB2312" pitchFamily="49" charset="-122"/>
              </a:rPr>
              <a:t>AX=1234H</a:t>
            </a:r>
          </a:p>
          <a:p>
            <a:pPr eaLnBrk="1" hangingPunct="1">
              <a:spcBef>
                <a:spcPct val="25000"/>
              </a:spcBef>
              <a:buFont typeface="Arial" panose="020B0604020202020204" pitchFamily="34" charset="0"/>
              <a:buNone/>
            </a:pPr>
            <a:r>
              <a:rPr lang="en-US" altLang="zh-CN" sz="2600" dirty="0">
                <a:solidFill>
                  <a:srgbClr val="3366CC"/>
                </a:solidFill>
                <a:latin typeface="楷体_GB2312" pitchFamily="49" charset="-122"/>
                <a:ea typeface="楷体_GB2312" pitchFamily="49" charset="-122"/>
              </a:rPr>
              <a:t>    PUSH  AX</a:t>
            </a:r>
          </a:p>
          <a:p>
            <a:pPr eaLnBrk="1" hangingPunct="1">
              <a:spcBef>
                <a:spcPct val="25000"/>
              </a:spcBef>
              <a:buFont typeface="Arial" panose="020B0604020202020204" pitchFamily="34" charset="0"/>
              <a:buNone/>
            </a:pPr>
            <a:r>
              <a:rPr lang="zh-CN" altLang="en-US" sz="2400" dirty="0">
                <a:solidFill>
                  <a:srgbClr val="0066CC"/>
                </a:solidFill>
                <a:latin typeface="Arial" panose="020B0604020202020204" pitchFamily="34" charset="0"/>
                <a:ea typeface="楷体_GB2312" pitchFamily="49" charset="-122"/>
              </a:rPr>
              <a:t>执行过程如下图：</a:t>
            </a:r>
          </a:p>
        </p:txBody>
      </p:sp>
      <p:sp>
        <p:nvSpPr>
          <p:cNvPr id="16" name="AutoShape 17"/>
          <p:cNvSpPr>
            <a:spLocks noChangeArrowheads="1"/>
          </p:cNvSpPr>
          <p:nvPr/>
        </p:nvSpPr>
        <p:spPr bwMode="auto">
          <a:xfrm>
            <a:off x="3929063" y="4143375"/>
            <a:ext cx="792162" cy="649288"/>
          </a:xfrm>
          <a:prstGeom prst="rightArrow">
            <a:avLst>
              <a:gd name="adj1" fmla="val 50000"/>
              <a:gd name="adj2" fmla="val 30496"/>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1800">
                <a:solidFill>
                  <a:schemeClr val="bg1"/>
                </a:solidFill>
                <a:latin typeface="Arial" panose="020B0604020202020204" pitchFamily="34" charset="0"/>
              </a:rPr>
              <a:t>执行</a:t>
            </a:r>
          </a:p>
        </p:txBody>
      </p:sp>
      <p:grpSp>
        <p:nvGrpSpPr>
          <p:cNvPr id="17" name="Group 18"/>
          <p:cNvGrpSpPr>
            <a:grpSpLocks/>
          </p:cNvGrpSpPr>
          <p:nvPr/>
        </p:nvGrpSpPr>
        <p:grpSpPr bwMode="auto">
          <a:xfrm>
            <a:off x="6286500" y="4000500"/>
            <a:ext cx="1022350" cy="2303463"/>
            <a:chOff x="2472" y="2523"/>
            <a:chExt cx="644" cy="1516"/>
          </a:xfrm>
        </p:grpSpPr>
        <p:grpSp>
          <p:nvGrpSpPr>
            <p:cNvPr id="18" name="Group 19"/>
            <p:cNvGrpSpPr>
              <a:grpSpLocks/>
            </p:cNvGrpSpPr>
            <p:nvPr/>
          </p:nvGrpSpPr>
          <p:grpSpPr bwMode="auto">
            <a:xfrm>
              <a:off x="2472" y="2523"/>
              <a:ext cx="644" cy="1516"/>
              <a:chOff x="1465" y="1579"/>
              <a:chExt cx="644" cy="2052"/>
            </a:xfrm>
          </p:grpSpPr>
          <p:sp>
            <p:nvSpPr>
              <p:cNvPr id="24" name="Line 20"/>
              <p:cNvSpPr>
                <a:spLocks noChangeShapeType="1"/>
              </p:cNvSpPr>
              <p:nvPr/>
            </p:nvSpPr>
            <p:spPr bwMode="auto">
              <a:xfrm>
                <a:off x="1465" y="157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1"/>
              <p:cNvSpPr>
                <a:spLocks noChangeShapeType="1"/>
              </p:cNvSpPr>
              <p:nvPr/>
            </p:nvSpPr>
            <p:spPr bwMode="auto">
              <a:xfrm>
                <a:off x="2109" y="158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22"/>
            <p:cNvSpPr>
              <a:spLocks noChangeShapeType="1"/>
            </p:cNvSpPr>
            <p:nvPr/>
          </p:nvSpPr>
          <p:spPr bwMode="auto">
            <a:xfrm>
              <a:off x="2473" y="2758"/>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3"/>
            <p:cNvSpPr>
              <a:spLocks noChangeShapeType="1"/>
            </p:cNvSpPr>
            <p:nvPr/>
          </p:nvSpPr>
          <p:spPr bwMode="auto">
            <a:xfrm>
              <a:off x="2473" y="3049"/>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4"/>
            <p:cNvSpPr>
              <a:spLocks noChangeShapeType="1"/>
            </p:cNvSpPr>
            <p:nvPr/>
          </p:nvSpPr>
          <p:spPr bwMode="auto">
            <a:xfrm>
              <a:off x="2473" y="333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5"/>
            <p:cNvSpPr>
              <a:spLocks noChangeShapeType="1"/>
            </p:cNvSpPr>
            <p:nvPr/>
          </p:nvSpPr>
          <p:spPr bwMode="auto">
            <a:xfrm>
              <a:off x="2473" y="362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6"/>
            <p:cNvSpPr>
              <a:spLocks noChangeShapeType="1"/>
            </p:cNvSpPr>
            <p:nvPr/>
          </p:nvSpPr>
          <p:spPr bwMode="auto">
            <a:xfrm>
              <a:off x="2473" y="3901"/>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 name="Group 27"/>
          <p:cNvGrpSpPr>
            <a:grpSpLocks/>
          </p:cNvGrpSpPr>
          <p:nvPr/>
        </p:nvGrpSpPr>
        <p:grpSpPr bwMode="auto">
          <a:xfrm>
            <a:off x="7777163" y="3500438"/>
            <a:ext cx="1152525" cy="1081087"/>
            <a:chOff x="4513" y="1570"/>
            <a:chExt cx="726" cy="681"/>
          </a:xfrm>
        </p:grpSpPr>
        <p:sp>
          <p:nvSpPr>
            <p:cNvPr id="27" name="Rectangle 28"/>
            <p:cNvSpPr>
              <a:spLocks noChangeArrowheads="1"/>
            </p:cNvSpPr>
            <p:nvPr/>
          </p:nvSpPr>
          <p:spPr bwMode="auto">
            <a:xfrm>
              <a:off x="4694" y="1570"/>
              <a:ext cx="36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AX</a:t>
              </a:r>
            </a:p>
          </p:txBody>
        </p:sp>
        <p:sp>
          <p:nvSpPr>
            <p:cNvPr id="28" name="Rectangle 29"/>
            <p:cNvSpPr>
              <a:spLocks noChangeArrowheads="1"/>
            </p:cNvSpPr>
            <p:nvPr/>
          </p:nvSpPr>
          <p:spPr bwMode="auto">
            <a:xfrm>
              <a:off x="4513" y="1752"/>
              <a:ext cx="72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AH   AL</a:t>
              </a:r>
            </a:p>
          </p:txBody>
        </p:sp>
        <p:sp>
          <p:nvSpPr>
            <p:cNvPr id="29" name="Rectangle 30"/>
            <p:cNvSpPr>
              <a:spLocks noChangeArrowheads="1"/>
            </p:cNvSpPr>
            <p:nvPr/>
          </p:nvSpPr>
          <p:spPr bwMode="auto">
            <a:xfrm>
              <a:off x="4513" y="2024"/>
              <a:ext cx="726" cy="22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12   34</a:t>
              </a:r>
            </a:p>
          </p:txBody>
        </p:sp>
        <p:sp>
          <p:nvSpPr>
            <p:cNvPr id="30" name="Line 31"/>
            <p:cNvSpPr>
              <a:spLocks noChangeShapeType="1"/>
            </p:cNvSpPr>
            <p:nvPr/>
          </p:nvSpPr>
          <p:spPr bwMode="auto">
            <a:xfrm>
              <a:off x="4876" y="2024"/>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 name="Rectangle 8"/>
          <p:cNvSpPr>
            <a:spLocks noChangeArrowheads="1"/>
          </p:cNvSpPr>
          <p:nvPr/>
        </p:nvSpPr>
        <p:spPr bwMode="auto">
          <a:xfrm>
            <a:off x="714375" y="5605463"/>
            <a:ext cx="13684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100">
                <a:solidFill>
                  <a:srgbClr val="3366CC"/>
                </a:solidFill>
                <a:latin typeface="Arial" panose="020B0604020202020204" pitchFamily="34" charset="0"/>
              </a:rPr>
              <a:t>SP→0040H</a:t>
            </a:r>
          </a:p>
        </p:txBody>
      </p:sp>
      <p:grpSp>
        <p:nvGrpSpPr>
          <p:cNvPr id="33" name="Group 18"/>
          <p:cNvGrpSpPr>
            <a:grpSpLocks/>
          </p:cNvGrpSpPr>
          <p:nvPr/>
        </p:nvGrpSpPr>
        <p:grpSpPr bwMode="auto">
          <a:xfrm>
            <a:off x="2249488" y="3857625"/>
            <a:ext cx="1022350" cy="2303463"/>
            <a:chOff x="2472" y="2523"/>
            <a:chExt cx="644" cy="1516"/>
          </a:xfrm>
        </p:grpSpPr>
        <p:grpSp>
          <p:nvGrpSpPr>
            <p:cNvPr id="34" name="Group 19"/>
            <p:cNvGrpSpPr>
              <a:grpSpLocks/>
            </p:cNvGrpSpPr>
            <p:nvPr/>
          </p:nvGrpSpPr>
          <p:grpSpPr bwMode="auto">
            <a:xfrm>
              <a:off x="2472" y="2523"/>
              <a:ext cx="644" cy="1516"/>
              <a:chOff x="1465" y="1579"/>
              <a:chExt cx="644" cy="2052"/>
            </a:xfrm>
          </p:grpSpPr>
          <p:sp>
            <p:nvSpPr>
              <p:cNvPr id="40" name="Line 20"/>
              <p:cNvSpPr>
                <a:spLocks noChangeShapeType="1"/>
              </p:cNvSpPr>
              <p:nvPr/>
            </p:nvSpPr>
            <p:spPr bwMode="auto">
              <a:xfrm>
                <a:off x="1465" y="157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1"/>
              <p:cNvSpPr>
                <a:spLocks noChangeShapeType="1"/>
              </p:cNvSpPr>
              <p:nvPr/>
            </p:nvSpPr>
            <p:spPr bwMode="auto">
              <a:xfrm>
                <a:off x="2109" y="158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5" name="Line 22"/>
            <p:cNvSpPr>
              <a:spLocks noChangeShapeType="1"/>
            </p:cNvSpPr>
            <p:nvPr/>
          </p:nvSpPr>
          <p:spPr bwMode="auto">
            <a:xfrm>
              <a:off x="2473" y="2758"/>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3"/>
            <p:cNvSpPr>
              <a:spLocks noChangeShapeType="1"/>
            </p:cNvSpPr>
            <p:nvPr/>
          </p:nvSpPr>
          <p:spPr bwMode="auto">
            <a:xfrm>
              <a:off x="2473" y="3049"/>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24"/>
            <p:cNvSpPr>
              <a:spLocks noChangeShapeType="1"/>
            </p:cNvSpPr>
            <p:nvPr/>
          </p:nvSpPr>
          <p:spPr bwMode="auto">
            <a:xfrm>
              <a:off x="2473" y="333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5"/>
            <p:cNvSpPr>
              <a:spLocks noChangeShapeType="1"/>
            </p:cNvSpPr>
            <p:nvPr/>
          </p:nvSpPr>
          <p:spPr bwMode="auto">
            <a:xfrm>
              <a:off x="2473" y="362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26"/>
            <p:cNvSpPr>
              <a:spLocks noChangeShapeType="1"/>
            </p:cNvSpPr>
            <p:nvPr/>
          </p:nvSpPr>
          <p:spPr bwMode="auto">
            <a:xfrm>
              <a:off x="2473" y="3901"/>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50380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1" presetClass="exit"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par>
                          <p:cTn id="11" fill="hold">
                            <p:stCondLst>
                              <p:cond delay="500"/>
                            </p:stCondLst>
                            <p:childTnLst>
                              <p:par>
                                <p:cTn id="12" presetID="9" presetClass="entr" presetSubtype="0" fill="hold" grpId="0" nodeType="afterEffect">
                                  <p:stCondLst>
                                    <p:cond delay="1000"/>
                                  </p:stCondLst>
                                  <p:childTnLst>
                                    <p:set>
                                      <p:cBhvr>
                                        <p:cTn id="13" dur="1" fill="hold">
                                          <p:stCondLst>
                                            <p:cond delay="0"/>
                                          </p:stCondLst>
                                        </p:cTn>
                                        <p:tgtEl>
                                          <p:spTgt spid="8"/>
                                        </p:tgtEl>
                                        <p:attrNameLst>
                                          <p:attrName>style.visibility</p:attrName>
                                        </p:attrNameLst>
                                      </p:cBhvr>
                                      <p:to>
                                        <p:strVal val="visible"/>
                                      </p:to>
                                    </p:set>
                                    <p:animEffect transition="in" filter="dissolve">
                                      <p:cBhvr>
                                        <p:cTn id="14" dur="500"/>
                                        <p:tgtEl>
                                          <p:spTgt spid="8"/>
                                        </p:tgtEl>
                                      </p:cBhvr>
                                    </p:animEffect>
                                  </p:childTnLst>
                                </p:cTn>
                              </p:par>
                            </p:childTnLst>
                          </p:cTn>
                        </p:par>
                        <p:par>
                          <p:cTn id="15" fill="hold">
                            <p:stCondLst>
                              <p:cond delay="2000"/>
                            </p:stCondLst>
                            <p:childTnLst>
                              <p:par>
                                <p:cTn id="16" presetID="22" presetClass="entr" presetSubtype="1" fill="hold" nodeType="afterEffect">
                                  <p:stCondLst>
                                    <p:cond delay="100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par>
                          <p:cTn id="19" fill="hold">
                            <p:stCondLst>
                              <p:cond delay="3500"/>
                            </p:stCondLst>
                            <p:childTnLst>
                              <p:par>
                                <p:cTn id="20" presetID="9" presetClass="entr" presetSubtype="0" fill="hold" grpId="0" nodeType="afterEffect">
                                  <p:stCondLst>
                                    <p:cond delay="50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par>
                          <p:cTn id="23" fill="hold">
                            <p:stCondLst>
                              <p:cond delay="4500"/>
                            </p:stCondLst>
                            <p:childTnLst>
                              <p:par>
                                <p:cTn id="24" presetID="1" presetClass="exit" presetSubtype="0" fill="hold" grpId="1" nodeType="afterEffect">
                                  <p:stCondLst>
                                    <p:cond delay="0"/>
                                  </p:stCondLst>
                                  <p:childTnLst>
                                    <p:set>
                                      <p:cBhvr>
                                        <p:cTn id="25" dur="1" fill="hold">
                                          <p:stCondLst>
                                            <p:cond delay="0"/>
                                          </p:stCondLst>
                                        </p:cTn>
                                        <p:tgtEl>
                                          <p:spTgt spid="8"/>
                                        </p:tgtEl>
                                        <p:attrNameLst>
                                          <p:attrName>style.visibility</p:attrName>
                                        </p:attrNameLst>
                                      </p:cBhvr>
                                      <p:to>
                                        <p:strVal val="hidden"/>
                                      </p:to>
                                    </p:set>
                                  </p:childTnLst>
                                </p:cTn>
                              </p:par>
                            </p:childTnLst>
                          </p:cTn>
                        </p:par>
                        <p:par>
                          <p:cTn id="26" fill="hold">
                            <p:stCondLst>
                              <p:cond delay="4500"/>
                            </p:stCondLst>
                            <p:childTnLst>
                              <p:par>
                                <p:cTn id="27" presetID="9" presetClass="entr" presetSubtype="0" fill="hold" grpId="0" nodeType="afterEffect">
                                  <p:stCondLst>
                                    <p:cond delay="150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childTnLst>
                          </p:cTn>
                        </p:par>
                        <p:par>
                          <p:cTn id="30" fill="hold">
                            <p:stCondLst>
                              <p:cond delay="6500"/>
                            </p:stCondLst>
                            <p:childTnLst>
                              <p:par>
                                <p:cTn id="31" presetID="22" presetClass="entr" presetSubtype="1" fill="hold" nodeType="afterEffect">
                                  <p:stCondLst>
                                    <p:cond delay="100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500"/>
                                        <p:tgtEl>
                                          <p:spTgt spid="12"/>
                                        </p:tgtEl>
                                      </p:cBhvr>
                                    </p:animEffect>
                                  </p:childTnLst>
                                </p:cTn>
                              </p:par>
                            </p:childTnLst>
                          </p:cTn>
                        </p:par>
                        <p:par>
                          <p:cTn id="34" fill="hold">
                            <p:stCondLst>
                              <p:cond delay="8000"/>
                            </p:stCondLst>
                            <p:childTnLst>
                              <p:par>
                                <p:cTn id="35" presetID="9" presetClass="entr" presetSubtype="0" fill="hold" grpId="0" nodeType="afterEffect">
                                  <p:stCondLst>
                                    <p:cond delay="50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childTnLst>
                          </p:cTn>
                        </p:par>
                        <p:par>
                          <p:cTn id="38" fill="hold">
                            <p:stCondLst>
                              <p:cond delay="9000"/>
                            </p:stCondLst>
                            <p:childTnLst>
                              <p:par>
                                <p:cTn id="39" presetID="1" presetClass="exit" presetSubtype="0" fill="hold" grpId="0" nodeType="afterEffect">
                                  <p:stCondLst>
                                    <p:cond delay="0"/>
                                  </p:stCondLst>
                                  <p:childTnLst>
                                    <p:set>
                                      <p:cBhvr>
                                        <p:cTn id="40"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1" grpId="0"/>
      <p:bldP spid="16" grpId="0" animBg="1"/>
      <p:bldP spid="3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9">
            <a:extLst>
              <a:ext uri="{FF2B5EF4-FFF2-40B4-BE49-F238E27FC236}">
                <a16:creationId xmlns:a16="http://schemas.microsoft.com/office/drawing/2014/main" id="{4D6CAD11-9C3B-41F6-9B8E-2C5EA6DC5840}"/>
              </a:ext>
            </a:extLst>
          </p:cNvPr>
          <p:cNvSpPr>
            <a:spLocks noChangeArrowheads="1"/>
          </p:cNvSpPr>
          <p:nvPr/>
        </p:nvSpPr>
        <p:spPr bwMode="auto">
          <a:xfrm>
            <a:off x="285750" y="1083076"/>
            <a:ext cx="8497888" cy="5709837"/>
          </a:xfrm>
          <a:prstGeom prst="roundRect">
            <a:avLst>
              <a:gd name="adj" fmla="val 6236"/>
            </a:avLst>
          </a:prstGeom>
          <a:gradFill rotWithShape="1">
            <a:gsLst>
              <a:gs pos="0">
                <a:srgbClr val="DDDDDD"/>
              </a:gs>
              <a:gs pos="50000">
                <a:schemeClr val="bg1"/>
              </a:gs>
              <a:gs pos="100000">
                <a:srgbClr val="DDDDDD"/>
              </a:gs>
            </a:gsLst>
            <a:lin ang="2700000" scaled="1"/>
          </a:gradFill>
          <a:ln w="38100" algn="ctr">
            <a:solidFill>
              <a:schemeClr val="bg1"/>
            </a:solidFill>
            <a:round/>
          </a:ln>
          <a:effectLst/>
        </p:spPr>
        <p:txBody>
          <a:bodyPr anchor="ctr"/>
          <a:lstStyle/>
          <a:p>
            <a:pPr marL="532765" indent="-457200" eaLnBrk="1" fontAlgn="auto" hangingPunct="1">
              <a:lnSpc>
                <a:spcPct val="120000"/>
              </a:lnSpc>
              <a:spcBef>
                <a:spcPts val="0"/>
              </a:spcBef>
              <a:spcAft>
                <a:spcPts val="0"/>
              </a:spcAft>
              <a:buFont typeface="Wingdings 2" pitchFamily="18" charset="2"/>
              <a:buNone/>
              <a:defRPr/>
            </a:pPr>
            <a:endParaRPr lang="zh-CN" altLang="en-US" sz="3200" dirty="0">
              <a:solidFill>
                <a:srgbClr val="2F2F41"/>
              </a:solidFill>
              <a:latin typeface="楷体_GB2312" pitchFamily="49" charset="-122"/>
            </a:endParaRPr>
          </a:p>
        </p:txBody>
      </p:sp>
      <p:sp>
        <p:nvSpPr>
          <p:cNvPr id="3" name="Rectangle 3"/>
          <p:cNvSpPr txBox="1">
            <a:spLocks noChangeArrowheads="1"/>
          </p:cNvSpPr>
          <p:nvPr/>
        </p:nvSpPr>
        <p:spPr>
          <a:xfrm>
            <a:off x="356772" y="1135856"/>
            <a:ext cx="9001125" cy="2000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solidFill>
                  <a:srgbClr val="2F2F41"/>
                </a:solidFill>
                <a:latin typeface="楷体" panose="02010609060101010101" pitchFamily="49" charset="-122"/>
                <a:ea typeface="楷体" panose="02010609060101010101" pitchFamily="49" charset="-122"/>
              </a:rPr>
              <a:t>(2)</a:t>
            </a:r>
            <a:r>
              <a:rPr lang="zh-CN" altLang="en-US" sz="2400" dirty="0">
                <a:solidFill>
                  <a:srgbClr val="2F2F41"/>
                </a:solidFill>
                <a:latin typeface="楷体" panose="02010609060101010101" pitchFamily="49" charset="-122"/>
                <a:ea typeface="楷体" panose="02010609060101010101" pitchFamily="49" charset="-122"/>
              </a:rPr>
              <a:t>出栈指令 </a:t>
            </a:r>
          </a:p>
          <a:p>
            <a:pPr marL="0" indent="0">
              <a:buNone/>
            </a:pPr>
            <a:r>
              <a:rPr lang="zh-CN" altLang="en-US" sz="2400" dirty="0">
                <a:solidFill>
                  <a:srgbClr val="2F2F41"/>
                </a:solidFill>
                <a:latin typeface="楷体" panose="02010609060101010101" pitchFamily="49" charset="-122"/>
                <a:ea typeface="楷体" panose="02010609060101010101" pitchFamily="49" charset="-122"/>
              </a:rPr>
              <a:t>功能：将栈顶的一个字或双字传送给通用寄存器、段寄存器（</a:t>
            </a:r>
            <a:r>
              <a:rPr lang="en-US" altLang="zh-CN" sz="2400" dirty="0">
                <a:solidFill>
                  <a:srgbClr val="2F2F41"/>
                </a:solidFill>
                <a:latin typeface="楷体" panose="02010609060101010101" pitchFamily="49" charset="-122"/>
                <a:ea typeface="楷体" panose="02010609060101010101" pitchFamily="49" charset="-122"/>
              </a:rPr>
              <a:t>CS</a:t>
            </a:r>
            <a:r>
              <a:rPr lang="zh-CN" altLang="en-US" sz="2400" dirty="0">
                <a:solidFill>
                  <a:srgbClr val="2F2F41"/>
                </a:solidFill>
                <a:latin typeface="楷体" panose="02010609060101010101" pitchFamily="49" charset="-122"/>
                <a:ea typeface="楷体" panose="02010609060101010101" pitchFamily="49" charset="-122"/>
              </a:rPr>
              <a:t>除外）或存储器。</a:t>
            </a:r>
            <a:endParaRPr lang="en-US" altLang="zh-CN" sz="2400" dirty="0">
              <a:solidFill>
                <a:srgbClr val="2F2F41"/>
              </a:solidFill>
              <a:latin typeface="楷体" panose="02010609060101010101" pitchFamily="49" charset="-122"/>
              <a:ea typeface="楷体" panose="02010609060101010101" pitchFamily="49" charset="-122"/>
            </a:endParaRPr>
          </a:p>
          <a:p>
            <a:pPr marL="0" indent="0">
              <a:buNone/>
            </a:pPr>
            <a:r>
              <a:rPr lang="zh-CN" altLang="en-US" sz="2400" dirty="0">
                <a:solidFill>
                  <a:srgbClr val="2F2F41"/>
                </a:solidFill>
                <a:latin typeface="楷体" panose="02010609060101010101" pitchFamily="49" charset="-122"/>
                <a:ea typeface="楷体" panose="02010609060101010101" pitchFamily="49" charset="-122"/>
              </a:rPr>
              <a:t>格式：</a:t>
            </a:r>
            <a:r>
              <a:rPr lang="en-US" altLang="zh-CN" sz="2400" dirty="0">
                <a:solidFill>
                  <a:srgbClr val="2F2F41"/>
                </a:solidFill>
                <a:latin typeface="楷体" panose="02010609060101010101" pitchFamily="49" charset="-122"/>
                <a:ea typeface="楷体" panose="02010609060101010101" pitchFamily="49" charset="-122"/>
              </a:rPr>
              <a:t>POP </a:t>
            </a:r>
            <a:r>
              <a:rPr lang="en-US" altLang="zh-CN" sz="2400" dirty="0" err="1">
                <a:solidFill>
                  <a:srgbClr val="2F2F41"/>
                </a:solidFill>
                <a:latin typeface="楷体" panose="02010609060101010101" pitchFamily="49" charset="-122"/>
                <a:ea typeface="楷体" panose="02010609060101010101" pitchFamily="49" charset="-122"/>
              </a:rPr>
              <a:t>dest</a:t>
            </a:r>
            <a:endParaRPr lang="zh-CN" altLang="en-US" sz="2400" dirty="0">
              <a:solidFill>
                <a:srgbClr val="2F2F41"/>
              </a:solidFill>
              <a:latin typeface="楷体" panose="02010609060101010101" pitchFamily="49" charset="-122"/>
              <a:ea typeface="楷体" panose="02010609060101010101" pitchFamily="49" charset="-122"/>
            </a:endParaRPr>
          </a:p>
        </p:txBody>
      </p:sp>
      <p:grpSp>
        <p:nvGrpSpPr>
          <p:cNvPr id="4" name="Group 4"/>
          <p:cNvGrpSpPr>
            <a:grpSpLocks/>
          </p:cNvGrpSpPr>
          <p:nvPr/>
        </p:nvGrpSpPr>
        <p:grpSpPr bwMode="auto">
          <a:xfrm>
            <a:off x="6048375" y="3114675"/>
            <a:ext cx="2881313" cy="4090988"/>
            <a:chOff x="3424" y="1570"/>
            <a:chExt cx="1815" cy="2577"/>
          </a:xfrm>
        </p:grpSpPr>
        <p:grpSp>
          <p:nvGrpSpPr>
            <p:cNvPr id="5" name="Group 5"/>
            <p:cNvGrpSpPr>
              <a:grpSpLocks/>
            </p:cNvGrpSpPr>
            <p:nvPr/>
          </p:nvGrpSpPr>
          <p:grpSpPr bwMode="auto">
            <a:xfrm>
              <a:off x="3424" y="1570"/>
              <a:ext cx="1815" cy="2577"/>
              <a:chOff x="3424" y="1570"/>
              <a:chExt cx="1815" cy="2577"/>
            </a:xfrm>
          </p:grpSpPr>
          <p:grpSp>
            <p:nvGrpSpPr>
              <p:cNvPr id="8" name="Group 6"/>
              <p:cNvGrpSpPr>
                <a:grpSpLocks/>
              </p:cNvGrpSpPr>
              <p:nvPr/>
            </p:nvGrpSpPr>
            <p:grpSpPr bwMode="auto">
              <a:xfrm>
                <a:off x="3560" y="1570"/>
                <a:ext cx="644" cy="2052"/>
                <a:chOff x="1465" y="1579"/>
                <a:chExt cx="644" cy="2052"/>
              </a:xfrm>
            </p:grpSpPr>
            <p:grpSp>
              <p:nvGrpSpPr>
                <p:cNvPr id="12" name="Group 7"/>
                <p:cNvGrpSpPr>
                  <a:grpSpLocks/>
                </p:cNvGrpSpPr>
                <p:nvPr/>
              </p:nvGrpSpPr>
              <p:grpSpPr bwMode="auto">
                <a:xfrm>
                  <a:off x="1465" y="1579"/>
                  <a:ext cx="644" cy="2052"/>
                  <a:chOff x="1465" y="1579"/>
                  <a:chExt cx="644" cy="2052"/>
                </a:xfrm>
              </p:grpSpPr>
              <p:sp>
                <p:nvSpPr>
                  <p:cNvPr id="20" name="Line 8"/>
                  <p:cNvSpPr>
                    <a:spLocks noChangeShapeType="1"/>
                  </p:cNvSpPr>
                  <p:nvPr/>
                </p:nvSpPr>
                <p:spPr bwMode="auto">
                  <a:xfrm>
                    <a:off x="1465" y="157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a:off x="2109" y="158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 name="Line 10"/>
                <p:cNvSpPr>
                  <a:spLocks noChangeShapeType="1"/>
                </p:cNvSpPr>
                <p:nvPr/>
              </p:nvSpPr>
              <p:spPr bwMode="auto">
                <a:xfrm>
                  <a:off x="1465" y="1715"/>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p:cNvSpPr>
                  <a:spLocks noChangeShapeType="1"/>
                </p:cNvSpPr>
                <p:nvPr/>
              </p:nvSpPr>
              <p:spPr bwMode="auto">
                <a:xfrm>
                  <a:off x="1466" y="2033"/>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p:cNvSpPr>
                  <a:spLocks noChangeShapeType="1"/>
                </p:cNvSpPr>
                <p:nvPr/>
              </p:nvSpPr>
              <p:spPr bwMode="auto">
                <a:xfrm>
                  <a:off x="1466" y="235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p:cNvSpPr>
                  <a:spLocks noChangeShapeType="1"/>
                </p:cNvSpPr>
                <p:nvPr/>
              </p:nvSpPr>
              <p:spPr bwMode="auto">
                <a:xfrm>
                  <a:off x="1466" y="2641"/>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4"/>
                <p:cNvSpPr>
                  <a:spLocks noChangeShapeType="1"/>
                </p:cNvSpPr>
                <p:nvPr/>
              </p:nvSpPr>
              <p:spPr bwMode="auto">
                <a:xfrm>
                  <a:off x="1466" y="2922"/>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5"/>
                <p:cNvSpPr>
                  <a:spLocks noChangeShapeType="1"/>
                </p:cNvSpPr>
                <p:nvPr/>
              </p:nvSpPr>
              <p:spPr bwMode="auto">
                <a:xfrm>
                  <a:off x="1466" y="3212"/>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a:off x="1466" y="3493"/>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 name="Rectangle 17"/>
              <p:cNvSpPr>
                <a:spLocks noChangeArrowheads="1"/>
              </p:cNvSpPr>
              <p:nvPr/>
            </p:nvSpPr>
            <p:spPr bwMode="auto">
              <a:xfrm>
                <a:off x="3424" y="3603"/>
                <a:ext cx="862"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endParaRPr lang="zh-CN" altLang="en-US" sz="2200">
                  <a:solidFill>
                    <a:srgbClr val="3366CC"/>
                  </a:solidFill>
                  <a:latin typeface="Arial" panose="020B0604020202020204" pitchFamily="34" charset="0"/>
                </a:endParaRPr>
              </a:p>
            </p:txBody>
          </p:sp>
          <p:sp>
            <p:nvSpPr>
              <p:cNvPr id="10" name="Rectangle 18"/>
              <p:cNvSpPr>
                <a:spLocks noChangeArrowheads="1"/>
              </p:cNvSpPr>
              <p:nvPr/>
            </p:nvSpPr>
            <p:spPr bwMode="auto">
              <a:xfrm>
                <a:off x="4694" y="1570"/>
                <a:ext cx="36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BX</a:t>
                </a:r>
              </a:p>
            </p:txBody>
          </p:sp>
          <p:sp>
            <p:nvSpPr>
              <p:cNvPr id="11" name="Rectangle 19"/>
              <p:cNvSpPr>
                <a:spLocks noChangeArrowheads="1"/>
              </p:cNvSpPr>
              <p:nvPr/>
            </p:nvSpPr>
            <p:spPr bwMode="auto">
              <a:xfrm>
                <a:off x="4513" y="1752"/>
                <a:ext cx="72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BH   BL</a:t>
                </a:r>
              </a:p>
            </p:txBody>
          </p:sp>
        </p:grpSp>
        <p:sp>
          <p:nvSpPr>
            <p:cNvPr id="6" name="Rectangle 20"/>
            <p:cNvSpPr>
              <a:spLocks noChangeArrowheads="1"/>
            </p:cNvSpPr>
            <p:nvPr/>
          </p:nvSpPr>
          <p:spPr bwMode="auto">
            <a:xfrm>
              <a:off x="4513" y="2024"/>
              <a:ext cx="726" cy="22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endParaRPr lang="en-US" altLang="zh-CN" sz="2200">
                <a:solidFill>
                  <a:srgbClr val="3366CC"/>
                </a:solidFill>
                <a:latin typeface="Arial" panose="020B0604020202020204" pitchFamily="34" charset="0"/>
              </a:endParaRPr>
            </a:p>
          </p:txBody>
        </p:sp>
        <p:sp>
          <p:nvSpPr>
            <p:cNvPr id="7" name="Line 21"/>
            <p:cNvSpPr>
              <a:spLocks noChangeShapeType="1"/>
            </p:cNvSpPr>
            <p:nvPr/>
          </p:nvSpPr>
          <p:spPr bwMode="auto">
            <a:xfrm>
              <a:off x="4876" y="2024"/>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 name="Rectangle 22"/>
          <p:cNvSpPr>
            <a:spLocks noChangeArrowheads="1"/>
          </p:cNvSpPr>
          <p:nvPr/>
        </p:nvSpPr>
        <p:spPr bwMode="auto">
          <a:xfrm>
            <a:off x="4699000" y="6167438"/>
            <a:ext cx="13684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SP→0040H</a:t>
            </a:r>
          </a:p>
        </p:txBody>
      </p:sp>
      <p:sp>
        <p:nvSpPr>
          <p:cNvPr id="23" name="Rectangle 24"/>
          <p:cNvSpPr>
            <a:spLocks noChangeArrowheads="1"/>
          </p:cNvSpPr>
          <p:nvPr/>
        </p:nvSpPr>
        <p:spPr bwMode="auto">
          <a:xfrm>
            <a:off x="6426200" y="5894388"/>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12</a:t>
            </a:r>
          </a:p>
        </p:txBody>
      </p:sp>
      <p:grpSp>
        <p:nvGrpSpPr>
          <p:cNvPr id="24" name="Group 25"/>
          <p:cNvGrpSpPr>
            <a:grpSpLocks/>
          </p:cNvGrpSpPr>
          <p:nvPr/>
        </p:nvGrpSpPr>
        <p:grpSpPr bwMode="auto">
          <a:xfrm>
            <a:off x="7275513" y="4295775"/>
            <a:ext cx="1368425" cy="1295400"/>
            <a:chOff x="4195" y="2251"/>
            <a:chExt cx="862" cy="816"/>
          </a:xfrm>
        </p:grpSpPr>
        <p:sp>
          <p:nvSpPr>
            <p:cNvPr id="25" name="Line 26"/>
            <p:cNvSpPr>
              <a:spLocks noChangeShapeType="1"/>
            </p:cNvSpPr>
            <p:nvPr/>
          </p:nvSpPr>
          <p:spPr bwMode="auto">
            <a:xfrm>
              <a:off x="4195" y="3067"/>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7"/>
            <p:cNvSpPr>
              <a:spLocks noChangeShapeType="1"/>
            </p:cNvSpPr>
            <p:nvPr/>
          </p:nvSpPr>
          <p:spPr bwMode="auto">
            <a:xfrm flipV="1">
              <a:off x="5057" y="2251"/>
              <a:ext cx="0"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7" name="Group 28"/>
          <p:cNvGrpSpPr>
            <a:grpSpLocks/>
          </p:cNvGrpSpPr>
          <p:nvPr/>
        </p:nvGrpSpPr>
        <p:grpSpPr bwMode="auto">
          <a:xfrm>
            <a:off x="7275513" y="4295775"/>
            <a:ext cx="792162" cy="1727200"/>
            <a:chOff x="4195" y="2251"/>
            <a:chExt cx="499" cy="1088"/>
          </a:xfrm>
        </p:grpSpPr>
        <p:sp>
          <p:nvSpPr>
            <p:cNvPr id="28" name="Line 29"/>
            <p:cNvSpPr>
              <a:spLocks noChangeShapeType="1"/>
            </p:cNvSpPr>
            <p:nvPr/>
          </p:nvSpPr>
          <p:spPr bwMode="auto">
            <a:xfrm>
              <a:off x="4195" y="3339"/>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30"/>
            <p:cNvSpPr>
              <a:spLocks noChangeShapeType="1"/>
            </p:cNvSpPr>
            <p:nvPr/>
          </p:nvSpPr>
          <p:spPr bwMode="auto">
            <a:xfrm flipV="1">
              <a:off x="4694" y="2251"/>
              <a:ext cx="0" cy="10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 name="Rectangle 32"/>
          <p:cNvSpPr>
            <a:spLocks noChangeArrowheads="1"/>
          </p:cNvSpPr>
          <p:nvPr/>
        </p:nvSpPr>
        <p:spPr bwMode="auto">
          <a:xfrm>
            <a:off x="6426200" y="5446713"/>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34</a:t>
            </a:r>
          </a:p>
        </p:txBody>
      </p:sp>
      <p:sp>
        <p:nvSpPr>
          <p:cNvPr id="31" name="AutoShape 33"/>
          <p:cNvSpPr>
            <a:spLocks noChangeArrowheads="1"/>
          </p:cNvSpPr>
          <p:nvPr/>
        </p:nvSpPr>
        <p:spPr bwMode="auto">
          <a:xfrm>
            <a:off x="4706938" y="4491038"/>
            <a:ext cx="865187" cy="647700"/>
          </a:xfrm>
          <a:prstGeom prst="rightArrow">
            <a:avLst>
              <a:gd name="adj1" fmla="val 50000"/>
              <a:gd name="adj2" fmla="val 33388"/>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1800">
                <a:solidFill>
                  <a:schemeClr val="bg1"/>
                </a:solidFill>
                <a:latin typeface="Arial" panose="020B0604020202020204" pitchFamily="34" charset="0"/>
              </a:rPr>
              <a:t>执行</a:t>
            </a:r>
          </a:p>
        </p:txBody>
      </p:sp>
      <p:sp>
        <p:nvSpPr>
          <p:cNvPr id="32" name="Rectangle 34"/>
          <p:cNvSpPr>
            <a:spLocks noChangeArrowheads="1"/>
          </p:cNvSpPr>
          <p:nvPr/>
        </p:nvSpPr>
        <p:spPr bwMode="auto">
          <a:xfrm>
            <a:off x="7732713" y="3916794"/>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12</a:t>
            </a:r>
          </a:p>
        </p:txBody>
      </p:sp>
      <p:sp>
        <p:nvSpPr>
          <p:cNvPr id="33" name="Rectangle 35"/>
          <p:cNvSpPr>
            <a:spLocks noChangeArrowheads="1"/>
          </p:cNvSpPr>
          <p:nvPr/>
        </p:nvSpPr>
        <p:spPr bwMode="auto">
          <a:xfrm>
            <a:off x="8352631" y="3904059"/>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34</a:t>
            </a:r>
          </a:p>
        </p:txBody>
      </p:sp>
      <p:sp>
        <p:nvSpPr>
          <p:cNvPr id="34" name="Text Box 36"/>
          <p:cNvSpPr txBox="1">
            <a:spLocks noChangeArrowheads="1"/>
          </p:cNvSpPr>
          <p:nvPr/>
        </p:nvSpPr>
        <p:spPr bwMode="auto">
          <a:xfrm>
            <a:off x="5445125" y="1990725"/>
            <a:ext cx="2555875"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2600">
                <a:solidFill>
                  <a:srgbClr val="3366CC"/>
                </a:solidFill>
                <a:latin typeface="楷体_GB2312" pitchFamily="49" charset="-122"/>
                <a:ea typeface="楷体_GB2312" pitchFamily="49" charset="-122"/>
              </a:rPr>
              <a:t>例：</a:t>
            </a:r>
            <a:r>
              <a:rPr lang="en-US" altLang="zh-CN" sz="2600">
                <a:solidFill>
                  <a:srgbClr val="3366CC"/>
                </a:solidFill>
                <a:latin typeface="楷体_GB2312" pitchFamily="49" charset="-122"/>
                <a:ea typeface="楷体_GB2312" pitchFamily="49" charset="-122"/>
              </a:rPr>
              <a:t>POP  BX</a:t>
            </a:r>
          </a:p>
          <a:p>
            <a:pPr eaLnBrk="1" hangingPunct="1">
              <a:spcBef>
                <a:spcPct val="50000"/>
              </a:spcBef>
              <a:buFont typeface="Arial" panose="020B0604020202020204" pitchFamily="34" charset="0"/>
              <a:buNone/>
            </a:pPr>
            <a:r>
              <a:rPr lang="zh-CN" altLang="en-US" sz="2400">
                <a:solidFill>
                  <a:srgbClr val="0066CC"/>
                </a:solidFill>
                <a:latin typeface="Arial" panose="020B0604020202020204" pitchFamily="34" charset="0"/>
                <a:ea typeface="楷体_GB2312" pitchFamily="49" charset="-122"/>
              </a:rPr>
              <a:t>执行过程如下图：</a:t>
            </a:r>
          </a:p>
        </p:txBody>
      </p:sp>
      <p:grpSp>
        <p:nvGrpSpPr>
          <p:cNvPr id="36" name="Group 4"/>
          <p:cNvGrpSpPr>
            <a:grpSpLocks/>
          </p:cNvGrpSpPr>
          <p:nvPr/>
        </p:nvGrpSpPr>
        <p:grpSpPr bwMode="auto">
          <a:xfrm>
            <a:off x="1619250" y="3267075"/>
            <a:ext cx="2881313" cy="4090988"/>
            <a:chOff x="3424" y="1570"/>
            <a:chExt cx="1815" cy="2577"/>
          </a:xfrm>
        </p:grpSpPr>
        <p:grpSp>
          <p:nvGrpSpPr>
            <p:cNvPr id="37" name="Group 5"/>
            <p:cNvGrpSpPr>
              <a:grpSpLocks/>
            </p:cNvGrpSpPr>
            <p:nvPr/>
          </p:nvGrpSpPr>
          <p:grpSpPr bwMode="auto">
            <a:xfrm>
              <a:off x="3424" y="1570"/>
              <a:ext cx="1815" cy="2577"/>
              <a:chOff x="3424" y="1570"/>
              <a:chExt cx="1815" cy="2577"/>
            </a:xfrm>
          </p:grpSpPr>
          <p:grpSp>
            <p:nvGrpSpPr>
              <p:cNvPr id="40" name="Group 6"/>
              <p:cNvGrpSpPr>
                <a:grpSpLocks/>
              </p:cNvGrpSpPr>
              <p:nvPr/>
            </p:nvGrpSpPr>
            <p:grpSpPr bwMode="auto">
              <a:xfrm>
                <a:off x="3560" y="1570"/>
                <a:ext cx="644" cy="2052"/>
                <a:chOff x="1465" y="1579"/>
                <a:chExt cx="644" cy="2052"/>
              </a:xfrm>
            </p:grpSpPr>
            <p:grpSp>
              <p:nvGrpSpPr>
                <p:cNvPr id="44" name="Group 7"/>
                <p:cNvGrpSpPr>
                  <a:grpSpLocks/>
                </p:cNvGrpSpPr>
                <p:nvPr/>
              </p:nvGrpSpPr>
              <p:grpSpPr bwMode="auto">
                <a:xfrm>
                  <a:off x="1465" y="1579"/>
                  <a:ext cx="644" cy="2052"/>
                  <a:chOff x="1465" y="1579"/>
                  <a:chExt cx="644" cy="2052"/>
                </a:xfrm>
              </p:grpSpPr>
              <p:sp>
                <p:nvSpPr>
                  <p:cNvPr id="52" name="Line 8"/>
                  <p:cNvSpPr>
                    <a:spLocks noChangeShapeType="1"/>
                  </p:cNvSpPr>
                  <p:nvPr/>
                </p:nvSpPr>
                <p:spPr bwMode="auto">
                  <a:xfrm>
                    <a:off x="1465" y="157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9"/>
                  <p:cNvSpPr>
                    <a:spLocks noChangeShapeType="1"/>
                  </p:cNvSpPr>
                  <p:nvPr/>
                </p:nvSpPr>
                <p:spPr bwMode="auto">
                  <a:xfrm>
                    <a:off x="2109" y="1589"/>
                    <a:ext cx="0" cy="2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 name="Line 10"/>
                <p:cNvSpPr>
                  <a:spLocks noChangeShapeType="1"/>
                </p:cNvSpPr>
                <p:nvPr/>
              </p:nvSpPr>
              <p:spPr bwMode="auto">
                <a:xfrm>
                  <a:off x="1465" y="1715"/>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1"/>
                <p:cNvSpPr>
                  <a:spLocks noChangeShapeType="1"/>
                </p:cNvSpPr>
                <p:nvPr/>
              </p:nvSpPr>
              <p:spPr bwMode="auto">
                <a:xfrm>
                  <a:off x="1466" y="2033"/>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2"/>
                <p:cNvSpPr>
                  <a:spLocks noChangeShapeType="1"/>
                </p:cNvSpPr>
                <p:nvPr/>
              </p:nvSpPr>
              <p:spPr bwMode="auto">
                <a:xfrm>
                  <a:off x="1466" y="2350"/>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13"/>
                <p:cNvSpPr>
                  <a:spLocks noChangeShapeType="1"/>
                </p:cNvSpPr>
                <p:nvPr/>
              </p:nvSpPr>
              <p:spPr bwMode="auto">
                <a:xfrm>
                  <a:off x="1466" y="2641"/>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14"/>
                <p:cNvSpPr>
                  <a:spLocks noChangeShapeType="1"/>
                </p:cNvSpPr>
                <p:nvPr/>
              </p:nvSpPr>
              <p:spPr bwMode="auto">
                <a:xfrm>
                  <a:off x="1466" y="2922"/>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15"/>
                <p:cNvSpPr>
                  <a:spLocks noChangeShapeType="1"/>
                </p:cNvSpPr>
                <p:nvPr/>
              </p:nvSpPr>
              <p:spPr bwMode="auto">
                <a:xfrm>
                  <a:off x="1466" y="3212"/>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6"/>
                <p:cNvSpPr>
                  <a:spLocks noChangeShapeType="1"/>
                </p:cNvSpPr>
                <p:nvPr/>
              </p:nvSpPr>
              <p:spPr bwMode="auto">
                <a:xfrm>
                  <a:off x="1466" y="3493"/>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 name="Rectangle 17"/>
              <p:cNvSpPr>
                <a:spLocks noChangeArrowheads="1"/>
              </p:cNvSpPr>
              <p:nvPr/>
            </p:nvSpPr>
            <p:spPr bwMode="auto">
              <a:xfrm>
                <a:off x="3424" y="3603"/>
                <a:ext cx="862"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endParaRPr lang="zh-CN" altLang="en-US" sz="2200">
                  <a:solidFill>
                    <a:srgbClr val="3366CC"/>
                  </a:solidFill>
                  <a:latin typeface="Arial" panose="020B0604020202020204" pitchFamily="34" charset="0"/>
                </a:endParaRPr>
              </a:p>
            </p:txBody>
          </p:sp>
          <p:sp>
            <p:nvSpPr>
              <p:cNvPr id="42" name="Rectangle 18"/>
              <p:cNvSpPr>
                <a:spLocks noChangeArrowheads="1"/>
              </p:cNvSpPr>
              <p:nvPr/>
            </p:nvSpPr>
            <p:spPr bwMode="auto">
              <a:xfrm>
                <a:off x="4694" y="1570"/>
                <a:ext cx="36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BX</a:t>
                </a:r>
              </a:p>
            </p:txBody>
          </p:sp>
          <p:sp>
            <p:nvSpPr>
              <p:cNvPr id="43" name="Rectangle 19"/>
              <p:cNvSpPr>
                <a:spLocks noChangeArrowheads="1"/>
              </p:cNvSpPr>
              <p:nvPr/>
            </p:nvSpPr>
            <p:spPr bwMode="auto">
              <a:xfrm>
                <a:off x="4513" y="1752"/>
                <a:ext cx="72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BH   BL</a:t>
                </a:r>
              </a:p>
            </p:txBody>
          </p:sp>
        </p:grpSp>
        <p:sp>
          <p:nvSpPr>
            <p:cNvPr id="38" name="Rectangle 20"/>
            <p:cNvSpPr>
              <a:spLocks noChangeArrowheads="1"/>
            </p:cNvSpPr>
            <p:nvPr/>
          </p:nvSpPr>
          <p:spPr bwMode="auto">
            <a:xfrm>
              <a:off x="4513" y="2024"/>
              <a:ext cx="726" cy="22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endParaRPr lang="en-US" altLang="zh-CN" sz="2200">
                <a:solidFill>
                  <a:srgbClr val="3366CC"/>
                </a:solidFill>
                <a:latin typeface="Arial" panose="020B0604020202020204" pitchFamily="34" charset="0"/>
              </a:endParaRPr>
            </a:p>
          </p:txBody>
        </p:sp>
        <p:sp>
          <p:nvSpPr>
            <p:cNvPr id="39" name="Line 21"/>
            <p:cNvSpPr>
              <a:spLocks noChangeShapeType="1"/>
            </p:cNvSpPr>
            <p:nvPr/>
          </p:nvSpPr>
          <p:spPr bwMode="auto">
            <a:xfrm>
              <a:off x="4876" y="2024"/>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 name="Rectangle 24"/>
          <p:cNvSpPr>
            <a:spLocks noChangeArrowheads="1"/>
          </p:cNvSpPr>
          <p:nvPr/>
        </p:nvSpPr>
        <p:spPr bwMode="auto">
          <a:xfrm>
            <a:off x="1997075" y="6046788"/>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12</a:t>
            </a:r>
          </a:p>
        </p:txBody>
      </p:sp>
      <p:grpSp>
        <p:nvGrpSpPr>
          <p:cNvPr id="55" name="Group 25"/>
          <p:cNvGrpSpPr>
            <a:grpSpLocks/>
          </p:cNvGrpSpPr>
          <p:nvPr/>
        </p:nvGrpSpPr>
        <p:grpSpPr bwMode="auto">
          <a:xfrm>
            <a:off x="2846388" y="4448175"/>
            <a:ext cx="1368425" cy="1295400"/>
            <a:chOff x="4195" y="2251"/>
            <a:chExt cx="862" cy="816"/>
          </a:xfrm>
        </p:grpSpPr>
        <p:sp>
          <p:nvSpPr>
            <p:cNvPr id="56" name="Line 26"/>
            <p:cNvSpPr>
              <a:spLocks noChangeShapeType="1"/>
            </p:cNvSpPr>
            <p:nvPr/>
          </p:nvSpPr>
          <p:spPr bwMode="auto">
            <a:xfrm>
              <a:off x="4195" y="3067"/>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27"/>
            <p:cNvSpPr>
              <a:spLocks noChangeShapeType="1"/>
            </p:cNvSpPr>
            <p:nvPr/>
          </p:nvSpPr>
          <p:spPr bwMode="auto">
            <a:xfrm flipV="1">
              <a:off x="5057" y="2251"/>
              <a:ext cx="0"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 name="Group 28"/>
          <p:cNvGrpSpPr>
            <a:grpSpLocks/>
          </p:cNvGrpSpPr>
          <p:nvPr/>
        </p:nvGrpSpPr>
        <p:grpSpPr bwMode="auto">
          <a:xfrm>
            <a:off x="2846388" y="4448175"/>
            <a:ext cx="792162" cy="1727200"/>
            <a:chOff x="4195" y="2251"/>
            <a:chExt cx="499" cy="1088"/>
          </a:xfrm>
        </p:grpSpPr>
        <p:sp>
          <p:nvSpPr>
            <p:cNvPr id="59" name="Line 29"/>
            <p:cNvSpPr>
              <a:spLocks noChangeShapeType="1"/>
            </p:cNvSpPr>
            <p:nvPr/>
          </p:nvSpPr>
          <p:spPr bwMode="auto">
            <a:xfrm>
              <a:off x="4195" y="3339"/>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30"/>
            <p:cNvSpPr>
              <a:spLocks noChangeShapeType="1"/>
            </p:cNvSpPr>
            <p:nvPr/>
          </p:nvSpPr>
          <p:spPr bwMode="auto">
            <a:xfrm flipV="1">
              <a:off x="4694" y="2251"/>
              <a:ext cx="0" cy="10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 name="Rectangle 31"/>
          <p:cNvSpPr>
            <a:spLocks noChangeArrowheads="1"/>
          </p:cNvSpPr>
          <p:nvPr/>
        </p:nvSpPr>
        <p:spPr bwMode="auto">
          <a:xfrm>
            <a:off x="269875" y="5527675"/>
            <a:ext cx="13684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a:solidFill>
                  <a:srgbClr val="3366CC"/>
                </a:solidFill>
                <a:latin typeface="Arial" panose="020B0604020202020204" pitchFamily="34" charset="0"/>
              </a:rPr>
              <a:t>SP→003EH</a:t>
            </a:r>
          </a:p>
        </p:txBody>
      </p:sp>
      <p:sp>
        <p:nvSpPr>
          <p:cNvPr id="62" name="Rectangle 32"/>
          <p:cNvSpPr>
            <a:spLocks noChangeArrowheads="1"/>
          </p:cNvSpPr>
          <p:nvPr/>
        </p:nvSpPr>
        <p:spPr bwMode="auto">
          <a:xfrm>
            <a:off x="1997075" y="5599113"/>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34</a:t>
            </a:r>
          </a:p>
        </p:txBody>
      </p:sp>
      <p:sp>
        <p:nvSpPr>
          <p:cNvPr id="63" name="Rectangle 34"/>
          <p:cNvSpPr>
            <a:spLocks noChangeArrowheads="1"/>
          </p:cNvSpPr>
          <p:nvPr/>
        </p:nvSpPr>
        <p:spPr bwMode="auto">
          <a:xfrm>
            <a:off x="3321051" y="4050390"/>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12</a:t>
            </a:r>
          </a:p>
        </p:txBody>
      </p:sp>
      <p:sp>
        <p:nvSpPr>
          <p:cNvPr id="64" name="Rectangle 35"/>
          <p:cNvSpPr>
            <a:spLocks noChangeArrowheads="1"/>
          </p:cNvSpPr>
          <p:nvPr/>
        </p:nvSpPr>
        <p:spPr bwMode="auto">
          <a:xfrm>
            <a:off x="3923506" y="4038339"/>
            <a:ext cx="576263"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200" dirty="0">
                <a:solidFill>
                  <a:srgbClr val="3366CC"/>
                </a:solidFill>
                <a:latin typeface="Arial" panose="020B0604020202020204" pitchFamily="34" charset="0"/>
              </a:rPr>
              <a:t>34</a:t>
            </a:r>
          </a:p>
        </p:txBody>
      </p:sp>
    </p:spTree>
    <p:extLst>
      <p:ext uri="{BB962C8B-B14F-4D97-AF65-F5344CB8AC3E}">
        <p14:creationId xmlns:p14="http://schemas.microsoft.com/office/powerpoint/2010/main" val="1786081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4" fill="hold" nodeType="afterEffect">
                                  <p:stCondLst>
                                    <p:cond delay="100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500"/>
                                        <p:tgtEl>
                                          <p:spTgt spid="24"/>
                                        </p:tgtEl>
                                      </p:cBhvr>
                                    </p:animEffect>
                                  </p:childTnLst>
                                </p:cTn>
                              </p:par>
                            </p:childTnLst>
                          </p:cTn>
                        </p:par>
                        <p:par>
                          <p:cTn id="12" fill="hold">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dissolve">
                                      <p:cBhvr>
                                        <p:cTn id="15" dur="500"/>
                                        <p:tgtEl>
                                          <p:spTgt spid="33"/>
                                        </p:tgtEl>
                                      </p:cBhvr>
                                    </p:animEffect>
                                  </p:childTnLst>
                                </p:cTn>
                              </p:par>
                            </p:childTnLst>
                          </p:cTn>
                        </p:par>
                        <p:par>
                          <p:cTn id="16" fill="hold">
                            <p:stCondLst>
                              <p:cond delay="2500"/>
                            </p:stCondLst>
                            <p:childTnLst>
                              <p:par>
                                <p:cTn id="17" presetID="22" presetClass="entr" presetSubtype="4" fill="hold" nodeType="afterEffect">
                                  <p:stCondLst>
                                    <p:cond delay="1000"/>
                                  </p:stCondLst>
                                  <p:childTnLst>
                                    <p:set>
                                      <p:cBhvr>
                                        <p:cTn id="18" dur="1" fill="hold">
                                          <p:stCondLst>
                                            <p:cond delay="0"/>
                                          </p:stCondLst>
                                        </p:cTn>
                                        <p:tgtEl>
                                          <p:spTgt spid="27"/>
                                        </p:tgtEl>
                                        <p:attrNameLst>
                                          <p:attrName>style.visibility</p:attrName>
                                        </p:attrNameLst>
                                      </p:cBhvr>
                                      <p:to>
                                        <p:strVal val="visible"/>
                                      </p:to>
                                    </p:set>
                                    <p:animEffect transition="in" filter="wipe(down)">
                                      <p:cBhvr>
                                        <p:cTn id="19" dur="500"/>
                                        <p:tgtEl>
                                          <p:spTgt spid="27"/>
                                        </p:tgtEl>
                                      </p:cBhvr>
                                    </p:animEffect>
                                  </p:childTnLst>
                                </p:cTn>
                              </p:par>
                            </p:childTnLst>
                          </p:cTn>
                        </p:par>
                        <p:par>
                          <p:cTn id="20" fill="hold">
                            <p:stCondLst>
                              <p:cond delay="4000"/>
                            </p:stCondLst>
                            <p:childTnLst>
                              <p:par>
                                <p:cTn id="21" presetID="9" presetClass="entr" presetSubtype="0"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dissolve">
                                      <p:cBhvr>
                                        <p:cTn id="23" dur="500"/>
                                        <p:tgtEl>
                                          <p:spTgt spid="32"/>
                                        </p:tgtEl>
                                      </p:cBhvr>
                                    </p:animEffect>
                                  </p:childTnLst>
                                </p:cTn>
                              </p:par>
                            </p:childTnLst>
                          </p:cTn>
                        </p:par>
                        <p:par>
                          <p:cTn id="24" fill="hold">
                            <p:stCondLst>
                              <p:cond delay="4500"/>
                            </p:stCondLst>
                            <p:childTnLst>
                              <p:par>
                                <p:cTn id="25" presetID="9" presetClass="entr" presetSubtype="0" fill="hold" grpId="0" nodeType="afterEffect">
                                  <p:stCondLst>
                                    <p:cond delay="100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par>
                          <p:cTn id="28" fill="hold">
                            <p:stCondLst>
                              <p:cond delay="6000"/>
                            </p:stCondLst>
                            <p:childTnLst>
                              <p:par>
                                <p:cTn id="29" presetID="22" presetClass="entr" presetSubtype="4" fill="hold" nodeType="afterEffect">
                                  <p:stCondLst>
                                    <p:cond delay="1000"/>
                                  </p:stCondLst>
                                  <p:childTnLst>
                                    <p:set>
                                      <p:cBhvr>
                                        <p:cTn id="30" dur="1" fill="hold">
                                          <p:stCondLst>
                                            <p:cond delay="0"/>
                                          </p:stCondLst>
                                        </p:cTn>
                                        <p:tgtEl>
                                          <p:spTgt spid="55"/>
                                        </p:tgtEl>
                                        <p:attrNameLst>
                                          <p:attrName>style.visibility</p:attrName>
                                        </p:attrNameLst>
                                      </p:cBhvr>
                                      <p:to>
                                        <p:strVal val="visible"/>
                                      </p:to>
                                    </p:set>
                                    <p:animEffect transition="in" filter="wipe(down)">
                                      <p:cBhvr>
                                        <p:cTn id="31" dur="500"/>
                                        <p:tgtEl>
                                          <p:spTgt spid="55"/>
                                        </p:tgtEl>
                                      </p:cBhvr>
                                    </p:animEffect>
                                  </p:childTnLst>
                                </p:cTn>
                              </p:par>
                            </p:childTnLst>
                          </p:cTn>
                        </p:par>
                        <p:par>
                          <p:cTn id="32" fill="hold">
                            <p:stCondLst>
                              <p:cond delay="7500"/>
                            </p:stCondLst>
                            <p:childTnLst>
                              <p:par>
                                <p:cTn id="33" presetID="9" presetClass="entr" presetSubtype="0" fill="hold" grpId="0"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dissolve">
                                      <p:cBhvr>
                                        <p:cTn id="35" dur="500"/>
                                        <p:tgtEl>
                                          <p:spTgt spid="64"/>
                                        </p:tgtEl>
                                      </p:cBhvr>
                                    </p:animEffect>
                                  </p:childTnLst>
                                </p:cTn>
                              </p:par>
                            </p:childTnLst>
                          </p:cTn>
                        </p:par>
                        <p:par>
                          <p:cTn id="36" fill="hold">
                            <p:stCondLst>
                              <p:cond delay="8000"/>
                            </p:stCondLst>
                            <p:childTnLst>
                              <p:par>
                                <p:cTn id="37" presetID="1" presetClass="exit" presetSubtype="0" fill="hold" grpId="0" nodeType="afterEffect">
                                  <p:stCondLst>
                                    <p:cond delay="500"/>
                                  </p:stCondLst>
                                  <p:childTnLst>
                                    <p:set>
                                      <p:cBhvr>
                                        <p:cTn id="38" dur="1" fill="hold">
                                          <p:stCondLst>
                                            <p:cond delay="0"/>
                                          </p:stCondLst>
                                        </p:cTn>
                                        <p:tgtEl>
                                          <p:spTgt spid="61"/>
                                        </p:tgtEl>
                                        <p:attrNameLst>
                                          <p:attrName>style.visibility</p:attrName>
                                        </p:attrNameLst>
                                      </p:cBhvr>
                                      <p:to>
                                        <p:strVal val="hidden"/>
                                      </p:to>
                                    </p:set>
                                  </p:childTnLst>
                                </p:cTn>
                              </p:par>
                            </p:childTnLst>
                          </p:cTn>
                        </p:par>
                        <p:par>
                          <p:cTn id="39" fill="hold">
                            <p:stCondLst>
                              <p:cond delay="8500"/>
                            </p:stCondLst>
                            <p:childTnLst>
                              <p:par>
                                <p:cTn id="40" presetID="22" presetClass="entr" presetSubtype="4" fill="hold" nodeType="afterEffect">
                                  <p:stCondLst>
                                    <p:cond delay="1000"/>
                                  </p:stCondLst>
                                  <p:childTnLst>
                                    <p:set>
                                      <p:cBhvr>
                                        <p:cTn id="41" dur="1" fill="hold">
                                          <p:stCondLst>
                                            <p:cond delay="0"/>
                                          </p:stCondLst>
                                        </p:cTn>
                                        <p:tgtEl>
                                          <p:spTgt spid="58"/>
                                        </p:tgtEl>
                                        <p:attrNameLst>
                                          <p:attrName>style.visibility</p:attrName>
                                        </p:attrNameLst>
                                      </p:cBhvr>
                                      <p:to>
                                        <p:strVal val="visible"/>
                                      </p:to>
                                    </p:set>
                                    <p:animEffect transition="in" filter="wipe(down)">
                                      <p:cBhvr>
                                        <p:cTn id="42" dur="500"/>
                                        <p:tgtEl>
                                          <p:spTgt spid="58"/>
                                        </p:tgtEl>
                                      </p:cBhvr>
                                    </p:animEffect>
                                  </p:childTnLst>
                                </p:cTn>
                              </p:par>
                            </p:childTnLst>
                          </p:cTn>
                        </p:par>
                        <p:par>
                          <p:cTn id="43" fill="hold">
                            <p:stCondLst>
                              <p:cond delay="10000"/>
                            </p:stCondLst>
                            <p:childTnLst>
                              <p:par>
                                <p:cTn id="44" presetID="9" presetClass="entr" presetSubtype="0" fill="hold" grpId="0" nodeType="after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dissolve">
                                      <p:cBhvr>
                                        <p:cTn id="4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1" grpId="0" animBg="1"/>
      <p:bldP spid="32" grpId="0"/>
      <p:bldP spid="33" grpId="0"/>
      <p:bldP spid="61" grpId="0"/>
      <p:bldP spid="63" grpId="0"/>
      <p:bldP spid="6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466725" y="1768475"/>
            <a:ext cx="8177213"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2800" b="0" dirty="0">
                <a:solidFill>
                  <a:srgbClr val="FF0000"/>
                </a:solidFill>
                <a:latin typeface="楷体" panose="02010609060101010101" pitchFamily="49" charset="-122"/>
                <a:ea typeface="楷体" panose="02010609060101010101" pitchFamily="49" charset="-122"/>
              </a:rPr>
              <a:t>例：</a:t>
            </a:r>
            <a:r>
              <a:rPr lang="zh-CN" altLang="en-US" sz="2800" b="0" dirty="0">
                <a:latin typeface="楷体" panose="02010609060101010101" pitchFamily="49" charset="-122"/>
                <a:ea typeface="楷体" panose="02010609060101010101" pitchFamily="49" charset="-122"/>
              </a:rPr>
              <a:t>使用栈操作指令实现将数据段中两个字变量    </a:t>
            </a:r>
            <a:endParaRPr lang="en-US" altLang="zh-CN" sz="2800" b="0" dirty="0">
              <a:latin typeface="楷体" panose="02010609060101010101" pitchFamily="49" charset="-122"/>
              <a:ea typeface="楷体" panose="02010609060101010101" pitchFamily="49" charset="-122"/>
            </a:endParaRPr>
          </a:p>
          <a:p>
            <a:pPr eaLnBrk="1" hangingPunct="1">
              <a:spcBef>
                <a:spcPct val="50000"/>
              </a:spcBef>
              <a:buFont typeface="Arial" panose="020B0604020202020204" pitchFamily="34" charset="0"/>
              <a:buNone/>
            </a:pPr>
            <a:r>
              <a:rPr lang="en-US" altLang="zh-CN" sz="2800" b="0" dirty="0">
                <a:latin typeface="楷体" panose="02010609060101010101" pitchFamily="49" charset="-122"/>
                <a:ea typeface="楷体" panose="02010609060101010101" pitchFamily="49" charset="-122"/>
              </a:rPr>
              <a:t>W1</a:t>
            </a:r>
            <a:r>
              <a:rPr lang="zh-CN" altLang="en-US" sz="2800" b="0" dirty="0">
                <a:latin typeface="楷体" panose="02010609060101010101" pitchFamily="49" charset="-122"/>
                <a:ea typeface="楷体" panose="02010609060101010101" pitchFamily="49" charset="-122"/>
              </a:rPr>
              <a:t>和</a:t>
            </a:r>
            <a:r>
              <a:rPr lang="en-US" altLang="zh-CN" sz="2800" b="0" dirty="0">
                <a:latin typeface="楷体" panose="02010609060101010101" pitchFamily="49" charset="-122"/>
                <a:ea typeface="楷体" panose="02010609060101010101" pitchFamily="49" charset="-122"/>
              </a:rPr>
              <a:t>W2</a:t>
            </a:r>
            <a:r>
              <a:rPr lang="zh-CN" altLang="en-US" sz="2800" b="0" dirty="0">
                <a:latin typeface="楷体" panose="02010609060101010101" pitchFamily="49" charset="-122"/>
                <a:ea typeface="楷体" panose="02010609060101010101" pitchFamily="49" charset="-122"/>
              </a:rPr>
              <a:t>互换的程序段如下：</a:t>
            </a:r>
          </a:p>
        </p:txBody>
      </p:sp>
      <p:sp>
        <p:nvSpPr>
          <p:cNvPr id="3" name="矩形 2"/>
          <p:cNvSpPr>
            <a:spLocks noChangeArrowheads="1"/>
          </p:cNvSpPr>
          <p:nvPr/>
        </p:nvSpPr>
        <p:spPr bwMode="auto">
          <a:xfrm>
            <a:off x="1187450" y="3141663"/>
            <a:ext cx="45720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0" dirty="0">
                <a:solidFill>
                  <a:schemeClr val="tx2"/>
                </a:solidFill>
                <a:latin typeface="楷体" panose="02010609060101010101" pitchFamily="49" charset="-122"/>
                <a:ea typeface="楷体" panose="02010609060101010101" pitchFamily="49" charset="-122"/>
              </a:rPr>
              <a:t>PUSH    W1</a:t>
            </a:r>
          </a:p>
          <a:p>
            <a:pPr eaLnBrk="1" hangingPunct="1">
              <a:lnSpc>
                <a:spcPct val="60000"/>
              </a:lnSpc>
              <a:spcBef>
                <a:spcPct val="50000"/>
              </a:spcBef>
              <a:buFont typeface="Arial" panose="020B0604020202020204" pitchFamily="34" charset="0"/>
              <a:buNone/>
            </a:pPr>
            <a:r>
              <a:rPr lang="en-US" altLang="zh-CN" sz="2800" b="0" dirty="0">
                <a:solidFill>
                  <a:schemeClr val="tx2"/>
                </a:solidFill>
                <a:latin typeface="楷体" panose="02010609060101010101" pitchFamily="49" charset="-122"/>
                <a:ea typeface="楷体" panose="02010609060101010101" pitchFamily="49" charset="-122"/>
              </a:rPr>
              <a:t>PUSH    W2</a:t>
            </a:r>
          </a:p>
          <a:p>
            <a:pPr eaLnBrk="1" hangingPunct="1">
              <a:lnSpc>
                <a:spcPct val="60000"/>
              </a:lnSpc>
              <a:spcBef>
                <a:spcPct val="50000"/>
              </a:spcBef>
              <a:buFont typeface="Arial" panose="020B0604020202020204" pitchFamily="34" charset="0"/>
              <a:buNone/>
            </a:pPr>
            <a:r>
              <a:rPr lang="en-US" altLang="zh-CN" sz="2800" b="0" dirty="0">
                <a:solidFill>
                  <a:schemeClr val="tx2"/>
                </a:solidFill>
                <a:latin typeface="楷体" panose="02010609060101010101" pitchFamily="49" charset="-122"/>
                <a:ea typeface="楷体" panose="02010609060101010101" pitchFamily="49" charset="-122"/>
              </a:rPr>
              <a:t>POP     W1</a:t>
            </a:r>
          </a:p>
          <a:p>
            <a:pPr eaLnBrk="1" hangingPunct="1">
              <a:lnSpc>
                <a:spcPct val="60000"/>
              </a:lnSpc>
              <a:spcBef>
                <a:spcPct val="50000"/>
              </a:spcBef>
              <a:buFont typeface="Arial" panose="020B0604020202020204" pitchFamily="34" charset="0"/>
              <a:buNone/>
            </a:pPr>
            <a:r>
              <a:rPr lang="en-US" altLang="zh-CN" sz="2800" b="0" dirty="0">
                <a:solidFill>
                  <a:schemeClr val="tx2"/>
                </a:solidFill>
                <a:latin typeface="楷体" panose="02010609060101010101" pitchFamily="49" charset="-122"/>
                <a:ea typeface="楷体" panose="02010609060101010101" pitchFamily="49" charset="-122"/>
              </a:rPr>
              <a:t>POP     W2</a:t>
            </a:r>
          </a:p>
        </p:txBody>
      </p:sp>
    </p:spTree>
    <p:extLst>
      <p:ext uri="{BB962C8B-B14F-4D97-AF65-F5344CB8AC3E}">
        <p14:creationId xmlns:p14="http://schemas.microsoft.com/office/powerpoint/2010/main" val="1081806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358775" y="1137646"/>
            <a:ext cx="87852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indent="0">
              <a:lnSpc>
                <a:spcPct val="150000"/>
              </a:lnSpc>
              <a:spcBef>
                <a:spcPct val="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）通用寄存器进栈</a:t>
            </a:r>
            <a:r>
              <a:rPr lang="en-US" altLang="zh-CN" sz="2400" dirty="0">
                <a:solidFill>
                  <a:srgbClr val="FF0000"/>
                </a:solidFill>
                <a:latin typeface="楷体" panose="02010609060101010101" pitchFamily="49" charset="-122"/>
                <a:ea typeface="楷体" panose="02010609060101010101" pitchFamily="49" charset="-122"/>
              </a:rPr>
              <a:t>PUSHA/PUSHAD</a:t>
            </a:r>
            <a:r>
              <a:rPr lang="zh-CN" altLang="en-US" sz="2400" dirty="0">
                <a:latin typeface="楷体" panose="02010609060101010101" pitchFamily="49" charset="-122"/>
                <a:ea typeface="楷体" panose="02010609060101010101" pitchFamily="49" charset="-122"/>
              </a:rPr>
              <a:t>和出栈指令</a:t>
            </a:r>
            <a:r>
              <a:rPr lang="en-US" altLang="zh-CN" sz="2400" dirty="0">
                <a:solidFill>
                  <a:srgbClr val="FF0000"/>
                </a:solidFill>
                <a:latin typeface="楷体" panose="02010609060101010101" pitchFamily="49" charset="-122"/>
                <a:ea typeface="楷体" panose="02010609060101010101" pitchFamily="49" charset="-122"/>
              </a:rPr>
              <a:t>POPA/POPAD</a:t>
            </a:r>
          </a:p>
          <a:p>
            <a:pPr indent="0">
              <a:lnSpc>
                <a:spcPct val="150000"/>
              </a:lnSpc>
              <a:spcBef>
                <a:spcPct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    PUSHA</a:t>
            </a:r>
            <a:r>
              <a:rPr lang="zh-CN" altLang="en-US" sz="2400" dirty="0">
                <a:latin typeface="楷体" panose="02010609060101010101" pitchFamily="49" charset="-122"/>
                <a:ea typeface="楷体" panose="02010609060101010101" pitchFamily="49" charset="-122"/>
              </a:rPr>
              <a:t>指令执行的操作是将</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位通用寄存器进栈，进栈次序为：</a:t>
            </a:r>
            <a:r>
              <a:rPr lang="en-US" altLang="zh-CN" sz="2400" dirty="0">
                <a:latin typeface="楷体" panose="02010609060101010101" pitchFamily="49" charset="-122"/>
                <a:ea typeface="楷体" panose="02010609060101010101" pitchFamily="49" charset="-122"/>
              </a:rPr>
              <a:t>AX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DX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BX</a:t>
            </a:r>
            <a:r>
              <a:rPr lang="zh-CN" altLang="en-US" sz="2400" dirty="0">
                <a:latin typeface="楷体" panose="02010609060101010101" pitchFamily="49" charset="-122"/>
                <a:ea typeface="楷体" panose="02010609060101010101" pitchFamily="49" charset="-122"/>
              </a:rPr>
              <a:t>、（指令执行前的）</a:t>
            </a:r>
            <a:r>
              <a:rPr lang="en-US" altLang="zh-CN" sz="2400" dirty="0">
                <a:latin typeface="楷体" panose="02010609060101010101" pitchFamily="49" charset="-122"/>
                <a:ea typeface="楷体" panose="02010609060101010101" pitchFamily="49" charset="-122"/>
              </a:rPr>
              <a:t>SP</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BP</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SI</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DI</a:t>
            </a:r>
            <a:r>
              <a:rPr lang="zh-CN" altLang="en-US" sz="2400" dirty="0">
                <a:latin typeface="楷体" panose="02010609060101010101" pitchFamily="49" charset="-122"/>
                <a:ea typeface="楷体" panose="02010609060101010101" pitchFamily="49" charset="-122"/>
              </a:rPr>
              <a:t>。</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414" y="3102157"/>
            <a:ext cx="4997450" cy="3656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1662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501650" y="1721203"/>
            <a:ext cx="8340509" cy="412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667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PUSHAD</a:t>
            </a:r>
            <a:r>
              <a:rPr lang="zh-CN" altLang="en-US" sz="2400" dirty="0">
                <a:latin typeface="楷体" panose="02010609060101010101" pitchFamily="49" charset="-122"/>
                <a:ea typeface="楷体" panose="02010609060101010101" pitchFamily="49" charset="-122"/>
              </a:rPr>
              <a:t>指令执行的操作是将</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位通用寄存器进栈，进栈次序为：</a:t>
            </a:r>
            <a:r>
              <a:rPr lang="en-US" altLang="zh-CN" sz="2400" dirty="0">
                <a:latin typeface="楷体" panose="02010609060101010101" pitchFamily="49" charset="-122"/>
                <a:ea typeface="楷体" panose="02010609060101010101" pitchFamily="49" charset="-122"/>
              </a:rPr>
              <a:t>EAX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ECX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EDX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EBX</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ESP(</a:t>
            </a:r>
            <a:r>
              <a:rPr lang="zh-CN" altLang="en-US" sz="2400" dirty="0">
                <a:latin typeface="楷体" panose="02010609060101010101" pitchFamily="49" charset="-122"/>
                <a:ea typeface="楷体" panose="02010609060101010101" pitchFamily="49" charset="-122"/>
              </a:rPr>
              <a:t>指令执行前的值</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EBP</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ESI</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EDI</a:t>
            </a:r>
            <a:r>
              <a:rPr lang="zh-CN" altLang="en-US" sz="2400" dirty="0">
                <a:latin typeface="楷体" panose="02010609060101010101" pitchFamily="49" charset="-122"/>
                <a:ea typeface="楷体" panose="02010609060101010101" pitchFamily="49" charset="-122"/>
              </a:rPr>
              <a:t>，指令执行后</a:t>
            </a:r>
            <a:r>
              <a:rPr lang="en-US" altLang="zh-CN" sz="2400" dirty="0">
                <a:latin typeface="楷体" panose="02010609060101010101" pitchFamily="49" charset="-122"/>
                <a:ea typeface="楷体" panose="02010609060101010101" pitchFamily="49" charset="-122"/>
              </a:rPr>
              <a:t>ESP-32</a:t>
            </a:r>
            <a:r>
              <a:rPr lang="zh-CN" altLang="en-US" sz="2400" dirty="0">
                <a:latin typeface="楷体" panose="02010609060101010101" pitchFamily="49" charset="-122"/>
                <a:ea typeface="楷体" panose="02010609060101010101" pitchFamily="49" charset="-122"/>
              </a:rPr>
              <a:t>。</a:t>
            </a:r>
          </a:p>
          <a:p>
            <a:pPr>
              <a:lnSpc>
                <a:spcPct val="150000"/>
              </a:lnSpc>
              <a:spcBef>
                <a:spcPct val="0"/>
              </a:spcBef>
              <a:buFont typeface="Arial" panose="020B0604020202020204" pitchFamily="34" charset="0"/>
              <a:buNone/>
            </a:pPr>
            <a:endParaRPr lang="zh-CN" altLang="en-US" sz="2400" dirty="0">
              <a:latin typeface="楷体" panose="02010609060101010101" pitchFamily="49" charset="-122"/>
              <a:ea typeface="楷体" panose="02010609060101010101" pitchFamily="49" charset="-122"/>
            </a:endParaRPr>
          </a:p>
          <a:p>
            <a:pPr eaLnBrk="1" hangingPunct="1">
              <a:lnSpc>
                <a:spcPct val="150000"/>
              </a:lnSpc>
              <a:spcBef>
                <a:spcPct val="0"/>
              </a:spcBef>
              <a:spcAft>
                <a:spcPts val="1200"/>
              </a:spcAft>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状态标志寄存器进栈和出栈指令</a:t>
            </a:r>
          </a:p>
          <a:p>
            <a:pPr eaLnBrk="1" hangingPunct="1">
              <a:lnSpc>
                <a:spcPct val="150000"/>
              </a:lnSpc>
              <a:spcBef>
                <a:spcPct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位标志寄存器进栈</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出栈指令：</a:t>
            </a:r>
            <a:r>
              <a:rPr lang="en-US" altLang="zh-CN" sz="2400" dirty="0">
                <a:solidFill>
                  <a:srgbClr val="FF0000"/>
                </a:solidFill>
                <a:latin typeface="楷体" panose="02010609060101010101" pitchFamily="49" charset="-122"/>
                <a:ea typeface="楷体" panose="02010609060101010101" pitchFamily="49" charset="-122"/>
              </a:rPr>
              <a:t>PUSHF/POPF</a:t>
            </a:r>
          </a:p>
          <a:p>
            <a:pPr eaLnBrk="1" hangingPunct="1">
              <a:lnSpc>
                <a:spcPct val="150000"/>
              </a:lnSpc>
              <a:spcBef>
                <a:spcPct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位标志寄存器进栈</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出栈指令：</a:t>
            </a:r>
            <a:r>
              <a:rPr lang="en-US" altLang="zh-CN" sz="2400" dirty="0">
                <a:latin typeface="楷体" panose="02010609060101010101" pitchFamily="49" charset="-122"/>
                <a:ea typeface="楷体" panose="02010609060101010101" pitchFamily="49" charset="-122"/>
              </a:rPr>
              <a:t>PUSHFD/POPFD</a:t>
            </a:r>
          </a:p>
        </p:txBody>
      </p:sp>
    </p:spTree>
    <p:extLst>
      <p:ext uri="{BB962C8B-B14F-4D97-AF65-F5344CB8AC3E}">
        <p14:creationId xmlns:p14="http://schemas.microsoft.com/office/powerpoint/2010/main" val="3213574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42875" y="1924621"/>
            <a:ext cx="9072146" cy="46803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dirty="0">
                <a:latin typeface="楷体" panose="02010609060101010101" pitchFamily="49" charset="-122"/>
                <a:ea typeface="楷体" panose="02010609060101010101" pitchFamily="49" charset="-122"/>
              </a:rPr>
              <a:t> (1)</a:t>
            </a:r>
            <a:r>
              <a:rPr lang="zh-CN" altLang="en-US" sz="2400" dirty="0">
                <a:latin typeface="楷体" panose="02010609060101010101" pitchFamily="49" charset="-122"/>
                <a:ea typeface="楷体" panose="02010609060101010101" pitchFamily="49" charset="-122"/>
              </a:rPr>
              <a:t>传送有效地址指令</a:t>
            </a:r>
            <a:endParaRPr lang="en-US" altLang="zh-CN" sz="2400" dirty="0">
              <a:latin typeface="楷体" panose="02010609060101010101" pitchFamily="49" charset="-122"/>
              <a:ea typeface="楷体" panose="02010609060101010101" pitchFamily="49" charset="-122"/>
            </a:endParaRPr>
          </a:p>
          <a:p>
            <a:pPr marL="0" indent="0">
              <a:lnSpc>
                <a:spcPct val="120000"/>
              </a:lnSpc>
              <a:buNone/>
            </a:pPr>
            <a:r>
              <a:rPr lang="zh-CN" altLang="en-US" sz="2400" dirty="0">
                <a:latin typeface="楷体" panose="02010609060101010101" pitchFamily="49" charset="-122"/>
                <a:ea typeface="楷体" panose="02010609060101010101" pitchFamily="49" charset="-122"/>
              </a:rPr>
              <a:t>格式：</a:t>
            </a:r>
            <a:r>
              <a:rPr lang="en-US" altLang="zh-CN" sz="2400" dirty="0">
                <a:solidFill>
                  <a:srgbClr val="FF0000"/>
                </a:solidFill>
                <a:latin typeface="楷体" panose="02010609060101010101" pitchFamily="49" charset="-122"/>
                <a:ea typeface="楷体" panose="02010609060101010101" pitchFamily="49" charset="-122"/>
              </a:rPr>
              <a:t>LEA REG</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a:solidFill>
                  <a:srgbClr val="FF0000"/>
                </a:solidFill>
                <a:latin typeface="楷体" panose="02010609060101010101" pitchFamily="49" charset="-122"/>
                <a:ea typeface="楷体" panose="02010609060101010101" pitchFamily="49" charset="-122"/>
              </a:rPr>
              <a:t>MEM</a:t>
            </a:r>
          </a:p>
          <a:p>
            <a:pPr marL="0" indent="0">
              <a:lnSpc>
                <a:spcPct val="120000"/>
              </a:lnSpc>
              <a:buNone/>
            </a:pPr>
            <a:r>
              <a:rPr lang="zh-CN" altLang="en-US" sz="2400" dirty="0">
                <a:latin typeface="楷体" panose="02010609060101010101" pitchFamily="49" charset="-122"/>
                <a:ea typeface="楷体" panose="02010609060101010101" pitchFamily="49" charset="-122"/>
              </a:rPr>
              <a:t>功能</a:t>
            </a:r>
            <a:r>
              <a:rPr lang="en-US" altLang="zh-CN" sz="2400" dirty="0">
                <a:latin typeface="楷体" panose="02010609060101010101" pitchFamily="49" charset="-122"/>
                <a:ea typeface="楷体" panose="02010609060101010101" pitchFamily="49" charset="-122"/>
                <a:sym typeface="Wingdings" panose="05000000000000000000" pitchFamily="2" charset="2"/>
              </a:rPr>
              <a:t>: </a:t>
            </a:r>
            <a:r>
              <a:rPr lang="zh-CN" altLang="en-US" sz="2400" dirty="0">
                <a:latin typeface="楷体" panose="02010609060101010101" pitchFamily="49" charset="-122"/>
                <a:ea typeface="楷体" panose="02010609060101010101" pitchFamily="49" charset="-122"/>
                <a:sym typeface="Wingdings" panose="05000000000000000000" pitchFamily="2" charset="2"/>
              </a:rPr>
              <a:t>按存储器操作数</a:t>
            </a:r>
            <a:r>
              <a:rPr lang="en-US" altLang="zh-CN" sz="2400" dirty="0">
                <a:latin typeface="楷体" panose="02010609060101010101" pitchFamily="49" charset="-122"/>
                <a:ea typeface="楷体" panose="02010609060101010101" pitchFamily="49" charset="-122"/>
                <a:sym typeface="Wingdings" panose="05000000000000000000" pitchFamily="2" charset="2"/>
              </a:rPr>
              <a:t>MEM</a:t>
            </a:r>
            <a:r>
              <a:rPr lang="zh-CN" altLang="en-US" sz="2400" dirty="0">
                <a:latin typeface="楷体" panose="02010609060101010101" pitchFamily="49" charset="-122"/>
                <a:ea typeface="楷体" panose="02010609060101010101" pitchFamily="49" charset="-122"/>
                <a:sym typeface="Wingdings" panose="05000000000000000000" pitchFamily="2" charset="2"/>
              </a:rPr>
              <a:t>提供的寻址方式计算的</a:t>
            </a:r>
            <a:r>
              <a:rPr lang="en-US" altLang="zh-CN" sz="2400" dirty="0">
                <a:latin typeface="楷体" panose="02010609060101010101" pitchFamily="49" charset="-122"/>
                <a:ea typeface="楷体" panose="02010609060101010101" pitchFamily="49" charset="-122"/>
                <a:sym typeface="Wingdings" panose="05000000000000000000" pitchFamily="2" charset="2"/>
              </a:rPr>
              <a:t>EA</a:t>
            </a:r>
            <a:r>
              <a:rPr lang="zh-CN" altLang="en-US" sz="2400" dirty="0">
                <a:latin typeface="楷体" panose="02010609060101010101" pitchFamily="49" charset="-122"/>
                <a:ea typeface="楷体" panose="02010609060101010101" pitchFamily="49" charset="-122"/>
                <a:sym typeface="Wingdings" panose="05000000000000000000" pitchFamily="2" charset="2"/>
              </a:rPr>
              <a:t>送</a:t>
            </a:r>
            <a:r>
              <a:rPr lang="en-US" altLang="zh-CN" sz="2400" dirty="0">
                <a:latin typeface="楷体" panose="02010609060101010101" pitchFamily="49" charset="-122"/>
                <a:ea typeface="楷体" panose="02010609060101010101" pitchFamily="49" charset="-122"/>
                <a:sym typeface="Wingdings" panose="05000000000000000000" pitchFamily="2" charset="2"/>
              </a:rPr>
              <a:t>16</a:t>
            </a:r>
            <a:r>
              <a:rPr lang="zh-CN" altLang="en-US" sz="2400" dirty="0">
                <a:latin typeface="楷体" panose="02010609060101010101" pitchFamily="49" charset="-122"/>
                <a:ea typeface="楷体" panose="02010609060101010101" pitchFamily="49" charset="-122"/>
                <a:sym typeface="Wingdings" panose="05000000000000000000" pitchFamily="2" charset="2"/>
              </a:rPr>
              <a:t>位</a:t>
            </a: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间址寄存器</a:t>
            </a:r>
            <a:r>
              <a:rPr lang="zh-CN" altLang="en-US" sz="2400" dirty="0">
                <a:latin typeface="楷体" panose="02010609060101010101" pitchFamily="49" charset="-122"/>
                <a:ea typeface="楷体" panose="02010609060101010101" pitchFamily="49" charset="-122"/>
                <a:sym typeface="Wingdings" panose="05000000000000000000" pitchFamily="2" charset="2"/>
              </a:rPr>
              <a:t>或</a:t>
            </a:r>
            <a:r>
              <a:rPr lang="en-US" altLang="zh-CN" sz="2400" dirty="0">
                <a:latin typeface="楷体" panose="02010609060101010101" pitchFamily="49" charset="-122"/>
                <a:ea typeface="楷体" panose="02010609060101010101" pitchFamily="49" charset="-122"/>
                <a:sym typeface="Wingdings" panose="05000000000000000000" pitchFamily="2" charset="2"/>
              </a:rPr>
              <a:t>32</a:t>
            </a:r>
            <a:r>
              <a:rPr lang="zh-CN" altLang="en-US" sz="2400" dirty="0">
                <a:latin typeface="楷体" panose="02010609060101010101" pitchFamily="49" charset="-122"/>
                <a:ea typeface="楷体" panose="02010609060101010101" pitchFamily="49" charset="-122"/>
                <a:sym typeface="Wingdings" panose="05000000000000000000" pitchFamily="2" charset="2"/>
              </a:rPr>
              <a:t>位通用寄存器</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0000"/>
              </a:lnSpc>
              <a:buNone/>
            </a:pP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en-US" altLang="zh-CN" sz="2400" dirty="0">
                <a:latin typeface="楷体" panose="02010609060101010101" pitchFamily="49" charset="-122"/>
                <a:ea typeface="楷体" panose="02010609060101010101" pitchFamily="49" charset="-122"/>
                <a:sym typeface="Wingdings" panose="05000000000000000000" pitchFamily="2" charset="2"/>
              </a:rPr>
              <a:t>2</a:t>
            </a:r>
            <a:r>
              <a:rPr lang="zh-CN" altLang="en-US" sz="2400" dirty="0">
                <a:latin typeface="楷体" panose="02010609060101010101" pitchFamily="49" charset="-122"/>
                <a:ea typeface="楷体" panose="02010609060101010101" pitchFamily="49" charset="-122"/>
                <a:sym typeface="Wingdings" panose="05000000000000000000" pitchFamily="2" charset="2"/>
              </a:rPr>
              <a:t>）传送地址指针指令</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a:p>
            <a:pPr marL="0" indent="0">
              <a:lnSpc>
                <a:spcPct val="12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格式：</a:t>
            </a:r>
            <a:r>
              <a:rPr lang="en-US" altLang="zh-CN"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LDS/LES/LSS REG</a:t>
            </a: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a:t>
            </a:r>
            <a:r>
              <a:rPr lang="en-US" altLang="zh-CN"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MEM</a:t>
            </a:r>
          </a:p>
          <a:p>
            <a:pPr marL="0" indent="0">
              <a:lnSpc>
                <a:spcPct val="120000"/>
              </a:lnSpc>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功能：段基址送</a:t>
            </a:r>
            <a:r>
              <a:rPr lang="en-US" altLang="zh-CN" sz="2400" dirty="0">
                <a:latin typeface="楷体" panose="02010609060101010101" pitchFamily="49" charset="-122"/>
                <a:ea typeface="楷体" panose="02010609060101010101" pitchFamily="49" charset="-122"/>
                <a:sym typeface="Wingdings" panose="05000000000000000000" pitchFamily="2" charset="2"/>
              </a:rPr>
              <a:t>DS/ES/SS</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en-US" altLang="zh-CN" sz="2400" dirty="0">
                <a:latin typeface="楷体" panose="02010609060101010101" pitchFamily="49" charset="-122"/>
                <a:ea typeface="楷体" panose="02010609060101010101" pitchFamily="49" charset="-122"/>
                <a:sym typeface="Wingdings" panose="05000000000000000000" pitchFamily="2" charset="2"/>
              </a:rPr>
              <a:t>EA</a:t>
            </a:r>
            <a:r>
              <a:rPr lang="zh-CN" altLang="en-US" sz="2400" dirty="0">
                <a:latin typeface="楷体" panose="02010609060101010101" pitchFamily="49" charset="-122"/>
                <a:ea typeface="楷体" panose="02010609060101010101" pitchFamily="49" charset="-122"/>
                <a:sym typeface="Wingdings" panose="05000000000000000000" pitchFamily="2" charset="2"/>
              </a:rPr>
              <a:t>送</a:t>
            </a:r>
            <a:r>
              <a:rPr lang="en-US" altLang="zh-CN" sz="2400" dirty="0">
                <a:latin typeface="楷体" panose="02010609060101010101" pitchFamily="49" charset="-122"/>
                <a:ea typeface="楷体" panose="02010609060101010101" pitchFamily="49" charset="-122"/>
                <a:sym typeface="Wingdings" panose="05000000000000000000" pitchFamily="2" charset="2"/>
              </a:rPr>
              <a:t>16</a:t>
            </a:r>
            <a:r>
              <a:rPr lang="zh-CN" altLang="en-US" sz="2400" dirty="0">
                <a:latin typeface="楷体" panose="02010609060101010101" pitchFamily="49" charset="-122"/>
                <a:ea typeface="楷体" panose="02010609060101010101" pitchFamily="49" charset="-122"/>
                <a:sym typeface="Wingdings" panose="05000000000000000000" pitchFamily="2" charset="2"/>
              </a:rPr>
              <a:t>位</a:t>
            </a:r>
            <a:r>
              <a:rPr lang="zh-CN" altLang="en-US"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间址寄存器</a:t>
            </a:r>
            <a:r>
              <a:rPr lang="zh-CN" altLang="en-US" sz="2400" dirty="0">
                <a:latin typeface="楷体" panose="02010609060101010101" pitchFamily="49" charset="-122"/>
                <a:ea typeface="楷体" panose="02010609060101010101" pitchFamily="49" charset="-122"/>
                <a:sym typeface="Wingdings" panose="05000000000000000000" pitchFamily="2" charset="2"/>
              </a:rPr>
              <a:t>或</a:t>
            </a:r>
            <a:r>
              <a:rPr lang="en-US" altLang="zh-CN" sz="2400" dirty="0">
                <a:latin typeface="楷体" panose="02010609060101010101" pitchFamily="49" charset="-122"/>
                <a:ea typeface="楷体" panose="02010609060101010101" pitchFamily="49" charset="-122"/>
                <a:sym typeface="Wingdings" panose="05000000000000000000" pitchFamily="2" charset="2"/>
              </a:rPr>
              <a:t>32</a:t>
            </a:r>
            <a:r>
              <a:rPr lang="zh-CN" altLang="en-US" sz="2400" dirty="0">
                <a:latin typeface="楷体" panose="02010609060101010101" pitchFamily="49" charset="-122"/>
                <a:ea typeface="楷体" panose="02010609060101010101" pitchFamily="49" charset="-122"/>
                <a:sym typeface="Wingdings" panose="05000000000000000000" pitchFamily="2" charset="2"/>
              </a:rPr>
              <a:t>位通用寄存器</a:t>
            </a:r>
            <a:endParaRPr lang="en-US" altLang="zh-CN" sz="2400" dirty="0">
              <a:latin typeface="楷体" panose="02010609060101010101" pitchFamily="49" charset="-122"/>
              <a:ea typeface="楷体" panose="02010609060101010101" pitchFamily="49" charset="-122"/>
              <a:sym typeface="Wingdings" panose="05000000000000000000" pitchFamily="2" charset="2"/>
            </a:endParaRPr>
          </a:p>
        </p:txBody>
      </p:sp>
      <p:sp>
        <p:nvSpPr>
          <p:cNvPr id="3" name="矩形 5"/>
          <p:cNvSpPr>
            <a:spLocks noChangeArrowheads="1"/>
          </p:cNvSpPr>
          <p:nvPr/>
        </p:nvSpPr>
        <p:spPr bwMode="auto">
          <a:xfrm>
            <a:off x="373695" y="1196560"/>
            <a:ext cx="4610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800" dirty="0">
                <a:latin typeface="楷体" panose="02010609060101010101" pitchFamily="49" charset="-122"/>
                <a:ea typeface="楷体" panose="02010609060101010101" pitchFamily="49" charset="-122"/>
              </a:rPr>
              <a:t>5.</a:t>
            </a:r>
            <a:r>
              <a:rPr lang="zh-CN" altLang="en-US" sz="2800" dirty="0">
                <a:latin typeface="楷体" panose="02010609060101010101" pitchFamily="49" charset="-122"/>
                <a:ea typeface="楷体" panose="02010609060101010101" pitchFamily="49" charset="-122"/>
              </a:rPr>
              <a:t>地址传送指令</a:t>
            </a:r>
          </a:p>
        </p:txBody>
      </p:sp>
    </p:spTree>
    <p:extLst>
      <p:ext uri="{BB962C8B-B14F-4D97-AF65-F5344CB8AC3E}">
        <p14:creationId xmlns:p14="http://schemas.microsoft.com/office/powerpoint/2010/main" val="3308941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7.3.2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加减运算指令</a:t>
            </a:r>
          </a:p>
        </p:txBody>
      </p:sp>
      <p:sp>
        <p:nvSpPr>
          <p:cNvPr id="3" name="矩形 4"/>
          <p:cNvSpPr>
            <a:spLocks noChangeArrowheads="1"/>
          </p:cNvSpPr>
          <p:nvPr/>
        </p:nvSpPr>
        <p:spPr bwMode="auto">
          <a:xfrm>
            <a:off x="142875" y="1357313"/>
            <a:ext cx="4359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dirty="0">
                <a:solidFill>
                  <a:srgbClr val="FF0066"/>
                </a:solidFill>
                <a:latin typeface="楷体" panose="02010609060101010101" pitchFamily="49" charset="-122"/>
                <a:ea typeface="楷体" panose="02010609060101010101" pitchFamily="49" charset="-122"/>
              </a:rPr>
              <a:t>加减运算的操作数：</a:t>
            </a:r>
          </a:p>
        </p:txBody>
      </p:sp>
      <p:sp>
        <p:nvSpPr>
          <p:cNvPr id="4"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tx2"/>
              </a:buClr>
              <a:buFont typeface="Arial" panose="020B0604020202020204" pitchFamily="34" charset="0"/>
              <a:buNone/>
            </a:pPr>
            <a:endParaRPr lang="zh-CN" altLang="en-US" sz="2800">
              <a:solidFill>
                <a:schemeClr val="tx2"/>
              </a:solidFill>
              <a:latin typeface="楷体_GB2312" pitchFamily="49" charset="-122"/>
              <a:ea typeface="楷体_GB2312" pitchFamily="49" charset="-122"/>
            </a:endParaRPr>
          </a:p>
        </p:txBody>
      </p:sp>
      <p:graphicFrame>
        <p:nvGraphicFramePr>
          <p:cNvPr id="5" name="Object 9"/>
          <p:cNvGraphicFramePr>
            <a:graphicFrameLocks/>
          </p:cNvGraphicFramePr>
          <p:nvPr/>
        </p:nvGraphicFramePr>
        <p:xfrm>
          <a:off x="428625" y="2133600"/>
          <a:ext cx="8358188" cy="2139950"/>
        </p:xfrm>
        <a:graphic>
          <a:graphicData uri="http://schemas.openxmlformats.org/presentationml/2006/ole">
            <mc:AlternateContent xmlns:mc="http://schemas.openxmlformats.org/markup-compatibility/2006">
              <mc:Choice xmlns:v="urn:schemas-microsoft-com:vml" Requires="v">
                <p:oleObj r:id="rId2" imgW="5601482" imgH="1104762" progId="PBrush">
                  <p:embed/>
                </p:oleObj>
              </mc:Choice>
              <mc:Fallback>
                <p:oleObj r:id="rId2" imgW="5601482" imgH="1104762" progId="PBrush">
                  <p:embed/>
                  <p:pic>
                    <p:nvPicPr>
                      <p:cNvPr id="71684"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133600"/>
                        <a:ext cx="8358188"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3">
            <a:extLst>
              <a:ext uri="{FF2B5EF4-FFF2-40B4-BE49-F238E27FC236}">
                <a16:creationId xmlns:a16="http://schemas.microsoft.com/office/drawing/2014/main" id="{803E432A-3B0A-486D-B9BF-04D5F2008900}"/>
              </a:ext>
            </a:extLst>
          </p:cNvPr>
          <p:cNvSpPr>
            <a:spLocks noChangeArrowheads="1"/>
          </p:cNvSpPr>
          <p:nvPr/>
        </p:nvSpPr>
        <p:spPr bwMode="gray">
          <a:xfrm>
            <a:off x="395288" y="4437063"/>
            <a:ext cx="8280400" cy="1871662"/>
          </a:xfrm>
          <a:prstGeom prst="rect">
            <a:avLst/>
          </a:prstGeom>
          <a:noFill/>
          <a:ln w="9525">
            <a:noFill/>
            <a:miter lim="800000"/>
          </a:ln>
        </p:spPr>
        <p:txBody>
          <a:bodyPr/>
          <a:lstStyle/>
          <a:p>
            <a:pPr marL="342900" indent="-342900" eaLnBrk="1" hangingPunct="1">
              <a:spcBef>
                <a:spcPct val="55000"/>
              </a:spcBef>
              <a:buClr>
                <a:schemeClr val="accent1"/>
              </a:buClr>
              <a:buSzPct val="65000"/>
              <a:buFont typeface="Wingdings" pitchFamily="2" charset="2"/>
              <a:buNone/>
              <a:defRPr/>
            </a:pPr>
            <a:r>
              <a:rPr lang="zh-CN" altLang="en-US" sz="2400" dirty="0">
                <a:solidFill>
                  <a:schemeClr val="tx1"/>
                </a:solidFill>
                <a:latin typeface="楷体" panose="02010609060101010101" pitchFamily="49" charset="-122"/>
                <a:ea typeface="楷体" panose="02010609060101010101" pitchFamily="49" charset="-122"/>
              </a:rPr>
              <a:t>注意：</a:t>
            </a:r>
          </a:p>
          <a:p>
            <a:pPr marL="892810" indent="-457200" eaLnBrk="1" hangingPunct="1">
              <a:lnSpc>
                <a:spcPct val="150000"/>
              </a:lnSpc>
              <a:spcBef>
                <a:spcPts val="0"/>
              </a:spcBef>
              <a:buClr>
                <a:srgbClr val="00B0F0"/>
              </a:buClr>
              <a:buSzPct val="80000"/>
              <a:buFont typeface="Wingdings" pitchFamily="2" charset="2"/>
              <a:buChar char="l"/>
              <a:defRPr/>
            </a:pPr>
            <a:r>
              <a:rPr lang="zh-CN" altLang="en-US" sz="2400" b="0" dirty="0">
                <a:solidFill>
                  <a:schemeClr val="tx1"/>
                </a:solidFill>
                <a:latin typeface="楷体" panose="02010609060101010101" pitchFamily="49" charset="-122"/>
                <a:ea typeface="楷体" panose="02010609060101010101" pitchFamily="49" charset="-122"/>
              </a:rPr>
              <a:t>两操作数类型相同，不能同为存储器</a:t>
            </a:r>
          </a:p>
          <a:p>
            <a:pPr marL="892810" indent="-457200" eaLnBrk="1" hangingPunct="1">
              <a:lnSpc>
                <a:spcPct val="150000"/>
              </a:lnSpc>
              <a:spcBef>
                <a:spcPts val="0"/>
              </a:spcBef>
              <a:buClr>
                <a:srgbClr val="00B0F0"/>
              </a:buClr>
              <a:buSzPct val="80000"/>
              <a:buFont typeface="Wingdings" pitchFamily="2" charset="2"/>
              <a:buChar char="l"/>
              <a:defRPr/>
            </a:pPr>
            <a:r>
              <a:rPr lang="zh-CN" altLang="en-US" sz="2400" b="0" dirty="0">
                <a:solidFill>
                  <a:schemeClr val="tx1"/>
                </a:solidFill>
                <a:latin typeface="楷体" panose="02010609060101010101" pitchFamily="49" charset="-122"/>
                <a:ea typeface="楷体" panose="02010609060101010101" pitchFamily="49" charset="-122"/>
              </a:rPr>
              <a:t>加减法指令执行后的结果将影响</a:t>
            </a:r>
            <a:r>
              <a:rPr lang="zh-CN" altLang="en-US" sz="2400" b="0" dirty="0">
                <a:solidFill>
                  <a:srgbClr val="FF0000"/>
                </a:solidFill>
                <a:latin typeface="楷体" panose="02010609060101010101" pitchFamily="49" charset="-122"/>
                <a:ea typeface="楷体" panose="02010609060101010101" pitchFamily="49" charset="-122"/>
              </a:rPr>
              <a:t>状态标志位 </a:t>
            </a:r>
            <a:endParaRPr lang="en-US" altLang="zh-CN" sz="2400" b="0"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373924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5"/>
          <p:cNvSpPr>
            <a:spLocks noChangeArrowheads="1"/>
          </p:cNvSpPr>
          <p:nvPr/>
        </p:nvSpPr>
        <p:spPr bwMode="auto">
          <a:xfrm>
            <a:off x="213064" y="998830"/>
            <a:ext cx="344765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加法类指令</a:t>
            </a:r>
          </a:p>
        </p:txBody>
      </p:sp>
      <p:sp>
        <p:nvSpPr>
          <p:cNvPr id="3" name="矩形 2">
            <a:extLst>
              <a:ext uri="{FF2B5EF4-FFF2-40B4-BE49-F238E27FC236}">
                <a16:creationId xmlns:a16="http://schemas.microsoft.com/office/drawing/2014/main" id="{2757165B-730B-4511-B675-08A51703065E}"/>
              </a:ext>
            </a:extLst>
          </p:cNvPr>
          <p:cNvSpPr/>
          <p:nvPr/>
        </p:nvSpPr>
        <p:spPr>
          <a:xfrm>
            <a:off x="284502" y="1694155"/>
            <a:ext cx="8699699" cy="4967514"/>
          </a:xfrm>
          <a:prstGeom prst="rect">
            <a:avLst/>
          </a:prstGeom>
        </p:spPr>
        <p:txBody>
          <a:bodyPr wrap="square">
            <a:spAutoFit/>
          </a:bodyPr>
          <a:lstStyle/>
          <a:p>
            <a:pPr marL="609600" indent="-609600" eaLnBrk="1" hangingPunct="1">
              <a:lnSpc>
                <a:spcPct val="150000"/>
              </a:lnSpc>
              <a:spcBef>
                <a:spcPct val="20000"/>
              </a:spcBef>
              <a:buClr>
                <a:schemeClr val="tx2"/>
              </a:buClr>
              <a:defRPr/>
            </a:pPr>
            <a:r>
              <a:rPr lang="zh-CN" altLang="en-US" sz="2400" dirty="0">
                <a:solidFill>
                  <a:schemeClr val="tx1"/>
                </a:solidFill>
                <a:latin typeface="楷体" panose="02010609060101010101" pitchFamily="49" charset="-122"/>
                <a:ea typeface="楷体" panose="02010609060101010101" pitchFamily="49" charset="-122"/>
                <a:cs typeface="楷体_GB2312"/>
              </a:rPr>
              <a:t>（</a:t>
            </a:r>
            <a:r>
              <a:rPr lang="en-US" altLang="zh-CN" sz="2400" dirty="0">
                <a:solidFill>
                  <a:schemeClr val="tx1"/>
                </a:solidFill>
                <a:latin typeface="楷体" panose="02010609060101010101" pitchFamily="49" charset="-122"/>
                <a:ea typeface="楷体" panose="02010609060101010101" pitchFamily="49" charset="-122"/>
                <a:cs typeface="楷体_GB2312"/>
              </a:rPr>
              <a:t>1</a:t>
            </a:r>
            <a:r>
              <a:rPr lang="zh-CN" altLang="en-US" sz="2400" dirty="0">
                <a:solidFill>
                  <a:schemeClr val="tx1"/>
                </a:solidFill>
                <a:latin typeface="楷体" panose="02010609060101010101" pitchFamily="49" charset="-122"/>
                <a:ea typeface="楷体" panose="02010609060101010101" pitchFamily="49" charset="-122"/>
                <a:cs typeface="楷体_GB2312"/>
              </a:rPr>
              <a:t>）加法指令</a:t>
            </a:r>
            <a:r>
              <a:rPr lang="en-US" altLang="zh-CN" sz="2400" dirty="0">
                <a:solidFill>
                  <a:schemeClr val="tx1"/>
                </a:solidFill>
                <a:latin typeface="楷体" panose="02010609060101010101" pitchFamily="49" charset="-122"/>
                <a:ea typeface="楷体" panose="02010609060101010101" pitchFamily="49" charset="-122"/>
                <a:cs typeface="楷体_GB2312"/>
              </a:rPr>
              <a:t>ADD</a:t>
            </a:r>
            <a:r>
              <a:rPr lang="zh-CN" altLang="en-US" sz="2400" dirty="0">
                <a:solidFill>
                  <a:schemeClr val="tx1"/>
                </a:solidFill>
                <a:latin typeface="楷体" panose="02010609060101010101" pitchFamily="49" charset="-122"/>
                <a:ea typeface="楷体" panose="02010609060101010101" pitchFamily="49" charset="-122"/>
                <a:cs typeface="楷体_GB2312"/>
              </a:rPr>
              <a:t>：</a:t>
            </a:r>
            <a:r>
              <a:rPr lang="zh-CN" altLang="en-US" sz="2400" b="0" dirty="0">
                <a:solidFill>
                  <a:schemeClr val="tx1"/>
                </a:solidFill>
                <a:latin typeface="楷体" panose="02010609060101010101" pitchFamily="49" charset="-122"/>
                <a:ea typeface="楷体" panose="02010609060101010101" pitchFamily="49" charset="-122"/>
                <a:cs typeface="楷体_GB2312"/>
              </a:rPr>
              <a:t>有</a:t>
            </a:r>
            <a:r>
              <a:rPr lang="en-US" altLang="zh-CN" sz="2400" b="0" dirty="0">
                <a:solidFill>
                  <a:schemeClr val="tx1"/>
                </a:solidFill>
                <a:latin typeface="楷体" panose="02010609060101010101" pitchFamily="49" charset="-122"/>
                <a:ea typeface="楷体" panose="02010609060101010101" pitchFamily="49" charset="-122"/>
                <a:cs typeface="楷体_GB2312"/>
              </a:rPr>
              <a:t>5</a:t>
            </a:r>
            <a:r>
              <a:rPr lang="zh-CN" altLang="en-US" sz="2400" b="0" dirty="0">
                <a:solidFill>
                  <a:schemeClr val="tx1"/>
                </a:solidFill>
                <a:latin typeface="楷体" panose="02010609060101010101" pitchFamily="49" charset="-122"/>
                <a:ea typeface="楷体" panose="02010609060101010101" pitchFamily="49" charset="-122"/>
                <a:cs typeface="楷体_GB2312"/>
              </a:rPr>
              <a:t>种形式</a:t>
            </a:r>
            <a:r>
              <a:rPr lang="zh-CN" altLang="en-US" sz="2400" b="0" dirty="0">
                <a:solidFill>
                  <a:srgbClr val="FF0000"/>
                </a:solidFill>
                <a:latin typeface="楷体" panose="02010609060101010101" pitchFamily="49" charset="-122"/>
                <a:ea typeface="楷体" panose="02010609060101010101" pitchFamily="49" charset="-122"/>
                <a:cs typeface="楷体_GB2312"/>
              </a:rPr>
              <a:t>（见</a:t>
            </a:r>
            <a:r>
              <a:rPr lang="en-US" altLang="zh-CN" sz="2400" b="0" dirty="0">
                <a:solidFill>
                  <a:srgbClr val="FF0000"/>
                </a:solidFill>
                <a:latin typeface="楷体" panose="02010609060101010101" pitchFamily="49" charset="-122"/>
                <a:ea typeface="楷体" panose="02010609060101010101" pitchFamily="49" charset="-122"/>
                <a:cs typeface="楷体_GB2312"/>
              </a:rPr>
              <a:t>P160</a:t>
            </a:r>
            <a:r>
              <a:rPr lang="zh-CN" altLang="en-US" sz="2400" b="0" dirty="0">
                <a:solidFill>
                  <a:srgbClr val="FF0000"/>
                </a:solidFill>
                <a:latin typeface="楷体" panose="02010609060101010101" pitchFamily="49" charset="-122"/>
                <a:ea typeface="楷体" panose="02010609060101010101" pitchFamily="49" charset="-122"/>
                <a:cs typeface="楷体_GB2312"/>
              </a:rPr>
              <a:t>）</a:t>
            </a:r>
            <a:endParaRPr lang="en-US" altLang="zh-CN" sz="2400" b="0" dirty="0">
              <a:solidFill>
                <a:srgbClr val="FF0000"/>
              </a:solidFill>
              <a:latin typeface="楷体" panose="02010609060101010101" pitchFamily="49" charset="-122"/>
              <a:ea typeface="楷体" panose="02010609060101010101" pitchFamily="49" charset="-122"/>
              <a:cs typeface="楷体_GB2312"/>
            </a:endParaRPr>
          </a:p>
          <a:p>
            <a:pPr marL="609600" indent="-609600" eaLnBrk="1" hangingPunct="1">
              <a:lnSpc>
                <a:spcPct val="150000"/>
              </a:lnSpc>
              <a:spcBef>
                <a:spcPct val="20000"/>
              </a:spcBef>
              <a:buClr>
                <a:schemeClr val="tx2"/>
              </a:buClr>
              <a:defRPr/>
            </a:pPr>
            <a:r>
              <a:rPr lang="zh-CN" altLang="en-US" sz="2400" dirty="0">
                <a:solidFill>
                  <a:schemeClr val="tx1"/>
                </a:solidFill>
                <a:latin typeface="楷体" panose="02010609060101010101" pitchFamily="49" charset="-122"/>
                <a:ea typeface="楷体" panose="02010609060101010101" pitchFamily="49" charset="-122"/>
                <a:cs typeface="楷体_GB2312"/>
              </a:rPr>
              <a:t>格式： </a:t>
            </a:r>
            <a:r>
              <a:rPr lang="en-US" altLang="zh-CN" sz="2400" b="0" dirty="0">
                <a:solidFill>
                  <a:srgbClr val="FF0000"/>
                </a:solidFill>
                <a:latin typeface="楷体" panose="02010609060101010101" pitchFamily="49" charset="-122"/>
                <a:ea typeface="楷体" panose="02010609060101010101" pitchFamily="49" charset="-122"/>
                <a:cs typeface="楷体_GB2312"/>
              </a:rPr>
              <a:t>ADD  </a:t>
            </a:r>
            <a:r>
              <a:rPr lang="en-US" altLang="zh-CN" sz="2400" b="0" dirty="0" err="1">
                <a:solidFill>
                  <a:srgbClr val="FF0000"/>
                </a:solidFill>
                <a:latin typeface="楷体" panose="02010609060101010101" pitchFamily="49" charset="-122"/>
                <a:ea typeface="楷体" panose="02010609060101010101" pitchFamily="49" charset="-122"/>
                <a:cs typeface="楷体_GB2312"/>
              </a:rPr>
              <a:t>dest</a:t>
            </a:r>
            <a:r>
              <a:rPr lang="zh-CN" altLang="en-US" sz="2400" b="0" dirty="0">
                <a:solidFill>
                  <a:srgbClr val="FF0000"/>
                </a:solidFill>
                <a:latin typeface="楷体" panose="02010609060101010101" pitchFamily="49" charset="-122"/>
                <a:ea typeface="楷体" panose="02010609060101010101" pitchFamily="49" charset="-122"/>
                <a:cs typeface="楷体_GB2312"/>
              </a:rPr>
              <a:t>，</a:t>
            </a:r>
            <a:r>
              <a:rPr lang="en-US" altLang="zh-CN" sz="2400" b="0" dirty="0">
                <a:solidFill>
                  <a:srgbClr val="FF0000"/>
                </a:solidFill>
                <a:latin typeface="楷体" panose="02010609060101010101" pitchFamily="49" charset="-122"/>
                <a:ea typeface="楷体" panose="02010609060101010101" pitchFamily="49" charset="-122"/>
                <a:cs typeface="楷体_GB2312"/>
              </a:rPr>
              <a:t>source</a:t>
            </a:r>
          </a:p>
          <a:p>
            <a:pPr marL="609600" indent="-609600" eaLnBrk="1" hangingPunct="1">
              <a:lnSpc>
                <a:spcPct val="150000"/>
              </a:lnSpc>
              <a:spcBef>
                <a:spcPct val="20000"/>
              </a:spcBef>
              <a:buClr>
                <a:schemeClr val="tx2"/>
              </a:buClr>
              <a:defRPr/>
            </a:pPr>
            <a:r>
              <a:rPr lang="zh-CN" altLang="en-US" sz="2400" dirty="0">
                <a:solidFill>
                  <a:schemeClr val="tx1"/>
                </a:solidFill>
                <a:latin typeface="楷体" panose="02010609060101010101" pitchFamily="49" charset="-122"/>
                <a:ea typeface="楷体" panose="02010609060101010101" pitchFamily="49" charset="-122"/>
                <a:cs typeface="楷体_GB2312"/>
              </a:rPr>
              <a:t>操作：</a:t>
            </a:r>
            <a:r>
              <a:rPr lang="en-US" altLang="zh-CN" sz="2400" dirty="0">
                <a:solidFill>
                  <a:schemeClr val="tx1"/>
                </a:solidFill>
                <a:latin typeface="楷体" panose="02010609060101010101" pitchFamily="49" charset="-122"/>
                <a:ea typeface="楷体" panose="02010609060101010101" pitchFamily="49" charset="-122"/>
                <a:cs typeface="楷体_GB2312"/>
              </a:rPr>
              <a:t> </a:t>
            </a:r>
            <a:r>
              <a:rPr lang="en-US" altLang="zh-CN" sz="2400" b="0" dirty="0">
                <a:solidFill>
                  <a:srgbClr val="003399"/>
                </a:solidFill>
                <a:latin typeface="楷体" panose="02010609060101010101" pitchFamily="49" charset="-122"/>
                <a:ea typeface="楷体" panose="02010609060101010101" pitchFamily="49" charset="-122"/>
                <a:cs typeface="楷体_GB2312"/>
              </a:rPr>
              <a:t>source + </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en-US" altLang="zh-CN" sz="2400" b="0" dirty="0">
                <a:solidFill>
                  <a:srgbClr val="003399"/>
                </a:solidFill>
                <a:latin typeface="楷体" panose="02010609060101010101" pitchFamily="49" charset="-122"/>
                <a:ea typeface="楷体" panose="02010609060101010101" pitchFamily="49" charset="-122"/>
                <a:cs typeface="楷体_GB2312"/>
              </a:rPr>
              <a:t> →</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endParaRPr lang="zh-CN" altLang="en-US" sz="2400" b="0" dirty="0">
              <a:solidFill>
                <a:srgbClr val="003399"/>
              </a:solidFill>
              <a:latin typeface="楷体" panose="02010609060101010101" pitchFamily="49" charset="-122"/>
              <a:ea typeface="楷体" panose="02010609060101010101" pitchFamily="49" charset="-122"/>
              <a:cs typeface="楷体_GB2312"/>
            </a:endParaRPr>
          </a:p>
          <a:p>
            <a:pPr marL="609600" indent="-609600" eaLnBrk="1" hangingPunct="1">
              <a:lnSpc>
                <a:spcPct val="150000"/>
              </a:lnSpc>
              <a:spcBef>
                <a:spcPct val="20000"/>
              </a:spcBef>
              <a:buClr>
                <a:schemeClr val="tx2"/>
              </a:buClr>
              <a:defRPr/>
            </a:pPr>
            <a:r>
              <a:rPr lang="zh-CN" altLang="en-US" sz="2400" b="0" dirty="0">
                <a:latin typeface="楷体" panose="02010609060101010101" pitchFamily="49" charset="-122"/>
                <a:ea typeface="楷体" panose="02010609060101010101" pitchFamily="49" charset="-122"/>
                <a:cs typeface="楷体_GB2312"/>
              </a:rPr>
              <a:t>       即将源操作数据与目的操作数据相加，结果存入目的地 址中，源地址内容不变</a:t>
            </a:r>
            <a:endParaRPr lang="en-US" altLang="zh-CN" sz="2400" b="0" dirty="0">
              <a:latin typeface="楷体" panose="02010609060101010101" pitchFamily="49" charset="-122"/>
              <a:ea typeface="楷体" panose="02010609060101010101" pitchFamily="49" charset="-122"/>
              <a:cs typeface="楷体_GB2312"/>
            </a:endParaRPr>
          </a:p>
          <a:p>
            <a:pPr eaLnBrk="1" hangingPunct="1">
              <a:lnSpc>
                <a:spcPct val="150000"/>
              </a:lnSpc>
              <a:spcBef>
                <a:spcPct val="20000"/>
              </a:spcBef>
              <a:buClr>
                <a:schemeClr val="tx2"/>
              </a:buClr>
              <a:defRPr/>
            </a:pPr>
            <a:r>
              <a:rPr lang="zh-CN" altLang="en-US" sz="2400" dirty="0">
                <a:solidFill>
                  <a:srgbClr val="000000"/>
                </a:solidFill>
                <a:latin typeface="楷体" panose="02010609060101010101" pitchFamily="49" charset="-122"/>
                <a:ea typeface="楷体" panose="02010609060101010101" pitchFamily="49" charset="-122"/>
                <a:cs typeface="楷体_GB2312"/>
              </a:rPr>
              <a:t>（</a:t>
            </a:r>
            <a:r>
              <a:rPr lang="en-US" altLang="zh-CN" sz="2400" dirty="0">
                <a:solidFill>
                  <a:srgbClr val="000000"/>
                </a:solidFill>
                <a:latin typeface="楷体" panose="02010609060101010101" pitchFamily="49" charset="-122"/>
                <a:ea typeface="楷体" panose="02010609060101010101" pitchFamily="49" charset="-122"/>
                <a:cs typeface="楷体_GB2312"/>
              </a:rPr>
              <a:t>2</a:t>
            </a:r>
            <a:r>
              <a:rPr lang="zh-CN" altLang="en-US" sz="2400" dirty="0">
                <a:solidFill>
                  <a:srgbClr val="000000"/>
                </a:solidFill>
                <a:latin typeface="楷体" panose="02010609060101010101" pitchFamily="49" charset="-122"/>
                <a:ea typeface="楷体" panose="02010609060101010101" pitchFamily="49" charset="-122"/>
                <a:cs typeface="楷体_GB2312"/>
              </a:rPr>
              <a:t>）加进位的加法指令</a:t>
            </a:r>
            <a:r>
              <a:rPr lang="en-US" altLang="zh-CN" sz="2400" dirty="0">
                <a:solidFill>
                  <a:srgbClr val="000000"/>
                </a:solidFill>
                <a:latin typeface="楷体" panose="02010609060101010101" pitchFamily="49" charset="-122"/>
                <a:ea typeface="楷体" panose="02010609060101010101" pitchFamily="49" charset="-122"/>
                <a:cs typeface="楷体_GB2312"/>
              </a:rPr>
              <a:t>ADC</a:t>
            </a:r>
            <a:r>
              <a:rPr lang="zh-CN" altLang="en-US" sz="2400" dirty="0">
                <a:solidFill>
                  <a:srgbClr val="000000"/>
                </a:solidFill>
                <a:latin typeface="楷体" panose="02010609060101010101" pitchFamily="49" charset="-122"/>
                <a:ea typeface="楷体" panose="02010609060101010101" pitchFamily="49" charset="-122"/>
                <a:cs typeface="楷体_GB2312"/>
              </a:rPr>
              <a:t>：</a:t>
            </a:r>
            <a:r>
              <a:rPr lang="zh-CN" altLang="en-US" sz="2400" b="0" dirty="0">
                <a:solidFill>
                  <a:schemeClr val="tx1"/>
                </a:solidFill>
                <a:latin typeface="楷体" panose="02010609060101010101" pitchFamily="49" charset="-122"/>
                <a:ea typeface="楷体" panose="02010609060101010101" pitchFamily="49" charset="-122"/>
                <a:cs typeface="楷体_GB2312"/>
              </a:rPr>
              <a:t>有</a:t>
            </a:r>
            <a:r>
              <a:rPr lang="en-US" altLang="zh-CN" sz="2400" b="0" dirty="0">
                <a:solidFill>
                  <a:schemeClr val="tx1"/>
                </a:solidFill>
                <a:latin typeface="楷体" panose="02010609060101010101" pitchFamily="49" charset="-122"/>
                <a:ea typeface="楷体" panose="02010609060101010101" pitchFamily="49" charset="-122"/>
                <a:cs typeface="楷体_GB2312"/>
              </a:rPr>
              <a:t>5</a:t>
            </a:r>
            <a:r>
              <a:rPr lang="zh-CN" altLang="en-US" sz="2400" b="0" dirty="0">
                <a:solidFill>
                  <a:schemeClr val="tx1"/>
                </a:solidFill>
                <a:latin typeface="楷体" panose="02010609060101010101" pitchFamily="49" charset="-122"/>
                <a:ea typeface="楷体" panose="02010609060101010101" pitchFamily="49" charset="-122"/>
                <a:cs typeface="楷体_GB2312"/>
              </a:rPr>
              <a:t>种形式</a:t>
            </a:r>
            <a:r>
              <a:rPr lang="zh-CN" altLang="en-US" sz="2400" b="0" dirty="0">
                <a:solidFill>
                  <a:srgbClr val="FF0000"/>
                </a:solidFill>
                <a:latin typeface="楷体" panose="02010609060101010101" pitchFamily="49" charset="-122"/>
                <a:ea typeface="楷体" panose="02010609060101010101" pitchFamily="49" charset="-122"/>
                <a:cs typeface="楷体_GB2312"/>
              </a:rPr>
              <a:t>（见</a:t>
            </a:r>
            <a:r>
              <a:rPr lang="en-US" altLang="zh-CN" sz="2400" b="0" dirty="0">
                <a:solidFill>
                  <a:srgbClr val="FF0000"/>
                </a:solidFill>
                <a:latin typeface="楷体" panose="02010609060101010101" pitchFamily="49" charset="-122"/>
                <a:ea typeface="楷体" panose="02010609060101010101" pitchFamily="49" charset="-122"/>
                <a:cs typeface="楷体_GB2312"/>
              </a:rPr>
              <a:t>P160</a:t>
            </a:r>
            <a:r>
              <a:rPr lang="zh-CN" altLang="en-US" sz="2400" b="0" dirty="0">
                <a:solidFill>
                  <a:srgbClr val="FF0000"/>
                </a:solidFill>
                <a:latin typeface="楷体" panose="02010609060101010101" pitchFamily="49" charset="-122"/>
                <a:ea typeface="楷体" panose="02010609060101010101" pitchFamily="49" charset="-122"/>
                <a:cs typeface="楷体_GB2312"/>
              </a:rPr>
              <a:t>）</a:t>
            </a:r>
            <a:endParaRPr lang="en-US" altLang="zh-CN" sz="2400" b="0" dirty="0">
              <a:solidFill>
                <a:srgbClr val="FF0000"/>
              </a:solidFill>
              <a:latin typeface="楷体" panose="02010609060101010101" pitchFamily="49" charset="-122"/>
              <a:ea typeface="楷体" panose="02010609060101010101" pitchFamily="49" charset="-122"/>
              <a:cs typeface="楷体_GB2312"/>
            </a:endParaRPr>
          </a:p>
          <a:p>
            <a:pPr marL="609600" indent="-609600" eaLnBrk="1" hangingPunct="1">
              <a:lnSpc>
                <a:spcPct val="150000"/>
              </a:lnSpc>
              <a:spcBef>
                <a:spcPct val="20000"/>
              </a:spcBef>
              <a:buClr>
                <a:schemeClr val="tx2"/>
              </a:buClr>
              <a:defRPr/>
            </a:pPr>
            <a:r>
              <a:rPr lang="zh-CN" altLang="en-US" sz="2400" dirty="0">
                <a:solidFill>
                  <a:srgbClr val="000000"/>
                </a:solidFill>
                <a:latin typeface="楷体" panose="02010609060101010101" pitchFamily="49" charset="-122"/>
                <a:ea typeface="楷体" panose="02010609060101010101" pitchFamily="49" charset="-122"/>
                <a:cs typeface="楷体_GB2312"/>
              </a:rPr>
              <a:t>格式：</a:t>
            </a:r>
            <a:r>
              <a:rPr lang="en-US" altLang="zh-CN" sz="2400" b="0" dirty="0">
                <a:solidFill>
                  <a:srgbClr val="FF0000"/>
                </a:solidFill>
                <a:latin typeface="楷体" panose="02010609060101010101" pitchFamily="49" charset="-122"/>
                <a:ea typeface="楷体" panose="02010609060101010101" pitchFamily="49" charset="-122"/>
                <a:cs typeface="楷体_GB2312"/>
              </a:rPr>
              <a:t>ADC  </a:t>
            </a:r>
            <a:r>
              <a:rPr lang="en-US" altLang="zh-CN" sz="2400" b="0" dirty="0" err="1">
                <a:solidFill>
                  <a:srgbClr val="FF0000"/>
                </a:solidFill>
                <a:latin typeface="楷体" panose="02010609060101010101" pitchFamily="49" charset="-122"/>
                <a:ea typeface="楷体" panose="02010609060101010101" pitchFamily="49" charset="-122"/>
                <a:cs typeface="楷体_GB2312"/>
              </a:rPr>
              <a:t>dest</a:t>
            </a:r>
            <a:r>
              <a:rPr lang="zh-CN" altLang="en-US" sz="2400" b="0" dirty="0">
                <a:solidFill>
                  <a:srgbClr val="FF0000"/>
                </a:solidFill>
                <a:latin typeface="楷体" panose="02010609060101010101" pitchFamily="49" charset="-122"/>
                <a:ea typeface="楷体" panose="02010609060101010101" pitchFamily="49" charset="-122"/>
                <a:cs typeface="楷体_GB2312"/>
              </a:rPr>
              <a:t>，</a:t>
            </a:r>
            <a:r>
              <a:rPr lang="en-US" altLang="zh-CN" sz="2400" b="0" dirty="0">
                <a:solidFill>
                  <a:srgbClr val="FF0000"/>
                </a:solidFill>
                <a:latin typeface="楷体" panose="02010609060101010101" pitchFamily="49" charset="-122"/>
                <a:ea typeface="楷体" panose="02010609060101010101" pitchFamily="49" charset="-122"/>
                <a:cs typeface="楷体_GB2312"/>
              </a:rPr>
              <a:t>source</a:t>
            </a:r>
          </a:p>
          <a:p>
            <a:pPr marL="609600" indent="-609600" eaLnBrk="1" hangingPunct="1">
              <a:lnSpc>
                <a:spcPct val="150000"/>
              </a:lnSpc>
              <a:spcBef>
                <a:spcPct val="20000"/>
              </a:spcBef>
              <a:buClr>
                <a:schemeClr val="tx2"/>
              </a:buClr>
              <a:defRPr/>
            </a:pPr>
            <a:r>
              <a:rPr lang="zh-CN" altLang="en-US" sz="2400" dirty="0">
                <a:solidFill>
                  <a:schemeClr val="tx1"/>
                </a:solidFill>
                <a:latin typeface="楷体" panose="02010609060101010101" pitchFamily="49" charset="-122"/>
                <a:ea typeface="楷体" panose="02010609060101010101" pitchFamily="49" charset="-122"/>
                <a:cs typeface="楷体_GB2312"/>
              </a:rPr>
              <a:t>操作：</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en-US" altLang="zh-CN" sz="2400" b="0" dirty="0">
                <a:solidFill>
                  <a:srgbClr val="003399"/>
                </a:solidFill>
                <a:latin typeface="楷体" panose="02010609060101010101" pitchFamily="49" charset="-122"/>
                <a:ea typeface="楷体" panose="02010609060101010101" pitchFamily="49" charset="-122"/>
                <a:cs typeface="楷体_GB2312"/>
              </a:rPr>
              <a:t> + source + </a:t>
            </a:r>
            <a:r>
              <a:rPr lang="en-US" altLang="zh-CN" sz="2400" b="0" dirty="0" err="1">
                <a:solidFill>
                  <a:srgbClr val="003399"/>
                </a:solidFill>
                <a:latin typeface="楷体" panose="02010609060101010101" pitchFamily="49" charset="-122"/>
                <a:ea typeface="楷体" panose="02010609060101010101" pitchFamily="49" charset="-122"/>
                <a:cs typeface="楷体_GB2312"/>
              </a:rPr>
              <a:t>CF→dest</a:t>
            </a:r>
            <a:r>
              <a:rPr lang="en-US" altLang="zh-CN" sz="2400" b="0" dirty="0">
                <a:solidFill>
                  <a:srgbClr val="003399"/>
                </a:solidFill>
                <a:latin typeface="楷体" panose="02010609060101010101" pitchFamily="49" charset="-122"/>
                <a:ea typeface="楷体" panose="02010609060101010101" pitchFamily="49" charset="-122"/>
                <a:cs typeface="楷体_GB2312"/>
              </a:rPr>
              <a:t>  </a:t>
            </a:r>
            <a:r>
              <a:rPr lang="zh-CN" altLang="en-US" sz="2400" b="0" dirty="0">
                <a:solidFill>
                  <a:srgbClr val="000099"/>
                </a:solidFill>
                <a:latin typeface="楷体" panose="02010609060101010101" pitchFamily="49" charset="-122"/>
                <a:ea typeface="楷体" panose="02010609060101010101" pitchFamily="49" charset="-122"/>
                <a:cs typeface="楷体_GB2312"/>
              </a:rPr>
              <a:t>；</a:t>
            </a:r>
            <a:r>
              <a:rPr kumimoji="1" lang="en-US" altLang="zh-CN" sz="2400" b="0" dirty="0">
                <a:solidFill>
                  <a:srgbClr val="000099"/>
                </a:solidFill>
                <a:latin typeface="楷体" panose="02010609060101010101" pitchFamily="49" charset="-122"/>
                <a:ea typeface="楷体" panose="02010609060101010101" pitchFamily="49" charset="-122"/>
                <a:cs typeface="楷体_GB2312"/>
              </a:rPr>
              <a:t>CF</a:t>
            </a:r>
            <a:r>
              <a:rPr kumimoji="1" lang="zh-CN" altLang="en-US" sz="2400" b="0" dirty="0">
                <a:solidFill>
                  <a:srgbClr val="000099"/>
                </a:solidFill>
                <a:latin typeface="楷体" panose="02010609060101010101" pitchFamily="49" charset="-122"/>
                <a:ea typeface="楷体" panose="02010609060101010101" pitchFamily="49" charset="-122"/>
                <a:cs typeface="楷体_GB2312"/>
              </a:rPr>
              <a:t>为前面指令产生的</a:t>
            </a:r>
            <a:r>
              <a:rPr kumimoji="1" lang="en-US" altLang="zh-CN" sz="2400" b="0" dirty="0">
                <a:solidFill>
                  <a:srgbClr val="000099"/>
                </a:solidFill>
                <a:latin typeface="楷体" panose="02010609060101010101" pitchFamily="49" charset="-122"/>
                <a:ea typeface="楷体" panose="02010609060101010101" pitchFamily="49" charset="-122"/>
                <a:cs typeface="楷体_GB2312"/>
              </a:rPr>
              <a:t>CF</a:t>
            </a:r>
            <a:endParaRPr lang="zh-CN" altLang="en-US" sz="2400" b="0" dirty="0">
              <a:solidFill>
                <a:srgbClr val="000099"/>
              </a:solidFill>
              <a:latin typeface="楷体" panose="02010609060101010101" pitchFamily="49" charset="-122"/>
              <a:ea typeface="楷体" panose="02010609060101010101" pitchFamily="49" charset="-122"/>
              <a:cs typeface="楷体_GB2312"/>
            </a:endParaRPr>
          </a:p>
        </p:txBody>
      </p:sp>
    </p:spTree>
    <p:extLst>
      <p:ext uri="{BB962C8B-B14F-4D97-AF65-F5344CB8AC3E}">
        <p14:creationId xmlns:p14="http://schemas.microsoft.com/office/powerpoint/2010/main" val="20286827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07950" y="956863"/>
            <a:ext cx="8867374" cy="15827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b="1"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个</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位无符号数</a:t>
            </a:r>
            <a:r>
              <a:rPr lang="en-US" altLang="zh-CN" sz="2400" dirty="0">
                <a:latin typeface="楷体" panose="02010609060101010101" pitchFamily="49" charset="-122"/>
                <a:ea typeface="楷体" panose="02010609060101010101" pitchFamily="49" charset="-122"/>
              </a:rPr>
              <a:t>12345678H</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8765ABCDH</a:t>
            </a:r>
            <a:r>
              <a:rPr lang="zh-CN" altLang="en-US" sz="2400" dirty="0">
                <a:latin typeface="楷体" panose="02010609060101010101" pitchFamily="49" charset="-122"/>
                <a:ea typeface="楷体" panose="02010609060101010101" pitchFamily="49" charset="-122"/>
              </a:rPr>
              <a:t>和 </a:t>
            </a:r>
            <a:r>
              <a:rPr lang="en-US" altLang="zh-CN" sz="2400" dirty="0">
                <a:latin typeface="楷体" panose="02010609060101010101" pitchFamily="49" charset="-122"/>
                <a:ea typeface="楷体" panose="02010609060101010101" pitchFamily="49" charset="-122"/>
              </a:rPr>
              <a:t>2468FEDCH</a:t>
            </a:r>
            <a:r>
              <a:rPr lang="zh-CN" altLang="en-US" sz="2400" dirty="0">
                <a:latin typeface="楷体" panose="02010609060101010101" pitchFamily="49" charset="-122"/>
                <a:ea typeface="楷体" panose="02010609060101010101" pitchFamily="49" charset="-122"/>
              </a:rPr>
              <a:t>相加，其和（仍为</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位无符号数）存入双字变量</a:t>
            </a:r>
            <a:r>
              <a:rPr lang="en-US" altLang="zh-CN" sz="2400" dirty="0">
                <a:latin typeface="楷体" panose="02010609060101010101" pitchFamily="49" charset="-122"/>
                <a:ea typeface="楷体" panose="02010609060101010101" pitchFamily="49" charset="-122"/>
              </a:rPr>
              <a:t>EQ</a:t>
            </a:r>
            <a:r>
              <a:rPr lang="zh-CN" altLang="en-US" sz="2400" dirty="0">
                <a:latin typeface="楷体" panose="02010609060101010101" pitchFamily="49" charset="-122"/>
                <a:ea typeface="楷体" panose="02010609060101010101" pitchFamily="49" charset="-122"/>
              </a:rPr>
              <a:t>中。用</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位通用寄存器编写的程序段</a:t>
            </a:r>
          </a:p>
        </p:txBody>
      </p:sp>
      <p:sp>
        <p:nvSpPr>
          <p:cNvPr id="3" name="矩形 2"/>
          <p:cNvSpPr>
            <a:spLocks noChangeArrowheads="1"/>
          </p:cNvSpPr>
          <p:nvPr/>
        </p:nvSpPr>
        <p:spPr bwMode="auto">
          <a:xfrm>
            <a:off x="107950" y="2367734"/>
            <a:ext cx="8351838" cy="459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Wingdings" panose="05000000000000000000" pitchFamily="2" charset="2"/>
              <a:buNone/>
            </a:pPr>
            <a:r>
              <a:rPr lang="zh-CN" altLang="en-US" sz="2600" dirty="0">
                <a:latin typeface="楷体" panose="02010609060101010101" pitchFamily="49" charset="-122"/>
                <a:ea typeface="楷体" panose="02010609060101010101" pitchFamily="49" charset="-122"/>
              </a:rPr>
              <a:t>        </a:t>
            </a:r>
            <a:r>
              <a:rPr lang="en-US" altLang="zh-CN" sz="2600" dirty="0">
                <a:latin typeface="楷体" panose="02010609060101010101" pitchFamily="49" charset="-122"/>
                <a:ea typeface="楷体" panose="02010609060101010101" pitchFamily="49" charset="-122"/>
              </a:rPr>
              <a:t>EQ  DD  0</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MOV DX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1234H</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MOV AX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5678H</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ADD AX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0ABCDH </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ADC DX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8765H</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ADD AX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0FEDCH</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ADC DX</a:t>
            </a:r>
            <a:r>
              <a:rPr lang="zh-CN" altLang="en-US" sz="2600" b="0" dirty="0">
                <a:latin typeface="楷体" panose="02010609060101010101" pitchFamily="49" charset="-122"/>
                <a:ea typeface="楷体" panose="02010609060101010101" pitchFamily="49" charset="-122"/>
              </a:rPr>
              <a:t>，</a:t>
            </a:r>
            <a:r>
              <a:rPr lang="en-US" altLang="zh-CN" sz="2600" b="0" dirty="0">
                <a:latin typeface="楷体" panose="02010609060101010101" pitchFamily="49" charset="-122"/>
                <a:ea typeface="楷体" panose="02010609060101010101" pitchFamily="49" charset="-122"/>
              </a:rPr>
              <a:t>2468H</a:t>
            </a:r>
          </a:p>
          <a:p>
            <a:pPr eaLnBrk="1" hangingPunct="1">
              <a:lnSpc>
                <a:spcPct val="125000"/>
              </a:lnSpc>
              <a:spcBef>
                <a:spcPct val="0"/>
              </a:spcBef>
              <a:buFont typeface="Wingdings" panose="05000000000000000000" pitchFamily="2" charset="2"/>
              <a:buNone/>
            </a:pPr>
            <a:r>
              <a:rPr lang="en-US" altLang="zh-CN" sz="2600" b="0" dirty="0">
                <a:latin typeface="楷体" panose="02010609060101010101" pitchFamily="49" charset="-122"/>
                <a:ea typeface="楷体" panose="02010609060101010101" pitchFamily="49" charset="-122"/>
              </a:rPr>
              <a:t>        MOV WORD PTR EQ, AX</a:t>
            </a:r>
          </a:p>
          <a:p>
            <a:pPr>
              <a:lnSpc>
                <a:spcPct val="125000"/>
              </a:lnSpc>
              <a:spcBef>
                <a:spcPct val="0"/>
              </a:spcBef>
              <a:buFontTx/>
              <a:buNone/>
            </a:pPr>
            <a:r>
              <a:rPr lang="en-US" altLang="zh-CN" sz="2600" b="0" dirty="0">
                <a:latin typeface="楷体" panose="02010609060101010101" pitchFamily="49" charset="-122"/>
                <a:ea typeface="楷体" panose="02010609060101010101" pitchFamily="49" charset="-122"/>
              </a:rPr>
              <a:t>        MOV WORD PTR EQ+2, DX</a:t>
            </a:r>
            <a:endParaRPr lang="zh-CN" altLang="en-US" sz="26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645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1639" y="1214437"/>
            <a:ext cx="8451542" cy="5643563"/>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1200"/>
              </a:spcAft>
              <a:buFont typeface="Arial" panose="020B0604020202020204" pitchFamily="34" charset="0"/>
              <a:buNone/>
            </a:pP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3</a:t>
            </a:r>
            <a:r>
              <a:rPr lang="zh-CN" altLang="en-US" sz="2400" dirty="0">
                <a:solidFill>
                  <a:srgbClr val="000000"/>
                </a:solidFill>
                <a:latin typeface="楷体" panose="02010609060101010101" pitchFamily="49" charset="-122"/>
                <a:ea typeface="楷体" panose="02010609060101010101" pitchFamily="49" charset="-122"/>
              </a:rPr>
              <a:t>）增量指令</a:t>
            </a:r>
            <a:r>
              <a:rPr lang="en-US" altLang="zh-CN" sz="2400" dirty="0">
                <a:solidFill>
                  <a:srgbClr val="000000"/>
                </a:solidFill>
                <a:latin typeface="楷体" panose="02010609060101010101" pitchFamily="49" charset="-122"/>
                <a:ea typeface="楷体" panose="02010609060101010101" pitchFamily="49" charset="-122"/>
              </a:rPr>
              <a:t>INC</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Increment destination by one</a:t>
            </a:r>
            <a:r>
              <a:rPr lang="zh-CN" altLang="en-US" sz="2400" dirty="0">
                <a:solidFill>
                  <a:srgbClr val="000000"/>
                </a:solidFill>
                <a:latin typeface="楷体" panose="02010609060101010101" pitchFamily="49" charset="-122"/>
                <a:ea typeface="楷体" panose="02010609060101010101" pitchFamily="49" charset="-122"/>
              </a:rPr>
              <a:t>）    </a:t>
            </a:r>
            <a:endParaRPr lang="en-US" altLang="zh-CN" sz="2400" dirty="0">
              <a:solidFill>
                <a:srgbClr val="000000"/>
              </a:solidFill>
              <a:latin typeface="楷体" panose="02010609060101010101" pitchFamily="49" charset="-122"/>
              <a:ea typeface="楷体" panose="02010609060101010101" pitchFamily="49" charset="-122"/>
            </a:endParaRPr>
          </a:p>
          <a:p>
            <a:pPr>
              <a:lnSpc>
                <a:spcPct val="125000"/>
              </a:lnSpc>
              <a:spcBef>
                <a:spcPct val="0"/>
              </a:spcBef>
              <a:buFont typeface="Arial" panose="020B0604020202020204" pitchFamily="34" charset="0"/>
              <a:buNone/>
            </a:pPr>
            <a:r>
              <a:rPr lang="zh-CN" altLang="en-US" sz="2400" dirty="0">
                <a:solidFill>
                  <a:srgbClr val="000000"/>
                </a:solidFill>
                <a:latin typeface="楷体" panose="02010609060101010101" pitchFamily="49" charset="-122"/>
                <a:ea typeface="楷体" panose="02010609060101010101" pitchFamily="49" charset="-122"/>
              </a:rPr>
              <a:t>    格式：</a:t>
            </a:r>
            <a:r>
              <a:rPr lang="en-US" altLang="zh-CN" sz="2400" dirty="0">
                <a:solidFill>
                  <a:srgbClr val="FF0000"/>
                </a:solidFill>
                <a:latin typeface="楷体" panose="02010609060101010101" pitchFamily="49" charset="-122"/>
                <a:ea typeface="楷体" panose="02010609060101010101" pitchFamily="49" charset="-122"/>
              </a:rPr>
              <a:t>INC  </a:t>
            </a:r>
            <a:r>
              <a:rPr lang="en-US" altLang="zh-CN" sz="2400" dirty="0" err="1">
                <a:solidFill>
                  <a:srgbClr val="FF0000"/>
                </a:solidFill>
                <a:latin typeface="楷体" panose="02010609060101010101" pitchFamily="49" charset="-122"/>
                <a:ea typeface="楷体" panose="02010609060101010101" pitchFamily="49" charset="-122"/>
              </a:rPr>
              <a:t>dest</a:t>
            </a:r>
            <a:endParaRPr lang="en-US" altLang="zh-CN" sz="2400" dirty="0">
              <a:solidFill>
                <a:srgbClr val="FF0000"/>
              </a:solidFill>
              <a:latin typeface="楷体" panose="02010609060101010101" pitchFamily="49" charset="-122"/>
              <a:ea typeface="楷体" panose="02010609060101010101" pitchFamily="49" charset="-122"/>
            </a:endParaRPr>
          </a:p>
          <a:p>
            <a:pPr>
              <a:lnSpc>
                <a:spcPct val="125000"/>
              </a:lnSpc>
              <a:spcBef>
                <a:spcPct val="0"/>
              </a:spcBef>
              <a:spcAft>
                <a:spcPts val="1200"/>
              </a:spcAft>
              <a:buFont typeface="Arial" panose="020B0604020202020204" pitchFamily="34" charset="0"/>
              <a:buNone/>
            </a:pPr>
            <a:r>
              <a:rPr lang="zh-CN" altLang="en-US" sz="2400" dirty="0">
                <a:solidFill>
                  <a:srgbClr val="000000"/>
                </a:solidFill>
                <a:latin typeface="楷体" panose="02010609060101010101" pitchFamily="49" charset="-122"/>
                <a:ea typeface="楷体" panose="02010609060101010101" pitchFamily="49" charset="-122"/>
              </a:rPr>
              <a:t>    操作：</a:t>
            </a:r>
            <a:r>
              <a:rPr lang="en-US" altLang="zh-CN" sz="2400" dirty="0">
                <a:solidFill>
                  <a:srgbClr val="000000"/>
                </a:solidFill>
                <a:latin typeface="楷体" panose="02010609060101010101" pitchFamily="49" charset="-122"/>
                <a:ea typeface="楷体" panose="02010609060101010101" pitchFamily="49" charset="-122"/>
              </a:rPr>
              <a:t>dest+1→dest</a:t>
            </a:r>
            <a:r>
              <a:rPr lang="en-US" altLang="zh-CN" sz="2400" dirty="0">
                <a:solidFill>
                  <a:schemeClr val="tx2"/>
                </a:solidFill>
                <a:latin typeface="楷体" panose="02010609060101010101" pitchFamily="49" charset="-122"/>
                <a:ea typeface="楷体" panose="02010609060101010101" pitchFamily="49" charset="-122"/>
              </a:rPr>
              <a:t> </a:t>
            </a:r>
          </a:p>
          <a:p>
            <a:pPr>
              <a:lnSpc>
                <a:spcPct val="125000"/>
              </a:lnSpc>
              <a:spcBef>
                <a:spcPct val="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   </a:t>
            </a:r>
            <a:r>
              <a:rPr lang="en-US" altLang="zh-CN" sz="2400" dirty="0">
                <a:solidFill>
                  <a:srgbClr val="000099"/>
                </a:solidFill>
                <a:latin typeface="楷体" panose="02010609060101010101" pitchFamily="49" charset="-122"/>
                <a:ea typeface="楷体" panose="02010609060101010101" pitchFamily="49" charset="-122"/>
              </a:rPr>
              <a:t>MOV  BX,  1</a:t>
            </a:r>
          </a:p>
          <a:p>
            <a:pPr>
              <a:lnSpc>
                <a:spcPct val="125000"/>
              </a:lnSpc>
              <a:spcBef>
                <a:spcPct val="0"/>
              </a:spcBef>
              <a:buFont typeface="Arial" panose="020B0604020202020204" pitchFamily="34" charset="0"/>
              <a:buNone/>
            </a:pPr>
            <a:r>
              <a:rPr lang="en-US" altLang="zh-CN" sz="2400" dirty="0">
                <a:solidFill>
                  <a:srgbClr val="000099"/>
                </a:solidFill>
                <a:latin typeface="楷体" panose="02010609060101010101" pitchFamily="49" charset="-122"/>
                <a:ea typeface="楷体" panose="02010609060101010101" pitchFamily="49" charset="-122"/>
              </a:rPr>
              <a:t>       INC   BX;</a:t>
            </a: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BX=0002H</a:t>
            </a:r>
          </a:p>
          <a:p>
            <a:pPr>
              <a:lnSpc>
                <a:spcPct val="125000"/>
              </a:lnSpc>
              <a:spcBef>
                <a:spcPct val="0"/>
              </a:spcBef>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该指令</a:t>
            </a:r>
            <a:r>
              <a:rPr lang="zh-CN" altLang="en-US" sz="2400" dirty="0">
                <a:solidFill>
                  <a:srgbClr val="FF0000"/>
                </a:solidFill>
                <a:latin typeface="楷体" panose="02010609060101010101" pitchFamily="49" charset="-122"/>
                <a:ea typeface="楷体" panose="02010609060101010101" pitchFamily="49" charset="-122"/>
              </a:rPr>
              <a:t>不影响</a:t>
            </a:r>
            <a:r>
              <a:rPr lang="en-US" altLang="zh-CN" sz="2400" dirty="0">
                <a:solidFill>
                  <a:srgbClr val="FF0000"/>
                </a:solidFill>
                <a:latin typeface="楷体" panose="02010609060101010101" pitchFamily="49" charset="-122"/>
                <a:ea typeface="楷体" panose="02010609060101010101" pitchFamily="49" charset="-122"/>
              </a:rPr>
              <a:t>CF</a:t>
            </a:r>
            <a:r>
              <a:rPr lang="zh-CN" altLang="en-US" sz="2400" dirty="0">
                <a:latin typeface="楷体" panose="02010609060101010101" pitchFamily="49" charset="-122"/>
                <a:ea typeface="楷体" panose="02010609060101010101" pitchFamily="49" charset="-122"/>
              </a:rPr>
              <a:t>，对其它标志位的影响同</a:t>
            </a:r>
            <a:r>
              <a:rPr lang="en-US" altLang="zh-CN" sz="2400" dirty="0">
                <a:latin typeface="楷体" panose="02010609060101010101" pitchFamily="49" charset="-122"/>
                <a:ea typeface="楷体" panose="02010609060101010101" pitchFamily="49" charset="-122"/>
              </a:rPr>
              <a:t> ADD dest,1</a:t>
            </a:r>
          </a:p>
          <a:p>
            <a:pPr>
              <a:lnSpc>
                <a:spcPct val="125000"/>
              </a:lnSpc>
              <a:spcBef>
                <a:spcPct val="0"/>
              </a:spcBef>
              <a:spcAft>
                <a:spcPts val="1200"/>
              </a:spcAft>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操作数只能为</a:t>
            </a:r>
            <a:r>
              <a:rPr lang="en-US" altLang="zh-CN" sz="2400" dirty="0">
                <a:latin typeface="楷体" panose="02010609060101010101" pitchFamily="49" charset="-122"/>
                <a:ea typeface="楷体" panose="02010609060101010101" pitchFamily="49" charset="-122"/>
              </a:rPr>
              <a:t>REG</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MEM</a:t>
            </a:r>
            <a:r>
              <a:rPr lang="zh-CN" altLang="en-US" sz="2400" dirty="0">
                <a:latin typeface="楷体" panose="02010609060101010101" pitchFamily="49" charset="-122"/>
                <a:ea typeface="楷体" panose="02010609060101010101" pitchFamily="49" charset="-122"/>
              </a:rPr>
              <a:t>，类型要明确。</a:t>
            </a:r>
          </a:p>
          <a:p>
            <a:pPr>
              <a:lnSpc>
                <a:spcPct val="125000"/>
              </a:lnSpc>
              <a:spcBef>
                <a:spcPct val="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   </a:t>
            </a:r>
            <a:r>
              <a:rPr lang="en-US" altLang="zh-CN" sz="2400" dirty="0">
                <a:solidFill>
                  <a:srgbClr val="000099"/>
                </a:solidFill>
                <a:latin typeface="楷体" panose="02010609060101010101" pitchFamily="49" charset="-122"/>
                <a:ea typeface="楷体" panose="02010609060101010101" pitchFamily="49" charset="-122"/>
              </a:rPr>
              <a:t>INC  CL      √</a:t>
            </a:r>
          </a:p>
          <a:p>
            <a:pPr>
              <a:lnSpc>
                <a:spcPct val="125000"/>
              </a:lnSpc>
              <a:spcBef>
                <a:spcPct val="0"/>
              </a:spcBef>
              <a:buFont typeface="Arial" panose="020B0604020202020204" pitchFamily="34" charset="0"/>
              <a:buNone/>
            </a:pPr>
            <a:r>
              <a:rPr lang="en-US" altLang="zh-CN" sz="2400" dirty="0">
                <a:solidFill>
                  <a:srgbClr val="000099"/>
                </a:solidFill>
                <a:latin typeface="楷体" panose="02010609060101010101" pitchFamily="49" charset="-122"/>
                <a:ea typeface="楷体" panose="02010609060101010101" pitchFamily="49" charset="-122"/>
              </a:rPr>
              <a:t>       INC  [SI]</a:t>
            </a:r>
            <a:r>
              <a:rPr lang="en-US" altLang="zh-CN" sz="2400" dirty="0">
                <a:solidFill>
                  <a:srgbClr val="0070C0"/>
                </a:solidFill>
                <a:latin typeface="楷体" panose="02010609060101010101" pitchFamily="49" charset="-122"/>
                <a:ea typeface="楷体" panose="02010609060101010101" pitchFamily="49" charset="-122"/>
              </a:rPr>
              <a:t>    </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类型不明确</a:t>
            </a:r>
            <a:r>
              <a:rPr lang="en-US" altLang="zh-CN" sz="2400" dirty="0">
                <a:solidFill>
                  <a:srgbClr val="000099"/>
                </a:solidFill>
                <a:latin typeface="楷体" panose="02010609060101010101" pitchFamily="49" charset="-122"/>
                <a:ea typeface="楷体" panose="02010609060101010101" pitchFamily="49" charset="-122"/>
                <a:sym typeface="Wingdings" panose="05000000000000000000" pitchFamily="2" charset="2"/>
              </a:rPr>
              <a:t>→ INC BYTE PTR[SI]</a:t>
            </a:r>
            <a:r>
              <a:rPr lang="en-US" altLang="zh-CN" sz="2400" dirty="0">
                <a:solidFill>
                  <a:srgbClr val="000099"/>
                </a:solidFill>
                <a:latin typeface="楷体" panose="02010609060101010101" pitchFamily="49" charset="-122"/>
                <a:ea typeface="楷体" panose="02010609060101010101" pitchFamily="49" charset="-122"/>
              </a:rPr>
              <a:t> </a:t>
            </a:r>
          </a:p>
          <a:p>
            <a:pPr>
              <a:lnSpc>
                <a:spcPct val="125000"/>
              </a:lnSpc>
              <a:spcBef>
                <a:spcPct val="0"/>
              </a:spcBef>
              <a:spcAft>
                <a:spcPts val="1200"/>
              </a:spcAft>
              <a:buFont typeface="Arial" panose="020B0604020202020204" pitchFamily="34" charset="0"/>
              <a:buNone/>
            </a:pPr>
            <a:r>
              <a:rPr lang="en-US" altLang="zh-CN" sz="2400" dirty="0">
                <a:solidFill>
                  <a:srgbClr val="000099"/>
                </a:solidFill>
                <a:latin typeface="楷体" panose="02010609060101010101" pitchFamily="49" charset="-122"/>
                <a:ea typeface="楷体" panose="02010609060101010101" pitchFamily="49" charset="-122"/>
              </a:rPr>
              <a:t>       INC  2000H</a:t>
            </a:r>
            <a:r>
              <a:rPr lang="en-US" altLang="zh-CN" sz="2400" dirty="0">
                <a:solidFill>
                  <a:srgbClr val="0070C0"/>
                </a:solidFill>
                <a:latin typeface="楷体" panose="02010609060101010101" pitchFamily="49" charset="-122"/>
                <a:ea typeface="楷体" panose="02010609060101010101" pitchFamily="49" charset="-122"/>
              </a:rPr>
              <a:t>   </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立即数没有类型</a:t>
            </a:r>
            <a:endParaRPr lang="en-US" altLang="zh-CN" sz="2400" dirty="0">
              <a:solidFill>
                <a:srgbClr val="FF0000"/>
              </a:solidFill>
              <a:latin typeface="楷体" panose="02010609060101010101" pitchFamily="49" charset="-122"/>
              <a:ea typeface="楷体" panose="02010609060101010101" pitchFamily="49" charset="-122"/>
            </a:endParaRPr>
          </a:p>
          <a:p>
            <a:pPr>
              <a:lnSpc>
                <a:spcPct val="125000"/>
              </a:lnSpc>
              <a:spcBef>
                <a:spcPct val="0"/>
              </a:spcBef>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该指令常用于修改偏移地址和计数次数</a:t>
            </a:r>
          </a:p>
        </p:txBody>
      </p:sp>
    </p:spTree>
    <p:extLst>
      <p:ext uri="{BB962C8B-B14F-4D97-AF65-F5344CB8AC3E}">
        <p14:creationId xmlns:p14="http://schemas.microsoft.com/office/powerpoint/2010/main" val="3689770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12454D-AF52-4CD5-B14A-D488E622D565}"/>
              </a:ext>
            </a:extLst>
          </p:cNvPr>
          <p:cNvSpPr/>
          <p:nvPr/>
        </p:nvSpPr>
        <p:spPr>
          <a:xfrm>
            <a:off x="364401" y="973909"/>
            <a:ext cx="8602045" cy="5780044"/>
          </a:xfrm>
          <a:prstGeom prst="rect">
            <a:avLst/>
          </a:prstGeom>
        </p:spPr>
        <p:txBody>
          <a:bodyPr wrap="square">
            <a:spAutoFit/>
          </a:bodyPr>
          <a:lstStyle/>
          <a:p>
            <a:pPr marL="514350" indent="-514350" eaLnBrk="1" hangingPunct="1">
              <a:lnSpc>
                <a:spcPct val="140000"/>
              </a:lnSpc>
              <a:buFontTx/>
              <a:buAutoNum type="arabicPeriod" startAt="2"/>
              <a:defRPr/>
            </a:pPr>
            <a:r>
              <a:rPr lang="zh-CN" altLang="en-US" sz="2400" dirty="0">
                <a:solidFill>
                  <a:schemeClr val="tx1"/>
                </a:solidFill>
                <a:latin typeface="楷体" panose="02010609060101010101" pitchFamily="49" charset="-122"/>
                <a:ea typeface="楷体" panose="02010609060101010101" pitchFamily="49" charset="-122"/>
                <a:cs typeface="楷体_GB2312"/>
              </a:rPr>
              <a:t>减法类指令</a:t>
            </a:r>
            <a:endParaRPr lang="en-US" altLang="zh-CN" sz="2400" dirty="0">
              <a:solidFill>
                <a:schemeClr val="tx1"/>
              </a:solidFill>
              <a:latin typeface="楷体" panose="02010609060101010101" pitchFamily="49" charset="-122"/>
              <a:ea typeface="楷体" panose="02010609060101010101" pitchFamily="49" charset="-122"/>
              <a:cs typeface="楷体_GB2312"/>
            </a:endParaRPr>
          </a:p>
          <a:p>
            <a:pPr marL="514350" indent="-514350" eaLnBrk="1" hangingPunct="1">
              <a:lnSpc>
                <a:spcPct val="140000"/>
              </a:lnSpc>
              <a:defRPr/>
            </a:pPr>
            <a:r>
              <a:rPr lang="zh-CN" altLang="en-US" sz="2400" b="0" dirty="0">
                <a:solidFill>
                  <a:schemeClr val="tx1"/>
                </a:solidFill>
                <a:latin typeface="楷体" panose="02010609060101010101" pitchFamily="49" charset="-122"/>
                <a:ea typeface="楷体" panose="02010609060101010101" pitchFamily="49" charset="-122"/>
                <a:cs typeface="楷体_GB2312"/>
              </a:rPr>
              <a:t>（</a:t>
            </a:r>
            <a:r>
              <a:rPr lang="en-US" altLang="zh-CN" sz="2400" b="0" dirty="0">
                <a:solidFill>
                  <a:schemeClr val="tx1"/>
                </a:solidFill>
                <a:latin typeface="楷体" panose="02010609060101010101" pitchFamily="49" charset="-122"/>
                <a:ea typeface="楷体" panose="02010609060101010101" pitchFamily="49" charset="-122"/>
                <a:cs typeface="楷体_GB2312"/>
              </a:rPr>
              <a:t>1</a:t>
            </a:r>
            <a:r>
              <a:rPr lang="zh-CN" altLang="en-US" sz="2400" b="0" dirty="0">
                <a:solidFill>
                  <a:schemeClr val="tx1"/>
                </a:solidFill>
                <a:latin typeface="楷体" panose="02010609060101010101" pitchFamily="49" charset="-122"/>
                <a:ea typeface="楷体" panose="02010609060101010101" pitchFamily="49" charset="-122"/>
                <a:cs typeface="楷体_GB2312"/>
              </a:rPr>
              <a:t>） 减法指令</a:t>
            </a:r>
            <a:r>
              <a:rPr lang="en-US" altLang="zh-CN" sz="2400" b="0" dirty="0">
                <a:solidFill>
                  <a:schemeClr val="tx1"/>
                </a:solidFill>
                <a:latin typeface="楷体" panose="02010609060101010101" pitchFamily="49" charset="-122"/>
                <a:ea typeface="楷体" panose="02010609060101010101" pitchFamily="49" charset="-122"/>
                <a:cs typeface="楷体_GB2312"/>
              </a:rPr>
              <a:t>SUB (Subtraction)</a:t>
            </a:r>
          </a:p>
          <a:p>
            <a:pPr eaLnBrk="1" hangingPunct="1">
              <a:lnSpc>
                <a:spcPct val="140000"/>
              </a:lnSpc>
              <a:buClr>
                <a:schemeClr val="tx2"/>
              </a:buClr>
              <a:buFont typeface="Wingdings" pitchFamily="2" charset="2"/>
              <a:buNone/>
              <a:defRPr/>
            </a:pPr>
            <a:r>
              <a:rPr lang="zh-CN" altLang="en-US" sz="2400" b="0" dirty="0">
                <a:solidFill>
                  <a:schemeClr val="tx1"/>
                </a:solidFill>
                <a:latin typeface="楷体" panose="02010609060101010101" pitchFamily="49" charset="-122"/>
                <a:ea typeface="楷体" panose="02010609060101010101" pitchFamily="49" charset="-122"/>
                <a:cs typeface="楷体_GB2312"/>
              </a:rPr>
              <a:t>格式：</a:t>
            </a:r>
            <a:r>
              <a:rPr lang="en-US" altLang="zh-CN" sz="2400" b="0" dirty="0">
                <a:solidFill>
                  <a:srgbClr val="FF0000"/>
                </a:solidFill>
                <a:latin typeface="楷体" panose="02010609060101010101" pitchFamily="49" charset="-122"/>
                <a:ea typeface="楷体" panose="02010609060101010101" pitchFamily="49" charset="-122"/>
                <a:cs typeface="楷体_GB2312"/>
              </a:rPr>
              <a:t>SUB   </a:t>
            </a:r>
            <a:r>
              <a:rPr lang="en-US" altLang="zh-CN" sz="2400" b="0" dirty="0" err="1">
                <a:solidFill>
                  <a:srgbClr val="FF0000"/>
                </a:solidFill>
                <a:latin typeface="楷体" panose="02010609060101010101" pitchFamily="49" charset="-122"/>
                <a:ea typeface="楷体" panose="02010609060101010101" pitchFamily="49" charset="-122"/>
                <a:cs typeface="楷体_GB2312"/>
              </a:rPr>
              <a:t>dest</a:t>
            </a:r>
            <a:r>
              <a:rPr lang="zh-CN" altLang="en-US" sz="2400" b="0" dirty="0">
                <a:solidFill>
                  <a:srgbClr val="FF0000"/>
                </a:solidFill>
                <a:latin typeface="楷体" panose="02010609060101010101" pitchFamily="49" charset="-122"/>
                <a:ea typeface="楷体" panose="02010609060101010101" pitchFamily="49" charset="-122"/>
                <a:cs typeface="楷体_GB2312"/>
              </a:rPr>
              <a:t>，</a:t>
            </a:r>
            <a:r>
              <a:rPr lang="en-US" altLang="zh-CN" sz="2400" b="0" dirty="0">
                <a:solidFill>
                  <a:srgbClr val="FF0000"/>
                </a:solidFill>
                <a:latin typeface="楷体" panose="02010609060101010101" pitchFamily="49" charset="-122"/>
                <a:ea typeface="楷体" panose="02010609060101010101" pitchFamily="49" charset="-122"/>
                <a:cs typeface="楷体_GB2312"/>
              </a:rPr>
              <a:t>source</a:t>
            </a:r>
          </a:p>
          <a:p>
            <a:pPr eaLnBrk="1" hangingPunct="1">
              <a:lnSpc>
                <a:spcPct val="14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楷体_GB2312"/>
              </a:rPr>
              <a:t>操作：</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en-US" altLang="zh-CN" sz="2400" b="0" dirty="0">
                <a:solidFill>
                  <a:srgbClr val="003399"/>
                </a:solidFill>
                <a:latin typeface="楷体" panose="02010609060101010101" pitchFamily="49" charset="-122"/>
                <a:ea typeface="楷体" panose="02010609060101010101" pitchFamily="49" charset="-122"/>
                <a:cs typeface="楷体_GB2312"/>
              </a:rPr>
              <a:t> </a:t>
            </a:r>
            <a:r>
              <a:rPr lang="zh-CN" altLang="en-US" sz="2400" b="0" dirty="0">
                <a:solidFill>
                  <a:srgbClr val="003399"/>
                </a:solidFill>
                <a:latin typeface="楷体" panose="02010609060101010101" pitchFamily="49" charset="-122"/>
                <a:ea typeface="楷体" panose="02010609060101010101" pitchFamily="49" charset="-122"/>
                <a:cs typeface="楷体_GB2312"/>
              </a:rPr>
              <a:t>－</a:t>
            </a:r>
            <a:r>
              <a:rPr lang="en-US" altLang="zh-CN" sz="2400" b="0" dirty="0">
                <a:solidFill>
                  <a:srgbClr val="003399"/>
                </a:solidFill>
                <a:latin typeface="楷体" panose="02010609060101010101" pitchFamily="49" charset="-122"/>
                <a:ea typeface="楷体" panose="02010609060101010101" pitchFamily="49" charset="-122"/>
                <a:cs typeface="楷体_GB2312"/>
              </a:rPr>
              <a:t>source →</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endParaRPr lang="en-US" altLang="zh-CN" sz="2400" b="0" dirty="0">
              <a:solidFill>
                <a:srgbClr val="003399"/>
              </a:solidFill>
              <a:latin typeface="楷体" panose="02010609060101010101" pitchFamily="49" charset="-122"/>
              <a:ea typeface="楷体" panose="02010609060101010101" pitchFamily="49" charset="-122"/>
              <a:cs typeface="楷体_GB2312"/>
            </a:endParaRPr>
          </a:p>
          <a:p>
            <a:pPr eaLnBrk="1" hangingPunct="1">
              <a:lnSpc>
                <a:spcPct val="14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楷体_GB2312"/>
              </a:rPr>
              <a:t>（</a:t>
            </a:r>
            <a:r>
              <a:rPr lang="en-US" altLang="zh-CN" sz="2400" b="0" dirty="0">
                <a:solidFill>
                  <a:schemeClr val="tx1"/>
                </a:solidFill>
                <a:latin typeface="楷体" panose="02010609060101010101" pitchFamily="49" charset="-122"/>
                <a:ea typeface="楷体" panose="02010609060101010101" pitchFamily="49" charset="-122"/>
                <a:cs typeface="楷体_GB2312"/>
              </a:rPr>
              <a:t>2</a:t>
            </a:r>
            <a:r>
              <a:rPr lang="zh-CN" altLang="en-US" sz="2400" b="0" dirty="0">
                <a:solidFill>
                  <a:schemeClr val="tx1"/>
                </a:solidFill>
                <a:latin typeface="楷体" panose="02010609060101010101" pitchFamily="49" charset="-122"/>
                <a:ea typeface="楷体" panose="02010609060101010101" pitchFamily="49" charset="-122"/>
                <a:cs typeface="楷体_GB2312"/>
              </a:rPr>
              <a:t>）带借位减指令</a:t>
            </a:r>
            <a:r>
              <a:rPr lang="en-US" altLang="zh-CN" sz="2400" b="0" dirty="0">
                <a:solidFill>
                  <a:schemeClr val="tx1"/>
                </a:solidFill>
                <a:latin typeface="楷体" panose="02010609060101010101" pitchFamily="49" charset="-122"/>
                <a:ea typeface="楷体" panose="02010609060101010101" pitchFamily="49" charset="-122"/>
                <a:cs typeface="楷体_GB2312"/>
              </a:rPr>
              <a:t>SBB(Subtraction with borrow)</a:t>
            </a:r>
          </a:p>
          <a:p>
            <a:pPr eaLnBrk="1" hangingPunct="1">
              <a:lnSpc>
                <a:spcPct val="14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楷体_GB2312"/>
              </a:rPr>
              <a:t>格式：</a:t>
            </a:r>
            <a:r>
              <a:rPr lang="en-US" altLang="zh-CN" sz="2400" b="0" dirty="0">
                <a:solidFill>
                  <a:srgbClr val="FF0000"/>
                </a:solidFill>
                <a:latin typeface="楷体" panose="02010609060101010101" pitchFamily="49" charset="-122"/>
                <a:ea typeface="楷体" panose="02010609060101010101" pitchFamily="49" charset="-122"/>
                <a:cs typeface="楷体_GB2312"/>
              </a:rPr>
              <a:t>SBB    </a:t>
            </a:r>
            <a:r>
              <a:rPr lang="en-US" altLang="zh-CN" sz="2400" b="0" dirty="0" err="1">
                <a:solidFill>
                  <a:srgbClr val="FF0000"/>
                </a:solidFill>
                <a:latin typeface="楷体" panose="02010609060101010101" pitchFamily="49" charset="-122"/>
                <a:ea typeface="楷体" panose="02010609060101010101" pitchFamily="49" charset="-122"/>
                <a:cs typeface="楷体_GB2312"/>
              </a:rPr>
              <a:t>dest</a:t>
            </a:r>
            <a:r>
              <a:rPr lang="zh-CN" altLang="en-US" sz="2400" b="0" dirty="0">
                <a:solidFill>
                  <a:srgbClr val="FF0000"/>
                </a:solidFill>
                <a:latin typeface="楷体" panose="02010609060101010101" pitchFamily="49" charset="-122"/>
                <a:ea typeface="楷体" panose="02010609060101010101" pitchFamily="49" charset="-122"/>
                <a:cs typeface="楷体_GB2312"/>
              </a:rPr>
              <a:t>，</a:t>
            </a:r>
            <a:r>
              <a:rPr lang="en-US" altLang="zh-CN" sz="2400" b="0" dirty="0">
                <a:solidFill>
                  <a:srgbClr val="FF0000"/>
                </a:solidFill>
                <a:latin typeface="楷体" panose="02010609060101010101" pitchFamily="49" charset="-122"/>
                <a:ea typeface="楷体" panose="02010609060101010101" pitchFamily="49" charset="-122"/>
                <a:cs typeface="楷体_GB2312"/>
              </a:rPr>
              <a:t>source</a:t>
            </a:r>
          </a:p>
          <a:p>
            <a:pPr eaLnBrk="1" hangingPunct="1">
              <a:lnSpc>
                <a:spcPct val="14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楷体_GB2312"/>
              </a:rPr>
              <a:t>操作</a:t>
            </a:r>
            <a:r>
              <a:rPr lang="zh-CN" altLang="en-US" sz="2400" b="0" dirty="0">
                <a:solidFill>
                  <a:srgbClr val="003399"/>
                </a:solidFill>
                <a:latin typeface="楷体" panose="02010609060101010101" pitchFamily="49" charset="-122"/>
                <a:ea typeface="楷体" panose="02010609060101010101" pitchFamily="49" charset="-122"/>
                <a:cs typeface="楷体_GB2312"/>
              </a:rPr>
              <a:t>：</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zh-CN" altLang="en-US" sz="2400" b="0" dirty="0">
                <a:solidFill>
                  <a:srgbClr val="003399"/>
                </a:solidFill>
                <a:latin typeface="楷体" panose="02010609060101010101" pitchFamily="49" charset="-122"/>
                <a:ea typeface="楷体" panose="02010609060101010101" pitchFamily="49" charset="-122"/>
                <a:cs typeface="楷体_GB2312"/>
              </a:rPr>
              <a:t>－</a:t>
            </a:r>
            <a:r>
              <a:rPr lang="en-US" altLang="zh-CN" sz="2400" b="0" dirty="0">
                <a:solidFill>
                  <a:srgbClr val="003399"/>
                </a:solidFill>
                <a:latin typeface="楷体" panose="02010609060101010101" pitchFamily="49" charset="-122"/>
                <a:ea typeface="楷体" panose="02010609060101010101" pitchFamily="49" charset="-122"/>
                <a:cs typeface="楷体_GB2312"/>
              </a:rPr>
              <a:t>source</a:t>
            </a:r>
            <a:r>
              <a:rPr lang="zh-CN" altLang="en-US" sz="2400" b="0" dirty="0">
                <a:solidFill>
                  <a:srgbClr val="003399"/>
                </a:solidFill>
                <a:latin typeface="楷体" panose="02010609060101010101" pitchFamily="49" charset="-122"/>
                <a:ea typeface="楷体" panose="02010609060101010101" pitchFamily="49" charset="-122"/>
                <a:cs typeface="楷体_GB2312"/>
              </a:rPr>
              <a:t>－</a:t>
            </a:r>
            <a:r>
              <a:rPr lang="en-US" altLang="zh-CN" sz="2400" b="0" dirty="0">
                <a:solidFill>
                  <a:srgbClr val="003399"/>
                </a:solidFill>
                <a:latin typeface="楷体" panose="02010609060101010101" pitchFamily="49" charset="-122"/>
                <a:ea typeface="楷体" panose="02010609060101010101" pitchFamily="49" charset="-122"/>
                <a:cs typeface="楷体_GB2312"/>
              </a:rPr>
              <a:t>CF →</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en-US" altLang="zh-CN" sz="2400" b="0" dirty="0">
                <a:solidFill>
                  <a:schemeClr val="tx1"/>
                </a:solidFill>
                <a:latin typeface="楷体" panose="02010609060101010101" pitchFamily="49" charset="-122"/>
                <a:ea typeface="楷体" panose="02010609060101010101" pitchFamily="49" charset="-122"/>
                <a:cs typeface="楷体_GB2312"/>
              </a:rPr>
              <a:t>; CF</a:t>
            </a:r>
            <a:r>
              <a:rPr lang="zh-CN" altLang="en-US" sz="2400" b="0" dirty="0">
                <a:solidFill>
                  <a:schemeClr val="tx1"/>
                </a:solidFill>
                <a:latin typeface="楷体" panose="02010609060101010101" pitchFamily="49" charset="-122"/>
                <a:ea typeface="楷体" panose="02010609060101010101" pitchFamily="49" charset="-122"/>
                <a:cs typeface="楷体_GB2312"/>
              </a:rPr>
              <a:t>为前面指令产生的进位</a:t>
            </a:r>
            <a:r>
              <a:rPr lang="en-US" altLang="zh-CN" sz="2400" b="0" dirty="0">
                <a:solidFill>
                  <a:schemeClr val="tx1"/>
                </a:solidFill>
                <a:latin typeface="楷体" panose="02010609060101010101" pitchFamily="49" charset="-122"/>
                <a:ea typeface="楷体" panose="02010609060101010101" pitchFamily="49" charset="-122"/>
                <a:cs typeface="楷体_GB2312"/>
              </a:rPr>
              <a:t>(</a:t>
            </a:r>
            <a:r>
              <a:rPr lang="zh-CN" altLang="en-US" sz="2400" b="0" dirty="0">
                <a:solidFill>
                  <a:schemeClr val="tx1"/>
                </a:solidFill>
                <a:latin typeface="楷体" panose="02010609060101010101" pitchFamily="49" charset="-122"/>
                <a:ea typeface="楷体" panose="02010609060101010101" pitchFamily="49" charset="-122"/>
                <a:cs typeface="楷体_GB2312"/>
              </a:rPr>
              <a:t>借位</a:t>
            </a:r>
            <a:r>
              <a:rPr lang="en-US" altLang="zh-CN" sz="2400" b="0" dirty="0">
                <a:solidFill>
                  <a:schemeClr val="tx1"/>
                </a:solidFill>
                <a:latin typeface="楷体" panose="02010609060101010101" pitchFamily="49" charset="-122"/>
                <a:ea typeface="楷体" panose="02010609060101010101" pitchFamily="49" charset="-122"/>
                <a:cs typeface="楷体_GB2312"/>
              </a:rPr>
              <a:t>)</a:t>
            </a:r>
          </a:p>
          <a:p>
            <a:pPr eaLnBrk="1" hangingPunct="1">
              <a:lnSpc>
                <a:spcPct val="140000"/>
              </a:lnSpc>
              <a:buClr>
                <a:schemeClr val="tx2"/>
              </a:buClr>
              <a:defRPr/>
            </a:pPr>
            <a:r>
              <a:rPr lang="zh-CN" altLang="en-US" sz="2400" b="0" dirty="0">
                <a:solidFill>
                  <a:schemeClr val="tx1"/>
                </a:solidFill>
                <a:latin typeface="楷体" panose="02010609060101010101" pitchFamily="49" charset="-122"/>
                <a:ea typeface="楷体" panose="02010609060101010101" pitchFamily="49" charset="-122"/>
                <a:cs typeface="楷体_GB2312"/>
              </a:rPr>
              <a:t>（</a:t>
            </a:r>
            <a:r>
              <a:rPr lang="en-US" altLang="zh-CN" sz="2400" b="0" dirty="0">
                <a:solidFill>
                  <a:schemeClr val="tx1"/>
                </a:solidFill>
                <a:latin typeface="楷体" panose="02010609060101010101" pitchFamily="49" charset="-122"/>
                <a:ea typeface="楷体" panose="02010609060101010101" pitchFamily="49" charset="-122"/>
                <a:cs typeface="楷体_GB2312"/>
              </a:rPr>
              <a:t>3</a:t>
            </a:r>
            <a:r>
              <a:rPr lang="zh-CN" altLang="en-US" sz="2400" b="0" dirty="0">
                <a:solidFill>
                  <a:schemeClr val="tx1"/>
                </a:solidFill>
                <a:latin typeface="楷体" panose="02010609060101010101" pitchFamily="49" charset="-122"/>
                <a:ea typeface="楷体" panose="02010609060101010101" pitchFamily="49" charset="-122"/>
                <a:cs typeface="楷体_GB2312"/>
              </a:rPr>
              <a:t>）减量指令</a:t>
            </a:r>
            <a:r>
              <a:rPr lang="en-US" altLang="zh-CN" sz="2400" b="0" dirty="0">
                <a:solidFill>
                  <a:schemeClr val="tx1"/>
                </a:solidFill>
                <a:latin typeface="楷体" panose="02010609060101010101" pitchFamily="49" charset="-122"/>
                <a:ea typeface="楷体" panose="02010609060101010101" pitchFamily="49" charset="-122"/>
                <a:cs typeface="楷体_GB2312"/>
              </a:rPr>
              <a:t>DEC (Decrement)</a:t>
            </a:r>
          </a:p>
          <a:p>
            <a:pPr eaLnBrk="1" hangingPunct="1">
              <a:lnSpc>
                <a:spcPct val="140000"/>
              </a:lnSpc>
              <a:defRPr/>
            </a:pPr>
            <a:r>
              <a:rPr lang="zh-CN" altLang="en-US" sz="2400" b="0" dirty="0">
                <a:latin typeface="楷体" panose="02010609060101010101" pitchFamily="49" charset="-122"/>
                <a:ea typeface="楷体" panose="02010609060101010101" pitchFamily="49" charset="-122"/>
                <a:cs typeface="楷体_GB2312"/>
              </a:rPr>
              <a:t>格式：</a:t>
            </a:r>
            <a:r>
              <a:rPr lang="en-US" altLang="zh-CN" sz="2400" b="0" dirty="0">
                <a:solidFill>
                  <a:srgbClr val="FF0000"/>
                </a:solidFill>
                <a:latin typeface="楷体" panose="02010609060101010101" pitchFamily="49" charset="-122"/>
                <a:ea typeface="楷体" panose="02010609060101010101" pitchFamily="49" charset="-122"/>
                <a:cs typeface="楷体_GB2312"/>
              </a:rPr>
              <a:t>DEC  </a:t>
            </a:r>
            <a:r>
              <a:rPr lang="en-US" altLang="zh-CN" sz="2400" b="0" dirty="0" err="1">
                <a:solidFill>
                  <a:srgbClr val="FF0000"/>
                </a:solidFill>
                <a:latin typeface="楷体" panose="02010609060101010101" pitchFamily="49" charset="-122"/>
                <a:ea typeface="楷体" panose="02010609060101010101" pitchFamily="49" charset="-122"/>
                <a:cs typeface="楷体_GB2312"/>
              </a:rPr>
              <a:t>dest</a:t>
            </a:r>
            <a:endParaRPr lang="en-US" altLang="zh-CN" sz="2400" b="0" dirty="0">
              <a:solidFill>
                <a:srgbClr val="FF0000"/>
              </a:solidFill>
              <a:latin typeface="楷体" panose="02010609060101010101" pitchFamily="49" charset="-122"/>
              <a:ea typeface="楷体" panose="02010609060101010101" pitchFamily="49" charset="-122"/>
              <a:cs typeface="楷体_GB2312"/>
            </a:endParaRPr>
          </a:p>
          <a:p>
            <a:pPr eaLnBrk="1" hangingPunct="1">
              <a:lnSpc>
                <a:spcPct val="140000"/>
              </a:lnSpc>
              <a:defRPr/>
            </a:pPr>
            <a:r>
              <a:rPr lang="zh-CN" altLang="en-US" sz="2400" b="0" dirty="0">
                <a:latin typeface="楷体" panose="02010609060101010101" pitchFamily="49" charset="-122"/>
                <a:ea typeface="楷体" panose="02010609060101010101" pitchFamily="49" charset="-122"/>
                <a:cs typeface="楷体_GB2312"/>
              </a:rPr>
              <a:t>操作：</a:t>
            </a:r>
            <a:r>
              <a:rPr lang="en-US" altLang="zh-CN" sz="2400" b="0" dirty="0" err="1">
                <a:solidFill>
                  <a:srgbClr val="003399"/>
                </a:solidFill>
                <a:latin typeface="楷体" panose="02010609060101010101" pitchFamily="49" charset="-122"/>
                <a:ea typeface="楷体" panose="02010609060101010101" pitchFamily="49" charset="-122"/>
                <a:cs typeface="楷体_GB2312"/>
              </a:rPr>
              <a:t>dest</a:t>
            </a:r>
            <a:r>
              <a:rPr lang="zh-CN" altLang="en-US" sz="2400" b="0" dirty="0">
                <a:solidFill>
                  <a:srgbClr val="003399"/>
                </a:solidFill>
                <a:latin typeface="楷体" panose="02010609060101010101" pitchFamily="49" charset="-122"/>
                <a:ea typeface="楷体" panose="02010609060101010101" pitchFamily="49" charset="-122"/>
                <a:cs typeface="楷体_GB2312"/>
              </a:rPr>
              <a:t>－</a:t>
            </a:r>
            <a:r>
              <a:rPr lang="en-US" altLang="zh-CN" sz="2400" b="0" dirty="0">
                <a:solidFill>
                  <a:srgbClr val="003399"/>
                </a:solidFill>
                <a:latin typeface="楷体" panose="02010609060101010101" pitchFamily="49" charset="-122"/>
                <a:ea typeface="楷体" panose="02010609060101010101" pitchFamily="49" charset="-122"/>
                <a:cs typeface="楷体_GB2312"/>
              </a:rPr>
              <a:t>1→dest</a:t>
            </a:r>
          </a:p>
        </p:txBody>
      </p:sp>
    </p:spTree>
    <p:extLst>
      <p:ext uri="{BB962C8B-B14F-4D97-AF65-F5344CB8AC3E}">
        <p14:creationId xmlns:p14="http://schemas.microsoft.com/office/powerpoint/2010/main" val="143485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47479" y="1373820"/>
            <a:ext cx="8379270" cy="978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个</a:t>
            </a:r>
            <a:r>
              <a:rPr lang="en-US" altLang="zh-CN" sz="2400" dirty="0">
                <a:latin typeface="楷体" panose="02010609060101010101" pitchFamily="49" charset="-122"/>
                <a:ea typeface="楷体" panose="02010609060101010101" pitchFamily="49" charset="-122"/>
              </a:rPr>
              <a:t>32</a:t>
            </a:r>
            <a:r>
              <a:rPr lang="zh-CN" altLang="en-US" sz="2400" dirty="0">
                <a:latin typeface="楷体" panose="02010609060101010101" pitchFamily="49" charset="-122"/>
                <a:ea typeface="楷体" panose="02010609060101010101" pitchFamily="49" charset="-122"/>
              </a:rPr>
              <a:t>位无符号数</a:t>
            </a:r>
            <a:r>
              <a:rPr lang="en-US" altLang="zh-CN" sz="2400" dirty="0">
                <a:latin typeface="楷体" panose="02010609060101010101" pitchFamily="49" charset="-122"/>
                <a:ea typeface="楷体" panose="02010609060101010101" pitchFamily="49" charset="-122"/>
              </a:rPr>
              <a:t>8765ABCDH </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2468FEDCH</a:t>
            </a:r>
            <a:r>
              <a:rPr lang="zh-CN" altLang="en-US" sz="2400" dirty="0">
                <a:latin typeface="楷体" panose="02010609060101010101" pitchFamily="49" charset="-122"/>
                <a:ea typeface="楷体" panose="02010609060101010101" pitchFamily="49" charset="-122"/>
              </a:rPr>
              <a:t>相减，其差放双字变量</a:t>
            </a:r>
            <a:r>
              <a:rPr lang="en-US" altLang="zh-CN" sz="2400" dirty="0">
                <a:latin typeface="楷体" panose="02010609060101010101" pitchFamily="49" charset="-122"/>
                <a:ea typeface="楷体" panose="02010609060101010101" pitchFamily="49" charset="-122"/>
              </a:rPr>
              <a:t>EQ</a:t>
            </a:r>
            <a:r>
              <a:rPr lang="zh-CN" altLang="en-US" sz="2400" dirty="0">
                <a:latin typeface="楷体" panose="02010609060101010101" pitchFamily="49" charset="-122"/>
                <a:ea typeface="楷体" panose="02010609060101010101" pitchFamily="49" charset="-122"/>
              </a:rPr>
              <a:t>中。用</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位通用寄存器编写的程序段如下：</a:t>
            </a:r>
          </a:p>
        </p:txBody>
      </p:sp>
      <p:sp>
        <p:nvSpPr>
          <p:cNvPr id="3" name="矩形 2"/>
          <p:cNvSpPr/>
          <p:nvPr/>
        </p:nvSpPr>
        <p:spPr>
          <a:xfrm>
            <a:off x="1025371" y="2486491"/>
            <a:ext cx="4572000" cy="3970318"/>
          </a:xfrm>
          <a:prstGeom prst="rect">
            <a:avLst/>
          </a:prstGeom>
        </p:spPr>
        <p:txBody>
          <a:bodyPr>
            <a:spAutoFit/>
          </a:bodyPr>
          <a:lstStyle/>
          <a:p>
            <a:pPr>
              <a:lnSpc>
                <a:spcPct val="150000"/>
              </a:lnSpc>
            </a:pPr>
            <a:r>
              <a:rPr lang="en-US" altLang="zh-CN" sz="2400" dirty="0">
                <a:latin typeface="楷体" panose="02010609060101010101" pitchFamily="49" charset="-122"/>
                <a:ea typeface="楷体" panose="02010609060101010101" pitchFamily="49" charset="-122"/>
              </a:rPr>
              <a:t>     EQ DD 0</a:t>
            </a:r>
          </a:p>
          <a:p>
            <a:pPr>
              <a:lnSpc>
                <a:spcPct val="150000"/>
              </a:lnSpc>
            </a:pPr>
            <a:r>
              <a:rPr lang="en-US" altLang="zh-CN" sz="2400" dirty="0">
                <a:latin typeface="楷体" panose="02010609060101010101" pitchFamily="49" charset="-122"/>
                <a:ea typeface="楷体" panose="02010609060101010101" pitchFamily="49" charset="-122"/>
              </a:rPr>
              <a:t>     MOV  AX,  0ABCDH</a:t>
            </a:r>
          </a:p>
          <a:p>
            <a:pPr>
              <a:lnSpc>
                <a:spcPct val="150000"/>
              </a:lnSpc>
            </a:pPr>
            <a:r>
              <a:rPr lang="en-US" altLang="zh-CN" sz="2400" dirty="0">
                <a:latin typeface="楷体" panose="02010609060101010101" pitchFamily="49" charset="-122"/>
                <a:ea typeface="楷体" panose="02010609060101010101" pitchFamily="49" charset="-122"/>
              </a:rPr>
              <a:t>     SUB  AX,  0FEDCH</a:t>
            </a:r>
          </a:p>
          <a:p>
            <a:pPr>
              <a:lnSpc>
                <a:spcPct val="150000"/>
              </a:lnSpc>
            </a:pPr>
            <a:r>
              <a:rPr lang="en-US" altLang="zh-CN" sz="2400" dirty="0">
                <a:latin typeface="楷体" panose="02010609060101010101" pitchFamily="49" charset="-122"/>
                <a:ea typeface="楷体" panose="02010609060101010101" pitchFamily="49" charset="-122"/>
              </a:rPr>
              <a:t>     MOV  DX,  8765H</a:t>
            </a:r>
          </a:p>
          <a:p>
            <a:pPr>
              <a:lnSpc>
                <a:spcPct val="150000"/>
              </a:lnSpc>
            </a:pPr>
            <a:r>
              <a:rPr lang="en-US" altLang="zh-CN" sz="2400" dirty="0">
                <a:latin typeface="楷体" panose="02010609060101010101" pitchFamily="49" charset="-122"/>
                <a:ea typeface="楷体" panose="02010609060101010101" pitchFamily="49" charset="-122"/>
              </a:rPr>
              <a:t>     SBB  DX,  2468H</a:t>
            </a:r>
          </a:p>
          <a:p>
            <a:pPr>
              <a:lnSpc>
                <a:spcPct val="150000"/>
              </a:lnSpc>
            </a:pPr>
            <a:r>
              <a:rPr lang="en-US" altLang="zh-CN" sz="2400" dirty="0">
                <a:latin typeface="楷体" panose="02010609060101010101" pitchFamily="49" charset="-122"/>
                <a:ea typeface="楷体" panose="02010609060101010101" pitchFamily="49" charset="-122"/>
              </a:rPr>
              <a:t>     MOV  WORD PTR EQ,  AX</a:t>
            </a:r>
          </a:p>
          <a:p>
            <a:pPr>
              <a:lnSpc>
                <a:spcPct val="150000"/>
              </a:lnSpc>
            </a:pPr>
            <a:r>
              <a:rPr lang="en-US" altLang="zh-CN" sz="2400" dirty="0">
                <a:latin typeface="楷体" panose="02010609060101010101" pitchFamily="49" charset="-122"/>
                <a:ea typeface="楷体" panose="02010609060101010101" pitchFamily="49" charset="-122"/>
              </a:rPr>
              <a:t>     MOV  WORD PTR EQ+2,  DX</a:t>
            </a:r>
            <a:endParaRPr lang="zh-CN" altLang="en-US" sz="2400" dirty="0"/>
          </a:p>
        </p:txBody>
      </p:sp>
    </p:spTree>
    <p:extLst>
      <p:ext uri="{BB962C8B-B14F-4D97-AF65-F5344CB8AC3E}">
        <p14:creationId xmlns:p14="http://schemas.microsoft.com/office/powerpoint/2010/main" val="143506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73695" y="1454551"/>
            <a:ext cx="8539485" cy="5286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30000"/>
              </a:spcBef>
              <a:buFont typeface="Wingdings" panose="05000000000000000000" pitchFamily="2" charset="2"/>
              <a:buNone/>
            </a:pPr>
            <a:r>
              <a:rPr lang="en-US" altLang="zh-CN" sz="2600" dirty="0">
                <a:solidFill>
                  <a:srgbClr val="000000"/>
                </a:solidFill>
                <a:latin typeface="楷体" panose="02010609060101010101" pitchFamily="49" charset="-122"/>
                <a:ea typeface="楷体" panose="02010609060101010101" pitchFamily="49" charset="-122"/>
              </a:rPr>
              <a:t>(3) </a:t>
            </a:r>
            <a:r>
              <a:rPr lang="zh-CN" altLang="en-US" sz="2600" dirty="0">
                <a:solidFill>
                  <a:srgbClr val="000000"/>
                </a:solidFill>
                <a:latin typeface="楷体" panose="02010609060101010101" pitchFamily="49" charset="-122"/>
                <a:ea typeface="楷体" panose="02010609060101010101" pitchFamily="49" charset="-122"/>
              </a:rPr>
              <a:t>比较指令 </a:t>
            </a:r>
            <a:r>
              <a:rPr lang="en-US" altLang="zh-CN" sz="2600" dirty="0">
                <a:solidFill>
                  <a:srgbClr val="000000"/>
                </a:solidFill>
                <a:latin typeface="楷体" panose="02010609060101010101" pitchFamily="49" charset="-122"/>
                <a:ea typeface="楷体" panose="02010609060101010101" pitchFamily="49" charset="-122"/>
              </a:rPr>
              <a:t>CMP(Compare)</a:t>
            </a:r>
            <a:r>
              <a:rPr lang="en-US" altLang="zh-CN" sz="2600" dirty="0">
                <a:latin typeface="楷体" panose="02010609060101010101" pitchFamily="49" charset="-122"/>
                <a:ea typeface="楷体" panose="02010609060101010101" pitchFamily="49" charset="-122"/>
              </a:rPr>
              <a:t>     </a:t>
            </a:r>
          </a:p>
          <a:p>
            <a:pPr marL="0" indent="0">
              <a:lnSpc>
                <a:spcPct val="150000"/>
              </a:lnSpc>
              <a:spcBef>
                <a:spcPct val="30000"/>
              </a:spcBef>
              <a:buNone/>
            </a:pPr>
            <a:r>
              <a:rPr lang="zh-CN" altLang="en-US" sz="2600" dirty="0">
                <a:latin typeface="楷体" panose="02010609060101010101" pitchFamily="49" charset="-122"/>
                <a:ea typeface="楷体" panose="02010609060101010101" pitchFamily="49" charset="-122"/>
              </a:rPr>
              <a:t>格式：</a:t>
            </a:r>
            <a:r>
              <a:rPr lang="en-US" altLang="zh-CN" sz="2600" dirty="0">
                <a:solidFill>
                  <a:srgbClr val="FF0066"/>
                </a:solidFill>
                <a:latin typeface="楷体" panose="02010609060101010101" pitchFamily="49" charset="-122"/>
                <a:ea typeface="楷体" panose="02010609060101010101" pitchFamily="49" charset="-122"/>
              </a:rPr>
              <a:t>CMP  </a:t>
            </a:r>
            <a:r>
              <a:rPr lang="en-US" altLang="zh-CN" sz="2600" dirty="0" err="1">
                <a:solidFill>
                  <a:srgbClr val="FF0066"/>
                </a:solidFill>
                <a:latin typeface="楷体" panose="02010609060101010101" pitchFamily="49" charset="-122"/>
                <a:ea typeface="楷体" panose="02010609060101010101" pitchFamily="49" charset="-122"/>
              </a:rPr>
              <a:t>dest</a:t>
            </a:r>
            <a:r>
              <a:rPr lang="en-US" altLang="zh-CN" sz="2600" dirty="0">
                <a:solidFill>
                  <a:srgbClr val="FF0066"/>
                </a:solidFill>
                <a:latin typeface="楷体" panose="02010609060101010101" pitchFamily="49" charset="-122"/>
                <a:ea typeface="楷体" panose="02010609060101010101" pitchFamily="49" charset="-122"/>
              </a:rPr>
              <a:t>,  source</a:t>
            </a:r>
          </a:p>
          <a:p>
            <a:pPr marL="0" indent="0">
              <a:lnSpc>
                <a:spcPct val="150000"/>
              </a:lnSpc>
              <a:spcBef>
                <a:spcPct val="30000"/>
              </a:spcBef>
              <a:buNone/>
            </a:pPr>
            <a:r>
              <a:rPr lang="zh-CN" altLang="en-US" sz="2600" dirty="0">
                <a:latin typeface="楷体" panose="02010609060101010101" pitchFamily="49" charset="-122"/>
                <a:ea typeface="楷体" panose="02010609060101010101" pitchFamily="49" charset="-122"/>
              </a:rPr>
              <a:t>操作</a:t>
            </a:r>
            <a:r>
              <a:rPr lang="en-US" altLang="zh-CN" sz="2600" dirty="0">
                <a:latin typeface="楷体" panose="02010609060101010101" pitchFamily="49" charset="-122"/>
                <a:ea typeface="楷体" panose="02010609060101010101" pitchFamily="49" charset="-122"/>
                <a:sym typeface="Wingdings" panose="05000000000000000000" pitchFamily="2" charset="2"/>
              </a:rPr>
              <a:t>: </a:t>
            </a:r>
            <a:r>
              <a:rPr lang="en-US" altLang="zh-CN" sz="2600" dirty="0" err="1">
                <a:latin typeface="楷体" panose="02010609060101010101" pitchFamily="49" charset="-122"/>
                <a:ea typeface="楷体" panose="02010609060101010101" pitchFamily="49" charset="-122"/>
              </a:rPr>
              <a:t>dest</a:t>
            </a:r>
            <a:r>
              <a:rPr lang="en-US" altLang="zh-CN" sz="2600" dirty="0">
                <a:latin typeface="楷体" panose="02010609060101010101" pitchFamily="49" charset="-122"/>
                <a:ea typeface="楷体" panose="02010609060101010101" pitchFamily="49" charset="-122"/>
              </a:rPr>
              <a:t> - source</a:t>
            </a:r>
          </a:p>
          <a:p>
            <a:pPr>
              <a:lnSpc>
                <a:spcPct val="150000"/>
              </a:lnSpc>
              <a:spcBef>
                <a:spcPct val="0"/>
              </a:spcBef>
              <a:buClr>
                <a:srgbClr val="00B0F0"/>
              </a:buClr>
              <a:buSzPct val="80000"/>
              <a:buFont typeface="Wingdings" panose="05000000000000000000" pitchFamily="2" charset="2"/>
              <a:buChar char="Ø"/>
            </a:pPr>
            <a:r>
              <a:rPr lang="zh-CN" altLang="en-US" sz="2600" dirty="0">
                <a:latin typeface="楷体" panose="02010609060101010101" pitchFamily="49" charset="-122"/>
                <a:ea typeface="楷体" panose="02010609060101010101" pitchFamily="49" charset="-122"/>
              </a:rPr>
              <a:t> 执行减操作，</a:t>
            </a:r>
            <a:r>
              <a:rPr lang="zh-CN" altLang="en-US" sz="2600" dirty="0">
                <a:latin typeface="楷体" panose="02010609060101010101" pitchFamily="49" charset="-122"/>
                <a:ea typeface="楷体" panose="02010609060101010101" pitchFamily="49" charset="-122"/>
                <a:sym typeface="Wingdings" panose="05000000000000000000" pitchFamily="2" charset="2"/>
              </a:rPr>
              <a:t>只</a:t>
            </a:r>
            <a:r>
              <a:rPr lang="zh-CN" altLang="en-US" sz="2600" dirty="0">
                <a:solidFill>
                  <a:srgbClr val="FF0066"/>
                </a:solidFill>
                <a:latin typeface="楷体" panose="02010609060101010101" pitchFamily="49" charset="-122"/>
                <a:ea typeface="楷体" panose="02010609060101010101" pitchFamily="49" charset="-122"/>
                <a:sym typeface="Wingdings" panose="05000000000000000000" pitchFamily="2" charset="2"/>
              </a:rPr>
              <a:t>影响标志位，不改变操作数</a:t>
            </a:r>
            <a:endParaRPr lang="en-US" altLang="zh-CN" sz="2600" dirty="0">
              <a:solidFill>
                <a:srgbClr val="FF0066"/>
              </a:solidFill>
              <a:latin typeface="楷体" panose="02010609060101010101" pitchFamily="49" charset="-122"/>
              <a:ea typeface="楷体" panose="02010609060101010101" pitchFamily="49" charset="-122"/>
              <a:sym typeface="Wingdings" panose="05000000000000000000" pitchFamily="2" charset="2"/>
            </a:endParaRPr>
          </a:p>
          <a:p>
            <a:pPr>
              <a:lnSpc>
                <a:spcPct val="150000"/>
              </a:lnSpc>
              <a:spcBef>
                <a:spcPct val="0"/>
              </a:spcBef>
              <a:buClr>
                <a:srgbClr val="00B0F0"/>
              </a:buClr>
              <a:buSzPct val="80000"/>
              <a:buFont typeface="Wingdings" panose="05000000000000000000" pitchFamily="2" charset="2"/>
              <a:buChar char="Ø"/>
            </a:pPr>
            <a:r>
              <a:rPr lang="zh-CN" altLang="en-US" sz="2600" dirty="0">
                <a:latin typeface="楷体" panose="02010609060101010101" pitchFamily="49" charset="-122"/>
                <a:ea typeface="楷体" panose="02010609060101010101" pitchFamily="49" charset="-122"/>
                <a:sym typeface="Wingdings" panose="05000000000000000000" pitchFamily="2" charset="2"/>
              </a:rPr>
              <a:t> 主要用来判断两数的大小与是否相等</a:t>
            </a:r>
            <a:endParaRPr lang="en-US" altLang="zh-CN" sz="2600" dirty="0">
              <a:latin typeface="楷体" panose="02010609060101010101" pitchFamily="49" charset="-122"/>
              <a:ea typeface="楷体" panose="02010609060101010101" pitchFamily="49" charset="-122"/>
              <a:sym typeface="Wingdings" panose="05000000000000000000" pitchFamily="2" charset="2"/>
            </a:endParaRPr>
          </a:p>
          <a:p>
            <a:pPr>
              <a:lnSpc>
                <a:spcPct val="150000"/>
              </a:lnSpc>
              <a:spcBef>
                <a:spcPct val="0"/>
              </a:spcBef>
              <a:buClr>
                <a:srgbClr val="00B0F0"/>
              </a:buClr>
              <a:buSzPct val="80000"/>
              <a:buFont typeface="Wingdings" panose="05000000000000000000" pitchFamily="2" charset="2"/>
              <a:buChar char="Ø"/>
            </a:pPr>
            <a:r>
              <a:rPr lang="zh-CN" altLang="en-US" sz="2600" dirty="0">
                <a:latin typeface="楷体" panose="02010609060101010101" pitchFamily="49" charset="-122"/>
                <a:ea typeface="楷体" panose="02010609060101010101" pitchFamily="49" charset="-122"/>
              </a:rPr>
              <a:t> 后面常跟条件转移指令，根据比较结果实现程序的分支</a:t>
            </a:r>
            <a:endParaRPr lang="en-US" altLang="zh-CN" sz="2600" dirty="0">
              <a:latin typeface="楷体" panose="02010609060101010101" pitchFamily="49" charset="-122"/>
              <a:ea typeface="楷体" panose="02010609060101010101" pitchFamily="49" charset="-122"/>
              <a:sym typeface="Wingdings" panose="05000000000000000000" pitchFamily="2" charset="2"/>
            </a:endParaRPr>
          </a:p>
        </p:txBody>
      </p:sp>
    </p:spTree>
    <p:extLst>
      <p:ext uri="{BB962C8B-B14F-4D97-AF65-F5344CB8AC3E}">
        <p14:creationId xmlns:p14="http://schemas.microsoft.com/office/powerpoint/2010/main" val="4192113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逻辑运算指令</a:t>
            </a:r>
          </a:p>
        </p:txBody>
      </p:sp>
      <p:sp>
        <p:nvSpPr>
          <p:cNvPr id="3" name="Rectangle 3"/>
          <p:cNvSpPr txBox="1">
            <a:spLocks noChangeArrowheads="1"/>
          </p:cNvSpPr>
          <p:nvPr/>
        </p:nvSpPr>
        <p:spPr>
          <a:xfrm>
            <a:off x="466725" y="1595763"/>
            <a:ext cx="8072437" cy="30117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1200"/>
              </a:spcAft>
              <a:buNone/>
            </a:pPr>
            <a:r>
              <a:rPr lang="en-US" altLang="zh-CN" sz="2400" dirty="0">
                <a:latin typeface="楷体" panose="02010609060101010101" pitchFamily="49" charset="-122"/>
                <a:ea typeface="楷体" panose="02010609060101010101" pitchFamily="49" charset="-122"/>
                <a:sym typeface="Wingdings" panose="05000000000000000000" pitchFamily="2" charset="2"/>
              </a:rPr>
              <a:t>1.</a:t>
            </a:r>
            <a:r>
              <a:rPr lang="zh-CN" altLang="en-US" sz="2400" dirty="0">
                <a:latin typeface="楷体" panose="02010609060101010101" pitchFamily="49" charset="-122"/>
                <a:ea typeface="楷体" panose="02010609060101010101" pitchFamily="49" charset="-122"/>
                <a:sym typeface="Wingdings" panose="05000000000000000000" pitchFamily="2" charset="2"/>
              </a:rPr>
              <a:t>求补指令</a:t>
            </a:r>
            <a:r>
              <a:rPr lang="en-US" altLang="zh-CN" sz="2400" dirty="0">
                <a:latin typeface="楷体" panose="02010609060101010101" pitchFamily="49" charset="-122"/>
                <a:ea typeface="楷体" panose="02010609060101010101" pitchFamily="49" charset="-122"/>
                <a:sym typeface="Wingdings" panose="05000000000000000000" pitchFamily="2" charset="2"/>
              </a:rPr>
              <a:t>NEG (Negate)</a:t>
            </a:r>
          </a:p>
          <a:p>
            <a:pPr marL="0" indent="0">
              <a:lnSpc>
                <a:spcPct val="120000"/>
              </a:lnSpc>
              <a:spcBef>
                <a:spcPts val="600"/>
              </a:spcBef>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格式：</a:t>
            </a:r>
            <a:r>
              <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rPr>
              <a:t>NEG </a:t>
            </a:r>
            <a:r>
              <a:rPr lang="en-US" altLang="zh-CN" sz="2400" dirty="0" err="1">
                <a:solidFill>
                  <a:srgbClr val="FF0066"/>
                </a:solidFill>
                <a:latin typeface="楷体" panose="02010609060101010101" pitchFamily="49" charset="-122"/>
                <a:ea typeface="楷体" panose="02010609060101010101" pitchFamily="49" charset="-122"/>
                <a:sym typeface="Wingdings" panose="05000000000000000000" pitchFamily="2" charset="2"/>
              </a:rPr>
              <a:t>dest</a:t>
            </a:r>
            <a:endParaRPr lang="en-US" altLang="zh-CN" sz="2400" dirty="0">
              <a:solidFill>
                <a:srgbClr val="FF0066"/>
              </a:solidFill>
              <a:latin typeface="楷体" panose="02010609060101010101" pitchFamily="49" charset="-122"/>
              <a:ea typeface="楷体" panose="02010609060101010101" pitchFamily="49" charset="-122"/>
              <a:sym typeface="Wingdings" panose="05000000000000000000" pitchFamily="2" charset="2"/>
            </a:endParaRPr>
          </a:p>
          <a:p>
            <a:pPr marL="0" indent="0">
              <a:lnSpc>
                <a:spcPct val="120000"/>
              </a:lnSpc>
              <a:spcBef>
                <a:spcPts val="600"/>
              </a:spcBef>
              <a:spcAft>
                <a:spcPts val="1200"/>
              </a:spcAft>
              <a:buNone/>
            </a:pPr>
            <a:r>
              <a:rPr lang="zh-CN" altLang="en-US" sz="2400" dirty="0">
                <a:latin typeface="楷体" panose="02010609060101010101" pitchFamily="49" charset="-122"/>
                <a:ea typeface="楷体" panose="02010609060101010101" pitchFamily="49" charset="-122"/>
              </a:rPr>
              <a:t>操作：将操作数中的内容求补后再送入操作数中</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600"/>
              </a:spcBef>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若</a:t>
            </a:r>
            <a:r>
              <a:rPr lang="en-US" altLang="zh-CN" sz="2400" dirty="0">
                <a:latin typeface="楷体" panose="02010609060101010101" pitchFamily="49" charset="-122"/>
                <a:ea typeface="楷体" panose="02010609060101010101" pitchFamily="49" charset="-122"/>
                <a:sym typeface="Wingdings" panose="05000000000000000000" pitchFamily="2" charset="2"/>
              </a:rPr>
              <a:t>: AX=FFCBH</a:t>
            </a:r>
          </a:p>
          <a:p>
            <a:pPr marL="0" indent="0">
              <a:lnSpc>
                <a:spcPct val="120000"/>
              </a:lnSpc>
              <a:spcBef>
                <a:spcPts val="600"/>
              </a:spcBef>
              <a:buNone/>
            </a:pPr>
            <a:r>
              <a:rPr lang="zh-CN" altLang="en-US" sz="2400" dirty="0">
                <a:latin typeface="楷体" panose="02010609060101010101" pitchFamily="49" charset="-122"/>
                <a:ea typeface="楷体" panose="02010609060101010101" pitchFamily="49" charset="-122"/>
                <a:sym typeface="Wingdings" panose="05000000000000000000" pitchFamily="2" charset="2"/>
              </a:rPr>
              <a:t>执行 </a:t>
            </a:r>
            <a:r>
              <a:rPr lang="en-US" altLang="zh-CN" sz="2400" dirty="0">
                <a:latin typeface="楷体" panose="02010609060101010101" pitchFamily="49" charset="-122"/>
                <a:ea typeface="楷体" panose="02010609060101010101" pitchFamily="49" charset="-122"/>
                <a:sym typeface="Wingdings" panose="05000000000000000000" pitchFamily="2" charset="2"/>
              </a:rPr>
              <a:t>NEG  AX</a:t>
            </a:r>
            <a:r>
              <a:rPr lang="zh-CN" altLang="en-US" sz="2400" dirty="0">
                <a:latin typeface="楷体" panose="02010609060101010101" pitchFamily="49" charset="-122"/>
                <a:ea typeface="楷体" panose="02010609060101010101" pitchFamily="49" charset="-122"/>
                <a:sym typeface="Wingdings" panose="05000000000000000000" pitchFamily="2" charset="2"/>
              </a:rPr>
              <a:t>后，</a:t>
            </a:r>
            <a:r>
              <a:rPr lang="en-US" altLang="zh-CN" sz="2400" dirty="0">
                <a:solidFill>
                  <a:srgbClr val="FF0000"/>
                </a:solidFill>
                <a:latin typeface="楷体" panose="02010609060101010101" pitchFamily="49" charset="-122"/>
                <a:ea typeface="楷体" panose="02010609060101010101" pitchFamily="49" charset="-122"/>
                <a:sym typeface="Wingdings" panose="05000000000000000000" pitchFamily="2" charset="2"/>
              </a:rPr>
              <a:t>AX=?</a:t>
            </a:r>
          </a:p>
        </p:txBody>
      </p:sp>
      <p:sp>
        <p:nvSpPr>
          <p:cNvPr id="4" name="矩形 3"/>
          <p:cNvSpPr>
            <a:spLocks noChangeArrowheads="1"/>
          </p:cNvSpPr>
          <p:nvPr/>
        </p:nvSpPr>
        <p:spPr bwMode="auto">
          <a:xfrm>
            <a:off x="466725" y="4795838"/>
            <a:ext cx="7615238"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30000"/>
              </a:lnSpc>
              <a:spcBef>
                <a:spcPct val="0"/>
              </a:spcBef>
              <a:buClr>
                <a:srgbClr val="00B0F0"/>
              </a:buClr>
              <a:buSzPct val="80000"/>
              <a:buFont typeface="Wingdings" panose="05000000000000000000" pitchFamily="2" charset="2"/>
              <a:buChar char="Ø"/>
            </a:pPr>
            <a:r>
              <a:rPr lang="zh-CN" altLang="en-US" sz="2400" dirty="0">
                <a:solidFill>
                  <a:srgbClr val="003399"/>
                </a:solidFill>
                <a:latin typeface="楷体" panose="02010609060101010101" pitchFamily="49" charset="-122"/>
                <a:ea typeface="楷体" panose="02010609060101010101" pitchFamily="49" charset="-122"/>
              </a:rPr>
              <a:t>单操作数指令，操作数只能是</a:t>
            </a:r>
            <a:r>
              <a:rPr lang="en-US" altLang="zh-CN" sz="2400" dirty="0">
                <a:solidFill>
                  <a:srgbClr val="003399"/>
                </a:solidFill>
                <a:latin typeface="楷体" panose="02010609060101010101" pitchFamily="49" charset="-122"/>
                <a:ea typeface="楷体" panose="02010609060101010101" pitchFamily="49" charset="-122"/>
              </a:rPr>
              <a:t>REG</a:t>
            </a:r>
            <a:r>
              <a:rPr lang="zh-CN" altLang="en-US" sz="2400" dirty="0">
                <a:solidFill>
                  <a:srgbClr val="003399"/>
                </a:solidFill>
                <a:latin typeface="楷体" panose="02010609060101010101" pitchFamily="49" charset="-122"/>
                <a:ea typeface="楷体" panose="02010609060101010101" pitchFamily="49" charset="-122"/>
              </a:rPr>
              <a:t>，</a:t>
            </a:r>
            <a:r>
              <a:rPr lang="en-US" altLang="zh-CN" sz="2400" dirty="0">
                <a:solidFill>
                  <a:srgbClr val="003399"/>
                </a:solidFill>
                <a:latin typeface="楷体" panose="02010609060101010101" pitchFamily="49" charset="-122"/>
                <a:ea typeface="楷体" panose="02010609060101010101" pitchFamily="49" charset="-122"/>
              </a:rPr>
              <a:t>MEM</a:t>
            </a:r>
          </a:p>
          <a:p>
            <a:pPr eaLnBrk="1" hangingPunct="1">
              <a:lnSpc>
                <a:spcPct val="130000"/>
              </a:lnSpc>
              <a:spcBef>
                <a:spcPct val="0"/>
              </a:spcBef>
              <a:buClr>
                <a:srgbClr val="00B0F0"/>
              </a:buClr>
              <a:buSzPct val="80000"/>
              <a:buFont typeface="Wingdings" panose="05000000000000000000" pitchFamily="2" charset="2"/>
              <a:buChar char="Ø"/>
            </a:pPr>
            <a:r>
              <a:rPr lang="zh-CN" altLang="en-US" sz="2400" dirty="0">
                <a:solidFill>
                  <a:srgbClr val="003399"/>
                </a:solidFill>
                <a:latin typeface="楷体" panose="02010609060101010101" pitchFamily="49" charset="-122"/>
                <a:ea typeface="楷体" panose="02010609060101010101" pitchFamily="49" charset="-122"/>
              </a:rPr>
              <a:t>该指令是求补指令，而不是求补码指令</a:t>
            </a:r>
          </a:p>
          <a:p>
            <a:pPr eaLnBrk="1" hangingPunct="1">
              <a:lnSpc>
                <a:spcPct val="130000"/>
              </a:lnSpc>
              <a:spcBef>
                <a:spcPct val="0"/>
              </a:spcBef>
              <a:buClr>
                <a:srgbClr val="00B0F0"/>
              </a:buClr>
              <a:buSzPct val="80000"/>
              <a:buFont typeface="Wingdings" panose="05000000000000000000" pitchFamily="2" charset="2"/>
              <a:buChar char="Ø"/>
            </a:pPr>
            <a:r>
              <a:rPr lang="zh-CN" altLang="en-US" sz="2400" dirty="0">
                <a:solidFill>
                  <a:srgbClr val="003399"/>
                </a:solidFill>
                <a:latin typeface="楷体" panose="02010609060101010101" pitchFamily="49" charset="-122"/>
                <a:ea typeface="楷体" panose="02010609060101010101" pitchFamily="49" charset="-122"/>
              </a:rPr>
              <a:t>影响标志位</a:t>
            </a:r>
            <a:r>
              <a:rPr lang="zh-CN" altLang="en-US" sz="2400" dirty="0">
                <a:solidFill>
                  <a:schemeClr val="tx2"/>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影响规律同减法指令</a:t>
            </a:r>
          </a:p>
        </p:txBody>
      </p:sp>
    </p:spTree>
    <p:extLst>
      <p:ext uri="{BB962C8B-B14F-4D97-AF65-F5344CB8AC3E}">
        <p14:creationId xmlns:p14="http://schemas.microsoft.com/office/powerpoint/2010/main" val="118124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05436" y="1312093"/>
            <a:ext cx="8476926" cy="521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求反指令</a:t>
            </a:r>
            <a:r>
              <a:rPr lang="en-US" altLang="zh-CN" dirty="0">
                <a:latin typeface="楷体" panose="02010609060101010101" pitchFamily="49" charset="-122"/>
                <a:ea typeface="楷体" panose="02010609060101010101" pitchFamily="49" charset="-122"/>
              </a:rPr>
              <a:t>NOT</a:t>
            </a:r>
          </a:p>
          <a:p>
            <a:pPr marL="0" indent="0">
              <a:lnSpc>
                <a:spcPct val="120000"/>
              </a:lnSpc>
              <a:buNone/>
            </a:pPr>
            <a:r>
              <a:rPr lang="zh-CN" altLang="en-US" dirty="0">
                <a:latin typeface="楷体" panose="02010609060101010101" pitchFamily="49" charset="-122"/>
                <a:ea typeface="楷体" panose="02010609060101010101" pitchFamily="49" charset="-122"/>
              </a:rPr>
              <a:t>格式：</a:t>
            </a:r>
            <a:r>
              <a:rPr lang="en-US" altLang="zh-CN" dirty="0">
                <a:solidFill>
                  <a:srgbClr val="FF0066"/>
                </a:solidFill>
                <a:latin typeface="楷体" panose="02010609060101010101" pitchFamily="49" charset="-122"/>
                <a:ea typeface="楷体" panose="02010609060101010101" pitchFamily="49" charset="-122"/>
              </a:rPr>
              <a:t>NOT   </a:t>
            </a:r>
            <a:r>
              <a:rPr lang="en-US" altLang="zh-CN" dirty="0" err="1">
                <a:solidFill>
                  <a:srgbClr val="FF0066"/>
                </a:solidFill>
                <a:latin typeface="楷体" panose="02010609060101010101" pitchFamily="49" charset="-122"/>
                <a:ea typeface="楷体" panose="02010609060101010101" pitchFamily="49" charset="-122"/>
                <a:sym typeface="Wingdings" panose="05000000000000000000" pitchFamily="2" charset="2"/>
              </a:rPr>
              <a:t>dest</a:t>
            </a:r>
            <a:endParaRPr lang="en-US" altLang="zh-CN" dirty="0">
              <a:solidFill>
                <a:srgbClr val="FF0066"/>
              </a:solidFill>
              <a:latin typeface="楷体" panose="02010609060101010101" pitchFamily="49" charset="-122"/>
              <a:ea typeface="楷体" panose="02010609060101010101" pitchFamily="49" charset="-122"/>
            </a:endParaRPr>
          </a:p>
          <a:p>
            <a:pPr marL="0" indent="0">
              <a:lnSpc>
                <a:spcPct val="120000"/>
              </a:lnSpc>
              <a:spcAft>
                <a:spcPts val="1200"/>
              </a:spcAft>
              <a:buNone/>
            </a:pPr>
            <a:r>
              <a:rPr lang="zh-CN" altLang="en-US" dirty="0">
                <a:latin typeface="楷体" panose="02010609060101010101" pitchFamily="49" charset="-122"/>
                <a:ea typeface="楷体" panose="02010609060101010101" pitchFamily="49" charset="-122"/>
              </a:rPr>
              <a:t>操作</a:t>
            </a:r>
            <a:r>
              <a:rPr lang="zh-CN" altLang="en-US" dirty="0">
                <a:latin typeface="楷体" panose="02010609060101010101" pitchFamily="49" charset="-122"/>
                <a:ea typeface="楷体" panose="02010609060101010101" pitchFamily="49" charset="-122"/>
                <a:sym typeface="Wingdings" panose="05000000000000000000" pitchFamily="2" charset="2"/>
              </a:rPr>
              <a:t>：</a:t>
            </a:r>
            <a:r>
              <a:rPr lang="zh-CN" altLang="en-US" dirty="0">
                <a:latin typeface="楷体" panose="02010609060101010101" pitchFamily="49" charset="-122"/>
                <a:ea typeface="楷体" panose="02010609060101010101" pitchFamily="49" charset="-122"/>
              </a:rPr>
              <a:t>将操作数中的内容逐位取反后再送回操作数中</a:t>
            </a:r>
            <a:endParaRPr lang="en-US" altLang="zh-CN" dirty="0">
              <a:latin typeface="楷体" panose="02010609060101010101" pitchFamily="49" charset="-122"/>
              <a:ea typeface="楷体" panose="02010609060101010101" pitchFamily="49" charset="-122"/>
            </a:endParaRPr>
          </a:p>
          <a:p>
            <a:pPr marL="0" indent="0">
              <a:lnSpc>
                <a:spcPct val="120000"/>
              </a:lnSpc>
              <a:spcAft>
                <a:spcPts val="1200"/>
              </a:spcAft>
              <a:buNone/>
            </a:pPr>
            <a:endParaRPr lang="zh-CN" altLang="en-US" dirty="0">
              <a:latin typeface="楷体" panose="02010609060101010101" pitchFamily="49" charset="-122"/>
              <a:ea typeface="楷体" panose="02010609060101010101" pitchFamily="49" charset="-122"/>
            </a:endParaRPr>
          </a:p>
          <a:p>
            <a:pPr>
              <a:lnSpc>
                <a:spcPct val="120000"/>
              </a:lnSpc>
              <a:spcBef>
                <a:spcPct val="0"/>
              </a:spcBef>
              <a:buClr>
                <a:srgbClr val="00B0F0"/>
              </a:buClr>
              <a:buSzPct val="80000"/>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单操作数指令，操作数只能是</a:t>
            </a:r>
            <a:r>
              <a:rPr lang="en-US" altLang="zh-CN" dirty="0">
                <a:latin typeface="楷体" panose="02010609060101010101" pitchFamily="49" charset="-122"/>
                <a:ea typeface="楷体" panose="02010609060101010101" pitchFamily="49" charset="-122"/>
              </a:rPr>
              <a:t>REG</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MEM</a:t>
            </a:r>
          </a:p>
          <a:p>
            <a:pPr>
              <a:lnSpc>
                <a:spcPct val="120000"/>
              </a:lnSpc>
              <a:spcBef>
                <a:spcPct val="0"/>
              </a:spcBef>
              <a:buClr>
                <a:srgbClr val="00B0F0"/>
              </a:buClr>
              <a:buSzPct val="80000"/>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该指令只是执行求反操作，而不是求反码指令，对符号位也求反</a:t>
            </a:r>
            <a:endParaRPr lang="en-US" altLang="zh-CN"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0329170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66234" y="1278246"/>
            <a:ext cx="8607425" cy="45196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dirty="0">
                <a:solidFill>
                  <a:srgbClr val="000000"/>
                </a:solidFill>
                <a:latin typeface="楷体" panose="02010609060101010101" pitchFamily="49" charset="-122"/>
                <a:ea typeface="楷体" panose="02010609060101010101" pitchFamily="49" charset="-122"/>
              </a:rPr>
              <a:t>3. </a:t>
            </a:r>
            <a:r>
              <a:rPr lang="zh-CN" altLang="en-US" dirty="0">
                <a:solidFill>
                  <a:srgbClr val="000000"/>
                </a:solidFill>
                <a:latin typeface="楷体" panose="02010609060101010101" pitchFamily="49" charset="-122"/>
                <a:ea typeface="楷体" panose="02010609060101010101" pitchFamily="49" charset="-122"/>
              </a:rPr>
              <a:t>逻辑与指令</a:t>
            </a:r>
            <a:r>
              <a:rPr lang="en-US" altLang="zh-CN" dirty="0">
                <a:solidFill>
                  <a:srgbClr val="000000"/>
                </a:solidFill>
                <a:latin typeface="楷体" panose="02010609060101010101" pitchFamily="49" charset="-122"/>
                <a:ea typeface="楷体" panose="02010609060101010101" pitchFamily="49" charset="-122"/>
              </a:rPr>
              <a:t>AND</a:t>
            </a: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zh-CN" altLang="en-US" dirty="0">
                <a:latin typeface="楷体" panose="02010609060101010101" pitchFamily="49" charset="-122"/>
                <a:ea typeface="楷体" panose="02010609060101010101" pitchFamily="49" charset="-122"/>
              </a:rPr>
              <a:t>格式：</a:t>
            </a:r>
            <a:r>
              <a:rPr lang="en-US" altLang="zh-CN" dirty="0">
                <a:solidFill>
                  <a:srgbClr val="FF0066"/>
                </a:solidFill>
                <a:latin typeface="楷体" panose="02010609060101010101" pitchFamily="49" charset="-122"/>
                <a:ea typeface="楷体" panose="02010609060101010101" pitchFamily="49" charset="-122"/>
              </a:rPr>
              <a:t>AND   </a:t>
            </a:r>
            <a:r>
              <a:rPr lang="en-US" altLang="zh-CN" dirty="0" err="1">
                <a:solidFill>
                  <a:srgbClr val="FF0066"/>
                </a:solidFill>
                <a:latin typeface="楷体" panose="02010609060101010101" pitchFamily="49" charset="-122"/>
                <a:ea typeface="楷体" panose="02010609060101010101" pitchFamily="49" charset="-122"/>
              </a:rPr>
              <a:t>dest</a:t>
            </a:r>
            <a:r>
              <a:rPr lang="zh-CN" altLang="en-US" dirty="0">
                <a:solidFill>
                  <a:srgbClr val="FF0066"/>
                </a:solidFill>
                <a:latin typeface="楷体" panose="02010609060101010101" pitchFamily="49" charset="-122"/>
                <a:ea typeface="楷体" panose="02010609060101010101" pitchFamily="49" charset="-122"/>
              </a:rPr>
              <a:t>，</a:t>
            </a:r>
            <a:r>
              <a:rPr lang="en-US" altLang="zh-CN" dirty="0">
                <a:solidFill>
                  <a:srgbClr val="FF0066"/>
                </a:solidFill>
                <a:latin typeface="楷体" panose="02010609060101010101" pitchFamily="49" charset="-122"/>
                <a:ea typeface="楷体" panose="02010609060101010101" pitchFamily="49" charset="-122"/>
              </a:rPr>
              <a:t>source</a:t>
            </a:r>
          </a:p>
          <a:p>
            <a:pPr marL="0" indent="0">
              <a:lnSpc>
                <a:spcPct val="150000"/>
              </a:lnSpc>
              <a:buNone/>
            </a:pPr>
            <a:r>
              <a:rPr lang="zh-CN" altLang="en-US" dirty="0">
                <a:latin typeface="楷体" panose="02010609060101010101" pitchFamily="49" charset="-122"/>
                <a:ea typeface="楷体" panose="02010609060101010101" pitchFamily="49" charset="-122"/>
              </a:rPr>
              <a:t>操作：</a:t>
            </a:r>
            <a:r>
              <a:rPr lang="en-US" altLang="zh-CN" dirty="0" err="1">
                <a:solidFill>
                  <a:srgbClr val="003399"/>
                </a:solidFill>
                <a:latin typeface="楷体" panose="02010609060101010101" pitchFamily="49" charset="-122"/>
                <a:ea typeface="楷体" panose="02010609060101010101" pitchFamily="49" charset="-122"/>
              </a:rPr>
              <a:t>dest∧source→dest</a:t>
            </a:r>
            <a:endParaRPr lang="zh-CN" altLang="en-US" dirty="0">
              <a:solidFill>
                <a:srgbClr val="003399"/>
              </a:solidFill>
              <a:latin typeface="楷体" panose="02010609060101010101" pitchFamily="49" charset="-122"/>
              <a:ea typeface="楷体" panose="02010609060101010101" pitchFamily="49" charset="-122"/>
            </a:endParaRPr>
          </a:p>
          <a:p>
            <a:pPr marL="0" indent="0">
              <a:lnSpc>
                <a:spcPct val="150000"/>
              </a:lnSpc>
              <a:spcBef>
                <a:spcPct val="55000"/>
              </a:spcBef>
              <a:buClr>
                <a:schemeClr val="accent1"/>
              </a:buClr>
              <a:buSzPct val="65000"/>
              <a:buNone/>
            </a:pPr>
            <a:r>
              <a:rPr lang="zh-CN" altLang="en-US" dirty="0">
                <a:latin typeface="楷体" panose="02010609060101010101" pitchFamily="49" charset="-122"/>
                <a:ea typeface="楷体" panose="02010609060101010101" pitchFamily="49" charset="-122"/>
              </a:rPr>
              <a:t>作用：</a:t>
            </a:r>
            <a:r>
              <a:rPr lang="zh-CN" altLang="en-US" dirty="0">
                <a:solidFill>
                  <a:srgbClr val="FF0066"/>
                </a:solidFill>
                <a:latin typeface="楷体" panose="02010609060101010101" pitchFamily="49" charset="-122"/>
                <a:ea typeface="楷体" panose="02010609060101010101" pitchFamily="49" charset="-122"/>
              </a:rPr>
              <a:t>取出</a:t>
            </a:r>
            <a:r>
              <a:rPr lang="zh-CN" altLang="en-US" dirty="0">
                <a:latin typeface="楷体" panose="02010609060101010101" pitchFamily="49" charset="-122"/>
                <a:ea typeface="楷体" panose="02010609060101010101" pitchFamily="49" charset="-122"/>
              </a:rPr>
              <a:t>目的操作数中与源操作数的</a:t>
            </a:r>
            <a:r>
              <a:rPr lang="zh-CN" altLang="en-US" dirty="0">
                <a:solidFill>
                  <a:srgbClr val="FF0066"/>
                </a:solidFill>
                <a:latin typeface="楷体" panose="02010609060101010101" pitchFamily="49" charset="-122"/>
                <a:ea typeface="楷体" panose="02010609060101010101" pitchFamily="49" charset="-122"/>
              </a:rPr>
              <a:t>“</a:t>
            </a:r>
            <a:r>
              <a:rPr lang="en-US" altLang="zh-CN" dirty="0">
                <a:solidFill>
                  <a:srgbClr val="FF0066"/>
                </a:solidFill>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对应的位</a:t>
            </a:r>
          </a:p>
          <a:p>
            <a:pPr marL="0" indent="0">
              <a:lnSpc>
                <a:spcPct val="150000"/>
              </a:lnSpc>
              <a:buNone/>
            </a:pPr>
            <a:r>
              <a:rPr lang="zh-CN" altLang="en-US" dirty="0">
                <a:solidFill>
                  <a:srgbClr val="000099"/>
                </a:solidFill>
                <a:latin typeface="楷体" panose="02010609060101010101" pitchFamily="49" charset="-122"/>
                <a:ea typeface="楷体" panose="02010609060101010101" pitchFamily="49" charset="-122"/>
              </a:rPr>
              <a:t>例：</a:t>
            </a:r>
            <a:r>
              <a:rPr lang="en-US" altLang="zh-CN" dirty="0">
                <a:solidFill>
                  <a:srgbClr val="000099"/>
                </a:solidFill>
                <a:latin typeface="楷体" panose="02010609060101010101" pitchFamily="49" charset="-122"/>
                <a:ea typeface="楷体" panose="02010609060101010101" pitchFamily="49" charset="-122"/>
              </a:rPr>
              <a:t>MOV  AX,  0F6E5H</a:t>
            </a:r>
          </a:p>
          <a:p>
            <a:pPr marL="0" indent="0">
              <a:lnSpc>
                <a:spcPct val="150000"/>
              </a:lnSpc>
              <a:buNone/>
            </a:pPr>
            <a:r>
              <a:rPr lang="en-US" altLang="zh-CN" dirty="0">
                <a:solidFill>
                  <a:srgbClr val="000099"/>
                </a:solidFill>
                <a:latin typeface="楷体" panose="02010609060101010101" pitchFamily="49" charset="-122"/>
                <a:ea typeface="楷体" panose="02010609060101010101" pitchFamily="49" charset="-122"/>
              </a:rPr>
              <a:t>    AND  AX,  000FH;  AX=0005H</a:t>
            </a:r>
            <a:endParaRPr lang="zh-CN" altLang="en-US" dirty="0">
              <a:solidFill>
                <a:srgbClr val="000099"/>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41681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28625" y="1071563"/>
            <a:ext cx="8429625" cy="55721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spcAft>
                <a:spcPts val="1200"/>
              </a:spcAft>
              <a:buNone/>
            </a:pPr>
            <a:r>
              <a:rPr lang="en-US" altLang="zh-CN" sz="2600" dirty="0">
                <a:solidFill>
                  <a:srgbClr val="000000"/>
                </a:solidFill>
                <a:latin typeface="楷体" panose="02010609060101010101" pitchFamily="49" charset="-122"/>
                <a:ea typeface="楷体" panose="02010609060101010101" pitchFamily="49" charset="-122"/>
              </a:rPr>
              <a:t> 4. </a:t>
            </a:r>
            <a:r>
              <a:rPr lang="zh-CN" altLang="en-US" sz="2600" dirty="0">
                <a:solidFill>
                  <a:srgbClr val="000000"/>
                </a:solidFill>
                <a:latin typeface="楷体" panose="02010609060101010101" pitchFamily="49" charset="-122"/>
                <a:ea typeface="楷体" panose="02010609060101010101" pitchFamily="49" charset="-122"/>
              </a:rPr>
              <a:t>逻辑或指令</a:t>
            </a:r>
            <a:r>
              <a:rPr lang="en-US" altLang="zh-CN" sz="2600" dirty="0">
                <a:solidFill>
                  <a:srgbClr val="000000"/>
                </a:solidFill>
                <a:latin typeface="楷体" panose="02010609060101010101" pitchFamily="49" charset="-122"/>
                <a:ea typeface="楷体" panose="02010609060101010101" pitchFamily="49" charset="-122"/>
              </a:rPr>
              <a:t>OR</a:t>
            </a:r>
            <a:endParaRPr lang="zh-CN" altLang="en-US" sz="2600" dirty="0">
              <a:latin typeface="楷体" panose="02010609060101010101" pitchFamily="49" charset="-122"/>
              <a:ea typeface="楷体" panose="02010609060101010101" pitchFamily="49" charset="-122"/>
            </a:endParaRPr>
          </a:p>
          <a:p>
            <a:pPr marL="0" indent="0">
              <a:lnSpc>
                <a:spcPct val="150000"/>
              </a:lnSpc>
              <a:spcBef>
                <a:spcPts val="600"/>
              </a:spcBef>
              <a:buNone/>
            </a:pPr>
            <a:r>
              <a:rPr lang="zh-CN" altLang="en-US" sz="2600" dirty="0">
                <a:latin typeface="楷体" panose="02010609060101010101" pitchFamily="49" charset="-122"/>
                <a:ea typeface="楷体" panose="02010609060101010101" pitchFamily="49" charset="-122"/>
              </a:rPr>
              <a:t> 格式：</a:t>
            </a:r>
            <a:r>
              <a:rPr lang="en-US" altLang="zh-CN" sz="2600" dirty="0">
                <a:solidFill>
                  <a:srgbClr val="FF0066"/>
                </a:solidFill>
                <a:latin typeface="楷体" panose="02010609060101010101" pitchFamily="49" charset="-122"/>
                <a:ea typeface="楷体" panose="02010609060101010101" pitchFamily="49" charset="-122"/>
              </a:rPr>
              <a:t>OR  </a:t>
            </a:r>
            <a:r>
              <a:rPr lang="en-US" altLang="zh-CN" sz="2600" dirty="0" err="1">
                <a:solidFill>
                  <a:srgbClr val="FF0066"/>
                </a:solidFill>
                <a:latin typeface="楷体" panose="02010609060101010101" pitchFamily="49" charset="-122"/>
                <a:ea typeface="楷体" panose="02010609060101010101" pitchFamily="49" charset="-122"/>
              </a:rPr>
              <a:t>dest</a:t>
            </a:r>
            <a:r>
              <a:rPr lang="zh-CN" altLang="en-US" sz="2600" dirty="0">
                <a:solidFill>
                  <a:srgbClr val="FF0066"/>
                </a:solidFill>
                <a:latin typeface="楷体" panose="02010609060101010101" pitchFamily="49" charset="-122"/>
                <a:ea typeface="楷体" panose="02010609060101010101" pitchFamily="49" charset="-122"/>
              </a:rPr>
              <a:t>，</a:t>
            </a:r>
            <a:r>
              <a:rPr lang="en-US" altLang="zh-CN" sz="2600" dirty="0">
                <a:solidFill>
                  <a:srgbClr val="FF0066"/>
                </a:solidFill>
                <a:latin typeface="楷体" panose="02010609060101010101" pitchFamily="49" charset="-122"/>
                <a:ea typeface="楷体" panose="02010609060101010101" pitchFamily="49" charset="-122"/>
              </a:rPr>
              <a:t>source</a:t>
            </a:r>
          </a:p>
          <a:p>
            <a:pPr marL="0" indent="0">
              <a:lnSpc>
                <a:spcPct val="150000"/>
              </a:lnSpc>
              <a:spcBef>
                <a:spcPts val="600"/>
              </a:spcBef>
              <a:buNone/>
            </a:pPr>
            <a:r>
              <a:rPr lang="en-US" altLang="zh-CN" sz="2600" dirty="0">
                <a:latin typeface="楷体" panose="02010609060101010101" pitchFamily="49" charset="-122"/>
                <a:ea typeface="楷体" panose="02010609060101010101" pitchFamily="49" charset="-122"/>
              </a:rPr>
              <a:t> </a:t>
            </a:r>
            <a:r>
              <a:rPr lang="zh-CN" altLang="en-US" sz="2600" dirty="0">
                <a:latin typeface="楷体" panose="02010609060101010101" pitchFamily="49" charset="-122"/>
                <a:ea typeface="楷体" panose="02010609060101010101" pitchFamily="49" charset="-122"/>
              </a:rPr>
              <a:t>操作：</a:t>
            </a:r>
            <a:r>
              <a:rPr lang="en-US" altLang="zh-CN" sz="2600" dirty="0" err="1">
                <a:solidFill>
                  <a:srgbClr val="003399"/>
                </a:solidFill>
                <a:latin typeface="楷体" panose="02010609060101010101" pitchFamily="49" charset="-122"/>
                <a:ea typeface="楷体" panose="02010609060101010101" pitchFamily="49" charset="-122"/>
              </a:rPr>
              <a:t>dest</a:t>
            </a:r>
            <a:r>
              <a:rPr lang="en-US" altLang="zh-CN" sz="2600" dirty="0">
                <a:solidFill>
                  <a:srgbClr val="003399"/>
                </a:solidFill>
                <a:latin typeface="楷体" panose="02010609060101010101" pitchFamily="49" charset="-122"/>
                <a:ea typeface="楷体" panose="02010609060101010101" pitchFamily="49" charset="-122"/>
              </a:rPr>
              <a:t> ∨ </a:t>
            </a:r>
            <a:r>
              <a:rPr lang="en-US" altLang="zh-CN" sz="2600" dirty="0" err="1">
                <a:solidFill>
                  <a:srgbClr val="003399"/>
                </a:solidFill>
                <a:latin typeface="楷体" panose="02010609060101010101" pitchFamily="49" charset="-122"/>
                <a:ea typeface="楷体" panose="02010609060101010101" pitchFamily="49" charset="-122"/>
              </a:rPr>
              <a:t>source→dest</a:t>
            </a:r>
            <a:endParaRPr lang="en-US" altLang="zh-CN" sz="2600" dirty="0">
              <a:solidFill>
                <a:srgbClr val="003399"/>
              </a:solidFill>
              <a:latin typeface="楷体" panose="02010609060101010101" pitchFamily="49" charset="-122"/>
              <a:ea typeface="楷体" panose="02010609060101010101" pitchFamily="49" charset="-122"/>
            </a:endParaRPr>
          </a:p>
          <a:p>
            <a:pPr marL="0" indent="0">
              <a:lnSpc>
                <a:spcPct val="150000"/>
              </a:lnSpc>
              <a:spcBef>
                <a:spcPts val="600"/>
              </a:spcBef>
              <a:spcAft>
                <a:spcPts val="1200"/>
              </a:spcAft>
              <a:buNone/>
            </a:pPr>
            <a:r>
              <a:rPr lang="en-US" altLang="zh-CN" sz="2600" dirty="0">
                <a:latin typeface="楷体" panose="02010609060101010101" pitchFamily="49" charset="-122"/>
                <a:ea typeface="楷体" panose="02010609060101010101" pitchFamily="49" charset="-122"/>
              </a:rPr>
              <a:t> </a:t>
            </a:r>
            <a:r>
              <a:rPr lang="zh-CN" altLang="en-US" sz="2600" dirty="0">
                <a:latin typeface="楷体" panose="02010609060101010101" pitchFamily="49" charset="-122"/>
                <a:ea typeface="楷体" panose="02010609060101010101" pitchFamily="49" charset="-122"/>
              </a:rPr>
              <a:t>作用：将目的操作数和源操作数中的所有“</a:t>
            </a:r>
            <a:r>
              <a:rPr lang="en-US" altLang="zh-CN" sz="2600" dirty="0">
                <a:latin typeface="楷体" panose="02010609060101010101" pitchFamily="49" charset="-122"/>
                <a:ea typeface="楷体" panose="02010609060101010101" pitchFamily="49" charset="-122"/>
              </a:rPr>
              <a:t>1”</a:t>
            </a:r>
            <a:r>
              <a:rPr lang="zh-CN" altLang="en-US" sz="2600" dirty="0">
                <a:latin typeface="楷体" panose="02010609060101010101" pitchFamily="49" charset="-122"/>
                <a:ea typeface="楷体" panose="02010609060101010101" pitchFamily="49" charset="-122"/>
              </a:rPr>
              <a:t>位</a:t>
            </a:r>
            <a:r>
              <a:rPr lang="zh-CN" altLang="en-US" sz="2600" dirty="0">
                <a:solidFill>
                  <a:srgbClr val="FF0066"/>
                </a:solidFill>
                <a:latin typeface="楷体" panose="02010609060101010101" pitchFamily="49" charset="-122"/>
                <a:ea typeface="楷体" panose="02010609060101010101" pitchFamily="49" charset="-122"/>
              </a:rPr>
              <a:t>拼合</a:t>
            </a:r>
            <a:r>
              <a:rPr lang="zh-CN" altLang="en-US" sz="2600" dirty="0">
                <a:latin typeface="楷体" panose="02010609060101010101" pitchFamily="49" charset="-122"/>
                <a:ea typeface="楷体" panose="02010609060101010101" pitchFamily="49" charset="-122"/>
              </a:rPr>
              <a:t>在一起  </a:t>
            </a:r>
          </a:p>
          <a:p>
            <a:pPr marL="0" indent="0">
              <a:lnSpc>
                <a:spcPct val="150000"/>
              </a:lnSpc>
              <a:spcBef>
                <a:spcPts val="600"/>
              </a:spcBef>
              <a:buNone/>
            </a:pPr>
            <a:r>
              <a:rPr lang="zh-CN" altLang="en-US" sz="2600" dirty="0">
                <a:solidFill>
                  <a:srgbClr val="000099"/>
                </a:solidFill>
                <a:latin typeface="楷体" panose="02010609060101010101" pitchFamily="49" charset="-122"/>
                <a:ea typeface="楷体" panose="02010609060101010101" pitchFamily="49" charset="-122"/>
              </a:rPr>
              <a:t>例：</a:t>
            </a:r>
            <a:r>
              <a:rPr lang="en-US" altLang="zh-CN" sz="2600" dirty="0">
                <a:solidFill>
                  <a:srgbClr val="000099"/>
                </a:solidFill>
                <a:latin typeface="楷体" panose="02010609060101010101" pitchFamily="49" charset="-122"/>
                <a:ea typeface="楷体" panose="02010609060101010101" pitchFamily="49" charset="-122"/>
              </a:rPr>
              <a:t>MOV BX</a:t>
            </a:r>
            <a:r>
              <a:rPr lang="zh-CN" altLang="en-US" sz="2600" dirty="0">
                <a:solidFill>
                  <a:srgbClr val="000099"/>
                </a:solidFill>
                <a:latin typeface="楷体" panose="02010609060101010101" pitchFamily="49" charset="-122"/>
                <a:ea typeface="楷体" panose="02010609060101010101" pitchFamily="49" charset="-122"/>
              </a:rPr>
              <a:t>，</a:t>
            </a:r>
            <a:r>
              <a:rPr lang="en-US" altLang="zh-CN" sz="2600" dirty="0">
                <a:solidFill>
                  <a:srgbClr val="000099"/>
                </a:solidFill>
                <a:latin typeface="楷体" panose="02010609060101010101" pitchFamily="49" charset="-122"/>
                <a:ea typeface="楷体" panose="02010609060101010101" pitchFamily="49" charset="-122"/>
              </a:rPr>
              <a:t>7B00H</a:t>
            </a:r>
            <a:endParaRPr lang="zh-CN" altLang="en-US" sz="2600" dirty="0">
              <a:solidFill>
                <a:srgbClr val="000099"/>
              </a:solidFill>
              <a:latin typeface="楷体" panose="02010609060101010101" pitchFamily="49" charset="-122"/>
              <a:ea typeface="楷体" panose="02010609060101010101" pitchFamily="49" charset="-122"/>
            </a:endParaRPr>
          </a:p>
          <a:p>
            <a:pPr marL="0" indent="0">
              <a:lnSpc>
                <a:spcPct val="150000"/>
              </a:lnSpc>
              <a:spcBef>
                <a:spcPts val="600"/>
              </a:spcBef>
              <a:buNone/>
            </a:pPr>
            <a:r>
              <a:rPr lang="zh-CN" altLang="en-US" sz="2600" dirty="0">
                <a:solidFill>
                  <a:srgbClr val="000099"/>
                </a:solidFill>
                <a:latin typeface="楷体" panose="02010609060101010101" pitchFamily="49" charset="-122"/>
                <a:ea typeface="楷体" panose="02010609060101010101" pitchFamily="49" charset="-122"/>
              </a:rPr>
              <a:t>    </a:t>
            </a:r>
            <a:r>
              <a:rPr lang="en-US" altLang="zh-CN" sz="2600" dirty="0">
                <a:solidFill>
                  <a:srgbClr val="000099"/>
                </a:solidFill>
                <a:latin typeface="楷体" panose="02010609060101010101" pitchFamily="49" charset="-122"/>
                <a:ea typeface="楷体" panose="02010609060101010101" pitchFamily="49" charset="-122"/>
              </a:rPr>
              <a:t>OR  BX</a:t>
            </a:r>
            <a:r>
              <a:rPr lang="zh-CN" altLang="en-US" sz="2600" dirty="0">
                <a:solidFill>
                  <a:srgbClr val="000099"/>
                </a:solidFill>
                <a:latin typeface="楷体" panose="02010609060101010101" pitchFamily="49" charset="-122"/>
                <a:ea typeface="楷体" panose="02010609060101010101" pitchFamily="49" charset="-122"/>
              </a:rPr>
              <a:t>，</a:t>
            </a:r>
            <a:r>
              <a:rPr lang="en-US" altLang="zh-CN" sz="2600" dirty="0">
                <a:solidFill>
                  <a:srgbClr val="000099"/>
                </a:solidFill>
                <a:latin typeface="楷体" panose="02010609060101010101" pitchFamily="49" charset="-122"/>
                <a:ea typeface="楷体" panose="02010609060101010101" pitchFamily="49" charset="-122"/>
              </a:rPr>
              <a:t>0056H  </a:t>
            </a:r>
            <a:r>
              <a:rPr lang="zh-CN" altLang="en-US" sz="2600" dirty="0">
                <a:solidFill>
                  <a:srgbClr val="000099"/>
                </a:solidFill>
                <a:latin typeface="楷体" panose="02010609060101010101" pitchFamily="49" charset="-122"/>
                <a:ea typeface="楷体" panose="02010609060101010101" pitchFamily="49" charset="-122"/>
              </a:rPr>
              <a:t>；</a:t>
            </a:r>
            <a:r>
              <a:rPr lang="en-US" altLang="zh-CN" sz="2600" dirty="0">
                <a:solidFill>
                  <a:srgbClr val="000099"/>
                </a:solidFill>
                <a:latin typeface="楷体" panose="02010609060101010101" pitchFamily="49" charset="-122"/>
                <a:ea typeface="楷体" panose="02010609060101010101" pitchFamily="49" charset="-122"/>
              </a:rPr>
              <a:t>BX=7B56H →</a:t>
            </a:r>
            <a:r>
              <a:rPr lang="zh-CN" altLang="en-US" sz="2600" dirty="0">
                <a:solidFill>
                  <a:srgbClr val="000099"/>
                </a:solidFill>
                <a:latin typeface="楷体" panose="02010609060101010101" pitchFamily="49" charset="-122"/>
                <a:ea typeface="楷体" panose="02010609060101010101" pitchFamily="49" charset="-122"/>
              </a:rPr>
              <a:t>对应“</a:t>
            </a:r>
            <a:r>
              <a:rPr lang="en-US" altLang="zh-CN" sz="2600" dirty="0">
                <a:solidFill>
                  <a:srgbClr val="000099"/>
                </a:solidFill>
                <a:latin typeface="楷体" panose="02010609060101010101" pitchFamily="49" charset="-122"/>
                <a:ea typeface="楷体" panose="02010609060101010101" pitchFamily="49" charset="-122"/>
              </a:rPr>
              <a:t>1”</a:t>
            </a:r>
            <a:r>
              <a:rPr lang="zh-CN" altLang="en-US" sz="2600" dirty="0">
                <a:solidFill>
                  <a:srgbClr val="000099"/>
                </a:solidFill>
                <a:latin typeface="楷体" panose="02010609060101010101" pitchFamily="49" charset="-122"/>
                <a:ea typeface="楷体" panose="02010609060101010101" pitchFamily="49" charset="-122"/>
              </a:rPr>
              <a:t>位置为</a:t>
            </a:r>
            <a:r>
              <a:rPr lang="en-US" altLang="zh-CN" sz="2600" dirty="0">
                <a:solidFill>
                  <a:srgbClr val="000099"/>
                </a:solidFill>
                <a:latin typeface="楷体" panose="02010609060101010101" pitchFamily="49" charset="-122"/>
                <a:ea typeface="楷体" panose="02010609060101010101" pitchFamily="49" charset="-122"/>
              </a:rPr>
              <a:t>1</a:t>
            </a:r>
            <a:r>
              <a:rPr lang="zh-CN" altLang="en-US" sz="2600" dirty="0">
                <a:solidFill>
                  <a:srgbClr val="000099"/>
                </a:solidFill>
                <a:latin typeface="楷体" panose="02010609060101010101" pitchFamily="49" charset="-122"/>
                <a:ea typeface="楷体" panose="02010609060101010101" pitchFamily="49" charset="-122"/>
              </a:rPr>
              <a:t>， 对应“</a:t>
            </a:r>
            <a:r>
              <a:rPr lang="en-US" altLang="zh-CN" sz="2600" dirty="0">
                <a:solidFill>
                  <a:srgbClr val="000099"/>
                </a:solidFill>
                <a:latin typeface="楷体" panose="02010609060101010101" pitchFamily="49" charset="-122"/>
                <a:ea typeface="楷体" panose="02010609060101010101" pitchFamily="49" charset="-122"/>
              </a:rPr>
              <a:t>0”</a:t>
            </a:r>
            <a:r>
              <a:rPr lang="zh-CN" altLang="en-US" sz="2600" dirty="0">
                <a:solidFill>
                  <a:srgbClr val="000099"/>
                </a:solidFill>
                <a:latin typeface="楷体" panose="02010609060101010101" pitchFamily="49" charset="-122"/>
                <a:ea typeface="楷体" panose="02010609060101010101" pitchFamily="49" charset="-122"/>
              </a:rPr>
              <a:t>位则不变</a:t>
            </a:r>
          </a:p>
        </p:txBody>
      </p:sp>
    </p:spTree>
    <p:extLst>
      <p:ext uri="{BB962C8B-B14F-4D97-AF65-F5344CB8AC3E}">
        <p14:creationId xmlns:p14="http://schemas.microsoft.com/office/powerpoint/2010/main" val="22583680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14313" y="1144665"/>
            <a:ext cx="8786812" cy="51228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dirty="0">
                <a:latin typeface="楷体" panose="02010609060101010101" pitchFamily="49" charset="-122"/>
                <a:ea typeface="楷体" panose="02010609060101010101" pitchFamily="49" charset="-122"/>
              </a:rPr>
              <a:t> </a:t>
            </a:r>
            <a:r>
              <a:rPr lang="en-US" altLang="zh-CN" dirty="0">
                <a:solidFill>
                  <a:srgbClr val="000000"/>
                </a:solidFill>
                <a:latin typeface="楷体" panose="02010609060101010101" pitchFamily="49" charset="-122"/>
                <a:ea typeface="楷体" panose="02010609060101010101" pitchFamily="49" charset="-122"/>
              </a:rPr>
              <a:t>5. </a:t>
            </a:r>
            <a:r>
              <a:rPr lang="zh-CN" altLang="en-US" dirty="0">
                <a:solidFill>
                  <a:srgbClr val="000000"/>
                </a:solidFill>
                <a:latin typeface="楷体" panose="02010609060101010101" pitchFamily="49" charset="-122"/>
                <a:ea typeface="楷体" panose="02010609060101010101" pitchFamily="49" charset="-122"/>
              </a:rPr>
              <a:t>逻辑异或指令</a:t>
            </a:r>
            <a:r>
              <a:rPr lang="en-US" altLang="zh-CN" dirty="0">
                <a:solidFill>
                  <a:srgbClr val="000000"/>
                </a:solidFill>
                <a:latin typeface="楷体" panose="02010609060101010101" pitchFamily="49" charset="-122"/>
                <a:ea typeface="楷体" panose="02010609060101010101" pitchFamily="49" charset="-122"/>
              </a:rPr>
              <a:t>XOR</a:t>
            </a:r>
            <a:endParaRPr lang="en-US" altLang="zh-CN" dirty="0">
              <a:latin typeface="楷体" panose="02010609060101010101" pitchFamily="49" charset="-122"/>
              <a:ea typeface="楷体" panose="02010609060101010101" pitchFamily="49" charset="-122"/>
            </a:endParaRPr>
          </a:p>
          <a:p>
            <a:pPr marL="0" indent="0">
              <a:lnSpc>
                <a:spcPct val="125000"/>
              </a:lnSpc>
              <a:buNone/>
            </a:pPr>
            <a:r>
              <a:rPr lang="zh-CN" altLang="en-US" dirty="0">
                <a:latin typeface="楷体" panose="02010609060101010101" pitchFamily="49" charset="-122"/>
                <a:ea typeface="楷体" panose="02010609060101010101" pitchFamily="49" charset="-122"/>
              </a:rPr>
              <a:t>  格式：</a:t>
            </a:r>
            <a:r>
              <a:rPr lang="en-US" altLang="zh-CN" dirty="0">
                <a:solidFill>
                  <a:srgbClr val="FF0066"/>
                </a:solidFill>
                <a:latin typeface="楷体" panose="02010609060101010101" pitchFamily="49" charset="-122"/>
                <a:ea typeface="楷体" panose="02010609060101010101" pitchFamily="49" charset="-122"/>
              </a:rPr>
              <a:t>XOR   </a:t>
            </a:r>
            <a:r>
              <a:rPr lang="en-US" altLang="zh-CN" dirty="0" err="1">
                <a:solidFill>
                  <a:srgbClr val="FF0066"/>
                </a:solidFill>
                <a:latin typeface="楷体" panose="02010609060101010101" pitchFamily="49" charset="-122"/>
                <a:ea typeface="楷体" panose="02010609060101010101" pitchFamily="49" charset="-122"/>
              </a:rPr>
              <a:t>dest</a:t>
            </a:r>
            <a:r>
              <a:rPr lang="zh-CN" altLang="en-US" dirty="0">
                <a:solidFill>
                  <a:srgbClr val="FF0066"/>
                </a:solidFill>
                <a:latin typeface="楷体" panose="02010609060101010101" pitchFamily="49" charset="-122"/>
                <a:ea typeface="楷体" panose="02010609060101010101" pitchFamily="49" charset="-122"/>
              </a:rPr>
              <a:t>，</a:t>
            </a:r>
            <a:r>
              <a:rPr lang="en-US" altLang="zh-CN" dirty="0">
                <a:solidFill>
                  <a:srgbClr val="FF0066"/>
                </a:solidFill>
                <a:latin typeface="楷体" panose="02010609060101010101" pitchFamily="49" charset="-122"/>
                <a:ea typeface="楷体" panose="02010609060101010101" pitchFamily="49" charset="-122"/>
              </a:rPr>
              <a:t>source</a:t>
            </a:r>
          </a:p>
          <a:p>
            <a:pPr marL="0" indent="0">
              <a:lnSpc>
                <a:spcPct val="125000"/>
              </a:lnSpc>
              <a:buNone/>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操作：</a:t>
            </a:r>
            <a:r>
              <a:rPr lang="en-US" altLang="zh-CN" dirty="0" err="1">
                <a:solidFill>
                  <a:srgbClr val="003399"/>
                </a:solidFill>
                <a:latin typeface="楷体" panose="02010609060101010101" pitchFamily="49" charset="-122"/>
                <a:ea typeface="楷体" panose="02010609060101010101" pitchFamily="49" charset="-122"/>
              </a:rPr>
              <a:t>dest</a:t>
            </a:r>
            <a:r>
              <a:rPr lang="en-US" altLang="zh-CN" dirty="0">
                <a:solidFill>
                  <a:srgbClr val="003399"/>
                </a:solidFill>
                <a:latin typeface="楷体" panose="02010609060101010101" pitchFamily="49" charset="-122"/>
                <a:ea typeface="楷体" panose="02010609060101010101" pitchFamily="49" charset="-122"/>
              </a:rPr>
              <a:t> ⊕ </a:t>
            </a:r>
            <a:r>
              <a:rPr lang="en-US" altLang="zh-CN" dirty="0" err="1">
                <a:solidFill>
                  <a:srgbClr val="003399"/>
                </a:solidFill>
                <a:latin typeface="楷体" panose="02010609060101010101" pitchFamily="49" charset="-122"/>
                <a:ea typeface="楷体" panose="02010609060101010101" pitchFamily="49" charset="-122"/>
              </a:rPr>
              <a:t>source→dest</a:t>
            </a:r>
            <a:endParaRPr lang="zh-CN" altLang="en-US" dirty="0">
              <a:latin typeface="楷体" panose="02010609060101010101" pitchFamily="49" charset="-122"/>
              <a:ea typeface="楷体" panose="02010609060101010101" pitchFamily="49" charset="-122"/>
            </a:endParaRPr>
          </a:p>
          <a:p>
            <a:pPr marL="0" indent="0">
              <a:lnSpc>
                <a:spcPct val="125000"/>
              </a:lnSpc>
              <a:buClr>
                <a:schemeClr val="accent1"/>
              </a:buClr>
              <a:buSzPct val="65000"/>
              <a:buNone/>
            </a:pPr>
            <a:r>
              <a:rPr lang="zh-CN" altLang="en-US" dirty="0">
                <a:solidFill>
                  <a:srgbClr val="FF0000"/>
                </a:solidFill>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作用：可将操作数中的某些位</a:t>
            </a:r>
            <a:r>
              <a:rPr lang="zh-CN" altLang="en-US" dirty="0">
                <a:solidFill>
                  <a:srgbClr val="FF0000"/>
                </a:solidFill>
                <a:latin typeface="楷体" panose="02010609060101010101" pitchFamily="49" charset="-122"/>
                <a:ea typeface="楷体" panose="02010609060101010101" pitchFamily="49" charset="-122"/>
              </a:rPr>
              <a:t>取反、保持不变</a:t>
            </a:r>
            <a:r>
              <a:rPr lang="zh-CN" altLang="en-US" dirty="0">
                <a:latin typeface="楷体" panose="02010609060101010101" pitchFamily="49" charset="-122"/>
                <a:ea typeface="楷体" panose="02010609060101010101" pitchFamily="49" charset="-122"/>
              </a:rPr>
              <a:t>或</a:t>
            </a:r>
            <a:r>
              <a:rPr lang="zh-CN" altLang="en-US" dirty="0">
                <a:solidFill>
                  <a:srgbClr val="FF0000"/>
                </a:solidFill>
                <a:latin typeface="楷体" panose="02010609060101010101" pitchFamily="49" charset="-122"/>
                <a:ea typeface="楷体" panose="02010609060101010101" pitchFamily="49" charset="-122"/>
              </a:rPr>
              <a:t>清零</a:t>
            </a:r>
          </a:p>
          <a:p>
            <a:pPr marL="0" indent="0">
              <a:lnSpc>
                <a:spcPct val="125000"/>
              </a:lnSpc>
              <a:spcBef>
                <a:spcPct val="70000"/>
              </a:spcBef>
              <a:buNone/>
            </a:pPr>
            <a:r>
              <a:rPr lang="zh-CN" altLang="en-US" dirty="0">
                <a:solidFill>
                  <a:schemeClr val="tx2"/>
                </a:solidFill>
                <a:latin typeface="楷体" panose="02010609060101010101" pitchFamily="49" charset="-122"/>
                <a:ea typeface="楷体" panose="02010609060101010101" pitchFamily="49" charset="-122"/>
              </a:rPr>
              <a:t>  </a:t>
            </a:r>
            <a:r>
              <a:rPr lang="zh-CN" altLang="en-US" dirty="0">
                <a:solidFill>
                  <a:srgbClr val="000099"/>
                </a:solidFill>
                <a:latin typeface="楷体" panose="02010609060101010101" pitchFamily="49" charset="-122"/>
                <a:ea typeface="楷体" panose="02010609060101010101" pitchFamily="49" charset="-122"/>
              </a:rPr>
              <a:t>例</a:t>
            </a:r>
            <a:r>
              <a:rPr lang="en-US" altLang="zh-CN" dirty="0">
                <a:solidFill>
                  <a:srgbClr val="000099"/>
                </a:solidFill>
                <a:latin typeface="楷体" panose="02010609060101010101" pitchFamily="49" charset="-122"/>
                <a:ea typeface="楷体" panose="02010609060101010101" pitchFamily="49" charset="-122"/>
              </a:rPr>
              <a:t>: MOV  CX, 35EBH</a:t>
            </a:r>
            <a:br>
              <a:rPr lang="en-US" altLang="zh-CN" dirty="0">
                <a:solidFill>
                  <a:srgbClr val="000099"/>
                </a:solidFill>
                <a:latin typeface="楷体" panose="02010609060101010101" pitchFamily="49" charset="-122"/>
                <a:ea typeface="楷体" panose="02010609060101010101" pitchFamily="49" charset="-122"/>
              </a:rPr>
            </a:br>
            <a:r>
              <a:rPr lang="en-US" altLang="zh-CN" dirty="0">
                <a:solidFill>
                  <a:srgbClr val="000099"/>
                </a:solidFill>
                <a:latin typeface="楷体" panose="02010609060101010101" pitchFamily="49" charset="-122"/>
                <a:ea typeface="楷体" panose="02010609060101010101" pitchFamily="49" charset="-122"/>
              </a:rPr>
              <a:t>      XOR  CX, 00FFH  ;  CX=3514H</a:t>
            </a:r>
          </a:p>
          <a:p>
            <a:pPr marL="0" indent="0">
              <a:lnSpc>
                <a:spcPct val="125000"/>
              </a:lnSpc>
              <a:spcBef>
                <a:spcPts val="3600"/>
              </a:spcBef>
              <a:buNone/>
            </a:pPr>
            <a:r>
              <a:rPr lang="zh-CN" altLang="en-US" dirty="0">
                <a:solidFill>
                  <a:srgbClr val="FF0000"/>
                </a:solidFill>
                <a:latin typeface="楷体" panose="02010609060101010101" pitchFamily="49" charset="-122"/>
                <a:ea typeface="楷体" panose="02010609060101010101" pitchFamily="49" charset="-122"/>
              </a:rPr>
              <a:t>思考：用什么方法可以实现对通用寄存器清</a:t>
            </a:r>
            <a:r>
              <a:rPr lang="en-US" altLang="zh-CN" dirty="0">
                <a:solidFill>
                  <a:srgbClr val="FF0000"/>
                </a:solidFill>
                <a:latin typeface="楷体" panose="02010609060101010101" pitchFamily="49" charset="-122"/>
                <a:ea typeface="楷体" panose="02010609060101010101" pitchFamily="49" charset="-122"/>
              </a:rPr>
              <a:t>0</a:t>
            </a:r>
            <a:r>
              <a:rPr lang="zh-CN" altLang="en-US" dirty="0">
                <a:solidFill>
                  <a:srgbClr val="FF0000"/>
                </a:solidFill>
                <a:latin typeface="楷体" panose="02010609060101010101" pitchFamily="49" charset="-122"/>
                <a:ea typeface="楷体" panose="02010609060101010101" pitchFamily="49" charset="-122"/>
              </a:rPr>
              <a:t>？</a:t>
            </a:r>
          </a:p>
        </p:txBody>
      </p:sp>
      <p:sp>
        <p:nvSpPr>
          <p:cNvPr id="3" name="Rectangle 4"/>
          <p:cNvSpPr>
            <a:spLocks noChangeArrowheads="1"/>
          </p:cNvSpPr>
          <p:nvPr/>
        </p:nvSpPr>
        <p:spPr bwMode="auto">
          <a:xfrm>
            <a:off x="6337300" y="3627500"/>
            <a:ext cx="2663825" cy="2016125"/>
          </a:xfrm>
          <a:prstGeom prst="rect">
            <a:avLst/>
          </a:prstGeom>
          <a:solidFill>
            <a:srgbClr val="EAEAEA"/>
          </a:solidFill>
          <a:ln w="9525">
            <a:solidFill>
              <a:schemeClr val="tx1"/>
            </a:solidFill>
            <a:miter lim="800000"/>
            <a:headEnd/>
            <a:tailEnd/>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chemeClr val="tx2"/>
              </a:buClr>
              <a:buFont typeface="Arial" panose="020B0604020202020204" pitchFamily="34" charset="0"/>
              <a:buNone/>
            </a:pPr>
            <a:r>
              <a:rPr lang="en-US" altLang="zh-CN" sz="2600" dirty="0">
                <a:solidFill>
                  <a:srgbClr val="FF0066"/>
                </a:solidFill>
                <a:latin typeface="楷体_GB2312" pitchFamily="49" charset="-122"/>
                <a:ea typeface="楷体_GB2312" pitchFamily="49" charset="-122"/>
              </a:rPr>
              <a:t>  </a:t>
            </a:r>
            <a:r>
              <a:rPr lang="en-US" altLang="zh-CN" sz="2600" dirty="0">
                <a:latin typeface="楷体_GB2312" pitchFamily="49" charset="-122"/>
                <a:ea typeface="楷体_GB2312" pitchFamily="49" charset="-122"/>
              </a:rPr>
              <a:t>XOR  AX</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AX</a:t>
            </a:r>
          </a:p>
          <a:p>
            <a:pPr eaLnBrk="1" hangingPunct="1">
              <a:buClr>
                <a:schemeClr val="tx2"/>
              </a:buClr>
              <a:buFont typeface="Arial" panose="020B0604020202020204" pitchFamily="34" charset="0"/>
              <a:buNone/>
            </a:pPr>
            <a:r>
              <a:rPr lang="en-US" altLang="zh-CN" sz="2600" dirty="0">
                <a:latin typeface="楷体_GB2312" pitchFamily="49" charset="-122"/>
                <a:ea typeface="楷体_GB2312" pitchFamily="49" charset="-122"/>
              </a:rPr>
              <a:t>  MOV  AX</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0</a:t>
            </a:r>
          </a:p>
          <a:p>
            <a:pPr eaLnBrk="1" hangingPunct="1">
              <a:buClr>
                <a:schemeClr val="tx2"/>
              </a:buClr>
              <a:buFont typeface="Arial" panose="020B0604020202020204" pitchFamily="34" charset="0"/>
              <a:buNone/>
            </a:pPr>
            <a:r>
              <a:rPr lang="en-US" altLang="zh-CN" sz="2600" dirty="0">
                <a:latin typeface="楷体_GB2312" pitchFamily="49" charset="-122"/>
                <a:ea typeface="楷体_GB2312" pitchFamily="49" charset="-122"/>
              </a:rPr>
              <a:t>  SUB  AX</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AX</a:t>
            </a:r>
          </a:p>
          <a:p>
            <a:pPr eaLnBrk="1" hangingPunct="1">
              <a:buClr>
                <a:schemeClr val="tx2"/>
              </a:buClr>
              <a:buFont typeface="Arial" panose="020B0604020202020204" pitchFamily="34" charset="0"/>
              <a:buNone/>
            </a:pPr>
            <a:r>
              <a:rPr lang="en-US" altLang="zh-CN" sz="2600" dirty="0">
                <a:latin typeface="楷体_GB2312" pitchFamily="49" charset="-122"/>
                <a:ea typeface="楷体_GB2312" pitchFamily="49" charset="-122"/>
              </a:rPr>
              <a:t>  AND  AX</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0</a:t>
            </a:r>
            <a:r>
              <a:rPr lang="en-US" altLang="zh-CN" sz="2600" dirty="0">
                <a:solidFill>
                  <a:srgbClr val="FF0066"/>
                </a:solidFill>
                <a:latin typeface="楷体_GB2312" pitchFamily="49" charset="-122"/>
                <a:ea typeface="楷体_GB2312" pitchFamily="49" charset="-122"/>
              </a:rPr>
              <a:t> </a:t>
            </a:r>
            <a:endParaRPr lang="zh-CN" altLang="en-US" sz="2400" b="0" dirty="0">
              <a:solidFill>
                <a:srgbClr val="FF0066"/>
              </a:solidFill>
              <a:latin typeface="Arial" panose="020B0604020202020204" pitchFamily="34" charset="0"/>
            </a:endParaRPr>
          </a:p>
        </p:txBody>
      </p:sp>
    </p:spTree>
    <p:extLst>
      <p:ext uri="{BB962C8B-B14F-4D97-AF65-F5344CB8AC3E}">
        <p14:creationId xmlns:p14="http://schemas.microsoft.com/office/powerpoint/2010/main" val="268553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23850" y="1125538"/>
            <a:ext cx="8569325" cy="51864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Clr>
                <a:srgbClr val="00B0F0"/>
              </a:buClr>
              <a:buSzPct val="80000"/>
              <a:buFont typeface="Wingdings" panose="05000000000000000000" pitchFamily="2" charset="2"/>
              <a:buNone/>
            </a:pPr>
            <a:r>
              <a:rPr lang="en-US" altLang="zh-CN" dirty="0">
                <a:latin typeface="楷体" panose="02010609060101010101" pitchFamily="49" charset="-122"/>
                <a:ea typeface="楷体" panose="02010609060101010101" pitchFamily="49" charset="-122"/>
              </a:rPr>
              <a:t>AND</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OR</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XOR</a:t>
            </a:r>
            <a:r>
              <a:rPr lang="zh-CN" altLang="en-US" dirty="0">
                <a:latin typeface="楷体" panose="02010609060101010101" pitchFamily="49" charset="-122"/>
                <a:ea typeface="楷体" panose="02010609060101010101" pitchFamily="49" charset="-122"/>
              </a:rPr>
              <a:t>指令均为双操作数指令</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对源操作数和目的操作数的要求同加减指令</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如下图所示：</a:t>
            </a:r>
            <a:endParaRPr lang="en-US" altLang="zh-CN" dirty="0">
              <a:latin typeface="楷体" panose="02010609060101010101" pitchFamily="49" charset="-122"/>
              <a:ea typeface="楷体" panose="02010609060101010101" pitchFamily="49" charset="-122"/>
            </a:endParaRPr>
          </a:p>
          <a:p>
            <a:pPr marL="0" indent="0">
              <a:lnSpc>
                <a:spcPct val="150000"/>
              </a:lnSpc>
              <a:spcBef>
                <a:spcPct val="0"/>
              </a:spcBef>
              <a:buClr>
                <a:srgbClr val="00B0F0"/>
              </a:buClr>
              <a:buSzPct val="80000"/>
              <a:buFont typeface="Wingdings" panose="05000000000000000000" pitchFamily="2" charset="2"/>
              <a:buNone/>
            </a:pPr>
            <a:endParaRPr lang="en-US" altLang="zh-CN" dirty="0">
              <a:latin typeface="楷体" panose="02010609060101010101" pitchFamily="49" charset="-122"/>
              <a:ea typeface="楷体" panose="02010609060101010101" pitchFamily="49" charset="-122"/>
            </a:endParaRPr>
          </a:p>
          <a:p>
            <a:pPr marL="0" indent="0">
              <a:lnSpc>
                <a:spcPct val="150000"/>
              </a:lnSpc>
              <a:spcBef>
                <a:spcPct val="0"/>
              </a:spcBef>
              <a:buClr>
                <a:srgbClr val="00B0F0"/>
              </a:buClr>
              <a:buSzPct val="80000"/>
              <a:buFont typeface="Wingdings" panose="05000000000000000000" pitchFamily="2" charset="2"/>
              <a:buNone/>
            </a:pPr>
            <a:endParaRPr lang="zh-CN" altLang="en-US" dirty="0">
              <a:latin typeface="楷体" panose="02010609060101010101" pitchFamily="49" charset="-122"/>
              <a:ea typeface="楷体" panose="02010609060101010101" pitchFamily="49" charset="-122"/>
            </a:endParaRPr>
          </a:p>
          <a:p>
            <a:pPr marL="0" indent="0">
              <a:lnSpc>
                <a:spcPct val="150000"/>
              </a:lnSpc>
              <a:spcBef>
                <a:spcPct val="0"/>
              </a:spcBef>
              <a:buClr>
                <a:srgbClr val="00B0F0"/>
              </a:buClr>
              <a:buSzPct val="80000"/>
              <a:buFont typeface="Wingdings" panose="05000000000000000000" pitchFamily="2" charset="2"/>
              <a:buNone/>
            </a:pPr>
            <a:endParaRPr lang="en-US" altLang="zh-CN" dirty="0">
              <a:latin typeface="楷体" panose="02010609060101010101" pitchFamily="49" charset="-122"/>
              <a:ea typeface="楷体" panose="02010609060101010101" pitchFamily="49" charset="-122"/>
            </a:endParaRPr>
          </a:p>
          <a:p>
            <a:pPr marL="0" indent="0">
              <a:lnSpc>
                <a:spcPct val="150000"/>
              </a:lnSpc>
              <a:spcBef>
                <a:spcPct val="0"/>
              </a:spcBef>
              <a:buClr>
                <a:srgbClr val="00B0F0"/>
              </a:buClr>
              <a:buSzPct val="80000"/>
              <a:buFont typeface="Wingdings" panose="05000000000000000000" pitchFamily="2" charset="2"/>
              <a:buNone/>
            </a:pPr>
            <a:endParaRPr lang="en-US" altLang="zh-CN" dirty="0">
              <a:latin typeface="楷体" panose="02010609060101010101" pitchFamily="49" charset="-122"/>
              <a:ea typeface="楷体" panose="02010609060101010101" pitchFamily="49" charset="-122"/>
            </a:endParaRPr>
          </a:p>
          <a:p>
            <a:pPr marL="0" indent="0">
              <a:lnSpc>
                <a:spcPct val="150000"/>
              </a:lnSpc>
              <a:spcBef>
                <a:spcPct val="0"/>
              </a:spcBef>
              <a:buClr>
                <a:srgbClr val="00B0F0"/>
              </a:buClr>
              <a:buSzPct val="80000"/>
              <a:buFont typeface="Wingdings" panose="05000000000000000000" pitchFamily="2" charset="2"/>
              <a:buNone/>
            </a:pPr>
            <a:r>
              <a:rPr lang="zh-CN" altLang="en-US" dirty="0">
                <a:latin typeface="楷体" panose="02010609060101010101" pitchFamily="49" charset="-122"/>
                <a:ea typeface="楷体" panose="02010609060101010101" pitchFamily="49" charset="-122"/>
              </a:rPr>
              <a:t>此类指令常用于</a:t>
            </a:r>
            <a:r>
              <a:rPr lang="zh-CN" altLang="en-US" dirty="0">
                <a:solidFill>
                  <a:srgbClr val="FF0000"/>
                </a:solidFill>
                <a:latin typeface="楷体" panose="02010609060101010101" pitchFamily="49" charset="-122"/>
                <a:ea typeface="楷体" panose="02010609060101010101" pitchFamily="49" charset="-122"/>
              </a:rPr>
              <a:t>拆字、拼字</a:t>
            </a:r>
          </a:p>
        </p:txBody>
      </p:sp>
      <p:sp>
        <p:nvSpPr>
          <p:cNvPr id="3" name="Rectangle 5"/>
          <p:cNvSpPr>
            <a:spLocks noChangeArrowheads="1"/>
          </p:cNvSpPr>
          <p:nvPr/>
        </p:nvSpPr>
        <p:spPr bwMode="auto">
          <a:xfrm>
            <a:off x="0"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2800">
              <a:solidFill>
                <a:schemeClr val="tx2"/>
              </a:solidFill>
              <a:latin typeface="楷体" panose="02010609060101010101" pitchFamily="49" charset="-122"/>
              <a:ea typeface="楷体" panose="02010609060101010101" pitchFamily="49" charset="-122"/>
            </a:endParaRPr>
          </a:p>
        </p:txBody>
      </p:sp>
      <p:graphicFrame>
        <p:nvGraphicFramePr>
          <p:cNvPr id="4" name="Object 7"/>
          <p:cNvGraphicFramePr>
            <a:graphicFrameLocks/>
          </p:cNvGraphicFramePr>
          <p:nvPr>
            <p:extLst>
              <p:ext uri="{D42A27DB-BD31-4B8C-83A1-F6EECF244321}">
                <p14:modId xmlns:p14="http://schemas.microsoft.com/office/powerpoint/2010/main" val="1480990192"/>
              </p:ext>
            </p:extLst>
          </p:nvPr>
        </p:nvGraphicFramePr>
        <p:xfrm>
          <a:off x="323850" y="2978043"/>
          <a:ext cx="8633442" cy="1540691"/>
        </p:xfrm>
        <a:graphic>
          <a:graphicData uri="http://schemas.openxmlformats.org/presentationml/2006/ole">
            <mc:AlternateContent xmlns:mc="http://schemas.openxmlformats.org/markup-compatibility/2006">
              <mc:Choice xmlns:v="urn:schemas-microsoft-com:vml" Requires="v">
                <p:oleObj r:id="rId2" imgW="5582429" imgH="1038370" progId="PBrush">
                  <p:embed/>
                </p:oleObj>
              </mc:Choice>
              <mc:Fallback>
                <p:oleObj r:id="rId2" imgW="5582429" imgH="1038370" progId="PBrush">
                  <p:embed/>
                  <p:pic>
                    <p:nvPicPr>
                      <p:cNvPr id="83972"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978043"/>
                        <a:ext cx="8633442" cy="154069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97085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2056" y="1294753"/>
            <a:ext cx="8158162" cy="17058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2400" b="1">
                <a:latin typeface="楷体" panose="02010609060101010101" pitchFamily="49" charset="-122"/>
                <a:ea typeface="楷体" panose="02010609060101010101" pitchFamily="49" charset="-122"/>
              </a:rPr>
              <a:t>例</a:t>
            </a:r>
            <a:r>
              <a:rPr lang="en-US" altLang="zh-CN" sz="2400" b="1">
                <a:latin typeface="楷体" panose="02010609060101010101" pitchFamily="49" charset="-122"/>
                <a:ea typeface="楷体" panose="02010609060101010101" pitchFamily="49" charset="-122"/>
              </a:rPr>
              <a:t>: </a:t>
            </a:r>
            <a:r>
              <a:rPr lang="zh-CN" altLang="en-US" sz="2400">
                <a:latin typeface="楷体" panose="02010609060101010101" pitchFamily="49" charset="-122"/>
                <a:ea typeface="楷体" panose="02010609060101010101" pitchFamily="49" charset="-122"/>
              </a:rPr>
              <a:t>将</a:t>
            </a:r>
            <a:r>
              <a:rPr lang="en-US" altLang="zh-CN" sz="2400">
                <a:latin typeface="楷体" panose="02010609060101010101" pitchFamily="49" charset="-122"/>
                <a:ea typeface="楷体" panose="02010609060101010101" pitchFamily="49" charset="-122"/>
              </a:rPr>
              <a:t>AX</a:t>
            </a:r>
            <a:r>
              <a:rPr lang="zh-CN" altLang="en-US" sz="2400">
                <a:latin typeface="楷体" panose="02010609060101010101" pitchFamily="49" charset="-122"/>
                <a:ea typeface="楷体" panose="02010609060101010101" pitchFamily="49" charset="-122"/>
              </a:rPr>
              <a:t>的高</a:t>
            </a:r>
            <a:r>
              <a:rPr lang="en-US" altLang="zh-CN" sz="2400">
                <a:latin typeface="楷体" panose="02010609060101010101" pitchFamily="49" charset="-122"/>
                <a:ea typeface="楷体" panose="02010609060101010101" pitchFamily="49" charset="-122"/>
              </a:rPr>
              <a:t>4</a:t>
            </a:r>
            <a:r>
              <a:rPr lang="zh-CN" altLang="en-US" sz="2400">
                <a:latin typeface="楷体" panose="02010609060101010101" pitchFamily="49" charset="-122"/>
                <a:ea typeface="楷体" panose="02010609060101010101" pitchFamily="49" charset="-122"/>
              </a:rPr>
              <a:t>位</a:t>
            </a:r>
            <a:r>
              <a:rPr lang="en-US" altLang="zh-CN" sz="2400">
                <a:latin typeface="楷体" panose="02010609060101010101" pitchFamily="49" charset="-122"/>
                <a:ea typeface="楷体" panose="02010609060101010101" pitchFamily="49" charset="-122"/>
              </a:rPr>
              <a:t>, BX</a:t>
            </a:r>
            <a:r>
              <a:rPr lang="zh-CN" altLang="en-US" sz="2400">
                <a:latin typeface="楷体" panose="02010609060101010101" pitchFamily="49" charset="-122"/>
                <a:ea typeface="楷体" panose="02010609060101010101" pitchFamily="49" charset="-122"/>
              </a:rPr>
              <a:t>的低</a:t>
            </a:r>
            <a:r>
              <a:rPr lang="en-US" altLang="zh-CN" sz="2400">
                <a:latin typeface="楷体" panose="02010609060101010101" pitchFamily="49" charset="-122"/>
                <a:ea typeface="楷体" panose="02010609060101010101" pitchFamily="49" charset="-122"/>
              </a:rPr>
              <a:t>4</a:t>
            </a:r>
            <a:r>
              <a:rPr lang="zh-CN" altLang="en-US" sz="2400">
                <a:latin typeface="楷体" panose="02010609060101010101" pitchFamily="49" charset="-122"/>
                <a:ea typeface="楷体" panose="02010609060101010101" pitchFamily="49" charset="-122"/>
              </a:rPr>
              <a:t>位</a:t>
            </a: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 </a:t>
            </a:r>
            <a:r>
              <a:rPr lang="en-US" altLang="zh-CN" sz="2400">
                <a:latin typeface="楷体" panose="02010609060101010101" pitchFamily="49" charset="-122"/>
                <a:ea typeface="楷体" panose="02010609060101010101" pitchFamily="49" charset="-122"/>
              </a:rPr>
              <a:t>CX</a:t>
            </a:r>
            <a:r>
              <a:rPr lang="zh-CN" altLang="en-US" sz="2400">
                <a:latin typeface="楷体" panose="02010609060101010101" pitchFamily="49" charset="-122"/>
                <a:ea typeface="楷体" panose="02010609060101010101" pitchFamily="49" charset="-122"/>
              </a:rPr>
              <a:t>的中间</a:t>
            </a:r>
            <a:r>
              <a:rPr lang="en-US" altLang="zh-CN" sz="2400">
                <a:latin typeface="楷体" panose="02010609060101010101" pitchFamily="49" charset="-122"/>
                <a:ea typeface="楷体" panose="02010609060101010101" pitchFamily="49" charset="-122"/>
              </a:rPr>
              <a:t>8</a:t>
            </a:r>
            <a:r>
              <a:rPr lang="zh-CN" altLang="en-US" sz="2400">
                <a:latin typeface="楷体" panose="02010609060101010101" pitchFamily="49" charset="-122"/>
                <a:ea typeface="楷体" panose="02010609060101010101" pitchFamily="49" charset="-122"/>
              </a:rPr>
              <a:t>位拼合起来，程序段如下：</a:t>
            </a:r>
          </a:p>
          <a:p>
            <a:pPr marL="0" indent="0">
              <a:lnSpc>
                <a:spcPct val="125000"/>
              </a:lnSpc>
              <a:spcBef>
                <a:spcPct val="30000"/>
              </a:spcBef>
              <a:spcAft>
                <a:spcPct val="40000"/>
              </a:spcAft>
              <a:buNone/>
            </a:pPr>
            <a:r>
              <a:rPr lang="zh-CN" altLang="en-US" sz="2400">
                <a:latin typeface="楷体" panose="02010609060101010101" pitchFamily="49" charset="-122"/>
                <a:ea typeface="楷体" panose="02010609060101010101" pitchFamily="49" charset="-122"/>
              </a:rPr>
              <a:t>如</a:t>
            </a:r>
            <a:r>
              <a:rPr lang="en-US" altLang="zh-CN" sz="2400">
                <a:latin typeface="楷体" panose="02010609060101010101" pitchFamily="49" charset="-122"/>
                <a:ea typeface="楷体" panose="02010609060101010101" pitchFamily="49" charset="-122"/>
              </a:rPr>
              <a:t>: AX=1234H,BX=5678H,CX=9ABCH</a:t>
            </a:r>
          </a:p>
        </p:txBody>
      </p:sp>
      <p:sp>
        <p:nvSpPr>
          <p:cNvPr id="3" name="矩形 2"/>
          <p:cNvSpPr>
            <a:spLocks noChangeArrowheads="1"/>
          </p:cNvSpPr>
          <p:nvPr/>
        </p:nvSpPr>
        <p:spPr bwMode="auto">
          <a:xfrm>
            <a:off x="148524" y="3328510"/>
            <a:ext cx="7459639"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0"/>
              </a:spcBef>
              <a:buFont typeface="Wingdings 2" panose="05020102010507070707" pitchFamily="18" charset="2"/>
              <a:buNone/>
            </a:pPr>
            <a:r>
              <a:rPr lang="en-US" altLang="zh-CN" sz="2400" dirty="0">
                <a:solidFill>
                  <a:srgbClr val="003399"/>
                </a:solidFill>
                <a:latin typeface="楷体" panose="02010609060101010101" pitchFamily="49" charset="-122"/>
                <a:ea typeface="楷体" panose="02010609060101010101" pitchFamily="49" charset="-122"/>
              </a:rPr>
              <a:t>   AND  AH,  0F0H;  </a:t>
            </a:r>
            <a:r>
              <a:rPr lang="zh-CN" altLang="en-US" sz="2400" dirty="0">
                <a:solidFill>
                  <a:srgbClr val="003399"/>
                </a:solidFill>
                <a:latin typeface="楷体" panose="02010609060101010101" pitchFamily="49" charset="-122"/>
                <a:ea typeface="楷体" panose="02010609060101010101" pitchFamily="49" charset="-122"/>
              </a:rPr>
              <a:t>取</a:t>
            </a:r>
            <a:r>
              <a:rPr lang="en-US" altLang="zh-CN" sz="2400" dirty="0">
                <a:solidFill>
                  <a:srgbClr val="003399"/>
                </a:solidFill>
                <a:latin typeface="楷体" panose="02010609060101010101" pitchFamily="49" charset="-122"/>
                <a:ea typeface="楷体" panose="02010609060101010101" pitchFamily="49" charset="-122"/>
              </a:rPr>
              <a:t>AX</a:t>
            </a:r>
            <a:r>
              <a:rPr lang="zh-CN" altLang="en-US" sz="2400" dirty="0">
                <a:solidFill>
                  <a:srgbClr val="003399"/>
                </a:solidFill>
                <a:latin typeface="楷体" panose="02010609060101010101" pitchFamily="49" charset="-122"/>
                <a:ea typeface="楷体" panose="02010609060101010101" pitchFamily="49" charset="-122"/>
              </a:rPr>
              <a:t>高</a:t>
            </a:r>
            <a:r>
              <a:rPr lang="en-US" altLang="zh-CN" sz="2400" dirty="0">
                <a:solidFill>
                  <a:srgbClr val="003399"/>
                </a:solidFill>
                <a:latin typeface="楷体" panose="02010609060101010101" pitchFamily="49" charset="-122"/>
                <a:ea typeface="楷体" panose="02010609060101010101" pitchFamily="49" charset="-122"/>
              </a:rPr>
              <a:t>4</a:t>
            </a:r>
            <a:r>
              <a:rPr lang="zh-CN" altLang="en-US" sz="2400" dirty="0">
                <a:solidFill>
                  <a:srgbClr val="003399"/>
                </a:solidFill>
                <a:latin typeface="楷体" panose="02010609060101010101" pitchFamily="49" charset="-122"/>
                <a:ea typeface="楷体" panose="02010609060101010101" pitchFamily="49" charset="-122"/>
              </a:rPr>
              <a:t>位</a:t>
            </a:r>
            <a:r>
              <a:rPr lang="en-US" altLang="zh-CN" sz="2400" dirty="0">
                <a:solidFill>
                  <a:srgbClr val="003399"/>
                </a:solidFill>
                <a:latin typeface="楷体" panose="02010609060101010101" pitchFamily="49" charset="-122"/>
                <a:ea typeface="楷体" panose="02010609060101010101" pitchFamily="49" charset="-122"/>
              </a:rPr>
              <a:t>,AH=10H</a:t>
            </a:r>
          </a:p>
          <a:p>
            <a:pPr eaLnBrk="1" hangingPunct="1">
              <a:lnSpc>
                <a:spcPct val="125000"/>
              </a:lnSpc>
              <a:spcBef>
                <a:spcPct val="0"/>
              </a:spcBef>
              <a:buFont typeface="Wingdings 2" panose="05020102010507070707" pitchFamily="18" charset="2"/>
              <a:buNone/>
            </a:pPr>
            <a:r>
              <a:rPr lang="en-US" altLang="zh-CN" sz="2400" dirty="0">
                <a:solidFill>
                  <a:srgbClr val="003399"/>
                </a:solidFill>
                <a:latin typeface="楷体" panose="02010609060101010101" pitchFamily="49" charset="-122"/>
                <a:ea typeface="楷体" panose="02010609060101010101" pitchFamily="49" charset="-122"/>
              </a:rPr>
              <a:t>   AND  BL,  0FH;  </a:t>
            </a:r>
            <a:r>
              <a:rPr lang="zh-CN" altLang="en-US" sz="2400" dirty="0">
                <a:solidFill>
                  <a:srgbClr val="003399"/>
                </a:solidFill>
                <a:latin typeface="楷体" panose="02010609060101010101" pitchFamily="49" charset="-122"/>
                <a:ea typeface="楷体" panose="02010609060101010101" pitchFamily="49" charset="-122"/>
              </a:rPr>
              <a:t>取</a:t>
            </a:r>
            <a:r>
              <a:rPr lang="en-US" altLang="zh-CN" sz="2400" dirty="0">
                <a:solidFill>
                  <a:srgbClr val="003399"/>
                </a:solidFill>
                <a:latin typeface="楷体" panose="02010609060101010101" pitchFamily="49" charset="-122"/>
                <a:ea typeface="楷体" panose="02010609060101010101" pitchFamily="49" charset="-122"/>
              </a:rPr>
              <a:t>BX</a:t>
            </a:r>
            <a:r>
              <a:rPr lang="zh-CN" altLang="en-US" sz="2400" dirty="0">
                <a:solidFill>
                  <a:srgbClr val="003399"/>
                </a:solidFill>
                <a:latin typeface="楷体" panose="02010609060101010101" pitchFamily="49" charset="-122"/>
                <a:ea typeface="楷体" panose="02010609060101010101" pitchFamily="49" charset="-122"/>
              </a:rPr>
              <a:t>低</a:t>
            </a:r>
            <a:r>
              <a:rPr lang="en-US" altLang="zh-CN" sz="2400" dirty="0">
                <a:solidFill>
                  <a:srgbClr val="003399"/>
                </a:solidFill>
                <a:latin typeface="楷体" panose="02010609060101010101" pitchFamily="49" charset="-122"/>
                <a:ea typeface="楷体" panose="02010609060101010101" pitchFamily="49" charset="-122"/>
              </a:rPr>
              <a:t>4</a:t>
            </a:r>
            <a:r>
              <a:rPr lang="zh-CN" altLang="en-US" sz="2400" dirty="0">
                <a:solidFill>
                  <a:srgbClr val="003399"/>
                </a:solidFill>
                <a:latin typeface="楷体" panose="02010609060101010101" pitchFamily="49" charset="-122"/>
                <a:ea typeface="楷体" panose="02010609060101010101" pitchFamily="49" charset="-122"/>
              </a:rPr>
              <a:t>位</a:t>
            </a:r>
            <a:r>
              <a:rPr lang="en-US" altLang="zh-CN" sz="2400" dirty="0">
                <a:solidFill>
                  <a:srgbClr val="003399"/>
                </a:solidFill>
                <a:latin typeface="楷体" panose="02010609060101010101" pitchFamily="49" charset="-122"/>
                <a:ea typeface="楷体" panose="02010609060101010101" pitchFamily="49" charset="-122"/>
              </a:rPr>
              <a:t>,BL=08H</a:t>
            </a:r>
          </a:p>
          <a:p>
            <a:pPr eaLnBrk="1" hangingPunct="1">
              <a:lnSpc>
                <a:spcPct val="125000"/>
              </a:lnSpc>
              <a:spcBef>
                <a:spcPct val="0"/>
              </a:spcBef>
              <a:buFont typeface="Wingdings 2" panose="05020102010507070707" pitchFamily="18" charset="2"/>
              <a:buNone/>
            </a:pPr>
            <a:r>
              <a:rPr lang="en-US" altLang="zh-CN" sz="2400" dirty="0">
                <a:solidFill>
                  <a:srgbClr val="003399"/>
                </a:solidFill>
                <a:latin typeface="楷体" panose="02010609060101010101" pitchFamily="49" charset="-122"/>
                <a:ea typeface="楷体" panose="02010609060101010101" pitchFamily="49" charset="-122"/>
              </a:rPr>
              <a:t>   AND  CX,  0FF0H;  </a:t>
            </a:r>
            <a:r>
              <a:rPr lang="zh-CN" altLang="en-US" sz="2400" dirty="0">
                <a:solidFill>
                  <a:srgbClr val="003399"/>
                </a:solidFill>
                <a:latin typeface="楷体" panose="02010609060101010101" pitchFamily="49" charset="-122"/>
                <a:ea typeface="楷体" panose="02010609060101010101" pitchFamily="49" charset="-122"/>
              </a:rPr>
              <a:t>取</a:t>
            </a:r>
            <a:r>
              <a:rPr lang="en-US" altLang="zh-CN" sz="2400" dirty="0">
                <a:solidFill>
                  <a:srgbClr val="003399"/>
                </a:solidFill>
                <a:latin typeface="楷体" panose="02010609060101010101" pitchFamily="49" charset="-122"/>
                <a:ea typeface="楷体" panose="02010609060101010101" pitchFamily="49" charset="-122"/>
              </a:rPr>
              <a:t>CX</a:t>
            </a:r>
            <a:r>
              <a:rPr lang="zh-CN" altLang="en-US" sz="2400" dirty="0">
                <a:solidFill>
                  <a:srgbClr val="003399"/>
                </a:solidFill>
                <a:latin typeface="楷体" panose="02010609060101010101" pitchFamily="49" charset="-122"/>
                <a:ea typeface="楷体" panose="02010609060101010101" pitchFamily="49" charset="-122"/>
              </a:rPr>
              <a:t>中间</a:t>
            </a:r>
            <a:r>
              <a:rPr lang="en-US" altLang="zh-CN" sz="2400" dirty="0">
                <a:solidFill>
                  <a:srgbClr val="003399"/>
                </a:solidFill>
                <a:latin typeface="楷体" panose="02010609060101010101" pitchFamily="49" charset="-122"/>
                <a:ea typeface="楷体" panose="02010609060101010101" pitchFamily="49" charset="-122"/>
              </a:rPr>
              <a:t>8</a:t>
            </a:r>
            <a:r>
              <a:rPr lang="zh-CN" altLang="en-US" sz="2400" dirty="0">
                <a:solidFill>
                  <a:srgbClr val="003399"/>
                </a:solidFill>
                <a:latin typeface="楷体" panose="02010609060101010101" pitchFamily="49" charset="-122"/>
                <a:ea typeface="楷体" panose="02010609060101010101" pitchFamily="49" charset="-122"/>
              </a:rPr>
              <a:t>位</a:t>
            </a:r>
            <a:r>
              <a:rPr lang="en-US" altLang="zh-CN" sz="2400" dirty="0">
                <a:solidFill>
                  <a:srgbClr val="003399"/>
                </a:solidFill>
                <a:latin typeface="楷体" panose="02010609060101010101" pitchFamily="49" charset="-122"/>
                <a:ea typeface="楷体" panose="02010609060101010101" pitchFamily="49" charset="-122"/>
              </a:rPr>
              <a:t>,CX=0AB0H</a:t>
            </a:r>
          </a:p>
          <a:p>
            <a:pPr eaLnBrk="1" hangingPunct="1">
              <a:lnSpc>
                <a:spcPct val="125000"/>
              </a:lnSpc>
              <a:spcBef>
                <a:spcPct val="0"/>
              </a:spcBef>
              <a:buFont typeface="Wingdings 2" panose="05020102010507070707" pitchFamily="18" charset="2"/>
              <a:buNone/>
            </a:pPr>
            <a:r>
              <a:rPr lang="en-US" altLang="zh-CN" sz="2400" dirty="0">
                <a:solidFill>
                  <a:srgbClr val="003399"/>
                </a:solidFill>
                <a:latin typeface="楷体" panose="02010609060101010101" pitchFamily="49" charset="-122"/>
                <a:ea typeface="楷体" panose="02010609060101010101" pitchFamily="49" charset="-122"/>
              </a:rPr>
              <a:t>   OR   CH,  AH;  </a:t>
            </a:r>
            <a:r>
              <a:rPr lang="zh-CN" altLang="en-US" sz="2400" dirty="0">
                <a:solidFill>
                  <a:srgbClr val="003399"/>
                </a:solidFill>
                <a:latin typeface="楷体" panose="02010609060101010101" pitchFamily="49" charset="-122"/>
                <a:ea typeface="楷体" panose="02010609060101010101" pitchFamily="49" charset="-122"/>
              </a:rPr>
              <a:t>拼字 </a:t>
            </a:r>
            <a:r>
              <a:rPr lang="en-US" altLang="zh-CN" sz="2400" dirty="0">
                <a:solidFill>
                  <a:srgbClr val="003399"/>
                </a:solidFill>
                <a:latin typeface="楷体" panose="02010609060101010101" pitchFamily="49" charset="-122"/>
                <a:ea typeface="楷体" panose="02010609060101010101" pitchFamily="49" charset="-122"/>
              </a:rPr>
              <a:t>CH=1AH </a:t>
            </a:r>
          </a:p>
          <a:p>
            <a:pPr eaLnBrk="1" hangingPunct="1">
              <a:lnSpc>
                <a:spcPct val="125000"/>
              </a:lnSpc>
              <a:spcBef>
                <a:spcPct val="0"/>
              </a:spcBef>
              <a:buFont typeface="Wingdings 2" panose="05020102010507070707" pitchFamily="18" charset="2"/>
              <a:buNone/>
            </a:pPr>
            <a:r>
              <a:rPr lang="en-US" altLang="zh-CN" sz="2400" dirty="0">
                <a:solidFill>
                  <a:srgbClr val="003399"/>
                </a:solidFill>
                <a:latin typeface="楷体" panose="02010609060101010101" pitchFamily="49" charset="-122"/>
                <a:ea typeface="楷体" panose="02010609060101010101" pitchFamily="49" charset="-122"/>
              </a:rPr>
              <a:t>   OR   CL,  BL;  CL=0B8H   CX=1AB8H</a:t>
            </a:r>
            <a:endParaRPr lang="zh-CN" altLang="en-US" sz="2400" dirty="0">
              <a:solidFill>
                <a:srgbClr val="003399"/>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2142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移位指令</a:t>
            </a:r>
          </a:p>
        </p:txBody>
      </p:sp>
      <p:sp>
        <p:nvSpPr>
          <p:cNvPr id="3" name="Rectangle 3"/>
          <p:cNvSpPr txBox="1">
            <a:spLocks noChangeArrowheads="1"/>
          </p:cNvSpPr>
          <p:nvPr/>
        </p:nvSpPr>
        <p:spPr>
          <a:xfrm>
            <a:off x="373280" y="2179837"/>
            <a:ext cx="8850620" cy="42195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Clr>
                <a:srgbClr val="00B0F0"/>
              </a:buClr>
              <a:buSzPct val="80000"/>
              <a:buNone/>
            </a:pPr>
            <a:r>
              <a:rPr lang="zh-CN" altLang="en-US" sz="2400" dirty="0">
                <a:latin typeface="楷体" panose="02010609060101010101" pitchFamily="49" charset="-122"/>
                <a:ea typeface="楷体" panose="02010609060101010101" pitchFamily="49" charset="-122"/>
              </a:rPr>
              <a:t>移位指令为双操作数指令，用于将目的操作数中的二进制数移位</a:t>
            </a:r>
          </a:p>
          <a:p>
            <a:pPr marL="609600" indent="-609600">
              <a:lnSpc>
                <a:spcPct val="150000"/>
              </a:lnSpc>
              <a:buClr>
                <a:srgbClr val="00B0F0"/>
              </a:buClr>
              <a:buSzPct val="8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目的操作数仅可以是</a:t>
            </a:r>
            <a:r>
              <a:rPr lang="en-US" altLang="zh-CN" sz="2400" dirty="0">
                <a:latin typeface="楷体" panose="02010609060101010101" pitchFamily="49" charset="-122"/>
                <a:ea typeface="楷体" panose="02010609060101010101" pitchFamily="49" charset="-122"/>
              </a:rPr>
              <a:t>REG</a:t>
            </a:r>
            <a:r>
              <a:rPr lang="zh-CN" altLang="en-US" sz="2400" dirty="0">
                <a:latin typeface="楷体" panose="02010609060101010101" pitchFamily="49" charset="-122"/>
                <a:ea typeface="楷体" panose="02010609060101010101" pitchFamily="49" charset="-122"/>
              </a:rPr>
              <a:t>或</a:t>
            </a:r>
            <a:r>
              <a:rPr lang="en-US" altLang="zh-CN" sz="2400" dirty="0">
                <a:latin typeface="楷体" panose="02010609060101010101" pitchFamily="49" charset="-122"/>
                <a:ea typeface="楷体" panose="02010609060101010101" pitchFamily="49" charset="-122"/>
              </a:rPr>
              <a:t>MEM</a:t>
            </a:r>
            <a:endParaRPr lang="zh-CN" altLang="en-US" sz="2400" dirty="0">
              <a:latin typeface="楷体" panose="02010609060101010101" pitchFamily="49" charset="-122"/>
              <a:ea typeface="楷体" panose="02010609060101010101" pitchFamily="49" charset="-122"/>
            </a:endParaRPr>
          </a:p>
          <a:p>
            <a:pPr marL="609600" indent="-609600">
              <a:lnSpc>
                <a:spcPct val="150000"/>
              </a:lnSpc>
              <a:buClr>
                <a:srgbClr val="00B0F0"/>
              </a:buClr>
              <a:buSzPct val="8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源操作数为</a:t>
            </a:r>
            <a:r>
              <a:rPr lang="zh-CN" altLang="en-US" sz="2400" dirty="0">
                <a:solidFill>
                  <a:srgbClr val="FF0000"/>
                </a:solidFill>
                <a:latin typeface="楷体" panose="02010609060101010101" pitchFamily="49" charset="-122"/>
                <a:ea typeface="楷体" panose="02010609060101010101" pitchFamily="49" charset="-122"/>
              </a:rPr>
              <a:t>移位的次数，只能是</a:t>
            </a:r>
            <a:r>
              <a:rPr lang="en-US" altLang="zh-CN" sz="2400" dirty="0">
                <a:solidFill>
                  <a:srgbClr val="FF0000"/>
                </a:solidFill>
                <a:latin typeface="楷体" panose="02010609060101010101" pitchFamily="49" charset="-122"/>
                <a:ea typeface="楷体" panose="02010609060101010101" pitchFamily="49" charset="-122"/>
              </a:rPr>
              <a:t>CL</a:t>
            </a:r>
            <a:r>
              <a:rPr lang="zh-CN" altLang="en-US" sz="2400" dirty="0">
                <a:solidFill>
                  <a:srgbClr val="FF0000"/>
                </a:solidFill>
                <a:latin typeface="楷体" panose="02010609060101010101" pitchFamily="49" charset="-122"/>
                <a:ea typeface="楷体" panose="02010609060101010101" pitchFamily="49" charset="-122"/>
              </a:rPr>
              <a:t>或立即数</a:t>
            </a:r>
            <a:r>
              <a:rPr lang="en-US" altLang="zh-CN" sz="2400" dirty="0">
                <a:solidFill>
                  <a:srgbClr val="FF0000"/>
                </a:solidFill>
                <a:latin typeface="楷体" panose="02010609060101010101" pitchFamily="49" charset="-122"/>
                <a:ea typeface="楷体" panose="02010609060101010101" pitchFamily="49" charset="-122"/>
              </a:rPr>
              <a:t>1</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a:solidFill>
                  <a:srgbClr val="FF0000"/>
                </a:solidFill>
                <a:latin typeface="楷体" panose="02010609060101010101" pitchFamily="49" charset="-122"/>
                <a:ea typeface="楷体" panose="02010609060101010101" pitchFamily="49" charset="-122"/>
              </a:rPr>
              <a:t>31</a:t>
            </a:r>
            <a:r>
              <a:rPr lang="en-US" altLang="zh-CN" sz="2400" dirty="0">
                <a:solidFill>
                  <a:srgbClr val="FF0066"/>
                </a:solidFill>
                <a:latin typeface="楷体" panose="02010609060101010101" pitchFamily="49" charset="-122"/>
                <a:ea typeface="楷体" panose="02010609060101010101" pitchFamily="49" charset="-122"/>
              </a:rPr>
              <a:t>,</a:t>
            </a:r>
          </a:p>
          <a:p>
            <a:pPr marL="609600" indent="-609600">
              <a:lnSpc>
                <a:spcPct val="150000"/>
              </a:lnSpc>
              <a:spcBef>
                <a:spcPct val="0"/>
              </a:spcBef>
              <a:buClr>
                <a:srgbClr val="00B0F0"/>
              </a:buClr>
              <a:buSzPct val="80000"/>
              <a:buFont typeface="Wingdings" panose="05000000000000000000" pitchFamily="2" charset="2"/>
              <a:buNone/>
            </a:pPr>
            <a:r>
              <a:rPr lang="en-US" altLang="zh-CN" sz="2400" dirty="0">
                <a:solidFill>
                  <a:srgbClr val="FF0000"/>
                </a:solidFill>
                <a:latin typeface="楷体" panose="02010609060101010101" pitchFamily="49" charset="-122"/>
                <a:ea typeface="楷体" panose="02010609060101010101" pitchFamily="49" charset="-122"/>
              </a:rPr>
              <a:t>8086</a:t>
            </a:r>
            <a:r>
              <a:rPr lang="zh-CN" altLang="en-US" sz="2400" dirty="0">
                <a:solidFill>
                  <a:srgbClr val="FF0000"/>
                </a:solidFill>
                <a:latin typeface="楷体" panose="02010609060101010101" pitchFamily="49" charset="-122"/>
                <a:ea typeface="楷体" panose="02010609060101010101" pitchFamily="49" charset="-122"/>
              </a:rPr>
              <a:t>微处理器的立即数只能是</a:t>
            </a:r>
            <a:r>
              <a:rPr lang="en-US" altLang="zh-CN" sz="2400" dirty="0">
                <a:solidFill>
                  <a:srgbClr val="FF0000"/>
                </a:solidFill>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endParaRPr lang="en-US" altLang="zh-CN" sz="2400" dirty="0">
              <a:solidFill>
                <a:srgbClr val="FF0066"/>
              </a:solidFill>
              <a:latin typeface="楷体" panose="02010609060101010101" pitchFamily="49" charset="-122"/>
              <a:ea typeface="楷体" panose="02010609060101010101" pitchFamily="49" charset="-122"/>
            </a:endParaRPr>
          </a:p>
          <a:p>
            <a:pPr marL="609600" indent="-609600">
              <a:lnSpc>
                <a:spcPct val="150000"/>
              </a:lnSpc>
              <a:buClr>
                <a:srgbClr val="00B0F0"/>
              </a:buClr>
              <a:buSzPct val="80000"/>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以</a:t>
            </a:r>
            <a:r>
              <a:rPr lang="en-US" altLang="zh-CN" sz="2400" dirty="0">
                <a:latin typeface="楷体" panose="02010609060101010101" pitchFamily="49" charset="-122"/>
                <a:ea typeface="楷体" panose="02010609060101010101" pitchFamily="49" charset="-122"/>
              </a:rPr>
              <a:t>CL</a:t>
            </a:r>
            <a:r>
              <a:rPr lang="zh-CN" altLang="en-US" sz="2400" dirty="0">
                <a:latin typeface="楷体" panose="02010609060101010101" pitchFamily="49" charset="-122"/>
                <a:ea typeface="楷体" panose="02010609060101010101" pitchFamily="49" charset="-122"/>
              </a:rPr>
              <a:t>为源操作数的移位指令执行以后</a:t>
            </a:r>
            <a:r>
              <a:rPr lang="en-US" altLang="zh-CN" sz="2400" dirty="0">
                <a:latin typeface="楷体" panose="02010609060101010101" pitchFamily="49" charset="-122"/>
                <a:ea typeface="楷体" panose="02010609060101010101" pitchFamily="49" charset="-122"/>
              </a:rPr>
              <a:t>, CL</a:t>
            </a:r>
            <a:r>
              <a:rPr lang="zh-CN" altLang="en-US" sz="2400" dirty="0">
                <a:latin typeface="楷体" panose="02010609060101010101" pitchFamily="49" charset="-122"/>
                <a:ea typeface="楷体" panose="02010609060101010101" pitchFamily="49" charset="-122"/>
              </a:rPr>
              <a:t>的值不变</a:t>
            </a:r>
          </a:p>
        </p:txBody>
      </p:sp>
    </p:spTree>
    <p:extLst>
      <p:ext uri="{BB962C8B-B14F-4D97-AF65-F5344CB8AC3E}">
        <p14:creationId xmlns:p14="http://schemas.microsoft.com/office/powerpoint/2010/main" val="30043455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14313" y="1357313"/>
            <a:ext cx="8858250" cy="48577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逻辑右移</a:t>
            </a:r>
            <a:r>
              <a:rPr lang="en-US" altLang="zh-CN" sz="2400" dirty="0">
                <a:latin typeface="楷体" panose="02010609060101010101" pitchFamily="49" charset="-122"/>
                <a:ea typeface="楷体" panose="02010609060101010101" pitchFamily="49" charset="-122"/>
              </a:rPr>
              <a:t>SHR(Shift logic right)</a:t>
            </a:r>
          </a:p>
          <a:p>
            <a:pPr marL="0" indent="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格式</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SHR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spcAft>
                <a:spcPts val="1200"/>
              </a:spcAft>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指令的意义：将</a:t>
            </a:r>
            <a:r>
              <a:rPr lang="en-US" altLang="zh-CN" sz="2400" dirty="0" err="1">
                <a:latin typeface="楷体" panose="02010609060101010101" pitchFamily="49" charset="-122"/>
                <a:ea typeface="楷体" panose="02010609060101010101" pitchFamily="49" charset="-122"/>
              </a:rPr>
              <a:t>dest</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8/16/32</a:t>
            </a:r>
            <a:r>
              <a:rPr lang="zh-CN" altLang="en-US" sz="2400" dirty="0">
                <a:latin typeface="楷体" panose="02010609060101010101" pitchFamily="49" charset="-122"/>
                <a:ea typeface="楷体" panose="02010609060101010101" pitchFamily="49" charset="-122"/>
              </a:rPr>
              <a:t>位二进制数向右移动</a:t>
            </a:r>
            <a:r>
              <a:rPr lang="en-US" altLang="zh-CN" sz="2400" dirty="0">
                <a:latin typeface="楷体" panose="02010609060101010101" pitchFamily="49" charset="-122"/>
                <a:ea typeface="楷体" panose="02010609060101010101" pitchFamily="49" charset="-122"/>
              </a:rPr>
              <a:t>1-31</a:t>
            </a:r>
            <a:r>
              <a:rPr lang="zh-CN" altLang="en-US" sz="2400" dirty="0">
                <a:latin typeface="楷体" panose="02010609060101010101" pitchFamily="49" charset="-122"/>
                <a:ea typeface="楷体" panose="02010609060101010101" pitchFamily="49" charset="-122"/>
              </a:rPr>
              <a:t>位，</a:t>
            </a:r>
            <a:r>
              <a:rPr lang="zh-CN" altLang="en-US" sz="2400" dirty="0">
                <a:solidFill>
                  <a:srgbClr val="FF0000"/>
                </a:solidFill>
                <a:latin typeface="楷体" panose="02010609060101010101" pitchFamily="49" charset="-122"/>
                <a:ea typeface="楷体" panose="02010609060101010101" pitchFamily="49" charset="-122"/>
              </a:rPr>
              <a:t>最后移出位移至</a:t>
            </a:r>
            <a:r>
              <a:rPr lang="en-US" altLang="zh-CN" sz="2400" dirty="0">
                <a:solidFill>
                  <a:srgbClr val="FF0000"/>
                </a:solidFill>
                <a:latin typeface="楷体" panose="02010609060101010101" pitchFamily="49" charset="-122"/>
                <a:ea typeface="楷体" panose="02010609060101010101" pitchFamily="49" charset="-122"/>
              </a:rPr>
              <a:t>CF</a:t>
            </a:r>
            <a:r>
              <a:rPr lang="zh-CN" altLang="en-US" sz="2400" dirty="0">
                <a:solidFill>
                  <a:srgbClr val="FF0000"/>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a:t>
            </a:r>
            <a:r>
              <a:rPr lang="zh-CN" altLang="en-US" sz="2400" dirty="0">
                <a:solidFill>
                  <a:srgbClr val="00B0F0"/>
                </a:solidFill>
                <a:latin typeface="楷体" panose="02010609060101010101" pitchFamily="49" charset="-122"/>
                <a:ea typeface="楷体" panose="02010609060101010101" pitchFamily="49" charset="-122"/>
              </a:rPr>
              <a:t>最左边空出位依次补</a:t>
            </a:r>
            <a:r>
              <a:rPr lang="en-US" altLang="zh-CN" sz="2400" dirty="0">
                <a:solidFill>
                  <a:srgbClr val="00B0F0"/>
                </a:solidFill>
                <a:latin typeface="楷体" panose="02010609060101010101" pitchFamily="49" charset="-122"/>
                <a:ea typeface="楷体" panose="02010609060101010101" pitchFamily="49" charset="-122"/>
              </a:rPr>
              <a:t>0.</a:t>
            </a:r>
            <a:endParaRPr lang="zh-CN" altLang="en-US" sz="2400" dirty="0">
              <a:solidFill>
                <a:srgbClr val="00B0F0"/>
              </a:solidFill>
              <a:latin typeface="楷体" panose="02010609060101010101" pitchFamily="49" charset="-122"/>
              <a:ea typeface="楷体" panose="02010609060101010101" pitchFamily="49" charset="-122"/>
            </a:endParaRPr>
          </a:p>
          <a:p>
            <a:pPr marL="0" indent="0">
              <a:lnSpc>
                <a:spcPct val="120000"/>
              </a:lnSpc>
              <a:spcBef>
                <a:spcPct val="500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                     </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12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endParaRPr lang="en-US" altLang="zh-CN" sz="2400" dirty="0">
              <a:solidFill>
                <a:srgbClr val="000099"/>
              </a:solidFill>
              <a:latin typeface="楷体" panose="02010609060101010101" pitchFamily="49" charset="-122"/>
              <a:ea typeface="楷体" panose="02010609060101010101" pitchFamily="49" charset="-122"/>
            </a:endParaRPr>
          </a:p>
          <a:p>
            <a:pPr marL="0" indent="0">
              <a:buFont typeface="Wingdings 2" panose="05020102010507070707" pitchFamily="18" charset="2"/>
              <a:buNone/>
            </a:pPr>
            <a:r>
              <a:rPr lang="en-US" altLang="zh-CN" sz="2400" dirty="0">
                <a:solidFill>
                  <a:srgbClr val="000099"/>
                </a:solidFill>
                <a:latin typeface="楷体" panose="02010609060101010101" pitchFamily="49" charset="-122"/>
                <a:ea typeface="楷体" panose="02010609060101010101" pitchFamily="49" charset="-122"/>
              </a:rPr>
              <a:t>    SHR  AL,  1;  </a:t>
            </a:r>
            <a:r>
              <a:rPr lang="zh-CN" altLang="en-US" sz="2400" dirty="0">
                <a:solidFill>
                  <a:srgbClr val="000099"/>
                </a:solidFill>
                <a:latin typeface="楷体" panose="02010609060101010101" pitchFamily="49" charset="-122"/>
                <a:ea typeface="楷体" panose="02010609060101010101" pitchFamily="49" charset="-122"/>
              </a:rPr>
              <a:t>执行后 </a:t>
            </a:r>
            <a:r>
              <a:rPr lang="en-US" altLang="zh-CN" sz="2400" dirty="0">
                <a:solidFill>
                  <a:srgbClr val="000099"/>
                </a:solidFill>
                <a:latin typeface="楷体" panose="02010609060101010101" pitchFamily="49" charset="-122"/>
                <a:ea typeface="楷体" panose="02010609060101010101" pitchFamily="49" charset="-122"/>
              </a:rPr>
              <a:t>AL=0abcdefg</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CF=h</a:t>
            </a:r>
          </a:p>
          <a:p>
            <a:pPr marL="0" indent="0">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r>
              <a:rPr lang="en-US" altLang="zh-CN" sz="2400" dirty="0">
                <a:solidFill>
                  <a:srgbClr val="000099"/>
                </a:solidFill>
                <a:latin typeface="楷体" panose="02010609060101010101" pitchFamily="49" charset="-122"/>
                <a:ea typeface="楷体" panose="02010609060101010101" pitchFamily="49" charset="-122"/>
              </a:rPr>
              <a:t>,  CL=3</a:t>
            </a:r>
          </a:p>
          <a:p>
            <a:pPr marL="0" indent="0">
              <a:buFont typeface="Wingdings 2" panose="05020102010507070707" pitchFamily="18" charset="2"/>
              <a:buNone/>
            </a:pPr>
            <a:r>
              <a:rPr lang="en-US" altLang="zh-CN" sz="2400" dirty="0">
                <a:solidFill>
                  <a:srgbClr val="000099"/>
                </a:solidFill>
                <a:latin typeface="楷体" panose="02010609060101010101" pitchFamily="49" charset="-122"/>
                <a:ea typeface="楷体" panose="02010609060101010101" pitchFamily="49" charset="-122"/>
              </a:rPr>
              <a:t>    SHR  AL,  CL;  </a:t>
            </a:r>
            <a:r>
              <a:rPr lang="zh-CN" altLang="en-US" sz="2400" dirty="0">
                <a:solidFill>
                  <a:srgbClr val="000099"/>
                </a:solidFill>
                <a:latin typeface="楷体" panose="02010609060101010101" pitchFamily="49" charset="-122"/>
                <a:ea typeface="楷体" panose="02010609060101010101" pitchFamily="49" charset="-122"/>
              </a:rPr>
              <a:t>执行后，</a:t>
            </a:r>
            <a:r>
              <a:rPr lang="en-US" altLang="zh-CN" sz="2400" dirty="0">
                <a:solidFill>
                  <a:srgbClr val="000099"/>
                </a:solidFill>
                <a:latin typeface="楷体" panose="02010609060101010101" pitchFamily="49" charset="-122"/>
                <a:ea typeface="楷体" panose="02010609060101010101" pitchFamily="49" charset="-122"/>
              </a:rPr>
              <a:t>AL=000abcde</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CF=f  </a:t>
            </a:r>
          </a:p>
        </p:txBody>
      </p:sp>
      <p:grpSp>
        <p:nvGrpSpPr>
          <p:cNvPr id="3" name="Group 11"/>
          <p:cNvGrpSpPr>
            <a:grpSpLocks/>
          </p:cNvGrpSpPr>
          <p:nvPr/>
        </p:nvGrpSpPr>
        <p:grpSpPr bwMode="auto">
          <a:xfrm>
            <a:off x="1187388" y="3354388"/>
            <a:ext cx="3671888" cy="431800"/>
            <a:chOff x="1491" y="1162"/>
            <a:chExt cx="2024" cy="272"/>
          </a:xfrm>
        </p:grpSpPr>
        <p:sp>
          <p:nvSpPr>
            <p:cNvPr id="4" name="Rectangle 4"/>
            <p:cNvSpPr>
              <a:spLocks noChangeArrowheads="1"/>
            </p:cNvSpPr>
            <p:nvPr/>
          </p:nvSpPr>
          <p:spPr bwMode="auto">
            <a:xfrm>
              <a:off x="1954" y="1162"/>
              <a:ext cx="953"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b="0" dirty="0" err="1">
                  <a:latin typeface="微软雅黑" panose="020B0503020204020204" pitchFamily="34" charset="-122"/>
                  <a:ea typeface="微软雅黑" panose="020B0503020204020204" pitchFamily="34" charset="-122"/>
                </a:rPr>
                <a:t>dest</a:t>
              </a:r>
              <a:endParaRPr lang="en-US" altLang="zh-CN" sz="2400" b="0" dirty="0">
                <a:latin typeface="微软雅黑" panose="020B0503020204020204" pitchFamily="34" charset="-122"/>
                <a:ea typeface="微软雅黑" panose="020B0503020204020204" pitchFamily="34" charset="-122"/>
              </a:endParaRPr>
            </a:p>
          </p:txBody>
        </p:sp>
        <p:sp>
          <p:nvSpPr>
            <p:cNvPr id="5" name="Line 5"/>
            <p:cNvSpPr>
              <a:spLocks noChangeShapeType="1"/>
            </p:cNvSpPr>
            <p:nvPr/>
          </p:nvSpPr>
          <p:spPr bwMode="auto">
            <a:xfrm>
              <a:off x="2250" y="1407"/>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6"/>
            <p:cNvSpPr>
              <a:spLocks noChangeArrowheads="1"/>
            </p:cNvSpPr>
            <p:nvPr/>
          </p:nvSpPr>
          <p:spPr bwMode="auto">
            <a:xfrm>
              <a:off x="3197" y="1162"/>
              <a:ext cx="318"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b="0">
                  <a:latin typeface="微软雅黑" panose="020B0503020204020204" pitchFamily="34" charset="-122"/>
                  <a:ea typeface="微软雅黑" panose="020B0503020204020204" pitchFamily="34" charset="-122"/>
                </a:rPr>
                <a:t>CF</a:t>
              </a:r>
            </a:p>
          </p:txBody>
        </p:sp>
        <p:sp>
          <p:nvSpPr>
            <p:cNvPr id="7" name="Line 8"/>
            <p:cNvSpPr>
              <a:spLocks noChangeShapeType="1"/>
            </p:cNvSpPr>
            <p:nvPr/>
          </p:nvSpPr>
          <p:spPr bwMode="auto">
            <a:xfrm>
              <a:off x="2943" y="1298"/>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Rectangle 10"/>
            <p:cNvSpPr>
              <a:spLocks noChangeArrowheads="1"/>
            </p:cNvSpPr>
            <p:nvPr/>
          </p:nvSpPr>
          <p:spPr bwMode="auto">
            <a:xfrm>
              <a:off x="1491" y="1180"/>
              <a:ext cx="27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b="0">
                  <a:latin typeface="微软雅黑" panose="020B0503020204020204" pitchFamily="34" charset="-122"/>
                  <a:ea typeface="微软雅黑" panose="020B0503020204020204" pitchFamily="34" charset="-122"/>
                </a:rPr>
                <a:t>0</a:t>
              </a:r>
            </a:p>
          </p:txBody>
        </p:sp>
        <p:sp>
          <p:nvSpPr>
            <p:cNvPr id="9" name="Line 9"/>
            <p:cNvSpPr>
              <a:spLocks noChangeShapeType="1"/>
            </p:cNvSpPr>
            <p:nvPr/>
          </p:nvSpPr>
          <p:spPr bwMode="auto">
            <a:xfrm>
              <a:off x="1701" y="1298"/>
              <a:ext cx="1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821892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85750" y="1428750"/>
            <a:ext cx="8748713" cy="52149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dirty="0">
                <a:solidFill>
                  <a:srgbClr val="000000"/>
                </a:solidFill>
                <a:latin typeface="楷体" panose="02010609060101010101" pitchFamily="49" charset="-122"/>
                <a:ea typeface="楷体" panose="02010609060101010101" pitchFamily="49" charset="-122"/>
              </a:rPr>
              <a:t>2.</a:t>
            </a:r>
            <a:r>
              <a:rPr lang="zh-CN" altLang="en-US" sz="2400" dirty="0">
                <a:solidFill>
                  <a:srgbClr val="000000"/>
                </a:solidFill>
                <a:latin typeface="楷体" panose="02010609060101010101" pitchFamily="49" charset="-122"/>
                <a:ea typeface="楷体" panose="02010609060101010101" pitchFamily="49" charset="-122"/>
              </a:rPr>
              <a:t>算术右移</a:t>
            </a:r>
            <a:r>
              <a:rPr lang="en-US" altLang="zh-CN" sz="2400" dirty="0">
                <a:solidFill>
                  <a:srgbClr val="000000"/>
                </a:solidFill>
                <a:latin typeface="楷体" panose="02010609060101010101" pitchFamily="49" charset="-122"/>
                <a:ea typeface="楷体" panose="02010609060101010101" pitchFamily="49" charset="-122"/>
              </a:rPr>
              <a:t>SAR</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shift arithmetic right</a:t>
            </a:r>
            <a:r>
              <a:rPr lang="zh-CN" altLang="en-US" sz="2400" dirty="0">
                <a:solidFill>
                  <a:srgbClr val="000000"/>
                </a:solidFill>
                <a:latin typeface="楷体" panose="02010609060101010101" pitchFamily="49" charset="-122"/>
                <a:ea typeface="楷体" panose="02010609060101010101" pitchFamily="49" charset="-122"/>
              </a:rPr>
              <a:t>）</a:t>
            </a:r>
            <a:endParaRPr lang="en-US" altLang="zh-CN" sz="2400" dirty="0">
              <a:solidFill>
                <a:srgbClr val="000000"/>
              </a:solidFill>
              <a:latin typeface="楷体" panose="02010609060101010101" pitchFamily="49" charset="-122"/>
              <a:ea typeface="楷体" panose="02010609060101010101" pitchFamily="49" charset="-122"/>
            </a:endParaRPr>
          </a:p>
          <a:p>
            <a:pPr>
              <a:lnSpc>
                <a:spcPct val="120000"/>
              </a:lnSpc>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格式</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SAR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20000"/>
              </a:lnSpc>
              <a:spcAft>
                <a:spcPts val="1200"/>
              </a:spcAft>
              <a:buNone/>
            </a:pPr>
            <a:r>
              <a:rPr lang="zh-CN" altLang="en-US" sz="2400" dirty="0">
                <a:latin typeface="楷体" panose="02010609060101010101" pitchFamily="49" charset="-122"/>
                <a:ea typeface="楷体" panose="02010609060101010101" pitchFamily="49" charset="-122"/>
              </a:rPr>
              <a:t>指令的意义：将</a:t>
            </a:r>
            <a:r>
              <a:rPr lang="en-US" altLang="zh-CN" sz="2400" dirty="0" err="1">
                <a:latin typeface="楷体" panose="02010609060101010101" pitchFamily="49" charset="-122"/>
                <a:ea typeface="楷体" panose="02010609060101010101" pitchFamily="49" charset="-122"/>
              </a:rPr>
              <a:t>dest</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8/16/32</a:t>
            </a:r>
            <a:r>
              <a:rPr lang="zh-CN" altLang="en-US" sz="2400" dirty="0">
                <a:latin typeface="楷体" panose="02010609060101010101" pitchFamily="49" charset="-122"/>
                <a:ea typeface="楷体" panose="02010609060101010101" pitchFamily="49" charset="-122"/>
              </a:rPr>
              <a:t>位二进制数向右移动</a:t>
            </a:r>
            <a:r>
              <a:rPr lang="en-US" altLang="zh-CN" sz="2400" dirty="0">
                <a:latin typeface="楷体" panose="02010609060101010101" pitchFamily="49" charset="-122"/>
                <a:ea typeface="楷体" panose="02010609060101010101" pitchFamily="49" charset="-122"/>
              </a:rPr>
              <a:t>1-31</a:t>
            </a:r>
            <a:r>
              <a:rPr lang="zh-CN" altLang="en-US" sz="2400" dirty="0">
                <a:latin typeface="楷体" panose="02010609060101010101" pitchFamily="49" charset="-122"/>
                <a:ea typeface="楷体" panose="02010609060101010101" pitchFamily="49" charset="-122"/>
              </a:rPr>
              <a:t>位，</a:t>
            </a:r>
            <a:r>
              <a:rPr lang="zh-CN" altLang="en-US" sz="2400" dirty="0">
                <a:solidFill>
                  <a:srgbClr val="FF0000"/>
                </a:solidFill>
                <a:latin typeface="楷体" panose="02010609060101010101" pitchFamily="49" charset="-122"/>
                <a:ea typeface="楷体" panose="02010609060101010101" pitchFamily="49" charset="-122"/>
              </a:rPr>
              <a:t>最后移出位移至</a:t>
            </a:r>
            <a:r>
              <a:rPr lang="en-US" altLang="zh-CN" sz="2400" dirty="0">
                <a:solidFill>
                  <a:srgbClr val="FF0000"/>
                </a:solidFill>
                <a:latin typeface="楷体" panose="02010609060101010101" pitchFamily="49" charset="-122"/>
                <a:ea typeface="楷体" panose="02010609060101010101" pitchFamily="49" charset="-122"/>
              </a:rPr>
              <a:t>CF</a:t>
            </a:r>
            <a:r>
              <a:rPr lang="zh-CN" altLang="en-US" sz="2400" dirty="0">
                <a:solidFill>
                  <a:srgbClr val="FF0000"/>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a:t>
            </a:r>
            <a:r>
              <a:rPr lang="zh-CN" altLang="en-US" sz="2400" dirty="0">
                <a:solidFill>
                  <a:srgbClr val="00B0F0"/>
                </a:solidFill>
                <a:latin typeface="楷体" panose="02010609060101010101" pitchFamily="49" charset="-122"/>
                <a:ea typeface="楷体" panose="02010609060101010101" pitchFamily="49" charset="-122"/>
              </a:rPr>
              <a:t>最高位向右移动的同时又保持不变</a:t>
            </a:r>
            <a:r>
              <a:rPr lang="en-US" altLang="zh-CN" sz="2400" dirty="0">
                <a:solidFill>
                  <a:srgbClr val="00B0F0"/>
                </a:solidFill>
                <a:latin typeface="楷体" panose="02010609060101010101" pitchFamily="49" charset="-122"/>
                <a:ea typeface="楷体" panose="02010609060101010101" pitchFamily="49" charset="-122"/>
              </a:rPr>
              <a:t>.</a:t>
            </a:r>
            <a:endParaRPr lang="zh-CN" altLang="en-US" sz="2400" dirty="0">
              <a:solidFill>
                <a:srgbClr val="00B0F0"/>
              </a:solidFill>
              <a:latin typeface="楷体" panose="02010609060101010101" pitchFamily="49" charset="-122"/>
              <a:ea typeface="楷体" panose="02010609060101010101" pitchFamily="49" charset="-122"/>
            </a:endParaRPr>
          </a:p>
          <a:p>
            <a:pPr>
              <a:lnSpc>
                <a:spcPct val="120000"/>
              </a:lnSpc>
              <a:spcBef>
                <a:spcPts val="18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p>
          <a:p>
            <a:pPr>
              <a:lnSpc>
                <a:spcPct val="120000"/>
              </a:lnSpc>
              <a:buFont typeface="Wingdings 2" panose="05020102010507070707" pitchFamily="18" charset="2"/>
              <a:buNone/>
            </a:pPr>
            <a:endParaRPr lang="en-US" altLang="zh-CN" sz="2400" dirty="0">
              <a:solidFill>
                <a:srgbClr val="000099"/>
              </a:solidFill>
              <a:latin typeface="楷体" panose="02010609060101010101" pitchFamily="49" charset="-122"/>
              <a:ea typeface="楷体" panose="02010609060101010101" pitchFamily="49" charset="-122"/>
            </a:endParaRPr>
          </a:p>
          <a:p>
            <a:pPr>
              <a:lnSpc>
                <a:spcPct val="120000"/>
              </a:lnSpc>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endParaRPr lang="en-US" altLang="zh-CN" sz="2400" dirty="0">
              <a:solidFill>
                <a:srgbClr val="000099"/>
              </a:solidFill>
              <a:latin typeface="楷体" panose="02010609060101010101" pitchFamily="49" charset="-122"/>
              <a:ea typeface="楷体" panose="02010609060101010101" pitchFamily="49" charset="-122"/>
            </a:endParaRPr>
          </a:p>
          <a:p>
            <a:pPr>
              <a:buFont typeface="Wingdings 2" panose="05020102010507070707" pitchFamily="18" charset="2"/>
              <a:buNone/>
            </a:pPr>
            <a:r>
              <a:rPr lang="en-US" altLang="zh-CN" sz="2400" dirty="0">
                <a:solidFill>
                  <a:srgbClr val="000099"/>
                </a:solidFill>
                <a:latin typeface="楷体" panose="02010609060101010101" pitchFamily="49" charset="-122"/>
                <a:ea typeface="楷体" panose="02010609060101010101" pitchFamily="49" charset="-122"/>
              </a:rPr>
              <a:t>    SAR   AL,  1;  </a:t>
            </a:r>
            <a:r>
              <a:rPr lang="zh-CN" altLang="en-US" sz="2400" dirty="0">
                <a:solidFill>
                  <a:srgbClr val="000099"/>
                </a:solidFill>
                <a:latin typeface="楷体" panose="02010609060101010101" pitchFamily="49" charset="-122"/>
                <a:ea typeface="楷体" panose="02010609060101010101" pitchFamily="49" charset="-122"/>
              </a:rPr>
              <a:t>执行后 </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aabcdefg</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CF=h</a:t>
            </a:r>
          </a:p>
        </p:txBody>
      </p:sp>
      <p:grpSp>
        <p:nvGrpSpPr>
          <p:cNvPr id="3" name="Group 22"/>
          <p:cNvGrpSpPr>
            <a:grpSpLocks/>
          </p:cNvGrpSpPr>
          <p:nvPr/>
        </p:nvGrpSpPr>
        <p:grpSpPr bwMode="auto">
          <a:xfrm>
            <a:off x="1491456" y="3817168"/>
            <a:ext cx="3168650" cy="647700"/>
            <a:chOff x="1701" y="1706"/>
            <a:chExt cx="1996" cy="408"/>
          </a:xfrm>
        </p:grpSpPr>
        <p:sp>
          <p:nvSpPr>
            <p:cNvPr id="4" name="Line 12"/>
            <p:cNvSpPr>
              <a:spLocks noChangeShapeType="1"/>
            </p:cNvSpPr>
            <p:nvPr/>
          </p:nvSpPr>
          <p:spPr bwMode="auto">
            <a:xfrm>
              <a:off x="2245" y="2079"/>
              <a:ext cx="43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 name="Group 21"/>
            <p:cNvGrpSpPr>
              <a:grpSpLocks/>
            </p:cNvGrpSpPr>
            <p:nvPr/>
          </p:nvGrpSpPr>
          <p:grpSpPr bwMode="auto">
            <a:xfrm>
              <a:off x="1701" y="1706"/>
              <a:ext cx="1996" cy="408"/>
              <a:chOff x="1746" y="2024"/>
              <a:chExt cx="1996" cy="408"/>
            </a:xfrm>
          </p:grpSpPr>
          <p:sp>
            <p:nvSpPr>
              <p:cNvPr id="6" name="Rectangle 11"/>
              <p:cNvSpPr>
                <a:spLocks noChangeArrowheads="1"/>
              </p:cNvSpPr>
              <p:nvPr/>
            </p:nvSpPr>
            <p:spPr bwMode="auto">
              <a:xfrm>
                <a:off x="1958" y="2160"/>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dest</a:t>
                </a:r>
              </a:p>
            </p:txBody>
          </p:sp>
          <p:sp>
            <p:nvSpPr>
              <p:cNvPr id="7" name="Rectangle 13"/>
              <p:cNvSpPr>
                <a:spLocks noChangeArrowheads="1"/>
              </p:cNvSpPr>
              <p:nvPr/>
            </p:nvSpPr>
            <p:spPr bwMode="auto">
              <a:xfrm>
                <a:off x="3379" y="2160"/>
                <a:ext cx="363"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CF</a:t>
                </a:r>
              </a:p>
            </p:txBody>
          </p:sp>
          <p:sp>
            <p:nvSpPr>
              <p:cNvPr id="8" name="Line 14"/>
              <p:cNvSpPr>
                <a:spLocks noChangeShapeType="1"/>
              </p:cNvSpPr>
              <p:nvPr/>
            </p:nvSpPr>
            <p:spPr bwMode="auto">
              <a:xfrm>
                <a:off x="3088" y="2296"/>
                <a:ext cx="2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6"/>
              <p:cNvSpPr>
                <a:spLocks noChangeShapeType="1"/>
              </p:cNvSpPr>
              <p:nvPr/>
            </p:nvSpPr>
            <p:spPr bwMode="auto">
              <a:xfrm>
                <a:off x="1746" y="2296"/>
                <a:ext cx="1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7"/>
              <p:cNvSpPr>
                <a:spLocks noChangeShapeType="1"/>
              </p:cNvSpPr>
              <p:nvPr/>
            </p:nvSpPr>
            <p:spPr bwMode="auto">
              <a:xfrm>
                <a:off x="2064" y="2160"/>
                <a:ext cx="0" cy="27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8"/>
              <p:cNvSpPr>
                <a:spLocks noChangeShapeType="1"/>
              </p:cNvSpPr>
              <p:nvPr/>
            </p:nvSpPr>
            <p:spPr bwMode="auto">
              <a:xfrm flipV="1">
                <a:off x="2018" y="2024"/>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9"/>
              <p:cNvSpPr>
                <a:spLocks noChangeShapeType="1"/>
              </p:cNvSpPr>
              <p:nvPr/>
            </p:nvSpPr>
            <p:spPr bwMode="auto">
              <a:xfrm flipH="1">
                <a:off x="1746" y="2024"/>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0"/>
              <p:cNvSpPr>
                <a:spLocks noChangeShapeType="1"/>
              </p:cNvSpPr>
              <p:nvPr/>
            </p:nvSpPr>
            <p:spPr bwMode="auto">
              <a:xfrm>
                <a:off x="1746" y="2024"/>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4537080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2098089" y="2171839"/>
            <a:ext cx="5128334"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buClr>
                <a:srgbClr val="00B0F0"/>
              </a:buClr>
              <a:buSzPct val="80000"/>
              <a:buFont typeface="Arial" panose="020B0604020202020204" pitchFamily="34" charset="0"/>
              <a:buNone/>
            </a:pPr>
            <a:r>
              <a:rPr lang="zh-CN" altLang="en-US" sz="2800" dirty="0">
                <a:solidFill>
                  <a:srgbClr val="000099"/>
                </a:solidFill>
                <a:latin typeface="楷体" panose="02010609060101010101" pitchFamily="49" charset="-122"/>
                <a:ea typeface="楷体" panose="02010609060101010101" pitchFamily="49" charset="-122"/>
              </a:rPr>
              <a:t>例</a:t>
            </a:r>
            <a:r>
              <a:rPr lang="en-US" altLang="zh-CN" sz="2800" dirty="0">
                <a:solidFill>
                  <a:srgbClr val="000099"/>
                </a:solidFill>
                <a:latin typeface="楷体" panose="02010609060101010101" pitchFamily="49" charset="-122"/>
                <a:ea typeface="楷体" panose="02010609060101010101" pitchFamily="49" charset="-122"/>
              </a:rPr>
              <a:t>:  MOV  CH,  80H</a:t>
            </a:r>
          </a:p>
          <a:p>
            <a:pPr eaLnBrk="1" hangingPunct="1">
              <a:lnSpc>
                <a:spcPct val="120000"/>
              </a:lnSpc>
              <a:buFont typeface="Arial" panose="020B0604020202020204" pitchFamily="34" charset="0"/>
              <a:buNone/>
            </a:pPr>
            <a:r>
              <a:rPr lang="zh-CN" altLang="en-US" sz="2800" dirty="0">
                <a:solidFill>
                  <a:srgbClr val="000099"/>
                </a:solidFill>
                <a:latin typeface="楷体" panose="02010609060101010101" pitchFamily="49" charset="-122"/>
                <a:ea typeface="楷体" panose="02010609060101010101" pitchFamily="49" charset="-122"/>
              </a:rPr>
              <a:t>     </a:t>
            </a:r>
            <a:r>
              <a:rPr lang="en-US" altLang="zh-CN" sz="2800" dirty="0">
                <a:solidFill>
                  <a:srgbClr val="000099"/>
                </a:solidFill>
                <a:latin typeface="楷体" panose="02010609060101010101" pitchFamily="49" charset="-122"/>
                <a:ea typeface="楷体" panose="02010609060101010101" pitchFamily="49" charset="-122"/>
              </a:rPr>
              <a:t>MOV  CL,  4</a:t>
            </a:r>
          </a:p>
          <a:p>
            <a:pPr eaLnBrk="1" hangingPunct="1">
              <a:lnSpc>
                <a:spcPct val="120000"/>
              </a:lnSpc>
              <a:buClr>
                <a:schemeClr val="tx2"/>
              </a:buClr>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     SAR  CH,  CL</a:t>
            </a:r>
          </a:p>
          <a:p>
            <a:pPr eaLnBrk="1" hangingPunct="1">
              <a:lnSpc>
                <a:spcPct val="120000"/>
              </a:lnSpc>
              <a:buClr>
                <a:schemeClr val="tx2"/>
              </a:buClr>
              <a:buFont typeface="Arial" panose="020B0604020202020204" pitchFamily="34" charset="0"/>
              <a:buNone/>
            </a:pPr>
            <a:r>
              <a:rPr lang="zh-CN" altLang="en-US" sz="2800" dirty="0">
                <a:solidFill>
                  <a:srgbClr val="000099"/>
                </a:solidFill>
                <a:latin typeface="楷体" panose="02010609060101010101" pitchFamily="49" charset="-122"/>
                <a:ea typeface="楷体" panose="02010609060101010101" pitchFamily="49" charset="-122"/>
              </a:rPr>
              <a:t>指令执行后</a:t>
            </a:r>
            <a:r>
              <a:rPr lang="en-US" altLang="zh-CN" sz="2800" dirty="0">
                <a:solidFill>
                  <a:srgbClr val="000099"/>
                </a:solidFill>
                <a:latin typeface="楷体" panose="02010609060101010101" pitchFamily="49" charset="-122"/>
                <a:ea typeface="楷体" panose="02010609060101010101" pitchFamily="49" charset="-122"/>
              </a:rPr>
              <a:t>CH=F8H</a:t>
            </a:r>
            <a:r>
              <a:rPr lang="zh-CN" altLang="en-US" sz="2800" dirty="0">
                <a:solidFill>
                  <a:srgbClr val="000099"/>
                </a:solidFill>
                <a:latin typeface="楷体" panose="02010609060101010101" pitchFamily="49" charset="-122"/>
                <a:ea typeface="楷体" panose="02010609060101010101" pitchFamily="49" charset="-122"/>
              </a:rPr>
              <a:t>，</a:t>
            </a:r>
            <a:r>
              <a:rPr lang="en-US" altLang="zh-CN" sz="2800" dirty="0">
                <a:solidFill>
                  <a:srgbClr val="000099"/>
                </a:solidFill>
                <a:latin typeface="楷体" panose="02010609060101010101" pitchFamily="49" charset="-122"/>
                <a:ea typeface="楷体" panose="02010609060101010101" pitchFamily="49" charset="-122"/>
              </a:rPr>
              <a:t>CL=4</a:t>
            </a:r>
          </a:p>
        </p:txBody>
      </p:sp>
    </p:spTree>
    <p:extLst>
      <p:ext uri="{BB962C8B-B14F-4D97-AF65-F5344CB8AC3E}">
        <p14:creationId xmlns:p14="http://schemas.microsoft.com/office/powerpoint/2010/main" val="30962213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408780" y="1304463"/>
            <a:ext cx="8396288"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算术</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逻辑左移</a:t>
            </a:r>
            <a:r>
              <a:rPr lang="en-US" altLang="zh-CN" sz="2400" dirty="0">
                <a:latin typeface="楷体" panose="02010609060101010101" pitchFamily="49" charset="-122"/>
                <a:ea typeface="楷体" panose="02010609060101010101" pitchFamily="49" charset="-122"/>
              </a:rPr>
              <a:t>SAL/SHL</a:t>
            </a:r>
          </a:p>
          <a:p>
            <a:pPr eaLnBrk="1" hangingPunct="1">
              <a:lnSpc>
                <a:spcPct val="150000"/>
              </a:lnSpc>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格式</a:t>
            </a:r>
            <a:r>
              <a:rPr lang="en-US" altLang="zh-CN" sz="2400" b="0" dirty="0">
                <a:latin typeface="楷体" panose="02010609060101010101" pitchFamily="49" charset="-122"/>
                <a:ea typeface="楷体" panose="02010609060101010101" pitchFamily="49" charset="-122"/>
              </a:rPr>
              <a:t>: </a:t>
            </a:r>
            <a:r>
              <a:rPr lang="en-US" altLang="zh-CN" sz="2400" b="0" dirty="0">
                <a:solidFill>
                  <a:srgbClr val="FF0066"/>
                </a:solidFill>
                <a:latin typeface="楷体" panose="02010609060101010101" pitchFamily="49" charset="-122"/>
                <a:ea typeface="楷体" panose="02010609060101010101" pitchFamily="49" charset="-122"/>
              </a:rPr>
              <a:t>SHL </a:t>
            </a:r>
            <a:r>
              <a:rPr lang="en-US" altLang="zh-CN" sz="2400" b="0" dirty="0" err="1">
                <a:solidFill>
                  <a:srgbClr val="FF0066"/>
                </a:solidFill>
                <a:latin typeface="楷体" panose="02010609060101010101" pitchFamily="49" charset="-122"/>
                <a:ea typeface="楷体" panose="02010609060101010101" pitchFamily="49" charset="-122"/>
              </a:rPr>
              <a:t>dest</a:t>
            </a:r>
            <a:r>
              <a:rPr lang="zh-CN" altLang="en-US" sz="2400" b="0" dirty="0">
                <a:solidFill>
                  <a:srgbClr val="FF0066"/>
                </a:solidFill>
                <a:latin typeface="楷体" panose="02010609060101010101" pitchFamily="49" charset="-122"/>
                <a:ea typeface="楷体" panose="02010609060101010101" pitchFamily="49" charset="-122"/>
              </a:rPr>
              <a:t>，</a:t>
            </a:r>
            <a:r>
              <a:rPr lang="en-US" altLang="zh-CN" sz="2400" b="0" dirty="0">
                <a:solidFill>
                  <a:srgbClr val="FF0066"/>
                </a:solidFill>
                <a:latin typeface="楷体" panose="02010609060101010101" pitchFamily="49" charset="-122"/>
                <a:ea typeface="楷体" panose="02010609060101010101" pitchFamily="49" charset="-122"/>
              </a:rPr>
              <a:t>source</a:t>
            </a:r>
          </a:p>
          <a:p>
            <a:pPr eaLnBrk="1" hangingPunct="1">
              <a:lnSpc>
                <a:spcPct val="150000"/>
              </a:lnSpc>
              <a:buFont typeface="Arial" panose="020B0604020202020204" pitchFamily="34" charset="0"/>
              <a:buNone/>
            </a:pPr>
            <a:r>
              <a:rPr lang="en-US" altLang="zh-CN" sz="2400" b="0" dirty="0">
                <a:solidFill>
                  <a:srgbClr val="FF0066"/>
                </a:solidFill>
                <a:latin typeface="楷体" panose="02010609060101010101" pitchFamily="49" charset="-122"/>
                <a:ea typeface="楷体" panose="02010609060101010101" pitchFamily="49" charset="-122"/>
              </a:rPr>
              <a:t>      SAL </a:t>
            </a:r>
            <a:r>
              <a:rPr lang="en-US" altLang="zh-CN" sz="2400" b="0" dirty="0" err="1">
                <a:solidFill>
                  <a:srgbClr val="FF0066"/>
                </a:solidFill>
                <a:latin typeface="楷体" panose="02010609060101010101" pitchFamily="49" charset="-122"/>
                <a:ea typeface="楷体" panose="02010609060101010101" pitchFamily="49" charset="-122"/>
              </a:rPr>
              <a:t>dest</a:t>
            </a:r>
            <a:r>
              <a:rPr lang="zh-CN" altLang="en-US" sz="2400" b="0" dirty="0">
                <a:solidFill>
                  <a:srgbClr val="FF0066"/>
                </a:solidFill>
                <a:latin typeface="楷体" panose="02010609060101010101" pitchFamily="49" charset="-122"/>
                <a:ea typeface="楷体" panose="02010609060101010101" pitchFamily="49" charset="-122"/>
              </a:rPr>
              <a:t>，</a:t>
            </a:r>
            <a:r>
              <a:rPr lang="en-US" altLang="zh-CN" sz="2400" b="0" dirty="0">
                <a:solidFill>
                  <a:srgbClr val="FF0066"/>
                </a:solidFill>
                <a:latin typeface="楷体" panose="02010609060101010101" pitchFamily="49" charset="-122"/>
                <a:ea typeface="楷体" panose="02010609060101010101" pitchFamily="49" charset="-122"/>
              </a:rPr>
              <a:t>source</a:t>
            </a:r>
          </a:p>
          <a:p>
            <a:pPr marL="0" eaLnBrk="1" hangingPunct="1">
              <a:lnSpc>
                <a:spcPct val="150000"/>
              </a:lnSpc>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指令的意义：将</a:t>
            </a:r>
            <a:r>
              <a:rPr lang="en-US" altLang="zh-CN" sz="2400" b="0" dirty="0" err="1">
                <a:latin typeface="楷体" panose="02010609060101010101" pitchFamily="49" charset="-122"/>
                <a:ea typeface="楷体" panose="02010609060101010101" pitchFamily="49" charset="-122"/>
              </a:rPr>
              <a:t>dest</a:t>
            </a:r>
            <a:r>
              <a:rPr lang="zh-CN" altLang="en-US" sz="2400" b="0" dirty="0">
                <a:latin typeface="楷体" panose="02010609060101010101" pitchFamily="49" charset="-122"/>
                <a:ea typeface="楷体" panose="02010609060101010101" pitchFamily="49" charset="-122"/>
              </a:rPr>
              <a:t>中的</a:t>
            </a:r>
            <a:r>
              <a:rPr lang="en-US" altLang="zh-CN" sz="2400" b="0" dirty="0">
                <a:latin typeface="楷体" panose="02010609060101010101" pitchFamily="49" charset="-122"/>
                <a:ea typeface="楷体" panose="02010609060101010101" pitchFamily="49" charset="-122"/>
              </a:rPr>
              <a:t>8/16/32</a:t>
            </a:r>
            <a:r>
              <a:rPr lang="zh-CN" altLang="en-US" sz="2400" b="0" dirty="0">
                <a:latin typeface="楷体" panose="02010609060101010101" pitchFamily="49" charset="-122"/>
                <a:ea typeface="楷体" panose="02010609060101010101" pitchFamily="49" charset="-122"/>
              </a:rPr>
              <a:t>位二进制数向左移动</a:t>
            </a:r>
            <a:r>
              <a:rPr lang="en-US" altLang="zh-CN" sz="2400" b="0" dirty="0">
                <a:latin typeface="楷体" panose="02010609060101010101" pitchFamily="49" charset="-122"/>
                <a:ea typeface="楷体" panose="02010609060101010101" pitchFamily="49" charset="-122"/>
              </a:rPr>
              <a:t>1-31</a:t>
            </a:r>
            <a:r>
              <a:rPr lang="zh-CN" altLang="en-US" sz="2400" b="0" dirty="0">
                <a:latin typeface="楷体" panose="02010609060101010101" pitchFamily="49" charset="-122"/>
                <a:ea typeface="楷体" panose="02010609060101010101" pitchFamily="49" charset="-122"/>
              </a:rPr>
              <a:t>位，</a:t>
            </a:r>
            <a:r>
              <a:rPr lang="zh-CN" altLang="en-US" sz="2400" b="0" dirty="0">
                <a:solidFill>
                  <a:srgbClr val="FF0000"/>
                </a:solidFill>
                <a:latin typeface="楷体" panose="02010609060101010101" pitchFamily="49" charset="-122"/>
                <a:ea typeface="楷体" panose="02010609060101010101" pitchFamily="49" charset="-122"/>
              </a:rPr>
              <a:t>最后移出位移至</a:t>
            </a:r>
            <a:r>
              <a:rPr lang="en-US" altLang="zh-CN" sz="2400" b="0" dirty="0">
                <a:solidFill>
                  <a:srgbClr val="FF0000"/>
                </a:solidFill>
                <a:latin typeface="楷体" panose="02010609060101010101" pitchFamily="49" charset="-122"/>
                <a:ea typeface="楷体" panose="02010609060101010101" pitchFamily="49" charset="-122"/>
              </a:rPr>
              <a:t>CF</a:t>
            </a:r>
            <a:r>
              <a:rPr lang="zh-CN" altLang="en-US" sz="2400" b="0" dirty="0">
                <a:solidFill>
                  <a:srgbClr val="FF0000"/>
                </a:solidFill>
                <a:latin typeface="楷体" panose="02010609060101010101" pitchFamily="49" charset="-122"/>
                <a:ea typeface="楷体" panose="02010609060101010101" pitchFamily="49" charset="-122"/>
              </a:rPr>
              <a:t>中</a:t>
            </a:r>
            <a:r>
              <a:rPr lang="zh-CN" altLang="en-US" sz="2400" b="0" dirty="0">
                <a:solidFill>
                  <a:schemeClr val="tx2"/>
                </a:solidFill>
                <a:latin typeface="楷体" panose="02010609060101010101" pitchFamily="49" charset="-122"/>
                <a:ea typeface="楷体" panose="02010609060101010101" pitchFamily="49" charset="-122"/>
              </a:rPr>
              <a:t>，</a:t>
            </a:r>
            <a:r>
              <a:rPr lang="zh-CN" altLang="en-US" sz="2400" b="0" dirty="0">
                <a:solidFill>
                  <a:srgbClr val="00B0F0"/>
                </a:solidFill>
                <a:latin typeface="楷体" panose="02010609060101010101" pitchFamily="49" charset="-122"/>
                <a:ea typeface="楷体" panose="02010609060101010101" pitchFamily="49" charset="-122"/>
              </a:rPr>
              <a:t>最右边空出位补</a:t>
            </a:r>
            <a:r>
              <a:rPr lang="en-US" altLang="zh-CN" sz="2400" b="0" dirty="0">
                <a:solidFill>
                  <a:srgbClr val="00B0F0"/>
                </a:solidFill>
                <a:latin typeface="楷体" panose="02010609060101010101" pitchFamily="49" charset="-122"/>
                <a:ea typeface="楷体" panose="02010609060101010101" pitchFamily="49" charset="-122"/>
              </a:rPr>
              <a:t>0.</a:t>
            </a:r>
            <a:endParaRPr lang="en-US" altLang="zh-CN" sz="2400" b="0" dirty="0">
              <a:solidFill>
                <a:srgbClr val="FF0066"/>
              </a:solidFill>
              <a:latin typeface="楷体" panose="02010609060101010101" pitchFamily="49" charset="-122"/>
              <a:ea typeface="楷体" panose="02010609060101010101" pitchFamily="49" charset="-122"/>
            </a:endParaRPr>
          </a:p>
          <a:p>
            <a:pPr eaLnBrk="1" hangingPunct="1">
              <a:lnSpc>
                <a:spcPct val="150000"/>
              </a:lnSpc>
              <a:buFont typeface="Arial" panose="020B0604020202020204" pitchFamily="34" charset="0"/>
              <a:buNone/>
            </a:pPr>
            <a:r>
              <a:rPr lang="zh-CN" altLang="en-US" sz="2400" b="0" dirty="0">
                <a:latin typeface="楷体" panose="02010609060101010101" pitchFamily="49" charset="-122"/>
                <a:ea typeface="楷体" panose="02010609060101010101" pitchFamily="49" charset="-122"/>
              </a:rPr>
              <a:t>操作</a:t>
            </a:r>
            <a:r>
              <a:rPr lang="en-US" altLang="zh-CN" sz="2400" b="0" dirty="0">
                <a:latin typeface="楷体" panose="02010609060101010101" pitchFamily="49" charset="-122"/>
                <a:ea typeface="楷体" panose="02010609060101010101" pitchFamily="49" charset="-122"/>
              </a:rPr>
              <a:t>: </a:t>
            </a:r>
          </a:p>
          <a:p>
            <a:pPr eaLnBrk="1" hangingPunct="1">
              <a:lnSpc>
                <a:spcPct val="150000"/>
              </a:lnSpc>
              <a:buFont typeface="Arial" panose="020B0604020202020204" pitchFamily="34" charset="0"/>
              <a:buNone/>
            </a:pPr>
            <a:r>
              <a:rPr lang="zh-CN" altLang="en-US" sz="2400" b="0" dirty="0">
                <a:solidFill>
                  <a:srgbClr val="000099"/>
                </a:solidFill>
                <a:latin typeface="楷体" panose="02010609060101010101" pitchFamily="49" charset="-122"/>
                <a:ea typeface="楷体" panose="02010609060101010101" pitchFamily="49" charset="-122"/>
              </a:rPr>
              <a:t>例：</a:t>
            </a:r>
            <a:r>
              <a:rPr lang="en-US" altLang="zh-CN" sz="2400" b="0" dirty="0">
                <a:solidFill>
                  <a:srgbClr val="000099"/>
                </a:solidFill>
                <a:latin typeface="楷体" panose="02010609060101010101" pitchFamily="49" charset="-122"/>
                <a:ea typeface="楷体" panose="02010609060101010101" pitchFamily="49" charset="-122"/>
              </a:rPr>
              <a:t>AL=</a:t>
            </a:r>
            <a:r>
              <a:rPr lang="en-US" altLang="zh-CN" sz="2400" b="0" dirty="0" err="1">
                <a:solidFill>
                  <a:srgbClr val="000099"/>
                </a:solidFill>
                <a:latin typeface="楷体" panose="02010609060101010101" pitchFamily="49" charset="-122"/>
                <a:ea typeface="楷体" panose="02010609060101010101" pitchFamily="49" charset="-122"/>
              </a:rPr>
              <a:t>abcdefgh</a:t>
            </a:r>
            <a:endParaRPr lang="en-US" altLang="zh-CN" sz="2400" b="0" dirty="0">
              <a:solidFill>
                <a:srgbClr val="000099"/>
              </a:solidFill>
              <a:latin typeface="楷体" panose="02010609060101010101" pitchFamily="49" charset="-122"/>
              <a:ea typeface="楷体" panose="02010609060101010101" pitchFamily="49" charset="-122"/>
            </a:endParaRPr>
          </a:p>
          <a:p>
            <a:pPr eaLnBrk="1" hangingPunct="1">
              <a:lnSpc>
                <a:spcPct val="150000"/>
              </a:lnSpc>
              <a:buFont typeface="Arial" panose="020B0604020202020204" pitchFamily="34" charset="0"/>
              <a:buNone/>
            </a:pPr>
            <a:r>
              <a:rPr lang="en-US" altLang="zh-CN" sz="2400" b="0" dirty="0">
                <a:solidFill>
                  <a:srgbClr val="000099"/>
                </a:solidFill>
                <a:latin typeface="楷体" panose="02010609060101010101" pitchFamily="49" charset="-122"/>
                <a:ea typeface="楷体" panose="02010609060101010101" pitchFamily="49" charset="-122"/>
              </a:rPr>
              <a:t>    SHL  AL,  1;  </a:t>
            </a:r>
            <a:r>
              <a:rPr lang="zh-CN" altLang="en-US" sz="2400" b="0" dirty="0">
                <a:solidFill>
                  <a:srgbClr val="000099"/>
                </a:solidFill>
                <a:latin typeface="楷体" panose="02010609060101010101" pitchFamily="49" charset="-122"/>
                <a:ea typeface="楷体" panose="02010609060101010101" pitchFamily="49" charset="-122"/>
              </a:rPr>
              <a:t>执行后 </a:t>
            </a:r>
            <a:r>
              <a:rPr lang="en-US" altLang="zh-CN" sz="2400" b="0" dirty="0">
                <a:solidFill>
                  <a:srgbClr val="000099"/>
                </a:solidFill>
                <a:latin typeface="楷体" panose="02010609060101010101" pitchFamily="49" charset="-122"/>
                <a:ea typeface="楷体" panose="02010609060101010101" pitchFamily="49" charset="-122"/>
              </a:rPr>
              <a:t>AL=bcdefgh0</a:t>
            </a:r>
            <a:r>
              <a:rPr lang="zh-CN" altLang="en-US" sz="2400" b="0" dirty="0">
                <a:solidFill>
                  <a:srgbClr val="000099"/>
                </a:solidFill>
                <a:latin typeface="楷体" panose="02010609060101010101" pitchFamily="49" charset="-122"/>
                <a:ea typeface="楷体" panose="02010609060101010101" pitchFamily="49" charset="-122"/>
              </a:rPr>
              <a:t>，</a:t>
            </a:r>
            <a:r>
              <a:rPr lang="en-US" altLang="zh-CN" sz="2400" b="0" dirty="0">
                <a:solidFill>
                  <a:srgbClr val="000099"/>
                </a:solidFill>
                <a:latin typeface="楷体" panose="02010609060101010101" pitchFamily="49" charset="-122"/>
                <a:ea typeface="楷体" panose="02010609060101010101" pitchFamily="49" charset="-122"/>
              </a:rPr>
              <a:t>CF=a</a:t>
            </a:r>
          </a:p>
        </p:txBody>
      </p:sp>
      <p:grpSp>
        <p:nvGrpSpPr>
          <p:cNvPr id="3" name="Group 16"/>
          <p:cNvGrpSpPr>
            <a:grpSpLocks/>
          </p:cNvGrpSpPr>
          <p:nvPr/>
        </p:nvGrpSpPr>
        <p:grpSpPr bwMode="auto">
          <a:xfrm>
            <a:off x="1419873" y="4497803"/>
            <a:ext cx="3671888" cy="431800"/>
            <a:chOff x="1337" y="1752"/>
            <a:chExt cx="2313" cy="272"/>
          </a:xfrm>
        </p:grpSpPr>
        <p:sp>
          <p:nvSpPr>
            <p:cNvPr id="4" name="Rectangle 10"/>
            <p:cNvSpPr>
              <a:spLocks noChangeArrowheads="1"/>
            </p:cNvSpPr>
            <p:nvPr/>
          </p:nvSpPr>
          <p:spPr bwMode="auto">
            <a:xfrm>
              <a:off x="2032" y="1752"/>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dest</a:t>
              </a:r>
            </a:p>
          </p:txBody>
        </p:sp>
        <p:sp>
          <p:nvSpPr>
            <p:cNvPr id="5" name="Line 11"/>
            <p:cNvSpPr>
              <a:spLocks noChangeShapeType="1"/>
            </p:cNvSpPr>
            <p:nvPr/>
          </p:nvSpPr>
          <p:spPr bwMode="auto">
            <a:xfrm rot="10800000">
              <a:off x="2381" y="1979"/>
              <a:ext cx="43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12"/>
            <p:cNvSpPr>
              <a:spLocks noChangeArrowheads="1"/>
            </p:cNvSpPr>
            <p:nvPr/>
          </p:nvSpPr>
          <p:spPr bwMode="auto">
            <a:xfrm>
              <a:off x="1337" y="1752"/>
              <a:ext cx="363"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CF</a:t>
              </a:r>
            </a:p>
          </p:txBody>
        </p:sp>
        <p:sp>
          <p:nvSpPr>
            <p:cNvPr id="7" name="Line 13"/>
            <p:cNvSpPr>
              <a:spLocks noChangeShapeType="1"/>
            </p:cNvSpPr>
            <p:nvPr/>
          </p:nvSpPr>
          <p:spPr bwMode="auto">
            <a:xfrm rot="10800000">
              <a:off x="1732" y="1888"/>
              <a:ext cx="2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Rectangle 14"/>
            <p:cNvSpPr>
              <a:spLocks noChangeArrowheads="1"/>
            </p:cNvSpPr>
            <p:nvPr/>
          </p:nvSpPr>
          <p:spPr bwMode="auto">
            <a:xfrm rot="10800000">
              <a:off x="3339" y="1778"/>
              <a:ext cx="31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0</a:t>
              </a:r>
            </a:p>
          </p:txBody>
        </p:sp>
        <p:sp>
          <p:nvSpPr>
            <p:cNvPr id="9" name="Line 15"/>
            <p:cNvSpPr>
              <a:spLocks noChangeShapeType="1"/>
            </p:cNvSpPr>
            <p:nvPr/>
          </p:nvSpPr>
          <p:spPr bwMode="auto">
            <a:xfrm rot="10800000">
              <a:off x="3203" y="1888"/>
              <a:ext cx="20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124531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36576" y="1377148"/>
            <a:ext cx="8412116" cy="52455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dirty="0">
                <a:solidFill>
                  <a:srgbClr val="000000"/>
                </a:solidFill>
                <a:latin typeface="楷体" panose="02010609060101010101" pitchFamily="49" charset="-122"/>
                <a:ea typeface="楷体" panose="02010609060101010101" pitchFamily="49" charset="-122"/>
              </a:rPr>
              <a:t>4.</a:t>
            </a:r>
            <a:r>
              <a:rPr lang="zh-CN" altLang="en-US" sz="2400" dirty="0">
                <a:solidFill>
                  <a:srgbClr val="000000"/>
                </a:solidFill>
                <a:latin typeface="楷体" panose="02010609060101010101" pitchFamily="49" charset="-122"/>
                <a:ea typeface="楷体" panose="02010609060101010101" pitchFamily="49" charset="-122"/>
              </a:rPr>
              <a:t> 循环右移</a:t>
            </a:r>
            <a:r>
              <a:rPr lang="en-US" altLang="zh-CN" sz="2400" dirty="0">
                <a:solidFill>
                  <a:srgbClr val="000000"/>
                </a:solidFill>
                <a:latin typeface="楷体" panose="02010609060101010101" pitchFamily="49" charset="-122"/>
                <a:ea typeface="楷体" panose="02010609060101010101" pitchFamily="49" charset="-122"/>
              </a:rPr>
              <a:t>ROR(rotate right)</a:t>
            </a:r>
          </a:p>
          <a:p>
            <a:pPr>
              <a:lnSpc>
                <a:spcPct val="120000"/>
              </a:lnSpc>
              <a:spcAft>
                <a:spcPts val="1800"/>
              </a:spcAft>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格式</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ROR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a:lnSpc>
                <a:spcPct val="120000"/>
              </a:lnSpc>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p>
          <a:p>
            <a:pPr>
              <a:lnSpc>
                <a:spcPct val="120000"/>
              </a:lnSpc>
              <a:buFont typeface="Wingdings 2" panose="05020102010507070707" pitchFamily="18" charset="2"/>
              <a:buNone/>
            </a:pPr>
            <a:endParaRPr lang="en-US" altLang="zh-CN" sz="2400" dirty="0">
              <a:latin typeface="楷体" panose="02010609060101010101" pitchFamily="49" charset="-122"/>
              <a:ea typeface="楷体" panose="02010609060101010101" pitchFamily="49" charset="-122"/>
            </a:endParaRPr>
          </a:p>
          <a:p>
            <a:pPr marL="0">
              <a:lnSpc>
                <a:spcPct val="120000"/>
              </a:lnSpc>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指令的意义： 从右边移出位移入</a:t>
            </a:r>
            <a:r>
              <a:rPr lang="en-US" altLang="zh-CN" sz="2400" dirty="0">
                <a:latin typeface="楷体" panose="02010609060101010101" pitchFamily="49" charset="-122"/>
                <a:ea typeface="楷体" panose="02010609060101010101" pitchFamily="49" charset="-122"/>
              </a:rPr>
              <a:t>CF</a:t>
            </a:r>
            <a:r>
              <a:rPr lang="zh-CN" altLang="en-US" sz="2400" dirty="0">
                <a:latin typeface="楷体" panose="02010609060101010101" pitchFamily="49" charset="-122"/>
                <a:ea typeface="楷体" panose="02010609060101010101" pitchFamily="49" charset="-122"/>
              </a:rPr>
              <a:t>中、同时移入左边的空出位，</a:t>
            </a:r>
            <a:r>
              <a:rPr lang="zh-CN" altLang="en-US" sz="2400" dirty="0">
                <a:solidFill>
                  <a:srgbClr val="00B0F0"/>
                </a:solidFill>
                <a:latin typeface="楷体" panose="02010609060101010101" pitchFamily="49" charset="-122"/>
                <a:ea typeface="楷体" panose="02010609060101010101" pitchFamily="49" charset="-122"/>
              </a:rPr>
              <a:t>最后移出位移至最左边位，同时保留在</a:t>
            </a:r>
            <a:r>
              <a:rPr lang="en-US" altLang="zh-CN" sz="2400" dirty="0">
                <a:solidFill>
                  <a:srgbClr val="00B0F0"/>
                </a:solidFill>
                <a:latin typeface="楷体" panose="02010609060101010101" pitchFamily="49" charset="-122"/>
                <a:ea typeface="楷体" panose="02010609060101010101" pitchFamily="49" charset="-122"/>
              </a:rPr>
              <a:t>CF</a:t>
            </a:r>
            <a:r>
              <a:rPr lang="zh-CN" altLang="en-US" sz="2400" dirty="0">
                <a:solidFill>
                  <a:srgbClr val="00B0F0"/>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a:t>
            </a:r>
          </a:p>
          <a:p>
            <a:pPr>
              <a:lnSpc>
                <a:spcPct val="120000"/>
              </a:lnSpc>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endParaRPr lang="en-US" altLang="zh-CN" sz="2400" dirty="0">
              <a:solidFill>
                <a:srgbClr val="000099"/>
              </a:solidFill>
              <a:latin typeface="楷体" panose="02010609060101010101" pitchFamily="49" charset="-122"/>
              <a:ea typeface="楷体" panose="02010609060101010101" pitchFamily="49" charset="-122"/>
            </a:endParaRPr>
          </a:p>
          <a:p>
            <a:pPr>
              <a:lnSpc>
                <a:spcPct val="120000"/>
              </a:lnSpc>
              <a:buFont typeface="Wingdings 2" panose="05020102010507070707" pitchFamily="18" charset="2"/>
              <a:buNone/>
            </a:pPr>
            <a:r>
              <a:rPr lang="en-US" altLang="zh-CN" sz="2400" dirty="0">
                <a:solidFill>
                  <a:srgbClr val="000099"/>
                </a:solidFill>
                <a:latin typeface="楷体" panose="02010609060101010101" pitchFamily="49" charset="-122"/>
                <a:ea typeface="楷体" panose="02010609060101010101" pitchFamily="49" charset="-122"/>
              </a:rPr>
              <a:t>      ROR  AL</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1   </a:t>
            </a:r>
          </a:p>
          <a:p>
            <a:pPr>
              <a:lnSpc>
                <a:spcPct val="120000"/>
              </a:lnSpc>
              <a:buFont typeface="Wingdings 2" panose="05020102010507070707" pitchFamily="18" charset="2"/>
              <a:buNone/>
            </a:pPr>
            <a:r>
              <a:rPr lang="en-US" altLang="zh-CN" sz="2400" dirty="0">
                <a:solidFill>
                  <a:srgbClr val="000099"/>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执行后 </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habcdefg</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CF=h    </a:t>
            </a:r>
          </a:p>
        </p:txBody>
      </p:sp>
      <p:grpSp>
        <p:nvGrpSpPr>
          <p:cNvPr id="3" name="Group 28"/>
          <p:cNvGrpSpPr>
            <a:grpSpLocks/>
          </p:cNvGrpSpPr>
          <p:nvPr/>
        </p:nvGrpSpPr>
        <p:grpSpPr bwMode="auto">
          <a:xfrm>
            <a:off x="1644712" y="2838912"/>
            <a:ext cx="3168650" cy="647700"/>
            <a:chOff x="1202" y="1888"/>
            <a:chExt cx="1996" cy="408"/>
          </a:xfrm>
        </p:grpSpPr>
        <p:sp>
          <p:nvSpPr>
            <p:cNvPr id="4" name="Line 17"/>
            <p:cNvSpPr>
              <a:spLocks noChangeShapeType="1"/>
            </p:cNvSpPr>
            <p:nvPr/>
          </p:nvSpPr>
          <p:spPr bwMode="auto">
            <a:xfrm>
              <a:off x="1746" y="2261"/>
              <a:ext cx="43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Rectangle 19"/>
            <p:cNvSpPr>
              <a:spLocks noChangeArrowheads="1"/>
            </p:cNvSpPr>
            <p:nvPr/>
          </p:nvSpPr>
          <p:spPr bwMode="auto">
            <a:xfrm>
              <a:off x="1414" y="2024"/>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dest</a:t>
              </a:r>
            </a:p>
          </p:txBody>
        </p:sp>
        <p:sp>
          <p:nvSpPr>
            <p:cNvPr id="6" name="Rectangle 20"/>
            <p:cNvSpPr>
              <a:spLocks noChangeArrowheads="1"/>
            </p:cNvSpPr>
            <p:nvPr/>
          </p:nvSpPr>
          <p:spPr bwMode="auto">
            <a:xfrm>
              <a:off x="2835" y="2024"/>
              <a:ext cx="363"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Arial" panose="020B0604020202020204" pitchFamily="34" charset="0"/>
                </a:rPr>
                <a:t>CF</a:t>
              </a:r>
            </a:p>
          </p:txBody>
        </p:sp>
        <p:sp>
          <p:nvSpPr>
            <p:cNvPr id="7" name="Line 21"/>
            <p:cNvSpPr>
              <a:spLocks noChangeShapeType="1"/>
            </p:cNvSpPr>
            <p:nvPr/>
          </p:nvSpPr>
          <p:spPr bwMode="auto">
            <a:xfrm>
              <a:off x="2544" y="2160"/>
              <a:ext cx="2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22"/>
            <p:cNvSpPr>
              <a:spLocks noChangeShapeType="1"/>
            </p:cNvSpPr>
            <p:nvPr/>
          </p:nvSpPr>
          <p:spPr bwMode="auto">
            <a:xfrm>
              <a:off x="1202" y="2160"/>
              <a:ext cx="1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24"/>
            <p:cNvSpPr>
              <a:spLocks noChangeShapeType="1"/>
            </p:cNvSpPr>
            <p:nvPr/>
          </p:nvSpPr>
          <p:spPr bwMode="auto">
            <a:xfrm flipV="1">
              <a:off x="2653" y="1888"/>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5"/>
            <p:cNvSpPr>
              <a:spLocks noChangeShapeType="1"/>
            </p:cNvSpPr>
            <p:nvPr/>
          </p:nvSpPr>
          <p:spPr bwMode="auto">
            <a:xfrm flipH="1">
              <a:off x="1202" y="1888"/>
              <a:ext cx="145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6"/>
            <p:cNvSpPr>
              <a:spLocks noChangeShapeType="1"/>
            </p:cNvSpPr>
            <p:nvPr/>
          </p:nvSpPr>
          <p:spPr bwMode="auto">
            <a:xfrm>
              <a:off x="1202" y="1888"/>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9000818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62769" y="1286707"/>
            <a:ext cx="8535988" cy="48482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循环左移</a:t>
            </a:r>
            <a:r>
              <a:rPr lang="en-US" altLang="zh-CN" sz="2400" dirty="0">
                <a:latin typeface="楷体" panose="02010609060101010101" pitchFamily="49" charset="-122"/>
                <a:ea typeface="楷体" panose="02010609060101010101" pitchFamily="49" charset="-122"/>
              </a:rPr>
              <a:t>ROL (rotate left)</a:t>
            </a:r>
          </a:p>
          <a:p>
            <a:pPr>
              <a:lnSpc>
                <a:spcPct val="150000"/>
              </a:lnSpc>
              <a:spcBef>
                <a:spcPts val="6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格式</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ROL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50000"/>
              </a:lnSpc>
              <a:spcBef>
                <a:spcPts val="600"/>
              </a:spcBef>
              <a:spcAft>
                <a:spcPts val="1200"/>
              </a:spcAft>
              <a:buNone/>
            </a:pPr>
            <a:r>
              <a:rPr lang="zh-CN" altLang="en-US" sz="2400" dirty="0">
                <a:latin typeface="楷体" panose="02010609060101010101" pitchFamily="49" charset="-122"/>
                <a:ea typeface="楷体" panose="02010609060101010101" pitchFamily="49" charset="-122"/>
              </a:rPr>
              <a:t>指令的意义：将</a:t>
            </a:r>
            <a:r>
              <a:rPr lang="en-US" altLang="zh-CN" sz="2400" dirty="0" err="1">
                <a:latin typeface="楷体" panose="02010609060101010101" pitchFamily="49" charset="-122"/>
                <a:ea typeface="楷体" panose="02010609060101010101" pitchFamily="49" charset="-122"/>
              </a:rPr>
              <a:t>dest</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8/16/32</a:t>
            </a:r>
            <a:r>
              <a:rPr lang="zh-CN" altLang="en-US" sz="2400" dirty="0">
                <a:latin typeface="楷体" panose="02010609060101010101" pitchFamily="49" charset="-122"/>
                <a:ea typeface="楷体" panose="02010609060101010101" pitchFamily="49" charset="-122"/>
              </a:rPr>
              <a:t>位二进制数向左移动，</a:t>
            </a:r>
            <a:r>
              <a:rPr lang="zh-CN" altLang="en-US" sz="2400" dirty="0">
                <a:solidFill>
                  <a:srgbClr val="FF0000"/>
                </a:solidFill>
                <a:latin typeface="楷体" panose="02010609060101010101" pitchFamily="49" charset="-122"/>
                <a:ea typeface="楷体" panose="02010609060101010101" pitchFamily="49" charset="-122"/>
              </a:rPr>
              <a:t>从左边移出位移入</a:t>
            </a:r>
            <a:r>
              <a:rPr lang="en-US" altLang="zh-CN" sz="2400" dirty="0">
                <a:solidFill>
                  <a:srgbClr val="FF0000"/>
                </a:solidFill>
                <a:latin typeface="楷体" panose="02010609060101010101" pitchFamily="49" charset="-122"/>
                <a:ea typeface="楷体" panose="02010609060101010101" pitchFamily="49" charset="-122"/>
              </a:rPr>
              <a:t>CF</a:t>
            </a:r>
            <a:r>
              <a:rPr lang="zh-CN" altLang="en-US" sz="2400" dirty="0">
                <a:solidFill>
                  <a:srgbClr val="FF0000"/>
                </a:solidFill>
                <a:latin typeface="楷体" panose="02010609060101010101" pitchFamily="49" charset="-122"/>
                <a:ea typeface="楷体" panose="02010609060101010101" pitchFamily="49" charset="-122"/>
              </a:rPr>
              <a:t>中同时移入右边的空出位</a:t>
            </a:r>
            <a:r>
              <a:rPr lang="zh-CN" altLang="en-US" sz="2400" dirty="0">
                <a:latin typeface="楷体" panose="02010609060101010101" pitchFamily="49" charset="-122"/>
                <a:ea typeface="楷体" panose="02010609060101010101" pitchFamily="49" charset="-122"/>
              </a:rPr>
              <a:t>，</a:t>
            </a:r>
            <a:r>
              <a:rPr lang="zh-CN" altLang="en-US" sz="2400" dirty="0">
                <a:solidFill>
                  <a:srgbClr val="00B0F0"/>
                </a:solidFill>
                <a:latin typeface="楷体" panose="02010609060101010101" pitchFamily="49" charset="-122"/>
                <a:ea typeface="楷体" panose="02010609060101010101" pitchFamily="49" charset="-122"/>
              </a:rPr>
              <a:t>最后移出位移至最右边位，同时保留在</a:t>
            </a:r>
            <a:r>
              <a:rPr lang="en-US" altLang="zh-CN" sz="2400" dirty="0">
                <a:solidFill>
                  <a:srgbClr val="00B0F0"/>
                </a:solidFill>
                <a:latin typeface="楷体" panose="02010609060101010101" pitchFamily="49" charset="-122"/>
                <a:ea typeface="楷体" panose="02010609060101010101" pitchFamily="49" charset="-122"/>
              </a:rPr>
              <a:t>CF</a:t>
            </a:r>
            <a:r>
              <a:rPr lang="zh-CN" altLang="en-US" sz="2400" dirty="0">
                <a:solidFill>
                  <a:srgbClr val="00B0F0"/>
                </a:solidFill>
                <a:latin typeface="楷体" panose="02010609060101010101" pitchFamily="49" charset="-122"/>
                <a:ea typeface="楷体" panose="02010609060101010101" pitchFamily="49" charset="-122"/>
              </a:rPr>
              <a:t>中</a:t>
            </a:r>
            <a:r>
              <a:rPr lang="zh-CN" altLang="en-US" sz="2400" dirty="0">
                <a:latin typeface="楷体" panose="02010609060101010101" pitchFamily="49" charset="-122"/>
                <a:ea typeface="楷体" panose="02010609060101010101" pitchFamily="49" charset="-122"/>
              </a:rPr>
              <a:t>。</a:t>
            </a:r>
            <a:endParaRPr lang="en-US" altLang="zh-CN" sz="2400" dirty="0">
              <a:solidFill>
                <a:srgbClr val="FF0066"/>
              </a:solidFill>
              <a:latin typeface="楷体" panose="02010609060101010101" pitchFamily="49" charset="-122"/>
              <a:ea typeface="楷体" panose="02010609060101010101" pitchFamily="49" charset="-122"/>
            </a:endParaRPr>
          </a:p>
          <a:p>
            <a:pPr>
              <a:lnSpc>
                <a:spcPct val="120000"/>
              </a:lnSpc>
              <a:spcBef>
                <a:spcPts val="6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p>
          <a:p>
            <a:pPr>
              <a:lnSpc>
                <a:spcPct val="120000"/>
              </a:lnSpc>
              <a:spcBef>
                <a:spcPts val="1800"/>
              </a:spcBef>
              <a:buFont typeface="Wingdings 2" panose="05020102010507070707" pitchFamily="18"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r>
              <a:rPr lang="en-US" altLang="zh-CN" sz="2400" dirty="0">
                <a:solidFill>
                  <a:srgbClr val="000099"/>
                </a:solidFill>
                <a:latin typeface="楷体" panose="02010609060101010101" pitchFamily="49" charset="-122"/>
                <a:ea typeface="楷体" panose="02010609060101010101" pitchFamily="49" charset="-122"/>
              </a:rPr>
              <a:t>, CL=5</a:t>
            </a:r>
          </a:p>
          <a:p>
            <a:pPr marL="0" indent="0">
              <a:spcBef>
                <a:spcPts val="600"/>
              </a:spcBef>
              <a:buNone/>
            </a:pPr>
            <a:r>
              <a:rPr lang="en-US" altLang="zh-CN" sz="2400" dirty="0">
                <a:solidFill>
                  <a:srgbClr val="000099"/>
                </a:solidFill>
                <a:latin typeface="楷体" panose="02010609060101010101" pitchFamily="49" charset="-122"/>
                <a:ea typeface="楷体" panose="02010609060101010101" pitchFamily="49" charset="-122"/>
              </a:rPr>
              <a:t>    ROL  AL</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CL  </a:t>
            </a:r>
          </a:p>
          <a:p>
            <a:pPr marL="0" indent="0">
              <a:spcBef>
                <a:spcPts val="600"/>
              </a:spcBef>
              <a:buNone/>
            </a:pPr>
            <a:r>
              <a:rPr lang="en-US" altLang="zh-CN" sz="2400" dirty="0">
                <a:solidFill>
                  <a:srgbClr val="000099"/>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执行后 </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fghabcde</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CF=e    </a:t>
            </a:r>
          </a:p>
          <a:p>
            <a:pPr>
              <a:lnSpc>
                <a:spcPct val="120000"/>
              </a:lnSpc>
              <a:spcBef>
                <a:spcPts val="600"/>
              </a:spcBef>
              <a:buFont typeface="Wingdings 2" panose="05020102010507070707" pitchFamily="18" charset="2"/>
              <a:buNone/>
            </a:pPr>
            <a:endParaRPr lang="zh-CN" altLang="en-US" sz="2400" dirty="0">
              <a:latin typeface="楷体" panose="02010609060101010101" pitchFamily="49" charset="-122"/>
              <a:ea typeface="楷体" panose="02010609060101010101" pitchFamily="49" charset="-122"/>
            </a:endParaRPr>
          </a:p>
        </p:txBody>
      </p:sp>
      <p:grpSp>
        <p:nvGrpSpPr>
          <p:cNvPr id="3" name="Group 31"/>
          <p:cNvGrpSpPr>
            <a:grpSpLocks/>
          </p:cNvGrpSpPr>
          <p:nvPr/>
        </p:nvGrpSpPr>
        <p:grpSpPr bwMode="auto">
          <a:xfrm>
            <a:off x="1573290" y="4130983"/>
            <a:ext cx="3081338" cy="647700"/>
            <a:chOff x="848" y="1661"/>
            <a:chExt cx="1941" cy="408"/>
          </a:xfrm>
        </p:grpSpPr>
        <p:sp>
          <p:nvSpPr>
            <p:cNvPr id="4" name="Rectangle 19"/>
            <p:cNvSpPr>
              <a:spLocks noChangeArrowheads="1"/>
            </p:cNvSpPr>
            <p:nvPr/>
          </p:nvSpPr>
          <p:spPr bwMode="auto">
            <a:xfrm>
              <a:off x="1550" y="1797"/>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楷体" panose="02010609060101010101" pitchFamily="49" charset="-122"/>
                  <a:ea typeface="楷体" panose="02010609060101010101" pitchFamily="49" charset="-122"/>
                </a:rPr>
                <a:t>dest</a:t>
              </a:r>
            </a:p>
          </p:txBody>
        </p:sp>
        <p:sp>
          <p:nvSpPr>
            <p:cNvPr id="5" name="Rectangle 20"/>
            <p:cNvSpPr>
              <a:spLocks noChangeArrowheads="1"/>
            </p:cNvSpPr>
            <p:nvPr/>
          </p:nvSpPr>
          <p:spPr bwMode="auto">
            <a:xfrm>
              <a:off x="848" y="1815"/>
              <a:ext cx="317" cy="22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楷体" panose="02010609060101010101" pitchFamily="49" charset="-122"/>
                  <a:ea typeface="楷体" panose="02010609060101010101" pitchFamily="49" charset="-122"/>
                </a:rPr>
                <a:t>CF</a:t>
              </a:r>
            </a:p>
          </p:txBody>
        </p:sp>
        <p:sp>
          <p:nvSpPr>
            <p:cNvPr id="6" name="Line 23"/>
            <p:cNvSpPr>
              <a:spLocks noChangeShapeType="1"/>
            </p:cNvSpPr>
            <p:nvPr/>
          </p:nvSpPr>
          <p:spPr bwMode="auto">
            <a:xfrm flipV="1">
              <a:off x="2789"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 name="Line 24"/>
            <p:cNvSpPr>
              <a:spLocks noChangeShapeType="1"/>
            </p:cNvSpPr>
            <p:nvPr/>
          </p:nvSpPr>
          <p:spPr bwMode="auto">
            <a:xfrm flipH="1">
              <a:off x="1338" y="1661"/>
              <a:ext cx="145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 name="Line 25"/>
            <p:cNvSpPr>
              <a:spLocks noChangeShapeType="1"/>
            </p:cNvSpPr>
            <p:nvPr/>
          </p:nvSpPr>
          <p:spPr bwMode="auto">
            <a:xfrm>
              <a:off x="1338"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9" name="Line 28"/>
            <p:cNvSpPr>
              <a:spLocks noChangeShapeType="1"/>
            </p:cNvSpPr>
            <p:nvPr/>
          </p:nvSpPr>
          <p:spPr bwMode="auto">
            <a:xfrm flipH="1">
              <a:off x="1174" y="1933"/>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 name="Line 29"/>
            <p:cNvSpPr>
              <a:spLocks noChangeShapeType="1"/>
            </p:cNvSpPr>
            <p:nvPr/>
          </p:nvSpPr>
          <p:spPr bwMode="auto">
            <a:xfrm flipH="1">
              <a:off x="1927" y="2024"/>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Line 30"/>
            <p:cNvSpPr>
              <a:spLocks noChangeShapeType="1"/>
            </p:cNvSpPr>
            <p:nvPr/>
          </p:nvSpPr>
          <p:spPr bwMode="auto">
            <a:xfrm flipH="1">
              <a:off x="2653" y="1933"/>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37953160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56BDBB7B-0DB8-4D8D-B2DB-B765A186F183}"/>
              </a:ext>
            </a:extLst>
          </p:cNvPr>
          <p:cNvSpPr>
            <a:spLocks noChangeArrowheads="1"/>
          </p:cNvSpPr>
          <p:nvPr/>
        </p:nvSpPr>
        <p:spPr bwMode="auto">
          <a:xfrm>
            <a:off x="446088" y="1362075"/>
            <a:ext cx="8286750" cy="2138363"/>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sp>
        <p:nvSpPr>
          <p:cNvPr id="3" name="Rectangle 3"/>
          <p:cNvSpPr txBox="1">
            <a:spLocks noChangeArrowheads="1"/>
          </p:cNvSpPr>
          <p:nvPr/>
        </p:nvSpPr>
        <p:spPr>
          <a:xfrm>
            <a:off x="446088" y="1653605"/>
            <a:ext cx="8428037" cy="17160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90000"/>
              </a:spcBef>
              <a:buFont typeface="Wingdings 2" panose="05020102010507070707" pitchFamily="18" charset="2"/>
              <a:buNone/>
            </a:pPr>
            <a:r>
              <a:rPr lang="zh-CN" altLang="en-US" b="1" dirty="0">
                <a:solidFill>
                  <a:srgbClr val="000099"/>
                </a:solidFill>
                <a:latin typeface="楷体" panose="02010609060101010101" pitchFamily="49" charset="-122"/>
                <a:ea typeface="楷体" panose="02010609060101010101" pitchFamily="49" charset="-122"/>
              </a:rPr>
              <a:t>例</a:t>
            </a:r>
            <a:r>
              <a:rPr lang="en-US" altLang="zh-CN" b="1" dirty="0">
                <a:solidFill>
                  <a:srgbClr val="000099"/>
                </a:solidFill>
                <a:latin typeface="楷体" panose="02010609060101010101" pitchFamily="49" charset="-122"/>
                <a:ea typeface="楷体" panose="02010609060101010101" pitchFamily="49" charset="-122"/>
              </a:rPr>
              <a:t>:  </a:t>
            </a:r>
            <a:r>
              <a:rPr lang="zh-CN" altLang="en-US" dirty="0">
                <a:solidFill>
                  <a:srgbClr val="000099"/>
                </a:solidFill>
                <a:latin typeface="楷体" panose="02010609060101010101" pitchFamily="49" charset="-122"/>
                <a:ea typeface="楷体" panose="02010609060101010101" pitchFamily="49" charset="-122"/>
              </a:rPr>
              <a:t>利用循环右移或循环左移 可以将数据段中的两相邻字节变量</a:t>
            </a:r>
            <a:r>
              <a:rPr lang="en-US" altLang="zh-CN" dirty="0">
                <a:solidFill>
                  <a:srgbClr val="000099"/>
                </a:solidFill>
                <a:latin typeface="楷体" panose="02010609060101010101" pitchFamily="49" charset="-122"/>
                <a:ea typeface="楷体" panose="02010609060101010101" pitchFamily="49" charset="-122"/>
              </a:rPr>
              <a:t>B1</a:t>
            </a:r>
            <a:r>
              <a:rPr lang="zh-CN" altLang="en-US" dirty="0">
                <a:solidFill>
                  <a:srgbClr val="000099"/>
                </a:solidFill>
                <a:latin typeface="楷体" panose="02010609060101010101" pitchFamily="49" charset="-122"/>
                <a:ea typeface="楷体" panose="02010609060101010101" pitchFamily="49" charset="-122"/>
              </a:rPr>
              <a:t>（低地址）和</a:t>
            </a:r>
            <a:r>
              <a:rPr lang="en-US" altLang="zh-CN" dirty="0">
                <a:solidFill>
                  <a:srgbClr val="000099"/>
                </a:solidFill>
                <a:latin typeface="楷体" panose="02010609060101010101" pitchFamily="49" charset="-122"/>
                <a:ea typeface="楷体" panose="02010609060101010101" pitchFamily="49" charset="-122"/>
              </a:rPr>
              <a:t>B2</a:t>
            </a:r>
            <a:r>
              <a:rPr lang="zh-CN" altLang="en-US" dirty="0">
                <a:solidFill>
                  <a:srgbClr val="000099"/>
                </a:solidFill>
                <a:latin typeface="楷体" panose="02010609060101010101" pitchFamily="49" charset="-122"/>
                <a:ea typeface="楷体" panose="02010609060101010101" pitchFamily="49" charset="-122"/>
              </a:rPr>
              <a:t>中的两个</a:t>
            </a:r>
            <a:r>
              <a:rPr lang="en-US" altLang="zh-CN" dirty="0">
                <a:solidFill>
                  <a:srgbClr val="000099"/>
                </a:solidFill>
                <a:latin typeface="楷体" panose="02010609060101010101" pitchFamily="49" charset="-122"/>
                <a:ea typeface="楷体" panose="02010609060101010101" pitchFamily="49" charset="-122"/>
              </a:rPr>
              <a:t>8</a:t>
            </a:r>
            <a:r>
              <a:rPr lang="zh-CN" altLang="en-US" dirty="0">
                <a:solidFill>
                  <a:srgbClr val="000099"/>
                </a:solidFill>
                <a:latin typeface="楷体" panose="02010609060101010101" pitchFamily="49" charset="-122"/>
                <a:ea typeface="楷体" panose="02010609060101010101" pitchFamily="49" charset="-122"/>
              </a:rPr>
              <a:t>位二进制数交换，程序段如下：</a:t>
            </a:r>
          </a:p>
        </p:txBody>
      </p:sp>
      <p:sp>
        <p:nvSpPr>
          <p:cNvPr id="4" name="矩形 3"/>
          <p:cNvSpPr>
            <a:spLocks noChangeArrowheads="1"/>
          </p:cNvSpPr>
          <p:nvPr/>
        </p:nvSpPr>
        <p:spPr bwMode="auto">
          <a:xfrm>
            <a:off x="599105" y="4013971"/>
            <a:ext cx="5976937"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Wingdings 2" panose="05020102010507070707" pitchFamily="18" charset="2"/>
              <a:buNone/>
            </a:pPr>
            <a:r>
              <a:rPr lang="en-US" altLang="zh-CN" sz="2800" b="0" dirty="0">
                <a:solidFill>
                  <a:srgbClr val="000099"/>
                </a:solidFill>
                <a:latin typeface="楷体" panose="02010609060101010101" pitchFamily="49" charset="-122"/>
                <a:ea typeface="楷体" panose="02010609060101010101" pitchFamily="49" charset="-122"/>
              </a:rPr>
              <a:t>     MOV  CL</a:t>
            </a:r>
            <a:r>
              <a:rPr lang="zh-CN" altLang="en-US" sz="2800" b="0" dirty="0">
                <a:solidFill>
                  <a:srgbClr val="000099"/>
                </a:solidFill>
                <a:latin typeface="楷体" panose="02010609060101010101" pitchFamily="49" charset="-122"/>
                <a:ea typeface="楷体" panose="02010609060101010101" pitchFamily="49" charset="-122"/>
              </a:rPr>
              <a:t>，</a:t>
            </a:r>
            <a:r>
              <a:rPr lang="en-US" altLang="zh-CN" sz="2800" b="0" dirty="0">
                <a:solidFill>
                  <a:srgbClr val="000099"/>
                </a:solidFill>
                <a:latin typeface="楷体" panose="02010609060101010101" pitchFamily="49" charset="-122"/>
                <a:ea typeface="楷体" panose="02010609060101010101" pitchFamily="49" charset="-122"/>
              </a:rPr>
              <a:t>8</a:t>
            </a:r>
          </a:p>
          <a:p>
            <a:pPr eaLnBrk="1" hangingPunct="1">
              <a:lnSpc>
                <a:spcPct val="150000"/>
              </a:lnSpc>
              <a:spcBef>
                <a:spcPct val="0"/>
              </a:spcBef>
              <a:buFont typeface="Wingdings 2" panose="05020102010507070707" pitchFamily="18" charset="2"/>
              <a:buNone/>
            </a:pPr>
            <a:r>
              <a:rPr lang="en-US" altLang="zh-CN" sz="2800" b="0" dirty="0">
                <a:solidFill>
                  <a:srgbClr val="000099"/>
                </a:solidFill>
                <a:latin typeface="楷体" panose="02010609060101010101" pitchFamily="49" charset="-122"/>
                <a:ea typeface="楷体" panose="02010609060101010101" pitchFamily="49" charset="-122"/>
              </a:rPr>
              <a:t>     ROL  WORD PTR B1</a:t>
            </a:r>
            <a:r>
              <a:rPr lang="zh-CN" altLang="en-US" sz="2800" b="0" dirty="0">
                <a:solidFill>
                  <a:srgbClr val="000099"/>
                </a:solidFill>
                <a:latin typeface="楷体" panose="02010609060101010101" pitchFamily="49" charset="-122"/>
                <a:ea typeface="楷体" panose="02010609060101010101" pitchFamily="49" charset="-122"/>
              </a:rPr>
              <a:t>，</a:t>
            </a:r>
            <a:r>
              <a:rPr lang="en-US" altLang="zh-CN" sz="2800" b="0" dirty="0">
                <a:solidFill>
                  <a:srgbClr val="000099"/>
                </a:solidFill>
                <a:latin typeface="楷体" panose="02010609060101010101" pitchFamily="49" charset="-122"/>
                <a:ea typeface="楷体" panose="02010609060101010101" pitchFamily="49" charset="-122"/>
              </a:rPr>
              <a:t>CL  </a:t>
            </a:r>
            <a:endParaRPr lang="zh-CN" altLang="en-US" sz="2800" b="0" dirty="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1199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57187" y="1222021"/>
            <a:ext cx="8715375" cy="5448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dirty="0">
                <a:solidFill>
                  <a:srgbClr val="000000"/>
                </a:solidFill>
                <a:latin typeface="楷体" panose="02010609060101010101" pitchFamily="49" charset="-122"/>
                <a:ea typeface="楷体" panose="02010609060101010101" pitchFamily="49" charset="-122"/>
              </a:rPr>
              <a:t>6.</a:t>
            </a:r>
            <a:r>
              <a:rPr lang="zh-CN" altLang="en-US" sz="2400" dirty="0">
                <a:solidFill>
                  <a:srgbClr val="000000"/>
                </a:solidFill>
                <a:latin typeface="楷体" panose="02010609060101010101" pitchFamily="49" charset="-122"/>
                <a:ea typeface="楷体" panose="02010609060101010101" pitchFamily="49" charset="-122"/>
              </a:rPr>
              <a:t> 带进位循环右移</a:t>
            </a:r>
            <a:r>
              <a:rPr lang="en-US" altLang="zh-CN" sz="2400" dirty="0">
                <a:solidFill>
                  <a:srgbClr val="000000"/>
                </a:solidFill>
                <a:latin typeface="楷体" panose="02010609060101010101" pitchFamily="49" charset="-122"/>
                <a:ea typeface="楷体" panose="02010609060101010101" pitchFamily="49" charset="-122"/>
              </a:rPr>
              <a:t>RCR</a:t>
            </a:r>
            <a:endParaRPr lang="en-US" altLang="zh-CN" sz="2400" dirty="0">
              <a:latin typeface="楷体" panose="02010609060101010101" pitchFamily="49" charset="-122"/>
              <a:ea typeface="楷体" panose="02010609060101010101" pitchFamily="49" charset="-122"/>
            </a:endParaRPr>
          </a:p>
          <a:p>
            <a:pPr>
              <a:lnSpc>
                <a:spcPct val="125000"/>
              </a:lnSpc>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格式：</a:t>
            </a:r>
            <a:r>
              <a:rPr lang="en-US" altLang="zh-CN" sz="2400" dirty="0">
                <a:solidFill>
                  <a:srgbClr val="FF0066"/>
                </a:solidFill>
                <a:latin typeface="楷体" panose="02010609060101010101" pitchFamily="49" charset="-122"/>
                <a:ea typeface="楷体" panose="02010609060101010101" pitchFamily="49" charset="-122"/>
              </a:rPr>
              <a:t>RCR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25000"/>
              </a:lnSpc>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意义：将</a:t>
            </a:r>
            <a:r>
              <a:rPr lang="en-US" altLang="zh-CN" sz="2400" dirty="0" err="1">
                <a:latin typeface="楷体" panose="02010609060101010101" pitchFamily="49" charset="-122"/>
                <a:ea typeface="楷体" panose="02010609060101010101" pitchFamily="49" charset="-122"/>
              </a:rPr>
              <a:t>dest</a:t>
            </a:r>
            <a:r>
              <a:rPr lang="zh-CN" altLang="en-US" sz="2400" dirty="0">
                <a:latin typeface="楷体" panose="02010609060101010101" pitchFamily="49" charset="-122"/>
                <a:ea typeface="楷体" panose="02010609060101010101" pitchFamily="49" charset="-122"/>
              </a:rPr>
              <a:t>和进位</a:t>
            </a:r>
            <a:r>
              <a:rPr lang="en-US" altLang="zh-CN" sz="2400" dirty="0">
                <a:latin typeface="楷体" panose="02010609060101010101" pitchFamily="49" charset="-122"/>
                <a:ea typeface="楷体" panose="02010609060101010101" pitchFamily="49" charset="-122"/>
              </a:rPr>
              <a:t>CF</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9/17/33</a:t>
            </a:r>
            <a:r>
              <a:rPr lang="zh-CN" altLang="en-US" sz="2400" dirty="0">
                <a:latin typeface="楷体" panose="02010609060101010101" pitchFamily="49" charset="-122"/>
                <a:ea typeface="楷体" panose="02010609060101010101" pitchFamily="49" charset="-122"/>
              </a:rPr>
              <a:t>位二进制数一同向右移动，</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中的最后移出位移至</a:t>
            </a:r>
            <a:r>
              <a:rPr lang="en-US" altLang="zh-CN" sz="2400" dirty="0">
                <a:solidFill>
                  <a:srgbClr val="FF0066"/>
                </a:solidFill>
                <a:latin typeface="楷体" panose="02010609060101010101" pitchFamily="49" charset="-122"/>
                <a:ea typeface="楷体" panose="02010609060101010101" pitchFamily="49" charset="-122"/>
              </a:rPr>
              <a:t>CF</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CF</a:t>
            </a:r>
            <a:r>
              <a:rPr lang="zh-CN" altLang="en-US" sz="2400" dirty="0">
                <a:solidFill>
                  <a:srgbClr val="FF0066"/>
                </a:solidFill>
                <a:latin typeface="楷体" panose="02010609060101010101" pitchFamily="49" charset="-122"/>
                <a:ea typeface="楷体" panose="02010609060101010101" pitchFamily="49" charset="-122"/>
              </a:rPr>
              <a:t>（原内容）移至</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的最左边位或者中间位。</a:t>
            </a:r>
            <a:endParaRPr lang="en-US" altLang="zh-CN" sz="2400" dirty="0">
              <a:solidFill>
                <a:srgbClr val="FF0066"/>
              </a:solidFill>
              <a:latin typeface="楷体" panose="02010609060101010101" pitchFamily="49" charset="-122"/>
              <a:ea typeface="楷体" panose="02010609060101010101" pitchFamily="49" charset="-122"/>
            </a:endParaRPr>
          </a:p>
          <a:p>
            <a:pPr>
              <a:lnSpc>
                <a:spcPct val="125000"/>
              </a:lnSpc>
              <a:spcBef>
                <a:spcPct val="5000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p>
          <a:p>
            <a:pPr>
              <a:lnSpc>
                <a:spcPct val="125000"/>
              </a:lnSpc>
              <a:spcBef>
                <a:spcPts val="2400"/>
              </a:spcBef>
              <a:buFont typeface="Wingdings" panose="05000000000000000000" pitchFamily="2" charset="2"/>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a:t>
            </a:r>
            <a:r>
              <a:rPr lang="en-US" altLang="zh-CN" sz="2400" dirty="0" err="1">
                <a:solidFill>
                  <a:srgbClr val="000099"/>
                </a:solidFill>
                <a:latin typeface="楷体" panose="02010609060101010101" pitchFamily="49" charset="-122"/>
                <a:ea typeface="楷体" panose="02010609060101010101" pitchFamily="49" charset="-122"/>
              </a:rPr>
              <a:t>i</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CL=4</a:t>
            </a:r>
            <a:endParaRPr lang="zh-CN" altLang="en-US" sz="2400" dirty="0">
              <a:solidFill>
                <a:srgbClr val="000099"/>
              </a:solidFill>
              <a:latin typeface="楷体" panose="02010609060101010101" pitchFamily="49" charset="-122"/>
              <a:ea typeface="楷体" panose="02010609060101010101" pitchFamily="49" charset="-122"/>
            </a:endParaRPr>
          </a:p>
          <a:p>
            <a:pPr>
              <a:lnSpc>
                <a:spcPct val="125000"/>
              </a:lnSpc>
              <a:buFont typeface="Wingdings" panose="05000000000000000000" pitchFamily="2" charset="2"/>
              <a:buNone/>
            </a:pPr>
            <a:r>
              <a:rPr lang="en-US" altLang="zh-CN" sz="2400" dirty="0">
                <a:solidFill>
                  <a:srgbClr val="000099"/>
                </a:solidFill>
                <a:latin typeface="楷体" panose="02010609060101010101" pitchFamily="49" charset="-122"/>
                <a:ea typeface="楷体" panose="02010609060101010101" pitchFamily="49" charset="-122"/>
              </a:rPr>
              <a:t>    RCR AL</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CL</a:t>
            </a:r>
          </a:p>
          <a:p>
            <a:pPr>
              <a:lnSpc>
                <a:spcPct val="125000"/>
              </a:lnSpc>
              <a:buFont typeface="Wingdings" panose="05000000000000000000" pitchFamily="2" charset="2"/>
              <a:buNone/>
            </a:pPr>
            <a:r>
              <a:rPr lang="zh-CN" altLang="en-US" sz="2400" dirty="0">
                <a:solidFill>
                  <a:srgbClr val="000099"/>
                </a:solidFill>
                <a:latin typeface="楷体" panose="02010609060101010101" pitchFamily="49" charset="-122"/>
                <a:ea typeface="楷体" panose="02010609060101010101" pitchFamily="49" charset="-122"/>
              </a:rPr>
              <a:t>    执行后，</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fghiabcd</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CF=e</a:t>
            </a:r>
            <a:endParaRPr lang="zh-CN" altLang="en-US" sz="2400" dirty="0">
              <a:solidFill>
                <a:srgbClr val="000099"/>
              </a:solidFill>
              <a:latin typeface="楷体" panose="02010609060101010101" pitchFamily="49" charset="-122"/>
              <a:ea typeface="楷体" panose="02010609060101010101" pitchFamily="49" charset="-122"/>
            </a:endParaRPr>
          </a:p>
        </p:txBody>
      </p:sp>
      <p:grpSp>
        <p:nvGrpSpPr>
          <p:cNvPr id="3" name="组合 25"/>
          <p:cNvGrpSpPr>
            <a:grpSpLocks/>
          </p:cNvGrpSpPr>
          <p:nvPr/>
        </p:nvGrpSpPr>
        <p:grpSpPr bwMode="auto">
          <a:xfrm>
            <a:off x="1546225" y="3852863"/>
            <a:ext cx="3384550" cy="647700"/>
            <a:chOff x="1763713" y="1844675"/>
            <a:chExt cx="3384550" cy="647700"/>
          </a:xfrm>
        </p:grpSpPr>
        <p:sp>
          <p:nvSpPr>
            <p:cNvPr id="4" name="Line 26"/>
            <p:cNvSpPr>
              <a:spLocks noChangeShapeType="1"/>
            </p:cNvSpPr>
            <p:nvPr/>
          </p:nvSpPr>
          <p:spPr bwMode="auto">
            <a:xfrm flipV="1">
              <a:off x="5148263" y="1844675"/>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5" name="Line 27"/>
            <p:cNvSpPr>
              <a:spLocks noChangeShapeType="1"/>
            </p:cNvSpPr>
            <p:nvPr/>
          </p:nvSpPr>
          <p:spPr bwMode="auto">
            <a:xfrm flipH="1">
              <a:off x="1763713" y="1844675"/>
              <a:ext cx="3384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nvGrpSpPr>
            <p:cNvPr id="6" name="Group 30"/>
            <p:cNvGrpSpPr>
              <a:grpSpLocks/>
            </p:cNvGrpSpPr>
            <p:nvPr/>
          </p:nvGrpSpPr>
          <p:grpSpPr bwMode="auto">
            <a:xfrm>
              <a:off x="1763713" y="1844675"/>
              <a:ext cx="3384550" cy="647700"/>
              <a:chOff x="1111" y="1162"/>
              <a:chExt cx="2132" cy="408"/>
            </a:xfrm>
          </p:grpSpPr>
          <p:sp>
            <p:nvSpPr>
              <p:cNvPr id="7" name="Line 21"/>
              <p:cNvSpPr>
                <a:spLocks noChangeShapeType="1"/>
              </p:cNvSpPr>
              <p:nvPr/>
            </p:nvSpPr>
            <p:spPr bwMode="auto">
              <a:xfrm>
                <a:off x="1655" y="1535"/>
                <a:ext cx="43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 name="Rectangle 22"/>
              <p:cNvSpPr>
                <a:spLocks noChangeArrowheads="1"/>
              </p:cNvSpPr>
              <p:nvPr/>
            </p:nvSpPr>
            <p:spPr bwMode="auto">
              <a:xfrm>
                <a:off x="1323" y="1298"/>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楷体" panose="02010609060101010101" pitchFamily="49" charset="-122"/>
                    <a:ea typeface="楷体" panose="02010609060101010101" pitchFamily="49" charset="-122"/>
                  </a:rPr>
                  <a:t>dest</a:t>
                </a:r>
              </a:p>
            </p:txBody>
          </p:sp>
          <p:sp>
            <p:nvSpPr>
              <p:cNvPr id="9" name="Rectangle 23"/>
              <p:cNvSpPr>
                <a:spLocks noChangeArrowheads="1"/>
              </p:cNvSpPr>
              <p:nvPr/>
            </p:nvSpPr>
            <p:spPr bwMode="auto">
              <a:xfrm>
                <a:off x="2744" y="1298"/>
                <a:ext cx="363"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000">
                    <a:latin typeface="楷体" panose="02010609060101010101" pitchFamily="49" charset="-122"/>
                    <a:ea typeface="楷体" panose="02010609060101010101" pitchFamily="49" charset="-122"/>
                  </a:rPr>
                  <a:t>CF</a:t>
                </a:r>
              </a:p>
            </p:txBody>
          </p:sp>
          <p:sp>
            <p:nvSpPr>
              <p:cNvPr id="10" name="Line 24"/>
              <p:cNvSpPr>
                <a:spLocks noChangeShapeType="1"/>
              </p:cNvSpPr>
              <p:nvPr/>
            </p:nvSpPr>
            <p:spPr bwMode="auto">
              <a:xfrm>
                <a:off x="2453" y="1434"/>
                <a:ext cx="2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Line 25"/>
              <p:cNvSpPr>
                <a:spLocks noChangeShapeType="1"/>
              </p:cNvSpPr>
              <p:nvPr/>
            </p:nvSpPr>
            <p:spPr bwMode="auto">
              <a:xfrm>
                <a:off x="1111" y="1434"/>
                <a:ext cx="1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2" name="Line 28"/>
              <p:cNvSpPr>
                <a:spLocks noChangeShapeType="1"/>
              </p:cNvSpPr>
              <p:nvPr/>
            </p:nvSpPr>
            <p:spPr bwMode="auto">
              <a:xfrm>
                <a:off x="1111" y="1162"/>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 name="Line 29"/>
              <p:cNvSpPr>
                <a:spLocks noChangeShapeType="1"/>
              </p:cNvSpPr>
              <p:nvPr/>
            </p:nvSpPr>
            <p:spPr bwMode="auto">
              <a:xfrm>
                <a:off x="3107" y="1434"/>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grpSp>
    </p:spTree>
    <p:extLst>
      <p:ext uri="{BB962C8B-B14F-4D97-AF65-F5344CB8AC3E}">
        <p14:creationId xmlns:p14="http://schemas.microsoft.com/office/powerpoint/2010/main" val="14927335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85750" y="1143000"/>
            <a:ext cx="8786813" cy="5500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带进位循环左移</a:t>
            </a:r>
            <a:r>
              <a:rPr lang="en-US" altLang="zh-CN" sz="2400" dirty="0">
                <a:latin typeface="楷体" panose="02010609060101010101" pitchFamily="49" charset="-122"/>
                <a:ea typeface="楷体" panose="02010609060101010101" pitchFamily="49" charset="-122"/>
              </a:rPr>
              <a:t>RCL</a:t>
            </a:r>
          </a:p>
          <a:p>
            <a:pPr marL="0" indent="0">
              <a:lnSpc>
                <a:spcPct val="125000"/>
              </a:lnSpc>
              <a:buNone/>
            </a:pPr>
            <a:r>
              <a:rPr lang="zh-CN" altLang="en-US" sz="2400" dirty="0">
                <a:latin typeface="楷体" panose="02010609060101010101" pitchFamily="49" charset="-122"/>
                <a:ea typeface="楷体" panose="02010609060101010101" pitchFamily="49" charset="-122"/>
              </a:rPr>
              <a:t>格式</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RCL  </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source</a:t>
            </a:r>
          </a:p>
          <a:p>
            <a:pPr marL="0" indent="0">
              <a:lnSpc>
                <a:spcPct val="125000"/>
              </a:lnSpc>
              <a:buNone/>
            </a:pPr>
            <a:r>
              <a:rPr lang="zh-CN" altLang="en-US" sz="2400" dirty="0">
                <a:latin typeface="楷体" panose="02010609060101010101" pitchFamily="49" charset="-122"/>
                <a:ea typeface="楷体" panose="02010609060101010101" pitchFamily="49" charset="-122"/>
              </a:rPr>
              <a:t>意义：将</a:t>
            </a:r>
            <a:r>
              <a:rPr lang="en-US" altLang="zh-CN" sz="2400" dirty="0" err="1">
                <a:latin typeface="楷体" panose="02010609060101010101" pitchFamily="49" charset="-122"/>
                <a:ea typeface="楷体" panose="02010609060101010101" pitchFamily="49" charset="-122"/>
              </a:rPr>
              <a:t>dest</a:t>
            </a:r>
            <a:r>
              <a:rPr lang="zh-CN" altLang="en-US" sz="2400" dirty="0">
                <a:latin typeface="楷体" panose="02010609060101010101" pitchFamily="49" charset="-122"/>
                <a:ea typeface="楷体" panose="02010609060101010101" pitchFamily="49" charset="-122"/>
              </a:rPr>
              <a:t>和进位</a:t>
            </a:r>
            <a:r>
              <a:rPr lang="en-US" altLang="zh-CN" sz="2400" dirty="0">
                <a:latin typeface="楷体" panose="02010609060101010101" pitchFamily="49" charset="-122"/>
                <a:ea typeface="楷体" panose="02010609060101010101" pitchFamily="49" charset="-122"/>
              </a:rPr>
              <a:t>CF</a:t>
            </a:r>
            <a:r>
              <a:rPr lang="zh-CN" altLang="en-US" sz="2400" dirty="0">
                <a:latin typeface="楷体" panose="02010609060101010101" pitchFamily="49" charset="-122"/>
                <a:ea typeface="楷体" panose="02010609060101010101" pitchFamily="49" charset="-122"/>
              </a:rPr>
              <a:t>中的二进制数一同向左移动，</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中的最左边位或者最后移出位移至</a:t>
            </a:r>
            <a:r>
              <a:rPr lang="en-US" altLang="zh-CN" sz="2400" dirty="0">
                <a:solidFill>
                  <a:srgbClr val="FF0066"/>
                </a:solidFill>
                <a:latin typeface="楷体" panose="02010609060101010101" pitchFamily="49" charset="-122"/>
                <a:ea typeface="楷体" panose="02010609060101010101" pitchFamily="49" charset="-122"/>
              </a:rPr>
              <a:t>CF</a:t>
            </a:r>
            <a:r>
              <a:rPr lang="zh-CN" altLang="en-US" sz="2400" dirty="0">
                <a:solidFill>
                  <a:srgbClr val="FF0066"/>
                </a:solidFill>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CF</a:t>
            </a:r>
            <a:r>
              <a:rPr lang="zh-CN" altLang="en-US" sz="2400" dirty="0">
                <a:solidFill>
                  <a:srgbClr val="FF0066"/>
                </a:solidFill>
                <a:latin typeface="楷体" panose="02010609060101010101" pitchFamily="49" charset="-122"/>
                <a:ea typeface="楷体" panose="02010609060101010101" pitchFamily="49" charset="-122"/>
              </a:rPr>
              <a:t>（原内容）移至</a:t>
            </a:r>
            <a:r>
              <a:rPr lang="en-US" altLang="zh-CN" sz="2400" dirty="0" err="1">
                <a:solidFill>
                  <a:srgbClr val="FF0066"/>
                </a:solidFill>
                <a:latin typeface="楷体" panose="02010609060101010101" pitchFamily="49" charset="-122"/>
                <a:ea typeface="楷体" panose="02010609060101010101" pitchFamily="49" charset="-122"/>
              </a:rPr>
              <a:t>dest</a:t>
            </a:r>
            <a:r>
              <a:rPr lang="zh-CN" altLang="en-US" sz="2400" dirty="0">
                <a:solidFill>
                  <a:srgbClr val="FF0066"/>
                </a:solidFill>
                <a:latin typeface="楷体" panose="02010609060101010101" pitchFamily="49" charset="-122"/>
                <a:ea typeface="楷体" panose="02010609060101010101" pitchFamily="49" charset="-122"/>
              </a:rPr>
              <a:t>的最右边位或者中间位。</a:t>
            </a:r>
            <a:endParaRPr lang="en-US" altLang="zh-CN" sz="2400" dirty="0">
              <a:solidFill>
                <a:srgbClr val="FF0066"/>
              </a:solidFill>
              <a:latin typeface="楷体" panose="02010609060101010101" pitchFamily="49" charset="-122"/>
              <a:ea typeface="楷体" panose="02010609060101010101" pitchFamily="49" charset="-122"/>
            </a:endParaRPr>
          </a:p>
          <a:p>
            <a:pPr marL="0" indent="0">
              <a:lnSpc>
                <a:spcPct val="125000"/>
              </a:lnSpc>
              <a:spcBef>
                <a:spcPct val="40000"/>
              </a:spcBef>
              <a:buNone/>
            </a:pPr>
            <a:r>
              <a:rPr lang="zh-CN" altLang="en-US" sz="2400" dirty="0">
                <a:latin typeface="楷体" panose="02010609060101010101" pitchFamily="49" charset="-122"/>
                <a:ea typeface="楷体" panose="02010609060101010101" pitchFamily="49" charset="-122"/>
              </a:rPr>
              <a:t>操作</a:t>
            </a:r>
            <a:r>
              <a:rPr lang="en-US" altLang="zh-CN" sz="2400" dirty="0">
                <a:latin typeface="楷体" panose="02010609060101010101" pitchFamily="49" charset="-122"/>
                <a:ea typeface="楷体" panose="02010609060101010101" pitchFamily="49" charset="-122"/>
              </a:rPr>
              <a:t>:                     </a:t>
            </a:r>
          </a:p>
          <a:p>
            <a:pPr marL="0" indent="0">
              <a:lnSpc>
                <a:spcPct val="125000"/>
              </a:lnSpc>
              <a:spcBef>
                <a:spcPct val="75000"/>
              </a:spcBef>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abcdefgh</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a:t>
            </a:r>
            <a:r>
              <a:rPr lang="en-US" altLang="zh-CN" sz="2400" dirty="0" err="1">
                <a:solidFill>
                  <a:srgbClr val="000099"/>
                </a:solidFill>
                <a:latin typeface="楷体" panose="02010609060101010101" pitchFamily="49" charset="-122"/>
                <a:ea typeface="楷体" panose="02010609060101010101" pitchFamily="49" charset="-122"/>
              </a:rPr>
              <a:t>i</a:t>
            </a:r>
            <a:endParaRPr lang="zh-CN" altLang="en-US" sz="2400" dirty="0">
              <a:solidFill>
                <a:srgbClr val="000099"/>
              </a:solidFill>
              <a:latin typeface="楷体" panose="02010609060101010101" pitchFamily="49" charset="-122"/>
              <a:ea typeface="楷体" panose="02010609060101010101" pitchFamily="49" charset="-122"/>
            </a:endParaRPr>
          </a:p>
          <a:p>
            <a:pPr marL="0" indent="0">
              <a:lnSpc>
                <a:spcPct val="125000"/>
              </a:lnSpc>
              <a:buNone/>
            </a:pPr>
            <a:r>
              <a:rPr lang="en-US" altLang="zh-CN" sz="2400" dirty="0">
                <a:solidFill>
                  <a:srgbClr val="000099"/>
                </a:solidFill>
                <a:latin typeface="楷体" panose="02010609060101010101" pitchFamily="49" charset="-122"/>
                <a:ea typeface="楷体" panose="02010609060101010101" pitchFamily="49" charset="-122"/>
              </a:rPr>
              <a:t>       RCL AL</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1</a:t>
            </a:r>
          </a:p>
          <a:p>
            <a:pPr marL="0" indent="0">
              <a:lnSpc>
                <a:spcPct val="125000"/>
              </a:lnSpc>
              <a:buNone/>
            </a:pPr>
            <a:r>
              <a:rPr lang="zh-CN" altLang="en-US" sz="2400" dirty="0">
                <a:solidFill>
                  <a:srgbClr val="000099"/>
                </a:solidFill>
                <a:latin typeface="楷体" panose="02010609060101010101" pitchFamily="49" charset="-122"/>
                <a:ea typeface="楷体" panose="02010609060101010101" pitchFamily="49" charset="-122"/>
              </a:rPr>
              <a:t>      执行后 </a:t>
            </a:r>
            <a:r>
              <a:rPr lang="en-US" altLang="zh-CN" sz="2400" dirty="0">
                <a:solidFill>
                  <a:srgbClr val="000099"/>
                </a:solidFill>
                <a:latin typeface="楷体" panose="02010609060101010101" pitchFamily="49" charset="-122"/>
                <a:ea typeface="楷体" panose="02010609060101010101" pitchFamily="49" charset="-122"/>
              </a:rPr>
              <a:t>AL=</a:t>
            </a:r>
            <a:r>
              <a:rPr lang="en-US" altLang="zh-CN" sz="2400" dirty="0" err="1">
                <a:solidFill>
                  <a:srgbClr val="000099"/>
                </a:solidFill>
                <a:latin typeface="楷体" panose="02010609060101010101" pitchFamily="49" charset="-122"/>
                <a:ea typeface="楷体" panose="02010609060101010101" pitchFamily="49" charset="-122"/>
              </a:rPr>
              <a:t>bcdefghi</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CF=a</a:t>
            </a:r>
            <a:endParaRPr lang="zh-CN" altLang="en-US" sz="2400" dirty="0">
              <a:solidFill>
                <a:srgbClr val="000099"/>
              </a:solidFill>
              <a:latin typeface="楷体" panose="02010609060101010101" pitchFamily="49" charset="-122"/>
              <a:ea typeface="楷体" panose="02010609060101010101" pitchFamily="49" charset="-122"/>
            </a:endParaRPr>
          </a:p>
        </p:txBody>
      </p:sp>
      <p:grpSp>
        <p:nvGrpSpPr>
          <p:cNvPr id="3" name="组合 27"/>
          <p:cNvGrpSpPr>
            <a:grpSpLocks/>
          </p:cNvGrpSpPr>
          <p:nvPr/>
        </p:nvGrpSpPr>
        <p:grpSpPr bwMode="auto">
          <a:xfrm>
            <a:off x="1733550" y="3781425"/>
            <a:ext cx="3297238" cy="647700"/>
            <a:chOff x="1357290" y="4786322"/>
            <a:chExt cx="3297238" cy="647700"/>
          </a:xfrm>
        </p:grpSpPr>
        <p:sp>
          <p:nvSpPr>
            <p:cNvPr id="4" name="Line 39"/>
            <p:cNvSpPr>
              <a:spLocks noChangeShapeType="1"/>
            </p:cNvSpPr>
            <p:nvPr/>
          </p:nvSpPr>
          <p:spPr bwMode="auto">
            <a:xfrm flipH="1">
              <a:off x="4429124" y="5214950"/>
              <a:ext cx="215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nvGrpSpPr>
            <p:cNvPr id="5" name="Group 41"/>
            <p:cNvGrpSpPr>
              <a:grpSpLocks/>
            </p:cNvGrpSpPr>
            <p:nvPr/>
          </p:nvGrpSpPr>
          <p:grpSpPr bwMode="auto">
            <a:xfrm>
              <a:off x="1357290" y="4786322"/>
              <a:ext cx="3297238" cy="647700"/>
              <a:chOff x="1156" y="2478"/>
              <a:chExt cx="2077" cy="408"/>
            </a:xfrm>
          </p:grpSpPr>
          <p:sp>
            <p:nvSpPr>
              <p:cNvPr id="6" name="Rectangle 32"/>
              <p:cNvSpPr>
                <a:spLocks noChangeArrowheads="1"/>
              </p:cNvSpPr>
              <p:nvPr/>
            </p:nvSpPr>
            <p:spPr bwMode="auto">
              <a:xfrm>
                <a:off x="1994" y="2614"/>
                <a:ext cx="1089"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000">
                    <a:latin typeface="楷体" panose="02010609060101010101" pitchFamily="49" charset="-122"/>
                    <a:ea typeface="楷体" panose="02010609060101010101" pitchFamily="49" charset="-122"/>
                  </a:rPr>
                  <a:t>dest</a:t>
                </a:r>
              </a:p>
            </p:txBody>
          </p:sp>
          <p:sp>
            <p:nvSpPr>
              <p:cNvPr id="7" name="Rectangle 33"/>
              <p:cNvSpPr>
                <a:spLocks noChangeArrowheads="1"/>
              </p:cNvSpPr>
              <p:nvPr/>
            </p:nvSpPr>
            <p:spPr bwMode="auto">
              <a:xfrm>
                <a:off x="1292" y="2632"/>
                <a:ext cx="317" cy="22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000">
                    <a:latin typeface="楷体" panose="02010609060101010101" pitchFamily="49" charset="-122"/>
                    <a:ea typeface="楷体" panose="02010609060101010101" pitchFamily="49" charset="-122"/>
                  </a:rPr>
                  <a:t>CF</a:t>
                </a:r>
              </a:p>
            </p:txBody>
          </p:sp>
          <p:sp>
            <p:nvSpPr>
              <p:cNvPr id="8" name="Line 34"/>
              <p:cNvSpPr>
                <a:spLocks noChangeShapeType="1"/>
              </p:cNvSpPr>
              <p:nvPr/>
            </p:nvSpPr>
            <p:spPr bwMode="auto">
              <a:xfrm flipV="1">
                <a:off x="3233" y="2478"/>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9" name="Line 35"/>
              <p:cNvSpPr>
                <a:spLocks noChangeShapeType="1"/>
              </p:cNvSpPr>
              <p:nvPr/>
            </p:nvSpPr>
            <p:spPr bwMode="auto">
              <a:xfrm flipH="1">
                <a:off x="1156" y="2478"/>
                <a:ext cx="2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 name="Line 36"/>
              <p:cNvSpPr>
                <a:spLocks noChangeShapeType="1"/>
              </p:cNvSpPr>
              <p:nvPr/>
            </p:nvSpPr>
            <p:spPr bwMode="auto">
              <a:xfrm>
                <a:off x="1156" y="2478"/>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Line 37"/>
              <p:cNvSpPr>
                <a:spLocks noChangeShapeType="1"/>
              </p:cNvSpPr>
              <p:nvPr/>
            </p:nvSpPr>
            <p:spPr bwMode="auto">
              <a:xfrm flipH="1">
                <a:off x="1618" y="2750"/>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2" name="Line 38"/>
              <p:cNvSpPr>
                <a:spLocks noChangeShapeType="1"/>
              </p:cNvSpPr>
              <p:nvPr/>
            </p:nvSpPr>
            <p:spPr bwMode="auto">
              <a:xfrm flipH="1">
                <a:off x="2371" y="2841"/>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 name="Line 40"/>
              <p:cNvSpPr>
                <a:spLocks noChangeShapeType="1"/>
              </p:cNvSpPr>
              <p:nvPr/>
            </p:nvSpPr>
            <p:spPr bwMode="auto">
              <a:xfrm>
                <a:off x="1156" y="275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grpSp>
    </p:spTree>
    <p:extLst>
      <p:ext uri="{BB962C8B-B14F-4D97-AF65-F5344CB8AC3E}">
        <p14:creationId xmlns:p14="http://schemas.microsoft.com/office/powerpoint/2010/main" val="19427692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7.3.3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指令应用举例</a:t>
            </a:r>
          </a:p>
        </p:txBody>
      </p:sp>
      <p:sp>
        <p:nvSpPr>
          <p:cNvPr id="3" name="Text Box 5"/>
          <p:cNvSpPr txBox="1">
            <a:spLocks noChangeArrowheads="1"/>
          </p:cNvSpPr>
          <p:nvPr/>
        </p:nvSpPr>
        <p:spPr bwMode="auto">
          <a:xfrm>
            <a:off x="142875" y="1059781"/>
            <a:ext cx="90011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000" dirty="0">
                <a:latin typeface="楷体" panose="02010609060101010101" pitchFamily="49" charset="-122"/>
                <a:ea typeface="楷体" panose="02010609060101010101" pitchFamily="49" charset="-122"/>
              </a:rPr>
              <a:t>例</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a:t>
            </a:r>
            <a:r>
              <a:rPr lang="zh-CN" altLang="en-US" sz="2000" b="0" dirty="0">
                <a:latin typeface="楷体" panose="02010609060101010101" pitchFamily="49" charset="-122"/>
                <a:ea typeface="楷体" panose="02010609060101010101" pitchFamily="49" charset="-122"/>
              </a:rPr>
              <a:t>编写程序段实现将字变量</a:t>
            </a:r>
            <a:r>
              <a:rPr lang="en-US" altLang="zh-CN" sz="2000" b="0" dirty="0">
                <a:latin typeface="楷体" panose="02010609060101010101" pitchFamily="49" charset="-122"/>
                <a:ea typeface="楷体" panose="02010609060101010101" pitchFamily="49" charset="-122"/>
              </a:rPr>
              <a:t>W</a:t>
            </a:r>
            <a:r>
              <a:rPr lang="zh-CN" altLang="en-US" sz="2000" b="0" dirty="0">
                <a:latin typeface="楷体" panose="02010609060101010101" pitchFamily="49" charset="-122"/>
                <a:ea typeface="楷体" panose="02010609060101010101" pitchFamily="49" charset="-122"/>
              </a:rPr>
              <a:t>中的无符号数除以</a:t>
            </a:r>
            <a:r>
              <a:rPr lang="en-US" altLang="zh-CN" sz="2000" b="0" dirty="0">
                <a:latin typeface="楷体" panose="02010609060101010101" pitchFamily="49" charset="-122"/>
                <a:ea typeface="楷体" panose="02010609060101010101" pitchFamily="49" charset="-122"/>
              </a:rPr>
              <a:t>8</a:t>
            </a:r>
            <a:r>
              <a:rPr lang="zh-CN" altLang="en-US" sz="2000" b="0" dirty="0">
                <a:latin typeface="楷体" panose="02010609060101010101" pitchFamily="49" charset="-122"/>
                <a:ea typeface="楷体" panose="02010609060101010101" pitchFamily="49" charset="-122"/>
              </a:rPr>
              <a:t>，商和余数分别放入字变量</a:t>
            </a:r>
            <a:r>
              <a:rPr lang="en-US" altLang="zh-CN" sz="2000" b="0" dirty="0">
                <a:latin typeface="楷体" panose="02010609060101010101" pitchFamily="49" charset="-122"/>
                <a:ea typeface="楷体" panose="02010609060101010101" pitchFamily="49" charset="-122"/>
              </a:rPr>
              <a:t>QUOT</a:t>
            </a:r>
            <a:r>
              <a:rPr lang="zh-CN" altLang="en-US" sz="2000" b="0" dirty="0">
                <a:latin typeface="楷体" panose="02010609060101010101" pitchFamily="49" charset="-122"/>
                <a:ea typeface="楷体" panose="02010609060101010101" pitchFamily="49" charset="-122"/>
              </a:rPr>
              <a:t>和字节变量</a:t>
            </a:r>
            <a:r>
              <a:rPr lang="en-US" altLang="zh-CN" sz="2000" b="0" dirty="0">
                <a:latin typeface="楷体" panose="02010609060101010101" pitchFamily="49" charset="-122"/>
                <a:ea typeface="楷体" panose="02010609060101010101" pitchFamily="49" charset="-122"/>
              </a:rPr>
              <a:t>REMA</a:t>
            </a:r>
            <a:r>
              <a:rPr lang="zh-CN" altLang="en-US" sz="2000" b="0" dirty="0">
                <a:latin typeface="楷体" panose="02010609060101010101" pitchFamily="49" charset="-122"/>
                <a:ea typeface="楷体" panose="02010609060101010101" pitchFamily="49" charset="-122"/>
              </a:rPr>
              <a:t>中</a:t>
            </a:r>
          </a:p>
        </p:txBody>
      </p:sp>
      <p:sp>
        <p:nvSpPr>
          <p:cNvPr id="4" name="标题 3"/>
          <p:cNvSpPr>
            <a:spLocks noChangeArrowheads="1"/>
          </p:cNvSpPr>
          <p:nvPr/>
        </p:nvSpPr>
        <p:spPr bwMode="auto">
          <a:xfrm>
            <a:off x="395288" y="692150"/>
            <a:ext cx="68627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2800">
              <a:latin typeface="黑体" panose="02010609060101010101" pitchFamily="49" charset="-122"/>
              <a:ea typeface="黑体" panose="02010609060101010101" pitchFamily="49" charset="-122"/>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58471" y="3382293"/>
            <a:ext cx="6473979" cy="3432795"/>
          </a:xfrm>
          <a:prstGeom prst="rect">
            <a:avLst/>
          </a:prstGeom>
        </p:spPr>
      </p:pic>
      <p:sp>
        <p:nvSpPr>
          <p:cNvPr id="7" name="矩形 6"/>
          <p:cNvSpPr>
            <a:spLocks noChangeArrowheads="1"/>
          </p:cNvSpPr>
          <p:nvPr/>
        </p:nvSpPr>
        <p:spPr bwMode="auto">
          <a:xfrm>
            <a:off x="127000" y="1959893"/>
            <a:ext cx="91440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000" dirty="0">
                <a:solidFill>
                  <a:schemeClr val="tx2"/>
                </a:solidFill>
                <a:latin typeface="楷体" panose="02010609060101010101" pitchFamily="49" charset="-122"/>
                <a:ea typeface="楷体" panose="02010609060101010101" pitchFamily="49" charset="-122"/>
              </a:rPr>
              <a:t>思路：</a:t>
            </a:r>
            <a:r>
              <a:rPr lang="zh-CN" altLang="en-US" sz="2000" b="0" dirty="0">
                <a:solidFill>
                  <a:schemeClr val="tx2"/>
                </a:solidFill>
                <a:latin typeface="楷体" panose="02010609060101010101" pitchFamily="49" charset="-122"/>
                <a:ea typeface="楷体" panose="02010609060101010101" pitchFamily="49" charset="-122"/>
              </a:rPr>
              <a:t>用逻辑右移指令，将被除数按低位到高位的顺序</a:t>
            </a:r>
            <a:r>
              <a:rPr lang="en-US" altLang="zh-CN" sz="2000" b="0" dirty="0">
                <a:solidFill>
                  <a:schemeClr val="tx2"/>
                </a:solidFill>
                <a:latin typeface="楷体" panose="02010609060101010101" pitchFamily="49" charset="-122"/>
                <a:ea typeface="楷体" panose="02010609060101010101" pitchFamily="49" charset="-122"/>
              </a:rPr>
              <a:t>1</a:t>
            </a:r>
            <a:r>
              <a:rPr lang="zh-CN" altLang="en-US" sz="2000" b="0" dirty="0">
                <a:solidFill>
                  <a:schemeClr val="tx2"/>
                </a:solidFill>
                <a:latin typeface="楷体" panose="02010609060101010101" pitchFamily="49" charset="-122"/>
                <a:ea typeface="楷体" panose="02010609060101010101" pitchFamily="49" charset="-122"/>
              </a:rPr>
              <a:t>次移</a:t>
            </a:r>
            <a:r>
              <a:rPr lang="en-US" altLang="zh-CN" sz="2000" b="0" dirty="0">
                <a:solidFill>
                  <a:schemeClr val="tx2"/>
                </a:solidFill>
                <a:latin typeface="楷体" panose="02010609060101010101" pitchFamily="49" charset="-122"/>
                <a:ea typeface="楷体" panose="02010609060101010101" pitchFamily="49" charset="-122"/>
              </a:rPr>
              <a:t>1</a:t>
            </a:r>
            <a:r>
              <a:rPr lang="zh-CN" altLang="en-US" sz="2000" b="0" dirty="0">
                <a:solidFill>
                  <a:schemeClr val="tx2"/>
                </a:solidFill>
                <a:latin typeface="楷体" panose="02010609060101010101" pitchFamily="49" charset="-122"/>
                <a:ea typeface="楷体" panose="02010609060101010101" pitchFamily="49" charset="-122"/>
              </a:rPr>
              <a:t>位</a:t>
            </a:r>
            <a:r>
              <a:rPr lang="en-US" altLang="zh-CN" sz="2000" b="0" dirty="0">
                <a:solidFill>
                  <a:schemeClr val="tx2"/>
                </a:solidFill>
                <a:latin typeface="楷体" panose="02010609060101010101" pitchFamily="49" charset="-122"/>
                <a:ea typeface="楷体" panose="02010609060101010101" pitchFamily="49" charset="-122"/>
              </a:rPr>
              <a:t>.</a:t>
            </a:r>
            <a:r>
              <a:rPr lang="zh-CN" altLang="en-US" sz="2000" b="0" dirty="0">
                <a:solidFill>
                  <a:schemeClr val="tx2"/>
                </a:solidFill>
                <a:latin typeface="楷体" panose="02010609060101010101" pitchFamily="49" charset="-122"/>
                <a:ea typeface="楷体" panose="02010609060101010101" pitchFamily="49" charset="-122"/>
              </a:rPr>
              <a:t>每次移入</a:t>
            </a:r>
            <a:r>
              <a:rPr lang="en-US" altLang="zh-CN" sz="2000" b="0" dirty="0">
                <a:solidFill>
                  <a:schemeClr val="tx2"/>
                </a:solidFill>
                <a:latin typeface="楷体" panose="02010609060101010101" pitchFamily="49" charset="-122"/>
                <a:ea typeface="楷体" panose="02010609060101010101" pitchFamily="49" charset="-122"/>
              </a:rPr>
              <a:t>CF</a:t>
            </a:r>
            <a:r>
              <a:rPr lang="zh-CN" altLang="en-US" sz="2000" b="0" dirty="0">
                <a:solidFill>
                  <a:schemeClr val="tx2"/>
                </a:solidFill>
                <a:latin typeface="楷体" panose="02010609060101010101" pitchFamily="49" charset="-122"/>
                <a:ea typeface="楷体" panose="02010609060101010101" pitchFamily="49" charset="-122"/>
              </a:rPr>
              <a:t>中的余数，用带进位的循环右移指令移入字节变量</a:t>
            </a:r>
            <a:r>
              <a:rPr lang="en-US" altLang="zh-CN" sz="2000" b="0" dirty="0">
                <a:solidFill>
                  <a:schemeClr val="tx2"/>
                </a:solidFill>
                <a:latin typeface="楷体" panose="02010609060101010101" pitchFamily="49" charset="-122"/>
                <a:ea typeface="楷体" panose="02010609060101010101" pitchFamily="49" charset="-122"/>
              </a:rPr>
              <a:t>REMA</a:t>
            </a:r>
            <a:r>
              <a:rPr lang="zh-CN" altLang="en-US" sz="2000" b="0" dirty="0">
                <a:solidFill>
                  <a:schemeClr val="tx2"/>
                </a:solidFill>
                <a:latin typeface="楷体" panose="02010609060101010101" pitchFamily="49" charset="-122"/>
                <a:ea typeface="楷体" panose="02010609060101010101" pitchFamily="49" charset="-122"/>
              </a:rPr>
              <a:t>中</a:t>
            </a:r>
            <a:r>
              <a:rPr lang="en-US" altLang="zh-CN" sz="2000" b="0" dirty="0">
                <a:solidFill>
                  <a:schemeClr val="tx2"/>
                </a:solidFill>
                <a:latin typeface="楷体" panose="02010609060101010101" pitchFamily="49" charset="-122"/>
                <a:ea typeface="楷体" panose="02010609060101010101" pitchFamily="49" charset="-122"/>
              </a:rPr>
              <a:t>.3</a:t>
            </a:r>
            <a:r>
              <a:rPr lang="zh-CN" altLang="en-US" sz="2000" b="0" dirty="0">
                <a:solidFill>
                  <a:schemeClr val="tx2"/>
                </a:solidFill>
                <a:latin typeface="楷体" panose="02010609060101010101" pitchFamily="49" charset="-122"/>
                <a:ea typeface="楷体" panose="02010609060101010101" pitchFamily="49" charset="-122"/>
              </a:rPr>
              <a:t>位余数都移入字节变量</a:t>
            </a:r>
            <a:r>
              <a:rPr lang="en-US" altLang="zh-CN" sz="2000" b="0" dirty="0">
                <a:solidFill>
                  <a:schemeClr val="tx2"/>
                </a:solidFill>
                <a:latin typeface="楷体" panose="02010609060101010101" pitchFamily="49" charset="-122"/>
                <a:ea typeface="楷体" panose="02010609060101010101" pitchFamily="49" charset="-122"/>
              </a:rPr>
              <a:t>REMA</a:t>
            </a:r>
            <a:r>
              <a:rPr lang="zh-CN" altLang="en-US" sz="2000" b="0" dirty="0">
                <a:solidFill>
                  <a:schemeClr val="tx2"/>
                </a:solidFill>
                <a:latin typeface="楷体" panose="02010609060101010101" pitchFamily="49" charset="-122"/>
                <a:ea typeface="楷体" panose="02010609060101010101" pitchFamily="49" charset="-122"/>
              </a:rPr>
              <a:t>中后再用逻辑右移指令右移</a:t>
            </a:r>
            <a:r>
              <a:rPr lang="en-US" altLang="zh-CN" sz="2000" b="0" dirty="0">
                <a:solidFill>
                  <a:schemeClr val="tx2"/>
                </a:solidFill>
                <a:latin typeface="楷体" panose="02010609060101010101" pitchFamily="49" charset="-122"/>
                <a:ea typeface="楷体" panose="02010609060101010101" pitchFamily="49" charset="-122"/>
              </a:rPr>
              <a:t>5</a:t>
            </a:r>
            <a:r>
              <a:rPr lang="zh-CN" altLang="en-US" sz="2000" b="0" dirty="0">
                <a:solidFill>
                  <a:schemeClr val="tx2"/>
                </a:solidFill>
                <a:latin typeface="楷体" panose="02010609060101010101" pitchFamily="49" charset="-122"/>
                <a:ea typeface="楷体" panose="02010609060101010101" pitchFamily="49" charset="-122"/>
              </a:rPr>
              <a:t>位将</a:t>
            </a:r>
            <a:r>
              <a:rPr lang="en-US" altLang="zh-CN" sz="2000" b="0" dirty="0">
                <a:solidFill>
                  <a:schemeClr val="tx2"/>
                </a:solidFill>
                <a:latin typeface="楷体" panose="02010609060101010101" pitchFamily="49" charset="-122"/>
                <a:ea typeface="楷体" panose="02010609060101010101" pitchFamily="49" charset="-122"/>
              </a:rPr>
              <a:t>3</a:t>
            </a:r>
            <a:r>
              <a:rPr lang="zh-CN" altLang="en-US" sz="2000" b="0" dirty="0">
                <a:solidFill>
                  <a:schemeClr val="tx2"/>
                </a:solidFill>
                <a:latin typeface="楷体" panose="02010609060101010101" pitchFamily="49" charset="-122"/>
                <a:ea typeface="楷体" panose="02010609060101010101" pitchFamily="49" charset="-122"/>
              </a:rPr>
              <a:t>位余数从</a:t>
            </a:r>
            <a:r>
              <a:rPr lang="en-US" altLang="zh-CN" sz="2000" b="0" dirty="0">
                <a:solidFill>
                  <a:schemeClr val="tx2"/>
                </a:solidFill>
                <a:latin typeface="楷体" panose="02010609060101010101" pitchFamily="49" charset="-122"/>
                <a:ea typeface="楷体" panose="02010609060101010101" pitchFamily="49" charset="-122"/>
              </a:rPr>
              <a:t>D7</a:t>
            </a:r>
            <a:r>
              <a:rPr lang="zh-CN" altLang="en-US" sz="2000" b="0" dirty="0">
                <a:solidFill>
                  <a:schemeClr val="tx2"/>
                </a:solidFill>
                <a:latin typeface="楷体" panose="02010609060101010101" pitchFamily="49" charset="-122"/>
                <a:ea typeface="楷体" panose="02010609060101010101" pitchFamily="49" charset="-122"/>
              </a:rPr>
              <a:t>～</a:t>
            </a:r>
            <a:r>
              <a:rPr lang="en-US" altLang="zh-CN" sz="2000" b="0" dirty="0">
                <a:solidFill>
                  <a:schemeClr val="tx2"/>
                </a:solidFill>
                <a:latin typeface="楷体" panose="02010609060101010101" pitchFamily="49" charset="-122"/>
                <a:ea typeface="楷体" panose="02010609060101010101" pitchFamily="49" charset="-122"/>
              </a:rPr>
              <a:t>D5</a:t>
            </a:r>
            <a:r>
              <a:rPr lang="zh-CN" altLang="en-US" sz="2000" b="0" dirty="0">
                <a:solidFill>
                  <a:schemeClr val="tx2"/>
                </a:solidFill>
                <a:latin typeface="楷体" panose="02010609060101010101" pitchFamily="49" charset="-122"/>
                <a:ea typeface="楷体" panose="02010609060101010101" pitchFamily="49" charset="-122"/>
              </a:rPr>
              <a:t>移至</a:t>
            </a:r>
            <a:r>
              <a:rPr lang="en-US" altLang="zh-CN" sz="2000" b="0" dirty="0">
                <a:solidFill>
                  <a:schemeClr val="tx2"/>
                </a:solidFill>
                <a:latin typeface="楷体" panose="02010609060101010101" pitchFamily="49" charset="-122"/>
                <a:ea typeface="楷体" panose="02010609060101010101" pitchFamily="49" charset="-122"/>
              </a:rPr>
              <a:t>D2</a:t>
            </a:r>
            <a:r>
              <a:rPr lang="zh-CN" altLang="en-US" sz="2000" b="0" dirty="0">
                <a:solidFill>
                  <a:schemeClr val="tx2"/>
                </a:solidFill>
                <a:latin typeface="楷体" panose="02010609060101010101" pitchFamily="49" charset="-122"/>
                <a:ea typeface="楷体" panose="02010609060101010101" pitchFamily="49" charset="-122"/>
              </a:rPr>
              <a:t>～</a:t>
            </a:r>
            <a:r>
              <a:rPr lang="en-US" altLang="zh-CN" sz="2000" b="0" dirty="0">
                <a:solidFill>
                  <a:schemeClr val="tx2"/>
                </a:solidFill>
                <a:latin typeface="楷体" panose="02010609060101010101" pitchFamily="49" charset="-122"/>
                <a:ea typeface="楷体" panose="02010609060101010101" pitchFamily="49" charset="-122"/>
              </a:rPr>
              <a:t>D0.</a:t>
            </a:r>
            <a:endParaRPr lang="zh-CN" altLang="en-US" sz="2000" b="0" dirty="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753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79388" y="1000125"/>
            <a:ext cx="8893175" cy="5732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10000"/>
              </a:spcBef>
              <a:buNone/>
            </a:pPr>
            <a:r>
              <a:rPr lang="en-US" altLang="zh-CN" sz="2400" dirty="0">
                <a:solidFill>
                  <a:srgbClr val="FF3399"/>
                </a:solidFill>
                <a:latin typeface="Times New Roman" panose="02020603050405020304" pitchFamily="18" charset="0"/>
              </a:rPr>
              <a:t>              W  DW  65525</a:t>
            </a:r>
          </a:p>
          <a:p>
            <a:pPr marL="0" indent="0">
              <a:lnSpc>
                <a:spcPct val="110000"/>
              </a:lnSpc>
              <a:spcBef>
                <a:spcPct val="10000"/>
              </a:spcBef>
              <a:buNone/>
            </a:pPr>
            <a:r>
              <a:rPr lang="en-US" altLang="zh-CN" sz="2400" dirty="0">
                <a:solidFill>
                  <a:srgbClr val="FF3399"/>
                </a:solidFill>
                <a:latin typeface="Times New Roman" panose="02020603050405020304" pitchFamily="18" charset="0"/>
              </a:rPr>
              <a:t>              QUOT   DW  0</a:t>
            </a:r>
          </a:p>
          <a:p>
            <a:pPr marL="0" indent="0">
              <a:lnSpc>
                <a:spcPct val="110000"/>
              </a:lnSpc>
              <a:spcBef>
                <a:spcPct val="10000"/>
              </a:spcBef>
              <a:buNone/>
            </a:pPr>
            <a:r>
              <a:rPr lang="en-US" altLang="zh-CN" sz="2400" dirty="0">
                <a:solidFill>
                  <a:srgbClr val="FF3399"/>
                </a:solidFill>
                <a:latin typeface="Times New Roman" panose="02020603050405020304" pitchFamily="18" charset="0"/>
              </a:rPr>
              <a:t>              REMA   DB  0</a:t>
            </a:r>
          </a:p>
          <a:p>
            <a:pPr marL="0" indent="0">
              <a:lnSpc>
                <a:spcPct val="110000"/>
              </a:lnSpc>
              <a:spcBef>
                <a:spcPct val="10000"/>
              </a:spcBef>
              <a:buNone/>
            </a:pPr>
            <a:r>
              <a:rPr lang="en-US" altLang="zh-CN" sz="2400" dirty="0">
                <a:latin typeface="Times New Roman" panose="02020603050405020304" pitchFamily="18" charset="0"/>
              </a:rPr>
              <a:t>              MOV  AX</a:t>
            </a:r>
            <a:r>
              <a:rPr lang="zh-CN" altLang="en-US" sz="2400" dirty="0">
                <a:latin typeface="Times New Roman" panose="02020603050405020304" pitchFamily="18" charset="0"/>
              </a:rPr>
              <a:t>，</a:t>
            </a:r>
            <a:r>
              <a:rPr lang="en-US" altLang="zh-CN" sz="2400" dirty="0">
                <a:latin typeface="Times New Roman" panose="02020603050405020304" pitchFamily="18" charset="0"/>
              </a:rPr>
              <a:t>W           </a:t>
            </a:r>
            <a:r>
              <a:rPr lang="en-US" altLang="zh-CN" sz="2400" dirty="0">
                <a:solidFill>
                  <a:srgbClr val="0066CC"/>
                </a:solidFill>
                <a:latin typeface="Times New Roman" panose="02020603050405020304" pitchFamily="18" charset="0"/>
              </a:rPr>
              <a:t>;   AX=1111 1111 1111 0101B</a:t>
            </a:r>
          </a:p>
          <a:p>
            <a:pPr marL="0" indent="0">
              <a:lnSpc>
                <a:spcPct val="110000"/>
              </a:lnSpc>
              <a:spcBef>
                <a:spcPct val="10000"/>
              </a:spcBef>
              <a:buNone/>
            </a:pPr>
            <a:r>
              <a:rPr lang="en-US" altLang="zh-CN" sz="2400" dirty="0">
                <a:latin typeface="Times New Roman" panose="02020603050405020304" pitchFamily="18" charset="0"/>
              </a:rPr>
              <a:t>              SHR  AX</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AX=0111 1111 1111 1010B, CF=1</a:t>
            </a:r>
          </a:p>
          <a:p>
            <a:pPr marL="0" indent="0">
              <a:lnSpc>
                <a:spcPct val="110000"/>
              </a:lnSpc>
              <a:spcBef>
                <a:spcPct val="10000"/>
              </a:spcBef>
              <a:buNone/>
            </a:pPr>
            <a:r>
              <a:rPr lang="en-US" altLang="zh-CN" sz="2400" dirty="0">
                <a:latin typeface="Times New Roman" panose="02020603050405020304" pitchFamily="18" charset="0"/>
              </a:rPr>
              <a:t>              RCR  REMA</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REMA=1000 0000B</a:t>
            </a:r>
          </a:p>
          <a:p>
            <a:pPr marL="0" indent="0">
              <a:lnSpc>
                <a:spcPct val="110000"/>
              </a:lnSpc>
              <a:spcBef>
                <a:spcPct val="10000"/>
              </a:spcBef>
              <a:buNone/>
            </a:pPr>
            <a:r>
              <a:rPr lang="en-US" altLang="zh-CN" sz="2400" dirty="0">
                <a:latin typeface="Times New Roman" panose="02020603050405020304" pitchFamily="18" charset="0"/>
              </a:rPr>
              <a:t>              SHR   AX</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AX=0011 1111 1111 1101B,CF=0</a:t>
            </a:r>
          </a:p>
          <a:p>
            <a:pPr marL="0" indent="0">
              <a:lnSpc>
                <a:spcPct val="110000"/>
              </a:lnSpc>
              <a:spcBef>
                <a:spcPct val="10000"/>
              </a:spcBef>
              <a:buNone/>
            </a:pPr>
            <a:r>
              <a:rPr lang="en-US" altLang="zh-CN" sz="2400" dirty="0">
                <a:latin typeface="Times New Roman" panose="02020603050405020304" pitchFamily="18" charset="0"/>
              </a:rPr>
              <a:t>              RCR  REMA</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REMA=0100 0000B</a:t>
            </a:r>
          </a:p>
          <a:p>
            <a:pPr marL="0" indent="0">
              <a:lnSpc>
                <a:spcPct val="110000"/>
              </a:lnSpc>
              <a:spcBef>
                <a:spcPct val="10000"/>
              </a:spcBef>
              <a:buNone/>
            </a:pPr>
            <a:r>
              <a:rPr lang="en-US" altLang="zh-CN" sz="2400" dirty="0">
                <a:latin typeface="Times New Roman" panose="02020603050405020304" pitchFamily="18" charset="0"/>
              </a:rPr>
              <a:t>              SHR  AX</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AX=0001 1111 1111 1110B,CF=1</a:t>
            </a:r>
          </a:p>
          <a:p>
            <a:pPr marL="0" indent="0">
              <a:lnSpc>
                <a:spcPct val="110000"/>
              </a:lnSpc>
              <a:spcBef>
                <a:spcPct val="10000"/>
              </a:spcBef>
              <a:buNone/>
            </a:pPr>
            <a:r>
              <a:rPr lang="en-US" altLang="zh-CN" sz="2400" dirty="0">
                <a:latin typeface="Times New Roman" panose="02020603050405020304" pitchFamily="18" charset="0"/>
              </a:rPr>
              <a:t>              RCR  REMA</a:t>
            </a:r>
            <a:r>
              <a:rPr lang="zh-CN" altLang="en-US" sz="2400" dirty="0">
                <a:latin typeface="Times New Roman" panose="02020603050405020304" pitchFamily="18" charset="0"/>
              </a:rPr>
              <a:t>，</a:t>
            </a:r>
            <a:r>
              <a:rPr lang="en-US" altLang="zh-CN" sz="2400" dirty="0">
                <a:latin typeface="Times New Roman" panose="02020603050405020304" pitchFamily="18" charset="0"/>
              </a:rPr>
              <a:t>1        </a:t>
            </a:r>
            <a:r>
              <a:rPr lang="en-US" altLang="zh-CN" sz="2400" dirty="0">
                <a:solidFill>
                  <a:srgbClr val="0066CC"/>
                </a:solidFill>
                <a:latin typeface="Times New Roman" panose="02020603050405020304" pitchFamily="18" charset="0"/>
              </a:rPr>
              <a:t>;   REMA=1010 0000B</a:t>
            </a:r>
          </a:p>
          <a:p>
            <a:pPr marL="0" indent="0">
              <a:lnSpc>
                <a:spcPct val="110000"/>
              </a:lnSpc>
              <a:spcBef>
                <a:spcPct val="10000"/>
              </a:spcBef>
              <a:buNone/>
            </a:pPr>
            <a:r>
              <a:rPr lang="en-US" altLang="zh-CN" sz="2400" dirty="0">
                <a:latin typeface="Times New Roman" panose="02020603050405020304" pitchFamily="18" charset="0"/>
              </a:rPr>
              <a:t>              MOV  QUOT</a:t>
            </a:r>
            <a:r>
              <a:rPr lang="zh-CN" altLang="en-US" sz="2400" dirty="0">
                <a:latin typeface="Times New Roman" panose="02020603050405020304" pitchFamily="18" charset="0"/>
              </a:rPr>
              <a:t>，</a:t>
            </a:r>
            <a:r>
              <a:rPr lang="en-US" altLang="zh-CN" sz="2400" dirty="0">
                <a:latin typeface="Times New Roman" panose="02020603050405020304" pitchFamily="18" charset="0"/>
              </a:rPr>
              <a:t>AX   </a:t>
            </a:r>
            <a:r>
              <a:rPr lang="en-US" altLang="zh-CN" sz="2400" dirty="0">
                <a:solidFill>
                  <a:srgbClr val="0066CC"/>
                </a:solidFill>
                <a:latin typeface="Times New Roman" panose="02020603050405020304" pitchFamily="18" charset="0"/>
              </a:rPr>
              <a:t>;   QUOT=0001 1111 1111 1110B</a:t>
            </a:r>
          </a:p>
          <a:p>
            <a:pPr marL="0" indent="0">
              <a:lnSpc>
                <a:spcPct val="110000"/>
              </a:lnSpc>
              <a:spcBef>
                <a:spcPct val="10000"/>
              </a:spcBef>
              <a:buNone/>
            </a:pPr>
            <a:r>
              <a:rPr lang="en-US" altLang="zh-CN" sz="2400" dirty="0">
                <a:latin typeface="Times New Roman" panose="02020603050405020304" pitchFamily="18" charset="0"/>
              </a:rPr>
              <a:t>              MOV  CL</a:t>
            </a:r>
            <a:r>
              <a:rPr lang="zh-CN" altLang="en-US" sz="2400" dirty="0">
                <a:latin typeface="Times New Roman" panose="02020603050405020304" pitchFamily="18" charset="0"/>
              </a:rPr>
              <a:t>，</a:t>
            </a:r>
            <a:r>
              <a:rPr lang="en-US" altLang="zh-CN" sz="2400" dirty="0">
                <a:latin typeface="Times New Roman" panose="02020603050405020304" pitchFamily="18" charset="0"/>
              </a:rPr>
              <a:t>5</a:t>
            </a:r>
          </a:p>
          <a:p>
            <a:pPr marL="0" indent="0">
              <a:lnSpc>
                <a:spcPct val="110000"/>
              </a:lnSpc>
              <a:spcBef>
                <a:spcPct val="10000"/>
              </a:spcBef>
              <a:buNone/>
            </a:pPr>
            <a:r>
              <a:rPr lang="en-US" altLang="zh-CN" sz="2400" dirty="0">
                <a:latin typeface="Times New Roman" panose="02020603050405020304" pitchFamily="18" charset="0"/>
              </a:rPr>
              <a:t>              SHR  REMA</a:t>
            </a:r>
            <a:r>
              <a:rPr lang="zh-CN" altLang="en-US" sz="2400" dirty="0">
                <a:latin typeface="Times New Roman" panose="02020603050405020304" pitchFamily="18" charset="0"/>
              </a:rPr>
              <a:t>，</a:t>
            </a:r>
            <a:r>
              <a:rPr lang="en-US" altLang="zh-CN" sz="2400" dirty="0">
                <a:latin typeface="Times New Roman" panose="02020603050405020304" pitchFamily="18" charset="0"/>
              </a:rPr>
              <a:t>CL     </a:t>
            </a:r>
            <a:r>
              <a:rPr lang="en-US" altLang="zh-CN" sz="2400" dirty="0">
                <a:solidFill>
                  <a:srgbClr val="0066CC"/>
                </a:solidFill>
                <a:latin typeface="Times New Roman" panose="02020603050405020304" pitchFamily="18" charset="0"/>
              </a:rPr>
              <a:t>;   REMA=0000 0101B</a:t>
            </a:r>
            <a:endParaRPr lang="zh-CN" altLang="en-US" sz="2400" dirty="0">
              <a:solidFill>
                <a:srgbClr val="0066CC"/>
              </a:solidFill>
              <a:latin typeface="Times New Roman" panose="02020603050405020304" pitchFamily="18" charset="0"/>
            </a:endParaRPr>
          </a:p>
        </p:txBody>
      </p:sp>
    </p:spTree>
    <p:extLst>
      <p:ext uri="{BB962C8B-B14F-4D97-AF65-F5344CB8AC3E}">
        <p14:creationId xmlns:p14="http://schemas.microsoft.com/office/powerpoint/2010/main" val="35987733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0" y="857250"/>
            <a:ext cx="8926513"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nSpc>
                <a:spcPct val="150000"/>
              </a:lnSpc>
              <a:spcBef>
                <a:spcPct val="50000"/>
              </a:spcBef>
              <a:buClr>
                <a:schemeClr val="tx2"/>
              </a:buClr>
              <a:buNone/>
            </a:pPr>
            <a:r>
              <a:rPr lang="zh-CN" altLang="en-US" sz="2000" dirty="0">
                <a:solidFill>
                  <a:schemeClr val="tx2"/>
                </a:solidFill>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例</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a:t>
            </a:r>
            <a:r>
              <a:rPr lang="zh-CN" altLang="en-US" sz="2000" b="0" dirty="0">
                <a:latin typeface="楷体" panose="02010609060101010101" pitchFamily="49" charset="-122"/>
                <a:ea typeface="楷体" panose="02010609060101010101" pitchFamily="49" charset="-122"/>
              </a:rPr>
              <a:t>编写程序段将字变量</a:t>
            </a:r>
            <a:r>
              <a:rPr lang="en-US" altLang="zh-CN" sz="2000" b="0" dirty="0">
                <a:latin typeface="楷体" panose="02010609060101010101" pitchFamily="49" charset="-122"/>
                <a:ea typeface="楷体" panose="02010609060101010101" pitchFamily="49" charset="-122"/>
              </a:rPr>
              <a:t>W</a:t>
            </a:r>
            <a:r>
              <a:rPr lang="zh-CN" altLang="en-US" sz="2000" b="0" dirty="0">
                <a:latin typeface="楷体" panose="02010609060101010101" pitchFamily="49" charset="-122"/>
                <a:ea typeface="楷体" panose="02010609060101010101" pitchFamily="49" charset="-122"/>
              </a:rPr>
              <a:t>中的无符号数乘以</a:t>
            </a:r>
            <a:r>
              <a:rPr lang="en-US" altLang="zh-CN" sz="2000" b="0" dirty="0">
                <a:latin typeface="楷体" panose="02010609060101010101" pitchFamily="49" charset="-122"/>
                <a:ea typeface="楷体" panose="02010609060101010101" pitchFamily="49" charset="-122"/>
              </a:rPr>
              <a:t>10</a:t>
            </a:r>
            <a:r>
              <a:rPr lang="zh-CN" altLang="en-US" sz="2000" b="0" dirty="0">
                <a:latin typeface="楷体" panose="02010609060101010101" pitchFamily="49" charset="-122"/>
                <a:ea typeface="楷体" panose="02010609060101010101" pitchFamily="49" charset="-122"/>
              </a:rPr>
              <a:t>，乘积存入变量</a:t>
            </a:r>
            <a:r>
              <a:rPr lang="en-US" altLang="zh-CN" sz="2000" b="0" dirty="0">
                <a:latin typeface="楷体" panose="02010609060101010101" pitchFamily="49" charset="-122"/>
                <a:ea typeface="楷体" panose="02010609060101010101" pitchFamily="49" charset="-122"/>
              </a:rPr>
              <a:t>J2</a:t>
            </a:r>
            <a:r>
              <a:rPr lang="zh-CN" altLang="en-US" sz="2000" b="0" dirty="0">
                <a:latin typeface="楷体" panose="02010609060101010101" pitchFamily="49" charset="-122"/>
                <a:ea typeface="楷体" panose="02010609060101010101" pitchFamily="49" charset="-122"/>
              </a:rPr>
              <a:t>中 </a:t>
            </a:r>
            <a:endParaRPr lang="en-US" altLang="zh-CN" sz="2000" b="0" dirty="0">
              <a:latin typeface="楷体" panose="02010609060101010101" pitchFamily="49" charset="-122"/>
              <a:ea typeface="楷体" panose="02010609060101010101" pitchFamily="49" charset="-122"/>
            </a:endParaRPr>
          </a:p>
        </p:txBody>
      </p:sp>
      <p:pic>
        <p:nvPicPr>
          <p:cNvPr id="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3" y="3189782"/>
            <a:ext cx="81216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a:xfrm>
            <a:off x="357188" y="3643313"/>
            <a:ext cx="534987" cy="27860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a:solidFill>
                  <a:srgbClr val="00B050"/>
                </a:solidFill>
                <a:latin typeface="楷体" panose="02010609060101010101" pitchFamily="49" charset="-122"/>
                <a:ea typeface="楷体" panose="02010609060101010101" pitchFamily="49" charset="-122"/>
              </a:rPr>
              <a:t>移位过程如图所示</a:t>
            </a:r>
            <a:br>
              <a:rPr lang="zh-CN" altLang="en-US" sz="2000" b="1">
                <a:solidFill>
                  <a:srgbClr val="00B050"/>
                </a:solidFill>
                <a:latin typeface="楷体" panose="02010609060101010101" pitchFamily="49" charset="-122"/>
                <a:ea typeface="楷体" panose="02010609060101010101" pitchFamily="49" charset="-122"/>
              </a:rPr>
            </a:br>
            <a:endParaRPr lang="zh-CN" altLang="en-US" sz="2000" b="1">
              <a:solidFill>
                <a:srgbClr val="00B050"/>
              </a:solidFill>
              <a:latin typeface="楷体" panose="02010609060101010101" pitchFamily="49" charset="-122"/>
              <a:ea typeface="楷体" panose="02010609060101010101" pitchFamily="49" charset="-122"/>
            </a:endParaRPr>
          </a:p>
        </p:txBody>
      </p:sp>
      <p:sp>
        <p:nvSpPr>
          <p:cNvPr id="5" name="矩形 4"/>
          <p:cNvSpPr/>
          <p:nvPr/>
        </p:nvSpPr>
        <p:spPr>
          <a:xfrm>
            <a:off x="150928" y="1387284"/>
            <a:ext cx="8624656" cy="1754326"/>
          </a:xfrm>
          <a:prstGeom prst="rect">
            <a:avLst/>
          </a:prstGeom>
        </p:spPr>
        <p:txBody>
          <a:bodyPr wrap="square">
            <a:spAutoFit/>
          </a:bodyPr>
          <a:lstStyle/>
          <a:p>
            <a:pPr>
              <a:lnSpc>
                <a:spcPct val="150000"/>
              </a:lnSpc>
            </a:pPr>
            <a:r>
              <a:rPr lang="zh-CN" altLang="en-US" dirty="0">
                <a:solidFill>
                  <a:srgbClr val="000099"/>
                </a:solidFill>
                <a:latin typeface="楷体" panose="02010609060101010101" pitchFamily="49" charset="-122"/>
                <a:ea typeface="楷体" panose="02010609060101010101" pitchFamily="49" charset="-122"/>
              </a:rPr>
              <a:t>思路：</a:t>
            </a:r>
            <a:r>
              <a:rPr lang="en-US" altLang="zh-CN" dirty="0">
                <a:solidFill>
                  <a:srgbClr val="000099"/>
                </a:solidFill>
                <a:latin typeface="楷体" panose="02010609060101010101" pitchFamily="49" charset="-122"/>
                <a:ea typeface="楷体" panose="02010609060101010101" pitchFamily="49" charset="-122"/>
              </a:rPr>
              <a:t>(W)×10=(W)×(2</a:t>
            </a:r>
            <a:r>
              <a:rPr lang="en-US" altLang="zh-CN" baseline="30000" dirty="0">
                <a:solidFill>
                  <a:srgbClr val="000099"/>
                </a:solidFill>
                <a:latin typeface="楷体" panose="02010609060101010101" pitchFamily="49" charset="-122"/>
                <a:ea typeface="楷体" panose="02010609060101010101" pitchFamily="49" charset="-122"/>
              </a:rPr>
              <a:t>3</a:t>
            </a:r>
            <a:r>
              <a:rPr lang="en-US" altLang="zh-CN" dirty="0">
                <a:solidFill>
                  <a:srgbClr val="000099"/>
                </a:solidFill>
                <a:latin typeface="楷体" panose="02010609060101010101" pitchFamily="49" charset="-122"/>
                <a:ea typeface="楷体" panose="02010609060101010101" pitchFamily="49" charset="-122"/>
              </a:rPr>
              <a:t>+2)=(W)×2</a:t>
            </a:r>
            <a:r>
              <a:rPr lang="en-US" altLang="zh-CN" baseline="30000" dirty="0">
                <a:solidFill>
                  <a:srgbClr val="000099"/>
                </a:solidFill>
                <a:latin typeface="楷体" panose="02010609060101010101" pitchFamily="49" charset="-122"/>
                <a:ea typeface="楷体" panose="02010609060101010101" pitchFamily="49" charset="-122"/>
              </a:rPr>
              <a:t>3</a:t>
            </a:r>
            <a:r>
              <a:rPr lang="en-US" altLang="zh-CN" dirty="0">
                <a:solidFill>
                  <a:srgbClr val="000099"/>
                </a:solidFill>
                <a:latin typeface="楷体" panose="02010609060101010101" pitchFamily="49" charset="-122"/>
                <a:ea typeface="楷体" panose="02010609060101010101" pitchFamily="49" charset="-122"/>
              </a:rPr>
              <a:t>+(W)×2</a:t>
            </a:r>
          </a:p>
          <a:p>
            <a:pPr>
              <a:lnSpc>
                <a:spcPct val="150000"/>
              </a:lnSpc>
            </a:pPr>
            <a:r>
              <a:rPr lang="en-US" altLang="zh-CN" dirty="0">
                <a:solidFill>
                  <a:srgbClr val="000099"/>
                </a:solidFill>
                <a:latin typeface="楷体" panose="02010609060101010101" pitchFamily="49" charset="-122"/>
                <a:ea typeface="楷体" panose="02010609060101010101" pitchFamily="49" charset="-122"/>
              </a:rPr>
              <a:t>16</a:t>
            </a:r>
            <a:r>
              <a:rPr lang="zh-CN" altLang="en-US" dirty="0">
                <a:solidFill>
                  <a:srgbClr val="000099"/>
                </a:solidFill>
                <a:latin typeface="楷体" panose="02010609060101010101" pitchFamily="49" charset="-122"/>
                <a:ea typeface="楷体" panose="02010609060101010101" pitchFamily="49" charset="-122"/>
              </a:rPr>
              <a:t>位无符号数乘以</a:t>
            </a:r>
            <a:r>
              <a:rPr lang="en-US" altLang="zh-CN" dirty="0">
                <a:solidFill>
                  <a:srgbClr val="000099"/>
                </a:solidFill>
                <a:latin typeface="楷体" panose="02010609060101010101" pitchFamily="49" charset="-122"/>
                <a:ea typeface="楷体" panose="02010609060101010101" pitchFamily="49" charset="-122"/>
              </a:rPr>
              <a:t>2</a:t>
            </a:r>
            <a:r>
              <a:rPr lang="zh-CN" altLang="en-US" dirty="0">
                <a:solidFill>
                  <a:srgbClr val="000099"/>
                </a:solidFill>
                <a:latin typeface="楷体" panose="02010609060101010101" pitchFamily="49" charset="-122"/>
                <a:ea typeface="楷体" panose="02010609060101010101" pitchFamily="49" charset="-122"/>
              </a:rPr>
              <a:t>和乘以</a:t>
            </a:r>
            <a:r>
              <a:rPr lang="en-US" altLang="zh-CN" dirty="0">
                <a:solidFill>
                  <a:srgbClr val="000099"/>
                </a:solidFill>
                <a:latin typeface="楷体" panose="02010609060101010101" pitchFamily="49" charset="-122"/>
                <a:ea typeface="楷体" panose="02010609060101010101" pitchFamily="49" charset="-122"/>
              </a:rPr>
              <a:t>8</a:t>
            </a:r>
            <a:r>
              <a:rPr lang="zh-CN" altLang="en-US" dirty="0">
                <a:solidFill>
                  <a:srgbClr val="000099"/>
                </a:solidFill>
                <a:latin typeface="楷体" panose="02010609060101010101" pitchFamily="49" charset="-122"/>
                <a:ea typeface="楷体" panose="02010609060101010101" pitchFamily="49" charset="-122"/>
              </a:rPr>
              <a:t>分别用左移</a:t>
            </a:r>
            <a:r>
              <a:rPr lang="en-US" altLang="zh-CN" dirty="0">
                <a:solidFill>
                  <a:srgbClr val="000099"/>
                </a:solidFill>
                <a:latin typeface="楷体" panose="02010609060101010101" pitchFamily="49" charset="-122"/>
                <a:ea typeface="楷体" panose="02010609060101010101" pitchFamily="49" charset="-122"/>
              </a:rPr>
              <a:t>1</a:t>
            </a:r>
            <a:r>
              <a:rPr lang="zh-CN" altLang="en-US" dirty="0">
                <a:solidFill>
                  <a:srgbClr val="000099"/>
                </a:solidFill>
                <a:latin typeface="楷体" panose="02010609060101010101" pitchFamily="49" charset="-122"/>
                <a:ea typeface="楷体" panose="02010609060101010101" pitchFamily="49" charset="-122"/>
              </a:rPr>
              <a:t>位和左移</a:t>
            </a:r>
            <a:r>
              <a:rPr lang="en-US" altLang="zh-CN" dirty="0">
                <a:solidFill>
                  <a:srgbClr val="000099"/>
                </a:solidFill>
                <a:latin typeface="楷体" panose="02010609060101010101" pitchFamily="49" charset="-122"/>
                <a:ea typeface="楷体" panose="02010609060101010101" pitchFamily="49" charset="-122"/>
              </a:rPr>
              <a:t>3</a:t>
            </a:r>
            <a:r>
              <a:rPr lang="zh-CN" altLang="en-US" dirty="0">
                <a:solidFill>
                  <a:srgbClr val="000099"/>
                </a:solidFill>
                <a:latin typeface="楷体" panose="02010609060101010101" pitchFamily="49" charset="-122"/>
                <a:ea typeface="楷体" panose="02010609060101010101" pitchFamily="49" charset="-122"/>
              </a:rPr>
              <a:t>位实现</a:t>
            </a:r>
            <a:r>
              <a:rPr lang="en-US" altLang="zh-CN" dirty="0">
                <a:solidFill>
                  <a:srgbClr val="000099"/>
                </a:solidFill>
                <a:latin typeface="楷体" panose="02010609060101010101" pitchFamily="49" charset="-122"/>
                <a:ea typeface="楷体" panose="02010609060101010101" pitchFamily="49" charset="-122"/>
              </a:rPr>
              <a:t>16</a:t>
            </a:r>
            <a:r>
              <a:rPr lang="zh-CN" altLang="en-US" dirty="0">
                <a:solidFill>
                  <a:srgbClr val="000099"/>
                </a:solidFill>
                <a:latin typeface="楷体" panose="02010609060101010101" pitchFamily="49" charset="-122"/>
                <a:ea typeface="楷体" panose="02010609060101010101" pitchFamily="49" charset="-122"/>
              </a:rPr>
              <a:t>位无符号分别乘以</a:t>
            </a:r>
            <a:r>
              <a:rPr lang="en-US" altLang="zh-CN" dirty="0">
                <a:solidFill>
                  <a:srgbClr val="000099"/>
                </a:solidFill>
                <a:latin typeface="楷体" panose="02010609060101010101" pitchFamily="49" charset="-122"/>
                <a:ea typeface="楷体" panose="02010609060101010101" pitchFamily="49" charset="-122"/>
              </a:rPr>
              <a:t>2</a:t>
            </a:r>
            <a:r>
              <a:rPr lang="zh-CN" altLang="en-US" dirty="0">
                <a:solidFill>
                  <a:srgbClr val="000099"/>
                </a:solidFill>
                <a:latin typeface="楷体" panose="02010609060101010101" pitchFamily="49" charset="-122"/>
                <a:ea typeface="楷体" panose="02010609060101010101" pitchFamily="49" charset="-122"/>
              </a:rPr>
              <a:t>和</a:t>
            </a:r>
            <a:r>
              <a:rPr lang="en-US" altLang="zh-CN" dirty="0">
                <a:solidFill>
                  <a:srgbClr val="000099"/>
                </a:solidFill>
                <a:latin typeface="楷体" panose="02010609060101010101" pitchFamily="49" charset="-122"/>
                <a:ea typeface="楷体" panose="02010609060101010101" pitchFamily="49" charset="-122"/>
              </a:rPr>
              <a:t>8, 16</a:t>
            </a:r>
            <a:r>
              <a:rPr lang="zh-CN" altLang="en-US" dirty="0">
                <a:solidFill>
                  <a:srgbClr val="000099"/>
                </a:solidFill>
                <a:latin typeface="楷体" panose="02010609060101010101" pitchFamily="49" charset="-122"/>
                <a:ea typeface="楷体" panose="02010609060101010101" pitchFamily="49" charset="-122"/>
              </a:rPr>
              <a:t>位无符号数乘</a:t>
            </a:r>
            <a:r>
              <a:rPr lang="en-US" altLang="zh-CN" dirty="0">
                <a:solidFill>
                  <a:srgbClr val="000099"/>
                </a:solidFill>
                <a:latin typeface="楷体" panose="02010609060101010101" pitchFamily="49" charset="-122"/>
                <a:ea typeface="楷体" panose="02010609060101010101" pitchFamily="49" charset="-122"/>
              </a:rPr>
              <a:t>10</a:t>
            </a:r>
            <a:r>
              <a:rPr lang="zh-CN" altLang="en-US" dirty="0">
                <a:solidFill>
                  <a:srgbClr val="000099"/>
                </a:solidFill>
                <a:latin typeface="楷体" panose="02010609060101010101" pitchFamily="49" charset="-122"/>
                <a:ea typeface="楷体" panose="02010609060101010101" pitchFamily="49" charset="-122"/>
              </a:rPr>
              <a:t>后可能大于</a:t>
            </a:r>
            <a:r>
              <a:rPr lang="en-US" altLang="zh-CN" dirty="0">
                <a:solidFill>
                  <a:srgbClr val="000099"/>
                </a:solidFill>
                <a:latin typeface="楷体" panose="02010609060101010101" pitchFamily="49" charset="-122"/>
                <a:ea typeface="楷体" panose="02010609060101010101" pitchFamily="49" charset="-122"/>
              </a:rPr>
              <a:t>65535</a:t>
            </a:r>
            <a:r>
              <a:rPr lang="zh-CN" altLang="en-US" dirty="0">
                <a:solidFill>
                  <a:srgbClr val="000099"/>
                </a:solidFill>
                <a:latin typeface="楷体" panose="02010609060101010101" pitchFamily="49" charset="-122"/>
                <a:ea typeface="楷体" panose="02010609060101010101" pitchFamily="49" charset="-122"/>
              </a:rPr>
              <a:t>，因此要将它扩展为</a:t>
            </a:r>
            <a:r>
              <a:rPr lang="en-US" altLang="zh-CN" dirty="0">
                <a:solidFill>
                  <a:srgbClr val="000099"/>
                </a:solidFill>
                <a:latin typeface="楷体" panose="02010609060101010101" pitchFamily="49" charset="-122"/>
                <a:ea typeface="楷体" panose="02010609060101010101" pitchFamily="49" charset="-122"/>
              </a:rPr>
              <a:t>32</a:t>
            </a:r>
            <a:r>
              <a:rPr lang="zh-CN" altLang="en-US" dirty="0">
                <a:solidFill>
                  <a:srgbClr val="000099"/>
                </a:solidFill>
                <a:latin typeface="楷体" panose="02010609060101010101" pitchFamily="49" charset="-122"/>
                <a:ea typeface="楷体" panose="02010609060101010101" pitchFamily="49" charset="-122"/>
              </a:rPr>
              <a:t>位的无符号数再乘以</a:t>
            </a:r>
            <a:r>
              <a:rPr lang="en-US" altLang="zh-CN" dirty="0">
                <a:solidFill>
                  <a:srgbClr val="000099"/>
                </a:solidFill>
                <a:latin typeface="楷体" panose="02010609060101010101" pitchFamily="49" charset="-122"/>
                <a:ea typeface="楷体" panose="02010609060101010101" pitchFamily="49" charset="-122"/>
              </a:rPr>
              <a:t>2</a:t>
            </a:r>
            <a:r>
              <a:rPr lang="zh-CN" altLang="en-US" dirty="0">
                <a:solidFill>
                  <a:srgbClr val="000099"/>
                </a:solidFill>
                <a:latin typeface="楷体" panose="02010609060101010101" pitchFamily="49" charset="-122"/>
                <a:ea typeface="楷体" panose="02010609060101010101" pitchFamily="49" charset="-122"/>
              </a:rPr>
              <a:t>，即用逻辑左移双字来实现乘以</a:t>
            </a:r>
            <a:r>
              <a:rPr lang="en-US" altLang="zh-CN" dirty="0">
                <a:solidFill>
                  <a:srgbClr val="000099"/>
                </a:solidFill>
                <a:latin typeface="楷体" panose="02010609060101010101" pitchFamily="49" charset="-122"/>
                <a:ea typeface="楷体" panose="02010609060101010101" pitchFamily="49" charset="-122"/>
              </a:rPr>
              <a:t>2</a:t>
            </a:r>
            <a:r>
              <a:rPr lang="zh-CN" altLang="en-US" dirty="0">
                <a:solidFill>
                  <a:srgbClr val="000099"/>
                </a:solidFill>
                <a:latin typeface="楷体" panose="02010609060101010101" pitchFamily="49" charset="-122"/>
                <a:ea typeface="楷体" panose="02010609060101010101" pitchFamily="49" charset="-122"/>
              </a:rPr>
              <a:t>的操作</a:t>
            </a:r>
            <a:endParaRPr lang="en-US" altLang="zh-CN" dirty="0">
              <a:solidFill>
                <a:srgbClr val="000099"/>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191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9388" y="1071563"/>
            <a:ext cx="8642350" cy="5786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10000"/>
              </a:spcBef>
              <a:buNone/>
            </a:pPr>
            <a:r>
              <a:rPr lang="en-US" altLang="zh-CN" sz="2400" dirty="0">
                <a:solidFill>
                  <a:srgbClr val="FF3399"/>
                </a:solidFill>
                <a:latin typeface="Times New Roman" panose="02020603050405020304" pitchFamily="18" charset="0"/>
                <a:ea typeface="微软雅黑" panose="020B0503020204020204" pitchFamily="34" charset="-122"/>
              </a:rPr>
              <a:t>           W       DW   65525</a:t>
            </a:r>
          </a:p>
          <a:p>
            <a:pPr marL="0" indent="0">
              <a:spcBef>
                <a:spcPct val="10000"/>
              </a:spcBef>
              <a:buNone/>
            </a:pPr>
            <a:r>
              <a:rPr lang="en-US" altLang="zh-CN" sz="2400" dirty="0">
                <a:solidFill>
                  <a:srgbClr val="FF3399"/>
                </a:solidFill>
                <a:latin typeface="Times New Roman" panose="02020603050405020304" pitchFamily="18" charset="0"/>
                <a:ea typeface="微软雅黑" panose="020B0503020204020204" pitchFamily="34" charset="-122"/>
              </a:rPr>
              <a:t>           J2       DW  0</a:t>
            </a:r>
            <a:r>
              <a:rPr lang="zh-CN" altLang="en-US" sz="2400" dirty="0">
                <a:solidFill>
                  <a:srgbClr val="FF3399"/>
                </a:solidFill>
                <a:latin typeface="Times New Roman" panose="02020603050405020304" pitchFamily="18" charset="0"/>
                <a:ea typeface="微软雅黑" panose="020B0503020204020204" pitchFamily="34" charset="-122"/>
              </a:rPr>
              <a:t>，</a:t>
            </a:r>
            <a:r>
              <a:rPr lang="en-US" altLang="zh-CN" sz="2400" dirty="0">
                <a:solidFill>
                  <a:srgbClr val="FF3399"/>
                </a:solidFill>
                <a:latin typeface="Times New Roman" panose="02020603050405020304" pitchFamily="18" charset="0"/>
                <a:ea typeface="微软雅黑" panose="020B0503020204020204" pitchFamily="34" charset="-122"/>
              </a:rPr>
              <a:t>0</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MOV  AX,  W</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XOR  DX,  DX	     </a:t>
            </a:r>
            <a:r>
              <a:rPr lang="zh-CN" altLang="en-US" sz="2400" dirty="0">
                <a:solidFill>
                  <a:srgbClr val="0066CC"/>
                </a:solidFill>
                <a:latin typeface="楷体" panose="02010609060101010101" pitchFamily="49" charset="-122"/>
                <a:ea typeface="楷体" panose="02010609060101010101" pitchFamily="49" charset="-122"/>
              </a:rPr>
              <a:t>；</a:t>
            </a:r>
            <a:r>
              <a:rPr lang="en-US" altLang="zh-CN" sz="2400" dirty="0">
                <a:solidFill>
                  <a:srgbClr val="0066CC"/>
                </a:solidFill>
                <a:latin typeface="楷体" panose="02010609060101010101" pitchFamily="49" charset="-122"/>
                <a:ea typeface="楷体" panose="02010609060101010101" pitchFamily="49" charset="-122"/>
              </a:rPr>
              <a:t>DX</a:t>
            </a:r>
            <a:r>
              <a:rPr lang="zh-CN" altLang="en-US" sz="2400" dirty="0">
                <a:solidFill>
                  <a:srgbClr val="0066CC"/>
                </a:solidFill>
                <a:latin typeface="楷体" panose="02010609060101010101" pitchFamily="49" charset="-122"/>
                <a:ea typeface="楷体" panose="02010609060101010101" pitchFamily="49" charset="-122"/>
              </a:rPr>
              <a:t>清</a:t>
            </a:r>
            <a:r>
              <a:rPr lang="en-US" altLang="zh-CN" sz="2400" dirty="0">
                <a:solidFill>
                  <a:srgbClr val="0066CC"/>
                </a:solidFill>
                <a:latin typeface="楷体" panose="02010609060101010101" pitchFamily="49" charset="-122"/>
                <a:ea typeface="楷体" panose="02010609060101010101" pitchFamily="49" charset="-122"/>
              </a:rPr>
              <a:t>0</a:t>
            </a:r>
            <a:endParaRPr lang="zh-CN" altLang="en-US" sz="2400" dirty="0">
              <a:solidFill>
                <a:srgbClr val="0066CC"/>
              </a:solidFill>
              <a:latin typeface="楷体" panose="02010609060101010101" pitchFamily="49" charset="-122"/>
              <a:ea typeface="楷体" panose="02010609060101010101" pitchFamily="49" charset="-122"/>
            </a:endParaRP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SHL  AX,  1	                 </a:t>
            </a:r>
            <a:r>
              <a:rPr lang="zh-CN" altLang="en-US" sz="2400" dirty="0">
                <a:solidFill>
                  <a:srgbClr val="0066CC"/>
                </a:solidFill>
                <a:latin typeface="楷体" panose="02010609060101010101" pitchFamily="49" charset="-122"/>
                <a:ea typeface="楷体" panose="02010609060101010101" pitchFamily="49" charset="-122"/>
              </a:rPr>
              <a:t>；乘以</a:t>
            </a:r>
            <a:r>
              <a:rPr lang="en-US" altLang="zh-CN" sz="2400" dirty="0">
                <a:solidFill>
                  <a:srgbClr val="0066CC"/>
                </a:solidFill>
                <a:latin typeface="楷体" panose="02010609060101010101" pitchFamily="49" charset="-122"/>
                <a:ea typeface="楷体" panose="02010609060101010101" pitchFamily="49" charset="-122"/>
              </a:rPr>
              <a:t>2</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RCL  DX,  1</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MOV  J2+2,  DX              </a:t>
            </a:r>
            <a:r>
              <a:rPr lang="zh-CN" altLang="en-US" sz="2400" dirty="0">
                <a:solidFill>
                  <a:srgbClr val="0066CC"/>
                </a:solidFill>
                <a:latin typeface="楷体" panose="02010609060101010101" pitchFamily="49" charset="-122"/>
                <a:ea typeface="楷体" panose="02010609060101010101" pitchFamily="49" charset="-122"/>
              </a:rPr>
              <a:t>；保存乘以</a:t>
            </a:r>
            <a:r>
              <a:rPr lang="en-US" altLang="zh-CN" sz="2400" dirty="0">
                <a:solidFill>
                  <a:srgbClr val="0066CC"/>
                </a:solidFill>
                <a:latin typeface="楷体" panose="02010609060101010101" pitchFamily="49" charset="-122"/>
                <a:ea typeface="楷体" panose="02010609060101010101" pitchFamily="49" charset="-122"/>
              </a:rPr>
              <a:t>2</a:t>
            </a:r>
            <a:r>
              <a:rPr lang="zh-CN" altLang="en-US" sz="2400" dirty="0">
                <a:solidFill>
                  <a:srgbClr val="0066CC"/>
                </a:solidFill>
                <a:latin typeface="楷体" panose="02010609060101010101" pitchFamily="49" charset="-122"/>
                <a:ea typeface="楷体" panose="02010609060101010101" pitchFamily="49" charset="-122"/>
              </a:rPr>
              <a:t>的结果</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MOV  J2,  AX</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SHL   AX,  1	                 </a:t>
            </a:r>
            <a:r>
              <a:rPr lang="zh-CN" altLang="en-US" sz="2400" dirty="0">
                <a:solidFill>
                  <a:srgbClr val="0066CC"/>
                </a:solidFill>
                <a:latin typeface="楷体" panose="02010609060101010101" pitchFamily="49" charset="-122"/>
                <a:ea typeface="楷体" panose="02010609060101010101" pitchFamily="49" charset="-122"/>
              </a:rPr>
              <a:t>；</a:t>
            </a:r>
            <a:r>
              <a:rPr lang="en-US" altLang="zh-CN" sz="2400" dirty="0">
                <a:solidFill>
                  <a:srgbClr val="0066CC"/>
                </a:solidFill>
                <a:latin typeface="楷体" panose="02010609060101010101" pitchFamily="49" charset="-122"/>
                <a:ea typeface="楷体" panose="02010609060101010101" pitchFamily="49" charset="-122"/>
              </a:rPr>
              <a:t>W</a:t>
            </a:r>
            <a:r>
              <a:rPr lang="zh-CN" altLang="en-US" sz="2400" dirty="0">
                <a:solidFill>
                  <a:srgbClr val="0066CC"/>
                </a:solidFill>
                <a:latin typeface="楷体" panose="02010609060101010101" pitchFamily="49" charset="-122"/>
                <a:ea typeface="楷体" panose="02010609060101010101" pitchFamily="49" charset="-122"/>
              </a:rPr>
              <a:t>中的内容乘以</a:t>
            </a:r>
            <a:r>
              <a:rPr lang="en-US" altLang="zh-CN" sz="2400" dirty="0">
                <a:solidFill>
                  <a:srgbClr val="0066CC"/>
                </a:solidFill>
                <a:latin typeface="楷体" panose="02010609060101010101" pitchFamily="49" charset="-122"/>
                <a:ea typeface="楷体" panose="02010609060101010101" pitchFamily="49" charset="-122"/>
              </a:rPr>
              <a:t>4</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RCL  DX,  1</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SHL  AX,  1	                 </a:t>
            </a:r>
            <a:r>
              <a:rPr lang="zh-CN" altLang="en-US" sz="2400" dirty="0">
                <a:solidFill>
                  <a:srgbClr val="0066CC"/>
                </a:solidFill>
                <a:latin typeface="楷体" panose="02010609060101010101" pitchFamily="49" charset="-122"/>
                <a:ea typeface="楷体" panose="02010609060101010101" pitchFamily="49" charset="-122"/>
              </a:rPr>
              <a:t>；</a:t>
            </a:r>
            <a:r>
              <a:rPr lang="en-US" altLang="zh-CN" sz="2400" dirty="0">
                <a:solidFill>
                  <a:srgbClr val="0066CC"/>
                </a:solidFill>
                <a:latin typeface="楷体" panose="02010609060101010101" pitchFamily="49" charset="-122"/>
                <a:ea typeface="楷体" panose="02010609060101010101" pitchFamily="49" charset="-122"/>
              </a:rPr>
              <a:t>W</a:t>
            </a:r>
            <a:r>
              <a:rPr lang="zh-CN" altLang="en-US" sz="2400" dirty="0">
                <a:solidFill>
                  <a:srgbClr val="0066CC"/>
                </a:solidFill>
                <a:latin typeface="楷体" panose="02010609060101010101" pitchFamily="49" charset="-122"/>
                <a:ea typeface="楷体" panose="02010609060101010101" pitchFamily="49" charset="-122"/>
              </a:rPr>
              <a:t>中的内容乘以</a:t>
            </a:r>
            <a:r>
              <a:rPr lang="en-US" altLang="zh-CN" sz="2400" dirty="0">
                <a:solidFill>
                  <a:srgbClr val="0066CC"/>
                </a:solidFill>
                <a:latin typeface="楷体" panose="02010609060101010101" pitchFamily="49" charset="-122"/>
                <a:ea typeface="楷体" panose="02010609060101010101" pitchFamily="49" charset="-122"/>
              </a:rPr>
              <a:t>8</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RCL  DX,  1</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ADD  J2,  AX	                 </a:t>
            </a:r>
            <a:r>
              <a:rPr lang="zh-CN" altLang="en-US" sz="2400" dirty="0">
                <a:solidFill>
                  <a:srgbClr val="0066CC"/>
                </a:solidFill>
                <a:latin typeface="楷体" panose="02010609060101010101" pitchFamily="49" charset="-122"/>
                <a:ea typeface="楷体" panose="02010609060101010101" pitchFamily="49" charset="-122"/>
              </a:rPr>
              <a:t>；</a:t>
            </a:r>
            <a:r>
              <a:rPr lang="en-US" altLang="zh-CN" sz="2400" dirty="0">
                <a:solidFill>
                  <a:srgbClr val="0066CC"/>
                </a:solidFill>
                <a:latin typeface="楷体" panose="02010609060101010101" pitchFamily="49" charset="-122"/>
                <a:ea typeface="楷体" panose="02010609060101010101" pitchFamily="49" charset="-122"/>
              </a:rPr>
              <a:t>2(W)+8(W)</a:t>
            </a:r>
          </a:p>
          <a:p>
            <a:pPr marL="0" indent="0">
              <a:spcBef>
                <a:spcPct val="10000"/>
              </a:spcBef>
              <a:buNone/>
            </a:pPr>
            <a:r>
              <a:rPr lang="en-US" altLang="zh-CN" sz="2400" dirty="0">
                <a:latin typeface="Times New Roman" panose="02020603050405020304" pitchFamily="18" charset="0"/>
                <a:ea typeface="微软雅黑" panose="020B0503020204020204" pitchFamily="34" charset="-122"/>
              </a:rPr>
              <a:t>           ADC  J2+2,  DX</a:t>
            </a:r>
            <a:endParaRPr lang="zh-CN" altLang="en-US" sz="24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9232151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0" y="1052513"/>
            <a:ext cx="8964613" cy="583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5000"/>
              </a:lnSpc>
              <a:spcBef>
                <a:spcPct val="50000"/>
              </a:spcBef>
              <a:buClr>
                <a:schemeClr val="tx2"/>
              </a:buClr>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字变量</a:t>
            </a:r>
            <a:r>
              <a:rPr lang="en-US" altLang="zh-CN" sz="2400" b="0" dirty="0">
                <a:latin typeface="楷体" panose="02010609060101010101" pitchFamily="49" charset="-122"/>
                <a:ea typeface="楷体" panose="02010609060101010101" pitchFamily="49" charset="-122"/>
              </a:rPr>
              <a:t>NUMW</a:t>
            </a:r>
            <a:r>
              <a:rPr lang="zh-CN" altLang="en-US" sz="2400" b="0" dirty="0">
                <a:latin typeface="楷体" panose="02010609060101010101" pitchFamily="49" charset="-122"/>
                <a:ea typeface="楷体" panose="02010609060101010101" pitchFamily="49" charset="-122"/>
              </a:rPr>
              <a:t>中有一无符号数，编写程序</a:t>
            </a:r>
            <a:r>
              <a:rPr lang="en-US" altLang="zh-CN"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rPr>
              <a:t>计算（</a:t>
            </a:r>
            <a:r>
              <a:rPr lang="en-US" altLang="zh-CN" sz="2400" b="0" dirty="0">
                <a:latin typeface="楷体" panose="02010609060101010101" pitchFamily="49" charset="-122"/>
                <a:ea typeface="楷体" panose="02010609060101010101" pitchFamily="49" charset="-122"/>
              </a:rPr>
              <a:t>NUMW</a:t>
            </a:r>
            <a:r>
              <a:rPr lang="zh-CN" altLang="en-US" sz="2400" b="0" dirty="0">
                <a:latin typeface="楷体" panose="02010609060101010101" pitchFamily="49" charset="-122"/>
                <a:ea typeface="楷体" panose="02010609060101010101" pitchFamily="49" charset="-122"/>
              </a:rPr>
              <a:t>）</a:t>
            </a:r>
            <a:r>
              <a:rPr lang="zh-CN" altLang="en-US" sz="2400" b="0" dirty="0">
                <a:latin typeface="楷体" panose="02010609060101010101" pitchFamily="49" charset="-122"/>
                <a:ea typeface="楷体" panose="02010609060101010101" pitchFamily="49" charset="-122"/>
                <a:sym typeface="Symbol" panose="05050102010706020507" pitchFamily="18" charset="2"/>
              </a:rPr>
              <a:t></a:t>
            </a:r>
            <a:r>
              <a:rPr lang="en-US" altLang="zh-CN" sz="2400" b="0" dirty="0">
                <a:latin typeface="楷体" panose="02010609060101010101" pitchFamily="49" charset="-122"/>
                <a:ea typeface="楷体" panose="02010609060101010101" pitchFamily="49" charset="-122"/>
              </a:rPr>
              <a:t>16+30</a:t>
            </a:r>
            <a:r>
              <a:rPr lang="zh-CN" altLang="en-US" sz="2400" b="0" dirty="0">
                <a:latin typeface="楷体" panose="02010609060101010101" pitchFamily="49" charset="-122"/>
                <a:ea typeface="楷体" panose="02010609060101010101" pitchFamily="49" charset="-122"/>
              </a:rPr>
              <a:t>并将结果送入</a:t>
            </a:r>
            <a:r>
              <a:rPr lang="en-US" altLang="zh-CN" sz="2400" b="0" dirty="0">
                <a:latin typeface="楷体" panose="02010609060101010101" pitchFamily="49" charset="-122"/>
                <a:ea typeface="楷体" panose="02010609060101010101" pitchFamily="49" charset="-122"/>
              </a:rPr>
              <a:t>NUMW+2</a:t>
            </a:r>
            <a:r>
              <a:rPr lang="zh-CN" altLang="en-US" sz="2400" b="0" dirty="0">
                <a:latin typeface="楷体" panose="02010609060101010101" pitchFamily="49" charset="-122"/>
                <a:ea typeface="楷体" panose="02010609060101010101" pitchFamily="49" charset="-122"/>
              </a:rPr>
              <a:t>和</a:t>
            </a:r>
            <a:r>
              <a:rPr lang="en-US" altLang="zh-CN" sz="2400" b="0" dirty="0">
                <a:latin typeface="楷体" panose="02010609060101010101" pitchFamily="49" charset="-122"/>
                <a:ea typeface="楷体" panose="02010609060101010101" pitchFamily="49" charset="-122"/>
              </a:rPr>
              <a:t>NUMW</a:t>
            </a:r>
          </a:p>
          <a:p>
            <a:pPr eaLnBrk="1" hangingPunct="1">
              <a:lnSpc>
                <a:spcPct val="125000"/>
              </a:lnSpc>
              <a:buClr>
                <a:schemeClr val="tx2"/>
              </a:buClr>
              <a:buFont typeface="Arial" panose="020B0604020202020204" pitchFamily="34" charset="0"/>
              <a:buNone/>
            </a:pPr>
            <a:r>
              <a:rPr lang="en-US" altLang="zh-CN" sz="2400" b="0" dirty="0">
                <a:solidFill>
                  <a:schemeClr val="tx2"/>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NUMW DW 1234H</a:t>
            </a:r>
          </a:p>
          <a:p>
            <a:pPr eaLnBrk="1" hangingPunct="1">
              <a:lnSpc>
                <a:spcPct val="125000"/>
              </a:lnSpc>
              <a:buClr>
                <a:schemeClr val="tx2"/>
              </a:buClr>
              <a:buFont typeface="Arial" panose="020B0604020202020204" pitchFamily="34" charset="0"/>
              <a:buNone/>
            </a:pPr>
            <a:r>
              <a:rPr lang="en-US" altLang="zh-CN" sz="2400" b="0" dirty="0">
                <a:solidFill>
                  <a:srgbClr val="000099"/>
                </a:solidFill>
                <a:latin typeface="Times New Roman" panose="02020603050405020304" pitchFamily="18" charset="0"/>
                <a:ea typeface="微软雅黑" panose="020B0503020204020204" pitchFamily="34" charset="-122"/>
              </a:rPr>
              <a:t>	MOV  CL, 4</a:t>
            </a:r>
          </a:p>
          <a:p>
            <a:pPr eaLnBrk="1" hangingPunct="1">
              <a:lnSpc>
                <a:spcPct val="125000"/>
              </a:lnSpc>
              <a:buClr>
                <a:schemeClr val="tx2"/>
              </a:buClr>
              <a:buFont typeface="Arial" panose="020B0604020202020204" pitchFamily="34" charset="0"/>
              <a:buNone/>
            </a:pPr>
            <a:r>
              <a:rPr lang="en-US" altLang="zh-CN" sz="2400" b="0" dirty="0">
                <a:solidFill>
                  <a:srgbClr val="000099"/>
                </a:solidFill>
                <a:latin typeface="Times New Roman" panose="02020603050405020304" pitchFamily="18" charset="0"/>
                <a:ea typeface="微软雅黑" panose="020B0503020204020204" pitchFamily="34" charset="-122"/>
              </a:rPr>
              <a:t>     ROL  NUMW,  CL </a:t>
            </a:r>
            <a:r>
              <a:rPr lang="en-US" altLang="zh-CN" sz="2400" b="0" dirty="0">
                <a:solidFill>
                  <a:srgbClr val="0070C0"/>
                </a:solidFill>
                <a:latin typeface="Times New Roman" panose="02020603050405020304" pitchFamily="18" charset="0"/>
                <a:ea typeface="微软雅黑" panose="020B0503020204020204" pitchFamily="34" charset="-122"/>
              </a:rPr>
              <a:t> </a:t>
            </a:r>
            <a:r>
              <a:rPr lang="zh-CN" altLang="en-US" sz="2400" b="0" dirty="0">
                <a:solidFill>
                  <a:srgbClr val="0070C0"/>
                </a:solidFill>
                <a:latin typeface="Times New Roman" panose="02020603050405020304" pitchFamily="18" charset="0"/>
                <a:ea typeface="微软雅黑" panose="020B0503020204020204" pitchFamily="34" charset="-122"/>
              </a:rPr>
              <a:t>；将</a:t>
            </a:r>
            <a:r>
              <a:rPr lang="en-US" altLang="zh-CN" sz="2400" b="0" dirty="0">
                <a:solidFill>
                  <a:srgbClr val="0070C0"/>
                </a:solidFill>
                <a:latin typeface="Times New Roman" panose="02020603050405020304" pitchFamily="18" charset="0"/>
                <a:ea typeface="微软雅黑" panose="020B0503020204020204" pitchFamily="34" charset="-122"/>
              </a:rPr>
              <a:t>NUMW</a:t>
            </a:r>
            <a:r>
              <a:rPr lang="zh-CN" altLang="en-US" sz="2400" b="0" dirty="0">
                <a:solidFill>
                  <a:srgbClr val="0070C0"/>
                </a:solidFill>
                <a:latin typeface="Times New Roman" panose="02020603050405020304" pitchFamily="18" charset="0"/>
                <a:ea typeface="微软雅黑" panose="020B0503020204020204" pitchFamily="34" charset="-122"/>
              </a:rPr>
              <a:t>字单元中的</a:t>
            </a:r>
            <a:r>
              <a:rPr lang="en-US" altLang="zh-CN" sz="2400" b="0" dirty="0">
                <a:solidFill>
                  <a:srgbClr val="0070C0"/>
                </a:solidFill>
                <a:latin typeface="Times New Roman" panose="02020603050405020304" pitchFamily="18" charset="0"/>
                <a:ea typeface="微软雅黑" panose="020B0503020204020204" pitchFamily="34" charset="-122"/>
              </a:rPr>
              <a:t>1234H</a:t>
            </a:r>
            <a:r>
              <a:rPr lang="zh-CN" altLang="en-US" sz="2400" b="0" dirty="0">
                <a:solidFill>
                  <a:srgbClr val="0070C0"/>
                </a:solidFill>
                <a:latin typeface="Times New Roman" panose="02020603050405020304" pitchFamily="18" charset="0"/>
                <a:ea typeface="微软雅黑" panose="020B0503020204020204" pitchFamily="34" charset="-122"/>
              </a:rPr>
              <a:t>变成</a:t>
            </a:r>
            <a:r>
              <a:rPr lang="en-US" altLang="zh-CN" sz="2400" b="0" dirty="0">
                <a:solidFill>
                  <a:srgbClr val="0070C0"/>
                </a:solidFill>
                <a:latin typeface="Times New Roman" panose="02020603050405020304" pitchFamily="18" charset="0"/>
                <a:ea typeface="微软雅黑" panose="020B0503020204020204" pitchFamily="34" charset="-122"/>
              </a:rPr>
              <a:t>2341H</a:t>
            </a:r>
          </a:p>
          <a:p>
            <a:pPr eaLnBrk="1" hangingPunct="1">
              <a:lnSpc>
                <a:spcPct val="125000"/>
              </a:lnSpc>
              <a:buClr>
                <a:schemeClr val="tx2"/>
              </a:buClr>
              <a:buFont typeface="Arial" panose="020B0604020202020204" pitchFamily="34" charset="0"/>
              <a:buNone/>
            </a:pPr>
            <a:r>
              <a:rPr lang="en-US" altLang="zh-CN" sz="2400" b="0" dirty="0">
                <a:solidFill>
                  <a:srgbClr val="0070C0"/>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MOV  AX, 000FH	 </a:t>
            </a:r>
            <a:endParaRPr lang="zh-CN" altLang="en-US" sz="2400" b="0" dirty="0">
              <a:solidFill>
                <a:srgbClr val="000099"/>
              </a:solidFill>
              <a:latin typeface="Times New Roman" panose="02020603050405020304" pitchFamily="18" charset="0"/>
              <a:ea typeface="微软雅黑" panose="020B0503020204020204" pitchFamily="34" charset="-122"/>
            </a:endParaRPr>
          </a:p>
          <a:p>
            <a:pPr eaLnBrk="1" hangingPunct="1">
              <a:lnSpc>
                <a:spcPct val="125000"/>
              </a:lnSpc>
              <a:buClr>
                <a:schemeClr val="tx2"/>
              </a:buClr>
              <a:buFont typeface="Arial" panose="020B0604020202020204" pitchFamily="34" charset="0"/>
              <a:buNone/>
            </a:pPr>
            <a:r>
              <a:rPr lang="en-US" altLang="zh-CN" sz="2400" b="0" dirty="0">
                <a:solidFill>
                  <a:srgbClr val="000099"/>
                </a:solidFill>
                <a:latin typeface="Times New Roman" panose="02020603050405020304" pitchFamily="18" charset="0"/>
                <a:ea typeface="微软雅黑" panose="020B0503020204020204" pitchFamily="34" charset="-122"/>
              </a:rPr>
              <a:t>	AND  AX,  NUMW  </a:t>
            </a:r>
            <a:r>
              <a:rPr lang="zh-CN" altLang="en-US" sz="2400" b="0" dirty="0">
                <a:solidFill>
                  <a:srgbClr val="0070C0"/>
                </a:solidFill>
                <a:latin typeface="Times New Roman" panose="02020603050405020304" pitchFamily="18" charset="0"/>
                <a:ea typeface="微软雅黑" panose="020B0503020204020204" pitchFamily="34" charset="-122"/>
              </a:rPr>
              <a:t>；取低位字的最低</a:t>
            </a:r>
            <a:r>
              <a:rPr lang="en-US" altLang="zh-CN" sz="2400" b="0" dirty="0">
                <a:solidFill>
                  <a:srgbClr val="0070C0"/>
                </a:solidFill>
                <a:latin typeface="Times New Roman" panose="02020603050405020304" pitchFamily="18" charset="0"/>
                <a:ea typeface="微软雅黑" panose="020B0503020204020204" pitchFamily="34" charset="-122"/>
              </a:rPr>
              <a:t>4</a:t>
            </a:r>
            <a:r>
              <a:rPr lang="zh-CN" altLang="en-US" sz="2400" b="0" dirty="0">
                <a:solidFill>
                  <a:srgbClr val="0070C0"/>
                </a:solidFill>
                <a:latin typeface="Times New Roman" panose="02020603050405020304" pitchFamily="18" charset="0"/>
                <a:ea typeface="微软雅黑" panose="020B0503020204020204" pitchFamily="34" charset="-122"/>
              </a:rPr>
              <a:t>位  </a:t>
            </a:r>
            <a:r>
              <a:rPr lang="en-US" altLang="zh-CN" sz="2400" b="0" dirty="0">
                <a:solidFill>
                  <a:srgbClr val="0070C0"/>
                </a:solidFill>
                <a:latin typeface="Times New Roman" panose="02020603050405020304" pitchFamily="18" charset="0"/>
                <a:ea typeface="微软雅黑" panose="020B0503020204020204" pitchFamily="34" charset="-122"/>
              </a:rPr>
              <a:t>AX=0001H</a:t>
            </a:r>
          </a:p>
          <a:p>
            <a:pPr eaLnBrk="1" hangingPunct="1">
              <a:lnSpc>
                <a:spcPct val="125000"/>
              </a:lnSpc>
              <a:buClr>
                <a:schemeClr val="tx2"/>
              </a:buClr>
              <a:buFont typeface="Arial" panose="020B0604020202020204" pitchFamily="34" charset="0"/>
              <a:buNone/>
            </a:pPr>
            <a:r>
              <a:rPr lang="en-US" altLang="zh-CN" sz="2400" b="0" dirty="0">
                <a:solidFill>
                  <a:srgbClr val="0070C0"/>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AND  NUMW,  0FFF0H  </a:t>
            </a:r>
            <a:r>
              <a:rPr lang="zh-CN" altLang="en-US" sz="2400" b="0" dirty="0">
                <a:solidFill>
                  <a:srgbClr val="0070C0"/>
                </a:solidFill>
                <a:latin typeface="Times New Roman" panose="02020603050405020304" pitchFamily="18" charset="0"/>
                <a:ea typeface="微软雅黑" panose="020B0503020204020204" pitchFamily="34" charset="-122"/>
              </a:rPr>
              <a:t>；清低位字的最低</a:t>
            </a:r>
            <a:r>
              <a:rPr lang="en-US" altLang="zh-CN" sz="2400" b="0" dirty="0">
                <a:solidFill>
                  <a:srgbClr val="0070C0"/>
                </a:solidFill>
                <a:latin typeface="Times New Roman" panose="02020603050405020304" pitchFamily="18" charset="0"/>
                <a:ea typeface="微软雅黑" panose="020B0503020204020204" pitchFamily="34" charset="-122"/>
              </a:rPr>
              <a:t>4</a:t>
            </a:r>
            <a:r>
              <a:rPr lang="zh-CN" altLang="en-US" sz="2400" b="0" dirty="0">
                <a:solidFill>
                  <a:srgbClr val="0070C0"/>
                </a:solidFill>
                <a:latin typeface="Times New Roman" panose="02020603050405020304" pitchFamily="18" charset="0"/>
                <a:ea typeface="微软雅黑" panose="020B0503020204020204" pitchFamily="34" charset="-122"/>
              </a:rPr>
              <a:t>位 </a:t>
            </a:r>
            <a:r>
              <a:rPr lang="en-US" altLang="zh-CN" sz="2400" b="0" dirty="0">
                <a:solidFill>
                  <a:srgbClr val="0070C0"/>
                </a:solidFill>
                <a:latin typeface="Times New Roman" panose="02020603050405020304" pitchFamily="18" charset="0"/>
                <a:ea typeface="微软雅黑" panose="020B0503020204020204" pitchFamily="34" charset="-122"/>
              </a:rPr>
              <a:t>(NUMW)=2340H</a:t>
            </a:r>
          </a:p>
          <a:p>
            <a:pPr eaLnBrk="1" hangingPunct="1">
              <a:lnSpc>
                <a:spcPct val="125000"/>
              </a:lnSpc>
              <a:buClr>
                <a:schemeClr val="tx2"/>
              </a:buClr>
              <a:buFont typeface="Arial" panose="020B0604020202020204" pitchFamily="34" charset="0"/>
              <a:buNone/>
            </a:pPr>
            <a:r>
              <a:rPr lang="en-US" altLang="zh-CN" sz="2400" b="0" dirty="0">
                <a:solidFill>
                  <a:srgbClr val="0070C0"/>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ADD  NUMW,  30      </a:t>
            </a:r>
            <a:r>
              <a:rPr lang="zh-CN" altLang="en-US" sz="2400" b="0" dirty="0">
                <a:solidFill>
                  <a:srgbClr val="0070C0"/>
                </a:solidFill>
                <a:latin typeface="Times New Roman" panose="02020603050405020304" pitchFamily="18" charset="0"/>
                <a:ea typeface="微软雅黑" panose="020B0503020204020204" pitchFamily="34" charset="-122"/>
              </a:rPr>
              <a:t>；低位字加</a:t>
            </a:r>
            <a:r>
              <a:rPr lang="en-US" altLang="zh-CN" sz="2400" b="0" dirty="0">
                <a:solidFill>
                  <a:srgbClr val="0070C0"/>
                </a:solidFill>
                <a:latin typeface="Times New Roman" panose="02020603050405020304" pitchFamily="18" charset="0"/>
                <a:ea typeface="微软雅黑" panose="020B0503020204020204" pitchFamily="34" charset="-122"/>
              </a:rPr>
              <a:t>30</a:t>
            </a:r>
          </a:p>
          <a:p>
            <a:pPr eaLnBrk="1" hangingPunct="1">
              <a:lnSpc>
                <a:spcPct val="125000"/>
              </a:lnSpc>
              <a:buClr>
                <a:schemeClr val="tx2"/>
              </a:buClr>
              <a:buFont typeface="Arial" panose="020B0604020202020204" pitchFamily="34" charset="0"/>
              <a:buNone/>
            </a:pPr>
            <a:r>
              <a:rPr lang="en-US" altLang="zh-CN" sz="2400" b="0" dirty="0">
                <a:solidFill>
                  <a:srgbClr val="0070C0"/>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ADC  AX,  0               </a:t>
            </a:r>
            <a:r>
              <a:rPr lang="zh-CN" altLang="en-US" sz="2400" b="0" dirty="0">
                <a:solidFill>
                  <a:srgbClr val="0070C0"/>
                </a:solidFill>
                <a:latin typeface="Times New Roman" panose="02020603050405020304" pitchFamily="18" charset="0"/>
                <a:ea typeface="微软雅黑" panose="020B0503020204020204" pitchFamily="34" charset="-122"/>
              </a:rPr>
              <a:t>；将低位字相加的进位加入高位字</a:t>
            </a:r>
          </a:p>
          <a:p>
            <a:pPr eaLnBrk="1" hangingPunct="1">
              <a:lnSpc>
                <a:spcPct val="125000"/>
              </a:lnSpc>
              <a:buClr>
                <a:schemeClr val="tx2"/>
              </a:buClr>
              <a:buFont typeface="Arial" panose="020B0604020202020204" pitchFamily="34" charset="0"/>
              <a:buNone/>
            </a:pPr>
            <a:r>
              <a:rPr lang="en-US" altLang="zh-CN" sz="2400" b="0" dirty="0">
                <a:solidFill>
                  <a:srgbClr val="0070C0"/>
                </a:solidFill>
                <a:latin typeface="Times New Roman" panose="02020603050405020304" pitchFamily="18" charset="0"/>
                <a:ea typeface="微软雅黑" panose="020B0503020204020204" pitchFamily="34" charset="-122"/>
              </a:rPr>
              <a:t>     </a:t>
            </a:r>
            <a:r>
              <a:rPr lang="en-US" altLang="zh-CN" sz="2400" b="0" dirty="0">
                <a:solidFill>
                  <a:srgbClr val="000099"/>
                </a:solidFill>
                <a:latin typeface="Times New Roman" panose="02020603050405020304" pitchFamily="18" charset="0"/>
                <a:ea typeface="微软雅黑" panose="020B0503020204020204" pitchFamily="34" charset="-122"/>
              </a:rPr>
              <a:t>MOV  NUMW+2,  AX</a:t>
            </a:r>
            <a:endParaRPr lang="zh-CN" altLang="en-US" sz="2400" b="0" dirty="0">
              <a:solidFill>
                <a:srgbClr val="000099"/>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5793966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68286" y="1381210"/>
            <a:ext cx="8607425"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10000"/>
              </a:lnSpc>
              <a:spcBef>
                <a:spcPct val="50000"/>
              </a:spcBef>
              <a:buClr>
                <a:schemeClr val="tx2"/>
              </a:buClr>
              <a:buFont typeface="Arial" panose="020B0604020202020204" pitchFamily="34" charset="0"/>
              <a:buNone/>
            </a:pPr>
            <a:r>
              <a:rPr lang="zh-CN" altLang="en-US" sz="2400" dirty="0">
                <a:solidFill>
                  <a:schemeClr val="tx2"/>
                </a:solidFill>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：将</a:t>
            </a:r>
            <a:r>
              <a:rPr lang="en-US" altLang="zh-CN" sz="2400" dirty="0">
                <a:latin typeface="楷体" panose="02010609060101010101" pitchFamily="49" charset="-122"/>
                <a:ea typeface="楷体" panose="02010609060101010101" pitchFamily="49" charset="-122"/>
              </a:rPr>
              <a:t>AX</a:t>
            </a:r>
            <a:r>
              <a:rPr lang="zh-CN" altLang="en-US" sz="2400" dirty="0">
                <a:latin typeface="楷体" panose="02010609060101010101" pitchFamily="49" charset="-122"/>
                <a:ea typeface="楷体" panose="02010609060101010101" pitchFamily="49" charset="-122"/>
              </a:rPr>
              <a:t>中小于</a:t>
            </a:r>
            <a:r>
              <a:rPr lang="en-US" altLang="zh-CN" sz="2400" dirty="0">
                <a:latin typeface="楷体" panose="02010609060101010101" pitchFamily="49" charset="-122"/>
                <a:ea typeface="楷体" panose="02010609060101010101" pitchFamily="49" charset="-122"/>
              </a:rPr>
              <a:t>256</a:t>
            </a:r>
            <a:r>
              <a:rPr lang="zh-CN" altLang="en-US" sz="2400" dirty="0">
                <a:latin typeface="楷体" panose="02010609060101010101" pitchFamily="49" charset="-122"/>
                <a:ea typeface="楷体" panose="02010609060101010101" pitchFamily="49" charset="-122"/>
              </a:rPr>
              <a:t>大于</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的</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位</a:t>
            </a:r>
            <a:r>
              <a:rPr lang="en-US" altLang="zh-CN" sz="2400" dirty="0">
                <a:latin typeface="楷体" panose="02010609060101010101" pitchFamily="49" charset="-122"/>
                <a:ea typeface="楷体" panose="02010609060101010101" pitchFamily="49" charset="-122"/>
              </a:rPr>
              <a:t>BCD</a:t>
            </a:r>
            <a:r>
              <a:rPr lang="zh-CN" altLang="en-US" sz="2400" dirty="0">
                <a:latin typeface="楷体" panose="02010609060101010101" pitchFamily="49" charset="-122"/>
                <a:ea typeface="楷体" panose="02010609060101010101" pitchFamily="49" charset="-122"/>
              </a:rPr>
              <a:t>数转换为二进制数，存入字节变量</a:t>
            </a:r>
            <a:r>
              <a:rPr lang="en-US" altLang="zh-CN" sz="2400" dirty="0">
                <a:latin typeface="楷体" panose="02010609060101010101" pitchFamily="49" charset="-122"/>
                <a:ea typeface="楷体" panose="02010609060101010101" pitchFamily="49" charset="-122"/>
              </a:rPr>
              <a:t>SB</a:t>
            </a:r>
            <a:r>
              <a:rPr lang="zh-CN" altLang="en-US" sz="2400" dirty="0">
                <a:latin typeface="楷体" panose="02010609060101010101" pitchFamily="49" charset="-122"/>
                <a:ea typeface="楷体" panose="02010609060101010101" pitchFamily="49" charset="-122"/>
              </a:rPr>
              <a:t>中</a:t>
            </a:r>
            <a:r>
              <a:rPr lang="zh-CN" altLang="en-US" sz="2400" dirty="0">
                <a:solidFill>
                  <a:schemeClr val="tx2"/>
                </a:solidFill>
                <a:latin typeface="楷体" panose="02010609060101010101" pitchFamily="49" charset="-122"/>
                <a:ea typeface="楷体" panose="02010609060101010101" pitchFamily="49" charset="-122"/>
              </a:rPr>
              <a:t> </a:t>
            </a:r>
            <a:endParaRPr lang="en-US" altLang="zh-CN" sz="2400" dirty="0">
              <a:solidFill>
                <a:schemeClr val="tx2"/>
              </a:solidFill>
              <a:latin typeface="楷体" panose="02010609060101010101" pitchFamily="49" charset="-122"/>
              <a:ea typeface="楷体" panose="02010609060101010101" pitchFamily="49" charset="-122"/>
            </a:endParaRPr>
          </a:p>
          <a:p>
            <a:pPr eaLnBrk="1" hangingPunct="1">
              <a:lnSpc>
                <a:spcPct val="125000"/>
              </a:lnSpc>
              <a:spcBef>
                <a:spcPct val="55000"/>
              </a:spcBef>
              <a:buClr>
                <a:schemeClr val="tx2"/>
              </a:buClr>
              <a:buFont typeface="Arial" panose="020B0604020202020204" pitchFamily="34" charset="0"/>
              <a:buNone/>
            </a:pPr>
            <a:r>
              <a:rPr lang="zh-CN" altLang="en-US" sz="2400" dirty="0">
                <a:solidFill>
                  <a:schemeClr val="tx2"/>
                </a:solidFill>
                <a:latin typeface="楷体" panose="02010609060101010101" pitchFamily="49" charset="-122"/>
                <a:ea typeface="楷体" panose="02010609060101010101" pitchFamily="49" charset="-122"/>
              </a:rPr>
              <a:t>  </a:t>
            </a:r>
            <a:r>
              <a:rPr lang="zh-CN" altLang="en-US" sz="2400" dirty="0">
                <a:solidFill>
                  <a:srgbClr val="000099"/>
                </a:solidFill>
                <a:latin typeface="楷体" panose="02010609060101010101" pitchFamily="49" charset="-122"/>
                <a:ea typeface="楷体" panose="02010609060101010101" pitchFamily="49" charset="-122"/>
              </a:rPr>
              <a:t>思路：用</a:t>
            </a:r>
            <a:r>
              <a:rPr lang="zh-CN" altLang="en-US" sz="2400" dirty="0">
                <a:solidFill>
                  <a:srgbClr val="FF0066"/>
                </a:solidFill>
                <a:latin typeface="楷体" panose="02010609060101010101" pitchFamily="49" charset="-122"/>
                <a:ea typeface="楷体" panose="02010609060101010101" pitchFamily="49" charset="-122"/>
              </a:rPr>
              <a:t>（百位</a:t>
            </a:r>
            <a:r>
              <a:rPr lang="zh-CN" altLang="en-US" sz="2400" dirty="0">
                <a:solidFill>
                  <a:srgbClr val="FF0066"/>
                </a:solidFill>
                <a:latin typeface="楷体" panose="02010609060101010101" pitchFamily="49" charset="-122"/>
                <a:ea typeface="楷体" panose="02010609060101010101" pitchFamily="49" charset="-122"/>
                <a:sym typeface="Symbol" panose="05050102010706020507" pitchFamily="18" charset="2"/>
              </a:rPr>
              <a:t></a:t>
            </a:r>
            <a:r>
              <a:rPr lang="en-US" altLang="zh-CN" sz="2400" dirty="0">
                <a:solidFill>
                  <a:srgbClr val="FF0066"/>
                </a:solidFill>
                <a:latin typeface="楷体" panose="02010609060101010101" pitchFamily="49" charset="-122"/>
                <a:ea typeface="楷体" panose="02010609060101010101" pitchFamily="49" charset="-122"/>
              </a:rPr>
              <a:t>10+</a:t>
            </a:r>
            <a:r>
              <a:rPr lang="zh-CN" altLang="en-US" sz="2400" dirty="0">
                <a:solidFill>
                  <a:srgbClr val="FF0066"/>
                </a:solidFill>
                <a:latin typeface="楷体" panose="02010609060101010101" pitchFamily="49" charset="-122"/>
                <a:ea typeface="楷体" panose="02010609060101010101" pitchFamily="49" charset="-122"/>
              </a:rPr>
              <a:t>十位）</a:t>
            </a:r>
            <a:r>
              <a:rPr lang="zh-CN" altLang="en-US" sz="2400" dirty="0">
                <a:solidFill>
                  <a:srgbClr val="FF0066"/>
                </a:solidFill>
                <a:latin typeface="楷体" panose="02010609060101010101" pitchFamily="49" charset="-122"/>
                <a:ea typeface="楷体" panose="02010609060101010101" pitchFamily="49" charset="-122"/>
                <a:sym typeface="Symbol" panose="05050102010706020507" pitchFamily="18" charset="2"/>
              </a:rPr>
              <a:t></a:t>
            </a:r>
            <a:r>
              <a:rPr lang="en-US" altLang="zh-CN" sz="2400" dirty="0">
                <a:solidFill>
                  <a:srgbClr val="FF0066"/>
                </a:solidFill>
                <a:latin typeface="楷体" panose="02010609060101010101" pitchFamily="49" charset="-122"/>
                <a:ea typeface="楷体" panose="02010609060101010101" pitchFamily="49" charset="-122"/>
              </a:rPr>
              <a:t>10+</a:t>
            </a:r>
            <a:r>
              <a:rPr lang="zh-CN" altLang="en-US" sz="2400" dirty="0">
                <a:solidFill>
                  <a:srgbClr val="FF0066"/>
                </a:solidFill>
                <a:latin typeface="楷体" panose="02010609060101010101" pitchFamily="49" charset="-122"/>
                <a:ea typeface="楷体" panose="02010609060101010101" pitchFamily="49" charset="-122"/>
              </a:rPr>
              <a:t>个位</a:t>
            </a:r>
            <a:r>
              <a:rPr lang="zh-CN" altLang="en-US" sz="2400" dirty="0">
                <a:solidFill>
                  <a:srgbClr val="000099"/>
                </a:solidFill>
                <a:latin typeface="楷体" panose="02010609060101010101" pitchFamily="49" charset="-122"/>
                <a:ea typeface="楷体" panose="02010609060101010101" pitchFamily="49" charset="-122"/>
              </a:rPr>
              <a:t>的方法将</a:t>
            </a:r>
            <a:r>
              <a:rPr lang="en-US" altLang="zh-CN" sz="2400" dirty="0">
                <a:solidFill>
                  <a:srgbClr val="000099"/>
                </a:solidFill>
                <a:latin typeface="楷体" panose="02010609060101010101" pitchFamily="49" charset="-122"/>
                <a:ea typeface="楷体" panose="02010609060101010101" pitchFamily="49" charset="-122"/>
              </a:rPr>
              <a:t>BCD</a:t>
            </a:r>
            <a:r>
              <a:rPr lang="zh-CN" altLang="en-US" sz="2400" dirty="0">
                <a:solidFill>
                  <a:srgbClr val="000099"/>
                </a:solidFill>
                <a:latin typeface="楷体" panose="02010609060101010101" pitchFamily="49" charset="-122"/>
                <a:ea typeface="楷体" panose="02010609060101010101" pitchFamily="49" charset="-122"/>
              </a:rPr>
              <a:t>数转换为二进制数</a:t>
            </a:r>
          </a:p>
          <a:p>
            <a:pPr eaLnBrk="1" hangingPunct="1">
              <a:lnSpc>
                <a:spcPct val="125000"/>
              </a:lnSpc>
              <a:spcBef>
                <a:spcPct val="25000"/>
              </a:spcBef>
              <a:buClr>
                <a:schemeClr val="tx2"/>
              </a:buClr>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  如将</a:t>
            </a:r>
            <a:r>
              <a:rPr lang="en-US" altLang="zh-CN" sz="2400" dirty="0">
                <a:solidFill>
                  <a:srgbClr val="000099"/>
                </a:solidFill>
                <a:latin typeface="楷体" panose="02010609060101010101" pitchFamily="49" charset="-122"/>
                <a:ea typeface="楷体" panose="02010609060101010101" pitchFamily="49" charset="-122"/>
              </a:rPr>
              <a:t>BCD</a:t>
            </a:r>
            <a:r>
              <a:rPr lang="zh-CN" altLang="en-US" sz="2400" dirty="0">
                <a:solidFill>
                  <a:srgbClr val="000099"/>
                </a:solidFill>
                <a:latin typeface="楷体" panose="02010609060101010101" pitchFamily="49" charset="-122"/>
                <a:ea typeface="楷体" panose="02010609060101010101" pitchFamily="49" charset="-122"/>
              </a:rPr>
              <a:t>数</a:t>
            </a:r>
            <a:r>
              <a:rPr lang="en-US" altLang="zh-CN" sz="2400" dirty="0">
                <a:solidFill>
                  <a:srgbClr val="000099"/>
                </a:solidFill>
                <a:latin typeface="楷体" panose="02010609060101010101" pitchFamily="49" charset="-122"/>
                <a:ea typeface="楷体" panose="02010609060101010101" pitchFamily="49" charset="-122"/>
              </a:rPr>
              <a:t>255H</a:t>
            </a:r>
            <a:r>
              <a:rPr lang="zh-CN" altLang="en-US" sz="2400" dirty="0">
                <a:solidFill>
                  <a:srgbClr val="000099"/>
                </a:solidFill>
                <a:latin typeface="楷体" panose="02010609060101010101" pitchFamily="49" charset="-122"/>
                <a:ea typeface="楷体" panose="02010609060101010101" pitchFamily="49" charset="-122"/>
              </a:rPr>
              <a:t>转换为二进制数</a:t>
            </a:r>
            <a:r>
              <a:rPr lang="en-US" altLang="zh-CN" sz="2400" dirty="0">
                <a:solidFill>
                  <a:srgbClr val="000099"/>
                </a:solidFill>
                <a:latin typeface="楷体" panose="02010609060101010101" pitchFamily="49" charset="-122"/>
                <a:ea typeface="楷体" panose="02010609060101010101" pitchFamily="49" charset="-122"/>
              </a:rPr>
              <a:t>11111111B</a:t>
            </a:r>
            <a:r>
              <a:rPr lang="zh-CN" altLang="en-US" sz="2400" dirty="0">
                <a:solidFill>
                  <a:srgbClr val="000099"/>
                </a:solidFill>
                <a:latin typeface="楷体" panose="02010609060101010101" pitchFamily="49" charset="-122"/>
                <a:ea typeface="楷体" panose="02010609060101010101" pitchFamily="49" charset="-122"/>
              </a:rPr>
              <a:t>，运算的过程为： </a:t>
            </a:r>
          </a:p>
        </p:txBody>
      </p:sp>
      <p:graphicFrame>
        <p:nvGraphicFramePr>
          <p:cNvPr id="3" name="Object 8"/>
          <p:cNvGraphicFramePr>
            <a:graphicFrameLocks/>
          </p:cNvGraphicFramePr>
          <p:nvPr>
            <p:extLst>
              <p:ext uri="{D42A27DB-BD31-4B8C-83A1-F6EECF244321}">
                <p14:modId xmlns:p14="http://schemas.microsoft.com/office/powerpoint/2010/main" val="1565920348"/>
              </p:ext>
            </p:extLst>
          </p:nvPr>
        </p:nvGraphicFramePr>
        <p:xfrm>
          <a:off x="575467" y="4281261"/>
          <a:ext cx="7993062" cy="1635125"/>
        </p:xfrm>
        <a:graphic>
          <a:graphicData uri="http://schemas.openxmlformats.org/presentationml/2006/ole">
            <mc:AlternateContent xmlns:mc="http://schemas.openxmlformats.org/markup-compatibility/2006">
              <mc:Choice xmlns:v="urn:schemas-microsoft-com:vml" Requires="v">
                <p:oleObj r:id="rId2" imgW="3723810" imgH="762106" progId="PBrush">
                  <p:embed/>
                </p:oleObj>
              </mc:Choice>
              <mc:Fallback>
                <p:oleObj r:id="rId2" imgW="3723810" imgH="762106" progId="PBrush">
                  <p:embed/>
                  <p:pic>
                    <p:nvPicPr>
                      <p:cNvPr id="103429"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467" y="4281261"/>
                        <a:ext cx="7993062"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426830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125538"/>
            <a:ext cx="9036050" cy="52562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SB    DB 0</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MOV CL, 2</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SHL AH, 1	   </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×2</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MOV SB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AH	   </a:t>
            </a:r>
            <a:r>
              <a:rPr lang="zh-CN" altLang="en-US" sz="2400" dirty="0">
                <a:latin typeface="楷体" panose="02010609060101010101" pitchFamily="49" charset="-122"/>
                <a:ea typeface="楷体" panose="02010609060101010101" pitchFamily="49" charset="-122"/>
              </a:rPr>
              <a:t>；暂存</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百位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SHL AH, CL	   </a:t>
            </a:r>
            <a:r>
              <a:rPr lang="zh-CN" altLang="en-US" sz="2400" dirty="0">
                <a:latin typeface="楷体" panose="02010609060101010101" pitchFamily="49" charset="-122"/>
                <a:ea typeface="楷体" panose="02010609060101010101" pitchFamily="49" charset="-122"/>
              </a:rPr>
              <a:t>；百位再乘以</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得</a:t>
            </a:r>
            <a:r>
              <a:rPr lang="en-US" altLang="zh-CN" sz="2400" dirty="0">
                <a:latin typeface="楷体" panose="02010609060101010101" pitchFamily="49" charset="-122"/>
                <a:ea typeface="楷体" panose="02010609060101010101" pitchFamily="49" charset="-122"/>
              </a:rPr>
              <a:t>2</a:t>
            </a:r>
            <a:r>
              <a:rPr lang="en-US" altLang="zh-CN" sz="2400" baseline="300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百位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ADD AH</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SB	   </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en-US" altLang="zh-CN" sz="2400" baseline="300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百位得</a:t>
            </a:r>
            <a:r>
              <a:rPr lang="en-US" altLang="zh-CN" sz="2400" dirty="0">
                <a:latin typeface="楷体" panose="02010609060101010101" pitchFamily="49" charset="-122"/>
                <a:ea typeface="楷体" panose="02010609060101010101" pitchFamily="49" charset="-122"/>
              </a:rPr>
              <a:t>10</a:t>
            </a:r>
            <a:r>
              <a:rPr lang="zh-CN" altLang="en-US" sz="2400" dirty="0">
                <a:latin typeface="楷体" panose="02010609060101010101" pitchFamily="49" charset="-122"/>
                <a:ea typeface="楷体" panose="02010609060101010101" pitchFamily="49" charset="-122"/>
              </a:rPr>
              <a:t>百位  </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MOV SB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AL     </a:t>
            </a:r>
            <a:r>
              <a:rPr lang="zh-CN" altLang="en-US" sz="2400" dirty="0">
                <a:latin typeface="楷体" panose="02010609060101010101" pitchFamily="49" charset="-122"/>
                <a:ea typeface="楷体" panose="02010609060101010101" pitchFamily="49" charset="-122"/>
              </a:rPr>
              <a:t>；暂存十位和个位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SHR AL</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CL     </a:t>
            </a:r>
            <a:r>
              <a:rPr lang="zh-CN" altLang="en-US" sz="2400" dirty="0">
                <a:latin typeface="楷体" panose="02010609060101010101" pitchFamily="49" charset="-122"/>
                <a:ea typeface="楷体" panose="02010609060101010101" pitchFamily="49" charset="-122"/>
              </a:rPr>
              <a:t>；取十位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SHR AL</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CL</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ADD AH</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AL     </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10</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十位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MOV AL, SB     </a:t>
            </a:r>
            <a:r>
              <a:rPr lang="zh-CN" altLang="en-US" sz="2400" dirty="0">
                <a:latin typeface="楷体" panose="02010609060101010101" pitchFamily="49" charset="-122"/>
                <a:ea typeface="楷体" panose="02010609060101010101" pitchFamily="49" charset="-122"/>
              </a:rPr>
              <a:t>；十位和个位送</a:t>
            </a:r>
            <a:r>
              <a:rPr lang="en-US" altLang="zh-CN" sz="2400" dirty="0">
                <a:latin typeface="楷体" panose="02010609060101010101" pitchFamily="49" charset="-122"/>
                <a:ea typeface="楷体" panose="02010609060101010101" pitchFamily="49" charset="-122"/>
              </a:rPr>
              <a:t>AL</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SHL AH, 1      </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10</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十位）</a:t>
            </a:r>
            <a:r>
              <a:rPr lang="zh-CN" altLang="en-US" sz="2400" dirty="0">
                <a:latin typeface="楷体" panose="02010609060101010101" pitchFamily="49" charset="-122"/>
                <a:ea typeface="楷体" panose="02010609060101010101" pitchFamily="49" charset="-122"/>
                <a:sym typeface="Symbol" panose="05050102010706020507" pitchFamily="18" charset="2"/>
              </a:rPr>
              <a:t></a:t>
            </a:r>
            <a:r>
              <a:rPr lang="en-US" altLang="zh-CN" sz="2400" dirty="0">
                <a:latin typeface="楷体" panose="02010609060101010101" pitchFamily="49" charset="-122"/>
                <a:ea typeface="楷体" panose="02010609060101010101" pitchFamily="49" charset="-122"/>
                <a:sym typeface="Symbol" panose="05050102010706020507" pitchFamily="18" charset="2"/>
              </a:rPr>
              <a:t>2</a:t>
            </a:r>
            <a:endParaRPr lang="en-US" altLang="zh-CN" sz="2400" dirty="0">
              <a:latin typeface="楷体" panose="02010609060101010101" pitchFamily="49" charset="-122"/>
              <a:ea typeface="楷体" panose="02010609060101010101" pitchFamily="49" charset="-122"/>
            </a:endParaRP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MOV SB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AH </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SHL AH, CL</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ADD SB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AH	   </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en-US" altLang="zh-CN" sz="2400" baseline="30000" dirty="0">
                <a:latin typeface="楷体" panose="02010609060101010101" pitchFamily="49" charset="-122"/>
                <a:ea typeface="楷体" panose="02010609060101010101" pitchFamily="49" charset="-122"/>
              </a:rPr>
              <a:t>3</a:t>
            </a:r>
            <a:r>
              <a:rPr lang="en-US" altLang="zh-CN" sz="2400" dirty="0">
                <a:latin typeface="楷体" panose="02010609060101010101" pitchFamily="49" charset="-122"/>
                <a:ea typeface="楷体" panose="02010609060101010101" pitchFamily="49" charset="-122"/>
              </a:rPr>
              <a:t>(10</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十位</a:t>
            </a:r>
            <a:r>
              <a:rPr lang="en-US" altLang="zh-CN" sz="2400" dirty="0">
                <a:latin typeface="楷体" panose="02010609060101010101" pitchFamily="49" charset="-122"/>
                <a:ea typeface="楷体" panose="02010609060101010101" pitchFamily="49" charset="-122"/>
              </a:rPr>
              <a:t>)+2(10</a:t>
            </a:r>
            <a:r>
              <a:rPr lang="zh-CN" altLang="en-US" sz="2400" dirty="0">
                <a:latin typeface="楷体" panose="02010609060101010101" pitchFamily="49" charset="-122"/>
                <a:ea typeface="楷体" panose="02010609060101010101" pitchFamily="49" charset="-122"/>
              </a:rPr>
              <a:t>百位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十位</a:t>
            </a:r>
            <a:r>
              <a:rPr lang="en-US" altLang="zh-CN" sz="2400" dirty="0">
                <a:latin typeface="楷体" panose="02010609060101010101" pitchFamily="49" charset="-122"/>
                <a:ea typeface="楷体" panose="02010609060101010101" pitchFamily="49" charset="-122"/>
              </a:rPr>
              <a:t>)</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AND AL, 0FH    </a:t>
            </a:r>
            <a:r>
              <a:rPr lang="zh-CN" altLang="en-US" sz="2400" dirty="0">
                <a:latin typeface="楷体" panose="02010609060101010101" pitchFamily="49" charset="-122"/>
                <a:ea typeface="楷体" panose="02010609060101010101" pitchFamily="49" charset="-122"/>
              </a:rPr>
              <a:t>；取个位</a:t>
            </a:r>
          </a:p>
          <a:p>
            <a:pPr marL="922338" indent="0">
              <a:lnSpc>
                <a:spcPct val="80000"/>
              </a:lnSpc>
              <a:spcBef>
                <a:spcPct val="0"/>
              </a:spcBef>
              <a:buNone/>
            </a:pPr>
            <a:r>
              <a:rPr lang="en-US" altLang="zh-CN" sz="2400" dirty="0">
                <a:latin typeface="楷体" panose="02010609060101010101" pitchFamily="49" charset="-122"/>
                <a:ea typeface="楷体" panose="02010609060101010101" pitchFamily="49" charset="-122"/>
              </a:rPr>
              <a:t>ADD SB, AL     </a:t>
            </a:r>
            <a:r>
              <a:rPr lang="zh-CN" altLang="en-US" sz="2400" dirty="0">
                <a:latin typeface="楷体" panose="02010609060101010101" pitchFamily="49" charset="-122"/>
                <a:ea typeface="楷体" panose="02010609060101010101" pitchFamily="49" charset="-122"/>
              </a:rPr>
              <a:t>；加上个位</a:t>
            </a:r>
          </a:p>
        </p:txBody>
      </p:sp>
    </p:spTree>
    <p:extLst>
      <p:ext uri="{BB962C8B-B14F-4D97-AF65-F5344CB8AC3E}">
        <p14:creationId xmlns:p14="http://schemas.microsoft.com/office/powerpoint/2010/main" val="8645684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常用伪指令</a:t>
            </a:r>
          </a:p>
        </p:txBody>
      </p:sp>
      <p:sp>
        <p:nvSpPr>
          <p:cNvPr id="3" name="矩形 3"/>
          <p:cNvSpPr>
            <a:spLocks noChangeArrowheads="1"/>
          </p:cNvSpPr>
          <p:nvPr/>
        </p:nvSpPr>
        <p:spPr bwMode="auto">
          <a:xfrm>
            <a:off x="863599" y="1474400"/>
            <a:ext cx="7694475" cy="222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en-US" sz="2400" b="0" dirty="0">
                <a:solidFill>
                  <a:srgbClr val="FF0000"/>
                </a:solidFill>
                <a:latin typeface="楷体" panose="02010609060101010101" pitchFamily="49" charset="-122"/>
                <a:ea typeface="楷体" panose="02010609060101010101" pitchFamily="49" charset="-122"/>
              </a:rPr>
              <a:t>    伪指令</a:t>
            </a:r>
            <a:r>
              <a:rPr lang="zh-CN" altLang="en-US" sz="2400" b="0" dirty="0">
                <a:solidFill>
                  <a:srgbClr val="333333"/>
                </a:solidFill>
                <a:latin typeface="楷体" panose="02010609060101010101" pitchFamily="49" charset="-122"/>
                <a:ea typeface="楷体" panose="02010609060101010101" pitchFamily="49" charset="-122"/>
              </a:rPr>
              <a:t>（</a:t>
            </a:r>
            <a:r>
              <a:rPr lang="en-US" altLang="zh-CN" sz="2400" b="0" dirty="0">
                <a:solidFill>
                  <a:srgbClr val="333333"/>
                </a:solidFill>
                <a:latin typeface="楷体" panose="02010609060101010101" pitchFamily="49" charset="-122"/>
                <a:ea typeface="楷体" panose="02010609060101010101" pitchFamily="49" charset="-122"/>
              </a:rPr>
              <a:t>Pseudo instruction</a:t>
            </a:r>
            <a:r>
              <a:rPr lang="zh-CN" altLang="en-US" sz="2400" b="0" dirty="0">
                <a:solidFill>
                  <a:srgbClr val="333333"/>
                </a:solidFill>
                <a:latin typeface="楷体" panose="02010609060101010101" pitchFamily="49" charset="-122"/>
                <a:ea typeface="楷体" panose="02010609060101010101" pitchFamily="49" charset="-122"/>
              </a:rPr>
              <a:t>）是用于告诉</a:t>
            </a:r>
            <a:r>
              <a:rPr lang="zh-CN" altLang="en-US" sz="2400" b="0" dirty="0">
                <a:latin typeface="楷体" panose="02010609060101010101" pitchFamily="49" charset="-122"/>
                <a:ea typeface="楷体" panose="02010609060101010101" pitchFamily="49" charset="-122"/>
              </a:rPr>
              <a:t>汇编程序</a:t>
            </a:r>
            <a:r>
              <a:rPr lang="zh-CN" altLang="en-US" sz="2400" b="0" dirty="0">
                <a:solidFill>
                  <a:srgbClr val="333333"/>
                </a:solidFill>
                <a:latin typeface="楷体" panose="02010609060101010101" pitchFamily="49" charset="-122"/>
                <a:ea typeface="楷体" panose="02010609060101010101" pitchFamily="49" charset="-122"/>
              </a:rPr>
              <a:t>如何进行汇编的指令。它既不控制机器的操作也不被汇编成机器代码，只能为汇编程序所识别并指导汇编如何进行。</a:t>
            </a:r>
            <a:endParaRPr lang="zh-CN" altLang="en-US" sz="2400" dirty="0">
              <a:solidFill>
                <a:schemeClr val="tx2"/>
              </a:solidFill>
              <a:latin typeface="楷体" panose="02010609060101010101" pitchFamily="49" charset="-122"/>
              <a:ea typeface="楷体" panose="02010609060101010101" pitchFamily="49" charset="-122"/>
            </a:endParaRPr>
          </a:p>
        </p:txBody>
      </p:sp>
      <p:sp>
        <p:nvSpPr>
          <p:cNvPr id="4" name="矩形 4"/>
          <p:cNvSpPr>
            <a:spLocks noChangeArrowheads="1"/>
          </p:cNvSpPr>
          <p:nvPr/>
        </p:nvSpPr>
        <p:spPr bwMode="auto">
          <a:xfrm>
            <a:off x="796786" y="4176264"/>
            <a:ext cx="7761288"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0"/>
              </a:spcBef>
            </a:pPr>
            <a:r>
              <a:rPr lang="zh-CN" altLang="en-US" sz="2400" dirty="0">
                <a:latin typeface="楷体" panose="02010609060101010101" pitchFamily="49" charset="-122"/>
                <a:ea typeface="楷体" panose="02010609060101010101" pitchFamily="49" charset="-122"/>
              </a:rPr>
              <a:t>    指令是在执行阶段发挥作用的，由</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来执行。</a:t>
            </a:r>
          </a:p>
          <a:p>
            <a:pPr>
              <a:lnSpc>
                <a:spcPct val="150000"/>
              </a:lnSpc>
              <a:spcBef>
                <a:spcPct val="0"/>
              </a:spcBef>
            </a:pPr>
            <a:r>
              <a:rPr lang="zh-CN" altLang="en-US" sz="2400" dirty="0">
                <a:latin typeface="楷体" panose="02010609060101010101" pitchFamily="49" charset="-122"/>
                <a:ea typeface="楷体" panose="02010609060101010101" pitchFamily="49" charset="-122"/>
              </a:rPr>
              <a:t>    伪指令是在编译阶段发挥作用的，由汇编器（</a:t>
            </a:r>
            <a:r>
              <a:rPr lang="en-US" altLang="zh-CN" sz="2400" dirty="0">
                <a:latin typeface="楷体" panose="02010609060101010101" pitchFamily="49" charset="-122"/>
                <a:ea typeface="楷体" panose="02010609060101010101" pitchFamily="49" charset="-122"/>
              </a:rPr>
              <a:t>MASM</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TASM</a:t>
            </a:r>
            <a:r>
              <a:rPr lang="zh-CN" altLang="en-US" sz="2400" dirty="0">
                <a:latin typeface="楷体" panose="02010609060101010101" pitchFamily="49" charset="-122"/>
                <a:ea typeface="楷体" panose="02010609060101010101" pitchFamily="49" charset="-122"/>
              </a:rPr>
              <a:t>等）来解释。</a:t>
            </a:r>
          </a:p>
        </p:txBody>
      </p:sp>
    </p:spTree>
    <p:extLst>
      <p:ext uri="{BB962C8B-B14F-4D97-AF65-F5344CB8AC3E}">
        <p14:creationId xmlns:p14="http://schemas.microsoft.com/office/powerpoint/2010/main" val="28950133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7.4.1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过程的定义</a:t>
            </a:r>
          </a:p>
        </p:txBody>
      </p:sp>
      <p:sp>
        <p:nvSpPr>
          <p:cNvPr id="3" name="Rectangle 3"/>
          <p:cNvSpPr txBox="1">
            <a:spLocks noChangeArrowheads="1"/>
          </p:cNvSpPr>
          <p:nvPr/>
        </p:nvSpPr>
        <p:spPr>
          <a:xfrm>
            <a:off x="528453" y="1544546"/>
            <a:ext cx="8462962" cy="48651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 typeface="Wingdings" panose="05000000000000000000" pitchFamily="2" charset="2"/>
              <a:buNone/>
            </a:pPr>
            <a:r>
              <a:rPr lang="zh-CN" altLang="en-US" sz="2700" dirty="0">
                <a:latin typeface="楷体" panose="02010609060101010101" pitchFamily="49" charset="-122"/>
                <a:ea typeface="楷体" panose="02010609060101010101" pitchFamily="49" charset="-122"/>
              </a:rPr>
              <a:t>格式：过程名   </a:t>
            </a:r>
            <a:r>
              <a:rPr lang="en-US" altLang="zh-CN" sz="2700" dirty="0">
                <a:solidFill>
                  <a:srgbClr val="FF0066"/>
                </a:solidFill>
                <a:latin typeface="楷体" panose="02010609060101010101" pitchFamily="49" charset="-122"/>
                <a:ea typeface="楷体" panose="02010609060101010101" pitchFamily="49" charset="-122"/>
              </a:rPr>
              <a:t>PROC</a:t>
            </a:r>
            <a:r>
              <a:rPr lang="en-US" altLang="zh-CN" sz="2700" dirty="0">
                <a:latin typeface="楷体" panose="02010609060101010101" pitchFamily="49" charset="-122"/>
                <a:ea typeface="楷体" panose="02010609060101010101" pitchFamily="49" charset="-122"/>
              </a:rPr>
              <a:t>[NEAR]</a:t>
            </a:r>
            <a:r>
              <a:rPr lang="zh-CN" altLang="en-US" sz="2700" dirty="0">
                <a:latin typeface="楷体" panose="02010609060101010101" pitchFamily="49" charset="-122"/>
                <a:ea typeface="楷体" panose="02010609060101010101" pitchFamily="49" charset="-122"/>
              </a:rPr>
              <a:t>或</a:t>
            </a:r>
            <a:r>
              <a:rPr lang="en-US" altLang="zh-CN" sz="2700" dirty="0">
                <a:latin typeface="楷体" panose="02010609060101010101" pitchFamily="49" charset="-122"/>
                <a:ea typeface="楷体" panose="02010609060101010101" pitchFamily="49" charset="-122"/>
              </a:rPr>
              <a:t>FAR</a:t>
            </a:r>
            <a:br>
              <a:rPr lang="en-US" altLang="zh-CN" sz="2700" dirty="0">
                <a:latin typeface="楷体" panose="02010609060101010101" pitchFamily="49" charset="-122"/>
                <a:ea typeface="楷体" panose="02010609060101010101" pitchFamily="49" charset="-122"/>
              </a:rPr>
            </a:br>
            <a:r>
              <a:rPr lang="en-US" altLang="zh-CN" sz="2700" dirty="0">
                <a:latin typeface="楷体" panose="02010609060101010101" pitchFamily="49" charset="-122"/>
                <a:ea typeface="楷体" panose="02010609060101010101" pitchFamily="49" charset="-122"/>
              </a:rPr>
              <a:t>              </a:t>
            </a:r>
            <a:br>
              <a:rPr lang="zh-CN" altLang="en-US" sz="2700" dirty="0">
                <a:latin typeface="楷体" panose="02010609060101010101" pitchFamily="49" charset="-122"/>
                <a:ea typeface="楷体" panose="02010609060101010101" pitchFamily="49" charset="-122"/>
              </a:rPr>
            </a:br>
            <a:r>
              <a:rPr lang="zh-CN" altLang="en-US" sz="2700" dirty="0">
                <a:latin typeface="楷体" panose="02010609060101010101" pitchFamily="49" charset="-122"/>
                <a:ea typeface="楷体" panose="02010609060101010101" pitchFamily="49" charset="-122"/>
              </a:rPr>
              <a:t>     过程名   </a:t>
            </a:r>
            <a:r>
              <a:rPr lang="en-US" altLang="zh-CN" sz="2700" dirty="0">
                <a:solidFill>
                  <a:srgbClr val="FF0066"/>
                </a:solidFill>
                <a:latin typeface="楷体" panose="02010609060101010101" pitchFamily="49" charset="-122"/>
                <a:ea typeface="楷体" panose="02010609060101010101" pitchFamily="49" charset="-122"/>
              </a:rPr>
              <a:t>ENDP</a:t>
            </a:r>
          </a:p>
          <a:p>
            <a:pPr>
              <a:spcBef>
                <a:spcPct val="0"/>
              </a:spcBef>
              <a:buFont typeface="Wingdings" panose="05000000000000000000" pitchFamily="2" charset="2"/>
              <a:buNone/>
            </a:pPr>
            <a:r>
              <a:rPr lang="zh-CN" altLang="en-US" sz="2600" dirty="0">
                <a:latin typeface="楷体" panose="02010609060101010101" pitchFamily="49" charset="-122"/>
                <a:ea typeface="楷体" panose="02010609060101010101" pitchFamily="49" charset="-122"/>
              </a:rPr>
              <a:t>注：</a:t>
            </a:r>
          </a:p>
          <a:p>
            <a:pPr>
              <a:lnSpc>
                <a:spcPct val="130000"/>
              </a:lnSpc>
              <a:spcBef>
                <a:spcPct val="0"/>
              </a:spcBef>
              <a:buClr>
                <a:srgbClr val="00B0F0"/>
              </a:buClr>
              <a:buSzPct val="80000"/>
              <a:buFont typeface="Wingdings" panose="05000000000000000000" pitchFamily="2" charset="2"/>
              <a:buChar char="Ø"/>
            </a:pPr>
            <a:r>
              <a:rPr lang="en-US" altLang="zh-CN" sz="2600" dirty="0">
                <a:latin typeface="楷体" panose="02010609060101010101" pitchFamily="49" charset="-122"/>
                <a:ea typeface="楷体" panose="02010609060101010101" pitchFamily="49" charset="-122"/>
              </a:rPr>
              <a:t>PROC</a:t>
            </a:r>
            <a:r>
              <a:rPr lang="zh-CN" altLang="en-US" sz="2600" dirty="0">
                <a:latin typeface="楷体" panose="02010609060101010101" pitchFamily="49" charset="-122"/>
                <a:ea typeface="楷体" panose="02010609060101010101" pitchFamily="49" charset="-122"/>
              </a:rPr>
              <a:t>和</a:t>
            </a:r>
            <a:r>
              <a:rPr lang="en-US" altLang="zh-CN" sz="2600" dirty="0">
                <a:latin typeface="楷体" panose="02010609060101010101" pitchFamily="49" charset="-122"/>
                <a:ea typeface="楷体" panose="02010609060101010101" pitchFamily="49" charset="-122"/>
              </a:rPr>
              <a:t>ENDP</a:t>
            </a:r>
            <a:r>
              <a:rPr lang="zh-CN" altLang="en-US" sz="2600" dirty="0">
                <a:latin typeface="楷体" panose="02010609060101010101" pitchFamily="49" charset="-122"/>
                <a:ea typeface="楷体" panose="02010609060101010101" pitchFamily="49" charset="-122"/>
              </a:rPr>
              <a:t>必须成对出现</a:t>
            </a:r>
          </a:p>
          <a:p>
            <a:pPr>
              <a:lnSpc>
                <a:spcPct val="130000"/>
              </a:lnSpc>
              <a:spcBef>
                <a:spcPct val="0"/>
              </a:spcBef>
              <a:buClr>
                <a:srgbClr val="00B0F0"/>
              </a:buClr>
              <a:buSzPct val="80000"/>
              <a:buFont typeface="Wingdings" panose="05000000000000000000" pitchFamily="2" charset="2"/>
              <a:buChar char="Ø"/>
            </a:pPr>
            <a:r>
              <a:rPr lang="en-US" altLang="zh-CN" sz="2600" dirty="0">
                <a:latin typeface="楷体" panose="02010609060101010101" pitchFamily="49" charset="-122"/>
                <a:ea typeface="楷体" panose="02010609060101010101" pitchFamily="49" charset="-122"/>
              </a:rPr>
              <a:t>PROC</a:t>
            </a:r>
            <a:r>
              <a:rPr lang="zh-CN" altLang="en-US" sz="2600" dirty="0">
                <a:latin typeface="楷体" panose="02010609060101010101" pitchFamily="49" charset="-122"/>
                <a:ea typeface="楷体" panose="02010609060101010101" pitchFamily="49" charset="-122"/>
              </a:rPr>
              <a:t>和</a:t>
            </a:r>
            <a:r>
              <a:rPr lang="en-US" altLang="zh-CN" sz="2600" dirty="0">
                <a:latin typeface="楷体" panose="02010609060101010101" pitchFamily="49" charset="-122"/>
                <a:ea typeface="楷体" panose="02010609060101010101" pitchFamily="49" charset="-122"/>
              </a:rPr>
              <a:t>ENDP</a:t>
            </a:r>
            <a:r>
              <a:rPr lang="zh-CN" altLang="en-US" sz="2600" dirty="0">
                <a:latin typeface="楷体" panose="02010609060101010101" pitchFamily="49" charset="-122"/>
                <a:ea typeface="楷体" panose="02010609060101010101" pitchFamily="49" charset="-122"/>
              </a:rPr>
              <a:t>前的过程名必须有且相同</a:t>
            </a:r>
            <a:endParaRPr lang="en-US" altLang="zh-CN" sz="2600" dirty="0">
              <a:latin typeface="楷体" panose="02010609060101010101" pitchFamily="49" charset="-122"/>
              <a:ea typeface="楷体" panose="02010609060101010101" pitchFamily="49" charset="-122"/>
            </a:endParaRPr>
          </a:p>
          <a:p>
            <a:pPr>
              <a:lnSpc>
                <a:spcPct val="130000"/>
              </a:lnSpc>
              <a:spcBef>
                <a:spcPct val="0"/>
              </a:spcBef>
              <a:buClr>
                <a:srgbClr val="00B0F0"/>
              </a:buClr>
              <a:buSzPct val="80000"/>
              <a:buFont typeface="Wingdings" panose="05000000000000000000" pitchFamily="2" charset="2"/>
              <a:buChar char="Ø"/>
            </a:pPr>
            <a:r>
              <a:rPr lang="zh-CN" altLang="en-US" sz="2600" dirty="0">
                <a:latin typeface="楷体" panose="02010609060101010101" pitchFamily="49" charset="-122"/>
                <a:ea typeface="楷体" panose="02010609060101010101" pitchFamily="49" charset="-122"/>
              </a:rPr>
              <a:t>过程的类型由</a:t>
            </a:r>
            <a:r>
              <a:rPr lang="en-US" altLang="zh-CN" sz="2600" dirty="0">
                <a:latin typeface="楷体" panose="02010609060101010101" pitchFamily="49" charset="-122"/>
                <a:ea typeface="楷体" panose="02010609060101010101" pitchFamily="49" charset="-122"/>
              </a:rPr>
              <a:t>PROC</a:t>
            </a:r>
            <a:r>
              <a:rPr lang="zh-CN" altLang="en-US" sz="2600" dirty="0">
                <a:latin typeface="楷体" panose="02010609060101010101" pitchFamily="49" charset="-122"/>
                <a:ea typeface="楷体" panose="02010609060101010101" pitchFamily="49" charset="-122"/>
              </a:rPr>
              <a:t>的操作数确定，默认为</a:t>
            </a:r>
            <a:r>
              <a:rPr lang="en-US" altLang="zh-CN" sz="2600" dirty="0">
                <a:latin typeface="楷体" panose="02010609060101010101" pitchFamily="49" charset="-122"/>
                <a:ea typeface="楷体" panose="02010609060101010101" pitchFamily="49" charset="-122"/>
              </a:rPr>
              <a:t>NEAR</a:t>
            </a:r>
            <a:r>
              <a:rPr lang="zh-CN" altLang="en-US" sz="2600" dirty="0">
                <a:latin typeface="楷体" panose="02010609060101010101" pitchFamily="49" charset="-122"/>
                <a:ea typeface="楷体" panose="02010609060101010101" pitchFamily="49" charset="-122"/>
              </a:rPr>
              <a:t>类型</a:t>
            </a:r>
            <a:endParaRPr lang="en-US" altLang="zh-CN" sz="2600" dirty="0">
              <a:latin typeface="楷体" panose="02010609060101010101" pitchFamily="49" charset="-122"/>
              <a:ea typeface="楷体" panose="02010609060101010101" pitchFamily="49" charset="-122"/>
            </a:endParaRPr>
          </a:p>
          <a:p>
            <a:pPr>
              <a:lnSpc>
                <a:spcPct val="130000"/>
              </a:lnSpc>
              <a:spcBef>
                <a:spcPct val="0"/>
              </a:spcBef>
              <a:buClr>
                <a:srgbClr val="00B0F0"/>
              </a:buClr>
              <a:buSzPct val="80000"/>
              <a:buFont typeface="Wingdings" panose="05000000000000000000" pitchFamily="2" charset="2"/>
              <a:buChar char="Ø"/>
            </a:pPr>
            <a:r>
              <a:rPr lang="zh-CN" altLang="en-US" sz="2600" dirty="0">
                <a:latin typeface="楷体" panose="02010609060101010101" pitchFamily="49" charset="-122"/>
                <a:ea typeface="楷体" panose="02010609060101010101" pitchFamily="49" charset="-122"/>
              </a:rPr>
              <a:t>由过程定义伪指令定义的子程序，通过</a:t>
            </a:r>
            <a:r>
              <a:rPr lang="en-US" altLang="zh-CN" sz="2600" dirty="0">
                <a:latin typeface="楷体" panose="02010609060101010101" pitchFamily="49" charset="-122"/>
                <a:ea typeface="楷体" panose="02010609060101010101" pitchFamily="49" charset="-122"/>
              </a:rPr>
              <a:t>CALL</a:t>
            </a:r>
            <a:r>
              <a:rPr lang="zh-CN" altLang="en-US" sz="2600" dirty="0">
                <a:latin typeface="楷体" panose="02010609060101010101" pitchFamily="49" charset="-122"/>
                <a:ea typeface="楷体" panose="02010609060101010101" pitchFamily="49" charset="-122"/>
              </a:rPr>
              <a:t>指令调用</a:t>
            </a:r>
            <a:endParaRPr lang="en-US" altLang="zh-CN" sz="2600" dirty="0">
              <a:latin typeface="楷体" panose="02010609060101010101" pitchFamily="49" charset="-122"/>
              <a:ea typeface="楷体" panose="02010609060101010101" pitchFamily="49" charset="-122"/>
            </a:endParaRPr>
          </a:p>
          <a:p>
            <a:pPr>
              <a:lnSpc>
                <a:spcPct val="130000"/>
              </a:lnSpc>
              <a:spcBef>
                <a:spcPct val="0"/>
              </a:spcBef>
              <a:buClr>
                <a:srgbClr val="00B0F0"/>
              </a:buClr>
              <a:buSzPct val="80000"/>
              <a:buFont typeface="Wingdings" panose="05000000000000000000" pitchFamily="2" charset="2"/>
              <a:buChar char="Ø"/>
            </a:pPr>
            <a:r>
              <a:rPr lang="en-US" altLang="zh-CN" sz="2600" dirty="0">
                <a:latin typeface="楷体" panose="02010609060101010101" pitchFamily="49" charset="-122"/>
                <a:ea typeface="楷体" panose="02010609060101010101" pitchFamily="49" charset="-122"/>
              </a:rPr>
              <a:t>PROC</a:t>
            </a:r>
            <a:r>
              <a:rPr lang="zh-CN" altLang="en-US" sz="2600" dirty="0">
                <a:latin typeface="楷体" panose="02010609060101010101" pitchFamily="49" charset="-122"/>
                <a:ea typeface="楷体" panose="02010609060101010101" pitchFamily="49" charset="-122"/>
              </a:rPr>
              <a:t>和</a:t>
            </a:r>
            <a:r>
              <a:rPr lang="en-US" altLang="zh-CN" sz="2600" dirty="0">
                <a:latin typeface="楷体" panose="02010609060101010101" pitchFamily="49" charset="-122"/>
                <a:ea typeface="楷体" panose="02010609060101010101" pitchFamily="49" charset="-122"/>
              </a:rPr>
              <a:t>ENDP</a:t>
            </a:r>
            <a:r>
              <a:rPr lang="zh-CN" altLang="en-US" sz="2600" dirty="0">
                <a:latin typeface="楷体" panose="02010609060101010101" pitchFamily="49" charset="-122"/>
                <a:ea typeface="楷体" panose="02010609060101010101" pitchFamily="49" charset="-122"/>
              </a:rPr>
              <a:t>之间至少有一条子程序返回指令</a:t>
            </a:r>
            <a:r>
              <a:rPr lang="en-US" altLang="zh-CN" sz="2600" dirty="0">
                <a:latin typeface="楷体" panose="02010609060101010101" pitchFamily="49" charset="-122"/>
                <a:ea typeface="楷体" panose="02010609060101010101" pitchFamily="49" charset="-122"/>
              </a:rPr>
              <a:t>RET</a:t>
            </a:r>
            <a:r>
              <a:rPr lang="zh-CN" altLang="en-US" sz="2600" dirty="0">
                <a:latin typeface="楷体" panose="02010609060101010101" pitchFamily="49" charset="-122"/>
                <a:ea typeface="楷体" panose="02010609060101010101" pitchFamily="49" charset="-122"/>
              </a:rPr>
              <a:t>，以返回调用它的程序</a:t>
            </a:r>
          </a:p>
        </p:txBody>
      </p:sp>
    </p:spTree>
    <p:extLst>
      <p:ext uri="{BB962C8B-B14F-4D97-AF65-F5344CB8AC3E}">
        <p14:creationId xmlns:p14="http://schemas.microsoft.com/office/powerpoint/2010/main" val="23680129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7.4.2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微处理器选择伪指令</a:t>
            </a:r>
          </a:p>
        </p:txBody>
      </p:sp>
      <p:sp>
        <p:nvSpPr>
          <p:cNvPr id="3" name="Rectangle 3"/>
          <p:cNvSpPr txBox="1">
            <a:spLocks noChangeArrowheads="1"/>
          </p:cNvSpPr>
          <p:nvPr/>
        </p:nvSpPr>
        <p:spPr>
          <a:xfrm>
            <a:off x="404166" y="1179219"/>
            <a:ext cx="8229600" cy="49996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微处理器选择伪指令一般位于源程序的开始处，以确定微处理器的指令集，它告诉汇编程序当前的源程序是针对哪种微处理器而执行的。各种微处理器选择伪指令的格式和意义如下：</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：只接受</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和协处理器</a:t>
            </a:r>
            <a:r>
              <a:rPr lang="en-US" altLang="zh-CN" sz="2400" dirty="0">
                <a:latin typeface="楷体" panose="02010609060101010101" pitchFamily="49" charset="-122"/>
                <a:ea typeface="楷体" panose="02010609060101010101" pitchFamily="49" charset="-122"/>
              </a:rPr>
              <a:t>8087</a:t>
            </a:r>
            <a:r>
              <a:rPr lang="zh-CN" altLang="en-US" sz="2400" dirty="0">
                <a:latin typeface="楷体" panose="02010609060101010101" pitchFamily="49" charset="-122"/>
                <a:ea typeface="楷体" panose="02010609060101010101" pitchFamily="49" charset="-122"/>
              </a:rPr>
              <a:t>的指令。这是默认方式，可缺省。</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.286/.286P </a:t>
            </a:r>
            <a:r>
              <a:rPr lang="zh-CN" altLang="en-US" sz="2400" dirty="0">
                <a:latin typeface="楷体" panose="02010609060101010101" pitchFamily="49" charset="-122"/>
                <a:ea typeface="楷体" panose="02010609060101010101" pitchFamily="49" charset="-122"/>
              </a:rPr>
              <a:t>：可接受</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80286</a:t>
            </a:r>
            <a:r>
              <a:rPr lang="zh-CN" altLang="en-US" sz="2400" dirty="0">
                <a:latin typeface="楷体" panose="02010609060101010101" pitchFamily="49" charset="-122"/>
                <a:ea typeface="楷体" panose="02010609060101010101" pitchFamily="49" charset="-122"/>
              </a:rPr>
              <a:t>的指令。</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.386/.386P </a:t>
            </a:r>
            <a:r>
              <a:rPr lang="zh-CN" altLang="en-US" sz="2400" dirty="0">
                <a:latin typeface="楷体" panose="02010609060101010101" pitchFamily="49" charset="-122"/>
                <a:ea typeface="楷体" panose="02010609060101010101" pitchFamily="49" charset="-122"/>
              </a:rPr>
              <a:t>：可接受</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80386</a:t>
            </a:r>
            <a:r>
              <a:rPr lang="zh-CN" altLang="en-US" sz="2400" dirty="0">
                <a:latin typeface="楷体" panose="02010609060101010101" pitchFamily="49" charset="-122"/>
                <a:ea typeface="楷体" panose="02010609060101010101" pitchFamily="49" charset="-122"/>
              </a:rPr>
              <a:t>的指令。</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.486/.486P </a:t>
            </a:r>
            <a:r>
              <a:rPr lang="zh-CN" altLang="en-US" sz="2400" dirty="0">
                <a:latin typeface="楷体" panose="02010609060101010101" pitchFamily="49" charset="-122"/>
                <a:ea typeface="楷体" panose="02010609060101010101" pitchFamily="49" charset="-122"/>
              </a:rPr>
              <a:t>：可接受</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80486</a:t>
            </a:r>
            <a:r>
              <a:rPr lang="zh-CN" altLang="en-US" sz="2400" dirty="0">
                <a:latin typeface="楷体" panose="02010609060101010101" pitchFamily="49" charset="-122"/>
                <a:ea typeface="楷体" panose="02010609060101010101" pitchFamily="49" charset="-122"/>
              </a:rPr>
              <a:t>的指令。</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.586/.586P </a:t>
            </a:r>
            <a:r>
              <a:rPr lang="zh-CN" altLang="en-US" sz="2400" dirty="0">
                <a:latin typeface="楷体" panose="02010609060101010101" pitchFamily="49" charset="-122"/>
                <a:ea typeface="楷体" panose="02010609060101010101" pitchFamily="49" charset="-122"/>
              </a:rPr>
              <a:t>：可接受</a:t>
            </a:r>
            <a:r>
              <a:rPr lang="en-US" altLang="zh-CN" sz="2400" dirty="0">
                <a:latin typeface="楷体" panose="02010609060101010101" pitchFamily="49" charset="-122"/>
                <a:ea typeface="楷体" panose="02010609060101010101" pitchFamily="49" charset="-122"/>
              </a:rPr>
              <a:t>8086</a:t>
            </a:r>
            <a:r>
              <a:rPr lang="zh-CN" altLang="en-US"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Pentiun</a:t>
            </a:r>
            <a:r>
              <a:rPr lang="zh-CN" altLang="en-US" sz="2400" dirty="0">
                <a:latin typeface="楷体" panose="02010609060101010101" pitchFamily="49" charset="-122"/>
                <a:ea typeface="楷体" panose="02010609060101010101" pitchFamily="49" charset="-122"/>
              </a:rPr>
              <a:t>的指令。</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不要</a:t>
            </a:r>
            <a:r>
              <a:rPr lang="en-US" altLang="zh-CN" sz="2400" dirty="0">
                <a:latin typeface="楷体" panose="02010609060101010101" pitchFamily="49" charset="-122"/>
                <a:ea typeface="楷体" panose="02010609060101010101" pitchFamily="49" charset="-122"/>
              </a:rPr>
              <a:t>P</a:t>
            </a:r>
            <a:r>
              <a:rPr lang="zh-CN" altLang="en-US" sz="2400" dirty="0">
                <a:latin typeface="楷体" panose="02010609060101010101" pitchFamily="49" charset="-122"/>
                <a:ea typeface="楷体" panose="02010609060101010101" pitchFamily="49" charset="-122"/>
              </a:rPr>
              <a:t>仅接受非保护方式下的特权指令；若还要使用保护方式下的特权指令，则要</a:t>
            </a:r>
            <a:r>
              <a:rPr lang="en-US" altLang="zh-CN" sz="2400" dirty="0">
                <a:latin typeface="楷体" panose="02010609060101010101" pitchFamily="49" charset="-122"/>
                <a:ea typeface="楷体" panose="02010609060101010101" pitchFamily="49" charset="-122"/>
              </a:rPr>
              <a:t>P</a:t>
            </a:r>
            <a:r>
              <a:rPr lang="zh-CN" altLang="en-US" sz="24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5539412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7.4.3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段的定义</a:t>
            </a:r>
          </a:p>
        </p:txBody>
      </p:sp>
      <p:sp>
        <p:nvSpPr>
          <p:cNvPr id="3" name="Rectangle 3"/>
          <p:cNvSpPr txBox="1">
            <a:spLocks noChangeArrowheads="1"/>
          </p:cNvSpPr>
          <p:nvPr/>
        </p:nvSpPr>
        <p:spPr>
          <a:xfrm>
            <a:off x="257452" y="2031892"/>
            <a:ext cx="8886548" cy="34012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09600">
              <a:spcBef>
                <a:spcPct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格式：</a:t>
            </a:r>
            <a:endParaRPr lang="en-US" altLang="zh-CN" sz="2400" dirty="0">
              <a:latin typeface="楷体" panose="02010609060101010101" pitchFamily="49" charset="-122"/>
              <a:ea typeface="楷体" panose="02010609060101010101" pitchFamily="49" charset="-122"/>
            </a:endParaRPr>
          </a:p>
          <a:p>
            <a:pPr marL="892175" indent="-609600">
              <a:spcBef>
                <a:spcPct val="0"/>
              </a:spcBef>
              <a:buFont typeface="Wingdings 2" panose="05020102010507070707" pitchFamily="18" charset="2"/>
              <a:buNone/>
            </a:pPr>
            <a:endParaRPr lang="zh-CN" altLang="en-US" sz="2400" dirty="0">
              <a:latin typeface="楷体" panose="02010609060101010101" pitchFamily="49" charset="-122"/>
              <a:ea typeface="楷体" panose="02010609060101010101" pitchFamily="49" charset="-122"/>
            </a:endParaRPr>
          </a:p>
          <a:p>
            <a:pPr marL="892175" indent="-609600">
              <a:spcBef>
                <a:spcPct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段名  </a:t>
            </a:r>
            <a:r>
              <a:rPr lang="en-US" altLang="zh-CN" sz="2400" dirty="0">
                <a:solidFill>
                  <a:srgbClr val="FF0066"/>
                </a:solidFill>
                <a:latin typeface="楷体" panose="02010609060101010101" pitchFamily="49" charset="-122"/>
                <a:ea typeface="楷体" panose="02010609060101010101" pitchFamily="49" charset="-122"/>
              </a:rPr>
              <a:t>SEGMENT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定位方式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组合方式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字长选择</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类别名</a:t>
            </a:r>
            <a:r>
              <a:rPr lang="en-US" altLang="zh-CN" sz="2400" dirty="0">
                <a:latin typeface="楷体" panose="02010609060101010101" pitchFamily="49" charset="-122"/>
                <a:ea typeface="楷体" panose="02010609060101010101" pitchFamily="49" charset="-122"/>
              </a:rPr>
              <a:t>’]</a:t>
            </a:r>
          </a:p>
          <a:p>
            <a:pPr marL="892175" indent="-609600">
              <a:spcBef>
                <a:spcPct val="0"/>
              </a:spcBef>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rPr>
              <a:t>          </a:t>
            </a:r>
          </a:p>
          <a:p>
            <a:pPr marL="892175" indent="-609600">
              <a:spcBef>
                <a:spcPct val="0"/>
              </a:spcBef>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段名  </a:t>
            </a:r>
            <a:r>
              <a:rPr lang="en-US" altLang="zh-CN" sz="2400" dirty="0">
                <a:solidFill>
                  <a:srgbClr val="FF0066"/>
                </a:solidFill>
                <a:latin typeface="楷体" panose="02010609060101010101" pitchFamily="49" charset="-122"/>
                <a:ea typeface="楷体" panose="02010609060101010101" pitchFamily="49" charset="-122"/>
              </a:rPr>
              <a:t>ENDS</a:t>
            </a:r>
          </a:p>
          <a:p>
            <a:pPr marL="892175" indent="-609600">
              <a:spcBef>
                <a:spcPct val="0"/>
              </a:spcBef>
              <a:buClr>
                <a:srgbClr val="00B0F0"/>
              </a:buClr>
              <a:buSzPct val="80000"/>
            </a:pPr>
            <a:endParaRPr lang="en-US" altLang="zh-CN" sz="3600" dirty="0">
              <a:latin typeface="楷体" panose="02010609060101010101" pitchFamily="49" charset="-122"/>
              <a:ea typeface="楷体" panose="02010609060101010101" pitchFamily="49" charset="-122"/>
            </a:endParaRPr>
          </a:p>
          <a:p>
            <a:pPr marL="892175" indent="-609600">
              <a:lnSpc>
                <a:spcPct val="115000"/>
              </a:lnSpc>
              <a:spcBef>
                <a:spcPct val="15000"/>
              </a:spcBef>
              <a:buClr>
                <a:srgbClr val="00B0F0"/>
              </a:buClr>
              <a:buSzPct val="80000"/>
              <a:buFont typeface="Wingdings" panose="05000000000000000000" pitchFamily="2" charset="2"/>
              <a:buChar char="l"/>
            </a:pPr>
            <a:r>
              <a:rPr lang="en-US" altLang="zh-CN" sz="2400" dirty="0">
                <a:latin typeface="楷体" panose="02010609060101010101" pitchFamily="49" charset="-122"/>
                <a:ea typeface="楷体" panose="02010609060101010101" pitchFamily="49" charset="-122"/>
              </a:rPr>
              <a:t>SEGMENT</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ENDS</a:t>
            </a:r>
            <a:r>
              <a:rPr lang="zh-CN" altLang="en-US" sz="2400" dirty="0">
                <a:latin typeface="楷体" panose="02010609060101010101" pitchFamily="49" charset="-122"/>
                <a:ea typeface="楷体" panose="02010609060101010101" pitchFamily="49" charset="-122"/>
              </a:rPr>
              <a:t>必须成对出现，且前面的“段名”相同</a:t>
            </a:r>
            <a:endParaRPr lang="en-US" altLang="zh-CN" sz="2400" dirty="0">
              <a:latin typeface="楷体" panose="02010609060101010101" pitchFamily="49" charset="-122"/>
              <a:ea typeface="楷体" panose="02010609060101010101" pitchFamily="49" charset="-122"/>
            </a:endParaRPr>
          </a:p>
          <a:p>
            <a:pPr marL="892175" indent="-609600">
              <a:lnSpc>
                <a:spcPct val="115000"/>
              </a:lnSpc>
              <a:spcBef>
                <a:spcPct val="0"/>
              </a:spcBef>
              <a:buClr>
                <a:srgbClr val="00B0F0"/>
              </a:buClr>
              <a:buSzPct val="80000"/>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段名用来表示段地址</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455005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70584" y="1045638"/>
            <a:ext cx="8462963" cy="55060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字长选择</a:t>
            </a:r>
          </a:p>
          <a:p>
            <a:pPr marL="0" indent="0">
              <a:lnSpc>
                <a:spcPct val="120000"/>
              </a:lnSpc>
              <a:buNone/>
            </a:pPr>
            <a:r>
              <a:rPr lang="zh-CN" altLang="en-US" sz="2000" dirty="0">
                <a:latin typeface="楷体" panose="02010609060101010101" pitchFamily="49" charset="-122"/>
                <a:ea typeface="楷体" panose="02010609060101010101" pitchFamily="49" charset="-122"/>
              </a:rPr>
              <a:t>    字长选择用来说明是使用</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位寻址方式还是</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位寻址方式。字长有两种选择：</a:t>
            </a:r>
          </a:p>
          <a:p>
            <a:pPr marL="0" indent="0">
              <a:lnSpc>
                <a:spcPct val="120000"/>
              </a:lnSpc>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USE16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位寻址方式，段地址和偏移地址都是</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位，段内最大寻址空间为</a:t>
            </a:r>
            <a:r>
              <a:rPr lang="en-US" altLang="zh-CN" sz="2000" dirty="0">
                <a:latin typeface="楷体" panose="02010609060101010101" pitchFamily="49" charset="-122"/>
                <a:ea typeface="楷体" panose="02010609060101010101" pitchFamily="49" charset="-122"/>
              </a:rPr>
              <a:t>64KB</a:t>
            </a:r>
            <a:r>
              <a:rPr lang="zh-CN" altLang="en-US" sz="2000" dirty="0">
                <a:latin typeface="楷体" panose="02010609060101010101" pitchFamily="49" charset="-122"/>
                <a:ea typeface="楷体" panose="02010609060101010101" pitchFamily="49" charset="-122"/>
              </a:rPr>
              <a:t>。</a:t>
            </a:r>
          </a:p>
          <a:p>
            <a:pPr marL="0" indent="0">
              <a:lnSpc>
                <a:spcPct val="120000"/>
              </a:lnSpc>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USE32</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位寻址方式，段地址是</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位而偏移地址是</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位，段内最大寻址空间高达</a:t>
            </a:r>
            <a:r>
              <a:rPr lang="en-US" altLang="zh-CN" sz="2000" dirty="0">
                <a:latin typeface="楷体" panose="02010609060101010101" pitchFamily="49" charset="-122"/>
                <a:ea typeface="楷体" panose="02010609060101010101" pitchFamily="49" charset="-122"/>
              </a:rPr>
              <a:t>4GB</a:t>
            </a:r>
            <a:r>
              <a:rPr lang="zh-CN" altLang="en-US" sz="2000" dirty="0">
                <a:latin typeface="楷体" panose="02010609060101010101" pitchFamily="49" charset="-122"/>
                <a:ea typeface="楷体" panose="02010609060101010101" pitchFamily="49" charset="-122"/>
              </a:rPr>
              <a:t>。</a:t>
            </a:r>
          </a:p>
          <a:p>
            <a:pPr marL="0" indent="0">
              <a:lnSpc>
                <a:spcPct val="120000"/>
              </a:lnSpc>
              <a:buNone/>
            </a:pPr>
            <a:r>
              <a:rPr lang="en-US" altLang="zh-CN" sz="2000" dirty="0">
                <a:latin typeface="楷体" panose="02010609060101010101" pitchFamily="49" charset="-122"/>
                <a:ea typeface="楷体" panose="02010609060101010101" pitchFamily="49" charset="-122"/>
              </a:rPr>
              <a:t>    8086</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80286</a:t>
            </a:r>
            <a:r>
              <a:rPr lang="zh-CN" altLang="en-US" sz="2000" dirty="0">
                <a:latin typeface="楷体" panose="02010609060101010101" pitchFamily="49" charset="-122"/>
                <a:ea typeface="楷体" panose="02010609060101010101" pitchFamily="49" charset="-122"/>
              </a:rPr>
              <a:t>只有</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位段模式。</a:t>
            </a:r>
            <a:r>
              <a:rPr lang="en-US" altLang="zh-CN" sz="2000" dirty="0">
                <a:latin typeface="楷体" panose="02010609060101010101" pitchFamily="49" charset="-122"/>
                <a:ea typeface="楷体" panose="02010609060101010101" pitchFamily="49" charset="-122"/>
              </a:rPr>
              <a:t>80386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80486</a:t>
            </a:r>
            <a:r>
              <a:rPr lang="zh-CN" altLang="en-US" sz="2000" dirty="0">
                <a:latin typeface="楷体" panose="02010609060101010101" pitchFamily="49" charset="-122"/>
                <a:ea typeface="楷体" panose="02010609060101010101" pitchFamily="49" charset="-122"/>
              </a:rPr>
              <a:t>和</a:t>
            </a:r>
            <a:r>
              <a:rPr lang="en-US" altLang="zh-CN" sz="2000" dirty="0" err="1">
                <a:latin typeface="楷体" panose="02010609060101010101" pitchFamily="49" charset="-122"/>
                <a:ea typeface="楷体" panose="02010609060101010101" pitchFamily="49" charset="-122"/>
              </a:rPr>
              <a:t>Pentiun</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有</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位和</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位两种段模式。在</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位段模式方式，虽然</a:t>
            </a:r>
            <a:r>
              <a:rPr lang="en-US" altLang="zh-CN" sz="2000" dirty="0">
                <a:latin typeface="楷体" panose="02010609060101010101" pitchFamily="49" charset="-122"/>
                <a:ea typeface="楷体" panose="02010609060101010101" pitchFamily="49" charset="-122"/>
              </a:rPr>
              <a:t>80386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80486</a:t>
            </a:r>
            <a:r>
              <a:rPr lang="zh-CN" altLang="en-US" sz="2000" dirty="0">
                <a:latin typeface="楷体" panose="02010609060101010101" pitchFamily="49" charset="-122"/>
                <a:ea typeface="楷体" panose="02010609060101010101" pitchFamily="49" charset="-122"/>
              </a:rPr>
              <a:t>和</a:t>
            </a:r>
            <a:r>
              <a:rPr lang="en-US" altLang="zh-CN" sz="2000" dirty="0" err="1">
                <a:latin typeface="楷体" panose="02010609060101010101" pitchFamily="49" charset="-122"/>
                <a:ea typeface="楷体" panose="02010609060101010101" pitchFamily="49" charset="-122"/>
              </a:rPr>
              <a:t>Pentiun</a:t>
            </a:r>
            <a:r>
              <a:rPr lang="zh-CN" altLang="en-US" sz="2000" dirty="0">
                <a:latin typeface="楷体" panose="02010609060101010101" pitchFamily="49" charset="-122"/>
                <a:ea typeface="楷体" panose="02010609060101010101" pitchFamily="49" charset="-122"/>
              </a:rPr>
              <a:t>同</a:t>
            </a:r>
            <a:r>
              <a:rPr lang="en-US" altLang="zh-CN" sz="2000" dirty="0">
                <a:latin typeface="楷体" panose="02010609060101010101" pitchFamily="49" charset="-122"/>
                <a:ea typeface="楷体" panose="02010609060101010101" pitchFamily="49" charset="-122"/>
              </a:rPr>
              <a:t>8086</a:t>
            </a:r>
            <a:r>
              <a:rPr lang="zh-CN" altLang="en-US" sz="2000" dirty="0">
                <a:latin typeface="楷体" panose="02010609060101010101" pitchFamily="49" charset="-122"/>
                <a:ea typeface="楷体" panose="02010609060101010101" pitchFamily="49" charset="-122"/>
              </a:rPr>
              <a:t>一样，寻址空间仍为</a:t>
            </a:r>
            <a:r>
              <a:rPr lang="en-US" altLang="zh-CN" sz="2000" dirty="0">
                <a:latin typeface="楷体" panose="02010609060101010101" pitchFamily="49" charset="-122"/>
                <a:ea typeface="楷体" panose="02010609060101010101" pitchFamily="49" charset="-122"/>
              </a:rPr>
              <a:t>64KB</a:t>
            </a:r>
            <a:r>
              <a:rPr lang="zh-CN" altLang="en-US" sz="2000" dirty="0">
                <a:latin typeface="楷体" panose="02010609060101010101" pitchFamily="49" charset="-122"/>
                <a:ea typeface="楷体" panose="02010609060101010101" pitchFamily="49" charset="-122"/>
              </a:rPr>
              <a:t>，但在源程序开始处使用了伪指令</a:t>
            </a:r>
            <a:r>
              <a:rPr lang="en-US" altLang="zh-CN" sz="2000" dirty="0">
                <a:latin typeface="楷体" panose="02010609060101010101" pitchFamily="49" charset="-122"/>
                <a:ea typeface="楷体" panose="02010609060101010101" pitchFamily="49" charset="-122"/>
              </a:rPr>
              <a:t>.386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.486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.586</a:t>
            </a:r>
            <a:r>
              <a:rPr lang="zh-CN" altLang="en-US" sz="2000" dirty="0">
                <a:latin typeface="楷体" panose="02010609060101010101" pitchFamily="49" charset="-122"/>
                <a:ea typeface="楷体" panose="02010609060101010101" pitchFamily="49" charset="-122"/>
              </a:rPr>
              <a:t>的情况下，指令中可以使用它们的</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位寄存器。如果字长选择项缺省，则在使用伪指令</a:t>
            </a:r>
            <a:r>
              <a:rPr lang="en-US" altLang="zh-CN" sz="2000" dirty="0">
                <a:latin typeface="楷体" panose="02010609060101010101" pitchFamily="49" charset="-122"/>
                <a:ea typeface="楷体" panose="02010609060101010101" pitchFamily="49" charset="-122"/>
              </a:rPr>
              <a:t>.386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.486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.586</a:t>
            </a:r>
            <a:r>
              <a:rPr lang="zh-CN" altLang="en-US" sz="2000" dirty="0">
                <a:latin typeface="楷体" panose="02010609060101010101" pitchFamily="49" charset="-122"/>
                <a:ea typeface="楷体" panose="02010609060101010101" pitchFamily="49" charset="-122"/>
              </a:rPr>
              <a:t>（或</a:t>
            </a:r>
            <a:r>
              <a:rPr lang="en-US" altLang="zh-CN" sz="2000" dirty="0">
                <a:latin typeface="楷体" panose="02010609060101010101" pitchFamily="49" charset="-122"/>
                <a:ea typeface="楷体" panose="02010609060101010101" pitchFamily="49" charset="-122"/>
              </a:rPr>
              <a:t>.386P</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.486P</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.586P</a:t>
            </a:r>
            <a:r>
              <a:rPr lang="zh-CN" altLang="en-US" sz="2000" dirty="0">
                <a:latin typeface="楷体" panose="02010609060101010101" pitchFamily="49" charset="-122"/>
                <a:ea typeface="楷体" panose="02010609060101010101" pitchFamily="49" charset="-122"/>
              </a:rPr>
              <a:t>）时默认为</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位段模式。</a:t>
            </a:r>
          </a:p>
        </p:txBody>
      </p:sp>
    </p:spTree>
    <p:extLst>
      <p:ext uri="{BB962C8B-B14F-4D97-AF65-F5344CB8AC3E}">
        <p14:creationId xmlns:p14="http://schemas.microsoft.com/office/powerpoint/2010/main" val="19722461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9444" y="1312829"/>
            <a:ext cx="7834543" cy="4561249"/>
          </a:xfrm>
          <a:prstGeom prst="rect">
            <a:avLst/>
          </a:prstGeom>
        </p:spPr>
        <p:txBody>
          <a:bodyPr wrap="square">
            <a:spAutoFit/>
          </a:bodyPr>
          <a:lstStyle/>
          <a:p>
            <a:pPr>
              <a:lnSpc>
                <a:spcPct val="150000"/>
              </a:lnSpc>
              <a:spcBef>
                <a:spcPct val="0"/>
              </a:spcBef>
              <a:buClr>
                <a:srgbClr val="00B0F0"/>
              </a:buClr>
              <a:buSzPct val="80000"/>
            </a:pPr>
            <a:r>
              <a:rPr lang="zh-CN" altLang="en-US" sz="2400" dirty="0">
                <a:solidFill>
                  <a:srgbClr val="000000"/>
                </a:solidFill>
                <a:latin typeface="楷体" panose="02010609060101010101" pitchFamily="49" charset="-122"/>
                <a:ea typeface="楷体" panose="02010609060101010101" pitchFamily="49" charset="-122"/>
              </a:rPr>
              <a:t> </a:t>
            </a:r>
            <a:r>
              <a:rPr lang="en-US" altLang="zh-CN" sz="2400" dirty="0">
                <a:solidFill>
                  <a:srgbClr val="000000"/>
                </a:solidFill>
                <a:latin typeface="楷体" panose="02010609060101010101" pitchFamily="49" charset="-122"/>
                <a:ea typeface="楷体" panose="02010609060101010101" pitchFamily="49" charset="-122"/>
              </a:rPr>
              <a:t>2.</a:t>
            </a:r>
            <a:r>
              <a:rPr lang="zh-CN" altLang="en-US" sz="2400" dirty="0">
                <a:solidFill>
                  <a:srgbClr val="000000"/>
                </a:solidFill>
                <a:latin typeface="楷体" panose="02010609060101010101" pitchFamily="49" charset="-122"/>
                <a:ea typeface="楷体" panose="02010609060101010101" pitchFamily="49" charset="-122"/>
              </a:rPr>
              <a:t>组合方式提供本段同其他段的组合关系</a:t>
            </a:r>
          </a:p>
          <a:p>
            <a:pPr>
              <a:lnSpc>
                <a:spcPct val="150000"/>
              </a:lnSpc>
              <a:buClr>
                <a:schemeClr val="accent1"/>
              </a:buClr>
              <a:buSzPct val="65000"/>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en-US" altLang="zh-CN" sz="2400" dirty="0">
                <a:solidFill>
                  <a:srgbClr val="FF0066"/>
                </a:solidFill>
                <a:latin typeface="楷体" panose="02010609060101010101" pitchFamily="49" charset="-122"/>
                <a:ea typeface="楷体" panose="02010609060101010101" pitchFamily="49" charset="-122"/>
              </a:rPr>
              <a:t>[NONE]</a:t>
            </a:r>
            <a:r>
              <a:rPr lang="zh-CN" altLang="en-US" sz="2400" dirty="0">
                <a:solidFill>
                  <a:srgbClr val="FF0066"/>
                </a:solidFill>
                <a:latin typeface="楷体" panose="02010609060101010101" pitchFamily="49" charset="-122"/>
                <a:ea typeface="楷体" panose="02010609060101010101" pitchFamily="49" charset="-122"/>
              </a:rPr>
              <a:t>无组合方式</a:t>
            </a:r>
          </a:p>
          <a:p>
            <a:pPr>
              <a:lnSpc>
                <a:spcPct val="150000"/>
              </a:lnSpc>
              <a:spcBef>
                <a:spcPct val="0"/>
              </a:spcBef>
            </a:pPr>
            <a:r>
              <a:rPr lang="zh-CN" altLang="en-US" sz="2400" dirty="0">
                <a:latin typeface="楷体" panose="02010609060101010101" pitchFamily="49" charset="-122"/>
                <a:ea typeface="楷体" panose="02010609060101010101" pitchFamily="49" charset="-122"/>
              </a:rPr>
              <a:t>    系统隐含的组合方式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表示本段与其他段逻辑上不发生关连</a:t>
            </a:r>
          </a:p>
          <a:p>
            <a:pPr>
              <a:lnSpc>
                <a:spcPct val="150000"/>
              </a:lnSpc>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zh-CN" altLang="en-US" sz="2400" dirty="0">
                <a:solidFill>
                  <a:srgbClr val="FF0066"/>
                </a:solidFill>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STACK</a:t>
            </a:r>
            <a:endParaRPr lang="zh-CN" altLang="en-US" sz="2400" dirty="0">
              <a:latin typeface="楷体" panose="02010609060101010101" pitchFamily="49" charset="-122"/>
              <a:ea typeface="楷体" panose="02010609060101010101" pitchFamily="49" charset="-122"/>
            </a:endParaRPr>
          </a:p>
          <a:p>
            <a:pPr>
              <a:lnSpc>
                <a:spcPct val="150000"/>
              </a:lnSpc>
              <a:spcBef>
                <a:spcPct val="0"/>
              </a:spcBef>
            </a:pPr>
            <a:r>
              <a:rPr lang="zh-CN" altLang="en-US" sz="2400" dirty="0">
                <a:latin typeface="楷体" panose="02010609060101010101" pitchFamily="49" charset="-122"/>
                <a:ea typeface="楷体" panose="02010609060101010101" pitchFamily="49" charset="-122"/>
              </a:rPr>
              <a:t>    将本段与其他模块中所有</a:t>
            </a:r>
            <a:r>
              <a:rPr lang="en-US" altLang="zh-CN" sz="2400" dirty="0">
                <a:latin typeface="楷体" panose="02010609060101010101" pitchFamily="49" charset="-122"/>
                <a:ea typeface="楷体" panose="02010609060101010101" pitchFamily="49" charset="-122"/>
              </a:rPr>
              <a:t>STACK</a:t>
            </a:r>
            <a:r>
              <a:rPr lang="zh-CN" altLang="en-US" sz="2400" dirty="0">
                <a:latin typeface="楷体" panose="02010609060101010101" pitchFamily="49" charset="-122"/>
                <a:ea typeface="楷体" panose="02010609060101010101" pitchFamily="49" charset="-122"/>
              </a:rPr>
              <a:t>组合方式的同名段组合成</a:t>
            </a:r>
            <a:r>
              <a:rPr lang="zh-CN" altLang="en-US" sz="2400" dirty="0">
                <a:solidFill>
                  <a:srgbClr val="FF0066"/>
                </a:solidFill>
                <a:latin typeface="楷体" panose="02010609060101010101" pitchFamily="49" charset="-122"/>
                <a:ea typeface="楷体" panose="02010609060101010101" pitchFamily="49" charset="-122"/>
              </a:rPr>
              <a:t>一个</a:t>
            </a:r>
            <a:r>
              <a:rPr lang="zh-CN" altLang="en-US" sz="2400" dirty="0">
                <a:latin typeface="楷体" panose="02010609060101010101" pitchFamily="49" charset="-122"/>
                <a:ea typeface="楷体" panose="02010609060101010101" pitchFamily="49" charset="-122"/>
              </a:rPr>
              <a:t>堆栈段</a:t>
            </a:r>
          </a:p>
          <a:p>
            <a:pPr>
              <a:lnSpc>
                <a:spcPct val="150000"/>
              </a:lnSpc>
              <a:spcBef>
                <a:spcPct val="10000"/>
              </a:spcBef>
            </a:pPr>
            <a:r>
              <a:rPr lang="zh-CN" altLang="en-US" sz="2400" dirty="0">
                <a:latin typeface="楷体" panose="02010609060101010101" pitchFamily="49" charset="-122"/>
                <a:ea typeface="楷体" panose="02010609060101010101" pitchFamily="49" charset="-122"/>
              </a:rPr>
              <a:t>    </a:t>
            </a:r>
            <a:r>
              <a:rPr lang="zh-CN" altLang="en-US" sz="2400" dirty="0">
                <a:solidFill>
                  <a:schemeClr val="tx2"/>
                </a:solidFill>
                <a:latin typeface="楷体" panose="02010609060101010101" pitchFamily="49" charset="-122"/>
                <a:ea typeface="楷体" panose="02010609060101010101" pitchFamily="49" charset="-122"/>
              </a:rPr>
              <a:t>一个程序的所有模块中至少有一个</a:t>
            </a:r>
            <a:r>
              <a:rPr lang="en-US" altLang="zh-CN" sz="2400" dirty="0">
                <a:solidFill>
                  <a:schemeClr val="tx2"/>
                </a:solidFill>
                <a:latin typeface="楷体" panose="02010609060101010101" pitchFamily="49" charset="-122"/>
                <a:ea typeface="楷体" panose="02010609060101010101" pitchFamily="49" charset="-122"/>
              </a:rPr>
              <a:t>STACK</a:t>
            </a:r>
            <a:r>
              <a:rPr lang="zh-CN" altLang="en-US" sz="2400" dirty="0">
                <a:solidFill>
                  <a:schemeClr val="tx2"/>
                </a:solidFill>
                <a:latin typeface="楷体" panose="02010609060101010101" pitchFamily="49" charset="-122"/>
                <a:ea typeface="楷体" panose="02010609060101010101" pitchFamily="49" charset="-122"/>
              </a:rPr>
              <a:t>段</a:t>
            </a:r>
          </a:p>
        </p:txBody>
      </p:sp>
    </p:spTree>
    <p:extLst>
      <p:ext uri="{BB962C8B-B14F-4D97-AF65-F5344CB8AC3E}">
        <p14:creationId xmlns:p14="http://schemas.microsoft.com/office/powerpoint/2010/main" val="17372346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5976" y="2134587"/>
            <a:ext cx="8322815" cy="2308324"/>
          </a:xfrm>
          <a:prstGeom prst="rect">
            <a:avLst/>
          </a:prstGeom>
        </p:spPr>
        <p:txBody>
          <a:bodyPr wrap="square">
            <a:spAutoFit/>
          </a:bodyPr>
          <a:lstStyle/>
          <a:p>
            <a:pPr>
              <a:lnSpc>
                <a:spcPct val="150000"/>
              </a:lnSpc>
              <a:spcBef>
                <a:spcPct val="0"/>
              </a:spcBef>
              <a:buClr>
                <a:srgbClr val="00B0F0"/>
              </a:buClr>
              <a:buSzPct val="80000"/>
            </a:pPr>
            <a:r>
              <a:rPr lang="en-US" altLang="zh-CN" sz="2400" dirty="0">
                <a:solidFill>
                  <a:srgbClr val="000000"/>
                </a:solidFill>
                <a:latin typeface="楷体" panose="02010609060101010101" pitchFamily="49" charset="-122"/>
                <a:ea typeface="楷体" panose="02010609060101010101" pitchFamily="49" charset="-122"/>
              </a:rPr>
              <a:t>3.</a:t>
            </a:r>
            <a:r>
              <a:rPr lang="zh-CN" altLang="en-US" sz="2400" dirty="0">
                <a:solidFill>
                  <a:srgbClr val="000000"/>
                </a:solidFill>
                <a:latin typeface="楷体" panose="02010609060101010101" pitchFamily="49" charset="-122"/>
                <a:ea typeface="楷体" panose="02010609060101010101" pitchFamily="49" charset="-122"/>
              </a:rPr>
              <a:t>类别名</a:t>
            </a:r>
            <a:endParaRPr lang="en-US" altLang="zh-CN" sz="2400" dirty="0">
              <a:solidFill>
                <a:srgbClr val="000000"/>
              </a:solidFill>
              <a:latin typeface="楷体" panose="02010609060101010101" pitchFamily="49" charset="-122"/>
              <a:ea typeface="楷体" panose="02010609060101010101" pitchFamily="49" charset="-122"/>
            </a:endParaRPr>
          </a:p>
          <a:p>
            <a:pPr>
              <a:lnSpc>
                <a:spcPct val="150000"/>
              </a:lnSpc>
              <a:spcBef>
                <a:spcPct val="0"/>
              </a:spcBef>
              <a:buClr>
                <a:srgbClr val="00B0F0"/>
              </a:buClr>
              <a:buSzPct val="80000"/>
            </a:pPr>
            <a:r>
              <a:rPr lang="en-US" altLang="zh-CN" sz="2400" dirty="0">
                <a:solidFill>
                  <a:srgbClr val="000000"/>
                </a:solidFill>
                <a:latin typeface="楷体" panose="02010609060101010101" pitchFamily="49" charset="-122"/>
                <a:ea typeface="楷体" panose="02010609060101010101" pitchFamily="49" charset="-122"/>
              </a:rPr>
              <a:t>    </a:t>
            </a:r>
            <a:r>
              <a:rPr lang="zh-CN" altLang="en-US" sz="2400" dirty="0">
                <a:solidFill>
                  <a:srgbClr val="000000"/>
                </a:solidFill>
                <a:latin typeface="楷体" panose="02010609060101010101" pitchFamily="49" charset="-122"/>
                <a:ea typeface="楷体" panose="02010609060101010101" pitchFamily="49" charset="-122"/>
              </a:rPr>
              <a:t>用单引号括起来的字符串，连接时将同类别名的所有段（段名可以不同）存放在连续的存储区</a:t>
            </a:r>
          </a:p>
          <a:p>
            <a:pPr>
              <a:lnSpc>
                <a:spcPct val="150000"/>
              </a:lnSpc>
              <a:spcBef>
                <a:spcPct val="0"/>
              </a:spcBef>
              <a:buClr>
                <a:srgbClr val="00B0F0"/>
              </a:buClr>
              <a:buSzPct val="80000"/>
            </a:pPr>
            <a:r>
              <a:rPr lang="zh-CN" altLang="en-US" sz="2400" dirty="0">
                <a:solidFill>
                  <a:srgbClr val="000000"/>
                </a:solidFill>
                <a:latin typeface="楷体" panose="02010609060101010101" pitchFamily="49" charset="-122"/>
                <a:ea typeface="楷体" panose="02010609060101010101" pitchFamily="49" charset="-122"/>
              </a:rPr>
              <a:t>    典型的类别名有：</a:t>
            </a:r>
            <a:r>
              <a:rPr lang="en-US" altLang="zh-CN" sz="2400" dirty="0">
                <a:solidFill>
                  <a:srgbClr val="000000"/>
                </a:solidFill>
                <a:latin typeface="楷体" panose="02010609060101010101" pitchFamily="49" charset="-122"/>
                <a:ea typeface="楷体" panose="02010609060101010101" pitchFamily="49" charset="-122"/>
              </a:rPr>
              <a:t>DATA</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CODE</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STACK</a:t>
            </a:r>
            <a:endParaRPr lang="zh-CN" altLang="en-US" sz="2400" dirty="0">
              <a:solidFill>
                <a:srgbClr val="00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484767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A8287761-84CD-4934-94D7-06BC283AAB0B}"/>
              </a:ext>
            </a:extLst>
          </p:cNvPr>
          <p:cNvSpPr>
            <a:spLocks noChangeArrowheads="1"/>
          </p:cNvSpPr>
          <p:nvPr/>
        </p:nvSpPr>
        <p:spPr bwMode="auto">
          <a:xfrm>
            <a:off x="428625" y="1807576"/>
            <a:ext cx="8286750" cy="128587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sz="2600">
              <a:latin typeface="楷体" panose="02010609060101010101" pitchFamily="49" charset="-122"/>
              <a:ea typeface="楷体" panose="02010609060101010101" pitchFamily="49" charset="-122"/>
            </a:endParaRPr>
          </a:p>
        </p:txBody>
      </p:sp>
      <p:sp>
        <p:nvSpPr>
          <p:cNvPr id="3" name="AutoShape 72">
            <a:extLst>
              <a:ext uri="{FF2B5EF4-FFF2-40B4-BE49-F238E27FC236}">
                <a16:creationId xmlns:a16="http://schemas.microsoft.com/office/drawing/2014/main" id="{4263C1EE-6CD6-4348-B5C5-A39051D40C69}"/>
              </a:ext>
            </a:extLst>
          </p:cNvPr>
          <p:cNvSpPr>
            <a:spLocks noChangeArrowheads="1"/>
          </p:cNvSpPr>
          <p:nvPr/>
        </p:nvSpPr>
        <p:spPr bwMode="auto">
          <a:xfrm>
            <a:off x="446088" y="3319463"/>
            <a:ext cx="8286750" cy="979487"/>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sz="2600">
              <a:latin typeface="楷体" panose="02010609060101010101" pitchFamily="49" charset="-122"/>
              <a:ea typeface="楷体" panose="02010609060101010101" pitchFamily="49" charset="-122"/>
            </a:endParaRPr>
          </a:p>
        </p:txBody>
      </p:sp>
      <p:sp>
        <p:nvSpPr>
          <p:cNvPr id="4" name="Rectangle 3"/>
          <p:cNvSpPr txBox="1">
            <a:spLocks noChangeArrowheads="1"/>
          </p:cNvSpPr>
          <p:nvPr/>
        </p:nvSpPr>
        <p:spPr>
          <a:xfrm>
            <a:off x="0" y="1093201"/>
            <a:ext cx="9144000" cy="714375"/>
          </a:xfrm>
          <a:prstGeom prst="rect">
            <a:avLst/>
          </a:prstGeom>
          <a:solidFill>
            <a:srgbClr val="FFFFFF"/>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4975" indent="0">
              <a:lnSpc>
                <a:spcPct val="120000"/>
              </a:lnSpc>
              <a:spcBef>
                <a:spcPct val="0"/>
              </a:spcBef>
              <a:buClr>
                <a:srgbClr val="00B0F0"/>
              </a:buClr>
              <a:buSzPct val="80000"/>
              <a:buNone/>
            </a:pPr>
            <a:r>
              <a:rPr lang="en-US" altLang="zh-CN" sz="2600" dirty="0">
                <a:latin typeface="楷体" panose="02010609060101010101" pitchFamily="49" charset="-122"/>
                <a:ea typeface="楷体" panose="02010609060101010101" pitchFamily="49" charset="-122"/>
              </a:rPr>
              <a:t>4.</a:t>
            </a:r>
            <a:r>
              <a:rPr lang="zh-CN" altLang="en-US" sz="2600" dirty="0">
                <a:latin typeface="楷体" panose="02010609060101010101" pitchFamily="49" charset="-122"/>
                <a:ea typeface="楷体" panose="02010609060101010101" pitchFamily="49" charset="-122"/>
              </a:rPr>
              <a:t>定位方式表明如何将经组合后的段定位到存储器中</a:t>
            </a:r>
          </a:p>
        </p:txBody>
      </p:sp>
      <p:sp>
        <p:nvSpPr>
          <p:cNvPr id="5" name="矩形 11"/>
          <p:cNvSpPr>
            <a:spLocks noChangeArrowheads="1"/>
          </p:cNvSpPr>
          <p:nvPr/>
        </p:nvSpPr>
        <p:spPr bwMode="auto">
          <a:xfrm>
            <a:off x="661988" y="1714500"/>
            <a:ext cx="3457998"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1</a:t>
            </a:r>
            <a:r>
              <a:rPr lang="zh-CN" altLang="en-US" sz="2600" dirty="0">
                <a:latin typeface="楷体" panose="02010609060101010101" pitchFamily="49" charset="-122"/>
                <a:ea typeface="楷体" panose="02010609060101010101" pitchFamily="49" charset="-122"/>
              </a:rPr>
              <a:t>）</a:t>
            </a:r>
            <a:r>
              <a:rPr lang="en-US" altLang="zh-CN" sz="2600" dirty="0">
                <a:solidFill>
                  <a:srgbClr val="FF0066"/>
                </a:solidFill>
                <a:latin typeface="楷体" panose="02010609060101010101" pitchFamily="49" charset="-122"/>
                <a:ea typeface="楷体" panose="02010609060101010101" pitchFamily="49" charset="-122"/>
              </a:rPr>
              <a:t>[PARA]</a:t>
            </a:r>
            <a:r>
              <a:rPr lang="zh-CN" altLang="en-US" sz="2600" dirty="0">
                <a:latin typeface="楷体" panose="02010609060101010101" pitchFamily="49" charset="-122"/>
                <a:ea typeface="楷体" panose="02010609060101010101" pitchFamily="49" charset="-122"/>
              </a:rPr>
              <a:t>（节）</a:t>
            </a:r>
          </a:p>
        </p:txBody>
      </p:sp>
      <p:sp>
        <p:nvSpPr>
          <p:cNvPr id="6" name="矩形 12"/>
          <p:cNvSpPr>
            <a:spLocks noChangeArrowheads="1"/>
          </p:cNvSpPr>
          <p:nvPr/>
        </p:nvSpPr>
        <p:spPr bwMode="auto">
          <a:xfrm>
            <a:off x="428625" y="2214563"/>
            <a:ext cx="821531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46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
                <a:schemeClr val="accent1"/>
              </a:buClr>
              <a:buSzPct val="65000"/>
              <a:buFont typeface="Wingdings" panose="05000000000000000000" pitchFamily="2" charset="2"/>
              <a:buNone/>
            </a:pPr>
            <a:r>
              <a:rPr lang="zh-CN" altLang="en-US" sz="2600">
                <a:latin typeface="楷体" panose="02010609060101010101" pitchFamily="49" charset="-122"/>
                <a:ea typeface="楷体" panose="02010609060101010101" pitchFamily="49" charset="-122"/>
              </a:rPr>
              <a:t>隐含的定位方式</a:t>
            </a:r>
            <a:r>
              <a:rPr lang="en-US" altLang="zh-CN" sz="2600">
                <a:latin typeface="楷体" panose="02010609060101010101" pitchFamily="49" charset="-122"/>
                <a:ea typeface="楷体" panose="02010609060101010101" pitchFamily="49" charset="-122"/>
              </a:rPr>
              <a:t>.</a:t>
            </a:r>
            <a:r>
              <a:rPr lang="zh-CN" altLang="en-US" sz="2600">
                <a:latin typeface="楷体" panose="02010609060101010101" pitchFamily="49" charset="-122"/>
                <a:ea typeface="楷体" panose="02010609060101010101" pitchFamily="49" charset="-122"/>
              </a:rPr>
              <a:t>规定段的起始地址总是</a:t>
            </a:r>
            <a:r>
              <a:rPr lang="en-US" altLang="zh-CN" sz="2600">
                <a:latin typeface="楷体" panose="02010609060101010101" pitchFamily="49" charset="-122"/>
                <a:ea typeface="楷体" panose="02010609060101010101" pitchFamily="49" charset="-122"/>
              </a:rPr>
              <a:t>16</a:t>
            </a:r>
            <a:r>
              <a:rPr lang="zh-CN" altLang="en-US" sz="2600">
                <a:latin typeface="楷体" panose="02010609060101010101" pitchFamily="49" charset="-122"/>
                <a:ea typeface="楷体" panose="02010609060101010101" pitchFamily="49" charset="-122"/>
              </a:rPr>
              <a:t>的整数倍，即段首址低四位为零</a:t>
            </a:r>
          </a:p>
        </p:txBody>
      </p:sp>
      <p:sp>
        <p:nvSpPr>
          <p:cNvPr id="7" name="矩形 13"/>
          <p:cNvSpPr>
            <a:spLocks noChangeArrowheads="1"/>
          </p:cNvSpPr>
          <p:nvPr/>
        </p:nvSpPr>
        <p:spPr bwMode="auto">
          <a:xfrm>
            <a:off x="642938" y="3262313"/>
            <a:ext cx="327818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a:latin typeface="楷体" panose="02010609060101010101" pitchFamily="49" charset="-122"/>
                <a:ea typeface="楷体" panose="02010609060101010101" pitchFamily="49" charset="-122"/>
              </a:rPr>
              <a:t>（</a:t>
            </a:r>
            <a:r>
              <a:rPr lang="en-US" altLang="zh-CN" sz="2600">
                <a:latin typeface="楷体" panose="02010609060101010101" pitchFamily="49" charset="-122"/>
                <a:ea typeface="楷体" panose="02010609060101010101" pitchFamily="49" charset="-122"/>
              </a:rPr>
              <a:t>2</a:t>
            </a:r>
            <a:r>
              <a:rPr lang="zh-CN" altLang="en-US" sz="2600">
                <a:latin typeface="楷体" panose="02010609060101010101" pitchFamily="49" charset="-122"/>
                <a:ea typeface="楷体" panose="02010609060101010101" pitchFamily="49" charset="-122"/>
              </a:rPr>
              <a:t>）</a:t>
            </a:r>
            <a:r>
              <a:rPr lang="en-US" altLang="zh-CN" sz="2600">
                <a:solidFill>
                  <a:srgbClr val="FF0066"/>
                </a:solidFill>
                <a:latin typeface="楷体" panose="02010609060101010101" pitchFamily="49" charset="-122"/>
                <a:ea typeface="楷体" panose="02010609060101010101" pitchFamily="49" charset="-122"/>
              </a:rPr>
              <a:t>WORD</a:t>
            </a:r>
            <a:r>
              <a:rPr lang="en-US" altLang="zh-CN" sz="2600">
                <a:solidFill>
                  <a:schemeClr val="tx2"/>
                </a:solidFill>
                <a:latin typeface="楷体" panose="02010609060101010101" pitchFamily="49" charset="-122"/>
                <a:ea typeface="楷体" panose="02010609060101010101" pitchFamily="49" charset="-122"/>
              </a:rPr>
              <a:t> </a:t>
            </a:r>
            <a:r>
              <a:rPr lang="zh-CN" altLang="en-US" sz="2600">
                <a:latin typeface="楷体" panose="02010609060101010101" pitchFamily="49" charset="-122"/>
                <a:ea typeface="楷体" panose="02010609060101010101" pitchFamily="49" charset="-122"/>
              </a:rPr>
              <a:t>（字）</a:t>
            </a:r>
          </a:p>
        </p:txBody>
      </p:sp>
      <p:sp>
        <p:nvSpPr>
          <p:cNvPr id="8" name="矩形 14"/>
          <p:cNvSpPr>
            <a:spLocks noChangeArrowheads="1"/>
          </p:cNvSpPr>
          <p:nvPr/>
        </p:nvSpPr>
        <p:spPr bwMode="auto">
          <a:xfrm>
            <a:off x="500063" y="3727450"/>
            <a:ext cx="7929562"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a:latin typeface="楷体" panose="02010609060101010101" pitchFamily="49" charset="-122"/>
                <a:ea typeface="楷体" panose="02010609060101010101" pitchFamily="49" charset="-122"/>
              </a:rPr>
              <a:t>   段从偶地址开始，段间可能留</a:t>
            </a:r>
            <a:r>
              <a:rPr lang="en-US" altLang="zh-CN" sz="2600">
                <a:latin typeface="楷体" panose="02010609060101010101" pitchFamily="49" charset="-122"/>
                <a:ea typeface="楷体" panose="02010609060101010101" pitchFamily="49" charset="-122"/>
              </a:rPr>
              <a:t>1</a:t>
            </a:r>
            <a:r>
              <a:rPr lang="zh-CN" altLang="en-US" sz="2600">
                <a:latin typeface="楷体" panose="02010609060101010101" pitchFamily="49" charset="-122"/>
                <a:ea typeface="楷体" panose="02010609060101010101" pitchFamily="49" charset="-122"/>
              </a:rPr>
              <a:t>个字节间隙</a:t>
            </a:r>
          </a:p>
        </p:txBody>
      </p:sp>
      <p:sp>
        <p:nvSpPr>
          <p:cNvPr id="9" name="AutoShape 72">
            <a:extLst>
              <a:ext uri="{FF2B5EF4-FFF2-40B4-BE49-F238E27FC236}">
                <a16:creationId xmlns:a16="http://schemas.microsoft.com/office/drawing/2014/main" id="{EC028F2A-677B-4641-9FFB-FD53F9A78A45}"/>
              </a:ext>
            </a:extLst>
          </p:cNvPr>
          <p:cNvSpPr>
            <a:spLocks noChangeArrowheads="1"/>
          </p:cNvSpPr>
          <p:nvPr/>
        </p:nvSpPr>
        <p:spPr bwMode="auto">
          <a:xfrm>
            <a:off x="458788" y="4502150"/>
            <a:ext cx="8286750" cy="94297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sz="2600">
              <a:latin typeface="楷体" panose="02010609060101010101" pitchFamily="49" charset="-122"/>
              <a:ea typeface="楷体" panose="02010609060101010101" pitchFamily="49" charset="-122"/>
            </a:endParaRPr>
          </a:p>
        </p:txBody>
      </p:sp>
      <p:sp>
        <p:nvSpPr>
          <p:cNvPr id="10" name="矩形 19"/>
          <p:cNvSpPr>
            <a:spLocks noChangeArrowheads="1"/>
          </p:cNvSpPr>
          <p:nvPr/>
        </p:nvSpPr>
        <p:spPr bwMode="auto">
          <a:xfrm>
            <a:off x="655638" y="4445000"/>
            <a:ext cx="344328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a:latin typeface="楷体" panose="02010609060101010101" pitchFamily="49" charset="-122"/>
                <a:ea typeface="楷体" panose="02010609060101010101" pitchFamily="49" charset="-122"/>
              </a:rPr>
              <a:t>（</a:t>
            </a:r>
            <a:r>
              <a:rPr lang="en-US" altLang="zh-CN" sz="2600">
                <a:latin typeface="楷体" panose="02010609060101010101" pitchFamily="49" charset="-122"/>
                <a:ea typeface="楷体" panose="02010609060101010101" pitchFamily="49" charset="-122"/>
              </a:rPr>
              <a:t>3</a:t>
            </a:r>
            <a:r>
              <a:rPr lang="zh-CN" altLang="en-US" sz="2600">
                <a:latin typeface="楷体" panose="02010609060101010101" pitchFamily="49" charset="-122"/>
                <a:ea typeface="楷体" panose="02010609060101010101" pitchFamily="49" charset="-122"/>
              </a:rPr>
              <a:t>）</a:t>
            </a:r>
            <a:r>
              <a:rPr lang="en-US" altLang="zh-CN" sz="2600">
                <a:solidFill>
                  <a:srgbClr val="FF0066"/>
                </a:solidFill>
                <a:latin typeface="楷体" panose="02010609060101010101" pitchFamily="49" charset="-122"/>
                <a:ea typeface="楷体" panose="02010609060101010101" pitchFamily="49" charset="-122"/>
              </a:rPr>
              <a:t>Byte</a:t>
            </a:r>
            <a:r>
              <a:rPr lang="zh-CN" altLang="en-US" sz="2600">
                <a:latin typeface="楷体" panose="02010609060101010101" pitchFamily="49" charset="-122"/>
                <a:ea typeface="楷体" panose="02010609060101010101" pitchFamily="49" charset="-122"/>
              </a:rPr>
              <a:t>（字节）</a:t>
            </a:r>
          </a:p>
        </p:txBody>
      </p:sp>
      <p:sp>
        <p:nvSpPr>
          <p:cNvPr id="11" name="矩形 20"/>
          <p:cNvSpPr>
            <a:spLocks noChangeArrowheads="1"/>
          </p:cNvSpPr>
          <p:nvPr/>
        </p:nvSpPr>
        <p:spPr bwMode="auto">
          <a:xfrm>
            <a:off x="512763" y="4873625"/>
            <a:ext cx="864393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Arial" panose="020B0604020202020204" pitchFamily="34" charset="0"/>
              <a:buNone/>
            </a:pPr>
            <a:r>
              <a:rPr lang="zh-CN" altLang="en-US" sz="2600">
                <a:latin typeface="楷体" panose="02010609060101010101" pitchFamily="49" charset="-122"/>
                <a:ea typeface="楷体" panose="02010609060101010101" pitchFamily="49" charset="-122"/>
              </a:rPr>
              <a:t>   本段可从任何地址开始，段间不留空隙</a:t>
            </a:r>
          </a:p>
        </p:txBody>
      </p:sp>
      <p:sp>
        <p:nvSpPr>
          <p:cNvPr id="12" name="AutoShape 72">
            <a:extLst>
              <a:ext uri="{FF2B5EF4-FFF2-40B4-BE49-F238E27FC236}">
                <a16:creationId xmlns:a16="http://schemas.microsoft.com/office/drawing/2014/main" id="{AD2C2365-2E8D-406E-82AF-30FDDDF7DC17}"/>
              </a:ext>
            </a:extLst>
          </p:cNvPr>
          <p:cNvSpPr>
            <a:spLocks noChangeArrowheads="1"/>
          </p:cNvSpPr>
          <p:nvPr/>
        </p:nvSpPr>
        <p:spPr bwMode="auto">
          <a:xfrm>
            <a:off x="458788" y="5589588"/>
            <a:ext cx="8286750" cy="94297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sz="2600">
              <a:latin typeface="楷体" panose="02010609060101010101" pitchFamily="49" charset="-122"/>
              <a:ea typeface="楷体" panose="02010609060101010101" pitchFamily="49" charset="-122"/>
            </a:endParaRPr>
          </a:p>
        </p:txBody>
      </p:sp>
      <p:sp>
        <p:nvSpPr>
          <p:cNvPr id="13" name="矩形 25"/>
          <p:cNvSpPr>
            <a:spLocks noChangeArrowheads="1"/>
          </p:cNvSpPr>
          <p:nvPr/>
        </p:nvSpPr>
        <p:spPr bwMode="auto">
          <a:xfrm>
            <a:off x="655638" y="5597525"/>
            <a:ext cx="3124573" cy="508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4</a:t>
            </a:r>
            <a:r>
              <a:rPr lang="zh-CN" altLang="en-US" sz="2600" dirty="0">
                <a:latin typeface="楷体" panose="02010609060101010101" pitchFamily="49" charset="-122"/>
                <a:ea typeface="楷体" panose="02010609060101010101" pitchFamily="49" charset="-122"/>
              </a:rPr>
              <a:t>）</a:t>
            </a:r>
            <a:r>
              <a:rPr lang="en-US" altLang="zh-CN" sz="2600" dirty="0">
                <a:solidFill>
                  <a:srgbClr val="FF0066"/>
                </a:solidFill>
                <a:latin typeface="楷体" panose="02010609060101010101" pitchFamily="49" charset="-122"/>
                <a:ea typeface="楷体" panose="02010609060101010101" pitchFamily="49" charset="-122"/>
              </a:rPr>
              <a:t>Page</a:t>
            </a:r>
            <a:r>
              <a:rPr lang="zh-CN" altLang="en-US" sz="2600" dirty="0">
                <a:latin typeface="楷体" panose="02010609060101010101" pitchFamily="49" charset="-122"/>
                <a:ea typeface="楷体" panose="02010609060101010101" pitchFamily="49" charset="-122"/>
              </a:rPr>
              <a:t>（页）</a:t>
            </a:r>
          </a:p>
        </p:txBody>
      </p:sp>
      <p:sp>
        <p:nvSpPr>
          <p:cNvPr id="14" name="矩形 26"/>
          <p:cNvSpPr>
            <a:spLocks noChangeArrowheads="1"/>
          </p:cNvSpPr>
          <p:nvPr/>
        </p:nvSpPr>
        <p:spPr bwMode="auto">
          <a:xfrm>
            <a:off x="512763" y="6027738"/>
            <a:ext cx="864393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92175"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Clr>
                <a:schemeClr val="accent1"/>
              </a:buClr>
              <a:buSzPct val="65000"/>
              <a:buFont typeface="Wingdings" panose="05000000000000000000" pitchFamily="2" charset="2"/>
              <a:buNone/>
            </a:pPr>
            <a:r>
              <a:rPr lang="zh-CN" altLang="en-US" sz="2600">
                <a:latin typeface="楷体" panose="02010609060101010101" pitchFamily="49" charset="-122"/>
                <a:ea typeface="楷体" panose="02010609060101010101" pitchFamily="49" charset="-122"/>
              </a:rPr>
              <a:t>   段的起始地址总是</a:t>
            </a:r>
            <a:r>
              <a:rPr lang="en-US" altLang="zh-CN" sz="2600">
                <a:latin typeface="楷体" panose="02010609060101010101" pitchFamily="49" charset="-122"/>
                <a:ea typeface="楷体" panose="02010609060101010101" pitchFamily="49" charset="-122"/>
              </a:rPr>
              <a:t>256</a:t>
            </a:r>
            <a:r>
              <a:rPr lang="zh-CN" altLang="en-US" sz="2600">
                <a:latin typeface="楷体" panose="02010609060101010101" pitchFamily="49" charset="-122"/>
                <a:ea typeface="楷体" panose="02010609060101010101" pitchFamily="49" charset="-122"/>
              </a:rPr>
              <a:t>的整数倍，即低</a:t>
            </a:r>
            <a:r>
              <a:rPr lang="en-US" altLang="zh-CN" sz="2600">
                <a:latin typeface="楷体" panose="02010609060101010101" pitchFamily="49" charset="-122"/>
                <a:ea typeface="楷体" panose="02010609060101010101" pitchFamily="49" charset="-122"/>
              </a:rPr>
              <a:t>8</a:t>
            </a:r>
            <a:r>
              <a:rPr lang="zh-CN" altLang="en-US" sz="2600">
                <a:latin typeface="楷体" panose="02010609060101010101" pitchFamily="49" charset="-122"/>
                <a:ea typeface="楷体" panose="02010609060101010101" pitchFamily="49" charset="-122"/>
              </a:rPr>
              <a:t>位为零</a:t>
            </a:r>
          </a:p>
        </p:txBody>
      </p:sp>
    </p:spTree>
    <p:extLst>
      <p:ext uri="{BB962C8B-B14F-4D97-AF65-F5344CB8AC3E}">
        <p14:creationId xmlns:p14="http://schemas.microsoft.com/office/powerpoint/2010/main" val="31984214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7.4.4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汇编地址计数器</a:t>
            </a:r>
          </a:p>
        </p:txBody>
      </p:sp>
      <p:sp>
        <p:nvSpPr>
          <p:cNvPr id="3" name="Text Box 5"/>
          <p:cNvSpPr txBox="1">
            <a:spLocks noChangeArrowheads="1"/>
          </p:cNvSpPr>
          <p:nvPr/>
        </p:nvSpPr>
        <p:spPr bwMode="auto">
          <a:xfrm>
            <a:off x="428625" y="1613102"/>
            <a:ext cx="8715375" cy="426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35000"/>
              </a:lnSpc>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用</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表示，记录正在被汇编程序翻译的指令的地址</a:t>
            </a:r>
            <a:endParaRPr lang="en-US" altLang="zh-CN" sz="2400" dirty="0">
              <a:latin typeface="楷体" panose="02010609060101010101" pitchFamily="49" charset="-122"/>
              <a:ea typeface="楷体" panose="02010609060101010101" pitchFamily="49" charset="-122"/>
            </a:endParaRPr>
          </a:p>
          <a:p>
            <a:pPr eaLnBrk="1" hangingPunct="1">
              <a:lnSpc>
                <a:spcPct val="135000"/>
              </a:lnSpc>
              <a:spcBef>
                <a:spcPct val="6000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DATA  SEGMENT</a:t>
            </a:r>
            <a:endParaRPr lang="zh-CN" altLang="en-US" sz="2400" dirty="0">
              <a:solidFill>
                <a:srgbClr val="000099"/>
              </a:solidFill>
              <a:latin typeface="楷体" panose="02010609060101010101" pitchFamily="49" charset="-122"/>
              <a:ea typeface="楷体" panose="02010609060101010101" pitchFamily="49" charset="-122"/>
            </a:endParaRPr>
          </a:p>
          <a:p>
            <a:pPr eaLnBrk="1" hangingPunct="1">
              <a:lnSpc>
                <a:spcPct val="135000"/>
              </a:lnSpc>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BUF   DB ’0123456789ABCDEF’</a:t>
            </a:r>
          </a:p>
          <a:p>
            <a:pPr eaLnBrk="1" hangingPunct="1">
              <a:lnSpc>
                <a:spcPct val="135000"/>
              </a:lnSpc>
              <a:buFont typeface="Arial" panose="020B0604020202020204" pitchFamily="34" charset="0"/>
              <a:buNone/>
            </a:pPr>
            <a:r>
              <a:rPr lang="en-US" altLang="zh-CN" sz="2400" dirty="0">
                <a:solidFill>
                  <a:srgbClr val="000099"/>
                </a:solidFill>
                <a:latin typeface="楷体" panose="02010609060101010101" pitchFamily="49" charset="-122"/>
                <a:ea typeface="楷体" panose="02010609060101010101" pitchFamily="49" charset="-122"/>
              </a:rPr>
              <a:t>    COUNT EQU $</a:t>
            </a:r>
            <a:r>
              <a:rPr lang="zh-CN" altLang="en-US" sz="2400" dirty="0">
                <a:solidFill>
                  <a:srgbClr val="000099"/>
                </a:solidFill>
                <a:latin typeface="楷体" panose="02010609060101010101" pitchFamily="49" charset="-122"/>
                <a:ea typeface="楷体" panose="02010609060101010101" pitchFamily="49" charset="-122"/>
              </a:rPr>
              <a:t>－</a:t>
            </a:r>
            <a:r>
              <a:rPr lang="en-US" altLang="zh-CN" sz="2400" dirty="0">
                <a:solidFill>
                  <a:srgbClr val="000099"/>
                </a:solidFill>
                <a:latin typeface="楷体" panose="02010609060101010101" pitchFamily="49" charset="-122"/>
                <a:ea typeface="楷体" panose="02010609060101010101" pitchFamily="49" charset="-122"/>
              </a:rPr>
              <a:t>BUF  ;</a:t>
            </a:r>
            <a:r>
              <a:rPr lang="zh-CN" altLang="en-US" sz="2400" dirty="0">
                <a:solidFill>
                  <a:srgbClr val="000099"/>
                </a:solidFill>
                <a:latin typeface="楷体" panose="02010609060101010101" pitchFamily="49" charset="-122"/>
                <a:ea typeface="楷体" panose="02010609060101010101" pitchFamily="49" charset="-122"/>
              </a:rPr>
              <a:t>常量</a:t>
            </a:r>
            <a:r>
              <a:rPr lang="en-US" altLang="zh-CN" sz="2400" dirty="0">
                <a:solidFill>
                  <a:srgbClr val="000099"/>
                </a:solidFill>
                <a:latin typeface="楷体" panose="02010609060101010101" pitchFamily="49" charset="-122"/>
                <a:ea typeface="楷体" panose="02010609060101010101" pitchFamily="49" charset="-122"/>
              </a:rPr>
              <a:t>COUNT=</a:t>
            </a:r>
            <a:r>
              <a:rPr lang="zh-CN" altLang="en-US" sz="2400" dirty="0">
                <a:solidFill>
                  <a:srgbClr val="000099"/>
                </a:solidFill>
                <a:latin typeface="楷体" panose="02010609060101010101" pitchFamily="49" charset="-122"/>
                <a:ea typeface="楷体" panose="02010609060101010101" pitchFamily="49" charset="-122"/>
              </a:rPr>
              <a:t>上述字符的个数</a:t>
            </a:r>
          </a:p>
          <a:p>
            <a:pPr eaLnBrk="1" hangingPunct="1">
              <a:lnSpc>
                <a:spcPct val="135000"/>
              </a:lnSpc>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    </a:t>
            </a:r>
            <a:r>
              <a:rPr lang="en-US" altLang="zh-CN" sz="2400" dirty="0">
                <a:solidFill>
                  <a:srgbClr val="000099"/>
                </a:solidFill>
                <a:latin typeface="楷体" panose="02010609060101010101" pitchFamily="49" charset="-122"/>
                <a:ea typeface="楷体" panose="02010609060101010101" pitchFamily="49" charset="-122"/>
              </a:rPr>
              <a:t>DATA   ENDS</a:t>
            </a:r>
          </a:p>
          <a:p>
            <a:pPr eaLnBrk="1" hangingPunct="1">
              <a:lnSpc>
                <a:spcPct val="135000"/>
              </a:lnSpc>
              <a:spcBef>
                <a:spcPct val="5000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的值由</a:t>
            </a:r>
            <a:r>
              <a:rPr lang="en-US" altLang="zh-CN" sz="2400" dirty="0">
                <a:latin typeface="楷体" panose="02010609060101010101" pitchFamily="49" charset="-122"/>
                <a:ea typeface="楷体" panose="02010609060101010101" pitchFamily="49" charset="-122"/>
              </a:rPr>
              <a:t>ORG</a:t>
            </a:r>
            <a:r>
              <a:rPr lang="zh-CN" altLang="en-US" sz="2400" dirty="0">
                <a:latin typeface="楷体" panose="02010609060101010101" pitchFamily="49" charset="-122"/>
                <a:ea typeface="楷体" panose="02010609060101010101" pitchFamily="49" charset="-122"/>
              </a:rPr>
              <a:t>设置，格式为：</a:t>
            </a:r>
          </a:p>
          <a:p>
            <a:pPr eaLnBrk="1" hangingPunct="1">
              <a:lnSpc>
                <a:spcPct val="135000"/>
              </a:lnSpc>
              <a:spcBef>
                <a:spcPct val="15000"/>
              </a:spcBef>
              <a:buFont typeface="Arial" panose="020B0604020202020204" pitchFamily="34" charset="0"/>
              <a:buNone/>
            </a:pPr>
            <a:r>
              <a:rPr lang="en-US" altLang="zh-CN" sz="2400" dirty="0">
                <a:solidFill>
                  <a:srgbClr val="FF0066"/>
                </a:solidFill>
                <a:latin typeface="楷体" panose="02010609060101010101" pitchFamily="49" charset="-122"/>
                <a:ea typeface="楷体" panose="02010609060101010101" pitchFamily="49" charset="-122"/>
              </a:rPr>
              <a:t>    ORG</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数值表达式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数值表达式的值</a:t>
            </a:r>
          </a:p>
        </p:txBody>
      </p:sp>
    </p:spTree>
    <p:extLst>
      <p:ext uri="{BB962C8B-B14F-4D97-AF65-F5344CB8AC3E}">
        <p14:creationId xmlns:p14="http://schemas.microsoft.com/office/powerpoint/2010/main" val="2387142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7.4.5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段寄存器的设定</a:t>
            </a:r>
          </a:p>
        </p:txBody>
      </p:sp>
      <p:sp>
        <p:nvSpPr>
          <p:cNvPr id="3" name="Rectangle 3"/>
          <p:cNvSpPr txBox="1">
            <a:spLocks noChangeArrowheads="1"/>
          </p:cNvSpPr>
          <p:nvPr/>
        </p:nvSpPr>
        <p:spPr>
          <a:xfrm>
            <a:off x="71021" y="1223315"/>
            <a:ext cx="9001125" cy="5167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dirty="0">
                <a:latin typeface="楷体" panose="02010609060101010101" pitchFamily="49" charset="-122"/>
                <a:ea typeface="楷体" panose="02010609060101010101" pitchFamily="49" charset="-122"/>
              </a:rPr>
              <a:t>    源程序在代码段的开始需要对段寄存器与段之间的关系作设定，以便汇编程序根据给定的偏移地址和段寄存器计算出正确的物理地址。</a:t>
            </a:r>
            <a:r>
              <a:rPr lang="en-US" altLang="zh-CN" sz="2400" dirty="0">
                <a:latin typeface="楷体" panose="02010609060101010101" pitchFamily="49" charset="-122"/>
                <a:ea typeface="楷体" panose="02010609060101010101" pitchFamily="49" charset="-122"/>
              </a:rPr>
              <a:t> </a:t>
            </a:r>
          </a:p>
          <a:p>
            <a:pPr marL="0" indent="0">
              <a:lnSpc>
                <a:spcPct val="150000"/>
              </a:lnSpc>
              <a:buNone/>
            </a:pPr>
            <a:r>
              <a:rPr lang="zh-CN" altLang="en-US" sz="2400" dirty="0">
                <a:latin typeface="楷体" panose="02010609060101010101" pitchFamily="49" charset="-122"/>
                <a:ea typeface="楷体" panose="02010609060101010101" pitchFamily="49" charset="-122"/>
              </a:rPr>
              <a:t>   格式：</a:t>
            </a:r>
          </a:p>
          <a:p>
            <a:pPr marL="0" indent="0">
              <a:lnSpc>
                <a:spcPct val="150000"/>
              </a:lnSpc>
              <a:buNone/>
            </a:pPr>
            <a:r>
              <a:rPr lang="zh-CN" altLang="en-US" sz="2400" dirty="0">
                <a:solidFill>
                  <a:srgbClr val="FF0000"/>
                </a:solidFill>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ASSUME </a:t>
            </a:r>
            <a:r>
              <a:rPr lang="zh-CN" altLang="en-US" sz="2400" dirty="0">
                <a:solidFill>
                  <a:srgbClr val="FF0066"/>
                </a:solidFill>
                <a:latin typeface="楷体" panose="02010609060101010101" pitchFamily="49" charset="-122"/>
                <a:ea typeface="楷体" panose="02010609060101010101" pitchFamily="49" charset="-122"/>
              </a:rPr>
              <a:t>段寄存器：段名</a:t>
            </a:r>
            <a:r>
              <a:rPr lang="en-US" altLang="zh-CN" sz="2400" dirty="0">
                <a:solidFill>
                  <a:srgbClr val="FF0066"/>
                </a:solidFill>
                <a:latin typeface="楷体" panose="02010609060101010101" pitchFamily="49" charset="-122"/>
                <a:ea typeface="楷体" panose="02010609060101010101" pitchFamily="49" charset="-122"/>
              </a:rPr>
              <a:t>[</a:t>
            </a:r>
            <a:r>
              <a:rPr lang="zh-CN" altLang="en-US" sz="2400" dirty="0">
                <a:solidFill>
                  <a:srgbClr val="FF0066"/>
                </a:solidFill>
                <a:latin typeface="楷体" panose="02010609060101010101" pitchFamily="49" charset="-122"/>
                <a:ea typeface="楷体" panose="02010609060101010101" pitchFamily="49" charset="-122"/>
              </a:rPr>
              <a:t>，段寄存器：段名，</a:t>
            </a:r>
            <a:r>
              <a:rPr lang="en-US" altLang="zh-CN" sz="2400" dirty="0">
                <a:solidFill>
                  <a:srgbClr val="FF0066"/>
                </a:solidFill>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ct val="55000"/>
              </a:spcBef>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注：</a:t>
            </a:r>
            <a:r>
              <a:rPr lang="en-US" altLang="zh-CN" sz="2400" dirty="0">
                <a:latin typeface="楷体" panose="02010609060101010101" pitchFamily="49" charset="-122"/>
                <a:ea typeface="楷体" panose="02010609060101010101" pitchFamily="49" charset="-122"/>
              </a:rPr>
              <a:t>ASSUME</a:t>
            </a:r>
            <a:r>
              <a:rPr lang="zh-CN" altLang="en-US" sz="2400" dirty="0">
                <a:latin typeface="楷体" panose="02010609060101010101" pitchFamily="49" charset="-122"/>
                <a:ea typeface="楷体" panose="02010609060101010101" pitchFamily="49" charset="-122"/>
              </a:rPr>
              <a:t>只是告诉汇编程序段寄存器与段间的对应关系，并</a:t>
            </a:r>
            <a:r>
              <a:rPr lang="zh-CN" altLang="en-US" sz="2400" dirty="0">
                <a:solidFill>
                  <a:srgbClr val="FF0066"/>
                </a:solidFill>
                <a:latin typeface="楷体" panose="02010609060101010101" pitchFamily="49" charset="-122"/>
                <a:ea typeface="楷体" panose="02010609060101010101" pitchFamily="49" charset="-122"/>
              </a:rPr>
              <a:t>没有</a:t>
            </a:r>
            <a:r>
              <a:rPr lang="zh-CN" altLang="en-US" sz="2400" dirty="0">
                <a:latin typeface="楷体" panose="02010609060101010101" pitchFamily="49" charset="-122"/>
                <a:ea typeface="楷体" panose="02010609060101010101" pitchFamily="49" charset="-122"/>
              </a:rPr>
              <a:t>将段基址或段选择字置入对应的段寄存器中。程序最后运行时，</a:t>
            </a:r>
            <a:r>
              <a:rPr lang="en-US" altLang="zh-CN" sz="2400" dirty="0">
                <a:latin typeface="楷体" panose="02010609060101010101" pitchFamily="49" charset="-122"/>
                <a:ea typeface="楷体" panose="02010609060101010101" pitchFamily="49" charset="-122"/>
              </a:rPr>
              <a:t>CS</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SS</a:t>
            </a:r>
            <a:r>
              <a:rPr lang="zh-CN" altLang="en-US" sz="2400" dirty="0">
                <a:latin typeface="楷体" panose="02010609060101010101" pitchFamily="49" charset="-122"/>
                <a:ea typeface="楷体" panose="02010609060101010101" pitchFamily="49" charset="-122"/>
              </a:rPr>
              <a:t>的内容由系统自动设置，</a:t>
            </a:r>
            <a:r>
              <a:rPr lang="zh-CN" altLang="en-US" sz="2400" dirty="0">
                <a:solidFill>
                  <a:srgbClr val="FF0000"/>
                </a:solidFill>
                <a:latin typeface="楷体" panose="02010609060101010101" pitchFamily="49" charset="-122"/>
                <a:ea typeface="楷体" panose="02010609060101010101" pitchFamily="49" charset="-122"/>
              </a:rPr>
              <a:t>但</a:t>
            </a:r>
            <a:r>
              <a:rPr lang="en-US" altLang="zh-CN" sz="2400" dirty="0">
                <a:solidFill>
                  <a:srgbClr val="FF0000"/>
                </a:solidFill>
                <a:latin typeface="楷体" panose="02010609060101010101" pitchFamily="49" charset="-122"/>
                <a:ea typeface="楷体" panose="02010609060101010101" pitchFamily="49" charset="-122"/>
              </a:rPr>
              <a:t>DS</a:t>
            </a:r>
            <a:r>
              <a:rPr lang="zh-CN" altLang="en-US" sz="2400" dirty="0">
                <a:solidFill>
                  <a:srgbClr val="FF0000"/>
                </a:solidFill>
                <a:latin typeface="楷体" panose="02010609060101010101" pitchFamily="49" charset="-122"/>
                <a:ea typeface="楷体" panose="02010609060101010101" pitchFamily="49" charset="-122"/>
              </a:rPr>
              <a:t>和</a:t>
            </a:r>
            <a:r>
              <a:rPr lang="en-US" altLang="zh-CN" sz="2400" dirty="0">
                <a:solidFill>
                  <a:srgbClr val="FF0000"/>
                </a:solidFill>
                <a:latin typeface="楷体" panose="02010609060101010101" pitchFamily="49" charset="-122"/>
                <a:ea typeface="楷体" panose="02010609060101010101" pitchFamily="49" charset="-122"/>
              </a:rPr>
              <a:t>ES</a:t>
            </a:r>
            <a:r>
              <a:rPr lang="zh-CN" altLang="en-US" sz="2400" dirty="0">
                <a:solidFill>
                  <a:srgbClr val="FF0000"/>
                </a:solidFill>
                <a:latin typeface="楷体" panose="02010609060101010101" pitchFamily="49" charset="-122"/>
                <a:ea typeface="楷体" panose="02010609060101010101" pitchFamily="49" charset="-122"/>
              </a:rPr>
              <a:t>必须由程序将其段基址或段选择字分别置入</a:t>
            </a:r>
            <a:r>
              <a:rPr lang="zh-CN" altLang="en-US" sz="24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41392970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7.4.6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源程序的结束</a:t>
            </a:r>
          </a:p>
        </p:txBody>
      </p:sp>
      <p:sp>
        <p:nvSpPr>
          <p:cNvPr id="3" name="Rectangle 3"/>
          <p:cNvSpPr txBox="1">
            <a:spLocks noChangeArrowheads="1"/>
          </p:cNvSpPr>
          <p:nvPr/>
        </p:nvSpPr>
        <p:spPr>
          <a:xfrm>
            <a:off x="428625" y="1871386"/>
            <a:ext cx="8643938" cy="39168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dirty="0">
                <a:latin typeface="楷体" panose="02010609060101010101" pitchFamily="49" charset="-122"/>
                <a:ea typeface="楷体" panose="02010609060101010101" pitchFamily="49" charset="-122"/>
              </a:rPr>
              <a:t>格式：</a:t>
            </a:r>
            <a:r>
              <a:rPr lang="en-US" altLang="zh-CN" sz="2400" dirty="0">
                <a:solidFill>
                  <a:srgbClr val="FF0066"/>
                </a:solidFill>
                <a:latin typeface="楷体" panose="02010609060101010101" pitchFamily="49" charset="-122"/>
                <a:ea typeface="楷体" panose="02010609060101010101" pitchFamily="49" charset="-122"/>
              </a:rPr>
              <a:t>END  [</a:t>
            </a:r>
            <a:r>
              <a:rPr lang="zh-CN" altLang="en-US" sz="2400" dirty="0">
                <a:solidFill>
                  <a:srgbClr val="FF0066"/>
                </a:solidFill>
                <a:latin typeface="楷体" panose="02010609060101010101" pitchFamily="49" charset="-122"/>
                <a:ea typeface="楷体" panose="02010609060101010101" pitchFamily="49" charset="-122"/>
              </a:rPr>
              <a:t>表达式</a:t>
            </a:r>
            <a:r>
              <a:rPr lang="en-US" altLang="zh-CN" sz="2400" dirty="0">
                <a:solidFill>
                  <a:srgbClr val="FF0066"/>
                </a:solidFill>
                <a:latin typeface="楷体" panose="02010609060101010101" pitchFamily="49" charset="-122"/>
                <a:ea typeface="楷体" panose="02010609060101010101" pitchFamily="49" charset="-122"/>
              </a:rPr>
              <a:t>]</a:t>
            </a:r>
          </a:p>
          <a:p>
            <a:pPr marL="0" indent="0">
              <a:lnSpc>
                <a:spcPct val="150000"/>
              </a:lnSpc>
              <a:buNone/>
            </a:pPr>
            <a:r>
              <a:rPr lang="zh-CN" altLang="en-US" sz="2400" dirty="0">
                <a:latin typeface="楷体" panose="02010609060101010101" pitchFamily="49" charset="-122"/>
                <a:ea typeface="楷体" panose="02010609060101010101" pitchFamily="49" charset="-122"/>
              </a:rPr>
              <a:t>功能：标志整个源程序结束，即告诉汇编程序，汇编到此结束</a:t>
            </a:r>
          </a:p>
          <a:p>
            <a:pPr>
              <a:lnSpc>
                <a:spcPct val="150000"/>
              </a:lnSpc>
              <a:buClr>
                <a:srgbClr val="00B0F0"/>
              </a:buClr>
              <a:buSzPct val="80000"/>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表达式为可选项，必须是存储器地址，即程序的启动地址，常为过程名</a:t>
            </a:r>
          </a:p>
          <a:p>
            <a:pPr>
              <a:lnSpc>
                <a:spcPct val="150000"/>
              </a:lnSpc>
              <a:buClr>
                <a:srgbClr val="00B0F0"/>
              </a:buClr>
              <a:buSzPct val="80000"/>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不带表达式，则该程序不能单独运行，只是供其他程序调用的子模块</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203047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7.4.7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宏汇编源程序的格式</a:t>
            </a:r>
          </a:p>
        </p:txBody>
      </p:sp>
      <p:sp>
        <p:nvSpPr>
          <p:cNvPr id="3" name="Rectangle 3"/>
          <p:cNvSpPr txBox="1">
            <a:spLocks noChangeArrowheads="1"/>
          </p:cNvSpPr>
          <p:nvPr/>
        </p:nvSpPr>
        <p:spPr>
          <a:xfrm>
            <a:off x="2350379" y="1063394"/>
            <a:ext cx="5532991" cy="55895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2000" dirty="0">
                <a:latin typeface="楷体" panose="02010609060101010101" pitchFamily="49" charset="-122"/>
                <a:ea typeface="楷体" panose="02010609060101010101" pitchFamily="49" charset="-122"/>
              </a:rPr>
              <a:t>8086</a:t>
            </a:r>
            <a:r>
              <a:rPr lang="zh-CN" altLang="en-US" sz="2000" dirty="0">
                <a:latin typeface="楷体" panose="02010609060101010101" pitchFamily="49" charset="-122"/>
                <a:ea typeface="楷体" panose="02010609060101010101" pitchFamily="49" charset="-122"/>
              </a:rPr>
              <a:t>的</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位段模式的格式如下：</a:t>
            </a:r>
          </a:p>
          <a:p>
            <a:pPr marL="0" indent="0">
              <a:spcBef>
                <a:spcPct val="0"/>
              </a:spcBef>
              <a:buNone/>
            </a:pPr>
            <a:r>
              <a:rPr lang="en-US" altLang="zh-CN" sz="2000" dirty="0"/>
              <a:t>stack     segment stack </a:t>
            </a:r>
            <a:r>
              <a:rPr lang="en-US" altLang="zh-CN" sz="2000" dirty="0">
                <a:sym typeface="Symbol" panose="05050102010706020507" pitchFamily="18" charset="2"/>
              </a:rPr>
              <a:t></a:t>
            </a:r>
            <a:r>
              <a:rPr lang="en-US" altLang="zh-CN" sz="2000" dirty="0"/>
              <a:t>stack</a:t>
            </a:r>
            <a:r>
              <a:rPr lang="en-US" altLang="zh-CN" sz="2000" dirty="0">
                <a:sym typeface="Symbol" panose="05050102010706020507" pitchFamily="18" charset="2"/>
              </a:rPr>
              <a:t></a:t>
            </a:r>
            <a:endParaRPr lang="en-US" altLang="zh-CN" sz="2000" dirty="0"/>
          </a:p>
          <a:p>
            <a:pPr marL="0" indent="0">
              <a:spcBef>
                <a:spcPct val="0"/>
              </a:spcBef>
              <a:buNone/>
            </a:pPr>
            <a:r>
              <a:rPr lang="en-US" altLang="zh-CN" sz="2000" dirty="0"/>
              <a:t>              </a:t>
            </a:r>
            <a:r>
              <a:rPr lang="en-US" altLang="zh-CN" sz="2000" dirty="0" err="1"/>
              <a:t>dw</a:t>
            </a:r>
            <a:r>
              <a:rPr lang="en-US" altLang="zh-CN" sz="2000" dirty="0"/>
              <a:t> 32 dup(0)</a:t>
            </a:r>
          </a:p>
          <a:p>
            <a:pPr marL="0" indent="0">
              <a:spcBef>
                <a:spcPct val="0"/>
              </a:spcBef>
              <a:buNone/>
            </a:pPr>
            <a:r>
              <a:rPr lang="en-US" altLang="zh-CN" sz="2000" dirty="0"/>
              <a:t>stack     ends</a:t>
            </a:r>
          </a:p>
          <a:p>
            <a:pPr marL="0" indent="0">
              <a:spcBef>
                <a:spcPct val="0"/>
              </a:spcBef>
              <a:buNone/>
            </a:pPr>
            <a:r>
              <a:rPr lang="en-US" altLang="zh-CN" sz="2000" dirty="0"/>
              <a:t>data      segment</a:t>
            </a:r>
          </a:p>
          <a:p>
            <a:pPr marL="0" indent="0">
              <a:spcBef>
                <a:spcPct val="0"/>
              </a:spcBef>
              <a:buNone/>
            </a:pPr>
            <a:r>
              <a:rPr lang="en-US" altLang="zh-CN" sz="2000" dirty="0"/>
              <a:t>              …</a:t>
            </a:r>
          </a:p>
          <a:p>
            <a:pPr marL="0" indent="0">
              <a:spcBef>
                <a:spcPct val="0"/>
              </a:spcBef>
              <a:buNone/>
            </a:pPr>
            <a:r>
              <a:rPr lang="en-US" altLang="zh-CN" sz="2000" dirty="0"/>
              <a:t>data      ends</a:t>
            </a:r>
          </a:p>
          <a:p>
            <a:pPr marL="0" indent="0">
              <a:spcBef>
                <a:spcPct val="0"/>
              </a:spcBef>
              <a:buNone/>
            </a:pPr>
            <a:r>
              <a:rPr lang="en-US" altLang="zh-CN" sz="2000" dirty="0"/>
              <a:t>code      segment</a:t>
            </a:r>
          </a:p>
          <a:p>
            <a:pPr marL="0" indent="0">
              <a:spcBef>
                <a:spcPct val="0"/>
              </a:spcBef>
              <a:buNone/>
            </a:pPr>
            <a:r>
              <a:rPr lang="en-US" altLang="zh-CN" sz="2000" dirty="0"/>
              <a:t>begin     </a:t>
            </a:r>
            <a:r>
              <a:rPr lang="en-US" altLang="zh-CN" sz="2000" dirty="0" err="1"/>
              <a:t>proc</a:t>
            </a:r>
            <a:r>
              <a:rPr lang="en-US" altLang="zh-CN" sz="2000" dirty="0"/>
              <a:t> far</a:t>
            </a:r>
          </a:p>
          <a:p>
            <a:pPr marL="0" indent="0">
              <a:spcBef>
                <a:spcPct val="0"/>
              </a:spcBef>
              <a:buNone/>
            </a:pPr>
            <a:r>
              <a:rPr lang="en-US" altLang="zh-CN" sz="2000" dirty="0"/>
              <a:t>               assume </a:t>
            </a:r>
            <a:r>
              <a:rPr lang="en-US" altLang="zh-CN" sz="2000" dirty="0" err="1"/>
              <a:t>ss</a:t>
            </a:r>
            <a:r>
              <a:rPr lang="zh-CN" altLang="en-US" sz="2000" dirty="0"/>
              <a:t>：</a:t>
            </a:r>
            <a:r>
              <a:rPr lang="en-US" altLang="zh-CN" sz="2000" dirty="0"/>
              <a:t>stack</a:t>
            </a:r>
            <a:r>
              <a:rPr lang="zh-CN" altLang="en-US" sz="2000" dirty="0"/>
              <a:t>，</a:t>
            </a:r>
            <a:r>
              <a:rPr lang="en-US" altLang="zh-CN" sz="2000" dirty="0" err="1"/>
              <a:t>cs</a:t>
            </a:r>
            <a:r>
              <a:rPr lang="zh-CN" altLang="en-US" sz="2000" dirty="0"/>
              <a:t>：</a:t>
            </a:r>
            <a:r>
              <a:rPr lang="en-US" altLang="zh-CN" sz="2000" dirty="0"/>
              <a:t>code</a:t>
            </a:r>
            <a:r>
              <a:rPr lang="zh-CN" altLang="en-US" sz="2000" dirty="0"/>
              <a:t>，</a:t>
            </a:r>
            <a:r>
              <a:rPr lang="en-US" altLang="zh-CN" sz="2000" dirty="0"/>
              <a:t>ds</a:t>
            </a:r>
            <a:r>
              <a:rPr lang="zh-CN" altLang="en-US" sz="2000" dirty="0"/>
              <a:t>：</a:t>
            </a:r>
            <a:r>
              <a:rPr lang="en-US" altLang="zh-CN" sz="2000" dirty="0"/>
              <a:t>data</a:t>
            </a:r>
          </a:p>
          <a:p>
            <a:pPr marL="0" indent="0">
              <a:spcBef>
                <a:spcPct val="0"/>
              </a:spcBef>
              <a:buNone/>
            </a:pPr>
            <a:r>
              <a:rPr lang="en-US" altLang="zh-CN" sz="2000" dirty="0"/>
              <a:t>               push ds</a:t>
            </a:r>
          </a:p>
          <a:p>
            <a:pPr marL="0" indent="0">
              <a:spcBef>
                <a:spcPct val="0"/>
              </a:spcBef>
              <a:buNone/>
            </a:pPr>
            <a:r>
              <a:rPr lang="en-US" altLang="zh-CN" sz="2000" dirty="0"/>
              <a:t>               sub ax</a:t>
            </a:r>
            <a:r>
              <a:rPr lang="zh-CN" altLang="en-US" sz="2000" dirty="0"/>
              <a:t>，</a:t>
            </a:r>
            <a:r>
              <a:rPr lang="en-US" altLang="zh-CN" sz="2000" dirty="0"/>
              <a:t>ax</a:t>
            </a:r>
          </a:p>
          <a:p>
            <a:pPr marL="0" indent="0">
              <a:spcBef>
                <a:spcPct val="0"/>
              </a:spcBef>
              <a:buNone/>
            </a:pPr>
            <a:r>
              <a:rPr lang="en-US" altLang="zh-CN" sz="2000" dirty="0"/>
              <a:t>              push ax</a:t>
            </a:r>
          </a:p>
          <a:p>
            <a:pPr marL="0" indent="0">
              <a:spcBef>
                <a:spcPct val="0"/>
              </a:spcBef>
              <a:buNone/>
            </a:pPr>
            <a:r>
              <a:rPr lang="en-US" altLang="zh-CN" sz="2000" dirty="0"/>
              <a:t>              </a:t>
            </a:r>
            <a:r>
              <a:rPr lang="en-US" altLang="zh-CN" sz="2000" dirty="0" err="1"/>
              <a:t>mov</a:t>
            </a:r>
            <a:r>
              <a:rPr lang="en-US" altLang="zh-CN" sz="2000" dirty="0"/>
              <a:t> ax</a:t>
            </a:r>
            <a:r>
              <a:rPr lang="zh-CN" altLang="en-US" sz="2000" dirty="0"/>
              <a:t>，</a:t>
            </a:r>
            <a:r>
              <a:rPr lang="en-US" altLang="zh-CN" sz="2000" dirty="0"/>
              <a:t>data</a:t>
            </a:r>
          </a:p>
          <a:p>
            <a:pPr marL="0" indent="0">
              <a:spcBef>
                <a:spcPct val="0"/>
              </a:spcBef>
              <a:buNone/>
            </a:pPr>
            <a:r>
              <a:rPr lang="en-US" altLang="zh-CN" sz="2000" dirty="0"/>
              <a:t>              </a:t>
            </a:r>
            <a:r>
              <a:rPr lang="en-US" altLang="zh-CN" sz="2000" dirty="0" err="1"/>
              <a:t>mov</a:t>
            </a:r>
            <a:r>
              <a:rPr lang="en-US" altLang="zh-CN" sz="2000" dirty="0"/>
              <a:t> ds</a:t>
            </a:r>
            <a:r>
              <a:rPr lang="zh-CN" altLang="en-US" sz="2000" dirty="0"/>
              <a:t>，</a:t>
            </a:r>
            <a:r>
              <a:rPr lang="en-US" altLang="zh-CN" sz="2000" dirty="0"/>
              <a:t>ax</a:t>
            </a:r>
          </a:p>
          <a:p>
            <a:pPr marL="0" indent="0">
              <a:spcBef>
                <a:spcPct val="0"/>
              </a:spcBef>
              <a:buNone/>
            </a:pPr>
            <a:r>
              <a:rPr lang="en-US" altLang="zh-CN" sz="2000" dirty="0"/>
              <a:t>              …</a:t>
            </a:r>
          </a:p>
          <a:p>
            <a:pPr marL="0" indent="0">
              <a:spcBef>
                <a:spcPct val="0"/>
              </a:spcBef>
              <a:buNone/>
            </a:pPr>
            <a:r>
              <a:rPr lang="en-US" altLang="zh-CN" sz="2000" dirty="0"/>
              <a:t>              ret</a:t>
            </a:r>
          </a:p>
          <a:p>
            <a:pPr marL="0" indent="0">
              <a:spcBef>
                <a:spcPct val="0"/>
              </a:spcBef>
              <a:buNone/>
            </a:pPr>
            <a:r>
              <a:rPr lang="en-US" altLang="zh-CN" sz="2000" dirty="0"/>
              <a:t>begin     </a:t>
            </a:r>
            <a:r>
              <a:rPr lang="en-US" altLang="zh-CN" sz="2000" dirty="0" err="1"/>
              <a:t>endp</a:t>
            </a:r>
            <a:endParaRPr lang="en-US" altLang="zh-CN" sz="2000" dirty="0"/>
          </a:p>
          <a:p>
            <a:pPr marL="0" indent="0">
              <a:spcBef>
                <a:spcPct val="0"/>
              </a:spcBef>
              <a:buNone/>
            </a:pPr>
            <a:r>
              <a:rPr lang="en-US" altLang="zh-CN" sz="2000" dirty="0"/>
              <a:t>code      ends</a:t>
            </a:r>
          </a:p>
          <a:p>
            <a:pPr marL="0" indent="0">
              <a:spcBef>
                <a:spcPct val="0"/>
              </a:spcBef>
              <a:buNone/>
            </a:pPr>
            <a:r>
              <a:rPr lang="en-US" altLang="zh-CN" sz="2000" dirty="0"/>
              <a:t>              end begin</a:t>
            </a:r>
            <a:endParaRPr lang="zh-CN" altLang="en-US" sz="2000" dirty="0"/>
          </a:p>
        </p:txBody>
      </p:sp>
    </p:spTree>
    <p:extLst>
      <p:ext uri="{BB962C8B-B14F-4D97-AF65-F5344CB8AC3E}">
        <p14:creationId xmlns:p14="http://schemas.microsoft.com/office/powerpoint/2010/main" val="38520637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7.5 </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常用</a:t>
            </a: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DOS</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系统功能调用</a:t>
            </a:r>
          </a:p>
        </p:txBody>
      </p:sp>
      <p:sp>
        <p:nvSpPr>
          <p:cNvPr id="3" name="Rectangle 3"/>
          <p:cNvSpPr txBox="1">
            <a:spLocks noChangeArrowheads="1"/>
          </p:cNvSpPr>
          <p:nvPr/>
        </p:nvSpPr>
        <p:spPr>
          <a:xfrm>
            <a:off x="462056" y="2235786"/>
            <a:ext cx="8572500" cy="32952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400" dirty="0">
                <a:latin typeface="楷体" panose="02010609060101010101" pitchFamily="49" charset="-122"/>
                <a:ea typeface="楷体" panose="02010609060101010101" pitchFamily="49" charset="-122"/>
              </a:rPr>
              <a:t>    IBM PC</a:t>
            </a:r>
            <a:r>
              <a:rPr lang="zh-CN" altLang="en-US" sz="2400" dirty="0">
                <a:latin typeface="楷体" panose="02010609060101010101" pitchFamily="49" charset="-122"/>
                <a:ea typeface="楷体" panose="02010609060101010101" pitchFamily="49" charset="-122"/>
              </a:rPr>
              <a:t>微机系统为汇编用户提供了</a:t>
            </a:r>
            <a:r>
              <a:rPr lang="zh-CN" altLang="en-US" sz="2400" dirty="0">
                <a:solidFill>
                  <a:srgbClr val="FF0066"/>
                </a:solidFill>
                <a:latin typeface="楷体" panose="02010609060101010101" pitchFamily="49" charset="-122"/>
                <a:ea typeface="楷体" panose="02010609060101010101" pitchFamily="49" charset="-122"/>
              </a:rPr>
              <a:t>两个程序接口</a:t>
            </a:r>
            <a:r>
              <a:rPr lang="zh-CN" altLang="en-US" sz="2400" dirty="0">
                <a:latin typeface="楷体" panose="02010609060101010101" pitchFamily="49" charset="-122"/>
                <a:ea typeface="楷体" panose="02010609060101010101" pitchFamily="49" charset="-122"/>
              </a:rPr>
              <a:t>，一个是</a:t>
            </a:r>
            <a:r>
              <a:rPr lang="en-US" altLang="zh-CN" sz="2400" dirty="0">
                <a:solidFill>
                  <a:srgbClr val="FF0000"/>
                </a:solidFill>
                <a:latin typeface="楷体" panose="02010609060101010101" pitchFamily="49" charset="-122"/>
                <a:ea typeface="楷体" panose="02010609060101010101" pitchFamily="49" charset="-122"/>
              </a:rPr>
              <a:t>DOS</a:t>
            </a:r>
            <a:r>
              <a:rPr lang="zh-CN" altLang="en-US" sz="2400" dirty="0">
                <a:solidFill>
                  <a:srgbClr val="FF0000"/>
                </a:solidFill>
                <a:latin typeface="楷体" panose="02010609060101010101" pitchFamily="49" charset="-122"/>
                <a:ea typeface="楷体" panose="02010609060101010101" pitchFamily="49" charset="-122"/>
              </a:rPr>
              <a:t>系统功能调用</a:t>
            </a:r>
            <a:r>
              <a:rPr lang="zh-CN" altLang="en-US" sz="2400" dirty="0">
                <a:latin typeface="楷体" panose="02010609060101010101" pitchFamily="49" charset="-122"/>
                <a:ea typeface="楷体" panose="02010609060101010101" pitchFamily="49" charset="-122"/>
              </a:rPr>
              <a:t>，另一个是</a:t>
            </a:r>
            <a:r>
              <a:rPr lang="en-US" altLang="zh-CN" sz="2400" dirty="0">
                <a:latin typeface="楷体" panose="02010609060101010101" pitchFamily="49" charset="-122"/>
                <a:ea typeface="楷体" panose="02010609060101010101" pitchFamily="49" charset="-122"/>
              </a:rPr>
              <a:t>ROM</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BIOS</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Basic  Input  /</a:t>
            </a:r>
            <a:r>
              <a:rPr lang="en-US" altLang="zh-CN" sz="2400" dirty="0" err="1">
                <a:latin typeface="楷体" panose="02010609060101010101" pitchFamily="49" charset="-122"/>
                <a:ea typeface="楷体" panose="02010609060101010101" pitchFamily="49" charset="-122"/>
              </a:rPr>
              <a:t>OutpuT</a:t>
            </a:r>
            <a:r>
              <a:rPr lang="en-US" altLang="zh-CN" sz="2400" dirty="0">
                <a:latin typeface="楷体" panose="02010609060101010101" pitchFamily="49" charset="-122"/>
                <a:ea typeface="楷体" panose="02010609060101010101" pitchFamily="49" charset="-122"/>
              </a:rPr>
              <a:t> System</a:t>
            </a:r>
            <a:r>
              <a:rPr lang="zh-CN" altLang="en-US" sz="2400" dirty="0">
                <a:latin typeface="楷体" panose="02010609060101010101" pitchFamily="49" charset="-122"/>
                <a:ea typeface="楷体" panose="02010609060101010101" pitchFamily="49" charset="-122"/>
              </a:rPr>
              <a:t>）。它们由一系列中断服务子程序构成，由软中断指令 </a:t>
            </a:r>
            <a:r>
              <a:rPr lang="en-US" altLang="zh-CN" sz="2400" dirty="0">
                <a:solidFill>
                  <a:srgbClr val="FF0066"/>
                </a:solidFill>
                <a:latin typeface="楷体" panose="02010609060101010101" pitchFamily="49" charset="-122"/>
                <a:ea typeface="楷体" panose="02010609060101010101" pitchFamily="49" charset="-122"/>
              </a:rPr>
              <a:t>INT N</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来调用，通过中断返回指令</a:t>
            </a:r>
            <a:r>
              <a:rPr lang="en-US" altLang="zh-CN" sz="2400" dirty="0">
                <a:latin typeface="楷体" panose="02010609060101010101" pitchFamily="49" charset="-122"/>
                <a:ea typeface="楷体" panose="02010609060101010101" pitchFamily="49" charset="-122"/>
              </a:rPr>
              <a:t>IRET</a:t>
            </a:r>
            <a:r>
              <a:rPr lang="zh-CN" altLang="en-US" sz="2400" dirty="0">
                <a:latin typeface="楷体" panose="02010609060101010101" pitchFamily="49" charset="-122"/>
                <a:ea typeface="楷体" panose="02010609060101010101" pitchFamily="49" charset="-122"/>
              </a:rPr>
              <a:t>返回</a:t>
            </a:r>
          </a:p>
        </p:txBody>
      </p:sp>
    </p:spTree>
    <p:extLst>
      <p:ext uri="{BB962C8B-B14F-4D97-AF65-F5344CB8AC3E}">
        <p14:creationId xmlns:p14="http://schemas.microsoft.com/office/powerpoint/2010/main" val="13017326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D409EF-CA3E-49B5-952B-2776ECF6152C}"/>
              </a:ext>
            </a:extLst>
          </p:cNvPr>
          <p:cNvSpPr txBox="1">
            <a:spLocks noChangeArrowheads="1"/>
          </p:cNvSpPr>
          <p:nvPr/>
        </p:nvSpPr>
        <p:spPr>
          <a:xfrm>
            <a:off x="2281238" y="609600"/>
            <a:ext cx="6862762" cy="487363"/>
          </a:xfrm>
          <a:prstGeom prst="rect">
            <a:avLst/>
          </a:prstGeom>
          <a:ln>
            <a:miter lim="800000"/>
          </a:ln>
        </p:spPr>
        <p:txBody>
          <a:bodyPr rtlCol="0">
            <a:normAutofit fontScale="77500" lnSpcReduction="20000"/>
            <a:scene3d>
              <a:camera prst="orthographicFront"/>
              <a:lightRig rig="soft" dir="t"/>
            </a:scene3d>
            <a:sp3d prstMaterial="matte">
              <a:bevelT w="12700" h="12700"/>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a:solidFill>
                  <a:schemeClr val="accent4"/>
                </a:solidFill>
                <a:latin typeface="楷体_GB2312" pitchFamily="49" charset="-122"/>
                <a:ea typeface="楷体_GB2312" pitchFamily="49" charset="-122"/>
              </a:rPr>
              <a:t> </a:t>
            </a:r>
          </a:p>
        </p:txBody>
      </p:sp>
      <p:sp>
        <p:nvSpPr>
          <p:cNvPr id="4" name="Rectangle 3"/>
          <p:cNvSpPr txBox="1">
            <a:spLocks noChangeArrowheads="1"/>
          </p:cNvSpPr>
          <p:nvPr/>
        </p:nvSpPr>
        <p:spPr>
          <a:xfrm>
            <a:off x="473075" y="1214438"/>
            <a:ext cx="7772400" cy="508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调用的一般过程：</a:t>
            </a:r>
          </a:p>
        </p:txBody>
      </p:sp>
      <p:grpSp>
        <p:nvGrpSpPr>
          <p:cNvPr id="5" name="Group 19"/>
          <p:cNvGrpSpPr>
            <a:grpSpLocks/>
          </p:cNvGrpSpPr>
          <p:nvPr/>
        </p:nvGrpSpPr>
        <p:grpSpPr bwMode="auto">
          <a:xfrm>
            <a:off x="1876425" y="2205038"/>
            <a:ext cx="6696075" cy="3505200"/>
            <a:chOff x="1157" y="1389"/>
            <a:chExt cx="4218" cy="2208"/>
          </a:xfrm>
        </p:grpSpPr>
        <p:grpSp>
          <p:nvGrpSpPr>
            <p:cNvPr id="6" name="Group 14"/>
            <p:cNvGrpSpPr>
              <a:grpSpLocks/>
            </p:cNvGrpSpPr>
            <p:nvPr/>
          </p:nvGrpSpPr>
          <p:grpSpPr bwMode="auto">
            <a:xfrm>
              <a:off x="1157" y="1389"/>
              <a:ext cx="1620" cy="2208"/>
              <a:chOff x="2454" y="1344"/>
              <a:chExt cx="1620" cy="2208"/>
            </a:xfrm>
          </p:grpSpPr>
          <p:sp>
            <p:nvSpPr>
              <p:cNvPr id="11" name="Rectangle 4">
                <a:extLst>
                  <a:ext uri="{FF2B5EF4-FFF2-40B4-BE49-F238E27FC236}">
                    <a16:creationId xmlns:a16="http://schemas.microsoft.com/office/drawing/2014/main" id="{8AC1DE1A-56C1-4F18-AABE-8D413D5E7B82}"/>
                  </a:ext>
                </a:extLst>
              </p:cNvPr>
              <p:cNvSpPr>
                <a:spLocks noChangeArrowheads="1"/>
              </p:cNvSpPr>
              <p:nvPr/>
            </p:nvSpPr>
            <p:spPr bwMode="auto">
              <a:xfrm>
                <a:off x="2634" y="1344"/>
                <a:ext cx="1178" cy="288"/>
              </a:xfrm>
              <a:prstGeom prst="rect">
                <a:avLst/>
              </a:prstGeom>
            </p:spPr>
            <p:style>
              <a:lnRef idx="1">
                <a:schemeClr val="accent1"/>
              </a:lnRef>
              <a:fillRef idx="3">
                <a:schemeClr val="accent1"/>
              </a:fillRef>
              <a:effectRef idx="2">
                <a:schemeClr val="accent1"/>
              </a:effectRef>
              <a:fontRef idx="minor">
                <a:schemeClr val="lt1"/>
              </a:fontRef>
            </p:style>
            <p:txBody>
              <a:bodyPr wrap="none" anchor="ctr"/>
              <a:lstStyle/>
              <a:p>
                <a:pPr algn="ctr" eaLnBrk="1" hangingPunct="1">
                  <a:defRPr/>
                </a:pPr>
                <a:r>
                  <a:rPr kumimoji="1" lang="zh-CN" altLang="en-US" sz="2000" dirty="0">
                    <a:solidFill>
                      <a:schemeClr val="bg1"/>
                    </a:solidFill>
                    <a:latin typeface="楷体" panose="02010609060101010101" pitchFamily="49" charset="-122"/>
                    <a:ea typeface="楷体" panose="02010609060101010101" pitchFamily="49" charset="-122"/>
                  </a:rPr>
                  <a:t>置入口参数</a:t>
                </a:r>
              </a:p>
            </p:txBody>
          </p:sp>
          <p:sp>
            <p:nvSpPr>
              <p:cNvPr id="12" name="Rectangle 5">
                <a:extLst>
                  <a:ext uri="{FF2B5EF4-FFF2-40B4-BE49-F238E27FC236}">
                    <a16:creationId xmlns:a16="http://schemas.microsoft.com/office/drawing/2014/main" id="{5AA2A295-A7EC-4C44-9B9D-637222B50581}"/>
                  </a:ext>
                </a:extLst>
              </p:cNvPr>
              <p:cNvSpPr>
                <a:spLocks noChangeArrowheads="1"/>
              </p:cNvSpPr>
              <p:nvPr/>
            </p:nvSpPr>
            <p:spPr bwMode="auto">
              <a:xfrm>
                <a:off x="2454" y="1920"/>
                <a:ext cx="1620" cy="336"/>
              </a:xfrm>
              <a:prstGeom prst="rect">
                <a:avLst/>
              </a:prstGeom>
            </p:spPr>
            <p:style>
              <a:lnRef idx="1">
                <a:schemeClr val="accent1"/>
              </a:lnRef>
              <a:fillRef idx="3">
                <a:schemeClr val="accent1"/>
              </a:fillRef>
              <a:effectRef idx="2">
                <a:schemeClr val="accent1"/>
              </a:effectRef>
              <a:fontRef idx="minor">
                <a:schemeClr val="lt1"/>
              </a:fontRef>
            </p:style>
            <p:txBody>
              <a:bodyPr wrap="none" anchor="ctr"/>
              <a:lstStyle/>
              <a:p>
                <a:pPr algn="ctr" eaLnBrk="1" hangingPunct="1">
                  <a:defRPr/>
                </a:pPr>
                <a:r>
                  <a:rPr kumimoji="1" lang="zh-CN" altLang="en-US" sz="2000">
                    <a:solidFill>
                      <a:schemeClr val="bg1"/>
                    </a:solidFill>
                    <a:latin typeface="楷体" panose="02010609060101010101" pitchFamily="49" charset="-122"/>
                    <a:ea typeface="楷体" panose="02010609060101010101" pitchFamily="49" charset="-122"/>
                  </a:rPr>
                  <a:t>功能调用号→</a:t>
                </a:r>
                <a:r>
                  <a:rPr kumimoji="1" lang="en-US" altLang="zh-CN" sz="2000">
                    <a:solidFill>
                      <a:schemeClr val="bg1"/>
                    </a:solidFill>
                    <a:latin typeface="楷体" panose="02010609060101010101" pitchFamily="49" charset="-122"/>
                    <a:ea typeface="楷体" panose="02010609060101010101" pitchFamily="49" charset="-122"/>
                  </a:rPr>
                  <a:t>AH</a:t>
                </a:r>
              </a:p>
            </p:txBody>
          </p:sp>
          <p:sp>
            <p:nvSpPr>
              <p:cNvPr id="13" name="Rectangle 6">
                <a:extLst>
                  <a:ext uri="{FF2B5EF4-FFF2-40B4-BE49-F238E27FC236}">
                    <a16:creationId xmlns:a16="http://schemas.microsoft.com/office/drawing/2014/main" id="{ABB9D671-B79F-4021-818A-4A610CFC1B19}"/>
                  </a:ext>
                </a:extLst>
              </p:cNvPr>
              <p:cNvSpPr>
                <a:spLocks noChangeArrowheads="1"/>
              </p:cNvSpPr>
              <p:nvPr/>
            </p:nvSpPr>
            <p:spPr bwMode="auto">
              <a:xfrm>
                <a:off x="2454" y="2520"/>
                <a:ext cx="1620" cy="408"/>
              </a:xfrm>
              <a:prstGeom prst="rect">
                <a:avLst/>
              </a:prstGeom>
            </p:spPr>
            <p:style>
              <a:lnRef idx="1">
                <a:schemeClr val="accent1"/>
              </a:lnRef>
              <a:fillRef idx="3">
                <a:schemeClr val="accent1"/>
              </a:fillRef>
              <a:effectRef idx="2">
                <a:schemeClr val="accent1"/>
              </a:effectRef>
              <a:fontRef idx="minor">
                <a:schemeClr val="lt1"/>
              </a:fontRef>
            </p:style>
            <p:txBody>
              <a:bodyPr wrap="none" anchor="ctr"/>
              <a:lstStyle/>
              <a:p>
                <a:pPr algn="ctr" eaLnBrk="1" hangingPunct="1">
                  <a:defRPr/>
                </a:pPr>
                <a:r>
                  <a:rPr kumimoji="1" lang="zh-CN" altLang="en-US" sz="2000">
                    <a:solidFill>
                      <a:schemeClr val="bg1"/>
                    </a:solidFill>
                    <a:latin typeface="楷体" panose="02010609060101010101" pitchFamily="49" charset="-122"/>
                    <a:ea typeface="楷体" panose="02010609060101010101" pitchFamily="49" charset="-122"/>
                  </a:rPr>
                  <a:t>执行</a:t>
                </a:r>
                <a:r>
                  <a:rPr kumimoji="1" lang="en-US" altLang="zh-CN" sz="2000">
                    <a:solidFill>
                      <a:schemeClr val="bg1"/>
                    </a:solidFill>
                    <a:latin typeface="楷体" panose="02010609060101010101" pitchFamily="49" charset="-122"/>
                    <a:ea typeface="楷体" panose="02010609060101010101" pitchFamily="49" charset="-122"/>
                  </a:rPr>
                  <a:t>INT   21H</a:t>
                </a:r>
              </a:p>
            </p:txBody>
          </p:sp>
          <p:sp>
            <p:nvSpPr>
              <p:cNvPr id="14" name="Rectangle 7">
                <a:extLst>
                  <a:ext uri="{FF2B5EF4-FFF2-40B4-BE49-F238E27FC236}">
                    <a16:creationId xmlns:a16="http://schemas.microsoft.com/office/drawing/2014/main" id="{232E064C-7440-4E61-A465-9A78445EC598}"/>
                  </a:ext>
                </a:extLst>
              </p:cNvPr>
              <p:cNvSpPr>
                <a:spLocks noChangeArrowheads="1"/>
              </p:cNvSpPr>
              <p:nvPr/>
            </p:nvSpPr>
            <p:spPr bwMode="auto">
              <a:xfrm>
                <a:off x="2454" y="3195"/>
                <a:ext cx="1620" cy="357"/>
              </a:xfrm>
              <a:prstGeom prst="rect">
                <a:avLst/>
              </a:prstGeom>
            </p:spPr>
            <p:style>
              <a:lnRef idx="1">
                <a:schemeClr val="accent1"/>
              </a:lnRef>
              <a:fillRef idx="3">
                <a:schemeClr val="accent1"/>
              </a:fillRef>
              <a:effectRef idx="2">
                <a:schemeClr val="accent1"/>
              </a:effectRef>
              <a:fontRef idx="minor">
                <a:schemeClr val="lt1"/>
              </a:fontRef>
            </p:style>
            <p:txBody>
              <a:bodyPr wrap="none" anchor="ctr"/>
              <a:lstStyle/>
              <a:p>
                <a:pPr algn="ctr" eaLnBrk="1" hangingPunct="1">
                  <a:defRPr/>
                </a:pPr>
                <a:r>
                  <a:rPr kumimoji="1" lang="zh-CN" altLang="en-US" sz="2000" dirty="0">
                    <a:solidFill>
                      <a:schemeClr val="bg1"/>
                    </a:solidFill>
                    <a:latin typeface="楷体" panose="02010609060101010101" pitchFamily="49" charset="-122"/>
                    <a:ea typeface="楷体" panose="02010609060101010101" pitchFamily="49" charset="-122"/>
                  </a:rPr>
                  <a:t>分析出口参数</a:t>
                </a:r>
              </a:p>
            </p:txBody>
          </p:sp>
          <p:sp>
            <p:nvSpPr>
              <p:cNvPr id="15" name="Line 8"/>
              <p:cNvSpPr>
                <a:spLocks noChangeShapeType="1"/>
              </p:cNvSpPr>
              <p:nvPr/>
            </p:nvSpPr>
            <p:spPr bwMode="auto">
              <a:xfrm>
                <a:off x="3264" y="1680"/>
                <a:ext cx="0" cy="19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9"/>
              <p:cNvSpPr>
                <a:spLocks noChangeShapeType="1"/>
              </p:cNvSpPr>
              <p:nvPr/>
            </p:nvSpPr>
            <p:spPr bwMode="auto">
              <a:xfrm>
                <a:off x="3277" y="2304"/>
                <a:ext cx="0" cy="19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0"/>
              <p:cNvSpPr>
                <a:spLocks noChangeShapeType="1"/>
              </p:cNvSpPr>
              <p:nvPr/>
            </p:nvSpPr>
            <p:spPr bwMode="auto">
              <a:xfrm>
                <a:off x="3277" y="2976"/>
                <a:ext cx="0" cy="19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18"/>
            <p:cNvGrpSpPr>
              <a:grpSpLocks/>
            </p:cNvGrpSpPr>
            <p:nvPr/>
          </p:nvGrpSpPr>
          <p:grpSpPr bwMode="auto">
            <a:xfrm>
              <a:off x="2556" y="1525"/>
              <a:ext cx="2819" cy="1895"/>
              <a:chOff x="2556" y="1525"/>
              <a:chExt cx="2819" cy="1895"/>
            </a:xfrm>
          </p:grpSpPr>
          <p:sp>
            <p:nvSpPr>
              <p:cNvPr id="8" name="Line 15"/>
              <p:cNvSpPr>
                <a:spLocks noChangeShapeType="1"/>
              </p:cNvSpPr>
              <p:nvPr/>
            </p:nvSpPr>
            <p:spPr bwMode="auto">
              <a:xfrm>
                <a:off x="2556" y="1525"/>
                <a:ext cx="1224" cy="7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6"/>
              <p:cNvSpPr>
                <a:spLocks noChangeShapeType="1"/>
              </p:cNvSpPr>
              <p:nvPr/>
            </p:nvSpPr>
            <p:spPr bwMode="auto">
              <a:xfrm flipV="1">
                <a:off x="2790" y="2370"/>
                <a:ext cx="990" cy="1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17"/>
              <p:cNvSpPr>
                <a:spLocks noChangeArrowheads="1"/>
              </p:cNvSpPr>
              <p:nvPr/>
            </p:nvSpPr>
            <p:spPr bwMode="auto">
              <a:xfrm>
                <a:off x="3825" y="2069"/>
                <a:ext cx="155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视具体情况而定</a:t>
                </a:r>
              </a:p>
            </p:txBody>
          </p:sp>
        </p:grpSp>
      </p:grpSp>
      <p:sp>
        <p:nvSpPr>
          <p:cNvPr id="18" name="标题 3"/>
          <p:cNvSpPr>
            <a:spLocks noChangeArrowheads="1"/>
          </p:cNvSpPr>
          <p:nvPr/>
        </p:nvSpPr>
        <p:spPr bwMode="auto">
          <a:xfrm>
            <a:off x="468313" y="692150"/>
            <a:ext cx="68627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28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3587842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E8B5BD97-FB76-43BA-9C23-469F75F865AC}"/>
              </a:ext>
            </a:extLst>
          </p:cNvPr>
          <p:cNvSpPr>
            <a:spLocks noChangeArrowheads="1"/>
          </p:cNvSpPr>
          <p:nvPr/>
        </p:nvSpPr>
        <p:spPr bwMode="auto">
          <a:xfrm>
            <a:off x="543742" y="1546934"/>
            <a:ext cx="8286750" cy="362902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grpSp>
        <p:nvGrpSpPr>
          <p:cNvPr id="3" name="Group 22"/>
          <p:cNvGrpSpPr>
            <a:grpSpLocks/>
          </p:cNvGrpSpPr>
          <p:nvPr/>
        </p:nvGrpSpPr>
        <p:grpSpPr bwMode="auto">
          <a:xfrm>
            <a:off x="526279" y="1532647"/>
            <a:ext cx="8318500" cy="800100"/>
            <a:chOff x="266" y="1248"/>
            <a:chExt cx="5304" cy="672"/>
          </a:xfrm>
        </p:grpSpPr>
        <p:sp>
          <p:nvSpPr>
            <p:cNvPr id="4"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spcBef>
                  <a:spcPct val="0"/>
                </a:spcBef>
                <a:buClr>
                  <a:schemeClr val="tx2"/>
                </a:buClr>
                <a:buNone/>
              </a:pPr>
              <a:r>
                <a:rPr lang="zh-CN" altLang="en-US" sz="280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800">
                <a:solidFill>
                  <a:schemeClr val="tx2"/>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3"/>
          <p:cNvSpPr txBox="1">
            <a:spLocks noChangeArrowheads="1"/>
          </p:cNvSpPr>
          <p:nvPr/>
        </p:nvSpPr>
        <p:spPr>
          <a:xfrm>
            <a:off x="565967" y="2461334"/>
            <a:ext cx="8243887" cy="2714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楷体" panose="02010609060101010101" pitchFamily="49" charset="-122"/>
                <a:ea typeface="楷体" panose="02010609060101010101" pitchFamily="49" charset="-122"/>
              </a:rPr>
              <a:t>调用格式：</a:t>
            </a:r>
          </a:p>
          <a:p>
            <a:pPr marL="0" indent="0">
              <a:buNone/>
            </a:pP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MOV  AH</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p>
          <a:p>
            <a:pPr marL="0" indent="0">
              <a:buNone/>
            </a:pPr>
            <a:r>
              <a:rPr lang="en-US" altLang="zh-CN" dirty="0">
                <a:latin typeface="楷体" panose="02010609060101010101" pitchFamily="49" charset="-122"/>
                <a:ea typeface="楷体" panose="02010609060101010101" pitchFamily="49" charset="-122"/>
              </a:rPr>
              <a:t>     INT  21H     </a:t>
            </a:r>
          </a:p>
          <a:p>
            <a:pPr marL="0" indent="0">
              <a:buNone/>
            </a:pPr>
            <a:r>
              <a:rPr lang="zh-CN" altLang="en-US" dirty="0">
                <a:latin typeface="楷体" panose="02010609060101010101" pitchFamily="49" charset="-122"/>
                <a:ea typeface="楷体" panose="02010609060101010101" pitchFamily="49" charset="-122"/>
              </a:rPr>
              <a:t>入口：无入口参数</a:t>
            </a:r>
          </a:p>
          <a:p>
            <a:pPr marL="0" indent="0">
              <a:buNone/>
            </a:pPr>
            <a:r>
              <a:rPr lang="zh-CN" altLang="en-US" dirty="0">
                <a:latin typeface="楷体" panose="02010609060101010101" pitchFamily="49" charset="-122"/>
                <a:ea typeface="楷体" panose="02010609060101010101" pitchFamily="49" charset="-122"/>
              </a:rPr>
              <a:t>出口：</a:t>
            </a:r>
            <a:r>
              <a:rPr lang="zh-CN" altLang="en-US" dirty="0">
                <a:solidFill>
                  <a:srgbClr val="FF0066"/>
                </a:solidFill>
                <a:latin typeface="楷体" panose="02010609060101010101" pitchFamily="49" charset="-122"/>
                <a:ea typeface="楷体" panose="02010609060101010101" pitchFamily="49" charset="-122"/>
              </a:rPr>
              <a:t>键入字符</a:t>
            </a:r>
            <a:r>
              <a:rPr lang="en-US" altLang="zh-CN" dirty="0">
                <a:solidFill>
                  <a:srgbClr val="FF0066"/>
                </a:solidFill>
                <a:latin typeface="楷体" panose="02010609060101010101" pitchFamily="49" charset="-122"/>
                <a:ea typeface="楷体" panose="02010609060101010101" pitchFamily="49" charset="-122"/>
              </a:rPr>
              <a:t>ASCII</a:t>
            </a:r>
            <a:r>
              <a:rPr lang="zh-CN" altLang="en-US" dirty="0">
                <a:solidFill>
                  <a:srgbClr val="FF0066"/>
                </a:solidFill>
                <a:latin typeface="楷体" panose="02010609060101010101" pitchFamily="49" charset="-122"/>
                <a:ea typeface="楷体" panose="02010609060101010101" pitchFamily="49" charset="-122"/>
              </a:rPr>
              <a:t>码值在</a:t>
            </a:r>
            <a:r>
              <a:rPr lang="en-US" altLang="zh-CN" dirty="0">
                <a:solidFill>
                  <a:srgbClr val="FF0066"/>
                </a:solidFill>
                <a:latin typeface="楷体" panose="02010609060101010101" pitchFamily="49" charset="-122"/>
                <a:ea typeface="楷体" panose="02010609060101010101" pitchFamily="49" charset="-122"/>
              </a:rPr>
              <a:t>AL</a:t>
            </a:r>
            <a:r>
              <a:rPr lang="zh-CN" altLang="en-US" dirty="0">
                <a:solidFill>
                  <a:srgbClr val="FF0066"/>
                </a:solidFill>
                <a:latin typeface="楷体" panose="02010609060101010101" pitchFamily="49" charset="-122"/>
                <a:ea typeface="楷体" panose="02010609060101010101" pitchFamily="49" charset="-122"/>
              </a:rPr>
              <a:t>中</a:t>
            </a:r>
            <a:r>
              <a:rPr lang="zh-CN" altLang="en-US" dirty="0">
                <a:latin typeface="楷体" panose="02010609060101010101" pitchFamily="49" charset="-122"/>
                <a:ea typeface="楷体" panose="02010609060101010101" pitchFamily="49" charset="-122"/>
              </a:rPr>
              <a:t>，显该字符。</a:t>
            </a:r>
          </a:p>
          <a:p>
            <a:pPr marL="0" indent="0">
              <a:buNone/>
            </a:pPr>
            <a:endParaRPr lang="en-US" altLang="zh-CN" dirty="0">
              <a:latin typeface="楷体" panose="02010609060101010101" pitchFamily="49" charset="-122"/>
              <a:ea typeface="楷体" panose="02010609060101010101" pitchFamily="49" charset="-122"/>
            </a:endParaRPr>
          </a:p>
        </p:txBody>
      </p:sp>
      <p:sp>
        <p:nvSpPr>
          <p:cNvPr id="7" name="矩形 8"/>
          <p:cNvSpPr>
            <a:spLocks noChangeArrowheads="1"/>
          </p:cNvSpPr>
          <p:nvPr/>
        </p:nvSpPr>
        <p:spPr bwMode="auto">
          <a:xfrm>
            <a:off x="1383529" y="1604084"/>
            <a:ext cx="700087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buClr>
                <a:schemeClr val="tx2"/>
              </a:buClr>
              <a:buNone/>
            </a:pP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1</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1</a:t>
            </a:r>
            <a:r>
              <a:rPr lang="zh-CN" altLang="en-US" sz="2800">
                <a:latin typeface="楷体" panose="02010609060101010101" pitchFamily="49" charset="-122"/>
                <a:ea typeface="楷体" panose="02010609060101010101" pitchFamily="49" charset="-122"/>
              </a:rPr>
              <a:t>号功能调用</a:t>
            </a:r>
            <a:r>
              <a:rPr lang="en-US" altLang="zh-CN"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键入并显示一个字符</a:t>
            </a:r>
            <a:r>
              <a:rPr lang="zh-CN" altLang="en-US" sz="28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6740768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2D0DF792-084B-44DE-A5E6-CF367F9B3472}"/>
              </a:ext>
            </a:extLst>
          </p:cNvPr>
          <p:cNvSpPr>
            <a:spLocks noChangeArrowheads="1"/>
          </p:cNvSpPr>
          <p:nvPr/>
        </p:nvSpPr>
        <p:spPr bwMode="auto">
          <a:xfrm>
            <a:off x="446088" y="1300163"/>
            <a:ext cx="8286750" cy="4995862"/>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grpSp>
        <p:nvGrpSpPr>
          <p:cNvPr id="3" name="Group 22"/>
          <p:cNvGrpSpPr>
            <a:grpSpLocks/>
          </p:cNvGrpSpPr>
          <p:nvPr/>
        </p:nvGrpSpPr>
        <p:grpSpPr bwMode="auto">
          <a:xfrm>
            <a:off x="428625" y="1285875"/>
            <a:ext cx="8318500" cy="800100"/>
            <a:chOff x="266" y="1248"/>
            <a:chExt cx="5304" cy="672"/>
          </a:xfrm>
        </p:grpSpPr>
        <p:sp>
          <p:nvSpPr>
            <p:cNvPr id="4"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Tx/>
                <a:buNone/>
              </a:pPr>
              <a:r>
                <a:rPr lang="zh-CN" altLang="en-US" sz="280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800">
                <a:solidFill>
                  <a:schemeClr val="tx2"/>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5"/>
          <p:cNvSpPr>
            <a:spLocks noChangeArrowheads="1"/>
          </p:cNvSpPr>
          <p:nvPr/>
        </p:nvSpPr>
        <p:spPr bwMode="auto">
          <a:xfrm>
            <a:off x="971550" y="2143125"/>
            <a:ext cx="8243888"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600" dirty="0">
                <a:latin typeface="楷体" panose="02010609060101010101" pitchFamily="49" charset="-122"/>
                <a:ea typeface="楷体" panose="02010609060101010101" pitchFamily="49" charset="-122"/>
              </a:rPr>
              <a:t>调用格式：</a:t>
            </a:r>
          </a:p>
          <a:p>
            <a:pPr eaLnBrk="1" hangingPunct="1">
              <a:spcBef>
                <a:spcPct val="0"/>
              </a:spcBef>
              <a:buFont typeface="Arial" panose="020B0604020202020204" pitchFamily="34" charset="0"/>
              <a:buNone/>
            </a:pPr>
            <a:r>
              <a:rPr lang="zh-CN" altLang="en-US" sz="2600" dirty="0">
                <a:latin typeface="楷体" panose="02010609060101010101" pitchFamily="49" charset="-122"/>
                <a:ea typeface="楷体" panose="02010609060101010101" pitchFamily="49" charset="-122"/>
              </a:rPr>
              <a:t>     </a:t>
            </a:r>
            <a:r>
              <a:rPr lang="en-US" altLang="zh-CN" sz="2600" dirty="0">
                <a:latin typeface="楷体" panose="02010609060101010101" pitchFamily="49" charset="-122"/>
                <a:ea typeface="楷体" panose="02010609060101010101" pitchFamily="49" charset="-122"/>
              </a:rPr>
              <a:t>MOV  DL</a:t>
            </a:r>
            <a:r>
              <a:rPr lang="zh-CN" altLang="en-US" sz="2600" dirty="0">
                <a:latin typeface="楷体" panose="02010609060101010101" pitchFamily="49" charset="-122"/>
                <a:ea typeface="楷体" panose="02010609060101010101" pitchFamily="49" charset="-122"/>
              </a:rPr>
              <a:t>，待显示字符的</a:t>
            </a:r>
            <a:r>
              <a:rPr lang="en-US" altLang="zh-CN" sz="2600" dirty="0">
                <a:latin typeface="楷体" panose="02010609060101010101" pitchFamily="49" charset="-122"/>
                <a:ea typeface="楷体" panose="02010609060101010101" pitchFamily="49" charset="-122"/>
              </a:rPr>
              <a:t>ASCII</a:t>
            </a:r>
          </a:p>
          <a:p>
            <a:pPr eaLnBrk="1" hangingPunct="1">
              <a:spcBef>
                <a:spcPct val="0"/>
              </a:spcBef>
              <a:buFont typeface="Arial" panose="020B0604020202020204" pitchFamily="34" charset="0"/>
              <a:buNone/>
            </a:pPr>
            <a:r>
              <a:rPr lang="en-US" altLang="zh-CN" sz="2600" dirty="0">
                <a:latin typeface="楷体" panose="02010609060101010101" pitchFamily="49" charset="-122"/>
                <a:ea typeface="楷体" panose="02010609060101010101" pitchFamily="49" charset="-122"/>
              </a:rPr>
              <a:t>     MOV  AH</a:t>
            </a:r>
            <a:r>
              <a:rPr lang="zh-CN" altLang="en-US" sz="2600" dirty="0">
                <a:latin typeface="楷体" panose="02010609060101010101" pitchFamily="49" charset="-122"/>
                <a:ea typeface="楷体" panose="02010609060101010101" pitchFamily="49" charset="-122"/>
              </a:rPr>
              <a:t>，</a:t>
            </a:r>
            <a:r>
              <a:rPr lang="en-US" altLang="zh-CN" sz="2600" dirty="0">
                <a:latin typeface="楷体" panose="02010609060101010101" pitchFamily="49" charset="-122"/>
                <a:ea typeface="楷体" panose="02010609060101010101" pitchFamily="49" charset="-122"/>
              </a:rPr>
              <a:t>2</a:t>
            </a:r>
          </a:p>
          <a:p>
            <a:pPr eaLnBrk="1" hangingPunct="1">
              <a:spcBef>
                <a:spcPct val="0"/>
              </a:spcBef>
              <a:buFont typeface="Arial" panose="020B0604020202020204" pitchFamily="34" charset="0"/>
              <a:buNone/>
            </a:pPr>
            <a:r>
              <a:rPr lang="en-US" altLang="zh-CN" sz="2600" dirty="0">
                <a:latin typeface="楷体" panose="02010609060101010101" pitchFamily="49" charset="-122"/>
                <a:ea typeface="楷体" panose="02010609060101010101" pitchFamily="49" charset="-122"/>
              </a:rPr>
              <a:t>     INT  21H     </a:t>
            </a:r>
          </a:p>
          <a:p>
            <a:pPr eaLnBrk="1" hangingPunct="1">
              <a:spcBef>
                <a:spcPct val="0"/>
              </a:spcBef>
              <a:buFont typeface="Arial" panose="020B0604020202020204" pitchFamily="34" charset="0"/>
              <a:buNone/>
            </a:pPr>
            <a:r>
              <a:rPr lang="zh-CN" altLang="en-US" sz="2600" dirty="0">
                <a:latin typeface="楷体" panose="02010609060101010101" pitchFamily="49" charset="-122"/>
                <a:ea typeface="楷体" panose="02010609060101010101" pitchFamily="49" charset="-122"/>
              </a:rPr>
              <a:t>入口：</a:t>
            </a:r>
            <a:r>
              <a:rPr lang="zh-CN" altLang="en-US" sz="2600" dirty="0">
                <a:solidFill>
                  <a:srgbClr val="FF0066"/>
                </a:solidFill>
                <a:latin typeface="楷体" panose="02010609060101010101" pitchFamily="49" charset="-122"/>
                <a:ea typeface="楷体" panose="02010609060101010101" pitchFamily="49" charset="-122"/>
              </a:rPr>
              <a:t>输出字符的</a:t>
            </a:r>
            <a:r>
              <a:rPr lang="en-US" altLang="zh-CN" sz="2600" dirty="0">
                <a:solidFill>
                  <a:srgbClr val="FF0066"/>
                </a:solidFill>
                <a:latin typeface="楷体" panose="02010609060101010101" pitchFamily="49" charset="-122"/>
                <a:ea typeface="楷体" panose="02010609060101010101" pitchFamily="49" charset="-122"/>
              </a:rPr>
              <a:t>ASCII </a:t>
            </a:r>
            <a:r>
              <a:rPr lang="zh-CN" altLang="en-US" sz="2600" dirty="0">
                <a:solidFill>
                  <a:srgbClr val="FF0066"/>
                </a:solidFill>
                <a:latin typeface="楷体" panose="02010609060101010101" pitchFamily="49" charset="-122"/>
                <a:ea typeface="楷体" panose="02010609060101010101" pitchFamily="49" charset="-122"/>
              </a:rPr>
              <a:t>送 </a:t>
            </a:r>
            <a:r>
              <a:rPr lang="en-US" altLang="zh-CN" sz="2600" dirty="0">
                <a:solidFill>
                  <a:srgbClr val="FF0066"/>
                </a:solidFill>
                <a:latin typeface="楷体" panose="02010609060101010101" pitchFamily="49" charset="-122"/>
                <a:ea typeface="楷体" panose="02010609060101010101" pitchFamily="49" charset="-122"/>
              </a:rPr>
              <a:t>DL </a:t>
            </a:r>
          </a:p>
          <a:p>
            <a:pPr eaLnBrk="1" hangingPunct="1">
              <a:spcBef>
                <a:spcPct val="0"/>
              </a:spcBef>
              <a:buFont typeface="Arial" panose="020B0604020202020204" pitchFamily="34" charset="0"/>
              <a:buNone/>
            </a:pPr>
            <a:r>
              <a:rPr lang="zh-CN" altLang="en-US" sz="2600" dirty="0">
                <a:latin typeface="楷体" panose="02010609060101010101" pitchFamily="49" charset="-122"/>
                <a:ea typeface="楷体" panose="02010609060101010101" pitchFamily="49" charset="-122"/>
              </a:rPr>
              <a:t>出口：无出口参数</a:t>
            </a:r>
          </a:p>
          <a:p>
            <a:pPr eaLnBrk="1" hangingPunct="1">
              <a:spcBef>
                <a:spcPct val="0"/>
              </a:spcBef>
              <a:buFont typeface="Arial" panose="020B0604020202020204" pitchFamily="34" charset="0"/>
              <a:buNone/>
            </a:pPr>
            <a:r>
              <a:rPr lang="zh-CN" altLang="en-US" sz="2600" dirty="0">
                <a:solidFill>
                  <a:srgbClr val="000099"/>
                </a:solidFill>
                <a:latin typeface="楷体" panose="02010609060101010101" pitchFamily="49" charset="-122"/>
                <a:ea typeface="楷体" panose="02010609060101010101" pitchFamily="49" charset="-122"/>
              </a:rPr>
              <a:t>例：显示字符 </a:t>
            </a:r>
            <a:r>
              <a:rPr lang="en-US" altLang="zh-CN" sz="2600" dirty="0">
                <a:solidFill>
                  <a:srgbClr val="000099"/>
                </a:solidFill>
                <a:latin typeface="楷体" panose="02010609060101010101" pitchFamily="49" charset="-122"/>
                <a:ea typeface="楷体" panose="02010609060101010101" pitchFamily="49" charset="-122"/>
              </a:rPr>
              <a:t>B </a:t>
            </a:r>
          </a:p>
          <a:p>
            <a:pPr eaLnBrk="1" hangingPunct="1">
              <a:spcBef>
                <a:spcPct val="0"/>
              </a:spcBef>
              <a:buFont typeface="Arial" panose="020B0604020202020204" pitchFamily="34" charset="0"/>
              <a:buNone/>
            </a:pPr>
            <a:r>
              <a:rPr lang="en-US" altLang="zh-CN" sz="2600" dirty="0">
                <a:solidFill>
                  <a:srgbClr val="000099"/>
                </a:solidFill>
                <a:latin typeface="楷体" panose="02010609060101010101" pitchFamily="49" charset="-122"/>
                <a:ea typeface="楷体" panose="02010609060101010101" pitchFamily="49" charset="-122"/>
              </a:rPr>
              <a:t>    MOV  AH</a:t>
            </a:r>
            <a:r>
              <a:rPr lang="zh-CN" altLang="en-US" sz="2600" dirty="0">
                <a:solidFill>
                  <a:srgbClr val="000099"/>
                </a:solidFill>
                <a:latin typeface="楷体" panose="02010609060101010101" pitchFamily="49" charset="-122"/>
                <a:ea typeface="楷体" panose="02010609060101010101" pitchFamily="49" charset="-122"/>
              </a:rPr>
              <a:t>，</a:t>
            </a:r>
            <a:r>
              <a:rPr lang="en-US" altLang="zh-CN" sz="2600" dirty="0">
                <a:solidFill>
                  <a:srgbClr val="000099"/>
                </a:solidFill>
                <a:latin typeface="楷体" panose="02010609060101010101" pitchFamily="49" charset="-122"/>
                <a:ea typeface="楷体" panose="02010609060101010101" pitchFamily="49" charset="-122"/>
              </a:rPr>
              <a:t>2</a:t>
            </a:r>
            <a:br>
              <a:rPr lang="en-US" altLang="zh-CN" sz="2600" dirty="0">
                <a:solidFill>
                  <a:srgbClr val="000099"/>
                </a:solidFill>
                <a:latin typeface="楷体" panose="02010609060101010101" pitchFamily="49" charset="-122"/>
                <a:ea typeface="楷体" panose="02010609060101010101" pitchFamily="49" charset="-122"/>
              </a:rPr>
            </a:br>
            <a:r>
              <a:rPr lang="en-US" altLang="zh-CN" sz="2600" dirty="0">
                <a:solidFill>
                  <a:srgbClr val="000099"/>
                </a:solidFill>
                <a:latin typeface="楷体" panose="02010609060101010101" pitchFamily="49" charset="-122"/>
                <a:ea typeface="楷体" panose="02010609060101010101" pitchFamily="49" charset="-122"/>
              </a:rPr>
              <a:t>  MOV  DL</a:t>
            </a:r>
            <a:r>
              <a:rPr lang="zh-CN" altLang="en-US" sz="2600" dirty="0">
                <a:solidFill>
                  <a:srgbClr val="000099"/>
                </a:solidFill>
                <a:latin typeface="楷体" panose="02010609060101010101" pitchFamily="49" charset="-122"/>
                <a:ea typeface="楷体" panose="02010609060101010101" pitchFamily="49" charset="-122"/>
              </a:rPr>
              <a:t>，’</a:t>
            </a:r>
            <a:r>
              <a:rPr lang="en-US" altLang="zh-CN" sz="2600" dirty="0">
                <a:solidFill>
                  <a:srgbClr val="000099"/>
                </a:solidFill>
                <a:latin typeface="楷体" panose="02010609060101010101" pitchFamily="49" charset="-122"/>
                <a:ea typeface="楷体" panose="02010609060101010101" pitchFamily="49" charset="-122"/>
              </a:rPr>
              <a:t>B’</a:t>
            </a:r>
            <a:br>
              <a:rPr lang="en-US" altLang="zh-CN" sz="2600" dirty="0">
                <a:solidFill>
                  <a:srgbClr val="000099"/>
                </a:solidFill>
                <a:latin typeface="楷体" panose="02010609060101010101" pitchFamily="49" charset="-122"/>
                <a:ea typeface="楷体" panose="02010609060101010101" pitchFamily="49" charset="-122"/>
              </a:rPr>
            </a:br>
            <a:r>
              <a:rPr lang="en-US" altLang="zh-CN" sz="2600" dirty="0">
                <a:solidFill>
                  <a:srgbClr val="000099"/>
                </a:solidFill>
                <a:latin typeface="楷体" panose="02010609060101010101" pitchFamily="49" charset="-122"/>
                <a:ea typeface="楷体" panose="02010609060101010101" pitchFamily="49" charset="-122"/>
              </a:rPr>
              <a:t>  INT  21H</a:t>
            </a:r>
          </a:p>
        </p:txBody>
      </p:sp>
      <p:sp>
        <p:nvSpPr>
          <p:cNvPr id="7" name="矩形 6"/>
          <p:cNvSpPr>
            <a:spLocks noChangeArrowheads="1"/>
          </p:cNvSpPr>
          <p:nvPr/>
        </p:nvSpPr>
        <p:spPr bwMode="auto">
          <a:xfrm>
            <a:off x="1143000" y="1366838"/>
            <a:ext cx="7286625"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 typeface="Arial" panose="020B0604020202020204" pitchFamily="34" charset="0"/>
              <a:buNone/>
            </a:pP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2</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2</a:t>
            </a:r>
            <a:r>
              <a:rPr lang="zh-CN" altLang="en-US" sz="2800">
                <a:latin typeface="楷体" panose="02010609060101010101" pitchFamily="49" charset="-122"/>
                <a:ea typeface="楷体" panose="02010609060101010101" pitchFamily="49" charset="-122"/>
              </a:rPr>
              <a:t>号功能调用</a:t>
            </a:r>
            <a:r>
              <a:rPr lang="en-US" altLang="zh-CN" sz="26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显示器显示一个字符</a:t>
            </a:r>
            <a:r>
              <a:rPr lang="zh-CN" altLang="en-US" sz="2600">
                <a:solidFill>
                  <a:srgbClr val="FF0000"/>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7095048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FF688E5B-6E73-4B83-8A25-44886655F78F}"/>
              </a:ext>
            </a:extLst>
          </p:cNvPr>
          <p:cNvSpPr>
            <a:spLocks noChangeArrowheads="1"/>
          </p:cNvSpPr>
          <p:nvPr/>
        </p:nvSpPr>
        <p:spPr bwMode="auto">
          <a:xfrm>
            <a:off x="446088" y="1362075"/>
            <a:ext cx="8286750" cy="492442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grpSp>
        <p:nvGrpSpPr>
          <p:cNvPr id="3" name="Group 22"/>
          <p:cNvGrpSpPr>
            <a:grpSpLocks/>
          </p:cNvGrpSpPr>
          <p:nvPr/>
        </p:nvGrpSpPr>
        <p:grpSpPr bwMode="auto">
          <a:xfrm>
            <a:off x="428625" y="1347788"/>
            <a:ext cx="8318500" cy="800100"/>
            <a:chOff x="266" y="1248"/>
            <a:chExt cx="5304" cy="672"/>
          </a:xfrm>
        </p:grpSpPr>
        <p:sp>
          <p:nvSpPr>
            <p:cNvPr id="4"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Tx/>
                <a:buNone/>
              </a:pPr>
              <a:r>
                <a:rPr lang="zh-CN" altLang="en-US" sz="280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800">
                <a:solidFill>
                  <a:schemeClr val="tx2"/>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6"/>
          <p:cNvSpPr>
            <a:spLocks noChangeArrowheads="1"/>
          </p:cNvSpPr>
          <p:nvPr/>
        </p:nvSpPr>
        <p:spPr bwMode="auto">
          <a:xfrm>
            <a:off x="285750" y="1785938"/>
            <a:ext cx="85725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dirty="0">
                <a:solidFill>
                  <a:schemeClr val="accent2"/>
                </a:solidFill>
                <a:latin typeface="楷体" panose="02010609060101010101" pitchFamily="49" charset="-122"/>
                <a:ea typeface="楷体" panose="02010609060101010101" pitchFamily="49" charset="-122"/>
              </a:rPr>
              <a:t>         </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调用格式：</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MOV  DX</a:t>
            </a:r>
            <a:r>
              <a:rPr lang="zh-CN" altLang="en-US" sz="2800" dirty="0">
                <a:latin typeface="楷体" panose="02010609060101010101" pitchFamily="49" charset="-122"/>
                <a:ea typeface="楷体" panose="02010609060101010101" pitchFamily="49" charset="-122"/>
              </a:rPr>
              <a:t>，待显示字符串的首偏移地址</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MOV  AH</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9</a:t>
            </a:r>
          </a:p>
          <a:p>
            <a:pPr eaLnBrk="1" hangingPunct="1">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     INT  21H</a:t>
            </a:r>
          </a:p>
          <a:p>
            <a:pPr eaLnBrk="1" hangingPunct="1">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     </a:t>
            </a:r>
          </a:p>
          <a:p>
            <a:pPr eaLnBrk="1" hangingPunct="1">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入口：</a:t>
            </a:r>
            <a:r>
              <a:rPr lang="en-US" altLang="zh-CN" sz="2800" dirty="0">
                <a:latin typeface="楷体" panose="02010609060101010101" pitchFamily="49" charset="-122"/>
                <a:ea typeface="楷体" panose="02010609060101010101" pitchFamily="49" charset="-122"/>
              </a:rPr>
              <a:t>DS:DX</a:t>
            </a:r>
            <a:r>
              <a:rPr lang="zh-CN" altLang="en-US" sz="2800" dirty="0">
                <a:latin typeface="楷体" panose="02010609060101010101" pitchFamily="49" charset="-122"/>
                <a:ea typeface="楷体" panose="02010609060101010101" pitchFamily="49" charset="-122"/>
              </a:rPr>
              <a:t>置字符串首地址，</a:t>
            </a:r>
            <a:r>
              <a:rPr lang="zh-CN" altLang="en-US" sz="2800" dirty="0">
                <a:solidFill>
                  <a:srgbClr val="FF0066"/>
                </a:solidFill>
                <a:latin typeface="楷体" panose="02010609060101010101" pitchFamily="49" charset="-122"/>
                <a:ea typeface="楷体" panose="02010609060101010101" pitchFamily="49" charset="-122"/>
              </a:rPr>
              <a:t>字符串以‘＄’结束</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出口：无出口参数</a:t>
            </a:r>
            <a:endParaRPr lang="en-US" altLang="zh-CN" sz="2800" dirty="0">
              <a:latin typeface="楷体" panose="02010609060101010101" pitchFamily="49" charset="-122"/>
              <a:ea typeface="楷体" panose="02010609060101010101" pitchFamily="49" charset="-122"/>
            </a:endParaRPr>
          </a:p>
        </p:txBody>
      </p:sp>
      <p:sp>
        <p:nvSpPr>
          <p:cNvPr id="7" name="矩形 6"/>
          <p:cNvSpPr>
            <a:spLocks noChangeArrowheads="1"/>
          </p:cNvSpPr>
          <p:nvPr/>
        </p:nvSpPr>
        <p:spPr bwMode="auto">
          <a:xfrm>
            <a:off x="1143000" y="1428750"/>
            <a:ext cx="6643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9</a:t>
            </a:r>
            <a:r>
              <a:rPr lang="zh-CN" altLang="en-US" sz="2800">
                <a:latin typeface="楷体" panose="02010609060101010101" pitchFamily="49" charset="-122"/>
                <a:ea typeface="楷体" panose="02010609060101010101" pitchFamily="49" charset="-122"/>
              </a:rPr>
              <a:t>号功能调用</a:t>
            </a:r>
            <a:r>
              <a:rPr lang="en-US" altLang="zh-CN"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显示器显示字符串</a:t>
            </a:r>
          </a:p>
        </p:txBody>
      </p:sp>
    </p:spTree>
    <p:extLst>
      <p:ext uri="{BB962C8B-B14F-4D97-AF65-F5344CB8AC3E}">
        <p14:creationId xmlns:p14="http://schemas.microsoft.com/office/powerpoint/2010/main" val="28804373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611188" y="1052513"/>
            <a:ext cx="7848600" cy="424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例：显示 </a:t>
            </a:r>
            <a:r>
              <a:rPr lang="en-US" altLang="zh-CN" sz="2800" dirty="0">
                <a:latin typeface="楷体" panose="02010609060101010101" pitchFamily="49" charset="-122"/>
                <a:ea typeface="楷体" panose="02010609060101010101" pitchFamily="49" charset="-122"/>
              </a:rPr>
              <a:t>A…Z  26</a:t>
            </a:r>
            <a:r>
              <a:rPr lang="zh-CN" altLang="en-US" sz="2800" dirty="0">
                <a:latin typeface="楷体" panose="02010609060101010101" pitchFamily="49" charset="-122"/>
                <a:ea typeface="楷体" panose="02010609060101010101" pitchFamily="49" charset="-122"/>
              </a:rPr>
              <a:t>个字符</a:t>
            </a:r>
          </a:p>
          <a:p>
            <a:pPr eaLnBrk="1" hangingPunct="1">
              <a:spcBef>
                <a:spcPct val="50000"/>
              </a:spcBef>
              <a:buFont typeface="Arial" panose="020B0604020202020204" pitchFamily="34" charset="0"/>
              <a:buNone/>
            </a:pPr>
            <a:r>
              <a:rPr lang="zh-CN" altLang="en-US" sz="2600" dirty="0">
                <a:solidFill>
                  <a:srgbClr val="000099"/>
                </a:solidFill>
                <a:latin typeface="楷体" panose="02010609060101010101" pitchFamily="49" charset="-122"/>
                <a:ea typeface="楷体" panose="02010609060101010101" pitchFamily="49" charset="-122"/>
              </a:rPr>
              <a:t>方法一：用</a:t>
            </a:r>
            <a:r>
              <a:rPr lang="en-US" altLang="zh-CN" sz="2600" dirty="0">
                <a:solidFill>
                  <a:srgbClr val="000099"/>
                </a:solidFill>
                <a:latin typeface="楷体" panose="02010609060101010101" pitchFamily="49" charset="-122"/>
                <a:ea typeface="楷体" panose="02010609060101010101" pitchFamily="49" charset="-122"/>
              </a:rPr>
              <a:t>2</a:t>
            </a:r>
            <a:r>
              <a:rPr lang="zh-CN" altLang="en-US" sz="2600" dirty="0">
                <a:solidFill>
                  <a:srgbClr val="000099"/>
                </a:solidFill>
                <a:latin typeface="楷体" panose="02010609060101010101" pitchFamily="49" charset="-122"/>
                <a:ea typeface="楷体" panose="02010609060101010101" pitchFamily="49" charset="-122"/>
              </a:rPr>
              <a:t>号功能调用，单个字符依次输出</a:t>
            </a:r>
          </a:p>
          <a:p>
            <a:pPr eaLnBrk="1" hangingPunct="1">
              <a:spcBef>
                <a:spcPct val="50000"/>
              </a:spcBef>
              <a:buFont typeface="Arial" panose="020B0604020202020204" pitchFamily="34" charset="0"/>
              <a:buNone/>
            </a:pPr>
            <a:r>
              <a:rPr lang="zh-CN" altLang="en-US" sz="2600" dirty="0">
                <a:solidFill>
                  <a:srgbClr val="000099"/>
                </a:solidFill>
                <a:latin typeface="楷体" panose="02010609060101010101" pitchFamily="49" charset="-122"/>
                <a:ea typeface="楷体" panose="02010609060101010101" pitchFamily="49" charset="-122"/>
              </a:rPr>
              <a:t>方法二：定义一个存储区，存放</a:t>
            </a:r>
            <a:r>
              <a:rPr lang="en-US" altLang="zh-CN" sz="2600" dirty="0">
                <a:solidFill>
                  <a:srgbClr val="000099"/>
                </a:solidFill>
                <a:latin typeface="楷体" panose="02010609060101010101" pitchFamily="49" charset="-122"/>
                <a:ea typeface="楷体" panose="02010609060101010101" pitchFamily="49" charset="-122"/>
              </a:rPr>
              <a:t>26</a:t>
            </a:r>
            <a:r>
              <a:rPr lang="zh-CN" altLang="en-US" sz="2600" dirty="0">
                <a:solidFill>
                  <a:srgbClr val="000099"/>
                </a:solidFill>
                <a:latin typeface="楷体" panose="02010609060101010101" pitchFamily="49" charset="-122"/>
                <a:ea typeface="楷体" panose="02010609060101010101" pitchFamily="49" charset="-122"/>
              </a:rPr>
              <a:t>个字符，并以</a:t>
            </a:r>
            <a:r>
              <a:rPr lang="en-US" altLang="zh-CN" sz="2600" dirty="0">
                <a:solidFill>
                  <a:srgbClr val="000099"/>
                </a:solidFill>
                <a:latin typeface="楷体" panose="02010609060101010101" pitchFamily="49" charset="-122"/>
                <a:ea typeface="楷体" panose="02010609060101010101" pitchFamily="49" charset="-122"/>
              </a:rPr>
              <a:t>$</a:t>
            </a:r>
            <a:r>
              <a:rPr lang="zh-CN" altLang="en-US" sz="2600" dirty="0">
                <a:solidFill>
                  <a:srgbClr val="000099"/>
                </a:solidFill>
                <a:latin typeface="楷体" panose="02010609060101010101" pitchFamily="49" charset="-122"/>
                <a:ea typeface="楷体" panose="02010609060101010101" pitchFamily="49" charset="-122"/>
              </a:rPr>
              <a:t>结束，用</a:t>
            </a:r>
            <a:r>
              <a:rPr lang="en-US" altLang="zh-CN" sz="2600" dirty="0">
                <a:solidFill>
                  <a:srgbClr val="000099"/>
                </a:solidFill>
                <a:latin typeface="楷体" panose="02010609060101010101" pitchFamily="49" charset="-122"/>
                <a:ea typeface="楷体" panose="02010609060101010101" pitchFamily="49" charset="-122"/>
              </a:rPr>
              <a:t>9</a:t>
            </a:r>
            <a:r>
              <a:rPr lang="zh-CN" altLang="en-US" sz="2600" dirty="0">
                <a:solidFill>
                  <a:srgbClr val="000099"/>
                </a:solidFill>
                <a:latin typeface="楷体" panose="02010609060101010101" pitchFamily="49" charset="-122"/>
                <a:ea typeface="楷体" panose="02010609060101010101" pitchFamily="49" charset="-122"/>
              </a:rPr>
              <a:t>号功能调用输出字符串</a:t>
            </a:r>
          </a:p>
          <a:p>
            <a:pPr eaLnBrk="1" hangingPunct="1">
              <a:spcBef>
                <a:spcPct val="5000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OBUF  DB ’ABCD…XYZ</a:t>
            </a:r>
            <a:r>
              <a:rPr lang="en-US" altLang="zh-CN" sz="2800" dirty="0">
                <a:solidFill>
                  <a:srgbClr val="FF0066"/>
                </a:solidFill>
                <a:latin typeface="楷体" panose="02010609060101010101" pitchFamily="49" charset="-122"/>
                <a:ea typeface="楷体" panose="02010609060101010101" pitchFamily="49" charset="-122"/>
              </a:rPr>
              <a:t>$</a:t>
            </a:r>
            <a:r>
              <a:rPr lang="en-US" altLang="zh-CN" sz="2800" dirty="0">
                <a:solidFill>
                  <a:srgbClr val="000099"/>
                </a:solidFill>
                <a:latin typeface="楷体" panose="02010609060101010101" pitchFamily="49" charset="-122"/>
                <a:ea typeface="楷体" panose="02010609060101010101" pitchFamily="49" charset="-122"/>
              </a:rPr>
              <a:t>’</a:t>
            </a:r>
          </a:p>
          <a:p>
            <a:pPr eaLnBrk="1" hangingPunct="1">
              <a:spcBef>
                <a:spcPct val="5000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      MOV   DX</a:t>
            </a:r>
            <a:r>
              <a:rPr lang="zh-CN" altLang="en-US" sz="2800" dirty="0">
                <a:solidFill>
                  <a:srgbClr val="000099"/>
                </a:solidFill>
                <a:latin typeface="楷体" panose="02010609060101010101" pitchFamily="49" charset="-122"/>
                <a:ea typeface="楷体" panose="02010609060101010101" pitchFamily="49" charset="-122"/>
              </a:rPr>
              <a:t>，</a:t>
            </a:r>
            <a:r>
              <a:rPr lang="en-US" altLang="zh-CN" sz="2800" dirty="0">
                <a:solidFill>
                  <a:srgbClr val="000099"/>
                </a:solidFill>
                <a:latin typeface="楷体" panose="02010609060101010101" pitchFamily="49" charset="-122"/>
                <a:ea typeface="楷体" panose="02010609060101010101" pitchFamily="49" charset="-122"/>
              </a:rPr>
              <a:t>OFFSET  OBUF</a:t>
            </a:r>
          </a:p>
          <a:p>
            <a:pPr eaLnBrk="1" hangingPunct="1">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      MOV   AH</a:t>
            </a:r>
            <a:r>
              <a:rPr lang="zh-CN" altLang="en-US" sz="2800" dirty="0">
                <a:solidFill>
                  <a:srgbClr val="000099"/>
                </a:solidFill>
                <a:latin typeface="楷体" panose="02010609060101010101" pitchFamily="49" charset="-122"/>
                <a:ea typeface="楷体" panose="02010609060101010101" pitchFamily="49" charset="-122"/>
              </a:rPr>
              <a:t>，</a:t>
            </a:r>
            <a:r>
              <a:rPr lang="en-US" altLang="zh-CN" sz="2800" dirty="0">
                <a:solidFill>
                  <a:srgbClr val="000099"/>
                </a:solidFill>
                <a:latin typeface="楷体" panose="02010609060101010101" pitchFamily="49" charset="-122"/>
                <a:ea typeface="楷体" panose="02010609060101010101" pitchFamily="49" charset="-122"/>
              </a:rPr>
              <a:t>9</a:t>
            </a:r>
          </a:p>
          <a:p>
            <a:pPr eaLnBrk="1" hangingPunct="1">
              <a:spcBef>
                <a:spcPct val="0"/>
              </a:spcBef>
              <a:buFont typeface="Arial" panose="020B0604020202020204" pitchFamily="34" charset="0"/>
              <a:buNone/>
            </a:pPr>
            <a:r>
              <a:rPr lang="en-US" altLang="zh-CN" sz="2800" dirty="0">
                <a:solidFill>
                  <a:srgbClr val="000099"/>
                </a:solidFill>
                <a:latin typeface="楷体" panose="02010609060101010101" pitchFamily="49" charset="-122"/>
                <a:ea typeface="楷体" panose="02010609060101010101" pitchFamily="49" charset="-122"/>
              </a:rPr>
              <a:t>      INT   21H</a:t>
            </a:r>
          </a:p>
        </p:txBody>
      </p:sp>
      <p:grpSp>
        <p:nvGrpSpPr>
          <p:cNvPr id="3" name="Group 24"/>
          <p:cNvGrpSpPr>
            <a:grpSpLocks/>
          </p:cNvGrpSpPr>
          <p:nvPr/>
        </p:nvGrpSpPr>
        <p:grpSpPr bwMode="auto">
          <a:xfrm>
            <a:off x="5997575" y="3951288"/>
            <a:ext cx="1743075" cy="2406650"/>
            <a:chOff x="3778" y="2251"/>
            <a:chExt cx="1098" cy="1516"/>
          </a:xfrm>
        </p:grpSpPr>
        <p:grpSp>
          <p:nvGrpSpPr>
            <p:cNvPr id="4" name="Group 17"/>
            <p:cNvGrpSpPr>
              <a:grpSpLocks/>
            </p:cNvGrpSpPr>
            <p:nvPr/>
          </p:nvGrpSpPr>
          <p:grpSpPr bwMode="auto">
            <a:xfrm>
              <a:off x="4332" y="2251"/>
              <a:ext cx="539" cy="1516"/>
              <a:chOff x="3648" y="2205"/>
              <a:chExt cx="539" cy="1516"/>
            </a:xfrm>
          </p:grpSpPr>
          <p:sp>
            <p:nvSpPr>
              <p:cNvPr id="11" name="Line 5"/>
              <p:cNvSpPr>
                <a:spLocks noChangeShapeType="1"/>
              </p:cNvSpPr>
              <p:nvPr/>
            </p:nvSpPr>
            <p:spPr bwMode="auto">
              <a:xfrm>
                <a:off x="4187" y="2224"/>
                <a:ext cx="0" cy="14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6"/>
              <p:cNvSpPr>
                <a:spLocks noChangeShapeType="1"/>
              </p:cNvSpPr>
              <p:nvPr/>
            </p:nvSpPr>
            <p:spPr bwMode="auto">
              <a:xfrm flipH="1">
                <a:off x="3651" y="2205"/>
                <a:ext cx="0" cy="149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9"/>
              <p:cNvSpPr>
                <a:spLocks noChangeShapeType="1"/>
              </p:cNvSpPr>
              <p:nvPr/>
            </p:nvSpPr>
            <p:spPr bwMode="auto">
              <a:xfrm>
                <a:off x="3648" y="2304"/>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p:cNvSpPr>
                <a:spLocks noChangeShapeType="1"/>
              </p:cNvSpPr>
              <p:nvPr/>
            </p:nvSpPr>
            <p:spPr bwMode="auto">
              <a:xfrm>
                <a:off x="3648" y="2571"/>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1"/>
              <p:cNvSpPr>
                <a:spLocks noChangeShapeType="1"/>
              </p:cNvSpPr>
              <p:nvPr/>
            </p:nvSpPr>
            <p:spPr bwMode="auto">
              <a:xfrm>
                <a:off x="3648" y="2823"/>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2"/>
              <p:cNvSpPr>
                <a:spLocks noChangeShapeType="1"/>
              </p:cNvSpPr>
              <p:nvPr/>
            </p:nvSpPr>
            <p:spPr bwMode="auto">
              <a:xfrm>
                <a:off x="3648" y="3090"/>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p:cNvSpPr>
                <a:spLocks noChangeShapeType="1"/>
              </p:cNvSpPr>
              <p:nvPr/>
            </p:nvSpPr>
            <p:spPr bwMode="auto">
              <a:xfrm>
                <a:off x="3648" y="3339"/>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4"/>
              <p:cNvSpPr>
                <a:spLocks noChangeShapeType="1"/>
              </p:cNvSpPr>
              <p:nvPr/>
            </p:nvSpPr>
            <p:spPr bwMode="auto">
              <a:xfrm>
                <a:off x="3648" y="3600"/>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 name="Rectangle 18"/>
            <p:cNvSpPr>
              <a:spLocks noChangeArrowheads="1"/>
            </p:cNvSpPr>
            <p:nvPr/>
          </p:nvSpPr>
          <p:spPr bwMode="auto">
            <a:xfrm>
              <a:off x="3778" y="2369"/>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a:latin typeface="Arial" panose="020B0604020202020204" pitchFamily="34" charset="0"/>
                </a:rPr>
                <a:t>OBUF</a:t>
              </a:r>
            </a:p>
          </p:txBody>
        </p:sp>
        <p:sp>
          <p:nvSpPr>
            <p:cNvPr id="6" name="Rectangle 19"/>
            <p:cNvSpPr>
              <a:spLocks noChangeArrowheads="1"/>
            </p:cNvSpPr>
            <p:nvPr/>
          </p:nvSpPr>
          <p:spPr bwMode="auto">
            <a:xfrm>
              <a:off x="4377" y="2360"/>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a:latin typeface="Arial" panose="020B0604020202020204" pitchFamily="34" charset="0"/>
                </a:rPr>
                <a:t>’A’</a:t>
              </a:r>
            </a:p>
          </p:txBody>
        </p:sp>
        <p:sp>
          <p:nvSpPr>
            <p:cNvPr id="7" name="Rectangle 20"/>
            <p:cNvSpPr>
              <a:spLocks noChangeArrowheads="1"/>
            </p:cNvSpPr>
            <p:nvPr/>
          </p:nvSpPr>
          <p:spPr bwMode="auto">
            <a:xfrm>
              <a:off x="4377" y="2614"/>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a:latin typeface="Arial" panose="020B0604020202020204" pitchFamily="34" charset="0"/>
                </a:rPr>
                <a:t>’B’</a:t>
              </a:r>
            </a:p>
          </p:txBody>
        </p:sp>
        <p:sp>
          <p:nvSpPr>
            <p:cNvPr id="8" name="Rectangle 21"/>
            <p:cNvSpPr>
              <a:spLocks noChangeArrowheads="1"/>
            </p:cNvSpPr>
            <p:nvPr/>
          </p:nvSpPr>
          <p:spPr bwMode="auto">
            <a:xfrm>
              <a:off x="4377" y="3158"/>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a:latin typeface="Arial" panose="020B0604020202020204" pitchFamily="34" charset="0"/>
                </a:rPr>
                <a:t>’Z’</a:t>
              </a:r>
            </a:p>
          </p:txBody>
        </p:sp>
        <p:sp>
          <p:nvSpPr>
            <p:cNvPr id="9" name="Rectangle 22"/>
            <p:cNvSpPr>
              <a:spLocks noChangeArrowheads="1"/>
            </p:cNvSpPr>
            <p:nvPr/>
          </p:nvSpPr>
          <p:spPr bwMode="auto">
            <a:xfrm>
              <a:off x="4377" y="3385"/>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2400" dirty="0">
                  <a:latin typeface="Arial" panose="020B0604020202020204" pitchFamily="34" charset="0"/>
                </a:rPr>
                <a:t>’</a:t>
              </a:r>
              <a:r>
                <a:rPr lang="en-US" altLang="zh-CN" sz="2400" dirty="0">
                  <a:solidFill>
                    <a:srgbClr val="FF0066"/>
                  </a:solidFill>
                  <a:latin typeface="Arial" panose="020B0604020202020204" pitchFamily="34" charset="0"/>
                </a:rPr>
                <a:t>$</a:t>
              </a:r>
              <a:r>
                <a:rPr lang="en-US" altLang="zh-CN" sz="2400" dirty="0">
                  <a:latin typeface="Arial" panose="020B0604020202020204" pitchFamily="34" charset="0"/>
                </a:rPr>
                <a:t>’</a:t>
              </a:r>
            </a:p>
          </p:txBody>
        </p:sp>
        <p:sp>
          <p:nvSpPr>
            <p:cNvPr id="10" name="Rectangle 23"/>
            <p:cNvSpPr>
              <a:spLocks noChangeArrowheads="1"/>
            </p:cNvSpPr>
            <p:nvPr/>
          </p:nvSpPr>
          <p:spPr bwMode="auto">
            <a:xfrm>
              <a:off x="4377" y="2886"/>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1800">
                  <a:latin typeface="Arial" panose="020B0604020202020204" pitchFamily="34" charset="0"/>
                </a:rPr>
                <a:t>︰</a:t>
              </a:r>
            </a:p>
          </p:txBody>
        </p:sp>
      </p:grpSp>
    </p:spTree>
    <p:extLst>
      <p:ext uri="{BB962C8B-B14F-4D97-AF65-F5344CB8AC3E}">
        <p14:creationId xmlns:p14="http://schemas.microsoft.com/office/powerpoint/2010/main" val="16792969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FDD9C837-04C0-47C2-B167-56B6D66DA7D5}"/>
              </a:ext>
            </a:extLst>
          </p:cNvPr>
          <p:cNvSpPr>
            <a:spLocks noChangeArrowheads="1"/>
          </p:cNvSpPr>
          <p:nvPr/>
        </p:nvSpPr>
        <p:spPr bwMode="auto">
          <a:xfrm>
            <a:off x="446088" y="1362075"/>
            <a:ext cx="8286750" cy="4924425"/>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grpSp>
        <p:nvGrpSpPr>
          <p:cNvPr id="3" name="Group 22"/>
          <p:cNvGrpSpPr>
            <a:grpSpLocks/>
          </p:cNvGrpSpPr>
          <p:nvPr/>
        </p:nvGrpSpPr>
        <p:grpSpPr bwMode="auto">
          <a:xfrm>
            <a:off x="428625" y="1347788"/>
            <a:ext cx="8318500" cy="800100"/>
            <a:chOff x="266" y="1248"/>
            <a:chExt cx="5304" cy="672"/>
          </a:xfrm>
        </p:grpSpPr>
        <p:sp>
          <p:nvSpPr>
            <p:cNvPr id="4"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Tx/>
                <a:buNone/>
              </a:pPr>
              <a:r>
                <a:rPr lang="zh-CN" altLang="en-US" sz="280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800">
                <a:solidFill>
                  <a:schemeClr val="tx2"/>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7"/>
          <p:cNvSpPr>
            <a:spLocks noChangeArrowheads="1"/>
          </p:cNvSpPr>
          <p:nvPr/>
        </p:nvSpPr>
        <p:spPr bwMode="auto">
          <a:xfrm>
            <a:off x="571500" y="2071688"/>
            <a:ext cx="8243888"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调用格式：</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MOV  DX</a:t>
            </a:r>
            <a:r>
              <a:rPr lang="zh-CN" altLang="en-US" sz="2800" dirty="0">
                <a:latin typeface="楷体" panose="02010609060101010101" pitchFamily="49" charset="-122"/>
                <a:ea typeface="楷体" panose="02010609060101010101" pitchFamily="49" charset="-122"/>
              </a:rPr>
              <a:t>，数据区的首偏移地址</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MOV  AH</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10</a:t>
            </a:r>
          </a:p>
          <a:p>
            <a:pPr eaLnBrk="1" hangingPunct="1">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     INT  21H     </a:t>
            </a:r>
          </a:p>
          <a:p>
            <a:pPr eaLnBrk="1" hangingPunct="1">
              <a:lnSpc>
                <a:spcPct val="110000"/>
              </a:lnSpc>
              <a:spcBef>
                <a:spcPct val="55000"/>
              </a:spcBef>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入口：</a:t>
            </a:r>
            <a:r>
              <a:rPr lang="en-US" altLang="zh-CN" sz="2800" dirty="0">
                <a:latin typeface="楷体" panose="02010609060101010101" pitchFamily="49" charset="-122"/>
                <a:ea typeface="楷体" panose="02010609060101010101" pitchFamily="49" charset="-122"/>
              </a:rPr>
              <a:t>DS:DX</a:t>
            </a:r>
            <a:r>
              <a:rPr lang="zh-CN" altLang="en-US" sz="2800" dirty="0">
                <a:latin typeface="楷体" panose="02010609060101010101" pitchFamily="49" charset="-122"/>
                <a:ea typeface="楷体" panose="02010609060101010101" pitchFamily="49" charset="-122"/>
              </a:rPr>
              <a:t>置输入数据区首址，第一单元置允许键入的字符数（含回车符）</a:t>
            </a:r>
            <a:endParaRPr lang="zh-CN" altLang="en-US" sz="2800" dirty="0">
              <a:solidFill>
                <a:srgbClr val="FF0000"/>
              </a:solidFill>
              <a:latin typeface="楷体" panose="02010609060101010101" pitchFamily="49" charset="-122"/>
              <a:ea typeface="楷体" panose="02010609060101010101" pitchFamily="49" charset="-122"/>
            </a:endParaRPr>
          </a:p>
          <a:p>
            <a:pPr eaLnBrk="1" hangingPunct="1">
              <a:lnSpc>
                <a:spcPct val="110000"/>
              </a:lnSpc>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出口：键入的实际字符数在第二单元中，键入的字符从</a:t>
            </a:r>
            <a:r>
              <a:rPr lang="zh-CN" altLang="en-US" sz="2800" dirty="0">
                <a:solidFill>
                  <a:srgbClr val="FF0066"/>
                </a:solidFill>
                <a:latin typeface="楷体" panose="02010609060101010101" pitchFamily="49" charset="-122"/>
                <a:ea typeface="楷体" panose="02010609060101010101" pitchFamily="49" charset="-122"/>
              </a:rPr>
              <a:t>第三单元</a:t>
            </a:r>
            <a:r>
              <a:rPr lang="zh-CN" altLang="en-US" sz="2800" dirty="0">
                <a:latin typeface="楷体" panose="02010609060101010101" pitchFamily="49" charset="-122"/>
                <a:ea typeface="楷体" panose="02010609060101010101" pitchFamily="49" charset="-122"/>
              </a:rPr>
              <a:t>开始存放</a:t>
            </a:r>
          </a:p>
        </p:txBody>
      </p:sp>
      <p:sp>
        <p:nvSpPr>
          <p:cNvPr id="7" name="矩形 6"/>
          <p:cNvSpPr>
            <a:spLocks noChangeArrowheads="1"/>
          </p:cNvSpPr>
          <p:nvPr/>
        </p:nvSpPr>
        <p:spPr bwMode="auto">
          <a:xfrm>
            <a:off x="1143000" y="1428750"/>
            <a:ext cx="6929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4</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10</a:t>
            </a:r>
            <a:r>
              <a:rPr lang="zh-CN" altLang="en-US" sz="2800">
                <a:latin typeface="楷体" panose="02010609060101010101" pitchFamily="49" charset="-122"/>
                <a:ea typeface="楷体" panose="02010609060101010101" pitchFamily="49" charset="-122"/>
              </a:rPr>
              <a:t>号功能调用</a:t>
            </a:r>
            <a:r>
              <a:rPr lang="en-US" altLang="zh-CN"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键入并显示字符串</a:t>
            </a:r>
            <a:r>
              <a:rPr lang="zh-CN" altLang="en-US" sz="2800">
                <a:solidFill>
                  <a:schemeClr val="accent2"/>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80506466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B515BD4E-EB4F-4988-8529-4DBBCD4DFB8E}"/>
              </a:ext>
            </a:extLst>
          </p:cNvPr>
          <p:cNvSpPr txBox="1">
            <a:spLocks noChangeArrowheads="1"/>
          </p:cNvSpPr>
          <p:nvPr/>
        </p:nvSpPr>
        <p:spPr bwMode="auto">
          <a:xfrm>
            <a:off x="357188" y="1163638"/>
            <a:ext cx="8462962" cy="5078313"/>
          </a:xfrm>
          <a:prstGeom prst="rect">
            <a:avLst/>
          </a:prstGeom>
          <a:noFill/>
          <a:ln w="9525">
            <a:noFill/>
            <a:miter lim="800000"/>
          </a:ln>
        </p:spPr>
        <p:txBody>
          <a:bodyPr>
            <a:spAutoFit/>
          </a:bodyPr>
          <a:lstStyle/>
          <a:p>
            <a:pPr eaLnBrk="1" hangingPunct="1">
              <a:lnSpc>
                <a:spcPct val="150000"/>
              </a:lnSpc>
              <a:spcBef>
                <a:spcPts val="0"/>
              </a:spcBef>
              <a:defRPr/>
            </a:pPr>
            <a:r>
              <a:rPr lang="zh-CN" altLang="en-US" sz="2400" dirty="0">
                <a:solidFill>
                  <a:schemeClr val="tx1"/>
                </a:solidFill>
                <a:latin typeface="楷体" panose="02010609060101010101" pitchFamily="49" charset="-122"/>
                <a:ea typeface="楷体" panose="02010609060101010101" pitchFamily="49" charset="-122"/>
              </a:rPr>
              <a:t>变量数据区</a:t>
            </a:r>
            <a:r>
              <a:rPr lang="en-US" altLang="zh-CN" sz="2400" dirty="0">
                <a:solidFill>
                  <a:schemeClr val="tx1"/>
                </a:solidFill>
                <a:latin typeface="楷体" panose="02010609060101010101" pitchFamily="49" charset="-122"/>
                <a:ea typeface="楷体" panose="02010609060101010101" pitchFamily="49" charset="-122"/>
              </a:rPr>
              <a:t>IBUF</a:t>
            </a:r>
            <a:r>
              <a:rPr lang="zh-CN" altLang="en-US" sz="2400" dirty="0">
                <a:solidFill>
                  <a:schemeClr val="tx1"/>
                </a:solidFill>
                <a:latin typeface="楷体" panose="02010609060101010101" pitchFamily="49" charset="-122"/>
                <a:ea typeface="楷体" panose="02010609060101010101" pitchFamily="49" charset="-122"/>
              </a:rPr>
              <a:t>应在</a:t>
            </a:r>
            <a:r>
              <a:rPr lang="en-US" altLang="zh-CN" sz="2400" dirty="0">
                <a:solidFill>
                  <a:schemeClr val="tx1"/>
                </a:solidFill>
                <a:latin typeface="楷体" panose="02010609060101010101" pitchFamily="49" charset="-122"/>
                <a:ea typeface="楷体" panose="02010609060101010101" pitchFamily="49" charset="-122"/>
              </a:rPr>
              <a:t>DS</a:t>
            </a:r>
            <a:r>
              <a:rPr lang="zh-CN" altLang="en-US" sz="2400" dirty="0">
                <a:solidFill>
                  <a:schemeClr val="tx1"/>
                </a:solidFill>
                <a:latin typeface="楷体" panose="02010609060101010101" pitchFamily="49" charset="-122"/>
                <a:ea typeface="楷体" panose="02010609060101010101" pitchFamily="49" charset="-122"/>
              </a:rPr>
              <a:t>数据段中事先定义，其定义</a:t>
            </a:r>
            <a:r>
              <a:rPr lang="zh-CN" altLang="en-US" sz="2400" dirty="0">
                <a:solidFill>
                  <a:srgbClr val="FF0066"/>
                </a:solidFill>
                <a:latin typeface="楷体" panose="02010609060101010101" pitchFamily="49" charset="-122"/>
                <a:ea typeface="楷体" panose="02010609060101010101" pitchFamily="49" charset="-122"/>
              </a:rPr>
              <a:t>格式为：</a:t>
            </a:r>
          </a:p>
          <a:p>
            <a:pPr eaLnBrk="1" hangingPunct="1">
              <a:lnSpc>
                <a:spcPct val="150000"/>
              </a:lnSpc>
              <a:spcBef>
                <a:spcPts val="0"/>
              </a:spcBef>
              <a:defRPr/>
            </a:pPr>
            <a:r>
              <a:rPr lang="en-US" altLang="zh-CN" sz="2400" dirty="0">
                <a:solidFill>
                  <a:srgbClr val="FF0066"/>
                </a:solidFill>
                <a:latin typeface="楷体" panose="02010609060101010101" pitchFamily="49" charset="-122"/>
                <a:ea typeface="楷体" panose="02010609060101010101" pitchFamily="49" charset="-122"/>
              </a:rPr>
              <a:t>     IBUF DB </a:t>
            </a:r>
            <a:r>
              <a:rPr lang="zh-CN" altLang="en-US" sz="2400" dirty="0">
                <a:solidFill>
                  <a:srgbClr val="FF0066"/>
                </a:solidFill>
                <a:latin typeface="楷体" panose="02010609060101010101" pitchFamily="49" charset="-122"/>
                <a:ea typeface="楷体" panose="02010609060101010101" pitchFamily="49" charset="-122"/>
              </a:rPr>
              <a:t>数据区大小，</a:t>
            </a:r>
            <a:r>
              <a:rPr lang="en-US" altLang="zh-CN" sz="2400" dirty="0">
                <a:solidFill>
                  <a:srgbClr val="FF0066"/>
                </a:solidFill>
                <a:latin typeface="楷体" panose="02010609060101010101" pitchFamily="49" charset="-122"/>
                <a:ea typeface="楷体" panose="02010609060101010101" pitchFamily="49" charset="-122"/>
              </a:rPr>
              <a:t>0</a:t>
            </a:r>
            <a:r>
              <a:rPr lang="zh-CN" altLang="en-US" sz="2400" dirty="0">
                <a:solidFill>
                  <a:srgbClr val="FF0066"/>
                </a:solidFill>
                <a:latin typeface="楷体" panose="02010609060101010101" pitchFamily="49" charset="-122"/>
                <a:ea typeface="楷体" panose="02010609060101010101" pitchFamily="49" charset="-122"/>
              </a:rPr>
              <a:t>，数据区大小 </a:t>
            </a:r>
            <a:r>
              <a:rPr lang="en-US" altLang="zh-CN" sz="2400" dirty="0">
                <a:solidFill>
                  <a:srgbClr val="FF0066"/>
                </a:solidFill>
                <a:latin typeface="楷体" panose="02010609060101010101" pitchFamily="49" charset="-122"/>
                <a:ea typeface="楷体" panose="02010609060101010101" pitchFamily="49" charset="-122"/>
              </a:rPr>
              <a:t>DUP(0)</a:t>
            </a:r>
          </a:p>
          <a:p>
            <a:pPr marL="342900" indent="-342900" eaLnBrk="1" hangingPunct="1">
              <a:lnSpc>
                <a:spcPct val="150000"/>
              </a:lnSpc>
              <a:spcBef>
                <a:spcPts val="0"/>
              </a:spcBef>
              <a:buFont typeface="Wingdings" panose="05000000000000000000" pitchFamily="2" charset="2"/>
              <a:buChar char="Ø"/>
              <a:defRPr/>
            </a:pPr>
            <a:r>
              <a:rPr lang="zh-CN" altLang="en-US" sz="2400" dirty="0">
                <a:solidFill>
                  <a:schemeClr val="tx1"/>
                </a:solidFill>
                <a:latin typeface="楷体" panose="02010609060101010101" pitchFamily="49" charset="-122"/>
                <a:ea typeface="楷体" panose="02010609060101010101" pitchFamily="49" charset="-122"/>
              </a:rPr>
              <a:t>存放字符串数据区的首地址在</a:t>
            </a:r>
            <a:r>
              <a:rPr lang="en-US" altLang="zh-CN" sz="2400" dirty="0">
                <a:solidFill>
                  <a:schemeClr val="tx1"/>
                </a:solidFill>
                <a:latin typeface="楷体" panose="02010609060101010101" pitchFamily="49" charset="-122"/>
                <a:ea typeface="楷体" panose="02010609060101010101" pitchFamily="49" charset="-122"/>
              </a:rPr>
              <a:t>DS</a:t>
            </a:r>
            <a:r>
              <a:rPr lang="zh-CN" altLang="en-US" sz="2400" dirty="0">
                <a:solidFill>
                  <a:schemeClr val="tx1"/>
                </a:solidFill>
                <a:latin typeface="楷体" panose="02010609060101010101" pitchFamily="49" charset="-122"/>
                <a:ea typeface="楷体" panose="02010609060101010101" pitchFamily="49" charset="-122"/>
              </a:rPr>
              <a:t>：</a:t>
            </a:r>
            <a:r>
              <a:rPr lang="en-US" altLang="zh-CN" sz="2400" dirty="0">
                <a:solidFill>
                  <a:schemeClr val="tx1"/>
                </a:solidFill>
                <a:latin typeface="楷体" panose="02010609060101010101" pitchFamily="49" charset="-122"/>
                <a:ea typeface="楷体" panose="02010609060101010101" pitchFamily="49" charset="-122"/>
              </a:rPr>
              <a:t>DX</a:t>
            </a:r>
            <a:r>
              <a:rPr lang="zh-CN" altLang="en-US" sz="2400" dirty="0">
                <a:solidFill>
                  <a:schemeClr val="tx1"/>
                </a:solidFill>
                <a:latin typeface="楷体" panose="02010609060101010101" pitchFamily="49" charset="-122"/>
                <a:ea typeface="楷体" panose="02010609060101010101" pitchFamily="49" charset="-122"/>
              </a:rPr>
              <a:t>中</a:t>
            </a:r>
            <a:endParaRPr lang="en-US" altLang="zh-CN" sz="2400" dirty="0">
              <a:latin typeface="楷体" panose="02010609060101010101" pitchFamily="49" charset="-122"/>
              <a:ea typeface="楷体" panose="02010609060101010101" pitchFamily="49" charset="-122"/>
            </a:endParaRPr>
          </a:p>
          <a:p>
            <a:pPr marL="342900" indent="-342900" eaLnBrk="1" hangingPunct="1">
              <a:lnSpc>
                <a:spcPct val="150000"/>
              </a:lnSpc>
              <a:spcBef>
                <a:spcPts val="0"/>
              </a:spcBef>
              <a:buFont typeface="Wingdings" panose="05000000000000000000" pitchFamily="2" charset="2"/>
              <a:buChar char="Ø"/>
              <a:defRPr/>
            </a:pPr>
            <a:r>
              <a:rPr lang="zh-CN" altLang="en-US" sz="2400" dirty="0">
                <a:solidFill>
                  <a:schemeClr val="tx1"/>
                </a:solidFill>
                <a:latin typeface="楷体" panose="02010609060101010101" pitchFamily="49" charset="-122"/>
                <a:ea typeface="楷体" panose="02010609060101010101" pitchFamily="49" charset="-122"/>
              </a:rPr>
              <a:t>数据区大小是一无符号数，可以为</a:t>
            </a:r>
            <a:r>
              <a:rPr lang="en-US" altLang="zh-CN" sz="2400" dirty="0">
                <a:solidFill>
                  <a:schemeClr val="tx1"/>
                </a:solidFill>
                <a:latin typeface="楷体" panose="02010609060101010101" pitchFamily="49" charset="-122"/>
                <a:ea typeface="楷体" panose="02010609060101010101" pitchFamily="49" charset="-122"/>
              </a:rPr>
              <a:t>0</a:t>
            </a:r>
            <a:r>
              <a:rPr lang="zh-CN" altLang="en-US" sz="2400" dirty="0">
                <a:solidFill>
                  <a:schemeClr val="tx1"/>
                </a:solidFill>
                <a:latin typeface="楷体" panose="02010609060101010101" pitchFamily="49" charset="-122"/>
                <a:ea typeface="楷体" panose="02010609060101010101" pitchFamily="49" charset="-122"/>
              </a:rPr>
              <a:t>～</a:t>
            </a:r>
            <a:r>
              <a:rPr lang="en-US" altLang="zh-CN" sz="2400" dirty="0">
                <a:solidFill>
                  <a:schemeClr val="tx1"/>
                </a:solidFill>
                <a:latin typeface="楷体" panose="02010609060101010101" pitchFamily="49" charset="-122"/>
                <a:ea typeface="楷体" panose="02010609060101010101" pitchFamily="49" charset="-122"/>
              </a:rPr>
              <a:t>255</a:t>
            </a:r>
          </a:p>
          <a:p>
            <a:pPr marL="342900" indent="-342900" eaLnBrk="1" hangingPunct="1">
              <a:lnSpc>
                <a:spcPct val="150000"/>
              </a:lnSpc>
              <a:spcBef>
                <a:spcPts val="0"/>
              </a:spcBef>
              <a:buFont typeface="Wingdings" panose="05000000000000000000" pitchFamily="2" charset="2"/>
              <a:buChar char="Ø"/>
              <a:defRPr/>
            </a:pPr>
            <a:r>
              <a:rPr lang="zh-CN" altLang="en-US" sz="2400" dirty="0">
                <a:solidFill>
                  <a:schemeClr val="tx1"/>
                </a:solidFill>
                <a:latin typeface="楷体" panose="02010609060101010101" pitchFamily="49" charset="-122"/>
                <a:ea typeface="楷体" panose="02010609060101010101" pitchFamily="49" charset="-122"/>
              </a:rPr>
              <a:t>第</a:t>
            </a:r>
            <a:r>
              <a:rPr lang="en-US" altLang="zh-CN" sz="2400" dirty="0">
                <a:solidFill>
                  <a:schemeClr val="tx1"/>
                </a:solidFill>
                <a:latin typeface="楷体" panose="02010609060101010101" pitchFamily="49" charset="-122"/>
                <a:ea typeface="楷体" panose="02010609060101010101" pitchFamily="49" charset="-122"/>
              </a:rPr>
              <a:t>1</a:t>
            </a:r>
            <a:r>
              <a:rPr lang="zh-CN" altLang="en-US" sz="2400" dirty="0">
                <a:solidFill>
                  <a:schemeClr val="tx1"/>
                </a:solidFill>
                <a:latin typeface="楷体" panose="02010609060101010101" pitchFamily="49" charset="-122"/>
                <a:ea typeface="楷体" panose="02010609060101010101" pitchFamily="49" charset="-122"/>
              </a:rPr>
              <a:t>个字节指出数据区能容纳的最大字节数（</a:t>
            </a:r>
            <a:r>
              <a:rPr lang="en-US" altLang="zh-CN" sz="2400" dirty="0">
                <a:solidFill>
                  <a:schemeClr val="tx1"/>
                </a:solidFill>
                <a:latin typeface="楷体" panose="02010609060101010101" pitchFamily="49" charset="-122"/>
                <a:ea typeface="楷体" panose="02010609060101010101" pitchFamily="49" charset="-122"/>
              </a:rPr>
              <a:t>1</a:t>
            </a:r>
            <a:r>
              <a:rPr lang="zh-CN" altLang="en-US" sz="2400" dirty="0">
                <a:solidFill>
                  <a:schemeClr val="tx1"/>
                </a:solidFill>
                <a:latin typeface="楷体" panose="02010609060101010101" pitchFamily="49" charset="-122"/>
                <a:ea typeface="楷体" panose="02010609060101010101" pitchFamily="49" charset="-122"/>
              </a:rPr>
              <a:t>～</a:t>
            </a:r>
            <a:r>
              <a:rPr lang="en-US" altLang="zh-CN" sz="2400" dirty="0">
                <a:solidFill>
                  <a:schemeClr val="tx1"/>
                </a:solidFill>
                <a:latin typeface="楷体" panose="02010609060101010101" pitchFamily="49" charset="-122"/>
                <a:ea typeface="楷体" panose="02010609060101010101" pitchFamily="49" charset="-122"/>
              </a:rPr>
              <a:t>255</a:t>
            </a:r>
            <a:r>
              <a:rPr lang="zh-CN" altLang="en-US" sz="2400" dirty="0">
                <a:solidFill>
                  <a:schemeClr val="tx1"/>
                </a:solidFill>
                <a:latin typeface="楷体" panose="02010609060101010101" pitchFamily="49" charset="-122"/>
                <a:ea typeface="楷体" panose="02010609060101010101" pitchFamily="49" charset="-122"/>
              </a:rPr>
              <a:t>），包含回车</a:t>
            </a:r>
            <a:endParaRPr lang="en-US" altLang="zh-CN" sz="2400" dirty="0">
              <a:latin typeface="楷体" panose="02010609060101010101" pitchFamily="49" charset="-122"/>
              <a:ea typeface="楷体" panose="02010609060101010101" pitchFamily="49" charset="-122"/>
            </a:endParaRPr>
          </a:p>
          <a:p>
            <a:pPr marL="342900" indent="-342900" eaLnBrk="1" hangingPunct="1">
              <a:lnSpc>
                <a:spcPct val="150000"/>
              </a:lnSpc>
              <a:spcBef>
                <a:spcPts val="0"/>
              </a:spcBef>
              <a:buFont typeface="Wingdings" panose="05000000000000000000" pitchFamily="2" charset="2"/>
              <a:buChar char="Ø"/>
              <a:defRPr/>
            </a:pPr>
            <a:r>
              <a:rPr lang="zh-CN" altLang="en-US" sz="2400" dirty="0">
                <a:solidFill>
                  <a:schemeClr val="tx1"/>
                </a:solidFill>
                <a:latin typeface="楷体" panose="02010609060101010101" pitchFamily="49" charset="-122"/>
                <a:ea typeface="楷体" panose="02010609060101010101" pitchFamily="49" charset="-122"/>
              </a:rPr>
              <a:t>第</a:t>
            </a:r>
            <a:r>
              <a:rPr lang="en-US" altLang="zh-CN" sz="2400" dirty="0">
                <a:solidFill>
                  <a:schemeClr val="tx1"/>
                </a:solidFill>
                <a:latin typeface="楷体" panose="02010609060101010101" pitchFamily="49" charset="-122"/>
                <a:ea typeface="楷体" panose="02010609060101010101" pitchFamily="49" charset="-122"/>
              </a:rPr>
              <a:t>2</a:t>
            </a:r>
            <a:r>
              <a:rPr lang="zh-CN" altLang="en-US" sz="2400" dirty="0">
                <a:solidFill>
                  <a:schemeClr val="tx1"/>
                </a:solidFill>
                <a:latin typeface="楷体" panose="02010609060101010101" pitchFamily="49" charset="-122"/>
                <a:ea typeface="楷体" panose="02010609060101010101" pitchFamily="49" charset="-122"/>
              </a:rPr>
              <a:t>个字节存放实际键入的字符数（</a:t>
            </a:r>
            <a:r>
              <a:rPr lang="en-US" altLang="zh-CN" sz="2400" dirty="0">
                <a:solidFill>
                  <a:schemeClr val="tx1"/>
                </a:solidFill>
                <a:latin typeface="楷体" panose="02010609060101010101" pitchFamily="49" charset="-122"/>
                <a:ea typeface="楷体" panose="02010609060101010101" pitchFamily="49" charset="-122"/>
              </a:rPr>
              <a:t>0</a:t>
            </a:r>
            <a:r>
              <a:rPr lang="zh-CN" altLang="en-US" sz="2400" dirty="0">
                <a:solidFill>
                  <a:schemeClr val="tx1"/>
                </a:solidFill>
                <a:latin typeface="楷体" panose="02010609060101010101" pitchFamily="49" charset="-122"/>
                <a:ea typeface="楷体" panose="02010609060101010101" pitchFamily="49" charset="-122"/>
              </a:rPr>
              <a:t>～</a:t>
            </a:r>
            <a:r>
              <a:rPr lang="en-US" altLang="zh-CN" sz="2400" dirty="0">
                <a:solidFill>
                  <a:schemeClr val="tx1"/>
                </a:solidFill>
                <a:latin typeface="楷体" panose="02010609060101010101" pitchFamily="49" charset="-122"/>
                <a:ea typeface="楷体" panose="02010609060101010101" pitchFamily="49" charset="-122"/>
              </a:rPr>
              <a:t>254</a:t>
            </a:r>
            <a:r>
              <a:rPr lang="zh-CN" altLang="en-US" sz="2400" dirty="0">
                <a:solidFill>
                  <a:schemeClr val="tx1"/>
                </a:solidFill>
                <a:latin typeface="楷体" panose="02010609060101010101" pitchFamily="49" charset="-122"/>
                <a:ea typeface="楷体" panose="02010609060101010101" pitchFamily="49" charset="-122"/>
              </a:rPr>
              <a:t>，不包含回车），由系统自动填入 </a:t>
            </a:r>
            <a:endParaRPr lang="en-US" altLang="zh-CN" sz="2400" dirty="0">
              <a:latin typeface="楷体" panose="02010609060101010101" pitchFamily="49" charset="-122"/>
              <a:ea typeface="楷体" panose="02010609060101010101" pitchFamily="49" charset="-122"/>
            </a:endParaRPr>
          </a:p>
          <a:p>
            <a:pPr marL="342900" indent="-342900" eaLnBrk="1" hangingPunct="1">
              <a:lnSpc>
                <a:spcPct val="150000"/>
              </a:lnSpc>
              <a:spcBef>
                <a:spcPts val="0"/>
              </a:spcBef>
              <a:buFont typeface="Wingdings" panose="05000000000000000000" pitchFamily="2" charset="2"/>
              <a:buChar char="Ø"/>
              <a:defRPr/>
            </a:pPr>
            <a:r>
              <a:rPr lang="zh-CN" altLang="en-US" sz="2400" dirty="0">
                <a:solidFill>
                  <a:schemeClr val="tx1"/>
                </a:solidFill>
                <a:latin typeface="楷体" panose="02010609060101010101" pitchFamily="49" charset="-122"/>
                <a:ea typeface="楷体" panose="02010609060101010101" pitchFamily="49" charset="-122"/>
              </a:rPr>
              <a:t>第</a:t>
            </a:r>
            <a:r>
              <a:rPr lang="en-US" altLang="zh-CN" sz="2400" dirty="0">
                <a:solidFill>
                  <a:schemeClr val="tx1"/>
                </a:solidFill>
                <a:latin typeface="楷体" panose="02010609060101010101" pitchFamily="49" charset="-122"/>
                <a:ea typeface="楷体" panose="02010609060101010101" pitchFamily="49" charset="-122"/>
              </a:rPr>
              <a:t>3</a:t>
            </a:r>
            <a:r>
              <a:rPr lang="zh-CN" altLang="en-US" sz="2400" dirty="0">
                <a:solidFill>
                  <a:schemeClr val="tx1"/>
                </a:solidFill>
                <a:latin typeface="楷体" panose="02010609060101010101" pitchFamily="49" charset="-122"/>
                <a:ea typeface="楷体" panose="02010609060101010101" pitchFamily="49" charset="-122"/>
              </a:rPr>
              <a:t>个字节开始存放键入字符的</a:t>
            </a:r>
            <a:r>
              <a:rPr lang="en-US" altLang="zh-CN" sz="2400" dirty="0">
                <a:solidFill>
                  <a:schemeClr val="tx1"/>
                </a:solidFill>
                <a:latin typeface="楷体" panose="02010609060101010101" pitchFamily="49" charset="-122"/>
                <a:ea typeface="楷体" panose="02010609060101010101" pitchFamily="49" charset="-122"/>
              </a:rPr>
              <a:t>ASCII</a:t>
            </a:r>
            <a:endParaRPr lang="zh-CN" altLang="en-US" sz="2400" dirty="0">
              <a:solidFill>
                <a:schemeClr val="tx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468622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22313" y="2860675"/>
            <a:ext cx="7921625" cy="3568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000099"/>
                </a:solidFill>
                <a:latin typeface="楷体_GB2312" pitchFamily="49" charset="-122"/>
                <a:ea typeface="楷体_GB2312" pitchFamily="49" charset="-122"/>
              </a:rPr>
              <a:t>例：</a:t>
            </a:r>
            <a:r>
              <a:rPr lang="en-US" altLang="zh-CN" b="1" dirty="0">
                <a:solidFill>
                  <a:srgbClr val="000099"/>
                </a:solidFill>
                <a:latin typeface="楷体_GB2312" pitchFamily="49" charset="-122"/>
                <a:ea typeface="楷体_GB2312" pitchFamily="49" charset="-122"/>
              </a:rPr>
              <a:t>IBUF   DB   4 </a:t>
            </a:r>
            <a:r>
              <a:rPr lang="zh-CN" altLang="en-US" b="1" dirty="0">
                <a:solidFill>
                  <a:srgbClr val="000099"/>
                </a:solidFill>
                <a:latin typeface="楷体_GB2312" pitchFamily="49" charset="-122"/>
                <a:ea typeface="楷体_GB2312" pitchFamily="49" charset="-122"/>
              </a:rPr>
              <a:t>，</a:t>
            </a:r>
            <a:r>
              <a:rPr lang="en-US" altLang="zh-CN" b="1" dirty="0">
                <a:solidFill>
                  <a:srgbClr val="000099"/>
                </a:solidFill>
                <a:latin typeface="楷体_GB2312" pitchFamily="49" charset="-122"/>
                <a:ea typeface="楷体_GB2312" pitchFamily="49" charset="-122"/>
              </a:rPr>
              <a:t>0</a:t>
            </a:r>
            <a:r>
              <a:rPr lang="zh-CN" altLang="en-US" b="1" dirty="0">
                <a:solidFill>
                  <a:srgbClr val="000099"/>
                </a:solidFill>
                <a:latin typeface="楷体_GB2312" pitchFamily="49" charset="-122"/>
                <a:ea typeface="楷体_GB2312" pitchFamily="49" charset="-122"/>
              </a:rPr>
              <a:t>，</a:t>
            </a:r>
            <a:r>
              <a:rPr lang="en-US" altLang="zh-CN" b="1" dirty="0">
                <a:solidFill>
                  <a:srgbClr val="000099"/>
                </a:solidFill>
                <a:latin typeface="楷体_GB2312" pitchFamily="49" charset="-122"/>
                <a:ea typeface="楷体_GB2312" pitchFamily="49" charset="-122"/>
              </a:rPr>
              <a:t>4  DUP</a:t>
            </a:r>
            <a:r>
              <a:rPr lang="zh-CN" altLang="en-US" b="1" dirty="0">
                <a:solidFill>
                  <a:srgbClr val="000099"/>
                </a:solidFill>
                <a:latin typeface="楷体_GB2312" pitchFamily="49" charset="-122"/>
                <a:ea typeface="楷体_GB2312" pitchFamily="49" charset="-122"/>
              </a:rPr>
              <a:t>（</a:t>
            </a:r>
            <a:r>
              <a:rPr lang="en-US" altLang="zh-CN" b="1" dirty="0">
                <a:solidFill>
                  <a:srgbClr val="000099"/>
                </a:solidFill>
                <a:latin typeface="楷体_GB2312" pitchFamily="49" charset="-122"/>
                <a:ea typeface="楷体_GB2312" pitchFamily="49" charset="-122"/>
              </a:rPr>
              <a:t>0</a:t>
            </a:r>
            <a:r>
              <a:rPr lang="zh-CN" altLang="en-US" b="1" dirty="0">
                <a:solidFill>
                  <a:srgbClr val="000099"/>
                </a:solidFill>
                <a:latin typeface="楷体_GB2312" pitchFamily="49" charset="-122"/>
                <a:ea typeface="楷体_GB2312" pitchFamily="49" charset="-122"/>
              </a:rPr>
              <a:t>）</a:t>
            </a:r>
          </a:p>
          <a:p>
            <a:pPr marL="0" indent="0">
              <a:buNone/>
            </a:pPr>
            <a:r>
              <a:rPr lang="zh-CN" altLang="en-US" b="1" dirty="0">
                <a:solidFill>
                  <a:srgbClr val="000099"/>
                </a:solidFill>
                <a:latin typeface="楷体_GB2312" pitchFamily="49" charset="-122"/>
                <a:ea typeface="楷体_GB2312" pitchFamily="49" charset="-122"/>
              </a:rPr>
              <a:t>    </a:t>
            </a:r>
            <a:r>
              <a:rPr lang="en-US" altLang="zh-CN" b="1" dirty="0">
                <a:solidFill>
                  <a:srgbClr val="000099"/>
                </a:solidFill>
                <a:latin typeface="楷体_GB2312" pitchFamily="49" charset="-122"/>
                <a:ea typeface="楷体_GB2312" pitchFamily="49" charset="-122"/>
              </a:rPr>
              <a:t>MOV    DX</a:t>
            </a:r>
            <a:r>
              <a:rPr lang="zh-CN" altLang="en-US" b="1" dirty="0">
                <a:solidFill>
                  <a:srgbClr val="000099"/>
                </a:solidFill>
                <a:latin typeface="楷体_GB2312" pitchFamily="49" charset="-122"/>
                <a:ea typeface="楷体_GB2312" pitchFamily="49" charset="-122"/>
              </a:rPr>
              <a:t>，</a:t>
            </a:r>
            <a:r>
              <a:rPr lang="en-US" altLang="zh-CN" b="1" dirty="0">
                <a:solidFill>
                  <a:srgbClr val="000099"/>
                </a:solidFill>
                <a:latin typeface="楷体_GB2312" pitchFamily="49" charset="-122"/>
                <a:ea typeface="楷体_GB2312" pitchFamily="49" charset="-122"/>
              </a:rPr>
              <a:t>0FFSET  IBUF</a:t>
            </a:r>
          </a:p>
          <a:p>
            <a:pPr marL="0" indent="0">
              <a:buNone/>
            </a:pPr>
            <a:r>
              <a:rPr lang="en-US" altLang="zh-CN" b="1" dirty="0">
                <a:solidFill>
                  <a:srgbClr val="000099"/>
                </a:solidFill>
                <a:latin typeface="楷体_GB2312" pitchFamily="49" charset="-122"/>
                <a:ea typeface="楷体_GB2312" pitchFamily="49" charset="-122"/>
              </a:rPr>
              <a:t>    MOV    AH</a:t>
            </a:r>
            <a:r>
              <a:rPr lang="zh-CN" altLang="en-US" b="1" dirty="0">
                <a:solidFill>
                  <a:srgbClr val="000099"/>
                </a:solidFill>
                <a:latin typeface="楷体_GB2312" pitchFamily="49" charset="-122"/>
                <a:ea typeface="楷体_GB2312" pitchFamily="49" charset="-122"/>
              </a:rPr>
              <a:t>，</a:t>
            </a:r>
            <a:r>
              <a:rPr lang="en-US" altLang="zh-CN" b="1" dirty="0">
                <a:solidFill>
                  <a:srgbClr val="000099"/>
                </a:solidFill>
                <a:latin typeface="楷体_GB2312" pitchFamily="49" charset="-122"/>
                <a:ea typeface="楷体_GB2312" pitchFamily="49" charset="-122"/>
              </a:rPr>
              <a:t>10</a:t>
            </a:r>
          </a:p>
          <a:p>
            <a:pPr marL="0" indent="0">
              <a:buNone/>
            </a:pPr>
            <a:r>
              <a:rPr lang="en-US" altLang="zh-CN" b="1" dirty="0">
                <a:solidFill>
                  <a:srgbClr val="000099"/>
                </a:solidFill>
                <a:latin typeface="楷体_GB2312" pitchFamily="49" charset="-122"/>
                <a:ea typeface="楷体_GB2312" pitchFamily="49" charset="-122"/>
              </a:rPr>
              <a:t>    INT    21H</a:t>
            </a:r>
          </a:p>
        </p:txBody>
      </p:sp>
      <p:sp>
        <p:nvSpPr>
          <p:cNvPr id="3" name="AutoShape 7"/>
          <p:cNvSpPr>
            <a:spLocks/>
          </p:cNvSpPr>
          <p:nvPr/>
        </p:nvSpPr>
        <p:spPr bwMode="auto">
          <a:xfrm>
            <a:off x="6038850" y="3643313"/>
            <a:ext cx="76200" cy="1143000"/>
          </a:xfrm>
          <a:prstGeom prst="rightBrace">
            <a:avLst>
              <a:gd name="adj1" fmla="val 12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sp>
        <p:nvSpPr>
          <p:cNvPr id="4" name="AutoShape 8">
            <a:extLst>
              <a:ext uri="{FF2B5EF4-FFF2-40B4-BE49-F238E27FC236}">
                <a16:creationId xmlns:a16="http://schemas.microsoft.com/office/drawing/2014/main" id="{482A5924-5082-4E50-98CD-B1C5BB94F97C}"/>
              </a:ext>
            </a:extLst>
          </p:cNvPr>
          <p:cNvSpPr>
            <a:spLocks noChangeArrowheads="1"/>
          </p:cNvSpPr>
          <p:nvPr/>
        </p:nvSpPr>
        <p:spPr bwMode="auto">
          <a:xfrm>
            <a:off x="6411913" y="3714750"/>
            <a:ext cx="2374900" cy="501650"/>
          </a:xfrm>
          <a:prstGeom prst="wedgeRectCallout">
            <a:avLst>
              <a:gd name="adj1" fmla="val -59426"/>
              <a:gd name="adj2" fmla="val 52213"/>
            </a:avLst>
          </a:prstGeom>
        </p:spPr>
        <p:style>
          <a:lnRef idx="2">
            <a:schemeClr val="accent5"/>
          </a:lnRef>
          <a:fillRef idx="1">
            <a:schemeClr val="lt1"/>
          </a:fillRef>
          <a:effectRef idx="0">
            <a:schemeClr val="accent5"/>
          </a:effectRef>
          <a:fontRef idx="minor">
            <a:schemeClr val="dk1"/>
          </a:fontRef>
        </p:style>
        <p:txBody>
          <a:bodyPr/>
          <a:lstStyle/>
          <a:p>
            <a:pPr algn="ctr" eaLnBrk="1" hangingPunct="1">
              <a:defRPr/>
            </a:pPr>
            <a:r>
              <a:rPr kumimoji="1" lang="zh-CN" altLang="en-US" sz="2400" dirty="0">
                <a:solidFill>
                  <a:schemeClr val="tx1"/>
                </a:solidFill>
                <a:latin typeface="楷体" panose="02010609060101010101" pitchFamily="49" charset="-122"/>
                <a:ea typeface="楷体" panose="02010609060101010101" pitchFamily="49" charset="-122"/>
              </a:rPr>
              <a:t>等待输入字符</a:t>
            </a:r>
          </a:p>
        </p:txBody>
      </p:sp>
      <p:sp>
        <p:nvSpPr>
          <p:cNvPr id="5" name="AutoShape 9">
            <a:extLst>
              <a:ext uri="{FF2B5EF4-FFF2-40B4-BE49-F238E27FC236}">
                <a16:creationId xmlns:a16="http://schemas.microsoft.com/office/drawing/2014/main" id="{1CA30CEE-C892-4031-AB38-64EC76B189EE}"/>
              </a:ext>
            </a:extLst>
          </p:cNvPr>
          <p:cNvSpPr>
            <a:spLocks noChangeArrowheads="1"/>
          </p:cNvSpPr>
          <p:nvPr/>
        </p:nvSpPr>
        <p:spPr bwMode="auto">
          <a:xfrm>
            <a:off x="1500188" y="1500188"/>
            <a:ext cx="1428750" cy="857250"/>
          </a:xfrm>
          <a:prstGeom prst="wedgeRectCallout">
            <a:avLst>
              <a:gd name="adj1" fmla="val 102908"/>
              <a:gd name="adj2" fmla="val 124271"/>
            </a:avLst>
          </a:prstGeom>
        </p:spPr>
        <p:style>
          <a:lnRef idx="2">
            <a:schemeClr val="accent5"/>
          </a:lnRef>
          <a:fillRef idx="1">
            <a:schemeClr val="lt1"/>
          </a:fillRef>
          <a:effectRef idx="0">
            <a:schemeClr val="accent5"/>
          </a:effectRef>
          <a:fontRef idx="minor">
            <a:schemeClr val="dk1"/>
          </a:fontRef>
        </p:style>
        <p:txBody>
          <a:bodyPr/>
          <a:lstStyle/>
          <a:p>
            <a:pPr algn="ctr" eaLnBrk="1" hangingPunct="1">
              <a:defRPr/>
            </a:pPr>
            <a:r>
              <a:rPr kumimoji="1" lang="zh-CN" altLang="en-US" sz="2400" dirty="0">
                <a:solidFill>
                  <a:schemeClr val="tx1"/>
                </a:solidFill>
                <a:latin typeface="楷体" panose="02010609060101010101" pitchFamily="49" charset="-122"/>
                <a:ea typeface="楷体" panose="02010609060101010101" pitchFamily="49" charset="-122"/>
              </a:rPr>
              <a:t>数据区最大长度</a:t>
            </a:r>
          </a:p>
        </p:txBody>
      </p:sp>
      <p:sp>
        <p:nvSpPr>
          <p:cNvPr id="6" name="AutoShape 10">
            <a:extLst>
              <a:ext uri="{FF2B5EF4-FFF2-40B4-BE49-F238E27FC236}">
                <a16:creationId xmlns:a16="http://schemas.microsoft.com/office/drawing/2014/main" id="{269578C1-620A-4FD3-AFEA-3ED4857AD46C}"/>
              </a:ext>
            </a:extLst>
          </p:cNvPr>
          <p:cNvSpPr>
            <a:spLocks noChangeArrowheads="1"/>
          </p:cNvSpPr>
          <p:nvPr/>
        </p:nvSpPr>
        <p:spPr bwMode="auto">
          <a:xfrm>
            <a:off x="3214688" y="1500188"/>
            <a:ext cx="1428750" cy="857250"/>
          </a:xfrm>
          <a:prstGeom prst="wedgeRectCallout">
            <a:avLst>
              <a:gd name="adj1" fmla="val 38878"/>
              <a:gd name="adj2" fmla="val 120794"/>
            </a:avLst>
          </a:prstGeom>
        </p:spPr>
        <p:style>
          <a:lnRef idx="2">
            <a:schemeClr val="accent5"/>
          </a:lnRef>
          <a:fillRef idx="1">
            <a:schemeClr val="lt1"/>
          </a:fillRef>
          <a:effectRef idx="0">
            <a:schemeClr val="accent5"/>
          </a:effectRef>
          <a:fontRef idx="minor">
            <a:schemeClr val="dk1"/>
          </a:fontRef>
        </p:style>
        <p:txBody>
          <a:bodyPr/>
          <a:lstStyle/>
          <a:p>
            <a:pPr algn="ctr" eaLnBrk="1" hangingPunct="1">
              <a:defRPr/>
            </a:pPr>
            <a:r>
              <a:rPr kumimoji="1" lang="zh-CN" altLang="en-US" sz="2400" dirty="0">
                <a:solidFill>
                  <a:schemeClr val="tx1"/>
                </a:solidFill>
                <a:latin typeface="楷体" panose="02010609060101010101" pitchFamily="49" charset="-122"/>
                <a:ea typeface="楷体" panose="02010609060101010101" pitchFamily="49" charset="-122"/>
              </a:rPr>
              <a:t>实际输入个数</a:t>
            </a:r>
          </a:p>
        </p:txBody>
      </p:sp>
      <p:sp>
        <p:nvSpPr>
          <p:cNvPr id="7" name="AutoShape 11">
            <a:extLst>
              <a:ext uri="{FF2B5EF4-FFF2-40B4-BE49-F238E27FC236}">
                <a16:creationId xmlns:a16="http://schemas.microsoft.com/office/drawing/2014/main" id="{C2FC3C5E-09B0-4AC4-AD3A-9DE349D0CC3F}"/>
              </a:ext>
            </a:extLst>
          </p:cNvPr>
          <p:cNvSpPr>
            <a:spLocks noChangeArrowheads="1"/>
          </p:cNvSpPr>
          <p:nvPr/>
        </p:nvSpPr>
        <p:spPr bwMode="auto">
          <a:xfrm>
            <a:off x="5643563" y="1500188"/>
            <a:ext cx="2233612" cy="936625"/>
          </a:xfrm>
          <a:prstGeom prst="wedgeRectCallout">
            <a:avLst>
              <a:gd name="adj1" fmla="val -42892"/>
              <a:gd name="adj2" fmla="val 97179"/>
            </a:avLst>
          </a:prstGeom>
        </p:spPr>
        <p:style>
          <a:lnRef idx="2">
            <a:schemeClr val="accent5"/>
          </a:lnRef>
          <a:fillRef idx="1">
            <a:schemeClr val="lt1"/>
          </a:fillRef>
          <a:effectRef idx="0">
            <a:schemeClr val="accent5"/>
          </a:effectRef>
          <a:fontRef idx="minor">
            <a:schemeClr val="dk1"/>
          </a:fontRef>
        </p:style>
        <p:txBody>
          <a:bodyPr/>
          <a:lstStyle/>
          <a:p>
            <a:pPr algn="ctr" eaLnBrk="1" hangingPunct="1">
              <a:defRPr/>
            </a:pPr>
            <a:r>
              <a:rPr kumimoji="1" lang="zh-CN" altLang="en-US" sz="2400" dirty="0">
                <a:solidFill>
                  <a:schemeClr val="tx1"/>
                </a:solidFill>
                <a:latin typeface="楷体" panose="02010609060101010101" pitchFamily="49" charset="-122"/>
                <a:ea typeface="楷体" panose="02010609060101010101" pitchFamily="49" charset="-122"/>
              </a:rPr>
              <a:t>存放输入的字符和回车符</a:t>
            </a:r>
          </a:p>
        </p:txBody>
      </p:sp>
    </p:spTree>
    <p:extLst>
      <p:ext uri="{BB962C8B-B14F-4D97-AF65-F5344CB8AC3E}">
        <p14:creationId xmlns:p14="http://schemas.microsoft.com/office/powerpoint/2010/main" val="32208415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2">
            <a:extLst>
              <a:ext uri="{FF2B5EF4-FFF2-40B4-BE49-F238E27FC236}">
                <a16:creationId xmlns:a16="http://schemas.microsoft.com/office/drawing/2014/main" id="{676FF737-6DF8-4ACD-9432-A2F17F845CF2}"/>
              </a:ext>
            </a:extLst>
          </p:cNvPr>
          <p:cNvSpPr>
            <a:spLocks noChangeArrowheads="1"/>
          </p:cNvSpPr>
          <p:nvPr/>
        </p:nvSpPr>
        <p:spPr bwMode="auto">
          <a:xfrm>
            <a:off x="395288" y="1125950"/>
            <a:ext cx="8286750" cy="5487913"/>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lnSpc>
                <a:spcPct val="90000"/>
              </a:lnSpc>
              <a:spcBef>
                <a:spcPts val="0"/>
              </a:spcBef>
              <a:spcAft>
                <a:spcPts val="0"/>
              </a:spcAft>
              <a:buClr>
                <a:schemeClr val="tx2"/>
              </a:buClr>
              <a:defRPr/>
            </a:pPr>
            <a:endParaRPr lang="zh-CN" altLang="en-US">
              <a:latin typeface="楷体" panose="02010609060101010101" pitchFamily="49" charset="-122"/>
              <a:ea typeface="楷体" panose="02010609060101010101" pitchFamily="49" charset="-122"/>
            </a:endParaRPr>
          </a:p>
        </p:txBody>
      </p:sp>
      <p:grpSp>
        <p:nvGrpSpPr>
          <p:cNvPr id="3" name="Group 22"/>
          <p:cNvGrpSpPr>
            <a:grpSpLocks/>
          </p:cNvGrpSpPr>
          <p:nvPr/>
        </p:nvGrpSpPr>
        <p:grpSpPr bwMode="auto">
          <a:xfrm>
            <a:off x="395288" y="1125951"/>
            <a:ext cx="8318500" cy="800100"/>
            <a:chOff x="266" y="1248"/>
            <a:chExt cx="5304" cy="672"/>
          </a:xfrm>
        </p:grpSpPr>
        <p:sp>
          <p:nvSpPr>
            <p:cNvPr id="4"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Tx/>
                <a:buNone/>
              </a:pPr>
              <a:r>
                <a:rPr lang="zh-CN" altLang="en-US" sz="280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endParaRPr lang="en-US" altLang="zh-CN" sz="2800">
                <a:solidFill>
                  <a:schemeClr val="tx2"/>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7"/>
          <p:cNvSpPr>
            <a:spLocks noChangeArrowheads="1"/>
          </p:cNvSpPr>
          <p:nvPr/>
        </p:nvSpPr>
        <p:spPr bwMode="auto">
          <a:xfrm>
            <a:off x="395288" y="1845089"/>
            <a:ext cx="8243887"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dirty="0">
                <a:solidFill>
                  <a:schemeClr val="accent2"/>
                </a:solidFill>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调用格式：</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MOV  AH</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11</a:t>
            </a:r>
          </a:p>
          <a:p>
            <a:pPr eaLnBrk="1" hangingPunct="1">
              <a:buFont typeface="Arial" panose="020B0604020202020204" pitchFamily="34" charset="0"/>
              <a:buNone/>
            </a:pPr>
            <a:r>
              <a:rPr lang="en-US" altLang="zh-CN" sz="2800" dirty="0">
                <a:latin typeface="楷体" panose="02010609060101010101" pitchFamily="49" charset="-122"/>
                <a:ea typeface="楷体" panose="02010609060101010101" pitchFamily="49" charset="-122"/>
              </a:rPr>
              <a:t>     INT  21H</a:t>
            </a: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入口：无入口参数</a:t>
            </a:r>
            <a:endParaRPr lang="zh-CN" altLang="en-US" sz="2800" dirty="0">
              <a:solidFill>
                <a:srgbClr val="FF0000"/>
              </a:solidFill>
              <a:latin typeface="楷体" panose="02010609060101010101" pitchFamily="49" charset="-122"/>
              <a:ea typeface="楷体" panose="02010609060101010101" pitchFamily="49" charset="-122"/>
            </a:endParaRPr>
          </a:p>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出口：有键入</a:t>
            </a:r>
            <a:r>
              <a:rPr lang="en-US" altLang="zh-CN" sz="2800" dirty="0">
                <a:latin typeface="楷体" panose="02010609060101010101" pitchFamily="49" charset="-122"/>
                <a:ea typeface="楷体" panose="02010609060101010101" pitchFamily="49" charset="-122"/>
              </a:rPr>
              <a:t>AL=0FFH</a:t>
            </a:r>
            <a:r>
              <a:rPr lang="zh-CN" altLang="en-US" sz="2800" dirty="0">
                <a:latin typeface="楷体" panose="02010609060101010101" pitchFamily="49" charset="-122"/>
                <a:ea typeface="楷体" panose="02010609060101010101" pitchFamily="49" charset="-122"/>
              </a:rPr>
              <a:t>，无键入</a:t>
            </a:r>
            <a:r>
              <a:rPr lang="en-US" altLang="zh-CN" sz="2800" dirty="0">
                <a:latin typeface="楷体" panose="02010609060101010101" pitchFamily="49" charset="-122"/>
                <a:ea typeface="楷体" panose="02010609060101010101" pitchFamily="49" charset="-122"/>
              </a:rPr>
              <a:t>AL=0</a:t>
            </a:r>
            <a:endParaRPr lang="zh-CN" altLang="en-US" sz="2800" dirty="0">
              <a:latin typeface="楷体" panose="02010609060101010101" pitchFamily="49" charset="-122"/>
              <a:ea typeface="楷体" panose="02010609060101010101" pitchFamily="49" charset="-122"/>
            </a:endParaRPr>
          </a:p>
        </p:txBody>
      </p:sp>
      <p:sp>
        <p:nvSpPr>
          <p:cNvPr id="7" name="矩形 6"/>
          <p:cNvSpPr>
            <a:spLocks noChangeArrowheads="1"/>
          </p:cNvSpPr>
          <p:nvPr/>
        </p:nvSpPr>
        <p:spPr bwMode="auto">
          <a:xfrm>
            <a:off x="1187450" y="1197389"/>
            <a:ext cx="7215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5</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11</a:t>
            </a:r>
            <a:r>
              <a:rPr lang="zh-CN" altLang="en-US" sz="2800">
                <a:latin typeface="楷体" panose="02010609060101010101" pitchFamily="49" charset="-122"/>
                <a:ea typeface="楷体" panose="02010609060101010101" pitchFamily="49" charset="-122"/>
              </a:rPr>
              <a:t>号功能调用</a:t>
            </a:r>
            <a:r>
              <a:rPr lang="en-US" altLang="zh-CN"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检测键盘有无键入</a:t>
            </a:r>
          </a:p>
        </p:txBody>
      </p:sp>
      <p:sp>
        <p:nvSpPr>
          <p:cNvPr id="8" name="Text Box 4"/>
          <p:cNvSpPr txBox="1">
            <a:spLocks noChangeArrowheads="1"/>
          </p:cNvSpPr>
          <p:nvPr/>
        </p:nvSpPr>
        <p:spPr bwMode="auto">
          <a:xfrm>
            <a:off x="395288" y="4497799"/>
            <a:ext cx="8496300" cy="20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300" dirty="0">
                <a:latin typeface="楷体" panose="02010609060101010101" pitchFamily="49" charset="-122"/>
                <a:ea typeface="楷体" panose="02010609060101010101" pitchFamily="49" charset="-122"/>
              </a:rPr>
              <a:t>注意：</a:t>
            </a:r>
          </a:p>
          <a:p>
            <a:pPr eaLnBrk="1" hangingPunct="1">
              <a:buFont typeface="Arial" panose="020B0604020202020204" pitchFamily="34" charset="0"/>
              <a:buNone/>
            </a:pPr>
            <a:r>
              <a:rPr lang="en-US" altLang="zh-CN" sz="2300" dirty="0">
                <a:latin typeface="楷体" panose="02010609060101010101" pitchFamily="49" charset="-122"/>
                <a:ea typeface="楷体" panose="02010609060101010101" pitchFamily="49" charset="-122"/>
              </a:rPr>
              <a:t>1.</a:t>
            </a:r>
            <a:r>
              <a:rPr lang="zh-CN" altLang="en-US" sz="2300" dirty="0">
                <a:latin typeface="楷体" panose="02010609060101010101" pitchFamily="49" charset="-122"/>
                <a:ea typeface="楷体" panose="02010609060101010101" pitchFamily="49" charset="-122"/>
              </a:rPr>
              <a:t>汇编中的“回车</a:t>
            </a:r>
            <a:r>
              <a:rPr lang="en-US" altLang="zh-CN" sz="2300" dirty="0">
                <a:latin typeface="楷体" panose="02010609060101010101" pitchFamily="49" charset="-122"/>
                <a:ea typeface="楷体" panose="02010609060101010101" pitchFamily="49" charset="-122"/>
              </a:rPr>
              <a:t>”</a:t>
            </a:r>
            <a:r>
              <a:rPr lang="zh-CN" altLang="en-US" sz="2300" dirty="0">
                <a:latin typeface="楷体" panose="02010609060101010101" pitchFamily="49" charset="-122"/>
                <a:ea typeface="楷体" panose="02010609060101010101" pitchFamily="49" charset="-122"/>
              </a:rPr>
              <a:t>操作仅将光标移至本行行首，故一般在</a:t>
            </a:r>
            <a:r>
              <a:rPr lang="en-US" altLang="zh-CN" sz="2300" dirty="0">
                <a:latin typeface="楷体" panose="02010609060101010101" pitchFamily="49" charset="-122"/>
                <a:ea typeface="楷体" panose="02010609060101010101" pitchFamily="49" charset="-122"/>
              </a:rPr>
              <a:t>10</a:t>
            </a:r>
            <a:r>
              <a:rPr lang="zh-CN" altLang="en-US" sz="2300" dirty="0">
                <a:latin typeface="楷体" panose="02010609060101010101" pitchFamily="49" charset="-122"/>
                <a:ea typeface="楷体" panose="02010609060101010101" pitchFamily="49" charset="-122"/>
              </a:rPr>
              <a:t>号功能调用后要输出一个换行</a:t>
            </a:r>
            <a:r>
              <a:rPr lang="en-US" altLang="zh-CN" sz="2300" dirty="0">
                <a:latin typeface="楷体" panose="02010609060101010101" pitchFamily="49" charset="-122"/>
                <a:ea typeface="楷体" panose="02010609060101010101" pitchFamily="49" charset="-122"/>
              </a:rPr>
              <a:t>0AH</a:t>
            </a:r>
            <a:r>
              <a:rPr lang="zh-CN" altLang="en-US" sz="2300" dirty="0">
                <a:latin typeface="楷体" panose="02010609060101010101" pitchFamily="49" charset="-122"/>
                <a:ea typeface="楷体" panose="02010609060101010101" pitchFamily="49" charset="-122"/>
              </a:rPr>
              <a:t>，将光标移至下一行的行首</a:t>
            </a:r>
          </a:p>
          <a:p>
            <a:pPr eaLnBrk="1" hangingPunct="1">
              <a:buFont typeface="Arial" panose="020B0604020202020204" pitchFamily="34" charset="0"/>
              <a:buNone/>
            </a:pPr>
            <a:r>
              <a:rPr lang="en-US" altLang="zh-CN" sz="2300" dirty="0">
                <a:latin typeface="楷体" panose="02010609060101010101" pitchFamily="49" charset="-122"/>
                <a:ea typeface="楷体" panose="02010609060101010101" pitchFamily="49" charset="-122"/>
              </a:rPr>
              <a:t>2.  2</a:t>
            </a:r>
            <a:r>
              <a:rPr lang="zh-CN" altLang="en-US" sz="2300" dirty="0">
                <a:latin typeface="楷体" panose="02010609060101010101" pitchFamily="49" charset="-122"/>
                <a:ea typeface="楷体" panose="02010609060101010101" pitchFamily="49" charset="-122"/>
              </a:rPr>
              <a:t>号、</a:t>
            </a:r>
            <a:r>
              <a:rPr lang="en-US" altLang="zh-CN" sz="2300" dirty="0">
                <a:latin typeface="楷体" panose="02010609060101010101" pitchFamily="49" charset="-122"/>
                <a:ea typeface="楷体" panose="02010609060101010101" pitchFamily="49" charset="-122"/>
              </a:rPr>
              <a:t>9</a:t>
            </a:r>
            <a:r>
              <a:rPr lang="zh-CN" altLang="en-US" sz="2300" dirty="0">
                <a:latin typeface="楷体" panose="02010609060101010101" pitchFamily="49" charset="-122"/>
                <a:ea typeface="楷体" panose="02010609060101010101" pitchFamily="49" charset="-122"/>
              </a:rPr>
              <a:t>号、</a:t>
            </a:r>
            <a:r>
              <a:rPr lang="en-US" altLang="zh-CN" sz="2300" dirty="0">
                <a:latin typeface="楷体" panose="02010609060101010101" pitchFamily="49" charset="-122"/>
                <a:ea typeface="楷体" panose="02010609060101010101" pitchFamily="49" charset="-122"/>
              </a:rPr>
              <a:t>10</a:t>
            </a:r>
            <a:r>
              <a:rPr lang="zh-CN" altLang="en-US" sz="2300" dirty="0">
                <a:latin typeface="楷体" panose="02010609060101010101" pitchFamily="49" charset="-122"/>
                <a:ea typeface="楷体" panose="02010609060101010101" pitchFamily="49" charset="-122"/>
              </a:rPr>
              <a:t>号功能调用均会破坏</a:t>
            </a:r>
            <a:r>
              <a:rPr lang="en-US" altLang="zh-CN" sz="2300" dirty="0">
                <a:latin typeface="楷体" panose="02010609060101010101" pitchFamily="49" charset="-122"/>
                <a:ea typeface="楷体" panose="02010609060101010101" pitchFamily="49" charset="-122"/>
              </a:rPr>
              <a:t>AL</a:t>
            </a:r>
            <a:r>
              <a:rPr lang="zh-CN" altLang="en-US" sz="2300" dirty="0">
                <a:latin typeface="楷体" panose="02010609060101010101" pitchFamily="49" charset="-122"/>
                <a:ea typeface="楷体" panose="02010609060101010101" pitchFamily="49" charset="-122"/>
              </a:rPr>
              <a:t>中的内容，故为了防止</a:t>
            </a:r>
            <a:r>
              <a:rPr lang="en-US" altLang="zh-CN" sz="2300" dirty="0">
                <a:latin typeface="楷体" panose="02010609060101010101" pitchFamily="49" charset="-122"/>
                <a:ea typeface="楷体" panose="02010609060101010101" pitchFamily="49" charset="-122"/>
              </a:rPr>
              <a:t>AL</a:t>
            </a:r>
            <a:r>
              <a:rPr lang="zh-CN" altLang="en-US" sz="2300" dirty="0">
                <a:latin typeface="楷体" panose="02010609060101010101" pitchFamily="49" charset="-122"/>
                <a:ea typeface="楷体" panose="02010609060101010101" pitchFamily="49" charset="-122"/>
              </a:rPr>
              <a:t>中内容被破坏，在调用前应先保护</a:t>
            </a:r>
            <a:r>
              <a:rPr lang="en-US" altLang="zh-CN" sz="2300" dirty="0">
                <a:latin typeface="楷体" panose="02010609060101010101" pitchFamily="49" charset="-122"/>
                <a:ea typeface="楷体" panose="02010609060101010101" pitchFamily="49" charset="-122"/>
              </a:rPr>
              <a:t>AL</a:t>
            </a:r>
            <a:r>
              <a:rPr lang="zh-CN" altLang="en-US" sz="2300" dirty="0">
                <a:latin typeface="楷体" panose="02010609060101010101" pitchFamily="49" charset="-122"/>
                <a:ea typeface="楷体" panose="02010609060101010101" pitchFamily="49" charset="-122"/>
              </a:rPr>
              <a:t>，调用后再恢复</a:t>
            </a:r>
          </a:p>
        </p:txBody>
      </p:sp>
    </p:spTree>
    <p:extLst>
      <p:ext uri="{BB962C8B-B14F-4D97-AF65-F5344CB8AC3E}">
        <p14:creationId xmlns:p14="http://schemas.microsoft.com/office/powerpoint/2010/main" val="28297105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120775" y="3333750"/>
            <a:ext cx="75946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chemeClr val="tx2"/>
              </a:buClr>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stack segment stack </a:t>
            </a:r>
            <a:r>
              <a:rPr lang="en-US" altLang="zh-CN" sz="2800" dirty="0">
                <a:solidFill>
                  <a:srgbClr val="000099"/>
                </a:solidFill>
                <a:latin typeface="Arial" panose="020B0604020202020204" pitchFamily="34" charset="0"/>
                <a:ea typeface="楷体_GB2312" pitchFamily="49" charset="-122"/>
              </a:rPr>
              <a:t>’</a:t>
            </a:r>
            <a:r>
              <a:rPr lang="en-US" altLang="zh-CN" sz="2800" dirty="0">
                <a:solidFill>
                  <a:srgbClr val="000099"/>
                </a:solidFill>
                <a:latin typeface="楷体_GB2312" pitchFamily="49" charset="-122"/>
                <a:ea typeface="楷体_GB2312" pitchFamily="49" charset="-122"/>
              </a:rPr>
              <a:t>stack</a:t>
            </a:r>
            <a:r>
              <a:rPr lang="en-US" altLang="zh-CN" sz="2800" dirty="0">
                <a:solidFill>
                  <a:srgbClr val="000099"/>
                </a:solidFill>
                <a:latin typeface="Arial" panose="020B0604020202020204" pitchFamily="34" charset="0"/>
                <a:ea typeface="楷体_GB2312" pitchFamily="49" charset="-122"/>
              </a:rPr>
              <a:t>’</a:t>
            </a:r>
            <a:br>
              <a:rPr lang="en-US" altLang="zh-CN" sz="2800" dirty="0">
                <a:solidFill>
                  <a:srgbClr val="000099"/>
                </a:solidFill>
                <a:latin typeface="楷体_GB2312" pitchFamily="49" charset="-122"/>
                <a:ea typeface="楷体_GB2312" pitchFamily="49" charset="-122"/>
              </a:rPr>
            </a:br>
            <a:r>
              <a:rPr lang="en-US" altLang="zh-CN" sz="2800" dirty="0">
                <a:solidFill>
                  <a:srgbClr val="000099"/>
                </a:solidFill>
                <a:latin typeface="楷体_GB2312" pitchFamily="49" charset="-122"/>
                <a:ea typeface="楷体_GB2312" pitchFamily="49" charset="-122"/>
              </a:rPr>
              <a:t>    </a:t>
            </a:r>
            <a:r>
              <a:rPr lang="en-US" altLang="zh-CN" sz="2800" dirty="0" err="1">
                <a:solidFill>
                  <a:srgbClr val="000099"/>
                </a:solidFill>
                <a:latin typeface="楷体_GB2312" pitchFamily="49" charset="-122"/>
                <a:ea typeface="楷体_GB2312" pitchFamily="49" charset="-122"/>
              </a:rPr>
              <a:t>dw</a:t>
            </a:r>
            <a:r>
              <a:rPr lang="en-US" altLang="zh-CN" sz="2800" dirty="0">
                <a:solidFill>
                  <a:srgbClr val="000099"/>
                </a:solidFill>
                <a:latin typeface="楷体_GB2312" pitchFamily="49" charset="-122"/>
                <a:ea typeface="楷体_GB2312" pitchFamily="49" charset="-122"/>
              </a:rPr>
              <a:t> 32 dup</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0</a:t>
            </a:r>
            <a:r>
              <a:rPr lang="zh-CN" altLang="en-US" sz="2800" dirty="0">
                <a:solidFill>
                  <a:srgbClr val="000099"/>
                </a:solidFill>
                <a:latin typeface="楷体_GB2312" pitchFamily="49" charset="-122"/>
                <a:ea typeface="楷体_GB2312" pitchFamily="49" charset="-122"/>
              </a:rPr>
              <a:t>）</a:t>
            </a:r>
          </a:p>
          <a:p>
            <a:pPr eaLnBrk="1" hangingPunct="1">
              <a:buClr>
                <a:schemeClr val="tx2"/>
              </a:buClr>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stack ends</a:t>
            </a:r>
          </a:p>
          <a:p>
            <a:pPr eaLnBrk="1" hangingPunct="1">
              <a:buClr>
                <a:schemeClr val="tx2"/>
              </a:buClr>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data  segment </a:t>
            </a:r>
          </a:p>
          <a:p>
            <a:pPr eaLnBrk="1" hangingPunct="1">
              <a:buClr>
                <a:schemeClr val="tx2"/>
              </a:buClr>
              <a:buFont typeface="Arial" panose="020B0604020202020204" pitchFamily="34" charset="0"/>
              <a:buNone/>
            </a:pPr>
            <a:r>
              <a:rPr lang="en-US" altLang="zh-CN" sz="2800" dirty="0">
                <a:latin typeface="楷体_GB2312" pitchFamily="49" charset="-122"/>
                <a:ea typeface="楷体_GB2312" pitchFamily="49" charset="-122"/>
              </a:rPr>
              <a:t>OBF  DB  </a:t>
            </a:r>
            <a:r>
              <a:rPr lang="en-US" altLang="zh-CN" sz="2800" dirty="0">
                <a:latin typeface="Arial" panose="020B0604020202020204" pitchFamily="34" charset="0"/>
                <a:ea typeface="楷体_GB2312" pitchFamily="49" charset="-122"/>
              </a:rPr>
              <a:t>’ </a:t>
            </a:r>
            <a:r>
              <a:rPr lang="en-US" altLang="zh-CN" sz="2800" dirty="0">
                <a:latin typeface="楷体_GB2312" pitchFamily="49" charset="-122"/>
                <a:ea typeface="楷体_GB2312" pitchFamily="49" charset="-122"/>
              </a:rPr>
              <a:t>wish you success</a:t>
            </a:r>
            <a:r>
              <a:rPr lang="zh-CN" altLang="en-US" sz="2800" dirty="0">
                <a:latin typeface="楷体_GB2312" pitchFamily="49" charset="-122"/>
                <a:ea typeface="楷体_GB2312" pitchFamily="49" charset="-122"/>
              </a:rPr>
              <a:t>！＄</a:t>
            </a:r>
            <a:r>
              <a:rPr lang="zh-CN" altLang="en-US" sz="2800" dirty="0">
                <a:latin typeface="Arial" panose="020B0604020202020204" pitchFamily="34" charset="0"/>
                <a:ea typeface="楷体_GB2312" pitchFamily="49" charset="-122"/>
              </a:rPr>
              <a:t>’</a:t>
            </a:r>
          </a:p>
          <a:p>
            <a:pPr eaLnBrk="1" hangingPunct="1">
              <a:buClr>
                <a:schemeClr val="tx2"/>
              </a:buClr>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data  ends</a:t>
            </a:r>
          </a:p>
        </p:txBody>
      </p:sp>
      <p:sp>
        <p:nvSpPr>
          <p:cNvPr id="3" name="矩形 40"/>
          <p:cNvSpPr>
            <a:spLocks noChangeArrowheads="1"/>
          </p:cNvSpPr>
          <p:nvPr/>
        </p:nvSpPr>
        <p:spPr bwMode="auto">
          <a:xfrm>
            <a:off x="763588" y="1190625"/>
            <a:ext cx="7308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400" dirty="0">
                <a:solidFill>
                  <a:srgbClr val="000099"/>
                </a:solidFill>
                <a:latin typeface="楷体" panose="02010609060101010101" pitchFamily="49" charset="-122"/>
                <a:ea typeface="楷体" panose="02010609060101010101" pitchFamily="49" charset="-122"/>
              </a:rPr>
              <a:t>例</a:t>
            </a:r>
            <a:r>
              <a:rPr lang="en-US" altLang="zh-CN" sz="2400" dirty="0">
                <a:solidFill>
                  <a:srgbClr val="000099"/>
                </a:solidFill>
                <a:latin typeface="楷体" panose="02010609060101010101" pitchFamily="49" charset="-122"/>
                <a:ea typeface="楷体" panose="02010609060101010101" pitchFamily="49" charset="-122"/>
              </a:rPr>
              <a:t>1 </a:t>
            </a:r>
            <a:r>
              <a:rPr lang="zh-CN" altLang="en-US" sz="2400" dirty="0">
                <a:solidFill>
                  <a:srgbClr val="000099"/>
                </a:solidFill>
                <a:latin typeface="楷体" panose="02010609060101010101" pitchFamily="49" charset="-122"/>
                <a:ea typeface="楷体" panose="02010609060101010101" pitchFamily="49" charset="-122"/>
              </a:rPr>
              <a:t>编写汇编语言源程序，在显示器上显示</a:t>
            </a:r>
            <a:r>
              <a:rPr lang="en-US" altLang="zh-CN" sz="2400" dirty="0">
                <a:solidFill>
                  <a:srgbClr val="000099"/>
                </a:solidFill>
                <a:latin typeface="楷体" panose="02010609060101010101" pitchFamily="49" charset="-122"/>
                <a:ea typeface="楷体" panose="02010609060101010101" pitchFamily="49" charset="-122"/>
              </a:rPr>
              <a:t>wish you success</a:t>
            </a:r>
            <a:r>
              <a:rPr lang="zh-CN" altLang="en-US" sz="2400" dirty="0">
                <a:solidFill>
                  <a:srgbClr val="000099"/>
                </a:solidFill>
                <a:latin typeface="楷体" panose="02010609060101010101" pitchFamily="49" charset="-122"/>
                <a:ea typeface="楷体" panose="02010609060101010101" pitchFamily="49" charset="-122"/>
              </a:rPr>
              <a:t>！。</a:t>
            </a:r>
          </a:p>
        </p:txBody>
      </p:sp>
      <p:sp>
        <p:nvSpPr>
          <p:cNvPr id="4" name="Rectangle 6"/>
          <p:cNvSpPr>
            <a:spLocks noChangeArrowheads="1"/>
          </p:cNvSpPr>
          <p:nvPr/>
        </p:nvSpPr>
        <p:spPr bwMode="auto">
          <a:xfrm>
            <a:off x="763588" y="2262187"/>
            <a:ext cx="7308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思路：将欲显示字符串的</a:t>
            </a:r>
            <a:r>
              <a:rPr lang="en-US" altLang="zh-CN" sz="2400" dirty="0">
                <a:latin typeface="楷体" panose="02010609060101010101" pitchFamily="49" charset="-122"/>
                <a:ea typeface="楷体" panose="02010609060101010101" pitchFamily="49" charset="-122"/>
              </a:rPr>
              <a:t>ASCII</a:t>
            </a:r>
            <a:r>
              <a:rPr lang="zh-CN" altLang="en-US" sz="2400" dirty="0">
                <a:latin typeface="楷体" panose="02010609060101010101" pitchFamily="49" charset="-122"/>
                <a:ea typeface="楷体" panose="02010609060101010101" pitchFamily="49" charset="-122"/>
              </a:rPr>
              <a:t>码存放到字节变量数据区中，用</a:t>
            </a:r>
            <a:r>
              <a:rPr lang="en-US" altLang="zh-CN" sz="2400" dirty="0">
                <a:latin typeface="楷体" panose="02010609060101010101" pitchFamily="49" charset="-122"/>
                <a:ea typeface="楷体" panose="02010609060101010101" pitchFamily="49" charset="-122"/>
                <a:sym typeface="Symbol" panose="05050102010706020507" pitchFamily="18" charset="2"/>
              </a:rPr>
              <a:t>9</a:t>
            </a:r>
            <a:r>
              <a:rPr lang="zh-CN" altLang="en-US" sz="2400" dirty="0">
                <a:latin typeface="楷体" panose="02010609060101010101" pitchFamily="49" charset="-122"/>
                <a:ea typeface="楷体" panose="02010609060101010101" pitchFamily="49" charset="-122"/>
                <a:sym typeface="Symbol" panose="05050102010706020507" pitchFamily="18" charset="2"/>
              </a:rPr>
              <a:t>号功能调用显示</a:t>
            </a:r>
          </a:p>
        </p:txBody>
      </p:sp>
    </p:spTree>
    <p:extLst>
      <p:ext uri="{BB962C8B-B14F-4D97-AF65-F5344CB8AC3E}">
        <p14:creationId xmlns:p14="http://schemas.microsoft.com/office/powerpoint/2010/main" val="412985379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639193" y="1125954"/>
            <a:ext cx="8220722" cy="5661025"/>
          </a:xfrm>
          <a:prstGeom prst="rect">
            <a:avLst/>
          </a:prstGeom>
          <a:solidFill>
            <a:srgbClr val="FFFFFF"/>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code 	 </a:t>
            </a:r>
            <a:r>
              <a:rPr lang="en-US" altLang="zh-CN" dirty="0" err="1">
                <a:latin typeface="楷体_GB2312" pitchFamily="49" charset="-122"/>
                <a:ea typeface="楷体_GB2312" pitchFamily="49" charset="-122"/>
              </a:rPr>
              <a:t>segement</a:t>
            </a:r>
            <a:endParaRPr lang="en-US" altLang="zh-CN" dirty="0">
              <a:latin typeface="楷体_GB2312" pitchFamily="49" charset="-122"/>
              <a:ea typeface="楷体_GB2312" pitchFamily="49" charset="-122"/>
            </a:endParaRP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start	 </a:t>
            </a:r>
            <a:r>
              <a:rPr lang="en-US" altLang="zh-CN" dirty="0" err="1">
                <a:latin typeface="楷体_GB2312" pitchFamily="49" charset="-122"/>
                <a:ea typeface="楷体_GB2312" pitchFamily="49" charset="-122"/>
              </a:rPr>
              <a:t>proc</a:t>
            </a:r>
            <a:r>
              <a:rPr lang="en-US" altLang="zh-CN" dirty="0">
                <a:latin typeface="楷体_GB2312" pitchFamily="49" charset="-122"/>
                <a:ea typeface="楷体_GB2312" pitchFamily="49" charset="-122"/>
              </a:rPr>
              <a:t> far</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assume </a:t>
            </a:r>
            <a:r>
              <a:rPr lang="en-US" altLang="zh-CN" dirty="0" err="1">
                <a:latin typeface="楷体_GB2312" pitchFamily="49" charset="-122"/>
                <a:ea typeface="楷体_GB2312" pitchFamily="49" charset="-122"/>
              </a:rPr>
              <a:t>ss</a:t>
            </a:r>
            <a:r>
              <a:rPr lang="en-US" altLang="zh-CN" dirty="0">
                <a:latin typeface="楷体_GB2312" pitchFamily="49" charset="-122"/>
                <a:ea typeface="楷体_GB2312" pitchFamily="49" charset="-122"/>
              </a:rPr>
              <a:t>: stack, </a:t>
            </a:r>
            <a:r>
              <a:rPr lang="en-US" altLang="zh-CN" dirty="0" err="1">
                <a:latin typeface="楷体_GB2312" pitchFamily="49" charset="-122"/>
                <a:ea typeface="楷体_GB2312" pitchFamily="49" charset="-122"/>
              </a:rPr>
              <a:t>cs</a:t>
            </a:r>
            <a:r>
              <a:rPr lang="en-US" altLang="zh-CN" dirty="0">
                <a:latin typeface="楷体_GB2312" pitchFamily="49" charset="-122"/>
                <a:ea typeface="楷体_GB2312" pitchFamily="49" charset="-122"/>
              </a:rPr>
              <a:t>: code, ds: data</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push ds</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sub ax, ax</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push ax</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mov</a:t>
            </a:r>
            <a:r>
              <a:rPr lang="en-US" altLang="zh-CN" dirty="0">
                <a:latin typeface="楷体_GB2312" pitchFamily="49" charset="-122"/>
                <a:ea typeface="楷体_GB2312" pitchFamily="49" charset="-122"/>
              </a:rPr>
              <a:t> ax, data</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mov</a:t>
            </a:r>
            <a:r>
              <a:rPr lang="en-US" altLang="zh-CN" dirty="0">
                <a:latin typeface="楷体_GB2312" pitchFamily="49" charset="-122"/>
                <a:ea typeface="楷体_GB2312" pitchFamily="49" charset="-122"/>
              </a:rPr>
              <a:t> ds, ax</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a:t>
            </a:r>
            <a:r>
              <a:rPr lang="en-US" altLang="zh-CN" dirty="0">
                <a:solidFill>
                  <a:srgbClr val="000099"/>
                </a:solidFill>
                <a:latin typeface="楷体_GB2312" pitchFamily="49" charset="-122"/>
                <a:ea typeface="楷体_GB2312" pitchFamily="49" charset="-122"/>
              </a:rPr>
              <a:t>MOV DX, OFFSET OBF</a:t>
            </a:r>
          </a:p>
          <a:p>
            <a:pPr>
              <a:lnSpc>
                <a:spcPct val="80000"/>
              </a:lnSpc>
              <a:spcBef>
                <a:spcPct val="5000"/>
              </a:spcBef>
              <a:buFont typeface="Arial" panose="020B0604020202020204" pitchFamily="34" charset="0"/>
              <a:buNone/>
            </a:pPr>
            <a:r>
              <a:rPr lang="en-US" altLang="zh-CN" dirty="0">
                <a:solidFill>
                  <a:srgbClr val="000099"/>
                </a:solidFill>
                <a:latin typeface="楷体_GB2312" pitchFamily="49" charset="-122"/>
                <a:ea typeface="楷体_GB2312" pitchFamily="49" charset="-122"/>
              </a:rPr>
              <a:t>		 MOV AH, 9</a:t>
            </a:r>
          </a:p>
          <a:p>
            <a:pPr>
              <a:lnSpc>
                <a:spcPct val="80000"/>
              </a:lnSpc>
              <a:spcBef>
                <a:spcPct val="5000"/>
              </a:spcBef>
              <a:buFont typeface="Arial" panose="020B0604020202020204" pitchFamily="34" charset="0"/>
              <a:buNone/>
            </a:pPr>
            <a:r>
              <a:rPr lang="en-US" altLang="zh-CN" dirty="0">
                <a:solidFill>
                  <a:srgbClr val="000099"/>
                </a:solidFill>
                <a:latin typeface="楷体_GB2312" pitchFamily="49" charset="-122"/>
                <a:ea typeface="楷体_GB2312" pitchFamily="49" charset="-122"/>
              </a:rPr>
              <a:t>		 INT 21H</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ret</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start	 </a:t>
            </a:r>
            <a:r>
              <a:rPr lang="en-US" altLang="zh-CN" dirty="0" err="1">
                <a:latin typeface="楷体_GB2312" pitchFamily="49" charset="-122"/>
                <a:ea typeface="楷体_GB2312" pitchFamily="49" charset="-122"/>
              </a:rPr>
              <a:t>endp</a:t>
            </a:r>
            <a:endParaRPr lang="en-US" altLang="zh-CN" dirty="0">
              <a:latin typeface="楷体_GB2312" pitchFamily="49" charset="-122"/>
              <a:ea typeface="楷体_GB2312" pitchFamily="49" charset="-122"/>
            </a:endParaRP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code  ends</a:t>
            </a:r>
          </a:p>
          <a:p>
            <a:pPr>
              <a:lnSpc>
                <a:spcPct val="80000"/>
              </a:lnSpc>
              <a:spcBef>
                <a:spcPct val="5000"/>
              </a:spcBef>
              <a:buFont typeface="Arial" panose="020B0604020202020204" pitchFamily="34" charset="0"/>
              <a:buNone/>
            </a:pPr>
            <a:r>
              <a:rPr lang="en-US" altLang="zh-CN" dirty="0">
                <a:latin typeface="楷体_GB2312" pitchFamily="49" charset="-122"/>
                <a:ea typeface="楷体_GB2312" pitchFamily="49" charset="-122"/>
              </a:rPr>
              <a:t>		 end start</a:t>
            </a: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val="27823166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06400" y="2143125"/>
            <a:ext cx="7594600" cy="36433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latin typeface="楷体_GB2312" pitchFamily="49" charset="-122"/>
                <a:ea typeface="楷体_GB2312" pitchFamily="49" charset="-122"/>
              </a:rPr>
              <a:t>stack segment stack </a:t>
            </a:r>
            <a:r>
              <a:rPr lang="en-US" altLang="zh-CN" dirty="0">
                <a:latin typeface="Arial" panose="020B0604020202020204" pitchFamily="34" charset="0"/>
                <a:ea typeface="楷体_GB2312" pitchFamily="49" charset="-122"/>
              </a:rPr>
              <a:t>’</a:t>
            </a:r>
            <a:r>
              <a:rPr lang="en-US" altLang="zh-CN" dirty="0">
                <a:latin typeface="楷体_GB2312" pitchFamily="49" charset="-122"/>
                <a:ea typeface="楷体_GB2312" pitchFamily="49" charset="-122"/>
              </a:rPr>
              <a:t>stack</a:t>
            </a:r>
            <a:r>
              <a:rPr lang="en-US" altLang="zh-CN" dirty="0">
                <a:latin typeface="Arial" panose="020B0604020202020204" pitchFamily="34" charset="0"/>
                <a:ea typeface="楷体_GB2312" pitchFamily="49" charset="-122"/>
              </a:rPr>
              <a:t>’</a:t>
            </a:r>
            <a:br>
              <a:rPr lang="en-US" altLang="zh-CN" dirty="0">
                <a:latin typeface="楷体_GB2312" pitchFamily="49" charset="-122"/>
                <a:ea typeface="楷体_GB2312" pitchFamily="49" charset="-122"/>
              </a:rPr>
            </a:b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dw</a:t>
            </a:r>
            <a:r>
              <a:rPr lang="en-US" altLang="zh-CN" dirty="0">
                <a:latin typeface="楷体_GB2312" pitchFamily="49" charset="-122"/>
                <a:ea typeface="楷体_GB2312" pitchFamily="49" charset="-122"/>
              </a:rPr>
              <a:t> 32 dup</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0</a:t>
            </a:r>
            <a:r>
              <a:rPr lang="zh-CN" altLang="en-US" dirty="0">
                <a:latin typeface="楷体_GB2312" pitchFamily="49" charset="-122"/>
                <a:ea typeface="楷体_GB2312" pitchFamily="49" charset="-122"/>
              </a:rPr>
              <a:t>）</a:t>
            </a:r>
          </a:p>
          <a:p>
            <a:pPr marL="0" indent="0">
              <a:buNone/>
            </a:pPr>
            <a:r>
              <a:rPr lang="en-US" altLang="zh-CN" dirty="0">
                <a:latin typeface="楷体_GB2312" pitchFamily="49" charset="-122"/>
                <a:ea typeface="楷体_GB2312" pitchFamily="49" charset="-122"/>
              </a:rPr>
              <a:t>stack ends</a:t>
            </a:r>
          </a:p>
          <a:p>
            <a:pPr marL="0" indent="0">
              <a:buNone/>
            </a:pPr>
            <a:r>
              <a:rPr lang="en-US" altLang="zh-CN" dirty="0">
                <a:latin typeface="楷体_GB2312" pitchFamily="49" charset="-122"/>
                <a:ea typeface="楷体_GB2312" pitchFamily="49" charset="-122"/>
              </a:rPr>
              <a:t>data  segment </a:t>
            </a:r>
          </a:p>
          <a:p>
            <a:pPr marL="0" indent="0">
              <a:buNone/>
            </a:pPr>
            <a:r>
              <a:rPr lang="en-US" altLang="zh-CN" dirty="0">
                <a:solidFill>
                  <a:srgbClr val="FF0000"/>
                </a:solidFill>
                <a:latin typeface="楷体_GB2312" pitchFamily="49" charset="-122"/>
                <a:ea typeface="楷体_GB2312" pitchFamily="49" charset="-122"/>
              </a:rPr>
              <a:t>OBUF  DB  </a:t>
            </a:r>
            <a:r>
              <a:rPr lang="en-US" altLang="zh-CN" dirty="0">
                <a:solidFill>
                  <a:srgbClr val="FF0000"/>
                </a:solidFill>
                <a:latin typeface="Arial" panose="020B0604020202020204" pitchFamily="34" charset="0"/>
                <a:ea typeface="楷体_GB2312" pitchFamily="49" charset="-122"/>
              </a:rPr>
              <a:t>’</a:t>
            </a:r>
            <a:r>
              <a:rPr lang="en-US" altLang="zh-CN" dirty="0">
                <a:solidFill>
                  <a:srgbClr val="FF0000"/>
                </a:solidFill>
                <a:latin typeface="楷体_GB2312" pitchFamily="49" charset="-122"/>
                <a:ea typeface="楷体_GB2312" pitchFamily="49" charset="-122"/>
              </a:rPr>
              <a:t>﹥</a:t>
            </a:r>
            <a:r>
              <a:rPr lang="en-US" altLang="zh-CN" dirty="0">
                <a:solidFill>
                  <a:srgbClr val="FF0000"/>
                </a:solidFill>
                <a:latin typeface="Arial" panose="020B0604020202020204" pitchFamily="34" charset="0"/>
                <a:ea typeface="楷体_GB2312" pitchFamily="49" charset="-122"/>
              </a:rPr>
              <a:t>’</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0DH</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0AH</a:t>
            </a:r>
            <a:r>
              <a:rPr lang="zh-CN" altLang="en-US" dirty="0">
                <a:solidFill>
                  <a:srgbClr val="FF0000"/>
                </a:solidFill>
                <a:latin typeface="楷体_GB2312" pitchFamily="49" charset="-122"/>
                <a:ea typeface="楷体_GB2312" pitchFamily="49" charset="-122"/>
              </a:rPr>
              <a:t>，</a:t>
            </a:r>
            <a:r>
              <a:rPr lang="zh-CN" altLang="en-US" dirty="0">
                <a:solidFill>
                  <a:srgbClr val="FF0000"/>
                </a:solidFill>
                <a:latin typeface="Arial" panose="020B0604020202020204" pitchFamily="34" charset="0"/>
                <a:ea typeface="楷体_GB2312" pitchFamily="49" charset="-122"/>
              </a:rPr>
              <a:t>’</a:t>
            </a:r>
            <a:r>
              <a:rPr lang="zh-CN" altLang="en-US" dirty="0">
                <a:solidFill>
                  <a:srgbClr val="FF0000"/>
                </a:solidFill>
                <a:latin typeface="楷体_GB2312" pitchFamily="49" charset="-122"/>
                <a:ea typeface="楷体_GB2312" pitchFamily="49" charset="-122"/>
              </a:rPr>
              <a:t>＄</a:t>
            </a:r>
            <a:r>
              <a:rPr lang="zh-CN" altLang="en-US" dirty="0">
                <a:solidFill>
                  <a:srgbClr val="FF0000"/>
                </a:solidFill>
                <a:latin typeface="Arial" panose="020B0604020202020204" pitchFamily="34" charset="0"/>
                <a:ea typeface="楷体_GB2312" pitchFamily="49" charset="-122"/>
              </a:rPr>
              <a:t>’</a:t>
            </a:r>
          </a:p>
          <a:p>
            <a:pPr marL="0" indent="0">
              <a:buNone/>
            </a:pPr>
            <a:r>
              <a:rPr lang="en-US" altLang="zh-CN" dirty="0">
                <a:solidFill>
                  <a:srgbClr val="FF0000"/>
                </a:solidFill>
                <a:latin typeface="楷体_GB2312" pitchFamily="49" charset="-122"/>
                <a:ea typeface="楷体_GB2312" pitchFamily="49" charset="-122"/>
              </a:rPr>
              <a:t>IBUF  DB  0FFH</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0</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0FFH DUP</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0</a:t>
            </a:r>
            <a:r>
              <a:rPr lang="zh-CN" altLang="en-US" dirty="0">
                <a:solidFill>
                  <a:srgbClr val="FF0000"/>
                </a:solidFill>
                <a:latin typeface="楷体_GB2312" pitchFamily="49" charset="-122"/>
                <a:ea typeface="楷体_GB2312" pitchFamily="49" charset="-122"/>
              </a:rPr>
              <a:t>） </a:t>
            </a:r>
          </a:p>
          <a:p>
            <a:pPr marL="0" indent="0">
              <a:buNone/>
            </a:pPr>
            <a:r>
              <a:rPr lang="en-US" altLang="zh-CN" dirty="0">
                <a:latin typeface="楷体_GB2312" pitchFamily="49" charset="-122"/>
                <a:ea typeface="楷体_GB2312" pitchFamily="49" charset="-122"/>
              </a:rPr>
              <a:t>data  ends</a:t>
            </a:r>
          </a:p>
        </p:txBody>
      </p:sp>
      <p:grpSp>
        <p:nvGrpSpPr>
          <p:cNvPr id="3" name="Group 43"/>
          <p:cNvGrpSpPr>
            <a:grpSpLocks/>
          </p:cNvGrpSpPr>
          <p:nvPr/>
        </p:nvGrpSpPr>
        <p:grpSpPr bwMode="auto">
          <a:xfrm>
            <a:off x="6643688" y="2428875"/>
            <a:ext cx="2162175" cy="3886200"/>
            <a:chOff x="4059" y="1389"/>
            <a:chExt cx="1362" cy="2448"/>
          </a:xfrm>
        </p:grpSpPr>
        <p:grpSp>
          <p:nvGrpSpPr>
            <p:cNvPr id="4" name="Group 38"/>
            <p:cNvGrpSpPr>
              <a:grpSpLocks/>
            </p:cNvGrpSpPr>
            <p:nvPr/>
          </p:nvGrpSpPr>
          <p:grpSpPr bwMode="auto">
            <a:xfrm>
              <a:off x="4059" y="1389"/>
              <a:ext cx="785" cy="2448"/>
              <a:chOff x="4422" y="1389"/>
              <a:chExt cx="785" cy="2448"/>
            </a:xfrm>
          </p:grpSpPr>
          <p:sp>
            <p:nvSpPr>
              <p:cNvPr id="9" name="Line 6"/>
              <p:cNvSpPr>
                <a:spLocks noChangeShapeType="1"/>
              </p:cNvSpPr>
              <p:nvPr/>
            </p:nvSpPr>
            <p:spPr bwMode="auto">
              <a:xfrm>
                <a:off x="4614" y="3693"/>
                <a:ext cx="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
              <p:cNvSpPr>
                <a:spLocks noChangeShapeType="1"/>
              </p:cNvSpPr>
              <p:nvPr/>
            </p:nvSpPr>
            <p:spPr bwMode="auto">
              <a:xfrm>
                <a:off x="4614" y="1869"/>
                <a:ext cx="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p:cNvSpPr>
                <a:spLocks noChangeShapeType="1"/>
              </p:cNvSpPr>
              <p:nvPr/>
            </p:nvSpPr>
            <p:spPr bwMode="auto">
              <a:xfrm>
                <a:off x="4614" y="1773"/>
                <a:ext cx="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p:cNvSpPr>
                <a:spLocks noChangeShapeType="1"/>
              </p:cNvSpPr>
              <p:nvPr/>
            </p:nvSpPr>
            <p:spPr bwMode="auto">
              <a:xfrm>
                <a:off x="4614" y="1773"/>
                <a:ext cx="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p:cNvSpPr>
                <a:spLocks noChangeShapeType="1"/>
              </p:cNvSpPr>
              <p:nvPr/>
            </p:nvSpPr>
            <p:spPr bwMode="auto">
              <a:xfrm>
                <a:off x="4614" y="1869"/>
                <a:ext cx="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p:cNvSpPr>
                <a:spLocks noChangeShapeType="1"/>
              </p:cNvSpPr>
              <p:nvPr/>
            </p:nvSpPr>
            <p:spPr bwMode="auto">
              <a:xfrm>
                <a:off x="4422" y="1389"/>
                <a:ext cx="0" cy="244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p:cNvSpPr>
                <a:spLocks noChangeShapeType="1"/>
              </p:cNvSpPr>
              <p:nvPr/>
            </p:nvSpPr>
            <p:spPr bwMode="auto">
              <a:xfrm>
                <a:off x="4950" y="1533"/>
                <a:ext cx="0" cy="230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p:cNvSpPr>
                <a:spLocks noChangeShapeType="1"/>
              </p:cNvSpPr>
              <p:nvPr/>
            </p:nvSpPr>
            <p:spPr bwMode="auto">
              <a:xfrm>
                <a:off x="4422" y="1821"/>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4"/>
              <p:cNvSpPr>
                <a:spLocks noChangeShapeType="1"/>
              </p:cNvSpPr>
              <p:nvPr/>
            </p:nvSpPr>
            <p:spPr bwMode="auto">
              <a:xfrm>
                <a:off x="4422" y="2061"/>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5"/>
              <p:cNvSpPr>
                <a:spLocks noChangeShapeType="1"/>
              </p:cNvSpPr>
              <p:nvPr/>
            </p:nvSpPr>
            <p:spPr bwMode="auto">
              <a:xfrm>
                <a:off x="4422" y="2349"/>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a:off x="4422" y="2589"/>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7"/>
              <p:cNvSpPr>
                <a:spLocks noChangeShapeType="1"/>
              </p:cNvSpPr>
              <p:nvPr/>
            </p:nvSpPr>
            <p:spPr bwMode="auto">
              <a:xfrm>
                <a:off x="4422" y="2877"/>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8"/>
              <p:cNvSpPr>
                <a:spLocks noChangeShapeType="1"/>
              </p:cNvSpPr>
              <p:nvPr/>
            </p:nvSpPr>
            <p:spPr bwMode="auto">
              <a:xfrm>
                <a:off x="4422" y="3117"/>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9"/>
              <p:cNvSpPr>
                <a:spLocks noChangeShapeType="1"/>
              </p:cNvSpPr>
              <p:nvPr/>
            </p:nvSpPr>
            <p:spPr bwMode="auto">
              <a:xfrm>
                <a:off x="4422" y="3357"/>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0"/>
              <p:cNvSpPr>
                <a:spLocks noChangeShapeType="1"/>
              </p:cNvSpPr>
              <p:nvPr/>
            </p:nvSpPr>
            <p:spPr bwMode="auto">
              <a:xfrm>
                <a:off x="4422" y="3645"/>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2"/>
              <p:cNvSpPr>
                <a:spLocks noChangeShapeType="1"/>
              </p:cNvSpPr>
              <p:nvPr/>
            </p:nvSpPr>
            <p:spPr bwMode="auto">
              <a:xfrm flipH="1">
                <a:off x="4953" y="2205"/>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23"/>
              <p:cNvSpPr>
                <a:spLocks noChangeShapeType="1"/>
              </p:cNvSpPr>
              <p:nvPr/>
            </p:nvSpPr>
            <p:spPr bwMode="auto">
              <a:xfrm flipH="1">
                <a:off x="4953" y="1965"/>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4"/>
              <p:cNvSpPr>
                <a:spLocks noChangeShapeType="1"/>
              </p:cNvSpPr>
              <p:nvPr/>
            </p:nvSpPr>
            <p:spPr bwMode="auto">
              <a:xfrm flipH="1">
                <a:off x="4950" y="1677"/>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5"/>
              <p:cNvSpPr>
                <a:spLocks noChangeShapeType="1"/>
              </p:cNvSpPr>
              <p:nvPr/>
            </p:nvSpPr>
            <p:spPr bwMode="auto">
              <a:xfrm>
                <a:off x="4422" y="1533"/>
                <a:ext cx="52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6"/>
              <p:cNvSpPr>
                <a:spLocks noChangeShapeType="1"/>
              </p:cNvSpPr>
              <p:nvPr/>
            </p:nvSpPr>
            <p:spPr bwMode="auto">
              <a:xfrm flipV="1">
                <a:off x="4950" y="1389"/>
                <a:ext cx="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 name="Group 36"/>
              <p:cNvGrpSpPr>
                <a:grpSpLocks/>
              </p:cNvGrpSpPr>
              <p:nvPr/>
            </p:nvGrpSpPr>
            <p:grpSpPr bwMode="auto">
              <a:xfrm>
                <a:off x="4513" y="1524"/>
                <a:ext cx="401" cy="2152"/>
                <a:chOff x="4513" y="1524"/>
                <a:chExt cx="401" cy="2152"/>
              </a:xfrm>
            </p:grpSpPr>
            <p:sp>
              <p:nvSpPr>
                <p:cNvPr id="31" name="Rectangle 28"/>
                <p:cNvSpPr>
                  <a:spLocks noChangeArrowheads="1"/>
                </p:cNvSpPr>
                <p:nvPr/>
              </p:nvSpPr>
              <p:spPr bwMode="auto">
                <a:xfrm>
                  <a:off x="4513" y="1524"/>
                  <a:ext cx="3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FF</a:t>
                  </a:r>
                </a:p>
              </p:txBody>
            </p:sp>
            <p:sp>
              <p:nvSpPr>
                <p:cNvPr id="32" name="Rectangle 29"/>
                <p:cNvSpPr>
                  <a:spLocks noChangeArrowheads="1"/>
                </p:cNvSpPr>
                <p:nvPr/>
              </p:nvSpPr>
              <p:spPr bwMode="auto">
                <a:xfrm>
                  <a:off x="4513" y="1796"/>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05</a:t>
                  </a:r>
                </a:p>
              </p:txBody>
            </p:sp>
            <p:sp>
              <p:nvSpPr>
                <p:cNvPr id="33" name="Rectangle 30"/>
                <p:cNvSpPr>
                  <a:spLocks noChangeArrowheads="1"/>
                </p:cNvSpPr>
                <p:nvPr/>
              </p:nvSpPr>
              <p:spPr bwMode="auto">
                <a:xfrm>
                  <a:off x="4513" y="2060"/>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41</a:t>
                  </a:r>
                </a:p>
              </p:txBody>
            </p:sp>
            <p:sp>
              <p:nvSpPr>
                <p:cNvPr id="34" name="Rectangle 31"/>
                <p:cNvSpPr>
                  <a:spLocks noChangeArrowheads="1"/>
                </p:cNvSpPr>
                <p:nvPr/>
              </p:nvSpPr>
              <p:spPr bwMode="auto">
                <a:xfrm>
                  <a:off x="4522" y="2326"/>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42</a:t>
                  </a:r>
                </a:p>
              </p:txBody>
            </p:sp>
            <p:sp>
              <p:nvSpPr>
                <p:cNvPr id="35" name="Rectangle 32"/>
                <p:cNvSpPr>
                  <a:spLocks noChangeArrowheads="1"/>
                </p:cNvSpPr>
                <p:nvPr/>
              </p:nvSpPr>
              <p:spPr bwMode="auto">
                <a:xfrm>
                  <a:off x="4531" y="2598"/>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43</a:t>
                  </a:r>
                </a:p>
              </p:txBody>
            </p:sp>
            <p:sp>
              <p:nvSpPr>
                <p:cNvPr id="36" name="Rectangle 33"/>
                <p:cNvSpPr>
                  <a:spLocks noChangeArrowheads="1"/>
                </p:cNvSpPr>
                <p:nvPr/>
              </p:nvSpPr>
              <p:spPr bwMode="auto">
                <a:xfrm>
                  <a:off x="4541" y="2870"/>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44</a:t>
                  </a:r>
                </a:p>
              </p:txBody>
            </p:sp>
            <p:sp>
              <p:nvSpPr>
                <p:cNvPr id="37" name="Rectangle 34"/>
                <p:cNvSpPr>
                  <a:spLocks noChangeArrowheads="1"/>
                </p:cNvSpPr>
                <p:nvPr/>
              </p:nvSpPr>
              <p:spPr bwMode="auto">
                <a:xfrm>
                  <a:off x="4550" y="3097"/>
                  <a:ext cx="3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45</a:t>
                  </a:r>
                </a:p>
              </p:txBody>
            </p:sp>
            <p:sp>
              <p:nvSpPr>
                <p:cNvPr id="38" name="Rectangle 35"/>
                <p:cNvSpPr>
                  <a:spLocks noChangeArrowheads="1"/>
                </p:cNvSpPr>
                <p:nvPr/>
              </p:nvSpPr>
              <p:spPr bwMode="auto">
                <a:xfrm>
                  <a:off x="4549" y="3385"/>
                  <a:ext cx="3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en-US" altLang="zh-CN" sz="2400">
                      <a:solidFill>
                        <a:schemeClr val="tx2"/>
                      </a:solidFill>
                      <a:latin typeface="Arial" panose="020B0604020202020204" pitchFamily="34" charset="0"/>
                    </a:rPr>
                    <a:t>0D</a:t>
                  </a:r>
                </a:p>
              </p:txBody>
            </p:sp>
          </p:grpSp>
          <p:sp>
            <p:nvSpPr>
              <p:cNvPr id="30" name="Line 37"/>
              <p:cNvSpPr>
                <a:spLocks noChangeShapeType="1"/>
              </p:cNvSpPr>
              <p:nvPr/>
            </p:nvSpPr>
            <p:spPr bwMode="auto">
              <a:xfrm flipH="1">
                <a:off x="4967" y="3502"/>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 name="Rectangle 39"/>
            <p:cNvSpPr>
              <a:spLocks noChangeArrowheads="1"/>
            </p:cNvSpPr>
            <p:nvPr/>
          </p:nvSpPr>
          <p:spPr bwMode="auto">
            <a:xfrm>
              <a:off x="4876" y="1480"/>
              <a:ext cx="54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400">
                  <a:solidFill>
                    <a:schemeClr val="tx2"/>
                  </a:solidFill>
                  <a:latin typeface="Arial" panose="020B0604020202020204" pitchFamily="34" charset="0"/>
                </a:rPr>
                <a:t>IBUF</a:t>
              </a:r>
            </a:p>
          </p:txBody>
        </p:sp>
        <p:sp>
          <p:nvSpPr>
            <p:cNvPr id="6" name="Rectangle 40"/>
            <p:cNvSpPr>
              <a:spLocks noChangeArrowheads="1"/>
            </p:cNvSpPr>
            <p:nvPr/>
          </p:nvSpPr>
          <p:spPr bwMode="auto">
            <a:xfrm>
              <a:off x="4876" y="1752"/>
              <a:ext cx="54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400">
                  <a:solidFill>
                    <a:schemeClr val="tx2"/>
                  </a:solidFill>
                  <a:latin typeface="Arial" panose="020B0604020202020204" pitchFamily="34" charset="0"/>
                </a:rPr>
                <a:t>+1</a:t>
              </a:r>
            </a:p>
          </p:txBody>
        </p:sp>
        <p:sp>
          <p:nvSpPr>
            <p:cNvPr id="7" name="Rectangle 41"/>
            <p:cNvSpPr>
              <a:spLocks noChangeArrowheads="1"/>
            </p:cNvSpPr>
            <p:nvPr/>
          </p:nvSpPr>
          <p:spPr bwMode="auto">
            <a:xfrm>
              <a:off x="4876" y="3321"/>
              <a:ext cx="54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400">
                  <a:solidFill>
                    <a:schemeClr val="tx2"/>
                  </a:solidFill>
                  <a:latin typeface="Arial" panose="020B0604020202020204" pitchFamily="34" charset="0"/>
                </a:rPr>
                <a:t>$(24H)</a:t>
              </a:r>
            </a:p>
          </p:txBody>
        </p:sp>
        <p:sp>
          <p:nvSpPr>
            <p:cNvPr id="8" name="Rectangle 42"/>
            <p:cNvSpPr>
              <a:spLocks noChangeArrowheads="1"/>
            </p:cNvSpPr>
            <p:nvPr/>
          </p:nvSpPr>
          <p:spPr bwMode="auto">
            <a:xfrm>
              <a:off x="4867" y="2033"/>
              <a:ext cx="54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en-US" altLang="zh-CN" sz="2400">
                  <a:solidFill>
                    <a:schemeClr val="tx2"/>
                  </a:solidFill>
                  <a:latin typeface="Arial" panose="020B0604020202020204" pitchFamily="34" charset="0"/>
                </a:rPr>
                <a:t>+2</a:t>
              </a:r>
            </a:p>
          </p:txBody>
        </p:sp>
      </p:grpSp>
      <p:sp>
        <p:nvSpPr>
          <p:cNvPr id="39" name="Text Box 44"/>
          <p:cNvSpPr txBox="1">
            <a:spLocks noChangeArrowheads="1"/>
          </p:cNvSpPr>
          <p:nvPr/>
        </p:nvSpPr>
        <p:spPr bwMode="auto">
          <a:xfrm>
            <a:off x="357188" y="5786438"/>
            <a:ext cx="62150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None/>
            </a:pPr>
            <a:r>
              <a:rPr lang="zh-CN" altLang="en-US" sz="2600" dirty="0">
                <a:solidFill>
                  <a:srgbClr val="000099"/>
                </a:solidFill>
                <a:latin typeface="楷体" panose="02010609060101010101" pitchFamily="49" charset="-122"/>
                <a:ea typeface="楷体" panose="02010609060101010101" pitchFamily="49" charset="-122"/>
              </a:rPr>
              <a:t>如输入：</a:t>
            </a:r>
            <a:r>
              <a:rPr lang="en-US" altLang="zh-CN" sz="2600" dirty="0">
                <a:solidFill>
                  <a:srgbClr val="000099"/>
                </a:solidFill>
                <a:latin typeface="楷体" panose="02010609060101010101" pitchFamily="49" charset="-122"/>
                <a:ea typeface="楷体" panose="02010609060101010101" pitchFamily="49" charset="-122"/>
              </a:rPr>
              <a:t>ABCDE↙</a:t>
            </a:r>
            <a:r>
              <a:rPr lang="zh-CN" altLang="en-US" sz="2600" dirty="0">
                <a:solidFill>
                  <a:srgbClr val="000099"/>
                </a:solidFill>
                <a:latin typeface="楷体" panose="02010609060101010101" pitchFamily="49" charset="-122"/>
                <a:ea typeface="楷体" panose="02010609060101010101" pitchFamily="49" charset="-122"/>
              </a:rPr>
              <a:t>内存分配如右图： </a:t>
            </a:r>
          </a:p>
        </p:txBody>
      </p:sp>
      <p:sp>
        <p:nvSpPr>
          <p:cNvPr id="40" name="矩形 40"/>
          <p:cNvSpPr>
            <a:spLocks noChangeArrowheads="1"/>
          </p:cNvSpPr>
          <p:nvPr/>
        </p:nvSpPr>
        <p:spPr bwMode="auto">
          <a:xfrm>
            <a:off x="406400" y="1141413"/>
            <a:ext cx="8286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r>
              <a:rPr lang="zh-CN" altLang="en-US" sz="2800" dirty="0">
                <a:solidFill>
                  <a:srgbClr val="000099"/>
                </a:solidFill>
                <a:latin typeface="楷体" panose="02010609060101010101" pitchFamily="49" charset="-122"/>
                <a:ea typeface="楷体" panose="02010609060101010101" pitchFamily="49" charset="-122"/>
              </a:rPr>
              <a:t>例</a:t>
            </a:r>
            <a:r>
              <a:rPr lang="en-US" altLang="zh-CN" sz="2800" dirty="0">
                <a:solidFill>
                  <a:srgbClr val="000099"/>
                </a:solidFill>
                <a:latin typeface="楷体" panose="02010609060101010101" pitchFamily="49" charset="-122"/>
                <a:ea typeface="楷体" panose="02010609060101010101" pitchFamily="49" charset="-122"/>
              </a:rPr>
              <a:t>2  “</a:t>
            </a:r>
            <a:r>
              <a:rPr lang="zh-CN" altLang="en-US" sz="2800" dirty="0">
                <a:solidFill>
                  <a:srgbClr val="000099"/>
                </a:solidFill>
                <a:latin typeface="楷体" panose="02010609060101010101" pitchFamily="49" charset="-122"/>
                <a:ea typeface="楷体" panose="02010609060101010101" pitchFamily="49" charset="-122"/>
              </a:rPr>
              <a:t>镜子”程序</a:t>
            </a:r>
            <a:r>
              <a:rPr lang="zh-CN" altLang="en-US" sz="2800" dirty="0">
                <a:solidFill>
                  <a:srgbClr val="000099"/>
                </a:solidFill>
                <a:latin typeface="楷体" panose="02010609060101010101" pitchFamily="49" charset="-122"/>
                <a:ea typeface="楷体" panose="02010609060101010101" pitchFamily="49" charset="-122"/>
                <a:sym typeface="Wingdings" panose="05000000000000000000" pitchFamily="2" charset="2"/>
              </a:rPr>
              <a:t>→</a:t>
            </a:r>
            <a:r>
              <a:rPr lang="zh-CN" altLang="en-US" sz="2800" dirty="0">
                <a:solidFill>
                  <a:srgbClr val="000099"/>
                </a:solidFill>
                <a:latin typeface="楷体" panose="02010609060101010101" pitchFamily="49" charset="-122"/>
                <a:ea typeface="楷体" panose="02010609060101010101" pitchFamily="49" charset="-122"/>
              </a:rPr>
              <a:t>从键盘输入一串字符，在下一行照原样显示。</a:t>
            </a:r>
          </a:p>
        </p:txBody>
      </p:sp>
    </p:spTree>
    <p:extLst>
      <p:ext uri="{BB962C8B-B14F-4D97-AF65-F5344CB8AC3E}">
        <p14:creationId xmlns:p14="http://schemas.microsoft.com/office/powerpoint/2010/main" val="3072698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357188" y="1601788"/>
            <a:ext cx="8786812"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latin typeface="楷体_GB2312" pitchFamily="49" charset="-122"/>
                <a:ea typeface="楷体_GB2312" pitchFamily="49" charset="-122"/>
              </a:rPr>
              <a:t>code   segment     </a:t>
            </a:r>
            <a:br>
              <a:rPr lang="en-US" altLang="zh-CN" sz="2800" dirty="0">
                <a:latin typeface="楷体_GB2312" pitchFamily="49" charset="-122"/>
                <a:ea typeface="楷体_GB2312" pitchFamily="49" charset="-122"/>
              </a:rPr>
            </a:br>
            <a:r>
              <a:rPr lang="en-US" altLang="zh-CN" sz="2800" dirty="0">
                <a:latin typeface="楷体_GB2312" pitchFamily="49" charset="-122"/>
                <a:ea typeface="楷体_GB2312" pitchFamily="49" charset="-122"/>
              </a:rPr>
              <a:t>begin  </a:t>
            </a:r>
            <a:r>
              <a:rPr lang="en-US" altLang="zh-CN" sz="2800" dirty="0" err="1">
                <a:latin typeface="楷体_GB2312" pitchFamily="49" charset="-122"/>
                <a:ea typeface="楷体_GB2312" pitchFamily="49" charset="-122"/>
              </a:rPr>
              <a:t>proc</a:t>
            </a:r>
            <a:r>
              <a:rPr lang="en-US" altLang="zh-CN" sz="2800" dirty="0">
                <a:latin typeface="楷体_GB2312" pitchFamily="49" charset="-122"/>
                <a:ea typeface="楷体_GB2312" pitchFamily="49" charset="-122"/>
              </a:rPr>
              <a:t>    far    </a:t>
            </a:r>
            <a:br>
              <a:rPr lang="en-US" altLang="zh-CN" sz="2800" dirty="0">
                <a:latin typeface="楷体_GB2312" pitchFamily="49" charset="-122"/>
                <a:ea typeface="楷体_GB2312" pitchFamily="49" charset="-122"/>
              </a:rPr>
            </a:br>
            <a:r>
              <a:rPr lang="en-US" altLang="zh-CN" sz="2800" dirty="0">
                <a:latin typeface="楷体_GB2312" pitchFamily="49" charset="-122"/>
                <a:ea typeface="楷体_GB2312" pitchFamily="49" charset="-122"/>
              </a:rPr>
              <a:t>       assume </a:t>
            </a:r>
            <a:r>
              <a:rPr lang="en-US" altLang="zh-CN" sz="2800" dirty="0" err="1">
                <a:latin typeface="楷体_GB2312" pitchFamily="49" charset="-122"/>
                <a:ea typeface="楷体_GB2312" pitchFamily="49" charset="-122"/>
              </a:rPr>
              <a:t>cs:code</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ss</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stack</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ds</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data</a:t>
            </a:r>
            <a:br>
              <a:rPr lang="en-US" altLang="zh-CN" sz="2800" dirty="0">
                <a:latin typeface="楷体_GB2312" pitchFamily="49" charset="-122"/>
                <a:ea typeface="楷体_GB2312" pitchFamily="49" charset="-122"/>
              </a:rPr>
            </a:br>
            <a:r>
              <a:rPr lang="en-US" altLang="zh-CN" sz="2800" dirty="0">
                <a:latin typeface="楷体_GB2312" pitchFamily="49" charset="-122"/>
                <a:ea typeface="楷体_GB2312" pitchFamily="49" charset="-122"/>
              </a:rPr>
              <a:t>       push   ds        </a:t>
            </a:r>
            <a:r>
              <a:rPr lang="zh-CN" altLang="en-US" sz="2800" dirty="0">
                <a:solidFill>
                  <a:srgbClr val="000099"/>
                </a:solidFill>
                <a:latin typeface="楷体_GB2312" pitchFamily="49" charset="-122"/>
                <a:ea typeface="楷体_GB2312" pitchFamily="49" charset="-122"/>
              </a:rPr>
              <a:t>；</a:t>
            </a:r>
            <a:r>
              <a:rPr lang="zh-CN" altLang="en-US" sz="2800" dirty="0">
                <a:solidFill>
                  <a:srgbClr val="0070C0"/>
                </a:solidFill>
                <a:latin typeface="楷体_GB2312" pitchFamily="49" charset="-122"/>
                <a:ea typeface="楷体_GB2312" pitchFamily="49" charset="-122"/>
              </a:rPr>
              <a:t> </a:t>
            </a:r>
            <a:endParaRPr lang="en-US" altLang="zh-CN" sz="2800" dirty="0">
              <a:solidFill>
                <a:srgbClr val="0070C0"/>
              </a:solidFill>
              <a:latin typeface="楷体_GB2312" pitchFamily="49" charset="-122"/>
              <a:ea typeface="楷体_GB2312" pitchFamily="49" charset="-122"/>
            </a:endParaRPr>
          </a:p>
          <a:p>
            <a:pPr eaLnBrk="1" hangingPunct="1">
              <a:spcBef>
                <a:spcPct val="0"/>
              </a:spcBef>
              <a:buFont typeface="Arial" panose="020B0604020202020204" pitchFamily="34" charset="0"/>
              <a:buNone/>
            </a:pPr>
            <a:r>
              <a:rPr lang="en-US" altLang="zh-CN" sz="2800" dirty="0">
                <a:latin typeface="楷体_GB2312" pitchFamily="49" charset="-122"/>
                <a:ea typeface="楷体_GB2312" pitchFamily="49" charset="-122"/>
              </a:rPr>
              <a:t>       sub    ax</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ax</a:t>
            </a:r>
            <a:br>
              <a:rPr lang="en-US" altLang="zh-CN" sz="2800" dirty="0">
                <a:latin typeface="楷体_GB2312" pitchFamily="49" charset="-122"/>
                <a:ea typeface="楷体_GB2312" pitchFamily="49" charset="-122"/>
              </a:rPr>
            </a:br>
            <a:r>
              <a:rPr lang="en-US" altLang="zh-CN" sz="2800" dirty="0">
                <a:latin typeface="楷体_GB2312" pitchFamily="49" charset="-122"/>
                <a:ea typeface="楷体_GB2312" pitchFamily="49" charset="-122"/>
              </a:rPr>
              <a:t>       push   ax </a:t>
            </a:r>
            <a:br>
              <a:rPr lang="en-US" altLang="zh-CN" sz="2800" dirty="0">
                <a:latin typeface="楷体_GB2312" pitchFamily="49" charset="-122"/>
                <a:ea typeface="楷体_GB2312" pitchFamily="49" charset="-122"/>
              </a:rPr>
            </a:br>
            <a:r>
              <a:rPr lang="en-US" altLang="zh-CN" sz="2800" dirty="0">
                <a:latin typeface="楷体_GB2312" pitchFamily="49" charset="-122"/>
                <a:ea typeface="楷体_GB2312" pitchFamily="49" charset="-122"/>
              </a:rPr>
              <a:t>       </a:t>
            </a:r>
            <a:r>
              <a:rPr lang="en-US" altLang="zh-CN" sz="2800" dirty="0" err="1">
                <a:latin typeface="楷体_GB2312" pitchFamily="49" charset="-122"/>
                <a:ea typeface="楷体_GB2312" pitchFamily="49" charset="-122"/>
              </a:rPr>
              <a:t>mov</a:t>
            </a:r>
            <a:r>
              <a:rPr lang="en-US" altLang="zh-CN" sz="2800" dirty="0">
                <a:latin typeface="楷体_GB2312" pitchFamily="49" charset="-122"/>
                <a:ea typeface="楷体_GB2312" pitchFamily="49" charset="-122"/>
              </a:rPr>
              <a:t>    ax</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data  </a:t>
            </a:r>
            <a:r>
              <a:rPr lang="zh-CN" altLang="en-US" sz="2800" dirty="0">
                <a:solidFill>
                  <a:srgbClr val="000099"/>
                </a:solidFill>
                <a:latin typeface="楷体_GB2312" pitchFamily="49" charset="-122"/>
                <a:ea typeface="楷体_GB2312" pitchFamily="49" charset="-122"/>
              </a:rPr>
              <a:t>；</a:t>
            </a:r>
            <a:r>
              <a:rPr lang="zh-CN" altLang="en-US" sz="2800" dirty="0">
                <a:latin typeface="楷体_GB2312" pitchFamily="49" charset="-122"/>
                <a:ea typeface="楷体_GB2312" pitchFamily="49" charset="-122"/>
              </a:rPr>
              <a:t> </a:t>
            </a:r>
            <a:r>
              <a:rPr lang="zh-CN" altLang="en-US" sz="2800" dirty="0">
                <a:solidFill>
                  <a:srgbClr val="FF0066"/>
                </a:solidFill>
                <a:latin typeface="楷体_GB2312" pitchFamily="49" charset="-122"/>
                <a:ea typeface="楷体_GB2312" pitchFamily="49" charset="-122"/>
              </a:rPr>
              <a:t>设置用户数据段</a:t>
            </a:r>
            <a:br>
              <a:rPr lang="zh-CN" altLang="en-US" sz="2800" dirty="0">
                <a:solidFill>
                  <a:schemeClr val="tx2"/>
                </a:solidFill>
                <a:latin typeface="楷体_GB2312" pitchFamily="49" charset="-122"/>
                <a:ea typeface="楷体_GB2312" pitchFamily="49" charset="-122"/>
              </a:rPr>
            </a:br>
            <a:r>
              <a:rPr lang="zh-CN" altLang="en-US" sz="2800" dirty="0">
                <a:latin typeface="楷体_GB2312" pitchFamily="49" charset="-122"/>
                <a:ea typeface="楷体_GB2312" pitchFamily="49" charset="-122"/>
              </a:rPr>
              <a:t>       </a:t>
            </a:r>
            <a:r>
              <a:rPr lang="en-US" altLang="zh-CN" sz="2800" dirty="0" err="1">
                <a:latin typeface="楷体_GB2312" pitchFamily="49" charset="-122"/>
                <a:ea typeface="楷体_GB2312" pitchFamily="49" charset="-122"/>
              </a:rPr>
              <a:t>mov</a:t>
            </a:r>
            <a:r>
              <a:rPr lang="en-US" altLang="zh-CN" sz="2800" dirty="0">
                <a:latin typeface="楷体_GB2312" pitchFamily="49" charset="-122"/>
                <a:ea typeface="楷体_GB2312" pitchFamily="49" charset="-122"/>
              </a:rPr>
              <a:t>    ds</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ax</a:t>
            </a:r>
          </a:p>
        </p:txBody>
      </p:sp>
    </p:spTree>
    <p:extLst>
      <p:ext uri="{BB962C8B-B14F-4D97-AF65-F5344CB8AC3E}">
        <p14:creationId xmlns:p14="http://schemas.microsoft.com/office/powerpoint/2010/main" val="31236385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57163" y="2790825"/>
            <a:ext cx="7786687" cy="4297363"/>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DX</a:t>
            </a:r>
            <a:r>
              <a:rPr lang="zh-CN" altLang="en-US" dirty="0">
                <a:solidFill>
                  <a:srgbClr val="000099"/>
                </a:solidFill>
                <a:latin typeface="楷体_GB2312" pitchFamily="49" charset="-122"/>
                <a:ea typeface="楷体_GB2312" pitchFamily="49" charset="-122"/>
              </a:rPr>
              <a:t>，</a:t>
            </a:r>
            <a:r>
              <a:rPr lang="en-US" altLang="zh-CN" dirty="0">
                <a:solidFill>
                  <a:srgbClr val="000099"/>
                </a:solidFill>
                <a:latin typeface="楷体_GB2312" pitchFamily="49" charset="-122"/>
                <a:ea typeface="楷体_GB2312" pitchFamily="49" charset="-122"/>
              </a:rPr>
              <a:t>OFFSET  IBUF</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AH</a:t>
            </a:r>
            <a:r>
              <a:rPr lang="zh-CN" altLang="en-US" dirty="0">
                <a:solidFill>
                  <a:srgbClr val="000099"/>
                </a:solidFill>
                <a:latin typeface="楷体_GB2312" pitchFamily="49" charset="-122"/>
                <a:ea typeface="楷体_GB2312" pitchFamily="49" charset="-122"/>
              </a:rPr>
              <a:t>，</a:t>
            </a:r>
            <a:r>
              <a:rPr lang="en-US" altLang="zh-CN" dirty="0">
                <a:solidFill>
                  <a:srgbClr val="000099"/>
                </a:solidFill>
                <a:latin typeface="楷体_GB2312" pitchFamily="49" charset="-122"/>
                <a:ea typeface="楷体_GB2312" pitchFamily="49" charset="-122"/>
              </a:rPr>
              <a:t>10</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INT  21H</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BL</a:t>
            </a:r>
            <a:r>
              <a:rPr lang="zh-CN" altLang="en-US" dirty="0">
                <a:solidFill>
                  <a:srgbClr val="000099"/>
                </a:solidFill>
                <a:latin typeface="楷体_GB2312" pitchFamily="49" charset="-122"/>
                <a:ea typeface="楷体_GB2312" pitchFamily="49" charset="-122"/>
              </a:rPr>
              <a:t>，</a:t>
            </a:r>
            <a:r>
              <a:rPr lang="en-US" altLang="zh-CN" dirty="0">
                <a:solidFill>
                  <a:srgbClr val="000099"/>
                </a:solidFill>
                <a:latin typeface="楷体_GB2312" pitchFamily="49" charset="-122"/>
                <a:ea typeface="楷体_GB2312" pitchFamily="49" charset="-122"/>
              </a:rPr>
              <a:t>IBUF+1       </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BH</a:t>
            </a:r>
            <a:r>
              <a:rPr lang="zh-CN" altLang="en-US" dirty="0">
                <a:solidFill>
                  <a:srgbClr val="000099"/>
                </a:solidFill>
                <a:latin typeface="楷体_GB2312" pitchFamily="49" charset="-122"/>
                <a:ea typeface="楷体_GB2312" pitchFamily="49" charset="-122"/>
              </a:rPr>
              <a:t>，</a:t>
            </a:r>
            <a:r>
              <a:rPr lang="en-US" altLang="zh-CN" dirty="0">
                <a:solidFill>
                  <a:srgbClr val="000099"/>
                </a:solidFill>
                <a:latin typeface="楷体_GB2312" pitchFamily="49" charset="-122"/>
                <a:ea typeface="楷体_GB2312" pitchFamily="49" charset="-122"/>
              </a:rPr>
              <a:t>0</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IBUF[BX+2]</a:t>
            </a:r>
            <a:r>
              <a:rPr lang="zh-CN" altLang="en-US" dirty="0">
                <a:solidFill>
                  <a:srgbClr val="000099"/>
                </a:solidFill>
                <a:latin typeface="楷体_GB2312" pitchFamily="49" charset="-122"/>
                <a:ea typeface="楷体_GB2312" pitchFamily="49" charset="-122"/>
              </a:rPr>
              <a:t>，</a:t>
            </a:r>
            <a:r>
              <a:rPr lang="zh-CN" altLang="en-US" dirty="0">
                <a:solidFill>
                  <a:srgbClr val="000099"/>
                </a:solidFill>
                <a:ea typeface="楷体_GB2312" pitchFamily="49" charset="-122"/>
              </a:rPr>
              <a:t>’</a:t>
            </a:r>
            <a:r>
              <a:rPr lang="zh-CN" altLang="en-US" dirty="0">
                <a:solidFill>
                  <a:srgbClr val="000099"/>
                </a:solidFill>
                <a:latin typeface="楷体_GB2312" pitchFamily="49" charset="-122"/>
                <a:ea typeface="楷体_GB2312" pitchFamily="49" charset="-122"/>
              </a:rPr>
              <a:t>＄</a:t>
            </a:r>
            <a:r>
              <a:rPr lang="zh-CN" altLang="en-US" dirty="0">
                <a:solidFill>
                  <a:srgbClr val="000099"/>
                </a:solidFill>
                <a:ea typeface="楷体_GB2312" pitchFamily="49" charset="-122"/>
              </a:rPr>
              <a:t>’  </a:t>
            </a:r>
            <a:r>
              <a:rPr lang="zh-CN" altLang="en-US" dirty="0">
                <a:solidFill>
                  <a:srgbClr val="000099"/>
                </a:solidFill>
                <a:latin typeface="楷体_GB2312" pitchFamily="49" charset="-122"/>
                <a:ea typeface="楷体_GB2312" pitchFamily="49" charset="-122"/>
              </a:rPr>
              <a:t>；串尾存</a:t>
            </a:r>
            <a:r>
              <a:rPr lang="zh-CN" altLang="en-US" dirty="0">
                <a:solidFill>
                  <a:srgbClr val="000099"/>
                </a:solidFill>
                <a:ea typeface="楷体_GB2312" pitchFamily="49" charset="-122"/>
              </a:rPr>
              <a:t>‘</a:t>
            </a:r>
            <a:r>
              <a:rPr lang="zh-CN" altLang="en-US" dirty="0">
                <a:solidFill>
                  <a:srgbClr val="000099"/>
                </a:solidFill>
                <a:latin typeface="楷体_GB2312" pitchFamily="49" charset="-122"/>
                <a:ea typeface="楷体_GB2312" pitchFamily="49" charset="-122"/>
              </a:rPr>
              <a:t>＄</a:t>
            </a:r>
            <a:r>
              <a:rPr lang="zh-CN" altLang="en-US" dirty="0">
                <a:solidFill>
                  <a:srgbClr val="000099"/>
                </a:solidFill>
                <a:ea typeface="楷体_GB2312" pitchFamily="49" charset="-122"/>
              </a:rPr>
              <a:t>’</a:t>
            </a:r>
            <a:endParaRPr lang="zh-CN" altLang="en-US" dirty="0">
              <a:solidFill>
                <a:srgbClr val="000099"/>
              </a:solidFill>
              <a:latin typeface="楷体_GB2312" pitchFamily="49" charset="-122"/>
              <a:ea typeface="楷体_GB2312" pitchFamily="49" charset="-122"/>
            </a:endParaRP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DL, 0AH                 </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MOV  AH, 2</a:t>
            </a:r>
          </a:p>
          <a:p>
            <a:pPr>
              <a:buFont typeface="Arial" panose="020B0604020202020204" pitchFamily="34" charset="0"/>
              <a:buNone/>
            </a:pPr>
            <a:r>
              <a:rPr lang="en-US" altLang="zh-CN" dirty="0">
                <a:solidFill>
                  <a:srgbClr val="000099"/>
                </a:solidFill>
                <a:latin typeface="楷体_GB2312" pitchFamily="49" charset="-122"/>
                <a:ea typeface="楷体_GB2312" pitchFamily="49" charset="-122"/>
              </a:rPr>
              <a:t>INT  21H</a:t>
            </a:r>
          </a:p>
        </p:txBody>
      </p:sp>
      <p:grpSp>
        <p:nvGrpSpPr>
          <p:cNvPr id="3" name="Group 15"/>
          <p:cNvGrpSpPr>
            <a:grpSpLocks/>
          </p:cNvGrpSpPr>
          <p:nvPr/>
        </p:nvGrpSpPr>
        <p:grpSpPr bwMode="auto">
          <a:xfrm>
            <a:off x="5076825" y="5300663"/>
            <a:ext cx="2071688" cy="1428750"/>
            <a:chOff x="2109" y="2841"/>
            <a:chExt cx="1305" cy="900"/>
          </a:xfrm>
        </p:grpSpPr>
        <p:sp>
          <p:nvSpPr>
            <p:cNvPr id="4" name="AutoShape 7"/>
            <p:cNvSpPr>
              <a:spLocks/>
            </p:cNvSpPr>
            <p:nvPr/>
          </p:nvSpPr>
          <p:spPr bwMode="auto">
            <a:xfrm>
              <a:off x="2109" y="2886"/>
              <a:ext cx="48" cy="672"/>
            </a:xfrm>
            <a:prstGeom prst="rightBrace">
              <a:avLst>
                <a:gd name="adj1" fmla="val 11660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sp>
          <p:nvSpPr>
            <p:cNvPr id="5" name="Rectangle 10"/>
            <p:cNvSpPr>
              <a:spLocks noChangeArrowheads="1"/>
            </p:cNvSpPr>
            <p:nvPr/>
          </p:nvSpPr>
          <p:spPr bwMode="auto">
            <a:xfrm>
              <a:off x="2245" y="2841"/>
              <a:ext cx="1169"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buFont typeface="Arial" panose="020B0604020202020204" pitchFamily="34" charset="0"/>
                <a:buNone/>
              </a:pPr>
              <a:r>
                <a:rPr lang="zh-CN" altLang="en-US" sz="2600">
                  <a:solidFill>
                    <a:srgbClr val="FF0066"/>
                  </a:solidFill>
                  <a:latin typeface="楷体_GB2312" pitchFamily="49" charset="-122"/>
                  <a:ea typeface="楷体_GB2312" pitchFamily="49" charset="-122"/>
                </a:rPr>
                <a:t>因为输入已有↙所有只需换行</a:t>
              </a:r>
            </a:p>
          </p:txBody>
        </p:sp>
      </p:grpSp>
      <p:grpSp>
        <p:nvGrpSpPr>
          <p:cNvPr id="6" name="Group 14"/>
          <p:cNvGrpSpPr>
            <a:grpSpLocks/>
          </p:cNvGrpSpPr>
          <p:nvPr/>
        </p:nvGrpSpPr>
        <p:grpSpPr bwMode="auto">
          <a:xfrm>
            <a:off x="5060950" y="1455738"/>
            <a:ext cx="3857625" cy="3395662"/>
            <a:chOff x="2779" y="210"/>
            <a:chExt cx="2414" cy="2139"/>
          </a:xfrm>
        </p:grpSpPr>
        <p:sp>
          <p:nvSpPr>
            <p:cNvPr id="7" name="AutoShape 6"/>
            <p:cNvSpPr>
              <a:spLocks/>
            </p:cNvSpPr>
            <p:nvPr/>
          </p:nvSpPr>
          <p:spPr bwMode="auto">
            <a:xfrm>
              <a:off x="2779" y="1965"/>
              <a:ext cx="48" cy="384"/>
            </a:xfrm>
            <a:prstGeom prst="rightBrace">
              <a:avLst>
                <a:gd name="adj1" fmla="val 6663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sp>
          <p:nvSpPr>
            <p:cNvPr id="8" name="Rectangle 8"/>
            <p:cNvSpPr>
              <a:spLocks noChangeArrowheads="1"/>
            </p:cNvSpPr>
            <p:nvPr/>
          </p:nvSpPr>
          <p:spPr bwMode="auto">
            <a:xfrm>
              <a:off x="3048" y="2010"/>
              <a:ext cx="81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长度→</a:t>
              </a:r>
              <a:r>
                <a:rPr lang="en-US" altLang="zh-CN" sz="2600">
                  <a:solidFill>
                    <a:srgbClr val="FF0066"/>
                  </a:solidFill>
                  <a:latin typeface="楷体_GB2312" pitchFamily="49" charset="-122"/>
                  <a:ea typeface="楷体_GB2312" pitchFamily="49" charset="-122"/>
                </a:rPr>
                <a:t>BX</a:t>
              </a:r>
            </a:p>
          </p:txBody>
        </p:sp>
        <p:grpSp>
          <p:nvGrpSpPr>
            <p:cNvPr id="9" name="Group 13"/>
            <p:cNvGrpSpPr>
              <a:grpSpLocks/>
            </p:cNvGrpSpPr>
            <p:nvPr/>
          </p:nvGrpSpPr>
          <p:grpSpPr bwMode="auto">
            <a:xfrm>
              <a:off x="2789" y="210"/>
              <a:ext cx="2404" cy="1588"/>
              <a:chOff x="2789" y="210"/>
              <a:chExt cx="2404" cy="1588"/>
            </a:xfrm>
          </p:grpSpPr>
          <p:sp>
            <p:nvSpPr>
              <p:cNvPr id="10" name="AutoShape 5"/>
              <p:cNvSpPr>
                <a:spLocks/>
              </p:cNvSpPr>
              <p:nvPr/>
            </p:nvSpPr>
            <p:spPr bwMode="auto">
              <a:xfrm>
                <a:off x="2789" y="1026"/>
                <a:ext cx="48" cy="672"/>
              </a:xfrm>
              <a:prstGeom prst="rightBrace">
                <a:avLst>
                  <a:gd name="adj1" fmla="val 11660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sp>
            <p:nvSpPr>
              <p:cNvPr id="11" name="Rectangle 9"/>
              <p:cNvSpPr>
                <a:spLocks noChangeArrowheads="1"/>
              </p:cNvSpPr>
              <p:nvPr/>
            </p:nvSpPr>
            <p:spPr bwMode="auto">
              <a:xfrm>
                <a:off x="2880" y="890"/>
                <a:ext cx="1633"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键入字符串</a:t>
                </a:r>
              </a:p>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串长在→</a:t>
                </a:r>
                <a:r>
                  <a:rPr lang="en-US" altLang="zh-CN" sz="2600">
                    <a:solidFill>
                      <a:srgbClr val="FF0066"/>
                    </a:solidFill>
                    <a:latin typeface="楷体_GB2312" pitchFamily="49" charset="-122"/>
                    <a:ea typeface="楷体_GB2312" pitchFamily="49" charset="-122"/>
                  </a:rPr>
                  <a:t>IBUF+1</a:t>
                </a:r>
              </a:p>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串首址→</a:t>
                </a:r>
                <a:r>
                  <a:rPr lang="en-US" altLang="zh-CN" sz="2600">
                    <a:solidFill>
                      <a:srgbClr val="FF0066"/>
                    </a:solidFill>
                    <a:latin typeface="楷体_GB2312" pitchFamily="49" charset="-122"/>
                    <a:ea typeface="楷体_GB2312" pitchFamily="49" charset="-122"/>
                  </a:rPr>
                  <a:t>IBUF+2</a:t>
                </a:r>
              </a:p>
            </p:txBody>
          </p:sp>
          <p:grpSp>
            <p:nvGrpSpPr>
              <p:cNvPr id="12" name="Group 12"/>
              <p:cNvGrpSpPr>
                <a:grpSpLocks/>
              </p:cNvGrpSpPr>
              <p:nvPr/>
            </p:nvGrpSpPr>
            <p:grpSpPr bwMode="auto">
              <a:xfrm>
                <a:off x="2789" y="210"/>
                <a:ext cx="2404" cy="680"/>
                <a:chOff x="2789" y="210"/>
                <a:chExt cx="2404" cy="680"/>
              </a:xfrm>
            </p:grpSpPr>
            <p:sp>
              <p:nvSpPr>
                <p:cNvPr id="13" name="AutoShape 4"/>
                <p:cNvSpPr>
                  <a:spLocks/>
                </p:cNvSpPr>
                <p:nvPr/>
              </p:nvSpPr>
              <p:spPr bwMode="auto">
                <a:xfrm>
                  <a:off x="2789" y="210"/>
                  <a:ext cx="48" cy="576"/>
                </a:xfrm>
                <a:prstGeom prst="rightBrace">
                  <a:avLst>
                    <a:gd name="adj1" fmla="val 10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sp>
              <p:nvSpPr>
                <p:cNvPr id="14" name="Rectangle 11"/>
                <p:cNvSpPr>
                  <a:spLocks noChangeArrowheads="1"/>
                </p:cNvSpPr>
                <p:nvPr/>
              </p:nvSpPr>
              <p:spPr bwMode="auto">
                <a:xfrm>
                  <a:off x="3107" y="210"/>
                  <a:ext cx="2086"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显示输入提示‘</a:t>
                  </a:r>
                  <a:r>
                    <a:rPr lang="en-US" altLang="zh-CN" sz="2600">
                      <a:solidFill>
                        <a:srgbClr val="FF0066"/>
                      </a:solidFill>
                      <a:latin typeface="楷体_GB2312" pitchFamily="49" charset="-122"/>
                      <a:ea typeface="楷体_GB2312" pitchFamily="49" charset="-122"/>
                    </a:rPr>
                    <a:t>〉’</a:t>
                  </a:r>
                  <a:r>
                    <a:rPr lang="zh-CN" altLang="en-US" sz="2600">
                      <a:solidFill>
                        <a:srgbClr val="FF0066"/>
                      </a:solidFill>
                      <a:latin typeface="楷体_GB2312" pitchFamily="49" charset="-122"/>
                      <a:ea typeface="楷体_GB2312" pitchFamily="49" charset="-122"/>
                    </a:rPr>
                    <a:t>并↙，</a:t>
                  </a:r>
                  <a:endParaRPr lang="en-US" altLang="zh-CN" sz="2600">
                    <a:solidFill>
                      <a:srgbClr val="FF0066"/>
                    </a:solidFill>
                    <a:latin typeface="楷体_GB2312" pitchFamily="49" charset="-122"/>
                    <a:ea typeface="楷体_GB2312" pitchFamily="49" charset="-122"/>
                  </a:endParaRPr>
                </a:p>
                <a:p>
                  <a:pPr algn="ctr" eaLnBrk="1" hangingPunct="1">
                    <a:spcBef>
                      <a:spcPct val="0"/>
                    </a:spcBef>
                    <a:buFont typeface="Arial" panose="020B0604020202020204" pitchFamily="34" charset="0"/>
                    <a:buNone/>
                  </a:pPr>
                  <a:r>
                    <a:rPr lang="zh-CN" altLang="en-US" sz="2600">
                      <a:solidFill>
                        <a:srgbClr val="FF0066"/>
                      </a:solidFill>
                      <a:latin typeface="楷体_GB2312" pitchFamily="49" charset="-122"/>
                      <a:ea typeface="楷体_GB2312" pitchFamily="49" charset="-122"/>
                    </a:rPr>
                    <a:t>换行</a:t>
                  </a:r>
                </a:p>
              </p:txBody>
            </p:sp>
          </p:grpSp>
        </p:grpSp>
      </p:grpSp>
      <p:sp>
        <p:nvSpPr>
          <p:cNvPr id="15" name="矩形 15"/>
          <p:cNvSpPr>
            <a:spLocks noChangeArrowheads="1"/>
          </p:cNvSpPr>
          <p:nvPr/>
        </p:nvSpPr>
        <p:spPr bwMode="auto">
          <a:xfrm>
            <a:off x="179388" y="1052513"/>
            <a:ext cx="45720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MOV  DX</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OFFSET  OBUF</a:t>
            </a:r>
            <a:br>
              <a:rPr lang="en-US" altLang="zh-CN" sz="2800" dirty="0">
                <a:solidFill>
                  <a:srgbClr val="000099"/>
                </a:solidFill>
                <a:latin typeface="楷体_GB2312" pitchFamily="49" charset="-122"/>
                <a:ea typeface="楷体_GB2312" pitchFamily="49" charset="-122"/>
              </a:rPr>
            </a:br>
            <a:r>
              <a:rPr lang="en-US" altLang="zh-CN" sz="2800" dirty="0">
                <a:solidFill>
                  <a:srgbClr val="000099"/>
                </a:solidFill>
                <a:latin typeface="楷体_GB2312" pitchFamily="49" charset="-122"/>
                <a:ea typeface="楷体_GB2312" pitchFamily="49" charset="-122"/>
              </a:rPr>
              <a:t>MOV  AH</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9               </a:t>
            </a:r>
            <a:br>
              <a:rPr lang="en-US" altLang="zh-CN" sz="2800" dirty="0">
                <a:solidFill>
                  <a:srgbClr val="000099"/>
                </a:solidFill>
                <a:latin typeface="楷体_GB2312" pitchFamily="49" charset="-122"/>
                <a:ea typeface="楷体_GB2312" pitchFamily="49" charset="-122"/>
              </a:rPr>
            </a:br>
            <a:r>
              <a:rPr lang="en-US" altLang="zh-CN" sz="2800" dirty="0">
                <a:solidFill>
                  <a:srgbClr val="000099"/>
                </a:solidFill>
                <a:latin typeface="楷体_GB2312" pitchFamily="49" charset="-122"/>
                <a:ea typeface="楷体_GB2312" pitchFamily="49" charset="-122"/>
              </a:rPr>
              <a:t>INT  21H</a:t>
            </a:r>
            <a:endParaRPr lang="zh-CN" altLang="en-US" sz="2800" dirty="0">
              <a:solidFill>
                <a:srgbClr val="000099"/>
              </a:solidFill>
              <a:latin typeface="Arial" panose="020B0604020202020204" pitchFamily="34" charset="0"/>
            </a:endParaRPr>
          </a:p>
        </p:txBody>
      </p:sp>
    </p:spTree>
    <p:extLst>
      <p:ext uri="{BB962C8B-B14F-4D97-AF65-F5344CB8AC3E}">
        <p14:creationId xmlns:p14="http://schemas.microsoft.com/office/powerpoint/2010/main" val="11134997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1438" y="1714500"/>
            <a:ext cx="8929687" cy="3857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a:solidFill>
                  <a:srgbClr val="0070C0"/>
                </a:solidFill>
                <a:latin typeface="楷体_GB2312" pitchFamily="49" charset="-122"/>
                <a:ea typeface="楷体_GB2312" pitchFamily="49" charset="-122"/>
              </a:rPr>
              <a:t>        </a:t>
            </a:r>
            <a:r>
              <a:rPr lang="en-US" altLang="zh-CN">
                <a:solidFill>
                  <a:srgbClr val="000099"/>
                </a:solidFill>
                <a:latin typeface="楷体_GB2312" pitchFamily="49" charset="-122"/>
                <a:ea typeface="楷体_GB2312" pitchFamily="49" charset="-122"/>
              </a:rPr>
              <a:t>MOV DX,OFFSET IBUF+2 </a:t>
            </a:r>
          </a:p>
          <a:p>
            <a:pPr marL="0" indent="0">
              <a:buNone/>
            </a:pPr>
            <a:r>
              <a:rPr lang="en-US" altLang="zh-CN">
                <a:solidFill>
                  <a:srgbClr val="000099"/>
                </a:solidFill>
                <a:latin typeface="楷体_GB2312" pitchFamily="49" charset="-122"/>
                <a:ea typeface="楷体_GB2312" pitchFamily="49" charset="-122"/>
              </a:rPr>
              <a:t>        MOV AH,9</a:t>
            </a:r>
          </a:p>
          <a:p>
            <a:pPr marL="0" indent="0">
              <a:buNone/>
            </a:pPr>
            <a:r>
              <a:rPr lang="en-US" altLang="zh-CN">
                <a:solidFill>
                  <a:srgbClr val="000099"/>
                </a:solidFill>
                <a:latin typeface="楷体_GB2312" pitchFamily="49" charset="-122"/>
                <a:ea typeface="楷体_GB2312" pitchFamily="49" charset="-122"/>
              </a:rPr>
              <a:t>        INT 21H</a:t>
            </a:r>
          </a:p>
          <a:p>
            <a:pPr marL="0" indent="0">
              <a:buNone/>
            </a:pPr>
            <a:r>
              <a:rPr lang="en-US" altLang="zh-CN">
                <a:solidFill>
                  <a:srgbClr val="0070C0"/>
                </a:solidFill>
                <a:latin typeface="楷体_GB2312" pitchFamily="49" charset="-122"/>
                <a:ea typeface="楷体_GB2312" pitchFamily="49" charset="-122"/>
              </a:rPr>
              <a:t>        </a:t>
            </a:r>
            <a:r>
              <a:rPr lang="en-US" altLang="zh-CN">
                <a:latin typeface="楷体_GB2312" pitchFamily="49" charset="-122"/>
                <a:ea typeface="楷体_GB2312" pitchFamily="49" charset="-122"/>
              </a:rPr>
              <a:t>ret        </a:t>
            </a:r>
            <a:r>
              <a:rPr lang="en-US" altLang="zh-CN">
                <a:solidFill>
                  <a:srgbClr val="0070C0"/>
                </a:solidFill>
                <a:latin typeface="楷体_GB2312" pitchFamily="49" charset="-122"/>
                <a:ea typeface="楷体_GB2312" pitchFamily="49" charset="-122"/>
              </a:rPr>
              <a:t>   </a:t>
            </a:r>
            <a:r>
              <a:rPr lang="zh-CN" altLang="en-US">
                <a:solidFill>
                  <a:srgbClr val="0070C0"/>
                </a:solidFill>
                <a:latin typeface="楷体_GB2312" pitchFamily="49" charset="-122"/>
                <a:ea typeface="楷体_GB2312" pitchFamily="49" charset="-122"/>
              </a:rPr>
              <a:t>；</a:t>
            </a:r>
            <a:r>
              <a:rPr lang="en-US" altLang="zh-CN">
                <a:solidFill>
                  <a:srgbClr val="FF0066"/>
                </a:solidFill>
                <a:latin typeface="楷体_GB2312" pitchFamily="49" charset="-122"/>
                <a:ea typeface="楷体_GB2312" pitchFamily="49" charset="-122"/>
              </a:rPr>
              <a:t>PSP</a:t>
            </a:r>
            <a:r>
              <a:rPr lang="zh-CN" altLang="en-US">
                <a:solidFill>
                  <a:srgbClr val="FF0066"/>
                </a:solidFill>
                <a:latin typeface="楷体_GB2312" pitchFamily="49" charset="-122"/>
                <a:ea typeface="楷体_GB2312" pitchFamily="49" charset="-122"/>
              </a:rPr>
              <a:t>首址出栈→</a:t>
            </a:r>
            <a:r>
              <a:rPr lang="en-US" altLang="zh-CN">
                <a:solidFill>
                  <a:srgbClr val="FF0066"/>
                </a:solidFill>
                <a:latin typeface="楷体_GB2312" pitchFamily="49" charset="-122"/>
                <a:ea typeface="楷体_GB2312" pitchFamily="49" charset="-122"/>
              </a:rPr>
              <a:t>CS</a:t>
            </a:r>
            <a:r>
              <a:rPr lang="zh-CN" altLang="en-US">
                <a:solidFill>
                  <a:srgbClr val="FF0066"/>
                </a:solidFill>
                <a:latin typeface="楷体_GB2312" pitchFamily="49" charset="-122"/>
                <a:ea typeface="楷体_GB2312" pitchFamily="49" charset="-122"/>
              </a:rPr>
              <a:t>：</a:t>
            </a:r>
            <a:r>
              <a:rPr lang="en-US" altLang="zh-CN">
                <a:solidFill>
                  <a:srgbClr val="FF0066"/>
                </a:solidFill>
                <a:latin typeface="楷体_GB2312" pitchFamily="49" charset="-122"/>
                <a:ea typeface="楷体_GB2312" pitchFamily="49" charset="-122"/>
              </a:rPr>
              <a:t>IP</a:t>
            </a:r>
          </a:p>
          <a:p>
            <a:pPr marL="0" indent="0">
              <a:buNone/>
            </a:pPr>
            <a:r>
              <a:rPr lang="en-US" altLang="zh-CN">
                <a:solidFill>
                  <a:schemeClr val="tx2"/>
                </a:solidFill>
                <a:latin typeface="楷体_GB2312" pitchFamily="49" charset="-122"/>
                <a:ea typeface="楷体_GB2312" pitchFamily="49" charset="-122"/>
              </a:rPr>
              <a:t> </a:t>
            </a:r>
            <a:r>
              <a:rPr lang="en-US" altLang="zh-CN">
                <a:latin typeface="楷体_GB2312" pitchFamily="49" charset="-122"/>
                <a:ea typeface="楷体_GB2312" pitchFamily="49" charset="-122"/>
              </a:rPr>
              <a:t>begin  endp                                 </a:t>
            </a:r>
          </a:p>
          <a:p>
            <a:pPr marL="0" indent="0">
              <a:buNone/>
            </a:pPr>
            <a:r>
              <a:rPr lang="en-US" altLang="zh-CN">
                <a:latin typeface="楷体_GB2312" pitchFamily="49" charset="-122"/>
                <a:ea typeface="楷体_GB2312" pitchFamily="49" charset="-122"/>
              </a:rPr>
              <a:t> code   ends</a:t>
            </a:r>
            <a:endParaRPr lang="zh-CN" altLang="en-US">
              <a:solidFill>
                <a:srgbClr val="FF0066"/>
              </a:solidFill>
              <a:latin typeface="楷体_GB2312" pitchFamily="49" charset="-122"/>
              <a:ea typeface="楷体_GB2312" pitchFamily="49" charset="-122"/>
            </a:endParaRPr>
          </a:p>
          <a:p>
            <a:pPr marL="0" indent="0">
              <a:buNone/>
            </a:pPr>
            <a:r>
              <a:rPr lang="zh-CN" altLang="en-US">
                <a:solidFill>
                  <a:schemeClr val="tx2"/>
                </a:solidFill>
                <a:latin typeface="楷体_GB2312" pitchFamily="49" charset="-122"/>
                <a:ea typeface="楷体_GB2312" pitchFamily="49" charset="-122"/>
              </a:rPr>
              <a:t>        </a:t>
            </a:r>
            <a:r>
              <a:rPr lang="en-US" altLang="zh-CN">
                <a:latin typeface="楷体_GB2312" pitchFamily="49" charset="-122"/>
                <a:ea typeface="楷体_GB2312" pitchFamily="49" charset="-122"/>
              </a:rPr>
              <a:t>end begin</a:t>
            </a:r>
          </a:p>
        </p:txBody>
      </p:sp>
      <p:sp>
        <p:nvSpPr>
          <p:cNvPr id="3" name="AutoShape 4"/>
          <p:cNvSpPr>
            <a:spLocks/>
          </p:cNvSpPr>
          <p:nvPr/>
        </p:nvSpPr>
        <p:spPr bwMode="auto">
          <a:xfrm>
            <a:off x="5857875" y="1928813"/>
            <a:ext cx="76200" cy="1219200"/>
          </a:xfrm>
          <a:prstGeom prst="rightBrace">
            <a:avLst>
              <a:gd name="adj1" fmla="val 1332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None/>
            </a:pPr>
            <a:endParaRPr lang="zh-CN" altLang="en-US" sz="2800">
              <a:latin typeface="Arial" panose="020B0604020202020204" pitchFamily="34" charset="0"/>
            </a:endParaRPr>
          </a:p>
        </p:txBody>
      </p:sp>
      <p:sp>
        <p:nvSpPr>
          <p:cNvPr id="4" name="Rectangle 6"/>
          <p:cNvSpPr>
            <a:spLocks noChangeArrowheads="1"/>
          </p:cNvSpPr>
          <p:nvPr/>
        </p:nvSpPr>
        <p:spPr bwMode="auto">
          <a:xfrm>
            <a:off x="6215063" y="2143125"/>
            <a:ext cx="2286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None/>
            </a:pPr>
            <a:r>
              <a:rPr lang="zh-CN" altLang="en-US" sz="2800">
                <a:solidFill>
                  <a:srgbClr val="FF0066"/>
                </a:solidFill>
                <a:latin typeface="楷体_GB2312" pitchFamily="49" charset="-122"/>
                <a:ea typeface="楷体_GB2312" pitchFamily="49" charset="-122"/>
              </a:rPr>
              <a:t>显示键入的串</a:t>
            </a:r>
          </a:p>
        </p:txBody>
      </p:sp>
    </p:spTree>
    <p:extLst>
      <p:ext uri="{BB962C8B-B14F-4D97-AF65-F5344CB8AC3E}">
        <p14:creationId xmlns:p14="http://schemas.microsoft.com/office/powerpoint/2010/main" val="85405376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45724" y="2270433"/>
            <a:ext cx="4500563" cy="3889375"/>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IBUF DB 5,0,5 DUP(0)</a:t>
            </a:r>
          </a:p>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SW   DW 0</a:t>
            </a:r>
          </a:p>
          <a:p>
            <a:pPr>
              <a:lnSpc>
                <a:spcPct val="85000"/>
              </a:lnSpc>
              <a:buFont typeface="Arial" panose="020B0604020202020204" pitchFamily="34" charset="0"/>
              <a:buNone/>
            </a:pPr>
            <a:endParaRPr lang="en-US" altLang="zh-CN" dirty="0">
              <a:solidFill>
                <a:srgbClr val="000099"/>
              </a:solidFill>
              <a:latin typeface="楷体_GB2312" pitchFamily="49" charset="-122"/>
              <a:ea typeface="楷体_GB2312" pitchFamily="49" charset="-122"/>
            </a:endParaRPr>
          </a:p>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MOV  DX,OFFSET IBUF</a:t>
            </a:r>
          </a:p>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MOV  AH,10</a:t>
            </a:r>
          </a:p>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INT  21H</a:t>
            </a:r>
          </a:p>
          <a:p>
            <a:pPr>
              <a:lnSpc>
                <a:spcPct val="85000"/>
              </a:lnSpc>
              <a:buFont typeface="Arial" panose="020B0604020202020204" pitchFamily="34" charset="0"/>
              <a:buNone/>
            </a:pPr>
            <a:r>
              <a:rPr lang="en-US" altLang="zh-CN" dirty="0">
                <a:solidFill>
                  <a:srgbClr val="000099"/>
                </a:solidFill>
                <a:latin typeface="楷体_GB2312" pitchFamily="49" charset="-122"/>
                <a:ea typeface="楷体_GB2312" pitchFamily="49" charset="-122"/>
              </a:rPr>
              <a:t>MOV AX,WORD PTR IBUF+4</a:t>
            </a:r>
          </a:p>
        </p:txBody>
      </p:sp>
      <p:sp>
        <p:nvSpPr>
          <p:cNvPr id="3" name="矩形 5"/>
          <p:cNvSpPr>
            <a:spLocks noChangeArrowheads="1"/>
          </p:cNvSpPr>
          <p:nvPr/>
        </p:nvSpPr>
        <p:spPr bwMode="auto">
          <a:xfrm>
            <a:off x="179388" y="1125538"/>
            <a:ext cx="87487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800">
                <a:latin typeface="楷体" panose="02010609060101010101" pitchFamily="49" charset="-122"/>
                <a:ea typeface="楷体" panose="02010609060101010101" pitchFamily="49" charset="-122"/>
              </a:rPr>
              <a:t>例</a:t>
            </a:r>
            <a:r>
              <a:rPr lang="en-US" altLang="zh-CN" sz="2800">
                <a:latin typeface="楷体" panose="02010609060101010101" pitchFamily="49" charset="-122"/>
                <a:ea typeface="楷体" panose="02010609060101010101" pitchFamily="49" charset="-122"/>
              </a:rPr>
              <a:t>3  </a:t>
            </a:r>
            <a:r>
              <a:rPr lang="zh-CN" altLang="en-US" sz="2800">
                <a:latin typeface="楷体" panose="02010609060101010101" pitchFamily="49" charset="-122"/>
                <a:ea typeface="楷体" panose="02010609060101010101" pitchFamily="49" charset="-122"/>
              </a:rPr>
              <a:t>键入</a:t>
            </a:r>
            <a:r>
              <a:rPr lang="en-US" altLang="zh-CN" sz="2800">
                <a:latin typeface="楷体" panose="02010609060101010101" pitchFamily="49" charset="-122"/>
                <a:ea typeface="楷体" panose="02010609060101010101" pitchFamily="49" charset="-122"/>
              </a:rPr>
              <a:t>4</a:t>
            </a:r>
            <a:r>
              <a:rPr lang="zh-CN" altLang="en-US" sz="2800">
                <a:latin typeface="楷体" panose="02010609060101010101" pitchFamily="49" charset="-122"/>
                <a:ea typeface="楷体" panose="02010609060101010101" pitchFamily="49" charset="-122"/>
              </a:rPr>
              <a:t>位十进制数，以压缩</a:t>
            </a:r>
            <a:r>
              <a:rPr lang="en-US" altLang="zh-CN" sz="2800">
                <a:latin typeface="楷体" panose="02010609060101010101" pitchFamily="49" charset="-122"/>
                <a:ea typeface="楷体" panose="02010609060101010101" pitchFamily="49" charset="-122"/>
              </a:rPr>
              <a:t>BCD</a:t>
            </a:r>
            <a:r>
              <a:rPr lang="zh-CN" altLang="en-US" sz="2800">
                <a:latin typeface="楷体" panose="02010609060101010101" pitchFamily="49" charset="-122"/>
                <a:ea typeface="楷体" panose="02010609060101010101" pitchFamily="49" charset="-122"/>
              </a:rPr>
              <a:t>数形式存入字变量</a:t>
            </a:r>
            <a:r>
              <a:rPr lang="en-US" altLang="zh-CN" sz="2800">
                <a:latin typeface="楷体" panose="02010609060101010101" pitchFamily="49" charset="-122"/>
                <a:ea typeface="楷体" panose="02010609060101010101" pitchFamily="49" charset="-122"/>
              </a:rPr>
              <a:t>SW</a:t>
            </a:r>
            <a:r>
              <a:rPr lang="zh-CN" altLang="en-US" sz="2800">
                <a:latin typeface="楷体" panose="02010609060101010101" pitchFamily="49" charset="-122"/>
                <a:ea typeface="楷体" panose="02010609060101010101" pitchFamily="49" charset="-122"/>
              </a:rPr>
              <a:t>单元中</a:t>
            </a:r>
          </a:p>
        </p:txBody>
      </p:sp>
    </p:spTree>
    <p:extLst>
      <p:ext uri="{BB962C8B-B14F-4D97-AF65-F5344CB8AC3E}">
        <p14:creationId xmlns:p14="http://schemas.microsoft.com/office/powerpoint/2010/main" val="90117223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763713" y="1196975"/>
            <a:ext cx="4460875"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AND  AH,0FH</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MOV  CL,4</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SHL  AL,CL</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OR   AL,AH</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MOV  BYTE PTR SW,AL</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MOV  AX</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WORD  PTR  IBUF</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2</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AND  AH</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0FH</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SHL  AL</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CL</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OR   AL</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AH</a:t>
            </a:r>
          </a:p>
          <a:p>
            <a:pPr eaLnBrk="1" hangingPunct="1">
              <a:spcBef>
                <a:spcPct val="0"/>
              </a:spcBef>
              <a:buFont typeface="Arial" panose="020B0604020202020204" pitchFamily="34" charset="0"/>
              <a:buNone/>
            </a:pPr>
            <a:r>
              <a:rPr lang="en-US" altLang="zh-CN" sz="2800" dirty="0">
                <a:solidFill>
                  <a:srgbClr val="000099"/>
                </a:solidFill>
                <a:latin typeface="楷体_GB2312" pitchFamily="49" charset="-122"/>
                <a:ea typeface="楷体_GB2312" pitchFamily="49" charset="-122"/>
              </a:rPr>
              <a:t>MOV  BYTE  PTR  SW</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1</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AL</a:t>
            </a:r>
          </a:p>
        </p:txBody>
      </p:sp>
    </p:spTree>
    <p:extLst>
      <p:ext uri="{BB962C8B-B14F-4D97-AF65-F5344CB8AC3E}">
        <p14:creationId xmlns:p14="http://schemas.microsoft.com/office/powerpoint/2010/main" val="18681046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259307" y="1221201"/>
            <a:ext cx="8884693"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2"/>
                </a:solidFill>
                <a:latin typeface="楷体_GB2312" pitchFamily="49" charset="-122"/>
                <a:ea typeface="楷体_GB2312" pitchFamily="49" charset="-122"/>
              </a:defRPr>
            </a:lvl1pPr>
            <a:lvl2pPr marL="742950" indent="-285750">
              <a:defRPr sz="2800" b="1">
                <a:solidFill>
                  <a:schemeClr val="tx2"/>
                </a:solidFill>
                <a:latin typeface="楷体_GB2312" pitchFamily="49" charset="-122"/>
                <a:ea typeface="楷体_GB2312" pitchFamily="49" charset="-122"/>
              </a:defRPr>
            </a:lvl2pPr>
            <a:lvl3pPr marL="1143000" indent="-228600">
              <a:defRPr sz="2800" b="1">
                <a:solidFill>
                  <a:schemeClr val="tx2"/>
                </a:solidFill>
                <a:latin typeface="楷体_GB2312" pitchFamily="49" charset="-122"/>
                <a:ea typeface="楷体_GB2312" pitchFamily="49" charset="-122"/>
              </a:defRPr>
            </a:lvl3pPr>
            <a:lvl4pPr marL="1600200" indent="-228600">
              <a:defRPr sz="2800" b="1">
                <a:solidFill>
                  <a:schemeClr val="tx2"/>
                </a:solidFill>
                <a:latin typeface="楷体_GB2312" pitchFamily="49" charset="-122"/>
                <a:ea typeface="楷体_GB2312" pitchFamily="49" charset="-122"/>
              </a:defRPr>
            </a:lvl4pPr>
            <a:lvl5pPr marL="2057400" indent="-228600">
              <a:defRPr sz="28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9pPr>
          </a:lstStyle>
          <a:p>
            <a:endParaRPr lang="en-US" altLang="zh-CN" sz="2000" b="0" dirty="0">
              <a:solidFill>
                <a:schemeClr val="tx1"/>
              </a:solidFill>
              <a:latin typeface="楷体" panose="02010609060101010101" pitchFamily="49" charset="-122"/>
              <a:ea typeface="楷体" panose="02010609060101010101" pitchFamily="49" charset="-122"/>
            </a:endParaRPr>
          </a:p>
          <a:p>
            <a:r>
              <a:rPr lang="zh-CN" altLang="en-US" sz="2000" b="0" dirty="0">
                <a:solidFill>
                  <a:schemeClr val="bg1"/>
                </a:solidFill>
                <a:highlight>
                  <a:srgbClr val="003399"/>
                </a:highlight>
                <a:latin typeface="楷体" panose="02010609060101010101" pitchFamily="49" charset="-122"/>
                <a:ea typeface="楷体" panose="02010609060101010101" pitchFamily="49" charset="-122"/>
              </a:rPr>
              <a:t>必做：</a:t>
            </a:r>
            <a:r>
              <a:rPr lang="zh-CN" altLang="en-US" sz="2000" b="0" dirty="0">
                <a:solidFill>
                  <a:schemeClr val="tx1"/>
                </a:solidFill>
                <a:latin typeface="楷体" panose="02010609060101010101" pitchFamily="49" charset="-122"/>
                <a:ea typeface="楷体" panose="02010609060101010101" pitchFamily="49" charset="-122"/>
              </a:rPr>
              <a:t>从键盘输入</a:t>
            </a:r>
            <a:r>
              <a:rPr lang="zh-CN" altLang="en-US" sz="2000" b="0" dirty="0">
                <a:solidFill>
                  <a:srgbClr val="FF0000"/>
                </a:solidFill>
                <a:latin typeface="楷体" panose="02010609060101010101" pitchFamily="49" charset="-122"/>
                <a:ea typeface="楷体" panose="02010609060101010101" pitchFamily="49" charset="-122"/>
              </a:rPr>
              <a:t>任一字符串</a:t>
            </a:r>
            <a:r>
              <a:rPr lang="zh-CN" altLang="en-US" sz="2000" b="0" dirty="0">
                <a:solidFill>
                  <a:schemeClr val="tx1"/>
                </a:solidFill>
                <a:latin typeface="楷体" panose="02010609060101010101" pitchFamily="49" charset="-122"/>
                <a:ea typeface="楷体" panose="02010609060101010101" pitchFamily="49" charset="-122"/>
              </a:rPr>
              <a:t>（字符数</a:t>
            </a:r>
            <a:r>
              <a:rPr lang="en-US" altLang="zh-CN" sz="2000" b="0" dirty="0">
                <a:solidFill>
                  <a:schemeClr val="tx1"/>
                </a:solidFill>
                <a:latin typeface="楷体" panose="02010609060101010101" pitchFamily="49" charset="-122"/>
                <a:ea typeface="楷体" panose="02010609060101010101" pitchFamily="49" charset="-122"/>
              </a:rPr>
              <a:t>&gt;1</a:t>
            </a:r>
            <a:r>
              <a:rPr lang="zh-CN" altLang="en-US" sz="2000" b="0" dirty="0">
                <a:solidFill>
                  <a:schemeClr val="tx1"/>
                </a:solidFill>
                <a:latin typeface="楷体" panose="02010609060101010101" pitchFamily="49" charset="-122"/>
                <a:ea typeface="楷体" panose="02010609060101010101" pitchFamily="49" charset="-122"/>
              </a:rPr>
              <a:t>），在下一行以相反的次序显示出来。</a:t>
            </a:r>
            <a:endParaRPr lang="en-US" altLang="zh-CN" sz="2000" b="0" dirty="0">
              <a:solidFill>
                <a:schemeClr val="tx1"/>
              </a:solidFill>
              <a:latin typeface="楷体" panose="02010609060101010101" pitchFamily="49" charset="-122"/>
              <a:ea typeface="楷体" panose="02010609060101010101" pitchFamily="49" charset="-122"/>
            </a:endParaRPr>
          </a:p>
          <a:p>
            <a:r>
              <a:rPr lang="zh-CN" altLang="en-US" sz="2000" b="0" dirty="0">
                <a:solidFill>
                  <a:schemeClr val="tx1"/>
                </a:solidFill>
                <a:latin typeface="楷体" panose="02010609060101010101" pitchFamily="49" charset="-122"/>
                <a:ea typeface="楷体" panose="02010609060101010101" pitchFamily="49" charset="-122"/>
              </a:rPr>
              <a:t>如：输入字符串</a:t>
            </a:r>
            <a:r>
              <a:rPr lang="en-US" altLang="zh-CN" sz="2000" b="0" dirty="0">
                <a:solidFill>
                  <a:schemeClr val="tx1"/>
                </a:solidFill>
                <a:latin typeface="楷体" panose="02010609060101010101" pitchFamily="49" charset="-122"/>
                <a:ea typeface="楷体" panose="02010609060101010101" pitchFamily="49" charset="-122"/>
              </a:rPr>
              <a:t>123abc</a:t>
            </a:r>
          </a:p>
          <a:p>
            <a:r>
              <a:rPr lang="en-US" altLang="zh-CN" sz="2000" b="0" dirty="0">
                <a:solidFill>
                  <a:schemeClr val="tx1"/>
                </a:solidFill>
                <a:latin typeface="楷体" panose="02010609060101010101" pitchFamily="49" charset="-122"/>
                <a:ea typeface="楷体" panose="02010609060101010101" pitchFamily="49" charset="-122"/>
              </a:rPr>
              <a:t>    </a:t>
            </a:r>
            <a:r>
              <a:rPr lang="zh-CN" altLang="en-US" sz="2000" b="0" dirty="0">
                <a:solidFill>
                  <a:schemeClr val="tx1"/>
                </a:solidFill>
                <a:latin typeface="楷体" panose="02010609060101010101" pitchFamily="49" charset="-122"/>
                <a:ea typeface="楷体" panose="02010609060101010101" pitchFamily="49" charset="-122"/>
              </a:rPr>
              <a:t>在下一行显示</a:t>
            </a:r>
            <a:r>
              <a:rPr lang="en-US" altLang="zh-CN" sz="2000" b="0" dirty="0">
                <a:solidFill>
                  <a:schemeClr val="tx1"/>
                </a:solidFill>
                <a:latin typeface="楷体" panose="02010609060101010101" pitchFamily="49" charset="-122"/>
                <a:ea typeface="楷体" panose="02010609060101010101" pitchFamily="49" charset="-122"/>
              </a:rPr>
              <a:t>cba321</a:t>
            </a:r>
          </a:p>
          <a:p>
            <a:endParaRPr lang="en-US" altLang="zh-CN" sz="2000" b="0" dirty="0">
              <a:solidFill>
                <a:schemeClr val="tx1"/>
              </a:solidFill>
              <a:latin typeface="楷体" panose="02010609060101010101" pitchFamily="49" charset="-122"/>
              <a:ea typeface="楷体" panose="02010609060101010101" pitchFamily="49" charset="-122"/>
            </a:endParaRPr>
          </a:p>
          <a:p>
            <a:endParaRPr lang="en-US" altLang="zh-CN" sz="2000" b="0" dirty="0">
              <a:solidFill>
                <a:schemeClr val="tx1"/>
              </a:solidFill>
              <a:latin typeface="楷体" panose="02010609060101010101" pitchFamily="49" charset="-122"/>
              <a:ea typeface="楷体" panose="02010609060101010101" pitchFamily="49" charset="-122"/>
            </a:endParaRPr>
          </a:p>
          <a:p>
            <a:endParaRPr lang="en-US" altLang="zh-CN" sz="2000" b="0" dirty="0">
              <a:solidFill>
                <a:schemeClr val="tx1"/>
              </a:solidFill>
              <a:latin typeface="楷体" panose="02010609060101010101" pitchFamily="49" charset="-122"/>
              <a:ea typeface="楷体" panose="02010609060101010101" pitchFamily="49" charset="-122"/>
            </a:endParaRPr>
          </a:p>
          <a:p>
            <a:endParaRPr lang="en-US" altLang="zh-CN" sz="2000" b="0" dirty="0">
              <a:solidFill>
                <a:schemeClr val="tx1"/>
              </a:solidFill>
              <a:latin typeface="楷体" panose="02010609060101010101" pitchFamily="49" charset="-122"/>
              <a:ea typeface="楷体" panose="02010609060101010101" pitchFamily="49" charset="-122"/>
            </a:endParaRPr>
          </a:p>
          <a:p>
            <a:endParaRPr lang="en-US" altLang="zh-CN" sz="2000" b="0" dirty="0">
              <a:solidFill>
                <a:schemeClr val="tx1"/>
              </a:solidFill>
              <a:latin typeface="楷体" panose="02010609060101010101" pitchFamily="49" charset="-122"/>
              <a:ea typeface="楷体" panose="02010609060101010101" pitchFamily="49" charset="-122"/>
            </a:endParaRPr>
          </a:p>
          <a:p>
            <a:r>
              <a:rPr lang="zh-CN" altLang="en-US" sz="2000" b="0" dirty="0">
                <a:solidFill>
                  <a:schemeClr val="bg1"/>
                </a:solidFill>
                <a:highlight>
                  <a:srgbClr val="003399"/>
                </a:highlight>
                <a:latin typeface="楷体" panose="02010609060101010101" pitchFamily="49" charset="-122"/>
                <a:ea typeface="楷体" panose="02010609060101010101" pitchFamily="49" charset="-122"/>
              </a:rPr>
              <a:t>选做：</a:t>
            </a:r>
            <a:r>
              <a:rPr lang="zh-CN" altLang="en-US" sz="2000" b="0" dirty="0">
                <a:solidFill>
                  <a:schemeClr val="tx1"/>
                </a:solidFill>
                <a:latin typeface="楷体" panose="02010609060101010101" pitchFamily="49" charset="-122"/>
                <a:ea typeface="楷体" panose="02010609060101010101" pitchFamily="49" charset="-122"/>
              </a:rPr>
              <a:t>从键盘输入一小于等于</a:t>
            </a:r>
            <a:r>
              <a:rPr lang="en-US" altLang="zh-CN" sz="2000" b="0" dirty="0">
                <a:solidFill>
                  <a:schemeClr val="tx1"/>
                </a:solidFill>
                <a:latin typeface="楷体" panose="02010609060101010101" pitchFamily="49" charset="-122"/>
                <a:ea typeface="楷体" panose="02010609060101010101" pitchFamily="49" charset="-122"/>
              </a:rPr>
              <a:t>65535</a:t>
            </a:r>
            <a:r>
              <a:rPr lang="zh-CN" altLang="en-US" sz="2000" b="0" dirty="0">
                <a:solidFill>
                  <a:schemeClr val="tx1"/>
                </a:solidFill>
                <a:latin typeface="楷体" panose="02010609060101010101" pitchFamily="49" charset="-122"/>
                <a:ea typeface="楷体" panose="02010609060101010101" pitchFamily="49" charset="-122"/>
              </a:rPr>
              <a:t>的</a:t>
            </a:r>
            <a:r>
              <a:rPr lang="zh-CN" altLang="en-US" sz="2000" b="0" dirty="0">
                <a:solidFill>
                  <a:srgbClr val="FF0000"/>
                </a:solidFill>
                <a:latin typeface="楷体" panose="02010609060101010101" pitchFamily="49" charset="-122"/>
                <a:ea typeface="楷体" panose="02010609060101010101" pitchFamily="49" charset="-122"/>
              </a:rPr>
              <a:t>任意无符号数</a:t>
            </a:r>
            <a:r>
              <a:rPr lang="zh-CN" altLang="en-US" sz="2000" b="0" dirty="0">
                <a:solidFill>
                  <a:schemeClr val="tx1"/>
                </a:solidFill>
                <a:latin typeface="楷体" panose="02010609060101010101" pitchFamily="49" charset="-122"/>
                <a:ea typeface="楷体" panose="02010609060101010101" pitchFamily="49" charset="-122"/>
              </a:rPr>
              <a:t>，将该数除以</a:t>
            </a:r>
            <a:r>
              <a:rPr lang="en-US" altLang="zh-CN" sz="2000" b="0" dirty="0">
                <a:solidFill>
                  <a:schemeClr val="tx1"/>
                </a:solidFill>
                <a:latin typeface="楷体" panose="02010609060101010101" pitchFamily="49" charset="-122"/>
                <a:ea typeface="楷体" panose="02010609060101010101" pitchFamily="49" charset="-122"/>
              </a:rPr>
              <a:t>10</a:t>
            </a:r>
            <a:r>
              <a:rPr lang="zh-CN" altLang="en-US" sz="2000" b="0" dirty="0">
                <a:solidFill>
                  <a:schemeClr val="tx1"/>
                </a:solidFill>
                <a:latin typeface="楷体" panose="02010609060101010101" pitchFamily="49" charset="-122"/>
                <a:ea typeface="楷体" panose="02010609060101010101" pitchFamily="49" charset="-122"/>
              </a:rPr>
              <a:t>，商存入字变量</a:t>
            </a:r>
            <a:r>
              <a:rPr lang="en-US" altLang="zh-CN" sz="2000" b="0" dirty="0">
                <a:solidFill>
                  <a:schemeClr val="tx1"/>
                </a:solidFill>
                <a:latin typeface="楷体" panose="02010609060101010101" pitchFamily="49" charset="-122"/>
                <a:ea typeface="楷体" panose="02010609060101010101" pitchFamily="49" charset="-122"/>
              </a:rPr>
              <a:t>QUOT</a:t>
            </a:r>
            <a:r>
              <a:rPr lang="zh-CN" altLang="en-US" sz="2000" b="0" dirty="0">
                <a:solidFill>
                  <a:schemeClr val="tx1"/>
                </a:solidFill>
                <a:latin typeface="楷体" panose="02010609060101010101" pitchFamily="49" charset="-122"/>
                <a:ea typeface="楷体" panose="02010609060101010101" pitchFamily="49" charset="-122"/>
              </a:rPr>
              <a:t>中，余数存入字节变量</a:t>
            </a:r>
            <a:r>
              <a:rPr lang="en-US" altLang="zh-CN" sz="2000" b="0" dirty="0">
                <a:solidFill>
                  <a:schemeClr val="tx1"/>
                </a:solidFill>
                <a:latin typeface="楷体" panose="02010609060101010101" pitchFamily="49" charset="-122"/>
                <a:ea typeface="楷体" panose="02010609060101010101" pitchFamily="49" charset="-122"/>
              </a:rPr>
              <a:t>REMA</a:t>
            </a:r>
            <a:r>
              <a:rPr lang="zh-CN" altLang="en-US" sz="2000" b="0" dirty="0">
                <a:solidFill>
                  <a:schemeClr val="tx1"/>
                </a:solidFill>
                <a:latin typeface="楷体" panose="02010609060101010101" pitchFamily="49" charset="-122"/>
                <a:ea typeface="楷体" panose="02010609060101010101" pitchFamily="49" charset="-122"/>
              </a:rPr>
              <a:t>中，将计算结果（</a:t>
            </a:r>
            <a:r>
              <a:rPr lang="en-US" altLang="zh-CN" sz="2000" b="0" dirty="0">
                <a:solidFill>
                  <a:schemeClr val="tx1"/>
                </a:solidFill>
                <a:latin typeface="楷体" panose="02010609060101010101" pitchFamily="49" charset="-122"/>
                <a:ea typeface="楷体" panose="02010609060101010101" pitchFamily="49" charset="-122"/>
              </a:rPr>
              <a:t>10</a:t>
            </a:r>
            <a:r>
              <a:rPr lang="zh-CN" altLang="en-US" sz="2000" b="0" dirty="0">
                <a:solidFill>
                  <a:schemeClr val="tx1"/>
                </a:solidFill>
                <a:latin typeface="楷体" panose="02010609060101010101" pitchFamily="49" charset="-122"/>
                <a:ea typeface="楷体" panose="02010609060101010101" pitchFamily="49" charset="-122"/>
              </a:rPr>
              <a:t>进制）显示出来，格式如下：</a:t>
            </a:r>
            <a:endParaRPr lang="en-US" altLang="zh-CN" sz="2000" b="0" dirty="0">
              <a:solidFill>
                <a:schemeClr val="tx1"/>
              </a:solidFill>
              <a:latin typeface="楷体" panose="02010609060101010101" pitchFamily="49" charset="-122"/>
              <a:ea typeface="楷体" panose="02010609060101010101" pitchFamily="49" charset="-122"/>
            </a:endParaRPr>
          </a:p>
          <a:p>
            <a:endParaRPr lang="zh-CN" altLang="en-US" sz="2000" b="0" dirty="0">
              <a:solidFill>
                <a:schemeClr val="tx1"/>
              </a:solidFill>
              <a:latin typeface="楷体" panose="02010609060101010101" pitchFamily="49" charset="-122"/>
              <a:ea typeface="楷体" panose="02010609060101010101" pitchFamily="49" charset="-122"/>
            </a:endParaRPr>
          </a:p>
        </p:txBody>
      </p:sp>
      <p:sp>
        <p:nvSpPr>
          <p:cNvPr id="3"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程序大作业</a:t>
            </a:r>
          </a:p>
        </p:txBody>
      </p:sp>
      <p:pic>
        <p:nvPicPr>
          <p:cNvPr id="6" name="图片 5"/>
          <p:cNvPicPr>
            <a:picLocks noChangeAspect="1"/>
          </p:cNvPicPr>
          <p:nvPr/>
        </p:nvPicPr>
        <p:blipFill>
          <a:blip r:embed="rId2"/>
          <a:stretch>
            <a:fillRect/>
          </a:stretch>
        </p:blipFill>
        <p:spPr>
          <a:xfrm>
            <a:off x="3193010" y="2817095"/>
            <a:ext cx="2276190" cy="800000"/>
          </a:xfrm>
          <a:prstGeom prst="rect">
            <a:avLst/>
          </a:prstGeom>
        </p:spPr>
      </p:pic>
      <p:pic>
        <p:nvPicPr>
          <p:cNvPr id="5" name="图片 4"/>
          <p:cNvPicPr>
            <a:picLocks noChangeAspect="1"/>
          </p:cNvPicPr>
          <p:nvPr/>
        </p:nvPicPr>
        <p:blipFill>
          <a:blip r:embed="rId3"/>
          <a:stretch>
            <a:fillRect/>
          </a:stretch>
        </p:blipFill>
        <p:spPr>
          <a:xfrm>
            <a:off x="2457125" y="5212989"/>
            <a:ext cx="4085714" cy="847619"/>
          </a:xfrm>
          <a:prstGeom prst="rect">
            <a:avLst/>
          </a:prstGeom>
        </p:spPr>
      </p:pic>
    </p:spTree>
    <p:extLst>
      <p:ext uri="{BB962C8B-B14F-4D97-AF65-F5344CB8AC3E}">
        <p14:creationId xmlns:p14="http://schemas.microsoft.com/office/powerpoint/2010/main" val="1847106315"/>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3499</TotalTime>
  <Words>10594</Words>
  <Application>Microsoft Office PowerPoint</Application>
  <PresentationFormat>全屏显示(4:3)</PresentationFormat>
  <Paragraphs>992</Paragraphs>
  <Slides>117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117</vt:i4>
      </vt:variant>
    </vt:vector>
  </HeadingPairs>
  <TitlesOfParts>
    <vt:vector size="130" baseType="lpstr">
      <vt:lpstr>黑体</vt:lpstr>
      <vt:lpstr>华文楷体</vt:lpstr>
      <vt:lpstr>楷体</vt:lpstr>
      <vt:lpstr>楷体_GB2312</vt:lpstr>
      <vt:lpstr>微软雅黑</vt:lpstr>
      <vt:lpstr>Arial</vt:lpstr>
      <vt:lpstr>Calibri</vt:lpstr>
      <vt:lpstr>Calibri Light</vt:lpstr>
      <vt:lpstr>Times New Roman</vt:lpstr>
      <vt:lpstr>Wingdings</vt:lpstr>
      <vt:lpstr>Wingdings 2</vt:lpstr>
      <vt:lpstr>Office 主题</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Enjia Deng</dc:creator>
  <cp:lastModifiedBy>佩 陈</cp:lastModifiedBy>
  <cp:revision>140</cp:revision>
  <dcterms:created xsi:type="dcterms:W3CDTF">2020-03-31T02:45:39Z</dcterms:created>
  <dcterms:modified xsi:type="dcterms:W3CDTF">2023-10-24T11:40:29Z</dcterms:modified>
</cp:coreProperties>
</file>