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6" r:id="rId16"/>
    <p:sldId id="277" r:id="rId17"/>
    <p:sldId id="278" r:id="rId18"/>
    <p:sldId id="279" r:id="rId19"/>
    <p:sldId id="280" r:id="rId20"/>
    <p:sldId id="284" r:id="rId21"/>
    <p:sldId id="285" r:id="rId22"/>
    <p:sldId id="286" r:id="rId23"/>
    <p:sldId id="287" r:id="rId24"/>
    <p:sldId id="288" r:id="rId25"/>
    <p:sldId id="292" r:id="rId26"/>
    <p:sldId id="293" r:id="rId27"/>
    <p:sldId id="294" r:id="rId28"/>
    <p:sldId id="295" r:id="rId29"/>
    <p:sldId id="296" r:id="rId30"/>
    <p:sldId id="297" r:id="rId31"/>
    <p:sldId id="298" r:id="rId32"/>
    <p:sldId id="299" r:id="rId33"/>
    <p:sldId id="289" r:id="rId34"/>
    <p:sldId id="300" r:id="rId35"/>
    <p:sldId id="290" r:id="rId36"/>
    <p:sldId id="291" r:id="rId37"/>
    <p:sldId id="281" r:id="rId38"/>
    <p:sldId id="275"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6" autoAdjust="0"/>
    <p:restoredTop sz="94660"/>
  </p:normalViewPr>
  <p:slideViewPr>
    <p:cSldViewPr snapToGrid="0" showGuides="1">
      <p:cViewPr varScale="1">
        <p:scale>
          <a:sx n="108" d="100"/>
          <a:sy n="108" d="100"/>
        </p:scale>
        <p:origin x="960"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21896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687810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9546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740243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13877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75353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48588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204059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42814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65771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69664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2437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26352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26606-9BAD-42CC-8403-7B224A35E75E}" type="datetimeFigureOut">
              <a:rPr lang="zh-CN" altLang="en-US" smtClean="0"/>
              <a:t>2020/11/11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43455098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5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emf"/><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a:extLst>
              <a:ext uri="{FF2B5EF4-FFF2-40B4-BE49-F238E27FC236}">
                <a16:creationId xmlns:a16="http://schemas.microsoft.com/office/drawing/2014/main" id="{72D32F27-61CF-44B4-A758-0E942AB12FB7}"/>
              </a:ext>
            </a:extLst>
          </p:cNvPr>
          <p:cNvSpPr txBox="1"/>
          <p:nvPr/>
        </p:nvSpPr>
        <p:spPr>
          <a:xfrm>
            <a:off x="686449" y="1392990"/>
            <a:ext cx="8229600" cy="928688"/>
          </a:xfrm>
          <a:prstGeom prst="rect">
            <a:avLst/>
          </a:prstGeom>
        </p:spPr>
        <p:txBody>
          <a:bodyPr anchor="ctr"/>
          <a:lstStyle>
            <a:lvl1pPr eaLnBrk="0" hangingPunct="0">
              <a:defRPr sz="2800" b="1">
                <a:solidFill>
                  <a:schemeClr val="tx2"/>
                </a:solidFill>
                <a:latin typeface="楷体_GB2312" pitchFamily="49" charset="-122"/>
                <a:ea typeface="楷体_GB2312" pitchFamily="49" charset="-122"/>
              </a:defRPr>
            </a:lvl1pPr>
            <a:lvl2pPr marL="742950" indent="-285750" eaLnBrk="0" hangingPunct="0">
              <a:defRPr sz="2800" b="1">
                <a:solidFill>
                  <a:schemeClr val="tx2"/>
                </a:solidFill>
                <a:latin typeface="楷体_GB2312" pitchFamily="49" charset="-122"/>
                <a:ea typeface="楷体_GB2312" pitchFamily="49" charset="-122"/>
              </a:defRPr>
            </a:lvl2pPr>
            <a:lvl3pPr marL="1143000" indent="-228600" eaLnBrk="0" hangingPunct="0">
              <a:defRPr sz="2800" b="1">
                <a:solidFill>
                  <a:schemeClr val="tx2"/>
                </a:solidFill>
                <a:latin typeface="楷体_GB2312" pitchFamily="49" charset="-122"/>
                <a:ea typeface="楷体_GB2312" pitchFamily="49" charset="-122"/>
              </a:defRPr>
            </a:lvl3pPr>
            <a:lvl4pPr marL="1600200" indent="-228600" eaLnBrk="0" hangingPunct="0">
              <a:defRPr sz="2800" b="1">
                <a:solidFill>
                  <a:schemeClr val="tx2"/>
                </a:solidFill>
                <a:latin typeface="楷体_GB2312" pitchFamily="49" charset="-122"/>
                <a:ea typeface="楷体_GB2312" pitchFamily="49" charset="-122"/>
              </a:defRPr>
            </a:lvl4pPr>
            <a:lvl5pPr marL="2057400" indent="-228600" eaLnBrk="0" hangingPunct="0">
              <a:defRPr sz="28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9pPr>
          </a:lstStyle>
          <a:p>
            <a:pPr algn="ctr" eaLnBrk="1" hangingPunct="1">
              <a:lnSpc>
                <a:spcPct val="90000"/>
              </a:lnSpc>
              <a:spcBef>
                <a:spcPct val="20000"/>
              </a:spcBef>
              <a:buClr>
                <a:schemeClr val="tx2"/>
              </a:buClr>
              <a:defRPr/>
            </a:pPr>
            <a:r>
              <a:rPr lang="zh-CN" altLang="en-US" sz="4100" dirty="0" smtClean="0">
                <a:solidFill>
                  <a:schemeClr val="tx1"/>
                </a:solidFill>
                <a:latin typeface="微软雅黑" pitchFamily="34" charset="-122"/>
                <a:ea typeface="微软雅黑" pitchFamily="34" charset="-122"/>
              </a:rPr>
              <a:t>第</a:t>
            </a:r>
            <a:r>
              <a:rPr lang="zh-CN" altLang="en-US" sz="4100" dirty="0">
                <a:solidFill>
                  <a:schemeClr val="tx1"/>
                </a:solidFill>
                <a:latin typeface="微软雅黑" pitchFamily="34" charset="-122"/>
                <a:ea typeface="微软雅黑" pitchFamily="34" charset="-122"/>
              </a:rPr>
              <a:t>十</a:t>
            </a:r>
            <a:r>
              <a:rPr lang="zh-CN" altLang="en-US" sz="4100" dirty="0" smtClean="0">
                <a:solidFill>
                  <a:schemeClr val="tx1"/>
                </a:solidFill>
                <a:latin typeface="微软雅黑" pitchFamily="34" charset="-122"/>
                <a:ea typeface="微软雅黑" pitchFamily="34" charset="-122"/>
              </a:rPr>
              <a:t>章 </a:t>
            </a:r>
            <a:r>
              <a:rPr lang="zh-CN" altLang="en-US" sz="4100" dirty="0" smtClean="0">
                <a:solidFill>
                  <a:schemeClr val="tx1"/>
                </a:solidFill>
                <a:effectLst>
                  <a:outerShdw blurRad="38100" dist="38100" dir="2700000" algn="tl">
                    <a:srgbClr val="C0C0C0"/>
                  </a:outerShdw>
                </a:effectLst>
                <a:latin typeface="微软雅黑" pitchFamily="34" charset="-122"/>
                <a:ea typeface="微软雅黑" pitchFamily="34" charset="-122"/>
              </a:rPr>
              <a:t>中断技术</a:t>
            </a:r>
            <a:endParaRPr lang="zh-CN" altLang="en-US" sz="4100" dirty="0">
              <a:solidFill>
                <a:schemeClr val="tx1"/>
              </a:solidFill>
              <a:effectLst>
                <a:outerShdw blurRad="38100" dist="38100" dir="2700000" algn="tl">
                  <a:srgbClr val="C0C0C0"/>
                </a:outerShdw>
              </a:effectLst>
              <a:latin typeface="微软雅黑" pitchFamily="34" charset="-122"/>
              <a:ea typeface="微软雅黑" pitchFamily="34" charset="-122"/>
            </a:endParaRPr>
          </a:p>
        </p:txBody>
      </p:sp>
      <p:sp>
        <p:nvSpPr>
          <p:cNvPr id="3" name="Rectangle 78"/>
          <p:cNvSpPr>
            <a:spLocks noChangeArrowheads="1"/>
          </p:cNvSpPr>
          <p:nvPr/>
        </p:nvSpPr>
        <p:spPr bwMode="auto">
          <a:xfrm>
            <a:off x="1948355" y="2860904"/>
            <a:ext cx="5705789"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4" name="Rectangle 80"/>
          <p:cNvSpPr>
            <a:spLocks noChangeArrowheads="1"/>
          </p:cNvSpPr>
          <p:nvPr/>
        </p:nvSpPr>
        <p:spPr bwMode="auto">
          <a:xfrm>
            <a:off x="1948356" y="3692045"/>
            <a:ext cx="5705788"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5" name="Rectangle 82"/>
          <p:cNvSpPr>
            <a:spLocks noChangeArrowheads="1"/>
          </p:cNvSpPr>
          <p:nvPr/>
        </p:nvSpPr>
        <p:spPr bwMode="auto">
          <a:xfrm>
            <a:off x="1948356" y="4582664"/>
            <a:ext cx="5705788"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6" name="Rectangle 84"/>
          <p:cNvSpPr>
            <a:spLocks noChangeArrowheads="1"/>
          </p:cNvSpPr>
          <p:nvPr/>
        </p:nvSpPr>
        <p:spPr bwMode="auto">
          <a:xfrm>
            <a:off x="1948356" y="3692045"/>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2</a:t>
            </a:r>
          </a:p>
        </p:txBody>
      </p:sp>
      <p:sp>
        <p:nvSpPr>
          <p:cNvPr id="7" name="Rectangle 85"/>
          <p:cNvSpPr>
            <a:spLocks noChangeArrowheads="1"/>
          </p:cNvSpPr>
          <p:nvPr/>
        </p:nvSpPr>
        <p:spPr bwMode="auto">
          <a:xfrm>
            <a:off x="1948356" y="4582664"/>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3</a:t>
            </a:r>
          </a:p>
        </p:txBody>
      </p:sp>
      <p:sp>
        <p:nvSpPr>
          <p:cNvPr id="8" name="Text Box 87"/>
          <p:cNvSpPr txBox="1">
            <a:spLocks noChangeArrowheads="1"/>
          </p:cNvSpPr>
          <p:nvPr/>
        </p:nvSpPr>
        <p:spPr bwMode="auto">
          <a:xfrm>
            <a:off x="3090074" y="2926531"/>
            <a:ext cx="2698175"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buClr>
                <a:schemeClr val="tx2"/>
              </a:buClr>
              <a:buNone/>
            </a:pPr>
            <a:r>
              <a:rPr lang="zh-CN" altLang="en-US" sz="2800" dirty="0">
                <a:latin typeface="华文楷体" panose="02010600040101010101" pitchFamily="2" charset="-122"/>
                <a:ea typeface="华文楷体" panose="02010600040101010101" pitchFamily="2" charset="-122"/>
              </a:rPr>
              <a:t>中断和中断系统</a:t>
            </a:r>
          </a:p>
        </p:txBody>
      </p:sp>
      <p:sp>
        <p:nvSpPr>
          <p:cNvPr id="9" name="Text Box 88"/>
          <p:cNvSpPr txBox="1">
            <a:spLocks noChangeArrowheads="1"/>
          </p:cNvSpPr>
          <p:nvPr/>
        </p:nvSpPr>
        <p:spPr bwMode="auto">
          <a:xfrm>
            <a:off x="3047788" y="3805205"/>
            <a:ext cx="2896947"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spcBef>
                <a:spcPct val="0"/>
              </a:spcBef>
              <a:buClr>
                <a:schemeClr val="tx2"/>
              </a:buClr>
              <a:buNone/>
            </a:pPr>
            <a:r>
              <a:rPr lang="zh-CN" altLang="en-US" sz="2800" dirty="0">
                <a:latin typeface="华文楷体" panose="02010600040101010101" pitchFamily="2" charset="-122"/>
                <a:ea typeface="华文楷体" panose="02010600040101010101" pitchFamily="2" charset="-122"/>
              </a:rPr>
              <a:t>中断控制器</a:t>
            </a:r>
            <a:r>
              <a:rPr lang="en-US" altLang="zh-CN" sz="2800" dirty="0">
                <a:latin typeface="华文楷体" panose="02010600040101010101" pitchFamily="2" charset="-122"/>
                <a:ea typeface="华文楷体" panose="02010600040101010101" pitchFamily="2" charset="-122"/>
              </a:rPr>
              <a:t>8259A</a:t>
            </a:r>
          </a:p>
        </p:txBody>
      </p:sp>
      <p:sp>
        <p:nvSpPr>
          <p:cNvPr id="10" name="Text Box 89"/>
          <p:cNvSpPr txBox="1">
            <a:spLocks noChangeArrowheads="1"/>
          </p:cNvSpPr>
          <p:nvPr/>
        </p:nvSpPr>
        <p:spPr bwMode="auto">
          <a:xfrm>
            <a:off x="3090074" y="4676727"/>
            <a:ext cx="4564070"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spcBef>
                <a:spcPct val="0"/>
              </a:spcBef>
              <a:buClr>
                <a:schemeClr val="tx2"/>
              </a:buClr>
              <a:buNone/>
            </a:pPr>
            <a:r>
              <a:rPr lang="en-US" altLang="zh-CN" sz="2800" dirty="0">
                <a:latin typeface="华文楷体" panose="02010600040101010101" pitchFamily="2" charset="-122"/>
                <a:ea typeface="华文楷体" panose="02010600040101010101" pitchFamily="2" charset="-122"/>
              </a:rPr>
              <a:t>PC</a:t>
            </a:r>
            <a:r>
              <a:rPr lang="zh-CN" altLang="en-US" sz="2800" dirty="0">
                <a:latin typeface="华文楷体" panose="02010600040101010101" pitchFamily="2" charset="-122"/>
                <a:ea typeface="华文楷体" panose="02010600040101010101" pitchFamily="2" charset="-122"/>
              </a:rPr>
              <a:t>机的中断系统和中断指令</a:t>
            </a:r>
          </a:p>
        </p:txBody>
      </p:sp>
      <p:sp>
        <p:nvSpPr>
          <p:cNvPr id="14" name="Rectangle 77"/>
          <p:cNvSpPr>
            <a:spLocks noChangeArrowheads="1"/>
          </p:cNvSpPr>
          <p:nvPr/>
        </p:nvSpPr>
        <p:spPr bwMode="auto">
          <a:xfrm>
            <a:off x="1951743" y="2870429"/>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p>
            <a:pPr algn="ctr">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1</a:t>
            </a:r>
          </a:p>
        </p:txBody>
      </p:sp>
    </p:spTree>
    <p:extLst>
      <p:ext uri="{BB962C8B-B14F-4D97-AF65-F5344CB8AC3E}">
        <p14:creationId xmlns:p14="http://schemas.microsoft.com/office/powerpoint/2010/main" val="15953613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10.1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中断和中断系统概述</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562252" y="1713553"/>
            <a:ext cx="8217764" cy="2677656"/>
          </a:xfrm>
          <a:prstGeom prst="rect">
            <a:avLst/>
          </a:prstGeom>
        </p:spPr>
        <p:txBody>
          <a:bodyPr wrap="square">
            <a:spAutoFit/>
          </a:bodyPr>
          <a:lstStyle/>
          <a:p>
            <a:pPr>
              <a:lnSpc>
                <a:spcPct val="140000"/>
              </a:lnSpc>
              <a:buClr>
                <a:srgbClr val="0BD0D9"/>
              </a:buClr>
              <a:buSzPct val="95000"/>
            </a:pPr>
            <a:r>
              <a:rPr lang="zh-CN" altLang="en-US" sz="2400" dirty="0" smtClean="0">
                <a:latin typeface="楷体" panose="02010609060101010101" pitchFamily="49" charset="-122"/>
                <a:ea typeface="楷体" panose="02010609060101010101" pitchFamily="49" charset="-122"/>
              </a:rPr>
              <a:t>    早期</a:t>
            </a:r>
            <a:r>
              <a:rPr lang="zh-CN" altLang="en-US" sz="2400" dirty="0">
                <a:latin typeface="楷体" panose="02010609060101010101" pitchFamily="49" charset="-122"/>
                <a:ea typeface="楷体" panose="02010609060101010101" pitchFamily="49" charset="-122"/>
              </a:rPr>
              <a:t>的计算机没有中断功能，</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和外设之间的</a:t>
            </a:r>
            <a:r>
              <a:rPr lang="zh-CN" altLang="en-US" sz="2400" dirty="0" smtClean="0">
                <a:latin typeface="楷体" panose="02010609060101010101" pitchFamily="49" charset="-122"/>
                <a:ea typeface="楷体" panose="02010609060101010101" pitchFamily="49" charset="-122"/>
              </a:rPr>
              <a:t>信息交换</a:t>
            </a:r>
            <a:r>
              <a:rPr lang="zh-CN" altLang="en-US" sz="2400" dirty="0">
                <a:latin typeface="楷体" panose="02010609060101010101" pitchFamily="49" charset="-122"/>
                <a:ea typeface="楷体" panose="02010609060101010101" pitchFamily="49" charset="-122"/>
              </a:rPr>
              <a:t>采用的是查询方式，</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的大部分时间都浪费在</a:t>
            </a:r>
            <a:r>
              <a:rPr lang="zh-CN" altLang="en-US" sz="2400" dirty="0" smtClean="0">
                <a:latin typeface="楷体" panose="02010609060101010101" pitchFamily="49" charset="-122"/>
                <a:ea typeface="楷体" panose="02010609060101010101" pitchFamily="49" charset="-122"/>
              </a:rPr>
              <a:t>反复查询</a:t>
            </a:r>
            <a:r>
              <a:rPr lang="zh-CN" altLang="en-US" sz="2400" dirty="0">
                <a:latin typeface="楷体" panose="02010609060101010101" pitchFamily="49" charset="-122"/>
                <a:ea typeface="楷体" panose="02010609060101010101" pitchFamily="49" charset="-122"/>
              </a:rPr>
              <a:t>上。这就妨碍了计算机高速性能的充分发挥</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产生</a:t>
            </a:r>
            <a:r>
              <a:rPr lang="zh-CN" altLang="en-US" sz="2400" dirty="0" smtClean="0">
                <a:latin typeface="楷体" panose="02010609060101010101" pitchFamily="49" charset="-122"/>
                <a:ea typeface="楷体" panose="02010609060101010101" pitchFamily="49" charset="-122"/>
              </a:rPr>
              <a:t>了</a:t>
            </a:r>
            <a:r>
              <a:rPr lang="zh-CN" altLang="en-US" sz="2400" dirty="0" smtClean="0">
                <a:solidFill>
                  <a:srgbClr val="FF0000"/>
                </a:solidFill>
                <a:latin typeface="楷体" panose="02010609060101010101" pitchFamily="49" charset="-122"/>
                <a:ea typeface="楷体" panose="02010609060101010101" pitchFamily="49" charset="-122"/>
              </a:rPr>
              <a:t>快速</a:t>
            </a:r>
            <a:r>
              <a:rPr lang="zh-CN" altLang="en-US" sz="2400" dirty="0">
                <a:solidFill>
                  <a:srgbClr val="FF0000"/>
                </a:solidFill>
                <a:latin typeface="楷体" panose="02010609060101010101" pitchFamily="49" charset="-122"/>
                <a:ea typeface="楷体" panose="02010609060101010101" pitchFamily="49" charset="-122"/>
              </a:rPr>
              <a:t>的</a:t>
            </a:r>
            <a:r>
              <a:rPr lang="en-US" altLang="zh-CN" sz="2400" dirty="0">
                <a:solidFill>
                  <a:srgbClr val="FF0000"/>
                </a:solidFill>
                <a:latin typeface="楷体" panose="02010609060101010101" pitchFamily="49" charset="-122"/>
                <a:ea typeface="楷体" panose="02010609060101010101" pitchFamily="49" charset="-122"/>
              </a:rPr>
              <a:t>CPU</a:t>
            </a:r>
            <a:r>
              <a:rPr lang="zh-CN" altLang="en-US" sz="2400" dirty="0">
                <a:solidFill>
                  <a:srgbClr val="FF0000"/>
                </a:solidFill>
                <a:latin typeface="楷体" panose="02010609060101010101" pitchFamily="49" charset="-122"/>
                <a:ea typeface="楷体" panose="02010609060101010101" pitchFamily="49" charset="-122"/>
              </a:rPr>
              <a:t>与慢速的外设之间的矛盾</a:t>
            </a:r>
            <a:r>
              <a:rPr lang="zh-CN" altLang="en-US" sz="2400" dirty="0">
                <a:latin typeface="楷体" panose="02010609060101010101" pitchFamily="49" charset="-122"/>
                <a:ea typeface="楷体" panose="02010609060101010101" pitchFamily="49" charset="-122"/>
              </a:rPr>
              <a:t>，这也是计算机在</a:t>
            </a:r>
            <a:r>
              <a:rPr lang="zh-CN" altLang="en-US" sz="2400" dirty="0" smtClean="0">
                <a:latin typeface="楷体" panose="02010609060101010101" pitchFamily="49" charset="-122"/>
                <a:ea typeface="楷体" panose="02010609060101010101" pitchFamily="49" charset="-122"/>
              </a:rPr>
              <a:t>发展</a:t>
            </a:r>
            <a:r>
              <a:rPr lang="zh-CN" altLang="en-US" sz="2400" dirty="0">
                <a:latin typeface="楷体" panose="02010609060101010101" pitchFamily="49" charset="-122"/>
                <a:ea typeface="楷体" panose="02010609060101010101" pitchFamily="49" charset="-122"/>
              </a:rPr>
              <a:t>过程中遇到的严重问题之一。</a:t>
            </a:r>
          </a:p>
        </p:txBody>
      </p:sp>
      <p:sp>
        <p:nvSpPr>
          <p:cNvPr id="4" name="矩形 3"/>
          <p:cNvSpPr/>
          <p:nvPr/>
        </p:nvSpPr>
        <p:spPr>
          <a:xfrm>
            <a:off x="558453" y="4693909"/>
            <a:ext cx="8221563" cy="1126462"/>
          </a:xfrm>
          <a:prstGeom prst="rect">
            <a:avLst/>
          </a:prstGeom>
        </p:spPr>
        <p:txBody>
          <a:bodyPr wrap="square">
            <a:spAutoFit/>
          </a:bodyPr>
          <a:lstStyle/>
          <a:p>
            <a:pPr>
              <a:lnSpc>
                <a:spcPct val="140000"/>
              </a:lnSpc>
              <a:buClr>
                <a:srgbClr val="0BD0D9"/>
              </a:buClr>
              <a:buSzPct val="95000"/>
            </a:pPr>
            <a:r>
              <a:rPr lang="zh-CN" altLang="en-US" sz="2400" dirty="0" smtClean="0">
                <a:latin typeface="楷体" panose="02010609060101010101" pitchFamily="49" charset="-122"/>
                <a:ea typeface="楷体" panose="02010609060101010101" pitchFamily="49" charset="-122"/>
              </a:rPr>
              <a:t>    为</a:t>
            </a:r>
            <a:r>
              <a:rPr lang="zh-CN" altLang="en-US" sz="2400" dirty="0">
                <a:latin typeface="楷体" panose="02010609060101010101" pitchFamily="49" charset="-122"/>
                <a:ea typeface="楷体" panose="02010609060101010101" pitchFamily="49" charset="-122"/>
              </a:rPr>
              <a:t>解决这个问题</a:t>
            </a:r>
            <a:r>
              <a:rPr lang="en-US" altLang="zh-CN"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一方面要</a:t>
            </a:r>
            <a:r>
              <a:rPr lang="zh-CN" altLang="en-US" sz="2400" dirty="0">
                <a:latin typeface="楷体" panose="02010609060101010101" pitchFamily="49" charset="-122"/>
                <a:ea typeface="楷体" panose="02010609060101010101" pitchFamily="49" charset="-122"/>
              </a:rPr>
              <a:t>提高外设的工作</a:t>
            </a:r>
            <a:r>
              <a:rPr lang="zh-CN" altLang="en-US" sz="2400" dirty="0" smtClean="0">
                <a:latin typeface="楷体" panose="02010609060101010101" pitchFamily="49" charset="-122"/>
                <a:ea typeface="楷体" panose="02010609060101010101" pitchFamily="49" charset="-122"/>
              </a:rPr>
              <a:t>速度；另一方面</a:t>
            </a:r>
            <a:r>
              <a:rPr lang="zh-CN" altLang="en-US" sz="2400" dirty="0">
                <a:latin typeface="楷体" panose="02010609060101010101" pitchFamily="49" charset="-122"/>
                <a:ea typeface="楷体" panose="02010609060101010101" pitchFamily="49" charset="-122"/>
              </a:rPr>
              <a:t>引入了</a:t>
            </a:r>
            <a:r>
              <a:rPr lang="zh-CN" altLang="en-US" sz="2400" dirty="0">
                <a:solidFill>
                  <a:srgbClr val="FF0000"/>
                </a:solidFill>
                <a:latin typeface="楷体" panose="02010609060101010101" pitchFamily="49" charset="-122"/>
                <a:ea typeface="楷体" panose="02010609060101010101" pitchFamily="49" charset="-122"/>
              </a:rPr>
              <a:t>中断</a:t>
            </a:r>
            <a:r>
              <a:rPr lang="zh-CN" altLang="en-US" sz="24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108759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10.1.1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中断的概念</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679979" y="1603833"/>
            <a:ext cx="7940237" cy="1865126"/>
          </a:xfrm>
          <a:prstGeom prst="rect">
            <a:avLst/>
          </a:prstGeom>
        </p:spPr>
        <p:txBody>
          <a:bodyPr wrap="square">
            <a:spAutoFit/>
          </a:bodyPr>
          <a:lstStyle/>
          <a:p>
            <a:pPr>
              <a:lnSpc>
                <a:spcPct val="120000"/>
              </a:lnSpc>
              <a:buClr>
                <a:srgbClr val="0BD0D9"/>
              </a:buClr>
              <a:buSzPct val="95000"/>
            </a:pPr>
            <a:r>
              <a:rPr lang="zh-CN" altLang="en-US" sz="2400" dirty="0" smtClean="0">
                <a:latin typeface="楷体" panose="02010609060101010101" pitchFamily="49" charset="-122"/>
                <a:ea typeface="楷体" panose="02010609060101010101" pitchFamily="49" charset="-122"/>
              </a:rPr>
              <a:t>    所谓</a:t>
            </a:r>
            <a:r>
              <a:rPr lang="zh-CN" altLang="en-US" sz="2400" dirty="0" smtClean="0">
                <a:solidFill>
                  <a:srgbClr val="FF0000"/>
                </a:solidFill>
                <a:latin typeface="楷体" panose="02010609060101010101" pitchFamily="49" charset="-122"/>
                <a:ea typeface="楷体" panose="02010609060101010101" pitchFamily="49" charset="-122"/>
              </a:rPr>
              <a:t>中断</a:t>
            </a:r>
            <a:r>
              <a:rPr lang="zh-CN" altLang="en-US" sz="2400" dirty="0" smtClean="0">
                <a:latin typeface="楷体" panose="02010609060101010101" pitchFamily="49" charset="-122"/>
                <a:ea typeface="楷体" panose="02010609060101010101" pitchFamily="49" charset="-122"/>
              </a:rPr>
              <a:t>，是指计算机在正常运执行的过程中，由于种种原因，使</a:t>
            </a:r>
            <a:r>
              <a:rPr lang="en-US" altLang="zh-CN" sz="2400" dirty="0" smtClean="0">
                <a:latin typeface="楷体" panose="02010609060101010101" pitchFamily="49" charset="-122"/>
                <a:ea typeface="楷体" panose="02010609060101010101" pitchFamily="49" charset="-122"/>
              </a:rPr>
              <a:t>CPU</a:t>
            </a:r>
            <a:r>
              <a:rPr lang="zh-CN" altLang="en-US" sz="2400" dirty="0" smtClean="0">
                <a:latin typeface="楷体" panose="02010609060101010101" pitchFamily="49" charset="-122"/>
                <a:ea typeface="楷体" panose="02010609060101010101" pitchFamily="49" charset="-122"/>
              </a:rPr>
              <a:t>暂时停止当前程序的执行</a:t>
            </a:r>
            <a:r>
              <a:rPr lang="en-US" altLang="zh-CN" sz="2400" dirty="0" smtClean="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而转去处理临时发生的事件，处理完毕后，再返回去继续执行暂停的程序。</a:t>
            </a:r>
            <a:endParaRPr lang="zh-CN" altLang="en-US" sz="2400" dirty="0">
              <a:latin typeface="楷体" panose="02010609060101010101" pitchFamily="49" charset="-122"/>
              <a:ea typeface="楷体" panose="02010609060101010101" pitchFamily="49" charset="-122"/>
            </a:endParaRPr>
          </a:p>
        </p:txBody>
      </p:sp>
      <p:sp>
        <p:nvSpPr>
          <p:cNvPr id="4" name="矩形 3"/>
          <p:cNvSpPr/>
          <p:nvPr/>
        </p:nvSpPr>
        <p:spPr>
          <a:xfrm>
            <a:off x="679978" y="3687217"/>
            <a:ext cx="7940237" cy="1126462"/>
          </a:xfrm>
          <a:prstGeom prst="rect">
            <a:avLst/>
          </a:prstGeom>
        </p:spPr>
        <p:txBody>
          <a:bodyPr wrap="square">
            <a:spAutoFit/>
          </a:bodyPr>
          <a:lstStyle/>
          <a:p>
            <a:pPr>
              <a:lnSpc>
                <a:spcPct val="140000"/>
              </a:lnSpc>
              <a:buClr>
                <a:srgbClr val="0BD0D9"/>
              </a:buClr>
              <a:buSzPct val="95000"/>
            </a:pPr>
            <a:r>
              <a:rPr lang="zh-CN" altLang="en-US" sz="2400" dirty="0" smtClean="0">
                <a:latin typeface="楷体" panose="02010609060101010101" pitchFamily="49" charset="-122"/>
                <a:ea typeface="楷体" panose="02010609060101010101" pitchFamily="49" charset="-122"/>
              </a:rPr>
              <a:t>    为了</a:t>
            </a:r>
            <a:r>
              <a:rPr lang="zh-CN" altLang="en-US" sz="2400" dirty="0">
                <a:latin typeface="楷体" panose="02010609060101010101" pitchFamily="49" charset="-122"/>
                <a:ea typeface="楷体" panose="02010609060101010101" pitchFamily="49" charset="-122"/>
              </a:rPr>
              <a:t>实现中断功能而设置的各种硬件和软件，统称</a:t>
            </a:r>
            <a:r>
              <a:rPr lang="zh-CN" altLang="en-US" sz="2400" dirty="0" smtClean="0">
                <a:latin typeface="楷体" panose="02010609060101010101" pitchFamily="49" charset="-122"/>
                <a:ea typeface="楷体" panose="02010609060101010101" pitchFamily="49" charset="-122"/>
              </a:rPr>
              <a:t>为</a:t>
            </a:r>
            <a:r>
              <a:rPr lang="zh-CN" altLang="en-US" sz="2400" dirty="0" smtClean="0">
                <a:solidFill>
                  <a:srgbClr val="FF0000"/>
                </a:solidFill>
                <a:latin typeface="楷体" panose="02010609060101010101" pitchFamily="49" charset="-122"/>
                <a:ea typeface="楷体" panose="02010609060101010101" pitchFamily="49" charset="-122"/>
              </a:rPr>
              <a:t>中断系统</a:t>
            </a:r>
            <a:r>
              <a:rPr lang="zh-CN" altLang="en-US" sz="2400" dirty="0">
                <a:latin typeface="楷体" panose="02010609060101010101" pitchFamily="49" charset="-122"/>
                <a:ea typeface="楷体" panose="02010609060101010101" pitchFamily="49" charset="-122"/>
              </a:rPr>
              <a:t>。</a:t>
            </a:r>
          </a:p>
        </p:txBody>
      </p:sp>
      <p:sp>
        <p:nvSpPr>
          <p:cNvPr id="5" name="矩形 4"/>
          <p:cNvSpPr/>
          <p:nvPr/>
        </p:nvSpPr>
        <p:spPr>
          <a:xfrm>
            <a:off x="751001" y="5031937"/>
            <a:ext cx="7940237" cy="978729"/>
          </a:xfrm>
          <a:prstGeom prst="rect">
            <a:avLst/>
          </a:prstGeom>
        </p:spPr>
        <p:txBody>
          <a:bodyPr wrap="square">
            <a:spAutoFit/>
          </a:bodyPr>
          <a:lstStyle/>
          <a:p>
            <a:pPr>
              <a:lnSpc>
                <a:spcPct val="120000"/>
              </a:lnSpc>
              <a:buClr>
                <a:srgbClr val="0BD0D9"/>
              </a:buClr>
              <a:buSzPct val="95000"/>
            </a:pPr>
            <a:r>
              <a:rPr lang="zh-CN" altLang="en-US" sz="2400" dirty="0" smtClean="0">
                <a:solidFill>
                  <a:srgbClr val="3333FF"/>
                </a:solidFill>
                <a:latin typeface="楷体" panose="02010609060101010101" pitchFamily="49" charset="-122"/>
                <a:ea typeface="楷体" panose="02010609060101010101" pitchFamily="49" charset="-122"/>
              </a:rPr>
              <a:t>    使用</a:t>
            </a:r>
            <a:r>
              <a:rPr lang="zh-CN" altLang="en-US" sz="2400" dirty="0">
                <a:solidFill>
                  <a:srgbClr val="3333FF"/>
                </a:solidFill>
                <a:latin typeface="楷体" panose="02010609060101010101" pitchFamily="49" charset="-122"/>
                <a:ea typeface="楷体" panose="02010609060101010101" pitchFamily="49" charset="-122"/>
              </a:rPr>
              <a:t>中断技术，使得外部设备与</a:t>
            </a:r>
            <a:r>
              <a:rPr lang="en-US" altLang="zh-CN" sz="2400" dirty="0">
                <a:solidFill>
                  <a:srgbClr val="3333FF"/>
                </a:solidFill>
                <a:latin typeface="楷体" panose="02010609060101010101" pitchFamily="49" charset="-122"/>
                <a:ea typeface="楷体" panose="02010609060101010101" pitchFamily="49" charset="-122"/>
              </a:rPr>
              <a:t>CPU</a:t>
            </a:r>
            <a:r>
              <a:rPr lang="zh-CN" altLang="en-US" sz="2400" dirty="0">
                <a:solidFill>
                  <a:srgbClr val="3333FF"/>
                </a:solidFill>
                <a:latin typeface="楷体" panose="02010609060101010101" pitchFamily="49" charset="-122"/>
                <a:ea typeface="楷体" panose="02010609060101010101" pitchFamily="49" charset="-122"/>
              </a:rPr>
              <a:t>不再是串行工作</a:t>
            </a:r>
            <a:r>
              <a:rPr lang="zh-CN" altLang="en-US" sz="2400" dirty="0" smtClean="0">
                <a:solidFill>
                  <a:srgbClr val="3333FF"/>
                </a:solidFill>
                <a:latin typeface="楷体" panose="02010609060101010101" pitchFamily="49" charset="-122"/>
                <a:ea typeface="楷体" panose="02010609060101010101" pitchFamily="49" charset="-122"/>
              </a:rPr>
              <a:t>，而是</a:t>
            </a:r>
            <a:r>
              <a:rPr lang="zh-CN" altLang="en-US" sz="2400" dirty="0">
                <a:solidFill>
                  <a:srgbClr val="3333FF"/>
                </a:solidFill>
                <a:latin typeface="楷体" panose="02010609060101010101" pitchFamily="49" charset="-122"/>
                <a:ea typeface="楷体" panose="02010609060101010101" pitchFamily="49" charset="-122"/>
              </a:rPr>
              <a:t>分时操作，从而大大提高了计算机的效率。</a:t>
            </a:r>
            <a:r>
              <a:rPr lang="zh-CN" altLang="en-US" sz="24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82954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10.1.2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常见中断源</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2064057" y="1797451"/>
            <a:ext cx="48526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(1</a:t>
            </a: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一般</a:t>
            </a:r>
            <a:r>
              <a:rPr lang="zh-CN" altLang="en-US" sz="2800" dirty="0">
                <a:latin typeface="楷体" panose="02010609060101010101" pitchFamily="49" charset="-122"/>
                <a:ea typeface="楷体" panose="02010609060101010101" pitchFamily="49" charset="-122"/>
              </a:rPr>
              <a:t>的输入、输出设备</a:t>
            </a:r>
            <a:r>
              <a:rPr lang="zh-CN" altLang="en-US" sz="2800" dirty="0" smtClean="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p:txBody>
      </p:sp>
      <p:sp>
        <p:nvSpPr>
          <p:cNvPr id="4" name="Text Box 4"/>
          <p:cNvSpPr txBox="1">
            <a:spLocks noChangeArrowheads="1"/>
          </p:cNvSpPr>
          <p:nvPr/>
        </p:nvSpPr>
        <p:spPr bwMode="auto">
          <a:xfrm>
            <a:off x="2070407" y="2654701"/>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(2) </a:t>
            </a:r>
            <a:r>
              <a:rPr lang="zh-CN" altLang="en-US" sz="2800" dirty="0">
                <a:latin typeface="楷体" panose="02010609060101010101" pitchFamily="49" charset="-122"/>
                <a:ea typeface="楷体" panose="02010609060101010101" pitchFamily="49" charset="-122"/>
              </a:rPr>
              <a:t>数据通道中断源</a:t>
            </a:r>
            <a:r>
              <a:rPr lang="zh-CN" altLang="en-US" sz="2800" dirty="0" smtClean="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p:txBody>
      </p:sp>
      <p:sp>
        <p:nvSpPr>
          <p:cNvPr id="5" name="Text Box 5"/>
          <p:cNvSpPr txBox="1">
            <a:spLocks noChangeArrowheads="1"/>
          </p:cNvSpPr>
          <p:nvPr/>
        </p:nvSpPr>
        <p:spPr bwMode="auto">
          <a:xfrm>
            <a:off x="2070407" y="3504014"/>
            <a:ext cx="2877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(3) </a:t>
            </a:r>
            <a:r>
              <a:rPr lang="zh-CN" altLang="en-US" sz="2800" dirty="0">
                <a:latin typeface="楷体" panose="02010609060101010101" pitchFamily="49" charset="-122"/>
                <a:ea typeface="楷体" panose="02010609060101010101" pitchFamily="49" charset="-122"/>
              </a:rPr>
              <a:t>定时时钟。 </a:t>
            </a:r>
          </a:p>
        </p:txBody>
      </p:sp>
      <p:sp>
        <p:nvSpPr>
          <p:cNvPr id="6" name="Text Box 6"/>
          <p:cNvSpPr txBox="1">
            <a:spLocks noChangeArrowheads="1"/>
          </p:cNvSpPr>
          <p:nvPr/>
        </p:nvSpPr>
        <p:spPr bwMode="auto">
          <a:xfrm>
            <a:off x="2073582" y="4348564"/>
            <a:ext cx="25186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(4) </a:t>
            </a:r>
            <a:r>
              <a:rPr lang="zh-CN" altLang="en-US" sz="2800" dirty="0">
                <a:latin typeface="楷体" panose="02010609060101010101" pitchFamily="49" charset="-122"/>
                <a:ea typeface="楷体" panose="02010609060101010101" pitchFamily="49" charset="-122"/>
              </a:rPr>
              <a:t>故障源。 </a:t>
            </a:r>
          </a:p>
        </p:txBody>
      </p:sp>
      <p:sp>
        <p:nvSpPr>
          <p:cNvPr id="7" name="Text Box 7"/>
          <p:cNvSpPr txBox="1">
            <a:spLocks noChangeArrowheads="1"/>
          </p:cNvSpPr>
          <p:nvPr/>
        </p:nvSpPr>
        <p:spPr bwMode="auto">
          <a:xfrm>
            <a:off x="2070407" y="5204226"/>
            <a:ext cx="57502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(5) </a:t>
            </a:r>
            <a:r>
              <a:rPr lang="zh-CN" altLang="en-US" sz="2800" dirty="0">
                <a:latin typeface="楷体" panose="02010609060101010101" pitchFamily="49" charset="-122"/>
                <a:ea typeface="楷体" panose="02010609060101010101" pitchFamily="49" charset="-122"/>
              </a:rPr>
              <a:t>为调试程序而设置的中断源。 </a:t>
            </a:r>
          </a:p>
        </p:txBody>
      </p:sp>
    </p:spTree>
    <p:extLst>
      <p:ext uri="{BB962C8B-B14F-4D97-AF65-F5344CB8AC3E}">
        <p14:creationId xmlns:p14="http://schemas.microsoft.com/office/powerpoint/2010/main" val="8225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10.1.3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中断系统的功能</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4"/>
          <p:cNvSpPr txBox="1">
            <a:spLocks noChangeArrowheads="1"/>
          </p:cNvSpPr>
          <p:nvPr/>
        </p:nvSpPr>
        <p:spPr bwMode="auto">
          <a:xfrm>
            <a:off x="446842" y="1574256"/>
            <a:ext cx="48627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zh-CN" altLang="en-US" sz="2400" dirty="0" smtClean="0">
                <a:solidFill>
                  <a:srgbClr val="3333FF"/>
                </a:solidFill>
                <a:latin typeface="楷体" panose="02010609060101010101" pitchFamily="49" charset="-122"/>
                <a:ea typeface="楷体" panose="02010609060101010101" pitchFamily="49" charset="-122"/>
              </a:rPr>
              <a:t>（</a:t>
            </a:r>
            <a:r>
              <a:rPr lang="en-US" altLang="zh-CN" sz="2400" dirty="0" smtClean="0">
                <a:solidFill>
                  <a:srgbClr val="3333FF"/>
                </a:solidFill>
                <a:latin typeface="楷体" panose="02010609060101010101" pitchFamily="49" charset="-122"/>
                <a:ea typeface="楷体" panose="02010609060101010101" pitchFamily="49" charset="-122"/>
              </a:rPr>
              <a:t>1</a:t>
            </a:r>
            <a:r>
              <a:rPr lang="zh-CN" altLang="en-US" sz="2400" dirty="0" smtClean="0">
                <a:solidFill>
                  <a:srgbClr val="3333FF"/>
                </a:solidFill>
                <a:latin typeface="楷体" panose="02010609060101010101" pitchFamily="49" charset="-122"/>
                <a:ea typeface="楷体" panose="02010609060101010101" pitchFamily="49" charset="-122"/>
              </a:rPr>
              <a:t>）实现</a:t>
            </a:r>
            <a:r>
              <a:rPr lang="zh-CN" altLang="en-US" sz="2400" dirty="0">
                <a:solidFill>
                  <a:srgbClr val="3333FF"/>
                </a:solidFill>
                <a:latin typeface="楷体" panose="02010609060101010101" pitchFamily="49" charset="-122"/>
                <a:ea typeface="楷体" panose="02010609060101010101" pitchFamily="49" charset="-122"/>
              </a:rPr>
              <a:t>中断及返回。 </a:t>
            </a:r>
          </a:p>
        </p:txBody>
      </p:sp>
      <p:sp>
        <p:nvSpPr>
          <p:cNvPr id="4" name="Text Box 5"/>
          <p:cNvSpPr txBox="1">
            <a:spLocks noChangeArrowheads="1"/>
          </p:cNvSpPr>
          <p:nvPr/>
        </p:nvSpPr>
        <p:spPr bwMode="auto">
          <a:xfrm>
            <a:off x="446842" y="2146931"/>
            <a:ext cx="8528482" cy="3730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  当</a:t>
            </a:r>
            <a:r>
              <a:rPr lang="zh-CN" altLang="en-US" sz="2400" dirty="0">
                <a:latin typeface="楷体" panose="02010609060101010101" pitchFamily="49" charset="-122"/>
                <a:ea typeface="楷体" panose="02010609060101010101" pitchFamily="49" charset="-122"/>
              </a:rPr>
              <a:t>某一中断源发出中断申请时，</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能决定是否响应这个中断请求。</a:t>
            </a:r>
          </a:p>
          <a:p>
            <a:pPr eaLnBrk="1" hangingPunct="1">
              <a:lnSpc>
                <a:spcPct val="10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  当</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在执行更紧急、更重要的工作时，可以暂不响应中断；若允许响应这个中断请求，</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必须在现行的指令执行完后，把断点处的</a:t>
            </a:r>
            <a:r>
              <a:rPr lang="en-US" altLang="zh-CN" sz="2400" dirty="0">
                <a:latin typeface="楷体" panose="02010609060101010101" pitchFamily="49" charset="-122"/>
                <a:ea typeface="楷体" panose="02010609060101010101" pitchFamily="49" charset="-122"/>
              </a:rPr>
              <a:t>IP</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CS</a:t>
            </a:r>
            <a:r>
              <a:rPr lang="zh-CN" altLang="en-US" sz="2400" dirty="0">
                <a:latin typeface="楷体" panose="02010609060101010101" pitchFamily="49" charset="-122"/>
                <a:ea typeface="楷体" panose="02010609060101010101" pitchFamily="49" charset="-122"/>
              </a:rPr>
              <a:t>值</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即下一条应执行的指令的地址</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，各个寄存器的内容和标志位的状态，推入堆栈保留下来，称</a:t>
            </a:r>
            <a:r>
              <a:rPr lang="zh-CN" altLang="en-US" sz="2400" dirty="0">
                <a:solidFill>
                  <a:srgbClr val="FF0000"/>
                </a:solidFill>
                <a:latin typeface="楷体" panose="02010609060101010101" pitchFamily="49" charset="-122"/>
                <a:ea typeface="楷体" panose="02010609060101010101" pitchFamily="49" charset="-122"/>
              </a:rPr>
              <a:t>保护断点和现场</a:t>
            </a:r>
            <a:r>
              <a:rPr lang="zh-CN" altLang="en-US" sz="2400" dirty="0">
                <a:latin typeface="楷体" panose="02010609060101010101" pitchFamily="49" charset="-122"/>
                <a:ea typeface="楷体" panose="02010609060101010101" pitchFamily="49" charset="-122"/>
              </a:rPr>
              <a:t>。</a:t>
            </a:r>
          </a:p>
          <a:p>
            <a:pPr eaLnBrk="1" hangingPunct="1">
              <a:lnSpc>
                <a:spcPct val="10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  当</a:t>
            </a:r>
            <a:r>
              <a:rPr lang="zh-CN" altLang="en-US" sz="2400" dirty="0">
                <a:latin typeface="楷体" panose="02010609060101010101" pitchFamily="49" charset="-122"/>
                <a:ea typeface="楷体" panose="02010609060101010101" pitchFamily="49" charset="-122"/>
              </a:rPr>
              <a:t>中断处理完后</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再恢复被保留下来的各个寄存器和标志位的状态</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称为</a:t>
            </a:r>
            <a:r>
              <a:rPr lang="zh-CN" altLang="en-US" sz="2400" dirty="0">
                <a:solidFill>
                  <a:srgbClr val="FF0000"/>
                </a:solidFill>
                <a:latin typeface="楷体" panose="02010609060101010101" pitchFamily="49" charset="-122"/>
                <a:ea typeface="楷体" panose="02010609060101010101" pitchFamily="49" charset="-122"/>
              </a:rPr>
              <a:t>恢复现场</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85874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446842" y="1378947"/>
            <a:ext cx="48693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Clr>
                <a:srgbClr val="0BD0D9"/>
              </a:buClr>
              <a:buSzPct val="95000"/>
              <a:buNone/>
            </a:pPr>
            <a:r>
              <a:rPr lang="zh-CN" altLang="en-US" sz="2400" dirty="0" smtClean="0">
                <a:solidFill>
                  <a:srgbClr val="3333FF"/>
                </a:solidFill>
                <a:latin typeface="楷体" panose="02010609060101010101" pitchFamily="49" charset="-122"/>
                <a:ea typeface="楷体" panose="02010609060101010101" pitchFamily="49" charset="-122"/>
              </a:rPr>
              <a:t>（</a:t>
            </a:r>
            <a:r>
              <a:rPr lang="en-US" altLang="zh-CN" sz="2400" dirty="0">
                <a:solidFill>
                  <a:srgbClr val="3333FF"/>
                </a:solidFill>
                <a:latin typeface="楷体" panose="02010609060101010101" pitchFamily="49" charset="-122"/>
                <a:ea typeface="楷体" panose="02010609060101010101" pitchFamily="49" charset="-122"/>
              </a:rPr>
              <a:t>2</a:t>
            </a:r>
            <a:r>
              <a:rPr lang="zh-CN" altLang="en-US" sz="2400" dirty="0" smtClean="0">
                <a:solidFill>
                  <a:srgbClr val="3333FF"/>
                </a:solidFill>
                <a:latin typeface="楷体" panose="02010609060101010101" pitchFamily="49" charset="-122"/>
                <a:ea typeface="楷体" panose="02010609060101010101" pitchFamily="49" charset="-122"/>
              </a:rPr>
              <a:t>）</a:t>
            </a:r>
            <a:r>
              <a:rPr lang="zh-CN" altLang="en-US" sz="2400" dirty="0">
                <a:solidFill>
                  <a:srgbClr val="3333FF"/>
                </a:solidFill>
                <a:latin typeface="楷体" panose="02010609060101010101" pitchFamily="49" charset="-122"/>
                <a:ea typeface="楷体" panose="02010609060101010101" pitchFamily="49" charset="-122"/>
              </a:rPr>
              <a:t>实现优先权排队</a:t>
            </a:r>
            <a:r>
              <a:rPr lang="zh-CN" altLang="en-US" sz="2400" dirty="0" smtClean="0">
                <a:solidFill>
                  <a:srgbClr val="3333FF"/>
                </a:solidFill>
                <a:latin typeface="楷体" panose="02010609060101010101" pitchFamily="49" charset="-122"/>
                <a:ea typeface="楷体" panose="02010609060101010101" pitchFamily="49" charset="-122"/>
              </a:rPr>
              <a:t>。 </a:t>
            </a:r>
            <a:endParaRPr lang="zh-CN" altLang="en-US" sz="2400" dirty="0">
              <a:solidFill>
                <a:srgbClr val="3333FF"/>
              </a:solidFill>
              <a:latin typeface="楷体" panose="02010609060101010101" pitchFamily="49" charset="-122"/>
              <a:ea typeface="楷体" panose="02010609060101010101" pitchFamily="49" charset="-122"/>
            </a:endParaRPr>
          </a:p>
        </p:txBody>
      </p:sp>
      <p:sp>
        <p:nvSpPr>
          <p:cNvPr id="3" name="Text Box 3"/>
          <p:cNvSpPr txBox="1">
            <a:spLocks noChangeArrowheads="1"/>
          </p:cNvSpPr>
          <p:nvPr/>
        </p:nvSpPr>
        <p:spPr bwMode="auto">
          <a:xfrm>
            <a:off x="446842" y="2120297"/>
            <a:ext cx="8306541" cy="282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0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  通常</a:t>
            </a:r>
            <a:r>
              <a:rPr lang="zh-CN" altLang="en-US" sz="2400" dirty="0">
                <a:latin typeface="楷体" panose="02010609060101010101" pitchFamily="49" charset="-122"/>
                <a:ea typeface="楷体" panose="02010609060101010101" pitchFamily="49" charset="-122"/>
              </a:rPr>
              <a:t>，在系统中有多个中断源，会出现两个或多个中断源同时提出中断请求的情况，这样就必须要设计者事先</a:t>
            </a:r>
            <a:r>
              <a:rPr lang="zh-CN" altLang="en-US" sz="2400" dirty="0">
                <a:solidFill>
                  <a:srgbClr val="FF0000"/>
                </a:solidFill>
                <a:latin typeface="楷体" panose="02010609060101010101" pitchFamily="49" charset="-122"/>
                <a:ea typeface="楷体" panose="02010609060101010101" pitchFamily="49" charset="-122"/>
              </a:rPr>
              <a:t>根据轻重缓急给每个中断源确定一个中断级别</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即优先权</a:t>
            </a:r>
            <a:r>
              <a:rPr lang="zh-CN" altLang="en-US" sz="2400" dirty="0">
                <a:latin typeface="楷体" panose="02010609060101010101" pitchFamily="49" charset="-122"/>
                <a:ea typeface="楷体" panose="02010609060101010101" pitchFamily="49" charset="-122"/>
              </a:rPr>
              <a:t>。</a:t>
            </a:r>
          </a:p>
          <a:p>
            <a:pPr eaLnBrk="1" hangingPunct="1">
              <a:lnSpc>
                <a:spcPct val="120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  当</a:t>
            </a:r>
            <a:r>
              <a:rPr lang="zh-CN" altLang="en-US" sz="2400" dirty="0">
                <a:latin typeface="楷体" panose="02010609060101010101" pitchFamily="49" charset="-122"/>
                <a:ea typeface="楷体" panose="02010609060101010101" pitchFamily="49" charset="-122"/>
              </a:rPr>
              <a:t>多个中断源同时发出中断申请时</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能找到优先权级别最高的中断源，响应它的中断请求；在优先权级别高的中断源处理完了以后，再响应级别较低的中断源。 </a:t>
            </a:r>
          </a:p>
        </p:txBody>
      </p:sp>
    </p:spTree>
    <p:extLst>
      <p:ext uri="{BB962C8B-B14F-4D97-AF65-F5344CB8AC3E}">
        <p14:creationId xmlns:p14="http://schemas.microsoft.com/office/powerpoint/2010/main" val="420080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35619" y="1414458"/>
            <a:ext cx="78723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Clr>
                <a:srgbClr val="0BD0D9"/>
              </a:buClr>
              <a:buSzPct val="95000"/>
              <a:buNone/>
            </a:pPr>
            <a:r>
              <a:rPr lang="zh-CN" altLang="en-US" sz="2400" dirty="0" smtClean="0">
                <a:solidFill>
                  <a:srgbClr val="3333FF"/>
                </a:solidFill>
                <a:latin typeface="楷体" panose="02010609060101010101" pitchFamily="49" charset="-122"/>
                <a:ea typeface="楷体" panose="02010609060101010101" pitchFamily="49" charset="-122"/>
              </a:rPr>
              <a:t>（</a:t>
            </a:r>
            <a:r>
              <a:rPr lang="en-US" altLang="zh-CN" sz="2400" dirty="0" smtClean="0">
                <a:solidFill>
                  <a:srgbClr val="3333FF"/>
                </a:solidFill>
                <a:latin typeface="楷体" panose="02010609060101010101" pitchFamily="49" charset="-122"/>
                <a:ea typeface="楷体" panose="02010609060101010101" pitchFamily="49" charset="-122"/>
              </a:rPr>
              <a:t>3</a:t>
            </a:r>
            <a:r>
              <a:rPr lang="zh-CN" altLang="en-US" sz="2400" dirty="0" smtClean="0">
                <a:solidFill>
                  <a:srgbClr val="3333FF"/>
                </a:solidFill>
                <a:latin typeface="楷体" panose="02010609060101010101" pitchFamily="49" charset="-122"/>
                <a:ea typeface="楷体" panose="02010609060101010101" pitchFamily="49" charset="-122"/>
              </a:rPr>
              <a:t>）</a:t>
            </a:r>
            <a:r>
              <a:rPr lang="zh-CN" altLang="en-US" sz="2400" dirty="0">
                <a:solidFill>
                  <a:srgbClr val="3333FF"/>
                </a:solidFill>
                <a:latin typeface="楷体" panose="02010609060101010101" pitchFamily="49" charset="-122"/>
                <a:ea typeface="楷体" panose="02010609060101010101" pitchFamily="49" charset="-122"/>
              </a:rPr>
              <a:t>高级中断源能中断低级的</a:t>
            </a:r>
            <a:r>
              <a:rPr lang="zh-CN" altLang="en-US" sz="2400" dirty="0" smtClean="0">
                <a:solidFill>
                  <a:srgbClr val="3333FF"/>
                </a:solidFill>
                <a:latin typeface="楷体" panose="02010609060101010101" pitchFamily="49" charset="-122"/>
                <a:ea typeface="楷体" panose="02010609060101010101" pitchFamily="49" charset="-122"/>
              </a:rPr>
              <a:t>中断处理，即中断嵌套。 </a:t>
            </a:r>
            <a:endParaRPr lang="zh-CN" altLang="en-US" sz="2400" dirty="0">
              <a:solidFill>
                <a:srgbClr val="3333FF"/>
              </a:solidFill>
              <a:latin typeface="楷体" panose="02010609060101010101" pitchFamily="49" charset="-122"/>
              <a:ea typeface="楷体" panose="02010609060101010101" pitchFamily="49" charset="-122"/>
            </a:endParaRPr>
          </a:p>
        </p:txBody>
      </p:sp>
      <p:sp>
        <p:nvSpPr>
          <p:cNvPr id="3" name="Text Box 3"/>
          <p:cNvSpPr txBox="1">
            <a:spLocks noChangeArrowheads="1"/>
          </p:cNvSpPr>
          <p:nvPr/>
        </p:nvSpPr>
        <p:spPr bwMode="auto">
          <a:xfrm>
            <a:off x="535619" y="2086793"/>
            <a:ext cx="8359806" cy="3941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当</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响应某一中断请求，在进行中断处理时若有优</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先权级别更高的中断源发出中断申请，则</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要能中断正</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在进行的中断服务程序，保留这个程序的断点和现场</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类</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似于子程序嵌套</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，响应高级中断，在高级中断处理完以</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后，再继续执行被中断的中断服务程序。</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而当发出新的中断申请的中断源的优先级别与正在处</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理的中断源同级或更低时，</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就先不响应这个中断申请</a:t>
            </a:r>
            <a:r>
              <a:rPr lang="en-US" altLang="zh-CN" sz="2400" dirty="0">
                <a:latin typeface="楷体" panose="02010609060101010101" pitchFamily="49" charset="-122"/>
                <a:ea typeface="楷体" panose="02010609060101010101" pitchFamily="49" charset="-122"/>
              </a:rPr>
              <a:t>,</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直至正在处理的中断服务程序执行完以后才去响应这个新</a:t>
            </a:r>
          </a:p>
          <a:p>
            <a:pPr eaLnBrk="1" hangingPunct="1">
              <a:lnSpc>
                <a:spcPct val="9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的中断申请。 </a:t>
            </a:r>
          </a:p>
        </p:txBody>
      </p:sp>
    </p:spTree>
    <p:extLst>
      <p:ext uri="{BB962C8B-B14F-4D97-AF65-F5344CB8AC3E}">
        <p14:creationId xmlns:p14="http://schemas.microsoft.com/office/powerpoint/2010/main" val="270417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Clr>
                <a:schemeClr val="tx2"/>
              </a:buClr>
              <a:buNone/>
            </a:pPr>
            <a:r>
              <a:rPr lang="en-US" altLang="zh-CN" sz="2000"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10.1.4 </a:t>
            </a:r>
            <a:r>
              <a:rPr lang="en-US" altLang="zh-CN" sz="2000" dirty="0">
                <a:latin typeface="楷体" panose="02010609060101010101" pitchFamily="49" charset="-122"/>
                <a:ea typeface="楷体" panose="02010609060101010101" pitchFamily="49" charset="-122"/>
                <a:cs typeface="Times New Roman" panose="02020603050405020304" pitchFamily="18" charset="0"/>
              </a:rPr>
              <a:t>CPU</a:t>
            </a:r>
            <a:r>
              <a:rPr lang="zh-CN" altLang="en-US" sz="2000" dirty="0">
                <a:latin typeface="楷体" panose="02010609060101010101" pitchFamily="49" charset="-122"/>
                <a:ea typeface="楷体" panose="02010609060101010101" pitchFamily="49" charset="-122"/>
                <a:cs typeface="Times New Roman" panose="02020603050405020304" pitchFamily="18" charset="0"/>
              </a:rPr>
              <a:t>对外部可屏蔽中断的响应及中断过程</a:t>
            </a:r>
            <a:endParaRPr lang="zh-CN" altLang="en-US" sz="2000"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429086" y="1381775"/>
            <a:ext cx="8226642" cy="1405193"/>
          </a:xfrm>
          <a:prstGeom prst="rect">
            <a:avLst/>
          </a:prstGeom>
        </p:spPr>
        <p:txBody>
          <a:bodyPr wrap="square">
            <a:spAutoFit/>
          </a:bodyPr>
          <a:lstStyle/>
          <a:p>
            <a:pPr>
              <a:lnSpc>
                <a:spcPct val="150000"/>
              </a:lnSpc>
              <a:buClr>
                <a:srgbClr val="0BD0D9"/>
              </a:buClr>
              <a:buSzPct val="95000"/>
            </a:pPr>
            <a:r>
              <a:rPr lang="en-US" altLang="zh-CN" sz="2000" dirty="0" smtClean="0">
                <a:latin typeface="楷体" panose="02010609060101010101" pitchFamily="49" charset="-122"/>
                <a:ea typeface="楷体" panose="02010609060101010101" pitchFamily="49" charset="-122"/>
              </a:rPr>
              <a:t>    CPU</a:t>
            </a:r>
            <a:r>
              <a:rPr lang="zh-CN" altLang="en-US" sz="2000" dirty="0">
                <a:latin typeface="楷体" panose="02010609060101010101" pitchFamily="49" charset="-122"/>
                <a:ea typeface="楷体" panose="02010609060101010101" pitchFamily="49" charset="-122"/>
              </a:rPr>
              <a:t>在现行指令结束后响应中断，即运行到最后一</a:t>
            </a:r>
            <a:r>
              <a:rPr lang="zh-CN" altLang="en-US" sz="2000" dirty="0" smtClean="0">
                <a:latin typeface="楷体" panose="02010609060101010101" pitchFamily="49" charset="-122"/>
                <a:ea typeface="楷体" panose="02010609060101010101" pitchFamily="49" charset="-122"/>
              </a:rPr>
              <a:t>个机器</a:t>
            </a:r>
            <a:r>
              <a:rPr lang="zh-CN" altLang="en-US" sz="2000" dirty="0">
                <a:latin typeface="楷体" panose="02010609060101010101" pitchFamily="49" charset="-122"/>
                <a:ea typeface="楷体" panose="02010609060101010101" pitchFamily="49" charset="-122"/>
              </a:rPr>
              <a:t>周期的最后一个</a:t>
            </a:r>
            <a:r>
              <a:rPr lang="en-US" altLang="zh-CN" sz="2000" dirty="0">
                <a:latin typeface="楷体" panose="02010609060101010101" pitchFamily="49" charset="-122"/>
                <a:ea typeface="楷体" panose="02010609060101010101" pitchFamily="49" charset="-122"/>
              </a:rPr>
              <a:t>T</a:t>
            </a:r>
            <a:r>
              <a:rPr lang="zh-CN" altLang="en-US" sz="2000" dirty="0">
                <a:latin typeface="楷体" panose="02010609060101010101" pitchFamily="49" charset="-122"/>
                <a:ea typeface="楷体" panose="02010609060101010101" pitchFamily="49" charset="-122"/>
              </a:rPr>
              <a:t>状态时</a:t>
            </a:r>
            <a:r>
              <a:rPr lang="en-US" altLang="zh-CN" sz="2000" dirty="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CPU</a:t>
            </a:r>
            <a:r>
              <a:rPr lang="zh-CN" altLang="en-US" sz="2000" dirty="0" smtClean="0">
                <a:latin typeface="楷体" panose="02010609060101010101" pitchFamily="49" charset="-122"/>
                <a:ea typeface="楷体" panose="02010609060101010101" pitchFamily="49" charset="-122"/>
              </a:rPr>
              <a:t>检测</a:t>
            </a:r>
            <a:r>
              <a:rPr lang="en-US" altLang="zh-CN" sz="2000" dirty="0">
                <a:latin typeface="楷体" panose="02010609060101010101" pitchFamily="49" charset="-122"/>
                <a:ea typeface="楷体" panose="02010609060101010101" pitchFamily="49" charset="-122"/>
              </a:rPr>
              <a:t>INTR</a:t>
            </a:r>
            <a:r>
              <a:rPr lang="zh-CN" altLang="en-US" sz="2000" dirty="0">
                <a:latin typeface="楷体" panose="02010609060101010101" pitchFamily="49" charset="-122"/>
                <a:ea typeface="楷体" panose="02010609060101010101" pitchFamily="49" charset="-122"/>
              </a:rPr>
              <a:t>线。若</a:t>
            </a:r>
            <a:r>
              <a:rPr lang="zh-CN" altLang="en-US" sz="2000" dirty="0" smtClean="0">
                <a:latin typeface="楷体" panose="02010609060101010101" pitchFamily="49" charset="-122"/>
                <a:ea typeface="楷体" panose="02010609060101010101" pitchFamily="49" charset="-122"/>
              </a:rPr>
              <a:t>发现有</a:t>
            </a:r>
            <a:r>
              <a:rPr lang="zh-CN" altLang="en-US" sz="2000" dirty="0">
                <a:latin typeface="楷体" panose="02010609060101010101" pitchFamily="49" charset="-122"/>
                <a:ea typeface="楷体" panose="02010609060101010101" pitchFamily="49" charset="-122"/>
              </a:rPr>
              <a:t>中断请求，</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就响应中断，转入中断响应周期。在</a:t>
            </a:r>
            <a:r>
              <a:rPr lang="zh-CN" altLang="en-US" sz="2000" dirty="0" smtClean="0">
                <a:latin typeface="楷体" panose="02010609060101010101" pitchFamily="49" charset="-122"/>
                <a:ea typeface="楷体" panose="02010609060101010101" pitchFamily="49" charset="-122"/>
              </a:rPr>
              <a:t>中断</a:t>
            </a:r>
            <a:r>
              <a:rPr lang="zh-CN" altLang="en-US" sz="2000" dirty="0">
                <a:latin typeface="楷体" panose="02010609060101010101" pitchFamily="49" charset="-122"/>
                <a:ea typeface="楷体" panose="02010609060101010101" pitchFamily="49" charset="-122"/>
              </a:rPr>
              <a:t>响应周期，</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做以下几件事： </a:t>
            </a:r>
          </a:p>
        </p:txBody>
      </p:sp>
      <p:sp>
        <p:nvSpPr>
          <p:cNvPr id="4" name="Text Box 4"/>
          <p:cNvSpPr txBox="1">
            <a:spLocks noChangeArrowheads="1"/>
          </p:cNvSpPr>
          <p:nvPr/>
        </p:nvSpPr>
        <p:spPr bwMode="auto">
          <a:xfrm>
            <a:off x="967548" y="2969388"/>
            <a:ext cx="48013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000" dirty="0">
                <a:solidFill>
                  <a:srgbClr val="FF0000"/>
                </a:solidFill>
                <a:latin typeface="楷体" panose="02010609060101010101" pitchFamily="49" charset="-122"/>
                <a:ea typeface="楷体" panose="02010609060101010101" pitchFamily="49" charset="-122"/>
              </a:rPr>
              <a:t>(1) </a:t>
            </a:r>
            <a:r>
              <a:rPr lang="zh-CN" altLang="en-US" sz="2000" dirty="0">
                <a:solidFill>
                  <a:srgbClr val="FF0000"/>
                </a:solidFill>
                <a:latin typeface="楷体" panose="02010609060101010101" pitchFamily="49" charset="-122"/>
                <a:ea typeface="楷体" panose="02010609060101010101" pitchFamily="49" charset="-122"/>
              </a:rPr>
              <a:t>关中断</a:t>
            </a:r>
            <a:r>
              <a:rPr lang="zh-CN" altLang="en-US" sz="2000" dirty="0" smtClean="0">
                <a:solidFill>
                  <a:srgbClr val="FF0000"/>
                </a:solidFill>
                <a:latin typeface="楷体" panose="02010609060101010101" pitchFamily="49" charset="-122"/>
                <a:ea typeface="楷体" panose="02010609060101010101" pitchFamily="49" charset="-122"/>
              </a:rPr>
              <a:t>。</a:t>
            </a:r>
            <a:r>
              <a:rPr lang="zh-CN" altLang="en-US" sz="2000" dirty="0" smtClean="0">
                <a:latin typeface="楷体" panose="02010609060101010101" pitchFamily="49" charset="-122"/>
                <a:ea typeface="楷体" panose="02010609060101010101" pitchFamily="49" charset="-122"/>
              </a:rPr>
              <a:t>内部自动关中断，即</a:t>
            </a:r>
            <a:r>
              <a:rPr lang="en-US" altLang="zh-CN" sz="2000" dirty="0" smtClean="0">
                <a:latin typeface="楷体" panose="02010609060101010101" pitchFamily="49" charset="-122"/>
                <a:ea typeface="楷体" panose="02010609060101010101" pitchFamily="49" charset="-122"/>
              </a:rPr>
              <a:t>IF</a:t>
            </a:r>
            <a:r>
              <a:rPr lang="zh-CN" altLang="en-US" sz="2000" dirty="0" smtClean="0">
                <a:latin typeface="楷体" panose="02010609060101010101" pitchFamily="49" charset="-122"/>
                <a:ea typeface="楷体" panose="02010609060101010101" pitchFamily="49" charset="-122"/>
              </a:rPr>
              <a:t>置</a:t>
            </a:r>
            <a:r>
              <a:rPr lang="en-US" altLang="zh-CN" sz="2000" dirty="0" smtClean="0">
                <a:latin typeface="楷体" panose="02010609060101010101" pitchFamily="49" charset="-122"/>
                <a:ea typeface="楷体" panose="02010609060101010101" pitchFamily="49" charset="-122"/>
              </a:rPr>
              <a:t>0</a:t>
            </a:r>
            <a:r>
              <a:rPr lang="zh-CN" altLang="en-US" sz="2000" dirty="0" smtClean="0">
                <a:latin typeface="楷体" panose="02010609060101010101" pitchFamily="49" charset="-122"/>
                <a:ea typeface="楷体" panose="02010609060101010101" pitchFamily="49" charset="-122"/>
              </a:rPr>
              <a:t> </a:t>
            </a:r>
            <a:endParaRPr lang="zh-CN" altLang="en-US" sz="2000" dirty="0">
              <a:latin typeface="楷体" panose="02010609060101010101" pitchFamily="49" charset="-122"/>
              <a:ea typeface="楷体" panose="02010609060101010101" pitchFamily="49" charset="-122"/>
            </a:endParaRPr>
          </a:p>
        </p:txBody>
      </p:sp>
      <p:sp>
        <p:nvSpPr>
          <p:cNvPr id="5" name="Text Box 5"/>
          <p:cNvSpPr txBox="1">
            <a:spLocks noChangeArrowheads="1"/>
          </p:cNvSpPr>
          <p:nvPr/>
        </p:nvSpPr>
        <p:spPr bwMode="auto">
          <a:xfrm>
            <a:off x="967548" y="3444801"/>
            <a:ext cx="46730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000" dirty="0">
                <a:solidFill>
                  <a:srgbClr val="FF0000"/>
                </a:solidFill>
                <a:latin typeface="楷体" panose="02010609060101010101" pitchFamily="49" charset="-122"/>
                <a:ea typeface="楷体" panose="02010609060101010101" pitchFamily="49" charset="-122"/>
              </a:rPr>
              <a:t>(2) </a:t>
            </a:r>
            <a:r>
              <a:rPr lang="zh-CN" altLang="en-US" sz="2000" dirty="0">
                <a:solidFill>
                  <a:srgbClr val="FF0000"/>
                </a:solidFill>
                <a:latin typeface="楷体" panose="02010609060101010101" pitchFamily="49" charset="-122"/>
                <a:ea typeface="楷体" panose="02010609060101010101" pitchFamily="49" charset="-122"/>
              </a:rPr>
              <a:t>保留断点</a:t>
            </a:r>
            <a:r>
              <a:rPr lang="zh-CN" altLang="en-US" sz="2000" dirty="0" smtClean="0">
                <a:solidFill>
                  <a:srgbClr val="FF0000"/>
                </a:solidFill>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IP</a:t>
            </a:r>
            <a:r>
              <a:rPr lang="zh-CN" altLang="en-US" sz="2000" dirty="0" smtClean="0">
                <a:latin typeface="楷体" panose="02010609060101010101" pitchFamily="49" charset="-122"/>
                <a:ea typeface="楷体" panose="02010609060101010101" pitchFamily="49" charset="-122"/>
              </a:rPr>
              <a:t>和</a:t>
            </a:r>
            <a:r>
              <a:rPr lang="en-US" altLang="zh-CN" sz="2000" dirty="0" smtClean="0">
                <a:latin typeface="楷体" panose="02010609060101010101" pitchFamily="49" charset="-122"/>
                <a:ea typeface="楷体" panose="02010609060101010101" pitchFamily="49" charset="-122"/>
              </a:rPr>
              <a:t>CS</a:t>
            </a:r>
            <a:r>
              <a:rPr lang="zh-CN" altLang="en-US" sz="2000" dirty="0" smtClean="0">
                <a:latin typeface="楷体" panose="02010609060101010101" pitchFamily="49" charset="-122"/>
                <a:ea typeface="楷体" panose="02010609060101010101" pitchFamily="49" charset="-122"/>
              </a:rPr>
              <a:t>值推入堆栈保存 </a:t>
            </a:r>
            <a:endParaRPr lang="zh-CN" altLang="en-US" sz="2000" dirty="0">
              <a:latin typeface="楷体" panose="02010609060101010101" pitchFamily="49" charset="-122"/>
              <a:ea typeface="楷体" panose="02010609060101010101" pitchFamily="49" charset="-122"/>
            </a:endParaRPr>
          </a:p>
        </p:txBody>
      </p:sp>
      <p:sp>
        <p:nvSpPr>
          <p:cNvPr id="6" name="Text Box 6"/>
          <p:cNvSpPr txBox="1">
            <a:spLocks noChangeArrowheads="1"/>
          </p:cNvSpPr>
          <p:nvPr/>
        </p:nvSpPr>
        <p:spPr bwMode="auto">
          <a:xfrm>
            <a:off x="967548" y="3920214"/>
            <a:ext cx="6083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000" dirty="0">
                <a:solidFill>
                  <a:srgbClr val="FF0000"/>
                </a:solidFill>
                <a:latin typeface="楷体" panose="02010609060101010101" pitchFamily="49" charset="-122"/>
                <a:ea typeface="楷体" panose="02010609060101010101" pitchFamily="49" charset="-122"/>
              </a:rPr>
              <a:t>(3) </a:t>
            </a:r>
            <a:r>
              <a:rPr lang="zh-CN" altLang="en-US" sz="2000" dirty="0">
                <a:solidFill>
                  <a:srgbClr val="FF0000"/>
                </a:solidFill>
                <a:latin typeface="楷体" panose="02010609060101010101" pitchFamily="49" charset="-122"/>
                <a:ea typeface="楷体" panose="02010609060101010101" pitchFamily="49" charset="-122"/>
              </a:rPr>
              <a:t>保护现场</a:t>
            </a:r>
            <a:r>
              <a:rPr lang="zh-CN" altLang="en-US" sz="2000" dirty="0" smtClean="0">
                <a:solidFill>
                  <a:srgbClr val="FF0000"/>
                </a:solidFill>
                <a:latin typeface="楷体" panose="02010609060101010101" pitchFamily="49" charset="-122"/>
                <a:ea typeface="楷体" panose="02010609060101010101" pitchFamily="49" charset="-122"/>
              </a:rPr>
              <a:t>。</a:t>
            </a:r>
            <a:r>
              <a:rPr lang="zh-CN" altLang="en-US" sz="2000" dirty="0" smtClean="0">
                <a:latin typeface="楷体" panose="02010609060101010101" pitchFamily="49" charset="-122"/>
                <a:ea typeface="楷体" panose="02010609060101010101" pitchFamily="49" charset="-122"/>
              </a:rPr>
              <a:t>各寄存器及标志位状态推入堆栈保存</a:t>
            </a:r>
            <a:endParaRPr lang="zh-CN" altLang="en-US" sz="2000" dirty="0">
              <a:latin typeface="楷体" panose="02010609060101010101" pitchFamily="49" charset="-122"/>
              <a:ea typeface="楷体" panose="02010609060101010101" pitchFamily="49" charset="-122"/>
            </a:endParaRPr>
          </a:p>
        </p:txBody>
      </p:sp>
      <p:sp>
        <p:nvSpPr>
          <p:cNvPr id="7" name="Text Box 7"/>
          <p:cNvSpPr txBox="1">
            <a:spLocks noChangeArrowheads="1"/>
          </p:cNvSpPr>
          <p:nvPr/>
        </p:nvSpPr>
        <p:spPr bwMode="auto">
          <a:xfrm>
            <a:off x="967548" y="4392094"/>
            <a:ext cx="716246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000" dirty="0">
                <a:solidFill>
                  <a:srgbClr val="FF0000"/>
                </a:solidFill>
                <a:latin typeface="楷体" panose="02010609060101010101" pitchFamily="49" charset="-122"/>
                <a:ea typeface="楷体" panose="02010609060101010101" pitchFamily="49" charset="-122"/>
              </a:rPr>
              <a:t>(4) </a:t>
            </a:r>
            <a:r>
              <a:rPr lang="zh-CN" altLang="en-US" sz="2000" dirty="0">
                <a:solidFill>
                  <a:srgbClr val="FF0000"/>
                </a:solidFill>
                <a:latin typeface="楷体" panose="02010609060101010101" pitchFamily="49" charset="-122"/>
                <a:ea typeface="楷体" panose="02010609060101010101" pitchFamily="49" charset="-122"/>
              </a:rPr>
              <a:t>给出中断入口地址，转入相应的中断服务程序</a:t>
            </a:r>
            <a:r>
              <a:rPr lang="zh-CN" altLang="en-US" sz="2000" dirty="0" smtClean="0">
                <a:solidFill>
                  <a:srgbClr val="FF0000"/>
                </a:solidFill>
                <a:latin typeface="楷体" panose="02010609060101010101" pitchFamily="49" charset="-122"/>
                <a:ea typeface="楷体" panose="02010609060101010101" pitchFamily="49" charset="-122"/>
              </a:rPr>
              <a:t>。</a:t>
            </a:r>
          </a:p>
          <a:p>
            <a:pPr>
              <a:lnSpc>
                <a:spcPct val="120000"/>
              </a:lnSpc>
              <a:buClr>
                <a:srgbClr val="0BD0D9"/>
              </a:buClr>
              <a:buSzPct val="95000"/>
              <a:buNone/>
            </a:pPr>
            <a:r>
              <a:rPr lang="zh-CN" altLang="en-US" sz="2000" dirty="0" smtClean="0">
                <a:latin typeface="楷体" panose="02010609060101010101" pitchFamily="49" charset="-122"/>
                <a:ea typeface="楷体" panose="02010609060101010101" pitchFamily="49" charset="-122"/>
              </a:rPr>
              <a:t>      根据中断源提供的中断类型码读取中断向量表得到中断服务程序入口地址</a:t>
            </a:r>
            <a:endParaRPr lang="zh-CN" altLang="en-US" sz="2000" dirty="0">
              <a:latin typeface="楷体" panose="02010609060101010101" pitchFamily="49" charset="-122"/>
              <a:ea typeface="楷体" panose="02010609060101010101" pitchFamily="49" charset="-122"/>
            </a:endParaRPr>
          </a:p>
        </p:txBody>
      </p:sp>
      <p:sp>
        <p:nvSpPr>
          <p:cNvPr id="8" name="Text Box 8"/>
          <p:cNvSpPr txBox="1">
            <a:spLocks noChangeArrowheads="1"/>
          </p:cNvSpPr>
          <p:nvPr/>
        </p:nvSpPr>
        <p:spPr bwMode="auto">
          <a:xfrm>
            <a:off x="969136" y="5509783"/>
            <a:ext cx="5186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000" dirty="0">
                <a:solidFill>
                  <a:srgbClr val="FF0000"/>
                </a:solidFill>
                <a:latin typeface="楷体" panose="02010609060101010101" pitchFamily="49" charset="-122"/>
                <a:ea typeface="楷体" panose="02010609060101010101" pitchFamily="49" charset="-122"/>
              </a:rPr>
              <a:t>(5) </a:t>
            </a:r>
            <a:r>
              <a:rPr lang="zh-CN" altLang="en-US" sz="2000" dirty="0">
                <a:solidFill>
                  <a:srgbClr val="FF0000"/>
                </a:solidFill>
                <a:latin typeface="楷体" panose="02010609060101010101" pitchFamily="49" charset="-122"/>
                <a:ea typeface="楷体" panose="02010609060101010101" pitchFamily="49" charset="-122"/>
              </a:rPr>
              <a:t>恢复现场</a:t>
            </a:r>
            <a:r>
              <a:rPr lang="zh-CN" altLang="en-US" sz="2000" dirty="0" smtClean="0">
                <a:solidFill>
                  <a:srgbClr val="FF0000"/>
                </a:solidFill>
                <a:latin typeface="楷体" panose="02010609060101010101" pitchFamily="49" charset="-122"/>
                <a:ea typeface="楷体" panose="02010609060101010101" pitchFamily="49" charset="-122"/>
              </a:rPr>
              <a:t>。</a:t>
            </a:r>
            <a:r>
              <a:rPr lang="zh-CN" altLang="en-US" sz="2000" dirty="0" smtClean="0">
                <a:latin typeface="楷体" panose="02010609060101010101" pitchFamily="49" charset="-122"/>
                <a:ea typeface="楷体" panose="02010609060101010101" pitchFamily="49" charset="-122"/>
              </a:rPr>
              <a:t>各寄存器及标志位状态出栈 </a:t>
            </a:r>
            <a:endParaRPr lang="zh-CN" altLang="en-US" sz="2000" dirty="0">
              <a:latin typeface="楷体" panose="02010609060101010101" pitchFamily="49" charset="-122"/>
              <a:ea typeface="楷体" panose="02010609060101010101" pitchFamily="49" charset="-122"/>
            </a:endParaRPr>
          </a:p>
        </p:txBody>
      </p:sp>
      <p:sp>
        <p:nvSpPr>
          <p:cNvPr id="9" name="Text Box 9"/>
          <p:cNvSpPr txBox="1">
            <a:spLocks noChangeArrowheads="1"/>
          </p:cNvSpPr>
          <p:nvPr/>
        </p:nvSpPr>
        <p:spPr bwMode="auto">
          <a:xfrm>
            <a:off x="972704" y="5911390"/>
            <a:ext cx="5186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000" dirty="0">
                <a:solidFill>
                  <a:srgbClr val="FF0000"/>
                </a:solidFill>
                <a:latin typeface="楷体" panose="02010609060101010101" pitchFamily="49" charset="-122"/>
                <a:ea typeface="楷体" panose="02010609060101010101" pitchFamily="49" charset="-122"/>
              </a:rPr>
              <a:t>(6) </a:t>
            </a:r>
            <a:r>
              <a:rPr lang="zh-CN" altLang="en-US" sz="2000" dirty="0">
                <a:solidFill>
                  <a:srgbClr val="FF0000"/>
                </a:solidFill>
                <a:latin typeface="楷体" panose="02010609060101010101" pitchFamily="49" charset="-122"/>
                <a:ea typeface="楷体" panose="02010609060101010101" pitchFamily="49" charset="-122"/>
              </a:rPr>
              <a:t>中断返回</a:t>
            </a:r>
            <a:r>
              <a:rPr lang="zh-CN" altLang="en-US" sz="2000" dirty="0" smtClean="0">
                <a:solidFill>
                  <a:srgbClr val="FF0000"/>
                </a:solidFill>
                <a:latin typeface="楷体" panose="02010609060101010101" pitchFamily="49" charset="-122"/>
                <a:ea typeface="楷体" panose="02010609060101010101" pitchFamily="49" charset="-122"/>
              </a:rPr>
              <a:t>。</a:t>
            </a:r>
            <a:r>
              <a:rPr lang="zh-CN" altLang="en-US" sz="2000" dirty="0" smtClean="0">
                <a:latin typeface="楷体" panose="02010609060101010101" pitchFamily="49" charset="-122"/>
                <a:ea typeface="楷体" panose="02010609060101010101" pitchFamily="49" charset="-122"/>
              </a:rPr>
              <a:t>中断返回指令，</a:t>
            </a:r>
            <a:r>
              <a:rPr lang="en-US" altLang="zh-CN" sz="2000" dirty="0" smtClean="0">
                <a:latin typeface="楷体" panose="02010609060101010101" pitchFamily="49" charset="-122"/>
                <a:ea typeface="楷体" panose="02010609060101010101" pitchFamily="49" charset="-122"/>
              </a:rPr>
              <a:t>IP</a:t>
            </a:r>
            <a:r>
              <a:rPr lang="zh-CN" altLang="en-US" sz="2000" dirty="0" smtClean="0">
                <a:latin typeface="楷体" panose="02010609060101010101" pitchFamily="49" charset="-122"/>
                <a:ea typeface="楷体" panose="02010609060101010101" pitchFamily="49" charset="-122"/>
              </a:rPr>
              <a:t>和</a:t>
            </a:r>
            <a:r>
              <a:rPr lang="en-US" altLang="zh-CN" sz="2000" dirty="0" smtClean="0">
                <a:latin typeface="楷体" panose="02010609060101010101" pitchFamily="49" charset="-122"/>
                <a:ea typeface="楷体" panose="02010609060101010101" pitchFamily="49" charset="-122"/>
              </a:rPr>
              <a:t>CS</a:t>
            </a:r>
            <a:r>
              <a:rPr lang="zh-CN" altLang="en-US" sz="2000" dirty="0" smtClean="0">
                <a:latin typeface="楷体" panose="02010609060101010101" pitchFamily="49" charset="-122"/>
                <a:ea typeface="楷体" panose="02010609060101010101" pitchFamily="49" charset="-122"/>
              </a:rPr>
              <a:t>出栈 </a:t>
            </a:r>
            <a:endParaRPr lang="zh-CN" altLang="en-US"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7542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randombar(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10.2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中断控制器</a:t>
            </a: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8259A</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659906" y="1812062"/>
            <a:ext cx="8022455" cy="1178400"/>
          </a:xfrm>
          <a:prstGeom prst="rect">
            <a:avLst/>
          </a:prstGeom>
        </p:spPr>
        <p:txBody>
          <a:bodyPr wrap="square">
            <a:spAutoFit/>
          </a:bodyPr>
          <a:lstStyle/>
          <a:p>
            <a:pPr>
              <a:lnSpc>
                <a:spcPct val="160000"/>
              </a:lnSpc>
              <a:buClr>
                <a:srgbClr val="0BD0D9"/>
              </a:buClr>
              <a:buSzPct val="95000"/>
            </a:pPr>
            <a:r>
              <a:rPr lang="en-US" altLang="zh-CN" sz="2400" dirty="0" smtClean="0">
                <a:latin typeface="楷体" panose="02010609060101010101" pitchFamily="49" charset="-122"/>
                <a:ea typeface="楷体" panose="02010609060101010101" pitchFamily="49" charset="-122"/>
              </a:rPr>
              <a:t>    Intel8259A</a:t>
            </a:r>
            <a:r>
              <a:rPr lang="zh-CN" altLang="en-US" sz="2400" dirty="0">
                <a:latin typeface="楷体" panose="02010609060101010101" pitchFamily="49" charset="-122"/>
                <a:ea typeface="楷体" panose="02010609060101010101" pitchFamily="49" charset="-122"/>
              </a:rPr>
              <a:t>是</a:t>
            </a:r>
            <a:r>
              <a:rPr lang="en-US" altLang="zh-CN" sz="2400" dirty="0">
                <a:latin typeface="楷体" panose="02010609060101010101" pitchFamily="49" charset="-122"/>
                <a:ea typeface="楷体" panose="02010609060101010101" pitchFamily="49" charset="-122"/>
              </a:rPr>
              <a:t>8080/8085</a:t>
            </a:r>
            <a:r>
              <a:rPr lang="zh-CN" altLang="en-US" sz="2400" dirty="0">
                <a:latin typeface="楷体" panose="02010609060101010101" pitchFamily="49" charset="-122"/>
                <a:ea typeface="楷体" panose="02010609060101010101" pitchFamily="49" charset="-122"/>
              </a:rPr>
              <a:t>以及</a:t>
            </a:r>
            <a:r>
              <a:rPr lang="en-US" altLang="zh-CN" sz="2400" dirty="0">
                <a:latin typeface="楷体" panose="02010609060101010101" pitchFamily="49" charset="-122"/>
                <a:ea typeface="楷体" panose="02010609060101010101" pitchFamily="49" charset="-122"/>
              </a:rPr>
              <a:t>80x86</a:t>
            </a:r>
            <a:r>
              <a:rPr lang="zh-CN" altLang="en-US" sz="2400" dirty="0">
                <a:latin typeface="楷体" panose="02010609060101010101" pitchFamily="49" charset="-122"/>
                <a:ea typeface="楷体" panose="02010609060101010101" pitchFamily="49" charset="-122"/>
              </a:rPr>
              <a:t>、</a:t>
            </a:r>
            <a:r>
              <a:rPr lang="en-US" altLang="zh-CN" sz="2400" dirty="0" err="1">
                <a:latin typeface="楷体" panose="02010609060101010101" pitchFamily="49" charset="-122"/>
                <a:ea typeface="楷体" panose="02010609060101010101" pitchFamily="49" charset="-122"/>
              </a:rPr>
              <a:t>Pentiun</a:t>
            </a:r>
            <a:r>
              <a:rPr lang="zh-CN" altLang="en-US" sz="2400" dirty="0">
                <a:latin typeface="楷体" panose="02010609060101010101" pitchFamily="49" charset="-122"/>
                <a:ea typeface="楷体" panose="02010609060101010101" pitchFamily="49" charset="-122"/>
              </a:rPr>
              <a:t>的</a:t>
            </a:r>
            <a:r>
              <a:rPr lang="zh-CN" altLang="en-US" sz="2400" dirty="0" smtClean="0">
                <a:latin typeface="楷体" panose="02010609060101010101" pitchFamily="49" charset="-122"/>
                <a:ea typeface="楷体" panose="02010609060101010101" pitchFamily="49" charset="-122"/>
              </a:rPr>
              <a:t>可编程</a:t>
            </a:r>
            <a:r>
              <a:rPr lang="zh-CN" altLang="en-US" sz="2400" dirty="0">
                <a:latin typeface="楷体" panose="02010609060101010101" pitchFamily="49" charset="-122"/>
                <a:ea typeface="楷体" panose="02010609060101010101" pitchFamily="49" charset="-122"/>
              </a:rPr>
              <a:t>的中断控制器</a:t>
            </a:r>
            <a:r>
              <a:rPr lang="en-US" altLang="zh-CN" sz="2400" dirty="0">
                <a:latin typeface="楷体" panose="02010609060101010101" pitchFamily="49" charset="-122"/>
                <a:ea typeface="楷体" panose="02010609060101010101" pitchFamily="49" charset="-122"/>
              </a:rPr>
              <a:t>,80x86</a:t>
            </a:r>
            <a:r>
              <a:rPr lang="zh-CN" altLang="en-US" sz="2400" dirty="0">
                <a:latin typeface="楷体" panose="02010609060101010101" pitchFamily="49" charset="-122"/>
                <a:ea typeface="楷体" panose="02010609060101010101" pitchFamily="49" charset="-122"/>
              </a:rPr>
              <a:t>、</a:t>
            </a:r>
            <a:r>
              <a:rPr lang="en-US" altLang="zh-CN" sz="2400" dirty="0" err="1">
                <a:latin typeface="楷体" panose="02010609060101010101" pitchFamily="49" charset="-122"/>
                <a:ea typeface="楷体" panose="02010609060101010101" pitchFamily="49" charset="-122"/>
              </a:rPr>
              <a:t>Pentiun</a:t>
            </a:r>
            <a:r>
              <a:rPr lang="zh-CN" altLang="en-US" sz="2400" dirty="0">
                <a:latin typeface="楷体" panose="02010609060101010101" pitchFamily="49" charset="-122"/>
                <a:ea typeface="楷体" panose="02010609060101010101" pitchFamily="49" charset="-122"/>
              </a:rPr>
              <a:t>是通过它来管理中断的。</a:t>
            </a:r>
          </a:p>
        </p:txBody>
      </p:sp>
      <p:sp>
        <p:nvSpPr>
          <p:cNvPr id="4" name="矩形 3"/>
          <p:cNvSpPr/>
          <p:nvPr/>
        </p:nvSpPr>
        <p:spPr>
          <a:xfrm>
            <a:off x="659906" y="3386158"/>
            <a:ext cx="8022455" cy="1178400"/>
          </a:xfrm>
          <a:prstGeom prst="rect">
            <a:avLst/>
          </a:prstGeom>
        </p:spPr>
        <p:txBody>
          <a:bodyPr wrap="square">
            <a:spAutoFit/>
          </a:bodyPr>
          <a:lstStyle/>
          <a:p>
            <a:pPr>
              <a:lnSpc>
                <a:spcPct val="160000"/>
              </a:lnSpc>
              <a:buClr>
                <a:srgbClr val="0BD0D9"/>
              </a:buClr>
              <a:buSzPct val="95000"/>
            </a:pPr>
            <a:r>
              <a:rPr lang="zh-CN" altLang="en-US" sz="2400" dirty="0" smtClean="0">
                <a:latin typeface="楷体" panose="02010609060101010101" pitchFamily="49" charset="-122"/>
                <a:ea typeface="楷体" panose="02010609060101010101" pitchFamily="49" charset="-122"/>
              </a:rPr>
              <a:t>    它</a:t>
            </a:r>
            <a:r>
              <a:rPr lang="zh-CN" altLang="en-US" sz="2400" dirty="0">
                <a:latin typeface="楷体" panose="02010609060101010101" pitchFamily="49" charset="-122"/>
                <a:ea typeface="楷体" panose="02010609060101010101" pitchFamily="49" charset="-122"/>
              </a:rPr>
              <a:t>具有</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级优先权控制，通过级联可扩展至</a:t>
            </a:r>
            <a:r>
              <a:rPr lang="en-US" altLang="zh-CN" sz="2400" dirty="0">
                <a:latin typeface="楷体" panose="02010609060101010101" pitchFamily="49" charset="-122"/>
                <a:ea typeface="楷体" panose="02010609060101010101" pitchFamily="49" charset="-122"/>
              </a:rPr>
              <a:t>64</a:t>
            </a:r>
            <a:r>
              <a:rPr lang="zh-CN" altLang="en-US" sz="2400" dirty="0">
                <a:latin typeface="楷体" panose="02010609060101010101" pitchFamily="49" charset="-122"/>
                <a:ea typeface="楷体" panose="02010609060101010101" pitchFamily="49" charset="-122"/>
              </a:rPr>
              <a:t>级</a:t>
            </a:r>
            <a:r>
              <a:rPr lang="zh-CN" altLang="en-US" sz="2400" dirty="0" smtClean="0">
                <a:latin typeface="楷体" panose="02010609060101010101" pitchFamily="49" charset="-122"/>
                <a:ea typeface="楷体" panose="02010609060101010101" pitchFamily="49" charset="-122"/>
              </a:rPr>
              <a:t>优先权</a:t>
            </a:r>
            <a:r>
              <a:rPr lang="zh-CN" altLang="en-US" sz="2400" dirty="0">
                <a:latin typeface="楷体" panose="02010609060101010101" pitchFamily="49" charset="-122"/>
                <a:ea typeface="楷体" panose="02010609060101010101" pitchFamily="49" charset="-122"/>
              </a:rPr>
              <a:t>控制。每一级中断都可以屏蔽或允许</a:t>
            </a:r>
          </a:p>
        </p:txBody>
      </p:sp>
      <p:sp>
        <p:nvSpPr>
          <p:cNvPr id="5" name="矩形 4"/>
          <p:cNvSpPr/>
          <p:nvPr/>
        </p:nvSpPr>
        <p:spPr>
          <a:xfrm>
            <a:off x="659906" y="4960254"/>
            <a:ext cx="8022455" cy="1178400"/>
          </a:xfrm>
          <a:prstGeom prst="rect">
            <a:avLst/>
          </a:prstGeom>
        </p:spPr>
        <p:txBody>
          <a:bodyPr wrap="square">
            <a:spAutoFit/>
          </a:bodyPr>
          <a:lstStyle/>
          <a:p>
            <a:pPr>
              <a:lnSpc>
                <a:spcPct val="160000"/>
              </a:lnSpc>
              <a:buClr>
                <a:srgbClr val="0BD0D9"/>
              </a:buClr>
              <a:buSzPct val="95000"/>
            </a:pPr>
            <a:r>
              <a:rPr lang="zh-CN" altLang="en-US" sz="2400" dirty="0" smtClean="0">
                <a:latin typeface="楷体" panose="02010609060101010101" pitchFamily="49" charset="-122"/>
                <a:ea typeface="楷体" panose="02010609060101010101" pitchFamily="49" charset="-122"/>
              </a:rPr>
              <a:t>    在</a:t>
            </a:r>
            <a:r>
              <a:rPr lang="zh-CN" altLang="en-US" sz="2400" dirty="0">
                <a:latin typeface="楷体" panose="02010609060101010101" pitchFamily="49" charset="-122"/>
                <a:ea typeface="楷体" panose="02010609060101010101" pitchFamily="49" charset="-122"/>
              </a:rPr>
              <a:t>中断响应周期，</a:t>
            </a:r>
            <a:r>
              <a:rPr lang="en-US" altLang="zh-CN" sz="2400" dirty="0">
                <a:latin typeface="楷体" panose="02010609060101010101" pitchFamily="49" charset="-122"/>
                <a:ea typeface="楷体" panose="02010609060101010101" pitchFamily="49" charset="-122"/>
              </a:rPr>
              <a:t>8259A</a:t>
            </a:r>
            <a:r>
              <a:rPr lang="zh-CN" altLang="en-US" sz="2400" dirty="0">
                <a:latin typeface="楷体" panose="02010609060101010101" pitchFamily="49" charset="-122"/>
                <a:ea typeface="楷体" panose="02010609060101010101" pitchFamily="49" charset="-122"/>
              </a:rPr>
              <a:t>可提供相应的中断向量，</a:t>
            </a:r>
            <a:r>
              <a:rPr lang="zh-CN" altLang="en-US" sz="2400" dirty="0" smtClean="0">
                <a:latin typeface="楷体" panose="02010609060101010101" pitchFamily="49" charset="-122"/>
                <a:ea typeface="楷体" panose="02010609060101010101" pitchFamily="49" charset="-122"/>
              </a:rPr>
              <a:t>从而</a:t>
            </a:r>
            <a:r>
              <a:rPr lang="zh-CN" altLang="en-US" sz="2400" dirty="0">
                <a:latin typeface="楷体" panose="02010609060101010101" pitchFamily="49" charset="-122"/>
                <a:ea typeface="楷体" panose="02010609060101010101" pitchFamily="49" charset="-122"/>
              </a:rPr>
              <a:t>能迅速地转至中断服务程序。 </a:t>
            </a:r>
          </a:p>
        </p:txBody>
      </p:sp>
    </p:spTree>
    <p:extLst>
      <p:ext uri="{BB962C8B-B14F-4D97-AF65-F5344CB8AC3E}">
        <p14:creationId xmlns:p14="http://schemas.microsoft.com/office/powerpoint/2010/main" val="246880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6183298"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10.2.1 8259A</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的组成和接口信号</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extLst>
              <p:ext uri="{D42A27DB-BD31-4B8C-83A1-F6EECF244321}">
                <p14:modId xmlns:p14="http://schemas.microsoft.com/office/powerpoint/2010/main" val="4000807252"/>
              </p:ext>
            </p:extLst>
          </p:nvPr>
        </p:nvGraphicFramePr>
        <p:xfrm>
          <a:off x="539334" y="1703049"/>
          <a:ext cx="8251825" cy="4465637"/>
        </p:xfrm>
        <a:graphic>
          <a:graphicData uri="http://schemas.openxmlformats.org/presentationml/2006/ole">
            <mc:AlternateContent xmlns:mc="http://schemas.openxmlformats.org/markup-compatibility/2006">
              <mc:Choice xmlns:v="urn:schemas-microsoft-com:vml" Requires="v">
                <p:oleObj spid="_x0000_s1029" name="位图图像" r:id="rId3" imgW="5219048" imgH="2467319" progId="Paint.Picture">
                  <p:embed/>
                </p:oleObj>
              </mc:Choice>
              <mc:Fallback>
                <p:oleObj name="位图图像" r:id="rId3" imgW="5219048" imgH="2467319" progId="Paint.Picture">
                  <p:embed/>
                  <p:pic>
                    <p:nvPicPr>
                      <p:cNvPr id="714755" name="Object 3"/>
                      <p:cNvPicPr>
                        <a:picLocks noChangeAspect="1" noChangeArrowheads="1"/>
                      </p:cNvPicPr>
                      <p:nvPr/>
                    </p:nvPicPr>
                    <p:blipFill>
                      <a:blip r:embed="rId4">
                        <a:lum contrast="30000"/>
                        <a:extLst>
                          <a:ext uri="{28A0092B-C50C-407E-A947-70E740481C1C}">
                            <a14:useLocalDpi xmlns:a14="http://schemas.microsoft.com/office/drawing/2010/main" val="0"/>
                          </a:ext>
                        </a:extLst>
                      </a:blip>
                      <a:srcRect/>
                      <a:stretch>
                        <a:fillRect/>
                      </a:stretch>
                    </p:blipFill>
                    <p:spPr bwMode="auto">
                      <a:xfrm>
                        <a:off x="539334" y="1703049"/>
                        <a:ext cx="8251825"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7386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627063" y="1699797"/>
            <a:ext cx="8166509"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0BD0D9"/>
              </a:buClr>
              <a:buSzPct val="95000"/>
              <a:buFont typeface="Wingdings 2" panose="05020102010507070707" pitchFamily="18" charset="2"/>
              <a:buNone/>
            </a:pPr>
            <a:r>
              <a:rPr lang="en-US" altLang="zh-CN" sz="2400">
                <a:solidFill>
                  <a:srgbClr val="0000CC"/>
                </a:solidFill>
                <a:latin typeface="楷体" panose="02010609060101010101" pitchFamily="49" charset="-122"/>
                <a:ea typeface="楷体" panose="02010609060101010101" pitchFamily="49" charset="-122"/>
              </a:rPr>
              <a:t>(1) </a:t>
            </a:r>
            <a:r>
              <a:rPr lang="zh-CN" altLang="en-US" sz="2400">
                <a:solidFill>
                  <a:srgbClr val="0000CC"/>
                </a:solidFill>
                <a:latin typeface="楷体" panose="02010609060101010101" pitchFamily="49" charset="-122"/>
                <a:ea typeface="楷体" panose="02010609060101010101" pitchFamily="49" charset="-122"/>
              </a:rPr>
              <a:t>在中断请求输入端</a:t>
            </a:r>
            <a:r>
              <a:rPr lang="en-US" altLang="zh-CN" sz="2400">
                <a:solidFill>
                  <a:srgbClr val="0000CC"/>
                </a:solidFill>
                <a:latin typeface="楷体" panose="02010609060101010101" pitchFamily="49" charset="-122"/>
                <a:ea typeface="楷体" panose="02010609060101010101" pitchFamily="49" charset="-122"/>
              </a:rPr>
              <a:t>IR7</a:t>
            </a:r>
            <a:r>
              <a:rPr lang="zh-CN" altLang="en-US" sz="2400">
                <a:solidFill>
                  <a:srgbClr val="0000CC"/>
                </a:solidFill>
                <a:latin typeface="楷体" panose="02010609060101010101" pitchFamily="49" charset="-122"/>
                <a:ea typeface="楷体" panose="02010609060101010101" pitchFamily="49" charset="-122"/>
              </a:rPr>
              <a:t>～</a:t>
            </a:r>
            <a:r>
              <a:rPr lang="en-US" altLang="zh-CN" sz="2400">
                <a:solidFill>
                  <a:srgbClr val="0000CC"/>
                </a:solidFill>
                <a:latin typeface="楷体" panose="02010609060101010101" pitchFamily="49" charset="-122"/>
                <a:ea typeface="楷体" panose="02010609060101010101" pitchFamily="49" charset="-122"/>
              </a:rPr>
              <a:t>IR0</a:t>
            </a:r>
            <a:r>
              <a:rPr lang="zh-CN" altLang="en-US" sz="2400">
                <a:solidFill>
                  <a:srgbClr val="0000CC"/>
                </a:solidFill>
                <a:latin typeface="楷体" panose="02010609060101010101" pitchFamily="49" charset="-122"/>
                <a:ea typeface="楷体" panose="02010609060101010101" pitchFamily="49" charset="-122"/>
              </a:rPr>
              <a:t>上接受中断请求。 </a:t>
            </a:r>
          </a:p>
        </p:txBody>
      </p:sp>
      <p:sp>
        <p:nvSpPr>
          <p:cNvPr id="3" name="Text Box 4"/>
          <p:cNvSpPr txBox="1">
            <a:spLocks noChangeArrowheads="1"/>
          </p:cNvSpPr>
          <p:nvPr/>
        </p:nvSpPr>
        <p:spPr bwMode="auto">
          <a:xfrm>
            <a:off x="596900" y="2491960"/>
            <a:ext cx="778240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buClr>
                <a:srgbClr val="0BD0D9"/>
              </a:buClr>
              <a:buSzPct val="95000"/>
              <a:buFont typeface="Wingdings 2" panose="05020102010507070707" pitchFamily="18" charset="2"/>
              <a:buNone/>
            </a:pPr>
            <a:r>
              <a:rPr lang="en-US" altLang="zh-CN" sz="2400" dirty="0">
                <a:latin typeface="楷体" panose="02010609060101010101" pitchFamily="49" charset="-122"/>
                <a:ea typeface="楷体" panose="02010609060101010101" pitchFamily="49" charset="-122"/>
              </a:rPr>
              <a:t>(2) </a:t>
            </a:r>
            <a:r>
              <a:rPr lang="zh-CN" altLang="en-US" sz="2400" dirty="0">
                <a:latin typeface="楷体" panose="02010609060101010101" pitchFamily="49" charset="-122"/>
                <a:ea typeface="楷体" panose="02010609060101010101" pitchFamily="49" charset="-122"/>
              </a:rPr>
              <a:t>中断请求锁存在</a:t>
            </a:r>
            <a:r>
              <a:rPr lang="en-US" altLang="zh-CN" sz="2400" dirty="0">
                <a:latin typeface="楷体" panose="02010609060101010101" pitchFamily="49" charset="-122"/>
                <a:ea typeface="楷体" panose="02010609060101010101" pitchFamily="49" charset="-122"/>
              </a:rPr>
              <a:t>IRR</a:t>
            </a:r>
            <a:r>
              <a:rPr lang="zh-CN" altLang="en-US" sz="2400" dirty="0">
                <a:latin typeface="楷体" panose="02010609060101010101" pitchFamily="49" charset="-122"/>
                <a:ea typeface="楷体" panose="02010609060101010101" pitchFamily="49" charset="-122"/>
              </a:rPr>
              <a:t>中，并与</a:t>
            </a:r>
            <a:r>
              <a:rPr lang="en-US" altLang="zh-CN" sz="2400" dirty="0">
                <a:latin typeface="楷体" panose="02010609060101010101" pitchFamily="49" charset="-122"/>
                <a:ea typeface="楷体" panose="02010609060101010101" pitchFamily="49" charset="-122"/>
              </a:rPr>
              <a:t>IMR</a:t>
            </a:r>
            <a:r>
              <a:rPr lang="zh-CN" altLang="en-US" sz="2400" dirty="0">
                <a:latin typeface="楷体" panose="02010609060101010101" pitchFamily="49" charset="-122"/>
                <a:ea typeface="楷体" panose="02010609060101010101" pitchFamily="49" charset="-122"/>
              </a:rPr>
              <a:t>相“与”，将未屏</a:t>
            </a:r>
          </a:p>
          <a:p>
            <a:pPr eaLnBrk="1" hangingPunct="1">
              <a:lnSpc>
                <a:spcPct val="11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蔽的中断送给优先级判定电路。 </a:t>
            </a:r>
          </a:p>
        </p:txBody>
      </p:sp>
      <p:sp>
        <p:nvSpPr>
          <p:cNvPr id="4" name="Text Box 5"/>
          <p:cNvSpPr txBox="1">
            <a:spLocks noChangeArrowheads="1"/>
          </p:cNvSpPr>
          <p:nvPr/>
        </p:nvSpPr>
        <p:spPr bwMode="auto">
          <a:xfrm>
            <a:off x="574676" y="3874672"/>
            <a:ext cx="828524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buClr>
                <a:srgbClr val="0BD0D9"/>
              </a:buClr>
              <a:buSzPct val="95000"/>
              <a:buFont typeface="Wingdings 2" panose="05020102010507070707" pitchFamily="18" charset="2"/>
              <a:buNone/>
            </a:pPr>
            <a:r>
              <a:rPr lang="en-US" altLang="zh-CN" sz="2400">
                <a:solidFill>
                  <a:srgbClr val="0000CC"/>
                </a:solidFill>
                <a:latin typeface="楷体" panose="02010609060101010101" pitchFamily="49" charset="-122"/>
                <a:ea typeface="楷体" panose="02010609060101010101" pitchFamily="49" charset="-122"/>
              </a:rPr>
              <a:t>(3) </a:t>
            </a:r>
            <a:r>
              <a:rPr lang="zh-CN" altLang="en-US" sz="2400">
                <a:solidFill>
                  <a:srgbClr val="0000CC"/>
                </a:solidFill>
                <a:latin typeface="楷体" panose="02010609060101010101" pitchFamily="49" charset="-122"/>
                <a:ea typeface="楷体" panose="02010609060101010101" pitchFamily="49" charset="-122"/>
              </a:rPr>
              <a:t>优先级判定电路检出优先级最高的中断请求位，并</a:t>
            </a:r>
          </a:p>
          <a:p>
            <a:pPr eaLnBrk="1" hangingPunct="1">
              <a:lnSpc>
                <a:spcPct val="125000"/>
              </a:lnSpc>
              <a:buClr>
                <a:srgbClr val="0BD0D9"/>
              </a:buClr>
              <a:buSzPct val="95000"/>
              <a:buFont typeface="Wingdings 2" panose="05020102010507070707" pitchFamily="18" charset="2"/>
              <a:buNone/>
            </a:pPr>
            <a:r>
              <a:rPr lang="zh-CN" altLang="en-US" sz="2400">
                <a:solidFill>
                  <a:srgbClr val="0000CC"/>
                </a:solidFill>
                <a:latin typeface="楷体" panose="02010609060101010101" pitchFamily="49" charset="-122"/>
                <a:ea typeface="楷体" panose="02010609060101010101" pitchFamily="49" charset="-122"/>
              </a:rPr>
              <a:t>置位该位的</a:t>
            </a:r>
            <a:r>
              <a:rPr lang="en-US" altLang="zh-CN" sz="2400">
                <a:solidFill>
                  <a:srgbClr val="0000CC"/>
                </a:solidFill>
                <a:latin typeface="楷体" panose="02010609060101010101" pitchFamily="49" charset="-122"/>
                <a:ea typeface="楷体" panose="02010609060101010101" pitchFamily="49" charset="-122"/>
              </a:rPr>
              <a:t>ISR</a:t>
            </a:r>
            <a:r>
              <a:rPr lang="zh-CN" altLang="en-US" sz="2400">
                <a:solidFill>
                  <a:srgbClr val="0000CC"/>
                </a:solidFill>
                <a:latin typeface="楷体" panose="02010609060101010101" pitchFamily="49" charset="-122"/>
                <a:ea typeface="楷体" panose="02010609060101010101" pitchFamily="49" charset="-122"/>
              </a:rPr>
              <a:t>。 </a:t>
            </a:r>
          </a:p>
        </p:txBody>
      </p:sp>
      <p:sp>
        <p:nvSpPr>
          <p:cNvPr id="5" name="Text Box 6"/>
          <p:cNvSpPr txBox="1">
            <a:spLocks noChangeArrowheads="1"/>
          </p:cNvSpPr>
          <p:nvPr/>
        </p:nvSpPr>
        <p:spPr bwMode="auto">
          <a:xfrm>
            <a:off x="574675" y="5425660"/>
            <a:ext cx="6788934"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buClr>
                <a:srgbClr val="0BD0D9"/>
              </a:buClr>
              <a:buSzPct val="95000"/>
              <a:buFont typeface="Wingdings 2" panose="05020102010507070707" pitchFamily="18" charset="2"/>
              <a:buNone/>
            </a:pPr>
            <a:r>
              <a:rPr lang="en-US" altLang="zh-CN" sz="2400">
                <a:latin typeface="楷体" panose="02010609060101010101" pitchFamily="49" charset="-122"/>
                <a:ea typeface="楷体" panose="02010609060101010101" pitchFamily="49" charset="-122"/>
              </a:rPr>
              <a:t>(4) </a:t>
            </a:r>
            <a:r>
              <a:rPr lang="zh-CN" altLang="en-US" sz="2400">
                <a:latin typeface="楷体" panose="02010609060101010101" pitchFamily="49" charset="-122"/>
                <a:ea typeface="楷体" panose="02010609060101010101" pitchFamily="49" charset="-122"/>
              </a:rPr>
              <a:t>控制逻辑接受中断请求，输出</a:t>
            </a:r>
            <a:r>
              <a:rPr lang="en-US" altLang="zh-CN" sz="2400">
                <a:latin typeface="楷体" panose="02010609060101010101" pitchFamily="49" charset="-122"/>
                <a:ea typeface="楷体" panose="02010609060101010101" pitchFamily="49" charset="-122"/>
              </a:rPr>
              <a:t>INT</a:t>
            </a:r>
            <a:r>
              <a:rPr lang="zh-CN" altLang="en-US" sz="2400">
                <a:latin typeface="楷体" panose="02010609060101010101" pitchFamily="49" charset="-122"/>
                <a:ea typeface="楷体" panose="02010609060101010101" pitchFamily="49" charset="-122"/>
              </a:rPr>
              <a:t>信号。 </a:t>
            </a:r>
          </a:p>
        </p:txBody>
      </p:sp>
    </p:spTree>
    <p:extLst>
      <p:ext uri="{BB962C8B-B14F-4D97-AF65-F5344CB8AC3E}">
        <p14:creationId xmlns:p14="http://schemas.microsoft.com/office/powerpoint/2010/main" val="40447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72424" y="1214268"/>
            <a:ext cx="7671002"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buClr>
                <a:srgbClr val="0BD0D9"/>
              </a:buClr>
              <a:buSzPct val="95000"/>
              <a:buFont typeface="Wingdings 2" panose="05020102010507070707" pitchFamily="18" charset="2"/>
              <a:buNone/>
            </a:pPr>
            <a:r>
              <a:rPr lang="en-US" altLang="zh-CN" sz="2400">
                <a:solidFill>
                  <a:srgbClr val="0000CC"/>
                </a:solidFill>
                <a:latin typeface="楷体" panose="02010609060101010101" pitchFamily="49" charset="-122"/>
                <a:ea typeface="楷体" panose="02010609060101010101" pitchFamily="49" charset="-122"/>
              </a:rPr>
              <a:t>(5) CPU</a:t>
            </a:r>
            <a:r>
              <a:rPr lang="zh-CN" altLang="en-US" sz="2400">
                <a:solidFill>
                  <a:srgbClr val="0000CC"/>
                </a:solidFill>
                <a:latin typeface="楷体" panose="02010609060101010101" pitchFamily="49" charset="-122"/>
                <a:ea typeface="楷体" panose="02010609060101010101" pitchFamily="49" charset="-122"/>
              </a:rPr>
              <a:t>接受</a:t>
            </a:r>
            <a:r>
              <a:rPr lang="en-US" altLang="zh-CN" sz="2400">
                <a:solidFill>
                  <a:srgbClr val="0000CC"/>
                </a:solidFill>
                <a:latin typeface="楷体" panose="02010609060101010101" pitchFamily="49" charset="-122"/>
                <a:ea typeface="楷体" panose="02010609060101010101" pitchFamily="49" charset="-122"/>
              </a:rPr>
              <a:t>INT</a:t>
            </a:r>
            <a:r>
              <a:rPr lang="zh-CN" altLang="en-US" sz="2400">
                <a:solidFill>
                  <a:srgbClr val="0000CC"/>
                </a:solidFill>
                <a:latin typeface="楷体" panose="02010609060101010101" pitchFamily="49" charset="-122"/>
                <a:ea typeface="楷体" panose="02010609060101010101" pitchFamily="49" charset="-122"/>
              </a:rPr>
              <a:t>信号，进入连续两个中断响应周期。 </a:t>
            </a:r>
          </a:p>
        </p:txBody>
      </p:sp>
      <p:sp>
        <p:nvSpPr>
          <p:cNvPr id="3" name="Text Box 3"/>
          <p:cNvSpPr txBox="1">
            <a:spLocks noChangeArrowheads="1"/>
          </p:cNvSpPr>
          <p:nvPr/>
        </p:nvSpPr>
        <p:spPr bwMode="auto">
          <a:xfrm>
            <a:off x="416849" y="1665118"/>
            <a:ext cx="8075047"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dist" eaLnBrk="1" hangingPunct="1">
              <a:lnSpc>
                <a:spcPct val="105000"/>
              </a:lnSpc>
              <a:buClr>
                <a:srgbClr val="0BD0D9"/>
              </a:buClr>
              <a:buSzPct val="95000"/>
              <a:buFont typeface="Wingdings 2" panose="05020102010507070707" pitchFamily="18" charset="2"/>
              <a:buNone/>
            </a:pPr>
            <a:r>
              <a:rPr lang="zh-CN" altLang="en-US" sz="2400" dirty="0">
                <a:solidFill>
                  <a:srgbClr val="0000CC"/>
                </a:solidFill>
                <a:latin typeface="楷体" panose="02010609060101010101" pitchFamily="49" charset="-122"/>
                <a:ea typeface="楷体" panose="02010609060101010101" pitchFamily="49" charset="-122"/>
              </a:rPr>
              <a:t>   单片使用或是由</a:t>
            </a:r>
            <a:r>
              <a:rPr lang="en-US" altLang="zh-CN" sz="2400" dirty="0">
                <a:solidFill>
                  <a:srgbClr val="0000CC"/>
                </a:solidFill>
                <a:latin typeface="楷体" panose="02010609060101010101" pitchFamily="49" charset="-122"/>
                <a:ea typeface="楷体" panose="02010609060101010101" pitchFamily="49" charset="-122"/>
              </a:rPr>
              <a:t>CAS2</a:t>
            </a:r>
            <a:r>
              <a:rPr lang="zh-CN" altLang="en-US" sz="2400" dirty="0">
                <a:solidFill>
                  <a:srgbClr val="0000CC"/>
                </a:solidFill>
                <a:latin typeface="楷体" panose="02010609060101010101" pitchFamily="49" charset="-122"/>
                <a:ea typeface="楷体" panose="02010609060101010101" pitchFamily="49" charset="-122"/>
              </a:rPr>
              <a:t>～</a:t>
            </a:r>
            <a:r>
              <a:rPr lang="en-US" altLang="zh-CN" sz="2400" dirty="0">
                <a:solidFill>
                  <a:srgbClr val="0000CC"/>
                </a:solidFill>
                <a:latin typeface="楷体" panose="02010609060101010101" pitchFamily="49" charset="-122"/>
                <a:ea typeface="楷体" panose="02010609060101010101" pitchFamily="49" charset="-122"/>
              </a:rPr>
              <a:t>CAS0</a:t>
            </a:r>
            <a:r>
              <a:rPr lang="zh-CN" altLang="en-US" sz="2400" dirty="0">
                <a:solidFill>
                  <a:srgbClr val="0000CC"/>
                </a:solidFill>
                <a:latin typeface="楷体" panose="02010609060101010101" pitchFamily="49" charset="-122"/>
                <a:ea typeface="楷体" panose="02010609060101010101" pitchFamily="49" charset="-122"/>
              </a:rPr>
              <a:t>选择的从片</a:t>
            </a:r>
            <a:r>
              <a:rPr lang="en-US" altLang="zh-CN" sz="2400" dirty="0">
                <a:solidFill>
                  <a:srgbClr val="0000CC"/>
                </a:solidFill>
                <a:latin typeface="楷体" panose="02010609060101010101" pitchFamily="49" charset="-122"/>
                <a:ea typeface="楷体" panose="02010609060101010101" pitchFamily="49" charset="-122"/>
              </a:rPr>
              <a:t>8259A</a:t>
            </a:r>
            <a:r>
              <a:rPr lang="zh-CN" altLang="en-US" sz="2400" dirty="0">
                <a:solidFill>
                  <a:srgbClr val="0000CC"/>
                </a:solidFill>
                <a:latin typeface="楷体" panose="02010609060101010101" pitchFamily="49" charset="-122"/>
                <a:ea typeface="楷体" panose="02010609060101010101" pitchFamily="49" charset="-122"/>
              </a:rPr>
              <a:t>，就在</a:t>
            </a:r>
          </a:p>
          <a:p>
            <a:pPr algn="dist" eaLnBrk="1" hangingPunct="1">
              <a:lnSpc>
                <a:spcPct val="105000"/>
              </a:lnSpc>
              <a:buClr>
                <a:srgbClr val="0BD0D9"/>
              </a:buClr>
              <a:buSzPct val="95000"/>
              <a:buFont typeface="Wingdings 2" panose="05020102010507070707" pitchFamily="18" charset="2"/>
              <a:buNone/>
            </a:pPr>
            <a:r>
              <a:rPr lang="zh-CN" altLang="en-US" sz="2400" dirty="0">
                <a:solidFill>
                  <a:srgbClr val="0000CC"/>
                </a:solidFill>
                <a:latin typeface="楷体" panose="02010609060101010101" pitchFamily="49" charset="-122"/>
                <a:ea typeface="楷体" panose="02010609060101010101" pitchFamily="49" charset="-122"/>
              </a:rPr>
              <a:t>第</a:t>
            </a:r>
            <a:r>
              <a:rPr lang="en-US" altLang="zh-CN" sz="2400" dirty="0">
                <a:solidFill>
                  <a:srgbClr val="0000CC"/>
                </a:solidFill>
                <a:latin typeface="楷体" panose="02010609060101010101" pitchFamily="49" charset="-122"/>
                <a:ea typeface="楷体" panose="02010609060101010101" pitchFamily="49" charset="-122"/>
              </a:rPr>
              <a:t>2</a:t>
            </a:r>
            <a:r>
              <a:rPr lang="zh-CN" altLang="en-US" sz="2400" dirty="0">
                <a:solidFill>
                  <a:srgbClr val="0000CC"/>
                </a:solidFill>
                <a:latin typeface="楷体" panose="02010609060101010101" pitchFamily="49" charset="-122"/>
                <a:ea typeface="楷体" panose="02010609060101010101" pitchFamily="49" charset="-122"/>
              </a:rPr>
              <a:t>个中断响应周期，将中断类型向量从</a:t>
            </a:r>
            <a:r>
              <a:rPr lang="en-US" altLang="zh-CN" sz="2400" dirty="0">
                <a:solidFill>
                  <a:srgbClr val="0000CC"/>
                </a:solidFill>
                <a:latin typeface="楷体" panose="02010609060101010101" pitchFamily="49" charset="-122"/>
                <a:ea typeface="楷体" panose="02010609060101010101" pitchFamily="49" charset="-122"/>
              </a:rPr>
              <a:t>D7</a:t>
            </a:r>
            <a:r>
              <a:rPr lang="zh-CN" altLang="en-US" sz="2400" dirty="0">
                <a:solidFill>
                  <a:srgbClr val="0000CC"/>
                </a:solidFill>
                <a:latin typeface="楷体" panose="02010609060101010101" pitchFamily="49" charset="-122"/>
                <a:ea typeface="楷体" panose="02010609060101010101" pitchFamily="49" charset="-122"/>
              </a:rPr>
              <a:t>～</a:t>
            </a:r>
            <a:r>
              <a:rPr lang="en-US" altLang="zh-CN" sz="2400" dirty="0">
                <a:solidFill>
                  <a:srgbClr val="0000CC"/>
                </a:solidFill>
                <a:latin typeface="楷体" panose="02010609060101010101" pitchFamily="49" charset="-122"/>
                <a:ea typeface="楷体" panose="02010609060101010101" pitchFamily="49" charset="-122"/>
              </a:rPr>
              <a:t>D0</a:t>
            </a:r>
            <a:r>
              <a:rPr lang="zh-CN" altLang="en-US" sz="2400" dirty="0">
                <a:solidFill>
                  <a:srgbClr val="0000CC"/>
                </a:solidFill>
                <a:latin typeface="楷体" panose="02010609060101010101" pitchFamily="49" charset="-122"/>
                <a:ea typeface="楷体" panose="02010609060101010101" pitchFamily="49" charset="-122"/>
              </a:rPr>
              <a:t>线输出；</a:t>
            </a:r>
          </a:p>
          <a:p>
            <a:pPr algn="dist" eaLnBrk="1" hangingPunct="1">
              <a:lnSpc>
                <a:spcPct val="105000"/>
              </a:lnSpc>
              <a:buClr>
                <a:srgbClr val="0BD0D9"/>
              </a:buClr>
              <a:buSzPct val="95000"/>
              <a:buFont typeface="Wingdings 2" panose="05020102010507070707" pitchFamily="18" charset="2"/>
              <a:buNone/>
            </a:pPr>
            <a:r>
              <a:rPr lang="zh-CN" altLang="en-US" sz="2400" dirty="0">
                <a:solidFill>
                  <a:srgbClr val="0000CC"/>
                </a:solidFill>
                <a:latin typeface="楷体" panose="02010609060101010101" pitchFamily="49" charset="-122"/>
                <a:ea typeface="楷体" panose="02010609060101010101" pitchFamily="49" charset="-122"/>
              </a:rPr>
              <a:t>   如果是作主片使用的</a:t>
            </a:r>
            <a:r>
              <a:rPr lang="en-US" altLang="zh-CN" sz="2400" dirty="0">
                <a:solidFill>
                  <a:srgbClr val="0000CC"/>
                </a:solidFill>
                <a:latin typeface="楷体" panose="02010609060101010101" pitchFamily="49" charset="-122"/>
                <a:ea typeface="楷体" panose="02010609060101010101" pitchFamily="49" charset="-122"/>
              </a:rPr>
              <a:t>8259A</a:t>
            </a:r>
            <a:r>
              <a:rPr lang="zh-CN" altLang="en-US" sz="2400" dirty="0">
                <a:solidFill>
                  <a:srgbClr val="0000CC"/>
                </a:solidFill>
                <a:latin typeface="楷体" panose="02010609060101010101" pitchFamily="49" charset="-122"/>
                <a:ea typeface="楷体" panose="02010609060101010101" pitchFamily="49" charset="-122"/>
              </a:rPr>
              <a:t>，则在第</a:t>
            </a:r>
            <a:r>
              <a:rPr lang="en-US" altLang="zh-CN" sz="2400" dirty="0">
                <a:solidFill>
                  <a:srgbClr val="0000CC"/>
                </a:solidFill>
                <a:latin typeface="楷体" panose="02010609060101010101" pitchFamily="49" charset="-122"/>
                <a:ea typeface="楷体" panose="02010609060101010101" pitchFamily="49" charset="-122"/>
              </a:rPr>
              <a:t>1</a:t>
            </a:r>
            <a:r>
              <a:rPr lang="zh-CN" altLang="en-US" sz="2400" dirty="0">
                <a:solidFill>
                  <a:srgbClr val="0000CC"/>
                </a:solidFill>
                <a:latin typeface="楷体" panose="02010609060101010101" pitchFamily="49" charset="-122"/>
                <a:ea typeface="楷体" panose="02010609060101010101" pitchFamily="49" charset="-122"/>
              </a:rPr>
              <a:t>个中断响应周</a:t>
            </a:r>
          </a:p>
          <a:p>
            <a:pPr algn="dist" eaLnBrk="1" hangingPunct="1">
              <a:lnSpc>
                <a:spcPct val="105000"/>
              </a:lnSpc>
              <a:buClr>
                <a:srgbClr val="0BD0D9"/>
              </a:buClr>
              <a:buSzPct val="95000"/>
              <a:buFont typeface="Wingdings 2" panose="05020102010507070707" pitchFamily="18" charset="2"/>
              <a:buNone/>
            </a:pPr>
            <a:r>
              <a:rPr lang="zh-CN" altLang="en-US" sz="2400" dirty="0">
                <a:solidFill>
                  <a:srgbClr val="0000CC"/>
                </a:solidFill>
                <a:latin typeface="楷体" panose="02010609060101010101" pitchFamily="49" charset="-122"/>
                <a:ea typeface="楷体" panose="02010609060101010101" pitchFamily="49" charset="-122"/>
              </a:rPr>
              <a:t>期，把级联地址从</a:t>
            </a:r>
            <a:r>
              <a:rPr lang="en-US" altLang="zh-CN" sz="2400" dirty="0">
                <a:solidFill>
                  <a:srgbClr val="0000CC"/>
                </a:solidFill>
                <a:latin typeface="楷体" panose="02010609060101010101" pitchFamily="49" charset="-122"/>
                <a:ea typeface="楷体" panose="02010609060101010101" pitchFamily="49" charset="-122"/>
              </a:rPr>
              <a:t>CAS2</a:t>
            </a:r>
            <a:r>
              <a:rPr lang="zh-CN" altLang="en-US" sz="2400" dirty="0">
                <a:solidFill>
                  <a:srgbClr val="0000CC"/>
                </a:solidFill>
                <a:latin typeface="楷体" panose="02010609060101010101" pitchFamily="49" charset="-122"/>
                <a:ea typeface="楷体" panose="02010609060101010101" pitchFamily="49" charset="-122"/>
              </a:rPr>
              <a:t>～</a:t>
            </a:r>
            <a:r>
              <a:rPr lang="en-US" altLang="zh-CN" sz="2400" dirty="0">
                <a:solidFill>
                  <a:srgbClr val="0000CC"/>
                </a:solidFill>
                <a:latin typeface="楷体" panose="02010609060101010101" pitchFamily="49" charset="-122"/>
                <a:ea typeface="楷体" panose="02010609060101010101" pitchFamily="49" charset="-122"/>
              </a:rPr>
              <a:t>CAS0</a:t>
            </a:r>
            <a:r>
              <a:rPr lang="zh-CN" altLang="en-US" sz="2400" dirty="0">
                <a:solidFill>
                  <a:srgbClr val="0000CC"/>
                </a:solidFill>
                <a:latin typeface="楷体" panose="02010609060101010101" pitchFamily="49" charset="-122"/>
                <a:ea typeface="楷体" panose="02010609060101010101" pitchFamily="49" charset="-122"/>
              </a:rPr>
              <a:t>送出。 </a:t>
            </a:r>
          </a:p>
        </p:txBody>
      </p:sp>
      <p:sp>
        <p:nvSpPr>
          <p:cNvPr id="4" name="Text Box 4"/>
          <p:cNvSpPr txBox="1">
            <a:spLocks noChangeArrowheads="1"/>
          </p:cNvSpPr>
          <p:nvPr/>
        </p:nvSpPr>
        <p:spPr bwMode="auto">
          <a:xfrm>
            <a:off x="572424" y="4022556"/>
            <a:ext cx="7828212"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buClr>
                <a:srgbClr val="0BD0D9"/>
              </a:buClr>
              <a:buSzPct val="95000"/>
              <a:buFont typeface="Wingdings 2" panose="05020102010507070707" pitchFamily="18" charset="2"/>
              <a:buNone/>
            </a:pPr>
            <a:r>
              <a:rPr lang="en-US" altLang="zh-CN" sz="2400">
                <a:latin typeface="楷体" panose="02010609060101010101" pitchFamily="49" charset="-122"/>
                <a:ea typeface="楷体" panose="02010609060101010101" pitchFamily="49" charset="-122"/>
              </a:rPr>
              <a:t>(6) CPU</a:t>
            </a:r>
            <a:r>
              <a:rPr lang="zh-CN" altLang="en-US" sz="2400">
                <a:latin typeface="楷体" panose="02010609060101010101" pitchFamily="49" charset="-122"/>
                <a:ea typeface="楷体" panose="02010609060101010101" pitchFamily="49" charset="-122"/>
              </a:rPr>
              <a:t>读取中断向量，转移到相应的中断处理程序。 </a:t>
            </a:r>
          </a:p>
        </p:txBody>
      </p:sp>
      <p:sp>
        <p:nvSpPr>
          <p:cNvPr id="5" name="Text Box 5"/>
          <p:cNvSpPr txBox="1">
            <a:spLocks noChangeArrowheads="1"/>
          </p:cNvSpPr>
          <p:nvPr/>
        </p:nvSpPr>
        <p:spPr bwMode="auto">
          <a:xfrm>
            <a:off x="572424" y="4546431"/>
            <a:ext cx="8163203"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0000"/>
              </a:lnSpc>
              <a:buClr>
                <a:srgbClr val="0BD0D9"/>
              </a:buClr>
              <a:buSzPct val="95000"/>
              <a:buFont typeface="Wingdings 2" panose="05020102010507070707" pitchFamily="18" charset="2"/>
              <a:buNone/>
            </a:pPr>
            <a:r>
              <a:rPr lang="en-US" altLang="zh-CN" sz="2400">
                <a:solidFill>
                  <a:srgbClr val="0000CC"/>
                </a:solidFill>
                <a:latin typeface="楷体" panose="02010609060101010101" pitchFamily="49" charset="-122"/>
                <a:ea typeface="楷体" panose="02010609060101010101" pitchFamily="49" charset="-122"/>
              </a:rPr>
              <a:t>(7) </a:t>
            </a:r>
            <a:r>
              <a:rPr lang="zh-CN" altLang="en-US" sz="2400">
                <a:solidFill>
                  <a:srgbClr val="0000CC"/>
                </a:solidFill>
                <a:latin typeface="楷体" panose="02010609060101010101" pitchFamily="49" charset="-122"/>
                <a:ea typeface="楷体" panose="02010609060101010101" pitchFamily="49" charset="-122"/>
              </a:rPr>
              <a:t>中断的结束是通过向</a:t>
            </a:r>
            <a:r>
              <a:rPr lang="en-US" altLang="zh-CN" sz="2400">
                <a:solidFill>
                  <a:srgbClr val="0000CC"/>
                </a:solidFill>
                <a:latin typeface="楷体" panose="02010609060101010101" pitchFamily="49" charset="-122"/>
                <a:ea typeface="楷体" panose="02010609060101010101" pitchFamily="49" charset="-122"/>
              </a:rPr>
              <a:t>8259A</a:t>
            </a:r>
            <a:r>
              <a:rPr lang="zh-CN" altLang="en-US" sz="2400">
                <a:solidFill>
                  <a:srgbClr val="0000CC"/>
                </a:solidFill>
                <a:latin typeface="楷体" panose="02010609060101010101" pitchFamily="49" charset="-122"/>
                <a:ea typeface="楷体" panose="02010609060101010101" pitchFamily="49" charset="-122"/>
              </a:rPr>
              <a:t>送一条</a:t>
            </a:r>
            <a:r>
              <a:rPr lang="en-US" altLang="zh-CN" sz="2400">
                <a:solidFill>
                  <a:srgbClr val="0000CC"/>
                </a:solidFill>
                <a:latin typeface="楷体" panose="02010609060101010101" pitchFamily="49" charset="-122"/>
                <a:ea typeface="楷体" panose="02010609060101010101" pitchFamily="49" charset="-122"/>
              </a:rPr>
              <a:t>EOI(</a:t>
            </a:r>
            <a:r>
              <a:rPr lang="zh-CN" altLang="en-US" sz="2400">
                <a:solidFill>
                  <a:srgbClr val="0000CC"/>
                </a:solidFill>
                <a:latin typeface="楷体" panose="02010609060101010101" pitchFamily="49" charset="-122"/>
                <a:ea typeface="楷体" panose="02010609060101010101" pitchFamily="49" charset="-122"/>
              </a:rPr>
              <a:t>中断结束</a:t>
            </a:r>
            <a:r>
              <a:rPr lang="en-US" altLang="zh-CN" sz="2400">
                <a:solidFill>
                  <a:srgbClr val="0000CC"/>
                </a:solidFill>
                <a:latin typeface="楷体" panose="02010609060101010101" pitchFamily="49" charset="-122"/>
                <a:ea typeface="楷体" panose="02010609060101010101" pitchFamily="49" charset="-122"/>
              </a:rPr>
              <a:t>)</a:t>
            </a:r>
            <a:r>
              <a:rPr lang="zh-CN" altLang="en-US" sz="2400">
                <a:solidFill>
                  <a:srgbClr val="0000CC"/>
                </a:solidFill>
                <a:latin typeface="楷体" panose="02010609060101010101" pitchFamily="49" charset="-122"/>
                <a:ea typeface="楷体" panose="02010609060101010101" pitchFamily="49" charset="-122"/>
              </a:rPr>
              <a:t>命</a:t>
            </a:r>
          </a:p>
          <a:p>
            <a:pPr eaLnBrk="1" hangingPunct="1">
              <a:lnSpc>
                <a:spcPct val="110000"/>
              </a:lnSpc>
              <a:buClr>
                <a:srgbClr val="0BD0D9"/>
              </a:buClr>
              <a:buSzPct val="95000"/>
              <a:buFont typeface="Wingdings 2" panose="05020102010507070707" pitchFamily="18" charset="2"/>
              <a:buNone/>
            </a:pPr>
            <a:r>
              <a:rPr lang="zh-CN" altLang="en-US" sz="2400">
                <a:solidFill>
                  <a:srgbClr val="0000CC"/>
                </a:solidFill>
                <a:latin typeface="楷体" panose="02010609060101010101" pitchFamily="49" charset="-122"/>
                <a:ea typeface="楷体" panose="02010609060101010101" pitchFamily="49" charset="-122"/>
              </a:rPr>
              <a:t>令</a:t>
            </a:r>
            <a:r>
              <a:rPr lang="en-US" altLang="zh-CN" sz="2400">
                <a:solidFill>
                  <a:srgbClr val="0000CC"/>
                </a:solidFill>
                <a:latin typeface="楷体" panose="02010609060101010101" pitchFamily="49" charset="-122"/>
                <a:ea typeface="楷体" panose="02010609060101010101" pitchFamily="49" charset="-122"/>
              </a:rPr>
              <a:t>,</a:t>
            </a:r>
            <a:r>
              <a:rPr lang="zh-CN" altLang="en-US" sz="2400">
                <a:solidFill>
                  <a:srgbClr val="0000CC"/>
                </a:solidFill>
                <a:latin typeface="楷体" panose="02010609060101010101" pitchFamily="49" charset="-122"/>
                <a:ea typeface="楷体" panose="02010609060101010101" pitchFamily="49" charset="-122"/>
              </a:rPr>
              <a:t>使</a:t>
            </a:r>
            <a:r>
              <a:rPr lang="en-US" altLang="zh-CN" sz="2400">
                <a:solidFill>
                  <a:srgbClr val="0000CC"/>
                </a:solidFill>
                <a:latin typeface="楷体" panose="02010609060101010101" pitchFamily="49" charset="-122"/>
                <a:ea typeface="楷体" panose="02010609060101010101" pitchFamily="49" charset="-122"/>
              </a:rPr>
              <a:t>ISR</a:t>
            </a:r>
            <a:r>
              <a:rPr lang="zh-CN" altLang="en-US" sz="2400">
                <a:solidFill>
                  <a:srgbClr val="0000CC"/>
                </a:solidFill>
                <a:latin typeface="楷体" panose="02010609060101010101" pitchFamily="49" charset="-122"/>
                <a:ea typeface="楷体" panose="02010609060101010101" pitchFamily="49" charset="-122"/>
              </a:rPr>
              <a:t>复位来实现的。在中断服务过程中</a:t>
            </a:r>
            <a:r>
              <a:rPr lang="en-US" altLang="zh-CN" sz="2400">
                <a:solidFill>
                  <a:srgbClr val="0000CC"/>
                </a:solidFill>
                <a:latin typeface="楷体" panose="02010609060101010101" pitchFamily="49" charset="-122"/>
                <a:ea typeface="楷体" panose="02010609060101010101" pitchFamily="49" charset="-122"/>
              </a:rPr>
              <a:t>,</a:t>
            </a:r>
            <a:r>
              <a:rPr lang="zh-CN" altLang="en-US" sz="2400">
                <a:solidFill>
                  <a:srgbClr val="0000CC"/>
                </a:solidFill>
                <a:latin typeface="楷体" panose="02010609060101010101" pitchFamily="49" charset="-122"/>
                <a:ea typeface="楷体" panose="02010609060101010101" pitchFamily="49" charset="-122"/>
              </a:rPr>
              <a:t>在</a:t>
            </a:r>
            <a:r>
              <a:rPr lang="en-US" altLang="zh-CN" sz="2400">
                <a:solidFill>
                  <a:srgbClr val="0000CC"/>
                </a:solidFill>
                <a:latin typeface="楷体" panose="02010609060101010101" pitchFamily="49" charset="-122"/>
                <a:ea typeface="楷体" panose="02010609060101010101" pitchFamily="49" charset="-122"/>
              </a:rPr>
              <a:t>EOI</a:t>
            </a:r>
            <a:r>
              <a:rPr lang="zh-CN" altLang="en-US" sz="2400">
                <a:solidFill>
                  <a:srgbClr val="0000CC"/>
                </a:solidFill>
                <a:latin typeface="楷体" panose="02010609060101010101" pitchFamily="49" charset="-122"/>
                <a:ea typeface="楷体" panose="02010609060101010101" pitchFamily="49" charset="-122"/>
              </a:rPr>
              <a:t>命令</a:t>
            </a:r>
          </a:p>
          <a:p>
            <a:pPr eaLnBrk="1" hangingPunct="1">
              <a:lnSpc>
                <a:spcPct val="110000"/>
              </a:lnSpc>
              <a:buClr>
                <a:srgbClr val="0BD0D9"/>
              </a:buClr>
              <a:buSzPct val="95000"/>
              <a:buFont typeface="Wingdings 2" panose="05020102010507070707" pitchFamily="18" charset="2"/>
              <a:buNone/>
            </a:pPr>
            <a:r>
              <a:rPr lang="zh-CN" altLang="en-US" sz="2400">
                <a:solidFill>
                  <a:srgbClr val="0000CC"/>
                </a:solidFill>
                <a:latin typeface="楷体" panose="02010609060101010101" pitchFamily="49" charset="-122"/>
                <a:ea typeface="楷体" panose="02010609060101010101" pitchFamily="49" charset="-122"/>
              </a:rPr>
              <a:t>使</a:t>
            </a:r>
            <a:r>
              <a:rPr lang="en-US" altLang="zh-CN" sz="2400">
                <a:solidFill>
                  <a:srgbClr val="0000CC"/>
                </a:solidFill>
                <a:latin typeface="楷体" panose="02010609060101010101" pitchFamily="49" charset="-122"/>
                <a:ea typeface="楷体" panose="02010609060101010101" pitchFamily="49" charset="-122"/>
              </a:rPr>
              <a:t>ISR</a:t>
            </a:r>
            <a:r>
              <a:rPr lang="zh-CN" altLang="en-US" sz="2400">
                <a:solidFill>
                  <a:srgbClr val="0000CC"/>
                </a:solidFill>
                <a:latin typeface="楷体" panose="02010609060101010101" pitchFamily="49" charset="-122"/>
                <a:ea typeface="楷体" panose="02010609060101010101" pitchFamily="49" charset="-122"/>
              </a:rPr>
              <a:t>复位之前，不再接受由</a:t>
            </a:r>
            <a:r>
              <a:rPr lang="en-US" altLang="zh-CN" sz="2400">
                <a:solidFill>
                  <a:srgbClr val="0000CC"/>
                </a:solidFill>
                <a:latin typeface="楷体" panose="02010609060101010101" pitchFamily="49" charset="-122"/>
                <a:ea typeface="楷体" panose="02010609060101010101" pitchFamily="49" charset="-122"/>
              </a:rPr>
              <a:t>ISR</a:t>
            </a:r>
            <a:r>
              <a:rPr lang="zh-CN" altLang="en-US" sz="2400">
                <a:solidFill>
                  <a:srgbClr val="0000CC"/>
                </a:solidFill>
                <a:latin typeface="楷体" panose="02010609060101010101" pitchFamily="49" charset="-122"/>
                <a:ea typeface="楷体" panose="02010609060101010101" pitchFamily="49" charset="-122"/>
              </a:rPr>
              <a:t>置位的中断请求。 </a:t>
            </a:r>
          </a:p>
        </p:txBody>
      </p:sp>
    </p:spTree>
    <p:extLst>
      <p:ext uri="{BB962C8B-B14F-4D97-AF65-F5344CB8AC3E}">
        <p14:creationId xmlns:p14="http://schemas.microsoft.com/office/powerpoint/2010/main" val="204962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3633" y="1257501"/>
            <a:ext cx="2185214"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8259A</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单片使用</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 name="Object 6"/>
          <p:cNvGraphicFramePr>
            <a:graphicFrameLocks noChangeAspect="1"/>
          </p:cNvGraphicFramePr>
          <p:nvPr>
            <p:extLst>
              <p:ext uri="{D42A27DB-BD31-4B8C-83A1-F6EECF244321}">
                <p14:modId xmlns:p14="http://schemas.microsoft.com/office/powerpoint/2010/main" val="1802957604"/>
              </p:ext>
            </p:extLst>
          </p:nvPr>
        </p:nvGraphicFramePr>
        <p:xfrm>
          <a:off x="1787096" y="2212148"/>
          <a:ext cx="5244020" cy="2269061"/>
        </p:xfrm>
        <a:graphic>
          <a:graphicData uri="http://schemas.openxmlformats.org/presentationml/2006/ole">
            <mc:AlternateContent xmlns:mc="http://schemas.openxmlformats.org/markup-compatibility/2006">
              <mc:Choice xmlns:v="urn:schemas-microsoft-com:vml" Requires="v">
                <p:oleObj spid="_x0000_s2053" name="位图图像" r:id="rId3" imgW="2591162" imgH="1142857" progId="Paint.Picture">
                  <p:embed/>
                </p:oleObj>
              </mc:Choice>
              <mc:Fallback>
                <p:oleObj name="位图图像" r:id="rId3" imgW="2591162" imgH="1142857" progId="Paint.Picture">
                  <p:embed/>
                  <p:pic>
                    <p:nvPicPr>
                      <p:cNvPr id="14" name="Object 6"/>
                      <p:cNvPicPr>
                        <a:picLocks noChangeAspect="1" noChangeArrowheads="1"/>
                      </p:cNvPicPr>
                      <p:nvPr/>
                    </p:nvPicPr>
                    <p:blipFill>
                      <a:blip r:embed="rId4">
                        <a:lum contrast="66000"/>
                        <a:extLst>
                          <a:ext uri="{28A0092B-C50C-407E-A947-70E740481C1C}">
                            <a14:useLocalDpi xmlns:a14="http://schemas.microsoft.com/office/drawing/2010/main" val="0"/>
                          </a:ext>
                        </a:extLst>
                      </a:blip>
                      <a:srcRect/>
                      <a:stretch>
                        <a:fillRect/>
                      </a:stretch>
                    </p:blipFill>
                    <p:spPr bwMode="auto">
                      <a:xfrm>
                        <a:off x="1787096" y="2212148"/>
                        <a:ext cx="5244020" cy="2269061"/>
                      </a:xfrm>
                      <a:prstGeom prst="rect">
                        <a:avLst/>
                      </a:prstGeom>
                      <a:noFill/>
                      <a:ln>
                        <a:noFill/>
                      </a:ln>
                    </p:spPr>
                  </p:pic>
                </p:oleObj>
              </mc:Fallback>
            </mc:AlternateContent>
          </a:graphicData>
        </a:graphic>
      </p:graphicFrame>
      <p:sp>
        <p:nvSpPr>
          <p:cNvPr id="4" name="Rectangle 9"/>
          <p:cNvSpPr>
            <a:spLocks noChangeArrowheads="1"/>
          </p:cNvSpPr>
          <p:nvPr/>
        </p:nvSpPr>
        <p:spPr bwMode="auto">
          <a:xfrm>
            <a:off x="691087" y="4974191"/>
            <a:ext cx="7831476" cy="1274195"/>
          </a:xfrm>
          <a:prstGeom prst="rect">
            <a:avLst/>
          </a:prstGeom>
        </p:spPr>
        <p:txBody>
          <a:bodyPr wrap="square">
            <a:spAutoFit/>
          </a:bodyPr>
          <a:lstStyle/>
          <a:p>
            <a:pPr>
              <a:lnSpc>
                <a:spcPct val="160000"/>
              </a:lnSpc>
              <a:buClr>
                <a:srgbClr val="0BD0D9"/>
              </a:buClr>
              <a:buSzPct val="95000"/>
            </a:pPr>
            <a:r>
              <a:rPr lang="zh-CN" altLang="en-US" sz="2400" dirty="0">
                <a:latin typeface="楷体" panose="02010609060101010101" pitchFamily="49" charset="-122"/>
                <a:ea typeface="楷体" panose="02010609060101010101" pitchFamily="49" charset="-122"/>
              </a:rPr>
              <a:t>    在</a:t>
            </a:r>
            <a:r>
              <a:rPr lang="en-US" altLang="zh-CN" sz="2400" dirty="0">
                <a:latin typeface="楷体" panose="02010609060101010101" pitchFamily="49" charset="-122"/>
                <a:ea typeface="楷体" panose="02010609060101010101" pitchFamily="49" charset="-122"/>
              </a:rPr>
              <a:t>IR7</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IR0</a:t>
            </a:r>
            <a:r>
              <a:rPr lang="zh-CN" altLang="en-US" sz="2400" dirty="0">
                <a:latin typeface="楷体" panose="02010609060101010101" pitchFamily="49" charset="-122"/>
                <a:ea typeface="楷体" panose="02010609060101010101" pitchFamily="49" charset="-122"/>
              </a:rPr>
              <a:t>上输入中断请求，</a:t>
            </a:r>
            <a:r>
              <a:rPr lang="en-US" altLang="zh-CN" sz="2400" dirty="0" smtClean="0">
                <a:latin typeface="楷体" panose="02010609060101010101" pitchFamily="49" charset="-122"/>
                <a:ea typeface="楷体" panose="02010609060101010101" pitchFamily="49" charset="-122"/>
              </a:rPr>
              <a:t>INT</a:t>
            </a:r>
            <a:r>
              <a:rPr lang="zh-CN" altLang="en-US" sz="2400" dirty="0" smtClean="0">
                <a:latin typeface="楷体" panose="02010609060101010101" pitchFamily="49" charset="-122"/>
                <a:ea typeface="楷体" panose="02010609060101010101" pitchFamily="49" charset="-122"/>
              </a:rPr>
              <a:t>与</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相连接。这时，中断请求输入共计有</a:t>
            </a:r>
            <a:r>
              <a:rPr lang="en-US" altLang="zh-CN" sz="2400" dirty="0">
                <a:latin typeface="楷体" panose="02010609060101010101" pitchFamily="49" charset="-122"/>
                <a:ea typeface="楷体" panose="02010609060101010101" pitchFamily="49" charset="-122"/>
              </a:rPr>
              <a:t>IR0</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IR7</a:t>
            </a:r>
            <a:r>
              <a:rPr lang="zh-CN" altLang="en-US" sz="2400" dirty="0">
                <a:latin typeface="楷体" panose="02010609060101010101" pitchFamily="49" charset="-122"/>
                <a:ea typeface="楷体" panose="02010609060101010101" pitchFamily="49" charset="-122"/>
              </a:rPr>
              <a:t>，共</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个级别。 </a:t>
            </a:r>
          </a:p>
        </p:txBody>
      </p:sp>
    </p:spTree>
    <p:extLst>
      <p:ext uri="{BB962C8B-B14F-4D97-AF65-F5344CB8AC3E}">
        <p14:creationId xmlns:p14="http://schemas.microsoft.com/office/powerpoint/2010/main" val="428852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3633" y="1257501"/>
            <a:ext cx="2185214"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8259A</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级联使用</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 name="Object 8"/>
          <p:cNvGraphicFramePr>
            <a:graphicFrameLocks noChangeAspect="1"/>
          </p:cNvGraphicFramePr>
          <p:nvPr>
            <p:extLst>
              <p:ext uri="{D42A27DB-BD31-4B8C-83A1-F6EECF244321}">
                <p14:modId xmlns:p14="http://schemas.microsoft.com/office/powerpoint/2010/main" val="1437113951"/>
              </p:ext>
            </p:extLst>
          </p:nvPr>
        </p:nvGraphicFramePr>
        <p:xfrm>
          <a:off x="1279695" y="1822497"/>
          <a:ext cx="5813563" cy="4641696"/>
        </p:xfrm>
        <a:graphic>
          <a:graphicData uri="http://schemas.openxmlformats.org/presentationml/2006/ole">
            <mc:AlternateContent xmlns:mc="http://schemas.openxmlformats.org/markup-compatibility/2006">
              <mc:Choice xmlns:v="urn:schemas-microsoft-com:vml" Requires="v">
                <p:oleObj spid="_x0000_s3077" name="Visio" r:id="rId3" imgW="4794504" imgH="3827069" progId="Visio.Drawing.11">
                  <p:embed/>
                </p:oleObj>
              </mc:Choice>
              <mc:Fallback>
                <p:oleObj name="Visio" r:id="rId3" imgW="4794504" imgH="3827069" progId="Visio.Drawing.11">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695" y="1822497"/>
                        <a:ext cx="5813563" cy="464169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73235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6183298"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10.2.2 8259A</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的命令字</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4" name="Text Box 2"/>
          <p:cNvSpPr txBox="1">
            <a:spLocks noChangeArrowheads="1"/>
          </p:cNvSpPr>
          <p:nvPr/>
        </p:nvSpPr>
        <p:spPr bwMode="auto">
          <a:xfrm>
            <a:off x="874659" y="1481623"/>
            <a:ext cx="7258327" cy="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40000"/>
              </a:lnSpc>
              <a:buClr>
                <a:srgbClr val="0BD0D9"/>
              </a:buClr>
              <a:buSzPct val="95000"/>
              <a:buFont typeface="Wingdings 2" panose="05020102010507070707" pitchFamily="18" charset="2"/>
              <a:buNone/>
            </a:pPr>
            <a:r>
              <a:rPr lang="en-US" altLang="zh-CN" sz="2800" dirty="0" smtClean="0">
                <a:latin typeface="楷体" panose="02010609060101010101" pitchFamily="49" charset="-122"/>
                <a:ea typeface="楷体" panose="02010609060101010101" pitchFamily="49" charset="-122"/>
              </a:rPr>
              <a:t>8259A</a:t>
            </a:r>
            <a:r>
              <a:rPr lang="zh-CN" altLang="en-US" sz="2800" dirty="0">
                <a:latin typeface="楷体" panose="02010609060101010101" pitchFamily="49" charset="-122"/>
                <a:ea typeface="楷体" panose="02010609060101010101" pitchFamily="49" charset="-122"/>
              </a:rPr>
              <a:t>的命令字</a:t>
            </a:r>
            <a:r>
              <a:rPr lang="zh-CN" altLang="en-US" sz="2800" dirty="0" smtClean="0">
                <a:latin typeface="楷体" panose="02010609060101010101" pitchFamily="49" charset="-122"/>
                <a:ea typeface="楷体" panose="02010609060101010101" pitchFamily="49" charset="-122"/>
              </a:rPr>
              <a:t>包括：</a:t>
            </a:r>
            <a:endParaRPr lang="en-US" altLang="zh-CN" sz="2800" dirty="0" smtClean="0">
              <a:latin typeface="楷体" panose="02010609060101010101" pitchFamily="49" charset="-122"/>
              <a:ea typeface="楷体" panose="02010609060101010101" pitchFamily="49" charset="-122"/>
            </a:endParaRPr>
          </a:p>
        </p:txBody>
      </p:sp>
      <p:sp>
        <p:nvSpPr>
          <p:cNvPr id="5" name="矩形 4"/>
          <p:cNvSpPr/>
          <p:nvPr/>
        </p:nvSpPr>
        <p:spPr>
          <a:xfrm>
            <a:off x="874658" y="2518037"/>
            <a:ext cx="8011889" cy="1754326"/>
          </a:xfrm>
          <a:prstGeom prst="rect">
            <a:avLst/>
          </a:prstGeom>
        </p:spPr>
        <p:txBody>
          <a:bodyPr wrap="square">
            <a:spAutoFit/>
          </a:bodyPr>
          <a:lstStyle/>
          <a:p>
            <a:pPr>
              <a:lnSpc>
                <a:spcPct val="150000"/>
              </a:lnSpc>
            </a:pPr>
            <a:r>
              <a:rPr lang="zh-CN" altLang="en-US" sz="2400" dirty="0" smtClean="0">
                <a:latin typeface="楷体" panose="02010609060101010101" pitchFamily="49" charset="-122"/>
                <a:ea typeface="楷体" panose="02010609060101010101" pitchFamily="49" charset="-122"/>
              </a:rPr>
              <a:t>    初始设定</a:t>
            </a:r>
            <a:r>
              <a:rPr lang="zh-CN" altLang="en-US" sz="2400" dirty="0">
                <a:latin typeface="楷体" panose="02010609060101010101" pitchFamily="49" charset="-122"/>
                <a:ea typeface="楷体" panose="02010609060101010101" pitchFamily="49" charset="-122"/>
              </a:rPr>
              <a:t>的</a:t>
            </a:r>
            <a:r>
              <a:rPr lang="zh-CN" altLang="en-US" sz="2400" dirty="0">
                <a:solidFill>
                  <a:srgbClr val="FF0066"/>
                </a:solidFill>
                <a:latin typeface="楷体" panose="02010609060101010101" pitchFamily="49" charset="-122"/>
                <a:ea typeface="楷体" panose="02010609060101010101" pitchFamily="49" charset="-122"/>
              </a:rPr>
              <a:t>初始化命令字</a:t>
            </a:r>
            <a:r>
              <a:rPr lang="en-US" altLang="zh-CN" sz="2400" dirty="0" smtClean="0">
                <a:solidFill>
                  <a:srgbClr val="FF0066"/>
                </a:solidFill>
                <a:latin typeface="楷体" panose="02010609060101010101" pitchFamily="49" charset="-122"/>
                <a:ea typeface="楷体" panose="02010609060101010101" pitchFamily="49" charset="-122"/>
              </a:rPr>
              <a:t>ICW</a:t>
            </a:r>
            <a:r>
              <a:rPr lang="zh-CN" altLang="en-US" sz="2400" dirty="0" smtClean="0">
                <a:solidFill>
                  <a:srgbClr val="FF0066"/>
                </a:solidFill>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包括</a:t>
            </a:r>
            <a:r>
              <a:rPr lang="en-US" altLang="zh-CN" sz="2400" dirty="0">
                <a:latin typeface="楷体" panose="02010609060101010101" pitchFamily="49" charset="-122"/>
                <a:ea typeface="楷体" panose="02010609060101010101" pitchFamily="49" charset="-122"/>
              </a:rPr>
              <a:t>ICW</a:t>
            </a:r>
            <a:r>
              <a:rPr lang="en-US" altLang="zh-CN" sz="2400" baseline="-250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ICW</a:t>
            </a:r>
            <a:r>
              <a:rPr lang="en-US" altLang="zh-CN" sz="2400" baseline="-25000" dirty="0" smtClean="0">
                <a:latin typeface="楷体" panose="02010609060101010101" pitchFamily="49" charset="-122"/>
                <a:ea typeface="楷体" panose="02010609060101010101" pitchFamily="49" charset="-122"/>
              </a:rPr>
              <a:t>4 </a:t>
            </a:r>
            <a:r>
              <a:rPr lang="en-US" altLang="zh-CN" sz="2400" dirty="0" smtClean="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个命令字，</a:t>
            </a:r>
            <a:r>
              <a:rPr lang="zh-CN" altLang="en-US" sz="2400" dirty="0">
                <a:solidFill>
                  <a:srgbClr val="3333FF"/>
                </a:solidFill>
                <a:latin typeface="楷体" panose="02010609060101010101" pitchFamily="49" charset="-122"/>
                <a:ea typeface="楷体" panose="02010609060101010101" pitchFamily="49" charset="-122"/>
              </a:rPr>
              <a:t>用于设定</a:t>
            </a:r>
            <a:r>
              <a:rPr lang="en-US" altLang="zh-CN" sz="2400" dirty="0">
                <a:solidFill>
                  <a:srgbClr val="3333FF"/>
                </a:solidFill>
                <a:latin typeface="楷体" panose="02010609060101010101" pitchFamily="49" charset="-122"/>
                <a:ea typeface="楷体" panose="02010609060101010101" pitchFamily="49" charset="-122"/>
              </a:rPr>
              <a:t>8259A</a:t>
            </a:r>
            <a:r>
              <a:rPr lang="zh-CN" altLang="en-US" sz="2400" dirty="0">
                <a:solidFill>
                  <a:srgbClr val="3333FF"/>
                </a:solidFill>
                <a:latin typeface="楷体" panose="02010609060101010101" pitchFamily="49" charset="-122"/>
                <a:ea typeface="楷体" panose="02010609060101010101" pitchFamily="49" charset="-122"/>
              </a:rPr>
              <a:t>的工作方式、中断类型码等</a:t>
            </a:r>
            <a:r>
              <a:rPr lang="zh-CN" altLang="en-US" sz="2400" dirty="0">
                <a:latin typeface="楷体" panose="02010609060101010101" pitchFamily="49" charset="-122"/>
                <a:ea typeface="楷体" panose="02010609060101010101" pitchFamily="49" charset="-122"/>
              </a:rPr>
              <a:t>。</a:t>
            </a:r>
          </a:p>
          <a:p>
            <a:pPr>
              <a:lnSpc>
                <a:spcPct val="150000"/>
              </a:lnSpc>
            </a:pPr>
            <a:endParaRPr lang="zh-CN" altLang="en-US" sz="2400" dirty="0">
              <a:latin typeface="楷体" panose="02010609060101010101" pitchFamily="49" charset="-122"/>
              <a:ea typeface="楷体" panose="02010609060101010101" pitchFamily="49" charset="-122"/>
            </a:endParaRPr>
          </a:p>
        </p:txBody>
      </p:sp>
      <p:sp>
        <p:nvSpPr>
          <p:cNvPr id="6" name="矩形 5"/>
          <p:cNvSpPr/>
          <p:nvPr/>
        </p:nvSpPr>
        <p:spPr>
          <a:xfrm>
            <a:off x="874658" y="4198260"/>
            <a:ext cx="8011889" cy="1754326"/>
          </a:xfrm>
          <a:prstGeom prst="rect">
            <a:avLst/>
          </a:prstGeom>
        </p:spPr>
        <p:txBody>
          <a:bodyPr wrap="square">
            <a:spAutoFit/>
          </a:bodyPr>
          <a:lstStyle/>
          <a:p>
            <a:pPr>
              <a:lnSpc>
                <a:spcPct val="150000"/>
              </a:lnSpc>
              <a:buClr>
                <a:srgbClr val="0BD0D9"/>
              </a:buClr>
              <a:buSzPct val="95000"/>
            </a:pPr>
            <a:r>
              <a:rPr lang="zh-CN" altLang="en-US" sz="2400" dirty="0" smtClean="0">
                <a:latin typeface="楷体" panose="02010609060101010101" pitchFamily="49" charset="-122"/>
                <a:ea typeface="楷体" panose="02010609060101010101" pitchFamily="49" charset="-122"/>
              </a:rPr>
              <a:t>    操作</a:t>
            </a:r>
            <a:r>
              <a:rPr lang="zh-CN" altLang="en-US" sz="2400" dirty="0">
                <a:latin typeface="楷体" panose="02010609060101010101" pitchFamily="49" charset="-122"/>
                <a:ea typeface="楷体" panose="02010609060101010101" pitchFamily="49" charset="-122"/>
              </a:rPr>
              <a:t>过程中给出的</a:t>
            </a:r>
            <a:r>
              <a:rPr lang="zh-CN" altLang="en-US" sz="2400" dirty="0">
                <a:solidFill>
                  <a:srgbClr val="FF0066"/>
                </a:solidFill>
                <a:latin typeface="楷体" panose="02010609060101010101" pitchFamily="49" charset="-122"/>
                <a:ea typeface="楷体" panose="02010609060101010101" pitchFamily="49" charset="-122"/>
              </a:rPr>
              <a:t>操作命令字</a:t>
            </a:r>
            <a:r>
              <a:rPr lang="en-US" altLang="zh-CN" sz="2400" dirty="0" smtClean="0">
                <a:solidFill>
                  <a:srgbClr val="FF0066"/>
                </a:solidFill>
                <a:latin typeface="楷体" panose="02010609060101010101" pitchFamily="49" charset="-122"/>
                <a:ea typeface="楷体" panose="02010609060101010101" pitchFamily="49" charset="-122"/>
              </a:rPr>
              <a:t>OCW</a:t>
            </a:r>
            <a:r>
              <a:rPr lang="zh-CN" altLang="en-US" sz="2400" dirty="0" smtClean="0">
                <a:solidFill>
                  <a:srgbClr val="FF0066"/>
                </a:solidFill>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操作</a:t>
            </a:r>
            <a:r>
              <a:rPr lang="zh-CN" altLang="en-US" sz="2400" dirty="0">
                <a:latin typeface="楷体" panose="02010609060101010101" pitchFamily="49" charset="-122"/>
                <a:ea typeface="楷体" panose="02010609060101010101" pitchFamily="49" charset="-122"/>
              </a:rPr>
              <a:t>过程中给出的命令</a:t>
            </a:r>
            <a:r>
              <a:rPr lang="en-US" altLang="zh-CN"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初始设定结束</a:t>
            </a:r>
            <a:r>
              <a:rPr lang="zh-CN" altLang="en-US" sz="2400" dirty="0">
                <a:latin typeface="楷体" panose="02010609060101010101" pitchFamily="49" charset="-122"/>
                <a:ea typeface="楷体" panose="02010609060101010101" pitchFamily="49" charset="-122"/>
              </a:rPr>
              <a:t>后的命令字都是</a:t>
            </a:r>
            <a:r>
              <a:rPr lang="en-US" altLang="zh-CN" sz="2400" dirty="0">
                <a:latin typeface="楷体" panose="02010609060101010101" pitchFamily="49" charset="-122"/>
                <a:ea typeface="楷体" panose="02010609060101010101" pitchFamily="49" charset="-122"/>
              </a:rPr>
              <a:t>OCW</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OCW</a:t>
            </a:r>
            <a:r>
              <a:rPr lang="zh-CN" altLang="en-US" sz="2400" dirty="0">
                <a:latin typeface="楷体" panose="02010609060101010101" pitchFamily="49" charset="-122"/>
                <a:ea typeface="楷体" panose="02010609060101010101" pitchFamily="49" charset="-122"/>
              </a:rPr>
              <a:t>包括 </a:t>
            </a:r>
            <a:r>
              <a:rPr lang="en-US" altLang="zh-CN" sz="2400" dirty="0">
                <a:latin typeface="楷体" panose="02010609060101010101" pitchFamily="49" charset="-122"/>
                <a:ea typeface="楷体" panose="02010609060101010101" pitchFamily="49" charset="-122"/>
              </a:rPr>
              <a:t>OCW1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OCW3 3</a:t>
            </a:r>
            <a:r>
              <a:rPr lang="zh-CN" altLang="en-US" sz="2400" dirty="0">
                <a:latin typeface="楷体" panose="02010609060101010101" pitchFamily="49" charset="-122"/>
                <a:ea typeface="楷体" panose="02010609060101010101" pitchFamily="49" charset="-122"/>
              </a:rPr>
              <a:t>个</a:t>
            </a:r>
            <a:r>
              <a:rPr lang="zh-CN" altLang="en-US" sz="2400" dirty="0" smtClean="0">
                <a:latin typeface="楷体" panose="02010609060101010101" pitchFamily="49" charset="-122"/>
                <a:ea typeface="楷体" panose="02010609060101010101" pitchFamily="49" charset="-122"/>
              </a:rPr>
              <a:t>命令字</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0675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859617" y="1208273"/>
            <a:ext cx="2877711" cy="52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lang="zh-CN" altLang="en-US" sz="2800" dirty="0" smtClean="0">
                <a:solidFill>
                  <a:srgbClr val="FF0000"/>
                </a:solidFill>
                <a:latin typeface="楷体" panose="02010609060101010101" pitchFamily="49" charset="-122"/>
                <a:ea typeface="楷体" panose="02010609060101010101" pitchFamily="49" charset="-122"/>
              </a:rPr>
              <a:t>初始化命令字</a:t>
            </a:r>
            <a:r>
              <a:rPr lang="en-US" altLang="zh-CN" sz="2800" dirty="0" smtClean="0">
                <a:solidFill>
                  <a:srgbClr val="FF0000"/>
                </a:solidFill>
                <a:latin typeface="楷体" panose="02010609060101010101" pitchFamily="49" charset="-122"/>
                <a:ea typeface="楷体" panose="02010609060101010101" pitchFamily="49" charset="-122"/>
              </a:rPr>
              <a:t>ICW</a:t>
            </a:r>
            <a:endParaRPr lang="zh-CN" altLang="en-US" sz="2800" dirty="0">
              <a:solidFill>
                <a:srgbClr val="FF0000"/>
              </a:solidFill>
              <a:latin typeface="楷体" panose="02010609060101010101" pitchFamily="49" charset="-122"/>
              <a:ea typeface="楷体" panose="02010609060101010101" pitchFamily="49" charset="-122"/>
            </a:endParaRPr>
          </a:p>
        </p:txBody>
      </p:sp>
      <p:sp>
        <p:nvSpPr>
          <p:cNvPr id="3" name="Text Box 5"/>
          <p:cNvSpPr txBox="1">
            <a:spLocks noChangeArrowheads="1"/>
          </p:cNvSpPr>
          <p:nvPr/>
        </p:nvSpPr>
        <p:spPr bwMode="auto">
          <a:xfrm>
            <a:off x="859617" y="1852066"/>
            <a:ext cx="7174674" cy="438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0000"/>
              </a:lnSpc>
              <a:buClr>
                <a:srgbClr val="0BD0D9"/>
              </a:buClr>
              <a:buSzPct val="95000"/>
              <a:buFont typeface="Wingdings 2" panose="05020102010507070707" pitchFamily="18" charset="2"/>
              <a:buNone/>
            </a:pPr>
            <a:r>
              <a:rPr lang="zh-CN" altLang="en-US" sz="2000" dirty="0" smtClean="0">
                <a:latin typeface="楷体" panose="02010609060101010101" pitchFamily="49" charset="-122"/>
                <a:ea typeface="楷体" panose="02010609060101010101" pitchFamily="49" charset="-122"/>
              </a:rPr>
              <a:t>对于</a:t>
            </a:r>
            <a:r>
              <a:rPr lang="en-US" altLang="zh-CN" sz="2000" dirty="0">
                <a:latin typeface="楷体" panose="02010609060101010101" pitchFamily="49" charset="-122"/>
                <a:ea typeface="楷体" panose="02010609060101010101" pitchFamily="49" charset="-122"/>
              </a:rPr>
              <a:t>80x86</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ICW</a:t>
            </a:r>
            <a:r>
              <a:rPr lang="zh-CN" altLang="en-US" sz="2000" dirty="0">
                <a:latin typeface="楷体" panose="02010609060101010101" pitchFamily="49" charset="-122"/>
                <a:ea typeface="楷体" panose="02010609060101010101" pitchFamily="49" charset="-122"/>
              </a:rPr>
              <a:t>命令字设置过程如下图所</a:t>
            </a:r>
            <a:r>
              <a:rPr lang="zh-CN" altLang="en-US" sz="2000" dirty="0" smtClean="0">
                <a:latin typeface="楷体" panose="02010609060101010101" pitchFamily="49" charset="-122"/>
                <a:ea typeface="楷体" panose="02010609060101010101" pitchFamily="49" charset="-122"/>
              </a:rPr>
              <a:t>示：</a:t>
            </a:r>
            <a:endParaRPr lang="zh-CN" altLang="en-US" sz="2000" dirty="0">
              <a:latin typeface="楷体" panose="02010609060101010101" pitchFamily="49" charset="-122"/>
              <a:ea typeface="楷体" panose="02010609060101010101" pitchFamily="49" charset="-122"/>
            </a:endParaRPr>
          </a:p>
        </p:txBody>
      </p:sp>
      <p:sp>
        <p:nvSpPr>
          <p:cNvPr id="4" name="圆角矩形 3"/>
          <p:cNvSpPr/>
          <p:nvPr/>
        </p:nvSpPr>
        <p:spPr>
          <a:xfrm>
            <a:off x="3053919" y="1443174"/>
            <a:ext cx="4740676" cy="105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LTIM</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为电平触发中断，</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为边沿触发中断</a:t>
            </a:r>
            <a:endParaRPr lang="en-US" altLang="zh-CN" dirty="0">
              <a:latin typeface="楷体" panose="02010609060101010101" pitchFamily="49" charset="-122"/>
              <a:ea typeface="楷体" panose="02010609060101010101" pitchFamily="49" charset="-122"/>
            </a:endParaRPr>
          </a:p>
          <a:p>
            <a:pPr>
              <a:buClr>
                <a:srgbClr val="0BD0D9"/>
              </a:buClr>
              <a:buSzPct val="95000"/>
              <a:buNone/>
            </a:pPr>
            <a:r>
              <a:rPr lang="en-US" altLang="zh-CN" dirty="0">
                <a:solidFill>
                  <a:srgbClr val="FF0000"/>
                </a:solidFill>
                <a:latin typeface="楷体" panose="02010609060101010101" pitchFamily="49" charset="-122"/>
                <a:ea typeface="楷体" panose="02010609060101010101" pitchFamily="49" charset="-122"/>
              </a:rPr>
              <a:t>SNGL</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为单独使用，</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为级连使用</a:t>
            </a:r>
            <a:endParaRPr lang="en-US" altLang="zh-CN" dirty="0">
              <a:latin typeface="楷体" panose="02010609060101010101" pitchFamily="49" charset="-122"/>
              <a:ea typeface="楷体" panose="02010609060101010101" pitchFamily="49" charset="-122"/>
            </a:endParaRPr>
          </a:p>
          <a:p>
            <a:pPr>
              <a:buClr>
                <a:srgbClr val="0BD0D9"/>
              </a:buClr>
              <a:buSzPct val="95000"/>
              <a:buNone/>
            </a:pPr>
            <a:r>
              <a:rPr lang="en-US" altLang="zh-CN" dirty="0">
                <a:solidFill>
                  <a:srgbClr val="FF0000"/>
                </a:solidFill>
                <a:latin typeface="楷体" panose="02010609060101010101" pitchFamily="49" charset="-122"/>
                <a:ea typeface="楷体" panose="02010609060101010101" pitchFamily="49" charset="-122"/>
              </a:rPr>
              <a:t>IC4</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为设置</a:t>
            </a:r>
            <a:r>
              <a:rPr lang="en-US" altLang="zh-CN" dirty="0" smtClean="0">
                <a:latin typeface="楷体" panose="02010609060101010101" pitchFamily="49" charset="-122"/>
                <a:ea typeface="楷体" panose="02010609060101010101" pitchFamily="49" charset="-122"/>
              </a:rPr>
              <a:t>ICW4</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为不设置</a:t>
            </a:r>
            <a:r>
              <a:rPr lang="en-US" altLang="zh-CN" dirty="0" smtClean="0">
                <a:latin typeface="楷体" panose="02010609060101010101" pitchFamily="49" charset="-122"/>
                <a:ea typeface="楷体" panose="02010609060101010101" pitchFamily="49" charset="-122"/>
              </a:rPr>
              <a:t>ICW4</a:t>
            </a:r>
            <a:endParaRPr lang="zh-CN" altLang="en-US" dirty="0">
              <a:latin typeface="楷体" panose="02010609060101010101" pitchFamily="49" charset="-122"/>
              <a:ea typeface="楷体" panose="02010609060101010101" pitchFamily="49" charset="-122"/>
            </a:endParaRPr>
          </a:p>
        </p:txBody>
      </p:sp>
      <p:grpSp>
        <p:nvGrpSpPr>
          <p:cNvPr id="5" name="组合 4"/>
          <p:cNvGrpSpPr/>
          <p:nvPr/>
        </p:nvGrpSpPr>
        <p:grpSpPr>
          <a:xfrm>
            <a:off x="925112" y="2529850"/>
            <a:ext cx="6576519" cy="4129944"/>
            <a:chOff x="925112" y="2529850"/>
            <a:chExt cx="6576519" cy="4129944"/>
          </a:xfrm>
        </p:grpSpPr>
        <p:graphicFrame>
          <p:nvGraphicFramePr>
            <p:cNvPr id="6" name="Object 6"/>
            <p:cNvGraphicFramePr>
              <a:graphicFrameLocks noChangeAspect="1"/>
            </p:cNvGraphicFramePr>
            <p:nvPr>
              <p:extLst>
                <p:ext uri="{D42A27DB-BD31-4B8C-83A1-F6EECF244321}">
                  <p14:modId xmlns:p14="http://schemas.microsoft.com/office/powerpoint/2010/main" val="3121339223"/>
                </p:ext>
              </p:extLst>
            </p:nvPr>
          </p:nvGraphicFramePr>
          <p:xfrm>
            <a:off x="925112" y="2529850"/>
            <a:ext cx="6576519" cy="4129944"/>
          </p:xfrm>
          <a:graphic>
            <a:graphicData uri="http://schemas.openxmlformats.org/presentationml/2006/ole">
              <mc:AlternateContent xmlns:mc="http://schemas.openxmlformats.org/markup-compatibility/2006">
                <mc:Choice xmlns:v="urn:schemas-microsoft-com:vml" Requires="v">
                  <p:oleObj spid="_x0000_s4101" name="Visio" r:id="rId3" imgW="5281270" imgH="3044647" progId="Visio.Drawing.11">
                    <p:embed/>
                  </p:oleObj>
                </mc:Choice>
                <mc:Fallback>
                  <p:oleObj name="Visio" r:id="rId3" imgW="5281270" imgH="3044647" progId="Visio.Drawing.11">
                    <p:embed/>
                    <p:pic>
                      <p:nvPicPr>
                        <p:cNvPr id="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112" y="2529850"/>
                          <a:ext cx="6576519" cy="4129944"/>
                        </a:xfrm>
                        <a:prstGeom prst="rect">
                          <a:avLst/>
                        </a:prstGeom>
                        <a:noFill/>
                        <a:ln>
                          <a:noFill/>
                        </a:ln>
                        <a:effectLst/>
                      </p:spPr>
                    </p:pic>
                  </p:oleObj>
                </mc:Fallback>
              </mc:AlternateContent>
            </a:graphicData>
          </a:graphic>
        </p:graphicFrame>
        <p:sp>
          <p:nvSpPr>
            <p:cNvPr id="7" name="文本框 2"/>
            <p:cNvSpPr txBox="1">
              <a:spLocks noChangeArrowheads="1"/>
            </p:cNvSpPr>
            <p:nvPr/>
          </p:nvSpPr>
          <p:spPr bwMode="auto">
            <a:xfrm>
              <a:off x="951746" y="3531477"/>
              <a:ext cx="856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i="1" dirty="0">
                  <a:latin typeface="宋体" panose="02010600030101010101" pitchFamily="2" charset="-122"/>
                </a:rPr>
                <a:t>A</a:t>
              </a:r>
              <a:r>
                <a:rPr lang="en-US" altLang="zh-CN" sz="1050" b="0" i="1" dirty="0">
                  <a:latin typeface="宋体" panose="02010600030101010101" pitchFamily="2" charset="-122"/>
                </a:rPr>
                <a:t>0</a:t>
              </a:r>
              <a:r>
                <a:rPr lang="en-US" altLang="zh-CN" sz="1800" b="0" dirty="0">
                  <a:latin typeface="宋体" panose="02010600030101010101" pitchFamily="2" charset="-122"/>
                </a:rPr>
                <a:t>=1</a:t>
              </a:r>
              <a:endParaRPr lang="zh-CN" altLang="en-US" sz="1800" b="0" dirty="0">
                <a:latin typeface="宋体" panose="02010600030101010101" pitchFamily="2" charset="-122"/>
              </a:endParaRPr>
            </a:p>
          </p:txBody>
        </p:sp>
      </p:grpSp>
      <p:sp>
        <p:nvSpPr>
          <p:cNvPr id="8" name="圆角矩形 7"/>
          <p:cNvSpPr/>
          <p:nvPr/>
        </p:nvSpPr>
        <p:spPr>
          <a:xfrm>
            <a:off x="81380" y="2620552"/>
            <a:ext cx="4898994" cy="8013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T7</a:t>
            </a:r>
            <a:r>
              <a:rPr lang="zh-CN" altLang="en-US" dirty="0">
                <a:solidFill>
                  <a:srgbClr val="FF0000"/>
                </a:solidFill>
                <a:latin typeface="楷体" panose="02010609060101010101" pitchFamily="49" charset="-122"/>
                <a:ea typeface="楷体" panose="02010609060101010101" pitchFamily="49" charset="-122"/>
              </a:rPr>
              <a:t>～</a:t>
            </a:r>
            <a:r>
              <a:rPr lang="en-US" altLang="zh-CN" dirty="0">
                <a:solidFill>
                  <a:srgbClr val="FF0000"/>
                </a:solidFill>
                <a:latin typeface="楷体" panose="02010609060101010101" pitchFamily="49" charset="-122"/>
                <a:ea typeface="楷体" panose="02010609060101010101" pitchFamily="49" charset="-122"/>
              </a:rPr>
              <a:t>T3</a:t>
            </a:r>
            <a:r>
              <a:rPr lang="zh-CN" altLang="en-US" dirty="0">
                <a:latin typeface="楷体" panose="02010609060101010101" pitchFamily="49" charset="-122"/>
                <a:ea typeface="楷体" panose="02010609060101010101" pitchFamily="49" charset="-122"/>
              </a:rPr>
              <a:t>：中断类型码高</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位（低</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位为</a:t>
            </a:r>
            <a:r>
              <a:rPr lang="en-US" altLang="zh-CN" dirty="0">
                <a:latin typeface="楷体" panose="02010609060101010101" pitchFamily="49" charset="-122"/>
                <a:ea typeface="楷体" panose="02010609060101010101" pitchFamily="49" charset="-122"/>
              </a:rPr>
              <a:t>IR7</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IR0</a:t>
            </a:r>
            <a:r>
              <a:rPr lang="zh-CN" altLang="en-US" dirty="0">
                <a:latin typeface="楷体" panose="02010609060101010101" pitchFamily="49" charset="-122"/>
                <a:ea typeface="楷体" panose="02010609060101010101" pitchFamily="49" charset="-122"/>
              </a:rPr>
              <a:t>编码后的值）</a:t>
            </a:r>
          </a:p>
        </p:txBody>
      </p:sp>
      <p:sp>
        <p:nvSpPr>
          <p:cNvPr id="9" name="圆角矩形 8"/>
          <p:cNvSpPr/>
          <p:nvPr/>
        </p:nvSpPr>
        <p:spPr>
          <a:xfrm>
            <a:off x="81379" y="3796292"/>
            <a:ext cx="4898995" cy="1414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ID2</a:t>
            </a:r>
            <a:r>
              <a:rPr lang="zh-CN" altLang="en-US" dirty="0">
                <a:solidFill>
                  <a:srgbClr val="FF0000"/>
                </a:solidFill>
                <a:latin typeface="楷体" panose="02010609060101010101" pitchFamily="49" charset="-122"/>
                <a:ea typeface="楷体" panose="02010609060101010101" pitchFamily="49" charset="-122"/>
              </a:rPr>
              <a:t>～</a:t>
            </a:r>
            <a:r>
              <a:rPr lang="en-US" altLang="zh-CN" dirty="0">
                <a:solidFill>
                  <a:srgbClr val="FF0000"/>
                </a:solidFill>
                <a:latin typeface="楷体" panose="02010609060101010101" pitchFamily="49" charset="-122"/>
                <a:ea typeface="楷体" panose="02010609060101010101" pitchFamily="49" charset="-122"/>
              </a:rPr>
              <a:t>ID0</a:t>
            </a:r>
            <a:r>
              <a:rPr lang="zh-CN" altLang="en-US" dirty="0" smtClean="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从片</a:t>
            </a:r>
            <a:r>
              <a:rPr lang="zh-CN" altLang="en-US" dirty="0" smtClean="0">
                <a:latin typeface="楷体" panose="02010609060101010101" pitchFamily="49" charset="-122"/>
                <a:ea typeface="楷体" panose="02010609060101010101" pitchFamily="49" charset="-122"/>
              </a:rPr>
              <a:t>使用，从</a:t>
            </a:r>
            <a:r>
              <a:rPr lang="zh-CN" altLang="en-US" dirty="0">
                <a:latin typeface="楷体" panose="02010609060101010101" pitchFamily="49" charset="-122"/>
                <a:ea typeface="楷体" panose="02010609060101010101" pitchFamily="49" charset="-122"/>
              </a:rPr>
              <a:t>片的识别地址（存放</a:t>
            </a:r>
            <a:r>
              <a:rPr lang="en-US" altLang="zh-CN" dirty="0">
                <a:latin typeface="楷体" panose="02010609060101010101" pitchFamily="49" charset="-122"/>
                <a:ea typeface="楷体" panose="02010609060101010101" pitchFamily="49" charset="-122"/>
              </a:rPr>
              <a:t>IR7</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IR0</a:t>
            </a:r>
            <a:r>
              <a:rPr lang="zh-CN" altLang="en-US" dirty="0">
                <a:latin typeface="楷体" panose="02010609060101010101" pitchFamily="49" charset="-122"/>
                <a:ea typeface="楷体" panose="02010609060101010101" pitchFamily="49" charset="-122"/>
              </a:rPr>
              <a:t>编码后的值</a:t>
            </a:r>
            <a:r>
              <a:rPr lang="zh-CN" altLang="en-US" dirty="0" smtClean="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S7</a:t>
            </a:r>
            <a:r>
              <a:rPr lang="zh-CN" altLang="en-US" dirty="0">
                <a:solidFill>
                  <a:srgbClr val="FF0000"/>
                </a:solidFill>
                <a:latin typeface="楷体" panose="02010609060101010101" pitchFamily="49" charset="-122"/>
                <a:ea typeface="楷体" panose="02010609060101010101" pitchFamily="49" charset="-122"/>
              </a:rPr>
              <a:t>～</a:t>
            </a:r>
            <a:r>
              <a:rPr lang="en-US" altLang="zh-CN" dirty="0">
                <a:solidFill>
                  <a:srgbClr val="FF0000"/>
                </a:solidFill>
                <a:latin typeface="楷体" panose="02010609060101010101" pitchFamily="49" charset="-122"/>
                <a:ea typeface="楷体" panose="02010609060101010101" pitchFamily="49" charset="-122"/>
              </a:rPr>
              <a:t>S0</a:t>
            </a:r>
            <a:r>
              <a:rPr lang="zh-CN" altLang="en-US" dirty="0">
                <a:latin typeface="楷体" panose="02010609060101010101" pitchFamily="49" charset="-122"/>
                <a:ea typeface="楷体" panose="02010609060101010101" pitchFamily="49" charset="-122"/>
              </a:rPr>
              <a:t>：主片使用，主片的</a:t>
            </a:r>
            <a:r>
              <a:rPr lang="en-US" altLang="zh-CN" dirty="0">
                <a:latin typeface="楷体" panose="02010609060101010101" pitchFamily="49" charset="-122"/>
                <a:ea typeface="楷体" panose="02010609060101010101" pitchFamily="49" charset="-122"/>
              </a:rPr>
              <a:t>IR7</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IR0</a:t>
            </a:r>
            <a:r>
              <a:rPr lang="zh-CN" altLang="en-US" dirty="0">
                <a:latin typeface="楷体" panose="02010609060101010101" pitchFamily="49" charset="-122"/>
                <a:ea typeface="楷体" panose="02010609060101010101" pitchFamily="49" charset="-122"/>
              </a:rPr>
              <a:t>上连接从片</a:t>
            </a:r>
            <a:r>
              <a:rPr lang="en-US" altLang="zh-CN" dirty="0">
                <a:latin typeface="楷体" panose="02010609060101010101" pitchFamily="49" charset="-122"/>
                <a:ea typeface="楷体" panose="02010609060101010101" pitchFamily="49" charset="-122"/>
              </a:rPr>
              <a:t>8259A</a:t>
            </a:r>
            <a:r>
              <a:rPr lang="zh-CN" altLang="en-US" dirty="0">
                <a:latin typeface="楷体" panose="02010609060101010101" pitchFamily="49" charset="-122"/>
                <a:ea typeface="楷体" panose="02010609060101010101" pitchFamily="49" charset="-122"/>
              </a:rPr>
              <a:t>时</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相对应的位为</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p>
        </p:txBody>
      </p:sp>
      <p:sp>
        <p:nvSpPr>
          <p:cNvPr id="10" name="圆角矩形 9"/>
          <p:cNvSpPr/>
          <p:nvPr/>
        </p:nvSpPr>
        <p:spPr>
          <a:xfrm>
            <a:off x="2047784" y="4504428"/>
            <a:ext cx="5865179" cy="14705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SFNM</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为特殊全嵌套方式，</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为全嵌套</a:t>
            </a:r>
            <a:r>
              <a:rPr lang="zh-CN" altLang="en-US" dirty="0" smtClean="0">
                <a:latin typeface="楷体" panose="02010609060101010101" pitchFamily="49" charset="-122"/>
                <a:ea typeface="楷体" panose="02010609060101010101" pitchFamily="49" charset="-122"/>
              </a:rPr>
              <a:t>方式</a:t>
            </a:r>
            <a:endParaRPr lang="en-US" altLang="zh-CN" dirty="0" smtClean="0">
              <a:latin typeface="楷体" panose="02010609060101010101" pitchFamily="49" charset="-122"/>
              <a:ea typeface="楷体" panose="02010609060101010101" pitchFamily="49" charset="-122"/>
            </a:endParaRPr>
          </a:p>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AEOI</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为自动结束中断方式，</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为非自动结束中断方式</a:t>
            </a:r>
            <a:endParaRPr lang="en-US" altLang="zh-CN" dirty="0">
              <a:latin typeface="楷体" panose="02010609060101010101" pitchFamily="49" charset="-122"/>
              <a:ea typeface="楷体" panose="02010609060101010101" pitchFamily="49" charset="-122"/>
            </a:endParaRPr>
          </a:p>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BUF</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为缓冲方式，</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为非缓冲方式</a:t>
            </a:r>
            <a:endParaRPr lang="en-US" altLang="zh-CN" dirty="0">
              <a:latin typeface="楷体" panose="02010609060101010101" pitchFamily="49" charset="-122"/>
              <a:ea typeface="楷体" panose="02010609060101010101" pitchFamily="49" charset="-122"/>
            </a:endParaRPr>
          </a:p>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M/S</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为主片，</a:t>
            </a:r>
            <a:r>
              <a:rPr lang="en-US" altLang="zh-CN" dirty="0">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为从片</a:t>
            </a:r>
          </a:p>
        </p:txBody>
      </p:sp>
    </p:spTree>
    <p:extLst>
      <p:ext uri="{BB962C8B-B14F-4D97-AF65-F5344CB8AC3E}">
        <p14:creationId xmlns:p14="http://schemas.microsoft.com/office/powerpoint/2010/main" val="165171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8" grpId="0" animBg="1"/>
      <p:bldP spid="8" grpId="1" animBg="1"/>
      <p:bldP spid="9" grpId="0" animBg="1"/>
      <p:bldP spid="9" grpId="1" animBg="1"/>
      <p:bldP spid="10" grpId="0" animBg="1"/>
      <p:bldP spid="1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76644" y="1088225"/>
            <a:ext cx="821224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rgbClr val="0BD0D9"/>
              </a:buClr>
              <a:buSzPct val="95000"/>
              <a:buFont typeface="Wingdings 2" panose="05020102010507070707" pitchFamily="18" charset="2"/>
              <a:buNone/>
            </a:pPr>
            <a:r>
              <a:rPr lang="zh-CN" altLang="en-US" sz="2000" dirty="0" smtClean="0">
                <a:solidFill>
                  <a:srgbClr val="FF0066"/>
                </a:solidFill>
                <a:latin typeface="楷体" panose="02010609060101010101" pitchFamily="49" charset="-122"/>
                <a:ea typeface="楷体" panose="02010609060101010101" pitchFamily="49" charset="-122"/>
              </a:rPr>
              <a:t>例：</a:t>
            </a:r>
            <a:r>
              <a:rPr lang="zh-CN" altLang="en-US" sz="2000" dirty="0" smtClean="0">
                <a:latin typeface="楷体" panose="02010609060101010101" pitchFamily="49" charset="-122"/>
                <a:ea typeface="楷体" panose="02010609060101010101" pitchFamily="49" charset="-122"/>
              </a:rPr>
              <a:t>试</a:t>
            </a:r>
            <a:r>
              <a:rPr lang="zh-CN" altLang="en-US" sz="2000" dirty="0">
                <a:latin typeface="楷体" panose="02010609060101010101" pitchFamily="49" charset="-122"/>
                <a:ea typeface="楷体" panose="02010609060101010101" pitchFamily="49" charset="-122"/>
              </a:rPr>
              <a:t>按照如下要求对</a:t>
            </a:r>
            <a:r>
              <a:rPr lang="en-US" altLang="zh-CN" sz="2000" dirty="0">
                <a:latin typeface="楷体" panose="02010609060101010101" pitchFamily="49" charset="-122"/>
                <a:ea typeface="楷体" panose="02010609060101010101" pitchFamily="49" charset="-122"/>
              </a:rPr>
              <a:t>8259A</a:t>
            </a:r>
            <a:r>
              <a:rPr lang="zh-CN" altLang="en-US" sz="2000" dirty="0">
                <a:latin typeface="楷体" panose="02010609060101010101" pitchFamily="49" charset="-122"/>
                <a:ea typeface="楷体" panose="02010609060101010101" pitchFamily="49" charset="-122"/>
              </a:rPr>
              <a:t>设置初始化命令字：系统中</a:t>
            </a:r>
            <a:r>
              <a:rPr lang="zh-CN" altLang="en-US" sz="2000" dirty="0" smtClean="0">
                <a:latin typeface="楷体" panose="02010609060101010101" pitchFamily="49" charset="-122"/>
                <a:ea typeface="楷体" panose="02010609060101010101" pitchFamily="49" charset="-122"/>
              </a:rPr>
              <a:t>仅用一片</a:t>
            </a:r>
            <a:r>
              <a:rPr lang="en-US" altLang="zh-CN" sz="2000" dirty="0" smtClean="0">
                <a:latin typeface="楷体" panose="02010609060101010101" pitchFamily="49" charset="-122"/>
                <a:ea typeface="楷体" panose="02010609060101010101" pitchFamily="49" charset="-122"/>
              </a:rPr>
              <a:t>8259A</a:t>
            </a:r>
            <a:r>
              <a:rPr lang="zh-CN" altLang="en-US" sz="2000" dirty="0" smtClean="0">
                <a:latin typeface="楷体" panose="02010609060101010101" pitchFamily="49" charset="-122"/>
                <a:ea typeface="楷体" panose="02010609060101010101" pitchFamily="49" charset="-122"/>
              </a:rPr>
              <a:t>，中断请求信号采用边沿触发方式；中断类型码</a:t>
            </a:r>
            <a:r>
              <a:rPr lang="zh-CN" altLang="en-US" sz="2000" dirty="0">
                <a:latin typeface="楷体" panose="02010609060101010101" pitchFamily="49" charset="-122"/>
                <a:ea typeface="楷体" panose="02010609060101010101" pitchFamily="49" charset="-122"/>
              </a:rPr>
              <a:t>为</a:t>
            </a:r>
            <a:r>
              <a:rPr lang="en-US" altLang="zh-CN" sz="2000" dirty="0">
                <a:latin typeface="楷体" panose="02010609060101010101" pitchFamily="49" charset="-122"/>
                <a:ea typeface="楷体" panose="02010609060101010101" pitchFamily="49" charset="-122"/>
              </a:rPr>
              <a:t>08H</a:t>
            </a:r>
            <a:r>
              <a:rPr lang="zh-CN" altLang="en-US" sz="2000" dirty="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0FH</a:t>
            </a:r>
            <a:r>
              <a:rPr lang="zh-CN" altLang="en-US" sz="2000" dirty="0" smtClean="0">
                <a:latin typeface="楷体" panose="02010609060101010101" pitchFamily="49" charset="-122"/>
                <a:ea typeface="楷体" panose="02010609060101010101" pitchFamily="49" charset="-122"/>
              </a:rPr>
              <a:t>；用</a:t>
            </a:r>
            <a:r>
              <a:rPr lang="zh-CN" altLang="en-US" sz="2000" dirty="0">
                <a:latin typeface="楷体" panose="02010609060101010101" pitchFamily="49" charset="-122"/>
                <a:ea typeface="楷体" panose="02010609060101010101" pitchFamily="49" charset="-122"/>
              </a:rPr>
              <a:t>全嵌套、缓冲、非自动结束中断方式。</a:t>
            </a:r>
          </a:p>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    8259A</a:t>
            </a:r>
            <a:r>
              <a:rPr lang="zh-CN" altLang="en-US" sz="2000" dirty="0">
                <a:latin typeface="楷体" panose="02010609060101010101" pitchFamily="49" charset="-122"/>
                <a:ea typeface="楷体" panose="02010609060101010101" pitchFamily="49" charset="-122"/>
              </a:rPr>
              <a:t>的端口地址为</a:t>
            </a:r>
            <a:r>
              <a:rPr lang="en-US" altLang="zh-CN" sz="2000" dirty="0">
                <a:latin typeface="楷体" panose="02010609060101010101" pitchFamily="49" charset="-122"/>
                <a:ea typeface="楷体" panose="02010609060101010101" pitchFamily="49" charset="-122"/>
              </a:rPr>
              <a:t>20H</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21H</a:t>
            </a:r>
            <a:r>
              <a:rPr lang="zh-CN" altLang="en-US" sz="2000" dirty="0" smtClean="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p:sp>
        <p:nvSpPr>
          <p:cNvPr id="3" name="Text Box 3"/>
          <p:cNvSpPr txBox="1">
            <a:spLocks noChangeArrowheads="1"/>
          </p:cNvSpPr>
          <p:nvPr/>
        </p:nvSpPr>
        <p:spPr bwMode="auto">
          <a:xfrm>
            <a:off x="345828" y="3147335"/>
            <a:ext cx="8691639"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MOV AL</a:t>
            </a: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13H</a:t>
            </a:r>
            <a:r>
              <a:rPr lang="en-US" altLang="zh-CN" sz="20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ICW1</a:t>
            </a:r>
            <a:r>
              <a:rPr lang="zh-CN" altLang="en-US" sz="2400" dirty="0">
                <a:latin typeface="楷体" panose="02010609060101010101" pitchFamily="49" charset="-122"/>
                <a:ea typeface="楷体" panose="02010609060101010101" pitchFamily="49" charset="-122"/>
              </a:rPr>
              <a:t>：边沿触发，单片，设置</a:t>
            </a:r>
            <a:r>
              <a:rPr lang="en-US" altLang="zh-CN" sz="2400" dirty="0">
                <a:latin typeface="楷体" panose="02010609060101010101" pitchFamily="49" charset="-122"/>
                <a:ea typeface="楷体" panose="02010609060101010101" pitchFamily="49" charset="-122"/>
              </a:rPr>
              <a:t>IC4</a:t>
            </a:r>
          </a:p>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OUT 20H</a:t>
            </a: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AL</a:t>
            </a:r>
          </a:p>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MOV AL, 8</a:t>
            </a:r>
            <a:r>
              <a:rPr lang="en-US" altLang="zh-CN" sz="2000" dirty="0">
                <a:latin typeface="楷体" panose="02010609060101010101" pitchFamily="49" charset="-122"/>
                <a:ea typeface="楷体" panose="02010609060101010101" pitchFamily="49" charset="-122"/>
              </a:rPr>
              <a:t>      </a:t>
            </a:r>
            <a:r>
              <a:rPr lang="zh-CN" altLang="en-US"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ICW2</a:t>
            </a:r>
            <a:r>
              <a:rPr lang="zh-CN" altLang="en-US" sz="2400" dirty="0">
                <a:latin typeface="楷体" panose="02010609060101010101" pitchFamily="49" charset="-122"/>
                <a:ea typeface="楷体" panose="02010609060101010101" pitchFamily="49" charset="-122"/>
              </a:rPr>
              <a:t>：中断类型码为</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FH</a:t>
            </a:r>
          </a:p>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OUT 21H, AL</a:t>
            </a:r>
          </a:p>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MOV AL,</a:t>
            </a:r>
            <a:r>
              <a:rPr lang="en-US" altLang="zh-CN"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0DH</a:t>
            </a:r>
            <a:r>
              <a:rPr lang="en-US" altLang="zh-CN" sz="2000" dirty="0">
                <a:latin typeface="楷体" panose="02010609060101010101" pitchFamily="49" charset="-122"/>
                <a:ea typeface="楷体" panose="02010609060101010101" pitchFamily="49" charset="-122"/>
              </a:rPr>
              <a:t>    </a:t>
            </a:r>
            <a:r>
              <a:rPr lang="zh-CN" altLang="en-US" sz="2100" dirty="0" smtClean="0">
                <a:latin typeface="楷体" panose="02010609060101010101" pitchFamily="49" charset="-122"/>
                <a:ea typeface="楷体" panose="02010609060101010101" pitchFamily="49" charset="-122"/>
              </a:rPr>
              <a:t>；</a:t>
            </a:r>
            <a:r>
              <a:rPr lang="en-US" altLang="zh-CN" sz="2100" dirty="0">
                <a:latin typeface="楷体" panose="02010609060101010101" pitchFamily="49" charset="-122"/>
                <a:ea typeface="楷体" panose="02010609060101010101" pitchFamily="49" charset="-122"/>
              </a:rPr>
              <a:t>ICW4</a:t>
            </a:r>
            <a:r>
              <a:rPr lang="zh-CN" altLang="en-US" sz="2100" dirty="0">
                <a:latin typeface="楷体" panose="02010609060101010101" pitchFamily="49" charset="-122"/>
                <a:ea typeface="楷体" panose="02010609060101010101" pitchFamily="49" charset="-122"/>
              </a:rPr>
              <a:t>：全嵌套、缓冲、非自动结束中断方式</a:t>
            </a:r>
          </a:p>
          <a:p>
            <a:pPr eaLnBrk="1" hangingPunct="1">
              <a:buClr>
                <a:srgbClr val="0BD0D9"/>
              </a:buClr>
              <a:buSzPct val="95000"/>
              <a:buFont typeface="Wingdings 2" panose="05020102010507070707" pitchFamily="18" charset="2"/>
              <a:buNone/>
            </a:pPr>
            <a:r>
              <a:rPr lang="zh-CN" altLang="en-US" sz="2000" dirty="0">
                <a:latin typeface="楷体" panose="02010609060101010101" pitchFamily="49" charset="-122"/>
                <a:ea typeface="楷体" panose="02010609060101010101" pitchFamily="49" charset="-122"/>
              </a:rPr>
              <a:t>	   </a:t>
            </a:r>
            <a:r>
              <a:rPr lang="en-US" altLang="zh-CN" sz="2700" dirty="0">
                <a:latin typeface="楷体" panose="02010609060101010101" pitchFamily="49" charset="-122"/>
                <a:ea typeface="楷体" panose="02010609060101010101" pitchFamily="49" charset="-122"/>
              </a:rPr>
              <a:t>OUT 21H, AL</a:t>
            </a:r>
            <a:endParaRPr lang="zh-CN" altLang="en-US" sz="2700"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3"/>
          <a:stretch>
            <a:fillRect/>
          </a:stretch>
        </p:blipFill>
        <p:spPr>
          <a:xfrm>
            <a:off x="3551362" y="3672110"/>
            <a:ext cx="4873546" cy="229472"/>
          </a:xfrm>
          <a:prstGeom prst="rect">
            <a:avLst/>
          </a:prstGeom>
        </p:spPr>
      </p:pic>
      <p:pic>
        <p:nvPicPr>
          <p:cNvPr id="5" name="图片 4"/>
          <p:cNvPicPr>
            <a:picLocks noChangeAspect="1"/>
          </p:cNvPicPr>
          <p:nvPr/>
        </p:nvPicPr>
        <p:blipFill>
          <a:blip r:embed="rId4"/>
          <a:stretch>
            <a:fillRect/>
          </a:stretch>
        </p:blipFill>
        <p:spPr>
          <a:xfrm>
            <a:off x="3551363" y="4619877"/>
            <a:ext cx="4851692" cy="256790"/>
          </a:xfrm>
          <a:prstGeom prst="rect">
            <a:avLst/>
          </a:prstGeom>
        </p:spPr>
      </p:pic>
      <p:pic>
        <p:nvPicPr>
          <p:cNvPr id="6" name="图片 5"/>
          <p:cNvPicPr>
            <a:picLocks noChangeAspect="1"/>
          </p:cNvPicPr>
          <p:nvPr/>
        </p:nvPicPr>
        <p:blipFill>
          <a:blip r:embed="rId5"/>
          <a:stretch>
            <a:fillRect/>
          </a:stretch>
        </p:blipFill>
        <p:spPr>
          <a:xfrm>
            <a:off x="3551362" y="5618945"/>
            <a:ext cx="4824374" cy="229472"/>
          </a:xfrm>
          <a:prstGeom prst="rect">
            <a:avLst/>
          </a:prstGeom>
        </p:spPr>
      </p:pic>
      <p:grpSp>
        <p:nvGrpSpPr>
          <p:cNvPr id="7" name="组合 6"/>
          <p:cNvGrpSpPr/>
          <p:nvPr/>
        </p:nvGrpSpPr>
        <p:grpSpPr>
          <a:xfrm>
            <a:off x="1084911" y="2554905"/>
            <a:ext cx="6780704" cy="4129944"/>
            <a:chOff x="951746" y="2568263"/>
            <a:chExt cx="6780704" cy="4129944"/>
          </a:xfrm>
        </p:grpSpPr>
        <p:graphicFrame>
          <p:nvGraphicFramePr>
            <p:cNvPr id="8" name="Object 6"/>
            <p:cNvGraphicFramePr>
              <a:graphicFrameLocks noChangeAspect="1"/>
            </p:cNvGraphicFramePr>
            <p:nvPr>
              <p:extLst>
                <p:ext uri="{D42A27DB-BD31-4B8C-83A1-F6EECF244321}">
                  <p14:modId xmlns:p14="http://schemas.microsoft.com/office/powerpoint/2010/main" val="262589562"/>
                </p:ext>
              </p:extLst>
            </p:nvPr>
          </p:nvGraphicFramePr>
          <p:xfrm>
            <a:off x="1155931" y="2568263"/>
            <a:ext cx="6576519" cy="4129944"/>
          </p:xfrm>
          <a:graphic>
            <a:graphicData uri="http://schemas.openxmlformats.org/presentationml/2006/ole">
              <mc:AlternateContent xmlns:mc="http://schemas.openxmlformats.org/markup-compatibility/2006">
                <mc:Choice xmlns:v="urn:schemas-microsoft-com:vml" Requires="v">
                  <p:oleObj spid="_x0000_s8194" name="Visio" r:id="rId6" imgW="5281270" imgH="3044647" progId="Visio.Drawing.11">
                    <p:embed/>
                  </p:oleObj>
                </mc:Choice>
                <mc:Fallback>
                  <p:oleObj name="Visio" r:id="rId6" imgW="5281270" imgH="3044647" progId="Visio.Drawing.11">
                    <p:embed/>
                    <p:pic>
                      <p:nvPicPr>
                        <p:cNvPr id="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5931" y="2568263"/>
                          <a:ext cx="6576519" cy="4129944"/>
                        </a:xfrm>
                        <a:prstGeom prst="rect">
                          <a:avLst/>
                        </a:prstGeom>
                        <a:noFill/>
                        <a:ln>
                          <a:noFill/>
                        </a:ln>
                        <a:effectLst/>
                      </p:spPr>
                    </p:pic>
                  </p:oleObj>
                </mc:Fallback>
              </mc:AlternateContent>
            </a:graphicData>
          </a:graphic>
        </p:graphicFrame>
        <p:sp>
          <p:nvSpPr>
            <p:cNvPr id="9" name="文本框 2"/>
            <p:cNvSpPr txBox="1">
              <a:spLocks noChangeArrowheads="1"/>
            </p:cNvSpPr>
            <p:nvPr/>
          </p:nvSpPr>
          <p:spPr bwMode="auto">
            <a:xfrm>
              <a:off x="951746" y="3531477"/>
              <a:ext cx="856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b="0" i="1" dirty="0">
                  <a:latin typeface="宋体" panose="02010600030101010101" pitchFamily="2" charset="-122"/>
                </a:rPr>
                <a:t>A</a:t>
              </a:r>
              <a:r>
                <a:rPr lang="en-US" altLang="zh-CN" sz="1050" b="0" i="1" dirty="0">
                  <a:latin typeface="宋体" panose="02010600030101010101" pitchFamily="2" charset="-122"/>
                </a:rPr>
                <a:t>0</a:t>
              </a:r>
              <a:r>
                <a:rPr lang="en-US" altLang="zh-CN" sz="1800" b="0" dirty="0">
                  <a:latin typeface="宋体" panose="02010600030101010101" pitchFamily="2" charset="-122"/>
                </a:rPr>
                <a:t>=1</a:t>
              </a:r>
              <a:endParaRPr lang="zh-CN" altLang="en-US" sz="1800" b="0" dirty="0">
                <a:latin typeface="宋体" panose="02010600030101010101" pitchFamily="2" charset="-122"/>
              </a:endParaRPr>
            </a:p>
          </p:txBody>
        </p:sp>
      </p:grpSp>
    </p:spTree>
    <p:extLst>
      <p:ext uri="{BB962C8B-B14F-4D97-AF65-F5344CB8AC3E}">
        <p14:creationId xmlns:p14="http://schemas.microsoft.com/office/powerpoint/2010/main" val="131792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0" presetClass="exit" presetSubtype="0" fill="hold" nodeType="with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914400" y="1085605"/>
            <a:ext cx="7137647" cy="187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80000"/>
              </a:lnSpc>
              <a:buClr>
                <a:srgbClr val="0BD0D9"/>
              </a:buClr>
              <a:buSzPct val="95000"/>
              <a:buFont typeface="Wingdings 2" panose="05020102010507070707" pitchFamily="18" charset="2"/>
              <a:buNone/>
            </a:pPr>
            <a:r>
              <a:rPr lang="zh-CN" altLang="en-US" sz="2000" dirty="0">
                <a:solidFill>
                  <a:srgbClr val="FF0066"/>
                </a:solidFill>
                <a:latin typeface="楷体" panose="02010609060101010101" pitchFamily="49" charset="-122"/>
                <a:ea typeface="楷体" panose="02010609060101010101" pitchFamily="49" charset="-122"/>
              </a:rPr>
              <a:t>例</a:t>
            </a:r>
            <a:r>
              <a:rPr lang="en-US" altLang="zh-CN" sz="2000" dirty="0">
                <a:solidFill>
                  <a:srgbClr val="FF0066"/>
                </a:solidFill>
                <a:latin typeface="楷体" panose="02010609060101010101" pitchFamily="49" charset="-122"/>
                <a:ea typeface="楷体" panose="02010609060101010101" pitchFamily="49" charset="-122"/>
              </a:rPr>
              <a:t>2 </a:t>
            </a:r>
            <a:r>
              <a:rPr lang="zh-CN" altLang="en-US" sz="2000" dirty="0">
                <a:latin typeface="楷体" panose="02010609060101010101" pitchFamily="49" charset="-122"/>
                <a:ea typeface="楷体" panose="02010609060101010101" pitchFamily="49" charset="-122"/>
              </a:rPr>
              <a:t>试对一个主从式</a:t>
            </a:r>
            <a:r>
              <a:rPr lang="en-US" altLang="zh-CN" sz="2000" dirty="0">
                <a:latin typeface="楷体" panose="02010609060101010101" pitchFamily="49" charset="-122"/>
                <a:ea typeface="楷体" panose="02010609060101010101" pitchFamily="49" charset="-122"/>
              </a:rPr>
              <a:t>8259A</a:t>
            </a:r>
            <a:r>
              <a:rPr lang="zh-CN" altLang="en-US" sz="2000" dirty="0">
                <a:latin typeface="楷体" panose="02010609060101010101" pitchFamily="49" charset="-122"/>
                <a:ea typeface="楷体" panose="02010609060101010101" pitchFamily="49" charset="-122"/>
              </a:rPr>
              <a:t>进行初始化命令字的设置。从片</a:t>
            </a:r>
            <a:r>
              <a:rPr lang="zh-CN" altLang="en-US" sz="2000" dirty="0" smtClean="0">
                <a:latin typeface="楷体" panose="02010609060101010101" pitchFamily="49" charset="-122"/>
                <a:ea typeface="楷体" panose="02010609060101010101" pitchFamily="49" charset="-122"/>
              </a:rPr>
              <a:t>的</a:t>
            </a:r>
          </a:p>
          <a:p>
            <a:pPr eaLnBrk="1" hangingPunct="1">
              <a:buClr>
                <a:srgbClr val="0BD0D9"/>
              </a:buClr>
              <a:buSzPct val="95000"/>
              <a:buFont typeface="Wingdings 2" panose="05020102010507070707" pitchFamily="18" charset="2"/>
              <a:buNone/>
            </a:pPr>
            <a:r>
              <a:rPr lang="en-US" altLang="zh-CN" sz="2000" dirty="0" smtClean="0">
                <a:latin typeface="楷体" panose="02010609060101010101" pitchFamily="49" charset="-122"/>
                <a:ea typeface="楷体" panose="02010609060101010101" pitchFamily="49" charset="-122"/>
              </a:rPr>
              <a:t>INT</a:t>
            </a:r>
            <a:r>
              <a:rPr lang="zh-CN" altLang="en-US" sz="2000" dirty="0" smtClean="0">
                <a:latin typeface="楷体" panose="02010609060101010101" pitchFamily="49" charset="-122"/>
                <a:ea typeface="楷体" panose="02010609060101010101" pitchFamily="49" charset="-122"/>
              </a:rPr>
              <a:t>与主片的</a:t>
            </a:r>
            <a:r>
              <a:rPr lang="en-US" altLang="zh-CN" sz="2000" dirty="0" smtClean="0">
                <a:latin typeface="楷体" panose="02010609060101010101" pitchFamily="49" charset="-122"/>
                <a:ea typeface="楷体" panose="02010609060101010101" pitchFamily="49" charset="-122"/>
              </a:rPr>
              <a:t>IR2</a:t>
            </a:r>
            <a:r>
              <a:rPr lang="zh-CN" altLang="en-US" sz="2000" dirty="0" smtClean="0">
                <a:latin typeface="楷体" panose="02010609060101010101" pitchFamily="49" charset="-122"/>
                <a:ea typeface="楷体" panose="02010609060101010101" pitchFamily="49" charset="-122"/>
              </a:rPr>
              <a:t>相连。从片的中断类型码为</a:t>
            </a:r>
            <a:r>
              <a:rPr lang="en-US" altLang="zh-CN" sz="2000" dirty="0" smtClean="0">
                <a:latin typeface="楷体" panose="02010609060101010101" pitchFamily="49" charset="-122"/>
                <a:ea typeface="楷体" panose="02010609060101010101" pitchFamily="49" charset="-122"/>
              </a:rPr>
              <a:t>70H</a:t>
            </a:r>
            <a:r>
              <a:rPr lang="zh-CN" altLang="en-US" sz="2000" dirty="0" smtClean="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77H,</a:t>
            </a:r>
            <a:r>
              <a:rPr lang="zh-CN" altLang="en-US" sz="2000" dirty="0" smtClean="0">
                <a:latin typeface="楷体" panose="02010609060101010101" pitchFamily="49" charset="-122"/>
                <a:ea typeface="楷体" panose="02010609060101010101" pitchFamily="49" charset="-122"/>
              </a:rPr>
              <a:t>端口地</a:t>
            </a:r>
          </a:p>
          <a:p>
            <a:pPr eaLnBrk="1" hangingPunct="1">
              <a:buClr>
                <a:srgbClr val="0BD0D9"/>
              </a:buClr>
              <a:buSzPct val="95000"/>
              <a:buFont typeface="Wingdings 2" panose="05020102010507070707" pitchFamily="18" charset="2"/>
              <a:buNone/>
            </a:pPr>
            <a:r>
              <a:rPr lang="zh-CN" altLang="en-US" sz="2000" dirty="0" smtClean="0">
                <a:latin typeface="楷体" panose="02010609060101010101" pitchFamily="49" charset="-122"/>
                <a:ea typeface="楷体" panose="02010609060101010101" pitchFamily="49" charset="-122"/>
              </a:rPr>
              <a:t>址</a:t>
            </a:r>
            <a:r>
              <a:rPr lang="zh-CN" altLang="en-US" sz="2000" dirty="0">
                <a:latin typeface="楷体" panose="02010609060101010101" pitchFamily="49" charset="-122"/>
                <a:ea typeface="楷体" panose="02010609060101010101" pitchFamily="49" charset="-122"/>
              </a:rPr>
              <a:t>为</a:t>
            </a:r>
            <a:r>
              <a:rPr lang="en-US" altLang="zh-CN" sz="2000" dirty="0">
                <a:latin typeface="楷体" panose="02010609060101010101" pitchFamily="49" charset="-122"/>
                <a:ea typeface="楷体" panose="02010609060101010101" pitchFamily="49" charset="-122"/>
              </a:rPr>
              <a:t>A0H</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A1H</a:t>
            </a:r>
            <a:r>
              <a:rPr lang="zh-CN" altLang="en-US" sz="2000" dirty="0">
                <a:latin typeface="楷体" panose="02010609060101010101" pitchFamily="49" charset="-122"/>
                <a:ea typeface="楷体" panose="02010609060101010101" pitchFamily="49" charset="-122"/>
              </a:rPr>
              <a:t>；主片的中断类型码为</a:t>
            </a:r>
            <a:r>
              <a:rPr lang="en-US" altLang="zh-CN" sz="2000" dirty="0">
                <a:latin typeface="楷体" panose="02010609060101010101" pitchFamily="49" charset="-122"/>
                <a:ea typeface="楷体" panose="02010609060101010101" pitchFamily="49" charset="-122"/>
              </a:rPr>
              <a:t>08H</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0FH</a:t>
            </a:r>
            <a:r>
              <a:rPr lang="zh-CN" altLang="en-US" sz="2000" dirty="0">
                <a:latin typeface="楷体" panose="02010609060101010101" pitchFamily="49" charset="-122"/>
                <a:ea typeface="楷体" panose="02010609060101010101" pitchFamily="49" charset="-122"/>
              </a:rPr>
              <a:t>，端口地址为</a:t>
            </a:r>
          </a:p>
          <a:p>
            <a:pPr eaLnBrk="1" hangingPunct="1">
              <a:buClr>
                <a:srgbClr val="0BD0D9"/>
              </a:buClr>
              <a:buSzPct val="95000"/>
              <a:buFont typeface="Wingdings 2" panose="05020102010507070707" pitchFamily="18" charset="2"/>
              <a:buNone/>
            </a:pPr>
            <a:r>
              <a:rPr lang="en-US" altLang="zh-CN" sz="2000" dirty="0">
                <a:latin typeface="楷体" panose="02010609060101010101" pitchFamily="49" charset="-122"/>
                <a:ea typeface="楷体" panose="02010609060101010101" pitchFamily="49" charset="-122"/>
              </a:rPr>
              <a:t>20H</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21H</a:t>
            </a:r>
            <a:r>
              <a:rPr lang="zh-CN" altLang="en-US" sz="2000" dirty="0">
                <a:latin typeface="楷体" panose="02010609060101010101" pitchFamily="49" charset="-122"/>
                <a:ea typeface="楷体" panose="02010609060101010101" pitchFamily="49" charset="-122"/>
              </a:rPr>
              <a:t>。中断请求信号采用边沿触发，采用全嵌套、缓冲、</a:t>
            </a:r>
          </a:p>
          <a:p>
            <a:pPr eaLnBrk="1" hangingPunct="1">
              <a:buClr>
                <a:srgbClr val="0BD0D9"/>
              </a:buClr>
              <a:buSzPct val="95000"/>
              <a:buFont typeface="Wingdings 2" panose="05020102010507070707" pitchFamily="18" charset="2"/>
              <a:buNone/>
            </a:pPr>
            <a:r>
              <a:rPr lang="zh-CN" altLang="en-US" sz="2000" dirty="0">
                <a:latin typeface="楷体" panose="02010609060101010101" pitchFamily="49" charset="-122"/>
                <a:ea typeface="楷体" panose="02010609060101010101" pitchFamily="49" charset="-122"/>
              </a:rPr>
              <a:t>非自动结束中断方式。 </a:t>
            </a:r>
          </a:p>
        </p:txBody>
      </p:sp>
      <p:sp>
        <p:nvSpPr>
          <p:cNvPr id="3" name="Text Box 3"/>
          <p:cNvSpPr txBox="1">
            <a:spLocks noChangeArrowheads="1"/>
          </p:cNvSpPr>
          <p:nvPr/>
        </p:nvSpPr>
        <p:spPr bwMode="auto">
          <a:xfrm>
            <a:off x="179388" y="3262313"/>
            <a:ext cx="896461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75000"/>
              </a:lnSpc>
              <a:buClr>
                <a:srgbClr val="0BD0D9"/>
              </a:buClr>
              <a:buSzPct val="95000"/>
              <a:buFont typeface="Wingdings 2" panose="05020102010507070707" pitchFamily="18" charset="2"/>
              <a:buNone/>
            </a:pPr>
            <a:r>
              <a:rPr lang="zh-CN" altLang="en-US" sz="2700">
                <a:latin typeface="楷体_GB2312" pitchFamily="49" charset="-122"/>
                <a:ea typeface="楷体_GB2312" pitchFamily="49" charset="-122"/>
              </a:rPr>
              <a:t>   </a:t>
            </a:r>
            <a:r>
              <a:rPr lang="zh-CN" altLang="en-US" sz="2700">
                <a:solidFill>
                  <a:srgbClr val="3333FF"/>
                </a:solidFill>
                <a:latin typeface="楷体_GB2312" pitchFamily="49" charset="-122"/>
                <a:ea typeface="楷体_GB2312" pitchFamily="49" charset="-122"/>
              </a:rPr>
              <a:t>主片初始化程序段：</a:t>
            </a:r>
          </a:p>
          <a:p>
            <a:pPr eaLnBrk="1" hangingPunct="1">
              <a:lnSpc>
                <a:spcPct val="75000"/>
              </a:lnSpc>
              <a:buClr>
                <a:srgbClr val="0BD0D9"/>
              </a:buClr>
              <a:buSzPct val="95000"/>
              <a:buFont typeface="Wingdings 2" panose="05020102010507070707" pitchFamily="18" charset="2"/>
              <a:buNone/>
            </a:pPr>
            <a:r>
              <a:rPr lang="zh-CN" altLang="en-US" sz="2700">
                <a:latin typeface="楷体_GB2312" pitchFamily="49" charset="-122"/>
                <a:ea typeface="楷体_GB2312" pitchFamily="49" charset="-122"/>
              </a:rPr>
              <a:t>			</a:t>
            </a:r>
            <a:r>
              <a:rPr lang="en-US" altLang="zh-CN" sz="2700">
                <a:latin typeface="楷体_GB2312" pitchFamily="49" charset="-122"/>
                <a:ea typeface="楷体_GB2312" pitchFamily="49" charset="-122"/>
              </a:rPr>
              <a:t>MOV AL, 11H</a:t>
            </a:r>
            <a:r>
              <a:rPr lang="en-US" altLang="zh-CN" sz="2000">
                <a:latin typeface="楷体_GB2312" pitchFamily="49" charset="-122"/>
                <a:ea typeface="楷体_GB2312" pitchFamily="49" charset="-122"/>
              </a:rPr>
              <a:t>        ; ICW1</a:t>
            </a:r>
          </a:p>
          <a:p>
            <a:pPr eaLnBrk="1" hangingPunct="1">
              <a:lnSpc>
                <a:spcPct val="75000"/>
              </a:lnSpc>
              <a:buClr>
                <a:srgbClr val="0BD0D9"/>
              </a:buClr>
              <a:buSzPct val="95000"/>
              <a:buFont typeface="Wingdings 2" panose="05020102010507070707" pitchFamily="18" charset="2"/>
              <a:buNone/>
            </a:pPr>
            <a:r>
              <a:rPr lang="en-US" altLang="zh-CN" sz="2700">
                <a:latin typeface="楷体_GB2312" pitchFamily="49" charset="-122"/>
                <a:ea typeface="楷体_GB2312" pitchFamily="49" charset="-122"/>
              </a:rPr>
              <a:t>			OUT 20H, AL</a:t>
            </a:r>
          </a:p>
          <a:p>
            <a:pPr eaLnBrk="1" hangingPunct="1">
              <a:lnSpc>
                <a:spcPct val="75000"/>
              </a:lnSpc>
              <a:buClr>
                <a:srgbClr val="0BD0D9"/>
              </a:buClr>
              <a:buSzPct val="95000"/>
              <a:buFont typeface="Wingdings 2" panose="05020102010507070707" pitchFamily="18" charset="2"/>
              <a:buNone/>
            </a:pPr>
            <a:r>
              <a:rPr lang="en-US" altLang="zh-CN" sz="2700">
                <a:latin typeface="楷体_GB2312" pitchFamily="49" charset="-122"/>
                <a:ea typeface="楷体_GB2312" pitchFamily="49" charset="-122"/>
              </a:rPr>
              <a:t>			MOV AL, 8	</a:t>
            </a:r>
            <a:r>
              <a:rPr lang="en-US" altLang="zh-CN" sz="2000">
                <a:latin typeface="楷体_GB2312" pitchFamily="49" charset="-122"/>
                <a:ea typeface="楷体_GB2312" pitchFamily="49" charset="-122"/>
              </a:rPr>
              <a:t> ;ICW2 :</a:t>
            </a:r>
            <a:r>
              <a:rPr lang="zh-CN" altLang="en-US" sz="2000">
                <a:latin typeface="楷体_GB2312" pitchFamily="49" charset="-122"/>
                <a:ea typeface="楷体_GB2312" pitchFamily="49" charset="-122"/>
              </a:rPr>
              <a:t>中断类型码为</a:t>
            </a:r>
            <a:r>
              <a:rPr lang="en-US" altLang="zh-CN" sz="2000">
                <a:latin typeface="楷体_GB2312" pitchFamily="49" charset="-122"/>
                <a:ea typeface="楷体_GB2312" pitchFamily="49" charset="-122"/>
              </a:rPr>
              <a:t>08H</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0FH</a:t>
            </a:r>
          </a:p>
          <a:p>
            <a:pPr eaLnBrk="1" hangingPunct="1">
              <a:lnSpc>
                <a:spcPct val="75000"/>
              </a:lnSpc>
              <a:buClr>
                <a:srgbClr val="0BD0D9"/>
              </a:buClr>
              <a:buSzPct val="95000"/>
              <a:buFont typeface="Wingdings 2" panose="05020102010507070707" pitchFamily="18" charset="2"/>
              <a:buNone/>
            </a:pPr>
            <a:r>
              <a:rPr lang="en-US" altLang="zh-CN" sz="2700">
                <a:latin typeface="楷体_GB2312" pitchFamily="49" charset="-122"/>
                <a:ea typeface="楷体_GB2312" pitchFamily="49" charset="-122"/>
              </a:rPr>
              <a:t>			OUT 21H, AL</a:t>
            </a:r>
          </a:p>
          <a:p>
            <a:pPr eaLnBrk="1" hangingPunct="1">
              <a:lnSpc>
                <a:spcPct val="75000"/>
              </a:lnSpc>
              <a:buClr>
                <a:srgbClr val="0BD0D9"/>
              </a:buClr>
              <a:buSzPct val="95000"/>
              <a:buFont typeface="Wingdings 2" panose="05020102010507070707" pitchFamily="18" charset="2"/>
              <a:buNone/>
            </a:pPr>
            <a:r>
              <a:rPr lang="en-US" altLang="zh-CN" sz="2700">
                <a:latin typeface="楷体_GB2312" pitchFamily="49" charset="-122"/>
                <a:ea typeface="楷体_GB2312" pitchFamily="49" charset="-122"/>
              </a:rPr>
              <a:t>			MOV AL, 4	</a:t>
            </a:r>
            <a:r>
              <a:rPr lang="en-US" altLang="zh-CN" sz="2000">
                <a:latin typeface="楷体_GB2312" pitchFamily="49" charset="-122"/>
                <a:ea typeface="楷体_GB2312" pitchFamily="49" charset="-122"/>
              </a:rPr>
              <a:t>         ; ICW3: IR2</a:t>
            </a:r>
            <a:r>
              <a:rPr lang="zh-CN" altLang="en-US" sz="2000">
                <a:latin typeface="楷体_GB2312" pitchFamily="49" charset="-122"/>
                <a:ea typeface="楷体_GB2312" pitchFamily="49" charset="-122"/>
              </a:rPr>
              <a:t>上连接从片</a:t>
            </a:r>
          </a:p>
          <a:p>
            <a:pPr eaLnBrk="1" hangingPunct="1">
              <a:lnSpc>
                <a:spcPct val="75000"/>
              </a:lnSpc>
              <a:buClr>
                <a:srgbClr val="0BD0D9"/>
              </a:buClr>
              <a:buSzPct val="95000"/>
              <a:buFont typeface="Wingdings 2" panose="05020102010507070707" pitchFamily="18" charset="2"/>
              <a:buNone/>
            </a:pPr>
            <a:r>
              <a:rPr lang="zh-CN" altLang="en-US" sz="2700">
                <a:latin typeface="楷体_GB2312" pitchFamily="49" charset="-122"/>
                <a:ea typeface="楷体_GB2312" pitchFamily="49" charset="-122"/>
              </a:rPr>
              <a:t>			</a:t>
            </a:r>
            <a:r>
              <a:rPr lang="en-US" altLang="zh-CN" sz="2700">
                <a:latin typeface="楷体_GB2312" pitchFamily="49" charset="-122"/>
                <a:ea typeface="楷体_GB2312" pitchFamily="49" charset="-122"/>
              </a:rPr>
              <a:t>OUT 21H, AL </a:t>
            </a:r>
          </a:p>
          <a:p>
            <a:pPr eaLnBrk="1" hangingPunct="1">
              <a:lnSpc>
                <a:spcPct val="75000"/>
              </a:lnSpc>
              <a:buClr>
                <a:srgbClr val="0BD0D9"/>
              </a:buClr>
              <a:buSzPct val="95000"/>
              <a:buFont typeface="Wingdings 2" panose="05020102010507070707" pitchFamily="18" charset="2"/>
              <a:buNone/>
            </a:pPr>
            <a:r>
              <a:rPr lang="en-US" altLang="zh-CN" sz="2700">
                <a:latin typeface="楷体_GB2312" pitchFamily="49" charset="-122"/>
                <a:ea typeface="楷体_GB2312" pitchFamily="49" charset="-122"/>
              </a:rPr>
              <a:t>			MOV AL, 0DH</a:t>
            </a:r>
            <a:r>
              <a:rPr lang="en-US" altLang="zh-CN" sz="2000">
                <a:latin typeface="楷体_GB2312" pitchFamily="49" charset="-122"/>
                <a:ea typeface="楷体_GB2312" pitchFamily="49" charset="-122"/>
              </a:rPr>
              <a:t>	  ; ICW4</a:t>
            </a:r>
          </a:p>
          <a:p>
            <a:pPr eaLnBrk="1" hangingPunct="1">
              <a:lnSpc>
                <a:spcPct val="75000"/>
              </a:lnSpc>
              <a:buClr>
                <a:srgbClr val="0BD0D9"/>
              </a:buClr>
              <a:buSzPct val="95000"/>
              <a:buFont typeface="Wingdings 2" panose="05020102010507070707" pitchFamily="18" charset="2"/>
              <a:buNone/>
            </a:pPr>
            <a:r>
              <a:rPr lang="en-US" altLang="zh-CN" sz="2700">
                <a:latin typeface="楷体_GB2312" pitchFamily="49" charset="-122"/>
                <a:ea typeface="楷体_GB2312" pitchFamily="49" charset="-122"/>
              </a:rPr>
              <a:t>			OUT 21H, AL</a:t>
            </a:r>
            <a:endParaRPr lang="zh-CN" altLang="en-US" sz="2700">
              <a:latin typeface="楷体_GB2312" pitchFamily="49" charset="-122"/>
              <a:ea typeface="楷体_GB2312" pitchFamily="49" charset="-122"/>
            </a:endParaRPr>
          </a:p>
        </p:txBody>
      </p:sp>
      <p:graphicFrame>
        <p:nvGraphicFramePr>
          <p:cNvPr id="4" name="Object 6"/>
          <p:cNvGraphicFramePr>
            <a:graphicFrameLocks noChangeAspect="1"/>
          </p:cNvGraphicFramePr>
          <p:nvPr>
            <p:extLst>
              <p:ext uri="{D42A27DB-BD31-4B8C-83A1-F6EECF244321}">
                <p14:modId xmlns:p14="http://schemas.microsoft.com/office/powerpoint/2010/main" val="906537068"/>
              </p:ext>
            </p:extLst>
          </p:nvPr>
        </p:nvGraphicFramePr>
        <p:xfrm>
          <a:off x="846260" y="3081338"/>
          <a:ext cx="7273925" cy="3776662"/>
        </p:xfrm>
        <a:graphic>
          <a:graphicData uri="http://schemas.openxmlformats.org/presentationml/2006/ole">
            <mc:AlternateContent xmlns:mc="http://schemas.openxmlformats.org/markup-compatibility/2006">
              <mc:Choice xmlns:v="urn:schemas-microsoft-com:vml" Requires="v">
                <p:oleObj spid="_x0000_s5125" name="Visio" r:id="rId3" imgW="5281270" imgH="3044647" progId="Visio.Drawing.11">
                  <p:embed/>
                </p:oleObj>
              </mc:Choice>
              <mc:Fallback>
                <p:oleObj name="Visio" r:id="rId3" imgW="5281270" imgH="3044647" progId="Visio.Drawing.11">
                  <p:embed/>
                  <p:pic>
                    <p:nvPicPr>
                      <p:cNvPr id="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260" y="3081338"/>
                        <a:ext cx="7273925" cy="3776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08554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1611389"/>
            <a:ext cx="857399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75000"/>
              </a:lnSpc>
              <a:spcAft>
                <a:spcPct val="60000"/>
              </a:spcAft>
              <a:buClr>
                <a:srgbClr val="0BD0D9"/>
              </a:buClr>
              <a:buSzPct val="95000"/>
              <a:buFont typeface="Wingdings 2" panose="05020102010507070707" pitchFamily="18" charset="2"/>
              <a:buNone/>
            </a:pPr>
            <a:r>
              <a:rPr lang="zh-CN" altLang="en-US" sz="2700" dirty="0">
                <a:latin typeface="楷体_GB2312" pitchFamily="49" charset="-122"/>
                <a:ea typeface="楷体_GB2312" pitchFamily="49" charset="-122"/>
              </a:rPr>
              <a:t>   </a:t>
            </a:r>
            <a:r>
              <a:rPr lang="zh-CN" altLang="en-US" sz="2700" dirty="0">
                <a:solidFill>
                  <a:srgbClr val="3333FF"/>
                </a:solidFill>
                <a:latin typeface="楷体" panose="02010609060101010101" pitchFamily="49" charset="-122"/>
                <a:ea typeface="楷体" panose="02010609060101010101" pitchFamily="49" charset="-122"/>
              </a:rPr>
              <a:t>从片初始化程序段</a:t>
            </a:r>
            <a:r>
              <a:rPr lang="zh-CN" altLang="en-US" sz="2700" dirty="0">
                <a:solidFill>
                  <a:srgbClr val="3333FF"/>
                </a:solidFill>
                <a:latin typeface="楷体_GB2312" pitchFamily="49" charset="-122"/>
                <a:ea typeface="楷体_GB2312" pitchFamily="49" charset="-122"/>
              </a:rPr>
              <a:t>：</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MOV AL, 11H</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OUT 0A0H, AL</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MOV AL, 70H</a:t>
            </a:r>
            <a:r>
              <a:rPr lang="en-US" altLang="zh-CN" sz="2000" dirty="0">
                <a:latin typeface="楷体_GB2312" pitchFamily="49" charset="-122"/>
                <a:ea typeface="楷体_GB2312" pitchFamily="49" charset="-122"/>
              </a:rPr>
              <a:t>   ; ICW2: </a:t>
            </a:r>
            <a:r>
              <a:rPr lang="zh-CN" altLang="en-US" sz="2000" dirty="0">
                <a:latin typeface="楷体_GB2312" pitchFamily="49" charset="-122"/>
                <a:ea typeface="楷体_GB2312" pitchFamily="49" charset="-122"/>
              </a:rPr>
              <a:t>中断类型码为</a:t>
            </a:r>
            <a:r>
              <a:rPr lang="en-US" altLang="zh-CN" sz="2000" dirty="0">
                <a:latin typeface="楷体_GB2312" pitchFamily="49" charset="-122"/>
                <a:ea typeface="楷体_GB2312" pitchFamily="49" charset="-122"/>
              </a:rPr>
              <a:t>70H</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77H</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OUT 0A1H, AL</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MOV AL, 2	</a:t>
            </a:r>
            <a:r>
              <a:rPr lang="en-US" altLang="zh-CN" sz="2000" dirty="0">
                <a:latin typeface="楷体_GB2312" pitchFamily="49" charset="-122"/>
                <a:ea typeface="楷体_GB2312" pitchFamily="49" charset="-122"/>
              </a:rPr>
              <a:t>    </a:t>
            </a:r>
            <a:r>
              <a:rPr lang="zh-CN" altLang="en-US" sz="2000" dirty="0">
                <a:latin typeface="楷体_GB2312" pitchFamily="49" charset="-122"/>
                <a:ea typeface="楷体_GB2312" pitchFamily="49" charset="-122"/>
              </a:rPr>
              <a:t>；</a:t>
            </a:r>
            <a:r>
              <a:rPr lang="en-US" altLang="zh-CN" sz="2000" dirty="0">
                <a:latin typeface="楷体_GB2312" pitchFamily="49" charset="-122"/>
                <a:ea typeface="楷体_GB2312" pitchFamily="49" charset="-122"/>
              </a:rPr>
              <a:t>ICW3</a:t>
            </a:r>
            <a:r>
              <a:rPr lang="zh-CN" altLang="en-US" sz="2000" dirty="0">
                <a:latin typeface="楷体_GB2312" pitchFamily="49" charset="-122"/>
                <a:ea typeface="楷体_GB2312" pitchFamily="49" charset="-122"/>
              </a:rPr>
              <a:t>：从片的识别地址，即主片的</a:t>
            </a:r>
            <a:r>
              <a:rPr lang="en-US" altLang="zh-CN" sz="2000" dirty="0">
                <a:latin typeface="楷体_GB2312" pitchFamily="49" charset="-122"/>
                <a:ea typeface="楷体_GB2312" pitchFamily="49" charset="-122"/>
              </a:rPr>
              <a:t>IR2</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OUT 0A1H, AL</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MOV AL, 9</a:t>
            </a:r>
          </a:p>
          <a:p>
            <a:pPr eaLnBrk="1" hangingPunct="1">
              <a:lnSpc>
                <a:spcPct val="75000"/>
              </a:lnSpc>
              <a:buClr>
                <a:srgbClr val="0BD0D9"/>
              </a:buClr>
              <a:buSzPct val="95000"/>
              <a:buFont typeface="Wingdings 2" panose="05020102010507070707" pitchFamily="18" charset="2"/>
              <a:buNone/>
            </a:pPr>
            <a:r>
              <a:rPr lang="en-US" altLang="zh-CN" sz="2700" dirty="0">
                <a:latin typeface="楷体_GB2312" pitchFamily="49" charset="-122"/>
                <a:ea typeface="楷体_GB2312" pitchFamily="49" charset="-122"/>
              </a:rPr>
              <a:t>           OUT 0A1H, AL</a:t>
            </a:r>
            <a:endParaRPr lang="zh-CN" altLang="en-US" sz="2700" dirty="0">
              <a:latin typeface="楷体_GB2312" pitchFamily="49" charset="-122"/>
              <a:ea typeface="楷体_GB2312" pitchFamily="49" charset="-122"/>
            </a:endParaRPr>
          </a:p>
        </p:txBody>
      </p:sp>
    </p:spTree>
    <p:extLst>
      <p:ext uri="{BB962C8B-B14F-4D97-AF65-F5344CB8AC3E}">
        <p14:creationId xmlns:p14="http://schemas.microsoft.com/office/powerpoint/2010/main" val="883655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859617" y="1208273"/>
            <a:ext cx="2518638"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lang="zh-CN" altLang="en-US" sz="2800" dirty="0" smtClean="0">
                <a:latin typeface="楷体" panose="02010609060101010101" pitchFamily="49" charset="-122"/>
                <a:ea typeface="楷体" panose="02010609060101010101" pitchFamily="49" charset="-122"/>
              </a:rPr>
              <a:t>操作命令字</a:t>
            </a:r>
            <a:r>
              <a:rPr lang="en-US" altLang="zh-CN" sz="2800" dirty="0" smtClean="0">
                <a:latin typeface="楷体" panose="02010609060101010101" pitchFamily="49" charset="-122"/>
                <a:ea typeface="楷体" panose="02010609060101010101" pitchFamily="49" charset="-122"/>
              </a:rPr>
              <a:t>OCW</a:t>
            </a:r>
            <a:endParaRPr lang="zh-CN" altLang="en-US" sz="2800" dirty="0">
              <a:latin typeface="楷体" panose="02010609060101010101" pitchFamily="49" charset="-122"/>
              <a:ea typeface="楷体" panose="02010609060101010101" pitchFamily="49" charset="-122"/>
            </a:endParaRPr>
          </a:p>
        </p:txBody>
      </p:sp>
      <p:graphicFrame>
        <p:nvGraphicFramePr>
          <p:cNvPr id="3" name="Object 13"/>
          <p:cNvGraphicFramePr>
            <a:graphicFrameLocks noChangeAspect="1"/>
          </p:cNvGraphicFramePr>
          <p:nvPr>
            <p:extLst>
              <p:ext uri="{D42A27DB-BD31-4B8C-83A1-F6EECF244321}">
                <p14:modId xmlns:p14="http://schemas.microsoft.com/office/powerpoint/2010/main" val="4177278330"/>
              </p:ext>
            </p:extLst>
          </p:nvPr>
        </p:nvGraphicFramePr>
        <p:xfrm>
          <a:off x="859617" y="1732840"/>
          <a:ext cx="7146524" cy="4912906"/>
        </p:xfrm>
        <a:graphic>
          <a:graphicData uri="http://schemas.openxmlformats.org/presentationml/2006/ole">
            <mc:AlternateContent xmlns:mc="http://schemas.openxmlformats.org/markup-compatibility/2006">
              <mc:Choice xmlns:v="urn:schemas-microsoft-com:vml" Requires="v">
                <p:oleObj spid="_x0000_s6149" name="Visio" r:id="rId3" imgW="6238951" imgH="4289450" progId="Visio.Drawing.11">
                  <p:embed/>
                </p:oleObj>
              </mc:Choice>
              <mc:Fallback>
                <p:oleObj name="Visio" r:id="rId3" imgW="6238951" imgH="4289450" progId="Visio.Drawing.11">
                  <p:embed/>
                  <p:pic>
                    <p:nvPicPr>
                      <p:cNvPr id="9"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617" y="1732840"/>
                        <a:ext cx="7146524" cy="4912906"/>
                      </a:xfrm>
                      <a:prstGeom prst="rect">
                        <a:avLst/>
                      </a:prstGeom>
                      <a:noFill/>
                      <a:ln>
                        <a:noFill/>
                      </a:ln>
                      <a:effectLst/>
                    </p:spPr>
                  </p:pic>
                </p:oleObj>
              </mc:Fallback>
            </mc:AlternateContent>
          </a:graphicData>
        </a:graphic>
      </p:graphicFrame>
      <p:sp>
        <p:nvSpPr>
          <p:cNvPr id="4" name="圆角矩形 3"/>
          <p:cNvSpPr/>
          <p:nvPr/>
        </p:nvSpPr>
        <p:spPr>
          <a:xfrm>
            <a:off x="2513860" y="2653566"/>
            <a:ext cx="5067669" cy="9571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OCW1</a:t>
            </a:r>
            <a:r>
              <a:rPr lang="zh-CN" altLang="en-US" dirty="0">
                <a:latin typeface="楷体" panose="02010609060101010101" pitchFamily="49" charset="-122"/>
                <a:ea typeface="楷体" panose="02010609060101010101" pitchFamily="49" charset="-122"/>
              </a:rPr>
              <a:t>是对</a:t>
            </a:r>
            <a:r>
              <a:rPr lang="en-US" altLang="zh-CN" dirty="0">
                <a:latin typeface="楷体" panose="02010609060101010101" pitchFamily="49" charset="-122"/>
                <a:ea typeface="楷体" panose="02010609060101010101" pitchFamily="49" charset="-122"/>
              </a:rPr>
              <a:t>IMR</a:t>
            </a:r>
            <a:r>
              <a:rPr lang="zh-CN" altLang="en-US" dirty="0">
                <a:latin typeface="楷体" panose="02010609060101010101" pitchFamily="49" charset="-122"/>
                <a:ea typeface="楷体" panose="02010609060101010101" pitchFamily="49" charset="-122"/>
              </a:rPr>
              <a:t>置位、复位的命令，置位位对应的中断被屏蔽。以</a:t>
            </a:r>
            <a:r>
              <a:rPr lang="en-US" altLang="zh-CN" dirty="0">
                <a:latin typeface="楷体" panose="02010609060101010101" pitchFamily="49" charset="-122"/>
                <a:ea typeface="楷体" panose="02010609060101010101" pitchFamily="49" charset="-122"/>
              </a:rPr>
              <a:t>A0=1</a:t>
            </a:r>
            <a:r>
              <a:rPr lang="zh-CN" altLang="en-US" dirty="0">
                <a:latin typeface="楷体" panose="02010609060101010101" pitchFamily="49" charset="-122"/>
                <a:ea typeface="楷体" panose="02010609060101010101" pitchFamily="49" charset="-122"/>
              </a:rPr>
              <a:t>读</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写</a:t>
            </a:r>
            <a:r>
              <a:rPr lang="en-US" altLang="zh-CN" dirty="0">
                <a:latin typeface="楷体" panose="02010609060101010101" pitchFamily="49" charset="-122"/>
                <a:ea typeface="楷体" panose="02010609060101010101" pitchFamily="49" charset="-122"/>
              </a:rPr>
              <a:t>OCW1</a:t>
            </a:r>
            <a:r>
              <a:rPr lang="zh-CN" altLang="en-US" dirty="0">
                <a:latin typeface="楷体" panose="02010609060101010101" pitchFamily="49" charset="-122"/>
                <a:ea typeface="楷体" panose="02010609060101010101" pitchFamily="49" charset="-122"/>
              </a:rPr>
              <a:t>命令字，即读</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写</a:t>
            </a:r>
            <a:r>
              <a:rPr lang="en-US" altLang="zh-CN" dirty="0">
                <a:latin typeface="楷体" panose="02010609060101010101" pitchFamily="49" charset="-122"/>
                <a:ea typeface="楷体" panose="02010609060101010101" pitchFamily="49" charset="-122"/>
              </a:rPr>
              <a:t>IMR</a:t>
            </a:r>
            <a:r>
              <a:rPr lang="zh-CN" altLang="en-US" dirty="0">
                <a:latin typeface="楷体" panose="02010609060101010101" pitchFamily="49" charset="-122"/>
                <a:ea typeface="楷体" panose="02010609060101010101" pitchFamily="49" charset="-122"/>
              </a:rPr>
              <a:t>。 </a:t>
            </a:r>
          </a:p>
        </p:txBody>
      </p:sp>
      <p:sp>
        <p:nvSpPr>
          <p:cNvPr id="5" name="圆角矩形 4"/>
          <p:cNvSpPr/>
          <p:nvPr/>
        </p:nvSpPr>
        <p:spPr>
          <a:xfrm>
            <a:off x="859617" y="450050"/>
            <a:ext cx="6069367" cy="1516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5000"/>
              </a:lnSpc>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OCW2</a:t>
            </a:r>
            <a:r>
              <a:rPr lang="zh-CN" altLang="en-US" dirty="0">
                <a:latin typeface="楷体" panose="02010609060101010101" pitchFamily="49" charset="-122"/>
                <a:ea typeface="楷体" panose="02010609060101010101" pitchFamily="49" charset="-122"/>
              </a:rPr>
              <a:t>是中断结束</a:t>
            </a:r>
            <a:r>
              <a:rPr lang="en-US" altLang="zh-CN" dirty="0">
                <a:latin typeface="楷体" panose="02010609060101010101" pitchFamily="49" charset="-122"/>
                <a:ea typeface="楷体" panose="02010609060101010101" pitchFamily="49" charset="-122"/>
              </a:rPr>
              <a:t>(EOI)</a:t>
            </a:r>
            <a:r>
              <a:rPr lang="zh-CN" altLang="en-US" dirty="0">
                <a:latin typeface="楷体" panose="02010609060101010101" pitchFamily="49" charset="-122"/>
                <a:ea typeface="楷体" panose="02010609060101010101" pitchFamily="49" charset="-122"/>
              </a:rPr>
              <a:t>的命令字</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用于复位</a:t>
            </a:r>
            <a:r>
              <a:rPr lang="en-US" altLang="zh-CN" dirty="0">
                <a:latin typeface="楷体" panose="02010609060101010101" pitchFamily="49" charset="-122"/>
                <a:ea typeface="楷体" panose="02010609060101010101" pitchFamily="49" charset="-122"/>
              </a:rPr>
              <a:t>ISR</a:t>
            </a:r>
            <a:r>
              <a:rPr lang="zh-CN" altLang="en-US" dirty="0">
                <a:latin typeface="楷体" panose="02010609060101010101" pitchFamily="49" charset="-122"/>
                <a:ea typeface="楷体" panose="02010609060101010101" pitchFamily="49" charset="-122"/>
              </a:rPr>
              <a:t>及改变优先级。以</a:t>
            </a:r>
            <a:r>
              <a:rPr lang="en-US" altLang="zh-CN" dirty="0">
                <a:latin typeface="楷体" panose="02010609060101010101" pitchFamily="49" charset="-122"/>
                <a:ea typeface="楷体" panose="02010609060101010101" pitchFamily="49" charset="-122"/>
              </a:rPr>
              <a:t>A0=0</a:t>
            </a:r>
            <a:r>
              <a:rPr lang="zh-CN" altLang="en-US" dirty="0">
                <a:latin typeface="楷体" panose="02010609060101010101" pitchFamily="49" charset="-122"/>
                <a:ea typeface="楷体" panose="02010609060101010101" pitchFamily="49" charset="-122"/>
              </a:rPr>
              <a:t>写</a:t>
            </a:r>
            <a:r>
              <a:rPr lang="en-US" altLang="zh-CN" dirty="0">
                <a:latin typeface="楷体" panose="02010609060101010101" pitchFamily="49" charset="-122"/>
                <a:ea typeface="楷体" panose="02010609060101010101" pitchFamily="49" charset="-122"/>
              </a:rPr>
              <a:t>OCW2</a:t>
            </a:r>
            <a:r>
              <a:rPr lang="zh-CN" altLang="en-US" dirty="0">
                <a:latin typeface="楷体" panose="02010609060101010101" pitchFamily="49" charset="-122"/>
                <a:ea typeface="楷体" panose="02010609060101010101" pitchFamily="49" charset="-122"/>
              </a:rPr>
              <a:t>命令字。</a:t>
            </a:r>
            <a:r>
              <a:rPr lang="en-US" altLang="zh-CN" dirty="0">
                <a:latin typeface="楷体" panose="02010609060101010101" pitchFamily="49" charset="-122"/>
                <a:ea typeface="楷体" panose="02010609060101010101" pitchFamily="49" charset="-122"/>
              </a:rPr>
              <a:t>EOI </a:t>
            </a:r>
            <a:r>
              <a:rPr lang="zh-CN" altLang="en-US" dirty="0">
                <a:latin typeface="楷体" panose="02010609060101010101" pitchFamily="49" charset="-122"/>
                <a:ea typeface="楷体" panose="02010609060101010101" pitchFamily="49" charset="-122"/>
              </a:rPr>
              <a:t>命令有</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个，一个是一般</a:t>
            </a:r>
            <a:r>
              <a:rPr lang="en-US" altLang="zh-CN" dirty="0">
                <a:latin typeface="楷体" panose="02010609060101010101" pitchFamily="49" charset="-122"/>
                <a:ea typeface="楷体" panose="02010609060101010101" pitchFamily="49" charset="-122"/>
              </a:rPr>
              <a:t>EOI</a:t>
            </a:r>
            <a:r>
              <a:rPr lang="zh-CN" altLang="en-US" dirty="0">
                <a:latin typeface="楷体" panose="02010609060101010101" pitchFamily="49" charset="-122"/>
                <a:ea typeface="楷体" panose="02010609060101010101" pitchFamily="49" charset="-122"/>
              </a:rPr>
              <a:t>，对正在服务的</a:t>
            </a:r>
            <a:r>
              <a:rPr lang="en-US" altLang="zh-CN" dirty="0">
                <a:latin typeface="楷体" panose="02010609060101010101" pitchFamily="49" charset="-122"/>
                <a:ea typeface="楷体" panose="02010609060101010101" pitchFamily="49" charset="-122"/>
              </a:rPr>
              <a:t>ISR</a:t>
            </a:r>
            <a:r>
              <a:rPr lang="zh-CN" altLang="en-US" dirty="0">
                <a:latin typeface="楷体" panose="02010609060101010101" pitchFamily="49" charset="-122"/>
                <a:ea typeface="楷体" panose="02010609060101010101" pitchFamily="49" charset="-122"/>
              </a:rPr>
              <a:t>复位，其命令字是</a:t>
            </a:r>
            <a:r>
              <a:rPr lang="en-US" altLang="zh-CN" dirty="0">
                <a:latin typeface="楷体" panose="02010609060101010101" pitchFamily="49" charset="-122"/>
                <a:ea typeface="楷体" panose="02010609060101010101" pitchFamily="49" charset="-122"/>
              </a:rPr>
              <a:t>20H</a:t>
            </a:r>
            <a:r>
              <a:rPr lang="zh-CN" altLang="en-US" dirty="0">
                <a:latin typeface="楷体" panose="02010609060101010101" pitchFamily="49" charset="-122"/>
                <a:ea typeface="楷体" panose="02010609060101010101" pitchFamily="49" charset="-122"/>
              </a:rPr>
              <a:t>。另一个是指定</a:t>
            </a:r>
            <a:r>
              <a:rPr lang="en-US" altLang="zh-CN" dirty="0">
                <a:latin typeface="楷体" panose="02010609060101010101" pitchFamily="49" charset="-122"/>
                <a:ea typeface="楷体" panose="02010609060101010101" pitchFamily="49" charset="-122"/>
              </a:rPr>
              <a:t>EOI</a:t>
            </a:r>
            <a:r>
              <a:rPr lang="zh-CN" altLang="en-US" dirty="0">
                <a:latin typeface="楷体" panose="02010609060101010101" pitchFamily="49" charset="-122"/>
                <a:ea typeface="楷体" panose="02010609060101010101" pitchFamily="49" charset="-122"/>
              </a:rPr>
              <a:t>，对</a:t>
            </a:r>
            <a:r>
              <a:rPr lang="en-US" altLang="zh-CN" dirty="0">
                <a:latin typeface="楷体" panose="02010609060101010101" pitchFamily="49" charset="-122"/>
                <a:ea typeface="楷体" panose="02010609060101010101" pitchFamily="49" charset="-122"/>
              </a:rPr>
              <a:t>L2</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L0</a:t>
            </a:r>
            <a:r>
              <a:rPr lang="zh-CN" altLang="en-US" dirty="0">
                <a:latin typeface="楷体" panose="02010609060101010101" pitchFamily="49" charset="-122"/>
                <a:ea typeface="楷体" panose="02010609060101010101" pitchFamily="49" charset="-122"/>
              </a:rPr>
              <a:t>指定的</a:t>
            </a:r>
            <a:r>
              <a:rPr lang="en-US" altLang="zh-CN" dirty="0">
                <a:latin typeface="楷体" panose="02010609060101010101" pitchFamily="49" charset="-122"/>
                <a:ea typeface="楷体" panose="02010609060101010101" pitchFamily="49" charset="-122"/>
              </a:rPr>
              <a:t>ISR</a:t>
            </a:r>
            <a:r>
              <a:rPr lang="zh-CN" altLang="en-US" dirty="0">
                <a:latin typeface="楷体" panose="02010609060101010101" pitchFamily="49" charset="-122"/>
                <a:ea typeface="楷体" panose="02010609060101010101" pitchFamily="49" charset="-122"/>
              </a:rPr>
              <a:t>复位，对</a:t>
            </a:r>
            <a:r>
              <a:rPr lang="en-US" altLang="zh-CN" dirty="0">
                <a:latin typeface="楷体" panose="02010609060101010101" pitchFamily="49" charset="-122"/>
                <a:ea typeface="楷体" panose="02010609060101010101" pitchFamily="49" charset="-122"/>
              </a:rPr>
              <a:t>8259A</a:t>
            </a:r>
            <a:r>
              <a:rPr lang="zh-CN" altLang="en-US" dirty="0">
                <a:latin typeface="楷体" panose="02010609060101010101" pitchFamily="49" charset="-122"/>
                <a:ea typeface="楷体" panose="02010609060101010101" pitchFamily="49" charset="-122"/>
              </a:rPr>
              <a:t>的</a:t>
            </a:r>
            <a:r>
              <a:rPr lang="en-US" altLang="zh-CN" dirty="0">
                <a:latin typeface="楷体" panose="02010609060101010101" pitchFamily="49" charset="-122"/>
                <a:ea typeface="楷体" panose="02010609060101010101" pitchFamily="49" charset="-122"/>
              </a:rPr>
              <a:t>IR7</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IR0</a:t>
            </a:r>
            <a:r>
              <a:rPr lang="zh-CN" altLang="en-US" dirty="0">
                <a:latin typeface="楷体" panose="02010609060101010101" pitchFamily="49" charset="-122"/>
                <a:ea typeface="楷体" panose="02010609060101010101" pitchFamily="49" charset="-122"/>
              </a:rPr>
              <a:t>对应的</a:t>
            </a:r>
            <a:r>
              <a:rPr lang="en-US" altLang="zh-CN" dirty="0">
                <a:latin typeface="楷体" panose="02010609060101010101" pitchFamily="49" charset="-122"/>
                <a:ea typeface="楷体" panose="02010609060101010101" pitchFamily="49" charset="-122"/>
              </a:rPr>
              <a:t>ISR</a:t>
            </a:r>
            <a:r>
              <a:rPr lang="zh-CN" altLang="en-US" dirty="0">
                <a:latin typeface="楷体" panose="02010609060101010101" pitchFamily="49" charset="-122"/>
                <a:ea typeface="楷体" panose="02010609060101010101" pitchFamily="49" charset="-122"/>
              </a:rPr>
              <a:t>复位的命令字分别是</a:t>
            </a:r>
            <a:r>
              <a:rPr lang="en-US" altLang="zh-CN" dirty="0">
                <a:latin typeface="楷体" panose="02010609060101010101" pitchFamily="49" charset="-122"/>
                <a:ea typeface="楷体" panose="02010609060101010101" pitchFamily="49" charset="-122"/>
              </a:rPr>
              <a:t>67H</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60H</a:t>
            </a:r>
            <a:r>
              <a:rPr lang="zh-CN" altLang="en-US" dirty="0">
                <a:latin typeface="楷体" panose="02010609060101010101" pitchFamily="49" charset="-122"/>
                <a:ea typeface="楷体" panose="02010609060101010101" pitchFamily="49" charset="-122"/>
              </a:rPr>
              <a:t>。 </a:t>
            </a:r>
          </a:p>
        </p:txBody>
      </p:sp>
      <p:sp>
        <p:nvSpPr>
          <p:cNvPr id="6" name="圆角矩形 5"/>
          <p:cNvSpPr/>
          <p:nvPr/>
        </p:nvSpPr>
        <p:spPr>
          <a:xfrm>
            <a:off x="482354" y="4135282"/>
            <a:ext cx="6254318" cy="9746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BD0D9"/>
              </a:buClr>
              <a:buSzPct val="95000"/>
            </a:pPr>
            <a:r>
              <a:rPr lang="en-US" altLang="zh-CN" dirty="0">
                <a:solidFill>
                  <a:srgbClr val="FF0000"/>
                </a:solidFill>
                <a:latin typeface="楷体" panose="02010609060101010101" pitchFamily="49" charset="-122"/>
                <a:ea typeface="楷体" panose="02010609060101010101" pitchFamily="49" charset="-122"/>
              </a:rPr>
              <a:t>OCW3</a:t>
            </a:r>
            <a:r>
              <a:rPr lang="zh-CN" altLang="en-US" dirty="0">
                <a:latin typeface="楷体" panose="02010609060101010101" pitchFamily="49" charset="-122"/>
                <a:ea typeface="楷体" panose="02010609060101010101" pitchFamily="49" charset="-122"/>
              </a:rPr>
              <a:t>是读</a:t>
            </a:r>
            <a:r>
              <a:rPr lang="en-US" altLang="zh-CN" dirty="0">
                <a:latin typeface="楷体" panose="02010609060101010101" pitchFamily="49" charset="-122"/>
                <a:ea typeface="楷体" panose="02010609060101010101" pitchFamily="49" charset="-122"/>
              </a:rPr>
              <a:t>ISR</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IRR</a:t>
            </a:r>
            <a:r>
              <a:rPr lang="zh-CN" altLang="en-US" dirty="0">
                <a:latin typeface="楷体" panose="02010609060101010101" pitchFamily="49" charset="-122"/>
                <a:ea typeface="楷体" panose="02010609060101010101" pitchFamily="49" charset="-122"/>
              </a:rPr>
              <a:t>以及指定设置特殊屏蔽方式的命令。以</a:t>
            </a:r>
            <a:r>
              <a:rPr lang="en-US" altLang="zh-CN" dirty="0">
                <a:latin typeface="楷体" panose="02010609060101010101" pitchFamily="49" charset="-122"/>
                <a:ea typeface="楷体" panose="02010609060101010101" pitchFamily="49" charset="-122"/>
              </a:rPr>
              <a:t>A0=0</a:t>
            </a:r>
            <a:r>
              <a:rPr lang="zh-CN" altLang="en-US" dirty="0">
                <a:latin typeface="楷体" panose="02010609060101010101" pitchFamily="49" charset="-122"/>
                <a:ea typeface="楷体" panose="02010609060101010101" pitchFamily="49" charset="-122"/>
              </a:rPr>
              <a:t>进行写入，由 </a:t>
            </a:r>
            <a:r>
              <a:rPr lang="en-US" altLang="zh-CN" dirty="0">
                <a:latin typeface="楷体" panose="02010609060101010101" pitchFamily="49" charset="-122"/>
                <a:ea typeface="楷体" panose="02010609060101010101" pitchFamily="49" charset="-122"/>
              </a:rPr>
              <a:t>D4</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D3 </a:t>
            </a:r>
            <a:r>
              <a:rPr lang="zh-CN" altLang="en-US" dirty="0">
                <a:latin typeface="楷体" panose="02010609060101010101" pitchFamily="49" charset="-122"/>
                <a:ea typeface="楷体" panose="02010609060101010101" pitchFamily="49" charset="-122"/>
              </a:rPr>
              <a:t>两位特征位来区别，</a:t>
            </a:r>
            <a:r>
              <a:rPr lang="en-US" altLang="zh-CN" dirty="0">
                <a:latin typeface="楷体" panose="02010609060101010101" pitchFamily="49" charset="-122"/>
                <a:ea typeface="楷体" panose="02010609060101010101" pitchFamily="49" charset="-122"/>
              </a:rPr>
              <a:t>00</a:t>
            </a:r>
            <a:r>
              <a:rPr lang="zh-CN" altLang="en-US" dirty="0">
                <a:latin typeface="楷体" panose="02010609060101010101" pitchFamily="49" charset="-122"/>
                <a:ea typeface="楷体" panose="02010609060101010101" pitchFamily="49" charset="-122"/>
              </a:rPr>
              <a:t>为</a:t>
            </a:r>
            <a:r>
              <a:rPr lang="en-US" altLang="zh-CN" dirty="0">
                <a:latin typeface="楷体" panose="02010609060101010101" pitchFamily="49" charset="-122"/>
                <a:ea typeface="楷体" panose="02010609060101010101" pitchFamily="49" charset="-122"/>
              </a:rPr>
              <a:t>OCW2</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为</a:t>
            </a:r>
            <a:r>
              <a:rPr lang="en-US" altLang="zh-CN" dirty="0">
                <a:latin typeface="楷体" panose="02010609060101010101" pitchFamily="49" charset="-122"/>
                <a:ea typeface="楷体" panose="02010609060101010101" pitchFamily="49" charset="-122"/>
              </a:rPr>
              <a:t>OCW3</a:t>
            </a:r>
            <a:r>
              <a:rPr lang="zh-CN" altLang="en-US" dirty="0">
                <a:latin typeface="楷体" panose="02010609060101010101" pitchFamily="49" charset="-122"/>
                <a:ea typeface="楷体" panose="02010609060101010101" pitchFamily="49" charset="-122"/>
              </a:rPr>
              <a:t>，用来读</a:t>
            </a:r>
            <a:r>
              <a:rPr lang="en-US" altLang="zh-CN" dirty="0">
                <a:latin typeface="楷体" panose="02010609060101010101" pitchFamily="49" charset="-122"/>
                <a:ea typeface="楷体" panose="02010609060101010101" pitchFamily="49" charset="-122"/>
              </a:rPr>
              <a:t>ISR</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IRR</a:t>
            </a:r>
            <a:r>
              <a:rPr lang="zh-CN" altLang="en-US" dirty="0">
                <a:latin typeface="楷体" panose="02010609060101010101" pitchFamily="49" charset="-122"/>
                <a:ea typeface="楷体" panose="02010609060101010101" pitchFamily="49" charset="-122"/>
              </a:rPr>
              <a:t>及中断状态。 </a:t>
            </a:r>
          </a:p>
        </p:txBody>
      </p:sp>
    </p:spTree>
    <p:extLst>
      <p:ext uri="{BB962C8B-B14F-4D97-AF65-F5344CB8AC3E}">
        <p14:creationId xmlns:p14="http://schemas.microsoft.com/office/powerpoint/2010/main" val="125724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5"/>
                                        </p:tgtEl>
                                      </p:cBhvr>
                                    </p:animEffect>
                                    <p:set>
                                      <p:cBhvr>
                                        <p:cTn id="20" dur="1" fill="hold">
                                          <p:stCondLst>
                                            <p:cond delay="499"/>
                                          </p:stCondLst>
                                        </p:cTn>
                                        <p:tgtEl>
                                          <p:spTgt spid="5"/>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6183298"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sz="2800"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10.3 PC</a:t>
            </a:r>
            <a:r>
              <a:rPr lang="zh-CN" altLang="en-US" sz="2800"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的中断系统和中断指令</a:t>
            </a:r>
            <a:endParaRPr lang="zh-CN" altLang="en-US" sz="2800"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4"/>
          <p:cNvSpPr txBox="1">
            <a:spLocks noChangeArrowheads="1"/>
          </p:cNvSpPr>
          <p:nvPr/>
        </p:nvSpPr>
        <p:spPr bwMode="auto">
          <a:xfrm>
            <a:off x="624228" y="1542438"/>
            <a:ext cx="8209053"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30000"/>
              </a:lnSpc>
              <a:buClr>
                <a:srgbClr val="0BD0D9"/>
              </a:buClr>
              <a:buSzPct val="95000"/>
              <a:buFont typeface="Wingdings 2" panose="05020102010507070707" pitchFamily="18" charset="2"/>
              <a:buNone/>
            </a:pPr>
            <a:r>
              <a:rPr lang="en-US" altLang="zh-CN" sz="2400" dirty="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  PC</a:t>
            </a:r>
            <a:r>
              <a:rPr lang="zh-CN" altLang="en-US" sz="2400" dirty="0">
                <a:latin typeface="楷体" panose="02010609060101010101" pitchFamily="49" charset="-122"/>
                <a:ea typeface="楷体" panose="02010609060101010101" pitchFamily="49" charset="-122"/>
              </a:rPr>
              <a:t>机中断系统的功能极强，其结构简单而且灵活</a:t>
            </a:r>
            <a:r>
              <a:rPr lang="zh-CN" altLang="en-US" sz="2400" dirty="0" smtClean="0">
                <a:latin typeface="楷体" panose="02010609060101010101" pitchFamily="49" charset="-122"/>
                <a:ea typeface="楷体" panose="02010609060101010101" pitchFamily="49" charset="-122"/>
              </a:rPr>
              <a:t>。它</a:t>
            </a:r>
            <a:r>
              <a:rPr lang="zh-CN" altLang="en-US" sz="2400" dirty="0">
                <a:latin typeface="楷体" panose="02010609060101010101" pitchFamily="49" charset="-122"/>
                <a:ea typeface="楷体" panose="02010609060101010101" pitchFamily="49" charset="-122"/>
              </a:rPr>
              <a:t>可以处理</a:t>
            </a:r>
            <a:r>
              <a:rPr lang="en-US" altLang="zh-CN" sz="2400" dirty="0">
                <a:latin typeface="楷体" panose="02010609060101010101" pitchFamily="49" charset="-122"/>
                <a:ea typeface="楷体" panose="02010609060101010101" pitchFamily="49" charset="-122"/>
              </a:rPr>
              <a:t>256</a:t>
            </a:r>
            <a:r>
              <a:rPr lang="zh-CN" altLang="en-US" sz="2400" dirty="0">
                <a:latin typeface="楷体" panose="02010609060101010101" pitchFamily="49" charset="-122"/>
                <a:ea typeface="楷体" panose="02010609060101010101" pitchFamily="49" charset="-122"/>
              </a:rPr>
              <a:t>种不同类型的中断</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其中每一种中断</a:t>
            </a:r>
            <a:r>
              <a:rPr lang="zh-CN" altLang="en-US" sz="2400" dirty="0" smtClean="0">
                <a:latin typeface="楷体" panose="02010609060101010101" pitchFamily="49" charset="-122"/>
                <a:ea typeface="楷体" panose="02010609060101010101" pitchFamily="49" charset="-122"/>
              </a:rPr>
              <a:t>都规定</a:t>
            </a:r>
            <a:r>
              <a:rPr lang="zh-CN" altLang="en-US" sz="2400" dirty="0">
                <a:latin typeface="楷体" panose="02010609060101010101" pitchFamily="49" charset="-122"/>
                <a:ea typeface="楷体" panose="02010609060101010101" pitchFamily="49" charset="-122"/>
              </a:rPr>
              <a:t>了一个唯一的</a:t>
            </a:r>
            <a:r>
              <a:rPr lang="zh-CN" altLang="en-US" sz="2400" dirty="0">
                <a:solidFill>
                  <a:srgbClr val="3333FF"/>
                </a:solidFill>
                <a:latin typeface="楷体" panose="02010609060101010101" pitchFamily="49" charset="-122"/>
                <a:ea typeface="楷体" panose="02010609060101010101" pitchFamily="49" charset="-122"/>
              </a:rPr>
              <a:t>中断类型编码</a:t>
            </a:r>
            <a:r>
              <a:rPr lang="zh-CN" altLang="en-US" sz="2400" dirty="0">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即中断向量</a:t>
            </a:r>
            <a:r>
              <a:rPr lang="zh-CN" altLang="en-US"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
        <p:nvSpPr>
          <p:cNvPr id="4" name="矩形 3"/>
          <p:cNvSpPr/>
          <p:nvPr/>
        </p:nvSpPr>
        <p:spPr>
          <a:xfrm>
            <a:off x="1512533" y="3134798"/>
            <a:ext cx="6292128" cy="572464"/>
          </a:xfrm>
          <a:prstGeom prst="rect">
            <a:avLst/>
          </a:prstGeom>
        </p:spPr>
        <p:txBody>
          <a:bodyPr wrap="square">
            <a:spAutoFit/>
          </a:bodyPr>
          <a:lstStyle/>
          <a:p>
            <a:pPr>
              <a:lnSpc>
                <a:spcPct val="130000"/>
              </a:lnSpc>
            </a:pPr>
            <a:r>
              <a:rPr lang="en-US" altLang="zh-CN" sz="2400" dirty="0">
                <a:solidFill>
                  <a:srgbClr val="3333FF"/>
                </a:solidFill>
                <a:latin typeface="楷体" panose="02010609060101010101" pitchFamily="49" charset="-122"/>
                <a:ea typeface="楷体" panose="02010609060101010101" pitchFamily="49" charset="-122"/>
              </a:rPr>
              <a:t>CPU</a:t>
            </a:r>
            <a:r>
              <a:rPr lang="zh-CN" altLang="en-US" sz="2400" dirty="0">
                <a:solidFill>
                  <a:srgbClr val="3333FF"/>
                </a:solidFill>
                <a:latin typeface="楷体" panose="02010609060101010101" pitchFamily="49" charset="-122"/>
                <a:ea typeface="楷体" panose="02010609060101010101" pitchFamily="49" charset="-122"/>
              </a:rPr>
              <a:t>根据中断类型编码来识别中断源</a:t>
            </a:r>
            <a:endParaRPr lang="zh-CN" altLang="en-US" sz="2400" dirty="0">
              <a:latin typeface="楷体" panose="02010609060101010101" pitchFamily="49" charset="-122"/>
              <a:ea typeface="楷体" panose="02010609060101010101" pitchFamily="49" charset="-122"/>
            </a:endParaRPr>
          </a:p>
        </p:txBody>
      </p:sp>
      <p:sp>
        <p:nvSpPr>
          <p:cNvPr id="5" name="矩形 4"/>
          <p:cNvSpPr/>
          <p:nvPr/>
        </p:nvSpPr>
        <p:spPr>
          <a:xfrm>
            <a:off x="864092" y="4059515"/>
            <a:ext cx="7966389" cy="2012859"/>
          </a:xfrm>
          <a:prstGeom prst="rect">
            <a:avLst/>
          </a:prstGeom>
        </p:spPr>
        <p:txBody>
          <a:bodyPr wrap="square">
            <a:spAutoFit/>
          </a:bodyPr>
          <a:lstStyle/>
          <a:p>
            <a:pPr>
              <a:lnSpc>
                <a:spcPct val="130000"/>
              </a:lnSpc>
              <a:buClr>
                <a:srgbClr val="0BD0D9"/>
              </a:buClr>
              <a:buSzPct val="95000"/>
            </a:pPr>
            <a:r>
              <a:rPr lang="en-US" altLang="zh-CN" sz="2400" dirty="0">
                <a:latin typeface="楷体" panose="02010609060101010101" pitchFamily="49" charset="-122"/>
                <a:ea typeface="楷体" panose="02010609060101010101" pitchFamily="49" charset="-122"/>
              </a:rPr>
              <a:t>80x86</a:t>
            </a:r>
            <a:r>
              <a:rPr lang="zh-CN" altLang="en-US" sz="2400" dirty="0">
                <a:latin typeface="楷体" panose="02010609060101010101" pitchFamily="49" charset="-122"/>
                <a:ea typeface="楷体" panose="02010609060101010101" pitchFamily="49" charset="-122"/>
              </a:rPr>
              <a:t>有两类中断：</a:t>
            </a:r>
          </a:p>
          <a:p>
            <a:pPr>
              <a:lnSpc>
                <a:spcPct val="130000"/>
              </a:lnSpc>
              <a:buClr>
                <a:srgbClr val="0BD0D9"/>
              </a:buClr>
              <a:buSzPct val="95000"/>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内部</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软件</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中断</a:t>
            </a:r>
            <a:r>
              <a:rPr lang="zh-CN" altLang="en-US" sz="2400" dirty="0">
                <a:latin typeface="楷体" panose="02010609060101010101" pitchFamily="49" charset="-122"/>
                <a:ea typeface="楷体" panose="02010609060101010101" pitchFamily="49" charset="-122"/>
              </a:rPr>
              <a:t>，</a:t>
            </a:r>
            <a:r>
              <a:rPr lang="zh-CN" altLang="en-US" sz="2400" dirty="0">
                <a:solidFill>
                  <a:srgbClr val="3333FF"/>
                </a:solidFill>
                <a:latin typeface="楷体" panose="02010609060101010101" pitchFamily="49" charset="-122"/>
                <a:ea typeface="楷体" panose="02010609060101010101" pitchFamily="49" charset="-122"/>
              </a:rPr>
              <a:t>即由指令的执行所引起的中断</a:t>
            </a:r>
            <a:r>
              <a:rPr lang="zh-CN" altLang="en-US" sz="2400" dirty="0">
                <a:latin typeface="楷体" panose="02010609060101010101" pitchFamily="49" charset="-122"/>
                <a:ea typeface="楷体" panose="02010609060101010101" pitchFamily="49" charset="-122"/>
              </a:rPr>
              <a:t>；</a:t>
            </a:r>
          </a:p>
          <a:p>
            <a:pPr>
              <a:lnSpc>
                <a:spcPct val="130000"/>
              </a:lnSpc>
              <a:buClr>
                <a:srgbClr val="0BD0D9"/>
              </a:buClr>
              <a:buSzPct val="95000"/>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外部</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硬件</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中断</a:t>
            </a:r>
            <a:r>
              <a:rPr lang="zh-CN" altLang="en-US" sz="2400" dirty="0">
                <a:latin typeface="楷体" panose="02010609060101010101" pitchFamily="49" charset="-122"/>
                <a:ea typeface="楷体" panose="02010609060101010101" pitchFamily="49" charset="-122"/>
              </a:rPr>
              <a:t>，</a:t>
            </a:r>
            <a:r>
              <a:rPr lang="zh-CN" altLang="en-US" sz="2400" dirty="0">
                <a:solidFill>
                  <a:srgbClr val="3333FF"/>
                </a:solidFill>
                <a:latin typeface="楷体" panose="02010609060101010101" pitchFamily="49" charset="-122"/>
                <a:ea typeface="楷体" panose="02010609060101010101" pitchFamily="49" charset="-122"/>
              </a:rPr>
              <a:t>即由外部</a:t>
            </a:r>
            <a:r>
              <a:rPr lang="en-US" altLang="zh-CN" sz="2400" dirty="0">
                <a:solidFill>
                  <a:srgbClr val="3333FF"/>
                </a:solidFill>
                <a:latin typeface="楷体" panose="02010609060101010101" pitchFamily="49" charset="-122"/>
                <a:ea typeface="楷体" panose="02010609060101010101" pitchFamily="49" charset="-122"/>
              </a:rPr>
              <a:t>(</a:t>
            </a:r>
            <a:r>
              <a:rPr lang="zh-CN" altLang="en-US" sz="2400" dirty="0">
                <a:solidFill>
                  <a:srgbClr val="3333FF"/>
                </a:solidFill>
                <a:latin typeface="楷体" panose="02010609060101010101" pitchFamily="49" charset="-122"/>
                <a:ea typeface="楷体" panose="02010609060101010101" pitchFamily="49" charset="-122"/>
              </a:rPr>
              <a:t>主要是外设</a:t>
            </a:r>
            <a:r>
              <a:rPr lang="en-US" altLang="zh-CN" sz="2400" dirty="0">
                <a:solidFill>
                  <a:srgbClr val="3333FF"/>
                </a:solidFill>
                <a:latin typeface="楷体" panose="02010609060101010101" pitchFamily="49" charset="-122"/>
                <a:ea typeface="楷体" panose="02010609060101010101" pitchFamily="49" charset="-122"/>
              </a:rPr>
              <a:t>)</a:t>
            </a:r>
            <a:r>
              <a:rPr lang="zh-CN" altLang="en-US" sz="2400" dirty="0">
                <a:solidFill>
                  <a:srgbClr val="3333FF"/>
                </a:solidFill>
                <a:latin typeface="楷体" panose="02010609060101010101" pitchFamily="49" charset="-122"/>
                <a:ea typeface="楷体" panose="02010609060101010101" pitchFamily="49" charset="-122"/>
              </a:rPr>
              <a:t>的请求</a:t>
            </a:r>
            <a:r>
              <a:rPr lang="zh-CN" altLang="en-US" sz="2400" dirty="0" smtClean="0">
                <a:solidFill>
                  <a:srgbClr val="3333FF"/>
                </a:solidFill>
                <a:latin typeface="楷体" panose="02010609060101010101" pitchFamily="49" charset="-122"/>
                <a:ea typeface="楷体" panose="02010609060101010101" pitchFamily="49" charset="-122"/>
              </a:rPr>
              <a:t>引起的中断，分为</a:t>
            </a:r>
            <a:r>
              <a:rPr lang="zh-CN" altLang="en-US" sz="2400" dirty="0" smtClean="0">
                <a:solidFill>
                  <a:srgbClr val="FF0000"/>
                </a:solidFill>
                <a:latin typeface="楷体" panose="02010609060101010101" pitchFamily="49" charset="-122"/>
                <a:ea typeface="楷体" panose="02010609060101010101" pitchFamily="49" charset="-122"/>
              </a:rPr>
              <a:t>非屏蔽中断</a:t>
            </a:r>
            <a:r>
              <a:rPr lang="zh-CN" altLang="en-US" sz="2400" dirty="0" smtClean="0">
                <a:solidFill>
                  <a:srgbClr val="3333FF"/>
                </a:solidFill>
                <a:latin typeface="楷体" panose="02010609060101010101" pitchFamily="49" charset="-122"/>
                <a:ea typeface="楷体" panose="02010609060101010101" pitchFamily="49" charset="-122"/>
              </a:rPr>
              <a:t>和</a:t>
            </a:r>
            <a:r>
              <a:rPr lang="zh-CN" altLang="en-US" sz="2400" dirty="0" smtClean="0">
                <a:solidFill>
                  <a:srgbClr val="FF0000"/>
                </a:solidFill>
                <a:latin typeface="楷体" panose="02010609060101010101" pitchFamily="49" charset="-122"/>
                <a:ea typeface="楷体" panose="02010609060101010101" pitchFamily="49" charset="-122"/>
              </a:rPr>
              <a:t>可屏蔽中断</a:t>
            </a:r>
            <a:r>
              <a:rPr lang="zh-CN" altLang="en-US" sz="2400" dirty="0" smtClean="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3174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738511" y="2073824"/>
            <a:ext cx="7562110"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buClr>
                <a:srgbClr val="0BD0D9"/>
              </a:buClr>
              <a:buSzPct val="95000"/>
              <a:buFont typeface="Wingdings 2" panose="05020102010507070707" pitchFamily="18" charset="2"/>
              <a:buNone/>
            </a:pPr>
            <a:r>
              <a:rPr lang="en-US" altLang="zh-CN" sz="2400" dirty="0">
                <a:latin typeface="楷体" panose="02010609060101010101" pitchFamily="49" charset="-122"/>
                <a:ea typeface="楷体" panose="02010609060101010101" pitchFamily="49" charset="-122"/>
              </a:rPr>
              <a:t>    80x86</a:t>
            </a:r>
            <a:r>
              <a:rPr lang="zh-CN" altLang="en-US" sz="2400" dirty="0">
                <a:latin typeface="楷体" panose="02010609060101010101" pitchFamily="49" charset="-122"/>
                <a:ea typeface="楷体" panose="02010609060101010101" pitchFamily="49" charset="-122"/>
              </a:rPr>
              <a:t>设置的中断指令和中断返回指令如下：</a:t>
            </a:r>
          </a:p>
          <a:p>
            <a:pPr eaLnBrk="1" hangingPunct="1">
              <a:lnSpc>
                <a:spcPct val="12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3333FF"/>
                </a:solidFill>
                <a:latin typeface="楷体" panose="02010609060101010101" pitchFamily="49" charset="-122"/>
                <a:ea typeface="楷体" panose="02010609060101010101" pitchFamily="49" charset="-122"/>
              </a:rPr>
              <a:t>指定类型中断指令</a:t>
            </a:r>
            <a:r>
              <a:rPr lang="zh-CN" altLang="en-US"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INT N</a:t>
            </a:r>
          </a:p>
          <a:p>
            <a:pPr eaLnBrk="1" hangingPunct="1">
              <a:lnSpc>
                <a:spcPct val="12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3333FF"/>
                </a:solidFill>
                <a:latin typeface="楷体" panose="02010609060101010101" pitchFamily="49" charset="-122"/>
                <a:ea typeface="楷体" panose="02010609060101010101" pitchFamily="49" charset="-122"/>
              </a:rPr>
              <a:t>溢出中断指令</a:t>
            </a:r>
            <a:r>
              <a:rPr lang="zh-CN" altLang="en-US"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INTO</a:t>
            </a:r>
          </a:p>
          <a:p>
            <a:pPr eaLnBrk="1" hangingPunct="1">
              <a:lnSpc>
                <a:spcPct val="12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3333FF"/>
                </a:solidFill>
                <a:latin typeface="楷体" panose="02010609060101010101" pitchFamily="49" charset="-122"/>
                <a:ea typeface="楷体" panose="02010609060101010101" pitchFamily="49" charset="-122"/>
              </a:rPr>
              <a:t>中断返回指令</a:t>
            </a:r>
            <a:r>
              <a:rPr lang="zh-CN" altLang="en-US"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IRET</a:t>
            </a:r>
            <a:r>
              <a:rPr lang="en-US" altLang="zh-CN" sz="2400" dirty="0">
                <a:latin typeface="楷体" panose="02010609060101010101" pitchFamily="49" charset="-122"/>
                <a:ea typeface="楷体" panose="02010609060101010101" pitchFamily="49" charset="-122"/>
              </a:rPr>
              <a:t> /</a:t>
            </a:r>
            <a:r>
              <a:rPr lang="en-US" altLang="zh-CN" sz="2400" dirty="0">
                <a:solidFill>
                  <a:srgbClr val="FF0066"/>
                </a:solidFill>
                <a:latin typeface="楷体" panose="02010609060101010101" pitchFamily="49" charset="-122"/>
                <a:ea typeface="楷体" panose="02010609060101010101" pitchFamily="49" charset="-122"/>
              </a:rPr>
              <a:t>IRETD</a:t>
            </a:r>
            <a:endParaRPr lang="zh-CN" altLang="en-US" sz="2400" dirty="0">
              <a:solidFill>
                <a:srgbClr val="FF0066"/>
              </a:solidFill>
              <a:latin typeface="楷体" panose="02010609060101010101" pitchFamily="49" charset="-122"/>
              <a:ea typeface="楷体" panose="02010609060101010101" pitchFamily="49" charset="-122"/>
            </a:endParaRPr>
          </a:p>
        </p:txBody>
      </p:sp>
      <p:sp>
        <p:nvSpPr>
          <p:cNvPr id="5" name="Text Box 4"/>
          <p:cNvSpPr txBox="1">
            <a:spLocks noChangeArrowheads="1"/>
          </p:cNvSpPr>
          <p:nvPr/>
        </p:nvSpPr>
        <p:spPr bwMode="auto">
          <a:xfrm>
            <a:off x="738511" y="4791862"/>
            <a:ext cx="7562110" cy="1625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当程序需要转移到某一指定的中断服务程序时，可</a:t>
            </a:r>
          </a:p>
          <a:p>
            <a:pPr eaLnBrk="1" hangingPunct="1">
              <a:lnSpc>
                <a:spcPct val="12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以设置一条中断指令，使程序转移到所指定的中断服务</a:t>
            </a:r>
          </a:p>
          <a:p>
            <a:pPr eaLnBrk="1" hangingPunct="1">
              <a:lnSpc>
                <a:spcPct val="125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程序，</a:t>
            </a:r>
            <a:r>
              <a:rPr lang="zh-CN" altLang="en-US" sz="2400" dirty="0">
                <a:solidFill>
                  <a:srgbClr val="3333FF"/>
                </a:solidFill>
                <a:latin typeface="楷体" panose="02010609060101010101" pitchFamily="49" charset="-122"/>
                <a:ea typeface="楷体" panose="02010609060101010101" pitchFamily="49" charset="-122"/>
              </a:rPr>
              <a:t>通过中断指令实现的中断称为</a:t>
            </a:r>
            <a:r>
              <a:rPr lang="zh-CN" altLang="en-US" sz="2400" dirty="0" smtClean="0">
                <a:solidFill>
                  <a:srgbClr val="3333FF"/>
                </a:solidFill>
                <a:latin typeface="楷体" panose="02010609060101010101" pitchFamily="49" charset="-122"/>
                <a:ea typeface="楷体" panose="02010609060101010101" pitchFamily="49" charset="-122"/>
              </a:rPr>
              <a:t>软件（内部）中断</a:t>
            </a:r>
            <a:r>
              <a:rPr lang="zh-CN" altLang="en-US" sz="2400" dirty="0" smtClean="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p:txBody>
      </p:sp>
      <p:sp>
        <p:nvSpPr>
          <p:cNvPr id="6" name="圆角矩形标注 5"/>
          <p:cNvSpPr/>
          <p:nvPr/>
        </p:nvSpPr>
        <p:spPr>
          <a:xfrm>
            <a:off x="4172505" y="786332"/>
            <a:ext cx="3293615" cy="1415560"/>
          </a:xfrm>
          <a:prstGeom prst="wedgeRoundRectCallout">
            <a:avLst>
              <a:gd name="adj1" fmla="val -41270"/>
              <a:gd name="adj2" fmla="val 843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66"/>
                </a:solidFill>
                <a:latin typeface="楷体" panose="02010609060101010101" pitchFamily="49" charset="-122"/>
                <a:ea typeface="楷体" panose="02010609060101010101" pitchFamily="49" charset="-122"/>
              </a:rPr>
              <a:t>INT N</a:t>
            </a:r>
            <a:r>
              <a:rPr lang="zh-CN" altLang="en-US" sz="2000" dirty="0">
                <a:latin typeface="楷体" panose="02010609060101010101" pitchFamily="49" charset="-122"/>
                <a:ea typeface="楷体" panose="02010609060101010101" pitchFamily="49" charset="-122"/>
              </a:rPr>
              <a:t>指令中断</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类型</a:t>
            </a:r>
            <a:r>
              <a:rPr lang="en-US" altLang="zh-CN" sz="2000" dirty="0">
                <a:latin typeface="楷体" panose="02010609060101010101" pitchFamily="49" charset="-122"/>
                <a:ea typeface="楷体" panose="02010609060101010101" pitchFamily="49" charset="-122"/>
              </a:rPr>
              <a:t>N</a:t>
            </a:r>
            <a:r>
              <a:rPr lang="zh-CN" altLang="en-US" sz="2000" dirty="0">
                <a:latin typeface="楷体" panose="02010609060101010101" pitchFamily="49" charset="-122"/>
                <a:ea typeface="楷体" panose="02010609060101010101" pitchFamily="49" charset="-122"/>
              </a:rPr>
              <a:t>中断。 这条指令的执行引起中断，而且中断类型由指令中的</a:t>
            </a:r>
            <a:r>
              <a:rPr lang="en-US" altLang="zh-CN" sz="2000" dirty="0">
                <a:latin typeface="楷体" panose="02010609060101010101" pitchFamily="49" charset="-122"/>
                <a:ea typeface="楷体" panose="02010609060101010101" pitchFamily="49" charset="-122"/>
              </a:rPr>
              <a:t>N</a:t>
            </a:r>
            <a:r>
              <a:rPr lang="zh-CN" altLang="en-US" sz="2000" dirty="0">
                <a:latin typeface="楷体" panose="02010609060101010101" pitchFamily="49" charset="-122"/>
                <a:ea typeface="楷体" panose="02010609060101010101" pitchFamily="49" charset="-122"/>
              </a:rPr>
              <a:t>加以指定</a:t>
            </a:r>
          </a:p>
        </p:txBody>
      </p:sp>
      <p:sp>
        <p:nvSpPr>
          <p:cNvPr id="7" name="圆角矩形标注 6"/>
          <p:cNvSpPr/>
          <p:nvPr/>
        </p:nvSpPr>
        <p:spPr>
          <a:xfrm>
            <a:off x="4305670" y="914400"/>
            <a:ext cx="3790765" cy="1839842"/>
          </a:xfrm>
          <a:prstGeom prst="wedgeRoundRectCallout">
            <a:avLst>
              <a:gd name="adj1" fmla="val -41504"/>
              <a:gd name="adj2" fmla="val 757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66"/>
                </a:solidFill>
                <a:latin typeface="楷体" panose="02010609060101010101" pitchFamily="49" charset="-122"/>
                <a:ea typeface="楷体" panose="02010609060101010101" pitchFamily="49" charset="-122"/>
              </a:rPr>
              <a:t>INTO</a:t>
            </a:r>
            <a:r>
              <a:rPr lang="zh-CN" altLang="en-US" sz="2000" dirty="0">
                <a:latin typeface="楷体" panose="02010609060101010101" pitchFamily="49" charset="-122"/>
                <a:ea typeface="楷体" panose="02010609060101010101" pitchFamily="49" charset="-122"/>
              </a:rPr>
              <a:t>指令中断</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类型</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中断。 若上一条指令执行的结果，使溢出标志位</a:t>
            </a:r>
            <a:r>
              <a:rPr lang="en-US" altLang="zh-CN" sz="2000" dirty="0">
                <a:latin typeface="楷体" panose="02010609060101010101" pitchFamily="49" charset="-122"/>
                <a:ea typeface="楷体" panose="02010609060101010101" pitchFamily="49" charset="-122"/>
              </a:rPr>
              <a:t>OF=1</a:t>
            </a:r>
            <a:r>
              <a:rPr lang="zh-CN" altLang="en-US" sz="2000" dirty="0">
                <a:latin typeface="楷体" panose="02010609060101010101" pitchFamily="49" charset="-122"/>
                <a:ea typeface="楷体" panose="02010609060101010101" pitchFamily="49" charset="-122"/>
              </a:rPr>
              <a:t>，则</a:t>
            </a:r>
            <a:r>
              <a:rPr lang="en-US" altLang="zh-CN" sz="2000" dirty="0">
                <a:latin typeface="楷体" panose="02010609060101010101" pitchFamily="49" charset="-122"/>
                <a:ea typeface="楷体" panose="02010609060101010101" pitchFamily="49" charset="-122"/>
              </a:rPr>
              <a:t>INTO</a:t>
            </a:r>
            <a:r>
              <a:rPr lang="zh-CN" altLang="en-US" sz="2000" dirty="0">
                <a:latin typeface="楷体" panose="02010609060101010101" pitchFamily="49" charset="-122"/>
                <a:ea typeface="楷体" panose="02010609060101010101" pitchFamily="49" charset="-122"/>
              </a:rPr>
              <a:t>指令引起类型为</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的内部中断。否则，此指令不起作用，程序执行下一条指令</a:t>
            </a:r>
          </a:p>
        </p:txBody>
      </p:sp>
      <p:sp>
        <p:nvSpPr>
          <p:cNvPr id="8" name="圆角矩形标注 7"/>
          <p:cNvSpPr/>
          <p:nvPr/>
        </p:nvSpPr>
        <p:spPr>
          <a:xfrm>
            <a:off x="4407763" y="2073824"/>
            <a:ext cx="3790765" cy="1363111"/>
          </a:xfrm>
          <a:prstGeom prst="wedgeRoundRectCallout">
            <a:avLst>
              <a:gd name="adj1" fmla="val -41504"/>
              <a:gd name="adj2" fmla="val 757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smtClean="0">
                <a:solidFill>
                  <a:srgbClr val="FF0066"/>
                </a:solidFill>
                <a:latin typeface="楷体" panose="02010609060101010101" pitchFamily="49" charset="-122"/>
                <a:ea typeface="楷体" panose="02010609060101010101" pitchFamily="49" charset="-122"/>
              </a:rPr>
              <a:t>IRET</a:t>
            </a:r>
            <a:r>
              <a:rPr lang="en-US" altLang="zh-CN" sz="2000" dirty="0" smtClean="0">
                <a:latin typeface="楷体" panose="02010609060101010101" pitchFamily="49" charset="-122"/>
                <a:ea typeface="楷体" panose="02010609060101010101" pitchFamily="49" charset="-122"/>
              </a:rPr>
              <a:t>——</a:t>
            </a:r>
            <a:r>
              <a:rPr lang="zh-CN" altLang="en-US" sz="2000" dirty="0" smtClean="0">
                <a:latin typeface="楷体" panose="02010609060101010101" pitchFamily="49" charset="-122"/>
                <a:ea typeface="楷体" panose="02010609060101010101" pitchFamily="49" charset="-122"/>
              </a:rPr>
              <a:t>中断</a:t>
            </a:r>
            <a:r>
              <a:rPr lang="zh-CN" altLang="en-US" sz="2000" dirty="0">
                <a:latin typeface="楷体" panose="02010609060101010101" pitchFamily="49" charset="-122"/>
                <a:ea typeface="楷体" panose="02010609060101010101" pitchFamily="49" charset="-122"/>
              </a:rPr>
              <a:t>返回指令</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它的作用与</a:t>
            </a:r>
            <a:r>
              <a:rPr lang="en-US" altLang="zh-CN" sz="2000" dirty="0">
                <a:latin typeface="楷体" panose="02010609060101010101" pitchFamily="49" charset="-122"/>
                <a:ea typeface="楷体" panose="02010609060101010101" pitchFamily="49" charset="-122"/>
              </a:rPr>
              <a:t>RET</a:t>
            </a:r>
            <a:r>
              <a:rPr lang="zh-CN" altLang="en-US" sz="2000" dirty="0">
                <a:latin typeface="楷体" panose="02010609060101010101" pitchFamily="49" charset="-122"/>
                <a:ea typeface="楷体" panose="02010609060101010101" pitchFamily="49" charset="-122"/>
              </a:rPr>
              <a:t>指令类似，都是使控制返回</a:t>
            </a:r>
            <a:r>
              <a:rPr lang="zh-CN" altLang="en-US" sz="2000" dirty="0" smtClean="0">
                <a:latin typeface="楷体" panose="02010609060101010101" pitchFamily="49" charset="-122"/>
                <a:ea typeface="楷体" panose="02010609060101010101" pitchFamily="49" charset="-122"/>
              </a:rPr>
              <a:t>主程序（</a:t>
            </a:r>
            <a:r>
              <a:rPr lang="en-US" altLang="en-US" sz="2000" dirty="0" smtClean="0">
                <a:solidFill>
                  <a:srgbClr val="FF0000"/>
                </a:solidFill>
                <a:latin typeface="楷体" panose="02010609060101010101" pitchFamily="49" charset="-122"/>
                <a:ea typeface="楷体" panose="02010609060101010101" pitchFamily="49" charset="-122"/>
              </a:rPr>
              <a:t>IRETD</a:t>
            </a:r>
            <a:r>
              <a:rPr lang="zh-CN" altLang="en-US" sz="2000" dirty="0">
                <a:latin typeface="楷体" panose="02010609060101010101" pitchFamily="49" charset="-122"/>
                <a:ea typeface="楷体" panose="02010609060101010101" pitchFamily="49" charset="-122"/>
              </a:rPr>
              <a:t>是</a:t>
            </a:r>
            <a:r>
              <a:rPr lang="en-US" altLang="en-US"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位的中断返回指令</a:t>
            </a:r>
            <a:r>
              <a:rPr lang="zh-CN" altLang="en-US" sz="2000" dirty="0" smtClean="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p:sp>
        <p:nvSpPr>
          <p:cNvPr id="9" name="矩形 8"/>
          <p:cNvSpPr/>
          <p:nvPr/>
        </p:nvSpPr>
        <p:spPr>
          <a:xfrm>
            <a:off x="738511" y="1291246"/>
            <a:ext cx="1877437"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中断</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指令 </a:t>
            </a:r>
          </a:p>
        </p:txBody>
      </p:sp>
    </p:spTree>
    <p:extLst>
      <p:ext uri="{BB962C8B-B14F-4D97-AF65-F5344CB8AC3E}">
        <p14:creationId xmlns:p14="http://schemas.microsoft.com/office/powerpoint/2010/main" val="104836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6" grpId="1" animBg="1"/>
      <p:bldP spid="7" grpId="0" animBg="1"/>
      <p:bldP spid="7" grpId="1" animBg="1"/>
      <p:bldP spid="8" grpId="0" animBg="1"/>
      <p:bldP spid="8"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20757" y="1397778"/>
            <a:ext cx="2208874" cy="461665"/>
          </a:xfrm>
          <a:prstGeom prst="rect">
            <a:avLst/>
          </a:prstGeom>
        </p:spPr>
        <p:txBody>
          <a:bodyPr wrap="squar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外部中断</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Rectangle 3"/>
          <p:cNvSpPr>
            <a:spLocks noChangeArrowheads="1"/>
          </p:cNvSpPr>
          <p:nvPr/>
        </p:nvSpPr>
        <p:spPr bwMode="auto">
          <a:xfrm>
            <a:off x="587761" y="2455351"/>
            <a:ext cx="754418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2400" dirty="0">
                <a:latin typeface="楷体" panose="02010609060101010101" pitchFamily="49" charset="-122"/>
                <a:ea typeface="楷体" panose="02010609060101010101" pitchFamily="49" charset="-122"/>
              </a:rPr>
              <a:t>    80x86</a:t>
            </a:r>
            <a:r>
              <a:rPr lang="zh-CN" altLang="en-US" sz="2400" dirty="0">
                <a:latin typeface="楷体" panose="02010609060101010101" pitchFamily="49" charset="-122"/>
                <a:ea typeface="楷体" panose="02010609060101010101" pitchFamily="49" charset="-122"/>
              </a:rPr>
              <a:t>微处理器芯片均有两条外部中断请求线：</a:t>
            </a:r>
          </a:p>
          <a:p>
            <a:pPr>
              <a:spcBef>
                <a:spcPct val="0"/>
              </a:spcBef>
              <a:buFontTx/>
              <a:buNone/>
            </a:pPr>
            <a:endParaRPr lang="zh-CN" altLang="en-US" sz="2400" dirty="0">
              <a:latin typeface="楷体" panose="02010609060101010101" pitchFamily="49" charset="-122"/>
              <a:ea typeface="楷体" panose="02010609060101010101" pitchFamily="49" charset="-122"/>
            </a:endParaRPr>
          </a:p>
          <a:p>
            <a:pPr>
              <a:spcBef>
                <a:spcPct val="0"/>
              </a:spcBef>
              <a:buFontTx/>
              <a:buNone/>
            </a:pPr>
            <a:r>
              <a:rPr lang="en-US" altLang="zh-CN" sz="2400" dirty="0" smtClean="0">
                <a:latin typeface="楷体" panose="02010609060101010101" pitchFamily="49" charset="-122"/>
                <a:ea typeface="楷体" panose="02010609060101010101" pitchFamily="49" charset="-122"/>
              </a:rPr>
              <a:t>    </a:t>
            </a:r>
            <a:r>
              <a:rPr lang="en-US" altLang="zh-CN" sz="2400" dirty="0" smtClean="0">
                <a:solidFill>
                  <a:srgbClr val="FF0000"/>
                </a:solidFill>
                <a:latin typeface="楷体" panose="02010609060101010101" pitchFamily="49" charset="-122"/>
                <a:ea typeface="楷体" panose="02010609060101010101" pitchFamily="49" charset="-122"/>
              </a:rPr>
              <a:t>NMI</a:t>
            </a:r>
            <a:r>
              <a:rPr lang="zh-CN" altLang="en-US" sz="2400" dirty="0">
                <a:latin typeface="楷体" panose="02010609060101010101" pitchFamily="49" charset="-122"/>
                <a:ea typeface="楷体" panose="02010609060101010101" pitchFamily="49" charset="-122"/>
              </a:rPr>
              <a:t>：</a:t>
            </a:r>
            <a:r>
              <a:rPr lang="zh-CN" altLang="en-US" sz="2400" dirty="0" smtClean="0">
                <a:solidFill>
                  <a:srgbClr val="3333FF"/>
                </a:solidFill>
                <a:latin typeface="楷体" panose="02010609060101010101" pitchFamily="49" charset="-122"/>
                <a:ea typeface="楷体" panose="02010609060101010101" pitchFamily="49" charset="-122"/>
              </a:rPr>
              <a:t>非屏蔽中断</a:t>
            </a:r>
            <a:endParaRPr lang="en-US" altLang="zh-CN" sz="2400" dirty="0">
              <a:latin typeface="楷体" panose="02010609060101010101" pitchFamily="49" charset="-122"/>
              <a:ea typeface="楷体" panose="02010609060101010101" pitchFamily="49" charset="-122"/>
            </a:endParaRPr>
          </a:p>
          <a:p>
            <a:pPr>
              <a:spcBef>
                <a:spcPct val="0"/>
              </a:spcBef>
              <a:buFontTx/>
              <a:buNone/>
            </a:pPr>
            <a:endParaRPr lang="en-US" altLang="zh-CN" sz="2400" dirty="0">
              <a:latin typeface="楷体" panose="02010609060101010101" pitchFamily="49" charset="-122"/>
              <a:ea typeface="楷体" panose="02010609060101010101" pitchFamily="49" charset="-122"/>
            </a:endParaRPr>
          </a:p>
          <a:p>
            <a:pPr>
              <a:spcBef>
                <a:spcPct val="0"/>
              </a:spcBef>
              <a:buFontTx/>
              <a:buNone/>
            </a:pPr>
            <a:r>
              <a:rPr lang="en-US" altLang="zh-CN" sz="2400" dirty="0">
                <a:latin typeface="楷体" panose="02010609060101010101" pitchFamily="49" charset="-122"/>
                <a:ea typeface="楷体" panose="02010609060101010101" pitchFamily="49" charset="-122"/>
              </a:rPr>
              <a:t>    </a:t>
            </a:r>
            <a:r>
              <a:rPr lang="en-US" altLang="zh-CN" sz="2400" dirty="0" smtClean="0">
                <a:solidFill>
                  <a:srgbClr val="FF0000"/>
                </a:solidFill>
                <a:latin typeface="楷体" panose="02010609060101010101" pitchFamily="49" charset="-122"/>
                <a:ea typeface="楷体" panose="02010609060101010101" pitchFamily="49" charset="-122"/>
              </a:rPr>
              <a:t>INTR</a:t>
            </a:r>
            <a:r>
              <a:rPr lang="zh-CN" altLang="en-US" sz="2400" dirty="0" smtClean="0">
                <a:latin typeface="楷体" panose="02010609060101010101" pitchFamily="49" charset="-122"/>
                <a:ea typeface="楷体" panose="02010609060101010101" pitchFamily="49" charset="-122"/>
              </a:rPr>
              <a:t>：</a:t>
            </a:r>
            <a:r>
              <a:rPr lang="zh-CN" altLang="en-US" sz="2400" dirty="0" smtClean="0">
                <a:solidFill>
                  <a:srgbClr val="3333FF"/>
                </a:solidFill>
                <a:latin typeface="楷体" panose="02010609060101010101" pitchFamily="49" charset="-122"/>
                <a:ea typeface="楷体" panose="02010609060101010101" pitchFamily="49" charset="-122"/>
              </a:rPr>
              <a:t>可屏蔽中断</a:t>
            </a:r>
            <a:r>
              <a:rPr lang="zh-CN" altLang="en-US" sz="2400" dirty="0" smtClean="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68191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2223686" cy="461665"/>
          </a:xfrm>
          <a:prstGeom prst="rect">
            <a:avLst/>
          </a:prstGeom>
        </p:spPr>
        <p:txBody>
          <a:bodyPr wrap="none">
            <a:spAutoFit/>
          </a:bodyPr>
          <a:lstStyle/>
          <a:p>
            <a:pPr marL="342900" indent="-342900">
              <a:spcBef>
                <a:spcPct val="0"/>
              </a:spcBef>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rPr>
              <a:t>可</a:t>
            </a:r>
            <a:r>
              <a:rPr lang="zh-CN" altLang="en-US" sz="2400" dirty="0">
                <a:latin typeface="楷体" panose="02010609060101010101" pitchFamily="49" charset="-122"/>
                <a:ea typeface="楷体" panose="02010609060101010101" pitchFamily="49" charset="-122"/>
              </a:rPr>
              <a:t>屏蔽中断</a:t>
            </a:r>
            <a:r>
              <a:rPr lang="zh-CN" altLang="en-US" sz="2400" dirty="0">
                <a:solidFill>
                  <a:schemeClr val="tx2"/>
                </a:solidFill>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738511" y="2051729"/>
            <a:ext cx="7349046" cy="1113766"/>
          </a:xfrm>
          <a:prstGeom prst="rect">
            <a:avLst/>
          </a:prstGeom>
        </p:spPr>
        <p:txBody>
          <a:bodyPr wrap="square">
            <a:spAutoFit/>
          </a:bodyPr>
          <a:lstStyle/>
          <a:p>
            <a:pPr>
              <a:lnSpc>
                <a:spcPct val="150000"/>
              </a:lnSpc>
              <a:buClr>
                <a:srgbClr val="0BD0D9"/>
              </a:buClr>
              <a:buSzPct val="95000"/>
            </a:pPr>
            <a:r>
              <a:rPr lang="zh-CN" altLang="en-US" sz="2400" dirty="0" smtClean="0">
                <a:latin typeface="楷体" panose="02010609060101010101" pitchFamily="49" charset="-122"/>
                <a:ea typeface="楷体" panose="02010609060101010101" pitchFamily="49" charset="-122"/>
              </a:rPr>
              <a:t>可屏蔽中断，即出现</a:t>
            </a:r>
            <a:r>
              <a:rPr lang="zh-CN" altLang="en-US" sz="2400" dirty="0">
                <a:latin typeface="楷体" panose="02010609060101010101" pitchFamily="49" charset="-122"/>
                <a:ea typeface="楷体" panose="02010609060101010101" pitchFamily="49" charset="-122"/>
              </a:rPr>
              <a:t>在</a:t>
            </a:r>
            <a:r>
              <a:rPr lang="en-US" altLang="zh-CN" sz="2400" dirty="0">
                <a:latin typeface="楷体" panose="02010609060101010101" pitchFamily="49" charset="-122"/>
                <a:ea typeface="楷体" panose="02010609060101010101" pitchFamily="49" charset="-122"/>
              </a:rPr>
              <a:t>INTR</a:t>
            </a:r>
            <a:r>
              <a:rPr lang="zh-CN" altLang="en-US" sz="2400" dirty="0">
                <a:latin typeface="楷体" panose="02010609060101010101" pitchFamily="49" charset="-122"/>
                <a:ea typeface="楷体" panose="02010609060101010101" pitchFamily="49" charset="-122"/>
              </a:rPr>
              <a:t>线上的中断请求，</a:t>
            </a:r>
            <a:r>
              <a:rPr lang="en-US" altLang="zh-CN" sz="2400" dirty="0">
                <a:solidFill>
                  <a:srgbClr val="FF0000"/>
                </a:solidFill>
                <a:latin typeface="楷体" panose="02010609060101010101" pitchFamily="49" charset="-122"/>
                <a:ea typeface="楷体" panose="02010609060101010101" pitchFamily="49" charset="-122"/>
              </a:rPr>
              <a:t>CPU </a:t>
            </a:r>
            <a:r>
              <a:rPr lang="zh-CN" altLang="en-US" sz="2400" dirty="0">
                <a:solidFill>
                  <a:srgbClr val="FF0000"/>
                </a:solidFill>
                <a:latin typeface="楷体" panose="02010609060101010101" pitchFamily="49" charset="-122"/>
                <a:ea typeface="楷体" panose="02010609060101010101" pitchFamily="49" charset="-122"/>
              </a:rPr>
              <a:t>是否响应要</a:t>
            </a:r>
            <a:r>
              <a:rPr lang="zh-CN" altLang="en-US" sz="2400" dirty="0" smtClean="0">
                <a:solidFill>
                  <a:srgbClr val="FF0000"/>
                </a:solidFill>
                <a:latin typeface="楷体" panose="02010609060101010101" pitchFamily="49" charset="-122"/>
                <a:ea typeface="楷体" panose="02010609060101010101" pitchFamily="49" charset="-122"/>
              </a:rPr>
              <a:t>取决于标志</a:t>
            </a:r>
            <a:r>
              <a:rPr lang="zh-CN" altLang="en-US" sz="2400" dirty="0">
                <a:solidFill>
                  <a:srgbClr val="FF0000"/>
                </a:solidFill>
                <a:latin typeface="楷体" panose="02010609060101010101" pitchFamily="49" charset="-122"/>
                <a:ea typeface="楷体" panose="02010609060101010101" pitchFamily="49" charset="-122"/>
              </a:rPr>
              <a:t>位</a:t>
            </a:r>
            <a:r>
              <a:rPr lang="en-US" altLang="zh-CN" sz="2400" dirty="0">
                <a:solidFill>
                  <a:srgbClr val="FF0000"/>
                </a:solidFill>
                <a:latin typeface="楷体" panose="02010609060101010101" pitchFamily="49" charset="-122"/>
                <a:ea typeface="楷体" panose="02010609060101010101" pitchFamily="49" charset="-122"/>
              </a:rPr>
              <a:t>IF</a:t>
            </a:r>
            <a:r>
              <a:rPr lang="zh-CN" altLang="en-US" sz="2400" dirty="0">
                <a:solidFill>
                  <a:srgbClr val="FF0000"/>
                </a:solidFill>
                <a:latin typeface="楷体" panose="02010609060101010101" pitchFamily="49" charset="-122"/>
                <a:ea typeface="楷体" panose="02010609060101010101" pitchFamily="49" charset="-122"/>
              </a:rPr>
              <a:t>的</a:t>
            </a:r>
            <a:r>
              <a:rPr lang="zh-CN" altLang="en-US" sz="2400" dirty="0" smtClean="0">
                <a:solidFill>
                  <a:srgbClr val="FF0000"/>
                </a:solidFill>
                <a:latin typeface="楷体" panose="02010609060101010101" pitchFamily="49" charset="-122"/>
                <a:ea typeface="楷体" panose="02010609060101010101" pitchFamily="49" charset="-122"/>
              </a:rPr>
              <a:t>状态。</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4" name="矩形 3"/>
          <p:cNvSpPr/>
          <p:nvPr/>
        </p:nvSpPr>
        <p:spPr>
          <a:xfrm>
            <a:off x="738511" y="3464313"/>
            <a:ext cx="7349046" cy="1113766"/>
          </a:xfrm>
          <a:prstGeom prst="rect">
            <a:avLst/>
          </a:prstGeom>
        </p:spPr>
        <p:txBody>
          <a:bodyPr wrap="square">
            <a:spAutoFit/>
          </a:bodyPr>
          <a:lstStyle/>
          <a:p>
            <a:pPr>
              <a:lnSpc>
                <a:spcPct val="150000"/>
              </a:lnSpc>
              <a:buClr>
                <a:srgbClr val="0BD0D9"/>
              </a:buClr>
              <a:buSzPct val="95000"/>
            </a:pPr>
            <a:r>
              <a:rPr lang="zh-CN" altLang="en-US" sz="2400" dirty="0">
                <a:solidFill>
                  <a:srgbClr val="3333FF"/>
                </a:solidFill>
                <a:latin typeface="楷体" panose="02010609060101010101" pitchFamily="49" charset="-122"/>
                <a:ea typeface="楷体" panose="02010609060101010101" pitchFamily="49" charset="-122"/>
              </a:rPr>
              <a:t>若</a:t>
            </a:r>
            <a:r>
              <a:rPr lang="en-US" altLang="zh-CN" sz="2400" dirty="0">
                <a:solidFill>
                  <a:srgbClr val="3333FF"/>
                </a:solidFill>
                <a:latin typeface="楷体" panose="02010609060101010101" pitchFamily="49" charset="-122"/>
                <a:ea typeface="楷体" panose="02010609060101010101" pitchFamily="49" charset="-122"/>
              </a:rPr>
              <a:t>IF=1</a:t>
            </a:r>
            <a:r>
              <a:rPr lang="zh-CN" altLang="en-US" sz="2400" dirty="0">
                <a:solidFill>
                  <a:srgbClr val="3333FF"/>
                </a:solidFill>
                <a:latin typeface="楷体" panose="02010609060101010101" pitchFamily="49" charset="-122"/>
                <a:ea typeface="楷体" panose="02010609060101010101" pitchFamily="49" charset="-122"/>
              </a:rPr>
              <a:t>，则</a:t>
            </a:r>
            <a:r>
              <a:rPr lang="en-US" altLang="zh-CN" sz="2400" dirty="0">
                <a:solidFill>
                  <a:srgbClr val="3333FF"/>
                </a:solidFill>
                <a:latin typeface="楷体" panose="02010609060101010101" pitchFamily="49" charset="-122"/>
                <a:ea typeface="楷体" panose="02010609060101010101" pitchFamily="49" charset="-122"/>
              </a:rPr>
              <a:t>CPU</a:t>
            </a:r>
            <a:r>
              <a:rPr lang="zh-CN" altLang="en-US" sz="2400" dirty="0">
                <a:solidFill>
                  <a:srgbClr val="3333FF"/>
                </a:solidFill>
                <a:latin typeface="楷体" panose="02010609060101010101" pitchFamily="49" charset="-122"/>
                <a:ea typeface="楷体" panose="02010609060101010101" pitchFamily="49" charset="-122"/>
              </a:rPr>
              <a:t>就响应</a:t>
            </a:r>
            <a:r>
              <a:rPr lang="zh-CN" altLang="en-US" sz="2400" dirty="0">
                <a:latin typeface="楷体" panose="02010609060101010101" pitchFamily="49" charset="-122"/>
                <a:ea typeface="楷体" panose="02010609060101010101" pitchFamily="49" charset="-122"/>
              </a:rPr>
              <a:t>，此时</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是处在</a:t>
            </a:r>
            <a:r>
              <a:rPr lang="zh-CN" altLang="en-US" sz="2400" dirty="0">
                <a:solidFill>
                  <a:srgbClr val="FF0000"/>
                </a:solidFill>
                <a:latin typeface="楷体" panose="02010609060101010101" pitchFamily="49" charset="-122"/>
                <a:ea typeface="楷体" panose="02010609060101010101" pitchFamily="49" charset="-122"/>
              </a:rPr>
              <a:t>开中断</a:t>
            </a:r>
            <a:r>
              <a:rPr lang="zh-CN" altLang="en-US" sz="2400" dirty="0">
                <a:latin typeface="楷体" panose="02010609060101010101" pitchFamily="49" charset="-122"/>
                <a:ea typeface="楷体" panose="02010609060101010101" pitchFamily="49" charset="-122"/>
              </a:rPr>
              <a:t>状态；</a:t>
            </a:r>
          </a:p>
          <a:p>
            <a:pPr>
              <a:lnSpc>
                <a:spcPct val="150000"/>
              </a:lnSpc>
              <a:buClr>
                <a:srgbClr val="0BD0D9"/>
              </a:buClr>
              <a:buSzPct val="95000"/>
            </a:pPr>
            <a:r>
              <a:rPr lang="zh-CN" altLang="en-US" sz="2400" dirty="0" smtClean="0">
                <a:solidFill>
                  <a:srgbClr val="3333FF"/>
                </a:solidFill>
                <a:latin typeface="楷体" panose="02010609060101010101" pitchFamily="49" charset="-122"/>
                <a:ea typeface="楷体" panose="02010609060101010101" pitchFamily="49" charset="-122"/>
              </a:rPr>
              <a:t>若</a:t>
            </a:r>
            <a:r>
              <a:rPr lang="en-US" altLang="zh-CN" sz="2400" dirty="0">
                <a:solidFill>
                  <a:srgbClr val="3333FF"/>
                </a:solidFill>
                <a:latin typeface="楷体" panose="02010609060101010101" pitchFamily="49" charset="-122"/>
                <a:ea typeface="楷体" panose="02010609060101010101" pitchFamily="49" charset="-122"/>
              </a:rPr>
              <a:t>IF=0</a:t>
            </a:r>
            <a:r>
              <a:rPr lang="zh-CN" altLang="en-US" sz="2400" dirty="0">
                <a:solidFill>
                  <a:srgbClr val="3333FF"/>
                </a:solidFill>
                <a:latin typeface="楷体" panose="02010609060101010101" pitchFamily="49" charset="-122"/>
                <a:ea typeface="楷体" panose="02010609060101010101" pitchFamily="49" charset="-122"/>
              </a:rPr>
              <a:t>，则</a:t>
            </a:r>
            <a:r>
              <a:rPr lang="en-US" altLang="zh-CN" sz="2400" dirty="0">
                <a:solidFill>
                  <a:srgbClr val="3333FF"/>
                </a:solidFill>
                <a:latin typeface="楷体" panose="02010609060101010101" pitchFamily="49" charset="-122"/>
                <a:ea typeface="楷体" panose="02010609060101010101" pitchFamily="49" charset="-122"/>
              </a:rPr>
              <a:t>CPU</a:t>
            </a:r>
            <a:r>
              <a:rPr lang="zh-CN" altLang="en-US" sz="2400" dirty="0">
                <a:solidFill>
                  <a:srgbClr val="3333FF"/>
                </a:solidFill>
                <a:latin typeface="楷体" panose="02010609060101010101" pitchFamily="49" charset="-122"/>
                <a:ea typeface="楷体" panose="02010609060101010101" pitchFamily="49" charset="-122"/>
              </a:rPr>
              <a:t>就不响应</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此时</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是处在</a:t>
            </a:r>
            <a:r>
              <a:rPr lang="zh-CN" altLang="en-US" sz="2400" dirty="0">
                <a:solidFill>
                  <a:srgbClr val="FF0000"/>
                </a:solidFill>
                <a:latin typeface="楷体" panose="02010609060101010101" pitchFamily="49" charset="-122"/>
                <a:ea typeface="楷体" panose="02010609060101010101" pitchFamily="49" charset="-122"/>
              </a:rPr>
              <a:t>关中断</a:t>
            </a:r>
            <a:r>
              <a:rPr lang="zh-CN" altLang="en-US" sz="2400" dirty="0">
                <a:latin typeface="楷体" panose="02010609060101010101" pitchFamily="49" charset="-122"/>
                <a:ea typeface="楷体" panose="02010609060101010101" pitchFamily="49" charset="-122"/>
              </a:rPr>
              <a:t>状态。</a:t>
            </a:r>
          </a:p>
        </p:txBody>
      </p:sp>
      <p:sp>
        <p:nvSpPr>
          <p:cNvPr id="5" name="矩形 4"/>
          <p:cNvSpPr/>
          <p:nvPr/>
        </p:nvSpPr>
        <p:spPr>
          <a:xfrm>
            <a:off x="738511" y="4791525"/>
            <a:ext cx="7349046" cy="1200329"/>
          </a:xfrm>
          <a:prstGeom prst="rect">
            <a:avLst/>
          </a:prstGeom>
        </p:spPr>
        <p:txBody>
          <a:bodyPr wrap="square">
            <a:spAutoFit/>
          </a:bodyPr>
          <a:lstStyle/>
          <a:p>
            <a:pPr>
              <a:lnSpc>
                <a:spcPct val="150000"/>
              </a:lnSpc>
              <a:buClr>
                <a:srgbClr val="0BD0D9"/>
              </a:buClr>
              <a:buSzPct val="95000"/>
            </a:pPr>
            <a:r>
              <a:rPr lang="zh-CN" altLang="en-US" sz="2400" dirty="0">
                <a:latin typeface="楷体" panose="02010609060101010101" pitchFamily="49" charset="-122"/>
                <a:ea typeface="楷体" panose="02010609060101010101" pitchFamily="49" charset="-122"/>
              </a:rPr>
              <a:t>而</a:t>
            </a:r>
            <a:r>
              <a:rPr lang="en-US" altLang="zh-CN" sz="2400" dirty="0">
                <a:latin typeface="楷体" panose="02010609060101010101" pitchFamily="49" charset="-122"/>
                <a:ea typeface="楷体" panose="02010609060101010101" pitchFamily="49" charset="-122"/>
              </a:rPr>
              <a:t>IF</a:t>
            </a:r>
            <a:r>
              <a:rPr lang="zh-CN" altLang="en-US" sz="2400" dirty="0">
                <a:latin typeface="楷体" panose="02010609060101010101" pitchFamily="49" charset="-122"/>
                <a:ea typeface="楷体" panose="02010609060101010101" pitchFamily="49" charset="-122"/>
              </a:rPr>
              <a:t>标志位的状态，可以用指令</a:t>
            </a:r>
            <a:r>
              <a:rPr lang="en-US" altLang="zh-CN" sz="2400" dirty="0">
                <a:solidFill>
                  <a:srgbClr val="FF0000"/>
                </a:solidFill>
                <a:latin typeface="楷体" panose="02010609060101010101" pitchFamily="49" charset="-122"/>
                <a:ea typeface="楷体" panose="02010609060101010101" pitchFamily="49" charset="-122"/>
              </a:rPr>
              <a:t>STI</a:t>
            </a:r>
            <a:r>
              <a:rPr lang="zh-CN" altLang="en-US" sz="2400" dirty="0">
                <a:latin typeface="楷体" panose="02010609060101010101" pitchFamily="49" charset="-122"/>
                <a:ea typeface="楷体" panose="02010609060101010101" pitchFamily="49" charset="-122"/>
              </a:rPr>
              <a:t>使其置位，即</a:t>
            </a:r>
            <a:r>
              <a:rPr lang="zh-CN" altLang="en-US" sz="2400" dirty="0" smtClean="0">
                <a:latin typeface="楷体" panose="02010609060101010101" pitchFamily="49" charset="-122"/>
                <a:ea typeface="楷体" panose="02010609060101010101" pitchFamily="49" charset="-122"/>
              </a:rPr>
              <a:t>开中断</a:t>
            </a:r>
            <a:r>
              <a:rPr lang="zh-CN" altLang="en-US" sz="2400" dirty="0">
                <a:latin typeface="楷体" panose="02010609060101010101" pitchFamily="49" charset="-122"/>
                <a:ea typeface="楷体" panose="02010609060101010101" pitchFamily="49" charset="-122"/>
              </a:rPr>
              <a:t>；也可以用</a:t>
            </a:r>
            <a:r>
              <a:rPr lang="en-US" altLang="zh-CN" sz="2400" dirty="0">
                <a:solidFill>
                  <a:srgbClr val="FF0000"/>
                </a:solidFill>
                <a:latin typeface="楷体" panose="02010609060101010101" pitchFamily="49" charset="-122"/>
                <a:ea typeface="楷体" panose="02010609060101010101" pitchFamily="49" charset="-122"/>
              </a:rPr>
              <a:t>CLI</a:t>
            </a:r>
            <a:r>
              <a:rPr lang="zh-CN" altLang="en-US" sz="2400" dirty="0">
                <a:latin typeface="楷体" panose="02010609060101010101" pitchFamily="49" charset="-122"/>
                <a:ea typeface="楷体" panose="02010609060101010101" pitchFamily="49" charset="-122"/>
              </a:rPr>
              <a:t>指令来使其复位，即关中断。 </a:t>
            </a:r>
          </a:p>
        </p:txBody>
      </p:sp>
    </p:spTree>
    <p:extLst>
      <p:ext uri="{BB962C8B-B14F-4D97-AF65-F5344CB8AC3E}">
        <p14:creationId xmlns:p14="http://schemas.microsoft.com/office/powerpoint/2010/main" val="269773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0" y="1291246"/>
            <a:ext cx="1250117" cy="461665"/>
          </a:xfrm>
          <a:prstGeom prst="rect">
            <a:avLst/>
          </a:prstGeom>
        </p:spPr>
        <p:txBody>
          <a:bodyPr wrap="square">
            <a:spAutoFit/>
          </a:bodyPr>
          <a:lstStyle/>
          <a:p>
            <a:pPr>
              <a:spcBef>
                <a:spcPct val="0"/>
              </a:spcBef>
            </a:pP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注意：</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738510" y="2102676"/>
            <a:ext cx="5472857" cy="461665"/>
          </a:xfrm>
          <a:prstGeom prst="rect">
            <a:avLst/>
          </a:prstGeom>
        </p:spPr>
        <p:txBody>
          <a:bodyPr wrap="square">
            <a:spAutoFit/>
          </a:bodyPr>
          <a:lstStyle/>
          <a:p>
            <a:pPr indent="457200"/>
            <a:r>
              <a:rPr lang="zh-CN" altLang="en-US" sz="2400" dirty="0">
                <a:latin typeface="楷体" panose="02010609060101010101" pitchFamily="49" charset="-122"/>
                <a:ea typeface="楷体" panose="02010609060101010101" pitchFamily="49" charset="-122"/>
              </a:rPr>
              <a:t>在系统复位以后，标志位</a:t>
            </a:r>
            <a:r>
              <a:rPr lang="en-US" altLang="zh-CN" sz="2400" dirty="0">
                <a:solidFill>
                  <a:srgbClr val="FF0000"/>
                </a:solidFill>
                <a:latin typeface="楷体" panose="02010609060101010101" pitchFamily="49" charset="-122"/>
                <a:ea typeface="楷体" panose="02010609060101010101" pitchFamily="49" charset="-122"/>
              </a:rPr>
              <a:t>IF=0</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4" name="矩形 3"/>
          <p:cNvSpPr/>
          <p:nvPr/>
        </p:nvSpPr>
        <p:spPr>
          <a:xfrm>
            <a:off x="738510" y="2862123"/>
            <a:ext cx="7970483" cy="1643527"/>
          </a:xfrm>
          <a:prstGeom prst="rect">
            <a:avLst/>
          </a:prstGeom>
        </p:spPr>
        <p:txBody>
          <a:bodyPr wrap="square">
            <a:spAutoFit/>
          </a:bodyPr>
          <a:lstStyle/>
          <a:p>
            <a:pPr indent="457200">
              <a:lnSpc>
                <a:spcPct val="140000"/>
              </a:lnSpc>
              <a:buClr>
                <a:srgbClr val="0BD0D9"/>
              </a:buClr>
              <a:buSzPct val="95000"/>
            </a:pPr>
            <a:r>
              <a:rPr lang="zh-CN" altLang="en-US" sz="2400" dirty="0">
                <a:latin typeface="楷体" panose="02010609060101010101" pitchFamily="49" charset="-122"/>
                <a:ea typeface="楷体" panose="02010609060101010101" pitchFamily="49" charset="-122"/>
              </a:rPr>
              <a:t>任一种中断</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内部中断、</a:t>
            </a:r>
            <a:r>
              <a:rPr lang="en-US" altLang="zh-CN" sz="2400" dirty="0">
                <a:latin typeface="楷体" panose="02010609060101010101" pitchFamily="49" charset="-122"/>
                <a:ea typeface="楷体" panose="02010609060101010101" pitchFamily="49" charset="-122"/>
              </a:rPr>
              <a:t>NMI</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INTR)</a:t>
            </a:r>
            <a:r>
              <a:rPr lang="zh-CN" altLang="en-US" sz="2400" dirty="0">
                <a:latin typeface="楷体" panose="02010609060101010101" pitchFamily="49" charset="-122"/>
                <a:ea typeface="楷体" panose="02010609060101010101" pitchFamily="49" charset="-122"/>
              </a:rPr>
              <a:t>被响应后</a:t>
            </a:r>
            <a:r>
              <a:rPr lang="zh-CN" altLang="en-US" sz="2400" dirty="0" smtClean="0">
                <a:latin typeface="楷体" panose="02010609060101010101" pitchFamily="49" charset="-122"/>
                <a:ea typeface="楷体" panose="02010609060101010101" pitchFamily="49" charset="-122"/>
              </a:rPr>
              <a:t>，</a:t>
            </a:r>
            <a:r>
              <a:rPr lang="zh-CN" altLang="en-US" sz="2400" dirty="0" smtClean="0">
                <a:solidFill>
                  <a:srgbClr val="FF0000"/>
                </a:solidFill>
                <a:latin typeface="楷体" panose="02010609060101010101" pitchFamily="49" charset="-122"/>
                <a:ea typeface="楷体" panose="02010609060101010101" pitchFamily="49" charset="-122"/>
              </a:rPr>
              <a:t>自动关中断，即</a:t>
            </a:r>
            <a:r>
              <a:rPr lang="en-US" altLang="zh-CN" sz="2400" dirty="0" smtClean="0">
                <a:solidFill>
                  <a:srgbClr val="FF0000"/>
                </a:solidFill>
                <a:latin typeface="楷体" panose="02010609060101010101" pitchFamily="49" charset="-122"/>
                <a:ea typeface="楷体" panose="02010609060101010101" pitchFamily="49" charset="-122"/>
              </a:rPr>
              <a:t>IF</a:t>
            </a:r>
            <a:r>
              <a:rPr lang="zh-CN" altLang="en-US" sz="2400" dirty="0" smtClean="0">
                <a:solidFill>
                  <a:srgbClr val="FF0000"/>
                </a:solidFill>
                <a:latin typeface="楷体" panose="02010609060101010101" pitchFamily="49" charset="-122"/>
                <a:ea typeface="楷体" panose="02010609060101010101" pitchFamily="49" charset="-122"/>
              </a:rPr>
              <a:t>置</a:t>
            </a:r>
            <a:r>
              <a:rPr lang="en-US" altLang="zh-CN" sz="2400" dirty="0" smtClean="0">
                <a:solidFill>
                  <a:srgbClr val="FF0000"/>
                </a:solidFill>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。所以</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若允许中断嵌套</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就必须在中断服务程序中</a:t>
            </a:r>
            <a:r>
              <a:rPr lang="zh-CN" altLang="en-US" sz="2400" dirty="0" smtClean="0">
                <a:latin typeface="楷体" panose="02010609060101010101" pitchFamily="49" charset="-122"/>
                <a:ea typeface="楷体" panose="02010609060101010101" pitchFamily="49" charset="-122"/>
              </a:rPr>
              <a:t>用</a:t>
            </a:r>
            <a:r>
              <a:rPr lang="en-US" altLang="zh-CN" sz="2400" dirty="0" smtClean="0">
                <a:latin typeface="楷体" panose="02010609060101010101" pitchFamily="49" charset="-122"/>
                <a:ea typeface="楷体" panose="02010609060101010101" pitchFamily="49" charset="-122"/>
              </a:rPr>
              <a:t>STI</a:t>
            </a:r>
            <a:r>
              <a:rPr lang="zh-CN" altLang="en-US" sz="2400" dirty="0">
                <a:latin typeface="楷体" panose="02010609060101010101" pitchFamily="49" charset="-122"/>
                <a:ea typeface="楷体" panose="02010609060101010101" pitchFamily="49" charset="-122"/>
              </a:rPr>
              <a:t>指令</a:t>
            </a:r>
            <a:r>
              <a:rPr lang="zh-CN" altLang="en-US" sz="2400" dirty="0">
                <a:solidFill>
                  <a:srgbClr val="FF0000"/>
                </a:solidFill>
                <a:latin typeface="楷体" panose="02010609060101010101" pitchFamily="49" charset="-122"/>
                <a:ea typeface="楷体" panose="02010609060101010101" pitchFamily="49" charset="-122"/>
              </a:rPr>
              <a:t>开中断</a:t>
            </a:r>
            <a:r>
              <a:rPr lang="zh-CN" altLang="en-US" sz="2400" dirty="0">
                <a:latin typeface="楷体" panose="02010609060101010101" pitchFamily="49" charset="-122"/>
                <a:ea typeface="楷体" panose="02010609060101010101" pitchFamily="49" charset="-122"/>
              </a:rPr>
              <a:t>。</a:t>
            </a:r>
          </a:p>
        </p:txBody>
      </p:sp>
      <p:sp>
        <p:nvSpPr>
          <p:cNvPr id="5" name="矩形 4"/>
          <p:cNvSpPr/>
          <p:nvPr/>
        </p:nvSpPr>
        <p:spPr>
          <a:xfrm>
            <a:off x="738510" y="4803432"/>
            <a:ext cx="7970483" cy="1643527"/>
          </a:xfrm>
          <a:prstGeom prst="rect">
            <a:avLst/>
          </a:prstGeom>
        </p:spPr>
        <p:txBody>
          <a:bodyPr wrap="square">
            <a:spAutoFit/>
          </a:bodyPr>
          <a:lstStyle/>
          <a:p>
            <a:pPr indent="457200">
              <a:lnSpc>
                <a:spcPct val="140000"/>
              </a:lnSpc>
              <a:buClr>
                <a:srgbClr val="0BD0D9"/>
              </a:buClr>
              <a:buSzPct val="95000"/>
            </a:pP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是在当前指令周期的最后一个</a:t>
            </a:r>
            <a:r>
              <a:rPr lang="en-US" altLang="zh-CN" sz="2400" dirty="0">
                <a:latin typeface="楷体" panose="02010609060101010101" pitchFamily="49" charset="-122"/>
                <a:ea typeface="楷体" panose="02010609060101010101" pitchFamily="49" charset="-122"/>
              </a:rPr>
              <a:t>T</a:t>
            </a:r>
            <a:r>
              <a:rPr lang="zh-CN" altLang="en-US" sz="2400" dirty="0">
                <a:latin typeface="楷体" panose="02010609060101010101" pitchFamily="49" charset="-122"/>
                <a:ea typeface="楷体" panose="02010609060101010101" pitchFamily="49" charset="-122"/>
              </a:rPr>
              <a:t>状态采样中断请求线，若发现有可屏蔽中断请求</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且中断是开放的</a:t>
            </a:r>
            <a:r>
              <a:rPr lang="en-US" altLang="zh-CN" sz="2400" dirty="0">
                <a:latin typeface="楷体" panose="02010609060101010101" pitchFamily="49" charset="-122"/>
                <a:ea typeface="楷体" panose="02010609060101010101" pitchFamily="49" charset="-122"/>
              </a:rPr>
              <a:t>(IF=1)</a:t>
            </a:r>
            <a:r>
              <a:rPr lang="zh-CN" altLang="en-US" sz="2400" dirty="0">
                <a:latin typeface="楷体" panose="02010609060101010101" pitchFamily="49" charset="-122"/>
                <a:ea typeface="楷体" panose="02010609060101010101" pitchFamily="49" charset="-122"/>
              </a:rPr>
              <a:t>，则</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转入中断响应周期。</a:t>
            </a:r>
          </a:p>
        </p:txBody>
      </p:sp>
    </p:spTree>
    <p:extLst>
      <p:ext uri="{BB962C8B-B14F-4D97-AF65-F5344CB8AC3E}">
        <p14:creationId xmlns:p14="http://schemas.microsoft.com/office/powerpoint/2010/main" val="252054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0" y="1291246"/>
            <a:ext cx="2885651" cy="461665"/>
          </a:xfrm>
          <a:prstGeom prst="rect">
            <a:avLst/>
          </a:prstGeom>
        </p:spPr>
        <p:txBody>
          <a:bodyPr wrap="square">
            <a:spAutoFit/>
          </a:bodyPr>
          <a:lstStyle/>
          <a:p>
            <a:pPr marL="342900" indent="-342900">
              <a:spcBef>
                <a:spcPct val="0"/>
              </a:spcBef>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非屏蔽中断</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738510" y="2285546"/>
            <a:ext cx="8041505" cy="1200329"/>
          </a:xfrm>
          <a:prstGeom prst="rect">
            <a:avLst/>
          </a:prstGeom>
        </p:spPr>
        <p:txBody>
          <a:bodyPr wrap="square">
            <a:spAutoFit/>
          </a:bodyPr>
          <a:lstStyle/>
          <a:p>
            <a:pPr indent="457200">
              <a:lnSpc>
                <a:spcPct val="150000"/>
              </a:lnSpc>
            </a:pPr>
            <a:r>
              <a:rPr lang="zh-CN" altLang="en-US" sz="2400" dirty="0">
                <a:solidFill>
                  <a:srgbClr val="FF0066"/>
                </a:solidFill>
                <a:latin typeface="楷体" panose="02010609060101010101" pitchFamily="49" charset="-122"/>
                <a:ea typeface="楷体" panose="02010609060101010101" pitchFamily="49" charset="-122"/>
              </a:rPr>
              <a:t>出现在</a:t>
            </a:r>
            <a:r>
              <a:rPr lang="en-US" altLang="zh-CN" sz="2400" dirty="0">
                <a:solidFill>
                  <a:srgbClr val="FF0066"/>
                </a:solidFill>
                <a:latin typeface="楷体" panose="02010609060101010101" pitchFamily="49" charset="-122"/>
                <a:ea typeface="楷体" panose="02010609060101010101" pitchFamily="49" charset="-122"/>
              </a:rPr>
              <a:t>NMI</a:t>
            </a:r>
            <a:r>
              <a:rPr lang="zh-CN" altLang="en-US" sz="2400" dirty="0">
                <a:solidFill>
                  <a:srgbClr val="FF0066"/>
                </a:solidFill>
                <a:latin typeface="楷体" panose="02010609060101010101" pitchFamily="49" charset="-122"/>
                <a:ea typeface="楷体" panose="02010609060101010101" pitchFamily="49" charset="-122"/>
              </a:rPr>
              <a:t>线上的中断请求，不受标志位</a:t>
            </a:r>
            <a:r>
              <a:rPr lang="en-US" altLang="zh-CN" sz="2400" dirty="0">
                <a:solidFill>
                  <a:srgbClr val="FF0066"/>
                </a:solidFill>
                <a:latin typeface="楷体" panose="02010609060101010101" pitchFamily="49" charset="-122"/>
                <a:ea typeface="楷体" panose="02010609060101010101" pitchFamily="49" charset="-122"/>
              </a:rPr>
              <a:t>IF</a:t>
            </a:r>
            <a:r>
              <a:rPr lang="zh-CN" altLang="en-US" sz="2400" dirty="0">
                <a:solidFill>
                  <a:srgbClr val="FF0066"/>
                </a:solidFill>
                <a:latin typeface="楷体" panose="02010609060101010101" pitchFamily="49" charset="-122"/>
                <a:ea typeface="楷体" panose="02010609060101010101" pitchFamily="49" charset="-122"/>
              </a:rPr>
              <a:t>的</a:t>
            </a:r>
            <a:r>
              <a:rPr lang="zh-CN" altLang="en-US" sz="2400" dirty="0" smtClean="0">
                <a:solidFill>
                  <a:srgbClr val="FF0066"/>
                </a:solidFill>
                <a:latin typeface="楷体" panose="02010609060101010101" pitchFamily="49" charset="-122"/>
                <a:ea typeface="楷体" panose="02010609060101010101" pitchFamily="49" charset="-122"/>
              </a:rPr>
              <a:t>影响，</a:t>
            </a:r>
            <a:r>
              <a:rPr lang="zh-CN" altLang="en-US" sz="2400" dirty="0">
                <a:latin typeface="楷体" panose="02010609060101010101" pitchFamily="49" charset="-122"/>
                <a:ea typeface="楷体" panose="02010609060101010101" pitchFamily="49" charset="-122"/>
              </a:rPr>
              <a:t>在当前指令执行完以后</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就响应。</a:t>
            </a:r>
          </a:p>
        </p:txBody>
      </p:sp>
      <p:sp>
        <p:nvSpPr>
          <p:cNvPr id="4" name="矩形 3"/>
          <p:cNvSpPr/>
          <p:nvPr/>
        </p:nvSpPr>
        <p:spPr>
          <a:xfrm>
            <a:off x="738510" y="4037991"/>
            <a:ext cx="8041505" cy="1200329"/>
          </a:xfrm>
          <a:prstGeom prst="rect">
            <a:avLst/>
          </a:prstGeom>
        </p:spPr>
        <p:txBody>
          <a:bodyPr wrap="square">
            <a:spAutoFit/>
          </a:bodyPr>
          <a:lstStyle/>
          <a:p>
            <a:pPr indent="457200">
              <a:lnSpc>
                <a:spcPct val="150000"/>
              </a:lnSpc>
            </a:pPr>
            <a:r>
              <a:rPr lang="en-US" altLang="zh-CN" sz="2400" dirty="0">
                <a:latin typeface="楷体" panose="02010609060101010101" pitchFamily="49" charset="-122"/>
                <a:ea typeface="楷体" panose="02010609060101010101" pitchFamily="49" charset="-122"/>
              </a:rPr>
              <a:t>NMI</a:t>
            </a:r>
            <a:r>
              <a:rPr lang="zh-CN" altLang="en-US" sz="2400" dirty="0">
                <a:latin typeface="楷体" panose="02010609060101010101" pitchFamily="49" charset="-122"/>
                <a:ea typeface="楷体" panose="02010609060101010101" pitchFamily="49" charset="-122"/>
              </a:rPr>
              <a:t>线上的中断请求信号是边沿触发的，它的出现是异步的</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由内部把它锁存。</a:t>
            </a:r>
          </a:p>
        </p:txBody>
      </p:sp>
    </p:spTree>
    <p:extLst>
      <p:ext uri="{BB962C8B-B14F-4D97-AF65-F5344CB8AC3E}">
        <p14:creationId xmlns:p14="http://schemas.microsoft.com/office/powerpoint/2010/main" val="340253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96468" y="1703506"/>
            <a:ext cx="8059259" cy="1421928"/>
          </a:xfrm>
          <a:prstGeom prst="rect">
            <a:avLst/>
          </a:prstGeom>
        </p:spPr>
        <p:txBody>
          <a:bodyPr wrap="square">
            <a:spAutoFit/>
          </a:bodyPr>
          <a:lstStyle/>
          <a:p>
            <a:pPr indent="457200">
              <a:lnSpc>
                <a:spcPct val="120000"/>
              </a:lnSpc>
              <a:buClr>
                <a:srgbClr val="0BD0D9"/>
              </a:buClr>
              <a:buSzPct val="95000"/>
            </a:pPr>
            <a:r>
              <a:rPr lang="zh-CN" altLang="en-US" sz="2400" dirty="0" smtClean="0">
                <a:solidFill>
                  <a:srgbClr val="FF0000"/>
                </a:solidFill>
                <a:latin typeface="楷体" panose="02010609060101010101" pitchFamily="49" charset="-122"/>
                <a:ea typeface="楷体" panose="02010609060101010101" pitchFamily="49" charset="-122"/>
              </a:rPr>
              <a:t>非屏蔽中断</a:t>
            </a:r>
            <a:r>
              <a:rPr lang="zh-CN" altLang="en-US" sz="2400" dirty="0">
                <a:solidFill>
                  <a:srgbClr val="FF0000"/>
                </a:solidFill>
                <a:latin typeface="楷体" panose="02010609060101010101" pitchFamily="49" charset="-122"/>
                <a:ea typeface="楷体" panose="02010609060101010101" pitchFamily="49" charset="-122"/>
              </a:rPr>
              <a:t>的优先权高于可屏蔽中断。</a:t>
            </a:r>
          </a:p>
          <a:p>
            <a:pPr indent="457200">
              <a:lnSpc>
                <a:spcPct val="120000"/>
              </a:lnSpc>
              <a:buClr>
                <a:srgbClr val="0BD0D9"/>
              </a:buClr>
              <a:buSzPct val="95000"/>
            </a:pPr>
            <a:r>
              <a:rPr lang="en-US" altLang="zh-CN" sz="2400" dirty="0" smtClean="0">
                <a:solidFill>
                  <a:srgbClr val="3333FF"/>
                </a:solidFill>
                <a:latin typeface="楷体" panose="02010609060101010101" pitchFamily="49" charset="-122"/>
                <a:ea typeface="楷体" panose="02010609060101010101" pitchFamily="49" charset="-122"/>
              </a:rPr>
              <a:t>CPU</a:t>
            </a:r>
            <a:r>
              <a:rPr lang="zh-CN" altLang="en-US" sz="2400" dirty="0">
                <a:solidFill>
                  <a:srgbClr val="3333FF"/>
                </a:solidFill>
                <a:latin typeface="楷体" panose="02010609060101010101" pitchFamily="49" charset="-122"/>
                <a:ea typeface="楷体" panose="02010609060101010101" pitchFamily="49" charset="-122"/>
              </a:rPr>
              <a:t>采样到有</a:t>
            </a:r>
            <a:r>
              <a:rPr lang="zh-CN" altLang="en-US" sz="2400" dirty="0" smtClean="0">
                <a:solidFill>
                  <a:srgbClr val="3333FF"/>
                </a:solidFill>
                <a:latin typeface="楷体" panose="02010609060101010101" pitchFamily="49" charset="-122"/>
                <a:ea typeface="楷体" panose="02010609060101010101" pitchFamily="49" charset="-122"/>
              </a:rPr>
              <a:t>非屏蔽中断</a:t>
            </a:r>
            <a:r>
              <a:rPr lang="zh-CN" altLang="en-US" sz="2400" dirty="0">
                <a:solidFill>
                  <a:srgbClr val="3333FF"/>
                </a:solidFill>
                <a:latin typeface="楷体" panose="02010609060101010101" pitchFamily="49" charset="-122"/>
                <a:ea typeface="楷体" panose="02010609060101010101" pitchFamily="49" charset="-122"/>
              </a:rPr>
              <a:t>请求时，自动给出中断向量类型码</a:t>
            </a:r>
            <a:r>
              <a:rPr lang="en-US" altLang="zh-CN" sz="2400" dirty="0">
                <a:solidFill>
                  <a:srgbClr val="3333FF"/>
                </a:solidFill>
                <a:latin typeface="楷体" panose="02010609060101010101" pitchFamily="49" charset="-122"/>
                <a:ea typeface="楷体" panose="02010609060101010101" pitchFamily="49" charset="-122"/>
              </a:rPr>
              <a:t>2</a:t>
            </a:r>
            <a:r>
              <a:rPr lang="zh-CN" altLang="en-US" sz="2400" dirty="0">
                <a:solidFill>
                  <a:srgbClr val="3333FF"/>
                </a:solidFill>
                <a:latin typeface="楷体" panose="02010609060101010101" pitchFamily="49" charset="-122"/>
                <a:ea typeface="楷体" panose="02010609060101010101" pitchFamily="49" charset="-122"/>
              </a:rPr>
              <a:t>，而不经过上述的可屏蔽中断那样的中断响应周期。 </a:t>
            </a:r>
          </a:p>
        </p:txBody>
      </p:sp>
      <p:sp>
        <p:nvSpPr>
          <p:cNvPr id="3" name="Text Box 3"/>
          <p:cNvSpPr txBox="1">
            <a:spLocks noChangeArrowheads="1"/>
          </p:cNvSpPr>
          <p:nvPr/>
        </p:nvSpPr>
        <p:spPr bwMode="auto">
          <a:xfrm>
            <a:off x="463304" y="3847701"/>
            <a:ext cx="84752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indent="457200" eaLnBrk="1" hangingPunct="1">
              <a:lnSpc>
                <a:spcPct val="120000"/>
              </a:lnSpc>
              <a:buClr>
                <a:srgbClr val="0BD0D9"/>
              </a:buClr>
              <a:buSzPct val="95000"/>
              <a:buFont typeface="Wingdings 2" panose="05020102010507070707" pitchFamily="18" charset="2"/>
              <a:buNone/>
            </a:pPr>
            <a:r>
              <a:rPr lang="en-US" altLang="zh-CN" sz="2400" dirty="0" smtClean="0">
                <a:solidFill>
                  <a:srgbClr val="FF0000"/>
                </a:solidFill>
                <a:latin typeface="楷体" panose="02010609060101010101" pitchFamily="49" charset="-122"/>
                <a:ea typeface="楷体" panose="02010609060101010101" pitchFamily="49" charset="-122"/>
              </a:rPr>
              <a:t>NMI</a:t>
            </a:r>
            <a:r>
              <a:rPr lang="zh-CN" altLang="en-US" sz="2400" dirty="0">
                <a:solidFill>
                  <a:srgbClr val="FF0000"/>
                </a:solidFill>
                <a:latin typeface="楷体" panose="02010609060101010101" pitchFamily="49" charset="-122"/>
                <a:ea typeface="楷体" panose="02010609060101010101" pitchFamily="49" charset="-122"/>
              </a:rPr>
              <a:t>、</a:t>
            </a:r>
            <a:r>
              <a:rPr lang="en-US" altLang="zh-CN" sz="2400" dirty="0" smtClean="0">
                <a:solidFill>
                  <a:srgbClr val="FF0000"/>
                </a:solidFill>
                <a:latin typeface="楷体" panose="02010609060101010101" pitchFamily="49" charset="-122"/>
                <a:ea typeface="楷体" panose="02010609060101010101" pitchFamily="49" charset="-122"/>
              </a:rPr>
              <a:t>INTR</a:t>
            </a:r>
            <a:r>
              <a:rPr lang="zh-CN" altLang="en-US" sz="2400" dirty="0" smtClean="0">
                <a:latin typeface="楷体" panose="02010609060101010101" pitchFamily="49" charset="-122"/>
                <a:ea typeface="楷体" panose="02010609060101010101" pitchFamily="49" charset="-122"/>
              </a:rPr>
              <a:t>两</a:t>
            </a:r>
            <a:r>
              <a:rPr lang="zh-CN" altLang="en-US" sz="2400" dirty="0">
                <a:latin typeface="楷体" panose="02010609060101010101" pitchFamily="49" charset="-122"/>
                <a:ea typeface="楷体" panose="02010609060101010101" pitchFamily="49" charset="-122"/>
              </a:rPr>
              <a:t>条中断请求</a:t>
            </a:r>
            <a:r>
              <a:rPr lang="zh-CN" altLang="en-US" sz="2400" dirty="0" smtClean="0">
                <a:latin typeface="楷体" panose="02010609060101010101" pitchFamily="49" charset="-122"/>
                <a:ea typeface="楷体" panose="02010609060101010101" pitchFamily="49" charset="-122"/>
              </a:rPr>
              <a:t>线远</a:t>
            </a:r>
            <a:r>
              <a:rPr lang="zh-CN" altLang="en-US" sz="2400" dirty="0">
                <a:latin typeface="楷体" panose="02010609060101010101" pitchFamily="49" charset="-122"/>
                <a:ea typeface="楷体" panose="02010609060101010101" pitchFamily="49" charset="-122"/>
              </a:rPr>
              <a:t>不能满足实际</a:t>
            </a:r>
            <a:r>
              <a:rPr lang="zh-CN" altLang="en-US" sz="2400" dirty="0" smtClean="0">
                <a:latin typeface="楷体" panose="02010609060101010101" pitchFamily="49" charset="-122"/>
                <a:ea typeface="楷体" panose="02010609060101010101" pitchFamily="49" charset="-122"/>
              </a:rPr>
              <a:t>需要。</a:t>
            </a:r>
            <a:endParaRPr lang="zh-CN" altLang="en-US" sz="2400" dirty="0">
              <a:latin typeface="楷体" panose="02010609060101010101" pitchFamily="49" charset="-122"/>
              <a:ea typeface="楷体" panose="02010609060101010101" pitchFamily="49" charset="-122"/>
            </a:endParaRPr>
          </a:p>
          <a:p>
            <a:pPr indent="457200" eaLnBrk="1" hangingPunct="1">
              <a:lnSpc>
                <a:spcPct val="120000"/>
              </a:lnSpc>
              <a:buClr>
                <a:srgbClr val="0BD0D9"/>
              </a:buClr>
              <a:buSzPct val="95000"/>
              <a:buFont typeface="Wingdings 2" panose="05020102010507070707" pitchFamily="18" charset="2"/>
              <a:buNone/>
            </a:pPr>
            <a:r>
              <a:rPr lang="en-US" altLang="zh-CN" sz="2400" dirty="0" smtClean="0">
                <a:latin typeface="楷体" panose="02010609060101010101" pitchFamily="49" charset="-122"/>
                <a:ea typeface="楷体" panose="02010609060101010101" pitchFamily="49" charset="-122"/>
              </a:rPr>
              <a:t>80x86</a:t>
            </a:r>
            <a:r>
              <a:rPr lang="zh-CN" altLang="en-US" sz="2400" dirty="0">
                <a:latin typeface="楷体" panose="02010609060101010101" pitchFamily="49" charset="-122"/>
                <a:ea typeface="楷体" panose="02010609060101010101" pitchFamily="49" charset="-122"/>
              </a:rPr>
              <a:t>微处理器</a:t>
            </a:r>
            <a:r>
              <a:rPr lang="zh-CN" altLang="en-US" sz="2400" dirty="0" smtClean="0">
                <a:latin typeface="楷体" panose="02010609060101010101" pitchFamily="49" charset="-122"/>
                <a:ea typeface="楷体" panose="02010609060101010101" pitchFamily="49" charset="-122"/>
              </a:rPr>
              <a:t>用</a:t>
            </a:r>
            <a:r>
              <a:rPr lang="en-US" altLang="zh-CN" sz="2400" dirty="0" smtClean="0">
                <a:latin typeface="楷体" panose="02010609060101010101" pitchFamily="49" charset="-122"/>
                <a:ea typeface="楷体" panose="02010609060101010101" pitchFamily="49" charset="-122"/>
              </a:rPr>
              <a:t>8259A</a:t>
            </a:r>
            <a:r>
              <a:rPr lang="zh-CN" altLang="en-US" sz="2400" dirty="0">
                <a:latin typeface="楷体" panose="02010609060101010101" pitchFamily="49" charset="-122"/>
                <a:ea typeface="楷体" panose="02010609060101010101" pitchFamily="49" charset="-122"/>
              </a:rPr>
              <a:t>作为外设向</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申请中断和</a:t>
            </a:r>
            <a:r>
              <a:rPr lang="en-US" altLang="zh-CN"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对中断进行各种控制的接口，它把</a:t>
            </a:r>
            <a:r>
              <a:rPr lang="en-US" altLang="zh-CN" sz="2400" dirty="0">
                <a:latin typeface="楷体" panose="02010609060101010101" pitchFamily="49" charset="-122"/>
                <a:ea typeface="楷体" panose="02010609060101010101" pitchFamily="49" charset="-122"/>
              </a:rPr>
              <a:t>80x86</a:t>
            </a:r>
            <a:r>
              <a:rPr lang="zh-CN" altLang="en-US" sz="2400" dirty="0">
                <a:latin typeface="楷体" panose="02010609060101010101" pitchFamily="49" charset="-122"/>
                <a:ea typeface="楷体" panose="02010609060101010101" pitchFamily="49" charset="-122"/>
              </a:rPr>
              <a:t>的一条可屏蔽中断线</a:t>
            </a:r>
            <a:r>
              <a:rPr lang="en-US" altLang="zh-CN" sz="2400" dirty="0">
                <a:latin typeface="楷体" panose="02010609060101010101" pitchFamily="49" charset="-122"/>
                <a:ea typeface="楷体" panose="02010609060101010101" pitchFamily="49" charset="-122"/>
              </a:rPr>
              <a:t>INTR</a:t>
            </a:r>
            <a:r>
              <a:rPr lang="zh-CN" altLang="en-US" sz="2400" dirty="0">
                <a:latin typeface="楷体" panose="02010609060101010101" pitchFamily="49" charset="-122"/>
                <a:ea typeface="楷体" panose="02010609060101010101" pitchFamily="49" charset="-122"/>
              </a:rPr>
              <a:t>扩展成</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64</a:t>
            </a:r>
            <a:r>
              <a:rPr lang="zh-CN" altLang="en-US" sz="2400" dirty="0">
                <a:latin typeface="楷体" panose="02010609060101010101" pitchFamily="49" charset="-122"/>
                <a:ea typeface="楷体" panose="02010609060101010101" pitchFamily="49" charset="-122"/>
              </a:rPr>
              <a:t>条中断请求线。 </a:t>
            </a:r>
          </a:p>
        </p:txBody>
      </p:sp>
    </p:spTree>
    <p:extLst>
      <p:ext uri="{BB962C8B-B14F-4D97-AF65-F5344CB8AC3E}">
        <p14:creationId xmlns:p14="http://schemas.microsoft.com/office/powerpoint/2010/main" val="82959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1723549"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3.</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内部中断</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738511" y="2316070"/>
            <a:ext cx="7988238" cy="2308324"/>
          </a:xfrm>
          <a:prstGeom prst="rect">
            <a:avLst/>
          </a:prstGeom>
        </p:spPr>
        <p:txBody>
          <a:bodyPr wrap="square">
            <a:spAutoFit/>
          </a:bodyPr>
          <a:lstStyle>
            <a:defPPr>
              <a:defRPr lang="zh-CN"/>
            </a:defPPr>
            <a:lvl1pPr>
              <a:lnSpc>
                <a:spcPct val="150000"/>
              </a:lnSpc>
              <a:defRPr sz="2400">
                <a:latin typeface="楷体" panose="02010609060101010101" pitchFamily="49" charset="-122"/>
                <a:ea typeface="楷体" panose="02010609060101010101" pitchFamily="49" charset="-122"/>
              </a:defRPr>
            </a:lvl1pPr>
          </a:lstStyle>
          <a:p>
            <a:pPr indent="504000"/>
            <a:r>
              <a:rPr lang="zh-CN" altLang="en-US" dirty="0"/>
              <a:t>对于某些重要的中断事件，</a:t>
            </a:r>
            <a:r>
              <a:rPr lang="en-US" altLang="zh-CN" dirty="0"/>
              <a:t>CPU</a:t>
            </a:r>
            <a:r>
              <a:rPr lang="zh-CN" altLang="en-US" dirty="0"/>
              <a:t>通过自己的内部逻辑，调用相应的中断服务程序，而不是由外部的</a:t>
            </a:r>
            <a:r>
              <a:rPr lang="zh-CN" altLang="en-US" dirty="0" smtClean="0"/>
              <a:t>中断请求</a:t>
            </a:r>
            <a:r>
              <a:rPr lang="zh-CN" altLang="en-US" dirty="0"/>
              <a:t>来调用</a:t>
            </a:r>
            <a:r>
              <a:rPr lang="zh-CN" altLang="en-US" dirty="0" smtClean="0"/>
              <a:t>。</a:t>
            </a:r>
            <a:endParaRPr lang="en-US" altLang="zh-CN" dirty="0" smtClean="0"/>
          </a:p>
          <a:p>
            <a:pPr indent="504000"/>
            <a:r>
              <a:rPr lang="zh-CN" altLang="en-US" dirty="0" smtClean="0"/>
              <a:t>这种</a:t>
            </a:r>
            <a:r>
              <a:rPr lang="zh-CN" altLang="en-US" dirty="0"/>
              <a:t>由</a:t>
            </a:r>
            <a:r>
              <a:rPr lang="en-US" altLang="zh-CN" dirty="0"/>
              <a:t>CPU</a:t>
            </a:r>
            <a:r>
              <a:rPr lang="zh-CN" altLang="en-US" dirty="0"/>
              <a:t>自己启动的中断处理过程，称为</a:t>
            </a:r>
            <a:r>
              <a:rPr lang="zh-CN" altLang="en-US" dirty="0">
                <a:solidFill>
                  <a:srgbClr val="FF0000"/>
                </a:solidFill>
              </a:rPr>
              <a:t>内部中断</a:t>
            </a:r>
            <a:r>
              <a:rPr lang="zh-CN" altLang="en-US" dirty="0"/>
              <a:t>。</a:t>
            </a:r>
          </a:p>
        </p:txBody>
      </p:sp>
      <p:sp>
        <p:nvSpPr>
          <p:cNvPr id="4" name="Text Box 4"/>
          <p:cNvSpPr txBox="1">
            <a:spLocks noChangeArrowheads="1"/>
          </p:cNvSpPr>
          <p:nvPr/>
        </p:nvSpPr>
        <p:spPr bwMode="auto">
          <a:xfrm>
            <a:off x="738510" y="5395322"/>
            <a:ext cx="7988239" cy="646331"/>
          </a:xfrm>
          <a:prstGeom prst="rect">
            <a:avLst/>
          </a:prstGeom>
        </p:spPr>
        <p:txBody>
          <a:bodyPr wrap="square">
            <a:spAutoFit/>
          </a:bodyPr>
          <a:lstStyle>
            <a:defPPr>
              <a:defRPr lang="zh-CN"/>
            </a:defPPr>
            <a:lvl1pPr>
              <a:lnSpc>
                <a:spcPct val="150000"/>
              </a:lnSpc>
              <a:defRPr sz="2400">
                <a:latin typeface="楷体" panose="02010609060101010101" pitchFamily="49" charset="-122"/>
                <a:ea typeface="楷体" panose="02010609060101010101" pitchFamily="49" charset="-122"/>
              </a:defRPr>
            </a:lvl1pPr>
          </a:lstStyle>
          <a:p>
            <a:pPr indent="504000"/>
            <a:r>
              <a:rPr lang="en-US" altLang="zh-CN" dirty="0" smtClean="0"/>
              <a:t>80x86</a:t>
            </a:r>
            <a:r>
              <a:rPr lang="zh-CN" altLang="en-US" dirty="0"/>
              <a:t>的内部中断有</a:t>
            </a:r>
            <a:r>
              <a:rPr lang="en-US" altLang="zh-CN" dirty="0"/>
              <a:t>3</a:t>
            </a:r>
            <a:r>
              <a:rPr lang="zh-CN" altLang="en-US" dirty="0"/>
              <a:t>种：</a:t>
            </a:r>
            <a:r>
              <a:rPr lang="zh-CN" altLang="en-US" dirty="0">
                <a:solidFill>
                  <a:srgbClr val="FF0000"/>
                </a:solidFill>
              </a:rPr>
              <a:t>故障、陷阱、异常终止</a:t>
            </a:r>
            <a:endParaRPr lang="en-US" altLang="zh-CN" dirty="0">
              <a:solidFill>
                <a:srgbClr val="FF0000"/>
              </a:solidFill>
            </a:endParaRPr>
          </a:p>
        </p:txBody>
      </p:sp>
    </p:spTree>
    <p:extLst>
      <p:ext uri="{BB962C8B-B14F-4D97-AF65-F5344CB8AC3E}">
        <p14:creationId xmlns:p14="http://schemas.microsoft.com/office/powerpoint/2010/main" val="95885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1261884" cy="461665"/>
          </a:xfrm>
          <a:prstGeom prst="rect">
            <a:avLst/>
          </a:prstGeom>
        </p:spPr>
        <p:txBody>
          <a:bodyPr wrap="none">
            <a:spAutoFit/>
          </a:bodyPr>
          <a:lstStyle/>
          <a:p>
            <a:pPr marL="457200" indent="-457200">
              <a:spcBef>
                <a:spcPct val="0"/>
              </a:spcBef>
              <a:buFont typeface="+mj-ea"/>
              <a:buAutoNum type="circleNumDbPlain"/>
            </a:pP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故障</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738509" y="2084019"/>
            <a:ext cx="7961608" cy="1200329"/>
          </a:xfrm>
          <a:prstGeom prst="rect">
            <a:avLst/>
          </a:prstGeom>
        </p:spPr>
        <p:txBody>
          <a:bodyPr wrap="square">
            <a:spAutoFit/>
          </a:bodyPr>
          <a:lstStyle/>
          <a:p>
            <a:pPr indent="504000">
              <a:lnSpc>
                <a:spcPct val="150000"/>
              </a:lnSpc>
            </a:pPr>
            <a:r>
              <a:rPr lang="zh-CN" altLang="en-US" sz="2400" dirty="0">
                <a:latin typeface="楷体" panose="02010609060101010101" pitchFamily="49" charset="-122"/>
                <a:ea typeface="楷体" panose="02010609060101010101" pitchFamily="49" charset="-122"/>
              </a:rPr>
              <a:t>故障是指某条指令在启动之后，真正执行之前，就被检测到异常而产生的一种中断。</a:t>
            </a:r>
            <a:endParaRPr lang="en-US" altLang="zh-CN" sz="2400" dirty="0">
              <a:latin typeface="楷体" panose="02010609060101010101" pitchFamily="49" charset="-122"/>
              <a:ea typeface="楷体" panose="02010609060101010101" pitchFamily="49" charset="-122"/>
            </a:endParaRPr>
          </a:p>
        </p:txBody>
      </p:sp>
      <p:sp>
        <p:nvSpPr>
          <p:cNvPr id="4" name="矩形 3"/>
          <p:cNvSpPr/>
          <p:nvPr/>
        </p:nvSpPr>
        <p:spPr>
          <a:xfrm>
            <a:off x="738509" y="3615457"/>
            <a:ext cx="7961608" cy="1754326"/>
          </a:xfrm>
          <a:prstGeom prst="rect">
            <a:avLst/>
          </a:prstGeom>
        </p:spPr>
        <p:txBody>
          <a:bodyPr wrap="square">
            <a:spAutoFit/>
          </a:bodyPr>
          <a:lstStyle/>
          <a:p>
            <a:pPr indent="504000">
              <a:lnSpc>
                <a:spcPct val="150000"/>
              </a:lnSpc>
            </a:pPr>
            <a:r>
              <a:rPr lang="zh-CN" altLang="en-US" sz="2400" dirty="0">
                <a:latin typeface="楷体" panose="02010609060101010101" pitchFamily="49" charset="-122"/>
                <a:ea typeface="楷体" panose="02010609060101010101" pitchFamily="49" charset="-122"/>
              </a:rPr>
              <a:t>出现故障时，</a:t>
            </a:r>
            <a:r>
              <a:rPr lang="en-US" altLang="en-US" sz="2400" dirty="0">
                <a:latin typeface="楷体" panose="02010609060101010101" pitchFamily="49" charset="-122"/>
                <a:ea typeface="楷体" panose="02010609060101010101" pitchFamily="49" charset="-122"/>
              </a:rPr>
              <a:t>CPU</a:t>
            </a:r>
            <a:r>
              <a:rPr lang="zh-CN" altLang="en-US" sz="2400" dirty="0">
                <a:latin typeface="楷体" panose="02010609060101010101" pitchFamily="49" charset="-122"/>
                <a:ea typeface="楷体" panose="02010609060101010101" pitchFamily="49" charset="-122"/>
              </a:rPr>
              <a:t>将产生异常操作指令的地址保存到堆栈中，然后进入故障处理程序并排除该故障，从故障处理程序返回后，再使程序正常地继续执行下去</a:t>
            </a:r>
          </a:p>
        </p:txBody>
      </p:sp>
    </p:spTree>
    <p:extLst>
      <p:ext uri="{BB962C8B-B14F-4D97-AF65-F5344CB8AC3E}">
        <p14:creationId xmlns:p14="http://schemas.microsoft.com/office/powerpoint/2010/main" val="14987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2191120" cy="461665"/>
          </a:xfrm>
          <a:prstGeom prst="rect">
            <a:avLst/>
          </a:prstGeom>
        </p:spPr>
        <p:txBody>
          <a:bodyPr wrap="square">
            <a:spAutoFit/>
          </a:bodyPr>
          <a:lstStyle/>
          <a:p>
            <a:pPr marL="457200" indent="-457200">
              <a:spcBef>
                <a:spcPct val="0"/>
              </a:spcBef>
              <a:buFont typeface="+mj-ea"/>
              <a:buAutoNum type="circleNumDbPlain" startAt="2"/>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3.2 </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陷阱</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p:nvPr/>
        </p:nvSpPr>
        <p:spPr>
          <a:xfrm>
            <a:off x="738510" y="2021388"/>
            <a:ext cx="8130281" cy="1200329"/>
          </a:xfrm>
          <a:prstGeom prst="rect">
            <a:avLst/>
          </a:prstGeom>
        </p:spPr>
        <p:txBody>
          <a:bodyPr wrap="square">
            <a:spAutoFit/>
          </a:bodyPr>
          <a:lstStyle/>
          <a:p>
            <a:pPr indent="504000">
              <a:lnSpc>
                <a:spcPct val="150000"/>
              </a:lnSpc>
            </a:pPr>
            <a:r>
              <a:rPr lang="zh-CN" altLang="en-US" sz="2400" dirty="0">
                <a:latin typeface="楷体" panose="02010609060101010101" pitchFamily="49" charset="-122"/>
                <a:ea typeface="楷体" panose="02010609060101010101" pitchFamily="49" charset="-122"/>
              </a:rPr>
              <a:t>陷阱是在指令执行过程中引起的中断。这类异常主要是由执行除法指令或中断调用指令</a:t>
            </a:r>
            <a:r>
              <a:rPr lang="en-US" altLang="zh-CN" sz="2400" dirty="0">
                <a:latin typeface="楷体" panose="02010609060101010101" pitchFamily="49" charset="-122"/>
                <a:ea typeface="楷体" panose="02010609060101010101" pitchFamily="49" charset="-122"/>
              </a:rPr>
              <a:t>(INT N)</a:t>
            </a:r>
            <a:r>
              <a:rPr lang="zh-CN" altLang="en-US" sz="2400" dirty="0">
                <a:latin typeface="楷体" panose="02010609060101010101" pitchFamily="49" charset="-122"/>
                <a:ea typeface="楷体" panose="02010609060101010101" pitchFamily="49" charset="-122"/>
              </a:rPr>
              <a:t>引起</a:t>
            </a:r>
            <a:r>
              <a:rPr lang="zh-CN" altLang="en-US" sz="2400" dirty="0" smtClean="0">
                <a:latin typeface="楷体" panose="02010609060101010101" pitchFamily="49" charset="-122"/>
                <a:ea typeface="楷体" panose="02010609060101010101" pitchFamily="49" charset="-122"/>
              </a:rPr>
              <a:t>的。</a:t>
            </a:r>
            <a:endParaRPr lang="en-US" altLang="zh-CN" sz="2400" dirty="0">
              <a:latin typeface="楷体" panose="02010609060101010101" pitchFamily="49" charset="-122"/>
              <a:ea typeface="楷体" panose="02010609060101010101" pitchFamily="49" charset="-122"/>
            </a:endParaRPr>
          </a:p>
        </p:txBody>
      </p:sp>
      <p:sp>
        <p:nvSpPr>
          <p:cNvPr id="4" name="矩形 3"/>
          <p:cNvSpPr/>
          <p:nvPr/>
        </p:nvSpPr>
        <p:spPr>
          <a:xfrm>
            <a:off x="738510" y="3919904"/>
            <a:ext cx="8130281" cy="1754326"/>
          </a:xfrm>
          <a:prstGeom prst="rect">
            <a:avLst/>
          </a:prstGeom>
        </p:spPr>
        <p:txBody>
          <a:bodyPr wrap="square">
            <a:spAutoFit/>
          </a:bodyPr>
          <a:lstStyle/>
          <a:p>
            <a:pPr indent="504000">
              <a:lnSpc>
                <a:spcPct val="150000"/>
              </a:lnSpc>
            </a:pPr>
            <a:r>
              <a:rPr lang="zh-CN" altLang="en-US" sz="2400" dirty="0">
                <a:latin typeface="楷体" panose="02010609060101010101" pitchFamily="49" charset="-122"/>
                <a:ea typeface="楷体" panose="02010609060101010101" pitchFamily="49" charset="-122"/>
              </a:rPr>
              <a:t>设置陷阱指令的下一条指令的地址就是断点。出现陷阱中断时，把</a:t>
            </a:r>
            <a:r>
              <a:rPr lang="en-US" altLang="en-US" sz="2400" dirty="0">
                <a:latin typeface="楷体" panose="02010609060101010101" pitchFamily="49" charset="-122"/>
                <a:ea typeface="楷体" panose="02010609060101010101" pitchFamily="49" charset="-122"/>
              </a:rPr>
              <a:t>(E)IP</a:t>
            </a:r>
            <a:r>
              <a:rPr lang="zh-CN" altLang="en-US" sz="2400" dirty="0">
                <a:latin typeface="楷体" panose="02010609060101010101" pitchFamily="49" charset="-122"/>
                <a:ea typeface="楷体" panose="02010609060101010101" pitchFamily="49" charset="-122"/>
              </a:rPr>
              <a:t>和</a:t>
            </a:r>
            <a:r>
              <a:rPr lang="en-US" altLang="en-US" sz="2400" dirty="0">
                <a:latin typeface="楷体" panose="02010609060101010101" pitchFamily="49" charset="-122"/>
                <a:ea typeface="楷体" panose="02010609060101010101" pitchFamily="49" charset="-122"/>
              </a:rPr>
              <a:t>CS</a:t>
            </a:r>
            <a:r>
              <a:rPr lang="zh-CN" altLang="en-US" sz="2400" dirty="0">
                <a:latin typeface="楷体" panose="02010609060101010101" pitchFamily="49" charset="-122"/>
                <a:ea typeface="楷体" panose="02010609060101010101" pitchFamily="49" charset="-122"/>
              </a:rPr>
              <a:t>即断点推入堆栈保存后就进入该陷阱处理程序。陷阱中断处理完后，返回到该断点处继续</a:t>
            </a:r>
            <a:r>
              <a:rPr lang="zh-CN" altLang="en-US" sz="2400" dirty="0" smtClean="0">
                <a:latin typeface="楷体" panose="02010609060101010101" pitchFamily="49" charset="-122"/>
                <a:ea typeface="楷体" panose="02010609060101010101" pitchFamily="49" charset="-122"/>
              </a:rPr>
              <a:t>执行。</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09181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2295031" cy="461665"/>
          </a:xfrm>
          <a:prstGeom prst="rect">
            <a:avLst/>
          </a:prstGeom>
        </p:spPr>
        <p:txBody>
          <a:bodyPr wrap="square">
            <a:spAutoFit/>
          </a:bodyPr>
          <a:lstStyle/>
          <a:p>
            <a:pPr marL="457200" indent="-457200">
              <a:spcBef>
                <a:spcPct val="0"/>
              </a:spcBef>
              <a:buFont typeface="+mj-ea"/>
              <a:buAutoNum type="circleNumDbPlain" startAt="3"/>
            </a:pP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异常终止</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738511" y="2116076"/>
            <a:ext cx="8112526" cy="1754326"/>
          </a:xfrm>
          <a:prstGeom prst="rect">
            <a:avLst/>
          </a:prstGeom>
        </p:spPr>
        <p:txBody>
          <a:bodyPr wrap="square">
            <a:spAutoFit/>
          </a:bodyPr>
          <a:lstStyle>
            <a:defPPr>
              <a:defRPr lang="zh-CN"/>
            </a:defPPr>
            <a:lvl1pPr indent="504000">
              <a:lnSpc>
                <a:spcPct val="150000"/>
              </a:lnSpc>
              <a:defRPr sz="2400">
                <a:latin typeface="楷体" panose="02010609060101010101" pitchFamily="49" charset="-122"/>
                <a:ea typeface="楷体" panose="02010609060101010101" pitchFamily="49" charset="-122"/>
              </a:defRPr>
            </a:lvl1pPr>
          </a:lstStyle>
          <a:p>
            <a:r>
              <a:rPr lang="zh-CN" altLang="en-US" dirty="0" smtClean="0"/>
              <a:t>异常中止</a:t>
            </a:r>
            <a:r>
              <a:rPr lang="zh-CN" altLang="en-US" dirty="0"/>
              <a:t>通常是由硬件错误或非法的系统调用引起的。一般无法确定造成异常指令的准确位置，程序无法继续执行，系统也无法恢复原操作，必须</a:t>
            </a:r>
            <a:r>
              <a:rPr lang="zh-CN" altLang="en-US" dirty="0">
                <a:solidFill>
                  <a:srgbClr val="FF0000"/>
                </a:solidFill>
              </a:rPr>
              <a:t>重新启动系统</a:t>
            </a:r>
          </a:p>
        </p:txBody>
      </p:sp>
    </p:spTree>
    <p:extLst>
      <p:ext uri="{BB962C8B-B14F-4D97-AF65-F5344CB8AC3E}">
        <p14:creationId xmlns:p14="http://schemas.microsoft.com/office/powerpoint/2010/main" val="411516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3570208"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4 </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中断类型码及中断种类</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D481691E-BF3E-4DFA-9140-578F524B95B7}"/>
              </a:ext>
            </a:extLst>
          </p:cNvPr>
          <p:cNvGraphicFramePr>
            <a:graphicFrameLocks noGrp="1"/>
          </p:cNvGraphicFramePr>
          <p:nvPr>
            <p:extLst>
              <p:ext uri="{D42A27DB-BD31-4B8C-83A1-F6EECF244321}">
                <p14:modId xmlns:p14="http://schemas.microsoft.com/office/powerpoint/2010/main" val="991251531"/>
              </p:ext>
            </p:extLst>
          </p:nvPr>
        </p:nvGraphicFramePr>
        <p:xfrm>
          <a:off x="1174971" y="1752911"/>
          <a:ext cx="6072188" cy="4914000"/>
        </p:xfrm>
        <a:graphic>
          <a:graphicData uri="http://schemas.openxmlformats.org/drawingml/2006/table">
            <a:tbl>
              <a:tblPr/>
              <a:tblGrid>
                <a:gridCol w="1897559">
                  <a:extLst>
                    <a:ext uri="{9D8B030D-6E8A-4147-A177-3AD203B41FA5}">
                      <a16:colId xmlns:a16="http://schemas.microsoft.com/office/drawing/2014/main" val="20000"/>
                    </a:ext>
                  </a:extLst>
                </a:gridCol>
                <a:gridCol w="4174629">
                  <a:extLst>
                    <a:ext uri="{9D8B030D-6E8A-4147-A177-3AD203B41FA5}">
                      <a16:colId xmlns:a16="http://schemas.microsoft.com/office/drawing/2014/main" val="20001"/>
                    </a:ext>
                  </a:extLst>
                </a:gridCol>
              </a:tblGrid>
              <a:tr h="234000">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中断类型码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中断种类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4000">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0</a:t>
                      </a:r>
                      <a:endParaRPr lang="zh-CN" sz="2000" kern="100" baseline="-25000" dirty="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除法错误中断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4000">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1</a:t>
                      </a:r>
                      <a:endParaRPr lang="zh-CN" sz="2000" kern="100" baseline="-25000" dirty="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单步中断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34000">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2</a:t>
                      </a:r>
                      <a:endParaRPr lang="zh-CN" sz="2000" kern="100" baseline="-25000" dirty="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非屏蔽中断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3</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断点中断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4</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INTO</a:t>
                      </a:r>
                      <a:r>
                        <a:rPr lang="zh-CN" sz="2000" kern="100" baseline="-25000" dirty="0">
                          <a:latin typeface="楷体" panose="02010609060101010101" pitchFamily="49" charset="-122"/>
                          <a:ea typeface="楷体" panose="02010609060101010101" pitchFamily="49" charset="-122"/>
                          <a:cs typeface="Times New Roman"/>
                        </a:rPr>
                        <a:t>指令溢出中断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5</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越界</a:t>
                      </a:r>
                      <a:r>
                        <a:rPr lang="en-US" sz="2000" kern="100" baseline="-25000" dirty="0">
                          <a:latin typeface="楷体" panose="02010609060101010101" pitchFamily="49" charset="-122"/>
                          <a:ea typeface="楷体" panose="02010609060101010101" pitchFamily="49" charset="-122"/>
                          <a:cs typeface="Times New Roman"/>
                        </a:rPr>
                        <a:t>(</a:t>
                      </a:r>
                      <a:r>
                        <a:rPr lang="zh-CN" sz="2000" kern="100" baseline="-25000" dirty="0">
                          <a:latin typeface="楷体" panose="02010609060101010101" pitchFamily="49" charset="-122"/>
                          <a:ea typeface="楷体" panose="02010609060101010101" pitchFamily="49" charset="-122"/>
                          <a:cs typeface="Times New Roman"/>
                        </a:rPr>
                        <a:t>超出了</a:t>
                      </a:r>
                      <a:r>
                        <a:rPr lang="en-US" sz="2000" kern="100" baseline="-25000" dirty="0">
                          <a:latin typeface="楷体" panose="02010609060101010101" pitchFamily="49" charset="-122"/>
                          <a:ea typeface="楷体" panose="02010609060101010101" pitchFamily="49" charset="-122"/>
                          <a:cs typeface="Times New Roman"/>
                        </a:rPr>
                        <a:t>BOUND</a:t>
                      </a:r>
                      <a:r>
                        <a:rPr lang="zh-CN" sz="2000" kern="100" baseline="-25000" dirty="0">
                          <a:latin typeface="楷体" panose="02010609060101010101" pitchFamily="49" charset="-122"/>
                          <a:ea typeface="楷体" panose="02010609060101010101" pitchFamily="49" charset="-122"/>
                          <a:cs typeface="Times New Roman"/>
                        </a:rPr>
                        <a:t>范围</a:t>
                      </a:r>
                      <a:r>
                        <a:rPr lang="en-US" sz="2000" kern="100" baseline="-25000" dirty="0">
                          <a:latin typeface="楷体" panose="02010609060101010101" pitchFamily="49" charset="-122"/>
                          <a:ea typeface="楷体" panose="02010609060101010101" pitchFamily="49" charset="-122"/>
                          <a:cs typeface="Times New Roman"/>
                        </a:rPr>
                        <a:t>)</a:t>
                      </a:r>
                      <a:r>
                        <a:rPr lang="zh-CN" sz="2000" kern="100" baseline="-25000" dirty="0">
                          <a:latin typeface="楷体" panose="02010609060101010101" pitchFamily="49" charset="-122"/>
                          <a:ea typeface="楷体" panose="02010609060101010101" pitchFamily="49" charset="-122"/>
                          <a:cs typeface="Times New Roman"/>
                        </a:rPr>
                        <a:t>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6</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非法操作码中断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7</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浮点单元不可用中断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8</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双重故障中断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34000">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9</a:t>
                      </a:r>
                      <a:endParaRPr lang="zh-CN" sz="2000" kern="100" baseline="-25000" dirty="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保留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10</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无效任务状态段中断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11</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段不存在中断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12</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堆栈异常中断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13</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一般保护中断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14</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页故障中断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15</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保留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16</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浮点错误中断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17</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对准检查中断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34000">
                <a:tc>
                  <a:txBody>
                    <a:bodyPr/>
                    <a:lstStyle/>
                    <a:p>
                      <a:pPr algn="ctr">
                        <a:spcAft>
                          <a:spcPts val="0"/>
                        </a:spcAft>
                      </a:pPr>
                      <a:r>
                        <a:rPr lang="en-US" sz="2000" kern="100" baseline="-25000">
                          <a:latin typeface="楷体" panose="02010609060101010101" pitchFamily="49" charset="-122"/>
                          <a:ea typeface="楷体" panose="02010609060101010101" pitchFamily="49" charset="-122"/>
                          <a:cs typeface="Times New Roman"/>
                        </a:rPr>
                        <a:t>18</a:t>
                      </a:r>
                      <a:r>
                        <a:rPr lang="zh-CN" sz="2000" kern="100" baseline="-25000">
                          <a:latin typeface="楷体" panose="02010609060101010101" pitchFamily="49" charset="-122"/>
                          <a:ea typeface="楷体" panose="02010609060101010101" pitchFamily="49" charset="-122"/>
                          <a:cs typeface="Times New Roman"/>
                        </a:rPr>
                        <a:t>～</a:t>
                      </a:r>
                      <a:r>
                        <a:rPr lang="en-US" sz="2000" kern="100" baseline="-25000">
                          <a:latin typeface="楷体" panose="02010609060101010101" pitchFamily="49" charset="-122"/>
                          <a:ea typeface="楷体" panose="02010609060101010101" pitchFamily="49" charset="-122"/>
                          <a:cs typeface="Times New Roman"/>
                        </a:rPr>
                        <a:t>31</a:t>
                      </a:r>
                      <a:endParaRPr lang="zh-CN" sz="2000" kern="100" baseline="-2500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baseline="-25000" dirty="0">
                          <a:latin typeface="楷体" panose="02010609060101010101" pitchFamily="49" charset="-122"/>
                          <a:ea typeface="楷体" panose="02010609060101010101" pitchFamily="49" charset="-122"/>
                          <a:cs typeface="Times New Roman"/>
                        </a:rPr>
                        <a:t>保留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34000">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32</a:t>
                      </a:r>
                      <a:r>
                        <a:rPr lang="zh-CN" sz="2000" kern="100" baseline="-25000" dirty="0">
                          <a:latin typeface="楷体" panose="02010609060101010101" pitchFamily="49" charset="-122"/>
                          <a:ea typeface="楷体" panose="02010609060101010101" pitchFamily="49" charset="-122"/>
                          <a:cs typeface="Times New Roman"/>
                        </a:rPr>
                        <a:t>～</a:t>
                      </a:r>
                      <a:r>
                        <a:rPr lang="en-US" sz="2000" kern="100" baseline="-25000" dirty="0">
                          <a:latin typeface="楷体" panose="02010609060101010101" pitchFamily="49" charset="-122"/>
                          <a:ea typeface="楷体" panose="02010609060101010101" pitchFamily="49" charset="-122"/>
                          <a:cs typeface="Times New Roman"/>
                        </a:rPr>
                        <a:t>255</a:t>
                      </a:r>
                      <a:endParaRPr lang="zh-CN" sz="2000" kern="100" baseline="-25000" dirty="0">
                        <a:latin typeface="楷体" panose="02010609060101010101" pitchFamily="49" charset="-122"/>
                        <a:ea typeface="楷体" panose="02010609060101010101" pitchFamily="49"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100" baseline="-25000" dirty="0">
                          <a:latin typeface="楷体" panose="02010609060101010101" pitchFamily="49" charset="-122"/>
                          <a:ea typeface="楷体" panose="02010609060101010101" pitchFamily="49" charset="-122"/>
                          <a:cs typeface="Times New Roman"/>
                        </a:rPr>
                        <a:t>INT N</a:t>
                      </a:r>
                      <a:r>
                        <a:rPr lang="zh-CN" sz="2000" kern="100" baseline="-25000" dirty="0">
                          <a:latin typeface="楷体" panose="02010609060101010101" pitchFamily="49" charset="-122"/>
                          <a:ea typeface="楷体" panose="02010609060101010101" pitchFamily="49" charset="-122"/>
                          <a:cs typeface="Times New Roman"/>
                        </a:rPr>
                        <a:t>指令中断和</a:t>
                      </a:r>
                      <a:r>
                        <a:rPr lang="en-US" sz="2000" kern="100" baseline="-25000" dirty="0">
                          <a:latin typeface="楷体" panose="02010609060101010101" pitchFamily="49" charset="-122"/>
                          <a:ea typeface="楷体" panose="02010609060101010101" pitchFamily="49" charset="-122"/>
                          <a:cs typeface="Times New Roman"/>
                        </a:rPr>
                        <a:t>INTR</a:t>
                      </a:r>
                      <a:r>
                        <a:rPr lang="zh-CN" sz="2000" kern="100" baseline="-25000" dirty="0">
                          <a:latin typeface="楷体" panose="02010609060101010101" pitchFamily="49" charset="-122"/>
                          <a:ea typeface="楷体" panose="02010609060101010101" pitchFamily="49" charset="-122"/>
                          <a:cs typeface="Times New Roman"/>
                        </a:rPr>
                        <a:t>可屏蔽中断</a:t>
                      </a:r>
                    </a:p>
                  </a:txBody>
                  <a:tcPr marL="68580" marR="6858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074057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2031325"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5 </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中断向量表</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3" name="Object 7"/>
          <p:cNvGraphicFramePr>
            <a:graphicFrameLocks noChangeAspect="1"/>
          </p:cNvGraphicFramePr>
          <p:nvPr>
            <p:extLst>
              <p:ext uri="{D42A27DB-BD31-4B8C-83A1-F6EECF244321}">
                <p14:modId xmlns:p14="http://schemas.microsoft.com/office/powerpoint/2010/main" val="2344948780"/>
              </p:ext>
            </p:extLst>
          </p:nvPr>
        </p:nvGraphicFramePr>
        <p:xfrm>
          <a:off x="570252" y="1928396"/>
          <a:ext cx="4895850" cy="4367213"/>
        </p:xfrm>
        <a:graphic>
          <a:graphicData uri="http://schemas.openxmlformats.org/presentationml/2006/ole">
            <mc:AlternateContent xmlns:mc="http://schemas.openxmlformats.org/markup-compatibility/2006">
              <mc:Choice xmlns:v="urn:schemas-microsoft-com:vml" Requires="v">
                <p:oleObj spid="_x0000_s7172" name="Visio" r:id="rId3" imgW="2278990" imgH="2033321" progId="Visio.Drawing.11">
                  <p:embed/>
                </p:oleObj>
              </mc:Choice>
              <mc:Fallback>
                <p:oleObj name="Visio" r:id="rId3" imgW="2278990" imgH="2033321" progId="Visio.Drawing.11">
                  <p:embed/>
                  <p:pic>
                    <p:nvPicPr>
                      <p:cNvPr id="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252" y="1928396"/>
                        <a:ext cx="4895850" cy="436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9"/>
          <p:cNvSpPr txBox="1">
            <a:spLocks noChangeArrowheads="1"/>
          </p:cNvSpPr>
          <p:nvPr/>
        </p:nvSpPr>
        <p:spPr bwMode="auto">
          <a:xfrm>
            <a:off x="3127300" y="2761541"/>
            <a:ext cx="5235466" cy="1692771"/>
          </a:xfrm>
          <a:prstGeom prst="rect">
            <a:avLst/>
          </a:prstGeom>
        </p:spPr>
        <p:txBody>
          <a:bodyPr wrap="square">
            <a:spAutoFit/>
          </a:bodyPr>
          <a:lstStyle>
            <a:defPPr>
              <a:defRPr lang="zh-CN"/>
            </a:defPPr>
            <a:lvl1pPr indent="504000">
              <a:lnSpc>
                <a:spcPct val="150000"/>
              </a:lnSpc>
              <a:defRPr sz="2400">
                <a:latin typeface="楷体" panose="02010609060101010101" pitchFamily="49" charset="-122"/>
                <a:ea typeface="楷体" panose="02010609060101010101" pitchFamily="49" charset="-122"/>
              </a:defRPr>
            </a:lvl1pPr>
          </a:lstStyle>
          <a:p>
            <a:pPr>
              <a:lnSpc>
                <a:spcPct val="130000"/>
              </a:lnSpc>
            </a:pPr>
            <a:r>
              <a:rPr lang="zh-CN" altLang="en-US" sz="2000" dirty="0" smtClean="0"/>
              <a:t>在实地址方式下，</a:t>
            </a:r>
            <a:r>
              <a:rPr lang="en-US" altLang="zh-CN" sz="2000" dirty="0" smtClean="0"/>
              <a:t>80x86</a:t>
            </a:r>
            <a:r>
              <a:rPr lang="zh-CN" altLang="en-US" sz="2000" dirty="0" smtClean="0"/>
              <a:t>在内存的前</a:t>
            </a:r>
            <a:r>
              <a:rPr lang="en-US" altLang="zh-CN" sz="2000" dirty="0" smtClean="0"/>
              <a:t>1K</a:t>
            </a:r>
            <a:r>
              <a:rPr lang="zh-CN" altLang="en-US" sz="2000" dirty="0" smtClean="0"/>
              <a:t>字节（</a:t>
            </a:r>
            <a:r>
              <a:rPr lang="en-US" altLang="zh-CN" sz="2000" dirty="0" smtClean="0"/>
              <a:t>00000H-003FFH</a:t>
            </a:r>
            <a:r>
              <a:rPr lang="zh-CN" altLang="en-US" sz="2000" dirty="0" smtClean="0"/>
              <a:t>）中建立了一个</a:t>
            </a:r>
            <a:r>
              <a:rPr lang="zh-CN" altLang="en-US" sz="2000" dirty="0" smtClean="0">
                <a:solidFill>
                  <a:srgbClr val="FF0000"/>
                </a:solidFill>
              </a:rPr>
              <a:t>中断向量表</a:t>
            </a:r>
            <a:r>
              <a:rPr lang="zh-CN" altLang="en-US" sz="2000" dirty="0" smtClean="0"/>
              <a:t>，可容纳</a:t>
            </a:r>
            <a:r>
              <a:rPr lang="en-US" altLang="zh-CN" sz="2000" dirty="0" smtClean="0"/>
              <a:t>256</a:t>
            </a:r>
            <a:r>
              <a:rPr lang="zh-CN" altLang="en-US" sz="2000" dirty="0" smtClean="0"/>
              <a:t>个中断向量（中断类型），每个中断向量占据</a:t>
            </a:r>
            <a:r>
              <a:rPr lang="en-US" altLang="zh-CN" sz="2000" dirty="0" smtClean="0">
                <a:solidFill>
                  <a:srgbClr val="FF0000"/>
                </a:solidFill>
              </a:rPr>
              <a:t>4</a:t>
            </a:r>
            <a:r>
              <a:rPr lang="zh-CN" altLang="en-US" sz="2000" dirty="0" smtClean="0">
                <a:solidFill>
                  <a:srgbClr val="FF0000"/>
                </a:solidFill>
              </a:rPr>
              <a:t>个字节</a:t>
            </a:r>
            <a:r>
              <a:rPr lang="zh-CN" altLang="en-US" sz="2000" dirty="0" smtClean="0"/>
              <a:t>。</a:t>
            </a:r>
            <a:endParaRPr lang="zh-CN" altLang="en-US" sz="2000" dirty="0"/>
          </a:p>
        </p:txBody>
      </p:sp>
      <p:sp>
        <p:nvSpPr>
          <p:cNvPr id="5" name="Text Box 9"/>
          <p:cNvSpPr txBox="1">
            <a:spLocks noChangeArrowheads="1"/>
          </p:cNvSpPr>
          <p:nvPr/>
        </p:nvSpPr>
        <p:spPr bwMode="auto">
          <a:xfrm>
            <a:off x="3127300" y="4528575"/>
            <a:ext cx="5235466" cy="1292662"/>
          </a:xfrm>
          <a:prstGeom prst="rect">
            <a:avLst/>
          </a:prstGeom>
        </p:spPr>
        <p:txBody>
          <a:bodyPr wrap="square">
            <a:spAutoFit/>
          </a:bodyPr>
          <a:lstStyle>
            <a:defPPr>
              <a:defRPr lang="zh-CN"/>
            </a:defPPr>
            <a:lvl1pPr indent="504000">
              <a:lnSpc>
                <a:spcPct val="150000"/>
              </a:lnSpc>
              <a:defRPr sz="2400">
                <a:latin typeface="楷体" panose="02010609060101010101" pitchFamily="49" charset="-122"/>
                <a:ea typeface="楷体" panose="02010609060101010101" pitchFamily="49" charset="-122"/>
              </a:defRPr>
            </a:lvl1pPr>
          </a:lstStyle>
          <a:p>
            <a:pPr>
              <a:lnSpc>
                <a:spcPct val="130000"/>
              </a:lnSpc>
            </a:pPr>
            <a:r>
              <a:rPr lang="zh-CN" altLang="en-US" sz="2000" dirty="0" smtClean="0"/>
              <a:t>一个中断类型码</a:t>
            </a:r>
            <a:r>
              <a:rPr lang="en-US" altLang="zh-CN" sz="2000" dirty="0" smtClean="0"/>
              <a:t>n</a:t>
            </a:r>
            <a:r>
              <a:rPr lang="zh-CN" altLang="en-US" sz="2000" dirty="0" smtClean="0"/>
              <a:t>占有两个字单元。</a:t>
            </a:r>
            <a:r>
              <a:rPr lang="en-US" altLang="zh-CN" sz="2000" dirty="0" smtClean="0"/>
              <a:t>4n</a:t>
            </a:r>
            <a:r>
              <a:rPr lang="zh-CN" altLang="en-US" sz="2000" dirty="0" smtClean="0"/>
              <a:t>和</a:t>
            </a:r>
            <a:r>
              <a:rPr lang="en-US" altLang="zh-CN" sz="2000" dirty="0" smtClean="0"/>
              <a:t>4n+1</a:t>
            </a:r>
            <a:r>
              <a:rPr lang="zh-CN" altLang="en-US" sz="2000" dirty="0" smtClean="0"/>
              <a:t>字单元存放中断服务程序的</a:t>
            </a:r>
            <a:r>
              <a:rPr lang="zh-CN" altLang="en-US" sz="2000" dirty="0" smtClean="0">
                <a:solidFill>
                  <a:srgbClr val="FF0000"/>
                </a:solidFill>
              </a:rPr>
              <a:t>偏移地址</a:t>
            </a:r>
            <a:r>
              <a:rPr lang="zh-CN" altLang="en-US" sz="2000" dirty="0" smtClean="0"/>
              <a:t>，</a:t>
            </a:r>
            <a:r>
              <a:rPr lang="en-US" altLang="zh-CN" sz="2000" dirty="0" smtClean="0"/>
              <a:t>4n+2</a:t>
            </a:r>
            <a:r>
              <a:rPr lang="zh-CN" altLang="en-US" sz="2000" dirty="0" smtClean="0"/>
              <a:t>和</a:t>
            </a:r>
            <a:r>
              <a:rPr lang="en-US" altLang="zh-CN" sz="2000" dirty="0" smtClean="0"/>
              <a:t>4n+3</a:t>
            </a:r>
            <a:r>
              <a:rPr lang="zh-CN" altLang="en-US" sz="2000" dirty="0" smtClean="0"/>
              <a:t>字单元存放中断服务程序</a:t>
            </a:r>
            <a:r>
              <a:rPr lang="zh-CN" altLang="en-US" sz="2000" dirty="0" smtClean="0">
                <a:solidFill>
                  <a:srgbClr val="FF0000"/>
                </a:solidFill>
              </a:rPr>
              <a:t>段基址</a:t>
            </a:r>
            <a:r>
              <a:rPr lang="zh-CN" altLang="en-US" sz="2000" dirty="0" smtClean="0"/>
              <a:t>。</a:t>
            </a:r>
            <a:endParaRPr lang="zh-CN" altLang="en-US" sz="2000" dirty="0"/>
          </a:p>
        </p:txBody>
      </p:sp>
    </p:spTree>
    <p:extLst>
      <p:ext uri="{BB962C8B-B14F-4D97-AF65-F5344CB8AC3E}">
        <p14:creationId xmlns:p14="http://schemas.microsoft.com/office/powerpoint/2010/main" val="34188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50246" y="1085603"/>
            <a:ext cx="830079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rgbClr val="0BD0D9"/>
              </a:buClr>
              <a:buSzPct val="95000"/>
              <a:buFont typeface="Wingdings 2" panose="05020102010507070707" pitchFamily="18" charset="2"/>
              <a:buNone/>
            </a:pPr>
            <a:r>
              <a:rPr lang="zh-CN" altLang="en-US" sz="2400" dirty="0" smtClean="0">
                <a:solidFill>
                  <a:srgbClr val="FF0066"/>
                </a:solidFill>
                <a:latin typeface="楷体" panose="02010609060101010101" pitchFamily="49" charset="-122"/>
                <a:ea typeface="楷体" panose="02010609060101010101" pitchFamily="49" charset="-122"/>
              </a:rPr>
              <a:t>例</a:t>
            </a:r>
            <a:r>
              <a:rPr lang="en-US" altLang="zh-CN" sz="2400" dirty="0" smtClean="0">
                <a:solidFill>
                  <a:srgbClr val="FF0066"/>
                </a:solidFill>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若</a:t>
            </a:r>
            <a:r>
              <a:rPr lang="en-US" altLang="zh-CN" sz="2400" dirty="0">
                <a:latin typeface="楷体" panose="02010609060101010101" pitchFamily="49" charset="-122"/>
                <a:ea typeface="楷体" panose="02010609060101010101" pitchFamily="49" charset="-122"/>
              </a:rPr>
              <a:t>80x86</a:t>
            </a:r>
            <a:r>
              <a:rPr lang="zh-CN" altLang="en-US" sz="2400" dirty="0">
                <a:latin typeface="楷体" panose="02010609060101010101" pitchFamily="49" charset="-122"/>
                <a:ea typeface="楷体" panose="02010609060101010101" pitchFamily="49" charset="-122"/>
              </a:rPr>
              <a:t>系统采用的</a:t>
            </a:r>
            <a:r>
              <a:rPr lang="en-US" altLang="zh-CN" sz="2400" dirty="0">
                <a:latin typeface="楷体" panose="02010609060101010101" pitchFamily="49" charset="-122"/>
                <a:ea typeface="楷体" panose="02010609060101010101" pitchFamily="49" charset="-122"/>
              </a:rPr>
              <a:t>8259A</a:t>
            </a:r>
            <a:r>
              <a:rPr lang="zh-CN" altLang="en-US" sz="2400" dirty="0">
                <a:latin typeface="楷体" panose="02010609060101010101" pitchFamily="49" charset="-122"/>
                <a:ea typeface="楷体" panose="02010609060101010101" pitchFamily="49" charset="-122"/>
              </a:rPr>
              <a:t>的中断类型码为</a:t>
            </a:r>
            <a:r>
              <a:rPr lang="en-US" altLang="zh-CN" sz="2400" dirty="0">
                <a:latin typeface="楷体" panose="02010609060101010101" pitchFamily="49" charset="-122"/>
                <a:ea typeface="楷体" panose="02010609060101010101" pitchFamily="49" charset="-122"/>
              </a:rPr>
              <a:t>88H,</a:t>
            </a:r>
            <a:r>
              <a:rPr lang="zh-CN" altLang="en-US" sz="2400" dirty="0">
                <a:latin typeface="楷体" panose="02010609060101010101" pitchFamily="49" charset="-122"/>
                <a:ea typeface="楷体" panose="02010609060101010101" pitchFamily="49" charset="-122"/>
              </a:rPr>
              <a:t>试问：</a:t>
            </a:r>
          </a:p>
          <a:p>
            <a:pPr eaLnBrk="1" hangingPunct="1">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这个中断源的中断请求信号应连向</a:t>
            </a:r>
            <a:r>
              <a:rPr lang="en-US" altLang="zh-CN" sz="2400" dirty="0">
                <a:latin typeface="楷体" panose="02010609060101010101" pitchFamily="49" charset="-122"/>
                <a:ea typeface="楷体" panose="02010609060101010101" pitchFamily="49" charset="-122"/>
              </a:rPr>
              <a:t>8259A</a:t>
            </a:r>
            <a:r>
              <a:rPr lang="zh-CN" altLang="en-US" sz="2400" dirty="0">
                <a:latin typeface="楷体" panose="02010609060101010101" pitchFamily="49" charset="-122"/>
                <a:ea typeface="楷体" panose="02010609060101010101" pitchFamily="49" charset="-122"/>
              </a:rPr>
              <a:t>的哪个中断输</a:t>
            </a:r>
          </a:p>
          <a:p>
            <a:pPr eaLnBrk="1" hangingPunct="1">
              <a:lnSpc>
                <a:spcPct val="80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入端？</a:t>
            </a:r>
          </a:p>
          <a:p>
            <a:pPr eaLnBrk="1" hangingPunct="1">
              <a:lnSpc>
                <a:spcPct val="80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中断服务程序的段地址和偏移地址应分别填入哪两个</a:t>
            </a:r>
          </a:p>
          <a:p>
            <a:pPr eaLnBrk="1" hangingPunct="1">
              <a:lnSpc>
                <a:spcPct val="80000"/>
              </a:lnSpc>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字单元？ </a:t>
            </a:r>
          </a:p>
        </p:txBody>
      </p:sp>
      <p:sp>
        <p:nvSpPr>
          <p:cNvPr id="3" name="Text Box 3"/>
          <p:cNvSpPr txBox="1">
            <a:spLocks noChangeArrowheads="1"/>
          </p:cNvSpPr>
          <p:nvPr/>
        </p:nvSpPr>
        <p:spPr bwMode="auto">
          <a:xfrm>
            <a:off x="550246" y="3319217"/>
            <a:ext cx="8225329"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根据 </a:t>
            </a:r>
            <a:r>
              <a:rPr lang="en-US" altLang="zh-CN" sz="2400" dirty="0">
                <a:latin typeface="楷体" panose="02010609060101010101" pitchFamily="49" charset="-122"/>
                <a:ea typeface="楷体" panose="02010609060101010101" pitchFamily="49" charset="-122"/>
              </a:rPr>
              <a:t>ICW2</a:t>
            </a:r>
            <a:r>
              <a:rPr lang="zh-CN" altLang="en-US" sz="2400" dirty="0">
                <a:latin typeface="楷体" panose="02010609060101010101" pitchFamily="49" charset="-122"/>
                <a:ea typeface="楷体" panose="02010609060101010101" pitchFamily="49" charset="-122"/>
              </a:rPr>
              <a:t>可知，中断类型码的低</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位即是</a:t>
            </a:r>
            <a:r>
              <a:rPr lang="en-US" altLang="zh-CN" sz="2400" dirty="0">
                <a:latin typeface="楷体" panose="02010609060101010101" pitchFamily="49" charset="-122"/>
                <a:ea typeface="楷体" panose="02010609060101010101" pitchFamily="49" charset="-122"/>
              </a:rPr>
              <a:t>8259A </a:t>
            </a:r>
            <a:r>
              <a:rPr lang="en-US" altLang="zh-CN" sz="2400" dirty="0" err="1">
                <a:latin typeface="楷体" panose="02010609060101010101" pitchFamily="49" charset="-122"/>
                <a:ea typeface="楷体" panose="02010609060101010101" pitchFamily="49" charset="-122"/>
              </a:rPr>
              <a:t>IRi</a:t>
            </a:r>
            <a:endParaRPr lang="en-US" altLang="zh-CN" sz="2400" dirty="0">
              <a:latin typeface="楷体" panose="02010609060101010101" pitchFamily="49" charset="-122"/>
              <a:ea typeface="楷体" panose="02010609060101010101" pitchFamily="49" charset="-122"/>
            </a:endParaRPr>
          </a:p>
          <a:p>
            <a:pPr eaLnBrk="1" hangingPunct="1">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的</a:t>
            </a:r>
            <a:r>
              <a:rPr lang="en-US" altLang="zh-CN" sz="2400" dirty="0" err="1">
                <a:latin typeface="楷体" panose="02010609060101010101" pitchFamily="49" charset="-122"/>
                <a:ea typeface="楷体" panose="02010609060101010101" pitchFamily="49" charset="-122"/>
              </a:rPr>
              <a:t>i</a:t>
            </a:r>
            <a:r>
              <a:rPr lang="zh-CN" altLang="en-US" sz="2400" dirty="0">
                <a:latin typeface="楷体" panose="02010609060101010101" pitchFamily="49" charset="-122"/>
                <a:ea typeface="楷体" panose="02010609060101010101" pitchFamily="49" charset="-122"/>
              </a:rPr>
              <a:t>值，</a:t>
            </a:r>
            <a:r>
              <a:rPr lang="zh-CN" altLang="en-US" sz="2400" dirty="0">
                <a:solidFill>
                  <a:srgbClr val="FF0000"/>
                </a:solidFill>
                <a:latin typeface="楷体" panose="02010609060101010101" pitchFamily="49" charset="-122"/>
                <a:ea typeface="楷体" panose="02010609060101010101" pitchFamily="49" charset="-122"/>
              </a:rPr>
              <a:t>而</a:t>
            </a:r>
            <a:r>
              <a:rPr lang="en-US" altLang="zh-CN" sz="2400" dirty="0">
                <a:solidFill>
                  <a:srgbClr val="FF0000"/>
                </a:solidFill>
                <a:latin typeface="楷体" panose="02010609060101010101" pitchFamily="49" charset="-122"/>
                <a:ea typeface="楷体" panose="02010609060101010101" pitchFamily="49" charset="-122"/>
              </a:rPr>
              <a:t>88H</a:t>
            </a:r>
            <a:r>
              <a:rPr lang="zh-CN" altLang="en-US" sz="2400" dirty="0">
                <a:solidFill>
                  <a:srgbClr val="FF0000"/>
                </a:solidFill>
                <a:latin typeface="楷体" panose="02010609060101010101" pitchFamily="49" charset="-122"/>
                <a:ea typeface="楷体" panose="02010609060101010101" pitchFamily="49" charset="-122"/>
              </a:rPr>
              <a:t>的低</a:t>
            </a:r>
            <a:r>
              <a:rPr lang="en-US" altLang="zh-CN" sz="2400" dirty="0">
                <a:solidFill>
                  <a:srgbClr val="FF0000"/>
                </a:solidFill>
                <a:latin typeface="楷体" panose="02010609060101010101" pitchFamily="49" charset="-122"/>
                <a:ea typeface="楷体" panose="02010609060101010101" pitchFamily="49" charset="-122"/>
              </a:rPr>
              <a:t>3</a:t>
            </a:r>
            <a:r>
              <a:rPr lang="zh-CN" altLang="en-US" sz="2400" dirty="0">
                <a:solidFill>
                  <a:srgbClr val="FF0000"/>
                </a:solidFill>
                <a:latin typeface="楷体" panose="02010609060101010101" pitchFamily="49" charset="-122"/>
                <a:ea typeface="楷体" panose="02010609060101010101" pitchFamily="49" charset="-122"/>
              </a:rPr>
              <a:t>位为</a:t>
            </a:r>
            <a:r>
              <a:rPr lang="en-US" altLang="zh-CN" sz="2400" dirty="0">
                <a:solidFill>
                  <a:srgbClr val="FF0000"/>
                </a:solidFill>
                <a:latin typeface="楷体" panose="02010609060101010101" pitchFamily="49" charset="-122"/>
                <a:ea typeface="楷体" panose="02010609060101010101" pitchFamily="49" charset="-122"/>
              </a:rPr>
              <a:t>000</a:t>
            </a:r>
            <a:r>
              <a:rPr lang="zh-CN" altLang="en-US" sz="2400" dirty="0">
                <a:solidFill>
                  <a:srgbClr val="FF0000"/>
                </a:solidFill>
                <a:latin typeface="楷体" panose="02010609060101010101" pitchFamily="49" charset="-122"/>
                <a:ea typeface="楷体" panose="02010609060101010101" pitchFamily="49" charset="-122"/>
              </a:rPr>
              <a:t>，故中断源的中断请求信号连</a:t>
            </a:r>
          </a:p>
          <a:p>
            <a:pPr eaLnBrk="1" hangingPunct="1">
              <a:buClr>
                <a:srgbClr val="0BD0D9"/>
              </a:buClr>
              <a:buSzPct val="95000"/>
              <a:buFont typeface="Wingdings 2" panose="05020102010507070707" pitchFamily="18" charset="2"/>
              <a:buNone/>
            </a:pPr>
            <a:r>
              <a:rPr lang="zh-CN" altLang="en-US" sz="2400" dirty="0">
                <a:solidFill>
                  <a:srgbClr val="FF0000"/>
                </a:solidFill>
                <a:latin typeface="楷体" panose="02010609060101010101" pitchFamily="49" charset="-122"/>
                <a:ea typeface="楷体" panose="02010609060101010101" pitchFamily="49" charset="-122"/>
              </a:rPr>
              <a:t>接到</a:t>
            </a:r>
            <a:r>
              <a:rPr lang="en-US" altLang="zh-CN" sz="2400" dirty="0">
                <a:solidFill>
                  <a:srgbClr val="FF0000"/>
                </a:solidFill>
                <a:latin typeface="楷体" panose="02010609060101010101" pitchFamily="49" charset="-122"/>
                <a:ea typeface="楷体" panose="02010609060101010101" pitchFamily="49" charset="-122"/>
              </a:rPr>
              <a:t>8259A</a:t>
            </a:r>
            <a:r>
              <a:rPr lang="zh-CN" altLang="en-US" sz="2400" dirty="0">
                <a:solidFill>
                  <a:srgbClr val="FF0000"/>
                </a:solidFill>
                <a:latin typeface="楷体" panose="02010609060101010101" pitchFamily="49" charset="-122"/>
                <a:ea typeface="楷体" panose="02010609060101010101" pitchFamily="49" charset="-122"/>
              </a:rPr>
              <a:t>的</a:t>
            </a:r>
            <a:r>
              <a:rPr lang="en-US" altLang="zh-CN" sz="2400" dirty="0">
                <a:solidFill>
                  <a:srgbClr val="FF0000"/>
                </a:solidFill>
                <a:latin typeface="楷体" panose="02010609060101010101" pitchFamily="49" charset="-122"/>
                <a:ea typeface="楷体" panose="02010609060101010101" pitchFamily="49" charset="-122"/>
              </a:rPr>
              <a:t>IR0</a:t>
            </a:r>
            <a:r>
              <a:rPr lang="zh-CN" altLang="en-US" sz="2400" dirty="0">
                <a:solidFill>
                  <a:srgbClr val="FF0000"/>
                </a:solidFill>
                <a:latin typeface="楷体" panose="02010609060101010101" pitchFamily="49" charset="-122"/>
                <a:ea typeface="楷体" panose="02010609060101010101" pitchFamily="49" charset="-122"/>
              </a:rPr>
              <a:t>输入端</a:t>
            </a:r>
            <a:r>
              <a:rPr lang="zh-CN" altLang="en-US" sz="2400" dirty="0">
                <a:latin typeface="楷体" panose="02010609060101010101" pitchFamily="49" charset="-122"/>
                <a:ea typeface="楷体" panose="02010609060101010101" pitchFamily="49" charset="-122"/>
              </a:rPr>
              <a:t>。</a:t>
            </a:r>
          </a:p>
          <a:p>
            <a:pPr eaLnBrk="1" hangingPunct="1">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    中断服务程序的</a:t>
            </a:r>
            <a:r>
              <a:rPr lang="zh-CN" altLang="en-US" sz="2400" dirty="0">
                <a:solidFill>
                  <a:srgbClr val="FF0000"/>
                </a:solidFill>
                <a:latin typeface="楷体" panose="02010609060101010101" pitchFamily="49" charset="-122"/>
                <a:ea typeface="楷体" panose="02010609060101010101" pitchFamily="49" charset="-122"/>
              </a:rPr>
              <a:t>偏移地址和段地址分别填入</a:t>
            </a:r>
            <a:r>
              <a:rPr lang="en-US" altLang="zh-CN" sz="2400" dirty="0">
                <a:solidFill>
                  <a:srgbClr val="FF0000"/>
                </a:solidFill>
                <a:latin typeface="楷体" panose="02010609060101010101" pitchFamily="49" charset="-122"/>
                <a:ea typeface="楷体" panose="02010609060101010101" pitchFamily="49" charset="-122"/>
              </a:rPr>
              <a:t>4n</a:t>
            </a:r>
            <a:r>
              <a:rPr lang="zh-CN" altLang="en-US" sz="2400" dirty="0">
                <a:solidFill>
                  <a:srgbClr val="FF0000"/>
                </a:solidFill>
                <a:latin typeface="楷体" panose="02010609060101010101" pitchFamily="49" charset="-122"/>
                <a:ea typeface="楷体" panose="02010609060101010101" pitchFamily="49" charset="-122"/>
              </a:rPr>
              <a:t>和</a:t>
            </a:r>
            <a:r>
              <a:rPr lang="en-US" altLang="zh-CN" sz="2400" dirty="0">
                <a:solidFill>
                  <a:srgbClr val="FF0000"/>
                </a:solidFill>
                <a:latin typeface="楷体" panose="02010609060101010101" pitchFamily="49" charset="-122"/>
                <a:ea typeface="楷体" panose="02010609060101010101" pitchFamily="49" charset="-122"/>
              </a:rPr>
              <a:t>4n+2</a:t>
            </a:r>
          </a:p>
          <a:p>
            <a:pPr eaLnBrk="1" hangingPunct="1">
              <a:buClr>
                <a:srgbClr val="0BD0D9"/>
              </a:buClr>
              <a:buSzPct val="95000"/>
              <a:buFont typeface="Wingdings 2" panose="05020102010507070707" pitchFamily="18" charset="2"/>
              <a:buNone/>
            </a:pPr>
            <a:r>
              <a:rPr lang="zh-CN" altLang="en-US" sz="2400" dirty="0">
                <a:solidFill>
                  <a:srgbClr val="FF0000"/>
                </a:solidFill>
                <a:latin typeface="楷体" panose="02010609060101010101" pitchFamily="49" charset="-122"/>
                <a:ea typeface="楷体" panose="02010609060101010101" pitchFamily="49" charset="-122"/>
              </a:rPr>
              <a:t>两个字单元，而</a:t>
            </a:r>
            <a:r>
              <a:rPr lang="en-US" altLang="zh-CN" sz="2400" dirty="0">
                <a:solidFill>
                  <a:srgbClr val="FF0000"/>
                </a:solidFill>
                <a:latin typeface="楷体" panose="02010609060101010101" pitchFamily="49" charset="-122"/>
                <a:ea typeface="楷体" panose="02010609060101010101" pitchFamily="49" charset="-122"/>
              </a:rPr>
              <a:t>4×88H=220H</a:t>
            </a:r>
            <a:r>
              <a:rPr lang="zh-CN" altLang="en-US" sz="2400" dirty="0">
                <a:latin typeface="楷体" panose="02010609060101010101" pitchFamily="49" charset="-122"/>
                <a:ea typeface="楷体" panose="02010609060101010101" pitchFamily="49" charset="-122"/>
              </a:rPr>
              <a:t>，故段地址填入</a:t>
            </a:r>
            <a:r>
              <a:rPr lang="en-US" altLang="zh-CN" sz="2400" dirty="0">
                <a:latin typeface="楷体" panose="02010609060101010101" pitchFamily="49" charset="-122"/>
                <a:ea typeface="楷体" panose="02010609060101010101" pitchFamily="49" charset="-122"/>
              </a:rPr>
              <a:t>00222H</a:t>
            </a:r>
            <a:r>
              <a:rPr lang="zh-CN" altLang="en-US" sz="2400" dirty="0">
                <a:latin typeface="楷体" panose="02010609060101010101" pitchFamily="49" charset="-122"/>
                <a:ea typeface="楷体" panose="02010609060101010101" pitchFamily="49" charset="-122"/>
              </a:rPr>
              <a:t>字单元</a:t>
            </a:r>
          </a:p>
          <a:p>
            <a:pPr eaLnBrk="1" hangingPunct="1">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（即</a:t>
            </a:r>
            <a:r>
              <a:rPr lang="en-US" altLang="zh-CN" sz="2400" dirty="0">
                <a:latin typeface="楷体" panose="02010609060101010101" pitchFamily="49" charset="-122"/>
                <a:ea typeface="楷体" panose="02010609060101010101" pitchFamily="49" charset="-122"/>
              </a:rPr>
              <a:t>00222H</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00223H</a:t>
            </a:r>
            <a:r>
              <a:rPr lang="zh-CN" altLang="en-US" sz="2400" dirty="0">
                <a:latin typeface="楷体" panose="02010609060101010101" pitchFamily="49" charset="-122"/>
                <a:ea typeface="楷体" panose="02010609060101010101" pitchFamily="49" charset="-122"/>
              </a:rPr>
              <a:t>两个字节单元），偏移地址填入</a:t>
            </a:r>
            <a:r>
              <a:rPr lang="en-US" altLang="zh-CN" sz="2400" dirty="0">
                <a:latin typeface="楷体" panose="02010609060101010101" pitchFamily="49" charset="-122"/>
                <a:ea typeface="楷体" panose="02010609060101010101" pitchFamily="49" charset="-122"/>
              </a:rPr>
              <a:t>00220H</a:t>
            </a:r>
          </a:p>
          <a:p>
            <a:pPr eaLnBrk="1" hangingPunct="1">
              <a:buClr>
                <a:srgbClr val="0BD0D9"/>
              </a:buClr>
              <a:buSzPct val="95000"/>
              <a:buFont typeface="Wingdings 2" panose="05020102010507070707" pitchFamily="18" charset="2"/>
              <a:buNone/>
            </a:pPr>
            <a:r>
              <a:rPr lang="zh-CN" altLang="en-US" sz="2400" dirty="0">
                <a:latin typeface="楷体" panose="02010609060101010101" pitchFamily="49" charset="-122"/>
                <a:ea typeface="楷体" panose="02010609060101010101" pitchFamily="49" charset="-122"/>
              </a:rPr>
              <a:t>字单元（即</a:t>
            </a:r>
            <a:r>
              <a:rPr lang="en-US" altLang="zh-CN" sz="2400" dirty="0">
                <a:latin typeface="楷体" panose="02010609060101010101" pitchFamily="49" charset="-122"/>
                <a:ea typeface="楷体" panose="02010609060101010101" pitchFamily="49" charset="-122"/>
              </a:rPr>
              <a:t>00220H</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00221H</a:t>
            </a:r>
            <a:r>
              <a:rPr lang="zh-CN" altLang="en-US" sz="2400" dirty="0">
                <a:latin typeface="楷体" panose="02010609060101010101" pitchFamily="49" charset="-122"/>
                <a:ea typeface="楷体" panose="02010609060101010101" pitchFamily="49" charset="-122"/>
              </a:rPr>
              <a:t>两个字节单元）。</a:t>
            </a:r>
          </a:p>
        </p:txBody>
      </p:sp>
    </p:spTree>
    <p:extLst>
      <p:ext uri="{BB962C8B-B14F-4D97-AF65-F5344CB8AC3E}">
        <p14:creationId xmlns:p14="http://schemas.microsoft.com/office/powerpoint/2010/main" val="328809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2339102"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6 </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中断描述符表</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9"/>
          <p:cNvSpPr txBox="1">
            <a:spLocks noChangeArrowheads="1"/>
          </p:cNvSpPr>
          <p:nvPr/>
        </p:nvSpPr>
        <p:spPr bwMode="auto">
          <a:xfrm>
            <a:off x="738511" y="1876580"/>
            <a:ext cx="7233637" cy="2308324"/>
          </a:xfrm>
          <a:prstGeom prst="rect">
            <a:avLst/>
          </a:prstGeom>
        </p:spPr>
        <p:txBody>
          <a:bodyPr wrap="square">
            <a:spAutoFit/>
          </a:bodyPr>
          <a:lstStyle>
            <a:defPPr>
              <a:defRPr lang="zh-CN"/>
            </a:defPPr>
            <a:lvl1pPr indent="504000">
              <a:lnSpc>
                <a:spcPct val="150000"/>
              </a:lnSpc>
              <a:defRPr sz="2400">
                <a:latin typeface="楷体" panose="02010609060101010101" pitchFamily="49" charset="-122"/>
                <a:ea typeface="楷体" panose="02010609060101010101" pitchFamily="49" charset="-122"/>
              </a:defRPr>
            </a:lvl1pPr>
          </a:lstStyle>
          <a:p>
            <a:r>
              <a:rPr lang="zh-CN" altLang="en-US" dirty="0" smtClean="0"/>
              <a:t>在</a:t>
            </a:r>
            <a:r>
              <a:rPr lang="zh-CN" altLang="en-US" dirty="0"/>
              <a:t>保护方式下，为每一个中断定义了一个</a:t>
            </a:r>
            <a:r>
              <a:rPr lang="zh-CN" altLang="en-US" dirty="0">
                <a:solidFill>
                  <a:srgbClr val="FF0000"/>
                </a:solidFill>
              </a:rPr>
              <a:t>中断描述符来说明中断服务程序的入口地址和属性</a:t>
            </a:r>
            <a:r>
              <a:rPr lang="zh-CN" altLang="en-US" dirty="0"/>
              <a:t>。所有的中断描述符都集中存放在中断描述符表中，由中断描述符表取代了实地址方式下的中断向量表</a:t>
            </a:r>
          </a:p>
        </p:txBody>
      </p:sp>
      <p:sp>
        <p:nvSpPr>
          <p:cNvPr id="4" name="Text Box 10"/>
          <p:cNvSpPr txBox="1">
            <a:spLocks noChangeArrowheads="1"/>
          </p:cNvSpPr>
          <p:nvPr/>
        </p:nvSpPr>
        <p:spPr bwMode="auto">
          <a:xfrm>
            <a:off x="738511" y="4308574"/>
            <a:ext cx="7233637" cy="2308324"/>
          </a:xfrm>
          <a:prstGeom prst="rect">
            <a:avLst/>
          </a:prstGeom>
        </p:spPr>
        <p:txBody>
          <a:bodyPr wrap="square">
            <a:spAutoFit/>
          </a:bodyPr>
          <a:lstStyle>
            <a:defPPr>
              <a:defRPr lang="zh-CN"/>
            </a:defPPr>
            <a:lvl1pPr indent="504000">
              <a:lnSpc>
                <a:spcPct val="150000"/>
              </a:lnSpc>
              <a:defRPr sz="2400">
                <a:latin typeface="楷体" panose="02010609060101010101" pitchFamily="49" charset="-122"/>
                <a:ea typeface="楷体" panose="02010609060101010101" pitchFamily="49" charset="-122"/>
              </a:defRPr>
            </a:lvl1pPr>
          </a:lstStyle>
          <a:p>
            <a:r>
              <a:rPr lang="zh-CN" altLang="en-US" dirty="0" smtClean="0"/>
              <a:t>中断</a:t>
            </a:r>
            <a:r>
              <a:rPr lang="zh-CN" altLang="en-US" dirty="0"/>
              <a:t>描述符包含</a:t>
            </a:r>
            <a:r>
              <a:rPr lang="en-US" altLang="en-US" dirty="0"/>
              <a:t>3</a:t>
            </a:r>
            <a:r>
              <a:rPr lang="zh-CN" altLang="en-US" dirty="0"/>
              <a:t>个内容，一是</a:t>
            </a:r>
            <a:r>
              <a:rPr lang="zh-CN" altLang="en-US" dirty="0">
                <a:solidFill>
                  <a:srgbClr val="FF0000"/>
                </a:solidFill>
              </a:rPr>
              <a:t>描述符索引</a:t>
            </a:r>
            <a:r>
              <a:rPr lang="en-US" altLang="en-US" dirty="0">
                <a:solidFill>
                  <a:srgbClr val="FF0000"/>
                </a:solidFill>
              </a:rPr>
              <a:t>DI</a:t>
            </a:r>
            <a:r>
              <a:rPr lang="zh-CN" altLang="en-US" dirty="0"/>
              <a:t>，由此可以获得段基址等；二是</a:t>
            </a:r>
            <a:r>
              <a:rPr lang="en-US" altLang="en-US" dirty="0">
                <a:solidFill>
                  <a:srgbClr val="FF0000"/>
                </a:solidFill>
              </a:rPr>
              <a:t>32</a:t>
            </a:r>
            <a:r>
              <a:rPr lang="zh-CN" altLang="en-US" dirty="0">
                <a:solidFill>
                  <a:srgbClr val="FF0000"/>
                </a:solidFill>
              </a:rPr>
              <a:t>位的偏移地址</a:t>
            </a:r>
            <a:r>
              <a:rPr lang="zh-CN" altLang="en-US" dirty="0"/>
              <a:t>；三是</a:t>
            </a:r>
            <a:r>
              <a:rPr lang="zh-CN" altLang="en-US" dirty="0">
                <a:solidFill>
                  <a:srgbClr val="FF0000"/>
                </a:solidFill>
              </a:rPr>
              <a:t>相关段的参数</a:t>
            </a:r>
            <a:r>
              <a:rPr lang="zh-CN" altLang="en-US" dirty="0"/>
              <a:t>，这些参数指示引起中断的原因属于哪一类。</a:t>
            </a:r>
          </a:p>
        </p:txBody>
      </p:sp>
    </p:spTree>
    <p:extLst>
      <p:ext uri="{BB962C8B-B14F-4D97-AF65-F5344CB8AC3E}">
        <p14:creationId xmlns:p14="http://schemas.microsoft.com/office/powerpoint/2010/main" val="308515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3726962" cy="461665"/>
          </a:xfrm>
          <a:prstGeom prst="rect">
            <a:avLst/>
          </a:prstGeom>
        </p:spPr>
        <p:txBody>
          <a:bodyPr wrap="squar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7 </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中断</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响应和处理过程</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303674" y="1995823"/>
            <a:ext cx="8529202" cy="830997"/>
          </a:xfrm>
          <a:prstGeom prst="rect">
            <a:avLst/>
          </a:prstGeom>
        </p:spPr>
        <p:txBody>
          <a:bodyPr wrap="square">
            <a:spAutoFit/>
          </a:bodyPr>
          <a:lstStyle>
            <a:defPPr>
              <a:defRPr lang="zh-CN"/>
            </a:defPPr>
            <a:lvl1pPr indent="504000">
              <a:lnSpc>
                <a:spcPct val="120000"/>
              </a:lnSpc>
              <a:buClr>
                <a:srgbClr val="0BD0D9"/>
              </a:buClr>
              <a:buSzPct val="95000"/>
              <a:defRPr sz="2000">
                <a:latin typeface="楷体" panose="02010609060101010101" pitchFamily="49" charset="-122"/>
                <a:ea typeface="楷体" panose="02010609060101010101" pitchFamily="49" charset="-122"/>
              </a:defRPr>
            </a:lvl1pPr>
          </a:lstStyle>
          <a:p>
            <a:r>
              <a:rPr lang="en-US" altLang="zh-CN" dirty="0"/>
              <a:t>80x86</a:t>
            </a:r>
            <a:r>
              <a:rPr lang="zh-CN" altLang="en-US" dirty="0"/>
              <a:t>对各种中断的响应和处理过程是不相同的</a:t>
            </a:r>
            <a:r>
              <a:rPr lang="en-US" altLang="zh-CN" dirty="0"/>
              <a:t>,</a:t>
            </a:r>
            <a:r>
              <a:rPr lang="zh-CN" altLang="en-US" dirty="0"/>
              <a:t>其主要区别在于如何获取相应的</a:t>
            </a:r>
            <a:r>
              <a:rPr lang="zh-CN" altLang="en-US" dirty="0">
                <a:solidFill>
                  <a:srgbClr val="FF0000"/>
                </a:solidFill>
              </a:rPr>
              <a:t>中断类型码</a:t>
            </a:r>
            <a:r>
              <a:rPr lang="en-US" altLang="zh-CN" dirty="0">
                <a:solidFill>
                  <a:srgbClr val="FF0000"/>
                </a:solidFill>
              </a:rPr>
              <a:t>(</a:t>
            </a:r>
            <a:r>
              <a:rPr lang="zh-CN" altLang="en-US" dirty="0">
                <a:solidFill>
                  <a:srgbClr val="FF0000"/>
                </a:solidFill>
              </a:rPr>
              <a:t>向量</a:t>
            </a:r>
            <a:r>
              <a:rPr lang="en-US" altLang="zh-CN" dirty="0">
                <a:solidFill>
                  <a:srgbClr val="FF0000"/>
                </a:solidFill>
              </a:rPr>
              <a:t>)</a:t>
            </a:r>
            <a:r>
              <a:rPr lang="zh-CN" altLang="en-US" dirty="0"/>
              <a:t>。 </a:t>
            </a:r>
          </a:p>
        </p:txBody>
      </p:sp>
      <p:sp>
        <p:nvSpPr>
          <p:cNvPr id="4" name="矩形 3"/>
          <p:cNvSpPr/>
          <p:nvPr/>
        </p:nvSpPr>
        <p:spPr>
          <a:xfrm>
            <a:off x="303674" y="2956107"/>
            <a:ext cx="8618384" cy="830997"/>
          </a:xfrm>
          <a:prstGeom prst="rect">
            <a:avLst/>
          </a:prstGeom>
        </p:spPr>
        <p:txBody>
          <a:bodyPr wrap="square">
            <a:spAutoFit/>
          </a:bodyPr>
          <a:lstStyle/>
          <a:p>
            <a:pPr indent="504000">
              <a:lnSpc>
                <a:spcPct val="120000"/>
              </a:lnSpc>
              <a:buClr>
                <a:srgbClr val="0BD0D9"/>
              </a:buClr>
              <a:buSzPct val="95000"/>
            </a:pPr>
            <a:r>
              <a:rPr lang="zh-CN" altLang="en-US" sz="2000" dirty="0">
                <a:latin typeface="楷体" panose="02010609060101010101" pitchFamily="49" charset="-122"/>
                <a:ea typeface="楷体" panose="02010609060101010101" pitchFamily="49" charset="-122"/>
              </a:rPr>
              <a:t>对于硬件</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外部</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中断，</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是在当前指令周期的最后一</a:t>
            </a:r>
            <a:r>
              <a:rPr lang="zh-CN" altLang="en-US" sz="2000" dirty="0" smtClean="0">
                <a:latin typeface="楷体" panose="02010609060101010101" pitchFamily="49" charset="-122"/>
                <a:ea typeface="楷体" panose="02010609060101010101" pitchFamily="49" charset="-122"/>
              </a:rPr>
              <a:t>个</a:t>
            </a:r>
            <a:r>
              <a:rPr lang="en-US" altLang="zh-CN" sz="2000" dirty="0" smtClean="0">
                <a:latin typeface="楷体" panose="02010609060101010101" pitchFamily="49" charset="-122"/>
                <a:ea typeface="楷体" panose="02010609060101010101" pitchFamily="49" charset="-122"/>
              </a:rPr>
              <a:t>T</a:t>
            </a:r>
            <a:r>
              <a:rPr lang="zh-CN" altLang="en-US" sz="2000" dirty="0">
                <a:latin typeface="楷体" panose="02010609060101010101" pitchFamily="49" charset="-122"/>
                <a:ea typeface="楷体" panose="02010609060101010101" pitchFamily="49" charset="-122"/>
              </a:rPr>
              <a:t>状态采样中断请求输入信号。</a:t>
            </a:r>
          </a:p>
        </p:txBody>
      </p:sp>
      <p:sp>
        <p:nvSpPr>
          <p:cNvPr id="5" name="矩形 4"/>
          <p:cNvSpPr/>
          <p:nvPr/>
        </p:nvSpPr>
        <p:spPr>
          <a:xfrm>
            <a:off x="303674" y="3916391"/>
            <a:ext cx="8618384" cy="1569660"/>
          </a:xfrm>
          <a:prstGeom prst="rect">
            <a:avLst/>
          </a:prstGeom>
        </p:spPr>
        <p:txBody>
          <a:bodyPr wrap="square">
            <a:spAutoFit/>
          </a:bodyPr>
          <a:lstStyle/>
          <a:p>
            <a:pPr indent="504000">
              <a:lnSpc>
                <a:spcPct val="120000"/>
              </a:lnSpc>
              <a:buClr>
                <a:srgbClr val="0BD0D9"/>
              </a:buClr>
              <a:buSzPct val="95000"/>
            </a:pPr>
            <a:r>
              <a:rPr lang="zh-CN" altLang="en-US" sz="2000" dirty="0">
                <a:solidFill>
                  <a:srgbClr val="3333FF"/>
                </a:solidFill>
                <a:latin typeface="楷体" panose="02010609060101010101" pitchFamily="49" charset="-122"/>
                <a:ea typeface="楷体" panose="02010609060101010101" pitchFamily="49" charset="-122"/>
              </a:rPr>
              <a:t>如果有可屏蔽中断请求</a:t>
            </a:r>
            <a:r>
              <a:rPr lang="zh-CN" altLang="en-US" sz="2000" dirty="0">
                <a:latin typeface="楷体" panose="02010609060101010101" pitchFamily="49" charset="-122"/>
                <a:ea typeface="楷体" panose="02010609060101010101" pitchFamily="49" charset="-122"/>
              </a:rPr>
              <a:t>，且 </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处在开中断状态</a:t>
            </a:r>
            <a:r>
              <a:rPr lang="en-US" altLang="zh-CN" sz="2000" dirty="0">
                <a:latin typeface="楷体" panose="02010609060101010101" pitchFamily="49" charset="-122"/>
                <a:ea typeface="楷体" panose="02010609060101010101" pitchFamily="49" charset="-122"/>
              </a:rPr>
              <a:t>(IF</a:t>
            </a:r>
            <a:r>
              <a:rPr lang="zh-CN" altLang="en-US" sz="2000" dirty="0" smtClean="0">
                <a:latin typeface="楷体" panose="02010609060101010101" pitchFamily="49" charset="-122"/>
                <a:ea typeface="楷体" panose="02010609060101010101" pitchFamily="49" charset="-122"/>
              </a:rPr>
              <a:t>标志为</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则</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转入两个连续的中断响应周期</a:t>
            </a:r>
            <a:r>
              <a:rPr lang="en-US" altLang="zh-CN" sz="2000" dirty="0" smtClean="0">
                <a:latin typeface="楷体" panose="02010609060101010101" pitchFamily="49" charset="-122"/>
                <a:ea typeface="楷体" panose="02010609060101010101" pitchFamily="49" charset="-122"/>
              </a:rPr>
              <a:t>,</a:t>
            </a:r>
            <a:r>
              <a:rPr lang="zh-CN" altLang="en-US" sz="2000" dirty="0" smtClean="0">
                <a:solidFill>
                  <a:srgbClr val="FF0000"/>
                </a:solidFill>
                <a:latin typeface="楷体" panose="02010609060101010101" pitchFamily="49" charset="-122"/>
                <a:ea typeface="楷体" panose="02010609060101010101" pitchFamily="49" charset="-122"/>
              </a:rPr>
              <a:t>第一个响应周期</a:t>
            </a:r>
            <a:r>
              <a:rPr lang="zh-CN" altLang="en-US" sz="2000" dirty="0" smtClean="0">
                <a:latin typeface="楷体" panose="02010609060101010101" pitchFamily="49" charset="-122"/>
                <a:ea typeface="楷体" panose="02010609060101010101" pitchFamily="49" charset="-122"/>
              </a:rPr>
              <a:t>输出级联地址（若单片使用则为空周期），</a:t>
            </a:r>
            <a:r>
              <a:rPr lang="zh-CN" altLang="en-US" sz="2000" dirty="0" smtClean="0">
                <a:solidFill>
                  <a:srgbClr val="FF0000"/>
                </a:solidFill>
                <a:latin typeface="楷体" panose="02010609060101010101" pitchFamily="49" charset="-122"/>
                <a:ea typeface="楷体" panose="02010609060101010101" pitchFamily="49" charset="-122"/>
              </a:rPr>
              <a:t>第二个响应周期</a:t>
            </a:r>
            <a:r>
              <a:rPr lang="zh-CN" altLang="en-US" sz="2000" dirty="0">
                <a:latin typeface="楷体" panose="02010609060101010101" pitchFamily="49" charset="-122"/>
                <a:ea typeface="楷体" panose="02010609060101010101" pitchFamily="49" charset="-122"/>
              </a:rPr>
              <a:t>的</a:t>
            </a:r>
            <a:r>
              <a:rPr lang="en-US" altLang="zh-CN" sz="2000" dirty="0">
                <a:latin typeface="楷体" panose="02010609060101010101" pitchFamily="49" charset="-122"/>
                <a:ea typeface="楷体" panose="02010609060101010101" pitchFamily="49" charset="-122"/>
              </a:rPr>
              <a:t>T4</a:t>
            </a:r>
            <a:r>
              <a:rPr lang="zh-CN" altLang="en-US" sz="2000" dirty="0">
                <a:latin typeface="楷体" panose="02010609060101010101" pitchFamily="49" charset="-122"/>
                <a:ea typeface="楷体" panose="02010609060101010101" pitchFamily="49" charset="-122"/>
              </a:rPr>
              <a:t>状态前沿</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读取数据线获取由外设输入的中断类型码</a:t>
            </a:r>
          </a:p>
        </p:txBody>
      </p:sp>
      <p:sp>
        <p:nvSpPr>
          <p:cNvPr id="6" name="矩形 5"/>
          <p:cNvSpPr/>
          <p:nvPr/>
        </p:nvSpPr>
        <p:spPr>
          <a:xfrm>
            <a:off x="303673" y="5664390"/>
            <a:ext cx="8618384" cy="830997"/>
          </a:xfrm>
          <a:prstGeom prst="rect">
            <a:avLst/>
          </a:prstGeom>
        </p:spPr>
        <p:txBody>
          <a:bodyPr wrap="square">
            <a:spAutoFit/>
          </a:bodyPr>
          <a:lstStyle/>
          <a:p>
            <a:pPr indent="504000">
              <a:lnSpc>
                <a:spcPct val="120000"/>
              </a:lnSpc>
              <a:buClr>
                <a:srgbClr val="0BD0D9"/>
              </a:buClr>
              <a:buSzPct val="95000"/>
            </a:pPr>
            <a:r>
              <a:rPr lang="zh-CN" altLang="en-US" sz="2000" dirty="0">
                <a:solidFill>
                  <a:srgbClr val="3333FF"/>
                </a:solidFill>
                <a:latin typeface="楷体" panose="02010609060101010101" pitchFamily="49" charset="-122"/>
                <a:ea typeface="楷体" panose="02010609060101010101" pitchFamily="49" charset="-122"/>
              </a:rPr>
              <a:t>若是非屏蔽中断请求</a:t>
            </a:r>
            <a:r>
              <a:rPr lang="zh-CN" altLang="en-US" sz="2000" dirty="0">
                <a:latin typeface="楷体" panose="02010609060101010101" pitchFamily="49" charset="-122"/>
                <a:ea typeface="楷体" panose="02010609060101010101" pitchFamily="49" charset="-122"/>
              </a:rPr>
              <a:t>，则</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不经过上述的两个中断</a:t>
            </a:r>
            <a:r>
              <a:rPr lang="zh-CN" altLang="en-US" sz="2000" dirty="0" smtClean="0">
                <a:latin typeface="楷体" panose="02010609060101010101" pitchFamily="49" charset="-122"/>
                <a:ea typeface="楷体" panose="02010609060101010101" pitchFamily="49" charset="-122"/>
              </a:rPr>
              <a:t>响应周期</a:t>
            </a:r>
            <a:r>
              <a:rPr lang="zh-CN" altLang="en-US" sz="2000" dirty="0">
                <a:latin typeface="楷体" panose="02010609060101010101" pitchFamily="49" charset="-122"/>
                <a:ea typeface="楷体" panose="02010609060101010101" pitchFamily="49" charset="-122"/>
              </a:rPr>
              <a:t>，而在内部自动产生中断类型码</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92541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8511" y="1291246"/>
            <a:ext cx="3262432" cy="461665"/>
          </a:xfrm>
          <a:prstGeom prst="rect">
            <a:avLst/>
          </a:prstGeom>
        </p:spPr>
        <p:txBody>
          <a:bodyPr wrap="none">
            <a:spAutoFit/>
          </a:bodyPr>
          <a:lstStyle/>
          <a:p>
            <a:pPr>
              <a:spcBef>
                <a:spcPct val="0"/>
              </a:spcBef>
            </a:pPr>
            <a:r>
              <a:rPr lang="en-US" altLang="zh-CN" sz="2400" dirty="0" smtClean="0">
                <a:latin typeface="楷体" panose="02010609060101010101" pitchFamily="49" charset="-122"/>
                <a:ea typeface="楷体" panose="02010609060101010101" pitchFamily="49" charset="-122"/>
                <a:cs typeface="Times New Roman" panose="02020603050405020304" pitchFamily="18" charset="0"/>
              </a:rPr>
              <a:t>7 </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中断</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响应和处理过程</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p:pic>
        <p:nvPicPr>
          <p:cNvPr id="3"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18" y="1917577"/>
            <a:ext cx="2688197" cy="467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a:spLocks noChangeArrowheads="1"/>
          </p:cNvSpPr>
          <p:nvPr/>
        </p:nvSpPr>
        <p:spPr bwMode="auto">
          <a:xfrm>
            <a:off x="3824072" y="1632631"/>
            <a:ext cx="4327807" cy="830997"/>
          </a:xfrm>
          <a:prstGeom prst="rect">
            <a:avLst/>
          </a:prstGeom>
        </p:spPr>
        <p:txBody>
          <a:bodyPr wrap="square">
            <a:spAutoFit/>
          </a:bodyPr>
          <a:lstStyle/>
          <a:p>
            <a:pPr indent="504000">
              <a:lnSpc>
                <a:spcPct val="120000"/>
              </a:lnSpc>
              <a:buClr>
                <a:srgbClr val="0BD0D9"/>
              </a:buClr>
              <a:buSzPct val="95000"/>
            </a:pPr>
            <a:r>
              <a:rPr lang="zh-CN" altLang="en-US" sz="2000" dirty="0" smtClean="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1</a:t>
            </a:r>
            <a:r>
              <a:rPr lang="zh-CN" altLang="en-US" sz="2000" dirty="0" smtClean="0">
                <a:latin typeface="楷体" panose="02010609060101010101" pitchFamily="49" charset="-122"/>
                <a:ea typeface="楷体" panose="02010609060101010101" pitchFamily="49" charset="-122"/>
              </a:rPr>
              <a:t>）</a:t>
            </a:r>
            <a:r>
              <a:rPr lang="zh-CN" altLang="en-US" sz="2000" dirty="0" smtClean="0">
                <a:solidFill>
                  <a:srgbClr val="FF0000"/>
                </a:solidFill>
                <a:latin typeface="楷体" panose="02010609060101010101" pitchFamily="49" charset="-122"/>
                <a:ea typeface="楷体" panose="02010609060101010101" pitchFamily="49" charset="-122"/>
              </a:rPr>
              <a:t>获取</a:t>
            </a:r>
            <a:r>
              <a:rPr lang="zh-CN" altLang="en-US" sz="2000" dirty="0">
                <a:solidFill>
                  <a:srgbClr val="FF0000"/>
                </a:solidFill>
                <a:latin typeface="楷体" panose="02010609060101010101" pitchFamily="49" charset="-122"/>
                <a:ea typeface="楷体" panose="02010609060101010101" pitchFamily="49" charset="-122"/>
              </a:rPr>
              <a:t>中断类型码</a:t>
            </a:r>
            <a:r>
              <a:rPr lang="zh-CN" altLang="en-US" sz="2000" dirty="0">
                <a:latin typeface="楷体" panose="02010609060101010101" pitchFamily="49" charset="-122"/>
                <a:ea typeface="楷体" panose="02010609060101010101" pitchFamily="49" charset="-122"/>
              </a:rPr>
              <a:t>，生成中断向量表或中断描述符</a:t>
            </a:r>
            <a:r>
              <a:rPr lang="zh-CN" altLang="en-US" sz="2000" dirty="0" smtClean="0">
                <a:latin typeface="楷体" panose="02010609060101010101" pitchFamily="49" charset="-122"/>
                <a:ea typeface="楷体" panose="02010609060101010101" pitchFamily="49" charset="-122"/>
              </a:rPr>
              <a:t>表的</a:t>
            </a:r>
            <a:r>
              <a:rPr lang="zh-CN" altLang="en-US" sz="2000" dirty="0">
                <a:latin typeface="楷体" panose="02010609060101010101" pitchFamily="49" charset="-122"/>
                <a:ea typeface="楷体" panose="02010609060101010101" pitchFamily="49" charset="-122"/>
              </a:rPr>
              <a:t>位移量  </a:t>
            </a:r>
          </a:p>
        </p:txBody>
      </p:sp>
      <p:sp>
        <p:nvSpPr>
          <p:cNvPr id="5" name="Rectangle 8"/>
          <p:cNvSpPr>
            <a:spLocks noChangeArrowheads="1"/>
          </p:cNvSpPr>
          <p:nvPr/>
        </p:nvSpPr>
        <p:spPr bwMode="auto">
          <a:xfrm>
            <a:off x="3819309" y="2575686"/>
            <a:ext cx="4330391" cy="830997"/>
          </a:xfrm>
          <a:prstGeom prst="rect">
            <a:avLst/>
          </a:prstGeom>
        </p:spPr>
        <p:txBody>
          <a:bodyPr wrap="square">
            <a:spAutoFit/>
          </a:bodyPr>
          <a:lstStyle/>
          <a:p>
            <a:pPr indent="504000">
              <a:lnSpc>
                <a:spcPct val="120000"/>
              </a:lnSpc>
              <a:buClr>
                <a:srgbClr val="0BD0D9"/>
              </a:buClr>
              <a:buSzPct val="95000"/>
            </a:pPr>
            <a:r>
              <a:rPr lang="zh-CN" altLang="en-US" sz="2000" dirty="0" smtClean="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2</a:t>
            </a:r>
            <a:r>
              <a:rPr lang="zh-CN" altLang="en-US" sz="2000" dirty="0" smtClean="0">
                <a:latin typeface="楷体" panose="02010609060101010101" pitchFamily="49" charset="-122"/>
                <a:ea typeface="楷体" panose="02010609060101010101" pitchFamily="49" charset="-122"/>
              </a:rPr>
              <a:t>）把</a:t>
            </a:r>
            <a:r>
              <a:rPr lang="en-US" altLang="zh-CN" sz="2000" dirty="0">
                <a:latin typeface="楷体" panose="02010609060101010101" pitchFamily="49" charset="-122"/>
                <a:ea typeface="楷体" panose="02010609060101010101" pitchFamily="49" charset="-122"/>
              </a:rPr>
              <a:t>CPU</a:t>
            </a:r>
            <a:r>
              <a:rPr lang="zh-CN" altLang="en-US" sz="2000" dirty="0">
                <a:latin typeface="楷体" panose="02010609060101010101" pitchFamily="49" charset="-122"/>
                <a:ea typeface="楷体" panose="02010609060101010101" pitchFamily="49" charset="-122"/>
              </a:rPr>
              <a:t>的</a:t>
            </a:r>
            <a:r>
              <a:rPr lang="zh-CN" altLang="en-US" sz="2000" dirty="0">
                <a:solidFill>
                  <a:srgbClr val="FF0000"/>
                </a:solidFill>
                <a:latin typeface="楷体" panose="02010609060101010101" pitchFamily="49" charset="-122"/>
                <a:ea typeface="楷体" panose="02010609060101010101" pitchFamily="49" charset="-122"/>
              </a:rPr>
              <a:t>标志寄存器进栈</a:t>
            </a:r>
            <a:r>
              <a:rPr lang="zh-CN" altLang="en-US" sz="2000" dirty="0">
                <a:latin typeface="楷体" panose="02010609060101010101" pitchFamily="49" charset="-122"/>
                <a:ea typeface="楷体" panose="02010609060101010101" pitchFamily="49" charset="-122"/>
              </a:rPr>
              <a:t>，保护各个标志位</a:t>
            </a:r>
          </a:p>
        </p:txBody>
      </p:sp>
      <p:sp>
        <p:nvSpPr>
          <p:cNvPr id="6" name="Rectangle 9"/>
          <p:cNvSpPr>
            <a:spLocks noChangeArrowheads="1"/>
          </p:cNvSpPr>
          <p:nvPr/>
        </p:nvSpPr>
        <p:spPr bwMode="auto">
          <a:xfrm>
            <a:off x="3819309" y="3567794"/>
            <a:ext cx="4330391" cy="830997"/>
          </a:xfrm>
          <a:prstGeom prst="rect">
            <a:avLst/>
          </a:prstGeom>
        </p:spPr>
        <p:txBody>
          <a:bodyPr wrap="square">
            <a:spAutoFit/>
          </a:bodyPr>
          <a:lstStyle/>
          <a:p>
            <a:pPr indent="504000">
              <a:lnSpc>
                <a:spcPct val="120000"/>
              </a:lnSpc>
              <a:buClr>
                <a:srgbClr val="0BD0D9"/>
              </a:buClr>
              <a:buSzPct val="95000"/>
            </a:pPr>
            <a:r>
              <a:rPr lang="zh-CN" altLang="en-US" sz="2000" dirty="0" smtClean="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3</a:t>
            </a:r>
            <a:r>
              <a:rPr lang="zh-CN" altLang="en-US" sz="2000" dirty="0" smtClean="0">
                <a:latin typeface="楷体" panose="02010609060101010101" pitchFamily="49" charset="-122"/>
                <a:ea typeface="楷体" panose="02010609060101010101" pitchFamily="49" charset="-122"/>
              </a:rPr>
              <a:t>）</a:t>
            </a:r>
            <a:r>
              <a:rPr lang="zh-CN" altLang="en-US" sz="2000" dirty="0" smtClean="0">
                <a:solidFill>
                  <a:srgbClr val="FF0000"/>
                </a:solidFill>
                <a:latin typeface="楷体" panose="02010609060101010101" pitchFamily="49" charset="-122"/>
                <a:ea typeface="楷体" panose="02010609060101010101" pitchFamily="49" charset="-122"/>
              </a:rPr>
              <a:t>清除</a:t>
            </a:r>
            <a:r>
              <a:rPr lang="en-US" altLang="zh-CN" sz="2000" dirty="0">
                <a:solidFill>
                  <a:srgbClr val="FF0000"/>
                </a:solidFill>
                <a:latin typeface="楷体" panose="02010609060101010101" pitchFamily="49" charset="-122"/>
                <a:ea typeface="楷体" panose="02010609060101010101" pitchFamily="49" charset="-122"/>
              </a:rPr>
              <a:t>IF</a:t>
            </a:r>
            <a:r>
              <a:rPr lang="zh-CN" altLang="en-US" sz="2000" dirty="0">
                <a:solidFill>
                  <a:srgbClr val="FF0000"/>
                </a:solidFill>
                <a:latin typeface="楷体" panose="02010609060101010101" pitchFamily="49" charset="-122"/>
                <a:ea typeface="楷体" panose="02010609060101010101" pitchFamily="49" charset="-122"/>
              </a:rPr>
              <a:t>和</a:t>
            </a:r>
            <a:r>
              <a:rPr lang="en-US" altLang="zh-CN" sz="2000" dirty="0">
                <a:solidFill>
                  <a:srgbClr val="FF0000"/>
                </a:solidFill>
                <a:latin typeface="楷体" panose="02010609060101010101" pitchFamily="49" charset="-122"/>
                <a:ea typeface="楷体" panose="02010609060101010101" pitchFamily="49" charset="-122"/>
              </a:rPr>
              <a:t>TF</a:t>
            </a:r>
            <a:r>
              <a:rPr lang="zh-CN" altLang="en-US" sz="2000" dirty="0">
                <a:solidFill>
                  <a:srgbClr val="FF0000"/>
                </a:solidFill>
                <a:latin typeface="楷体" panose="02010609060101010101" pitchFamily="49" charset="-122"/>
                <a:ea typeface="楷体" panose="02010609060101010101" pitchFamily="49" charset="-122"/>
              </a:rPr>
              <a:t>标志</a:t>
            </a:r>
            <a:r>
              <a:rPr lang="zh-CN" altLang="en-US" sz="2000" dirty="0">
                <a:latin typeface="楷体" panose="02010609060101010101" pitchFamily="49" charset="-122"/>
                <a:ea typeface="楷体" panose="02010609060101010101" pitchFamily="49" charset="-122"/>
              </a:rPr>
              <a:t>，屏蔽</a:t>
            </a:r>
            <a:r>
              <a:rPr lang="en-US" altLang="zh-CN" sz="2000" dirty="0">
                <a:latin typeface="楷体" panose="02010609060101010101" pitchFamily="49" charset="-122"/>
                <a:ea typeface="楷体" panose="02010609060101010101" pitchFamily="49" charset="-122"/>
              </a:rPr>
              <a:t>INTR</a:t>
            </a:r>
            <a:r>
              <a:rPr lang="zh-CN" altLang="en-US" sz="2000" dirty="0">
                <a:latin typeface="楷体" panose="02010609060101010101" pitchFamily="49" charset="-122"/>
                <a:ea typeface="楷体" panose="02010609060101010101" pitchFamily="49" charset="-122"/>
              </a:rPr>
              <a:t>中断和单步中断； </a:t>
            </a:r>
          </a:p>
        </p:txBody>
      </p:sp>
      <p:sp>
        <p:nvSpPr>
          <p:cNvPr id="7" name="Rectangle 10"/>
          <p:cNvSpPr>
            <a:spLocks noChangeArrowheads="1"/>
          </p:cNvSpPr>
          <p:nvPr/>
        </p:nvSpPr>
        <p:spPr bwMode="auto">
          <a:xfrm>
            <a:off x="3827061" y="4559902"/>
            <a:ext cx="4322639" cy="830997"/>
          </a:xfrm>
          <a:prstGeom prst="rect">
            <a:avLst/>
          </a:prstGeom>
        </p:spPr>
        <p:txBody>
          <a:bodyPr wrap="square">
            <a:spAutoFit/>
          </a:bodyPr>
          <a:lstStyle/>
          <a:p>
            <a:pPr indent="504000">
              <a:lnSpc>
                <a:spcPct val="120000"/>
              </a:lnSpc>
              <a:buClr>
                <a:srgbClr val="0BD0D9"/>
              </a:buClr>
              <a:buSzPct val="95000"/>
            </a:pPr>
            <a:r>
              <a:rPr lang="zh-CN" altLang="en-US" sz="2000" dirty="0" smtClean="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4</a:t>
            </a:r>
            <a:r>
              <a:rPr lang="zh-CN" altLang="en-US" sz="2000" dirty="0" smtClean="0">
                <a:latin typeface="楷体" panose="02010609060101010101" pitchFamily="49" charset="-122"/>
                <a:ea typeface="楷体" panose="02010609060101010101" pitchFamily="49" charset="-122"/>
              </a:rPr>
              <a:t>）保存</a:t>
            </a:r>
            <a:r>
              <a:rPr lang="zh-CN" altLang="en-US" sz="2000" dirty="0">
                <a:latin typeface="楷体" panose="02010609060101010101" pitchFamily="49" charset="-122"/>
                <a:ea typeface="楷体" panose="02010609060101010101" pitchFamily="49" charset="-122"/>
              </a:rPr>
              <a:t>被中断程序的</a:t>
            </a:r>
            <a:r>
              <a:rPr lang="zh-CN" altLang="en-US" sz="2000" dirty="0" smtClean="0">
                <a:latin typeface="楷体" panose="02010609060101010101" pitchFamily="49" charset="-122"/>
                <a:ea typeface="楷体" panose="02010609060101010101" pitchFamily="49" charset="-122"/>
              </a:rPr>
              <a:t>断点，</a:t>
            </a:r>
            <a:r>
              <a:rPr lang="zh-CN" altLang="en-US" sz="2000" dirty="0" smtClean="0">
                <a:solidFill>
                  <a:srgbClr val="FF0000"/>
                </a:solidFill>
                <a:latin typeface="楷体" panose="02010609060101010101" pitchFamily="49" charset="-122"/>
                <a:ea typeface="楷体" panose="02010609060101010101" pitchFamily="49" charset="-122"/>
              </a:rPr>
              <a:t>推</a:t>
            </a:r>
            <a:r>
              <a:rPr lang="zh-CN" altLang="en-US" sz="2000" dirty="0">
                <a:solidFill>
                  <a:srgbClr val="FF0000"/>
                </a:solidFill>
                <a:latin typeface="楷体" panose="02010609060101010101" pitchFamily="49" charset="-122"/>
                <a:ea typeface="楷体" panose="02010609060101010101" pitchFamily="49" charset="-122"/>
              </a:rPr>
              <a:t>入堆栈保护</a:t>
            </a:r>
            <a:r>
              <a:rPr lang="zh-CN" altLang="en-US" sz="2000" dirty="0">
                <a:latin typeface="楷体" panose="02010609060101010101" pitchFamily="49" charset="-122"/>
                <a:ea typeface="楷体" panose="02010609060101010101" pitchFamily="49" charset="-122"/>
              </a:rPr>
              <a:t>； </a:t>
            </a:r>
          </a:p>
        </p:txBody>
      </p:sp>
      <p:sp>
        <p:nvSpPr>
          <p:cNvPr id="8" name="Rectangle 11"/>
          <p:cNvSpPr>
            <a:spLocks noChangeArrowheads="1"/>
          </p:cNvSpPr>
          <p:nvPr/>
        </p:nvSpPr>
        <p:spPr bwMode="auto">
          <a:xfrm>
            <a:off x="3819309" y="5552010"/>
            <a:ext cx="4310582" cy="1151277"/>
          </a:xfrm>
          <a:prstGeom prst="rect">
            <a:avLst/>
          </a:prstGeom>
        </p:spPr>
        <p:txBody>
          <a:bodyPr wrap="square">
            <a:spAutoFit/>
          </a:bodyPr>
          <a:lstStyle/>
          <a:p>
            <a:pPr indent="504000">
              <a:lnSpc>
                <a:spcPct val="120000"/>
              </a:lnSpc>
              <a:buClr>
                <a:srgbClr val="0BD0D9"/>
              </a:buClr>
              <a:buSzPct val="95000"/>
            </a:pPr>
            <a:r>
              <a:rPr lang="zh-CN" altLang="en-US" sz="2000" dirty="0" smtClean="0">
                <a:latin typeface="楷体" panose="02010609060101010101" pitchFamily="49" charset="-122"/>
                <a:ea typeface="楷体" panose="02010609060101010101" pitchFamily="49" charset="-122"/>
              </a:rPr>
              <a:t>（</a:t>
            </a:r>
            <a:r>
              <a:rPr lang="en-US" altLang="zh-CN" sz="2000" dirty="0" smtClean="0">
                <a:latin typeface="楷体" panose="02010609060101010101" pitchFamily="49" charset="-122"/>
                <a:ea typeface="楷体" panose="02010609060101010101" pitchFamily="49" charset="-122"/>
              </a:rPr>
              <a:t>5</a:t>
            </a:r>
            <a:r>
              <a:rPr lang="zh-CN" altLang="en-US" sz="2000" dirty="0" smtClean="0">
                <a:latin typeface="楷体" panose="02010609060101010101" pitchFamily="49" charset="-122"/>
                <a:ea typeface="楷体" panose="02010609060101010101" pitchFamily="49" charset="-122"/>
              </a:rPr>
              <a:t>）从</a:t>
            </a:r>
            <a:r>
              <a:rPr lang="zh-CN" altLang="en-US" sz="2000" dirty="0">
                <a:latin typeface="楷体" panose="02010609060101010101" pitchFamily="49" charset="-122"/>
                <a:ea typeface="楷体" panose="02010609060101010101" pitchFamily="49" charset="-122"/>
              </a:rPr>
              <a:t>中断向量表或中断描述符表获取中断服务程序</a:t>
            </a:r>
            <a:r>
              <a:rPr lang="zh-CN" altLang="en-US" sz="2000" dirty="0" smtClean="0">
                <a:latin typeface="楷体" panose="02010609060101010101" pitchFamily="49" charset="-122"/>
                <a:ea typeface="楷体" panose="02010609060101010101" pitchFamily="49" charset="-122"/>
              </a:rPr>
              <a:t>的入口</a:t>
            </a:r>
            <a:r>
              <a:rPr lang="zh-CN" altLang="en-US" sz="2000" dirty="0">
                <a:latin typeface="楷体" panose="02010609060101010101" pitchFamily="49" charset="-122"/>
                <a:ea typeface="楷体" panose="02010609060101010101" pitchFamily="49" charset="-122"/>
              </a:rPr>
              <a:t>地址，</a:t>
            </a:r>
            <a:r>
              <a:rPr lang="zh-CN" altLang="en-US" sz="2000" dirty="0">
                <a:solidFill>
                  <a:srgbClr val="FF0000"/>
                </a:solidFill>
                <a:latin typeface="楷体" panose="02010609060101010101" pitchFamily="49" charset="-122"/>
                <a:ea typeface="楷体" panose="02010609060101010101" pitchFamily="49" charset="-122"/>
              </a:rPr>
              <a:t>进入被响应中断的中断服务程序</a:t>
            </a:r>
          </a:p>
        </p:txBody>
      </p:sp>
    </p:spTree>
    <p:extLst>
      <p:ext uri="{BB962C8B-B14F-4D97-AF65-F5344CB8AC3E}">
        <p14:creationId xmlns:p14="http://schemas.microsoft.com/office/powerpoint/2010/main" val="248329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121764" y="2146516"/>
            <a:ext cx="3151574" cy="845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80000"/>
              </a:lnSpc>
              <a:buClr>
                <a:srgbClr val="0BD0D9"/>
              </a:buClr>
              <a:buSzPct val="95000"/>
              <a:buFont typeface="Wingdings 2" panose="05020102010507070707" pitchFamily="18" charset="2"/>
              <a:buNone/>
            </a:pPr>
            <a:r>
              <a:rPr lang="zh-CN" altLang="en-US" b="1" dirty="0" smtClean="0">
                <a:latin typeface="楷体" panose="02010609060101010101" pitchFamily="49" charset="-122"/>
                <a:ea typeface="楷体" panose="02010609060101010101" pitchFamily="49" charset="-122"/>
              </a:rPr>
              <a:t>作业：</a:t>
            </a:r>
            <a:r>
              <a:rPr lang="en-US" altLang="zh-CN" b="1" dirty="0" smtClean="0">
                <a:latin typeface="楷体" panose="02010609060101010101" pitchFamily="49" charset="-122"/>
                <a:ea typeface="楷体" panose="02010609060101010101" pitchFamily="49" charset="-122"/>
              </a:rPr>
              <a:t>10.9   </a:t>
            </a:r>
          </a:p>
          <a:p>
            <a:pPr eaLnBrk="1" hangingPunct="1">
              <a:lnSpc>
                <a:spcPct val="80000"/>
              </a:lnSpc>
              <a:buClr>
                <a:srgbClr val="0BD0D9"/>
              </a:buClr>
              <a:buSzPct val="95000"/>
              <a:buFont typeface="Wingdings 2" panose="05020102010507070707" pitchFamily="18" charset="2"/>
              <a:buNone/>
            </a:pPr>
            <a:r>
              <a:rPr lang="en-US" altLang="zh-CN" b="1" dirty="0">
                <a:latin typeface="楷体" panose="02010609060101010101" pitchFamily="49" charset="-122"/>
                <a:ea typeface="楷体" panose="02010609060101010101" pitchFamily="49" charset="-122"/>
              </a:rPr>
              <a:t> </a:t>
            </a:r>
            <a:r>
              <a:rPr lang="en-US" altLang="zh-CN" b="1" dirty="0" smtClean="0">
                <a:latin typeface="楷体" panose="02010609060101010101" pitchFamily="49" charset="-122"/>
                <a:ea typeface="楷体" panose="02010609060101010101" pitchFamily="49" charset="-122"/>
              </a:rPr>
              <a:t>     10.12</a:t>
            </a:r>
            <a:r>
              <a:rPr lang="zh-CN" altLang="en-US" b="1" dirty="0" smtClean="0">
                <a:latin typeface="楷体" panose="02010609060101010101" pitchFamily="49" charset="-122"/>
                <a:ea typeface="楷体" panose="02010609060101010101" pitchFamily="49" charset="-122"/>
              </a:rPr>
              <a:t> </a:t>
            </a:r>
            <a:endParaRPr lang="zh-CN" altLang="en-US"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38579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1071</TotalTime>
  <Words>3482</Words>
  <Application>Microsoft Office PowerPoint</Application>
  <PresentationFormat>全屏显示(4:3)</PresentationFormat>
  <Paragraphs>248</Paragraphs>
  <Slides>38</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38</vt:i4>
      </vt:variant>
    </vt:vector>
  </HeadingPairs>
  <TitlesOfParts>
    <vt:vector size="54" baseType="lpstr">
      <vt:lpstr>等线</vt:lpstr>
      <vt:lpstr>等线 Light</vt:lpstr>
      <vt:lpstr>华文楷体</vt:lpstr>
      <vt:lpstr>楷体</vt:lpstr>
      <vt:lpstr>楷体_GB2312</vt:lpstr>
      <vt:lpstr>宋体</vt:lpstr>
      <vt:lpstr>微软雅黑</vt:lpstr>
      <vt:lpstr>Arial</vt:lpstr>
      <vt:lpstr>Calibri</vt:lpstr>
      <vt:lpstr>Calibri Light</vt:lpstr>
      <vt:lpstr>Times New Roman</vt:lpstr>
      <vt:lpstr>Wingdings</vt:lpstr>
      <vt:lpstr>Wingdings 2</vt:lpstr>
      <vt:lpstr>Office 主题</vt:lpstr>
      <vt:lpstr>位图图像</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Enjia Deng</dc:creator>
  <cp:lastModifiedBy>陈佩</cp:lastModifiedBy>
  <cp:revision>18</cp:revision>
  <dcterms:created xsi:type="dcterms:W3CDTF">2020-03-31T02:45:39Z</dcterms:created>
  <dcterms:modified xsi:type="dcterms:W3CDTF">2020-11-11T01:05:30Z</dcterms:modified>
</cp:coreProperties>
</file>