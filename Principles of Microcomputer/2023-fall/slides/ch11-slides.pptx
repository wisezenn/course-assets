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9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309" r:id="rId35"/>
    <p:sldId id="310" r:id="rId36"/>
    <p:sldId id="311" r:id="rId37"/>
    <p:sldId id="312" r:id="rId38"/>
    <p:sldId id="313" r:id="rId39"/>
    <p:sldId id="316" r:id="rId40"/>
    <p:sldId id="315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4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96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1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4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7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3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05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14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41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4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263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6606-9BAD-42CC-8403-7B224A35E75E}" type="datetimeFigureOut">
              <a:rPr lang="zh-CN" altLang="en-US" smtClean="0"/>
              <a:t>2020/11/15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5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7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72D32F27-61CF-44B4-A758-0E942AB12FB7}"/>
              </a:ext>
            </a:extLst>
          </p:cNvPr>
          <p:cNvSpPr txBox="1"/>
          <p:nvPr/>
        </p:nvSpPr>
        <p:spPr>
          <a:xfrm>
            <a:off x="686449" y="1392990"/>
            <a:ext cx="8229600" cy="928688"/>
          </a:xfrm>
          <a:prstGeom prst="rect">
            <a:avLst/>
          </a:prstGeom>
        </p:spPr>
        <p:txBody>
          <a:bodyPr anchor="ctr"/>
          <a:lstStyle>
            <a:lvl1pPr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defRPr/>
            </a:pPr>
            <a:r>
              <a:rPr lang="zh-CN" altLang="en-US" sz="41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第十</a:t>
            </a:r>
            <a:r>
              <a:rPr lang="zh-CN" altLang="en-US" sz="4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41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章 </a:t>
            </a:r>
            <a:r>
              <a:rPr lang="zh-CN" altLang="en-US" sz="41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常用可编程接口芯片</a:t>
            </a:r>
            <a:endParaRPr lang="zh-CN" altLang="en-US" sz="41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78"/>
          <p:cNvSpPr>
            <a:spLocks noChangeArrowheads="1"/>
          </p:cNvSpPr>
          <p:nvPr/>
        </p:nvSpPr>
        <p:spPr bwMode="auto">
          <a:xfrm>
            <a:off x="1948355" y="2860904"/>
            <a:ext cx="5705789" cy="609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cap="rnd">
            <a:solidFill>
              <a:srgbClr val="620062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endParaRPr lang="zh-CN" altLang="en-US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Rectangle 80"/>
          <p:cNvSpPr>
            <a:spLocks noChangeArrowheads="1"/>
          </p:cNvSpPr>
          <p:nvPr/>
        </p:nvSpPr>
        <p:spPr bwMode="auto">
          <a:xfrm>
            <a:off x="1948356" y="3967250"/>
            <a:ext cx="5705788" cy="609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cap="rnd">
            <a:solidFill>
              <a:srgbClr val="620062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endParaRPr lang="zh-CN" altLang="en-US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Rectangle 84"/>
          <p:cNvSpPr>
            <a:spLocks noChangeArrowheads="1"/>
          </p:cNvSpPr>
          <p:nvPr/>
        </p:nvSpPr>
        <p:spPr bwMode="auto">
          <a:xfrm>
            <a:off x="1948356" y="3967250"/>
            <a:ext cx="1099432" cy="609600"/>
          </a:xfrm>
          <a:prstGeom prst="rect">
            <a:avLst/>
          </a:prstGeom>
          <a:gradFill rotWithShape="0">
            <a:gsLst>
              <a:gs pos="0">
                <a:srgbClr val="F9F9F9"/>
              </a:gs>
              <a:gs pos="100000">
                <a:srgbClr val="C0C0C0"/>
              </a:gs>
            </a:gsLst>
            <a:path path="shape">
              <a:fillToRect l="50000" t="50000" r="50000" b="50000"/>
            </a:path>
          </a:gradFill>
          <a:ln w="9525" cap="rnd">
            <a:solidFill>
              <a:srgbClr val="620062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 altLang="ko-KR" sz="30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8" name="Text Box 87"/>
          <p:cNvSpPr txBox="1">
            <a:spLocks noChangeArrowheads="1"/>
          </p:cNvSpPr>
          <p:nvPr/>
        </p:nvSpPr>
        <p:spPr bwMode="auto">
          <a:xfrm>
            <a:off x="3090074" y="2926531"/>
            <a:ext cx="337143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可编程并行接口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8255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 Box 88"/>
          <p:cNvSpPr txBox="1">
            <a:spLocks noChangeArrowheads="1"/>
          </p:cNvSpPr>
          <p:nvPr/>
        </p:nvSpPr>
        <p:spPr bwMode="auto">
          <a:xfrm>
            <a:off x="3047788" y="4080410"/>
            <a:ext cx="4269117" cy="48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可编程计数器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定时器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8253</a:t>
            </a:r>
          </a:p>
        </p:txBody>
      </p:sp>
      <p:sp>
        <p:nvSpPr>
          <p:cNvPr id="14" name="Rectangle 77"/>
          <p:cNvSpPr>
            <a:spLocks noChangeArrowheads="1"/>
          </p:cNvSpPr>
          <p:nvPr/>
        </p:nvSpPr>
        <p:spPr bwMode="auto">
          <a:xfrm>
            <a:off x="1951743" y="2870429"/>
            <a:ext cx="1099432" cy="609600"/>
          </a:xfrm>
          <a:prstGeom prst="rect">
            <a:avLst/>
          </a:prstGeom>
          <a:gradFill rotWithShape="0">
            <a:gsLst>
              <a:gs pos="0">
                <a:srgbClr val="F9F9F9"/>
              </a:gs>
              <a:gs pos="100000">
                <a:srgbClr val="C0C0C0"/>
              </a:gs>
            </a:gsLst>
            <a:path path="shape">
              <a:fillToRect l="50000" t="50000" r="50000" b="50000"/>
            </a:path>
          </a:gradFill>
          <a:ln w="9525" cap="rnd">
            <a:solidFill>
              <a:srgbClr val="620062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 altLang="ko-KR" sz="300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936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2064057" y="330869"/>
            <a:ext cx="5819313" cy="663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42000" tIns="46800" rIns="89966" bIns="1440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11.1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可编程并行接口</a:t>
            </a:r>
            <a:r>
              <a:rPr lang="en-US" altLang="zh-CN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8255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/>
          </p:cNvSpPr>
          <p:nvPr/>
        </p:nvSpPr>
        <p:spPr bwMode="auto">
          <a:xfrm>
            <a:off x="628111" y="2333364"/>
            <a:ext cx="82296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65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8255</a:t>
            </a:r>
            <a:r>
              <a:rPr lang="zh-CN" altLang="en-US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是为</a:t>
            </a:r>
            <a:r>
              <a:rPr lang="en-US" altLang="zh-CN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8080</a:t>
            </a:r>
            <a:r>
              <a:rPr lang="zh-CN" altLang="en-US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8085</a:t>
            </a:r>
            <a:r>
              <a:rPr lang="zh-CN" altLang="en-US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微型机系统设计的</a:t>
            </a:r>
            <a:r>
              <a:rPr lang="zh-CN" altLang="en-US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并行</a:t>
            </a:r>
            <a:r>
              <a:rPr lang="en-US" altLang="zh-CN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r>
              <a:rPr lang="zh-CN" altLang="en-US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芯片。</a:t>
            </a:r>
          </a:p>
        </p:txBody>
      </p:sp>
    </p:spTree>
    <p:extLst>
      <p:ext uri="{BB962C8B-B14F-4D97-AF65-F5344CB8AC3E}">
        <p14:creationId xmlns:p14="http://schemas.microsoft.com/office/powerpoint/2010/main" val="273599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8485" y="1335635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的组成与接口信号</a:t>
            </a: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440318"/>
              </p:ext>
            </p:extLst>
          </p:nvPr>
        </p:nvGraphicFramePr>
        <p:xfrm>
          <a:off x="854723" y="2012893"/>
          <a:ext cx="6229658" cy="4354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3" imgW="5272735" imgH="3508858" progId="Visio.Drawing.11">
                  <p:embed/>
                </p:oleObj>
              </mc:Choice>
              <mc:Fallback>
                <p:oleObj name="Visio" r:id="rId3" imgW="5272735" imgH="3508858" progId="Visio.Drawing.11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23" y="2012893"/>
                        <a:ext cx="6229658" cy="4354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064057" y="330869"/>
            <a:ext cx="5819313" cy="663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42000" tIns="46800" rIns="89966" bIns="1440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11.1.1 8255</a:t>
            </a:r>
            <a:r>
              <a:rPr lang="zh-CN" alt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的组成与接口信号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6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553988"/>
              </p:ext>
            </p:extLst>
          </p:nvPr>
        </p:nvGraphicFramePr>
        <p:xfrm>
          <a:off x="490737" y="1183011"/>
          <a:ext cx="74168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Visio" r:id="rId3" imgW="5272735" imgH="3508858" progId="Visio.Drawing.11">
                  <p:embed/>
                </p:oleObj>
              </mc:Choice>
              <mc:Fallback>
                <p:oleObj name="Visio" r:id="rId3" imgW="5272735" imgH="3508858" progId="Visio.Drawing.11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37" y="1183011"/>
                        <a:ext cx="74168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B110BC1-89EE-45D7-B121-1F13153F9B26}"/>
              </a:ext>
            </a:extLst>
          </p:cNvPr>
          <p:cNvSpPr/>
          <p:nvPr/>
        </p:nvSpPr>
        <p:spPr>
          <a:xfrm>
            <a:off x="4630937" y="1383036"/>
            <a:ext cx="1728788" cy="45370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949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5121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端口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、端口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3" name="矩形 2"/>
          <p:cNvSpPr/>
          <p:nvPr/>
        </p:nvSpPr>
        <p:spPr>
          <a:xfrm>
            <a:off x="565881" y="2206660"/>
            <a:ext cx="8063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A(Port A)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B(Port 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C(Port C)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位的端口，都可以选择作为输入或输出。</a:t>
            </a:r>
          </a:p>
        </p:txBody>
      </p:sp>
      <p:sp>
        <p:nvSpPr>
          <p:cNvPr id="4" name="矩形 3"/>
          <p:cNvSpPr/>
          <p:nvPr/>
        </p:nvSpPr>
        <p:spPr>
          <a:xfrm>
            <a:off x="565881" y="3407663"/>
            <a:ext cx="8063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可以将端口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位和低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位分开使用，分别作为输入和输出。</a:t>
            </a:r>
          </a:p>
        </p:txBody>
      </p:sp>
      <p:sp>
        <p:nvSpPr>
          <p:cNvPr id="5" name="矩形 4"/>
          <p:cNvSpPr/>
          <p:nvPr/>
        </p:nvSpPr>
        <p:spPr>
          <a:xfrm>
            <a:off x="565881" y="4608666"/>
            <a:ext cx="8063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作为选通输入或输出的数据端口时，端口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的指定位与端口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配合使用，用作控制信号或状态信号。</a:t>
            </a:r>
          </a:p>
        </p:txBody>
      </p:sp>
    </p:spTree>
    <p:extLst>
      <p:ext uri="{BB962C8B-B14F-4D97-AF65-F5344CB8AC3E}">
        <p14:creationId xmlns:p14="http://schemas.microsoft.com/office/powerpoint/2010/main" val="204652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490737" y="1183011"/>
          <a:ext cx="74168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Visio" r:id="rId3" imgW="5272735" imgH="3508858" progId="Visio.Drawing.11">
                  <p:embed/>
                </p:oleObj>
              </mc:Choice>
              <mc:Fallback>
                <p:oleObj name="Visio" r:id="rId3" imgW="5272735" imgH="3508858" progId="Visio.Drawing.11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37" y="1183011"/>
                        <a:ext cx="74168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B110BC1-89EE-45D7-B121-1F13153F9B26}"/>
              </a:ext>
            </a:extLst>
          </p:cNvPr>
          <p:cNvSpPr/>
          <p:nvPr/>
        </p:nvSpPr>
        <p:spPr>
          <a:xfrm>
            <a:off x="3086222" y="1183012"/>
            <a:ext cx="1539044" cy="471046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 w="381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62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3595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 A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组和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组控制电路</a:t>
            </a:r>
          </a:p>
        </p:txBody>
      </p:sp>
      <p:sp>
        <p:nvSpPr>
          <p:cNvPr id="3" name="矩形 2"/>
          <p:cNvSpPr/>
          <p:nvPr/>
        </p:nvSpPr>
        <p:spPr>
          <a:xfrm>
            <a:off x="580301" y="2411478"/>
            <a:ext cx="637065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的方式命令字控制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的工作方式。</a:t>
            </a:r>
          </a:p>
        </p:txBody>
      </p:sp>
      <p:sp>
        <p:nvSpPr>
          <p:cNvPr id="4" name="矩形 3"/>
          <p:cNvSpPr/>
          <p:nvPr/>
        </p:nvSpPr>
        <p:spPr>
          <a:xfrm>
            <a:off x="565881" y="3217857"/>
            <a:ext cx="7441777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的命令对端口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的每一位实现按位复位或置位。 </a:t>
            </a:r>
          </a:p>
        </p:txBody>
      </p:sp>
      <p:sp>
        <p:nvSpPr>
          <p:cNvPr id="5" name="矩形 4"/>
          <p:cNvSpPr/>
          <p:nvPr/>
        </p:nvSpPr>
        <p:spPr>
          <a:xfrm>
            <a:off x="580301" y="4025477"/>
            <a:ext cx="7338581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组控制电路控制端口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的上半部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(PC7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PC4)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580301" y="4830615"/>
            <a:ext cx="7601761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组控制电路控制端口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的下半部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(PC3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PC0)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2023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490737" y="1183011"/>
          <a:ext cx="74168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Visio" r:id="rId3" imgW="5272735" imgH="3508858" progId="Visio.Drawing.11">
                  <p:embed/>
                </p:oleObj>
              </mc:Choice>
              <mc:Fallback>
                <p:oleObj name="Visio" r:id="rId3" imgW="5272735" imgH="3508858" progId="Visio.Drawing.11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37" y="1183011"/>
                        <a:ext cx="74168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B110BC1-89EE-45D7-B121-1F13153F9B26}"/>
              </a:ext>
            </a:extLst>
          </p:cNvPr>
          <p:cNvSpPr/>
          <p:nvPr/>
        </p:nvSpPr>
        <p:spPr>
          <a:xfrm>
            <a:off x="1630284" y="3053918"/>
            <a:ext cx="1397001" cy="96766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 w="381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12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3711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数据总线缓冲器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80" y="2440353"/>
            <a:ext cx="804546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个三态双向的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位缓冲器，它是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与系统数据总线的接口。输入输出的数据以及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发出的命令控制字和外设的状态信息，都是通过这个缓冲器传送的。</a:t>
            </a:r>
          </a:p>
        </p:txBody>
      </p:sp>
    </p:spTree>
    <p:extLst>
      <p:ext uri="{BB962C8B-B14F-4D97-AF65-F5344CB8AC3E}">
        <p14:creationId xmlns:p14="http://schemas.microsoft.com/office/powerpoint/2010/main" val="89674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490737" y="1183011"/>
          <a:ext cx="74168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Visio" r:id="rId3" imgW="5272735" imgH="3508858" progId="Visio.Drawing.11">
                  <p:embed/>
                </p:oleObj>
              </mc:Choice>
              <mc:Fallback>
                <p:oleObj name="Visio" r:id="rId3" imgW="5272735" imgH="3508858" progId="Visio.Drawing.11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37" y="1183011"/>
                        <a:ext cx="74168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B110BC1-89EE-45D7-B121-1F13153F9B26}"/>
              </a:ext>
            </a:extLst>
          </p:cNvPr>
          <p:cNvSpPr/>
          <p:nvPr/>
        </p:nvSpPr>
        <p:spPr>
          <a:xfrm>
            <a:off x="1665795" y="4145870"/>
            <a:ext cx="1397001" cy="222191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 w="381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91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34385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写控制逻辑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4294" y="2428636"/>
            <a:ext cx="7844903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控制把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的控制命令或输出数据送至相应的端口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04293" y="3469587"/>
            <a:ext cx="7844903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buClr>
                <a:srgbClr val="0099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控制把外设的状态信息或输入数据通过相应的端口送至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36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34479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写控制逻辑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805" y="1936822"/>
            <a:ext cx="822664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A0 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端口选择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：用来选择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 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个端口和控制字寄存器。通常，它们与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微机的地址线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相连。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9805" y="5629163"/>
            <a:ext cx="822664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RESET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复位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信号：高电平有效，它清除控制寄存器，并置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 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个端口为输入方式。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39805" y="2766420"/>
            <a:ext cx="8226642" cy="1154162"/>
            <a:chOff x="739805" y="2766420"/>
            <a:chExt cx="7294486" cy="1154162"/>
          </a:xfrm>
        </p:grpSpPr>
        <p:sp>
          <p:nvSpPr>
            <p:cNvPr id="6" name="矩形 5"/>
            <p:cNvSpPr/>
            <p:nvPr/>
          </p:nvSpPr>
          <p:spPr>
            <a:xfrm>
              <a:off x="739805" y="2766420"/>
              <a:ext cx="7294486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CS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选片信号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：低电平有效，由它启动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与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8255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之间的通信。通常，它与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微机地址线的译码电路的输出线相连，并由该译码电路的输出线来确定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8255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的端口地址。</a:t>
              </a:r>
              <a:endPara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848898" y="2846322"/>
              <a:ext cx="20754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39805" y="3914567"/>
            <a:ext cx="8226642" cy="830997"/>
            <a:chOff x="739805" y="3914567"/>
            <a:chExt cx="7294486" cy="830997"/>
          </a:xfrm>
        </p:grpSpPr>
        <p:sp>
          <p:nvSpPr>
            <p:cNvPr id="9" name="矩形 8"/>
            <p:cNvSpPr/>
            <p:nvPr/>
          </p:nvSpPr>
          <p:spPr>
            <a:xfrm>
              <a:off x="739805" y="3914567"/>
              <a:ext cx="729448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RD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读信号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：低电平有效，它控制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8255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送出数据或状态信息至系统数据总线。通常，它与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微机的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IOR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相连。</a:t>
              </a:r>
              <a:endPara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840020" y="3993020"/>
              <a:ext cx="20754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39805" y="4771865"/>
            <a:ext cx="8226642" cy="830997"/>
            <a:chOff x="739805" y="4771865"/>
            <a:chExt cx="7294486" cy="830997"/>
          </a:xfrm>
        </p:grpSpPr>
        <p:sp>
          <p:nvSpPr>
            <p:cNvPr id="12" name="矩形 11"/>
            <p:cNvSpPr/>
            <p:nvPr/>
          </p:nvSpPr>
          <p:spPr>
            <a:xfrm>
              <a:off x="739805" y="4771865"/>
              <a:ext cx="729448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WR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写信号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：低电平有效，它控制把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输出到系统数据总线上的数据或命令写到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8255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。通常，它与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微机的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IOW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相连。</a:t>
              </a:r>
            </a:p>
          </p:txBody>
        </p:sp>
        <p:sp>
          <p:nvSpPr>
            <p:cNvPr id="13" name="Line 4"/>
            <p:cNvSpPr>
              <a:spLocks noChangeShapeType="1"/>
            </p:cNvSpPr>
            <p:nvPr/>
          </p:nvSpPr>
          <p:spPr bwMode="auto">
            <a:xfrm>
              <a:off x="848898" y="4854154"/>
              <a:ext cx="20754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150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313434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写控制逻辑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81" y="2045848"/>
            <a:ext cx="73148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Arial" panose="020B0604020202020204" pitchFamily="34" charset="0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及组合所实现的各种功能如下：</a:t>
            </a:r>
          </a:p>
        </p:txBody>
      </p:sp>
      <p:graphicFrame>
        <p:nvGraphicFramePr>
          <p:cNvPr id="4" name="Group 1052">
            <a:extLst>
              <a:ext uri="{FF2B5EF4-FFF2-40B4-BE49-F238E27FC236}">
                <a16:creationId xmlns:a16="http://schemas.microsoft.com/office/drawing/2014/main" id="{9C894887-39D8-478C-8EE4-846A788EA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523404"/>
              </p:ext>
            </p:extLst>
          </p:nvPr>
        </p:nvGraphicFramePr>
        <p:xfrm>
          <a:off x="889402" y="3014991"/>
          <a:ext cx="6991302" cy="3347002"/>
        </p:xfrm>
        <a:graphic>
          <a:graphicData uri="http://schemas.openxmlformats.org/drawingml/2006/table">
            <a:tbl>
              <a:tblPr/>
              <a:tblGrid>
                <a:gridCol w="792782">
                  <a:extLst>
                    <a:ext uri="{9D8B030D-6E8A-4147-A177-3AD203B41FA5}">
                      <a16:colId xmlns:a16="http://schemas.microsoft.com/office/drawing/2014/main" val="3622100586"/>
                    </a:ext>
                  </a:extLst>
                </a:gridCol>
                <a:gridCol w="865392">
                  <a:extLst>
                    <a:ext uri="{9D8B030D-6E8A-4147-A177-3AD203B41FA5}">
                      <a16:colId xmlns:a16="http://schemas.microsoft.com/office/drawing/2014/main" val="1467702514"/>
                    </a:ext>
                  </a:extLst>
                </a:gridCol>
                <a:gridCol w="863911">
                  <a:extLst>
                    <a:ext uri="{9D8B030D-6E8A-4147-A177-3AD203B41FA5}">
                      <a16:colId xmlns:a16="http://schemas.microsoft.com/office/drawing/2014/main" val="261150505"/>
                    </a:ext>
                  </a:extLst>
                </a:gridCol>
                <a:gridCol w="865392">
                  <a:extLst>
                    <a:ext uri="{9D8B030D-6E8A-4147-A177-3AD203B41FA5}">
                      <a16:colId xmlns:a16="http://schemas.microsoft.com/office/drawing/2014/main" val="135476977"/>
                    </a:ext>
                  </a:extLst>
                </a:gridCol>
                <a:gridCol w="865392">
                  <a:extLst>
                    <a:ext uri="{9D8B030D-6E8A-4147-A177-3AD203B41FA5}">
                      <a16:colId xmlns:a16="http://schemas.microsoft.com/office/drawing/2014/main" val="1456229935"/>
                    </a:ext>
                  </a:extLst>
                </a:gridCol>
                <a:gridCol w="2738433">
                  <a:extLst>
                    <a:ext uri="{9D8B030D-6E8A-4147-A177-3AD203B41FA5}">
                      <a16:colId xmlns:a16="http://schemas.microsoft.com/office/drawing/2014/main" val="2878815288"/>
                    </a:ext>
                  </a:extLst>
                </a:gridCol>
              </a:tblGrid>
              <a:tr h="3677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A1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A0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  作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27772"/>
                  </a:ext>
                </a:extLst>
              </a:tr>
              <a:tr h="3703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写端口Ａ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303591"/>
                  </a:ext>
                </a:extLst>
              </a:tr>
              <a:tr h="3690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写端口Ｂ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77333"/>
                  </a:ext>
                </a:extLst>
              </a:tr>
              <a:tr h="3690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写端口Ｃ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94687"/>
                  </a:ext>
                </a:extLst>
              </a:tr>
              <a:tr h="3690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写控制字寄存器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18232"/>
                  </a:ext>
                </a:extLst>
              </a:tr>
              <a:tr h="3677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读端口Ａ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718497"/>
                  </a:ext>
                </a:extLst>
              </a:tr>
              <a:tr h="3703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读端口Ｂ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19456"/>
                  </a:ext>
                </a:extLst>
              </a:tr>
              <a:tr h="3677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读端口Ｃ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09238"/>
                  </a:ext>
                </a:extLst>
              </a:tr>
              <a:tr h="39589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无操作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19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77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2064057" y="330869"/>
            <a:ext cx="5819313" cy="663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42000" tIns="46800" rIns="89966" bIns="1440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11.1.2 8255</a:t>
            </a:r>
            <a:r>
              <a:rPr lang="zh-CN" alt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的工作方式与控制字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0" y="1833714"/>
            <a:ext cx="7450569" cy="65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kumimoji="0" lang="en-US" altLang="zh-CN" sz="24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种工作方式，由方式选择控制字来选用：</a:t>
            </a:r>
          </a:p>
        </p:txBody>
      </p:sp>
      <p:sp>
        <p:nvSpPr>
          <p:cNvPr id="5" name="矩形 4"/>
          <p:cNvSpPr/>
          <p:nvPr/>
        </p:nvSpPr>
        <p:spPr>
          <a:xfrm>
            <a:off x="864094" y="2724438"/>
            <a:ext cx="6096000" cy="21755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 (Mode 0)--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基本输入输出。</a:t>
            </a:r>
          </a:p>
          <a:p>
            <a:pPr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 (Mode 1)--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选通输入输出。</a:t>
            </a:r>
          </a:p>
          <a:p>
            <a:pPr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 (Mode 2)--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双向传送。</a:t>
            </a:r>
          </a:p>
        </p:txBody>
      </p:sp>
    </p:spTree>
    <p:extLst>
      <p:ext uri="{BB962C8B-B14F-4D97-AF65-F5344CB8AC3E}">
        <p14:creationId xmlns:p14="http://schemas.microsoft.com/office/powerpoint/2010/main" val="18760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auto">
          <a:xfrm>
            <a:off x="855938" y="1412460"/>
            <a:ext cx="2597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90000"/>
              </a:spcBef>
              <a:buFont typeface="Wingdings 2" panose="05020102010507070707" pitchFamily="18" charset="2"/>
              <a:buNone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）方式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3" name="矩形 2"/>
          <p:cNvSpPr/>
          <p:nvPr/>
        </p:nvSpPr>
        <p:spPr>
          <a:xfrm>
            <a:off x="855939" y="2354777"/>
            <a:ext cx="791519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900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是一种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。在这种工作方式下，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个端口都可由程序选定作输入或输出。它们的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输出锁存，输入不锁存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855938" y="3997488"/>
            <a:ext cx="7915199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50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该工作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方式下，可以由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用简单的输入或输出指令来进行读或写。因而当方式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用于无条件传送方式的接口电路时是十分简单的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需要状态端口，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个端口都可作为数据端口。</a:t>
            </a:r>
          </a:p>
        </p:txBody>
      </p:sp>
    </p:spTree>
    <p:extLst>
      <p:ext uri="{BB962C8B-B14F-4D97-AF65-F5344CB8AC3E}">
        <p14:creationId xmlns:p14="http://schemas.microsoft.com/office/powerpoint/2010/main" val="134427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auto">
          <a:xfrm>
            <a:off x="855938" y="1303048"/>
            <a:ext cx="2375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90000"/>
              </a:spcBef>
              <a:buFont typeface="Wingdings 2" panose="05020102010507070707" pitchFamily="18" charset="2"/>
              <a:buNone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）方式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5938" y="2157622"/>
            <a:ext cx="8003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900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是一种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选通的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。它将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个端口分为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组；端口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组。端口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中余下的两位，仍可作为输入或输出用，由方式控制字中的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来设定。端口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都可以由程序设定为输入或输出。</a:t>
            </a:r>
          </a:p>
        </p:txBody>
      </p:sp>
      <p:sp>
        <p:nvSpPr>
          <p:cNvPr id="4" name="矩形 3"/>
          <p:cNvSpPr/>
          <p:nvPr/>
        </p:nvSpPr>
        <p:spPr>
          <a:xfrm>
            <a:off x="855938" y="4986049"/>
            <a:ext cx="800397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此时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的某些位为控制状态信号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，用于联络和中断，其各位的功能是固定的，不能用程序改变。</a:t>
            </a:r>
          </a:p>
        </p:txBody>
      </p:sp>
    </p:spTree>
    <p:extLst>
      <p:ext uri="{BB962C8B-B14F-4D97-AF65-F5344CB8AC3E}">
        <p14:creationId xmlns:p14="http://schemas.microsoft.com/office/powerpoint/2010/main" val="392573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auto">
          <a:xfrm>
            <a:off x="855938" y="1412460"/>
            <a:ext cx="23045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90000"/>
              </a:spcBef>
              <a:buFont typeface="Wingdings 2" panose="05020102010507070707" pitchFamily="18" charset="2"/>
              <a:buNone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）方式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855939" y="2354777"/>
            <a:ext cx="79684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工作方式，使外设可在单一的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位数据总线上，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既能发送，又能接收数据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双向总线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I/O)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只限于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组使用，它用双向总线端口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和控制端口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位进行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操作。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此时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可用于方式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或方式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的其他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位作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用或作端口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控制状态信号线用。</a:t>
            </a:r>
          </a:p>
        </p:txBody>
      </p:sp>
    </p:spTree>
    <p:extLst>
      <p:ext uri="{BB962C8B-B14F-4D97-AF65-F5344CB8AC3E}">
        <p14:creationId xmlns:p14="http://schemas.microsoft.com/office/powerpoint/2010/main" val="130713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2064057" y="330869"/>
            <a:ext cx="5819313" cy="663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42000" tIns="46800" rIns="89966" bIns="1440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11.1.2 8255</a:t>
            </a:r>
            <a:r>
              <a:rPr lang="zh-CN" alt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的工作方式与控制字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65138" y="1341438"/>
            <a:ext cx="8321675" cy="719137"/>
            <a:chOff x="293" y="845"/>
            <a:chExt cx="5242" cy="453"/>
          </a:xfrm>
        </p:grpSpPr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293" y="845"/>
              <a:ext cx="5242" cy="453"/>
              <a:chOff x="266" y="1248"/>
              <a:chExt cx="5304" cy="672"/>
            </a:xfrm>
          </p:grpSpPr>
          <p:sp>
            <p:nvSpPr>
              <p:cNvPr id="6" name="AutoShape 8"/>
              <p:cNvSpPr>
                <a:spLocks noChangeArrowheads="1"/>
              </p:cNvSpPr>
              <p:nvPr/>
            </p:nvSpPr>
            <p:spPr bwMode="auto">
              <a:xfrm>
                <a:off x="385" y="1279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" name="Picture 9" descr="박스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746" y="845"/>
              <a:ext cx="28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 2" panose="05020102010507070707" pitchFamily="18" charset="2"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1.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方式选择控制字</a:t>
              </a:r>
            </a:p>
          </p:txBody>
        </p:sp>
      </p:grp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7611"/>
              </p:ext>
            </p:extLst>
          </p:nvPr>
        </p:nvGraphicFramePr>
        <p:xfrm>
          <a:off x="1187450" y="2060575"/>
          <a:ext cx="6626225" cy="443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Visio" r:id="rId4" imgW="3934968" imgH="5842711" progId="Visio.Drawing.11">
                  <p:embed/>
                </p:oleObj>
              </mc:Choice>
              <mc:Fallback>
                <p:oleObj name="Visio" r:id="rId4" imgW="3934968" imgH="5842711" progId="Visio.Drawing.11">
                  <p:embed/>
                  <p:pic>
                    <p:nvPicPr>
                      <p:cNvPr id="6144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54918"/>
                      <a:stretch>
                        <a:fillRect/>
                      </a:stretch>
                    </p:blipFill>
                    <p:spPr bwMode="auto">
                      <a:xfrm>
                        <a:off x="1187450" y="2060575"/>
                        <a:ext cx="6626225" cy="443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692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65138" y="1341438"/>
            <a:ext cx="8321675" cy="719137"/>
            <a:chOff x="293" y="845"/>
            <a:chExt cx="5242" cy="453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293" y="845"/>
              <a:ext cx="5242" cy="453"/>
              <a:chOff x="266" y="1248"/>
              <a:chExt cx="5304" cy="672"/>
            </a:xfrm>
          </p:grpSpPr>
          <p:sp>
            <p:nvSpPr>
              <p:cNvPr id="5" name="AutoShape 8"/>
              <p:cNvSpPr>
                <a:spLocks noChangeArrowheads="1"/>
              </p:cNvSpPr>
              <p:nvPr/>
            </p:nvSpPr>
            <p:spPr bwMode="auto">
              <a:xfrm>
                <a:off x="385" y="1279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Picture 9" descr="박스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>
              <a:off x="746" y="845"/>
              <a:ext cx="36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 2" panose="05020102010507070707" pitchFamily="18" charset="2"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2.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按位置位</a:t>
              </a: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/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复位控制字 </a:t>
              </a:r>
            </a:p>
          </p:txBody>
        </p:sp>
      </p:grpSp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628248"/>
              </p:ext>
            </p:extLst>
          </p:nvPr>
        </p:nvGraphicFramePr>
        <p:xfrm>
          <a:off x="1258888" y="1989138"/>
          <a:ext cx="6626225" cy="447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Visio" r:id="rId4" imgW="4114800" imgH="5842711" progId="Visio.Drawing.11">
                  <p:embed/>
                </p:oleObj>
              </mc:Choice>
              <mc:Fallback>
                <p:oleObj name="Visio" r:id="rId4" imgW="4114800" imgH="5842711" progId="Visio.Drawing.11">
                  <p:embed/>
                  <p:pic>
                    <p:nvPicPr>
                      <p:cNvPr id="6246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2473"/>
                      <a:stretch>
                        <a:fillRect/>
                      </a:stretch>
                    </p:blipFill>
                    <p:spPr bwMode="auto">
                      <a:xfrm>
                        <a:off x="1258888" y="1989138"/>
                        <a:ext cx="6626225" cy="447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462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179387" y="1305927"/>
            <a:ext cx="8964613" cy="4967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buFont typeface="Wingdings 2" panose="05020102010507070707" pitchFamily="18" charset="2"/>
              <a:buNone/>
            </a:pPr>
            <a:r>
              <a:rPr lang="zh-CN" altLang="en-US" sz="360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如：端口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bit3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en-US" altLang="zh-CN" baseline="-2500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）的置位控制字为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00000111B(07H)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，复位控制字为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00000110B(06H)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15000"/>
              </a:lnSpc>
              <a:buFont typeface="Wingdings 2" panose="05020102010507070707" pitchFamily="18" charset="2"/>
              <a:buNone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  <a:p>
            <a:pPr>
              <a:lnSpc>
                <a:spcPct val="115000"/>
              </a:lnSpc>
              <a:buClr>
                <a:srgbClr val="0099FF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</a:p>
          <a:p>
            <a:pPr>
              <a:lnSpc>
                <a:spcPct val="115000"/>
              </a:lnSpc>
              <a:buFont typeface="Wingdings 2" panose="05020102010507070707" pitchFamily="18" charset="2"/>
              <a:buNone/>
            </a:pP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  C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端口的按位置位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复位控制字须跟在方式选择控制字之后写入控制字寄存器。即使仅使用该功能，也应先选送一方式控制字。</a:t>
            </a:r>
            <a:endParaRPr lang="zh-CN" altLang="en-US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46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250825" y="1049338"/>
            <a:ext cx="8675688" cy="2092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8255 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端口的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根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线接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只发光二极管的正极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八个负极均接地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，用按位置位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复位控制字编写使这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只发光二极管依次亮、灭的程序。设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的端口地址为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380H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383H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53394" y="3317213"/>
            <a:ext cx="8473119" cy="277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ts val="1800"/>
              </a:spcBef>
              <a:buFont typeface="Wingdings 2" panose="05020102010507070707" pitchFamily="18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本程序要使用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个控制字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方式选择字和按位置位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复位字。这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个控制字都写入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的控制字寄存器，由它们的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="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位为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来区别写入的字是方式选择字还是置位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复位字。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的控制字寄存器的端口地址为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383H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。方式选择字只写入一次，其后写入的都是置位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复位字。</a:t>
            </a:r>
          </a:p>
        </p:txBody>
      </p:sp>
    </p:spTree>
    <p:extLst>
      <p:ext uri="{BB962C8B-B14F-4D97-AF65-F5344CB8AC3E}">
        <p14:creationId xmlns:p14="http://schemas.microsoft.com/office/powerpoint/2010/main" val="291632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166548"/>
              </p:ext>
            </p:extLst>
          </p:nvPr>
        </p:nvGraphicFramePr>
        <p:xfrm>
          <a:off x="539750" y="2636838"/>
          <a:ext cx="8137525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位图图像" r:id="rId3" imgW="4447619" imgH="1666667" progId="Paint.Picture">
                  <p:embed/>
                </p:oleObj>
              </mc:Choice>
              <mc:Fallback>
                <p:oleObj name="位图图像" r:id="rId3" imgW="4447619" imgH="1666667" progId="Paint.Picture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636838"/>
                        <a:ext cx="8137525" cy="343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95288" y="1412875"/>
            <a:ext cx="8185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楷体" panose="02010609060101010101" pitchFamily="49" charset="-122"/>
                <a:ea typeface="楷体" panose="02010609060101010101" pitchFamily="49" charset="-122"/>
              </a:rPr>
              <a:t>8255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80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微机的连接及</a:t>
            </a:r>
            <a:r>
              <a:rPr lang="en-US" altLang="zh-CN" sz="2800">
                <a:latin typeface="楷体" panose="02010609060101010101" pitchFamily="49" charset="-122"/>
                <a:ea typeface="楷体" panose="02010609060101010101" pitchFamily="49" charset="-122"/>
              </a:rPr>
              <a:t>8255 C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端口与</a:t>
            </a:r>
            <a:r>
              <a:rPr lang="en-US" altLang="zh-CN" sz="280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只发光二极管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的连接如图。</a:t>
            </a:r>
          </a:p>
        </p:txBody>
      </p:sp>
    </p:spTree>
    <p:extLst>
      <p:ext uri="{BB962C8B-B14F-4D97-AF65-F5344CB8AC3E}">
        <p14:creationId xmlns:p14="http://schemas.microsoft.com/office/powerpoint/2010/main" val="129149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25743"/>
              </p:ext>
            </p:extLst>
          </p:nvPr>
        </p:nvGraphicFramePr>
        <p:xfrm>
          <a:off x="2228603" y="744276"/>
          <a:ext cx="4937125" cy="561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Visio" r:id="rId3" imgW="3260141" imgH="3710026" progId="Visio.Drawing.11">
                  <p:embed/>
                </p:oleObj>
              </mc:Choice>
              <mc:Fallback>
                <p:oleObj name="Visio" r:id="rId3" imgW="3260141" imgH="3710026" progId="Visio.Drawing.11">
                  <p:embed/>
                  <p:pic>
                    <p:nvPicPr>
                      <p:cNvPr id="71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603" y="744276"/>
                        <a:ext cx="4937125" cy="561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983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250825" y="119697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stack	  segment stack 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stack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</a:t>
            </a:r>
            <a:endParaRPr lang="en-US" altLang="zh-CN" b="1" smtClean="0"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		  dw 32 dup (0)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stack	  ends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code 	  segment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begin	  proc far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		  assume ss: stack, cs: code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		  push ds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		  sub ax, ax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		  push ax</a:t>
            </a:r>
            <a:endParaRPr lang="zh-CN" altLang="en-US" b="1" dirty="0" smtClean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518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100013" y="981075"/>
            <a:ext cx="9043987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z="2600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MOV DX</a:t>
            </a: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383H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383H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为控制字寄存器的端口地址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MOV AL,80H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；方式选择字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OUT DX</a:t>
            </a: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AL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MOV AL,1 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PC0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的置位控制字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AGAIN: OUT DX,AL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；点亮一只发光二极管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LOOP $   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；延时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LOOP $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AND AL,0FEH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；置位字改为复位字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OUT DX,AL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；熄灭点亮的发光二极管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ADD AL,3 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PCi→PCi+1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，复位字改为下一位的置位字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AND AL,0FH</a:t>
            </a:r>
            <a:r>
              <a:rPr lang="en-US" altLang="zh-CN" sz="2500" b="1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；保持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D7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0    </a:t>
            </a:r>
            <a:endParaRPr lang="zh-CN" altLang="en-US" sz="2200" b="1" dirty="0" smtClean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5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323850" y="981075"/>
            <a:ext cx="8229600" cy="4895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mtClean="0"/>
              <a:t>		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PUSH AX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MOV AH,11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；检查键盘有无输入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2600" b="1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INT 21H      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；无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送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AL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，有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-1</a:t>
            </a:r>
            <a:r>
              <a:rPr lang="zh-CN" altLang="en-US" sz="2200" b="1" smtClean="0">
                <a:latin typeface="楷体_GB2312" pitchFamily="49" charset="-122"/>
                <a:ea typeface="楷体_GB2312" pitchFamily="49" charset="-122"/>
              </a:rPr>
              <a:t>送</a:t>
            </a:r>
            <a:r>
              <a:rPr lang="en-US" altLang="zh-CN" sz="2200" b="1" smtClean="0">
                <a:latin typeface="楷体_GB2312" pitchFamily="49" charset="-122"/>
                <a:ea typeface="楷体_GB2312" pitchFamily="49" charset="-122"/>
              </a:rPr>
              <a:t>AL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INC AL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POP AX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JNZ AGAIN</a:t>
            </a:r>
            <a:endParaRPr lang="zh-CN" altLang="en-US" sz="2600" b="1" smtClean="0"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       ret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begin  endp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code	  ends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600" b="1" smtClean="0">
                <a:latin typeface="楷体_GB2312" pitchFamily="49" charset="-122"/>
                <a:ea typeface="楷体_GB2312" pitchFamily="49" charset="-122"/>
              </a:rPr>
              <a:t>		  end begin</a:t>
            </a:r>
            <a:endParaRPr lang="zh-CN" altLang="en-US" sz="2600" b="1" dirty="0" smtClean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74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2064057" y="330869"/>
            <a:ext cx="5819313" cy="663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42000" tIns="46800" rIns="89966" bIns="1440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11.2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可编程</a:t>
            </a:r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定时器</a:t>
            </a:r>
            <a:r>
              <a:rPr lang="en-US" altLang="zh-CN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8253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129" y="1662319"/>
            <a:ext cx="8144966" cy="146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系列的计数器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定时器电路为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可编程间隔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定时器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PIT(programmable interval timer)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，型号为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，改进型为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484129" y="3396103"/>
            <a:ext cx="8144966" cy="2424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具有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个独立的功能完全相同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位计数器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，每个计数器都有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种工作方式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种工作方式都可以由其控制字设定，因而能以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种不同的工作方式满足不同的接口要求。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还可以随时更改它们的方式和计数值，并读取它们的计数状态。</a:t>
            </a:r>
          </a:p>
        </p:txBody>
      </p:sp>
    </p:spTree>
    <p:extLst>
      <p:ext uri="{BB962C8B-B14F-4D97-AF65-F5344CB8AC3E}">
        <p14:creationId xmlns:p14="http://schemas.microsoft.com/office/powerpoint/2010/main" val="381368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的内部结构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" t="3345" r="35808" b="3345"/>
          <a:stretch>
            <a:fillRect/>
          </a:stretch>
        </p:blipFill>
        <p:spPr bwMode="auto">
          <a:xfrm>
            <a:off x="565881" y="2004473"/>
            <a:ext cx="7164748" cy="4023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3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34124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数据总线缓冲器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80" y="1923324"/>
            <a:ext cx="818750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数据总线缓冲器是三态、双向、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位的缓冲器，用作系统总线和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的接口，根据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的输入或输出指令实现数据传送。数据总线缓冲器具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有以下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个基本功能。</a:t>
            </a:r>
          </a:p>
        </p:txBody>
      </p:sp>
      <p:sp>
        <p:nvSpPr>
          <p:cNvPr id="4" name="矩形 3"/>
          <p:cNvSpPr/>
          <p:nvPr/>
        </p:nvSpPr>
        <p:spPr>
          <a:xfrm>
            <a:off x="565880" y="3380969"/>
            <a:ext cx="818750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(1) 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向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所写的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经数据总线缓冲器和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的内部数据总线传送给控制字寄存器寄存。</a:t>
            </a:r>
          </a:p>
        </p:txBody>
      </p:sp>
      <p:sp>
        <p:nvSpPr>
          <p:cNvPr id="5" name="矩形 4"/>
          <p:cNvSpPr/>
          <p:nvPr/>
        </p:nvSpPr>
        <p:spPr>
          <a:xfrm>
            <a:off x="565880" y="4455240"/>
            <a:ext cx="818750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(2) 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向某计数器所写的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计数初值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经它和内部总线送到指定的计数器。</a:t>
            </a:r>
          </a:p>
        </p:txBody>
      </p:sp>
      <p:sp>
        <p:nvSpPr>
          <p:cNvPr id="6" name="矩形 5"/>
          <p:cNvSpPr/>
          <p:nvPr/>
        </p:nvSpPr>
        <p:spPr>
          <a:xfrm>
            <a:off x="565880" y="5405151"/>
            <a:ext cx="818750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3) CPU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读取某个计数器的现行值时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，该现行值经内部总线和缓冲器传送到系统的数据总线上，被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读入。</a:t>
            </a:r>
          </a:p>
        </p:txBody>
      </p:sp>
    </p:spTree>
    <p:extLst>
      <p:ext uri="{BB962C8B-B14F-4D97-AF65-F5344CB8AC3E}">
        <p14:creationId xmlns:p14="http://schemas.microsoft.com/office/powerpoint/2010/main" val="38827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0" y="1236827"/>
            <a:ext cx="23947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写逻辑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79" y="1763642"/>
            <a:ext cx="813423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写逻辑接收系统总线的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个输入信号，根据这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个信号产生整个器件操作的控制信号。通过片选信号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来控制读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写逻辑的工作，在没有被系统逻辑选中时，读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写逻辑操作功能不会发生变化。</a:t>
            </a:r>
          </a:p>
        </p:txBody>
      </p:sp>
      <p:sp>
        <p:nvSpPr>
          <p:cNvPr id="4" name="矩形 3"/>
          <p:cNvSpPr/>
          <p:nvPr/>
        </p:nvSpPr>
        <p:spPr>
          <a:xfrm>
            <a:off x="565879" y="3478624"/>
            <a:ext cx="813423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的输入选择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个计数器和控制字寄存器。通过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完成指定的读或写操作。</a:t>
            </a:r>
          </a:p>
        </p:txBody>
      </p:sp>
      <p:pic>
        <p:nvPicPr>
          <p:cNvPr id="5" name="Picture 5" descr="{5FACC854-0E9B-4D58-BE37-A098B83DFE59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9"/>
          <a:stretch>
            <a:fillRect/>
          </a:stretch>
        </p:blipFill>
        <p:spPr bwMode="auto">
          <a:xfrm>
            <a:off x="1965596" y="4393387"/>
            <a:ext cx="5029874" cy="199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5507668" y="2274488"/>
            <a:ext cx="232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7044981" y="3580985"/>
            <a:ext cx="232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7542134" y="3580985"/>
            <a:ext cx="232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25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3090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控制字寄存器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81" y="2305180"/>
            <a:ext cx="840056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控制字寄存器寄存数据缓冲器传送来的控制字。控制字寄存器有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个，都是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位的寄存器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，分别对应于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个计数器。写入的控制字由该控制字的最高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位确定送入哪个计数器的控制字寄存器寄存。各自的控制字寄存器决定各自计数器的工作方式和所执行的操作。控制字寄存器只能写入。</a:t>
            </a:r>
          </a:p>
        </p:txBody>
      </p:sp>
    </p:spTree>
    <p:extLst>
      <p:ext uri="{BB962C8B-B14F-4D97-AF65-F5344CB8AC3E}">
        <p14:creationId xmlns:p14="http://schemas.microsoft.com/office/powerpoint/2010/main" val="137493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5525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、计数器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和计数器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565881" y="1950073"/>
            <a:ext cx="805433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个独立的计数器，它们的内部结构相同。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304782"/>
              </p:ext>
            </p:extLst>
          </p:nvPr>
        </p:nvGraphicFramePr>
        <p:xfrm>
          <a:off x="2571806" y="2785879"/>
          <a:ext cx="3322890" cy="189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位图图像" r:id="rId3" imgW="2133898" imgH="1257476" progId="Paint.Picture">
                  <p:embed/>
                </p:oleObj>
              </mc:Choice>
              <mc:Fallback>
                <p:oleObj name="位图图像" r:id="rId3" imgW="2133898" imgH="1257476" progId="Paint.Picture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806" y="2785879"/>
                        <a:ext cx="3322890" cy="1894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65880" y="4840523"/>
            <a:ext cx="805433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每个计数器都是对输入的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脉冲按二进制或十进制的预置值开始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递减计数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。若输入的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是频率精确的时钟脉冲，则计数器可作为定时器。</a:t>
            </a:r>
          </a:p>
        </p:txBody>
      </p:sp>
    </p:spTree>
    <p:extLst>
      <p:ext uri="{BB962C8B-B14F-4D97-AF65-F5344CB8AC3E}">
        <p14:creationId xmlns:p14="http://schemas.microsoft.com/office/powerpoint/2010/main" val="288111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的工作方式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3"/>
          <p:cNvSpPr txBox="1">
            <a:spLocks/>
          </p:cNvSpPr>
          <p:nvPr/>
        </p:nvSpPr>
        <p:spPr>
          <a:xfrm>
            <a:off x="1071908" y="1893212"/>
            <a:ext cx="5799408" cy="44720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8253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的计数器有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种工作方式：</a:t>
            </a: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(1)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0--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计数结束中断</a:t>
            </a: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(2)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1—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可编程单脉冲发生器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(3)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2--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频率发生器</a:t>
            </a: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(4)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3--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方波发生器</a:t>
            </a: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(5)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4--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软件触发选通</a:t>
            </a:r>
          </a:p>
          <a:p>
            <a:pPr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(6)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5--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硬件触发选通</a:t>
            </a:r>
          </a:p>
        </p:txBody>
      </p:sp>
    </p:spTree>
    <p:extLst>
      <p:ext uri="{BB962C8B-B14F-4D97-AF65-F5344CB8AC3E}">
        <p14:creationId xmlns:p14="http://schemas.microsoft.com/office/powerpoint/2010/main" val="82756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68313" y="981075"/>
            <a:ext cx="8321675" cy="719138"/>
            <a:chOff x="340" y="1162"/>
            <a:chExt cx="5241" cy="453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40" y="1162"/>
              <a:ext cx="5241" cy="453"/>
              <a:chOff x="266" y="1248"/>
              <a:chExt cx="5304" cy="672"/>
            </a:xfrm>
          </p:grpSpPr>
          <p:sp>
            <p:nvSpPr>
              <p:cNvPr id="5" name="AutoShape 8"/>
              <p:cNvSpPr>
                <a:spLocks noChangeArrowheads="1"/>
              </p:cNvSpPr>
              <p:nvPr/>
            </p:nvSpPr>
            <p:spPr bwMode="auto">
              <a:xfrm>
                <a:off x="385" y="1321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Picture 9" descr="박스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>
              <a:off x="793" y="1217"/>
              <a:ext cx="21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1.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计数器的输出	</a:t>
              </a: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OUT</a:t>
              </a:r>
            </a:p>
          </p:txBody>
        </p:sp>
      </p:grp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3" y="1885950"/>
            <a:ext cx="7056437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82788" y="1596693"/>
            <a:ext cx="539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种工作方式的输出信号如下图所示。</a:t>
            </a:r>
          </a:p>
        </p:txBody>
      </p:sp>
      <p:sp>
        <p:nvSpPr>
          <p:cNvPr id="9" name="文本框 2"/>
          <p:cNvSpPr txBox="1">
            <a:spLocks noChangeArrowheads="1"/>
          </p:cNvSpPr>
          <p:nvPr/>
        </p:nvSpPr>
        <p:spPr bwMode="auto">
          <a:xfrm>
            <a:off x="-203229" y="2249833"/>
            <a:ext cx="2492990" cy="417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计数结束中断方式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可编程单脉冲发生器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速率波发生器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方波发生器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软件触发方式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ts val="53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硬件触发方式</a:t>
            </a:r>
          </a:p>
        </p:txBody>
      </p:sp>
    </p:spTree>
    <p:extLst>
      <p:ext uri="{BB962C8B-B14F-4D97-AF65-F5344CB8AC3E}">
        <p14:creationId xmlns:p14="http://schemas.microsoft.com/office/powerpoint/2010/main" val="22739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0" y="1298683"/>
            <a:ext cx="9036051" cy="5353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ct val="30000"/>
              </a:spcBef>
              <a:buFont typeface="Wingdings 2" panose="05020102010507070707" pitchFamily="18" charset="2"/>
              <a:buNone/>
            </a:pP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      6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种工作方式中，只有方式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在写入控制字后输出为低，其他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种方式，都是在写入控制字后输出为高。</a:t>
            </a:r>
          </a:p>
          <a:p>
            <a:pPr>
              <a:lnSpc>
                <a:spcPct val="140000"/>
              </a:lnSpc>
              <a:spcBef>
                <a:spcPct val="30000"/>
              </a:spcBef>
              <a:buFont typeface="Wingdings 2" panose="05020102010507070707" pitchFamily="18" charset="2"/>
              <a:buNone/>
            </a:pP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      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的输出波形是相同的，都是宽度为一个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周期的负脉冲。但方式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是连续工作，方式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由软件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设置计数值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触发启动，而方式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由门控脉冲触发启动。</a:t>
            </a:r>
          </a:p>
          <a:p>
            <a:pPr>
              <a:lnSpc>
                <a:spcPct val="140000"/>
              </a:lnSpc>
              <a:spcBef>
                <a:spcPct val="30000"/>
              </a:spcBef>
              <a:buFont typeface="Wingdings 2" panose="05020102010507070707" pitchFamily="18" charset="2"/>
              <a:buNone/>
            </a:pP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      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与方式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的工作方式基本相同，但输出波形不同，方式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的输出为宽度是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脉冲的低电平脉冲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计数过程中输出为低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，而方式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的输出为宽度是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脉冲的负脉冲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计数过程中输出为高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559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71438" y="1317625"/>
            <a:ext cx="8713787" cy="5040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的输出都是周期性的，它们的主要区别是，方式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在计数过程中输出始终为高， 直至计数器减到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时， 输出一个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负脉冲后又恢复为高；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在计数过程中输出有一半时间为高，另一半时间为低。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所以，若计数值为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，则方式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的输出为周期是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脉冲的方波。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如果计数值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是奇数，则输出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(N+1)/2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脉冲周期为高，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(N-1)/2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个脉冲周期为低，即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OUT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为高，将比其为低多一个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周期时间。</a:t>
            </a:r>
          </a:p>
        </p:txBody>
      </p:sp>
    </p:spTree>
    <p:extLst>
      <p:ext uri="{BB962C8B-B14F-4D97-AF65-F5344CB8AC3E}">
        <p14:creationId xmlns:p14="http://schemas.microsoft.com/office/powerpoint/2010/main" val="162242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/>
          </p:cNvSpPr>
          <p:nvPr/>
        </p:nvSpPr>
        <p:spPr>
          <a:xfrm>
            <a:off x="70019" y="1288988"/>
            <a:ext cx="8856663" cy="51847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defTabSz="914400">
              <a:lnSpc>
                <a:spcPct val="150000"/>
              </a:lnSpc>
              <a:spcBef>
                <a:spcPts val="1000"/>
              </a:spcBef>
              <a:buFont typeface="Wingdings 2" panose="05020102010507070707" pitchFamily="18" charset="2"/>
              <a:buNone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      方式</a:t>
            </a:r>
            <a:r>
              <a:rPr lang="en-US" altLang="zh-CN" dirty="0"/>
              <a:t>0</a:t>
            </a:r>
            <a:r>
              <a:rPr lang="zh-CN" altLang="en-US" dirty="0"/>
              <a:t>之所以称之为计数结束中断，是因为方式</a:t>
            </a:r>
            <a:r>
              <a:rPr lang="en-US" altLang="zh-CN" dirty="0"/>
              <a:t>0</a:t>
            </a:r>
            <a:r>
              <a:rPr lang="zh-CN" altLang="en-US" dirty="0"/>
              <a:t>是专为</a:t>
            </a:r>
            <a:r>
              <a:rPr lang="en-US" altLang="zh-CN" dirty="0"/>
              <a:t>8253</a:t>
            </a:r>
            <a:r>
              <a:rPr lang="zh-CN" altLang="en-US" dirty="0"/>
              <a:t>工作在中断方式而设计的，它的输出</a:t>
            </a:r>
            <a:r>
              <a:rPr lang="en-US" altLang="zh-CN" dirty="0"/>
              <a:t>OUT</a:t>
            </a:r>
            <a:r>
              <a:rPr lang="zh-CN" altLang="en-US" dirty="0"/>
              <a:t>一经确定方式以后就马上变低，直到计数到</a:t>
            </a:r>
            <a:r>
              <a:rPr lang="en-US" altLang="zh-CN" dirty="0"/>
              <a:t>0</a:t>
            </a:r>
            <a:r>
              <a:rPr lang="zh-CN" altLang="en-US" dirty="0"/>
              <a:t>才变高，而其他方式的输出就不是这种情况。</a:t>
            </a:r>
            <a:r>
              <a:rPr lang="en-US" altLang="zh-CN" dirty="0"/>
              <a:t>8253</a:t>
            </a:r>
            <a:r>
              <a:rPr lang="zh-CN" altLang="en-US" dirty="0"/>
              <a:t>用于中断方式并不仅限于方式</a:t>
            </a:r>
            <a:r>
              <a:rPr lang="en-US" altLang="zh-CN" dirty="0"/>
              <a:t>0</a:t>
            </a:r>
            <a:r>
              <a:rPr lang="zh-CN" altLang="en-US" dirty="0"/>
              <a:t>，其他方式也是可以用于中断方式的。</a:t>
            </a:r>
            <a:r>
              <a:rPr lang="en-US" altLang="zh-CN" dirty="0"/>
              <a:t>8253</a:t>
            </a:r>
            <a:r>
              <a:rPr lang="zh-CN" altLang="en-US" dirty="0"/>
              <a:t>内部没有中断控制电路，也没有专用的中断请求引线，所以若要用于中断，则可用</a:t>
            </a:r>
            <a:r>
              <a:rPr lang="en-US" altLang="zh-CN" dirty="0"/>
              <a:t>OUT</a:t>
            </a:r>
            <a:r>
              <a:rPr lang="zh-CN" altLang="en-US" dirty="0"/>
              <a:t>信号作为外部中断请求信号。</a:t>
            </a:r>
          </a:p>
        </p:txBody>
      </p:sp>
    </p:spTree>
    <p:extLst>
      <p:ext uri="{BB962C8B-B14F-4D97-AF65-F5344CB8AC3E}">
        <p14:creationId xmlns:p14="http://schemas.microsoft.com/office/powerpoint/2010/main" val="125297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71438" y="2120900"/>
            <a:ext cx="8785225" cy="3808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任一种方式，只有写入计数值后才能开始计数，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都是在写入计数值后，计数过程就开始了，而方式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需要外部触发启动，才开始计数。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6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种方式中，只有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是连续计数，其他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种方式都是一次计数，要继续工作需要重新启动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由写入计数值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软件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启动，方式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要由外部信号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硬件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启动。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65138" y="1270000"/>
            <a:ext cx="8321675" cy="719138"/>
            <a:chOff x="340" y="1162"/>
            <a:chExt cx="5241" cy="453"/>
          </a:xfrm>
        </p:grpSpPr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40" y="1162"/>
              <a:ext cx="5241" cy="453"/>
              <a:chOff x="266" y="1248"/>
              <a:chExt cx="5304" cy="672"/>
            </a:xfrm>
          </p:grpSpPr>
          <p:sp>
            <p:nvSpPr>
              <p:cNvPr id="6" name="AutoShape 8"/>
              <p:cNvSpPr>
                <a:spLocks noChangeArrowheads="1"/>
              </p:cNvSpPr>
              <p:nvPr/>
            </p:nvSpPr>
            <p:spPr bwMode="auto">
              <a:xfrm>
                <a:off x="385" y="1321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" name="Picture 9" descr="박스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793" y="1217"/>
              <a:ext cx="238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 2" panose="05020102010507070707" pitchFamily="18" charset="2"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2.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计数器的工作与启动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547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/>
          </p:cNvSpPr>
          <p:nvPr/>
        </p:nvSpPr>
        <p:spPr>
          <a:xfrm>
            <a:off x="88777" y="1987360"/>
            <a:ext cx="8858250" cy="4616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在方式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是电平起作用。计数过程受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信号的控制，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为高电平计数，低电平停止计数。</a:t>
            </a:r>
          </a:p>
          <a:p>
            <a:pPr marL="0" indent="0">
              <a:lnSpc>
                <a:spcPct val="150000"/>
              </a:lnSpc>
              <a:spcBef>
                <a:spcPct val="400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在方式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是上升沿起作用。在计数过程中，只要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出现由低到高的跳变，计数的初值就被装入减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计数器，并从初值起继续计数。</a:t>
            </a:r>
          </a:p>
          <a:p>
            <a:pPr marL="0" indent="0">
              <a:lnSpc>
                <a:spcPct val="150000"/>
              </a:lnSpc>
              <a:spcBef>
                <a:spcPct val="40000"/>
              </a:spcBef>
              <a:buFont typeface="Wingdings 2" panose="05020102010507070707" pitchFamily="18" charset="2"/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GATE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信号的上升沿和电平均起作用。</a:t>
            </a:r>
            <a:r>
              <a:rPr lang="zh-CN" altLang="en-US" sz="2400" dirty="0" smtClean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高电平计数，低电平停止计数。上升沿则重新装入计数初值，继续计数。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93700" y="1190101"/>
            <a:ext cx="8321675" cy="719138"/>
            <a:chOff x="340" y="1162"/>
            <a:chExt cx="5241" cy="453"/>
          </a:xfrm>
        </p:grpSpPr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40" y="1162"/>
              <a:ext cx="5241" cy="453"/>
              <a:chOff x="266" y="1248"/>
              <a:chExt cx="5304" cy="672"/>
            </a:xfrm>
          </p:grpSpPr>
          <p:sp>
            <p:nvSpPr>
              <p:cNvPr id="6" name="AutoShape 8"/>
              <p:cNvSpPr>
                <a:spLocks noChangeArrowheads="1"/>
              </p:cNvSpPr>
              <p:nvPr/>
            </p:nvSpPr>
            <p:spPr bwMode="auto">
              <a:xfrm>
                <a:off x="385" y="1321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" name="Picture 9" descr="박스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793" y="1217"/>
              <a:ext cx="238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 2" panose="05020102010507070707" pitchFamily="18" charset="2"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3.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门控信号</a:t>
              </a: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GATE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的作用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07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285750" y="2143125"/>
            <a:ext cx="8429625" cy="3092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8253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可以在计数过程中写入计数值，但它的作用在不同方式时有所不同。方式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是立即有效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即新的计数值写入减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是外部触发后有效，方式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和方式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是本次计数结束后有效。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65138" y="1270000"/>
            <a:ext cx="8321675" cy="719138"/>
            <a:chOff x="340" y="1162"/>
            <a:chExt cx="5241" cy="453"/>
          </a:xfrm>
        </p:grpSpPr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40" y="1162"/>
              <a:ext cx="5241" cy="453"/>
              <a:chOff x="266" y="1248"/>
              <a:chExt cx="5304" cy="672"/>
            </a:xfrm>
          </p:grpSpPr>
          <p:sp>
            <p:nvSpPr>
              <p:cNvPr id="6" name="AutoShape 8"/>
              <p:cNvSpPr>
                <a:spLocks noChangeArrowheads="1"/>
              </p:cNvSpPr>
              <p:nvPr/>
            </p:nvSpPr>
            <p:spPr bwMode="auto">
              <a:xfrm>
                <a:off x="385" y="1321"/>
                <a:ext cx="5185" cy="528"/>
              </a:xfrm>
              <a:prstGeom prst="roundRect">
                <a:avLst>
                  <a:gd name="adj" fmla="val 2190"/>
                </a:avLst>
              </a:prstGeom>
              <a:gradFill rotWithShape="0">
                <a:gsLst>
                  <a:gs pos="0">
                    <a:srgbClr val="FDFEFE"/>
                  </a:gs>
                  <a:gs pos="100000">
                    <a:srgbClr val="BDE2E3"/>
                  </a:gs>
                </a:gsLst>
                <a:lin ang="5400000" scaled="1"/>
              </a:gradFill>
              <a:ln w="15875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68392" dir="4091915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80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" name="Picture 9" descr="박스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664"/>
              <a:stretch>
                <a:fillRect/>
              </a:stretch>
            </p:blipFill>
            <p:spPr bwMode="auto">
              <a:xfrm>
                <a:off x="266" y="1248"/>
                <a:ext cx="433" cy="67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68392" dir="4091915" algn="ctr" rotWithShape="0">
                  <a:srgbClr val="80808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793" y="1217"/>
              <a:ext cx="28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 2" panose="05020102010507070707" pitchFamily="18" charset="2"/>
                <a:buNone/>
              </a:pPr>
              <a:r>
                <a:rPr lang="en-US" altLang="zh-CN" sz="2800">
                  <a:latin typeface="楷体" panose="02010609060101010101" pitchFamily="49" charset="-122"/>
                  <a:ea typeface="楷体" panose="02010609060101010101" pitchFamily="49" charset="-122"/>
                </a:rPr>
                <a:t>4.</a:t>
              </a:r>
              <a:r>
                <a:rPr lang="zh-CN" altLang="en-US" sz="2800">
                  <a:latin typeface="楷体" panose="02010609060101010101" pitchFamily="49" charset="-122"/>
                  <a:ea typeface="楷体" panose="02010609060101010101" pitchFamily="49" charset="-122"/>
                </a:rPr>
                <a:t>在计数过程中改变计数值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73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的控制字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317" y="1857701"/>
            <a:ext cx="6227776" cy="472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3"/>
          <p:cNvSpPr/>
          <p:nvPr/>
        </p:nvSpPr>
        <p:spPr>
          <a:xfrm>
            <a:off x="223772" y="2982896"/>
            <a:ext cx="2439529" cy="2361461"/>
          </a:xfrm>
          <a:prstGeom prst="wedgeRoundRectCallout">
            <a:avLst>
              <a:gd name="adj1" fmla="val 37468"/>
              <a:gd name="adj2" fmla="val -779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三个计数器的工作是完全独立的，所以每个计数器都有一个控制字。而三个控制字都由同一地址</a:t>
            </a:r>
            <a:r>
              <a:rPr lang="en-US" altLang="zh-CN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控制字寄存器地址</a:t>
            </a:r>
            <a:r>
              <a:rPr lang="en-US" altLang="zh-CN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写入，因而由控制字的</a:t>
            </a:r>
            <a:r>
              <a:rPr lang="en-US" altLang="zh-CN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1600" b="1" baseline="-25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1600" b="1" baseline="-25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两位来指定该控制字是哪个计数器的控制字。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09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的初始化编程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81" y="1921586"/>
            <a:ext cx="741514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要使用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必须首先进行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初始化编程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，初始化编程的步骤为先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写入计数器的控制字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，然后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写入计数器的计数初值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565881" y="3109581"/>
            <a:ext cx="741514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控制字和计数初值，是通过两个不同的端口地址写入的。任一计数器的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控制字都是写入控制字寄存器的端口地址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，由控制字中的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来确定是哪一个计数器的控制字；而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计数初值是由各个计数器的端口地址写入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的。</a:t>
            </a:r>
          </a:p>
        </p:txBody>
      </p:sp>
      <p:sp>
        <p:nvSpPr>
          <p:cNvPr id="5" name="矩形 4"/>
          <p:cNvSpPr/>
          <p:nvPr/>
        </p:nvSpPr>
        <p:spPr>
          <a:xfrm>
            <a:off x="565881" y="4929120"/>
            <a:ext cx="741514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具有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个端口地址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两根引线来区别：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是控制字寄存器的端口地址，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则分别是计数器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和计数器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的端口地址。</a:t>
            </a:r>
          </a:p>
        </p:txBody>
      </p:sp>
    </p:spTree>
    <p:extLst>
      <p:ext uri="{BB962C8B-B14F-4D97-AF65-F5344CB8AC3E}">
        <p14:creationId xmlns:p14="http://schemas.microsoft.com/office/powerpoint/2010/main" val="166590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881" y="1236827"/>
            <a:ext cx="74151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，工作在方式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，按十进制计数，计数值为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5080H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。设该片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的端口地址为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388H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38BH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，写出初始化程序段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/>
          </p:cNvSpPr>
          <p:nvPr/>
        </p:nvSpPr>
        <p:spPr bwMode="auto">
          <a:xfrm>
            <a:off x="827088" y="2492375"/>
            <a:ext cx="5511568" cy="38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MOV </a:t>
            </a:r>
            <a:r>
              <a:rPr lang="en-US" altLang="zh-CN" sz="2400" dirty="0" smtClean="0">
                <a:latin typeface="+mj-ea"/>
                <a:ea typeface="+mj-ea"/>
              </a:rPr>
              <a:t>DX,38BH  </a:t>
            </a:r>
            <a:r>
              <a:rPr lang="en-US" altLang="zh-CN" sz="2400" dirty="0" smtClean="0">
                <a:solidFill>
                  <a:srgbClr val="0066CC"/>
                </a:solidFill>
                <a:latin typeface="+mj-ea"/>
                <a:ea typeface="+mj-ea"/>
              </a:rPr>
              <a:t>;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控制字寄存器地址</a:t>
            </a:r>
            <a:endParaRPr lang="en-US" altLang="zh-CN" sz="2000" dirty="0">
              <a:solidFill>
                <a:srgbClr val="0066CC"/>
              </a:solidFill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MOV </a:t>
            </a:r>
            <a:r>
              <a:rPr lang="en-US" altLang="zh-CN" sz="2400" dirty="0" smtClean="0">
                <a:latin typeface="+mj-ea"/>
                <a:ea typeface="+mj-ea"/>
              </a:rPr>
              <a:t>AL,33H   </a:t>
            </a:r>
            <a:r>
              <a:rPr lang="en-US" altLang="zh-CN" sz="2400" dirty="0" smtClean="0">
                <a:solidFill>
                  <a:srgbClr val="0066CC"/>
                </a:solidFill>
                <a:latin typeface="+mj-ea"/>
                <a:ea typeface="+mj-ea"/>
              </a:rPr>
              <a:t>;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控制字</a:t>
            </a:r>
            <a:r>
              <a:rPr lang="en-US" altLang="zh-CN" sz="2000" dirty="0" smtClean="0">
                <a:solidFill>
                  <a:srgbClr val="0066CC"/>
                </a:solidFill>
                <a:latin typeface="+mj-ea"/>
                <a:ea typeface="+mj-ea"/>
              </a:rPr>
              <a:t>0011 </a:t>
            </a:r>
            <a:r>
              <a:rPr lang="en-US" altLang="zh-CN" sz="2000" dirty="0">
                <a:solidFill>
                  <a:srgbClr val="0066CC"/>
                </a:solidFill>
                <a:latin typeface="+mj-ea"/>
                <a:ea typeface="+mj-ea"/>
              </a:rPr>
              <a:t>0011</a:t>
            </a:r>
            <a:endParaRPr lang="en-US" altLang="zh-CN" sz="2400" dirty="0">
              <a:solidFill>
                <a:srgbClr val="0066CC"/>
              </a:solidFill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OUT DX,AL</a:t>
            </a:r>
            <a:endParaRPr lang="zh-CN" altLang="en-US" sz="2400" dirty="0"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MOV </a:t>
            </a:r>
            <a:r>
              <a:rPr lang="en-US" altLang="zh-CN" sz="2400" dirty="0" smtClean="0">
                <a:latin typeface="+mj-ea"/>
                <a:ea typeface="+mj-ea"/>
              </a:rPr>
              <a:t>DX,388H  </a:t>
            </a:r>
            <a:r>
              <a:rPr lang="en-US" altLang="zh-CN" sz="2400" dirty="0" smtClean="0">
                <a:solidFill>
                  <a:srgbClr val="0066CC"/>
                </a:solidFill>
                <a:latin typeface="+mj-ea"/>
                <a:ea typeface="+mj-ea"/>
              </a:rPr>
              <a:t>;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计数器</a:t>
            </a:r>
            <a:r>
              <a:rPr lang="en-US" altLang="zh-CN" sz="2000" dirty="0" smtClean="0">
                <a:solidFill>
                  <a:srgbClr val="0066CC"/>
                </a:solidFill>
                <a:latin typeface="+mj-ea"/>
                <a:ea typeface="+mj-ea"/>
              </a:rPr>
              <a:t>0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端口地址</a:t>
            </a:r>
            <a:endParaRPr lang="en-US" altLang="zh-CN" sz="2400" dirty="0">
              <a:solidFill>
                <a:srgbClr val="0066CC"/>
              </a:solidFill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MOV </a:t>
            </a:r>
            <a:r>
              <a:rPr lang="en-US" altLang="zh-CN" sz="2400" dirty="0" smtClean="0">
                <a:latin typeface="+mj-ea"/>
                <a:ea typeface="+mj-ea"/>
              </a:rPr>
              <a:t>AL,80H   </a:t>
            </a:r>
            <a:r>
              <a:rPr lang="en-US" altLang="zh-CN" sz="2400" dirty="0" smtClean="0">
                <a:solidFill>
                  <a:srgbClr val="0066CC"/>
                </a:solidFill>
                <a:latin typeface="+mj-ea"/>
                <a:ea typeface="+mj-ea"/>
              </a:rPr>
              <a:t>;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低</a:t>
            </a:r>
            <a:r>
              <a:rPr lang="en-US" altLang="zh-CN" sz="2000" dirty="0" smtClean="0">
                <a:solidFill>
                  <a:srgbClr val="0066CC"/>
                </a:solidFill>
                <a:latin typeface="+mj-ea"/>
                <a:ea typeface="+mj-ea"/>
              </a:rPr>
              <a:t>8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位</a:t>
            </a:r>
            <a:endParaRPr lang="en-US" altLang="zh-CN" sz="2400" dirty="0">
              <a:solidFill>
                <a:srgbClr val="0066CC"/>
              </a:solidFill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OUT DX,AL</a:t>
            </a: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MOV </a:t>
            </a:r>
            <a:r>
              <a:rPr lang="en-US" altLang="zh-CN" sz="2400" dirty="0" smtClean="0">
                <a:latin typeface="+mj-ea"/>
                <a:ea typeface="+mj-ea"/>
              </a:rPr>
              <a:t>AL,50H   </a:t>
            </a:r>
            <a:r>
              <a:rPr lang="en-US" altLang="zh-CN" sz="2400" dirty="0" smtClean="0">
                <a:solidFill>
                  <a:srgbClr val="0066CC"/>
                </a:solidFill>
                <a:latin typeface="+mj-ea"/>
                <a:ea typeface="+mj-ea"/>
              </a:rPr>
              <a:t>;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高</a:t>
            </a:r>
            <a:r>
              <a:rPr lang="en-US" altLang="zh-CN" sz="2000" dirty="0" smtClean="0">
                <a:solidFill>
                  <a:srgbClr val="0066CC"/>
                </a:solidFill>
                <a:latin typeface="+mj-ea"/>
                <a:ea typeface="+mj-ea"/>
              </a:rPr>
              <a:t>8</a:t>
            </a:r>
            <a:r>
              <a:rPr lang="zh-CN" altLang="en-US" sz="2000" dirty="0" smtClean="0">
                <a:solidFill>
                  <a:srgbClr val="0066CC"/>
                </a:solidFill>
                <a:latin typeface="+mj-ea"/>
                <a:ea typeface="+mj-ea"/>
              </a:rPr>
              <a:t>位</a:t>
            </a:r>
            <a:endParaRPr lang="en-US" altLang="zh-CN" sz="2400" dirty="0">
              <a:solidFill>
                <a:srgbClr val="0066CC"/>
              </a:solidFill>
              <a:latin typeface="+mj-ea"/>
              <a:ea typeface="+mj-ea"/>
            </a:endParaRPr>
          </a:p>
          <a:p>
            <a:pPr eaLnBrk="1" hangingPunct="1"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OUT DX,AL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620" y="4365675"/>
            <a:ext cx="4216405" cy="173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7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409" y="2299316"/>
            <a:ext cx="88024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作业：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11.1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11.2</a:t>
            </a:r>
          </a:p>
          <a:p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11.11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（任选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个计数器，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种工作方式进行编程）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63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1890</TotalTime>
  <Words>2994</Words>
  <Application>Microsoft Office PowerPoint</Application>
  <PresentationFormat>全屏显示(4:3)</PresentationFormat>
  <Paragraphs>205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等线</vt:lpstr>
      <vt:lpstr>等线 Light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Calibri Light</vt:lpstr>
      <vt:lpstr>Symbol</vt:lpstr>
      <vt:lpstr>Times New Roman</vt:lpstr>
      <vt:lpstr>Wingdings</vt:lpstr>
      <vt:lpstr>Wingdings 2</vt:lpstr>
      <vt:lpstr>Office 主题</vt:lpstr>
      <vt:lpstr>Visio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Enjia Deng</dc:creator>
  <cp:lastModifiedBy>陈佩</cp:lastModifiedBy>
  <cp:revision>23</cp:revision>
  <dcterms:created xsi:type="dcterms:W3CDTF">2020-03-31T02:45:39Z</dcterms:created>
  <dcterms:modified xsi:type="dcterms:W3CDTF">2020-11-15T14:04:17Z</dcterms:modified>
</cp:coreProperties>
</file>