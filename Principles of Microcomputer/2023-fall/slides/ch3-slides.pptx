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49"/>
  </p:notesMasterIdLst>
  <p:sldIdLst>
    <p:sldId id="259" r:id="rId2"/>
    <p:sldId id="260" r:id="rId3"/>
    <p:sldId id="345" r:id="rId4"/>
    <p:sldId id="261" r:id="rId5"/>
    <p:sldId id="262" r:id="rId6"/>
    <p:sldId id="263" r:id="rId7"/>
    <p:sldId id="264" r:id="rId8"/>
    <p:sldId id="265" r:id="rId9"/>
    <p:sldId id="266" r:id="rId10"/>
    <p:sldId id="267" r:id="rId11"/>
    <p:sldId id="268" r:id="rId12"/>
    <p:sldId id="269" r:id="rId13"/>
    <p:sldId id="270" r:id="rId14"/>
    <p:sldId id="271"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44"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1092"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987799-A745-42EC-857C-6BDAC88AC118}" type="datetimeFigureOut">
              <a:rPr lang="zh-CN" altLang="en-US" smtClean="0"/>
              <a:t>2024/9/15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01435-1071-46C1-95C0-E8F8B551FE70}" type="slidenum">
              <a:rPr lang="zh-CN" altLang="en-US" smtClean="0"/>
              <a:t>‹#›</a:t>
            </a:fld>
            <a:endParaRPr lang="zh-CN" altLang="en-US"/>
          </a:p>
        </p:txBody>
      </p:sp>
    </p:spTree>
    <p:extLst>
      <p:ext uri="{BB962C8B-B14F-4D97-AF65-F5344CB8AC3E}">
        <p14:creationId xmlns:p14="http://schemas.microsoft.com/office/powerpoint/2010/main" val="507489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594BB58-710C-48DE-8DB1-B0EB438AA6D5}" type="slidenum">
              <a:rPr lang="en-US" altLang="zh-CN" smtClean="0"/>
              <a:pPr>
                <a:spcBef>
                  <a:spcPct val="0"/>
                </a:spcBef>
              </a:pPr>
              <a:t>2</a:t>
            </a:fld>
            <a:endParaRPr lang="en-US" altLang="zh-CN"/>
          </a:p>
        </p:txBody>
      </p:sp>
      <p:sp>
        <p:nvSpPr>
          <p:cNvPr id="5123" name="Rectangle 2"/>
          <p:cNvSpPr>
            <a:spLocks noGrp="1" noRot="1" noChangeAspect="1" noChangeArrowheads="1" noTextEdit="1"/>
          </p:cNvSpPr>
          <p:nvPr>
            <p:ph type="sldImg"/>
          </p:nvPr>
        </p:nvSpPr>
        <p:spPr>
          <a:xfrm>
            <a:off x="3429000" y="2400300"/>
            <a:ext cx="0" cy="0"/>
          </a:xfrm>
          <a:ln/>
        </p:spPr>
      </p:sp>
      <p:sp>
        <p:nvSpPr>
          <p:cNvPr id="5124"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796269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F7D9F91-59D7-428E-A023-50FD59D0B4B0}" type="slidenum">
              <a:rPr lang="en-US" altLang="zh-CN" smtClean="0"/>
              <a:pPr>
                <a:spcBef>
                  <a:spcPct val="0"/>
                </a:spcBef>
              </a:pPr>
              <a:t>5</a:t>
            </a:fld>
            <a:endParaRPr lang="en-US" altLang="zh-CN"/>
          </a:p>
        </p:txBody>
      </p:sp>
      <p:sp>
        <p:nvSpPr>
          <p:cNvPr id="8195" name="Rectangle 2"/>
          <p:cNvSpPr>
            <a:spLocks noGrp="1" noRot="1" noChangeAspect="1" noChangeArrowheads="1" noTextEdit="1"/>
          </p:cNvSpPr>
          <p:nvPr>
            <p:ph type="sldImg"/>
          </p:nvPr>
        </p:nvSpPr>
        <p:spPr>
          <a:xfrm>
            <a:off x="3429000" y="2400300"/>
            <a:ext cx="0" cy="0"/>
          </a:xfrm>
          <a:ln/>
        </p:spPr>
      </p:sp>
      <p:sp>
        <p:nvSpPr>
          <p:cNvPr id="8196"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231425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806F65F-F049-402E-A365-D082729A2801}" type="slidenum">
              <a:rPr lang="en-US" altLang="zh-CN" smtClean="0"/>
              <a:pPr>
                <a:spcBef>
                  <a:spcPct val="0"/>
                </a:spcBef>
              </a:pPr>
              <a:t>6</a:t>
            </a:fld>
            <a:endParaRPr lang="en-US" altLang="zh-CN"/>
          </a:p>
        </p:txBody>
      </p:sp>
      <p:sp>
        <p:nvSpPr>
          <p:cNvPr id="10243" name="Rectangle 2"/>
          <p:cNvSpPr>
            <a:spLocks noGrp="1" noRot="1" noChangeAspect="1" noChangeArrowheads="1" noTextEdit="1"/>
          </p:cNvSpPr>
          <p:nvPr>
            <p:ph type="sldImg"/>
          </p:nvPr>
        </p:nvSpPr>
        <p:spPr>
          <a:xfrm>
            <a:off x="3429000" y="2400300"/>
            <a:ext cx="0" cy="0"/>
          </a:xfrm>
          <a:ln/>
        </p:spPr>
      </p:sp>
      <p:sp>
        <p:nvSpPr>
          <p:cNvPr id="10244"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360929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F795318-FCF5-4D25-88EB-732FEC7C0846}" type="slidenum">
              <a:rPr lang="en-US" altLang="zh-CN" smtClean="0"/>
              <a:pPr>
                <a:spcBef>
                  <a:spcPct val="0"/>
                </a:spcBef>
              </a:pPr>
              <a:t>7</a:t>
            </a:fld>
            <a:endParaRPr lang="en-US" altLang="zh-CN"/>
          </a:p>
        </p:txBody>
      </p:sp>
      <p:sp>
        <p:nvSpPr>
          <p:cNvPr id="12291" name="Rectangle 2"/>
          <p:cNvSpPr>
            <a:spLocks noGrp="1" noRot="1" noChangeAspect="1" noChangeArrowheads="1" noTextEdit="1"/>
          </p:cNvSpPr>
          <p:nvPr>
            <p:ph type="sldImg"/>
          </p:nvPr>
        </p:nvSpPr>
        <p:spPr>
          <a:xfrm>
            <a:off x="3429000" y="2400300"/>
            <a:ext cx="0" cy="0"/>
          </a:xfrm>
          <a:ln/>
        </p:spPr>
      </p:sp>
      <p:sp>
        <p:nvSpPr>
          <p:cNvPr id="12292"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71453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132B076-18C9-43C6-B90A-136FF2F13C2E}" type="slidenum">
              <a:rPr lang="en-US" altLang="zh-CN" smtClean="0"/>
              <a:pPr>
                <a:spcBef>
                  <a:spcPct val="0"/>
                </a:spcBef>
              </a:pPr>
              <a:t>8</a:t>
            </a:fld>
            <a:endParaRPr lang="en-US" altLang="zh-CN"/>
          </a:p>
        </p:txBody>
      </p:sp>
      <p:sp>
        <p:nvSpPr>
          <p:cNvPr id="14339" name="Rectangle 2"/>
          <p:cNvSpPr>
            <a:spLocks noGrp="1" noRot="1" noChangeAspect="1" noChangeArrowheads="1" noTextEdit="1"/>
          </p:cNvSpPr>
          <p:nvPr>
            <p:ph type="sldImg"/>
          </p:nvPr>
        </p:nvSpPr>
        <p:spPr>
          <a:xfrm>
            <a:off x="3429000" y="2400300"/>
            <a:ext cx="0" cy="0"/>
          </a:xfrm>
          <a:ln/>
        </p:spPr>
      </p:sp>
      <p:sp>
        <p:nvSpPr>
          <p:cNvPr id="14340"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24855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B6E8152-E284-4724-B522-D34573C4C39E}" type="slidenum">
              <a:rPr lang="en-US" altLang="zh-CN" smtClean="0"/>
              <a:pPr>
                <a:spcBef>
                  <a:spcPct val="0"/>
                </a:spcBef>
              </a:pPr>
              <a:t>9</a:t>
            </a:fld>
            <a:endParaRPr lang="en-US" altLang="zh-CN"/>
          </a:p>
        </p:txBody>
      </p:sp>
      <p:sp>
        <p:nvSpPr>
          <p:cNvPr id="16387" name="Rectangle 2"/>
          <p:cNvSpPr>
            <a:spLocks noGrp="1" noRot="1" noChangeAspect="1" noChangeArrowheads="1" noTextEdit="1"/>
          </p:cNvSpPr>
          <p:nvPr>
            <p:ph type="sldImg"/>
          </p:nvPr>
        </p:nvSpPr>
        <p:spPr>
          <a:xfrm>
            <a:off x="3429000" y="2400300"/>
            <a:ext cx="0" cy="0"/>
          </a:xfrm>
          <a:ln/>
        </p:spPr>
      </p:sp>
      <p:sp>
        <p:nvSpPr>
          <p:cNvPr id="16388"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625742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BE466AB-B76D-498B-AEEA-ADC2BBFC5048}" type="slidenum">
              <a:rPr lang="en-US" altLang="zh-CN" smtClean="0"/>
              <a:pPr>
                <a:spcBef>
                  <a:spcPct val="0"/>
                </a:spcBef>
              </a:pPr>
              <a:t>10</a:t>
            </a:fld>
            <a:endParaRPr lang="en-US" altLang="zh-CN"/>
          </a:p>
        </p:txBody>
      </p:sp>
      <p:sp>
        <p:nvSpPr>
          <p:cNvPr id="18435" name="Rectangle 2"/>
          <p:cNvSpPr>
            <a:spLocks noGrp="1" noRot="1" noChangeAspect="1" noChangeArrowheads="1" noTextEdit="1"/>
          </p:cNvSpPr>
          <p:nvPr>
            <p:ph type="sldImg"/>
          </p:nvPr>
        </p:nvSpPr>
        <p:spPr>
          <a:xfrm>
            <a:off x="3429000" y="2400300"/>
            <a:ext cx="0" cy="0"/>
          </a:xfrm>
          <a:ln/>
        </p:spPr>
      </p:sp>
      <p:sp>
        <p:nvSpPr>
          <p:cNvPr id="18436"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77508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320C0BA-FC03-4ED4-8665-B5D5D2574FCD}" type="slidenum">
              <a:rPr lang="en-US" altLang="zh-CN" smtClean="0"/>
              <a:pPr>
                <a:spcBef>
                  <a:spcPct val="0"/>
                </a:spcBef>
              </a:pPr>
              <a:t>11</a:t>
            </a:fld>
            <a:endParaRPr lang="en-US" altLang="zh-CN"/>
          </a:p>
        </p:txBody>
      </p:sp>
      <p:sp>
        <p:nvSpPr>
          <p:cNvPr id="20483" name="Rectangle 2"/>
          <p:cNvSpPr>
            <a:spLocks noGrp="1" noRot="1" noChangeAspect="1" noChangeArrowheads="1" noTextEdit="1"/>
          </p:cNvSpPr>
          <p:nvPr>
            <p:ph type="sldImg"/>
          </p:nvPr>
        </p:nvSpPr>
        <p:spPr>
          <a:xfrm>
            <a:off x="3429000" y="2400300"/>
            <a:ext cx="0" cy="0"/>
          </a:xfrm>
          <a:ln/>
        </p:spPr>
      </p:sp>
      <p:sp>
        <p:nvSpPr>
          <p:cNvPr id="20484"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481448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A4005A4-39ED-4F72-9B1C-6E6926E9B5EF}" type="slidenum">
              <a:rPr lang="en-US" altLang="zh-CN" smtClean="0"/>
              <a:pPr>
                <a:spcBef>
                  <a:spcPct val="0"/>
                </a:spcBef>
              </a:pPr>
              <a:t>12</a:t>
            </a:fld>
            <a:endParaRPr lang="en-US" altLang="zh-CN"/>
          </a:p>
        </p:txBody>
      </p:sp>
      <p:sp>
        <p:nvSpPr>
          <p:cNvPr id="22531" name="Rectangle 2"/>
          <p:cNvSpPr>
            <a:spLocks noGrp="1" noRot="1" noChangeAspect="1" noChangeArrowheads="1" noTextEdit="1"/>
          </p:cNvSpPr>
          <p:nvPr>
            <p:ph type="sldImg"/>
          </p:nvPr>
        </p:nvSpPr>
        <p:spPr>
          <a:xfrm>
            <a:off x="3429000" y="2400300"/>
            <a:ext cx="0" cy="0"/>
          </a:xfrm>
          <a:ln/>
        </p:spPr>
      </p:sp>
      <p:sp>
        <p:nvSpPr>
          <p:cNvPr id="22532"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993024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AD9E0A3-889F-4DD7-ACD2-F82ED6DEC333}" type="slidenum">
              <a:rPr lang="en-US" altLang="zh-CN" smtClean="0"/>
              <a:pPr>
                <a:spcBef>
                  <a:spcPct val="0"/>
                </a:spcBef>
              </a:pPr>
              <a:t>13</a:t>
            </a:fld>
            <a:endParaRPr lang="en-US" altLang="zh-CN"/>
          </a:p>
        </p:txBody>
      </p:sp>
      <p:sp>
        <p:nvSpPr>
          <p:cNvPr id="24579" name="Rectangle 2"/>
          <p:cNvSpPr>
            <a:spLocks noGrp="1" noRot="1" noChangeAspect="1" noChangeArrowheads="1" noTextEdit="1"/>
          </p:cNvSpPr>
          <p:nvPr>
            <p:ph type="sldImg"/>
          </p:nvPr>
        </p:nvSpPr>
        <p:spPr>
          <a:xfrm>
            <a:off x="3429000" y="2400300"/>
            <a:ext cx="0" cy="0"/>
          </a:xfrm>
          <a:ln/>
        </p:spPr>
      </p:sp>
      <p:sp>
        <p:nvSpPr>
          <p:cNvPr id="24580"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85085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34469C2-3D66-4271-BA91-A9E96CE367A6}" type="slidenum">
              <a:rPr lang="en-US" altLang="zh-CN" smtClean="0"/>
              <a:pPr>
                <a:spcBef>
                  <a:spcPct val="0"/>
                </a:spcBef>
              </a:pPr>
              <a:t>14</a:t>
            </a:fld>
            <a:endParaRPr lang="en-US" altLang="zh-CN"/>
          </a:p>
        </p:txBody>
      </p:sp>
      <p:sp>
        <p:nvSpPr>
          <p:cNvPr id="26627" name="Rectangle 2"/>
          <p:cNvSpPr>
            <a:spLocks noGrp="1" noRot="1" noChangeAspect="1" noChangeArrowheads="1" noTextEdit="1"/>
          </p:cNvSpPr>
          <p:nvPr>
            <p:ph type="sldImg"/>
          </p:nvPr>
        </p:nvSpPr>
        <p:spPr>
          <a:xfrm>
            <a:off x="3429000" y="2400300"/>
            <a:ext cx="0" cy="0"/>
          </a:xfrm>
          <a:ln/>
        </p:spPr>
      </p:sp>
      <p:sp>
        <p:nvSpPr>
          <p:cNvPr id="26628"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831143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3E22146-6B5B-4F57-9A84-8E3B44BBEB05}" type="slidenum">
              <a:rPr lang="en-US" altLang="zh-CN" smtClean="0"/>
              <a:pPr>
                <a:spcBef>
                  <a:spcPct val="0"/>
                </a:spcBef>
              </a:pPr>
              <a:t>16</a:t>
            </a:fld>
            <a:endParaRPr lang="en-US" altLang="zh-CN"/>
          </a:p>
        </p:txBody>
      </p:sp>
      <p:sp>
        <p:nvSpPr>
          <p:cNvPr id="31747" name="Rectangle 2"/>
          <p:cNvSpPr>
            <a:spLocks noGrp="1" noRot="1" noChangeAspect="1" noChangeArrowheads="1" noTextEdit="1"/>
          </p:cNvSpPr>
          <p:nvPr>
            <p:ph type="sldImg"/>
          </p:nvPr>
        </p:nvSpPr>
        <p:spPr>
          <a:xfrm>
            <a:off x="3429000" y="2400300"/>
            <a:ext cx="0" cy="0"/>
          </a:xfrm>
          <a:ln/>
        </p:spPr>
      </p:sp>
      <p:sp>
        <p:nvSpPr>
          <p:cNvPr id="31748"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387804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3398DE1-CF38-404B-8D3D-D0643D0B42A3}" type="slidenum">
              <a:rPr lang="en-US" altLang="zh-CN" smtClean="0"/>
              <a:pPr>
                <a:spcBef>
                  <a:spcPct val="0"/>
                </a:spcBef>
              </a:pPr>
              <a:t>17</a:t>
            </a:fld>
            <a:endParaRPr lang="en-US" altLang="zh-CN"/>
          </a:p>
        </p:txBody>
      </p:sp>
      <p:sp>
        <p:nvSpPr>
          <p:cNvPr id="33795" name="Rectangle 2"/>
          <p:cNvSpPr>
            <a:spLocks noGrp="1" noRot="1" noChangeAspect="1" noChangeArrowheads="1" noTextEdit="1"/>
          </p:cNvSpPr>
          <p:nvPr>
            <p:ph type="sldImg"/>
          </p:nvPr>
        </p:nvSpPr>
        <p:spPr>
          <a:xfrm>
            <a:off x="3429000" y="2400300"/>
            <a:ext cx="0" cy="0"/>
          </a:xfrm>
          <a:ln/>
        </p:spPr>
      </p:sp>
      <p:sp>
        <p:nvSpPr>
          <p:cNvPr id="33796"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453384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AC41815-F2EB-4DB1-8629-6F181926528D}" type="slidenum">
              <a:rPr lang="en-US" altLang="zh-CN" smtClean="0"/>
              <a:pPr>
                <a:spcBef>
                  <a:spcPct val="0"/>
                </a:spcBef>
              </a:pPr>
              <a:t>19</a:t>
            </a:fld>
            <a:endParaRPr lang="en-US" altLang="zh-CN"/>
          </a:p>
        </p:txBody>
      </p:sp>
      <p:sp>
        <p:nvSpPr>
          <p:cNvPr id="36867" name="Rectangle 2"/>
          <p:cNvSpPr>
            <a:spLocks noGrp="1" noRot="1" noChangeAspect="1" noChangeArrowheads="1" noTextEdit="1"/>
          </p:cNvSpPr>
          <p:nvPr>
            <p:ph type="sldImg"/>
          </p:nvPr>
        </p:nvSpPr>
        <p:spPr>
          <a:xfrm>
            <a:off x="3429000" y="2400300"/>
            <a:ext cx="0" cy="0"/>
          </a:xfrm>
          <a:ln/>
        </p:spPr>
      </p:sp>
      <p:sp>
        <p:nvSpPr>
          <p:cNvPr id="36868"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77019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02767CB-69B8-4304-8C51-DEDEFC7D5020}" type="slidenum">
              <a:rPr lang="en-US" altLang="zh-CN" smtClean="0"/>
              <a:pPr>
                <a:spcBef>
                  <a:spcPct val="0"/>
                </a:spcBef>
              </a:pPr>
              <a:t>24</a:t>
            </a:fld>
            <a:endParaRPr lang="en-US" altLang="zh-CN"/>
          </a:p>
        </p:txBody>
      </p:sp>
      <p:sp>
        <p:nvSpPr>
          <p:cNvPr id="43011" name="Rectangle 2"/>
          <p:cNvSpPr>
            <a:spLocks noGrp="1" noRot="1" noChangeAspect="1" noChangeArrowheads="1" noTextEdit="1"/>
          </p:cNvSpPr>
          <p:nvPr>
            <p:ph type="sldImg"/>
          </p:nvPr>
        </p:nvSpPr>
        <p:spPr>
          <a:xfrm>
            <a:off x="3429000" y="2400300"/>
            <a:ext cx="0" cy="0"/>
          </a:xfrm>
          <a:ln/>
        </p:spPr>
      </p:sp>
      <p:sp>
        <p:nvSpPr>
          <p:cNvPr id="43012"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211682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ECE952A-2924-4935-A613-4494CBCBE6AB}" type="slidenum">
              <a:rPr lang="en-US" altLang="zh-CN" smtClean="0"/>
              <a:pPr>
                <a:spcBef>
                  <a:spcPct val="0"/>
                </a:spcBef>
              </a:pPr>
              <a:t>26</a:t>
            </a:fld>
            <a:endParaRPr lang="en-US" altLang="zh-CN"/>
          </a:p>
        </p:txBody>
      </p:sp>
      <p:sp>
        <p:nvSpPr>
          <p:cNvPr id="46083" name="Rectangle 2"/>
          <p:cNvSpPr>
            <a:spLocks noGrp="1" noRot="1" noChangeAspect="1" noChangeArrowheads="1" noTextEdit="1"/>
          </p:cNvSpPr>
          <p:nvPr>
            <p:ph type="sldImg"/>
          </p:nvPr>
        </p:nvSpPr>
        <p:spPr>
          <a:xfrm>
            <a:off x="3429000" y="2400300"/>
            <a:ext cx="0" cy="0"/>
          </a:xfrm>
          <a:ln/>
        </p:spPr>
      </p:sp>
      <p:sp>
        <p:nvSpPr>
          <p:cNvPr id="46084"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676102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3A6B798-D1D8-43EC-959B-16819F4E52C7}" type="slidenum">
              <a:rPr lang="en-US" altLang="zh-CN" smtClean="0"/>
              <a:pPr>
                <a:spcBef>
                  <a:spcPct val="0"/>
                </a:spcBef>
              </a:pPr>
              <a:t>27</a:t>
            </a:fld>
            <a:endParaRPr lang="en-US" altLang="zh-CN"/>
          </a:p>
        </p:txBody>
      </p:sp>
      <p:sp>
        <p:nvSpPr>
          <p:cNvPr id="48131" name="Rectangle 2"/>
          <p:cNvSpPr>
            <a:spLocks noGrp="1" noRot="1" noChangeAspect="1" noChangeArrowheads="1" noTextEdit="1"/>
          </p:cNvSpPr>
          <p:nvPr>
            <p:ph type="sldImg"/>
          </p:nvPr>
        </p:nvSpPr>
        <p:spPr>
          <a:xfrm>
            <a:off x="3429000" y="2400300"/>
            <a:ext cx="0" cy="0"/>
          </a:xfrm>
          <a:ln/>
        </p:spPr>
      </p:sp>
      <p:sp>
        <p:nvSpPr>
          <p:cNvPr id="48132"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105452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DFFD4BB-D83D-4D7A-A9ED-3D53A647EC3B}" type="slidenum">
              <a:rPr lang="en-US" altLang="zh-CN" smtClean="0"/>
              <a:pPr>
                <a:spcBef>
                  <a:spcPct val="0"/>
                </a:spcBef>
              </a:pPr>
              <a:t>28</a:t>
            </a:fld>
            <a:endParaRPr lang="en-US" altLang="zh-CN"/>
          </a:p>
        </p:txBody>
      </p:sp>
      <p:sp>
        <p:nvSpPr>
          <p:cNvPr id="50179" name="Rectangle 2"/>
          <p:cNvSpPr>
            <a:spLocks noGrp="1" noRot="1" noChangeAspect="1" noChangeArrowheads="1" noTextEdit="1"/>
          </p:cNvSpPr>
          <p:nvPr>
            <p:ph type="sldImg"/>
          </p:nvPr>
        </p:nvSpPr>
        <p:spPr>
          <a:xfrm>
            <a:off x="3429000" y="2400300"/>
            <a:ext cx="0" cy="0"/>
          </a:xfrm>
          <a:ln/>
        </p:spPr>
      </p:sp>
      <p:sp>
        <p:nvSpPr>
          <p:cNvPr id="50180"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80938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42AF3E3-954D-4CF4-AD2A-D82347F68866}" type="slidenum">
              <a:rPr lang="en-US" altLang="zh-CN" smtClean="0"/>
              <a:pPr>
                <a:spcBef>
                  <a:spcPct val="0"/>
                </a:spcBef>
              </a:pPr>
              <a:t>33</a:t>
            </a:fld>
            <a:endParaRPr lang="en-US" altLang="zh-CN"/>
          </a:p>
        </p:txBody>
      </p:sp>
      <p:sp>
        <p:nvSpPr>
          <p:cNvPr id="56323" name="Rectangle 2"/>
          <p:cNvSpPr>
            <a:spLocks noGrp="1" noRot="1" noChangeAspect="1" noChangeArrowheads="1" noTextEdit="1"/>
          </p:cNvSpPr>
          <p:nvPr>
            <p:ph type="sldImg"/>
          </p:nvPr>
        </p:nvSpPr>
        <p:spPr>
          <a:xfrm>
            <a:off x="3429000" y="2400300"/>
            <a:ext cx="0" cy="0"/>
          </a:xfrm>
          <a:ln/>
        </p:spPr>
      </p:sp>
      <p:sp>
        <p:nvSpPr>
          <p:cNvPr id="56324"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780552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E5208D1-F4EB-4B31-B4A9-63EFE526F921}" type="slidenum">
              <a:rPr lang="en-US" altLang="zh-CN" smtClean="0"/>
              <a:pPr>
                <a:spcBef>
                  <a:spcPct val="0"/>
                </a:spcBef>
              </a:pPr>
              <a:t>34</a:t>
            </a:fld>
            <a:endParaRPr lang="en-US" altLang="zh-CN"/>
          </a:p>
        </p:txBody>
      </p:sp>
      <p:sp>
        <p:nvSpPr>
          <p:cNvPr id="58371" name="Rectangle 2"/>
          <p:cNvSpPr>
            <a:spLocks noGrp="1" noRot="1" noChangeAspect="1" noChangeArrowheads="1" noTextEdit="1"/>
          </p:cNvSpPr>
          <p:nvPr>
            <p:ph type="sldImg"/>
          </p:nvPr>
        </p:nvSpPr>
        <p:spPr>
          <a:xfrm>
            <a:off x="3429000" y="2400300"/>
            <a:ext cx="0" cy="0"/>
          </a:xfrm>
          <a:ln/>
        </p:spPr>
      </p:sp>
      <p:sp>
        <p:nvSpPr>
          <p:cNvPr id="58372"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4985706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9399DA5-89CD-4837-A1B0-D31BCE7B3889}" type="slidenum">
              <a:rPr lang="en-US" altLang="zh-CN" smtClean="0"/>
              <a:pPr>
                <a:spcBef>
                  <a:spcPct val="0"/>
                </a:spcBef>
              </a:pPr>
              <a:t>35</a:t>
            </a:fld>
            <a:endParaRPr lang="en-US" altLang="zh-CN"/>
          </a:p>
        </p:txBody>
      </p:sp>
      <p:sp>
        <p:nvSpPr>
          <p:cNvPr id="60419" name="Rectangle 2"/>
          <p:cNvSpPr>
            <a:spLocks noGrp="1" noRot="1" noChangeAspect="1" noChangeArrowheads="1" noTextEdit="1"/>
          </p:cNvSpPr>
          <p:nvPr>
            <p:ph type="sldImg"/>
          </p:nvPr>
        </p:nvSpPr>
        <p:spPr>
          <a:xfrm>
            <a:off x="3429000" y="2400300"/>
            <a:ext cx="0" cy="0"/>
          </a:xfrm>
          <a:ln/>
        </p:spPr>
      </p:sp>
      <p:sp>
        <p:nvSpPr>
          <p:cNvPr id="60420"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6788310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7641D1A-7EDC-425D-8052-45DA184C2D0A}" type="slidenum">
              <a:rPr lang="en-US" altLang="zh-CN" smtClean="0"/>
              <a:pPr>
                <a:spcBef>
                  <a:spcPct val="0"/>
                </a:spcBef>
              </a:pPr>
              <a:t>36</a:t>
            </a:fld>
            <a:endParaRPr lang="en-US" altLang="zh-CN"/>
          </a:p>
        </p:txBody>
      </p:sp>
      <p:sp>
        <p:nvSpPr>
          <p:cNvPr id="62467" name="Rectangle 2"/>
          <p:cNvSpPr>
            <a:spLocks noGrp="1" noRot="1" noChangeAspect="1" noChangeArrowheads="1" noTextEdit="1"/>
          </p:cNvSpPr>
          <p:nvPr>
            <p:ph type="sldImg"/>
          </p:nvPr>
        </p:nvSpPr>
        <p:spPr>
          <a:xfrm>
            <a:off x="3429000" y="2400300"/>
            <a:ext cx="0" cy="0"/>
          </a:xfrm>
          <a:ln/>
        </p:spPr>
      </p:sp>
      <p:sp>
        <p:nvSpPr>
          <p:cNvPr id="62468"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06099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6B414CF-14C2-40FD-BC25-0BC71EDFDB32}" type="slidenum">
              <a:rPr lang="en-US" altLang="zh-CN" smtClean="0"/>
              <a:pPr>
                <a:spcBef>
                  <a:spcPct val="0"/>
                </a:spcBef>
              </a:pPr>
              <a:t>37</a:t>
            </a:fld>
            <a:endParaRPr lang="en-US" altLang="zh-CN"/>
          </a:p>
        </p:txBody>
      </p:sp>
      <p:sp>
        <p:nvSpPr>
          <p:cNvPr id="64515" name="Rectangle 2"/>
          <p:cNvSpPr>
            <a:spLocks noGrp="1" noRot="1" noChangeAspect="1" noChangeArrowheads="1" noTextEdit="1"/>
          </p:cNvSpPr>
          <p:nvPr>
            <p:ph type="sldImg"/>
          </p:nvPr>
        </p:nvSpPr>
        <p:spPr>
          <a:xfrm>
            <a:off x="3429000" y="2400300"/>
            <a:ext cx="0" cy="0"/>
          </a:xfrm>
          <a:ln/>
        </p:spPr>
      </p:sp>
      <p:sp>
        <p:nvSpPr>
          <p:cNvPr id="64516"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3460016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E95EF05-F85C-4262-9580-FB5A7B84698E}" type="slidenum">
              <a:rPr lang="en-US" altLang="zh-CN" smtClean="0"/>
              <a:pPr>
                <a:spcBef>
                  <a:spcPct val="0"/>
                </a:spcBef>
              </a:pPr>
              <a:t>38</a:t>
            </a:fld>
            <a:endParaRPr lang="en-US" altLang="zh-CN"/>
          </a:p>
        </p:txBody>
      </p:sp>
      <p:sp>
        <p:nvSpPr>
          <p:cNvPr id="66563" name="Rectangle 2"/>
          <p:cNvSpPr>
            <a:spLocks noGrp="1" noRot="1" noChangeAspect="1" noChangeArrowheads="1" noTextEdit="1"/>
          </p:cNvSpPr>
          <p:nvPr>
            <p:ph type="sldImg"/>
          </p:nvPr>
        </p:nvSpPr>
        <p:spPr>
          <a:xfrm>
            <a:off x="3429000" y="2400300"/>
            <a:ext cx="0" cy="0"/>
          </a:xfrm>
          <a:ln/>
        </p:spPr>
      </p:sp>
      <p:sp>
        <p:nvSpPr>
          <p:cNvPr id="66564"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41839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A47650A-BBFC-462F-AF6D-408E314A49FC}" type="slidenum">
              <a:rPr lang="en-US" altLang="zh-CN" smtClean="0"/>
              <a:pPr>
                <a:spcBef>
                  <a:spcPct val="0"/>
                </a:spcBef>
              </a:pPr>
              <a:t>39</a:t>
            </a:fld>
            <a:endParaRPr lang="en-US" altLang="zh-CN"/>
          </a:p>
        </p:txBody>
      </p:sp>
      <p:sp>
        <p:nvSpPr>
          <p:cNvPr id="68611" name="Rectangle 2"/>
          <p:cNvSpPr>
            <a:spLocks noGrp="1" noRot="1" noChangeAspect="1" noChangeArrowheads="1" noTextEdit="1"/>
          </p:cNvSpPr>
          <p:nvPr>
            <p:ph type="sldImg"/>
          </p:nvPr>
        </p:nvSpPr>
        <p:spPr>
          <a:xfrm>
            <a:off x="3429000" y="2400300"/>
            <a:ext cx="0" cy="0"/>
          </a:xfrm>
          <a:ln/>
        </p:spPr>
      </p:sp>
      <p:sp>
        <p:nvSpPr>
          <p:cNvPr id="68612"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011729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45D9F20-841F-45E6-BD6B-B7C4A23254D5}" type="slidenum">
              <a:rPr lang="en-US" altLang="zh-CN" smtClean="0"/>
              <a:pPr>
                <a:spcBef>
                  <a:spcPct val="0"/>
                </a:spcBef>
              </a:pPr>
              <a:t>42</a:t>
            </a:fld>
            <a:endParaRPr lang="en-US" altLang="zh-CN"/>
          </a:p>
        </p:txBody>
      </p:sp>
      <p:sp>
        <p:nvSpPr>
          <p:cNvPr id="72707" name="Rectangle 2"/>
          <p:cNvSpPr>
            <a:spLocks noGrp="1" noRot="1" noChangeAspect="1" noChangeArrowheads="1" noTextEdit="1"/>
          </p:cNvSpPr>
          <p:nvPr>
            <p:ph type="sldImg"/>
          </p:nvPr>
        </p:nvSpPr>
        <p:spPr>
          <a:xfrm>
            <a:off x="3429000" y="2400300"/>
            <a:ext cx="0" cy="0"/>
          </a:xfrm>
          <a:ln/>
        </p:spPr>
      </p:sp>
      <p:sp>
        <p:nvSpPr>
          <p:cNvPr id="72708"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4176207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C11A960-BC30-4BEC-A6D0-63EEE84073F6}" type="slidenum">
              <a:rPr lang="en-US" altLang="zh-CN" smtClean="0"/>
              <a:pPr>
                <a:spcBef>
                  <a:spcPct val="0"/>
                </a:spcBef>
              </a:pPr>
              <a:t>43</a:t>
            </a:fld>
            <a:endParaRPr lang="en-US" altLang="zh-CN"/>
          </a:p>
        </p:txBody>
      </p:sp>
      <p:sp>
        <p:nvSpPr>
          <p:cNvPr id="74755" name="Rectangle 2"/>
          <p:cNvSpPr>
            <a:spLocks noGrp="1" noRot="1" noChangeAspect="1" noChangeArrowheads="1" noTextEdit="1"/>
          </p:cNvSpPr>
          <p:nvPr>
            <p:ph type="sldImg"/>
          </p:nvPr>
        </p:nvSpPr>
        <p:spPr>
          <a:xfrm>
            <a:off x="3429000" y="2400300"/>
            <a:ext cx="0" cy="0"/>
          </a:xfrm>
          <a:ln/>
        </p:spPr>
      </p:sp>
      <p:sp>
        <p:nvSpPr>
          <p:cNvPr id="74756"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5902253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F70541E-6A9B-44F2-BD9B-F0D2EAED7B95}" type="slidenum">
              <a:rPr lang="en-US" altLang="zh-CN" smtClean="0"/>
              <a:pPr>
                <a:spcBef>
                  <a:spcPct val="0"/>
                </a:spcBef>
              </a:pPr>
              <a:t>46</a:t>
            </a:fld>
            <a:endParaRPr lang="en-US" altLang="zh-CN"/>
          </a:p>
        </p:txBody>
      </p:sp>
      <p:sp>
        <p:nvSpPr>
          <p:cNvPr id="78851" name="Rectangle 2"/>
          <p:cNvSpPr>
            <a:spLocks noGrp="1" noRot="1" noChangeAspect="1" noChangeArrowheads="1" noTextEdit="1"/>
          </p:cNvSpPr>
          <p:nvPr>
            <p:ph type="sldImg"/>
          </p:nvPr>
        </p:nvSpPr>
        <p:spPr>
          <a:xfrm>
            <a:off x="3429000" y="2400300"/>
            <a:ext cx="0" cy="0"/>
          </a:xfrm>
          <a:ln/>
        </p:spPr>
      </p:sp>
      <p:sp>
        <p:nvSpPr>
          <p:cNvPr id="78852"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28562821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5A2E6D4-B8B5-4DBA-A943-36F7F125D7B7}" type="slidenum">
              <a:rPr lang="en-US" altLang="zh-CN" smtClean="0"/>
              <a:pPr>
                <a:spcBef>
                  <a:spcPct val="0"/>
                </a:spcBef>
              </a:pPr>
              <a:t>47</a:t>
            </a:fld>
            <a:endParaRPr lang="en-US" altLang="zh-CN"/>
          </a:p>
        </p:txBody>
      </p:sp>
      <p:sp>
        <p:nvSpPr>
          <p:cNvPr id="153603" name="Rectangle 2"/>
          <p:cNvSpPr>
            <a:spLocks noGrp="1" noRot="1" noChangeAspect="1" noChangeArrowheads="1" noTextEdit="1"/>
          </p:cNvSpPr>
          <p:nvPr>
            <p:ph type="sldImg"/>
          </p:nvPr>
        </p:nvSpPr>
        <p:spPr>
          <a:xfrm>
            <a:off x="3429000" y="2400300"/>
            <a:ext cx="0" cy="0"/>
          </a:xfrm>
          <a:ln/>
        </p:spPr>
      </p:sp>
      <p:sp>
        <p:nvSpPr>
          <p:cNvPr id="153604" name="Rectangle 3"/>
          <p:cNvSpPr>
            <a:spLocks noGrp="1" noChangeArrowheads="1"/>
          </p:cNvSpPr>
          <p:nvPr>
            <p:ph type="body" idx="1"/>
          </p:nvPr>
        </p:nvSpPr>
        <p:spPr>
          <a:xfrm>
            <a:off x="914400" y="6262688"/>
            <a:ext cx="1403350" cy="27463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071983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21896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687810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95461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740243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138775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75353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1485881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1204059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3428145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365771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11426606-9BAD-42CC-8403-7B224A35E75E}" type="datetimeFigureOut">
              <a:rPr lang="zh-CN" altLang="en-US" smtClean="0"/>
              <a:t>2024/9/15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696641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924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263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426606-9BAD-42CC-8403-7B224A35E75E}" type="datetimeFigureOut">
              <a:rPr lang="zh-CN" altLang="en-US" smtClean="0"/>
              <a:t>2024/9/15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DE95B-AD02-4C00-ACA1-7D44BD51D314}" type="slidenum">
              <a:rPr lang="zh-CN" altLang="en-US" smtClean="0"/>
              <a:t>‹#›</a:t>
            </a:fld>
            <a:endParaRPr lang="zh-CN" altLang="en-US"/>
          </a:p>
        </p:txBody>
      </p:sp>
    </p:spTree>
    <p:extLst>
      <p:ext uri="{BB962C8B-B14F-4D97-AF65-F5344CB8AC3E}">
        <p14:creationId xmlns:p14="http://schemas.microsoft.com/office/powerpoint/2010/main" val="243455098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5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idx="4294967295"/>
          </p:nvPr>
        </p:nvSpPr>
        <p:spPr bwMode="auto">
          <a:xfrm>
            <a:off x="1141521" y="375081"/>
            <a:ext cx="7315200" cy="91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zh-CN" altLang="en-US" sz="3000" dirty="0">
                <a:latin typeface="楷体" panose="02010609060101010101" pitchFamily="49" charset="-122"/>
                <a:ea typeface="楷体" panose="02010609060101010101" pitchFamily="49" charset="-122"/>
              </a:rPr>
              <a:t>第</a:t>
            </a:r>
            <a:r>
              <a:rPr lang="en-US" altLang="zh-CN" sz="3000" dirty="0">
                <a:latin typeface="楷体" panose="02010609060101010101" pitchFamily="49" charset="-122"/>
                <a:ea typeface="楷体" panose="02010609060101010101" pitchFamily="49" charset="-122"/>
              </a:rPr>
              <a:t>3</a:t>
            </a:r>
            <a:r>
              <a:rPr lang="zh-CN" altLang="en-US" sz="3000" dirty="0">
                <a:latin typeface="楷体" panose="02010609060101010101" pitchFamily="49" charset="-122"/>
                <a:ea typeface="楷体" panose="02010609060101010101" pitchFamily="49" charset="-122"/>
              </a:rPr>
              <a:t>章　微型计算机的基本工作原理</a:t>
            </a:r>
            <a:endParaRPr lang="zh-CN" altLang="en-US" dirty="0">
              <a:latin typeface="楷体" panose="02010609060101010101" pitchFamily="49" charset="-122"/>
              <a:ea typeface="楷体" panose="02010609060101010101" pitchFamily="49" charset="-122"/>
            </a:endParaRPr>
          </a:p>
        </p:txBody>
      </p:sp>
      <p:sp>
        <p:nvSpPr>
          <p:cNvPr id="3075" name="Rectangle 3"/>
          <p:cNvSpPr>
            <a:spLocks noGrp="1" noChangeArrowheads="1"/>
          </p:cNvSpPr>
          <p:nvPr>
            <p:ph type="subTitle" idx="4294967295"/>
          </p:nvPr>
        </p:nvSpPr>
        <p:spPr bwMode="auto">
          <a:xfrm>
            <a:off x="2269725" y="1711911"/>
            <a:ext cx="5986509" cy="48244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None/>
            </a:pPr>
            <a:r>
              <a:rPr lang="en-US" altLang="zh-CN" sz="2600" dirty="0">
                <a:latin typeface="楷体" panose="02010609060101010101" pitchFamily="49" charset="-122"/>
                <a:ea typeface="楷体" panose="02010609060101010101" pitchFamily="49" charset="-122"/>
              </a:rPr>
              <a:t>3.1</a:t>
            </a:r>
            <a:r>
              <a:rPr lang="zh-CN" altLang="en-US" sz="2600" dirty="0">
                <a:latin typeface="楷体" panose="02010609060101010101" pitchFamily="49" charset="-122"/>
                <a:ea typeface="楷体" panose="02010609060101010101" pitchFamily="49" charset="-122"/>
              </a:rPr>
              <a:t>　微型计算机结构的简化形式</a:t>
            </a:r>
          </a:p>
          <a:p>
            <a:pPr eaLnBrk="1" hangingPunct="1">
              <a:buFontTx/>
              <a:buNone/>
            </a:pPr>
            <a:r>
              <a:rPr lang="en-US" altLang="zh-CN" sz="2600" dirty="0">
                <a:latin typeface="楷体" panose="02010609060101010101" pitchFamily="49" charset="-122"/>
                <a:ea typeface="楷体" panose="02010609060101010101" pitchFamily="49" charset="-122"/>
              </a:rPr>
              <a:t>3.2</a:t>
            </a:r>
            <a:r>
              <a:rPr lang="zh-CN" altLang="en-US" sz="2600" dirty="0">
                <a:latin typeface="楷体" panose="02010609060101010101" pitchFamily="49" charset="-122"/>
                <a:ea typeface="楷体" panose="02010609060101010101" pitchFamily="49" charset="-122"/>
              </a:rPr>
              <a:t>　指令系统</a:t>
            </a:r>
          </a:p>
          <a:p>
            <a:pPr eaLnBrk="1" hangingPunct="1">
              <a:buFontTx/>
              <a:buNone/>
            </a:pPr>
            <a:r>
              <a:rPr lang="en-US" altLang="zh-CN" sz="2600" dirty="0">
                <a:latin typeface="楷体" panose="02010609060101010101" pitchFamily="49" charset="-122"/>
                <a:ea typeface="楷体" panose="02010609060101010101" pitchFamily="49" charset="-122"/>
              </a:rPr>
              <a:t>3.3</a:t>
            </a:r>
            <a:r>
              <a:rPr lang="zh-CN" altLang="en-US" sz="2600" dirty="0">
                <a:latin typeface="楷体" panose="02010609060101010101" pitchFamily="49" charset="-122"/>
                <a:ea typeface="楷体" panose="02010609060101010101" pitchFamily="49" charset="-122"/>
              </a:rPr>
              <a:t>　程序设计</a:t>
            </a:r>
          </a:p>
          <a:p>
            <a:pPr eaLnBrk="1" hangingPunct="1">
              <a:buFontTx/>
              <a:buNone/>
            </a:pPr>
            <a:r>
              <a:rPr lang="en-US" altLang="zh-CN" sz="2600" dirty="0">
                <a:latin typeface="楷体" panose="02010609060101010101" pitchFamily="49" charset="-122"/>
                <a:ea typeface="楷体" panose="02010609060101010101" pitchFamily="49" charset="-122"/>
              </a:rPr>
              <a:t>3.4</a:t>
            </a:r>
            <a:r>
              <a:rPr lang="zh-CN" altLang="en-US" sz="2600" dirty="0">
                <a:latin typeface="楷体" panose="02010609060101010101" pitchFamily="49" charset="-122"/>
                <a:ea typeface="楷体" panose="02010609060101010101" pitchFamily="49" charset="-122"/>
              </a:rPr>
              <a:t>　执行指令的例行程序</a:t>
            </a:r>
          </a:p>
          <a:p>
            <a:pPr eaLnBrk="1" hangingPunct="1">
              <a:buFontTx/>
              <a:buNone/>
            </a:pPr>
            <a:r>
              <a:rPr lang="en-US" altLang="zh-CN" sz="2600" dirty="0">
                <a:latin typeface="楷体" panose="02010609060101010101" pitchFamily="49" charset="-122"/>
                <a:ea typeface="楷体" panose="02010609060101010101" pitchFamily="49" charset="-122"/>
              </a:rPr>
              <a:t>3.5</a:t>
            </a:r>
            <a:r>
              <a:rPr lang="zh-CN" altLang="en-US" sz="2600" dirty="0">
                <a:latin typeface="楷体" panose="02010609060101010101" pitchFamily="49" charset="-122"/>
                <a:ea typeface="楷体" panose="02010609060101010101" pitchFamily="49" charset="-122"/>
              </a:rPr>
              <a:t>　控制部件</a:t>
            </a:r>
          </a:p>
          <a:p>
            <a:pPr eaLnBrk="1" hangingPunct="1">
              <a:buFontTx/>
              <a:buNone/>
            </a:pPr>
            <a:r>
              <a:rPr lang="en-US" altLang="zh-CN" sz="2600" dirty="0">
                <a:solidFill>
                  <a:srgbClr val="00B0F0"/>
                </a:solidFill>
                <a:latin typeface="楷体" panose="02010609060101010101" pitchFamily="49" charset="-122"/>
                <a:ea typeface="楷体" panose="02010609060101010101" pitchFamily="49" charset="-122"/>
              </a:rPr>
              <a:t>3.6</a:t>
            </a:r>
            <a:r>
              <a:rPr lang="zh-CN" altLang="en-US" sz="2600" dirty="0">
                <a:solidFill>
                  <a:srgbClr val="00B0F0"/>
                </a:solidFill>
                <a:latin typeface="楷体" panose="02010609060101010101" pitchFamily="49" charset="-122"/>
                <a:ea typeface="楷体" panose="02010609060101010101" pitchFamily="49" charset="-122"/>
              </a:rPr>
              <a:t>　微型计算机功能的扩展</a:t>
            </a:r>
          </a:p>
          <a:p>
            <a:pPr eaLnBrk="1" hangingPunct="1">
              <a:buFontTx/>
              <a:buNone/>
            </a:pPr>
            <a:r>
              <a:rPr lang="en-US" altLang="zh-CN" sz="2600" dirty="0">
                <a:solidFill>
                  <a:srgbClr val="00B0F0"/>
                </a:solidFill>
                <a:latin typeface="楷体" panose="02010609060101010101" pitchFamily="49" charset="-122"/>
                <a:ea typeface="楷体" panose="02010609060101010101" pitchFamily="49" charset="-122"/>
              </a:rPr>
              <a:t>3.7</a:t>
            </a:r>
            <a:r>
              <a:rPr lang="zh-CN" altLang="en-US" sz="2600" dirty="0">
                <a:solidFill>
                  <a:srgbClr val="00B0F0"/>
                </a:solidFill>
                <a:latin typeface="楷体" panose="02010609060101010101" pitchFamily="49" charset="-122"/>
                <a:ea typeface="楷体" panose="02010609060101010101" pitchFamily="49" charset="-122"/>
              </a:rPr>
              <a:t>　初级程序设计举例</a:t>
            </a:r>
          </a:p>
          <a:p>
            <a:pPr eaLnBrk="1" hangingPunct="1">
              <a:buFontTx/>
              <a:buNone/>
            </a:pPr>
            <a:r>
              <a:rPr lang="en-US" altLang="zh-CN" sz="2600" dirty="0">
                <a:solidFill>
                  <a:srgbClr val="00B0F0"/>
                </a:solidFill>
                <a:latin typeface="楷体" panose="02010609060101010101" pitchFamily="49" charset="-122"/>
                <a:ea typeface="楷体" panose="02010609060101010101" pitchFamily="49" charset="-122"/>
              </a:rPr>
              <a:t>3.8</a:t>
            </a:r>
            <a:r>
              <a:rPr lang="zh-CN" altLang="en-US" sz="2600" dirty="0">
                <a:solidFill>
                  <a:srgbClr val="00B0F0"/>
                </a:solidFill>
                <a:latin typeface="楷体" panose="02010609060101010101" pitchFamily="49" charset="-122"/>
                <a:ea typeface="楷体" panose="02010609060101010101" pitchFamily="49" charset="-122"/>
              </a:rPr>
              <a:t>　控制部件的扩展</a:t>
            </a:r>
          </a:p>
          <a:p>
            <a:pPr eaLnBrk="1" hangingPunct="1">
              <a:buFontTx/>
              <a:buNone/>
            </a:pPr>
            <a:r>
              <a:rPr lang="en-US" altLang="zh-CN" sz="2600" dirty="0">
                <a:solidFill>
                  <a:srgbClr val="00B0F0"/>
                </a:solidFill>
                <a:latin typeface="楷体" panose="02010609060101010101" pitchFamily="49" charset="-122"/>
                <a:ea typeface="楷体" panose="02010609060101010101" pitchFamily="49" charset="-122"/>
              </a:rPr>
              <a:t>3.9</a:t>
            </a:r>
            <a:r>
              <a:rPr lang="zh-CN" altLang="en-US" sz="2600" dirty="0">
                <a:solidFill>
                  <a:srgbClr val="00B0F0"/>
                </a:solidFill>
                <a:latin typeface="楷体" panose="02010609060101010101" pitchFamily="49" charset="-122"/>
                <a:ea typeface="楷体" panose="02010609060101010101" pitchFamily="49" charset="-122"/>
              </a:rPr>
              <a:t>　现代技术在微型计算机中的应用</a:t>
            </a:r>
          </a:p>
        </p:txBody>
      </p:sp>
    </p:spTree>
    <p:extLst>
      <p:ext uri="{BB962C8B-B14F-4D97-AF65-F5344CB8AC3E}">
        <p14:creationId xmlns:p14="http://schemas.microsoft.com/office/powerpoint/2010/main" val="571012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subTitle" idx="4294967295"/>
          </p:nvPr>
        </p:nvSpPr>
        <p:spPr bwMode="auto">
          <a:xfrm>
            <a:off x="357187" y="1490663"/>
            <a:ext cx="8484971" cy="419992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marL="0" indent="0" eaLnBrk="1" hangingPunct="1">
              <a:lnSpc>
                <a:spcPct val="130000"/>
              </a:lnSpc>
              <a:spcBef>
                <a:spcPts val="0"/>
              </a:spcBef>
              <a:buFontTx/>
              <a:buNone/>
            </a:pPr>
            <a:r>
              <a:rPr lang="zh-CN" altLang="en-US" dirty="0">
                <a:solidFill>
                  <a:srgbClr val="00B0F0"/>
                </a:solidFill>
                <a:latin typeface="楷体" panose="02010609060101010101" pitchFamily="49" charset="-122"/>
                <a:ea typeface="楷体" panose="02010609060101010101" pitchFamily="49" charset="-122"/>
              </a:rPr>
              <a:t>    微型计算机的电路结构（相当复杂）：它</a:t>
            </a:r>
            <a:r>
              <a:rPr lang="zh-CN" altLang="en-US" dirty="0">
                <a:latin typeface="楷体" panose="02010609060101010101" pitchFamily="49" charset="-122"/>
                <a:ea typeface="楷体" panose="02010609060101010101" pitchFamily="49" charset="-122"/>
              </a:rPr>
              <a:t>由若干电路环节或若干大块组成；每大块又由若干电路部件组成；每个电路部件又由若干微电子元器件组成</a:t>
            </a:r>
            <a:r>
              <a:rPr lang="en-US" altLang="zh-CN" dirty="0">
                <a:latin typeface="楷体" panose="02010609060101010101" pitchFamily="49" charset="-122"/>
                <a:ea typeface="楷体" panose="02010609060101010101" pitchFamily="49" charset="-122"/>
              </a:rPr>
              <a:t>……</a:t>
            </a:r>
            <a:endParaRPr lang="zh-CN" altLang="en-US" dirty="0">
              <a:latin typeface="楷体" panose="02010609060101010101" pitchFamily="49" charset="-122"/>
              <a:ea typeface="楷体" panose="02010609060101010101" pitchFamily="49" charset="-122"/>
            </a:endParaRPr>
          </a:p>
          <a:p>
            <a:pPr marL="0" indent="0" eaLnBrk="1" hangingPunct="1">
              <a:lnSpc>
                <a:spcPct val="130000"/>
              </a:lnSpc>
              <a:spcBef>
                <a:spcPts val="0"/>
              </a:spcBef>
              <a:buFontTx/>
              <a:buNone/>
            </a:pPr>
            <a:r>
              <a:rPr lang="zh-CN" altLang="en-US" dirty="0">
                <a:solidFill>
                  <a:srgbClr val="00B0F0"/>
                </a:solidFill>
                <a:latin typeface="楷体" panose="02010609060101010101" pitchFamily="49" charset="-122"/>
                <a:ea typeface="楷体" panose="02010609060101010101" pitchFamily="49" charset="-122"/>
              </a:rPr>
              <a:t>    基本功能：</a:t>
            </a:r>
            <a:r>
              <a:rPr lang="zh-CN" altLang="en-US" dirty="0">
                <a:latin typeface="楷体" panose="02010609060101010101" pitchFamily="49" charset="-122"/>
                <a:ea typeface="楷体" panose="02010609060101010101" pitchFamily="49" charset="-122"/>
              </a:rPr>
              <a:t>概括为</a:t>
            </a:r>
            <a:r>
              <a:rPr lang="zh-CN" altLang="en-US" dirty="0">
                <a:solidFill>
                  <a:srgbClr val="FF0000"/>
                </a:solidFill>
                <a:latin typeface="楷体" panose="02010609060101010101" pitchFamily="49" charset="-122"/>
                <a:ea typeface="楷体" panose="02010609060101010101" pitchFamily="49" charset="-122"/>
              </a:rPr>
              <a:t>“三能一快”</a:t>
            </a:r>
            <a:r>
              <a:rPr lang="zh-CN" altLang="en-US" dirty="0">
                <a:latin typeface="楷体" panose="02010609060101010101" pitchFamily="49" charset="-122"/>
                <a:ea typeface="楷体" panose="02010609060101010101" pitchFamily="49" charset="-122"/>
              </a:rPr>
              <a:t>，能运算</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加、减、乘、除</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、能判别</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大于、小于、等于、真、假</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及能决策</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根据判别来决定下一步的工作</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但所有这些“能”的过程都必须建立在“快”的基础上。</a:t>
            </a:r>
          </a:p>
        </p:txBody>
      </p:sp>
    </p:spTree>
    <p:extLst>
      <p:ext uri="{BB962C8B-B14F-4D97-AF65-F5344CB8AC3E}">
        <p14:creationId xmlns:p14="http://schemas.microsoft.com/office/powerpoint/2010/main" val="2642876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339431" y="1623828"/>
            <a:ext cx="8484971" cy="419992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0"/>
              </a:spcBef>
              <a:buFontTx/>
              <a:buNone/>
            </a:pPr>
            <a:r>
              <a:rPr lang="zh-CN" altLang="en-US" dirty="0">
                <a:solidFill>
                  <a:srgbClr val="00B0F0"/>
                </a:solidFill>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微型计算机的电路结构的这种基本功能从电路来理解，就是</a:t>
            </a:r>
            <a:r>
              <a:rPr lang="zh-CN" altLang="en-US" dirty="0">
                <a:solidFill>
                  <a:srgbClr val="FF0000"/>
                </a:solidFill>
                <a:latin typeface="楷体" panose="02010609060101010101" pitchFamily="49" charset="-122"/>
                <a:ea typeface="楷体" panose="02010609060101010101" pitchFamily="49" charset="-122"/>
              </a:rPr>
              <a:t>信息在各个部件间的流通问题。</a:t>
            </a:r>
            <a:endParaRPr lang="en-US" altLang="zh-CN" dirty="0">
              <a:solidFill>
                <a:srgbClr val="FF0000"/>
              </a:solidFill>
              <a:latin typeface="楷体" panose="02010609060101010101" pitchFamily="49" charset="-122"/>
              <a:ea typeface="楷体" panose="02010609060101010101" pitchFamily="49" charset="-122"/>
            </a:endParaRPr>
          </a:p>
          <a:p>
            <a:pPr marL="0" indent="0">
              <a:lnSpc>
                <a:spcPct val="130000"/>
              </a:lnSpc>
              <a:spcBef>
                <a:spcPts val="0"/>
              </a:spcBef>
              <a:buFontTx/>
              <a:buNone/>
            </a:pPr>
            <a:endParaRPr lang="en-US" altLang="zh-CN" dirty="0">
              <a:solidFill>
                <a:srgbClr val="FF0000"/>
              </a:solidFill>
              <a:latin typeface="楷体" panose="02010609060101010101" pitchFamily="49" charset="-122"/>
              <a:ea typeface="楷体" panose="02010609060101010101" pitchFamily="49" charset="-122"/>
            </a:endParaRPr>
          </a:p>
          <a:p>
            <a:pPr marL="0" indent="0">
              <a:lnSpc>
                <a:spcPct val="130000"/>
              </a:lnSpc>
              <a:spcBef>
                <a:spcPts val="0"/>
              </a:spcBef>
              <a:buFontTx/>
              <a:buNone/>
            </a:pPr>
            <a:r>
              <a:rPr lang="en-US" altLang="zh-CN" dirty="0">
                <a:solidFill>
                  <a:srgbClr val="FF0000"/>
                </a:solidFill>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本章以一个</a:t>
            </a:r>
            <a:r>
              <a:rPr lang="zh-CN" altLang="en-US" dirty="0">
                <a:solidFill>
                  <a:srgbClr val="FF0000"/>
                </a:solidFill>
                <a:latin typeface="楷体" panose="02010609060101010101" pitchFamily="49" charset="-122"/>
                <a:ea typeface="楷体" panose="02010609060101010101" pitchFamily="49" charset="-122"/>
              </a:rPr>
              <a:t>简化版微型计算机</a:t>
            </a:r>
            <a:r>
              <a:rPr lang="zh-CN" altLang="en-US" dirty="0">
                <a:latin typeface="楷体" panose="02010609060101010101" pitchFamily="49" charset="-122"/>
                <a:ea typeface="楷体" panose="02010609060101010101" pitchFamily="49" charset="-122"/>
              </a:rPr>
              <a:t>为分析对象，逐步分析计算机的基本功能及信息如何在各个部件之间流通，从而概括微型计算机的基本工作原理。</a:t>
            </a:r>
          </a:p>
        </p:txBody>
      </p:sp>
    </p:spTree>
    <p:extLst>
      <p:ext uri="{BB962C8B-B14F-4D97-AF65-F5344CB8AC3E}">
        <p14:creationId xmlns:p14="http://schemas.microsoft.com/office/powerpoint/2010/main" val="1689975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bwMode="auto">
          <a:xfrm>
            <a:off x="2114967" y="302430"/>
            <a:ext cx="5741771" cy="67944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Autofit/>
          </a:bodyPr>
          <a:lstStyle/>
          <a:p>
            <a:pPr>
              <a:lnSpc>
                <a:spcPct val="130000"/>
              </a:lnSpc>
              <a:spcBef>
                <a:spcPts val="0"/>
              </a:spcBef>
            </a:pPr>
            <a:r>
              <a:rPr lang="en-US" altLang="zh-CN" sz="2800" dirty="0">
                <a:latin typeface="楷体" panose="02010609060101010101" pitchFamily="49" charset="-122"/>
                <a:ea typeface="楷体" panose="02010609060101010101" pitchFamily="49" charset="-122"/>
                <a:cs typeface="+mn-cs"/>
              </a:rPr>
              <a:t>3.1   </a:t>
            </a:r>
            <a:r>
              <a:rPr lang="zh-CN" altLang="en-US" sz="2800" dirty="0">
                <a:latin typeface="楷体" panose="02010609060101010101" pitchFamily="49" charset="-122"/>
                <a:ea typeface="楷体" panose="02010609060101010101" pitchFamily="49" charset="-122"/>
                <a:cs typeface="+mn-cs"/>
              </a:rPr>
              <a:t>微型计算机结构的简化形式</a:t>
            </a:r>
          </a:p>
        </p:txBody>
      </p:sp>
      <p:sp>
        <p:nvSpPr>
          <p:cNvPr id="6147" name="Rectangle 3"/>
          <p:cNvSpPr>
            <a:spLocks noGrp="1" noChangeArrowheads="1"/>
          </p:cNvSpPr>
          <p:nvPr>
            <p:ph type="body" idx="4294967295"/>
          </p:nvPr>
        </p:nvSpPr>
        <p:spPr bwMode="auto">
          <a:xfrm>
            <a:off x="204603" y="1214438"/>
            <a:ext cx="3957637" cy="52149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30000"/>
              </a:lnSpc>
              <a:spcBef>
                <a:spcPts val="0"/>
              </a:spcBef>
              <a:buNone/>
            </a:pPr>
            <a:r>
              <a:rPr lang="zh-CN" altLang="en-US" sz="2400" dirty="0">
                <a:latin typeface="楷体" panose="02010609060101010101" pitchFamily="49" charset="-122"/>
                <a:ea typeface="楷体" panose="02010609060101010101" pitchFamily="49" charset="-122"/>
              </a:rPr>
              <a:t>    简化微型计算机的硬件结构如图</a:t>
            </a:r>
            <a:r>
              <a:rPr lang="en-US" altLang="zh-CN" sz="2400" dirty="0">
                <a:latin typeface="楷体" panose="02010609060101010101" pitchFamily="49" charset="-122"/>
                <a:ea typeface="楷体" panose="02010609060101010101" pitchFamily="49" charset="-122"/>
              </a:rPr>
              <a:t>3.1(a):</a:t>
            </a:r>
            <a:endParaRPr lang="zh-CN" altLang="en-US" sz="2400" dirty="0">
              <a:latin typeface="楷体" panose="02010609060101010101" pitchFamily="49" charset="-122"/>
              <a:ea typeface="楷体" panose="02010609060101010101" pitchFamily="49" charset="-122"/>
            </a:endParaRPr>
          </a:p>
          <a:p>
            <a:pPr marL="0" indent="0">
              <a:lnSpc>
                <a:spcPct val="130000"/>
              </a:lnSpc>
              <a:spcBef>
                <a:spcPts val="0"/>
              </a:spcBef>
              <a:buNone/>
            </a:pPr>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功能简单：只能做两个数的加、减法。</a:t>
            </a:r>
          </a:p>
          <a:p>
            <a:pPr marL="0" indent="0">
              <a:lnSpc>
                <a:spcPct val="130000"/>
              </a:lnSpc>
              <a:spcBef>
                <a:spcPts val="0"/>
              </a:spcBef>
              <a:buNone/>
            </a:pPr>
            <a:r>
              <a:rPr lang="en-US" altLang="zh-CN" sz="2400" dirty="0">
                <a:latin typeface="楷体" panose="02010609060101010101" pitchFamily="49" charset="-122"/>
                <a:ea typeface="楷体" panose="02010609060101010101" pitchFamily="49" charset="-122"/>
              </a:rPr>
              <a:t>(2) </a:t>
            </a:r>
            <a:r>
              <a:rPr lang="zh-CN" altLang="en-US" sz="2400" dirty="0">
                <a:latin typeface="楷体" panose="02010609060101010101" pitchFamily="49" charset="-122"/>
                <a:ea typeface="楷体" panose="02010609060101010101" pitchFamily="49" charset="-122"/>
              </a:rPr>
              <a:t>内存量小：只有一个</a:t>
            </a:r>
            <a:r>
              <a:rPr lang="en-US" altLang="zh-CN" sz="2400" dirty="0">
                <a:latin typeface="楷体" panose="02010609060101010101" pitchFamily="49" charset="-122"/>
                <a:ea typeface="楷体" panose="02010609060101010101" pitchFamily="49" charset="-122"/>
              </a:rPr>
              <a:t>16×8PROM(</a:t>
            </a:r>
            <a:r>
              <a:rPr lang="zh-CN" altLang="en-US" sz="2400" dirty="0">
                <a:latin typeface="楷体" panose="02010609060101010101" pitchFamily="49" charset="-122"/>
                <a:ea typeface="楷体" panose="02010609060101010101" pitchFamily="49" charset="-122"/>
              </a:rPr>
              <a:t>可编程序只读存储器</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p>
          <a:p>
            <a:pPr marL="0" indent="0">
              <a:lnSpc>
                <a:spcPct val="130000"/>
              </a:lnSpc>
              <a:spcBef>
                <a:spcPts val="0"/>
              </a:spcBef>
              <a:buNone/>
            </a:pPr>
            <a:r>
              <a:rPr lang="en-US" altLang="zh-CN" sz="2400" dirty="0">
                <a:latin typeface="楷体" panose="02010609060101010101" pitchFamily="49" charset="-122"/>
                <a:ea typeface="楷体" panose="02010609060101010101" pitchFamily="49" charset="-122"/>
              </a:rPr>
              <a:t>(3) </a:t>
            </a:r>
            <a:r>
              <a:rPr lang="zh-CN" altLang="en-US" sz="2400" dirty="0">
                <a:latin typeface="楷体" panose="02010609060101010101" pitchFamily="49" charset="-122"/>
                <a:ea typeface="楷体" panose="02010609060101010101" pitchFamily="49" charset="-122"/>
              </a:rPr>
              <a:t>字长</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位：二进制</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位显示。</a:t>
            </a:r>
          </a:p>
          <a:p>
            <a:pPr marL="0" indent="0">
              <a:lnSpc>
                <a:spcPct val="130000"/>
              </a:lnSpc>
              <a:spcBef>
                <a:spcPts val="0"/>
              </a:spcBef>
              <a:buNone/>
            </a:pPr>
            <a:r>
              <a:rPr lang="en-US" altLang="zh-CN" sz="2400" dirty="0">
                <a:latin typeface="楷体" panose="02010609060101010101" pitchFamily="49" charset="-122"/>
                <a:ea typeface="楷体" panose="02010609060101010101" pitchFamily="49" charset="-122"/>
              </a:rPr>
              <a:t>(4) </a:t>
            </a:r>
            <a:r>
              <a:rPr lang="zh-CN" altLang="en-US" sz="2400" dirty="0">
                <a:latin typeface="楷体" panose="02010609060101010101" pitchFamily="49" charset="-122"/>
                <a:ea typeface="楷体" panose="02010609060101010101" pitchFamily="49" charset="-122"/>
              </a:rPr>
              <a:t>手动输入：用拨动开关输入程序和数据。</a:t>
            </a:r>
          </a:p>
        </p:txBody>
      </p:sp>
      <p:sp>
        <p:nvSpPr>
          <p:cNvPr id="6148" name="Text Box 3"/>
          <p:cNvSpPr txBox="1">
            <a:spLocks noChangeArrowheads="1"/>
          </p:cNvSpPr>
          <p:nvPr/>
        </p:nvSpPr>
        <p:spPr bwMode="auto">
          <a:xfrm>
            <a:off x="4429125" y="6226939"/>
            <a:ext cx="4429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3.1a  </a:t>
            </a:r>
            <a:r>
              <a:rPr lang="zh-CN" altLang="en-US" sz="2000" dirty="0">
                <a:latin typeface="楷体" panose="02010609060101010101" pitchFamily="49" charset="-122"/>
                <a:ea typeface="楷体" panose="02010609060101010101" pitchFamily="49" charset="-122"/>
              </a:rPr>
              <a:t>微型计算机的简化结构</a:t>
            </a:r>
            <a:endParaRPr lang="en-US" altLang="zh-CN" sz="2000" dirty="0">
              <a:latin typeface="楷体" panose="02010609060101010101" pitchFamily="49" charset="-122"/>
              <a:ea typeface="楷体" panose="02010609060101010101" pitchFamily="49" charset="-122"/>
            </a:endParaRPr>
          </a:p>
        </p:txBody>
      </p:sp>
      <p:pic>
        <p:nvPicPr>
          <p:cNvPr id="6149" name="图片 5" descr="图3"/>
          <p:cNvPicPr>
            <a:picLocks noChangeAspect="1" noChangeArrowheads="1"/>
          </p:cNvPicPr>
          <p:nvPr/>
        </p:nvPicPr>
        <p:blipFill>
          <a:blip r:embed="rId2">
            <a:extLst>
              <a:ext uri="{28A0092B-C50C-407E-A947-70E740481C1C}">
                <a14:useLocalDpi xmlns:a14="http://schemas.microsoft.com/office/drawing/2010/main" val="0"/>
              </a:ext>
            </a:extLst>
          </a:blip>
          <a:srcRect r="35468" b="11230"/>
          <a:stretch>
            <a:fillRect/>
          </a:stretch>
        </p:blipFill>
        <p:spPr bwMode="auto">
          <a:xfrm>
            <a:off x="4000500" y="1214438"/>
            <a:ext cx="5072063"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7034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subTitle" idx="4294967295"/>
          </p:nvPr>
        </p:nvSpPr>
        <p:spPr bwMode="auto">
          <a:xfrm>
            <a:off x="142460" y="1249387"/>
            <a:ext cx="4003412" cy="495799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30000"/>
              </a:lnSpc>
              <a:spcBef>
                <a:spcPts val="0"/>
              </a:spcBef>
              <a:buNone/>
            </a:pPr>
            <a:r>
              <a:rPr lang="zh-CN" altLang="en-US" sz="2400" dirty="0">
                <a:latin typeface="楷体" panose="02010609060101010101" pitchFamily="49" charset="-122"/>
                <a:ea typeface="楷体" panose="02010609060101010101" pitchFamily="49" charset="-122"/>
              </a:rPr>
              <a:t>微型计算机的各个部件：</a:t>
            </a:r>
          </a:p>
          <a:p>
            <a:pPr marL="0" indent="0">
              <a:lnSpc>
                <a:spcPct val="130000"/>
              </a:lnSpc>
              <a:spcBef>
                <a:spcPts val="0"/>
              </a:spcBef>
              <a:buNone/>
            </a:pPr>
            <a:r>
              <a:rPr lang="en-US" altLang="zh-CN" sz="2400" dirty="0">
                <a:latin typeface="楷体" panose="02010609060101010101" pitchFamily="49" charset="-122"/>
                <a:ea typeface="楷体" panose="02010609060101010101" pitchFamily="49" charset="-122"/>
              </a:rPr>
              <a:t>1.</a:t>
            </a:r>
            <a:r>
              <a:rPr lang="zh-CN" altLang="en-US" sz="2400" dirty="0">
                <a:solidFill>
                  <a:srgbClr val="FF0000"/>
                </a:solidFill>
                <a:latin typeface="楷体" panose="02010609060101010101" pitchFamily="49" charset="-122"/>
                <a:ea typeface="楷体" panose="02010609060101010101" pitchFamily="49" charset="-122"/>
              </a:rPr>
              <a:t>程序计数器</a:t>
            </a:r>
            <a:r>
              <a:rPr lang="en-US" altLang="zh-CN" sz="2400" dirty="0">
                <a:solidFill>
                  <a:srgbClr val="FF0000"/>
                </a:solidFill>
                <a:latin typeface="楷体" panose="02010609060101010101" pitchFamily="49" charset="-122"/>
                <a:ea typeface="楷体" panose="02010609060101010101" pitchFamily="49" charset="-122"/>
              </a:rPr>
              <a:t>PC</a:t>
            </a:r>
            <a:r>
              <a:rPr lang="zh-CN" altLang="en-US" sz="2400" dirty="0">
                <a:latin typeface="楷体" panose="02010609060101010101" pitchFamily="49" charset="-122"/>
                <a:ea typeface="楷体" panose="02010609060101010101" pitchFamily="49" charset="-122"/>
              </a:rPr>
              <a:t>计数范围由</a:t>
            </a:r>
            <a:r>
              <a:rPr lang="en-US" altLang="zh-CN" sz="2400" dirty="0">
                <a:latin typeface="楷体" panose="02010609060101010101" pitchFamily="49" charset="-122"/>
                <a:ea typeface="楷体" panose="02010609060101010101" pitchFamily="49" charset="-122"/>
              </a:rPr>
              <a:t>0000</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1111</a:t>
            </a:r>
            <a:r>
              <a:rPr lang="zh-CN" altLang="en-US" sz="2400" dirty="0">
                <a:latin typeface="楷体" panose="02010609060101010101" pitchFamily="49" charset="-122"/>
                <a:ea typeface="楷体" panose="02010609060101010101" pitchFamily="49" charset="-122"/>
              </a:rPr>
              <a:t>，每次运行之前，先复位</a:t>
            </a:r>
            <a:r>
              <a:rPr lang="en-US" altLang="zh-CN" sz="2400" dirty="0">
                <a:latin typeface="楷体" panose="02010609060101010101" pitchFamily="49" charset="-122"/>
                <a:ea typeface="楷体" panose="02010609060101010101" pitchFamily="49" charset="-122"/>
              </a:rPr>
              <a:t>0000</a:t>
            </a:r>
            <a:r>
              <a:rPr lang="zh-CN" altLang="en-US" sz="2400" dirty="0">
                <a:latin typeface="楷体" panose="02010609060101010101" pitchFamily="49" charset="-122"/>
                <a:ea typeface="楷体" panose="02010609060101010101" pitchFamily="49" charset="-122"/>
              </a:rPr>
              <a:t>。当取出一条指令后，</a:t>
            </a:r>
            <a:r>
              <a:rPr lang="en-US" altLang="zh-CN" sz="2400" dirty="0">
                <a:latin typeface="楷体" panose="02010609060101010101" pitchFamily="49" charset="-122"/>
                <a:ea typeface="楷体" panose="02010609060101010101" pitchFamily="49" charset="-122"/>
              </a:rPr>
              <a:t>PC</a:t>
            </a:r>
            <a:r>
              <a:rPr lang="zh-CN" altLang="en-US" sz="2400" dirty="0">
                <a:latin typeface="楷体" panose="02010609060101010101" pitchFamily="49" charset="-122"/>
                <a:ea typeface="楷体" panose="02010609060101010101" pitchFamily="49" charset="-122"/>
              </a:rPr>
              <a:t>应加</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a:t>
            </a:r>
          </a:p>
          <a:p>
            <a:pPr marL="0" indent="0">
              <a:lnSpc>
                <a:spcPct val="130000"/>
              </a:lnSpc>
              <a:spcBef>
                <a:spcPts val="0"/>
              </a:spcBef>
              <a:buNone/>
            </a:pPr>
            <a:r>
              <a:rPr lang="en-US" altLang="zh-CN" sz="2400" dirty="0">
                <a:latin typeface="楷体" panose="02010609060101010101" pitchFamily="49" charset="-122"/>
                <a:ea typeface="楷体" panose="02010609060101010101" pitchFamily="49" charset="-122"/>
              </a:rPr>
              <a:t>2.</a:t>
            </a:r>
            <a:r>
              <a:rPr lang="zh-CN" altLang="en-US" sz="2400" dirty="0">
                <a:solidFill>
                  <a:srgbClr val="FF0000"/>
                </a:solidFill>
                <a:latin typeface="楷体" panose="02010609060101010101" pitchFamily="49" charset="-122"/>
                <a:ea typeface="楷体" panose="02010609060101010101" pitchFamily="49" charset="-122"/>
              </a:rPr>
              <a:t>存储地址寄存器</a:t>
            </a:r>
            <a:r>
              <a:rPr lang="en-US" altLang="zh-CN" sz="2400" dirty="0">
                <a:solidFill>
                  <a:srgbClr val="FF0000"/>
                </a:solidFill>
                <a:latin typeface="楷体" panose="02010609060101010101" pitchFamily="49" charset="-122"/>
                <a:ea typeface="楷体" panose="02010609060101010101" pitchFamily="49" charset="-122"/>
              </a:rPr>
              <a:t>MAR</a:t>
            </a:r>
            <a:r>
              <a:rPr lang="zh-CN" altLang="en-US" sz="2400" dirty="0">
                <a:latin typeface="楷体" panose="02010609060101010101" pitchFamily="49" charset="-122"/>
                <a:ea typeface="楷体" panose="02010609060101010101" pitchFamily="49" charset="-122"/>
              </a:rPr>
              <a:t>接收来自</a:t>
            </a:r>
            <a:r>
              <a:rPr lang="en-US" altLang="zh-CN" sz="2400" dirty="0">
                <a:latin typeface="楷体" panose="02010609060101010101" pitchFamily="49" charset="-122"/>
                <a:ea typeface="楷体" panose="02010609060101010101" pitchFamily="49" charset="-122"/>
              </a:rPr>
              <a:t>PC</a:t>
            </a:r>
            <a:r>
              <a:rPr lang="zh-CN" altLang="en-US" sz="2400" dirty="0">
                <a:latin typeface="楷体" panose="02010609060101010101" pitchFamily="49" charset="-122"/>
                <a:ea typeface="楷体" panose="02010609060101010101" pitchFamily="49" charset="-122"/>
              </a:rPr>
              <a:t>的二进制程序号，将其作为地址码送至可编程序只读存储器</a:t>
            </a:r>
            <a:r>
              <a:rPr lang="en-US" altLang="zh-CN" sz="2400" dirty="0">
                <a:latin typeface="楷体" panose="02010609060101010101" pitchFamily="49" charset="-122"/>
                <a:ea typeface="楷体" panose="02010609060101010101" pitchFamily="49" charset="-122"/>
              </a:rPr>
              <a:t>PROM</a:t>
            </a:r>
            <a:r>
              <a:rPr lang="zh-CN" altLang="en-US" sz="2400" dirty="0">
                <a:latin typeface="楷体" panose="02010609060101010101" pitchFamily="49" charset="-122"/>
                <a:ea typeface="楷体" panose="02010609060101010101" pitchFamily="49" charset="-122"/>
              </a:rPr>
              <a:t>去。</a:t>
            </a:r>
          </a:p>
        </p:txBody>
      </p:sp>
      <p:sp>
        <p:nvSpPr>
          <p:cNvPr id="5" name="Text Box 3"/>
          <p:cNvSpPr txBox="1">
            <a:spLocks noChangeArrowheads="1"/>
          </p:cNvSpPr>
          <p:nvPr/>
        </p:nvSpPr>
        <p:spPr bwMode="auto">
          <a:xfrm>
            <a:off x="4429125" y="6226939"/>
            <a:ext cx="4429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3.1a  </a:t>
            </a:r>
            <a:r>
              <a:rPr lang="zh-CN" altLang="en-US" sz="2000" dirty="0">
                <a:latin typeface="楷体" panose="02010609060101010101" pitchFamily="49" charset="-122"/>
                <a:ea typeface="楷体" panose="02010609060101010101" pitchFamily="49" charset="-122"/>
              </a:rPr>
              <a:t>微型计算机的简化结构</a:t>
            </a:r>
            <a:endParaRPr lang="en-US" altLang="zh-CN" sz="2000" dirty="0">
              <a:latin typeface="楷体" panose="02010609060101010101" pitchFamily="49" charset="-122"/>
              <a:ea typeface="楷体" panose="02010609060101010101" pitchFamily="49" charset="-122"/>
            </a:endParaRPr>
          </a:p>
        </p:txBody>
      </p:sp>
      <p:pic>
        <p:nvPicPr>
          <p:cNvPr id="6"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000500" y="1214438"/>
            <a:ext cx="5072063"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7309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subTitle" idx="4294967295"/>
          </p:nvPr>
        </p:nvSpPr>
        <p:spPr bwMode="auto">
          <a:xfrm>
            <a:off x="1" y="1143000"/>
            <a:ext cx="4358936" cy="642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30000"/>
              </a:lnSpc>
              <a:spcBef>
                <a:spcPts val="0"/>
              </a:spcBef>
              <a:buNone/>
            </a:pPr>
            <a:r>
              <a:rPr lang="en-US" altLang="zh-CN" sz="2400" dirty="0">
                <a:latin typeface="楷体" panose="02010609060101010101" pitchFamily="49" charset="-122"/>
                <a:ea typeface="楷体" panose="02010609060101010101" pitchFamily="49" charset="-122"/>
              </a:rPr>
              <a:t>3.</a:t>
            </a:r>
            <a:r>
              <a:rPr lang="zh-CN" altLang="en-US" sz="2400" dirty="0">
                <a:solidFill>
                  <a:srgbClr val="FF0000"/>
                </a:solidFill>
                <a:latin typeface="楷体" panose="02010609060101010101" pitchFamily="49" charset="-122"/>
                <a:ea typeface="楷体" panose="02010609060101010101" pitchFamily="49" charset="-122"/>
              </a:rPr>
              <a:t>可编程序只读存储器</a:t>
            </a:r>
            <a:r>
              <a:rPr lang="en-US" altLang="zh-CN" sz="2400" dirty="0">
                <a:solidFill>
                  <a:srgbClr val="FF0000"/>
                </a:solidFill>
                <a:latin typeface="楷体" panose="02010609060101010101" pitchFamily="49" charset="-122"/>
                <a:ea typeface="楷体" panose="02010609060101010101" pitchFamily="49" charset="-122"/>
              </a:rPr>
              <a:t>PROM</a:t>
            </a:r>
          </a:p>
        </p:txBody>
      </p:sp>
      <p:sp>
        <p:nvSpPr>
          <p:cNvPr id="9219" name="Text Box 3"/>
          <p:cNvSpPr txBox="1">
            <a:spLocks noChangeArrowheads="1"/>
          </p:cNvSpPr>
          <p:nvPr/>
        </p:nvSpPr>
        <p:spPr bwMode="auto">
          <a:xfrm>
            <a:off x="4187825" y="6362879"/>
            <a:ext cx="46434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defPPr>
              <a:defRPr lang="en-US"/>
            </a:defPPr>
            <a:lvl1pPr algn="ctr">
              <a:defRPr kumimoji="1" sz="2000">
                <a:latin typeface="楷体" panose="02010609060101010101" pitchFamily="49" charset="-122"/>
                <a:ea typeface="楷体" panose="02010609060101010101" pitchFamily="49" charset="-122"/>
              </a:defRPr>
            </a:lvl1pPr>
            <a:lvl2pPr marL="742950" indent="-285750">
              <a:defRPr kumimoji="1" sz="2400">
                <a:latin typeface="Times New Roman" panose="02020603050405020304" pitchFamily="18" charset="0"/>
                <a:ea typeface="宋体" panose="02010600030101010101" pitchFamily="2" charset="-122"/>
              </a:defRPr>
            </a:lvl2pPr>
            <a:lvl3pPr marL="1143000" indent="-228600">
              <a:defRPr kumimoji="1" sz="2400">
                <a:latin typeface="Times New Roman" panose="02020603050405020304" pitchFamily="18" charset="0"/>
                <a:ea typeface="宋体" panose="02010600030101010101" pitchFamily="2" charset="-122"/>
              </a:defRPr>
            </a:lvl3pPr>
            <a:lvl4pPr marL="1600200" indent="-228600">
              <a:defRPr kumimoji="1" sz="2400">
                <a:latin typeface="Times New Roman" panose="02020603050405020304" pitchFamily="18" charset="0"/>
                <a:ea typeface="宋体" panose="02010600030101010101" pitchFamily="2" charset="-122"/>
              </a:defRPr>
            </a:lvl4pPr>
            <a:lvl5pPr marL="2057400" indent="-22860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zh-CN" altLang="en-US" dirty="0"/>
              <a:t>图</a:t>
            </a:r>
            <a:r>
              <a:rPr lang="en-US" altLang="zh-CN" dirty="0"/>
              <a:t>3.2   4×4PROM</a:t>
            </a:r>
            <a:r>
              <a:rPr lang="zh-CN" altLang="en-US" dirty="0"/>
              <a:t>原理图</a:t>
            </a:r>
            <a:endParaRPr lang="en-US" altLang="zh-CN" dirty="0"/>
          </a:p>
        </p:txBody>
      </p:sp>
      <p:pic>
        <p:nvPicPr>
          <p:cNvPr id="9220" name="Picture 5"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9063" y="1143000"/>
            <a:ext cx="5160962"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矩形 4"/>
          <p:cNvSpPr>
            <a:spLocks noChangeArrowheads="1"/>
          </p:cNvSpPr>
          <p:nvPr/>
        </p:nvSpPr>
        <p:spPr bwMode="auto">
          <a:xfrm>
            <a:off x="71438" y="1785937"/>
            <a:ext cx="3857625" cy="44135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defTabSz="914400">
              <a:lnSpc>
                <a:spcPct val="130000"/>
              </a:lnSpc>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    这是一个</a:t>
            </a:r>
            <a:r>
              <a:rPr lang="en-US" altLang="zh-CN" sz="2400" dirty="0">
                <a:latin typeface="楷体" panose="02010609060101010101" pitchFamily="49" charset="-122"/>
                <a:ea typeface="楷体" panose="02010609060101010101" pitchFamily="49" charset="-122"/>
              </a:rPr>
              <a:t>4×4PROM</a:t>
            </a:r>
            <a:r>
              <a:rPr lang="zh-CN" altLang="en-US" sz="2400" dirty="0">
                <a:latin typeface="楷体" panose="02010609060101010101" pitchFamily="49" charset="-122"/>
                <a:ea typeface="楷体" panose="02010609060101010101" pitchFamily="49" charset="-122"/>
              </a:rPr>
              <a:t>，它和</a:t>
            </a:r>
            <a:r>
              <a:rPr lang="en-US" altLang="zh-CN" sz="2400" dirty="0">
                <a:latin typeface="楷体" panose="02010609060101010101" pitchFamily="49" charset="-122"/>
                <a:ea typeface="楷体" panose="02010609060101010101" pitchFamily="49" charset="-122"/>
              </a:rPr>
              <a:t>ROM</a:t>
            </a:r>
            <a:r>
              <a:rPr lang="zh-CN" altLang="en-US" sz="2400" dirty="0">
                <a:latin typeface="楷体" panose="02010609060101010101" pitchFamily="49" charset="-122"/>
                <a:ea typeface="楷体" panose="02010609060101010101" pitchFamily="49" charset="-122"/>
              </a:rPr>
              <a:t>不同点：每条横线与竖线都有一条由开关和二极管串联的电路将它们连接起来。</a:t>
            </a:r>
            <a:r>
              <a:rPr lang="zh-CN" altLang="en-US" sz="2400" dirty="0">
                <a:solidFill>
                  <a:srgbClr val="FF0000"/>
                </a:solidFill>
                <a:latin typeface="楷体" panose="02010609060101010101" pitchFamily="49" charset="-122"/>
                <a:ea typeface="楷体" panose="02010609060101010101" pitchFamily="49" charset="-122"/>
              </a:rPr>
              <a:t>只要拨动开关，即可使该数据位置</a:t>
            </a:r>
            <a:r>
              <a:rPr lang="en-US" altLang="zh-CN" sz="2400" dirty="0">
                <a:solidFill>
                  <a:srgbClr val="FF0000"/>
                </a:solidFill>
                <a:latin typeface="楷体" panose="02010609060101010101" pitchFamily="49" charset="-122"/>
                <a:ea typeface="楷体" panose="02010609060101010101" pitchFamily="49" charset="-122"/>
              </a:rPr>
              <a:t>1</a:t>
            </a:r>
            <a:r>
              <a:rPr lang="zh-CN" altLang="en-US" sz="2400" dirty="0">
                <a:solidFill>
                  <a:srgbClr val="FF0000"/>
                </a:solidFill>
                <a:latin typeface="楷体" panose="02010609060101010101" pitchFamily="49" charset="-122"/>
                <a:ea typeface="楷体" panose="02010609060101010101" pitchFamily="49" charset="-122"/>
              </a:rPr>
              <a:t>或置</a:t>
            </a:r>
            <a:r>
              <a:rPr lang="en-US" altLang="zh-CN" sz="2400" dirty="0">
                <a:solidFill>
                  <a:srgbClr val="FF0000"/>
                </a:solidFill>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，从而达到使每个存储单元“写入”数据的目的。称这种</a:t>
            </a:r>
            <a:r>
              <a:rPr lang="en-US" altLang="zh-CN" sz="2400" dirty="0">
                <a:latin typeface="楷体" panose="02010609060101010101" pitchFamily="49" charset="-122"/>
                <a:ea typeface="楷体" panose="02010609060101010101" pitchFamily="49" charset="-122"/>
              </a:rPr>
              <a:t>ROM</a:t>
            </a:r>
            <a:r>
              <a:rPr lang="zh-CN" altLang="en-US" sz="2400" dirty="0">
                <a:latin typeface="楷体" panose="02010609060101010101" pitchFamily="49" charset="-122"/>
                <a:ea typeface="楷体" panose="02010609060101010101" pitchFamily="49" charset="-122"/>
              </a:rPr>
              <a:t>为可编程序</a:t>
            </a:r>
            <a:r>
              <a:rPr lang="en-US" altLang="zh-CN" sz="2400" dirty="0">
                <a:latin typeface="楷体" panose="02010609060101010101" pitchFamily="49" charset="-122"/>
                <a:ea typeface="楷体" panose="02010609060101010101" pitchFamily="49" charset="-122"/>
              </a:rPr>
              <a:t>ROM</a:t>
            </a:r>
            <a:r>
              <a:rPr lang="zh-CN" altLang="en-US" sz="2400"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3470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subTitle" idx="4294967295"/>
          </p:nvPr>
        </p:nvSpPr>
        <p:spPr bwMode="auto">
          <a:xfrm>
            <a:off x="366944" y="1870554"/>
            <a:ext cx="8382000" cy="36528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0" indent="0" eaLnBrk="1" hangingPunct="1">
              <a:lnSpc>
                <a:spcPct val="150000"/>
              </a:lnSpc>
              <a:spcBef>
                <a:spcPts val="0"/>
              </a:spcBef>
              <a:buFontTx/>
              <a:buNone/>
            </a:pPr>
            <a:r>
              <a:rPr lang="en-US" altLang="zh-CN" dirty="0">
                <a:latin typeface="楷体" panose="02010609060101010101" pitchFamily="49" charset="-122"/>
                <a:ea typeface="楷体" panose="02010609060101010101" pitchFamily="49" charset="-122"/>
              </a:rPr>
              <a:t>    PROM</a:t>
            </a:r>
            <a:r>
              <a:rPr lang="zh-CN" altLang="en-US" dirty="0">
                <a:latin typeface="楷体" panose="02010609060101010101" pitchFamily="49" charset="-122"/>
                <a:ea typeface="楷体" panose="02010609060101010101" pitchFamily="49" charset="-122"/>
              </a:rPr>
              <a:t>在功能上相当于</a:t>
            </a:r>
            <a:r>
              <a:rPr lang="en-US" altLang="zh-CN" dirty="0">
                <a:latin typeface="楷体" panose="02010609060101010101" pitchFamily="49" charset="-122"/>
                <a:ea typeface="楷体" panose="02010609060101010101" pitchFamily="49" charset="-122"/>
              </a:rPr>
              <a:t>RAM</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marL="0" indent="0" eaLnBrk="1" hangingPunct="1">
              <a:lnSpc>
                <a:spcPct val="150000"/>
              </a:lnSpc>
              <a:spcBef>
                <a:spcPts val="0"/>
              </a:spcBef>
              <a:buFontTx/>
              <a:buNone/>
            </a:pPr>
            <a:r>
              <a:rPr lang="zh-CN" altLang="en-US" dirty="0">
                <a:latin typeface="楷体" panose="02010609060101010101" pitchFamily="49" charset="-122"/>
                <a:ea typeface="楷体" panose="02010609060101010101" pitchFamily="49" charset="-122"/>
              </a:rPr>
              <a:t>    这里为了简化作图而只用</a:t>
            </a:r>
            <a:r>
              <a:rPr lang="en-US" altLang="zh-CN" dirty="0">
                <a:latin typeface="楷体" panose="02010609060101010101" pitchFamily="49" charset="-122"/>
                <a:ea typeface="楷体" panose="02010609060101010101" pitchFamily="49" charset="-122"/>
              </a:rPr>
              <a:t>4×4PROM</a:t>
            </a:r>
            <a:r>
              <a:rPr lang="zh-CN" altLang="en-US" dirty="0">
                <a:latin typeface="楷体" panose="02010609060101010101" pitchFamily="49" charset="-122"/>
                <a:ea typeface="楷体" panose="02010609060101010101" pitchFamily="49" charset="-122"/>
              </a:rPr>
              <a:t>的图，如是</a:t>
            </a:r>
            <a:r>
              <a:rPr lang="en-US" altLang="zh-CN" dirty="0">
                <a:latin typeface="楷体" panose="02010609060101010101" pitchFamily="49" charset="-122"/>
                <a:ea typeface="楷体" panose="02010609060101010101" pitchFamily="49" charset="-122"/>
              </a:rPr>
              <a:t>16×8PROM</a:t>
            </a:r>
            <a:r>
              <a:rPr lang="zh-CN" altLang="en-US" dirty="0">
                <a:latin typeface="楷体" panose="02010609060101010101" pitchFamily="49" charset="-122"/>
                <a:ea typeface="楷体" panose="02010609060101010101" pitchFamily="49" charset="-122"/>
              </a:rPr>
              <a:t>，</a:t>
            </a:r>
            <a:r>
              <a:rPr lang="zh-CN" altLang="en-US" dirty="0">
                <a:solidFill>
                  <a:srgbClr val="0070C0"/>
                </a:solidFill>
                <a:latin typeface="楷体" panose="02010609060101010101" pitchFamily="49" charset="-122"/>
                <a:ea typeface="楷体" panose="02010609060101010101" pitchFamily="49" charset="-122"/>
              </a:rPr>
              <a:t>则其横线应为</a:t>
            </a:r>
            <a:r>
              <a:rPr lang="en-US" altLang="zh-CN" dirty="0">
                <a:solidFill>
                  <a:srgbClr val="0070C0"/>
                </a:solidFill>
                <a:latin typeface="楷体" panose="02010609060101010101" pitchFamily="49" charset="-122"/>
                <a:ea typeface="楷体" panose="02010609060101010101" pitchFamily="49" charset="-122"/>
              </a:rPr>
              <a:t>16</a:t>
            </a:r>
            <a:r>
              <a:rPr lang="zh-CN" altLang="en-US" dirty="0">
                <a:solidFill>
                  <a:srgbClr val="0070C0"/>
                </a:solidFill>
                <a:latin typeface="楷体" panose="02010609060101010101" pitchFamily="49" charset="-122"/>
                <a:ea typeface="楷体" panose="02010609060101010101" pitchFamily="49" charset="-122"/>
              </a:rPr>
              <a:t>条</a:t>
            </a:r>
            <a:r>
              <a:rPr lang="en-US" altLang="zh-CN" dirty="0">
                <a:solidFill>
                  <a:srgbClr val="0070C0"/>
                </a:solidFill>
              </a:rPr>
              <a:t>(R</a:t>
            </a:r>
            <a:r>
              <a:rPr lang="en-US" altLang="zh-CN" baseline="-25000" dirty="0">
                <a:solidFill>
                  <a:srgbClr val="0070C0"/>
                </a:solidFill>
              </a:rPr>
              <a:t>0</a:t>
            </a:r>
            <a:r>
              <a:rPr lang="zh-CN" altLang="en-US" dirty="0">
                <a:solidFill>
                  <a:srgbClr val="0070C0"/>
                </a:solidFill>
              </a:rPr>
              <a:t>～</a:t>
            </a:r>
            <a:r>
              <a:rPr lang="en-US" altLang="zh-CN" dirty="0">
                <a:solidFill>
                  <a:srgbClr val="0070C0"/>
                </a:solidFill>
              </a:rPr>
              <a:t>R</a:t>
            </a:r>
            <a:r>
              <a:rPr lang="en-US" altLang="zh-CN" baseline="-25000" dirty="0">
                <a:solidFill>
                  <a:srgbClr val="0070C0"/>
                </a:solidFill>
              </a:rPr>
              <a:t>15</a:t>
            </a:r>
            <a:r>
              <a:rPr lang="en-US" altLang="zh-CN" dirty="0">
                <a:solidFill>
                  <a:srgbClr val="0070C0"/>
                </a:solidFill>
              </a:rPr>
              <a:t>)</a:t>
            </a:r>
            <a:r>
              <a:rPr lang="zh-CN" altLang="en-US" dirty="0">
                <a:solidFill>
                  <a:srgbClr val="0070C0"/>
                </a:solidFill>
              </a:rPr>
              <a:t>，</a:t>
            </a:r>
            <a:r>
              <a:rPr lang="zh-CN" altLang="en-US" dirty="0">
                <a:solidFill>
                  <a:srgbClr val="0070C0"/>
                </a:solidFill>
                <a:latin typeface="楷体" panose="02010609060101010101" pitchFamily="49" charset="-122"/>
                <a:ea typeface="楷体" panose="02010609060101010101" pitchFamily="49" charset="-122"/>
              </a:rPr>
              <a:t>竖线为</a:t>
            </a:r>
            <a:r>
              <a:rPr lang="en-US" altLang="zh-CN" dirty="0">
                <a:solidFill>
                  <a:srgbClr val="0070C0"/>
                </a:solidFill>
                <a:latin typeface="楷体" panose="02010609060101010101" pitchFamily="49" charset="-122"/>
                <a:ea typeface="楷体" panose="02010609060101010101" pitchFamily="49" charset="-122"/>
              </a:rPr>
              <a:t>8</a:t>
            </a:r>
            <a:r>
              <a:rPr lang="zh-CN" altLang="en-US" dirty="0">
                <a:solidFill>
                  <a:srgbClr val="0070C0"/>
                </a:solidFill>
                <a:latin typeface="楷体" panose="02010609060101010101" pitchFamily="49" charset="-122"/>
                <a:ea typeface="楷体" panose="02010609060101010101" pitchFamily="49" charset="-122"/>
              </a:rPr>
              <a:t>条</a:t>
            </a:r>
            <a:r>
              <a:rPr lang="en-US" altLang="zh-CN" dirty="0">
                <a:solidFill>
                  <a:srgbClr val="0070C0"/>
                </a:solidFill>
              </a:rPr>
              <a:t>(D</a:t>
            </a:r>
            <a:r>
              <a:rPr lang="en-US" altLang="zh-CN" baseline="-25000" dirty="0">
                <a:solidFill>
                  <a:srgbClr val="0070C0"/>
                </a:solidFill>
              </a:rPr>
              <a:t>7</a:t>
            </a:r>
            <a:r>
              <a:rPr lang="en-US" altLang="zh-CN" dirty="0">
                <a:solidFill>
                  <a:srgbClr val="0070C0"/>
                </a:solidFill>
              </a:rPr>
              <a:t>D</a:t>
            </a:r>
            <a:r>
              <a:rPr lang="en-US" altLang="zh-CN" baseline="-25000" dirty="0">
                <a:solidFill>
                  <a:srgbClr val="0070C0"/>
                </a:solidFill>
              </a:rPr>
              <a:t>6</a:t>
            </a:r>
            <a:r>
              <a:rPr lang="en-US" altLang="zh-CN" dirty="0">
                <a:solidFill>
                  <a:srgbClr val="0070C0"/>
                </a:solidFill>
              </a:rPr>
              <a:t>…D</a:t>
            </a:r>
            <a:r>
              <a:rPr lang="en-US" altLang="zh-CN" baseline="-25000" dirty="0">
                <a:solidFill>
                  <a:srgbClr val="0070C0"/>
                </a:solidFill>
              </a:rPr>
              <a:t>0</a:t>
            </a:r>
            <a:r>
              <a:rPr lang="en-US" altLang="zh-CN" dirty="0">
                <a:solidFill>
                  <a:srgbClr val="0070C0"/>
                </a:solidFill>
              </a:rPr>
              <a:t>)</a:t>
            </a:r>
            <a:r>
              <a:rPr lang="zh-CN" altLang="en-US" dirty="0">
                <a:solidFill>
                  <a:srgbClr val="0070C0"/>
                </a:solidFill>
              </a:rPr>
              <a:t>，</a:t>
            </a:r>
            <a:r>
              <a:rPr lang="zh-CN" altLang="en-US" dirty="0">
                <a:solidFill>
                  <a:srgbClr val="0070C0"/>
                </a:solidFill>
                <a:latin typeface="楷体" panose="02010609060101010101" pitchFamily="49" charset="-122"/>
                <a:ea typeface="楷体" panose="02010609060101010101" pitchFamily="49" charset="-122"/>
              </a:rPr>
              <a:t>地址码线则相应地应为</a:t>
            </a:r>
            <a:r>
              <a:rPr lang="en-US" altLang="zh-CN" dirty="0">
                <a:solidFill>
                  <a:srgbClr val="0070C0"/>
                </a:solidFill>
                <a:latin typeface="楷体" panose="02010609060101010101" pitchFamily="49" charset="-122"/>
                <a:ea typeface="楷体" panose="02010609060101010101" pitchFamily="49" charset="-122"/>
              </a:rPr>
              <a:t>4</a:t>
            </a:r>
            <a:r>
              <a:rPr lang="zh-CN" altLang="en-US" dirty="0">
                <a:solidFill>
                  <a:srgbClr val="0070C0"/>
                </a:solidFill>
                <a:latin typeface="楷体" panose="02010609060101010101" pitchFamily="49" charset="-122"/>
                <a:ea typeface="楷体" panose="02010609060101010101" pitchFamily="49" charset="-122"/>
              </a:rPr>
              <a:t>条</a:t>
            </a:r>
            <a:r>
              <a:rPr lang="en-US" altLang="zh-CN" dirty="0">
                <a:solidFill>
                  <a:srgbClr val="0070C0"/>
                </a:solidFill>
              </a:rPr>
              <a:t>(A</a:t>
            </a:r>
            <a:r>
              <a:rPr lang="en-US" altLang="zh-CN" baseline="-25000" dirty="0">
                <a:solidFill>
                  <a:srgbClr val="0070C0"/>
                </a:solidFill>
              </a:rPr>
              <a:t>3</a:t>
            </a:r>
            <a:r>
              <a:rPr lang="en-US" altLang="zh-CN" dirty="0">
                <a:solidFill>
                  <a:srgbClr val="0070C0"/>
                </a:solidFill>
              </a:rPr>
              <a:t>A</a:t>
            </a:r>
            <a:r>
              <a:rPr lang="en-US" altLang="zh-CN" baseline="-25000" dirty="0">
                <a:solidFill>
                  <a:srgbClr val="0070C0"/>
                </a:solidFill>
              </a:rPr>
              <a:t>2</a:t>
            </a:r>
            <a:r>
              <a:rPr lang="en-US" altLang="zh-CN" dirty="0">
                <a:solidFill>
                  <a:srgbClr val="0070C0"/>
                </a:solidFill>
              </a:rPr>
              <a:t>A</a:t>
            </a:r>
            <a:r>
              <a:rPr lang="en-US" altLang="zh-CN" baseline="-25000" dirty="0">
                <a:solidFill>
                  <a:srgbClr val="0070C0"/>
                </a:solidFill>
              </a:rPr>
              <a:t>1</a:t>
            </a:r>
            <a:r>
              <a:rPr lang="en-US" altLang="zh-CN" dirty="0">
                <a:solidFill>
                  <a:srgbClr val="0070C0"/>
                </a:solidFill>
              </a:rPr>
              <a:t>A</a:t>
            </a:r>
            <a:r>
              <a:rPr lang="en-US" altLang="zh-CN" baseline="-25000" dirty="0">
                <a:solidFill>
                  <a:srgbClr val="0070C0"/>
                </a:solidFill>
              </a:rPr>
              <a:t>0</a:t>
            </a:r>
            <a:r>
              <a:rPr lang="en-US" altLang="zh-CN" dirty="0">
                <a:solidFill>
                  <a:srgbClr val="0070C0"/>
                </a:solidFill>
              </a:rPr>
              <a:t>)</a:t>
            </a:r>
            <a:r>
              <a:rPr lang="zh-CN" altLang="en-US" dirty="0">
                <a:solidFill>
                  <a:srgbClr val="0070C0"/>
                </a:solidFill>
              </a:rPr>
              <a:t>。</a:t>
            </a:r>
          </a:p>
        </p:txBody>
      </p:sp>
    </p:spTree>
    <p:extLst>
      <p:ext uri="{BB962C8B-B14F-4D97-AF65-F5344CB8AC3E}">
        <p14:creationId xmlns:p14="http://schemas.microsoft.com/office/powerpoint/2010/main" val="2429259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subTitle" idx="4294967295"/>
          </p:nvPr>
        </p:nvSpPr>
        <p:spPr bwMode="auto">
          <a:xfrm>
            <a:off x="125290" y="990600"/>
            <a:ext cx="4215891" cy="5867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20000"/>
              </a:lnSpc>
              <a:spcBef>
                <a:spcPts val="0"/>
              </a:spcBef>
              <a:buNone/>
            </a:pPr>
            <a:r>
              <a:rPr lang="en-US" altLang="zh-CN" sz="2400" dirty="0">
                <a:latin typeface="楷体" panose="02010609060101010101" pitchFamily="49" charset="-122"/>
                <a:ea typeface="楷体" panose="02010609060101010101" pitchFamily="49" charset="-122"/>
              </a:rPr>
              <a:t>4.</a:t>
            </a:r>
            <a:r>
              <a:rPr lang="zh-CN" altLang="en-US" sz="2400" dirty="0">
                <a:solidFill>
                  <a:srgbClr val="FF0000"/>
                </a:solidFill>
                <a:latin typeface="楷体" panose="02010609060101010101" pitchFamily="49" charset="-122"/>
                <a:ea typeface="楷体" panose="02010609060101010101" pitchFamily="49" charset="-122"/>
              </a:rPr>
              <a:t>指令寄存器</a:t>
            </a:r>
            <a:r>
              <a:rPr lang="en-US" altLang="zh-CN" sz="2400" dirty="0">
                <a:solidFill>
                  <a:srgbClr val="FF0000"/>
                </a:solidFill>
                <a:latin typeface="楷体" panose="02010609060101010101" pitchFamily="49" charset="-122"/>
                <a:ea typeface="楷体" panose="02010609060101010101" pitchFamily="49" charset="-122"/>
              </a:rPr>
              <a:t>IR</a:t>
            </a:r>
          </a:p>
          <a:p>
            <a:pPr marL="0" indent="0">
              <a:lnSpc>
                <a:spcPct val="120000"/>
              </a:lnSpc>
              <a:spcBef>
                <a:spcPts val="0"/>
              </a:spcBef>
              <a:buNone/>
            </a:pPr>
            <a:r>
              <a:rPr lang="en-US" altLang="zh-CN" sz="2400" dirty="0">
                <a:latin typeface="楷体" panose="02010609060101010101" pitchFamily="49" charset="-122"/>
                <a:ea typeface="楷体" panose="02010609060101010101" pitchFamily="49" charset="-122"/>
              </a:rPr>
              <a:t>    IR</a:t>
            </a:r>
            <a:r>
              <a:rPr lang="zh-CN" altLang="en-US" sz="2400" dirty="0">
                <a:latin typeface="楷体" panose="02010609060101010101" pitchFamily="49" charset="-122"/>
                <a:ea typeface="楷体" panose="02010609060101010101" pitchFamily="49" charset="-122"/>
              </a:rPr>
              <a:t>从</a:t>
            </a:r>
            <a:r>
              <a:rPr lang="en-US" altLang="zh-CN" sz="2400" dirty="0">
                <a:latin typeface="楷体" panose="02010609060101010101" pitchFamily="49" charset="-122"/>
                <a:ea typeface="楷体" panose="02010609060101010101" pitchFamily="49" charset="-122"/>
              </a:rPr>
              <a:t>PROM</a:t>
            </a:r>
            <a:r>
              <a:rPr lang="zh-CN" altLang="en-US" sz="2400" dirty="0">
                <a:latin typeface="楷体" panose="02010609060101010101" pitchFamily="49" charset="-122"/>
                <a:ea typeface="楷体" panose="02010609060101010101" pitchFamily="49" charset="-122"/>
              </a:rPr>
              <a:t>接收到指令字</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当</a:t>
            </a:r>
            <a:r>
              <a:rPr lang="en-US" altLang="zh-CN" sz="2400" dirty="0">
                <a:latin typeface="楷体" panose="02010609060101010101" pitchFamily="49" charset="-122"/>
                <a:ea typeface="楷体" panose="02010609060101010101" pitchFamily="49" charset="-122"/>
              </a:rPr>
              <a:t>L</a:t>
            </a:r>
            <a:r>
              <a:rPr lang="en-US" altLang="zh-CN" sz="2400" baseline="-25000" dirty="0">
                <a:latin typeface="楷体" panose="02010609060101010101" pitchFamily="49" charset="-122"/>
                <a:ea typeface="楷体" panose="02010609060101010101" pitchFamily="49" charset="-122"/>
              </a:rPr>
              <a:t>I</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a:t>
            </a:r>
            <a:r>
              <a:rPr lang="en-US" altLang="zh-CN" sz="2400" baseline="-25000" dirty="0">
                <a:latin typeface="楷体" panose="02010609060101010101" pitchFamily="49" charset="-122"/>
                <a:ea typeface="楷体" panose="02010609060101010101" pitchFamily="49" charset="-122"/>
              </a:rPr>
              <a:t>R</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，同时将指令字分送到控制部件</a:t>
            </a:r>
            <a:r>
              <a:rPr lang="en-US" altLang="zh-CN" sz="2400" dirty="0">
                <a:latin typeface="楷体" panose="02010609060101010101" pitchFamily="49" charset="-122"/>
                <a:ea typeface="楷体" panose="02010609060101010101" pitchFamily="49" charset="-122"/>
              </a:rPr>
              <a:t>CON</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W</a:t>
            </a:r>
            <a:r>
              <a:rPr lang="zh-CN" altLang="en-US" sz="2400" dirty="0">
                <a:latin typeface="楷体" panose="02010609060101010101" pitchFamily="49" charset="-122"/>
                <a:ea typeface="楷体" panose="02010609060101010101" pitchFamily="49" charset="-122"/>
              </a:rPr>
              <a:t>总线上去。</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指令字是</a:t>
            </a:r>
            <a:r>
              <a:rPr lang="en-US" altLang="zh-CN" sz="2400" dirty="0">
                <a:latin typeface="楷体" panose="02010609060101010101" pitchFamily="49" charset="-122"/>
                <a:ea typeface="楷体" panose="02010609060101010101" pitchFamily="49" charset="-122"/>
              </a:rPr>
              <a:t>8</a:t>
            </a:r>
            <a:r>
              <a:rPr lang="zh-CN" altLang="en-US" sz="2400" dirty="0">
                <a:latin typeface="楷体" panose="02010609060101010101" pitchFamily="49" charset="-122"/>
                <a:ea typeface="楷体" panose="02010609060101010101" pitchFamily="49" charset="-122"/>
              </a:rPr>
              <a:t>位的：</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a:t>
            </a:r>
            <a:r>
              <a:rPr lang="en-US" altLang="zh-CN" sz="2400" dirty="0">
                <a:solidFill>
                  <a:srgbClr val="0070C0"/>
                </a:solidFill>
                <a:latin typeface="楷体" panose="02010609060101010101" pitchFamily="49" charset="-122"/>
                <a:ea typeface="楷体" panose="02010609060101010101" pitchFamily="49" charset="-122"/>
              </a:rPr>
              <a:t>MSB</a:t>
            </a:r>
            <a:r>
              <a:rPr lang="zh-CN" altLang="en-US" sz="2400" dirty="0">
                <a:solidFill>
                  <a:srgbClr val="0070C0"/>
                </a:solidFill>
                <a:latin typeface="楷体" panose="02010609060101010101" pitchFamily="49" charset="-122"/>
                <a:ea typeface="楷体" panose="02010609060101010101" pitchFamily="49" charset="-122"/>
              </a:rPr>
              <a:t>　　　　</a:t>
            </a:r>
            <a:r>
              <a:rPr lang="en-US" altLang="zh-CN" sz="2400" dirty="0">
                <a:solidFill>
                  <a:srgbClr val="0070C0"/>
                </a:solidFill>
                <a:latin typeface="楷体" panose="02010609060101010101" pitchFamily="49" charset="-122"/>
                <a:ea typeface="楷体" panose="02010609060101010101" pitchFamily="49" charset="-122"/>
              </a:rPr>
              <a:t>LSB</a:t>
            </a:r>
          </a:p>
          <a:p>
            <a:pPr marL="0" indent="0">
              <a:lnSpc>
                <a:spcPct val="120000"/>
              </a:lnSpc>
              <a:spcBef>
                <a:spcPts val="0"/>
              </a:spcBef>
              <a:buNone/>
            </a:pPr>
            <a:r>
              <a:rPr lang="zh-CN" altLang="en-US" sz="2400" dirty="0">
                <a:solidFill>
                  <a:srgbClr val="0070C0"/>
                </a:solidFill>
                <a:latin typeface="楷体" panose="02010609060101010101" pitchFamily="49" charset="-122"/>
                <a:ea typeface="楷体" panose="02010609060101010101" pitchFamily="49" charset="-122"/>
              </a:rPr>
              <a:t>  最高有效位 最低有效位</a:t>
            </a:r>
          </a:p>
          <a:p>
            <a:pPr marL="0" indent="0">
              <a:lnSpc>
                <a:spcPct val="120000"/>
              </a:lnSpc>
              <a:spcBef>
                <a:spcPts val="0"/>
              </a:spcBef>
              <a:buNone/>
            </a:pPr>
            <a:r>
              <a:rPr lang="zh-CN" altLang="en-US" sz="2400" dirty="0">
                <a:solidFill>
                  <a:srgbClr val="FF0000"/>
                </a:solidFill>
                <a:latin typeface="楷体" panose="02010609060101010101" pitchFamily="49" charset="-122"/>
                <a:ea typeface="楷体" panose="02010609060101010101" pitchFamily="49" charset="-122"/>
              </a:rPr>
              <a:t>左</a:t>
            </a:r>
            <a:r>
              <a:rPr lang="en-US" altLang="zh-CN" sz="2400" dirty="0">
                <a:solidFill>
                  <a:srgbClr val="FF0000"/>
                </a:solidFill>
                <a:latin typeface="楷体" panose="02010609060101010101" pitchFamily="49" charset="-122"/>
                <a:ea typeface="楷体" panose="02010609060101010101" pitchFamily="49" charset="-122"/>
              </a:rPr>
              <a:t>4</a:t>
            </a:r>
            <a:r>
              <a:rPr lang="zh-CN" altLang="en-US" sz="2400" dirty="0">
                <a:solidFill>
                  <a:srgbClr val="FF0000"/>
                </a:solidFill>
                <a:latin typeface="楷体" panose="02010609060101010101" pitchFamily="49" charset="-122"/>
                <a:ea typeface="楷体" panose="02010609060101010101" pitchFamily="49" charset="-122"/>
              </a:rPr>
              <a:t>位：最高有效位，称为指令字段</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0" indent="0">
              <a:lnSpc>
                <a:spcPct val="120000"/>
              </a:lnSpc>
              <a:spcBef>
                <a:spcPts val="0"/>
              </a:spcBef>
              <a:buNone/>
            </a:pPr>
            <a:r>
              <a:rPr lang="zh-CN" altLang="en-US" sz="2400" dirty="0">
                <a:solidFill>
                  <a:srgbClr val="FF0000"/>
                </a:solidFill>
                <a:latin typeface="楷体" panose="02010609060101010101" pitchFamily="49" charset="-122"/>
                <a:ea typeface="楷体" panose="02010609060101010101" pitchFamily="49" charset="-122"/>
              </a:rPr>
              <a:t>右</a:t>
            </a:r>
            <a:r>
              <a:rPr lang="en-US" altLang="zh-CN" sz="2400" dirty="0">
                <a:solidFill>
                  <a:srgbClr val="FF0000"/>
                </a:solidFill>
                <a:latin typeface="楷体" panose="02010609060101010101" pitchFamily="49" charset="-122"/>
                <a:ea typeface="楷体" panose="02010609060101010101" pitchFamily="49" charset="-122"/>
              </a:rPr>
              <a:t>4</a:t>
            </a:r>
            <a:r>
              <a:rPr lang="zh-CN" altLang="en-US" sz="2400" dirty="0">
                <a:solidFill>
                  <a:srgbClr val="FF0000"/>
                </a:solidFill>
                <a:latin typeface="楷体" panose="02010609060101010101" pitchFamily="49" charset="-122"/>
                <a:ea typeface="楷体" panose="02010609060101010101" pitchFamily="49" charset="-122"/>
              </a:rPr>
              <a:t>位：最低有效位，称为地址字段</a:t>
            </a:r>
            <a:r>
              <a:rPr lang="zh-CN" altLang="en-US" sz="2400" dirty="0">
                <a:latin typeface="楷体" panose="02010609060101010101" pitchFamily="49" charset="-122"/>
                <a:ea typeface="楷体" panose="02010609060101010101" pitchFamily="49" charset="-122"/>
              </a:rPr>
              <a:t>。</a:t>
            </a:r>
          </a:p>
        </p:txBody>
      </p:sp>
      <p:sp>
        <p:nvSpPr>
          <p:cNvPr id="13315" name="AutoShape 3"/>
          <p:cNvSpPr>
            <a:spLocks/>
          </p:cNvSpPr>
          <p:nvPr/>
        </p:nvSpPr>
        <p:spPr bwMode="auto">
          <a:xfrm rot="-5421325">
            <a:off x="1048004" y="3613666"/>
            <a:ext cx="223838" cy="1143000"/>
          </a:xfrm>
          <a:prstGeom prst="leftBrace">
            <a:avLst>
              <a:gd name="adj1" fmla="val 42553"/>
              <a:gd name="adj2" fmla="val 50000"/>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3316" name="AutoShape 4"/>
          <p:cNvSpPr>
            <a:spLocks/>
          </p:cNvSpPr>
          <p:nvPr/>
        </p:nvSpPr>
        <p:spPr bwMode="auto">
          <a:xfrm rot="-5421325">
            <a:off x="2841513" y="3613666"/>
            <a:ext cx="223838" cy="1143000"/>
          </a:xfrm>
          <a:prstGeom prst="leftBrace">
            <a:avLst>
              <a:gd name="adj1" fmla="val 42553"/>
              <a:gd name="adj2" fmla="val 50000"/>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 name="Text Box 3"/>
          <p:cNvSpPr txBox="1">
            <a:spLocks noChangeArrowheads="1"/>
          </p:cNvSpPr>
          <p:nvPr/>
        </p:nvSpPr>
        <p:spPr bwMode="auto">
          <a:xfrm>
            <a:off x="4429125" y="6226939"/>
            <a:ext cx="4429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3.1a  </a:t>
            </a:r>
            <a:r>
              <a:rPr lang="zh-CN" altLang="en-US" sz="2000" dirty="0">
                <a:latin typeface="楷体" panose="02010609060101010101" pitchFamily="49" charset="-122"/>
                <a:ea typeface="楷体" panose="02010609060101010101" pitchFamily="49" charset="-122"/>
              </a:rPr>
              <a:t>微型计算机的简化结构</a:t>
            </a:r>
            <a:endParaRPr lang="en-US" altLang="zh-CN" sz="2000" dirty="0">
              <a:latin typeface="楷体" panose="02010609060101010101" pitchFamily="49" charset="-122"/>
              <a:ea typeface="楷体" panose="02010609060101010101" pitchFamily="49" charset="-122"/>
            </a:endParaRPr>
          </a:p>
        </p:txBody>
      </p:sp>
      <p:pic>
        <p:nvPicPr>
          <p:cNvPr id="8" name="图片 7"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234649" y="1214438"/>
            <a:ext cx="4837914"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4440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subTitle" idx="4294967295"/>
          </p:nvPr>
        </p:nvSpPr>
        <p:spPr bwMode="auto">
          <a:xfrm>
            <a:off x="94416" y="935052"/>
            <a:ext cx="4679951" cy="59229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10000"/>
              </a:lnSpc>
              <a:spcBef>
                <a:spcPts val="0"/>
              </a:spcBef>
              <a:buNone/>
            </a:pPr>
            <a:r>
              <a:rPr lang="en-US" altLang="zh-CN" sz="2400" dirty="0">
                <a:latin typeface="楷体" panose="02010609060101010101" pitchFamily="49" charset="-122"/>
                <a:ea typeface="楷体" panose="02010609060101010101" pitchFamily="49" charset="-122"/>
              </a:rPr>
              <a:t>5.</a:t>
            </a:r>
            <a:r>
              <a:rPr lang="zh-CN" altLang="en-US" sz="2400" dirty="0">
                <a:solidFill>
                  <a:srgbClr val="FF0000"/>
                </a:solidFill>
                <a:latin typeface="楷体" panose="02010609060101010101" pitchFamily="49" charset="-122"/>
                <a:ea typeface="楷体" panose="02010609060101010101" pitchFamily="49" charset="-122"/>
              </a:rPr>
              <a:t>控制部件</a:t>
            </a:r>
            <a:r>
              <a:rPr lang="en-US" altLang="zh-CN" sz="2400" dirty="0">
                <a:solidFill>
                  <a:srgbClr val="FF0000"/>
                </a:solidFill>
                <a:latin typeface="楷体" panose="02010609060101010101" pitchFamily="49" charset="-122"/>
                <a:ea typeface="楷体" panose="02010609060101010101" pitchFamily="49" charset="-122"/>
              </a:rPr>
              <a:t>CON</a:t>
            </a:r>
          </a:p>
          <a:p>
            <a:pPr marL="0" indent="0">
              <a:lnSpc>
                <a:spcPct val="110000"/>
              </a:lnSpc>
              <a:spcBef>
                <a:spcPts val="0"/>
              </a:spcBef>
              <a:buNone/>
            </a:pPr>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每次运行之前，</a:t>
            </a:r>
            <a:r>
              <a:rPr lang="en-US" altLang="zh-CN" sz="2400" dirty="0">
                <a:latin typeface="楷体" panose="02010609060101010101" pitchFamily="49" charset="-122"/>
                <a:ea typeface="楷体" panose="02010609060101010101" pitchFamily="49" charset="-122"/>
              </a:rPr>
              <a:t>CON</a:t>
            </a:r>
            <a:r>
              <a:rPr lang="zh-CN" altLang="en-US" sz="2400" dirty="0">
                <a:latin typeface="楷体" panose="02010609060101010101" pitchFamily="49" charset="-122"/>
                <a:ea typeface="楷体" panose="02010609060101010101" pitchFamily="49" charset="-122"/>
              </a:rPr>
              <a:t>先发出</a:t>
            </a:r>
            <a:r>
              <a:rPr lang="en-US" altLang="zh-CN" sz="2400" dirty="0">
                <a:latin typeface="楷体" panose="02010609060101010101" pitchFamily="49" charset="-122"/>
                <a:ea typeface="楷体" panose="02010609060101010101" pitchFamily="49" charset="-122"/>
              </a:rPr>
              <a:t>CLR=1</a:t>
            </a:r>
            <a:r>
              <a:rPr lang="zh-CN" altLang="en-US" sz="2400" dirty="0">
                <a:latin typeface="楷体" panose="02010609060101010101" pitchFamily="49" charset="-122"/>
                <a:ea typeface="楷体" panose="02010609060101010101" pitchFamily="49" charset="-122"/>
              </a:rPr>
              <a:t>，使有关的部件清</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。此时</a:t>
            </a:r>
            <a:r>
              <a:rPr lang="en-US" altLang="zh-CN" sz="2400" dirty="0">
                <a:latin typeface="楷体" panose="02010609060101010101" pitchFamily="49" charset="-122"/>
                <a:ea typeface="楷体" panose="02010609060101010101" pitchFamily="49" charset="-122"/>
              </a:rPr>
              <a:t>: PC=0000; IR=0000</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0000</a:t>
            </a:r>
          </a:p>
          <a:p>
            <a:pPr marL="0" indent="0">
              <a:lnSpc>
                <a:spcPct val="110000"/>
              </a:lnSpc>
              <a:spcBef>
                <a:spcPts val="0"/>
              </a:spcBef>
              <a:buNone/>
            </a:pPr>
            <a:r>
              <a:rPr lang="en-US" altLang="zh-CN" sz="2400" dirty="0">
                <a:latin typeface="楷体" panose="02010609060101010101" pitchFamily="49" charset="-122"/>
                <a:ea typeface="楷体" panose="02010609060101010101" pitchFamily="49" charset="-122"/>
              </a:rPr>
              <a:t>(2) CON</a:t>
            </a:r>
            <a:r>
              <a:rPr lang="zh-CN" altLang="en-US" sz="2400" dirty="0">
                <a:latin typeface="楷体" panose="02010609060101010101" pitchFamily="49" charset="-122"/>
                <a:ea typeface="楷体" panose="02010609060101010101" pitchFamily="49" charset="-122"/>
              </a:rPr>
              <a:t>有一个同步时钟，能发出脉冲</a:t>
            </a:r>
            <a:r>
              <a:rPr lang="en-US" altLang="zh-CN" sz="2400" dirty="0">
                <a:latin typeface="楷体" panose="02010609060101010101" pitchFamily="49" charset="-122"/>
                <a:ea typeface="楷体" panose="02010609060101010101" pitchFamily="49" charset="-122"/>
              </a:rPr>
              <a:t>CLK</a:t>
            </a:r>
            <a:r>
              <a:rPr lang="zh-CN" altLang="en-US" sz="2400" dirty="0">
                <a:latin typeface="楷体" panose="02010609060101010101" pitchFamily="49" charset="-122"/>
                <a:ea typeface="楷体" panose="02010609060101010101" pitchFamily="49" charset="-122"/>
              </a:rPr>
              <a:t>到各个部件去，使它们同步运行。</a:t>
            </a:r>
          </a:p>
          <a:p>
            <a:pPr marL="0" indent="0">
              <a:lnSpc>
                <a:spcPct val="110000"/>
              </a:lnSpc>
              <a:spcBef>
                <a:spcPts val="0"/>
              </a:spcBef>
              <a:buNone/>
            </a:pPr>
            <a:r>
              <a:rPr lang="en-US" altLang="zh-CN" sz="2400" dirty="0">
                <a:latin typeface="楷体" panose="02010609060101010101" pitchFamily="49" charset="-122"/>
                <a:ea typeface="楷体" panose="02010609060101010101" pitchFamily="49" charset="-122"/>
              </a:rPr>
              <a:t>(3) </a:t>
            </a:r>
            <a:r>
              <a:rPr lang="zh-CN" altLang="en-US" sz="2400" dirty="0">
                <a:latin typeface="楷体" panose="02010609060101010101" pitchFamily="49" charset="-122"/>
                <a:ea typeface="楷体" panose="02010609060101010101" pitchFamily="49" charset="-122"/>
              </a:rPr>
              <a:t>在</a:t>
            </a:r>
            <a:r>
              <a:rPr lang="en-US" altLang="zh-CN" sz="2400" dirty="0">
                <a:latin typeface="楷体" panose="02010609060101010101" pitchFamily="49" charset="-122"/>
                <a:ea typeface="楷体" panose="02010609060101010101" pitchFamily="49" charset="-122"/>
              </a:rPr>
              <a:t>CON</a:t>
            </a:r>
            <a:r>
              <a:rPr lang="zh-CN" altLang="en-US" sz="2400" dirty="0">
                <a:latin typeface="楷体" panose="02010609060101010101" pitchFamily="49" charset="-122"/>
                <a:ea typeface="楷体" panose="02010609060101010101" pitchFamily="49" charset="-122"/>
              </a:rPr>
              <a:t>中有一个控制矩阵</a:t>
            </a:r>
            <a:r>
              <a:rPr lang="en-US" altLang="zh-CN" sz="2400" dirty="0">
                <a:latin typeface="楷体" panose="02010609060101010101" pitchFamily="49" charset="-122"/>
                <a:ea typeface="楷体" panose="02010609060101010101" pitchFamily="49" charset="-122"/>
              </a:rPr>
              <a:t>CM</a:t>
            </a:r>
            <a:r>
              <a:rPr lang="zh-CN" altLang="en-US" sz="2400" dirty="0">
                <a:latin typeface="楷体" panose="02010609060101010101" pitchFamily="49" charset="-122"/>
                <a:ea typeface="楷体" panose="02010609060101010101" pitchFamily="49" charset="-122"/>
              </a:rPr>
              <a:t>，能根据</a:t>
            </a:r>
            <a:r>
              <a:rPr lang="en-US" altLang="zh-CN" sz="2400" dirty="0">
                <a:latin typeface="楷体" panose="02010609060101010101" pitchFamily="49" charset="-122"/>
                <a:ea typeface="楷体" panose="02010609060101010101" pitchFamily="49" charset="-122"/>
              </a:rPr>
              <a:t>IR</a:t>
            </a:r>
            <a:r>
              <a:rPr lang="zh-CN" altLang="en-US" sz="2400" dirty="0">
                <a:latin typeface="楷体" panose="02010609060101010101" pitchFamily="49" charset="-122"/>
                <a:ea typeface="楷体" panose="02010609060101010101" pitchFamily="49" charset="-122"/>
              </a:rPr>
              <a:t>送来的指令发出</a:t>
            </a:r>
            <a:r>
              <a:rPr lang="en-US" altLang="zh-CN" sz="2400" dirty="0">
                <a:latin typeface="楷体" panose="02010609060101010101" pitchFamily="49" charset="-122"/>
                <a:ea typeface="楷体" panose="02010609060101010101" pitchFamily="49" charset="-122"/>
              </a:rPr>
              <a:t>12</a:t>
            </a:r>
            <a:r>
              <a:rPr lang="zh-CN" altLang="en-US" sz="2400" dirty="0">
                <a:latin typeface="楷体" panose="02010609060101010101" pitchFamily="49" charset="-122"/>
                <a:ea typeface="楷体" panose="02010609060101010101" pitchFamily="49" charset="-122"/>
              </a:rPr>
              <a:t>位的控制字：</a:t>
            </a:r>
            <a:endParaRPr lang="en-US" altLang="zh-CN" sz="2400" dirty="0">
              <a:latin typeface="楷体" panose="02010609060101010101" pitchFamily="49" charset="-122"/>
              <a:ea typeface="楷体" panose="02010609060101010101" pitchFamily="49" charset="-122"/>
            </a:endParaRPr>
          </a:p>
          <a:p>
            <a:pPr marL="0" indent="0">
              <a:lnSpc>
                <a:spcPct val="110000"/>
              </a:lnSpc>
              <a:spcBef>
                <a:spcPts val="0"/>
              </a:spcBef>
              <a:buNone/>
            </a:pPr>
            <a:r>
              <a:rPr lang="en-US" altLang="zh-CN" sz="2400" dirty="0">
                <a:latin typeface="楷体" panose="02010609060101010101" pitchFamily="49" charset="-122"/>
                <a:ea typeface="楷体" panose="02010609060101010101" pitchFamily="49" charset="-122"/>
              </a:rPr>
              <a:t>  </a:t>
            </a:r>
            <a:r>
              <a:rPr lang="en-US" altLang="zh-CN" sz="2400" dirty="0">
                <a:solidFill>
                  <a:srgbClr val="FF0000"/>
                </a:solidFill>
                <a:latin typeface="楷体" panose="02010609060101010101" pitchFamily="49" charset="-122"/>
                <a:ea typeface="楷体" panose="02010609060101010101" pitchFamily="49" charset="-122"/>
              </a:rPr>
              <a:t>CON=</a:t>
            </a:r>
            <a:r>
              <a:rPr lang="en-US" altLang="zh-CN" sz="2400" dirty="0">
                <a:solidFill>
                  <a:srgbClr val="FF0000"/>
                </a:solidFill>
              </a:rPr>
              <a:t>C</a:t>
            </a:r>
            <a:r>
              <a:rPr lang="en-US" altLang="zh-CN" sz="2400" baseline="-25000" dirty="0">
                <a:solidFill>
                  <a:srgbClr val="FF0000"/>
                </a:solidFill>
              </a:rPr>
              <a:t>P</a:t>
            </a:r>
            <a:r>
              <a:rPr lang="en-US" altLang="zh-CN" sz="2400" dirty="0">
                <a:solidFill>
                  <a:srgbClr val="FF0000"/>
                </a:solidFill>
              </a:rPr>
              <a:t>E</a:t>
            </a:r>
            <a:r>
              <a:rPr lang="en-US" altLang="zh-CN" sz="2400" baseline="-25000" dirty="0">
                <a:solidFill>
                  <a:srgbClr val="FF0000"/>
                </a:solidFill>
              </a:rPr>
              <a:t>P</a:t>
            </a:r>
            <a:r>
              <a:rPr lang="en-US" altLang="zh-CN" sz="2400" dirty="0">
                <a:solidFill>
                  <a:srgbClr val="FF0000"/>
                </a:solidFill>
              </a:rPr>
              <a:t>L</a:t>
            </a:r>
            <a:r>
              <a:rPr lang="en-US" altLang="zh-CN" sz="2400" baseline="-25000" dirty="0">
                <a:solidFill>
                  <a:srgbClr val="FF0000"/>
                </a:solidFill>
              </a:rPr>
              <a:t>M</a:t>
            </a:r>
            <a:r>
              <a:rPr lang="en-US" altLang="zh-CN" sz="2400" dirty="0">
                <a:solidFill>
                  <a:srgbClr val="FF0000"/>
                </a:solidFill>
              </a:rPr>
              <a:t>E</a:t>
            </a:r>
            <a:r>
              <a:rPr lang="en-US" altLang="zh-CN" sz="2400" baseline="-25000" dirty="0">
                <a:solidFill>
                  <a:srgbClr val="FF0000"/>
                </a:solidFill>
              </a:rPr>
              <a:t>R</a:t>
            </a:r>
            <a:r>
              <a:rPr lang="en-US" altLang="zh-CN" sz="2400" dirty="0">
                <a:solidFill>
                  <a:srgbClr val="FF0000"/>
                </a:solidFill>
              </a:rPr>
              <a:t>L</a:t>
            </a:r>
            <a:r>
              <a:rPr lang="en-US" altLang="zh-CN" sz="2400" baseline="-25000" dirty="0">
                <a:solidFill>
                  <a:srgbClr val="FF0000"/>
                </a:solidFill>
              </a:rPr>
              <a:t>I</a:t>
            </a:r>
            <a:r>
              <a:rPr lang="en-US" altLang="zh-CN" sz="2400" dirty="0">
                <a:solidFill>
                  <a:srgbClr val="FF0000"/>
                </a:solidFill>
              </a:rPr>
              <a:t>E</a:t>
            </a:r>
            <a:r>
              <a:rPr lang="en-US" altLang="zh-CN" sz="2400" baseline="-25000" dirty="0">
                <a:solidFill>
                  <a:srgbClr val="FF0000"/>
                </a:solidFill>
              </a:rPr>
              <a:t>I</a:t>
            </a:r>
            <a:r>
              <a:rPr lang="en-US" altLang="zh-CN" sz="2400" dirty="0">
                <a:solidFill>
                  <a:srgbClr val="FF0000"/>
                </a:solidFill>
              </a:rPr>
              <a:t>L</a:t>
            </a:r>
            <a:r>
              <a:rPr lang="en-US" altLang="zh-CN" sz="2400" baseline="-25000" dirty="0">
                <a:solidFill>
                  <a:srgbClr val="FF0000"/>
                </a:solidFill>
              </a:rPr>
              <a:t>A</a:t>
            </a:r>
            <a:r>
              <a:rPr lang="en-US" altLang="zh-CN" sz="2400" dirty="0">
                <a:solidFill>
                  <a:srgbClr val="FF0000"/>
                </a:solidFill>
              </a:rPr>
              <a:t>E</a:t>
            </a:r>
            <a:r>
              <a:rPr lang="en-US" altLang="zh-CN" sz="2400" baseline="-25000" dirty="0">
                <a:solidFill>
                  <a:srgbClr val="FF0000"/>
                </a:solidFill>
              </a:rPr>
              <a:t>A</a:t>
            </a:r>
            <a:r>
              <a:rPr lang="en-US" altLang="zh-CN" sz="2400" dirty="0">
                <a:solidFill>
                  <a:srgbClr val="FF0000"/>
                </a:solidFill>
              </a:rPr>
              <a:t>S</a:t>
            </a:r>
            <a:r>
              <a:rPr lang="en-US" altLang="zh-CN" sz="2400" baseline="-25000" dirty="0">
                <a:solidFill>
                  <a:srgbClr val="FF0000"/>
                </a:solidFill>
              </a:rPr>
              <a:t>U</a:t>
            </a:r>
            <a:r>
              <a:rPr lang="en-US" altLang="zh-CN" sz="2400" dirty="0">
                <a:solidFill>
                  <a:srgbClr val="FF0000"/>
                </a:solidFill>
              </a:rPr>
              <a:t>E</a:t>
            </a:r>
            <a:r>
              <a:rPr lang="en-US" altLang="zh-CN" sz="2400" baseline="-25000" dirty="0">
                <a:solidFill>
                  <a:srgbClr val="FF0000"/>
                </a:solidFill>
              </a:rPr>
              <a:t>U</a:t>
            </a:r>
            <a:r>
              <a:rPr lang="en-US" altLang="zh-CN" sz="2400" dirty="0">
                <a:solidFill>
                  <a:srgbClr val="FF0000"/>
                </a:solidFill>
              </a:rPr>
              <a:t>L</a:t>
            </a:r>
            <a:r>
              <a:rPr lang="en-US" altLang="zh-CN" sz="2400" baseline="-25000" dirty="0">
                <a:solidFill>
                  <a:srgbClr val="FF0000"/>
                </a:solidFill>
              </a:rPr>
              <a:t>B</a:t>
            </a:r>
            <a:r>
              <a:rPr lang="en-US" altLang="zh-CN" sz="2400" dirty="0">
                <a:solidFill>
                  <a:srgbClr val="FF0000"/>
                </a:solidFill>
              </a:rPr>
              <a:t>L</a:t>
            </a:r>
            <a:r>
              <a:rPr lang="en-US" altLang="zh-CN" sz="2400" baseline="-25000" dirty="0">
                <a:solidFill>
                  <a:srgbClr val="FF0000"/>
                </a:solidFill>
              </a:rPr>
              <a:t>O</a:t>
            </a:r>
            <a:endParaRPr lang="en-US" altLang="zh-CN" sz="2400" dirty="0">
              <a:solidFill>
                <a:srgbClr val="FF0000"/>
              </a:solidFill>
            </a:endParaRPr>
          </a:p>
          <a:p>
            <a:pPr marL="0" indent="0">
              <a:lnSpc>
                <a:spcPct val="110000"/>
              </a:lnSpc>
              <a:spcBef>
                <a:spcPts val="0"/>
              </a:spcBef>
              <a:buNone/>
            </a:pPr>
            <a:r>
              <a:rPr lang="zh-CN" altLang="en-US" sz="2400" dirty="0">
                <a:latin typeface="楷体" panose="02010609060101010101" pitchFamily="49" charset="-122"/>
                <a:ea typeface="楷体" panose="02010609060101010101" pitchFamily="49" charset="-122"/>
              </a:rPr>
              <a:t>根据控制字中各位的置</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或置</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情况，计算机就能自动地按指令程序而有秩序地运行。</a:t>
            </a:r>
          </a:p>
        </p:txBody>
      </p:sp>
      <p:sp>
        <p:nvSpPr>
          <p:cNvPr id="15363" name="Text Box 3"/>
          <p:cNvSpPr txBox="1">
            <a:spLocks noChangeArrowheads="1"/>
          </p:cNvSpPr>
          <p:nvPr/>
        </p:nvSpPr>
        <p:spPr bwMode="auto">
          <a:xfrm>
            <a:off x="4632325" y="6319823"/>
            <a:ext cx="4429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defPPr>
              <a:defRPr lang="en-US"/>
            </a:defPPr>
            <a:lvl1pPr algn="ctr">
              <a:defRPr kumimoji="1" sz="2000">
                <a:latin typeface="楷体" panose="02010609060101010101" pitchFamily="49" charset="-122"/>
                <a:ea typeface="楷体" panose="02010609060101010101" pitchFamily="49" charset="-122"/>
              </a:defRPr>
            </a:lvl1pPr>
            <a:lvl2pPr marL="742950" indent="-285750">
              <a:defRPr kumimoji="1" sz="2400">
                <a:latin typeface="Times New Roman" panose="02020603050405020304" pitchFamily="18" charset="0"/>
                <a:ea typeface="宋体" panose="02010600030101010101" pitchFamily="2" charset="-122"/>
              </a:defRPr>
            </a:lvl2pPr>
            <a:lvl3pPr marL="1143000" indent="-228600">
              <a:defRPr kumimoji="1" sz="2400">
                <a:latin typeface="Times New Roman" panose="02020603050405020304" pitchFamily="18" charset="0"/>
                <a:ea typeface="宋体" panose="02010600030101010101" pitchFamily="2" charset="-122"/>
              </a:defRPr>
            </a:lvl3pPr>
            <a:lvl4pPr marL="1600200" indent="-228600">
              <a:defRPr kumimoji="1" sz="2400">
                <a:latin typeface="Times New Roman" panose="02020603050405020304" pitchFamily="18" charset="0"/>
                <a:ea typeface="宋体" panose="02010600030101010101" pitchFamily="2" charset="-122"/>
              </a:defRPr>
            </a:lvl4pPr>
            <a:lvl5pPr marL="2057400" indent="-22860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zh-CN" altLang="en-US" dirty="0"/>
              <a:t>图</a:t>
            </a:r>
            <a:r>
              <a:rPr lang="en-US" altLang="zh-CN" dirty="0"/>
              <a:t>3.1a  </a:t>
            </a:r>
            <a:r>
              <a:rPr lang="zh-CN" altLang="en-US" dirty="0"/>
              <a:t>微型计算机的简化结构</a:t>
            </a:r>
            <a:endParaRPr lang="en-US" altLang="zh-CN" dirty="0"/>
          </a:p>
        </p:txBody>
      </p:sp>
      <p:pic>
        <p:nvPicPr>
          <p:cNvPr id="15364"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572793" y="1162050"/>
            <a:ext cx="4548188" cy="493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2267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AADEAC5-6B30-4345-AFF8-C0B81AD61F99}"/>
              </a:ext>
            </a:extLst>
          </p:cNvPr>
          <p:cNvSpPr>
            <a:spLocks noGrp="1" noChangeArrowheads="1"/>
          </p:cNvSpPr>
          <p:nvPr>
            <p:ph type="subTitle" idx="4294967295"/>
          </p:nvPr>
        </p:nvSpPr>
        <p:spPr>
          <a:xfrm>
            <a:off x="142875" y="857250"/>
            <a:ext cx="3857625" cy="58912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20000"/>
              </a:lnSpc>
              <a:spcBef>
                <a:spcPts val="0"/>
              </a:spcBef>
              <a:buNone/>
            </a:pPr>
            <a:r>
              <a:rPr lang="en-US" altLang="zh-CN" sz="2400" dirty="0">
                <a:latin typeface="楷体" panose="02010609060101010101" pitchFamily="49" charset="-122"/>
                <a:ea typeface="楷体" panose="02010609060101010101" pitchFamily="49" charset="-122"/>
              </a:rPr>
              <a:t>6.</a:t>
            </a:r>
            <a:r>
              <a:rPr lang="zh-CN" altLang="en-US" sz="2400" dirty="0">
                <a:solidFill>
                  <a:srgbClr val="FF0000"/>
                </a:solidFill>
                <a:latin typeface="楷体" panose="02010609060101010101" pitchFamily="49" charset="-122"/>
                <a:ea typeface="楷体" panose="02010609060101010101" pitchFamily="49" charset="-122"/>
              </a:rPr>
              <a:t>累加器</a:t>
            </a:r>
            <a:r>
              <a:rPr lang="en-US" altLang="zh-CN" sz="2400" dirty="0">
                <a:solidFill>
                  <a:srgbClr val="FF0000"/>
                </a:solidFill>
                <a:latin typeface="楷体" panose="02010609060101010101" pitchFamily="49" charset="-122"/>
                <a:ea typeface="楷体" panose="02010609060101010101" pitchFamily="49" charset="-122"/>
              </a:rPr>
              <a:t>A</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用以储存计算机运行期间的中间结果。</a:t>
            </a:r>
            <a:endParaRPr lang="en-US" altLang="zh-CN" sz="2400" dirty="0">
              <a:latin typeface="楷体" panose="02010609060101010101" pitchFamily="49" charset="-122"/>
              <a:ea typeface="楷体" panose="02010609060101010101" pitchFamily="49" charset="-122"/>
            </a:endParaRP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接收</a:t>
            </a:r>
            <a:r>
              <a:rPr lang="en-US" altLang="zh-CN" sz="2400" dirty="0">
                <a:latin typeface="楷体" panose="02010609060101010101" pitchFamily="49" charset="-122"/>
                <a:ea typeface="楷体" panose="02010609060101010101" pitchFamily="49" charset="-122"/>
              </a:rPr>
              <a:t>W</a:t>
            </a:r>
            <a:r>
              <a:rPr lang="zh-CN" altLang="en-US" sz="2400" dirty="0">
                <a:latin typeface="楷体" panose="02010609060101010101" pitchFamily="49" charset="-122"/>
                <a:ea typeface="楷体" panose="02010609060101010101" pitchFamily="49" charset="-122"/>
              </a:rPr>
              <a:t>总线送来的数据 </a:t>
            </a:r>
            <a:r>
              <a:rPr lang="en-US" altLang="zh-CN" sz="2400" dirty="0">
                <a:latin typeface="楷体" panose="02010609060101010101" pitchFamily="49" charset="-122"/>
                <a:ea typeface="楷体" panose="02010609060101010101" pitchFamily="49" charset="-122"/>
              </a:rPr>
              <a:t>(L</a:t>
            </a:r>
            <a:r>
              <a:rPr lang="en-US" altLang="zh-CN" sz="2400" baseline="-25000" dirty="0">
                <a:latin typeface="楷体" panose="02010609060101010101" pitchFamily="49" charset="-122"/>
                <a:ea typeface="楷体" panose="02010609060101010101" pitchFamily="49" charset="-122"/>
              </a:rPr>
              <a:t>A</a:t>
            </a:r>
            <a:r>
              <a:rPr lang="en-US" altLang="zh-CN" sz="2400" dirty="0">
                <a:latin typeface="楷体" panose="02010609060101010101" pitchFamily="49" charset="-122"/>
                <a:ea typeface="楷体" panose="02010609060101010101" pitchFamily="49" charset="-122"/>
              </a:rPr>
              <a:t>=1);</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将数据送到</a:t>
            </a:r>
            <a:r>
              <a:rPr lang="en-US" altLang="zh-CN" sz="2400" dirty="0">
                <a:latin typeface="楷体" panose="02010609060101010101" pitchFamily="49" charset="-122"/>
                <a:ea typeface="楷体" panose="02010609060101010101" pitchFamily="49" charset="-122"/>
              </a:rPr>
              <a:t>W</a:t>
            </a:r>
            <a:r>
              <a:rPr lang="zh-CN" altLang="en-US" sz="2400" dirty="0">
                <a:latin typeface="楷体" panose="02010609060101010101" pitchFamily="49" charset="-122"/>
                <a:ea typeface="楷体" panose="02010609060101010101" pitchFamily="49" charset="-122"/>
              </a:rPr>
              <a:t>总线上去</a:t>
            </a:r>
            <a:r>
              <a:rPr lang="en-US" altLang="zh-CN" sz="2400" dirty="0">
                <a:latin typeface="楷体" panose="02010609060101010101" pitchFamily="49" charset="-122"/>
                <a:ea typeface="楷体" panose="02010609060101010101" pitchFamily="49" charset="-122"/>
              </a:rPr>
              <a:t>(E</a:t>
            </a:r>
            <a:r>
              <a:rPr lang="en-US" altLang="zh-CN" sz="2400" baseline="-25000" dirty="0">
                <a:latin typeface="楷体" panose="02010609060101010101" pitchFamily="49" charset="-122"/>
                <a:ea typeface="楷体" panose="02010609060101010101" pitchFamily="49" charset="-122"/>
              </a:rPr>
              <a:t>A</a:t>
            </a:r>
            <a:r>
              <a:rPr lang="en-US" altLang="zh-CN" sz="2400" dirty="0">
                <a:latin typeface="楷体" panose="02010609060101010101" pitchFamily="49" charset="-122"/>
                <a:ea typeface="楷体" panose="02010609060101010101" pitchFamily="49" charset="-122"/>
              </a:rPr>
              <a:t>=1);</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它还有一个数据输出端，将数据送至</a:t>
            </a:r>
            <a:r>
              <a:rPr lang="en-US" altLang="zh-CN" sz="2400" dirty="0">
                <a:latin typeface="楷体" panose="02010609060101010101" pitchFamily="49" charset="-122"/>
                <a:ea typeface="楷体" panose="02010609060101010101" pitchFamily="49" charset="-122"/>
              </a:rPr>
              <a:t>ALU</a:t>
            </a:r>
            <a:r>
              <a:rPr lang="zh-CN" altLang="en-US" sz="2400" dirty="0">
                <a:latin typeface="楷体" panose="02010609060101010101" pitchFamily="49" charset="-122"/>
                <a:ea typeface="楷体" panose="02010609060101010101" pitchFamily="49" charset="-122"/>
              </a:rPr>
              <a:t>去进行算术运算。这个输出是双态的，即是立即地送去，而不受</a:t>
            </a:r>
            <a:r>
              <a:rPr lang="en-US" altLang="zh-CN" sz="2400" dirty="0">
                <a:latin typeface="楷体" panose="02010609060101010101" pitchFamily="49" charset="-122"/>
                <a:ea typeface="楷体" panose="02010609060101010101" pitchFamily="49" charset="-122"/>
              </a:rPr>
              <a:t>E</a:t>
            </a:r>
            <a:r>
              <a:rPr lang="zh-CN" altLang="en-US" sz="2400" dirty="0">
                <a:latin typeface="楷体" panose="02010609060101010101" pitchFamily="49" charset="-122"/>
                <a:ea typeface="楷体" panose="02010609060101010101" pitchFamily="49" charset="-122"/>
              </a:rPr>
              <a:t>门的控制。</a:t>
            </a:r>
          </a:p>
        </p:txBody>
      </p:sp>
      <p:sp>
        <p:nvSpPr>
          <p:cNvPr id="5" name="Text Box 3"/>
          <p:cNvSpPr txBox="1">
            <a:spLocks noChangeArrowheads="1"/>
          </p:cNvSpPr>
          <p:nvPr/>
        </p:nvSpPr>
        <p:spPr bwMode="auto">
          <a:xfrm>
            <a:off x="4429125" y="6226939"/>
            <a:ext cx="4429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3.1a  </a:t>
            </a:r>
            <a:r>
              <a:rPr lang="zh-CN" altLang="en-US" sz="2000" dirty="0">
                <a:latin typeface="楷体" panose="02010609060101010101" pitchFamily="49" charset="-122"/>
                <a:ea typeface="楷体" panose="02010609060101010101" pitchFamily="49" charset="-122"/>
              </a:rPr>
              <a:t>微型计算机的简化结构</a:t>
            </a:r>
            <a:endParaRPr lang="en-US" altLang="zh-CN" sz="2000" dirty="0">
              <a:latin typeface="楷体" panose="02010609060101010101" pitchFamily="49" charset="-122"/>
              <a:ea typeface="楷体" panose="02010609060101010101" pitchFamily="49" charset="-122"/>
            </a:endParaRPr>
          </a:p>
        </p:txBody>
      </p:sp>
      <p:pic>
        <p:nvPicPr>
          <p:cNvPr id="6"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234649" y="1214438"/>
            <a:ext cx="4837914"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3778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subTitle" idx="4294967295"/>
          </p:nvPr>
        </p:nvSpPr>
        <p:spPr bwMode="auto">
          <a:xfrm>
            <a:off x="304800" y="1198484"/>
            <a:ext cx="3695700" cy="479713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20000"/>
              </a:lnSpc>
              <a:spcBef>
                <a:spcPts val="0"/>
              </a:spcBef>
              <a:buNone/>
            </a:pPr>
            <a:r>
              <a:rPr lang="en-US" altLang="zh-CN" sz="2400" dirty="0">
                <a:latin typeface="楷体" panose="02010609060101010101" pitchFamily="49" charset="-122"/>
                <a:ea typeface="楷体" panose="02010609060101010101" pitchFamily="49" charset="-122"/>
              </a:rPr>
              <a:t>7.</a:t>
            </a:r>
            <a:r>
              <a:rPr lang="zh-CN" altLang="en-US" sz="2400" dirty="0">
                <a:solidFill>
                  <a:srgbClr val="FF0000"/>
                </a:solidFill>
                <a:latin typeface="楷体" panose="02010609060101010101" pitchFamily="49" charset="-122"/>
                <a:ea typeface="楷体" panose="02010609060101010101" pitchFamily="49" charset="-122"/>
              </a:rPr>
              <a:t>算术逻辑部件</a:t>
            </a:r>
            <a:r>
              <a:rPr lang="en-US" altLang="zh-CN" sz="2400" dirty="0">
                <a:solidFill>
                  <a:srgbClr val="FF0000"/>
                </a:solidFill>
                <a:latin typeface="楷体" panose="02010609060101010101" pitchFamily="49" charset="-122"/>
                <a:ea typeface="楷体" panose="02010609060101010101" pitchFamily="49" charset="-122"/>
              </a:rPr>
              <a:t>ALU</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它是一个二进制补码加／减法器</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见图</a:t>
            </a:r>
            <a:r>
              <a:rPr lang="en-US" altLang="zh-CN" sz="2400" dirty="0">
                <a:latin typeface="楷体" panose="02010609060101010101" pitchFamily="49" charset="-122"/>
                <a:ea typeface="楷体" panose="02010609060101010101" pitchFamily="49" charset="-122"/>
              </a:rPr>
              <a:t>1.9)</a:t>
            </a:r>
            <a:r>
              <a:rPr lang="zh-CN" altLang="en-US" sz="2400" dirty="0">
                <a:latin typeface="楷体" panose="02010609060101010101" pitchFamily="49" charset="-122"/>
                <a:ea typeface="楷体" panose="02010609060101010101" pitchFamily="49" charset="-122"/>
              </a:rPr>
              <a:t>：</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当</a:t>
            </a:r>
            <a:r>
              <a:rPr lang="en-US" altLang="zh-CN" sz="2400" dirty="0">
                <a:latin typeface="楷体" panose="02010609060101010101" pitchFamily="49" charset="-122"/>
                <a:ea typeface="楷体" panose="02010609060101010101" pitchFamily="49" charset="-122"/>
              </a:rPr>
              <a:t>SU=0</a:t>
            </a:r>
            <a:r>
              <a:rPr lang="zh-CN" altLang="en-US" sz="2400" dirty="0">
                <a:latin typeface="楷体" panose="02010609060101010101" pitchFamily="49" charset="-122"/>
                <a:ea typeface="楷体" panose="02010609060101010101" pitchFamily="49" charset="-122"/>
              </a:rPr>
              <a:t>，进行加法</a:t>
            </a:r>
            <a:r>
              <a:rPr lang="en-US" altLang="zh-CN" sz="2400" dirty="0">
                <a:latin typeface="楷体" panose="02010609060101010101" pitchFamily="49" charset="-122"/>
                <a:ea typeface="楷体" panose="02010609060101010101" pitchFamily="49" charset="-122"/>
              </a:rPr>
              <a:t>A+B</a:t>
            </a:r>
            <a:r>
              <a:rPr lang="zh-CN" altLang="en-US" sz="2400" dirty="0">
                <a:latin typeface="楷体" panose="02010609060101010101" pitchFamily="49" charset="-122"/>
                <a:ea typeface="楷体" panose="02010609060101010101" pitchFamily="49" charset="-122"/>
              </a:rPr>
              <a:t>；当</a:t>
            </a:r>
            <a:r>
              <a:rPr lang="en-US" altLang="zh-CN" sz="2400" dirty="0">
                <a:latin typeface="楷体" panose="02010609060101010101" pitchFamily="49" charset="-122"/>
                <a:ea typeface="楷体" panose="02010609060101010101" pitchFamily="49" charset="-122"/>
              </a:rPr>
              <a:t>SU=1</a:t>
            </a:r>
            <a:r>
              <a:rPr lang="zh-CN" altLang="en-US" sz="2400" dirty="0">
                <a:latin typeface="楷体" panose="02010609060101010101" pitchFamily="49" charset="-122"/>
                <a:ea typeface="楷体" panose="02010609060101010101" pitchFamily="49" charset="-122"/>
              </a:rPr>
              <a:t>，进行减法</a:t>
            </a:r>
            <a:r>
              <a:rPr lang="en-US" altLang="zh-CN" sz="2400" dirty="0">
                <a:latin typeface="楷体" panose="02010609060101010101" pitchFamily="49" charset="-122"/>
                <a:ea typeface="楷体" panose="02010609060101010101" pitchFamily="49" charset="-122"/>
              </a:rPr>
              <a:t>A-B</a:t>
            </a:r>
            <a:r>
              <a:rPr lang="zh-CN" altLang="en-US" sz="2400" dirty="0">
                <a:latin typeface="楷体" panose="02010609060101010101" pitchFamily="49" charset="-122"/>
                <a:ea typeface="楷体" panose="02010609060101010101" pitchFamily="49" charset="-122"/>
              </a:rPr>
              <a:t>。</a:t>
            </a:r>
          </a:p>
          <a:p>
            <a:pPr marL="0" indent="0">
              <a:lnSpc>
                <a:spcPct val="120000"/>
              </a:lnSpc>
              <a:spcBef>
                <a:spcPts val="0"/>
              </a:spcBef>
              <a:buNone/>
            </a:pPr>
            <a:r>
              <a:rPr lang="en-US" altLang="zh-CN" sz="2400" dirty="0">
                <a:latin typeface="楷体" panose="02010609060101010101" pitchFamily="49" charset="-122"/>
                <a:ea typeface="楷体" panose="02010609060101010101" pitchFamily="49" charset="-122"/>
              </a:rPr>
              <a:t>8.</a:t>
            </a:r>
            <a:r>
              <a:rPr lang="zh-CN" altLang="en-US" sz="2400" dirty="0">
                <a:solidFill>
                  <a:srgbClr val="FF0000"/>
                </a:solidFill>
                <a:latin typeface="楷体" panose="02010609060101010101" pitchFamily="49" charset="-122"/>
                <a:ea typeface="楷体" panose="02010609060101010101" pitchFamily="49" charset="-122"/>
              </a:rPr>
              <a:t>寄存器</a:t>
            </a:r>
            <a:r>
              <a:rPr lang="en-US" altLang="zh-CN" sz="2400" dirty="0">
                <a:solidFill>
                  <a:srgbClr val="FF0000"/>
                </a:solidFill>
                <a:latin typeface="楷体" panose="02010609060101010101" pitchFamily="49" charset="-122"/>
                <a:ea typeface="楷体" panose="02010609060101010101" pitchFamily="49" charset="-122"/>
              </a:rPr>
              <a:t>B</a:t>
            </a:r>
          </a:p>
          <a:p>
            <a:pPr marL="0" indent="0">
              <a:lnSpc>
                <a:spcPct val="120000"/>
              </a:lnSpc>
              <a:spcBef>
                <a:spcPts val="0"/>
              </a:spcBef>
              <a:buNone/>
            </a:pPr>
            <a:r>
              <a:rPr lang="zh-CN" altLang="en-US" sz="2400" dirty="0">
                <a:latin typeface="楷体" panose="02010609060101010101" pitchFamily="49" charset="-122"/>
                <a:ea typeface="楷体" panose="02010609060101010101" pitchFamily="49" charset="-122"/>
              </a:rPr>
              <a:t>    将要与</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相加减的数据暂存于此寄存器。它到</a:t>
            </a:r>
            <a:r>
              <a:rPr lang="en-US" altLang="zh-CN" sz="2400" dirty="0">
                <a:latin typeface="楷体" panose="02010609060101010101" pitchFamily="49" charset="-122"/>
                <a:ea typeface="楷体" panose="02010609060101010101" pitchFamily="49" charset="-122"/>
              </a:rPr>
              <a:t>ALU</a:t>
            </a:r>
            <a:r>
              <a:rPr lang="zh-CN" altLang="en-US" sz="2400" dirty="0">
                <a:latin typeface="楷体" panose="02010609060101010101" pitchFamily="49" charset="-122"/>
                <a:ea typeface="楷体" panose="02010609060101010101" pitchFamily="49" charset="-122"/>
              </a:rPr>
              <a:t>的输出也是双态的，即无</a:t>
            </a:r>
            <a:r>
              <a:rPr lang="en-US" altLang="zh-CN" sz="2400" dirty="0">
                <a:latin typeface="楷体" panose="02010609060101010101" pitchFamily="49" charset="-122"/>
                <a:ea typeface="楷体" panose="02010609060101010101" pitchFamily="49" charset="-122"/>
              </a:rPr>
              <a:t>E</a:t>
            </a:r>
            <a:r>
              <a:rPr lang="zh-CN" altLang="en-US" sz="2400" dirty="0">
                <a:latin typeface="楷体" panose="02010609060101010101" pitchFamily="49" charset="-122"/>
                <a:ea typeface="楷体" panose="02010609060101010101" pitchFamily="49" charset="-122"/>
              </a:rPr>
              <a:t>门控制。</a:t>
            </a:r>
          </a:p>
        </p:txBody>
      </p:sp>
      <p:sp>
        <p:nvSpPr>
          <p:cNvPr id="5" name="Text Box 3"/>
          <p:cNvSpPr txBox="1">
            <a:spLocks noChangeArrowheads="1"/>
          </p:cNvSpPr>
          <p:nvPr/>
        </p:nvSpPr>
        <p:spPr bwMode="auto">
          <a:xfrm>
            <a:off x="4429125" y="6226939"/>
            <a:ext cx="4429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3.1a  </a:t>
            </a:r>
            <a:r>
              <a:rPr lang="zh-CN" altLang="en-US" sz="2000" dirty="0">
                <a:latin typeface="楷体" panose="02010609060101010101" pitchFamily="49" charset="-122"/>
                <a:ea typeface="楷体" panose="02010609060101010101" pitchFamily="49" charset="-122"/>
              </a:rPr>
              <a:t>微型计算机的简化结构</a:t>
            </a:r>
            <a:endParaRPr lang="en-US" altLang="zh-CN" sz="2000" dirty="0">
              <a:latin typeface="楷体" panose="02010609060101010101" pitchFamily="49" charset="-122"/>
              <a:ea typeface="楷体" panose="02010609060101010101" pitchFamily="49" charset="-122"/>
            </a:endParaRPr>
          </a:p>
        </p:txBody>
      </p:sp>
      <p:pic>
        <p:nvPicPr>
          <p:cNvPr id="6"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234649" y="1214438"/>
            <a:ext cx="4837914"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8922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subTitle" idx="4294967295"/>
          </p:nvPr>
        </p:nvSpPr>
        <p:spPr bwMode="auto">
          <a:xfrm>
            <a:off x="377024" y="1214438"/>
            <a:ext cx="3857625" cy="451304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9.</a:t>
            </a:r>
            <a:r>
              <a:rPr lang="zh-CN" altLang="en-US" sz="2400" dirty="0">
                <a:solidFill>
                  <a:srgbClr val="FF0000"/>
                </a:solidFill>
                <a:latin typeface="楷体" panose="02010609060101010101" pitchFamily="49" charset="-122"/>
                <a:ea typeface="楷体" panose="02010609060101010101" pitchFamily="49" charset="-122"/>
              </a:rPr>
              <a:t>输出寄存器</a:t>
            </a:r>
            <a:r>
              <a:rPr lang="en-US" altLang="zh-CN" sz="2400" dirty="0">
                <a:solidFill>
                  <a:srgbClr val="FF0000"/>
                </a:solidFill>
                <a:latin typeface="楷体" panose="02010609060101010101" pitchFamily="49" charset="-122"/>
                <a:ea typeface="楷体" panose="02010609060101010101" pitchFamily="49" charset="-122"/>
              </a:rPr>
              <a:t>O</a:t>
            </a: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计算机运行结束时，累加器</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中存有答案，如果要输出此答案，就得送入</a:t>
            </a:r>
            <a:r>
              <a:rPr lang="en-US" altLang="zh-CN" sz="2400" dirty="0">
                <a:latin typeface="楷体" panose="02010609060101010101" pitchFamily="49" charset="-122"/>
                <a:ea typeface="楷体" panose="02010609060101010101" pitchFamily="49" charset="-122"/>
              </a:rPr>
              <a:t>O</a:t>
            </a:r>
            <a:r>
              <a:rPr lang="zh-CN" altLang="en-US" sz="2400" dirty="0">
                <a:latin typeface="楷体" panose="02010609060101010101" pitchFamily="49" charset="-122"/>
                <a:ea typeface="楷体" panose="02010609060101010101" pitchFamily="49" charset="-122"/>
              </a:rPr>
              <a:t>，此时</a:t>
            </a:r>
            <a:r>
              <a:rPr lang="en-US" altLang="zh-CN" sz="2400" dirty="0">
                <a:latin typeface="楷体" panose="02010609060101010101" pitchFamily="49" charset="-122"/>
                <a:ea typeface="楷体" panose="02010609060101010101" pitchFamily="49" charset="-122"/>
              </a:rPr>
              <a:t>,L</a:t>
            </a:r>
            <a:r>
              <a:rPr lang="en-US" altLang="zh-CN" sz="2400" baseline="-25000" dirty="0">
                <a:latin typeface="楷体" panose="02010609060101010101" pitchFamily="49" charset="-122"/>
                <a:ea typeface="楷体" panose="02010609060101010101" pitchFamily="49" charset="-122"/>
              </a:rPr>
              <a:t>O</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a:t>
            </a:r>
            <a:r>
              <a:rPr lang="en-US" altLang="zh-CN" sz="2400" baseline="-25000" dirty="0">
                <a:latin typeface="楷体" panose="02010609060101010101" pitchFamily="49" charset="-122"/>
                <a:ea typeface="楷体" panose="02010609060101010101" pitchFamily="49" charset="-122"/>
              </a:rPr>
              <a:t>A</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，则</a:t>
            </a:r>
            <a:r>
              <a:rPr lang="en-US" altLang="zh-CN" sz="2400" dirty="0">
                <a:latin typeface="楷体" panose="02010609060101010101" pitchFamily="49" charset="-122"/>
                <a:ea typeface="楷体" panose="02010609060101010101" pitchFamily="49" charset="-122"/>
              </a:rPr>
              <a:t>O=A</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计算机具有若干个输出寄存器，称为</a:t>
            </a:r>
            <a:r>
              <a:rPr lang="zh-CN" altLang="en-US" sz="2400" dirty="0">
                <a:solidFill>
                  <a:srgbClr val="0070C0"/>
                </a:solidFill>
                <a:latin typeface="楷体" panose="02010609060101010101" pitchFamily="49" charset="-122"/>
                <a:ea typeface="楷体" panose="02010609060101010101" pitchFamily="49" charset="-122"/>
              </a:rPr>
              <a:t>输出接口电路</a:t>
            </a:r>
            <a:r>
              <a:rPr lang="zh-CN" altLang="en-US" sz="2400" dirty="0">
                <a:latin typeface="楷体" panose="02010609060101010101" pitchFamily="49" charset="-122"/>
                <a:ea typeface="楷体" panose="02010609060101010101" pitchFamily="49" charset="-122"/>
              </a:rPr>
              <a:t>。可驱动不同的外围设备，如打印机、显示器。</a:t>
            </a:r>
          </a:p>
        </p:txBody>
      </p:sp>
      <p:sp>
        <p:nvSpPr>
          <p:cNvPr id="5" name="Text Box 3"/>
          <p:cNvSpPr txBox="1">
            <a:spLocks noChangeArrowheads="1"/>
          </p:cNvSpPr>
          <p:nvPr/>
        </p:nvSpPr>
        <p:spPr bwMode="auto">
          <a:xfrm>
            <a:off x="4429125" y="6226939"/>
            <a:ext cx="4429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3.1a  </a:t>
            </a:r>
            <a:r>
              <a:rPr lang="zh-CN" altLang="en-US" sz="2000" dirty="0">
                <a:latin typeface="楷体" panose="02010609060101010101" pitchFamily="49" charset="-122"/>
                <a:ea typeface="楷体" panose="02010609060101010101" pitchFamily="49" charset="-122"/>
              </a:rPr>
              <a:t>微型计算机的简化结构</a:t>
            </a:r>
            <a:endParaRPr lang="en-US" altLang="zh-CN" sz="2000" dirty="0">
              <a:latin typeface="楷体" panose="02010609060101010101" pitchFamily="49" charset="-122"/>
              <a:ea typeface="楷体" panose="02010609060101010101" pitchFamily="49" charset="-122"/>
            </a:endParaRPr>
          </a:p>
        </p:txBody>
      </p:sp>
      <p:pic>
        <p:nvPicPr>
          <p:cNvPr id="6"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234649" y="1214438"/>
            <a:ext cx="4837914"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4991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subTitle" idx="4294967295"/>
          </p:nvPr>
        </p:nvSpPr>
        <p:spPr bwMode="auto">
          <a:xfrm>
            <a:off x="142875" y="994299"/>
            <a:ext cx="3857625" cy="35954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50000"/>
              </a:lnSpc>
              <a:spcBef>
                <a:spcPts val="0"/>
              </a:spcBef>
              <a:buNone/>
            </a:pPr>
            <a:r>
              <a:rPr lang="en-US" altLang="zh-CN" sz="2400" dirty="0">
                <a:latin typeface="楷体" panose="02010609060101010101" pitchFamily="49" charset="-122"/>
                <a:ea typeface="楷体" panose="02010609060101010101" pitchFamily="49" charset="-122"/>
              </a:rPr>
              <a:t>10.</a:t>
            </a:r>
            <a:r>
              <a:rPr lang="zh-CN" altLang="en-US" sz="2400" dirty="0">
                <a:solidFill>
                  <a:srgbClr val="FF0000"/>
                </a:solidFill>
                <a:latin typeface="楷体" panose="02010609060101010101" pitchFamily="49" charset="-122"/>
                <a:ea typeface="楷体" panose="02010609060101010101" pitchFamily="49" charset="-122"/>
              </a:rPr>
              <a:t>二进制显示器</a:t>
            </a:r>
            <a:r>
              <a:rPr lang="en-US" altLang="zh-CN" sz="2400" dirty="0">
                <a:solidFill>
                  <a:srgbClr val="FF0000"/>
                </a:solidFill>
                <a:latin typeface="楷体" panose="02010609060101010101" pitchFamily="49" charset="-122"/>
                <a:ea typeface="楷体" panose="02010609060101010101" pitchFamily="49" charset="-122"/>
              </a:rPr>
              <a:t>D</a:t>
            </a:r>
          </a:p>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    由发光二极管</a:t>
            </a:r>
            <a:r>
              <a:rPr lang="en-US" altLang="zh-CN" sz="2400" dirty="0">
                <a:latin typeface="楷体" panose="02010609060101010101" pitchFamily="49" charset="-122"/>
                <a:ea typeface="楷体" panose="02010609060101010101" pitchFamily="49" charset="-122"/>
              </a:rPr>
              <a:t>LED</a:t>
            </a:r>
            <a:r>
              <a:rPr lang="zh-CN" altLang="en-US" sz="2400" dirty="0">
                <a:latin typeface="楷体" panose="02010609060101010101" pitchFamily="49" charset="-122"/>
                <a:ea typeface="楷体" panose="02010609060101010101" pitchFamily="49" charset="-122"/>
              </a:rPr>
              <a:t>组成，每个</a:t>
            </a:r>
            <a:r>
              <a:rPr lang="en-US" altLang="zh-CN" sz="2400" dirty="0">
                <a:latin typeface="楷体" panose="02010609060101010101" pitchFamily="49" charset="-122"/>
                <a:ea typeface="楷体" panose="02010609060101010101" pitchFamily="49" charset="-122"/>
              </a:rPr>
              <a:t>LED</a:t>
            </a:r>
            <a:r>
              <a:rPr lang="zh-CN" altLang="en-US" sz="2400" dirty="0">
                <a:latin typeface="楷体" panose="02010609060101010101" pitchFamily="49" charset="-122"/>
                <a:ea typeface="楷体" panose="02010609060101010101" pitchFamily="49" charset="-122"/>
              </a:rPr>
              <a:t>接到寄存器</a:t>
            </a:r>
            <a:r>
              <a:rPr lang="en-US" altLang="zh-CN" sz="2400" dirty="0">
                <a:latin typeface="楷体" panose="02010609060101010101" pitchFamily="49" charset="-122"/>
                <a:ea typeface="楷体" panose="02010609060101010101" pitchFamily="49" charset="-122"/>
              </a:rPr>
              <a:t>O</a:t>
            </a:r>
            <a:r>
              <a:rPr lang="zh-CN" altLang="en-US" sz="2400" dirty="0">
                <a:latin typeface="楷体" panose="02010609060101010101" pitchFamily="49" charset="-122"/>
                <a:ea typeface="楷体" panose="02010609060101010101" pitchFamily="49" charset="-122"/>
              </a:rPr>
              <a:t>的一位上，某位为高电位时，则该</a:t>
            </a:r>
            <a:r>
              <a:rPr lang="en-US" altLang="zh-CN" sz="2400" dirty="0">
                <a:latin typeface="楷体" panose="02010609060101010101" pitchFamily="49" charset="-122"/>
                <a:ea typeface="楷体" panose="02010609060101010101" pitchFamily="49" charset="-122"/>
              </a:rPr>
              <a:t>LED</a:t>
            </a:r>
            <a:r>
              <a:rPr lang="zh-CN" altLang="en-US" sz="2400" dirty="0">
                <a:latin typeface="楷体" panose="02010609060101010101" pitchFamily="49" charset="-122"/>
                <a:ea typeface="楷体" panose="02010609060101010101" pitchFamily="49" charset="-122"/>
              </a:rPr>
              <a:t>发光。寄存器</a:t>
            </a:r>
            <a:r>
              <a:rPr lang="en-US" altLang="zh-CN" sz="2400" dirty="0">
                <a:latin typeface="楷体" panose="02010609060101010101" pitchFamily="49" charset="-122"/>
                <a:ea typeface="楷体" panose="02010609060101010101" pitchFamily="49" charset="-122"/>
              </a:rPr>
              <a:t>O</a:t>
            </a:r>
            <a:r>
              <a:rPr lang="zh-CN" altLang="en-US" sz="2400" dirty="0">
                <a:latin typeface="楷体" panose="02010609060101010101" pitchFamily="49" charset="-122"/>
                <a:ea typeface="楷体" panose="02010609060101010101" pitchFamily="49" charset="-122"/>
              </a:rPr>
              <a:t>的位数与</a:t>
            </a:r>
            <a:r>
              <a:rPr lang="en-US" altLang="zh-CN" sz="2400" dirty="0">
                <a:latin typeface="楷体" panose="02010609060101010101" pitchFamily="49" charset="-122"/>
                <a:ea typeface="楷体" panose="02010609060101010101" pitchFamily="49" charset="-122"/>
              </a:rPr>
              <a:t>LED</a:t>
            </a:r>
            <a:r>
              <a:rPr lang="zh-CN" altLang="en-US" sz="2400" dirty="0">
                <a:latin typeface="楷体" panose="02010609060101010101" pitchFamily="49" charset="-122"/>
                <a:ea typeface="楷体" panose="02010609060101010101" pitchFamily="49" charset="-122"/>
              </a:rPr>
              <a:t>的个数相同。</a:t>
            </a:r>
          </a:p>
        </p:txBody>
      </p:sp>
      <p:sp>
        <p:nvSpPr>
          <p:cNvPr id="5" name="Text Box 3"/>
          <p:cNvSpPr txBox="1">
            <a:spLocks noChangeArrowheads="1"/>
          </p:cNvSpPr>
          <p:nvPr/>
        </p:nvSpPr>
        <p:spPr bwMode="auto">
          <a:xfrm>
            <a:off x="4429125" y="6226939"/>
            <a:ext cx="44291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3.1a  </a:t>
            </a:r>
            <a:r>
              <a:rPr lang="zh-CN" altLang="en-US" sz="2000" dirty="0">
                <a:latin typeface="楷体" panose="02010609060101010101" pitchFamily="49" charset="-122"/>
                <a:ea typeface="楷体" panose="02010609060101010101" pitchFamily="49" charset="-122"/>
              </a:rPr>
              <a:t>微型计算机的简化结构</a:t>
            </a:r>
            <a:endParaRPr lang="en-US" altLang="zh-CN" sz="2000" dirty="0">
              <a:latin typeface="楷体" panose="02010609060101010101" pitchFamily="49" charset="-122"/>
              <a:ea typeface="楷体" panose="02010609060101010101" pitchFamily="49" charset="-122"/>
            </a:endParaRPr>
          </a:p>
        </p:txBody>
      </p:sp>
      <p:pic>
        <p:nvPicPr>
          <p:cNvPr id="6"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234649" y="1214438"/>
            <a:ext cx="4837914"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393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subTitle" idx="4294967295"/>
          </p:nvPr>
        </p:nvSpPr>
        <p:spPr bwMode="auto">
          <a:xfrm>
            <a:off x="292963" y="820907"/>
            <a:ext cx="8700117" cy="2643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20000"/>
              </a:lnSpc>
              <a:spcBef>
                <a:spcPts val="0"/>
              </a:spcBef>
              <a:buNone/>
            </a:pPr>
            <a:r>
              <a:rPr lang="zh-CN" altLang="en-US" sz="2000" dirty="0">
                <a:latin typeface="楷体" panose="02010609060101010101" pitchFamily="49" charset="-122"/>
                <a:ea typeface="楷体" panose="02010609060101010101" pitchFamily="49" charset="-122"/>
              </a:rPr>
              <a:t>微型计算机结构可分成</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大部分，如图</a:t>
            </a:r>
            <a:r>
              <a:rPr lang="en-US" altLang="zh-CN" sz="2000" dirty="0">
                <a:latin typeface="楷体" panose="02010609060101010101" pitchFamily="49" charset="-122"/>
                <a:ea typeface="楷体" panose="02010609060101010101" pitchFamily="49" charset="-122"/>
              </a:rPr>
              <a:t>3.1(b)</a:t>
            </a:r>
            <a:r>
              <a:rPr lang="zh-CN" altLang="en-US" sz="2000" dirty="0">
                <a:latin typeface="楷体" panose="02010609060101010101" pitchFamily="49" charset="-122"/>
                <a:ea typeface="楷体" panose="02010609060101010101" pitchFamily="49" charset="-122"/>
              </a:rPr>
              <a:t>所示：</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(1) </a:t>
            </a:r>
            <a:r>
              <a:rPr lang="zh-CN" altLang="en-US" sz="2000" dirty="0">
                <a:solidFill>
                  <a:srgbClr val="FF0000"/>
                </a:solidFill>
                <a:latin typeface="楷体" panose="02010609060101010101" pitchFamily="49" charset="-122"/>
                <a:ea typeface="楷体" panose="02010609060101010101" pitchFamily="49" charset="-122"/>
              </a:rPr>
              <a:t>中央处理器</a:t>
            </a:r>
            <a:r>
              <a:rPr lang="en-US" altLang="zh-CN" sz="2000" dirty="0">
                <a:solidFill>
                  <a:srgbClr val="FF0000"/>
                </a:solidFill>
                <a:latin typeface="楷体" panose="02010609060101010101" pitchFamily="49" charset="-122"/>
                <a:ea typeface="楷体" panose="02010609060101010101" pitchFamily="49" charset="-122"/>
              </a:rPr>
              <a:t>CPU</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包括程序计数器</a:t>
            </a:r>
            <a:r>
              <a:rPr lang="en-US" altLang="zh-CN" sz="2000" dirty="0">
                <a:latin typeface="楷体" panose="02010609060101010101" pitchFamily="49" charset="-122"/>
                <a:ea typeface="楷体" panose="02010609060101010101" pitchFamily="49" charset="-122"/>
              </a:rPr>
              <a:t>PC</a:t>
            </a:r>
            <a:r>
              <a:rPr lang="zh-CN" altLang="en-US" sz="2000" dirty="0">
                <a:latin typeface="楷体" panose="02010609060101010101" pitchFamily="49" charset="-122"/>
                <a:ea typeface="楷体" panose="02010609060101010101" pitchFamily="49" charset="-122"/>
              </a:rPr>
              <a:t>，指令寄存器</a:t>
            </a:r>
            <a:r>
              <a:rPr lang="en-US" altLang="zh-CN" sz="2000" dirty="0">
                <a:latin typeface="楷体" panose="02010609060101010101" pitchFamily="49" charset="-122"/>
                <a:ea typeface="楷体" panose="02010609060101010101" pitchFamily="49" charset="-122"/>
              </a:rPr>
              <a:t>IR</a:t>
            </a:r>
            <a:r>
              <a:rPr lang="zh-CN" altLang="en-US" sz="2000" dirty="0">
                <a:latin typeface="楷体" panose="02010609060101010101" pitchFamily="49" charset="-122"/>
                <a:ea typeface="楷体" panose="02010609060101010101" pitchFamily="49" charset="-122"/>
              </a:rPr>
              <a:t>，控制部件</a:t>
            </a:r>
            <a:r>
              <a:rPr lang="en-US" altLang="zh-CN" sz="2000" dirty="0">
                <a:latin typeface="楷体" panose="02010609060101010101" pitchFamily="49" charset="-122"/>
                <a:ea typeface="楷体" panose="02010609060101010101" pitchFamily="49" charset="-122"/>
              </a:rPr>
              <a:t>CON</a:t>
            </a:r>
            <a:r>
              <a:rPr lang="zh-CN" altLang="en-US" sz="2000" dirty="0">
                <a:latin typeface="楷体" panose="02010609060101010101" pitchFamily="49" charset="-122"/>
                <a:ea typeface="楷体" panose="02010609060101010101" pitchFamily="49" charset="-122"/>
              </a:rPr>
              <a:t>，算术逻辑部件</a:t>
            </a:r>
            <a:r>
              <a:rPr lang="en-US" altLang="zh-CN" sz="2000" dirty="0">
                <a:latin typeface="楷体" panose="02010609060101010101" pitchFamily="49" charset="-122"/>
                <a:ea typeface="楷体" panose="02010609060101010101" pitchFamily="49" charset="-122"/>
              </a:rPr>
              <a:t>ALU</a:t>
            </a:r>
            <a:r>
              <a:rPr lang="zh-CN" altLang="en-US" sz="2000" dirty="0">
                <a:latin typeface="楷体" panose="02010609060101010101" pitchFamily="49" charset="-122"/>
                <a:ea typeface="楷体" panose="02010609060101010101" pitchFamily="49" charset="-122"/>
              </a:rPr>
              <a:t>，累加器</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及寄存器</a:t>
            </a:r>
            <a:r>
              <a:rPr lang="en-US" altLang="zh-CN" sz="2000" dirty="0">
                <a:latin typeface="楷体" panose="02010609060101010101" pitchFamily="49" charset="-122"/>
                <a:ea typeface="楷体" panose="02010609060101010101" pitchFamily="49" charset="-122"/>
              </a:rPr>
              <a:t>B)</a:t>
            </a:r>
            <a:r>
              <a:rPr lang="zh-CN" altLang="en-US" sz="2000" dirty="0">
                <a:latin typeface="楷体" panose="02010609060101010101" pitchFamily="49" charset="-122"/>
                <a:ea typeface="楷体" panose="02010609060101010101" pitchFamily="49" charset="-122"/>
              </a:rPr>
              <a:t>；</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(2) </a:t>
            </a:r>
            <a:r>
              <a:rPr lang="zh-CN" altLang="en-US" sz="2000" dirty="0">
                <a:solidFill>
                  <a:srgbClr val="FF0000"/>
                </a:solidFill>
                <a:latin typeface="楷体" panose="02010609060101010101" pitchFamily="49" charset="-122"/>
                <a:ea typeface="楷体" panose="02010609060101010101" pitchFamily="49" charset="-122"/>
              </a:rPr>
              <a:t>记忆装置</a:t>
            </a:r>
            <a:r>
              <a:rPr lang="en-US" altLang="zh-CN" sz="2000" dirty="0">
                <a:solidFill>
                  <a:srgbClr val="FF0000"/>
                </a:solidFill>
                <a:latin typeface="楷体" panose="02010609060101010101" pitchFamily="49" charset="-122"/>
                <a:ea typeface="楷体" panose="02010609060101010101" pitchFamily="49" charset="-122"/>
              </a:rPr>
              <a:t>M</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存储地址寄存器</a:t>
            </a:r>
            <a:r>
              <a:rPr lang="en-US" altLang="zh-CN" sz="2000" dirty="0">
                <a:latin typeface="楷体" panose="02010609060101010101" pitchFamily="49" charset="-122"/>
                <a:ea typeface="楷体" panose="02010609060101010101" pitchFamily="49" charset="-122"/>
              </a:rPr>
              <a:t>MAR</a:t>
            </a:r>
            <a:r>
              <a:rPr lang="zh-CN" altLang="en-US" sz="2000" dirty="0">
                <a:latin typeface="楷体" panose="02010609060101010101" pitchFamily="49" charset="-122"/>
                <a:ea typeface="楷体" panose="02010609060101010101" pitchFamily="49" charset="-122"/>
              </a:rPr>
              <a:t>及可编程序只读存储器</a:t>
            </a:r>
            <a:r>
              <a:rPr lang="en-US" altLang="zh-CN" sz="2000" dirty="0">
                <a:latin typeface="楷体" panose="02010609060101010101" pitchFamily="49" charset="-122"/>
                <a:ea typeface="楷体" panose="02010609060101010101" pitchFamily="49" charset="-122"/>
              </a:rPr>
              <a:t>PROM)</a:t>
            </a:r>
            <a:r>
              <a:rPr lang="zh-CN" altLang="en-US" sz="2000" dirty="0">
                <a:latin typeface="楷体" panose="02010609060101010101" pitchFamily="49" charset="-122"/>
                <a:ea typeface="楷体" panose="02010609060101010101" pitchFamily="49" charset="-122"/>
              </a:rPr>
              <a:t>；</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(3) </a:t>
            </a:r>
            <a:r>
              <a:rPr lang="zh-CN" altLang="en-US" sz="2000" dirty="0">
                <a:solidFill>
                  <a:srgbClr val="FF0000"/>
                </a:solidFill>
                <a:latin typeface="楷体" panose="02010609060101010101" pitchFamily="49" charset="-122"/>
                <a:ea typeface="楷体" panose="02010609060101010101" pitchFamily="49" charset="-122"/>
              </a:rPr>
              <a:t>输入／输出接口</a:t>
            </a:r>
            <a:r>
              <a:rPr lang="en-US" altLang="zh-CN" sz="2000" dirty="0">
                <a:solidFill>
                  <a:srgbClr val="FF0000"/>
                </a:solidFill>
                <a:latin typeface="楷体" panose="02010609060101010101" pitchFamily="49" charset="-122"/>
                <a:ea typeface="楷体" panose="02010609060101010101" pitchFamily="49" charset="-122"/>
              </a:rPr>
              <a:t>I</a:t>
            </a:r>
            <a:r>
              <a:rPr lang="zh-CN" altLang="en-US" sz="2000" dirty="0">
                <a:solidFill>
                  <a:srgbClr val="FF0000"/>
                </a:solidFill>
                <a:latin typeface="楷体" panose="02010609060101010101" pitchFamily="49" charset="-122"/>
                <a:ea typeface="楷体" panose="02010609060101010101" pitchFamily="49" charset="-122"/>
              </a:rPr>
              <a:t>／</a:t>
            </a:r>
            <a:r>
              <a:rPr lang="en-US" altLang="zh-CN" sz="2000" dirty="0">
                <a:solidFill>
                  <a:srgbClr val="FF0000"/>
                </a:solidFill>
                <a:latin typeface="楷体" panose="02010609060101010101" pitchFamily="49" charset="-122"/>
                <a:ea typeface="楷体" panose="02010609060101010101" pitchFamily="49" charset="-122"/>
              </a:rPr>
              <a:t>O</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包括</a:t>
            </a:r>
            <a:r>
              <a:rPr lang="en-US" altLang="zh-CN" sz="2000" dirty="0">
                <a:latin typeface="楷体" panose="02010609060101010101" pitchFamily="49" charset="-122"/>
                <a:ea typeface="楷体" panose="02010609060101010101" pitchFamily="49" charset="-122"/>
              </a:rPr>
              <a:t>O</a:t>
            </a:r>
            <a:r>
              <a:rPr lang="zh-CN" altLang="en-US" sz="2000" dirty="0">
                <a:latin typeface="楷体" panose="02010609060101010101" pitchFamily="49" charset="-122"/>
                <a:ea typeface="楷体" panose="02010609060101010101" pitchFamily="49" charset="-122"/>
              </a:rPr>
              <a:t>及</a:t>
            </a:r>
            <a:r>
              <a:rPr lang="en-US" altLang="zh-CN" sz="2000" dirty="0">
                <a:latin typeface="楷体" panose="02010609060101010101" pitchFamily="49" charset="-122"/>
                <a:ea typeface="楷体" panose="02010609060101010101" pitchFamily="49" charset="-122"/>
              </a:rPr>
              <a:t>D</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D</a:t>
            </a:r>
            <a:r>
              <a:rPr lang="zh-CN" altLang="en-US" sz="2000" dirty="0">
                <a:latin typeface="楷体" panose="02010609060101010101" pitchFamily="49" charset="-122"/>
                <a:ea typeface="楷体" panose="02010609060101010101" pitchFamily="49" charset="-122"/>
              </a:rPr>
              <a:t>也称为其外围设备</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：输入</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输出接口是计算机实行人机对话的重要部件。</a:t>
            </a:r>
          </a:p>
        </p:txBody>
      </p:sp>
      <p:pic>
        <p:nvPicPr>
          <p:cNvPr id="25603" name="Picture 5"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673" y="3296727"/>
            <a:ext cx="5274830" cy="3561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9116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4294967295"/>
          </p:nvPr>
        </p:nvSpPr>
        <p:spPr bwMode="auto">
          <a:xfrm>
            <a:off x="618478" y="1279770"/>
            <a:ext cx="7772400" cy="511215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r>
              <a:rPr lang="zh-CN" altLang="en-US" sz="2400" dirty="0">
                <a:solidFill>
                  <a:srgbClr val="0070C0"/>
                </a:solidFill>
                <a:latin typeface="楷体" panose="02010609060101010101" pitchFamily="49" charset="-122"/>
                <a:ea typeface="楷体" panose="02010609060101010101" pitchFamily="49" charset="-122"/>
              </a:rPr>
              <a:t>用途：</a:t>
            </a:r>
            <a:r>
              <a:rPr lang="zh-CN" altLang="en-US" sz="2400" dirty="0">
                <a:latin typeface="楷体" panose="02010609060101010101" pitchFamily="49" charset="-122"/>
                <a:ea typeface="楷体" panose="02010609060101010101" pitchFamily="49" charset="-122"/>
              </a:rPr>
              <a:t>用来编制计算程序的一个指令集合。</a:t>
            </a: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这台微型机有</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条指令，即其控制部件能完成一系列例行程序以执行</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种命令：</a:t>
            </a:r>
          </a:p>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LDA——</a:t>
            </a:r>
            <a:r>
              <a:rPr lang="zh-CN" altLang="en-US" sz="2400" dirty="0">
                <a:latin typeface="楷体" panose="02010609060101010101" pitchFamily="49" charset="-122"/>
                <a:ea typeface="楷体" panose="02010609060101010101" pitchFamily="49" charset="-122"/>
              </a:rPr>
              <a:t>将数据装入累加器</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a:t>
            </a:r>
          </a:p>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ADD——</a:t>
            </a:r>
            <a:r>
              <a:rPr lang="zh-CN" altLang="en-US" sz="2400" dirty="0">
                <a:latin typeface="楷体" panose="02010609060101010101" pitchFamily="49" charset="-122"/>
                <a:ea typeface="楷体" panose="02010609060101010101" pitchFamily="49" charset="-122"/>
              </a:rPr>
              <a:t>进行加法运算；</a:t>
            </a:r>
          </a:p>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SUB——</a:t>
            </a:r>
            <a:r>
              <a:rPr lang="zh-CN" altLang="en-US" sz="2400" dirty="0">
                <a:latin typeface="楷体" panose="02010609060101010101" pitchFamily="49" charset="-122"/>
                <a:ea typeface="楷体" panose="02010609060101010101" pitchFamily="49" charset="-122"/>
              </a:rPr>
              <a:t>进行减法运算；</a:t>
            </a:r>
          </a:p>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OUT——</a:t>
            </a:r>
            <a:r>
              <a:rPr lang="zh-CN" altLang="en-US" sz="2400" dirty="0">
                <a:latin typeface="楷体" panose="02010609060101010101" pitchFamily="49" charset="-122"/>
                <a:ea typeface="楷体" panose="02010609060101010101" pitchFamily="49" charset="-122"/>
              </a:rPr>
              <a:t>输出结果；</a:t>
            </a:r>
          </a:p>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HLT——</a:t>
            </a:r>
            <a:r>
              <a:rPr lang="zh-CN" altLang="en-US" sz="2400" dirty="0">
                <a:latin typeface="楷体" panose="02010609060101010101" pitchFamily="49" charset="-122"/>
                <a:ea typeface="楷体" panose="02010609060101010101" pitchFamily="49" charset="-122"/>
              </a:rPr>
              <a:t>停机。</a:t>
            </a: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这</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条指令在一起就称为计算机的指令系统。</a:t>
            </a:r>
          </a:p>
        </p:txBody>
      </p:sp>
      <p:sp>
        <p:nvSpPr>
          <p:cNvPr id="4" name="Rectangle 2"/>
          <p:cNvSpPr txBox="1">
            <a:spLocks noChangeArrowheads="1"/>
          </p:cNvSpPr>
          <p:nvPr/>
        </p:nvSpPr>
        <p:spPr bwMode="auto">
          <a:xfrm>
            <a:off x="3437740" y="320185"/>
            <a:ext cx="2821017" cy="67944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30000"/>
              </a:lnSpc>
              <a:spcBef>
                <a:spcPts val="0"/>
              </a:spcBef>
            </a:pPr>
            <a:r>
              <a:rPr lang="en-US" altLang="zh-CN" sz="2800" dirty="0">
                <a:latin typeface="楷体" panose="02010609060101010101" pitchFamily="49" charset="-122"/>
                <a:ea typeface="楷体" panose="02010609060101010101" pitchFamily="49" charset="-122"/>
                <a:cs typeface="+mn-cs"/>
              </a:rPr>
              <a:t>3.2 </a:t>
            </a:r>
            <a:r>
              <a:rPr lang="zh-CN" altLang="en-US" sz="2800" dirty="0">
                <a:latin typeface="楷体" panose="02010609060101010101" pitchFamily="49" charset="-122"/>
                <a:ea typeface="楷体" panose="02010609060101010101" pitchFamily="49" charset="-122"/>
                <a:cs typeface="+mn-cs"/>
              </a:rPr>
              <a:t>指令系统</a:t>
            </a:r>
          </a:p>
        </p:txBody>
      </p:sp>
    </p:spTree>
    <p:extLst>
      <p:ext uri="{BB962C8B-B14F-4D97-AF65-F5344CB8AC3E}">
        <p14:creationId xmlns:p14="http://schemas.microsoft.com/office/powerpoint/2010/main" val="694900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subTitle" idx="4294967295"/>
          </p:nvPr>
        </p:nvSpPr>
        <p:spPr bwMode="auto">
          <a:xfrm>
            <a:off x="461638" y="1054732"/>
            <a:ext cx="8318377" cy="56769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20000"/>
              </a:lnSpc>
              <a:spcBef>
                <a:spcPts val="0"/>
              </a:spcBef>
              <a:buNone/>
            </a:pPr>
            <a:r>
              <a:rPr lang="zh-CN" altLang="en-US" sz="2000" dirty="0">
                <a:latin typeface="楷体" panose="02010609060101010101" pitchFamily="49" charset="-122"/>
                <a:ea typeface="楷体" panose="02010609060101010101" pitchFamily="49" charset="-122"/>
              </a:rPr>
              <a:t>    不同型号的微处理机的指令系统是不同的，指令的条数也不相同</a:t>
            </a:r>
            <a:r>
              <a:rPr lang="en-US" altLang="zh-CN" sz="2000" dirty="0">
                <a:latin typeface="楷体" panose="02010609060101010101" pitchFamily="49" charset="-122"/>
                <a:ea typeface="楷体" panose="02010609060101010101" pitchFamily="49" charset="-122"/>
              </a:rPr>
              <a:t>: Z80</a:t>
            </a:r>
            <a:r>
              <a:rPr lang="zh-CN" altLang="en-US" sz="2000" dirty="0">
                <a:latin typeface="楷体" panose="02010609060101010101" pitchFamily="49" charset="-122"/>
                <a:ea typeface="楷体" panose="02010609060101010101" pitchFamily="49" charset="-122"/>
              </a:rPr>
              <a:t>型的指令系统可达</a:t>
            </a:r>
            <a:r>
              <a:rPr lang="en-US" altLang="zh-CN" sz="2000" dirty="0">
                <a:latin typeface="楷体" panose="02010609060101010101" pitchFamily="49" charset="-122"/>
                <a:ea typeface="楷体" panose="02010609060101010101" pitchFamily="49" charset="-122"/>
              </a:rPr>
              <a:t>158</a:t>
            </a:r>
            <a:r>
              <a:rPr lang="zh-CN" altLang="en-US" sz="2000" dirty="0">
                <a:latin typeface="楷体" panose="02010609060101010101" pitchFamily="49" charset="-122"/>
                <a:ea typeface="楷体" panose="02010609060101010101" pitchFamily="49" charset="-122"/>
              </a:rPr>
              <a:t>条，</a:t>
            </a:r>
            <a:r>
              <a:rPr lang="en-US" altLang="zh-CN" sz="2000" dirty="0">
                <a:latin typeface="楷体" panose="02010609060101010101" pitchFamily="49" charset="-122"/>
                <a:ea typeface="楷体" panose="02010609060101010101" pitchFamily="49" charset="-122"/>
              </a:rPr>
              <a:t>M6800</a:t>
            </a:r>
            <a:r>
              <a:rPr lang="zh-CN" altLang="en-US" sz="2000" dirty="0">
                <a:latin typeface="楷体" panose="02010609060101010101" pitchFamily="49" charset="-122"/>
                <a:ea typeface="楷体" panose="02010609060101010101" pitchFamily="49" charset="-122"/>
              </a:rPr>
              <a:t>型有</a:t>
            </a:r>
            <a:r>
              <a:rPr lang="en-US" altLang="zh-CN" sz="2000" dirty="0">
                <a:latin typeface="楷体" panose="02010609060101010101" pitchFamily="49" charset="-122"/>
                <a:ea typeface="楷体" panose="02010609060101010101" pitchFamily="49" charset="-122"/>
              </a:rPr>
              <a:t>72</a:t>
            </a:r>
            <a:r>
              <a:rPr lang="zh-CN" altLang="en-US" sz="2000" dirty="0">
                <a:latin typeface="楷体" panose="02010609060101010101" pitchFamily="49" charset="-122"/>
                <a:ea typeface="楷体" panose="02010609060101010101" pitchFamily="49" charset="-122"/>
              </a:rPr>
              <a:t>条，</a:t>
            </a:r>
            <a:r>
              <a:rPr lang="en-US" altLang="zh-CN" sz="2000" dirty="0">
                <a:latin typeface="楷体" panose="02010609060101010101" pitchFamily="49" charset="-122"/>
                <a:ea typeface="楷体" panose="02010609060101010101" pitchFamily="49" charset="-122"/>
              </a:rPr>
              <a:t>6502</a:t>
            </a:r>
            <a:r>
              <a:rPr lang="zh-CN" altLang="en-US" sz="2000" dirty="0">
                <a:latin typeface="楷体" panose="02010609060101010101" pitchFamily="49" charset="-122"/>
                <a:ea typeface="楷体" panose="02010609060101010101" pitchFamily="49" charset="-122"/>
              </a:rPr>
              <a:t>型则有</a:t>
            </a:r>
            <a:r>
              <a:rPr lang="en-US" altLang="zh-CN" sz="2000" dirty="0">
                <a:latin typeface="楷体" panose="02010609060101010101" pitchFamily="49" charset="-122"/>
                <a:ea typeface="楷体" panose="02010609060101010101" pitchFamily="49" charset="-122"/>
              </a:rPr>
              <a:t>56</a:t>
            </a:r>
            <a:r>
              <a:rPr lang="zh-CN" altLang="en-US" sz="2000" dirty="0">
                <a:latin typeface="楷体" panose="02010609060101010101" pitchFamily="49" charset="-122"/>
                <a:ea typeface="楷体" panose="02010609060101010101" pitchFamily="49" charset="-122"/>
              </a:rPr>
              <a:t>条指令，而</a:t>
            </a:r>
            <a:r>
              <a:rPr lang="en-US" altLang="zh-CN" sz="2000" dirty="0">
                <a:latin typeface="楷体" panose="02010609060101010101" pitchFamily="49" charset="-122"/>
                <a:ea typeface="楷体" panose="02010609060101010101" pitchFamily="49" charset="-122"/>
              </a:rPr>
              <a:t>Intel 80386</a:t>
            </a:r>
            <a:r>
              <a:rPr lang="zh-CN" altLang="en-US" sz="2000" dirty="0">
                <a:latin typeface="楷体" panose="02010609060101010101" pitchFamily="49" charset="-122"/>
                <a:ea typeface="楷体" panose="02010609060101010101" pitchFamily="49" charset="-122"/>
              </a:rPr>
              <a:t>则为</a:t>
            </a:r>
            <a:r>
              <a:rPr lang="en-US" altLang="zh-CN" sz="2000" dirty="0">
                <a:latin typeface="楷体" panose="02010609060101010101" pitchFamily="49" charset="-122"/>
                <a:ea typeface="楷体" panose="02010609060101010101" pitchFamily="49" charset="-122"/>
              </a:rPr>
              <a:t>152</a:t>
            </a:r>
            <a:r>
              <a:rPr lang="zh-CN" altLang="en-US" sz="2000" dirty="0">
                <a:latin typeface="楷体" panose="02010609060101010101" pitchFamily="49" charset="-122"/>
                <a:ea typeface="楷体" panose="02010609060101010101" pitchFamily="49" charset="-122"/>
              </a:rPr>
              <a:t>条。</a:t>
            </a:r>
          </a:p>
          <a:p>
            <a:pPr marL="0" indent="0">
              <a:lnSpc>
                <a:spcPct val="120000"/>
              </a:lnSpc>
              <a:spcBef>
                <a:spcPts val="0"/>
              </a:spcBef>
              <a:buNone/>
            </a:pPr>
            <a:r>
              <a:rPr lang="zh-CN" altLang="en-US" sz="2000" dirty="0">
                <a:latin typeface="楷体" panose="02010609060101010101" pitchFamily="49" charset="-122"/>
                <a:ea typeface="楷体" panose="02010609060101010101" pitchFamily="49" charset="-122"/>
              </a:rPr>
              <a:t>计算程序的格式如下：</a:t>
            </a:r>
          </a:p>
          <a:p>
            <a:pPr marL="0" indent="0">
              <a:lnSpc>
                <a:spcPct val="120000"/>
              </a:lnSpc>
              <a:spcBef>
                <a:spcPts val="0"/>
              </a:spcBef>
              <a:buNone/>
            </a:pPr>
            <a:r>
              <a:rPr lang="zh-CN" altLang="en-US" sz="2000" dirty="0">
                <a:solidFill>
                  <a:srgbClr val="0070C0"/>
                </a:solidFill>
                <a:latin typeface="楷体" panose="02010609060101010101" pitchFamily="49" charset="-122"/>
                <a:ea typeface="楷体" panose="02010609060101010101" pitchFamily="49" charset="-122"/>
              </a:rPr>
              <a:t>     助记符　　操作数　　　   注释          </a:t>
            </a:r>
            <a:r>
              <a:rPr lang="zh-CN" altLang="en-US" sz="2000" dirty="0">
                <a:solidFill>
                  <a:srgbClr val="FF0000"/>
                </a:solidFill>
                <a:latin typeface="楷体" panose="02010609060101010101" pitchFamily="49" charset="-122"/>
                <a:ea typeface="楷体" panose="02010609060101010101" pitchFamily="49" charset="-122"/>
              </a:rPr>
              <a:t>每一行就是一条指令</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      LDA</a:t>
            </a: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09H</a:t>
            </a:r>
            <a:r>
              <a:rPr lang="zh-CN" altLang="en-US" sz="2000" dirty="0">
                <a:latin typeface="楷体" panose="02010609060101010101" pitchFamily="49" charset="-122"/>
                <a:ea typeface="楷体" panose="02010609060101010101" pitchFamily="49" charset="-122"/>
              </a:rPr>
              <a:t>　　 　；把</a:t>
            </a:r>
            <a:r>
              <a:rPr lang="en-US" altLang="zh-CN" sz="2000" dirty="0">
                <a:latin typeface="楷体" panose="02010609060101010101" pitchFamily="49" charset="-122"/>
                <a:ea typeface="楷体" panose="02010609060101010101" pitchFamily="49" charset="-122"/>
              </a:rPr>
              <a:t>R9</a:t>
            </a:r>
            <a:r>
              <a:rPr lang="zh-CN" altLang="en-US" sz="2000" dirty="0">
                <a:latin typeface="楷体" panose="02010609060101010101" pitchFamily="49" charset="-122"/>
                <a:ea typeface="楷体" panose="02010609060101010101" pitchFamily="49" charset="-122"/>
              </a:rPr>
              <a:t>中的数据存入</a:t>
            </a:r>
            <a:r>
              <a:rPr lang="en-US" altLang="zh-CN" sz="2000" dirty="0">
                <a:latin typeface="楷体" panose="02010609060101010101" pitchFamily="49" charset="-122"/>
                <a:ea typeface="楷体" panose="02010609060101010101" pitchFamily="49" charset="-122"/>
              </a:rPr>
              <a:t>A</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      ADD</a:t>
            </a: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0AH</a:t>
            </a:r>
            <a:r>
              <a:rPr lang="zh-CN" altLang="en-US" sz="2000" dirty="0">
                <a:latin typeface="楷体" panose="02010609060101010101" pitchFamily="49" charset="-122"/>
                <a:ea typeface="楷体" panose="02010609060101010101" pitchFamily="49" charset="-122"/>
              </a:rPr>
              <a:t>　　   ；把</a:t>
            </a:r>
            <a:r>
              <a:rPr lang="en-US" altLang="zh-CN" sz="2000" dirty="0">
                <a:latin typeface="楷体" panose="02010609060101010101" pitchFamily="49" charset="-122"/>
                <a:ea typeface="楷体" panose="02010609060101010101" pitchFamily="49" charset="-122"/>
              </a:rPr>
              <a:t>RA</a:t>
            </a:r>
            <a:r>
              <a:rPr lang="zh-CN" altLang="en-US" sz="2000" dirty="0">
                <a:latin typeface="楷体" panose="02010609060101010101" pitchFamily="49" charset="-122"/>
                <a:ea typeface="楷体" panose="02010609060101010101" pitchFamily="49" charset="-122"/>
              </a:rPr>
              <a:t>中的数据与</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的相加</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      ADD</a:t>
            </a: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0BH</a:t>
            </a:r>
            <a:r>
              <a:rPr lang="zh-CN" altLang="en-US" sz="2000" dirty="0">
                <a:latin typeface="楷体" panose="02010609060101010101" pitchFamily="49" charset="-122"/>
                <a:ea typeface="楷体" panose="02010609060101010101" pitchFamily="49" charset="-122"/>
              </a:rPr>
              <a:t>　 　  ；把</a:t>
            </a:r>
            <a:r>
              <a:rPr lang="en-US" altLang="zh-CN" sz="2000" dirty="0">
                <a:latin typeface="楷体" panose="02010609060101010101" pitchFamily="49" charset="-122"/>
                <a:ea typeface="楷体" panose="02010609060101010101" pitchFamily="49" charset="-122"/>
              </a:rPr>
              <a:t>RB</a:t>
            </a:r>
            <a:r>
              <a:rPr lang="zh-CN" altLang="en-US" sz="2000" dirty="0">
                <a:latin typeface="楷体" panose="02010609060101010101" pitchFamily="49" charset="-122"/>
                <a:ea typeface="楷体" panose="02010609060101010101" pitchFamily="49" charset="-122"/>
              </a:rPr>
              <a:t>中的数据与</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的相加</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      ADD</a:t>
            </a: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0CH</a:t>
            </a:r>
            <a:r>
              <a:rPr lang="zh-CN" altLang="en-US" sz="2000" dirty="0">
                <a:latin typeface="楷体" panose="02010609060101010101" pitchFamily="49" charset="-122"/>
                <a:ea typeface="楷体" panose="02010609060101010101" pitchFamily="49" charset="-122"/>
              </a:rPr>
              <a:t>　 　  ；把</a:t>
            </a:r>
            <a:r>
              <a:rPr lang="en-US" altLang="zh-CN" sz="2000" dirty="0">
                <a:latin typeface="楷体" panose="02010609060101010101" pitchFamily="49" charset="-122"/>
                <a:ea typeface="楷体" panose="02010609060101010101" pitchFamily="49" charset="-122"/>
              </a:rPr>
              <a:t>RC</a:t>
            </a:r>
            <a:r>
              <a:rPr lang="zh-CN" altLang="en-US" sz="2000" dirty="0">
                <a:latin typeface="楷体" panose="02010609060101010101" pitchFamily="49" charset="-122"/>
                <a:ea typeface="楷体" panose="02010609060101010101" pitchFamily="49" charset="-122"/>
              </a:rPr>
              <a:t>中的数据与</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的相加</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      SUB</a:t>
            </a: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0DH</a:t>
            </a:r>
            <a:r>
              <a:rPr lang="zh-CN" altLang="en-US" sz="2000" dirty="0">
                <a:latin typeface="楷体" panose="02010609060101010101" pitchFamily="49" charset="-122"/>
                <a:ea typeface="楷体" panose="02010609060101010101" pitchFamily="49" charset="-122"/>
              </a:rPr>
              <a:t>　 　  ；把</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中的数据与</a:t>
            </a:r>
            <a:r>
              <a:rPr lang="en-US" altLang="zh-CN" sz="2000" dirty="0">
                <a:latin typeface="楷体" panose="02010609060101010101" pitchFamily="49" charset="-122"/>
                <a:ea typeface="楷体" panose="02010609060101010101" pitchFamily="49" charset="-122"/>
              </a:rPr>
              <a:t>RD</a:t>
            </a:r>
            <a:r>
              <a:rPr lang="zh-CN" altLang="en-US" sz="2000" dirty="0">
                <a:latin typeface="楷体" panose="02010609060101010101" pitchFamily="49" charset="-122"/>
                <a:ea typeface="楷体" panose="02010609060101010101" pitchFamily="49" charset="-122"/>
              </a:rPr>
              <a:t>的相减</a:t>
            </a:r>
            <a:endParaRPr lang="en-US" altLang="zh-CN" sz="2000" dirty="0">
              <a:latin typeface="楷体" panose="02010609060101010101" pitchFamily="49" charset="-122"/>
              <a:ea typeface="楷体" panose="02010609060101010101" pitchFamily="49" charset="-122"/>
            </a:endParaRP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      OUT</a:t>
            </a:r>
            <a:r>
              <a:rPr lang="zh-CN" altLang="en-US" sz="2000" dirty="0">
                <a:latin typeface="楷体" panose="02010609060101010101" pitchFamily="49" charset="-122"/>
                <a:ea typeface="楷体" panose="02010609060101010101" pitchFamily="49" charset="-122"/>
              </a:rPr>
              <a:t>　　             ；输出</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中的数据，即结果</a:t>
            </a:r>
          </a:p>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      HLT</a:t>
            </a:r>
            <a:r>
              <a:rPr lang="zh-CN" altLang="en-US" sz="2000" dirty="0">
                <a:latin typeface="楷体" panose="02010609060101010101" pitchFamily="49" charset="-122"/>
                <a:ea typeface="楷体" panose="02010609060101010101" pitchFamily="49" charset="-122"/>
              </a:rPr>
              <a:t>　　             ；停机</a:t>
            </a:r>
            <a:endParaRPr lang="en-US" altLang="zh-CN" sz="2000" dirty="0">
              <a:latin typeface="楷体" panose="02010609060101010101" pitchFamily="49" charset="-122"/>
              <a:ea typeface="楷体" panose="02010609060101010101" pitchFamily="49" charset="-122"/>
            </a:endParaRPr>
          </a:p>
          <a:p>
            <a:pPr marL="0" indent="0">
              <a:lnSpc>
                <a:spcPct val="120000"/>
              </a:lnSpc>
              <a:spcBef>
                <a:spcPts val="0"/>
              </a:spcBef>
              <a:buNone/>
            </a:pPr>
            <a:r>
              <a:rPr lang="zh-CN" altLang="en-US" sz="2000" dirty="0">
                <a:latin typeface="楷体" panose="02010609060101010101" pitchFamily="49" charset="-122"/>
                <a:ea typeface="楷体" panose="02010609060101010101" pitchFamily="49" charset="-122"/>
              </a:rPr>
              <a:t>这样的格式称为用汇编语言写的汇编语言程序</a:t>
            </a:r>
          </a:p>
          <a:p>
            <a:pPr marL="0" indent="0">
              <a:lnSpc>
                <a:spcPct val="120000"/>
              </a:lnSpc>
              <a:spcBef>
                <a:spcPts val="0"/>
              </a:spcBef>
              <a:buNone/>
            </a:pPr>
            <a:endParaRPr lang="zh-CN" altLang="en-US" sz="20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50116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subTitle" idx="4294967295"/>
          </p:nvPr>
        </p:nvSpPr>
        <p:spPr bwMode="auto">
          <a:xfrm>
            <a:off x="2286000" y="990600"/>
            <a:ext cx="6786563" cy="52959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Tx/>
              <a:buNone/>
            </a:pPr>
            <a:r>
              <a:rPr lang="zh-CN" altLang="en-US" sz="2200" dirty="0">
                <a:latin typeface="楷体" panose="02010609060101010101" pitchFamily="49" charset="-122"/>
                <a:ea typeface="楷体" panose="02010609060101010101" pitchFamily="49" charset="-122"/>
              </a:rPr>
              <a:t>执行第</a:t>
            </a:r>
            <a:r>
              <a:rPr lang="en-US"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条指令的结果：</a:t>
            </a:r>
            <a:r>
              <a:rPr lang="en-US" altLang="zh-CN" sz="2200" dirty="0">
                <a:latin typeface="楷体" panose="02010609060101010101" pitchFamily="49" charset="-122"/>
                <a:ea typeface="楷体" panose="02010609060101010101" pitchFamily="49" charset="-122"/>
              </a:rPr>
              <a:t>(A)=(R</a:t>
            </a:r>
            <a:r>
              <a:rPr lang="en-US" altLang="zh-CN" sz="2200" baseline="-25000" dirty="0">
                <a:latin typeface="楷体" panose="02010609060101010101" pitchFamily="49" charset="-122"/>
                <a:ea typeface="楷体" panose="02010609060101010101" pitchFamily="49" charset="-122"/>
              </a:rPr>
              <a:t>9</a:t>
            </a:r>
            <a:r>
              <a:rPr lang="en-US" altLang="zh-CN" sz="2200" dirty="0">
                <a:latin typeface="楷体" panose="02010609060101010101" pitchFamily="49" charset="-122"/>
                <a:ea typeface="楷体" panose="02010609060101010101" pitchFamily="49" charset="-122"/>
              </a:rPr>
              <a:t>)</a:t>
            </a:r>
          </a:p>
          <a:p>
            <a:pPr marL="0" indent="0" eaLnBrk="1" hangingPunct="1">
              <a:buFontTx/>
              <a:buNone/>
            </a:pPr>
            <a:r>
              <a:rPr lang="zh-CN" altLang="en-US" sz="2200" dirty="0">
                <a:latin typeface="楷体" panose="02010609060101010101" pitchFamily="49" charset="-122"/>
                <a:ea typeface="楷体" panose="02010609060101010101" pitchFamily="49" charset="-122"/>
              </a:rPr>
              <a:t>执行第</a:t>
            </a:r>
            <a:r>
              <a:rPr lang="en-US" altLang="zh-CN" sz="2200" dirty="0">
                <a:latin typeface="楷体" panose="02010609060101010101" pitchFamily="49" charset="-122"/>
                <a:ea typeface="楷体" panose="02010609060101010101" pitchFamily="49" charset="-122"/>
              </a:rPr>
              <a:t>2</a:t>
            </a:r>
            <a:r>
              <a:rPr lang="zh-CN" altLang="en-US" sz="2200" dirty="0">
                <a:latin typeface="楷体" panose="02010609060101010101" pitchFamily="49" charset="-122"/>
                <a:ea typeface="楷体" panose="02010609060101010101" pitchFamily="49" charset="-122"/>
              </a:rPr>
              <a:t>条指令的结果：</a:t>
            </a:r>
            <a:r>
              <a:rPr lang="en-US" altLang="zh-CN" sz="2200" dirty="0">
                <a:latin typeface="楷体" panose="02010609060101010101" pitchFamily="49" charset="-122"/>
                <a:ea typeface="楷体" panose="02010609060101010101" pitchFamily="49" charset="-122"/>
              </a:rPr>
              <a:t>(A)=(R</a:t>
            </a:r>
            <a:r>
              <a:rPr lang="en-US" altLang="zh-CN" sz="2200" baseline="-25000" dirty="0">
                <a:latin typeface="楷体" panose="02010609060101010101" pitchFamily="49" charset="-122"/>
                <a:ea typeface="楷体" panose="02010609060101010101" pitchFamily="49" charset="-122"/>
              </a:rPr>
              <a:t>9</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A</a:t>
            </a:r>
            <a:r>
              <a:rPr lang="en-US" altLang="zh-CN" sz="2200" dirty="0">
                <a:latin typeface="楷体" panose="02010609060101010101" pitchFamily="49" charset="-122"/>
                <a:ea typeface="楷体" panose="02010609060101010101" pitchFamily="49" charset="-122"/>
              </a:rPr>
              <a:t>)</a:t>
            </a:r>
          </a:p>
          <a:p>
            <a:pPr marL="0" indent="0" eaLnBrk="1" hangingPunct="1">
              <a:buFontTx/>
              <a:buNone/>
            </a:pPr>
            <a:r>
              <a:rPr lang="zh-CN" altLang="en-US" sz="2200" dirty="0">
                <a:latin typeface="楷体" panose="02010609060101010101" pitchFamily="49" charset="-122"/>
                <a:ea typeface="楷体" panose="02010609060101010101" pitchFamily="49" charset="-122"/>
              </a:rPr>
              <a:t>执行第</a:t>
            </a:r>
            <a:r>
              <a:rPr lang="en-US" altLang="zh-CN" sz="2200" dirty="0">
                <a:latin typeface="楷体" panose="02010609060101010101" pitchFamily="49" charset="-122"/>
                <a:ea typeface="楷体" panose="02010609060101010101" pitchFamily="49" charset="-122"/>
              </a:rPr>
              <a:t>3</a:t>
            </a:r>
            <a:r>
              <a:rPr lang="zh-CN" altLang="en-US" sz="2200" dirty="0">
                <a:latin typeface="楷体" panose="02010609060101010101" pitchFamily="49" charset="-122"/>
                <a:ea typeface="楷体" panose="02010609060101010101" pitchFamily="49" charset="-122"/>
              </a:rPr>
              <a:t>条指令的结果：</a:t>
            </a:r>
            <a:r>
              <a:rPr lang="en-US" altLang="zh-CN" sz="2200" dirty="0">
                <a:latin typeface="楷体" panose="02010609060101010101" pitchFamily="49" charset="-122"/>
                <a:ea typeface="楷体" panose="02010609060101010101" pitchFamily="49" charset="-122"/>
              </a:rPr>
              <a:t>(A)=(R</a:t>
            </a:r>
            <a:r>
              <a:rPr lang="en-US" altLang="zh-CN" sz="2200" baseline="-25000" dirty="0">
                <a:latin typeface="楷体" panose="02010609060101010101" pitchFamily="49" charset="-122"/>
                <a:ea typeface="楷体" panose="02010609060101010101" pitchFamily="49" charset="-122"/>
              </a:rPr>
              <a:t>9</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A</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B</a:t>
            </a:r>
            <a:r>
              <a:rPr lang="en-US" altLang="zh-CN" sz="2200" dirty="0">
                <a:latin typeface="楷体" panose="02010609060101010101" pitchFamily="49" charset="-122"/>
                <a:ea typeface="楷体" panose="02010609060101010101" pitchFamily="49" charset="-122"/>
              </a:rPr>
              <a:t>)</a:t>
            </a:r>
          </a:p>
          <a:p>
            <a:pPr marL="0" indent="0" eaLnBrk="1" hangingPunct="1">
              <a:buFontTx/>
              <a:buNone/>
            </a:pPr>
            <a:r>
              <a:rPr lang="zh-CN" altLang="en-US" sz="2200" dirty="0">
                <a:latin typeface="楷体" panose="02010609060101010101" pitchFamily="49" charset="-122"/>
                <a:ea typeface="楷体" panose="02010609060101010101" pitchFamily="49" charset="-122"/>
              </a:rPr>
              <a:t>执行第</a:t>
            </a:r>
            <a:r>
              <a:rPr lang="en-US" altLang="zh-CN" sz="2200" dirty="0">
                <a:latin typeface="楷体" panose="02010609060101010101" pitchFamily="49" charset="-122"/>
                <a:ea typeface="楷体" panose="02010609060101010101" pitchFamily="49" charset="-122"/>
              </a:rPr>
              <a:t>4</a:t>
            </a:r>
            <a:r>
              <a:rPr lang="zh-CN" altLang="en-US" sz="2200" dirty="0">
                <a:latin typeface="楷体" panose="02010609060101010101" pitchFamily="49" charset="-122"/>
                <a:ea typeface="楷体" panose="02010609060101010101" pitchFamily="49" charset="-122"/>
              </a:rPr>
              <a:t>条指令的结果：</a:t>
            </a:r>
            <a:r>
              <a:rPr lang="en-US" altLang="zh-CN" sz="2200" dirty="0">
                <a:latin typeface="楷体" panose="02010609060101010101" pitchFamily="49" charset="-122"/>
                <a:ea typeface="楷体" panose="02010609060101010101" pitchFamily="49" charset="-122"/>
              </a:rPr>
              <a:t>(A)=(R</a:t>
            </a:r>
            <a:r>
              <a:rPr lang="en-US" altLang="zh-CN" sz="2200" baseline="-25000" dirty="0">
                <a:latin typeface="楷体" panose="02010609060101010101" pitchFamily="49" charset="-122"/>
                <a:ea typeface="楷体" panose="02010609060101010101" pitchFamily="49" charset="-122"/>
              </a:rPr>
              <a:t>9</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A</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B</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C</a:t>
            </a:r>
            <a:r>
              <a:rPr lang="en-US" altLang="zh-CN" sz="2200" dirty="0">
                <a:latin typeface="楷体" panose="02010609060101010101" pitchFamily="49" charset="-122"/>
                <a:ea typeface="楷体" panose="02010609060101010101" pitchFamily="49" charset="-122"/>
              </a:rPr>
              <a:t>)</a:t>
            </a:r>
          </a:p>
          <a:p>
            <a:pPr marL="0" indent="0" eaLnBrk="1" hangingPunct="1">
              <a:buFontTx/>
              <a:buNone/>
            </a:pPr>
            <a:r>
              <a:rPr lang="zh-CN" altLang="en-US" sz="2200" dirty="0">
                <a:latin typeface="楷体" panose="02010609060101010101" pitchFamily="49" charset="-122"/>
                <a:ea typeface="楷体" panose="02010609060101010101" pitchFamily="49" charset="-122"/>
              </a:rPr>
              <a:t>执行第</a:t>
            </a:r>
            <a:r>
              <a:rPr lang="en-US" altLang="zh-CN" sz="2200" dirty="0">
                <a:latin typeface="楷体" panose="02010609060101010101" pitchFamily="49" charset="-122"/>
                <a:ea typeface="楷体" panose="02010609060101010101" pitchFamily="49" charset="-122"/>
              </a:rPr>
              <a:t>5</a:t>
            </a:r>
            <a:r>
              <a:rPr lang="zh-CN" altLang="en-US" sz="2200" dirty="0">
                <a:latin typeface="楷体" panose="02010609060101010101" pitchFamily="49" charset="-122"/>
                <a:ea typeface="楷体" panose="02010609060101010101" pitchFamily="49" charset="-122"/>
              </a:rPr>
              <a:t>条指令的结果：</a:t>
            </a:r>
            <a:r>
              <a:rPr lang="en-US" altLang="zh-CN" sz="2200" dirty="0">
                <a:latin typeface="楷体" panose="02010609060101010101" pitchFamily="49" charset="-122"/>
                <a:ea typeface="楷体" panose="02010609060101010101" pitchFamily="49" charset="-122"/>
              </a:rPr>
              <a:t>(A)=(R</a:t>
            </a:r>
            <a:r>
              <a:rPr lang="en-US" altLang="zh-CN" sz="2200" baseline="-25000" dirty="0">
                <a:latin typeface="楷体" panose="02010609060101010101" pitchFamily="49" charset="-122"/>
                <a:ea typeface="楷体" panose="02010609060101010101" pitchFamily="49" charset="-122"/>
              </a:rPr>
              <a:t>9</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A</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B</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C</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D</a:t>
            </a:r>
            <a:r>
              <a:rPr lang="en-US" altLang="zh-CN" sz="2200" dirty="0">
                <a:latin typeface="楷体" panose="02010609060101010101" pitchFamily="49" charset="-122"/>
                <a:ea typeface="楷体" panose="02010609060101010101" pitchFamily="49" charset="-122"/>
              </a:rPr>
              <a:t>)</a:t>
            </a:r>
          </a:p>
          <a:p>
            <a:pPr marL="0" indent="0" eaLnBrk="1" hangingPunct="1">
              <a:buFontTx/>
              <a:buNone/>
            </a:pPr>
            <a:r>
              <a:rPr lang="zh-CN" altLang="en-US" sz="2200" dirty="0">
                <a:latin typeface="楷体" panose="02010609060101010101" pitchFamily="49" charset="-122"/>
                <a:ea typeface="楷体" panose="02010609060101010101" pitchFamily="49" charset="-122"/>
              </a:rPr>
              <a:t>执行第</a:t>
            </a:r>
            <a:r>
              <a:rPr lang="en-US" altLang="zh-CN" sz="2200" dirty="0">
                <a:latin typeface="楷体" panose="02010609060101010101" pitchFamily="49" charset="-122"/>
                <a:ea typeface="楷体" panose="02010609060101010101" pitchFamily="49" charset="-122"/>
              </a:rPr>
              <a:t>6</a:t>
            </a:r>
            <a:r>
              <a:rPr lang="zh-CN" altLang="en-US" sz="2200" dirty="0">
                <a:latin typeface="楷体" panose="02010609060101010101" pitchFamily="49" charset="-122"/>
                <a:ea typeface="楷体" panose="02010609060101010101" pitchFamily="49" charset="-122"/>
              </a:rPr>
              <a:t>条指令的结果：</a:t>
            </a:r>
            <a:r>
              <a:rPr lang="en-US" altLang="zh-CN" sz="2200" dirty="0">
                <a:latin typeface="楷体" panose="02010609060101010101" pitchFamily="49" charset="-122"/>
                <a:ea typeface="楷体" panose="02010609060101010101" pitchFamily="49" charset="-122"/>
              </a:rPr>
              <a:t>(D)=(A)</a:t>
            </a:r>
          </a:p>
          <a:p>
            <a:pPr marL="0" indent="0" eaLnBrk="1" hangingPunct="1">
              <a:buFontTx/>
              <a:buNone/>
            </a:pPr>
            <a:r>
              <a:rPr lang="zh-CN" altLang="en-US" sz="2200" dirty="0">
                <a:latin typeface="楷体" panose="02010609060101010101" pitchFamily="49" charset="-122"/>
                <a:ea typeface="楷体" panose="02010609060101010101" pitchFamily="49" charset="-122"/>
              </a:rPr>
              <a:t>执行第</a:t>
            </a:r>
            <a:r>
              <a:rPr lang="en-US" altLang="zh-CN" sz="2200" dirty="0">
                <a:latin typeface="楷体" panose="02010609060101010101" pitchFamily="49" charset="-122"/>
                <a:ea typeface="楷体" panose="02010609060101010101" pitchFamily="49" charset="-122"/>
              </a:rPr>
              <a:t>7</a:t>
            </a:r>
            <a:r>
              <a:rPr lang="zh-CN" altLang="en-US" sz="2200" dirty="0">
                <a:latin typeface="楷体" panose="02010609060101010101" pitchFamily="49" charset="-122"/>
                <a:ea typeface="楷体" panose="02010609060101010101" pitchFamily="49" charset="-122"/>
              </a:rPr>
              <a:t>条指令的结果：</a:t>
            </a:r>
            <a:r>
              <a:rPr lang="en-US" altLang="zh-CN" sz="2200" dirty="0">
                <a:latin typeface="楷体" panose="02010609060101010101" pitchFamily="49" charset="-122"/>
                <a:ea typeface="楷体" panose="02010609060101010101" pitchFamily="49" charset="-122"/>
              </a:rPr>
              <a:t>CLK</a:t>
            </a:r>
            <a:r>
              <a:rPr lang="zh-CN" altLang="en-US" sz="2200" dirty="0">
                <a:latin typeface="楷体" panose="02010609060101010101" pitchFamily="49" charset="-122"/>
                <a:ea typeface="楷体" panose="02010609060101010101" pitchFamily="49" charset="-122"/>
              </a:rPr>
              <a:t>停止发脉冲</a:t>
            </a:r>
            <a:endParaRPr lang="en-US" altLang="zh-CN" sz="2200" dirty="0">
              <a:latin typeface="楷体" panose="02010609060101010101" pitchFamily="49" charset="-122"/>
              <a:ea typeface="楷体" panose="02010609060101010101" pitchFamily="49" charset="-122"/>
            </a:endParaRPr>
          </a:p>
          <a:p>
            <a:pPr marL="0" indent="0" eaLnBrk="1" hangingPunct="1">
              <a:buFontTx/>
              <a:buNone/>
            </a:pPr>
            <a:r>
              <a:rPr lang="zh-CN" altLang="en-US" sz="2200" dirty="0">
                <a:solidFill>
                  <a:srgbClr val="00B0F0"/>
                </a:solidFill>
                <a:latin typeface="楷体" panose="02010609060101010101" pitchFamily="49" charset="-122"/>
                <a:ea typeface="楷体" panose="02010609060101010101" pitchFamily="49" charset="-122"/>
              </a:rPr>
              <a:t>    上面加括号的意义</a:t>
            </a:r>
            <a:r>
              <a:rPr lang="zh-CN" altLang="en-US" sz="2200" dirty="0">
                <a:latin typeface="楷体" panose="02010609060101010101" pitchFamily="49" charset="-122"/>
                <a:ea typeface="楷体" panose="02010609060101010101" pitchFamily="49" charset="-122"/>
              </a:rPr>
              <a:t>：是指被括上的存储单元的内容。如</a:t>
            </a:r>
            <a:r>
              <a:rPr lang="en-US" altLang="zh-CN" sz="2200" dirty="0">
                <a:latin typeface="楷体" panose="02010609060101010101" pitchFamily="49" charset="-122"/>
                <a:ea typeface="楷体" panose="02010609060101010101" pitchFamily="49" charset="-122"/>
              </a:rPr>
              <a:t>(A)</a:t>
            </a:r>
            <a:r>
              <a:rPr lang="zh-CN" altLang="en-US" sz="2200" dirty="0">
                <a:latin typeface="楷体" panose="02010609060101010101" pitchFamily="49" charset="-122"/>
                <a:ea typeface="楷体" panose="02010609060101010101" pitchFamily="49" charset="-122"/>
              </a:rPr>
              <a:t>是指累加器</a:t>
            </a:r>
            <a:r>
              <a:rPr lang="en-US" altLang="zh-CN" sz="2200" dirty="0">
                <a:latin typeface="楷体" panose="02010609060101010101" pitchFamily="49" charset="-122"/>
                <a:ea typeface="楷体" panose="02010609060101010101" pitchFamily="49" charset="-122"/>
              </a:rPr>
              <a:t>A</a:t>
            </a:r>
            <a:r>
              <a:rPr lang="zh-CN" altLang="en-US" sz="2200" dirty="0">
                <a:latin typeface="楷体" panose="02010609060101010101" pitchFamily="49" charset="-122"/>
                <a:ea typeface="楷体" panose="02010609060101010101" pitchFamily="49" charset="-122"/>
              </a:rPr>
              <a:t>中的内容，</a:t>
            </a:r>
            <a:r>
              <a:rPr lang="en-US" altLang="zh-CN" sz="2200" dirty="0">
                <a:latin typeface="楷体" panose="02010609060101010101" pitchFamily="49" charset="-122"/>
                <a:ea typeface="楷体" panose="02010609060101010101" pitchFamily="49" charset="-122"/>
              </a:rPr>
              <a:t>(D)</a:t>
            </a:r>
            <a:r>
              <a:rPr lang="zh-CN" altLang="en-US" sz="2200" dirty="0">
                <a:latin typeface="楷体" panose="02010609060101010101" pitchFamily="49" charset="-122"/>
                <a:ea typeface="楷体" panose="02010609060101010101" pitchFamily="49" charset="-122"/>
              </a:rPr>
              <a:t>是指显示器显示出的数据，</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9</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是存储单元</a:t>
            </a:r>
            <a:r>
              <a:rPr lang="en-US" altLang="zh-CN" sz="2200" dirty="0">
                <a:latin typeface="楷体" panose="02010609060101010101" pitchFamily="49" charset="-122"/>
                <a:ea typeface="楷体" panose="02010609060101010101" pitchFamily="49" charset="-122"/>
              </a:rPr>
              <a:t>R</a:t>
            </a:r>
            <a:r>
              <a:rPr lang="en-US" altLang="zh-CN" sz="2200" baseline="-25000" dirty="0">
                <a:latin typeface="楷体" panose="02010609060101010101" pitchFamily="49" charset="-122"/>
                <a:ea typeface="楷体" panose="02010609060101010101" pitchFamily="49" charset="-122"/>
              </a:rPr>
              <a:t>9</a:t>
            </a:r>
            <a:r>
              <a:rPr lang="zh-CN" altLang="en-US" sz="2200" dirty="0">
                <a:latin typeface="楷体" panose="02010609060101010101" pitchFamily="49" charset="-122"/>
                <a:ea typeface="楷体" panose="02010609060101010101" pitchFamily="49" charset="-122"/>
              </a:rPr>
              <a:t>中的数据。</a:t>
            </a:r>
          </a:p>
          <a:p>
            <a:pPr marL="0" indent="0" eaLnBrk="1" hangingPunct="1">
              <a:buFontTx/>
              <a:buNone/>
            </a:pPr>
            <a:r>
              <a:rPr lang="zh-CN" altLang="en-US" sz="2200" dirty="0">
                <a:latin typeface="楷体" panose="02010609060101010101" pitchFamily="49" charset="-122"/>
                <a:ea typeface="楷体" panose="02010609060101010101" pitchFamily="49" charset="-122"/>
              </a:rPr>
              <a:t>    最后一条指令，</a:t>
            </a:r>
            <a:r>
              <a:rPr lang="zh-CN" altLang="en-US" sz="2200" dirty="0">
                <a:solidFill>
                  <a:srgbClr val="0070C0"/>
                </a:solidFill>
                <a:latin typeface="楷体" panose="02010609060101010101" pitchFamily="49" charset="-122"/>
                <a:ea typeface="楷体" panose="02010609060101010101" pitchFamily="49" charset="-122"/>
              </a:rPr>
              <a:t>使时钟脉冲停发，计算机停止运行，但电源未切断</a:t>
            </a:r>
            <a:r>
              <a:rPr lang="zh-CN" altLang="en-US" sz="2200" dirty="0">
                <a:latin typeface="楷体" panose="02010609060101010101" pitchFamily="49" charset="-122"/>
                <a:ea typeface="楷体" panose="02010609060101010101" pitchFamily="49" charset="-122"/>
              </a:rPr>
              <a:t>，所以显示器中仍继续显示计算的结果。</a:t>
            </a:r>
          </a:p>
          <a:p>
            <a:pPr marL="0" indent="0" eaLnBrk="1" hangingPunct="1">
              <a:buFontTx/>
              <a:buNone/>
            </a:pPr>
            <a:endParaRPr lang="zh-CN" altLang="en-US" sz="2200" dirty="0">
              <a:latin typeface="楷体" panose="02010609060101010101" pitchFamily="49" charset="-122"/>
              <a:ea typeface="楷体" panose="02010609060101010101" pitchFamily="49" charset="-122"/>
            </a:endParaRPr>
          </a:p>
        </p:txBody>
      </p:sp>
      <p:sp>
        <p:nvSpPr>
          <p:cNvPr id="3" name="Rectangle 2">
            <a:extLst>
              <a:ext uri="{FF2B5EF4-FFF2-40B4-BE49-F238E27FC236}">
                <a16:creationId xmlns:a16="http://schemas.microsoft.com/office/drawing/2014/main" id="{7E931853-199F-4849-AF5E-F029E32DAF97}"/>
              </a:ext>
            </a:extLst>
          </p:cNvPr>
          <p:cNvSpPr txBox="1">
            <a:spLocks noChangeArrowheads="1"/>
          </p:cNvSpPr>
          <p:nvPr/>
        </p:nvSpPr>
        <p:spPr bwMode="auto">
          <a:xfrm>
            <a:off x="142875" y="1000125"/>
            <a:ext cx="1928813" cy="4714875"/>
          </a:xfrm>
          <a:prstGeom prst="rect">
            <a:avLst/>
          </a:prstGeom>
          <a:noFill/>
          <a:ln>
            <a:miter lim="800000"/>
            <a:headEnd/>
            <a:tailEnd/>
          </a:ln>
        </p:spPr>
        <p:txBody>
          <a:bodyPr/>
          <a:lstStyle/>
          <a:p>
            <a:pPr marL="287338" indent="-287338" eaLnBrk="1" hangingPunct="1">
              <a:spcBef>
                <a:spcPct val="20000"/>
              </a:spcBef>
              <a:defRPr/>
            </a:pPr>
            <a:r>
              <a:rPr lang="en-US" altLang="zh-CN" sz="2200" b="1" kern="0" dirty="0">
                <a:solidFill>
                  <a:srgbClr val="FF0000"/>
                </a:solidFill>
                <a:latin typeface="+mn-lt"/>
                <a:ea typeface="+mn-ea"/>
              </a:rPr>
              <a:t>LDA</a:t>
            </a:r>
            <a:r>
              <a:rPr lang="zh-CN" altLang="en-US" sz="2200" b="1" kern="0" dirty="0">
                <a:solidFill>
                  <a:srgbClr val="FF0000"/>
                </a:solidFill>
                <a:latin typeface="+mn-lt"/>
                <a:ea typeface="+mn-ea"/>
              </a:rPr>
              <a:t>　　 </a:t>
            </a:r>
            <a:r>
              <a:rPr lang="en-US" altLang="zh-CN" sz="2200" b="1" kern="0" dirty="0">
                <a:solidFill>
                  <a:srgbClr val="FF0000"/>
                </a:solidFill>
                <a:latin typeface="+mn-lt"/>
                <a:ea typeface="+mn-ea"/>
              </a:rPr>
              <a:t>09H</a:t>
            </a:r>
            <a:r>
              <a:rPr lang="zh-CN" altLang="en-US" sz="2200" b="1" kern="0" dirty="0">
                <a:solidFill>
                  <a:srgbClr val="FF0000"/>
                </a:solidFill>
                <a:latin typeface="+mn-lt"/>
                <a:ea typeface="+mn-ea"/>
              </a:rPr>
              <a:t>　</a:t>
            </a:r>
            <a:endParaRPr lang="en-US" altLang="zh-CN" sz="2200" b="1" kern="0" dirty="0">
              <a:solidFill>
                <a:srgbClr val="FF0000"/>
              </a:solidFill>
              <a:latin typeface="+mn-lt"/>
              <a:ea typeface="+mn-ea"/>
            </a:endParaRPr>
          </a:p>
          <a:p>
            <a:pPr marL="287338" indent="-287338" eaLnBrk="1" hangingPunct="1">
              <a:spcBef>
                <a:spcPct val="20000"/>
              </a:spcBef>
              <a:defRPr/>
            </a:pPr>
            <a:r>
              <a:rPr lang="en-US" altLang="zh-CN" sz="2200" b="1" kern="0" dirty="0">
                <a:solidFill>
                  <a:srgbClr val="FF0000"/>
                </a:solidFill>
                <a:latin typeface="+mn-lt"/>
                <a:ea typeface="+mn-ea"/>
              </a:rPr>
              <a:t>ADD</a:t>
            </a:r>
            <a:r>
              <a:rPr lang="zh-CN" altLang="en-US" sz="2200" b="1" kern="0" dirty="0">
                <a:solidFill>
                  <a:srgbClr val="FF0000"/>
                </a:solidFill>
                <a:latin typeface="+mn-lt"/>
                <a:ea typeface="+mn-ea"/>
              </a:rPr>
              <a:t>　　</a:t>
            </a:r>
            <a:r>
              <a:rPr lang="en-US" altLang="zh-CN" sz="2200" b="1" kern="0" dirty="0">
                <a:solidFill>
                  <a:srgbClr val="FF0000"/>
                </a:solidFill>
              </a:rPr>
              <a:t>0AH</a:t>
            </a:r>
            <a:endParaRPr lang="zh-CN" altLang="en-US" sz="2200" b="1" kern="0" dirty="0">
              <a:solidFill>
                <a:srgbClr val="FF0000"/>
              </a:solidFill>
              <a:latin typeface="+mn-lt"/>
              <a:ea typeface="+mn-ea"/>
            </a:endParaRPr>
          </a:p>
          <a:p>
            <a:pPr marL="287338" indent="-287338" eaLnBrk="1" hangingPunct="1">
              <a:spcBef>
                <a:spcPct val="20000"/>
              </a:spcBef>
              <a:defRPr/>
            </a:pPr>
            <a:r>
              <a:rPr lang="en-US" altLang="zh-CN" sz="2200" b="1" kern="0" dirty="0">
                <a:solidFill>
                  <a:srgbClr val="FF0000"/>
                </a:solidFill>
                <a:latin typeface="+mn-lt"/>
                <a:ea typeface="+mn-ea"/>
              </a:rPr>
              <a:t>ADD</a:t>
            </a:r>
            <a:r>
              <a:rPr lang="zh-CN" altLang="en-US" sz="2200" b="1" kern="0" dirty="0">
                <a:solidFill>
                  <a:srgbClr val="FF0000"/>
                </a:solidFill>
                <a:latin typeface="+mn-lt"/>
                <a:ea typeface="+mn-ea"/>
              </a:rPr>
              <a:t>　    </a:t>
            </a:r>
            <a:r>
              <a:rPr lang="en-US" altLang="zh-CN" sz="2200" b="1" kern="0" dirty="0">
                <a:solidFill>
                  <a:srgbClr val="FF0000"/>
                </a:solidFill>
              </a:rPr>
              <a:t>0BH</a:t>
            </a:r>
            <a:endParaRPr lang="zh-CN" altLang="en-US" sz="2200" b="1" kern="0" dirty="0">
              <a:solidFill>
                <a:srgbClr val="FF0000"/>
              </a:solidFill>
              <a:latin typeface="+mn-lt"/>
              <a:ea typeface="+mn-ea"/>
            </a:endParaRPr>
          </a:p>
          <a:p>
            <a:pPr marL="287338" indent="-287338" eaLnBrk="1" hangingPunct="1">
              <a:spcBef>
                <a:spcPct val="20000"/>
              </a:spcBef>
              <a:defRPr/>
            </a:pPr>
            <a:r>
              <a:rPr lang="en-US" altLang="zh-CN" sz="2200" b="1" kern="0" dirty="0">
                <a:solidFill>
                  <a:srgbClr val="FF0000"/>
                </a:solidFill>
                <a:latin typeface="+mn-lt"/>
                <a:ea typeface="+mn-ea"/>
              </a:rPr>
              <a:t>ADD</a:t>
            </a:r>
            <a:r>
              <a:rPr lang="zh-CN" altLang="en-US" sz="2200" b="1" kern="0" dirty="0">
                <a:solidFill>
                  <a:srgbClr val="FF0000"/>
                </a:solidFill>
                <a:latin typeface="+mn-lt"/>
                <a:ea typeface="+mn-ea"/>
              </a:rPr>
              <a:t>　    </a:t>
            </a:r>
            <a:r>
              <a:rPr lang="en-US" altLang="zh-CN" sz="2200" b="1" kern="0" dirty="0">
                <a:solidFill>
                  <a:srgbClr val="FF0000"/>
                </a:solidFill>
              </a:rPr>
              <a:t>0CH</a:t>
            </a:r>
            <a:endParaRPr lang="zh-CN" altLang="en-US" sz="2200" b="1" kern="0" dirty="0">
              <a:solidFill>
                <a:srgbClr val="FF0000"/>
              </a:solidFill>
              <a:latin typeface="+mn-lt"/>
              <a:ea typeface="+mn-ea"/>
            </a:endParaRPr>
          </a:p>
          <a:p>
            <a:pPr marL="287338" indent="-287338" eaLnBrk="1" hangingPunct="1">
              <a:spcBef>
                <a:spcPct val="20000"/>
              </a:spcBef>
              <a:defRPr/>
            </a:pPr>
            <a:r>
              <a:rPr lang="en-US" altLang="zh-CN" sz="2200" b="1" kern="0" dirty="0">
                <a:solidFill>
                  <a:srgbClr val="FF0000"/>
                </a:solidFill>
                <a:latin typeface="+mn-lt"/>
                <a:ea typeface="+mn-ea"/>
              </a:rPr>
              <a:t>SUB</a:t>
            </a:r>
            <a:r>
              <a:rPr lang="zh-CN" altLang="en-US" sz="2200" b="1" kern="0" dirty="0">
                <a:solidFill>
                  <a:srgbClr val="FF0000"/>
                </a:solidFill>
                <a:latin typeface="+mn-lt"/>
                <a:ea typeface="+mn-ea"/>
              </a:rPr>
              <a:t>　     </a:t>
            </a:r>
            <a:r>
              <a:rPr lang="en-US" altLang="zh-CN" sz="2200" b="1" kern="0" dirty="0">
                <a:solidFill>
                  <a:srgbClr val="FF0000"/>
                </a:solidFill>
              </a:rPr>
              <a:t>0DH</a:t>
            </a:r>
            <a:r>
              <a:rPr lang="zh-CN" altLang="en-US" sz="2200" b="1" kern="0" dirty="0">
                <a:solidFill>
                  <a:srgbClr val="FF0000"/>
                </a:solidFill>
                <a:latin typeface="+mn-lt"/>
                <a:ea typeface="+mn-ea"/>
              </a:rPr>
              <a:t>　</a:t>
            </a:r>
            <a:endParaRPr lang="en-US" altLang="zh-CN" sz="2200" b="1" kern="0" dirty="0">
              <a:solidFill>
                <a:srgbClr val="FF0000"/>
              </a:solidFill>
              <a:latin typeface="+mn-lt"/>
              <a:ea typeface="+mn-ea"/>
            </a:endParaRPr>
          </a:p>
          <a:p>
            <a:pPr marL="287338" indent="-287338" eaLnBrk="1" hangingPunct="1">
              <a:spcBef>
                <a:spcPct val="20000"/>
              </a:spcBef>
              <a:defRPr/>
            </a:pPr>
            <a:r>
              <a:rPr lang="en-US" altLang="zh-CN" sz="2200" b="1" kern="0" dirty="0">
                <a:solidFill>
                  <a:srgbClr val="FF0000"/>
                </a:solidFill>
                <a:latin typeface="+mn-lt"/>
                <a:ea typeface="+mn-ea"/>
              </a:rPr>
              <a:t>OUT</a:t>
            </a:r>
            <a:r>
              <a:rPr lang="zh-CN" altLang="en-US" sz="2200" b="1" kern="0" dirty="0">
                <a:solidFill>
                  <a:srgbClr val="FF0000"/>
                </a:solidFill>
                <a:latin typeface="+mn-lt"/>
                <a:ea typeface="+mn-ea"/>
              </a:rPr>
              <a:t>       　</a:t>
            </a:r>
          </a:p>
          <a:p>
            <a:pPr marL="287338" indent="-287338" eaLnBrk="1" hangingPunct="1">
              <a:spcBef>
                <a:spcPct val="20000"/>
              </a:spcBef>
              <a:spcAft>
                <a:spcPts val="1200"/>
              </a:spcAft>
              <a:defRPr/>
            </a:pPr>
            <a:r>
              <a:rPr lang="en-US" altLang="zh-CN" sz="2200" b="1" kern="0" dirty="0">
                <a:solidFill>
                  <a:srgbClr val="FF0000"/>
                </a:solidFill>
                <a:latin typeface="+mn-lt"/>
                <a:ea typeface="+mn-ea"/>
              </a:rPr>
              <a:t>HLT</a:t>
            </a:r>
            <a:r>
              <a:rPr lang="zh-CN" altLang="en-US" sz="2200" b="1" kern="0" dirty="0">
                <a:solidFill>
                  <a:srgbClr val="FF0000"/>
                </a:solidFill>
                <a:latin typeface="+mn-lt"/>
                <a:ea typeface="+mn-ea"/>
              </a:rPr>
              <a:t>　　            </a:t>
            </a:r>
            <a:endParaRPr lang="en-US" altLang="zh-CN" sz="2200" b="1" kern="0" dirty="0">
              <a:solidFill>
                <a:srgbClr val="FF0000"/>
              </a:solidFill>
              <a:latin typeface="+mn-lt"/>
              <a:ea typeface="+mn-ea"/>
            </a:endParaRPr>
          </a:p>
          <a:p>
            <a:pPr marL="287338" indent="-287338" eaLnBrk="1" hangingPunct="1">
              <a:spcBef>
                <a:spcPct val="20000"/>
              </a:spcBef>
              <a:defRPr/>
            </a:pPr>
            <a:endParaRPr lang="zh-CN" altLang="en-US" sz="2200" b="1" kern="0" dirty="0">
              <a:solidFill>
                <a:srgbClr val="FF0000"/>
              </a:solidFill>
              <a:latin typeface="+mn-lt"/>
              <a:ea typeface="+mn-ea"/>
            </a:endParaRPr>
          </a:p>
        </p:txBody>
      </p:sp>
    </p:spTree>
    <p:extLst>
      <p:ext uri="{BB962C8B-B14F-4D97-AF65-F5344CB8AC3E}">
        <p14:creationId xmlns:p14="http://schemas.microsoft.com/office/powerpoint/2010/main" val="3837399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4294967295"/>
          </p:nvPr>
        </p:nvSpPr>
        <p:spPr bwMode="auto">
          <a:xfrm>
            <a:off x="428625" y="1216980"/>
            <a:ext cx="8429625" cy="53258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    上节列出了数据加减运算过程的</a:t>
            </a:r>
            <a:r>
              <a:rPr lang="zh-CN" altLang="en-US" sz="2400" dirty="0">
                <a:solidFill>
                  <a:srgbClr val="0070C0"/>
                </a:solidFill>
                <a:latin typeface="楷体" panose="02010609060101010101" pitchFamily="49" charset="-122"/>
                <a:ea typeface="楷体" panose="02010609060101010101" pitchFamily="49" charset="-122"/>
              </a:rPr>
              <a:t>指令清单</a:t>
            </a:r>
            <a:r>
              <a:rPr lang="zh-CN" altLang="en-US" sz="2400" dirty="0">
                <a:latin typeface="楷体" panose="02010609060101010101" pitchFamily="49" charset="-122"/>
                <a:ea typeface="楷体" panose="02010609060101010101" pitchFamily="49" charset="-122"/>
              </a:rPr>
              <a:t>：只是把要计算题目的计算步骤列出来了。</a:t>
            </a:r>
            <a:endParaRPr lang="en-US" altLang="zh-CN" sz="2400" dirty="0">
              <a:latin typeface="楷体" panose="02010609060101010101" pitchFamily="49" charset="-122"/>
              <a:ea typeface="楷体" panose="02010609060101010101" pitchFamily="49" charset="-122"/>
            </a:endParaRPr>
          </a:p>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0070C0"/>
                </a:solidFill>
                <a:latin typeface="楷体" panose="02010609060101010101" pitchFamily="49" charset="-122"/>
                <a:ea typeface="楷体" panose="02010609060101010101" pitchFamily="49" charset="-122"/>
              </a:rPr>
              <a:t>如果计算机能“认识”你用汇编语言写出来的汇编程序，就可以直接输入上面这个指令清单</a:t>
            </a:r>
            <a:r>
              <a:rPr lang="zh-CN" altLang="en-US" sz="2400" dirty="0">
                <a:latin typeface="楷体" panose="02010609060101010101" pitchFamily="49" charset="-122"/>
                <a:ea typeface="楷体" panose="02010609060101010101" pitchFamily="49" charset="-122"/>
              </a:rPr>
              <a:t>，计算机内部有编译程序自动将这个清单上的每一条指令翻译成机器码而使计算机工作起来。</a:t>
            </a:r>
            <a:endParaRPr lang="en-US" altLang="zh-CN" sz="2400" dirty="0">
              <a:latin typeface="楷体" panose="02010609060101010101" pitchFamily="49" charset="-122"/>
              <a:ea typeface="楷体" panose="02010609060101010101" pitchFamily="49" charset="-122"/>
            </a:endParaRPr>
          </a:p>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0070C0"/>
                </a:solidFill>
                <a:latin typeface="楷体" panose="02010609060101010101" pitchFamily="49" charset="-122"/>
                <a:ea typeface="楷体" panose="02010609060101010101" pitchFamily="49" charset="-122"/>
              </a:rPr>
              <a:t>如果计算机不“认识”你所写的汇编程序，写完这个清单，不能说程序已设计完毕</a:t>
            </a:r>
            <a:r>
              <a:rPr lang="zh-CN" altLang="en-US" sz="2400" dirty="0">
                <a:latin typeface="楷体" panose="02010609060101010101" pitchFamily="49" charset="-122"/>
                <a:ea typeface="楷体" panose="02010609060101010101" pitchFamily="49" charset="-122"/>
              </a:rPr>
              <a:t>；本章介绍的微型计算机就不“认识”你所写的汇编程序，这一节就是针对微型计算机介绍</a:t>
            </a:r>
            <a:r>
              <a:rPr lang="zh-CN" altLang="en-US" sz="2400" dirty="0">
                <a:solidFill>
                  <a:srgbClr val="FF0000"/>
                </a:solidFill>
                <a:latin typeface="楷体" panose="02010609060101010101" pitchFamily="49" charset="-122"/>
                <a:ea typeface="楷体" panose="02010609060101010101" pitchFamily="49" charset="-122"/>
              </a:rPr>
              <a:t>如何使计算机认识所编写的程序</a:t>
            </a:r>
            <a:r>
              <a:rPr lang="zh-CN" altLang="en-US" sz="2400" dirty="0">
                <a:latin typeface="楷体" panose="02010609060101010101" pitchFamily="49" charset="-122"/>
                <a:ea typeface="楷体" panose="02010609060101010101" pitchFamily="49" charset="-122"/>
              </a:rPr>
              <a:t>。</a:t>
            </a:r>
          </a:p>
        </p:txBody>
      </p:sp>
      <p:sp>
        <p:nvSpPr>
          <p:cNvPr id="4" name="Rectangle 2"/>
          <p:cNvSpPr txBox="1">
            <a:spLocks noChangeArrowheads="1"/>
          </p:cNvSpPr>
          <p:nvPr/>
        </p:nvSpPr>
        <p:spPr bwMode="auto">
          <a:xfrm>
            <a:off x="3437740" y="320185"/>
            <a:ext cx="2821017" cy="67944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30000"/>
              </a:lnSpc>
              <a:spcBef>
                <a:spcPts val="0"/>
              </a:spcBef>
            </a:pPr>
            <a:r>
              <a:rPr lang="en-US" altLang="zh-CN" sz="2800" dirty="0">
                <a:latin typeface="楷体" panose="02010609060101010101" pitchFamily="49" charset="-122"/>
                <a:ea typeface="楷体" panose="02010609060101010101" pitchFamily="49" charset="-122"/>
                <a:cs typeface="+mn-cs"/>
              </a:rPr>
              <a:t>3.2 </a:t>
            </a:r>
            <a:r>
              <a:rPr lang="zh-CN" altLang="en-US" sz="2800" dirty="0">
                <a:latin typeface="楷体" panose="02010609060101010101" pitchFamily="49" charset="-122"/>
                <a:ea typeface="楷体" panose="02010609060101010101" pitchFamily="49" charset="-122"/>
                <a:cs typeface="+mn-cs"/>
              </a:rPr>
              <a:t>程序设计</a:t>
            </a:r>
          </a:p>
        </p:txBody>
      </p:sp>
    </p:spTree>
    <p:extLst>
      <p:ext uri="{BB962C8B-B14F-4D97-AF65-F5344CB8AC3E}">
        <p14:creationId xmlns:p14="http://schemas.microsoft.com/office/powerpoint/2010/main" val="2338303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5BE32C1-65FF-4F3C-9D61-D70B4B5467A4}"/>
              </a:ext>
            </a:extLst>
          </p:cNvPr>
          <p:cNvSpPr>
            <a:spLocks noGrp="1" noChangeArrowheads="1"/>
          </p:cNvSpPr>
          <p:nvPr>
            <p:ph type="subTitle" idx="4294967295"/>
          </p:nvPr>
        </p:nvSpPr>
        <p:spPr>
          <a:xfrm>
            <a:off x="179388" y="941033"/>
            <a:ext cx="8716037" cy="578824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程序设计包括：</a:t>
            </a:r>
            <a:endParaRPr lang="en-US" altLang="zh-CN" sz="2400" dirty="0">
              <a:latin typeface="楷体" panose="02010609060101010101" pitchFamily="49" charset="-122"/>
              <a:ea typeface="楷体" panose="02010609060101010101" pitchFamily="49" charset="-122"/>
            </a:endParaRPr>
          </a:p>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编制汇编语言写的程序</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助记符的翻译</a:t>
            </a:r>
            <a:r>
              <a:rPr lang="zh-CN" altLang="en-US" sz="2400" dirty="0">
                <a:latin typeface="楷体" panose="02010609060101010101" pitchFamily="49" charset="-122"/>
                <a:ea typeface="楷体" panose="02010609060101010101" pitchFamily="49" charset="-122"/>
              </a:rPr>
              <a:t>：微型计算机并不认识助记符的意义，因此必须将指令清单中每一条指令都</a:t>
            </a:r>
            <a:r>
              <a:rPr lang="zh-CN" altLang="en-US" sz="2400" dirty="0">
                <a:solidFill>
                  <a:srgbClr val="0070C0"/>
                </a:solidFill>
                <a:latin typeface="楷体" panose="02010609060101010101" pitchFamily="49" charset="-122"/>
                <a:ea typeface="楷体" panose="02010609060101010101" pitchFamily="49" charset="-122"/>
              </a:rPr>
              <a:t>翻译成二进制码</a:t>
            </a:r>
            <a:r>
              <a:rPr lang="en-US" altLang="zh-CN" sz="2400" dirty="0">
                <a:solidFill>
                  <a:srgbClr val="0070C0"/>
                </a:solidFill>
                <a:latin typeface="楷体" panose="02010609060101010101" pitchFamily="49" charset="-122"/>
                <a:ea typeface="楷体" panose="02010609060101010101" pitchFamily="49" charset="-122"/>
              </a:rPr>
              <a:t>——</a:t>
            </a:r>
            <a:r>
              <a:rPr lang="zh-CN" altLang="en-US" sz="2400" dirty="0">
                <a:solidFill>
                  <a:srgbClr val="0070C0"/>
                </a:solidFill>
                <a:latin typeface="楷体" panose="02010609060101010101" pitchFamily="49" charset="-122"/>
                <a:ea typeface="楷体" panose="02010609060101010101" pitchFamily="49" charset="-122"/>
              </a:rPr>
              <a:t>机器码</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存储器的分配</a:t>
            </a:r>
            <a:r>
              <a:rPr lang="zh-CN" altLang="en-US" sz="2400" dirty="0">
                <a:latin typeface="楷体" panose="02010609060101010101" pitchFamily="49" charset="-122"/>
                <a:ea typeface="楷体" panose="02010609060101010101" pitchFamily="49" charset="-122"/>
              </a:rPr>
              <a:t>：存储器中既要写入计算程序，也要存放参与运算的数据，因此，需要决定存储器中的存储单元应如何分配，这称为存储空间分配。</a:t>
            </a:r>
            <a:endParaRPr lang="en-US" altLang="zh-CN" sz="2400" dirty="0">
              <a:latin typeface="楷体" panose="02010609060101010101" pitchFamily="49" charset="-122"/>
              <a:ea typeface="楷体" panose="02010609060101010101" pitchFamily="49" charset="-122"/>
            </a:endParaRPr>
          </a:p>
          <a:p>
            <a:pPr marL="0" indent="0">
              <a:lnSpc>
                <a:spcPct val="150000"/>
              </a:lnSpc>
              <a:spcBef>
                <a:spcPts val="0"/>
              </a:spcBef>
              <a:buNone/>
            </a:pPr>
            <a:endParaRPr lang="en-US" altLang="zh-CN" sz="2400" dirty="0">
              <a:latin typeface="楷体" panose="02010609060101010101" pitchFamily="49" charset="-122"/>
              <a:ea typeface="楷体" panose="02010609060101010101" pitchFamily="49" charset="-122"/>
            </a:endParaRPr>
          </a:p>
          <a:p>
            <a:pPr marL="0" indent="0">
              <a:lnSpc>
                <a:spcPct val="150000"/>
              </a:lnSpc>
              <a:spcBef>
                <a:spcPts val="0"/>
              </a:spcBef>
              <a:buNone/>
            </a:pPr>
            <a:r>
              <a:rPr lang="zh-CN" altLang="en-US" sz="2400" dirty="0">
                <a:latin typeface="楷体" panose="02010609060101010101" pitchFamily="49" charset="-122"/>
                <a:ea typeface="楷体" panose="02010609060101010101" pitchFamily="49" charset="-122"/>
              </a:rPr>
              <a:t>下面就来介绍一下程序设计的步骤。</a:t>
            </a:r>
          </a:p>
        </p:txBody>
      </p:sp>
    </p:spTree>
    <p:extLst>
      <p:ext uri="{BB962C8B-B14F-4D97-AF65-F5344CB8AC3E}">
        <p14:creationId xmlns:p14="http://schemas.microsoft.com/office/powerpoint/2010/main" val="3613609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bwMode="auto">
          <a:xfrm>
            <a:off x="533400" y="1067540"/>
            <a:ext cx="7772400" cy="608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a:lnSpc>
                <a:spcPct val="150000"/>
              </a:lnSpc>
              <a:spcBef>
                <a:spcPts val="0"/>
              </a:spcBef>
              <a:buFont typeface="Arial" panose="020B0604020202020204" pitchFamily="34" charset="0"/>
            </a:pPr>
            <a:r>
              <a:rPr lang="en-US" altLang="zh-CN" sz="2400" dirty="0">
                <a:latin typeface="楷体" panose="02010609060101010101" pitchFamily="49" charset="-122"/>
                <a:ea typeface="楷体" panose="02010609060101010101" pitchFamily="49" charset="-122"/>
                <a:cs typeface="+mn-cs"/>
              </a:rPr>
              <a:t>3.3.1 </a:t>
            </a:r>
            <a:r>
              <a:rPr lang="zh-CN" altLang="en-US" sz="2400" dirty="0">
                <a:latin typeface="楷体" panose="02010609060101010101" pitchFamily="49" charset="-122"/>
                <a:ea typeface="楷体" panose="02010609060101010101" pitchFamily="49" charset="-122"/>
                <a:cs typeface="+mn-cs"/>
              </a:rPr>
              <a:t>先要有一个操作码表</a:t>
            </a:r>
          </a:p>
        </p:txBody>
      </p:sp>
      <p:sp>
        <p:nvSpPr>
          <p:cNvPr id="37891" name="Rectangle 3"/>
          <p:cNvSpPr>
            <a:spLocks noGrp="1" noChangeArrowheads="1"/>
          </p:cNvSpPr>
          <p:nvPr>
            <p:ph type="body" idx="4294967295"/>
          </p:nvPr>
        </p:nvSpPr>
        <p:spPr bwMode="auto">
          <a:xfrm>
            <a:off x="533400" y="2072935"/>
            <a:ext cx="845968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endParaRPr lang="en-US" altLang="zh-CN" sz="2400" dirty="0">
              <a:latin typeface="楷体" panose="02010609060101010101" pitchFamily="49" charset="-122"/>
              <a:ea typeface="楷体" panose="02010609060101010101" pitchFamily="49" charset="-122"/>
            </a:endParaRP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0070C0"/>
                </a:solidFill>
                <a:latin typeface="楷体" panose="02010609060101010101" pitchFamily="49" charset="-122"/>
                <a:ea typeface="楷体" panose="02010609060101010101" pitchFamily="49" charset="-122"/>
              </a:rPr>
              <a:t>操作码表</a:t>
            </a:r>
            <a:r>
              <a:rPr lang="zh-CN" altLang="en-US" sz="2400" dirty="0">
                <a:latin typeface="楷体" panose="02010609060101010101" pitchFamily="49" charset="-122"/>
                <a:ea typeface="楷体" panose="02010609060101010101" pitchFamily="49" charset="-122"/>
              </a:rPr>
              <a:t>：由计算机制造商提供的翻译表（</a:t>
            </a:r>
            <a:r>
              <a:rPr lang="zh-CN" altLang="en-US" sz="2400" dirty="0">
                <a:solidFill>
                  <a:srgbClr val="FF0000"/>
                </a:solidFill>
                <a:latin typeface="楷体" panose="02010609060101010101" pitchFamily="49" charset="-122"/>
                <a:ea typeface="楷体" panose="02010609060101010101" pitchFamily="49" charset="-122"/>
              </a:rPr>
              <a:t>如何翻译？</a:t>
            </a:r>
            <a:r>
              <a:rPr lang="zh-CN" altLang="en-US" sz="2400" dirty="0">
                <a:latin typeface="楷体" panose="02010609060101010101" pitchFamily="49" charset="-122"/>
                <a:ea typeface="楷体" panose="02010609060101010101" pitchFamily="49" charset="-122"/>
              </a:rPr>
              <a:t>），它是每个助记符与二进制码的相应对照表。</a:t>
            </a:r>
            <a:endParaRPr lang="en-US" altLang="zh-CN" sz="2400" dirty="0">
              <a:latin typeface="楷体" panose="02010609060101010101" pitchFamily="49" charset="-122"/>
              <a:ea typeface="楷体" panose="02010609060101010101" pitchFamily="49" charset="-122"/>
            </a:endParaRP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由于我们的计算机很简单，只有</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个助记符，列成对照表，见表</a:t>
            </a:r>
            <a:r>
              <a:rPr lang="en-US" altLang="zh-CN" sz="2400" dirty="0">
                <a:latin typeface="楷体" panose="02010609060101010101" pitchFamily="49" charset="-122"/>
                <a:ea typeface="楷体" panose="02010609060101010101" pitchFamily="49" charset="-122"/>
              </a:rPr>
              <a:t>3-1</a:t>
            </a:r>
            <a:r>
              <a:rPr lang="zh-CN" altLang="en-US" sz="2400" dirty="0">
                <a:latin typeface="楷体" panose="02010609060101010101" pitchFamily="49" charset="-122"/>
                <a:ea typeface="楷体" panose="02010609060101010101" pitchFamily="49" charset="-122"/>
              </a:rPr>
              <a:t>，比较简单易记。</a:t>
            </a:r>
            <a:endParaRPr lang="en-US" altLang="zh-CN" sz="2400" dirty="0">
              <a:latin typeface="楷体" panose="02010609060101010101" pitchFamily="49" charset="-122"/>
              <a:ea typeface="楷体" panose="02010609060101010101" pitchFamily="49" charset="-122"/>
            </a:endParaRP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但如果指令系统很庞大的话，此表也就很大而不易记忆，因而就必须有特殊的方法才能迅速可靠地使用它。</a:t>
            </a:r>
          </a:p>
          <a:p>
            <a:pPr marL="0" indent="0">
              <a:lnSpc>
                <a:spcPct val="140000"/>
              </a:lnSpc>
              <a:spcBef>
                <a:spcPts val="0"/>
              </a:spcBef>
              <a:buNone/>
            </a:pPr>
            <a:endParaRPr lang="zh-CN" altLang="en-US" sz="2400" dirty="0">
              <a:latin typeface="楷体" panose="02010609060101010101" pitchFamily="49" charset="-122"/>
              <a:ea typeface="楷体" panose="02010609060101010101" pitchFamily="49" charset="-122"/>
            </a:endParaRPr>
          </a:p>
          <a:p>
            <a:pPr marL="0" indent="0">
              <a:lnSpc>
                <a:spcPct val="140000"/>
              </a:lnSpc>
              <a:spcBef>
                <a:spcPts val="0"/>
              </a:spcBef>
              <a:buNone/>
            </a:pPr>
            <a:endParaRPr lang="zh-CN" altLang="en-US" sz="2400" dirty="0">
              <a:latin typeface="楷体" panose="02010609060101010101" pitchFamily="49" charset="-122"/>
              <a:ea typeface="楷体" panose="02010609060101010101" pitchFamily="49" charset="-122"/>
            </a:endParaRPr>
          </a:p>
          <a:p>
            <a:pPr marL="0" indent="0">
              <a:lnSpc>
                <a:spcPct val="140000"/>
              </a:lnSpc>
              <a:spcBef>
                <a:spcPts val="0"/>
              </a:spcBef>
              <a:buNone/>
            </a:pP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71638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4294967295"/>
          </p:nvPr>
        </p:nvSpPr>
        <p:spPr bwMode="auto">
          <a:xfrm>
            <a:off x="533400" y="1953087"/>
            <a:ext cx="7772400" cy="306501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本微型机要把</a:t>
            </a:r>
            <a:r>
              <a:rPr lang="en-US" altLang="zh-CN" sz="2400" dirty="0">
                <a:latin typeface="楷体" panose="02010609060101010101" pitchFamily="49" charset="-122"/>
                <a:ea typeface="楷体" panose="02010609060101010101" pitchFamily="49" charset="-122"/>
              </a:rPr>
              <a:t>PROM</a:t>
            </a:r>
            <a:r>
              <a:rPr lang="zh-CN" altLang="en-US" sz="2400" dirty="0">
                <a:latin typeface="楷体" panose="02010609060101010101" pitchFamily="49" charset="-122"/>
                <a:ea typeface="楷体" panose="02010609060101010101" pitchFamily="49" charset="-122"/>
              </a:rPr>
              <a:t>中的</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个存储单元分配成两个区</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见表</a:t>
            </a:r>
            <a:r>
              <a:rPr lang="en-US" altLang="zh-CN" sz="2400" dirty="0">
                <a:latin typeface="楷体" panose="02010609060101010101" pitchFamily="49" charset="-122"/>
                <a:ea typeface="楷体" panose="02010609060101010101" pitchFamily="49" charset="-122"/>
              </a:rPr>
              <a:t>3-2:</a:t>
            </a:r>
          </a:p>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    (1) </a:t>
            </a:r>
            <a:r>
              <a:rPr lang="zh-CN" altLang="en-US" sz="2400" dirty="0">
                <a:solidFill>
                  <a:srgbClr val="FF0000"/>
                </a:solidFill>
                <a:latin typeface="楷体" panose="02010609060101010101" pitchFamily="49" charset="-122"/>
                <a:ea typeface="楷体" panose="02010609060101010101" pitchFamily="49" charset="-122"/>
              </a:rPr>
              <a:t>程序存放区</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指令区</a:t>
            </a:r>
            <a:r>
              <a:rPr lang="en-US" altLang="zh-CN" sz="2400" dirty="0">
                <a:solidFill>
                  <a:srgbClr val="FF0000"/>
                </a:solidFill>
                <a:latin typeface="楷体" panose="02010609060101010101" pitchFamily="49" charset="-122"/>
                <a:ea typeface="楷体" panose="02010609060101010101" pitchFamily="49" charset="-122"/>
              </a:rPr>
              <a:t>): R0-R7</a:t>
            </a:r>
            <a:r>
              <a:rPr lang="zh-CN" altLang="en-US" sz="2400" dirty="0">
                <a:solidFill>
                  <a:srgbClr val="0070C0"/>
                </a:solidFill>
                <a:latin typeface="楷体" panose="02010609060101010101" pitchFamily="49" charset="-122"/>
                <a:ea typeface="楷体" panose="02010609060101010101" pitchFamily="49" charset="-122"/>
              </a:rPr>
              <a:t>（地址</a:t>
            </a:r>
            <a:r>
              <a:rPr lang="en-US" altLang="zh-CN" sz="2400" dirty="0">
                <a:solidFill>
                  <a:srgbClr val="0070C0"/>
                </a:solidFill>
                <a:latin typeface="楷体" panose="02010609060101010101" pitchFamily="49" charset="-122"/>
                <a:ea typeface="楷体" panose="02010609060101010101" pitchFamily="49" charset="-122"/>
              </a:rPr>
              <a:t>00H-07H</a:t>
            </a:r>
            <a:r>
              <a:rPr lang="zh-CN" altLang="en-US" sz="2400" dirty="0">
                <a:solidFill>
                  <a:srgbClr val="0070C0"/>
                </a:solidFill>
                <a:latin typeface="楷体" panose="02010609060101010101" pitchFamily="49" charset="-122"/>
                <a:ea typeface="楷体" panose="02010609060101010101" pitchFamily="49" charset="-122"/>
              </a:rPr>
              <a:t>）</a:t>
            </a:r>
            <a:endParaRPr lang="en-US" altLang="zh-CN" sz="2400" dirty="0">
              <a:solidFill>
                <a:srgbClr val="0070C0"/>
              </a:solidFill>
              <a:latin typeface="楷体" panose="02010609060101010101" pitchFamily="49" charset="-122"/>
              <a:ea typeface="楷体" panose="02010609060101010101" pitchFamily="49" charset="-122"/>
            </a:endParaRPr>
          </a:p>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    (2) </a:t>
            </a:r>
            <a:r>
              <a:rPr lang="zh-CN" altLang="en-US" sz="2400" dirty="0">
                <a:solidFill>
                  <a:srgbClr val="FF0000"/>
                </a:solidFill>
                <a:latin typeface="楷体" panose="02010609060101010101" pitchFamily="49" charset="-122"/>
                <a:ea typeface="楷体" panose="02010609060101010101" pitchFamily="49" charset="-122"/>
              </a:rPr>
              <a:t>数据存放区</a:t>
            </a:r>
            <a:r>
              <a:rPr lang="en-US" altLang="zh-CN" sz="2400" dirty="0">
                <a:solidFill>
                  <a:srgbClr val="FF0000"/>
                </a:solidFill>
                <a:latin typeface="楷体" panose="02010609060101010101" pitchFamily="49" charset="-122"/>
                <a:ea typeface="楷体" panose="02010609060101010101" pitchFamily="49" charset="-122"/>
              </a:rPr>
              <a:t>(</a:t>
            </a:r>
            <a:r>
              <a:rPr lang="zh-CN" altLang="en-US" sz="2400" dirty="0">
                <a:solidFill>
                  <a:srgbClr val="FF0000"/>
                </a:solidFill>
                <a:latin typeface="楷体" panose="02010609060101010101" pitchFamily="49" charset="-122"/>
                <a:ea typeface="楷体" panose="02010609060101010101" pitchFamily="49" charset="-122"/>
              </a:rPr>
              <a:t>数据区</a:t>
            </a:r>
            <a:r>
              <a:rPr lang="en-US" altLang="zh-CN" sz="2400" dirty="0">
                <a:solidFill>
                  <a:srgbClr val="FF0000"/>
                </a:solidFill>
                <a:latin typeface="楷体" panose="02010609060101010101" pitchFamily="49" charset="-122"/>
                <a:ea typeface="楷体" panose="02010609060101010101" pitchFamily="49" charset="-122"/>
              </a:rPr>
              <a:t>): R8-RF</a:t>
            </a:r>
            <a:r>
              <a:rPr lang="zh-CN" altLang="en-US" sz="2400" dirty="0">
                <a:solidFill>
                  <a:srgbClr val="0070C0"/>
                </a:solidFill>
                <a:latin typeface="楷体" panose="02010609060101010101" pitchFamily="49" charset="-122"/>
                <a:ea typeface="楷体" panose="02010609060101010101" pitchFamily="49" charset="-122"/>
              </a:rPr>
              <a:t>（地址</a:t>
            </a:r>
            <a:r>
              <a:rPr lang="en-US" altLang="zh-CN" sz="2400" dirty="0">
                <a:solidFill>
                  <a:srgbClr val="0070C0"/>
                </a:solidFill>
                <a:latin typeface="楷体" panose="02010609060101010101" pitchFamily="49" charset="-122"/>
                <a:ea typeface="楷体" panose="02010609060101010101" pitchFamily="49" charset="-122"/>
              </a:rPr>
              <a:t>08H-0FH</a:t>
            </a:r>
            <a:r>
              <a:rPr lang="zh-CN" altLang="en-US" sz="2400" dirty="0">
                <a:solidFill>
                  <a:srgbClr val="0070C0"/>
                </a:solidFill>
                <a:latin typeface="楷体" panose="02010609060101010101" pitchFamily="49" charset="-122"/>
                <a:ea typeface="楷体" panose="02010609060101010101" pitchFamily="49" charset="-122"/>
              </a:rPr>
              <a:t>）</a:t>
            </a:r>
          </a:p>
        </p:txBody>
      </p:sp>
      <p:sp>
        <p:nvSpPr>
          <p:cNvPr id="4" name="Rectangle 2"/>
          <p:cNvSpPr txBox="1">
            <a:spLocks noChangeArrowheads="1"/>
          </p:cNvSpPr>
          <p:nvPr/>
        </p:nvSpPr>
        <p:spPr bwMode="auto">
          <a:xfrm>
            <a:off x="533400" y="1067540"/>
            <a:ext cx="7772400" cy="608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ts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cs typeface="+mn-cs"/>
              </a:rPr>
              <a:t>3.3.2 </a:t>
            </a:r>
            <a:r>
              <a:rPr lang="zh-CN" altLang="en-US" sz="2400" dirty="0">
                <a:latin typeface="楷体" panose="02010609060101010101" pitchFamily="49" charset="-122"/>
                <a:ea typeface="楷体" panose="02010609060101010101" pitchFamily="49" charset="-122"/>
                <a:cs typeface="+mn-cs"/>
              </a:rPr>
              <a:t>存储器分配</a:t>
            </a:r>
          </a:p>
        </p:txBody>
      </p:sp>
    </p:spTree>
    <p:extLst>
      <p:ext uri="{BB962C8B-B14F-4D97-AF65-F5344CB8AC3E}">
        <p14:creationId xmlns:p14="http://schemas.microsoft.com/office/powerpoint/2010/main" val="3434011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body" idx="4294967295"/>
          </p:nvPr>
        </p:nvSpPr>
        <p:spPr bwMode="auto">
          <a:xfrm>
            <a:off x="381000" y="1981200"/>
            <a:ext cx="7772400" cy="3103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endParaRPr lang="en-US" altLang="zh-CN" sz="2400" dirty="0">
              <a:latin typeface="楷体" panose="02010609060101010101" pitchFamily="49" charset="-122"/>
              <a:ea typeface="楷体" panose="02010609060101010101" pitchFamily="49" charset="-122"/>
            </a:endParaRP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方法：根据助记符与二进制的对照表</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操作码表</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将上节例题中的每条指令的助记符译成二进制码，并将存储单元符号写成地址码</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即</a:t>
            </a:r>
            <a:r>
              <a:rPr lang="en-US" altLang="zh-CN" sz="2400" dirty="0">
                <a:latin typeface="楷体" panose="02010609060101010101" pitchFamily="49" charset="-122"/>
                <a:ea typeface="楷体" panose="02010609060101010101" pitchFamily="49" charset="-122"/>
              </a:rPr>
              <a:t>R0→0000</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R1→0001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R9→1001)</a:t>
            </a:r>
            <a:r>
              <a:rPr lang="zh-CN" altLang="en-US" sz="2400" dirty="0">
                <a:latin typeface="楷体" panose="02010609060101010101" pitchFamily="49" charset="-122"/>
                <a:ea typeface="楷体" panose="02010609060101010101" pitchFamily="49" charset="-122"/>
              </a:rPr>
              <a:t>，就成为下面的样子。</a:t>
            </a: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a:t>
            </a:r>
            <a:endParaRPr lang="en-US" altLang="zh-CN" sz="2400" dirty="0">
              <a:latin typeface="楷体" panose="02010609060101010101" pitchFamily="49" charset="-122"/>
              <a:ea typeface="楷体" panose="02010609060101010101" pitchFamily="49" charset="-122"/>
            </a:endParaRPr>
          </a:p>
        </p:txBody>
      </p:sp>
      <p:sp>
        <p:nvSpPr>
          <p:cNvPr id="4" name="Rectangle 2"/>
          <p:cNvSpPr txBox="1">
            <a:spLocks noChangeArrowheads="1"/>
          </p:cNvSpPr>
          <p:nvPr/>
        </p:nvSpPr>
        <p:spPr bwMode="auto">
          <a:xfrm>
            <a:off x="533400" y="1067540"/>
            <a:ext cx="7772400" cy="608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ts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cs typeface="+mn-cs"/>
              </a:rPr>
              <a:t>3.3.3 </a:t>
            </a:r>
            <a:r>
              <a:rPr lang="zh-CN" altLang="en-US" sz="2400" dirty="0">
                <a:latin typeface="楷体" panose="02010609060101010101" pitchFamily="49" charset="-122"/>
                <a:ea typeface="楷体" panose="02010609060101010101" pitchFamily="49" charset="-122"/>
                <a:cs typeface="+mn-cs"/>
              </a:rPr>
              <a:t>将源程序翻译成目的程序</a:t>
            </a:r>
          </a:p>
        </p:txBody>
      </p:sp>
    </p:spTree>
    <p:extLst>
      <p:ext uri="{BB962C8B-B14F-4D97-AF65-F5344CB8AC3E}">
        <p14:creationId xmlns:p14="http://schemas.microsoft.com/office/powerpoint/2010/main" val="3391739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body" idx="4294967295"/>
          </p:nvPr>
        </p:nvSpPr>
        <p:spPr bwMode="auto">
          <a:xfrm>
            <a:off x="614363" y="955676"/>
            <a:ext cx="7772400" cy="33194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10000"/>
          </a:bodyPr>
          <a:lstStyle/>
          <a:p>
            <a:pPr eaLnBrk="1" hangingPunct="1">
              <a:lnSpc>
                <a:spcPct val="80000"/>
              </a:lnSpc>
              <a:buFontTx/>
              <a:buNone/>
            </a:pPr>
            <a:endParaRPr lang="en-US" altLang="zh-CN" sz="2400" dirty="0">
              <a:solidFill>
                <a:srgbClr val="800000"/>
              </a:solidFill>
              <a:latin typeface="宋体" panose="02010600030101010101" pitchFamily="2" charset="-122"/>
            </a:endParaRPr>
          </a:p>
          <a:p>
            <a:pPr eaLnBrk="1" hangingPunct="1">
              <a:lnSpc>
                <a:spcPct val="80000"/>
              </a:lnSpc>
              <a:buFontTx/>
              <a:buNone/>
            </a:pPr>
            <a:r>
              <a:rPr lang="zh-CN" altLang="en-US" sz="2400" dirty="0"/>
              <a:t>　　</a:t>
            </a:r>
            <a:r>
              <a:rPr lang="zh-CN" altLang="en-US" sz="2400" dirty="0">
                <a:latin typeface="楷体" panose="02010609060101010101" pitchFamily="49" charset="-122"/>
                <a:ea typeface="楷体" panose="02010609060101010101" pitchFamily="49" charset="-122"/>
              </a:rPr>
              <a:t>源程序</a:t>
            </a:r>
            <a:r>
              <a:rPr lang="zh-CN" altLang="en-US" sz="2400" dirty="0"/>
              <a:t>　　　　</a:t>
            </a:r>
            <a:r>
              <a:rPr lang="zh-CN" altLang="en-US" sz="2400" dirty="0">
                <a:latin typeface="楷体" panose="02010609060101010101" pitchFamily="49" charset="-122"/>
                <a:ea typeface="楷体" panose="02010609060101010101" pitchFamily="49" charset="-122"/>
              </a:rPr>
              <a:t>目的程序</a:t>
            </a:r>
            <a:r>
              <a:rPr lang="zh-CN" altLang="en-US" sz="2400" dirty="0"/>
              <a:t>　　　　　</a:t>
            </a:r>
            <a:r>
              <a:rPr lang="zh-CN" altLang="en-US" sz="2400" dirty="0">
                <a:latin typeface="楷体" panose="02010609060101010101" pitchFamily="49" charset="-122"/>
                <a:ea typeface="楷体" panose="02010609060101010101" pitchFamily="49" charset="-122"/>
              </a:rPr>
              <a:t>存储单元</a:t>
            </a:r>
          </a:p>
          <a:p>
            <a:pPr eaLnBrk="1" hangingPunct="1">
              <a:lnSpc>
                <a:spcPct val="80000"/>
              </a:lnSpc>
              <a:buFontTx/>
              <a:buNone/>
            </a:pPr>
            <a:r>
              <a:rPr lang="zh-CN" altLang="en-US" sz="2400" dirty="0"/>
              <a:t>    　</a:t>
            </a:r>
            <a:r>
              <a:rPr lang="en-US" altLang="zh-CN" sz="2400" dirty="0"/>
              <a:t>LDA</a:t>
            </a:r>
            <a:r>
              <a:rPr lang="zh-CN" altLang="en-US" sz="2400" dirty="0"/>
              <a:t>　 　</a:t>
            </a:r>
            <a:r>
              <a:rPr lang="en-US" altLang="zh-CN" sz="2400" dirty="0"/>
              <a:t>R</a:t>
            </a:r>
            <a:r>
              <a:rPr lang="en-US" altLang="zh-CN" sz="2400" baseline="-25000" dirty="0"/>
              <a:t>9</a:t>
            </a:r>
            <a:r>
              <a:rPr lang="zh-CN" altLang="en-US" sz="2400" dirty="0"/>
              <a:t>　 → </a:t>
            </a:r>
            <a:r>
              <a:rPr lang="en-US" altLang="zh-CN" sz="2400" dirty="0"/>
              <a:t>0 0 0 0  1  0   0   1</a:t>
            </a:r>
            <a:r>
              <a:rPr lang="zh-CN" altLang="en-US" sz="2400" dirty="0"/>
              <a:t>　 　</a:t>
            </a:r>
            <a:r>
              <a:rPr lang="en-US" altLang="zh-CN" sz="2400" dirty="0"/>
              <a:t>0  0  0  0  (R</a:t>
            </a:r>
            <a:r>
              <a:rPr lang="en-US" altLang="zh-CN" sz="2400" baseline="-25000" dirty="0"/>
              <a:t>0</a:t>
            </a:r>
            <a:r>
              <a:rPr lang="en-US" altLang="zh-CN" sz="2400" dirty="0"/>
              <a:t>)</a:t>
            </a:r>
            <a:endParaRPr lang="en-US" altLang="zh-CN" sz="2400" dirty="0">
              <a:latin typeface="宋体" panose="02010600030101010101" pitchFamily="2" charset="-122"/>
            </a:endParaRPr>
          </a:p>
          <a:p>
            <a:pPr eaLnBrk="1" hangingPunct="1">
              <a:lnSpc>
                <a:spcPct val="80000"/>
              </a:lnSpc>
              <a:buFontTx/>
              <a:buNone/>
            </a:pPr>
            <a:r>
              <a:rPr lang="zh-CN" altLang="en-US" sz="2400" dirty="0">
                <a:latin typeface="楷体" panose="02010609060101010101" pitchFamily="49" charset="-122"/>
                <a:ea typeface="楷体" panose="02010609060101010101" pitchFamily="49" charset="-122"/>
              </a:rPr>
              <a:t>指</a:t>
            </a:r>
            <a:r>
              <a:rPr lang="zh-CN" altLang="en-US" sz="2400" dirty="0">
                <a:latin typeface="宋体" panose="02010600030101010101" pitchFamily="2" charset="-122"/>
              </a:rPr>
              <a:t>　</a:t>
            </a:r>
            <a:r>
              <a:rPr lang="en-US" altLang="zh-CN" sz="2400" dirty="0"/>
              <a:t>ADD</a:t>
            </a:r>
            <a:r>
              <a:rPr lang="zh-CN" altLang="en-US" sz="2400" dirty="0"/>
              <a:t>　　</a:t>
            </a:r>
            <a:r>
              <a:rPr lang="en-US" altLang="zh-CN" sz="2400" dirty="0"/>
              <a:t>R</a:t>
            </a:r>
            <a:r>
              <a:rPr lang="en-US" altLang="zh-CN" sz="2400" baseline="-25000" dirty="0"/>
              <a:t>A</a:t>
            </a:r>
            <a:r>
              <a:rPr lang="zh-CN" altLang="en-US" sz="2400" dirty="0"/>
              <a:t>　→ </a:t>
            </a:r>
            <a:r>
              <a:rPr lang="en-US" altLang="zh-CN" sz="2400" dirty="0"/>
              <a:t>0 0 0  1  1  0   1   0</a:t>
            </a:r>
            <a:r>
              <a:rPr lang="zh-CN" altLang="en-US" sz="2400" dirty="0"/>
              <a:t>　　 </a:t>
            </a:r>
            <a:r>
              <a:rPr lang="en-US" altLang="zh-CN" sz="2400" dirty="0"/>
              <a:t>0  0  0  1  (R</a:t>
            </a:r>
            <a:r>
              <a:rPr lang="en-US" altLang="zh-CN" sz="2400" baseline="-25000" dirty="0"/>
              <a:t>1</a:t>
            </a:r>
            <a:r>
              <a:rPr lang="en-US" altLang="zh-CN" sz="2400" dirty="0"/>
              <a:t>)</a:t>
            </a:r>
            <a:endParaRPr lang="en-US" altLang="zh-CN" sz="2400" dirty="0">
              <a:latin typeface="宋体" panose="02010600030101010101" pitchFamily="2" charset="-122"/>
            </a:endParaRPr>
          </a:p>
          <a:p>
            <a:pPr eaLnBrk="1" hangingPunct="1">
              <a:lnSpc>
                <a:spcPct val="80000"/>
              </a:lnSpc>
              <a:buFontTx/>
              <a:buNone/>
            </a:pPr>
            <a:r>
              <a:rPr lang="zh-CN" altLang="en-US" sz="2400" dirty="0"/>
              <a:t>    　</a:t>
            </a:r>
            <a:r>
              <a:rPr lang="en-US" altLang="zh-CN" sz="2400" dirty="0"/>
              <a:t>ADD</a:t>
            </a:r>
            <a:r>
              <a:rPr lang="zh-CN" altLang="en-US" sz="2400" dirty="0"/>
              <a:t>　　</a:t>
            </a:r>
            <a:r>
              <a:rPr lang="en-US" altLang="zh-CN" sz="2400" dirty="0"/>
              <a:t>R</a:t>
            </a:r>
            <a:r>
              <a:rPr lang="en-US" altLang="zh-CN" sz="2400" baseline="-25000" dirty="0"/>
              <a:t>B</a:t>
            </a:r>
            <a:r>
              <a:rPr lang="zh-CN" altLang="en-US" sz="2400" dirty="0"/>
              <a:t>　→ </a:t>
            </a:r>
            <a:r>
              <a:rPr lang="en-US" altLang="zh-CN" sz="2400" dirty="0"/>
              <a:t>0 0 0  1  1  0   1   1</a:t>
            </a:r>
            <a:r>
              <a:rPr lang="zh-CN" altLang="en-US" sz="2400" dirty="0"/>
              <a:t>　　 </a:t>
            </a:r>
            <a:r>
              <a:rPr lang="en-US" altLang="zh-CN" sz="2400" dirty="0"/>
              <a:t>0  0  1  0  (R</a:t>
            </a:r>
            <a:r>
              <a:rPr lang="en-US" altLang="zh-CN" sz="2400" baseline="-25000" dirty="0"/>
              <a:t>2</a:t>
            </a:r>
            <a:r>
              <a:rPr lang="en-US" altLang="zh-CN" sz="2400" dirty="0"/>
              <a:t>)</a:t>
            </a:r>
            <a:endParaRPr lang="en-US" altLang="zh-CN" sz="2400" dirty="0">
              <a:latin typeface="宋体" panose="02010600030101010101" pitchFamily="2" charset="-122"/>
            </a:endParaRPr>
          </a:p>
          <a:p>
            <a:pPr eaLnBrk="1" hangingPunct="1">
              <a:lnSpc>
                <a:spcPct val="80000"/>
              </a:lnSpc>
              <a:buFontTx/>
              <a:buNone/>
            </a:pPr>
            <a:r>
              <a:rPr lang="zh-CN" altLang="en-US" sz="2400" dirty="0">
                <a:latin typeface="楷体" panose="02010609060101010101" pitchFamily="49" charset="-122"/>
                <a:ea typeface="楷体" panose="02010609060101010101" pitchFamily="49" charset="-122"/>
              </a:rPr>
              <a:t>令</a:t>
            </a:r>
            <a:r>
              <a:rPr lang="zh-CN" altLang="en-US" sz="2400" dirty="0">
                <a:latin typeface="宋体" panose="02010600030101010101" pitchFamily="2" charset="-122"/>
              </a:rPr>
              <a:t>  </a:t>
            </a:r>
            <a:r>
              <a:rPr lang="en-US" altLang="zh-CN" sz="2400" dirty="0"/>
              <a:t>ADD</a:t>
            </a:r>
            <a:r>
              <a:rPr lang="zh-CN" altLang="en-US" sz="2400" dirty="0"/>
              <a:t>　　</a:t>
            </a:r>
            <a:r>
              <a:rPr lang="en-US" altLang="zh-CN" sz="2400" dirty="0"/>
              <a:t>R</a:t>
            </a:r>
            <a:r>
              <a:rPr lang="en-US" altLang="zh-CN" sz="2400" baseline="-25000" dirty="0"/>
              <a:t>C</a:t>
            </a:r>
            <a:r>
              <a:rPr lang="zh-CN" altLang="en-US" sz="2400" dirty="0"/>
              <a:t>　→ </a:t>
            </a:r>
            <a:r>
              <a:rPr lang="en-US" altLang="zh-CN" sz="2400" dirty="0"/>
              <a:t>0 0 0  1  1  1   0   0</a:t>
            </a:r>
            <a:r>
              <a:rPr lang="zh-CN" altLang="en-US" sz="2400" dirty="0"/>
              <a:t>　　 </a:t>
            </a:r>
            <a:r>
              <a:rPr lang="en-US" altLang="zh-CN" sz="2400" dirty="0"/>
              <a:t>0  0  1  1  (R</a:t>
            </a:r>
            <a:r>
              <a:rPr lang="en-US" altLang="zh-CN" sz="2400" baseline="-25000" dirty="0"/>
              <a:t>3</a:t>
            </a:r>
            <a:r>
              <a:rPr lang="en-US" altLang="zh-CN" sz="2400" dirty="0"/>
              <a:t>)</a:t>
            </a:r>
            <a:endParaRPr lang="en-US" altLang="zh-CN" sz="2400" dirty="0">
              <a:latin typeface="宋体" panose="02010600030101010101" pitchFamily="2" charset="-122"/>
            </a:endParaRPr>
          </a:p>
          <a:p>
            <a:pPr eaLnBrk="1" hangingPunct="1">
              <a:lnSpc>
                <a:spcPct val="80000"/>
              </a:lnSpc>
              <a:buFontTx/>
              <a:buNone/>
            </a:pPr>
            <a:r>
              <a:rPr lang="zh-CN" altLang="en-US" sz="2400" dirty="0"/>
              <a:t>    　</a:t>
            </a:r>
            <a:r>
              <a:rPr lang="en-US" altLang="zh-CN" sz="2400" dirty="0"/>
              <a:t>SUB</a:t>
            </a:r>
            <a:r>
              <a:rPr lang="zh-CN" altLang="en-US" sz="2400" dirty="0"/>
              <a:t>　　 </a:t>
            </a:r>
            <a:r>
              <a:rPr lang="en-US" altLang="zh-CN" sz="2400" dirty="0"/>
              <a:t>R</a:t>
            </a:r>
            <a:r>
              <a:rPr lang="en-US" altLang="zh-CN" sz="2400" baseline="-25000" dirty="0"/>
              <a:t>D</a:t>
            </a:r>
            <a:r>
              <a:rPr lang="zh-CN" altLang="en-US" sz="2400" dirty="0"/>
              <a:t>　→ </a:t>
            </a:r>
            <a:r>
              <a:rPr lang="en-US" altLang="zh-CN" sz="2400" dirty="0"/>
              <a:t>0 0 1   0  1  1   0   1</a:t>
            </a:r>
            <a:r>
              <a:rPr lang="zh-CN" altLang="en-US" sz="2400" dirty="0"/>
              <a:t>　    </a:t>
            </a:r>
            <a:r>
              <a:rPr lang="en-US" altLang="zh-CN" sz="2400" dirty="0"/>
              <a:t>0  1  0  0  (R</a:t>
            </a:r>
            <a:r>
              <a:rPr lang="en-US" altLang="zh-CN" sz="2400" baseline="-25000" dirty="0"/>
              <a:t>4</a:t>
            </a:r>
            <a:r>
              <a:rPr lang="en-US" altLang="zh-CN" sz="2400" dirty="0"/>
              <a:t>)</a:t>
            </a:r>
          </a:p>
          <a:p>
            <a:pPr eaLnBrk="1" hangingPunct="1">
              <a:lnSpc>
                <a:spcPct val="80000"/>
              </a:lnSpc>
              <a:buFontTx/>
              <a:buNone/>
            </a:pPr>
            <a:r>
              <a:rPr lang="zh-CN" altLang="en-US" sz="2400" dirty="0">
                <a:latin typeface="楷体" panose="02010609060101010101" pitchFamily="49" charset="-122"/>
                <a:ea typeface="楷体" panose="02010609060101010101" pitchFamily="49" charset="-122"/>
              </a:rPr>
              <a:t>区</a:t>
            </a:r>
            <a:r>
              <a:rPr lang="zh-CN" altLang="en-US" sz="2400" dirty="0"/>
              <a:t>　</a:t>
            </a:r>
            <a:r>
              <a:rPr lang="en-US" altLang="zh-CN" sz="2400" dirty="0"/>
              <a:t>OUT</a:t>
            </a:r>
            <a:r>
              <a:rPr lang="zh-CN" altLang="en-US" sz="2400" dirty="0"/>
              <a:t>　　　    →</a:t>
            </a:r>
            <a:r>
              <a:rPr lang="en-US" altLang="zh-CN" sz="2400" dirty="0"/>
              <a:t>1 1 1  0 × × × ×</a:t>
            </a:r>
            <a:r>
              <a:rPr lang="zh-CN" altLang="en-US" sz="2400" dirty="0"/>
              <a:t>　          </a:t>
            </a:r>
            <a:r>
              <a:rPr lang="en-US" altLang="zh-CN" sz="2400" dirty="0"/>
              <a:t>0  1  0  1  (R</a:t>
            </a:r>
            <a:r>
              <a:rPr lang="en-US" altLang="zh-CN" sz="2400" baseline="-25000" dirty="0"/>
              <a:t>5</a:t>
            </a:r>
            <a:r>
              <a:rPr lang="en-US" altLang="zh-CN" sz="2400" dirty="0"/>
              <a:t>)</a:t>
            </a:r>
          </a:p>
          <a:p>
            <a:pPr eaLnBrk="1" hangingPunct="1">
              <a:lnSpc>
                <a:spcPct val="80000"/>
              </a:lnSpc>
              <a:buFontTx/>
              <a:buNone/>
            </a:pPr>
            <a:r>
              <a:rPr lang="zh-CN" altLang="en-US" sz="2400" dirty="0"/>
              <a:t>　　</a:t>
            </a:r>
            <a:r>
              <a:rPr lang="en-US" altLang="zh-CN" sz="2400" dirty="0"/>
              <a:t>HLT</a:t>
            </a:r>
            <a:r>
              <a:rPr lang="zh-CN" altLang="en-US" sz="2400" dirty="0"/>
              <a:t>　　　　 →</a:t>
            </a:r>
            <a:r>
              <a:rPr lang="en-US" altLang="zh-CN" sz="2400" dirty="0"/>
              <a:t>1 1 1  1 × × × ×</a:t>
            </a:r>
            <a:r>
              <a:rPr lang="zh-CN" altLang="en-US" sz="2400" dirty="0"/>
              <a:t>　          </a:t>
            </a:r>
            <a:r>
              <a:rPr lang="en-US" altLang="zh-CN" sz="2400" dirty="0"/>
              <a:t>0  1  1  0  (R</a:t>
            </a:r>
            <a:r>
              <a:rPr lang="en-US" altLang="zh-CN" sz="2400" baseline="-25000" dirty="0"/>
              <a:t>6</a:t>
            </a:r>
            <a:r>
              <a:rPr lang="en-US" altLang="zh-CN" sz="2400" dirty="0"/>
              <a:t>)</a:t>
            </a:r>
          </a:p>
          <a:p>
            <a:pPr eaLnBrk="1" hangingPunct="1">
              <a:lnSpc>
                <a:spcPct val="80000"/>
              </a:lnSpc>
            </a:pPr>
            <a:endParaRPr lang="en-US" altLang="zh-CN" sz="2400" dirty="0"/>
          </a:p>
        </p:txBody>
      </p:sp>
      <p:sp>
        <p:nvSpPr>
          <p:cNvPr id="40963" name="AutoShape 4"/>
          <p:cNvSpPr>
            <a:spLocks/>
          </p:cNvSpPr>
          <p:nvPr/>
        </p:nvSpPr>
        <p:spPr bwMode="auto">
          <a:xfrm>
            <a:off x="966295" y="1685832"/>
            <a:ext cx="228600" cy="2411413"/>
          </a:xfrm>
          <a:prstGeom prst="leftBrace">
            <a:avLst>
              <a:gd name="adj1" fmla="val 99968"/>
              <a:gd name="adj2" fmla="val 50000"/>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0964" name="Line 5"/>
          <p:cNvSpPr>
            <a:spLocks noChangeShapeType="1"/>
          </p:cNvSpPr>
          <p:nvPr/>
        </p:nvSpPr>
        <p:spPr bwMode="auto">
          <a:xfrm>
            <a:off x="5414223" y="1685832"/>
            <a:ext cx="0" cy="241300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9" name="Rectangle 2">
            <a:extLst>
              <a:ext uri="{FF2B5EF4-FFF2-40B4-BE49-F238E27FC236}">
                <a16:creationId xmlns:a16="http://schemas.microsoft.com/office/drawing/2014/main" id="{C4FD675C-5F76-4FF8-8C6C-B683780B945C}"/>
              </a:ext>
            </a:extLst>
          </p:cNvPr>
          <p:cNvSpPr txBox="1">
            <a:spLocks noChangeArrowheads="1"/>
          </p:cNvSpPr>
          <p:nvPr/>
        </p:nvSpPr>
        <p:spPr>
          <a:xfrm>
            <a:off x="411332" y="4329113"/>
            <a:ext cx="8382000" cy="2382405"/>
          </a:xfrm>
          <a:prstGeom prst="rect">
            <a:avLst/>
          </a:prstGeom>
          <a:noFill/>
        </p:spPr>
        <p:txBody>
          <a:bodyPr/>
          <a:lstStyle/>
          <a:p>
            <a:pPr marL="342900" indent="-342900" eaLnBrk="1" hangingPunct="1">
              <a:spcBef>
                <a:spcPct val="20000"/>
              </a:spcBef>
              <a:defRPr/>
            </a:pPr>
            <a:r>
              <a:rPr lang="zh-CN" altLang="en-US" b="1" kern="0" dirty="0">
                <a:latin typeface="+mn-lt"/>
                <a:ea typeface="+mn-ea"/>
              </a:rPr>
              <a:t>　　</a:t>
            </a:r>
            <a:r>
              <a:rPr lang="zh-CN" altLang="en-US" kern="0" dirty="0"/>
              <a:t>源程序　　目的程序　　    存储单元</a:t>
            </a:r>
            <a:endParaRPr lang="zh-CN" altLang="en-US" kern="0" dirty="0">
              <a:latin typeface="宋体" pitchFamily="2" charset="-122"/>
            </a:endParaRPr>
          </a:p>
          <a:p>
            <a:pPr marL="342900" indent="-342900" eaLnBrk="1" hangingPunct="1">
              <a:spcBef>
                <a:spcPct val="20000"/>
              </a:spcBef>
              <a:defRPr/>
            </a:pPr>
            <a:r>
              <a:rPr lang="zh-CN" altLang="en-US" sz="2200" dirty="0">
                <a:latin typeface="楷体" panose="02010609060101010101" pitchFamily="49" charset="-122"/>
                <a:ea typeface="楷体" panose="02010609060101010101" pitchFamily="49" charset="-122"/>
              </a:rPr>
              <a:t>数</a:t>
            </a:r>
            <a:r>
              <a:rPr lang="zh-CN" altLang="en-US" kern="0" dirty="0"/>
              <a:t>　</a:t>
            </a:r>
            <a:r>
              <a:rPr lang="en-US" altLang="zh-CN" kern="0" dirty="0"/>
              <a:t>16</a:t>
            </a:r>
            <a:r>
              <a:rPr lang="en-US" altLang="zh-CN" kern="0" baseline="-25000" dirty="0"/>
              <a:t>10</a:t>
            </a:r>
            <a:r>
              <a:rPr lang="en-US" altLang="zh-CN" kern="0" dirty="0"/>
              <a:t>→0  0  0  1  0  0  0  0</a:t>
            </a:r>
            <a:r>
              <a:rPr lang="zh-CN" altLang="en-US" kern="0" dirty="0"/>
              <a:t>　　</a:t>
            </a:r>
            <a:r>
              <a:rPr lang="en-US" altLang="zh-CN" kern="0" dirty="0"/>
              <a:t>1  0  0  1      (R9)</a:t>
            </a:r>
            <a:endParaRPr lang="en-US" altLang="zh-CN" kern="0" dirty="0">
              <a:latin typeface="宋体" pitchFamily="2" charset="-122"/>
            </a:endParaRPr>
          </a:p>
          <a:p>
            <a:pPr marL="342900" indent="-342900" eaLnBrk="1" hangingPunct="1">
              <a:spcBef>
                <a:spcPct val="20000"/>
              </a:spcBef>
              <a:defRPr/>
            </a:pPr>
            <a:r>
              <a:rPr lang="zh-CN" altLang="en-US" kern="0" dirty="0">
                <a:latin typeface="宋体" pitchFamily="2" charset="-122"/>
              </a:rPr>
              <a:t>　　</a:t>
            </a:r>
            <a:r>
              <a:rPr lang="en-US" altLang="zh-CN" kern="0" dirty="0"/>
              <a:t>20</a:t>
            </a:r>
            <a:r>
              <a:rPr lang="en-US" altLang="zh-CN" kern="0" baseline="-25000" dirty="0"/>
              <a:t>10</a:t>
            </a:r>
            <a:r>
              <a:rPr lang="en-US" altLang="zh-CN" kern="0" dirty="0"/>
              <a:t>→0  0  0  1  0  1  0  0</a:t>
            </a:r>
            <a:r>
              <a:rPr lang="zh-CN" altLang="en-US" kern="0" dirty="0"/>
              <a:t>　　</a:t>
            </a:r>
            <a:r>
              <a:rPr lang="en-US" altLang="zh-CN" kern="0" dirty="0"/>
              <a:t>1  0  1  0     (RA)</a:t>
            </a:r>
            <a:endParaRPr lang="en-US" altLang="zh-CN" kern="0" dirty="0">
              <a:latin typeface="宋体" pitchFamily="2" charset="-122"/>
            </a:endParaRPr>
          </a:p>
          <a:p>
            <a:pPr marL="342900" indent="-342900" eaLnBrk="1" hangingPunct="1">
              <a:spcBef>
                <a:spcPct val="20000"/>
              </a:spcBef>
              <a:defRPr/>
            </a:pPr>
            <a:r>
              <a:rPr lang="zh-CN" altLang="en-US" sz="2200" dirty="0">
                <a:latin typeface="楷体" panose="02010609060101010101" pitchFamily="49" charset="-122"/>
                <a:ea typeface="楷体" panose="02010609060101010101" pitchFamily="49" charset="-122"/>
              </a:rPr>
              <a:t>据</a:t>
            </a:r>
            <a:r>
              <a:rPr lang="zh-CN" altLang="en-US" kern="0" dirty="0"/>
              <a:t>　</a:t>
            </a:r>
            <a:r>
              <a:rPr lang="en-US" altLang="zh-CN" kern="0" dirty="0"/>
              <a:t>24</a:t>
            </a:r>
            <a:r>
              <a:rPr lang="en-US" altLang="zh-CN" kern="0" baseline="-25000" dirty="0"/>
              <a:t>10</a:t>
            </a:r>
            <a:r>
              <a:rPr lang="en-US" altLang="zh-CN" kern="0" dirty="0"/>
              <a:t>→0  0  0  1  1  0  0  0</a:t>
            </a:r>
            <a:r>
              <a:rPr lang="zh-CN" altLang="en-US" kern="0" dirty="0"/>
              <a:t>　　</a:t>
            </a:r>
            <a:r>
              <a:rPr lang="en-US" altLang="zh-CN" kern="0" dirty="0"/>
              <a:t>1  0  1  1     (RB)</a:t>
            </a:r>
            <a:endParaRPr lang="en-US" altLang="zh-CN" kern="0" dirty="0">
              <a:latin typeface="宋体" pitchFamily="2" charset="-122"/>
            </a:endParaRPr>
          </a:p>
          <a:p>
            <a:pPr marL="342900" indent="-342900" eaLnBrk="1" hangingPunct="1">
              <a:spcBef>
                <a:spcPct val="20000"/>
              </a:spcBef>
              <a:defRPr/>
            </a:pPr>
            <a:r>
              <a:rPr lang="zh-CN" altLang="en-US" kern="0" dirty="0">
                <a:latin typeface="宋体" pitchFamily="2" charset="-122"/>
              </a:rPr>
              <a:t>　　</a:t>
            </a:r>
            <a:r>
              <a:rPr lang="en-US" altLang="zh-CN" kern="0" dirty="0"/>
              <a:t>28</a:t>
            </a:r>
            <a:r>
              <a:rPr lang="en-US" altLang="zh-CN" kern="0" baseline="-25000" dirty="0"/>
              <a:t>10</a:t>
            </a:r>
            <a:r>
              <a:rPr lang="en-US" altLang="zh-CN" kern="0" dirty="0"/>
              <a:t>→0  0  0  1  1  1  0  0</a:t>
            </a:r>
            <a:r>
              <a:rPr lang="zh-CN" altLang="en-US" kern="0" dirty="0"/>
              <a:t>　　</a:t>
            </a:r>
            <a:r>
              <a:rPr lang="en-US" altLang="zh-CN" kern="0" dirty="0"/>
              <a:t>1  1  0  0     (RC)</a:t>
            </a:r>
            <a:endParaRPr lang="en-US" altLang="zh-CN" kern="0" dirty="0">
              <a:latin typeface="宋体" pitchFamily="2" charset="-122"/>
            </a:endParaRPr>
          </a:p>
          <a:p>
            <a:pPr marL="342900" indent="-342900" eaLnBrk="1" hangingPunct="1">
              <a:spcBef>
                <a:spcPct val="20000"/>
              </a:spcBef>
              <a:defRPr/>
            </a:pPr>
            <a:r>
              <a:rPr lang="zh-CN" altLang="en-US" sz="2200" dirty="0">
                <a:latin typeface="楷体" panose="02010609060101010101" pitchFamily="49" charset="-122"/>
                <a:ea typeface="楷体" panose="02010609060101010101" pitchFamily="49" charset="-122"/>
              </a:rPr>
              <a:t>区</a:t>
            </a:r>
            <a:r>
              <a:rPr lang="zh-CN" altLang="en-US" kern="0" dirty="0"/>
              <a:t>　</a:t>
            </a:r>
            <a:r>
              <a:rPr lang="en-US" altLang="zh-CN" kern="0" dirty="0"/>
              <a:t>32</a:t>
            </a:r>
            <a:r>
              <a:rPr lang="en-US" altLang="zh-CN" kern="0" baseline="-25000" dirty="0"/>
              <a:t>10</a:t>
            </a:r>
            <a:r>
              <a:rPr lang="en-US" altLang="zh-CN" kern="0" dirty="0"/>
              <a:t>→0  0  1  0  0  0  0  0</a:t>
            </a:r>
            <a:r>
              <a:rPr lang="zh-CN" altLang="en-US" kern="0" dirty="0"/>
              <a:t>　　</a:t>
            </a:r>
            <a:r>
              <a:rPr lang="en-US" altLang="zh-CN" kern="0" dirty="0"/>
              <a:t>1  1  0  1     (RD)</a:t>
            </a:r>
          </a:p>
          <a:p>
            <a:pPr marL="342900" indent="-342900" eaLnBrk="1" hangingPunct="1">
              <a:spcBef>
                <a:spcPct val="20000"/>
              </a:spcBef>
              <a:defRPr/>
            </a:pPr>
            <a:endParaRPr lang="en-US" altLang="zh-CN" kern="0" dirty="0"/>
          </a:p>
          <a:p>
            <a:pPr marL="342900" indent="-342900" eaLnBrk="1" hangingPunct="1">
              <a:spcBef>
                <a:spcPct val="20000"/>
              </a:spcBef>
              <a:defRPr/>
            </a:pPr>
            <a:r>
              <a:rPr lang="en-US" altLang="zh-CN" b="1" kern="0" dirty="0">
                <a:latin typeface="+mn-lt"/>
                <a:ea typeface="+mn-ea"/>
              </a:rPr>
              <a:t> </a:t>
            </a:r>
            <a:endParaRPr lang="zh-CN" altLang="en-US" b="1" kern="0" dirty="0">
              <a:latin typeface="+mn-lt"/>
              <a:ea typeface="+mn-ea"/>
            </a:endParaRPr>
          </a:p>
        </p:txBody>
      </p:sp>
      <p:sp>
        <p:nvSpPr>
          <p:cNvPr id="40966" name="AutoShape 3"/>
          <p:cNvSpPr>
            <a:spLocks/>
          </p:cNvSpPr>
          <p:nvPr/>
        </p:nvSpPr>
        <p:spPr bwMode="auto">
          <a:xfrm>
            <a:off x="747713" y="4774414"/>
            <a:ext cx="152400" cy="1836737"/>
          </a:xfrm>
          <a:prstGeom prst="leftBrace">
            <a:avLst>
              <a:gd name="adj1" fmla="val 125040"/>
              <a:gd name="adj2" fmla="val 50000"/>
            </a:avLst>
          </a:prstGeom>
          <a:noFill/>
          <a:ln w="63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0967" name="Line 4"/>
          <p:cNvSpPr>
            <a:spLocks noChangeShapeType="1"/>
          </p:cNvSpPr>
          <p:nvPr/>
        </p:nvSpPr>
        <p:spPr bwMode="auto">
          <a:xfrm>
            <a:off x="3515142" y="4774414"/>
            <a:ext cx="0" cy="1871662"/>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Tree>
    <p:extLst>
      <p:ext uri="{BB962C8B-B14F-4D97-AF65-F5344CB8AC3E}">
        <p14:creationId xmlns:p14="http://schemas.microsoft.com/office/powerpoint/2010/main" val="3971017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subTitle" idx="4294967295"/>
          </p:nvPr>
        </p:nvSpPr>
        <p:spPr bwMode="auto">
          <a:xfrm>
            <a:off x="304800" y="1978025"/>
            <a:ext cx="8382000" cy="24590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程序设计到这一步就可以算完成了，下一步就可以将此程序按存储单元的地址顺序存入计算机中去。下面就以此为例介绍输入的方法。</a:t>
            </a:r>
          </a:p>
        </p:txBody>
      </p:sp>
    </p:spTree>
    <p:extLst>
      <p:ext uri="{BB962C8B-B14F-4D97-AF65-F5344CB8AC3E}">
        <p14:creationId xmlns:p14="http://schemas.microsoft.com/office/powerpoint/2010/main" val="2756722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76300D76-1290-42F9-9AAF-AB29A872C742}"/>
              </a:ext>
            </a:extLst>
          </p:cNvPr>
          <p:cNvSpPr>
            <a:spLocks noGrp="1" noChangeArrowheads="1"/>
          </p:cNvSpPr>
          <p:nvPr>
            <p:ph type="body" idx="4294967295"/>
          </p:nvPr>
        </p:nvSpPr>
        <p:spPr bwMode="auto">
          <a:xfrm>
            <a:off x="92075" y="1675660"/>
            <a:ext cx="5006975" cy="478056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20000"/>
              </a:lnSpc>
              <a:spcBef>
                <a:spcPts val="0"/>
              </a:spcBef>
              <a:buNone/>
            </a:pPr>
            <a:r>
              <a:rPr lang="en-US" altLang="zh-CN" sz="2000" dirty="0">
                <a:latin typeface="楷体" panose="02010609060101010101" pitchFamily="49" charset="-122"/>
                <a:ea typeface="楷体" panose="02010609060101010101" pitchFamily="49" charset="-122"/>
              </a:rPr>
              <a:t>    PROM</a:t>
            </a:r>
            <a:r>
              <a:rPr lang="zh-CN" altLang="en-US" sz="2000" dirty="0">
                <a:latin typeface="楷体" panose="02010609060101010101" pitchFamily="49" charset="-122"/>
                <a:ea typeface="楷体" panose="02010609060101010101" pitchFamily="49" charset="-122"/>
              </a:rPr>
              <a:t>具有</a:t>
            </a:r>
            <a:r>
              <a:rPr lang="en-US" altLang="zh-CN" sz="2000" dirty="0">
                <a:latin typeface="楷体" panose="02010609060101010101" pitchFamily="49" charset="-122"/>
                <a:ea typeface="楷体" panose="02010609060101010101" pitchFamily="49" charset="-122"/>
              </a:rPr>
              <a:t>ROM</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RAM</a:t>
            </a:r>
            <a:r>
              <a:rPr lang="zh-CN" altLang="en-US" sz="2000" dirty="0">
                <a:latin typeface="楷体" panose="02010609060101010101" pitchFamily="49" charset="-122"/>
                <a:ea typeface="楷体" panose="02010609060101010101" pitchFamily="49" charset="-122"/>
              </a:rPr>
              <a:t>的特点。</a:t>
            </a:r>
            <a:r>
              <a:rPr lang="en-US" altLang="zh-CN" sz="2000" dirty="0">
                <a:latin typeface="楷体" panose="02010609060101010101" pitchFamily="49" charset="-122"/>
                <a:ea typeface="楷体" panose="02010609060101010101" pitchFamily="49" charset="-122"/>
              </a:rPr>
              <a:t>PROM</a:t>
            </a:r>
            <a:r>
              <a:rPr lang="zh-CN" altLang="en-US" sz="2000" dirty="0">
                <a:latin typeface="楷体" panose="02010609060101010101" pitchFamily="49" charset="-122"/>
                <a:ea typeface="楷体" panose="02010609060101010101" pitchFamily="49" charset="-122"/>
              </a:rPr>
              <a:t>分成两区</a:t>
            </a:r>
            <a:r>
              <a:rPr lang="en-US" altLang="zh-CN" sz="2000" dirty="0">
                <a:latin typeface="楷体" panose="02010609060101010101" pitchFamily="49" charset="-122"/>
                <a:ea typeface="楷体" panose="02010609060101010101" pitchFamily="49" charset="-122"/>
              </a:rPr>
              <a:t>:</a:t>
            </a:r>
          </a:p>
          <a:p>
            <a:pPr marL="0" indent="0">
              <a:lnSpc>
                <a:spcPct val="120000"/>
              </a:lnSpc>
              <a:spcBef>
                <a:spcPts val="0"/>
              </a:spcBef>
              <a:buNone/>
            </a:pP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a:t>
            </a:r>
            <a:r>
              <a:rPr lang="zh-CN" altLang="en-US" sz="2000" dirty="0">
                <a:solidFill>
                  <a:srgbClr val="FF0000"/>
                </a:solidFill>
                <a:latin typeface="楷体" panose="02010609060101010101" pitchFamily="49" charset="-122"/>
                <a:ea typeface="楷体" panose="02010609060101010101" pitchFamily="49" charset="-122"/>
              </a:rPr>
              <a:t>指令区</a:t>
            </a:r>
            <a:r>
              <a:rPr lang="en-US" altLang="zh-CN" sz="2000" dirty="0">
                <a:solidFill>
                  <a:srgbClr val="FF0000"/>
                </a:solidFill>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一旦存入指令，就不许再改</a:t>
            </a:r>
            <a:r>
              <a:rPr lang="en-US" altLang="zh-CN" sz="2000" dirty="0">
                <a:latin typeface="楷体" panose="02010609060101010101" pitchFamily="49" charset="-122"/>
                <a:ea typeface="楷体" panose="02010609060101010101" pitchFamily="49" charset="-122"/>
              </a:rPr>
              <a:t>; </a:t>
            </a:r>
          </a:p>
          <a:p>
            <a:pPr marL="0" indent="0">
              <a:lnSpc>
                <a:spcPct val="120000"/>
              </a:lnSpc>
              <a:spcBef>
                <a:spcPts val="0"/>
              </a:spcBef>
              <a:buNone/>
            </a:pP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a:t>
            </a:r>
            <a:r>
              <a:rPr lang="zh-CN" altLang="en-US" sz="2000" dirty="0">
                <a:solidFill>
                  <a:srgbClr val="FF0000"/>
                </a:solidFill>
                <a:latin typeface="楷体" panose="02010609060101010101" pitchFamily="49" charset="-122"/>
                <a:ea typeface="楷体" panose="02010609060101010101" pitchFamily="49" charset="-122"/>
              </a:rPr>
              <a:t>数据区</a:t>
            </a:r>
            <a:r>
              <a:rPr lang="en-US" altLang="zh-CN" sz="2000" dirty="0">
                <a:solidFill>
                  <a:srgbClr val="FF0000"/>
                </a:solidFill>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可以随时存入要参与运算的数据，并在计算过程中可以取出来。</a:t>
            </a:r>
            <a:endParaRPr lang="en-US" altLang="zh-CN" sz="2000" dirty="0">
              <a:latin typeface="楷体" panose="02010609060101010101" pitchFamily="49" charset="-122"/>
              <a:ea typeface="楷体" panose="02010609060101010101" pitchFamily="49" charset="-122"/>
            </a:endParaRPr>
          </a:p>
          <a:p>
            <a:pPr marL="0" indent="0">
              <a:lnSpc>
                <a:spcPct val="120000"/>
              </a:lnSpc>
              <a:spcBef>
                <a:spcPts val="0"/>
              </a:spcBef>
              <a:buNone/>
            </a:pPr>
            <a:r>
              <a:rPr lang="zh-CN" altLang="en-US" sz="2000" dirty="0">
                <a:latin typeface="楷体" panose="02010609060101010101" pitchFamily="49" charset="-122"/>
                <a:ea typeface="楷体" panose="02010609060101010101" pitchFamily="49" charset="-122"/>
              </a:rPr>
              <a:t>    但无论如何，在第一次安排程序时，都得把程序和数据存入。</a:t>
            </a:r>
            <a:r>
              <a:rPr lang="zh-CN" altLang="en-US" sz="2000" dirty="0">
                <a:solidFill>
                  <a:srgbClr val="FF0000"/>
                </a:solidFill>
                <a:latin typeface="楷体" panose="02010609060101010101" pitchFamily="49" charset="-122"/>
                <a:ea typeface="楷体" panose="02010609060101010101" pitchFamily="49" charset="-122"/>
              </a:rPr>
              <a:t>其方法就是将</a:t>
            </a:r>
            <a:r>
              <a:rPr lang="en-US" altLang="zh-CN" sz="2000" dirty="0">
                <a:solidFill>
                  <a:srgbClr val="FF0000"/>
                </a:solidFill>
                <a:latin typeface="楷体" panose="02010609060101010101" pitchFamily="49" charset="-122"/>
                <a:ea typeface="楷体" panose="02010609060101010101" pitchFamily="49" charset="-122"/>
              </a:rPr>
              <a:t>PROM</a:t>
            </a:r>
            <a:r>
              <a:rPr lang="zh-CN" altLang="en-US" sz="2000" dirty="0">
                <a:solidFill>
                  <a:srgbClr val="FF0000"/>
                </a:solidFill>
                <a:latin typeface="楷体" panose="02010609060101010101" pitchFamily="49" charset="-122"/>
                <a:ea typeface="楷体" panose="02010609060101010101" pitchFamily="49" charset="-122"/>
              </a:rPr>
              <a:t>的每个数据位的开关拨向置</a:t>
            </a:r>
            <a:r>
              <a:rPr lang="en-US" altLang="zh-CN" sz="2000" dirty="0">
                <a:solidFill>
                  <a:srgbClr val="FF0000"/>
                </a:solidFill>
                <a:latin typeface="楷体" panose="02010609060101010101" pitchFamily="49" charset="-122"/>
                <a:ea typeface="楷体" panose="02010609060101010101" pitchFamily="49" charset="-122"/>
              </a:rPr>
              <a:t>0</a:t>
            </a:r>
            <a:r>
              <a:rPr lang="zh-CN" altLang="en-US" sz="2000" dirty="0">
                <a:solidFill>
                  <a:srgbClr val="FF0000"/>
                </a:solidFill>
                <a:latin typeface="楷体" panose="02010609060101010101" pitchFamily="49" charset="-122"/>
                <a:ea typeface="楷体" panose="02010609060101010101" pitchFamily="49" charset="-122"/>
              </a:rPr>
              <a:t>或置</a:t>
            </a:r>
            <a:r>
              <a:rPr lang="en-US" altLang="zh-CN" sz="2000" dirty="0">
                <a:solidFill>
                  <a:srgbClr val="FF0000"/>
                </a:solidFill>
                <a:latin typeface="楷体" panose="02010609060101010101" pitchFamily="49" charset="-122"/>
                <a:ea typeface="楷体" panose="02010609060101010101" pitchFamily="49" charset="-122"/>
              </a:rPr>
              <a:t>1</a:t>
            </a:r>
            <a:r>
              <a:rPr lang="zh-CN" altLang="en-US" sz="2000" dirty="0">
                <a:solidFill>
                  <a:srgbClr val="FF0000"/>
                </a:solidFill>
                <a:latin typeface="楷体" panose="02010609060101010101" pitchFamily="49" charset="-122"/>
                <a:ea typeface="楷体" panose="02010609060101010101" pitchFamily="49" charset="-122"/>
              </a:rPr>
              <a:t>的位置即可</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如图</a:t>
            </a:r>
            <a:r>
              <a:rPr lang="en-US" altLang="zh-CN" sz="2000" dirty="0">
                <a:latin typeface="楷体" panose="02010609060101010101" pitchFamily="49" charset="-122"/>
                <a:ea typeface="楷体" panose="02010609060101010101" pitchFamily="49" charset="-122"/>
              </a:rPr>
              <a:t>3.2)</a:t>
            </a:r>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3.3</a:t>
            </a:r>
            <a:r>
              <a:rPr lang="zh-CN" altLang="en-US" sz="2000" dirty="0">
                <a:latin typeface="楷体" panose="02010609060101010101" pitchFamily="49" charset="-122"/>
                <a:ea typeface="楷体" panose="02010609060101010101" pitchFamily="49" charset="-122"/>
              </a:rPr>
              <a:t>就是这样一个</a:t>
            </a:r>
            <a:r>
              <a:rPr lang="en-US" altLang="zh-CN" sz="2000" dirty="0">
                <a:latin typeface="楷体" panose="02010609060101010101" pitchFamily="49" charset="-122"/>
                <a:ea typeface="楷体" panose="02010609060101010101" pitchFamily="49" charset="-122"/>
              </a:rPr>
              <a:t>PROM</a:t>
            </a:r>
            <a:r>
              <a:rPr lang="zh-CN" altLang="en-US" sz="2000" dirty="0">
                <a:latin typeface="楷体" panose="02010609060101010101" pitchFamily="49" charset="-122"/>
                <a:ea typeface="楷体" panose="02010609060101010101" pitchFamily="49" charset="-122"/>
              </a:rPr>
              <a:t>的输入装置，其左边是控制板上安装的开关，每个存储单元有</a:t>
            </a:r>
            <a:r>
              <a:rPr lang="en-US" altLang="zh-CN" sz="2000" dirty="0">
                <a:latin typeface="楷体" panose="02010609060101010101" pitchFamily="49" charset="-122"/>
                <a:ea typeface="楷体" panose="02010609060101010101" pitchFamily="49" charset="-122"/>
              </a:rPr>
              <a:t>8</a:t>
            </a:r>
            <a:r>
              <a:rPr lang="zh-CN" altLang="en-US" sz="2000" dirty="0">
                <a:latin typeface="楷体" panose="02010609060101010101" pitchFamily="49" charset="-122"/>
                <a:ea typeface="楷体" panose="02010609060101010101" pitchFamily="49" charset="-122"/>
              </a:rPr>
              <a:t>个开关。</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个存储单元</a:t>
            </a:r>
            <a:r>
              <a:rPr lang="en-US" altLang="zh-CN" sz="2000" dirty="0">
                <a:latin typeface="楷体" panose="02010609060101010101" pitchFamily="49" charset="-122"/>
                <a:ea typeface="楷体" panose="02010609060101010101" pitchFamily="49" charset="-122"/>
              </a:rPr>
              <a:t>(R0</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RF)</a:t>
            </a:r>
            <a:r>
              <a:rPr lang="zh-CN" altLang="en-US" sz="2000" dirty="0">
                <a:latin typeface="楷体" panose="02010609060101010101" pitchFamily="49" charset="-122"/>
                <a:ea typeface="楷体" panose="02010609060101010101" pitchFamily="49" charset="-122"/>
              </a:rPr>
              <a:t>，就共有</a:t>
            </a:r>
            <a:r>
              <a:rPr lang="en-US" altLang="zh-CN" sz="2000" dirty="0">
                <a:latin typeface="楷体" panose="02010609060101010101" pitchFamily="49" charset="-122"/>
                <a:ea typeface="楷体" panose="02010609060101010101" pitchFamily="49" charset="-122"/>
              </a:rPr>
              <a:t>8×16=128</a:t>
            </a:r>
            <a:r>
              <a:rPr lang="zh-CN" altLang="en-US" sz="2000" dirty="0">
                <a:latin typeface="楷体" panose="02010609060101010101" pitchFamily="49" charset="-122"/>
                <a:ea typeface="楷体" panose="02010609060101010101" pitchFamily="49" charset="-122"/>
              </a:rPr>
              <a:t>个开关。右边是根据例题而拨动的开关状态：</a:t>
            </a:r>
          </a:p>
        </p:txBody>
      </p:sp>
      <p:sp>
        <p:nvSpPr>
          <p:cNvPr id="44036" name="Text Box 3"/>
          <p:cNvSpPr txBox="1">
            <a:spLocks noChangeArrowheads="1"/>
          </p:cNvSpPr>
          <p:nvPr/>
        </p:nvSpPr>
        <p:spPr bwMode="auto">
          <a:xfrm>
            <a:off x="5292725" y="5901600"/>
            <a:ext cx="3779838" cy="412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indent="0" defTabSz="914400">
              <a:lnSpc>
                <a:spcPct val="120000"/>
              </a:lnSpc>
              <a:spcBef>
                <a:spcPts val="0"/>
              </a:spcBef>
              <a:buFont typeface="Arial" panose="020B0604020202020204" pitchFamily="34" charset="0"/>
              <a:buNone/>
              <a:defRPr sz="2000">
                <a:latin typeface="楷体" panose="02010609060101010101" pitchFamily="49" charset="-122"/>
                <a:ea typeface="楷体" panose="02010609060101010101" pitchFamily="49"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t>图</a:t>
            </a:r>
            <a:r>
              <a:rPr lang="en-US" altLang="zh-CN" dirty="0"/>
              <a:t>3.2   4×4PROM</a:t>
            </a:r>
            <a:r>
              <a:rPr lang="zh-CN" altLang="en-US" dirty="0"/>
              <a:t>原理图</a:t>
            </a:r>
            <a:endParaRPr lang="en-US" altLang="zh-CN" dirty="0"/>
          </a:p>
        </p:txBody>
      </p:sp>
      <p:pic>
        <p:nvPicPr>
          <p:cNvPr id="44037" name="Picture 5"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9050" y="1736725"/>
            <a:ext cx="4008438" cy="399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533400" y="1067540"/>
            <a:ext cx="7772400" cy="608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ts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cs typeface="+mn-cs"/>
              </a:rPr>
              <a:t>3.3.4 </a:t>
            </a:r>
            <a:r>
              <a:rPr lang="zh-CN" altLang="en-US" sz="2400" dirty="0">
                <a:latin typeface="楷体" panose="02010609060101010101" pitchFamily="49" charset="-122"/>
                <a:ea typeface="楷体" panose="02010609060101010101" pitchFamily="49" charset="-122"/>
                <a:cs typeface="+mn-cs"/>
              </a:rPr>
              <a:t>程序及数据输入方法</a:t>
            </a:r>
          </a:p>
        </p:txBody>
      </p:sp>
    </p:spTree>
    <p:extLst>
      <p:ext uri="{BB962C8B-B14F-4D97-AF65-F5344CB8AC3E}">
        <p14:creationId xmlns:p14="http://schemas.microsoft.com/office/powerpoint/2010/main" val="429095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3"/>
          <p:cNvSpPr txBox="1">
            <a:spLocks noChangeArrowheads="1"/>
          </p:cNvSpPr>
          <p:nvPr/>
        </p:nvSpPr>
        <p:spPr bwMode="auto">
          <a:xfrm>
            <a:off x="5091113" y="6381750"/>
            <a:ext cx="1857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图</a:t>
            </a:r>
            <a:r>
              <a:rPr lang="en-US" altLang="zh-CN" b="1"/>
              <a:t>3.3</a:t>
            </a:r>
            <a:endParaRPr lang="en-US" altLang="zh-CN"/>
          </a:p>
        </p:txBody>
      </p:sp>
      <p:pic>
        <p:nvPicPr>
          <p:cNvPr id="45059" name="Picture 5" descr="图3"/>
          <p:cNvPicPr>
            <a:picLocks noChangeAspect="1" noChangeArrowheads="1"/>
          </p:cNvPicPr>
          <p:nvPr/>
        </p:nvPicPr>
        <p:blipFill>
          <a:blip r:embed="rId3">
            <a:extLst>
              <a:ext uri="{28A0092B-C50C-407E-A947-70E740481C1C}">
                <a14:useLocalDpi xmlns:a14="http://schemas.microsoft.com/office/drawing/2010/main" val="0"/>
              </a:ext>
            </a:extLst>
          </a:blip>
          <a:srcRect l="10129" r="3313"/>
          <a:stretch>
            <a:fillRect/>
          </a:stretch>
        </p:blipFill>
        <p:spPr bwMode="auto">
          <a:xfrm>
            <a:off x="2771775" y="692150"/>
            <a:ext cx="6345238"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Rectangle 2"/>
          <p:cNvSpPr>
            <a:spLocks noGrp="1" noChangeArrowheads="1"/>
          </p:cNvSpPr>
          <p:nvPr>
            <p:ph type="subTitle" idx="4294967295"/>
          </p:nvPr>
        </p:nvSpPr>
        <p:spPr bwMode="auto">
          <a:xfrm>
            <a:off x="36511" y="946983"/>
            <a:ext cx="2879726" cy="589673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00000"/>
              </a:lnSpc>
              <a:spcBef>
                <a:spcPts val="0"/>
              </a:spcBef>
              <a:buNone/>
            </a:pPr>
            <a:r>
              <a:rPr lang="zh-CN" altLang="en-US" sz="2000" dirty="0">
                <a:solidFill>
                  <a:srgbClr val="FF0000"/>
                </a:solidFill>
                <a:latin typeface="楷体" panose="02010609060101010101" pitchFamily="49" charset="-122"/>
                <a:ea typeface="楷体" panose="02010609060101010101" pitchFamily="49" charset="-122"/>
              </a:rPr>
              <a:t>置</a:t>
            </a:r>
            <a:r>
              <a:rPr lang="en-US" altLang="zh-CN" sz="2000" dirty="0">
                <a:solidFill>
                  <a:srgbClr val="FF0000"/>
                </a:solidFill>
                <a:latin typeface="楷体" panose="02010609060101010101" pitchFamily="49" charset="-122"/>
                <a:ea typeface="楷体" panose="02010609060101010101" pitchFamily="49" charset="-122"/>
              </a:rPr>
              <a:t>0: </a:t>
            </a:r>
            <a:r>
              <a:rPr lang="zh-CN" altLang="en-US" sz="2000" dirty="0">
                <a:solidFill>
                  <a:srgbClr val="FF0000"/>
                </a:solidFill>
                <a:latin typeface="楷体" panose="02010609060101010101" pitchFamily="49" charset="-122"/>
                <a:ea typeface="楷体" panose="02010609060101010101" pitchFamily="49" charset="-122"/>
              </a:rPr>
              <a:t>开关断开</a:t>
            </a:r>
          </a:p>
          <a:p>
            <a:pPr marL="0" indent="0">
              <a:lnSpc>
                <a:spcPct val="100000"/>
              </a:lnSpc>
              <a:spcBef>
                <a:spcPts val="0"/>
              </a:spcBef>
              <a:buNone/>
            </a:pPr>
            <a:r>
              <a:rPr lang="zh-CN" altLang="en-US" sz="2000" dirty="0">
                <a:solidFill>
                  <a:srgbClr val="FF0000"/>
                </a:solidFill>
                <a:latin typeface="楷体" panose="02010609060101010101" pitchFamily="49" charset="-122"/>
                <a:ea typeface="楷体" panose="02010609060101010101" pitchFamily="49" charset="-122"/>
              </a:rPr>
              <a:t>置</a:t>
            </a:r>
            <a:r>
              <a:rPr lang="en-US" altLang="zh-CN" sz="2000" dirty="0">
                <a:solidFill>
                  <a:srgbClr val="FF0000"/>
                </a:solidFill>
                <a:latin typeface="楷体" panose="02010609060101010101" pitchFamily="49" charset="-122"/>
                <a:ea typeface="楷体" panose="02010609060101010101" pitchFamily="49" charset="-122"/>
              </a:rPr>
              <a:t>1: </a:t>
            </a:r>
            <a:r>
              <a:rPr lang="zh-CN" altLang="en-US" sz="2000" dirty="0">
                <a:solidFill>
                  <a:srgbClr val="FF0000"/>
                </a:solidFill>
                <a:latin typeface="楷体" panose="02010609060101010101" pitchFamily="49" charset="-122"/>
                <a:ea typeface="楷体" panose="02010609060101010101" pitchFamily="49" charset="-122"/>
              </a:rPr>
              <a:t>开关接通</a:t>
            </a:r>
          </a:p>
          <a:p>
            <a:pPr marL="0" indent="0">
              <a:lnSpc>
                <a:spcPct val="100000"/>
              </a:lnSpc>
              <a:spcBef>
                <a:spcPts val="0"/>
              </a:spcBef>
              <a:buNone/>
            </a:pPr>
            <a:r>
              <a:rPr lang="zh-CN" altLang="en-US" sz="2000" dirty="0">
                <a:latin typeface="楷体" panose="02010609060101010101" pitchFamily="49" charset="-122"/>
                <a:ea typeface="楷体" panose="02010609060101010101" pitchFamily="49" charset="-122"/>
              </a:rPr>
              <a:t>括弧内语句：代表指令</a:t>
            </a:r>
            <a:endParaRPr lang="en-US" altLang="zh-CN" sz="2000" dirty="0">
              <a:latin typeface="楷体" panose="02010609060101010101" pitchFamily="49" charset="-122"/>
              <a:ea typeface="楷体" panose="02010609060101010101" pitchFamily="49" charset="-122"/>
            </a:endParaRPr>
          </a:p>
          <a:p>
            <a:pPr marL="0" indent="0">
              <a:lnSpc>
                <a:spcPct val="100000"/>
              </a:lnSpc>
              <a:spcBef>
                <a:spcPts val="0"/>
              </a:spcBef>
              <a:buNone/>
            </a:pPr>
            <a:r>
              <a:rPr lang="zh-CN" altLang="en-US" sz="2000" dirty="0">
                <a:latin typeface="楷体" panose="02010609060101010101" pitchFamily="49" charset="-122"/>
                <a:ea typeface="楷体" panose="02010609060101010101" pitchFamily="49" charset="-122"/>
              </a:rPr>
              <a:t>数字：参与运算的数据</a:t>
            </a:r>
          </a:p>
          <a:p>
            <a:pPr marL="0" indent="0">
              <a:lnSpc>
                <a:spcPct val="100000"/>
              </a:lnSpc>
              <a:spcBef>
                <a:spcPts val="0"/>
              </a:spcBef>
              <a:buNone/>
            </a:pPr>
            <a:r>
              <a:rPr lang="zh-CN" altLang="en-US" sz="2000" dirty="0">
                <a:latin typeface="楷体" panose="02010609060101010101" pitchFamily="49" charset="-122"/>
                <a:ea typeface="楷体" panose="02010609060101010101" pitchFamily="49" charset="-122"/>
              </a:rPr>
              <a:t>将目的码输入到</a:t>
            </a:r>
            <a:r>
              <a:rPr lang="en-US" altLang="zh-CN" sz="2000" dirty="0">
                <a:latin typeface="楷体" panose="02010609060101010101" pitchFamily="49" charset="-122"/>
                <a:ea typeface="楷体" panose="02010609060101010101" pitchFamily="49" charset="-122"/>
              </a:rPr>
              <a:t>PROM</a:t>
            </a:r>
            <a:r>
              <a:rPr lang="zh-CN" altLang="en-US" sz="2000" dirty="0">
                <a:latin typeface="楷体" panose="02010609060101010101" pitchFamily="49" charset="-122"/>
                <a:ea typeface="楷体" panose="02010609060101010101" pitchFamily="49" charset="-122"/>
              </a:rPr>
              <a:t>中去，即拨动控制板上的开关，使其成图</a:t>
            </a:r>
            <a:r>
              <a:rPr lang="en-US" altLang="zh-CN" sz="2000" dirty="0">
                <a:latin typeface="楷体" panose="02010609060101010101" pitchFamily="49" charset="-122"/>
                <a:ea typeface="楷体" panose="02010609060101010101" pitchFamily="49" charset="-122"/>
              </a:rPr>
              <a:t>3.3</a:t>
            </a:r>
            <a:r>
              <a:rPr lang="zh-CN" altLang="en-US" sz="2000" dirty="0">
                <a:latin typeface="楷体" panose="02010609060101010101" pitchFamily="49" charset="-122"/>
                <a:ea typeface="楷体" panose="02010609060101010101" pitchFamily="49" charset="-122"/>
              </a:rPr>
              <a:t>右边的状态。</a:t>
            </a:r>
            <a:endParaRPr lang="en-US" altLang="zh-CN" sz="2000" dirty="0">
              <a:latin typeface="楷体" panose="02010609060101010101" pitchFamily="49" charset="-122"/>
              <a:ea typeface="楷体" panose="02010609060101010101" pitchFamily="49" charset="-122"/>
            </a:endParaRPr>
          </a:p>
          <a:p>
            <a:pPr marL="0" indent="0">
              <a:lnSpc>
                <a:spcPct val="100000"/>
              </a:lnSpc>
              <a:spcBef>
                <a:spcPts val="0"/>
              </a:spcBef>
              <a:buNone/>
            </a:pPr>
            <a:r>
              <a:rPr lang="zh-CN" altLang="en-US" sz="2000" dirty="0">
                <a:solidFill>
                  <a:srgbClr val="003399"/>
                </a:solidFill>
                <a:latin typeface="楷体" panose="02010609060101010101" pitchFamily="49" charset="-122"/>
                <a:ea typeface="楷体" panose="02010609060101010101" pitchFamily="49" charset="-122"/>
              </a:rPr>
              <a:t>打</a:t>
            </a:r>
            <a:r>
              <a:rPr lang="en-US" altLang="zh-CN" sz="2000" dirty="0">
                <a:solidFill>
                  <a:srgbClr val="003399"/>
                </a:solidFill>
                <a:latin typeface="楷体" panose="02010609060101010101" pitchFamily="49" charset="-122"/>
                <a:ea typeface="楷体" panose="02010609060101010101" pitchFamily="49" charset="-122"/>
              </a:rPr>
              <a:t>×</a:t>
            </a:r>
            <a:r>
              <a:rPr lang="zh-CN" altLang="en-US" sz="2000" dirty="0">
                <a:solidFill>
                  <a:srgbClr val="003399"/>
                </a:solidFill>
                <a:latin typeface="楷体" panose="02010609060101010101" pitchFamily="49" charset="-122"/>
                <a:ea typeface="楷体" panose="02010609060101010101" pitchFamily="49" charset="-122"/>
              </a:rPr>
              <a:t>的开关是随意状态</a:t>
            </a:r>
            <a:r>
              <a:rPr lang="zh-CN" altLang="en-US" sz="2000" dirty="0">
                <a:latin typeface="楷体" panose="02010609060101010101" pitchFamily="49" charset="-122"/>
                <a:ea typeface="楷体" panose="02010609060101010101" pitchFamily="49" charset="-122"/>
              </a:rPr>
              <a:t>，因为用不着，例如</a:t>
            </a:r>
          </a:p>
          <a:p>
            <a:pPr marL="0" indent="0">
              <a:lnSpc>
                <a:spcPct val="100000"/>
              </a:lnSpc>
              <a:spcBef>
                <a:spcPts val="0"/>
              </a:spcBef>
              <a:buNone/>
            </a:pPr>
            <a:r>
              <a:rPr lang="en-US" altLang="zh-CN" sz="2000" dirty="0">
                <a:latin typeface="楷体" panose="02010609060101010101" pitchFamily="49" charset="-122"/>
                <a:ea typeface="楷体" panose="02010609060101010101" pitchFamily="49" charset="-122"/>
              </a:rPr>
              <a:t>OUT→1110  ××××</a:t>
            </a:r>
          </a:p>
          <a:p>
            <a:pPr marL="0" indent="0">
              <a:lnSpc>
                <a:spcPct val="100000"/>
              </a:lnSpc>
              <a:spcBef>
                <a:spcPts val="0"/>
              </a:spcBef>
              <a:buNone/>
            </a:pPr>
            <a:r>
              <a:rPr lang="en-US" altLang="zh-CN" sz="2000" dirty="0">
                <a:latin typeface="楷体" panose="02010609060101010101" pitchFamily="49" charset="-122"/>
                <a:ea typeface="楷体" panose="02010609060101010101" pitchFamily="49" charset="-122"/>
              </a:rPr>
              <a:t>HLT→1111  ××××</a:t>
            </a:r>
          </a:p>
          <a:p>
            <a:pPr marL="0" indent="0">
              <a:lnSpc>
                <a:spcPct val="100000"/>
              </a:lnSpc>
              <a:spcBef>
                <a:spcPts val="0"/>
              </a:spcBef>
              <a:buNone/>
            </a:pPr>
            <a:r>
              <a:rPr lang="zh-CN" altLang="en-US" sz="2000" dirty="0">
                <a:latin typeface="楷体" panose="02010609060101010101" pitchFamily="49" charset="-122"/>
                <a:ea typeface="楷体" panose="02010609060101010101" pitchFamily="49" charset="-122"/>
              </a:rPr>
              <a:t>中，就是因为这两条指令不访问任何存储单元，所以</a:t>
            </a:r>
            <a:r>
              <a:rPr lang="en-US" altLang="zh-CN" sz="2000" dirty="0">
                <a:latin typeface="楷体" panose="02010609060101010101" pitchFamily="49" charset="-122"/>
                <a:ea typeface="楷体" panose="02010609060101010101" pitchFamily="49" charset="-122"/>
              </a:rPr>
              <a:t>R5</a:t>
            </a:r>
            <a:r>
              <a:rPr lang="zh-CN" altLang="en-US" sz="2000" dirty="0">
                <a:latin typeface="楷体" panose="02010609060101010101" pitchFamily="49" charset="-122"/>
                <a:ea typeface="楷体" panose="02010609060101010101" pitchFamily="49" charset="-122"/>
              </a:rPr>
              <a:t>及</a:t>
            </a:r>
            <a:r>
              <a:rPr lang="en-US" altLang="zh-CN" sz="2000" dirty="0">
                <a:latin typeface="楷体" panose="02010609060101010101" pitchFamily="49" charset="-122"/>
                <a:ea typeface="楷体" panose="02010609060101010101" pitchFamily="49" charset="-122"/>
              </a:rPr>
              <a:t>R6</a:t>
            </a:r>
            <a:r>
              <a:rPr lang="zh-CN" altLang="en-US" sz="2000" dirty="0">
                <a:latin typeface="楷体" panose="02010609060101010101" pitchFamily="49" charset="-122"/>
                <a:ea typeface="楷体" panose="02010609060101010101" pitchFamily="49" charset="-122"/>
              </a:rPr>
              <a:t>的高</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位</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将要送至控制部件的</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有二进制码指令，而低</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位</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代表数据存放的存储地址</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可以随意。</a:t>
            </a:r>
          </a:p>
        </p:txBody>
      </p:sp>
      <p:sp>
        <p:nvSpPr>
          <p:cNvPr id="45061" name="椭圆 4"/>
          <p:cNvSpPr>
            <a:spLocks noChangeArrowheads="1"/>
          </p:cNvSpPr>
          <p:nvPr/>
        </p:nvSpPr>
        <p:spPr bwMode="auto">
          <a:xfrm>
            <a:off x="5940425" y="692150"/>
            <a:ext cx="2303463" cy="5545138"/>
          </a:xfrm>
          <a:prstGeom prst="ellipse">
            <a:avLst/>
          </a:prstGeom>
          <a:noFill/>
          <a:ln w="63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extLst>
      <p:ext uri="{BB962C8B-B14F-4D97-AF65-F5344CB8AC3E}">
        <p14:creationId xmlns:p14="http://schemas.microsoft.com/office/powerpoint/2010/main" val="3325370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subTitle" idx="4294967295"/>
          </p:nvPr>
        </p:nvSpPr>
        <p:spPr bwMode="auto">
          <a:xfrm>
            <a:off x="235073" y="1154097"/>
            <a:ext cx="8534400" cy="545532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r>
              <a:rPr lang="zh-CN" altLang="en-US" sz="2000" dirty="0">
                <a:latin typeface="楷体" panose="02010609060101010101" pitchFamily="49" charset="-122"/>
                <a:ea typeface="楷体" panose="02010609060101010101" pitchFamily="49" charset="-122"/>
              </a:rPr>
              <a:t>    </a:t>
            </a:r>
            <a:r>
              <a:rPr lang="zh-CN" altLang="en-US" sz="2000" dirty="0">
                <a:solidFill>
                  <a:srgbClr val="FF0000"/>
                </a:solidFill>
                <a:latin typeface="楷体" panose="02010609060101010101" pitchFamily="49" charset="-122"/>
                <a:ea typeface="楷体" panose="02010609060101010101" pitchFamily="49" charset="-122"/>
              </a:rPr>
              <a:t>例题</a:t>
            </a:r>
            <a:r>
              <a:rPr lang="zh-CN" altLang="en-US" sz="2000" dirty="0">
                <a:latin typeface="楷体" panose="02010609060101010101" pitchFamily="49" charset="-122"/>
                <a:ea typeface="楷体" panose="02010609060101010101" pitchFamily="49" charset="-122"/>
              </a:rPr>
              <a:t>：在输入这些数据之后要求演算：</a:t>
            </a:r>
          </a:p>
          <a:p>
            <a:pPr marL="0" indent="0">
              <a:lnSpc>
                <a:spcPct val="140000"/>
              </a:lnSpc>
              <a:spcBef>
                <a:spcPts val="0"/>
              </a:spcBef>
              <a:buNone/>
            </a:pP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D=16+20+24+28-32=?</a:t>
            </a:r>
          </a:p>
          <a:p>
            <a:pPr marL="0" indent="0">
              <a:lnSpc>
                <a:spcPct val="140000"/>
              </a:lnSpc>
              <a:spcBef>
                <a:spcPts val="0"/>
              </a:spcBef>
              <a:buNone/>
            </a:pPr>
            <a:r>
              <a:rPr lang="zh-CN" altLang="en-US" sz="2000" dirty="0">
                <a:latin typeface="楷体" panose="02010609060101010101" pitchFamily="49" charset="-122"/>
                <a:ea typeface="楷体" panose="02010609060101010101" pitchFamily="49" charset="-122"/>
              </a:rPr>
              <a:t>    在前面例题的计算程序设计好，并输入至</a:t>
            </a:r>
            <a:r>
              <a:rPr lang="en-US" altLang="zh-CN" sz="2000" dirty="0">
                <a:latin typeface="楷体" panose="02010609060101010101" pitchFamily="49" charset="-122"/>
                <a:ea typeface="楷体" panose="02010609060101010101" pitchFamily="49" charset="-122"/>
              </a:rPr>
              <a:t>PROM</a:t>
            </a:r>
            <a:r>
              <a:rPr lang="zh-CN" altLang="en-US" sz="2000" dirty="0">
                <a:latin typeface="楷体" panose="02010609060101010101" pitchFamily="49" charset="-122"/>
                <a:ea typeface="楷体" panose="02010609060101010101" pitchFamily="49" charset="-122"/>
              </a:rPr>
              <a:t>之后，就可以开始执行程序了。步骤如下：</a:t>
            </a:r>
            <a:endParaRPr lang="en-US" altLang="zh-CN" sz="2000" dirty="0">
              <a:latin typeface="楷体" panose="02010609060101010101" pitchFamily="49" charset="-122"/>
              <a:ea typeface="楷体" panose="02010609060101010101" pitchFamily="49" charset="-122"/>
            </a:endParaRPr>
          </a:p>
          <a:p>
            <a:pPr marL="0" indent="0">
              <a:lnSpc>
                <a:spcPct val="140000"/>
              </a:lnSpc>
              <a:spcBef>
                <a:spcPts val="0"/>
              </a:spcBef>
              <a:buNone/>
            </a:pPr>
            <a:r>
              <a:rPr lang="zh-CN" altLang="en-US" sz="2000" dirty="0">
                <a:solidFill>
                  <a:srgbClr val="003399"/>
                </a:solidFill>
                <a:latin typeface="楷体" panose="02010609060101010101" pitchFamily="49" charset="-122"/>
                <a:ea typeface="楷体" panose="02010609060101010101" pitchFamily="49" charset="-122"/>
              </a:rPr>
              <a:t>（</a:t>
            </a:r>
            <a:r>
              <a:rPr lang="en-US" altLang="zh-CN" sz="2000" dirty="0">
                <a:solidFill>
                  <a:srgbClr val="003399"/>
                </a:solidFill>
                <a:latin typeface="楷体" panose="02010609060101010101" pitchFamily="49" charset="-122"/>
                <a:ea typeface="楷体" panose="02010609060101010101" pitchFamily="49" charset="-122"/>
              </a:rPr>
              <a:t>1</a:t>
            </a:r>
            <a:r>
              <a:rPr lang="zh-CN" altLang="en-US" sz="2000" dirty="0">
                <a:solidFill>
                  <a:srgbClr val="003399"/>
                </a:solidFill>
                <a:latin typeface="楷体" panose="02010609060101010101" pitchFamily="49" charset="-122"/>
                <a:ea typeface="楷体" panose="02010609060101010101" pitchFamily="49" charset="-122"/>
              </a:rPr>
              <a:t>）先使计算机复位：</a:t>
            </a:r>
            <a:r>
              <a:rPr lang="zh-CN" altLang="en-US" sz="2000" dirty="0">
                <a:latin typeface="楷体" panose="02010609060101010101" pitchFamily="49" charset="-122"/>
                <a:ea typeface="楷体" panose="02010609060101010101" pitchFamily="49" charset="-122"/>
              </a:rPr>
              <a:t>此时控制器先发出一个</a:t>
            </a:r>
            <a:r>
              <a:rPr lang="en-US" altLang="zh-CN" sz="2000" dirty="0">
                <a:latin typeface="楷体" panose="02010609060101010101" pitchFamily="49" charset="-122"/>
                <a:ea typeface="楷体" panose="02010609060101010101" pitchFamily="49" charset="-122"/>
              </a:rPr>
              <a:t>CLR</a:t>
            </a:r>
            <a:r>
              <a:rPr lang="zh-CN" altLang="en-US" sz="2000" dirty="0">
                <a:latin typeface="楷体" panose="02010609060101010101" pitchFamily="49" charset="-122"/>
                <a:ea typeface="楷体" panose="02010609060101010101" pitchFamily="49" charset="-122"/>
              </a:rPr>
              <a:t>为高电位的脉冲，同时时钟脉冲开始工作，即发出脉冲电压系列到各个部件去。</a:t>
            </a:r>
            <a:endParaRPr lang="en-US" altLang="zh-CN" sz="2000" dirty="0">
              <a:latin typeface="楷体" panose="02010609060101010101" pitchFamily="49" charset="-122"/>
              <a:ea typeface="楷体" panose="02010609060101010101" pitchFamily="49" charset="-122"/>
            </a:endParaRPr>
          </a:p>
          <a:p>
            <a:pPr marL="0" indent="0">
              <a:lnSpc>
                <a:spcPct val="140000"/>
              </a:lnSpc>
              <a:spcBef>
                <a:spcPts val="0"/>
              </a:spcBef>
              <a:buNone/>
            </a:pPr>
            <a:r>
              <a:rPr lang="zh-CN" altLang="en-US" sz="2000" dirty="0">
                <a:solidFill>
                  <a:srgbClr val="003399"/>
                </a:solidFill>
                <a:latin typeface="楷体" panose="02010609060101010101" pitchFamily="49" charset="-122"/>
                <a:ea typeface="楷体" panose="02010609060101010101" pitchFamily="49" charset="-122"/>
              </a:rPr>
              <a:t>（</a:t>
            </a:r>
            <a:r>
              <a:rPr lang="en-US" altLang="zh-CN" sz="2000" dirty="0">
                <a:solidFill>
                  <a:srgbClr val="003399"/>
                </a:solidFill>
                <a:latin typeface="楷体" panose="02010609060101010101" pitchFamily="49" charset="-122"/>
                <a:ea typeface="楷体" panose="02010609060101010101" pitchFamily="49" charset="-122"/>
              </a:rPr>
              <a:t>2</a:t>
            </a:r>
            <a:r>
              <a:rPr lang="zh-CN" altLang="en-US" sz="2000" dirty="0">
                <a:solidFill>
                  <a:srgbClr val="003399"/>
                </a:solidFill>
                <a:latin typeface="楷体" panose="02010609060101010101" pitchFamily="49" charset="-122"/>
                <a:ea typeface="楷体" panose="02010609060101010101" pitchFamily="49" charset="-122"/>
              </a:rPr>
              <a:t>）控制部件发出控制字：</a:t>
            </a:r>
            <a:r>
              <a:rPr lang="en-US" altLang="zh-CN" sz="2000" dirty="0">
                <a:latin typeface="楷体" panose="02010609060101010101" pitchFamily="49" charset="-122"/>
                <a:ea typeface="楷体" panose="02010609060101010101" pitchFamily="49" charset="-122"/>
              </a:rPr>
              <a:t>CLK</a:t>
            </a:r>
            <a:r>
              <a:rPr lang="zh-CN" altLang="en-US" sz="2000" dirty="0">
                <a:latin typeface="楷体" panose="02010609060101010101" pitchFamily="49" charset="-122"/>
                <a:ea typeface="楷体" panose="02010609060101010101" pitchFamily="49" charset="-122"/>
              </a:rPr>
              <a:t>脉冲起到指挥各部件的同步运行的作用，但究竟每个脉冲发出后，哪些部件应起响应作用，这就得</a:t>
            </a:r>
            <a:r>
              <a:rPr lang="zh-CN" altLang="en-US" sz="2000" dirty="0">
                <a:solidFill>
                  <a:srgbClr val="FF0000"/>
                </a:solidFill>
                <a:latin typeface="楷体" panose="02010609060101010101" pitchFamily="49" charset="-122"/>
                <a:ea typeface="楷体" panose="02010609060101010101" pitchFamily="49" charset="-122"/>
              </a:rPr>
              <a:t>由控制部件的控制字来决定</a:t>
            </a:r>
            <a:r>
              <a:rPr lang="zh-CN" altLang="en-US" sz="2000" dirty="0">
                <a:latin typeface="楷体" panose="02010609060101010101" pitchFamily="49" charset="-122"/>
                <a:ea typeface="楷体" panose="02010609060101010101" pitchFamily="49" charset="-122"/>
              </a:rPr>
              <a:t>了。关于控制字的产生和每一指令的执行过程，将在下两节详加介绍。这里只是将上例执行过程中间结果表列出来。这样可以看到每执行一条指令后，累加器</a:t>
            </a:r>
            <a:r>
              <a:rPr lang="en-US" altLang="zh-CN" sz="2000" dirty="0">
                <a:latin typeface="楷体" panose="02010609060101010101" pitchFamily="49" charset="-122"/>
                <a:ea typeface="楷体" panose="02010609060101010101" pitchFamily="49" charset="-122"/>
              </a:rPr>
              <a:t>A</a:t>
            </a:r>
            <a:r>
              <a:rPr lang="zh-CN" altLang="en-US" sz="2000" dirty="0">
                <a:latin typeface="楷体" panose="02010609060101010101" pitchFamily="49" charset="-122"/>
                <a:ea typeface="楷体" panose="02010609060101010101" pitchFamily="49" charset="-122"/>
              </a:rPr>
              <a:t>中存放的数据：</a:t>
            </a:r>
          </a:p>
        </p:txBody>
      </p:sp>
    </p:spTree>
    <p:extLst>
      <p:ext uri="{BB962C8B-B14F-4D97-AF65-F5344CB8AC3E}">
        <p14:creationId xmlns:p14="http://schemas.microsoft.com/office/powerpoint/2010/main" val="2930042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subTitle" idx="4294967295"/>
          </p:nvPr>
        </p:nvSpPr>
        <p:spPr bwMode="auto">
          <a:xfrm>
            <a:off x="1958635" y="354797"/>
            <a:ext cx="6352158" cy="33131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85000" lnSpcReduction="20000"/>
          </a:bodyPr>
          <a:lstStyle/>
          <a:p>
            <a:pPr indent="0" eaLnBrk="1" hangingPunct="1">
              <a:lnSpc>
                <a:spcPct val="90000"/>
              </a:lnSpc>
              <a:buFontTx/>
              <a:buNone/>
            </a:pPr>
            <a:r>
              <a:rPr lang="zh-CN" altLang="en-US" sz="2200" dirty="0"/>
              <a:t>执行　</a:t>
            </a:r>
            <a:r>
              <a:rPr lang="en-US" altLang="zh-CN" sz="2200" dirty="0"/>
              <a:t>LDA</a:t>
            </a:r>
            <a:r>
              <a:rPr lang="zh-CN" altLang="en-US" sz="2200" dirty="0"/>
              <a:t>　 </a:t>
            </a:r>
            <a:r>
              <a:rPr lang="en-US" altLang="zh-CN" sz="2200" dirty="0"/>
              <a:t>9H</a:t>
            </a:r>
            <a:r>
              <a:rPr lang="zh-CN" altLang="en-US" sz="2200" dirty="0"/>
              <a:t>　后　</a:t>
            </a:r>
            <a:r>
              <a:rPr lang="en-US" altLang="zh-CN" sz="2200" dirty="0"/>
              <a:t>A=0001</a:t>
            </a:r>
            <a:r>
              <a:rPr lang="zh-CN" altLang="en-US" sz="2200" dirty="0"/>
              <a:t>　</a:t>
            </a:r>
            <a:r>
              <a:rPr lang="en-US" altLang="zh-CN" sz="2200" dirty="0"/>
              <a:t>0000</a:t>
            </a:r>
            <a:r>
              <a:rPr lang="zh-CN" altLang="en-US" sz="2200" dirty="0"/>
              <a:t>［</a:t>
            </a:r>
            <a:r>
              <a:rPr lang="en-US" altLang="zh-CN" sz="2200" dirty="0"/>
              <a:t>16</a:t>
            </a:r>
            <a:r>
              <a:rPr lang="en-US" altLang="zh-CN" sz="2200" baseline="-25000" dirty="0"/>
              <a:t>(10)</a:t>
            </a:r>
            <a:r>
              <a:rPr lang="zh-CN" altLang="en-US" sz="2200" dirty="0"/>
              <a:t>］</a:t>
            </a:r>
          </a:p>
          <a:p>
            <a:pPr indent="0" eaLnBrk="1" hangingPunct="1">
              <a:lnSpc>
                <a:spcPct val="90000"/>
              </a:lnSpc>
              <a:buFontTx/>
              <a:buNone/>
            </a:pPr>
            <a:r>
              <a:rPr lang="zh-CN" altLang="en-US" sz="2200" dirty="0"/>
              <a:t>执行　</a:t>
            </a:r>
            <a:r>
              <a:rPr lang="en-US" altLang="zh-CN" sz="2200" dirty="0"/>
              <a:t>ADD</a:t>
            </a:r>
            <a:r>
              <a:rPr lang="zh-CN" altLang="en-US" sz="2200" dirty="0"/>
              <a:t>　</a:t>
            </a:r>
            <a:r>
              <a:rPr lang="en-US" altLang="zh-CN" sz="2200" dirty="0"/>
              <a:t>AH</a:t>
            </a:r>
            <a:r>
              <a:rPr lang="zh-CN" altLang="en-US" sz="2200" dirty="0"/>
              <a:t>　后　</a:t>
            </a:r>
            <a:r>
              <a:rPr lang="en-US" altLang="zh-CN" sz="2200" dirty="0"/>
              <a:t>A=0010</a:t>
            </a:r>
            <a:r>
              <a:rPr lang="zh-CN" altLang="en-US" sz="2200" dirty="0"/>
              <a:t>　</a:t>
            </a:r>
            <a:r>
              <a:rPr lang="en-US" altLang="zh-CN" sz="2200" dirty="0"/>
              <a:t>0100</a:t>
            </a:r>
            <a:r>
              <a:rPr lang="zh-CN" altLang="en-US" sz="2200" dirty="0"/>
              <a:t>［</a:t>
            </a:r>
            <a:r>
              <a:rPr lang="en-US" altLang="zh-CN" sz="2200" dirty="0"/>
              <a:t>36</a:t>
            </a:r>
            <a:r>
              <a:rPr lang="en-US" altLang="zh-CN" sz="2200" baseline="-25000" dirty="0"/>
              <a:t>(10)</a:t>
            </a:r>
            <a:r>
              <a:rPr lang="zh-CN" altLang="en-US" sz="2200" dirty="0"/>
              <a:t>］</a:t>
            </a:r>
          </a:p>
          <a:p>
            <a:pPr indent="0" eaLnBrk="1" hangingPunct="1">
              <a:lnSpc>
                <a:spcPct val="90000"/>
              </a:lnSpc>
              <a:buFontTx/>
              <a:buNone/>
            </a:pPr>
            <a:r>
              <a:rPr lang="zh-CN" altLang="en-US" sz="2200" dirty="0"/>
              <a:t>执行　</a:t>
            </a:r>
            <a:r>
              <a:rPr lang="en-US" altLang="zh-CN" sz="2200" dirty="0"/>
              <a:t>ADD</a:t>
            </a:r>
            <a:r>
              <a:rPr lang="zh-CN" altLang="en-US" sz="2200" dirty="0"/>
              <a:t>　</a:t>
            </a:r>
            <a:r>
              <a:rPr lang="en-US" altLang="zh-CN" sz="2200" dirty="0"/>
              <a:t>BH</a:t>
            </a:r>
            <a:r>
              <a:rPr lang="zh-CN" altLang="en-US" sz="2200" dirty="0"/>
              <a:t>　后　</a:t>
            </a:r>
            <a:r>
              <a:rPr lang="en-US" altLang="zh-CN" sz="2200" dirty="0"/>
              <a:t>A=0011</a:t>
            </a:r>
            <a:r>
              <a:rPr lang="zh-CN" altLang="en-US" sz="2200" dirty="0"/>
              <a:t>　</a:t>
            </a:r>
            <a:r>
              <a:rPr lang="en-US" altLang="zh-CN" sz="2200" dirty="0"/>
              <a:t>1100</a:t>
            </a:r>
            <a:r>
              <a:rPr lang="zh-CN" altLang="en-US" sz="2200" dirty="0"/>
              <a:t>［</a:t>
            </a:r>
            <a:r>
              <a:rPr lang="en-US" altLang="zh-CN" sz="2200" dirty="0"/>
              <a:t>60</a:t>
            </a:r>
            <a:r>
              <a:rPr lang="en-US" altLang="zh-CN" sz="2200" baseline="-25000" dirty="0"/>
              <a:t>(10)</a:t>
            </a:r>
            <a:r>
              <a:rPr lang="zh-CN" altLang="en-US" sz="2200" dirty="0"/>
              <a:t>］</a:t>
            </a:r>
          </a:p>
          <a:p>
            <a:pPr indent="0" eaLnBrk="1" hangingPunct="1">
              <a:lnSpc>
                <a:spcPct val="90000"/>
              </a:lnSpc>
              <a:buFontTx/>
              <a:buNone/>
            </a:pPr>
            <a:r>
              <a:rPr lang="zh-CN" altLang="en-US" sz="2200" dirty="0"/>
              <a:t>执行　</a:t>
            </a:r>
            <a:r>
              <a:rPr lang="en-US" altLang="zh-CN" sz="2200" dirty="0"/>
              <a:t>ADD</a:t>
            </a:r>
            <a:r>
              <a:rPr lang="zh-CN" altLang="en-US" sz="2200" dirty="0"/>
              <a:t>　</a:t>
            </a:r>
            <a:r>
              <a:rPr lang="en-US" altLang="zh-CN" sz="2200" dirty="0"/>
              <a:t>CH</a:t>
            </a:r>
            <a:r>
              <a:rPr lang="zh-CN" altLang="en-US" sz="2200" dirty="0"/>
              <a:t>　后　</a:t>
            </a:r>
            <a:r>
              <a:rPr lang="en-US" altLang="zh-CN" sz="2200" dirty="0"/>
              <a:t>A=0101</a:t>
            </a:r>
            <a:r>
              <a:rPr lang="zh-CN" altLang="en-US" sz="2200" dirty="0"/>
              <a:t>　</a:t>
            </a:r>
            <a:r>
              <a:rPr lang="en-US" altLang="zh-CN" sz="2200" dirty="0"/>
              <a:t>1000</a:t>
            </a:r>
            <a:r>
              <a:rPr lang="zh-CN" altLang="en-US" sz="2200" dirty="0"/>
              <a:t>［</a:t>
            </a:r>
            <a:r>
              <a:rPr lang="en-US" altLang="zh-CN" sz="2200" dirty="0"/>
              <a:t>88</a:t>
            </a:r>
            <a:r>
              <a:rPr lang="en-US" altLang="zh-CN" sz="2200" baseline="-25000" dirty="0"/>
              <a:t>(10)</a:t>
            </a:r>
            <a:r>
              <a:rPr lang="zh-CN" altLang="en-US" sz="2200" dirty="0"/>
              <a:t>］</a:t>
            </a:r>
          </a:p>
          <a:p>
            <a:pPr indent="0" eaLnBrk="1" hangingPunct="1">
              <a:lnSpc>
                <a:spcPct val="90000"/>
              </a:lnSpc>
              <a:buFontTx/>
              <a:buNone/>
            </a:pPr>
            <a:r>
              <a:rPr lang="zh-CN" altLang="en-US" sz="2200" dirty="0"/>
              <a:t>执行　</a:t>
            </a:r>
            <a:r>
              <a:rPr lang="en-US" altLang="zh-CN" sz="2200" dirty="0"/>
              <a:t>SUB</a:t>
            </a:r>
            <a:r>
              <a:rPr lang="zh-CN" altLang="en-US" sz="2200" dirty="0"/>
              <a:t>　 </a:t>
            </a:r>
            <a:r>
              <a:rPr lang="en-US" altLang="zh-CN" sz="2200" dirty="0"/>
              <a:t>DH</a:t>
            </a:r>
            <a:r>
              <a:rPr lang="zh-CN" altLang="en-US" sz="2200" dirty="0"/>
              <a:t>　后　</a:t>
            </a:r>
            <a:r>
              <a:rPr lang="en-US" altLang="zh-CN" sz="2200" dirty="0"/>
              <a:t>A=0011</a:t>
            </a:r>
            <a:r>
              <a:rPr lang="zh-CN" altLang="en-US" sz="2200" dirty="0"/>
              <a:t>　</a:t>
            </a:r>
            <a:r>
              <a:rPr lang="en-US" altLang="zh-CN" sz="2200" dirty="0"/>
              <a:t>1000</a:t>
            </a:r>
            <a:r>
              <a:rPr lang="zh-CN" altLang="en-US" sz="2200" dirty="0"/>
              <a:t>［</a:t>
            </a:r>
            <a:r>
              <a:rPr lang="en-US" altLang="zh-CN" sz="2200" dirty="0"/>
              <a:t>56</a:t>
            </a:r>
            <a:r>
              <a:rPr lang="en-US" altLang="zh-CN" sz="2200" baseline="-25000" dirty="0"/>
              <a:t>(10)</a:t>
            </a:r>
            <a:r>
              <a:rPr lang="zh-CN" altLang="en-US" sz="2200" dirty="0"/>
              <a:t>］</a:t>
            </a:r>
          </a:p>
          <a:p>
            <a:pPr indent="0" eaLnBrk="1" hangingPunct="1">
              <a:lnSpc>
                <a:spcPct val="90000"/>
              </a:lnSpc>
              <a:buFontTx/>
              <a:buNone/>
            </a:pPr>
            <a:r>
              <a:rPr lang="zh-CN" altLang="en-US" sz="2200" dirty="0"/>
              <a:t>执行　</a:t>
            </a:r>
            <a:r>
              <a:rPr lang="en-US" altLang="zh-CN" sz="2200" dirty="0"/>
              <a:t>OUT</a:t>
            </a:r>
            <a:r>
              <a:rPr lang="zh-CN" altLang="en-US" sz="2200" dirty="0"/>
              <a:t>　　　  后    </a:t>
            </a:r>
            <a:r>
              <a:rPr lang="en-US" altLang="zh-CN" sz="2200" dirty="0"/>
              <a:t>D=0011    1000</a:t>
            </a:r>
            <a:r>
              <a:rPr lang="zh-CN" altLang="en-US" sz="2200" dirty="0"/>
              <a:t>［</a:t>
            </a:r>
            <a:r>
              <a:rPr lang="en-US" altLang="zh-CN" sz="2200" dirty="0"/>
              <a:t>56</a:t>
            </a:r>
            <a:r>
              <a:rPr lang="en-US" altLang="zh-CN" sz="2200" baseline="-25000" dirty="0"/>
              <a:t>(10)</a:t>
            </a:r>
            <a:r>
              <a:rPr lang="zh-CN" altLang="en-US" sz="2200" dirty="0"/>
              <a:t>］</a:t>
            </a:r>
          </a:p>
          <a:p>
            <a:pPr indent="0" eaLnBrk="1" hangingPunct="1">
              <a:lnSpc>
                <a:spcPct val="90000"/>
              </a:lnSpc>
              <a:buFontTx/>
              <a:buNone/>
            </a:pPr>
            <a:r>
              <a:rPr lang="zh-CN" altLang="en-US" sz="2200" dirty="0"/>
              <a:t>执行　</a:t>
            </a:r>
            <a:r>
              <a:rPr lang="en-US" altLang="zh-CN" sz="2200" dirty="0"/>
              <a:t>HLT</a:t>
            </a:r>
            <a:r>
              <a:rPr lang="zh-CN" altLang="en-US" sz="2200" dirty="0"/>
              <a:t>　　　  后　</a:t>
            </a:r>
            <a:r>
              <a:rPr lang="en-US" altLang="zh-CN" sz="2200" dirty="0"/>
              <a:t>D=0011</a:t>
            </a:r>
            <a:r>
              <a:rPr lang="zh-CN" altLang="en-US" sz="2200" dirty="0"/>
              <a:t>　</a:t>
            </a:r>
            <a:r>
              <a:rPr lang="en-US" altLang="zh-CN" sz="2200" dirty="0"/>
              <a:t>1000(</a:t>
            </a:r>
            <a:r>
              <a:rPr lang="zh-CN" altLang="en-US" sz="2200" dirty="0"/>
              <a:t>不变</a:t>
            </a:r>
            <a:r>
              <a:rPr lang="en-US" altLang="zh-CN" sz="2200" dirty="0"/>
              <a:t>)</a:t>
            </a:r>
          </a:p>
          <a:p>
            <a:pPr indent="0" eaLnBrk="1" hangingPunct="1">
              <a:lnSpc>
                <a:spcPct val="160000"/>
              </a:lnSpc>
              <a:buFontTx/>
              <a:buNone/>
            </a:pPr>
            <a:r>
              <a:rPr lang="zh-CN" altLang="en-US" sz="2200" dirty="0">
                <a:latin typeface="楷体" panose="02010609060101010101" pitchFamily="49" charset="-122"/>
                <a:ea typeface="楷体" panose="02010609060101010101" pitchFamily="49" charset="-122"/>
              </a:rPr>
              <a:t>    执行</a:t>
            </a:r>
            <a:r>
              <a:rPr lang="en-US" altLang="zh-CN" sz="2200" dirty="0">
                <a:latin typeface="楷体" panose="02010609060101010101" pitchFamily="49" charset="-122"/>
                <a:ea typeface="楷体" panose="02010609060101010101" pitchFamily="49" charset="-122"/>
              </a:rPr>
              <a:t>HLT(</a:t>
            </a:r>
            <a:r>
              <a:rPr lang="zh-CN" altLang="en-US" sz="2200" dirty="0">
                <a:latin typeface="楷体" panose="02010609060101010101" pitchFamily="49" charset="-122"/>
                <a:ea typeface="楷体" panose="02010609060101010101" pitchFamily="49" charset="-122"/>
              </a:rPr>
              <a:t>停机</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指令后，电源并不切断，只是</a:t>
            </a:r>
            <a:r>
              <a:rPr lang="en-US" altLang="zh-CN" sz="2200" dirty="0">
                <a:latin typeface="楷体" panose="02010609060101010101" pitchFamily="49" charset="-122"/>
                <a:ea typeface="楷体" panose="02010609060101010101" pitchFamily="49" charset="-122"/>
              </a:rPr>
              <a:t>CLK</a:t>
            </a:r>
            <a:r>
              <a:rPr lang="zh-CN" altLang="en-US" sz="2200" dirty="0">
                <a:latin typeface="楷体" panose="02010609060101010101" pitchFamily="49" charset="-122"/>
                <a:ea typeface="楷体" panose="02010609060101010101" pitchFamily="49" charset="-122"/>
              </a:rPr>
              <a:t>停发脉冲，所以显示器</a:t>
            </a:r>
            <a:r>
              <a:rPr lang="en-US" altLang="zh-CN" sz="2200" dirty="0">
                <a:latin typeface="楷体" panose="02010609060101010101" pitchFamily="49" charset="-122"/>
                <a:ea typeface="楷体" panose="02010609060101010101" pitchFamily="49" charset="-122"/>
              </a:rPr>
              <a:t>D</a:t>
            </a:r>
            <a:r>
              <a:rPr lang="zh-CN" altLang="en-US" sz="2200" dirty="0">
                <a:latin typeface="楷体" panose="02010609060101010101" pitchFamily="49" charset="-122"/>
                <a:ea typeface="楷体" panose="02010609060101010101" pitchFamily="49" charset="-122"/>
              </a:rPr>
              <a:t>上仍旧显示出计算结果。</a:t>
            </a:r>
          </a:p>
        </p:txBody>
      </p:sp>
      <p:sp>
        <p:nvSpPr>
          <p:cNvPr id="3" name="Rectangle 2">
            <a:extLst>
              <a:ext uri="{FF2B5EF4-FFF2-40B4-BE49-F238E27FC236}">
                <a16:creationId xmlns:a16="http://schemas.microsoft.com/office/drawing/2014/main" id="{A43FB41B-38C7-49E0-AE86-9DBD72B16417}"/>
              </a:ext>
            </a:extLst>
          </p:cNvPr>
          <p:cNvSpPr txBox="1">
            <a:spLocks noChangeArrowheads="1"/>
          </p:cNvSpPr>
          <p:nvPr/>
        </p:nvSpPr>
        <p:spPr>
          <a:xfrm>
            <a:off x="1958635" y="3792614"/>
            <a:ext cx="6335697" cy="2592388"/>
          </a:xfrm>
          <a:prstGeom prst="rect">
            <a:avLst/>
          </a:prstGeom>
          <a:noFill/>
        </p:spPr>
        <p:txBody>
          <a:bodyPr/>
          <a:lstStyle/>
          <a:p>
            <a:pPr marL="342900" eaLnBrk="1" hangingPunct="1">
              <a:spcBef>
                <a:spcPct val="20000"/>
              </a:spcBef>
              <a:defRPr/>
            </a:pPr>
            <a:r>
              <a:rPr lang="zh-CN" altLang="en-US" sz="2200" b="1" kern="0" dirty="0">
                <a:solidFill>
                  <a:srgbClr val="00B0F0"/>
                </a:solidFill>
                <a:latin typeface="+mn-lt"/>
                <a:ea typeface="+mn-ea"/>
              </a:rPr>
              <a:t>源程序　　    目的程序　     　    存储单元</a:t>
            </a:r>
            <a:endParaRPr lang="zh-CN" altLang="en-US" sz="2200" b="1" kern="0" dirty="0">
              <a:solidFill>
                <a:srgbClr val="00B0F0"/>
              </a:solidFill>
              <a:latin typeface="宋体" pitchFamily="2" charset="-122"/>
              <a:ea typeface="+mn-ea"/>
            </a:endParaRPr>
          </a:p>
          <a:p>
            <a:pPr marL="342900" eaLnBrk="1" hangingPunct="1">
              <a:spcBef>
                <a:spcPct val="20000"/>
              </a:spcBef>
              <a:defRPr/>
            </a:pPr>
            <a:r>
              <a:rPr lang="zh-CN" altLang="en-US" sz="2200" b="1" kern="0" dirty="0">
                <a:solidFill>
                  <a:srgbClr val="00B0F0"/>
                </a:solidFill>
                <a:latin typeface="+mn-lt"/>
                <a:ea typeface="+mn-ea"/>
              </a:rPr>
              <a:t>数</a:t>
            </a:r>
            <a:r>
              <a:rPr lang="zh-CN" altLang="en-US" sz="2200" b="1" kern="0" dirty="0">
                <a:latin typeface="+mn-lt"/>
                <a:ea typeface="+mn-ea"/>
              </a:rPr>
              <a:t>　</a:t>
            </a:r>
            <a:r>
              <a:rPr lang="en-US" altLang="zh-CN" sz="2200" b="1" kern="0" dirty="0">
                <a:latin typeface="+mn-lt"/>
                <a:ea typeface="+mn-ea"/>
              </a:rPr>
              <a:t>16</a:t>
            </a:r>
            <a:r>
              <a:rPr lang="en-US" altLang="zh-CN" sz="2200" b="1" kern="0" baseline="-25000" dirty="0">
                <a:latin typeface="+mn-lt"/>
                <a:ea typeface="+mn-ea"/>
              </a:rPr>
              <a:t>10</a:t>
            </a:r>
            <a:r>
              <a:rPr lang="en-US" altLang="zh-CN" sz="2200" b="1" kern="0" dirty="0">
                <a:latin typeface="+mn-lt"/>
                <a:ea typeface="+mn-ea"/>
              </a:rPr>
              <a:t>→0  0  0  1  0  0  0  0</a:t>
            </a:r>
            <a:r>
              <a:rPr lang="zh-CN" altLang="en-US" sz="2200" b="1" kern="0" dirty="0">
                <a:latin typeface="+mn-lt"/>
                <a:ea typeface="+mn-ea"/>
              </a:rPr>
              <a:t>　　</a:t>
            </a:r>
            <a:r>
              <a:rPr lang="en-US" altLang="zh-CN" sz="2200" b="1" kern="0" dirty="0">
                <a:latin typeface="+mn-lt"/>
                <a:ea typeface="+mn-ea"/>
              </a:rPr>
              <a:t>1  0  0  1 (R9)</a:t>
            </a:r>
            <a:endParaRPr lang="en-US" altLang="zh-CN" sz="2200" b="1" kern="0" dirty="0">
              <a:latin typeface="宋体" pitchFamily="2" charset="-122"/>
              <a:ea typeface="+mn-ea"/>
            </a:endParaRPr>
          </a:p>
          <a:p>
            <a:pPr marL="342900" eaLnBrk="1" hangingPunct="1">
              <a:spcBef>
                <a:spcPct val="20000"/>
              </a:spcBef>
              <a:defRPr/>
            </a:pPr>
            <a:r>
              <a:rPr lang="zh-CN" altLang="en-US" sz="2200" b="1" kern="0" dirty="0">
                <a:latin typeface="宋体" pitchFamily="2" charset="-122"/>
                <a:ea typeface="+mn-ea"/>
              </a:rPr>
              <a:t>　　</a:t>
            </a:r>
            <a:r>
              <a:rPr lang="en-US" altLang="zh-CN" sz="2200" b="1" kern="0" dirty="0">
                <a:latin typeface="+mn-lt"/>
                <a:ea typeface="+mn-ea"/>
              </a:rPr>
              <a:t>20</a:t>
            </a:r>
            <a:r>
              <a:rPr lang="en-US" altLang="zh-CN" sz="2200" b="1" kern="0" baseline="-25000" dirty="0">
                <a:latin typeface="+mn-lt"/>
                <a:ea typeface="+mn-ea"/>
              </a:rPr>
              <a:t>10</a:t>
            </a:r>
            <a:r>
              <a:rPr lang="en-US" altLang="zh-CN" sz="2200" b="1" kern="0" dirty="0">
                <a:latin typeface="+mn-lt"/>
                <a:ea typeface="+mn-ea"/>
              </a:rPr>
              <a:t>→0  0  0  1  0  1  0  0</a:t>
            </a:r>
            <a:r>
              <a:rPr lang="zh-CN" altLang="en-US" sz="2200" b="1" kern="0" dirty="0">
                <a:latin typeface="+mn-lt"/>
                <a:ea typeface="+mn-ea"/>
              </a:rPr>
              <a:t>　　</a:t>
            </a:r>
            <a:r>
              <a:rPr lang="en-US" altLang="zh-CN" sz="2200" b="1" kern="0" dirty="0">
                <a:latin typeface="+mn-lt"/>
                <a:ea typeface="+mn-ea"/>
              </a:rPr>
              <a:t>1  0  1  0 (RA)</a:t>
            </a:r>
            <a:endParaRPr lang="en-US" altLang="zh-CN" sz="2200" b="1" kern="0" dirty="0">
              <a:latin typeface="宋体" pitchFamily="2" charset="-122"/>
              <a:ea typeface="+mn-ea"/>
            </a:endParaRPr>
          </a:p>
          <a:p>
            <a:pPr marL="342900" eaLnBrk="1" hangingPunct="1">
              <a:spcBef>
                <a:spcPct val="20000"/>
              </a:spcBef>
              <a:defRPr/>
            </a:pPr>
            <a:r>
              <a:rPr lang="zh-CN" altLang="en-US" sz="2200" b="1" kern="0" dirty="0">
                <a:solidFill>
                  <a:srgbClr val="00B0F0"/>
                </a:solidFill>
                <a:latin typeface="+mn-lt"/>
                <a:ea typeface="+mn-ea"/>
              </a:rPr>
              <a:t>据</a:t>
            </a:r>
            <a:r>
              <a:rPr lang="zh-CN" altLang="en-US" sz="2200" b="1" kern="0" dirty="0">
                <a:latin typeface="+mn-lt"/>
                <a:ea typeface="+mn-ea"/>
              </a:rPr>
              <a:t>　</a:t>
            </a:r>
            <a:r>
              <a:rPr lang="en-US" altLang="zh-CN" sz="2200" b="1" kern="0" dirty="0">
                <a:latin typeface="+mn-lt"/>
                <a:ea typeface="+mn-ea"/>
              </a:rPr>
              <a:t>24</a:t>
            </a:r>
            <a:r>
              <a:rPr lang="en-US" altLang="zh-CN" sz="2200" b="1" kern="0" baseline="-25000" dirty="0">
                <a:latin typeface="+mn-lt"/>
                <a:ea typeface="+mn-ea"/>
              </a:rPr>
              <a:t>10</a:t>
            </a:r>
            <a:r>
              <a:rPr lang="en-US" altLang="zh-CN" sz="2200" b="1" kern="0" dirty="0">
                <a:latin typeface="+mn-lt"/>
                <a:ea typeface="+mn-ea"/>
              </a:rPr>
              <a:t>→0  0  0  1  1  0  0  0</a:t>
            </a:r>
            <a:r>
              <a:rPr lang="zh-CN" altLang="en-US" sz="2200" b="1" kern="0" dirty="0">
                <a:latin typeface="+mn-lt"/>
                <a:ea typeface="+mn-ea"/>
              </a:rPr>
              <a:t>　　</a:t>
            </a:r>
            <a:r>
              <a:rPr lang="en-US" altLang="zh-CN" sz="2200" b="1" kern="0" dirty="0">
                <a:latin typeface="+mn-lt"/>
                <a:ea typeface="+mn-ea"/>
              </a:rPr>
              <a:t>1  0  1  1 (RB)</a:t>
            </a:r>
            <a:endParaRPr lang="en-US" altLang="zh-CN" sz="2200" b="1" kern="0" dirty="0">
              <a:latin typeface="宋体" pitchFamily="2" charset="-122"/>
              <a:ea typeface="+mn-ea"/>
            </a:endParaRPr>
          </a:p>
          <a:p>
            <a:pPr marL="342900" eaLnBrk="1" hangingPunct="1">
              <a:spcBef>
                <a:spcPct val="20000"/>
              </a:spcBef>
              <a:defRPr/>
            </a:pPr>
            <a:r>
              <a:rPr lang="zh-CN" altLang="en-US" sz="2200" b="1" kern="0" dirty="0">
                <a:latin typeface="宋体" pitchFamily="2" charset="-122"/>
                <a:ea typeface="+mn-ea"/>
              </a:rPr>
              <a:t>　　</a:t>
            </a:r>
            <a:r>
              <a:rPr lang="en-US" altLang="zh-CN" sz="2200" b="1" kern="0" dirty="0">
                <a:latin typeface="+mn-lt"/>
                <a:ea typeface="+mn-ea"/>
              </a:rPr>
              <a:t>28</a:t>
            </a:r>
            <a:r>
              <a:rPr lang="en-US" altLang="zh-CN" sz="2200" b="1" kern="0" baseline="-25000" dirty="0">
                <a:latin typeface="+mn-lt"/>
                <a:ea typeface="+mn-ea"/>
              </a:rPr>
              <a:t>10</a:t>
            </a:r>
            <a:r>
              <a:rPr lang="en-US" altLang="zh-CN" sz="2200" b="1" kern="0" dirty="0">
                <a:latin typeface="+mn-lt"/>
                <a:ea typeface="+mn-ea"/>
              </a:rPr>
              <a:t>→0  0  0  1  1  1  0  0</a:t>
            </a:r>
            <a:r>
              <a:rPr lang="zh-CN" altLang="en-US" sz="2200" b="1" kern="0" dirty="0">
                <a:latin typeface="+mn-lt"/>
                <a:ea typeface="+mn-ea"/>
              </a:rPr>
              <a:t>　　</a:t>
            </a:r>
            <a:r>
              <a:rPr lang="en-US" altLang="zh-CN" sz="2200" b="1" kern="0" dirty="0">
                <a:latin typeface="+mn-lt"/>
                <a:ea typeface="+mn-ea"/>
              </a:rPr>
              <a:t>1  1  0  0 (RC)</a:t>
            </a:r>
            <a:endParaRPr lang="en-US" altLang="zh-CN" sz="2200" b="1" kern="0" dirty="0">
              <a:latin typeface="宋体" pitchFamily="2" charset="-122"/>
              <a:ea typeface="+mn-ea"/>
            </a:endParaRPr>
          </a:p>
          <a:p>
            <a:pPr marL="342900" eaLnBrk="1" hangingPunct="1">
              <a:spcBef>
                <a:spcPct val="20000"/>
              </a:spcBef>
              <a:defRPr/>
            </a:pPr>
            <a:r>
              <a:rPr lang="zh-CN" altLang="en-US" sz="2200" b="1" kern="0" dirty="0">
                <a:solidFill>
                  <a:srgbClr val="00B0F0"/>
                </a:solidFill>
                <a:latin typeface="+mn-lt"/>
                <a:ea typeface="+mn-ea"/>
              </a:rPr>
              <a:t>区</a:t>
            </a:r>
            <a:r>
              <a:rPr lang="zh-CN" altLang="en-US" sz="2200" b="1" kern="0" dirty="0">
                <a:latin typeface="+mn-lt"/>
                <a:ea typeface="+mn-ea"/>
              </a:rPr>
              <a:t>　</a:t>
            </a:r>
            <a:r>
              <a:rPr lang="en-US" altLang="zh-CN" sz="2200" b="1" kern="0" dirty="0">
                <a:latin typeface="+mn-lt"/>
                <a:ea typeface="+mn-ea"/>
              </a:rPr>
              <a:t>32</a:t>
            </a:r>
            <a:r>
              <a:rPr lang="en-US" altLang="zh-CN" sz="2200" b="1" kern="0" baseline="-25000" dirty="0">
                <a:latin typeface="+mn-lt"/>
                <a:ea typeface="+mn-ea"/>
              </a:rPr>
              <a:t>10</a:t>
            </a:r>
            <a:r>
              <a:rPr lang="en-US" altLang="zh-CN" sz="2200" b="1" kern="0" dirty="0">
                <a:latin typeface="+mn-lt"/>
                <a:ea typeface="+mn-ea"/>
              </a:rPr>
              <a:t>→0  0  1  0  0  0  0  0</a:t>
            </a:r>
            <a:r>
              <a:rPr lang="zh-CN" altLang="en-US" sz="2200" b="1" kern="0" dirty="0">
                <a:latin typeface="+mn-lt"/>
                <a:ea typeface="+mn-ea"/>
              </a:rPr>
              <a:t>　　</a:t>
            </a:r>
            <a:r>
              <a:rPr lang="en-US" altLang="zh-CN" sz="2200" b="1" kern="0" dirty="0">
                <a:latin typeface="+mn-lt"/>
                <a:ea typeface="+mn-ea"/>
              </a:rPr>
              <a:t>1  1  0  1 (RD)</a:t>
            </a:r>
          </a:p>
          <a:p>
            <a:pPr marL="342900" eaLnBrk="1" hangingPunct="1">
              <a:spcBef>
                <a:spcPct val="20000"/>
              </a:spcBef>
              <a:defRPr/>
            </a:pPr>
            <a:endParaRPr lang="en-US" altLang="zh-CN" sz="2200" b="1" kern="0" dirty="0">
              <a:latin typeface="+mn-lt"/>
              <a:ea typeface="+mn-ea"/>
            </a:endParaRPr>
          </a:p>
          <a:p>
            <a:pPr marL="342900" eaLnBrk="1" hangingPunct="1">
              <a:spcBef>
                <a:spcPct val="20000"/>
              </a:spcBef>
              <a:defRPr/>
            </a:pPr>
            <a:r>
              <a:rPr lang="en-US" altLang="zh-CN" sz="2200" b="1" kern="0" dirty="0">
                <a:latin typeface="+mn-lt"/>
                <a:ea typeface="+mn-ea"/>
              </a:rPr>
              <a:t> </a:t>
            </a:r>
            <a:endParaRPr lang="zh-CN" altLang="en-US" sz="2200" b="1" kern="0" dirty="0">
              <a:latin typeface="+mn-lt"/>
              <a:ea typeface="+mn-ea"/>
            </a:endParaRPr>
          </a:p>
        </p:txBody>
      </p:sp>
    </p:spTree>
    <p:extLst>
      <p:ext uri="{BB962C8B-B14F-4D97-AF65-F5344CB8AC3E}">
        <p14:creationId xmlns:p14="http://schemas.microsoft.com/office/powerpoint/2010/main" val="1959790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4294967295"/>
          </p:nvPr>
        </p:nvSpPr>
        <p:spPr bwMode="auto">
          <a:xfrm>
            <a:off x="323850" y="1906588"/>
            <a:ext cx="8569325"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在程序和数据装入之后，启动按钮将启动信号传给控制部件</a:t>
            </a:r>
            <a:r>
              <a:rPr lang="en-US" altLang="zh-CN" sz="2400" dirty="0">
                <a:latin typeface="楷体" panose="02010609060101010101" pitchFamily="49" charset="-122"/>
                <a:ea typeface="楷体" panose="02010609060101010101" pitchFamily="49" charset="-122"/>
              </a:rPr>
              <a:t>CON</a:t>
            </a:r>
            <a:r>
              <a:rPr lang="zh-CN" altLang="en-US" sz="2400" dirty="0">
                <a:latin typeface="楷体" panose="02010609060101010101" pitchFamily="49" charset="-122"/>
                <a:ea typeface="楷体" panose="02010609060101010101" pitchFamily="49" charset="-122"/>
              </a:rPr>
              <a:t>，然后</a:t>
            </a:r>
            <a:r>
              <a:rPr lang="zh-CN" altLang="en-US" sz="2400" dirty="0">
                <a:solidFill>
                  <a:srgbClr val="FF0000"/>
                </a:solidFill>
                <a:latin typeface="楷体" panose="02010609060101010101" pitchFamily="49" charset="-122"/>
                <a:ea typeface="楷体" panose="02010609060101010101" pitchFamily="49" charset="-122"/>
              </a:rPr>
              <a:t>控制部件产生控制字</a:t>
            </a:r>
            <a:r>
              <a:rPr lang="zh-CN" altLang="en-US" sz="2400" dirty="0">
                <a:latin typeface="楷体" panose="02010609060101010101" pitchFamily="49" charset="-122"/>
                <a:ea typeface="楷体" panose="02010609060101010101" pitchFamily="49" charset="-122"/>
              </a:rPr>
              <a:t>，以便取出和执行每条指令。</a:t>
            </a: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执行一条指令的时间为一个机器周期</a:t>
            </a:r>
            <a:r>
              <a:rPr lang="zh-CN" altLang="en-US" sz="2400" dirty="0">
                <a:latin typeface="楷体" panose="02010609060101010101" pitchFamily="49" charset="-122"/>
                <a:ea typeface="楷体" panose="02010609060101010101" pitchFamily="49" charset="-122"/>
              </a:rPr>
              <a:t>。机器周期又可分为</a:t>
            </a:r>
            <a:r>
              <a:rPr lang="zh-CN" altLang="en-US" sz="2400" dirty="0">
                <a:solidFill>
                  <a:srgbClr val="FF0000"/>
                </a:solidFill>
                <a:latin typeface="楷体" panose="02010609060101010101" pitchFamily="49" charset="-122"/>
                <a:ea typeface="楷体" panose="02010609060101010101" pitchFamily="49" charset="-122"/>
              </a:rPr>
              <a:t>取指周期和执行周期</a:t>
            </a:r>
            <a:r>
              <a:rPr lang="zh-CN" altLang="en-US" sz="2400" dirty="0">
                <a:latin typeface="楷体" panose="02010609060101010101" pitchFamily="49" charset="-122"/>
                <a:ea typeface="楷体" panose="02010609060101010101" pitchFamily="49" charset="-122"/>
              </a:rPr>
              <a:t>。取指过程和执行过程机器都得</a:t>
            </a:r>
            <a:r>
              <a:rPr lang="zh-CN" altLang="en-US" sz="2400" dirty="0">
                <a:solidFill>
                  <a:srgbClr val="FF0000"/>
                </a:solidFill>
                <a:latin typeface="楷体" panose="02010609060101010101" pitchFamily="49" charset="-122"/>
                <a:ea typeface="楷体" panose="02010609060101010101" pitchFamily="49" charset="-122"/>
              </a:rPr>
              <a:t>通过不同的机器节拍</a:t>
            </a:r>
            <a:r>
              <a:rPr lang="zh-CN" altLang="en-US" sz="2400" dirty="0">
                <a:latin typeface="楷体" panose="02010609060101010101" pitchFamily="49" charset="-122"/>
                <a:ea typeface="楷体" panose="02010609060101010101" pitchFamily="49" charset="-122"/>
              </a:rPr>
              <a:t>。在这些节拍内，每个寄存器</a:t>
            </a:r>
            <a:r>
              <a:rPr lang="en-US" altLang="zh-CN" sz="2400" dirty="0">
                <a:latin typeface="楷体" panose="02010609060101010101" pitchFamily="49" charset="-122"/>
                <a:ea typeface="楷体" panose="02010609060101010101" pitchFamily="49" charset="-122"/>
              </a:rPr>
              <a:t>(PC</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MAR</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IR</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O</a:t>
            </a:r>
            <a:r>
              <a:rPr lang="zh-CN" altLang="en-US" sz="2400" dirty="0">
                <a:latin typeface="楷体" panose="02010609060101010101" pitchFamily="49" charset="-122"/>
                <a:ea typeface="楷体" panose="02010609060101010101" pitchFamily="49" charset="-122"/>
              </a:rPr>
              <a:t>等</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的内容可能发生变化。</a:t>
            </a:r>
          </a:p>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a:t>
            </a:r>
          </a:p>
          <a:p>
            <a:pPr marL="0" indent="0">
              <a:lnSpc>
                <a:spcPct val="140000"/>
              </a:lnSpc>
              <a:spcBef>
                <a:spcPts val="0"/>
              </a:spcBef>
              <a:buNone/>
            </a:pPr>
            <a:endParaRPr lang="en-US" altLang="zh-CN" sz="2400" dirty="0">
              <a:latin typeface="楷体" panose="02010609060101010101" pitchFamily="49" charset="-122"/>
              <a:ea typeface="楷体" panose="02010609060101010101" pitchFamily="49" charset="-122"/>
            </a:endParaRPr>
          </a:p>
        </p:txBody>
      </p:sp>
      <p:sp>
        <p:nvSpPr>
          <p:cNvPr id="4" name="Rectangle 2"/>
          <p:cNvSpPr txBox="1">
            <a:spLocks noChangeArrowheads="1"/>
          </p:cNvSpPr>
          <p:nvPr/>
        </p:nvSpPr>
        <p:spPr bwMode="auto">
          <a:xfrm>
            <a:off x="2867487" y="368307"/>
            <a:ext cx="4172505" cy="67944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30000"/>
              </a:lnSpc>
              <a:spcBef>
                <a:spcPts val="0"/>
              </a:spcBef>
            </a:pPr>
            <a:r>
              <a:rPr lang="en-US" altLang="zh-CN" sz="2800" dirty="0">
                <a:latin typeface="楷体" panose="02010609060101010101" pitchFamily="49" charset="-122"/>
                <a:ea typeface="楷体" panose="02010609060101010101" pitchFamily="49" charset="-122"/>
                <a:cs typeface="+mn-cs"/>
              </a:rPr>
              <a:t>3.4 </a:t>
            </a:r>
            <a:r>
              <a:rPr lang="zh-CN" altLang="en-US" sz="2800" dirty="0">
                <a:latin typeface="楷体" panose="02010609060101010101" pitchFamily="49" charset="-122"/>
                <a:ea typeface="楷体" panose="02010609060101010101" pitchFamily="49" charset="-122"/>
                <a:cs typeface="+mn-cs"/>
              </a:rPr>
              <a:t>执行指令的例行程序</a:t>
            </a:r>
          </a:p>
        </p:txBody>
      </p:sp>
    </p:spTree>
    <p:extLst>
      <p:ext uri="{BB962C8B-B14F-4D97-AF65-F5344CB8AC3E}">
        <p14:creationId xmlns:p14="http://schemas.microsoft.com/office/powerpoint/2010/main" val="1074277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4294967295"/>
          </p:nvPr>
        </p:nvSpPr>
        <p:spPr bwMode="auto">
          <a:xfrm>
            <a:off x="179388" y="1989138"/>
            <a:ext cx="8785225" cy="9350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r>
              <a:rPr lang="zh-CN" altLang="en-US" sz="2400" dirty="0">
                <a:latin typeface="楷体" panose="02010609060101010101" pitchFamily="49" charset="-122"/>
                <a:ea typeface="楷体" panose="02010609060101010101" pitchFamily="49" charset="-122"/>
              </a:rPr>
              <a:t>    在第</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章中已介绍了</a:t>
            </a:r>
            <a:r>
              <a:rPr lang="zh-CN" altLang="en-US" sz="2400" dirty="0">
                <a:solidFill>
                  <a:srgbClr val="FF0000"/>
                </a:solidFill>
                <a:latin typeface="楷体" panose="02010609060101010101" pitchFamily="49" charset="-122"/>
                <a:ea typeface="楷体" panose="02010609060101010101" pitchFamily="49" charset="-122"/>
              </a:rPr>
              <a:t>环形计数器的电路原理</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图</a:t>
            </a:r>
            <a:r>
              <a:rPr lang="en-US" altLang="zh-CN" sz="2400" dirty="0">
                <a:latin typeface="楷体" panose="02010609060101010101" pitchFamily="49" charset="-122"/>
                <a:ea typeface="楷体" panose="02010609060101010101" pitchFamily="49" charset="-122"/>
              </a:rPr>
              <a:t>2.21)</a:t>
            </a:r>
            <a:endParaRPr lang="zh-CN" altLang="en-US" sz="2400" dirty="0">
              <a:latin typeface="楷体" panose="02010609060101010101" pitchFamily="49" charset="-122"/>
              <a:ea typeface="楷体" panose="02010609060101010101" pitchFamily="49" charset="-122"/>
            </a:endParaRPr>
          </a:p>
        </p:txBody>
      </p:sp>
      <p:pic>
        <p:nvPicPr>
          <p:cNvPr id="52229" name="Picture 8" descr="图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476" y="3566356"/>
            <a:ext cx="76200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533400" y="1067540"/>
            <a:ext cx="7772400" cy="608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ts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cs typeface="+mn-cs"/>
              </a:rPr>
              <a:t>3.4.1 </a:t>
            </a:r>
            <a:r>
              <a:rPr lang="zh-CN" altLang="en-US" sz="2400" dirty="0">
                <a:latin typeface="楷体" panose="02010609060101010101" pitchFamily="49" charset="-122"/>
                <a:ea typeface="楷体" panose="02010609060101010101" pitchFamily="49" charset="-122"/>
                <a:cs typeface="+mn-cs"/>
              </a:rPr>
              <a:t>环形计数器及机器节拍</a:t>
            </a:r>
          </a:p>
        </p:txBody>
      </p:sp>
    </p:spTree>
    <p:extLst>
      <p:ext uri="{BB962C8B-B14F-4D97-AF65-F5344CB8AC3E}">
        <p14:creationId xmlns:p14="http://schemas.microsoft.com/office/powerpoint/2010/main" val="4096967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4294967295"/>
          </p:nvPr>
        </p:nvSpPr>
        <p:spPr bwMode="auto">
          <a:xfrm>
            <a:off x="266747" y="967665"/>
            <a:ext cx="8643938" cy="306543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p>
            <a:pPr marL="0" indent="0">
              <a:lnSpc>
                <a:spcPct val="140000"/>
              </a:lnSpc>
              <a:spcBef>
                <a:spcPts val="0"/>
              </a:spcBef>
              <a:buNone/>
            </a:pPr>
            <a:r>
              <a:rPr lang="zh-CN" altLang="en-US" sz="2000" dirty="0">
                <a:latin typeface="楷体" panose="02010609060101010101" pitchFamily="49" charset="-122"/>
                <a:ea typeface="楷体" panose="02010609060101010101" pitchFamily="49" charset="-122"/>
              </a:rPr>
              <a:t>    </a:t>
            </a:r>
            <a:r>
              <a:rPr lang="zh-CN" altLang="en-US" sz="2000" dirty="0">
                <a:solidFill>
                  <a:srgbClr val="003399"/>
                </a:solidFill>
                <a:latin typeface="楷体" panose="02010609060101010101" pitchFamily="49" charset="-122"/>
                <a:ea typeface="楷体" panose="02010609060101010101" pitchFamily="49" charset="-122"/>
              </a:rPr>
              <a:t>环形计数器的各位输出端</a:t>
            </a:r>
            <a:r>
              <a:rPr lang="en-US" altLang="zh-CN" sz="2000" dirty="0">
                <a:solidFill>
                  <a:srgbClr val="003399"/>
                </a:solidFill>
                <a:latin typeface="楷体" panose="02010609060101010101" pitchFamily="49" charset="-122"/>
                <a:ea typeface="楷体" panose="02010609060101010101" pitchFamily="49" charset="-122"/>
              </a:rPr>
              <a:t>Q0</a:t>
            </a:r>
            <a:r>
              <a:rPr lang="zh-CN" altLang="en-US" sz="2000" dirty="0">
                <a:solidFill>
                  <a:srgbClr val="003399"/>
                </a:solidFill>
                <a:latin typeface="楷体" panose="02010609060101010101" pitchFamily="49" charset="-122"/>
                <a:ea typeface="楷体" panose="02010609060101010101" pitchFamily="49" charset="-122"/>
              </a:rPr>
              <a:t>～</a:t>
            </a:r>
            <a:r>
              <a:rPr lang="en-US" altLang="zh-CN" sz="2000" dirty="0">
                <a:solidFill>
                  <a:srgbClr val="003399"/>
                </a:solidFill>
                <a:latin typeface="楷体" panose="02010609060101010101" pitchFamily="49" charset="-122"/>
                <a:ea typeface="楷体" panose="02010609060101010101" pitchFamily="49" charset="-122"/>
              </a:rPr>
              <a:t>Q5</a:t>
            </a:r>
            <a:r>
              <a:rPr lang="zh-CN" altLang="en-US" sz="2000" dirty="0">
                <a:solidFill>
                  <a:srgbClr val="003399"/>
                </a:solidFill>
                <a:latin typeface="楷体" panose="02010609060101010101" pitchFamily="49" charset="-122"/>
                <a:ea typeface="楷体" panose="02010609060101010101" pitchFamily="49" charset="-122"/>
              </a:rPr>
              <a:t>的电位就是机器节拍</a:t>
            </a:r>
            <a:r>
              <a:rPr lang="en-US" altLang="zh-CN" sz="2000" dirty="0">
                <a:solidFill>
                  <a:srgbClr val="003399"/>
                </a:solidFill>
                <a:latin typeface="楷体" panose="02010609060101010101" pitchFamily="49" charset="-122"/>
                <a:ea typeface="楷体" panose="02010609060101010101" pitchFamily="49" charset="-122"/>
              </a:rPr>
              <a:t>T0</a:t>
            </a:r>
            <a:r>
              <a:rPr lang="zh-CN" altLang="en-US" sz="2000" dirty="0">
                <a:solidFill>
                  <a:srgbClr val="003399"/>
                </a:solidFill>
                <a:latin typeface="楷体" panose="02010609060101010101" pitchFamily="49" charset="-122"/>
                <a:ea typeface="楷体" panose="02010609060101010101" pitchFamily="49" charset="-122"/>
              </a:rPr>
              <a:t>～</a:t>
            </a:r>
            <a:r>
              <a:rPr lang="en-US" altLang="zh-CN" sz="2000" dirty="0">
                <a:solidFill>
                  <a:srgbClr val="003399"/>
                </a:solidFill>
                <a:latin typeface="楷体" panose="02010609060101010101" pitchFamily="49" charset="-122"/>
                <a:ea typeface="楷体" panose="02010609060101010101" pitchFamily="49" charset="-122"/>
              </a:rPr>
              <a:t>T5</a:t>
            </a:r>
            <a:r>
              <a:rPr lang="zh-CN" altLang="en-US" sz="2000" dirty="0">
                <a:solidFill>
                  <a:srgbClr val="003399"/>
                </a:solidFill>
                <a:latin typeface="楷体" panose="02010609060101010101" pitchFamily="49" charset="-122"/>
                <a:ea typeface="楷体" panose="02010609060101010101" pitchFamily="49" charset="-122"/>
              </a:rPr>
              <a:t>的电位</a:t>
            </a:r>
            <a:r>
              <a:rPr lang="zh-CN" altLang="en-US" sz="2000" dirty="0">
                <a:latin typeface="楷体" panose="02010609060101010101" pitchFamily="49" charset="-122"/>
                <a:ea typeface="楷体" panose="02010609060101010101" pitchFamily="49" charset="-122"/>
              </a:rPr>
              <a:t>，书中图</a:t>
            </a:r>
            <a:r>
              <a:rPr lang="en-US" altLang="zh-CN" sz="2000" dirty="0">
                <a:latin typeface="楷体" panose="02010609060101010101" pitchFamily="49" charset="-122"/>
                <a:ea typeface="楷体" panose="02010609060101010101" pitchFamily="49" charset="-122"/>
              </a:rPr>
              <a:t>3-4</a:t>
            </a:r>
            <a:r>
              <a:rPr lang="zh-CN" altLang="en-US" sz="2000" dirty="0">
                <a:latin typeface="楷体" panose="02010609060101010101" pitchFamily="49" charset="-122"/>
                <a:ea typeface="楷体" panose="02010609060101010101" pitchFamily="49" charset="-122"/>
              </a:rPr>
              <a:t>由于</a:t>
            </a:r>
            <a:r>
              <a:rPr lang="en-US" altLang="zh-CN" sz="2000" dirty="0">
                <a:latin typeface="楷体" panose="02010609060101010101" pitchFamily="49" charset="-122"/>
                <a:ea typeface="楷体" panose="02010609060101010101" pitchFamily="49" charset="-122"/>
              </a:rPr>
              <a:t>CLK</a:t>
            </a:r>
            <a:r>
              <a:rPr lang="zh-CN" altLang="en-US" sz="2000" dirty="0">
                <a:latin typeface="楷体" panose="02010609060101010101" pitchFamily="49" charset="-122"/>
                <a:ea typeface="楷体" panose="02010609060101010101" pitchFamily="49" charset="-122"/>
              </a:rPr>
              <a:t>脉冲是经过反相器再接到环形计数器</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图中的“汽泡”表示非门</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的</a:t>
            </a:r>
            <a:r>
              <a:rPr lang="en-US" altLang="zh-CN" sz="2000" dirty="0">
                <a:latin typeface="楷体" panose="02010609060101010101" pitchFamily="49" charset="-122"/>
                <a:ea typeface="楷体" panose="02010609060101010101" pitchFamily="49" charset="-122"/>
              </a:rPr>
              <a:t>CLK</a:t>
            </a:r>
            <a:r>
              <a:rPr lang="zh-CN" altLang="en-US" sz="2000" dirty="0">
                <a:latin typeface="楷体" panose="02010609060101010101" pitchFamily="49" charset="-122"/>
                <a:ea typeface="楷体" panose="02010609060101010101" pitchFamily="49" charset="-122"/>
              </a:rPr>
              <a:t>端的，所以各节拍之间的转换是在负边缘开始的。如将环形计数器的输出看做是一个字</a:t>
            </a:r>
            <a:r>
              <a:rPr lang="en-US" altLang="zh-CN" sz="2000" dirty="0">
                <a:latin typeface="楷体" panose="02010609060101010101" pitchFamily="49" charset="-122"/>
                <a:ea typeface="楷体" panose="02010609060101010101" pitchFamily="49" charset="-122"/>
              </a:rPr>
              <a:t>T</a:t>
            </a:r>
            <a:r>
              <a:rPr lang="zh-CN" altLang="en-US" sz="2000" dirty="0">
                <a:latin typeface="楷体" panose="02010609060101010101" pitchFamily="49" charset="-122"/>
                <a:ea typeface="楷体" panose="02010609060101010101" pitchFamily="49" charset="-122"/>
              </a:rPr>
              <a:t>，则：</a:t>
            </a:r>
            <a:r>
              <a:rPr lang="en-US" altLang="zh-CN" sz="2000" dirty="0">
                <a:latin typeface="楷体" panose="02010609060101010101" pitchFamily="49" charset="-122"/>
                <a:ea typeface="楷体" panose="02010609060101010101" pitchFamily="49" charset="-122"/>
              </a:rPr>
              <a:t>T=T5T4T3T2T1T0</a:t>
            </a:r>
          </a:p>
          <a:p>
            <a:pPr marL="0" indent="0">
              <a:lnSpc>
                <a:spcPct val="140000"/>
              </a:lnSpc>
              <a:spcBef>
                <a:spcPts val="0"/>
              </a:spcBef>
              <a:buNone/>
            </a:pPr>
            <a:r>
              <a:rPr lang="zh-CN" altLang="en-US" sz="2000" dirty="0">
                <a:latin typeface="楷体" panose="02010609060101010101" pitchFamily="49" charset="-122"/>
                <a:ea typeface="楷体" panose="02010609060101010101" pitchFamily="49" charset="-122"/>
              </a:rPr>
              <a:t>    这就是一个</a:t>
            </a:r>
            <a:r>
              <a:rPr lang="en-US" altLang="zh-CN" sz="2000" dirty="0">
                <a:latin typeface="楷体" panose="02010609060101010101" pitchFamily="49" charset="-122"/>
                <a:ea typeface="楷体" panose="02010609060101010101" pitchFamily="49" charset="-122"/>
              </a:rPr>
              <a:t>6</a:t>
            </a:r>
            <a:r>
              <a:rPr lang="zh-CN" altLang="en-US" sz="2000" dirty="0">
                <a:latin typeface="楷体" panose="02010609060101010101" pitchFamily="49" charset="-122"/>
                <a:ea typeface="楷体" panose="02010609060101010101" pitchFamily="49" charset="-122"/>
              </a:rPr>
              <a:t>位的环形字。它用以控制</a:t>
            </a:r>
            <a:r>
              <a:rPr lang="en-US" altLang="zh-CN" sz="2000" dirty="0">
                <a:latin typeface="楷体" panose="02010609060101010101" pitchFamily="49" charset="-122"/>
                <a:ea typeface="楷体" panose="02010609060101010101" pitchFamily="49" charset="-122"/>
              </a:rPr>
              <a:t>6</a:t>
            </a:r>
            <a:r>
              <a:rPr lang="zh-CN" altLang="en-US" sz="2000" dirty="0">
                <a:latin typeface="楷体" panose="02010609060101010101" pitchFamily="49" charset="-122"/>
                <a:ea typeface="楷体" panose="02010609060101010101" pitchFamily="49" charset="-122"/>
              </a:rPr>
              <a:t>条电路，使它们依次轮流为高电位，</a:t>
            </a:r>
            <a:r>
              <a:rPr lang="en-US" altLang="zh-CN" sz="2000" dirty="0">
                <a:latin typeface="楷体" panose="02010609060101010101" pitchFamily="49" charset="-122"/>
                <a:ea typeface="楷体" panose="02010609060101010101" pitchFamily="49" charset="-122"/>
              </a:rPr>
              <a:t>T0</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T1</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T2</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T3</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T4</a:t>
            </a:r>
            <a:r>
              <a:rPr lang="zh-CN" altLang="en-US" sz="2000" dirty="0">
                <a:latin typeface="楷体" panose="02010609060101010101" pitchFamily="49" charset="-122"/>
                <a:ea typeface="楷体" panose="02010609060101010101" pitchFamily="49" charset="-122"/>
              </a:rPr>
              <a:t>和</a:t>
            </a:r>
            <a:r>
              <a:rPr lang="en-US" altLang="zh-CN" sz="2000" dirty="0">
                <a:latin typeface="楷体" panose="02010609060101010101" pitchFamily="49" charset="-122"/>
                <a:ea typeface="楷体" panose="02010609060101010101" pitchFamily="49" charset="-122"/>
              </a:rPr>
              <a:t>T5</a:t>
            </a:r>
            <a:r>
              <a:rPr lang="zh-CN" altLang="en-US" sz="2000" dirty="0">
                <a:latin typeface="楷体" panose="02010609060101010101" pitchFamily="49" charset="-122"/>
                <a:ea typeface="楷体" panose="02010609060101010101" pitchFamily="49" charset="-122"/>
              </a:rPr>
              <a:t>称为机器的节拍。</a:t>
            </a:r>
          </a:p>
          <a:p>
            <a:pPr marL="0" indent="0">
              <a:lnSpc>
                <a:spcPct val="140000"/>
              </a:lnSpc>
              <a:spcBef>
                <a:spcPts val="0"/>
              </a:spcBef>
              <a:buNone/>
            </a:pPr>
            <a:endParaRPr lang="zh-CN" altLang="en-US" sz="2000" dirty="0">
              <a:latin typeface="楷体" panose="02010609060101010101" pitchFamily="49" charset="-122"/>
              <a:ea typeface="楷体" panose="02010609060101010101" pitchFamily="49" charset="-122"/>
            </a:endParaRPr>
          </a:p>
        </p:txBody>
      </p:sp>
      <p:sp>
        <p:nvSpPr>
          <p:cNvPr id="53251" name="Text Box 3"/>
          <p:cNvSpPr txBox="1">
            <a:spLocks noChangeArrowheads="1"/>
          </p:cNvSpPr>
          <p:nvPr/>
        </p:nvSpPr>
        <p:spPr bwMode="auto">
          <a:xfrm>
            <a:off x="2357416" y="6397431"/>
            <a:ext cx="4394447" cy="4533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indent="0" defTabSz="914400">
              <a:lnSpc>
                <a:spcPct val="140000"/>
              </a:lnSpc>
              <a:spcBef>
                <a:spcPts val="0"/>
              </a:spcBef>
              <a:buFont typeface="Arial" panose="020B0604020202020204" pitchFamily="34" charset="0"/>
              <a:buNone/>
              <a:defRPr sz="2000">
                <a:latin typeface="楷体" panose="02010609060101010101" pitchFamily="49" charset="-122"/>
                <a:ea typeface="楷体" panose="02010609060101010101" pitchFamily="49"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t>图</a:t>
            </a:r>
            <a:r>
              <a:rPr lang="en-US" altLang="zh-CN" dirty="0"/>
              <a:t>3.4  </a:t>
            </a:r>
            <a:r>
              <a:rPr lang="zh-CN" altLang="en-US" dirty="0"/>
              <a:t>环形计数器产生的机器节拍</a:t>
            </a:r>
            <a:endParaRPr lang="en-US" altLang="zh-CN" dirty="0"/>
          </a:p>
        </p:txBody>
      </p:sp>
      <p:grpSp>
        <p:nvGrpSpPr>
          <p:cNvPr id="10" name="组合 9"/>
          <p:cNvGrpSpPr/>
          <p:nvPr/>
        </p:nvGrpSpPr>
        <p:grpSpPr>
          <a:xfrm>
            <a:off x="1613216" y="3541444"/>
            <a:ext cx="6036915" cy="2972589"/>
            <a:chOff x="1651665" y="3500854"/>
            <a:chExt cx="6036915" cy="2972589"/>
          </a:xfrm>
        </p:grpSpPr>
        <p:grpSp>
          <p:nvGrpSpPr>
            <p:cNvPr id="9" name="组合 8"/>
            <p:cNvGrpSpPr/>
            <p:nvPr/>
          </p:nvGrpSpPr>
          <p:grpSpPr>
            <a:xfrm>
              <a:off x="1651665" y="3500854"/>
              <a:ext cx="6036915" cy="2972589"/>
              <a:chOff x="1651665" y="3500854"/>
              <a:chExt cx="6036915" cy="2972589"/>
            </a:xfrm>
          </p:grpSpPr>
          <p:grpSp>
            <p:nvGrpSpPr>
              <p:cNvPr id="7" name="组合 6"/>
              <p:cNvGrpSpPr/>
              <p:nvPr/>
            </p:nvGrpSpPr>
            <p:grpSpPr>
              <a:xfrm>
                <a:off x="1651665" y="3500854"/>
                <a:ext cx="6036915" cy="2972589"/>
                <a:chOff x="1651665" y="3500854"/>
                <a:chExt cx="6036915" cy="2972589"/>
              </a:xfrm>
            </p:grpSpPr>
            <p:grpSp>
              <p:nvGrpSpPr>
                <p:cNvPr id="6" name="组合 5"/>
                <p:cNvGrpSpPr/>
                <p:nvPr/>
              </p:nvGrpSpPr>
              <p:grpSpPr>
                <a:xfrm>
                  <a:off x="1651665" y="3500854"/>
                  <a:ext cx="6036915" cy="2972589"/>
                  <a:chOff x="1651665" y="3500854"/>
                  <a:chExt cx="6036915" cy="2972589"/>
                </a:xfrm>
              </p:grpSpPr>
              <p:grpSp>
                <p:nvGrpSpPr>
                  <p:cNvPr id="4" name="组合 3"/>
                  <p:cNvGrpSpPr/>
                  <p:nvPr/>
                </p:nvGrpSpPr>
                <p:grpSpPr>
                  <a:xfrm>
                    <a:off x="1651665" y="3500854"/>
                    <a:ext cx="6036915" cy="2972589"/>
                    <a:chOff x="1651665" y="3500854"/>
                    <a:chExt cx="6036915" cy="2972589"/>
                  </a:xfrm>
                </p:grpSpPr>
                <p:pic>
                  <p:nvPicPr>
                    <p:cNvPr id="53252" name="Picture 6" descr="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665" y="3500854"/>
                      <a:ext cx="5539249" cy="2972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3"/>
                    <a:stretch>
                      <a:fillRect/>
                    </a:stretch>
                  </p:blipFill>
                  <p:spPr>
                    <a:xfrm flipH="1">
                      <a:off x="7190914" y="3505200"/>
                      <a:ext cx="497666" cy="2968243"/>
                    </a:xfrm>
                    <a:prstGeom prst="rect">
                      <a:avLst/>
                    </a:prstGeom>
                  </p:spPr>
                </p:pic>
              </p:grpSp>
              <p:pic>
                <p:nvPicPr>
                  <p:cNvPr id="5" name="图片 4"/>
                  <p:cNvPicPr>
                    <a:picLocks noChangeAspect="1"/>
                  </p:cNvPicPr>
                  <p:nvPr/>
                </p:nvPicPr>
                <p:blipFill>
                  <a:blip r:embed="rId4"/>
                  <a:stretch>
                    <a:fillRect/>
                  </a:stretch>
                </p:blipFill>
                <p:spPr>
                  <a:xfrm>
                    <a:off x="1918365" y="4325836"/>
                    <a:ext cx="5580642" cy="2103296"/>
                  </a:xfrm>
                  <a:prstGeom prst="rect">
                    <a:avLst/>
                  </a:prstGeom>
                </p:spPr>
              </p:pic>
            </p:grpSp>
            <p:sp>
              <p:nvSpPr>
                <p:cNvPr id="53253" name="椭圆 4"/>
                <p:cNvSpPr>
                  <a:spLocks noChangeArrowheads="1"/>
                </p:cNvSpPr>
                <p:nvPr/>
              </p:nvSpPr>
              <p:spPr bwMode="auto">
                <a:xfrm>
                  <a:off x="3465899" y="3573497"/>
                  <a:ext cx="142875" cy="323850"/>
                </a:xfrm>
                <a:prstGeom prst="ellipse">
                  <a:avLst/>
                </a:prstGeom>
                <a:noFill/>
                <a:ln w="63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pic>
            <p:nvPicPr>
              <p:cNvPr id="8" name="图片 7"/>
              <p:cNvPicPr>
                <a:picLocks noChangeAspect="1"/>
              </p:cNvPicPr>
              <p:nvPr/>
            </p:nvPicPr>
            <p:blipFill>
              <a:blip r:embed="rId5"/>
              <a:stretch>
                <a:fillRect/>
              </a:stretch>
            </p:blipFill>
            <p:spPr>
              <a:xfrm>
                <a:off x="1774226" y="4998042"/>
                <a:ext cx="144140" cy="244765"/>
              </a:xfrm>
              <a:prstGeom prst="rect">
                <a:avLst/>
              </a:prstGeom>
            </p:spPr>
          </p:pic>
        </p:grpSp>
        <p:pic>
          <p:nvPicPr>
            <p:cNvPr id="2" name="图片 1"/>
            <p:cNvPicPr>
              <a:picLocks noChangeAspect="1"/>
            </p:cNvPicPr>
            <p:nvPr/>
          </p:nvPicPr>
          <p:blipFill>
            <a:blip r:embed="rId6"/>
            <a:stretch>
              <a:fillRect/>
            </a:stretch>
          </p:blipFill>
          <p:spPr>
            <a:xfrm>
              <a:off x="3527812" y="3672952"/>
              <a:ext cx="45719" cy="73151"/>
            </a:xfrm>
            <a:prstGeom prst="rect">
              <a:avLst/>
            </a:prstGeom>
          </p:spPr>
        </p:pic>
      </p:grpSp>
    </p:spTree>
    <p:extLst>
      <p:ext uri="{BB962C8B-B14F-4D97-AF65-F5344CB8AC3E}">
        <p14:creationId xmlns:p14="http://schemas.microsoft.com/office/powerpoint/2010/main" val="3402962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idx="4294967295"/>
          </p:nvPr>
        </p:nvSpPr>
        <p:spPr bwMode="auto">
          <a:xfrm>
            <a:off x="85724" y="1563796"/>
            <a:ext cx="4521201" cy="51339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10000"/>
          </a:bodyPr>
          <a:lstStyle/>
          <a:p>
            <a:pPr marL="0" indent="0" eaLnBrk="1" hangingPunct="1">
              <a:lnSpc>
                <a:spcPct val="120000"/>
              </a:lnSpc>
              <a:spcBef>
                <a:spcPts val="600"/>
              </a:spcBef>
              <a:buFontTx/>
              <a:buNone/>
            </a:pPr>
            <a:r>
              <a:rPr lang="zh-CN" altLang="en-US" sz="2000" dirty="0">
                <a:latin typeface="楷体" panose="02010609060101010101" pitchFamily="49" charset="-122"/>
                <a:ea typeface="楷体" panose="02010609060101010101" pitchFamily="49" charset="-122"/>
              </a:rPr>
              <a:t>    取指过程需要</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个机器节拍，在清零和启动之后第</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个节拍为</a:t>
            </a:r>
            <a:r>
              <a:rPr lang="en-US" altLang="zh-CN" sz="2000" dirty="0">
                <a:latin typeface="楷体" panose="02010609060101010101" pitchFamily="49" charset="-122"/>
                <a:ea typeface="楷体" panose="02010609060101010101" pitchFamily="49" charset="-122"/>
              </a:rPr>
              <a:t>T</a:t>
            </a:r>
            <a:r>
              <a:rPr lang="en-US" altLang="zh-CN" sz="2000" baseline="-25000" dirty="0">
                <a:latin typeface="楷体" panose="02010609060101010101" pitchFamily="49" charset="-122"/>
                <a:ea typeface="楷体" panose="02010609060101010101" pitchFamily="49" charset="-122"/>
              </a:rPr>
              <a:t>0</a:t>
            </a:r>
            <a:r>
              <a:rPr lang="zh-CN" altLang="en-US" sz="2000" dirty="0">
                <a:latin typeface="楷体" panose="02010609060101010101" pitchFamily="49" charset="-122"/>
                <a:ea typeface="楷体" panose="02010609060101010101" pitchFamily="49" charset="-122"/>
              </a:rPr>
              <a:t>。</a:t>
            </a:r>
            <a:endParaRPr lang="en-US" altLang="zh-CN" sz="2000" dirty="0">
              <a:latin typeface="楷体" panose="02010609060101010101" pitchFamily="49" charset="-122"/>
              <a:ea typeface="楷体" panose="02010609060101010101" pitchFamily="49" charset="-122"/>
            </a:endParaRPr>
          </a:p>
          <a:p>
            <a:pPr marL="0" indent="0" eaLnBrk="1" hangingPunct="1">
              <a:lnSpc>
                <a:spcPct val="120000"/>
              </a:lnSpc>
              <a:spcBef>
                <a:spcPts val="600"/>
              </a:spcBef>
              <a:buFontTx/>
              <a:buNone/>
            </a:pPr>
            <a:r>
              <a:rPr lang="zh-CN" altLang="en-US" sz="2000" dirty="0">
                <a:latin typeface="楷体" panose="02010609060101010101" pitchFamily="49" charset="-122"/>
                <a:ea typeface="楷体" panose="02010609060101010101" pitchFamily="49" charset="-122"/>
              </a:rPr>
              <a:t>    以上节的例题为例来</a:t>
            </a:r>
            <a:r>
              <a:rPr lang="zh-CN" altLang="en-US" sz="2000" dirty="0">
                <a:solidFill>
                  <a:srgbClr val="FF0000"/>
                </a:solidFill>
                <a:latin typeface="楷体" panose="02010609060101010101" pitchFamily="49" charset="-122"/>
                <a:ea typeface="楷体" panose="02010609060101010101" pitchFamily="49" charset="-122"/>
              </a:rPr>
              <a:t>考查</a:t>
            </a:r>
            <a:r>
              <a:rPr lang="zh-CN" altLang="en-US" sz="2000" dirty="0">
                <a:latin typeface="楷体" panose="02010609060101010101" pitchFamily="49" charset="-122"/>
                <a:ea typeface="楷体" panose="02010609060101010101" pitchFamily="49" charset="-122"/>
              </a:rPr>
              <a:t>：（</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）每个节拍内各个寄存器中内容如何变化？（</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）控制器应发出什么样的控制字？</a:t>
            </a:r>
          </a:p>
          <a:p>
            <a:pPr marL="0" indent="0" eaLnBrk="1" hangingPunct="1">
              <a:lnSpc>
                <a:spcPct val="120000"/>
              </a:lnSpc>
              <a:spcBef>
                <a:spcPts val="600"/>
              </a:spcBef>
              <a:buFontTx/>
              <a:buNone/>
            </a:pPr>
            <a:r>
              <a:rPr lang="en-US" altLang="zh-CN" sz="2000" dirty="0">
                <a:solidFill>
                  <a:srgbClr val="003399"/>
                </a:solidFill>
                <a:latin typeface="楷体" panose="02010609060101010101" pitchFamily="49" charset="-122"/>
                <a:ea typeface="楷体" panose="02010609060101010101" pitchFamily="49" charset="-122"/>
              </a:rPr>
              <a:t>(1) </a:t>
            </a:r>
            <a:r>
              <a:rPr lang="zh-CN" altLang="en-US" sz="2000" dirty="0">
                <a:solidFill>
                  <a:srgbClr val="003399"/>
                </a:solidFill>
                <a:latin typeface="楷体" panose="02010609060101010101" pitchFamily="49" charset="-122"/>
                <a:ea typeface="楷体" panose="02010609060101010101" pitchFamily="49" charset="-122"/>
              </a:rPr>
              <a:t>地址节拍</a:t>
            </a:r>
            <a:r>
              <a:rPr lang="en-US" altLang="zh-CN" sz="2000" dirty="0">
                <a:solidFill>
                  <a:srgbClr val="003399"/>
                </a:solidFill>
                <a:latin typeface="楷体" panose="02010609060101010101" pitchFamily="49" charset="-122"/>
                <a:ea typeface="楷体" panose="02010609060101010101" pitchFamily="49" charset="-122"/>
              </a:rPr>
              <a:t>:  </a:t>
            </a:r>
            <a:r>
              <a:rPr lang="zh-CN" altLang="en-US" sz="2000" dirty="0">
                <a:solidFill>
                  <a:srgbClr val="003399"/>
                </a:solidFill>
                <a:latin typeface="楷体" panose="02010609060101010101" pitchFamily="49" charset="-122"/>
                <a:ea typeface="楷体" panose="02010609060101010101" pitchFamily="49" charset="-122"/>
              </a:rPr>
              <a:t>在</a:t>
            </a:r>
            <a:r>
              <a:rPr lang="en-US" altLang="zh-CN" sz="2000" dirty="0">
                <a:solidFill>
                  <a:srgbClr val="003399"/>
                </a:solidFill>
                <a:latin typeface="楷体" panose="02010609060101010101" pitchFamily="49" charset="-122"/>
                <a:ea typeface="楷体" panose="02010609060101010101" pitchFamily="49" charset="-122"/>
              </a:rPr>
              <a:t>T</a:t>
            </a:r>
            <a:r>
              <a:rPr lang="en-US" altLang="zh-CN" sz="2000" baseline="-25000" dirty="0">
                <a:solidFill>
                  <a:srgbClr val="003399"/>
                </a:solidFill>
                <a:latin typeface="楷体" panose="02010609060101010101" pitchFamily="49" charset="-122"/>
                <a:ea typeface="楷体" panose="02010609060101010101" pitchFamily="49" charset="-122"/>
              </a:rPr>
              <a:t>0</a:t>
            </a:r>
            <a:r>
              <a:rPr lang="en-US" altLang="zh-CN" sz="2000" dirty="0">
                <a:solidFill>
                  <a:srgbClr val="003399"/>
                </a:solidFill>
                <a:latin typeface="楷体" panose="02010609060101010101" pitchFamily="49" charset="-122"/>
                <a:ea typeface="楷体" panose="02010609060101010101" pitchFamily="49" charset="-122"/>
              </a:rPr>
              <a:t>=1</a:t>
            </a:r>
            <a:r>
              <a:rPr lang="zh-CN" altLang="en-US" sz="2000" dirty="0">
                <a:solidFill>
                  <a:srgbClr val="003399"/>
                </a:solidFill>
                <a:latin typeface="楷体" panose="02010609060101010101" pitchFamily="49" charset="-122"/>
                <a:ea typeface="楷体" panose="02010609060101010101" pitchFamily="49" charset="-122"/>
              </a:rPr>
              <a:t>时</a:t>
            </a:r>
            <a:r>
              <a:rPr lang="zh-CN" altLang="en-US" sz="2000" dirty="0">
                <a:latin typeface="楷体" panose="02010609060101010101" pitchFamily="49" charset="-122"/>
                <a:ea typeface="楷体" panose="02010609060101010101" pitchFamily="49" charset="-122"/>
              </a:rPr>
              <a:t>，</a:t>
            </a:r>
            <a:r>
              <a:rPr lang="zh-CN" altLang="en-US" sz="2000" dirty="0">
                <a:solidFill>
                  <a:srgbClr val="FF0000"/>
                </a:solidFill>
                <a:latin typeface="楷体" panose="02010609060101010101" pitchFamily="49" charset="-122"/>
                <a:ea typeface="楷体" panose="02010609060101010101" pitchFamily="49" charset="-122"/>
              </a:rPr>
              <a:t>应将</a:t>
            </a:r>
            <a:r>
              <a:rPr lang="en-US" altLang="zh-CN" sz="2000" dirty="0">
                <a:latin typeface="楷体" panose="02010609060101010101" pitchFamily="49" charset="-122"/>
                <a:ea typeface="楷体" panose="02010609060101010101" pitchFamily="49" charset="-122"/>
              </a:rPr>
              <a:t>PC</a:t>
            </a:r>
            <a:r>
              <a:rPr lang="zh-CN" altLang="en-US" sz="2000" dirty="0">
                <a:latin typeface="楷体" panose="02010609060101010101" pitchFamily="49" charset="-122"/>
                <a:ea typeface="楷体" panose="02010609060101010101" pitchFamily="49" charset="-122"/>
              </a:rPr>
              <a:t>的内容</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即第</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个地址码</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送入</a:t>
            </a:r>
            <a:r>
              <a:rPr lang="en-US" altLang="zh-CN" sz="2000" dirty="0">
                <a:latin typeface="楷体" panose="02010609060101010101" pitchFamily="49" charset="-122"/>
                <a:ea typeface="楷体" panose="02010609060101010101" pitchFamily="49" charset="-122"/>
              </a:rPr>
              <a:t>MAR(</a:t>
            </a:r>
            <a:r>
              <a:rPr lang="zh-CN" altLang="en-US" sz="2000" dirty="0">
                <a:latin typeface="楷体" panose="02010609060101010101" pitchFamily="49" charset="-122"/>
                <a:ea typeface="楷体" panose="02010609060101010101" pitchFamily="49" charset="-122"/>
              </a:rPr>
              <a:t>并通过</a:t>
            </a:r>
            <a:r>
              <a:rPr lang="en-US" altLang="zh-CN" sz="2000" dirty="0">
                <a:latin typeface="楷体" panose="02010609060101010101" pitchFamily="49" charset="-122"/>
                <a:ea typeface="楷体" panose="02010609060101010101" pitchFamily="49" charset="-122"/>
              </a:rPr>
              <a:t>MAR</a:t>
            </a:r>
            <a:r>
              <a:rPr lang="zh-CN" altLang="en-US" sz="2000" dirty="0">
                <a:latin typeface="楷体" panose="02010609060101010101" pitchFamily="49" charset="-122"/>
                <a:ea typeface="楷体" panose="02010609060101010101" pitchFamily="49" charset="-122"/>
              </a:rPr>
              <a:t>而达到</a:t>
            </a:r>
            <a:r>
              <a:rPr lang="en-US" altLang="zh-CN" sz="2000" dirty="0">
                <a:latin typeface="楷体" panose="02010609060101010101" pitchFamily="49" charset="-122"/>
                <a:ea typeface="楷体" panose="02010609060101010101" pitchFamily="49" charset="-122"/>
              </a:rPr>
              <a:t>PROM)</a:t>
            </a:r>
            <a:r>
              <a:rPr lang="zh-CN" altLang="en-US" sz="2000" dirty="0">
                <a:latin typeface="楷体" panose="02010609060101010101" pitchFamily="49" charset="-122"/>
                <a:ea typeface="楷体" panose="02010609060101010101" pitchFamily="49" charset="-122"/>
              </a:rPr>
              <a:t>，所以，此时应有：</a:t>
            </a:r>
          </a:p>
          <a:p>
            <a:pPr marL="0" indent="0" eaLnBrk="1" hangingPunct="1">
              <a:lnSpc>
                <a:spcPct val="120000"/>
              </a:lnSpc>
              <a:spcBef>
                <a:spcPts val="600"/>
              </a:spcBef>
              <a:buFontTx/>
              <a:buNone/>
            </a:pP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E</a:t>
            </a:r>
            <a:r>
              <a:rPr lang="en-US" altLang="zh-CN" sz="2000" baseline="-25000" dirty="0">
                <a:latin typeface="楷体" panose="02010609060101010101" pitchFamily="49" charset="-122"/>
                <a:ea typeface="楷体" panose="02010609060101010101" pitchFamily="49" charset="-122"/>
              </a:rPr>
              <a:t>P</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，即</a:t>
            </a:r>
            <a:r>
              <a:rPr lang="en-US" altLang="zh-CN" sz="2000" dirty="0">
                <a:latin typeface="楷体" panose="02010609060101010101" pitchFamily="49" charset="-122"/>
                <a:ea typeface="楷体" panose="02010609060101010101" pitchFamily="49" charset="-122"/>
              </a:rPr>
              <a:t>PC</a:t>
            </a:r>
            <a:r>
              <a:rPr lang="zh-CN" altLang="en-US" sz="2000" dirty="0">
                <a:latin typeface="楷体" panose="02010609060101010101" pitchFamily="49" charset="-122"/>
                <a:ea typeface="楷体" panose="02010609060101010101" pitchFamily="49" charset="-122"/>
              </a:rPr>
              <a:t>准备放出数据</a:t>
            </a:r>
          </a:p>
          <a:p>
            <a:pPr marL="0" indent="0" eaLnBrk="1" hangingPunct="1">
              <a:lnSpc>
                <a:spcPct val="120000"/>
              </a:lnSpc>
              <a:spcBef>
                <a:spcPts val="600"/>
              </a:spcBef>
              <a:buFontTx/>
              <a:buNone/>
            </a:pP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L</a:t>
            </a:r>
            <a:r>
              <a:rPr lang="en-US" altLang="zh-CN" sz="2000" baseline="-25000" dirty="0">
                <a:latin typeface="楷体" panose="02010609060101010101" pitchFamily="49" charset="-122"/>
                <a:ea typeface="楷体" panose="02010609060101010101" pitchFamily="49" charset="-122"/>
              </a:rPr>
              <a:t>M</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，即</a:t>
            </a:r>
            <a:r>
              <a:rPr lang="en-US" altLang="zh-CN" sz="2000" dirty="0">
                <a:latin typeface="楷体" panose="02010609060101010101" pitchFamily="49" charset="-122"/>
                <a:ea typeface="楷体" panose="02010609060101010101" pitchFamily="49" charset="-122"/>
              </a:rPr>
              <a:t>MAR</a:t>
            </a:r>
            <a:r>
              <a:rPr lang="zh-CN" altLang="en-US" sz="2000" dirty="0">
                <a:latin typeface="楷体" panose="02010609060101010101" pitchFamily="49" charset="-122"/>
                <a:ea typeface="楷体" panose="02010609060101010101" pitchFamily="49" charset="-122"/>
              </a:rPr>
              <a:t>准备接收数据</a:t>
            </a:r>
          </a:p>
          <a:p>
            <a:pPr marL="0" indent="0" eaLnBrk="1" hangingPunct="1">
              <a:lnSpc>
                <a:spcPct val="120000"/>
              </a:lnSpc>
              <a:spcBef>
                <a:spcPts val="600"/>
              </a:spcBef>
              <a:buFontTx/>
              <a:buNone/>
            </a:pPr>
            <a:r>
              <a:rPr lang="zh-CN" altLang="en-US" sz="2000" dirty="0">
                <a:latin typeface="楷体" panose="02010609060101010101" pitchFamily="49" charset="-122"/>
                <a:ea typeface="楷体" panose="02010609060101010101" pitchFamily="49" charset="-122"/>
              </a:rPr>
              <a:t>因此，控制部件应发出的控制字为：　</a:t>
            </a:r>
            <a:endParaRPr lang="en-US" altLang="zh-CN" sz="2000" dirty="0">
              <a:latin typeface="楷体" panose="02010609060101010101" pitchFamily="49" charset="-122"/>
              <a:ea typeface="楷体" panose="02010609060101010101" pitchFamily="49" charset="-122"/>
            </a:endParaRPr>
          </a:p>
          <a:p>
            <a:pPr marL="0" indent="0" eaLnBrk="1" hangingPunct="1">
              <a:lnSpc>
                <a:spcPct val="120000"/>
              </a:lnSpc>
              <a:spcBef>
                <a:spcPts val="600"/>
              </a:spcBef>
              <a:buFontTx/>
              <a:buNone/>
            </a:pPr>
            <a:r>
              <a:rPr lang="en-US" altLang="zh-CN" sz="2000" dirty="0">
                <a:latin typeface="楷体" panose="02010609060101010101" pitchFamily="49" charset="-122"/>
                <a:ea typeface="楷体" panose="02010609060101010101" pitchFamily="49" charset="-122"/>
              </a:rPr>
              <a:t>CON=C</a:t>
            </a:r>
            <a:r>
              <a:rPr lang="en-US" altLang="zh-CN" sz="2000" baseline="-25000" dirty="0">
                <a:latin typeface="楷体" panose="02010609060101010101" pitchFamily="49" charset="-122"/>
                <a:ea typeface="楷体" panose="02010609060101010101" pitchFamily="49" charset="-122"/>
              </a:rPr>
              <a:t>P</a:t>
            </a:r>
            <a:r>
              <a:rPr lang="en-US" altLang="zh-CN" sz="2000" dirty="0">
                <a:latin typeface="楷体" panose="02010609060101010101" pitchFamily="49" charset="-122"/>
                <a:ea typeface="楷体" panose="02010609060101010101" pitchFamily="49" charset="-122"/>
              </a:rPr>
              <a:t>E</a:t>
            </a:r>
            <a:r>
              <a:rPr lang="en-US" altLang="zh-CN" sz="2000" baseline="-25000" dirty="0">
                <a:latin typeface="楷体" panose="02010609060101010101" pitchFamily="49" charset="-122"/>
                <a:ea typeface="楷体" panose="02010609060101010101" pitchFamily="49" charset="-122"/>
              </a:rPr>
              <a:t>P</a:t>
            </a:r>
            <a:r>
              <a:rPr lang="en-US" altLang="zh-CN" sz="2000" dirty="0">
                <a:latin typeface="楷体" panose="02010609060101010101" pitchFamily="49" charset="-122"/>
                <a:ea typeface="楷体" panose="02010609060101010101" pitchFamily="49" charset="-122"/>
              </a:rPr>
              <a:t>L</a:t>
            </a:r>
            <a:r>
              <a:rPr lang="en-US" altLang="zh-CN" sz="2000" baseline="-25000" dirty="0">
                <a:latin typeface="楷体" panose="02010609060101010101" pitchFamily="49" charset="-122"/>
                <a:ea typeface="楷体" panose="02010609060101010101" pitchFamily="49" charset="-122"/>
              </a:rPr>
              <a:t>M</a:t>
            </a:r>
            <a:r>
              <a:rPr lang="en-US" altLang="zh-CN" sz="2000" dirty="0">
                <a:latin typeface="楷体" panose="02010609060101010101" pitchFamily="49" charset="-122"/>
                <a:ea typeface="楷体" panose="02010609060101010101" pitchFamily="49" charset="-122"/>
              </a:rPr>
              <a:t>E</a:t>
            </a:r>
            <a:r>
              <a:rPr lang="en-US" altLang="zh-CN" sz="2000" baseline="-25000" dirty="0">
                <a:latin typeface="楷体" panose="02010609060101010101" pitchFamily="49" charset="-122"/>
                <a:ea typeface="楷体" panose="02010609060101010101" pitchFamily="49" charset="-122"/>
              </a:rPr>
              <a:t>R</a:t>
            </a:r>
            <a:r>
              <a:rPr lang="en-US" altLang="zh-CN" sz="2000" dirty="0">
                <a:latin typeface="楷体" panose="02010609060101010101" pitchFamily="49" charset="-122"/>
                <a:ea typeface="楷体" panose="02010609060101010101" pitchFamily="49" charset="-122"/>
              </a:rPr>
              <a:t>L</a:t>
            </a:r>
            <a:r>
              <a:rPr lang="en-US" altLang="zh-CN" sz="2000" baseline="-25000" dirty="0">
                <a:latin typeface="楷体" panose="02010609060101010101" pitchFamily="49" charset="-122"/>
                <a:ea typeface="楷体" panose="02010609060101010101" pitchFamily="49" charset="-122"/>
              </a:rPr>
              <a:t>I</a:t>
            </a:r>
            <a:r>
              <a:rPr lang="en-US" altLang="zh-CN" sz="2000" dirty="0">
                <a:latin typeface="楷体" panose="02010609060101010101" pitchFamily="49" charset="-122"/>
                <a:ea typeface="楷体" panose="02010609060101010101" pitchFamily="49" charset="-122"/>
              </a:rPr>
              <a:t>E</a:t>
            </a:r>
            <a:r>
              <a:rPr lang="en-US" altLang="zh-CN" sz="2000" baseline="-25000" dirty="0">
                <a:latin typeface="楷体" panose="02010609060101010101" pitchFamily="49" charset="-122"/>
                <a:ea typeface="楷体" panose="02010609060101010101" pitchFamily="49" charset="-122"/>
              </a:rPr>
              <a:t>I</a:t>
            </a:r>
            <a:r>
              <a:rPr lang="en-US" altLang="zh-CN" sz="2000" dirty="0">
                <a:latin typeface="楷体" panose="02010609060101010101" pitchFamily="49" charset="-122"/>
                <a:ea typeface="楷体" panose="02010609060101010101" pitchFamily="49" charset="-122"/>
              </a:rPr>
              <a:t>L</a:t>
            </a:r>
            <a:r>
              <a:rPr lang="en-US" altLang="zh-CN" sz="2000" baseline="-25000" dirty="0">
                <a:latin typeface="楷体" panose="02010609060101010101" pitchFamily="49" charset="-122"/>
                <a:ea typeface="楷体" panose="02010609060101010101" pitchFamily="49" charset="-122"/>
              </a:rPr>
              <a:t>A</a:t>
            </a:r>
            <a:r>
              <a:rPr lang="en-US" altLang="zh-CN" sz="2000" dirty="0">
                <a:latin typeface="楷体" panose="02010609060101010101" pitchFamily="49" charset="-122"/>
                <a:ea typeface="楷体" panose="02010609060101010101" pitchFamily="49" charset="-122"/>
              </a:rPr>
              <a:t>E</a:t>
            </a:r>
            <a:r>
              <a:rPr lang="en-US" altLang="zh-CN" sz="2000" baseline="-25000" dirty="0">
                <a:latin typeface="楷体" panose="02010609060101010101" pitchFamily="49" charset="-122"/>
                <a:ea typeface="楷体" panose="02010609060101010101" pitchFamily="49" charset="-122"/>
              </a:rPr>
              <a:t>A</a:t>
            </a:r>
            <a:r>
              <a:rPr lang="en-US" altLang="zh-CN" sz="2000" dirty="0">
                <a:latin typeface="楷体" panose="02010609060101010101" pitchFamily="49" charset="-122"/>
                <a:ea typeface="楷体" panose="02010609060101010101" pitchFamily="49" charset="-122"/>
              </a:rPr>
              <a:t>S</a:t>
            </a:r>
            <a:r>
              <a:rPr lang="en-US" altLang="zh-CN" sz="2000" baseline="-25000" dirty="0">
                <a:latin typeface="楷体" panose="02010609060101010101" pitchFamily="49" charset="-122"/>
                <a:ea typeface="楷体" panose="02010609060101010101" pitchFamily="49" charset="-122"/>
              </a:rPr>
              <a:t>U</a:t>
            </a:r>
            <a:r>
              <a:rPr lang="en-US" altLang="zh-CN" sz="2000" dirty="0">
                <a:latin typeface="楷体" panose="02010609060101010101" pitchFamily="49" charset="-122"/>
                <a:ea typeface="楷体" panose="02010609060101010101" pitchFamily="49" charset="-122"/>
              </a:rPr>
              <a:t>E</a:t>
            </a:r>
            <a:r>
              <a:rPr lang="en-US" altLang="zh-CN" sz="2000" baseline="-25000" dirty="0">
                <a:latin typeface="楷体" panose="02010609060101010101" pitchFamily="49" charset="-122"/>
                <a:ea typeface="楷体" panose="02010609060101010101" pitchFamily="49" charset="-122"/>
              </a:rPr>
              <a:t>U</a:t>
            </a:r>
            <a:r>
              <a:rPr lang="en-US" altLang="zh-CN" sz="2000" dirty="0">
                <a:latin typeface="楷体" panose="02010609060101010101" pitchFamily="49" charset="-122"/>
                <a:ea typeface="楷体" panose="02010609060101010101" pitchFamily="49" charset="-122"/>
              </a:rPr>
              <a:t>L</a:t>
            </a:r>
            <a:r>
              <a:rPr lang="en-US" altLang="zh-CN" sz="2000" baseline="-25000" dirty="0">
                <a:latin typeface="楷体" panose="02010609060101010101" pitchFamily="49" charset="-122"/>
                <a:ea typeface="楷体" panose="02010609060101010101" pitchFamily="49" charset="-122"/>
              </a:rPr>
              <a:t>B</a:t>
            </a:r>
            <a:r>
              <a:rPr lang="en-US" altLang="zh-CN" sz="2000" dirty="0">
                <a:latin typeface="楷体" panose="02010609060101010101" pitchFamily="49" charset="-122"/>
                <a:ea typeface="楷体" panose="02010609060101010101" pitchFamily="49" charset="-122"/>
              </a:rPr>
              <a:t>L</a:t>
            </a:r>
            <a:r>
              <a:rPr lang="en-US" altLang="zh-CN" sz="2000" baseline="-25000" dirty="0">
                <a:latin typeface="楷体" panose="02010609060101010101" pitchFamily="49" charset="-122"/>
                <a:ea typeface="楷体" panose="02010609060101010101" pitchFamily="49" charset="-122"/>
              </a:rPr>
              <a:t>O</a:t>
            </a:r>
          </a:p>
          <a:p>
            <a:pPr marL="0" indent="0" eaLnBrk="1" hangingPunct="1">
              <a:lnSpc>
                <a:spcPct val="120000"/>
              </a:lnSpc>
              <a:spcBef>
                <a:spcPts val="600"/>
              </a:spcBef>
              <a:buFontTx/>
              <a:buNone/>
            </a:pP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=0110 0000 0000</a:t>
            </a:r>
          </a:p>
          <a:p>
            <a:pPr marL="0" indent="0" eaLnBrk="1" hangingPunct="1">
              <a:lnSpc>
                <a:spcPct val="120000"/>
              </a:lnSpc>
              <a:spcBef>
                <a:spcPts val="600"/>
              </a:spcBef>
            </a:pPr>
            <a:endParaRPr lang="en-US" altLang="zh-CN" sz="2000" dirty="0">
              <a:latin typeface="楷体" panose="02010609060101010101" pitchFamily="49" charset="-122"/>
              <a:ea typeface="楷体" panose="02010609060101010101" pitchFamily="49" charset="-122"/>
            </a:endParaRPr>
          </a:p>
        </p:txBody>
      </p:sp>
      <p:sp>
        <p:nvSpPr>
          <p:cNvPr id="54276" name="Text Box 3"/>
          <p:cNvSpPr txBox="1">
            <a:spLocks noChangeArrowheads="1"/>
          </p:cNvSpPr>
          <p:nvPr/>
        </p:nvSpPr>
        <p:spPr bwMode="auto">
          <a:xfrm>
            <a:off x="5026819" y="6262687"/>
            <a:ext cx="3662362" cy="40440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92500"/>
          </a:bodyPr>
          <a:lstStyle>
            <a:defPPr>
              <a:defRPr lang="en-US"/>
            </a:defPPr>
            <a:lvl1pPr indent="0" defTabSz="914400">
              <a:lnSpc>
                <a:spcPct val="110000"/>
              </a:lnSpc>
              <a:spcBef>
                <a:spcPts val="600"/>
              </a:spcBef>
              <a:buFontTx/>
              <a:buNone/>
              <a:defRPr sz="2100">
                <a:solidFill>
                  <a:srgbClr val="003399"/>
                </a:solidFill>
                <a:latin typeface="楷体" panose="02010609060101010101" pitchFamily="49" charset="-122"/>
                <a:ea typeface="楷体" panose="02010609060101010101" pitchFamily="49"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t>图</a:t>
            </a:r>
            <a:r>
              <a:rPr lang="en-US" altLang="zh-CN" dirty="0"/>
              <a:t>3.1a  </a:t>
            </a:r>
            <a:r>
              <a:rPr lang="zh-CN" altLang="en-US" dirty="0"/>
              <a:t>微型计算机的简化结构</a:t>
            </a:r>
            <a:endParaRPr lang="en-US" altLang="zh-CN" dirty="0"/>
          </a:p>
        </p:txBody>
      </p:sp>
      <p:pic>
        <p:nvPicPr>
          <p:cNvPr id="54277" name="图片 5" descr="图3"/>
          <p:cNvPicPr>
            <a:picLocks noChangeAspect="1" noChangeArrowheads="1"/>
          </p:cNvPicPr>
          <p:nvPr/>
        </p:nvPicPr>
        <p:blipFill>
          <a:blip r:embed="rId2">
            <a:extLst>
              <a:ext uri="{28A0092B-C50C-407E-A947-70E740481C1C}">
                <a14:useLocalDpi xmlns:a14="http://schemas.microsoft.com/office/drawing/2010/main" val="0"/>
              </a:ext>
            </a:extLst>
          </a:blip>
          <a:srcRect r="35468" b="11230"/>
          <a:stretch>
            <a:fillRect/>
          </a:stretch>
        </p:blipFill>
        <p:spPr bwMode="auto">
          <a:xfrm>
            <a:off x="4527550" y="1125538"/>
            <a:ext cx="4581525"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504825" y="955676"/>
            <a:ext cx="7772400" cy="608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ts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cs typeface="+mn-cs"/>
              </a:rPr>
              <a:t>3.4.2 </a:t>
            </a:r>
            <a:r>
              <a:rPr lang="zh-CN" altLang="en-US" sz="2400" dirty="0">
                <a:latin typeface="楷体" panose="02010609060101010101" pitchFamily="49" charset="-122"/>
                <a:ea typeface="楷体" panose="02010609060101010101" pitchFamily="49" charset="-122"/>
                <a:cs typeface="+mn-cs"/>
              </a:rPr>
              <a:t>取值周期及执行周期</a:t>
            </a:r>
          </a:p>
        </p:txBody>
      </p:sp>
    </p:spTree>
    <p:extLst>
      <p:ext uri="{BB962C8B-B14F-4D97-AF65-F5344CB8AC3E}">
        <p14:creationId xmlns:p14="http://schemas.microsoft.com/office/powerpoint/2010/main" val="3510416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subTitle" idx="4294967295"/>
          </p:nvPr>
        </p:nvSpPr>
        <p:spPr bwMode="auto">
          <a:xfrm>
            <a:off x="127000" y="1052513"/>
            <a:ext cx="4195763" cy="57007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a:bodyPr>
          <a:lstStyle/>
          <a:p>
            <a:pPr marL="0" indent="0" eaLnBrk="1" hangingPunct="1">
              <a:lnSpc>
                <a:spcPct val="110000"/>
              </a:lnSpc>
              <a:spcBef>
                <a:spcPts val="600"/>
              </a:spcBef>
              <a:buFontTx/>
              <a:buNone/>
            </a:pPr>
            <a:r>
              <a:rPr lang="en-US" altLang="zh-CN" sz="2100" dirty="0">
                <a:solidFill>
                  <a:srgbClr val="003399"/>
                </a:solidFill>
                <a:latin typeface="楷体" panose="02010609060101010101" pitchFamily="49" charset="-122"/>
                <a:ea typeface="楷体" panose="02010609060101010101" pitchFamily="49" charset="-122"/>
              </a:rPr>
              <a:t>(2) </a:t>
            </a:r>
            <a:r>
              <a:rPr lang="zh-CN" altLang="en-US" sz="2100" dirty="0">
                <a:solidFill>
                  <a:srgbClr val="003399"/>
                </a:solidFill>
                <a:latin typeface="楷体" panose="02010609060101010101" pitchFamily="49" charset="-122"/>
                <a:ea typeface="楷体" panose="02010609060101010101" pitchFamily="49" charset="-122"/>
              </a:rPr>
              <a:t>储存节拍</a:t>
            </a:r>
            <a:r>
              <a:rPr lang="en-US" altLang="zh-CN" sz="2100" dirty="0">
                <a:solidFill>
                  <a:srgbClr val="003399"/>
                </a:solidFill>
                <a:latin typeface="楷体" panose="02010609060101010101" pitchFamily="49" charset="-122"/>
                <a:ea typeface="楷体" panose="02010609060101010101" pitchFamily="49" charset="-122"/>
              </a:rPr>
              <a:t>: </a:t>
            </a:r>
            <a:r>
              <a:rPr lang="zh-CN" altLang="en-US" sz="2100" dirty="0">
                <a:solidFill>
                  <a:srgbClr val="003399"/>
                </a:solidFill>
                <a:latin typeface="楷体" panose="02010609060101010101" pitchFamily="49" charset="-122"/>
                <a:ea typeface="楷体" panose="02010609060101010101" pitchFamily="49" charset="-122"/>
              </a:rPr>
              <a:t>在</a:t>
            </a:r>
            <a:r>
              <a:rPr lang="en-US" altLang="zh-CN" sz="2100" dirty="0">
                <a:solidFill>
                  <a:srgbClr val="003399"/>
                </a:solidFill>
                <a:latin typeface="楷体" panose="02010609060101010101" pitchFamily="49" charset="-122"/>
                <a:ea typeface="楷体" panose="02010609060101010101" pitchFamily="49" charset="-122"/>
              </a:rPr>
              <a:t>T</a:t>
            </a:r>
            <a:r>
              <a:rPr lang="en-US" altLang="zh-CN" sz="2100" baseline="-25000" dirty="0">
                <a:solidFill>
                  <a:srgbClr val="003399"/>
                </a:solidFill>
                <a:latin typeface="楷体" panose="02010609060101010101" pitchFamily="49" charset="-122"/>
                <a:ea typeface="楷体" panose="02010609060101010101" pitchFamily="49" charset="-122"/>
              </a:rPr>
              <a:t>1</a:t>
            </a:r>
            <a:r>
              <a:rPr lang="en-US" altLang="zh-CN" sz="2100" dirty="0">
                <a:solidFill>
                  <a:srgbClr val="003399"/>
                </a:solidFill>
                <a:latin typeface="楷体" panose="02010609060101010101" pitchFamily="49" charset="-122"/>
                <a:ea typeface="楷体" panose="02010609060101010101" pitchFamily="49" charset="-122"/>
              </a:rPr>
              <a:t>=1</a:t>
            </a:r>
            <a:r>
              <a:rPr lang="zh-CN" altLang="en-US" sz="2100" dirty="0">
                <a:solidFill>
                  <a:srgbClr val="003399"/>
                </a:solidFill>
                <a:latin typeface="楷体" panose="02010609060101010101" pitchFamily="49" charset="-122"/>
                <a:ea typeface="楷体" panose="02010609060101010101" pitchFamily="49" charset="-122"/>
              </a:rPr>
              <a:t>时</a:t>
            </a:r>
            <a:r>
              <a:rPr lang="zh-CN" altLang="en-US" sz="2100" dirty="0">
                <a:latin typeface="楷体" panose="02010609060101010101" pitchFamily="49" charset="-122"/>
                <a:ea typeface="楷体" panose="02010609060101010101" pitchFamily="49" charset="-122"/>
              </a:rPr>
              <a:t>，</a:t>
            </a:r>
            <a:r>
              <a:rPr lang="zh-CN" altLang="en-US" sz="2100" dirty="0">
                <a:solidFill>
                  <a:srgbClr val="FF0000"/>
                </a:solidFill>
                <a:latin typeface="楷体" panose="02010609060101010101" pitchFamily="49" charset="-122"/>
                <a:ea typeface="楷体" panose="02010609060101010101" pitchFamily="49" charset="-122"/>
              </a:rPr>
              <a:t>应将</a:t>
            </a:r>
            <a:r>
              <a:rPr lang="en-US" altLang="zh-CN" sz="2100" dirty="0">
                <a:latin typeface="楷体" panose="02010609060101010101" pitchFamily="49" charset="-122"/>
                <a:ea typeface="楷体" panose="02010609060101010101" pitchFamily="49" charset="-122"/>
              </a:rPr>
              <a:t>PROM</a:t>
            </a:r>
            <a:r>
              <a:rPr lang="zh-CN" altLang="en-US" sz="2100" dirty="0">
                <a:latin typeface="楷体" panose="02010609060101010101" pitchFamily="49" charset="-122"/>
                <a:ea typeface="楷体" panose="02010609060101010101" pitchFamily="49" charset="-122"/>
              </a:rPr>
              <a:t>中由</a:t>
            </a:r>
            <a:r>
              <a:rPr lang="en-US" altLang="zh-CN" sz="2100" dirty="0">
                <a:latin typeface="楷体" panose="02010609060101010101" pitchFamily="49" charset="-122"/>
                <a:ea typeface="楷体" panose="02010609060101010101" pitchFamily="49" charset="-122"/>
              </a:rPr>
              <a:t>PC</a:t>
            </a:r>
            <a:r>
              <a:rPr lang="zh-CN" altLang="en-US" sz="2100" dirty="0">
                <a:latin typeface="楷体" panose="02010609060101010101" pitchFamily="49" charset="-122"/>
                <a:ea typeface="楷体" panose="02010609060101010101" pitchFamily="49" charset="-122"/>
              </a:rPr>
              <a:t>送来的地址码所指定的存储单元中的内容送到</a:t>
            </a:r>
            <a:r>
              <a:rPr lang="en-US" altLang="zh-CN" sz="2100" dirty="0">
                <a:latin typeface="楷体" panose="02010609060101010101" pitchFamily="49" charset="-122"/>
                <a:ea typeface="楷体" panose="02010609060101010101" pitchFamily="49" charset="-122"/>
              </a:rPr>
              <a:t>IR</a:t>
            </a:r>
            <a:r>
              <a:rPr lang="zh-CN" altLang="en-US" sz="2100" dirty="0">
                <a:latin typeface="楷体" panose="02010609060101010101" pitchFamily="49" charset="-122"/>
                <a:ea typeface="楷体" panose="02010609060101010101" pitchFamily="49" charset="-122"/>
              </a:rPr>
              <a:t>，同时</a:t>
            </a:r>
            <a:r>
              <a:rPr lang="en-US" altLang="zh-CN" sz="2100" dirty="0">
                <a:latin typeface="楷体" panose="02010609060101010101" pitchFamily="49" charset="-122"/>
                <a:ea typeface="楷体" panose="02010609060101010101" pitchFamily="49" charset="-122"/>
              </a:rPr>
              <a:t>IR</a:t>
            </a:r>
            <a:r>
              <a:rPr lang="zh-CN" altLang="en-US" sz="2100" dirty="0">
                <a:latin typeface="楷体" panose="02010609060101010101" pitchFamily="49" charset="-122"/>
                <a:ea typeface="楷体" panose="02010609060101010101" pitchFamily="49" charset="-122"/>
              </a:rPr>
              <a:t>立即将其高</a:t>
            </a:r>
            <a:r>
              <a:rPr lang="en-US" altLang="zh-CN" sz="2100" dirty="0">
                <a:latin typeface="楷体" panose="02010609060101010101" pitchFamily="49" charset="-122"/>
                <a:ea typeface="楷体" panose="02010609060101010101" pitchFamily="49" charset="-122"/>
              </a:rPr>
              <a:t>4</a:t>
            </a:r>
            <a:r>
              <a:rPr lang="zh-CN" altLang="en-US" sz="2100" dirty="0">
                <a:latin typeface="楷体" panose="02010609060101010101" pitchFamily="49" charset="-122"/>
                <a:ea typeface="楷体" panose="02010609060101010101" pitchFamily="49" charset="-122"/>
              </a:rPr>
              <a:t>位送至控制部件。因此，在此节拍到来之前，即应准备好：</a:t>
            </a:r>
          </a:p>
          <a:p>
            <a:pPr marL="0" indent="0" eaLnBrk="1" hangingPunct="1">
              <a:lnSpc>
                <a:spcPct val="110000"/>
              </a:lnSpc>
              <a:spcBef>
                <a:spcPts val="600"/>
              </a:spcBef>
              <a:buFontTx/>
              <a:buNone/>
            </a:pPr>
            <a:r>
              <a:rPr lang="en-US" altLang="zh-CN" sz="2100" dirty="0">
                <a:latin typeface="楷体" panose="02010609060101010101" pitchFamily="49" charset="-122"/>
                <a:ea typeface="楷体" panose="02010609060101010101" pitchFamily="49" charset="-122"/>
              </a:rPr>
              <a:t>E</a:t>
            </a:r>
            <a:r>
              <a:rPr lang="en-US" altLang="zh-CN" sz="2100" baseline="-25000" dirty="0">
                <a:latin typeface="楷体" panose="02010609060101010101" pitchFamily="49" charset="-122"/>
                <a:ea typeface="楷体" panose="02010609060101010101" pitchFamily="49" charset="-122"/>
              </a:rPr>
              <a:t>R</a:t>
            </a:r>
            <a:r>
              <a:rPr lang="en-US" altLang="zh-CN" sz="2100" dirty="0">
                <a:latin typeface="楷体" panose="02010609060101010101" pitchFamily="49" charset="-122"/>
                <a:ea typeface="楷体" panose="02010609060101010101" pitchFamily="49" charset="-122"/>
              </a:rPr>
              <a:t>=1</a:t>
            </a:r>
            <a:r>
              <a:rPr lang="zh-CN" altLang="en-US" sz="2100" dirty="0">
                <a:latin typeface="楷体" panose="02010609060101010101" pitchFamily="49" charset="-122"/>
                <a:ea typeface="楷体" panose="02010609060101010101" pitchFamily="49" charset="-122"/>
              </a:rPr>
              <a:t>　即　</a:t>
            </a:r>
            <a:r>
              <a:rPr lang="en-US" altLang="zh-CN" sz="2100" dirty="0">
                <a:latin typeface="楷体" panose="02010609060101010101" pitchFamily="49" charset="-122"/>
                <a:ea typeface="楷体" panose="02010609060101010101" pitchFamily="49" charset="-122"/>
              </a:rPr>
              <a:t>PROM</a:t>
            </a:r>
            <a:r>
              <a:rPr lang="zh-CN" altLang="en-US" sz="2100" dirty="0">
                <a:latin typeface="楷体" panose="02010609060101010101" pitchFamily="49" charset="-122"/>
                <a:ea typeface="楷体" panose="02010609060101010101" pitchFamily="49" charset="-122"/>
              </a:rPr>
              <a:t>准备放出数据</a:t>
            </a:r>
          </a:p>
          <a:p>
            <a:pPr marL="0" indent="0" eaLnBrk="1" hangingPunct="1">
              <a:lnSpc>
                <a:spcPct val="110000"/>
              </a:lnSpc>
              <a:spcBef>
                <a:spcPts val="600"/>
              </a:spcBef>
              <a:buFontTx/>
              <a:buNone/>
            </a:pPr>
            <a:r>
              <a:rPr lang="en-US" altLang="zh-CN" sz="2100" dirty="0">
                <a:latin typeface="楷体" panose="02010609060101010101" pitchFamily="49" charset="-122"/>
                <a:ea typeface="楷体" panose="02010609060101010101" pitchFamily="49" charset="-122"/>
              </a:rPr>
              <a:t>L</a:t>
            </a:r>
            <a:r>
              <a:rPr lang="en-US" altLang="zh-CN" sz="2100" baseline="-25000" dirty="0">
                <a:latin typeface="楷体" panose="02010609060101010101" pitchFamily="49" charset="-122"/>
                <a:ea typeface="楷体" panose="02010609060101010101" pitchFamily="49" charset="-122"/>
              </a:rPr>
              <a:t>I</a:t>
            </a:r>
            <a:r>
              <a:rPr lang="en-US" altLang="zh-CN" sz="2100" dirty="0">
                <a:latin typeface="楷体" panose="02010609060101010101" pitchFamily="49" charset="-122"/>
                <a:ea typeface="楷体" panose="02010609060101010101" pitchFamily="49" charset="-122"/>
              </a:rPr>
              <a:t>=1</a:t>
            </a:r>
            <a:r>
              <a:rPr lang="zh-CN" altLang="en-US" sz="2100" dirty="0">
                <a:latin typeface="楷体" panose="02010609060101010101" pitchFamily="49" charset="-122"/>
                <a:ea typeface="楷体" panose="02010609060101010101" pitchFamily="49" charset="-122"/>
              </a:rPr>
              <a:t>　即　</a:t>
            </a:r>
            <a:r>
              <a:rPr lang="en-US" altLang="zh-CN" sz="2100" dirty="0">
                <a:latin typeface="楷体" panose="02010609060101010101" pitchFamily="49" charset="-122"/>
                <a:ea typeface="楷体" panose="02010609060101010101" pitchFamily="49" charset="-122"/>
              </a:rPr>
              <a:t>IR</a:t>
            </a:r>
            <a:r>
              <a:rPr lang="zh-CN" altLang="en-US" sz="2100" dirty="0">
                <a:latin typeface="楷体" panose="02010609060101010101" pitchFamily="49" charset="-122"/>
                <a:ea typeface="楷体" panose="02010609060101010101" pitchFamily="49" charset="-122"/>
              </a:rPr>
              <a:t>准备接收数据</a:t>
            </a:r>
          </a:p>
          <a:p>
            <a:pPr marL="0" indent="0" eaLnBrk="1" hangingPunct="1">
              <a:lnSpc>
                <a:spcPct val="110000"/>
              </a:lnSpc>
              <a:spcBef>
                <a:spcPts val="600"/>
              </a:spcBef>
              <a:buFontTx/>
              <a:buNone/>
            </a:pPr>
            <a:r>
              <a:rPr lang="zh-CN" altLang="en-US" sz="2100" dirty="0">
                <a:latin typeface="楷体" panose="02010609060101010101" pitchFamily="49" charset="-122"/>
                <a:ea typeface="楷体" panose="02010609060101010101" pitchFamily="49" charset="-122"/>
              </a:rPr>
              <a:t>所以：</a:t>
            </a:r>
            <a:r>
              <a:rPr lang="en-US" altLang="zh-CN" sz="2100" dirty="0">
                <a:latin typeface="楷体" panose="02010609060101010101" pitchFamily="49" charset="-122"/>
                <a:ea typeface="楷体" panose="02010609060101010101" pitchFamily="49" charset="-122"/>
              </a:rPr>
              <a:t>CON=0001</a:t>
            </a:r>
            <a:r>
              <a:rPr lang="zh-CN" altLang="en-US" sz="2100" dirty="0">
                <a:latin typeface="楷体" panose="02010609060101010101" pitchFamily="49" charset="-122"/>
                <a:ea typeface="楷体" panose="02010609060101010101" pitchFamily="49" charset="-122"/>
              </a:rPr>
              <a:t>　</a:t>
            </a:r>
            <a:r>
              <a:rPr lang="en-US" altLang="zh-CN" sz="2100" dirty="0">
                <a:latin typeface="楷体" panose="02010609060101010101" pitchFamily="49" charset="-122"/>
                <a:ea typeface="楷体" panose="02010609060101010101" pitchFamily="49" charset="-122"/>
              </a:rPr>
              <a:t>1000</a:t>
            </a:r>
            <a:r>
              <a:rPr lang="zh-CN" altLang="en-US" sz="2100" dirty="0">
                <a:latin typeface="楷体" panose="02010609060101010101" pitchFamily="49" charset="-122"/>
                <a:ea typeface="楷体" panose="02010609060101010101" pitchFamily="49" charset="-122"/>
              </a:rPr>
              <a:t>　</a:t>
            </a:r>
            <a:r>
              <a:rPr lang="en-US" altLang="zh-CN" sz="2100" dirty="0">
                <a:latin typeface="楷体" panose="02010609060101010101" pitchFamily="49" charset="-122"/>
                <a:ea typeface="楷体" panose="02010609060101010101" pitchFamily="49" charset="-122"/>
              </a:rPr>
              <a:t>0000</a:t>
            </a:r>
          </a:p>
          <a:p>
            <a:pPr marL="0" indent="0" eaLnBrk="1" hangingPunct="1">
              <a:lnSpc>
                <a:spcPct val="110000"/>
              </a:lnSpc>
              <a:spcBef>
                <a:spcPts val="600"/>
              </a:spcBef>
              <a:buFontTx/>
              <a:buNone/>
            </a:pPr>
            <a:r>
              <a:rPr lang="en-US" altLang="zh-CN" sz="2100" dirty="0">
                <a:solidFill>
                  <a:srgbClr val="003399"/>
                </a:solidFill>
                <a:latin typeface="楷体" panose="02010609060101010101" pitchFamily="49" charset="-122"/>
                <a:ea typeface="楷体" panose="02010609060101010101" pitchFamily="49" charset="-122"/>
              </a:rPr>
              <a:t>(3) </a:t>
            </a:r>
            <a:r>
              <a:rPr lang="zh-CN" altLang="en-US" sz="2100" dirty="0">
                <a:solidFill>
                  <a:srgbClr val="003399"/>
                </a:solidFill>
                <a:latin typeface="楷体" panose="02010609060101010101" pitchFamily="49" charset="-122"/>
                <a:ea typeface="楷体" panose="02010609060101010101" pitchFamily="49" charset="-122"/>
              </a:rPr>
              <a:t>增量节拍</a:t>
            </a:r>
            <a:r>
              <a:rPr lang="en-US" altLang="zh-CN" sz="2100" dirty="0">
                <a:solidFill>
                  <a:srgbClr val="003399"/>
                </a:solidFill>
                <a:latin typeface="楷体" panose="02010609060101010101" pitchFamily="49" charset="-122"/>
                <a:ea typeface="楷体" panose="02010609060101010101" pitchFamily="49" charset="-122"/>
              </a:rPr>
              <a:t>: </a:t>
            </a:r>
            <a:r>
              <a:rPr lang="zh-CN" altLang="en-US" sz="2100" dirty="0">
                <a:solidFill>
                  <a:srgbClr val="003399"/>
                </a:solidFill>
                <a:latin typeface="楷体" panose="02010609060101010101" pitchFamily="49" charset="-122"/>
                <a:ea typeface="楷体" panose="02010609060101010101" pitchFamily="49" charset="-122"/>
              </a:rPr>
              <a:t>在</a:t>
            </a:r>
            <a:r>
              <a:rPr lang="en-US" altLang="zh-CN" sz="2100" dirty="0">
                <a:solidFill>
                  <a:srgbClr val="003399"/>
                </a:solidFill>
                <a:latin typeface="楷体" panose="02010609060101010101" pitchFamily="49" charset="-122"/>
                <a:ea typeface="楷体" panose="02010609060101010101" pitchFamily="49" charset="-122"/>
              </a:rPr>
              <a:t>T</a:t>
            </a:r>
            <a:r>
              <a:rPr lang="en-US" altLang="zh-CN" sz="2100" baseline="-25000" dirty="0">
                <a:solidFill>
                  <a:srgbClr val="003399"/>
                </a:solidFill>
                <a:latin typeface="楷体" panose="02010609060101010101" pitchFamily="49" charset="-122"/>
                <a:ea typeface="楷体" panose="02010609060101010101" pitchFamily="49" charset="-122"/>
              </a:rPr>
              <a:t>2</a:t>
            </a:r>
            <a:r>
              <a:rPr lang="en-US" altLang="zh-CN" sz="2100" dirty="0">
                <a:solidFill>
                  <a:srgbClr val="003399"/>
                </a:solidFill>
                <a:latin typeface="楷体" panose="02010609060101010101" pitchFamily="49" charset="-122"/>
                <a:ea typeface="楷体" panose="02010609060101010101" pitchFamily="49" charset="-122"/>
              </a:rPr>
              <a:t>=1</a:t>
            </a:r>
            <a:r>
              <a:rPr lang="zh-CN" altLang="en-US" sz="2100" dirty="0">
                <a:solidFill>
                  <a:srgbClr val="003399"/>
                </a:solidFill>
                <a:latin typeface="楷体" panose="02010609060101010101" pitchFamily="49" charset="-122"/>
                <a:ea typeface="楷体" panose="02010609060101010101" pitchFamily="49" charset="-122"/>
              </a:rPr>
              <a:t>时</a:t>
            </a:r>
            <a:r>
              <a:rPr lang="zh-CN" altLang="en-US" sz="2100" dirty="0">
                <a:solidFill>
                  <a:srgbClr val="00B0F0"/>
                </a:solidFill>
                <a:latin typeface="楷体" panose="02010609060101010101" pitchFamily="49" charset="-122"/>
                <a:ea typeface="楷体" panose="02010609060101010101" pitchFamily="49" charset="-122"/>
              </a:rPr>
              <a:t>，</a:t>
            </a:r>
            <a:r>
              <a:rPr lang="zh-CN" altLang="en-US" sz="2100" dirty="0">
                <a:solidFill>
                  <a:srgbClr val="FF0000"/>
                </a:solidFill>
                <a:latin typeface="楷体" panose="02010609060101010101" pitchFamily="49" charset="-122"/>
                <a:ea typeface="楷体" panose="02010609060101010101" pitchFamily="49" charset="-122"/>
              </a:rPr>
              <a:t>应使</a:t>
            </a:r>
            <a:r>
              <a:rPr lang="en-US" altLang="zh-CN" sz="2100" dirty="0">
                <a:latin typeface="楷体" panose="02010609060101010101" pitchFamily="49" charset="-122"/>
                <a:ea typeface="楷体" panose="02010609060101010101" pitchFamily="49" charset="-122"/>
              </a:rPr>
              <a:t>PC</a:t>
            </a:r>
            <a:r>
              <a:rPr lang="zh-CN" altLang="en-US" sz="2100" dirty="0">
                <a:latin typeface="楷体" panose="02010609060101010101" pitchFamily="49" charset="-122"/>
                <a:ea typeface="楷体" panose="02010609060101010101" pitchFamily="49" charset="-122"/>
              </a:rPr>
              <a:t>加</a:t>
            </a:r>
            <a:r>
              <a:rPr lang="en-US" altLang="zh-CN" sz="2100" dirty="0">
                <a:latin typeface="楷体" panose="02010609060101010101" pitchFamily="49" charset="-122"/>
                <a:ea typeface="楷体" panose="02010609060101010101" pitchFamily="49" charset="-122"/>
              </a:rPr>
              <a:t>1</a:t>
            </a:r>
            <a:r>
              <a:rPr lang="zh-CN" altLang="en-US" sz="2100" dirty="0">
                <a:latin typeface="楷体" panose="02010609060101010101" pitchFamily="49" charset="-122"/>
                <a:ea typeface="楷体" panose="02010609060101010101" pitchFamily="49" charset="-122"/>
              </a:rPr>
              <a:t>，做好下一条指令的取指准备。因此</a:t>
            </a:r>
            <a:r>
              <a:rPr lang="en-US" altLang="zh-CN" sz="2100" dirty="0">
                <a:latin typeface="楷体" panose="02010609060101010101" pitchFamily="49" charset="-122"/>
                <a:ea typeface="楷体" panose="02010609060101010101" pitchFamily="49" charset="-122"/>
              </a:rPr>
              <a:t>C</a:t>
            </a:r>
            <a:r>
              <a:rPr lang="en-US" altLang="zh-CN" sz="2100" baseline="-25000" dirty="0">
                <a:latin typeface="楷体" panose="02010609060101010101" pitchFamily="49" charset="-122"/>
                <a:ea typeface="楷体" panose="02010609060101010101" pitchFamily="49" charset="-122"/>
              </a:rPr>
              <a:t>P</a:t>
            </a:r>
            <a:r>
              <a:rPr lang="en-US" altLang="zh-CN" sz="2100" dirty="0">
                <a:latin typeface="楷体" panose="02010609060101010101" pitchFamily="49" charset="-122"/>
                <a:ea typeface="楷体" panose="02010609060101010101" pitchFamily="49" charset="-122"/>
              </a:rPr>
              <a:t>=1</a:t>
            </a:r>
            <a:r>
              <a:rPr lang="zh-CN" altLang="en-US" sz="2100" dirty="0">
                <a:latin typeface="楷体" panose="02010609060101010101" pitchFamily="49" charset="-122"/>
                <a:ea typeface="楷体" panose="02010609060101010101" pitchFamily="49" charset="-122"/>
              </a:rPr>
              <a:t>，即命令</a:t>
            </a:r>
            <a:r>
              <a:rPr lang="en-US" altLang="zh-CN" sz="2100" dirty="0">
                <a:latin typeface="楷体" panose="02010609060101010101" pitchFamily="49" charset="-122"/>
                <a:ea typeface="楷体" panose="02010609060101010101" pitchFamily="49" charset="-122"/>
              </a:rPr>
              <a:t>PC</a:t>
            </a:r>
            <a:r>
              <a:rPr lang="zh-CN" altLang="en-US" sz="2100" dirty="0">
                <a:latin typeface="楷体" panose="02010609060101010101" pitchFamily="49" charset="-122"/>
                <a:ea typeface="楷体" panose="02010609060101010101" pitchFamily="49" charset="-122"/>
              </a:rPr>
              <a:t>计数。</a:t>
            </a:r>
            <a:endParaRPr lang="en-US" altLang="zh-CN" sz="2100" dirty="0">
              <a:latin typeface="楷体" panose="02010609060101010101" pitchFamily="49" charset="-122"/>
              <a:ea typeface="楷体" panose="02010609060101010101" pitchFamily="49" charset="-122"/>
            </a:endParaRPr>
          </a:p>
          <a:p>
            <a:pPr marL="0" indent="0" eaLnBrk="1" hangingPunct="1">
              <a:lnSpc>
                <a:spcPct val="110000"/>
              </a:lnSpc>
              <a:spcBef>
                <a:spcPts val="600"/>
              </a:spcBef>
              <a:buFontTx/>
              <a:buNone/>
            </a:pPr>
            <a:r>
              <a:rPr lang="en-US" altLang="zh-CN" sz="2100" dirty="0">
                <a:latin typeface="楷体" panose="02010609060101010101" pitchFamily="49" charset="-122"/>
                <a:ea typeface="楷体" panose="02010609060101010101" pitchFamily="49" charset="-122"/>
              </a:rPr>
              <a:t>    </a:t>
            </a:r>
            <a:r>
              <a:rPr lang="zh-CN" altLang="en-US" sz="2100" dirty="0">
                <a:latin typeface="楷体" panose="02010609060101010101" pitchFamily="49" charset="-122"/>
                <a:ea typeface="楷体" panose="02010609060101010101" pitchFamily="49" charset="-122"/>
              </a:rPr>
              <a:t>此时</a:t>
            </a:r>
            <a:r>
              <a:rPr lang="en-US" altLang="zh-CN" sz="2100" dirty="0">
                <a:latin typeface="楷体" panose="02010609060101010101" pitchFamily="49" charset="-122"/>
                <a:ea typeface="楷体" panose="02010609060101010101" pitchFamily="49" charset="-122"/>
              </a:rPr>
              <a:t>CON=1000</a:t>
            </a:r>
            <a:r>
              <a:rPr lang="zh-CN" altLang="en-US" sz="2100" dirty="0">
                <a:latin typeface="楷体" panose="02010609060101010101" pitchFamily="49" charset="-122"/>
                <a:ea typeface="楷体" panose="02010609060101010101" pitchFamily="49" charset="-122"/>
              </a:rPr>
              <a:t>　</a:t>
            </a:r>
            <a:r>
              <a:rPr lang="en-US" altLang="zh-CN" sz="2100" dirty="0">
                <a:latin typeface="楷体" panose="02010609060101010101" pitchFamily="49" charset="-122"/>
                <a:ea typeface="楷体" panose="02010609060101010101" pitchFamily="49" charset="-122"/>
              </a:rPr>
              <a:t>0000</a:t>
            </a:r>
            <a:r>
              <a:rPr lang="zh-CN" altLang="en-US" sz="2100" dirty="0">
                <a:latin typeface="楷体" panose="02010609060101010101" pitchFamily="49" charset="-122"/>
                <a:ea typeface="楷体" panose="02010609060101010101" pitchFamily="49" charset="-122"/>
              </a:rPr>
              <a:t>　</a:t>
            </a:r>
            <a:r>
              <a:rPr lang="en-US" altLang="zh-CN" sz="2100" dirty="0">
                <a:latin typeface="楷体" panose="02010609060101010101" pitchFamily="49" charset="-122"/>
                <a:ea typeface="楷体" panose="02010609060101010101" pitchFamily="49" charset="-122"/>
              </a:rPr>
              <a:t>0000</a:t>
            </a:r>
          </a:p>
          <a:p>
            <a:pPr marL="0" indent="0" eaLnBrk="1" hangingPunct="1">
              <a:lnSpc>
                <a:spcPct val="110000"/>
              </a:lnSpc>
              <a:spcBef>
                <a:spcPts val="600"/>
              </a:spcBef>
              <a:buFontTx/>
              <a:buNone/>
            </a:pPr>
            <a:r>
              <a:rPr lang="zh-CN" altLang="en-US" sz="2100" dirty="0">
                <a:latin typeface="楷体" panose="02010609060101010101" pitchFamily="49" charset="-122"/>
                <a:ea typeface="楷体" panose="02010609060101010101" pitchFamily="49" charset="-122"/>
              </a:rPr>
              <a:t>这</a:t>
            </a:r>
            <a:r>
              <a:rPr lang="en-US" altLang="zh-CN" sz="2100" dirty="0">
                <a:latin typeface="楷体" panose="02010609060101010101" pitchFamily="49" charset="-122"/>
                <a:ea typeface="楷体" panose="02010609060101010101" pitchFamily="49" charset="-122"/>
              </a:rPr>
              <a:t>3</a:t>
            </a:r>
            <a:r>
              <a:rPr lang="zh-CN" altLang="en-US" sz="2100" dirty="0">
                <a:latin typeface="楷体" panose="02010609060101010101" pitchFamily="49" charset="-122"/>
                <a:ea typeface="楷体" panose="02010609060101010101" pitchFamily="49" charset="-122"/>
              </a:rPr>
              <a:t>节拍称为取指周期。</a:t>
            </a:r>
            <a:r>
              <a:rPr lang="zh-CN" altLang="en-US" sz="2100" dirty="0">
                <a:solidFill>
                  <a:srgbClr val="FF0000"/>
                </a:solidFill>
                <a:latin typeface="楷体" panose="02010609060101010101" pitchFamily="49" charset="-122"/>
                <a:ea typeface="楷体" panose="02010609060101010101" pitchFamily="49" charset="-122"/>
              </a:rPr>
              <a:t>取指周期，对任何一条指令都是一样的。</a:t>
            </a:r>
            <a:r>
              <a:rPr lang="zh-CN" altLang="en-US" sz="2100" dirty="0">
                <a:latin typeface="楷体" panose="02010609060101010101" pitchFamily="49" charset="-122"/>
                <a:ea typeface="楷体" panose="02010609060101010101" pitchFamily="49" charset="-122"/>
              </a:rPr>
              <a:t>因为任何一条指令都是沿着这个程式而将指令取出来，</a:t>
            </a:r>
            <a:endParaRPr lang="en-US" altLang="zh-CN" sz="2100" dirty="0">
              <a:latin typeface="楷体" panose="02010609060101010101" pitchFamily="49" charset="-122"/>
              <a:ea typeface="楷体" panose="02010609060101010101" pitchFamily="49" charset="-122"/>
            </a:endParaRPr>
          </a:p>
          <a:p>
            <a:pPr marL="0" indent="0" eaLnBrk="1" hangingPunct="1">
              <a:lnSpc>
                <a:spcPct val="110000"/>
              </a:lnSpc>
              <a:spcBef>
                <a:spcPts val="600"/>
              </a:spcBef>
              <a:buFontTx/>
              <a:buNone/>
            </a:pPr>
            <a:endParaRPr lang="en-US" altLang="zh-CN" sz="2100" dirty="0">
              <a:latin typeface="楷体" panose="02010609060101010101" pitchFamily="49" charset="-122"/>
              <a:ea typeface="楷体" panose="02010609060101010101" pitchFamily="49" charset="-122"/>
            </a:endParaRPr>
          </a:p>
        </p:txBody>
      </p:sp>
      <p:sp>
        <p:nvSpPr>
          <p:cNvPr id="55299" name="Text Box 3"/>
          <p:cNvSpPr txBox="1">
            <a:spLocks noChangeArrowheads="1"/>
          </p:cNvSpPr>
          <p:nvPr/>
        </p:nvSpPr>
        <p:spPr bwMode="auto">
          <a:xfrm>
            <a:off x="5010943" y="6223997"/>
            <a:ext cx="3614737" cy="40440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92500"/>
          </a:bodyPr>
          <a:lstStyle>
            <a:lvl1pPr indent="0" defTabSz="914400">
              <a:lnSpc>
                <a:spcPct val="110000"/>
              </a:lnSpc>
              <a:spcBef>
                <a:spcPts val="600"/>
              </a:spcBef>
              <a:buFontTx/>
              <a:buNone/>
              <a:defRPr sz="2100">
                <a:solidFill>
                  <a:srgbClr val="003399"/>
                </a:solidFill>
                <a:latin typeface="楷体" panose="02010609060101010101" pitchFamily="49" charset="-122"/>
                <a:ea typeface="楷体" panose="02010609060101010101" pitchFamily="49"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t>图</a:t>
            </a:r>
            <a:r>
              <a:rPr lang="en-US" altLang="zh-CN" dirty="0"/>
              <a:t>3.1a  </a:t>
            </a:r>
            <a:r>
              <a:rPr lang="zh-CN" altLang="en-US" dirty="0"/>
              <a:t>微型计算机的简化结构</a:t>
            </a:r>
            <a:endParaRPr lang="en-US" altLang="zh-CN" dirty="0"/>
          </a:p>
        </p:txBody>
      </p:sp>
      <p:pic>
        <p:nvPicPr>
          <p:cNvPr id="55300"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527550" y="1052513"/>
            <a:ext cx="45815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B6CA475B-11EB-78AD-E7A0-097599766E17}"/>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300" b="1" i="0" u="none" strike="noStrike" cap="none" normalizeH="0" baseline="0">
                <a:ln>
                  <a:noFill/>
                </a:ln>
                <a:solidFill>
                  <a:srgbClr val="333333"/>
                </a:solidFill>
                <a:effectLst/>
                <a:latin typeface="Open Sans" panose="020B0606030504020204" pitchFamily="34" charset="0"/>
                <a:cs typeface="Open Sans" panose="020B0606030504020204" pitchFamily="34" charset="0"/>
              </a:rPr>
              <a:t>地址节拍</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01277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subTitle" idx="4294967295"/>
          </p:nvPr>
        </p:nvSpPr>
        <p:spPr bwMode="auto">
          <a:xfrm>
            <a:off x="304800" y="1114425"/>
            <a:ext cx="8382000" cy="48355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lnSpc>
                <a:spcPct val="140000"/>
              </a:lnSpc>
              <a:spcBef>
                <a:spcPts val="600"/>
              </a:spcBef>
              <a:buFontTx/>
              <a:buNone/>
            </a:pPr>
            <a:r>
              <a:rPr lang="zh-CN" altLang="en-US" sz="2400" dirty="0">
                <a:latin typeface="楷体" panose="02010609060101010101" pitchFamily="49" charset="-122"/>
                <a:ea typeface="楷体" panose="02010609060101010101" pitchFamily="49" charset="-122"/>
              </a:rPr>
              <a:t>    指令取出后，将其高</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位送入控制部件去进行分析，决定下面应如何执行，所以下面的</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节拍就称为</a:t>
            </a:r>
            <a:r>
              <a:rPr lang="zh-CN" altLang="en-US" sz="2400" dirty="0">
                <a:solidFill>
                  <a:srgbClr val="FF0000"/>
                </a:solidFill>
                <a:latin typeface="楷体" panose="02010609060101010101" pitchFamily="49" charset="-122"/>
                <a:ea typeface="楷体" panose="02010609060101010101" pitchFamily="49" charset="-122"/>
              </a:rPr>
              <a:t>执行周期</a:t>
            </a:r>
            <a:r>
              <a:rPr lang="zh-CN" altLang="en-US" sz="2400" dirty="0">
                <a:latin typeface="楷体" panose="02010609060101010101" pitchFamily="49" charset="-122"/>
                <a:ea typeface="楷体" panose="02010609060101010101" pitchFamily="49" charset="-122"/>
              </a:rPr>
              <a:t>。由控制部件分析的结果，对本微型机来说，共有</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类执行的程序：</a:t>
            </a:r>
          </a:p>
          <a:p>
            <a:pPr marL="0" indent="0" eaLnBrk="1" hangingPunct="1">
              <a:lnSpc>
                <a:spcPct val="140000"/>
              </a:lnSpc>
              <a:spcBef>
                <a:spcPts val="600"/>
              </a:spcBef>
              <a:buFontTx/>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LDA——</a:t>
            </a:r>
            <a:r>
              <a:rPr lang="zh-CN" altLang="en-US" sz="2400" dirty="0">
                <a:latin typeface="楷体" panose="02010609060101010101" pitchFamily="49" charset="-122"/>
                <a:ea typeface="楷体" panose="02010609060101010101" pitchFamily="49" charset="-122"/>
              </a:rPr>
              <a:t>将数据装入</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a:t>
            </a:r>
          </a:p>
          <a:p>
            <a:pPr marL="0" indent="0" eaLnBrk="1" hangingPunct="1">
              <a:lnSpc>
                <a:spcPct val="140000"/>
              </a:lnSpc>
              <a:spcBef>
                <a:spcPts val="600"/>
              </a:spcBef>
              <a:buFontTx/>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ADD——</a:t>
            </a:r>
            <a:r>
              <a:rPr lang="zh-CN" altLang="en-US" sz="2400" dirty="0">
                <a:latin typeface="楷体" panose="02010609060101010101" pitchFamily="49" charset="-122"/>
                <a:ea typeface="楷体" panose="02010609060101010101" pitchFamily="49" charset="-122"/>
              </a:rPr>
              <a:t>将数据与</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相加；</a:t>
            </a:r>
          </a:p>
          <a:p>
            <a:pPr marL="0" indent="0" eaLnBrk="1" hangingPunct="1">
              <a:lnSpc>
                <a:spcPct val="140000"/>
              </a:lnSpc>
              <a:spcBef>
                <a:spcPts val="600"/>
              </a:spcBef>
              <a:buFontTx/>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SUB——</a:t>
            </a:r>
            <a:r>
              <a:rPr lang="zh-CN" altLang="en-US" sz="2400" dirty="0">
                <a:latin typeface="楷体" panose="02010609060101010101" pitchFamily="49" charset="-122"/>
                <a:ea typeface="楷体" panose="02010609060101010101" pitchFamily="49" charset="-122"/>
              </a:rPr>
              <a:t>将数据与</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相减；</a:t>
            </a:r>
          </a:p>
          <a:p>
            <a:pPr marL="0" indent="0" eaLnBrk="1" hangingPunct="1">
              <a:lnSpc>
                <a:spcPct val="140000"/>
              </a:lnSpc>
              <a:spcBef>
                <a:spcPts val="600"/>
              </a:spcBef>
              <a:buFontTx/>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OUT——</a:t>
            </a:r>
            <a:r>
              <a:rPr lang="zh-CN" altLang="en-US" sz="2400" dirty="0">
                <a:latin typeface="楷体" panose="02010609060101010101" pitchFamily="49" charset="-122"/>
                <a:ea typeface="楷体" panose="02010609060101010101" pitchFamily="49" charset="-122"/>
              </a:rPr>
              <a:t>将数据从</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输出；</a:t>
            </a:r>
          </a:p>
          <a:p>
            <a:pPr marL="0" indent="0" eaLnBrk="1" hangingPunct="1">
              <a:lnSpc>
                <a:spcPct val="140000"/>
              </a:lnSpc>
              <a:spcBef>
                <a:spcPts val="600"/>
              </a:spcBef>
              <a:buFontTx/>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HLT——</a:t>
            </a:r>
            <a:r>
              <a:rPr lang="zh-CN" altLang="en-US" sz="2400" dirty="0">
                <a:latin typeface="楷体" panose="02010609060101010101" pitchFamily="49" charset="-122"/>
                <a:ea typeface="楷体" panose="02010609060101010101" pitchFamily="49" charset="-122"/>
              </a:rPr>
              <a:t>停机，即停发</a:t>
            </a:r>
            <a:r>
              <a:rPr lang="en-US" altLang="zh-CN" sz="2400" dirty="0">
                <a:latin typeface="楷体" panose="02010609060101010101" pitchFamily="49" charset="-122"/>
                <a:ea typeface="楷体" panose="02010609060101010101" pitchFamily="49" charset="-122"/>
              </a:rPr>
              <a:t>CLK</a:t>
            </a:r>
            <a:r>
              <a:rPr lang="zh-CN" altLang="en-US" sz="2400" dirty="0">
                <a:latin typeface="楷体" panose="02010609060101010101" pitchFamily="49" charset="-122"/>
                <a:ea typeface="楷体" panose="02010609060101010101" pitchFamily="49" charset="-122"/>
              </a:rPr>
              <a:t>脉冲。</a:t>
            </a:r>
          </a:p>
        </p:txBody>
      </p:sp>
    </p:spTree>
    <p:extLst>
      <p:ext uri="{BB962C8B-B14F-4D97-AF65-F5344CB8AC3E}">
        <p14:creationId xmlns:p14="http://schemas.microsoft.com/office/powerpoint/2010/main" val="4051623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subTitle" idx="4294967295"/>
          </p:nvPr>
        </p:nvSpPr>
        <p:spPr bwMode="auto">
          <a:xfrm>
            <a:off x="200025" y="1076325"/>
            <a:ext cx="4859338" cy="56959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92500"/>
          </a:bodyPr>
          <a:lstStyle/>
          <a:p>
            <a:pPr marL="0" indent="0">
              <a:lnSpc>
                <a:spcPct val="110000"/>
              </a:lnSpc>
              <a:spcBef>
                <a:spcPts val="600"/>
              </a:spcBef>
              <a:buFontTx/>
              <a:buNone/>
            </a:pPr>
            <a:r>
              <a:rPr lang="zh-CN" altLang="en-US" sz="2100" dirty="0">
                <a:latin typeface="楷体" panose="02010609060101010101" pitchFamily="49" charset="-122"/>
                <a:ea typeface="楷体" panose="02010609060101010101" pitchFamily="49" charset="-122"/>
              </a:rPr>
              <a:t>    执行这样的每个程序也需要</a:t>
            </a:r>
            <a:r>
              <a:rPr lang="en-US" altLang="zh-CN" sz="2100" dirty="0">
                <a:latin typeface="楷体" panose="02010609060101010101" pitchFamily="49" charset="-122"/>
                <a:ea typeface="楷体" panose="02010609060101010101" pitchFamily="49" charset="-122"/>
              </a:rPr>
              <a:t>3</a:t>
            </a:r>
            <a:r>
              <a:rPr lang="zh-CN" altLang="en-US" sz="2100" dirty="0">
                <a:latin typeface="楷体" panose="02010609060101010101" pitchFamily="49" charset="-122"/>
                <a:ea typeface="楷体" panose="02010609060101010101" pitchFamily="49" charset="-122"/>
              </a:rPr>
              <a:t>拍</a:t>
            </a:r>
            <a:r>
              <a:rPr lang="en-US" altLang="zh-CN" sz="2100" dirty="0">
                <a:latin typeface="楷体" panose="02010609060101010101" pitchFamily="49" charset="-122"/>
                <a:ea typeface="楷体" panose="02010609060101010101" pitchFamily="49" charset="-122"/>
              </a:rPr>
              <a:t>(T3</a:t>
            </a:r>
            <a:r>
              <a:rPr lang="zh-CN" altLang="en-US" sz="2100" dirty="0">
                <a:latin typeface="楷体" panose="02010609060101010101" pitchFamily="49" charset="-122"/>
                <a:ea typeface="楷体" panose="02010609060101010101" pitchFamily="49" charset="-122"/>
              </a:rPr>
              <a:t>，</a:t>
            </a:r>
            <a:r>
              <a:rPr lang="en-US" altLang="zh-CN" sz="2100" dirty="0">
                <a:latin typeface="楷体" panose="02010609060101010101" pitchFamily="49" charset="-122"/>
                <a:ea typeface="楷体" panose="02010609060101010101" pitchFamily="49" charset="-122"/>
              </a:rPr>
              <a:t>T4</a:t>
            </a:r>
            <a:r>
              <a:rPr lang="zh-CN" altLang="en-US" sz="2100" dirty="0">
                <a:latin typeface="楷体" panose="02010609060101010101" pitchFamily="49" charset="-122"/>
                <a:ea typeface="楷体" panose="02010609060101010101" pitchFamily="49" charset="-122"/>
              </a:rPr>
              <a:t>，</a:t>
            </a:r>
            <a:r>
              <a:rPr lang="en-US" altLang="zh-CN" sz="2100" dirty="0">
                <a:latin typeface="楷体" panose="02010609060101010101" pitchFamily="49" charset="-122"/>
                <a:ea typeface="楷体" panose="02010609060101010101" pitchFamily="49" charset="-122"/>
              </a:rPr>
              <a:t>T5)</a:t>
            </a:r>
            <a:r>
              <a:rPr lang="zh-CN" altLang="en-US" sz="2100" dirty="0">
                <a:latin typeface="楷体" panose="02010609060101010101" pitchFamily="49" charset="-122"/>
                <a:ea typeface="楷体" panose="02010609060101010101" pitchFamily="49" charset="-122"/>
              </a:rPr>
              <a:t>，这种程序是由厂家编好了的，称为例行程序。以</a:t>
            </a:r>
            <a:r>
              <a:rPr lang="en-US" altLang="zh-CN" sz="2100" dirty="0">
                <a:latin typeface="楷体" panose="02010609060101010101" pitchFamily="49" charset="-122"/>
                <a:ea typeface="楷体" panose="02010609060101010101" pitchFamily="49" charset="-122"/>
              </a:rPr>
              <a:t>LDA</a:t>
            </a:r>
            <a:r>
              <a:rPr lang="zh-CN" altLang="en-US" sz="2100" dirty="0">
                <a:latin typeface="楷体" panose="02010609060101010101" pitchFamily="49" charset="-122"/>
                <a:ea typeface="楷体" panose="02010609060101010101" pitchFamily="49" charset="-122"/>
              </a:rPr>
              <a:t>程序为例，考查一下在此</a:t>
            </a:r>
            <a:r>
              <a:rPr lang="en-US" altLang="zh-CN" sz="2100" dirty="0">
                <a:latin typeface="楷体" panose="02010609060101010101" pitchFamily="49" charset="-122"/>
                <a:ea typeface="楷体" panose="02010609060101010101" pitchFamily="49" charset="-122"/>
              </a:rPr>
              <a:t>3</a:t>
            </a:r>
            <a:r>
              <a:rPr lang="zh-CN" altLang="en-US" sz="2100" dirty="0">
                <a:latin typeface="楷体" panose="02010609060101010101" pitchFamily="49" charset="-122"/>
                <a:ea typeface="楷体" panose="02010609060101010101" pitchFamily="49" charset="-122"/>
              </a:rPr>
              <a:t>节拍中，各个寄存器中内容的变化。</a:t>
            </a:r>
          </a:p>
          <a:p>
            <a:pPr marL="0" indent="0">
              <a:lnSpc>
                <a:spcPct val="110000"/>
              </a:lnSpc>
              <a:spcBef>
                <a:spcPts val="600"/>
              </a:spcBef>
              <a:buFontTx/>
              <a:buNone/>
            </a:pPr>
            <a:r>
              <a:rPr lang="en-US" altLang="zh-CN" sz="2100" dirty="0">
                <a:latin typeface="楷体" panose="02010609060101010101" pitchFamily="49" charset="-122"/>
                <a:ea typeface="楷体" panose="02010609060101010101" pitchFamily="49" charset="-122"/>
              </a:rPr>
              <a:t>  </a:t>
            </a:r>
            <a:r>
              <a:rPr lang="en-US" altLang="zh-CN" sz="2100" dirty="0">
                <a:solidFill>
                  <a:srgbClr val="003399"/>
                </a:solidFill>
                <a:latin typeface="楷体" panose="02010609060101010101" pitchFamily="49" charset="-122"/>
                <a:ea typeface="楷体" panose="02010609060101010101" pitchFamily="49" charset="-122"/>
              </a:rPr>
              <a:t>(4)T3=1</a:t>
            </a:r>
            <a:r>
              <a:rPr lang="zh-CN" altLang="en-US" sz="2100" dirty="0">
                <a:latin typeface="楷体" panose="02010609060101010101" pitchFamily="49" charset="-122"/>
                <a:ea typeface="楷体" panose="02010609060101010101" pitchFamily="49" charset="-122"/>
              </a:rPr>
              <a:t>时：</a:t>
            </a:r>
            <a:r>
              <a:rPr lang="en-US" altLang="zh-CN" sz="2100" dirty="0">
                <a:latin typeface="楷体" panose="02010609060101010101" pitchFamily="49" charset="-122"/>
                <a:ea typeface="楷体" panose="02010609060101010101" pitchFamily="49" charset="-122"/>
              </a:rPr>
              <a:t>IR</a:t>
            </a:r>
            <a:r>
              <a:rPr lang="zh-CN" altLang="en-US" sz="2100" dirty="0">
                <a:latin typeface="楷体" panose="02010609060101010101" pitchFamily="49" charset="-122"/>
                <a:ea typeface="楷体" panose="02010609060101010101" pitchFamily="49" charset="-122"/>
              </a:rPr>
              <a:t>已将从</a:t>
            </a:r>
            <a:r>
              <a:rPr lang="en-US" altLang="zh-CN" sz="2100" dirty="0">
                <a:latin typeface="楷体" panose="02010609060101010101" pitchFamily="49" charset="-122"/>
                <a:ea typeface="楷体" panose="02010609060101010101" pitchFamily="49" charset="-122"/>
              </a:rPr>
              <a:t>PROM</a:t>
            </a:r>
            <a:r>
              <a:rPr lang="zh-CN" altLang="en-US" sz="2100" dirty="0">
                <a:latin typeface="楷体" panose="02010609060101010101" pitchFamily="49" charset="-122"/>
                <a:ea typeface="楷体" panose="02010609060101010101" pitchFamily="49" charset="-122"/>
              </a:rPr>
              <a:t>来的指令码的高</a:t>
            </a:r>
            <a:r>
              <a:rPr lang="en-US" altLang="zh-CN" sz="2100" dirty="0">
                <a:latin typeface="楷体" panose="02010609060101010101" pitchFamily="49" charset="-122"/>
                <a:ea typeface="楷体" panose="02010609060101010101" pitchFamily="49" charset="-122"/>
              </a:rPr>
              <a:t>4</a:t>
            </a:r>
            <a:r>
              <a:rPr lang="zh-CN" altLang="en-US" sz="2100" dirty="0">
                <a:latin typeface="楷体" panose="02010609060101010101" pitchFamily="49" charset="-122"/>
                <a:ea typeface="楷体" panose="02010609060101010101" pitchFamily="49" charset="-122"/>
              </a:rPr>
              <a:t>位送至控制部件进行分析。此高</a:t>
            </a:r>
            <a:r>
              <a:rPr lang="en-US" altLang="zh-CN" sz="2100" dirty="0">
                <a:latin typeface="楷体" panose="02010609060101010101" pitchFamily="49" charset="-122"/>
                <a:ea typeface="楷体" panose="02010609060101010101" pitchFamily="49" charset="-122"/>
              </a:rPr>
              <a:t>4</a:t>
            </a:r>
            <a:r>
              <a:rPr lang="zh-CN" altLang="en-US" sz="2100" dirty="0">
                <a:latin typeface="楷体" panose="02010609060101010101" pitchFamily="49" charset="-122"/>
                <a:ea typeface="楷体" panose="02010609060101010101" pitchFamily="49" charset="-122"/>
              </a:rPr>
              <a:t>位是与</a:t>
            </a:r>
            <a:r>
              <a:rPr lang="en-US" altLang="zh-CN" sz="2100" dirty="0">
                <a:latin typeface="楷体" panose="02010609060101010101" pitchFamily="49" charset="-122"/>
                <a:ea typeface="楷体" panose="02010609060101010101" pitchFamily="49" charset="-122"/>
              </a:rPr>
              <a:t>LDA</a:t>
            </a:r>
            <a:r>
              <a:rPr lang="zh-CN" altLang="en-US" sz="2100" dirty="0">
                <a:latin typeface="楷体" panose="02010609060101010101" pitchFamily="49" charset="-122"/>
                <a:ea typeface="楷体" panose="02010609060101010101" pitchFamily="49" charset="-122"/>
              </a:rPr>
              <a:t>相应的二进制码“</a:t>
            </a:r>
            <a:r>
              <a:rPr lang="en-US" altLang="zh-CN" sz="2100" dirty="0">
                <a:latin typeface="楷体" panose="02010609060101010101" pitchFamily="49" charset="-122"/>
                <a:ea typeface="楷体" panose="02010609060101010101" pitchFamily="49" charset="-122"/>
              </a:rPr>
              <a:t>0000”</a:t>
            </a:r>
            <a:r>
              <a:rPr lang="zh-CN" altLang="en-US" sz="2100" dirty="0">
                <a:latin typeface="楷体" panose="02010609060101010101" pitchFamily="49" charset="-122"/>
                <a:ea typeface="楷体" panose="02010609060101010101" pitchFamily="49" charset="-122"/>
              </a:rPr>
              <a:t>，控制部件经过分析后就发出命令：</a:t>
            </a:r>
          </a:p>
          <a:p>
            <a:pPr marL="0" indent="0">
              <a:lnSpc>
                <a:spcPct val="110000"/>
              </a:lnSpc>
              <a:spcBef>
                <a:spcPts val="600"/>
              </a:spcBef>
              <a:buFontTx/>
              <a:buNone/>
            </a:pPr>
            <a:r>
              <a:rPr lang="en-US" altLang="zh-CN" sz="2100" dirty="0">
                <a:latin typeface="楷体" panose="02010609060101010101" pitchFamily="49" charset="-122"/>
                <a:ea typeface="楷体" panose="02010609060101010101" pitchFamily="49" charset="-122"/>
              </a:rPr>
              <a:t>    E</a:t>
            </a:r>
            <a:r>
              <a:rPr lang="en-US" altLang="zh-CN" sz="2100" baseline="-25000" dirty="0">
                <a:latin typeface="楷体" panose="02010609060101010101" pitchFamily="49" charset="-122"/>
                <a:ea typeface="楷体" panose="02010609060101010101" pitchFamily="49" charset="-122"/>
              </a:rPr>
              <a:t>I</a:t>
            </a:r>
            <a:r>
              <a:rPr lang="en-US" altLang="zh-CN" sz="2100" dirty="0">
                <a:latin typeface="楷体" panose="02010609060101010101" pitchFamily="49" charset="-122"/>
                <a:ea typeface="楷体" panose="02010609060101010101" pitchFamily="49" charset="-122"/>
              </a:rPr>
              <a:t>=1</a:t>
            </a:r>
            <a:r>
              <a:rPr lang="zh-CN" altLang="en-US" sz="2100" dirty="0">
                <a:latin typeface="楷体" panose="02010609060101010101" pitchFamily="49" charset="-122"/>
                <a:ea typeface="楷体" panose="02010609060101010101" pitchFamily="49" charset="-122"/>
              </a:rPr>
              <a:t>，将</a:t>
            </a:r>
            <a:r>
              <a:rPr lang="en-US" altLang="zh-CN" sz="2100" dirty="0">
                <a:latin typeface="楷体" panose="02010609060101010101" pitchFamily="49" charset="-122"/>
                <a:ea typeface="楷体" panose="02010609060101010101" pitchFamily="49" charset="-122"/>
              </a:rPr>
              <a:t>IR</a:t>
            </a:r>
            <a:r>
              <a:rPr lang="zh-CN" altLang="en-US" sz="2100" dirty="0">
                <a:latin typeface="楷体" panose="02010609060101010101" pitchFamily="49" charset="-122"/>
                <a:ea typeface="楷体" panose="02010609060101010101" pitchFamily="49" charset="-122"/>
              </a:rPr>
              <a:t>的低</a:t>
            </a:r>
            <a:r>
              <a:rPr lang="en-US" altLang="zh-CN" sz="2100" dirty="0">
                <a:latin typeface="楷体" panose="02010609060101010101" pitchFamily="49" charset="-122"/>
                <a:ea typeface="楷体" panose="02010609060101010101" pitchFamily="49" charset="-122"/>
              </a:rPr>
              <a:t>4</a:t>
            </a:r>
            <a:r>
              <a:rPr lang="zh-CN" altLang="en-US" sz="2100" dirty="0">
                <a:latin typeface="楷体" panose="02010609060101010101" pitchFamily="49" charset="-122"/>
                <a:ea typeface="楷体" panose="02010609060101010101" pitchFamily="49" charset="-122"/>
              </a:rPr>
              <a:t>位送至</a:t>
            </a:r>
            <a:r>
              <a:rPr lang="en-US" altLang="zh-CN" sz="2100" dirty="0">
                <a:latin typeface="楷体" panose="02010609060101010101" pitchFamily="49" charset="-122"/>
                <a:ea typeface="楷体" panose="02010609060101010101" pitchFamily="49" charset="-122"/>
              </a:rPr>
              <a:t>W</a:t>
            </a:r>
            <a:r>
              <a:rPr lang="zh-CN" altLang="en-US" sz="2100" dirty="0">
                <a:latin typeface="楷体" panose="02010609060101010101" pitchFamily="49" charset="-122"/>
                <a:ea typeface="楷体" panose="02010609060101010101" pitchFamily="49" charset="-122"/>
              </a:rPr>
              <a:t>总线；</a:t>
            </a:r>
          </a:p>
          <a:p>
            <a:pPr marL="0" indent="0">
              <a:lnSpc>
                <a:spcPct val="110000"/>
              </a:lnSpc>
              <a:spcBef>
                <a:spcPts val="600"/>
              </a:spcBef>
              <a:buFontTx/>
              <a:buNone/>
            </a:pPr>
            <a:r>
              <a:rPr lang="en-US" altLang="zh-CN" sz="2100" dirty="0">
                <a:latin typeface="楷体" panose="02010609060101010101" pitchFamily="49" charset="-122"/>
                <a:ea typeface="楷体" panose="02010609060101010101" pitchFamily="49" charset="-122"/>
              </a:rPr>
              <a:t>    L</a:t>
            </a:r>
            <a:r>
              <a:rPr lang="en-US" altLang="zh-CN" sz="2100" baseline="-25000" dirty="0">
                <a:latin typeface="楷体" panose="02010609060101010101" pitchFamily="49" charset="-122"/>
                <a:ea typeface="楷体" panose="02010609060101010101" pitchFamily="49" charset="-122"/>
              </a:rPr>
              <a:t>M</a:t>
            </a:r>
            <a:r>
              <a:rPr lang="en-US" altLang="zh-CN" sz="2100" dirty="0">
                <a:latin typeface="楷体" panose="02010609060101010101" pitchFamily="49" charset="-122"/>
                <a:ea typeface="楷体" panose="02010609060101010101" pitchFamily="49" charset="-122"/>
              </a:rPr>
              <a:t>=1</a:t>
            </a:r>
            <a:r>
              <a:rPr lang="zh-CN" altLang="en-US" sz="2100" dirty="0">
                <a:latin typeface="楷体" panose="02010609060101010101" pitchFamily="49" charset="-122"/>
                <a:ea typeface="楷体" panose="02010609060101010101" pitchFamily="49" charset="-122"/>
              </a:rPr>
              <a:t>，</a:t>
            </a:r>
            <a:r>
              <a:rPr lang="en-US" altLang="zh-CN" sz="2100" dirty="0">
                <a:latin typeface="楷体" panose="02010609060101010101" pitchFamily="49" charset="-122"/>
                <a:ea typeface="楷体" panose="02010609060101010101" pitchFamily="49" charset="-122"/>
              </a:rPr>
              <a:t>MAR</a:t>
            </a:r>
            <a:r>
              <a:rPr lang="zh-CN" altLang="en-US" sz="2100" dirty="0">
                <a:latin typeface="楷体" panose="02010609060101010101" pitchFamily="49" charset="-122"/>
                <a:ea typeface="楷体" panose="02010609060101010101" pitchFamily="49" charset="-122"/>
              </a:rPr>
              <a:t>接收此低</a:t>
            </a:r>
            <a:r>
              <a:rPr lang="en-US" altLang="zh-CN" sz="2100" dirty="0">
                <a:latin typeface="楷体" panose="02010609060101010101" pitchFamily="49" charset="-122"/>
                <a:ea typeface="楷体" panose="02010609060101010101" pitchFamily="49" charset="-122"/>
              </a:rPr>
              <a:t>4</a:t>
            </a:r>
            <a:r>
              <a:rPr lang="zh-CN" altLang="en-US" sz="2100" dirty="0">
                <a:latin typeface="楷体" panose="02010609060101010101" pitchFamily="49" charset="-122"/>
                <a:ea typeface="楷体" panose="02010609060101010101" pitchFamily="49" charset="-122"/>
              </a:rPr>
              <a:t>位数作为地址并立即送至</a:t>
            </a:r>
            <a:r>
              <a:rPr lang="en-US" altLang="zh-CN" sz="2100" dirty="0">
                <a:latin typeface="楷体" panose="02010609060101010101" pitchFamily="49" charset="-122"/>
                <a:ea typeface="楷体" panose="02010609060101010101" pitchFamily="49" charset="-122"/>
              </a:rPr>
              <a:t>PROM</a:t>
            </a:r>
            <a:r>
              <a:rPr lang="zh-CN" altLang="en-US" sz="2100" dirty="0">
                <a:latin typeface="楷体" panose="02010609060101010101" pitchFamily="49" charset="-122"/>
                <a:ea typeface="楷体" panose="02010609060101010101" pitchFamily="49" charset="-122"/>
              </a:rPr>
              <a:t>；</a:t>
            </a:r>
          </a:p>
          <a:p>
            <a:pPr marL="0" indent="0">
              <a:lnSpc>
                <a:spcPct val="110000"/>
              </a:lnSpc>
              <a:spcBef>
                <a:spcPts val="600"/>
              </a:spcBef>
              <a:buFontTx/>
              <a:buNone/>
            </a:pPr>
            <a:r>
              <a:rPr lang="zh-CN" altLang="en-US" sz="2100" dirty="0">
                <a:latin typeface="楷体" panose="02010609060101010101" pitchFamily="49" charset="-122"/>
                <a:ea typeface="楷体" panose="02010609060101010101" pitchFamily="49" charset="-122"/>
              </a:rPr>
              <a:t>所以</a:t>
            </a:r>
            <a:r>
              <a:rPr lang="en-US" altLang="zh-CN" sz="2100" dirty="0">
                <a:latin typeface="楷体" panose="02010609060101010101" pitchFamily="49" charset="-122"/>
                <a:ea typeface="楷体" panose="02010609060101010101" pitchFamily="49" charset="-122"/>
              </a:rPr>
              <a:t>CON=0010</a:t>
            </a:r>
            <a:r>
              <a:rPr lang="zh-CN" altLang="en-US" sz="2100" dirty="0">
                <a:latin typeface="楷体" panose="02010609060101010101" pitchFamily="49" charset="-122"/>
                <a:ea typeface="楷体" panose="02010609060101010101" pitchFamily="49" charset="-122"/>
              </a:rPr>
              <a:t>　</a:t>
            </a:r>
            <a:r>
              <a:rPr lang="en-US" altLang="zh-CN" sz="2100" dirty="0">
                <a:latin typeface="楷体" panose="02010609060101010101" pitchFamily="49" charset="-122"/>
                <a:ea typeface="楷体" panose="02010609060101010101" pitchFamily="49" charset="-122"/>
              </a:rPr>
              <a:t>0100</a:t>
            </a:r>
            <a:r>
              <a:rPr lang="zh-CN" altLang="en-US" sz="2100" dirty="0">
                <a:latin typeface="楷体" panose="02010609060101010101" pitchFamily="49" charset="-122"/>
                <a:ea typeface="楷体" panose="02010609060101010101" pitchFamily="49" charset="-122"/>
              </a:rPr>
              <a:t>　</a:t>
            </a:r>
            <a:r>
              <a:rPr lang="en-US" altLang="zh-CN" sz="2100" dirty="0">
                <a:latin typeface="楷体" panose="02010609060101010101" pitchFamily="49" charset="-122"/>
                <a:ea typeface="楷体" panose="02010609060101010101" pitchFamily="49" charset="-122"/>
              </a:rPr>
              <a:t>0000</a:t>
            </a:r>
          </a:p>
          <a:p>
            <a:pPr marL="0" indent="0">
              <a:lnSpc>
                <a:spcPct val="110000"/>
              </a:lnSpc>
              <a:spcBef>
                <a:spcPts val="600"/>
              </a:spcBef>
              <a:buFontTx/>
              <a:buNone/>
            </a:pPr>
            <a:r>
              <a:rPr lang="zh-CN" altLang="en-US" sz="2100" dirty="0">
                <a:latin typeface="楷体" panose="02010609060101010101" pitchFamily="49" charset="-122"/>
                <a:ea typeface="楷体" panose="02010609060101010101" pitchFamily="49" charset="-122"/>
              </a:rPr>
              <a:t>    在上例题中，送至</a:t>
            </a:r>
            <a:r>
              <a:rPr lang="en-US" altLang="zh-CN" sz="2100" dirty="0">
                <a:latin typeface="楷体" panose="02010609060101010101" pitchFamily="49" charset="-122"/>
                <a:ea typeface="楷体" panose="02010609060101010101" pitchFamily="49" charset="-122"/>
              </a:rPr>
              <a:t>PROM</a:t>
            </a:r>
            <a:r>
              <a:rPr lang="zh-CN" altLang="en-US" sz="2100" dirty="0">
                <a:latin typeface="楷体" panose="02010609060101010101" pitchFamily="49" charset="-122"/>
                <a:ea typeface="楷体" panose="02010609060101010101" pitchFamily="49" charset="-122"/>
              </a:rPr>
              <a:t>的地址就是</a:t>
            </a:r>
            <a:r>
              <a:rPr lang="en-US" altLang="zh-CN" sz="2100" dirty="0">
                <a:latin typeface="楷体" panose="02010609060101010101" pitchFamily="49" charset="-122"/>
                <a:ea typeface="楷体" panose="02010609060101010101" pitchFamily="49" charset="-122"/>
              </a:rPr>
              <a:t>R9</a:t>
            </a:r>
            <a:r>
              <a:rPr lang="zh-CN" altLang="en-US" sz="2100" dirty="0">
                <a:latin typeface="楷体" panose="02010609060101010101" pitchFamily="49" charset="-122"/>
                <a:ea typeface="楷体" panose="02010609060101010101" pitchFamily="49" charset="-122"/>
              </a:rPr>
              <a:t>的二进制码地址</a:t>
            </a:r>
            <a:r>
              <a:rPr lang="en-US" altLang="zh-CN" sz="2100" dirty="0">
                <a:latin typeface="楷体" panose="02010609060101010101" pitchFamily="49" charset="-122"/>
                <a:ea typeface="楷体" panose="02010609060101010101" pitchFamily="49" charset="-122"/>
              </a:rPr>
              <a:t>(1001)</a:t>
            </a:r>
            <a:r>
              <a:rPr lang="zh-CN" altLang="en-US" sz="2100" dirty="0">
                <a:latin typeface="楷体" panose="02010609060101010101" pitchFamily="49" charset="-122"/>
                <a:ea typeface="楷体" panose="02010609060101010101" pitchFamily="49" charset="-122"/>
              </a:rPr>
              <a:t>。也就是说，第</a:t>
            </a:r>
            <a:r>
              <a:rPr lang="en-US" altLang="zh-CN" sz="2100" dirty="0">
                <a:latin typeface="楷体" panose="02010609060101010101" pitchFamily="49" charset="-122"/>
                <a:ea typeface="楷体" panose="02010609060101010101" pitchFamily="49" charset="-122"/>
              </a:rPr>
              <a:t>1</a:t>
            </a:r>
            <a:r>
              <a:rPr lang="zh-CN" altLang="en-US" sz="2100" dirty="0">
                <a:latin typeface="楷体" panose="02010609060101010101" pitchFamily="49" charset="-122"/>
                <a:ea typeface="楷体" panose="02010609060101010101" pitchFamily="49" charset="-122"/>
              </a:rPr>
              <a:t>次访问</a:t>
            </a:r>
            <a:r>
              <a:rPr lang="en-US" altLang="zh-CN" sz="2100" dirty="0">
                <a:latin typeface="楷体" panose="02010609060101010101" pitchFamily="49" charset="-122"/>
                <a:ea typeface="楷体" panose="02010609060101010101" pitchFamily="49" charset="-122"/>
              </a:rPr>
              <a:t>PROM</a:t>
            </a:r>
            <a:r>
              <a:rPr lang="zh-CN" altLang="en-US" sz="2100" dirty="0">
                <a:latin typeface="楷体" panose="02010609060101010101" pitchFamily="49" charset="-122"/>
                <a:ea typeface="楷体" panose="02010609060101010101" pitchFamily="49" charset="-122"/>
              </a:rPr>
              <a:t>的是其指令区，第</a:t>
            </a:r>
            <a:r>
              <a:rPr lang="en-US" altLang="zh-CN" sz="2100" dirty="0">
                <a:latin typeface="楷体" panose="02010609060101010101" pitchFamily="49" charset="-122"/>
                <a:ea typeface="楷体" panose="02010609060101010101" pitchFamily="49" charset="-122"/>
              </a:rPr>
              <a:t>2</a:t>
            </a:r>
            <a:r>
              <a:rPr lang="zh-CN" altLang="en-US" sz="2100" dirty="0">
                <a:latin typeface="楷体" panose="02010609060101010101" pitchFamily="49" charset="-122"/>
                <a:ea typeface="楷体" panose="02010609060101010101" pitchFamily="49" charset="-122"/>
              </a:rPr>
              <a:t>次访问的是其数据区。</a:t>
            </a:r>
          </a:p>
        </p:txBody>
      </p:sp>
      <p:sp>
        <p:nvSpPr>
          <p:cNvPr id="59395" name="Text Box 3"/>
          <p:cNvSpPr txBox="1">
            <a:spLocks noChangeArrowheads="1"/>
          </p:cNvSpPr>
          <p:nvPr/>
        </p:nvSpPr>
        <p:spPr bwMode="auto">
          <a:xfrm>
            <a:off x="5248275" y="6126366"/>
            <a:ext cx="3671887" cy="40440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fontScale="92500"/>
          </a:bodyPr>
          <a:lstStyle>
            <a:defPPr>
              <a:defRPr lang="en-US"/>
            </a:defPPr>
            <a:lvl1pPr indent="0" defTabSz="914400">
              <a:lnSpc>
                <a:spcPct val="110000"/>
              </a:lnSpc>
              <a:spcBef>
                <a:spcPts val="600"/>
              </a:spcBef>
              <a:buFontTx/>
              <a:buNone/>
              <a:defRPr sz="2100">
                <a:solidFill>
                  <a:srgbClr val="003399"/>
                </a:solidFill>
                <a:latin typeface="楷体" panose="02010609060101010101" pitchFamily="49" charset="-122"/>
                <a:ea typeface="楷体" panose="02010609060101010101" pitchFamily="49"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t>图</a:t>
            </a:r>
            <a:r>
              <a:rPr lang="en-US" altLang="zh-CN" dirty="0"/>
              <a:t>3.1a  </a:t>
            </a:r>
            <a:r>
              <a:rPr lang="zh-CN" altLang="en-US" dirty="0"/>
              <a:t>微型计算机的简化结构</a:t>
            </a:r>
            <a:endParaRPr lang="en-US" altLang="zh-CN" dirty="0"/>
          </a:p>
        </p:txBody>
      </p:sp>
      <p:pic>
        <p:nvPicPr>
          <p:cNvPr id="59396"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926013" y="1349375"/>
            <a:ext cx="4183062"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00899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subTitle" idx="4294967295"/>
          </p:nvPr>
        </p:nvSpPr>
        <p:spPr bwMode="auto">
          <a:xfrm>
            <a:off x="77787" y="1482725"/>
            <a:ext cx="4627563" cy="45481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lnSpc>
                <a:spcPct val="120000"/>
              </a:lnSpc>
              <a:spcBef>
                <a:spcPts val="0"/>
              </a:spcBef>
              <a:buFontTx/>
              <a:buNone/>
            </a:pPr>
            <a:r>
              <a:rPr lang="en-US" altLang="zh-CN" sz="2200" dirty="0">
                <a:solidFill>
                  <a:srgbClr val="003399"/>
                </a:solidFill>
                <a:latin typeface="楷体" panose="02010609060101010101" pitchFamily="49" charset="-122"/>
                <a:ea typeface="楷体" panose="02010609060101010101" pitchFamily="49" charset="-122"/>
              </a:rPr>
              <a:t>(5)T</a:t>
            </a:r>
            <a:r>
              <a:rPr lang="en-US" altLang="zh-CN" sz="2200" baseline="-25000" dirty="0">
                <a:solidFill>
                  <a:srgbClr val="003399"/>
                </a:solidFill>
                <a:latin typeface="楷体" panose="02010609060101010101" pitchFamily="49" charset="-122"/>
                <a:ea typeface="楷体" panose="02010609060101010101" pitchFamily="49" charset="-122"/>
              </a:rPr>
              <a:t>4</a:t>
            </a:r>
            <a:r>
              <a:rPr lang="en-US" altLang="zh-CN" sz="2200" dirty="0">
                <a:solidFill>
                  <a:srgbClr val="003399"/>
                </a:solidFill>
                <a:latin typeface="楷体" panose="02010609060101010101" pitchFamily="49" charset="-122"/>
                <a:ea typeface="楷体" panose="02010609060101010101" pitchFamily="49" charset="-122"/>
              </a:rPr>
              <a:t>=1</a:t>
            </a:r>
            <a:r>
              <a:rPr lang="zh-CN" altLang="en-US" sz="2200" dirty="0">
                <a:solidFill>
                  <a:srgbClr val="003399"/>
                </a:solidFill>
                <a:latin typeface="楷体" panose="02010609060101010101" pitchFamily="49" charset="-122"/>
                <a:ea typeface="楷体" panose="02010609060101010101" pitchFamily="49" charset="-122"/>
              </a:rPr>
              <a:t>时：</a:t>
            </a:r>
            <a:r>
              <a:rPr lang="zh-CN" altLang="en-US" sz="2200" dirty="0">
                <a:latin typeface="楷体" panose="02010609060101010101" pitchFamily="49" charset="-122"/>
                <a:ea typeface="楷体" panose="02010609060101010101" pitchFamily="49" charset="-122"/>
              </a:rPr>
              <a:t>应将</a:t>
            </a:r>
            <a:r>
              <a:rPr lang="en-US" altLang="zh-CN" sz="2200" dirty="0">
                <a:latin typeface="楷体" panose="02010609060101010101" pitchFamily="49" charset="-122"/>
                <a:ea typeface="楷体" panose="02010609060101010101" pitchFamily="49" charset="-122"/>
              </a:rPr>
              <a:t>PROM</a:t>
            </a:r>
            <a:r>
              <a:rPr lang="zh-CN" altLang="en-US" sz="2200" dirty="0">
                <a:latin typeface="楷体" panose="02010609060101010101" pitchFamily="49" charset="-122"/>
                <a:ea typeface="楷体" panose="02010609060101010101" pitchFamily="49" charset="-122"/>
              </a:rPr>
              <a:t>的数据区的存储单元</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如</a:t>
            </a:r>
            <a:r>
              <a:rPr lang="en-US" altLang="zh-CN" sz="2200" dirty="0">
                <a:latin typeface="楷体" panose="02010609060101010101" pitchFamily="49" charset="-122"/>
                <a:ea typeface="楷体" panose="02010609060101010101" pitchFamily="49" charset="-122"/>
              </a:rPr>
              <a:t>R9</a:t>
            </a:r>
            <a:r>
              <a:rPr lang="zh-CN" altLang="en-US" sz="2200" dirty="0">
                <a:latin typeface="楷体" panose="02010609060101010101" pitchFamily="49" charset="-122"/>
                <a:ea typeface="楷体" panose="02010609060101010101" pitchFamily="49" charset="-122"/>
              </a:rPr>
              <a:t>，即</a:t>
            </a:r>
            <a:r>
              <a:rPr lang="en-US" altLang="zh-CN" sz="2200" dirty="0">
                <a:latin typeface="楷体" panose="02010609060101010101" pitchFamily="49" charset="-122"/>
                <a:ea typeface="楷体" panose="02010609060101010101" pitchFamily="49" charset="-122"/>
              </a:rPr>
              <a:t>1001)</a:t>
            </a:r>
            <a:r>
              <a:rPr lang="zh-CN" altLang="en-US" sz="2200" dirty="0">
                <a:latin typeface="楷体" panose="02010609060101010101" pitchFamily="49" charset="-122"/>
                <a:ea typeface="楷体" panose="02010609060101010101" pitchFamily="49" charset="-122"/>
              </a:rPr>
              <a:t>的内容送入累加器</a:t>
            </a:r>
            <a:r>
              <a:rPr lang="en-US" altLang="zh-CN" sz="2200" dirty="0">
                <a:latin typeface="楷体" panose="02010609060101010101" pitchFamily="49" charset="-122"/>
                <a:ea typeface="楷体" panose="02010609060101010101" pitchFamily="49" charset="-122"/>
              </a:rPr>
              <a:t>A</a:t>
            </a:r>
            <a:r>
              <a:rPr lang="zh-CN" altLang="en-US" sz="2200" dirty="0">
                <a:latin typeface="楷体" panose="02010609060101010101" pitchFamily="49" charset="-122"/>
                <a:ea typeface="楷体" panose="02010609060101010101" pitchFamily="49" charset="-122"/>
              </a:rPr>
              <a:t>，即：</a:t>
            </a:r>
          </a:p>
          <a:p>
            <a:pPr marL="0" indent="0" eaLnBrk="1" hangingPunct="1">
              <a:lnSpc>
                <a:spcPct val="120000"/>
              </a:lnSpc>
              <a:spcBef>
                <a:spcPts val="0"/>
              </a:spcBef>
              <a:buFontTx/>
              <a:buNone/>
            </a:pPr>
            <a:r>
              <a:rPr lang="en-US" altLang="zh-CN" sz="2200" dirty="0">
                <a:latin typeface="楷体" panose="02010609060101010101" pitchFamily="49" charset="-122"/>
                <a:ea typeface="楷体" panose="02010609060101010101" pitchFamily="49" charset="-122"/>
              </a:rPr>
              <a:t>E</a:t>
            </a:r>
            <a:r>
              <a:rPr lang="en-US" altLang="zh-CN" sz="2200" baseline="-25000" dirty="0">
                <a:latin typeface="楷体" panose="02010609060101010101" pitchFamily="49" charset="-122"/>
                <a:ea typeface="楷体" panose="02010609060101010101" pitchFamily="49" charset="-122"/>
              </a:rPr>
              <a:t>R</a:t>
            </a:r>
            <a:r>
              <a:rPr lang="en-US"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a:t>
            </a:r>
            <a:r>
              <a:rPr lang="en-US" altLang="zh-CN" sz="2200" dirty="0">
                <a:latin typeface="楷体" panose="02010609060101010101" pitchFamily="49" charset="-122"/>
                <a:ea typeface="楷体" panose="02010609060101010101" pitchFamily="49" charset="-122"/>
              </a:rPr>
              <a:t>PROM</a:t>
            </a:r>
            <a:r>
              <a:rPr lang="zh-CN" altLang="en-US" sz="2200" dirty="0">
                <a:latin typeface="楷体" panose="02010609060101010101" pitchFamily="49" charset="-122"/>
                <a:ea typeface="楷体" panose="02010609060101010101" pitchFamily="49" charset="-122"/>
              </a:rPr>
              <a:t>准备放出数据；</a:t>
            </a:r>
          </a:p>
          <a:p>
            <a:pPr marL="0" indent="0" eaLnBrk="1" hangingPunct="1">
              <a:lnSpc>
                <a:spcPct val="120000"/>
              </a:lnSpc>
              <a:spcBef>
                <a:spcPts val="0"/>
              </a:spcBef>
              <a:buFontTx/>
              <a:buNone/>
            </a:pPr>
            <a:r>
              <a:rPr lang="en-US" altLang="zh-CN" sz="2200" dirty="0">
                <a:latin typeface="楷体" panose="02010609060101010101" pitchFamily="49" charset="-122"/>
                <a:ea typeface="楷体" panose="02010609060101010101" pitchFamily="49" charset="-122"/>
              </a:rPr>
              <a:t>L</a:t>
            </a:r>
            <a:r>
              <a:rPr lang="en-US" altLang="zh-CN" sz="2200" baseline="-25000" dirty="0">
                <a:latin typeface="楷体" panose="02010609060101010101" pitchFamily="49" charset="-122"/>
                <a:ea typeface="楷体" panose="02010609060101010101" pitchFamily="49" charset="-122"/>
              </a:rPr>
              <a:t>A</a:t>
            </a:r>
            <a:r>
              <a:rPr lang="en-US"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a:t>
            </a:r>
            <a:r>
              <a:rPr lang="en-US" altLang="zh-CN" sz="2200" dirty="0">
                <a:latin typeface="楷体" panose="02010609060101010101" pitchFamily="49" charset="-122"/>
                <a:ea typeface="楷体" panose="02010609060101010101" pitchFamily="49" charset="-122"/>
              </a:rPr>
              <a:t>A</a:t>
            </a:r>
            <a:r>
              <a:rPr lang="zh-CN" altLang="en-US" sz="2200" dirty="0">
                <a:latin typeface="楷体" panose="02010609060101010101" pitchFamily="49" charset="-122"/>
                <a:ea typeface="楷体" panose="02010609060101010101" pitchFamily="49" charset="-122"/>
              </a:rPr>
              <a:t>准备接收数据；</a:t>
            </a:r>
          </a:p>
          <a:p>
            <a:pPr marL="0" indent="0" eaLnBrk="1" hangingPunct="1">
              <a:lnSpc>
                <a:spcPct val="120000"/>
              </a:lnSpc>
              <a:spcBef>
                <a:spcPts val="0"/>
              </a:spcBef>
              <a:buFontTx/>
              <a:buNone/>
            </a:pPr>
            <a:r>
              <a:rPr lang="zh-CN" altLang="en-US" sz="2200" dirty="0">
                <a:latin typeface="楷体" panose="02010609060101010101" pitchFamily="49" charset="-122"/>
                <a:ea typeface="楷体" panose="02010609060101010101" pitchFamily="49" charset="-122"/>
              </a:rPr>
              <a:t>即    </a:t>
            </a:r>
            <a:r>
              <a:rPr lang="en-US" altLang="zh-CN" sz="2200" dirty="0">
                <a:latin typeface="楷体" panose="02010609060101010101" pitchFamily="49" charset="-122"/>
                <a:ea typeface="楷体" panose="02010609060101010101" pitchFamily="49" charset="-122"/>
              </a:rPr>
              <a:t>CON=0001</a:t>
            </a:r>
            <a:r>
              <a:rPr lang="zh-CN" altLang="en-US" sz="2200" dirty="0">
                <a:latin typeface="楷体" panose="02010609060101010101" pitchFamily="49" charset="-122"/>
                <a:ea typeface="楷体" panose="02010609060101010101" pitchFamily="49" charset="-122"/>
              </a:rPr>
              <a:t>　</a:t>
            </a:r>
            <a:r>
              <a:rPr lang="en-US" altLang="zh-CN" sz="2200" dirty="0">
                <a:latin typeface="楷体" panose="02010609060101010101" pitchFamily="49" charset="-122"/>
                <a:ea typeface="楷体" panose="02010609060101010101" pitchFamily="49" charset="-122"/>
              </a:rPr>
              <a:t>0010</a:t>
            </a:r>
            <a:r>
              <a:rPr lang="zh-CN" altLang="en-US" sz="2200" dirty="0">
                <a:latin typeface="楷体" panose="02010609060101010101" pitchFamily="49" charset="-122"/>
                <a:ea typeface="楷体" panose="02010609060101010101" pitchFamily="49" charset="-122"/>
              </a:rPr>
              <a:t>　</a:t>
            </a:r>
            <a:r>
              <a:rPr lang="en-US" altLang="zh-CN" sz="2200" dirty="0">
                <a:latin typeface="楷体" panose="02010609060101010101" pitchFamily="49" charset="-122"/>
                <a:ea typeface="楷体" panose="02010609060101010101" pitchFamily="49" charset="-122"/>
              </a:rPr>
              <a:t>0000</a:t>
            </a:r>
          </a:p>
          <a:p>
            <a:pPr marL="0" indent="0" eaLnBrk="1" hangingPunct="1">
              <a:lnSpc>
                <a:spcPct val="120000"/>
              </a:lnSpc>
              <a:spcBef>
                <a:spcPts val="0"/>
              </a:spcBef>
              <a:buFontTx/>
              <a:buNone/>
            </a:pPr>
            <a:r>
              <a:rPr lang="en-US" altLang="zh-CN" sz="2200" dirty="0">
                <a:solidFill>
                  <a:srgbClr val="003399"/>
                </a:solidFill>
                <a:latin typeface="楷体" panose="02010609060101010101" pitchFamily="49" charset="-122"/>
                <a:ea typeface="楷体" panose="02010609060101010101" pitchFamily="49" charset="-122"/>
              </a:rPr>
              <a:t>(6) T</a:t>
            </a:r>
            <a:r>
              <a:rPr lang="en-US" altLang="zh-CN" sz="2200" baseline="-25000" dirty="0">
                <a:solidFill>
                  <a:srgbClr val="003399"/>
                </a:solidFill>
                <a:latin typeface="楷体" panose="02010609060101010101" pitchFamily="49" charset="-122"/>
                <a:ea typeface="楷体" panose="02010609060101010101" pitchFamily="49" charset="-122"/>
              </a:rPr>
              <a:t>5</a:t>
            </a:r>
            <a:r>
              <a:rPr lang="en-US" altLang="zh-CN" sz="2200" dirty="0">
                <a:solidFill>
                  <a:srgbClr val="003399"/>
                </a:solidFill>
                <a:latin typeface="楷体" panose="02010609060101010101" pitchFamily="49" charset="-122"/>
                <a:ea typeface="楷体" panose="02010609060101010101" pitchFamily="49" charset="-122"/>
              </a:rPr>
              <a:t>=1</a:t>
            </a:r>
            <a:r>
              <a:rPr lang="zh-CN" altLang="en-US" sz="2200" dirty="0">
                <a:solidFill>
                  <a:srgbClr val="003399"/>
                </a:solidFill>
                <a:latin typeface="楷体" panose="02010609060101010101" pitchFamily="49" charset="-122"/>
                <a:ea typeface="楷体" panose="02010609060101010101" pitchFamily="49" charset="-122"/>
              </a:rPr>
              <a:t>时：</a:t>
            </a:r>
            <a:r>
              <a:rPr lang="zh-CN" altLang="en-US" sz="2200" dirty="0">
                <a:latin typeface="楷体" panose="02010609060101010101" pitchFamily="49" charset="-122"/>
                <a:ea typeface="楷体" panose="02010609060101010101" pitchFamily="49" charset="-122"/>
              </a:rPr>
              <a:t>因为</a:t>
            </a:r>
            <a:r>
              <a:rPr lang="en-US" altLang="zh-CN" sz="2200" dirty="0">
                <a:latin typeface="楷体" panose="02010609060101010101" pitchFamily="49" charset="-122"/>
                <a:ea typeface="楷体" panose="02010609060101010101" pitchFamily="49" charset="-122"/>
              </a:rPr>
              <a:t>T</a:t>
            </a:r>
            <a:r>
              <a:rPr lang="en-US" altLang="zh-CN" sz="2200" baseline="-25000" dirty="0">
                <a:latin typeface="楷体" panose="02010609060101010101" pitchFamily="49" charset="-122"/>
                <a:ea typeface="楷体" panose="02010609060101010101" pitchFamily="49" charset="-122"/>
              </a:rPr>
              <a:t>4</a:t>
            </a:r>
            <a:r>
              <a:rPr lang="en-US"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时，已将数据存放入</a:t>
            </a:r>
            <a:r>
              <a:rPr lang="en-US" altLang="zh-CN" sz="2200" dirty="0">
                <a:latin typeface="楷体" panose="02010609060101010101" pitchFamily="49" charset="-122"/>
                <a:ea typeface="楷体" panose="02010609060101010101" pitchFamily="49" charset="-122"/>
              </a:rPr>
              <a:t>A</a:t>
            </a:r>
            <a:r>
              <a:rPr lang="zh-CN" altLang="en-US" sz="2200" dirty="0">
                <a:latin typeface="楷体" panose="02010609060101010101" pitchFamily="49" charset="-122"/>
                <a:ea typeface="楷体" panose="02010609060101010101" pitchFamily="49" charset="-122"/>
              </a:rPr>
              <a:t>中，所以，</a:t>
            </a:r>
            <a:r>
              <a:rPr lang="en-US" altLang="zh-CN" sz="2200" dirty="0">
                <a:latin typeface="楷体" panose="02010609060101010101" pitchFamily="49" charset="-122"/>
                <a:ea typeface="楷体" panose="02010609060101010101" pitchFamily="49" charset="-122"/>
              </a:rPr>
              <a:t>LDA</a:t>
            </a:r>
            <a:r>
              <a:rPr lang="zh-CN" altLang="en-US" sz="2200" dirty="0">
                <a:latin typeface="楷体" panose="02010609060101010101" pitchFamily="49" charset="-122"/>
                <a:ea typeface="楷体" panose="02010609060101010101" pitchFamily="49" charset="-122"/>
              </a:rPr>
              <a:t>的例行程序就已完成，</a:t>
            </a:r>
            <a:r>
              <a:rPr lang="en-US" altLang="zh-CN" sz="2200" dirty="0">
                <a:solidFill>
                  <a:srgbClr val="00B0F0"/>
                </a:solidFill>
                <a:latin typeface="楷体" panose="02010609060101010101" pitchFamily="49" charset="-122"/>
                <a:ea typeface="楷体" panose="02010609060101010101" pitchFamily="49" charset="-122"/>
              </a:rPr>
              <a:t>T5</a:t>
            </a:r>
            <a:r>
              <a:rPr lang="zh-CN" altLang="en-US" sz="2200" dirty="0">
                <a:solidFill>
                  <a:srgbClr val="00B0F0"/>
                </a:solidFill>
                <a:latin typeface="楷体" panose="02010609060101010101" pitchFamily="49" charset="-122"/>
                <a:ea typeface="楷体" panose="02010609060101010101" pitchFamily="49" charset="-122"/>
              </a:rPr>
              <a:t>节拍就变成空拍</a:t>
            </a:r>
            <a:r>
              <a:rPr lang="zh-CN" altLang="en-US" sz="2200" dirty="0">
                <a:latin typeface="楷体" panose="02010609060101010101" pitchFamily="49" charset="-122"/>
                <a:ea typeface="楷体" panose="02010609060101010101" pitchFamily="49" charset="-122"/>
              </a:rPr>
              <a:t>，即有：</a:t>
            </a:r>
          </a:p>
          <a:p>
            <a:pPr marL="0" indent="0" algn="ctr" eaLnBrk="1" hangingPunct="1">
              <a:lnSpc>
                <a:spcPct val="120000"/>
              </a:lnSpc>
              <a:spcBef>
                <a:spcPts val="0"/>
              </a:spcBef>
              <a:buFontTx/>
              <a:buNone/>
            </a:pPr>
            <a:r>
              <a:rPr lang="en-US" altLang="zh-CN" sz="2200" dirty="0">
                <a:latin typeface="楷体" panose="02010609060101010101" pitchFamily="49" charset="-122"/>
                <a:ea typeface="楷体" panose="02010609060101010101" pitchFamily="49" charset="-122"/>
              </a:rPr>
              <a:t>CON=0000</a:t>
            </a:r>
            <a:r>
              <a:rPr lang="zh-CN" altLang="en-US" sz="2200" dirty="0">
                <a:latin typeface="楷体" panose="02010609060101010101" pitchFamily="49" charset="-122"/>
                <a:ea typeface="楷体" panose="02010609060101010101" pitchFamily="49" charset="-122"/>
              </a:rPr>
              <a:t>　</a:t>
            </a:r>
            <a:r>
              <a:rPr lang="en-US" altLang="zh-CN" sz="2200" dirty="0">
                <a:latin typeface="楷体" panose="02010609060101010101" pitchFamily="49" charset="-122"/>
                <a:ea typeface="楷体" panose="02010609060101010101" pitchFamily="49" charset="-122"/>
              </a:rPr>
              <a:t>0000</a:t>
            </a:r>
            <a:r>
              <a:rPr lang="zh-CN" altLang="en-US" sz="2200" dirty="0">
                <a:latin typeface="楷体" panose="02010609060101010101" pitchFamily="49" charset="-122"/>
                <a:ea typeface="楷体" panose="02010609060101010101" pitchFamily="49" charset="-122"/>
              </a:rPr>
              <a:t>　</a:t>
            </a:r>
            <a:r>
              <a:rPr lang="en-US" altLang="zh-CN" sz="2200" dirty="0">
                <a:latin typeface="楷体" panose="02010609060101010101" pitchFamily="49" charset="-122"/>
                <a:ea typeface="楷体" panose="02010609060101010101" pitchFamily="49" charset="-122"/>
              </a:rPr>
              <a:t>0000</a:t>
            </a:r>
          </a:p>
        </p:txBody>
      </p:sp>
      <p:sp>
        <p:nvSpPr>
          <p:cNvPr id="61443" name="Text Box 3"/>
          <p:cNvSpPr txBox="1">
            <a:spLocks noChangeArrowheads="1"/>
          </p:cNvSpPr>
          <p:nvPr/>
        </p:nvSpPr>
        <p:spPr bwMode="auto">
          <a:xfrm>
            <a:off x="4829175" y="6237288"/>
            <a:ext cx="41767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200" b="1">
                <a:solidFill>
                  <a:srgbClr val="00B0F0"/>
                </a:solidFill>
              </a:rPr>
              <a:t>图</a:t>
            </a:r>
            <a:r>
              <a:rPr lang="en-US" altLang="zh-CN" sz="2200" b="1">
                <a:solidFill>
                  <a:srgbClr val="00B0F0"/>
                </a:solidFill>
              </a:rPr>
              <a:t>3.1a  </a:t>
            </a:r>
            <a:r>
              <a:rPr lang="zh-CN" altLang="en-US" sz="2200" b="1">
                <a:solidFill>
                  <a:srgbClr val="00B0F0"/>
                </a:solidFill>
              </a:rPr>
              <a:t>微型计算机的简化结构</a:t>
            </a:r>
            <a:endParaRPr lang="en-US" altLang="zh-CN" sz="2200">
              <a:solidFill>
                <a:srgbClr val="00B0F0"/>
              </a:solidFill>
            </a:endParaRPr>
          </a:p>
        </p:txBody>
      </p:sp>
      <p:pic>
        <p:nvPicPr>
          <p:cNvPr id="61444" name="图片 5" descr="图3"/>
          <p:cNvPicPr>
            <a:picLocks noChangeAspect="1" noChangeArrowheads="1"/>
          </p:cNvPicPr>
          <p:nvPr/>
        </p:nvPicPr>
        <p:blipFill>
          <a:blip r:embed="rId3">
            <a:extLst>
              <a:ext uri="{28A0092B-C50C-407E-A947-70E740481C1C}">
                <a14:useLocalDpi xmlns:a14="http://schemas.microsoft.com/office/drawing/2010/main" val="0"/>
              </a:ext>
            </a:extLst>
          </a:blip>
          <a:srcRect r="35468" b="11230"/>
          <a:stretch>
            <a:fillRect/>
          </a:stretch>
        </p:blipFill>
        <p:spPr bwMode="auto">
          <a:xfrm>
            <a:off x="4787900" y="1349375"/>
            <a:ext cx="4183063"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7489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subTitle" idx="4294967295"/>
          </p:nvPr>
        </p:nvSpPr>
        <p:spPr bwMode="auto">
          <a:xfrm>
            <a:off x="266700" y="1274763"/>
            <a:ext cx="8624888" cy="51831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10000"/>
          </a:bodyPr>
          <a:lstStyle/>
          <a:p>
            <a:pPr marL="0" indent="0" eaLnBrk="1" hangingPunct="1">
              <a:lnSpc>
                <a:spcPct val="120000"/>
              </a:lnSpc>
              <a:spcBef>
                <a:spcPts val="600"/>
              </a:spcBef>
              <a:buFontTx/>
              <a:buNone/>
            </a:pPr>
            <a:r>
              <a:rPr lang="zh-CN" altLang="en-US" sz="2400" dirty="0">
                <a:solidFill>
                  <a:srgbClr val="00B0F0"/>
                </a:solidFill>
                <a:latin typeface="楷体" panose="02010609060101010101" pitchFamily="49" charset="-122"/>
                <a:ea typeface="楷体" panose="02010609060101010101" pitchFamily="49" charset="-122"/>
              </a:rPr>
              <a:t>    为什么需要这个空拍呢</a:t>
            </a:r>
            <a:r>
              <a:rPr lang="en-US" altLang="zh-CN" sz="2400" dirty="0">
                <a:solidFill>
                  <a:srgbClr val="00B0F0"/>
                </a:solidFill>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因为虽然</a:t>
            </a:r>
            <a:r>
              <a:rPr lang="en-US" altLang="zh-CN" sz="2400" dirty="0">
                <a:latin typeface="楷体" panose="02010609060101010101" pitchFamily="49" charset="-122"/>
                <a:ea typeface="楷体" panose="02010609060101010101" pitchFamily="49" charset="-122"/>
              </a:rPr>
              <a:t>LDA</a:t>
            </a:r>
            <a:r>
              <a:rPr lang="zh-CN" altLang="en-US" sz="2400" dirty="0">
                <a:latin typeface="楷体" panose="02010609060101010101" pitchFamily="49" charset="-122"/>
                <a:ea typeface="楷体" panose="02010609060101010101" pitchFamily="49" charset="-122"/>
              </a:rPr>
              <a:t>的例行程序用不着这个节拍，但别的例行程序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如</a:t>
            </a:r>
            <a:r>
              <a:rPr lang="en-US" altLang="zh-CN" sz="2400" dirty="0">
                <a:latin typeface="楷体" panose="02010609060101010101" pitchFamily="49" charset="-122"/>
                <a:ea typeface="楷体" panose="02010609060101010101" pitchFamily="49" charset="-122"/>
              </a:rPr>
              <a:t>ADD</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SUB</a:t>
            </a:r>
            <a:r>
              <a:rPr lang="zh-CN" altLang="en-US" sz="2400" dirty="0">
                <a:latin typeface="楷体" panose="02010609060101010101" pitchFamily="49" charset="-122"/>
                <a:ea typeface="楷体" panose="02010609060101010101" pitchFamily="49" charset="-122"/>
              </a:rPr>
              <a:t>等</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还是用得着的，</a:t>
            </a:r>
            <a:r>
              <a:rPr lang="zh-CN" altLang="en-US" sz="2400" dirty="0">
                <a:solidFill>
                  <a:srgbClr val="00B0F0"/>
                </a:solidFill>
                <a:latin typeface="楷体" panose="02010609060101010101" pitchFamily="49" charset="-122"/>
                <a:ea typeface="楷体" panose="02010609060101010101" pitchFamily="49" charset="-122"/>
              </a:rPr>
              <a:t>为了使每条指令的机器周期都是一样长，即</a:t>
            </a:r>
            <a:r>
              <a:rPr lang="en-US" altLang="zh-CN" sz="2400" dirty="0">
                <a:solidFill>
                  <a:srgbClr val="00B0F0"/>
                </a:solidFill>
                <a:latin typeface="楷体" panose="02010609060101010101" pitchFamily="49" charset="-122"/>
                <a:ea typeface="楷体" panose="02010609060101010101" pitchFamily="49" charset="-122"/>
              </a:rPr>
              <a:t>6</a:t>
            </a:r>
            <a:r>
              <a:rPr lang="zh-CN" altLang="en-US" sz="2400" dirty="0">
                <a:solidFill>
                  <a:srgbClr val="00B0F0"/>
                </a:solidFill>
                <a:latin typeface="楷体" panose="02010609060101010101" pitchFamily="49" charset="-122"/>
                <a:ea typeface="楷体" panose="02010609060101010101" pitchFamily="49" charset="-122"/>
              </a:rPr>
              <a:t>个节拍，所以在不需</a:t>
            </a:r>
            <a:r>
              <a:rPr lang="en-US" altLang="zh-CN" sz="2400" dirty="0">
                <a:solidFill>
                  <a:srgbClr val="00B0F0"/>
                </a:solidFill>
                <a:latin typeface="楷体" panose="02010609060101010101" pitchFamily="49" charset="-122"/>
                <a:ea typeface="楷体" panose="02010609060101010101" pitchFamily="49" charset="-122"/>
              </a:rPr>
              <a:t>6</a:t>
            </a:r>
            <a:r>
              <a:rPr lang="zh-CN" altLang="en-US" sz="2400" dirty="0">
                <a:solidFill>
                  <a:srgbClr val="00B0F0"/>
                </a:solidFill>
                <a:latin typeface="楷体" panose="02010609060101010101" pitchFamily="49" charset="-122"/>
                <a:ea typeface="楷体" panose="02010609060101010101" pitchFamily="49" charset="-122"/>
              </a:rPr>
              <a:t>个节拍的指令语句中都给加一个空拍以补足之。</a:t>
            </a:r>
            <a:r>
              <a:rPr lang="zh-CN" altLang="en-US" sz="2400" dirty="0">
                <a:solidFill>
                  <a:srgbClr val="FF0000"/>
                </a:solidFill>
                <a:latin typeface="楷体" panose="02010609060101010101" pitchFamily="49" charset="-122"/>
                <a:ea typeface="楷体" panose="02010609060101010101" pitchFamily="49" charset="-122"/>
              </a:rPr>
              <a:t>这样的机器称为固定周期的计算机</a:t>
            </a:r>
            <a:r>
              <a:rPr lang="zh-CN" altLang="en-US" sz="2400" dirty="0">
                <a:latin typeface="楷体" panose="02010609060101010101" pitchFamily="49" charset="-122"/>
                <a:ea typeface="楷体" panose="02010609060101010101" pitchFamily="49" charset="-122"/>
              </a:rPr>
              <a:t>。</a:t>
            </a:r>
          </a:p>
          <a:p>
            <a:pPr marL="0" indent="0" eaLnBrk="1" hangingPunct="1">
              <a:lnSpc>
                <a:spcPct val="120000"/>
              </a:lnSpc>
              <a:spcBef>
                <a:spcPts val="600"/>
              </a:spcBef>
              <a:buFontTx/>
              <a:buNone/>
            </a:pPr>
            <a:r>
              <a:rPr lang="en-US" altLang="zh-CN" sz="2400" dirty="0">
                <a:latin typeface="楷体" panose="02010609060101010101" pitchFamily="49" charset="-122"/>
                <a:ea typeface="楷体" panose="02010609060101010101" pitchFamily="49" charset="-122"/>
              </a:rPr>
              <a:t>    LDA 9H</a:t>
            </a:r>
            <a:r>
              <a:rPr lang="zh-CN" altLang="en-US" sz="2400" dirty="0">
                <a:latin typeface="楷体" panose="02010609060101010101" pitchFamily="49" charset="-122"/>
                <a:ea typeface="楷体" panose="02010609060101010101" pitchFamily="49" charset="-122"/>
              </a:rPr>
              <a:t>，这条指令执行完成后，就接着执行</a:t>
            </a:r>
            <a:r>
              <a:rPr lang="en-US" altLang="zh-CN" sz="2400" dirty="0">
                <a:latin typeface="楷体" panose="02010609060101010101" pitchFamily="49" charset="-122"/>
                <a:ea typeface="楷体" panose="02010609060101010101" pitchFamily="49" charset="-122"/>
              </a:rPr>
              <a:t>ADD AH</a:t>
            </a:r>
            <a:r>
              <a:rPr lang="zh-CN" altLang="en-US" sz="2400" dirty="0">
                <a:latin typeface="楷体" panose="02010609060101010101" pitchFamily="49" charset="-122"/>
                <a:ea typeface="楷体" panose="02010609060101010101" pitchFamily="49" charset="-122"/>
              </a:rPr>
              <a:t>的指令。前面指出过，其取指周期仍和</a:t>
            </a:r>
            <a:r>
              <a:rPr lang="en-US" altLang="zh-CN" sz="2400" dirty="0">
                <a:latin typeface="楷体" panose="02010609060101010101" pitchFamily="49" charset="-122"/>
                <a:ea typeface="楷体" panose="02010609060101010101" pitchFamily="49" charset="-122"/>
              </a:rPr>
              <a:t>LDA 9H</a:t>
            </a:r>
            <a:r>
              <a:rPr lang="zh-CN" altLang="en-US" sz="2400" dirty="0">
                <a:latin typeface="楷体" panose="02010609060101010101" pitchFamily="49" charset="-122"/>
                <a:ea typeface="楷体" panose="02010609060101010101" pitchFamily="49" charset="-122"/>
              </a:rPr>
              <a:t>是一样的，只不过现在存于</a:t>
            </a:r>
            <a:r>
              <a:rPr lang="en-US" altLang="zh-CN" sz="2400" dirty="0">
                <a:latin typeface="楷体" panose="02010609060101010101" pitchFamily="49" charset="-122"/>
                <a:ea typeface="楷体" panose="02010609060101010101" pitchFamily="49" charset="-122"/>
              </a:rPr>
              <a:t>PC</a:t>
            </a:r>
            <a:r>
              <a:rPr lang="zh-CN" altLang="en-US" sz="2400" dirty="0">
                <a:latin typeface="楷体" panose="02010609060101010101" pitchFamily="49" charset="-122"/>
                <a:ea typeface="楷体" panose="02010609060101010101" pitchFamily="49" charset="-122"/>
              </a:rPr>
              <a:t>中的内容已不是</a:t>
            </a:r>
            <a:r>
              <a:rPr lang="en-US" altLang="zh-CN" sz="2400" dirty="0">
                <a:latin typeface="楷体" panose="02010609060101010101" pitchFamily="49" charset="-122"/>
                <a:ea typeface="楷体" panose="02010609060101010101" pitchFamily="49" charset="-122"/>
              </a:rPr>
              <a:t>0000</a:t>
            </a:r>
            <a:r>
              <a:rPr lang="zh-CN" altLang="en-US" sz="2400" dirty="0">
                <a:latin typeface="楷体" panose="02010609060101010101" pitchFamily="49" charset="-122"/>
                <a:ea typeface="楷体" panose="02010609060101010101" pitchFamily="49" charset="-122"/>
              </a:rPr>
              <a:t>而是</a:t>
            </a:r>
            <a:r>
              <a:rPr lang="en-US" altLang="zh-CN" sz="2400" dirty="0">
                <a:latin typeface="楷体" panose="02010609060101010101" pitchFamily="49" charset="-122"/>
                <a:ea typeface="楷体" panose="02010609060101010101" pitchFamily="49" charset="-122"/>
              </a:rPr>
              <a:t>PC+1</a:t>
            </a:r>
            <a:r>
              <a:rPr lang="zh-CN" altLang="en-US" sz="2400" dirty="0">
                <a:latin typeface="楷体" panose="02010609060101010101" pitchFamily="49" charset="-122"/>
                <a:ea typeface="楷体" panose="02010609060101010101" pitchFamily="49" charset="-122"/>
              </a:rPr>
              <a:t>，即</a:t>
            </a:r>
            <a:r>
              <a:rPr lang="en-US" altLang="zh-CN" sz="2400" dirty="0">
                <a:latin typeface="楷体" panose="02010609060101010101" pitchFamily="49" charset="-122"/>
                <a:ea typeface="楷体" panose="02010609060101010101" pitchFamily="49" charset="-122"/>
              </a:rPr>
              <a:t>0001</a:t>
            </a:r>
            <a:r>
              <a:rPr lang="zh-CN" altLang="en-US" sz="2400" dirty="0">
                <a:latin typeface="楷体" panose="02010609060101010101" pitchFamily="49" charset="-122"/>
                <a:ea typeface="楷体" panose="02010609060101010101" pitchFamily="49" charset="-122"/>
              </a:rPr>
              <a:t>了。</a:t>
            </a:r>
          </a:p>
          <a:p>
            <a:pPr marL="0" indent="0" eaLnBrk="1" hangingPunct="1">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    执行周期则和上条指令的执行周期略有不同，</a:t>
            </a:r>
            <a:r>
              <a:rPr lang="zh-CN" altLang="en-US" sz="2400" dirty="0">
                <a:solidFill>
                  <a:srgbClr val="FF0000"/>
                </a:solidFill>
                <a:latin typeface="楷体" panose="02010609060101010101" pitchFamily="49" charset="-122"/>
                <a:ea typeface="楷体" panose="02010609060101010101" pitchFamily="49" charset="-122"/>
              </a:rPr>
              <a:t>见表</a:t>
            </a:r>
            <a:r>
              <a:rPr lang="en-US" altLang="zh-CN" sz="2400" dirty="0">
                <a:solidFill>
                  <a:srgbClr val="FF0000"/>
                </a:solidFill>
                <a:latin typeface="楷体" panose="02010609060101010101" pitchFamily="49" charset="-122"/>
                <a:ea typeface="楷体" panose="02010609060101010101" pitchFamily="49" charset="-122"/>
              </a:rPr>
              <a:t>3-3</a:t>
            </a:r>
            <a:r>
              <a:rPr lang="zh-CN" altLang="en-US" sz="2400" dirty="0">
                <a:latin typeface="楷体" panose="02010609060101010101" pitchFamily="49" charset="-122"/>
                <a:ea typeface="楷体" panose="02010609060101010101" pitchFamily="49" charset="-122"/>
              </a:rPr>
              <a:t>。在执行周期的各列中</a:t>
            </a:r>
            <a:r>
              <a:rPr lang="en-US" altLang="zh-CN" sz="2400" dirty="0">
                <a:latin typeface="楷体" panose="02010609060101010101" pitchFamily="49" charset="-122"/>
                <a:ea typeface="楷体" panose="02010609060101010101" pitchFamily="49" charset="-122"/>
              </a:rPr>
              <a:t>T3</a:t>
            </a:r>
            <a:r>
              <a:rPr lang="zh-CN" altLang="en-US" sz="2400" dirty="0">
                <a:latin typeface="楷体" panose="02010609060101010101" pitchFamily="49" charset="-122"/>
                <a:ea typeface="楷体" panose="02010609060101010101" pitchFamily="49" charset="-122"/>
              </a:rPr>
              <a:t>节拍，第</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条指令</a:t>
            </a:r>
            <a:r>
              <a:rPr lang="en-US" altLang="zh-CN" sz="2400" dirty="0">
                <a:latin typeface="楷体" panose="02010609060101010101" pitchFamily="49" charset="-122"/>
                <a:ea typeface="楷体" panose="02010609060101010101" pitchFamily="49" charset="-122"/>
              </a:rPr>
              <a:t>(ADD AH)</a:t>
            </a:r>
            <a:r>
              <a:rPr lang="zh-CN" altLang="en-US" sz="2400" dirty="0">
                <a:latin typeface="楷体" panose="02010609060101010101" pitchFamily="49" charset="-122"/>
                <a:ea typeface="楷体" panose="02010609060101010101" pitchFamily="49" charset="-122"/>
              </a:rPr>
              <a:t>和第</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条指令</a:t>
            </a:r>
            <a:r>
              <a:rPr lang="en-US" altLang="zh-CN" sz="2400" dirty="0">
                <a:latin typeface="楷体" panose="02010609060101010101" pitchFamily="49" charset="-122"/>
                <a:ea typeface="楷体" panose="02010609060101010101" pitchFamily="49" charset="-122"/>
              </a:rPr>
              <a:t>(LDA 9H)</a:t>
            </a:r>
            <a:r>
              <a:rPr lang="zh-CN" altLang="en-US" sz="2400" dirty="0">
                <a:latin typeface="楷体" panose="02010609060101010101" pitchFamily="49" charset="-122"/>
                <a:ea typeface="楷体" panose="02010609060101010101" pitchFamily="49" charset="-122"/>
              </a:rPr>
              <a:t>是一样的，都是要求从</a:t>
            </a:r>
            <a:r>
              <a:rPr lang="en-US" altLang="zh-CN" sz="2400" dirty="0">
                <a:latin typeface="楷体" panose="02010609060101010101" pitchFamily="49" charset="-122"/>
                <a:ea typeface="楷体" panose="02010609060101010101" pitchFamily="49" charset="-122"/>
              </a:rPr>
              <a:t>IR</a:t>
            </a:r>
            <a:r>
              <a:rPr lang="zh-CN" altLang="en-US" sz="2400" dirty="0">
                <a:latin typeface="楷体" panose="02010609060101010101" pitchFamily="49" charset="-122"/>
                <a:ea typeface="楷体" panose="02010609060101010101" pitchFamily="49" charset="-122"/>
              </a:rPr>
              <a:t>将低</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位的数据作为地址码送到</a:t>
            </a:r>
            <a:r>
              <a:rPr lang="en-US" altLang="zh-CN" sz="2400" dirty="0">
                <a:latin typeface="楷体" panose="02010609060101010101" pitchFamily="49" charset="-122"/>
                <a:ea typeface="楷体" panose="02010609060101010101" pitchFamily="49" charset="-122"/>
              </a:rPr>
              <a:t>MAR</a:t>
            </a:r>
            <a:r>
              <a:rPr lang="zh-CN" altLang="en-US" sz="2400" dirty="0">
                <a:latin typeface="楷体" panose="02010609060101010101" pitchFamily="49" charset="-122"/>
                <a:ea typeface="楷体" panose="02010609060101010101" pitchFamily="49" charset="-122"/>
              </a:rPr>
              <a:t>去。所以其控制字中也是</a:t>
            </a:r>
            <a:r>
              <a:rPr lang="en-US" altLang="zh-CN" sz="2400" dirty="0">
                <a:latin typeface="楷体" panose="02010609060101010101" pitchFamily="49" charset="-122"/>
                <a:ea typeface="楷体" panose="02010609060101010101" pitchFamily="49" charset="-122"/>
              </a:rPr>
              <a:t>L</a:t>
            </a:r>
            <a:r>
              <a:rPr lang="en-US" altLang="zh-CN" sz="2400" baseline="-25000" dirty="0">
                <a:latin typeface="楷体" panose="02010609060101010101" pitchFamily="49" charset="-122"/>
                <a:ea typeface="楷体" panose="02010609060101010101" pitchFamily="49" charset="-122"/>
              </a:rPr>
              <a:t>M</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E</a:t>
            </a:r>
            <a:r>
              <a:rPr lang="en-US" altLang="zh-CN" sz="2400" baseline="-25000" dirty="0">
                <a:latin typeface="楷体" panose="02010609060101010101" pitchFamily="49" charset="-122"/>
                <a:ea typeface="楷体" panose="02010609060101010101" pitchFamily="49" charset="-122"/>
              </a:rPr>
              <a:t>I</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。但在</a:t>
            </a:r>
            <a:r>
              <a:rPr lang="en-US" altLang="zh-CN" sz="2400" dirty="0">
                <a:latin typeface="楷体" panose="02010609060101010101" pitchFamily="49" charset="-122"/>
                <a:ea typeface="楷体" panose="02010609060101010101" pitchFamily="49" charset="-122"/>
              </a:rPr>
              <a:t>T</a:t>
            </a:r>
            <a:r>
              <a:rPr lang="en-US" altLang="zh-CN" sz="2400" baseline="-250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节拍就略有不同了。从</a:t>
            </a:r>
            <a:r>
              <a:rPr lang="en-US" altLang="zh-CN" sz="2400" dirty="0">
                <a:latin typeface="楷体" panose="02010609060101010101" pitchFamily="49" charset="-122"/>
                <a:ea typeface="楷体" panose="02010609060101010101" pitchFamily="49" charset="-122"/>
              </a:rPr>
              <a:t>PROM</a:t>
            </a:r>
            <a:r>
              <a:rPr lang="zh-CN" altLang="en-US" sz="2400" dirty="0">
                <a:latin typeface="楷体" panose="02010609060101010101" pitchFamily="49" charset="-122"/>
                <a:ea typeface="楷体" panose="02010609060101010101" pitchFamily="49" charset="-122"/>
              </a:rPr>
              <a:t>中来的数据不再送入累加器</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，而是送入寄存器</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，这样</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的数据就能直接被送入</a:t>
            </a:r>
            <a:r>
              <a:rPr lang="en-US" altLang="zh-CN" sz="2400" dirty="0">
                <a:latin typeface="楷体" panose="02010609060101010101" pitchFamily="49" charset="-122"/>
                <a:ea typeface="楷体" panose="02010609060101010101" pitchFamily="49" charset="-122"/>
              </a:rPr>
              <a:t>ALU</a:t>
            </a:r>
            <a:r>
              <a:rPr lang="zh-CN" altLang="en-US" sz="2400" dirty="0">
                <a:latin typeface="楷体" panose="02010609060101010101" pitchFamily="49" charset="-122"/>
                <a:ea typeface="楷体" panose="02010609060101010101" pitchFamily="49" charset="-122"/>
              </a:rPr>
              <a:t>去相加。</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36263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subTitle" idx="4294967295"/>
          </p:nvPr>
        </p:nvSpPr>
        <p:spPr bwMode="auto">
          <a:xfrm>
            <a:off x="428625" y="1057275"/>
            <a:ext cx="8382000" cy="56292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p>
            <a:pPr marL="0" indent="0">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    在</a:t>
            </a:r>
            <a:r>
              <a:rPr lang="en-US" altLang="zh-CN" sz="2400" dirty="0">
                <a:latin typeface="楷体" panose="02010609060101010101" pitchFamily="49" charset="-122"/>
                <a:ea typeface="楷体" panose="02010609060101010101" pitchFamily="49" charset="-122"/>
              </a:rPr>
              <a:t>T5</a:t>
            </a:r>
            <a:r>
              <a:rPr lang="zh-CN" altLang="en-US" sz="2400" dirty="0">
                <a:latin typeface="楷体" panose="02010609060101010101" pitchFamily="49" charset="-122"/>
                <a:ea typeface="楷体" panose="02010609060101010101" pitchFamily="49" charset="-122"/>
              </a:rPr>
              <a:t>节拍，第</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条指令是空拍，第</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条指令就不是了，因为将</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B</a:t>
            </a:r>
            <a:r>
              <a:rPr lang="zh-CN" altLang="en-US" sz="2400" dirty="0">
                <a:latin typeface="楷体" panose="02010609060101010101" pitchFamily="49" charset="-122"/>
                <a:ea typeface="楷体" panose="02010609060101010101" pitchFamily="49" charset="-122"/>
              </a:rPr>
              <a:t>的内容相加的结果还要送回到</a:t>
            </a:r>
            <a:r>
              <a:rPr lang="en-US" altLang="zh-CN" sz="2400" dirty="0">
                <a:latin typeface="楷体" panose="02010609060101010101" pitchFamily="49" charset="-122"/>
                <a:ea typeface="楷体" panose="02010609060101010101" pitchFamily="49" charset="-122"/>
              </a:rPr>
              <a:t>A</a:t>
            </a:r>
            <a:r>
              <a:rPr lang="zh-CN" altLang="en-US" sz="2400" dirty="0">
                <a:latin typeface="楷体" panose="02010609060101010101" pitchFamily="49" charset="-122"/>
                <a:ea typeface="楷体" panose="02010609060101010101" pitchFamily="49" charset="-122"/>
              </a:rPr>
              <a:t>去。所以要求</a:t>
            </a:r>
            <a:r>
              <a:rPr lang="en-US" altLang="zh-CN" sz="2400" dirty="0">
                <a:latin typeface="楷体" panose="02010609060101010101" pitchFamily="49" charset="-122"/>
                <a:ea typeface="楷体" panose="02010609060101010101" pitchFamily="49" charset="-122"/>
              </a:rPr>
              <a:t>LA=1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EU=1</a:t>
            </a:r>
            <a:r>
              <a:rPr lang="zh-CN" altLang="en-US" sz="2400" dirty="0">
                <a:latin typeface="楷体" panose="02010609060101010101" pitchFamily="49" charset="-122"/>
                <a:ea typeface="楷体" panose="02010609060101010101" pitchFamily="49" charset="-122"/>
              </a:rPr>
              <a:t>。由于</a:t>
            </a:r>
            <a:r>
              <a:rPr lang="en-US" altLang="zh-CN" sz="2400" dirty="0">
                <a:latin typeface="楷体" panose="02010609060101010101" pitchFamily="49" charset="-122"/>
                <a:ea typeface="楷体" panose="02010609060101010101" pitchFamily="49" charset="-122"/>
              </a:rPr>
              <a:t>ALU</a:t>
            </a:r>
            <a:r>
              <a:rPr lang="zh-CN" altLang="en-US" sz="2400" dirty="0">
                <a:latin typeface="楷体" panose="02010609060101010101" pitchFamily="49" charset="-122"/>
                <a:ea typeface="楷体" panose="02010609060101010101" pitchFamily="49" charset="-122"/>
              </a:rPr>
              <a:t>在实行相加时，要求</a:t>
            </a:r>
            <a:r>
              <a:rPr lang="en-US" altLang="zh-CN" sz="2400" dirty="0">
                <a:latin typeface="楷体" panose="02010609060101010101" pitchFamily="49" charset="-122"/>
                <a:ea typeface="楷体" panose="02010609060101010101" pitchFamily="49" charset="-122"/>
              </a:rPr>
              <a:t>SU=0</a:t>
            </a:r>
            <a:r>
              <a:rPr lang="zh-CN" altLang="en-US" sz="2400" dirty="0">
                <a:latin typeface="楷体" panose="02010609060101010101" pitchFamily="49" charset="-122"/>
                <a:ea typeface="楷体" panose="02010609060101010101" pitchFamily="49" charset="-122"/>
              </a:rPr>
              <a:t>，所以这里没出现</a:t>
            </a:r>
            <a:r>
              <a:rPr lang="en-US" altLang="zh-CN" sz="2400" dirty="0">
                <a:latin typeface="楷体" panose="02010609060101010101" pitchFamily="49" charset="-122"/>
                <a:ea typeface="楷体" panose="02010609060101010101" pitchFamily="49" charset="-122"/>
              </a:rPr>
              <a:t>SU</a:t>
            </a:r>
            <a:r>
              <a:rPr lang="zh-CN" altLang="en-US" sz="2400" dirty="0">
                <a:latin typeface="楷体" panose="02010609060101010101" pitchFamily="49" charset="-122"/>
                <a:ea typeface="楷体" panose="02010609060101010101" pitchFamily="49" charset="-122"/>
              </a:rPr>
              <a:t>。</a:t>
            </a:r>
          </a:p>
          <a:p>
            <a:pPr marL="0" indent="0">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第</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、第</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条和第</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条指令完全一样，也是执行周期为</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节拍，控制字也完全一样。因为它们同样是要求进行加法运算。第</a:t>
            </a:r>
            <a:r>
              <a:rPr lang="en-US" altLang="zh-CN" sz="2400" dirty="0">
                <a:latin typeface="楷体" panose="02010609060101010101" pitchFamily="49" charset="-122"/>
                <a:ea typeface="楷体" panose="02010609060101010101" pitchFamily="49" charset="-122"/>
              </a:rPr>
              <a:t>5</a:t>
            </a:r>
            <a:r>
              <a:rPr lang="zh-CN" altLang="en-US" sz="2400" dirty="0">
                <a:latin typeface="楷体" panose="02010609060101010101" pitchFamily="49" charset="-122"/>
                <a:ea typeface="楷体" panose="02010609060101010101" pitchFamily="49" charset="-122"/>
              </a:rPr>
              <a:t>条是要求减法运算所以最后一个节拍中出现</a:t>
            </a:r>
            <a:r>
              <a:rPr lang="en-US" altLang="zh-CN" sz="2400" dirty="0">
                <a:latin typeface="楷体" panose="02010609060101010101" pitchFamily="49" charset="-122"/>
                <a:ea typeface="楷体" panose="02010609060101010101" pitchFamily="49" charset="-122"/>
              </a:rPr>
              <a:t>SU=1</a:t>
            </a:r>
            <a:r>
              <a:rPr lang="zh-CN" altLang="en-US" sz="2400" dirty="0">
                <a:latin typeface="楷体" panose="02010609060101010101" pitchFamily="49" charset="-122"/>
                <a:ea typeface="楷体" panose="02010609060101010101" pitchFamily="49" charset="-122"/>
              </a:rPr>
              <a:t>，因而控制字变成：</a:t>
            </a:r>
          </a:p>
          <a:p>
            <a:pPr marL="0" indent="0">
              <a:lnSpc>
                <a:spcPct val="120000"/>
              </a:lnSpc>
              <a:spcBef>
                <a:spcPts val="600"/>
              </a:spcBef>
              <a:buFontTx/>
              <a:buNone/>
            </a:pPr>
            <a:r>
              <a:rPr lang="en-US" altLang="zh-CN" sz="2400" dirty="0">
                <a:latin typeface="楷体" panose="02010609060101010101" pitchFamily="49" charset="-122"/>
                <a:ea typeface="楷体" panose="02010609060101010101" pitchFamily="49" charset="-122"/>
              </a:rPr>
              <a:t>    CON=0000</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0010</a:t>
            </a: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1100</a:t>
            </a:r>
          </a:p>
          <a:p>
            <a:pPr marL="0" indent="0">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    第</a:t>
            </a:r>
            <a:r>
              <a:rPr lang="en-US" altLang="zh-CN" sz="2400" dirty="0">
                <a:latin typeface="楷体" panose="02010609060101010101" pitchFamily="49" charset="-122"/>
                <a:ea typeface="楷体" panose="02010609060101010101" pitchFamily="49" charset="-122"/>
              </a:rPr>
              <a:t>6</a:t>
            </a:r>
            <a:r>
              <a:rPr lang="zh-CN" altLang="en-US" sz="2400" dirty="0">
                <a:latin typeface="楷体" panose="02010609060101010101" pitchFamily="49" charset="-122"/>
                <a:ea typeface="楷体" panose="02010609060101010101" pitchFamily="49" charset="-122"/>
              </a:rPr>
              <a:t>条指令要求将累加器的内容送入输出寄存器，而与存储器</a:t>
            </a:r>
            <a:r>
              <a:rPr lang="en-US" altLang="zh-CN" sz="2400" dirty="0">
                <a:latin typeface="楷体" panose="02010609060101010101" pitchFamily="49" charset="-122"/>
                <a:ea typeface="楷体" panose="02010609060101010101" pitchFamily="49" charset="-122"/>
              </a:rPr>
              <a:t>PROM</a:t>
            </a:r>
            <a:r>
              <a:rPr lang="zh-CN" altLang="en-US" sz="2400" dirty="0">
                <a:latin typeface="楷体" panose="02010609060101010101" pitchFamily="49" charset="-122"/>
                <a:ea typeface="楷体" panose="02010609060101010101" pitchFamily="49" charset="-122"/>
              </a:rPr>
              <a:t>无关，所以只在</a:t>
            </a:r>
            <a:r>
              <a:rPr lang="en-US" altLang="zh-CN" sz="2400" dirty="0">
                <a:latin typeface="楷体" panose="02010609060101010101" pitchFamily="49" charset="-122"/>
                <a:ea typeface="楷体" panose="02010609060101010101" pitchFamily="49" charset="-122"/>
              </a:rPr>
              <a:t>T3</a:t>
            </a:r>
            <a:r>
              <a:rPr lang="zh-CN" altLang="en-US" sz="2400" dirty="0">
                <a:latin typeface="楷体" panose="02010609060101010101" pitchFamily="49" charset="-122"/>
                <a:ea typeface="楷体" panose="02010609060101010101" pitchFamily="49" charset="-122"/>
              </a:rPr>
              <a:t>节拍要求</a:t>
            </a:r>
            <a:r>
              <a:rPr lang="en-US" altLang="zh-CN" sz="2400" dirty="0">
                <a:latin typeface="楷体" panose="02010609060101010101" pitchFamily="49" charset="-122"/>
                <a:ea typeface="楷体" panose="02010609060101010101" pitchFamily="49" charset="-122"/>
              </a:rPr>
              <a:t>LO=1</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EA=1</a:t>
            </a:r>
            <a:r>
              <a:rPr lang="zh-CN" altLang="en-US" sz="2400" dirty="0">
                <a:latin typeface="楷体" panose="02010609060101010101" pitchFamily="49" charset="-122"/>
                <a:ea typeface="楷体" panose="02010609060101010101" pitchFamily="49" charset="-122"/>
              </a:rPr>
              <a:t>，而</a:t>
            </a:r>
            <a:r>
              <a:rPr lang="en-US" altLang="zh-CN" sz="2400" dirty="0">
                <a:latin typeface="楷体" panose="02010609060101010101" pitchFamily="49" charset="-122"/>
                <a:ea typeface="楷体" panose="02010609060101010101" pitchFamily="49" charset="-122"/>
              </a:rPr>
              <a:t>T4</a:t>
            </a:r>
            <a:r>
              <a:rPr lang="zh-CN" altLang="en-US" sz="2400" dirty="0">
                <a:latin typeface="楷体" panose="02010609060101010101" pitchFamily="49" charset="-122"/>
                <a:ea typeface="楷体" panose="02010609060101010101" pitchFamily="49" charset="-122"/>
              </a:rPr>
              <a:t>及</a:t>
            </a:r>
            <a:r>
              <a:rPr lang="en-US" altLang="zh-CN" sz="2400" dirty="0">
                <a:latin typeface="楷体" panose="02010609060101010101" pitchFamily="49" charset="-122"/>
                <a:ea typeface="楷体" panose="02010609060101010101" pitchFamily="49" charset="-122"/>
              </a:rPr>
              <a:t>T5</a:t>
            </a:r>
            <a:r>
              <a:rPr lang="zh-CN" altLang="en-US" sz="2400" dirty="0">
                <a:latin typeface="楷体" panose="02010609060101010101" pitchFamily="49" charset="-122"/>
                <a:ea typeface="楷体" panose="02010609060101010101" pitchFamily="49" charset="-122"/>
              </a:rPr>
              <a:t>节拍为空拍。</a:t>
            </a:r>
          </a:p>
        </p:txBody>
      </p:sp>
    </p:spTree>
    <p:extLst>
      <p:ext uri="{BB962C8B-B14F-4D97-AF65-F5344CB8AC3E}">
        <p14:creationId xmlns:p14="http://schemas.microsoft.com/office/powerpoint/2010/main" val="257520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subTitle" idx="4294967295"/>
          </p:nvPr>
        </p:nvSpPr>
        <p:spPr bwMode="auto">
          <a:xfrm>
            <a:off x="352425" y="1685925"/>
            <a:ext cx="8382000" cy="3143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p>
            <a:pPr marL="0" indent="0">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    第</a:t>
            </a:r>
            <a:r>
              <a:rPr lang="en-US" altLang="zh-CN" sz="2400" dirty="0">
                <a:latin typeface="楷体" panose="02010609060101010101" pitchFamily="49" charset="-122"/>
                <a:ea typeface="楷体" panose="02010609060101010101" pitchFamily="49" charset="-122"/>
              </a:rPr>
              <a:t>7</a:t>
            </a:r>
            <a:r>
              <a:rPr lang="zh-CN" altLang="en-US" sz="2400" dirty="0">
                <a:latin typeface="楷体" panose="02010609060101010101" pitchFamily="49" charset="-122"/>
                <a:ea typeface="楷体" panose="02010609060101010101" pitchFamily="49" charset="-122"/>
              </a:rPr>
              <a:t>条指令只要求不再运行下去，即要求</a:t>
            </a:r>
            <a:r>
              <a:rPr lang="en-US" altLang="zh-CN" sz="2400" dirty="0">
                <a:latin typeface="楷体" panose="02010609060101010101" pitchFamily="49" charset="-122"/>
                <a:ea typeface="楷体" panose="02010609060101010101" pitchFamily="49" charset="-122"/>
              </a:rPr>
              <a:t>CLK</a:t>
            </a:r>
            <a:r>
              <a:rPr lang="zh-CN" altLang="en-US" sz="2400" dirty="0">
                <a:latin typeface="楷体" panose="02010609060101010101" pitchFamily="49" charset="-122"/>
                <a:ea typeface="楷体" panose="02010609060101010101" pitchFamily="49" charset="-122"/>
              </a:rPr>
              <a:t>时钟停发脉冲。这便是由控制器直接发出停止信号。所以在</a:t>
            </a:r>
            <a:r>
              <a:rPr lang="en-US" altLang="zh-CN" sz="2400" dirty="0">
                <a:latin typeface="楷体" panose="02010609060101010101" pitchFamily="49" charset="-122"/>
                <a:ea typeface="楷体" panose="02010609060101010101" pitchFamily="49" charset="-122"/>
              </a:rPr>
              <a:t>T3</a:t>
            </a:r>
            <a:r>
              <a:rPr lang="zh-CN" altLang="en-US" sz="2400" dirty="0">
                <a:latin typeface="楷体" panose="02010609060101010101" pitchFamily="49" charset="-122"/>
                <a:ea typeface="楷体" panose="02010609060101010101" pitchFamily="49" charset="-122"/>
              </a:rPr>
              <a:t>节拍发出</a:t>
            </a:r>
            <a:r>
              <a:rPr lang="en-US" altLang="zh-CN" sz="2400" dirty="0">
                <a:latin typeface="楷体" panose="02010609060101010101" pitchFamily="49" charset="-122"/>
                <a:ea typeface="楷体" panose="02010609060101010101" pitchFamily="49" charset="-122"/>
              </a:rPr>
              <a:t>HLT(</a:t>
            </a:r>
            <a:r>
              <a:rPr lang="zh-CN" altLang="en-US" sz="2400" dirty="0">
                <a:latin typeface="楷体" panose="02010609060101010101" pitchFamily="49" charset="-122"/>
                <a:ea typeface="楷体" panose="02010609060101010101" pitchFamily="49" charset="-122"/>
              </a:rPr>
              <a:t>停机信号</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后</a:t>
            </a:r>
            <a:r>
              <a:rPr lang="en-US" altLang="zh-CN" sz="2400" dirty="0">
                <a:latin typeface="楷体" panose="02010609060101010101" pitchFamily="49" charset="-122"/>
                <a:ea typeface="楷体" panose="02010609060101010101" pitchFamily="49" charset="-122"/>
              </a:rPr>
              <a:t>T4</a:t>
            </a:r>
            <a:r>
              <a:rPr lang="zh-CN" altLang="en-US" sz="2400" dirty="0">
                <a:latin typeface="楷体" panose="02010609060101010101" pitchFamily="49" charset="-122"/>
                <a:ea typeface="楷体" panose="02010609060101010101" pitchFamily="49" charset="-122"/>
              </a:rPr>
              <a:t>及</a:t>
            </a:r>
            <a:r>
              <a:rPr lang="en-US" altLang="zh-CN" sz="2400" dirty="0">
                <a:latin typeface="楷体" panose="02010609060101010101" pitchFamily="49" charset="-122"/>
                <a:ea typeface="楷体" panose="02010609060101010101" pitchFamily="49" charset="-122"/>
              </a:rPr>
              <a:t>T5</a:t>
            </a:r>
            <a:r>
              <a:rPr lang="zh-CN" altLang="en-US" sz="2400" dirty="0">
                <a:latin typeface="楷体" panose="02010609060101010101" pitchFamily="49" charset="-122"/>
                <a:ea typeface="楷体" panose="02010609060101010101" pitchFamily="49" charset="-122"/>
              </a:rPr>
              <a:t>节拍也是空拍。</a:t>
            </a:r>
          </a:p>
          <a:p>
            <a:pPr marL="0" indent="0">
              <a:lnSpc>
                <a:spcPct val="120000"/>
              </a:lnSpc>
              <a:spcBef>
                <a:spcPts val="600"/>
              </a:spcBef>
              <a:buFontTx/>
              <a:buNone/>
            </a:pP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4189571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4294967295"/>
          </p:nvPr>
        </p:nvSpPr>
        <p:spPr bwMode="auto">
          <a:xfrm>
            <a:off x="609600" y="1381125"/>
            <a:ext cx="7772400" cy="51244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p>
            <a:pPr marL="0" indent="0">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控制部件是使计算机能够成为自动机的关键部件</a:t>
            </a:r>
            <a:r>
              <a:rPr lang="zh-CN" altLang="en-US" sz="2400" dirty="0">
                <a:latin typeface="楷体" panose="02010609060101010101" pitchFamily="49" charset="-122"/>
                <a:ea typeface="楷体" panose="02010609060101010101" pitchFamily="49" charset="-122"/>
              </a:rPr>
              <a:t>。它包括下列主要部件：</a:t>
            </a:r>
          </a:p>
          <a:p>
            <a:pPr marL="0" indent="0">
              <a:lnSpc>
                <a:spcPct val="120000"/>
              </a:lnSpc>
              <a:spcBef>
                <a:spcPts val="600"/>
              </a:spcBef>
              <a:buFontTx/>
              <a:buNone/>
            </a:pPr>
            <a:r>
              <a:rPr lang="en-US" altLang="zh-CN" sz="2400" dirty="0">
                <a:latin typeface="楷体" panose="02010609060101010101" pitchFamily="49" charset="-122"/>
                <a:ea typeface="楷体" panose="02010609060101010101" pitchFamily="49" charset="-122"/>
              </a:rPr>
              <a:t>    </a:t>
            </a:r>
            <a:r>
              <a:rPr lang="en-US" altLang="zh-CN" sz="2400" dirty="0">
                <a:solidFill>
                  <a:srgbClr val="003399"/>
                </a:solidFill>
                <a:latin typeface="楷体" panose="02010609060101010101" pitchFamily="49" charset="-122"/>
                <a:ea typeface="楷体" panose="02010609060101010101" pitchFamily="49" charset="-122"/>
              </a:rPr>
              <a:t>(1) </a:t>
            </a:r>
            <a:r>
              <a:rPr lang="zh-CN" altLang="en-US" sz="2400" dirty="0">
                <a:solidFill>
                  <a:srgbClr val="003399"/>
                </a:solidFill>
                <a:latin typeface="楷体" panose="02010609060101010101" pitchFamily="49" charset="-122"/>
                <a:ea typeface="楷体" panose="02010609060101010101" pitchFamily="49" charset="-122"/>
              </a:rPr>
              <a:t>环形计数器</a:t>
            </a:r>
            <a:r>
              <a:rPr lang="en-US" altLang="zh-CN" sz="2400" dirty="0">
                <a:solidFill>
                  <a:srgbClr val="003399"/>
                </a:solidFill>
                <a:latin typeface="楷体" panose="02010609060101010101" pitchFamily="49" charset="-122"/>
                <a:ea typeface="楷体" panose="02010609060101010101" pitchFamily="49" charset="-122"/>
              </a:rPr>
              <a:t>(RC)</a:t>
            </a:r>
            <a:r>
              <a:rPr lang="zh-CN" altLang="en-US" sz="2400" dirty="0">
                <a:solidFill>
                  <a:srgbClr val="003399"/>
                </a:solidFill>
                <a:latin typeface="楷体" panose="02010609060101010101" pitchFamily="49" charset="-122"/>
                <a:ea typeface="楷体" panose="02010609060101010101" pitchFamily="49" charset="-122"/>
              </a:rPr>
              <a:t>；</a:t>
            </a:r>
          </a:p>
          <a:p>
            <a:pPr marL="0" indent="0">
              <a:lnSpc>
                <a:spcPct val="120000"/>
              </a:lnSpc>
              <a:spcBef>
                <a:spcPts val="600"/>
              </a:spcBef>
              <a:buFontTx/>
              <a:buNone/>
            </a:pPr>
            <a:r>
              <a:rPr lang="en-US" altLang="zh-CN" sz="2400" dirty="0">
                <a:solidFill>
                  <a:srgbClr val="003399"/>
                </a:solidFill>
                <a:latin typeface="楷体" panose="02010609060101010101" pitchFamily="49" charset="-122"/>
                <a:ea typeface="楷体" panose="02010609060101010101" pitchFamily="49" charset="-122"/>
              </a:rPr>
              <a:t>    (2) </a:t>
            </a:r>
            <a:r>
              <a:rPr lang="zh-CN" altLang="en-US" sz="2400" dirty="0">
                <a:solidFill>
                  <a:srgbClr val="003399"/>
                </a:solidFill>
                <a:latin typeface="楷体" panose="02010609060101010101" pitchFamily="49" charset="-122"/>
                <a:ea typeface="楷体" panose="02010609060101010101" pitchFamily="49" charset="-122"/>
              </a:rPr>
              <a:t>指令译码器</a:t>
            </a:r>
            <a:r>
              <a:rPr lang="en-US" altLang="zh-CN" sz="2400" dirty="0">
                <a:solidFill>
                  <a:srgbClr val="003399"/>
                </a:solidFill>
                <a:latin typeface="楷体" panose="02010609060101010101" pitchFamily="49" charset="-122"/>
                <a:ea typeface="楷体" panose="02010609060101010101" pitchFamily="49" charset="-122"/>
              </a:rPr>
              <a:t>(ID)</a:t>
            </a:r>
            <a:r>
              <a:rPr lang="zh-CN" altLang="en-US" sz="2400" dirty="0">
                <a:solidFill>
                  <a:srgbClr val="003399"/>
                </a:solidFill>
                <a:latin typeface="楷体" panose="02010609060101010101" pitchFamily="49" charset="-122"/>
                <a:ea typeface="楷体" panose="02010609060101010101" pitchFamily="49" charset="-122"/>
              </a:rPr>
              <a:t>；</a:t>
            </a:r>
          </a:p>
          <a:p>
            <a:pPr marL="0" indent="0">
              <a:lnSpc>
                <a:spcPct val="120000"/>
              </a:lnSpc>
              <a:spcBef>
                <a:spcPts val="600"/>
              </a:spcBef>
              <a:buFontTx/>
              <a:buNone/>
            </a:pPr>
            <a:r>
              <a:rPr lang="en-US" altLang="zh-CN" sz="2400" dirty="0">
                <a:solidFill>
                  <a:srgbClr val="003399"/>
                </a:solidFill>
                <a:latin typeface="楷体" panose="02010609060101010101" pitchFamily="49" charset="-122"/>
                <a:ea typeface="楷体" panose="02010609060101010101" pitchFamily="49" charset="-122"/>
              </a:rPr>
              <a:t>    (3) </a:t>
            </a:r>
            <a:r>
              <a:rPr lang="zh-CN" altLang="en-US" sz="2400" dirty="0">
                <a:solidFill>
                  <a:srgbClr val="003399"/>
                </a:solidFill>
                <a:latin typeface="楷体" panose="02010609060101010101" pitchFamily="49" charset="-122"/>
                <a:ea typeface="楷体" panose="02010609060101010101" pitchFamily="49" charset="-122"/>
              </a:rPr>
              <a:t>控制矩阵</a:t>
            </a:r>
            <a:r>
              <a:rPr lang="en-US" altLang="zh-CN" sz="2400" dirty="0">
                <a:solidFill>
                  <a:srgbClr val="003399"/>
                </a:solidFill>
                <a:latin typeface="楷体" panose="02010609060101010101" pitchFamily="49" charset="-122"/>
                <a:ea typeface="楷体" panose="02010609060101010101" pitchFamily="49" charset="-122"/>
              </a:rPr>
              <a:t>(CM)</a:t>
            </a:r>
            <a:r>
              <a:rPr lang="zh-CN" altLang="en-US" sz="2400" dirty="0">
                <a:solidFill>
                  <a:srgbClr val="003399"/>
                </a:solidFill>
                <a:latin typeface="楷体" panose="02010609060101010101" pitchFamily="49" charset="-122"/>
                <a:ea typeface="楷体" panose="02010609060101010101" pitchFamily="49" charset="-122"/>
              </a:rPr>
              <a:t>；</a:t>
            </a:r>
          </a:p>
          <a:p>
            <a:pPr marL="0" indent="0">
              <a:lnSpc>
                <a:spcPct val="120000"/>
              </a:lnSpc>
              <a:spcBef>
                <a:spcPts val="600"/>
              </a:spcBef>
              <a:buFontTx/>
              <a:buNone/>
            </a:pPr>
            <a:r>
              <a:rPr lang="en-US" altLang="zh-CN" sz="2400" dirty="0">
                <a:solidFill>
                  <a:srgbClr val="003399"/>
                </a:solidFill>
                <a:latin typeface="楷体" panose="02010609060101010101" pitchFamily="49" charset="-122"/>
                <a:ea typeface="楷体" panose="02010609060101010101" pitchFamily="49" charset="-122"/>
              </a:rPr>
              <a:t>    (4) </a:t>
            </a:r>
            <a:r>
              <a:rPr lang="zh-CN" altLang="en-US" sz="2400" dirty="0">
                <a:solidFill>
                  <a:srgbClr val="003399"/>
                </a:solidFill>
                <a:latin typeface="楷体" panose="02010609060101010101" pitchFamily="49" charset="-122"/>
                <a:ea typeface="楷体" panose="02010609060101010101" pitchFamily="49" charset="-122"/>
              </a:rPr>
              <a:t>其他控制电路。</a:t>
            </a:r>
          </a:p>
          <a:p>
            <a:pPr marL="0" indent="0">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    其中</a:t>
            </a:r>
            <a:r>
              <a:rPr lang="zh-CN" altLang="en-US" sz="2400" dirty="0">
                <a:solidFill>
                  <a:srgbClr val="FF0000"/>
                </a:solidFill>
                <a:latin typeface="楷体" panose="02010609060101010101" pitchFamily="49" charset="-122"/>
                <a:ea typeface="楷体" panose="02010609060101010101" pitchFamily="49" charset="-122"/>
              </a:rPr>
              <a:t>，环形计数器、指令译码器、控制矩阵称为控制器</a:t>
            </a:r>
            <a:r>
              <a:rPr lang="zh-CN" altLang="en-US" sz="2400" dirty="0">
                <a:latin typeface="楷体" panose="02010609060101010101" pitchFamily="49" charset="-122"/>
                <a:ea typeface="楷体" panose="02010609060101010101" pitchFamily="49" charset="-122"/>
              </a:rPr>
              <a:t>。环形计数器用以发出环形字，从而产生机器节拍，其原理已在上一节中讲过了。下面分别介绍其他环节。</a:t>
            </a:r>
          </a:p>
          <a:p>
            <a:pPr marL="0" indent="0">
              <a:lnSpc>
                <a:spcPct val="120000"/>
              </a:lnSpc>
              <a:spcBef>
                <a:spcPts val="600"/>
              </a:spcBef>
              <a:buFontTx/>
              <a:buNone/>
            </a:pPr>
            <a:endParaRPr lang="en-US" altLang="zh-CN" sz="2400" dirty="0">
              <a:latin typeface="楷体" panose="02010609060101010101" pitchFamily="49" charset="-122"/>
              <a:ea typeface="楷体" panose="02010609060101010101" pitchFamily="49" charset="-122"/>
            </a:endParaRPr>
          </a:p>
        </p:txBody>
      </p:sp>
      <p:sp>
        <p:nvSpPr>
          <p:cNvPr id="4" name="Rectangle 2"/>
          <p:cNvSpPr txBox="1">
            <a:spLocks noChangeArrowheads="1"/>
          </p:cNvSpPr>
          <p:nvPr/>
        </p:nvSpPr>
        <p:spPr bwMode="auto">
          <a:xfrm>
            <a:off x="3286587" y="396882"/>
            <a:ext cx="4172505" cy="67944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30000"/>
              </a:lnSpc>
              <a:spcBef>
                <a:spcPts val="0"/>
              </a:spcBef>
            </a:pPr>
            <a:r>
              <a:rPr lang="en-US" altLang="zh-CN" sz="2800" dirty="0">
                <a:latin typeface="楷体" panose="02010609060101010101" pitchFamily="49" charset="-122"/>
                <a:ea typeface="楷体" panose="02010609060101010101" pitchFamily="49" charset="-122"/>
                <a:cs typeface="+mn-cs"/>
              </a:rPr>
              <a:t>3.5 </a:t>
            </a:r>
            <a:r>
              <a:rPr lang="zh-CN" altLang="en-US" sz="2800" dirty="0">
                <a:latin typeface="楷体" panose="02010609060101010101" pitchFamily="49" charset="-122"/>
                <a:ea typeface="楷体" panose="02010609060101010101" pitchFamily="49" charset="-122"/>
                <a:cs typeface="+mn-cs"/>
              </a:rPr>
              <a:t>控制部件</a:t>
            </a:r>
          </a:p>
        </p:txBody>
      </p:sp>
    </p:spTree>
    <p:extLst>
      <p:ext uri="{BB962C8B-B14F-4D97-AF65-F5344CB8AC3E}">
        <p14:creationId xmlns:p14="http://schemas.microsoft.com/office/powerpoint/2010/main" val="30826606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Grp="1" noChangeArrowheads="1"/>
          </p:cNvSpPr>
          <p:nvPr>
            <p:ph type="body" idx="4294967295"/>
          </p:nvPr>
        </p:nvSpPr>
        <p:spPr bwMode="auto">
          <a:xfrm>
            <a:off x="504825" y="1724025"/>
            <a:ext cx="8351837" cy="47148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p>
            <a:pPr marL="0" indent="0">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    上面在介绍指令寄存器</a:t>
            </a:r>
            <a:r>
              <a:rPr lang="en-US" altLang="zh-CN" sz="2400" dirty="0">
                <a:latin typeface="楷体" panose="02010609060101010101" pitchFamily="49" charset="-122"/>
                <a:ea typeface="楷体" panose="02010609060101010101" pitchFamily="49" charset="-122"/>
              </a:rPr>
              <a:t>IR</a:t>
            </a:r>
            <a:r>
              <a:rPr lang="zh-CN" altLang="en-US" sz="2400" dirty="0">
                <a:latin typeface="楷体" panose="02010609060101010101" pitchFamily="49" charset="-122"/>
                <a:ea typeface="楷体" panose="02010609060101010101" pitchFamily="49" charset="-122"/>
              </a:rPr>
              <a:t>时，曾指出</a:t>
            </a:r>
            <a:r>
              <a:rPr lang="zh-CN" altLang="en-US" sz="2400" dirty="0">
                <a:solidFill>
                  <a:srgbClr val="FF0000"/>
                </a:solidFill>
                <a:latin typeface="楷体" panose="02010609060101010101" pitchFamily="49" charset="-122"/>
                <a:ea typeface="楷体" panose="02010609060101010101" pitchFamily="49" charset="-122"/>
              </a:rPr>
              <a:t>进入</a:t>
            </a:r>
            <a:r>
              <a:rPr lang="en-US" altLang="zh-CN" sz="2400" dirty="0">
                <a:solidFill>
                  <a:srgbClr val="FF0000"/>
                </a:solidFill>
                <a:latin typeface="楷体" panose="02010609060101010101" pitchFamily="49" charset="-122"/>
                <a:ea typeface="楷体" panose="02010609060101010101" pitchFamily="49" charset="-122"/>
              </a:rPr>
              <a:t>IR</a:t>
            </a:r>
            <a:r>
              <a:rPr lang="zh-CN" altLang="en-US" sz="2400" dirty="0">
                <a:solidFill>
                  <a:srgbClr val="FF0000"/>
                </a:solidFill>
                <a:latin typeface="楷体" panose="02010609060101010101" pitchFamily="49" charset="-122"/>
                <a:ea typeface="楷体" panose="02010609060101010101" pitchFamily="49" charset="-122"/>
              </a:rPr>
              <a:t>的数据的高</a:t>
            </a:r>
            <a:r>
              <a:rPr lang="en-US" altLang="zh-CN" sz="2400" dirty="0">
                <a:solidFill>
                  <a:srgbClr val="FF0000"/>
                </a:solidFill>
                <a:latin typeface="楷体" panose="02010609060101010101" pitchFamily="49" charset="-122"/>
                <a:ea typeface="楷体" panose="02010609060101010101" pitchFamily="49" charset="-122"/>
              </a:rPr>
              <a:t>4</a:t>
            </a:r>
            <a:r>
              <a:rPr lang="zh-CN" altLang="en-US" sz="2400" dirty="0">
                <a:solidFill>
                  <a:srgbClr val="FF0000"/>
                </a:solidFill>
                <a:latin typeface="楷体" panose="02010609060101010101" pitchFamily="49" charset="-122"/>
                <a:ea typeface="楷体" panose="02010609060101010101" pitchFamily="49" charset="-122"/>
              </a:rPr>
              <a:t>位立即被送入控制部件</a:t>
            </a:r>
            <a:r>
              <a:rPr lang="zh-CN" altLang="en-US" sz="2400" dirty="0">
                <a:latin typeface="楷体" panose="02010609060101010101" pitchFamily="49" charset="-122"/>
                <a:ea typeface="楷体" panose="02010609060101010101" pitchFamily="49" charset="-122"/>
              </a:rPr>
              <a:t>。这</a:t>
            </a:r>
            <a:r>
              <a:rPr lang="zh-CN" altLang="en-US" sz="2400" dirty="0">
                <a:solidFill>
                  <a:srgbClr val="FF0000"/>
                </a:solidFill>
                <a:latin typeface="楷体" panose="02010609060101010101" pitchFamily="49" charset="-122"/>
                <a:ea typeface="楷体" panose="02010609060101010101" pitchFamily="49" charset="-122"/>
              </a:rPr>
              <a:t>高</a:t>
            </a:r>
            <a:r>
              <a:rPr lang="en-US" altLang="zh-CN" sz="2400" dirty="0">
                <a:solidFill>
                  <a:srgbClr val="FF0000"/>
                </a:solidFill>
                <a:latin typeface="楷体" panose="02010609060101010101" pitchFamily="49" charset="-122"/>
                <a:ea typeface="楷体" panose="02010609060101010101" pitchFamily="49" charset="-122"/>
              </a:rPr>
              <a:t>4</a:t>
            </a:r>
            <a:r>
              <a:rPr lang="zh-CN" altLang="en-US" sz="2400" dirty="0">
                <a:solidFill>
                  <a:srgbClr val="FF0000"/>
                </a:solidFill>
                <a:latin typeface="楷体" panose="02010609060101010101" pitchFamily="49" charset="-122"/>
                <a:ea typeface="楷体" panose="02010609060101010101" pitchFamily="49" charset="-122"/>
              </a:rPr>
              <a:t>位就是各种控制动作的代码</a:t>
            </a:r>
            <a:r>
              <a:rPr lang="zh-CN" altLang="en-US" sz="2400" dirty="0">
                <a:latin typeface="楷体" panose="02010609060101010101" pitchFamily="49" charset="-122"/>
                <a:ea typeface="楷体" panose="02010609060101010101" pitchFamily="49" charset="-122"/>
              </a:rPr>
              <a:t>，比如：</a:t>
            </a:r>
            <a:r>
              <a:rPr lang="en-US" altLang="zh-CN" sz="2400" dirty="0">
                <a:latin typeface="楷体" panose="02010609060101010101" pitchFamily="49" charset="-122"/>
                <a:ea typeface="楷体" panose="02010609060101010101" pitchFamily="49" charset="-122"/>
              </a:rPr>
              <a:t>0000</a:t>
            </a:r>
            <a:r>
              <a:rPr lang="zh-CN" altLang="en-US" sz="2400" dirty="0">
                <a:latin typeface="楷体" panose="02010609060101010101" pitchFamily="49" charset="-122"/>
                <a:ea typeface="楷体" panose="02010609060101010101" pitchFamily="49" charset="-122"/>
              </a:rPr>
              <a:t>代表</a:t>
            </a:r>
            <a:r>
              <a:rPr lang="en-US" altLang="zh-CN" sz="2400" dirty="0">
                <a:latin typeface="楷体" panose="02010609060101010101" pitchFamily="49" charset="-122"/>
                <a:ea typeface="楷体" panose="02010609060101010101" pitchFamily="49" charset="-122"/>
              </a:rPr>
              <a:t>LDA</a:t>
            </a:r>
            <a:r>
              <a:rPr lang="zh-CN" altLang="en-US" sz="2400" dirty="0">
                <a:latin typeface="楷体" panose="02010609060101010101" pitchFamily="49" charset="-122"/>
                <a:ea typeface="楷体" panose="02010609060101010101" pitchFamily="49" charset="-122"/>
              </a:rPr>
              <a:t>的控制动作；</a:t>
            </a:r>
            <a:r>
              <a:rPr lang="en-US" altLang="zh-CN" sz="2400" dirty="0">
                <a:latin typeface="楷体" panose="02010609060101010101" pitchFamily="49" charset="-122"/>
                <a:ea typeface="楷体" panose="02010609060101010101" pitchFamily="49" charset="-122"/>
              </a:rPr>
              <a:t>0001</a:t>
            </a:r>
            <a:r>
              <a:rPr lang="zh-CN" altLang="en-US" sz="2400" dirty="0">
                <a:latin typeface="楷体" panose="02010609060101010101" pitchFamily="49" charset="-122"/>
                <a:ea typeface="楷体" panose="02010609060101010101" pitchFamily="49" charset="-122"/>
              </a:rPr>
              <a:t>代表</a:t>
            </a:r>
            <a:r>
              <a:rPr lang="en-US" altLang="zh-CN" sz="2400" dirty="0">
                <a:latin typeface="楷体" panose="02010609060101010101" pitchFamily="49" charset="-122"/>
                <a:ea typeface="楷体" panose="02010609060101010101" pitchFamily="49" charset="-122"/>
              </a:rPr>
              <a:t>ADD</a:t>
            </a:r>
            <a:r>
              <a:rPr lang="zh-CN" altLang="en-US" sz="2400" dirty="0">
                <a:latin typeface="楷体" panose="02010609060101010101" pitchFamily="49" charset="-122"/>
                <a:ea typeface="楷体" panose="02010609060101010101" pitchFamily="49" charset="-122"/>
              </a:rPr>
              <a:t>的控制动作；</a:t>
            </a:r>
            <a:r>
              <a:rPr lang="en-US" altLang="zh-CN" sz="2400" dirty="0">
                <a:latin typeface="楷体" panose="02010609060101010101" pitchFamily="49" charset="-122"/>
                <a:ea typeface="楷体" panose="02010609060101010101" pitchFamily="49" charset="-122"/>
              </a:rPr>
              <a:t>0010</a:t>
            </a:r>
            <a:r>
              <a:rPr lang="zh-CN" altLang="en-US" sz="2400" dirty="0">
                <a:latin typeface="楷体" panose="02010609060101010101" pitchFamily="49" charset="-122"/>
                <a:ea typeface="楷体" panose="02010609060101010101" pitchFamily="49" charset="-122"/>
              </a:rPr>
              <a:t>代表</a:t>
            </a:r>
            <a:r>
              <a:rPr lang="en-US" altLang="zh-CN" sz="2400" dirty="0">
                <a:latin typeface="楷体" panose="02010609060101010101" pitchFamily="49" charset="-122"/>
                <a:ea typeface="楷体" panose="02010609060101010101" pitchFamily="49" charset="-122"/>
              </a:rPr>
              <a:t>SUB</a:t>
            </a:r>
            <a:r>
              <a:rPr lang="zh-CN" altLang="en-US" sz="2400" dirty="0">
                <a:latin typeface="楷体" panose="02010609060101010101" pitchFamily="49" charset="-122"/>
                <a:ea typeface="楷体" panose="02010609060101010101" pitchFamily="49" charset="-122"/>
              </a:rPr>
              <a:t>的控制动作；</a:t>
            </a:r>
            <a:r>
              <a:rPr lang="en-US" altLang="zh-CN" sz="2400" dirty="0">
                <a:latin typeface="楷体" panose="02010609060101010101" pitchFamily="49" charset="-122"/>
                <a:ea typeface="楷体" panose="02010609060101010101" pitchFamily="49" charset="-122"/>
              </a:rPr>
              <a:t>1110</a:t>
            </a:r>
            <a:r>
              <a:rPr lang="zh-CN" altLang="en-US" sz="2400" dirty="0">
                <a:latin typeface="楷体" panose="02010609060101010101" pitchFamily="49" charset="-122"/>
                <a:ea typeface="楷体" panose="02010609060101010101" pitchFamily="49" charset="-122"/>
              </a:rPr>
              <a:t>代表</a:t>
            </a:r>
            <a:r>
              <a:rPr lang="en-US" altLang="zh-CN" sz="2400" dirty="0">
                <a:latin typeface="楷体" panose="02010609060101010101" pitchFamily="49" charset="-122"/>
                <a:ea typeface="楷体" panose="02010609060101010101" pitchFamily="49" charset="-122"/>
              </a:rPr>
              <a:t>OUT</a:t>
            </a:r>
            <a:r>
              <a:rPr lang="zh-CN" altLang="en-US" sz="2400" dirty="0">
                <a:latin typeface="楷体" panose="02010609060101010101" pitchFamily="49" charset="-122"/>
                <a:ea typeface="楷体" panose="02010609060101010101" pitchFamily="49" charset="-122"/>
              </a:rPr>
              <a:t>的控制动作；</a:t>
            </a:r>
            <a:r>
              <a:rPr lang="en-US" altLang="zh-CN" sz="2400" dirty="0">
                <a:latin typeface="楷体" panose="02010609060101010101" pitchFamily="49" charset="-122"/>
                <a:ea typeface="楷体" panose="02010609060101010101" pitchFamily="49" charset="-122"/>
              </a:rPr>
              <a:t>1111</a:t>
            </a:r>
            <a:r>
              <a:rPr lang="zh-CN" altLang="en-US" sz="2400" dirty="0">
                <a:latin typeface="楷体" panose="02010609060101010101" pitchFamily="49" charset="-122"/>
                <a:ea typeface="楷体" panose="02010609060101010101" pitchFamily="49" charset="-122"/>
              </a:rPr>
              <a:t>代表</a:t>
            </a:r>
            <a:r>
              <a:rPr lang="en-US" altLang="zh-CN" sz="2400" dirty="0">
                <a:latin typeface="楷体" panose="02010609060101010101" pitchFamily="49" charset="-122"/>
                <a:ea typeface="楷体" panose="02010609060101010101" pitchFamily="49" charset="-122"/>
              </a:rPr>
              <a:t>HLT</a:t>
            </a:r>
            <a:r>
              <a:rPr lang="zh-CN" altLang="en-US" sz="2400" dirty="0">
                <a:latin typeface="楷体" panose="02010609060101010101" pitchFamily="49" charset="-122"/>
                <a:ea typeface="楷体" panose="02010609060101010101" pitchFamily="49" charset="-122"/>
              </a:rPr>
              <a:t>的控制动作。</a:t>
            </a:r>
            <a:endParaRPr lang="en-US" altLang="zh-CN" sz="2400" dirty="0">
              <a:latin typeface="楷体" panose="02010609060101010101" pitchFamily="49" charset="-122"/>
              <a:ea typeface="楷体" panose="02010609060101010101" pitchFamily="49" charset="-122"/>
            </a:endParaRPr>
          </a:p>
          <a:p>
            <a:pPr marL="0" indent="0">
              <a:lnSpc>
                <a:spcPct val="120000"/>
              </a:lnSpc>
              <a:spcBef>
                <a:spcPts val="600"/>
              </a:spcBef>
              <a:buFontTx/>
              <a:buNone/>
            </a:pPr>
            <a:r>
              <a:rPr lang="zh-CN" altLang="en-US" sz="2400" dirty="0">
                <a:latin typeface="楷体" panose="02010609060101010101" pitchFamily="49" charset="-122"/>
                <a:ea typeface="楷体" panose="02010609060101010101" pitchFamily="49" charset="-122"/>
              </a:rPr>
              <a:t>    </a:t>
            </a:r>
            <a:r>
              <a:rPr lang="zh-CN" altLang="en-US" sz="2400" dirty="0">
                <a:solidFill>
                  <a:srgbClr val="FF0000"/>
                </a:solidFill>
                <a:latin typeface="楷体" panose="02010609060101010101" pitchFamily="49" charset="-122"/>
                <a:ea typeface="楷体" panose="02010609060101010101" pitchFamily="49" charset="-122"/>
              </a:rPr>
              <a:t>一个动作相当于一条控制线，要该动作实现，就必须使该控制线为高电位。</a:t>
            </a:r>
            <a:r>
              <a:rPr lang="zh-CN" altLang="en-US" sz="2400" dirty="0">
                <a:latin typeface="楷体" panose="02010609060101010101" pitchFamily="49" charset="-122"/>
                <a:ea typeface="楷体" panose="02010609060101010101" pitchFamily="49" charset="-122"/>
              </a:rPr>
              <a:t>因此，这个由</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个位组成的编码，必须被译成一个信号，即译为某一控制线为高电位，这就是译码器的任务。</a:t>
            </a:r>
          </a:p>
          <a:p>
            <a:pPr marL="0" indent="0">
              <a:lnSpc>
                <a:spcPct val="120000"/>
              </a:lnSpc>
              <a:spcBef>
                <a:spcPts val="600"/>
              </a:spcBef>
              <a:buFontTx/>
              <a:buNone/>
            </a:pPr>
            <a:endParaRPr lang="en-US" altLang="zh-CN" sz="2400" dirty="0">
              <a:latin typeface="楷体" panose="02010609060101010101" pitchFamily="49" charset="-122"/>
              <a:ea typeface="楷体" panose="02010609060101010101" pitchFamily="49" charset="-122"/>
            </a:endParaRPr>
          </a:p>
        </p:txBody>
      </p:sp>
      <p:sp>
        <p:nvSpPr>
          <p:cNvPr id="4" name="Rectangle 2"/>
          <p:cNvSpPr txBox="1">
            <a:spLocks noChangeArrowheads="1"/>
          </p:cNvSpPr>
          <p:nvPr/>
        </p:nvSpPr>
        <p:spPr bwMode="auto">
          <a:xfrm>
            <a:off x="504825" y="955676"/>
            <a:ext cx="7772400" cy="60812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spcBef>
                <a:spcPts val="0"/>
              </a:spcBef>
              <a:buFont typeface="Arial" panose="020B0604020202020204" pitchFamily="34" charset="0"/>
              <a:buNone/>
            </a:pPr>
            <a:r>
              <a:rPr lang="en-US" altLang="zh-CN" sz="2400" dirty="0">
                <a:latin typeface="楷体" panose="02010609060101010101" pitchFamily="49" charset="-122"/>
                <a:ea typeface="楷体" panose="02010609060101010101" pitchFamily="49" charset="-122"/>
                <a:cs typeface="+mn-cs"/>
              </a:rPr>
              <a:t>3.5.1 </a:t>
            </a:r>
            <a:r>
              <a:rPr lang="zh-CN" altLang="en-US" sz="2400" dirty="0">
                <a:latin typeface="楷体" panose="02010609060101010101" pitchFamily="49" charset="-122"/>
                <a:ea typeface="楷体" panose="02010609060101010101" pitchFamily="49" charset="-122"/>
                <a:cs typeface="+mn-cs"/>
              </a:rPr>
              <a:t>指令译码器</a:t>
            </a:r>
          </a:p>
        </p:txBody>
      </p:sp>
    </p:spTree>
    <p:extLst>
      <p:ext uri="{BB962C8B-B14F-4D97-AF65-F5344CB8AC3E}">
        <p14:creationId xmlns:p14="http://schemas.microsoft.com/office/powerpoint/2010/main" val="15983841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4"/>
          <p:cNvSpPr txBox="1">
            <a:spLocks noChangeArrowheads="1"/>
          </p:cNvSpPr>
          <p:nvPr/>
        </p:nvSpPr>
        <p:spPr bwMode="auto">
          <a:xfrm>
            <a:off x="5572125" y="5928158"/>
            <a:ext cx="357187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nSpc>
                <a:spcPct val="130000"/>
              </a:lnSpc>
              <a:defRPr kumimoji="1" sz="2000">
                <a:latin typeface="楷体" panose="02010609060101010101" pitchFamily="49" charset="-122"/>
                <a:ea typeface="楷体" panose="02010609060101010101" pitchFamily="49" charset="-122"/>
              </a:defRPr>
            </a:lvl1pPr>
            <a:lvl2pPr marL="742950" indent="-285750">
              <a:defRPr kumimoji="1" sz="2400">
                <a:latin typeface="Times New Roman" panose="02020603050405020304" pitchFamily="18" charset="0"/>
                <a:ea typeface="宋体" panose="02010600030101010101" pitchFamily="2" charset="-122"/>
              </a:defRPr>
            </a:lvl2pPr>
            <a:lvl3pPr marL="1143000" indent="-228600">
              <a:defRPr kumimoji="1" sz="2400">
                <a:latin typeface="Times New Roman" panose="02020603050405020304" pitchFamily="18" charset="0"/>
                <a:ea typeface="宋体" panose="02010600030101010101" pitchFamily="2" charset="-122"/>
              </a:defRPr>
            </a:lvl3pPr>
            <a:lvl4pPr marL="1600200" indent="-228600">
              <a:defRPr kumimoji="1" sz="2400">
                <a:latin typeface="Times New Roman" panose="02020603050405020304" pitchFamily="18" charset="0"/>
                <a:ea typeface="宋体" panose="02010600030101010101" pitchFamily="2" charset="-122"/>
              </a:defRPr>
            </a:lvl4pPr>
            <a:lvl5pPr marL="2057400" indent="-22860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zh-CN" altLang="en-US" dirty="0"/>
              <a:t>图</a:t>
            </a:r>
            <a:r>
              <a:rPr lang="en-US" altLang="zh-CN" dirty="0"/>
              <a:t>3.5   4</a:t>
            </a:r>
            <a:r>
              <a:rPr lang="zh-CN" altLang="en-US" dirty="0"/>
              <a:t>位译码器电路</a:t>
            </a:r>
            <a:endParaRPr lang="en-US" altLang="zh-CN" dirty="0"/>
          </a:p>
        </p:txBody>
      </p:sp>
      <p:pic>
        <p:nvPicPr>
          <p:cNvPr id="71683" name="Picture 5"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2063" y="812055"/>
            <a:ext cx="3895725" cy="503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矩形 3"/>
          <p:cNvSpPr>
            <a:spLocks noChangeArrowheads="1"/>
          </p:cNvSpPr>
          <p:nvPr/>
        </p:nvSpPr>
        <p:spPr bwMode="auto">
          <a:xfrm>
            <a:off x="500063" y="820770"/>
            <a:ext cx="4572000" cy="603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000" dirty="0">
                <a:latin typeface="楷体" panose="02010609060101010101" pitchFamily="49" charset="-122"/>
                <a:ea typeface="楷体" panose="02010609060101010101" pitchFamily="49" charset="-122"/>
              </a:rPr>
              <a:t>    图</a:t>
            </a:r>
            <a:r>
              <a:rPr lang="en-US" altLang="zh-CN" sz="2000" dirty="0">
                <a:latin typeface="楷体" panose="02010609060101010101" pitchFamily="49" charset="-122"/>
                <a:ea typeface="楷体" panose="02010609060101010101" pitchFamily="49" charset="-122"/>
              </a:rPr>
              <a:t>3.5</a:t>
            </a:r>
            <a:r>
              <a:rPr lang="zh-CN" altLang="en-US" sz="2000" dirty="0">
                <a:latin typeface="楷体" panose="02010609060101010101" pitchFamily="49" charset="-122"/>
                <a:ea typeface="楷体" panose="02010609060101010101" pitchFamily="49" charset="-122"/>
              </a:rPr>
              <a:t>是一个</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位译码器。</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位应该可以有</a:t>
            </a:r>
            <a:r>
              <a:rPr lang="en-US" altLang="zh-CN" sz="2000" dirty="0">
                <a:latin typeface="楷体" panose="02010609060101010101" pitchFamily="49" charset="-122"/>
                <a:ea typeface="楷体" panose="02010609060101010101" pitchFamily="49" charset="-122"/>
              </a:rPr>
              <a:t>16</a:t>
            </a:r>
            <a:r>
              <a:rPr lang="zh-CN" altLang="en-US" sz="2000" dirty="0">
                <a:latin typeface="楷体" panose="02010609060101010101" pitchFamily="49" charset="-122"/>
                <a:ea typeface="楷体" panose="02010609060101010101" pitchFamily="49" charset="-122"/>
              </a:rPr>
              <a:t>种编码的可能，由于我们的模拟机功能简单，只有</a:t>
            </a:r>
            <a:r>
              <a:rPr lang="en-US" altLang="zh-CN" sz="2000" dirty="0">
                <a:latin typeface="楷体" panose="02010609060101010101" pitchFamily="49" charset="-122"/>
                <a:ea typeface="楷体" panose="02010609060101010101" pitchFamily="49" charset="-122"/>
              </a:rPr>
              <a:t>5</a:t>
            </a:r>
            <a:r>
              <a:rPr lang="zh-CN" altLang="en-US" sz="2000" dirty="0">
                <a:latin typeface="楷体" panose="02010609060101010101" pitchFamily="49" charset="-122"/>
                <a:ea typeface="楷体" panose="02010609060101010101" pitchFamily="49" charset="-122"/>
              </a:rPr>
              <a:t>条指令，所以只要</a:t>
            </a:r>
            <a:r>
              <a:rPr lang="en-US" altLang="zh-CN" sz="2000" dirty="0">
                <a:latin typeface="楷体" panose="02010609060101010101" pitchFamily="49" charset="-122"/>
                <a:ea typeface="楷体" panose="02010609060101010101" pitchFamily="49" charset="-122"/>
              </a:rPr>
              <a:t>5</a:t>
            </a:r>
            <a:r>
              <a:rPr lang="zh-CN" altLang="en-US" sz="2000" dirty="0">
                <a:latin typeface="楷体" panose="02010609060101010101" pitchFamily="49" charset="-122"/>
                <a:ea typeface="楷体" panose="02010609060101010101" pitchFamily="49" charset="-122"/>
              </a:rPr>
              <a:t>个与门就够了。</a:t>
            </a:r>
            <a:endParaRPr lang="en-US" altLang="zh-CN" sz="2000" dirty="0">
              <a:latin typeface="楷体" panose="02010609060101010101" pitchFamily="49" charset="-122"/>
              <a:ea typeface="楷体" panose="02010609060101010101" pitchFamily="49" charset="-122"/>
            </a:endParaRPr>
          </a:p>
          <a:p>
            <a:pPr eaLnBrk="1" hangingPunct="1">
              <a:lnSpc>
                <a:spcPct val="130000"/>
              </a:lnSpc>
            </a:pPr>
            <a:r>
              <a:rPr lang="zh-CN" altLang="en-US" sz="2000" dirty="0">
                <a:latin typeface="楷体" panose="02010609060101010101" pitchFamily="49" charset="-122"/>
                <a:ea typeface="楷体" panose="02010609060101010101" pitchFamily="49" charset="-122"/>
              </a:rPr>
              <a:t>    由</a:t>
            </a:r>
            <a:r>
              <a:rPr lang="en-US" altLang="zh-CN" sz="2000" dirty="0">
                <a:latin typeface="楷体" panose="02010609060101010101" pitchFamily="49" charset="-122"/>
                <a:ea typeface="楷体" panose="02010609060101010101" pitchFamily="49" charset="-122"/>
              </a:rPr>
              <a:t>PROM</a:t>
            </a:r>
            <a:r>
              <a:rPr lang="zh-CN" altLang="en-US" sz="2000" dirty="0">
                <a:latin typeface="楷体" panose="02010609060101010101" pitchFamily="49" charset="-122"/>
                <a:ea typeface="楷体" panose="02010609060101010101" pitchFamily="49" charset="-122"/>
              </a:rPr>
              <a:t>进入到</a:t>
            </a:r>
            <a:r>
              <a:rPr lang="en-US" altLang="zh-CN" sz="2000" dirty="0">
                <a:latin typeface="楷体" panose="02010609060101010101" pitchFamily="49" charset="-122"/>
                <a:ea typeface="楷体" panose="02010609060101010101" pitchFamily="49" charset="-122"/>
              </a:rPr>
              <a:t>IR</a:t>
            </a:r>
            <a:r>
              <a:rPr lang="zh-CN" altLang="en-US" sz="2000" dirty="0">
                <a:latin typeface="楷体" panose="02010609060101010101" pitchFamily="49" charset="-122"/>
                <a:ea typeface="楷体" panose="02010609060101010101" pitchFamily="49" charset="-122"/>
              </a:rPr>
              <a:t>的数据是</a:t>
            </a:r>
            <a:r>
              <a:rPr lang="en-US" altLang="zh-CN" sz="2000" dirty="0">
                <a:latin typeface="楷体" panose="02010609060101010101" pitchFamily="49" charset="-122"/>
                <a:ea typeface="楷体" panose="02010609060101010101" pitchFamily="49" charset="-122"/>
              </a:rPr>
              <a:t>8</a:t>
            </a:r>
            <a:r>
              <a:rPr lang="zh-CN" altLang="en-US" sz="2000" dirty="0">
                <a:latin typeface="楷体" panose="02010609060101010101" pitchFamily="49" charset="-122"/>
                <a:ea typeface="楷体" panose="02010609060101010101" pitchFamily="49" charset="-122"/>
              </a:rPr>
              <a:t>位的，设为</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7</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6</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5</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4</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3</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2</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1</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0</a:t>
            </a:r>
            <a:r>
              <a:rPr lang="zh-CN" altLang="en-US" sz="2000" dirty="0">
                <a:latin typeface="楷体" panose="02010609060101010101" pitchFamily="49" charset="-122"/>
                <a:ea typeface="楷体" panose="02010609060101010101" pitchFamily="49" charset="-122"/>
              </a:rPr>
              <a:t>，其高</a:t>
            </a:r>
            <a:r>
              <a:rPr lang="en-US" altLang="zh-CN" sz="2000" dirty="0">
                <a:latin typeface="楷体" panose="02010609060101010101" pitchFamily="49" charset="-122"/>
                <a:ea typeface="楷体" panose="02010609060101010101" pitchFamily="49" charset="-122"/>
              </a:rPr>
              <a:t>4</a:t>
            </a:r>
            <a:r>
              <a:rPr lang="zh-CN" altLang="en-US" sz="2000" dirty="0">
                <a:latin typeface="楷体" panose="02010609060101010101" pitchFamily="49" charset="-122"/>
                <a:ea typeface="楷体" panose="02010609060101010101" pitchFamily="49" charset="-122"/>
              </a:rPr>
              <a:t>位（指令字段）为：</a:t>
            </a:r>
          </a:p>
          <a:p>
            <a:pPr eaLnBrk="1" hangingPunct="1">
              <a:lnSpc>
                <a:spcPct val="130000"/>
              </a:lnSpc>
            </a:pP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7</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6</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5</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4</a:t>
            </a:r>
            <a:endParaRPr lang="en-US" altLang="zh-CN" sz="2000" dirty="0">
              <a:latin typeface="楷体" panose="02010609060101010101" pitchFamily="49" charset="-122"/>
              <a:ea typeface="楷体" panose="02010609060101010101" pitchFamily="49" charset="-122"/>
            </a:endParaRPr>
          </a:p>
          <a:p>
            <a:pPr eaLnBrk="1" hangingPunct="1">
              <a:lnSpc>
                <a:spcPct val="130000"/>
              </a:lnSpc>
            </a:pPr>
            <a:r>
              <a:rPr lang="zh-CN" altLang="en-US" sz="2000" dirty="0">
                <a:latin typeface="楷体" panose="02010609060101010101" pitchFamily="49" charset="-122"/>
                <a:ea typeface="楷体" panose="02010609060101010101" pitchFamily="49" charset="-122"/>
              </a:rPr>
              <a:t>在指令为</a:t>
            </a:r>
            <a:r>
              <a:rPr lang="en-US" altLang="zh-CN" sz="2000" dirty="0">
                <a:latin typeface="楷体" panose="02010609060101010101" pitchFamily="49" charset="-122"/>
                <a:ea typeface="楷体" panose="02010609060101010101" pitchFamily="49" charset="-122"/>
              </a:rPr>
              <a:t>LDA</a:t>
            </a:r>
            <a:r>
              <a:rPr lang="zh-CN" altLang="en-US" sz="2000" dirty="0">
                <a:latin typeface="楷体" panose="02010609060101010101" pitchFamily="49" charset="-122"/>
                <a:ea typeface="楷体" panose="02010609060101010101" pitchFamily="49" charset="-122"/>
              </a:rPr>
              <a:t>时，</a:t>
            </a:r>
          </a:p>
          <a:p>
            <a:pPr eaLnBrk="1" hangingPunct="1">
              <a:lnSpc>
                <a:spcPct val="130000"/>
              </a:lnSpc>
            </a:pPr>
            <a:r>
              <a:rPr lang="zh-CN" altLang="en-US" sz="2000" dirty="0">
                <a:latin typeface="楷体" panose="02010609060101010101" pitchFamily="49" charset="-122"/>
                <a:ea typeface="楷体" panose="02010609060101010101" pitchFamily="49" charset="-122"/>
              </a:rPr>
              <a:t>　　</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7</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6</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5</a:t>
            </a:r>
            <a:r>
              <a:rPr lang="en-US" altLang="zh-CN" sz="2000" dirty="0">
                <a:latin typeface="楷体" panose="02010609060101010101" pitchFamily="49" charset="-122"/>
                <a:ea typeface="楷体" panose="02010609060101010101" pitchFamily="49" charset="-122"/>
              </a:rPr>
              <a:t>I</a:t>
            </a:r>
            <a:r>
              <a:rPr lang="en-US" altLang="zh-CN" sz="2000" baseline="-25000" dirty="0">
                <a:latin typeface="楷体" panose="02010609060101010101" pitchFamily="49" charset="-122"/>
                <a:ea typeface="楷体" panose="02010609060101010101" pitchFamily="49" charset="-122"/>
              </a:rPr>
              <a:t>4</a:t>
            </a:r>
            <a:r>
              <a:rPr lang="en-US" altLang="zh-CN" sz="2000" dirty="0">
                <a:latin typeface="楷体" panose="02010609060101010101" pitchFamily="49" charset="-122"/>
                <a:ea typeface="楷体" panose="02010609060101010101" pitchFamily="49" charset="-122"/>
              </a:rPr>
              <a:t>=0000</a:t>
            </a:r>
          </a:p>
          <a:p>
            <a:pPr eaLnBrk="1" hangingPunct="1">
              <a:lnSpc>
                <a:spcPct val="130000"/>
              </a:lnSpc>
            </a:pPr>
            <a:r>
              <a:rPr lang="zh-CN" altLang="en-US" sz="2000" dirty="0">
                <a:latin typeface="楷体" panose="02010609060101010101" pitchFamily="49" charset="-122"/>
                <a:ea typeface="楷体" panose="02010609060101010101" pitchFamily="49" charset="-122"/>
              </a:rPr>
              <a:t>此时，加至指令译码器的输入端的全是低电位，而各个非门的输出则全为高电位，所以与门</a:t>
            </a:r>
            <a:r>
              <a:rPr lang="en-US" altLang="zh-CN" sz="2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的四个输入端也全是高电位，故其输出，即控制线</a:t>
            </a:r>
            <a:r>
              <a:rPr lang="en-US" altLang="zh-CN" sz="2000" dirty="0">
                <a:latin typeface="楷体" panose="02010609060101010101" pitchFamily="49" charset="-122"/>
                <a:ea typeface="楷体" panose="02010609060101010101" pitchFamily="49" charset="-122"/>
              </a:rPr>
              <a:t>LDA</a:t>
            </a:r>
            <a:r>
              <a:rPr lang="zh-CN" altLang="en-US" sz="2000" dirty="0">
                <a:latin typeface="楷体" panose="02010609060101010101" pitchFamily="49" charset="-122"/>
                <a:ea typeface="楷体" panose="02010609060101010101" pitchFamily="49" charset="-122"/>
              </a:rPr>
              <a:t>为高电位。</a:t>
            </a:r>
          </a:p>
        </p:txBody>
      </p:sp>
    </p:spTree>
    <p:extLst>
      <p:ext uri="{BB962C8B-B14F-4D97-AF65-F5344CB8AC3E}">
        <p14:creationId xmlns:p14="http://schemas.microsoft.com/office/powerpoint/2010/main" val="19861595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subTitle" idx="4294967295"/>
          </p:nvPr>
        </p:nvSpPr>
        <p:spPr bwMode="auto">
          <a:xfrm>
            <a:off x="352425" y="990600"/>
            <a:ext cx="4624388" cy="5867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0" indent="0" eaLnBrk="1" hangingPunct="1">
              <a:lnSpc>
                <a:spcPct val="140000"/>
              </a:lnSpc>
              <a:spcBef>
                <a:spcPts val="0"/>
              </a:spcBef>
              <a:buFontTx/>
              <a:buNone/>
            </a:pPr>
            <a:r>
              <a:rPr lang="zh-CN" altLang="en-US" sz="2400" dirty="0">
                <a:latin typeface="楷体" panose="02010609060101010101" pitchFamily="49" charset="-122"/>
                <a:ea typeface="楷体" panose="02010609060101010101" pitchFamily="49" charset="-122"/>
              </a:rPr>
              <a:t>在指令为</a:t>
            </a:r>
            <a:r>
              <a:rPr lang="en-US" altLang="zh-CN" sz="2400" dirty="0">
                <a:latin typeface="楷体" panose="02010609060101010101" pitchFamily="49" charset="-122"/>
                <a:ea typeface="楷体" panose="02010609060101010101" pitchFamily="49" charset="-122"/>
              </a:rPr>
              <a:t>ADD</a:t>
            </a:r>
            <a:r>
              <a:rPr lang="zh-CN" altLang="en-US" sz="2400" dirty="0">
                <a:latin typeface="楷体" panose="02010609060101010101" pitchFamily="49" charset="-122"/>
                <a:ea typeface="楷体" panose="02010609060101010101" pitchFamily="49" charset="-122"/>
              </a:rPr>
              <a:t>时，</a:t>
            </a:r>
          </a:p>
          <a:p>
            <a:pPr marL="0" indent="0" eaLnBrk="1" hangingPunct="1">
              <a:lnSpc>
                <a:spcPct val="140000"/>
              </a:lnSpc>
              <a:spcBef>
                <a:spcPts val="0"/>
              </a:spcBef>
              <a:buFontTx/>
              <a:buNone/>
            </a:pPr>
            <a:r>
              <a:rPr lang="zh-CN" altLang="en-US" sz="2400" dirty="0">
                <a:latin typeface="楷体" panose="02010609060101010101" pitchFamily="49" charset="-122"/>
                <a:ea typeface="楷体" panose="02010609060101010101" pitchFamily="49" charset="-122"/>
              </a:rPr>
              <a:t>　　</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7</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6</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5</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4</a:t>
            </a:r>
            <a:r>
              <a:rPr lang="en-US" altLang="zh-CN" sz="2400" dirty="0">
                <a:latin typeface="楷体" panose="02010609060101010101" pitchFamily="49" charset="-122"/>
                <a:ea typeface="楷体" panose="02010609060101010101" pitchFamily="49" charset="-122"/>
              </a:rPr>
              <a:t>=0001</a:t>
            </a:r>
          </a:p>
          <a:p>
            <a:pPr marL="0" indent="0" eaLnBrk="1" hangingPunct="1">
              <a:lnSpc>
                <a:spcPct val="140000"/>
              </a:lnSpc>
              <a:spcBef>
                <a:spcPts val="0"/>
              </a:spcBef>
              <a:buFontTx/>
              <a:buNone/>
            </a:pPr>
            <a:r>
              <a:rPr lang="zh-CN" altLang="en-US" sz="2400" dirty="0">
                <a:latin typeface="楷体" panose="02010609060101010101" pitchFamily="49" charset="-122"/>
                <a:ea typeface="楷体" panose="02010609060101010101" pitchFamily="49" charset="-122"/>
              </a:rPr>
              <a:t>加于指令译码器的输入端的左三个</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7</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6</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5</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为低电位，而右一个</a:t>
            </a:r>
            <a:r>
              <a:rPr lang="en-US" altLang="zh-CN" sz="2400" dirty="0">
                <a:latin typeface="楷体" panose="02010609060101010101" pitchFamily="49" charset="-122"/>
                <a:ea typeface="楷体" panose="02010609060101010101" pitchFamily="49" charset="-122"/>
              </a:rPr>
              <a:t>(I</a:t>
            </a:r>
            <a:r>
              <a:rPr lang="en-US" altLang="zh-CN" sz="2400" baseline="-25000" dirty="0">
                <a:latin typeface="楷体" panose="02010609060101010101" pitchFamily="49" charset="-122"/>
                <a:ea typeface="楷体" panose="02010609060101010101" pitchFamily="49" charset="-122"/>
              </a:rPr>
              <a:t>4</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为高电位。而与门</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的上边一条输入线不接至非门而直接与</a:t>
            </a:r>
            <a:r>
              <a:rPr lang="en-US" altLang="zh-CN" sz="2400" dirty="0">
                <a:latin typeface="楷体" panose="02010609060101010101" pitchFamily="49" charset="-122"/>
                <a:ea typeface="楷体" panose="02010609060101010101" pitchFamily="49" charset="-122"/>
              </a:rPr>
              <a:t>I4</a:t>
            </a:r>
            <a:r>
              <a:rPr lang="zh-CN" altLang="en-US" sz="2400" dirty="0">
                <a:latin typeface="楷体" panose="02010609060101010101" pitchFamily="49" charset="-122"/>
                <a:ea typeface="楷体" panose="02010609060101010101" pitchFamily="49" charset="-122"/>
              </a:rPr>
              <a:t>相接，所以是高电位。与门</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的其他</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条输入线都接至非门，所以也是高电位。因此，</a:t>
            </a:r>
            <a:r>
              <a:rPr lang="zh-CN" altLang="en-US" sz="2400" dirty="0">
                <a:solidFill>
                  <a:srgbClr val="00B0F0"/>
                </a:solidFill>
                <a:latin typeface="楷体" panose="02010609060101010101" pitchFamily="49" charset="-122"/>
                <a:ea typeface="楷体" panose="02010609060101010101" pitchFamily="49" charset="-122"/>
              </a:rPr>
              <a:t>与门</a:t>
            </a:r>
            <a:r>
              <a:rPr lang="en-US" altLang="zh-CN" sz="2400" dirty="0">
                <a:solidFill>
                  <a:srgbClr val="00B0F0"/>
                </a:solidFill>
                <a:latin typeface="楷体" panose="02010609060101010101" pitchFamily="49" charset="-122"/>
                <a:ea typeface="楷体" panose="02010609060101010101" pitchFamily="49" charset="-122"/>
              </a:rPr>
              <a:t>2</a:t>
            </a:r>
            <a:r>
              <a:rPr lang="zh-CN" altLang="en-US" sz="2400" dirty="0">
                <a:solidFill>
                  <a:srgbClr val="00B0F0"/>
                </a:solidFill>
                <a:latin typeface="楷体" panose="02010609060101010101" pitchFamily="49" charset="-122"/>
                <a:ea typeface="楷体" panose="02010609060101010101" pitchFamily="49" charset="-122"/>
              </a:rPr>
              <a:t>的</a:t>
            </a:r>
            <a:r>
              <a:rPr lang="en-US" altLang="zh-CN" sz="2400" dirty="0">
                <a:solidFill>
                  <a:srgbClr val="00B0F0"/>
                </a:solidFill>
                <a:latin typeface="楷体" panose="02010609060101010101" pitchFamily="49" charset="-122"/>
                <a:ea typeface="楷体" panose="02010609060101010101" pitchFamily="49" charset="-122"/>
              </a:rPr>
              <a:t>4</a:t>
            </a:r>
            <a:r>
              <a:rPr lang="zh-CN" altLang="en-US" sz="2400" dirty="0">
                <a:solidFill>
                  <a:srgbClr val="00B0F0"/>
                </a:solidFill>
                <a:latin typeface="楷体" panose="02010609060101010101" pitchFamily="49" charset="-122"/>
                <a:ea typeface="楷体" panose="02010609060101010101" pitchFamily="49" charset="-122"/>
              </a:rPr>
              <a:t>个输入端全为高电位</a:t>
            </a:r>
            <a:r>
              <a:rPr lang="zh-CN" altLang="en-US" sz="2400" dirty="0">
                <a:latin typeface="楷体" panose="02010609060101010101" pitchFamily="49" charset="-122"/>
                <a:ea typeface="楷体" panose="02010609060101010101" pitchFamily="49" charset="-122"/>
              </a:rPr>
              <a:t>，故其输出，</a:t>
            </a:r>
            <a:r>
              <a:rPr lang="zh-CN" altLang="en-US" sz="2400" dirty="0">
                <a:solidFill>
                  <a:srgbClr val="FF0000"/>
                </a:solidFill>
                <a:latin typeface="楷体" panose="02010609060101010101" pitchFamily="49" charset="-122"/>
                <a:ea typeface="楷体" panose="02010609060101010101" pitchFamily="49" charset="-122"/>
              </a:rPr>
              <a:t>即控制线</a:t>
            </a:r>
            <a:r>
              <a:rPr lang="en-US" altLang="zh-CN" sz="2400" dirty="0">
                <a:solidFill>
                  <a:srgbClr val="FF0000"/>
                </a:solidFill>
                <a:latin typeface="楷体" panose="02010609060101010101" pitchFamily="49" charset="-122"/>
                <a:ea typeface="楷体" panose="02010609060101010101" pitchFamily="49" charset="-122"/>
              </a:rPr>
              <a:t>ADD</a:t>
            </a:r>
            <a:r>
              <a:rPr lang="zh-CN" altLang="en-US" sz="2400" dirty="0">
                <a:solidFill>
                  <a:srgbClr val="FF0000"/>
                </a:solidFill>
                <a:latin typeface="楷体" panose="02010609060101010101" pitchFamily="49" charset="-122"/>
                <a:ea typeface="楷体" panose="02010609060101010101" pitchFamily="49" charset="-122"/>
              </a:rPr>
              <a:t>为高电位。</a:t>
            </a:r>
          </a:p>
          <a:p>
            <a:pPr marL="0" indent="0" eaLnBrk="1" hangingPunct="1">
              <a:lnSpc>
                <a:spcPct val="140000"/>
              </a:lnSpc>
              <a:spcBef>
                <a:spcPts val="0"/>
              </a:spcBef>
              <a:buFontTx/>
              <a:buNone/>
            </a:pPr>
            <a:endParaRPr lang="en-US" altLang="zh-CN" sz="2400" dirty="0">
              <a:latin typeface="楷体" panose="02010609060101010101" pitchFamily="49" charset="-122"/>
              <a:ea typeface="楷体" panose="02010609060101010101" pitchFamily="49" charset="-122"/>
            </a:endParaRPr>
          </a:p>
        </p:txBody>
      </p:sp>
      <p:sp>
        <p:nvSpPr>
          <p:cNvPr id="73731" name="Text Box 4"/>
          <p:cNvSpPr txBox="1">
            <a:spLocks noChangeArrowheads="1"/>
          </p:cNvSpPr>
          <p:nvPr/>
        </p:nvSpPr>
        <p:spPr bwMode="auto">
          <a:xfrm>
            <a:off x="5710239" y="5871008"/>
            <a:ext cx="310991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30000"/>
              </a:lnSpc>
              <a:defRPr kumimoji="1" sz="2000">
                <a:latin typeface="楷体" panose="02010609060101010101" pitchFamily="49" charset="-122"/>
                <a:ea typeface="楷体" panose="02010609060101010101" pitchFamily="49" charset="-122"/>
              </a:defRPr>
            </a:lvl1pPr>
            <a:lvl2pPr marL="742950" indent="-285750">
              <a:defRPr kumimoji="1" sz="2400">
                <a:latin typeface="Times New Roman" panose="02020603050405020304" pitchFamily="18" charset="0"/>
                <a:ea typeface="宋体" panose="02010600030101010101" pitchFamily="2" charset="-122"/>
              </a:defRPr>
            </a:lvl2pPr>
            <a:lvl3pPr marL="1143000" indent="-228600">
              <a:defRPr kumimoji="1" sz="2400">
                <a:latin typeface="Times New Roman" panose="02020603050405020304" pitchFamily="18" charset="0"/>
                <a:ea typeface="宋体" panose="02010600030101010101" pitchFamily="2" charset="-122"/>
              </a:defRPr>
            </a:lvl3pPr>
            <a:lvl4pPr marL="1600200" indent="-228600">
              <a:defRPr kumimoji="1" sz="2400">
                <a:latin typeface="Times New Roman" panose="02020603050405020304" pitchFamily="18" charset="0"/>
                <a:ea typeface="宋体" panose="02010600030101010101" pitchFamily="2" charset="-122"/>
              </a:defRPr>
            </a:lvl4pPr>
            <a:lvl5pPr marL="2057400" indent="-228600">
              <a:defRPr kumimoji="1" sz="2400">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latin typeface="Times New Roman" panose="02020603050405020304" pitchFamily="18" charset="0"/>
                <a:ea typeface="宋体" panose="02010600030101010101" pitchFamily="2" charset="-122"/>
              </a:defRPr>
            </a:lvl9pPr>
          </a:lstStyle>
          <a:p>
            <a:r>
              <a:rPr lang="zh-CN" altLang="en-US" dirty="0"/>
              <a:t>图</a:t>
            </a:r>
            <a:r>
              <a:rPr lang="en-US" altLang="zh-CN" dirty="0"/>
              <a:t>3.5   4</a:t>
            </a:r>
            <a:r>
              <a:rPr lang="zh-CN" altLang="en-US" dirty="0"/>
              <a:t>位译码器电路</a:t>
            </a:r>
            <a:endParaRPr lang="en-US" altLang="zh-CN" dirty="0"/>
          </a:p>
        </p:txBody>
      </p:sp>
      <p:pic>
        <p:nvPicPr>
          <p:cNvPr id="73732" name="Picture 5" descr="图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4938" y="684213"/>
            <a:ext cx="3895725" cy="503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20744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D7BFA65-71AB-40BB-9677-58E68A47BC51}"/>
              </a:ext>
            </a:extLst>
          </p:cNvPr>
          <p:cNvSpPr txBox="1">
            <a:spLocks noChangeArrowheads="1"/>
          </p:cNvSpPr>
          <p:nvPr/>
        </p:nvSpPr>
        <p:spPr bwMode="auto">
          <a:xfrm>
            <a:off x="2019300" y="428625"/>
            <a:ext cx="3324225" cy="5524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spcBef>
                <a:spcPct val="0"/>
              </a:spcBef>
              <a:spcAft>
                <a:spcPct val="0"/>
              </a:spcAft>
              <a:defRPr kumimoji="1" sz="3200" b="1">
                <a:solidFill>
                  <a:srgbClr val="800000"/>
                </a:solidFill>
                <a:latin typeface="+mj-lt"/>
                <a:ea typeface="+mj-ea"/>
                <a:cs typeface="+mj-cs"/>
              </a:defRPr>
            </a:lvl1pPr>
            <a:lvl2pPr algn="l" rtl="0" eaLnBrk="0" fontAlgn="base" hangingPunct="0">
              <a:spcBef>
                <a:spcPct val="0"/>
              </a:spcBef>
              <a:spcAft>
                <a:spcPct val="0"/>
              </a:spcAft>
              <a:defRPr kumimoji="1" sz="3200" b="1">
                <a:solidFill>
                  <a:srgbClr val="800000"/>
                </a:solidFill>
                <a:latin typeface="Times New Roman" pitchFamily="18" charset="0"/>
                <a:ea typeface="宋体" pitchFamily="2" charset="-122"/>
              </a:defRPr>
            </a:lvl2pPr>
            <a:lvl3pPr algn="l" rtl="0" eaLnBrk="0" fontAlgn="base" hangingPunct="0">
              <a:spcBef>
                <a:spcPct val="0"/>
              </a:spcBef>
              <a:spcAft>
                <a:spcPct val="0"/>
              </a:spcAft>
              <a:defRPr kumimoji="1" sz="3200" b="1">
                <a:solidFill>
                  <a:srgbClr val="800000"/>
                </a:solidFill>
                <a:latin typeface="Times New Roman" pitchFamily="18" charset="0"/>
                <a:ea typeface="宋体" pitchFamily="2" charset="-122"/>
              </a:defRPr>
            </a:lvl3pPr>
            <a:lvl4pPr algn="l" rtl="0" eaLnBrk="0" fontAlgn="base" hangingPunct="0">
              <a:spcBef>
                <a:spcPct val="0"/>
              </a:spcBef>
              <a:spcAft>
                <a:spcPct val="0"/>
              </a:spcAft>
              <a:defRPr kumimoji="1" sz="3200" b="1">
                <a:solidFill>
                  <a:srgbClr val="800000"/>
                </a:solidFill>
                <a:latin typeface="Times New Roman" pitchFamily="18" charset="0"/>
                <a:ea typeface="宋体" pitchFamily="2" charset="-122"/>
              </a:defRPr>
            </a:lvl4pPr>
            <a:lvl5pPr algn="l" rtl="0" eaLnBrk="0" fontAlgn="base" hangingPunct="0">
              <a:spcBef>
                <a:spcPct val="0"/>
              </a:spcBef>
              <a:spcAft>
                <a:spcPct val="0"/>
              </a:spcAft>
              <a:defRPr kumimoji="1" sz="3200" b="1">
                <a:solidFill>
                  <a:srgbClr val="800000"/>
                </a:solidFill>
                <a:latin typeface="Times New Roman" pitchFamily="18" charset="0"/>
                <a:ea typeface="宋体" pitchFamily="2" charset="-122"/>
              </a:defRPr>
            </a:lvl5pPr>
            <a:lvl6pPr marL="457200" algn="l" rtl="0" fontAlgn="base">
              <a:spcBef>
                <a:spcPct val="0"/>
              </a:spcBef>
              <a:spcAft>
                <a:spcPct val="0"/>
              </a:spcAft>
              <a:defRPr kumimoji="1" sz="3200" b="1">
                <a:solidFill>
                  <a:srgbClr val="800000"/>
                </a:solidFill>
                <a:latin typeface="Times New Roman" pitchFamily="18" charset="0"/>
                <a:ea typeface="宋体" pitchFamily="2" charset="-122"/>
              </a:defRPr>
            </a:lvl6pPr>
            <a:lvl7pPr marL="914400" algn="l" rtl="0" fontAlgn="base">
              <a:spcBef>
                <a:spcPct val="0"/>
              </a:spcBef>
              <a:spcAft>
                <a:spcPct val="0"/>
              </a:spcAft>
              <a:defRPr kumimoji="1" sz="3200" b="1">
                <a:solidFill>
                  <a:srgbClr val="800000"/>
                </a:solidFill>
                <a:latin typeface="Times New Roman" pitchFamily="18" charset="0"/>
                <a:ea typeface="宋体" pitchFamily="2" charset="-122"/>
              </a:defRPr>
            </a:lvl7pPr>
            <a:lvl8pPr marL="1371600" algn="l" rtl="0" fontAlgn="base">
              <a:spcBef>
                <a:spcPct val="0"/>
              </a:spcBef>
              <a:spcAft>
                <a:spcPct val="0"/>
              </a:spcAft>
              <a:defRPr kumimoji="1" sz="3200" b="1">
                <a:solidFill>
                  <a:srgbClr val="800000"/>
                </a:solidFill>
                <a:latin typeface="Times New Roman" pitchFamily="18" charset="0"/>
                <a:ea typeface="宋体" pitchFamily="2" charset="-122"/>
              </a:defRPr>
            </a:lvl8pPr>
            <a:lvl9pPr marL="1828800" algn="l" rtl="0" fontAlgn="base">
              <a:spcBef>
                <a:spcPct val="0"/>
              </a:spcBef>
              <a:spcAft>
                <a:spcPct val="0"/>
              </a:spcAft>
              <a:defRPr kumimoji="1" sz="3200" b="1">
                <a:solidFill>
                  <a:srgbClr val="800000"/>
                </a:solidFill>
                <a:latin typeface="Times New Roman" pitchFamily="18" charset="0"/>
                <a:ea typeface="宋体" pitchFamily="2" charset="-122"/>
              </a:defRPr>
            </a:lvl9pPr>
          </a:lstStyle>
          <a:p>
            <a:pPr eaLnBrk="1" hangingPunct="1">
              <a:defRPr/>
            </a:pPr>
            <a:r>
              <a:rPr lang="en-US" altLang="zh-CN" sz="2800" b="0" kern="0" dirty="0">
                <a:solidFill>
                  <a:srgbClr val="FF0000"/>
                </a:solidFill>
                <a:latin typeface="楷体" panose="02010609060101010101" pitchFamily="49" charset="-122"/>
                <a:ea typeface="楷体" panose="02010609060101010101" pitchFamily="49" charset="-122"/>
              </a:rPr>
              <a:t>3.5.2 </a:t>
            </a:r>
            <a:r>
              <a:rPr lang="zh-CN" altLang="en-US" sz="2800" b="0" kern="0" dirty="0">
                <a:solidFill>
                  <a:srgbClr val="FF0000"/>
                </a:solidFill>
                <a:latin typeface="楷体" panose="02010609060101010101" pitchFamily="49" charset="-122"/>
                <a:ea typeface="楷体" panose="02010609060101010101" pitchFamily="49" charset="-122"/>
              </a:rPr>
              <a:t>控制矩阵</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89" y="1201120"/>
            <a:ext cx="8763000" cy="5343525"/>
          </a:xfrm>
          <a:prstGeom prst="rect">
            <a:avLst/>
          </a:prstGeom>
        </p:spPr>
      </p:pic>
    </p:spTree>
    <p:extLst>
      <p:ext uri="{BB962C8B-B14F-4D97-AF65-F5344CB8AC3E}">
        <p14:creationId xmlns:p14="http://schemas.microsoft.com/office/powerpoint/2010/main" val="1113555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idx="4294967295"/>
          </p:nvPr>
        </p:nvSpPr>
        <p:spPr bwMode="auto">
          <a:xfrm>
            <a:off x="352425" y="1000125"/>
            <a:ext cx="7772400" cy="5619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eaLnBrk="1" hangingPunct="1"/>
            <a:r>
              <a:rPr lang="en-US" altLang="zh-CN" sz="2800" dirty="0">
                <a:latin typeface="楷体" panose="02010609060101010101" pitchFamily="49" charset="-122"/>
                <a:ea typeface="楷体" panose="02010609060101010101" pitchFamily="49" charset="-122"/>
              </a:rPr>
              <a:t>3.5.3  </a:t>
            </a:r>
            <a:r>
              <a:rPr lang="zh-CN" altLang="en-US" sz="2800" dirty="0">
                <a:latin typeface="楷体" panose="02010609060101010101" pitchFamily="49" charset="-122"/>
                <a:ea typeface="楷体" panose="02010609060101010101" pitchFamily="49" charset="-122"/>
              </a:rPr>
              <a:t>其他控制电路</a:t>
            </a:r>
          </a:p>
        </p:txBody>
      </p:sp>
      <p:sp>
        <p:nvSpPr>
          <p:cNvPr id="76803" name="Rectangle 3"/>
          <p:cNvSpPr>
            <a:spLocks noGrp="1" noChangeArrowheads="1"/>
          </p:cNvSpPr>
          <p:nvPr>
            <p:ph type="body" idx="4294967295"/>
          </p:nvPr>
        </p:nvSpPr>
        <p:spPr bwMode="auto">
          <a:xfrm>
            <a:off x="539750" y="1857375"/>
            <a:ext cx="7772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p>
            <a:pPr marL="0" indent="0">
              <a:lnSpc>
                <a:spcPct val="140000"/>
              </a:lnSpc>
              <a:spcBef>
                <a:spcPts val="0"/>
              </a:spcBef>
              <a:buFontTx/>
              <a:buNone/>
            </a:pPr>
            <a:endParaRPr lang="en-US" altLang="zh-CN" dirty="0">
              <a:latin typeface="楷体" panose="02010609060101010101" pitchFamily="49" charset="-122"/>
              <a:ea typeface="楷体" panose="02010609060101010101" pitchFamily="49" charset="-122"/>
            </a:endParaRPr>
          </a:p>
          <a:p>
            <a:pPr marL="0" indent="0">
              <a:lnSpc>
                <a:spcPct val="140000"/>
              </a:lnSpc>
              <a:spcBef>
                <a:spcPts val="0"/>
              </a:spcBef>
              <a:buFontTx/>
              <a:buNone/>
            </a:pPr>
            <a:r>
              <a:rPr lang="zh-CN" altLang="en-US" dirty="0">
                <a:latin typeface="楷体" panose="02010609060101010101" pitchFamily="49" charset="-122"/>
                <a:ea typeface="楷体" panose="02010609060101010101" pitchFamily="49" charset="-122"/>
              </a:rPr>
              <a:t>    </a:t>
            </a:r>
            <a:r>
              <a:rPr lang="zh-CN" altLang="en-US" dirty="0">
                <a:solidFill>
                  <a:srgbClr val="FF0000"/>
                </a:solidFill>
                <a:latin typeface="楷体" panose="02010609060101010101" pitchFamily="49" charset="-122"/>
                <a:ea typeface="楷体" panose="02010609060101010101" pitchFamily="49" charset="-122"/>
              </a:rPr>
              <a:t>由环形计数器、控制矩阵及指令译码器组成的部分称为控制器</a:t>
            </a:r>
            <a:r>
              <a:rPr lang="zh-CN" altLang="en-US" dirty="0">
                <a:latin typeface="楷体" panose="02010609060101010101" pitchFamily="49" charset="-122"/>
                <a:ea typeface="楷体" panose="02010609060101010101" pitchFamily="49" charset="-122"/>
              </a:rPr>
              <a:t>。为了实现控制动作，还需要下述几个电路</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见图</a:t>
            </a:r>
            <a:r>
              <a:rPr lang="en-US" altLang="zh-CN" dirty="0">
                <a:latin typeface="楷体" panose="02010609060101010101" pitchFamily="49" charset="-122"/>
                <a:ea typeface="楷体" panose="02010609060101010101" pitchFamily="49" charset="-122"/>
              </a:rPr>
              <a:t>3.7)</a:t>
            </a:r>
            <a:r>
              <a:rPr lang="zh-CN" altLang="en-US"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1075956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3"/>
          <p:cNvSpPr txBox="1">
            <a:spLocks noChangeArrowheads="1"/>
          </p:cNvSpPr>
          <p:nvPr/>
        </p:nvSpPr>
        <p:spPr bwMode="auto">
          <a:xfrm>
            <a:off x="4286250" y="6453951"/>
            <a:ext cx="42148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dirty="0">
                <a:latin typeface="楷体" panose="02010609060101010101" pitchFamily="49" charset="-122"/>
                <a:ea typeface="楷体" panose="02010609060101010101" pitchFamily="49" charset="-122"/>
              </a:rPr>
              <a:t>图</a:t>
            </a:r>
            <a:r>
              <a:rPr lang="en-US" altLang="zh-CN" sz="2000" dirty="0">
                <a:latin typeface="楷体" panose="02010609060101010101" pitchFamily="49" charset="-122"/>
                <a:ea typeface="楷体" panose="02010609060101010101" pitchFamily="49" charset="-122"/>
              </a:rPr>
              <a:t>3.7   </a:t>
            </a:r>
            <a:r>
              <a:rPr lang="zh-CN" altLang="en-US" sz="2000" dirty="0">
                <a:latin typeface="楷体" panose="02010609060101010101" pitchFamily="49" charset="-122"/>
                <a:ea typeface="楷体" panose="02010609060101010101" pitchFamily="49" charset="-122"/>
              </a:rPr>
              <a:t>控制部件的结构图</a:t>
            </a:r>
            <a:endParaRPr lang="en-US" altLang="zh-CN" sz="2000" dirty="0">
              <a:latin typeface="楷体" panose="02010609060101010101" pitchFamily="49" charset="-122"/>
              <a:ea typeface="楷体" panose="02010609060101010101" pitchFamily="49" charset="-122"/>
            </a:endParaRPr>
          </a:p>
        </p:txBody>
      </p:sp>
      <p:pic>
        <p:nvPicPr>
          <p:cNvPr id="77827" name="Picture 5" descr="图3"/>
          <p:cNvPicPr>
            <a:picLocks noChangeAspect="1" noChangeArrowheads="1"/>
          </p:cNvPicPr>
          <p:nvPr/>
        </p:nvPicPr>
        <p:blipFill>
          <a:blip r:embed="rId3">
            <a:extLst>
              <a:ext uri="{28A0092B-C50C-407E-A947-70E740481C1C}">
                <a14:useLocalDpi xmlns:a14="http://schemas.microsoft.com/office/drawing/2010/main" val="0"/>
              </a:ext>
            </a:extLst>
          </a:blip>
          <a:srcRect l="1250" t="2281" r="3125"/>
          <a:stretch>
            <a:fillRect/>
          </a:stretch>
        </p:blipFill>
        <p:spPr bwMode="auto">
          <a:xfrm>
            <a:off x="3516312" y="2739491"/>
            <a:ext cx="5484813" cy="363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矩形 3"/>
          <p:cNvSpPr>
            <a:spLocks noChangeArrowheads="1"/>
          </p:cNvSpPr>
          <p:nvPr/>
        </p:nvSpPr>
        <p:spPr bwMode="auto">
          <a:xfrm>
            <a:off x="71438" y="2994025"/>
            <a:ext cx="3387724" cy="415498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p>
            <a:pPr defTabSz="914400">
              <a:lnSpc>
                <a:spcPct val="110000"/>
              </a:lnSpc>
            </a:pPr>
            <a:r>
              <a:rPr lang="zh-CN" altLang="en-US" sz="2400" dirty="0">
                <a:solidFill>
                  <a:srgbClr val="FF0000"/>
                </a:solidFill>
                <a:latin typeface="楷体" panose="02010609060101010101" pitchFamily="49" charset="-122"/>
                <a:ea typeface="楷体" panose="02010609060101010101" pitchFamily="49" charset="-122"/>
              </a:rPr>
              <a:t>时钟脉冲发生器</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一般可分成两部分</a:t>
            </a:r>
            <a:r>
              <a:rPr lang="zh-CN" altLang="en-US" sz="2400" dirty="0">
                <a:latin typeface="楷体" panose="02010609060101010101" pitchFamily="49" charset="-122"/>
                <a:ea typeface="楷体" panose="02010609060101010101" pitchFamily="49" charset="-122"/>
                <a:sym typeface="Wingdings" panose="05000000000000000000" pitchFamily="2" charset="2"/>
              </a:rPr>
              <a:t>（</a:t>
            </a:r>
            <a:r>
              <a:rPr lang="en-US" altLang="zh-CN" sz="2400" dirty="0">
                <a:latin typeface="楷体" panose="02010609060101010101" pitchFamily="49" charset="-122"/>
                <a:ea typeface="楷体" panose="02010609060101010101" pitchFamily="49" charset="-122"/>
                <a:sym typeface="Wingdings" panose="05000000000000000000" pitchFamily="2" charset="2"/>
              </a:rPr>
              <a:t>1</a:t>
            </a:r>
            <a:r>
              <a:rPr lang="zh-CN" altLang="en-US" sz="2400" dirty="0">
                <a:latin typeface="楷体" panose="02010609060101010101" pitchFamily="49" charset="-122"/>
                <a:ea typeface="楷体" panose="02010609060101010101" pitchFamily="49" charset="-122"/>
                <a:sym typeface="Wingdings" panose="05000000000000000000" pitchFamily="2" charset="2"/>
              </a:rPr>
              <a:t>）</a:t>
            </a:r>
            <a:r>
              <a:rPr lang="zh-CN" altLang="en-US" sz="2400" dirty="0">
                <a:latin typeface="楷体" panose="02010609060101010101" pitchFamily="49" charset="-122"/>
                <a:ea typeface="楷体" panose="02010609060101010101" pitchFamily="49" charset="-122"/>
              </a:rPr>
              <a:t>时钟振荡器：一般是石英晶体振荡器；（</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）射极跟随器：用以降低输出电阻，以便有更大的电流输出，因为时钟脉冲发生器同时要推动很多的电路。</a:t>
            </a:r>
          </a:p>
        </p:txBody>
      </p:sp>
      <p:sp>
        <p:nvSpPr>
          <p:cNvPr id="77829" name="矩形 4"/>
          <p:cNvSpPr>
            <a:spLocks noChangeArrowheads="1"/>
          </p:cNvSpPr>
          <p:nvPr/>
        </p:nvSpPr>
        <p:spPr bwMode="auto">
          <a:xfrm>
            <a:off x="71438" y="917575"/>
            <a:ext cx="8929687" cy="267765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ormAutofit/>
          </a:bodyPr>
          <a:lstStyle/>
          <a:p>
            <a:pPr defTabSz="914400">
              <a:lnSpc>
                <a:spcPct val="110000"/>
              </a:lnSpc>
            </a:pPr>
            <a:r>
              <a:rPr lang="zh-CN" altLang="en-US" sz="2400" dirty="0">
                <a:solidFill>
                  <a:srgbClr val="FF0000"/>
                </a:solidFill>
                <a:latin typeface="楷体" panose="02010609060101010101" pitchFamily="49" charset="-122"/>
                <a:ea typeface="楷体" panose="02010609060101010101" pitchFamily="49" charset="-122"/>
              </a:rPr>
              <a:t>“启动”和“清除”按钮</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这是由人直接操作的主令电器，命令都是由此开始的</a:t>
            </a:r>
          </a:p>
          <a:p>
            <a:pPr defTabSz="914400">
              <a:lnSpc>
                <a:spcPct val="110000"/>
              </a:lnSpc>
            </a:pPr>
            <a:r>
              <a:rPr lang="zh-CN" altLang="en-US" sz="2400" dirty="0">
                <a:solidFill>
                  <a:srgbClr val="FF0000"/>
                </a:solidFill>
                <a:latin typeface="楷体" panose="02010609060101010101" pitchFamily="49" charset="-122"/>
                <a:ea typeface="楷体" panose="02010609060101010101" pitchFamily="49" charset="-122"/>
              </a:rPr>
              <a:t>运行／停车触发器</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这个电路既接收来自按钮的“运行”脉冲信号，也接收来自</a:t>
            </a:r>
            <a:r>
              <a:rPr lang="en-US" altLang="zh-CN" sz="2400" dirty="0">
                <a:latin typeface="楷体" panose="02010609060101010101" pitchFamily="49" charset="-122"/>
                <a:ea typeface="楷体" panose="02010609060101010101" pitchFamily="49" charset="-122"/>
              </a:rPr>
              <a:t>IR</a:t>
            </a:r>
            <a:r>
              <a:rPr lang="zh-CN" altLang="en-US" sz="2400" dirty="0">
                <a:latin typeface="楷体" panose="02010609060101010101" pitchFamily="49" charset="-122"/>
                <a:ea typeface="楷体" panose="02010609060101010101" pitchFamily="49" charset="-122"/>
              </a:rPr>
              <a:t>的“</a:t>
            </a:r>
            <a:r>
              <a:rPr lang="en-US" altLang="zh-CN" sz="2400" dirty="0">
                <a:latin typeface="楷体" panose="02010609060101010101" pitchFamily="49" charset="-122"/>
                <a:ea typeface="楷体" panose="02010609060101010101" pitchFamily="49" charset="-122"/>
              </a:rPr>
              <a:t>HLT”</a:t>
            </a:r>
            <a:r>
              <a:rPr lang="zh-CN" altLang="en-US" sz="2400" dirty="0">
                <a:latin typeface="楷体" panose="02010609060101010101" pitchFamily="49" charset="-122"/>
                <a:ea typeface="楷体" panose="02010609060101010101" pitchFamily="49" charset="-122"/>
              </a:rPr>
              <a:t>停车信号，其输出就去启动时钟振荡器。</a:t>
            </a:r>
          </a:p>
        </p:txBody>
      </p:sp>
    </p:spTree>
    <p:extLst>
      <p:ext uri="{BB962C8B-B14F-4D97-AF65-F5344CB8AC3E}">
        <p14:creationId xmlns:p14="http://schemas.microsoft.com/office/powerpoint/2010/main" val="247448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subTitle" idx="4294967295"/>
          </p:nvPr>
        </p:nvSpPr>
        <p:spPr bwMode="auto">
          <a:xfrm>
            <a:off x="400050" y="1533525"/>
            <a:ext cx="8382000" cy="4800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None/>
            </a:pPr>
            <a:r>
              <a:rPr lang="zh-CN" altLang="en-US" sz="3200" dirty="0">
                <a:solidFill>
                  <a:srgbClr val="800000"/>
                </a:solidFill>
                <a:latin typeface="楷体" panose="02010609060101010101" pitchFamily="49" charset="-122"/>
                <a:ea typeface="楷体" panose="02010609060101010101" pitchFamily="49" charset="-122"/>
              </a:rPr>
              <a:t>习题</a:t>
            </a:r>
            <a:endParaRPr lang="zh-CN" altLang="en-US" dirty="0">
              <a:latin typeface="楷体" panose="02010609060101010101" pitchFamily="49" charset="-122"/>
              <a:ea typeface="楷体" panose="02010609060101010101" pitchFamily="49" charset="-122"/>
            </a:endParaRPr>
          </a:p>
          <a:p>
            <a:pPr eaLnBrk="1" hangingPunct="1">
              <a:buFontTx/>
              <a:buNone/>
            </a:pPr>
            <a:r>
              <a:rPr lang="en-US" altLang="zh-CN" dirty="0">
                <a:latin typeface="楷体" panose="02010609060101010101" pitchFamily="49" charset="-122"/>
                <a:ea typeface="楷体" panose="02010609060101010101" pitchFamily="49" charset="-122"/>
              </a:rPr>
              <a:t>3.2  </a:t>
            </a:r>
            <a:r>
              <a:rPr lang="zh-CN" altLang="en-US" dirty="0">
                <a:latin typeface="楷体" panose="02010609060101010101" pitchFamily="49" charset="-122"/>
                <a:ea typeface="楷体" panose="02010609060101010101" pitchFamily="49" charset="-122"/>
              </a:rPr>
              <a:t>程序计数器</a:t>
            </a:r>
            <a:r>
              <a:rPr lang="en-US" altLang="zh-CN" dirty="0">
                <a:latin typeface="楷体" panose="02010609060101010101" pitchFamily="49" charset="-122"/>
                <a:ea typeface="楷体" panose="02010609060101010101" pitchFamily="49" charset="-122"/>
              </a:rPr>
              <a:t>PC</a:t>
            </a:r>
            <a:r>
              <a:rPr lang="zh-CN" altLang="en-US" dirty="0">
                <a:latin typeface="楷体" panose="02010609060101010101" pitchFamily="49" charset="-122"/>
                <a:ea typeface="楷体" panose="02010609060101010101" pitchFamily="49" charset="-122"/>
              </a:rPr>
              <a:t>的内容是什么意义</a:t>
            </a:r>
            <a:r>
              <a:rPr lang="en-US" altLang="zh-CN" dirty="0">
                <a:latin typeface="楷体" panose="02010609060101010101" pitchFamily="49" charset="-122"/>
                <a:ea typeface="楷体" panose="02010609060101010101" pitchFamily="49" charset="-122"/>
              </a:rPr>
              <a:t>?</a:t>
            </a:r>
          </a:p>
          <a:p>
            <a:pPr eaLnBrk="1" hangingPunct="1">
              <a:buFontTx/>
              <a:buNone/>
            </a:pPr>
            <a:r>
              <a:rPr lang="en-US" altLang="zh-CN" dirty="0">
                <a:latin typeface="楷体" panose="02010609060101010101" pitchFamily="49" charset="-122"/>
                <a:ea typeface="楷体" panose="02010609060101010101" pitchFamily="49" charset="-122"/>
              </a:rPr>
              <a:t>3.3  </a:t>
            </a:r>
            <a:r>
              <a:rPr lang="zh-CN" altLang="en-US" dirty="0">
                <a:latin typeface="楷体" panose="02010609060101010101" pitchFamily="49" charset="-122"/>
                <a:ea typeface="楷体" panose="02010609060101010101" pitchFamily="49" charset="-122"/>
              </a:rPr>
              <a:t>指令寄存器</a:t>
            </a:r>
            <a:r>
              <a:rPr lang="en-US" altLang="zh-CN" dirty="0">
                <a:latin typeface="楷体" panose="02010609060101010101" pitchFamily="49" charset="-122"/>
                <a:ea typeface="楷体" panose="02010609060101010101" pitchFamily="49" charset="-122"/>
              </a:rPr>
              <a:t>IR</a:t>
            </a:r>
            <a:r>
              <a:rPr lang="zh-CN" altLang="en-US" dirty="0">
                <a:latin typeface="楷体" panose="02010609060101010101" pitchFamily="49" charset="-122"/>
                <a:ea typeface="楷体" panose="02010609060101010101" pitchFamily="49" charset="-122"/>
              </a:rPr>
              <a:t>从</a:t>
            </a:r>
            <a:r>
              <a:rPr lang="en-US" altLang="zh-CN" dirty="0">
                <a:latin typeface="楷体" panose="02010609060101010101" pitchFamily="49" charset="-122"/>
                <a:ea typeface="楷体" panose="02010609060101010101" pitchFamily="49" charset="-122"/>
              </a:rPr>
              <a:t>PROM</a:t>
            </a:r>
            <a:r>
              <a:rPr lang="zh-CN" altLang="en-US" dirty="0">
                <a:latin typeface="楷体" panose="02010609060101010101" pitchFamily="49" charset="-122"/>
                <a:ea typeface="楷体" panose="02010609060101010101" pitchFamily="49" charset="-122"/>
              </a:rPr>
              <a:t>接收到指令字</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位</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后的运行过程如何，起什么作用</a:t>
            </a:r>
            <a:r>
              <a:rPr lang="en-US" altLang="zh-CN" dirty="0">
                <a:latin typeface="楷体" panose="02010609060101010101" pitchFamily="49" charset="-122"/>
                <a:ea typeface="楷体" panose="02010609060101010101" pitchFamily="49" charset="-122"/>
              </a:rPr>
              <a:t>?</a:t>
            </a:r>
          </a:p>
          <a:p>
            <a:pPr eaLnBrk="1" hangingPunct="1">
              <a:buFontTx/>
              <a:buNone/>
            </a:pPr>
            <a:r>
              <a:rPr lang="en-US" altLang="zh-CN" dirty="0">
                <a:latin typeface="楷体" panose="02010609060101010101" pitchFamily="49" charset="-122"/>
                <a:ea typeface="楷体" panose="02010609060101010101" pitchFamily="49" charset="-122"/>
              </a:rPr>
              <a:t>3.7  </a:t>
            </a:r>
            <a:r>
              <a:rPr lang="zh-CN" altLang="en-US" dirty="0">
                <a:latin typeface="楷体" panose="02010609060101010101" pitchFamily="49" charset="-122"/>
                <a:ea typeface="楷体" panose="02010609060101010101" pitchFamily="49" charset="-122"/>
              </a:rPr>
              <a:t>控制部件包括哪些主要环节</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各有何用处</a:t>
            </a:r>
            <a:r>
              <a:rPr lang="en-US" altLang="zh-CN"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907316590"/>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2955</TotalTime>
  <Words>4980</Words>
  <Application>Microsoft Office PowerPoint</Application>
  <PresentationFormat>全屏显示(4:3)</PresentationFormat>
  <Paragraphs>303</Paragraphs>
  <Slides>47</Slides>
  <Notes>29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等线</vt:lpstr>
      <vt:lpstr>楷体</vt:lpstr>
      <vt:lpstr>宋体</vt:lpstr>
      <vt:lpstr>Arial</vt:lpstr>
      <vt:lpstr>Calibri</vt:lpstr>
      <vt:lpstr>Calibri Light</vt:lpstr>
      <vt:lpstr>Open Sans</vt:lpstr>
      <vt:lpstr>Office 主题</vt:lpstr>
      <vt:lpstr>第3章　微型计算机的基本工作原理</vt:lpstr>
      <vt:lpstr>PowerPoint 演示文稿</vt:lpstr>
      <vt:lpstr>PowerPoint 演示文稿</vt:lpstr>
      <vt:lpstr>3.1   微型计算机结构的简化形式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3.3.1 先要有一个操作码表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3.5.3  其他控制电路</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Enjia Deng</dc:creator>
  <cp:lastModifiedBy>wei zhong</cp:lastModifiedBy>
  <cp:revision>68</cp:revision>
  <dcterms:created xsi:type="dcterms:W3CDTF">2020-03-31T02:45:39Z</dcterms:created>
  <dcterms:modified xsi:type="dcterms:W3CDTF">2024-09-15T08:43:56Z</dcterms:modified>
</cp:coreProperties>
</file>