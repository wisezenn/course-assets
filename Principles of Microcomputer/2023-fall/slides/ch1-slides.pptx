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5"/>
  </p:notes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95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90" r:id="rId30"/>
    <p:sldId id="291" r:id="rId31"/>
    <p:sldId id="292" r:id="rId32"/>
    <p:sldId id="293" r:id="rId33"/>
    <p:sldId id="294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57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F31BD6-2C69-4DAD-A766-52D767E23C34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09505-03CD-41EA-922A-595CECE414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31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CFB370F-2D67-4644-80C9-DE2969B923DF}" type="slidenum">
              <a:rPr lang="en-US" altLang="zh-CN" smtClean="0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1692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6F2EF5-F06C-41DD-A845-D79D3CA38AE3}" type="slidenum">
              <a:rPr lang="en-US" altLang="zh-CN" smtClean="0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99752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448CCB9-B633-4B95-B837-53CD52984467}" type="slidenum">
              <a:rPr lang="en-US" altLang="zh-CN" smtClean="0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97095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171F2CC-2624-4139-ABCF-839763126F91}" type="slidenum">
              <a:rPr lang="en-US" altLang="zh-CN" smtClean="0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03311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2D33BE3-C7D0-41B5-9A4C-99F2AC77D4E4}" type="slidenum">
              <a:rPr lang="en-US" altLang="zh-CN" smtClean="0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01295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7D1969A-F63D-4879-8D22-4E6FCD2A10BB}" type="slidenum">
              <a:rPr lang="en-US" altLang="zh-CN" smtClean="0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64808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E08CBA8-45A2-41F2-8D07-43F71BF0BB9E}" type="slidenum">
              <a:rPr lang="en-US" altLang="zh-CN" smtClean="0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65485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E950A44-1933-4848-97D9-00AFC2062EBC}" type="slidenum">
              <a:rPr lang="en-US" altLang="zh-CN" smtClean="0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55812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C576D5C-8034-4299-88F1-838B90C40C0D}" type="slidenum">
              <a:rPr lang="en-US" altLang="zh-CN" smtClean="0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14615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BDC5B0F-DC44-47FA-A885-97FFC328F275}" type="slidenum">
              <a:rPr lang="en-US" altLang="zh-CN" smtClean="0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13352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7847E99-67BA-4381-A64A-4488A919212A}" type="slidenum">
              <a:rPr lang="en-US" altLang="zh-CN" smtClean="0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24455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9BAD28E-87F4-44B0-BDDA-505900225621}" type="slidenum">
              <a:rPr lang="en-US" altLang="zh-CN" smtClean="0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4337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360B32E-6E61-4FFF-8EA6-DE1CB42B0469}" type="slidenum">
              <a:rPr lang="en-US" altLang="zh-CN" smtClean="0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28490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C909CA6-656A-4C6E-9DFD-206A81B19FCF}" type="slidenum">
              <a:rPr lang="en-US" altLang="zh-CN" smtClean="0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13003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8BB4A9E-5EF5-4E57-9383-24F3C3DC30E2}" type="slidenum">
              <a:rPr lang="en-US" altLang="zh-CN" smtClean="0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0986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D57EAEB-6FDE-4E6B-A037-8CAECC12AECA}" type="slidenum">
              <a:rPr lang="en-US" altLang="zh-CN" smtClean="0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1801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183B594-69DB-4055-B625-EEF7443AE931}" type="slidenum">
              <a:rPr lang="en-US" altLang="zh-CN" smtClean="0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47883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D95C2D2-8970-4D53-B560-60ABFDCF8933}" type="slidenum">
              <a:rPr lang="en-US" altLang="zh-CN" smtClean="0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14992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B1665B4-1B27-4B33-82FB-08BD6FF7B90E}" type="slidenum">
              <a:rPr lang="en-US" altLang="zh-CN" smtClean="0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357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B8CF82A-741D-4505-9586-5294C64E3D41}" type="slidenum">
              <a:rPr lang="en-US" altLang="zh-CN" smtClean="0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0806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D639947-EE26-4F63-882A-3193BD277EF1}" type="slidenum">
              <a:rPr lang="en-US" altLang="zh-CN" smtClean="0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652861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B2A381A-A68D-4804-9C63-9811379CAA77}" type="slidenum">
              <a:rPr lang="en-US" altLang="zh-CN" smtClean="0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254989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17CE4C3-9230-4D9E-AB81-17F9792C3D1A}" type="slidenum">
              <a:rPr lang="en-US" altLang="zh-CN" smtClean="0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24143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66A64FC-E4AE-4BCC-8536-5F3B51B803F0}" type="slidenum">
              <a:rPr lang="en-US" altLang="zh-CN" smtClean="0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390798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D2D5AE5-9DFA-4D88-AFE6-9011A5DC0DCC}" type="slidenum">
              <a:rPr lang="en-US" altLang="zh-CN" smtClean="0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828115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0AA141E-90DB-45FE-AC78-5299EEA75EC6}" type="slidenum">
              <a:rPr lang="en-US" altLang="zh-CN" smtClean="0"/>
              <a:pPr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34423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96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810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61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243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77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53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88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05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14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718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641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24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263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1062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26606-9BAD-42CC-8403-7B224A35E75E}" type="datetimeFigureOut">
              <a:rPr lang="zh-CN" altLang="en-US" smtClean="0"/>
              <a:t>2021/9/16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55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50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364572" y="1600557"/>
            <a:ext cx="6617378" cy="1166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 b="1" dirty="0">
                <a:ln/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微机原理与接口技术</a:t>
            </a:r>
            <a:endParaRPr lang="zh-CN" altLang="en-US" sz="3600" b="1" dirty="0">
              <a:ln/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69263" y="3297407"/>
            <a:ext cx="3605474" cy="1421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25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800" b="1">
                <a:ln/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600" dirty="0"/>
              <a:t>主讲：陈佩</a:t>
            </a:r>
            <a:endParaRPr lang="en-US" altLang="zh-CN" sz="3600" dirty="0"/>
          </a:p>
          <a:p>
            <a:pPr>
              <a:lnSpc>
                <a:spcPct val="150000"/>
              </a:lnSpc>
            </a:pPr>
            <a:r>
              <a:rPr lang="en-US" altLang="zh-CN" sz="3600" dirty="0"/>
              <a:t>15929985147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71059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936072" y="671743"/>
            <a:ext cx="5053354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zh-CN" altLang="en-US" sz="4800" dirty="0">
                <a:latin typeface="楷体" panose="02010609060101010101" pitchFamily="49" charset="-122"/>
                <a:ea typeface="楷体" panose="02010609060101010101" pitchFamily="49" charset="-122"/>
              </a:rPr>
              <a:t>总  目  录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1859872" y="1586143"/>
            <a:ext cx="5242264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　二进制数加减法电路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　微型计算机的基本组成电路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　微型计算机的基本工作原理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　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位微处理器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 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位微处理器（自学）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　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的总线及整机结构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　汇编语言与汇编程序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　汇编语言程序设计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　输入输出和接口技术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 中断技术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 常用可编程接口芯片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章 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A/D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D/A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转换器</a:t>
            </a:r>
          </a:p>
          <a:p>
            <a:pPr eaLnBrk="1" hangingPunct="1">
              <a:buFontTx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418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209800"/>
            <a:ext cx="77724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1.1   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数制</a:t>
            </a:r>
            <a:b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04800" y="3505200"/>
            <a:ext cx="8839200" cy="1794769"/>
          </a:xfrm>
          <a:prstGeom prst="rect">
            <a:avLst/>
          </a:prstGeo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Aft>
                <a:spcPts val="600"/>
              </a:spcAft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人们利用符号来记数的科学方法</a:t>
            </a:r>
            <a:endParaRPr lang="en-US" altLang="zh-CN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种类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（常用）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b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二进制</a:t>
            </a:r>
            <a:r>
              <a:rPr lang="en-US" altLang="zh-CN" b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(Binary)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、八进制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(Octal)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endParaRPr lang="en-US" altLang="zh-CN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b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十进制</a:t>
            </a:r>
            <a:r>
              <a:rPr lang="en-US" altLang="zh-CN" b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(decimal )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b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十六进制</a:t>
            </a:r>
            <a:r>
              <a:rPr lang="en-US" altLang="zh-CN" b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(Hex)</a:t>
            </a:r>
          </a:p>
          <a:p>
            <a:pPr eaLnBrk="1" hangingPunct="1">
              <a:buFontTx/>
              <a:buNone/>
            </a:pPr>
            <a:endParaRPr lang="zh-CN" altLang="en-US" b="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CA86595-5CD5-49CA-808C-C7612A244807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066800"/>
            <a:ext cx="8153400" cy="990600"/>
          </a:xfrm>
          <a:prstGeom prst="rect">
            <a:avLst/>
          </a:prstGeom>
          <a:noFill/>
          <a:ln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600" b="1" kern="0" dirty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　第</a:t>
            </a:r>
            <a:r>
              <a:rPr lang="en-US" altLang="zh-CN" sz="3600" b="1" kern="0" dirty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1</a:t>
            </a:r>
            <a:r>
              <a:rPr lang="zh-CN" altLang="en-US" sz="3600" b="1" kern="0" dirty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章　二进制数加法电路</a:t>
            </a:r>
          </a:p>
        </p:txBody>
      </p:sp>
    </p:spTree>
    <p:extLst>
      <p:ext uri="{BB962C8B-B14F-4D97-AF65-F5344CB8AC3E}">
        <p14:creationId xmlns:p14="http://schemas.microsoft.com/office/powerpoint/2010/main" val="3794788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3" descr="p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331599"/>
            <a:ext cx="3885460" cy="145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3764872" y="5674681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dirty="0"/>
              <a:t>十万   万     千    百   十   个</a:t>
            </a:r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533400" y="533400"/>
            <a:ext cx="80772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CN" sz="2800" b="1">
              <a:solidFill>
                <a:srgbClr val="800000"/>
              </a:solidFill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800" b="1"/>
          </a:p>
        </p:txBody>
      </p:sp>
      <p:sp>
        <p:nvSpPr>
          <p:cNvPr id="8197" name="Rectangle 7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88887" y="1112749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1.1.1 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数制的基与权</a:t>
            </a:r>
            <a:b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198" name="Rectangle 8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33400" y="1813248"/>
            <a:ext cx="70866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ts val="12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基：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数制所使用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数码的个数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权：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数制每一位所具有的值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十进制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(decimal 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数码：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，共有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endParaRPr lang="en-US" altLang="zh-CN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权：</a:t>
            </a:r>
            <a:r>
              <a:rPr lang="zh-CN" altLang="en-US" sz="2400" b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</a:t>
            </a:r>
            <a:r>
              <a:rPr lang="en-US" altLang="zh-CN" sz="2400" b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400" b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为底的幂，如</a:t>
            </a:r>
            <a:r>
              <a:rPr lang="en-US" altLang="zh-CN" sz="2400" b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2…</a:t>
            </a:r>
            <a:endParaRPr lang="zh-CN" altLang="en-US" sz="2400" b="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基：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14199CC-5721-491E-8A36-507E0C66346A}"/>
              </a:ext>
            </a:extLst>
          </p:cNvPr>
          <p:cNvSpPr txBox="1">
            <a:spLocks noChangeArrowheads="1"/>
          </p:cNvSpPr>
          <p:nvPr/>
        </p:nvSpPr>
        <p:spPr>
          <a:xfrm>
            <a:off x="4953000" y="5029200"/>
            <a:ext cx="4038600" cy="914400"/>
          </a:xfrm>
          <a:prstGeom prst="rect">
            <a:avLst/>
          </a:prstGeom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spcAft>
                <a:spcPts val="600"/>
              </a:spcAft>
              <a:defRPr/>
            </a:pPr>
            <a:endParaRPr lang="en-US" altLang="zh-CN" b="1" kern="0" dirty="0">
              <a:solidFill>
                <a:srgbClr val="00B0F0"/>
              </a:solidFill>
              <a:latin typeface="+mn-lt"/>
              <a:ea typeface="+mn-ea"/>
            </a:endParaRPr>
          </a:p>
          <a:p>
            <a:pPr marL="342900" indent="-342900" eaLnBrk="1" hangingPunct="1">
              <a:spcBef>
                <a:spcPct val="20000"/>
              </a:spcBef>
              <a:spcAft>
                <a:spcPts val="600"/>
              </a:spcAft>
              <a:defRPr/>
            </a:pPr>
            <a:endParaRPr lang="zh-CN" altLang="en-US" sz="2800" b="1" kern="0" dirty="0">
              <a:latin typeface="+mn-lt"/>
              <a:ea typeface="+mn-ea"/>
            </a:endParaRP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zh-CN" altLang="en-US" sz="2800" b="1" kern="0" dirty="0">
                <a:latin typeface="+mn-lt"/>
                <a:ea typeface="+mn-ea"/>
              </a:rPr>
              <a:t>    </a:t>
            </a:r>
          </a:p>
        </p:txBody>
      </p:sp>
      <p:sp>
        <p:nvSpPr>
          <p:cNvPr id="8200" name="Text Box 4"/>
          <p:cNvSpPr txBox="1">
            <a:spLocks noChangeArrowheads="1"/>
          </p:cNvSpPr>
          <p:nvPr/>
        </p:nvSpPr>
        <p:spPr bwMode="auto">
          <a:xfrm>
            <a:off x="4076700" y="6181464"/>
            <a:ext cx="4800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</a:rPr>
              <a:t>  5</a:t>
            </a:r>
            <a:r>
              <a:rPr lang="zh-CN" altLang="en-US" sz="1800" dirty="0"/>
              <a:t>权位  </a:t>
            </a:r>
            <a:r>
              <a:rPr lang="en-US" altLang="zh-CN" sz="1800" b="1" dirty="0">
                <a:solidFill>
                  <a:srgbClr val="FF0000"/>
                </a:solidFill>
              </a:rPr>
              <a:t>4</a:t>
            </a:r>
            <a:r>
              <a:rPr lang="zh-CN" altLang="en-US" sz="1800" dirty="0"/>
              <a:t>权位  </a:t>
            </a:r>
            <a:r>
              <a:rPr lang="en-US" altLang="zh-CN" sz="1800" b="1" dirty="0">
                <a:solidFill>
                  <a:srgbClr val="FF0000"/>
                </a:solidFill>
              </a:rPr>
              <a:t>3</a:t>
            </a:r>
            <a:r>
              <a:rPr lang="zh-CN" altLang="en-US" sz="1800" dirty="0"/>
              <a:t>权位  </a:t>
            </a:r>
            <a:r>
              <a:rPr lang="en-US" altLang="zh-CN" sz="1800" b="1" dirty="0">
                <a:solidFill>
                  <a:srgbClr val="FF0000"/>
                </a:solidFill>
              </a:rPr>
              <a:t>2</a:t>
            </a:r>
            <a:r>
              <a:rPr lang="zh-CN" altLang="en-US" sz="1800" dirty="0"/>
              <a:t>权位 </a:t>
            </a:r>
            <a:r>
              <a:rPr lang="en-US" altLang="zh-CN" sz="1800" b="1" dirty="0">
                <a:solidFill>
                  <a:srgbClr val="FF0000"/>
                </a:solidFill>
              </a:rPr>
              <a:t>1</a:t>
            </a:r>
            <a:r>
              <a:rPr lang="zh-CN" altLang="en-US" sz="1800" dirty="0"/>
              <a:t>权位 </a:t>
            </a:r>
            <a:r>
              <a:rPr lang="en-US" altLang="zh-CN" sz="1800" b="1" dirty="0">
                <a:solidFill>
                  <a:srgbClr val="FF0000"/>
                </a:solidFill>
              </a:rPr>
              <a:t>0</a:t>
            </a:r>
            <a:r>
              <a:rPr lang="zh-CN" altLang="en-US" sz="1800" dirty="0"/>
              <a:t>权位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815060-D11B-4148-853E-E7E090216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914400" cy="5334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50000"/>
              </a:spcBef>
              <a:defRPr/>
            </a:pPr>
            <a:r>
              <a:rPr lang="zh-CN" altLang="en-US" sz="2000" b="1" kern="0" dirty="0">
                <a:solidFill>
                  <a:srgbClr val="FF0000"/>
                </a:solidFill>
                <a:latin typeface="+mn-lt"/>
                <a:ea typeface="+mn-ea"/>
              </a:rPr>
              <a:t>权位：</a:t>
            </a:r>
            <a:endParaRPr lang="zh-CN" altLang="en-US" sz="2000" kern="0" dirty="0">
              <a:solidFill>
                <a:srgbClr val="00B0F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15421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1044606" y="1108869"/>
            <a:ext cx="67056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二进制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(Binary)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数码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en-US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权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是以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为底的幂，如</a:t>
            </a: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2…</a:t>
            </a:r>
            <a:endParaRPr lang="zh-CN" altLang="en-US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0243" name="Group 10"/>
          <p:cNvGrpSpPr>
            <a:grpSpLocks/>
          </p:cNvGrpSpPr>
          <p:nvPr/>
        </p:nvGrpSpPr>
        <p:grpSpPr bwMode="auto">
          <a:xfrm>
            <a:off x="2438400" y="3543300"/>
            <a:ext cx="4419600" cy="609600"/>
            <a:chOff x="1248" y="2928"/>
            <a:chExt cx="2784" cy="384"/>
          </a:xfrm>
        </p:grpSpPr>
        <p:sp>
          <p:nvSpPr>
            <p:cNvPr id="10250" name="Rectangle 3"/>
            <p:cNvSpPr>
              <a:spLocks noChangeArrowheads="1"/>
            </p:cNvSpPr>
            <p:nvPr/>
          </p:nvSpPr>
          <p:spPr bwMode="auto">
            <a:xfrm>
              <a:off x="1248" y="2928"/>
              <a:ext cx="2784" cy="38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1" name="Line 5"/>
            <p:cNvSpPr>
              <a:spLocks noChangeShapeType="1"/>
            </p:cNvSpPr>
            <p:nvPr/>
          </p:nvSpPr>
          <p:spPr bwMode="auto">
            <a:xfrm>
              <a:off x="1728" y="2928"/>
              <a:ext cx="0" cy="38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52" name="Line 6"/>
            <p:cNvSpPr>
              <a:spLocks noChangeShapeType="1"/>
            </p:cNvSpPr>
            <p:nvPr/>
          </p:nvSpPr>
          <p:spPr bwMode="auto">
            <a:xfrm>
              <a:off x="2208" y="2928"/>
              <a:ext cx="0" cy="38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53" name="Line 7"/>
            <p:cNvSpPr>
              <a:spLocks noChangeShapeType="1"/>
            </p:cNvSpPr>
            <p:nvPr/>
          </p:nvSpPr>
          <p:spPr bwMode="auto">
            <a:xfrm>
              <a:off x="2688" y="2928"/>
              <a:ext cx="0" cy="38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54" name="Line 8"/>
            <p:cNvSpPr>
              <a:spLocks noChangeShapeType="1"/>
            </p:cNvSpPr>
            <p:nvPr/>
          </p:nvSpPr>
          <p:spPr bwMode="auto">
            <a:xfrm>
              <a:off x="3168" y="2928"/>
              <a:ext cx="0" cy="38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55" name="Line 9"/>
            <p:cNvSpPr>
              <a:spLocks noChangeShapeType="1"/>
            </p:cNvSpPr>
            <p:nvPr/>
          </p:nvSpPr>
          <p:spPr bwMode="auto">
            <a:xfrm>
              <a:off x="3648" y="2928"/>
              <a:ext cx="0" cy="38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244" name="Text Box 11"/>
          <p:cNvSpPr txBox="1">
            <a:spLocks noChangeArrowheads="1"/>
          </p:cNvSpPr>
          <p:nvPr/>
        </p:nvSpPr>
        <p:spPr bwMode="auto">
          <a:xfrm>
            <a:off x="2657475" y="3633788"/>
            <a:ext cx="4200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/>
              <a:t>1</a:t>
            </a:r>
            <a:r>
              <a:rPr lang="zh-CN" altLang="en-US" sz="2800" b="1"/>
              <a:t>　   </a:t>
            </a:r>
            <a:r>
              <a:rPr lang="en-US" altLang="zh-CN" sz="2800" b="1"/>
              <a:t>1</a:t>
            </a:r>
            <a:r>
              <a:rPr lang="zh-CN" altLang="en-US" sz="2800" b="1"/>
              <a:t>　 </a:t>
            </a:r>
            <a:r>
              <a:rPr lang="en-US" altLang="zh-CN" sz="2800" b="1"/>
              <a:t>0 </a:t>
            </a:r>
            <a:r>
              <a:rPr lang="zh-CN" altLang="en-US" sz="2800" b="1"/>
              <a:t>　  </a:t>
            </a:r>
            <a:r>
              <a:rPr lang="en-US" altLang="zh-CN" sz="2800" b="1"/>
              <a:t>1 </a:t>
            </a:r>
            <a:r>
              <a:rPr lang="zh-CN" altLang="en-US" sz="2800" b="1"/>
              <a:t>　  </a:t>
            </a:r>
            <a:r>
              <a:rPr lang="en-US" altLang="zh-CN" sz="2800" b="1"/>
              <a:t>1   </a:t>
            </a:r>
            <a:r>
              <a:rPr lang="zh-CN" altLang="en-US" sz="2800" b="1"/>
              <a:t>　</a:t>
            </a:r>
            <a:r>
              <a:rPr lang="en-US" altLang="zh-CN" sz="2800" b="1"/>
              <a:t>1</a:t>
            </a:r>
            <a:endParaRPr lang="en-US" altLang="zh-CN"/>
          </a:p>
        </p:txBody>
      </p:sp>
      <p:sp>
        <p:nvSpPr>
          <p:cNvPr id="10245" name="Text Box 12"/>
          <p:cNvSpPr txBox="1">
            <a:spLocks noChangeArrowheads="1"/>
          </p:cNvSpPr>
          <p:nvPr/>
        </p:nvSpPr>
        <p:spPr bwMode="auto">
          <a:xfrm>
            <a:off x="2600325" y="4457700"/>
            <a:ext cx="424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2</a:t>
            </a:r>
            <a:r>
              <a:rPr lang="en-US" altLang="zh-CN" baseline="30000"/>
              <a:t>5</a:t>
            </a:r>
            <a:r>
              <a:rPr lang="zh-CN" altLang="en-US" baseline="30000"/>
              <a:t>　      </a:t>
            </a:r>
            <a:r>
              <a:rPr lang="en-US" altLang="zh-CN"/>
              <a:t>2</a:t>
            </a:r>
            <a:r>
              <a:rPr lang="en-US" altLang="zh-CN" baseline="30000"/>
              <a:t>4    </a:t>
            </a:r>
            <a:r>
              <a:rPr lang="zh-CN" altLang="en-US" baseline="30000"/>
              <a:t>　  </a:t>
            </a:r>
            <a:r>
              <a:rPr lang="en-US" altLang="zh-CN"/>
              <a:t>2</a:t>
            </a:r>
            <a:r>
              <a:rPr lang="en-US" altLang="zh-CN" baseline="30000"/>
              <a:t>3      </a:t>
            </a:r>
            <a:r>
              <a:rPr lang="zh-CN" altLang="en-US" baseline="30000"/>
              <a:t>　</a:t>
            </a:r>
            <a:r>
              <a:rPr lang="en-US" altLang="zh-CN"/>
              <a:t>2</a:t>
            </a:r>
            <a:r>
              <a:rPr lang="en-US" altLang="zh-CN" baseline="30000"/>
              <a:t>2    </a:t>
            </a:r>
            <a:r>
              <a:rPr lang="zh-CN" altLang="en-US" baseline="30000"/>
              <a:t>　  </a:t>
            </a:r>
            <a:r>
              <a:rPr lang="en-US" altLang="zh-CN"/>
              <a:t>2</a:t>
            </a:r>
            <a:r>
              <a:rPr lang="en-US" altLang="zh-CN" baseline="30000"/>
              <a:t>1      </a:t>
            </a:r>
            <a:r>
              <a:rPr lang="zh-CN" altLang="en-US" baseline="30000"/>
              <a:t>　</a:t>
            </a:r>
            <a:r>
              <a:rPr lang="en-US" altLang="zh-CN"/>
              <a:t>2</a:t>
            </a:r>
            <a:r>
              <a:rPr lang="en-US" altLang="zh-CN" baseline="30000"/>
              <a:t>0</a:t>
            </a:r>
            <a:endParaRPr lang="en-US" altLang="zh-CN"/>
          </a:p>
        </p:txBody>
      </p:sp>
      <p:sp>
        <p:nvSpPr>
          <p:cNvPr id="10246" name="Text Box 13"/>
          <p:cNvSpPr txBox="1">
            <a:spLocks noChangeArrowheads="1"/>
          </p:cNvSpPr>
          <p:nvPr/>
        </p:nvSpPr>
        <p:spPr bwMode="auto">
          <a:xfrm>
            <a:off x="2286000" y="5438775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   32      16       8        4         2        1  </a:t>
            </a:r>
          </a:p>
        </p:txBody>
      </p:sp>
      <p:sp>
        <p:nvSpPr>
          <p:cNvPr id="10247" name="Text Box 14"/>
          <p:cNvSpPr txBox="1">
            <a:spLocks noChangeArrowheads="1"/>
          </p:cNvSpPr>
          <p:nvPr/>
        </p:nvSpPr>
        <p:spPr bwMode="auto">
          <a:xfrm>
            <a:off x="1066800" y="3265488"/>
            <a:ext cx="1196975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/>
              <a:t>二进制</a:t>
            </a:r>
            <a:endParaRPr lang="en-US" altLang="zh-CN" b="1"/>
          </a:p>
          <a:p>
            <a:pPr algn="ctr" eaLnBrk="1" hangingPunct="1">
              <a:spcBef>
                <a:spcPct val="50000"/>
              </a:spcBef>
            </a:pPr>
            <a:endParaRPr lang="en-US" altLang="zh-CN" b="1"/>
          </a:p>
          <a:p>
            <a:pPr algn="ctr" eaLnBrk="1" hangingPunct="1">
              <a:spcBef>
                <a:spcPct val="50000"/>
              </a:spcBef>
            </a:pPr>
            <a:endParaRPr lang="zh-CN" altLang="en-US" b="1"/>
          </a:p>
          <a:p>
            <a:pPr algn="ctr" eaLnBrk="1" hangingPunct="1">
              <a:spcBef>
                <a:spcPct val="50000"/>
              </a:spcBef>
            </a:pPr>
            <a:endParaRPr lang="en-US" altLang="zh-CN" b="1"/>
          </a:p>
          <a:p>
            <a:pPr algn="ctr" eaLnBrk="1" hangingPunct="1">
              <a:spcBef>
                <a:spcPct val="50000"/>
              </a:spcBef>
            </a:pPr>
            <a:r>
              <a:rPr lang="zh-CN" altLang="en-US" b="1"/>
              <a:t>十进制</a:t>
            </a:r>
          </a:p>
        </p:txBody>
      </p:sp>
      <p:sp>
        <p:nvSpPr>
          <p:cNvPr id="10248" name="Text Box 4"/>
          <p:cNvSpPr txBox="1">
            <a:spLocks noChangeArrowheads="1"/>
          </p:cNvSpPr>
          <p:nvPr/>
        </p:nvSpPr>
        <p:spPr bwMode="auto">
          <a:xfrm>
            <a:off x="2362200" y="4981575"/>
            <a:ext cx="4800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rgbClr val="FF0000"/>
                </a:solidFill>
              </a:rPr>
              <a:t>  5</a:t>
            </a:r>
            <a:r>
              <a:rPr lang="zh-CN" altLang="en-US" sz="1800"/>
              <a:t>权位    </a:t>
            </a:r>
            <a:r>
              <a:rPr lang="en-US" altLang="zh-CN" sz="1800" b="1">
                <a:solidFill>
                  <a:srgbClr val="FF0000"/>
                </a:solidFill>
              </a:rPr>
              <a:t>4</a:t>
            </a:r>
            <a:r>
              <a:rPr lang="zh-CN" altLang="en-US" sz="1800"/>
              <a:t>权位    </a:t>
            </a:r>
            <a:r>
              <a:rPr lang="en-US" altLang="zh-CN" sz="1800" b="1">
                <a:solidFill>
                  <a:srgbClr val="FF0000"/>
                </a:solidFill>
              </a:rPr>
              <a:t>3</a:t>
            </a:r>
            <a:r>
              <a:rPr lang="zh-CN" altLang="en-US" sz="1800"/>
              <a:t>权位   </a:t>
            </a:r>
            <a:r>
              <a:rPr lang="en-US" altLang="zh-CN" sz="1800" b="1">
                <a:solidFill>
                  <a:srgbClr val="FF0000"/>
                </a:solidFill>
              </a:rPr>
              <a:t>2</a:t>
            </a:r>
            <a:r>
              <a:rPr lang="zh-CN" altLang="en-US" sz="1800"/>
              <a:t>权位  </a:t>
            </a:r>
            <a:r>
              <a:rPr lang="en-US" altLang="zh-CN" sz="1800" b="1">
                <a:solidFill>
                  <a:srgbClr val="FF0000"/>
                </a:solidFill>
              </a:rPr>
              <a:t>1</a:t>
            </a:r>
            <a:r>
              <a:rPr lang="zh-CN" altLang="en-US" sz="1800"/>
              <a:t>权位   </a:t>
            </a:r>
            <a:r>
              <a:rPr lang="en-US" altLang="zh-CN" sz="1800" b="1">
                <a:solidFill>
                  <a:srgbClr val="FF0000"/>
                </a:solidFill>
              </a:rPr>
              <a:t>0</a:t>
            </a:r>
            <a:r>
              <a:rPr lang="zh-CN" altLang="en-US" sz="1800"/>
              <a:t>权位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A76B5E92-BAEF-470E-B3F7-AB3BF6029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953000"/>
            <a:ext cx="914400" cy="5334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50000"/>
              </a:spcBef>
              <a:defRPr/>
            </a:pPr>
            <a:r>
              <a:rPr lang="zh-CN" altLang="en-US" sz="2000" b="1" kern="0" dirty="0">
                <a:solidFill>
                  <a:srgbClr val="FF0000"/>
                </a:solidFill>
                <a:latin typeface="+mn-lt"/>
                <a:ea typeface="+mn-ea"/>
              </a:rPr>
              <a:t>权位：</a:t>
            </a:r>
            <a:endParaRPr lang="zh-CN" altLang="en-US" sz="2000" kern="0" dirty="0">
              <a:solidFill>
                <a:srgbClr val="00B0F0"/>
              </a:solidFill>
              <a:latin typeface="+mn-lt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13951" y="638781"/>
            <a:ext cx="5464206" cy="19389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为什么用二进制？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用二进制电路来计数时，只能代表两个数码：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。如以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代表高电位，则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代表低电位。电路组成的计算机运算迅速、电路简便、成本低。</a:t>
            </a:r>
          </a:p>
        </p:txBody>
      </p:sp>
    </p:spTree>
    <p:extLst>
      <p:ext uri="{BB962C8B-B14F-4D97-AF65-F5344CB8AC3E}">
        <p14:creationId xmlns:p14="http://schemas.microsoft.com/office/powerpoint/2010/main" val="37606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81000" y="5486400"/>
            <a:ext cx="83820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     在微型计算机中这些数制都是经常用到的，但在本书中，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二进制和十六进制</a:t>
            </a:r>
            <a:r>
              <a:rPr lang="zh-CN" altLang="en-US" sz="2400" b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更为常用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210D8B-7043-440A-A8ED-80775DF51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84917"/>
            <a:ext cx="6705600" cy="184433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287338" indent="-287338" eaLnBrk="1" hangingPunct="1">
              <a:spcBef>
                <a:spcPts val="600"/>
              </a:spcBef>
              <a:spcAft>
                <a:spcPts val="1200"/>
              </a:spcAft>
              <a:defRPr/>
            </a:pP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八进制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(Octal)</a:t>
            </a:r>
          </a:p>
          <a:p>
            <a:pPr marL="287338" indent="-287338" eaLnBrk="1" hangingPunct="1">
              <a:spcBef>
                <a:spcPts val="600"/>
              </a:spcBef>
              <a:defRPr/>
            </a:pP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数码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en-US" altLang="zh-CN" kern="0" dirty="0">
                <a:latin typeface="楷体" panose="02010609060101010101" pitchFamily="49" charset="-122"/>
                <a:ea typeface="楷体" panose="02010609060101010101" pitchFamily="49" charset="-122"/>
              </a:rPr>
              <a:t> 0, 1, 2, 3, 4, 5, 6, 7</a:t>
            </a:r>
          </a:p>
          <a:p>
            <a:pPr marL="287338" indent="-287338" eaLnBrk="1" hangingPunct="1">
              <a:spcBef>
                <a:spcPts val="600"/>
              </a:spcBef>
              <a:defRPr/>
            </a:pP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基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kern="0" dirty="0">
                <a:latin typeface="楷体" panose="02010609060101010101" pitchFamily="49" charset="-122"/>
                <a:ea typeface="楷体" panose="02010609060101010101" pitchFamily="49" charset="-122"/>
              </a:rPr>
              <a:t>  8</a:t>
            </a:r>
            <a:endParaRPr lang="zh-CN" altLang="en-US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7338" indent="-287338" eaLnBrk="1" hangingPunct="1">
              <a:spcBef>
                <a:spcPct val="20000"/>
              </a:spcBef>
              <a:defRPr/>
            </a:pP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权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kern="0" dirty="0">
                <a:latin typeface="楷体" panose="02010609060101010101" pitchFamily="49" charset="-122"/>
                <a:ea typeface="楷体" panose="02010609060101010101" pitchFamily="49" charset="-122"/>
              </a:rPr>
              <a:t>是以</a:t>
            </a:r>
            <a:r>
              <a:rPr lang="en-US" altLang="zh-CN" kern="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kern="0" dirty="0">
                <a:latin typeface="楷体" panose="02010609060101010101" pitchFamily="49" charset="-122"/>
                <a:ea typeface="楷体" panose="02010609060101010101" pitchFamily="49" charset="-122"/>
              </a:rPr>
              <a:t>为底的幂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9875B4A-A130-4EDF-975C-3F4CF95BF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60072"/>
            <a:ext cx="6705600" cy="179550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287338" indent="-287338" eaLnBrk="1" hangingPunct="1">
              <a:spcBef>
                <a:spcPts val="600"/>
              </a:spcBef>
              <a:spcAft>
                <a:spcPts val="1200"/>
              </a:spcAft>
              <a:defRPr/>
            </a:pP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十六进制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(Hex)</a:t>
            </a:r>
          </a:p>
          <a:p>
            <a:pPr marL="287338" indent="-287338" eaLnBrk="1" hangingPunct="1">
              <a:spcBef>
                <a:spcPts val="600"/>
              </a:spcBef>
              <a:defRPr/>
            </a:pP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数码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en-US" altLang="zh-CN" kern="0" dirty="0">
                <a:latin typeface="楷体" panose="02010609060101010101" pitchFamily="49" charset="-122"/>
                <a:ea typeface="楷体" panose="02010609060101010101" pitchFamily="49" charset="-122"/>
              </a:rPr>
              <a:t> 0, 1, 2, 3, 4, 5, 6, 7, 8, 9, </a:t>
            </a:r>
            <a:r>
              <a:rPr lang="en-US" altLang="zh-CN" kern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A, B, C, D, E, F</a:t>
            </a:r>
          </a:p>
          <a:p>
            <a:pPr marL="287338" indent="-287338" eaLnBrk="1" hangingPunct="1">
              <a:spcBef>
                <a:spcPts val="600"/>
              </a:spcBef>
              <a:defRPr/>
            </a:pP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基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kern="0" dirty="0">
                <a:latin typeface="楷体" panose="02010609060101010101" pitchFamily="49" charset="-122"/>
                <a:ea typeface="楷体" panose="02010609060101010101" pitchFamily="49" charset="-122"/>
              </a:rPr>
              <a:t>  16</a:t>
            </a:r>
            <a:endParaRPr lang="zh-CN" altLang="en-US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7338" indent="-287338" eaLnBrk="1" hangingPunct="1">
              <a:spcBef>
                <a:spcPct val="20000"/>
              </a:spcBef>
              <a:defRPr/>
            </a:pP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权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kern="0" dirty="0">
                <a:latin typeface="楷体" panose="02010609060101010101" pitchFamily="49" charset="-122"/>
                <a:ea typeface="楷体" panose="02010609060101010101" pitchFamily="49" charset="-122"/>
              </a:rPr>
              <a:t>是以</a:t>
            </a:r>
            <a:r>
              <a:rPr lang="en-US" altLang="zh-CN" kern="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kern="0" dirty="0">
                <a:latin typeface="楷体" panose="02010609060101010101" pitchFamily="49" charset="-122"/>
                <a:ea typeface="楷体" panose="02010609060101010101" pitchFamily="49" charset="-122"/>
              </a:rPr>
              <a:t>为底的幂</a:t>
            </a:r>
          </a:p>
        </p:txBody>
      </p:sp>
      <p:sp>
        <p:nvSpPr>
          <p:cNvPr id="2" name="矩形 1"/>
          <p:cNvSpPr/>
          <p:nvPr/>
        </p:nvSpPr>
        <p:spPr>
          <a:xfrm>
            <a:off x="3029042" y="1830835"/>
            <a:ext cx="5629183" cy="23083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为什么用十六进制？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用十六进制既可简化书写，又便于记忆。如下列一些等值的数：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     1000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=8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(16)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(10)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     1111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=F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(16)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(10)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     11 0000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=30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(16)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48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(10)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3690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95275" y="989124"/>
            <a:ext cx="7772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1.1.4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数制的转换方法</a:t>
            </a:r>
          </a:p>
        </p:txBody>
      </p:sp>
      <p:sp>
        <p:nvSpPr>
          <p:cNvPr id="2" name="矩形 1"/>
          <p:cNvSpPr/>
          <p:nvPr/>
        </p:nvSpPr>
        <p:spPr>
          <a:xfrm>
            <a:off x="695324" y="2002989"/>
            <a:ext cx="795337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    由于我们习惯用十进制记数，在研究问题或讨论解题的过程中，用十进制来考虑和书写的。当考虑成熟后，要把问题变成计算机能够“看得懂”的形式时，就得把问题中的所有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十进制数转换成二进制代码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。这就需要用到“十进制数转换成二进制数的方法”。计算机运算得到的结果是二进制数，又需要用到“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二进制数转换为十进制数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的方法”，才能把运算结果用十进制形式显示出来。</a:t>
            </a:r>
          </a:p>
        </p:txBody>
      </p:sp>
    </p:spTree>
    <p:extLst>
      <p:ext uri="{BB962C8B-B14F-4D97-AF65-F5344CB8AC3E}">
        <p14:creationId xmlns:p14="http://schemas.microsoft.com/office/powerpoint/2010/main" val="1811614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9199" y="1214852"/>
            <a:ext cx="7878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十进制数转换成二进制数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9199" y="2437824"/>
            <a:ext cx="3724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1.1】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的二进制数</a:t>
            </a: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1884998" y="3029478"/>
            <a:ext cx="1712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结果为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1101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9199" y="3794487"/>
            <a:ext cx="7790155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小数：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乘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取整法</a:t>
            </a:r>
          </a:p>
        </p:txBody>
      </p:sp>
      <p:sp>
        <p:nvSpPr>
          <p:cNvPr id="7" name="矩形 6"/>
          <p:cNvSpPr/>
          <p:nvPr/>
        </p:nvSpPr>
        <p:spPr>
          <a:xfrm>
            <a:off x="549199" y="4596077"/>
            <a:ext cx="54168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1.2】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求十进制数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0.625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的二进制数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901020" y="5412143"/>
            <a:ext cx="18774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结果为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0.101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49199" y="1794897"/>
            <a:ext cx="2492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整数：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除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取余法</a:t>
            </a:r>
          </a:p>
        </p:txBody>
      </p:sp>
      <p:pic>
        <p:nvPicPr>
          <p:cNvPr id="6" name="Picture 9" descr="p3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929" y="3630967"/>
            <a:ext cx="3968774" cy="3072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667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457200" y="1182951"/>
            <a:ext cx="8382000" cy="98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indent="0" eaLnBrk="1" hangingPunct="1">
              <a:buFontTx/>
              <a:buNone/>
            </a:pPr>
            <a:r>
              <a:rPr lang="en-US" altLang="zh-CN" dirty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2.</a:t>
            </a:r>
            <a:r>
              <a:rPr lang="zh-CN" altLang="en-US" dirty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二进制数转换成十进制数：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二进制数各位的权乘以对应位的数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(0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再加起来就得到十进制数。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C19FAE-7A3C-4539-971E-FF6F96FEC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90441"/>
            <a:ext cx="8382000" cy="4648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287338" algn="just" eaLnBrk="1" hangingPunct="1">
              <a:spcBef>
                <a:spcPct val="20000"/>
              </a:spcBef>
              <a:defRPr/>
            </a:pPr>
            <a:endParaRPr lang="en-US" altLang="zh-CN" sz="28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7338" algn="just" eaLnBrk="1" hangingPunct="1">
              <a:spcBef>
                <a:spcPct val="20000"/>
              </a:spcBef>
              <a:defRPr/>
            </a:pP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　　　 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 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1 </a:t>
            </a: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  <a:p>
            <a:pPr marL="287338" algn="just" eaLnBrk="1" hangingPunct="1">
              <a:spcBef>
                <a:spcPct val="20000"/>
              </a:spcBef>
              <a:defRPr/>
            </a:pP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权：   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kern="0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5   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kern="0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4   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kern="0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3   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kern="0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2   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kern="0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1   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kern="0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en-US" altLang="zh-CN" sz="28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7338" algn="just" eaLnBrk="1" hangingPunct="1">
              <a:spcBef>
                <a:spcPct val="20000"/>
              </a:spcBef>
              <a:defRPr/>
            </a:pP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乘积： 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32  0    8   0   2    1</a:t>
            </a:r>
          </a:p>
          <a:p>
            <a:pPr marL="287338" algn="just" eaLnBrk="1" hangingPunct="1">
              <a:spcBef>
                <a:spcPct val="20000"/>
              </a:spcBef>
              <a:defRPr/>
            </a:pPr>
            <a:endParaRPr lang="en-US" altLang="zh-CN" sz="28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7338" algn="just" eaLnBrk="1" hangingPunct="1">
              <a:spcBef>
                <a:spcPct val="20000"/>
              </a:spcBef>
              <a:defRPr/>
            </a:pP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累加：              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43</a:t>
            </a:r>
          </a:p>
          <a:p>
            <a:pPr marL="287338" algn="just" eaLnBrk="1" hangingPunct="1">
              <a:spcBef>
                <a:spcPct val="20000"/>
              </a:spcBef>
              <a:defRPr/>
            </a:pP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结果：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43</a:t>
            </a:r>
            <a:r>
              <a:rPr lang="en-US" altLang="zh-CN" sz="2800" b="1" kern="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(10)</a:t>
            </a:r>
            <a:endParaRPr lang="en-US" altLang="zh-CN" sz="28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7338" algn="just" eaLnBrk="1" hangingPunct="1">
              <a:spcBef>
                <a:spcPct val="20000"/>
              </a:spcBef>
              <a:defRPr/>
            </a:pP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800" b="1" kern="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二进制小数转换为十进制时也可用同样的方法，二进制数小数各位的权是</a:t>
            </a:r>
            <a:r>
              <a:rPr lang="en-US" altLang="zh-CN" sz="2800" b="1" kern="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kern="0" baseline="30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-1</a:t>
            </a:r>
            <a:r>
              <a:rPr lang="zh-CN" altLang="en-US" sz="2800" b="1" kern="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kern="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kern="0" baseline="30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-2</a:t>
            </a:r>
            <a:r>
              <a:rPr lang="en-US" altLang="zh-CN" sz="2800" b="1" kern="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</a:t>
            </a:r>
            <a:r>
              <a:rPr lang="zh-CN" altLang="en-US" sz="2800" b="1" kern="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24580" name="AutoShape 3"/>
          <p:cNvSpPr>
            <a:spLocks/>
          </p:cNvSpPr>
          <p:nvPr/>
        </p:nvSpPr>
        <p:spPr bwMode="auto">
          <a:xfrm rot="16205198">
            <a:off x="4430919" y="2687257"/>
            <a:ext cx="563738" cy="3854568"/>
          </a:xfrm>
          <a:prstGeom prst="leftBrace">
            <a:avLst>
              <a:gd name="adj1" fmla="val 58333"/>
              <a:gd name="adj2" fmla="val 55288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41794" y="2166151"/>
            <a:ext cx="6827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1.3】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求二进制数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101011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的十进制数。</a:t>
            </a:r>
          </a:p>
        </p:txBody>
      </p:sp>
    </p:spTree>
    <p:extLst>
      <p:ext uri="{BB962C8B-B14F-4D97-AF65-F5344CB8AC3E}">
        <p14:creationId xmlns:p14="http://schemas.microsoft.com/office/powerpoint/2010/main" val="316787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276225" y="1314450"/>
            <a:ext cx="83820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1.4】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求二进制数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0.101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的十进制数。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2A98FCA-C4DB-4434-AE9D-DF9306549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037" y="2800350"/>
            <a:ext cx="6048375" cy="2971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287338" indent="-287338" eaLnBrk="1" hangingPunct="1">
              <a:spcBef>
                <a:spcPct val="20000"/>
              </a:spcBef>
              <a:defRPr/>
            </a:pPr>
            <a:r>
              <a:rPr lang="zh-CN" altLang="en-US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　　　  </a:t>
            </a:r>
            <a:r>
              <a:rPr lang="en-US" altLang="zh-CN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0.</a:t>
            </a:r>
            <a:r>
              <a:rPr lang="zh-CN" altLang="en-US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  </a:t>
            </a:r>
            <a:r>
              <a:rPr lang="en-US" altLang="zh-CN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  </a:t>
            </a:r>
            <a:r>
              <a:rPr lang="en-US" altLang="zh-CN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</a:p>
          <a:p>
            <a:pPr marL="287338" indent="-287338" eaLnBrk="1" hangingPunct="1">
              <a:spcBef>
                <a:spcPct val="20000"/>
              </a:spcBef>
              <a:defRPr/>
            </a:pPr>
            <a:r>
              <a:rPr lang="zh-CN" altLang="en-US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权：    </a:t>
            </a:r>
            <a:r>
              <a:rPr lang="en-US" altLang="zh-CN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600" b="1" kern="0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0      </a:t>
            </a:r>
            <a:r>
              <a:rPr lang="en-US" altLang="zh-CN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600" b="1" kern="0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-1    </a:t>
            </a:r>
            <a:r>
              <a:rPr lang="en-US" altLang="zh-CN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600" b="1" kern="0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-2    </a:t>
            </a:r>
            <a:r>
              <a:rPr lang="en-US" altLang="zh-CN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600" b="1" kern="0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-3</a:t>
            </a:r>
            <a:endParaRPr lang="en-US" altLang="zh-CN" sz="26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7338" indent="-287338" eaLnBrk="1" hangingPunct="1">
              <a:spcBef>
                <a:spcPct val="20000"/>
              </a:spcBef>
              <a:defRPr/>
            </a:pPr>
            <a:r>
              <a:rPr lang="zh-CN" altLang="en-US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乘积：  </a:t>
            </a:r>
            <a:r>
              <a:rPr lang="en-US" altLang="zh-CN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0     0.5   0  0.125</a:t>
            </a:r>
          </a:p>
          <a:p>
            <a:pPr marL="287338" indent="-287338" eaLnBrk="1" hangingPunct="1">
              <a:spcBef>
                <a:spcPct val="20000"/>
              </a:spcBef>
              <a:defRPr/>
            </a:pPr>
            <a:r>
              <a:rPr lang="zh-CN" altLang="en-US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累加：           </a:t>
            </a:r>
            <a:r>
              <a:rPr lang="en-US" altLang="zh-CN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0.625</a:t>
            </a:r>
          </a:p>
          <a:p>
            <a:pPr marL="287338" indent="-287338" eaLnBrk="1" hangingPunct="1">
              <a:spcBef>
                <a:spcPct val="20000"/>
              </a:spcBef>
              <a:spcAft>
                <a:spcPts val="600"/>
              </a:spcAft>
              <a:defRPr/>
            </a:pPr>
            <a:r>
              <a:rPr lang="zh-CN" altLang="en-US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　结果：</a:t>
            </a:r>
            <a:r>
              <a:rPr lang="en-US" altLang="zh-CN" sz="26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0.625</a:t>
            </a:r>
            <a:r>
              <a:rPr lang="en-US" altLang="zh-CN" sz="2600" b="1" kern="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(10)</a:t>
            </a:r>
          </a:p>
        </p:txBody>
      </p:sp>
    </p:spTree>
    <p:extLst>
      <p:ext uri="{BB962C8B-B14F-4D97-AF65-F5344CB8AC3E}">
        <p14:creationId xmlns:p14="http://schemas.microsoft.com/office/powerpoint/2010/main" val="741901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33375" y="1590675"/>
            <a:ext cx="83820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indent="504000" algn="just">
              <a:lnSpc>
                <a:spcPct val="13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两点注意事项：</a:t>
            </a:r>
          </a:p>
          <a:p>
            <a:pPr indent="504000" algn="just">
              <a:lnSpc>
                <a:spcPct val="13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一个二进制数可以准确地转换为十进制数，而一个带小数的十进制数不一定能够准确地用二进制数来表示。</a:t>
            </a:r>
          </a:p>
          <a:p>
            <a:pPr indent="504000" algn="just">
              <a:lnSpc>
                <a:spcPct val="13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带小数的十进制数在转换为二进制数时，以小数点为界，整数和小数要分别转换。</a:t>
            </a:r>
          </a:p>
          <a:p>
            <a:pPr indent="504000" algn="just">
              <a:lnSpc>
                <a:spcPct val="13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此外，还有其他各种数制之间的转换，其方法和上述方法类似，都可以从数制的定义中找到转换方法。</a:t>
            </a:r>
          </a:p>
        </p:txBody>
      </p:sp>
    </p:spTree>
    <p:extLst>
      <p:ext uri="{BB962C8B-B14F-4D97-AF65-F5344CB8AC3E}">
        <p14:creationId xmlns:p14="http://schemas.microsoft.com/office/powerpoint/2010/main" val="3616119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1066800"/>
            <a:ext cx="7772400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1.2  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二进制数的运算及其加法电路</a:t>
            </a:r>
            <a:b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485900"/>
            <a:ext cx="7772400" cy="5029200"/>
          </a:xfrm>
          <a:prstGeom prst="rect">
            <a:avLst/>
          </a:prstGeo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10000"/>
          </a:bodyPr>
          <a:lstStyle/>
          <a:p>
            <a:pPr indent="0" eaLnBrk="1" hangingPunct="1">
              <a:lnSpc>
                <a:spcPct val="90000"/>
              </a:lnSpc>
              <a:buFontTx/>
              <a:buNone/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算术的基本运算：</a:t>
            </a:r>
            <a:r>
              <a:rPr lang="zh-CN" altLang="en-US" sz="2600" b="0" dirty="0">
                <a:latin typeface="楷体" panose="02010609060101010101" pitchFamily="49" charset="-122"/>
                <a:ea typeface="楷体" panose="02010609060101010101" pitchFamily="49" charset="-122"/>
              </a:rPr>
              <a:t>加、减、乘和除。</a:t>
            </a:r>
            <a:endParaRPr lang="en-US" altLang="zh-CN" sz="26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 eaLnBrk="1" hangingPunct="1">
              <a:lnSpc>
                <a:spcPct val="90000"/>
              </a:lnSpc>
              <a:buFontTx/>
              <a:buNone/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    微型计算机中通常只有加法电路，这是为了使硬件结构简单而成本较低。不过，只要有了加法电路，也能完成算术的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种基本运算。</a:t>
            </a:r>
          </a:p>
          <a:p>
            <a:pPr indent="0" eaLnBrk="1" hangingPunct="1">
              <a:lnSpc>
                <a:spcPct val="90000"/>
              </a:lnSpc>
              <a:buFontTx/>
              <a:buNone/>
            </a:pP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1.2.1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二进制数的相加</a:t>
            </a:r>
          </a:p>
          <a:p>
            <a:pPr indent="0" eaLnBrk="1" hangingPunct="1">
              <a:lnSpc>
                <a:spcPct val="90000"/>
              </a:lnSpc>
              <a:buFontTx/>
              <a:buNone/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两个二进制数相加的几个例子：</a:t>
            </a:r>
          </a:p>
          <a:p>
            <a:pPr indent="0" eaLnBrk="1" hangingPunct="1">
              <a:lnSpc>
                <a:spcPct val="90000"/>
              </a:lnSpc>
              <a:buFontTx/>
              <a:buNone/>
            </a:pP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1.11</a:t>
            </a:r>
            <a:r>
              <a:rPr lang="en-US" altLang="zh-CN" sz="2600" dirty="0"/>
              <a:t>】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600" dirty="0"/>
              <a:t>(1)</a:t>
            </a:r>
            <a:r>
              <a:rPr lang="zh-CN" altLang="en-US" sz="2600" dirty="0"/>
              <a:t>　　　　　　　</a:t>
            </a:r>
            <a:r>
              <a:rPr lang="en-US" altLang="zh-CN" sz="2600" dirty="0"/>
              <a:t>(2)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600" dirty="0"/>
              <a:t>　　　</a:t>
            </a:r>
            <a:r>
              <a:rPr lang="en-US" altLang="zh-CN" sz="2600" dirty="0"/>
              <a:t>1</a:t>
            </a:r>
            <a:r>
              <a:rPr lang="zh-CN" altLang="en-US" sz="2600" dirty="0"/>
              <a:t>　  </a:t>
            </a:r>
            <a:r>
              <a:rPr lang="en-US" altLang="zh-CN" sz="2600" dirty="0"/>
              <a:t>A</a:t>
            </a:r>
            <a:r>
              <a:rPr lang="zh-CN" altLang="en-US" sz="2600" dirty="0"/>
              <a:t>　　　　　 </a:t>
            </a:r>
            <a:r>
              <a:rPr lang="en-US" altLang="zh-CN" sz="2600" dirty="0"/>
              <a:t>0  1</a:t>
            </a:r>
            <a:r>
              <a:rPr lang="zh-CN" altLang="en-US" sz="2600" dirty="0"/>
              <a:t>　</a:t>
            </a:r>
            <a:r>
              <a:rPr lang="en-US" altLang="zh-CN" sz="2600" dirty="0"/>
              <a:t>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600" dirty="0"/>
              <a:t>　</a:t>
            </a:r>
            <a:r>
              <a:rPr lang="en-US" altLang="zh-CN" sz="2600" dirty="0"/>
              <a:t>+)</a:t>
            </a:r>
            <a:r>
              <a:rPr lang="zh-CN" altLang="en-US" sz="2600" dirty="0"/>
              <a:t>　 </a:t>
            </a:r>
            <a:r>
              <a:rPr lang="en-US" altLang="zh-CN" sz="2600" dirty="0"/>
              <a:t>1</a:t>
            </a:r>
            <a:r>
              <a:rPr lang="zh-CN" altLang="en-US" sz="2600" dirty="0"/>
              <a:t>　  </a:t>
            </a:r>
            <a:r>
              <a:rPr lang="en-US" altLang="zh-CN" sz="2600" dirty="0"/>
              <a:t>B</a:t>
            </a:r>
            <a:r>
              <a:rPr lang="zh-CN" altLang="en-US" sz="2600" dirty="0"/>
              <a:t>　　　　</a:t>
            </a:r>
            <a:r>
              <a:rPr lang="en-US" altLang="zh-CN" sz="2600" dirty="0"/>
              <a:t>+)  1  0</a:t>
            </a:r>
            <a:r>
              <a:rPr lang="zh-CN" altLang="en-US" sz="2600" dirty="0"/>
              <a:t>　</a:t>
            </a:r>
            <a:r>
              <a:rPr lang="en-US" altLang="zh-CN" sz="2600" dirty="0"/>
              <a:t>B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600" dirty="0"/>
              <a:t>　　</a:t>
            </a:r>
            <a:r>
              <a:rPr lang="en-US" altLang="zh-CN" sz="2600" dirty="0">
                <a:solidFill>
                  <a:srgbClr val="FF0000"/>
                </a:solidFill>
              </a:rPr>
              <a:t>1</a:t>
            </a:r>
            <a:r>
              <a:rPr lang="en-US" altLang="zh-CN" sz="2600" dirty="0"/>
              <a:t>   0</a:t>
            </a:r>
            <a:r>
              <a:rPr lang="zh-CN" altLang="en-US" sz="2600" dirty="0"/>
              <a:t>　  </a:t>
            </a:r>
            <a:r>
              <a:rPr lang="en-US" altLang="zh-CN" sz="2600" dirty="0"/>
              <a:t>S</a:t>
            </a:r>
            <a:r>
              <a:rPr lang="zh-CN" altLang="en-US" sz="2600" dirty="0"/>
              <a:t>　　　　　  </a:t>
            </a:r>
            <a:r>
              <a:rPr lang="en-US" altLang="zh-CN" sz="2600" dirty="0"/>
              <a:t>1  1</a:t>
            </a:r>
            <a:r>
              <a:rPr lang="zh-CN" altLang="en-US" sz="2600" dirty="0"/>
              <a:t>　</a:t>
            </a:r>
            <a:r>
              <a:rPr lang="en-US" altLang="zh-CN" sz="2600" dirty="0"/>
              <a:t>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600" dirty="0">
                <a:solidFill>
                  <a:srgbClr val="FF0000"/>
                </a:solidFill>
              </a:rPr>
              <a:t>     进位</a:t>
            </a:r>
          </a:p>
        </p:txBody>
      </p:sp>
      <p:sp>
        <p:nvSpPr>
          <p:cNvPr id="30724" name="Line 3"/>
          <p:cNvSpPr>
            <a:spLocks noChangeShapeType="1"/>
          </p:cNvSpPr>
          <p:nvPr/>
        </p:nvSpPr>
        <p:spPr bwMode="auto">
          <a:xfrm>
            <a:off x="1524000" y="5410200"/>
            <a:ext cx="11430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5" name="Line 4"/>
          <p:cNvSpPr>
            <a:spLocks noChangeShapeType="1"/>
          </p:cNvSpPr>
          <p:nvPr/>
        </p:nvSpPr>
        <p:spPr bwMode="auto">
          <a:xfrm>
            <a:off x="4000500" y="5410200"/>
            <a:ext cx="11430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053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04798" y="457200"/>
            <a:ext cx="8839201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zh-CN" altLang="en-US" dirty="0"/>
              <a:t>　　</a:t>
            </a:r>
            <a:r>
              <a:rPr lang="en-US" altLang="zh-CN" dirty="0"/>
              <a:t>(3)</a:t>
            </a:r>
            <a:r>
              <a:rPr lang="zh-CN" altLang="en-US" dirty="0"/>
              <a:t>　　　　　　　　　</a:t>
            </a:r>
            <a:r>
              <a:rPr lang="en-US" altLang="zh-CN" dirty="0"/>
              <a:t>(4)</a:t>
            </a:r>
          </a:p>
          <a:p>
            <a:pPr eaLnBrk="1" hangingPunct="1">
              <a:buFontTx/>
              <a:buNone/>
            </a:pPr>
            <a:r>
              <a:rPr lang="zh-CN" altLang="en-US" dirty="0"/>
              <a:t>　　　　　　　　　　　　　　　　</a:t>
            </a:r>
            <a:r>
              <a:rPr lang="en-US" altLang="zh-CN" dirty="0"/>
              <a:t>1   1</a:t>
            </a:r>
            <a:r>
              <a:rPr lang="zh-CN" altLang="en-US" dirty="0"/>
              <a:t>　     </a:t>
            </a:r>
            <a:r>
              <a:rPr lang="en-US" altLang="zh-CN" dirty="0"/>
              <a:t>C</a:t>
            </a:r>
          </a:p>
          <a:p>
            <a:pPr eaLnBrk="1" hangingPunct="1">
              <a:buFontTx/>
              <a:buNone/>
            </a:pPr>
            <a:r>
              <a:rPr lang="zh-CN" altLang="en-US" dirty="0"/>
              <a:t>　　　　  </a:t>
            </a:r>
            <a:r>
              <a:rPr lang="en-US" altLang="zh-CN" dirty="0"/>
              <a:t>1</a:t>
            </a:r>
            <a:r>
              <a:rPr lang="zh-CN" altLang="en-US" dirty="0"/>
              <a:t>　</a:t>
            </a:r>
            <a:r>
              <a:rPr lang="en-US" altLang="zh-CN" dirty="0"/>
              <a:t>1</a:t>
            </a:r>
            <a:r>
              <a:rPr lang="zh-CN" altLang="en-US" dirty="0"/>
              <a:t>　  </a:t>
            </a:r>
            <a:r>
              <a:rPr lang="en-US" altLang="zh-CN" dirty="0"/>
              <a:t>A</a:t>
            </a:r>
            <a:r>
              <a:rPr lang="zh-CN" altLang="en-US" dirty="0"/>
              <a:t>　　　　　　　</a:t>
            </a:r>
            <a:r>
              <a:rPr lang="en-US" altLang="zh-CN" dirty="0"/>
              <a:t>0    1   1    A</a:t>
            </a:r>
          </a:p>
          <a:p>
            <a:pPr eaLnBrk="1" hangingPunct="1">
              <a:buFontTx/>
              <a:buNone/>
            </a:pPr>
            <a:r>
              <a:rPr lang="zh-CN" altLang="en-US" dirty="0"/>
              <a:t>　　　</a:t>
            </a:r>
            <a:r>
              <a:rPr lang="en-US" altLang="zh-CN" dirty="0"/>
              <a:t>+)   1</a:t>
            </a:r>
            <a:r>
              <a:rPr lang="zh-CN" altLang="en-US" dirty="0"/>
              <a:t>　</a:t>
            </a:r>
            <a:r>
              <a:rPr lang="en-US" altLang="zh-CN" dirty="0"/>
              <a:t>1</a:t>
            </a:r>
            <a:r>
              <a:rPr lang="zh-CN" altLang="en-US" dirty="0"/>
              <a:t>　  </a:t>
            </a:r>
            <a:r>
              <a:rPr lang="en-US" altLang="zh-CN" dirty="0"/>
              <a:t>B</a:t>
            </a:r>
            <a:r>
              <a:rPr lang="zh-CN" altLang="en-US" dirty="0"/>
              <a:t>　　    　　　</a:t>
            </a:r>
            <a:r>
              <a:rPr lang="en-US" altLang="zh-CN" dirty="0"/>
              <a:t>+) 0    1   1    B</a:t>
            </a:r>
          </a:p>
          <a:p>
            <a:pPr eaLnBrk="1" hangingPunct="1">
              <a:buFontTx/>
              <a:buNone/>
            </a:pPr>
            <a:r>
              <a:rPr lang="zh-CN" altLang="en-US" dirty="0"/>
              <a:t>　　　</a:t>
            </a:r>
            <a:r>
              <a:rPr lang="en-US" altLang="zh-CN" dirty="0">
                <a:solidFill>
                  <a:srgbClr val="00B0F0"/>
                </a:solidFill>
              </a:rPr>
              <a:t>1</a:t>
            </a:r>
            <a:r>
              <a:rPr lang="zh-CN" altLang="en-US" dirty="0"/>
              <a:t>　</a:t>
            </a:r>
            <a:r>
              <a:rPr lang="en-US" altLang="zh-CN" dirty="0"/>
              <a:t>1</a:t>
            </a:r>
            <a:r>
              <a:rPr lang="zh-CN" altLang="en-US" dirty="0"/>
              <a:t>　</a:t>
            </a:r>
            <a:r>
              <a:rPr lang="en-US" altLang="zh-CN" dirty="0"/>
              <a:t>0</a:t>
            </a:r>
            <a:r>
              <a:rPr lang="zh-CN" altLang="en-US" dirty="0"/>
              <a:t>　  </a:t>
            </a:r>
            <a:r>
              <a:rPr lang="en-US" altLang="zh-CN" dirty="0"/>
              <a:t>S</a:t>
            </a:r>
            <a:r>
              <a:rPr lang="zh-CN" altLang="en-US" dirty="0"/>
              <a:t>　　　　　　　 </a:t>
            </a:r>
            <a:r>
              <a:rPr lang="en-US" altLang="zh-CN" dirty="0">
                <a:solidFill>
                  <a:srgbClr val="00B0F0"/>
                </a:solidFill>
              </a:rPr>
              <a:t>1 </a:t>
            </a:r>
            <a:r>
              <a:rPr lang="en-US" altLang="zh-CN" dirty="0"/>
              <a:t>   1   0</a:t>
            </a:r>
            <a:r>
              <a:rPr lang="zh-CN" altLang="en-US" dirty="0"/>
              <a:t>　</a:t>
            </a:r>
            <a:r>
              <a:rPr lang="en-US" altLang="zh-CN" dirty="0"/>
              <a:t>S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进位                     进位</a:t>
            </a:r>
          </a:p>
          <a:p>
            <a:pPr eaLnBrk="1" hangingPunct="1">
              <a:buFontTx/>
              <a:buNone/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1.11(1)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中，加数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和被加数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都是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位数，其和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变成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位数，这是因为相加结果产生进位。</a:t>
            </a:r>
          </a:p>
          <a:p>
            <a:pPr eaLnBrk="1" hangingPunct="1">
              <a:buFontTx/>
              <a:buNone/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1.11(2)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中，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都是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位数，相加结果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也是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位数，因为相加结果不产生进位。</a:t>
            </a:r>
          </a:p>
          <a:p>
            <a:pPr eaLnBrk="1" hangingPunct="1">
              <a:buFontTx/>
              <a:buNone/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1.11(3)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中，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都是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位数，相加结果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位数，这也是产生了进位。例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1.11(4)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中，是例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1.11(3)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的另一种写法，以便看出“进位”究竟是什么意义。</a:t>
            </a:r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 flipV="1">
            <a:off x="1447800" y="2468563"/>
            <a:ext cx="2362200" cy="460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5791200" y="2514600"/>
            <a:ext cx="1752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773" name="Rectangle 7"/>
          <p:cNvSpPr>
            <a:spLocks noChangeArrowheads="1"/>
          </p:cNvSpPr>
          <p:nvPr/>
        </p:nvSpPr>
        <p:spPr bwMode="auto">
          <a:xfrm>
            <a:off x="6553200" y="1066800"/>
            <a:ext cx="228600" cy="304800"/>
          </a:xfrm>
          <a:prstGeom prst="rect">
            <a:avLst/>
          </a:prstGeom>
          <a:noFill/>
          <a:ln w="63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4" name="Rectangle 8"/>
          <p:cNvSpPr>
            <a:spLocks noChangeArrowheads="1"/>
          </p:cNvSpPr>
          <p:nvPr/>
        </p:nvSpPr>
        <p:spPr bwMode="auto">
          <a:xfrm>
            <a:off x="6096000" y="1066800"/>
            <a:ext cx="228600" cy="304800"/>
          </a:xfrm>
          <a:prstGeom prst="rect">
            <a:avLst/>
          </a:prstGeom>
          <a:noFill/>
          <a:ln w="63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5" name="右箭头 7"/>
          <p:cNvSpPr>
            <a:spLocks noChangeArrowheads="1"/>
          </p:cNvSpPr>
          <p:nvPr/>
        </p:nvSpPr>
        <p:spPr bwMode="auto">
          <a:xfrm>
            <a:off x="4195763" y="1752600"/>
            <a:ext cx="757237" cy="917575"/>
          </a:xfrm>
          <a:prstGeom prst="rightArrow">
            <a:avLst>
              <a:gd name="adj1" fmla="val 50000"/>
              <a:gd name="adj2" fmla="val 50000"/>
            </a:avLst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zh-CN" altLang="en-US" b="1">
                <a:solidFill>
                  <a:srgbClr val="FF0000"/>
                </a:solidFill>
              </a:rPr>
              <a:t>即</a:t>
            </a:r>
          </a:p>
        </p:txBody>
      </p:sp>
    </p:spTree>
    <p:extLst>
      <p:ext uri="{BB962C8B-B14F-4D97-AF65-F5344CB8AC3E}">
        <p14:creationId xmlns:p14="http://schemas.microsoft.com/office/powerpoint/2010/main" val="1814589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81000" y="1447800"/>
            <a:ext cx="83820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0" indent="504000"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或称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权位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是不可能有进位的，要求参与运算的就只有两个数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，其结果为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或称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权位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就是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参与运算了。其中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是由于第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位相加的结果产生的进位。此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个数相加的结果其总和为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，同时又产生进位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，送入下一位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或称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权位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也是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参加运算。由于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都是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，所以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即等于第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位的相加结果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85012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1066800" y="2287518"/>
            <a:ext cx="6715125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defTabSz="457200">
              <a:lnSpc>
                <a:spcPct val="120000"/>
              </a:lnSpc>
              <a:buNone/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A=A3 A2 A1 A0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B=B3 B2 B1 B0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则从最右边第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权位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开始，逐位相加，其结果可以写成：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S=S3 S2 S1 S0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其中各位是分别求出的：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S0=A0+B0→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进位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C1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S1=A1+B1+C1→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进位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C2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S2=A2+B2+C2→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进位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C3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S3=A3+B3+C3→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进位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C4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最后所得的和是：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C4 S3 S2 S1 S0=A+B</a:t>
            </a:r>
          </a:p>
        </p:txBody>
      </p:sp>
      <p:sp>
        <p:nvSpPr>
          <p:cNvPr id="2" name="矩形 1"/>
          <p:cNvSpPr/>
          <p:nvPr/>
        </p:nvSpPr>
        <p:spPr>
          <a:xfrm>
            <a:off x="514350" y="1188786"/>
            <a:ext cx="651510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4000"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从以上几例的分析可得出下列结论：</a:t>
            </a:r>
          </a:p>
          <a:p>
            <a:pPr indent="504000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两个二进制数相加时，逐位相加。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例如：</a:t>
            </a:r>
          </a:p>
        </p:txBody>
      </p:sp>
    </p:spTree>
    <p:extLst>
      <p:ext uri="{BB962C8B-B14F-4D97-AF65-F5344CB8AC3E}">
        <p14:creationId xmlns:p14="http://schemas.microsoft.com/office/powerpoint/2010/main" val="73454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42900" y="1219200"/>
            <a:ext cx="8382000" cy="5010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defTabSz="457200">
              <a:lnSpc>
                <a:spcPct val="12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右边第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位相加的电路要求：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输入量为两个，即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A0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B0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输出量为两个，即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S0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C1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这样的一个二进制位相加的电路称为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半加器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(half adder)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(3)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从右边第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位开始，各位对应相加时的电路要求：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输入量为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个，即</a:t>
            </a:r>
            <a:r>
              <a:rPr lang="en-US" altLang="zh-CN" sz="2400" dirty="0" err="1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Ai,Bi,Ci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输出量为两个，即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Si,Ci+1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indent="0" defTabSz="457200">
              <a:lnSpc>
                <a:spcPct val="120000"/>
              </a:lnSpc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其中</a:t>
            </a:r>
            <a:r>
              <a:rPr lang="en-US" altLang="zh-CN" sz="24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=1,2,3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…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。这样的一个二进制位相加的电路称为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全加器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(full adder)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3664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23219" y="622300"/>
            <a:ext cx="49911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1.2.2  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半加器电路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447675" y="5400704"/>
            <a:ext cx="8382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28733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个输入端，用两个数字</a:t>
            </a: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(A</a:t>
            </a:r>
            <a:r>
              <a:rPr lang="en-US" altLang="zh-CN" baseline="-25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baseline="-25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代表电位输入；    </a:t>
            </a:r>
            <a:endParaRPr lang="en-US" altLang="zh-CN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个输出端，用以输出总和</a:t>
            </a: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及进位</a:t>
            </a: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电路可能出现的状态可以用真值表来表示。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2047081" y="4867304"/>
            <a:ext cx="41433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1.1   </a:t>
            </a:r>
            <a:r>
              <a:rPr lang="zh-CN" altLang="en-US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半加器电路及真值表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0966" name="Picture 5" descr="图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1155700"/>
            <a:ext cx="5852319" cy="3609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515" y="3992237"/>
            <a:ext cx="1342960" cy="69589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395" y="1454358"/>
            <a:ext cx="3014630" cy="301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1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ChangeArrowheads="1"/>
          </p:cNvSpPr>
          <p:nvPr/>
        </p:nvSpPr>
        <p:spPr bwMode="auto">
          <a:xfrm>
            <a:off x="304799" y="1143000"/>
            <a:ext cx="87344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28733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20000"/>
              </a:lnSpc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此表在布尔代数中称为真值表。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    考察一下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之关系，即可看出这是“与”的关系，即：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=A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×B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en-US" altLang="zh-CN" sz="2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而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之关系，也可看出这是“异或”的关系，即：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　  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=A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   B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en-US" altLang="zh-CN" sz="2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　   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=A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+A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6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即只有当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8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二者相异时，才起到或的作用；二者相同时，则其结果为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    因此，可以用“与门”及“异或门”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或称“异门”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来实现真值表的要求。</a:t>
            </a:r>
          </a:p>
          <a:p>
            <a:pPr marL="0" indent="0" eaLnBrk="1" hangingPunct="1">
              <a:lnSpc>
                <a:spcPct val="120000"/>
              </a:lnSpc>
            </a:pPr>
            <a:endParaRPr lang="en-US" altLang="zh-CN" sz="2600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lnSpc>
                <a:spcPct val="120000"/>
              </a:lnSpc>
            </a:pPr>
            <a:endParaRPr lang="en-US" altLang="zh-CN" sz="2800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1987" name="Group 5"/>
          <p:cNvGrpSpPr>
            <a:grpSpLocks/>
          </p:cNvGrpSpPr>
          <p:nvPr/>
        </p:nvGrpSpPr>
        <p:grpSpPr bwMode="auto">
          <a:xfrm>
            <a:off x="1866900" y="3724275"/>
            <a:ext cx="228600" cy="228600"/>
            <a:chOff x="1056" y="3744"/>
            <a:chExt cx="192" cy="192"/>
          </a:xfrm>
        </p:grpSpPr>
        <p:sp>
          <p:nvSpPr>
            <p:cNvPr id="41990" name="Oval 6"/>
            <p:cNvSpPr>
              <a:spLocks noChangeArrowheads="1"/>
            </p:cNvSpPr>
            <p:nvPr/>
          </p:nvSpPr>
          <p:spPr bwMode="auto">
            <a:xfrm>
              <a:off x="1056" y="3744"/>
              <a:ext cx="192" cy="19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991" name="Line 7"/>
            <p:cNvSpPr>
              <a:spLocks noChangeShapeType="1"/>
            </p:cNvSpPr>
            <p:nvPr/>
          </p:nvSpPr>
          <p:spPr bwMode="auto">
            <a:xfrm>
              <a:off x="1056" y="3840"/>
              <a:ext cx="192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992" name="Line 8"/>
            <p:cNvSpPr>
              <a:spLocks noChangeShapeType="1"/>
            </p:cNvSpPr>
            <p:nvPr/>
          </p:nvSpPr>
          <p:spPr bwMode="auto">
            <a:xfrm>
              <a:off x="1152" y="3744"/>
              <a:ext cx="0" cy="192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1988" name="Line 9"/>
          <p:cNvSpPr>
            <a:spLocks noChangeShapeType="1"/>
          </p:cNvSpPr>
          <p:nvPr/>
        </p:nvSpPr>
        <p:spPr bwMode="auto">
          <a:xfrm>
            <a:off x="1400175" y="4105275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989" name="Line 10"/>
          <p:cNvSpPr>
            <a:spLocks noChangeShapeType="1"/>
          </p:cNvSpPr>
          <p:nvPr/>
        </p:nvSpPr>
        <p:spPr bwMode="auto">
          <a:xfrm>
            <a:off x="2352675" y="4105275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904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049E3F-743B-49F1-A536-D752D29FD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066800"/>
            <a:ext cx="77724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8000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800000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800000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800000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800000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800000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800000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800000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800000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楷体" panose="02010609060101010101" pitchFamily="49" charset="-122"/>
                <a:ea typeface="楷体" panose="02010609060101010101" pitchFamily="49" charset="-122"/>
              </a:rPr>
              <a:t>1.4.3   </a:t>
            </a:r>
            <a:r>
              <a:rPr lang="zh-CN" altLang="en-US" kern="0" dirty="0">
                <a:latin typeface="楷体" panose="02010609060101010101" pitchFamily="49" charset="-122"/>
                <a:ea typeface="楷体" panose="02010609060101010101" pitchFamily="49" charset="-122"/>
              </a:rPr>
              <a:t>全加器电路</a:t>
            </a:r>
          </a:p>
        </p:txBody>
      </p:sp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706" y="838200"/>
            <a:ext cx="328612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181" y="5181600"/>
            <a:ext cx="13239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EDFB71A-4B34-457B-81C9-51C9FB95F1CF}"/>
              </a:ext>
            </a:extLst>
          </p:cNvPr>
          <p:cNvSpPr txBox="1">
            <a:spLocks noChangeArrowheads="1"/>
          </p:cNvSpPr>
          <p:nvPr/>
        </p:nvSpPr>
        <p:spPr>
          <a:xfrm>
            <a:off x="798513" y="2057400"/>
            <a:ext cx="2362200" cy="36766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 eaLnBrk="1" hangingPunct="1">
              <a:buFontTx/>
              <a:buNone/>
              <a:defRPr/>
            </a:pPr>
            <a:r>
              <a:rPr lang="zh-CN" altLang="en-US" sz="2400" kern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多输入“异或门”</a:t>
            </a:r>
            <a:r>
              <a:rPr lang="en-US" altLang="zh-CN" sz="2400" kern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(3</a:t>
            </a:r>
            <a:r>
              <a:rPr lang="zh-CN" altLang="en-US" sz="2400" kern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en-US" altLang="zh-CN" sz="2400" kern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kern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的输入与输出关系的判断方法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：多输入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C…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中为“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个数为零及偶数时，输出为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；为奇数时，输出为</a:t>
            </a:r>
            <a:r>
              <a:rPr lang="en-US" altLang="zh-CN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0" kern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indent="0" algn="just" eaLnBrk="1" hangingPunct="1">
              <a:buFontTx/>
              <a:buNone/>
              <a:defRPr/>
            </a:pPr>
            <a:endParaRPr lang="en-US" altLang="zh-CN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988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04800" y="838200"/>
            <a:ext cx="5334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eaLnBrk="1" hangingPunct="1"/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1.4.3  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全加器电路</a:t>
            </a:r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6172200" y="1600200"/>
            <a:ext cx="2895600" cy="42767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电路特点：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ct val="200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个输入端，以输入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ct val="200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个输出端，即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i+1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ct val="200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总和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可用“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异或门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”来实现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ct val="200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进位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i+1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则可以用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个“与门”及一个“或门”来实现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4036" name="Picture 5" descr="图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" r="1126"/>
          <a:stretch>
            <a:fillRect/>
          </a:stretch>
        </p:blipFill>
        <p:spPr bwMode="auto">
          <a:xfrm>
            <a:off x="381000" y="1600200"/>
            <a:ext cx="5791200" cy="427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Text Box 4"/>
          <p:cNvSpPr txBox="1">
            <a:spLocks noChangeArrowheads="1"/>
          </p:cNvSpPr>
          <p:nvPr/>
        </p:nvSpPr>
        <p:spPr bwMode="auto">
          <a:xfrm>
            <a:off x="838200" y="5788025"/>
            <a:ext cx="434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1.2  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全加器电路及真值表</a:t>
            </a:r>
            <a:endParaRPr lang="en-US" altLang="zh-CN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1551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3"/>
          <p:cNvSpPr txBox="1">
            <a:spLocks noChangeArrowheads="1"/>
          </p:cNvSpPr>
          <p:nvPr/>
        </p:nvSpPr>
        <p:spPr bwMode="auto">
          <a:xfrm>
            <a:off x="3991107" y="6096327"/>
            <a:ext cx="10887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1.3</a:t>
            </a:r>
            <a:endParaRPr lang="en-US" altLang="zh-CN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08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914400"/>
            <a:ext cx="8229600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1.2.4  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半加器及全加器符号</a:t>
            </a:r>
          </a:p>
        </p:txBody>
      </p:sp>
      <p:sp>
        <p:nvSpPr>
          <p:cNvPr id="46084" name="Rectangle 6"/>
          <p:cNvSpPr>
            <a:spLocks noGrp="1" noChangeArrowheads="1"/>
          </p:cNvSpPr>
          <p:nvPr>
            <p:ph type="body" sz="half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1.3(a)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为半加器符号，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1.3(b)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为全加器符号。</a:t>
            </a:r>
          </a:p>
          <a:p>
            <a:pPr eaLnBrk="1" hangingPunct="1"/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6085" name="Picture 7" descr="图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90800"/>
            <a:ext cx="6172200" cy="3228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1826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790699" y="533400"/>
            <a:ext cx="6934201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1.2.5 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二进制数的加法电路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295400"/>
            <a:ext cx="7854338" cy="5257800"/>
          </a:xfrm>
          <a:prstGeom prst="rect">
            <a:avLst/>
          </a:prstGeo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A=1010=10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(10)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B=1011=11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(10)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362200" y="5791200"/>
            <a:ext cx="464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位的二进制加法电路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7653" name="Picture 6" descr="图1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124200"/>
            <a:ext cx="5105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278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609600" y="1219200"/>
            <a:ext cx="83820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相加，写成竖式算法如下：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　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1    0    1    0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　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    0    1    1   (+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0    1    0    1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即其相加结果为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S=10101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从加法电路，可看到同样的结果：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S=C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　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=10101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1333499" y="2762250"/>
            <a:ext cx="36290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277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914400"/>
            <a:ext cx="77724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1.4.6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二进制数的减法运算</a:t>
            </a:r>
          </a:p>
        </p:txBody>
      </p:sp>
      <p:sp>
        <p:nvSpPr>
          <p:cNvPr id="52228" name="Line 4"/>
          <p:cNvSpPr>
            <a:spLocks noChangeShapeType="1"/>
          </p:cNvSpPr>
          <p:nvPr/>
        </p:nvSpPr>
        <p:spPr bwMode="auto">
          <a:xfrm>
            <a:off x="4524375" y="5753100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29" name="Line 4"/>
          <p:cNvSpPr>
            <a:spLocks noChangeShapeType="1"/>
          </p:cNvSpPr>
          <p:nvPr/>
        </p:nvSpPr>
        <p:spPr bwMode="auto">
          <a:xfrm>
            <a:off x="1933575" y="5372100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76275" y="1905000"/>
            <a:ext cx="7696200" cy="4302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在微型计算机中，没有专用的减法器，是利用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将减法运算转化为加法运算。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其原理是：将减数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变成其补码后，再与被减数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相加，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其和</a:t>
            </a: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如有进位的话，则舍去进位</a:t>
            </a: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就是两数之差。</a:t>
            </a:r>
          </a:p>
          <a:p>
            <a:pPr>
              <a:lnSpc>
                <a:spcPct val="114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补码是什么呢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对于二进制数来说，简言之，可用下式来表示：</a:t>
            </a:r>
          </a:p>
          <a:p>
            <a:pPr algn="ctr">
              <a:lnSpc>
                <a:spcPct val="114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补码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反码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+1</a:t>
            </a:r>
          </a:p>
          <a:p>
            <a:pPr>
              <a:lnSpc>
                <a:spcPct val="114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这就是说，如有一个二进制数为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，这就是原码，则其反码为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，于是补码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A′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可以写成：</a:t>
            </a:r>
          </a:p>
          <a:p>
            <a:pPr algn="ctr">
              <a:lnSpc>
                <a:spcPct val="114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A′=A+1</a:t>
            </a:r>
          </a:p>
        </p:txBody>
      </p:sp>
    </p:spTree>
    <p:extLst>
      <p:ext uri="{BB962C8B-B14F-4D97-AF65-F5344CB8AC3E}">
        <p14:creationId xmlns:p14="http://schemas.microsoft.com/office/powerpoint/2010/main" val="2694903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71475" y="1104900"/>
            <a:ext cx="8382000" cy="575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补码并非只有二进制数才有。在十进制、十六进制等各种进制中都是存在的。如在十进制中原码为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的补码是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，原码为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64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的补码是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，原码为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642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的补码是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358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等。</a:t>
            </a:r>
          </a:p>
          <a:p>
            <a:pPr marL="0" indent="0"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由此可见：原码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补码的结果如下：</a:t>
            </a:r>
          </a:p>
          <a:p>
            <a:pPr marL="0" indent="0"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　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6+4=10</a:t>
            </a:r>
          </a:p>
          <a:p>
            <a:pPr marL="0" indent="0"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　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64+36=100</a:t>
            </a:r>
          </a:p>
          <a:p>
            <a:pPr marL="0" indent="0"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　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642+358=1000</a:t>
            </a:r>
          </a:p>
          <a:p>
            <a:pPr marL="0" indent="0"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即原码与补码互相补充而能得到一个进位数：</a:t>
            </a:r>
          </a:p>
          <a:p>
            <a:pPr marL="0" indent="0"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位数的原码加补码得到的是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marL="0" indent="0"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位数的原码加补码得到的是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marL="0" indent="0"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位数的原码加补码得到的是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90135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088B91A-8318-47A1-8C5E-24DC72F91A6C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04800" y="1143000"/>
            <a:ext cx="8382000" cy="5029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 以十进制数为例，利用补码而将减法运算转变成加法运算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例如：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73-15=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     15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的补码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 85</a:t>
            </a: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     73-15= 73+85=158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，把进位位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去掉，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     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73-15= 58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但是，在十进制中用电路由原码求补码不十分方便，所以没有人用这个规律去算减法。</a:t>
            </a:r>
          </a:p>
        </p:txBody>
      </p:sp>
    </p:spTree>
    <p:extLst>
      <p:ext uri="{BB962C8B-B14F-4D97-AF65-F5344CB8AC3E}">
        <p14:creationId xmlns:p14="http://schemas.microsoft.com/office/powerpoint/2010/main" val="1427544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90524" y="1504950"/>
            <a:ext cx="8524875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二进制数中，常用反码加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的方法来获得补码。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这在计算机中非常方便，因为二进制电路由原码求反码是很容易的，这在下面就会看到。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有了补码，就可以将减法变成加法来运算了。请看下面的例子。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【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1.12】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求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Y=8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(10)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-4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(10)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=?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解：因为　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A=8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(10)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=1000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　  　　　　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B=4(10)=0100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则　　　　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B′=1011+1=1100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3838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2209800" y="247648"/>
            <a:ext cx="4819650" cy="640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于是　　 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Y=A-B</a:t>
            </a:r>
          </a:p>
          <a:p>
            <a:pPr eaLnBrk="1" hangingPunct="1"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　　　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=A+B′</a:t>
            </a:r>
          </a:p>
          <a:p>
            <a:pPr eaLnBrk="1" hangingPunct="1"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　　　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=1000+1100</a:t>
            </a:r>
          </a:p>
          <a:p>
            <a:pPr eaLnBrk="1" hangingPunct="1"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　　　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0100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　　　　</a:t>
            </a:r>
          </a:p>
          <a:p>
            <a:pPr eaLnBrk="1" hangingPunct="1"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　　　　　　　进位，应舍去</a:t>
            </a:r>
          </a:p>
          <a:p>
            <a:pPr eaLnBrk="1" hangingPunct="1"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　　　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=0100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=4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(10)</a:t>
            </a:r>
          </a:p>
          <a:p>
            <a:pPr eaLnBrk="1" hangingPunct="1">
              <a:buFontTx/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1.13】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Y=F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(H)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-A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(H)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=?(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15(D) -10(D) )</a:t>
            </a:r>
          </a:p>
          <a:p>
            <a:pPr eaLnBrk="1" hangingPunct="1"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设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A=F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(H)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=1111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(B)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=15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(D)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B=A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(H)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=1010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(B)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=10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(D)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则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B′=0101+1=0110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(B)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所以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Y=1111+0110</a:t>
            </a:r>
          </a:p>
          <a:p>
            <a:pPr>
              <a:buNone/>
            </a:pPr>
            <a:r>
              <a:rPr lang="zh-CN" altLang="en-US" sz="2000" dirty="0"/>
              <a:t>　　</a:t>
            </a:r>
            <a:r>
              <a:rPr lang="en-US" altLang="zh-CN" sz="2000" dirty="0"/>
              <a:t>= 1</a:t>
            </a:r>
            <a:r>
              <a:rPr lang="zh-CN" altLang="en-US" sz="2000" dirty="0"/>
              <a:t>　　</a:t>
            </a:r>
            <a:r>
              <a:rPr lang="en-US" altLang="zh-CN" sz="2000" dirty="0"/>
              <a:t>0101</a:t>
            </a:r>
          </a:p>
          <a:p>
            <a:pPr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进位，舍去</a:t>
            </a:r>
          </a:p>
          <a:p>
            <a:pPr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 0101(B)(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结果为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5)</a:t>
            </a:r>
          </a:p>
          <a:p>
            <a:pPr eaLnBrk="1" hangingPunct="1">
              <a:buFontTx/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0419" name="Group 6"/>
          <p:cNvGrpSpPr>
            <a:grpSpLocks/>
          </p:cNvGrpSpPr>
          <p:nvPr/>
        </p:nvGrpSpPr>
        <p:grpSpPr bwMode="auto">
          <a:xfrm>
            <a:off x="3076575" y="5638800"/>
            <a:ext cx="276225" cy="314325"/>
            <a:chOff x="1728" y="1632"/>
            <a:chExt cx="240" cy="240"/>
          </a:xfrm>
        </p:grpSpPr>
        <p:sp>
          <p:nvSpPr>
            <p:cNvPr id="60420" name="Line 4"/>
            <p:cNvSpPr>
              <a:spLocks noChangeShapeType="1"/>
            </p:cNvSpPr>
            <p:nvPr/>
          </p:nvSpPr>
          <p:spPr bwMode="auto">
            <a:xfrm rot="10800000">
              <a:off x="1728" y="1632"/>
              <a:ext cx="0" cy="24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421" name="Line 5"/>
            <p:cNvSpPr>
              <a:spLocks noChangeShapeType="1"/>
            </p:cNvSpPr>
            <p:nvPr/>
          </p:nvSpPr>
          <p:spPr bwMode="auto">
            <a:xfrm>
              <a:off x="1728" y="1872"/>
              <a:ext cx="24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4029075" y="1828800"/>
            <a:ext cx="257175" cy="228600"/>
            <a:chOff x="1728" y="1632"/>
            <a:chExt cx="240" cy="240"/>
          </a:xfrm>
        </p:grpSpPr>
        <p:sp>
          <p:nvSpPr>
            <p:cNvPr id="7" name="Line 4"/>
            <p:cNvSpPr>
              <a:spLocks noChangeShapeType="1"/>
            </p:cNvSpPr>
            <p:nvPr/>
          </p:nvSpPr>
          <p:spPr bwMode="auto">
            <a:xfrm rot="10800000">
              <a:off x="1728" y="1632"/>
              <a:ext cx="0" cy="24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1728" y="1872"/>
              <a:ext cx="24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3345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62100" y="479425"/>
            <a:ext cx="66008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1.2.7  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可控反相器及加法／减法电路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230312"/>
            <a:ext cx="8010525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eaLnBrk="1" hangingPunct="1">
              <a:buFontTx/>
              <a:buNone/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    补码可将减法运算变为加法运算，因此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需要这样一个电路：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它能将原码变成反码，并使其最低位加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64516" name="Text Box 3"/>
          <p:cNvSpPr txBox="1">
            <a:spLocks noChangeArrowheads="1"/>
          </p:cNvSpPr>
          <p:nvPr/>
        </p:nvSpPr>
        <p:spPr bwMode="auto">
          <a:xfrm>
            <a:off x="674732" y="5638950"/>
            <a:ext cx="30781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1.5   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可控反相器</a:t>
            </a:r>
            <a:endParaRPr lang="en-US" altLang="zh-CN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4517" name="Picture 5" descr="图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3" b="3175"/>
          <a:stretch>
            <a:fillRect/>
          </a:stretch>
        </p:blipFill>
        <p:spPr bwMode="auto">
          <a:xfrm>
            <a:off x="1044666" y="2324100"/>
            <a:ext cx="2155734" cy="305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矩形 5"/>
          <p:cNvSpPr>
            <a:spLocks noChangeArrowheads="1"/>
          </p:cNvSpPr>
          <p:nvPr/>
        </p:nvSpPr>
        <p:spPr bwMode="auto">
          <a:xfrm>
            <a:off x="3886200" y="2644775"/>
            <a:ext cx="52578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可控反相器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可使原码变为反码。实际上是一个异或门，</a:t>
            </a:r>
            <a:r>
              <a:rPr lang="zh-CN" altLang="en-US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两输入端相同则输出为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，两者不同则输出为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e.g.     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B= 0 or 1</a:t>
            </a:r>
          </a:p>
          <a:p>
            <a:pPr eaLnBrk="1" hangingPunct="1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      SUB= 1</a:t>
            </a:r>
          </a:p>
        </p:txBody>
      </p:sp>
    </p:spTree>
    <p:extLst>
      <p:ext uri="{BB962C8B-B14F-4D97-AF65-F5344CB8AC3E}">
        <p14:creationId xmlns:p14="http://schemas.microsoft.com/office/powerpoint/2010/main" val="1671635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81000" y="1076325"/>
            <a:ext cx="8201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marL="0" eaLnBrk="1" hangingPunct="1">
              <a:lnSpc>
                <a:spcPct val="125000"/>
              </a:lnSpc>
              <a:buFontTx/>
              <a:buNone/>
            </a:pP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</a:rPr>
              <a:t>    利用这个特点，在图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</a:rPr>
              <a:t>1.4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</a:rPr>
              <a:t>位二进制数加法电路上增加</a:t>
            </a:r>
            <a:r>
              <a:rPr lang="en-US" altLang="zh-CN" sz="2000" b="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b="0" dirty="0">
                <a:latin typeface="楷体" panose="02010609060101010101" pitchFamily="49" charset="-122"/>
                <a:ea typeface="楷体" panose="02010609060101010101" pitchFamily="49" charset="-122"/>
              </a:rPr>
              <a:t>个可控反相器并将最低位的半加器也改用全加器，就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可以得到如图</a:t>
            </a: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1.6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位二进制数加法器／减法器电路了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b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该电路既可以作为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加法电路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SUB=0)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b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又可以作为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减法电路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SUB=1)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962025" y="6096000"/>
            <a:ext cx="7620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1.6 </a:t>
            </a:r>
            <a:r>
              <a:rPr lang="zh-CN" altLang="en-US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二进制补码加法器（</a:t>
            </a:r>
            <a:r>
              <a:rPr lang="en-US" altLang="zh-CN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SBU=0</a:t>
            </a:r>
            <a:r>
              <a:rPr lang="zh-CN" altLang="en-US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减法器（</a:t>
            </a:r>
            <a:r>
              <a:rPr lang="en-US" altLang="zh-CN" b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SBU=1)</a:t>
            </a:r>
            <a:endParaRPr lang="en-US" altLang="zh-CN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5540" name="Picture 5" descr="图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2984500"/>
            <a:ext cx="7620000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2289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52425" y="1304926"/>
            <a:ext cx="8382000" cy="539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如果有下面两个二进制数：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A=A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B=B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将这两个数的各位分别送入该电路的对应端，于是：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SUB=0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时，电路作加法运算：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A+B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SUB=1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时，电路作减法运算：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A-B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电路的原理如下：当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SUB=0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时，各位的可控反相器的输出与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的各位同相，所以图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1.4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的原理完全一样，各位均按位相加。结果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S=S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，而其和为：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S=C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63722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228600" y="1085850"/>
            <a:ext cx="883920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SUB=1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时，各位的反相器的输出与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的各位反相。注意，最右边第一位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S0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也是用全加器，其进位输入端与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SUB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端相连，因此其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=SUB=1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。所以此位相加即为：</a:t>
            </a:r>
          </a:p>
          <a:p>
            <a:pPr marL="0" indent="0" algn="ctr" eaLnBrk="1" hangingPunct="1"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+B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+1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其他各位为：</a:t>
            </a:r>
          </a:p>
          <a:p>
            <a:pPr marL="0" indent="0" algn="ctr" eaLnBrk="1" hangingPunct="1"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+B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+C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 eaLnBrk="1" hangingPunct="1"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+B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+C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 eaLnBrk="1" hangingPunct="1"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+B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+C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因此其总和输出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S=S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，即：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　　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S=A+B+1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　　 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=A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+B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+1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　　 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=A+B′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　　 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=A-B           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注意：若</a:t>
            </a: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C4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不等于</a:t>
            </a: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，则要被舍去。</a:t>
            </a:r>
          </a:p>
        </p:txBody>
      </p:sp>
      <p:sp>
        <p:nvSpPr>
          <p:cNvPr id="69635" name="Line 3"/>
          <p:cNvSpPr>
            <a:spLocks noChangeShapeType="1"/>
          </p:cNvSpPr>
          <p:nvPr/>
        </p:nvSpPr>
        <p:spPr bwMode="auto">
          <a:xfrm>
            <a:off x="4572000" y="182880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6" name="Line 4"/>
          <p:cNvSpPr>
            <a:spLocks noChangeShapeType="1"/>
          </p:cNvSpPr>
          <p:nvPr/>
        </p:nvSpPr>
        <p:spPr bwMode="auto">
          <a:xfrm>
            <a:off x="4572000" y="222885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7" name="Line 5"/>
          <p:cNvSpPr>
            <a:spLocks noChangeShapeType="1"/>
          </p:cNvSpPr>
          <p:nvPr/>
        </p:nvSpPr>
        <p:spPr bwMode="auto">
          <a:xfrm>
            <a:off x="4495800" y="358140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8" name="Line 6"/>
          <p:cNvSpPr>
            <a:spLocks noChangeShapeType="1"/>
          </p:cNvSpPr>
          <p:nvPr/>
        </p:nvSpPr>
        <p:spPr bwMode="auto">
          <a:xfrm>
            <a:off x="4495800" y="312420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9" name="Line 7"/>
          <p:cNvSpPr>
            <a:spLocks noChangeShapeType="1"/>
          </p:cNvSpPr>
          <p:nvPr/>
        </p:nvSpPr>
        <p:spPr bwMode="auto">
          <a:xfrm>
            <a:off x="2743200" y="453390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40" name="Line 8"/>
          <p:cNvSpPr>
            <a:spLocks noChangeShapeType="1"/>
          </p:cNvSpPr>
          <p:nvPr/>
        </p:nvSpPr>
        <p:spPr bwMode="auto">
          <a:xfrm>
            <a:off x="3000375" y="453390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41" name="Line 9"/>
          <p:cNvSpPr>
            <a:spLocks noChangeShapeType="1"/>
          </p:cNvSpPr>
          <p:nvPr/>
        </p:nvSpPr>
        <p:spPr bwMode="auto">
          <a:xfrm>
            <a:off x="3257550" y="453390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42" name="Line 10"/>
          <p:cNvSpPr>
            <a:spLocks noChangeShapeType="1"/>
          </p:cNvSpPr>
          <p:nvPr/>
        </p:nvSpPr>
        <p:spPr bwMode="auto">
          <a:xfrm>
            <a:off x="3524250" y="4533900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43" name="Line 7"/>
          <p:cNvSpPr>
            <a:spLocks noChangeShapeType="1"/>
          </p:cNvSpPr>
          <p:nvPr/>
        </p:nvSpPr>
        <p:spPr bwMode="auto">
          <a:xfrm>
            <a:off x="4495800" y="4048125"/>
            <a:ext cx="152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787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23849" y="1504950"/>
            <a:ext cx="8734425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3200" dirty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习题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1.4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补充：将下列各二进制数转换为十进制数和十六进制数。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(1) 1101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(2) 11010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(3) 110100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(4) 10101001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6810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1065</TotalTime>
  <Words>2996</Words>
  <Application>Microsoft Office PowerPoint</Application>
  <PresentationFormat>全屏显示(4:3)</PresentationFormat>
  <Paragraphs>277</Paragraphs>
  <Slides>33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等线</vt:lpstr>
      <vt:lpstr>楷体</vt:lpstr>
      <vt:lpstr>Arial</vt:lpstr>
      <vt:lpstr>Calibri</vt:lpstr>
      <vt:lpstr>Calibri Light</vt:lpstr>
      <vt:lpstr>Times New Roman</vt:lpstr>
      <vt:lpstr>Office 主题</vt:lpstr>
      <vt:lpstr>PowerPoint 演示文稿</vt:lpstr>
      <vt:lpstr>总  目  录</vt:lpstr>
      <vt:lpstr>1.1   数制 </vt:lpstr>
      <vt:lpstr>1.1.1  数制的基与权 </vt:lpstr>
      <vt:lpstr>PowerPoint 演示文稿</vt:lpstr>
      <vt:lpstr>PowerPoint 演示文稿</vt:lpstr>
      <vt:lpstr>1.1.4 数制的转换方法</vt:lpstr>
      <vt:lpstr>PowerPoint 演示文稿</vt:lpstr>
      <vt:lpstr>PowerPoint 演示文稿</vt:lpstr>
      <vt:lpstr>PowerPoint 演示文稿</vt:lpstr>
      <vt:lpstr>PowerPoint 演示文稿</vt:lpstr>
      <vt:lpstr>1.2   二进制数的运算及其加法电路 </vt:lpstr>
      <vt:lpstr>PowerPoint 演示文稿</vt:lpstr>
      <vt:lpstr>PowerPoint 演示文稿</vt:lpstr>
      <vt:lpstr>PowerPoint 演示文稿</vt:lpstr>
      <vt:lpstr>PowerPoint 演示文稿</vt:lpstr>
      <vt:lpstr>1.2.2   半加器电路</vt:lpstr>
      <vt:lpstr>PowerPoint 演示文稿</vt:lpstr>
      <vt:lpstr>PowerPoint 演示文稿</vt:lpstr>
      <vt:lpstr>1.4.3   全加器电路</vt:lpstr>
      <vt:lpstr>1.2.4   半加器及全加器符号</vt:lpstr>
      <vt:lpstr>1.2.5   二进制数的加法电路</vt:lpstr>
      <vt:lpstr>PowerPoint 演示文稿</vt:lpstr>
      <vt:lpstr>1.4.6 二进制数的减法运算</vt:lpstr>
      <vt:lpstr>PowerPoint 演示文稿</vt:lpstr>
      <vt:lpstr>PowerPoint 演示文稿</vt:lpstr>
      <vt:lpstr>PowerPoint 演示文稿</vt:lpstr>
      <vt:lpstr>PowerPoint 演示文稿</vt:lpstr>
      <vt:lpstr>1.2.7   可控反相器及加法／减法电路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Enjia Deng</dc:creator>
  <cp:lastModifiedBy>陈 佩</cp:lastModifiedBy>
  <cp:revision>46</cp:revision>
  <dcterms:created xsi:type="dcterms:W3CDTF">2020-03-31T02:45:39Z</dcterms:created>
  <dcterms:modified xsi:type="dcterms:W3CDTF">2021-09-16T02:43:02Z</dcterms:modified>
</cp:coreProperties>
</file>