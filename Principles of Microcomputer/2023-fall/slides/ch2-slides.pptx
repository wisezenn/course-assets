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0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6" r:id="rId23"/>
    <p:sldId id="287" r:id="rId24"/>
    <p:sldId id="288" r:id="rId25"/>
    <p:sldId id="295" r:id="rId26"/>
    <p:sldId id="296" r:id="rId27"/>
    <p:sldId id="297" r:id="rId28"/>
    <p:sldId id="304" r:id="rId29"/>
    <p:sldId id="305" r:id="rId30"/>
    <p:sldId id="306" r:id="rId31"/>
    <p:sldId id="313" r:id="rId32"/>
    <p:sldId id="314" r:id="rId33"/>
    <p:sldId id="315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16" r:id="rId44"/>
    <p:sldId id="317" r:id="rId45"/>
    <p:sldId id="318" r:id="rId46"/>
    <p:sldId id="319" r:id="rId47"/>
    <p:sldId id="331" r:id="rId48"/>
    <p:sldId id="320" r:id="rId49"/>
    <p:sldId id="321" r:id="rId50"/>
    <p:sldId id="307" r:id="rId51"/>
    <p:sldId id="308" r:id="rId52"/>
    <p:sldId id="309" r:id="rId53"/>
    <p:sldId id="332" r:id="rId54"/>
    <p:sldId id="310" r:id="rId55"/>
    <p:sldId id="311" r:id="rId56"/>
    <p:sldId id="312" r:id="rId57"/>
    <p:sldId id="298" r:id="rId58"/>
    <p:sldId id="299" r:id="rId59"/>
    <p:sldId id="333" r:id="rId60"/>
    <p:sldId id="301" r:id="rId61"/>
    <p:sldId id="302" r:id="rId62"/>
    <p:sldId id="303" r:id="rId63"/>
    <p:sldId id="289" r:id="rId64"/>
    <p:sldId id="290" r:id="rId65"/>
    <p:sldId id="291" r:id="rId66"/>
    <p:sldId id="292" r:id="rId67"/>
    <p:sldId id="293" r:id="rId68"/>
    <p:sldId id="294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68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6518A-76D0-400C-8B2F-A195A725C5EF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40CB6-2EBE-49EC-930E-2E0D1B5AE8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24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315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130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4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1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6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4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775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53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8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059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145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718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41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263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2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26606-9BAD-42CC-8403-7B224A35E75E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5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50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62797" y="379705"/>
            <a:ext cx="7550459" cy="7858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3200" dirty="0"/>
              <a:t>　第</a:t>
            </a:r>
            <a:r>
              <a:rPr lang="en-US" altLang="zh-CN" sz="3200" dirty="0"/>
              <a:t>2</a:t>
            </a:r>
            <a:r>
              <a:rPr lang="zh-CN" altLang="en-US" sz="3200" dirty="0"/>
              <a:t>章　微型计算机的基本组成电路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89499" y="3446755"/>
            <a:ext cx="8153400" cy="30718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b="1" kern="0"/>
            </a:lvl1pPr>
          </a:lstStyle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　算术逻辑单元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  (</a:t>
            </a:r>
            <a:r>
              <a:rPr lang="en-US" altLang="zh-CN" sz="2400" b="0" dirty="0" err="1">
                <a:latin typeface="楷体" panose="02010609060101010101" pitchFamily="49" charset="-122"/>
                <a:ea typeface="楷体" panose="02010609060101010101" pitchFamily="49" charset="-122"/>
              </a:rPr>
              <a:t>Arithmatic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 Logical Unit)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　触发器 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(Trigger)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2.3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　寄存器 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(Register)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　三态输出电路</a:t>
            </a:r>
          </a:p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　总线结构</a:t>
            </a:r>
            <a:endParaRPr lang="en-US" altLang="zh-CN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2.6  </a:t>
            </a:r>
            <a:r>
              <a:rPr lang="zh-CN" altLang="en-US" sz="2400" b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译码器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2.7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　存储器 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</a:rPr>
              <a:t>(Memory)</a:t>
            </a: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0C9BDD-7E65-45CA-9CEB-835D2E34E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99" y="1375068"/>
            <a:ext cx="8887657" cy="16525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indent="504000" eaLnBrk="1" hangingPunct="1">
              <a:spcAft>
                <a:spcPts val="600"/>
              </a:spcAft>
              <a:defRPr/>
            </a:pP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任何一个复杂的电路系统通常都是由一些典型的电路组成，这些典型电路在整体电路系统中称为</a:t>
            </a:r>
            <a:r>
              <a:rPr lang="zh-CN" altLang="en-US" sz="2400" kern="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基本电路部件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indent="504000" eaLnBrk="1" hangingPunct="1">
              <a:defRPr/>
            </a:pP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常见的基本电路：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算术逻辑单元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kern="0" dirty="0" err="1">
                <a:latin typeface="楷体" panose="02010609060101010101" pitchFamily="49" charset="-122"/>
                <a:ea typeface="楷体" panose="02010609060101010101" pitchFamily="49" charset="-122"/>
              </a:rPr>
              <a:t>Arithmatic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 Logical Unit)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触发器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(trigger)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(register)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(memory)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结构。</a:t>
            </a:r>
          </a:p>
        </p:txBody>
      </p:sp>
    </p:spTree>
    <p:extLst>
      <p:ext uri="{BB962C8B-B14F-4D97-AF65-F5344CB8AC3E}">
        <p14:creationId xmlns:p14="http://schemas.microsoft.com/office/powerpoint/2010/main" val="273599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2044083" y="591845"/>
            <a:ext cx="5333260" cy="52674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z="2800" dirty="0"/>
              <a:t>2.1   </a:t>
            </a:r>
            <a:r>
              <a:rPr lang="zh-CN" altLang="en-US" sz="2800" dirty="0"/>
              <a:t>算术逻辑</a:t>
            </a:r>
            <a:r>
              <a:rPr lang="zh-CN" altLang="en-US" sz="2800" dirty="0" smtClean="0"/>
              <a:t>单元（</a:t>
            </a:r>
            <a:r>
              <a:rPr lang="en-US" altLang="zh-CN" sz="2800" dirty="0" smtClean="0"/>
              <a:t>ALU</a:t>
            </a:r>
            <a:r>
              <a:rPr lang="zh-CN" altLang="en-US" sz="2800" dirty="0" smtClean="0"/>
              <a:t>）</a:t>
            </a:r>
            <a:r>
              <a:rPr lang="zh-CN" altLang="en-US" sz="2800" dirty="0"/>
              <a:t/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85800" y="1785937"/>
            <a:ext cx="7772400" cy="386026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功能</a:t>
            </a:r>
            <a:r>
              <a:rPr lang="zh-CN" altLang="en-US" dirty="0"/>
              <a:t>：既能进行二进制数的四则运算，也能进行布尔代数的逻辑运算。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zh-CN" altLang="en-US" dirty="0" smtClean="0"/>
              <a:t>二进制数</a:t>
            </a:r>
            <a:r>
              <a:rPr lang="zh-CN" altLang="en-US" dirty="0"/>
              <a:t>的运算电路</a:t>
            </a:r>
            <a:r>
              <a:rPr lang="en-US" altLang="zh-CN" dirty="0"/>
              <a:t>“</a:t>
            </a:r>
            <a:r>
              <a:rPr lang="zh-CN" altLang="en-US" dirty="0"/>
              <a:t>只能</a:t>
            </a:r>
            <a:r>
              <a:rPr lang="en-US" altLang="zh-CN" dirty="0"/>
              <a:t>” </a:t>
            </a:r>
            <a:r>
              <a:rPr lang="zh-CN" altLang="en-US" dirty="0"/>
              <a:t>算加法。利用补码可将减法运算转换成加法运算。利用适当的软件配合，乘法也可以变成加法来运算，除法也可变成减法来运算。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zh-CN" altLang="en-US" dirty="0"/>
              <a:t>如果在这个基础上，增加一些门电路，也可使算术逻辑单元进行简单的</a:t>
            </a:r>
            <a:r>
              <a:rPr lang="zh-CN" altLang="en-US" dirty="0">
                <a:solidFill>
                  <a:srgbClr val="FF0000"/>
                </a:solidFill>
              </a:rPr>
              <a:t>逻辑运算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0526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-1" y="5244733"/>
            <a:ext cx="5566299" cy="83099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/>
              <a:t>2.1  </a:t>
            </a:r>
            <a:r>
              <a:rPr lang="zh-CN" altLang="en-US" dirty="0"/>
              <a:t>算术逻辑单位（</a:t>
            </a:r>
            <a:r>
              <a:rPr lang="en-US" altLang="zh-CN" dirty="0"/>
              <a:t>ALU)</a:t>
            </a:r>
            <a:r>
              <a:rPr lang="zh-CN" altLang="en-US" dirty="0"/>
              <a:t>的符号</a:t>
            </a:r>
            <a:endParaRPr lang="en-US" altLang="zh-CN" dirty="0"/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49" y="1755929"/>
            <a:ext cx="3663981" cy="3194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5072063" y="2182813"/>
            <a:ext cx="3965405" cy="24622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indent="504000">
              <a:spcAft>
                <a:spcPts val="600"/>
              </a:spcAft>
            </a:pP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B(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：为二进制数</a:t>
            </a:r>
            <a:endParaRPr lang="en-US" altLang="zh-CN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504000">
              <a:spcAft>
                <a:spcPts val="600"/>
              </a:spcAft>
            </a:pP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S(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：输出运算结果</a:t>
            </a:r>
            <a:endParaRPr lang="en-US" altLang="zh-CN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504000">
              <a:spcAft>
                <a:spcPts val="600"/>
              </a:spcAft>
            </a:pP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Control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：为控制信号      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(e.g.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1.9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的控制线端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SUB)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7676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2531245" y="476435"/>
            <a:ext cx="4081509" cy="60664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z="3200" dirty="0"/>
              <a:t>2.2   </a:t>
            </a:r>
            <a:r>
              <a:rPr lang="zh-CN" altLang="en-US" sz="3200" dirty="0"/>
              <a:t>触发器</a:t>
            </a:r>
            <a:br>
              <a:rPr lang="zh-CN" altLang="en-US" sz="3200" dirty="0"/>
            </a:br>
            <a:endParaRPr lang="zh-CN" altLang="en-US" sz="32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85800" y="1540276"/>
            <a:ext cx="8023194" cy="42124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8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触发器</a:t>
            </a:r>
            <a:r>
              <a:rPr lang="en-US" altLang="zh-CN" dirty="0">
                <a:solidFill>
                  <a:srgbClr val="FF0000"/>
                </a:solidFill>
              </a:rPr>
              <a:t>(trigger)</a:t>
            </a:r>
            <a:r>
              <a:rPr lang="zh-CN" altLang="en-US" dirty="0"/>
              <a:t>是计算机记忆装置的基本单元。</a:t>
            </a:r>
            <a:r>
              <a:rPr lang="zh-CN" altLang="en-US" dirty="0">
                <a:solidFill>
                  <a:srgbClr val="00B0F0"/>
                </a:solidFill>
              </a:rPr>
              <a:t>触发器可以组成寄存器，寄存器可以组成存储器。寄存器和存储器统称为计算机的记忆装置。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触发器的类型：</a:t>
            </a:r>
            <a:r>
              <a:rPr lang="en-US" altLang="zh-CN" dirty="0">
                <a:solidFill>
                  <a:srgbClr val="FF0000"/>
                </a:solidFill>
              </a:rPr>
              <a:t>RS</a:t>
            </a:r>
            <a:r>
              <a:rPr lang="zh-CN" altLang="en-US" dirty="0">
                <a:solidFill>
                  <a:srgbClr val="FF0000"/>
                </a:solidFill>
              </a:rPr>
              <a:t>触发器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>
                <a:solidFill>
                  <a:srgbClr val="FF0000"/>
                </a:solidFill>
              </a:rPr>
              <a:t>触发器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JK</a:t>
            </a:r>
            <a:r>
              <a:rPr lang="zh-CN" altLang="en-US" dirty="0">
                <a:solidFill>
                  <a:srgbClr val="FF0000"/>
                </a:solidFill>
              </a:rPr>
              <a:t>触发器</a:t>
            </a:r>
            <a:r>
              <a:rPr lang="zh-CN" altLang="en-US" dirty="0"/>
              <a:t>，这些触发器是计算机中最常见的基本元件。</a:t>
            </a:r>
          </a:p>
        </p:txBody>
      </p:sp>
    </p:spTree>
    <p:extLst>
      <p:ext uri="{BB962C8B-B14F-4D97-AF65-F5344CB8AC3E}">
        <p14:creationId xmlns:p14="http://schemas.microsoft.com/office/powerpoint/2010/main" val="199648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 txBox="1">
            <a:spLocks noChangeArrowheads="1"/>
          </p:cNvSpPr>
          <p:nvPr/>
        </p:nvSpPr>
        <p:spPr bwMode="auto">
          <a:xfrm>
            <a:off x="2286000" y="543149"/>
            <a:ext cx="4365594" cy="45070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z="2800" dirty="0"/>
              <a:t>2.2.1   RS</a:t>
            </a:r>
            <a:r>
              <a:rPr lang="zh-CN" altLang="en-US" sz="2800" dirty="0"/>
              <a:t>触发器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811567" y="1324515"/>
            <a:ext cx="7772400" cy="16240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/>
              <a:t>RS</a:t>
            </a:r>
            <a:r>
              <a:rPr lang="zh-CN" altLang="en-US" dirty="0"/>
              <a:t>触发器可以用两个与非门来组成，如图</a:t>
            </a:r>
            <a:r>
              <a:rPr lang="en-US" altLang="zh-CN" dirty="0"/>
              <a:t>2.2</a:t>
            </a:r>
            <a:r>
              <a:rPr lang="zh-CN" altLang="en-US" dirty="0"/>
              <a:t>所示。当</a:t>
            </a:r>
            <a:r>
              <a:rPr lang="en-US" altLang="zh-CN" dirty="0"/>
              <a:t>S=1</a:t>
            </a:r>
            <a:r>
              <a:rPr lang="zh-CN" altLang="en-US" dirty="0"/>
              <a:t>而</a:t>
            </a:r>
            <a:r>
              <a:rPr lang="en-US" altLang="zh-CN" dirty="0"/>
              <a:t>R=0</a:t>
            </a:r>
            <a:r>
              <a:rPr lang="zh-CN" altLang="en-US" dirty="0"/>
              <a:t>时，</a:t>
            </a:r>
            <a:r>
              <a:rPr lang="en-US" altLang="zh-CN" dirty="0"/>
              <a:t>Q=1(Q=0)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FF0000"/>
                </a:solidFill>
              </a:rPr>
              <a:t>置位</a:t>
            </a:r>
            <a:r>
              <a:rPr lang="zh-CN" altLang="en-US" dirty="0"/>
              <a:t>；当</a:t>
            </a:r>
            <a:r>
              <a:rPr lang="en-US" altLang="zh-CN" dirty="0"/>
              <a:t>S=0</a:t>
            </a:r>
            <a:r>
              <a:rPr lang="zh-CN" altLang="en-US" dirty="0"/>
              <a:t>而</a:t>
            </a:r>
            <a:r>
              <a:rPr lang="en-US" altLang="zh-CN" dirty="0"/>
              <a:t>R=1</a:t>
            </a:r>
            <a:r>
              <a:rPr lang="zh-CN" altLang="en-US" dirty="0"/>
              <a:t>时，</a:t>
            </a:r>
            <a:r>
              <a:rPr lang="en-US" altLang="zh-CN" dirty="0"/>
              <a:t>Q=0(Q=1)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FF0000"/>
                </a:solidFill>
              </a:rPr>
              <a:t>复位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453303" y="2578963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3602115" y="2055920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649545" y="5615657"/>
            <a:ext cx="4096443" cy="46166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 smtClean="0"/>
              <a:t>2.2 RS</a:t>
            </a:r>
            <a:r>
              <a:rPr lang="zh-CN" altLang="en-US" dirty="0" smtClean="0"/>
              <a:t>触发器原理图</a:t>
            </a:r>
            <a:endParaRPr lang="en-US" altLang="zh-CN" dirty="0"/>
          </a:p>
        </p:txBody>
      </p:sp>
      <p:grpSp>
        <p:nvGrpSpPr>
          <p:cNvPr id="12" name="组合 11"/>
          <p:cNvGrpSpPr/>
          <p:nvPr/>
        </p:nvGrpSpPr>
        <p:grpSpPr>
          <a:xfrm>
            <a:off x="3022847" y="3279193"/>
            <a:ext cx="3191523" cy="2165285"/>
            <a:chOff x="3022847" y="3279193"/>
            <a:chExt cx="3191523" cy="2165285"/>
          </a:xfrm>
        </p:grpSpPr>
        <p:pic>
          <p:nvPicPr>
            <p:cNvPr id="7" name="Picture 8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2847" y="3279193"/>
              <a:ext cx="3191523" cy="2165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0169" y="3432314"/>
              <a:ext cx="261946" cy="24761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0144" y="5045213"/>
              <a:ext cx="295238" cy="24761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1744" y="3660979"/>
              <a:ext cx="200885" cy="24761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9499" y="4953569"/>
              <a:ext cx="165374" cy="247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609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790259" y="5695750"/>
            <a:ext cx="3019540" cy="5597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indent="0"/>
            <a:r>
              <a:rPr lang="zh-CN" altLang="en-US" dirty="0"/>
              <a:t>图</a:t>
            </a:r>
            <a:r>
              <a:rPr lang="en-US" altLang="zh-CN" dirty="0" smtClean="0"/>
              <a:t>2.3 RS</a:t>
            </a:r>
            <a:r>
              <a:rPr lang="zh-CN" altLang="en-US" dirty="0" smtClean="0"/>
              <a:t>触发器符号</a:t>
            </a:r>
            <a:endParaRPr lang="en-US" altLang="zh-CN" dirty="0"/>
          </a:p>
        </p:txBody>
      </p:sp>
      <p:pic>
        <p:nvPicPr>
          <p:cNvPr id="3" name="Picture 9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029" y="3908810"/>
            <a:ext cx="38100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8555E3C-6C7C-4235-991A-B26225A27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42999"/>
            <a:ext cx="7772400" cy="244357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为了作图方便，以后我们就只用方块来表示，如图</a:t>
            </a:r>
            <a:r>
              <a:rPr lang="en-US" altLang="zh-CN" dirty="0"/>
              <a:t>2.3</a:t>
            </a:r>
            <a:r>
              <a:rPr lang="zh-CN" altLang="en-US" dirty="0"/>
              <a:t>就是</a:t>
            </a:r>
            <a:r>
              <a:rPr lang="en-US" altLang="zh-CN" dirty="0"/>
              <a:t>RS</a:t>
            </a:r>
            <a:r>
              <a:rPr lang="zh-CN" altLang="en-US" dirty="0"/>
              <a:t>触发器的符号。</a:t>
            </a:r>
          </a:p>
          <a:p>
            <a:r>
              <a:rPr lang="en-US" altLang="zh-CN" dirty="0"/>
              <a:t>S</a:t>
            </a:r>
            <a:r>
              <a:rPr lang="zh-CN" altLang="en-US" dirty="0"/>
              <a:t>端一般称为置位端，使</a:t>
            </a:r>
            <a:r>
              <a:rPr lang="en-US" altLang="zh-CN" dirty="0"/>
              <a:t>Q=1(Q=0)</a:t>
            </a:r>
            <a:r>
              <a:rPr lang="zh-CN" altLang="en-US" dirty="0"/>
              <a:t>，</a:t>
            </a:r>
          </a:p>
          <a:p>
            <a:r>
              <a:rPr lang="en-US" altLang="zh-CN" dirty="0"/>
              <a:t>R</a:t>
            </a:r>
            <a:r>
              <a:rPr lang="zh-CN" altLang="en-US" dirty="0"/>
              <a:t>端一般称为复位端，使</a:t>
            </a:r>
            <a:r>
              <a:rPr lang="en-US" altLang="zh-CN" dirty="0"/>
              <a:t>Q=0(Q=1)</a:t>
            </a:r>
            <a:r>
              <a:rPr lang="zh-CN" altLang="en-US" dirty="0"/>
              <a:t>。</a:t>
            </a:r>
          </a:p>
          <a:p>
            <a:endParaRPr lang="en-US" altLang="zh-CN" dirty="0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5160963" y="2510130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5160963" y="3143250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290" y="4081158"/>
            <a:ext cx="209524" cy="10571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135" y="4081157"/>
            <a:ext cx="209524" cy="105714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2412785" y="3918383"/>
            <a:ext cx="3810000" cy="1581150"/>
            <a:chOff x="2412785" y="3918383"/>
            <a:chExt cx="3810000" cy="1581150"/>
          </a:xfrm>
        </p:grpSpPr>
        <p:pic>
          <p:nvPicPr>
            <p:cNvPr id="9" name="Picture 9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2785" y="3918383"/>
              <a:ext cx="3810000" cy="158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8046" y="4090731"/>
              <a:ext cx="209524" cy="105714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5891" y="4090730"/>
              <a:ext cx="209524" cy="10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874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279966" y="5974082"/>
            <a:ext cx="3857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2.4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RS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触发器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C9A087-EB74-47D8-B725-BC19C165E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" y="1070314"/>
            <a:ext cx="7772400" cy="27860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B0F0"/>
                </a:solidFill>
              </a:rPr>
              <a:t>时标</a:t>
            </a:r>
            <a:r>
              <a:rPr lang="en-US" altLang="zh-CN" dirty="0">
                <a:solidFill>
                  <a:srgbClr val="00B0F0"/>
                </a:solidFill>
              </a:rPr>
              <a:t>RS</a:t>
            </a:r>
            <a:r>
              <a:rPr lang="zh-CN" altLang="en-US" dirty="0">
                <a:solidFill>
                  <a:srgbClr val="00B0F0"/>
                </a:solidFill>
              </a:rPr>
              <a:t>触发器</a:t>
            </a:r>
            <a:r>
              <a:rPr lang="en-US" altLang="zh-CN" dirty="0"/>
              <a:t>——</a:t>
            </a:r>
            <a:r>
              <a:rPr lang="zh-CN" altLang="en-US" dirty="0"/>
              <a:t>为了使触发器在整个机器中能和其他部件协调工作，</a:t>
            </a:r>
            <a:r>
              <a:rPr lang="en-US" altLang="zh-CN" dirty="0"/>
              <a:t>RS</a:t>
            </a:r>
            <a:r>
              <a:rPr lang="zh-CN" altLang="en-US" dirty="0"/>
              <a:t>触发器经常有外加的时标脉冲，如图</a:t>
            </a:r>
            <a:r>
              <a:rPr lang="en-US" altLang="zh-CN" dirty="0"/>
              <a:t>2.4</a:t>
            </a:r>
            <a:r>
              <a:rPr lang="zh-CN" altLang="en-US" dirty="0"/>
              <a:t>所示。此图中的</a:t>
            </a:r>
            <a:r>
              <a:rPr lang="en-US" altLang="zh-CN" dirty="0"/>
              <a:t>CLK</a:t>
            </a:r>
            <a:r>
              <a:rPr lang="zh-CN" altLang="en-US" dirty="0"/>
              <a:t>即为时标脉冲。它与置位信号脉冲</a:t>
            </a:r>
            <a:r>
              <a:rPr lang="en-US" altLang="zh-CN" dirty="0"/>
              <a:t>S</a:t>
            </a:r>
            <a:r>
              <a:rPr lang="zh-CN" altLang="en-US" dirty="0"/>
              <a:t>同时加到一个与门的两个输入端；而与复位信号脉冲同时加到另一个与门的两个输入端。这样，</a:t>
            </a:r>
            <a:r>
              <a:rPr lang="zh-CN" altLang="en-US" dirty="0">
                <a:solidFill>
                  <a:srgbClr val="FF0000"/>
                </a:solidFill>
              </a:rPr>
              <a:t>无论是置位还是复位，都必须在时标脉冲端为高电位时才能进行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087778" y="4263142"/>
            <a:ext cx="4242000" cy="1710940"/>
            <a:chOff x="2087778" y="4263142"/>
            <a:chExt cx="4242000" cy="1710940"/>
          </a:xfrm>
        </p:grpSpPr>
        <p:pic>
          <p:nvPicPr>
            <p:cNvPr id="3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7778" y="4263142"/>
              <a:ext cx="4242000" cy="1710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6172" y="4576841"/>
              <a:ext cx="200000" cy="990476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6243" y="4605618"/>
              <a:ext cx="200000" cy="990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129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434563" y="311874"/>
            <a:ext cx="3753035" cy="5977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z="2800" dirty="0"/>
              <a:t>2.2.2   D</a:t>
            </a:r>
            <a:r>
              <a:rPr lang="zh-CN" altLang="en-US" sz="2800" dirty="0"/>
              <a:t>触发器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52496" y="1075840"/>
            <a:ext cx="7772400" cy="31623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>
                <a:solidFill>
                  <a:srgbClr val="0070C0"/>
                </a:solidFill>
              </a:rPr>
              <a:t>D</a:t>
            </a:r>
            <a:r>
              <a:rPr lang="zh-CN" altLang="en-US" dirty="0">
                <a:solidFill>
                  <a:srgbClr val="0070C0"/>
                </a:solidFill>
              </a:rPr>
              <a:t>触发器是在</a:t>
            </a:r>
            <a:r>
              <a:rPr lang="en-US" altLang="zh-CN" dirty="0">
                <a:solidFill>
                  <a:srgbClr val="0070C0"/>
                </a:solidFill>
              </a:rPr>
              <a:t>RS</a:t>
            </a:r>
            <a:r>
              <a:rPr lang="zh-CN" altLang="en-US" dirty="0">
                <a:solidFill>
                  <a:srgbClr val="0070C0"/>
                </a:solidFill>
              </a:rPr>
              <a:t>触发器的基础上引伸出来的，它只需一个输入端口</a:t>
            </a:r>
            <a:r>
              <a:rPr lang="zh-CN" altLang="en-US" dirty="0"/>
              <a:t>，图</a:t>
            </a:r>
            <a:r>
              <a:rPr lang="en-US" altLang="zh-CN" dirty="0"/>
              <a:t>2.5</a:t>
            </a:r>
            <a:r>
              <a:rPr lang="zh-CN" altLang="en-US" dirty="0"/>
              <a:t>就是</a:t>
            </a:r>
            <a:r>
              <a:rPr lang="en-US" altLang="zh-CN" dirty="0"/>
              <a:t>D</a:t>
            </a:r>
            <a:r>
              <a:rPr lang="zh-CN" altLang="en-US" dirty="0"/>
              <a:t>触发器的原理。当</a:t>
            </a:r>
            <a:r>
              <a:rPr lang="en-US" altLang="zh-CN" dirty="0"/>
              <a:t>D</a:t>
            </a:r>
            <a:r>
              <a:rPr lang="zh-CN" altLang="en-US" dirty="0"/>
              <a:t>端为高电位时，</a:t>
            </a:r>
            <a:r>
              <a:rPr lang="en-US" altLang="zh-CN" dirty="0"/>
              <a:t>S</a:t>
            </a:r>
            <a:r>
              <a:rPr lang="zh-CN" altLang="en-US" dirty="0"/>
              <a:t>端为高电位，而通过非门后加到</a:t>
            </a:r>
            <a:r>
              <a:rPr lang="en-US" altLang="zh-CN" dirty="0"/>
              <a:t>R</a:t>
            </a:r>
            <a:r>
              <a:rPr lang="zh-CN" altLang="en-US" dirty="0"/>
              <a:t>端的就是低电位，所以此时</a:t>
            </a:r>
            <a:r>
              <a:rPr lang="en-US" altLang="zh-CN" dirty="0"/>
              <a:t>Q</a:t>
            </a:r>
            <a:r>
              <a:rPr lang="zh-CN" altLang="en-US" dirty="0"/>
              <a:t>端就是高电位，称为</a:t>
            </a:r>
            <a:r>
              <a:rPr lang="zh-CN" altLang="en-US" dirty="0">
                <a:solidFill>
                  <a:srgbClr val="FF0000"/>
                </a:solidFill>
              </a:rPr>
              <a:t>置位</a:t>
            </a:r>
            <a:r>
              <a:rPr lang="zh-CN" altLang="en-US" dirty="0"/>
              <a:t>。当</a:t>
            </a:r>
            <a:r>
              <a:rPr lang="en-US" altLang="zh-CN" dirty="0"/>
              <a:t>D</a:t>
            </a:r>
            <a:r>
              <a:rPr lang="zh-CN" altLang="en-US" dirty="0"/>
              <a:t>端为低电位时，</a:t>
            </a:r>
            <a:r>
              <a:rPr lang="en-US" altLang="zh-CN" dirty="0"/>
              <a:t>S</a:t>
            </a:r>
            <a:r>
              <a:rPr lang="zh-CN" altLang="en-US" dirty="0"/>
              <a:t>端为低电位，同时</a:t>
            </a:r>
            <a:r>
              <a:rPr lang="en-US" altLang="zh-CN" dirty="0"/>
              <a:t>R</a:t>
            </a:r>
            <a:r>
              <a:rPr lang="zh-CN" altLang="en-US" dirty="0"/>
              <a:t>端变为高电位，所以</a:t>
            </a:r>
            <a:r>
              <a:rPr lang="en-US" altLang="zh-CN" dirty="0"/>
              <a:t>Q</a:t>
            </a:r>
            <a:r>
              <a:rPr lang="zh-CN" altLang="en-US" dirty="0"/>
              <a:t>端是低电位，称为</a:t>
            </a:r>
            <a:r>
              <a:rPr lang="zh-CN" altLang="en-US" dirty="0">
                <a:solidFill>
                  <a:srgbClr val="FF0000"/>
                </a:solidFill>
              </a:rPr>
              <a:t>复位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79317" y="6079773"/>
            <a:ext cx="4214813" cy="5597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/>
              <a:t>2.5  D</a:t>
            </a:r>
            <a:r>
              <a:rPr lang="zh-CN" altLang="en-US" dirty="0"/>
              <a:t>触发器的原理</a:t>
            </a:r>
            <a:endParaRPr lang="en-US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1902842" y="4404343"/>
            <a:ext cx="4816475" cy="1789112"/>
            <a:chOff x="1902842" y="4404343"/>
            <a:chExt cx="4816475" cy="1789112"/>
          </a:xfrm>
        </p:grpSpPr>
        <p:pic>
          <p:nvPicPr>
            <p:cNvPr id="5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2842" y="4404343"/>
              <a:ext cx="4816475" cy="178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8696" y="4570171"/>
              <a:ext cx="257143" cy="121904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7410" y="4546450"/>
              <a:ext cx="252411" cy="1219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412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067595" y="5857684"/>
            <a:ext cx="5272642" cy="5597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/>
              <a:t>2.6  </a:t>
            </a:r>
            <a:r>
              <a:rPr lang="zh-CN" altLang="en-US" dirty="0"/>
              <a:t>加时标的</a:t>
            </a:r>
            <a:r>
              <a:rPr lang="en-US" altLang="zh-CN" dirty="0"/>
              <a:t>D</a:t>
            </a:r>
            <a:r>
              <a:rPr lang="zh-CN" altLang="en-US" dirty="0"/>
              <a:t>触发器的电路</a:t>
            </a:r>
            <a:endParaRPr lang="en-US" altLang="zh-CN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31090" y="1438358"/>
            <a:ext cx="7858125" cy="166776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indent="504000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无时标的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触发器是不能协调运行的，图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2.6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所示是加时标的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触发器的电路。此图和图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的道理是一样的，也是增加两个与门就可以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接受时标脉冲</a:t>
            </a:r>
            <a:r>
              <a:rPr lang="en-US" altLang="zh-CN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的控制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889155" y="3754120"/>
            <a:ext cx="5541994" cy="1856568"/>
            <a:chOff x="1889155" y="3754120"/>
            <a:chExt cx="5541994" cy="1856568"/>
          </a:xfrm>
        </p:grpSpPr>
        <p:pic>
          <p:nvPicPr>
            <p:cNvPr id="3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9155" y="3754120"/>
              <a:ext cx="5541994" cy="185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26602" y="3983256"/>
              <a:ext cx="200000" cy="114285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6631" y="4002145"/>
              <a:ext cx="200000" cy="11428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717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47602" y="999062"/>
            <a:ext cx="8382000" cy="347528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5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dirty="0"/>
              <a:t>时标脉冲</a:t>
            </a:r>
            <a:r>
              <a:rPr lang="en-US" altLang="zh-CN" dirty="0"/>
              <a:t>CLK</a:t>
            </a:r>
            <a:r>
              <a:rPr lang="zh-CN" altLang="en-US" dirty="0"/>
              <a:t>一般都是方波，在</a:t>
            </a:r>
            <a:r>
              <a:rPr lang="en-US" altLang="zh-CN" dirty="0"/>
              <a:t>CLK</a:t>
            </a:r>
            <a:r>
              <a:rPr lang="zh-CN" altLang="en-US" dirty="0"/>
              <a:t>处于正半周内的任何瞬间，触发器都</a:t>
            </a:r>
            <a:r>
              <a:rPr lang="zh-CN" altLang="en-US" dirty="0" smtClean="0"/>
              <a:t>有触发的</a:t>
            </a:r>
            <a:r>
              <a:rPr lang="zh-CN" altLang="en-US" dirty="0"/>
              <a:t>可能。这样计算机的动作就</a:t>
            </a:r>
            <a:r>
              <a:rPr lang="zh-CN" altLang="en-US" dirty="0" smtClean="0"/>
              <a:t>不一定整齐划一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我们总是想由时标</a:t>
            </a:r>
            <a:r>
              <a:rPr lang="en-US" altLang="zh-CN" dirty="0"/>
              <a:t>CLK</a:t>
            </a:r>
            <a:r>
              <a:rPr lang="zh-CN" altLang="en-US" dirty="0"/>
              <a:t>来指挥整个机器的行动。因此，</a:t>
            </a:r>
            <a:r>
              <a:rPr lang="zh-CN" altLang="en-US" dirty="0">
                <a:solidFill>
                  <a:srgbClr val="FF0000"/>
                </a:solidFill>
              </a:rPr>
              <a:t>采用时标边缘触发（上升或下降沿触发）的方式就可以得到准确划一的动作</a:t>
            </a:r>
            <a:r>
              <a:rPr lang="zh-CN" altLang="en-US" dirty="0"/>
              <a:t>。如图</a:t>
            </a:r>
            <a:r>
              <a:rPr lang="en-US" altLang="zh-CN" dirty="0"/>
              <a:t>2.7</a:t>
            </a:r>
            <a:r>
              <a:rPr lang="zh-CN" altLang="en-US" dirty="0"/>
              <a:t>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187450" y="6093410"/>
            <a:ext cx="7000875" cy="4766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/>
              <a:t>2.7   </a:t>
            </a:r>
            <a:r>
              <a:rPr lang="zh-CN" altLang="en-US" dirty="0"/>
              <a:t>边缘触发的</a:t>
            </a:r>
            <a:r>
              <a:rPr lang="en-US" altLang="zh-CN" dirty="0"/>
              <a:t>D</a:t>
            </a:r>
            <a:r>
              <a:rPr lang="zh-CN" altLang="en-US" dirty="0"/>
              <a:t>触发器的电路原理图</a:t>
            </a:r>
            <a:endParaRPr lang="en-US" altLang="zh-CN" dirty="0"/>
          </a:p>
        </p:txBody>
      </p:sp>
      <p:grpSp>
        <p:nvGrpSpPr>
          <p:cNvPr id="7" name="组合 6"/>
          <p:cNvGrpSpPr/>
          <p:nvPr/>
        </p:nvGrpSpPr>
        <p:grpSpPr>
          <a:xfrm>
            <a:off x="1350039" y="3838231"/>
            <a:ext cx="6249247" cy="1812282"/>
            <a:chOff x="1350039" y="3838231"/>
            <a:chExt cx="6249247" cy="1812282"/>
          </a:xfrm>
        </p:grpSpPr>
        <p:pic>
          <p:nvPicPr>
            <p:cNvPr id="4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0039" y="3838231"/>
              <a:ext cx="6249247" cy="1812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25043" y="4074536"/>
              <a:ext cx="161905" cy="95238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6821" y="4074536"/>
              <a:ext cx="161905" cy="952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373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61126" y="1255142"/>
            <a:ext cx="8423075" cy="285521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indent="0"/>
            <a:r>
              <a:rPr lang="zh-CN" altLang="en-US" sz="2000" dirty="0"/>
              <a:t>图</a:t>
            </a:r>
            <a:r>
              <a:rPr lang="en-US" altLang="zh-CN" sz="2000" dirty="0"/>
              <a:t>2.7</a:t>
            </a:r>
            <a:r>
              <a:rPr lang="zh-CN" altLang="en-US" sz="2000" dirty="0"/>
              <a:t>与</a:t>
            </a:r>
            <a:r>
              <a:rPr lang="en-US" altLang="zh-CN" sz="2000" dirty="0"/>
              <a:t>2.6</a:t>
            </a:r>
            <a:r>
              <a:rPr lang="zh-CN" altLang="en-US" sz="2000" dirty="0"/>
              <a:t>的区别：增加了一个</a:t>
            </a:r>
            <a:r>
              <a:rPr lang="en-US" altLang="zh-CN" sz="2000" dirty="0"/>
              <a:t>RC</a:t>
            </a:r>
            <a:r>
              <a:rPr lang="zh-CN" altLang="en-US" sz="2000" dirty="0"/>
              <a:t>微分电路</a:t>
            </a:r>
            <a:endParaRPr lang="en-US" altLang="zh-CN" sz="2000" dirty="0"/>
          </a:p>
          <a:p>
            <a:pPr indent="0"/>
            <a:r>
              <a:rPr lang="zh-CN" altLang="en-US" sz="2000" dirty="0"/>
              <a:t>功能：</a:t>
            </a:r>
            <a:r>
              <a:rPr lang="zh-CN" altLang="en-US" sz="2000" dirty="0">
                <a:solidFill>
                  <a:srgbClr val="FF0000"/>
                </a:solidFill>
              </a:rPr>
              <a:t>使方波电压信号的前沿产生正尖峰，后沿产生负尖峰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indent="0"/>
            <a:r>
              <a:rPr lang="zh-CN" altLang="en-US" sz="2000" dirty="0"/>
              <a:t>图</a:t>
            </a:r>
            <a:r>
              <a:rPr lang="en-US" altLang="zh-CN" sz="2000" dirty="0"/>
              <a:t>2.7</a:t>
            </a:r>
            <a:r>
              <a:rPr lang="zh-CN" altLang="en-US" sz="2000" dirty="0"/>
              <a:t>：在</a:t>
            </a:r>
            <a:r>
              <a:rPr lang="en-US" altLang="zh-CN" sz="2000" dirty="0"/>
              <a:t>D</a:t>
            </a:r>
            <a:r>
              <a:rPr lang="zh-CN" altLang="en-US" sz="2000" dirty="0"/>
              <a:t>端输入信号建立之后，当时标脉冲的前沿到达的瞬间，触发器产生翻转动作。如果</a:t>
            </a:r>
            <a:r>
              <a:rPr lang="en-US" altLang="zh-CN" sz="2000" dirty="0"/>
              <a:t>D</a:t>
            </a:r>
            <a:r>
              <a:rPr lang="zh-CN" altLang="en-US" sz="2000" dirty="0"/>
              <a:t>端的信号是在时标脉冲前沿到达之后才建立起来的，虽然仍在时标脉冲的正半周时间内，也不能影响触发器的状态，而必须留到下一个时标脉冲的正半周的前沿到达时才起作用。这样就可以使整个计算机运行在高度准确的协调节拍之中。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63888" y="5955033"/>
            <a:ext cx="3681983" cy="5606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indent="0"/>
            <a:r>
              <a:rPr lang="zh-CN" altLang="en-US" sz="2000" dirty="0"/>
              <a:t>图</a:t>
            </a:r>
            <a:r>
              <a:rPr lang="en-US" altLang="zh-CN" sz="2000" dirty="0"/>
              <a:t>2.6 </a:t>
            </a:r>
            <a:r>
              <a:rPr lang="zh-CN" altLang="en-US" sz="2000" dirty="0" smtClean="0"/>
              <a:t>加</a:t>
            </a:r>
            <a:r>
              <a:rPr lang="zh-CN" altLang="en-US" sz="2000" dirty="0"/>
              <a:t>时标的</a:t>
            </a:r>
            <a:r>
              <a:rPr lang="en-US" altLang="zh-CN" sz="2000" dirty="0"/>
              <a:t>D</a:t>
            </a:r>
            <a:r>
              <a:rPr lang="zh-CN" altLang="en-US" sz="2000" dirty="0"/>
              <a:t>触发器的电路</a:t>
            </a:r>
            <a:endParaRPr lang="en-US" altLang="zh-CN" sz="2000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043016" y="5955033"/>
            <a:ext cx="3941185" cy="60034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50400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indent="0"/>
            <a:r>
              <a:rPr lang="zh-CN" altLang="en-US" sz="2000" dirty="0"/>
              <a:t>图</a:t>
            </a:r>
            <a:r>
              <a:rPr lang="en-US" altLang="zh-CN" sz="2000" dirty="0"/>
              <a:t>2.7 </a:t>
            </a:r>
            <a:r>
              <a:rPr lang="zh-CN" altLang="en-US" sz="2000" dirty="0" smtClean="0"/>
              <a:t>边缘</a:t>
            </a:r>
            <a:r>
              <a:rPr lang="zh-CN" altLang="en-US" sz="2000" dirty="0"/>
              <a:t>触发的</a:t>
            </a:r>
            <a:r>
              <a:rPr lang="en-US" altLang="zh-CN" sz="2000" dirty="0"/>
              <a:t>D</a:t>
            </a:r>
            <a:r>
              <a:rPr lang="zh-CN" altLang="en-US" sz="2000" dirty="0"/>
              <a:t>触发器的电路</a:t>
            </a:r>
            <a:endParaRPr lang="en-US" altLang="zh-CN" sz="20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08967" y="4305077"/>
            <a:ext cx="4187825" cy="1439863"/>
            <a:chOff x="108967" y="4305077"/>
            <a:chExt cx="4187825" cy="1439863"/>
          </a:xfrm>
        </p:grpSpPr>
        <p:pic>
          <p:nvPicPr>
            <p:cNvPr id="4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967" y="4305077"/>
              <a:ext cx="4187825" cy="143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6908" y="4553472"/>
              <a:ext cx="123810" cy="219048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6908" y="5149206"/>
              <a:ext cx="123810" cy="21904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8234" y="4553467"/>
              <a:ext cx="123810" cy="21904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8234" y="5149203"/>
              <a:ext cx="123810" cy="219048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4429125" y="4246168"/>
            <a:ext cx="4714875" cy="1439863"/>
            <a:chOff x="4429125" y="4246168"/>
            <a:chExt cx="4714875" cy="1439863"/>
          </a:xfrm>
        </p:grpSpPr>
        <p:pic>
          <p:nvPicPr>
            <p:cNvPr id="6" name="Picture 5" descr="图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9125" y="4246168"/>
              <a:ext cx="4714875" cy="143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9323" y="4443943"/>
              <a:ext cx="123810" cy="219048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9323" y="4930155"/>
              <a:ext cx="123810" cy="219048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7851" y="4443943"/>
              <a:ext cx="123810" cy="21904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7851" y="4942118"/>
              <a:ext cx="123810" cy="219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409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50823" y="1036561"/>
            <a:ext cx="8659813" cy="21002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0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 smtClean="0"/>
              <a:t>    在</a:t>
            </a:r>
            <a:r>
              <a:rPr lang="zh-CN" altLang="en-US" sz="2400" dirty="0"/>
              <a:t>一些电路中，有时需要预先给某个触发器</a:t>
            </a:r>
            <a:r>
              <a:rPr lang="zh-CN" altLang="en-US" sz="2400" dirty="0">
                <a:solidFill>
                  <a:srgbClr val="FF0000"/>
                </a:solidFill>
              </a:rPr>
              <a:t>置位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即置</a:t>
            </a:r>
            <a:r>
              <a:rPr lang="en-US" altLang="zh-CN" sz="2400" dirty="0">
                <a:solidFill>
                  <a:srgbClr val="FF0000"/>
                </a:solidFill>
              </a:rPr>
              <a:t>1)</a:t>
            </a:r>
            <a:r>
              <a:rPr lang="zh-CN" altLang="en-US" sz="2400" dirty="0" smtClean="0"/>
              <a:t>或</a:t>
            </a:r>
            <a:r>
              <a:rPr lang="zh-CN" altLang="en-US" sz="2400" dirty="0" smtClean="0">
                <a:solidFill>
                  <a:srgbClr val="FF0000"/>
                </a:solidFill>
              </a:rPr>
              <a:t>复位</a:t>
            </a:r>
            <a:r>
              <a:rPr lang="en-US" altLang="zh-CN" sz="2400" dirty="0" smtClean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即置</a:t>
            </a:r>
            <a:r>
              <a:rPr lang="en-US" altLang="zh-CN" sz="2400" dirty="0" smtClean="0">
                <a:solidFill>
                  <a:srgbClr val="FF0000"/>
                </a:solidFill>
              </a:rPr>
              <a:t>0</a:t>
            </a:r>
            <a:r>
              <a:rPr lang="zh-CN" altLang="en-US" sz="2400" dirty="0" smtClean="0">
                <a:solidFill>
                  <a:srgbClr val="FF0000"/>
                </a:solidFill>
              </a:rPr>
              <a:t>或清零</a:t>
            </a:r>
            <a:r>
              <a:rPr lang="en-US" altLang="zh-CN" sz="2400" dirty="0" smtClean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，与时标脉冲</a:t>
            </a:r>
            <a:r>
              <a:rPr lang="en-US" altLang="zh-CN" sz="2400" dirty="0"/>
              <a:t>CLK</a:t>
            </a:r>
            <a:r>
              <a:rPr lang="zh-CN" altLang="en-US" sz="2400" dirty="0"/>
              <a:t>以及</a:t>
            </a:r>
            <a:r>
              <a:rPr lang="en-US" altLang="zh-CN" sz="2400" dirty="0"/>
              <a:t>D</a:t>
            </a:r>
            <a:r>
              <a:rPr lang="zh-CN" altLang="en-US" sz="2400" dirty="0"/>
              <a:t>输入端信号无关。</a:t>
            </a:r>
            <a:endParaRPr lang="en-US" altLang="zh-CN" sz="2400" dirty="0"/>
          </a:p>
          <a:p>
            <a:r>
              <a:rPr lang="zh-CN" altLang="en-US" sz="2400" dirty="0" smtClean="0"/>
              <a:t>    触发器</a:t>
            </a:r>
            <a:r>
              <a:rPr lang="zh-CN" altLang="en-US" sz="2400" dirty="0"/>
              <a:t>的预置和清零电路：电路是在图</a:t>
            </a:r>
            <a:r>
              <a:rPr lang="en-US" altLang="zh-CN" sz="2400" dirty="0"/>
              <a:t>2.7</a:t>
            </a:r>
            <a:r>
              <a:rPr lang="zh-CN" altLang="en-US" sz="2400" dirty="0"/>
              <a:t>的电路中</a:t>
            </a:r>
            <a:r>
              <a:rPr lang="zh-CN" altLang="en-US" sz="2400" dirty="0">
                <a:solidFill>
                  <a:srgbClr val="FF0000"/>
                </a:solidFill>
              </a:rPr>
              <a:t>增加两个或门</a:t>
            </a:r>
            <a:r>
              <a:rPr lang="zh-CN" altLang="en-US" sz="2400" dirty="0"/>
              <a:t>就可以实现，如图</a:t>
            </a:r>
            <a:r>
              <a:rPr lang="en-US" altLang="zh-CN" sz="2400" dirty="0"/>
              <a:t>2.8</a:t>
            </a:r>
            <a:r>
              <a:rPr lang="zh-CN" altLang="en-US" sz="2400" dirty="0"/>
              <a:t>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66214" y="6096886"/>
            <a:ext cx="7296551" cy="4126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0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/>
              <a:t>图</a:t>
            </a:r>
            <a:r>
              <a:rPr lang="en-US" altLang="zh-CN" sz="2400" dirty="0"/>
              <a:t>2.8  </a:t>
            </a:r>
            <a:r>
              <a:rPr lang="zh-CN" altLang="en-US" sz="2400" dirty="0"/>
              <a:t>带有预置和清零输入的</a:t>
            </a:r>
            <a:r>
              <a:rPr lang="en-US" altLang="zh-CN" sz="2400" dirty="0"/>
              <a:t>D</a:t>
            </a:r>
            <a:r>
              <a:rPr lang="zh-CN" altLang="en-US" sz="2400" dirty="0"/>
              <a:t>触发器的电路原理图</a:t>
            </a:r>
            <a:endParaRPr lang="en-US" altLang="zh-CN" sz="2400" dirty="0"/>
          </a:p>
        </p:txBody>
      </p:sp>
      <p:grpSp>
        <p:nvGrpSpPr>
          <p:cNvPr id="9" name="组合 8"/>
          <p:cNvGrpSpPr/>
          <p:nvPr/>
        </p:nvGrpSpPr>
        <p:grpSpPr>
          <a:xfrm>
            <a:off x="774699" y="3034949"/>
            <a:ext cx="7612063" cy="2879725"/>
            <a:chOff x="774699" y="3034949"/>
            <a:chExt cx="7612063" cy="2879725"/>
          </a:xfrm>
        </p:grpSpPr>
        <p:pic>
          <p:nvPicPr>
            <p:cNvPr id="4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699" y="3034949"/>
              <a:ext cx="7612063" cy="287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49614" y="4011934"/>
              <a:ext cx="150682" cy="21904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49614" y="4853780"/>
              <a:ext cx="150682" cy="21904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4371" y="4011934"/>
              <a:ext cx="150682" cy="219048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4371" y="4823480"/>
              <a:ext cx="150682" cy="219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737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0" y="1474492"/>
            <a:ext cx="9144000" cy="4445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边缘触发的</a:t>
            </a:r>
            <a:r>
              <a:rPr lang="en-US" altLang="zh-CN" dirty="0"/>
              <a:t>D</a:t>
            </a:r>
            <a:r>
              <a:rPr lang="zh-CN" altLang="en-US" dirty="0"/>
              <a:t>触发器在计算机电路图中常用图</a:t>
            </a:r>
            <a:r>
              <a:rPr lang="en-US" altLang="zh-CN" dirty="0"/>
              <a:t>2.9</a:t>
            </a:r>
            <a:r>
              <a:rPr lang="zh-CN" altLang="en-US" dirty="0"/>
              <a:t>的符号来表示。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54889" y="5681786"/>
            <a:ext cx="4190299" cy="4766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/>
              <a:t>2.9   </a:t>
            </a:r>
            <a:r>
              <a:rPr lang="zh-CN" altLang="en-US" dirty="0"/>
              <a:t>边缘触发的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lang="en-US" altLang="zh-CN" dirty="0"/>
          </a:p>
        </p:txBody>
      </p:sp>
      <p:grpSp>
        <p:nvGrpSpPr>
          <p:cNvPr id="17" name="组合 16"/>
          <p:cNvGrpSpPr/>
          <p:nvPr/>
        </p:nvGrpSpPr>
        <p:grpSpPr>
          <a:xfrm>
            <a:off x="0" y="2395661"/>
            <a:ext cx="9056688" cy="3286125"/>
            <a:chOff x="0" y="2395661"/>
            <a:chExt cx="9056688" cy="3286125"/>
          </a:xfrm>
        </p:grpSpPr>
        <p:pic>
          <p:nvPicPr>
            <p:cNvPr id="4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395661"/>
              <a:ext cx="9056688" cy="3286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301" y="3387672"/>
              <a:ext cx="142857" cy="17142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9919" y="3387672"/>
              <a:ext cx="142857" cy="17142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0537" y="3387672"/>
              <a:ext cx="142857" cy="17142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0536" y="4115642"/>
              <a:ext cx="142857" cy="17142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7674" y="4094289"/>
              <a:ext cx="142857" cy="17142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6687" y="3416522"/>
              <a:ext cx="142857" cy="1714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1290" y="3387672"/>
              <a:ext cx="142857" cy="171429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9143" y="4094289"/>
              <a:ext cx="142857" cy="17142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1290" y="4075153"/>
              <a:ext cx="142857" cy="17142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8478" y="3404046"/>
              <a:ext cx="142857" cy="17142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4288" y="3384910"/>
              <a:ext cx="142857" cy="17142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1637" y="4084030"/>
              <a:ext cx="142857" cy="171429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488" y="3401315"/>
            <a:ext cx="200000" cy="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1">
            <a:spLocks noChangeArrowheads="1"/>
          </p:cNvSpPr>
          <p:nvPr/>
        </p:nvSpPr>
        <p:spPr bwMode="auto">
          <a:xfrm>
            <a:off x="2709492" y="557586"/>
            <a:ext cx="3309567" cy="4683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z="2800" dirty="0"/>
              <a:t>2.2.3   JK</a:t>
            </a:r>
            <a:r>
              <a:rPr lang="zh-CN" altLang="en-US" sz="2800" dirty="0"/>
              <a:t>触发器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28755-0610-4323-83C9-CE67F7DA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68412"/>
            <a:ext cx="8642350" cy="178550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 smtClean="0"/>
              <a:t>    JK</a:t>
            </a:r>
            <a:r>
              <a:rPr lang="zh-CN" altLang="en-US" dirty="0"/>
              <a:t>触发器是组成计数器的理想记忆元件，电路原理：</a:t>
            </a:r>
            <a:r>
              <a:rPr lang="zh-CN" altLang="en-US" dirty="0">
                <a:solidFill>
                  <a:srgbClr val="0070C0"/>
                </a:solidFill>
              </a:rPr>
              <a:t>在</a:t>
            </a:r>
            <a:r>
              <a:rPr lang="en-US" altLang="zh-CN" dirty="0">
                <a:solidFill>
                  <a:srgbClr val="0070C0"/>
                </a:solidFill>
              </a:rPr>
              <a:t>RS</a:t>
            </a:r>
            <a:r>
              <a:rPr lang="zh-CN" altLang="en-US" dirty="0">
                <a:solidFill>
                  <a:srgbClr val="0070C0"/>
                </a:solidFill>
              </a:rPr>
              <a:t>触发器前面增加两个与门，并将输出</a:t>
            </a:r>
            <a:r>
              <a:rPr lang="en-US" altLang="zh-CN" dirty="0">
                <a:solidFill>
                  <a:srgbClr val="0070C0"/>
                </a:solidFill>
              </a:rPr>
              <a:t>(Q</a:t>
            </a:r>
            <a:r>
              <a:rPr lang="zh-CN" altLang="en-US" dirty="0">
                <a:solidFill>
                  <a:srgbClr val="0070C0"/>
                </a:solidFill>
              </a:rPr>
              <a:t>和</a:t>
            </a:r>
            <a:r>
              <a:rPr lang="en-US" altLang="zh-CN" dirty="0">
                <a:solidFill>
                  <a:srgbClr val="0070C0"/>
                </a:solidFill>
              </a:rPr>
              <a:t>Q)</a:t>
            </a:r>
            <a:r>
              <a:rPr lang="zh-CN" altLang="en-US" dirty="0">
                <a:solidFill>
                  <a:srgbClr val="0070C0"/>
                </a:solidFill>
              </a:rPr>
              <a:t>到与门的输入端作交叉反馈</a:t>
            </a:r>
            <a:r>
              <a:rPr lang="zh-CN" altLang="en-US" dirty="0"/>
              <a:t>，如图</a:t>
            </a:r>
            <a:r>
              <a:rPr lang="en-US" altLang="zh-CN" dirty="0"/>
              <a:t>2.10</a:t>
            </a:r>
            <a:r>
              <a:rPr lang="zh-CN" altLang="en-US" dirty="0"/>
              <a:t>。图中的</a:t>
            </a:r>
            <a:r>
              <a:rPr lang="en-US" altLang="zh-CN" dirty="0"/>
              <a:t>CLK</a:t>
            </a:r>
            <a:r>
              <a:rPr lang="zh-CN" altLang="en-US" dirty="0"/>
              <a:t>输入端串有</a:t>
            </a:r>
            <a:r>
              <a:rPr lang="en-US" altLang="zh-CN" dirty="0"/>
              <a:t>RC</a:t>
            </a:r>
            <a:r>
              <a:rPr lang="zh-CN" altLang="en-US" dirty="0"/>
              <a:t>电路也是为了获得正边缘触发的工作方式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7319963" y="3552825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59113" y="6111373"/>
            <a:ext cx="4260850" cy="4766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indent="0">
              <a:lnSpc>
                <a:spcPct val="120000"/>
              </a:lnSpc>
              <a:spcAft>
                <a:spcPts val="600"/>
              </a:spcAft>
              <a:defRPr sz="2400" kern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图</a:t>
            </a:r>
            <a:r>
              <a:rPr lang="en-US" altLang="zh-CN" dirty="0"/>
              <a:t>2.10 </a:t>
            </a:r>
            <a:r>
              <a:rPr lang="en-US" altLang="zh-CN" dirty="0" smtClean="0"/>
              <a:t>JK</a:t>
            </a:r>
            <a:r>
              <a:rPr lang="zh-CN" altLang="en-US" dirty="0"/>
              <a:t>触发器电路</a:t>
            </a:r>
            <a:endParaRPr lang="en-US" altLang="zh-CN" dirty="0"/>
          </a:p>
        </p:txBody>
      </p:sp>
      <p:pic>
        <p:nvPicPr>
          <p:cNvPr id="6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18" y="3139573"/>
            <a:ext cx="7620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431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6077" y="1081570"/>
            <a:ext cx="84471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J=0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K=0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个与门都被阻塞，无论此时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是什么状态，由于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都是低电平，所以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不会改变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的状态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，这种状态称为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保持闭锁状态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466077" y="1801647"/>
            <a:ext cx="844710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J=0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K=1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此时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上面的与门被阻塞，即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不可能为高电平，所以也无置位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即使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的可能。如果此时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，则反馈至下面的与门。在下一个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的正脉冲边沿到达时，触发器就产生复位动作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。如果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原来为低电平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，则反馈至下面的与门而使其也被阻塞，所以即使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，也没有任何动作产生，触发器仍处于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466077" y="3475831"/>
            <a:ext cx="844710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J=1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K=0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此时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下面的与门被阻塞，即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不可能为高电平，所以也无复位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即使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的可能。如果此时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，则反馈至上面的与门，在下一个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的正脉冲边缘到达时，触发器就产生置位动作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。如果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原来为高电平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，则反馈至上面的与门而将其阻塞，这样上下两个与门都被阻塞了，触发器就仍处于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置位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466077" y="5107047"/>
            <a:ext cx="844710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J=1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K=1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可能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使触发器置位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或复位。也就是说，如果原来的状态为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J=1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而且在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的正边缘脉冲到达时，就会翻转到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。反之，如果原来的状态为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J=1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K=1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而且在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的正边缘脉冲到达时，就会翻转到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。所谓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翻转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，就是触发器的状态改变。</a:t>
            </a:r>
          </a:p>
        </p:txBody>
      </p:sp>
    </p:spTree>
    <p:extLst>
      <p:ext uri="{BB962C8B-B14F-4D97-AF65-F5344CB8AC3E}">
        <p14:creationId xmlns:p14="http://schemas.microsoft.com/office/powerpoint/2010/main" val="148019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7675" y="1435379"/>
            <a:ext cx="8153400" cy="107922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kern="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zh-CN" altLang="en-US" sz="24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就是利用</a:t>
            </a:r>
            <a:r>
              <a:rPr lang="en-US" altLang="zh-CN" sz="24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JK</a:t>
            </a:r>
            <a:r>
              <a:rPr lang="zh-CN" altLang="en-US" sz="24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触发器的翻转特性而组成的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JK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触发器的符号如图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2.11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所示及教材中的图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2-5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2878217" y="5806559"/>
            <a:ext cx="3570208" cy="47666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2.11  JK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触发器的符号</a:t>
            </a:r>
            <a:endParaRPr lang="en-US" altLang="zh-CN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22654" y="2885737"/>
            <a:ext cx="3559175" cy="2746235"/>
            <a:chOff x="2822654" y="2885737"/>
            <a:chExt cx="3559175" cy="2746235"/>
          </a:xfrm>
        </p:grpSpPr>
        <p:pic>
          <p:nvPicPr>
            <p:cNvPr id="3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2654" y="2885737"/>
              <a:ext cx="3559175" cy="2746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9437" y="3733902"/>
              <a:ext cx="142857" cy="17142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315" y="4614978"/>
              <a:ext cx="142857" cy="17142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0683" y="3733901"/>
              <a:ext cx="142857" cy="17142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2047" y="4614977"/>
              <a:ext cx="142857" cy="1714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630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9597" y="1271621"/>
            <a:ext cx="8726750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(register)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是由触发器组成的。一个触发器就是一个一位寄存器。多个触发器可以组成一个多位寄存器。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常见的寄存器有：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缓冲寄存器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用以暂存数据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能够将其所存的数据一位一位地向左或向右移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计数脉冲到达时，会按二进制数的规律累计脉冲数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累加器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用以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暂存每次在算术逻辑单元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中计算的中间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46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39176" y="540023"/>
            <a:ext cx="49110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2.3.1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缓冲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(Buffer)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783" y="1738963"/>
            <a:ext cx="82651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原理：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设有一个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位二进制数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X=X3X2X1X0,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要存到这个缓冲寄存器中去，将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分别送到各个触发器的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D3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端去，只要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的正前沿还未到来，则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就不受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的影响而保持其原有的数据。只有当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的正前沿来到时，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才接受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的影响，而变成：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Q0=X0 Q1=X1 Q2=X2 Q3=X3</a:t>
            </a:r>
          </a:p>
        </p:txBody>
      </p:sp>
      <p:pic>
        <p:nvPicPr>
          <p:cNvPr id="4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05" y="4231953"/>
            <a:ext cx="7199396" cy="1978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431046" y="6306429"/>
            <a:ext cx="41601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2.12  4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位缓冲寄存器电路原理图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3783" y="1215154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构成：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此寄存器是由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触发器组成的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638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2407" y="1680034"/>
            <a:ext cx="77280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缓冲寄存器的缺点：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缓冲寄存器的数据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输入到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只是受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的节拍管理，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即只要将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各位加到寄存器各位的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输入端，时标节拍一到，就会立即送到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。这有时是不利而有害的，因为也许我们还想让早已存在其中的数据多留一些时间，但由于不可控之故，在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正前沿一到就会立即被来到门口的数据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替代掉。</a:t>
            </a:r>
          </a:p>
        </p:txBody>
      </p:sp>
    </p:spTree>
    <p:extLst>
      <p:ext uri="{BB962C8B-B14F-4D97-AF65-F5344CB8AC3E}">
        <p14:creationId xmlns:p14="http://schemas.microsoft.com/office/powerpoint/2010/main" val="292493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10798" y="1055682"/>
            <a:ext cx="8193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实现装入数据的“可控性”，需要为寄存器增设一个可控“门”，如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2.13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所示，简称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电路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01" y="2189696"/>
            <a:ext cx="3821112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770103" y="5917729"/>
            <a:ext cx="36776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2.13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寄存器的装入门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LOAD</a:t>
            </a:r>
          </a:p>
        </p:txBody>
      </p:sp>
      <p:sp>
        <p:nvSpPr>
          <p:cNvPr id="5" name="矩形 4"/>
          <p:cNvSpPr/>
          <p:nvPr/>
        </p:nvSpPr>
        <p:spPr>
          <a:xfrm>
            <a:off x="4570423" y="2427588"/>
            <a:ext cx="457357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LOAD</a:t>
            </a:r>
            <a:r>
              <a:rPr lang="zh-CN" altLang="en-US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</a:t>
            </a:r>
            <a:r>
              <a:rPr lang="en-US" altLang="zh-CN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(L</a:t>
            </a:r>
            <a:r>
              <a:rPr lang="zh-CN" altLang="en-US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</a:t>
            </a:r>
            <a:r>
              <a:rPr lang="en-US" altLang="zh-CN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)=</a:t>
            </a:r>
            <a:r>
              <a:rPr lang="en-US" altLang="zh-CN" sz="2000" kern="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，数据自锁</a:t>
            </a:r>
            <a:r>
              <a:rPr lang="zh-CN" altLang="en-US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即既存的数据能够可靠地存在其中而不会丢失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0423" y="3466276"/>
            <a:ext cx="44492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(2</a:t>
            </a:r>
            <a:r>
              <a:rPr lang="en-US" altLang="zh-CN" sz="2000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000" kern="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</a:t>
            </a:r>
            <a:r>
              <a:rPr lang="en-US" altLang="zh-CN" sz="2000" kern="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en-US" altLang="zh-CN" sz="2000" kern="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，数据装入，</a:t>
            </a:r>
            <a:r>
              <a:rPr lang="zh-CN" altLang="en-US" sz="2000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000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en-US" altLang="zh-CN" sz="2000" kern="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可以到达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000" kern="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端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0423" y="4642247"/>
            <a:ext cx="35829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门功能：</a:t>
            </a:r>
            <a:endParaRPr lang="en-US" altLang="zh-CN" sz="24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高电平数据装入，</a:t>
            </a:r>
            <a:endParaRPr lang="en-US" altLang="zh-CN" sz="24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低电平数据自锁。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246" y="2407899"/>
            <a:ext cx="142857" cy="2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157" y="2051601"/>
            <a:ext cx="380952" cy="2761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9120" y="2318912"/>
            <a:ext cx="295238" cy="18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4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8119" y="1220206"/>
            <a:ext cx="82961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对于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多位的寄存器，每位都要有一套如图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一样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门电路，即构成了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可控缓冲寄存器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不过只用一个非门，并且只有一个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LOAD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输入端，如图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所示。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440" y="2420535"/>
            <a:ext cx="5915163" cy="3460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813017" y="5881002"/>
            <a:ext cx="36360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2.14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可控缓冲寄存器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940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2710" y="1163377"/>
            <a:ext cx="8154139" cy="2249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一般来说，可控缓冲寄存器的符号如图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LOAD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控制门数据的装入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高电平使数据装入，低电平使数据自锁其中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CLR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高电平时可用以清零，使其中各位变为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时钟脉冲信号，上升沿触发。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057" y="3671225"/>
            <a:ext cx="2506175" cy="270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948649" y="6244986"/>
            <a:ext cx="5570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2.15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可控缓冲寄存器的符号（简图）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84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94672" y="616543"/>
            <a:ext cx="2954655" cy="476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2.3.2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移位寄存器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3934" y="1332034"/>
            <a:ext cx="8740066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移位寄存器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(shifting register)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能将其所存储的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数据逐位向左或向右移动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，以达到计算机在运行过程中所需的功能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，如用来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判断最左边的位是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等。电路原理图如图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所示。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985" y="2753962"/>
            <a:ext cx="6654400" cy="15669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549" y="4705561"/>
            <a:ext cx="6460836" cy="15798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80008" y="4320870"/>
            <a:ext cx="38044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2.16a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：左移寄存器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80007" y="6285391"/>
            <a:ext cx="3804411" cy="412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2.16b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：移位寄存器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03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0052" y="1117158"/>
            <a:ext cx="863976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左移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寄存器：当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Din=1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而送至最右边的第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即为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的正前沿到达时，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即等于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。同时第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也等于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个正前沿到达时，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也等于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。结果可得下列的左移过程：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前沿未到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Q=Q3Q2Q1Q0=0000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Q=0001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Q=0011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Q=0111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Q=1111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来到    如此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Din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仍为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不变，仍为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1111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4" b="56805"/>
          <a:stretch/>
        </p:blipFill>
        <p:spPr bwMode="auto">
          <a:xfrm>
            <a:off x="930367" y="4533478"/>
            <a:ext cx="7032902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130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5775" y="1404826"/>
            <a:ext cx="828730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Q=1111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之后，改变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Din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，使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Din=0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，则结果将是把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逐位左移：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Q=1110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Q=1100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Q=1000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Q=0000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由此可见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在左移寄存器中，每个时钟脉冲都要把所储存的各位向左移动一个数位。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4" b="56805"/>
          <a:stretch/>
        </p:blipFill>
        <p:spPr bwMode="auto">
          <a:xfrm>
            <a:off x="1125676" y="4767309"/>
            <a:ext cx="7032902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047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" y="1136913"/>
            <a:ext cx="8491492" cy="2997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右移寄存器：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CLK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前沿未到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Din=1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Q=1000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Q=1100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Q=1110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前沿来到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Q=1111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由此可见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在右移寄存器中，每个时钟脉冲都要把所存储的各位向右移动一个位置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99"/>
          <a:stretch>
            <a:fillRect/>
          </a:stretch>
        </p:blipFill>
        <p:spPr bwMode="auto">
          <a:xfrm>
            <a:off x="892946" y="4420448"/>
            <a:ext cx="7620000" cy="205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89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9344" y="1273452"/>
            <a:ext cx="8296181" cy="1886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控移位寄存器：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和缓冲寄存器一样，在整机运行中，移位寄存器也需要有控制电路，以保证其在适当时机才参与协调工作。这个电路也和图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2.13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一样，只要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在每一位的电路上增加一个这样的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LOAD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门即可以达到控制的目的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936594" y="3474508"/>
            <a:ext cx="457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可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控移位寄存器的符号如图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2.17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所示，其中新出现的符号的意义是：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SHL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左移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(shift to the left)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SHR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右移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(shift to the right)</a:t>
            </a:r>
          </a:p>
        </p:txBody>
      </p:sp>
      <p:pic>
        <p:nvPicPr>
          <p:cNvPr id="4" name="Picture 6" descr="图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166" y="2936327"/>
            <a:ext cx="2463414" cy="3302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582810" y="6331567"/>
            <a:ext cx="3348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2.17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控移位寄存器的符号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984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34907" y="465623"/>
            <a:ext cx="2686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2.3.3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7049" y="1978351"/>
            <a:ext cx="75055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(counter)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也是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由若干个触发器组成的寄存器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，它的特点是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能够把存储在其中的数字加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常用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的计数器有：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行波计数器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同步计数器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环形计数器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程序计数器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33722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4560" y="1260707"/>
            <a:ext cx="64940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）行波计数器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(travelling wave counter) </a:t>
            </a:r>
          </a:p>
        </p:txBody>
      </p:sp>
      <p:sp>
        <p:nvSpPr>
          <p:cNvPr id="3" name="矩形 2"/>
          <p:cNvSpPr/>
          <p:nvPr/>
        </p:nvSpPr>
        <p:spPr>
          <a:xfrm>
            <a:off x="678747" y="2551837"/>
            <a:ext cx="81279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工作过程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个时钟脉冲促使其最低有效位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(LSB)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个时钟脉冲促使最低有效位由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，同时推动第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位，使其由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同理，第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时又去推动第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位，使其由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，以此类推。这样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有如水波前进一样逐位进位下去。</a:t>
            </a:r>
          </a:p>
        </p:txBody>
      </p:sp>
    </p:spTree>
    <p:extLst>
      <p:ext uri="{BB962C8B-B14F-4D97-AF65-F5344CB8AC3E}">
        <p14:creationId xmlns:p14="http://schemas.microsoft.com/office/powerpoint/2010/main" val="140604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2" y="1410301"/>
            <a:ext cx="76200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584160" y="3277897"/>
            <a:ext cx="4955203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2.18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行波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计数器的工作原理图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3681" y="4064624"/>
            <a:ext cx="81408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J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输入端都是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悬浮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的，这相当于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端都是置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的状态，亦即是各位都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处于准备翻转的状态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603680" y="5481506"/>
            <a:ext cx="7819471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各位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JK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触发器均为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下降沿触发</a:t>
            </a:r>
          </a:p>
        </p:txBody>
      </p:sp>
    </p:spTree>
    <p:extLst>
      <p:ext uri="{BB962C8B-B14F-4D97-AF65-F5344CB8AC3E}">
        <p14:creationId xmlns:p14="http://schemas.microsoft.com/office/powerpoint/2010/main" val="169790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1587" y="1101195"/>
            <a:ext cx="8393837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计数器工作过程： </a:t>
            </a:r>
            <a:endParaRPr lang="en-US" altLang="zh-CN" sz="2000" dirty="0" smtClean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开始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时使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CLR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由高电位变至低电位，计数器全部清除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，所以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  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Q=Q</a:t>
            </a:r>
            <a:r>
              <a:rPr lang="en-US" altLang="zh-CN" sz="20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0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0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0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=0000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Q=0001</a:t>
            </a: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此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由低电位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升至高电位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，产生的是电位上升的变化，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由于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有非门在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位的时钟脉冲输入端，所以第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个触发器不会翻转，必须在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降为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时才会翻转。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接着：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Q=0010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Q=0011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Q=0100</a:t>
            </a: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Q=0101</a:t>
            </a: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Q=0110</a:t>
            </a: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Q=0111</a:t>
            </a: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第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Q=1000</a:t>
            </a:r>
          </a:p>
          <a:p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…………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第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Q=1111</a:t>
            </a:r>
          </a:p>
          <a:p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第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时钟后沿到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Q=0000</a:t>
            </a:r>
          </a:p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994" y="3304760"/>
            <a:ext cx="5268749" cy="1194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039932" y="4635005"/>
            <a:ext cx="498481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个时钟脉冲到时，计数器复位至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，因此这个计数器可以计由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的数。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如果要计的数更多，就需要更多的位，即更多的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JK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触发器来组成计数器。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位计数器可计由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255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的数，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位计数器可计由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4 095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的数，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位则可计由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至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65 535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的数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7360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14652" y="1166921"/>
            <a:ext cx="800322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图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2.18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中行波计数器的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输入端是悬浮的，所以每次时钟脉冲到时，它都要翻转一次。图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2.19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中的各个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输入端连在一起引出来，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由计数控制端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COUNT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的电位信号来控制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COUNT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为高电位时，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JK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触发器才有翻转的可能。当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COUNT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为低电位时就不可能翻转。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52" y="3890657"/>
            <a:ext cx="5211008" cy="1537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197350" y="5658620"/>
            <a:ext cx="35189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2.19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可控计数器的原理图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Picture 7" descr="图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740" y="3963737"/>
            <a:ext cx="2545902" cy="146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096740" y="5662164"/>
            <a:ext cx="30059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2.20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控计数器符号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713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521" y="1131449"/>
            <a:ext cx="379892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）同步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计数器（了解）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522" y="1725412"/>
            <a:ext cx="840643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行波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计数器的工作原理是在时钟边缘到来时开始计数，由右边第一位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(LSB)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开始，如有进位的话则要一位一位的推进。而每一位触发器都需要建立时间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tp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tp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约为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纳秒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。如果是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位的计数器，则最大可能的计一个数的时间为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纳秒，这就显得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太慢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了。</a:t>
            </a:r>
          </a:p>
        </p:txBody>
      </p:sp>
      <p:sp>
        <p:nvSpPr>
          <p:cNvPr id="4" name="矩形 3"/>
          <p:cNvSpPr/>
          <p:nvPr/>
        </p:nvSpPr>
        <p:spPr>
          <a:xfrm>
            <a:off x="595522" y="4239902"/>
            <a:ext cx="840643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同步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将时钟脉冲同时加到各位的触发器的时钟输入端，而将前一位的输出端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(Q)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接到下一位的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JK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端去。这样可以使计数器计数时间只相当于一个触发器的建立时间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tp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，所以同步计数器在很多微型机中常被使用。为了避免初学者陷到电路分析中去，这里就不介绍具体线路了。</a:t>
            </a:r>
          </a:p>
        </p:txBody>
      </p:sp>
    </p:spTree>
    <p:extLst>
      <p:ext uri="{BB962C8B-B14F-4D97-AF65-F5344CB8AC3E}">
        <p14:creationId xmlns:p14="http://schemas.microsoft.com/office/powerpoint/2010/main" val="209268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521" y="1131449"/>
            <a:ext cx="379892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）环形计数器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4194" y="1770266"/>
            <a:ext cx="5724644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环形计数器也是由若干个触发器组成的。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4194" y="2726454"/>
            <a:ext cx="7922556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只有一位为高电位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，其他各位为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，这与上述计数器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不一样，非加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计数。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4194" y="4162774"/>
            <a:ext cx="7922556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环形计数器不是用来计数用，而是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用来发出顺序控制信号的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87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2779" y="3732077"/>
            <a:ext cx="8317035" cy="283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CLR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端有高电位输入时，除右边第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位被置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1(CLR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被引至置位端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外，其他各位全被置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0(CLR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都接至复位端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CLK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正前沿未到时：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Q0=1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Q1=Q2=Q3=0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。则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D1=1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D0=Q3=0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前沿来到时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Q1=1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，其他各位仍为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前沿来到时：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Q2=1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，其他各位仍为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前沿来到时：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Q3=1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，其他各位仍为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前沿来到时：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Q0=1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，其他各位仍为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随着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时钟脉冲而各位轮流置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，并且是在最后一位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左边第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之后又回到右边第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位，这就形成环形置位，称为环形计数器。</a:t>
            </a:r>
          </a:p>
        </p:txBody>
      </p:sp>
      <p:pic>
        <p:nvPicPr>
          <p:cNvPr id="3" name="Picture 8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92" y="1289221"/>
            <a:ext cx="7620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883773" y="3159613"/>
            <a:ext cx="5109091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2.21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触发器组成的环形计数器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919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507" y="1736078"/>
            <a:ext cx="4977678" cy="222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491733" y="4300777"/>
            <a:ext cx="464742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2.22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环形计数器的符号图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156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5521" y="1131449"/>
            <a:ext cx="3798925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）程序计数器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1234" y="1802570"/>
            <a:ext cx="8265111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程序计数器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(program counter)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也是一个行波计数器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也可用同步计数器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。它不但可以从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开始计数，也可以将外来的数装入其中，这就需要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COUNT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，也要有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LOAD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，程序计数器的符号如图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所示。</a:t>
            </a:r>
          </a:p>
        </p:txBody>
      </p:sp>
      <p:pic>
        <p:nvPicPr>
          <p:cNvPr id="4" name="Picture 7" descr="图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403" y="3815429"/>
            <a:ext cx="2211588" cy="2849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800969" y="4473641"/>
            <a:ext cx="1194636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2.23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程序计数器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567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02449" y="478269"/>
            <a:ext cx="2339102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2.3.4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累加器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8474" y="1474991"/>
            <a:ext cx="8717871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累加器（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accumulator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一个由多个触发器组成的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多位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28474" y="2620445"/>
            <a:ext cx="5125992" cy="3453253"/>
            <a:chOff x="493573" y="3019940"/>
            <a:chExt cx="5125992" cy="3453253"/>
          </a:xfrm>
        </p:grpSpPr>
        <p:sp>
          <p:nvSpPr>
            <p:cNvPr id="4" name="矩形 3"/>
            <p:cNvSpPr/>
            <p:nvPr/>
          </p:nvSpPr>
          <p:spPr>
            <a:xfrm>
              <a:off x="1433743" y="3019940"/>
              <a:ext cx="4185822" cy="34532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4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1) 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作为算术逻辑单元（</a:t>
              </a:r>
              <a:r>
                <a:rPr lang="en-US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）运算过程中代数和的临时存储处，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不是进行算术加法运算。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(2)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除了能装入及输出数据外，还能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使存储其中的数据左移或右移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，所以它又是一种移位寄存器。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493573" y="3056983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0070C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作用：</a:t>
              </a:r>
              <a:endParaRPr lang="zh-CN" altLang="en-US" sz="24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7" name="Picture 8" descr="图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324" y="2393042"/>
            <a:ext cx="2132320" cy="3071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075514" y="5581255"/>
            <a:ext cx="279327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2.24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累加器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的符号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39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57097" y="430362"/>
            <a:ext cx="3638953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2.4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三态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输出电路</a:t>
            </a:r>
          </a:p>
        </p:txBody>
      </p:sp>
      <p:sp>
        <p:nvSpPr>
          <p:cNvPr id="3" name="矩形 2"/>
          <p:cNvSpPr/>
          <p:nvPr/>
        </p:nvSpPr>
        <p:spPr>
          <a:xfrm>
            <a:off x="533400" y="1491112"/>
            <a:ext cx="836295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记忆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元件是由触发器组成的，而触发器只有两个状态：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，所以每条信号传输线只能传送一个触发器的信息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，这就导致信号传输线过多。如果一条信号传输线既能与一个触发器接通，又可以与其断开而与另外一个触发器接通，则一条信息传输线就可以传输多个触发器的信息了。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3400" y="4472388"/>
            <a:ext cx="8362950" cy="984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输出电路（三态门，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的作用：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实现一条信息传输线可传输多个触发器的信息。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99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5774" y="1074638"/>
            <a:ext cx="561975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电路组成：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个或非门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+2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NMOS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晶体管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(T1,T2)+1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个非门。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 (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选通端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)=1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通过非门而加至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个或非门的将为低电位，则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个或非门的输出将取决定于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端的电位。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5774" y="2846490"/>
            <a:ext cx="54387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G2=0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G1=1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导通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截止，所以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端呈现高电位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1(VB≈VDD)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5774" y="3696469"/>
            <a:ext cx="543877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G2=1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G1=0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截止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导通，所以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呈现低电位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(VB≈0)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774" y="4494015"/>
            <a:ext cx="5438775" cy="728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E=1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的两种可能电平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都可以顺利地通到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B=A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5774" y="5812127"/>
            <a:ext cx="5438775" cy="728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E=0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端是不相通的，即它们之间存在着高阻状态。</a:t>
            </a:r>
          </a:p>
        </p:txBody>
      </p:sp>
      <p:sp>
        <p:nvSpPr>
          <p:cNvPr id="7" name="矩形 6"/>
          <p:cNvSpPr/>
          <p:nvPr/>
        </p:nvSpPr>
        <p:spPr>
          <a:xfrm>
            <a:off x="485775" y="5346961"/>
            <a:ext cx="2511775" cy="389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 (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选通端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)=0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时？</a:t>
            </a:r>
          </a:p>
        </p:txBody>
      </p:sp>
      <p:pic>
        <p:nvPicPr>
          <p:cNvPr id="11" name="Picture 5" descr="图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94" t="22585"/>
          <a:stretch/>
        </p:blipFill>
        <p:spPr bwMode="auto">
          <a:xfrm>
            <a:off x="6702775" y="4295412"/>
            <a:ext cx="1638301" cy="206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5829300" y="6355480"/>
            <a:ext cx="3486149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2.25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三态输出电路及其符号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000750" y="1074638"/>
            <a:ext cx="3143250" cy="3027778"/>
            <a:chOff x="6000750" y="1074638"/>
            <a:chExt cx="3143250" cy="3027778"/>
          </a:xfrm>
        </p:grpSpPr>
        <p:pic>
          <p:nvPicPr>
            <p:cNvPr id="10" name="Picture 5" descr="图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1140"/>
            <a:stretch/>
          </p:blipFill>
          <p:spPr bwMode="auto">
            <a:xfrm>
              <a:off x="6000750" y="1074638"/>
              <a:ext cx="3143250" cy="302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/>
            <a:srcRect l="14405" t="23138" r="18927" b="9005"/>
            <a:stretch/>
          </p:blipFill>
          <p:spPr>
            <a:xfrm>
              <a:off x="7369970" y="2009775"/>
              <a:ext cx="95250" cy="90488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3"/>
            <a:srcRect l="14405" t="23138" r="18927" b="9005"/>
            <a:stretch/>
          </p:blipFill>
          <p:spPr>
            <a:xfrm>
              <a:off x="7369970" y="2953702"/>
              <a:ext cx="95250" cy="90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963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3874" y="1160330"/>
            <a:ext cx="844867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需要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双向输出时，可采用两个单向三态输出电路来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组成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双向三态电路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所示。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为某个电路装置的输出端，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为其输入端。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EOUT=1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B=A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，即信息由左向右传输；</a:t>
            </a:r>
            <a:endParaRPr lang="en-US" altLang="zh-CN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EIN=1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C=B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，即信息由右向左传输。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6" y="3895991"/>
            <a:ext cx="3257550" cy="2262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853179" y="6158984"/>
            <a:ext cx="3070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2.26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双向三态输出电路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85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6750" y="1766411"/>
            <a:ext cx="8115300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三态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和装入门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(L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一样，都可加到任何寄存器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包括计数器和累加器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电路上去。这样的寄存器就称为三态寄存器。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门专管对寄存器的装入数据的控制，而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门专管由寄存器输出数据的控制。</a:t>
            </a:r>
          </a:p>
        </p:txBody>
      </p:sp>
      <p:sp>
        <p:nvSpPr>
          <p:cNvPr id="3" name="矩形 2"/>
          <p:cNvSpPr/>
          <p:nvPr/>
        </p:nvSpPr>
        <p:spPr>
          <a:xfrm>
            <a:off x="666750" y="4338935"/>
            <a:ext cx="811530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有了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门就可以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利用总线结构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，使计算机的信息传递的线路简单化，控制器的设计也更为合理而易于理解了。</a:t>
            </a:r>
          </a:p>
        </p:txBody>
      </p:sp>
    </p:spTree>
    <p:extLst>
      <p:ext uri="{BB962C8B-B14F-4D97-AF65-F5344CB8AC3E}">
        <p14:creationId xmlns:p14="http://schemas.microsoft.com/office/powerpoint/2010/main" val="31914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99997" y="458937"/>
            <a:ext cx="3638953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2.5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总线结构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7473" y="2702336"/>
            <a:ext cx="4572000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设有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 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个寄存器，它们都有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门，其符号分别附以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下标。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设有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位数据，这样只要有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条数据线即可沟通它们之间的信息来往。图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就是总线结构的原理图。</a:t>
            </a:r>
          </a:p>
        </p:txBody>
      </p:sp>
      <p:sp>
        <p:nvSpPr>
          <p:cNvPr id="4" name="矩形 3"/>
          <p:cNvSpPr/>
          <p:nvPr/>
        </p:nvSpPr>
        <p:spPr>
          <a:xfrm>
            <a:off x="447473" y="1288243"/>
            <a:ext cx="457200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系统各部件之间进行信息交换的一组公用信号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线。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2" y="1288244"/>
            <a:ext cx="3247639" cy="477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274587" y="6155589"/>
            <a:ext cx="3185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2.27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总线结构的信息传输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456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4349" y="1247710"/>
            <a:ext cx="802957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将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各个寄存器的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门按次序排成一列，则可称其为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控制字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CON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        </a:t>
            </a:r>
            <a:r>
              <a:rPr lang="en-US" altLang="zh-CN" sz="2400" dirty="0" smtClean="0">
                <a:solidFill>
                  <a:srgbClr val="0070C0"/>
                </a:solidFill>
              </a:rPr>
              <a:t>CON=L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A</a:t>
            </a:r>
            <a:r>
              <a:rPr lang="en-US" altLang="zh-CN" sz="2400" dirty="0" smtClean="0">
                <a:solidFill>
                  <a:srgbClr val="0070C0"/>
                </a:solidFill>
              </a:rPr>
              <a:t>E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A</a:t>
            </a:r>
            <a:r>
              <a:rPr lang="en-US" altLang="zh-CN" sz="2400" dirty="0" smtClean="0">
                <a:solidFill>
                  <a:srgbClr val="0070C0"/>
                </a:solidFill>
              </a:rPr>
              <a:t>L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B</a:t>
            </a:r>
            <a:r>
              <a:rPr lang="en-US" altLang="zh-CN" sz="2400" dirty="0" smtClean="0">
                <a:solidFill>
                  <a:srgbClr val="0070C0"/>
                </a:solidFill>
              </a:rPr>
              <a:t>E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B</a:t>
            </a:r>
            <a:r>
              <a:rPr lang="en-US" altLang="zh-CN" sz="2400" dirty="0" smtClean="0">
                <a:solidFill>
                  <a:srgbClr val="0070C0"/>
                </a:solidFill>
              </a:rPr>
              <a:t>L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C</a:t>
            </a:r>
            <a:r>
              <a:rPr lang="en-US" altLang="zh-CN" sz="2400" dirty="0" smtClean="0">
                <a:solidFill>
                  <a:srgbClr val="0070C0"/>
                </a:solidFill>
              </a:rPr>
              <a:t>E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C</a:t>
            </a:r>
            <a:r>
              <a:rPr lang="en-US" altLang="zh-CN" sz="2400" dirty="0" smtClean="0">
                <a:solidFill>
                  <a:srgbClr val="0070C0"/>
                </a:solidFill>
              </a:rPr>
              <a:t>L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D</a:t>
            </a:r>
            <a:r>
              <a:rPr lang="en-US" altLang="zh-CN" sz="2400" dirty="0" smtClean="0">
                <a:solidFill>
                  <a:srgbClr val="0070C0"/>
                </a:solidFill>
              </a:rPr>
              <a:t>E</a:t>
            </a:r>
            <a:r>
              <a:rPr lang="en-US" altLang="zh-CN" sz="2400" baseline="-25000" dirty="0" smtClean="0">
                <a:solidFill>
                  <a:srgbClr val="0070C0"/>
                </a:solidFill>
              </a:rPr>
              <a:t>D</a:t>
            </a:r>
            <a:endParaRPr lang="en-US" altLang="zh-CN" sz="2400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4349" y="2780437"/>
            <a:ext cx="802957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为了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避免信息在公共总线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中乱窜，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规定在某一时钟节拍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(CLK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为正半周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，只有一个寄存器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门为高电位、另一寄存器的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门为高电位。其余各门则必须为低电位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。这样，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门为高电位的寄存器的数据就可以流入到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门为高电位的寄存器。</a:t>
            </a:r>
          </a:p>
        </p:txBody>
      </p:sp>
      <p:sp>
        <p:nvSpPr>
          <p:cNvPr id="4" name="矩形 3"/>
          <p:cNvSpPr/>
          <p:nvPr/>
        </p:nvSpPr>
        <p:spPr>
          <a:xfrm>
            <a:off x="514349" y="5296585"/>
            <a:ext cx="8029575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控制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字中哪些位为高电平，哪些位为低电平，将由控制器发出并送到各个寄存器上去。</a:t>
            </a:r>
          </a:p>
        </p:txBody>
      </p:sp>
    </p:spTree>
    <p:extLst>
      <p:ext uri="{BB962C8B-B14F-4D97-AF65-F5344CB8AC3E}">
        <p14:creationId xmlns:p14="http://schemas.microsoft.com/office/powerpoint/2010/main" val="135089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7225" y="1215509"/>
            <a:ext cx="457200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为了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简化作图，将几条总线用一条粗线表示。</a:t>
            </a:r>
          </a:p>
        </p:txBody>
      </p:sp>
      <p:sp>
        <p:nvSpPr>
          <p:cNvPr id="3" name="矩形 2"/>
          <p:cNvSpPr/>
          <p:nvPr/>
        </p:nvSpPr>
        <p:spPr>
          <a:xfrm>
            <a:off x="657225" y="2585561"/>
            <a:ext cx="4572000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中，有两条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总线：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数据总线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专门让信息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在其中流通；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控制总线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发自控制器，它能将控制字各位分别送至各个寄存器；控制器也有一个时钟，能把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脉冲送到各个寄存器。</a:t>
            </a:r>
          </a:p>
        </p:txBody>
      </p:sp>
      <p:pic>
        <p:nvPicPr>
          <p:cNvPr id="4" name="Picture 5" descr="图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284005"/>
            <a:ext cx="2340782" cy="5754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556817" y="6225659"/>
            <a:ext cx="2723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2.28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总线结构符号图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700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8122" y="477987"/>
            <a:ext cx="3638953" cy="573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2.6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译码器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872037" y="1958359"/>
            <a:ext cx="3057525" cy="4340129"/>
            <a:chOff x="4872037" y="1594374"/>
            <a:chExt cx="3057525" cy="4340129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2037" y="1594374"/>
              <a:ext cx="3057525" cy="382905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442844" y="5565171"/>
              <a:ext cx="19159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3-8</a:t>
              </a:r>
              <a:r>
                <a:rPr lang="zh-CN" altLang="en-US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译码器原理图</a:t>
              </a:r>
              <a:endParaRPr lang="zh-CN" altLang="en-US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606025" y="3112271"/>
            <a:ext cx="2114550" cy="3199314"/>
            <a:chOff x="1606025" y="2748286"/>
            <a:chExt cx="2114550" cy="319931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/>
            <a:srcRect b="7917"/>
            <a:stretch/>
          </p:blipFill>
          <p:spPr>
            <a:xfrm>
              <a:off x="1606025" y="2748286"/>
              <a:ext cx="2114550" cy="2675138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705345" y="5578268"/>
              <a:ext cx="19159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2-4</a:t>
              </a:r>
              <a:r>
                <a:rPr lang="zh-CN" altLang="en-US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译码器原理图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67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8122" y="477987"/>
            <a:ext cx="3638953" cy="573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2.7 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0147" y="1298119"/>
            <a:ext cx="8258578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(memory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寄存器组成，是计算机的主要组成部分。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在微型计算机中采用半导体器件作为记忆元件，这样体积小些，可以制成大规模集成电路。</a:t>
            </a:r>
          </a:p>
        </p:txBody>
      </p:sp>
      <p:sp>
        <p:nvSpPr>
          <p:cNvPr id="4" name="矩形 3"/>
          <p:cNvSpPr/>
          <p:nvPr/>
        </p:nvSpPr>
        <p:spPr>
          <a:xfrm>
            <a:off x="590147" y="2907120"/>
            <a:ext cx="8258578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作用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: 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(1)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存储数据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  (2)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存放计算机的运算程序。</a:t>
            </a:r>
          </a:p>
        </p:txBody>
      </p:sp>
      <p:sp>
        <p:nvSpPr>
          <p:cNvPr id="5" name="矩形 4"/>
          <p:cNvSpPr/>
          <p:nvPr/>
        </p:nvSpPr>
        <p:spPr>
          <a:xfrm>
            <a:off x="590147" y="3538833"/>
            <a:ext cx="825857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根据使用情况不同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存储器分为两大类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只读存储器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(ROM)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随机存取存储器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(RAM)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590147" y="4619435"/>
            <a:ext cx="8258578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一般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一个存储单元由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位（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bit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组成，称为一个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字节（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byte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能处理的二进制数最大位数称为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的一个记忆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字（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word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的一个字为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位，由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个字节组成。</a:t>
            </a:r>
          </a:p>
        </p:txBody>
      </p:sp>
    </p:spTree>
    <p:extLst>
      <p:ext uri="{BB962C8B-B14F-4D97-AF65-F5344CB8AC3E}">
        <p14:creationId xmlns:p14="http://schemas.microsoft.com/office/powerpoint/2010/main" val="229018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0075" y="1489413"/>
            <a:ext cx="8039100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个存储器可以包含数以千计的存储单元。所以，一个储存器可以存储很多数据，也可以存放很多计算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步骤，称为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(program)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为了便于存入和取出，每个存储单元必须有一个固定的地址。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因此，存储器的地址也必定是数以千计的。为了减少存储器向外引出的地址线，在存储器内部都自带有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译码器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600075" y="4839385"/>
            <a:ext cx="803910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根据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二进制编码译码的原理，除地线公用之外，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根导线可以译成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baseline="300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个的地址号。</a:t>
            </a:r>
          </a:p>
        </p:txBody>
      </p:sp>
    </p:spTree>
    <p:extLst>
      <p:ext uri="{BB962C8B-B14F-4D97-AF65-F5344CB8AC3E}">
        <p14:creationId xmlns:p14="http://schemas.microsoft.com/office/powerpoint/2010/main" val="251332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8150" y="1290727"/>
            <a:ext cx="4191000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16×8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的存储器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2.29)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个存储单元，每个单元为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即一个字节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的集成电路片；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条地址线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:A0…A3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条数据线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:D0….D7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个存储单元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R0…R15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(4) 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存储单元地址是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A1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A2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A3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的全部组合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1360627"/>
            <a:ext cx="4464050" cy="3787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791922" y="5334911"/>
            <a:ext cx="2608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2.29 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16×8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的存储器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488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76299" y="1795760"/>
            <a:ext cx="782002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当地址线为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条时，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n=10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，则可编地址号为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1,024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个，或称为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字节。这里的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和习惯为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1 000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不一样，请务必注意。</a:t>
            </a:r>
          </a:p>
        </p:txBody>
      </p:sp>
      <p:sp>
        <p:nvSpPr>
          <p:cNvPr id="3" name="矩形 2"/>
          <p:cNvSpPr/>
          <p:nvPr/>
        </p:nvSpPr>
        <p:spPr>
          <a:xfrm>
            <a:off x="876299" y="3976985"/>
            <a:ext cx="782002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A0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就是地址总线中的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根译码线。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当存储器的存储单元愈多，则地址总线中的译码线，亦即存储器集成电路片的地址线愈多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9019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7136" y="1120259"/>
            <a:ext cx="372409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2.6.1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只读存储器（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47136" y="2484186"/>
            <a:ext cx="7458639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固定数据或程序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的存储器，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一旦数据或程序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存放进去之后，即不可改变。也就是说，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只能从中“读”出其所存储的内容，不能再“写”入新的字节，因此称为只读存储器。</a:t>
            </a:r>
          </a:p>
        </p:txBody>
      </p:sp>
    </p:spTree>
    <p:extLst>
      <p:ext uri="{BB962C8B-B14F-4D97-AF65-F5344CB8AC3E}">
        <p14:creationId xmlns:p14="http://schemas.microsoft.com/office/powerpoint/2010/main" val="30680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4895" y="974830"/>
            <a:ext cx="4375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2.30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是一个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8×4 ROM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集成电路片的内部电路原理图。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600575" y="212726"/>
            <a:ext cx="4457700" cy="5797550"/>
            <a:chOff x="4500563" y="60325"/>
            <a:chExt cx="4676775" cy="6011863"/>
          </a:xfrm>
        </p:grpSpPr>
        <p:pic>
          <p:nvPicPr>
            <p:cNvPr id="4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563" y="60325"/>
              <a:ext cx="4676775" cy="601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/>
            <p:cNvSpPr>
              <a:spLocks noChangeArrowheads="1"/>
            </p:cNvSpPr>
            <p:nvPr/>
          </p:nvSpPr>
          <p:spPr bwMode="auto">
            <a:xfrm>
              <a:off x="5867400" y="1341438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 dirty="0"/>
                <a:t>&amp;</a:t>
              </a:r>
              <a:endParaRPr lang="zh-CN" altLang="en-US" sz="1100" dirty="0"/>
            </a:p>
          </p:txBody>
        </p:sp>
        <p:sp>
          <p:nvSpPr>
            <p:cNvPr id="6" name="矩形 8"/>
            <p:cNvSpPr>
              <a:spLocks noChangeArrowheads="1"/>
            </p:cNvSpPr>
            <p:nvPr/>
          </p:nvSpPr>
          <p:spPr bwMode="auto">
            <a:xfrm>
              <a:off x="5867400" y="1665288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7" name="矩形 9"/>
            <p:cNvSpPr>
              <a:spLocks noChangeArrowheads="1"/>
            </p:cNvSpPr>
            <p:nvPr/>
          </p:nvSpPr>
          <p:spPr bwMode="auto">
            <a:xfrm>
              <a:off x="5867400" y="1989138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8" name="矩形 10"/>
            <p:cNvSpPr>
              <a:spLocks noChangeArrowheads="1"/>
            </p:cNvSpPr>
            <p:nvPr/>
          </p:nvSpPr>
          <p:spPr bwMode="auto">
            <a:xfrm>
              <a:off x="5867400" y="2349500"/>
              <a:ext cx="288925" cy="17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9" name="矩形 11"/>
            <p:cNvSpPr>
              <a:spLocks noChangeArrowheads="1"/>
            </p:cNvSpPr>
            <p:nvPr/>
          </p:nvSpPr>
          <p:spPr bwMode="auto">
            <a:xfrm>
              <a:off x="5867400" y="2673350"/>
              <a:ext cx="288925" cy="17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10" name="矩形 12"/>
            <p:cNvSpPr>
              <a:spLocks noChangeArrowheads="1"/>
            </p:cNvSpPr>
            <p:nvPr/>
          </p:nvSpPr>
          <p:spPr bwMode="auto">
            <a:xfrm>
              <a:off x="5867400" y="2997200"/>
              <a:ext cx="288925" cy="17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11" name="矩形 13"/>
            <p:cNvSpPr>
              <a:spLocks noChangeArrowheads="1"/>
            </p:cNvSpPr>
            <p:nvPr/>
          </p:nvSpPr>
          <p:spPr bwMode="auto">
            <a:xfrm>
              <a:off x="5867400" y="3357563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12" name="矩形 14"/>
            <p:cNvSpPr>
              <a:spLocks noChangeArrowheads="1"/>
            </p:cNvSpPr>
            <p:nvPr/>
          </p:nvSpPr>
          <p:spPr bwMode="auto">
            <a:xfrm>
              <a:off x="5867400" y="3681413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</p:grpSp>
      <p:sp>
        <p:nvSpPr>
          <p:cNvPr id="13" name="矩形 12"/>
          <p:cNvSpPr/>
          <p:nvPr/>
        </p:nvSpPr>
        <p:spPr>
          <a:xfrm>
            <a:off x="5476407" y="6149588"/>
            <a:ext cx="3134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2.30 8×4 ROM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原理图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sp>
        <p:nvSpPr>
          <p:cNvPr id="14" name="矩形 13"/>
          <p:cNvSpPr/>
          <p:nvPr/>
        </p:nvSpPr>
        <p:spPr>
          <a:xfrm>
            <a:off x="224895" y="1682544"/>
            <a:ext cx="4375680" cy="5175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右半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部分：</a:t>
            </a:r>
            <a:endParaRPr lang="en-US" altLang="zh-CN" sz="2000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矩阵电路及半导体二极管组成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位的存储单元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条横线相当于一个存储单元，一条竖线相当于一位：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条横线代表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个存储单元，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条竖线代表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二极管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连接到的竖线，则为该位置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。无二极管相连的竖线，则为该位置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电信号是取自限流电阻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上的电位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为了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可控，每条数据线都加一个三态输出门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。这样，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只有在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门为高电位时，才有可能输出此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中的数据。</a:t>
            </a:r>
          </a:p>
        </p:txBody>
      </p:sp>
    </p:spTree>
    <p:extLst>
      <p:ext uri="{BB962C8B-B14F-4D97-AF65-F5344CB8AC3E}">
        <p14:creationId xmlns:p14="http://schemas.microsoft.com/office/powerpoint/2010/main" val="143576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00575" y="212726"/>
            <a:ext cx="4457700" cy="5797550"/>
            <a:chOff x="4500563" y="60325"/>
            <a:chExt cx="4676775" cy="6011863"/>
          </a:xfrm>
        </p:grpSpPr>
        <p:pic>
          <p:nvPicPr>
            <p:cNvPr id="4" name="Picture 5" descr="图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563" y="60325"/>
              <a:ext cx="4676775" cy="6011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/>
            <p:cNvSpPr>
              <a:spLocks noChangeArrowheads="1"/>
            </p:cNvSpPr>
            <p:nvPr/>
          </p:nvSpPr>
          <p:spPr bwMode="auto">
            <a:xfrm>
              <a:off x="5867400" y="1341438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6" name="矩形 8"/>
            <p:cNvSpPr>
              <a:spLocks noChangeArrowheads="1"/>
            </p:cNvSpPr>
            <p:nvPr/>
          </p:nvSpPr>
          <p:spPr bwMode="auto">
            <a:xfrm>
              <a:off x="5867400" y="1665288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7" name="矩形 9"/>
            <p:cNvSpPr>
              <a:spLocks noChangeArrowheads="1"/>
            </p:cNvSpPr>
            <p:nvPr/>
          </p:nvSpPr>
          <p:spPr bwMode="auto">
            <a:xfrm>
              <a:off x="5867400" y="1989138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8" name="矩形 10"/>
            <p:cNvSpPr>
              <a:spLocks noChangeArrowheads="1"/>
            </p:cNvSpPr>
            <p:nvPr/>
          </p:nvSpPr>
          <p:spPr bwMode="auto">
            <a:xfrm>
              <a:off x="5867400" y="2349500"/>
              <a:ext cx="288925" cy="17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9" name="矩形 11"/>
            <p:cNvSpPr>
              <a:spLocks noChangeArrowheads="1"/>
            </p:cNvSpPr>
            <p:nvPr/>
          </p:nvSpPr>
          <p:spPr bwMode="auto">
            <a:xfrm>
              <a:off x="5867400" y="2673350"/>
              <a:ext cx="288925" cy="17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10" name="矩形 12"/>
            <p:cNvSpPr>
              <a:spLocks noChangeArrowheads="1"/>
            </p:cNvSpPr>
            <p:nvPr/>
          </p:nvSpPr>
          <p:spPr bwMode="auto">
            <a:xfrm>
              <a:off x="5867400" y="2997200"/>
              <a:ext cx="288925" cy="17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11" name="矩形 13"/>
            <p:cNvSpPr>
              <a:spLocks noChangeArrowheads="1"/>
            </p:cNvSpPr>
            <p:nvPr/>
          </p:nvSpPr>
          <p:spPr bwMode="auto">
            <a:xfrm>
              <a:off x="5867400" y="3357563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  <p:sp>
          <p:nvSpPr>
            <p:cNvPr id="12" name="矩形 14"/>
            <p:cNvSpPr>
              <a:spLocks noChangeArrowheads="1"/>
            </p:cNvSpPr>
            <p:nvPr/>
          </p:nvSpPr>
          <p:spPr bwMode="auto">
            <a:xfrm>
              <a:off x="5867400" y="3681413"/>
              <a:ext cx="288925" cy="17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/>
                <a:t>&amp;</a:t>
              </a:r>
              <a:endParaRPr lang="zh-CN" altLang="en-US" sz="1100"/>
            </a:p>
          </p:txBody>
        </p:sp>
      </p:grpSp>
      <p:sp>
        <p:nvSpPr>
          <p:cNvPr id="13" name="矩形 12"/>
          <p:cNvSpPr/>
          <p:nvPr/>
        </p:nvSpPr>
        <p:spPr>
          <a:xfrm>
            <a:off x="5476407" y="6149588"/>
            <a:ext cx="3134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2.30 8×4 ROM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原理图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sp>
        <p:nvSpPr>
          <p:cNvPr id="14" name="矩形 13"/>
          <p:cNvSpPr/>
          <p:nvPr/>
        </p:nvSpPr>
        <p:spPr>
          <a:xfrm>
            <a:off x="224895" y="1288225"/>
            <a:ext cx="437568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</a:t>
            </a:r>
            <a:r>
              <a:rPr lang="zh-CN" altLang="en-US" sz="20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半部分：</a:t>
            </a:r>
            <a:endParaRPr lang="en-US" altLang="zh-CN" sz="2000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地址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译码器电路。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个地址号只需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条地址线：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，每条线都并以一个非门共得到这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条线；通过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个与门可译成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个地址号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地址线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所在横线所连接的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将导通，呈高电位。而此时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000" baseline="-25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条竖线中只有最右一条接有二极管。它将横线的高电位引至下面的限流电阻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上，使电阻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的上端出现高电位。其他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条竖线由于无二极管与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000" baseline="-25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横线相连，所以它们各自的限流电阻上无电流流过而呈现为低电平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地电位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即：地址为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000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的存储单元存储数据为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0001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为高电平时可输出。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48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1975" y="1147286"/>
            <a:ext cx="7953375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的符号图，图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2.31(a)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8×4ROM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个存储单元，每个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即半个字节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2.31(b)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为通用写法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m×nROM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意即为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个存储单元，其中每个为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3160145"/>
            <a:ext cx="4860925" cy="2535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017628" y="5825609"/>
            <a:ext cx="2800767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2.31  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的符号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16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0525" y="1047749"/>
            <a:ext cx="4572000" cy="537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存储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地址寄存器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(memory address register, MAR)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作为存储器的一个附件，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它将所要寻找的存储单元的地址暂存下来，以备下一条指令之用。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地址寄存器也是一个可控缓冲寄存器，它具有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门以控制地址的输入。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它和存储器的联系是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双态的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，地址一进入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就立即被送到存储器去，如图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所示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113" y="1047749"/>
            <a:ext cx="3693898" cy="40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348153" y="5330309"/>
            <a:ext cx="3570208" cy="435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2.32  MAR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的联系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490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5275" y="1194138"/>
            <a:ext cx="8591550" cy="3674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2.1】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程序计数器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，存储地址寄存器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通过总线的联系如图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所示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。开机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清零。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设控制字依次是：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(1) 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=0110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(2) 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=0001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(3) </a:t>
            </a:r>
            <a:r>
              <a:rPr lang="en-US" altLang="zh-CN" sz="2400" dirty="0" smtClean="0"/>
              <a:t>C</a:t>
            </a:r>
            <a:r>
              <a:rPr lang="en-US" altLang="zh-CN" sz="2400" baseline="-25000" dirty="0" smtClean="0"/>
              <a:t>P</a:t>
            </a:r>
            <a:r>
              <a:rPr lang="en-US" altLang="zh-CN" sz="2400" dirty="0" smtClean="0"/>
              <a:t>E</a:t>
            </a:r>
            <a:r>
              <a:rPr lang="en-US" altLang="zh-CN" sz="2400" baseline="-25000" dirty="0" smtClean="0"/>
              <a:t>P</a:t>
            </a:r>
            <a:r>
              <a:rPr lang="en-US" altLang="zh-CN" sz="2400" dirty="0" smtClean="0"/>
              <a:t>L</a:t>
            </a:r>
            <a:r>
              <a:rPr lang="en-US" altLang="zh-CN" sz="2400" baseline="-25000" dirty="0" smtClean="0"/>
              <a:t>M</a:t>
            </a:r>
            <a:r>
              <a:rPr lang="en-US" altLang="zh-CN" sz="2400" dirty="0" smtClean="0"/>
              <a:t>E</a:t>
            </a:r>
            <a:r>
              <a:rPr lang="en-US" altLang="zh-CN" sz="2400" baseline="-25000" dirty="0" smtClean="0"/>
              <a:t>R</a:t>
            </a:r>
            <a:r>
              <a:rPr lang="en-US" altLang="zh-CN" sz="2400" dirty="0" smtClean="0"/>
              <a:t>=1000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：它们之间的信息是如何流通的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5" y="1762125"/>
            <a:ext cx="3511550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596014" y="6215280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2.33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取数周期的信号流通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6350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5750" y="1248966"/>
            <a:ext cx="8163776" cy="537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控制字依次是：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(1) 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=0110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(2) 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=0001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(3) 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=1000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开机时，先令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CLR=1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PC=0000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个控制字是：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　　　　　　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=0110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准备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放出数据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准备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装入数据。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正前沿到达时，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MAR=PC=0000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的数据装入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，同时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立即指向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的第一地址，即选中了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存储单元。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0" y="972741"/>
            <a:ext cx="2826601" cy="342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170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5750" y="1187440"/>
            <a:ext cx="6099175" cy="537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个控制字是：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=0001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，令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放出数据。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也就是说，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高电位，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位数据就被送入到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总线上去。这样的动作，不需等待时钟脉冲的同步讯号，因而称为异步动作。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个控制字是：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P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R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=1000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P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这是命令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，所以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PC=0001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这是在取数周期完了时，要求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进一步，以便为下一条指令准备条件。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25" y="591741"/>
            <a:ext cx="2695573" cy="326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1124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7136" y="1120259"/>
            <a:ext cx="3724096" cy="504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2.6.1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随机存储器（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7135" y="2406337"/>
            <a:ext cx="8106339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随机存储器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又叫做读／写存储器。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它和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的区别：随机存储器不但能读取已存放在其各个存储单元中的数据，而且还能够随时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写进新的数据，或者改写原来的数据。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因此，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的每一个存储单元相当于一个可控缓冲寄存器。</a:t>
            </a:r>
          </a:p>
        </p:txBody>
      </p:sp>
    </p:spTree>
    <p:extLst>
      <p:ext uri="{BB962C8B-B14F-4D97-AF65-F5344CB8AC3E}">
        <p14:creationId xmlns:p14="http://schemas.microsoft.com/office/powerpoint/2010/main" val="42011826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304" y="1172209"/>
            <a:ext cx="233910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的材料</a:t>
            </a:r>
          </a:p>
        </p:txBody>
      </p:sp>
      <p:sp>
        <p:nvSpPr>
          <p:cNvPr id="3" name="矩形 2"/>
          <p:cNvSpPr/>
          <p:nvPr/>
        </p:nvSpPr>
        <p:spPr>
          <a:xfrm>
            <a:off x="586304" y="2548387"/>
            <a:ext cx="827194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磁芯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作为记忆元件：可以避免停电而失去记忆能力，但体积较大；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适用于某些专用计算机。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双极型晶体管或金属氧化物半导体场效应晶体管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(MOSFET)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：可以制成大规模集成电路，体积较小，但停电则失去记忆能力；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小型计算机及微型计算机多。</a:t>
            </a:r>
          </a:p>
        </p:txBody>
      </p:sp>
    </p:spTree>
    <p:extLst>
      <p:ext uri="{BB962C8B-B14F-4D97-AF65-F5344CB8AC3E}">
        <p14:creationId xmlns:p14="http://schemas.microsoft.com/office/powerpoint/2010/main" val="406451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303" y="1172209"/>
            <a:ext cx="3423721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静态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和动态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6303" y="1983939"/>
            <a:ext cx="8129072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常用双极型晶体管触发器作为记忆元件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也有用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MOSFET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晶体管的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，只要有电源加于触发器，数据即可长期保留。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用电容及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MOSFET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作为记忆元件，电容会漏电，需“刷新”，要求每隔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2ms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充电一次，为此还须另加一刷新电源。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动态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比静态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便宜些，但因要刷新，电路上稍为麻烦，因而大多数微型机都采用静态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702320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303" y="1172209"/>
            <a:ext cx="3423721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的符号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2555875"/>
            <a:ext cx="6657975" cy="307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398616" y="5869342"/>
            <a:ext cx="2146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2.34  RAM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的符号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3916" y="423165"/>
            <a:ext cx="4572000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A   ——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地址线；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IN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——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要写入的数据；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OUT 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要读出的数据；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24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——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选通此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门。</a:t>
            </a:r>
          </a:p>
        </p:txBody>
      </p:sp>
    </p:spTree>
    <p:extLst>
      <p:ext uri="{BB962C8B-B14F-4D97-AF65-F5344CB8AC3E}">
        <p14:creationId xmlns:p14="http://schemas.microsoft.com/office/powerpoint/2010/main" val="4083185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303" y="1172209"/>
            <a:ext cx="717657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存储数据寄存器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(memory data register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3903" y="1854019"/>
            <a:ext cx="5133215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作用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将要写入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中去的数据暂存寄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中，以等待控制器发出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24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的命令到来时，才能写入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中去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3903" y="3663279"/>
            <a:ext cx="5133215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2.35: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由于此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个存储单元，即有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个地址号。所以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必是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位的寄存器，才能给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条地址线送出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256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个地址码。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因为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位的，所以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也必是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位的，才能送出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条数据线到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去。</a:t>
            </a:r>
          </a:p>
        </p:txBody>
      </p:sp>
      <p:pic>
        <p:nvPicPr>
          <p:cNvPr id="5" name="Picture 5" descr="图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64" y="1641362"/>
            <a:ext cx="2919412" cy="429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5567118" y="6049761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2.35 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RAM 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的关系</a:t>
            </a:r>
            <a:endParaRPr lang="en-US" altLang="zh-CN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131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9549" y="1014443"/>
            <a:ext cx="865822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2.2】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一个微型计算机的一部分如图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2.36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，其工作程序分析如图。</a:t>
            </a:r>
          </a:p>
          <a:p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这一部分系统图是用来分析将数据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装入到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中去的过程的。设要写入到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中去的数据为：</a:t>
            </a:r>
          </a:p>
          <a:p>
            <a:pPr algn="ctr"/>
            <a:r>
              <a:rPr lang="en-US" altLang="zh-CN" sz="2200" dirty="0"/>
              <a:t>I0=1100</a:t>
            </a:r>
            <a:r>
              <a:rPr lang="zh-CN" altLang="en-US" sz="2200" dirty="0"/>
              <a:t>　</a:t>
            </a:r>
            <a:r>
              <a:rPr lang="en-US" altLang="zh-CN" sz="2200" dirty="0"/>
              <a:t>0001</a:t>
            </a:r>
            <a:r>
              <a:rPr lang="zh-CN" altLang="en-US" sz="2200" dirty="0"/>
              <a:t>　</a:t>
            </a:r>
            <a:r>
              <a:rPr lang="en-US" altLang="zh-CN" sz="2200" dirty="0"/>
              <a:t>1001(</a:t>
            </a:r>
            <a:r>
              <a:rPr lang="zh-CN" altLang="en-US" sz="2200" dirty="0"/>
              <a:t>共</a:t>
            </a:r>
            <a:r>
              <a:rPr lang="en-US" altLang="zh-CN" sz="2200" dirty="0"/>
              <a:t>12</a:t>
            </a:r>
            <a:r>
              <a:rPr lang="zh-CN" altLang="en-US" sz="2200" dirty="0"/>
              <a:t>位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这部分的控制字为：</a:t>
            </a:r>
          </a:p>
          <a:p>
            <a:r>
              <a:rPr lang="en-US" altLang="zh-CN" sz="2200" dirty="0"/>
              <a:t>CON=C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M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 M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D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(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共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已设计好的控制字的次序如下：</a:t>
            </a:r>
          </a:p>
          <a:p>
            <a:r>
              <a:rPr lang="zh-CN" altLang="en-US" sz="2200" dirty="0"/>
              <a:t>　</a:t>
            </a:r>
            <a:r>
              <a:rPr lang="en-US" altLang="zh-CN" sz="2200" dirty="0"/>
              <a:t>CON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=0110</a:t>
            </a:r>
            <a:r>
              <a:rPr lang="zh-CN" altLang="en-US" sz="2200" dirty="0"/>
              <a:t>　</a:t>
            </a:r>
            <a:r>
              <a:rPr lang="en-US" altLang="zh-CN" sz="2200" dirty="0"/>
              <a:t>0000(60</a:t>
            </a:r>
            <a:r>
              <a:rPr lang="en-US" altLang="zh-CN" sz="2200" baseline="-25000" dirty="0"/>
              <a:t>16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/>
              <a:t>　</a:t>
            </a:r>
            <a:r>
              <a:rPr lang="en-US" altLang="zh-CN" sz="2200" dirty="0"/>
              <a:t>CON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=0000</a:t>
            </a:r>
            <a:r>
              <a:rPr lang="zh-CN" altLang="en-US" sz="2200" dirty="0"/>
              <a:t>　</a:t>
            </a:r>
            <a:r>
              <a:rPr lang="en-US" altLang="zh-CN" sz="2200" dirty="0"/>
              <a:t>0010(02</a:t>
            </a:r>
            <a:r>
              <a:rPr lang="en-US" altLang="zh-CN" sz="2200" baseline="-25000" dirty="0"/>
              <a:t>16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/>
              <a:t>　</a:t>
            </a:r>
            <a:r>
              <a:rPr lang="en-US" altLang="zh-CN" sz="2200" dirty="0"/>
              <a:t>CON</a:t>
            </a:r>
            <a:r>
              <a:rPr lang="en-US" altLang="zh-CN" sz="2200" baseline="-25000" dirty="0"/>
              <a:t>3</a:t>
            </a:r>
            <a:r>
              <a:rPr lang="en-US" altLang="zh-CN" sz="2200" dirty="0"/>
              <a:t>=0000</a:t>
            </a:r>
            <a:r>
              <a:rPr lang="zh-CN" altLang="en-US" sz="2200" dirty="0"/>
              <a:t>　</a:t>
            </a:r>
            <a:r>
              <a:rPr lang="en-US" altLang="zh-CN" sz="2200" dirty="0"/>
              <a:t>0101(05</a:t>
            </a:r>
            <a:r>
              <a:rPr lang="en-US" altLang="zh-CN" sz="2200" baseline="-25000" dirty="0"/>
              <a:t>16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/>
              <a:t>　</a:t>
            </a:r>
            <a:r>
              <a:rPr lang="en-US" altLang="zh-CN" sz="2200" dirty="0"/>
              <a:t>CON</a:t>
            </a:r>
            <a:r>
              <a:rPr lang="en-US" altLang="zh-CN" sz="2200" baseline="-25000" dirty="0"/>
              <a:t>4</a:t>
            </a:r>
            <a:r>
              <a:rPr lang="en-US" altLang="zh-CN" sz="2200" dirty="0"/>
              <a:t>=0001</a:t>
            </a:r>
            <a:r>
              <a:rPr lang="zh-CN" altLang="en-US" sz="2200" dirty="0"/>
              <a:t>　</a:t>
            </a:r>
            <a:r>
              <a:rPr lang="en-US" altLang="zh-CN" sz="2200" dirty="0"/>
              <a:t>1000(18</a:t>
            </a:r>
            <a:r>
              <a:rPr lang="en-US" altLang="zh-CN" sz="2200" baseline="-25000" dirty="0"/>
              <a:t>16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/>
              <a:t>　</a:t>
            </a:r>
            <a:r>
              <a:rPr lang="en-US" altLang="zh-CN" sz="2200" dirty="0"/>
              <a:t>CON</a:t>
            </a:r>
            <a:r>
              <a:rPr lang="en-US" altLang="zh-CN" sz="2200" baseline="-25000" dirty="0"/>
              <a:t>5</a:t>
            </a:r>
            <a:r>
              <a:rPr lang="en-US" altLang="zh-CN" sz="2200" dirty="0"/>
              <a:t>=1000</a:t>
            </a:r>
            <a:r>
              <a:rPr lang="zh-CN" altLang="en-US" sz="2200" dirty="0"/>
              <a:t>　</a:t>
            </a:r>
            <a:r>
              <a:rPr lang="en-US" altLang="zh-CN" sz="2200" dirty="0"/>
              <a:t>0000(80</a:t>
            </a:r>
            <a:r>
              <a:rPr lang="en-US" altLang="zh-CN" sz="2200" baseline="-25000" dirty="0"/>
              <a:t>16</a:t>
            </a:r>
            <a:r>
              <a:rPr lang="en-US" altLang="zh-CN" sz="2200" dirty="0"/>
              <a:t>)</a:t>
            </a:r>
          </a:p>
          <a:p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问：经过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CLR=1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之后，机器的动作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顺序和现象如何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</p:txBody>
      </p:sp>
      <p:pic>
        <p:nvPicPr>
          <p:cNvPr id="3" name="Picture 5" descr="图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"/>
          <a:stretch/>
        </p:blipFill>
        <p:spPr bwMode="auto">
          <a:xfrm>
            <a:off x="4376736" y="2407274"/>
            <a:ext cx="4761026" cy="3879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921152" y="6286500"/>
            <a:ext cx="3762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2.36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将数据输入到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中的过程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3953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2900" y="1046887"/>
            <a:ext cx="8458200" cy="16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(1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/>
              <a:t>CON1=C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M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 M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D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=0110</a:t>
            </a:r>
            <a:r>
              <a:rPr lang="zh-CN" altLang="en-US" sz="2200" dirty="0"/>
              <a:t>  </a:t>
            </a:r>
            <a:r>
              <a:rPr lang="en-US" altLang="zh-CN" sz="2200" dirty="0"/>
              <a:t>0000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时要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的内容装到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中去，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被清零后，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PC=0000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0000</a:t>
            </a:r>
          </a:p>
          <a:p>
            <a:pPr>
              <a:lnSpc>
                <a:spcPct val="120000"/>
              </a:lnSpc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所以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的前沿一到时，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MAR=PC=0000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0000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，立即指向存储器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中第一个存储单元</a:t>
            </a:r>
            <a:r>
              <a:rPr lang="en-US" altLang="zh-CN" sz="2200" dirty="0"/>
              <a:t>R</a:t>
            </a:r>
            <a:r>
              <a:rPr lang="en-US" altLang="zh-CN" sz="2200" baseline="-25000" dirty="0"/>
              <a:t>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的地址。</a:t>
            </a:r>
          </a:p>
        </p:txBody>
      </p:sp>
      <p:sp>
        <p:nvSpPr>
          <p:cNvPr id="3" name="矩形 2"/>
          <p:cNvSpPr/>
          <p:nvPr/>
        </p:nvSpPr>
        <p:spPr>
          <a:xfrm>
            <a:off x="342900" y="3006902"/>
            <a:ext cx="8458200" cy="1279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(2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/>
              <a:t>CON2=C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M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 M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D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=0000</a:t>
            </a:r>
            <a:r>
              <a:rPr lang="zh-CN" altLang="en-US" sz="2200" dirty="0"/>
              <a:t>  </a:t>
            </a:r>
            <a:r>
              <a:rPr lang="en-US" altLang="zh-CN" sz="2200" dirty="0"/>
              <a:t>0010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200" dirty="0" smtClean="0"/>
              <a:t>L</a:t>
            </a:r>
            <a:r>
              <a:rPr lang="en-US" altLang="zh-CN" sz="2200" baseline="-25000" dirty="0" smtClean="0"/>
              <a:t>I</a:t>
            </a:r>
            <a:r>
              <a:rPr lang="en-US" altLang="zh-CN" sz="2200" dirty="0" smtClean="0"/>
              <a:t>=1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，为输入寄存器作好准备，以便输入数据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的前沿到达时，</a:t>
            </a:r>
            <a:r>
              <a:rPr lang="en-US" altLang="zh-CN" sz="2200" dirty="0"/>
              <a:t>I=I</a:t>
            </a:r>
            <a:r>
              <a:rPr lang="en-US" altLang="zh-CN" sz="2200" baseline="-25000" dirty="0"/>
              <a:t>0</a:t>
            </a:r>
            <a:r>
              <a:rPr lang="en-US" altLang="zh-CN" sz="2200" dirty="0"/>
              <a:t>=1100</a:t>
            </a:r>
            <a:r>
              <a:rPr lang="zh-CN" altLang="en-US" sz="2200" dirty="0"/>
              <a:t>　</a:t>
            </a:r>
            <a:r>
              <a:rPr lang="en-US" altLang="zh-CN" sz="2200" dirty="0"/>
              <a:t>0001</a:t>
            </a:r>
            <a:r>
              <a:rPr lang="zh-CN" altLang="en-US" sz="2200" dirty="0"/>
              <a:t>　</a:t>
            </a:r>
            <a:r>
              <a:rPr lang="en-US" altLang="zh-CN" sz="2200" dirty="0"/>
              <a:t>1001</a:t>
            </a:r>
          </a:p>
        </p:txBody>
      </p:sp>
      <p:sp>
        <p:nvSpPr>
          <p:cNvPr id="4" name="矩形 3"/>
          <p:cNvSpPr/>
          <p:nvPr/>
        </p:nvSpPr>
        <p:spPr>
          <a:xfrm>
            <a:off x="342900" y="4561293"/>
            <a:ext cx="8458200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(3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/>
              <a:t>CON3=C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M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 M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D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=0000</a:t>
            </a:r>
            <a:r>
              <a:rPr lang="zh-CN" altLang="en-US" sz="2200" dirty="0"/>
              <a:t>  </a:t>
            </a:r>
            <a:r>
              <a:rPr lang="en-US" altLang="zh-CN" sz="2200" dirty="0"/>
              <a:t>0101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</a:t>
            </a:r>
            <a:r>
              <a:rPr lang="en-US" altLang="zh-CN" sz="2200" dirty="0" smtClean="0"/>
              <a:t>L</a:t>
            </a:r>
            <a:r>
              <a:rPr lang="en-US" altLang="zh-CN" sz="2200" baseline="-25000" dirty="0" smtClean="0"/>
              <a:t>D</a:t>
            </a:r>
            <a:r>
              <a:rPr lang="en-US" altLang="zh-CN" sz="2200" dirty="0" smtClean="0"/>
              <a:t>=1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准备接受数据；</a:t>
            </a:r>
            <a:r>
              <a:rPr lang="en-US" altLang="zh-CN" sz="2200" dirty="0">
                <a:solidFill>
                  <a:srgbClr val="00B0F0"/>
                </a:solidFill>
              </a:rPr>
              <a:t>E</a:t>
            </a:r>
            <a:r>
              <a:rPr lang="en-US" altLang="zh-CN" sz="2200" baseline="-25000" dirty="0">
                <a:solidFill>
                  <a:srgbClr val="00B0F0"/>
                </a:solidFill>
              </a:rPr>
              <a:t>I</a:t>
            </a:r>
            <a:r>
              <a:rPr lang="en-US" altLang="zh-CN" sz="2200" dirty="0">
                <a:solidFill>
                  <a:srgbClr val="00B0F0"/>
                </a:solidFill>
              </a:rPr>
              <a:t>=1</a:t>
            </a:r>
            <a:r>
              <a:rPr lang="zh-CN" altLang="en-US" sz="2200" dirty="0">
                <a:solidFill>
                  <a:srgbClr val="00B0F0"/>
                </a:solidFill>
              </a:rPr>
              <a:t>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准备放出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en-US" altLang="zh-CN" sz="2200" dirty="0"/>
              <a:t>I</a:t>
            </a:r>
            <a:r>
              <a:rPr lang="en-US" altLang="zh-CN" sz="2200" baseline="-25000" dirty="0"/>
              <a:t>0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的前沿到达时，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MDR=I=</a:t>
            </a:r>
            <a:r>
              <a:rPr lang="en-US" altLang="zh-CN" sz="2200" dirty="0"/>
              <a:t>I</a:t>
            </a:r>
            <a:r>
              <a:rPr lang="en-US" altLang="zh-CN" sz="2200" baseline="-25000" dirty="0"/>
              <a:t>0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=1100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0001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1001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0198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7675" y="1189762"/>
            <a:ext cx="8267700" cy="2091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(4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/>
              <a:t>CON4=C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M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  M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D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=0001</a:t>
            </a:r>
            <a:r>
              <a:rPr lang="zh-CN" altLang="en-US" sz="2200" dirty="0"/>
              <a:t>  </a:t>
            </a:r>
            <a:r>
              <a:rPr lang="en-US" altLang="zh-CN" sz="2200" dirty="0"/>
              <a:t>1000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200" dirty="0" smtClean="0"/>
              <a:t>W</a:t>
            </a:r>
            <a:r>
              <a:rPr lang="en-US" altLang="zh-CN" sz="2200" baseline="-25000" dirty="0" smtClean="0"/>
              <a:t>E</a:t>
            </a:r>
            <a:r>
              <a:rPr lang="en-US" altLang="zh-CN" sz="2200" dirty="0" smtClean="0"/>
              <a:t>=1</a:t>
            </a:r>
            <a:r>
              <a:rPr lang="en-US" altLang="zh-CN" sz="2200" dirty="0"/>
              <a:t>; </a:t>
            </a:r>
            <a:r>
              <a:rPr lang="en-US" altLang="zh-CN" sz="2200" dirty="0" smtClean="0">
                <a:solidFill>
                  <a:srgbClr val="00B0F0"/>
                </a:solidFill>
              </a:rPr>
              <a:t>M</a:t>
            </a:r>
            <a:r>
              <a:rPr lang="en-US" altLang="zh-CN" sz="2200" baseline="-25000" dirty="0" smtClean="0">
                <a:solidFill>
                  <a:srgbClr val="00B0F0"/>
                </a:solidFill>
              </a:rPr>
              <a:t>E</a:t>
            </a:r>
            <a:r>
              <a:rPr lang="en-US" altLang="zh-CN" sz="2200" dirty="0" smtClean="0">
                <a:solidFill>
                  <a:srgbClr val="00B0F0"/>
                </a:solidFill>
              </a:rPr>
              <a:t>=1 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开始“写入”的动作。</a:t>
            </a:r>
          </a:p>
          <a:p>
            <a:pPr>
              <a:lnSpc>
                <a:spcPct val="120000"/>
              </a:lnSpc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由于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是异步工作的，即不受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的控制，所以，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200" dirty="0">
                <a:solidFill>
                  <a:srgbClr val="00B0F0"/>
                </a:solidFill>
              </a:rPr>
              <a:t>M</a:t>
            </a:r>
            <a:r>
              <a:rPr lang="en-US" altLang="zh-CN" sz="2200" baseline="-25000" dirty="0">
                <a:solidFill>
                  <a:srgbClr val="00B0F0"/>
                </a:solidFill>
              </a:rPr>
              <a:t>E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中的第一个存储单元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即接受来自暂存于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的数据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2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，即</a:t>
            </a:r>
            <a:r>
              <a:rPr lang="en-US" altLang="zh-CN" sz="2200" dirty="0"/>
              <a:t>R</a:t>
            </a:r>
            <a:r>
              <a:rPr lang="en-US" altLang="zh-CN" sz="2200" baseline="-25000" dirty="0"/>
              <a:t>0</a:t>
            </a:r>
            <a:r>
              <a:rPr lang="en-US" altLang="zh-CN" sz="2200" dirty="0"/>
              <a:t>=MDR=I</a:t>
            </a:r>
            <a:r>
              <a:rPr lang="en-US" altLang="zh-CN" sz="2200" baseline="-25000" dirty="0"/>
              <a:t>0</a:t>
            </a:r>
            <a:r>
              <a:rPr lang="en-US" altLang="zh-CN" sz="2200" dirty="0"/>
              <a:t>=1100</a:t>
            </a:r>
            <a:r>
              <a:rPr lang="zh-CN" altLang="en-US" sz="2200" dirty="0"/>
              <a:t>　</a:t>
            </a:r>
            <a:r>
              <a:rPr lang="en-US" altLang="zh-CN" sz="2200" dirty="0"/>
              <a:t>0001</a:t>
            </a:r>
            <a:r>
              <a:rPr lang="zh-CN" altLang="en-US" sz="2200" dirty="0"/>
              <a:t>　</a:t>
            </a:r>
            <a:r>
              <a:rPr lang="en-US" altLang="zh-CN" sz="2200" dirty="0"/>
              <a:t>1001</a:t>
            </a:r>
          </a:p>
        </p:txBody>
      </p:sp>
      <p:sp>
        <p:nvSpPr>
          <p:cNvPr id="3" name="矩形 2"/>
          <p:cNvSpPr/>
          <p:nvPr/>
        </p:nvSpPr>
        <p:spPr>
          <a:xfrm>
            <a:off x="447675" y="3371761"/>
            <a:ext cx="8267700" cy="1257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/>
              <a:t>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(5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200" dirty="0"/>
              <a:t>CON5=C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P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M</a:t>
            </a:r>
            <a:r>
              <a:rPr lang="en-US" altLang="zh-CN" sz="2200" dirty="0"/>
              <a:t>W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  M</a:t>
            </a:r>
            <a:r>
              <a:rPr lang="en-US" altLang="zh-CN" sz="2200" baseline="-25000" dirty="0"/>
              <a:t>E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D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=1000</a:t>
            </a:r>
            <a:r>
              <a:rPr lang="zh-CN" altLang="en-US" sz="2200" dirty="0"/>
              <a:t>  </a:t>
            </a:r>
            <a:r>
              <a:rPr lang="en-US" altLang="zh-CN" sz="2200" dirty="0"/>
              <a:t>0000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200" dirty="0" smtClean="0"/>
              <a:t>C</a:t>
            </a:r>
            <a:r>
              <a:rPr lang="en-US" altLang="zh-CN" sz="2200" baseline="-25000" dirty="0" smtClean="0"/>
              <a:t>P</a:t>
            </a:r>
            <a:r>
              <a:rPr lang="en-US" altLang="zh-CN" sz="2200" dirty="0" smtClean="0"/>
              <a:t>=1</a:t>
            </a:r>
            <a:endParaRPr lang="en-US" altLang="zh-CN" sz="2200" dirty="0"/>
          </a:p>
          <a:p>
            <a:pPr>
              <a:lnSpc>
                <a:spcPct val="120000"/>
              </a:lnSpc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这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是命令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的指令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。在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的前沿到达时，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PC=0000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0001</a:t>
            </a:r>
          </a:p>
        </p:txBody>
      </p:sp>
    </p:spTree>
    <p:extLst>
      <p:ext uri="{BB962C8B-B14F-4D97-AF65-F5344CB8AC3E}">
        <p14:creationId xmlns:p14="http://schemas.microsoft.com/office/powerpoint/2010/main" val="205104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4349" y="1556089"/>
            <a:ext cx="848677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个控制字组成一条指令，称为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例行程序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。用一句话来说，这个指令就是“把外围设备的数据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输入字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装入到计算机的内存中去”。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执行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结果是：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　　　　　　　　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=I</a:t>
            </a:r>
            <a:r>
              <a:rPr lang="en-US" altLang="zh-CN" sz="2400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2400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这个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例子告诉我们，当命令将外部数据存入计算机时，计算机内部的信息是如何流通的。</a:t>
            </a:r>
            <a:endParaRPr lang="en-US" altLang="zh-CN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63830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6475" y="858500"/>
            <a:ext cx="457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习题：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2.2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2.3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2.4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2.5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2.6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2.8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2.9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2.11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2.12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698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2945</TotalTime>
  <Words>6353</Words>
  <Application>Microsoft Office PowerPoint</Application>
  <PresentationFormat>全屏显示(4:3)</PresentationFormat>
  <Paragraphs>330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8" baseType="lpstr">
      <vt:lpstr>等线</vt:lpstr>
      <vt:lpstr>等线 Light</vt:lpstr>
      <vt:lpstr>楷体</vt:lpstr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Enjia Deng</dc:creator>
  <cp:lastModifiedBy>陈佩</cp:lastModifiedBy>
  <cp:revision>93</cp:revision>
  <dcterms:created xsi:type="dcterms:W3CDTF">2020-03-31T02:45:39Z</dcterms:created>
  <dcterms:modified xsi:type="dcterms:W3CDTF">2021-09-21T13:38:06Z</dcterms:modified>
</cp:coreProperties>
</file>