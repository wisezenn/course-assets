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66"/>
  </p:notesMasterIdLst>
  <p:sldIdLst>
    <p:sldId id="327" r:id="rId2"/>
    <p:sldId id="257" r:id="rId3"/>
    <p:sldId id="258" r:id="rId4"/>
    <p:sldId id="265" r:id="rId5"/>
    <p:sldId id="266" r:id="rId6"/>
    <p:sldId id="263" r:id="rId7"/>
    <p:sldId id="264" r:id="rId8"/>
    <p:sldId id="261" r:id="rId9"/>
    <p:sldId id="262" r:id="rId10"/>
    <p:sldId id="259" r:id="rId11"/>
    <p:sldId id="328" r:id="rId12"/>
    <p:sldId id="267" r:id="rId13"/>
    <p:sldId id="268" r:id="rId14"/>
    <p:sldId id="269" r:id="rId15"/>
    <p:sldId id="277" r:id="rId16"/>
    <p:sldId id="278" r:id="rId17"/>
    <p:sldId id="279" r:id="rId18"/>
    <p:sldId id="287" r:id="rId19"/>
    <p:sldId id="288" r:id="rId20"/>
    <p:sldId id="289" r:id="rId21"/>
    <p:sldId id="297" r:id="rId22"/>
    <p:sldId id="298" r:id="rId23"/>
    <p:sldId id="299" r:id="rId24"/>
    <p:sldId id="307" r:id="rId25"/>
    <p:sldId id="308" r:id="rId26"/>
    <p:sldId id="309" r:id="rId27"/>
    <p:sldId id="318" r:id="rId28"/>
    <p:sldId id="319" r:id="rId29"/>
    <p:sldId id="320" r:id="rId30"/>
    <p:sldId id="321" r:id="rId31"/>
    <p:sldId id="322" r:id="rId32"/>
    <p:sldId id="323" r:id="rId33"/>
    <p:sldId id="324" r:id="rId34"/>
    <p:sldId id="325" r:id="rId35"/>
    <p:sldId id="326" r:id="rId36"/>
    <p:sldId id="32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290" r:id="rId52"/>
    <p:sldId id="291" r:id="rId53"/>
    <p:sldId id="292" r:id="rId54"/>
    <p:sldId id="293" r:id="rId55"/>
    <p:sldId id="294" r:id="rId56"/>
    <p:sldId id="295" r:id="rId57"/>
    <p:sldId id="296" r:id="rId58"/>
    <p:sldId id="280" r:id="rId59"/>
    <p:sldId id="281" r:id="rId60"/>
    <p:sldId id="282" r:id="rId61"/>
    <p:sldId id="283" r:id="rId62"/>
    <p:sldId id="284" r:id="rId63"/>
    <p:sldId id="285" r:id="rId64"/>
    <p:sldId id="286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6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1644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5F69DD-3D9A-4BA0-935F-6CAC740BA6CC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95397-6A9D-49F4-A8EA-7C763FCEB3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09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62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810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1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0243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775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3537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881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059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8145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718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641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92437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22635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426606-9BAD-42CC-8403-7B224A35E75E}" type="datetimeFigureOut">
              <a:rPr lang="zh-CN" altLang="en-US" smtClean="0"/>
              <a:t>2020/9/23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3DE95B-AD02-4C00-ACA1-7D44BD51D31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4550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5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4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25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138859" y="1300123"/>
            <a:ext cx="505779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章　</a:t>
            </a:r>
            <a:r>
              <a:rPr lang="en-US" altLang="zh-CN" sz="4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</a:p>
        </p:txBody>
      </p:sp>
      <p:sp>
        <p:nvSpPr>
          <p:cNvPr id="3" name="矩形 2"/>
          <p:cNvSpPr/>
          <p:nvPr/>
        </p:nvSpPr>
        <p:spPr>
          <a:xfrm>
            <a:off x="2201003" y="2695671"/>
            <a:ext cx="613003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4.1  16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位微处理器概述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4.2 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8086/8088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微处理器</a:t>
            </a:r>
            <a:endParaRPr lang="zh-CN" altLang="en-US" sz="3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4.3  </a:t>
            </a:r>
            <a:r>
              <a:rPr lang="en-US" altLang="zh-CN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8086/8088</a:t>
            </a:r>
            <a:r>
              <a:rPr lang="zh-CN" altLang="en-US" sz="3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</a:p>
          <a:p>
            <a:pPr>
              <a:lnSpc>
                <a:spcPct val="150000"/>
              </a:lnSpc>
            </a:pPr>
            <a:r>
              <a:rPr lang="en-US" altLang="zh-CN" sz="3200" dirty="0">
                <a:latin typeface="楷体" panose="02010609060101010101" pitchFamily="49" charset="-122"/>
                <a:ea typeface="楷体" panose="02010609060101010101" pitchFamily="49" charset="-122"/>
              </a:rPr>
              <a:t>4.4  8086/8088</a:t>
            </a:r>
            <a:r>
              <a:rPr lang="zh-CN" altLang="en-US" sz="3200" dirty="0">
                <a:latin typeface="楷体" panose="02010609060101010101" pitchFamily="49" charset="-122"/>
                <a:ea typeface="楷体" panose="02010609060101010101" pitchFamily="49" charset="-122"/>
              </a:rPr>
              <a:t>的主要操作功能</a:t>
            </a:r>
          </a:p>
        </p:txBody>
      </p:sp>
    </p:spTree>
    <p:extLst>
      <p:ext uri="{BB962C8B-B14F-4D97-AF65-F5344CB8AC3E}">
        <p14:creationId xmlns:p14="http://schemas.microsoft.com/office/powerpoint/2010/main" val="81588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81259" y="554400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</a:rPr>
              <a:t>4.1  16</a:t>
            </a:r>
            <a:r>
              <a:rPr lang="zh-CN" altLang="en-US" sz="28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位微处理器概述</a:t>
            </a:r>
          </a:p>
        </p:txBody>
      </p:sp>
      <p:sp>
        <p:nvSpPr>
          <p:cNvPr id="3" name="矩形 2"/>
          <p:cNvSpPr/>
          <p:nvPr/>
        </p:nvSpPr>
        <p:spPr>
          <a:xfrm>
            <a:off x="838938" y="2067148"/>
            <a:ext cx="77013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微处理器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(microprocessor):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是微型计算机的运算及控制部件，也称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中央处理单元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(CPU)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838938" y="4029112"/>
            <a:ext cx="770137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算术逻辑部件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(ALU)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控制部件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寄存器组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片内总线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等几部分组成。</a:t>
            </a:r>
          </a:p>
        </p:txBody>
      </p:sp>
    </p:spTree>
    <p:extLst>
      <p:ext uri="{BB962C8B-B14F-4D97-AF65-F5344CB8AC3E}">
        <p14:creationId xmlns:p14="http://schemas.microsoft.com/office/powerpoint/2010/main" val="2735997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10466" y="1312429"/>
            <a:ext cx="836720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1971—1973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通常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以字长是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位或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，典型的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Intel 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4004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Intel 8008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微处理器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 4004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是一种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位微处理器，可进行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位二进制的并行运算，它有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条指令，速度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0.05MIPs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Million Instruction Per Second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，每秒百万条指令）。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 4004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的功能有限，主要用于计算器、电动打字机、照相机、台秤、电视机等家用电器上，使这些电器设备具有智能化，从而提高它们的性能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0466" y="4245682"/>
            <a:ext cx="836720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1974—1977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年）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典型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的微处理器有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Intel 8080/8085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Zilog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公司的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Z80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Motorola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公司的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M6800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。与第一代微处理器相比，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集成度提高了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倍，运算速度提高了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15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，指令系统相对比较完善，已具备典型的计算机体系结构及中断、直接存储器存取等功能。</a:t>
            </a:r>
          </a:p>
        </p:txBody>
      </p:sp>
    </p:spTree>
    <p:extLst>
      <p:ext uri="{BB962C8B-B14F-4D97-AF65-F5344CB8AC3E}">
        <p14:creationId xmlns:p14="http://schemas.microsoft.com/office/powerpoint/2010/main" val="11383526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54855" y="1385318"/>
            <a:ext cx="828730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1978—1984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年）即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1978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年，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公司率先推出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，同时，为了方便原来的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位机用户，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公司又提出了一种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准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。它们的运算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速度比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位微处理器快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，采用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HMOS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高密度工艺，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集成度达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29 000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个晶体管／片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年代以来，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公司又推出了高性能的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80186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80286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。它们与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向上兼容，速度比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快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倍。</a:t>
            </a:r>
          </a:p>
        </p:txBody>
      </p:sp>
      <p:sp>
        <p:nvSpPr>
          <p:cNvPr id="6" name="矩形 5"/>
          <p:cNvSpPr/>
          <p:nvPr/>
        </p:nvSpPr>
        <p:spPr>
          <a:xfrm>
            <a:off x="554855" y="4206627"/>
            <a:ext cx="828730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第四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1985—1992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年）即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位微处理器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1985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日，英特尔划时代的产品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80386DX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正式发布了，其内部包含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27.5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万个晶体管，时钟频率为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12.5MHz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，后逐步提高到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25MHz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33MHz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，最后还有少量的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产品。</a:t>
            </a:r>
          </a:p>
        </p:txBody>
      </p:sp>
    </p:spTree>
    <p:extLst>
      <p:ext uri="{BB962C8B-B14F-4D97-AF65-F5344CB8AC3E}">
        <p14:creationId xmlns:p14="http://schemas.microsoft.com/office/powerpoint/2010/main" val="110336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83831" y="1198849"/>
            <a:ext cx="843822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第五代（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1993-2005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年）是奔腾（</a:t>
            </a:r>
            <a:r>
              <a:rPr lang="en-US" altLang="zh-CN" sz="20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pentium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）系列微处理器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时代。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典型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产品是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公司的奔腾系列芯片及与之兼容的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AMD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K6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系列微处理器芯片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。内部采用了超标量指令流水线结构，并具有相互独立的指令和数据高速缓存。随着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MMX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MultiMediaeXtended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）微处理器的出现，使微机的发展在网络化、多媒体化和智能化等方面跨上了更高的台阶。</a:t>
            </a:r>
          </a:p>
        </p:txBody>
      </p:sp>
      <p:sp>
        <p:nvSpPr>
          <p:cNvPr id="3" name="矩形 2"/>
          <p:cNvSpPr/>
          <p:nvPr/>
        </p:nvSpPr>
        <p:spPr>
          <a:xfrm>
            <a:off x="483831" y="3452025"/>
            <a:ext cx="8438225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第六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代（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2005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年至今）是酷睿（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core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）系列微处理器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时代。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“酷睿”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是一款领先节能的新型微架构，设计的出发点是提供卓然出众的性能和能效，提高每瓦特性能，也就是所谓的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能效比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。早期的酷睿是基于笔记本处理器的。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2019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月，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Intel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正式宣布了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十代酷睿处理器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。采用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10nm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工艺的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Ice Lake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处理器，使用全新的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AI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架构，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IPC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性能大涨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18%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，游戏性能提升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100%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AI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性能提升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150%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6546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9445" y="1113615"/>
            <a:ext cx="8260672" cy="53368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相同点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000" dirty="0" smtClean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内部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基本相同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，均为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条地址线，都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采用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位字进行操作及存储器寻址，两者的软件完全兼容，程序的执行也完全相同。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不同点：</a:t>
            </a:r>
            <a:endParaRPr lang="en-US" altLang="zh-CN" sz="2000" dirty="0" smtClean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外部数据总线不同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位数据总线，而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位数据总线，在处理一个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位数据字时，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需要两步操作而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只需要一步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要比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有较多的外部存取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。所以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，对相同的程序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得较慢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内部指令队列缓冲器不同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字节的指令队列缓冲器，有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个及以上空位时取指；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的指令队列缓冲器，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及以上空位时取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指。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364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61387" y="1374688"/>
            <a:ext cx="8012096" cy="9787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 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两种微处理器都封装在相同的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引脚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双列直插组件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(DIP)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中。</a:t>
            </a:r>
          </a:p>
        </p:txBody>
      </p:sp>
      <p:pic>
        <p:nvPicPr>
          <p:cNvPr id="3" name="Picture 148" descr="8088CP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827" y="2708087"/>
            <a:ext cx="3931836" cy="29100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5806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81259" y="314703"/>
            <a:ext cx="39549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4.2  8086/8088CPU</a:t>
            </a:r>
            <a:r>
              <a:rPr lang="zh-CN" altLang="en-US" sz="28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结构</a:t>
            </a:r>
            <a:endParaRPr lang="zh-CN" altLang="en-US" sz="28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6723" y="1210785"/>
            <a:ext cx="3340058" cy="54014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4">
              <a:spcBef>
                <a:spcPts val="600"/>
              </a:spcBef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8086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从功能上可分为两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部分，如图</a:t>
            </a: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4.1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>
              <a:spcBef>
                <a:spcPts val="600"/>
              </a:spcBef>
            </a:pP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执行部件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EU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(execution unit)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：不与外部总线相连，指负责执行指令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>
              <a:spcBef>
                <a:spcPts val="600"/>
              </a:spcBef>
            </a:pP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总线接口部件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BIU 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(bus interface unit)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：负责从存储器或外部设备中读取指令和读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写数据，及完成所有的总线</a:t>
            </a: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操作。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lvl="4">
              <a:spcBef>
                <a:spcPts val="600"/>
              </a:spcBef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上述两个单元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并行工作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，可同时进行读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写数据操作和执行命令的操作，从而提高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的工作速度</a:t>
            </a:r>
          </a:p>
        </p:txBody>
      </p:sp>
      <p:pic>
        <p:nvPicPr>
          <p:cNvPr id="4" name="Picture 9" descr="图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554" y="1015476"/>
            <a:ext cx="5559425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989063" y="6379638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4.1  8086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的结构框图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098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159" y="1015476"/>
            <a:ext cx="31181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4.2.1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部件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EU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4202" y="1612179"/>
            <a:ext cx="324935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执行指令，将指令译码并利用内部的寄存器和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ALU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对数据进行处理。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组成：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通用寄存器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BX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CX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，分为高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）和低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(2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通用寄存器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：堆栈指示器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SP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，基址指示器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BP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，目的变址寄存器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DI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，源变址寄存器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SI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(3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标志寄存器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(FLAGS):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反应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状态和控制标志；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(4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算术逻辑部件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(ALU)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4" name="Picture 9" descr="图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554" y="1015476"/>
            <a:ext cx="5559425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989063" y="6379638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4.1  8086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的结构框图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913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1740" y="1176935"/>
            <a:ext cx="8584707" cy="522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执行部件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EU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的特点：</a:t>
            </a:r>
            <a:endParaRPr lang="en-US" altLang="zh-CN" sz="2400" dirty="0">
              <a:solidFill>
                <a:srgbClr val="00B0F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(1)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个通用寄存器既可以作为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位寄存器使用，也可以作为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位寄存器使用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BX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寄存器作为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位寄存器时，分为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BL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位。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(2)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AX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寄存器常称为累加器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指令系统中有许多指令都是通过累加器的动作来执行的。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当累加器作为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位来使用时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，可以进行按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乘操作、按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除操作、按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输入／输出和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传送等；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当累加器作为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位来使用时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，可以实现按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乘操作、按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除操作、按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输入／输出和字节传送，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以及十进制运算等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(3)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加法器是算术逻辑的主要部件，绝大部分指令的执行都由加法器来完成。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(4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标志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寄存器（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status flags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）共有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位，其中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位为标志位，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位为空位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，各位的含义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如教材图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4-3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8093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159" y="1015476"/>
            <a:ext cx="33913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4.2.2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总线接口部件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64202" y="1636939"/>
            <a:ext cx="3249351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功能</a:t>
            </a:r>
            <a:r>
              <a:rPr lang="en-US" altLang="zh-CN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负责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与存储器、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端口传送数据，即管理从存储器中存取程序和数据的实际处理过程。</a:t>
            </a:r>
          </a:p>
          <a:p>
            <a:pPr>
              <a:lnSpc>
                <a:spcPct val="110000"/>
              </a:lnSpc>
            </a:pP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组成：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(1) 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段地址寄存器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，即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位代码段寄存器；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DS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位数据段寄存器；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ES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位附加段寄存器；</a:t>
            </a:r>
          </a:p>
          <a:p>
            <a:pPr>
              <a:lnSpc>
                <a:spcPct val="11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SS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——16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位堆栈段寄存器。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(2) 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指令指示器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(3) 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地址加法器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(4) 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字节的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指令队列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(5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) 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控制逻辑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4" name="Picture 9" descr="图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3554" y="1015476"/>
            <a:ext cx="5559425" cy="536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4989063" y="6379638"/>
            <a:ext cx="26084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4.1  8086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的结构框图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24958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8524" y="1211191"/>
            <a:ext cx="8580268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有如下特点：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的指令队列为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个字节，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个字节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。均会在执行指令的同时，从内存中取下一条指令，取来的指令就放在指令队列中。这样，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执行完一条指令就可以立即执行下一条指令，而不需要像以往的计算机那样（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轮番进行取指和执行指令的操作），从而提高了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的效率（即并行工作）。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在下面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两种情况下执行取指操作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一是当指令队列中出现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个或以上空字节时（ 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出现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个或以上），自动取指补充到指令队列中；二是当程序发生转移时，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执行取指操作，将取得的第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条指令直接送到</a:t>
            </a:r>
            <a:r>
              <a:rPr lang="en-US" altLang="zh-CN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EU</a:t>
            </a:r>
            <a:r>
              <a:rPr lang="zh-CN" altLang="en-US" sz="2000" dirty="0">
                <a:solidFill>
                  <a:srgbClr val="7030A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中去执行，将随后取来的指令填入指令队列中，冲掉转移前放入指令队列中的指令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（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加法器用来产生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位地址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可用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位地址寻址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字节的内存空间，但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内部所有的寄存器都是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位的，所以需要由一个附加的机构来根据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位寄存器提供的信息计算出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位的物理地址，这个机构就是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位的地址加法器。</a:t>
            </a:r>
          </a:p>
        </p:txBody>
      </p:sp>
    </p:spTree>
    <p:extLst>
      <p:ext uri="{BB962C8B-B14F-4D97-AF65-F5344CB8AC3E}">
        <p14:creationId xmlns:p14="http://schemas.microsoft.com/office/powerpoint/2010/main" val="368097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2159" y="1015476"/>
            <a:ext cx="33913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4.2.2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存储器结构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7201" y="1593714"/>
            <a:ext cx="8136384" cy="49859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altLang="zh-CN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存储器编址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操作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单位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位的微处理器，操作可以以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为单位也可以按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字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为单位来处理。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字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的地址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位的微处理器，但系统中的存储器是以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位为一个存储单位编制的，即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位的字占据连续的两个单位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（每个单位都有各自的地址），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规定处于低字节的地址为这个字的地址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规则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非规则字：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在存储器中，任何连续存放的两个字节都可称为一个字；将偶数地址的字称为规则字，奇数地址的字称为非规则字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209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61891" y="1062952"/>
            <a:ext cx="4132556" cy="58539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40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en-US" altLang="zh-CN" sz="2400" dirty="0" smtClean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sz="2400" dirty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的分段</a:t>
            </a:r>
          </a:p>
          <a:p>
            <a:pPr>
              <a:lnSpc>
                <a:spcPct val="120000"/>
              </a:lnSpc>
            </a:pP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物理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地址：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条地址线（有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2^20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个存储单位），每个字节所对应的地址应该是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位的地址称为物理地址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位的物理地址在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内部就应有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位的地址寄存器，而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机内的寄存器是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位寄存器只能寻址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因此，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系统中把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1M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存储空间分成若干个逻辑段，每个逻辑段容量≤</a:t>
            </a:r>
            <a:r>
              <a:rPr lang="en-US" altLang="zh-CN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64KB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400" dirty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7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3411" y="1466141"/>
            <a:ext cx="40513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4881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9646" y="1137937"/>
            <a:ext cx="3422342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逻辑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段在整个存储空间浮动，即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段与段之间可以部分重叠、完全重叠、连续排列、断续排列，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非常灵活。在整个存储空间中可设置若干个逻辑段，如图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4.2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所示。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对于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任何一个物理地址，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即可以被包含在一个逻辑段中，也可包含在多个相互重叠的逻辑段中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，只要有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段地址和偏移地址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就可以访问到这个物理地址所对应的存储空间，如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图所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示。</a:t>
            </a: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1988" y="1137937"/>
            <a:ext cx="5100637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圆角矩形 3"/>
          <p:cNvSpPr/>
          <p:nvPr/>
        </p:nvSpPr>
        <p:spPr>
          <a:xfrm>
            <a:off x="4589755" y="5805996"/>
            <a:ext cx="3852909" cy="96766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、段起点物理地址后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位为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</a:p>
          <a:p>
            <a:pPr algn="ctr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、每个逻辑段长度不超过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64k</a:t>
            </a:r>
            <a:endParaRPr lang="en-US" altLang="zh-CN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前</a:t>
            </a:r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1k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个存储单元专用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798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5056" y="1119027"/>
            <a:ext cx="8171895" cy="5373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中的逻辑地址和物理地址</a:t>
            </a: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与存储器交换信息时使用的地址，用唯一的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位二进制数表示，又称实际地址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逻辑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程序中使用的地址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基址：偏移地址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（都是无符号的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位二进制数）。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个存储单元可看成是具有两种类型的地址：物理地址和逻辑地址。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存储器中的每个存储单位都可以用物理地址（又称实际地址）和逻辑地址两种形式来表示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个存储单元对应一个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位的物理地址，它是由逻辑地址变换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得来。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需要访问存储器时，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地址加法器就将逻辑地址转化成物理地址</a:t>
            </a:r>
          </a:p>
        </p:txBody>
      </p:sp>
    </p:spTree>
    <p:extLst>
      <p:ext uri="{BB962C8B-B14F-4D97-AF65-F5344CB8AC3E}">
        <p14:creationId xmlns:p14="http://schemas.microsoft.com/office/powerpoint/2010/main" val="465178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0140" y="1063972"/>
            <a:ext cx="825623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物理地址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段基址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×</a:t>
            </a:r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（即左移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位，得到段起始地址）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＋</a:t>
            </a: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偏移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图所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示。</a:t>
            </a: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827" y="2125729"/>
            <a:ext cx="6646862" cy="417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56051" y="6300854"/>
            <a:ext cx="48244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物理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地址的生成过程</a:t>
            </a:r>
            <a:endParaRPr lang="en-US" altLang="zh-CN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0771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59040" y="1250362"/>
            <a:ext cx="765699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例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逻辑地址为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0001H: 0010H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，求物理地址。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）代码段寄存器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CS=2000H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，指令指针寄存器存放的是偏移地址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IP=2200H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，存储器的物理地址为多少？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59040" y="4004230"/>
            <a:ext cx="794107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个段寄存器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CS, DS, ES, SS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用来存放基址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位的寄存器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IP, SI, DI, BX, BP, SP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用来存放偏移地址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，在寻址时到底应该使用哪个寄存器是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BIU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根据执行操作的要求确定的。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8849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86116" y="1042671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4.2.4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总线的工作周期</a:t>
            </a:r>
          </a:p>
        </p:txBody>
      </p:sp>
      <p:sp>
        <p:nvSpPr>
          <p:cNvPr id="3" name="矩形 2"/>
          <p:cNvSpPr/>
          <p:nvPr/>
        </p:nvSpPr>
        <p:spPr>
          <a:xfrm>
            <a:off x="586115" y="1649838"/>
            <a:ext cx="8327065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为了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取指和传送数据的协调工作，需要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的总线接口部件执行一个总线周期。在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一个最基本的总线周期由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个时钟周期组成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，常将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个时钟周期称为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个状态，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即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状态。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典型的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总线周期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序列如下图所示。</a:t>
            </a:r>
            <a:endParaRPr lang="en-US" altLang="zh-CN" sz="2000" dirty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时钟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周期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的基本时间计量单位，它由计算机主频决定。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</a:rPr>
              <a:t>e.g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的主频为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10MHz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，一个时钟周期就是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100ns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pic>
        <p:nvPicPr>
          <p:cNvPr id="4" name="Picture 10" descr="图4"/>
          <p:cNvPicPr>
            <a:picLocks noGrp="1"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37" y="4239971"/>
            <a:ext cx="9059863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595199" y="6460772"/>
            <a:ext cx="20377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总线周期序列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101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561208" y="29161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4.3   8086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4"/>
          <a:stretch>
            <a:fillRect/>
          </a:stretch>
        </p:blipFill>
        <p:spPr bwMode="auto">
          <a:xfrm>
            <a:off x="4978108" y="826332"/>
            <a:ext cx="3933825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467692" y="6430207"/>
            <a:ext cx="2954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4.7  8088CPU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引线的排列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79475" y="1516361"/>
            <a:ext cx="4467733" cy="5098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、多路开关：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只有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条引线，为了能在有限的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条引线范围内工作，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内部设置了若干个多路开关，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使某些引线具有多种功能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、多路开关的种类：</a:t>
            </a:r>
            <a:endParaRPr lang="en-US" altLang="zh-CN" sz="2000" dirty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分时复用：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在总线周期的不同时钟周期内引线的功能不同。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与组态有关：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在构成系统时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8086/8088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有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最小和最大两种组态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在不同组态时有些引线的名称和功能不同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（图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4-7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括号中所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示为最大组态功能）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6" name="矩形 5"/>
          <p:cNvSpPr/>
          <p:nvPr/>
        </p:nvSpPr>
        <p:spPr>
          <a:xfrm>
            <a:off x="379475" y="1067813"/>
            <a:ext cx="4572000" cy="46166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4.3.1   8088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3820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44"/>
          <a:stretch>
            <a:fillRect/>
          </a:stretch>
        </p:blipFill>
        <p:spPr bwMode="auto">
          <a:xfrm>
            <a:off x="4978108" y="826332"/>
            <a:ext cx="3933825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5467692" y="6430207"/>
            <a:ext cx="29546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4.7  8088CPU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引线的排列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06108" y="1789314"/>
            <a:ext cx="4210280" cy="350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altLang="zh-CN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的引线分类及用途</a:t>
            </a:r>
            <a:endParaRPr lang="en-US" altLang="zh-CN" sz="2400" dirty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、种类：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线和数据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控制线和状态线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电源和定时线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40000"/>
              </a:lnSpc>
              <a:spcAft>
                <a:spcPts val="1200"/>
              </a:spcAft>
            </a:pP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、用途：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用来输出和接收各种信号。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7781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202" y="518589"/>
            <a:ext cx="8220075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/>
          <p:cNvSpPr/>
          <p:nvPr/>
        </p:nvSpPr>
        <p:spPr>
          <a:xfrm>
            <a:off x="2316701" y="6324886"/>
            <a:ext cx="467307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引线的排列（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不同点？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26752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3133" y="1255737"/>
            <a:ext cx="2646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组态</a:t>
            </a:r>
            <a:r>
              <a:rPr lang="en-US" altLang="zh-CN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模式的概念 </a:t>
            </a:r>
          </a:p>
        </p:txBody>
      </p:sp>
      <p:sp>
        <p:nvSpPr>
          <p:cNvPr id="3" name="矩形 2"/>
          <p:cNvSpPr/>
          <p:nvPr/>
        </p:nvSpPr>
        <p:spPr>
          <a:xfrm>
            <a:off x="573133" y="1984331"/>
            <a:ext cx="828678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为了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适应各种使用场合，在设计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芯片时，使得它们可以在两种组态下工作：最小组态（模式） ，最大组态。</a:t>
            </a:r>
          </a:p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最小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组态（模式）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中只有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一个微处理器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。在这种系统中，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所有的总线控制信号都直接由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产生，系统中的总线控制逻辑电路被减到最少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40000"/>
              </a:lnSpc>
            </a:pP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最大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组态（模式）：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在此系统中，包含两个或多个微处理器，其中主处理器就是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，其他的处理器称为协处理器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，它们是协助主处理器工作的。与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配合的协处理器有两个：数值运算协处理器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，输入／输出协处理器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8089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。在这种系统中，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输出状态信号，由总线控制器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产生控制信号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979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9344" y="1738007"/>
            <a:ext cx="8091996" cy="376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2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8087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是一种专用于数值运算的处理器，它能实现多种类型的数值操作。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由于在通常情况下，数值运算是通过软件来实现，而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8087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是用硬件方法来完成这些运算的，所以在系统中加入协处理器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8087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之后，会提高系统的数值运算速度。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8089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有一套专门用于输入／输出操作的指令系统，在系统中增加协处理器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8089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后，会提高主处理器的效率，尤其在输入输出频繁场合。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的工作模式完全体现在硬件上。</a:t>
            </a:r>
          </a:p>
        </p:txBody>
      </p:sp>
    </p:spTree>
    <p:extLst>
      <p:ext uri="{BB962C8B-B14F-4D97-AF65-F5344CB8AC3E}">
        <p14:creationId xmlns:p14="http://schemas.microsoft.com/office/powerpoint/2010/main" val="1415856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4168" y="1229103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一、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的地址线和数据线</a:t>
            </a:r>
          </a:p>
        </p:txBody>
      </p:sp>
      <p:sp>
        <p:nvSpPr>
          <p:cNvPr id="3" name="矩形 2"/>
          <p:cNvSpPr/>
          <p:nvPr/>
        </p:nvSpPr>
        <p:spPr>
          <a:xfrm>
            <a:off x="364168" y="1900184"/>
            <a:ext cx="4572000" cy="449353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 AD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AD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地址／数据线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内部采用一些多路开关，把低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位地址线和数据线分时复用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引线。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访问存储器或外设时，先要送出访问单元或外设端口的地址，然后读写数据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地址和数据在时间上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是区分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（利用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把先出现的地址锁存起来）。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defRPr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作为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复用引线，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在总线周期的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状态输出要访问的存储器或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端口的地址。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状态，则是传输数据。</a:t>
            </a:r>
            <a:endParaRPr lang="en-US" altLang="zh-CN" sz="2000" dirty="0">
              <a:solidFill>
                <a:srgbClr val="0066CC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66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0467" y="2539415"/>
            <a:ext cx="4425518" cy="20928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 A8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A15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地址线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并不作复用，它们只用来输出地址，称为地址线。这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条地址线在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内部是锁存的，在访问存储器或外设时输出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位地址。</a:t>
            </a: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007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24035" y="1454942"/>
            <a:ext cx="4572000" cy="52937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 A19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S6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A16/S3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状态线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这些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引线是由多路开关的输出，分时复用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访问存储器时这些线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上的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最高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位为地址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A19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  <a:p>
            <a:pPr>
              <a:lnSpc>
                <a:spcPct val="13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S3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状态：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存储器读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操作时输出状态信息，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始终为低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为标志寄存器的中断允许标志的状态，若为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，表示当前允许可屏蔽中断请求；若为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，则禁止一切可屏蔽中断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;S4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用于指示哪个段寄存器正在被使用（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ES, 01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SS, 10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DS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38578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1790" y="1344512"/>
            <a:ext cx="3724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二、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的控制和状态线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组合 7"/>
          <p:cNvGrpSpPr/>
          <p:nvPr/>
        </p:nvGrpSpPr>
        <p:grpSpPr>
          <a:xfrm>
            <a:off x="341790" y="2557171"/>
            <a:ext cx="4572000" cy="3194721"/>
            <a:chOff x="341790" y="2654825"/>
            <a:chExt cx="4572000" cy="3194721"/>
          </a:xfrm>
        </p:grpSpPr>
        <p:sp>
          <p:nvSpPr>
            <p:cNvPr id="4" name="矩形 3"/>
            <p:cNvSpPr/>
            <p:nvPr/>
          </p:nvSpPr>
          <p:spPr>
            <a:xfrm>
              <a:off x="341790" y="2654825"/>
              <a:ext cx="4572000" cy="319472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40000"/>
                </a:lnSpc>
              </a:pPr>
              <a:r>
                <a:rPr lang="zh-CN" altLang="en-US" sz="2400" dirty="0" smtClean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   </a:t>
              </a:r>
              <a:r>
                <a:rPr lang="zh-CN" altLang="en-US" sz="2400" dirty="0" smtClean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</a:t>
              </a:r>
              <a:r>
                <a:rPr lang="zh-CN" altLang="en-US" sz="24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分成两类：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与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组态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无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关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的信号线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；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与</a:t>
              </a:r>
              <a:r>
                <a:rPr lang="zh-CN" altLang="en-US" sz="24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组态有关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的信号线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。</a:t>
              </a:r>
              <a:endPara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40000"/>
                </a:lnSpc>
              </a:pPr>
              <a:r>
                <a:rPr lang="en-US" altLang="zh-CN" sz="24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    8088</a:t>
              </a:r>
              <a:r>
                <a:rPr lang="zh-CN" altLang="en-US" sz="24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组态由引线</a:t>
              </a:r>
              <a:r>
                <a:rPr lang="en-US" altLang="zh-CN" sz="24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MN/MX</a:t>
              </a:r>
              <a:r>
                <a:rPr lang="zh-CN" altLang="en-US" sz="24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来决定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：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引线接电源（</a:t>
              </a:r>
              <a:r>
                <a:rPr lang="en-US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+5V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）</a:t>
              </a:r>
              <a:r>
                <a:rPr lang="en-US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,8088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处于最小组态；引线接地，</a:t>
              </a:r>
              <a:r>
                <a:rPr lang="en-US" altLang="zh-CN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8088</a:t>
              </a:r>
              <a:r>
                <a:rPr lang="zh-CN" altLang="en-US" sz="24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处于最大组态</a:t>
              </a:r>
              <a:r>
                <a:rPr lang="zh-CN" altLang="en-US" sz="2400" dirty="0">
                  <a:latin typeface="楷体" panose="02010609060101010101" pitchFamily="49" charset="-122"/>
                  <a:ea typeface="楷体" panose="02010609060101010101" pitchFamily="49" charset="-122"/>
                </a:rPr>
                <a:t>。</a:t>
              </a:r>
            </a:p>
          </p:txBody>
        </p:sp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3C6905C2-B3BB-4898-BE40-5CDE2D0B83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609111" y="3837570"/>
              <a:ext cx="288185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3">
              <a:schemeClr val="accent5"/>
            </a:lnRef>
            <a:fillRef idx="0">
              <a:schemeClr val="accent5"/>
            </a:fillRef>
            <a:effectRef idx="2">
              <a:schemeClr val="accent5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17878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61891" y="1048109"/>
            <a:ext cx="8651290" cy="5583260"/>
            <a:chOff x="261891" y="1048109"/>
            <a:chExt cx="8651290" cy="5583260"/>
          </a:xfrm>
        </p:grpSpPr>
        <p:sp>
          <p:nvSpPr>
            <p:cNvPr id="2" name="矩形 1"/>
            <p:cNvSpPr/>
            <p:nvPr/>
          </p:nvSpPr>
          <p:spPr>
            <a:xfrm>
              <a:off x="261891" y="1048109"/>
              <a:ext cx="8651290" cy="55832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1.</a:t>
              </a:r>
              <a:r>
                <a:rPr lang="zh-CN" altLang="en-US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与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组态无关的引线</a:t>
              </a:r>
              <a:endPara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marL="514350" indent="-514350"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1)NMI(non-</a:t>
              </a:r>
              <a:r>
                <a:rPr lang="en-US" altLang="zh-CN" sz="2000" dirty="0" err="1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maskable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 </a:t>
              </a: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interrupt)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非屏蔽中断请求信号</a:t>
              </a:r>
              <a:endPara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    非屏蔽中断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请求信号是上升沿触发信号。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这类中断不受中断标志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IF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的影响，也不能用软件屏蔽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。每当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NMI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端进入一个正沿触发信号时，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就会在结束当前指令后，进入非屏蔽中断处理程序。</a:t>
              </a: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2)INTR(interrupt </a:t>
              </a: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request)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可屏蔽中断请求信号</a:t>
              </a:r>
              <a:endPara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    INTR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为高电平有效，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在执行每条指令的最后一个时钟周期时会对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INTR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信号进行采样，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如果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中的中断允许标志为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1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，并且又接收到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INTR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信号，那么，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就会在结束当前指令后，响应中断请求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，进入一个中断处理子程序。</a:t>
              </a:r>
              <a:endPara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(</a:t>
              </a:r>
              <a:r>
                <a:rPr lang="en-US" altLang="zh-CN" sz="2000" dirty="0" smtClean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3)RD(read</a:t>
              </a:r>
              <a:r>
                <a:rPr lang="en-US" altLang="zh-CN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)</a:t>
              </a:r>
              <a:r>
                <a:rPr lang="zh-CN" altLang="en-US" sz="2000" dirty="0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读信号</a:t>
              </a:r>
              <a:endPara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>
                <a:lnSpc>
                  <a:spcPct val="120000"/>
                </a:lnSpc>
                <a:defRPr/>
              </a:pPr>
              <a:r>
                <a:rPr lang="zh-CN" altLang="en-US" sz="2000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    此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信号是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CPU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发出的读信号，该信号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有效表示将要执行一个对存储器或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／</a:t>
              </a:r>
              <a:r>
                <a:rPr lang="en-US" altLang="zh-CN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O</a:t>
              </a:r>
              <a:r>
                <a:rPr lang="zh-CN" altLang="en-US" sz="2000" dirty="0">
                  <a:solidFill>
                    <a:srgbClr val="0066CC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端口的读操作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。到底是读取存储器还是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I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／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O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端口中的数据，这决定于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M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／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IO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信号。在一个执行读操作的总线周期中，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RD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信号在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T</a:t>
              </a:r>
              <a:r>
                <a:rPr lang="en-US" altLang="zh-CN" sz="2000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2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T</a:t>
              </a:r>
              <a:r>
                <a:rPr lang="en-US" altLang="zh-CN" sz="2000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3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T</a:t>
              </a:r>
              <a:r>
                <a:rPr lang="en-US" altLang="zh-CN" sz="2000" baseline="-25000" dirty="0">
                  <a:latin typeface="楷体" panose="02010609060101010101" pitchFamily="49" charset="-122"/>
                  <a:ea typeface="楷体" panose="02010609060101010101" pitchFamily="49" charset="-122"/>
                </a:rPr>
                <a:t>W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状态均为低电平。在系统总线进入“保持响应”期间，</a:t>
              </a:r>
              <a:r>
                <a:rPr lang="en-US" altLang="zh-CN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RD</a:t>
              </a:r>
              <a:r>
                <a:rPr lang="zh-CN" altLang="en-US" sz="2000" dirty="0">
                  <a:latin typeface="楷体" panose="02010609060101010101" pitchFamily="49" charset="-122"/>
                  <a:ea typeface="楷体" panose="02010609060101010101" pitchFamily="49" charset="-122"/>
                </a:rPr>
                <a:t>引线被浮置为高阻状态。</a:t>
              </a:r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id="{3C6905C2-B3BB-4898-BE40-5CDE2D0B83A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14991" y="4796359"/>
              <a:ext cx="288185" cy="0"/>
            </a:xfrm>
            <a:prstGeom prst="line">
              <a:avLst/>
            </a:prstGeom>
            <a:ln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20214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8573" y="931321"/>
            <a:ext cx="854919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(4) RESET(reset)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复位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信号为高电平有效。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复位信号来到后，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便结束当前操作，并对处理器标志寄存器、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IP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DS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SS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ES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及指令队列清零，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而将</a:t>
            </a:r>
            <a:r>
              <a:rPr lang="en-US" altLang="zh-CN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CS</a:t>
            </a:r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设置为</a:t>
            </a:r>
            <a:r>
              <a:rPr lang="en-US" altLang="zh-CN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FFFFH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。当复位信号变为低电平时，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FFFF0H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开始执行程序。</a:t>
            </a: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(5) READY(ready)“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准备好”信号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“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准备好”信号实际上是由所访问的存储器或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设备发来的响应信号，高电平有效。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信号有效时，表示内存或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设备准备就绪，马上就可进行一次数据传输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在每个总线周期的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状态开始对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信号进行采样。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如果检测到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为低电平，则在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状态之后插入等待状态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，在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也对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进行采样，若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仍为低电平，则会继续插入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，所以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可以插入一个或多个。直到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变为高电平后，才进入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状态，完成数据传送过程，从而结束当前总线周期。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(6) TEST(test)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测试信号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测试信号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为低电平有效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TEST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信号是和指令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WAIT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结合起来使用的，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WAIT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指令时，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处于空转状态进行等待；当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TEST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信号有效时，等待状态结束，</a:t>
            </a:r>
            <a:r>
              <a:rPr lang="en-US" altLang="zh-CN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66CC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继续往下执行被暂停的指令。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830401" y="5373408"/>
            <a:ext cx="492372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782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133" y="1372786"/>
            <a:ext cx="4801314" cy="4766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与组态有关的引线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最小组态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1790" y="2701005"/>
            <a:ext cx="4572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MN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MX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接到</a:t>
            </a:r>
            <a:r>
              <a:rPr lang="en-US" altLang="zh-CN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+5V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，就处于最小组态，第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脚～第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引脚的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含义如下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972444" y="3464709"/>
            <a:ext cx="341451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1472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41789" y="1124865"/>
            <a:ext cx="8367205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INTA(interrupt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acknowledge)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中断响应信号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最小组态下，作为中断响应信号的输出端，用来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对外设的中断请求作出响应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。对于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来讲，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INTA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信号实际上是位于连续周期中的两个负脉冲：第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个负脉冲通知外部设备的接口，它发出的中断请求已经得到允许；外设接口收到第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个负脉冲后，往数据总线上放中断类型码，从而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便得到了有关此中断请求的详尽信息。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ALE(address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latch enable)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地址锁存允许信号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信号是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提供给地址锁存器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8282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8283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的控制信号，高电平有效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。在总线周期的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ALE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为有效电平，表示当前在地址／数据复用总线上输出的是地址信息，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地址锁存器将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ALE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作为锁存信号，对地址进行锁存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；把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AD7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AD0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地址／数据线和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A19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A16/S3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状态线上出现的地址所存到地址锁存器中。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DEN(data 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enable)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数据允许信号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作为数据总线收发器时，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DEN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为收发器提供了一个控制信号，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表示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当前准备发送或接受一个数据，将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DEN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置于有效电平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087853" y="5604227"/>
            <a:ext cx="341451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6712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7200" y="1300085"/>
            <a:ext cx="8589146" cy="48567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DT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R(data transmit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receive)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数据发送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接收信号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作为数据总线收发器时，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DT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信号用来控制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8286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8287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的数据传送方向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。如果为高电平，则进行数据发送；如果为低电平，则进行数据接收。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 (input and output/memory)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输入输出／存储器选择信号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此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信号若为低电平，表示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和存储器之间进行数据传输；若为高电平，表示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和输入／输出设备之间进行数据传输 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一般在前一个总线周期的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就成为有效电平，然后开始一个新的总线周期。在此周期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中，</a:t>
            </a: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IO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一直保持有效电平，直到本周期的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状态为止。</a:t>
            </a: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WR(write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此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信号为低电平有效。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该信号有效时，表示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当前正在进行存储器或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O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写操作，具体到底为哪种写操作，则由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信号决定。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对任何写周期，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只在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期间有效。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149997" y="4680950"/>
            <a:ext cx="297063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621993" y="2835874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621993" y="1379937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6362669" y="1752798"/>
            <a:ext cx="144663" cy="0"/>
          </a:xfrm>
          <a:prstGeom prst="line">
            <a:avLst/>
          </a:prstGeom>
          <a:ln>
            <a:solidFill>
              <a:srgbClr val="003399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764035" y="3927828"/>
            <a:ext cx="19793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005335" y="4302170"/>
            <a:ext cx="197930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5742712" y="5411877"/>
            <a:ext cx="144663" cy="0"/>
          </a:xfrm>
          <a:prstGeom prst="line">
            <a:avLst/>
          </a:prstGeom>
          <a:ln>
            <a:solidFill>
              <a:srgbClr val="003399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07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6076" y="1458299"/>
            <a:ext cx="8447105" cy="44873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HOLD(hold request)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总线保持请求信号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直接存储器存取操作，即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DMA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请求输入信号。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当系统中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之外的另一个主模块要求占用总线时，就在当前总线周期完成时，在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HLDA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引脚发出一个回答信号，对刚才的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HOLD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请求作出响应。总线请求部件收到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HLDA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信号后，就获得了总线控制权，在此后一段时间，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HOLD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HLDA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都保持高电平。在总线占有部件用完总线之后，会把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HOLD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信号变为低电平，这样，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又获得了地址／数据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控制状态线的占有权。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HLDA(hold acknowledge)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总线保持响应信号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DMA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响应回答信号，高电平有效。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HLDA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有效时，表示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对其他主部件的总线请求作出响应，此时，所有与三态门相接的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的引脚呈现高阻抗，从而让出了总线。</a:t>
            </a:r>
          </a:p>
        </p:txBody>
      </p:sp>
    </p:spTree>
    <p:extLst>
      <p:ext uri="{BB962C8B-B14F-4D97-AF65-F5344CB8AC3E}">
        <p14:creationId xmlns:p14="http://schemas.microsoft.com/office/powerpoint/2010/main" val="138764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8541" y="729734"/>
            <a:ext cx="5182269" cy="5656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813727" y="6385919"/>
            <a:ext cx="31918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在最小模式下的典型配置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0819" y="1330262"/>
            <a:ext cx="3587722" cy="44935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最小组态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中，硬件包括：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8284A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时钟发生器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时钟电路（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复位电路（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reset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）和准备就绪电路（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8282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74LS373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；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8286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8287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总线收发器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：当系统中所连的存储器和外设较多时，来增加数据总线的驱动能力。</a:t>
            </a:r>
          </a:p>
        </p:txBody>
      </p:sp>
    </p:spTree>
    <p:extLst>
      <p:ext uri="{BB962C8B-B14F-4D97-AF65-F5344CB8AC3E}">
        <p14:creationId xmlns:p14="http://schemas.microsoft.com/office/powerpoint/2010/main" val="849408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7133" y="1372786"/>
            <a:ext cx="4801314" cy="5355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与组态有关的引线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最大组态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41790" y="2701005"/>
            <a:ext cx="4572000" cy="238526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33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引脚</a:t>
            </a:r>
            <a:endParaRPr lang="en-US" altLang="zh-CN" sz="24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  <a:spcAft>
                <a:spcPts val="600"/>
              </a:spcAft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MN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MX</a:t>
            </a: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接地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就处于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最大组态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24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脚～第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31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引脚的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含义如</a:t>
            </a:r>
            <a:r>
              <a:rPr lang="zh-CN" altLang="en-US" sz="24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括号中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所示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972444" y="3464709"/>
            <a:ext cx="341451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505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5006" y="1442051"/>
            <a:ext cx="841603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QS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QS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(instruction queue status)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指令队列状态信号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提供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指令队列状态。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指令队列是一个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字节的空间，它用来存放等待执行指令的代码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 smtClean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在最大组态下没有对存储器和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端口进行读、写操作的直接控制信号；这些操作信号由总线控制器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提供的这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个状态信号译码后输出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   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个状态信号与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所执行的操作如表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4-2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个状态信号中至少有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个状态为低电平，就可进行一种总线操作。若都为高电平时表明操作过程即将结束。在总线周期的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及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中只要有一个信号改变，就表明是下一个新的总线周期开始。</a:t>
            </a:r>
          </a:p>
        </p:txBody>
      </p:sp>
    </p:spTree>
    <p:extLst>
      <p:ext uri="{BB962C8B-B14F-4D97-AF65-F5344CB8AC3E}">
        <p14:creationId xmlns:p14="http://schemas.microsoft.com/office/powerpoint/2010/main" val="303571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39444" y="1477639"/>
            <a:ext cx="8287306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LOCK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总线锁定信号</a:t>
            </a:r>
          </a:p>
          <a:p>
            <a:pPr>
              <a:lnSpc>
                <a:spcPct val="120000"/>
              </a:lnSpc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LOCK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信号由前缀指令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LOCK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使其有效，且在下一条指令完成之前保持有效。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该信号有效时，别的总线设备不能取得对系统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总线的控制权</a:t>
            </a:r>
            <a:endParaRPr lang="en-US" altLang="zh-CN" sz="20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RQ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RQ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GT</a:t>
            </a:r>
            <a:r>
              <a:rPr lang="en-US" altLang="zh-CN" sz="2000" baseline="-25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(request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grant)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总线请求／允许信号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用于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以外两个协处理器用来发出使用总线请求和接收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对总线请求信号的回答信号。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这两个应答信号都是双向的。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GT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的优先级比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RQ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GT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的高，即同时有总线请求时，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RQ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GT</a:t>
            </a:r>
            <a:r>
              <a:rPr lang="en-US" altLang="zh-CN" sz="2000" baseline="-25000" dirty="0">
                <a:latin typeface="楷体" panose="02010609060101010101" pitchFamily="49" charset="-122"/>
                <a:ea typeface="楷体" panose="02010609060101010101" pitchFamily="49" charset="-122"/>
              </a:rPr>
              <a:t>0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的请求首先被允许。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133721" y="1557489"/>
            <a:ext cx="526403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133721" y="3040060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660124" y="3035080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2261185" y="3035080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2758335" y="3035080"/>
            <a:ext cx="251195" cy="0"/>
          </a:xfrm>
          <a:prstGeom prst="line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055302" y="1931831"/>
            <a:ext cx="5264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3293954" y="1931831"/>
            <a:ext cx="526403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6347873" y="3770988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6882013" y="3761568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534479" y="4136452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1055302" y="4136452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4822393" y="4127032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3C6905C2-B3BB-4898-BE40-5CDE2D0B83A9}"/>
              </a:ext>
            </a:extLst>
          </p:cNvPr>
          <p:cNvCxnSpPr>
            <a:cxnSpLocks/>
          </p:cNvCxnSpPr>
          <p:nvPr/>
        </p:nvCxnSpPr>
        <p:spPr bwMode="auto">
          <a:xfrm>
            <a:off x="5310666" y="4126490"/>
            <a:ext cx="248236" cy="0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743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64168" y="1229103"/>
            <a:ext cx="387798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三、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8088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的电源和定时线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364168" y="2294384"/>
            <a:ext cx="4572000" cy="405341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(1)CLK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时钟信号</a:t>
            </a:r>
            <a:endParaRPr lang="en-US" altLang="zh-CN" sz="2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该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信号一般由时钟发生器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8284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输出，它提供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的定时操作，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标准频率为</a:t>
            </a:r>
            <a:r>
              <a:rPr lang="en-US" altLang="zh-CN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5MHz</a:t>
            </a:r>
            <a:endParaRPr lang="zh-CN" altLang="en-US" sz="22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 GND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地线和</a:t>
            </a:r>
            <a:r>
              <a:rPr lang="en-US" altLang="zh-CN" sz="2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Vcc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电源线</a:t>
            </a:r>
          </a:p>
          <a:p>
            <a:pPr>
              <a:lnSpc>
                <a:spcPct val="130000"/>
              </a:lnSpc>
            </a:pPr>
            <a:r>
              <a:rPr lang="en-US" altLang="zh-CN" sz="2200" dirty="0" smtClean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 err="1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Vcc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电源线：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均用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+5V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电源。</a:t>
            </a:r>
          </a:p>
          <a:p>
            <a:pPr>
              <a:lnSpc>
                <a:spcPct val="130000"/>
              </a:lnSpc>
            </a:pPr>
            <a:r>
              <a:rPr lang="en-US" altLang="zh-CN" sz="2200" dirty="0" smtClean="0">
                <a:solidFill>
                  <a:srgbClr val="8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2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GND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地线：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8086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／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有两条地线。</a:t>
            </a:r>
          </a:p>
        </p:txBody>
      </p:sp>
    </p:spTree>
    <p:extLst>
      <p:ext uri="{BB962C8B-B14F-4D97-AF65-F5344CB8AC3E}">
        <p14:creationId xmlns:p14="http://schemas.microsoft.com/office/powerpoint/2010/main" val="639305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24882" y="1264613"/>
            <a:ext cx="46474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4.3.2  8088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系统和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总线</a:t>
            </a:r>
            <a:endParaRPr lang="zh-CN" altLang="en-US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24881" y="2855470"/>
            <a:ext cx="8228501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从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引线可知，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构成时需要增加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地址锁存器、时钟发生器、数据总线驱动器、总线控制器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等电路。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9365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59546" y="1262918"/>
            <a:ext cx="4416640" cy="49782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ts val="600"/>
              </a:spcAft>
            </a:pPr>
            <a:r>
              <a:rPr lang="en-US" altLang="zh-CN" sz="2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sz="22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</a:t>
            </a:r>
            <a:endParaRPr lang="en-US" altLang="zh-CN" sz="22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en-US" altLang="zh-CN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在访问存储器或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设备时，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低</a:t>
            </a:r>
            <a:r>
              <a:rPr lang="en-US" altLang="zh-CN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位、高</a:t>
            </a:r>
            <a:r>
              <a:rPr lang="en-US" altLang="zh-CN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位地址线分别与数据线、状态线分时复用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，先输出地址，后输出数据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状态，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为了不使先送出的地址丢失，用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组建系统时，必须用地址锁存器 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ct val="75000"/>
              </a:spcBef>
              <a:spcAft>
                <a:spcPts val="600"/>
              </a:spcAft>
            </a:pPr>
            <a:r>
              <a:rPr lang="zh-CN" altLang="en-US" sz="22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2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防止后发送的数据或状态信号冲掉先发送的地址信息。 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lang="zh-CN" altLang="en-US" sz="22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常用</a:t>
            </a:r>
            <a:r>
              <a:rPr lang="zh-CN" altLang="en-US" sz="22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的地址锁存器：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三态地址锁存器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8282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74LS373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</a:p>
        </p:txBody>
      </p:sp>
      <p:pic>
        <p:nvPicPr>
          <p:cNvPr id="3" name="Picture 5" descr="图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020"/>
          <a:stretch>
            <a:fillRect/>
          </a:stretch>
        </p:blipFill>
        <p:spPr bwMode="auto">
          <a:xfrm>
            <a:off x="5145427" y="1079823"/>
            <a:ext cx="3860800" cy="56038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6729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63732" y="1254811"/>
            <a:ext cx="7985464" cy="1700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zh-CN" altLang="en-US" sz="22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地址锁存允许信号</a:t>
            </a: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ALE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被送到选通端</a:t>
            </a: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上时，锁存器将数据输入端上的数据锁存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（被锁存的数据不能立即从输出端输出）。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zh-CN" altLang="en-US" sz="22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当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输出输出允许端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OE=0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时，被锁存的数据从输出端输出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3443844" y="2578131"/>
            <a:ext cx="24039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9907" y="3124662"/>
            <a:ext cx="5853113" cy="284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2651693" y="6137260"/>
            <a:ext cx="36808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spcAft>
                <a:spcPct val="25000"/>
              </a:spcAft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4-8  74LS373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的引线排列和功能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617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92709" y="1714640"/>
            <a:ext cx="8091997" cy="35086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双向总线驱动器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  <a:defRPr/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目的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为了增强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的负载能力（组建大系统时），在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和系统数据总线之间使用双向驱动器。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  <a:defRPr/>
            </a:pPr>
            <a:r>
              <a:rPr lang="zh-CN" altLang="en-US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常用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的双向总线驱动器：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8286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74LS245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4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en-US" altLang="zh-CN" sz="24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74LS245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的功能：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它有两组数据输入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输出引线，可以交换这两组引线的任务，可以使数据按任一方向通过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74LS245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410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1735062"/>
              </p:ext>
            </p:extLst>
          </p:nvPr>
        </p:nvGraphicFramePr>
        <p:xfrm>
          <a:off x="1433052" y="3175770"/>
          <a:ext cx="6564313" cy="270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4" name="位图图像" r:id="rId3" imgW="4247619" imgH="1857143" progId="PBrush">
                  <p:embed/>
                </p:oleObj>
              </mc:Choice>
              <mc:Fallback>
                <p:oleObj name="位图图像" r:id="rId3" imgW="4247619" imgH="1857143" progId="PBrush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95" t="5815" r="2542" b="5815"/>
                      <a:stretch>
                        <a:fillRect/>
                      </a:stretch>
                    </p:blipFill>
                    <p:spPr bwMode="auto">
                      <a:xfrm>
                        <a:off x="1433052" y="3175770"/>
                        <a:ext cx="6564313" cy="270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578753" y="5876108"/>
            <a:ext cx="2630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74LS245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引线排列和功能</a:t>
            </a:r>
          </a:p>
        </p:txBody>
      </p:sp>
      <p:sp>
        <p:nvSpPr>
          <p:cNvPr id="5" name="矩形 4"/>
          <p:cNvSpPr/>
          <p:nvPr/>
        </p:nvSpPr>
        <p:spPr>
          <a:xfrm>
            <a:off x="461639" y="1085533"/>
            <a:ext cx="859216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74LS245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的控制引线：</a:t>
            </a:r>
            <a:endParaRPr lang="en-US" altLang="zh-CN" sz="20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输出允许引线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G: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控制驱动器何时传送数据（低电平时，数据端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接通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 smtClean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30000"/>
              </a:lnSpc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2)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传送方向引线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DIR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控制数据往哪个方向传送</a:t>
            </a:r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>
            <a:off x="2466956" y="1823529"/>
            <a:ext cx="133857" cy="0"/>
          </a:xfrm>
          <a:prstGeom prst="line">
            <a:avLst/>
          </a:prstGeom>
          <a:noFill/>
          <a:ln w="28575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78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72610" y="1788395"/>
            <a:ext cx="551389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ct val="25000"/>
              </a:spcAft>
              <a:defRPr/>
            </a:pP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时钟发生器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8284A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2609" y="2535853"/>
            <a:ext cx="8109751" cy="20497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内部没有时钟信号产生电路。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8284A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向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及系统提供符合要求的信号：时钟信号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、准备好信号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复位信号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RESET.</a:t>
            </a:r>
          </a:p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en-US" altLang="zh-CN" sz="24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8284A</a:t>
            </a:r>
            <a:r>
              <a:rPr lang="zh-CN" altLang="en-US" sz="24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的构成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时钟电路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复位电路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准备就绪电路</a:t>
            </a:r>
            <a:endParaRPr lang="en-US" altLang="zh-CN" sz="24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885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286656"/>
              </p:ext>
            </p:extLst>
          </p:nvPr>
        </p:nvGraphicFramePr>
        <p:xfrm>
          <a:off x="814958" y="1244616"/>
          <a:ext cx="7848600" cy="5202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4" name="位图图像" r:id="rId3" imgW="4382112" imgH="2971429" progId="PBrush">
                  <p:embed/>
                </p:oleObj>
              </mc:Choice>
              <mc:Fallback>
                <p:oleObj name="位图图像" r:id="rId3" imgW="4382112" imgH="2971429" progId="PBrush">
                  <p:embed/>
                  <p:pic>
                    <p:nvPicPr>
                      <p:cNvPr id="10035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643" t="1817" r="1643" b="3635"/>
                      <a:stretch>
                        <a:fillRect/>
                      </a:stretch>
                    </p:blipFill>
                    <p:spPr bwMode="auto">
                      <a:xfrm>
                        <a:off x="814958" y="1244616"/>
                        <a:ext cx="7848600" cy="5202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4737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4338" y="1121210"/>
            <a:ext cx="295465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总线控制器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3833" y="1731477"/>
            <a:ext cx="7994342" cy="11089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作用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：工作在最大组态时，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不直接提供总线控制信号（如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ALE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、存储器读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读写等），需要一个总线控制器（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）根据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提供的状态信号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译码转换为总线控制信号。</a:t>
            </a:r>
          </a:p>
        </p:txBody>
      </p:sp>
      <p:sp>
        <p:nvSpPr>
          <p:cNvPr id="4" name="矩形 3"/>
          <p:cNvSpPr/>
          <p:nvPr/>
        </p:nvSpPr>
        <p:spPr>
          <a:xfrm>
            <a:off x="483833" y="3263803"/>
            <a:ext cx="349336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电路组成：</a:t>
            </a:r>
          </a:p>
          <a:p>
            <a:r>
              <a:rPr lang="zh-CN" altLang="en-US" sz="20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状态译码器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→对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译码</a:t>
            </a:r>
          </a:p>
          <a:p>
            <a:r>
              <a:rPr lang="zh-CN" altLang="en-US" sz="20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命令信号发生器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   →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产生命令信号</a:t>
            </a:r>
          </a:p>
          <a:p>
            <a:r>
              <a:rPr lang="zh-CN" altLang="en-US" sz="20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控制信号发生器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   →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产生总线控制信号；</a:t>
            </a:r>
          </a:p>
          <a:p>
            <a:r>
              <a:rPr lang="zh-CN" altLang="en-US" sz="20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控制逻辑</a:t>
            </a:r>
          </a:p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Wingdings" panose="05000000000000000000" pitchFamily="2" charset="2"/>
              </a:rPr>
              <a:t>   →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控制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工作方式。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1490888"/>
              </p:ext>
            </p:extLst>
          </p:nvPr>
        </p:nvGraphicFramePr>
        <p:xfrm>
          <a:off x="3869662" y="2840435"/>
          <a:ext cx="4608513" cy="3584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6" name="位图图像" r:id="rId3" imgW="2914286" imgH="2343477" progId="PBrush">
                  <p:embed/>
                </p:oleObj>
              </mc:Choice>
              <mc:Fallback>
                <p:oleObj name="位图图像" r:id="rId3" imgW="2914286" imgH="2343477" progId="PBrush">
                  <p:embed/>
                  <p:pic>
                    <p:nvPicPr>
                      <p:cNvPr id="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470" t="4608" r="3706" b="4608"/>
                      <a:stretch>
                        <a:fillRect/>
                      </a:stretch>
                    </p:blipFill>
                    <p:spPr bwMode="auto">
                      <a:xfrm>
                        <a:off x="3869662" y="2840435"/>
                        <a:ext cx="4608513" cy="3584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2176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92458" y="1827974"/>
            <a:ext cx="8016535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）总线控制器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的工作方式：</a:t>
            </a:r>
            <a:endParaRPr lang="en-US" altLang="zh-CN" sz="24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系统总线方式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IOB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接地）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：用于对存储器和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I/0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设备两方面的控制；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总线方式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IOB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接高电平）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：用于对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设备的控制。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Bef>
                <a:spcPct val="50000"/>
              </a:spcBef>
              <a:spcAft>
                <a:spcPct val="25000"/>
              </a:spcAft>
            </a:pP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工作方式的选择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：由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IOB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Input/output buffer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）引线进行选择。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2642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32911" y="1214373"/>
            <a:ext cx="8420471" cy="5236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 总线控制器的命令信号</a:t>
            </a:r>
          </a:p>
          <a:p>
            <a:pPr>
              <a:lnSpc>
                <a:spcPct val="115000"/>
              </a:lnSpc>
              <a:spcBef>
                <a:spcPct val="45000"/>
              </a:spcBef>
              <a:spcAft>
                <a:spcPts val="600"/>
              </a:spcAft>
              <a:buClr>
                <a:schemeClr val="accent1"/>
              </a:buClr>
              <a:buSzPct val="60000"/>
            </a:pP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MRDC 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存储器读命令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通知被选中单元，把数据发送到数据总线上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60000"/>
            </a:pP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MWTC  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存储器写命令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把数据线上的数据，写入被选中存储单元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60000"/>
            </a:pP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IORC  </a:t>
            </a: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通知被选中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口，把数据发送到数据总线上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60000"/>
            </a:pP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IOWC  I/O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把数据线上的数据写入被选中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口</a:t>
            </a:r>
          </a:p>
          <a:p>
            <a:pPr>
              <a:lnSpc>
                <a:spcPct val="115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60000"/>
            </a:pP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AMWC  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存储器超前写命令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MWTC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，只是提前一个时钟脉冲</a:t>
            </a:r>
          </a:p>
          <a:p>
            <a:pPr>
              <a:spcAft>
                <a:spcPts val="600"/>
              </a:spcAft>
            </a:pP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AIOWC  I/O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超前写命令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同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IOWC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，超前一个时钟脉冲</a:t>
            </a:r>
          </a:p>
          <a:p>
            <a:pPr>
              <a:spcAft>
                <a:spcPts val="600"/>
              </a:spcAft>
            </a:pPr>
            <a:r>
              <a:rPr lang="en-US" altLang="zh-CN" sz="22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INTA  </a:t>
            </a:r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中断响应命令，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最小模式时由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直接发出。</a:t>
            </a:r>
            <a:endParaRPr lang="en-US" altLang="zh-CN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spcAft>
                <a:spcPts val="600"/>
              </a:spcAft>
            </a:pPr>
            <a:r>
              <a:rPr lang="en-US" altLang="zh-CN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CEN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命令允许信号，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高电平时，允许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发出全部控制信号；低电平时，禁止发出控制信号。</a:t>
            </a:r>
          </a:p>
          <a:p>
            <a:pPr>
              <a:spcAft>
                <a:spcPts val="600"/>
              </a:spcAft>
            </a:pPr>
            <a:r>
              <a:rPr lang="en-US" altLang="zh-CN" sz="22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AEN</a:t>
            </a:r>
            <a:r>
              <a:rPr lang="zh-CN" altLang="en-US" sz="2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 地址允许信号，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由总线仲裁器</a:t>
            </a:r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8289</a:t>
            </a: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</a:rPr>
              <a:t>输入，低电平有效。</a:t>
            </a:r>
          </a:p>
        </p:txBody>
      </p:sp>
      <p:pic>
        <p:nvPicPr>
          <p:cNvPr id="3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9" y="1882306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2398691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2915076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3431461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3947846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4426130"/>
            <a:ext cx="697215" cy="45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18" y="4866316"/>
            <a:ext cx="581025" cy="3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Line 3"/>
          <p:cNvSpPr>
            <a:spLocks noChangeShapeType="1"/>
          </p:cNvSpPr>
          <p:nvPr/>
        </p:nvSpPr>
        <p:spPr bwMode="auto">
          <a:xfrm>
            <a:off x="669117" y="6058177"/>
            <a:ext cx="431713" cy="0"/>
          </a:xfrm>
          <a:prstGeom prst="line">
            <a:avLst/>
          </a:prstGeom>
          <a:noFill/>
          <a:ln w="28575">
            <a:solidFill>
              <a:srgbClr val="00B0F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183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47565" y="1950269"/>
            <a:ext cx="6853561" cy="265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 总线控制信号</a:t>
            </a:r>
          </a:p>
          <a:p>
            <a:pPr>
              <a:lnSpc>
                <a:spcPct val="115000"/>
              </a:lnSpc>
              <a:spcBef>
                <a:spcPct val="60000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  DT/R 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24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发送</a:t>
            </a:r>
            <a:r>
              <a:rPr lang="en-US" altLang="zh-CN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接收信号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DEN       </a:t>
            </a:r>
            <a:r>
              <a:rPr lang="zh-CN" altLang="en-US" sz="24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允许信号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MCE/PDEN  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设备级联允许</a:t>
            </a:r>
            <a:r>
              <a:rPr lang="en-US" altLang="zh-CN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外部数据允许信号</a:t>
            </a:r>
          </a:p>
          <a:p>
            <a:pPr>
              <a:lnSpc>
                <a:spcPct val="115000"/>
              </a:lnSpc>
              <a:spcBef>
                <a:spcPct val="20000"/>
              </a:spcBef>
              <a:buClr>
                <a:schemeClr val="accent1"/>
              </a:buClr>
              <a:buSzPct val="60000"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  </a:t>
            </a: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ALE       </a:t>
            </a:r>
            <a:r>
              <a:rPr lang="zh-CN" altLang="en-US" sz="2400" dirty="0" smtClean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</a:t>
            </a:r>
            <a:r>
              <a:rPr lang="zh-CN" altLang="en-US" sz="24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锁存信号</a:t>
            </a:r>
          </a:p>
        </p:txBody>
      </p:sp>
      <p:sp>
        <p:nvSpPr>
          <p:cNvPr id="3" name="Line 3"/>
          <p:cNvSpPr>
            <a:spLocks noChangeShapeType="1"/>
          </p:cNvSpPr>
          <p:nvPr/>
        </p:nvSpPr>
        <p:spPr bwMode="auto">
          <a:xfrm>
            <a:off x="2169444" y="2666907"/>
            <a:ext cx="20977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Line 3"/>
          <p:cNvSpPr>
            <a:spLocks noChangeShapeType="1"/>
          </p:cNvSpPr>
          <p:nvPr/>
        </p:nvSpPr>
        <p:spPr bwMode="auto">
          <a:xfrm>
            <a:off x="2379215" y="3644931"/>
            <a:ext cx="55929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44302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500188"/>
            <a:ext cx="8196262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57188" y="1011869"/>
            <a:ext cx="799306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5000"/>
              </a:spcAft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5.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最小组态下的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系统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2795915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2795915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6" name="Group 7"/>
          <p:cNvGrpSpPr>
            <a:grpSpLocks/>
          </p:cNvGrpSpPr>
          <p:nvPr/>
        </p:nvGrpSpPr>
        <p:grpSpPr bwMode="auto">
          <a:xfrm>
            <a:off x="1547813" y="3144838"/>
            <a:ext cx="2232025" cy="1508125"/>
            <a:chOff x="975" y="1969"/>
            <a:chExt cx="1247" cy="780"/>
          </a:xfrm>
        </p:grpSpPr>
        <p:sp>
          <p:nvSpPr>
            <p:cNvPr id="7" name="Oval 8"/>
            <p:cNvSpPr>
              <a:spLocks noChangeArrowheads="1"/>
            </p:cNvSpPr>
            <p:nvPr/>
          </p:nvSpPr>
          <p:spPr bwMode="auto">
            <a:xfrm>
              <a:off x="1360" y="1969"/>
              <a:ext cx="862" cy="363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400">
                  <a:solidFill>
                    <a:schemeClr val="tx2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+5V</a:t>
              </a:r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975" y="2432"/>
              <a:ext cx="95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8088</a:t>
              </a:r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工作于最小组态</a:t>
              </a:r>
            </a:p>
          </p:txBody>
        </p:sp>
        <p:sp>
          <p:nvSpPr>
            <p:cNvPr id="9" name="Line 10"/>
            <p:cNvSpPr>
              <a:spLocks noChangeShapeType="1"/>
            </p:cNvSpPr>
            <p:nvPr/>
          </p:nvSpPr>
          <p:spPr bwMode="auto">
            <a:xfrm flipH="1">
              <a:off x="1292" y="2251"/>
              <a:ext cx="137" cy="0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>
              <a:off x="1292" y="2253"/>
              <a:ext cx="0" cy="227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402590" y="2418911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 dirty="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系统地址总线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7235825" y="3789363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系统数据总线</a:t>
            </a:r>
          </a:p>
        </p:txBody>
      </p:sp>
      <p:grpSp>
        <p:nvGrpSpPr>
          <p:cNvPr id="13" name="Group 14"/>
          <p:cNvGrpSpPr>
            <a:grpSpLocks/>
          </p:cNvGrpSpPr>
          <p:nvPr/>
        </p:nvGrpSpPr>
        <p:grpSpPr bwMode="auto">
          <a:xfrm>
            <a:off x="5795963" y="4286250"/>
            <a:ext cx="1776412" cy="1571625"/>
            <a:chOff x="3651" y="2784"/>
            <a:chExt cx="1043" cy="1480"/>
          </a:xfrm>
        </p:grpSpPr>
        <p:sp>
          <p:nvSpPr>
            <p:cNvPr id="14" name="AutoShape 15"/>
            <p:cNvSpPr>
              <a:spLocks/>
            </p:cNvSpPr>
            <p:nvPr/>
          </p:nvSpPr>
          <p:spPr bwMode="auto">
            <a:xfrm>
              <a:off x="3651" y="2784"/>
              <a:ext cx="45" cy="1480"/>
            </a:xfrm>
            <a:prstGeom prst="rightBrace">
              <a:avLst>
                <a:gd name="adj1" fmla="val 274074"/>
                <a:gd name="adj2" fmla="val 50000"/>
              </a:avLst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5" name="Rectangle 16"/>
            <p:cNvSpPr>
              <a:spLocks noChangeArrowheads="1"/>
            </p:cNvSpPr>
            <p:nvPr/>
          </p:nvSpPr>
          <p:spPr bwMode="auto">
            <a:xfrm>
              <a:off x="3878" y="3203"/>
              <a:ext cx="816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系统控制总线</a:t>
              </a:r>
            </a:p>
          </p:txBody>
        </p:sp>
      </p:grpSp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0" y="-26161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5072063" y="1497013"/>
            <a:ext cx="16525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地址锁存器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714375" y="1571625"/>
            <a:ext cx="1652588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时钟发生器</a:t>
            </a:r>
          </a:p>
        </p:txBody>
      </p:sp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5929313" y="2928938"/>
            <a:ext cx="2795587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18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双向驱动器：</a:t>
            </a:r>
            <a:endParaRPr lang="en-US" altLang="zh-CN" sz="1800">
              <a:solidFill>
                <a:srgbClr val="FF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/>
            <a:r>
              <a:rPr lang="zh-CN" altLang="en-US" sz="18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增加</a:t>
            </a:r>
            <a:r>
              <a:rPr lang="en-US" altLang="zh-CN" sz="18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18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的负载能力</a:t>
            </a:r>
          </a:p>
        </p:txBody>
      </p:sp>
    </p:spTree>
    <p:extLst>
      <p:ext uri="{BB962C8B-B14F-4D97-AF65-F5344CB8AC3E}">
        <p14:creationId xmlns:p14="http://schemas.microsoft.com/office/powerpoint/2010/main" val="292365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500"/>
                            </p:stCondLst>
                            <p:childTnLst>
                              <p:par>
                                <p:cTn id="33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utoUpdateAnimBg="0"/>
      <p:bldP spid="12" grpId="0" autoUpdateAnimBg="0"/>
      <p:bldP spid="17" grpId="0" autoUpdateAnimBg="0"/>
      <p:bldP spid="18" grpId="0" autoUpdateAnimBg="0"/>
      <p:bldP spid="19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62144" y="1451684"/>
            <a:ext cx="8561156" cy="46178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 A19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A16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A7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A0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为分时复用线，必须用地址锁存器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74LS373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8282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把这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12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位地址锁存。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A15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～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A8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不用锁存，也可以锁存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 数据线可以用双向驱动器，也可以不用，视系统所连部件的多少而定。</a:t>
            </a:r>
            <a:endParaRPr lang="en-US" altLang="zh-CN" sz="23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rgbClr val="00B0F0"/>
              </a:buClr>
              <a:buSzPct val="65000"/>
              <a:buFont typeface="Wingdings" panose="05000000000000000000" pitchFamily="2" charset="2"/>
              <a:buChar char="u"/>
            </a:pP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 8088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的控制线可直接作系统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控制总线，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IO/M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经组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合形成存储器读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写信号和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读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写信号</a:t>
            </a:r>
            <a:r>
              <a:rPr lang="en-US" altLang="zh-CN" sz="23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组合逻辑电路</a:t>
            </a:r>
          </a:p>
          <a:p>
            <a:pPr eaLnBrk="1" hangingPunct="1">
              <a:lnSpc>
                <a:spcPct val="120000"/>
              </a:lnSpc>
              <a:spcBef>
                <a:spcPct val="15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300" dirty="0">
                <a:latin typeface="楷体" panose="02010609060101010101" pitchFamily="49" charset="-122"/>
                <a:ea typeface="楷体" panose="02010609060101010101" pitchFamily="49" charset="-122"/>
              </a:rPr>
              <a:t>如图。</a:t>
            </a:r>
            <a:endParaRPr lang="en-US" altLang="zh-CN" sz="23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lnSpc>
                <a:spcPct val="120000"/>
              </a:lnSpc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5214938" y="2857500"/>
          <a:ext cx="3240087" cy="317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23" name="位图图像" r:id="rId3" imgW="2038095" imgH="1857143" progId="PBrush">
                  <p:embed/>
                </p:oleObj>
              </mc:Choice>
              <mc:Fallback>
                <p:oleObj name="位图图像" r:id="rId3" imgW="2038095" imgH="1857143" progId="PBrush">
                  <p:embed/>
                  <p:pic>
                    <p:nvPicPr>
                      <p:cNvPr id="3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7065" t="3877" r="7065" b="3877"/>
                      <a:stretch>
                        <a:fillRect/>
                      </a:stretch>
                    </p:blipFill>
                    <p:spPr bwMode="auto">
                      <a:xfrm>
                        <a:off x="5214938" y="2857500"/>
                        <a:ext cx="3240087" cy="317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Line 6"/>
          <p:cNvSpPr>
            <a:spLocks noChangeShapeType="1"/>
          </p:cNvSpPr>
          <p:nvPr/>
        </p:nvSpPr>
        <p:spPr bwMode="auto">
          <a:xfrm>
            <a:off x="3220854" y="3787055"/>
            <a:ext cx="144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5053220" y="6253163"/>
            <a:ext cx="3563521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 dirty="0" smtClean="0">
                <a:latin typeface="楷体_GB2312" pitchFamily="49" charset="-122"/>
                <a:ea typeface="楷体_GB2312" pitchFamily="49" charset="-122"/>
              </a:rPr>
              <a:t>读写操作的</a:t>
            </a:r>
            <a:r>
              <a:rPr lang="zh-CN" altLang="en-US" b="1" dirty="0">
                <a:latin typeface="楷体_GB2312" pitchFamily="49" charset="-122"/>
                <a:ea typeface="楷体_GB2312" pitchFamily="49" charset="-122"/>
              </a:rPr>
              <a:t>逻辑组合</a:t>
            </a:r>
            <a:endParaRPr lang="zh-CN" altLang="en-US" dirty="0"/>
          </a:p>
        </p:txBody>
      </p:sp>
      <p:pic>
        <p:nvPicPr>
          <p:cNvPr id="7" name="图片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32725" y="5462588"/>
            <a:ext cx="7905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图片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4284" y="4623850"/>
            <a:ext cx="75247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Line 6"/>
          <p:cNvSpPr>
            <a:spLocks noChangeShapeType="1"/>
          </p:cNvSpPr>
          <p:nvPr/>
        </p:nvSpPr>
        <p:spPr bwMode="auto">
          <a:xfrm>
            <a:off x="2174768" y="3784820"/>
            <a:ext cx="3109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Line 6"/>
          <p:cNvSpPr>
            <a:spLocks noChangeShapeType="1"/>
          </p:cNvSpPr>
          <p:nvPr/>
        </p:nvSpPr>
        <p:spPr bwMode="auto">
          <a:xfrm>
            <a:off x="1599199" y="3784820"/>
            <a:ext cx="3109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320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6513" y="936308"/>
            <a:ext cx="799306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ct val="25000"/>
              </a:spcAft>
            </a:pP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6.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最大组态下的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系统  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71438" y="24371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-71438" y="243714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-71438" y="1275090"/>
            <a:ext cx="1847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2800">
              <a:solidFill>
                <a:schemeClr val="tx2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8005322"/>
              </p:ext>
            </p:extLst>
          </p:nvPr>
        </p:nvGraphicFramePr>
        <p:xfrm>
          <a:off x="612775" y="1341438"/>
          <a:ext cx="7488238" cy="508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6" name="位图图像" r:id="rId3" imgW="4514286" imgH="3067478" progId="PBrush">
                  <p:embed/>
                </p:oleObj>
              </mc:Choice>
              <mc:Fallback>
                <p:oleObj name="位图图像" r:id="rId3" imgW="4514286" imgH="3067478" progId="PBrush">
                  <p:embed/>
                  <p:pic>
                    <p:nvPicPr>
                      <p:cNvPr id="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775" y="1341438"/>
                        <a:ext cx="7488238" cy="5087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8"/>
          <p:cNvGrpSpPr>
            <a:grpSpLocks/>
          </p:cNvGrpSpPr>
          <p:nvPr/>
        </p:nvGrpSpPr>
        <p:grpSpPr bwMode="auto">
          <a:xfrm>
            <a:off x="2870200" y="3014663"/>
            <a:ext cx="2087563" cy="792162"/>
            <a:chOff x="975" y="2059"/>
            <a:chExt cx="1337" cy="690"/>
          </a:xfrm>
        </p:grpSpPr>
        <p:sp>
          <p:nvSpPr>
            <p:cNvPr id="8" name="Oval 9"/>
            <p:cNvSpPr>
              <a:spLocks noChangeArrowheads="1"/>
            </p:cNvSpPr>
            <p:nvPr/>
          </p:nvSpPr>
          <p:spPr bwMode="auto">
            <a:xfrm>
              <a:off x="1450" y="2059"/>
              <a:ext cx="862" cy="363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975" y="2432"/>
              <a:ext cx="953" cy="3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8088</a:t>
              </a:r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工作于最大组态</a:t>
              </a:r>
            </a:p>
          </p:txBody>
        </p:sp>
        <p:sp>
          <p:nvSpPr>
            <p:cNvPr id="10" name="Line 11"/>
            <p:cNvSpPr>
              <a:spLocks noChangeShapeType="1"/>
            </p:cNvSpPr>
            <p:nvPr/>
          </p:nvSpPr>
          <p:spPr bwMode="auto">
            <a:xfrm flipH="1">
              <a:off x="1292" y="2251"/>
              <a:ext cx="137" cy="0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1" name="Line 12"/>
            <p:cNvSpPr>
              <a:spLocks noChangeShapeType="1"/>
            </p:cNvSpPr>
            <p:nvPr/>
          </p:nvSpPr>
          <p:spPr bwMode="auto">
            <a:xfrm>
              <a:off x="1292" y="2253"/>
              <a:ext cx="0" cy="227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2" name="Group 13"/>
          <p:cNvGrpSpPr>
            <a:grpSpLocks/>
          </p:cNvGrpSpPr>
          <p:nvPr/>
        </p:nvGrpSpPr>
        <p:grpSpPr bwMode="auto">
          <a:xfrm>
            <a:off x="5818188" y="5446713"/>
            <a:ext cx="2762250" cy="434975"/>
            <a:chOff x="3710" y="3657"/>
            <a:chExt cx="1740" cy="274"/>
          </a:xfrm>
        </p:grpSpPr>
        <p:sp>
          <p:nvSpPr>
            <p:cNvPr id="13" name="Oval 14"/>
            <p:cNvSpPr>
              <a:spLocks noChangeArrowheads="1"/>
            </p:cNvSpPr>
            <p:nvPr/>
          </p:nvSpPr>
          <p:spPr bwMode="auto">
            <a:xfrm>
              <a:off x="3710" y="3657"/>
              <a:ext cx="576" cy="272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4" name="Rectangle 15"/>
            <p:cNvSpPr>
              <a:spLocks noChangeArrowheads="1"/>
            </p:cNvSpPr>
            <p:nvPr/>
          </p:nvSpPr>
          <p:spPr bwMode="auto">
            <a:xfrm>
              <a:off x="4513" y="3702"/>
              <a:ext cx="937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8288</a:t>
              </a:r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工作在</a:t>
              </a:r>
            </a:p>
            <a:p>
              <a:pPr algn="ctr" eaLnBrk="1" hangingPunct="1"/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系统总线方式</a:t>
              </a:r>
            </a:p>
          </p:txBody>
        </p:sp>
        <p:sp>
          <p:nvSpPr>
            <p:cNvPr id="15" name="Line 16"/>
            <p:cNvSpPr>
              <a:spLocks noChangeShapeType="1"/>
            </p:cNvSpPr>
            <p:nvPr/>
          </p:nvSpPr>
          <p:spPr bwMode="auto">
            <a:xfrm>
              <a:off x="4332" y="3793"/>
              <a:ext cx="136" cy="0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16" name="Group 17"/>
          <p:cNvGrpSpPr>
            <a:grpSpLocks/>
          </p:cNvGrpSpPr>
          <p:nvPr/>
        </p:nvGrpSpPr>
        <p:grpSpPr bwMode="auto">
          <a:xfrm>
            <a:off x="128588" y="3862388"/>
            <a:ext cx="2500312" cy="792162"/>
            <a:chOff x="126" y="2659"/>
            <a:chExt cx="1575" cy="499"/>
          </a:xfrm>
        </p:grpSpPr>
        <p:sp>
          <p:nvSpPr>
            <p:cNvPr id="17" name="Oval 18"/>
            <p:cNvSpPr>
              <a:spLocks noChangeArrowheads="1"/>
            </p:cNvSpPr>
            <p:nvPr/>
          </p:nvSpPr>
          <p:spPr bwMode="auto">
            <a:xfrm>
              <a:off x="1066" y="2659"/>
              <a:ext cx="635" cy="227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18" name="Rectangle 19"/>
            <p:cNvSpPr>
              <a:spLocks noChangeArrowheads="1"/>
            </p:cNvSpPr>
            <p:nvPr/>
          </p:nvSpPr>
          <p:spPr bwMode="auto">
            <a:xfrm>
              <a:off x="126" y="2795"/>
              <a:ext cx="839" cy="3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18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中断控制器：</a:t>
              </a:r>
              <a:endParaRPr lang="en-US" altLang="zh-CN" sz="18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 eaLnBrk="1" hangingPunct="1"/>
              <a:r>
                <a:rPr lang="zh-CN" altLang="en-US" sz="18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管理系统中断</a:t>
              </a:r>
            </a:p>
          </p:txBody>
        </p:sp>
        <p:sp>
          <p:nvSpPr>
            <p:cNvPr id="19" name="Line 20"/>
            <p:cNvSpPr>
              <a:spLocks noChangeShapeType="1"/>
            </p:cNvSpPr>
            <p:nvPr/>
          </p:nvSpPr>
          <p:spPr bwMode="auto">
            <a:xfrm flipH="1">
              <a:off x="884" y="2750"/>
              <a:ext cx="136" cy="0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0" name="Line 21"/>
            <p:cNvSpPr>
              <a:spLocks noChangeShapeType="1"/>
            </p:cNvSpPr>
            <p:nvPr/>
          </p:nvSpPr>
          <p:spPr bwMode="auto">
            <a:xfrm>
              <a:off x="884" y="2750"/>
              <a:ext cx="0" cy="136"/>
            </a:xfrm>
            <a:prstGeom prst="lin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sp>
        <p:nvSpPr>
          <p:cNvPr id="21" name="Rectangle 22"/>
          <p:cNvSpPr>
            <a:spLocks noChangeArrowheads="1"/>
          </p:cNvSpPr>
          <p:nvPr/>
        </p:nvSpPr>
        <p:spPr bwMode="auto">
          <a:xfrm>
            <a:off x="7308850" y="1990725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系统地址总线</a:t>
            </a:r>
          </a:p>
        </p:txBody>
      </p:sp>
      <p:sp>
        <p:nvSpPr>
          <p:cNvPr id="22" name="Rectangle 23"/>
          <p:cNvSpPr>
            <a:spLocks noChangeArrowheads="1"/>
          </p:cNvSpPr>
          <p:nvPr/>
        </p:nvSpPr>
        <p:spPr bwMode="auto">
          <a:xfrm>
            <a:off x="7308850" y="3141663"/>
            <a:ext cx="12954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200">
                <a:solidFill>
                  <a:srgbClr val="FF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系统数据总线</a:t>
            </a:r>
          </a:p>
        </p:txBody>
      </p:sp>
      <p:grpSp>
        <p:nvGrpSpPr>
          <p:cNvPr id="23" name="Group 24"/>
          <p:cNvGrpSpPr>
            <a:grpSpLocks/>
          </p:cNvGrpSpPr>
          <p:nvPr/>
        </p:nvGrpSpPr>
        <p:grpSpPr bwMode="auto">
          <a:xfrm>
            <a:off x="5437188" y="3768725"/>
            <a:ext cx="3240087" cy="1101725"/>
            <a:chOff x="3470" y="2600"/>
            <a:chExt cx="2041" cy="694"/>
          </a:xfrm>
        </p:grpSpPr>
        <p:sp>
          <p:nvSpPr>
            <p:cNvPr id="24" name="Oval 25"/>
            <p:cNvSpPr>
              <a:spLocks noChangeArrowheads="1"/>
            </p:cNvSpPr>
            <p:nvPr/>
          </p:nvSpPr>
          <p:spPr bwMode="auto">
            <a:xfrm>
              <a:off x="3470" y="2600"/>
              <a:ext cx="453" cy="227"/>
            </a:xfrm>
            <a:prstGeom prst="ellipse">
              <a:avLst/>
            </a:prstGeom>
            <a:noFill/>
            <a:ln w="9525">
              <a:solidFill>
                <a:srgbClr val="FF33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800">
                <a:solidFill>
                  <a:schemeClr val="tx2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sp>
          <p:nvSpPr>
            <p:cNvPr id="25" name="Rectangle 26"/>
            <p:cNvSpPr>
              <a:spLocks noChangeArrowheads="1"/>
            </p:cNvSpPr>
            <p:nvPr/>
          </p:nvSpPr>
          <p:spPr bwMode="auto">
            <a:xfrm>
              <a:off x="4604" y="2886"/>
              <a:ext cx="907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sz="2200">
                  <a:solidFill>
                    <a:srgbClr val="FF3399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总线控制器</a:t>
              </a:r>
            </a:p>
          </p:txBody>
        </p:sp>
        <p:grpSp>
          <p:nvGrpSpPr>
            <p:cNvPr id="26" name="Group 27"/>
            <p:cNvGrpSpPr>
              <a:grpSpLocks/>
            </p:cNvGrpSpPr>
            <p:nvPr/>
          </p:nvGrpSpPr>
          <p:grpSpPr bwMode="auto">
            <a:xfrm>
              <a:off x="3923" y="2736"/>
              <a:ext cx="1044" cy="136"/>
              <a:chOff x="3923" y="2704"/>
              <a:chExt cx="1044" cy="136"/>
            </a:xfrm>
          </p:grpSpPr>
          <p:sp>
            <p:nvSpPr>
              <p:cNvPr id="27" name="Line 28"/>
              <p:cNvSpPr>
                <a:spLocks noChangeShapeType="1"/>
              </p:cNvSpPr>
              <p:nvPr/>
            </p:nvSpPr>
            <p:spPr bwMode="auto">
              <a:xfrm>
                <a:off x="3923" y="2704"/>
                <a:ext cx="1044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28" name="Line 29"/>
              <p:cNvSpPr>
                <a:spLocks noChangeShapeType="1"/>
              </p:cNvSpPr>
              <p:nvPr/>
            </p:nvSpPr>
            <p:spPr bwMode="auto">
              <a:xfrm>
                <a:off x="4967" y="2704"/>
                <a:ext cx="0" cy="136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p:grpSp>
      </p:grp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1460500" y="6414293"/>
            <a:ext cx="606425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spcAft>
                <a:spcPct val="25000"/>
              </a:spcAft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4-14 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最大组态下的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系统  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19158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8" presetClass="entr" presetSubtype="32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8" presetClass="entr" presetSubtype="6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18" presetClass="entr" presetSubtype="6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000"/>
                            </p:stCondLst>
                            <p:childTnLst>
                              <p:par>
                                <p:cTn id="29" presetID="18" presetClass="entr" presetSubtype="9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708496" y="607666"/>
            <a:ext cx="3724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4.4  8088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的主要操作时序</a:t>
            </a:r>
            <a:endParaRPr lang="en-US" altLang="zh-CN" sz="2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99244" y="1895823"/>
            <a:ext cx="7736888" cy="37117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/>
            </a:pP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学习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时序的意义</a:t>
            </a:r>
            <a:r>
              <a:rPr lang="zh-CN" altLang="en-US" sz="24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400" dirty="0" smtClean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defRPr/>
            </a:pPr>
            <a:endParaRPr lang="zh-CN" altLang="en-US" sz="24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1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有利于我们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深入了解指令的执行过程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，从而有助于我们编写源程序时选用指令，以缩短指令的存储空间和估算指令的执行时间。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2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当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与存储器芯片以及输入输出接口芯片连接时，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根据时序关系设计出正确的连接电路。</a:t>
            </a:r>
            <a:endParaRPr lang="en-US" altLang="zh-CN" sz="24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6821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8400" y="1174196"/>
            <a:ext cx="5109091" cy="4600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7338" indent="-287338">
              <a:lnSpc>
                <a:spcPct val="114000"/>
              </a:lnSpc>
              <a:spcBef>
                <a:spcPct val="20000"/>
              </a:spcBef>
              <a:defRPr/>
            </a:pP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4.4.1  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指令周期、总线周期和</a:t>
            </a:r>
            <a:r>
              <a:rPr lang="en-US" altLang="zh-CN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4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endParaRPr lang="en-US" altLang="zh-CN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8399" y="2458288"/>
            <a:ext cx="8195285" cy="16677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每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条指令的执行由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取指令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(fetch)、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译码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(decode)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24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执行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(execute) 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构成。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这些操作都是在时钟脉冲</a:t>
            </a:r>
            <a:r>
              <a:rPr lang="en-US" altLang="zh-CN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CLK</a:t>
            </a:r>
            <a:r>
              <a:rPr lang="zh-CN" altLang="en-US" sz="24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的统一控制、按照严格的时序下一步一步进行的。</a:t>
            </a:r>
            <a:endParaRPr lang="en-US" altLang="zh-CN" sz="2400" kern="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241011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41538" y="1167794"/>
            <a:ext cx="7790156" cy="51552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Bef>
                <a:spcPct val="35000"/>
              </a:spcBef>
              <a:buClr>
                <a:srgbClr val="00B0F0"/>
              </a:buClr>
              <a:buSzPct val="65000"/>
              <a:buFont typeface="Wingdings" pitchFamily="2" charset="2"/>
              <a:buChar char="u"/>
              <a:defRPr/>
            </a:pPr>
            <a:r>
              <a:rPr lang="zh-CN" altLang="en-US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指令周期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itchFamily="2" charset="2"/>
              </a:rPr>
              <a:t>: 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itchFamily="2" charset="2"/>
              </a:rPr>
              <a:t>执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行一条指令所需要的时间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>
              <a:lnSpc>
                <a:spcPct val="140000"/>
              </a:lnSpc>
              <a:spcBef>
                <a:spcPct val="5000"/>
              </a:spcBef>
              <a:defRPr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中不同指令的指令周期是不等长的，因为指令长度不等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最短的指令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个字节，最长的指令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个字节。指令的最短执行时间是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个时钟周期，最长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个时钟周期（如：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位乘除法指令）。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spcBef>
                <a:spcPct val="35000"/>
              </a:spcBef>
              <a:buClr>
                <a:srgbClr val="00B0F0"/>
              </a:buClr>
              <a:buSzPct val="65000"/>
              <a:buFont typeface="Wingdings" pitchFamily="2" charset="2"/>
              <a:buChar char="u"/>
              <a:defRPr/>
            </a:pP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总线周期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sym typeface="Wingdings" pitchFamily="2" charset="2"/>
              </a:rPr>
              <a:t>: 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sym typeface="Wingdings" pitchFamily="2" charset="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sym typeface="Wingdings" pitchFamily="2" charset="2"/>
              </a:rPr>
              <a:t>从存储器或输入输出端口存取一个字节就是一个总线周期；多字节指令，取指就需要若干个总线周期。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  <a:sym typeface="Wingdings" pitchFamily="2" charset="2"/>
            </a:endParaRPr>
          </a:p>
          <a:p>
            <a:pPr>
              <a:lnSpc>
                <a:spcPct val="140000"/>
              </a:lnSpc>
              <a:spcBef>
                <a:spcPct val="35000"/>
              </a:spcBef>
              <a:buClr>
                <a:srgbClr val="00B0F0"/>
              </a:buClr>
              <a:buSzPct val="65000"/>
              <a:defRPr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把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指令周期划分为一个个总线周期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基本的总线周期有存储器读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写、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端口读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写和中断响应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周期。</a:t>
            </a:r>
            <a:r>
              <a:rPr lang="zh-CN" altLang="en-US" sz="2000" dirty="0" smtClean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从存储器存取一个字节就是一个总线周期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40000"/>
              </a:lnSpc>
              <a:spcBef>
                <a:spcPct val="25000"/>
              </a:spcBef>
              <a:buClr>
                <a:srgbClr val="00B0F0"/>
              </a:buClr>
              <a:buSzPct val="65000"/>
              <a:buFont typeface="Wingdings" pitchFamily="2" charset="2"/>
              <a:buChar char="u"/>
              <a:defRPr/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又称时钟周期，是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处理动作的最小单位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  <a:p>
            <a:pPr>
              <a:lnSpc>
                <a:spcPct val="140000"/>
              </a:lnSpc>
              <a:spcBef>
                <a:spcPct val="5000"/>
              </a:spcBef>
              <a:buClr>
                <a:schemeClr val="accent1"/>
              </a:buClr>
              <a:buSzPct val="60000"/>
              <a:defRPr/>
            </a:pP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如：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的时钟频率为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5MHz</a:t>
            </a: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，故时钟周期或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状态为</a:t>
            </a:r>
            <a:r>
              <a:rPr lang="en-US" altLang="zh-CN" sz="2000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200ns</a:t>
            </a:r>
            <a:r>
              <a:rPr lang="en-US" altLang="zh-CN" sz="2000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6488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44135" y="958339"/>
            <a:ext cx="344838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4.4.2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 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最小组态下的时序</a:t>
            </a:r>
            <a:endParaRPr lang="zh-CN" altLang="en-US" sz="20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44135" y="1323106"/>
            <a:ext cx="390173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  <a:r>
              <a:rPr lang="zh-CN" altLang="en-US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读周期：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状态组成（图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4-15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确定访问对象：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首先由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IO/M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信号来确定访问存储器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or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外设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该信号在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状态开始变为有效，一直持续到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结束。</a:t>
            </a:r>
            <a:endParaRPr lang="en-US" altLang="zh-CN" sz="20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复用引线的状态：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虽然有复用引线，但从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状态开始，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A0-A19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上都是地址；从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A16-A19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上的信号变为状态信号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S3-S6.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A7-A0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变为三态，为以后读入数据做准备。</a:t>
            </a:r>
            <a:endParaRPr lang="en-US" altLang="zh-CN" sz="20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10000"/>
              </a:lnSpc>
              <a:defRPr/>
            </a:pPr>
            <a:r>
              <a:rPr lang="en-US" altLang="zh-CN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000" kern="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给出读命令：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信号在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状态变为有效，用于控制数据传送方向。由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RD</a:t>
            </a:r>
            <a:r>
              <a:rPr lang="zh-CN" altLang="en-US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信号把指定单元里的内容读出到引线</a:t>
            </a:r>
            <a:r>
              <a:rPr lang="en-US" altLang="zh-CN" sz="2000" kern="0" dirty="0">
                <a:latin typeface="楷体" panose="02010609060101010101" pitchFamily="49" charset="-122"/>
                <a:ea typeface="楷体" panose="02010609060101010101" pitchFamily="49" charset="-122"/>
              </a:rPr>
              <a:t>AD0-AD7.</a:t>
            </a:r>
            <a:endParaRPr lang="zh-CN" altLang="en-US" sz="2000" kern="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175" y="898340"/>
            <a:ext cx="4822825" cy="532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5065680" y="6360396"/>
            <a:ext cx="37000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4-15 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最小组态存储器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读周期时序</a:t>
            </a:r>
            <a:endParaRPr lang="zh-CN" altLang="en-US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201401" y="5409434"/>
            <a:ext cx="3109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Line 6"/>
          <p:cNvSpPr>
            <a:spLocks noChangeShapeType="1"/>
          </p:cNvSpPr>
          <p:nvPr/>
        </p:nvSpPr>
        <p:spPr bwMode="auto">
          <a:xfrm>
            <a:off x="1065059" y="6066381"/>
            <a:ext cx="3109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0790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26379" y="1513683"/>
            <a:ext cx="3227033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写周期：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状态组成，与读周期类似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(1)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确定访问对象：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IO/M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信号来确定访问存储器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or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外设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;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该信号在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T1-T4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有效。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(2)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复用引线的状态：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把要写入的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位数据放至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AD0-AD7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(3)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给出写命令：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WR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状态变为有效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.</a:t>
            </a:r>
          </a:p>
        </p:txBody>
      </p:sp>
      <p:pic>
        <p:nvPicPr>
          <p:cNvPr id="3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2988" y="1513683"/>
            <a:ext cx="5561012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4975133" y="5606741"/>
            <a:ext cx="27767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图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4-16 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存储器写周期时序</a:t>
            </a:r>
          </a:p>
        </p:txBody>
      </p:sp>
      <p:sp>
        <p:nvSpPr>
          <p:cNvPr id="5" name="Line 6"/>
          <p:cNvSpPr>
            <a:spLocks noChangeShapeType="1"/>
          </p:cNvSpPr>
          <p:nvPr/>
        </p:nvSpPr>
        <p:spPr bwMode="auto">
          <a:xfrm>
            <a:off x="2183645" y="5338410"/>
            <a:ext cx="31098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50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39259" y="1122519"/>
            <a:ext cx="37240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3.I/O</a:t>
            </a:r>
            <a:r>
              <a:rPr lang="zh-CN" altLang="en-US" sz="24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输入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周期和输出周期</a:t>
            </a:r>
          </a:p>
        </p:txBody>
      </p:sp>
      <p:sp>
        <p:nvSpPr>
          <p:cNvPr id="3" name="矩形 2"/>
          <p:cNvSpPr/>
          <p:nvPr/>
        </p:nvSpPr>
        <p:spPr>
          <a:xfrm>
            <a:off x="639258" y="1638351"/>
            <a:ext cx="774126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从外设输入数据或把数据输出给外设的时序，与存储器的读、写周期基本相同。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266" y="2338850"/>
            <a:ext cx="6992938" cy="435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86350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11515" y="1087060"/>
            <a:ext cx="41008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4.3.4 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最大组态下的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</a:rPr>
              <a:t>时序</a:t>
            </a:r>
            <a:endParaRPr lang="zh-CN" altLang="en-US" sz="2400" kern="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11514" y="1803273"/>
            <a:ext cx="8410543" cy="43088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200"/>
              </a:spcAft>
              <a:defRPr/>
            </a:pP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   最大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组态下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的基本总线周期由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个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状态组成：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(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1)T1,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发出控制信号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首先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发出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位地址信息和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状态；总线控制器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进行译码，发出命令控制信号；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e.g. ALE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信号将地址锁存；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(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2)T2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，开始 执行数据传送操作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AD0-AD7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切换成数据线、将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A16/S3-A19/S6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切换成与总线周期有关的状态信号、发出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DEN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DT/R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信号使系统数据总线与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的数据总线接通并控制数据传送的方向。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(3)T3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下降沿采集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若信号有效，则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结束后进入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状态；若信号无效，则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结束后插入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   (4)T4</a:t>
            </a:r>
            <a:r>
              <a:rPr lang="en-US" altLang="zh-CN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8088</a:t>
            </a:r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完成数据传送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变成无操作的过度状态；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结束总线周期，恢复各信号线的初态，准备执行下一个总线周期。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595273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5975" y="1606920"/>
            <a:ext cx="5788025" cy="385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/>
        </p:nvSpPr>
        <p:spPr>
          <a:xfrm>
            <a:off x="4772659" y="5730081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最大组态</a:t>
            </a:r>
            <a:r>
              <a:rPr lang="zh-CN" altLang="en-US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读周期时序</a:t>
            </a:r>
          </a:p>
        </p:txBody>
      </p:sp>
      <p:sp>
        <p:nvSpPr>
          <p:cNvPr id="4" name="矩形 3"/>
          <p:cNvSpPr/>
          <p:nvPr/>
        </p:nvSpPr>
        <p:spPr>
          <a:xfrm>
            <a:off x="102093" y="1114889"/>
            <a:ext cx="3386831" cy="57431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1.</a:t>
            </a:r>
            <a:r>
              <a:rPr lang="zh-CN" altLang="en-US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</a:t>
            </a:r>
            <a:r>
              <a:rPr lang="zh-CN" altLang="en-US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读周期</a:t>
            </a:r>
            <a:r>
              <a:rPr lang="zh-CN" altLang="en-US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T1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,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发出控制信号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首先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8088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发出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20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位地址信息和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状态；总线控制器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8288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对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进行译码，发出命令控制信号；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e.g. ALE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信号将地址锁存；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T2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，开始执行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数据传送操作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将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AD0-AD7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切换成数据线、发出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MRDC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命令使选中的存储单元把数据送到总线上、使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DEN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信号有效接通数据收发器。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下降沿采集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READY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信号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: 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若信号有效，则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结束后进入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状态；若信号无效，则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T3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结束后插入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Tw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en-US" altLang="zh-CN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T4</a:t>
            </a: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下降沿</a:t>
            </a:r>
            <a:r>
              <a:rPr lang="en-US" altLang="zh-CN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把数据总线上的数据读入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296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774762"/>
              </p:ext>
            </p:extLst>
          </p:nvPr>
        </p:nvGraphicFramePr>
        <p:xfrm>
          <a:off x="1039166" y="1510725"/>
          <a:ext cx="7127875" cy="473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位图图像" r:id="rId3" imgW="5458587" imgH="3629532" progId="PBrush">
                  <p:embed/>
                </p:oleObj>
              </mc:Choice>
              <mc:Fallback>
                <p:oleObj name="位图图像" r:id="rId3" imgW="5458587" imgH="3629532" progId="PBrush">
                  <p:embed/>
                  <p:pic>
                    <p:nvPicPr>
                      <p:cNvPr id="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9166" y="1510725"/>
                        <a:ext cx="7127875" cy="473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387009" y="1085993"/>
            <a:ext cx="2236510" cy="412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defRPr/>
            </a:pPr>
            <a:r>
              <a:rPr lang="en-US" altLang="zh-CN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2.</a:t>
            </a:r>
            <a:r>
              <a:rPr lang="zh-CN" altLang="en-US" sz="2000" dirty="0" smtClean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存储器写周期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779527" y="6249413"/>
            <a:ext cx="3647152" cy="4126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最大组态时存储器写周期时序 </a:t>
            </a:r>
          </a:p>
        </p:txBody>
      </p:sp>
    </p:spTree>
    <p:extLst>
      <p:ext uri="{BB962C8B-B14F-4D97-AF65-F5344CB8AC3E}">
        <p14:creationId xmlns:p14="http://schemas.microsoft.com/office/powerpoint/2010/main" val="3171538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53399" y="1119653"/>
            <a:ext cx="578395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3.I/O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读和</a:t>
            </a:r>
            <a:r>
              <a:rPr lang="en-US" altLang="zh-CN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写周期。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外设速度较慢，需要</a:t>
            </a:r>
            <a:r>
              <a:rPr lang="en-US" altLang="zh-CN" sz="2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T</a:t>
            </a:r>
            <a:r>
              <a:rPr lang="en-US" altLang="zh-CN" sz="2000" baseline="-25000" dirty="0" smtClean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W</a:t>
            </a:r>
            <a:r>
              <a:rPr lang="zh-CN" altLang="en-US" sz="2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状态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2239308"/>
              </p:ext>
            </p:extLst>
          </p:nvPr>
        </p:nvGraphicFramePr>
        <p:xfrm>
          <a:off x="1074615" y="2219269"/>
          <a:ext cx="6737735" cy="41589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5" name="位图图像" r:id="rId3" imgW="6249272" imgH="3591426" progId="PBrush">
                  <p:embed/>
                </p:oleObj>
              </mc:Choice>
              <mc:Fallback>
                <p:oleObj name="位图图像" r:id="rId3" imgW="6249272" imgH="3591426" progId="PBrush">
                  <p:embed/>
                  <p:pic>
                    <p:nvPicPr>
                      <p:cNvPr id="1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4615" y="2219269"/>
                        <a:ext cx="6737735" cy="41589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421067" y="6378190"/>
            <a:ext cx="46730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最大组态时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读周期和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</a:rPr>
              <a:t>写周期时序 </a:t>
            </a:r>
          </a:p>
        </p:txBody>
      </p:sp>
      <p:sp>
        <p:nvSpPr>
          <p:cNvPr id="5" name="矩形 4"/>
          <p:cNvSpPr/>
          <p:nvPr/>
        </p:nvSpPr>
        <p:spPr>
          <a:xfrm>
            <a:off x="653399" y="1634493"/>
            <a:ext cx="621081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S0-S2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的编码为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I/O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操作。读写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命令为</a:t>
            </a:r>
            <a:r>
              <a:rPr lang="en-US" altLang="zh-CN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IORC</a:t>
            </a:r>
            <a:r>
              <a:rPr lang="zh-CN" altLang="en-US" sz="2000" dirty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en-US" altLang="zh-CN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AIOWC</a:t>
            </a:r>
            <a:r>
              <a:rPr lang="zh-CN" altLang="en-US" sz="2000" dirty="0" smtClean="0">
                <a:solidFill>
                  <a:srgbClr val="0033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lang="zh-CN" altLang="en-US" sz="2000" dirty="0">
              <a:solidFill>
                <a:srgbClr val="003399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714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954350" y="1724462"/>
            <a:ext cx="4572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4000" dirty="0">
                <a:latin typeface="楷体" panose="02010609060101010101" pitchFamily="49" charset="-122"/>
                <a:ea typeface="楷体" panose="02010609060101010101" pitchFamily="49" charset="-122"/>
              </a:rPr>
              <a:t>习题</a:t>
            </a:r>
            <a:endParaRPr lang="en-US" altLang="zh-CN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en-US" altLang="zh-CN" sz="4000" dirty="0" smtClean="0">
                <a:latin typeface="楷体" panose="02010609060101010101" pitchFamily="49" charset="-122"/>
                <a:ea typeface="楷体" panose="02010609060101010101" pitchFamily="49" charset="-122"/>
              </a:rPr>
              <a:t> 1/3/4/5/6/7/9/10</a:t>
            </a:r>
            <a:endParaRPr lang="zh-CN" altLang="en-US" sz="4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79997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2378</TotalTime>
  <Words>6606</Words>
  <Application>Microsoft Office PowerPoint</Application>
  <PresentationFormat>全屏显示(4:3)</PresentationFormat>
  <Paragraphs>309</Paragraphs>
  <Slides>64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6" baseType="lpstr">
      <vt:lpstr>等线</vt:lpstr>
      <vt:lpstr>等线 Light</vt:lpstr>
      <vt:lpstr>楷体</vt:lpstr>
      <vt:lpstr>楷体_GB2312</vt:lpstr>
      <vt:lpstr>宋体</vt:lpstr>
      <vt:lpstr>Arial</vt:lpstr>
      <vt:lpstr>Calibri</vt:lpstr>
      <vt:lpstr>Calibri Light</vt:lpstr>
      <vt:lpstr>Times New Roman</vt:lpstr>
      <vt:lpstr>Wingdings</vt:lpstr>
      <vt:lpstr>Office 主题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Enjia Deng</dc:creator>
  <cp:lastModifiedBy>陈佩</cp:lastModifiedBy>
  <cp:revision>104</cp:revision>
  <dcterms:created xsi:type="dcterms:W3CDTF">2020-03-31T02:45:39Z</dcterms:created>
  <dcterms:modified xsi:type="dcterms:W3CDTF">2020-09-23T12:48:46Z</dcterms:modified>
</cp:coreProperties>
</file>