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354" r:id="rId3"/>
    <p:sldId id="705" r:id="rId4"/>
    <p:sldId id="649" r:id="rId5"/>
    <p:sldId id="651" r:id="rId6"/>
    <p:sldId id="652" r:id="rId7"/>
    <p:sldId id="654" r:id="rId8"/>
    <p:sldId id="656" r:id="rId9"/>
    <p:sldId id="657" r:id="rId10"/>
    <p:sldId id="658" r:id="rId11"/>
    <p:sldId id="659" r:id="rId12"/>
    <p:sldId id="660" r:id="rId13"/>
    <p:sldId id="662" r:id="rId14"/>
    <p:sldId id="663" r:id="rId15"/>
    <p:sldId id="664" r:id="rId16"/>
    <p:sldId id="665" r:id="rId17"/>
    <p:sldId id="666" r:id="rId18"/>
    <p:sldId id="667" r:id="rId19"/>
    <p:sldId id="668" r:id="rId20"/>
    <p:sldId id="669" r:id="rId21"/>
    <p:sldId id="670" r:id="rId22"/>
    <p:sldId id="706" r:id="rId23"/>
    <p:sldId id="671" r:id="rId24"/>
    <p:sldId id="673" r:id="rId25"/>
    <p:sldId id="674" r:id="rId26"/>
    <p:sldId id="675" r:id="rId27"/>
    <p:sldId id="676" r:id="rId28"/>
    <p:sldId id="677" r:id="rId29"/>
    <p:sldId id="678" r:id="rId30"/>
    <p:sldId id="679" r:id="rId31"/>
    <p:sldId id="680" r:id="rId32"/>
    <p:sldId id="681" r:id="rId33"/>
    <p:sldId id="707" r:id="rId34"/>
    <p:sldId id="682" r:id="rId35"/>
    <p:sldId id="683" r:id="rId36"/>
    <p:sldId id="684" r:id="rId37"/>
    <p:sldId id="685" r:id="rId38"/>
    <p:sldId id="686" r:id="rId39"/>
    <p:sldId id="687" r:id="rId40"/>
    <p:sldId id="688" r:id="rId41"/>
    <p:sldId id="689" r:id="rId42"/>
    <p:sldId id="690" r:id="rId43"/>
    <p:sldId id="691" r:id="rId44"/>
    <p:sldId id="692" r:id="rId45"/>
    <p:sldId id="693" r:id="rId46"/>
    <p:sldId id="694" r:id="rId47"/>
    <p:sldId id="695" r:id="rId48"/>
    <p:sldId id="696" r:id="rId49"/>
    <p:sldId id="697" r:id="rId50"/>
    <p:sldId id="698" r:id="rId51"/>
    <p:sldId id="699" r:id="rId52"/>
    <p:sldId id="700" r:id="rId53"/>
    <p:sldId id="701" r:id="rId54"/>
    <p:sldId id="702" r:id="rId55"/>
    <p:sldId id="703" r:id="rId56"/>
    <p:sldId id="704" r:id="rId57"/>
    <p:sldId id="708" r:id="rId58"/>
  </p:sldIdLst>
  <p:sldSz cx="9144000" cy="6858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5">
          <p15:clr>
            <a:srgbClr val="A4A3A4"/>
          </p15:clr>
        </p15:guide>
        <p15:guide id="2" pos="216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20" y="56"/>
      </p:cViewPr>
      <p:guideLst>
        <p:guide orient="horz" pos="2895"/>
        <p:guide pos="21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2396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6" name="文本占位符 239618"/>
          <p:cNvSpPr>
            <a:spLocks noGrp="1"/>
          </p:cNvSpPr>
          <p:nvPr>
            <p:ph type="body"/>
          </p:nvPr>
        </p:nvSpPr>
        <p:spPr/>
        <p:txBody>
          <a:bodyPr anchor="t"/>
          <a:lstStyle/>
          <a:p>
            <a:pPr lvl="0" indent="0"/>
            <a:endParaRPr lang="zh-CN" dirty="0"/>
          </a:p>
        </p:txBody>
      </p:sp>
      <p:sp>
        <p:nvSpPr>
          <p:cNvPr id="6147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 eaLnBrk="1" hangingPunct="1"/>
            <a:fld id="{9A0DB2DC-4C9A-4742-B13C-FB6460FD3503}" type="slidenum">
              <a:rPr lang="zh-CN" altLang="en-US" sz="1200" b="0" dirty="0"/>
              <a:t>2</a:t>
            </a:fld>
            <a:endParaRPr lang="zh-CN" altLang="en-US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8600" y="282575"/>
            <a:ext cx="298196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75184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57200" y="970280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algn="ctr"/>
            <a:endParaRPr sz="16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35128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3/5/2022</a:t>
            </a:fld>
            <a:endParaRPr lang="en-US"/>
          </a:p>
        </p:txBody>
      </p:sp>
      <p:sp>
        <p:nvSpPr>
          <p:cNvPr id="9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61085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45855" y="661225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7061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40775" y="660717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8600" y="282575"/>
            <a:ext cx="3933190" cy="368935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3/5/2022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2022年3月5日2时36分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2022年3月5日2时36分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2022年3月5日2时36分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2022年3月5日2时36分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k object 16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8600" y="282575"/>
            <a:ext cx="292481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0930" y="6550660"/>
            <a:ext cx="433070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b="1">
                <a:solidFill>
                  <a:srgbClr val="FFFF00"/>
                </a:solidFill>
              </a:defRPr>
            </a:lvl1pPr>
          </a:lstStyle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3/5/2022</a:t>
            </a:fld>
            <a:endParaRPr 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67360" y="998855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副标题 12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432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4191000" y="4953000"/>
            <a:ext cx="2866390" cy="3308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80"/>
              </a:spcBef>
            </a:pPr>
            <a:r>
              <a:rPr sz="2000" b="1" dirty="0" err="1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主讲</a:t>
            </a:r>
            <a:r>
              <a:rPr 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:</a:t>
            </a:r>
            <a:r>
              <a:rPr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陈佩</a:t>
            </a:r>
            <a:endParaRPr lang="zh-CN" altLang="zh-CN" sz="2000" b="1" dirty="0">
              <a:solidFill>
                <a:srgbClr val="006FC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64880" y="2717292"/>
            <a:ext cx="579120" cy="993775"/>
          </a:xfrm>
          <a:custGeom>
            <a:avLst/>
            <a:gdLst/>
            <a:ahLst/>
            <a:cxnLst/>
            <a:rect l="l" t="t" r="r" b="b"/>
            <a:pathLst>
              <a:path w="579120" h="993775">
                <a:moveTo>
                  <a:pt x="0" y="993648"/>
                </a:moveTo>
                <a:lnTo>
                  <a:pt x="579120" y="993648"/>
                </a:lnTo>
                <a:lnTo>
                  <a:pt x="579120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64880" y="3805428"/>
            <a:ext cx="579120" cy="273050"/>
          </a:xfrm>
          <a:custGeom>
            <a:avLst/>
            <a:gdLst/>
            <a:ahLst/>
            <a:cxnLst/>
            <a:rect l="l" t="t" r="r" b="b"/>
            <a:pathLst>
              <a:path w="579120" h="273050">
                <a:moveTo>
                  <a:pt x="0" y="272796"/>
                </a:moveTo>
                <a:lnTo>
                  <a:pt x="579120" y="272796"/>
                </a:lnTo>
                <a:lnTo>
                  <a:pt x="579120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05428"/>
            <a:ext cx="5991225" cy="273050"/>
          </a:xfrm>
          <a:custGeom>
            <a:avLst/>
            <a:gdLst/>
            <a:ahLst/>
            <a:cxnLst/>
            <a:rect l="l" t="t" r="r" b="b"/>
            <a:pathLst>
              <a:path w="5991225" h="273050">
                <a:moveTo>
                  <a:pt x="0" y="272796"/>
                </a:moveTo>
                <a:lnTo>
                  <a:pt x="5990844" y="272796"/>
                </a:lnTo>
                <a:lnTo>
                  <a:pt x="5990844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717165"/>
            <a:ext cx="6548755" cy="993775"/>
          </a:xfrm>
          <a:custGeom>
            <a:avLst/>
            <a:gdLst/>
            <a:ahLst/>
            <a:cxnLst/>
            <a:rect l="l" t="t" r="r" b="b"/>
            <a:pathLst>
              <a:path w="5991225" h="993775">
                <a:moveTo>
                  <a:pt x="0" y="993648"/>
                </a:moveTo>
                <a:lnTo>
                  <a:pt x="5990844" y="993648"/>
                </a:lnTo>
                <a:lnTo>
                  <a:pt x="5990844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67025" y="2950210"/>
            <a:ext cx="3628390" cy="53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单片机</a:t>
            </a:r>
            <a:r>
              <a:rPr lang="zh-CN"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原理及应用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27070" y="3805555"/>
            <a:ext cx="332168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-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Chang'an university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611886" y="0"/>
                </a:moveTo>
                <a:lnTo>
                  <a:pt x="564067" y="1840"/>
                </a:lnTo>
                <a:lnTo>
                  <a:pt x="517255" y="7272"/>
                </a:lnTo>
                <a:lnTo>
                  <a:pt x="471586" y="16159"/>
                </a:lnTo>
                <a:lnTo>
                  <a:pt x="427195" y="28365"/>
                </a:lnTo>
                <a:lnTo>
                  <a:pt x="384219" y="43754"/>
                </a:lnTo>
                <a:lnTo>
                  <a:pt x="342794" y="62190"/>
                </a:lnTo>
                <a:lnTo>
                  <a:pt x="303055" y="83537"/>
                </a:lnTo>
                <a:lnTo>
                  <a:pt x="265140" y="107659"/>
                </a:lnTo>
                <a:lnTo>
                  <a:pt x="229182" y="134420"/>
                </a:lnTo>
                <a:lnTo>
                  <a:pt x="195320" y="163684"/>
                </a:lnTo>
                <a:lnTo>
                  <a:pt x="163689" y="195315"/>
                </a:lnTo>
                <a:lnTo>
                  <a:pt x="134424" y="229177"/>
                </a:lnTo>
                <a:lnTo>
                  <a:pt x="107663" y="265134"/>
                </a:lnTo>
                <a:lnTo>
                  <a:pt x="83540" y="303050"/>
                </a:lnTo>
                <a:lnTo>
                  <a:pt x="62192" y="342788"/>
                </a:lnTo>
                <a:lnTo>
                  <a:pt x="43756" y="384214"/>
                </a:lnTo>
                <a:lnTo>
                  <a:pt x="28366" y="427191"/>
                </a:lnTo>
                <a:lnTo>
                  <a:pt x="16160" y="471582"/>
                </a:lnTo>
                <a:lnTo>
                  <a:pt x="7273" y="517252"/>
                </a:lnTo>
                <a:lnTo>
                  <a:pt x="1840" y="564065"/>
                </a:lnTo>
                <a:lnTo>
                  <a:pt x="0" y="611886"/>
                </a:lnTo>
                <a:lnTo>
                  <a:pt x="1840" y="659706"/>
                </a:lnTo>
                <a:lnTo>
                  <a:pt x="7273" y="706519"/>
                </a:lnTo>
                <a:lnTo>
                  <a:pt x="16160" y="752189"/>
                </a:lnTo>
                <a:lnTo>
                  <a:pt x="28366" y="796580"/>
                </a:lnTo>
                <a:lnTo>
                  <a:pt x="43756" y="839557"/>
                </a:lnTo>
                <a:lnTo>
                  <a:pt x="62192" y="880983"/>
                </a:lnTo>
                <a:lnTo>
                  <a:pt x="83540" y="920721"/>
                </a:lnTo>
                <a:lnTo>
                  <a:pt x="107663" y="958637"/>
                </a:lnTo>
                <a:lnTo>
                  <a:pt x="134424" y="994594"/>
                </a:lnTo>
                <a:lnTo>
                  <a:pt x="163689" y="1028456"/>
                </a:lnTo>
                <a:lnTo>
                  <a:pt x="195320" y="1060087"/>
                </a:lnTo>
                <a:lnTo>
                  <a:pt x="229182" y="1089351"/>
                </a:lnTo>
                <a:lnTo>
                  <a:pt x="265140" y="1116112"/>
                </a:lnTo>
                <a:lnTo>
                  <a:pt x="303055" y="1140234"/>
                </a:lnTo>
                <a:lnTo>
                  <a:pt x="342794" y="1161581"/>
                </a:lnTo>
                <a:lnTo>
                  <a:pt x="384219" y="1180017"/>
                </a:lnTo>
                <a:lnTo>
                  <a:pt x="427195" y="1195406"/>
                </a:lnTo>
                <a:lnTo>
                  <a:pt x="471586" y="1207612"/>
                </a:lnTo>
                <a:lnTo>
                  <a:pt x="517255" y="1216499"/>
                </a:lnTo>
                <a:lnTo>
                  <a:pt x="564067" y="1221931"/>
                </a:lnTo>
                <a:lnTo>
                  <a:pt x="611886" y="1223771"/>
                </a:lnTo>
                <a:lnTo>
                  <a:pt x="659704" y="1221931"/>
                </a:lnTo>
                <a:lnTo>
                  <a:pt x="706516" y="1216499"/>
                </a:lnTo>
                <a:lnTo>
                  <a:pt x="752185" y="1207612"/>
                </a:lnTo>
                <a:lnTo>
                  <a:pt x="796576" y="1195406"/>
                </a:lnTo>
                <a:lnTo>
                  <a:pt x="839552" y="1180017"/>
                </a:lnTo>
                <a:lnTo>
                  <a:pt x="880977" y="1161581"/>
                </a:lnTo>
                <a:lnTo>
                  <a:pt x="920716" y="1140234"/>
                </a:lnTo>
                <a:lnTo>
                  <a:pt x="958631" y="1116112"/>
                </a:lnTo>
                <a:lnTo>
                  <a:pt x="994589" y="1089351"/>
                </a:lnTo>
                <a:lnTo>
                  <a:pt x="1028451" y="1060087"/>
                </a:lnTo>
                <a:lnTo>
                  <a:pt x="1060082" y="1028456"/>
                </a:lnTo>
                <a:lnTo>
                  <a:pt x="1089347" y="994594"/>
                </a:lnTo>
                <a:lnTo>
                  <a:pt x="1116108" y="958637"/>
                </a:lnTo>
                <a:lnTo>
                  <a:pt x="1140231" y="920721"/>
                </a:lnTo>
                <a:lnTo>
                  <a:pt x="1161579" y="880983"/>
                </a:lnTo>
                <a:lnTo>
                  <a:pt x="1180015" y="839557"/>
                </a:lnTo>
                <a:lnTo>
                  <a:pt x="1195405" y="796580"/>
                </a:lnTo>
                <a:lnTo>
                  <a:pt x="1207611" y="752189"/>
                </a:lnTo>
                <a:lnTo>
                  <a:pt x="1216498" y="706519"/>
                </a:lnTo>
                <a:lnTo>
                  <a:pt x="1221931" y="659706"/>
                </a:lnTo>
                <a:lnTo>
                  <a:pt x="1223772" y="611886"/>
                </a:lnTo>
                <a:lnTo>
                  <a:pt x="1221931" y="564065"/>
                </a:lnTo>
                <a:lnTo>
                  <a:pt x="1216498" y="517252"/>
                </a:lnTo>
                <a:lnTo>
                  <a:pt x="1207611" y="471582"/>
                </a:lnTo>
                <a:lnTo>
                  <a:pt x="1195405" y="427191"/>
                </a:lnTo>
                <a:lnTo>
                  <a:pt x="1180015" y="384214"/>
                </a:lnTo>
                <a:lnTo>
                  <a:pt x="1161579" y="342788"/>
                </a:lnTo>
                <a:lnTo>
                  <a:pt x="1140231" y="303050"/>
                </a:lnTo>
                <a:lnTo>
                  <a:pt x="1116108" y="265134"/>
                </a:lnTo>
                <a:lnTo>
                  <a:pt x="1089347" y="229177"/>
                </a:lnTo>
                <a:lnTo>
                  <a:pt x="1060082" y="195315"/>
                </a:lnTo>
                <a:lnTo>
                  <a:pt x="1028451" y="163684"/>
                </a:lnTo>
                <a:lnTo>
                  <a:pt x="994589" y="134420"/>
                </a:lnTo>
                <a:lnTo>
                  <a:pt x="958631" y="107659"/>
                </a:lnTo>
                <a:lnTo>
                  <a:pt x="920716" y="83537"/>
                </a:lnTo>
                <a:lnTo>
                  <a:pt x="880977" y="62190"/>
                </a:lnTo>
                <a:lnTo>
                  <a:pt x="839552" y="43754"/>
                </a:lnTo>
                <a:lnTo>
                  <a:pt x="796576" y="28365"/>
                </a:lnTo>
                <a:lnTo>
                  <a:pt x="752185" y="16159"/>
                </a:lnTo>
                <a:lnTo>
                  <a:pt x="706516" y="7272"/>
                </a:lnTo>
                <a:lnTo>
                  <a:pt x="659704" y="1840"/>
                </a:lnTo>
                <a:lnTo>
                  <a:pt x="61188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0" y="611886"/>
                </a:moveTo>
                <a:lnTo>
                  <a:pt x="1840" y="564065"/>
                </a:lnTo>
                <a:lnTo>
                  <a:pt x="7273" y="517252"/>
                </a:lnTo>
                <a:lnTo>
                  <a:pt x="16160" y="471582"/>
                </a:lnTo>
                <a:lnTo>
                  <a:pt x="28366" y="427191"/>
                </a:lnTo>
                <a:lnTo>
                  <a:pt x="43756" y="384214"/>
                </a:lnTo>
                <a:lnTo>
                  <a:pt x="62192" y="342788"/>
                </a:lnTo>
                <a:lnTo>
                  <a:pt x="83540" y="303050"/>
                </a:lnTo>
                <a:lnTo>
                  <a:pt x="107663" y="265134"/>
                </a:lnTo>
                <a:lnTo>
                  <a:pt x="134424" y="229177"/>
                </a:lnTo>
                <a:lnTo>
                  <a:pt x="163689" y="195315"/>
                </a:lnTo>
                <a:lnTo>
                  <a:pt x="195320" y="163684"/>
                </a:lnTo>
                <a:lnTo>
                  <a:pt x="229182" y="134420"/>
                </a:lnTo>
                <a:lnTo>
                  <a:pt x="265140" y="107659"/>
                </a:lnTo>
                <a:lnTo>
                  <a:pt x="303055" y="83537"/>
                </a:lnTo>
                <a:lnTo>
                  <a:pt x="342794" y="62190"/>
                </a:lnTo>
                <a:lnTo>
                  <a:pt x="384219" y="43754"/>
                </a:lnTo>
                <a:lnTo>
                  <a:pt x="427195" y="28365"/>
                </a:lnTo>
                <a:lnTo>
                  <a:pt x="471586" y="16159"/>
                </a:lnTo>
                <a:lnTo>
                  <a:pt x="517255" y="7272"/>
                </a:lnTo>
                <a:lnTo>
                  <a:pt x="564067" y="1840"/>
                </a:lnTo>
                <a:lnTo>
                  <a:pt x="611886" y="0"/>
                </a:lnTo>
                <a:lnTo>
                  <a:pt x="659704" y="1840"/>
                </a:lnTo>
                <a:lnTo>
                  <a:pt x="706516" y="7272"/>
                </a:lnTo>
                <a:lnTo>
                  <a:pt x="752185" y="16159"/>
                </a:lnTo>
                <a:lnTo>
                  <a:pt x="796576" y="28365"/>
                </a:lnTo>
                <a:lnTo>
                  <a:pt x="839552" y="43754"/>
                </a:lnTo>
                <a:lnTo>
                  <a:pt x="880977" y="62190"/>
                </a:lnTo>
                <a:lnTo>
                  <a:pt x="920716" y="83537"/>
                </a:lnTo>
                <a:lnTo>
                  <a:pt x="958631" y="107659"/>
                </a:lnTo>
                <a:lnTo>
                  <a:pt x="994589" y="134420"/>
                </a:lnTo>
                <a:lnTo>
                  <a:pt x="1028451" y="163684"/>
                </a:lnTo>
                <a:lnTo>
                  <a:pt x="1060082" y="195315"/>
                </a:lnTo>
                <a:lnTo>
                  <a:pt x="1089347" y="229177"/>
                </a:lnTo>
                <a:lnTo>
                  <a:pt x="1116108" y="265134"/>
                </a:lnTo>
                <a:lnTo>
                  <a:pt x="1140231" y="303050"/>
                </a:lnTo>
                <a:lnTo>
                  <a:pt x="1161579" y="342788"/>
                </a:lnTo>
                <a:lnTo>
                  <a:pt x="1180015" y="384214"/>
                </a:lnTo>
                <a:lnTo>
                  <a:pt x="1195405" y="427191"/>
                </a:lnTo>
                <a:lnTo>
                  <a:pt x="1207611" y="471582"/>
                </a:lnTo>
                <a:lnTo>
                  <a:pt x="1216498" y="517252"/>
                </a:lnTo>
                <a:lnTo>
                  <a:pt x="1221931" y="564065"/>
                </a:lnTo>
                <a:lnTo>
                  <a:pt x="1223772" y="611886"/>
                </a:lnTo>
                <a:lnTo>
                  <a:pt x="1221931" y="659706"/>
                </a:lnTo>
                <a:lnTo>
                  <a:pt x="1216498" y="706519"/>
                </a:lnTo>
                <a:lnTo>
                  <a:pt x="1207611" y="752189"/>
                </a:lnTo>
                <a:lnTo>
                  <a:pt x="1195405" y="796580"/>
                </a:lnTo>
                <a:lnTo>
                  <a:pt x="1180015" y="839557"/>
                </a:lnTo>
                <a:lnTo>
                  <a:pt x="1161579" y="880983"/>
                </a:lnTo>
                <a:lnTo>
                  <a:pt x="1140231" y="920721"/>
                </a:lnTo>
                <a:lnTo>
                  <a:pt x="1116108" y="958637"/>
                </a:lnTo>
                <a:lnTo>
                  <a:pt x="1089347" y="994594"/>
                </a:lnTo>
                <a:lnTo>
                  <a:pt x="1060082" y="1028456"/>
                </a:lnTo>
                <a:lnTo>
                  <a:pt x="1028451" y="1060087"/>
                </a:lnTo>
                <a:lnTo>
                  <a:pt x="994589" y="1089351"/>
                </a:lnTo>
                <a:lnTo>
                  <a:pt x="958631" y="1116112"/>
                </a:lnTo>
                <a:lnTo>
                  <a:pt x="920716" y="1140234"/>
                </a:lnTo>
                <a:lnTo>
                  <a:pt x="880977" y="1161581"/>
                </a:lnTo>
                <a:lnTo>
                  <a:pt x="839552" y="1180017"/>
                </a:lnTo>
                <a:lnTo>
                  <a:pt x="796576" y="1195406"/>
                </a:lnTo>
                <a:lnTo>
                  <a:pt x="752185" y="1207612"/>
                </a:lnTo>
                <a:lnTo>
                  <a:pt x="706516" y="1216499"/>
                </a:lnTo>
                <a:lnTo>
                  <a:pt x="659704" y="1221931"/>
                </a:lnTo>
                <a:lnTo>
                  <a:pt x="611886" y="1223771"/>
                </a:lnTo>
                <a:lnTo>
                  <a:pt x="564067" y="1221931"/>
                </a:lnTo>
                <a:lnTo>
                  <a:pt x="517255" y="1216499"/>
                </a:lnTo>
                <a:lnTo>
                  <a:pt x="471586" y="1207612"/>
                </a:lnTo>
                <a:lnTo>
                  <a:pt x="427195" y="1195406"/>
                </a:lnTo>
                <a:lnTo>
                  <a:pt x="384219" y="1180017"/>
                </a:lnTo>
                <a:lnTo>
                  <a:pt x="342794" y="1161581"/>
                </a:lnTo>
                <a:lnTo>
                  <a:pt x="303055" y="1140234"/>
                </a:lnTo>
                <a:lnTo>
                  <a:pt x="265140" y="1116112"/>
                </a:lnTo>
                <a:lnTo>
                  <a:pt x="229182" y="1089351"/>
                </a:lnTo>
                <a:lnTo>
                  <a:pt x="195320" y="1060087"/>
                </a:lnTo>
                <a:lnTo>
                  <a:pt x="163689" y="1028456"/>
                </a:lnTo>
                <a:lnTo>
                  <a:pt x="134424" y="994594"/>
                </a:lnTo>
                <a:lnTo>
                  <a:pt x="107663" y="958637"/>
                </a:lnTo>
                <a:lnTo>
                  <a:pt x="83540" y="920721"/>
                </a:lnTo>
                <a:lnTo>
                  <a:pt x="62192" y="880983"/>
                </a:lnTo>
                <a:lnTo>
                  <a:pt x="43756" y="839557"/>
                </a:lnTo>
                <a:lnTo>
                  <a:pt x="28366" y="796580"/>
                </a:lnTo>
                <a:lnTo>
                  <a:pt x="16160" y="752189"/>
                </a:lnTo>
                <a:lnTo>
                  <a:pt x="7273" y="706519"/>
                </a:lnTo>
                <a:lnTo>
                  <a:pt x="1840" y="659706"/>
                </a:lnTo>
                <a:lnTo>
                  <a:pt x="0" y="611886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6531" y="3034283"/>
            <a:ext cx="775970" cy="730250"/>
          </a:xfrm>
          <a:custGeom>
            <a:avLst/>
            <a:gdLst/>
            <a:ahLst/>
            <a:cxnLst/>
            <a:rect l="l" t="t" r="r" b="b"/>
            <a:pathLst>
              <a:path w="775969" h="730250">
                <a:moveTo>
                  <a:pt x="143941" y="0"/>
                </a:moveTo>
                <a:lnTo>
                  <a:pt x="111206" y="5772"/>
                </a:lnTo>
                <a:lnTo>
                  <a:pt x="85969" y="22082"/>
                </a:lnTo>
                <a:lnTo>
                  <a:pt x="69728" y="47416"/>
                </a:lnTo>
                <a:lnTo>
                  <a:pt x="63982" y="80263"/>
                </a:lnTo>
                <a:lnTo>
                  <a:pt x="69728" y="113091"/>
                </a:lnTo>
                <a:lnTo>
                  <a:pt x="85969" y="138382"/>
                </a:lnTo>
                <a:lnTo>
                  <a:pt x="111206" y="154648"/>
                </a:lnTo>
                <a:lnTo>
                  <a:pt x="143941" y="160400"/>
                </a:lnTo>
                <a:lnTo>
                  <a:pt x="176684" y="154648"/>
                </a:lnTo>
                <a:lnTo>
                  <a:pt x="201925" y="138382"/>
                </a:lnTo>
                <a:lnTo>
                  <a:pt x="218167" y="113091"/>
                </a:lnTo>
                <a:lnTo>
                  <a:pt x="223913" y="80263"/>
                </a:lnTo>
                <a:lnTo>
                  <a:pt x="218167" y="47416"/>
                </a:lnTo>
                <a:lnTo>
                  <a:pt x="201925" y="22082"/>
                </a:lnTo>
                <a:lnTo>
                  <a:pt x="176684" y="5772"/>
                </a:lnTo>
                <a:lnTo>
                  <a:pt x="143941" y="0"/>
                </a:lnTo>
                <a:close/>
              </a:path>
              <a:path w="775969" h="730250">
                <a:moveTo>
                  <a:pt x="127952" y="184530"/>
                </a:moveTo>
                <a:lnTo>
                  <a:pt x="39979" y="184530"/>
                </a:lnTo>
                <a:lnTo>
                  <a:pt x="0" y="401065"/>
                </a:lnTo>
                <a:lnTo>
                  <a:pt x="55981" y="441198"/>
                </a:lnTo>
                <a:lnTo>
                  <a:pt x="39979" y="729995"/>
                </a:lnTo>
                <a:lnTo>
                  <a:pt x="111963" y="729995"/>
                </a:lnTo>
                <a:lnTo>
                  <a:pt x="127952" y="481329"/>
                </a:lnTo>
                <a:lnTo>
                  <a:pt x="234136" y="481329"/>
                </a:lnTo>
                <a:lnTo>
                  <a:pt x="231914" y="441198"/>
                </a:lnTo>
                <a:lnTo>
                  <a:pt x="229007" y="377063"/>
                </a:lnTo>
                <a:lnTo>
                  <a:pt x="143941" y="377063"/>
                </a:lnTo>
                <a:lnTo>
                  <a:pt x="111963" y="344931"/>
                </a:lnTo>
                <a:lnTo>
                  <a:pt x="127952" y="216535"/>
                </a:lnTo>
                <a:lnTo>
                  <a:pt x="119951" y="192531"/>
                </a:lnTo>
                <a:lnTo>
                  <a:pt x="127952" y="184530"/>
                </a:lnTo>
                <a:close/>
              </a:path>
              <a:path w="775969" h="730250">
                <a:moveTo>
                  <a:pt x="234136" y="481329"/>
                </a:moveTo>
                <a:lnTo>
                  <a:pt x="159943" y="481329"/>
                </a:lnTo>
                <a:lnTo>
                  <a:pt x="175933" y="729995"/>
                </a:lnTo>
                <a:lnTo>
                  <a:pt x="247904" y="729995"/>
                </a:lnTo>
                <a:lnTo>
                  <a:pt x="234136" y="481329"/>
                </a:lnTo>
                <a:close/>
              </a:path>
              <a:path w="775969" h="730250">
                <a:moveTo>
                  <a:pt x="591781" y="689863"/>
                </a:moveTo>
                <a:lnTo>
                  <a:pt x="343877" y="689863"/>
                </a:lnTo>
                <a:lnTo>
                  <a:pt x="343877" y="729995"/>
                </a:lnTo>
                <a:lnTo>
                  <a:pt x="591781" y="729995"/>
                </a:lnTo>
                <a:lnTo>
                  <a:pt x="591781" y="689863"/>
                </a:lnTo>
                <a:close/>
              </a:path>
              <a:path w="775969" h="730250">
                <a:moveTo>
                  <a:pt x="503821" y="545464"/>
                </a:moveTo>
                <a:lnTo>
                  <a:pt x="431838" y="545464"/>
                </a:lnTo>
                <a:lnTo>
                  <a:pt x="431838" y="673861"/>
                </a:lnTo>
                <a:lnTo>
                  <a:pt x="503821" y="673861"/>
                </a:lnTo>
                <a:lnTo>
                  <a:pt x="503821" y="545464"/>
                </a:lnTo>
                <a:close/>
              </a:path>
              <a:path w="775969" h="730250">
                <a:moveTo>
                  <a:pt x="775716" y="24002"/>
                </a:moveTo>
                <a:lnTo>
                  <a:pt x="271894" y="24002"/>
                </a:lnTo>
                <a:lnTo>
                  <a:pt x="271894" y="72136"/>
                </a:lnTo>
                <a:lnTo>
                  <a:pt x="719734" y="72136"/>
                </a:lnTo>
                <a:lnTo>
                  <a:pt x="719734" y="489330"/>
                </a:lnTo>
                <a:lnTo>
                  <a:pt x="287896" y="489330"/>
                </a:lnTo>
                <a:lnTo>
                  <a:pt x="287896" y="545464"/>
                </a:lnTo>
                <a:lnTo>
                  <a:pt x="775716" y="545464"/>
                </a:lnTo>
                <a:lnTo>
                  <a:pt x="775716" y="24002"/>
                </a:lnTo>
                <a:close/>
              </a:path>
              <a:path w="775969" h="730250">
                <a:moveTo>
                  <a:pt x="457669" y="360933"/>
                </a:moveTo>
                <a:lnTo>
                  <a:pt x="407847" y="360933"/>
                </a:lnTo>
                <a:lnTo>
                  <a:pt x="471830" y="401065"/>
                </a:lnTo>
                <a:lnTo>
                  <a:pt x="487819" y="409066"/>
                </a:lnTo>
                <a:lnTo>
                  <a:pt x="487819" y="393064"/>
                </a:lnTo>
                <a:lnTo>
                  <a:pt x="496789" y="369062"/>
                </a:lnTo>
                <a:lnTo>
                  <a:pt x="471830" y="369062"/>
                </a:lnTo>
                <a:lnTo>
                  <a:pt x="457669" y="360933"/>
                </a:lnTo>
                <a:close/>
              </a:path>
              <a:path w="775969" h="730250">
                <a:moveTo>
                  <a:pt x="407847" y="328929"/>
                </a:moveTo>
                <a:lnTo>
                  <a:pt x="399859" y="336930"/>
                </a:lnTo>
                <a:lnTo>
                  <a:pt x="327875" y="360933"/>
                </a:lnTo>
                <a:lnTo>
                  <a:pt x="335876" y="385063"/>
                </a:lnTo>
                <a:lnTo>
                  <a:pt x="407847" y="360933"/>
                </a:lnTo>
                <a:lnTo>
                  <a:pt x="457669" y="360933"/>
                </a:lnTo>
                <a:lnTo>
                  <a:pt x="415848" y="336930"/>
                </a:lnTo>
                <a:lnTo>
                  <a:pt x="407847" y="328929"/>
                </a:lnTo>
                <a:close/>
              </a:path>
              <a:path w="775969" h="730250">
                <a:moveTo>
                  <a:pt x="239915" y="184530"/>
                </a:moveTo>
                <a:lnTo>
                  <a:pt x="159943" y="184530"/>
                </a:lnTo>
                <a:lnTo>
                  <a:pt x="159943" y="192531"/>
                </a:lnTo>
                <a:lnTo>
                  <a:pt x="151942" y="216535"/>
                </a:lnTo>
                <a:lnTo>
                  <a:pt x="175933" y="344931"/>
                </a:lnTo>
                <a:lnTo>
                  <a:pt x="143941" y="377063"/>
                </a:lnTo>
                <a:lnTo>
                  <a:pt x="229007" y="377063"/>
                </a:lnTo>
                <a:lnTo>
                  <a:pt x="223913" y="264667"/>
                </a:lnTo>
                <a:lnTo>
                  <a:pt x="399859" y="256666"/>
                </a:lnTo>
                <a:lnTo>
                  <a:pt x="439839" y="192531"/>
                </a:lnTo>
                <a:lnTo>
                  <a:pt x="239915" y="184530"/>
                </a:lnTo>
                <a:close/>
              </a:path>
              <a:path w="775969" h="730250">
                <a:moveTo>
                  <a:pt x="527812" y="216535"/>
                </a:moveTo>
                <a:lnTo>
                  <a:pt x="519811" y="232663"/>
                </a:lnTo>
                <a:lnTo>
                  <a:pt x="471830" y="369062"/>
                </a:lnTo>
                <a:lnTo>
                  <a:pt x="496789" y="369062"/>
                </a:lnTo>
                <a:lnTo>
                  <a:pt x="535800" y="264667"/>
                </a:lnTo>
                <a:lnTo>
                  <a:pt x="574063" y="264667"/>
                </a:lnTo>
                <a:lnTo>
                  <a:pt x="535800" y="232663"/>
                </a:lnTo>
                <a:lnTo>
                  <a:pt x="527812" y="216535"/>
                </a:lnTo>
                <a:close/>
              </a:path>
              <a:path w="775969" h="730250">
                <a:moveTo>
                  <a:pt x="574063" y="264667"/>
                </a:moveTo>
                <a:lnTo>
                  <a:pt x="535800" y="264667"/>
                </a:lnTo>
                <a:lnTo>
                  <a:pt x="575792" y="304800"/>
                </a:lnTo>
                <a:lnTo>
                  <a:pt x="583780" y="320928"/>
                </a:lnTo>
                <a:lnTo>
                  <a:pt x="599782" y="304800"/>
                </a:lnTo>
                <a:lnTo>
                  <a:pt x="616805" y="272795"/>
                </a:lnTo>
                <a:lnTo>
                  <a:pt x="583780" y="272795"/>
                </a:lnTo>
                <a:lnTo>
                  <a:pt x="574063" y="264667"/>
                </a:lnTo>
                <a:close/>
              </a:path>
              <a:path w="775969" h="730250">
                <a:moveTo>
                  <a:pt x="647763" y="168401"/>
                </a:moveTo>
                <a:lnTo>
                  <a:pt x="583780" y="272795"/>
                </a:lnTo>
                <a:lnTo>
                  <a:pt x="616805" y="272795"/>
                </a:lnTo>
                <a:lnTo>
                  <a:pt x="663752" y="184530"/>
                </a:lnTo>
                <a:lnTo>
                  <a:pt x="647763" y="1684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238593"/>
          <p:cNvSpPr>
            <a:spLocks noGrp="1"/>
          </p:cNvSpPr>
          <p:nvPr>
            <p:ph type="title"/>
          </p:nvPr>
        </p:nvSpPr>
        <p:spPr>
          <a:xfrm>
            <a:off x="1557973" y="230188"/>
            <a:ext cx="7219950" cy="738505"/>
          </a:xfrm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zh-CN" altLang="en-US" sz="6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目  录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122" name="文本占位符 238594"/>
          <p:cNvSpPr>
            <a:spLocks noGrp="1"/>
          </p:cNvSpPr>
          <p:nvPr>
            <p:ph idx="1"/>
          </p:nvPr>
        </p:nvSpPr>
        <p:spPr>
          <a:xfrm>
            <a:off x="971550" y="1628775"/>
            <a:ext cx="7696200" cy="4679950"/>
          </a:xfrm>
        </p:spPr>
        <p:txBody>
          <a:bodyPr anchor="t"/>
          <a:lstStyle/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latin typeface="宋体" panose="02010600030101010101" pitchFamily="2" charset="-122"/>
              </a:rPr>
              <a:t>第一章   微机基础知识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 第二章   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单片机的结构和原理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rgbClr val="FF3300"/>
                </a:solidFill>
                <a:latin typeface="宋体" panose="02010600030101010101" pitchFamily="2" charset="-122"/>
              </a:rPr>
              <a:t>  第三章   </a:t>
            </a:r>
            <a:r>
              <a:rPr lang="en-US" altLang="zh-CN" sz="2600" b="1" dirty="0">
                <a:solidFill>
                  <a:srgbClr val="FF3300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rgbClr val="FF3300"/>
                </a:solidFill>
                <a:latin typeface="宋体" panose="02010600030101010101" pitchFamily="2" charset="-122"/>
              </a:rPr>
              <a:t>指令系统</a:t>
            </a:r>
            <a:endParaRPr lang="zh-CN" altLang="en-US" sz="2600" b="1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第四章   汇编语言程序设计知识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第五章   中断系统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第六章   定时器及应用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第七章   </a:t>
            </a:r>
            <a:r>
              <a:rPr lang="en-US" altLang="zh-CN" sz="2600" b="1" dirty="0"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latin typeface="宋体" panose="02010600030101010101" pitchFamily="2" charset="-122"/>
              </a:rPr>
              <a:t>串行口及通信技术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第八章   单片机小系统片外扩展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第九章   应用系统配置及接口技术</a:t>
            </a:r>
            <a:endParaRPr lang="zh-CN" altLang="en-US" sz="2600" b="1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  <p:transition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C4FD5-A9B6-40E6-9F9B-21F60CDEB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E6C856-A6B4-4A72-A9AB-D5D16A7BA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8905" y="1676400"/>
            <a:ext cx="3124200" cy="3877985"/>
          </a:xfrm>
        </p:spPr>
        <p:txBody>
          <a:bodyPr/>
          <a:lstStyle/>
          <a:p>
            <a:r>
              <a:rPr lang="zh-CN" altLang="en-US" sz="2800" dirty="0">
                <a:solidFill>
                  <a:srgbClr val="FF0000"/>
                </a:solidFill>
              </a:rPr>
              <a:t>指令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指令系统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程序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机器码程序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汇编语言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FBE823-4E84-4008-ADA9-DBC075008B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en-US" altLang="zh-CN" spc="-5" smtClean="0"/>
              <a:t>3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242089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框 52225"/>
          <p:cNvSpPr txBox="1"/>
          <p:nvPr/>
        </p:nvSpPr>
        <p:spPr>
          <a:xfrm>
            <a:off x="426085" y="368300"/>
            <a:ext cx="8717915" cy="44462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3.1 MCS-51</a:t>
            </a:r>
            <a:r>
              <a:rPr lang="zh-CN" altLang="en-US" sz="4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单片机指令格式</a:t>
            </a:r>
          </a:p>
          <a:p>
            <a:pPr>
              <a:spcBef>
                <a:spcPct val="50000"/>
              </a:spcBef>
            </a:pPr>
            <a:endParaRPr lang="zh-CN" altLang="en-US" sz="18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一条汇编语言指令中最多包含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个区段，如下所示：</a:t>
            </a:r>
          </a:p>
          <a:p>
            <a:pPr algn="just">
              <a:spcBef>
                <a:spcPct val="50000"/>
              </a:spcBef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标号：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操作码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目的操作数，源操作数  ；注释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标号与操作码之间“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:”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隔开；</a:t>
            </a:r>
          </a:p>
          <a:p>
            <a:pPr algn="just">
              <a:spcBef>
                <a:spcPct val="50000"/>
              </a:spcBef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操作码与操作数之间用“空格”隔开；</a:t>
            </a:r>
          </a:p>
          <a:p>
            <a:pPr algn="just">
              <a:spcBef>
                <a:spcPct val="50000"/>
              </a:spcBef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目的操作数和源源操作数之间有“，”分隔；</a:t>
            </a:r>
          </a:p>
          <a:p>
            <a:pPr algn="just">
              <a:spcBef>
                <a:spcPct val="50000"/>
              </a:spcBef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操作数与注释之间用“；”隔开。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717915" y="6553200"/>
            <a:ext cx="426085" cy="3048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4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54273"/>
          <p:cNvSpPr>
            <a:spLocks noGrp="1"/>
          </p:cNvSpPr>
          <p:nvPr>
            <p:ph type="title"/>
          </p:nvPr>
        </p:nvSpPr>
        <p:spPr>
          <a:xfrm>
            <a:off x="1498600" y="157798"/>
            <a:ext cx="5071110" cy="615315"/>
          </a:xfrm>
        </p:spPr>
        <p:txBody>
          <a:bodyPr wrap="square" anchor="ctr"/>
          <a:lstStyle/>
          <a:p>
            <a:pPr algn="l"/>
            <a:r>
              <a:rPr lang="en-US" altLang="zh-CN" sz="4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3.2  </a:t>
            </a:r>
            <a:r>
              <a:rPr lang="zh-CN" altLang="en-US" sz="4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寻址方式</a:t>
            </a:r>
            <a:r>
              <a:rPr lang="zh-CN" altLang="en-US" sz="36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54275" name="文本占位符 54274"/>
          <p:cNvSpPr>
            <a:spLocks noGrp="1"/>
          </p:cNvSpPr>
          <p:nvPr>
            <p:ph type="body" idx="1"/>
          </p:nvPr>
        </p:nvSpPr>
        <p:spPr>
          <a:xfrm>
            <a:off x="628650" y="1206500"/>
            <a:ext cx="7772400" cy="4127500"/>
          </a:xfrm>
        </p:spPr>
        <p:txBody>
          <a:bodyPr/>
          <a:lstStyle/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所谓寻址方式，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通常是指某一个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指令系统中规定的寻找操作数所在地址的方式，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或者说通过什么的方式找到操作数。寻址方式的方便与快捷是衡量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性能的一个重要方面，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MCS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51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单片机有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七种寻找方式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寄存器寻址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直接寻址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立即数寻址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寄存器间接寻址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变址寻址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相对寻址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位寻址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标题 55298"/>
          <p:cNvSpPr>
            <a:spLocks noGrp="1"/>
          </p:cNvSpPr>
          <p:nvPr>
            <p:ph type="title"/>
          </p:nvPr>
        </p:nvSpPr>
        <p:spPr>
          <a:xfrm>
            <a:off x="1473200" y="338455"/>
            <a:ext cx="6604000" cy="492125"/>
          </a:xfrm>
        </p:spPr>
        <p:txBody>
          <a:bodyPr wrap="square" anchor="ctr"/>
          <a:lstStyle/>
          <a:p>
            <a:pPr algn="l"/>
            <a:r>
              <a:rPr lang="en-US" altLang="zh-CN" sz="3200" dirty="0">
                <a:solidFill>
                  <a:srgbClr val="CCCC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0000FF"/>
                </a:solidFill>
                <a:latin typeface="宋体" panose="02010600030101010101" pitchFamily="2" charset="-122"/>
              </a:rPr>
              <a:t>1  </a:t>
            </a:r>
            <a:r>
              <a:rPr lang="zh-CN" altLang="en-US" sz="3200" dirty="0">
                <a:solidFill>
                  <a:srgbClr val="0000FF"/>
                </a:solidFill>
                <a:latin typeface="宋体" panose="02010600030101010101" pitchFamily="2" charset="-122"/>
              </a:rPr>
              <a:t>立即数寻址</a:t>
            </a:r>
            <a:r>
              <a:rPr lang="zh-CN" altLang="en-US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55300" name="文本占位符 55299"/>
          <p:cNvSpPr>
            <a:spLocks noGrp="1"/>
          </p:cNvSpPr>
          <p:nvPr>
            <p:ph type="body" idx="1"/>
          </p:nvPr>
        </p:nvSpPr>
        <p:spPr>
          <a:xfrm>
            <a:off x="546100" y="1206500"/>
            <a:ext cx="7772400" cy="2493010"/>
          </a:xfrm>
        </p:spPr>
        <p:txBody>
          <a:bodyPr/>
          <a:lstStyle/>
          <a:p>
            <a:pPr algn="just"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立即寻址方式是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操作数包括在指令字节中，用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#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表示，以区分直接寻址，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指令操作码后面字节的内容就是操作数本身，其数值由程序员在编制程序时指定，以指令字节的形式存放在程序存储器中。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立即数只能作为源操作数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，不能当作目的操作数。</a:t>
            </a:r>
          </a:p>
          <a:p>
            <a:pPr algn="just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	 例如： 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MOV  A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#52H      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52H </a:t>
            </a:r>
          </a:p>
          <a:p>
            <a:pPr algn="just"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	         MOV  DPTR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#5678H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DPTR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5678H</a:t>
            </a:r>
          </a:p>
          <a:p>
            <a:pPr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56323" name="图片 56322"/>
          <p:cNvPicPr>
            <a:picLocks noChangeAspect="1"/>
          </p:cNvPicPr>
          <p:nvPr/>
        </p:nvPicPr>
        <p:blipFill>
          <a:blip r:embed="rId2">
            <a:biLevel thresh="50000"/>
            <a:grayscl/>
            <a:lum bright="-59998" contrast="52000"/>
          </a:blip>
          <a:srcRect l="11372" t="45058" r="5235" b="17393"/>
          <a:stretch>
            <a:fillRect/>
          </a:stretch>
        </p:blipFill>
        <p:spPr>
          <a:xfrm>
            <a:off x="1120457" y="3914775"/>
            <a:ext cx="6623685" cy="27762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57345"/>
          <p:cNvSpPr>
            <a:spLocks noGrp="1"/>
          </p:cNvSpPr>
          <p:nvPr>
            <p:ph type="title"/>
          </p:nvPr>
        </p:nvSpPr>
        <p:spPr>
          <a:xfrm>
            <a:off x="609600" y="401638"/>
            <a:ext cx="7848600" cy="492125"/>
          </a:xfrm>
        </p:spPr>
        <p:txBody>
          <a:bodyPr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     2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直接寻址</a:t>
            </a:r>
          </a:p>
        </p:txBody>
      </p:sp>
      <p:sp>
        <p:nvSpPr>
          <p:cNvPr id="57347" name="文本占位符 57346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382000" cy="3064510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</a:t>
            </a:r>
            <a:r>
              <a:rPr lang="zh-CN" altLang="en-US" sz="2400" dirty="0">
                <a:solidFill>
                  <a:schemeClr val="tx1"/>
                </a:solidFill>
              </a:rPr>
              <a:t>在指令中含有操作数的</a:t>
            </a:r>
            <a:r>
              <a:rPr lang="zh-CN" altLang="en-US" sz="2400" dirty="0">
                <a:solidFill>
                  <a:srgbClr val="FF0000"/>
                </a:solidFill>
              </a:rPr>
              <a:t>片内</a:t>
            </a:r>
            <a:r>
              <a:rPr lang="en-US" altLang="zh-CN" sz="2400" dirty="0">
                <a:solidFill>
                  <a:srgbClr val="FF0000"/>
                </a:solidFill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</a:rPr>
              <a:t>直接地址，该地址指出了</a:t>
            </a:r>
            <a:r>
              <a:rPr lang="zh-CN" altLang="en-US" sz="2400" dirty="0">
                <a:solidFill>
                  <a:srgbClr val="FF0000"/>
                </a:solidFill>
              </a:rPr>
              <a:t>参与操作的数据所在的字节地址或位地址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</a:p>
          <a:p>
            <a:pPr algn="just" eaLnBrk="1" fontAlgn="auto" latinLnBrk="0" hangingPunct="1">
              <a:lnSpc>
                <a:spcPct val="130000"/>
              </a:lnSpc>
              <a:buNone/>
            </a:pPr>
            <a:r>
              <a:rPr lang="en-US" altLang="zh-CN" sz="2000" dirty="0"/>
              <a:t>    MOV  A</a:t>
            </a:r>
            <a:r>
              <a:rPr lang="zh-CN" altLang="en-US" sz="2000" dirty="0"/>
              <a:t>，</a:t>
            </a:r>
            <a:r>
              <a:rPr lang="en-US" altLang="zh-CN" sz="2000" dirty="0"/>
              <a:t>52H     </a:t>
            </a:r>
            <a:r>
              <a:rPr lang="zh-CN" altLang="en-US" sz="2000" dirty="0"/>
              <a:t>；把片内</a:t>
            </a:r>
            <a:r>
              <a:rPr lang="en-US" altLang="zh-CN" sz="2000" dirty="0"/>
              <a:t>RAM</a:t>
            </a:r>
            <a:r>
              <a:rPr lang="zh-CN" altLang="en-US" sz="2000" dirty="0"/>
              <a:t>字节地址</a:t>
            </a:r>
            <a:r>
              <a:rPr lang="en-US" altLang="zh-CN" sz="2000" dirty="0"/>
              <a:t>52H</a:t>
            </a:r>
            <a:r>
              <a:rPr lang="zh-CN" altLang="en-US" sz="2000" dirty="0"/>
              <a:t>单元的内容送累加器</a:t>
            </a:r>
            <a:r>
              <a:rPr lang="en-US" altLang="zh-CN" sz="2000" dirty="0"/>
              <a:t>A</a:t>
            </a:r>
            <a:r>
              <a:rPr lang="zh-CN" altLang="en-US" sz="2000" dirty="0"/>
              <a:t>中。</a:t>
            </a:r>
          </a:p>
          <a:p>
            <a:pPr eaLnBrk="1" fontAlgn="auto" latinLnBrk="0" hangingPunct="1">
              <a:lnSpc>
                <a:spcPct val="130000"/>
              </a:lnSpc>
              <a:buNone/>
            </a:pPr>
            <a:r>
              <a:rPr lang="en-US" altLang="zh-CN" sz="2000" dirty="0"/>
              <a:t>    MOV  52H</a:t>
            </a:r>
            <a:r>
              <a:rPr lang="zh-CN" altLang="en-US" sz="2000" dirty="0"/>
              <a:t>，</a:t>
            </a:r>
            <a:r>
              <a:rPr lang="en-US" altLang="zh-CN" sz="2000" dirty="0"/>
              <a:t>A     </a:t>
            </a:r>
            <a:r>
              <a:rPr lang="zh-CN" altLang="en-US" sz="2000" dirty="0"/>
              <a:t>；把</a:t>
            </a:r>
            <a:r>
              <a:rPr lang="en-US" altLang="zh-CN" sz="2000" dirty="0"/>
              <a:t>A</a:t>
            </a:r>
            <a:r>
              <a:rPr lang="zh-CN" altLang="en-US" sz="2000" dirty="0"/>
              <a:t>的内容传送给片内</a:t>
            </a:r>
            <a:r>
              <a:rPr lang="en-US" altLang="zh-CN" sz="2000" dirty="0"/>
              <a:t>RAM</a:t>
            </a:r>
            <a:r>
              <a:rPr lang="zh-CN" altLang="en-US" sz="2000" dirty="0"/>
              <a:t>的</a:t>
            </a:r>
            <a:r>
              <a:rPr lang="en-US" altLang="zh-CN" sz="2000" dirty="0"/>
              <a:t>52H</a:t>
            </a:r>
            <a:r>
              <a:rPr lang="zh-CN" altLang="en-US" sz="2000" dirty="0"/>
              <a:t>单元中。</a:t>
            </a:r>
          </a:p>
          <a:p>
            <a:pPr eaLnBrk="1" fontAlgn="auto" latinLnBrk="0" hangingPunct="1">
              <a:lnSpc>
                <a:spcPct val="130000"/>
              </a:lnSpc>
              <a:buNone/>
            </a:pPr>
            <a:r>
              <a:rPr lang="en-US" altLang="zh-CN" sz="2000" dirty="0"/>
              <a:t>    MOV  50H</a:t>
            </a:r>
            <a:r>
              <a:rPr lang="zh-CN" altLang="en-US" sz="2000" dirty="0"/>
              <a:t>，</a:t>
            </a:r>
            <a:r>
              <a:rPr lang="en-US" altLang="zh-CN" sz="2000" dirty="0"/>
              <a:t>60H  </a:t>
            </a:r>
            <a:r>
              <a:rPr lang="zh-CN" altLang="en-US" sz="2000" dirty="0"/>
              <a:t>；把片内</a:t>
            </a:r>
            <a:r>
              <a:rPr lang="en-US" altLang="zh-CN" sz="2000" dirty="0"/>
              <a:t>RAM</a:t>
            </a:r>
            <a:r>
              <a:rPr lang="zh-CN" altLang="en-US" sz="2000" dirty="0"/>
              <a:t>字节地址</a:t>
            </a:r>
            <a:r>
              <a:rPr lang="en-US" altLang="zh-CN" sz="2000" dirty="0"/>
              <a:t>60H</a:t>
            </a:r>
            <a:r>
              <a:rPr lang="zh-CN" altLang="en-US" sz="2000" dirty="0"/>
              <a:t>单元的内容送到</a:t>
            </a:r>
            <a:r>
              <a:rPr lang="en-US" altLang="zh-CN" sz="2000" dirty="0"/>
              <a:t>50H</a:t>
            </a:r>
            <a:r>
              <a:rPr lang="zh-CN" altLang="en-US" sz="2000" dirty="0"/>
              <a:t>单元中。   </a:t>
            </a:r>
          </a:p>
          <a:p>
            <a:pPr eaLnBrk="1" fontAlgn="auto" latinLnBrk="0" hangingPunct="1">
              <a:lnSpc>
                <a:spcPct val="130000"/>
              </a:lnSpc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MOV  IE</a:t>
            </a:r>
            <a:r>
              <a:rPr lang="zh-CN" altLang="en-US" sz="2000" dirty="0"/>
              <a:t>，</a:t>
            </a:r>
            <a:r>
              <a:rPr lang="en-US" altLang="zh-CN" sz="2000" dirty="0"/>
              <a:t>#40H   </a:t>
            </a:r>
            <a:r>
              <a:rPr lang="zh-CN" altLang="en-US" sz="2000" dirty="0"/>
              <a:t>；把立即数</a:t>
            </a:r>
            <a:r>
              <a:rPr lang="en-US" altLang="zh-CN" sz="2000" dirty="0"/>
              <a:t>40H</a:t>
            </a:r>
            <a:r>
              <a:rPr lang="zh-CN" altLang="en-US" sz="2000" dirty="0"/>
              <a:t>送到中断允许寄存器</a:t>
            </a:r>
            <a:r>
              <a:rPr lang="en-US" altLang="zh-CN" sz="2000" dirty="0"/>
              <a:t>IE</a:t>
            </a:r>
            <a:r>
              <a:rPr lang="zh-CN" altLang="en-US" sz="2000" dirty="0"/>
              <a:t>。</a:t>
            </a:r>
            <a:r>
              <a:rPr lang="en-US" altLang="zh-CN" sz="2000" dirty="0"/>
              <a:t>IE</a:t>
            </a:r>
            <a:r>
              <a:rPr lang="zh-CN" altLang="en-US" sz="2000" dirty="0"/>
              <a:t>为专用功能寄存器，其字节地址为</a:t>
            </a:r>
            <a:r>
              <a:rPr lang="en-US" altLang="zh-CN" sz="2000" dirty="0"/>
              <a:t>0A8H</a:t>
            </a:r>
            <a:r>
              <a:rPr lang="zh-CN" altLang="en-US" sz="2000" dirty="0"/>
              <a:t>。该指令等价于</a:t>
            </a:r>
            <a:r>
              <a:rPr lang="en-US" altLang="zh-CN" sz="2000" dirty="0"/>
              <a:t>MOV   0A8H</a:t>
            </a:r>
            <a:r>
              <a:rPr lang="zh-CN" altLang="en-US" sz="2000" dirty="0"/>
              <a:t>，</a:t>
            </a:r>
            <a:r>
              <a:rPr lang="en-US" altLang="zh-CN" sz="2000" dirty="0"/>
              <a:t>#40H</a:t>
            </a:r>
            <a:r>
              <a:rPr lang="zh-CN" altLang="en-US" sz="2000" dirty="0"/>
              <a:t>。</a:t>
            </a:r>
          </a:p>
          <a:p>
            <a:pPr eaLnBrk="1" fontAlgn="auto" latinLnBrk="0" hangingPunct="1">
              <a:lnSpc>
                <a:spcPct val="130000"/>
              </a:lnSpc>
              <a:buNone/>
            </a:pPr>
            <a:r>
              <a:rPr lang="en-US" altLang="zh-CN" sz="2000" dirty="0"/>
              <a:t>    INC   60H               </a:t>
            </a:r>
            <a:r>
              <a:rPr lang="zh-CN" altLang="en-US" sz="2000" dirty="0"/>
              <a:t>；将地址</a:t>
            </a:r>
            <a:r>
              <a:rPr lang="en-US" altLang="zh-CN" sz="2000" dirty="0"/>
              <a:t>60H</a:t>
            </a:r>
            <a:r>
              <a:rPr lang="zh-CN" altLang="en-US" sz="2000" dirty="0"/>
              <a:t>单元中的内容自加</a:t>
            </a:r>
            <a:r>
              <a:rPr lang="en-US" altLang="zh-CN" sz="2000" dirty="0"/>
              <a:t>1</a:t>
            </a:r>
            <a:r>
              <a:rPr lang="zh-CN" altLang="en-US" sz="2000" dirty="0"/>
              <a:t>。</a:t>
            </a:r>
          </a:p>
        </p:txBody>
      </p:sp>
      <p:pic>
        <p:nvPicPr>
          <p:cNvPr id="58371" name="文本占位符 58370"/>
          <p:cNvPicPr>
            <a:picLocks noChangeAspect="1"/>
          </p:cNvPicPr>
          <p:nvPr/>
        </p:nvPicPr>
        <p:blipFill>
          <a:blip r:embed="rId2">
            <a:biLevel thresh="50000"/>
            <a:grayscl/>
            <a:lum bright="-59998" contrast="88000"/>
          </a:blip>
          <a:srcRect l="26535" t="42555" r="14079" b="19896"/>
          <a:stretch>
            <a:fillRect/>
          </a:stretch>
        </p:blipFill>
        <p:spPr>
          <a:xfrm>
            <a:off x="2204085" y="4137025"/>
            <a:ext cx="5034915" cy="249428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59393"/>
          <p:cNvSpPr>
            <a:spLocks noGrp="1"/>
          </p:cNvSpPr>
          <p:nvPr>
            <p:ph type="title"/>
          </p:nvPr>
        </p:nvSpPr>
        <p:spPr>
          <a:xfrm>
            <a:off x="996950" y="458788"/>
            <a:ext cx="7772400" cy="492125"/>
          </a:xfrm>
        </p:spPr>
        <p:txBody>
          <a:bodyPr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  3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寄存器寻址</a:t>
            </a:r>
          </a:p>
        </p:txBody>
      </p:sp>
      <p:sp>
        <p:nvSpPr>
          <p:cNvPr id="59395" name="文本占位符 59394"/>
          <p:cNvSpPr>
            <a:spLocks noGrp="1"/>
          </p:cNvSpPr>
          <p:nvPr>
            <p:ph type="body" idx="1"/>
          </p:nvPr>
        </p:nvSpPr>
        <p:spPr>
          <a:xfrm>
            <a:off x="450850" y="1060450"/>
            <a:ext cx="7772400" cy="4126865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endParaRPr lang="en-US" altLang="zh-CN" dirty="0">
              <a:solidFill>
                <a:srgbClr val="66FF33"/>
              </a:solidFill>
              <a:ea typeface="黑体" panose="02010609060101010101" pitchFamily="2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由指令指出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某一个寄存器中的内容作为操作数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，这种寻址方式称为寄存器寻址。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寄存器一般指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DPTR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和工作寄存器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R0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~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R7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。例如：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MOV  A</a:t>
            </a:r>
            <a:r>
              <a:rPr lang="zh-CN" altLang="en-US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Rn 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 其中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~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之一，	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是工作寄存器。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MOV  Rn</a:t>
            </a:r>
            <a:r>
              <a:rPr lang="zh-CN" altLang="en-US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     </a:t>
            </a:r>
            <a:r>
              <a:rPr lang="zh-CN" altLang="en-US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MOV   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 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60417"/>
          <p:cNvSpPr>
            <a:spLocks noGrp="1"/>
          </p:cNvSpPr>
          <p:nvPr>
            <p:ph type="title"/>
          </p:nvPr>
        </p:nvSpPr>
        <p:spPr>
          <a:xfrm>
            <a:off x="723900" y="331788"/>
            <a:ext cx="7772400" cy="492125"/>
          </a:xfrm>
        </p:spPr>
        <p:txBody>
          <a:bodyPr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    4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寄存器间接寻址方式</a:t>
            </a:r>
          </a:p>
        </p:txBody>
      </p:sp>
      <p:sp>
        <p:nvSpPr>
          <p:cNvPr id="60419" name="文本占位符 60418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001000" cy="4650105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由指令指出某一个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寄存器的内容作为地址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来寻找操作数，这种寻址方式称为寄存器间接寻址。寄存器间接寻址只能使用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寄存器</a:t>
            </a:r>
            <a:r>
              <a:rPr lang="en-US" altLang="zh-CN" sz="2400" dirty="0" err="1">
                <a:solidFill>
                  <a:srgbClr val="0000FF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 dirty="0" err="1">
                <a:solidFill>
                  <a:srgbClr val="0000FF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400" dirty="0" err="1">
                <a:solidFill>
                  <a:srgbClr val="0000FF"/>
                </a:solidFill>
                <a:latin typeface="宋体" panose="02010600030101010101" pitchFamily="2" charset="-122"/>
              </a:rPr>
              <a:t>Rl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作为地址指针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来寻址内部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RAM(00H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FFH)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中的数据。寄存器间接寻址也适用于访问外部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，可使用</a:t>
            </a:r>
            <a:r>
              <a:rPr lang="en-US" altLang="zh-CN" sz="2400" dirty="0" err="1">
                <a:solidFill>
                  <a:srgbClr val="0000FF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 dirty="0" err="1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 err="1">
                <a:solidFill>
                  <a:srgbClr val="0000FF"/>
                </a:solidFill>
                <a:latin typeface="宋体" panose="02010600030101010101" pitchFamily="2" charset="-122"/>
              </a:rPr>
              <a:t>Rl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DPTR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作为地址指针，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寻址外部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。寄存器间接寻址用符号“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@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”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表示。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66FF33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例如：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  </a:t>
            </a:r>
            <a:r>
              <a:rPr lang="en-US" altLang="zh-CN" sz="2400" dirty="0">
                <a:latin typeface="宋体" panose="02010600030101010101" pitchFamily="2" charset="-122"/>
              </a:rPr>
              <a:t>MOV  R0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#60H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</a:rPr>
              <a:t>R0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latin typeface="宋体" panose="02010600030101010101" pitchFamily="2" charset="-122"/>
              </a:rPr>
              <a:t>60H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  MOV  A</a:t>
            </a:r>
            <a:r>
              <a:rPr lang="zh-CN" altLang="en-US" sz="2400" dirty="0">
                <a:latin typeface="宋体" panose="02010600030101010101" pitchFamily="2" charset="-122"/>
              </a:rPr>
              <a:t>， </a:t>
            </a:r>
            <a:r>
              <a:rPr lang="en-US" altLang="zh-CN" sz="2400" dirty="0">
                <a:latin typeface="宋体" panose="02010600030101010101" pitchFamily="2" charset="-122"/>
              </a:rPr>
              <a:t>@R0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</a:rPr>
              <a:t>A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latin typeface="宋体" panose="02010600030101010101" pitchFamily="2" charset="-122"/>
              </a:rPr>
              <a:t> ((R0))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  MOV  A 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@R1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</a:rPr>
              <a:t>A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latin typeface="宋体" panose="02010600030101010101" pitchFamily="2" charset="-122"/>
              </a:rPr>
              <a:t> ((R1)) 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例如：</a:t>
            </a:r>
            <a:r>
              <a:rPr lang="en-US" altLang="zh-CN" sz="2400" dirty="0">
                <a:latin typeface="宋体" panose="02010600030101010101" pitchFamily="2" charset="-122"/>
              </a:rPr>
              <a:t>MOV  DPTR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#3456H 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</a:rPr>
              <a:t>DPTR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latin typeface="宋体" panose="02010600030101010101" pitchFamily="2" charset="-122"/>
              </a:rPr>
              <a:t>3456H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  MOVX  A</a:t>
            </a:r>
            <a:r>
              <a:rPr lang="zh-CN" altLang="en-US" sz="2400" dirty="0">
                <a:latin typeface="宋体" panose="02010600030101010101" pitchFamily="2" charset="-122"/>
              </a:rPr>
              <a:t>，＠</a:t>
            </a:r>
            <a:r>
              <a:rPr lang="en-US" altLang="zh-CN" sz="2400" dirty="0">
                <a:latin typeface="宋体" panose="02010600030101010101" pitchFamily="2" charset="-122"/>
              </a:rPr>
              <a:t>DPTR 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</a:rPr>
              <a:t>A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latin typeface="宋体" panose="02010600030101010101" pitchFamily="2" charset="-122"/>
              </a:rPr>
              <a:t>（（</a:t>
            </a:r>
            <a:r>
              <a:rPr lang="en-US" altLang="zh-CN" sz="2400" dirty="0">
                <a:latin typeface="宋体" panose="02010600030101010101" pitchFamily="2" charset="-122"/>
              </a:rPr>
              <a:t>DPTR</a:t>
            </a:r>
            <a:r>
              <a:rPr lang="zh-CN" altLang="en-US" sz="2400" dirty="0">
                <a:latin typeface="宋体" panose="02010600030101010101" pitchFamily="2" charset="-122"/>
              </a:rPr>
              <a:t>））是把</a:t>
            </a:r>
            <a:r>
              <a:rPr lang="en-US" altLang="zh-CN" sz="2400" dirty="0">
                <a:latin typeface="宋体" panose="02010600030101010101" pitchFamily="2" charset="-122"/>
              </a:rPr>
              <a:t>DPTR</a:t>
            </a:r>
            <a:r>
              <a:rPr lang="zh-CN" altLang="en-US" sz="2400" dirty="0">
                <a:latin typeface="宋体" panose="02010600030101010101" pitchFamily="2" charset="-122"/>
              </a:rPr>
              <a:t>寄存器所指的那个外部数据存储器（</a:t>
            </a:r>
            <a:r>
              <a:rPr lang="en-US" altLang="zh-CN" sz="2400" dirty="0"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latin typeface="宋体" panose="02010600030101010101" pitchFamily="2" charset="-122"/>
              </a:rPr>
              <a:t>）的内容传送给</a:t>
            </a:r>
            <a:r>
              <a:rPr lang="en-US" altLang="zh-CN" sz="2400" dirty="0"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</a:rPr>
              <a:t>，假设（</a:t>
            </a:r>
            <a:r>
              <a:rPr lang="en-US" altLang="zh-CN" sz="2400" dirty="0">
                <a:latin typeface="宋体" panose="02010600030101010101" pitchFamily="2" charset="-122"/>
              </a:rPr>
              <a:t>3456H</a:t>
            </a:r>
            <a:r>
              <a:rPr lang="zh-CN" altLang="en-US" sz="2400" dirty="0"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latin typeface="宋体" panose="02010600030101010101" pitchFamily="2" charset="-122"/>
              </a:rPr>
              <a:t>=99H</a:t>
            </a:r>
            <a:r>
              <a:rPr lang="zh-CN" altLang="en-US" sz="2400" dirty="0">
                <a:latin typeface="宋体" panose="02010600030101010101" pitchFamily="2" charset="-122"/>
              </a:rPr>
              <a:t>，指令运行后（</a:t>
            </a:r>
            <a:r>
              <a:rPr lang="en-US" altLang="zh-CN" sz="2400" dirty="0"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latin typeface="宋体" panose="02010600030101010101" pitchFamily="2" charset="-122"/>
              </a:rPr>
              <a:t>=99H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6" name="矩形 61445"/>
          <p:cNvSpPr/>
          <p:nvPr/>
        </p:nvSpPr>
        <p:spPr>
          <a:xfrm>
            <a:off x="1600200" y="1066800"/>
            <a:ext cx="6019800" cy="434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443" name="对象 61442"/>
          <p:cNvGraphicFramePr/>
          <p:nvPr/>
        </p:nvGraphicFramePr>
        <p:xfrm>
          <a:off x="1905000" y="1295400"/>
          <a:ext cx="5486400" cy="395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3667760" imgH="2674620" progId="Word.Picture.8">
                  <p:embed/>
                </p:oleObj>
              </mc:Choice>
              <mc:Fallback>
                <p:oleObj r:id="rId3" imgW="3667760" imgH="2674620" progId="Word.Picture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  <a:lum bright="-29999" contrast="18000"/>
                      </a:blip>
                      <a:srcRect l="7581" t="30038" r="39351" b="12820"/>
                      <a:stretch>
                        <a:fillRect/>
                      </a:stretch>
                    </p:blipFill>
                    <p:spPr>
                      <a:xfrm>
                        <a:off x="1905000" y="1295400"/>
                        <a:ext cx="5486400" cy="3951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矩形 61443"/>
          <p:cNvSpPr/>
          <p:nvPr/>
        </p:nvSpPr>
        <p:spPr>
          <a:xfrm>
            <a:off x="2590800" y="5791200"/>
            <a:ext cx="4114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3.3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寄存器间接寻址方式示意图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62465"/>
          <p:cNvSpPr>
            <a:spLocks noGrp="1"/>
          </p:cNvSpPr>
          <p:nvPr>
            <p:ph type="title"/>
          </p:nvPr>
        </p:nvSpPr>
        <p:spPr>
          <a:xfrm>
            <a:off x="1028700" y="465138"/>
            <a:ext cx="7620000" cy="492125"/>
          </a:xfrm>
        </p:spPr>
        <p:txBody>
          <a:bodyPr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  5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位寻址</a:t>
            </a:r>
          </a:p>
        </p:txBody>
      </p:sp>
      <p:sp>
        <p:nvSpPr>
          <p:cNvPr id="62467" name="文本占位符 62466"/>
          <p:cNvSpPr>
            <a:spLocks noGrp="1"/>
          </p:cNvSpPr>
          <p:nvPr>
            <p:ph type="body" idx="1"/>
          </p:nvPr>
        </p:nvSpPr>
        <p:spPr>
          <a:xfrm>
            <a:off x="457200" y="1276350"/>
            <a:ext cx="7772400" cy="369316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MCS-51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单片机中设有独立的位处理器。位操作指令能对内部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中的位寻址区（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2FH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）和某些有位地址的特殊功能寄存器进行位操作。</a:t>
            </a:r>
          </a:p>
          <a:p>
            <a:pPr>
              <a:buNone/>
            </a:pPr>
            <a:endParaRPr lang="zh-CN" altLang="en-US" sz="2400" dirty="0">
              <a:solidFill>
                <a:srgbClr val="66FF33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66FF33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</a:rPr>
              <a:t>SETB  TR0      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</a:rPr>
              <a:t>TR0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</a:p>
          <a:p>
            <a:pPr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	CLR   00H        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latin typeface="宋体" panose="02010600030101010101" pitchFamily="2" charset="-122"/>
              </a:rPr>
              <a:t>(00H)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latin typeface="宋体" panose="02010600030101010101" pitchFamily="2" charset="-122"/>
              </a:rPr>
              <a:t>0</a:t>
            </a:r>
          </a:p>
          <a:p>
            <a:pPr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	MOV  C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57H      </a:t>
            </a:r>
            <a:r>
              <a:rPr lang="zh-CN" altLang="en-US" sz="2400" dirty="0">
                <a:latin typeface="宋体" panose="02010600030101010101" pitchFamily="2" charset="-122"/>
              </a:rPr>
              <a:t>；将</a:t>
            </a:r>
            <a:r>
              <a:rPr lang="en-US" altLang="zh-CN" sz="2400" dirty="0">
                <a:latin typeface="宋体" panose="02010600030101010101" pitchFamily="2" charset="-122"/>
              </a:rPr>
              <a:t>57H</a:t>
            </a:r>
            <a:r>
              <a:rPr lang="zh-CN" altLang="en-US" sz="2400" dirty="0">
                <a:latin typeface="宋体" panose="02010600030101010101" pitchFamily="2" charset="-122"/>
              </a:rPr>
              <a:t>位地址的内容传送到				 位累加器</a:t>
            </a:r>
            <a:r>
              <a:rPr lang="en-US" altLang="zh-CN" sz="2400" dirty="0">
                <a:latin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</a:rPr>
              <a:t>中</a:t>
            </a:r>
          </a:p>
          <a:p>
            <a:pPr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</a:t>
            </a:r>
            <a:r>
              <a:rPr lang="en-US" altLang="zh-CN" sz="2400" dirty="0">
                <a:latin typeface="宋体" panose="02010600030101010101" pitchFamily="2" charset="-122"/>
              </a:rPr>
              <a:t>ANL   C</a:t>
            </a:r>
            <a:r>
              <a:rPr lang="zh-CN" altLang="en-US" sz="2400" dirty="0"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latin typeface="宋体" panose="02010600030101010101" pitchFamily="2" charset="-122"/>
              </a:rPr>
              <a:t>5FH     </a:t>
            </a:r>
            <a:r>
              <a:rPr lang="zh-CN" altLang="en-US" sz="2400" dirty="0">
                <a:latin typeface="宋体" panose="02010600030101010101" pitchFamily="2" charset="-122"/>
              </a:rPr>
              <a:t>；将</a:t>
            </a:r>
            <a:r>
              <a:rPr lang="en-US" altLang="zh-CN" sz="2400" dirty="0">
                <a:latin typeface="宋体" panose="02010600030101010101" pitchFamily="2" charset="-122"/>
              </a:rPr>
              <a:t>5FH</a:t>
            </a:r>
            <a:r>
              <a:rPr lang="zh-CN" altLang="en-US" sz="2400" dirty="0">
                <a:latin typeface="宋体" panose="02010600030101010101" pitchFamily="2" charset="-122"/>
              </a:rPr>
              <a:t>位状态与进位位</a:t>
            </a:r>
            <a:r>
              <a:rPr lang="en-US" altLang="zh-CN" sz="2400" dirty="0">
                <a:latin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</a:rPr>
              <a:t>相与，				 结果在</a:t>
            </a:r>
            <a:r>
              <a:rPr lang="en-US" altLang="zh-CN" sz="2400" dirty="0">
                <a:latin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</a:rPr>
              <a:t>中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63489"/>
          <p:cNvSpPr>
            <a:spLocks noGrp="1"/>
          </p:cNvSpPr>
          <p:nvPr>
            <p:ph type="title"/>
          </p:nvPr>
        </p:nvSpPr>
        <p:spPr>
          <a:xfrm>
            <a:off x="1333500" y="349051"/>
            <a:ext cx="6972300" cy="369332"/>
          </a:xfrm>
        </p:spPr>
        <p:txBody>
          <a:bodyPr wrap="square" anchor="ctr"/>
          <a:lstStyle/>
          <a:p>
            <a:pPr algn="l"/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6 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变址寻址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（基址寄存器加变址寄存器间接寻址）</a:t>
            </a:r>
          </a:p>
        </p:txBody>
      </p:sp>
      <p:sp>
        <p:nvSpPr>
          <p:cNvPr id="63491" name="文本占位符 63490"/>
          <p:cNvSpPr>
            <a:spLocks noGrp="1"/>
          </p:cNvSpPr>
          <p:nvPr>
            <p:ph type="body" idx="1"/>
          </p:nvPr>
        </p:nvSpPr>
        <p:spPr>
          <a:xfrm>
            <a:off x="457200" y="1165860"/>
            <a:ext cx="8229600" cy="2954655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rgbClr val="66FF33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这种寻址方式用于访问程序存储器中的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数据表格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，它以基址寄存器（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DPTR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）的内容为基本地址，加上变址寄存器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的内容形成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位的地址，访问程序存储器中的数据表格。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例如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:</a:t>
            </a: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MOVC 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，＠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 + DPTR</a:t>
            </a:r>
          </a:p>
          <a:p>
            <a:pPr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             MOVC 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，＠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 + PC </a:t>
            </a: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JMP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＠Ａ＋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DPTR</a:t>
            </a:r>
          </a:p>
          <a:p>
            <a:pPr>
              <a:buNone/>
            </a:pPr>
            <a:r>
              <a:rPr lang="en-US" altLang="zh-CN" sz="2400">
                <a:latin typeface="宋体" panose="02010600030101010101" pitchFamily="2" charset="-122"/>
              </a:rPr>
              <a:t>		 </a:t>
            </a:r>
            <a:r>
              <a:rPr lang="en-US" altLang="zh-CN" sz="2000">
                <a:latin typeface="宋体" panose="02010600030101010101" pitchFamily="2" charset="-122"/>
              </a:rPr>
              <a:t>MOVC  A</a:t>
            </a:r>
            <a:r>
              <a:rPr lang="zh-CN" altLang="en-US" sz="2000">
                <a:latin typeface="宋体" panose="02010600030101010101" pitchFamily="2" charset="-122"/>
              </a:rPr>
              <a:t>，</a:t>
            </a:r>
            <a:r>
              <a:rPr lang="en-US" altLang="zh-CN" sz="2000">
                <a:latin typeface="宋体" panose="02010600030101010101" pitchFamily="2" charset="-122"/>
              </a:rPr>
              <a:t>@A+DPTR </a:t>
            </a:r>
          </a:p>
        </p:txBody>
      </p:sp>
      <p:pic>
        <p:nvPicPr>
          <p:cNvPr id="64515" name="文本占位符 64514"/>
          <p:cNvPicPr>
            <a:picLocks noChangeAspect="1"/>
          </p:cNvPicPr>
          <p:nvPr/>
        </p:nvPicPr>
        <p:blipFill>
          <a:blip r:embed="rId2">
            <a:biLevel thresh="50000"/>
            <a:grayscl/>
            <a:lum bright="-35999" contrast="12000"/>
          </a:blip>
          <a:srcRect l="41696" t="22530" r="11552" b="42426"/>
          <a:stretch>
            <a:fillRect/>
          </a:stretch>
        </p:blipFill>
        <p:spPr>
          <a:xfrm>
            <a:off x="1971040" y="4217035"/>
            <a:ext cx="5201920" cy="242379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65537"/>
          <p:cNvSpPr>
            <a:spLocks noGrp="1"/>
          </p:cNvSpPr>
          <p:nvPr>
            <p:ph type="title"/>
          </p:nvPr>
        </p:nvSpPr>
        <p:spPr>
          <a:xfrm>
            <a:off x="1498600" y="219393"/>
            <a:ext cx="4749165" cy="492125"/>
          </a:xfrm>
        </p:spPr>
        <p:txBody>
          <a:bodyPr wrap="square"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7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相对寻址</a:t>
            </a:r>
          </a:p>
        </p:txBody>
      </p:sp>
      <p:sp>
        <p:nvSpPr>
          <p:cNvPr id="65539" name="文本占位符 65538"/>
          <p:cNvSpPr>
            <a:spLocks noGrp="1"/>
          </p:cNvSpPr>
          <p:nvPr>
            <p:ph type="body" idx="1"/>
          </p:nvPr>
        </p:nvSpPr>
        <p:spPr>
          <a:xfrm>
            <a:off x="603250" y="1136650"/>
            <a:ext cx="7772400" cy="1846580"/>
          </a:xfrm>
        </p:spPr>
        <p:txBody>
          <a:bodyPr/>
          <a:lstStyle/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只出现在相对转移指令当中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相对寻址以程序计数器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的当前值作为基地址，与指令中给出的相对偏移量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rel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进行相加，把所得之和作为程序的转移地址。例如：</a:t>
            </a:r>
          </a:p>
          <a:p>
            <a:pPr algn="just">
              <a:buNone/>
            </a:pPr>
            <a:r>
              <a:rPr lang="zh-CN" altLang="en-US" sz="2400" dirty="0">
                <a:solidFill>
                  <a:srgbClr val="66FF33"/>
                </a:solidFill>
                <a:latin typeface="宋体" panose="02010600030101010101" pitchFamily="2" charset="-122"/>
              </a:rPr>
              <a:t>			</a:t>
            </a:r>
            <a:endParaRPr lang="en-US" altLang="zh-CN" sz="2400" dirty="0">
              <a:solidFill>
                <a:srgbClr val="66FF33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2400" dirty="0">
                <a:solidFill>
                  <a:srgbClr val="66FF33"/>
                </a:solidFill>
                <a:latin typeface="宋体" panose="02010600030101010101" pitchFamily="2" charset="-122"/>
              </a:rPr>
              <a:t>                 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JZ  LOOP</a:t>
            </a:r>
          </a:p>
          <a:p>
            <a:pPr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			DJNE  R0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DISPLAY</a:t>
            </a:r>
          </a:p>
          <a:p>
            <a:pPr>
              <a:buNone/>
            </a:pP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</a:rPr>
              <a:t>注意课本</a:t>
            </a:r>
            <a:r>
              <a:rPr lang="en-US" altLang="zh-CN" sz="3200" dirty="0">
                <a:solidFill>
                  <a:srgbClr val="FF0000"/>
                </a:solidFill>
                <a:latin typeface="宋体" panose="02010600030101010101" pitchFamily="2" charset="-122"/>
              </a:rPr>
              <a:t>P58</a:t>
            </a:r>
            <a:r>
              <a:rPr lang="zh-CN" altLang="en-US" sz="3200" dirty="0">
                <a:solidFill>
                  <a:srgbClr val="FF0000"/>
                </a:solidFill>
                <a:latin typeface="宋体" panose="02010600030101010101" pitchFamily="2" charset="-122"/>
              </a:rPr>
              <a:t>表</a:t>
            </a:r>
            <a:r>
              <a:rPr lang="en-US" altLang="zh-CN" sz="3200" dirty="0">
                <a:solidFill>
                  <a:srgbClr val="FF0000"/>
                </a:solidFill>
                <a:latin typeface="宋体" panose="02010600030101010101" pitchFamily="2" charset="-122"/>
              </a:rPr>
              <a:t>3-2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66561"/>
          <p:cNvSpPr>
            <a:spLocks noGrp="1"/>
          </p:cNvSpPr>
          <p:nvPr>
            <p:ph type="title"/>
          </p:nvPr>
        </p:nvSpPr>
        <p:spPr>
          <a:xfrm>
            <a:off x="1270000" y="165100"/>
            <a:ext cx="7772400" cy="914400"/>
          </a:xfrm>
        </p:spPr>
        <p:txBody>
          <a:bodyPr anchor="ctr"/>
          <a:lstStyle/>
          <a:p>
            <a:pPr algn="l"/>
            <a:r>
              <a:rPr lang="en-US" altLang="zh-CN" sz="4000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3.3  </a:t>
            </a:r>
            <a:r>
              <a:rPr lang="zh-CN" altLang="en-US" sz="4000" dirty="0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指令系统</a:t>
            </a:r>
            <a:r>
              <a:rPr lang="zh-CN" altLang="en-US" dirty="0">
                <a:solidFill>
                  <a:srgbClr val="66FF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66563" name="文本占位符 66562"/>
          <p:cNvSpPr>
            <a:spLocks noGrp="1"/>
          </p:cNvSpPr>
          <p:nvPr>
            <p:ph type="body" idx="1"/>
          </p:nvPr>
        </p:nvSpPr>
        <p:spPr>
          <a:xfrm>
            <a:off x="381000" y="1187450"/>
            <a:ext cx="8382000" cy="3385185"/>
          </a:xfrm>
        </p:spPr>
        <p:txBody>
          <a:bodyPr/>
          <a:lstStyle/>
          <a:p>
            <a:pPr algn="just">
              <a:buNone/>
            </a:pPr>
            <a:r>
              <a:rPr lang="en-US" altLang="zh-CN" sz="2800" dirty="0">
                <a:solidFill>
                  <a:schemeClr val="hlink"/>
                </a:solidFill>
                <a:latin typeface="宋体" panose="02010600030101010101" pitchFamily="2" charset="-122"/>
              </a:rPr>
              <a:t>  3.3.1  </a:t>
            </a:r>
            <a:r>
              <a:rPr lang="zh-CN" altLang="en-US" sz="2800" dirty="0">
                <a:solidFill>
                  <a:schemeClr val="hlink"/>
                </a:solidFill>
                <a:latin typeface="宋体" panose="02010600030101010101" pitchFamily="2" charset="-122"/>
              </a:rPr>
              <a:t>指令分类</a:t>
            </a:r>
          </a:p>
          <a:p>
            <a:pPr>
              <a:buNone/>
            </a:pPr>
            <a:r>
              <a:rPr lang="zh-CN" altLang="en-US" sz="2400" dirty="0">
                <a:solidFill>
                  <a:srgbClr val="66FF33"/>
                </a:solidFill>
              </a:rPr>
              <a:t>            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MCS-51</a:t>
            </a:r>
            <a:r>
              <a:rPr lang="zh-CN" altLang="en-US" sz="2400" dirty="0">
                <a:solidFill>
                  <a:schemeClr val="tx1"/>
                </a:solidFill>
              </a:rPr>
              <a:t>指令系统有</a:t>
            </a:r>
            <a:r>
              <a:rPr lang="en-US" altLang="zh-CN" sz="2400" dirty="0">
                <a:solidFill>
                  <a:schemeClr val="tx1"/>
                </a:solidFill>
              </a:rPr>
              <a:t>42</a:t>
            </a:r>
            <a:r>
              <a:rPr lang="zh-CN" altLang="en-US" sz="2400" dirty="0">
                <a:solidFill>
                  <a:schemeClr val="tx1"/>
                </a:solidFill>
              </a:rPr>
              <a:t>种助记符，代表了</a:t>
            </a:r>
            <a:r>
              <a:rPr lang="en-US" altLang="zh-CN" sz="2400" dirty="0">
                <a:solidFill>
                  <a:schemeClr val="tx1"/>
                </a:solidFill>
              </a:rPr>
              <a:t>33</a:t>
            </a:r>
            <a:r>
              <a:rPr lang="zh-CN" altLang="en-US" sz="2400" dirty="0">
                <a:solidFill>
                  <a:schemeClr val="tx1"/>
                </a:solidFill>
              </a:rPr>
              <a:t>种功能，指令助记符与各种可能的寻址方式相结合，共构成</a:t>
            </a:r>
            <a:r>
              <a:rPr lang="en-US" altLang="zh-CN" sz="2400" dirty="0">
                <a:solidFill>
                  <a:schemeClr val="tx1"/>
                </a:solidFill>
              </a:rPr>
              <a:t>111</a:t>
            </a:r>
            <a:r>
              <a:rPr lang="zh-CN" altLang="en-US" sz="2400" dirty="0">
                <a:solidFill>
                  <a:schemeClr val="tx1"/>
                </a:solidFill>
              </a:rPr>
              <a:t>条指令。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按指令的功能，</a:t>
            </a:r>
            <a:r>
              <a:rPr lang="en-US" altLang="zh-CN" sz="2400" dirty="0">
                <a:solidFill>
                  <a:schemeClr val="tx1"/>
                </a:solidFill>
              </a:rPr>
              <a:t>MCS-51</a:t>
            </a:r>
            <a:r>
              <a:rPr lang="zh-CN" altLang="en-US" sz="2400" dirty="0">
                <a:solidFill>
                  <a:schemeClr val="tx1"/>
                </a:solidFill>
              </a:rPr>
              <a:t>指令系统可分为下列</a:t>
            </a:r>
            <a:r>
              <a:rPr lang="en-US" altLang="zh-CN" sz="2400" dirty="0">
                <a:solidFill>
                  <a:schemeClr val="tx1"/>
                </a:solidFill>
              </a:rPr>
              <a:t>5</a:t>
            </a:r>
            <a:r>
              <a:rPr lang="zh-CN" altLang="en-US" sz="2400" dirty="0">
                <a:solidFill>
                  <a:schemeClr val="tx1"/>
                </a:solidFill>
              </a:rPr>
              <a:t>类：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）数据传送类指令（</a:t>
            </a:r>
            <a:r>
              <a:rPr lang="en-US" altLang="zh-CN" sz="2400" dirty="0">
                <a:solidFill>
                  <a:schemeClr val="tx1"/>
                </a:solidFill>
              </a:rPr>
              <a:t>28</a:t>
            </a:r>
            <a:r>
              <a:rPr lang="zh-CN" altLang="en-US" sz="2400" dirty="0">
                <a:solidFill>
                  <a:schemeClr val="tx1"/>
                </a:solidFill>
              </a:rPr>
              <a:t>条）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）算术运算类指令（</a:t>
            </a:r>
            <a:r>
              <a:rPr lang="en-US" altLang="zh-CN" sz="2400" dirty="0">
                <a:solidFill>
                  <a:schemeClr val="tx1"/>
                </a:solidFill>
              </a:rPr>
              <a:t>24</a:t>
            </a:r>
            <a:r>
              <a:rPr lang="zh-CN" altLang="en-US" sz="2400" dirty="0">
                <a:solidFill>
                  <a:schemeClr val="tx1"/>
                </a:solidFill>
              </a:rPr>
              <a:t>条）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r>
              <a:rPr lang="zh-CN" altLang="en-US" sz="2400" dirty="0">
                <a:solidFill>
                  <a:schemeClr val="tx1"/>
                </a:solidFill>
              </a:rPr>
              <a:t>）逻辑运算及移位类指令（</a:t>
            </a:r>
            <a:r>
              <a:rPr lang="en-US" altLang="zh-CN" sz="2400" dirty="0">
                <a:solidFill>
                  <a:schemeClr val="tx1"/>
                </a:solidFill>
              </a:rPr>
              <a:t>25</a:t>
            </a:r>
            <a:r>
              <a:rPr lang="zh-CN" altLang="en-US" sz="2400" dirty="0">
                <a:solidFill>
                  <a:schemeClr val="tx1"/>
                </a:solidFill>
              </a:rPr>
              <a:t>条）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r>
              <a:rPr lang="zh-CN" altLang="en-US" sz="2400" dirty="0">
                <a:solidFill>
                  <a:schemeClr val="tx1"/>
                </a:solidFill>
              </a:rPr>
              <a:t>）位操作类指令（</a:t>
            </a:r>
            <a:r>
              <a:rPr lang="en-US" altLang="zh-CN" sz="2400" dirty="0">
                <a:solidFill>
                  <a:schemeClr val="tx1"/>
                </a:solidFill>
              </a:rPr>
              <a:t>17</a:t>
            </a:r>
            <a:r>
              <a:rPr lang="zh-CN" altLang="en-US" sz="2400" dirty="0">
                <a:solidFill>
                  <a:schemeClr val="tx1"/>
                </a:solidFill>
              </a:rPr>
              <a:t>条）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</a:rPr>
              <a:t>5</a:t>
            </a:r>
            <a:r>
              <a:rPr lang="zh-CN" altLang="en-US" sz="2400" dirty="0">
                <a:solidFill>
                  <a:schemeClr val="tx1"/>
                </a:solidFill>
              </a:rPr>
              <a:t>）控制转移类指令（</a:t>
            </a:r>
            <a:r>
              <a:rPr lang="en-US" altLang="zh-CN" sz="2400" dirty="0">
                <a:solidFill>
                  <a:schemeClr val="tx1"/>
                </a:solidFill>
              </a:rPr>
              <a:t>17</a:t>
            </a:r>
            <a:r>
              <a:rPr lang="zh-CN" altLang="en-US" sz="2400" dirty="0">
                <a:solidFill>
                  <a:schemeClr val="tx1"/>
                </a:solidFill>
              </a:rPr>
              <a:t>条）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67585"/>
          <p:cNvSpPr>
            <a:spLocks noGrp="1"/>
          </p:cNvSpPr>
          <p:nvPr>
            <p:ph type="title"/>
          </p:nvPr>
        </p:nvSpPr>
        <p:spPr>
          <a:xfrm>
            <a:off x="533400" y="363538"/>
            <a:ext cx="7620000" cy="492125"/>
          </a:xfrm>
        </p:spPr>
        <p:txBody>
          <a:bodyPr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    3.3.1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指令分类</a:t>
            </a:r>
          </a:p>
        </p:txBody>
      </p:sp>
      <p:sp>
        <p:nvSpPr>
          <p:cNvPr id="67587" name="文本占位符 67586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534400" cy="4982210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在分类介绍指令前，先把描述指令的一些符号的意义作一简单介绍。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 err="1">
                <a:solidFill>
                  <a:srgbClr val="FF3300"/>
                </a:solidFill>
                <a:latin typeface="宋体" panose="02010600030101010101" pitchFamily="2" charset="-122"/>
              </a:rPr>
              <a:t>R</a:t>
            </a:r>
            <a:r>
              <a:rPr lang="en-US" altLang="zh-CN" sz="2400" baseline="-30000" dirty="0" err="1">
                <a:solidFill>
                  <a:srgbClr val="FF33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―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当前选定的寄存器区中的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个工作寄存器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R7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，即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n=0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 err="1">
                <a:solidFill>
                  <a:srgbClr val="FF3300"/>
                </a:solidFill>
                <a:latin typeface="宋体" panose="02010600030101010101" pitchFamily="2" charset="-122"/>
              </a:rPr>
              <a:t>Ri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―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当前选定的寄存器区中的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个寄存器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R0,R1,i=0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Direct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位内部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单元的地址，它可以是一个内部数据区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7FH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）或特殊功能寄存器地址（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端口、控制寄存器、状态寄存器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0FFH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）。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#data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指令中的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位常数。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#data16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指令中的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位常数。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addr16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位的目的地址，用于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LJMP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LCALL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，可指向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64KB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程序存储器的地址空间。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addr11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位的目的地址，用于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AJMP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ACALL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指令。目的地址必须与下一条指令的第一个字节在同一个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2KB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程序存储器地址空间之内。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文本占位符 68610"/>
          <p:cNvSpPr>
            <a:spLocks noGrp="1"/>
          </p:cNvSpPr>
          <p:nvPr>
            <p:ph type="body" idx="1"/>
          </p:nvPr>
        </p:nvSpPr>
        <p:spPr>
          <a:xfrm>
            <a:off x="527050" y="1149350"/>
            <a:ext cx="8207375" cy="4317365"/>
          </a:xfrm>
        </p:spPr>
        <p:txBody>
          <a:bodyPr wrap="square"/>
          <a:lstStyle/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     rel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位带符号的偏移量字节，用于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SJMP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和所有条件转移指令中。偏移量相对于下一条指令的第一个字节计算，在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128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+127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范围内取值。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bit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内部数据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或特殊功能寄存器中的可直接寻址位。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DPTR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数据指针，可用作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位的地址寄存器。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A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累加器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B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寄存器，用于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MUL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DIV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指令中。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进位标志或进位位。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＠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间接寄存器或基址寄存器的前缀，如＠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Ri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，＠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DPTR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／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位操作的前缀，表示对该位取反。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中的内容。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（（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由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寻址的单元中的内容。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</a:rPr>
              <a:t>—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箭头左边的内容被箭头右边的内容所替代。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69633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  3.3.2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数据传送类指令</a:t>
            </a:r>
          </a:p>
        </p:txBody>
      </p:sp>
      <p:sp>
        <p:nvSpPr>
          <p:cNvPr id="69635" name="文本占位符 69634"/>
          <p:cNvSpPr>
            <a:spLocks noGrp="1"/>
          </p:cNvSpPr>
          <p:nvPr>
            <p:ph type="body" idx="1"/>
          </p:nvPr>
        </p:nvSpPr>
        <p:spPr>
          <a:xfrm>
            <a:off x="685800" y="1371600"/>
            <a:ext cx="7924800" cy="4982210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</a:t>
            </a:r>
            <a:r>
              <a:rPr lang="zh-CN" altLang="en-US" sz="2400" dirty="0">
                <a:solidFill>
                  <a:srgbClr val="0000FF"/>
                </a:solidFill>
              </a:rPr>
              <a:t>数据传送类指令</a:t>
            </a:r>
            <a:r>
              <a:rPr lang="zh-CN" altLang="en-US" sz="2400" dirty="0">
                <a:solidFill>
                  <a:schemeClr val="tx1"/>
                </a:solidFill>
              </a:rPr>
              <a:t>一般的操作是把源操作数传送到指令所指定的目标地址。指令执行后，源操作数保持不变，目的操作数为原操作数所替代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数据传送类指令用到的助记符有：</a:t>
            </a:r>
            <a:r>
              <a:rPr lang="en-US" altLang="zh-CN" sz="2400" dirty="0">
                <a:solidFill>
                  <a:srgbClr val="0000FF"/>
                </a:solidFill>
              </a:rPr>
              <a:t>MOV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MOVX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MOVC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XCH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XCHD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PUSH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POP</a:t>
            </a:r>
            <a:r>
              <a:rPr lang="zh-CN" altLang="en-US" sz="2400" dirty="0">
                <a:solidFill>
                  <a:srgbClr val="0000FF"/>
                </a:solidFill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</a:rPr>
              <a:t>SWAP</a:t>
            </a:r>
            <a:r>
              <a:rPr lang="zh-CN" altLang="en-US" sz="2400" dirty="0">
                <a:solidFill>
                  <a:srgbClr val="0000FF"/>
                </a:solidFill>
              </a:rPr>
              <a:t>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数据一般传送指令的助记符“</a:t>
            </a:r>
            <a:r>
              <a:rPr lang="en-US" altLang="zh-CN" sz="2400" dirty="0">
                <a:solidFill>
                  <a:schemeClr val="tx1"/>
                </a:solidFill>
              </a:rPr>
              <a:t>MOV”</a:t>
            </a:r>
            <a:r>
              <a:rPr lang="zh-CN" altLang="en-US" sz="2400" dirty="0">
                <a:solidFill>
                  <a:schemeClr val="tx1"/>
                </a:solidFill>
              </a:rPr>
              <a:t>表示</a:t>
            </a:r>
          </a:p>
          <a:p>
            <a:pPr algn="just"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rgbClr val="FF3300"/>
                </a:solidFill>
              </a:rPr>
              <a:t>   格式： </a:t>
            </a:r>
            <a:r>
              <a:rPr lang="en-US" altLang="zh-CN" sz="2400" dirty="0">
                <a:solidFill>
                  <a:srgbClr val="FF3300"/>
                </a:solidFill>
              </a:rPr>
              <a:t>MOV  [</a:t>
            </a:r>
            <a:r>
              <a:rPr lang="zh-CN" altLang="en-US" sz="2400" dirty="0">
                <a:solidFill>
                  <a:srgbClr val="FF3300"/>
                </a:solidFill>
              </a:rPr>
              <a:t>目的操作数</a:t>
            </a:r>
            <a:r>
              <a:rPr lang="en-US" altLang="zh-CN" sz="2400" dirty="0">
                <a:solidFill>
                  <a:srgbClr val="FF3300"/>
                </a:solidFill>
              </a:rPr>
              <a:t>]</a:t>
            </a:r>
            <a:r>
              <a:rPr lang="zh-CN" altLang="en-US" sz="2400" dirty="0">
                <a:solidFill>
                  <a:srgbClr val="FF3300"/>
                </a:solidFill>
              </a:rPr>
              <a:t>，</a:t>
            </a:r>
            <a:r>
              <a:rPr lang="en-US" altLang="zh-CN" sz="2400" dirty="0">
                <a:solidFill>
                  <a:srgbClr val="FF3300"/>
                </a:solidFill>
              </a:rPr>
              <a:t>[</a:t>
            </a:r>
            <a:r>
              <a:rPr lang="zh-CN" altLang="en-US" sz="2400" dirty="0">
                <a:solidFill>
                  <a:srgbClr val="FF3300"/>
                </a:solidFill>
              </a:rPr>
              <a:t>源操作数</a:t>
            </a:r>
            <a:r>
              <a:rPr lang="en-US" altLang="zh-CN" sz="2400" dirty="0">
                <a:solidFill>
                  <a:srgbClr val="FF3300"/>
                </a:solidFill>
              </a:rPr>
              <a:t>]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</a:rPr>
              <a:t>功能：目的操作数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（源操作数中的数据）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源操作数可以是：</a:t>
            </a:r>
            <a:r>
              <a:rPr lang="en-US" altLang="zh-CN" sz="2400" dirty="0" err="1">
                <a:solidFill>
                  <a:schemeClr val="tx1"/>
                </a:solidFill>
              </a:rPr>
              <a:t>A</a:t>
            </a:r>
            <a:r>
              <a:rPr lang="zh-CN" altLang="en-US" sz="2400" dirty="0" err="1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Rn</a:t>
            </a:r>
            <a:r>
              <a:rPr lang="zh-CN" altLang="en-US" sz="2400" dirty="0" err="1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direct</a:t>
            </a:r>
            <a:r>
              <a:rPr lang="zh-CN" altLang="en-US" sz="2400" dirty="0" err="1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@Ri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#data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</a:rPr>
              <a:t>目的操作数可以是：</a:t>
            </a:r>
            <a:r>
              <a:rPr lang="en-US" altLang="zh-CN" sz="2400" dirty="0" err="1">
                <a:solidFill>
                  <a:schemeClr val="tx1"/>
                </a:solidFill>
              </a:rPr>
              <a:t>A</a:t>
            </a:r>
            <a:r>
              <a:rPr lang="zh-CN" altLang="en-US" sz="2400" dirty="0" err="1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Rn</a:t>
            </a:r>
            <a:r>
              <a:rPr lang="zh-CN" altLang="en-US" sz="2400" dirty="0" err="1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direct</a:t>
            </a:r>
            <a:r>
              <a:rPr lang="zh-CN" altLang="en-US" sz="2400" dirty="0" err="1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@Ri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 err="1">
                <a:solidFill>
                  <a:schemeClr val="tx1"/>
                </a:solidFill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</a:rPr>
              <a:t>数据传送指令只影响</a:t>
            </a:r>
            <a:r>
              <a:rPr lang="en-US" altLang="zh-CN" sz="2400" dirty="0">
                <a:solidFill>
                  <a:schemeClr val="tx1"/>
                </a:solidFill>
              </a:rPr>
              <a:t>P</a:t>
            </a:r>
            <a:r>
              <a:rPr lang="zh-CN" altLang="en-US" sz="2400">
                <a:solidFill>
                  <a:schemeClr val="tx1"/>
                </a:solidFill>
              </a:rPr>
              <a:t>标志位，</a:t>
            </a:r>
            <a:r>
              <a:rPr lang="zh-CN" altLang="en-US" sz="2400" dirty="0">
                <a:solidFill>
                  <a:schemeClr val="tx1"/>
                </a:solidFill>
              </a:rPr>
              <a:t>只有一种堆栈操作可以直接修改程序状态字</a:t>
            </a:r>
            <a:r>
              <a:rPr lang="en-US" altLang="zh-CN" sz="2400" dirty="0">
                <a:solidFill>
                  <a:schemeClr val="tx1"/>
                </a:solidFill>
              </a:rPr>
              <a:t>PSW</a:t>
            </a:r>
            <a:r>
              <a:rPr lang="zh-CN" altLang="en-US" sz="2400" dirty="0">
                <a:solidFill>
                  <a:schemeClr val="tx1"/>
                </a:solidFill>
              </a:rPr>
              <a:t>，这样，可能使某些标志位发生变化。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文本占位符 70658"/>
          <p:cNvSpPr>
            <a:spLocks noGrp="1"/>
          </p:cNvSpPr>
          <p:nvPr>
            <p:ph type="body" idx="1"/>
          </p:nvPr>
        </p:nvSpPr>
        <p:spPr>
          <a:xfrm>
            <a:off x="685800" y="990600"/>
            <a:ext cx="8077200" cy="83820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 以累加器为目的操作数的内部数据传送指令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</a:p>
        </p:txBody>
      </p:sp>
      <p:grpSp>
        <p:nvGrpSpPr>
          <p:cNvPr id="70660" name="组合 70659"/>
          <p:cNvGrpSpPr/>
          <p:nvPr/>
        </p:nvGrpSpPr>
        <p:grpSpPr>
          <a:xfrm>
            <a:off x="876300" y="1778000"/>
            <a:ext cx="7391400" cy="3048000"/>
            <a:chOff x="43" y="0"/>
            <a:chExt cx="2583" cy="1536"/>
          </a:xfrm>
        </p:grpSpPr>
        <p:sp>
          <p:nvSpPr>
            <p:cNvPr id="70661" name="矩形 70660"/>
            <p:cNvSpPr/>
            <p:nvPr/>
          </p:nvSpPr>
          <p:spPr>
            <a:xfrm>
              <a:off x="43" y="0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62" name="矩形 70661"/>
            <p:cNvSpPr/>
            <p:nvPr/>
          </p:nvSpPr>
          <p:spPr>
            <a:xfrm>
              <a:off x="590" y="0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63" name="矩形 70662"/>
            <p:cNvSpPr/>
            <p:nvPr/>
          </p:nvSpPr>
          <p:spPr>
            <a:xfrm>
              <a:off x="1598" y="0"/>
              <a:ext cx="102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0664" name="矩形 70663"/>
            <p:cNvSpPr/>
            <p:nvPr/>
          </p:nvSpPr>
          <p:spPr>
            <a:xfrm>
              <a:off x="43" y="384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65" name="矩形 70664"/>
            <p:cNvSpPr/>
            <p:nvPr/>
          </p:nvSpPr>
          <p:spPr>
            <a:xfrm>
              <a:off x="590" y="384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66" name="矩形 70665"/>
            <p:cNvSpPr/>
            <p:nvPr/>
          </p:nvSpPr>
          <p:spPr>
            <a:xfrm>
              <a:off x="1598" y="384"/>
              <a:ext cx="102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0667" name="矩形 70666"/>
            <p:cNvSpPr/>
            <p:nvPr/>
          </p:nvSpPr>
          <p:spPr>
            <a:xfrm>
              <a:off x="43" y="768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68" name="矩形 70667"/>
            <p:cNvSpPr/>
            <p:nvPr/>
          </p:nvSpPr>
          <p:spPr>
            <a:xfrm>
              <a:off x="590" y="768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69" name="矩形 70668"/>
            <p:cNvSpPr/>
            <p:nvPr/>
          </p:nvSpPr>
          <p:spPr>
            <a:xfrm>
              <a:off x="1598" y="768"/>
              <a:ext cx="102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</a:p>
            <a:p>
              <a:pPr algn="just" eaLnBrk="0" hangingPunct="0"/>
              <a:endParaRPr lang="zh-CN" altLang="en-US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0670" name="矩形 70669"/>
            <p:cNvSpPr/>
            <p:nvPr/>
          </p:nvSpPr>
          <p:spPr>
            <a:xfrm>
              <a:off x="43" y="1152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71" name="矩形 70670"/>
            <p:cNvSpPr/>
            <p:nvPr/>
          </p:nvSpPr>
          <p:spPr>
            <a:xfrm>
              <a:off x="590" y="1152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672" name="矩形 70671"/>
            <p:cNvSpPr/>
            <p:nvPr/>
          </p:nvSpPr>
          <p:spPr>
            <a:xfrm>
              <a:off x="1598" y="1152"/>
              <a:ext cx="102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data</a:t>
              </a:r>
              <a:endParaRPr lang="en-US" altLang="zh-CN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文本占位符 71682"/>
          <p:cNvSpPr>
            <a:spLocks noGrp="1"/>
          </p:cNvSpPr>
          <p:nvPr>
            <p:ph type="body" idx="1"/>
          </p:nvPr>
        </p:nvSpPr>
        <p:spPr>
          <a:xfrm>
            <a:off x="1219200" y="1219200"/>
            <a:ext cx="5867400" cy="8382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． 数据传送到工作寄存器</a:t>
            </a:r>
            <a:r>
              <a:rPr lang="en-US" altLang="zh-CN" sz="24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Rn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的指令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grpSp>
        <p:nvGrpSpPr>
          <p:cNvPr id="71684" name="组合 71683"/>
          <p:cNvGrpSpPr/>
          <p:nvPr/>
        </p:nvGrpSpPr>
        <p:grpSpPr>
          <a:xfrm>
            <a:off x="1047750" y="2101850"/>
            <a:ext cx="6400800" cy="2362200"/>
            <a:chOff x="43" y="0"/>
            <a:chExt cx="2517" cy="1152"/>
          </a:xfrm>
        </p:grpSpPr>
        <p:sp>
          <p:nvSpPr>
            <p:cNvPr id="71685" name="矩形 71684"/>
            <p:cNvSpPr/>
            <p:nvPr/>
          </p:nvSpPr>
          <p:spPr>
            <a:xfrm>
              <a:off x="43" y="0"/>
              <a:ext cx="52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1686" name="矩形 71685"/>
            <p:cNvSpPr/>
            <p:nvPr/>
          </p:nvSpPr>
          <p:spPr>
            <a:xfrm>
              <a:off x="570" y="0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1687" name="矩形 71686"/>
            <p:cNvSpPr/>
            <p:nvPr/>
          </p:nvSpPr>
          <p:spPr>
            <a:xfrm>
              <a:off x="1578" y="0"/>
              <a:ext cx="98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1688" name="矩形 71687"/>
            <p:cNvSpPr/>
            <p:nvPr/>
          </p:nvSpPr>
          <p:spPr>
            <a:xfrm>
              <a:off x="43" y="384"/>
              <a:ext cx="52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1689" name="矩形 71688"/>
            <p:cNvSpPr/>
            <p:nvPr/>
          </p:nvSpPr>
          <p:spPr>
            <a:xfrm>
              <a:off x="570" y="384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1690" name="矩形 71689"/>
            <p:cNvSpPr/>
            <p:nvPr/>
          </p:nvSpPr>
          <p:spPr>
            <a:xfrm>
              <a:off x="1578" y="384"/>
              <a:ext cx="98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1691" name="矩形 71690"/>
            <p:cNvSpPr/>
            <p:nvPr/>
          </p:nvSpPr>
          <p:spPr>
            <a:xfrm>
              <a:off x="43" y="768"/>
              <a:ext cx="52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1692" name="矩形 71691"/>
            <p:cNvSpPr/>
            <p:nvPr/>
          </p:nvSpPr>
          <p:spPr>
            <a:xfrm>
              <a:off x="570" y="768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1693" name="矩形 71692"/>
            <p:cNvSpPr/>
            <p:nvPr/>
          </p:nvSpPr>
          <p:spPr>
            <a:xfrm>
              <a:off x="1578" y="768"/>
              <a:ext cx="98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文本占位符 72706"/>
          <p:cNvSpPr>
            <a:spLocks noGrp="1"/>
          </p:cNvSpPr>
          <p:nvPr>
            <p:ph type="body" idx="1"/>
          </p:nvPr>
        </p:nvSpPr>
        <p:spPr>
          <a:xfrm>
            <a:off x="685800" y="990600"/>
            <a:ext cx="7772400" cy="76200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．数据传送到内部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单元或特殊功能寄存器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SFR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的指令 </a:t>
            </a:r>
          </a:p>
        </p:txBody>
      </p:sp>
      <p:grpSp>
        <p:nvGrpSpPr>
          <p:cNvPr id="72708" name="组合 72707"/>
          <p:cNvGrpSpPr/>
          <p:nvPr/>
        </p:nvGrpSpPr>
        <p:grpSpPr>
          <a:xfrm>
            <a:off x="1752600" y="1905000"/>
            <a:ext cx="6858000" cy="3962400"/>
            <a:chOff x="43" y="0"/>
            <a:chExt cx="2583" cy="3456"/>
          </a:xfrm>
        </p:grpSpPr>
        <p:sp>
          <p:nvSpPr>
            <p:cNvPr id="72709" name="矩形 72708"/>
            <p:cNvSpPr/>
            <p:nvPr/>
          </p:nvSpPr>
          <p:spPr>
            <a:xfrm>
              <a:off x="43" y="0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10" name="矩形 72709"/>
            <p:cNvSpPr/>
            <p:nvPr/>
          </p:nvSpPr>
          <p:spPr>
            <a:xfrm>
              <a:off x="506" y="0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11" name="矩形 72710"/>
            <p:cNvSpPr/>
            <p:nvPr/>
          </p:nvSpPr>
          <p:spPr>
            <a:xfrm>
              <a:off x="1514" y="0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12" name="矩形 72711"/>
            <p:cNvSpPr/>
            <p:nvPr/>
          </p:nvSpPr>
          <p:spPr>
            <a:xfrm>
              <a:off x="43" y="384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13" name="矩形 72712"/>
            <p:cNvSpPr/>
            <p:nvPr/>
          </p:nvSpPr>
          <p:spPr>
            <a:xfrm>
              <a:off x="506" y="384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14" name="矩形 72713"/>
            <p:cNvSpPr/>
            <p:nvPr/>
          </p:nvSpPr>
          <p:spPr>
            <a:xfrm>
              <a:off x="1514" y="384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15" name="矩形 72714"/>
            <p:cNvSpPr/>
            <p:nvPr/>
          </p:nvSpPr>
          <p:spPr>
            <a:xfrm>
              <a:off x="43" y="768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16" name="矩形 72715"/>
            <p:cNvSpPr/>
            <p:nvPr/>
          </p:nvSpPr>
          <p:spPr>
            <a:xfrm>
              <a:off x="506" y="768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direct1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direct2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17" name="矩形 72716"/>
            <p:cNvSpPr/>
            <p:nvPr/>
          </p:nvSpPr>
          <p:spPr>
            <a:xfrm>
              <a:off x="1514" y="768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１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direct2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18" name="矩形 72717"/>
            <p:cNvSpPr/>
            <p:nvPr/>
          </p:nvSpPr>
          <p:spPr>
            <a:xfrm>
              <a:off x="43" y="1152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19" name="矩形 72718"/>
            <p:cNvSpPr/>
            <p:nvPr/>
          </p:nvSpPr>
          <p:spPr>
            <a:xfrm>
              <a:off x="506" y="1152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20" name="矩形 72719"/>
            <p:cNvSpPr/>
            <p:nvPr/>
          </p:nvSpPr>
          <p:spPr>
            <a:xfrm>
              <a:off x="1514" y="1152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1" name="矩形 72720"/>
            <p:cNvSpPr/>
            <p:nvPr/>
          </p:nvSpPr>
          <p:spPr>
            <a:xfrm>
              <a:off x="43" y="1536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22" name="矩形 72721"/>
            <p:cNvSpPr/>
            <p:nvPr/>
          </p:nvSpPr>
          <p:spPr>
            <a:xfrm>
              <a:off x="506" y="1536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23" name="矩形 72722"/>
            <p:cNvSpPr/>
            <p:nvPr/>
          </p:nvSpPr>
          <p:spPr>
            <a:xfrm>
              <a:off x="1514" y="1536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4" name="矩形 72723"/>
            <p:cNvSpPr/>
            <p:nvPr/>
          </p:nvSpPr>
          <p:spPr>
            <a:xfrm>
              <a:off x="43" y="1920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25" name="矩形 72724"/>
            <p:cNvSpPr/>
            <p:nvPr/>
          </p:nvSpPr>
          <p:spPr>
            <a:xfrm>
              <a:off x="506" y="1920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26" name="矩形 72725"/>
            <p:cNvSpPr/>
            <p:nvPr/>
          </p:nvSpPr>
          <p:spPr>
            <a:xfrm>
              <a:off x="1514" y="1920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Ri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（Ａ）</a:t>
              </a:r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7" name="矩形 72726"/>
            <p:cNvSpPr/>
            <p:nvPr/>
          </p:nvSpPr>
          <p:spPr>
            <a:xfrm>
              <a:off x="43" y="2304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28" name="矩形 72727"/>
            <p:cNvSpPr/>
            <p:nvPr/>
          </p:nvSpPr>
          <p:spPr>
            <a:xfrm>
              <a:off x="506" y="2304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29" name="矩形 72728"/>
            <p:cNvSpPr/>
            <p:nvPr/>
          </p:nvSpPr>
          <p:spPr>
            <a:xfrm>
              <a:off x="1514" y="2304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30" name="矩形 72729"/>
            <p:cNvSpPr/>
            <p:nvPr/>
          </p:nvSpPr>
          <p:spPr>
            <a:xfrm>
              <a:off x="43" y="2688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31" name="矩形 72730"/>
            <p:cNvSpPr/>
            <p:nvPr/>
          </p:nvSpPr>
          <p:spPr>
            <a:xfrm>
              <a:off x="506" y="2688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32" name="矩形 72731"/>
            <p:cNvSpPr/>
            <p:nvPr/>
          </p:nvSpPr>
          <p:spPr>
            <a:xfrm>
              <a:off x="1514" y="2688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33" name="矩形 72732"/>
            <p:cNvSpPr/>
            <p:nvPr/>
          </p:nvSpPr>
          <p:spPr>
            <a:xfrm>
              <a:off x="43" y="3072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34" name="矩形 72733"/>
            <p:cNvSpPr/>
            <p:nvPr/>
          </p:nvSpPr>
          <p:spPr>
            <a:xfrm>
              <a:off x="506" y="3072"/>
              <a:ext cx="10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DPTR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#data16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2735" name="矩形 72734"/>
            <p:cNvSpPr/>
            <p:nvPr/>
          </p:nvSpPr>
          <p:spPr>
            <a:xfrm>
              <a:off x="1514" y="3072"/>
              <a:ext cx="111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DPTR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data16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3" name="文本框 2"/>
          <p:cNvSpPr txBox="1"/>
          <p:nvPr/>
        </p:nvSpPr>
        <p:spPr>
          <a:xfrm>
            <a:off x="500743" y="1897082"/>
            <a:ext cx="1143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直接地址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间接地址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16</a:t>
            </a:r>
            <a:r>
              <a:rPr lang="zh-CN" altLang="en-US" dirty="0"/>
              <a:t>位数据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文本占位符 73730"/>
          <p:cNvSpPr>
            <a:spLocks noGrp="1"/>
          </p:cNvSpPr>
          <p:nvPr>
            <p:ph type="body" idx="1"/>
          </p:nvPr>
        </p:nvSpPr>
        <p:spPr>
          <a:xfrm>
            <a:off x="393700" y="1257300"/>
            <a:ext cx="8001000" cy="738505"/>
          </a:xfrm>
        </p:spPr>
        <p:txBody>
          <a:bodyPr/>
          <a:lstStyle/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片内数据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及寄存器的数据传送指令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MOV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PUSH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POP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共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条，如图所示。</a:t>
            </a:r>
          </a:p>
        </p:txBody>
      </p:sp>
      <p:sp>
        <p:nvSpPr>
          <p:cNvPr id="73732" name="矩形 73731"/>
          <p:cNvSpPr/>
          <p:nvPr/>
        </p:nvSpPr>
        <p:spPr>
          <a:xfrm>
            <a:off x="2781300" y="2347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2095500"/>
            <a:ext cx="8089900" cy="4584700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文本占位符 75778"/>
          <p:cNvSpPr>
            <a:spLocks noGrp="1"/>
          </p:cNvSpPr>
          <p:nvPr>
            <p:ph type="body" idx="4294967295"/>
          </p:nvPr>
        </p:nvSpPr>
        <p:spPr>
          <a:xfrm>
            <a:off x="514350" y="1054100"/>
            <a:ext cx="7772400" cy="4985980"/>
          </a:xfrm>
        </p:spPr>
        <p:txBody>
          <a:bodyPr/>
          <a:lstStyle/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．程序存储器内容送累加器（查表指令）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	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MOVC 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，＠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A+PC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(PC)+1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(PC),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再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(A+PC)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→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</a:p>
          <a:p>
            <a:pPr algn="just"/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MOVC 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，＠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A+DPTR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(PC)+1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(PC),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再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(A+DPTR)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→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程序存储器查表指令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MOVC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共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条，如图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3.7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所示。</a:t>
            </a:r>
          </a:p>
          <a:p>
            <a:pPr algn="just"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just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just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just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just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algn="just">
              <a:buNone/>
            </a:pPr>
            <a:endParaRPr lang="zh-CN" altLang="en-US" sz="20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</a:t>
            </a:r>
          </a:p>
          <a:p>
            <a:pPr algn="just">
              <a:buNone/>
            </a:pPr>
            <a:endParaRPr lang="zh-CN" altLang="en-US" sz="20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图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3.7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片外数据存储器数据传送指令</a:t>
            </a:r>
          </a:p>
        </p:txBody>
      </p:sp>
      <p:sp>
        <p:nvSpPr>
          <p:cNvPr id="75780" name="矩形 75779"/>
          <p:cNvSpPr/>
          <p:nvPr/>
        </p:nvSpPr>
        <p:spPr>
          <a:xfrm>
            <a:off x="3448050" y="29241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3327400"/>
            <a:ext cx="4038600" cy="18161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+mn-ea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8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sz="1200" b="0" i="0" u="none" strike="noStrike" kern="1200" cap="none" spc="-5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52957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文本占位符 74754"/>
          <p:cNvSpPr>
            <a:spLocks noGrp="1"/>
          </p:cNvSpPr>
          <p:nvPr>
            <p:ph type="body" idx="1"/>
          </p:nvPr>
        </p:nvSpPr>
        <p:spPr>
          <a:xfrm>
            <a:off x="520700" y="1104900"/>
            <a:ext cx="7772400" cy="594360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ea typeface="黑体" panose="0201060906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． 累加器</a:t>
            </a:r>
            <a:r>
              <a:rPr lang="en-US" altLang="zh-CN" sz="2400" dirty="0">
                <a:solidFill>
                  <a:schemeClr val="tx1"/>
                </a:solidFill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与外部数据存储器之间的传送指令</a:t>
            </a: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ea typeface="黑体" panose="0201060906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ea typeface="黑体" panose="0201060906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ea typeface="黑体" panose="0201060906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片外数据存储器数据传送指令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MOVX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共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条，如图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3.6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所示。  </a:t>
            </a:r>
          </a:p>
        </p:txBody>
      </p:sp>
      <p:grpSp>
        <p:nvGrpSpPr>
          <p:cNvPr id="74756" name="组合 74755"/>
          <p:cNvGrpSpPr/>
          <p:nvPr/>
        </p:nvGrpSpPr>
        <p:grpSpPr>
          <a:xfrm>
            <a:off x="933450" y="1581150"/>
            <a:ext cx="6400800" cy="1219200"/>
            <a:chOff x="43" y="0"/>
            <a:chExt cx="2166" cy="1536"/>
          </a:xfrm>
        </p:grpSpPr>
        <p:sp>
          <p:nvSpPr>
            <p:cNvPr id="74757" name="矩形 74756"/>
            <p:cNvSpPr/>
            <p:nvPr/>
          </p:nvSpPr>
          <p:spPr>
            <a:xfrm>
              <a:off x="43" y="0"/>
              <a:ext cx="54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MOVX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58" name="矩形 74757"/>
            <p:cNvSpPr/>
            <p:nvPr/>
          </p:nvSpPr>
          <p:spPr>
            <a:xfrm>
              <a:off x="589" y="0"/>
              <a:ext cx="7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@DPTR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59" name="矩形 74758"/>
            <p:cNvSpPr/>
            <p:nvPr/>
          </p:nvSpPr>
          <p:spPr>
            <a:xfrm>
              <a:off x="1387" y="0"/>
              <a:ext cx="8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DPTR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760" name="矩形 74759"/>
            <p:cNvSpPr/>
            <p:nvPr/>
          </p:nvSpPr>
          <p:spPr>
            <a:xfrm>
              <a:off x="43" y="384"/>
              <a:ext cx="54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MOVX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61" name="矩形 74760"/>
            <p:cNvSpPr/>
            <p:nvPr/>
          </p:nvSpPr>
          <p:spPr>
            <a:xfrm>
              <a:off x="589" y="384"/>
              <a:ext cx="7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62" name="矩形 74761"/>
            <p:cNvSpPr/>
            <p:nvPr/>
          </p:nvSpPr>
          <p:spPr>
            <a:xfrm>
              <a:off x="1387" y="384"/>
              <a:ext cx="8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763" name="矩形 74762"/>
            <p:cNvSpPr/>
            <p:nvPr/>
          </p:nvSpPr>
          <p:spPr>
            <a:xfrm>
              <a:off x="43" y="768"/>
              <a:ext cx="54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MOVX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64" name="矩形 74763"/>
            <p:cNvSpPr/>
            <p:nvPr/>
          </p:nvSpPr>
          <p:spPr>
            <a:xfrm>
              <a:off x="589" y="768"/>
              <a:ext cx="7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@DPTR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65" name="矩形 74764"/>
            <p:cNvSpPr/>
            <p:nvPr/>
          </p:nvSpPr>
          <p:spPr>
            <a:xfrm>
              <a:off x="1387" y="768"/>
              <a:ext cx="8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DPTR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766" name="矩形 74765"/>
            <p:cNvSpPr/>
            <p:nvPr/>
          </p:nvSpPr>
          <p:spPr>
            <a:xfrm>
              <a:off x="43" y="1152"/>
              <a:ext cx="54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MOVX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67" name="矩形 74766"/>
            <p:cNvSpPr/>
            <p:nvPr/>
          </p:nvSpPr>
          <p:spPr>
            <a:xfrm>
              <a:off x="589" y="1152"/>
              <a:ext cx="7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4768" name="矩形 74767"/>
            <p:cNvSpPr/>
            <p:nvPr/>
          </p:nvSpPr>
          <p:spPr>
            <a:xfrm>
              <a:off x="1387" y="1152"/>
              <a:ext cx="8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74769" name="矩形 74768"/>
          <p:cNvSpPr/>
          <p:nvPr/>
        </p:nvSpPr>
        <p:spPr>
          <a:xfrm>
            <a:off x="3448050" y="29241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771" name="矩形 74770"/>
          <p:cNvSpPr/>
          <p:nvPr/>
        </p:nvSpPr>
        <p:spPr>
          <a:xfrm>
            <a:off x="2209800" y="5943600"/>
            <a:ext cx="5410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3.6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片外数据存储器数据传送指令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3797300"/>
            <a:ext cx="4038600" cy="18796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文本占位符 76802"/>
          <p:cNvSpPr>
            <a:spLocks noGrp="1"/>
          </p:cNvSpPr>
          <p:nvPr>
            <p:ph type="body" idx="1"/>
          </p:nvPr>
        </p:nvSpPr>
        <p:spPr>
          <a:xfrm>
            <a:off x="425450" y="1092200"/>
            <a:ext cx="7924800" cy="4862830"/>
          </a:xfrm>
        </p:spPr>
        <p:txBody>
          <a:bodyPr wrap="square"/>
          <a:lstStyle/>
          <a:p>
            <a:pPr algn="just"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6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 堆栈操作指令</a:t>
            </a:r>
          </a:p>
          <a:p>
            <a:pPr algn="just">
              <a:buNone/>
            </a:pPr>
            <a:r>
              <a:rPr lang="zh-CN" altLang="en-US" sz="2800">
                <a:solidFill>
                  <a:schemeClr val="tx1"/>
                </a:solidFill>
                <a:latin typeface="宋体" panose="02010600030101010101" pitchFamily="2" charset="-122"/>
              </a:rPr>
              <a:t>		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		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PUSH  direct</a:t>
            </a:r>
          </a:p>
          <a:p>
            <a:pPr algn="just"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				POP   direct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例如：进入中断服务程序时，把程序状态寄存器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PSW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、累加器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、数据指针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DPTR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进栈保护。设当前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。则程序段</a:t>
            </a:r>
          </a:p>
          <a:p>
            <a:pPr algn="just"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				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PUSH  PSW</a:t>
            </a:r>
          </a:p>
          <a:p>
            <a:pPr algn="just"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				PUSH  ACC</a:t>
            </a:r>
          </a:p>
          <a:p>
            <a:pPr algn="just"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				PUSH  DPL</a:t>
            </a:r>
          </a:p>
          <a:p>
            <a:pPr algn="just"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				PUSH  DPH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执行后，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内容修改为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64H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61H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62H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63H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64H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单元中依次栈入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PSW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的内容，当中断服务程序结束之前，如下程序段（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保持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64H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不变）</a:t>
            </a:r>
          </a:p>
          <a:p>
            <a:pPr algn="just"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文本占位符 77826"/>
          <p:cNvSpPr>
            <a:spLocks noGrp="1"/>
          </p:cNvSpPr>
          <p:nvPr>
            <p:ph type="body" idx="1"/>
          </p:nvPr>
        </p:nvSpPr>
        <p:spPr>
          <a:xfrm>
            <a:off x="533399" y="158751"/>
            <a:ext cx="7772400" cy="3321050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		      POP    DPH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			POP    DPL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			POP    ACC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			POP    PSW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指令执行之后，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内容修改为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64H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63H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61H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单元的内容依次弹出到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PSW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中。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．交换指令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数据交换主要是在内部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单元与累加器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之间进行，有整字节和半字节两种交换。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）整字节交换指令</a:t>
            </a:r>
          </a:p>
        </p:txBody>
      </p:sp>
      <p:grpSp>
        <p:nvGrpSpPr>
          <p:cNvPr id="77828" name="组合 77827"/>
          <p:cNvGrpSpPr/>
          <p:nvPr/>
        </p:nvGrpSpPr>
        <p:grpSpPr>
          <a:xfrm>
            <a:off x="520082" y="3962400"/>
            <a:ext cx="4452937" cy="2057400"/>
            <a:chOff x="43" y="0"/>
            <a:chExt cx="2625" cy="1152"/>
          </a:xfrm>
        </p:grpSpPr>
        <p:sp>
          <p:nvSpPr>
            <p:cNvPr id="77829" name="矩形 77828"/>
            <p:cNvSpPr/>
            <p:nvPr/>
          </p:nvSpPr>
          <p:spPr>
            <a:xfrm>
              <a:off x="43" y="0"/>
              <a:ext cx="50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XCH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7830" name="矩形 77829"/>
            <p:cNvSpPr/>
            <p:nvPr/>
          </p:nvSpPr>
          <p:spPr>
            <a:xfrm>
              <a:off x="548" y="0"/>
              <a:ext cx="75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7831" name="矩形 77830"/>
            <p:cNvSpPr/>
            <p:nvPr/>
          </p:nvSpPr>
          <p:spPr>
            <a:xfrm>
              <a:off x="1304" y="0"/>
              <a:ext cx="136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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Rn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）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Wingdings 3" panose="05040102010807070707" pitchFamily="18" charset="2"/>
              </a:endParaRPr>
            </a:p>
          </p:txBody>
        </p:sp>
        <p:sp>
          <p:nvSpPr>
            <p:cNvPr id="77832" name="矩形 77831"/>
            <p:cNvSpPr/>
            <p:nvPr/>
          </p:nvSpPr>
          <p:spPr>
            <a:xfrm>
              <a:off x="43" y="384"/>
              <a:ext cx="50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XCH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7833" name="矩形 77832"/>
            <p:cNvSpPr/>
            <p:nvPr/>
          </p:nvSpPr>
          <p:spPr>
            <a:xfrm>
              <a:off x="548" y="384"/>
              <a:ext cx="80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7834" name="矩形 77833"/>
            <p:cNvSpPr/>
            <p:nvPr/>
          </p:nvSpPr>
          <p:spPr>
            <a:xfrm>
              <a:off x="1304" y="384"/>
              <a:ext cx="136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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direct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）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Wingdings 3" panose="05040102010807070707" pitchFamily="18" charset="2"/>
              </a:endParaRPr>
            </a:p>
          </p:txBody>
        </p:sp>
        <p:sp>
          <p:nvSpPr>
            <p:cNvPr id="77835" name="矩形 77834"/>
            <p:cNvSpPr/>
            <p:nvPr/>
          </p:nvSpPr>
          <p:spPr>
            <a:xfrm>
              <a:off x="43" y="768"/>
              <a:ext cx="50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XCH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7836" name="矩形 77835"/>
            <p:cNvSpPr/>
            <p:nvPr/>
          </p:nvSpPr>
          <p:spPr>
            <a:xfrm>
              <a:off x="548" y="768"/>
              <a:ext cx="75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7837" name="矩形 77836"/>
            <p:cNvSpPr/>
            <p:nvPr/>
          </p:nvSpPr>
          <p:spPr>
            <a:xfrm>
              <a:off x="1304" y="768"/>
              <a:ext cx="136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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Ri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Wingdings 3" panose="05040102010807070707" pitchFamily="18" charset="2"/>
                </a:rPr>
                <a:t>））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Wingdings 3" panose="05040102010807070707" pitchFamily="18" charset="2"/>
              </a:endParaRPr>
            </a:p>
          </p:txBody>
        </p:sp>
      </p:grpSp>
      <p:sp>
        <p:nvSpPr>
          <p:cNvPr id="77838" name="矩形 77837"/>
          <p:cNvSpPr/>
          <p:nvPr/>
        </p:nvSpPr>
        <p:spPr>
          <a:xfrm>
            <a:off x="3400425" y="2952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7" y="3778250"/>
            <a:ext cx="3657600" cy="18288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文本占位符 78850"/>
          <p:cNvSpPr>
            <a:spLocks noGrp="1"/>
          </p:cNvSpPr>
          <p:nvPr>
            <p:ph type="body" idx="1"/>
          </p:nvPr>
        </p:nvSpPr>
        <p:spPr>
          <a:xfrm>
            <a:off x="609600" y="1214755"/>
            <a:ext cx="7924800" cy="3653155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）半字节交换指令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字节单元与累加器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进行低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位的半字节数据交换。只有一条指令。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XCHD  A</a:t>
            </a:r>
            <a:r>
              <a:rPr lang="zh-CN" altLang="en-US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@Ri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  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 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 </a:t>
            </a:r>
          </a:p>
          <a:p>
            <a:pPr algn="just">
              <a:lnSpc>
                <a:spcPct val="90000"/>
              </a:lnSpc>
              <a:buNone/>
            </a:pPr>
            <a:endParaRPr lang="en-US" altLang="zh-CN" sz="24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）累加器高低半字节交换指令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只有一条指令：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				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SWAP  A</a:t>
            </a:r>
          </a:p>
        </p:txBody>
      </p:sp>
      <p:sp>
        <p:nvSpPr>
          <p:cNvPr id="78852" name="矩形 78851"/>
          <p:cNvSpPr/>
          <p:nvPr/>
        </p:nvSpPr>
        <p:spPr>
          <a:xfrm>
            <a:off x="3833813" y="30432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854" name="矩形 78853"/>
          <p:cNvSpPr/>
          <p:nvPr/>
        </p:nvSpPr>
        <p:spPr>
          <a:xfrm>
            <a:off x="3467100" y="30432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419350"/>
            <a:ext cx="3308350" cy="1158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725" y="5032375"/>
            <a:ext cx="2152650" cy="112839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文本占位符 79874"/>
          <p:cNvSpPr>
            <a:spLocks noGrp="1"/>
          </p:cNvSpPr>
          <p:nvPr>
            <p:ph type="body" idx="1"/>
          </p:nvPr>
        </p:nvSpPr>
        <p:spPr>
          <a:xfrm>
            <a:off x="571500" y="1089025"/>
            <a:ext cx="7772400" cy="4871720"/>
          </a:xfrm>
        </p:spPr>
        <p:txBody>
          <a:bodyPr wrap="square"/>
          <a:lstStyle/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3-1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】（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65H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8FH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执行指令：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XCH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@R0  ;(R0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30H,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8FH,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65H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XCHD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@R0;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30H,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6FH,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85H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SWAP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      ;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56H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数据交换指令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XCH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XCHD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SWAP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共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条，如图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3.8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所示。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 </a:t>
            </a: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3.8 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数据交换指令</a:t>
            </a:r>
          </a:p>
          <a:p>
            <a:pPr>
              <a:lnSpc>
                <a:spcPct val="90000"/>
              </a:lnSpc>
              <a:buNone/>
            </a:pPr>
            <a:endParaRPr lang="zh-CN" altLang="en-US" sz="2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9876" name="矩形 79875"/>
          <p:cNvSpPr/>
          <p:nvPr/>
        </p:nvSpPr>
        <p:spPr>
          <a:xfrm>
            <a:off x="3095625" y="28479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3473450"/>
            <a:ext cx="4343400" cy="17145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80897"/>
          <p:cNvSpPr>
            <a:spLocks noGrp="1"/>
          </p:cNvSpPr>
          <p:nvPr>
            <p:ph type="title"/>
          </p:nvPr>
        </p:nvSpPr>
        <p:spPr>
          <a:xfrm>
            <a:off x="1498600" y="219393"/>
            <a:ext cx="6645910" cy="492125"/>
          </a:xfrm>
        </p:spPr>
        <p:txBody>
          <a:bodyPr wrap="square"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3.3.3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算术运算类指令</a:t>
            </a:r>
          </a:p>
        </p:txBody>
      </p:sp>
      <p:sp>
        <p:nvSpPr>
          <p:cNvPr id="80899" name="文本占位符 80898"/>
          <p:cNvSpPr>
            <a:spLocks noGrp="1"/>
          </p:cNvSpPr>
          <p:nvPr>
            <p:ph type="body" idx="1"/>
          </p:nvPr>
        </p:nvSpPr>
        <p:spPr>
          <a:xfrm>
            <a:off x="609600" y="1231900"/>
            <a:ext cx="7772400" cy="381000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．加法指令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加法指令分为普通加法指令、带进位加法指令和加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指令。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）普通加法指令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80900" name="组合 80899"/>
          <p:cNvGrpSpPr/>
          <p:nvPr/>
        </p:nvGrpSpPr>
        <p:grpSpPr>
          <a:xfrm>
            <a:off x="977900" y="2971800"/>
            <a:ext cx="7315200" cy="2438400"/>
            <a:chOff x="43" y="0"/>
            <a:chExt cx="2269" cy="1536"/>
          </a:xfrm>
        </p:grpSpPr>
        <p:sp>
          <p:nvSpPr>
            <p:cNvPr id="80901" name="矩形 80900"/>
            <p:cNvSpPr/>
            <p:nvPr/>
          </p:nvSpPr>
          <p:spPr>
            <a:xfrm>
              <a:off x="43" y="0"/>
              <a:ext cx="47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ADD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02" name="矩形 80901"/>
            <p:cNvSpPr/>
            <p:nvPr/>
          </p:nvSpPr>
          <p:spPr>
            <a:xfrm>
              <a:off x="517" y="0"/>
              <a:ext cx="79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03" name="矩形 80902"/>
            <p:cNvSpPr/>
            <p:nvPr/>
          </p:nvSpPr>
          <p:spPr>
            <a:xfrm>
              <a:off x="1314" y="0"/>
              <a:ext cx="9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0904" name="矩形 80903"/>
            <p:cNvSpPr/>
            <p:nvPr/>
          </p:nvSpPr>
          <p:spPr>
            <a:xfrm>
              <a:off x="43" y="384"/>
              <a:ext cx="47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ADD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05" name="矩形 80904"/>
            <p:cNvSpPr/>
            <p:nvPr/>
          </p:nvSpPr>
          <p:spPr>
            <a:xfrm>
              <a:off x="517" y="384"/>
              <a:ext cx="79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06" name="矩形 80905"/>
            <p:cNvSpPr/>
            <p:nvPr/>
          </p:nvSpPr>
          <p:spPr>
            <a:xfrm>
              <a:off x="1314" y="384"/>
              <a:ext cx="9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0907" name="矩形 80906"/>
            <p:cNvSpPr/>
            <p:nvPr/>
          </p:nvSpPr>
          <p:spPr>
            <a:xfrm>
              <a:off x="43" y="768"/>
              <a:ext cx="47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ADD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08" name="矩形 80907"/>
            <p:cNvSpPr/>
            <p:nvPr/>
          </p:nvSpPr>
          <p:spPr>
            <a:xfrm>
              <a:off x="517" y="768"/>
              <a:ext cx="79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09" name="矩形 80908"/>
            <p:cNvSpPr/>
            <p:nvPr/>
          </p:nvSpPr>
          <p:spPr>
            <a:xfrm>
              <a:off x="1314" y="768"/>
              <a:ext cx="9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;  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（（</a:t>
              </a:r>
              <a:r>
                <a:rPr lang="en-US" altLang="zh-CN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</a:p>
            <a:p>
              <a:pPr algn="just" eaLnBrk="0" hangingPunct="0"/>
              <a:endParaRPr lang="zh-CN" altLang="en-US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0910" name="矩形 80909"/>
            <p:cNvSpPr/>
            <p:nvPr/>
          </p:nvSpPr>
          <p:spPr>
            <a:xfrm>
              <a:off x="43" y="1152"/>
              <a:ext cx="47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ADD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11" name="矩形 80910"/>
            <p:cNvSpPr/>
            <p:nvPr/>
          </p:nvSpPr>
          <p:spPr>
            <a:xfrm>
              <a:off x="517" y="1152"/>
              <a:ext cx="79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0912" name="矩形 80911"/>
            <p:cNvSpPr/>
            <p:nvPr/>
          </p:nvSpPr>
          <p:spPr>
            <a:xfrm>
              <a:off x="1314" y="1152"/>
              <a:ext cx="99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 data</a:t>
              </a:r>
            </a:p>
            <a:p>
              <a:pPr algn="just" eaLnBrk="0" hangingPunct="0"/>
              <a:endParaRPr lang="en-US" altLang="zh-CN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文本占位符 81922"/>
          <p:cNvSpPr>
            <a:spLocks noGrp="1"/>
          </p:cNvSpPr>
          <p:nvPr>
            <p:ph type="body" idx="1"/>
          </p:nvPr>
        </p:nvSpPr>
        <p:spPr>
          <a:xfrm>
            <a:off x="425450" y="1371600"/>
            <a:ext cx="7772400" cy="4317365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3-2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】（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=85H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R0=20H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=0AFH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，执行指令：</a:t>
            </a:r>
          </a:p>
          <a:p>
            <a:pPr algn="ctr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ADD  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@R0</a:t>
            </a:r>
          </a:p>
          <a:p>
            <a:pPr algn="ctr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10000101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	               +10101111</a:t>
            </a:r>
            <a:r>
              <a:rPr lang="en-US" altLang="zh-CN" sz="2400" u="sng" dirty="0">
                <a:solidFill>
                  <a:schemeClr val="tx1"/>
                </a:solidFill>
                <a:latin typeface="宋体" panose="02010600030101010101" pitchFamily="2" charset="-122"/>
              </a:rPr>
              <a:t>              </a:t>
            </a:r>
          </a:p>
          <a:p>
            <a:pPr algn="ctr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1 00110100</a:t>
            </a:r>
          </a:p>
          <a:p>
            <a:pPr algn="ctr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结果：（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=34H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Cy=1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AC=1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OV=1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    对于加法，溢出只能发生在两个加数符号相同的情况。在进行带符号数的加法运算时，溢出标志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OV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是一个重要的编程标志，利用它可以判断两个带符号数相加，和数是否溢出。 </a:t>
            </a:r>
          </a:p>
        </p:txBody>
      </p:sp>
      <p:sp>
        <p:nvSpPr>
          <p:cNvPr id="81924" name="直接连接符 81923"/>
          <p:cNvSpPr/>
          <p:nvPr/>
        </p:nvSpPr>
        <p:spPr>
          <a:xfrm>
            <a:off x="3206750" y="2654300"/>
            <a:ext cx="25908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文本占位符 82946"/>
          <p:cNvSpPr>
            <a:spLocks noGrp="1"/>
          </p:cNvSpPr>
          <p:nvPr>
            <p:ph type="body" idx="1"/>
          </p:nvPr>
        </p:nvSpPr>
        <p:spPr>
          <a:xfrm>
            <a:off x="571500" y="1371600"/>
            <a:ext cx="8153400" cy="4648200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）带进位加法指令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3-3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】（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=85H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=0FFH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Cy=1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执行指令：</a:t>
            </a:r>
          </a:p>
          <a:p>
            <a:pPr algn="ctr">
              <a:buNone/>
            </a:pP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ADDC   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20H</a:t>
            </a: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结果：（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=85H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Cy=1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AC=1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OV=0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</p:txBody>
      </p:sp>
      <p:grpSp>
        <p:nvGrpSpPr>
          <p:cNvPr id="82948" name="组合 82947"/>
          <p:cNvGrpSpPr/>
          <p:nvPr/>
        </p:nvGrpSpPr>
        <p:grpSpPr>
          <a:xfrm>
            <a:off x="762000" y="1981200"/>
            <a:ext cx="7620000" cy="1676400"/>
            <a:chOff x="43" y="0"/>
            <a:chExt cx="2396" cy="1536"/>
          </a:xfrm>
        </p:grpSpPr>
        <p:sp>
          <p:nvSpPr>
            <p:cNvPr id="82949" name="矩形 82948"/>
            <p:cNvSpPr/>
            <p:nvPr/>
          </p:nvSpPr>
          <p:spPr>
            <a:xfrm>
              <a:off x="43" y="0"/>
              <a:ext cx="49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ADDC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50" name="矩形 82949"/>
            <p:cNvSpPr/>
            <p:nvPr/>
          </p:nvSpPr>
          <p:spPr>
            <a:xfrm>
              <a:off x="539" y="0"/>
              <a:ext cx="68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51" name="矩形 82950"/>
            <p:cNvSpPr/>
            <p:nvPr/>
          </p:nvSpPr>
          <p:spPr>
            <a:xfrm>
              <a:off x="1221" y="0"/>
              <a:ext cx="121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952" name="矩形 82951"/>
            <p:cNvSpPr/>
            <p:nvPr/>
          </p:nvSpPr>
          <p:spPr>
            <a:xfrm>
              <a:off x="43" y="384"/>
              <a:ext cx="49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ADDC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53" name="矩形 82952"/>
            <p:cNvSpPr/>
            <p:nvPr/>
          </p:nvSpPr>
          <p:spPr>
            <a:xfrm>
              <a:off x="539" y="384"/>
              <a:ext cx="68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54" name="矩形 82953"/>
            <p:cNvSpPr/>
            <p:nvPr/>
          </p:nvSpPr>
          <p:spPr>
            <a:xfrm>
              <a:off x="1221" y="384"/>
              <a:ext cx="121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955" name="矩形 82954"/>
            <p:cNvSpPr/>
            <p:nvPr/>
          </p:nvSpPr>
          <p:spPr>
            <a:xfrm>
              <a:off x="43" y="768"/>
              <a:ext cx="49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ADDC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56" name="矩形 82955"/>
            <p:cNvSpPr/>
            <p:nvPr/>
          </p:nvSpPr>
          <p:spPr>
            <a:xfrm>
              <a:off x="539" y="768"/>
              <a:ext cx="68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57" name="矩形 82956"/>
            <p:cNvSpPr/>
            <p:nvPr/>
          </p:nvSpPr>
          <p:spPr>
            <a:xfrm>
              <a:off x="1221" y="768"/>
              <a:ext cx="121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2958" name="矩形 82957"/>
            <p:cNvSpPr/>
            <p:nvPr/>
          </p:nvSpPr>
          <p:spPr>
            <a:xfrm>
              <a:off x="43" y="1152"/>
              <a:ext cx="49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ADDC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59" name="矩形 82958"/>
            <p:cNvSpPr/>
            <p:nvPr/>
          </p:nvSpPr>
          <p:spPr>
            <a:xfrm>
              <a:off x="539" y="1152"/>
              <a:ext cx="68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2960" name="矩形 82959"/>
            <p:cNvSpPr/>
            <p:nvPr/>
          </p:nvSpPr>
          <p:spPr>
            <a:xfrm>
              <a:off x="1221" y="1152"/>
              <a:ext cx="1218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 data+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文本占位符 83970"/>
          <p:cNvSpPr>
            <a:spLocks noGrp="1"/>
          </p:cNvSpPr>
          <p:nvPr>
            <p:ph type="body" idx="1"/>
          </p:nvPr>
        </p:nvSpPr>
        <p:spPr>
          <a:xfrm>
            <a:off x="469900" y="471805"/>
            <a:ext cx="8305800" cy="564515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）增量指令</a:t>
            </a: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3-4</a:t>
            </a:r>
            <a:r>
              <a:rPr lang="zh-CN" altLang="en-US" sz="2400" dirty="0">
                <a:solidFill>
                  <a:schemeClr val="tx1"/>
                </a:solidFill>
              </a:rPr>
              <a:t>】（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12H</a:t>
            </a:r>
            <a:r>
              <a:rPr lang="zh-CN" altLang="en-US" sz="2400">
                <a:solidFill>
                  <a:schemeClr val="tx1"/>
                </a:solidFill>
              </a:rPr>
              <a:t>，（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R3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0FH</a:t>
            </a:r>
            <a:r>
              <a:rPr lang="zh-CN" altLang="en-US" sz="2400">
                <a:solidFill>
                  <a:schemeClr val="tx1"/>
                </a:solidFill>
              </a:rPr>
              <a:t>，（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35H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4AH</a:t>
            </a:r>
            <a:r>
              <a:rPr lang="zh-CN" altLang="en-US" sz="2400">
                <a:solidFill>
                  <a:schemeClr val="tx1"/>
                </a:solidFill>
              </a:rPr>
              <a:t>，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56H</a:t>
            </a:r>
            <a:r>
              <a:rPr lang="zh-CN" altLang="en-US" sz="2400">
                <a:solidFill>
                  <a:schemeClr val="tx1"/>
                </a:solidFill>
              </a:rPr>
              <a:t>，（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56H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00H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  执行如下指令：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	               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INC</a:t>
            </a:r>
            <a:r>
              <a:rPr lang="zh-CN" altLang="en-US" sz="2400">
                <a:solidFill>
                  <a:schemeClr val="tx1"/>
                </a:solidFill>
              </a:rPr>
              <a:t>　　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　　　；执行后（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13H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　　　　　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INC</a:t>
            </a:r>
            <a:r>
              <a:rPr lang="zh-CN" altLang="en-US" sz="2400">
                <a:solidFill>
                  <a:schemeClr val="tx1"/>
                </a:solidFill>
              </a:rPr>
              <a:t>　　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R3</a:t>
            </a:r>
            <a:r>
              <a:rPr lang="zh-CN" altLang="en-US" sz="2400">
                <a:solidFill>
                  <a:schemeClr val="tx1"/>
                </a:solidFill>
              </a:rPr>
              <a:t>　　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；执行后（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R3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10H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　　　　　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INC</a:t>
            </a:r>
            <a:r>
              <a:rPr lang="zh-CN" altLang="en-US" sz="2400">
                <a:solidFill>
                  <a:schemeClr val="tx1"/>
                </a:solidFill>
              </a:rPr>
              <a:t>　　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35H</a:t>
            </a:r>
            <a:r>
              <a:rPr lang="zh-CN" altLang="en-US" sz="2400" dirty="0">
                <a:solidFill>
                  <a:schemeClr val="tx1"/>
                </a:solidFill>
              </a:rPr>
              <a:t>　　；执行后（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35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H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4BH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　　　　　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INC</a:t>
            </a:r>
            <a:r>
              <a:rPr lang="zh-CN" altLang="en-US" sz="2400">
                <a:solidFill>
                  <a:schemeClr val="tx1"/>
                </a:solidFill>
              </a:rPr>
              <a:t>　　＠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>
                <a:solidFill>
                  <a:schemeClr val="tx1"/>
                </a:solidFill>
              </a:rPr>
              <a:t>　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；执行后（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56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H</a:t>
            </a:r>
            <a:r>
              <a:rPr lang="zh-CN" altLang="en-US" sz="2400">
                <a:solidFill>
                  <a:schemeClr val="tx1"/>
                </a:solidFill>
              </a:rPr>
              <a:t>）＝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</a:rPr>
              <a:t>01H</a:t>
            </a:r>
            <a:r>
              <a:rPr lang="en-US" altLang="zh-CN" sz="280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83972" name="组合 83971"/>
          <p:cNvGrpSpPr/>
          <p:nvPr/>
        </p:nvGrpSpPr>
        <p:grpSpPr>
          <a:xfrm>
            <a:off x="1219200" y="1219200"/>
            <a:ext cx="6400800" cy="2362200"/>
            <a:chOff x="43" y="0"/>
            <a:chExt cx="2498" cy="1920"/>
          </a:xfrm>
        </p:grpSpPr>
        <p:sp>
          <p:nvSpPr>
            <p:cNvPr id="83973" name="矩形 83972"/>
            <p:cNvSpPr/>
            <p:nvPr/>
          </p:nvSpPr>
          <p:spPr>
            <a:xfrm>
              <a:off x="43" y="0"/>
              <a:ext cx="421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INC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74" name="矩形 83973"/>
            <p:cNvSpPr/>
            <p:nvPr/>
          </p:nvSpPr>
          <p:spPr>
            <a:xfrm>
              <a:off x="464" y="0"/>
              <a:ext cx="7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75" name="矩形 83974"/>
            <p:cNvSpPr/>
            <p:nvPr/>
          </p:nvSpPr>
          <p:spPr>
            <a:xfrm>
              <a:off x="1211" y="0"/>
              <a:ext cx="13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+1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3976" name="矩形 83975"/>
            <p:cNvSpPr/>
            <p:nvPr/>
          </p:nvSpPr>
          <p:spPr>
            <a:xfrm>
              <a:off x="43" y="384"/>
              <a:ext cx="421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INC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77" name="矩形 83976"/>
            <p:cNvSpPr/>
            <p:nvPr/>
          </p:nvSpPr>
          <p:spPr>
            <a:xfrm>
              <a:off x="464" y="384"/>
              <a:ext cx="7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78" name="矩形 83977"/>
            <p:cNvSpPr/>
            <p:nvPr/>
          </p:nvSpPr>
          <p:spPr>
            <a:xfrm>
              <a:off x="1211" y="384"/>
              <a:ext cx="13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+1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3979" name="矩形 83978"/>
            <p:cNvSpPr/>
            <p:nvPr/>
          </p:nvSpPr>
          <p:spPr>
            <a:xfrm>
              <a:off x="43" y="768"/>
              <a:ext cx="421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INC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80" name="矩形 83979"/>
            <p:cNvSpPr/>
            <p:nvPr/>
          </p:nvSpPr>
          <p:spPr>
            <a:xfrm>
              <a:off x="464" y="768"/>
              <a:ext cx="7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81" name="矩形 83980"/>
            <p:cNvSpPr/>
            <p:nvPr/>
          </p:nvSpPr>
          <p:spPr>
            <a:xfrm>
              <a:off x="1211" y="768"/>
              <a:ext cx="13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direct 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+1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3982" name="矩形 83981"/>
            <p:cNvSpPr/>
            <p:nvPr/>
          </p:nvSpPr>
          <p:spPr>
            <a:xfrm>
              <a:off x="43" y="1152"/>
              <a:ext cx="421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INC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83" name="矩形 83982"/>
            <p:cNvSpPr/>
            <p:nvPr/>
          </p:nvSpPr>
          <p:spPr>
            <a:xfrm>
              <a:off x="464" y="1152"/>
              <a:ext cx="7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84" name="矩形 83983"/>
            <p:cNvSpPr/>
            <p:nvPr/>
          </p:nvSpPr>
          <p:spPr>
            <a:xfrm>
              <a:off x="1211" y="1152"/>
              <a:ext cx="13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Ri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+1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3985" name="矩形 83984"/>
            <p:cNvSpPr/>
            <p:nvPr/>
          </p:nvSpPr>
          <p:spPr>
            <a:xfrm>
              <a:off x="43" y="1536"/>
              <a:ext cx="421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INC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86" name="矩形 83985"/>
            <p:cNvSpPr/>
            <p:nvPr/>
          </p:nvSpPr>
          <p:spPr>
            <a:xfrm>
              <a:off x="464" y="1536"/>
              <a:ext cx="7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DPTR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3987" name="矩形 83986"/>
            <p:cNvSpPr/>
            <p:nvPr/>
          </p:nvSpPr>
          <p:spPr>
            <a:xfrm>
              <a:off x="1211" y="1536"/>
              <a:ext cx="13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DPTR 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DPTR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+1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文本占位符 84994"/>
          <p:cNvSpPr>
            <a:spLocks noGrp="1"/>
          </p:cNvSpPr>
          <p:nvPr>
            <p:ph type="body" idx="1"/>
          </p:nvPr>
        </p:nvSpPr>
        <p:spPr>
          <a:xfrm>
            <a:off x="444500" y="1155700"/>
            <a:ext cx="7924800" cy="5486400"/>
          </a:xfrm>
        </p:spPr>
        <p:txBody>
          <a:bodyPr/>
          <a:lstStyle/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）十进制调整指令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			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DA  A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执行该指令时，判断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中的低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位是否大于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，若满足大于则低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位做加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操作；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同样，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中的高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位大于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则高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位加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操作。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例如：有两个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数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45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相加，结果应为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，程序如下：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			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MOV  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#36H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			ADD  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#45H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				DA   A</a:t>
            </a:r>
          </a:p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得结果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7BH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；第三条指令对累加器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进行十进制调整，低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位（为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0BH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）大于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，因此要加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，最后得到调整的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文本占位符 87042"/>
          <p:cNvSpPr>
            <a:spLocks noGrp="1"/>
          </p:cNvSpPr>
          <p:nvPr>
            <p:ph type="body" idx="4294967295"/>
          </p:nvPr>
        </p:nvSpPr>
        <p:spPr>
          <a:xfrm>
            <a:off x="685800" y="990600"/>
            <a:ext cx="8153400" cy="2954655"/>
          </a:xfrm>
        </p:spPr>
        <p:txBody>
          <a:bodyPr/>
          <a:lstStyle/>
          <a:p>
            <a:pPr algn="just"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(A)=01010110BCD (56)</a:t>
            </a:r>
          </a:p>
          <a:p>
            <a:pPr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  (R3)=01100111BCD (67)</a:t>
            </a:r>
          </a:p>
          <a:p>
            <a:pPr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  CY=1</a:t>
            </a:r>
          </a:p>
          <a:p>
            <a:pPr>
              <a:buNone/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则执行下列指令：</a:t>
            </a: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  ADDC  A,R3</a:t>
            </a:r>
          </a:p>
          <a:p>
            <a:pPr>
              <a:buNone/>
            </a:pP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  DA  A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3" name="矩形 2"/>
          <p:cNvSpPr/>
          <p:nvPr/>
        </p:nvSpPr>
        <p:spPr>
          <a:xfrm>
            <a:off x="3566326" y="3050808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</a:rPr>
              <a:t>;A=10111110,CY=0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3556801" y="3498032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</a:rPr>
              <a:t>;+66H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A=00100100,CY=1,</a:t>
            </a:r>
            <a:r>
              <a:rPr lang="zh-CN" altLang="en-US" sz="2800" dirty="0">
                <a:latin typeface="宋体" panose="02010600030101010101" pitchFamily="2" charset="-122"/>
              </a:rPr>
              <a:t>即</a:t>
            </a:r>
            <a:r>
              <a:rPr lang="en-US" altLang="zh-CN" sz="2800" dirty="0">
                <a:latin typeface="宋体" panose="02010600030101010101" pitchFamily="2" charset="-122"/>
              </a:rPr>
              <a:t>124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9029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文本占位符 86018"/>
          <p:cNvSpPr>
            <a:spLocks noGrp="1"/>
          </p:cNvSpPr>
          <p:nvPr>
            <p:ph type="body" idx="1"/>
          </p:nvPr>
        </p:nvSpPr>
        <p:spPr>
          <a:xfrm>
            <a:off x="685800" y="1149350"/>
            <a:ext cx="7772400" cy="2988945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 减法指令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）带进位减法指令 </a:t>
            </a: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）减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指令 </a:t>
            </a:r>
          </a:p>
        </p:txBody>
      </p:sp>
      <p:grpSp>
        <p:nvGrpSpPr>
          <p:cNvPr id="86020" name="组合 86019"/>
          <p:cNvGrpSpPr/>
          <p:nvPr/>
        </p:nvGrpSpPr>
        <p:grpSpPr>
          <a:xfrm>
            <a:off x="1371600" y="2019300"/>
            <a:ext cx="6629400" cy="1524000"/>
            <a:chOff x="43" y="0"/>
            <a:chExt cx="2499" cy="1536"/>
          </a:xfrm>
        </p:grpSpPr>
        <p:sp>
          <p:nvSpPr>
            <p:cNvPr id="86021" name="矩形 86020"/>
            <p:cNvSpPr/>
            <p:nvPr/>
          </p:nvSpPr>
          <p:spPr>
            <a:xfrm>
              <a:off x="43" y="0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SUBB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22" name="矩形 86021"/>
            <p:cNvSpPr/>
            <p:nvPr/>
          </p:nvSpPr>
          <p:spPr>
            <a:xfrm>
              <a:off x="590" y="0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6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23" name="矩形 86022"/>
            <p:cNvSpPr/>
            <p:nvPr/>
          </p:nvSpPr>
          <p:spPr>
            <a:xfrm>
              <a:off x="1220" y="0"/>
              <a:ext cx="13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16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）－（</a:t>
              </a:r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）－（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16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24" name="矩形 86023"/>
            <p:cNvSpPr/>
            <p:nvPr/>
          </p:nvSpPr>
          <p:spPr>
            <a:xfrm>
              <a:off x="43" y="384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SUBB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25" name="矩形 86024"/>
            <p:cNvSpPr/>
            <p:nvPr/>
          </p:nvSpPr>
          <p:spPr>
            <a:xfrm>
              <a:off x="590" y="384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26" name="矩形 86025"/>
            <p:cNvSpPr/>
            <p:nvPr/>
          </p:nvSpPr>
          <p:spPr>
            <a:xfrm>
              <a:off x="1220" y="384"/>
              <a:ext cx="13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）－（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）－（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16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27" name="矩形 86026"/>
            <p:cNvSpPr/>
            <p:nvPr/>
          </p:nvSpPr>
          <p:spPr>
            <a:xfrm>
              <a:off x="43" y="768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SUBB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28" name="矩形 86027"/>
            <p:cNvSpPr/>
            <p:nvPr/>
          </p:nvSpPr>
          <p:spPr>
            <a:xfrm>
              <a:off x="590" y="768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6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29" name="矩形 86028"/>
            <p:cNvSpPr/>
            <p:nvPr/>
          </p:nvSpPr>
          <p:spPr>
            <a:xfrm>
              <a:off x="1220" y="768"/>
              <a:ext cx="13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16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）－（</a:t>
              </a:r>
              <a:r>
                <a:rPr lang="en-US" altLang="zh-CN" sz="16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）－（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16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30" name="矩形 86029"/>
            <p:cNvSpPr/>
            <p:nvPr/>
          </p:nvSpPr>
          <p:spPr>
            <a:xfrm>
              <a:off x="43" y="1152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SUBB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31" name="矩形 86030"/>
            <p:cNvSpPr/>
            <p:nvPr/>
          </p:nvSpPr>
          <p:spPr>
            <a:xfrm>
              <a:off x="590" y="1152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32" name="矩形 86031"/>
            <p:cNvSpPr/>
            <p:nvPr/>
          </p:nvSpPr>
          <p:spPr>
            <a:xfrm>
              <a:off x="1220" y="1152"/>
              <a:ext cx="132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data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－（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16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6033" name="组合 86032"/>
          <p:cNvGrpSpPr/>
          <p:nvPr/>
        </p:nvGrpSpPr>
        <p:grpSpPr>
          <a:xfrm>
            <a:off x="1066800" y="4343400"/>
            <a:ext cx="7239000" cy="1828800"/>
            <a:chOff x="43" y="0"/>
            <a:chExt cx="2430" cy="1536"/>
          </a:xfrm>
        </p:grpSpPr>
        <p:sp>
          <p:nvSpPr>
            <p:cNvPr id="86034" name="矩形 86033"/>
            <p:cNvSpPr/>
            <p:nvPr/>
          </p:nvSpPr>
          <p:spPr>
            <a:xfrm>
              <a:off x="43" y="0"/>
              <a:ext cx="51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DEC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35" name="矩形 86034"/>
            <p:cNvSpPr/>
            <p:nvPr/>
          </p:nvSpPr>
          <p:spPr>
            <a:xfrm>
              <a:off x="556" y="0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36" name="矩形 86035"/>
            <p:cNvSpPr/>
            <p:nvPr/>
          </p:nvSpPr>
          <p:spPr>
            <a:xfrm>
              <a:off x="1186" y="0"/>
              <a:ext cx="128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37" name="矩形 86036"/>
            <p:cNvSpPr/>
            <p:nvPr/>
          </p:nvSpPr>
          <p:spPr>
            <a:xfrm>
              <a:off x="43" y="384"/>
              <a:ext cx="51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DEC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38" name="矩形 86037"/>
            <p:cNvSpPr/>
            <p:nvPr/>
          </p:nvSpPr>
          <p:spPr>
            <a:xfrm>
              <a:off x="556" y="384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39" name="矩形 86038"/>
            <p:cNvSpPr/>
            <p:nvPr/>
          </p:nvSpPr>
          <p:spPr>
            <a:xfrm>
              <a:off x="1186" y="384"/>
              <a:ext cx="128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40" name="矩形 86039"/>
            <p:cNvSpPr/>
            <p:nvPr/>
          </p:nvSpPr>
          <p:spPr>
            <a:xfrm>
              <a:off x="43" y="768"/>
              <a:ext cx="51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DEC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41" name="矩形 86040"/>
            <p:cNvSpPr/>
            <p:nvPr/>
          </p:nvSpPr>
          <p:spPr>
            <a:xfrm>
              <a:off x="556" y="768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42" name="矩形 86041"/>
            <p:cNvSpPr/>
            <p:nvPr/>
          </p:nvSpPr>
          <p:spPr>
            <a:xfrm>
              <a:off x="1186" y="768"/>
              <a:ext cx="128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）－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43" name="矩形 86042"/>
            <p:cNvSpPr/>
            <p:nvPr/>
          </p:nvSpPr>
          <p:spPr>
            <a:xfrm>
              <a:off x="43" y="1152"/>
              <a:ext cx="51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DEC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44" name="矩形 86043"/>
            <p:cNvSpPr/>
            <p:nvPr/>
          </p:nvSpPr>
          <p:spPr>
            <a:xfrm>
              <a:off x="556" y="1152"/>
              <a:ext cx="63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6045" name="矩形 86044"/>
            <p:cNvSpPr/>
            <p:nvPr/>
          </p:nvSpPr>
          <p:spPr>
            <a:xfrm>
              <a:off x="1186" y="1152"/>
              <a:ext cx="128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））－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  <a:p>
              <a:pPr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文本占位符 87042"/>
          <p:cNvSpPr>
            <a:spLocks noGrp="1"/>
          </p:cNvSpPr>
          <p:nvPr>
            <p:ph type="body" idx="1"/>
          </p:nvPr>
        </p:nvSpPr>
        <p:spPr>
          <a:xfrm>
            <a:off x="685800" y="990600"/>
            <a:ext cx="7772400" cy="5105400"/>
          </a:xfrm>
        </p:spPr>
        <p:txBody>
          <a:bodyPr/>
          <a:lstStyle/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3.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乘法指令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乘法指令完成单字节的乘法，只有一条指令：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			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MUL  AB</a:t>
            </a:r>
          </a:p>
          <a:p>
            <a:pPr algn="just"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注意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OV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CY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标志位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3-5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】（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50H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0A0H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，执行指令：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			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MUL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AB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结果：（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32H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（即乘积为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3200H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）， 		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Cy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OV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 algn="just"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 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4.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除法指令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除法指令完成单字节的除法，只有一条指令：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  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DIV  AB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</a:p>
          <a:p>
            <a:pPr algn="just"/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注意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OV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CY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标志位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文本占位符 88066"/>
          <p:cNvSpPr>
            <a:spLocks noGrp="1"/>
          </p:cNvSpPr>
          <p:nvPr>
            <p:ph type="body" idx="1"/>
          </p:nvPr>
        </p:nvSpPr>
        <p:spPr>
          <a:xfrm>
            <a:off x="685800" y="1085215"/>
            <a:ext cx="7772400" cy="525526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算术运算类指令包括：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ADD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ADDC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SUBB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MUL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DIV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INC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DEC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，如图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3.9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所示。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</a:rPr>
              <a:t>3.9  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算术运算类指令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8068" name="矩形 88067"/>
          <p:cNvSpPr/>
          <p:nvPr/>
        </p:nvSpPr>
        <p:spPr>
          <a:xfrm>
            <a:off x="2447925" y="19288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465" y="2132330"/>
            <a:ext cx="6183630" cy="371538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89089"/>
          <p:cNvSpPr>
            <a:spLocks noGrp="1"/>
          </p:cNvSpPr>
          <p:nvPr>
            <p:ph type="title"/>
          </p:nvPr>
        </p:nvSpPr>
        <p:spPr>
          <a:xfrm>
            <a:off x="1498600" y="219393"/>
            <a:ext cx="6347460" cy="492125"/>
          </a:xfrm>
        </p:spPr>
        <p:txBody>
          <a:bodyPr wrap="square"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3.3.4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逻辑运算指令</a:t>
            </a:r>
          </a:p>
        </p:txBody>
      </p:sp>
      <p:sp>
        <p:nvSpPr>
          <p:cNvPr id="89091" name="文本占位符 89090"/>
          <p:cNvSpPr>
            <a:spLocks noGrp="1"/>
          </p:cNvSpPr>
          <p:nvPr>
            <p:ph type="body" idx="1"/>
          </p:nvPr>
        </p:nvSpPr>
        <p:spPr>
          <a:xfrm>
            <a:off x="457200" y="1120140"/>
            <a:ext cx="8229600" cy="452628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 简单逻辑操作指令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89092" name="组合 89091"/>
          <p:cNvGrpSpPr/>
          <p:nvPr/>
        </p:nvGrpSpPr>
        <p:grpSpPr>
          <a:xfrm>
            <a:off x="679450" y="1822450"/>
            <a:ext cx="8077200" cy="2743200"/>
            <a:chOff x="43" y="0"/>
            <a:chExt cx="3017" cy="2304"/>
          </a:xfrm>
        </p:grpSpPr>
        <p:sp>
          <p:nvSpPr>
            <p:cNvPr id="89093" name="矩形 89092"/>
            <p:cNvSpPr/>
            <p:nvPr/>
          </p:nvSpPr>
          <p:spPr>
            <a:xfrm>
              <a:off x="43" y="0"/>
              <a:ext cx="46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CLR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094" name="矩形 89093"/>
            <p:cNvSpPr/>
            <p:nvPr/>
          </p:nvSpPr>
          <p:spPr>
            <a:xfrm>
              <a:off x="512" y="0"/>
              <a:ext cx="5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095" name="矩形 89094"/>
            <p:cNvSpPr/>
            <p:nvPr/>
          </p:nvSpPr>
          <p:spPr>
            <a:xfrm>
              <a:off x="1026" y="0"/>
              <a:ext cx="20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；对累加器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清“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0”</a:t>
              </a:r>
            </a:p>
            <a:p>
              <a:pPr algn="just" eaLnBrk="0" hangingPunct="0"/>
              <a:endParaRPr lang="en-US" altLang="zh-CN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096" name="矩形 89095"/>
            <p:cNvSpPr/>
            <p:nvPr/>
          </p:nvSpPr>
          <p:spPr>
            <a:xfrm>
              <a:off x="43" y="384"/>
              <a:ext cx="46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CPL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097" name="矩形 89096"/>
            <p:cNvSpPr/>
            <p:nvPr/>
          </p:nvSpPr>
          <p:spPr>
            <a:xfrm>
              <a:off x="512" y="384"/>
              <a:ext cx="5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098" name="矩形 89097"/>
            <p:cNvSpPr/>
            <p:nvPr/>
          </p:nvSpPr>
          <p:spPr>
            <a:xfrm>
              <a:off x="1026" y="384"/>
              <a:ext cx="20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；对累加器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按位取反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099" name="矩形 89098"/>
            <p:cNvSpPr/>
            <p:nvPr/>
          </p:nvSpPr>
          <p:spPr>
            <a:xfrm>
              <a:off x="43" y="768"/>
              <a:ext cx="46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0" name="矩形 89099"/>
            <p:cNvSpPr/>
            <p:nvPr/>
          </p:nvSpPr>
          <p:spPr>
            <a:xfrm>
              <a:off x="512" y="768"/>
              <a:ext cx="5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1" name="矩形 89100"/>
            <p:cNvSpPr/>
            <p:nvPr/>
          </p:nvSpPr>
          <p:spPr>
            <a:xfrm>
              <a:off x="1026" y="768"/>
              <a:ext cx="20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；累加器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的内容向左循环移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位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2" name="矩形 89101"/>
            <p:cNvSpPr/>
            <p:nvPr/>
          </p:nvSpPr>
          <p:spPr>
            <a:xfrm>
              <a:off x="43" y="1152"/>
              <a:ext cx="46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RLC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3" name="矩形 89102"/>
            <p:cNvSpPr/>
            <p:nvPr/>
          </p:nvSpPr>
          <p:spPr>
            <a:xfrm>
              <a:off x="512" y="1152"/>
              <a:ext cx="5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4" name="矩形 89103"/>
            <p:cNvSpPr/>
            <p:nvPr/>
          </p:nvSpPr>
          <p:spPr>
            <a:xfrm>
              <a:off x="1026" y="1152"/>
              <a:ext cx="20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；累加器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的内容带进位标志向左循环移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位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5" name="矩形 89104"/>
            <p:cNvSpPr/>
            <p:nvPr/>
          </p:nvSpPr>
          <p:spPr>
            <a:xfrm>
              <a:off x="43" y="1536"/>
              <a:ext cx="46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RR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6" name="矩形 89105"/>
            <p:cNvSpPr/>
            <p:nvPr/>
          </p:nvSpPr>
          <p:spPr>
            <a:xfrm>
              <a:off x="512" y="1536"/>
              <a:ext cx="5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7" name="矩形 89106"/>
            <p:cNvSpPr/>
            <p:nvPr/>
          </p:nvSpPr>
          <p:spPr>
            <a:xfrm>
              <a:off x="1026" y="1536"/>
              <a:ext cx="20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；累加器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的内容向右循环移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位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8" name="矩形 89107"/>
            <p:cNvSpPr/>
            <p:nvPr/>
          </p:nvSpPr>
          <p:spPr>
            <a:xfrm>
              <a:off x="43" y="1920"/>
              <a:ext cx="46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RRC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09" name="矩形 89108"/>
            <p:cNvSpPr/>
            <p:nvPr/>
          </p:nvSpPr>
          <p:spPr>
            <a:xfrm>
              <a:off x="512" y="1920"/>
              <a:ext cx="5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89110" name="矩形 89109"/>
            <p:cNvSpPr/>
            <p:nvPr/>
          </p:nvSpPr>
          <p:spPr>
            <a:xfrm>
              <a:off x="1026" y="1920"/>
              <a:ext cx="20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；累加器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的内容带进位标志向右循环移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位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7" name="矩形 90116"/>
          <p:cNvSpPr/>
          <p:nvPr/>
        </p:nvSpPr>
        <p:spPr>
          <a:xfrm>
            <a:off x="3238500" y="3186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19" name="矩形 90118"/>
          <p:cNvSpPr/>
          <p:nvPr/>
        </p:nvSpPr>
        <p:spPr>
          <a:xfrm>
            <a:off x="2957513" y="32051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21" name="矩形 90120"/>
          <p:cNvSpPr/>
          <p:nvPr/>
        </p:nvSpPr>
        <p:spPr>
          <a:xfrm>
            <a:off x="2890838" y="3195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l="10586" r="40271"/>
          <a:stretch>
            <a:fillRect/>
          </a:stretch>
        </p:blipFill>
        <p:spPr>
          <a:xfrm>
            <a:off x="2006600" y="1120775"/>
            <a:ext cx="5748020" cy="5492750"/>
          </a:xfrm>
          <a:prstGeom prst="rect">
            <a:avLst/>
          </a:prstGeom>
        </p:spPr>
      </p:pic>
      <p:sp>
        <p:nvSpPr>
          <p:cNvPr id="19" name="灯片编号占位符 1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文本占位符 91138"/>
          <p:cNvSpPr>
            <a:spLocks noGrp="1"/>
          </p:cNvSpPr>
          <p:nvPr>
            <p:ph type="body" idx="1"/>
          </p:nvPr>
        </p:nvSpPr>
        <p:spPr>
          <a:xfrm>
            <a:off x="499745" y="1047750"/>
            <a:ext cx="7772400" cy="498221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2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．逻辑与指令 </a:t>
            </a: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</a:rPr>
              <a:t>3-6</a:t>
            </a:r>
            <a:r>
              <a:rPr lang="zh-CN" altLang="en-US" sz="2400" dirty="0">
                <a:solidFill>
                  <a:schemeClr val="tx1"/>
                </a:solidFill>
              </a:rPr>
              <a:t>】（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</a:rPr>
              <a:t>37H</a:t>
            </a:r>
            <a:r>
              <a:rPr lang="zh-CN" altLang="en-US" sz="2400" dirty="0">
                <a:solidFill>
                  <a:schemeClr val="tx1"/>
                </a:solidFill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</a:rPr>
              <a:t>R0</a:t>
            </a:r>
            <a:r>
              <a:rPr lang="zh-CN" altLang="en-US" sz="2400" dirty="0">
                <a:solidFill>
                  <a:schemeClr val="tx1"/>
                </a:solidFill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</a:rPr>
              <a:t>0A9H</a:t>
            </a:r>
            <a:r>
              <a:rPr lang="zh-CN" altLang="en-US" sz="2400" dirty="0">
                <a:solidFill>
                  <a:schemeClr val="tx1"/>
                </a:solidFill>
              </a:rPr>
              <a:t>　执行指令：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                   </a:t>
            </a:r>
            <a:r>
              <a:rPr lang="en-US" altLang="zh-CN" sz="2400">
                <a:solidFill>
                  <a:schemeClr val="tx1"/>
                </a:solidFill>
              </a:rPr>
              <a:t>ANL</a:t>
            </a:r>
            <a:r>
              <a:rPr lang="zh-CN" altLang="en-US" sz="2400">
                <a:solidFill>
                  <a:schemeClr val="tx1"/>
                </a:solidFill>
              </a:rPr>
              <a:t>　</a:t>
            </a:r>
            <a:r>
              <a:rPr lang="en-US" altLang="zh-CN" sz="2400">
                <a:solidFill>
                  <a:schemeClr val="tx1"/>
                </a:solidFill>
              </a:rPr>
              <a:t>A</a:t>
            </a:r>
            <a:r>
              <a:rPr lang="zh-CN" altLang="en-US" sz="2400">
                <a:solidFill>
                  <a:schemeClr val="tx1"/>
                </a:solidFill>
              </a:rPr>
              <a:t>，</a:t>
            </a:r>
            <a:r>
              <a:rPr lang="en-US" altLang="zh-CN" sz="2400">
                <a:solidFill>
                  <a:schemeClr val="tx1"/>
                </a:solidFill>
              </a:rPr>
              <a:t>R0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结果：（</a:t>
            </a:r>
            <a:r>
              <a:rPr lang="en-US" altLang="zh-CN" sz="2400">
                <a:solidFill>
                  <a:schemeClr val="tx1"/>
                </a:solidFill>
              </a:rPr>
              <a:t>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>
                <a:solidFill>
                  <a:schemeClr val="tx1"/>
                </a:solidFill>
              </a:rPr>
              <a:t>21H </a:t>
            </a:r>
          </a:p>
        </p:txBody>
      </p:sp>
      <p:grpSp>
        <p:nvGrpSpPr>
          <p:cNvPr id="91140" name="组合 91139"/>
          <p:cNvGrpSpPr/>
          <p:nvPr/>
        </p:nvGrpSpPr>
        <p:grpSpPr>
          <a:xfrm>
            <a:off x="914400" y="1981200"/>
            <a:ext cx="7086600" cy="2362200"/>
            <a:chOff x="43" y="0"/>
            <a:chExt cx="2915" cy="2304"/>
          </a:xfrm>
        </p:grpSpPr>
        <p:sp>
          <p:nvSpPr>
            <p:cNvPr id="91141" name="矩形 91140"/>
            <p:cNvSpPr/>
            <p:nvPr/>
          </p:nvSpPr>
          <p:spPr>
            <a:xfrm>
              <a:off x="43" y="0"/>
              <a:ext cx="60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ANL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42" name="矩形 91141"/>
            <p:cNvSpPr/>
            <p:nvPr/>
          </p:nvSpPr>
          <p:spPr>
            <a:xfrm>
              <a:off x="649" y="0"/>
              <a:ext cx="101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43" name="矩形 91142"/>
            <p:cNvSpPr/>
            <p:nvPr/>
          </p:nvSpPr>
          <p:spPr>
            <a:xfrm>
              <a:off x="1666" y="0"/>
              <a:ext cx="129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44" name="矩形 91143"/>
            <p:cNvSpPr/>
            <p:nvPr/>
          </p:nvSpPr>
          <p:spPr>
            <a:xfrm>
              <a:off x="43" y="384"/>
              <a:ext cx="60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ANL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45" name="矩形 91144"/>
            <p:cNvSpPr/>
            <p:nvPr/>
          </p:nvSpPr>
          <p:spPr>
            <a:xfrm>
              <a:off x="649" y="384"/>
              <a:ext cx="101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46" name="矩形 91145"/>
            <p:cNvSpPr/>
            <p:nvPr/>
          </p:nvSpPr>
          <p:spPr>
            <a:xfrm>
              <a:off x="1666" y="384"/>
              <a:ext cx="129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47" name="矩形 91146"/>
            <p:cNvSpPr/>
            <p:nvPr/>
          </p:nvSpPr>
          <p:spPr>
            <a:xfrm>
              <a:off x="43" y="768"/>
              <a:ext cx="60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ANL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48" name="矩形 91147"/>
            <p:cNvSpPr/>
            <p:nvPr/>
          </p:nvSpPr>
          <p:spPr>
            <a:xfrm>
              <a:off x="649" y="768"/>
              <a:ext cx="101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49" name="矩形 91148"/>
            <p:cNvSpPr/>
            <p:nvPr/>
          </p:nvSpPr>
          <p:spPr>
            <a:xfrm>
              <a:off x="1666" y="768"/>
              <a:ext cx="129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</a:p>
            <a:p>
              <a:pPr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50" name="矩形 91149"/>
            <p:cNvSpPr/>
            <p:nvPr/>
          </p:nvSpPr>
          <p:spPr>
            <a:xfrm>
              <a:off x="43" y="1152"/>
              <a:ext cx="60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ANL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51" name="矩形 91150"/>
            <p:cNvSpPr/>
            <p:nvPr/>
          </p:nvSpPr>
          <p:spPr>
            <a:xfrm>
              <a:off x="649" y="1152"/>
              <a:ext cx="101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52" name="矩形 91151"/>
            <p:cNvSpPr/>
            <p:nvPr/>
          </p:nvSpPr>
          <p:spPr>
            <a:xfrm>
              <a:off x="1666" y="1152"/>
              <a:ext cx="129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53" name="矩形 91152"/>
            <p:cNvSpPr/>
            <p:nvPr/>
          </p:nvSpPr>
          <p:spPr>
            <a:xfrm>
              <a:off x="43" y="1536"/>
              <a:ext cx="60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ANL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54" name="矩形 91153"/>
            <p:cNvSpPr/>
            <p:nvPr/>
          </p:nvSpPr>
          <p:spPr>
            <a:xfrm>
              <a:off x="649" y="1536"/>
              <a:ext cx="101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55" name="矩形 91154"/>
            <p:cNvSpPr/>
            <p:nvPr/>
          </p:nvSpPr>
          <p:spPr>
            <a:xfrm>
              <a:off x="1666" y="1536"/>
              <a:ext cx="129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56" name="矩形 91155"/>
            <p:cNvSpPr/>
            <p:nvPr/>
          </p:nvSpPr>
          <p:spPr>
            <a:xfrm>
              <a:off x="43" y="1920"/>
              <a:ext cx="60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ANL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57" name="矩形 91156"/>
            <p:cNvSpPr/>
            <p:nvPr/>
          </p:nvSpPr>
          <p:spPr>
            <a:xfrm>
              <a:off x="649" y="1920"/>
              <a:ext cx="101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1158" name="矩形 91157"/>
            <p:cNvSpPr/>
            <p:nvPr/>
          </p:nvSpPr>
          <p:spPr>
            <a:xfrm>
              <a:off x="1666" y="1920"/>
              <a:ext cx="129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文本占位符 92162"/>
          <p:cNvSpPr>
            <a:spLocks noGrp="1"/>
          </p:cNvSpPr>
          <p:nvPr>
            <p:ph type="body" idx="1"/>
          </p:nvPr>
        </p:nvSpPr>
        <p:spPr>
          <a:xfrm>
            <a:off x="603250" y="1130300"/>
            <a:ext cx="7772400" cy="498221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 逻辑或指令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</a:rPr>
              <a:t>3-7</a:t>
            </a:r>
            <a:r>
              <a:rPr lang="zh-CN" altLang="en-US" sz="2400" dirty="0">
                <a:solidFill>
                  <a:schemeClr val="tx1"/>
                </a:solidFill>
              </a:rPr>
              <a:t>】（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</a:rPr>
              <a:t>37H</a:t>
            </a:r>
            <a:r>
              <a:rPr lang="zh-CN" altLang="en-US" sz="2400" dirty="0">
                <a:solidFill>
                  <a:schemeClr val="tx1"/>
                </a:solidFill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</a:rPr>
              <a:t>P1</a:t>
            </a:r>
            <a:r>
              <a:rPr lang="zh-CN" altLang="en-US" sz="2400" dirty="0">
                <a:solidFill>
                  <a:schemeClr val="tx1"/>
                </a:solidFill>
              </a:rPr>
              <a:t>）＝</a:t>
            </a:r>
            <a:r>
              <a:rPr lang="en-US" altLang="zh-CN" sz="2400" dirty="0">
                <a:solidFill>
                  <a:schemeClr val="tx1"/>
                </a:solidFill>
              </a:rPr>
              <a:t>09H</a:t>
            </a:r>
            <a:r>
              <a:rPr lang="zh-CN" altLang="en-US" sz="2400" dirty="0">
                <a:solidFill>
                  <a:schemeClr val="tx1"/>
                </a:solidFill>
              </a:rPr>
              <a:t>　执行指令：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			</a:t>
            </a:r>
            <a:r>
              <a:rPr lang="en-US" altLang="zh-CN" sz="2400">
                <a:solidFill>
                  <a:schemeClr val="tx1"/>
                </a:solidFill>
              </a:rPr>
              <a:t>ORL</a:t>
            </a:r>
            <a:r>
              <a:rPr lang="zh-CN" altLang="en-US" sz="2400">
                <a:solidFill>
                  <a:schemeClr val="tx1"/>
                </a:solidFill>
              </a:rPr>
              <a:t>　</a:t>
            </a:r>
            <a:r>
              <a:rPr lang="en-US" altLang="zh-CN" sz="2400">
                <a:solidFill>
                  <a:schemeClr val="tx1"/>
                </a:solidFill>
              </a:rPr>
              <a:t>P1</a:t>
            </a:r>
            <a:r>
              <a:rPr lang="zh-CN" altLang="en-US" sz="2400">
                <a:solidFill>
                  <a:schemeClr val="tx1"/>
                </a:solidFill>
              </a:rPr>
              <a:t>，</a:t>
            </a:r>
            <a:r>
              <a:rPr lang="en-US" altLang="zh-CN" sz="2400">
                <a:solidFill>
                  <a:schemeClr val="tx1"/>
                </a:solidFill>
              </a:rPr>
              <a:t>A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结果：（</a:t>
            </a:r>
            <a:r>
              <a:rPr lang="en-US" altLang="zh-CN" sz="2400">
                <a:solidFill>
                  <a:schemeClr val="tx1"/>
                </a:solidFill>
              </a:rPr>
              <a:t>A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</a:rPr>
              <a:t>）＝</a:t>
            </a:r>
            <a:r>
              <a:rPr lang="en-US" altLang="zh-CN" sz="2400">
                <a:solidFill>
                  <a:schemeClr val="tx1"/>
                </a:solidFill>
              </a:rPr>
              <a:t>3FH </a:t>
            </a:r>
          </a:p>
        </p:txBody>
      </p:sp>
      <p:grpSp>
        <p:nvGrpSpPr>
          <p:cNvPr id="92164" name="组合 92163"/>
          <p:cNvGrpSpPr/>
          <p:nvPr/>
        </p:nvGrpSpPr>
        <p:grpSpPr>
          <a:xfrm>
            <a:off x="1219200" y="1905000"/>
            <a:ext cx="6934200" cy="2514600"/>
            <a:chOff x="43" y="0"/>
            <a:chExt cx="2604" cy="2304"/>
          </a:xfrm>
        </p:grpSpPr>
        <p:sp>
          <p:nvSpPr>
            <p:cNvPr id="92165" name="矩形 92164"/>
            <p:cNvSpPr/>
            <p:nvPr/>
          </p:nvSpPr>
          <p:spPr>
            <a:xfrm>
              <a:off x="43" y="0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ORL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66" name="矩形 92165"/>
            <p:cNvSpPr/>
            <p:nvPr/>
          </p:nvSpPr>
          <p:spPr>
            <a:xfrm>
              <a:off x="552" y="0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67" name="矩形 92166"/>
            <p:cNvSpPr/>
            <p:nvPr/>
          </p:nvSpPr>
          <p:spPr>
            <a:xfrm>
              <a:off x="1387" y="0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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2168" name="矩形 92167"/>
            <p:cNvSpPr/>
            <p:nvPr/>
          </p:nvSpPr>
          <p:spPr>
            <a:xfrm>
              <a:off x="43" y="384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ORL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69" name="矩形 92168"/>
            <p:cNvSpPr/>
            <p:nvPr/>
          </p:nvSpPr>
          <p:spPr>
            <a:xfrm>
              <a:off x="552" y="384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70" name="矩形 92169"/>
            <p:cNvSpPr/>
            <p:nvPr/>
          </p:nvSpPr>
          <p:spPr>
            <a:xfrm>
              <a:off x="1387" y="384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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2171" name="矩形 92170"/>
            <p:cNvSpPr/>
            <p:nvPr/>
          </p:nvSpPr>
          <p:spPr>
            <a:xfrm>
              <a:off x="43" y="768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ORL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72" name="矩形 92171"/>
            <p:cNvSpPr/>
            <p:nvPr/>
          </p:nvSpPr>
          <p:spPr>
            <a:xfrm>
              <a:off x="552" y="768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73" name="矩形 92172"/>
            <p:cNvSpPr/>
            <p:nvPr/>
          </p:nvSpPr>
          <p:spPr>
            <a:xfrm>
              <a:off x="1387" y="768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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2174" name="矩形 92173"/>
            <p:cNvSpPr/>
            <p:nvPr/>
          </p:nvSpPr>
          <p:spPr>
            <a:xfrm>
              <a:off x="43" y="1152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ORL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75" name="矩形 92174"/>
            <p:cNvSpPr/>
            <p:nvPr/>
          </p:nvSpPr>
          <p:spPr>
            <a:xfrm>
              <a:off x="552" y="1152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76" name="矩形 92175"/>
            <p:cNvSpPr/>
            <p:nvPr/>
          </p:nvSpPr>
          <p:spPr>
            <a:xfrm>
              <a:off x="1387" y="1152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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2177" name="矩形 92176"/>
            <p:cNvSpPr/>
            <p:nvPr/>
          </p:nvSpPr>
          <p:spPr>
            <a:xfrm>
              <a:off x="43" y="1536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ORL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78" name="矩形 92177"/>
            <p:cNvSpPr/>
            <p:nvPr/>
          </p:nvSpPr>
          <p:spPr>
            <a:xfrm>
              <a:off x="552" y="1536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79" name="矩形 92178"/>
            <p:cNvSpPr/>
            <p:nvPr/>
          </p:nvSpPr>
          <p:spPr>
            <a:xfrm>
              <a:off x="1387" y="1536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 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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2180" name="矩形 92179"/>
            <p:cNvSpPr/>
            <p:nvPr/>
          </p:nvSpPr>
          <p:spPr>
            <a:xfrm>
              <a:off x="43" y="1920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ORL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81" name="矩形 92180"/>
            <p:cNvSpPr/>
            <p:nvPr/>
          </p:nvSpPr>
          <p:spPr>
            <a:xfrm>
              <a:off x="552" y="1920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 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2182" name="矩形 92181"/>
            <p:cNvSpPr/>
            <p:nvPr/>
          </p:nvSpPr>
          <p:spPr>
            <a:xfrm>
              <a:off x="1387" y="1920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 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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文本占位符 93186"/>
          <p:cNvSpPr>
            <a:spLocks noGrp="1"/>
          </p:cNvSpPr>
          <p:nvPr>
            <p:ph type="body" idx="1"/>
          </p:nvPr>
        </p:nvSpPr>
        <p:spPr>
          <a:xfrm>
            <a:off x="609600" y="1143000"/>
            <a:ext cx="7772400" cy="411480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ea typeface="黑体" panose="0201060906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． 逻辑异或指令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93188" name="组合 93187"/>
          <p:cNvGrpSpPr/>
          <p:nvPr/>
        </p:nvGrpSpPr>
        <p:grpSpPr>
          <a:xfrm>
            <a:off x="990600" y="2209800"/>
            <a:ext cx="6781800" cy="2819400"/>
            <a:chOff x="43" y="0"/>
            <a:chExt cx="2604" cy="2304"/>
          </a:xfrm>
        </p:grpSpPr>
        <p:sp>
          <p:nvSpPr>
            <p:cNvPr id="93189" name="矩形 93188"/>
            <p:cNvSpPr/>
            <p:nvPr/>
          </p:nvSpPr>
          <p:spPr>
            <a:xfrm>
              <a:off x="43" y="0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190" name="矩形 93189"/>
            <p:cNvSpPr/>
            <p:nvPr/>
          </p:nvSpPr>
          <p:spPr>
            <a:xfrm>
              <a:off x="552" y="0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191" name="矩形 93190"/>
            <p:cNvSpPr/>
            <p:nvPr/>
          </p:nvSpPr>
          <p:spPr>
            <a:xfrm>
              <a:off x="1387" y="0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192" name="矩形 93191"/>
            <p:cNvSpPr/>
            <p:nvPr/>
          </p:nvSpPr>
          <p:spPr>
            <a:xfrm>
              <a:off x="43" y="384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193" name="矩形 93192"/>
            <p:cNvSpPr/>
            <p:nvPr/>
          </p:nvSpPr>
          <p:spPr>
            <a:xfrm>
              <a:off x="552" y="384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194" name="矩形 93193"/>
            <p:cNvSpPr/>
            <p:nvPr/>
          </p:nvSpPr>
          <p:spPr>
            <a:xfrm>
              <a:off x="1387" y="384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195" name="矩形 93194"/>
            <p:cNvSpPr/>
            <p:nvPr/>
          </p:nvSpPr>
          <p:spPr>
            <a:xfrm>
              <a:off x="43" y="768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196" name="矩形 93195"/>
            <p:cNvSpPr/>
            <p:nvPr/>
          </p:nvSpPr>
          <p:spPr>
            <a:xfrm>
              <a:off x="552" y="768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197" name="矩形 93196"/>
            <p:cNvSpPr/>
            <p:nvPr/>
          </p:nvSpPr>
          <p:spPr>
            <a:xfrm>
              <a:off x="1387" y="768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198" name="矩形 93197"/>
            <p:cNvSpPr/>
            <p:nvPr/>
          </p:nvSpPr>
          <p:spPr>
            <a:xfrm>
              <a:off x="43" y="1152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199" name="矩形 93198"/>
            <p:cNvSpPr/>
            <p:nvPr/>
          </p:nvSpPr>
          <p:spPr>
            <a:xfrm>
              <a:off x="552" y="1152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200" name="矩形 93199"/>
            <p:cNvSpPr/>
            <p:nvPr/>
          </p:nvSpPr>
          <p:spPr>
            <a:xfrm>
              <a:off x="1387" y="1152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201" name="矩形 93200"/>
            <p:cNvSpPr/>
            <p:nvPr/>
          </p:nvSpPr>
          <p:spPr>
            <a:xfrm>
              <a:off x="43" y="1536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202" name="矩形 93201"/>
            <p:cNvSpPr/>
            <p:nvPr/>
          </p:nvSpPr>
          <p:spPr>
            <a:xfrm>
              <a:off x="552" y="1536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203" name="矩形 93202"/>
            <p:cNvSpPr/>
            <p:nvPr/>
          </p:nvSpPr>
          <p:spPr>
            <a:xfrm>
              <a:off x="1387" y="1536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 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204" name="矩形 93203"/>
            <p:cNvSpPr/>
            <p:nvPr/>
          </p:nvSpPr>
          <p:spPr>
            <a:xfrm>
              <a:off x="43" y="1920"/>
              <a:ext cx="50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XRL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205" name="矩形 93204"/>
            <p:cNvSpPr/>
            <p:nvPr/>
          </p:nvSpPr>
          <p:spPr>
            <a:xfrm>
              <a:off x="552" y="1920"/>
              <a:ext cx="83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#data 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3206" name="矩形 93205"/>
            <p:cNvSpPr/>
            <p:nvPr/>
          </p:nvSpPr>
          <p:spPr>
            <a:xfrm>
              <a:off x="1387" y="1920"/>
              <a:ext cx="126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direct 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data</a:t>
              </a:r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文本占位符 94210"/>
          <p:cNvSpPr>
            <a:spLocks noGrp="1"/>
          </p:cNvSpPr>
          <p:nvPr>
            <p:ph type="body" idx="1"/>
          </p:nvPr>
        </p:nvSpPr>
        <p:spPr>
          <a:xfrm>
            <a:off x="1060450" y="6102350"/>
            <a:ext cx="7461885" cy="368935"/>
          </a:xfrm>
        </p:spPr>
        <p:txBody>
          <a:bodyPr wrap="square"/>
          <a:lstStyle/>
          <a:p>
            <a:pPr algn="ctr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3.10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逻辑运算类指令</a:t>
            </a:r>
          </a:p>
        </p:txBody>
      </p:sp>
      <p:sp>
        <p:nvSpPr>
          <p:cNvPr id="94212" name="矩形 94211"/>
          <p:cNvSpPr/>
          <p:nvPr/>
        </p:nvSpPr>
        <p:spPr>
          <a:xfrm>
            <a:off x="2828925" y="22288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231900"/>
            <a:ext cx="8242300" cy="45847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95233"/>
          <p:cNvSpPr>
            <a:spLocks noGrp="1"/>
          </p:cNvSpPr>
          <p:nvPr>
            <p:ph type="title"/>
          </p:nvPr>
        </p:nvSpPr>
        <p:spPr>
          <a:xfrm>
            <a:off x="1428750" y="287338"/>
            <a:ext cx="5271135" cy="492125"/>
          </a:xfrm>
        </p:spPr>
        <p:txBody>
          <a:bodyPr wrap="square"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3.3.5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控制转移指令</a:t>
            </a:r>
            <a:r>
              <a:rPr lang="zh-CN" altLang="en-US" dirty="0">
                <a:solidFill>
                  <a:srgbClr val="66FF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</p:txBody>
      </p:sp>
      <p:sp>
        <p:nvSpPr>
          <p:cNvPr id="95235" name="文本占位符 95234"/>
          <p:cNvSpPr>
            <a:spLocks noGrp="1"/>
          </p:cNvSpPr>
          <p:nvPr>
            <p:ph type="body" idx="1"/>
          </p:nvPr>
        </p:nvSpPr>
        <p:spPr>
          <a:xfrm>
            <a:off x="533400" y="1270000"/>
            <a:ext cx="7924800" cy="5410200"/>
          </a:xfrm>
        </p:spPr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1.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无条件转移指令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）绝对转移指令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		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AJMP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　　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addr11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这是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2KB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范围内的无条件跳转指令，执行该指令时，先将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PC+2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，然后将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addr11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送入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2400" baseline="-30000" dirty="0">
                <a:solidFill>
                  <a:schemeClr val="tx1"/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2400" baseline="-30000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2400" baseline="-30000" dirty="0">
                <a:solidFill>
                  <a:schemeClr val="tx1"/>
                </a:solidFill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2400" baseline="-30000" dirty="0">
                <a:solidFill>
                  <a:schemeClr val="tx1"/>
                </a:solidFill>
                <a:latin typeface="宋体" panose="02010600030101010101" pitchFamily="2" charset="-122"/>
              </a:rPr>
              <a:t>11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保持不变。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操作过程可表示为：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　　　　　　　       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2400" baseline="-30000" dirty="0">
                <a:solidFill>
                  <a:schemeClr val="tx1"/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400" baseline="-30000" dirty="0">
                <a:solidFill>
                  <a:schemeClr val="tx1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baseline="-30000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addr11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）相对转移指令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    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SJMP  </a:t>
            </a: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</a:rPr>
              <a:t>rel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执行指令时，先将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PC+2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，再把指令中带符号的偏移量加到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上，得到跳转的目的地址送入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 目标地址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=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源地址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+2+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rel</a:t>
            </a:r>
          </a:p>
          <a:p>
            <a:pPr>
              <a:lnSpc>
                <a:spcPct val="90000"/>
              </a:lnSpc>
              <a:buNone/>
            </a:pPr>
            <a:endParaRPr lang="en-US" altLang="zh-CN" sz="2400" dirty="0" err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文本占位符 108546"/>
          <p:cNvSpPr>
            <a:spLocks noGrp="1"/>
          </p:cNvSpPr>
          <p:nvPr>
            <p:ph type="body" idx="1"/>
          </p:nvPr>
        </p:nvSpPr>
        <p:spPr>
          <a:xfrm>
            <a:off x="685800" y="1219200"/>
            <a:ext cx="7772400" cy="3810000"/>
          </a:xfrm>
        </p:spPr>
        <p:txBody>
          <a:bodyPr/>
          <a:lstStyle/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）长跳转指令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	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LJMP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　　 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addr16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addr16</a:t>
            </a:r>
          </a:p>
          <a:p>
            <a:pPr algn="just">
              <a:buNone/>
            </a:pP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	   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执行该指令时，将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位目标地址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addr16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装入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，程序无条件转向指定的目标地址。转移指令的目标地址可在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64KB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程序存储器地址空间的任何地方，不影响任何标志。</a:t>
            </a:r>
          </a:p>
          <a:p>
            <a:pPr algn="just"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）间接转移指令（散转指令）</a:t>
            </a:r>
          </a:p>
          <a:p>
            <a:pPr algn="just"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JMP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@A+DPTR	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PC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）＋（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DPTR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</a:p>
          <a:p>
            <a:pPr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文本占位符 96258"/>
          <p:cNvSpPr>
            <a:spLocks noGrp="1"/>
          </p:cNvSpPr>
          <p:nvPr>
            <p:ph type="body" idx="1"/>
          </p:nvPr>
        </p:nvSpPr>
        <p:spPr>
          <a:xfrm>
            <a:off x="405130" y="1028700"/>
            <a:ext cx="7848600" cy="5314315"/>
          </a:xfrm>
        </p:spPr>
        <p:txBody>
          <a:bodyPr wrap="square"/>
          <a:lstStyle/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条件转移指令 </a:t>
            </a:r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比较转移指令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  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MCS-51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中没有专门的比较指令，但提供了下面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条比较不相等转移指令；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buFontTx/>
              <a:buAutoNum type="arabicPeriod" startAt="4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减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不为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转移指令（循环转移指令）</a:t>
            </a:r>
          </a:p>
          <a:p>
            <a:pPr marL="609600" indent="-609600" algn="just">
              <a:lnSpc>
                <a:spcPct val="90000"/>
              </a:lnSpc>
              <a:buNone/>
            </a:pPr>
            <a:r>
              <a:rPr lang="zh-CN" altLang="en-US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DJNZ  Rn</a:t>
            </a:r>
            <a:r>
              <a:rPr lang="zh-CN" altLang="en-US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rel	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ｎ）－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转移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zh-CN" altLang="en-US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DJNZ  direct</a:t>
            </a:r>
            <a:r>
              <a:rPr lang="zh-CN" altLang="en-US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 err="1">
                <a:solidFill>
                  <a:schemeClr val="tx1"/>
                </a:solidFill>
                <a:latin typeface="宋体" panose="02010600030101010101" pitchFamily="2" charset="-122"/>
              </a:rPr>
              <a:t>rel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direct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direct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）－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转移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96260" name="组合 96259"/>
          <p:cNvGrpSpPr/>
          <p:nvPr/>
        </p:nvGrpSpPr>
        <p:grpSpPr>
          <a:xfrm>
            <a:off x="1822450" y="1581150"/>
            <a:ext cx="4572000" cy="762000"/>
            <a:chOff x="43" y="0"/>
            <a:chExt cx="2101" cy="768"/>
          </a:xfrm>
        </p:grpSpPr>
        <p:sp>
          <p:nvSpPr>
            <p:cNvPr id="96261" name="矩形 96260"/>
            <p:cNvSpPr/>
            <p:nvPr/>
          </p:nvSpPr>
          <p:spPr>
            <a:xfrm>
              <a:off x="43" y="0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 JZ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62" name="矩形 96261"/>
            <p:cNvSpPr/>
            <p:nvPr/>
          </p:nvSpPr>
          <p:spPr>
            <a:xfrm>
              <a:off x="506" y="0"/>
              <a:ext cx="67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63" name="矩形 96262"/>
            <p:cNvSpPr/>
            <p:nvPr/>
          </p:nvSpPr>
          <p:spPr>
            <a:xfrm>
              <a:off x="1178" y="0"/>
              <a:ext cx="96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=0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转移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64" name="矩形 96263"/>
            <p:cNvSpPr/>
            <p:nvPr/>
          </p:nvSpPr>
          <p:spPr>
            <a:xfrm>
              <a:off x="43" y="384"/>
              <a:ext cx="463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JNZ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65" name="矩形 96264"/>
            <p:cNvSpPr/>
            <p:nvPr/>
          </p:nvSpPr>
          <p:spPr>
            <a:xfrm>
              <a:off x="506" y="384"/>
              <a:ext cx="672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66" name="矩形 96265"/>
            <p:cNvSpPr/>
            <p:nvPr/>
          </p:nvSpPr>
          <p:spPr>
            <a:xfrm>
              <a:off x="1178" y="384"/>
              <a:ext cx="96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≠0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转移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6267" name="组合 96266"/>
          <p:cNvGrpSpPr/>
          <p:nvPr/>
        </p:nvGrpSpPr>
        <p:grpSpPr>
          <a:xfrm>
            <a:off x="990600" y="3657600"/>
            <a:ext cx="7467600" cy="1447800"/>
            <a:chOff x="43" y="0"/>
            <a:chExt cx="2470" cy="1536"/>
          </a:xfrm>
        </p:grpSpPr>
        <p:sp>
          <p:nvSpPr>
            <p:cNvPr id="96268" name="矩形 96267"/>
            <p:cNvSpPr/>
            <p:nvPr/>
          </p:nvSpPr>
          <p:spPr>
            <a:xfrm>
              <a:off x="43" y="0"/>
              <a:ext cx="505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CJNE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69" name="矩形 96268"/>
            <p:cNvSpPr/>
            <p:nvPr/>
          </p:nvSpPr>
          <p:spPr>
            <a:xfrm>
              <a:off x="548" y="0"/>
              <a:ext cx="952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direct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rel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70" name="矩形 96269"/>
            <p:cNvSpPr/>
            <p:nvPr/>
          </p:nvSpPr>
          <p:spPr>
            <a:xfrm>
              <a:off x="1500" y="0"/>
              <a:ext cx="1013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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direct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）转移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6271" name="矩形 96270"/>
            <p:cNvSpPr/>
            <p:nvPr/>
          </p:nvSpPr>
          <p:spPr>
            <a:xfrm>
              <a:off x="43" y="384"/>
              <a:ext cx="505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CJNE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72" name="矩形 96271"/>
            <p:cNvSpPr/>
            <p:nvPr/>
          </p:nvSpPr>
          <p:spPr>
            <a:xfrm>
              <a:off x="548" y="384"/>
              <a:ext cx="952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rel	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73" name="矩形 96272"/>
            <p:cNvSpPr/>
            <p:nvPr/>
          </p:nvSpPr>
          <p:spPr>
            <a:xfrm>
              <a:off x="1500" y="384"/>
              <a:ext cx="1013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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转移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6274" name="矩形 96273"/>
            <p:cNvSpPr/>
            <p:nvPr/>
          </p:nvSpPr>
          <p:spPr>
            <a:xfrm>
              <a:off x="43" y="768"/>
              <a:ext cx="505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CJNE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75" name="矩形 96274"/>
            <p:cNvSpPr/>
            <p:nvPr/>
          </p:nvSpPr>
          <p:spPr>
            <a:xfrm>
              <a:off x="548" y="768"/>
              <a:ext cx="952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76" name="矩形 96275"/>
            <p:cNvSpPr/>
            <p:nvPr/>
          </p:nvSpPr>
          <p:spPr>
            <a:xfrm>
              <a:off x="1500" y="768"/>
              <a:ext cx="1013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Rn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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转移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6277" name="矩形 96276"/>
            <p:cNvSpPr/>
            <p:nvPr/>
          </p:nvSpPr>
          <p:spPr>
            <a:xfrm>
              <a:off x="43" y="1152"/>
              <a:ext cx="505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CJNE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78" name="矩形 96277"/>
            <p:cNvSpPr/>
            <p:nvPr/>
          </p:nvSpPr>
          <p:spPr>
            <a:xfrm>
              <a:off x="548" y="1152"/>
              <a:ext cx="952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@Ri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#data</a:t>
              </a:r>
              <a:r>
                <a:rPr lang="zh-CN" altLang="en-US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2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96279" name="矩形 96278"/>
            <p:cNvSpPr/>
            <p:nvPr/>
          </p:nvSpPr>
          <p:spPr>
            <a:xfrm>
              <a:off x="1500" y="1152"/>
              <a:ext cx="1013" cy="38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just"/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</a:rPr>
                <a:t>；（（</a:t>
              </a:r>
              <a:r>
                <a:rPr lang="en-US" altLang="zh-CN" sz="2000" dirty="0" err="1">
                  <a:latin typeface="Times New Roman" panose="02020603050405020304" charset="0"/>
                  <a:ea typeface="宋体" panose="02010600030101010101" pitchFamily="2" charset="-122"/>
                </a:rPr>
                <a:t>Ri</a:t>
              </a:r>
              <a:r>
                <a:rPr lang="zh-CN" altLang="en-US" sz="2000">
                  <a:latin typeface="Times New Roman" panose="02020603050405020304" charset="0"/>
                  <a:ea typeface="宋体" panose="02010600030101010101" pitchFamily="2" charset="-122"/>
                </a:rPr>
                <a:t>））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</a:t>
              </a:r>
              <a:r>
                <a:rPr lang="en-US" altLang="zh-CN" sz="2000">
                  <a:latin typeface="Times New Roman" panose="02020603050405020304" charset="0"/>
                  <a:ea typeface="宋体" panose="02010600030101010101" pitchFamily="2" charset="-122"/>
                </a:rPr>
                <a:t> data</a:t>
              </a:r>
              <a:r>
                <a:rPr lang="zh-CN" altLang="en-US" sz="2000" dirty="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转移</a:t>
              </a:r>
            </a:p>
            <a:p>
              <a:pPr algn="just" eaLnBrk="0" hangingPunct="0"/>
              <a:endParaRPr lang="zh-CN" altLang="en-US" sz="2000" dirty="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文本占位符 97282"/>
          <p:cNvSpPr>
            <a:spLocks noGrp="1"/>
          </p:cNvSpPr>
          <p:nvPr>
            <p:ph type="body" idx="1"/>
          </p:nvPr>
        </p:nvSpPr>
        <p:spPr>
          <a:xfrm>
            <a:off x="596900" y="1181100"/>
            <a:ext cx="7772400" cy="4982210"/>
          </a:xfrm>
        </p:spPr>
        <p:txBody>
          <a:bodyPr wrap="square"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ea typeface="黑体" panose="02010609060101010101" pitchFamily="2" charset="-122"/>
              </a:rPr>
              <a:t>5.  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调用及返回指令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）绝对调用指令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		   </a:t>
            </a:r>
            <a:r>
              <a:rPr lang="en-US" altLang="zh-CN" sz="2400" dirty="0">
                <a:solidFill>
                  <a:schemeClr val="tx1"/>
                </a:solidFill>
              </a:rPr>
              <a:t>ACALL  addr11	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执行该指令时，</a:t>
            </a:r>
            <a:r>
              <a:rPr lang="en-US" altLang="zh-CN" sz="2400" dirty="0">
                <a:solidFill>
                  <a:schemeClr val="tx1"/>
                </a:solidFill>
              </a:rPr>
              <a:t>PC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　　　　　　　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）＋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baseline="-30000" dirty="0">
                <a:solidFill>
                  <a:schemeClr val="tx1"/>
                </a:solidFill>
              </a:rPr>
              <a:t>7</a:t>
            </a:r>
            <a:r>
              <a:rPr lang="zh-CN" altLang="en-US" sz="2400" baseline="-30000" dirty="0">
                <a:solidFill>
                  <a:schemeClr val="tx1"/>
                </a:solidFill>
              </a:rPr>
              <a:t>～</a:t>
            </a:r>
            <a:r>
              <a:rPr lang="en-US" altLang="zh-CN" sz="2400" baseline="-30000" dirty="0">
                <a:solidFill>
                  <a:schemeClr val="tx1"/>
                </a:solidFill>
              </a:rPr>
              <a:t>0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　　　　　　　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）＋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baseline="-30000" dirty="0">
                <a:solidFill>
                  <a:schemeClr val="tx1"/>
                </a:solidFill>
              </a:rPr>
              <a:t>15</a:t>
            </a:r>
            <a:r>
              <a:rPr lang="zh-CN" altLang="en-US" sz="2400" baseline="-30000" dirty="0">
                <a:solidFill>
                  <a:schemeClr val="tx1"/>
                </a:solidFill>
              </a:rPr>
              <a:t>～</a:t>
            </a:r>
            <a:r>
              <a:rPr lang="en-US" altLang="zh-CN" sz="2400" baseline="-30000" dirty="0">
                <a:solidFill>
                  <a:schemeClr val="tx1"/>
                </a:solidFill>
              </a:rPr>
              <a:t>8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aseline="-30000" dirty="0">
                <a:solidFill>
                  <a:schemeClr val="tx1"/>
                </a:solidFill>
              </a:rPr>
              <a:t>　　　　　　　　　　　　　 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en-US" altLang="zh-CN" sz="2400" baseline="-30000" dirty="0">
                <a:solidFill>
                  <a:schemeClr val="tx1"/>
                </a:solidFill>
              </a:rPr>
              <a:t>10</a:t>
            </a:r>
            <a:r>
              <a:rPr lang="zh-CN" altLang="en-US" sz="2400" baseline="-30000" dirty="0">
                <a:solidFill>
                  <a:schemeClr val="tx1"/>
                </a:solidFill>
              </a:rPr>
              <a:t>～</a:t>
            </a:r>
            <a:r>
              <a:rPr lang="en-US" altLang="zh-CN" sz="2400" baseline="-30000" dirty="0">
                <a:solidFill>
                  <a:schemeClr val="tx1"/>
                </a:solidFill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solidFill>
                  <a:schemeClr val="tx1"/>
                </a:solidFill>
              </a:rPr>
              <a:t>addr11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）长调用指令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		    </a:t>
            </a:r>
            <a:r>
              <a:rPr lang="en-US" altLang="zh-CN" sz="2400" dirty="0">
                <a:solidFill>
                  <a:schemeClr val="tx1"/>
                </a:solidFill>
              </a:rPr>
              <a:t>LCALL </a:t>
            </a:r>
            <a:r>
              <a:rPr lang="zh-CN" altLang="en-US" sz="2400" dirty="0">
                <a:solidFill>
                  <a:schemeClr val="tx1"/>
                </a:solidFill>
              </a:rPr>
              <a:t>　　</a:t>
            </a:r>
            <a:r>
              <a:rPr lang="en-US" altLang="zh-CN" sz="2400" dirty="0">
                <a:solidFill>
                  <a:schemeClr val="tx1"/>
                </a:solidFill>
              </a:rPr>
              <a:t>addr16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这条指令无条件调用位于</a:t>
            </a:r>
            <a:r>
              <a:rPr lang="en-US" altLang="zh-CN" sz="2400" dirty="0">
                <a:solidFill>
                  <a:schemeClr val="tx1"/>
                </a:solidFill>
              </a:rPr>
              <a:t>16</a:t>
            </a:r>
            <a:r>
              <a:rPr lang="zh-CN" altLang="en-US" sz="2400" dirty="0">
                <a:solidFill>
                  <a:schemeClr val="tx1"/>
                </a:solidFill>
              </a:rPr>
              <a:t>位地址</a:t>
            </a:r>
            <a:r>
              <a:rPr lang="en-US" altLang="zh-CN" sz="2400" dirty="0">
                <a:solidFill>
                  <a:schemeClr val="tx1"/>
                </a:solidFill>
              </a:rPr>
              <a:t>addr16</a:t>
            </a:r>
            <a:r>
              <a:rPr lang="zh-CN" altLang="en-US" sz="2400" dirty="0">
                <a:solidFill>
                  <a:schemeClr val="tx1"/>
                </a:solidFill>
              </a:rPr>
              <a:t>的子程序。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其操作过程如下：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		    </a:t>
            </a:r>
            <a:r>
              <a:rPr lang="en-US" altLang="zh-CN" sz="2400" dirty="0">
                <a:solidFill>
                  <a:schemeClr val="tx1"/>
                </a:solidFill>
              </a:rPr>
              <a:t>PC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</a:rPr>
              <a:t>3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　　　　　　　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）＋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baseline="-30000" dirty="0">
                <a:solidFill>
                  <a:schemeClr val="tx1"/>
                </a:solidFill>
              </a:rPr>
              <a:t>7</a:t>
            </a:r>
            <a:r>
              <a:rPr lang="zh-CN" altLang="en-US" sz="2400" baseline="-30000" dirty="0">
                <a:solidFill>
                  <a:schemeClr val="tx1"/>
                </a:solidFill>
              </a:rPr>
              <a:t>～</a:t>
            </a:r>
            <a:r>
              <a:rPr lang="en-US" altLang="zh-CN" sz="2400" baseline="-30000" dirty="0">
                <a:solidFill>
                  <a:schemeClr val="tx1"/>
                </a:solidFill>
              </a:rPr>
              <a:t>0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　　　　　　　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）＋</a:t>
            </a: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r>
              <a:rPr lang="zh-CN" altLang="en-US" sz="2400" dirty="0">
                <a:solidFill>
                  <a:schemeClr val="tx1"/>
                </a:solidFill>
              </a:rPr>
              <a:t>，（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baseline="-30000" dirty="0">
                <a:solidFill>
                  <a:schemeClr val="tx1"/>
                </a:solidFill>
              </a:rPr>
              <a:t>15</a:t>
            </a:r>
            <a:r>
              <a:rPr lang="zh-CN" altLang="en-US" sz="2400" baseline="-30000" dirty="0">
                <a:solidFill>
                  <a:schemeClr val="tx1"/>
                </a:solidFill>
              </a:rPr>
              <a:t>～</a:t>
            </a:r>
            <a:r>
              <a:rPr lang="en-US" altLang="zh-CN" sz="2400" baseline="-30000" dirty="0">
                <a:solidFill>
                  <a:schemeClr val="tx1"/>
                </a:solidFill>
              </a:rPr>
              <a:t>8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aseline="-30000" dirty="0">
                <a:solidFill>
                  <a:schemeClr val="tx1"/>
                </a:solidFill>
              </a:rPr>
              <a:t>　　　　　　　　　　  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en-US" altLang="zh-CN" sz="2400" baseline="-30000" dirty="0">
                <a:solidFill>
                  <a:schemeClr val="tx1"/>
                </a:solidFill>
              </a:rPr>
              <a:t>15</a:t>
            </a:r>
            <a:r>
              <a:rPr lang="zh-CN" altLang="en-US" sz="2400" baseline="-30000" dirty="0">
                <a:solidFill>
                  <a:schemeClr val="tx1"/>
                </a:solidFill>
              </a:rPr>
              <a:t>～</a:t>
            </a:r>
            <a:r>
              <a:rPr lang="en-US" altLang="zh-CN" sz="2400" baseline="-30000" dirty="0">
                <a:solidFill>
                  <a:schemeClr val="tx1"/>
                </a:solidFill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sz="2400" dirty="0">
                <a:solidFill>
                  <a:schemeClr val="tx1"/>
                </a:solidFill>
              </a:rPr>
              <a:t>addr16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文本占位符 98306"/>
          <p:cNvSpPr>
            <a:spLocks noGrp="1"/>
          </p:cNvSpPr>
          <p:nvPr>
            <p:ph type="body" idx="1"/>
          </p:nvPr>
        </p:nvSpPr>
        <p:spPr>
          <a:xfrm>
            <a:off x="546100" y="1085850"/>
            <a:ext cx="7772400" cy="4982210"/>
          </a:xfrm>
        </p:spPr>
        <p:txBody>
          <a:bodyPr wrap="square"/>
          <a:lstStyle/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r>
              <a:rPr lang="zh-CN" altLang="en-US" sz="2400" dirty="0">
                <a:solidFill>
                  <a:schemeClr val="tx1"/>
                </a:solidFill>
              </a:rPr>
              <a:t>）子程序返回指令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>
                <a:solidFill>
                  <a:schemeClr val="tx1"/>
                </a:solidFill>
              </a:rPr>
              <a:t>				</a:t>
            </a:r>
            <a:r>
              <a:rPr lang="en-US" altLang="zh-CN" sz="2400">
                <a:solidFill>
                  <a:schemeClr val="tx1"/>
                </a:solidFill>
              </a:rPr>
              <a:t>RET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</a:t>
            </a:r>
            <a:r>
              <a:rPr lang="zh-CN" altLang="en-US" sz="2400" dirty="0">
                <a:solidFill>
                  <a:schemeClr val="tx1"/>
                </a:solidFill>
              </a:rPr>
              <a:t>子程序返回指令是把栈顶相邻两个单元的内容弹出送到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SP</a:t>
            </a:r>
            <a:r>
              <a:rPr lang="zh-CN" altLang="en-US" sz="2400" dirty="0">
                <a:solidFill>
                  <a:schemeClr val="tx1"/>
                </a:solidFill>
              </a:rPr>
              <a:t>的内容减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，程序返回</a:t>
            </a:r>
            <a:r>
              <a:rPr lang="en-US" altLang="zh-CN" sz="2400" dirty="0">
                <a:solidFill>
                  <a:schemeClr val="tx1"/>
                </a:solidFill>
              </a:rPr>
              <a:t>PC</a:t>
            </a:r>
            <a:r>
              <a:rPr lang="zh-CN" altLang="en-US" sz="2400" dirty="0">
                <a:solidFill>
                  <a:schemeClr val="tx1"/>
                </a:solidFill>
              </a:rPr>
              <a:t>值所指的指令处执行。</a:t>
            </a:r>
            <a:r>
              <a:rPr lang="en-US" altLang="zh-CN" sz="2400" dirty="0">
                <a:solidFill>
                  <a:schemeClr val="tx1"/>
                </a:solidFill>
              </a:rPr>
              <a:t>RET</a:t>
            </a:r>
            <a:r>
              <a:rPr lang="zh-CN" altLang="en-US" sz="2400" dirty="0">
                <a:solidFill>
                  <a:schemeClr val="tx1"/>
                </a:solidFill>
              </a:rPr>
              <a:t>指令通常安排在子程序的末尾，使程序能从子程序返回到主程序。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r>
              <a:rPr lang="zh-CN" altLang="en-US" sz="2400" dirty="0">
                <a:solidFill>
                  <a:schemeClr val="tx1"/>
                </a:solidFill>
              </a:rPr>
              <a:t>）中断返回指令  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				</a:t>
            </a:r>
            <a:r>
              <a:rPr lang="en-US" altLang="zh-CN" sz="2400">
                <a:solidFill>
                  <a:schemeClr val="tx1"/>
                </a:solidFill>
              </a:rPr>
              <a:t>RETI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</a:t>
            </a:r>
            <a:r>
              <a:rPr lang="zh-CN" altLang="en-US" sz="2400" dirty="0">
                <a:solidFill>
                  <a:schemeClr val="tx1"/>
                </a:solidFill>
              </a:rPr>
              <a:t>这是指令的功能与</a:t>
            </a:r>
            <a:r>
              <a:rPr lang="en-US" altLang="zh-CN" sz="2400" dirty="0">
                <a:solidFill>
                  <a:schemeClr val="tx1"/>
                </a:solidFill>
              </a:rPr>
              <a:t>RET</a:t>
            </a:r>
            <a:r>
              <a:rPr lang="zh-CN" altLang="en-US" sz="2400" dirty="0">
                <a:solidFill>
                  <a:schemeClr val="tx1"/>
                </a:solidFill>
              </a:rPr>
              <a:t>指令相类似。通常安排在中断服务程序的最后。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</a:t>
            </a:r>
            <a:r>
              <a:rPr lang="en-US" altLang="zh-CN" sz="2400" dirty="0">
                <a:solidFill>
                  <a:schemeClr val="tx1"/>
                </a:solidFill>
              </a:rPr>
              <a:t>(5)</a:t>
            </a:r>
            <a:r>
              <a:rPr lang="zh-CN" altLang="en-US" sz="2400" dirty="0">
                <a:solidFill>
                  <a:schemeClr val="tx1"/>
                </a:solidFill>
              </a:rPr>
              <a:t>空操作指令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　　　　                     </a:t>
            </a:r>
            <a:r>
              <a:rPr lang="en-US" altLang="zh-CN" sz="2400">
                <a:solidFill>
                  <a:schemeClr val="tx1"/>
                </a:solidFill>
              </a:rPr>
              <a:t>NOP</a:t>
            </a:r>
            <a:r>
              <a:rPr lang="zh-CN" altLang="en-US" sz="2400">
                <a:solidFill>
                  <a:schemeClr val="tx1"/>
                </a:solidFill>
              </a:rPr>
              <a:t>　；</a:t>
            </a:r>
            <a:r>
              <a:rPr lang="en-US" altLang="zh-CN" sz="2400">
                <a:solidFill>
                  <a:schemeClr val="tx1"/>
                </a:solidFill>
              </a:rPr>
              <a:t>PC </a:t>
            </a:r>
            <a:r>
              <a:rPr lang="en-US" altLang="zh-CN" sz="240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sz="2400">
                <a:solidFill>
                  <a:schemeClr val="tx1"/>
                </a:solidFill>
              </a:rPr>
              <a:t>PC</a:t>
            </a:r>
            <a:r>
              <a:rPr lang="zh-CN" altLang="en-US" sz="2400">
                <a:solidFill>
                  <a:schemeClr val="tx1"/>
                </a:solidFill>
              </a:rPr>
              <a:t>＋</a:t>
            </a:r>
            <a:r>
              <a:rPr lang="en-US" altLang="zh-CN" sz="240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        </a:t>
            </a:r>
            <a:r>
              <a:rPr lang="zh-CN" altLang="en-US" sz="2400" dirty="0">
                <a:solidFill>
                  <a:schemeClr val="tx1"/>
                </a:solidFill>
              </a:rPr>
              <a:t>空操作也是</a:t>
            </a:r>
            <a:r>
              <a:rPr lang="en-US" altLang="zh-CN" sz="2400" dirty="0">
                <a:solidFill>
                  <a:schemeClr val="tx1"/>
                </a:solidFill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</a:rPr>
              <a:t>控制指令，它没有使程序转移的功能。只消耗一个机器周期的时间。常用于程序的等待或时间的延迟。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文本占位符 99330"/>
          <p:cNvSpPr>
            <a:spLocks noGrp="1"/>
          </p:cNvSpPr>
          <p:nvPr>
            <p:ph type="body" idx="1"/>
          </p:nvPr>
        </p:nvSpPr>
        <p:spPr>
          <a:xfrm>
            <a:off x="457200" y="2942590"/>
            <a:ext cx="8229600" cy="3375025"/>
          </a:xfrm>
        </p:spPr>
        <p:txBody>
          <a:bodyPr wrap="square"/>
          <a:lstStyle/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</a:rPr>
              <a:t>3.11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条件转移类指令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9332" name="矩形 99331"/>
          <p:cNvSpPr/>
          <p:nvPr/>
        </p:nvSpPr>
        <p:spPr>
          <a:xfrm>
            <a:off x="2852738" y="25098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73200"/>
            <a:ext cx="7315200" cy="39116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0035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 anchor="ctr"/>
          <a:lstStyle/>
          <a:p>
            <a:pPr algn="l"/>
            <a:r>
              <a:rPr lang="en-US" altLang="zh-CN" sz="3200" dirty="0">
                <a:solidFill>
                  <a:schemeClr val="hlink"/>
                </a:solidFill>
                <a:latin typeface="宋体" panose="02010600030101010101" pitchFamily="2" charset="-122"/>
              </a:rPr>
              <a:t>3.3.6  </a:t>
            </a:r>
            <a:r>
              <a:rPr lang="zh-CN" altLang="en-US" sz="3200" dirty="0">
                <a:solidFill>
                  <a:schemeClr val="hlink"/>
                </a:solidFill>
                <a:latin typeface="宋体" panose="02010600030101010101" pitchFamily="2" charset="-122"/>
              </a:rPr>
              <a:t>位操作指令</a:t>
            </a:r>
          </a:p>
        </p:txBody>
      </p:sp>
      <p:sp>
        <p:nvSpPr>
          <p:cNvPr id="100355" name="文本占位符 100354"/>
          <p:cNvSpPr>
            <a:spLocks noGrp="1"/>
          </p:cNvSpPr>
          <p:nvPr>
            <p:ph type="body" idx="1"/>
          </p:nvPr>
        </p:nvSpPr>
        <p:spPr>
          <a:xfrm>
            <a:off x="533400" y="1054100"/>
            <a:ext cx="7772400" cy="526288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位数据传送指令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</a:p>
          <a:p>
            <a:pPr marL="609600" indent="-609600">
              <a:buFontTx/>
              <a:buAutoNum type="arabicPeriod"/>
            </a:pPr>
            <a:endParaRPr lang="zh-CN" altLang="en-US" sz="24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/>
            </a:pPr>
            <a:endParaRPr lang="zh-CN" altLang="en-US" sz="2400" dirty="0">
              <a:solidFill>
                <a:schemeClr val="tx1"/>
              </a:solidFill>
            </a:endParaRPr>
          </a:p>
          <a:p>
            <a:pPr marL="609600" indent="-609600">
              <a:buFontTx/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marL="609600" indent="-609600">
              <a:buNone/>
            </a:pPr>
            <a:r>
              <a:rPr lang="en-US" altLang="zh-CN" sz="2400" dirty="0">
                <a:solidFill>
                  <a:schemeClr val="tx1"/>
                </a:solidFill>
                <a:ea typeface="黑体" panose="0201060906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． 位变量修改指令</a:t>
            </a:r>
          </a:p>
          <a:p>
            <a:pPr marL="609600" indent="-609600">
              <a:buNone/>
            </a:pPr>
            <a:endParaRPr lang="zh-CN" altLang="en-US" sz="2400" dirty="0">
              <a:solidFill>
                <a:schemeClr val="tx1"/>
              </a:solidFill>
            </a:endParaRPr>
          </a:p>
          <a:p>
            <a:pPr marL="1752600" lvl="3" indent="-381000" algn="just">
              <a:buNone/>
            </a:pPr>
            <a:r>
              <a:rPr lang="en-US" altLang="zh-CN" dirty="0">
                <a:solidFill>
                  <a:schemeClr val="tx1"/>
                </a:solidFill>
              </a:rPr>
              <a:t>CLR  C	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r>
              <a:rPr lang="en-US" altLang="zh-CN" dirty="0">
                <a:solidFill>
                  <a:schemeClr val="tx1"/>
                </a:solidFill>
              </a:rPr>
              <a:t>Cy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</a:p>
          <a:p>
            <a:pPr marL="1752600" lvl="3" indent="-381000" algn="just">
              <a:buNone/>
            </a:pPr>
            <a:r>
              <a:rPr lang="en-US" altLang="zh-CN" dirty="0">
                <a:solidFill>
                  <a:schemeClr val="tx1"/>
                </a:solidFill>
              </a:rPr>
              <a:t>CLR  bit	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r>
              <a:rPr lang="en-US" altLang="zh-CN" dirty="0">
                <a:solidFill>
                  <a:schemeClr val="tx1"/>
                </a:solidFill>
              </a:rPr>
              <a:t>bit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</a:p>
          <a:p>
            <a:pPr marL="1752600" lvl="3" indent="-381000" algn="just">
              <a:buNone/>
            </a:pPr>
            <a:r>
              <a:rPr lang="en-US" altLang="zh-CN" dirty="0">
                <a:solidFill>
                  <a:schemeClr val="tx1"/>
                </a:solidFill>
              </a:rPr>
              <a:t>CPL  C	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r>
              <a:rPr lang="en-US" altLang="zh-CN" dirty="0">
                <a:solidFill>
                  <a:schemeClr val="tx1"/>
                </a:solidFill>
              </a:rPr>
              <a:t>Cy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Cy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</a:p>
          <a:p>
            <a:pPr marL="1752600" lvl="3" indent="-381000" algn="just">
              <a:buNone/>
            </a:pPr>
            <a:r>
              <a:rPr lang="en-US" altLang="zh-CN" dirty="0">
                <a:solidFill>
                  <a:schemeClr val="tx1"/>
                </a:solidFill>
              </a:rPr>
              <a:t>CPL  bit	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r>
              <a:rPr lang="en-US" altLang="zh-CN" dirty="0">
                <a:solidFill>
                  <a:schemeClr val="tx1"/>
                </a:solidFill>
              </a:rPr>
              <a:t>bit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dirty="0">
                <a:solidFill>
                  <a:schemeClr val="tx1"/>
                </a:solidFill>
              </a:rPr>
              <a:t>(bit)</a:t>
            </a:r>
          </a:p>
          <a:p>
            <a:pPr marL="1752600" lvl="3" indent="-381000" algn="just">
              <a:buNone/>
            </a:pPr>
            <a:r>
              <a:rPr lang="en-US" altLang="zh-CN" dirty="0">
                <a:solidFill>
                  <a:schemeClr val="tx1"/>
                </a:solidFill>
              </a:rPr>
              <a:t>SETB  C	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r>
              <a:rPr lang="en-US" altLang="zh-CN" dirty="0">
                <a:solidFill>
                  <a:schemeClr val="tx1"/>
                </a:solidFill>
              </a:rPr>
              <a:t>Cy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</a:p>
          <a:p>
            <a:pPr marL="1752600" lvl="3" indent="-381000" algn="just">
              <a:buNone/>
            </a:pPr>
            <a:r>
              <a:rPr lang="en-US" altLang="zh-CN" dirty="0">
                <a:solidFill>
                  <a:schemeClr val="tx1"/>
                </a:solidFill>
              </a:rPr>
              <a:t>SETB  bit	</a:t>
            </a:r>
            <a:r>
              <a:rPr lang="zh-CN" altLang="en-US" dirty="0">
                <a:solidFill>
                  <a:schemeClr val="tx1"/>
                </a:solidFill>
              </a:rPr>
              <a:t>；</a:t>
            </a:r>
            <a:r>
              <a:rPr lang="en-US" altLang="zh-CN" dirty="0">
                <a:solidFill>
                  <a:schemeClr val="tx1"/>
                </a:solidFill>
              </a:rPr>
              <a:t>bit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</a:p>
          <a:p>
            <a:pPr marL="1752600" lvl="3" indent="-381000" algn="just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marL="609600" indent="-609600" algn="just">
              <a:buNone/>
            </a:pPr>
            <a:r>
              <a:rPr lang="en-US" altLang="zh-CN" sz="2400" dirty="0">
                <a:solidFill>
                  <a:schemeClr val="tx1"/>
                </a:solidFill>
                <a:ea typeface="黑体" panose="0201060906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． 位变量逻辑与指令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990600" lvl="1" indent="-533400" algn="just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ANL  C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bit	</a:t>
            </a:r>
            <a:r>
              <a:rPr lang="zh-CN" altLang="en-US" sz="2400" dirty="0">
                <a:solidFill>
                  <a:schemeClr val="tx1"/>
                </a:solidFill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</a:rPr>
              <a:t>Cy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Cy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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bit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</a:p>
          <a:p>
            <a:pPr marL="990600" lvl="1" indent="-53340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ANL  C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/bit	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</a:rPr>
              <a:t>Cy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Cy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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bit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18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100356" name="组合 100355"/>
          <p:cNvGrpSpPr/>
          <p:nvPr/>
        </p:nvGrpSpPr>
        <p:grpSpPr>
          <a:xfrm>
            <a:off x="1447800" y="1600200"/>
            <a:ext cx="5562600" cy="838200"/>
            <a:chOff x="43" y="0"/>
            <a:chExt cx="1978" cy="768"/>
          </a:xfrm>
        </p:grpSpPr>
        <p:sp>
          <p:nvSpPr>
            <p:cNvPr id="100357" name="矩形 100356"/>
            <p:cNvSpPr/>
            <p:nvPr/>
          </p:nvSpPr>
          <p:spPr>
            <a:xfrm>
              <a:off x="43" y="0"/>
              <a:ext cx="50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0358" name="矩形 100357"/>
            <p:cNvSpPr/>
            <p:nvPr/>
          </p:nvSpPr>
          <p:spPr>
            <a:xfrm>
              <a:off x="548" y="0"/>
              <a:ext cx="7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0359" name="矩形 100358"/>
            <p:cNvSpPr/>
            <p:nvPr/>
          </p:nvSpPr>
          <p:spPr>
            <a:xfrm>
              <a:off x="1262" y="0"/>
              <a:ext cx="75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Cy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bit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1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0360" name="矩形 100359"/>
            <p:cNvSpPr/>
            <p:nvPr/>
          </p:nvSpPr>
          <p:spPr>
            <a:xfrm>
              <a:off x="43" y="384"/>
              <a:ext cx="505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0361" name="矩形 100360"/>
            <p:cNvSpPr/>
            <p:nvPr/>
          </p:nvSpPr>
          <p:spPr>
            <a:xfrm>
              <a:off x="548" y="384"/>
              <a:ext cx="71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0362" name="矩形 100361"/>
            <p:cNvSpPr/>
            <p:nvPr/>
          </p:nvSpPr>
          <p:spPr>
            <a:xfrm>
              <a:off x="1262" y="384"/>
              <a:ext cx="759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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（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Cy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  <a:sym typeface="Symbol" panose="05050102010706020507" pitchFamily="18" charset="2"/>
                </a:rPr>
                <a:t>）</a:t>
              </a:r>
            </a:p>
            <a:p>
              <a:pPr algn="just" eaLnBrk="0" hangingPunct="0"/>
              <a:endParaRPr lang="zh-CN" altLang="en-US" sz="1800">
                <a:latin typeface="Times New Roman" panose="0202060305040502030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4225031" y="41148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343400" y="38862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867400" y="59436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文本占位符 101378"/>
          <p:cNvSpPr>
            <a:spLocks noGrp="1"/>
          </p:cNvSpPr>
          <p:nvPr>
            <p:ph type="body" idx="1"/>
          </p:nvPr>
        </p:nvSpPr>
        <p:spPr>
          <a:xfrm>
            <a:off x="539750" y="1079500"/>
            <a:ext cx="7772400" cy="4815840"/>
          </a:xfrm>
        </p:spPr>
        <p:txBody>
          <a:bodyPr wrap="square"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  <a:ea typeface="黑体" panose="0201060906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ea typeface="黑体" panose="02010609060101010101" pitchFamily="2" charset="-122"/>
              </a:rPr>
              <a:t>． 位变量逻辑或指令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	</a:t>
            </a:r>
            <a:r>
              <a:rPr lang="en-US" altLang="zh-CN" sz="2400" dirty="0">
                <a:solidFill>
                  <a:schemeClr val="tx1"/>
                </a:solidFill>
              </a:rPr>
              <a:t>ORL  C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bit	</a:t>
            </a:r>
            <a:r>
              <a:rPr lang="zh-CN" altLang="en-US" sz="2400" dirty="0">
                <a:solidFill>
                  <a:schemeClr val="tx1"/>
                </a:solidFill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</a:rPr>
              <a:t>Cy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Cy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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bit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		</a:t>
            </a:r>
            <a:r>
              <a:rPr lang="en-US" altLang="zh-CN" sz="2400" dirty="0">
                <a:solidFill>
                  <a:schemeClr val="tx1"/>
                </a:solidFill>
              </a:rPr>
              <a:t>ORL  C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</a:rPr>
              <a:t>/bit	</a:t>
            </a:r>
            <a:r>
              <a:rPr lang="zh-CN" altLang="en-US" sz="2400" dirty="0">
                <a:solidFill>
                  <a:schemeClr val="tx1"/>
                </a:solidFill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</a:rPr>
              <a:t>Cy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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Cy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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bit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       位操作类指令如图</a:t>
            </a:r>
            <a:r>
              <a:rPr lang="en-US" altLang="zh-CN" sz="2400" dirty="0">
                <a:solidFill>
                  <a:schemeClr val="tx1"/>
                </a:solidFill>
              </a:rPr>
              <a:t>3.12</a:t>
            </a:r>
            <a:r>
              <a:rPr lang="zh-CN" altLang="en-US" sz="2400" dirty="0">
                <a:solidFill>
                  <a:schemeClr val="tx1"/>
                </a:solidFill>
              </a:rPr>
              <a:t>所示。</a:t>
            </a:r>
          </a:p>
          <a:p>
            <a:pPr algn="just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 </a:t>
            </a: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algn="ctr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 </a:t>
            </a:r>
          </a:p>
          <a:p>
            <a:pPr algn="ctr">
              <a:lnSpc>
                <a:spcPct val="9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</a:rPr>
              <a:t>3.12 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位操作类指令</a:t>
            </a:r>
            <a:r>
              <a:rPr lang="zh-CN" altLang="en-US" sz="36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641600"/>
            <a:ext cx="5257800" cy="27178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50</a:t>
            </a:fld>
            <a:endParaRPr spc="-5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6705600" y="1828800"/>
            <a:ext cx="216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文本占位符 102402"/>
          <p:cNvSpPr>
            <a:spLocks noGrp="1"/>
          </p:cNvSpPr>
          <p:nvPr>
            <p:ph type="body" idx="1"/>
          </p:nvPr>
        </p:nvSpPr>
        <p:spPr>
          <a:xfrm>
            <a:off x="488950" y="1270000"/>
            <a:ext cx="7924800" cy="4495800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． 位变量条件转移指令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</a:p>
          <a:p>
            <a:pPr>
              <a:buNone/>
            </a:pPr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102404" name="组合 102403"/>
          <p:cNvGrpSpPr/>
          <p:nvPr/>
        </p:nvGrpSpPr>
        <p:grpSpPr>
          <a:xfrm>
            <a:off x="685800" y="2286000"/>
            <a:ext cx="8153400" cy="2971800"/>
            <a:chOff x="43" y="0"/>
            <a:chExt cx="3182" cy="1920"/>
          </a:xfrm>
        </p:grpSpPr>
        <p:sp>
          <p:nvSpPr>
            <p:cNvPr id="102405" name="矩形 102404"/>
            <p:cNvSpPr/>
            <p:nvPr/>
          </p:nvSpPr>
          <p:spPr>
            <a:xfrm>
              <a:off x="43" y="0"/>
              <a:ext cx="45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JC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06" name="矩形 102405"/>
            <p:cNvSpPr/>
            <p:nvPr/>
          </p:nvSpPr>
          <p:spPr>
            <a:xfrm>
              <a:off x="500" y="0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07" name="矩形 102406"/>
            <p:cNvSpPr/>
            <p:nvPr/>
          </p:nvSpPr>
          <p:spPr>
            <a:xfrm>
              <a:off x="1047" y="0"/>
              <a:ext cx="104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；若（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Cy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=1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，则转移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08" name="矩形 102407"/>
            <p:cNvSpPr/>
            <p:nvPr/>
          </p:nvSpPr>
          <p:spPr>
            <a:xfrm>
              <a:off x="2091" y="0"/>
              <a:ext cx="11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PC←(PC)+2+rel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09" name="矩形 102408"/>
            <p:cNvSpPr/>
            <p:nvPr/>
          </p:nvSpPr>
          <p:spPr>
            <a:xfrm>
              <a:off x="43" y="384"/>
              <a:ext cx="45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JNC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0" name="矩形 102409"/>
            <p:cNvSpPr/>
            <p:nvPr/>
          </p:nvSpPr>
          <p:spPr>
            <a:xfrm>
              <a:off x="500" y="384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1" name="矩形 102410"/>
            <p:cNvSpPr/>
            <p:nvPr/>
          </p:nvSpPr>
          <p:spPr>
            <a:xfrm>
              <a:off x="1047" y="384"/>
              <a:ext cx="104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；若（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Cy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=0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，则转移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2" name="矩形 102411"/>
            <p:cNvSpPr/>
            <p:nvPr/>
          </p:nvSpPr>
          <p:spPr>
            <a:xfrm>
              <a:off x="2091" y="384"/>
              <a:ext cx="11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PC←(PC)+2+rel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3" name="矩形 102412"/>
            <p:cNvSpPr/>
            <p:nvPr/>
          </p:nvSpPr>
          <p:spPr>
            <a:xfrm>
              <a:off x="43" y="768"/>
              <a:ext cx="45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JB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4" name="矩形 102413"/>
            <p:cNvSpPr/>
            <p:nvPr/>
          </p:nvSpPr>
          <p:spPr>
            <a:xfrm>
              <a:off x="500" y="768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zh-CN" altLang="en-US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5" name="矩形 102414"/>
            <p:cNvSpPr/>
            <p:nvPr/>
          </p:nvSpPr>
          <p:spPr>
            <a:xfrm>
              <a:off x="1047" y="768"/>
              <a:ext cx="104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；若（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=1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，则转移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6" name="矩形 102415"/>
            <p:cNvSpPr/>
            <p:nvPr/>
          </p:nvSpPr>
          <p:spPr>
            <a:xfrm>
              <a:off x="2091" y="768"/>
              <a:ext cx="11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PC←(PC)+3+rel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7" name="矩形 102416"/>
            <p:cNvSpPr/>
            <p:nvPr/>
          </p:nvSpPr>
          <p:spPr>
            <a:xfrm>
              <a:off x="43" y="1152"/>
              <a:ext cx="45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JNB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8" name="矩形 102417"/>
            <p:cNvSpPr/>
            <p:nvPr/>
          </p:nvSpPr>
          <p:spPr>
            <a:xfrm>
              <a:off x="500" y="1152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zh-CN" altLang="en-US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19" name="矩形 102418"/>
            <p:cNvSpPr/>
            <p:nvPr/>
          </p:nvSpPr>
          <p:spPr>
            <a:xfrm>
              <a:off x="1047" y="1152"/>
              <a:ext cx="104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；若（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=0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，则转移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20" name="矩形 102419"/>
            <p:cNvSpPr/>
            <p:nvPr/>
          </p:nvSpPr>
          <p:spPr>
            <a:xfrm>
              <a:off x="2091" y="1152"/>
              <a:ext cx="11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PC←(PC)+3+rel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21" name="矩形 102420"/>
            <p:cNvSpPr/>
            <p:nvPr/>
          </p:nvSpPr>
          <p:spPr>
            <a:xfrm>
              <a:off x="43" y="1536"/>
              <a:ext cx="45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JBC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22" name="矩形 102421"/>
            <p:cNvSpPr/>
            <p:nvPr/>
          </p:nvSpPr>
          <p:spPr>
            <a:xfrm>
              <a:off x="500" y="1536"/>
              <a:ext cx="547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zh-CN" altLang="en-US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rel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23" name="矩形 102422"/>
            <p:cNvSpPr/>
            <p:nvPr/>
          </p:nvSpPr>
          <p:spPr>
            <a:xfrm>
              <a:off x="1047" y="1536"/>
              <a:ext cx="104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；若（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bit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=1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，则转移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2424" name="矩形 102423"/>
            <p:cNvSpPr/>
            <p:nvPr/>
          </p:nvSpPr>
          <p:spPr>
            <a:xfrm>
              <a:off x="2091" y="1536"/>
              <a:ext cx="1134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 dirty="0" err="1">
                  <a:latin typeface="Times New Roman" panose="02020603050405020304" charset="0"/>
                  <a:ea typeface="宋体" panose="02010600030101010101" pitchFamily="2" charset="-122"/>
                </a:rPr>
                <a:t>PC←(PC)+3+rel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，并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bit←0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51</a:t>
            </a:fld>
            <a:endParaRPr spc="-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文本占位符 103426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图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3.13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位条件转移指令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    以上介绍了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MCS-51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指令系统，理解和掌握本章内容，是应用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MCS-51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单片机的一个重要前提。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03428" name="矩形 103427"/>
          <p:cNvSpPr/>
          <p:nvPr/>
        </p:nvSpPr>
        <p:spPr>
          <a:xfrm>
            <a:off x="3438525" y="26527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70000"/>
            <a:ext cx="4724400" cy="30480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22" name="矩形 104521"/>
          <p:cNvSpPr/>
          <p:nvPr/>
        </p:nvSpPr>
        <p:spPr>
          <a:xfrm>
            <a:off x="807586" y="2281466"/>
            <a:ext cx="7772400" cy="4114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451" name="文本占位符 104450"/>
          <p:cNvSpPr>
            <a:spLocks noGrp="1"/>
          </p:cNvSpPr>
          <p:nvPr>
            <p:ph type="body" idx="1"/>
          </p:nvPr>
        </p:nvSpPr>
        <p:spPr>
          <a:xfrm>
            <a:off x="685800" y="990600"/>
            <a:ext cx="7772400" cy="5105400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3-8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】指出下列程序段的每条指令的源操作数是什么寻址方式，并写出每步运算的结果。（相关单元的内容）设程序存储器（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1050H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=5AH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： </a:t>
            </a:r>
          </a:p>
        </p:txBody>
      </p:sp>
      <p:grpSp>
        <p:nvGrpSpPr>
          <p:cNvPr id="104454" name="组合 104453"/>
          <p:cNvGrpSpPr/>
          <p:nvPr/>
        </p:nvGrpSpPr>
        <p:grpSpPr>
          <a:xfrm>
            <a:off x="923929" y="2517036"/>
            <a:ext cx="3668638" cy="303638"/>
            <a:chOff x="0" y="0"/>
            <a:chExt cx="1155" cy="374"/>
          </a:xfrm>
        </p:grpSpPr>
        <p:sp>
          <p:nvSpPr>
            <p:cNvPr id="104455" name="矩形 104454"/>
            <p:cNvSpPr/>
            <p:nvPr/>
          </p:nvSpPr>
          <p:spPr>
            <a:xfrm>
              <a:off x="43" y="0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 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#0FH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56" name="矩形 104455"/>
            <p:cNvSpPr/>
            <p:nvPr/>
          </p:nvSpPr>
          <p:spPr>
            <a:xfrm>
              <a:off x="0" y="0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57" name="组合 104456"/>
          <p:cNvGrpSpPr/>
          <p:nvPr/>
        </p:nvGrpSpPr>
        <p:grpSpPr>
          <a:xfrm>
            <a:off x="4592567" y="2517036"/>
            <a:ext cx="4008504" cy="303638"/>
            <a:chOff x="1155" y="0"/>
            <a:chExt cx="1262" cy="374"/>
          </a:xfrm>
        </p:grpSpPr>
        <p:sp>
          <p:nvSpPr>
            <p:cNvPr id="104458" name="矩形 104457"/>
            <p:cNvSpPr/>
            <p:nvPr/>
          </p:nvSpPr>
          <p:spPr>
            <a:xfrm>
              <a:off x="1198" y="0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A=0FH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　　，立即寻址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59" name="矩形 104458"/>
            <p:cNvSpPr/>
            <p:nvPr/>
          </p:nvSpPr>
          <p:spPr>
            <a:xfrm>
              <a:off x="1155" y="0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60" name="组合 104459"/>
          <p:cNvGrpSpPr/>
          <p:nvPr/>
        </p:nvGrpSpPr>
        <p:grpSpPr>
          <a:xfrm>
            <a:off x="923929" y="2820674"/>
            <a:ext cx="3668638" cy="303638"/>
            <a:chOff x="0" y="374"/>
            <a:chExt cx="1155" cy="374"/>
          </a:xfrm>
        </p:grpSpPr>
        <p:sp>
          <p:nvSpPr>
            <p:cNvPr id="104461" name="矩形 104460"/>
            <p:cNvSpPr/>
            <p:nvPr/>
          </p:nvSpPr>
          <p:spPr>
            <a:xfrm>
              <a:off x="43" y="374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30H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#0F0H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62" name="矩形 104461"/>
            <p:cNvSpPr/>
            <p:nvPr/>
          </p:nvSpPr>
          <p:spPr>
            <a:xfrm>
              <a:off x="0" y="374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63" name="组合 104462"/>
          <p:cNvGrpSpPr/>
          <p:nvPr/>
        </p:nvGrpSpPr>
        <p:grpSpPr>
          <a:xfrm>
            <a:off x="4592567" y="2820674"/>
            <a:ext cx="4008504" cy="303638"/>
            <a:chOff x="1155" y="374"/>
            <a:chExt cx="1262" cy="374"/>
          </a:xfrm>
        </p:grpSpPr>
        <p:sp>
          <p:nvSpPr>
            <p:cNvPr id="104464" name="矩形 104463"/>
            <p:cNvSpPr/>
            <p:nvPr/>
          </p:nvSpPr>
          <p:spPr>
            <a:xfrm>
              <a:off x="1198" y="374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(30H)=F0H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，立即寻址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65" name="矩形 104464"/>
            <p:cNvSpPr/>
            <p:nvPr/>
          </p:nvSpPr>
          <p:spPr>
            <a:xfrm>
              <a:off x="1155" y="374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66" name="组合 104465"/>
          <p:cNvGrpSpPr/>
          <p:nvPr/>
        </p:nvGrpSpPr>
        <p:grpSpPr>
          <a:xfrm>
            <a:off x="923929" y="3124313"/>
            <a:ext cx="3668638" cy="303638"/>
            <a:chOff x="0" y="748"/>
            <a:chExt cx="1155" cy="374"/>
          </a:xfrm>
        </p:grpSpPr>
        <p:sp>
          <p:nvSpPr>
            <p:cNvPr id="104467" name="矩形 104466"/>
            <p:cNvSpPr/>
            <p:nvPr/>
          </p:nvSpPr>
          <p:spPr>
            <a:xfrm>
              <a:off x="43" y="748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 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R2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68" name="矩形 104467"/>
            <p:cNvSpPr/>
            <p:nvPr/>
          </p:nvSpPr>
          <p:spPr>
            <a:xfrm>
              <a:off x="0" y="748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69" name="组合 104468"/>
          <p:cNvGrpSpPr/>
          <p:nvPr/>
        </p:nvGrpSpPr>
        <p:grpSpPr>
          <a:xfrm>
            <a:off x="4592567" y="3124313"/>
            <a:ext cx="4008504" cy="303638"/>
            <a:chOff x="1155" y="748"/>
            <a:chExt cx="1262" cy="374"/>
          </a:xfrm>
        </p:grpSpPr>
        <p:sp>
          <p:nvSpPr>
            <p:cNvPr id="104470" name="矩形 104469"/>
            <p:cNvSpPr/>
            <p:nvPr/>
          </p:nvSpPr>
          <p:spPr>
            <a:xfrm>
              <a:off x="1198" y="748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R2=0FH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　，寄存器寻址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71" name="矩形 104470"/>
            <p:cNvSpPr/>
            <p:nvPr/>
          </p:nvSpPr>
          <p:spPr>
            <a:xfrm>
              <a:off x="1155" y="748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72" name="组合 104471"/>
          <p:cNvGrpSpPr/>
          <p:nvPr/>
        </p:nvGrpSpPr>
        <p:grpSpPr>
          <a:xfrm>
            <a:off x="923929" y="3427951"/>
            <a:ext cx="3668638" cy="303638"/>
            <a:chOff x="0" y="1122"/>
            <a:chExt cx="1155" cy="374"/>
          </a:xfrm>
        </p:grpSpPr>
        <p:sp>
          <p:nvSpPr>
            <p:cNvPr id="104473" name="矩形 104472"/>
            <p:cNvSpPr/>
            <p:nvPr/>
          </p:nvSpPr>
          <p:spPr>
            <a:xfrm>
              <a:off x="43" y="1122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 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R1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#30H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74" name="矩形 104473"/>
            <p:cNvSpPr/>
            <p:nvPr/>
          </p:nvSpPr>
          <p:spPr>
            <a:xfrm>
              <a:off x="0" y="1122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75" name="组合 104474"/>
          <p:cNvGrpSpPr/>
          <p:nvPr/>
        </p:nvGrpSpPr>
        <p:grpSpPr>
          <a:xfrm>
            <a:off x="4592567" y="3427951"/>
            <a:ext cx="4008504" cy="303638"/>
            <a:chOff x="1155" y="1122"/>
            <a:chExt cx="1262" cy="374"/>
          </a:xfrm>
        </p:grpSpPr>
        <p:sp>
          <p:nvSpPr>
            <p:cNvPr id="104476" name="矩形 104475"/>
            <p:cNvSpPr/>
            <p:nvPr/>
          </p:nvSpPr>
          <p:spPr>
            <a:xfrm>
              <a:off x="1198" y="1122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R1=30H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　，立即寻址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77" name="矩形 104476"/>
            <p:cNvSpPr/>
            <p:nvPr/>
          </p:nvSpPr>
          <p:spPr>
            <a:xfrm>
              <a:off x="1155" y="1122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78" name="组合 104477"/>
          <p:cNvGrpSpPr/>
          <p:nvPr/>
        </p:nvGrpSpPr>
        <p:grpSpPr>
          <a:xfrm>
            <a:off x="923929" y="3731589"/>
            <a:ext cx="3668638" cy="303638"/>
            <a:chOff x="0" y="1496"/>
            <a:chExt cx="1155" cy="374"/>
          </a:xfrm>
        </p:grpSpPr>
        <p:sp>
          <p:nvSpPr>
            <p:cNvPr id="104479" name="矩形 104478"/>
            <p:cNvSpPr/>
            <p:nvPr/>
          </p:nvSpPr>
          <p:spPr>
            <a:xfrm>
              <a:off x="43" y="1496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 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@R1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80" name="矩形 104479"/>
            <p:cNvSpPr/>
            <p:nvPr/>
          </p:nvSpPr>
          <p:spPr>
            <a:xfrm>
              <a:off x="0" y="1496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81" name="组合 104480"/>
          <p:cNvGrpSpPr/>
          <p:nvPr/>
        </p:nvGrpSpPr>
        <p:grpSpPr>
          <a:xfrm>
            <a:off x="4592567" y="3731589"/>
            <a:ext cx="4008504" cy="303638"/>
            <a:chOff x="1155" y="1496"/>
            <a:chExt cx="1262" cy="374"/>
          </a:xfrm>
        </p:grpSpPr>
        <p:sp>
          <p:nvSpPr>
            <p:cNvPr id="104482" name="矩形 104481"/>
            <p:cNvSpPr/>
            <p:nvPr/>
          </p:nvSpPr>
          <p:spPr>
            <a:xfrm>
              <a:off x="1198" y="1496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A=F0H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　，寄存器间接寻址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83" name="矩形 104482"/>
            <p:cNvSpPr/>
            <p:nvPr/>
          </p:nvSpPr>
          <p:spPr>
            <a:xfrm>
              <a:off x="1155" y="1496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84" name="组合 104483"/>
          <p:cNvGrpSpPr/>
          <p:nvPr/>
        </p:nvGrpSpPr>
        <p:grpSpPr>
          <a:xfrm>
            <a:off x="923929" y="4035228"/>
            <a:ext cx="3668638" cy="303638"/>
            <a:chOff x="0" y="1870"/>
            <a:chExt cx="1155" cy="374"/>
          </a:xfrm>
        </p:grpSpPr>
        <p:sp>
          <p:nvSpPr>
            <p:cNvPr id="104485" name="矩形 104484"/>
            <p:cNvSpPr/>
            <p:nvPr/>
          </p:nvSpPr>
          <p:spPr>
            <a:xfrm>
              <a:off x="43" y="1870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DPTR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#1000H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86" name="矩形 104485"/>
            <p:cNvSpPr/>
            <p:nvPr/>
          </p:nvSpPr>
          <p:spPr>
            <a:xfrm>
              <a:off x="0" y="1870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87" name="组合 104486"/>
          <p:cNvGrpSpPr/>
          <p:nvPr/>
        </p:nvGrpSpPr>
        <p:grpSpPr>
          <a:xfrm>
            <a:off x="4592567" y="4035228"/>
            <a:ext cx="4008504" cy="303638"/>
            <a:chOff x="1155" y="1870"/>
            <a:chExt cx="1262" cy="374"/>
          </a:xfrm>
        </p:grpSpPr>
        <p:sp>
          <p:nvSpPr>
            <p:cNvPr id="104488" name="矩形 104487"/>
            <p:cNvSpPr/>
            <p:nvPr/>
          </p:nvSpPr>
          <p:spPr>
            <a:xfrm>
              <a:off x="1198" y="1870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DPTR=1000H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，立即寻址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89" name="矩形 104488"/>
            <p:cNvSpPr/>
            <p:nvPr/>
          </p:nvSpPr>
          <p:spPr>
            <a:xfrm>
              <a:off x="1155" y="1870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90" name="组合 104489"/>
          <p:cNvGrpSpPr/>
          <p:nvPr/>
        </p:nvGrpSpPr>
        <p:grpSpPr>
          <a:xfrm>
            <a:off x="923929" y="4338866"/>
            <a:ext cx="3668638" cy="303638"/>
            <a:chOff x="0" y="2244"/>
            <a:chExt cx="1155" cy="374"/>
          </a:xfrm>
        </p:grpSpPr>
        <p:sp>
          <p:nvSpPr>
            <p:cNvPr id="104491" name="矩形 104490"/>
            <p:cNvSpPr/>
            <p:nvPr/>
          </p:nvSpPr>
          <p:spPr>
            <a:xfrm>
              <a:off x="43" y="2244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 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#50H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92" name="矩形 104491"/>
            <p:cNvSpPr/>
            <p:nvPr/>
          </p:nvSpPr>
          <p:spPr>
            <a:xfrm>
              <a:off x="0" y="2244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93" name="组合 104492"/>
          <p:cNvGrpSpPr/>
          <p:nvPr/>
        </p:nvGrpSpPr>
        <p:grpSpPr>
          <a:xfrm>
            <a:off x="4592567" y="4338866"/>
            <a:ext cx="4008504" cy="303638"/>
            <a:chOff x="1155" y="2244"/>
            <a:chExt cx="1262" cy="374"/>
          </a:xfrm>
        </p:grpSpPr>
        <p:sp>
          <p:nvSpPr>
            <p:cNvPr id="104494" name="矩形 104493"/>
            <p:cNvSpPr/>
            <p:nvPr/>
          </p:nvSpPr>
          <p:spPr>
            <a:xfrm>
              <a:off x="1198" y="2244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A=50H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，立即寻址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95" name="矩形 104494"/>
            <p:cNvSpPr/>
            <p:nvPr/>
          </p:nvSpPr>
          <p:spPr>
            <a:xfrm>
              <a:off x="1155" y="2244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96" name="组合 104495"/>
          <p:cNvGrpSpPr/>
          <p:nvPr/>
        </p:nvGrpSpPr>
        <p:grpSpPr>
          <a:xfrm>
            <a:off x="923929" y="4642504"/>
            <a:ext cx="3668638" cy="303638"/>
            <a:chOff x="0" y="2618"/>
            <a:chExt cx="1155" cy="374"/>
          </a:xfrm>
        </p:grpSpPr>
        <p:sp>
          <p:nvSpPr>
            <p:cNvPr id="104497" name="矩形 104496"/>
            <p:cNvSpPr/>
            <p:nvPr/>
          </p:nvSpPr>
          <p:spPr>
            <a:xfrm>
              <a:off x="43" y="2618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MOVC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 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@ A+ DPTR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498" name="矩形 104497"/>
            <p:cNvSpPr/>
            <p:nvPr/>
          </p:nvSpPr>
          <p:spPr>
            <a:xfrm>
              <a:off x="0" y="2618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499" name="组合 104498"/>
          <p:cNvGrpSpPr/>
          <p:nvPr/>
        </p:nvGrpSpPr>
        <p:grpSpPr>
          <a:xfrm>
            <a:off x="4592567" y="4642504"/>
            <a:ext cx="4008504" cy="303638"/>
            <a:chOff x="1155" y="2618"/>
            <a:chExt cx="1262" cy="374"/>
          </a:xfrm>
        </p:grpSpPr>
        <p:sp>
          <p:nvSpPr>
            <p:cNvPr id="104500" name="矩形 104499"/>
            <p:cNvSpPr/>
            <p:nvPr/>
          </p:nvSpPr>
          <p:spPr>
            <a:xfrm>
              <a:off x="1198" y="2618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A=5AH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，变址寻址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01" name="矩形 104500"/>
            <p:cNvSpPr/>
            <p:nvPr/>
          </p:nvSpPr>
          <p:spPr>
            <a:xfrm>
              <a:off x="1155" y="2618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502" name="组合 104501"/>
          <p:cNvGrpSpPr/>
          <p:nvPr/>
        </p:nvGrpSpPr>
        <p:grpSpPr>
          <a:xfrm>
            <a:off x="923929" y="4946142"/>
            <a:ext cx="3668638" cy="373459"/>
            <a:chOff x="0" y="2992"/>
            <a:chExt cx="1155" cy="460"/>
          </a:xfrm>
        </p:grpSpPr>
        <p:sp>
          <p:nvSpPr>
            <p:cNvPr id="104503" name="矩形 104502"/>
            <p:cNvSpPr/>
            <p:nvPr/>
          </p:nvSpPr>
          <p:spPr>
            <a:xfrm>
              <a:off x="43" y="2992"/>
              <a:ext cx="1069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JMP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@A+DPTR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04" name="矩形 104503"/>
            <p:cNvSpPr/>
            <p:nvPr/>
          </p:nvSpPr>
          <p:spPr>
            <a:xfrm>
              <a:off x="0" y="2992"/>
              <a:ext cx="1155" cy="460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505" name="组合 104504"/>
          <p:cNvGrpSpPr/>
          <p:nvPr/>
        </p:nvGrpSpPr>
        <p:grpSpPr>
          <a:xfrm>
            <a:off x="4592567" y="4946142"/>
            <a:ext cx="4008504" cy="373459"/>
            <a:chOff x="1155" y="2992"/>
            <a:chExt cx="1262" cy="460"/>
          </a:xfrm>
        </p:grpSpPr>
        <p:sp>
          <p:nvSpPr>
            <p:cNvPr id="104506" name="矩形 104505"/>
            <p:cNvSpPr/>
            <p:nvPr/>
          </p:nvSpPr>
          <p:spPr>
            <a:xfrm>
              <a:off x="1198" y="2992"/>
              <a:ext cx="1176" cy="4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PC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目标＝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105AH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，变址寻址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07" name="矩形 104506"/>
            <p:cNvSpPr/>
            <p:nvPr/>
          </p:nvSpPr>
          <p:spPr>
            <a:xfrm>
              <a:off x="1155" y="2992"/>
              <a:ext cx="1262" cy="460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508" name="组合 104507"/>
          <p:cNvGrpSpPr/>
          <p:nvPr/>
        </p:nvGrpSpPr>
        <p:grpSpPr>
          <a:xfrm>
            <a:off x="923929" y="5319601"/>
            <a:ext cx="3668638" cy="303638"/>
            <a:chOff x="0" y="3452"/>
            <a:chExt cx="1155" cy="374"/>
          </a:xfrm>
        </p:grpSpPr>
        <p:sp>
          <p:nvSpPr>
            <p:cNvPr id="104509" name="矩形 104508"/>
            <p:cNvSpPr/>
            <p:nvPr/>
          </p:nvSpPr>
          <p:spPr>
            <a:xfrm>
              <a:off x="43" y="3452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CLR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 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10" name="矩形 104509"/>
            <p:cNvSpPr/>
            <p:nvPr/>
          </p:nvSpPr>
          <p:spPr>
            <a:xfrm>
              <a:off x="0" y="3452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511" name="组合 104510"/>
          <p:cNvGrpSpPr/>
          <p:nvPr/>
        </p:nvGrpSpPr>
        <p:grpSpPr>
          <a:xfrm>
            <a:off x="4592567" y="5319601"/>
            <a:ext cx="4008504" cy="303638"/>
            <a:chOff x="1155" y="3452"/>
            <a:chExt cx="1262" cy="374"/>
          </a:xfrm>
        </p:grpSpPr>
        <p:sp>
          <p:nvSpPr>
            <p:cNvPr id="104512" name="矩形 104511"/>
            <p:cNvSpPr/>
            <p:nvPr/>
          </p:nvSpPr>
          <p:spPr>
            <a:xfrm>
              <a:off x="1198" y="3452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C=0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zh-CN" altLang="en-US" dirty="0">
                  <a:latin typeface="Times New Roman" panose="02020603050405020304" charset="0"/>
                  <a:ea typeface="宋体" panose="02010600030101010101" pitchFamily="2" charset="-122"/>
                </a:rPr>
                <a:t>位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13" name="矩形 104512"/>
            <p:cNvSpPr/>
            <p:nvPr/>
          </p:nvSpPr>
          <p:spPr>
            <a:xfrm>
              <a:off x="1155" y="3452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514" name="组合 104513"/>
          <p:cNvGrpSpPr/>
          <p:nvPr/>
        </p:nvGrpSpPr>
        <p:grpSpPr>
          <a:xfrm>
            <a:off x="923929" y="5623240"/>
            <a:ext cx="3668638" cy="303638"/>
            <a:chOff x="0" y="3826"/>
            <a:chExt cx="1155" cy="374"/>
          </a:xfrm>
        </p:grpSpPr>
        <p:sp>
          <p:nvSpPr>
            <p:cNvPr id="104515" name="矩形 104514"/>
            <p:cNvSpPr/>
            <p:nvPr/>
          </p:nvSpPr>
          <p:spPr>
            <a:xfrm>
              <a:off x="43" y="3826"/>
              <a:ext cx="1069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MOV 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　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20H</a:t>
              </a:r>
              <a:r>
                <a:rPr lang="zh-CN" altLang="en-US" sz="18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80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</a:p>
            <a:p>
              <a:pPr algn="just" eaLnBrk="0" hangingPunct="0"/>
              <a:endParaRPr lang="en-US" altLang="zh-CN" sz="18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16" name="矩形 104515"/>
            <p:cNvSpPr/>
            <p:nvPr/>
          </p:nvSpPr>
          <p:spPr>
            <a:xfrm>
              <a:off x="0" y="3826"/>
              <a:ext cx="1155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4517" name="组合 104516"/>
          <p:cNvGrpSpPr/>
          <p:nvPr/>
        </p:nvGrpSpPr>
        <p:grpSpPr>
          <a:xfrm>
            <a:off x="4592567" y="5623240"/>
            <a:ext cx="4008504" cy="303638"/>
            <a:chOff x="1155" y="3826"/>
            <a:chExt cx="1262" cy="374"/>
          </a:xfrm>
        </p:grpSpPr>
        <p:sp>
          <p:nvSpPr>
            <p:cNvPr id="104518" name="矩形 104517"/>
            <p:cNvSpPr/>
            <p:nvPr/>
          </p:nvSpPr>
          <p:spPr>
            <a:xfrm>
              <a:off x="1198" y="3826"/>
              <a:ext cx="1176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just"/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；（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20H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）</a:t>
              </a:r>
              <a:r>
                <a:rPr lang="en-US" altLang="zh-CN" sz="1800" dirty="0">
                  <a:latin typeface="Times New Roman" panose="02020603050405020304" charset="0"/>
                  <a:ea typeface="宋体" panose="02010600030101010101" pitchFamily="2" charset="-122"/>
                </a:rPr>
                <a:t>=0</a:t>
              </a:r>
              <a:r>
                <a:rPr lang="zh-CN" altLang="en-US" sz="1800" dirty="0">
                  <a:latin typeface="Times New Roman" panose="02020603050405020304" charset="0"/>
                  <a:ea typeface="宋体" panose="02010600030101010101" pitchFamily="2" charset="-122"/>
                </a:rPr>
                <a:t>，位寻址</a:t>
              </a:r>
            </a:p>
            <a:p>
              <a:pPr algn="just" eaLnBrk="0" hangingPunct="0"/>
              <a:endParaRPr lang="zh-CN" altLang="en-US" sz="1800" dirty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104519" name="矩形 104518"/>
            <p:cNvSpPr/>
            <p:nvPr/>
          </p:nvSpPr>
          <p:spPr>
            <a:xfrm>
              <a:off x="1155" y="3826"/>
              <a:ext cx="1262" cy="374"/>
            </a:xfrm>
            <a:prstGeom prst="rect">
              <a:avLst/>
            </a:prstGeom>
            <a:noFill/>
            <a:ln w="7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4520" name="矩形 104519"/>
          <p:cNvSpPr/>
          <p:nvPr/>
        </p:nvSpPr>
        <p:spPr>
          <a:xfrm>
            <a:off x="914400" y="2514600"/>
            <a:ext cx="7696200" cy="3414713"/>
          </a:xfrm>
          <a:prstGeom prst="rect">
            <a:avLst/>
          </a:prstGeom>
          <a:noFill/>
          <a:ln w="11112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文本占位符 105474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8458200" cy="4572000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【例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3-9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】用数据传送指令实现下列要求的数据传送。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的内容输出到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）内部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单元的内容传送到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中。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）外部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30H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单元的内容送到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）外部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30H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单元的内容送内部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    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）外部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1000H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单元的内容送内部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）程序存储器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ROM 2000H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单元的内容送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ROM 2000H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单元的内容送内部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20H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ROM 2000H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单元的内容送外部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30H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单元。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	（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ROM 2000H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单元的内容送外部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RAM 1000H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单元。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文本占位符 106498"/>
          <p:cNvSpPr>
            <a:spLocks noGrp="1"/>
          </p:cNvSpPr>
          <p:nvPr>
            <p:ph type="body" idx="1"/>
          </p:nvPr>
        </p:nvSpPr>
        <p:spPr>
          <a:xfrm>
            <a:off x="304800" y="733107"/>
            <a:ext cx="7315200" cy="5391785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解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   </a:t>
            </a:r>
          </a:p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 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的内容输出到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R1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。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   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MOV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MOV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R1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(2)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内部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RAM 20H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单元的内容传送到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中</a:t>
            </a: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    MOV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20H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(3)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外部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RAM 30H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单元的内容送到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R0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    MOV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#30H   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或  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MOV R1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#30H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MOVX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@R0          MOVX 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@R1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MOV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            MOV R0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(4)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外部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RAM 30H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单元的内容送内部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RAM20H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单元</a:t>
            </a: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    MOV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R0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#30H   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或  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MOV R1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#30H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MOVX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@R0          MOVX 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@R1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	      MOV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20H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           MOV 20H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）外部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RAM 1000H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单元的内容送内部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</a:rPr>
              <a:t>RAM 20H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</a:rPr>
              <a:t>单元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MOV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DPTR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#1000H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MOVX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 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@DPTR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             MOV 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　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20H</a:t>
            </a:r>
            <a:r>
              <a:rPr lang="zh-CN" altLang="en-US" sz="20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A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" panose="02010600030101010101" pitchFamily="2" charset="-122"/>
              </a:rPr>
              <a:t>	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文本占位符 107522"/>
          <p:cNvSpPr>
            <a:spLocks noGrp="1"/>
          </p:cNvSpPr>
          <p:nvPr>
            <p:ph type="body" idx="1"/>
          </p:nvPr>
        </p:nvSpPr>
        <p:spPr>
          <a:xfrm>
            <a:off x="1504747" y="381000"/>
            <a:ext cx="7207250" cy="5181600"/>
          </a:xfrm>
        </p:spPr>
        <p:txBody>
          <a:bodyPr/>
          <a:lstStyle/>
          <a:p>
            <a:pPr>
              <a:buNone/>
            </a:pP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(6)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程序存储器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ROM 2000H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单元的内容送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R1</a:t>
            </a:r>
          </a:p>
          <a:p>
            <a:pPr>
              <a:buNone/>
            </a:pPr>
            <a:r>
              <a:rPr lang="en-US" altLang="zh-CN" dirty="0">
                <a:latin typeface="宋体" panose="02010600030101010101" pitchFamily="2" charset="-122"/>
              </a:rPr>
              <a:t>	MOV</a:t>
            </a:r>
            <a:r>
              <a:rPr lang="zh-CN" altLang="en-US" dirty="0">
                <a:latin typeface="宋体" panose="02010600030101010101" pitchFamily="2" charset="-122"/>
              </a:rPr>
              <a:t>　 </a:t>
            </a:r>
            <a:r>
              <a:rPr lang="en-US" altLang="zh-CN" dirty="0">
                <a:latin typeface="宋体" panose="02010600030101010101" pitchFamily="2" charset="-122"/>
              </a:rPr>
              <a:t>DPTR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#2000H</a:t>
            </a:r>
          </a:p>
          <a:p>
            <a:pPr>
              <a:buNone/>
            </a:pPr>
            <a:r>
              <a:rPr lang="en-US" altLang="zh-CN" dirty="0">
                <a:latin typeface="宋体" panose="02010600030101010101" pitchFamily="2" charset="-122"/>
              </a:rPr>
              <a:t>   	CLR  A</a:t>
            </a:r>
          </a:p>
          <a:p>
            <a:pPr>
              <a:buNone/>
            </a:pPr>
            <a:r>
              <a:rPr lang="en-US" altLang="zh-CN" dirty="0">
                <a:latin typeface="宋体" panose="02010600030101010101" pitchFamily="2" charset="-122"/>
              </a:rPr>
              <a:t>   	MOVC </a:t>
            </a:r>
            <a:r>
              <a:rPr lang="zh-CN" altLang="en-US" dirty="0">
                <a:latin typeface="宋体" panose="02010600030101010101" pitchFamily="2" charset="-122"/>
              </a:rPr>
              <a:t>　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@A+DPTR</a:t>
            </a:r>
          </a:p>
          <a:p>
            <a:pPr>
              <a:buNone/>
            </a:pPr>
            <a:r>
              <a:rPr lang="en-US" altLang="zh-CN" dirty="0">
                <a:latin typeface="宋体" panose="02010600030101010101" pitchFamily="2" charset="-122"/>
              </a:rPr>
              <a:t>   	MOV</a:t>
            </a:r>
            <a:r>
              <a:rPr lang="zh-CN" altLang="en-US" dirty="0">
                <a:latin typeface="宋体" panose="02010600030101010101" pitchFamily="2" charset="-122"/>
              </a:rPr>
              <a:t>　 </a:t>
            </a:r>
            <a:r>
              <a:rPr lang="en-US" altLang="zh-CN" dirty="0">
                <a:latin typeface="宋体" panose="02010600030101010101" pitchFamily="2" charset="-122"/>
              </a:rPr>
              <a:t>R1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</a:p>
          <a:p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(7) ROM 2000H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单元的内容送内部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RAM 20H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单元。</a:t>
            </a:r>
            <a:endParaRPr lang="en-US" altLang="zh-CN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  	MOV</a:t>
            </a:r>
            <a:r>
              <a:rPr lang="zh-CN" altLang="en-US" dirty="0">
                <a:latin typeface="宋体" panose="02010600030101010101" pitchFamily="2" charset="-122"/>
              </a:rPr>
              <a:t>　 </a:t>
            </a:r>
            <a:r>
              <a:rPr lang="en-US" altLang="zh-CN" dirty="0">
                <a:latin typeface="宋体" panose="02010600030101010101" pitchFamily="2" charset="-122"/>
              </a:rPr>
              <a:t>DPTR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#2000H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CLR  A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MOVC </a:t>
            </a:r>
            <a:r>
              <a:rPr lang="zh-CN" altLang="en-US" dirty="0">
                <a:latin typeface="宋体" panose="02010600030101010101" pitchFamily="2" charset="-122"/>
              </a:rPr>
              <a:t>　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@A+DPTR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MOV </a:t>
            </a:r>
            <a:r>
              <a:rPr lang="zh-CN" altLang="en-US" dirty="0">
                <a:latin typeface="宋体" panose="02010600030101010101" pitchFamily="2" charset="-122"/>
              </a:rPr>
              <a:t>　</a:t>
            </a:r>
            <a:r>
              <a:rPr lang="en-US" altLang="zh-CN" dirty="0">
                <a:latin typeface="宋体" panose="02010600030101010101" pitchFamily="2" charset="-122"/>
              </a:rPr>
              <a:t>20H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</a:p>
          <a:p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(8) ROM 2000H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单元的内容送外部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RAM 30H 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单元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en-US" altLang="zh-CN" dirty="0">
                <a:latin typeface="宋体" panose="02010600030101010101" pitchFamily="2" charset="-122"/>
              </a:rPr>
              <a:t> 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	MOV DPTR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#2000H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	CLR  A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MOVC</a:t>
            </a:r>
            <a:r>
              <a:rPr lang="zh-CN" altLang="en-US" dirty="0">
                <a:latin typeface="宋体" panose="02010600030101010101" pitchFamily="2" charset="-122"/>
              </a:rPr>
              <a:t>　 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@A+DPTR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MOV </a:t>
            </a:r>
            <a:r>
              <a:rPr lang="zh-CN" altLang="en-US" dirty="0">
                <a:latin typeface="宋体" panose="02010600030101010101" pitchFamily="2" charset="-122"/>
              </a:rPr>
              <a:t>　</a:t>
            </a:r>
            <a:r>
              <a:rPr lang="en-US" altLang="zh-CN" dirty="0">
                <a:latin typeface="宋体" panose="02010600030101010101" pitchFamily="2" charset="-122"/>
              </a:rPr>
              <a:t>R0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#30H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MOVX </a:t>
            </a:r>
            <a:r>
              <a:rPr lang="zh-CN" altLang="en-US" dirty="0">
                <a:latin typeface="宋体" panose="02010600030101010101" pitchFamily="2" charset="-122"/>
              </a:rPr>
              <a:t>　</a:t>
            </a:r>
            <a:r>
              <a:rPr lang="en-US" altLang="zh-CN" dirty="0">
                <a:latin typeface="宋体" panose="02010600030101010101" pitchFamily="2" charset="-122"/>
              </a:rPr>
              <a:t>@R0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</a:p>
          <a:p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(9) ROM 2000H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单元的内容送外部</a:t>
            </a:r>
            <a:r>
              <a:rPr lang="en-US" altLang="zh-CN" dirty="0">
                <a:solidFill>
                  <a:srgbClr val="0070C0"/>
                </a:solidFill>
                <a:latin typeface="宋体" panose="02010600030101010101" pitchFamily="2" charset="-122"/>
              </a:rPr>
              <a:t>RAM 1000H</a:t>
            </a:r>
            <a:r>
              <a:rPr lang="zh-CN" altLang="en-US" dirty="0">
                <a:solidFill>
                  <a:srgbClr val="0070C0"/>
                </a:solidFill>
                <a:latin typeface="宋体" panose="02010600030101010101" pitchFamily="2" charset="-122"/>
              </a:rPr>
              <a:t>单元</a:t>
            </a:r>
            <a:r>
              <a:rPr lang="zh-CN" altLang="en-US" dirty="0">
                <a:latin typeface="宋体" panose="02010600030101010101" pitchFamily="2" charset="-122"/>
              </a:rPr>
              <a:t>。 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</a:rPr>
              <a:t> 	MOV </a:t>
            </a:r>
            <a:r>
              <a:rPr lang="zh-CN" altLang="en-US" dirty="0">
                <a:latin typeface="宋体" panose="02010600030101010101" pitchFamily="2" charset="-122"/>
              </a:rPr>
              <a:t>　</a:t>
            </a:r>
            <a:r>
              <a:rPr lang="en-US" altLang="zh-CN" dirty="0">
                <a:latin typeface="宋体" panose="02010600030101010101" pitchFamily="2" charset="-122"/>
              </a:rPr>
              <a:t>DPTR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#2000H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CLR  A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MOVC</a:t>
            </a:r>
            <a:r>
              <a:rPr lang="zh-CN" altLang="en-US" dirty="0">
                <a:latin typeface="宋体" panose="02010600030101010101" pitchFamily="2" charset="-122"/>
              </a:rPr>
              <a:t>　 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@A+DPTR</a:t>
            </a:r>
          </a:p>
          <a:p>
            <a:r>
              <a:rPr lang="en-US" altLang="zh-CN" dirty="0">
                <a:latin typeface="宋体" panose="02010600030101010101" pitchFamily="2" charset="-122"/>
              </a:rPr>
              <a:t>        MOV </a:t>
            </a:r>
            <a:r>
              <a:rPr lang="zh-CN" altLang="en-US" dirty="0">
                <a:latin typeface="宋体" panose="02010600030101010101" pitchFamily="2" charset="-122"/>
              </a:rPr>
              <a:t>　</a:t>
            </a:r>
            <a:r>
              <a:rPr lang="en-US" altLang="zh-CN" dirty="0">
                <a:latin typeface="宋体" panose="02010600030101010101" pitchFamily="2" charset="-122"/>
              </a:rPr>
              <a:t>DPTR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#1000H</a:t>
            </a:r>
          </a:p>
          <a:p>
            <a:pPr algn="just"/>
            <a:r>
              <a:rPr lang="en-US" altLang="zh-CN" dirty="0">
                <a:latin typeface="宋体" panose="02010600030101010101" pitchFamily="2" charset="-122"/>
              </a:rPr>
              <a:t>        MOVX</a:t>
            </a:r>
            <a:r>
              <a:rPr lang="zh-CN" altLang="en-US" dirty="0">
                <a:latin typeface="宋体" panose="02010600030101010101" pitchFamily="2" charset="-122"/>
              </a:rPr>
              <a:t>　 </a:t>
            </a:r>
            <a:r>
              <a:rPr lang="en-US" altLang="zh-CN" dirty="0">
                <a:latin typeface="宋体" panose="02010600030101010101" pitchFamily="2" charset="-122"/>
              </a:rPr>
              <a:t>@DPTR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</a:rPr>
              <a:t>A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52600" y="1524000"/>
            <a:ext cx="3733800" cy="3939540"/>
          </a:xfrm>
        </p:spPr>
        <p:txBody>
          <a:bodyPr/>
          <a:lstStyle/>
          <a:p>
            <a:r>
              <a:rPr lang="en-US" altLang="zh-CN" sz="3200" dirty="0"/>
              <a:t>4</a:t>
            </a:r>
          </a:p>
          <a:p>
            <a:r>
              <a:rPr lang="en-US" altLang="zh-CN" sz="3200" dirty="0"/>
              <a:t>5</a:t>
            </a:r>
          </a:p>
          <a:p>
            <a:r>
              <a:rPr lang="en-US" altLang="zh-CN" sz="3200" dirty="0"/>
              <a:t>6</a:t>
            </a:r>
          </a:p>
          <a:p>
            <a:r>
              <a:rPr lang="en-US" altLang="zh-CN" sz="3200" dirty="0"/>
              <a:t>9</a:t>
            </a:r>
          </a:p>
          <a:p>
            <a:r>
              <a:rPr lang="en-US" altLang="zh-CN" sz="3200" dirty="0"/>
              <a:t>10-13</a:t>
            </a:r>
          </a:p>
          <a:p>
            <a:r>
              <a:rPr lang="en-US" altLang="zh-CN" sz="3200" dirty="0"/>
              <a:t>17</a:t>
            </a:r>
          </a:p>
          <a:p>
            <a:r>
              <a:rPr lang="en-US" altLang="zh-CN" sz="3200" dirty="0"/>
              <a:t>19</a:t>
            </a:r>
          </a:p>
          <a:p>
            <a:r>
              <a:rPr lang="en-US" altLang="zh-CN" sz="3200" dirty="0"/>
              <a:t>35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lang="en-US" altLang="zh-CN" spc="-5" smtClean="0"/>
              <a:t>57</a:t>
            </a:fld>
            <a:endParaRPr lang="en-US" altLang="zh-CN" spc="-5" dirty="0"/>
          </a:p>
        </p:txBody>
      </p:sp>
    </p:spTree>
    <p:extLst>
      <p:ext uri="{BB962C8B-B14F-4D97-AF65-F5344CB8AC3E}">
        <p14:creationId xmlns:p14="http://schemas.microsoft.com/office/powerpoint/2010/main" val="381043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5400</Words>
  <Application>Microsoft Office PowerPoint</Application>
  <PresentationFormat>全屏显示(4:3)</PresentationFormat>
  <Paragraphs>847</Paragraphs>
  <Slides>57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6" baseType="lpstr">
      <vt:lpstr>黑体</vt:lpstr>
      <vt:lpstr>隶书</vt:lpstr>
      <vt:lpstr>宋体</vt:lpstr>
      <vt:lpstr>微软雅黑</vt:lpstr>
      <vt:lpstr>Calibri</vt:lpstr>
      <vt:lpstr>Times New Roman</vt:lpstr>
      <vt:lpstr>Wingdings</vt:lpstr>
      <vt:lpstr>Office Theme</vt:lpstr>
      <vt:lpstr>Microsoft Word Picture</vt:lpstr>
      <vt:lpstr>PowerPoint 演示文稿</vt:lpstr>
      <vt:lpstr>目  录</vt:lpstr>
      <vt:lpstr>基本概念</vt:lpstr>
      <vt:lpstr>PowerPoint 演示文稿</vt:lpstr>
      <vt:lpstr> 3.2  寻址方式 </vt:lpstr>
      <vt:lpstr> 1  立即数寻址 </vt:lpstr>
      <vt:lpstr>     2 直接寻址</vt:lpstr>
      <vt:lpstr>  3  寄存器寻址</vt:lpstr>
      <vt:lpstr>    4  寄存器间接寻址方式</vt:lpstr>
      <vt:lpstr>PowerPoint 演示文稿</vt:lpstr>
      <vt:lpstr>  5  位寻址</vt:lpstr>
      <vt:lpstr>6  变址寻址（基址寄存器加变址寄存器间接寻址）</vt:lpstr>
      <vt:lpstr>7  相对寻址</vt:lpstr>
      <vt:lpstr> 3.3  指令系统 </vt:lpstr>
      <vt:lpstr>    3.3.1  指令分类</vt:lpstr>
      <vt:lpstr>PowerPoint 演示文稿</vt:lpstr>
      <vt:lpstr>  3.3.2  数据传送类指令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3.3.3  算术运算类指令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3.3.4  逻辑运算指令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3.3.5  控制转移指令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3.3.6  位操作指令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www.pptbz.com</dc:creator>
  <cp:lastModifiedBy>chenpei</cp:lastModifiedBy>
  <cp:revision>51</cp:revision>
  <dcterms:created xsi:type="dcterms:W3CDTF">2020-02-03T07:44:00Z</dcterms:created>
  <dcterms:modified xsi:type="dcterms:W3CDTF">2022-03-05T08:23:22Z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2020-02-03T00:00:00Z</vt:filetime>
  </property>
  <property fmtid="{D5CDD505-2E9C-101B-9397-08002B2CF9AE}" pid="5" name="KSOProductBuildVer">
    <vt:lpwstr>2052-11.1.0.9339</vt:lpwstr>
  </property>
</Properties>
</file>