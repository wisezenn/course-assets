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354" r:id="rId3"/>
    <p:sldId id="936" r:id="rId4"/>
    <p:sldId id="938" r:id="rId5"/>
    <p:sldId id="1044" r:id="rId6"/>
    <p:sldId id="1120" r:id="rId7"/>
    <p:sldId id="1123" r:id="rId8"/>
    <p:sldId id="1121" r:id="rId9"/>
    <p:sldId id="1122" r:id="rId10"/>
    <p:sldId id="1124" r:id="rId11"/>
    <p:sldId id="1125" r:id="rId12"/>
    <p:sldId id="1152" r:id="rId13"/>
    <p:sldId id="1127" r:id="rId14"/>
    <p:sldId id="1126" r:id="rId15"/>
    <p:sldId id="1128" r:id="rId16"/>
    <p:sldId id="1129" r:id="rId17"/>
    <p:sldId id="1130" r:id="rId18"/>
    <p:sldId id="1133" r:id="rId19"/>
    <p:sldId id="1131" r:id="rId20"/>
    <p:sldId id="1132" r:id="rId21"/>
    <p:sldId id="1134" r:id="rId22"/>
    <p:sldId id="1135" r:id="rId23"/>
    <p:sldId id="1136" r:id="rId24"/>
    <p:sldId id="1137" r:id="rId25"/>
    <p:sldId id="1138" r:id="rId26"/>
    <p:sldId id="1139" r:id="rId27"/>
    <p:sldId id="1140" r:id="rId28"/>
    <p:sldId id="1141" r:id="rId29"/>
    <p:sldId id="1142" r:id="rId30"/>
    <p:sldId id="1143" r:id="rId31"/>
    <p:sldId id="1144" r:id="rId32"/>
    <p:sldId id="1146" r:id="rId33"/>
    <p:sldId id="1147" r:id="rId34"/>
    <p:sldId id="1148" r:id="rId35"/>
    <p:sldId id="1149" r:id="rId36"/>
    <p:sldId id="1150" r:id="rId37"/>
    <p:sldId id="1151" r:id="rId38"/>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95">
          <p15:clr>
            <a:srgbClr val="A4A3A4"/>
          </p15:clr>
        </p15:guide>
        <p15:guide id="2" pos="199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914" y="264"/>
      </p:cViewPr>
      <p:guideLst>
        <p:guide orient="horz" pos="2895"/>
        <p:guide pos="199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2021/3/25</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239617"/>
          <p:cNvSpPr>
            <a:spLocks noGrp="1" noRot="1" noChangeAspect="1" noTextEdit="1"/>
          </p:cNvSpPr>
          <p:nvPr>
            <p:ph type="sldImg"/>
          </p:nvPr>
        </p:nvSpPr>
        <p:spPr>
          <a:xfrm>
            <a:off x="3028950" y="857250"/>
            <a:ext cx="3086100" cy="2314575"/>
          </a:xfrm>
        </p:spPr>
      </p:sp>
      <p:sp>
        <p:nvSpPr>
          <p:cNvPr id="6146" name="文本占位符 239618"/>
          <p:cNvSpPr>
            <a:spLocks noGrp="1"/>
          </p:cNvSpPr>
          <p:nvPr>
            <p:ph type="body"/>
          </p:nvPr>
        </p:nvSpPr>
        <p:spPr/>
        <p:txBody>
          <a:bodyPr anchor="t"/>
          <a:lstStyle/>
          <a:p>
            <a:pPr lvl="0" indent="0"/>
            <a:endParaRPr lang="zh-CN" dirty="0"/>
          </a:p>
        </p:txBody>
      </p:sp>
      <p:sp>
        <p:nvSpPr>
          <p:cNvPr id="614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eaLnBrk="1" hangingPunct="1"/>
            <a:fld id="{9A0DB2DC-4C9A-4742-B13C-FB6460FD3503}" type="slidenum">
              <a:rPr lang="zh-CN" altLang="en-US" sz="1200" b="0" dirty="0"/>
              <a:t>2</a:t>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028950" y="857250"/>
            <a:ext cx="308610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05866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9"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endParaRPr/>
          </a:p>
        </p:txBody>
      </p:sp>
      <p:sp>
        <p:nvSpPr>
          <p:cNvPr id="18" name="bk object 18"/>
          <p:cNvSpPr/>
          <p:nvPr userDrawn="1"/>
        </p:nvSpPr>
        <p:spPr>
          <a:xfrm>
            <a:off x="611123" y="260604"/>
            <a:ext cx="539750" cy="538480"/>
          </a:xfrm>
          <a:custGeom>
            <a:avLst/>
            <a:gdLst/>
            <a:ahLst/>
            <a:cxnLst/>
            <a:rect l="l" t="t" r="r" b="b"/>
            <a:pathLst>
              <a:path w="539750" h="538480">
                <a:moveTo>
                  <a:pt x="0" y="537972"/>
                </a:moveTo>
                <a:lnTo>
                  <a:pt x="539496" y="537972"/>
                </a:lnTo>
                <a:lnTo>
                  <a:pt x="539496" y="0"/>
                </a:lnTo>
                <a:lnTo>
                  <a:pt x="0" y="0"/>
                </a:lnTo>
                <a:lnTo>
                  <a:pt x="0" y="537972"/>
                </a:lnTo>
                <a:close/>
              </a:path>
            </a:pathLst>
          </a:custGeom>
          <a:solidFill>
            <a:srgbClr val="005390"/>
          </a:solidFill>
        </p:spPr>
        <p:txBody>
          <a:bodyPr wrap="square" lIns="0" tIns="0" rIns="0" bIns="0" rtlCol="0"/>
          <a:lstStyle/>
          <a:p>
            <a:endParaRPr/>
          </a:p>
        </p:txBody>
      </p:sp>
      <p:sp>
        <p:nvSpPr>
          <p:cNvPr id="19" name="bk object 19"/>
          <p:cNvSpPr/>
          <p:nvPr userDrawn="1"/>
        </p:nvSpPr>
        <p:spPr>
          <a:xfrm>
            <a:off x="880872" y="530351"/>
            <a:ext cx="396240" cy="394970"/>
          </a:xfrm>
          <a:custGeom>
            <a:avLst/>
            <a:gdLst/>
            <a:ahLst/>
            <a:cxnLst/>
            <a:rect l="l" t="t" r="r" b="b"/>
            <a:pathLst>
              <a:path w="396240" h="394969">
                <a:moveTo>
                  <a:pt x="0" y="394715"/>
                </a:moveTo>
                <a:lnTo>
                  <a:pt x="396240" y="394715"/>
                </a:lnTo>
                <a:lnTo>
                  <a:pt x="396240" y="0"/>
                </a:lnTo>
                <a:lnTo>
                  <a:pt x="0" y="0"/>
                </a:lnTo>
                <a:lnTo>
                  <a:pt x="0" y="394715"/>
                </a:lnTo>
                <a:close/>
              </a:path>
            </a:pathLst>
          </a:custGeom>
          <a:solidFill>
            <a:srgbClr val="006FC0"/>
          </a:solidFill>
        </p:spPr>
        <p:txBody>
          <a:bodyPr wrap="square" lIns="0" tIns="0" rIns="0" bIns="0" rtlCol="0"/>
          <a:lstStyle/>
          <a:p>
            <a:endParaRPr/>
          </a:p>
        </p:txBody>
      </p:sp>
      <p:sp>
        <p:nvSpPr>
          <p:cNvPr id="2" name="Holder 2"/>
          <p:cNvSpPr>
            <a:spLocks noGrp="1"/>
          </p:cNvSpPr>
          <p:nvPr>
            <p:ph type="ctrTitle"/>
          </p:nvPr>
        </p:nvSpPr>
        <p:spPr>
          <a:xfrm>
            <a:off x="1498600" y="282575"/>
            <a:ext cx="2981960" cy="365760"/>
          </a:xfrm>
          <a:prstGeom prst="rect">
            <a:avLst/>
          </a:prstGeom>
        </p:spPr>
        <p:txBody>
          <a:bodyPr wrap="square" lIns="0" tIns="0" rIns="0" bIns="0">
            <a:spAutoFit/>
          </a:bodyPr>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990340" y="6443980"/>
            <a:ext cx="751840" cy="274320"/>
          </a:xfrm>
        </p:spPr>
        <p:txBody>
          <a:bodyPr wrap="square"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3/25/2021</a:t>
            </a:fld>
            <a:endParaRPr lang="en-US"/>
          </a:p>
        </p:txBody>
      </p:sp>
      <p:sp>
        <p:nvSpPr>
          <p:cNvPr id="6" name="Holder 6"/>
          <p:cNvSpPr>
            <a:spLocks noGrp="1"/>
          </p:cNvSpPr>
          <p:nvPr>
            <p:ph type="sldNum" sz="quarter" idx="7"/>
          </p:nvPr>
        </p:nvSpPr>
        <p:spPr>
          <a:xfrm>
            <a:off x="8717915" y="6534785"/>
            <a:ext cx="426720" cy="293370"/>
          </a:xfrm>
        </p:spPr>
        <p:txBody>
          <a:bodyPr wrap="square" lIns="0" tIns="0" rIns="0" bIns="0"/>
          <a:lstStyle>
            <a:lvl1pPr>
              <a:defRPr sz="1200" b="0" i="0">
                <a:solidFill>
                  <a:srgbClr val="FFFF00"/>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cxnSp>
        <p:nvCxnSpPr>
          <p:cNvPr id="8" name="直接连接符 7"/>
          <p:cNvCxnSpPr/>
          <p:nvPr userDrawn="1"/>
        </p:nvCxnSpPr>
        <p:spPr>
          <a:xfrm>
            <a:off x="457200" y="970280"/>
            <a:ext cx="4987925"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pPr algn="ctr"/>
            <a:endParaRPr sz="1600"/>
          </a:p>
        </p:txBody>
      </p:sp>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a:xfrm>
            <a:off x="3990340" y="6443980"/>
            <a:ext cx="1351280" cy="274320"/>
          </a:xfrm>
        </p:spPr>
        <p:txBody>
          <a:bodyPr wrap="square"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3/25/2021</a:t>
            </a:fld>
            <a:endParaRPr lang="en-US"/>
          </a:p>
        </p:txBody>
      </p:sp>
      <p:sp>
        <p:nvSpPr>
          <p:cNvPr id="9" name="Holder 6"/>
          <p:cNvSpPr>
            <a:spLocks noGrp="1"/>
          </p:cNvSpPr>
          <p:nvPr>
            <p:ph type="sldNum" sz="quarter" idx="7"/>
          </p:nvPr>
        </p:nvSpPr>
        <p:spPr>
          <a:xfrm>
            <a:off x="8717915" y="6534785"/>
            <a:ext cx="426720" cy="293370"/>
          </a:xfrm>
        </p:spPr>
        <p:txBody>
          <a:bodyPr wrap="square" lIns="0" tIns="0" rIns="0" bIns="0"/>
          <a:lstStyle>
            <a:lvl1pPr>
              <a:defRPr sz="1200" b="0" i="0">
                <a:solidFill>
                  <a:srgbClr val="FFFF00"/>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990340" y="6443980"/>
            <a:ext cx="1061085" cy="274320"/>
          </a:xfrm>
        </p:spPr>
        <p:txBody>
          <a:bodyPr wrap="square"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3/25/2021</a:t>
            </a:fld>
            <a:endParaRPr lang="en-US"/>
          </a:p>
        </p:txBody>
      </p:sp>
      <p:sp>
        <p:nvSpPr>
          <p:cNvPr id="7" name="Holder 7"/>
          <p:cNvSpPr>
            <a:spLocks noGrp="1"/>
          </p:cNvSpPr>
          <p:nvPr>
            <p:ph type="sldNum" sz="quarter" idx="7"/>
          </p:nvPr>
        </p:nvSpPr>
        <p:spPr>
          <a:xfrm>
            <a:off x="8745855" y="6612255"/>
            <a:ext cx="361950" cy="153670"/>
          </a:xfrm>
        </p:spPr>
        <p:txBody>
          <a:bodyPr lIns="0" tIns="0" rIns="0" bIns="0"/>
          <a:lstStyle>
            <a:lvl1pPr>
              <a:defRPr sz="1200" b="0" i="0">
                <a:solidFill>
                  <a:schemeClr val="bg1"/>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a:xfrm>
            <a:off x="3990340" y="6443980"/>
            <a:ext cx="1070610" cy="274320"/>
          </a:xfrm>
        </p:spPr>
        <p:txBody>
          <a:bodyPr wrap="square"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3/25/2021</a:t>
            </a:fld>
            <a:endParaRPr lang="en-US"/>
          </a:p>
        </p:txBody>
      </p:sp>
      <p:sp>
        <p:nvSpPr>
          <p:cNvPr id="5" name="Holder 5"/>
          <p:cNvSpPr>
            <a:spLocks noGrp="1"/>
          </p:cNvSpPr>
          <p:nvPr>
            <p:ph type="sldNum" sz="quarter" idx="7"/>
          </p:nvPr>
        </p:nvSpPr>
        <p:spPr>
          <a:xfrm>
            <a:off x="8740775" y="6607175"/>
            <a:ext cx="361950" cy="153670"/>
          </a:xfrm>
        </p:spPr>
        <p:txBody>
          <a:bodyPr lIns="0" tIns="0" rIns="0" bIns="0"/>
          <a:lstStyle>
            <a:lvl1pPr>
              <a:defRPr sz="1200" b="0" i="0">
                <a:solidFill>
                  <a:schemeClr val="bg1"/>
                </a:solidFill>
                <a:latin typeface="微软雅黑" panose="020B0503020204020204" charset="-122"/>
                <a:cs typeface="微软雅黑" panose="020B0503020204020204" charset="-122"/>
              </a:defRPr>
            </a:lvl1pPr>
          </a:lstStyle>
          <a:p>
            <a:pPr marL="25400">
              <a:lnSpc>
                <a:spcPct val="100000"/>
              </a:lnSpc>
              <a:spcBef>
                <a:spcPts val="185"/>
              </a:spcBef>
            </a:pPr>
            <a:fld id="{81D60167-4931-47E6-BA6A-407CBD079E47}" type="slidenum">
              <a:rPr spc="-5" dirty="0"/>
              <a:t>‹#›</a:t>
            </a:fld>
            <a:endParaRPr spc="-5"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498600" y="282575"/>
            <a:ext cx="3933190" cy="368935"/>
          </a:xfrm>
        </p:spPr>
        <p:txBody>
          <a:bodyPr wrap="square"/>
          <a:lstStyle/>
          <a:p>
            <a:r>
              <a:rPr lang="zh-CN" altLang="en-US"/>
              <a:t>单击此处编辑母版标题样式</a:t>
            </a:r>
          </a:p>
        </p:txBody>
      </p:sp>
      <p:sp>
        <p:nvSpPr>
          <p:cNvPr id="3" name="日期占位符 2"/>
          <p:cNvSpPr>
            <a:spLocks noGrp="1"/>
          </p:cNvSpPr>
          <p:nvPr>
            <p:ph type="dt" sz="half" idx="10"/>
          </p:nvPr>
        </p:nvSpPr>
        <p:spPr/>
        <p:txBody>
          <a:bodyPr/>
          <a:lstStyle/>
          <a:p>
            <a:fld id="{1D8BD707-D9CF-40AE-B4C6-C98DA3205C09}" type="datetimeFigureOut">
              <a:rPr lang="en-US"/>
              <a:t>3/25/2021</a:t>
            </a:fld>
            <a:endParaRPr lang="en-US"/>
          </a:p>
        </p:txBody>
      </p:sp>
      <p:sp>
        <p:nvSpPr>
          <p:cNvPr id="4" name="页脚占位符 3"/>
          <p:cNvSpPr>
            <a:spLocks noGrp="1"/>
          </p:cNvSpPr>
          <p:nvPr>
            <p:ph type="ftr" sz="quarter" idx="11"/>
          </p:nvPr>
        </p:nvSpPr>
        <p:spPr/>
        <p:txBody>
          <a:bodyPr/>
          <a:lstStyle/>
          <a:p>
            <a:fld id="{9A0DB2DC-4C9A-4742-B13C-FB6460FD3503}" type="slidenum">
              <a:rPr/>
              <a:t>‹#›</a:t>
            </a:fld>
            <a:endParaRPr/>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2021年3月25日9时28分</a:t>
            </a:fld>
            <a:endParaRPr lang="zh-CN" altLang="en-US" strike="noStrike" noProof="1">
              <a:latin typeface="Times New Roman" panose="0202060305040502030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7" name="灯片编号占位符 6"/>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2021年3月25日9时28分</a:t>
            </a:fld>
            <a:endParaRPr lang="zh-CN" altLang="en-US" strike="noStrike" noProof="1">
              <a:latin typeface="Times New Roman" panose="0202060305040502030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4" name="灯片编号占位符 3"/>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2021年3月25日9时28分</a:t>
            </a:fld>
            <a:endParaRPr lang="zh-CN" altLang="en-US" strike="noStrike" noProof="1">
              <a:latin typeface="Times New Roman" panose="0202060305040502030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7" name="灯片编号占位符 6"/>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eaLnBrk="1" fontAlgn="base" hangingPunct="1">
              <a:spcBef>
                <a:spcPct val="50000"/>
              </a:spcBef>
            </a:pPr>
            <a:fld id="{BB962C8B-B14F-4D97-AF65-F5344CB8AC3E}" type="datetime8">
              <a:rPr lang="zh-CN" altLang="en-US" strike="noStrike" noProof="1" dirty="0">
                <a:latin typeface="Times New Roman" panose="02020603050405020304" charset="0"/>
                <a:ea typeface="宋体" panose="02010600030101010101" pitchFamily="2" charset="-122"/>
                <a:cs typeface="+mn-cs"/>
              </a:rPr>
              <a:t>2021年3月25日9时28分</a:t>
            </a:fld>
            <a:endParaRPr lang="zh-CN" altLang="en-US" strike="noStrike" noProof="1">
              <a:latin typeface="Times New Roman" panose="0202060305040502030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fontAlgn="base" hangingPunct="1">
              <a:spcBef>
                <a:spcPct val="50000"/>
              </a:spcBef>
            </a:pPr>
            <a:endParaRPr lang="zh-CN" altLang="en-US" strike="noStrike" noProof="1">
              <a:latin typeface="Times New Roman" panose="02020603050405020304" charset="0"/>
              <a:ea typeface="宋体" panose="02010600030101010101" pitchFamily="2" charset="-122"/>
            </a:endParaRPr>
          </a:p>
        </p:txBody>
      </p:sp>
      <p:sp>
        <p:nvSpPr>
          <p:cNvPr id="6" name="灯片编号占位符 5"/>
          <p:cNvSpPr>
            <a:spLocks noGrp="1"/>
          </p:cNvSpPr>
          <p:nvPr>
            <p:ph type="sldNum" sz="quarter" idx="12"/>
          </p:nvPr>
        </p:nvSpPr>
        <p:spPr>
          <a:xfrm>
            <a:off x="6553200" y="6248400"/>
            <a:ext cx="1905000" cy="457200"/>
          </a:xfrm>
        </p:spPr>
        <p:txBody>
          <a:bodyPr/>
          <a:lstStyle/>
          <a:p>
            <a:pPr lvl="0" eaLnBrk="1" fontAlgn="base" hangingPunct="1">
              <a:spcBef>
                <a:spcPct val="50000"/>
              </a:spcBef>
            </a:pPr>
            <a:fld id="{9A0DB2DC-4C9A-4742-B13C-FB6460FD3503}" type="slidenum">
              <a:rPr lang="zh-CN" altLang="en-US" strike="noStrike" noProof="1" dirty="0">
                <a:latin typeface="Times New Roman" panose="02020603050405020304" charset="0"/>
                <a:ea typeface="宋体" panose="02010600030101010101" pitchFamily="2" charset="-122"/>
                <a:cs typeface="+mn-cs"/>
              </a:rPr>
              <a:t>‹#›</a:t>
            </a:fld>
            <a:endParaRPr lang="zh-CN" altLang="en-US" strike="noStrike" noProof="1">
              <a:latin typeface="Times New Roman" panose="02020603050405020304" charset="0"/>
              <a:ea typeface="宋体" panose="02010600030101010101" pitchFamily="2"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gradFill rotWithShape="0">
          <a:gsLst>
            <a:gs pos="0">
              <a:srgbClr val="001847"/>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3074" name="组合 289793"/>
          <p:cNvGrpSpPr/>
          <p:nvPr/>
        </p:nvGrpSpPr>
        <p:grpSpPr>
          <a:xfrm>
            <a:off x="-6350" y="20638"/>
            <a:ext cx="9144000" cy="6858000"/>
            <a:chOff x="0" y="0"/>
            <a:chExt cx="5760" cy="4320"/>
          </a:xfrm>
        </p:grpSpPr>
        <p:sp>
          <p:nvSpPr>
            <p:cNvPr id="3075" name="任意多边形 289794"/>
            <p:cNvSpPr/>
            <p:nvPr/>
          </p:nvSpPr>
          <p:spPr>
            <a:xfrm>
              <a:off x="0" y="3072"/>
              <a:ext cx="5760" cy="1248"/>
            </a:xfrm>
            <a:custGeom>
              <a:avLst/>
              <a:gdLst/>
              <a:ahLst/>
              <a:cxnLst/>
              <a:rect l="0" t="0" r="0" b="0"/>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tileRect/>
            </a:gradFill>
            <a:ln w="9525">
              <a:noFill/>
            </a:ln>
          </p:spPr>
          <p:txBody>
            <a:bodyPr/>
            <a:lstStyle/>
            <a:p>
              <a:endParaRPr lang="zh-CN" altLang="en-US"/>
            </a:p>
          </p:txBody>
        </p:sp>
        <p:sp>
          <p:nvSpPr>
            <p:cNvPr id="3076" name="任意多边形 289795"/>
            <p:cNvSpPr/>
            <p:nvPr/>
          </p:nvSpPr>
          <p:spPr>
            <a:xfrm>
              <a:off x="0" y="0"/>
              <a:ext cx="5760" cy="3072"/>
            </a:xfrm>
            <a:custGeom>
              <a:avLst/>
              <a:gdLst/>
              <a:ahLst/>
              <a:cxnLst/>
              <a:rect l="0" t="0" r="0" b="0"/>
              <a:pathLst>
                <a:path w="6027" h="2296">
                  <a:moveTo>
                    <a:pt x="6027" y="2296"/>
                  </a:moveTo>
                  <a:lnTo>
                    <a:pt x="0" y="2296"/>
                  </a:lnTo>
                  <a:lnTo>
                    <a:pt x="0" y="0"/>
                  </a:lnTo>
                  <a:lnTo>
                    <a:pt x="6027" y="0"/>
                  </a:lnTo>
                  <a:lnTo>
                    <a:pt x="6027" y="2296"/>
                  </a:lnTo>
                  <a:lnTo>
                    <a:pt x="6027" y="2296"/>
                  </a:lnTo>
                  <a:close/>
                </a:path>
              </a:pathLst>
            </a:custGeom>
            <a:gradFill rotWithShape="0">
              <a:gsLst>
                <a:gs pos="0">
                  <a:srgbClr val="001847"/>
                </a:gs>
                <a:gs pos="100000">
                  <a:schemeClr val="bg1"/>
                </a:gs>
              </a:gsLst>
              <a:lin ang="5400000" scaled="1"/>
              <a:tileRect/>
            </a:gradFill>
            <a:ln w="9525">
              <a:noFill/>
            </a:ln>
          </p:spPr>
          <p:txBody>
            <a:bodyPr/>
            <a:lstStyle/>
            <a:p>
              <a:endParaRPr lang="zh-CN" altLang="en-US"/>
            </a:p>
          </p:txBody>
        </p:sp>
      </p:grpSp>
      <p:sp>
        <p:nvSpPr>
          <p:cNvPr id="3077" name="任意多边形 289796"/>
          <p:cNvSpPr/>
          <p:nvPr/>
        </p:nvSpPr>
        <p:spPr>
          <a:xfrm>
            <a:off x="6242050" y="6269038"/>
            <a:ext cx="2895600" cy="609600"/>
          </a:xfrm>
          <a:custGeom>
            <a:avLst/>
            <a:gdLst/>
            <a:ahLst/>
            <a:cxnLst/>
            <a:rect l="0" t="0" r="0" b="0"/>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tileRect/>
          </a:gradFill>
          <a:ln w="9525">
            <a:noFill/>
          </a:ln>
        </p:spPr>
        <p:txBody>
          <a:bodyPr/>
          <a:lstStyle/>
          <a:p>
            <a:endParaRPr lang="zh-CN" altLang="en-US"/>
          </a:p>
        </p:txBody>
      </p:sp>
      <p:grpSp>
        <p:nvGrpSpPr>
          <p:cNvPr id="3078" name="组合 289797"/>
          <p:cNvGrpSpPr/>
          <p:nvPr/>
        </p:nvGrpSpPr>
        <p:grpSpPr>
          <a:xfrm>
            <a:off x="-1587" y="6034088"/>
            <a:ext cx="7845425" cy="850900"/>
            <a:chOff x="0" y="3792"/>
            <a:chExt cx="4942" cy="536"/>
          </a:xfrm>
        </p:grpSpPr>
        <p:sp>
          <p:nvSpPr>
            <p:cNvPr id="3079" name="任意多边形 289798"/>
            <p:cNvSpPr/>
            <p:nvPr userDrawn="1"/>
          </p:nvSpPr>
          <p:spPr>
            <a:xfrm>
              <a:off x="1488" y="3792"/>
              <a:ext cx="3240" cy="536"/>
            </a:xfrm>
            <a:custGeom>
              <a:avLst/>
              <a:gdLst/>
              <a:ahLst/>
              <a:cxnLst/>
              <a:rect l="0" t="0" r="0" b="0"/>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rgbClr val="847864"/>
                </a:gs>
                <a:gs pos="100000">
                  <a:schemeClr val="bg2"/>
                </a:gs>
              </a:gsLst>
              <a:lin ang="5400000" scaled="1"/>
              <a:tileRect/>
            </a:gradFill>
            <a:ln w="9525">
              <a:noFill/>
            </a:ln>
          </p:spPr>
          <p:txBody>
            <a:bodyPr/>
            <a:lstStyle/>
            <a:p>
              <a:endParaRPr lang="zh-CN" altLang="en-US"/>
            </a:p>
          </p:txBody>
        </p:sp>
        <p:grpSp>
          <p:nvGrpSpPr>
            <p:cNvPr id="3080" name="组合 289799"/>
            <p:cNvGrpSpPr/>
            <p:nvPr userDrawn="1"/>
          </p:nvGrpSpPr>
          <p:grpSpPr>
            <a:xfrm>
              <a:off x="2486" y="3792"/>
              <a:ext cx="2456" cy="536"/>
              <a:chOff x="2486" y="3792"/>
              <a:chExt cx="2456" cy="536"/>
            </a:xfrm>
          </p:grpSpPr>
          <p:sp>
            <p:nvSpPr>
              <p:cNvPr id="3081" name="任意多边形 289800"/>
              <p:cNvSpPr/>
              <p:nvPr userDrawn="1"/>
            </p:nvSpPr>
            <p:spPr>
              <a:xfrm>
                <a:off x="3948" y="3799"/>
                <a:ext cx="994" cy="529"/>
              </a:xfrm>
              <a:custGeom>
                <a:avLst/>
                <a:gdLst/>
                <a:ahLst/>
                <a:cxnLst/>
                <a:rect l="0" t="0" r="0" b="0"/>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w="9525">
                <a:noFill/>
              </a:ln>
            </p:spPr>
            <p:txBody>
              <a:bodyPr/>
              <a:lstStyle/>
              <a:p>
                <a:endParaRPr lang="zh-CN" altLang="en-US"/>
              </a:p>
            </p:txBody>
          </p:sp>
          <p:sp>
            <p:nvSpPr>
              <p:cNvPr id="3082" name="任意多边形 289801"/>
              <p:cNvSpPr/>
              <p:nvPr userDrawn="1"/>
            </p:nvSpPr>
            <p:spPr>
              <a:xfrm>
                <a:off x="2677" y="3792"/>
                <a:ext cx="186" cy="395"/>
              </a:xfrm>
              <a:custGeom>
                <a:avLst/>
                <a:gdLst/>
                <a:ahLst/>
                <a:cxnLst/>
                <a:rect l="0" t="0" r="0" b="0"/>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w="9525">
                <a:noFill/>
              </a:ln>
            </p:spPr>
            <p:txBody>
              <a:bodyPr/>
              <a:lstStyle/>
              <a:p>
                <a:endParaRPr lang="zh-CN" altLang="en-US"/>
              </a:p>
            </p:txBody>
          </p:sp>
          <p:sp>
            <p:nvSpPr>
              <p:cNvPr id="3083" name="任意多边形 289802"/>
              <p:cNvSpPr/>
              <p:nvPr userDrawn="1"/>
            </p:nvSpPr>
            <p:spPr>
              <a:xfrm>
                <a:off x="3030" y="3893"/>
                <a:ext cx="378" cy="271"/>
              </a:xfrm>
              <a:custGeom>
                <a:avLst/>
                <a:gdLst/>
                <a:ahLst/>
                <a:cxnLst/>
                <a:rect l="0" t="0" r="0" b="0"/>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w="9525">
                <a:noFill/>
              </a:ln>
            </p:spPr>
            <p:txBody>
              <a:bodyPr/>
              <a:lstStyle/>
              <a:p>
                <a:endParaRPr lang="zh-CN" altLang="en-US"/>
              </a:p>
            </p:txBody>
          </p:sp>
          <p:sp>
            <p:nvSpPr>
              <p:cNvPr id="3084" name="任意多边形 289803"/>
              <p:cNvSpPr/>
              <p:nvPr userDrawn="1"/>
            </p:nvSpPr>
            <p:spPr>
              <a:xfrm>
                <a:off x="3628" y="3866"/>
                <a:ext cx="155" cy="74"/>
              </a:xfrm>
              <a:custGeom>
                <a:avLst/>
                <a:gdLst/>
                <a:ahLst/>
                <a:cxnLst/>
                <a:rect l="0" t="0" r="0" b="0"/>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w="9525">
                <a:noFill/>
              </a:ln>
            </p:spPr>
            <p:txBody>
              <a:bodyPr/>
              <a:lstStyle/>
              <a:p>
                <a:endParaRPr lang="zh-CN" altLang="en-US"/>
              </a:p>
            </p:txBody>
          </p:sp>
          <p:sp>
            <p:nvSpPr>
              <p:cNvPr id="3085" name="任意多边形 289804"/>
              <p:cNvSpPr/>
              <p:nvPr userDrawn="1"/>
            </p:nvSpPr>
            <p:spPr>
              <a:xfrm>
                <a:off x="2486" y="3859"/>
                <a:ext cx="42" cy="81"/>
              </a:xfrm>
              <a:custGeom>
                <a:avLst/>
                <a:gdLst/>
                <a:ahLst/>
                <a:cxnLst/>
                <a:rect l="0" t="0" r="0" b="0"/>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w="9525">
                <a:noFill/>
              </a:ln>
            </p:spPr>
            <p:txBody>
              <a:bodyPr/>
              <a:lstStyle/>
              <a:p>
                <a:endParaRPr lang="zh-CN" altLang="en-US"/>
              </a:p>
            </p:txBody>
          </p:sp>
        </p:grpSp>
        <p:sp>
          <p:nvSpPr>
            <p:cNvPr id="3086" name="任意多边形 289805"/>
            <p:cNvSpPr/>
            <p:nvPr userDrawn="1"/>
          </p:nvSpPr>
          <p:spPr>
            <a:xfrm>
              <a:off x="0" y="3792"/>
              <a:ext cx="3976" cy="535"/>
            </a:xfrm>
            <a:custGeom>
              <a:avLst/>
              <a:gdLst/>
              <a:ahLst/>
              <a:cxnLst/>
              <a:rect l="0" t="0" r="0" b="0"/>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rgbClr val="73654F"/>
                </a:gs>
                <a:gs pos="100000">
                  <a:schemeClr val="bg2"/>
                </a:gs>
              </a:gsLst>
              <a:lin ang="5400000" scaled="1"/>
              <a:tileRect/>
            </a:gradFill>
            <a:ln w="9525">
              <a:noFill/>
            </a:ln>
          </p:spPr>
          <p:txBody>
            <a:bodyPr/>
            <a:lstStyle/>
            <a:p>
              <a:endParaRPr lang="zh-CN" altLang="en-US"/>
            </a:p>
          </p:txBody>
        </p:sp>
      </p:grpSp>
      <p:grpSp>
        <p:nvGrpSpPr>
          <p:cNvPr id="3087" name="组合 289806"/>
          <p:cNvGrpSpPr/>
          <p:nvPr/>
        </p:nvGrpSpPr>
        <p:grpSpPr>
          <a:xfrm>
            <a:off x="627063" y="6021388"/>
            <a:ext cx="5684837" cy="849312"/>
            <a:chOff x="395" y="3793"/>
            <a:chExt cx="3581" cy="535"/>
          </a:xfrm>
        </p:grpSpPr>
        <p:sp>
          <p:nvSpPr>
            <p:cNvPr id="3088" name="任意多边形 289807"/>
            <p:cNvSpPr/>
            <p:nvPr userDrawn="1"/>
          </p:nvSpPr>
          <p:spPr>
            <a:xfrm>
              <a:off x="1196" y="3793"/>
              <a:ext cx="365" cy="291"/>
            </a:xfrm>
            <a:custGeom>
              <a:avLst/>
              <a:gdLst/>
              <a:ahLst/>
              <a:cxnLst/>
              <a:rect l="0" t="0" r="0" b="0"/>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w="9525">
              <a:noFill/>
            </a:ln>
          </p:spPr>
          <p:txBody>
            <a:bodyPr/>
            <a:lstStyle/>
            <a:p>
              <a:endParaRPr lang="zh-CN" altLang="en-US"/>
            </a:p>
          </p:txBody>
        </p:sp>
        <p:sp>
          <p:nvSpPr>
            <p:cNvPr id="3089" name="任意多边形 289808"/>
            <p:cNvSpPr/>
            <p:nvPr userDrawn="1"/>
          </p:nvSpPr>
          <p:spPr>
            <a:xfrm>
              <a:off x="1943" y="3829"/>
              <a:ext cx="2033" cy="499"/>
            </a:xfrm>
            <a:custGeom>
              <a:avLst/>
              <a:gdLst/>
              <a:ahLst/>
              <a:cxnLst/>
              <a:rect l="0" t="0" r="0" b="0"/>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w="9525">
              <a:noFill/>
            </a:ln>
          </p:spPr>
          <p:txBody>
            <a:bodyPr/>
            <a:lstStyle/>
            <a:p>
              <a:endParaRPr lang="zh-CN" altLang="en-US"/>
            </a:p>
          </p:txBody>
        </p:sp>
        <p:sp>
          <p:nvSpPr>
            <p:cNvPr id="3090" name="任意多边形 289809"/>
            <p:cNvSpPr/>
            <p:nvPr userDrawn="1"/>
          </p:nvSpPr>
          <p:spPr>
            <a:xfrm>
              <a:off x="1830" y="3823"/>
              <a:ext cx="71" cy="61"/>
            </a:xfrm>
            <a:custGeom>
              <a:avLst/>
              <a:gdLst/>
              <a:ahLst/>
              <a:cxnLst/>
              <a:rect l="0" t="0" r="0" b="0"/>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w="9525">
              <a:noFill/>
            </a:ln>
          </p:spPr>
          <p:txBody>
            <a:bodyPr/>
            <a:lstStyle/>
            <a:p>
              <a:endParaRPr lang="zh-CN" altLang="en-US"/>
            </a:p>
          </p:txBody>
        </p:sp>
        <p:sp>
          <p:nvSpPr>
            <p:cNvPr id="3091" name="任意多边形 289810"/>
            <p:cNvSpPr/>
            <p:nvPr userDrawn="1"/>
          </p:nvSpPr>
          <p:spPr>
            <a:xfrm>
              <a:off x="855" y="3842"/>
              <a:ext cx="161" cy="164"/>
            </a:xfrm>
            <a:custGeom>
              <a:avLst/>
              <a:gdLst/>
              <a:ahLst/>
              <a:cxnLst/>
              <a:rect l="0" t="0" r="0" b="0"/>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w="9525">
              <a:noFill/>
            </a:ln>
          </p:spPr>
          <p:txBody>
            <a:bodyPr/>
            <a:lstStyle/>
            <a:p>
              <a:endParaRPr lang="zh-CN" altLang="en-US"/>
            </a:p>
          </p:txBody>
        </p:sp>
        <p:sp>
          <p:nvSpPr>
            <p:cNvPr id="3092" name="任意多边形 289811"/>
            <p:cNvSpPr/>
            <p:nvPr userDrawn="1"/>
          </p:nvSpPr>
          <p:spPr>
            <a:xfrm>
              <a:off x="706" y="3854"/>
              <a:ext cx="59" cy="61"/>
            </a:xfrm>
            <a:custGeom>
              <a:avLst/>
              <a:gdLst/>
              <a:ahLst/>
              <a:cxnLst/>
              <a:rect l="0" t="0" r="0" b="0"/>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w="9525">
              <a:noFill/>
            </a:ln>
          </p:spPr>
          <p:txBody>
            <a:bodyPr/>
            <a:lstStyle/>
            <a:p>
              <a:endParaRPr lang="zh-CN" altLang="en-US"/>
            </a:p>
          </p:txBody>
        </p:sp>
        <p:sp>
          <p:nvSpPr>
            <p:cNvPr id="3093" name="任意多边形 289812"/>
            <p:cNvSpPr/>
            <p:nvPr userDrawn="1"/>
          </p:nvSpPr>
          <p:spPr>
            <a:xfrm>
              <a:off x="395" y="3811"/>
              <a:ext cx="245" cy="207"/>
            </a:xfrm>
            <a:custGeom>
              <a:avLst/>
              <a:gdLst/>
              <a:ahLst/>
              <a:cxnLst/>
              <a:rect l="0" t="0" r="0" b="0"/>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w="9525">
              <a:noFill/>
            </a:ln>
          </p:spPr>
          <p:txBody>
            <a:bodyPr/>
            <a:lstStyle/>
            <a:p>
              <a:endParaRPr lang="zh-CN" altLang="en-US"/>
            </a:p>
          </p:txBody>
        </p:sp>
      </p:grpSp>
      <p:sp>
        <p:nvSpPr>
          <p:cNvPr id="289814" name="标题 289813"/>
          <p:cNvSpPr>
            <a:spLocks noGrp="1"/>
          </p:cNvSpPr>
          <p:nvPr>
            <p:ph type="ctrTitle" sz="quarter"/>
          </p:nvPr>
        </p:nvSpPr>
        <p:spPr>
          <a:xfrm>
            <a:off x="457200" y="1447800"/>
            <a:ext cx="8229600" cy="1736725"/>
          </a:xfrm>
          <a:prstGeom prst="rect">
            <a:avLst/>
          </a:prstGeom>
          <a:noFill/>
          <a:ln w="9525">
            <a:noFill/>
          </a:ln>
        </p:spPr>
        <p:txBody>
          <a:bodyPr anchor="ctr"/>
          <a:lstStyle>
            <a:lvl1pPr lvl="0">
              <a:buClrTx/>
              <a:buSzTx/>
              <a:buFontTx/>
              <a:defRPr sz="5400"/>
            </a:lvl1pPr>
          </a:lstStyle>
          <a:p>
            <a:pPr lvl="0" fontAlgn="base"/>
            <a:r>
              <a:rPr lang="zh-CN" altLang="en-US" strike="noStrike" noProof="1"/>
              <a:t>单击此处编辑母版标题样式</a:t>
            </a:r>
          </a:p>
        </p:txBody>
      </p:sp>
      <p:sp>
        <p:nvSpPr>
          <p:cNvPr id="289815" name="副标题 289814"/>
          <p:cNvSpPr>
            <a:spLocks noGrp="1"/>
          </p:cNvSpPr>
          <p:nvPr>
            <p:ph type="subTitle" sz="quarter" idx="1"/>
          </p:nvPr>
        </p:nvSpPr>
        <p:spPr>
          <a:xfrm>
            <a:off x="1371600" y="3429000"/>
            <a:ext cx="6400800" cy="1752600"/>
          </a:xfrm>
          <a:prstGeom prst="rect">
            <a:avLst/>
          </a:prstGeom>
          <a:noFill/>
          <a:ln w="9525">
            <a:noFill/>
          </a:ln>
        </p:spPr>
        <p:txBody>
          <a:bodyPr anchor="t"/>
          <a:lstStyle>
            <a:lvl1pPr marL="0" lvl="0" indent="0" algn="ctr">
              <a:buClr>
                <a:schemeClr val="tx2"/>
              </a:buClr>
              <a:buSzTx/>
              <a:buFontTx/>
              <a:buNone/>
              <a:defRPr>
                <a:effectLst>
                  <a:outerShdw blurRad="38100" dist="38100" dir="2700000">
                    <a:srgbClr val="C0C0C0"/>
                  </a:outerShdw>
                </a:effectLst>
              </a:defRPr>
            </a:lvl1pPr>
            <a:lvl2pPr marL="457200" lvl="1" indent="0" algn="ctr">
              <a:buClrTx/>
              <a:buSzTx/>
              <a:buFontTx/>
              <a:buNone/>
              <a:defRPr>
                <a:effectLst>
                  <a:outerShdw blurRad="38100" dist="38100" dir="2700000">
                    <a:srgbClr val="C0C0C0"/>
                  </a:outerShdw>
                </a:effectLst>
              </a:defRPr>
            </a:lvl2pPr>
            <a:lvl3pPr marL="914400" lvl="2" indent="0" algn="ctr">
              <a:buClr>
                <a:schemeClr val="tx2"/>
              </a:buClr>
              <a:buSzTx/>
              <a:buFontTx/>
              <a:buNone/>
              <a:defRPr>
                <a:effectLst>
                  <a:outerShdw blurRad="38100" dist="38100" dir="2700000">
                    <a:srgbClr val="C0C0C0"/>
                  </a:outerShdw>
                </a:effectLst>
              </a:defRPr>
            </a:lvl3pPr>
            <a:lvl4pPr marL="1371600" lvl="3" indent="0" algn="ctr">
              <a:buClrTx/>
              <a:buSzTx/>
              <a:buFontTx/>
              <a:buNone/>
              <a:defRPr>
                <a:effectLst>
                  <a:outerShdw blurRad="38100" dist="38100" dir="2700000">
                    <a:srgbClr val="C0C0C0"/>
                  </a:outerShdw>
                </a:effectLst>
              </a:defRPr>
            </a:lvl4pPr>
            <a:lvl5pPr marL="1828800" lvl="4" indent="0" algn="ctr">
              <a:buClr>
                <a:schemeClr val="tx2"/>
              </a:buClr>
              <a:buSzTx/>
              <a:buFontTx/>
              <a:buNone/>
              <a:defRPr>
                <a:effectLst>
                  <a:outerShdw blurRad="38100" dist="38100" dir="2700000">
                    <a:srgbClr val="C0C0C0"/>
                  </a:outerShdw>
                </a:effectLst>
              </a:defRPr>
            </a:lvl5pPr>
          </a:lstStyle>
          <a:p>
            <a:pPr lvl="0" fontAlgn="base"/>
            <a:r>
              <a:rPr lang="zh-CN" altLang="en-US" strike="noStrike" noProof="1"/>
              <a:t>单击此处编辑母版副标题样式</a:t>
            </a:r>
          </a:p>
        </p:txBody>
      </p:sp>
      <p:sp>
        <p:nvSpPr>
          <p:cNvPr id="289816" name="日期占位符 289815"/>
          <p:cNvSpPr>
            <a:spLocks noGrp="1"/>
          </p:cNvSpPr>
          <p:nvPr>
            <p:ph type="dt" sz="quarter" idx="2"/>
          </p:nvPr>
        </p:nvSpPr>
        <p:spPr>
          <a:xfrm>
            <a:off x="457200" y="6248400"/>
            <a:ext cx="2133600" cy="457200"/>
          </a:xfrm>
          <a:prstGeom prst="rect">
            <a:avLst/>
          </a:prstGeom>
          <a:noFill/>
          <a:ln w="9525">
            <a:noFill/>
          </a:ln>
        </p:spPr>
        <p:txBody>
          <a:bodyPr anchor="b"/>
          <a:lstStyle>
            <a:lvl1pPr>
              <a:defRPr sz="1200"/>
            </a:lvl1pPr>
          </a:lstStyle>
          <a:p>
            <a:pPr fontAlgn="base"/>
            <a:fld id="{BB962C8B-B14F-4D97-AF65-F5344CB8AC3E}" type="datetime3">
              <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cs typeface="+mn-cs"/>
              </a:rPr>
              <a:t>2021年3月25日星期四</a:t>
            </a:fld>
            <a:endParaRPr lang="zh-CN" altLang="en-US" strike="noStrike" noProof="1">
              <a:effectLst>
                <a:outerShdw blurRad="38100" dist="38100" dir="2700000">
                  <a:srgbClr val="C0C0C0"/>
                </a:outerShdw>
              </a:effectLst>
              <a:latin typeface="Arial" panose="020B0604020202020204" pitchFamily="34" charset="0"/>
            </a:endParaRPr>
          </a:p>
        </p:txBody>
      </p:sp>
      <p:sp>
        <p:nvSpPr>
          <p:cNvPr id="289817" name="灯片编号占位符 289816"/>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vl1pPr>
          </a:lstStyle>
          <a:p>
            <a:pPr fontAlgn="base"/>
            <a:fld id="{9A0DB2DC-4C9A-4742-B13C-FB6460FD3503}" type="slidenum">
              <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cs typeface="+mn-cs"/>
              </a:rPr>
              <a:t>‹#›</a:t>
            </a:fld>
            <a:endParaRPr lang="zh-CN" altLang="en-US" strike="noStrike" noProof="1">
              <a:effectLst>
                <a:outerShdw blurRad="38100" dist="38100" dir="2700000">
                  <a:srgbClr val="C0C0C0"/>
                </a:outerShdw>
              </a:effectLst>
              <a:latin typeface="Arial" panose="020B0604020202020204" pitchFamily="34" charset="0"/>
            </a:endParaRPr>
          </a:p>
        </p:txBody>
      </p:sp>
      <p:sp>
        <p:nvSpPr>
          <p:cNvPr id="289818" name="页脚占位符 289817"/>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fontAlgn="base"/>
            <a:endParaRPr lang="zh-CN" altLang="en-US" strike="noStrike" noProof="1">
              <a:effectLst>
                <a:outerShdw blurRad="38100" dist="38100" dir="2700000">
                  <a:srgbClr val="C0C0C0"/>
                </a:outerShdw>
              </a:effectLst>
              <a:latin typeface="Arial" panose="020B0604020202020204" pitchFamily="34" charset="0"/>
            </a:endParaRP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fld id="{BB962C8B-B14F-4D97-AF65-F5344CB8AC3E}" type="datetime3">
              <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cs typeface="+mn-cs"/>
              </a:rPr>
              <a:t>2021年3月25日星期四</a:t>
            </a:fld>
            <a:endParaRPr lang="zh-CN" altLang="en-US" strike="noStrike" noProof="1">
              <a:effectLst>
                <a:outerShdw blurRad="38100" dist="38100" dir="2700000">
                  <a:srgbClr val="C0C0C0"/>
                </a:outerShdw>
              </a:effectLst>
              <a:latin typeface="Arial" panose="020B0604020202020204" pitchFamily="34"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effectLst>
                <a:outerShdw blurRad="38100" dist="38100" dir="2700000">
                  <a:srgbClr val="C0C0C0"/>
                </a:outerShdw>
              </a:effectLst>
              <a:latin typeface="Arial" panose="020B0604020202020204" pitchFamily="34" charset="0"/>
            </a:endParaRPr>
          </a:p>
        </p:txBody>
      </p:sp>
      <p:sp>
        <p:nvSpPr>
          <p:cNvPr id="8" name="灯片编号占位符 7"/>
          <p:cNvSpPr>
            <a:spLocks noGrp="1"/>
          </p:cNvSpPr>
          <p:nvPr>
            <p:ph type="sldNum" sz="quarter" idx="12"/>
          </p:nvPr>
        </p:nvSpPr>
        <p:spPr>
          <a:xfrm>
            <a:off x="8027988" y="6400800"/>
            <a:ext cx="1116013" cy="457200"/>
          </a:xfrm>
        </p:spPr>
        <p:txBody>
          <a:bodyPr/>
          <a:lstStyle/>
          <a:p>
            <a:pPr lvl="0" fontAlgn="base"/>
            <a:fld id="{9A0DB2DC-4C9A-4742-B13C-FB6460FD3503}" type="slidenum">
              <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cs typeface="+mn-cs"/>
              </a:rPr>
              <a:t>‹#›</a:t>
            </a:fld>
            <a:endParaRPr lang="zh-CN" altLang="en-US" strike="noStrike" noProof="1">
              <a:effectLst>
                <a:outerShdw blurRad="38100" dist="38100" dir="2700000">
                  <a:srgbClr val="C0C0C0"/>
                </a:outerShdw>
              </a:effectLst>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object 6"/>
          <p:cNvSpPr/>
          <p:nvPr userDrawn="1"/>
        </p:nvSpPr>
        <p:spPr>
          <a:xfrm>
            <a:off x="8709659" y="6519671"/>
            <a:ext cx="433070" cy="338455"/>
          </a:xfrm>
          <a:custGeom>
            <a:avLst/>
            <a:gdLst/>
            <a:ahLst/>
            <a:cxnLst/>
            <a:rect l="l" t="t" r="r" b="b"/>
            <a:pathLst>
              <a:path w="433070" h="338454">
                <a:moveTo>
                  <a:pt x="0" y="338327"/>
                </a:moveTo>
                <a:lnTo>
                  <a:pt x="432816" y="338327"/>
                </a:lnTo>
                <a:lnTo>
                  <a:pt x="432816" y="0"/>
                </a:lnTo>
                <a:lnTo>
                  <a:pt x="0" y="0"/>
                </a:lnTo>
                <a:lnTo>
                  <a:pt x="0" y="338327"/>
                </a:lnTo>
                <a:close/>
              </a:path>
            </a:pathLst>
          </a:custGeom>
          <a:solidFill>
            <a:srgbClr val="006FC0"/>
          </a:solidFill>
        </p:spPr>
        <p:txBody>
          <a:bodyPr wrap="square" lIns="0" tIns="0" rIns="0" bIns="0" rtlCol="0"/>
          <a:lstStyle/>
          <a:p>
            <a:endParaRPr/>
          </a:p>
        </p:txBody>
      </p:sp>
      <p:sp>
        <p:nvSpPr>
          <p:cNvPr id="16" name="bk object 16"/>
          <p:cNvSpPr/>
          <p:nvPr userDrawn="1"/>
        </p:nvSpPr>
        <p:spPr>
          <a:xfrm>
            <a:off x="611123" y="260604"/>
            <a:ext cx="539750" cy="538480"/>
          </a:xfrm>
          <a:custGeom>
            <a:avLst/>
            <a:gdLst/>
            <a:ahLst/>
            <a:cxnLst/>
            <a:rect l="l" t="t" r="r" b="b"/>
            <a:pathLst>
              <a:path w="539750" h="538480">
                <a:moveTo>
                  <a:pt x="0" y="537972"/>
                </a:moveTo>
                <a:lnTo>
                  <a:pt x="539496" y="537972"/>
                </a:lnTo>
                <a:lnTo>
                  <a:pt x="539496" y="0"/>
                </a:lnTo>
                <a:lnTo>
                  <a:pt x="0" y="0"/>
                </a:lnTo>
                <a:lnTo>
                  <a:pt x="0" y="537972"/>
                </a:lnTo>
                <a:close/>
              </a:path>
            </a:pathLst>
          </a:custGeom>
          <a:solidFill>
            <a:srgbClr val="005390"/>
          </a:solidFill>
        </p:spPr>
        <p:txBody>
          <a:bodyPr wrap="square" lIns="0" tIns="0" rIns="0" bIns="0" rtlCol="0"/>
          <a:lstStyle/>
          <a:p>
            <a:endParaRPr/>
          </a:p>
        </p:txBody>
      </p:sp>
      <p:sp>
        <p:nvSpPr>
          <p:cNvPr id="17" name="bk object 17"/>
          <p:cNvSpPr/>
          <p:nvPr userDrawn="1"/>
        </p:nvSpPr>
        <p:spPr>
          <a:xfrm>
            <a:off x="880872" y="530351"/>
            <a:ext cx="396240" cy="394970"/>
          </a:xfrm>
          <a:custGeom>
            <a:avLst/>
            <a:gdLst/>
            <a:ahLst/>
            <a:cxnLst/>
            <a:rect l="l" t="t" r="r" b="b"/>
            <a:pathLst>
              <a:path w="396240" h="394969">
                <a:moveTo>
                  <a:pt x="0" y="394715"/>
                </a:moveTo>
                <a:lnTo>
                  <a:pt x="396240" y="394715"/>
                </a:lnTo>
                <a:lnTo>
                  <a:pt x="396240" y="0"/>
                </a:lnTo>
                <a:lnTo>
                  <a:pt x="0" y="0"/>
                </a:lnTo>
                <a:lnTo>
                  <a:pt x="0" y="394715"/>
                </a:lnTo>
                <a:close/>
              </a:path>
            </a:pathLst>
          </a:custGeom>
          <a:solidFill>
            <a:srgbClr val="006FC0"/>
          </a:solidFill>
        </p:spPr>
        <p:txBody>
          <a:bodyPr wrap="square" lIns="0" tIns="0" rIns="0" bIns="0" rtlCol="0"/>
          <a:lstStyle/>
          <a:p>
            <a:endParaRPr/>
          </a:p>
        </p:txBody>
      </p:sp>
      <p:sp>
        <p:nvSpPr>
          <p:cNvPr id="2" name="Holder 2"/>
          <p:cNvSpPr>
            <a:spLocks noGrp="1"/>
          </p:cNvSpPr>
          <p:nvPr>
            <p:ph type="title"/>
          </p:nvPr>
        </p:nvSpPr>
        <p:spPr>
          <a:xfrm>
            <a:off x="1498600" y="282575"/>
            <a:ext cx="2924810" cy="365760"/>
          </a:xfrm>
          <a:prstGeom prst="rect">
            <a:avLst/>
          </a:prstGeom>
        </p:spPr>
        <p:txBody>
          <a:bodyPr wrap="square" lIns="0" tIns="0" rIns="0" bIns="0">
            <a:spAutoFit/>
          </a:bodyPr>
          <a:lstStyle>
            <a:lvl1pPr>
              <a:defRPr sz="2400" b="1" i="0">
                <a:solidFill>
                  <a:srgbClr val="25252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710930" y="6550660"/>
            <a:ext cx="433070" cy="276860"/>
          </a:xfrm>
          <a:prstGeom prst="rect">
            <a:avLst/>
          </a:prstGeom>
        </p:spPr>
        <p:txBody>
          <a:bodyPr wrap="square" lIns="0" tIns="0" rIns="0" bIns="0">
            <a:spAutoFit/>
          </a:bodyPr>
          <a:lstStyle>
            <a:lvl1pPr algn="ctr">
              <a:defRPr b="1">
                <a:solidFill>
                  <a:srgbClr val="FFFF00"/>
                </a:solidFill>
              </a:defRPr>
            </a:lvl1pPr>
          </a:lstStyle>
          <a:p>
            <a:fld id="{9A0DB2DC-4C9A-4742-B13C-FB6460FD3503}" type="slidenum">
              <a:rPr/>
              <a:t>‹#›</a:t>
            </a:fld>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3/25/2021</a:t>
            </a:fld>
            <a:endParaRPr lang="en-US"/>
          </a:p>
        </p:txBody>
      </p:sp>
      <p:cxnSp>
        <p:nvCxnSpPr>
          <p:cNvPr id="7" name="直接连接符 6"/>
          <p:cNvCxnSpPr/>
          <p:nvPr userDrawn="1"/>
        </p:nvCxnSpPr>
        <p:spPr>
          <a:xfrm>
            <a:off x="467360" y="998855"/>
            <a:ext cx="4987925"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副标题 12"/>
          <p:cNvSpPr>
            <a:spLocks noGrp="1"/>
          </p:cNvSpPr>
          <p:nvPr>
            <p:ph type="subTitle" idx="4"/>
          </p:nvPr>
        </p:nvSpPr>
        <p:spPr>
          <a:xfrm>
            <a:off x="1371600" y="3840480"/>
            <a:ext cx="6400800" cy="274320"/>
          </a:xfrm>
        </p:spPr>
        <p:txBody>
          <a:bodyPr/>
          <a:lstStyle/>
          <a:p>
            <a:endParaRPr lang="zh-CN" altLang="en-US"/>
          </a:p>
        </p:txBody>
      </p:sp>
      <p:sp>
        <p:nvSpPr>
          <p:cNvPr id="2" name="object 2"/>
          <p:cNvSpPr txBox="1"/>
          <p:nvPr/>
        </p:nvSpPr>
        <p:spPr>
          <a:xfrm>
            <a:off x="3886200" y="4800600"/>
            <a:ext cx="2866390" cy="308418"/>
          </a:xfrm>
          <a:prstGeom prst="rect">
            <a:avLst/>
          </a:prstGeom>
        </p:spPr>
        <p:txBody>
          <a:bodyPr vert="horz" wrap="square" lIns="0" tIns="10160" rIns="0" bIns="0" rtlCol="0">
            <a:spAutoFit/>
          </a:bodyPr>
          <a:lstStyle/>
          <a:p>
            <a:pPr marL="12700" marR="5080">
              <a:lnSpc>
                <a:spcPts val="2530"/>
              </a:lnSpc>
              <a:spcBef>
                <a:spcPts val="80"/>
              </a:spcBef>
            </a:pPr>
            <a:r>
              <a:rPr sz="2000" b="1" dirty="0" err="1">
                <a:solidFill>
                  <a:srgbClr val="006FC0"/>
                </a:solidFill>
                <a:latin typeface="微软雅黑" panose="020B0503020204020204" charset="-122"/>
                <a:cs typeface="微软雅黑" panose="020B0503020204020204" charset="-122"/>
              </a:rPr>
              <a:t>主讲</a:t>
            </a:r>
            <a:r>
              <a:rPr lang="en-US" sz="2000" b="1" dirty="0">
                <a:solidFill>
                  <a:srgbClr val="006FC0"/>
                </a:solidFill>
                <a:latin typeface="微软雅黑" panose="020B0503020204020204" charset="-122"/>
                <a:cs typeface="微软雅黑" panose="020B0503020204020204" charset="-122"/>
              </a:rPr>
              <a:t>:</a:t>
            </a:r>
            <a:r>
              <a:rPr sz="2000" b="1" dirty="0">
                <a:solidFill>
                  <a:srgbClr val="006FC0"/>
                </a:solidFill>
                <a:latin typeface="微软雅黑" panose="020B0503020204020204" charset="-122"/>
                <a:cs typeface="微软雅黑" panose="020B0503020204020204" charset="-122"/>
              </a:rPr>
              <a:t>    </a:t>
            </a:r>
            <a:r>
              <a:rPr lang="zh-CN" altLang="en-US" sz="2000" b="1" dirty="0">
                <a:solidFill>
                  <a:srgbClr val="006FC0"/>
                </a:solidFill>
                <a:latin typeface="微软雅黑" panose="020B0503020204020204" charset="-122"/>
                <a:cs typeface="微软雅黑" panose="020B0503020204020204" charset="-122"/>
              </a:rPr>
              <a:t>陈佩</a:t>
            </a:r>
            <a:endParaRPr lang="zh-CN" altLang="zh-CN" sz="2000" b="1" dirty="0">
              <a:solidFill>
                <a:srgbClr val="006FC0"/>
              </a:solidFill>
              <a:latin typeface="微软雅黑" panose="020B0503020204020204" charset="-122"/>
              <a:cs typeface="微软雅黑" panose="020B0503020204020204" charset="-122"/>
            </a:endParaRPr>
          </a:p>
        </p:txBody>
      </p:sp>
      <p:sp>
        <p:nvSpPr>
          <p:cNvPr id="3" name="object 3"/>
          <p:cNvSpPr/>
          <p:nvPr/>
        </p:nvSpPr>
        <p:spPr>
          <a:xfrm>
            <a:off x="8564880" y="2717292"/>
            <a:ext cx="579120" cy="993775"/>
          </a:xfrm>
          <a:custGeom>
            <a:avLst/>
            <a:gdLst/>
            <a:ahLst/>
            <a:cxnLst/>
            <a:rect l="l" t="t" r="r" b="b"/>
            <a:pathLst>
              <a:path w="579120" h="993775">
                <a:moveTo>
                  <a:pt x="0" y="993648"/>
                </a:moveTo>
                <a:lnTo>
                  <a:pt x="579120" y="993648"/>
                </a:lnTo>
                <a:lnTo>
                  <a:pt x="579120" y="0"/>
                </a:lnTo>
                <a:lnTo>
                  <a:pt x="0" y="0"/>
                </a:lnTo>
                <a:lnTo>
                  <a:pt x="0" y="993648"/>
                </a:lnTo>
                <a:close/>
              </a:path>
            </a:pathLst>
          </a:custGeom>
          <a:solidFill>
            <a:srgbClr val="006FC0"/>
          </a:solidFill>
        </p:spPr>
        <p:txBody>
          <a:bodyPr wrap="square" lIns="0" tIns="0" rIns="0" bIns="0" rtlCol="0"/>
          <a:lstStyle/>
          <a:p>
            <a:endParaRPr/>
          </a:p>
        </p:txBody>
      </p:sp>
      <p:sp>
        <p:nvSpPr>
          <p:cNvPr id="4" name="object 4"/>
          <p:cNvSpPr/>
          <p:nvPr/>
        </p:nvSpPr>
        <p:spPr>
          <a:xfrm>
            <a:off x="8564880" y="3805428"/>
            <a:ext cx="579120" cy="273050"/>
          </a:xfrm>
          <a:custGeom>
            <a:avLst/>
            <a:gdLst/>
            <a:ahLst/>
            <a:cxnLst/>
            <a:rect l="l" t="t" r="r" b="b"/>
            <a:pathLst>
              <a:path w="579120" h="273050">
                <a:moveTo>
                  <a:pt x="0" y="272796"/>
                </a:moveTo>
                <a:lnTo>
                  <a:pt x="579120" y="272796"/>
                </a:lnTo>
                <a:lnTo>
                  <a:pt x="579120" y="0"/>
                </a:lnTo>
                <a:lnTo>
                  <a:pt x="0" y="0"/>
                </a:lnTo>
                <a:lnTo>
                  <a:pt x="0" y="272796"/>
                </a:lnTo>
                <a:close/>
              </a:path>
            </a:pathLst>
          </a:custGeom>
          <a:solidFill>
            <a:srgbClr val="006FC0"/>
          </a:solidFill>
        </p:spPr>
        <p:txBody>
          <a:bodyPr wrap="square" lIns="0" tIns="0" rIns="0" bIns="0" rtlCol="0"/>
          <a:lstStyle/>
          <a:p>
            <a:endParaRPr/>
          </a:p>
        </p:txBody>
      </p:sp>
      <p:sp>
        <p:nvSpPr>
          <p:cNvPr id="5" name="object 5"/>
          <p:cNvSpPr/>
          <p:nvPr/>
        </p:nvSpPr>
        <p:spPr>
          <a:xfrm>
            <a:off x="0" y="3805428"/>
            <a:ext cx="5991225" cy="273050"/>
          </a:xfrm>
          <a:custGeom>
            <a:avLst/>
            <a:gdLst/>
            <a:ahLst/>
            <a:cxnLst/>
            <a:rect l="l" t="t" r="r" b="b"/>
            <a:pathLst>
              <a:path w="5991225" h="273050">
                <a:moveTo>
                  <a:pt x="0" y="272796"/>
                </a:moveTo>
                <a:lnTo>
                  <a:pt x="5990844" y="272796"/>
                </a:lnTo>
                <a:lnTo>
                  <a:pt x="5990844" y="0"/>
                </a:lnTo>
                <a:lnTo>
                  <a:pt x="0" y="0"/>
                </a:lnTo>
                <a:lnTo>
                  <a:pt x="0" y="272796"/>
                </a:lnTo>
                <a:close/>
              </a:path>
            </a:pathLst>
          </a:custGeom>
          <a:solidFill>
            <a:srgbClr val="006FC0"/>
          </a:solidFill>
        </p:spPr>
        <p:txBody>
          <a:bodyPr wrap="square" lIns="0" tIns="0" rIns="0" bIns="0" rtlCol="0"/>
          <a:lstStyle/>
          <a:p>
            <a:endParaRPr/>
          </a:p>
        </p:txBody>
      </p:sp>
      <p:sp>
        <p:nvSpPr>
          <p:cNvPr id="6" name="object 6"/>
          <p:cNvSpPr/>
          <p:nvPr/>
        </p:nvSpPr>
        <p:spPr>
          <a:xfrm>
            <a:off x="0" y="2717165"/>
            <a:ext cx="6548755" cy="993775"/>
          </a:xfrm>
          <a:custGeom>
            <a:avLst/>
            <a:gdLst/>
            <a:ahLst/>
            <a:cxnLst/>
            <a:rect l="l" t="t" r="r" b="b"/>
            <a:pathLst>
              <a:path w="5991225" h="993775">
                <a:moveTo>
                  <a:pt x="0" y="993648"/>
                </a:moveTo>
                <a:lnTo>
                  <a:pt x="5990844" y="993648"/>
                </a:lnTo>
                <a:lnTo>
                  <a:pt x="5990844" y="0"/>
                </a:lnTo>
                <a:lnTo>
                  <a:pt x="0" y="0"/>
                </a:lnTo>
                <a:lnTo>
                  <a:pt x="0" y="993648"/>
                </a:lnTo>
                <a:close/>
              </a:path>
            </a:pathLst>
          </a:custGeom>
          <a:solidFill>
            <a:srgbClr val="006FC0"/>
          </a:solidFill>
        </p:spPr>
        <p:txBody>
          <a:bodyPr wrap="square" lIns="0" tIns="0" rIns="0" bIns="0" rtlCol="0"/>
          <a:lstStyle/>
          <a:p>
            <a:endParaRPr/>
          </a:p>
        </p:txBody>
      </p:sp>
      <p:sp>
        <p:nvSpPr>
          <p:cNvPr id="7" name="object 7"/>
          <p:cNvSpPr txBox="1"/>
          <p:nvPr/>
        </p:nvSpPr>
        <p:spPr>
          <a:xfrm>
            <a:off x="2867025" y="2950210"/>
            <a:ext cx="3628390" cy="534670"/>
          </a:xfrm>
          <a:prstGeom prst="rect">
            <a:avLst/>
          </a:prstGeom>
        </p:spPr>
        <p:txBody>
          <a:bodyPr vert="horz" wrap="square" lIns="0" tIns="12065" rIns="0" bIns="0" rtlCol="0">
            <a:spAutoFit/>
          </a:bodyPr>
          <a:lstStyle/>
          <a:p>
            <a:pPr marL="12700">
              <a:lnSpc>
                <a:spcPct val="100000"/>
              </a:lnSpc>
              <a:spcBef>
                <a:spcPts val="95"/>
              </a:spcBef>
            </a:pPr>
            <a:r>
              <a:rPr sz="3400" b="1" spc="-5" dirty="0">
                <a:solidFill>
                  <a:srgbClr val="FFFFFF"/>
                </a:solidFill>
                <a:latin typeface="微软雅黑" panose="020B0503020204020204" charset="-122"/>
                <a:cs typeface="微软雅黑" panose="020B0503020204020204" charset="-122"/>
              </a:rPr>
              <a:t>单片机</a:t>
            </a:r>
            <a:r>
              <a:rPr lang="zh-CN" sz="3400" b="1" spc="-5" dirty="0">
                <a:solidFill>
                  <a:srgbClr val="FFFFFF"/>
                </a:solidFill>
                <a:latin typeface="微软雅黑" panose="020B0503020204020204" charset="-122"/>
                <a:cs typeface="微软雅黑" panose="020B0503020204020204" charset="-122"/>
              </a:rPr>
              <a:t>原理及应用</a:t>
            </a:r>
          </a:p>
        </p:txBody>
      </p:sp>
      <p:sp>
        <p:nvSpPr>
          <p:cNvPr id="8" name="object 8"/>
          <p:cNvSpPr txBox="1"/>
          <p:nvPr/>
        </p:nvSpPr>
        <p:spPr>
          <a:xfrm>
            <a:off x="3227070" y="3805555"/>
            <a:ext cx="3321685" cy="257810"/>
          </a:xfrm>
          <a:prstGeom prst="rect">
            <a:avLst/>
          </a:prstGeom>
        </p:spPr>
        <p:txBody>
          <a:bodyPr vert="horz" wrap="square" lIns="0" tIns="12065" rIns="0" bIns="0" rtlCol="0">
            <a:spAutoFit/>
          </a:bodyPr>
          <a:lstStyle/>
          <a:p>
            <a:pPr marL="12700">
              <a:lnSpc>
                <a:spcPct val="100000"/>
              </a:lnSpc>
              <a:spcBef>
                <a:spcPts val="95"/>
              </a:spcBef>
            </a:pPr>
            <a:r>
              <a:rPr lang="en-US" sz="1600" spc="-5" dirty="0">
                <a:solidFill>
                  <a:srgbClr val="FFFFFF"/>
                </a:solidFill>
                <a:latin typeface="Times New Roman" panose="02020603050405020304"/>
                <a:cs typeface="Times New Roman" panose="02020603050405020304"/>
              </a:rPr>
              <a:t>Chang'an university</a:t>
            </a:r>
            <a:endParaRPr lang="en-US" sz="1600">
              <a:latin typeface="Times New Roman" panose="02020603050405020304"/>
              <a:cs typeface="Times New Roman" panose="02020603050405020304"/>
            </a:endParaRPr>
          </a:p>
        </p:txBody>
      </p:sp>
      <p:sp>
        <p:nvSpPr>
          <p:cNvPr id="9" name="object 9"/>
          <p:cNvSpPr/>
          <p:nvPr/>
        </p:nvSpPr>
        <p:spPr>
          <a:xfrm>
            <a:off x="223265" y="2788157"/>
            <a:ext cx="1224280" cy="1224280"/>
          </a:xfrm>
          <a:custGeom>
            <a:avLst/>
            <a:gdLst/>
            <a:ahLst/>
            <a:cxnLst/>
            <a:rect l="l" t="t" r="r" b="b"/>
            <a:pathLst>
              <a:path w="1224280" h="1224279">
                <a:moveTo>
                  <a:pt x="611886" y="0"/>
                </a:moveTo>
                <a:lnTo>
                  <a:pt x="564067" y="1840"/>
                </a:lnTo>
                <a:lnTo>
                  <a:pt x="517255" y="7272"/>
                </a:lnTo>
                <a:lnTo>
                  <a:pt x="471586" y="16159"/>
                </a:lnTo>
                <a:lnTo>
                  <a:pt x="427195" y="28365"/>
                </a:lnTo>
                <a:lnTo>
                  <a:pt x="384219" y="43754"/>
                </a:lnTo>
                <a:lnTo>
                  <a:pt x="342794" y="62190"/>
                </a:lnTo>
                <a:lnTo>
                  <a:pt x="303055" y="83537"/>
                </a:lnTo>
                <a:lnTo>
                  <a:pt x="265140" y="107659"/>
                </a:lnTo>
                <a:lnTo>
                  <a:pt x="229182" y="134420"/>
                </a:lnTo>
                <a:lnTo>
                  <a:pt x="195320" y="163684"/>
                </a:lnTo>
                <a:lnTo>
                  <a:pt x="163689" y="195315"/>
                </a:lnTo>
                <a:lnTo>
                  <a:pt x="134424" y="229177"/>
                </a:lnTo>
                <a:lnTo>
                  <a:pt x="107663" y="265134"/>
                </a:lnTo>
                <a:lnTo>
                  <a:pt x="83540" y="303050"/>
                </a:lnTo>
                <a:lnTo>
                  <a:pt x="62192" y="342788"/>
                </a:lnTo>
                <a:lnTo>
                  <a:pt x="43756" y="384214"/>
                </a:lnTo>
                <a:lnTo>
                  <a:pt x="28366" y="427191"/>
                </a:lnTo>
                <a:lnTo>
                  <a:pt x="16160" y="471582"/>
                </a:lnTo>
                <a:lnTo>
                  <a:pt x="7273" y="517252"/>
                </a:lnTo>
                <a:lnTo>
                  <a:pt x="1840" y="564065"/>
                </a:lnTo>
                <a:lnTo>
                  <a:pt x="0" y="611886"/>
                </a:lnTo>
                <a:lnTo>
                  <a:pt x="1840" y="659706"/>
                </a:lnTo>
                <a:lnTo>
                  <a:pt x="7273" y="706519"/>
                </a:lnTo>
                <a:lnTo>
                  <a:pt x="16160" y="752189"/>
                </a:lnTo>
                <a:lnTo>
                  <a:pt x="28366" y="796580"/>
                </a:lnTo>
                <a:lnTo>
                  <a:pt x="43756" y="839557"/>
                </a:lnTo>
                <a:lnTo>
                  <a:pt x="62192" y="880983"/>
                </a:lnTo>
                <a:lnTo>
                  <a:pt x="83540" y="920721"/>
                </a:lnTo>
                <a:lnTo>
                  <a:pt x="107663" y="958637"/>
                </a:lnTo>
                <a:lnTo>
                  <a:pt x="134424" y="994594"/>
                </a:lnTo>
                <a:lnTo>
                  <a:pt x="163689" y="1028456"/>
                </a:lnTo>
                <a:lnTo>
                  <a:pt x="195320" y="1060087"/>
                </a:lnTo>
                <a:lnTo>
                  <a:pt x="229182" y="1089351"/>
                </a:lnTo>
                <a:lnTo>
                  <a:pt x="265140" y="1116112"/>
                </a:lnTo>
                <a:lnTo>
                  <a:pt x="303055" y="1140234"/>
                </a:lnTo>
                <a:lnTo>
                  <a:pt x="342794" y="1161581"/>
                </a:lnTo>
                <a:lnTo>
                  <a:pt x="384219" y="1180017"/>
                </a:lnTo>
                <a:lnTo>
                  <a:pt x="427195" y="1195406"/>
                </a:lnTo>
                <a:lnTo>
                  <a:pt x="471586" y="1207612"/>
                </a:lnTo>
                <a:lnTo>
                  <a:pt x="517255" y="1216499"/>
                </a:lnTo>
                <a:lnTo>
                  <a:pt x="564067" y="1221931"/>
                </a:lnTo>
                <a:lnTo>
                  <a:pt x="611886" y="1223771"/>
                </a:lnTo>
                <a:lnTo>
                  <a:pt x="659704" y="1221931"/>
                </a:lnTo>
                <a:lnTo>
                  <a:pt x="706516" y="1216499"/>
                </a:lnTo>
                <a:lnTo>
                  <a:pt x="752185" y="1207612"/>
                </a:lnTo>
                <a:lnTo>
                  <a:pt x="796576" y="1195406"/>
                </a:lnTo>
                <a:lnTo>
                  <a:pt x="839552" y="1180017"/>
                </a:lnTo>
                <a:lnTo>
                  <a:pt x="880977" y="1161581"/>
                </a:lnTo>
                <a:lnTo>
                  <a:pt x="920716" y="1140234"/>
                </a:lnTo>
                <a:lnTo>
                  <a:pt x="958631" y="1116112"/>
                </a:lnTo>
                <a:lnTo>
                  <a:pt x="994589" y="1089351"/>
                </a:lnTo>
                <a:lnTo>
                  <a:pt x="1028451" y="1060087"/>
                </a:lnTo>
                <a:lnTo>
                  <a:pt x="1060082" y="1028456"/>
                </a:lnTo>
                <a:lnTo>
                  <a:pt x="1089347" y="994594"/>
                </a:lnTo>
                <a:lnTo>
                  <a:pt x="1116108" y="958637"/>
                </a:lnTo>
                <a:lnTo>
                  <a:pt x="1140231" y="920721"/>
                </a:lnTo>
                <a:lnTo>
                  <a:pt x="1161579" y="880983"/>
                </a:lnTo>
                <a:lnTo>
                  <a:pt x="1180015" y="839557"/>
                </a:lnTo>
                <a:lnTo>
                  <a:pt x="1195405" y="796580"/>
                </a:lnTo>
                <a:lnTo>
                  <a:pt x="1207611" y="752189"/>
                </a:lnTo>
                <a:lnTo>
                  <a:pt x="1216498" y="706519"/>
                </a:lnTo>
                <a:lnTo>
                  <a:pt x="1221931" y="659706"/>
                </a:lnTo>
                <a:lnTo>
                  <a:pt x="1223772" y="611886"/>
                </a:lnTo>
                <a:lnTo>
                  <a:pt x="1221931" y="564065"/>
                </a:lnTo>
                <a:lnTo>
                  <a:pt x="1216498" y="517252"/>
                </a:lnTo>
                <a:lnTo>
                  <a:pt x="1207611" y="471582"/>
                </a:lnTo>
                <a:lnTo>
                  <a:pt x="1195405" y="427191"/>
                </a:lnTo>
                <a:lnTo>
                  <a:pt x="1180015" y="384214"/>
                </a:lnTo>
                <a:lnTo>
                  <a:pt x="1161579" y="342788"/>
                </a:lnTo>
                <a:lnTo>
                  <a:pt x="1140231" y="303050"/>
                </a:lnTo>
                <a:lnTo>
                  <a:pt x="1116108" y="265134"/>
                </a:lnTo>
                <a:lnTo>
                  <a:pt x="1089347" y="229177"/>
                </a:lnTo>
                <a:lnTo>
                  <a:pt x="1060082" y="195315"/>
                </a:lnTo>
                <a:lnTo>
                  <a:pt x="1028451" y="163684"/>
                </a:lnTo>
                <a:lnTo>
                  <a:pt x="994589" y="134420"/>
                </a:lnTo>
                <a:lnTo>
                  <a:pt x="958631" y="107659"/>
                </a:lnTo>
                <a:lnTo>
                  <a:pt x="920716" y="83537"/>
                </a:lnTo>
                <a:lnTo>
                  <a:pt x="880977" y="62190"/>
                </a:lnTo>
                <a:lnTo>
                  <a:pt x="839552" y="43754"/>
                </a:lnTo>
                <a:lnTo>
                  <a:pt x="796576" y="28365"/>
                </a:lnTo>
                <a:lnTo>
                  <a:pt x="752185" y="16159"/>
                </a:lnTo>
                <a:lnTo>
                  <a:pt x="706516" y="7272"/>
                </a:lnTo>
                <a:lnTo>
                  <a:pt x="659704" y="1840"/>
                </a:lnTo>
                <a:lnTo>
                  <a:pt x="611886" y="0"/>
                </a:lnTo>
                <a:close/>
              </a:path>
            </a:pathLst>
          </a:custGeom>
          <a:solidFill>
            <a:srgbClr val="006FC0"/>
          </a:solidFill>
        </p:spPr>
        <p:txBody>
          <a:bodyPr wrap="square" lIns="0" tIns="0" rIns="0" bIns="0" rtlCol="0"/>
          <a:lstStyle/>
          <a:p>
            <a:endParaRPr/>
          </a:p>
        </p:txBody>
      </p:sp>
      <p:sp>
        <p:nvSpPr>
          <p:cNvPr id="10" name="object 10"/>
          <p:cNvSpPr/>
          <p:nvPr/>
        </p:nvSpPr>
        <p:spPr>
          <a:xfrm>
            <a:off x="223265" y="2788157"/>
            <a:ext cx="1224280" cy="1224280"/>
          </a:xfrm>
          <a:custGeom>
            <a:avLst/>
            <a:gdLst/>
            <a:ahLst/>
            <a:cxnLst/>
            <a:rect l="l" t="t" r="r" b="b"/>
            <a:pathLst>
              <a:path w="1224280" h="1224279">
                <a:moveTo>
                  <a:pt x="0" y="611886"/>
                </a:moveTo>
                <a:lnTo>
                  <a:pt x="1840" y="564065"/>
                </a:lnTo>
                <a:lnTo>
                  <a:pt x="7273" y="517252"/>
                </a:lnTo>
                <a:lnTo>
                  <a:pt x="16160" y="471582"/>
                </a:lnTo>
                <a:lnTo>
                  <a:pt x="28366" y="427191"/>
                </a:lnTo>
                <a:lnTo>
                  <a:pt x="43756" y="384214"/>
                </a:lnTo>
                <a:lnTo>
                  <a:pt x="62192" y="342788"/>
                </a:lnTo>
                <a:lnTo>
                  <a:pt x="83540" y="303050"/>
                </a:lnTo>
                <a:lnTo>
                  <a:pt x="107663" y="265134"/>
                </a:lnTo>
                <a:lnTo>
                  <a:pt x="134424" y="229177"/>
                </a:lnTo>
                <a:lnTo>
                  <a:pt x="163689" y="195315"/>
                </a:lnTo>
                <a:lnTo>
                  <a:pt x="195320" y="163684"/>
                </a:lnTo>
                <a:lnTo>
                  <a:pt x="229182" y="134420"/>
                </a:lnTo>
                <a:lnTo>
                  <a:pt x="265140" y="107659"/>
                </a:lnTo>
                <a:lnTo>
                  <a:pt x="303055" y="83537"/>
                </a:lnTo>
                <a:lnTo>
                  <a:pt x="342794" y="62190"/>
                </a:lnTo>
                <a:lnTo>
                  <a:pt x="384219" y="43754"/>
                </a:lnTo>
                <a:lnTo>
                  <a:pt x="427195" y="28365"/>
                </a:lnTo>
                <a:lnTo>
                  <a:pt x="471586" y="16159"/>
                </a:lnTo>
                <a:lnTo>
                  <a:pt x="517255" y="7272"/>
                </a:lnTo>
                <a:lnTo>
                  <a:pt x="564067" y="1840"/>
                </a:lnTo>
                <a:lnTo>
                  <a:pt x="611886" y="0"/>
                </a:lnTo>
                <a:lnTo>
                  <a:pt x="659704" y="1840"/>
                </a:lnTo>
                <a:lnTo>
                  <a:pt x="706516" y="7272"/>
                </a:lnTo>
                <a:lnTo>
                  <a:pt x="752185" y="16159"/>
                </a:lnTo>
                <a:lnTo>
                  <a:pt x="796576" y="28365"/>
                </a:lnTo>
                <a:lnTo>
                  <a:pt x="839552" y="43754"/>
                </a:lnTo>
                <a:lnTo>
                  <a:pt x="880977" y="62190"/>
                </a:lnTo>
                <a:lnTo>
                  <a:pt x="920716" y="83537"/>
                </a:lnTo>
                <a:lnTo>
                  <a:pt x="958631" y="107659"/>
                </a:lnTo>
                <a:lnTo>
                  <a:pt x="994589" y="134420"/>
                </a:lnTo>
                <a:lnTo>
                  <a:pt x="1028451" y="163684"/>
                </a:lnTo>
                <a:lnTo>
                  <a:pt x="1060082" y="195315"/>
                </a:lnTo>
                <a:lnTo>
                  <a:pt x="1089347" y="229177"/>
                </a:lnTo>
                <a:lnTo>
                  <a:pt x="1116108" y="265134"/>
                </a:lnTo>
                <a:lnTo>
                  <a:pt x="1140231" y="303050"/>
                </a:lnTo>
                <a:lnTo>
                  <a:pt x="1161579" y="342788"/>
                </a:lnTo>
                <a:lnTo>
                  <a:pt x="1180015" y="384214"/>
                </a:lnTo>
                <a:lnTo>
                  <a:pt x="1195405" y="427191"/>
                </a:lnTo>
                <a:lnTo>
                  <a:pt x="1207611" y="471582"/>
                </a:lnTo>
                <a:lnTo>
                  <a:pt x="1216498" y="517252"/>
                </a:lnTo>
                <a:lnTo>
                  <a:pt x="1221931" y="564065"/>
                </a:lnTo>
                <a:lnTo>
                  <a:pt x="1223772" y="611886"/>
                </a:lnTo>
                <a:lnTo>
                  <a:pt x="1221931" y="659706"/>
                </a:lnTo>
                <a:lnTo>
                  <a:pt x="1216498" y="706519"/>
                </a:lnTo>
                <a:lnTo>
                  <a:pt x="1207611" y="752189"/>
                </a:lnTo>
                <a:lnTo>
                  <a:pt x="1195405" y="796580"/>
                </a:lnTo>
                <a:lnTo>
                  <a:pt x="1180015" y="839557"/>
                </a:lnTo>
                <a:lnTo>
                  <a:pt x="1161579" y="880983"/>
                </a:lnTo>
                <a:lnTo>
                  <a:pt x="1140231" y="920721"/>
                </a:lnTo>
                <a:lnTo>
                  <a:pt x="1116108" y="958637"/>
                </a:lnTo>
                <a:lnTo>
                  <a:pt x="1089347" y="994594"/>
                </a:lnTo>
                <a:lnTo>
                  <a:pt x="1060082" y="1028456"/>
                </a:lnTo>
                <a:lnTo>
                  <a:pt x="1028451" y="1060087"/>
                </a:lnTo>
                <a:lnTo>
                  <a:pt x="994589" y="1089351"/>
                </a:lnTo>
                <a:lnTo>
                  <a:pt x="958631" y="1116112"/>
                </a:lnTo>
                <a:lnTo>
                  <a:pt x="920716" y="1140234"/>
                </a:lnTo>
                <a:lnTo>
                  <a:pt x="880977" y="1161581"/>
                </a:lnTo>
                <a:lnTo>
                  <a:pt x="839552" y="1180017"/>
                </a:lnTo>
                <a:lnTo>
                  <a:pt x="796576" y="1195406"/>
                </a:lnTo>
                <a:lnTo>
                  <a:pt x="752185" y="1207612"/>
                </a:lnTo>
                <a:lnTo>
                  <a:pt x="706516" y="1216499"/>
                </a:lnTo>
                <a:lnTo>
                  <a:pt x="659704" y="1221931"/>
                </a:lnTo>
                <a:lnTo>
                  <a:pt x="611886" y="1223771"/>
                </a:lnTo>
                <a:lnTo>
                  <a:pt x="564067" y="1221931"/>
                </a:lnTo>
                <a:lnTo>
                  <a:pt x="517255" y="1216499"/>
                </a:lnTo>
                <a:lnTo>
                  <a:pt x="471586" y="1207612"/>
                </a:lnTo>
                <a:lnTo>
                  <a:pt x="427195" y="1195406"/>
                </a:lnTo>
                <a:lnTo>
                  <a:pt x="384219" y="1180017"/>
                </a:lnTo>
                <a:lnTo>
                  <a:pt x="342794" y="1161581"/>
                </a:lnTo>
                <a:lnTo>
                  <a:pt x="303055" y="1140234"/>
                </a:lnTo>
                <a:lnTo>
                  <a:pt x="265140" y="1116112"/>
                </a:lnTo>
                <a:lnTo>
                  <a:pt x="229182" y="1089351"/>
                </a:lnTo>
                <a:lnTo>
                  <a:pt x="195320" y="1060087"/>
                </a:lnTo>
                <a:lnTo>
                  <a:pt x="163689" y="1028456"/>
                </a:lnTo>
                <a:lnTo>
                  <a:pt x="134424" y="994594"/>
                </a:lnTo>
                <a:lnTo>
                  <a:pt x="107663" y="958637"/>
                </a:lnTo>
                <a:lnTo>
                  <a:pt x="83540" y="920721"/>
                </a:lnTo>
                <a:lnTo>
                  <a:pt x="62192" y="880983"/>
                </a:lnTo>
                <a:lnTo>
                  <a:pt x="43756" y="839557"/>
                </a:lnTo>
                <a:lnTo>
                  <a:pt x="28366" y="796580"/>
                </a:lnTo>
                <a:lnTo>
                  <a:pt x="16160" y="752189"/>
                </a:lnTo>
                <a:lnTo>
                  <a:pt x="7273" y="706519"/>
                </a:lnTo>
                <a:lnTo>
                  <a:pt x="1840" y="659706"/>
                </a:lnTo>
                <a:lnTo>
                  <a:pt x="0" y="611886"/>
                </a:lnTo>
                <a:close/>
              </a:path>
            </a:pathLst>
          </a:custGeom>
          <a:ln w="25907">
            <a:solidFill>
              <a:srgbClr val="FFFFFF"/>
            </a:solidFill>
          </a:ln>
        </p:spPr>
        <p:txBody>
          <a:bodyPr wrap="square" lIns="0" tIns="0" rIns="0" bIns="0" rtlCol="0"/>
          <a:lstStyle/>
          <a:p>
            <a:endParaRPr/>
          </a:p>
        </p:txBody>
      </p:sp>
      <p:sp>
        <p:nvSpPr>
          <p:cNvPr id="11" name="object 11"/>
          <p:cNvSpPr/>
          <p:nvPr/>
        </p:nvSpPr>
        <p:spPr>
          <a:xfrm>
            <a:off x="446531" y="3034283"/>
            <a:ext cx="775970" cy="730250"/>
          </a:xfrm>
          <a:custGeom>
            <a:avLst/>
            <a:gdLst/>
            <a:ahLst/>
            <a:cxnLst/>
            <a:rect l="l" t="t" r="r" b="b"/>
            <a:pathLst>
              <a:path w="775969" h="730250">
                <a:moveTo>
                  <a:pt x="143941" y="0"/>
                </a:moveTo>
                <a:lnTo>
                  <a:pt x="111206" y="5772"/>
                </a:lnTo>
                <a:lnTo>
                  <a:pt x="85969" y="22082"/>
                </a:lnTo>
                <a:lnTo>
                  <a:pt x="69728" y="47416"/>
                </a:lnTo>
                <a:lnTo>
                  <a:pt x="63982" y="80263"/>
                </a:lnTo>
                <a:lnTo>
                  <a:pt x="69728" y="113091"/>
                </a:lnTo>
                <a:lnTo>
                  <a:pt x="85969" y="138382"/>
                </a:lnTo>
                <a:lnTo>
                  <a:pt x="111206" y="154648"/>
                </a:lnTo>
                <a:lnTo>
                  <a:pt x="143941" y="160400"/>
                </a:lnTo>
                <a:lnTo>
                  <a:pt x="176684" y="154648"/>
                </a:lnTo>
                <a:lnTo>
                  <a:pt x="201925" y="138382"/>
                </a:lnTo>
                <a:lnTo>
                  <a:pt x="218167" y="113091"/>
                </a:lnTo>
                <a:lnTo>
                  <a:pt x="223913" y="80263"/>
                </a:lnTo>
                <a:lnTo>
                  <a:pt x="218167" y="47416"/>
                </a:lnTo>
                <a:lnTo>
                  <a:pt x="201925" y="22082"/>
                </a:lnTo>
                <a:lnTo>
                  <a:pt x="176684" y="5772"/>
                </a:lnTo>
                <a:lnTo>
                  <a:pt x="143941" y="0"/>
                </a:lnTo>
                <a:close/>
              </a:path>
              <a:path w="775969" h="730250">
                <a:moveTo>
                  <a:pt x="127952" y="184530"/>
                </a:moveTo>
                <a:lnTo>
                  <a:pt x="39979" y="184530"/>
                </a:lnTo>
                <a:lnTo>
                  <a:pt x="0" y="401065"/>
                </a:lnTo>
                <a:lnTo>
                  <a:pt x="55981" y="441198"/>
                </a:lnTo>
                <a:lnTo>
                  <a:pt x="39979" y="729995"/>
                </a:lnTo>
                <a:lnTo>
                  <a:pt x="111963" y="729995"/>
                </a:lnTo>
                <a:lnTo>
                  <a:pt x="127952" y="481329"/>
                </a:lnTo>
                <a:lnTo>
                  <a:pt x="234136" y="481329"/>
                </a:lnTo>
                <a:lnTo>
                  <a:pt x="231914" y="441198"/>
                </a:lnTo>
                <a:lnTo>
                  <a:pt x="229007" y="377063"/>
                </a:lnTo>
                <a:lnTo>
                  <a:pt x="143941" y="377063"/>
                </a:lnTo>
                <a:lnTo>
                  <a:pt x="111963" y="344931"/>
                </a:lnTo>
                <a:lnTo>
                  <a:pt x="127952" y="216535"/>
                </a:lnTo>
                <a:lnTo>
                  <a:pt x="119951" y="192531"/>
                </a:lnTo>
                <a:lnTo>
                  <a:pt x="127952" y="184530"/>
                </a:lnTo>
                <a:close/>
              </a:path>
              <a:path w="775969" h="730250">
                <a:moveTo>
                  <a:pt x="234136" y="481329"/>
                </a:moveTo>
                <a:lnTo>
                  <a:pt x="159943" y="481329"/>
                </a:lnTo>
                <a:lnTo>
                  <a:pt x="175933" y="729995"/>
                </a:lnTo>
                <a:lnTo>
                  <a:pt x="247904" y="729995"/>
                </a:lnTo>
                <a:lnTo>
                  <a:pt x="234136" y="481329"/>
                </a:lnTo>
                <a:close/>
              </a:path>
              <a:path w="775969" h="730250">
                <a:moveTo>
                  <a:pt x="591781" y="689863"/>
                </a:moveTo>
                <a:lnTo>
                  <a:pt x="343877" y="689863"/>
                </a:lnTo>
                <a:lnTo>
                  <a:pt x="343877" y="729995"/>
                </a:lnTo>
                <a:lnTo>
                  <a:pt x="591781" y="729995"/>
                </a:lnTo>
                <a:lnTo>
                  <a:pt x="591781" y="689863"/>
                </a:lnTo>
                <a:close/>
              </a:path>
              <a:path w="775969" h="730250">
                <a:moveTo>
                  <a:pt x="503821" y="545464"/>
                </a:moveTo>
                <a:lnTo>
                  <a:pt x="431838" y="545464"/>
                </a:lnTo>
                <a:lnTo>
                  <a:pt x="431838" y="673861"/>
                </a:lnTo>
                <a:lnTo>
                  <a:pt x="503821" y="673861"/>
                </a:lnTo>
                <a:lnTo>
                  <a:pt x="503821" y="545464"/>
                </a:lnTo>
                <a:close/>
              </a:path>
              <a:path w="775969" h="730250">
                <a:moveTo>
                  <a:pt x="775716" y="24002"/>
                </a:moveTo>
                <a:lnTo>
                  <a:pt x="271894" y="24002"/>
                </a:lnTo>
                <a:lnTo>
                  <a:pt x="271894" y="72136"/>
                </a:lnTo>
                <a:lnTo>
                  <a:pt x="719734" y="72136"/>
                </a:lnTo>
                <a:lnTo>
                  <a:pt x="719734" y="489330"/>
                </a:lnTo>
                <a:lnTo>
                  <a:pt x="287896" y="489330"/>
                </a:lnTo>
                <a:lnTo>
                  <a:pt x="287896" y="545464"/>
                </a:lnTo>
                <a:lnTo>
                  <a:pt x="775716" y="545464"/>
                </a:lnTo>
                <a:lnTo>
                  <a:pt x="775716" y="24002"/>
                </a:lnTo>
                <a:close/>
              </a:path>
              <a:path w="775969" h="730250">
                <a:moveTo>
                  <a:pt x="457669" y="360933"/>
                </a:moveTo>
                <a:lnTo>
                  <a:pt x="407847" y="360933"/>
                </a:lnTo>
                <a:lnTo>
                  <a:pt x="471830" y="401065"/>
                </a:lnTo>
                <a:lnTo>
                  <a:pt x="487819" y="409066"/>
                </a:lnTo>
                <a:lnTo>
                  <a:pt x="487819" y="393064"/>
                </a:lnTo>
                <a:lnTo>
                  <a:pt x="496789" y="369062"/>
                </a:lnTo>
                <a:lnTo>
                  <a:pt x="471830" y="369062"/>
                </a:lnTo>
                <a:lnTo>
                  <a:pt x="457669" y="360933"/>
                </a:lnTo>
                <a:close/>
              </a:path>
              <a:path w="775969" h="730250">
                <a:moveTo>
                  <a:pt x="407847" y="328929"/>
                </a:moveTo>
                <a:lnTo>
                  <a:pt x="399859" y="336930"/>
                </a:lnTo>
                <a:lnTo>
                  <a:pt x="327875" y="360933"/>
                </a:lnTo>
                <a:lnTo>
                  <a:pt x="335876" y="385063"/>
                </a:lnTo>
                <a:lnTo>
                  <a:pt x="407847" y="360933"/>
                </a:lnTo>
                <a:lnTo>
                  <a:pt x="457669" y="360933"/>
                </a:lnTo>
                <a:lnTo>
                  <a:pt x="415848" y="336930"/>
                </a:lnTo>
                <a:lnTo>
                  <a:pt x="407847" y="328929"/>
                </a:lnTo>
                <a:close/>
              </a:path>
              <a:path w="775969" h="730250">
                <a:moveTo>
                  <a:pt x="239915" y="184530"/>
                </a:moveTo>
                <a:lnTo>
                  <a:pt x="159943" y="184530"/>
                </a:lnTo>
                <a:lnTo>
                  <a:pt x="159943" y="192531"/>
                </a:lnTo>
                <a:lnTo>
                  <a:pt x="151942" y="216535"/>
                </a:lnTo>
                <a:lnTo>
                  <a:pt x="175933" y="344931"/>
                </a:lnTo>
                <a:lnTo>
                  <a:pt x="143941" y="377063"/>
                </a:lnTo>
                <a:lnTo>
                  <a:pt x="229007" y="377063"/>
                </a:lnTo>
                <a:lnTo>
                  <a:pt x="223913" y="264667"/>
                </a:lnTo>
                <a:lnTo>
                  <a:pt x="399859" y="256666"/>
                </a:lnTo>
                <a:lnTo>
                  <a:pt x="439839" y="192531"/>
                </a:lnTo>
                <a:lnTo>
                  <a:pt x="239915" y="184530"/>
                </a:lnTo>
                <a:close/>
              </a:path>
              <a:path w="775969" h="730250">
                <a:moveTo>
                  <a:pt x="527812" y="216535"/>
                </a:moveTo>
                <a:lnTo>
                  <a:pt x="519811" y="232663"/>
                </a:lnTo>
                <a:lnTo>
                  <a:pt x="471830" y="369062"/>
                </a:lnTo>
                <a:lnTo>
                  <a:pt x="496789" y="369062"/>
                </a:lnTo>
                <a:lnTo>
                  <a:pt x="535800" y="264667"/>
                </a:lnTo>
                <a:lnTo>
                  <a:pt x="574063" y="264667"/>
                </a:lnTo>
                <a:lnTo>
                  <a:pt x="535800" y="232663"/>
                </a:lnTo>
                <a:lnTo>
                  <a:pt x="527812" y="216535"/>
                </a:lnTo>
                <a:close/>
              </a:path>
              <a:path w="775969" h="730250">
                <a:moveTo>
                  <a:pt x="574063" y="264667"/>
                </a:moveTo>
                <a:lnTo>
                  <a:pt x="535800" y="264667"/>
                </a:lnTo>
                <a:lnTo>
                  <a:pt x="575792" y="304800"/>
                </a:lnTo>
                <a:lnTo>
                  <a:pt x="583780" y="320928"/>
                </a:lnTo>
                <a:lnTo>
                  <a:pt x="599782" y="304800"/>
                </a:lnTo>
                <a:lnTo>
                  <a:pt x="616805" y="272795"/>
                </a:lnTo>
                <a:lnTo>
                  <a:pt x="583780" y="272795"/>
                </a:lnTo>
                <a:lnTo>
                  <a:pt x="574063" y="264667"/>
                </a:lnTo>
                <a:close/>
              </a:path>
              <a:path w="775969" h="730250">
                <a:moveTo>
                  <a:pt x="647763" y="168401"/>
                </a:moveTo>
                <a:lnTo>
                  <a:pt x="583780" y="272795"/>
                </a:lnTo>
                <a:lnTo>
                  <a:pt x="616805" y="272795"/>
                </a:lnTo>
                <a:lnTo>
                  <a:pt x="663752" y="184530"/>
                </a:lnTo>
                <a:lnTo>
                  <a:pt x="647763" y="168401"/>
                </a:lnTo>
                <a:close/>
              </a:path>
            </a:pathLst>
          </a:custGeom>
          <a:solidFill>
            <a:srgbClr val="FFFFFF"/>
          </a:solidFill>
        </p:spPr>
        <p:txBody>
          <a:bodyPr wrap="square" lIns="0" tIns="0" rIns="0" bIns="0" rtlCol="0"/>
          <a:lstStyle/>
          <a:p>
            <a:endParaRPr/>
          </a:p>
        </p:txBody>
      </p:sp>
      <p:sp>
        <p:nvSpPr>
          <p:cNvPr id="14" name="灯片编号占位符 13"/>
          <p:cNvSpPr>
            <a:spLocks noGrp="1"/>
          </p:cNvSpPr>
          <p:nvPr>
            <p:ph type="sldNum" sz="quarter" idx="7"/>
          </p:nvPr>
        </p:nvSpPr>
        <p:spPr/>
        <p:txBody>
          <a:bodyPr/>
          <a:lstStyle/>
          <a:p>
            <a:pPr marL="25400">
              <a:lnSpc>
                <a:spcPct val="100000"/>
              </a:lnSpc>
              <a:spcBef>
                <a:spcPts val="185"/>
              </a:spcBef>
            </a:pPr>
            <a:fld id="{81D60167-4931-47E6-BA6A-407CBD079E47}" type="slidenum">
              <a:rPr spc="-5" dirty="0"/>
              <a:t>1</a:t>
            </a:fld>
            <a:endParaRPr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238593"/>
          <p:cNvSpPr>
            <a:spLocks noGrp="1"/>
          </p:cNvSpPr>
          <p:nvPr>
            <p:ph type="title"/>
          </p:nvPr>
        </p:nvSpPr>
        <p:spPr>
          <a:xfrm>
            <a:off x="1557973" y="230188"/>
            <a:ext cx="7219950" cy="738505"/>
          </a:xfrm>
        </p:spPr>
        <p:txBody>
          <a:bodyPr anchor="ctr"/>
          <a:lstStyle/>
          <a:p>
            <a:pPr>
              <a:lnSpc>
                <a:spcPct val="80000"/>
              </a:lnSpc>
            </a:pPr>
            <a:r>
              <a:rPr lang="zh-CN" altLang="en-US" sz="6000" dirty="0">
                <a:solidFill>
                  <a:schemeClr val="tx1"/>
                </a:solidFill>
                <a:latin typeface="隶书" panose="02010509060101010101" pitchFamily="49" charset="-122"/>
                <a:ea typeface="隶书" panose="02010509060101010101" pitchFamily="49" charset="-122"/>
              </a:rPr>
              <a:t>目  录</a:t>
            </a:r>
            <a:endParaRPr lang="zh-CN" altLang="en-US" b="1" dirty="0">
              <a:solidFill>
                <a:schemeClr val="tx1"/>
              </a:solidFill>
              <a:latin typeface="宋体" panose="02010600030101010101" pitchFamily="2" charset="-122"/>
            </a:endParaRPr>
          </a:p>
        </p:txBody>
      </p:sp>
      <p:sp>
        <p:nvSpPr>
          <p:cNvPr id="5122" name="文本占位符 238594"/>
          <p:cNvSpPr>
            <a:spLocks noGrp="1"/>
          </p:cNvSpPr>
          <p:nvPr>
            <p:ph idx="1"/>
          </p:nvPr>
        </p:nvSpPr>
        <p:spPr>
          <a:xfrm>
            <a:off x="838200" y="1219200"/>
            <a:ext cx="7696200" cy="4679950"/>
          </a:xfrm>
        </p:spPr>
        <p:txBody>
          <a:bodyPr anchor="t"/>
          <a:lstStyle/>
          <a:p>
            <a:pPr lvl="1" eaLnBrk="1" fontAlgn="auto" latinLnBrk="0" hangingPunct="1">
              <a:lnSpc>
                <a:spcPct val="130000"/>
              </a:lnSpc>
              <a:buClr>
                <a:schemeClr val="tx2"/>
              </a:buClr>
              <a:buSzPct val="75000"/>
              <a:buFont typeface="Wingdings" panose="05000000000000000000" pitchFamily="2" charset="2"/>
              <a:buChar char="&amp;"/>
            </a:pPr>
            <a:r>
              <a:rPr lang="en-US" altLang="zh-CN" sz="2400" b="1" dirty="0">
                <a:solidFill>
                  <a:srgbClr val="000000"/>
                </a:solidFill>
                <a:latin typeface="宋体" panose="02010600030101010101" pitchFamily="2" charset="-122"/>
              </a:rPr>
              <a:t>  </a:t>
            </a:r>
            <a:r>
              <a:rPr lang="zh-CN" altLang="en-US" sz="2600" b="1" dirty="0">
                <a:latin typeface="宋体" panose="02010600030101010101" pitchFamily="2" charset="-122"/>
              </a:rPr>
              <a:t>第一章   微机基础知识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chemeClr val="tx1"/>
                </a:solidFill>
                <a:latin typeface="宋体" panose="02010600030101010101" pitchFamily="2" charset="-122"/>
              </a:rPr>
              <a:t>  第二章   </a:t>
            </a:r>
            <a:r>
              <a:rPr lang="en-US" altLang="zh-CN" sz="2600" b="1" dirty="0">
                <a:solidFill>
                  <a:schemeClr val="tx1"/>
                </a:solidFill>
                <a:latin typeface="宋体" panose="02010600030101010101" pitchFamily="2" charset="-122"/>
              </a:rPr>
              <a:t>89C51</a:t>
            </a:r>
            <a:r>
              <a:rPr lang="zh-CN" altLang="en-US" sz="2600" b="1" dirty="0">
                <a:solidFill>
                  <a:schemeClr val="tx1"/>
                </a:solidFill>
                <a:latin typeface="宋体" panose="02010600030101010101" pitchFamily="2" charset="-122"/>
              </a:rPr>
              <a:t>单片机的结构和原理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rgbClr val="FF3300"/>
                </a:solidFill>
                <a:latin typeface="宋体" panose="02010600030101010101" pitchFamily="2" charset="-122"/>
              </a:rPr>
              <a:t> </a:t>
            </a:r>
            <a:r>
              <a:rPr lang="zh-CN" altLang="en-US" sz="2600" b="1" dirty="0">
                <a:solidFill>
                  <a:schemeClr val="tx1"/>
                </a:solidFill>
                <a:latin typeface="宋体" panose="02010600030101010101" pitchFamily="2" charset="-122"/>
              </a:rPr>
              <a:t> 第三章   </a:t>
            </a:r>
            <a:r>
              <a:rPr lang="en-US" altLang="zh-CN" sz="2600" b="1" dirty="0">
                <a:solidFill>
                  <a:schemeClr val="tx1"/>
                </a:solidFill>
                <a:latin typeface="宋体" panose="02010600030101010101" pitchFamily="2" charset="-122"/>
              </a:rPr>
              <a:t>89C51</a:t>
            </a:r>
            <a:r>
              <a:rPr lang="zh-CN" altLang="en-US" sz="2600" b="1" dirty="0">
                <a:solidFill>
                  <a:schemeClr val="tx1"/>
                </a:solidFill>
                <a:latin typeface="宋体" panose="02010600030101010101" pitchFamily="2" charset="-122"/>
              </a:rPr>
              <a:t>指令系统</a:t>
            </a:r>
            <a:endParaRPr lang="zh-CN" altLang="en-US" sz="2600" b="1" dirty="0">
              <a:solidFill>
                <a:srgbClr val="FF3300"/>
              </a:solidFill>
              <a:latin typeface="宋体" panose="02010600030101010101" pitchFamily="2" charset="-122"/>
            </a:endParaRP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chemeClr val="tx1"/>
                </a:solidFill>
                <a:latin typeface="宋体" panose="02010600030101010101" pitchFamily="2" charset="-122"/>
              </a:rPr>
              <a:t>  第四章   汇编语言程序设计知识</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rgbClr val="FF0000"/>
                </a:solidFill>
                <a:latin typeface="宋体" panose="02010600030101010101" pitchFamily="2" charset="-122"/>
              </a:rPr>
              <a:t>  </a:t>
            </a:r>
            <a:r>
              <a:rPr lang="zh-CN" altLang="en-US" sz="2600" b="1" dirty="0">
                <a:solidFill>
                  <a:schemeClr val="tx1"/>
                </a:solidFill>
                <a:latin typeface="宋体" panose="02010600030101010101" pitchFamily="2" charset="-122"/>
              </a:rPr>
              <a:t>第五章   中断系统</a:t>
            </a:r>
            <a:endParaRPr lang="zh-CN" altLang="en-US" sz="2600" b="1" dirty="0">
              <a:solidFill>
                <a:srgbClr val="FF0000"/>
              </a:solidFill>
              <a:latin typeface="宋体" panose="02010600030101010101" pitchFamily="2" charset="-122"/>
            </a:endParaRP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第六章   定时器及应用</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solidFill>
                  <a:srgbClr val="FF0000"/>
                </a:solidFill>
                <a:latin typeface="宋体" panose="02010600030101010101" pitchFamily="2" charset="-122"/>
              </a:rPr>
              <a:t>  第七章   </a:t>
            </a:r>
            <a:r>
              <a:rPr lang="en-US" altLang="zh-CN" sz="2600" b="1" dirty="0">
                <a:solidFill>
                  <a:srgbClr val="FF0000"/>
                </a:solidFill>
                <a:latin typeface="宋体" panose="02010600030101010101" pitchFamily="2" charset="-122"/>
              </a:rPr>
              <a:t>89C51</a:t>
            </a:r>
            <a:r>
              <a:rPr lang="zh-CN" altLang="en-US" sz="2600" b="1" dirty="0">
                <a:solidFill>
                  <a:srgbClr val="FF0000"/>
                </a:solidFill>
                <a:latin typeface="宋体" panose="02010600030101010101" pitchFamily="2" charset="-122"/>
              </a:rPr>
              <a:t>串行口及通信技术</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第八章   单片机小系统片外扩展</a:t>
            </a: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第九章   应用系统配置及接口技术</a:t>
            </a:r>
            <a:endParaRPr lang="en-US" altLang="zh-CN" sz="2600" b="1" dirty="0">
              <a:latin typeface="宋体" panose="02010600030101010101" pitchFamily="2" charset="-122"/>
            </a:endParaRPr>
          </a:p>
          <a:p>
            <a:pPr lvl="1" eaLnBrk="1" fontAlgn="auto" latinLnBrk="0" hangingPunct="1">
              <a:lnSpc>
                <a:spcPct val="130000"/>
              </a:lnSpc>
              <a:buClr>
                <a:schemeClr val="tx2"/>
              </a:buClr>
              <a:buSzPct val="75000"/>
              <a:buFont typeface="Wingdings" panose="05000000000000000000" pitchFamily="2" charset="2"/>
              <a:buChar char="&amp;"/>
            </a:pPr>
            <a:r>
              <a:rPr lang="zh-CN" altLang="en-US" sz="2600" b="1" dirty="0">
                <a:latin typeface="宋体" panose="02010600030101010101" pitchFamily="2" charset="-122"/>
              </a:rPr>
              <a:t>  第十章   系统实用程序</a:t>
            </a:r>
          </a:p>
        </p:txBody>
      </p:sp>
      <p:sp>
        <p:nvSpPr>
          <p:cNvPr id="2" name="灯片编号占位符 1"/>
          <p:cNvSpPr>
            <a:spLocks noGrp="1"/>
          </p:cNvSpPr>
          <p:nvPr>
            <p:ph type="sldNum" sz="quarter" idx="7"/>
          </p:nvPr>
        </p:nvSpPr>
        <p:spPr/>
        <p:txBody>
          <a:bodyPr/>
          <a:lstStyle/>
          <a:p>
            <a:pPr marL="25400">
              <a:lnSpc>
                <a:spcPct val="100000"/>
              </a:lnSpc>
              <a:spcBef>
                <a:spcPts val="185"/>
              </a:spcBef>
            </a:pPr>
            <a:fld id="{81D60167-4931-47E6-BA6A-407CBD079E47}" type="slidenum">
              <a:rPr spc="-5" dirty="0"/>
              <a:t>2</a:t>
            </a:fld>
            <a:endParaRPr spc="-5" dirty="0"/>
          </a:p>
        </p:txBody>
      </p:sp>
    </p:spTree>
  </p:cSld>
  <p:clrMapOvr>
    <a:masterClrMapping/>
  </p:clrMapOvr>
  <p:transition>
    <p:cut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chor="b"/>
          <a:lstStyle/>
          <a:p>
            <a:pPr marL="0" marR="0" lvl="0" indent="0" algn="l" defTabSz="914400" rtl="0" eaLnBrk="1" fontAlgn="base" latinLnBrk="0" hangingPunct="1">
              <a:lnSpc>
                <a:spcPct val="100000"/>
              </a:lnSpc>
              <a:spcBef>
                <a:spcPct val="0"/>
              </a:spcBef>
              <a:spcAft>
                <a:spcPct val="0"/>
              </a:spcAft>
              <a:buClrTx/>
              <a:buSzTx/>
              <a:buFontTx/>
              <a:buNone/>
            </a:pPr>
            <a:fld id="{BB962C8B-B14F-4D97-AF65-F5344CB8AC3E}" type="datetime3">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2021年3月25日星期四</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5122" name="标题 5121"/>
          <p:cNvSpPr>
            <a:spLocks noGrp="1"/>
          </p:cNvSpPr>
          <p:nvPr>
            <p:ph type="title"/>
          </p:nvPr>
        </p:nvSpPr>
        <p:spPr>
          <a:xfrm>
            <a:off x="1498600" y="250190"/>
            <a:ext cx="6937375" cy="430530"/>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kern="1200" cap="none" spc="0" normalizeH="0" baseline="0" noProof="1">
                <a:solidFill>
                  <a:srgbClr val="F7694D"/>
                </a:solidFill>
                <a:effectLst>
                  <a:outerShdw blurRad="38100" dist="38100" dir="2700000">
                    <a:srgbClr val="C0C0C0"/>
                  </a:outerShdw>
                </a:effectLst>
                <a:latin typeface="+mj-lt"/>
                <a:ea typeface="+mj-ea"/>
                <a:cs typeface="+mj-cs"/>
              </a:rPr>
              <a:t>第七章  </a:t>
            </a:r>
            <a:r>
              <a:rPr kumimoji="0" lang="en-US" altLang="zh-CN" sz="2800" b="1" i="0" u="none" strike="noStrike" kern="1200" cap="none" spc="0" normalizeH="0" baseline="0" noProof="1">
                <a:solidFill>
                  <a:srgbClr val="F7694D"/>
                </a:solidFill>
                <a:effectLst>
                  <a:outerShdw blurRad="38100" dist="38100" dir="2700000">
                    <a:srgbClr val="C0C0C0"/>
                  </a:outerShdw>
                </a:effectLst>
                <a:latin typeface="+mj-lt"/>
                <a:ea typeface="+mj-ea"/>
                <a:cs typeface="+mj-cs"/>
              </a:rPr>
              <a:t>89C51</a:t>
            </a:r>
            <a:r>
              <a:rPr kumimoji="0" lang="zh-CN" altLang="en-US" sz="2800" b="1" i="0" u="none" strike="noStrike" kern="1200" cap="none" spc="0" normalizeH="0" baseline="0" noProof="1">
                <a:solidFill>
                  <a:srgbClr val="F7694D"/>
                </a:solidFill>
                <a:effectLst>
                  <a:outerShdw blurRad="38100" dist="38100" dir="2700000">
                    <a:srgbClr val="C0C0C0"/>
                  </a:outerShdw>
                </a:effectLst>
                <a:latin typeface="+mj-lt"/>
                <a:ea typeface="+mj-ea"/>
                <a:cs typeface="+mj-cs"/>
              </a:rPr>
              <a:t>串行口及串行通信技术</a:t>
            </a:r>
          </a:p>
        </p:txBody>
      </p:sp>
      <p:sp>
        <p:nvSpPr>
          <p:cNvPr id="10244" name="文本占位符 5122"/>
          <p:cNvSpPr>
            <a:spLocks noGrp="1"/>
          </p:cNvSpPr>
          <p:nvPr>
            <p:ph idx="1"/>
          </p:nvPr>
        </p:nvSpPr>
        <p:spPr>
          <a:xfrm>
            <a:off x="1752600" y="1981200"/>
            <a:ext cx="5791200" cy="3877945"/>
          </a:xfrm>
        </p:spPr>
        <p:txBody>
          <a:bodyPr wrap="square" anchor="t"/>
          <a:lstStyle/>
          <a:p>
            <a:pPr>
              <a:lnSpc>
                <a:spcPct val="150000"/>
              </a:lnSpc>
              <a:buNone/>
            </a:pPr>
            <a:r>
              <a:rPr lang="en-US" altLang="zh-CN" sz="2400" b="1" u="sng" dirty="0">
                <a:solidFill>
                  <a:srgbClr val="0000FF"/>
                </a:solidFill>
              </a:rPr>
              <a:t>7.1  </a:t>
            </a:r>
            <a:r>
              <a:rPr lang="zh-CN" altLang="en-US" sz="2400" b="1" u="sng" dirty="0">
                <a:solidFill>
                  <a:srgbClr val="0000FF"/>
                </a:solidFill>
              </a:rPr>
              <a:t>串行通信基本知识</a:t>
            </a:r>
          </a:p>
          <a:p>
            <a:pPr>
              <a:lnSpc>
                <a:spcPct val="150000"/>
              </a:lnSpc>
              <a:buNone/>
            </a:pPr>
            <a:r>
              <a:rPr lang="en-US" altLang="zh-CN" sz="2400" b="1" u="sng" dirty="0">
                <a:solidFill>
                  <a:srgbClr val="0000FF"/>
                </a:solidFill>
              </a:rPr>
              <a:t>7.2  </a:t>
            </a:r>
            <a:r>
              <a:rPr lang="zh-CN" altLang="en-US" sz="2400" b="1" u="sng" dirty="0">
                <a:solidFill>
                  <a:srgbClr val="0000FF"/>
                </a:solidFill>
              </a:rPr>
              <a:t>串行口及应用</a:t>
            </a:r>
          </a:p>
          <a:p>
            <a:pPr>
              <a:lnSpc>
                <a:spcPct val="150000"/>
              </a:lnSpc>
              <a:buNone/>
            </a:pPr>
            <a:r>
              <a:rPr lang="en-US" altLang="zh-CN" sz="2400" b="1" u="sng" dirty="0">
                <a:solidFill>
                  <a:schemeClr val="bg1">
                    <a:lumMod val="50000"/>
                  </a:schemeClr>
                </a:solidFill>
              </a:rPr>
              <a:t>7.3  89C51</a:t>
            </a:r>
            <a:r>
              <a:rPr lang="zh-CN" altLang="en-US" sz="2400" b="1" u="sng" dirty="0">
                <a:solidFill>
                  <a:schemeClr val="bg1">
                    <a:lumMod val="50000"/>
                  </a:schemeClr>
                </a:solidFill>
              </a:rPr>
              <a:t>与</a:t>
            </a:r>
            <a:r>
              <a:rPr lang="en-US" altLang="zh-CN" sz="2400" b="1" u="sng" dirty="0">
                <a:solidFill>
                  <a:schemeClr val="bg1">
                    <a:lumMod val="50000"/>
                  </a:schemeClr>
                </a:solidFill>
              </a:rPr>
              <a:t>89C51</a:t>
            </a:r>
            <a:r>
              <a:rPr lang="zh-CN" altLang="en-US" sz="2400" b="1" u="sng" dirty="0">
                <a:solidFill>
                  <a:schemeClr val="bg1">
                    <a:lumMod val="50000"/>
                  </a:schemeClr>
                </a:solidFill>
              </a:rPr>
              <a:t>点对点异步通信</a:t>
            </a:r>
          </a:p>
          <a:p>
            <a:pPr>
              <a:lnSpc>
                <a:spcPct val="150000"/>
              </a:lnSpc>
              <a:buNone/>
            </a:pPr>
            <a:r>
              <a:rPr lang="en-US" altLang="zh-CN" sz="2400" b="1" u="sng" dirty="0">
                <a:solidFill>
                  <a:schemeClr val="bg1">
                    <a:lumMod val="50000"/>
                  </a:schemeClr>
                </a:solidFill>
              </a:rPr>
              <a:t>7.4  89C51</a:t>
            </a:r>
            <a:r>
              <a:rPr lang="zh-CN" altLang="en-US" sz="2400" b="1" u="sng" dirty="0">
                <a:solidFill>
                  <a:schemeClr val="bg1">
                    <a:lumMod val="50000"/>
                  </a:schemeClr>
                </a:solidFill>
              </a:rPr>
              <a:t>与</a:t>
            </a:r>
            <a:r>
              <a:rPr lang="en-US" altLang="zh-CN" sz="2400" b="1" u="sng" dirty="0">
                <a:solidFill>
                  <a:schemeClr val="bg1">
                    <a:lumMod val="50000"/>
                  </a:schemeClr>
                </a:solidFill>
              </a:rPr>
              <a:t>PC</a:t>
            </a:r>
            <a:r>
              <a:rPr lang="zh-CN" altLang="en-US" sz="2400" b="1" u="sng" dirty="0">
                <a:solidFill>
                  <a:schemeClr val="bg1">
                    <a:lumMod val="50000"/>
                  </a:schemeClr>
                </a:solidFill>
              </a:rPr>
              <a:t>机间通信软件的设计</a:t>
            </a:r>
          </a:p>
          <a:p>
            <a:pPr>
              <a:lnSpc>
                <a:spcPct val="150000"/>
              </a:lnSpc>
              <a:buNone/>
            </a:pPr>
            <a:r>
              <a:rPr lang="en-US" altLang="zh-CN" sz="2400" b="1" u="sng" dirty="0">
                <a:solidFill>
                  <a:schemeClr val="bg1">
                    <a:lumMod val="50000"/>
                  </a:schemeClr>
                </a:solidFill>
              </a:rPr>
              <a:t>7.5  </a:t>
            </a:r>
            <a:r>
              <a:rPr lang="zh-CN" altLang="en-US" sz="2400" b="1" u="sng" dirty="0">
                <a:solidFill>
                  <a:schemeClr val="bg1">
                    <a:lumMod val="50000"/>
                  </a:schemeClr>
                </a:solidFill>
              </a:rPr>
              <a:t>无线单片机及其点到多点的无线通信</a:t>
            </a:r>
          </a:p>
          <a:p>
            <a:pPr>
              <a:lnSpc>
                <a:spcPct val="150000"/>
              </a:lnSpc>
              <a:buNone/>
            </a:pPr>
            <a:r>
              <a:rPr lang="en-US" altLang="zh-CN" sz="2400" b="1" u="sng" dirty="0">
                <a:solidFill>
                  <a:schemeClr val="bg1">
                    <a:lumMod val="50000"/>
                  </a:schemeClr>
                </a:solidFill>
              </a:rPr>
              <a:t>7.6  RFID</a:t>
            </a:r>
            <a:r>
              <a:rPr lang="zh-CN" altLang="en-US" sz="2400" b="1" u="sng" dirty="0">
                <a:solidFill>
                  <a:schemeClr val="bg1">
                    <a:lumMod val="50000"/>
                  </a:schemeClr>
                </a:solidFill>
              </a:rPr>
              <a:t>技术与物联网的应用</a:t>
            </a:r>
            <a:endParaRPr lang="zh-CN" altLang="en-US" sz="2400" b="1" u="sng" dirty="0">
              <a:solidFill>
                <a:schemeClr val="bg1">
                  <a:lumMod val="50000"/>
                </a:schemeClr>
              </a:solidFill>
              <a:hlinkClick r:id="rId2" action="ppaction://hlinksldjum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chor="b"/>
          <a:lstStyle/>
          <a:p>
            <a:pPr marL="0" marR="0" lvl="0" indent="0" algn="l" defTabSz="914400" rtl="0" eaLnBrk="1" fontAlgn="base" latinLnBrk="0" hangingPunct="1">
              <a:lnSpc>
                <a:spcPct val="100000"/>
              </a:lnSpc>
              <a:spcBef>
                <a:spcPct val="0"/>
              </a:spcBef>
              <a:spcAft>
                <a:spcPct val="0"/>
              </a:spcAft>
              <a:buClrTx/>
              <a:buSzTx/>
              <a:buFontTx/>
              <a:buNone/>
            </a:pPr>
            <a:fld id="{BB962C8B-B14F-4D97-AF65-F5344CB8AC3E}" type="datetime3">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2021年3月25日星期四</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4</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05778" y="1043305"/>
            <a:ext cx="2981960" cy="430530"/>
          </a:xfrm>
        </p:spPr>
        <p:txBody>
          <a:bodyPr anchor="ct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0000FF"/>
                </a:solidFill>
                <a:latin typeface="+mj-lt"/>
                <a:ea typeface="+mj-ea"/>
                <a:cs typeface="+mj-cs"/>
              </a:rPr>
              <a:t>7.1.1  </a:t>
            </a:r>
            <a:r>
              <a:rPr kumimoji="0" lang="zh-CN" altLang="en-US" sz="2800" b="1" i="0" u="none" strike="noStrike" kern="1200" cap="none" spc="0" normalizeH="0" baseline="0" noProof="1">
                <a:solidFill>
                  <a:srgbClr val="0000FF"/>
                </a:solidFill>
                <a:latin typeface="+mj-lt"/>
                <a:ea typeface="+mj-ea"/>
                <a:cs typeface="+mj-cs"/>
              </a:rPr>
              <a:t>数据通信</a:t>
            </a:r>
          </a:p>
        </p:txBody>
      </p:sp>
      <p:sp>
        <p:nvSpPr>
          <p:cNvPr id="12292" name="文本占位符 7170"/>
          <p:cNvSpPr>
            <a:spLocks noGrp="1"/>
          </p:cNvSpPr>
          <p:nvPr>
            <p:ph idx="1"/>
          </p:nvPr>
        </p:nvSpPr>
        <p:spPr>
          <a:xfrm>
            <a:off x="534353" y="1544638"/>
            <a:ext cx="7993062" cy="1764030"/>
          </a:xfrm>
        </p:spPr>
        <p:txBody>
          <a:bodyPr anchor="t"/>
          <a:lstStyle/>
          <a:p>
            <a:pPr>
              <a:lnSpc>
                <a:spcPct val="140000"/>
              </a:lnSpc>
            </a:pPr>
            <a:r>
              <a:rPr lang="zh-CN" altLang="en-US" sz="1600" dirty="0">
                <a:latin typeface="+mn-ea"/>
              </a:rPr>
              <a:t>    在实际工作中，计算机的</a:t>
            </a:r>
            <a:r>
              <a:rPr lang="en-US" altLang="zh-CN" sz="1600" dirty="0">
                <a:latin typeface="+mn-ea"/>
              </a:rPr>
              <a:t>CPU</a:t>
            </a:r>
            <a:r>
              <a:rPr lang="zh-CN" altLang="en-US" sz="1600" dirty="0">
                <a:latin typeface="+mn-ea"/>
              </a:rPr>
              <a:t>与外部设备之间常常要进行信息交换，一台计算机与其他计算机之间也往往要交换信息，所有这些信息交换均可称为通信。</a:t>
            </a:r>
            <a:r>
              <a:rPr lang="zh-CN" altLang="en-US" sz="1600" dirty="0">
                <a:solidFill>
                  <a:srgbClr val="FF0000"/>
                </a:solidFill>
                <a:latin typeface="+mn-ea"/>
              </a:rPr>
              <a:t>通信方式有两种，即并行通信和串行通信。通常根据信息传送的距离决定采用哪种通信方式。</a:t>
            </a:r>
            <a:r>
              <a:rPr lang="zh-CN" altLang="en-US" sz="1600" dirty="0">
                <a:latin typeface="+mn-ea"/>
              </a:rPr>
              <a:t>例如，在</a:t>
            </a:r>
            <a:r>
              <a:rPr lang="en-US" altLang="zh-CN" sz="1600" dirty="0">
                <a:latin typeface="+mn-ea"/>
              </a:rPr>
              <a:t>IBM-PC</a:t>
            </a:r>
            <a:r>
              <a:rPr lang="zh-CN" altLang="en-US" sz="1600" dirty="0">
                <a:latin typeface="+mn-ea"/>
              </a:rPr>
              <a:t>机与外部设备（如打印机等）通信时，如果距离小于</a:t>
            </a:r>
            <a:r>
              <a:rPr lang="en-US" altLang="zh-CN" sz="1600" dirty="0">
                <a:latin typeface="+mn-ea"/>
              </a:rPr>
              <a:t>30m</a:t>
            </a:r>
            <a:r>
              <a:rPr lang="zh-CN" altLang="en-US" sz="1600" dirty="0">
                <a:latin typeface="+mn-ea"/>
              </a:rPr>
              <a:t>，可采用并行通信方式；当距离大于</a:t>
            </a:r>
            <a:r>
              <a:rPr lang="en-US" altLang="zh-CN" sz="1600" dirty="0">
                <a:latin typeface="+mn-ea"/>
              </a:rPr>
              <a:t>30m</a:t>
            </a:r>
            <a:r>
              <a:rPr lang="zh-CN" altLang="en-US" sz="1600" dirty="0">
                <a:latin typeface="+mn-ea"/>
              </a:rPr>
              <a:t>时，则要采用串行通信方式。</a:t>
            </a:r>
            <a:r>
              <a:rPr lang="en-US" altLang="zh-CN" sz="1600" dirty="0">
                <a:latin typeface="+mn-ea"/>
              </a:rPr>
              <a:t>89C51</a:t>
            </a:r>
            <a:r>
              <a:rPr lang="zh-CN" altLang="en-US" sz="1600" dirty="0">
                <a:latin typeface="+mn-ea"/>
              </a:rPr>
              <a:t>单片机具有并行和串行二种基本通信方式。</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effectLst>
                  <a:outerShdw blurRad="38100" dist="38100" dir="2700000">
                    <a:srgbClr val="C0C0C0"/>
                  </a:outerShdw>
                </a:effectLst>
                <a:latin typeface="+mj-lt"/>
                <a:ea typeface="+mj-ea"/>
                <a:cs typeface="+mj-cs"/>
              </a:rPr>
              <a:t>7.1  </a:t>
            </a:r>
            <a:r>
              <a:rPr kumimoji="0" lang="zh-CN" altLang="en-US" sz="2800" b="1" i="0" u="none" strike="noStrike" kern="1200" cap="none" spc="0" normalizeH="0" baseline="0" noProof="1">
                <a:solidFill>
                  <a:srgbClr val="F153E6"/>
                </a:solidFill>
                <a:effectLst>
                  <a:outerShdw blurRad="38100" dist="38100" dir="2700000">
                    <a:srgbClr val="C0C0C0"/>
                  </a:outerShdw>
                </a:effectLst>
                <a:latin typeface="+mj-lt"/>
                <a:ea typeface="+mj-ea"/>
                <a:cs typeface="+mj-cs"/>
              </a:rPr>
              <a:t>串行通信基本知识</a:t>
            </a:r>
          </a:p>
        </p:txBody>
      </p:sp>
      <p:sp>
        <p:nvSpPr>
          <p:cNvPr id="4" name="object 4"/>
          <p:cNvSpPr/>
          <p:nvPr/>
        </p:nvSpPr>
        <p:spPr>
          <a:xfrm>
            <a:off x="762000" y="3886200"/>
            <a:ext cx="3187065" cy="227774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051935" y="4146867"/>
            <a:ext cx="4330065" cy="175641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chor="b"/>
          <a:lstStyle/>
          <a:p>
            <a:pPr marL="0" marR="0" lvl="0" indent="0" algn="l" defTabSz="914400" rtl="0" eaLnBrk="1" fontAlgn="base" latinLnBrk="0" hangingPunct="1">
              <a:lnSpc>
                <a:spcPct val="100000"/>
              </a:lnSpc>
              <a:spcBef>
                <a:spcPct val="0"/>
              </a:spcBef>
              <a:spcAft>
                <a:spcPct val="0"/>
              </a:spcAft>
              <a:buClrTx/>
              <a:buSzTx/>
              <a:buFontTx/>
              <a:buNone/>
            </a:pPr>
            <a:fld id="{BB962C8B-B14F-4D97-AF65-F5344CB8AC3E}" type="datetime3">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2021年3月25日星期四</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5</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45794" y="958749"/>
            <a:ext cx="8185785" cy="1783437"/>
          </a:xfrm>
        </p:spPr>
        <p:txBody>
          <a:bodyPr wrap="square" anchor="ctr"/>
          <a:lstStyle/>
          <a:p>
            <a:pPr marL="0" marR="0" indent="0" algn="l" defTabSz="914400" rtl="0" eaLnBrk="1" fontAlgn="base" latinLnBrk="0" hangingPunct="1">
              <a:lnSpc>
                <a:spcPct val="150000"/>
              </a:lnSpc>
              <a:spcBef>
                <a:spcPct val="0"/>
              </a:spcBef>
              <a:spcAft>
                <a:spcPct val="0"/>
              </a:spcAft>
              <a:buClrTx/>
              <a:buSzTx/>
              <a:buFontTx/>
              <a:buNone/>
            </a:pPr>
            <a:r>
              <a:rPr kumimoji="0" lang="en-US" altLang="zh-CN" sz="2800" b="0" i="0" u="none" strike="noStrike" kern="1200" cap="none" spc="0" normalizeH="0" baseline="0" noProof="1">
                <a:solidFill>
                  <a:srgbClr val="0000FF"/>
                </a:solidFill>
                <a:latin typeface="+mj-lt"/>
                <a:ea typeface="+mj-ea"/>
                <a:cs typeface="+mj-cs"/>
              </a:rPr>
              <a:t>7.1.2</a:t>
            </a:r>
            <a:r>
              <a:rPr kumimoji="0" lang="zh-CN" altLang="en-US" sz="2800" b="0" i="0" u="none" strike="noStrike" kern="1200" cap="none" spc="0" normalizeH="0" baseline="0" noProof="1">
                <a:solidFill>
                  <a:srgbClr val="0000FF"/>
                </a:solidFill>
                <a:latin typeface="+mj-lt"/>
                <a:ea typeface="+mj-ea"/>
                <a:cs typeface="+mj-cs"/>
              </a:rPr>
              <a:t>串行通信的传输方式</a:t>
            </a:r>
            <a:br>
              <a:rPr kumimoji="0" lang="en-US" altLang="zh-CN" sz="2800" b="1" i="0" u="none" strike="noStrike" kern="1200" cap="none" spc="0" normalizeH="0" baseline="0" noProof="1">
                <a:solidFill>
                  <a:srgbClr val="0000FF"/>
                </a:solidFill>
                <a:latin typeface="+mj-lt"/>
                <a:ea typeface="+mj-ea"/>
                <a:cs typeface="+mj-cs"/>
              </a:rPr>
            </a:br>
            <a:r>
              <a:rPr kumimoji="0" lang="en-US" altLang="zh-CN" sz="2800" b="1" i="0" u="none" strike="noStrike" kern="1200" cap="none" spc="0" normalizeH="0" baseline="0" noProof="1">
                <a:solidFill>
                  <a:srgbClr val="0000FF"/>
                </a:solidFill>
                <a:latin typeface="+mj-lt"/>
                <a:ea typeface="+mj-ea"/>
                <a:cs typeface="+mj-cs"/>
              </a:rPr>
              <a:t>           </a:t>
            </a:r>
            <a:r>
              <a:rPr kumimoji="0" lang="zh-CN" altLang="en-US" b="0" i="0" u="none" strike="noStrike" kern="1200" cap="none" spc="0" normalizeH="0" baseline="0" noProof="1">
                <a:solidFill>
                  <a:schemeClr val="tx1"/>
                </a:solidFill>
                <a:latin typeface="+mj-lt"/>
                <a:cs typeface="+mj-cs"/>
              </a:rPr>
              <a:t>分为：</a:t>
            </a:r>
            <a:r>
              <a:rPr kumimoji="0" lang="zh-CN" altLang="en-US" b="0" i="0" u="none" strike="noStrike" kern="1200" cap="none" spc="0" normalizeH="0" baseline="0" noProof="1">
                <a:solidFill>
                  <a:srgbClr val="FF3300"/>
                </a:solidFill>
                <a:latin typeface="+mj-lt"/>
                <a:cs typeface="+mj-cs"/>
              </a:rPr>
              <a:t>单向（单工）</a:t>
            </a:r>
            <a:r>
              <a:rPr kumimoji="0" lang="zh-CN" altLang="en-US" b="0" i="0" u="none" strike="noStrike" kern="1200" cap="none" spc="0" normalizeH="0" baseline="0" noProof="1">
                <a:solidFill>
                  <a:schemeClr val="tx1"/>
                </a:solidFill>
                <a:latin typeface="+mj-lt"/>
                <a:cs typeface="+mj-cs"/>
              </a:rPr>
              <a:t>配置、</a:t>
            </a:r>
            <a:r>
              <a:rPr kumimoji="0" lang="zh-CN" altLang="en-US" b="0" i="0" u="none" strike="noStrike" kern="1200" cap="none" spc="0" normalizeH="0" baseline="0" noProof="1">
                <a:solidFill>
                  <a:srgbClr val="FF3300"/>
                </a:solidFill>
                <a:latin typeface="+mj-lt"/>
                <a:cs typeface="+mj-cs"/>
              </a:rPr>
              <a:t>半双向（半双工）</a:t>
            </a:r>
            <a:r>
              <a:rPr kumimoji="0" lang="zh-CN" altLang="en-US" b="0" i="0" u="none" strike="noStrike" kern="1200" cap="none" spc="0" normalizeH="0" baseline="0" noProof="1">
                <a:solidFill>
                  <a:schemeClr val="tx1"/>
                </a:solidFill>
                <a:latin typeface="+mj-lt"/>
                <a:cs typeface="+mj-cs"/>
              </a:rPr>
              <a:t>配置</a:t>
            </a:r>
            <a:br>
              <a:rPr kumimoji="0" lang="en-US" altLang="zh-CN" b="0" i="0" u="none" strike="noStrike" kern="1200" cap="none" spc="0" normalizeH="0" baseline="0" noProof="1">
                <a:solidFill>
                  <a:schemeClr val="tx1"/>
                </a:solidFill>
                <a:latin typeface="+mj-lt"/>
                <a:cs typeface="+mj-cs"/>
              </a:rPr>
            </a:br>
            <a:r>
              <a:rPr kumimoji="0" lang="en-US" altLang="zh-CN" b="0" i="0" u="none" strike="noStrike" kern="1200" cap="none" spc="0" normalizeH="0" baseline="0" noProof="1">
                <a:solidFill>
                  <a:schemeClr val="tx1"/>
                </a:solidFill>
                <a:latin typeface="+mj-lt"/>
                <a:cs typeface="+mj-cs"/>
              </a:rPr>
              <a:t>                          </a:t>
            </a:r>
            <a:r>
              <a:rPr lang="zh-CN" altLang="en-US" b="0" kern="1200" noProof="1">
                <a:solidFill>
                  <a:srgbClr val="FF3300"/>
                </a:solidFill>
                <a:latin typeface="+mj-lt"/>
                <a:cs typeface="+mj-cs"/>
              </a:rPr>
              <a:t>全双向（全双工）</a:t>
            </a:r>
            <a:r>
              <a:rPr lang="zh-CN" altLang="en-US" b="0" kern="1200" noProof="1">
                <a:solidFill>
                  <a:schemeClr val="tx1"/>
                </a:solidFill>
                <a:latin typeface="+mj-lt"/>
                <a:cs typeface="+mj-cs"/>
              </a:rPr>
              <a:t>配置</a:t>
            </a:r>
            <a:endParaRPr kumimoji="0" lang="zh-CN" altLang="en-US" b="0" i="0" u="none" strike="noStrike" kern="1200" cap="none" spc="0" normalizeH="0" baseline="0" noProof="1">
              <a:solidFill>
                <a:schemeClr val="tx1"/>
              </a:solidFill>
              <a:latin typeface="+mj-lt"/>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pic>
        <p:nvPicPr>
          <p:cNvPr id="17412" name="内容占位符 291843" descr="0702"/>
          <p:cNvPicPr>
            <a:picLocks noGrp="1" noChangeAspect="1"/>
          </p:cNvPicPr>
          <p:nvPr>
            <p:ph idx="1"/>
          </p:nvPr>
        </p:nvPicPr>
        <p:blipFill>
          <a:blip r:embed="rId3"/>
          <a:stretch>
            <a:fillRect/>
          </a:stretch>
        </p:blipFill>
        <p:spPr>
          <a:xfrm>
            <a:off x="1598295" y="1765935"/>
            <a:ext cx="6280785" cy="3527425"/>
          </a:xfrm>
        </p:spPr>
      </p:pic>
      <p:pic>
        <p:nvPicPr>
          <p:cNvPr id="5" name="图片 4"/>
          <p:cNvPicPr>
            <a:picLocks noChangeAspect="1"/>
          </p:cNvPicPr>
          <p:nvPr/>
        </p:nvPicPr>
        <p:blipFill>
          <a:blip r:embed="rId4"/>
          <a:stretch>
            <a:fillRect/>
          </a:stretch>
        </p:blipFill>
        <p:spPr>
          <a:xfrm>
            <a:off x="1588770" y="2770761"/>
            <a:ext cx="5805048" cy="33620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6</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37751"/>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7.1.3  </a:t>
            </a:r>
            <a:r>
              <a:rPr kumimoji="0" lang="zh-CN" altLang="en-US" b="0" i="0" u="none" strike="noStrike" kern="1200" cap="none" spc="0" normalizeH="0" baseline="0" noProof="1">
                <a:solidFill>
                  <a:srgbClr val="0000FF"/>
                </a:solidFill>
                <a:latin typeface="+mj-lt"/>
                <a:ea typeface="+mj-ea"/>
                <a:cs typeface="+mj-cs"/>
              </a:rPr>
              <a:t>异步通信和同步通信（</a:t>
            </a:r>
            <a:r>
              <a:rPr kumimoji="0" lang="en-US" altLang="zh-CN" b="0" i="0" u="none" strike="noStrike" kern="1200" cap="none" spc="0" normalizeH="0" baseline="0" noProof="1">
                <a:solidFill>
                  <a:srgbClr val="0000FF"/>
                </a:solidFill>
                <a:latin typeface="+mj-lt"/>
                <a:ea typeface="+mj-ea"/>
                <a:cs typeface="+mj-cs"/>
              </a:rPr>
              <a:t>2</a:t>
            </a:r>
            <a:r>
              <a:rPr kumimoji="0" lang="zh-CN" altLang="en-US" b="0" i="0" u="none" strike="noStrike" kern="1200" cap="none" spc="0" normalizeH="0" baseline="0" noProof="1">
                <a:solidFill>
                  <a:srgbClr val="0000FF"/>
                </a:solidFill>
                <a:latin typeface="+mj-lt"/>
                <a:ea typeface="+mj-ea"/>
                <a:cs typeface="+mj-cs"/>
              </a:rPr>
              <a:t>种基本串行通信方式）</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pic>
        <p:nvPicPr>
          <p:cNvPr id="11" name="图片 295939" descr="0703"/>
          <p:cNvPicPr>
            <a:picLocks noChangeAspect="1"/>
          </p:cNvPicPr>
          <p:nvPr/>
        </p:nvPicPr>
        <p:blipFill>
          <a:blip r:embed="rId2"/>
          <a:stretch>
            <a:fillRect/>
          </a:stretch>
        </p:blipFill>
        <p:spPr>
          <a:xfrm>
            <a:off x="3668015" y="2167538"/>
            <a:ext cx="5236968" cy="3570794"/>
          </a:xfrm>
          <a:prstGeom prst="rect">
            <a:avLst/>
          </a:prstGeom>
          <a:noFill/>
          <a:ln w="9525">
            <a:noFill/>
          </a:ln>
        </p:spPr>
      </p:pic>
      <p:sp>
        <p:nvSpPr>
          <p:cNvPr id="4" name="矩形 3"/>
          <p:cNvSpPr/>
          <p:nvPr/>
        </p:nvSpPr>
        <p:spPr>
          <a:xfrm>
            <a:off x="533400" y="1696774"/>
            <a:ext cx="1571264"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1.</a:t>
            </a:r>
            <a:r>
              <a:rPr lang="zh-CN" altLang="en-US" dirty="0">
                <a:solidFill>
                  <a:srgbClr val="FF0000"/>
                </a:solidFill>
              </a:rPr>
              <a:t>异步通信</a:t>
            </a:r>
          </a:p>
        </p:txBody>
      </p:sp>
      <p:sp>
        <p:nvSpPr>
          <p:cNvPr id="12" name="矩形 11"/>
          <p:cNvSpPr/>
          <p:nvPr/>
        </p:nvSpPr>
        <p:spPr>
          <a:xfrm>
            <a:off x="5244386" y="5955617"/>
            <a:ext cx="2084225" cy="369332"/>
          </a:xfrm>
          <a:prstGeom prst="rect">
            <a:avLst/>
          </a:prstGeom>
        </p:spPr>
        <p:txBody>
          <a:bodyPr wrap="none">
            <a:spAutoFit/>
          </a:bodyPr>
          <a:lstStyle/>
          <a:p>
            <a:r>
              <a:rPr lang="zh-CN" altLang="en-US" dirty="0">
                <a:solidFill>
                  <a:srgbClr val="FF3300"/>
                </a:solidFill>
              </a:rPr>
              <a:t>异步通信数据格式 </a:t>
            </a:r>
            <a:endParaRPr lang="zh-CN" altLang="en-US" dirty="0"/>
          </a:p>
        </p:txBody>
      </p:sp>
      <p:sp>
        <p:nvSpPr>
          <p:cNvPr id="13" name="矩形 12"/>
          <p:cNvSpPr/>
          <p:nvPr/>
        </p:nvSpPr>
        <p:spPr>
          <a:xfrm>
            <a:off x="685800" y="2215494"/>
            <a:ext cx="2712998" cy="3831818"/>
          </a:xfrm>
          <a:prstGeom prst="rect">
            <a:avLst/>
          </a:prstGeom>
        </p:spPr>
        <p:txBody>
          <a:bodyPr wrap="square">
            <a:spAutoFit/>
          </a:bodyPr>
          <a:lstStyle/>
          <a:p>
            <a:pPr indent="457200">
              <a:lnSpc>
                <a:spcPct val="150000"/>
              </a:lnSpc>
            </a:pPr>
            <a:r>
              <a:rPr lang="zh-CN" altLang="en-US" dirty="0"/>
              <a:t>在异步通信中，通信双方的时钟是各自独立的，双方的发送和接收可不在同一时刻进行，即所谓</a:t>
            </a:r>
            <a:r>
              <a:rPr lang="zh-CN" altLang="en-US" dirty="0">
                <a:solidFill>
                  <a:srgbClr val="FF0000"/>
                </a:solidFill>
              </a:rPr>
              <a:t>异步</a:t>
            </a:r>
            <a:r>
              <a:rPr lang="zh-CN" altLang="en-US" dirty="0"/>
              <a:t>。</a:t>
            </a:r>
            <a:endParaRPr lang="en-US" altLang="zh-CN" dirty="0"/>
          </a:p>
          <a:p>
            <a:pPr indent="457200">
              <a:lnSpc>
                <a:spcPct val="150000"/>
              </a:lnSpc>
            </a:pPr>
            <a:r>
              <a:rPr lang="zh-CN" altLang="en-US" dirty="0"/>
              <a:t>在异步通信中，数据是一帧一帧（包括一个字符代码或一字节数据）传送的。</a:t>
            </a:r>
          </a:p>
        </p:txBody>
      </p:sp>
    </p:spTree>
    <p:extLst>
      <p:ext uri="{BB962C8B-B14F-4D97-AF65-F5344CB8AC3E}">
        <p14:creationId xmlns:p14="http://schemas.microsoft.com/office/powerpoint/2010/main" val="276916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7</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37751"/>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7.1.3  </a:t>
            </a:r>
            <a:r>
              <a:rPr kumimoji="0" lang="zh-CN" altLang="en-US" b="0" i="0" u="none" strike="noStrike" kern="1200" cap="none" spc="0" normalizeH="0" baseline="0" noProof="1">
                <a:solidFill>
                  <a:srgbClr val="0000FF"/>
                </a:solidFill>
                <a:latin typeface="+mj-lt"/>
                <a:ea typeface="+mj-ea"/>
                <a:cs typeface="+mj-cs"/>
              </a:rPr>
              <a:t>异步通信和同步通信（</a:t>
            </a:r>
            <a:r>
              <a:rPr kumimoji="0" lang="en-US" altLang="zh-CN" b="0" i="0" u="none" strike="noStrike" kern="1200" cap="none" spc="0" normalizeH="0" baseline="0" noProof="1">
                <a:solidFill>
                  <a:srgbClr val="0000FF"/>
                </a:solidFill>
                <a:latin typeface="+mj-lt"/>
                <a:ea typeface="+mj-ea"/>
                <a:cs typeface="+mj-cs"/>
              </a:rPr>
              <a:t>2</a:t>
            </a:r>
            <a:r>
              <a:rPr kumimoji="0" lang="zh-CN" altLang="en-US" b="0" i="0" u="none" strike="noStrike" kern="1200" cap="none" spc="0" normalizeH="0" baseline="0" noProof="1">
                <a:solidFill>
                  <a:srgbClr val="0000FF"/>
                </a:solidFill>
                <a:latin typeface="+mj-lt"/>
                <a:ea typeface="+mj-ea"/>
                <a:cs typeface="+mj-cs"/>
              </a:rPr>
              <a:t>种基本串行通信方式）</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9" name="object 3"/>
          <p:cNvSpPr txBox="1">
            <a:spLocks/>
          </p:cNvSpPr>
          <p:nvPr/>
        </p:nvSpPr>
        <p:spPr>
          <a:xfrm>
            <a:off x="542925" y="1652029"/>
            <a:ext cx="7924800" cy="4603824"/>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67690" indent="-342900">
              <a:lnSpc>
                <a:spcPct val="150000"/>
              </a:lnSpc>
              <a:spcBef>
                <a:spcPts val="100"/>
              </a:spcBef>
              <a:buFont typeface="Wingdings" panose="05000000000000000000" pitchFamily="2" charset="2"/>
              <a:buChar char="Ø"/>
            </a:pPr>
            <a:r>
              <a:rPr lang="en-US" altLang="zh-CN" sz="2000" kern="0" spc="-305" dirty="0">
                <a:solidFill>
                  <a:sysClr val="windowText" lastClr="000000"/>
                </a:solidFill>
              </a:rPr>
              <a:t> </a:t>
            </a:r>
            <a:r>
              <a:rPr lang="zh-CN" altLang="en-US" sz="2000" kern="0" dirty="0">
                <a:solidFill>
                  <a:sysClr val="windowText" lastClr="000000"/>
                </a:solidFill>
              </a:rPr>
              <a:t>串行通信的错误校验</a:t>
            </a:r>
            <a:endParaRPr lang="zh-CN" altLang="en-US" sz="2000" kern="0" dirty="0">
              <a:solidFill>
                <a:sysClr val="windowText" lastClr="000000"/>
              </a:solidFill>
              <a:latin typeface="Times New Roman" panose="02020603050405020304"/>
              <a:cs typeface="Times New Roman" panose="02020603050405020304"/>
            </a:endParaRPr>
          </a:p>
          <a:p>
            <a:pPr marL="358775">
              <a:lnSpc>
                <a:spcPct val="150000"/>
              </a:lnSpc>
            </a:pPr>
            <a:r>
              <a:rPr lang="zh-CN" altLang="en-US" sz="2000" kern="0" spc="-5" dirty="0">
                <a:solidFill>
                  <a:srgbClr val="000000"/>
                </a:solidFill>
              </a:rPr>
              <a:t>    校验是</a:t>
            </a:r>
            <a:r>
              <a:rPr lang="zh-CN" altLang="en-US" sz="2000" kern="0" spc="5" dirty="0">
                <a:solidFill>
                  <a:srgbClr val="000000"/>
                </a:solidFill>
              </a:rPr>
              <a:t>保证传</a:t>
            </a:r>
            <a:r>
              <a:rPr lang="zh-CN" altLang="en-US" sz="2000" kern="0" spc="10" dirty="0">
                <a:solidFill>
                  <a:srgbClr val="000000"/>
                </a:solidFill>
              </a:rPr>
              <a:t>输</a:t>
            </a:r>
            <a:r>
              <a:rPr lang="zh-CN" altLang="en-US" sz="2000" kern="0" spc="5" dirty="0">
                <a:solidFill>
                  <a:srgbClr val="000000"/>
                </a:solidFill>
              </a:rPr>
              <a:t>数据</a:t>
            </a:r>
            <a:r>
              <a:rPr lang="zh-CN" altLang="en-US" sz="2000" kern="0" spc="10" dirty="0">
                <a:solidFill>
                  <a:srgbClr val="000000"/>
                </a:solidFill>
              </a:rPr>
              <a:t>准</a:t>
            </a:r>
            <a:r>
              <a:rPr lang="zh-CN" altLang="en-US" sz="2000" kern="0" spc="5" dirty="0">
                <a:solidFill>
                  <a:srgbClr val="000000"/>
                </a:solidFill>
              </a:rPr>
              <a:t>确</a:t>
            </a:r>
            <a:r>
              <a:rPr lang="zh-CN" altLang="en-US" sz="2000" kern="0" spc="10" dirty="0">
                <a:solidFill>
                  <a:srgbClr val="000000"/>
                </a:solidFill>
              </a:rPr>
              <a:t>无</a:t>
            </a:r>
            <a:r>
              <a:rPr lang="zh-CN" altLang="en-US" sz="2000" kern="0" spc="5" dirty="0">
                <a:solidFill>
                  <a:srgbClr val="000000"/>
                </a:solidFill>
              </a:rPr>
              <a:t>误</a:t>
            </a:r>
            <a:r>
              <a:rPr lang="zh-CN" altLang="en-US" sz="2000" kern="0" spc="10" dirty="0">
                <a:solidFill>
                  <a:srgbClr val="000000"/>
                </a:solidFill>
              </a:rPr>
              <a:t>的</a:t>
            </a:r>
            <a:r>
              <a:rPr lang="zh-CN" altLang="en-US" sz="2000" kern="0" spc="5" dirty="0">
                <a:solidFill>
                  <a:srgbClr val="000000"/>
                </a:solidFill>
              </a:rPr>
              <a:t>关键</a:t>
            </a:r>
            <a:r>
              <a:rPr lang="zh-CN" altLang="en-US" sz="2000" kern="0" spc="-5" dirty="0">
                <a:solidFill>
                  <a:srgbClr val="000000"/>
                </a:solidFill>
              </a:rPr>
              <a:t>。</a:t>
            </a:r>
            <a:endParaRPr lang="zh-CN" altLang="en-US" sz="2000" kern="0" dirty="0">
              <a:solidFill>
                <a:sysClr val="windowText" lastClr="000000"/>
              </a:solidFill>
            </a:endParaRPr>
          </a:p>
          <a:p>
            <a:pPr marL="359410" indent="-281305">
              <a:spcBef>
                <a:spcPts val="1440"/>
              </a:spcBef>
              <a:buFont typeface="Arial" panose="020B0604020202020204"/>
              <a:buAutoNum type="arabicPeriod"/>
              <a:tabLst>
                <a:tab pos="360045" algn="l"/>
              </a:tabLst>
            </a:pPr>
            <a:r>
              <a:rPr lang="zh-CN" altLang="en-US" sz="2000" kern="0" dirty="0">
                <a:solidFill>
                  <a:srgbClr val="3333CC"/>
                </a:solidFill>
              </a:rPr>
              <a:t>奇偶校验</a:t>
            </a:r>
            <a:endParaRPr lang="zh-CN" altLang="en-US" sz="2000" kern="0" dirty="0">
              <a:solidFill>
                <a:sysClr val="windowText" lastClr="000000"/>
              </a:solidFill>
            </a:endParaRPr>
          </a:p>
          <a:p>
            <a:pPr marL="358775">
              <a:spcBef>
                <a:spcPts val="1440"/>
              </a:spcBef>
            </a:pPr>
            <a:r>
              <a:rPr lang="zh-CN" altLang="en-US" sz="2000" kern="0" spc="-5" dirty="0">
                <a:solidFill>
                  <a:srgbClr val="000000"/>
                </a:solidFill>
              </a:rPr>
              <a:t>串行发</a:t>
            </a:r>
            <a:r>
              <a:rPr lang="zh-CN" altLang="en-US" sz="2000" kern="0" spc="5" dirty="0">
                <a:solidFill>
                  <a:srgbClr val="000000"/>
                </a:solidFill>
              </a:rPr>
              <a:t>送数据</a:t>
            </a:r>
            <a:r>
              <a:rPr lang="zh-CN" altLang="en-US" sz="2000" kern="0" spc="10" dirty="0">
                <a:solidFill>
                  <a:srgbClr val="000000"/>
                </a:solidFill>
              </a:rPr>
              <a:t>时</a:t>
            </a:r>
            <a:r>
              <a:rPr lang="zh-CN" altLang="en-US" sz="2000" kern="0" spc="5" dirty="0">
                <a:solidFill>
                  <a:srgbClr val="000000"/>
                </a:solidFill>
              </a:rPr>
              <a:t>，数</a:t>
            </a:r>
            <a:r>
              <a:rPr lang="zh-CN" altLang="en-US" sz="2000" kern="0" spc="10" dirty="0">
                <a:solidFill>
                  <a:srgbClr val="000000"/>
                </a:solidFill>
              </a:rPr>
              <a:t>据</a:t>
            </a:r>
            <a:r>
              <a:rPr lang="zh-CN" altLang="en-US" sz="2000" kern="0" spc="5" dirty="0">
                <a:solidFill>
                  <a:srgbClr val="000000"/>
                </a:solidFill>
              </a:rPr>
              <a:t>位</a:t>
            </a:r>
            <a:r>
              <a:rPr lang="zh-CN" altLang="en-US" sz="2000" kern="0" spc="10" dirty="0">
                <a:solidFill>
                  <a:srgbClr val="000000"/>
                </a:solidFill>
              </a:rPr>
              <a:t>尾</a:t>
            </a:r>
            <a:r>
              <a:rPr lang="zh-CN" altLang="en-US" sz="2000" kern="0" spc="30" dirty="0">
                <a:solidFill>
                  <a:srgbClr val="000000"/>
                </a:solidFill>
              </a:rPr>
              <a:t>随</a:t>
            </a:r>
            <a:r>
              <a:rPr lang="en-US" altLang="zh-CN" sz="2000" kern="0" dirty="0">
                <a:solidFill>
                  <a:srgbClr val="000000"/>
                </a:solidFill>
                <a:latin typeface="Arial" panose="020B0604020202020204"/>
                <a:cs typeface="Arial" panose="020B0604020202020204"/>
              </a:rPr>
              <a:t>1</a:t>
            </a:r>
            <a:r>
              <a:rPr lang="zh-CN" altLang="en-US" sz="2000" kern="0" spc="5" dirty="0">
                <a:solidFill>
                  <a:srgbClr val="000000"/>
                </a:solidFill>
              </a:rPr>
              <a:t>位奇</a:t>
            </a:r>
            <a:r>
              <a:rPr lang="zh-CN" altLang="en-US" sz="2000" kern="0" spc="10" dirty="0">
                <a:solidFill>
                  <a:srgbClr val="000000"/>
                </a:solidFill>
              </a:rPr>
              <a:t>偶</a:t>
            </a:r>
            <a:r>
              <a:rPr lang="zh-CN" altLang="en-US" sz="2000" kern="0" spc="5" dirty="0">
                <a:solidFill>
                  <a:srgbClr val="000000"/>
                </a:solidFill>
              </a:rPr>
              <a:t>校</a:t>
            </a:r>
            <a:r>
              <a:rPr lang="zh-CN" altLang="en-US" sz="2000" kern="0" spc="10" dirty="0">
                <a:solidFill>
                  <a:srgbClr val="000000"/>
                </a:solidFill>
              </a:rPr>
              <a:t>验</a:t>
            </a:r>
            <a:r>
              <a:rPr lang="zh-CN" altLang="en-US" sz="2000" kern="0" spc="5" dirty="0">
                <a:solidFill>
                  <a:srgbClr val="000000"/>
                </a:solidFill>
              </a:rPr>
              <a:t>位</a:t>
            </a:r>
            <a:r>
              <a:rPr lang="zh-CN" altLang="en-US" sz="2000" kern="0" spc="10" dirty="0">
                <a:solidFill>
                  <a:srgbClr val="000000"/>
                </a:solidFill>
              </a:rPr>
              <a:t>（</a:t>
            </a:r>
            <a:r>
              <a:rPr lang="en-US" altLang="zh-CN" sz="2000" kern="0" spc="10" dirty="0">
                <a:solidFill>
                  <a:srgbClr val="000000"/>
                </a:solidFill>
                <a:latin typeface="Arial" panose="020B0604020202020204"/>
                <a:cs typeface="Arial" panose="020B0604020202020204"/>
              </a:rPr>
              <a:t>1</a:t>
            </a:r>
            <a:r>
              <a:rPr lang="zh-CN" altLang="en-US" sz="2000" kern="0" spc="5" dirty="0">
                <a:solidFill>
                  <a:srgbClr val="000000"/>
                </a:solidFill>
              </a:rPr>
              <a:t>或</a:t>
            </a:r>
            <a:r>
              <a:rPr lang="en-US" altLang="zh-CN" sz="2000" kern="0" spc="5" dirty="0">
                <a:solidFill>
                  <a:srgbClr val="000000"/>
                </a:solidFill>
                <a:latin typeface="Arial" panose="020B0604020202020204"/>
                <a:cs typeface="Arial" panose="020B0604020202020204"/>
              </a:rPr>
              <a:t>0</a:t>
            </a:r>
            <a:r>
              <a:rPr lang="zh-CN" altLang="en-US" sz="2000" kern="0" spc="5" dirty="0">
                <a:solidFill>
                  <a:srgbClr val="000000"/>
                </a:solidFill>
              </a:rPr>
              <a:t>）。</a:t>
            </a:r>
            <a:endParaRPr lang="zh-CN" altLang="en-US" sz="2000" kern="0" dirty="0">
              <a:solidFill>
                <a:sysClr val="windowText" lastClr="000000"/>
              </a:solidFill>
              <a:latin typeface="Arial" panose="020B0604020202020204"/>
              <a:cs typeface="Arial" panose="020B0604020202020204"/>
            </a:endParaRPr>
          </a:p>
          <a:p>
            <a:pPr marL="66040">
              <a:spcBef>
                <a:spcPts val="30"/>
              </a:spcBef>
            </a:pPr>
            <a:endParaRPr lang="zh-CN" altLang="en-US" sz="2000" kern="0" dirty="0">
              <a:solidFill>
                <a:sysClr val="windowText" lastClr="000000"/>
              </a:solidFill>
              <a:latin typeface="Times New Roman" panose="02020603050405020304"/>
              <a:cs typeface="Times New Roman" panose="02020603050405020304"/>
            </a:endParaRPr>
          </a:p>
          <a:p>
            <a:pPr marL="361315" indent="-281940">
              <a:buFont typeface="Arial" panose="020B0604020202020204"/>
              <a:buAutoNum type="arabicPeriod" startAt="2"/>
              <a:tabLst>
                <a:tab pos="361950" algn="l"/>
              </a:tabLst>
            </a:pPr>
            <a:r>
              <a:rPr lang="zh-CN" altLang="en-US" sz="2000" kern="0" dirty="0">
                <a:solidFill>
                  <a:srgbClr val="3333CC"/>
                </a:solidFill>
              </a:rPr>
              <a:t>代码和</a:t>
            </a:r>
            <a:r>
              <a:rPr lang="zh-CN" altLang="en-US" sz="2000" kern="0" spc="5" dirty="0">
                <a:solidFill>
                  <a:srgbClr val="3333CC"/>
                </a:solidFill>
              </a:rPr>
              <a:t>校</a:t>
            </a:r>
            <a:r>
              <a:rPr lang="zh-CN" altLang="en-US" sz="2000" kern="0" spc="-5" dirty="0">
                <a:solidFill>
                  <a:srgbClr val="3333CC"/>
                </a:solidFill>
              </a:rPr>
              <a:t>验</a:t>
            </a:r>
            <a:endParaRPr lang="zh-CN" altLang="en-US" sz="2000" kern="0" dirty="0">
              <a:solidFill>
                <a:sysClr val="windowText" lastClr="000000"/>
              </a:solidFill>
            </a:endParaRPr>
          </a:p>
          <a:p>
            <a:pPr marL="360680">
              <a:spcBef>
                <a:spcPts val="1440"/>
              </a:spcBef>
            </a:pPr>
            <a:r>
              <a:rPr lang="zh-CN" altLang="en-US" sz="2000" kern="0" dirty="0">
                <a:solidFill>
                  <a:srgbClr val="000000"/>
                </a:solidFill>
              </a:rPr>
              <a:t>代码和</a:t>
            </a:r>
            <a:r>
              <a:rPr lang="zh-CN" altLang="en-US" sz="2000" kern="0" spc="10" dirty="0">
                <a:solidFill>
                  <a:srgbClr val="000000"/>
                </a:solidFill>
              </a:rPr>
              <a:t>校验是</a:t>
            </a:r>
            <a:r>
              <a:rPr lang="zh-CN" altLang="en-US" sz="2000" kern="0" spc="15" dirty="0">
                <a:solidFill>
                  <a:srgbClr val="000000"/>
                </a:solidFill>
              </a:rPr>
              <a:t>发</a:t>
            </a:r>
            <a:r>
              <a:rPr lang="zh-CN" altLang="en-US" sz="2000" kern="0" spc="10" dirty="0">
                <a:solidFill>
                  <a:srgbClr val="000000"/>
                </a:solidFill>
              </a:rPr>
              <a:t>送方</a:t>
            </a:r>
            <a:r>
              <a:rPr lang="zh-CN" altLang="en-US" sz="2000" kern="0" spc="15" dirty="0">
                <a:solidFill>
                  <a:srgbClr val="000000"/>
                </a:solidFill>
              </a:rPr>
              <a:t>将</a:t>
            </a:r>
            <a:r>
              <a:rPr lang="zh-CN" altLang="en-US" sz="2000" kern="0" spc="10" dirty="0">
                <a:solidFill>
                  <a:srgbClr val="000000"/>
                </a:solidFill>
              </a:rPr>
              <a:t>所</a:t>
            </a:r>
            <a:r>
              <a:rPr lang="zh-CN" altLang="en-US" sz="2000" kern="0" spc="15" dirty="0">
                <a:solidFill>
                  <a:srgbClr val="000000"/>
                </a:solidFill>
              </a:rPr>
              <a:t>发</a:t>
            </a:r>
            <a:r>
              <a:rPr lang="zh-CN" altLang="en-US" sz="2000" kern="0" spc="10" dirty="0">
                <a:solidFill>
                  <a:srgbClr val="000000"/>
                </a:solidFill>
              </a:rPr>
              <a:t>数</a:t>
            </a:r>
            <a:r>
              <a:rPr lang="zh-CN" altLang="en-US" sz="2000" kern="0" spc="15" dirty="0">
                <a:solidFill>
                  <a:srgbClr val="000000"/>
                </a:solidFill>
              </a:rPr>
              <a:t>据</a:t>
            </a:r>
            <a:r>
              <a:rPr lang="zh-CN" altLang="en-US" sz="2000" kern="0" spc="10" dirty="0">
                <a:solidFill>
                  <a:srgbClr val="000000"/>
                </a:solidFill>
              </a:rPr>
              <a:t>块求</a:t>
            </a:r>
            <a:r>
              <a:rPr lang="zh-CN" altLang="en-US" sz="2000" kern="0" spc="15" dirty="0">
                <a:solidFill>
                  <a:srgbClr val="000000"/>
                </a:solidFill>
              </a:rPr>
              <a:t>和</a:t>
            </a:r>
            <a:r>
              <a:rPr lang="zh-CN" altLang="en-US" sz="2000" kern="0" spc="10" dirty="0">
                <a:solidFill>
                  <a:srgbClr val="000000"/>
                </a:solidFill>
              </a:rPr>
              <a:t>或</a:t>
            </a:r>
            <a:r>
              <a:rPr lang="zh-CN" altLang="en-US" sz="2000" kern="0" spc="15" dirty="0">
                <a:solidFill>
                  <a:srgbClr val="000000"/>
                </a:solidFill>
              </a:rPr>
              <a:t>各</a:t>
            </a:r>
            <a:r>
              <a:rPr lang="zh-CN" altLang="en-US" sz="2000" kern="0" spc="10" dirty="0">
                <a:solidFill>
                  <a:srgbClr val="000000"/>
                </a:solidFill>
              </a:rPr>
              <a:t>字节</a:t>
            </a:r>
            <a:r>
              <a:rPr lang="zh-CN" altLang="en-US" sz="2000" kern="0" spc="15" dirty="0">
                <a:solidFill>
                  <a:srgbClr val="000000"/>
                </a:solidFill>
              </a:rPr>
              <a:t>异</a:t>
            </a:r>
            <a:r>
              <a:rPr lang="zh-CN" altLang="en-US" sz="2000" kern="0" spc="10" dirty="0">
                <a:solidFill>
                  <a:srgbClr val="000000"/>
                </a:solidFill>
              </a:rPr>
              <a:t>或</a:t>
            </a:r>
            <a:r>
              <a:rPr lang="zh-CN" altLang="en-US" sz="2000" kern="0" spc="15" dirty="0">
                <a:solidFill>
                  <a:srgbClr val="000000"/>
                </a:solidFill>
              </a:rPr>
              <a:t>，</a:t>
            </a:r>
            <a:r>
              <a:rPr lang="zh-CN" altLang="en-US" sz="2000" kern="0" spc="10" dirty="0">
                <a:solidFill>
                  <a:srgbClr val="000000"/>
                </a:solidFill>
              </a:rPr>
              <a:t>产</a:t>
            </a:r>
            <a:r>
              <a:rPr lang="zh-CN" altLang="en-US" sz="2000" kern="0" spc="15" dirty="0">
                <a:solidFill>
                  <a:srgbClr val="000000"/>
                </a:solidFill>
              </a:rPr>
              <a:t>生</a:t>
            </a:r>
            <a:r>
              <a:rPr lang="zh-CN" altLang="en-US" sz="2000" kern="0" spc="10" dirty="0">
                <a:solidFill>
                  <a:srgbClr val="000000"/>
                </a:solidFill>
              </a:rPr>
              <a:t>一个</a:t>
            </a:r>
            <a:r>
              <a:rPr lang="zh-CN" altLang="en-US" sz="2000" kern="0" spc="15" dirty="0">
                <a:solidFill>
                  <a:srgbClr val="000000"/>
                </a:solidFill>
              </a:rPr>
              <a:t>字</a:t>
            </a:r>
            <a:r>
              <a:rPr lang="zh-CN" altLang="en-US" sz="2000" kern="0" spc="10" dirty="0">
                <a:solidFill>
                  <a:srgbClr val="000000"/>
                </a:solidFill>
              </a:rPr>
              <a:t>节</a:t>
            </a:r>
            <a:r>
              <a:rPr lang="zh-CN" altLang="en-US" sz="2000" kern="0" spc="15" dirty="0">
                <a:solidFill>
                  <a:srgbClr val="000000"/>
                </a:solidFill>
              </a:rPr>
              <a:t>的</a:t>
            </a:r>
            <a:r>
              <a:rPr lang="zh-CN" altLang="en-US" sz="2000" kern="0" dirty="0">
                <a:solidFill>
                  <a:srgbClr val="000000"/>
                </a:solidFill>
              </a:rPr>
              <a:t>校</a:t>
            </a:r>
            <a:r>
              <a:rPr lang="zh-CN" altLang="en-US" sz="2000" kern="0" spc="-5" dirty="0">
                <a:solidFill>
                  <a:srgbClr val="000000"/>
                </a:solidFill>
              </a:rPr>
              <a:t>验字</a:t>
            </a:r>
            <a:r>
              <a:rPr lang="zh-CN" altLang="en-US" sz="2000" kern="0" spc="5" dirty="0">
                <a:solidFill>
                  <a:srgbClr val="000000"/>
                </a:solidFill>
              </a:rPr>
              <a:t>符（校</a:t>
            </a:r>
            <a:r>
              <a:rPr lang="zh-CN" altLang="en-US" sz="2000" kern="0" spc="10" dirty="0">
                <a:solidFill>
                  <a:srgbClr val="000000"/>
                </a:solidFill>
              </a:rPr>
              <a:t>验</a:t>
            </a:r>
            <a:r>
              <a:rPr lang="zh-CN" altLang="en-US" sz="2000" kern="0" spc="5" dirty="0">
                <a:solidFill>
                  <a:srgbClr val="000000"/>
                </a:solidFill>
              </a:rPr>
              <a:t>和）</a:t>
            </a:r>
            <a:r>
              <a:rPr lang="zh-CN" altLang="en-US" sz="2000" kern="0" spc="10" dirty="0">
                <a:solidFill>
                  <a:srgbClr val="000000"/>
                </a:solidFill>
              </a:rPr>
              <a:t>附</a:t>
            </a:r>
            <a:r>
              <a:rPr lang="zh-CN" altLang="en-US" sz="2000" kern="0" spc="5" dirty="0">
                <a:solidFill>
                  <a:srgbClr val="000000"/>
                </a:solidFill>
              </a:rPr>
              <a:t>加</a:t>
            </a:r>
            <a:r>
              <a:rPr lang="zh-CN" altLang="en-US" sz="2000" kern="0" spc="10" dirty="0">
                <a:solidFill>
                  <a:srgbClr val="000000"/>
                </a:solidFill>
              </a:rPr>
              <a:t>到</a:t>
            </a:r>
            <a:r>
              <a:rPr lang="zh-CN" altLang="en-US" sz="2000" kern="0" spc="5" dirty="0">
                <a:solidFill>
                  <a:srgbClr val="000000"/>
                </a:solidFill>
              </a:rPr>
              <a:t>数据</a:t>
            </a:r>
            <a:r>
              <a:rPr lang="zh-CN" altLang="en-US" sz="2000" kern="0" spc="10" dirty="0">
                <a:solidFill>
                  <a:srgbClr val="000000"/>
                </a:solidFill>
              </a:rPr>
              <a:t>块</a:t>
            </a:r>
            <a:r>
              <a:rPr lang="zh-CN" altLang="en-US" sz="2000" kern="0" spc="5" dirty="0">
                <a:solidFill>
                  <a:srgbClr val="000000"/>
                </a:solidFill>
              </a:rPr>
              <a:t>末</a:t>
            </a:r>
            <a:r>
              <a:rPr lang="zh-CN" altLang="en-US" sz="2000" kern="0" spc="10" dirty="0">
                <a:solidFill>
                  <a:srgbClr val="000000"/>
                </a:solidFill>
              </a:rPr>
              <a:t>尾</a:t>
            </a:r>
            <a:r>
              <a:rPr lang="zh-CN" altLang="en-US" sz="2000" kern="0" spc="-5" dirty="0">
                <a:solidFill>
                  <a:srgbClr val="000000"/>
                </a:solidFill>
              </a:rPr>
              <a:t>。</a:t>
            </a:r>
            <a:endParaRPr lang="zh-CN" altLang="en-US" sz="2000" kern="0" dirty="0">
              <a:solidFill>
                <a:sysClr val="windowText" lastClr="000000"/>
              </a:solidFill>
            </a:endParaRPr>
          </a:p>
          <a:p>
            <a:pPr marL="361315" indent="-281940">
              <a:spcBef>
                <a:spcPts val="1440"/>
              </a:spcBef>
              <a:buFont typeface="Arial" panose="020B0604020202020204"/>
              <a:buAutoNum type="arabicPeriod" startAt="3"/>
              <a:tabLst>
                <a:tab pos="361950" algn="l"/>
              </a:tabLst>
            </a:pPr>
            <a:r>
              <a:rPr lang="zh-CN" altLang="en-US" sz="2000" kern="0" dirty="0">
                <a:solidFill>
                  <a:srgbClr val="3333CC"/>
                </a:solidFill>
              </a:rPr>
              <a:t>循环冗</a:t>
            </a:r>
            <a:r>
              <a:rPr lang="zh-CN" altLang="en-US" sz="2000" kern="0" spc="5" dirty="0">
                <a:solidFill>
                  <a:srgbClr val="3333CC"/>
                </a:solidFill>
              </a:rPr>
              <a:t>余</a:t>
            </a:r>
            <a:r>
              <a:rPr lang="zh-CN" altLang="en-US" sz="2000" kern="0" spc="10" dirty="0">
                <a:solidFill>
                  <a:srgbClr val="3333CC"/>
                </a:solidFill>
              </a:rPr>
              <a:t>码</a:t>
            </a:r>
            <a:r>
              <a:rPr lang="zh-CN" altLang="en-US" sz="2000" kern="0" spc="5" dirty="0">
                <a:solidFill>
                  <a:srgbClr val="3333CC"/>
                </a:solidFill>
              </a:rPr>
              <a:t>校</a:t>
            </a:r>
            <a:r>
              <a:rPr lang="zh-CN" altLang="en-US" sz="2000" kern="0" spc="-5" dirty="0">
                <a:solidFill>
                  <a:srgbClr val="3333CC"/>
                </a:solidFill>
              </a:rPr>
              <a:t>验</a:t>
            </a:r>
            <a:endParaRPr lang="zh-CN" altLang="en-US" sz="2000" kern="0" dirty="0">
              <a:solidFill>
                <a:sysClr val="windowText" lastClr="000000"/>
              </a:solidFill>
            </a:endParaRPr>
          </a:p>
          <a:p>
            <a:pPr marL="360680">
              <a:spcBef>
                <a:spcPts val="1440"/>
              </a:spcBef>
            </a:pPr>
            <a:r>
              <a:rPr lang="zh-CN" altLang="en-US" sz="2000" kern="0" dirty="0">
                <a:solidFill>
                  <a:srgbClr val="000000"/>
                </a:solidFill>
              </a:rPr>
              <a:t>是通过</a:t>
            </a:r>
            <a:r>
              <a:rPr lang="zh-CN" altLang="en-US" sz="2000" kern="0" spc="5" dirty="0">
                <a:solidFill>
                  <a:srgbClr val="000000"/>
                </a:solidFill>
              </a:rPr>
              <a:t>某种数</a:t>
            </a:r>
            <a:r>
              <a:rPr lang="zh-CN" altLang="en-US" sz="2000" kern="0" spc="10" dirty="0">
                <a:solidFill>
                  <a:srgbClr val="000000"/>
                </a:solidFill>
              </a:rPr>
              <a:t>学</a:t>
            </a:r>
            <a:r>
              <a:rPr lang="zh-CN" altLang="en-US" sz="2000" kern="0" spc="5" dirty="0">
                <a:solidFill>
                  <a:srgbClr val="000000"/>
                </a:solidFill>
              </a:rPr>
              <a:t>运算</a:t>
            </a:r>
            <a:r>
              <a:rPr lang="zh-CN" altLang="en-US" sz="2000" kern="0" spc="10" dirty="0">
                <a:solidFill>
                  <a:srgbClr val="000000"/>
                </a:solidFill>
              </a:rPr>
              <a:t>实</a:t>
            </a:r>
            <a:r>
              <a:rPr lang="zh-CN" altLang="en-US" sz="2000" kern="0" spc="5" dirty="0">
                <a:solidFill>
                  <a:srgbClr val="000000"/>
                </a:solidFill>
              </a:rPr>
              <a:t>现</a:t>
            </a:r>
            <a:r>
              <a:rPr lang="zh-CN" altLang="en-US" sz="2000" kern="0" spc="10" dirty="0">
                <a:solidFill>
                  <a:srgbClr val="000000"/>
                </a:solidFill>
              </a:rPr>
              <a:t>有</a:t>
            </a:r>
            <a:r>
              <a:rPr lang="zh-CN" altLang="en-US" sz="2000" kern="0" spc="5" dirty="0">
                <a:solidFill>
                  <a:srgbClr val="000000"/>
                </a:solidFill>
              </a:rPr>
              <a:t>效</a:t>
            </a:r>
            <a:r>
              <a:rPr lang="zh-CN" altLang="en-US" sz="2000" kern="0" spc="10" dirty="0">
                <a:solidFill>
                  <a:srgbClr val="000000"/>
                </a:solidFill>
              </a:rPr>
              <a:t>信息</a:t>
            </a:r>
            <a:r>
              <a:rPr lang="zh-CN" altLang="en-US" sz="2000" kern="0" spc="5" dirty="0">
                <a:solidFill>
                  <a:srgbClr val="FF3300"/>
                </a:solidFill>
              </a:rPr>
              <a:t>与</a:t>
            </a:r>
            <a:r>
              <a:rPr lang="zh-CN" altLang="en-US" sz="2000" kern="0" spc="10" dirty="0">
                <a:solidFill>
                  <a:srgbClr val="000000"/>
                </a:solidFill>
              </a:rPr>
              <a:t>校</a:t>
            </a:r>
            <a:r>
              <a:rPr lang="zh-CN" altLang="en-US" sz="2000" kern="0" spc="5" dirty="0">
                <a:solidFill>
                  <a:srgbClr val="000000"/>
                </a:solidFill>
              </a:rPr>
              <a:t>验</a:t>
            </a:r>
            <a:r>
              <a:rPr lang="zh-CN" altLang="en-US" sz="2000" kern="0" spc="10" dirty="0">
                <a:solidFill>
                  <a:srgbClr val="000000"/>
                </a:solidFill>
              </a:rPr>
              <a:t>位</a:t>
            </a:r>
            <a:r>
              <a:rPr lang="zh-CN" altLang="en-US" sz="2000" kern="0" spc="5" dirty="0">
                <a:solidFill>
                  <a:srgbClr val="000000"/>
                </a:solidFill>
              </a:rPr>
              <a:t>之间</a:t>
            </a:r>
            <a:r>
              <a:rPr lang="zh-CN" altLang="en-US" sz="2000" kern="0" spc="10" dirty="0">
                <a:solidFill>
                  <a:srgbClr val="000000"/>
                </a:solidFill>
              </a:rPr>
              <a:t>的</a:t>
            </a:r>
            <a:r>
              <a:rPr lang="zh-CN" altLang="en-US" sz="2000" kern="0" spc="5" dirty="0">
                <a:solidFill>
                  <a:srgbClr val="000000"/>
                </a:solidFill>
              </a:rPr>
              <a:t>循</a:t>
            </a:r>
            <a:r>
              <a:rPr lang="zh-CN" altLang="en-US" sz="2000" kern="0" spc="10" dirty="0">
                <a:solidFill>
                  <a:srgbClr val="000000"/>
                </a:solidFill>
              </a:rPr>
              <a:t>环</a:t>
            </a:r>
            <a:r>
              <a:rPr lang="zh-CN" altLang="en-US" sz="2000" kern="0" spc="5" dirty="0">
                <a:solidFill>
                  <a:srgbClr val="000000"/>
                </a:solidFill>
              </a:rPr>
              <a:t>校</a:t>
            </a:r>
            <a:r>
              <a:rPr lang="zh-CN" altLang="en-US" sz="2000" kern="0" spc="10" dirty="0">
                <a:solidFill>
                  <a:srgbClr val="000000"/>
                </a:solidFill>
              </a:rPr>
              <a:t>验</a:t>
            </a:r>
            <a:r>
              <a:rPr lang="zh-CN" altLang="en-US" sz="2000" kern="0" spc="5" dirty="0">
                <a:solidFill>
                  <a:srgbClr val="000000"/>
                </a:solidFill>
              </a:rPr>
              <a:t>，应</a:t>
            </a:r>
            <a:r>
              <a:rPr lang="zh-CN" altLang="en-US" sz="2000" kern="0" spc="10" dirty="0">
                <a:solidFill>
                  <a:srgbClr val="000000"/>
                </a:solidFill>
              </a:rPr>
              <a:t>用</a:t>
            </a:r>
            <a:r>
              <a:rPr lang="zh-CN" altLang="en-US" sz="2000" kern="0" spc="5" dirty="0">
                <a:solidFill>
                  <a:srgbClr val="000000"/>
                </a:solidFill>
              </a:rPr>
              <a:t>广</a:t>
            </a:r>
            <a:r>
              <a:rPr lang="zh-CN" altLang="en-US" sz="2000" kern="0" spc="10" dirty="0">
                <a:solidFill>
                  <a:srgbClr val="000000"/>
                </a:solidFill>
              </a:rPr>
              <a:t>泛</a:t>
            </a:r>
            <a:r>
              <a:rPr lang="zh-CN" altLang="en-US" sz="2000" kern="0" spc="-5" dirty="0">
                <a:solidFill>
                  <a:srgbClr val="000000"/>
                </a:solidFill>
              </a:rPr>
              <a:t>。</a:t>
            </a:r>
            <a:endParaRPr lang="zh-CN" altLang="en-US" sz="2000" kern="0" dirty="0">
              <a:solidFill>
                <a:sysClr val="windowText" lastClr="000000"/>
              </a:solidFill>
            </a:endParaRPr>
          </a:p>
        </p:txBody>
      </p:sp>
    </p:spTree>
    <p:extLst>
      <p:ext uri="{BB962C8B-B14F-4D97-AF65-F5344CB8AC3E}">
        <p14:creationId xmlns:p14="http://schemas.microsoft.com/office/powerpoint/2010/main" val="3709602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8</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7.1.3  </a:t>
            </a:r>
            <a:r>
              <a:rPr kumimoji="0" lang="zh-CN" altLang="en-US" b="0" i="0" u="none" strike="noStrike" kern="1200" cap="none" spc="0" normalizeH="0" baseline="0" noProof="1">
                <a:solidFill>
                  <a:srgbClr val="0000FF"/>
                </a:solidFill>
                <a:latin typeface="+mj-lt"/>
                <a:ea typeface="+mj-ea"/>
                <a:cs typeface="+mj-cs"/>
              </a:rPr>
              <a:t>异步通信和同步通信（</a:t>
            </a:r>
            <a:r>
              <a:rPr kumimoji="0" lang="en-US" altLang="zh-CN" b="0" i="0" u="none" strike="noStrike" kern="1200" cap="none" spc="0" normalizeH="0" baseline="0" noProof="1">
                <a:solidFill>
                  <a:srgbClr val="0000FF"/>
                </a:solidFill>
                <a:latin typeface="+mj-lt"/>
                <a:ea typeface="+mj-ea"/>
                <a:cs typeface="+mj-cs"/>
              </a:rPr>
              <a:t>2</a:t>
            </a:r>
            <a:r>
              <a:rPr kumimoji="0" lang="zh-CN" altLang="en-US" b="0" i="0" u="none" strike="noStrike" kern="1200" cap="none" spc="0" normalizeH="0" baseline="0" noProof="1">
                <a:solidFill>
                  <a:srgbClr val="0000FF"/>
                </a:solidFill>
                <a:latin typeface="+mj-lt"/>
                <a:ea typeface="+mj-ea"/>
                <a:cs typeface="+mj-cs"/>
              </a:rPr>
              <a:t>种基本串行通信方式）</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4" name="矩形 3"/>
          <p:cNvSpPr/>
          <p:nvPr/>
        </p:nvSpPr>
        <p:spPr>
          <a:xfrm>
            <a:off x="533400" y="1696774"/>
            <a:ext cx="1624163"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同步通信</a:t>
            </a:r>
          </a:p>
        </p:txBody>
      </p:sp>
      <p:sp>
        <p:nvSpPr>
          <p:cNvPr id="12" name="矩形 11"/>
          <p:cNvSpPr/>
          <p:nvPr/>
        </p:nvSpPr>
        <p:spPr>
          <a:xfrm>
            <a:off x="5630717" y="4970502"/>
            <a:ext cx="2084225" cy="369332"/>
          </a:xfrm>
          <a:prstGeom prst="rect">
            <a:avLst/>
          </a:prstGeom>
        </p:spPr>
        <p:txBody>
          <a:bodyPr wrap="none">
            <a:spAutoFit/>
          </a:bodyPr>
          <a:lstStyle/>
          <a:p>
            <a:r>
              <a:rPr lang="zh-CN" altLang="en-US" dirty="0">
                <a:solidFill>
                  <a:srgbClr val="FF3300"/>
                </a:solidFill>
              </a:rPr>
              <a:t>同步通信数据格式 </a:t>
            </a:r>
            <a:endParaRPr lang="zh-CN" altLang="en-US" dirty="0"/>
          </a:p>
        </p:txBody>
      </p:sp>
      <p:sp>
        <p:nvSpPr>
          <p:cNvPr id="13" name="矩形 12"/>
          <p:cNvSpPr/>
          <p:nvPr/>
        </p:nvSpPr>
        <p:spPr>
          <a:xfrm>
            <a:off x="609600" y="2125276"/>
            <a:ext cx="3810000" cy="4662815"/>
          </a:xfrm>
          <a:prstGeom prst="rect">
            <a:avLst/>
          </a:prstGeom>
        </p:spPr>
        <p:txBody>
          <a:bodyPr wrap="square">
            <a:spAutoFit/>
          </a:bodyPr>
          <a:lstStyle/>
          <a:p>
            <a:pPr indent="457200">
              <a:lnSpc>
                <a:spcPct val="150000"/>
              </a:lnSpc>
            </a:pPr>
            <a:r>
              <a:rPr lang="zh-CN" altLang="en-US" dirty="0"/>
              <a:t>在同步通信中，通信双方的物理时钟是相同的，双方的发送和接收是同时进行的。</a:t>
            </a:r>
            <a:endParaRPr lang="en-US" altLang="zh-CN" dirty="0"/>
          </a:p>
          <a:p>
            <a:pPr indent="457200">
              <a:lnSpc>
                <a:spcPct val="150000"/>
              </a:lnSpc>
            </a:pPr>
            <a:r>
              <a:rPr lang="zh-CN" altLang="en-US" dirty="0"/>
              <a:t>同步通信中，在数据开始传送前用同步字符来指示（常约定</a:t>
            </a:r>
            <a:r>
              <a:rPr lang="en-US" altLang="zh-CN" dirty="0"/>
              <a:t>1-2</a:t>
            </a:r>
            <a:r>
              <a:rPr lang="zh-CN" altLang="en-US" dirty="0"/>
              <a:t>个），并由时钟来实现发送端和接收端同步。同步传送时，字符与字符之间没有间隙，也不用起始位和停止位，仅在数据块开始时用同步字符</a:t>
            </a:r>
            <a:r>
              <a:rPr lang="en-US" altLang="zh-CN" dirty="0"/>
              <a:t>SYNC</a:t>
            </a:r>
            <a:r>
              <a:rPr lang="zh-CN" altLang="en-US" dirty="0"/>
              <a:t>来指示</a:t>
            </a:r>
          </a:p>
          <a:p>
            <a:pPr indent="457200">
              <a:lnSpc>
                <a:spcPct val="150000"/>
              </a:lnSpc>
            </a:pPr>
            <a:endParaRPr lang="en-US" altLang="zh-CN" dirty="0"/>
          </a:p>
        </p:txBody>
      </p:sp>
      <p:pic>
        <p:nvPicPr>
          <p:cNvPr id="9" name="图片 296963" descr="0704"/>
          <p:cNvPicPr>
            <a:picLocks noChangeAspect="1"/>
          </p:cNvPicPr>
          <p:nvPr/>
        </p:nvPicPr>
        <p:blipFill>
          <a:blip r:embed="rId2"/>
          <a:stretch>
            <a:fillRect/>
          </a:stretch>
        </p:blipFill>
        <p:spPr>
          <a:xfrm>
            <a:off x="4579993" y="2819400"/>
            <a:ext cx="4185675" cy="1828800"/>
          </a:xfrm>
          <a:prstGeom prst="rect">
            <a:avLst/>
          </a:prstGeom>
          <a:noFill/>
          <a:ln w="9525">
            <a:noFill/>
          </a:ln>
        </p:spPr>
      </p:pic>
    </p:spTree>
    <p:extLst>
      <p:ext uri="{BB962C8B-B14F-4D97-AF65-F5344CB8AC3E}">
        <p14:creationId xmlns:p14="http://schemas.microsoft.com/office/powerpoint/2010/main" val="3826028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9</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7.1.3  </a:t>
            </a:r>
            <a:r>
              <a:rPr kumimoji="0" lang="zh-CN" altLang="en-US" b="0" i="0" u="none" strike="noStrike" kern="1200" cap="none" spc="0" normalizeH="0" baseline="0" noProof="1">
                <a:solidFill>
                  <a:srgbClr val="0000FF"/>
                </a:solidFill>
                <a:latin typeface="+mj-lt"/>
                <a:ea typeface="+mj-ea"/>
                <a:cs typeface="+mj-cs"/>
              </a:rPr>
              <a:t>异步通信和同步通信（</a:t>
            </a:r>
            <a:r>
              <a:rPr kumimoji="0" lang="en-US" altLang="zh-CN" b="0" i="0" u="none" strike="noStrike" kern="1200" cap="none" spc="0" normalizeH="0" baseline="0" noProof="1">
                <a:solidFill>
                  <a:srgbClr val="0000FF"/>
                </a:solidFill>
                <a:latin typeface="+mj-lt"/>
                <a:ea typeface="+mj-ea"/>
                <a:cs typeface="+mj-cs"/>
              </a:rPr>
              <a:t>2</a:t>
            </a:r>
            <a:r>
              <a:rPr kumimoji="0" lang="zh-CN" altLang="en-US" b="0" i="0" u="none" strike="noStrike" kern="1200" cap="none" spc="0" normalizeH="0" baseline="0" noProof="1">
                <a:solidFill>
                  <a:srgbClr val="0000FF"/>
                </a:solidFill>
                <a:latin typeface="+mj-lt"/>
                <a:ea typeface="+mj-ea"/>
                <a:cs typeface="+mj-cs"/>
              </a:rPr>
              <a:t>种基本串行通信方式）</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4" name="矩形 3"/>
          <p:cNvSpPr/>
          <p:nvPr/>
        </p:nvSpPr>
        <p:spPr>
          <a:xfrm>
            <a:off x="533400" y="1696774"/>
            <a:ext cx="1393330"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3. </a:t>
            </a:r>
            <a:r>
              <a:rPr lang="zh-CN" altLang="en-US" dirty="0">
                <a:solidFill>
                  <a:srgbClr val="FF0000"/>
                </a:solidFill>
              </a:rPr>
              <a:t>波特率</a:t>
            </a:r>
          </a:p>
        </p:txBody>
      </p:sp>
      <p:sp>
        <p:nvSpPr>
          <p:cNvPr id="10" name="文本框 9"/>
          <p:cNvSpPr txBox="1"/>
          <p:nvPr/>
        </p:nvSpPr>
        <p:spPr>
          <a:xfrm>
            <a:off x="533400" y="2104206"/>
            <a:ext cx="7848600" cy="2135969"/>
          </a:xfrm>
          <a:prstGeom prst="rect">
            <a:avLst/>
          </a:prstGeom>
          <a:noFill/>
        </p:spPr>
        <p:txBody>
          <a:bodyPr wrap="square" rtlCol="0" anchor="t">
            <a:spAutoFit/>
          </a:bodyPr>
          <a:lstStyle/>
          <a:p>
            <a:pPr indent="457200">
              <a:lnSpc>
                <a:spcPct val="140000"/>
              </a:lnSpc>
            </a:pPr>
            <a:r>
              <a:rPr lang="zh-CN" altLang="en-US" sz="1600" dirty="0">
                <a:solidFill>
                  <a:srgbClr val="FF3300"/>
                </a:solidFill>
                <a:latin typeface="+mn-ea"/>
                <a:sym typeface="+mn-ea"/>
              </a:rPr>
              <a:t>波特率</a:t>
            </a:r>
            <a:r>
              <a:rPr lang="zh-CN" altLang="en-US" sz="1600" dirty="0">
                <a:latin typeface="+mn-ea"/>
                <a:sym typeface="+mn-ea"/>
              </a:rPr>
              <a:t>，即数据传送速率，表示每秒钟传送二进制代码的位数，它的单位是</a:t>
            </a:r>
            <a:r>
              <a:rPr lang="en-US" altLang="zh-CN" sz="1600" dirty="0">
                <a:latin typeface="+mn-ea"/>
                <a:sym typeface="+mn-ea"/>
              </a:rPr>
              <a:t>b/s</a:t>
            </a:r>
            <a:r>
              <a:rPr lang="zh-CN" altLang="en-US" sz="1600" dirty="0">
                <a:latin typeface="+mn-ea"/>
                <a:sym typeface="+mn-ea"/>
              </a:rPr>
              <a:t>。</a:t>
            </a:r>
            <a:endParaRPr lang="zh-CN" altLang="en-US" sz="1600" dirty="0">
              <a:latin typeface="+mn-ea"/>
            </a:endParaRPr>
          </a:p>
          <a:p>
            <a:pPr indent="457200">
              <a:lnSpc>
                <a:spcPct val="140000"/>
              </a:lnSpc>
            </a:pPr>
            <a:r>
              <a:rPr lang="zh-CN" altLang="en-US" sz="1600" dirty="0">
                <a:latin typeface="+mn-ea"/>
                <a:sym typeface="+mn-ea"/>
              </a:rPr>
              <a:t>波特率对于</a:t>
            </a:r>
            <a:r>
              <a:rPr lang="en-US" altLang="zh-CN" sz="1600" dirty="0">
                <a:latin typeface="+mn-ea"/>
                <a:sym typeface="+mn-ea"/>
              </a:rPr>
              <a:t>CPU</a:t>
            </a:r>
            <a:r>
              <a:rPr lang="zh-CN" altLang="en-US" sz="1600" dirty="0">
                <a:latin typeface="+mn-ea"/>
                <a:sym typeface="+mn-ea"/>
              </a:rPr>
              <a:t>与外界的通信是很重要的。假设数据传送速率是</a:t>
            </a:r>
            <a:r>
              <a:rPr lang="en-US" altLang="zh-CN" sz="1600" dirty="0">
                <a:latin typeface="+mn-ea"/>
                <a:sym typeface="+mn-ea"/>
              </a:rPr>
              <a:t>120</a:t>
            </a:r>
            <a:r>
              <a:rPr lang="zh-CN" altLang="en-US" sz="1600" dirty="0">
                <a:latin typeface="+mn-ea"/>
                <a:sym typeface="+mn-ea"/>
              </a:rPr>
              <a:t>字符</a:t>
            </a:r>
            <a:r>
              <a:rPr lang="en-US" altLang="zh-CN" sz="1600" dirty="0">
                <a:latin typeface="+mn-ea"/>
                <a:sym typeface="+mn-ea"/>
              </a:rPr>
              <a:t>/s</a:t>
            </a:r>
            <a:r>
              <a:rPr lang="zh-CN" altLang="en-US" sz="1600" dirty="0">
                <a:latin typeface="+mn-ea"/>
                <a:sym typeface="+mn-ea"/>
              </a:rPr>
              <a:t>，而每个字符格式包含</a:t>
            </a:r>
            <a:r>
              <a:rPr lang="en-US" altLang="zh-CN" sz="1600" dirty="0">
                <a:latin typeface="+mn-ea"/>
                <a:sym typeface="+mn-ea"/>
              </a:rPr>
              <a:t>1</a:t>
            </a:r>
            <a:r>
              <a:rPr lang="zh-CN" altLang="en-US" sz="1600" dirty="0">
                <a:latin typeface="+mn-ea"/>
                <a:sym typeface="+mn-ea"/>
              </a:rPr>
              <a:t>个代码位（</a:t>
            </a:r>
            <a:r>
              <a:rPr lang="en-US" altLang="zh-CN" sz="1600" dirty="0">
                <a:latin typeface="+mn-ea"/>
                <a:sym typeface="+mn-ea"/>
              </a:rPr>
              <a:t>1</a:t>
            </a:r>
            <a:r>
              <a:rPr lang="zh-CN" altLang="en-US" sz="1600" dirty="0">
                <a:latin typeface="+mn-ea"/>
                <a:sym typeface="+mn-ea"/>
              </a:rPr>
              <a:t>个起始位、</a:t>
            </a:r>
            <a:r>
              <a:rPr lang="en-US" altLang="zh-CN" sz="1600" dirty="0">
                <a:latin typeface="+mn-ea"/>
                <a:sym typeface="+mn-ea"/>
              </a:rPr>
              <a:t>1</a:t>
            </a:r>
            <a:r>
              <a:rPr lang="zh-CN" altLang="en-US" sz="1600" dirty="0">
                <a:latin typeface="+mn-ea"/>
                <a:sym typeface="+mn-ea"/>
              </a:rPr>
              <a:t>个终止位、</a:t>
            </a:r>
            <a:r>
              <a:rPr lang="en-US" altLang="zh-CN" sz="1600" dirty="0">
                <a:latin typeface="+mn-ea"/>
                <a:sym typeface="+mn-ea"/>
              </a:rPr>
              <a:t>8</a:t>
            </a:r>
            <a:r>
              <a:rPr lang="zh-CN" altLang="en-US" sz="1600" dirty="0">
                <a:latin typeface="+mn-ea"/>
                <a:sym typeface="+mn-ea"/>
              </a:rPr>
              <a:t>个数据位）。这时，传送的波特率为：</a:t>
            </a:r>
            <a:endParaRPr lang="zh-CN" altLang="en-US" sz="1600" dirty="0">
              <a:latin typeface="+mn-ea"/>
            </a:endParaRPr>
          </a:p>
          <a:p>
            <a:pPr indent="457200">
              <a:buNone/>
            </a:pPr>
            <a:r>
              <a:rPr lang="en-US" altLang="zh-CN" sz="1600" dirty="0">
                <a:solidFill>
                  <a:srgbClr val="F7694D"/>
                </a:solidFill>
                <a:latin typeface="+mn-ea"/>
                <a:sym typeface="+mn-ea"/>
              </a:rPr>
              <a:t>              10b</a:t>
            </a:r>
            <a:r>
              <a:rPr lang="zh-CN" altLang="en-US" sz="1600" dirty="0">
                <a:solidFill>
                  <a:srgbClr val="F7694D"/>
                </a:solidFill>
                <a:latin typeface="+mn-ea"/>
                <a:sym typeface="+mn-ea"/>
              </a:rPr>
              <a:t>／字符</a:t>
            </a:r>
            <a:r>
              <a:rPr lang="en-US" altLang="zh-CN" sz="1600" dirty="0">
                <a:solidFill>
                  <a:srgbClr val="F7694D"/>
                </a:solidFill>
                <a:latin typeface="+mn-ea"/>
                <a:sym typeface="+mn-ea"/>
              </a:rPr>
              <a:t>×120</a:t>
            </a:r>
            <a:r>
              <a:rPr lang="zh-CN" altLang="en-US" sz="1600" dirty="0">
                <a:solidFill>
                  <a:srgbClr val="F7694D"/>
                </a:solidFill>
                <a:latin typeface="+mn-ea"/>
                <a:sym typeface="+mn-ea"/>
              </a:rPr>
              <a:t>字符／</a:t>
            </a:r>
            <a:r>
              <a:rPr lang="en-US" altLang="zh-CN" sz="1600" dirty="0">
                <a:solidFill>
                  <a:srgbClr val="F7694D"/>
                </a:solidFill>
                <a:latin typeface="+mn-ea"/>
                <a:sym typeface="+mn-ea"/>
              </a:rPr>
              <a:t>s</a:t>
            </a:r>
            <a:r>
              <a:rPr lang="zh-CN" altLang="en-US" sz="1600" dirty="0">
                <a:solidFill>
                  <a:srgbClr val="F7694D"/>
                </a:solidFill>
                <a:latin typeface="+mn-ea"/>
                <a:sym typeface="+mn-ea"/>
              </a:rPr>
              <a:t>＝</a:t>
            </a:r>
            <a:r>
              <a:rPr lang="en-US" altLang="zh-CN" sz="1600" dirty="0">
                <a:solidFill>
                  <a:srgbClr val="F7694D"/>
                </a:solidFill>
                <a:latin typeface="+mn-ea"/>
                <a:sym typeface="+mn-ea"/>
              </a:rPr>
              <a:t>1200b</a:t>
            </a:r>
            <a:r>
              <a:rPr lang="zh-CN" altLang="en-US" sz="1600" dirty="0">
                <a:solidFill>
                  <a:srgbClr val="F7694D"/>
                </a:solidFill>
                <a:latin typeface="+mn-ea"/>
                <a:sym typeface="+mn-ea"/>
              </a:rPr>
              <a:t>／</a:t>
            </a:r>
            <a:r>
              <a:rPr lang="en-US" altLang="zh-CN" sz="1600" dirty="0">
                <a:solidFill>
                  <a:srgbClr val="F7694D"/>
                </a:solidFill>
                <a:latin typeface="+mn-ea"/>
                <a:sym typeface="+mn-ea"/>
              </a:rPr>
              <a:t>s</a:t>
            </a:r>
            <a:endParaRPr lang="en-US" altLang="zh-CN" sz="1600" dirty="0">
              <a:solidFill>
                <a:srgbClr val="F7694D"/>
              </a:solidFill>
              <a:latin typeface="+mn-ea"/>
            </a:endParaRPr>
          </a:p>
          <a:p>
            <a:pPr indent="457200">
              <a:lnSpc>
                <a:spcPct val="170000"/>
              </a:lnSpc>
              <a:buClr>
                <a:schemeClr val="tx2"/>
              </a:buClr>
              <a:buSzTx/>
              <a:buFontTx/>
              <a:buNone/>
            </a:pPr>
            <a:endParaRPr lang="zh-CN" altLang="en-US" sz="1600" dirty="0">
              <a:latin typeface="+mn-ea"/>
              <a:sym typeface="+mn-ea"/>
            </a:endParaRPr>
          </a:p>
        </p:txBody>
      </p:sp>
      <p:sp>
        <p:nvSpPr>
          <p:cNvPr id="11" name="文本框 10"/>
          <p:cNvSpPr txBox="1"/>
          <p:nvPr/>
        </p:nvSpPr>
        <p:spPr>
          <a:xfrm>
            <a:off x="533400" y="4360516"/>
            <a:ext cx="7848600" cy="1938992"/>
          </a:xfrm>
          <a:prstGeom prst="rect">
            <a:avLst/>
          </a:prstGeom>
          <a:noFill/>
        </p:spPr>
        <p:txBody>
          <a:bodyPr wrap="square" rtlCol="0" anchor="t">
            <a:spAutoFit/>
          </a:bodyPr>
          <a:lstStyle/>
          <a:p>
            <a:pPr indent="457200">
              <a:lnSpc>
                <a:spcPct val="150000"/>
              </a:lnSpc>
            </a:pPr>
            <a:r>
              <a:rPr lang="zh-CN" altLang="en-US" sz="1600" dirty="0">
                <a:latin typeface="+mn-ea"/>
                <a:sym typeface="+mn-ea"/>
              </a:rPr>
              <a:t>每一位代码的传送时间</a:t>
            </a:r>
            <a:r>
              <a:rPr lang="en-US" altLang="zh-CN" sz="1600" dirty="0">
                <a:latin typeface="+mn-ea"/>
                <a:sym typeface="+mn-ea"/>
              </a:rPr>
              <a:t>Td</a:t>
            </a:r>
            <a:r>
              <a:rPr lang="zh-CN" altLang="en-US" sz="1600" dirty="0">
                <a:latin typeface="+mn-ea"/>
                <a:sym typeface="+mn-ea"/>
              </a:rPr>
              <a:t>为波特率的倒数。</a:t>
            </a:r>
            <a:endParaRPr lang="zh-CN" altLang="en-US" sz="1600" dirty="0">
              <a:latin typeface="+mn-ea"/>
            </a:endParaRPr>
          </a:p>
          <a:p>
            <a:pPr indent="457200">
              <a:lnSpc>
                <a:spcPct val="150000"/>
              </a:lnSpc>
              <a:buNone/>
            </a:pPr>
            <a:r>
              <a:rPr lang="zh-CN" altLang="en-US" sz="1600" dirty="0">
                <a:latin typeface="+mn-ea"/>
                <a:sym typeface="+mn-ea"/>
              </a:rPr>
              <a:t>               </a:t>
            </a:r>
            <a:r>
              <a:rPr lang="en-US" altLang="zh-CN" sz="1600" dirty="0">
                <a:solidFill>
                  <a:srgbClr val="F7694D"/>
                </a:solidFill>
                <a:latin typeface="+mn-ea"/>
                <a:sym typeface="+mn-ea"/>
              </a:rPr>
              <a:t>Td</a:t>
            </a:r>
            <a:r>
              <a:rPr lang="zh-CN" altLang="en-US" sz="1600" dirty="0">
                <a:solidFill>
                  <a:srgbClr val="F7694D"/>
                </a:solidFill>
                <a:latin typeface="+mn-ea"/>
                <a:sym typeface="+mn-ea"/>
              </a:rPr>
              <a:t>＝</a:t>
            </a:r>
            <a:r>
              <a:rPr lang="en-US" altLang="zh-CN" sz="1600" dirty="0">
                <a:solidFill>
                  <a:srgbClr val="F7694D"/>
                </a:solidFill>
                <a:latin typeface="+mn-ea"/>
                <a:sym typeface="+mn-ea"/>
              </a:rPr>
              <a:t>1b</a:t>
            </a:r>
            <a:r>
              <a:rPr lang="zh-CN" altLang="en-US" sz="1600" dirty="0">
                <a:solidFill>
                  <a:srgbClr val="F7694D"/>
                </a:solidFill>
                <a:latin typeface="+mn-ea"/>
                <a:sym typeface="+mn-ea"/>
              </a:rPr>
              <a:t>／（</a:t>
            </a:r>
            <a:r>
              <a:rPr lang="en-US" altLang="zh-CN" sz="1600" dirty="0">
                <a:solidFill>
                  <a:srgbClr val="F7694D"/>
                </a:solidFill>
                <a:latin typeface="+mn-ea"/>
                <a:sym typeface="+mn-ea"/>
              </a:rPr>
              <a:t>1200bs-1</a:t>
            </a:r>
            <a:r>
              <a:rPr lang="zh-CN" altLang="en-US" sz="1600" dirty="0">
                <a:solidFill>
                  <a:srgbClr val="F7694D"/>
                </a:solidFill>
                <a:latin typeface="+mn-ea"/>
                <a:sym typeface="+mn-ea"/>
              </a:rPr>
              <a:t>）＝</a:t>
            </a:r>
            <a:r>
              <a:rPr lang="en-US" altLang="zh-CN" sz="1600" dirty="0">
                <a:solidFill>
                  <a:srgbClr val="F7694D"/>
                </a:solidFill>
                <a:latin typeface="+mn-ea"/>
                <a:sym typeface="+mn-ea"/>
              </a:rPr>
              <a:t>0.833ms</a:t>
            </a:r>
            <a:endParaRPr lang="en-US" altLang="zh-CN" sz="1600" dirty="0">
              <a:solidFill>
                <a:srgbClr val="F7694D"/>
              </a:solidFill>
              <a:latin typeface="+mn-ea"/>
            </a:endParaRPr>
          </a:p>
          <a:p>
            <a:pPr indent="457200">
              <a:lnSpc>
                <a:spcPct val="150000"/>
              </a:lnSpc>
            </a:pPr>
            <a:r>
              <a:rPr lang="zh-CN" altLang="en-US" sz="1600" dirty="0">
                <a:latin typeface="+mn-ea"/>
                <a:sym typeface="+mn-ea"/>
              </a:rPr>
              <a:t>异步通信的传送速率在</a:t>
            </a:r>
            <a:r>
              <a:rPr lang="en-US" altLang="zh-CN" sz="1600" dirty="0">
                <a:latin typeface="+mn-ea"/>
                <a:sym typeface="+mn-ea"/>
              </a:rPr>
              <a:t>50b/s--19200b/s</a:t>
            </a:r>
            <a:r>
              <a:rPr lang="zh-CN" altLang="en-US" sz="1600" dirty="0">
                <a:latin typeface="+mn-ea"/>
                <a:sym typeface="+mn-ea"/>
              </a:rPr>
              <a:t>之间，常用于计算机到终端机和打印机之间的通信、直通电报以及无线电通信的数据发送等。</a:t>
            </a:r>
          </a:p>
          <a:p>
            <a:pPr indent="457200">
              <a:lnSpc>
                <a:spcPct val="150000"/>
              </a:lnSpc>
            </a:pPr>
            <a:r>
              <a:rPr lang="zh-CN" altLang="en-US" sz="1600" dirty="0">
                <a:latin typeface="+mn-ea"/>
                <a:sym typeface="+mn-ea"/>
              </a:rPr>
              <a:t>同步通信可以提高传输速率，但硬件更复杂，</a:t>
            </a:r>
            <a:endParaRPr lang="en-US" altLang="zh-CN" sz="1600" dirty="0">
              <a:latin typeface="+mn-ea"/>
              <a:sym typeface="+mn-ea"/>
            </a:endParaRPr>
          </a:p>
        </p:txBody>
      </p:sp>
    </p:spTree>
    <p:extLst>
      <p:ext uri="{BB962C8B-B14F-4D97-AF65-F5344CB8AC3E}">
        <p14:creationId xmlns:p14="http://schemas.microsoft.com/office/powerpoint/2010/main" val="352610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10</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7.1.4  </a:t>
            </a:r>
            <a:r>
              <a:rPr kumimoji="0" lang="zh-CN" altLang="en-US" b="0" i="0" u="none" strike="noStrike" kern="1200" cap="none" spc="0" normalizeH="0" baseline="0" noProof="1">
                <a:solidFill>
                  <a:srgbClr val="0000FF"/>
                </a:solidFill>
                <a:latin typeface="+mj-lt"/>
                <a:ea typeface="+mj-ea"/>
                <a:cs typeface="+mj-cs"/>
              </a:rPr>
              <a:t>串行通信的过程及通信协议</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4" name="矩形 3"/>
          <p:cNvSpPr/>
          <p:nvPr/>
        </p:nvSpPr>
        <p:spPr>
          <a:xfrm>
            <a:off x="533400" y="1696774"/>
            <a:ext cx="277832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1. </a:t>
            </a:r>
            <a:r>
              <a:rPr lang="zh-CN" altLang="en-US" dirty="0">
                <a:solidFill>
                  <a:srgbClr val="FF0000"/>
                </a:solidFill>
              </a:rPr>
              <a:t>串并转换与设备同步</a:t>
            </a:r>
          </a:p>
        </p:txBody>
      </p:sp>
      <p:pic>
        <p:nvPicPr>
          <p:cNvPr id="8" name="图片 299011" descr="0705"/>
          <p:cNvPicPr>
            <a:picLocks noChangeAspect="1"/>
          </p:cNvPicPr>
          <p:nvPr/>
        </p:nvPicPr>
        <p:blipFill>
          <a:blip r:embed="rId2"/>
          <a:stretch>
            <a:fillRect/>
          </a:stretch>
        </p:blipFill>
        <p:spPr>
          <a:xfrm>
            <a:off x="946150" y="2349090"/>
            <a:ext cx="3239770" cy="2399030"/>
          </a:xfrm>
          <a:prstGeom prst="rect">
            <a:avLst/>
          </a:prstGeom>
          <a:noFill/>
          <a:ln w="9525">
            <a:noFill/>
          </a:ln>
        </p:spPr>
      </p:pic>
      <p:pic>
        <p:nvPicPr>
          <p:cNvPr id="9" name="图片 300035" descr="0706"/>
          <p:cNvPicPr>
            <a:picLocks noChangeAspect="1"/>
          </p:cNvPicPr>
          <p:nvPr/>
        </p:nvPicPr>
        <p:blipFill>
          <a:blip r:embed="rId3"/>
          <a:stretch>
            <a:fillRect/>
          </a:stretch>
        </p:blipFill>
        <p:spPr>
          <a:xfrm>
            <a:off x="4768850" y="2272624"/>
            <a:ext cx="3240000" cy="2645564"/>
          </a:xfrm>
          <a:prstGeom prst="rect">
            <a:avLst/>
          </a:prstGeom>
          <a:noFill/>
          <a:ln w="9525">
            <a:noFill/>
          </a:ln>
        </p:spPr>
      </p:pic>
      <p:sp>
        <p:nvSpPr>
          <p:cNvPr id="12" name="文本框 11"/>
          <p:cNvSpPr txBox="1"/>
          <p:nvPr/>
        </p:nvSpPr>
        <p:spPr>
          <a:xfrm>
            <a:off x="1253618" y="5186979"/>
            <a:ext cx="7052182" cy="368300"/>
          </a:xfrm>
          <a:prstGeom prst="rect">
            <a:avLst/>
          </a:prstGeom>
          <a:noFill/>
        </p:spPr>
        <p:txBody>
          <a:bodyPr wrap="square" rtlCol="0">
            <a:spAutoFit/>
          </a:bodyPr>
          <a:lstStyle/>
          <a:p>
            <a:r>
              <a:rPr lang="zh-CN" altLang="en-US" dirty="0">
                <a:solidFill>
                  <a:srgbClr val="0000FF"/>
                </a:solidFill>
              </a:rPr>
              <a:t>发送时的并</a:t>
            </a:r>
            <a:r>
              <a:rPr lang="en-US" altLang="zh-CN" dirty="0">
                <a:solidFill>
                  <a:srgbClr val="0000FF"/>
                </a:solidFill>
              </a:rPr>
              <a:t>—</a:t>
            </a:r>
            <a:r>
              <a:rPr lang="zh-CN" altLang="en-US" dirty="0">
                <a:solidFill>
                  <a:srgbClr val="0000FF"/>
                </a:solidFill>
              </a:rPr>
              <a:t>串转换                                        接收时的串</a:t>
            </a:r>
            <a:r>
              <a:rPr lang="en-US" altLang="zh-CN" dirty="0">
                <a:solidFill>
                  <a:srgbClr val="0000FF"/>
                </a:solidFill>
              </a:rPr>
              <a:t>—</a:t>
            </a:r>
            <a:r>
              <a:rPr lang="zh-CN" altLang="en-US" dirty="0">
                <a:solidFill>
                  <a:srgbClr val="0000FF"/>
                </a:solidFill>
              </a:rPr>
              <a:t>并转换</a:t>
            </a:r>
          </a:p>
        </p:txBody>
      </p:sp>
    </p:spTree>
    <p:extLst>
      <p:ext uri="{BB962C8B-B14F-4D97-AF65-F5344CB8AC3E}">
        <p14:creationId xmlns:p14="http://schemas.microsoft.com/office/powerpoint/2010/main" val="556602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7.1.4  </a:t>
            </a:r>
            <a:r>
              <a:rPr kumimoji="0" lang="zh-CN" altLang="en-US" b="0" i="0" u="none" strike="noStrike" kern="1200" cap="none" spc="0" normalizeH="0" baseline="0" noProof="1">
                <a:solidFill>
                  <a:srgbClr val="0000FF"/>
                </a:solidFill>
                <a:latin typeface="+mj-lt"/>
                <a:ea typeface="+mj-ea"/>
                <a:cs typeface="+mj-cs"/>
              </a:rPr>
              <a:t>串行通信的过程及通信协议</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4" name="矩形 3"/>
          <p:cNvSpPr/>
          <p:nvPr/>
        </p:nvSpPr>
        <p:spPr>
          <a:xfrm>
            <a:off x="533400" y="1696774"/>
            <a:ext cx="277832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1. </a:t>
            </a:r>
            <a:r>
              <a:rPr lang="zh-CN" altLang="en-US" dirty="0">
                <a:solidFill>
                  <a:srgbClr val="FF0000"/>
                </a:solidFill>
              </a:rPr>
              <a:t>串并转换与设备同步</a:t>
            </a:r>
          </a:p>
        </p:txBody>
      </p:sp>
      <p:sp>
        <p:nvSpPr>
          <p:cNvPr id="10" name="文本占位符 22530"/>
          <p:cNvSpPr txBox="1">
            <a:spLocks/>
          </p:cNvSpPr>
          <p:nvPr/>
        </p:nvSpPr>
        <p:spPr>
          <a:xfrm>
            <a:off x="824389" y="2590800"/>
            <a:ext cx="7733030" cy="1661795"/>
          </a:xfrm>
        </p:spPr>
        <p:txBody>
          <a:bodyPr wrap="square"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pPr>
            <a:r>
              <a:rPr lang="zh-CN" altLang="en-US" kern="0" dirty="0">
                <a:solidFill>
                  <a:sysClr val="windowText" lastClr="000000"/>
                </a:solidFill>
              </a:rPr>
              <a:t>          进行串行通信的两台设备必须同步工作才能有效地检测通信线路上的信号变化，从而采样传送数据脉冲。设备同步对通信双方有两个共同要求：</a:t>
            </a:r>
          </a:p>
          <a:p>
            <a:pPr>
              <a:lnSpc>
                <a:spcPct val="150000"/>
              </a:lnSpc>
            </a:pPr>
            <a:r>
              <a:rPr lang="zh-CN" altLang="en-US" kern="0" dirty="0">
                <a:solidFill>
                  <a:sysClr val="windowText" lastClr="000000"/>
                </a:solidFill>
              </a:rPr>
              <a:t>         </a:t>
            </a:r>
            <a:r>
              <a:rPr lang="en-US" altLang="zh-CN" kern="0" dirty="0">
                <a:solidFill>
                  <a:sysClr val="windowText" lastClr="000000"/>
                </a:solidFill>
              </a:rPr>
              <a:t>1  </a:t>
            </a:r>
            <a:r>
              <a:rPr lang="zh-CN" altLang="en-US" kern="0" dirty="0">
                <a:solidFill>
                  <a:sysClr val="windowText" lastClr="000000"/>
                </a:solidFill>
              </a:rPr>
              <a:t>通信双方必须</a:t>
            </a:r>
            <a:r>
              <a:rPr lang="zh-CN" altLang="en-US" kern="0" dirty="0">
                <a:solidFill>
                  <a:srgbClr val="0000FF"/>
                </a:solidFill>
              </a:rPr>
              <a:t>采用统一的编码方法</a:t>
            </a:r>
            <a:r>
              <a:rPr lang="zh-CN" altLang="en-US" kern="0" dirty="0">
                <a:solidFill>
                  <a:sysClr val="windowText" lastClr="000000"/>
                </a:solidFill>
              </a:rPr>
              <a:t>；</a:t>
            </a:r>
          </a:p>
          <a:p>
            <a:pPr lvl="1">
              <a:lnSpc>
                <a:spcPct val="150000"/>
              </a:lnSpc>
            </a:pPr>
            <a:r>
              <a:rPr lang="en-US" altLang="zh-CN" kern="0" dirty="0">
                <a:solidFill>
                  <a:sysClr val="windowText" lastClr="000000"/>
                </a:solidFill>
              </a:rPr>
              <a:t>2  </a:t>
            </a:r>
            <a:r>
              <a:rPr lang="zh-CN" altLang="en-US" kern="0" dirty="0">
                <a:solidFill>
                  <a:sysClr val="windowText" lastClr="000000"/>
                </a:solidFill>
              </a:rPr>
              <a:t>通信双方必须能</a:t>
            </a:r>
            <a:r>
              <a:rPr lang="zh-CN" altLang="en-US" kern="0" dirty="0">
                <a:solidFill>
                  <a:srgbClr val="0000FF"/>
                </a:solidFill>
              </a:rPr>
              <a:t>产生相同的传送速率。</a:t>
            </a:r>
          </a:p>
        </p:txBody>
      </p:sp>
    </p:spTree>
    <p:extLst>
      <p:ext uri="{BB962C8B-B14F-4D97-AF65-F5344CB8AC3E}">
        <p14:creationId xmlns:p14="http://schemas.microsoft.com/office/powerpoint/2010/main" val="2895543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12</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7.1.4  </a:t>
            </a:r>
            <a:r>
              <a:rPr kumimoji="0" lang="zh-CN" altLang="en-US" b="0" i="0" u="none" strike="noStrike" kern="1200" cap="none" spc="0" normalizeH="0" baseline="0" noProof="1">
                <a:solidFill>
                  <a:srgbClr val="0000FF"/>
                </a:solidFill>
                <a:latin typeface="+mj-lt"/>
                <a:ea typeface="+mj-ea"/>
                <a:cs typeface="+mj-cs"/>
              </a:rPr>
              <a:t>串行通信的过程及通信协议</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7.1  </a:t>
            </a:r>
            <a:r>
              <a:rPr kumimoji="0" lang="zh-CN" altLang="en-US" sz="2800" b="1" i="0" u="none" strike="noStrike" kern="1200" cap="none" spc="0" normalizeH="0" baseline="0" noProof="1">
                <a:solidFill>
                  <a:srgbClr val="F153E6"/>
                </a:solidFill>
                <a:latin typeface="+mj-lt"/>
                <a:ea typeface="+mj-ea"/>
                <a:cs typeface="+mj-cs"/>
              </a:rPr>
              <a:t>串行通信基本知识</a:t>
            </a:r>
          </a:p>
        </p:txBody>
      </p:sp>
      <p:sp>
        <p:nvSpPr>
          <p:cNvPr id="4" name="矩形 3"/>
          <p:cNvSpPr/>
          <p:nvPr/>
        </p:nvSpPr>
        <p:spPr>
          <a:xfrm>
            <a:off x="533400" y="1696774"/>
            <a:ext cx="2085827"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串行通信协议</a:t>
            </a:r>
          </a:p>
        </p:txBody>
      </p:sp>
      <p:pic>
        <p:nvPicPr>
          <p:cNvPr id="7" name="图片 295939" descr="0703">
            <a:extLst>
              <a:ext uri="{FF2B5EF4-FFF2-40B4-BE49-F238E27FC236}">
                <a16:creationId xmlns:a16="http://schemas.microsoft.com/office/drawing/2014/main" id="{BE55F10E-CC66-4561-8DB1-FEB29538FBCE}"/>
              </a:ext>
            </a:extLst>
          </p:cNvPr>
          <p:cNvPicPr>
            <a:picLocks noChangeAspect="1"/>
          </p:cNvPicPr>
          <p:nvPr/>
        </p:nvPicPr>
        <p:blipFill>
          <a:blip r:embed="rId2"/>
          <a:stretch>
            <a:fillRect/>
          </a:stretch>
        </p:blipFill>
        <p:spPr>
          <a:xfrm>
            <a:off x="828675" y="2526030"/>
            <a:ext cx="4518660" cy="3081020"/>
          </a:xfrm>
          <a:prstGeom prst="rect">
            <a:avLst/>
          </a:prstGeom>
          <a:noFill/>
          <a:ln w="9525">
            <a:noFill/>
          </a:ln>
        </p:spPr>
      </p:pic>
      <p:sp>
        <p:nvSpPr>
          <p:cNvPr id="8" name="文本框 7">
            <a:extLst>
              <a:ext uri="{FF2B5EF4-FFF2-40B4-BE49-F238E27FC236}">
                <a16:creationId xmlns:a16="http://schemas.microsoft.com/office/drawing/2014/main" id="{67CADC2B-AFEA-4B1F-BCE5-DC5027508F4F}"/>
              </a:ext>
            </a:extLst>
          </p:cNvPr>
          <p:cNvSpPr txBox="1"/>
          <p:nvPr/>
        </p:nvSpPr>
        <p:spPr>
          <a:xfrm>
            <a:off x="1751647" y="5791200"/>
            <a:ext cx="2672715" cy="368300"/>
          </a:xfrm>
          <a:prstGeom prst="rect">
            <a:avLst/>
          </a:prstGeom>
          <a:noFill/>
        </p:spPr>
        <p:txBody>
          <a:bodyPr wrap="square" rtlCol="0">
            <a:spAutoFit/>
          </a:bodyPr>
          <a:lstStyle/>
          <a:p>
            <a:r>
              <a:rPr lang="zh-CN" altLang="en-US" dirty="0">
                <a:solidFill>
                  <a:srgbClr val="0000FF"/>
                </a:solidFill>
              </a:rPr>
              <a:t>异步通信数据通信协议</a:t>
            </a:r>
          </a:p>
        </p:txBody>
      </p:sp>
      <p:sp>
        <p:nvSpPr>
          <p:cNvPr id="9" name="文本框 8">
            <a:extLst>
              <a:ext uri="{FF2B5EF4-FFF2-40B4-BE49-F238E27FC236}">
                <a16:creationId xmlns:a16="http://schemas.microsoft.com/office/drawing/2014/main" id="{7B969C69-D77A-4DAD-AF04-C6C90A573B4D}"/>
              </a:ext>
            </a:extLst>
          </p:cNvPr>
          <p:cNvSpPr txBox="1"/>
          <p:nvPr/>
        </p:nvSpPr>
        <p:spPr>
          <a:xfrm>
            <a:off x="6019800" y="2526030"/>
            <a:ext cx="2227580" cy="2584450"/>
          </a:xfrm>
          <a:prstGeom prst="rect">
            <a:avLst/>
          </a:prstGeom>
          <a:solidFill>
            <a:schemeClr val="accent1">
              <a:lumMod val="20000"/>
              <a:lumOff val="80000"/>
            </a:schemeClr>
          </a:solidFill>
        </p:spPr>
        <p:txBody>
          <a:bodyPr wrap="square" rtlCol="0">
            <a:spAutoFit/>
          </a:bodyPr>
          <a:lstStyle/>
          <a:p>
            <a:pPr>
              <a:lnSpc>
                <a:spcPct val="150000"/>
              </a:lnSpc>
            </a:pPr>
            <a:r>
              <a:rPr lang="zh-CN" altLang="en-US" b="1" dirty="0">
                <a:solidFill>
                  <a:srgbClr val="FF3300"/>
                </a:solidFill>
              </a:rPr>
              <a:t>起始位</a:t>
            </a:r>
          </a:p>
          <a:p>
            <a:pPr>
              <a:lnSpc>
                <a:spcPct val="150000"/>
              </a:lnSpc>
            </a:pPr>
            <a:r>
              <a:rPr lang="zh-CN" altLang="en-US" b="1" dirty="0">
                <a:solidFill>
                  <a:srgbClr val="FF3300"/>
                </a:solidFill>
              </a:rPr>
              <a:t>数据位</a:t>
            </a:r>
          </a:p>
          <a:p>
            <a:pPr>
              <a:lnSpc>
                <a:spcPct val="150000"/>
              </a:lnSpc>
            </a:pPr>
            <a:r>
              <a:rPr lang="zh-CN" altLang="en-US" b="1" dirty="0">
                <a:solidFill>
                  <a:srgbClr val="FF3300"/>
                </a:solidFill>
              </a:rPr>
              <a:t>奇偶校验位</a:t>
            </a:r>
          </a:p>
          <a:p>
            <a:pPr>
              <a:lnSpc>
                <a:spcPct val="150000"/>
              </a:lnSpc>
            </a:pPr>
            <a:r>
              <a:rPr lang="zh-CN" altLang="en-US" b="1" dirty="0">
                <a:solidFill>
                  <a:srgbClr val="FF3300"/>
                </a:solidFill>
              </a:rPr>
              <a:t>停止位</a:t>
            </a:r>
          </a:p>
          <a:p>
            <a:pPr>
              <a:lnSpc>
                <a:spcPct val="150000"/>
              </a:lnSpc>
            </a:pPr>
            <a:r>
              <a:rPr lang="zh-CN" altLang="en-US" b="1" dirty="0">
                <a:solidFill>
                  <a:srgbClr val="FF3300"/>
                </a:solidFill>
              </a:rPr>
              <a:t>波特率设置</a:t>
            </a:r>
          </a:p>
          <a:p>
            <a:pPr>
              <a:lnSpc>
                <a:spcPct val="150000"/>
              </a:lnSpc>
            </a:pPr>
            <a:r>
              <a:rPr lang="zh-CN" altLang="en-US" b="1" dirty="0">
                <a:solidFill>
                  <a:srgbClr val="FF3300"/>
                </a:solidFill>
              </a:rPr>
              <a:t>挂钩（握手）信号</a:t>
            </a:r>
            <a:r>
              <a:rPr lang="en-US" altLang="zh-CN" b="1" dirty="0">
                <a:solidFill>
                  <a:srgbClr val="FF3300"/>
                </a:solidFill>
              </a:rPr>
              <a:t>*</a:t>
            </a:r>
          </a:p>
        </p:txBody>
      </p:sp>
    </p:spTree>
    <p:extLst>
      <p:ext uri="{BB962C8B-B14F-4D97-AF65-F5344CB8AC3E}">
        <p14:creationId xmlns:p14="http://schemas.microsoft.com/office/powerpoint/2010/main" val="916348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13</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457200" y="1752600"/>
            <a:ext cx="8384668" cy="3231654"/>
          </a:xfrm>
        </p:spPr>
        <p:txBody>
          <a:bodyPr wrap="square" anchor="ctr"/>
          <a:lstStyle/>
          <a:p>
            <a:pPr marL="0" marR="0" indent="457200" algn="l" defTabSz="914400" rtl="0" eaLnBrk="1" fontAlgn="base" latinLnBrk="0" hangingPunct="1">
              <a:lnSpc>
                <a:spcPct val="150000"/>
              </a:lnSpc>
              <a:spcBef>
                <a:spcPct val="0"/>
              </a:spcBef>
              <a:spcAft>
                <a:spcPct val="0"/>
              </a:spcAft>
              <a:buClrTx/>
              <a:buSzTx/>
              <a:buFontTx/>
              <a:buNone/>
            </a:pPr>
            <a:r>
              <a:rPr kumimoji="0" lang="en-US" altLang="zh-CN" sz="2000" b="0" i="0" u="none" strike="noStrike" kern="1200" cap="none" spc="0" normalizeH="0" baseline="0" noProof="1">
                <a:solidFill>
                  <a:schemeClr val="tx1"/>
                </a:solidFill>
                <a:latin typeface="+mn-ea"/>
                <a:ea typeface="+mn-ea"/>
                <a:cs typeface="+mj-cs"/>
              </a:rPr>
              <a:t> 89C51</a:t>
            </a:r>
            <a:r>
              <a:rPr kumimoji="0" lang="zh-CN" altLang="en-US" sz="2000" b="0" i="0" u="none" strike="noStrike" kern="1200" cap="none" spc="0" normalizeH="0" baseline="0" noProof="1">
                <a:solidFill>
                  <a:schemeClr val="tx1"/>
                </a:solidFill>
                <a:latin typeface="+mn-ea"/>
                <a:ea typeface="+mn-ea"/>
                <a:cs typeface="+mj-cs"/>
              </a:rPr>
              <a:t>单片机除了具有</a:t>
            </a:r>
            <a:r>
              <a:rPr kumimoji="0" lang="en-US" altLang="zh-CN" sz="2000" b="0" i="0" u="none" strike="noStrike" kern="1200" cap="none" spc="0" normalizeH="0" baseline="0" noProof="1">
                <a:solidFill>
                  <a:schemeClr val="tx1"/>
                </a:solidFill>
                <a:latin typeface="+mn-ea"/>
                <a:ea typeface="+mn-ea"/>
                <a:cs typeface="+mj-cs"/>
              </a:rPr>
              <a:t>4</a:t>
            </a:r>
            <a:r>
              <a:rPr kumimoji="0" lang="zh-CN" altLang="en-US" sz="2000" b="0" i="0" u="none" strike="noStrike" kern="1200" cap="none" spc="0" normalizeH="0" baseline="0" noProof="1">
                <a:solidFill>
                  <a:schemeClr val="tx1"/>
                </a:solidFill>
                <a:latin typeface="+mn-ea"/>
                <a:ea typeface="+mn-ea"/>
                <a:cs typeface="+mj-cs"/>
              </a:rPr>
              <a:t>个</a:t>
            </a:r>
            <a:r>
              <a:rPr kumimoji="0" lang="en-US" altLang="zh-CN" sz="2000" b="0" i="0" u="none" strike="noStrike" kern="1200" cap="none" spc="0" normalizeH="0" baseline="0" noProof="1">
                <a:solidFill>
                  <a:schemeClr val="tx1"/>
                </a:solidFill>
                <a:latin typeface="+mn-ea"/>
                <a:ea typeface="+mn-ea"/>
                <a:cs typeface="+mj-cs"/>
              </a:rPr>
              <a:t>8</a:t>
            </a:r>
            <a:r>
              <a:rPr kumimoji="0" lang="zh-CN" altLang="en-US" sz="2000" b="0" i="0" u="none" strike="noStrike" kern="1200" cap="none" spc="0" normalizeH="0" baseline="0" noProof="1">
                <a:solidFill>
                  <a:schemeClr val="tx1"/>
                </a:solidFill>
                <a:latin typeface="+mn-ea"/>
                <a:ea typeface="+mn-ea"/>
                <a:cs typeface="+mj-cs"/>
              </a:rPr>
              <a:t>位并行口外，还具有串行接口。</a:t>
            </a:r>
            <a:br>
              <a:rPr kumimoji="0" lang="en-US" altLang="zh-CN" sz="2000" b="0" i="0" u="none" strike="noStrike" kern="1200" cap="none" spc="0" normalizeH="0" baseline="0" noProof="1">
                <a:solidFill>
                  <a:schemeClr val="tx1"/>
                </a:solidFill>
                <a:latin typeface="+mn-ea"/>
                <a:ea typeface="+mn-ea"/>
                <a:cs typeface="+mj-cs"/>
              </a:rPr>
            </a:br>
            <a:r>
              <a:rPr kumimoji="0" lang="en-US" altLang="zh-CN" sz="2000" b="0" i="0" u="none" strike="noStrike" kern="1200" cap="none" spc="0" normalizeH="0" baseline="0" noProof="1">
                <a:solidFill>
                  <a:schemeClr val="tx1"/>
                </a:solidFill>
                <a:latin typeface="+mn-ea"/>
                <a:ea typeface="+mn-ea"/>
                <a:cs typeface="+mj-cs"/>
              </a:rPr>
              <a:t>    </a:t>
            </a:r>
            <a:r>
              <a:rPr kumimoji="0" lang="zh-CN" altLang="en-US" sz="2000" b="0" i="0" u="none" strike="noStrike" kern="1200" cap="none" spc="0" normalizeH="0" baseline="0" noProof="1">
                <a:solidFill>
                  <a:schemeClr val="tx1"/>
                </a:solidFill>
                <a:latin typeface="+mn-ea"/>
                <a:ea typeface="+mn-ea"/>
                <a:cs typeface="+mj-cs"/>
              </a:rPr>
              <a:t>该串行接口是一个</a:t>
            </a:r>
            <a:r>
              <a:rPr kumimoji="0" lang="zh-CN" altLang="en-US" sz="2000" b="0" i="0" u="none" strike="noStrike" kern="1200" cap="none" spc="0" normalizeH="0" baseline="0" noProof="1">
                <a:solidFill>
                  <a:srgbClr val="FF0000"/>
                </a:solidFill>
                <a:latin typeface="+mn-ea"/>
                <a:ea typeface="+mn-ea"/>
                <a:cs typeface="+mj-cs"/>
              </a:rPr>
              <a:t>全双工串行通信接口</a:t>
            </a:r>
            <a:r>
              <a:rPr kumimoji="0" lang="zh-CN" altLang="en-US" sz="2000" b="0" i="0" u="none" strike="noStrike" kern="1200" cap="none" spc="0" normalizeH="0" baseline="0" noProof="1">
                <a:solidFill>
                  <a:schemeClr val="tx1"/>
                </a:solidFill>
                <a:latin typeface="+mn-ea"/>
                <a:ea typeface="+mn-ea"/>
                <a:cs typeface="+mj-cs"/>
              </a:rPr>
              <a:t>，即能同时进行串行发送和接收数据。</a:t>
            </a:r>
            <a:br>
              <a:rPr kumimoji="0" lang="en-US" altLang="zh-CN" sz="2000" b="0" i="0" u="none" strike="noStrike" kern="1200" cap="none" spc="0" normalizeH="0" baseline="0" noProof="1">
                <a:solidFill>
                  <a:schemeClr val="tx1"/>
                </a:solidFill>
                <a:latin typeface="+mn-ea"/>
                <a:ea typeface="+mn-ea"/>
                <a:cs typeface="+mj-cs"/>
              </a:rPr>
            </a:br>
            <a:r>
              <a:rPr kumimoji="0" lang="en-US" altLang="zh-CN" sz="2000" b="0" i="0" u="none" strike="noStrike" kern="1200" cap="none" spc="0" normalizeH="0" baseline="0" noProof="1">
                <a:solidFill>
                  <a:schemeClr val="tx1"/>
                </a:solidFill>
                <a:latin typeface="+mn-ea"/>
                <a:ea typeface="+mn-ea"/>
                <a:cs typeface="+mj-cs"/>
              </a:rPr>
              <a:t>    </a:t>
            </a:r>
            <a:r>
              <a:rPr lang="zh-CN" altLang="en-US" sz="2000" b="0" kern="1200" noProof="1">
                <a:solidFill>
                  <a:schemeClr val="tx1"/>
                </a:solidFill>
                <a:latin typeface="+mn-ea"/>
                <a:ea typeface="+mn-ea"/>
                <a:cs typeface="+mj-cs"/>
              </a:rPr>
              <a:t>该串行口可以做</a:t>
            </a:r>
            <a:r>
              <a:rPr lang="en-US" altLang="zh-CN" sz="2000" b="0" kern="1200" noProof="1">
                <a:solidFill>
                  <a:srgbClr val="FF0000"/>
                </a:solidFill>
                <a:latin typeface="+mn-ea"/>
                <a:ea typeface="+mn-ea"/>
                <a:cs typeface="+mj-cs"/>
              </a:rPr>
              <a:t>UART</a:t>
            </a:r>
            <a:r>
              <a:rPr lang="zh-CN" altLang="en-US" sz="2000" b="0" kern="1200" noProof="1">
                <a:solidFill>
                  <a:schemeClr val="tx1"/>
                </a:solidFill>
                <a:latin typeface="+mn-ea"/>
                <a:ea typeface="+mn-ea"/>
                <a:cs typeface="+mj-cs"/>
              </a:rPr>
              <a:t>（通用异步接收和发送器）用，也可做</a:t>
            </a:r>
            <a:r>
              <a:rPr lang="zh-CN" altLang="en-US" sz="2000" b="0" kern="1200" noProof="1">
                <a:solidFill>
                  <a:srgbClr val="FF0000"/>
                </a:solidFill>
                <a:latin typeface="+mn-ea"/>
                <a:ea typeface="+mn-ea"/>
                <a:cs typeface="+mj-cs"/>
              </a:rPr>
              <a:t>同步移位寄存器</a:t>
            </a:r>
            <a:r>
              <a:rPr lang="zh-CN" altLang="en-US" sz="2000" b="0" kern="1200" noProof="1">
                <a:solidFill>
                  <a:schemeClr val="tx1"/>
                </a:solidFill>
                <a:latin typeface="+mn-ea"/>
                <a:ea typeface="+mn-ea"/>
                <a:cs typeface="+mj-cs"/>
              </a:rPr>
              <a:t>使用。</a:t>
            </a:r>
            <a:br>
              <a:rPr lang="en-US" altLang="zh-CN" sz="2000" b="0" kern="1200" noProof="1">
                <a:solidFill>
                  <a:schemeClr val="tx1"/>
                </a:solidFill>
                <a:latin typeface="+mn-ea"/>
                <a:ea typeface="+mn-ea"/>
                <a:cs typeface="+mj-cs"/>
              </a:rPr>
            </a:br>
            <a:r>
              <a:rPr lang="en-US" altLang="zh-CN" sz="2000" b="0" kern="1200" noProof="1">
                <a:solidFill>
                  <a:schemeClr val="tx1"/>
                </a:solidFill>
                <a:latin typeface="+mn-ea"/>
                <a:ea typeface="+mn-ea"/>
                <a:cs typeface="+mj-cs"/>
              </a:rPr>
              <a:t>    </a:t>
            </a:r>
            <a:r>
              <a:rPr lang="zh-CN" altLang="en-US" sz="2000" b="0" kern="1200" noProof="1">
                <a:solidFill>
                  <a:schemeClr val="tx1"/>
                </a:solidFill>
                <a:latin typeface="+mn-ea"/>
                <a:ea typeface="+mn-ea"/>
                <a:cs typeface="+mj-cs"/>
              </a:rPr>
              <a:t>使用串行接口可以实现</a:t>
            </a:r>
            <a:r>
              <a:rPr lang="en-US" altLang="zh-CN" sz="2000" b="0" kern="1200" noProof="1">
                <a:solidFill>
                  <a:schemeClr val="tx1"/>
                </a:solidFill>
                <a:latin typeface="+mn-ea"/>
                <a:ea typeface="+mn-ea"/>
                <a:cs typeface="+mj-cs"/>
              </a:rPr>
              <a:t>89C51</a:t>
            </a:r>
            <a:r>
              <a:rPr lang="zh-CN" altLang="en-US" sz="2000" b="0" kern="1200" noProof="1">
                <a:solidFill>
                  <a:schemeClr val="tx1"/>
                </a:solidFill>
                <a:latin typeface="+mn-ea"/>
                <a:ea typeface="+mn-ea"/>
                <a:cs typeface="+mj-cs"/>
              </a:rPr>
              <a:t>单片机系统之间点对点的单机通信和</a:t>
            </a:r>
            <a:r>
              <a:rPr lang="en-US" altLang="zh-CN" sz="2000" b="0" kern="1200" noProof="1">
                <a:solidFill>
                  <a:schemeClr val="tx1"/>
                </a:solidFill>
                <a:latin typeface="+mn-ea"/>
                <a:ea typeface="+mn-ea"/>
                <a:cs typeface="+mj-cs"/>
              </a:rPr>
              <a:t>89C51</a:t>
            </a:r>
            <a:r>
              <a:rPr lang="zh-CN" altLang="en-US" sz="2000" b="0" kern="1200" noProof="1">
                <a:solidFill>
                  <a:schemeClr val="tx1"/>
                </a:solidFill>
                <a:latin typeface="+mn-ea"/>
                <a:ea typeface="+mn-ea"/>
                <a:cs typeface="+mj-cs"/>
              </a:rPr>
              <a:t>与系统机（如</a:t>
            </a:r>
            <a:r>
              <a:rPr lang="en-US" altLang="zh-CN" sz="2000" b="0" kern="1200" noProof="1">
                <a:solidFill>
                  <a:schemeClr val="tx1"/>
                </a:solidFill>
                <a:latin typeface="+mn-ea"/>
                <a:ea typeface="+mn-ea"/>
                <a:cs typeface="+mj-cs"/>
              </a:rPr>
              <a:t>PC</a:t>
            </a:r>
            <a:r>
              <a:rPr lang="zh-CN" altLang="en-US" sz="2000" b="0" kern="1200" noProof="1">
                <a:solidFill>
                  <a:schemeClr val="tx1"/>
                </a:solidFill>
                <a:latin typeface="+mn-ea"/>
                <a:ea typeface="+mn-ea"/>
                <a:cs typeface="+mj-cs"/>
              </a:rPr>
              <a:t>机）的单机或多机通信。</a:t>
            </a:r>
            <a:endParaRPr kumimoji="0" lang="zh-CN" altLang="en-US" sz="2000"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Tree>
    <p:extLst>
      <p:ext uri="{BB962C8B-B14F-4D97-AF65-F5344CB8AC3E}">
        <p14:creationId xmlns:p14="http://schemas.microsoft.com/office/powerpoint/2010/main" val="1288704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14</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162498"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1. </a:t>
            </a:r>
            <a:r>
              <a:rPr lang="zh-CN" altLang="en-US" dirty="0">
                <a:solidFill>
                  <a:srgbClr val="FF0000"/>
                </a:solidFill>
              </a:rPr>
              <a:t>结构</a:t>
            </a:r>
          </a:p>
        </p:txBody>
      </p:sp>
      <p:grpSp>
        <p:nvGrpSpPr>
          <p:cNvPr id="2" name="组合 1"/>
          <p:cNvGrpSpPr/>
          <p:nvPr/>
        </p:nvGrpSpPr>
        <p:grpSpPr>
          <a:xfrm>
            <a:off x="914400" y="2236321"/>
            <a:ext cx="7783512" cy="3640138"/>
            <a:chOff x="914400" y="2342172"/>
            <a:chExt cx="7783512" cy="3640138"/>
          </a:xfrm>
        </p:grpSpPr>
        <p:pic>
          <p:nvPicPr>
            <p:cNvPr id="12" name="图片 34819" descr="0707"/>
            <p:cNvPicPr>
              <a:picLocks noChangeAspect="1"/>
            </p:cNvPicPr>
            <p:nvPr/>
          </p:nvPicPr>
          <p:blipFill>
            <a:blip r:embed="rId2"/>
            <a:stretch>
              <a:fillRect/>
            </a:stretch>
          </p:blipFill>
          <p:spPr>
            <a:xfrm>
              <a:off x="914400" y="2342172"/>
              <a:ext cx="7783512" cy="3640138"/>
            </a:xfrm>
            <a:prstGeom prst="rect">
              <a:avLst/>
            </a:prstGeom>
            <a:noFill/>
            <a:ln w="9525">
              <a:noFill/>
            </a:ln>
          </p:spPr>
        </p:pic>
        <p:sp>
          <p:nvSpPr>
            <p:cNvPr id="13" name="矩形 12"/>
            <p:cNvSpPr/>
            <p:nvPr/>
          </p:nvSpPr>
          <p:spPr>
            <a:xfrm>
              <a:off x="7219632" y="3352800"/>
              <a:ext cx="1143000" cy="3810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4" name="矩形 13"/>
            <p:cNvSpPr/>
            <p:nvPr/>
          </p:nvSpPr>
          <p:spPr>
            <a:xfrm>
              <a:off x="7219632" y="3914959"/>
              <a:ext cx="1143000" cy="38970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grpSp>
      <p:sp>
        <p:nvSpPr>
          <p:cNvPr id="5" name="矩形 4"/>
          <p:cNvSpPr/>
          <p:nvPr/>
        </p:nvSpPr>
        <p:spPr>
          <a:xfrm>
            <a:off x="3355006" y="6031468"/>
            <a:ext cx="2741456" cy="369332"/>
          </a:xfrm>
          <a:prstGeom prst="rect">
            <a:avLst/>
          </a:prstGeom>
        </p:spPr>
        <p:txBody>
          <a:bodyPr wrap="none">
            <a:spAutoFit/>
          </a:bodyPr>
          <a:lstStyle/>
          <a:p>
            <a:r>
              <a:rPr lang="zh-CN" altLang="en-US" dirty="0">
                <a:latin typeface="Arial" panose="020B0604020202020204" pitchFamily="34" charset="0"/>
              </a:rPr>
              <a:t>串行口内部结构示意简图</a:t>
            </a:r>
          </a:p>
        </p:txBody>
      </p:sp>
    </p:spTree>
    <p:extLst>
      <p:ext uri="{BB962C8B-B14F-4D97-AF65-F5344CB8AC3E}">
        <p14:creationId xmlns:p14="http://schemas.microsoft.com/office/powerpoint/2010/main" val="931644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15</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307603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串行口控制寄存器</a:t>
            </a:r>
            <a:r>
              <a:rPr lang="en-US" altLang="zh-CN" dirty="0">
                <a:solidFill>
                  <a:srgbClr val="FF0000"/>
                </a:solidFill>
              </a:rPr>
              <a:t>SCON</a:t>
            </a:r>
            <a:endParaRPr lang="zh-CN" altLang="en-US" dirty="0">
              <a:solidFill>
                <a:srgbClr val="FF0000"/>
              </a:solidFill>
            </a:endParaRPr>
          </a:p>
        </p:txBody>
      </p:sp>
      <p:pic>
        <p:nvPicPr>
          <p:cNvPr id="11" name="图片 304131" descr="0708"/>
          <p:cNvPicPr>
            <a:picLocks noChangeAspect="1"/>
          </p:cNvPicPr>
          <p:nvPr/>
        </p:nvPicPr>
        <p:blipFill>
          <a:blip r:embed="rId4"/>
          <a:stretch>
            <a:fillRect/>
          </a:stretch>
        </p:blipFill>
        <p:spPr>
          <a:xfrm>
            <a:off x="1828800" y="2149129"/>
            <a:ext cx="5106002" cy="2826653"/>
          </a:xfrm>
          <a:prstGeom prst="rect">
            <a:avLst/>
          </a:prstGeom>
          <a:noFill/>
          <a:ln w="9525">
            <a:noFill/>
          </a:ln>
        </p:spPr>
      </p:pic>
      <p:graphicFrame>
        <p:nvGraphicFramePr>
          <p:cNvPr id="16" name="object 5"/>
          <p:cNvGraphicFramePr>
            <a:graphicFrameLocks noGrp="1"/>
          </p:cNvGraphicFramePr>
          <p:nvPr>
            <p:custDataLst>
              <p:tags r:id="rId1"/>
            </p:custDataLst>
            <p:extLst>
              <p:ext uri="{D42A27DB-BD31-4B8C-83A1-F6EECF244321}">
                <p14:modId xmlns:p14="http://schemas.microsoft.com/office/powerpoint/2010/main" val="4107677509"/>
              </p:ext>
            </p:extLst>
          </p:nvPr>
        </p:nvGraphicFramePr>
        <p:xfrm>
          <a:off x="1143000" y="5189400"/>
          <a:ext cx="6455511" cy="1440000"/>
        </p:xfrm>
        <a:graphic>
          <a:graphicData uri="http://schemas.openxmlformats.org/drawingml/2006/table">
            <a:tbl>
              <a:tblPr firstRow="1" bandRow="1">
                <a:tableStyleId>{5940675A-B579-460E-94D1-54222C63F5DA}</a:tableStyleId>
              </a:tblPr>
              <a:tblGrid>
                <a:gridCol w="1412422">
                  <a:extLst>
                    <a:ext uri="{9D8B030D-6E8A-4147-A177-3AD203B41FA5}">
                      <a16:colId xmlns:a16="http://schemas.microsoft.com/office/drawing/2014/main" val="20000"/>
                    </a:ext>
                  </a:extLst>
                </a:gridCol>
                <a:gridCol w="780280">
                  <a:extLst>
                    <a:ext uri="{9D8B030D-6E8A-4147-A177-3AD203B41FA5}">
                      <a16:colId xmlns:a16="http://schemas.microsoft.com/office/drawing/2014/main" val="20001"/>
                    </a:ext>
                  </a:extLst>
                </a:gridCol>
                <a:gridCol w="4262809">
                  <a:extLst>
                    <a:ext uri="{9D8B030D-6E8A-4147-A177-3AD203B41FA5}">
                      <a16:colId xmlns:a16="http://schemas.microsoft.com/office/drawing/2014/main" val="20002"/>
                    </a:ext>
                  </a:extLst>
                </a:gridCol>
              </a:tblGrid>
              <a:tr h="288000">
                <a:tc>
                  <a:txBody>
                    <a:bodyPr/>
                    <a:lstStyle/>
                    <a:p>
                      <a:pPr algn="ctr">
                        <a:lnSpc>
                          <a:spcPct val="100000"/>
                        </a:lnSpc>
                        <a:spcBef>
                          <a:spcPts val="300"/>
                        </a:spcBef>
                        <a:tabLst>
                          <a:tab pos="686435" algn="l"/>
                        </a:tabLst>
                      </a:pPr>
                      <a:r>
                        <a:rPr sz="1400" spc="-5" dirty="0">
                          <a:latin typeface="+mn-ea"/>
                          <a:ea typeface="+mn-ea"/>
                        </a:rPr>
                        <a:t>SM0	SM1</a:t>
                      </a:r>
                      <a:endParaRPr sz="1400" b="0" spc="-5" dirty="0">
                        <a:solidFill>
                          <a:srgbClr val="FF0066"/>
                        </a:solidFill>
                        <a:latin typeface="+mn-ea"/>
                        <a:ea typeface="+mn-ea"/>
                        <a:cs typeface="Times New Roman" panose="02020603050405020304"/>
                      </a:endParaRPr>
                    </a:p>
                  </a:txBody>
                  <a:tcPr marL="0" marR="0" marT="38382" marB="0" anchor="ctr"/>
                </a:tc>
                <a:tc>
                  <a:txBody>
                    <a:bodyPr/>
                    <a:lstStyle/>
                    <a:p>
                      <a:pPr algn="ctr">
                        <a:lnSpc>
                          <a:spcPct val="100000"/>
                        </a:lnSpc>
                        <a:spcBef>
                          <a:spcPts val="320"/>
                        </a:spcBef>
                      </a:pPr>
                      <a:r>
                        <a:rPr sz="1400" spc="5" dirty="0">
                          <a:latin typeface="+mn-ea"/>
                          <a:ea typeface="+mn-ea"/>
                        </a:rPr>
                        <a:t>方式</a:t>
                      </a:r>
                      <a:endParaRPr sz="1400" b="0" spc="5" dirty="0">
                        <a:solidFill>
                          <a:srgbClr val="FF0066"/>
                        </a:solidFill>
                        <a:latin typeface="+mn-ea"/>
                        <a:ea typeface="+mn-ea"/>
                        <a:cs typeface="Microsoft JhengHei" panose="020B0604030504040204" charset="-120"/>
                      </a:endParaRPr>
                    </a:p>
                  </a:txBody>
                  <a:tcPr marL="0" marR="0" marT="40942" marB="0" anchor="ctr"/>
                </a:tc>
                <a:tc>
                  <a:txBody>
                    <a:bodyPr/>
                    <a:lstStyle/>
                    <a:p>
                      <a:pPr algn="ctr">
                        <a:lnSpc>
                          <a:spcPct val="100000"/>
                        </a:lnSpc>
                        <a:spcBef>
                          <a:spcPts val="320"/>
                        </a:spcBef>
                      </a:pPr>
                      <a:r>
                        <a:rPr sz="1400" spc="5" dirty="0">
                          <a:latin typeface="+mn-ea"/>
                          <a:ea typeface="+mn-ea"/>
                        </a:rPr>
                        <a:t>功能说明</a:t>
                      </a:r>
                      <a:endParaRPr sz="1400" b="0" spc="5" dirty="0">
                        <a:solidFill>
                          <a:srgbClr val="FF0066"/>
                        </a:solidFill>
                        <a:latin typeface="+mn-ea"/>
                        <a:ea typeface="+mn-ea"/>
                        <a:cs typeface="Microsoft JhengHei" panose="020B0604030504040204" charset="-120"/>
                      </a:endParaRPr>
                    </a:p>
                  </a:txBody>
                  <a:tcPr marL="0" marR="0" marT="40942" marB="0" anchor="ctr"/>
                </a:tc>
                <a:extLst>
                  <a:ext uri="{0D108BD9-81ED-4DB2-BD59-A6C34878D82A}">
                    <a16:rowId xmlns:a16="http://schemas.microsoft.com/office/drawing/2014/main" val="10000"/>
                  </a:ext>
                </a:extLst>
              </a:tr>
              <a:tr h="288000">
                <a:tc>
                  <a:txBody>
                    <a:bodyPr/>
                    <a:lstStyle/>
                    <a:p>
                      <a:pPr marL="635" algn="ctr">
                        <a:lnSpc>
                          <a:spcPct val="100000"/>
                        </a:lnSpc>
                        <a:spcBef>
                          <a:spcPts val="300"/>
                        </a:spcBef>
                        <a:tabLst>
                          <a:tab pos="572135" algn="l"/>
                        </a:tabLst>
                      </a:pPr>
                      <a:r>
                        <a:rPr sz="1400" dirty="0">
                          <a:latin typeface="+mn-ea"/>
                          <a:ea typeface="+mn-ea"/>
                        </a:rPr>
                        <a:t>0	0</a:t>
                      </a:r>
                      <a:endParaRPr sz="1400" b="0" dirty="0">
                        <a:latin typeface="+mn-ea"/>
                        <a:ea typeface="+mn-ea"/>
                        <a:cs typeface="Times New Roman" panose="02020603050405020304"/>
                      </a:endParaRPr>
                    </a:p>
                  </a:txBody>
                  <a:tcPr marL="0" marR="0" marT="38382" marB="0" anchor="ctr"/>
                </a:tc>
                <a:tc>
                  <a:txBody>
                    <a:bodyPr/>
                    <a:lstStyle/>
                    <a:p>
                      <a:pPr algn="ctr">
                        <a:lnSpc>
                          <a:spcPct val="100000"/>
                        </a:lnSpc>
                        <a:spcBef>
                          <a:spcPts val="300"/>
                        </a:spcBef>
                      </a:pPr>
                      <a:r>
                        <a:rPr sz="1400" dirty="0">
                          <a:latin typeface="+mn-ea"/>
                          <a:ea typeface="+mn-ea"/>
                        </a:rPr>
                        <a:t>0</a:t>
                      </a:r>
                      <a:endParaRPr sz="1400" b="0" dirty="0">
                        <a:latin typeface="+mn-ea"/>
                        <a:ea typeface="+mn-ea"/>
                        <a:cs typeface="Times New Roman" panose="02020603050405020304"/>
                      </a:endParaRPr>
                    </a:p>
                  </a:txBody>
                  <a:tcPr marL="0" marR="0" marT="38382" marB="0" anchor="ctr"/>
                </a:tc>
                <a:tc>
                  <a:txBody>
                    <a:bodyPr/>
                    <a:lstStyle/>
                    <a:p>
                      <a:pPr marL="1270" algn="ctr">
                        <a:lnSpc>
                          <a:spcPct val="100000"/>
                        </a:lnSpc>
                        <a:spcBef>
                          <a:spcPts val="320"/>
                        </a:spcBef>
                      </a:pPr>
                      <a:r>
                        <a:rPr sz="1400" dirty="0">
                          <a:latin typeface="+mn-ea"/>
                          <a:ea typeface="+mn-ea"/>
                        </a:rPr>
                        <a:t>同步移位</a:t>
                      </a:r>
                      <a:r>
                        <a:rPr sz="1400" spc="10" dirty="0">
                          <a:latin typeface="+mn-ea"/>
                          <a:ea typeface="+mn-ea"/>
                        </a:rPr>
                        <a:t>寄</a:t>
                      </a:r>
                      <a:r>
                        <a:rPr sz="1400" spc="15" dirty="0">
                          <a:latin typeface="+mn-ea"/>
                          <a:ea typeface="+mn-ea"/>
                        </a:rPr>
                        <a:t>存</a:t>
                      </a:r>
                      <a:r>
                        <a:rPr sz="1400" spc="10" dirty="0">
                          <a:latin typeface="+mn-ea"/>
                          <a:ea typeface="+mn-ea"/>
                        </a:rPr>
                        <a:t>器方式（用于扩</a:t>
                      </a:r>
                      <a:r>
                        <a:rPr sz="1400" spc="25" dirty="0">
                          <a:latin typeface="+mn-ea"/>
                          <a:ea typeface="+mn-ea"/>
                        </a:rPr>
                        <a:t>展</a:t>
                      </a:r>
                      <a:r>
                        <a:rPr sz="1400" dirty="0">
                          <a:latin typeface="+mn-ea"/>
                          <a:ea typeface="+mn-ea"/>
                        </a:rPr>
                        <a:t>I/O</a:t>
                      </a:r>
                      <a:r>
                        <a:rPr sz="1400" spc="10" dirty="0">
                          <a:latin typeface="+mn-ea"/>
                          <a:ea typeface="+mn-ea"/>
                        </a:rPr>
                        <a:t>口）</a:t>
                      </a:r>
                      <a:endParaRPr sz="1400" b="0" spc="10" dirty="0">
                        <a:solidFill>
                          <a:srgbClr val="3333CC"/>
                        </a:solidFill>
                        <a:latin typeface="+mn-ea"/>
                        <a:ea typeface="+mn-ea"/>
                        <a:cs typeface="Microsoft JhengHei" panose="020B0604030504040204" charset="-120"/>
                      </a:endParaRPr>
                    </a:p>
                  </a:txBody>
                  <a:tcPr marL="0" marR="0" marT="40942" marB="0" anchor="ctr"/>
                </a:tc>
                <a:extLst>
                  <a:ext uri="{0D108BD9-81ED-4DB2-BD59-A6C34878D82A}">
                    <a16:rowId xmlns:a16="http://schemas.microsoft.com/office/drawing/2014/main" val="10001"/>
                  </a:ext>
                </a:extLst>
              </a:tr>
              <a:tr h="288000">
                <a:tc>
                  <a:txBody>
                    <a:bodyPr/>
                    <a:lstStyle/>
                    <a:p>
                      <a:pPr marL="635" algn="ctr">
                        <a:lnSpc>
                          <a:spcPct val="100000"/>
                        </a:lnSpc>
                        <a:spcBef>
                          <a:spcPts val="300"/>
                        </a:spcBef>
                        <a:tabLst>
                          <a:tab pos="572135" algn="l"/>
                        </a:tabLst>
                      </a:pPr>
                      <a:r>
                        <a:rPr sz="1400" dirty="0">
                          <a:latin typeface="+mn-ea"/>
                          <a:ea typeface="+mn-ea"/>
                        </a:rPr>
                        <a:t>0	1</a:t>
                      </a:r>
                      <a:endParaRPr sz="1400" b="0" dirty="0">
                        <a:latin typeface="+mn-ea"/>
                        <a:ea typeface="+mn-ea"/>
                        <a:cs typeface="Times New Roman" panose="02020603050405020304"/>
                      </a:endParaRPr>
                    </a:p>
                  </a:txBody>
                  <a:tcPr marL="0" marR="0" marT="38382" marB="0" anchor="ctr"/>
                </a:tc>
                <a:tc>
                  <a:txBody>
                    <a:bodyPr/>
                    <a:lstStyle/>
                    <a:p>
                      <a:pPr algn="ctr">
                        <a:lnSpc>
                          <a:spcPct val="100000"/>
                        </a:lnSpc>
                        <a:spcBef>
                          <a:spcPts val="300"/>
                        </a:spcBef>
                      </a:pPr>
                      <a:r>
                        <a:rPr sz="1400" dirty="0">
                          <a:latin typeface="+mn-ea"/>
                          <a:ea typeface="+mn-ea"/>
                        </a:rPr>
                        <a:t>1</a:t>
                      </a:r>
                      <a:endParaRPr sz="1400" b="0" dirty="0">
                        <a:latin typeface="+mn-ea"/>
                        <a:ea typeface="+mn-ea"/>
                        <a:cs typeface="Times New Roman" panose="02020603050405020304"/>
                      </a:endParaRPr>
                    </a:p>
                  </a:txBody>
                  <a:tcPr marL="0" marR="0" marT="38382" marB="0" anchor="ctr"/>
                </a:tc>
                <a:tc>
                  <a:txBody>
                    <a:bodyPr/>
                    <a:lstStyle/>
                    <a:p>
                      <a:pPr algn="ctr">
                        <a:lnSpc>
                          <a:spcPct val="100000"/>
                        </a:lnSpc>
                        <a:spcBef>
                          <a:spcPts val="320"/>
                        </a:spcBef>
                      </a:pPr>
                      <a:r>
                        <a:rPr sz="1400" dirty="0">
                          <a:latin typeface="+mn-ea"/>
                          <a:ea typeface="+mn-ea"/>
                        </a:rPr>
                        <a:t>8位异步收</a:t>
                      </a:r>
                      <a:r>
                        <a:rPr sz="1400" spc="10" dirty="0">
                          <a:latin typeface="+mn-ea"/>
                          <a:ea typeface="+mn-ea"/>
                        </a:rPr>
                        <a:t>发</a:t>
                      </a:r>
                      <a:r>
                        <a:rPr sz="1400" spc="15" dirty="0">
                          <a:latin typeface="+mn-ea"/>
                          <a:ea typeface="+mn-ea"/>
                        </a:rPr>
                        <a:t>，</a:t>
                      </a:r>
                      <a:r>
                        <a:rPr sz="1400" spc="10" dirty="0">
                          <a:latin typeface="+mn-ea"/>
                          <a:ea typeface="+mn-ea"/>
                        </a:rPr>
                        <a:t>波特率可变（由定时器控</a:t>
                      </a:r>
                      <a:r>
                        <a:rPr sz="1400" spc="15" dirty="0">
                          <a:latin typeface="+mn-ea"/>
                          <a:ea typeface="+mn-ea"/>
                        </a:rPr>
                        <a:t>制</a:t>
                      </a:r>
                      <a:r>
                        <a:rPr sz="1400" dirty="0">
                          <a:latin typeface="+mn-ea"/>
                          <a:ea typeface="+mn-ea"/>
                        </a:rPr>
                        <a:t>）</a:t>
                      </a:r>
                      <a:endParaRPr sz="1400" b="0" dirty="0">
                        <a:solidFill>
                          <a:srgbClr val="FF0000"/>
                        </a:solidFill>
                        <a:latin typeface="+mn-ea"/>
                        <a:ea typeface="+mn-ea"/>
                        <a:cs typeface="Microsoft JhengHei" panose="020B0604030504040204" charset="-120"/>
                      </a:endParaRPr>
                    </a:p>
                  </a:txBody>
                  <a:tcPr marL="0" marR="0" marT="40942" marB="0" anchor="ctr"/>
                </a:tc>
                <a:extLst>
                  <a:ext uri="{0D108BD9-81ED-4DB2-BD59-A6C34878D82A}">
                    <a16:rowId xmlns:a16="http://schemas.microsoft.com/office/drawing/2014/main" val="10002"/>
                  </a:ext>
                </a:extLst>
              </a:tr>
              <a:tr h="288000">
                <a:tc>
                  <a:txBody>
                    <a:bodyPr/>
                    <a:lstStyle/>
                    <a:p>
                      <a:pPr marL="635" algn="ctr">
                        <a:lnSpc>
                          <a:spcPct val="100000"/>
                        </a:lnSpc>
                        <a:spcBef>
                          <a:spcPts val="300"/>
                        </a:spcBef>
                        <a:tabLst>
                          <a:tab pos="572135" algn="l"/>
                        </a:tabLst>
                      </a:pPr>
                      <a:r>
                        <a:rPr sz="1400" dirty="0">
                          <a:latin typeface="+mn-ea"/>
                          <a:ea typeface="+mn-ea"/>
                        </a:rPr>
                        <a:t>1	0</a:t>
                      </a:r>
                      <a:endParaRPr sz="1400" b="0" dirty="0">
                        <a:latin typeface="+mn-ea"/>
                        <a:ea typeface="+mn-ea"/>
                        <a:cs typeface="Times New Roman" panose="02020603050405020304"/>
                      </a:endParaRPr>
                    </a:p>
                  </a:txBody>
                  <a:tcPr marL="0" marR="0" marT="38382" marB="0" anchor="ctr"/>
                </a:tc>
                <a:tc>
                  <a:txBody>
                    <a:bodyPr/>
                    <a:lstStyle/>
                    <a:p>
                      <a:pPr algn="ctr">
                        <a:lnSpc>
                          <a:spcPct val="100000"/>
                        </a:lnSpc>
                        <a:spcBef>
                          <a:spcPts val="300"/>
                        </a:spcBef>
                      </a:pPr>
                      <a:r>
                        <a:rPr sz="1400" dirty="0">
                          <a:latin typeface="+mn-ea"/>
                          <a:ea typeface="+mn-ea"/>
                        </a:rPr>
                        <a:t>2</a:t>
                      </a:r>
                      <a:endParaRPr sz="1400" b="0" dirty="0">
                        <a:latin typeface="+mn-ea"/>
                        <a:ea typeface="+mn-ea"/>
                        <a:cs typeface="Times New Roman" panose="02020603050405020304"/>
                      </a:endParaRPr>
                    </a:p>
                  </a:txBody>
                  <a:tcPr marL="0" marR="0" marT="38382" marB="0" anchor="ctr"/>
                </a:tc>
                <a:tc>
                  <a:txBody>
                    <a:bodyPr/>
                    <a:lstStyle/>
                    <a:p>
                      <a:pPr marL="635" algn="ctr">
                        <a:lnSpc>
                          <a:spcPct val="100000"/>
                        </a:lnSpc>
                        <a:spcBef>
                          <a:spcPts val="320"/>
                        </a:spcBef>
                      </a:pPr>
                      <a:r>
                        <a:rPr sz="1400" dirty="0">
                          <a:latin typeface="+mn-ea"/>
                          <a:ea typeface="+mn-ea"/>
                        </a:rPr>
                        <a:t>9位异步收</a:t>
                      </a:r>
                      <a:r>
                        <a:rPr sz="1400" spc="10" dirty="0">
                          <a:latin typeface="+mn-ea"/>
                          <a:ea typeface="+mn-ea"/>
                        </a:rPr>
                        <a:t>发</a:t>
                      </a:r>
                      <a:r>
                        <a:rPr sz="1400" spc="15" dirty="0">
                          <a:latin typeface="+mn-ea"/>
                          <a:ea typeface="+mn-ea"/>
                        </a:rPr>
                        <a:t>，</a:t>
                      </a:r>
                      <a:r>
                        <a:rPr sz="1400" spc="10" dirty="0">
                          <a:latin typeface="+mn-ea"/>
                          <a:ea typeface="+mn-ea"/>
                        </a:rPr>
                        <a:t>波特率</a:t>
                      </a:r>
                      <a:r>
                        <a:rPr sz="1400" spc="20" dirty="0">
                          <a:latin typeface="+mn-ea"/>
                          <a:ea typeface="+mn-ea"/>
                        </a:rPr>
                        <a:t>为</a:t>
                      </a:r>
                      <a:r>
                        <a:rPr sz="1400" dirty="0">
                          <a:latin typeface="+mn-ea"/>
                          <a:ea typeface="+mn-ea"/>
                        </a:rPr>
                        <a:t>f</a:t>
                      </a:r>
                      <a:r>
                        <a:rPr sz="1200" dirty="0">
                          <a:latin typeface="+mn-ea"/>
                          <a:ea typeface="+mn-ea"/>
                        </a:rPr>
                        <a:t>osc</a:t>
                      </a:r>
                      <a:r>
                        <a:rPr sz="1400" dirty="0">
                          <a:latin typeface="+mn-ea"/>
                          <a:ea typeface="+mn-ea"/>
                        </a:rPr>
                        <a:t>/64</a:t>
                      </a:r>
                      <a:r>
                        <a:rPr sz="1400" spc="5" dirty="0">
                          <a:latin typeface="+mn-ea"/>
                          <a:ea typeface="+mn-ea"/>
                        </a:rPr>
                        <a:t>或</a:t>
                      </a:r>
                      <a:r>
                        <a:rPr sz="1400" dirty="0">
                          <a:latin typeface="+mn-ea"/>
                          <a:ea typeface="+mn-ea"/>
                        </a:rPr>
                        <a:t>f</a:t>
                      </a:r>
                      <a:r>
                        <a:rPr sz="1200" dirty="0">
                          <a:latin typeface="+mn-ea"/>
                          <a:ea typeface="+mn-ea"/>
                        </a:rPr>
                        <a:t>osc</a:t>
                      </a:r>
                      <a:r>
                        <a:rPr sz="1400" dirty="0">
                          <a:latin typeface="+mn-ea"/>
                          <a:ea typeface="+mn-ea"/>
                        </a:rPr>
                        <a:t>/32</a:t>
                      </a:r>
                      <a:endParaRPr sz="1400" b="0" i="1" dirty="0">
                        <a:latin typeface="+mn-ea"/>
                        <a:ea typeface="+mn-ea"/>
                        <a:cs typeface="Times New Roman" panose="02020603050405020304"/>
                      </a:endParaRPr>
                    </a:p>
                  </a:txBody>
                  <a:tcPr marL="0" marR="0" marT="40942" marB="0" anchor="ctr"/>
                </a:tc>
                <a:extLst>
                  <a:ext uri="{0D108BD9-81ED-4DB2-BD59-A6C34878D82A}">
                    <a16:rowId xmlns:a16="http://schemas.microsoft.com/office/drawing/2014/main" val="10003"/>
                  </a:ext>
                </a:extLst>
              </a:tr>
              <a:tr h="288000">
                <a:tc>
                  <a:txBody>
                    <a:bodyPr/>
                    <a:lstStyle/>
                    <a:p>
                      <a:pPr algn="ctr">
                        <a:lnSpc>
                          <a:spcPct val="100000"/>
                        </a:lnSpc>
                        <a:spcBef>
                          <a:spcPts val="305"/>
                        </a:spcBef>
                        <a:tabLst>
                          <a:tab pos="628015" algn="l"/>
                        </a:tabLst>
                      </a:pPr>
                      <a:r>
                        <a:rPr sz="1400" dirty="0">
                          <a:latin typeface="+mn-ea"/>
                          <a:ea typeface="+mn-ea"/>
                        </a:rPr>
                        <a:t>1	1</a:t>
                      </a:r>
                      <a:endParaRPr sz="1400" b="0" dirty="0">
                        <a:latin typeface="+mn-ea"/>
                        <a:ea typeface="+mn-ea"/>
                        <a:cs typeface="Times New Roman" panose="02020603050405020304"/>
                      </a:endParaRPr>
                    </a:p>
                  </a:txBody>
                  <a:tcPr marL="0" marR="0" marT="39022" marB="0" anchor="ctr"/>
                </a:tc>
                <a:tc>
                  <a:txBody>
                    <a:bodyPr/>
                    <a:lstStyle/>
                    <a:p>
                      <a:pPr algn="ctr">
                        <a:lnSpc>
                          <a:spcPct val="100000"/>
                        </a:lnSpc>
                        <a:spcBef>
                          <a:spcPts val="305"/>
                        </a:spcBef>
                      </a:pPr>
                      <a:r>
                        <a:rPr sz="1400" dirty="0">
                          <a:latin typeface="+mn-ea"/>
                          <a:ea typeface="+mn-ea"/>
                        </a:rPr>
                        <a:t>3</a:t>
                      </a:r>
                      <a:endParaRPr sz="1400" b="0" dirty="0">
                        <a:latin typeface="+mn-ea"/>
                        <a:ea typeface="+mn-ea"/>
                        <a:cs typeface="Times New Roman" panose="02020603050405020304"/>
                      </a:endParaRPr>
                    </a:p>
                  </a:txBody>
                  <a:tcPr marL="0" marR="0" marT="39022" marB="0" anchor="ctr"/>
                </a:tc>
                <a:tc>
                  <a:txBody>
                    <a:bodyPr/>
                    <a:lstStyle/>
                    <a:p>
                      <a:pPr algn="ctr">
                        <a:lnSpc>
                          <a:spcPct val="100000"/>
                        </a:lnSpc>
                        <a:spcBef>
                          <a:spcPts val="320"/>
                        </a:spcBef>
                      </a:pPr>
                      <a:r>
                        <a:rPr sz="1400" dirty="0">
                          <a:latin typeface="+mn-ea"/>
                          <a:ea typeface="+mn-ea"/>
                        </a:rPr>
                        <a:t>9位异步收</a:t>
                      </a:r>
                      <a:r>
                        <a:rPr sz="1400" spc="10" dirty="0">
                          <a:latin typeface="+mn-ea"/>
                          <a:ea typeface="+mn-ea"/>
                        </a:rPr>
                        <a:t>发</a:t>
                      </a:r>
                      <a:r>
                        <a:rPr sz="1400" spc="15" dirty="0">
                          <a:latin typeface="+mn-ea"/>
                          <a:ea typeface="+mn-ea"/>
                        </a:rPr>
                        <a:t>，</a:t>
                      </a:r>
                      <a:r>
                        <a:rPr sz="1400" spc="10" dirty="0">
                          <a:latin typeface="+mn-ea"/>
                          <a:ea typeface="+mn-ea"/>
                        </a:rPr>
                        <a:t>波特率可变（由定时器控</a:t>
                      </a:r>
                      <a:r>
                        <a:rPr sz="1400" spc="15" dirty="0">
                          <a:latin typeface="+mn-ea"/>
                          <a:ea typeface="+mn-ea"/>
                        </a:rPr>
                        <a:t>制</a:t>
                      </a:r>
                      <a:r>
                        <a:rPr sz="1400" dirty="0">
                          <a:latin typeface="+mn-ea"/>
                          <a:ea typeface="+mn-ea"/>
                        </a:rPr>
                        <a:t>）</a:t>
                      </a:r>
                      <a:endParaRPr sz="1400" b="0" dirty="0">
                        <a:latin typeface="+mn-ea"/>
                        <a:ea typeface="+mn-ea"/>
                        <a:cs typeface="Microsoft JhengHei" panose="020B0604030504040204" charset="-120"/>
                      </a:endParaRPr>
                    </a:p>
                  </a:txBody>
                  <a:tcPr marL="0" marR="0" marT="40942" marB="0" anchor="ctr"/>
                </a:tc>
                <a:extLst>
                  <a:ext uri="{0D108BD9-81ED-4DB2-BD59-A6C34878D82A}">
                    <a16:rowId xmlns:a16="http://schemas.microsoft.com/office/drawing/2014/main" val="10004"/>
                  </a:ext>
                </a:extLst>
              </a:tr>
            </a:tbl>
          </a:graphicData>
        </a:graphic>
      </p:graphicFrame>
      <p:graphicFrame>
        <p:nvGraphicFramePr>
          <p:cNvPr id="17" name="object 4"/>
          <p:cNvGraphicFramePr>
            <a:graphicFrameLocks noGrp="1"/>
          </p:cNvGraphicFramePr>
          <p:nvPr>
            <p:custDataLst>
              <p:tags r:id="rId2"/>
            </p:custDataLst>
            <p:extLst>
              <p:ext uri="{D42A27DB-BD31-4B8C-83A1-F6EECF244321}">
                <p14:modId xmlns:p14="http://schemas.microsoft.com/office/powerpoint/2010/main" val="2929153152"/>
              </p:ext>
            </p:extLst>
          </p:nvPr>
        </p:nvGraphicFramePr>
        <p:xfrm>
          <a:off x="3657600" y="879846"/>
          <a:ext cx="5076000" cy="1080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gridCol w="540000">
                  <a:extLst>
                    <a:ext uri="{9D8B030D-6E8A-4147-A177-3AD203B41FA5}">
                      <a16:colId xmlns:a16="http://schemas.microsoft.com/office/drawing/2014/main" val="20006"/>
                    </a:ext>
                  </a:extLst>
                </a:gridCol>
                <a:gridCol w="540000">
                  <a:extLst>
                    <a:ext uri="{9D8B030D-6E8A-4147-A177-3AD203B41FA5}">
                      <a16:colId xmlns:a16="http://schemas.microsoft.com/office/drawing/2014/main" val="20007"/>
                    </a:ext>
                  </a:extLst>
                </a:gridCol>
                <a:gridCol w="540000">
                  <a:extLst>
                    <a:ext uri="{9D8B030D-6E8A-4147-A177-3AD203B41FA5}">
                      <a16:colId xmlns:a16="http://schemas.microsoft.com/office/drawing/2014/main" val="20008"/>
                    </a:ext>
                  </a:extLst>
                </a:gridCol>
              </a:tblGrid>
              <a:tr h="360000">
                <a:tc rowSpan="2">
                  <a:txBody>
                    <a:bodyPr/>
                    <a:lstStyle/>
                    <a:p>
                      <a:pPr>
                        <a:lnSpc>
                          <a:spcPct val="100000"/>
                        </a:lnSpc>
                        <a:spcBef>
                          <a:spcPts val="45"/>
                        </a:spcBef>
                      </a:pPr>
                      <a:endParaRPr sz="2000" dirty="0">
                        <a:latin typeface="Times New Roman" panose="02020603050405020304"/>
                        <a:cs typeface="Times New Roman" panose="02020603050405020304"/>
                      </a:endParaRPr>
                    </a:p>
                    <a:p>
                      <a:pPr marL="162560">
                        <a:lnSpc>
                          <a:spcPct val="100000"/>
                        </a:lnSpc>
                      </a:pPr>
                      <a:r>
                        <a:rPr sz="1600" spc="-5" dirty="0">
                          <a:latin typeface="Times New Roman" panose="02020603050405020304"/>
                          <a:cs typeface="Times New Roman" panose="02020603050405020304"/>
                        </a:rPr>
                        <a:t>SCON</a:t>
                      </a:r>
                    </a:p>
                  </a:txBody>
                  <a:tcPr marL="0" marR="0" marT="571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D7</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D6</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D5</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D4</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D3</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D2</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D1</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300"/>
                        </a:spcBef>
                      </a:pPr>
                      <a:r>
                        <a:rPr sz="1600" spc="-5" dirty="0">
                          <a:latin typeface="Times New Roman" panose="02020603050405020304"/>
                          <a:cs typeface="Times New Roman" panose="02020603050405020304"/>
                        </a:rPr>
                        <a:t>D0</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0"/>
                  </a:ext>
                </a:extLst>
              </a:tr>
              <a:tr h="360000">
                <a:tc vMerge="1">
                  <a:txBody>
                    <a:bodyPr/>
                    <a:lstStyle/>
                    <a:p>
                      <a:endParaRPr lang="zh-CN"/>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SM0</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SM1</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SM2</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REN</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dirty="0">
                          <a:latin typeface="Times New Roman" panose="02020603050405020304"/>
                          <a:cs typeface="Times New Roman" panose="02020603050405020304"/>
                        </a:rPr>
                        <a:t>TB8</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RB8</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TI</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RI</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1"/>
                  </a:ext>
                </a:extLst>
              </a:tr>
              <a:tr h="360000">
                <a:tc>
                  <a:txBody>
                    <a:bodyPr/>
                    <a:lstStyle/>
                    <a:p>
                      <a:pPr marL="125730">
                        <a:lnSpc>
                          <a:spcPct val="100000"/>
                        </a:lnSpc>
                        <a:spcBef>
                          <a:spcPts val="320"/>
                        </a:spcBef>
                      </a:pPr>
                      <a:r>
                        <a:rPr sz="1600" dirty="0">
                          <a:latin typeface="宋体" panose="02010600030101010101" pitchFamily="2" charset="-122"/>
                          <a:cs typeface="宋体" panose="02010600030101010101" pitchFamily="2" charset="-122"/>
                        </a:rPr>
                        <a:t>位地址</a:t>
                      </a: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9FH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9EH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9DH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9CH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9BH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9AH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600" spc="-5" dirty="0">
                          <a:latin typeface="Times New Roman" panose="02020603050405020304"/>
                          <a:cs typeface="Times New Roman" panose="02020603050405020304"/>
                        </a:rPr>
                        <a:t>99H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600" spc="-5" dirty="0">
                          <a:latin typeface="Times New Roman" panose="02020603050405020304"/>
                          <a:cs typeface="Times New Roman" panose="02020603050405020304"/>
                        </a:rPr>
                        <a:t>98H</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31199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16</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2858026"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电源控制寄存器</a:t>
            </a:r>
            <a:r>
              <a:rPr lang="en-US" altLang="zh-CN" dirty="0">
                <a:solidFill>
                  <a:srgbClr val="FF0000"/>
                </a:solidFill>
              </a:rPr>
              <a:t>PCON</a:t>
            </a:r>
            <a:endParaRPr lang="zh-CN" altLang="en-US" dirty="0">
              <a:solidFill>
                <a:srgbClr val="FF0000"/>
              </a:solidFill>
            </a:endParaRPr>
          </a:p>
        </p:txBody>
      </p:sp>
      <p:graphicFrame>
        <p:nvGraphicFramePr>
          <p:cNvPr id="10" name="object 4"/>
          <p:cNvGraphicFramePr>
            <a:graphicFrameLocks noGrp="1"/>
          </p:cNvGraphicFramePr>
          <p:nvPr>
            <p:custDataLst>
              <p:tags r:id="rId1"/>
            </p:custDataLst>
            <p:extLst>
              <p:ext uri="{D42A27DB-BD31-4B8C-83A1-F6EECF244321}">
                <p14:modId xmlns:p14="http://schemas.microsoft.com/office/powerpoint/2010/main" val="864179958"/>
              </p:ext>
            </p:extLst>
          </p:nvPr>
        </p:nvGraphicFramePr>
        <p:xfrm>
          <a:off x="688089" y="2332410"/>
          <a:ext cx="8100000" cy="785748"/>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900000">
                  <a:extLst>
                    <a:ext uri="{9D8B030D-6E8A-4147-A177-3AD203B41FA5}">
                      <a16:colId xmlns:a16="http://schemas.microsoft.com/office/drawing/2014/main" val="20008"/>
                    </a:ext>
                  </a:extLst>
                </a:gridCol>
              </a:tblGrid>
              <a:tr h="365760">
                <a:tc rowSpan="2">
                  <a:txBody>
                    <a:bodyPr/>
                    <a:lstStyle/>
                    <a:p>
                      <a:pPr marL="162560" algn="ctr">
                        <a:lnSpc>
                          <a:spcPct val="100000"/>
                        </a:lnSpc>
                      </a:pPr>
                      <a:r>
                        <a:rPr sz="1800" spc="-5" dirty="0">
                          <a:latin typeface="Times New Roman" panose="02020603050405020304"/>
                          <a:cs typeface="Times New Roman" panose="02020603050405020304"/>
                        </a:rPr>
                        <a:t>PCON</a:t>
                      </a:r>
                      <a:endParaRPr lang="en-US" sz="1800" spc="-5" dirty="0">
                        <a:latin typeface="Times New Roman" panose="02020603050405020304"/>
                        <a:cs typeface="Times New Roman" panose="02020603050405020304"/>
                      </a:endParaRPr>
                    </a:p>
                    <a:p>
                      <a:pPr marL="162560" algn="ctr">
                        <a:lnSpc>
                          <a:spcPct val="100000"/>
                        </a:lnSpc>
                      </a:pPr>
                      <a:r>
                        <a:rPr lang="zh-CN" altLang="en-US" sz="1800" spc="-5" dirty="0">
                          <a:latin typeface="Times New Roman" panose="02020603050405020304"/>
                          <a:cs typeface="Times New Roman" panose="02020603050405020304"/>
                        </a:rPr>
                        <a:t>（</a:t>
                      </a:r>
                      <a:r>
                        <a:rPr lang="en-US" altLang="zh-CN" sz="1800" spc="-5" dirty="0">
                          <a:latin typeface="Times New Roman" panose="02020603050405020304"/>
                          <a:cs typeface="Times New Roman" panose="02020603050405020304"/>
                        </a:rPr>
                        <a:t>87H</a:t>
                      </a:r>
                      <a:r>
                        <a:rPr lang="zh-CN" altLang="en-US" sz="1800" spc="-5" dirty="0">
                          <a:latin typeface="Times New Roman" panose="02020603050405020304"/>
                          <a:cs typeface="Times New Roman" panose="02020603050405020304"/>
                        </a:rPr>
                        <a:t>）</a:t>
                      </a:r>
                      <a:endParaRPr sz="1800" dirty="0">
                        <a:latin typeface="Times New Roman" panose="02020603050405020304"/>
                        <a:cs typeface="Times New Roman" panose="02020603050405020304"/>
                      </a:endParaRPr>
                    </a:p>
                  </a:txBody>
                  <a:tcPr marL="0" marR="0" marT="571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D7</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308610" algn="ctr">
                        <a:lnSpc>
                          <a:spcPct val="100000"/>
                        </a:lnSpc>
                        <a:spcBef>
                          <a:spcPts val="300"/>
                        </a:spcBef>
                      </a:pPr>
                      <a:r>
                        <a:rPr sz="1800" spc="-5" dirty="0">
                          <a:latin typeface="Times New Roman" panose="02020603050405020304"/>
                          <a:cs typeface="Times New Roman" panose="02020603050405020304"/>
                        </a:rPr>
                        <a:t>D6</a:t>
                      </a:r>
                      <a:endParaRPr sz="1800" dirty="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D5</a:t>
                      </a:r>
                      <a:endParaRPr sz="1800" dirty="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R="300355" algn="ctr">
                        <a:lnSpc>
                          <a:spcPct val="100000"/>
                        </a:lnSpc>
                        <a:spcBef>
                          <a:spcPts val="300"/>
                        </a:spcBef>
                      </a:pPr>
                      <a:r>
                        <a:rPr sz="1800" dirty="0">
                          <a:latin typeface="Times New Roman" panose="02020603050405020304"/>
                          <a:cs typeface="Times New Roman" panose="02020603050405020304"/>
                        </a:rPr>
                        <a:t>D4</a:t>
                      </a: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800" spc="-5" dirty="0">
                          <a:latin typeface="Times New Roman" panose="02020603050405020304"/>
                          <a:cs typeface="Times New Roman" panose="02020603050405020304"/>
                        </a:rPr>
                        <a:t>D3</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800" spc="-5" dirty="0">
                          <a:latin typeface="Times New Roman" panose="02020603050405020304"/>
                          <a:cs typeface="Times New Roman" panose="02020603050405020304"/>
                        </a:rPr>
                        <a:t>D2</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1800" spc="-5" dirty="0">
                          <a:latin typeface="Times New Roman" panose="02020603050405020304"/>
                          <a:cs typeface="Times New Roman" panose="02020603050405020304"/>
                        </a:rPr>
                        <a:t>D1</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300"/>
                        </a:spcBef>
                      </a:pPr>
                      <a:r>
                        <a:rPr sz="1800" spc="-5" dirty="0">
                          <a:latin typeface="Times New Roman" panose="02020603050405020304"/>
                          <a:cs typeface="Times New Roman" panose="02020603050405020304"/>
                        </a:rPr>
                        <a:t>D0</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0"/>
                  </a:ext>
                </a:extLst>
              </a:tr>
              <a:tr h="419988">
                <a:tc vMerge="1">
                  <a:txBody>
                    <a:bodyPr/>
                    <a:lstStyle/>
                    <a:p>
                      <a:endParaRPr lang="zh-CN"/>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solidFill>
                            <a:srgbClr val="FF0000"/>
                          </a:solidFill>
                          <a:latin typeface="Times New Roman" panose="02020603050405020304"/>
                          <a:cs typeface="Times New Roman" panose="02020603050405020304"/>
                        </a:rPr>
                        <a:t>SMOD</a:t>
                      </a:r>
                      <a:endParaRPr sz="1800" dirty="0">
                        <a:solidFill>
                          <a:srgbClr val="FF0000"/>
                        </a:solidFill>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333375" algn="ctr">
                        <a:lnSpc>
                          <a:spcPct val="100000"/>
                        </a:lnSpc>
                        <a:spcBef>
                          <a:spcPts val="415"/>
                        </a:spcBef>
                      </a:pPr>
                      <a:r>
                        <a:rPr sz="1800" dirty="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a:txBody>
                  <a:tcPr marL="0" marR="0" marT="52704"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415"/>
                        </a:spcBef>
                      </a:pPr>
                      <a:r>
                        <a:rPr sz="1800" dirty="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a:txBody>
                  <a:tcPr marL="0" marR="0" marT="52704"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R="326390" algn="ctr">
                        <a:lnSpc>
                          <a:spcPct val="100000"/>
                        </a:lnSpc>
                        <a:spcBef>
                          <a:spcPts val="415"/>
                        </a:spcBef>
                      </a:pPr>
                      <a:r>
                        <a:rPr sz="1800" dirty="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a:txBody>
                  <a:tcPr marL="0" marR="0" marT="52704"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GF1</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GF0</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PD</a:t>
                      </a:r>
                      <a:endParaRPr sz="180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1800" spc="-5" dirty="0">
                          <a:latin typeface="Times New Roman" panose="02020603050405020304"/>
                          <a:cs typeface="Times New Roman" panose="02020603050405020304"/>
                        </a:rPr>
                        <a:t>IDL</a:t>
                      </a:r>
                      <a:endParaRPr sz="1800" dirty="0">
                        <a:latin typeface="Times New Roman" panose="02020603050405020304"/>
                        <a:cs typeface="Times New Roman" panose="02020603050405020304"/>
                      </a:endParaRPr>
                    </a:p>
                  </a:txBody>
                  <a:tcPr marL="0" marR="0" marT="3810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1"/>
                  </a:ext>
                </a:extLst>
              </a:tr>
            </a:tbl>
          </a:graphicData>
        </a:graphic>
      </p:graphicFrame>
      <p:sp>
        <p:nvSpPr>
          <p:cNvPr id="12" name="object 5"/>
          <p:cNvSpPr txBox="1">
            <a:spLocks/>
          </p:cNvSpPr>
          <p:nvPr/>
        </p:nvSpPr>
        <p:spPr>
          <a:xfrm>
            <a:off x="678564" y="3546325"/>
            <a:ext cx="7922132" cy="1213153"/>
          </a:xfrm>
          <a:prstGeom prst="rect">
            <a:avLst/>
          </a:prstGeom>
        </p:spPr>
        <p:txBody>
          <a:bodyPr vert="horz" wrap="square" lIns="0" tIns="1651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300"/>
              </a:spcBef>
            </a:pPr>
            <a:r>
              <a:rPr lang="zh-CN" altLang="en-US" sz="1600" kern="0" dirty="0">
                <a:solidFill>
                  <a:sysClr val="windowText" lastClr="000000"/>
                </a:solidFill>
                <a:latin typeface="+mn-ea"/>
              </a:rPr>
              <a:t>仅最高</a:t>
            </a:r>
            <a:r>
              <a:rPr lang="zh-CN" altLang="en-US" sz="1600" kern="0" spc="5" dirty="0">
                <a:solidFill>
                  <a:sysClr val="windowText" lastClr="000000"/>
                </a:solidFill>
                <a:latin typeface="+mn-ea"/>
              </a:rPr>
              <a:t>位</a:t>
            </a:r>
            <a:r>
              <a:rPr lang="en-US" altLang="zh-CN" sz="1600" kern="0" spc="-5" dirty="0">
                <a:solidFill>
                  <a:srgbClr val="FF3300"/>
                </a:solidFill>
                <a:latin typeface="+mn-ea"/>
                <a:cs typeface="Times New Roman" panose="02020603050405020304"/>
              </a:rPr>
              <a:t>SMOD</a:t>
            </a:r>
            <a:r>
              <a:rPr lang="zh-CN" altLang="en-US" sz="1600" kern="0" spc="10" dirty="0">
                <a:solidFill>
                  <a:sysClr val="windowText" lastClr="000000"/>
                </a:solidFill>
                <a:latin typeface="+mn-ea"/>
              </a:rPr>
              <a:t>与</a:t>
            </a:r>
            <a:r>
              <a:rPr lang="zh-CN" altLang="en-US" sz="1600" kern="0" spc="5" dirty="0">
                <a:solidFill>
                  <a:sysClr val="windowText" lastClr="000000"/>
                </a:solidFill>
                <a:latin typeface="+mn-ea"/>
              </a:rPr>
              <a:t>串</a:t>
            </a:r>
            <a:r>
              <a:rPr lang="zh-CN" altLang="en-US" sz="1600" kern="0" spc="10" dirty="0">
                <a:solidFill>
                  <a:sysClr val="windowText" lastClr="000000"/>
                </a:solidFill>
                <a:latin typeface="+mn-ea"/>
              </a:rPr>
              <a:t>口</a:t>
            </a:r>
            <a:r>
              <a:rPr lang="zh-CN" altLang="en-US" sz="1600" kern="0" spc="5" dirty="0">
                <a:solidFill>
                  <a:sysClr val="windowText" lastClr="000000"/>
                </a:solidFill>
                <a:latin typeface="+mn-ea"/>
              </a:rPr>
              <a:t>有关</a:t>
            </a:r>
            <a:r>
              <a:rPr lang="zh-CN" altLang="en-US" sz="1600" kern="0" spc="-5" dirty="0">
                <a:solidFill>
                  <a:sysClr val="windowText" lastClr="000000"/>
                </a:solidFill>
                <a:latin typeface="+mn-ea"/>
              </a:rPr>
              <a:t>。</a:t>
            </a:r>
          </a:p>
          <a:p>
            <a:pPr marL="75565">
              <a:spcBef>
                <a:spcPts val="1205"/>
              </a:spcBef>
            </a:pPr>
            <a:r>
              <a:rPr lang="en-US" altLang="zh-CN" sz="1600" kern="0" spc="-5" dirty="0">
                <a:solidFill>
                  <a:srgbClr val="FF3300"/>
                </a:solidFill>
                <a:latin typeface="+mn-ea"/>
                <a:cs typeface="Times New Roman" panose="02020603050405020304"/>
              </a:rPr>
              <a:t>SMOD</a:t>
            </a:r>
            <a:r>
              <a:rPr lang="zh-CN" altLang="en-US" sz="1600" kern="0" spc="-5" dirty="0">
                <a:solidFill>
                  <a:srgbClr val="FF3300"/>
                </a:solidFill>
                <a:latin typeface="+mn-ea"/>
                <a:cs typeface="Times New Roman" panose="02020603050405020304"/>
              </a:rPr>
              <a:t>（</a:t>
            </a:r>
            <a:r>
              <a:rPr lang="en-US" altLang="zh-CN" sz="1600" kern="0" spc="-5" dirty="0">
                <a:solidFill>
                  <a:srgbClr val="FF3300"/>
                </a:solidFill>
                <a:latin typeface="+mn-ea"/>
                <a:cs typeface="Times New Roman" panose="02020603050405020304"/>
              </a:rPr>
              <a:t>PCON.7</a:t>
            </a:r>
            <a:r>
              <a:rPr lang="zh-CN" altLang="en-US" sz="1600" kern="0" spc="-5" dirty="0">
                <a:solidFill>
                  <a:srgbClr val="FF3300"/>
                </a:solidFill>
                <a:latin typeface="+mn-ea"/>
                <a:cs typeface="Times New Roman" panose="02020603050405020304"/>
              </a:rPr>
              <a:t>）</a:t>
            </a:r>
            <a:r>
              <a:rPr lang="zh-CN" altLang="en-US" sz="1600" kern="0" spc="-5" dirty="0">
                <a:solidFill>
                  <a:srgbClr val="FF3300"/>
                </a:solidFill>
                <a:latin typeface="+mn-ea"/>
              </a:rPr>
              <a:t>：</a:t>
            </a:r>
            <a:r>
              <a:rPr lang="zh-CN" altLang="en-US" sz="1600" kern="0" spc="5" dirty="0">
                <a:solidFill>
                  <a:sysClr val="windowText" lastClr="000000"/>
                </a:solidFill>
                <a:latin typeface="+mn-ea"/>
              </a:rPr>
              <a:t>波特</a:t>
            </a:r>
            <a:r>
              <a:rPr lang="zh-CN" altLang="en-US" sz="1600" kern="0" spc="10" dirty="0">
                <a:solidFill>
                  <a:sysClr val="windowText" lastClr="000000"/>
                </a:solidFill>
                <a:latin typeface="+mn-ea"/>
              </a:rPr>
              <a:t>率</a:t>
            </a:r>
            <a:r>
              <a:rPr lang="zh-CN" altLang="en-US" sz="1600" kern="0" spc="5" dirty="0">
                <a:solidFill>
                  <a:sysClr val="windowText" lastClr="000000"/>
                </a:solidFill>
                <a:latin typeface="+mn-ea"/>
              </a:rPr>
              <a:t>倍增位</a:t>
            </a:r>
            <a:r>
              <a:rPr lang="zh-CN" altLang="en-US" sz="1600" kern="0" spc="-5" dirty="0">
                <a:solidFill>
                  <a:sysClr val="windowText" lastClr="000000"/>
                </a:solidFill>
                <a:latin typeface="+mn-ea"/>
              </a:rPr>
              <a:t>。</a:t>
            </a:r>
            <a:endParaRPr lang="en-US" altLang="zh-CN" sz="1600" kern="0" spc="-5" dirty="0">
              <a:solidFill>
                <a:sysClr val="windowText" lastClr="000000"/>
              </a:solidFill>
              <a:latin typeface="+mn-ea"/>
            </a:endParaRPr>
          </a:p>
          <a:p>
            <a:pPr marL="75565">
              <a:spcBef>
                <a:spcPts val="1205"/>
              </a:spcBef>
            </a:pPr>
            <a:r>
              <a:rPr lang="en-US" altLang="zh-CN" sz="1600" kern="0" spc="-5" dirty="0">
                <a:solidFill>
                  <a:sysClr val="windowText" lastClr="000000"/>
                </a:solidFill>
                <a:latin typeface="+mn-ea"/>
              </a:rPr>
              <a:t>    </a:t>
            </a:r>
            <a:r>
              <a:rPr lang="zh-CN" altLang="en-US" sz="1600" kern="0" spc="-5" dirty="0">
                <a:solidFill>
                  <a:sysClr val="windowText" lastClr="000000"/>
                </a:solidFill>
                <a:latin typeface="+mn-ea"/>
              </a:rPr>
              <a:t>在串行口方式</a:t>
            </a:r>
            <a:r>
              <a:rPr lang="en-US" altLang="zh-CN" sz="1600" kern="0" spc="-5" dirty="0">
                <a:solidFill>
                  <a:sysClr val="windowText" lastClr="000000"/>
                </a:solidFill>
                <a:latin typeface="+mn-ea"/>
              </a:rPr>
              <a:t>1</a:t>
            </a:r>
            <a:r>
              <a:rPr lang="zh-CN" altLang="en-US" sz="1600" kern="0" spc="-5" dirty="0">
                <a:solidFill>
                  <a:sysClr val="windowText" lastClr="000000"/>
                </a:solidFill>
                <a:latin typeface="+mn-ea"/>
              </a:rPr>
              <a:t>、方式</a:t>
            </a:r>
            <a:r>
              <a:rPr lang="en-US" altLang="zh-CN" sz="1600" kern="0" spc="-5" dirty="0">
                <a:solidFill>
                  <a:sysClr val="windowText" lastClr="000000"/>
                </a:solidFill>
                <a:latin typeface="+mn-ea"/>
              </a:rPr>
              <a:t>2</a:t>
            </a:r>
            <a:r>
              <a:rPr lang="zh-CN" altLang="en-US" sz="1600" kern="0" spc="-5" dirty="0">
                <a:solidFill>
                  <a:sysClr val="windowText" lastClr="000000"/>
                </a:solidFill>
                <a:latin typeface="+mn-ea"/>
              </a:rPr>
              <a:t>、方式</a:t>
            </a:r>
            <a:r>
              <a:rPr lang="en-US" altLang="zh-CN" sz="1600" kern="0" spc="-5" dirty="0">
                <a:solidFill>
                  <a:sysClr val="windowText" lastClr="000000"/>
                </a:solidFill>
                <a:latin typeface="+mn-ea"/>
              </a:rPr>
              <a:t>3</a:t>
            </a:r>
            <a:r>
              <a:rPr lang="zh-CN" altLang="en-US" sz="1600" kern="0" spc="-5" dirty="0">
                <a:solidFill>
                  <a:sysClr val="windowText" lastClr="000000"/>
                </a:solidFill>
                <a:latin typeface="+mn-ea"/>
              </a:rPr>
              <a:t>时，若</a:t>
            </a:r>
            <a:r>
              <a:rPr lang="en-US" altLang="zh-CN" sz="1600" kern="0" spc="-5" dirty="0">
                <a:solidFill>
                  <a:sysClr val="windowText" lastClr="000000"/>
                </a:solidFill>
                <a:latin typeface="+mn-ea"/>
              </a:rPr>
              <a:t>SMOD=1</a:t>
            </a:r>
            <a:r>
              <a:rPr lang="zh-CN" altLang="en-US" sz="1600" kern="0" spc="-5" dirty="0">
                <a:solidFill>
                  <a:sysClr val="windowText" lastClr="000000"/>
                </a:solidFill>
                <a:latin typeface="+mn-ea"/>
              </a:rPr>
              <a:t>，波特率提高一倍。复位时，</a:t>
            </a:r>
            <a:r>
              <a:rPr lang="en-US" altLang="zh-CN" sz="1600" kern="0" spc="-5" dirty="0">
                <a:solidFill>
                  <a:sysClr val="windowText" lastClr="000000"/>
                </a:solidFill>
                <a:latin typeface="+mn-ea"/>
              </a:rPr>
              <a:t>SMOD=0</a:t>
            </a:r>
            <a:endParaRPr lang="zh-CN" altLang="en-US" sz="1600" kern="0" spc="-5" dirty="0">
              <a:solidFill>
                <a:sysClr val="windowText" lastClr="000000"/>
              </a:solidFill>
              <a:latin typeface="+mn-ea"/>
            </a:endParaRPr>
          </a:p>
        </p:txBody>
      </p:sp>
    </p:spTree>
    <p:extLst>
      <p:ext uri="{BB962C8B-B14F-4D97-AF65-F5344CB8AC3E}">
        <p14:creationId xmlns:p14="http://schemas.microsoft.com/office/powerpoint/2010/main" val="2541999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17</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2547492"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3. </a:t>
            </a:r>
            <a:r>
              <a:rPr lang="zh-CN" altLang="en-US" dirty="0">
                <a:solidFill>
                  <a:srgbClr val="FF0000"/>
                </a:solidFill>
              </a:rPr>
              <a:t>串行通信工作方式</a:t>
            </a:r>
          </a:p>
        </p:txBody>
      </p:sp>
      <p:sp>
        <p:nvSpPr>
          <p:cNvPr id="8" name="矩形 7"/>
          <p:cNvSpPr/>
          <p:nvPr/>
        </p:nvSpPr>
        <p:spPr>
          <a:xfrm>
            <a:off x="533400" y="2234267"/>
            <a:ext cx="8403262" cy="369332"/>
          </a:xfrm>
          <a:prstGeom prst="rect">
            <a:avLst/>
          </a:prstGeom>
        </p:spPr>
        <p:txBody>
          <a:bodyPr wrap="none">
            <a:spAutoFit/>
          </a:bodyPr>
          <a:lstStyle/>
          <a:p>
            <a:r>
              <a:rPr lang="zh-CN" altLang="en-US" dirty="0">
                <a:latin typeface="+mn-ea"/>
              </a:rPr>
              <a:t>根据实际需要，</a:t>
            </a:r>
            <a:r>
              <a:rPr lang="en-US" altLang="zh-CN" dirty="0">
                <a:latin typeface="+mn-ea"/>
              </a:rPr>
              <a:t>89C51</a:t>
            </a:r>
            <a:r>
              <a:rPr lang="zh-CN" altLang="en-US" dirty="0">
                <a:latin typeface="+mn-ea"/>
              </a:rPr>
              <a:t>串行口可以设置</a:t>
            </a:r>
            <a:r>
              <a:rPr lang="en-US" altLang="zh-CN" dirty="0">
                <a:latin typeface="+mn-ea"/>
              </a:rPr>
              <a:t>4</a:t>
            </a:r>
            <a:r>
              <a:rPr lang="zh-CN" altLang="en-US" dirty="0">
                <a:latin typeface="+mn-ea"/>
              </a:rPr>
              <a:t>中工作方式，可有</a:t>
            </a:r>
            <a:r>
              <a:rPr lang="en-US" altLang="zh-CN" dirty="0">
                <a:latin typeface="+mn-ea"/>
              </a:rPr>
              <a:t>8</a:t>
            </a:r>
            <a:r>
              <a:rPr lang="zh-CN" altLang="en-US" dirty="0">
                <a:latin typeface="+mn-ea"/>
              </a:rPr>
              <a:t>位、</a:t>
            </a:r>
            <a:r>
              <a:rPr lang="en-US" altLang="zh-CN" dirty="0">
                <a:latin typeface="+mn-ea"/>
              </a:rPr>
              <a:t>10</a:t>
            </a:r>
            <a:r>
              <a:rPr lang="zh-CN" altLang="en-US" dirty="0">
                <a:latin typeface="+mn-ea"/>
              </a:rPr>
              <a:t>位或</a:t>
            </a:r>
            <a:r>
              <a:rPr lang="en-US" altLang="zh-CN" dirty="0">
                <a:latin typeface="+mn-ea"/>
              </a:rPr>
              <a:t>11</a:t>
            </a:r>
            <a:r>
              <a:rPr lang="zh-CN" altLang="en-US" dirty="0">
                <a:latin typeface="+mn-ea"/>
              </a:rPr>
              <a:t>位帧格式</a:t>
            </a:r>
          </a:p>
        </p:txBody>
      </p:sp>
      <p:sp>
        <p:nvSpPr>
          <p:cNvPr id="9" name="object 2"/>
          <p:cNvSpPr/>
          <p:nvPr/>
        </p:nvSpPr>
        <p:spPr>
          <a:xfrm>
            <a:off x="1351862" y="3477231"/>
            <a:ext cx="6268138" cy="386526"/>
          </a:xfrm>
          <a:prstGeom prst="rect">
            <a:avLst/>
          </a:prstGeom>
          <a:blipFill>
            <a:blip r:embed="rId2" cstate="print"/>
            <a:stretch>
              <a:fillRect/>
            </a:stretch>
          </a:blipFill>
        </p:spPr>
        <p:txBody>
          <a:bodyPr wrap="square" lIns="0" tIns="0" rIns="0" bIns="0" rtlCol="0"/>
          <a:lstStyle/>
          <a:p>
            <a:endParaRPr/>
          </a:p>
        </p:txBody>
      </p:sp>
      <p:sp>
        <p:nvSpPr>
          <p:cNvPr id="11" name="矩形 10"/>
          <p:cNvSpPr/>
          <p:nvPr/>
        </p:nvSpPr>
        <p:spPr>
          <a:xfrm>
            <a:off x="536575" y="2795825"/>
            <a:ext cx="1630575" cy="369332"/>
          </a:xfrm>
          <a:prstGeom prst="rect">
            <a:avLst/>
          </a:prstGeom>
        </p:spPr>
        <p:txBody>
          <a:bodyPr wrap="none">
            <a:spAutoFit/>
          </a:bodyPr>
          <a:lstStyle/>
          <a:p>
            <a:pPr marL="285750" indent="-285750">
              <a:buFont typeface="Arial" panose="020B0604020202020204" pitchFamily="34" charset="0"/>
              <a:buChar char="•"/>
            </a:pPr>
            <a:r>
              <a:rPr lang="zh-CN" altLang="en-US" dirty="0"/>
              <a:t>方式</a:t>
            </a:r>
            <a:r>
              <a:rPr lang="en-US" altLang="zh-CN" dirty="0"/>
              <a:t>0</a:t>
            </a:r>
            <a:r>
              <a:rPr lang="zh-CN" altLang="en-US" dirty="0"/>
              <a:t>：</a:t>
            </a:r>
            <a:r>
              <a:rPr lang="en-US" altLang="zh-CN" dirty="0"/>
              <a:t>8</a:t>
            </a:r>
            <a:r>
              <a:rPr lang="zh-CN" altLang="en-US" dirty="0"/>
              <a:t>位</a:t>
            </a:r>
          </a:p>
        </p:txBody>
      </p:sp>
      <p:sp>
        <p:nvSpPr>
          <p:cNvPr id="13" name="object 2"/>
          <p:cNvSpPr/>
          <p:nvPr/>
        </p:nvSpPr>
        <p:spPr>
          <a:xfrm>
            <a:off x="903410" y="4648473"/>
            <a:ext cx="7644648" cy="429233"/>
          </a:xfrm>
          <a:prstGeom prst="rect">
            <a:avLst/>
          </a:prstGeom>
          <a:blipFill>
            <a:blip r:embed="rId3" cstate="print"/>
            <a:stretch>
              <a:fillRect/>
            </a:stretch>
          </a:blipFill>
        </p:spPr>
        <p:txBody>
          <a:bodyPr wrap="square" lIns="0" tIns="0" rIns="0" bIns="0" rtlCol="0"/>
          <a:lstStyle/>
          <a:p>
            <a:endParaRPr sz="1600"/>
          </a:p>
        </p:txBody>
      </p:sp>
      <p:sp>
        <p:nvSpPr>
          <p:cNvPr id="14" name="矩形 13"/>
          <p:cNvSpPr/>
          <p:nvPr/>
        </p:nvSpPr>
        <p:spPr>
          <a:xfrm>
            <a:off x="523875" y="4044827"/>
            <a:ext cx="1747594" cy="369332"/>
          </a:xfrm>
          <a:prstGeom prst="rect">
            <a:avLst/>
          </a:prstGeom>
        </p:spPr>
        <p:txBody>
          <a:bodyPr wrap="none">
            <a:spAutoFit/>
          </a:bodyPr>
          <a:lstStyle/>
          <a:p>
            <a:pPr marL="285750" indent="-285750">
              <a:buFont typeface="Arial" panose="020B0604020202020204" pitchFamily="34" charset="0"/>
              <a:buChar char="•"/>
            </a:pPr>
            <a:r>
              <a:rPr lang="zh-CN" altLang="en-US" dirty="0"/>
              <a:t>方式</a:t>
            </a:r>
            <a:r>
              <a:rPr lang="en-US" altLang="zh-CN" dirty="0"/>
              <a:t>1</a:t>
            </a:r>
            <a:r>
              <a:rPr lang="zh-CN" altLang="en-US" dirty="0"/>
              <a:t>：</a:t>
            </a:r>
            <a:r>
              <a:rPr lang="en-US" altLang="zh-CN" dirty="0"/>
              <a:t>10</a:t>
            </a:r>
            <a:r>
              <a:rPr lang="zh-CN" altLang="en-US" dirty="0"/>
              <a:t>位</a:t>
            </a:r>
          </a:p>
        </p:txBody>
      </p:sp>
      <p:sp>
        <p:nvSpPr>
          <p:cNvPr id="15" name="矩形 14"/>
          <p:cNvSpPr/>
          <p:nvPr/>
        </p:nvSpPr>
        <p:spPr>
          <a:xfrm>
            <a:off x="533400" y="5293829"/>
            <a:ext cx="2557110" cy="369332"/>
          </a:xfrm>
          <a:prstGeom prst="rect">
            <a:avLst/>
          </a:prstGeom>
        </p:spPr>
        <p:txBody>
          <a:bodyPr wrap="none">
            <a:spAutoFit/>
          </a:bodyPr>
          <a:lstStyle/>
          <a:p>
            <a:pPr marL="285750" indent="-285750">
              <a:buFont typeface="Arial" panose="020B0604020202020204" pitchFamily="34" charset="0"/>
              <a:buChar char="•"/>
            </a:pPr>
            <a:r>
              <a:rPr lang="zh-CN" altLang="en-US" dirty="0"/>
              <a:t>方式</a:t>
            </a:r>
            <a:r>
              <a:rPr lang="en-US" altLang="zh-CN" dirty="0"/>
              <a:t>2</a:t>
            </a:r>
            <a:r>
              <a:rPr lang="zh-CN" altLang="en-US" dirty="0"/>
              <a:t>和方式</a:t>
            </a:r>
            <a:r>
              <a:rPr lang="en-US" altLang="zh-CN" dirty="0"/>
              <a:t>3</a:t>
            </a:r>
            <a:r>
              <a:rPr lang="zh-CN" altLang="en-US" dirty="0"/>
              <a:t>：</a:t>
            </a:r>
            <a:r>
              <a:rPr lang="en-US" altLang="zh-CN" dirty="0"/>
              <a:t>11</a:t>
            </a:r>
            <a:r>
              <a:rPr lang="zh-CN" altLang="en-US" dirty="0"/>
              <a:t>位</a:t>
            </a:r>
          </a:p>
        </p:txBody>
      </p:sp>
      <p:sp>
        <p:nvSpPr>
          <p:cNvPr id="16" name="object 2"/>
          <p:cNvSpPr/>
          <p:nvPr/>
        </p:nvSpPr>
        <p:spPr>
          <a:xfrm>
            <a:off x="523875" y="5842478"/>
            <a:ext cx="8305800" cy="406509"/>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65107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18</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kumimoji="0" lang="en-US" altLang="zh-CN" b="0" i="0" u="none" strike="noStrike" kern="1200" cap="none" spc="0" normalizeH="0" baseline="0" noProof="1">
                <a:solidFill>
                  <a:schemeClr val="tx1"/>
                </a:solidFill>
                <a:latin typeface="+mn-ea"/>
                <a:ea typeface="+mn-ea"/>
                <a:cs typeface="+mj-cs"/>
              </a:rPr>
              <a:t>1</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0</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7" name="标题 7169"/>
          <p:cNvSpPr txBox="1">
            <a:spLocks/>
          </p:cNvSpPr>
          <p:nvPr/>
        </p:nvSpPr>
        <p:spPr>
          <a:xfrm>
            <a:off x="838200" y="2090627"/>
            <a:ext cx="7620000" cy="3231654"/>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indent="457200" algn="l" rtl="0" fontAlgn="base">
              <a:lnSpc>
                <a:spcPct val="150000"/>
              </a:lnSpc>
              <a:spcBef>
                <a:spcPct val="0"/>
              </a:spcBef>
              <a:spcAft>
                <a:spcPct val="0"/>
              </a:spcAft>
            </a:pPr>
            <a:r>
              <a:rPr lang="zh-CN" altLang="en-US" sz="2000" b="0" kern="1200" noProof="1">
                <a:solidFill>
                  <a:schemeClr val="tx1"/>
                </a:solidFill>
                <a:latin typeface="+mn-ea"/>
                <a:ea typeface="+mn-ea"/>
                <a:cs typeface="+mj-cs"/>
              </a:rPr>
              <a:t>方式</a:t>
            </a:r>
            <a:r>
              <a:rPr lang="en-US" altLang="zh-CN" sz="2000" b="0" kern="1200" noProof="1">
                <a:solidFill>
                  <a:schemeClr val="tx1"/>
                </a:solidFill>
                <a:latin typeface="+mn-ea"/>
                <a:ea typeface="+mn-ea"/>
                <a:cs typeface="+mj-cs"/>
              </a:rPr>
              <a:t>0</a:t>
            </a:r>
            <a:r>
              <a:rPr lang="zh-CN" altLang="en-US" sz="2000" b="0" kern="1200" noProof="1">
                <a:solidFill>
                  <a:schemeClr val="tx1"/>
                </a:solidFill>
                <a:latin typeface="+mn-ea"/>
                <a:ea typeface="+mn-ea"/>
                <a:cs typeface="+mj-cs"/>
              </a:rPr>
              <a:t>为</a:t>
            </a:r>
            <a:r>
              <a:rPr lang="zh-CN" altLang="en-US" sz="2000" b="0" kern="1200" noProof="1">
                <a:solidFill>
                  <a:srgbClr val="FF3300"/>
                </a:solidFill>
                <a:latin typeface="+mn-ea"/>
                <a:ea typeface="+mn-ea"/>
                <a:cs typeface="+mj-cs"/>
              </a:rPr>
              <a:t>同步移位寄存器输入</a:t>
            </a:r>
            <a:r>
              <a:rPr lang="en-US" altLang="zh-CN" sz="2000" b="0" noProof="1">
                <a:solidFill>
                  <a:srgbClr val="FF3300"/>
                </a:solidFill>
                <a:latin typeface="+mn-ea"/>
                <a:ea typeface="+mn-ea"/>
                <a:cs typeface="+mj-cs"/>
              </a:rPr>
              <a:t>/</a:t>
            </a:r>
            <a:r>
              <a:rPr lang="zh-CN" altLang="en-US" sz="2000" b="0" noProof="1">
                <a:solidFill>
                  <a:srgbClr val="FF3300"/>
                </a:solidFill>
                <a:latin typeface="+mn-ea"/>
                <a:ea typeface="+mn-ea"/>
                <a:cs typeface="+mj-cs"/>
              </a:rPr>
              <a:t>输出</a:t>
            </a:r>
            <a:r>
              <a:rPr lang="zh-CN" altLang="en-US" sz="2000" b="0" noProof="1">
                <a:solidFill>
                  <a:schemeClr val="tx1"/>
                </a:solidFill>
                <a:latin typeface="+mn-ea"/>
                <a:ea typeface="+mn-ea"/>
                <a:cs typeface="+mj-cs"/>
              </a:rPr>
              <a:t>方式，常用于扩展并行</a:t>
            </a:r>
            <a:r>
              <a:rPr lang="en-US" altLang="zh-CN" sz="2000" b="0" noProof="1">
                <a:solidFill>
                  <a:schemeClr val="tx1"/>
                </a:solidFill>
                <a:latin typeface="+mn-ea"/>
                <a:ea typeface="+mn-ea"/>
                <a:cs typeface="+mj-cs"/>
              </a:rPr>
              <a:t>I/O</a:t>
            </a:r>
            <a:r>
              <a:rPr lang="zh-CN" altLang="en-US" sz="2000" b="0" noProof="1">
                <a:solidFill>
                  <a:schemeClr val="tx1"/>
                </a:solidFill>
                <a:latin typeface="+mn-ea"/>
                <a:ea typeface="+mn-ea"/>
                <a:cs typeface="+mj-cs"/>
              </a:rPr>
              <a:t>口。串行数据通过</a:t>
            </a:r>
            <a:r>
              <a:rPr lang="en-US" altLang="zh-CN" sz="2000" b="0" noProof="1">
                <a:solidFill>
                  <a:schemeClr val="tx1"/>
                </a:solidFill>
                <a:latin typeface="+mn-ea"/>
                <a:ea typeface="+mn-ea"/>
                <a:cs typeface="+mj-cs"/>
              </a:rPr>
              <a:t>RXD</a:t>
            </a:r>
            <a:r>
              <a:rPr lang="zh-CN" altLang="en-US" sz="2000" b="0" noProof="1">
                <a:solidFill>
                  <a:schemeClr val="tx1"/>
                </a:solidFill>
                <a:latin typeface="+mn-ea"/>
                <a:ea typeface="+mn-ea"/>
                <a:cs typeface="+mj-cs"/>
              </a:rPr>
              <a:t>输入或输出，而</a:t>
            </a:r>
            <a:r>
              <a:rPr lang="en-US" altLang="zh-CN" sz="2000" b="0" noProof="1">
                <a:solidFill>
                  <a:schemeClr val="tx1"/>
                </a:solidFill>
                <a:latin typeface="+mn-ea"/>
                <a:ea typeface="+mn-ea"/>
                <a:cs typeface="+mj-cs"/>
              </a:rPr>
              <a:t>TXD</a:t>
            </a:r>
            <a:r>
              <a:rPr lang="zh-CN" altLang="en-US" sz="2000" b="0" noProof="1">
                <a:solidFill>
                  <a:schemeClr val="tx1"/>
                </a:solidFill>
                <a:latin typeface="+mn-ea"/>
                <a:ea typeface="+mn-ea"/>
                <a:cs typeface="+mj-cs"/>
              </a:rPr>
              <a:t>用于输出移位时钟，作为外接部件的同步信号。</a:t>
            </a:r>
            <a:endParaRPr lang="en-US" altLang="zh-CN" sz="20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2000" b="0" noProof="1">
                <a:solidFill>
                  <a:schemeClr val="tx1"/>
                </a:solidFill>
                <a:latin typeface="+mn-ea"/>
                <a:ea typeface="+mn-ea"/>
                <a:cs typeface="+mj-cs"/>
              </a:rPr>
              <a:t>这种方式</a:t>
            </a:r>
            <a:r>
              <a:rPr lang="zh-CN" altLang="en-US" sz="2000" b="0" noProof="1">
                <a:solidFill>
                  <a:srgbClr val="FF3300"/>
                </a:solidFill>
                <a:latin typeface="+mn-ea"/>
                <a:ea typeface="+mn-ea"/>
                <a:cs typeface="+mj-cs"/>
              </a:rPr>
              <a:t>不适用于两个</a:t>
            </a:r>
            <a:r>
              <a:rPr lang="en-US" altLang="zh-CN" sz="2000" b="0" noProof="1">
                <a:solidFill>
                  <a:srgbClr val="FF3300"/>
                </a:solidFill>
                <a:latin typeface="+mn-ea"/>
                <a:ea typeface="+mn-ea"/>
                <a:cs typeface="+mj-cs"/>
              </a:rPr>
              <a:t>89C51</a:t>
            </a:r>
            <a:r>
              <a:rPr lang="zh-CN" altLang="en-US" sz="2000" b="0" noProof="1">
                <a:solidFill>
                  <a:srgbClr val="FF3300"/>
                </a:solidFill>
                <a:latin typeface="+mn-ea"/>
                <a:ea typeface="+mn-ea"/>
                <a:cs typeface="+mj-cs"/>
              </a:rPr>
              <a:t>之间的直接数据通信</a:t>
            </a:r>
            <a:r>
              <a:rPr lang="zh-CN" altLang="en-US" sz="2000" b="0" noProof="1">
                <a:solidFill>
                  <a:schemeClr val="tx1"/>
                </a:solidFill>
                <a:latin typeface="+mn-ea"/>
                <a:ea typeface="+mn-ea"/>
                <a:cs typeface="+mj-cs"/>
              </a:rPr>
              <a:t>，但可以通过外接移位寄存器来实现单片机的接口扩展。</a:t>
            </a:r>
            <a:endParaRPr lang="en-US" altLang="zh-CN" sz="20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2000" b="0" noProof="1">
                <a:solidFill>
                  <a:schemeClr val="tx1"/>
                </a:solidFill>
                <a:latin typeface="+mn-ea"/>
                <a:ea typeface="+mn-ea"/>
                <a:cs typeface="+mj-cs"/>
              </a:rPr>
              <a:t>在这种方式下，收</a:t>
            </a:r>
            <a:r>
              <a:rPr lang="en-US" altLang="zh-CN" sz="2000" b="0" noProof="1">
                <a:solidFill>
                  <a:schemeClr val="tx1"/>
                </a:solidFill>
                <a:latin typeface="+mn-ea"/>
                <a:ea typeface="+mn-ea"/>
                <a:cs typeface="+mj-cs"/>
              </a:rPr>
              <a:t>/</a:t>
            </a:r>
            <a:r>
              <a:rPr lang="zh-CN" altLang="en-US" sz="2000" b="0" noProof="1">
                <a:solidFill>
                  <a:schemeClr val="tx1"/>
                </a:solidFill>
                <a:latin typeface="+mn-ea"/>
                <a:ea typeface="+mn-ea"/>
                <a:cs typeface="+mj-cs"/>
              </a:rPr>
              <a:t>发数据为</a:t>
            </a:r>
            <a:r>
              <a:rPr lang="en-US" altLang="zh-CN" sz="2000" b="0" noProof="1">
                <a:solidFill>
                  <a:schemeClr val="tx1"/>
                </a:solidFill>
                <a:latin typeface="+mn-ea"/>
                <a:ea typeface="+mn-ea"/>
                <a:cs typeface="+mj-cs"/>
              </a:rPr>
              <a:t>8</a:t>
            </a:r>
            <a:r>
              <a:rPr lang="zh-CN" altLang="en-US" sz="2000" b="0" noProof="1">
                <a:solidFill>
                  <a:schemeClr val="tx1"/>
                </a:solidFill>
                <a:latin typeface="+mn-ea"/>
                <a:ea typeface="+mn-ea"/>
                <a:cs typeface="+mj-cs"/>
              </a:rPr>
              <a:t>位，低位在前，无起始位、奇偶校验位和停止位，</a:t>
            </a:r>
            <a:r>
              <a:rPr lang="zh-CN" altLang="en-US" sz="2000" b="0" noProof="1">
                <a:solidFill>
                  <a:srgbClr val="FF3300"/>
                </a:solidFill>
                <a:latin typeface="+mn-ea"/>
                <a:ea typeface="+mn-ea"/>
                <a:cs typeface="+mj-cs"/>
              </a:rPr>
              <a:t>波特率是固定的。</a:t>
            </a:r>
            <a:endParaRPr lang="en-US" altLang="zh-CN" sz="2000" b="0" noProof="1">
              <a:solidFill>
                <a:srgbClr val="FF3300"/>
              </a:solidFill>
              <a:latin typeface="+mn-ea"/>
              <a:ea typeface="+mn-ea"/>
              <a:cs typeface="+mj-cs"/>
            </a:endParaRPr>
          </a:p>
        </p:txBody>
      </p:sp>
    </p:spTree>
    <p:extLst>
      <p:ext uri="{BB962C8B-B14F-4D97-AF65-F5344CB8AC3E}">
        <p14:creationId xmlns:p14="http://schemas.microsoft.com/office/powerpoint/2010/main" val="2122643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19</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kumimoji="0" lang="en-US" altLang="zh-CN" b="0" i="0" u="none" strike="noStrike" kern="1200" cap="none" spc="0" normalizeH="0" baseline="0" noProof="1">
                <a:solidFill>
                  <a:schemeClr val="tx1"/>
                </a:solidFill>
                <a:latin typeface="+mn-ea"/>
                <a:ea typeface="+mn-ea"/>
                <a:cs typeface="+mj-cs"/>
              </a:rPr>
              <a:t>1</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0</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pic>
        <p:nvPicPr>
          <p:cNvPr id="2" name="图片 1"/>
          <p:cNvPicPr>
            <a:picLocks noChangeAspect="1"/>
          </p:cNvPicPr>
          <p:nvPr/>
        </p:nvPicPr>
        <p:blipFill>
          <a:blip r:embed="rId2"/>
          <a:stretch>
            <a:fillRect/>
          </a:stretch>
        </p:blipFill>
        <p:spPr>
          <a:xfrm>
            <a:off x="1676400" y="1676400"/>
            <a:ext cx="5639583" cy="4436472"/>
          </a:xfrm>
          <a:prstGeom prst="rect">
            <a:avLst/>
          </a:prstGeom>
        </p:spPr>
      </p:pic>
      <p:sp>
        <p:nvSpPr>
          <p:cNvPr id="17" name="标题 7169"/>
          <p:cNvSpPr txBox="1">
            <a:spLocks/>
          </p:cNvSpPr>
          <p:nvPr/>
        </p:nvSpPr>
        <p:spPr>
          <a:xfrm>
            <a:off x="3048000" y="6200740"/>
            <a:ext cx="4572000" cy="369332"/>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algn="l" rtl="0" fontAlgn="base">
              <a:spcBef>
                <a:spcPct val="0"/>
              </a:spcBef>
              <a:spcAft>
                <a:spcPct val="0"/>
              </a:spcAft>
            </a:pPr>
            <a:r>
              <a:rPr lang="zh-CN" altLang="en-US" b="0" kern="1200" noProof="1">
                <a:solidFill>
                  <a:schemeClr val="tx1"/>
                </a:solidFill>
                <a:latin typeface="+mn-ea"/>
                <a:ea typeface="+mn-ea"/>
                <a:cs typeface="+mj-cs"/>
              </a:rPr>
              <a:t>方式</a:t>
            </a:r>
            <a:r>
              <a:rPr lang="en-US" altLang="zh-CN" b="0" kern="1200" noProof="1">
                <a:solidFill>
                  <a:schemeClr val="tx1"/>
                </a:solidFill>
                <a:latin typeface="+mn-ea"/>
                <a:ea typeface="+mn-ea"/>
                <a:cs typeface="+mj-cs"/>
              </a:rPr>
              <a:t>0</a:t>
            </a:r>
            <a:r>
              <a:rPr lang="zh-CN" altLang="en-US" b="0" kern="1200" noProof="1">
                <a:solidFill>
                  <a:schemeClr val="tx1"/>
                </a:solidFill>
                <a:latin typeface="+mn-ea"/>
                <a:ea typeface="+mn-ea"/>
                <a:cs typeface="+mj-cs"/>
              </a:rPr>
              <a:t>发送电路及时序</a:t>
            </a:r>
          </a:p>
        </p:txBody>
      </p:sp>
    </p:spTree>
    <p:extLst>
      <p:ext uri="{BB962C8B-B14F-4D97-AF65-F5344CB8AC3E}">
        <p14:creationId xmlns:p14="http://schemas.microsoft.com/office/powerpoint/2010/main" val="785591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20</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kumimoji="0" lang="en-US" altLang="zh-CN" b="0" i="0" u="none" strike="noStrike" kern="1200" cap="none" spc="0" normalizeH="0" baseline="0" noProof="1">
                <a:solidFill>
                  <a:schemeClr val="tx1"/>
                </a:solidFill>
                <a:latin typeface="+mn-ea"/>
                <a:ea typeface="+mn-ea"/>
                <a:cs typeface="+mj-cs"/>
              </a:rPr>
              <a:t>1</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0</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7" name="标题 7169"/>
          <p:cNvSpPr txBox="1">
            <a:spLocks/>
          </p:cNvSpPr>
          <p:nvPr/>
        </p:nvSpPr>
        <p:spPr>
          <a:xfrm>
            <a:off x="3048000" y="6200740"/>
            <a:ext cx="4572000" cy="369332"/>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algn="l" rtl="0" fontAlgn="base">
              <a:spcBef>
                <a:spcPct val="0"/>
              </a:spcBef>
              <a:spcAft>
                <a:spcPct val="0"/>
              </a:spcAft>
            </a:pPr>
            <a:r>
              <a:rPr lang="zh-CN" altLang="en-US" b="0" kern="1200" noProof="1">
                <a:solidFill>
                  <a:schemeClr val="tx1"/>
                </a:solidFill>
                <a:latin typeface="+mn-ea"/>
                <a:ea typeface="+mn-ea"/>
                <a:cs typeface="+mj-cs"/>
              </a:rPr>
              <a:t>方式</a:t>
            </a:r>
            <a:r>
              <a:rPr lang="en-US" altLang="zh-CN" b="0" kern="1200" noProof="1">
                <a:solidFill>
                  <a:schemeClr val="tx1"/>
                </a:solidFill>
                <a:latin typeface="+mn-ea"/>
                <a:ea typeface="+mn-ea"/>
                <a:cs typeface="+mj-cs"/>
              </a:rPr>
              <a:t>0</a:t>
            </a:r>
            <a:r>
              <a:rPr lang="zh-CN" altLang="en-US" b="0" kern="1200" noProof="1">
                <a:solidFill>
                  <a:schemeClr val="tx1"/>
                </a:solidFill>
                <a:latin typeface="+mn-ea"/>
                <a:ea typeface="+mn-ea"/>
                <a:cs typeface="+mj-cs"/>
              </a:rPr>
              <a:t>接收电路及时序</a:t>
            </a:r>
          </a:p>
        </p:txBody>
      </p:sp>
      <p:pic>
        <p:nvPicPr>
          <p:cNvPr id="7" name="图片 306179" descr="0711"/>
          <p:cNvPicPr>
            <a:picLocks noChangeAspect="1"/>
          </p:cNvPicPr>
          <p:nvPr/>
        </p:nvPicPr>
        <p:blipFill>
          <a:blip r:embed="rId2"/>
          <a:stretch>
            <a:fillRect/>
          </a:stretch>
        </p:blipFill>
        <p:spPr>
          <a:xfrm>
            <a:off x="1498600" y="1828800"/>
            <a:ext cx="5796086" cy="4114800"/>
          </a:xfrm>
          <a:prstGeom prst="rect">
            <a:avLst/>
          </a:prstGeom>
          <a:noFill/>
          <a:ln w="9525">
            <a:noFill/>
          </a:ln>
        </p:spPr>
      </p:pic>
    </p:spTree>
    <p:extLst>
      <p:ext uri="{BB962C8B-B14F-4D97-AF65-F5344CB8AC3E}">
        <p14:creationId xmlns:p14="http://schemas.microsoft.com/office/powerpoint/2010/main" val="2592830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21</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lang="en-US" altLang="zh-CN" b="0" kern="120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1</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7" name="标题 7169"/>
          <p:cNvSpPr txBox="1">
            <a:spLocks/>
          </p:cNvSpPr>
          <p:nvPr/>
        </p:nvSpPr>
        <p:spPr>
          <a:xfrm>
            <a:off x="647700" y="1752600"/>
            <a:ext cx="7620000" cy="2769989"/>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indent="457200" algn="l" rtl="0" fontAlgn="base">
              <a:lnSpc>
                <a:spcPct val="150000"/>
              </a:lnSpc>
              <a:spcBef>
                <a:spcPct val="0"/>
              </a:spcBef>
              <a:spcAft>
                <a:spcPct val="0"/>
              </a:spcAft>
            </a:pPr>
            <a:r>
              <a:rPr lang="zh-CN" altLang="en-US" sz="2000" b="0" kern="1200" noProof="1">
                <a:solidFill>
                  <a:schemeClr val="tx1"/>
                </a:solidFill>
                <a:latin typeface="+mn-ea"/>
                <a:ea typeface="+mn-ea"/>
                <a:cs typeface="+mj-cs"/>
              </a:rPr>
              <a:t>方式</a:t>
            </a:r>
            <a:r>
              <a:rPr lang="en-US" altLang="zh-CN" sz="2000" b="0" kern="1200" noProof="1">
                <a:solidFill>
                  <a:schemeClr val="tx1"/>
                </a:solidFill>
                <a:latin typeface="+mn-ea"/>
                <a:ea typeface="+mn-ea"/>
                <a:cs typeface="+mj-cs"/>
              </a:rPr>
              <a:t>1</a:t>
            </a:r>
            <a:r>
              <a:rPr lang="zh-CN" altLang="en-US" sz="2000" b="0" kern="1200" noProof="1">
                <a:solidFill>
                  <a:schemeClr val="tx1"/>
                </a:solidFill>
                <a:latin typeface="+mn-ea"/>
                <a:ea typeface="+mn-ea"/>
                <a:cs typeface="+mj-cs"/>
              </a:rPr>
              <a:t>真正用于串行发送或接收</a:t>
            </a:r>
            <a:r>
              <a:rPr lang="zh-CN" altLang="en-US" sz="2000" b="0" noProof="1">
                <a:solidFill>
                  <a:schemeClr val="tx1"/>
                </a:solidFill>
                <a:latin typeface="+mn-ea"/>
                <a:ea typeface="+mn-ea"/>
                <a:cs typeface="+mj-cs"/>
              </a:rPr>
              <a:t>，为</a:t>
            </a:r>
            <a:r>
              <a:rPr lang="en-US" altLang="zh-CN" sz="2000" b="0" noProof="1">
                <a:solidFill>
                  <a:srgbClr val="FF0000"/>
                </a:solidFill>
                <a:latin typeface="+mn-ea"/>
                <a:ea typeface="+mn-ea"/>
                <a:cs typeface="+mj-cs"/>
              </a:rPr>
              <a:t>10</a:t>
            </a:r>
            <a:r>
              <a:rPr lang="zh-CN" altLang="en-US" sz="2000" b="0" noProof="1">
                <a:solidFill>
                  <a:srgbClr val="FF0000"/>
                </a:solidFill>
                <a:latin typeface="+mn-ea"/>
                <a:ea typeface="+mn-ea"/>
                <a:cs typeface="+mj-cs"/>
              </a:rPr>
              <a:t>位通用异步接口</a:t>
            </a:r>
            <a:r>
              <a:rPr lang="zh-CN" altLang="en-US" sz="2000" b="0" noProof="1">
                <a:solidFill>
                  <a:schemeClr val="tx1"/>
                </a:solidFill>
                <a:latin typeface="+mn-ea"/>
                <a:ea typeface="+mn-ea"/>
                <a:cs typeface="+mj-cs"/>
              </a:rPr>
              <a:t>。</a:t>
            </a:r>
            <a:r>
              <a:rPr lang="en-US" altLang="zh-CN" sz="2000" b="0" noProof="1">
                <a:solidFill>
                  <a:schemeClr val="tx1"/>
                </a:solidFill>
                <a:latin typeface="+mn-ea"/>
                <a:ea typeface="+mn-ea"/>
                <a:cs typeface="+mj-cs"/>
              </a:rPr>
              <a:t>TXD</a:t>
            </a:r>
            <a:r>
              <a:rPr lang="zh-CN" altLang="en-US" sz="2000" b="0" noProof="1">
                <a:solidFill>
                  <a:schemeClr val="tx1"/>
                </a:solidFill>
                <a:latin typeface="+mn-ea"/>
                <a:ea typeface="+mn-ea"/>
                <a:cs typeface="+mj-cs"/>
              </a:rPr>
              <a:t>和</a:t>
            </a:r>
            <a:r>
              <a:rPr lang="en-US" altLang="zh-CN" sz="2000" b="0" noProof="1">
                <a:solidFill>
                  <a:schemeClr val="tx1"/>
                </a:solidFill>
                <a:latin typeface="+mn-ea"/>
                <a:ea typeface="+mn-ea"/>
                <a:cs typeface="+mj-cs"/>
              </a:rPr>
              <a:t>RXD</a:t>
            </a:r>
            <a:r>
              <a:rPr lang="zh-CN" altLang="en-US" sz="2000" b="0" noProof="1">
                <a:solidFill>
                  <a:schemeClr val="tx1"/>
                </a:solidFill>
                <a:latin typeface="+mn-ea"/>
                <a:ea typeface="+mn-ea"/>
                <a:cs typeface="+mj-cs"/>
              </a:rPr>
              <a:t>分别用于发送和接收数据。</a:t>
            </a:r>
            <a:endParaRPr lang="en-US" altLang="zh-CN" sz="20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2000" b="0" noProof="1">
                <a:solidFill>
                  <a:schemeClr val="tx1"/>
                </a:solidFill>
                <a:latin typeface="+mn-ea"/>
                <a:ea typeface="+mn-ea"/>
                <a:cs typeface="+mj-cs"/>
              </a:rPr>
              <a:t>在这种方式下，收</a:t>
            </a:r>
            <a:r>
              <a:rPr lang="en-US" altLang="zh-CN" sz="2000" b="0" noProof="1">
                <a:solidFill>
                  <a:schemeClr val="tx1"/>
                </a:solidFill>
                <a:latin typeface="+mn-ea"/>
                <a:ea typeface="+mn-ea"/>
                <a:cs typeface="+mj-cs"/>
              </a:rPr>
              <a:t>/</a:t>
            </a:r>
            <a:r>
              <a:rPr lang="zh-CN" altLang="en-US" sz="2000" b="0" noProof="1">
                <a:solidFill>
                  <a:schemeClr val="tx1"/>
                </a:solidFill>
                <a:latin typeface="+mn-ea"/>
                <a:ea typeface="+mn-ea"/>
                <a:cs typeface="+mj-cs"/>
              </a:rPr>
              <a:t>发一帧数据格式为</a:t>
            </a:r>
            <a:r>
              <a:rPr lang="en-US" altLang="zh-CN" sz="2000" b="0" noProof="1">
                <a:solidFill>
                  <a:schemeClr val="tx1"/>
                </a:solidFill>
                <a:latin typeface="+mn-ea"/>
                <a:ea typeface="+mn-ea"/>
                <a:cs typeface="+mj-cs"/>
              </a:rPr>
              <a:t>1</a:t>
            </a:r>
            <a:r>
              <a:rPr lang="zh-CN" altLang="en-US" sz="2000" b="0" noProof="1">
                <a:solidFill>
                  <a:schemeClr val="tx1"/>
                </a:solidFill>
                <a:latin typeface="+mn-ea"/>
                <a:ea typeface="+mn-ea"/>
                <a:cs typeface="+mj-cs"/>
              </a:rPr>
              <a:t>位起始位、</a:t>
            </a:r>
            <a:r>
              <a:rPr lang="en-US" altLang="zh-CN" sz="2000" b="0" noProof="1">
                <a:solidFill>
                  <a:schemeClr val="tx1"/>
                </a:solidFill>
                <a:latin typeface="+mn-ea"/>
                <a:ea typeface="+mn-ea"/>
                <a:cs typeface="+mj-cs"/>
              </a:rPr>
              <a:t>8</a:t>
            </a:r>
            <a:r>
              <a:rPr lang="zh-CN" altLang="en-US" sz="2000" b="0" noProof="1">
                <a:solidFill>
                  <a:schemeClr val="tx1"/>
                </a:solidFill>
                <a:latin typeface="+mn-ea"/>
                <a:ea typeface="+mn-ea"/>
                <a:cs typeface="+mj-cs"/>
              </a:rPr>
              <a:t>位数据位（低位在前）、</a:t>
            </a:r>
            <a:r>
              <a:rPr lang="en-US" altLang="zh-CN" sz="2000" b="0" noProof="1">
                <a:solidFill>
                  <a:schemeClr val="tx1"/>
                </a:solidFill>
                <a:latin typeface="+mn-ea"/>
                <a:ea typeface="+mn-ea"/>
                <a:cs typeface="+mj-cs"/>
              </a:rPr>
              <a:t>1</a:t>
            </a:r>
            <a:r>
              <a:rPr lang="zh-CN" altLang="en-US" sz="2000" b="0" noProof="1">
                <a:solidFill>
                  <a:schemeClr val="tx1"/>
                </a:solidFill>
                <a:latin typeface="+mn-ea"/>
                <a:ea typeface="+mn-ea"/>
                <a:cs typeface="+mj-cs"/>
              </a:rPr>
              <a:t>位停止位，共</a:t>
            </a:r>
            <a:r>
              <a:rPr lang="en-US" altLang="zh-CN" sz="2000" b="0" noProof="1">
                <a:solidFill>
                  <a:schemeClr val="tx1"/>
                </a:solidFill>
                <a:latin typeface="+mn-ea"/>
                <a:ea typeface="+mn-ea"/>
                <a:cs typeface="+mj-cs"/>
              </a:rPr>
              <a:t>10</a:t>
            </a:r>
            <a:r>
              <a:rPr lang="zh-CN" altLang="en-US" sz="2000" b="0" noProof="1">
                <a:solidFill>
                  <a:schemeClr val="tx1"/>
                </a:solidFill>
                <a:latin typeface="+mn-ea"/>
                <a:ea typeface="+mn-ea"/>
                <a:cs typeface="+mj-cs"/>
              </a:rPr>
              <a:t>位。</a:t>
            </a:r>
            <a:endParaRPr lang="en-US" altLang="zh-CN" sz="20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2000" b="0" noProof="1">
                <a:solidFill>
                  <a:schemeClr val="tx1"/>
                </a:solidFill>
                <a:latin typeface="+mn-ea"/>
                <a:ea typeface="+mn-ea"/>
                <a:cs typeface="+mj-cs"/>
              </a:rPr>
              <a:t>在接收时，停止位进入</a:t>
            </a:r>
            <a:r>
              <a:rPr lang="en-US" altLang="zh-CN" sz="2000" b="0" noProof="1">
                <a:solidFill>
                  <a:schemeClr val="tx1"/>
                </a:solidFill>
                <a:latin typeface="+mn-ea"/>
                <a:ea typeface="+mn-ea"/>
                <a:cs typeface="+mj-cs"/>
              </a:rPr>
              <a:t>SCON</a:t>
            </a:r>
            <a:r>
              <a:rPr lang="zh-CN" altLang="en-US" sz="2000" b="0" noProof="1">
                <a:solidFill>
                  <a:schemeClr val="tx1"/>
                </a:solidFill>
                <a:latin typeface="+mn-ea"/>
                <a:ea typeface="+mn-ea"/>
                <a:cs typeface="+mj-cs"/>
              </a:rPr>
              <a:t>的</a:t>
            </a:r>
            <a:r>
              <a:rPr lang="en-US" altLang="zh-CN" sz="2000" b="0" noProof="1">
                <a:solidFill>
                  <a:schemeClr val="tx1"/>
                </a:solidFill>
                <a:latin typeface="+mn-ea"/>
                <a:ea typeface="+mn-ea"/>
                <a:cs typeface="+mj-cs"/>
              </a:rPr>
              <a:t>RB8</a:t>
            </a:r>
            <a:r>
              <a:rPr lang="zh-CN" altLang="en-US" sz="2000" b="0" noProof="1">
                <a:solidFill>
                  <a:schemeClr val="tx1"/>
                </a:solidFill>
                <a:latin typeface="+mn-ea"/>
                <a:ea typeface="+mn-ea"/>
                <a:cs typeface="+mj-cs"/>
              </a:rPr>
              <a:t>，此方式的传送波特率可调。</a:t>
            </a:r>
            <a:endParaRPr lang="en-US" altLang="zh-CN" sz="20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2000" b="0" noProof="1">
                <a:solidFill>
                  <a:schemeClr val="tx1"/>
                </a:solidFill>
                <a:latin typeface="+mn-ea"/>
                <a:ea typeface="+mn-ea"/>
                <a:cs typeface="+mj-cs"/>
              </a:rPr>
              <a:t>主要用于双机通信。</a:t>
            </a:r>
            <a:endParaRPr lang="en-US" altLang="zh-CN" sz="2000" b="0" noProof="1">
              <a:solidFill>
                <a:srgbClr val="FF3300"/>
              </a:solidFill>
              <a:latin typeface="+mn-ea"/>
              <a:ea typeface="+mn-ea"/>
              <a:cs typeface="+mj-cs"/>
            </a:endParaRPr>
          </a:p>
        </p:txBody>
      </p:sp>
      <p:sp>
        <p:nvSpPr>
          <p:cNvPr id="7" name="object 5"/>
          <p:cNvSpPr/>
          <p:nvPr/>
        </p:nvSpPr>
        <p:spPr>
          <a:xfrm>
            <a:off x="3733800" y="4199632"/>
            <a:ext cx="3693160" cy="225107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04824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22</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lang="en-US" altLang="zh-CN" b="0" kern="120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1</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pic>
        <p:nvPicPr>
          <p:cNvPr id="2" name="图片 1"/>
          <p:cNvPicPr>
            <a:picLocks noChangeAspect="1"/>
          </p:cNvPicPr>
          <p:nvPr/>
        </p:nvPicPr>
        <p:blipFill>
          <a:blip r:embed="rId2"/>
          <a:stretch>
            <a:fillRect/>
          </a:stretch>
        </p:blipFill>
        <p:spPr>
          <a:xfrm>
            <a:off x="1752600" y="1588532"/>
            <a:ext cx="5740400" cy="5101631"/>
          </a:xfrm>
          <a:prstGeom prst="rect">
            <a:avLst/>
          </a:prstGeom>
        </p:spPr>
      </p:pic>
    </p:spTree>
    <p:extLst>
      <p:ext uri="{BB962C8B-B14F-4D97-AF65-F5344CB8AC3E}">
        <p14:creationId xmlns:p14="http://schemas.microsoft.com/office/powerpoint/2010/main" val="2274737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23</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lang="en-US" altLang="zh-CN" b="0" kern="120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和方式</a:t>
            </a:r>
            <a:r>
              <a:rPr kumimoji="0" lang="en-US" altLang="zh-CN" b="0" i="0" u="none" strike="noStrike" kern="1200" cap="none" spc="0" normalizeH="0" baseline="0" noProof="1">
                <a:solidFill>
                  <a:schemeClr val="tx1"/>
                </a:solidFill>
                <a:latin typeface="+mn-ea"/>
                <a:ea typeface="+mn-ea"/>
                <a:cs typeface="+mj-cs"/>
              </a:rPr>
              <a:t>3</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7" name="标题 7169"/>
          <p:cNvSpPr txBox="1">
            <a:spLocks/>
          </p:cNvSpPr>
          <p:nvPr/>
        </p:nvSpPr>
        <p:spPr>
          <a:xfrm>
            <a:off x="838200" y="1676400"/>
            <a:ext cx="7620000" cy="2843535"/>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indent="457200" algn="l" rtl="0" fontAlgn="base">
              <a:lnSpc>
                <a:spcPct val="150000"/>
              </a:lnSpc>
              <a:spcBef>
                <a:spcPct val="0"/>
              </a:spcBef>
              <a:spcAft>
                <a:spcPct val="0"/>
              </a:spcAft>
            </a:pPr>
            <a:r>
              <a:rPr lang="zh-CN" altLang="en-US" sz="1800" b="0" kern="1200" noProof="1">
                <a:solidFill>
                  <a:schemeClr val="tx1"/>
                </a:solidFill>
                <a:latin typeface="+mn-ea"/>
                <a:ea typeface="+mn-ea"/>
                <a:cs typeface="+mj-cs"/>
              </a:rPr>
              <a:t>方式</a:t>
            </a:r>
            <a:r>
              <a:rPr lang="en-US" altLang="zh-CN" sz="1800" b="0" kern="1200" noProof="1">
                <a:solidFill>
                  <a:schemeClr val="tx1"/>
                </a:solidFill>
                <a:latin typeface="+mn-ea"/>
                <a:ea typeface="+mn-ea"/>
                <a:cs typeface="+mj-cs"/>
              </a:rPr>
              <a:t>2</a:t>
            </a:r>
            <a:r>
              <a:rPr lang="zh-CN" altLang="en-US" sz="1800" b="0" kern="1200" noProof="1">
                <a:solidFill>
                  <a:schemeClr val="tx1"/>
                </a:solidFill>
                <a:latin typeface="+mn-ea"/>
                <a:ea typeface="+mn-ea"/>
                <a:cs typeface="+mj-cs"/>
              </a:rPr>
              <a:t>和方式</a:t>
            </a:r>
            <a:r>
              <a:rPr lang="en-US" altLang="zh-CN" sz="1800" b="0" kern="1200" noProof="1">
                <a:solidFill>
                  <a:schemeClr val="tx1"/>
                </a:solidFill>
                <a:latin typeface="+mn-ea"/>
                <a:ea typeface="+mn-ea"/>
                <a:cs typeface="+mj-cs"/>
              </a:rPr>
              <a:t>3</a:t>
            </a:r>
            <a:r>
              <a:rPr lang="zh-CN" altLang="en-US" sz="1800" b="0" kern="1200" noProof="1">
                <a:solidFill>
                  <a:schemeClr val="tx1"/>
                </a:solidFill>
                <a:latin typeface="+mn-ea"/>
                <a:ea typeface="+mn-ea"/>
                <a:cs typeface="+mj-cs"/>
              </a:rPr>
              <a:t>均为每帧</a:t>
            </a:r>
            <a:r>
              <a:rPr lang="en-US" altLang="zh-CN" sz="1800" b="0" kern="1200" noProof="1">
                <a:solidFill>
                  <a:schemeClr val="tx1"/>
                </a:solidFill>
                <a:latin typeface="+mn-ea"/>
                <a:ea typeface="+mn-ea"/>
                <a:cs typeface="+mj-cs"/>
              </a:rPr>
              <a:t>11</a:t>
            </a:r>
            <a:r>
              <a:rPr lang="zh-CN" altLang="en-US" sz="1800" b="0" kern="1200" noProof="1">
                <a:solidFill>
                  <a:schemeClr val="tx1"/>
                </a:solidFill>
                <a:latin typeface="+mn-ea"/>
                <a:ea typeface="+mn-ea"/>
                <a:cs typeface="+mj-cs"/>
              </a:rPr>
              <a:t>位异步通信格式，由</a:t>
            </a:r>
            <a:r>
              <a:rPr lang="en-US" altLang="zh-CN" sz="1800" b="0" noProof="1">
                <a:solidFill>
                  <a:schemeClr val="tx1"/>
                </a:solidFill>
                <a:latin typeface="+mn-ea"/>
                <a:ea typeface="+mn-ea"/>
                <a:cs typeface="+mj-cs"/>
              </a:rPr>
              <a:t>TXD</a:t>
            </a:r>
            <a:r>
              <a:rPr lang="zh-CN" altLang="en-US" sz="1800" b="0" noProof="1">
                <a:solidFill>
                  <a:schemeClr val="tx1"/>
                </a:solidFill>
                <a:latin typeface="+mn-ea"/>
                <a:ea typeface="+mn-ea"/>
                <a:cs typeface="+mj-cs"/>
              </a:rPr>
              <a:t>和</a:t>
            </a:r>
            <a:r>
              <a:rPr lang="en-US" altLang="zh-CN" sz="1800" b="0" noProof="1">
                <a:solidFill>
                  <a:schemeClr val="tx1"/>
                </a:solidFill>
                <a:latin typeface="+mn-ea"/>
                <a:ea typeface="+mn-ea"/>
                <a:cs typeface="+mj-cs"/>
              </a:rPr>
              <a:t>RXD</a:t>
            </a:r>
            <a:r>
              <a:rPr lang="zh-CN" altLang="en-US" sz="1800" b="0" noProof="1">
                <a:solidFill>
                  <a:schemeClr val="tx1"/>
                </a:solidFill>
                <a:latin typeface="+mn-ea"/>
                <a:ea typeface="+mn-ea"/>
                <a:cs typeface="+mj-cs"/>
              </a:rPr>
              <a:t>分别用于发送和接收数据。两种方式的操作完全一样，不同的只是波特率。</a:t>
            </a:r>
            <a:endParaRPr lang="en-US" altLang="zh-CN" sz="18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1800" b="0" noProof="1">
                <a:solidFill>
                  <a:schemeClr val="tx1"/>
                </a:solidFill>
                <a:latin typeface="+mn-ea"/>
                <a:ea typeface="+mn-ea"/>
                <a:cs typeface="+mj-cs"/>
              </a:rPr>
              <a:t>在这种方式下，收</a:t>
            </a:r>
            <a:r>
              <a:rPr lang="en-US" altLang="zh-CN" sz="1800" b="0" noProof="1">
                <a:solidFill>
                  <a:schemeClr val="tx1"/>
                </a:solidFill>
                <a:latin typeface="+mn-ea"/>
                <a:ea typeface="+mn-ea"/>
                <a:cs typeface="+mj-cs"/>
              </a:rPr>
              <a:t>/</a:t>
            </a:r>
            <a:r>
              <a:rPr lang="zh-CN" altLang="en-US" sz="1800" b="0" noProof="1">
                <a:solidFill>
                  <a:schemeClr val="tx1"/>
                </a:solidFill>
                <a:latin typeface="+mn-ea"/>
                <a:ea typeface="+mn-ea"/>
                <a:cs typeface="+mj-cs"/>
              </a:rPr>
              <a:t>发一帧数据格式为</a:t>
            </a:r>
            <a:r>
              <a:rPr lang="en-US" altLang="zh-CN" sz="1800" b="0" noProof="1">
                <a:solidFill>
                  <a:schemeClr val="tx1"/>
                </a:solidFill>
                <a:latin typeface="+mn-ea"/>
                <a:ea typeface="+mn-ea"/>
                <a:cs typeface="+mj-cs"/>
              </a:rPr>
              <a:t>1</a:t>
            </a:r>
            <a:r>
              <a:rPr lang="zh-CN" altLang="en-US" sz="1800" b="0" noProof="1">
                <a:solidFill>
                  <a:schemeClr val="tx1"/>
                </a:solidFill>
                <a:latin typeface="+mn-ea"/>
                <a:ea typeface="+mn-ea"/>
                <a:cs typeface="+mj-cs"/>
              </a:rPr>
              <a:t>位起始位、</a:t>
            </a:r>
            <a:r>
              <a:rPr lang="en-US" altLang="zh-CN" sz="1800" b="0" noProof="1">
                <a:solidFill>
                  <a:schemeClr val="tx1"/>
                </a:solidFill>
                <a:latin typeface="+mn-ea"/>
                <a:ea typeface="+mn-ea"/>
                <a:cs typeface="+mj-cs"/>
              </a:rPr>
              <a:t>8</a:t>
            </a:r>
            <a:r>
              <a:rPr lang="zh-CN" altLang="en-US" sz="1800" b="0" noProof="1">
                <a:solidFill>
                  <a:schemeClr val="tx1"/>
                </a:solidFill>
                <a:latin typeface="+mn-ea"/>
                <a:ea typeface="+mn-ea"/>
                <a:cs typeface="+mj-cs"/>
              </a:rPr>
              <a:t>位数据位（低位在前）、</a:t>
            </a:r>
            <a:r>
              <a:rPr lang="en-US" altLang="zh-CN" sz="1800" b="0" noProof="1">
                <a:solidFill>
                  <a:schemeClr val="tx1"/>
                </a:solidFill>
                <a:latin typeface="+mn-ea"/>
                <a:ea typeface="+mn-ea"/>
                <a:cs typeface="+mj-cs"/>
              </a:rPr>
              <a:t>1</a:t>
            </a:r>
            <a:r>
              <a:rPr lang="zh-CN" altLang="en-US" sz="1800" b="0" noProof="1">
                <a:solidFill>
                  <a:schemeClr val="tx1"/>
                </a:solidFill>
                <a:latin typeface="+mn-ea"/>
                <a:ea typeface="+mn-ea"/>
                <a:cs typeface="+mj-cs"/>
              </a:rPr>
              <a:t>位可编程的第九数据位、</a:t>
            </a:r>
            <a:r>
              <a:rPr lang="en-US" altLang="zh-CN" sz="1800" b="0" noProof="1">
                <a:solidFill>
                  <a:schemeClr val="tx1"/>
                </a:solidFill>
                <a:latin typeface="+mn-ea"/>
                <a:ea typeface="+mn-ea"/>
                <a:cs typeface="+mj-cs"/>
              </a:rPr>
              <a:t>1</a:t>
            </a:r>
            <a:r>
              <a:rPr lang="zh-CN" altLang="en-US" sz="1800" b="0" noProof="1">
                <a:solidFill>
                  <a:schemeClr val="tx1"/>
                </a:solidFill>
                <a:latin typeface="+mn-ea"/>
                <a:ea typeface="+mn-ea"/>
                <a:cs typeface="+mj-cs"/>
              </a:rPr>
              <a:t>位停止位，共</a:t>
            </a:r>
            <a:r>
              <a:rPr lang="en-US" altLang="zh-CN" sz="1800" b="0" noProof="1">
                <a:solidFill>
                  <a:schemeClr val="tx1"/>
                </a:solidFill>
                <a:latin typeface="+mn-ea"/>
                <a:ea typeface="+mn-ea"/>
                <a:cs typeface="+mj-cs"/>
              </a:rPr>
              <a:t>10</a:t>
            </a:r>
            <a:r>
              <a:rPr lang="zh-CN" altLang="en-US" sz="1800" b="0" noProof="1">
                <a:solidFill>
                  <a:schemeClr val="tx1"/>
                </a:solidFill>
                <a:latin typeface="+mn-ea"/>
                <a:ea typeface="+mn-ea"/>
                <a:cs typeface="+mj-cs"/>
              </a:rPr>
              <a:t>位。</a:t>
            </a:r>
            <a:endParaRPr lang="en-US" altLang="zh-CN" sz="18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1800" b="0" noProof="1">
                <a:solidFill>
                  <a:schemeClr val="tx1"/>
                </a:solidFill>
                <a:latin typeface="+mn-ea"/>
                <a:ea typeface="+mn-ea"/>
                <a:cs typeface="+mj-cs"/>
              </a:rPr>
              <a:t>发送时，第</a:t>
            </a:r>
            <a:r>
              <a:rPr lang="en-US" altLang="zh-CN" sz="1800" b="0" noProof="1">
                <a:solidFill>
                  <a:schemeClr val="tx1"/>
                </a:solidFill>
                <a:latin typeface="+mn-ea"/>
                <a:ea typeface="+mn-ea"/>
                <a:cs typeface="+mj-cs"/>
              </a:rPr>
              <a:t>9</a:t>
            </a:r>
            <a:r>
              <a:rPr lang="zh-CN" altLang="en-US" sz="1800" b="0" noProof="1">
                <a:solidFill>
                  <a:schemeClr val="tx1"/>
                </a:solidFill>
                <a:latin typeface="+mn-ea"/>
                <a:ea typeface="+mn-ea"/>
                <a:cs typeface="+mj-cs"/>
              </a:rPr>
              <a:t>数据位（</a:t>
            </a:r>
            <a:r>
              <a:rPr lang="en-US" altLang="zh-CN" sz="1800" b="0" noProof="1">
                <a:solidFill>
                  <a:schemeClr val="tx1"/>
                </a:solidFill>
                <a:latin typeface="+mn-ea"/>
                <a:ea typeface="+mn-ea"/>
                <a:cs typeface="+mj-cs"/>
              </a:rPr>
              <a:t>TB8</a:t>
            </a:r>
            <a:r>
              <a:rPr lang="zh-CN" altLang="en-US" sz="1800" b="0" noProof="1">
                <a:solidFill>
                  <a:schemeClr val="tx1"/>
                </a:solidFill>
                <a:latin typeface="+mn-ea"/>
                <a:ea typeface="+mn-ea"/>
                <a:cs typeface="+mj-cs"/>
              </a:rPr>
              <a:t>）可设置为</a:t>
            </a:r>
            <a:r>
              <a:rPr lang="en-US" altLang="zh-CN" sz="1800" b="0" noProof="1">
                <a:solidFill>
                  <a:schemeClr val="tx1"/>
                </a:solidFill>
                <a:latin typeface="+mn-ea"/>
                <a:ea typeface="+mn-ea"/>
                <a:cs typeface="+mj-cs"/>
              </a:rPr>
              <a:t>0</a:t>
            </a:r>
            <a:r>
              <a:rPr lang="zh-CN" altLang="en-US" sz="1800" b="0" noProof="1">
                <a:solidFill>
                  <a:schemeClr val="tx1"/>
                </a:solidFill>
                <a:latin typeface="+mn-ea"/>
                <a:ea typeface="+mn-ea"/>
                <a:cs typeface="+mj-cs"/>
              </a:rPr>
              <a:t>或</a:t>
            </a:r>
            <a:r>
              <a:rPr lang="en-US" altLang="zh-CN" sz="1800" b="0" noProof="1">
                <a:solidFill>
                  <a:schemeClr val="tx1"/>
                </a:solidFill>
                <a:latin typeface="+mn-ea"/>
                <a:ea typeface="+mn-ea"/>
                <a:cs typeface="+mj-cs"/>
              </a:rPr>
              <a:t>1</a:t>
            </a:r>
            <a:r>
              <a:rPr lang="zh-CN" altLang="en-US" sz="1800" b="0" noProof="1">
                <a:solidFill>
                  <a:schemeClr val="tx1"/>
                </a:solidFill>
                <a:latin typeface="+mn-ea"/>
                <a:ea typeface="+mn-ea"/>
                <a:cs typeface="+mj-cs"/>
              </a:rPr>
              <a:t>，可也将奇偶位装入；在接收时，第</a:t>
            </a:r>
            <a:r>
              <a:rPr lang="en-US" altLang="zh-CN" sz="1800" b="0" noProof="1">
                <a:solidFill>
                  <a:schemeClr val="tx1"/>
                </a:solidFill>
                <a:latin typeface="+mn-ea"/>
                <a:ea typeface="+mn-ea"/>
                <a:cs typeface="+mj-cs"/>
              </a:rPr>
              <a:t>9</a:t>
            </a:r>
            <a:r>
              <a:rPr lang="zh-CN" altLang="en-US" sz="1800" b="0" noProof="1">
                <a:solidFill>
                  <a:schemeClr val="tx1"/>
                </a:solidFill>
                <a:latin typeface="+mn-ea"/>
                <a:ea typeface="+mn-ea"/>
                <a:cs typeface="+mj-cs"/>
              </a:rPr>
              <a:t>数据位进入</a:t>
            </a:r>
            <a:r>
              <a:rPr lang="en-US" altLang="zh-CN" sz="1800" b="0" noProof="1">
                <a:solidFill>
                  <a:schemeClr val="tx1"/>
                </a:solidFill>
                <a:latin typeface="+mn-ea"/>
                <a:ea typeface="+mn-ea"/>
                <a:cs typeface="+mj-cs"/>
              </a:rPr>
              <a:t>SCON</a:t>
            </a:r>
            <a:r>
              <a:rPr lang="zh-CN" altLang="en-US" sz="1800" b="0" noProof="1">
                <a:solidFill>
                  <a:schemeClr val="tx1"/>
                </a:solidFill>
                <a:latin typeface="+mn-ea"/>
                <a:ea typeface="+mn-ea"/>
                <a:cs typeface="+mj-cs"/>
              </a:rPr>
              <a:t>的</a:t>
            </a:r>
            <a:r>
              <a:rPr lang="en-US" altLang="zh-CN" sz="1800" b="0" noProof="1">
                <a:solidFill>
                  <a:schemeClr val="tx1"/>
                </a:solidFill>
                <a:latin typeface="+mn-ea"/>
                <a:ea typeface="+mn-ea"/>
                <a:cs typeface="+mj-cs"/>
              </a:rPr>
              <a:t>RB8</a:t>
            </a:r>
            <a:r>
              <a:rPr lang="zh-CN" altLang="en-US" sz="1800" b="0" noProof="1">
                <a:solidFill>
                  <a:schemeClr val="tx1"/>
                </a:solidFill>
                <a:latin typeface="+mn-ea"/>
                <a:ea typeface="+mn-ea"/>
                <a:cs typeface="+mj-cs"/>
              </a:rPr>
              <a:t>。</a:t>
            </a:r>
            <a:endParaRPr lang="en-US" altLang="zh-CN" sz="1800" b="0" noProof="1">
              <a:solidFill>
                <a:schemeClr val="tx1"/>
              </a:solidFill>
              <a:latin typeface="+mn-ea"/>
              <a:ea typeface="+mn-ea"/>
              <a:cs typeface="+mj-cs"/>
            </a:endParaRPr>
          </a:p>
          <a:p>
            <a:pPr indent="457200" algn="l" rtl="0" fontAlgn="base">
              <a:lnSpc>
                <a:spcPct val="150000"/>
              </a:lnSpc>
              <a:spcBef>
                <a:spcPct val="0"/>
              </a:spcBef>
              <a:spcAft>
                <a:spcPct val="0"/>
              </a:spcAft>
            </a:pPr>
            <a:r>
              <a:rPr lang="zh-CN" altLang="en-US" sz="1800" b="0" noProof="1">
                <a:solidFill>
                  <a:schemeClr val="tx1"/>
                </a:solidFill>
                <a:latin typeface="+mn-ea"/>
                <a:ea typeface="+mn-ea"/>
                <a:cs typeface="+mj-cs"/>
              </a:rPr>
              <a:t>方式</a:t>
            </a:r>
            <a:r>
              <a:rPr lang="en-US" altLang="zh-CN" sz="1800" b="0" noProof="1">
                <a:solidFill>
                  <a:schemeClr val="tx1"/>
                </a:solidFill>
                <a:latin typeface="+mn-ea"/>
                <a:ea typeface="+mn-ea"/>
                <a:cs typeface="+mj-cs"/>
              </a:rPr>
              <a:t>2</a:t>
            </a:r>
            <a:r>
              <a:rPr lang="zh-CN" altLang="en-US" sz="1800" b="0" noProof="1">
                <a:solidFill>
                  <a:schemeClr val="tx1"/>
                </a:solidFill>
                <a:latin typeface="+mn-ea"/>
                <a:ea typeface="+mn-ea"/>
                <a:cs typeface="+mj-cs"/>
              </a:rPr>
              <a:t>、</a:t>
            </a:r>
            <a:r>
              <a:rPr lang="en-US" altLang="zh-CN" sz="1800" b="0" noProof="1">
                <a:solidFill>
                  <a:schemeClr val="tx1"/>
                </a:solidFill>
                <a:latin typeface="+mn-ea"/>
                <a:ea typeface="+mn-ea"/>
                <a:cs typeface="+mj-cs"/>
              </a:rPr>
              <a:t>3</a:t>
            </a:r>
            <a:r>
              <a:rPr lang="zh-CN" altLang="en-US" sz="1800" b="0" noProof="1">
                <a:solidFill>
                  <a:schemeClr val="tx1"/>
                </a:solidFill>
                <a:latin typeface="+mn-ea"/>
                <a:ea typeface="+mn-ea"/>
                <a:cs typeface="+mj-cs"/>
              </a:rPr>
              <a:t>可用于多机通信。</a:t>
            </a:r>
            <a:endParaRPr lang="en-US" altLang="zh-CN" sz="1800" b="0" noProof="1">
              <a:solidFill>
                <a:srgbClr val="FF3300"/>
              </a:solidFill>
              <a:latin typeface="+mn-ea"/>
              <a:ea typeface="+mn-ea"/>
              <a:cs typeface="+mj-cs"/>
            </a:endParaRPr>
          </a:p>
        </p:txBody>
      </p:sp>
      <p:sp>
        <p:nvSpPr>
          <p:cNvPr id="6" name="object 5"/>
          <p:cNvSpPr/>
          <p:nvPr/>
        </p:nvSpPr>
        <p:spPr>
          <a:xfrm>
            <a:off x="2133600" y="4876800"/>
            <a:ext cx="5638800" cy="174815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77876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24</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609600" y="1219200"/>
            <a:ext cx="4572000"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b="0" i="0" u="none" strike="noStrike" kern="1200" cap="none" spc="0" normalizeH="0" baseline="0" noProof="1">
                <a:solidFill>
                  <a:schemeClr val="tx1"/>
                </a:solidFill>
                <a:latin typeface="+mn-ea"/>
                <a:ea typeface="+mn-ea"/>
                <a:cs typeface="+mj-cs"/>
              </a:rPr>
              <a:t>（</a:t>
            </a:r>
            <a:r>
              <a:rPr lang="en-US" altLang="zh-CN" b="0" kern="120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）串口方式</a:t>
            </a:r>
            <a:r>
              <a:rPr kumimoji="0" lang="en-US" altLang="zh-CN" b="0" i="0" u="none" strike="noStrike" kern="1200" cap="none" spc="0" normalizeH="0" baseline="0" noProof="1">
                <a:solidFill>
                  <a:schemeClr val="tx1"/>
                </a:solidFill>
                <a:latin typeface="+mn-ea"/>
                <a:ea typeface="+mn-ea"/>
                <a:cs typeface="+mj-cs"/>
              </a:rPr>
              <a:t>2</a:t>
            </a:r>
            <a:r>
              <a:rPr kumimoji="0" lang="zh-CN" altLang="en-US" b="0" i="0" u="none" strike="noStrike" kern="1200" cap="none" spc="0" normalizeH="0" baseline="0" noProof="1">
                <a:solidFill>
                  <a:schemeClr val="tx1"/>
                </a:solidFill>
                <a:latin typeface="+mn-ea"/>
                <a:ea typeface="+mn-ea"/>
                <a:cs typeface="+mj-cs"/>
              </a:rPr>
              <a:t>和方式</a:t>
            </a:r>
            <a:r>
              <a:rPr kumimoji="0" lang="en-US" altLang="zh-CN" b="0" i="0" u="none" strike="noStrike" kern="1200" cap="none" spc="0" normalizeH="0" baseline="0" noProof="1">
                <a:solidFill>
                  <a:schemeClr val="tx1"/>
                </a:solidFill>
                <a:latin typeface="+mn-ea"/>
                <a:ea typeface="+mn-ea"/>
                <a:cs typeface="+mj-cs"/>
              </a:rPr>
              <a:t>3</a:t>
            </a:r>
            <a:endParaRPr kumimoji="0" lang="zh-CN" altLang="en-US" b="0" i="0" u="none" strike="noStrike" kern="1200" cap="none" spc="0" normalizeH="0" baseline="0" noProof="1">
              <a:solidFill>
                <a:schemeClr val="tx1"/>
              </a:solidFill>
              <a:latin typeface="+mn-ea"/>
              <a:ea typeface="+mn-ea"/>
              <a:cs typeface="+mj-cs"/>
            </a:endParaRP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pic>
        <p:nvPicPr>
          <p:cNvPr id="2" name="图片 1"/>
          <p:cNvPicPr>
            <a:picLocks noChangeAspect="1"/>
          </p:cNvPicPr>
          <p:nvPr/>
        </p:nvPicPr>
        <p:blipFill>
          <a:blip r:embed="rId2"/>
          <a:stretch>
            <a:fillRect/>
          </a:stretch>
        </p:blipFill>
        <p:spPr>
          <a:xfrm>
            <a:off x="1371600" y="2057400"/>
            <a:ext cx="6576562" cy="4152704"/>
          </a:xfrm>
          <a:prstGeom prst="rect">
            <a:avLst/>
          </a:prstGeom>
        </p:spPr>
      </p:pic>
    </p:spTree>
    <p:extLst>
      <p:ext uri="{BB962C8B-B14F-4D97-AF65-F5344CB8AC3E}">
        <p14:creationId xmlns:p14="http://schemas.microsoft.com/office/powerpoint/2010/main" val="2027892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25</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4. </a:t>
            </a:r>
            <a:r>
              <a:rPr lang="zh-CN" altLang="en-US" dirty="0">
                <a:solidFill>
                  <a:srgbClr val="FF0000"/>
                </a:solidFill>
              </a:rPr>
              <a:t>波特率设计</a:t>
            </a:r>
          </a:p>
        </p:txBody>
      </p:sp>
      <p:sp>
        <p:nvSpPr>
          <p:cNvPr id="8" name="矩形 7"/>
          <p:cNvSpPr/>
          <p:nvPr/>
        </p:nvSpPr>
        <p:spPr>
          <a:xfrm>
            <a:off x="685800" y="2236321"/>
            <a:ext cx="7494588" cy="1273875"/>
          </a:xfrm>
          <a:prstGeom prst="rect">
            <a:avLst/>
          </a:prstGeom>
        </p:spPr>
        <p:txBody>
          <a:bodyPr wrap="square">
            <a:spAutoFit/>
          </a:bodyPr>
          <a:lstStyle/>
          <a:p>
            <a:pPr indent="457200">
              <a:lnSpc>
                <a:spcPct val="150000"/>
              </a:lnSpc>
            </a:pPr>
            <a:r>
              <a:rPr lang="zh-CN" altLang="en-US" dirty="0">
                <a:latin typeface="+mn-ea"/>
              </a:rPr>
              <a:t>串行口的</a:t>
            </a:r>
            <a:r>
              <a:rPr lang="en-US" altLang="zh-CN" dirty="0">
                <a:latin typeface="+mn-ea"/>
              </a:rPr>
              <a:t>4</a:t>
            </a:r>
            <a:r>
              <a:rPr lang="zh-CN" altLang="en-US" dirty="0">
                <a:latin typeface="+mn-ea"/>
              </a:rPr>
              <a:t>种工作方式对应着</a:t>
            </a:r>
            <a:r>
              <a:rPr lang="en-US" altLang="zh-CN" dirty="0">
                <a:latin typeface="+mn-ea"/>
              </a:rPr>
              <a:t>3</a:t>
            </a:r>
            <a:r>
              <a:rPr lang="zh-CN" altLang="en-US" dirty="0">
                <a:latin typeface="+mn-ea"/>
              </a:rPr>
              <a:t>中波特率。由于输入和移位时钟的来源不同，各种方式的波特率计算公式不同。</a:t>
            </a:r>
            <a:endParaRPr lang="en-US" altLang="zh-CN" dirty="0">
              <a:latin typeface="+mn-ea"/>
            </a:endParaRPr>
          </a:p>
          <a:p>
            <a:pPr indent="457200">
              <a:lnSpc>
                <a:spcPct val="150000"/>
              </a:lnSpc>
            </a:pPr>
            <a:r>
              <a:rPr lang="zh-CN" altLang="en-US" dirty="0">
                <a:latin typeface="+mn-ea"/>
              </a:rPr>
              <a:t>方式</a:t>
            </a:r>
            <a:r>
              <a:rPr lang="en-US" altLang="zh-CN" dirty="0">
                <a:latin typeface="+mn-ea"/>
              </a:rPr>
              <a:t>0</a:t>
            </a:r>
            <a:r>
              <a:rPr lang="zh-CN" altLang="en-US" dirty="0">
                <a:latin typeface="+mn-ea"/>
              </a:rPr>
              <a:t>和方式</a:t>
            </a:r>
            <a:r>
              <a:rPr lang="en-US" altLang="zh-CN" dirty="0">
                <a:latin typeface="+mn-ea"/>
              </a:rPr>
              <a:t>2</a:t>
            </a:r>
            <a:r>
              <a:rPr lang="zh-CN" altLang="en-US" dirty="0">
                <a:latin typeface="+mn-ea"/>
              </a:rPr>
              <a:t>的波特率是固定的，而方式</a:t>
            </a:r>
            <a:r>
              <a:rPr lang="en-US" altLang="zh-CN" dirty="0">
                <a:latin typeface="+mn-ea"/>
              </a:rPr>
              <a:t>3</a:t>
            </a:r>
            <a:r>
              <a:rPr lang="zh-CN" altLang="en-US" dirty="0">
                <a:latin typeface="+mn-ea"/>
              </a:rPr>
              <a:t>的波特率是可变的。</a:t>
            </a:r>
          </a:p>
        </p:txBody>
      </p:sp>
      <p:sp>
        <p:nvSpPr>
          <p:cNvPr id="17" name="矩形 16"/>
          <p:cNvSpPr/>
          <p:nvPr/>
        </p:nvSpPr>
        <p:spPr>
          <a:xfrm>
            <a:off x="685800" y="3696162"/>
            <a:ext cx="7494588" cy="442878"/>
          </a:xfrm>
          <a:prstGeom prst="rect">
            <a:avLst/>
          </a:prstGeom>
        </p:spPr>
        <p:txBody>
          <a:bodyPr wrap="square">
            <a:spAutoFit/>
          </a:bodyPr>
          <a:lstStyle/>
          <a:p>
            <a:pPr>
              <a:lnSpc>
                <a:spcPct val="150000"/>
              </a:lnSpc>
            </a:pPr>
            <a:r>
              <a:rPr lang="zh-CN" altLang="en-US" dirty="0">
                <a:latin typeface="+mn-ea"/>
              </a:rPr>
              <a:t>（</a:t>
            </a:r>
            <a:r>
              <a:rPr lang="en-US" altLang="zh-CN" dirty="0">
                <a:latin typeface="+mn-ea"/>
              </a:rPr>
              <a:t>1</a:t>
            </a:r>
            <a:r>
              <a:rPr lang="zh-CN" altLang="en-US" dirty="0">
                <a:latin typeface="+mn-ea"/>
              </a:rPr>
              <a:t>）方式</a:t>
            </a:r>
            <a:r>
              <a:rPr lang="en-US" altLang="zh-CN" dirty="0">
                <a:latin typeface="+mn-ea"/>
              </a:rPr>
              <a:t>0</a:t>
            </a:r>
            <a:r>
              <a:rPr lang="zh-CN" altLang="en-US" dirty="0">
                <a:latin typeface="+mn-ea"/>
              </a:rPr>
              <a:t>波特率</a:t>
            </a:r>
          </a:p>
        </p:txBody>
      </p:sp>
      <p:sp>
        <p:nvSpPr>
          <p:cNvPr id="18" name="矩形 17"/>
          <p:cNvSpPr/>
          <p:nvPr/>
        </p:nvSpPr>
        <p:spPr>
          <a:xfrm>
            <a:off x="838200" y="4239008"/>
            <a:ext cx="7494588" cy="507831"/>
          </a:xfrm>
          <a:prstGeom prst="rect">
            <a:avLst/>
          </a:prstGeom>
        </p:spPr>
        <p:txBody>
          <a:bodyPr wrap="square">
            <a:spAutoFit/>
          </a:bodyPr>
          <a:lstStyle/>
          <a:p>
            <a:pPr indent="457200">
              <a:lnSpc>
                <a:spcPct val="150000"/>
              </a:lnSpc>
            </a:pPr>
            <a:r>
              <a:rPr lang="zh-CN" altLang="en-US" dirty="0">
                <a:latin typeface="+mn-ea"/>
              </a:rPr>
              <a:t>方式</a:t>
            </a:r>
            <a:r>
              <a:rPr lang="en-US" altLang="zh-CN" dirty="0">
                <a:latin typeface="+mn-ea"/>
              </a:rPr>
              <a:t>0</a:t>
            </a:r>
            <a:r>
              <a:rPr lang="zh-CN" altLang="en-US" dirty="0">
                <a:latin typeface="+mn-ea"/>
              </a:rPr>
              <a:t>波特率固定为振荡频率的</a:t>
            </a:r>
            <a:r>
              <a:rPr lang="en-US" altLang="zh-CN" dirty="0">
                <a:latin typeface="+mn-ea"/>
              </a:rPr>
              <a:t>1/12</a:t>
            </a:r>
            <a:r>
              <a:rPr lang="zh-CN" altLang="en-US" dirty="0">
                <a:latin typeface="+mn-ea"/>
              </a:rPr>
              <a:t>，不受</a:t>
            </a:r>
            <a:r>
              <a:rPr lang="en-US" altLang="zh-CN" dirty="0">
                <a:latin typeface="+mn-ea"/>
              </a:rPr>
              <a:t>PCON</a:t>
            </a:r>
            <a:r>
              <a:rPr lang="zh-CN" altLang="en-US" dirty="0">
                <a:latin typeface="+mn-ea"/>
              </a:rPr>
              <a:t>寄存器中</a:t>
            </a:r>
            <a:r>
              <a:rPr lang="en-US" altLang="zh-CN" dirty="0">
                <a:latin typeface="+mn-ea"/>
              </a:rPr>
              <a:t>SMOD</a:t>
            </a:r>
            <a:r>
              <a:rPr lang="zh-CN" altLang="en-US" dirty="0">
                <a:latin typeface="+mn-ea"/>
              </a:rPr>
              <a:t>位影响。</a:t>
            </a:r>
          </a:p>
        </p:txBody>
      </p:sp>
      <p:pic>
        <p:nvPicPr>
          <p:cNvPr id="2" name="图片 1"/>
          <p:cNvPicPr>
            <a:picLocks noChangeAspect="1"/>
          </p:cNvPicPr>
          <p:nvPr/>
        </p:nvPicPr>
        <p:blipFill>
          <a:blip r:embed="rId2"/>
          <a:stretch>
            <a:fillRect/>
          </a:stretch>
        </p:blipFill>
        <p:spPr>
          <a:xfrm>
            <a:off x="1752600" y="5447076"/>
            <a:ext cx="2209800" cy="344041"/>
          </a:xfrm>
          <a:prstGeom prst="rect">
            <a:avLst/>
          </a:prstGeom>
        </p:spPr>
      </p:pic>
      <p:pic>
        <p:nvPicPr>
          <p:cNvPr id="5" name="图片 4"/>
          <p:cNvPicPr>
            <a:picLocks noChangeAspect="1"/>
          </p:cNvPicPr>
          <p:nvPr/>
        </p:nvPicPr>
        <p:blipFill>
          <a:blip r:embed="rId3"/>
          <a:stretch>
            <a:fillRect/>
          </a:stretch>
        </p:blipFill>
        <p:spPr>
          <a:xfrm>
            <a:off x="4356445" y="4828219"/>
            <a:ext cx="3823943" cy="1750163"/>
          </a:xfrm>
          <a:prstGeom prst="rect">
            <a:avLst/>
          </a:prstGeom>
        </p:spPr>
      </p:pic>
    </p:spTree>
    <p:extLst>
      <p:ext uri="{BB962C8B-B14F-4D97-AF65-F5344CB8AC3E}">
        <p14:creationId xmlns:p14="http://schemas.microsoft.com/office/powerpoint/2010/main" val="3202137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26</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4. </a:t>
            </a:r>
            <a:r>
              <a:rPr lang="zh-CN" altLang="en-US" dirty="0">
                <a:solidFill>
                  <a:srgbClr val="FF0000"/>
                </a:solidFill>
              </a:rPr>
              <a:t>波特率设计</a:t>
            </a:r>
          </a:p>
        </p:txBody>
      </p:sp>
      <p:sp>
        <p:nvSpPr>
          <p:cNvPr id="17" name="矩形 16"/>
          <p:cNvSpPr/>
          <p:nvPr/>
        </p:nvSpPr>
        <p:spPr>
          <a:xfrm>
            <a:off x="685800" y="2217271"/>
            <a:ext cx="7494588" cy="442878"/>
          </a:xfrm>
          <a:prstGeom prst="rect">
            <a:avLst/>
          </a:prstGeom>
        </p:spPr>
        <p:txBody>
          <a:bodyPr wrap="square">
            <a:spAutoFit/>
          </a:bodyPr>
          <a:lstStyle/>
          <a:p>
            <a:pPr>
              <a:lnSpc>
                <a:spcPct val="150000"/>
              </a:lnSpc>
            </a:pPr>
            <a:r>
              <a:rPr lang="zh-CN" altLang="en-US" dirty="0">
                <a:latin typeface="+mn-ea"/>
              </a:rPr>
              <a:t>（</a:t>
            </a:r>
            <a:r>
              <a:rPr lang="en-US" altLang="zh-CN" dirty="0">
                <a:latin typeface="+mn-ea"/>
              </a:rPr>
              <a:t>2</a:t>
            </a:r>
            <a:r>
              <a:rPr lang="zh-CN" altLang="en-US" dirty="0">
                <a:latin typeface="+mn-ea"/>
              </a:rPr>
              <a:t>）方式</a:t>
            </a:r>
            <a:r>
              <a:rPr lang="en-US" altLang="zh-CN" dirty="0">
                <a:latin typeface="+mn-ea"/>
              </a:rPr>
              <a:t>2</a:t>
            </a:r>
            <a:r>
              <a:rPr lang="zh-CN" altLang="en-US" dirty="0">
                <a:latin typeface="+mn-ea"/>
              </a:rPr>
              <a:t>波特率</a:t>
            </a:r>
          </a:p>
        </p:txBody>
      </p:sp>
      <p:sp>
        <p:nvSpPr>
          <p:cNvPr id="18" name="矩形 17"/>
          <p:cNvSpPr/>
          <p:nvPr/>
        </p:nvSpPr>
        <p:spPr>
          <a:xfrm>
            <a:off x="838200" y="2760117"/>
            <a:ext cx="7494588" cy="923330"/>
          </a:xfrm>
          <a:prstGeom prst="rect">
            <a:avLst/>
          </a:prstGeom>
        </p:spPr>
        <p:txBody>
          <a:bodyPr wrap="square">
            <a:spAutoFit/>
          </a:bodyPr>
          <a:lstStyle/>
          <a:p>
            <a:pPr indent="457200">
              <a:lnSpc>
                <a:spcPct val="150000"/>
              </a:lnSpc>
            </a:pPr>
            <a:r>
              <a:rPr lang="zh-CN" altLang="en-US" dirty="0">
                <a:latin typeface="+mn-ea"/>
              </a:rPr>
              <a:t>方式</a:t>
            </a:r>
            <a:r>
              <a:rPr lang="en-US" altLang="zh-CN" dirty="0">
                <a:latin typeface="+mn-ea"/>
              </a:rPr>
              <a:t>2</a:t>
            </a:r>
            <a:r>
              <a:rPr lang="zh-CN" altLang="en-US" dirty="0">
                <a:latin typeface="+mn-ea"/>
              </a:rPr>
              <a:t>波特率取决于</a:t>
            </a:r>
            <a:r>
              <a:rPr lang="en-US" altLang="zh-CN" dirty="0">
                <a:latin typeface="+mn-ea"/>
              </a:rPr>
              <a:t>PCON</a:t>
            </a:r>
            <a:r>
              <a:rPr lang="zh-CN" altLang="en-US" dirty="0">
                <a:latin typeface="+mn-ea"/>
              </a:rPr>
              <a:t>寄存器中</a:t>
            </a:r>
            <a:r>
              <a:rPr lang="en-US" altLang="zh-CN" dirty="0">
                <a:latin typeface="+mn-ea"/>
              </a:rPr>
              <a:t>SMOD</a:t>
            </a:r>
            <a:r>
              <a:rPr lang="zh-CN" altLang="en-US" dirty="0">
                <a:latin typeface="+mn-ea"/>
              </a:rPr>
              <a:t>位的值：当</a:t>
            </a:r>
            <a:r>
              <a:rPr lang="en-US" altLang="zh-CN" dirty="0">
                <a:latin typeface="+mn-ea"/>
              </a:rPr>
              <a:t>SMOD=0</a:t>
            </a:r>
            <a:r>
              <a:rPr lang="zh-CN" altLang="en-US" dirty="0">
                <a:latin typeface="+mn-ea"/>
              </a:rPr>
              <a:t>，波特率为</a:t>
            </a:r>
            <a:r>
              <a:rPr lang="en-US" altLang="zh-CN" dirty="0" err="1">
                <a:latin typeface="+mn-ea"/>
              </a:rPr>
              <a:t>fosc</a:t>
            </a:r>
            <a:r>
              <a:rPr lang="zh-CN" altLang="en-US" dirty="0">
                <a:latin typeface="+mn-ea"/>
              </a:rPr>
              <a:t>的</a:t>
            </a:r>
            <a:r>
              <a:rPr lang="en-US" altLang="zh-CN" dirty="0">
                <a:latin typeface="+mn-ea"/>
              </a:rPr>
              <a:t>1/64</a:t>
            </a:r>
            <a:r>
              <a:rPr lang="zh-CN" altLang="en-US" dirty="0">
                <a:latin typeface="+mn-ea"/>
              </a:rPr>
              <a:t>；当</a:t>
            </a:r>
            <a:r>
              <a:rPr lang="en-US" altLang="zh-CN" dirty="0">
                <a:latin typeface="+mn-ea"/>
              </a:rPr>
              <a:t>SMOD=1</a:t>
            </a:r>
            <a:r>
              <a:rPr lang="zh-CN" altLang="en-US" dirty="0">
                <a:latin typeface="+mn-ea"/>
              </a:rPr>
              <a:t>，波特率为</a:t>
            </a:r>
            <a:r>
              <a:rPr lang="en-US" altLang="zh-CN" dirty="0" err="1">
                <a:latin typeface="+mn-ea"/>
              </a:rPr>
              <a:t>fosc</a:t>
            </a:r>
            <a:r>
              <a:rPr lang="zh-CN" altLang="en-US" dirty="0">
                <a:latin typeface="+mn-ea"/>
              </a:rPr>
              <a:t>的</a:t>
            </a:r>
            <a:r>
              <a:rPr lang="en-US" altLang="zh-CN" dirty="0">
                <a:latin typeface="+mn-ea"/>
              </a:rPr>
              <a:t>1/32</a:t>
            </a:r>
            <a:r>
              <a:rPr lang="zh-CN" altLang="en-US" dirty="0">
                <a:latin typeface="+mn-ea"/>
              </a:rPr>
              <a:t>。</a:t>
            </a:r>
          </a:p>
        </p:txBody>
      </p:sp>
      <p:pic>
        <p:nvPicPr>
          <p:cNvPr id="6" name="图片 5"/>
          <p:cNvPicPr>
            <a:picLocks noChangeAspect="1"/>
          </p:cNvPicPr>
          <p:nvPr/>
        </p:nvPicPr>
        <p:blipFill>
          <a:blip r:embed="rId2"/>
          <a:stretch>
            <a:fillRect/>
          </a:stretch>
        </p:blipFill>
        <p:spPr>
          <a:xfrm>
            <a:off x="3014046" y="3783415"/>
            <a:ext cx="2838095" cy="628571"/>
          </a:xfrm>
          <a:prstGeom prst="rect">
            <a:avLst/>
          </a:prstGeom>
        </p:spPr>
      </p:pic>
      <p:pic>
        <p:nvPicPr>
          <p:cNvPr id="7" name="图片 6"/>
          <p:cNvPicPr>
            <a:picLocks noChangeAspect="1"/>
          </p:cNvPicPr>
          <p:nvPr/>
        </p:nvPicPr>
        <p:blipFill>
          <a:blip r:embed="rId3"/>
          <a:stretch>
            <a:fillRect/>
          </a:stretch>
        </p:blipFill>
        <p:spPr>
          <a:xfrm>
            <a:off x="1204541" y="4411986"/>
            <a:ext cx="6761905" cy="2076190"/>
          </a:xfrm>
          <a:prstGeom prst="rect">
            <a:avLst/>
          </a:prstGeom>
        </p:spPr>
      </p:pic>
    </p:spTree>
    <p:extLst>
      <p:ext uri="{BB962C8B-B14F-4D97-AF65-F5344CB8AC3E}">
        <p14:creationId xmlns:p14="http://schemas.microsoft.com/office/powerpoint/2010/main" val="2038648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27</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4. </a:t>
            </a:r>
            <a:r>
              <a:rPr lang="zh-CN" altLang="en-US" dirty="0">
                <a:solidFill>
                  <a:srgbClr val="FF0000"/>
                </a:solidFill>
              </a:rPr>
              <a:t>波特率设计</a:t>
            </a:r>
          </a:p>
        </p:txBody>
      </p:sp>
      <p:sp>
        <p:nvSpPr>
          <p:cNvPr id="17" name="矩形 16"/>
          <p:cNvSpPr/>
          <p:nvPr/>
        </p:nvSpPr>
        <p:spPr>
          <a:xfrm>
            <a:off x="685800" y="2217271"/>
            <a:ext cx="7494588" cy="507831"/>
          </a:xfrm>
          <a:prstGeom prst="rect">
            <a:avLst/>
          </a:prstGeom>
        </p:spPr>
        <p:txBody>
          <a:bodyPr wrap="square">
            <a:spAutoFit/>
          </a:bodyPr>
          <a:lstStyle/>
          <a:p>
            <a:pPr>
              <a:lnSpc>
                <a:spcPct val="150000"/>
              </a:lnSpc>
            </a:pPr>
            <a:r>
              <a:rPr lang="zh-CN" altLang="en-US" dirty="0">
                <a:latin typeface="+mn-ea"/>
              </a:rPr>
              <a:t>（</a:t>
            </a:r>
            <a:r>
              <a:rPr lang="en-US" altLang="zh-CN" dirty="0">
                <a:latin typeface="+mn-ea"/>
              </a:rPr>
              <a:t>3</a:t>
            </a:r>
            <a:r>
              <a:rPr lang="zh-CN" altLang="en-US" dirty="0">
                <a:latin typeface="+mn-ea"/>
              </a:rPr>
              <a:t>）方式</a:t>
            </a:r>
            <a:r>
              <a:rPr lang="en-US" altLang="zh-CN" dirty="0">
                <a:latin typeface="+mn-ea"/>
              </a:rPr>
              <a:t>1</a:t>
            </a:r>
            <a:r>
              <a:rPr lang="zh-CN" altLang="en-US" dirty="0">
                <a:latin typeface="+mn-ea"/>
              </a:rPr>
              <a:t>和方式</a:t>
            </a:r>
            <a:r>
              <a:rPr lang="en-US" altLang="zh-CN" dirty="0">
                <a:latin typeface="+mn-ea"/>
              </a:rPr>
              <a:t>3</a:t>
            </a:r>
            <a:r>
              <a:rPr lang="zh-CN" altLang="en-US" dirty="0">
                <a:latin typeface="+mn-ea"/>
              </a:rPr>
              <a:t>的波特率</a:t>
            </a:r>
          </a:p>
        </p:txBody>
      </p:sp>
      <p:sp>
        <p:nvSpPr>
          <p:cNvPr id="18" name="矩形 17"/>
          <p:cNvSpPr/>
          <p:nvPr/>
        </p:nvSpPr>
        <p:spPr>
          <a:xfrm>
            <a:off x="685800" y="2725102"/>
            <a:ext cx="7494588" cy="442878"/>
          </a:xfrm>
          <a:prstGeom prst="rect">
            <a:avLst/>
          </a:prstGeom>
        </p:spPr>
        <p:txBody>
          <a:bodyPr wrap="square">
            <a:spAutoFit/>
          </a:bodyPr>
          <a:lstStyle/>
          <a:p>
            <a:pPr indent="457200">
              <a:lnSpc>
                <a:spcPct val="150000"/>
              </a:lnSpc>
            </a:pPr>
            <a:r>
              <a:rPr lang="zh-CN" altLang="en-US" dirty="0">
                <a:latin typeface="+mn-ea"/>
              </a:rPr>
              <a:t>方式</a:t>
            </a:r>
            <a:r>
              <a:rPr lang="en-US" altLang="zh-CN" dirty="0">
                <a:latin typeface="+mn-ea"/>
              </a:rPr>
              <a:t>1</a:t>
            </a:r>
            <a:r>
              <a:rPr lang="zh-CN" altLang="en-US" dirty="0">
                <a:latin typeface="+mn-ea"/>
              </a:rPr>
              <a:t>和方式</a:t>
            </a:r>
            <a:r>
              <a:rPr lang="en-US" altLang="zh-CN" dirty="0">
                <a:latin typeface="+mn-ea"/>
              </a:rPr>
              <a:t>3</a:t>
            </a:r>
            <a:r>
              <a:rPr lang="zh-CN" altLang="en-US" dirty="0">
                <a:latin typeface="+mn-ea"/>
              </a:rPr>
              <a:t>的波特率定时器</a:t>
            </a:r>
            <a:r>
              <a:rPr lang="en-US" altLang="zh-CN" dirty="0">
                <a:latin typeface="+mn-ea"/>
              </a:rPr>
              <a:t>T1</a:t>
            </a:r>
            <a:r>
              <a:rPr lang="zh-CN" altLang="en-US" dirty="0">
                <a:latin typeface="+mn-ea"/>
              </a:rPr>
              <a:t>的溢出率与</a:t>
            </a:r>
            <a:r>
              <a:rPr lang="en-US" altLang="zh-CN" dirty="0">
                <a:latin typeface="+mn-ea"/>
              </a:rPr>
              <a:t>SMOD</a:t>
            </a:r>
            <a:r>
              <a:rPr lang="zh-CN" altLang="en-US" dirty="0">
                <a:latin typeface="+mn-ea"/>
              </a:rPr>
              <a:t>的值共同决定。</a:t>
            </a:r>
          </a:p>
        </p:txBody>
      </p:sp>
      <p:pic>
        <p:nvPicPr>
          <p:cNvPr id="2" name="图片 1"/>
          <p:cNvPicPr>
            <a:picLocks noChangeAspect="1"/>
          </p:cNvPicPr>
          <p:nvPr/>
        </p:nvPicPr>
        <p:blipFill>
          <a:blip r:embed="rId2"/>
          <a:stretch>
            <a:fillRect/>
          </a:stretch>
        </p:blipFill>
        <p:spPr>
          <a:xfrm>
            <a:off x="1682877" y="3391276"/>
            <a:ext cx="6085714" cy="3009524"/>
          </a:xfrm>
          <a:prstGeom prst="rect">
            <a:avLst/>
          </a:prstGeom>
        </p:spPr>
      </p:pic>
    </p:spTree>
    <p:extLst>
      <p:ext uri="{BB962C8B-B14F-4D97-AF65-F5344CB8AC3E}">
        <p14:creationId xmlns:p14="http://schemas.microsoft.com/office/powerpoint/2010/main" val="451266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8027988" y="6400800"/>
            <a:ext cx="1116013" cy="457200"/>
          </a:xfrm>
        </p:spPr>
        <p:txBody>
          <a:bodyPr anchor="b"/>
          <a:lstStyle/>
          <a:p>
            <a:pPr marL="0" marR="0" lvl="0" indent="0" algn="r" defTabSz="914400" rtl="0" eaLnBrk="1" fontAlgn="base" latinLnBrk="0" hangingPunct="1">
              <a:lnSpc>
                <a:spcPct val="100000"/>
              </a:lnSpc>
              <a:spcBef>
                <a:spcPct val="0"/>
              </a:spcBef>
              <a:spcAft>
                <a:spcPct val="0"/>
              </a:spcAft>
              <a:buClrTx/>
              <a:buSzTx/>
              <a:buFontTx/>
              <a:buNone/>
            </a:pPr>
            <a:fld id="{9A0DB2DC-4C9A-4742-B13C-FB6460FD3503}" type="slidenum">
              <a:rPr kumimoji="0" lang="zh-CN" altLang="en-US" sz="1200" b="0" i="0" u="none" strike="noStrike" kern="1200" cap="none" spc="0" normalizeH="0" baseline="0"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28</a:t>
            </a:fld>
            <a:endParaRPr kumimoji="0" lang="zh-CN" altLang="en-US" sz="1200" b="0"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4. </a:t>
            </a:r>
            <a:r>
              <a:rPr lang="zh-CN" altLang="en-US" dirty="0">
                <a:solidFill>
                  <a:srgbClr val="FF0000"/>
                </a:solidFill>
              </a:rPr>
              <a:t>波特率设计</a:t>
            </a:r>
          </a:p>
        </p:txBody>
      </p:sp>
      <p:sp>
        <p:nvSpPr>
          <p:cNvPr id="17" name="矩形 16"/>
          <p:cNvSpPr/>
          <p:nvPr/>
        </p:nvSpPr>
        <p:spPr>
          <a:xfrm>
            <a:off x="685800" y="2217271"/>
            <a:ext cx="7494588" cy="507831"/>
          </a:xfrm>
          <a:prstGeom prst="rect">
            <a:avLst/>
          </a:prstGeom>
        </p:spPr>
        <p:txBody>
          <a:bodyPr wrap="square">
            <a:spAutoFit/>
          </a:bodyPr>
          <a:lstStyle/>
          <a:p>
            <a:pPr>
              <a:lnSpc>
                <a:spcPct val="150000"/>
              </a:lnSpc>
            </a:pPr>
            <a:r>
              <a:rPr lang="zh-CN" altLang="en-US" dirty="0">
                <a:latin typeface="+mn-ea"/>
              </a:rPr>
              <a:t>（</a:t>
            </a:r>
            <a:r>
              <a:rPr lang="en-US" altLang="zh-CN" dirty="0">
                <a:latin typeface="+mn-ea"/>
              </a:rPr>
              <a:t>3</a:t>
            </a:r>
            <a:r>
              <a:rPr lang="zh-CN" altLang="en-US" dirty="0">
                <a:latin typeface="+mn-ea"/>
              </a:rPr>
              <a:t>）方式</a:t>
            </a:r>
            <a:r>
              <a:rPr lang="en-US" altLang="zh-CN" dirty="0">
                <a:latin typeface="+mn-ea"/>
              </a:rPr>
              <a:t>1</a:t>
            </a:r>
            <a:r>
              <a:rPr lang="zh-CN" altLang="en-US" dirty="0">
                <a:latin typeface="+mn-ea"/>
              </a:rPr>
              <a:t>和方式</a:t>
            </a:r>
            <a:r>
              <a:rPr lang="en-US" altLang="zh-CN" dirty="0">
                <a:latin typeface="+mn-ea"/>
              </a:rPr>
              <a:t>3</a:t>
            </a:r>
            <a:r>
              <a:rPr lang="zh-CN" altLang="en-US" dirty="0">
                <a:latin typeface="+mn-ea"/>
              </a:rPr>
              <a:t>的波特率</a:t>
            </a:r>
          </a:p>
        </p:txBody>
      </p:sp>
      <p:sp>
        <p:nvSpPr>
          <p:cNvPr id="18" name="矩形 17"/>
          <p:cNvSpPr/>
          <p:nvPr/>
        </p:nvSpPr>
        <p:spPr>
          <a:xfrm>
            <a:off x="685797" y="2693303"/>
            <a:ext cx="7494588" cy="442878"/>
          </a:xfrm>
          <a:prstGeom prst="rect">
            <a:avLst/>
          </a:prstGeom>
        </p:spPr>
        <p:txBody>
          <a:bodyPr wrap="square">
            <a:spAutoFit/>
          </a:bodyPr>
          <a:lstStyle/>
          <a:p>
            <a:pPr indent="457200">
              <a:lnSpc>
                <a:spcPct val="150000"/>
              </a:lnSpc>
            </a:pPr>
            <a:r>
              <a:rPr lang="zh-CN" altLang="en-US" dirty="0">
                <a:latin typeface="+mn-ea"/>
              </a:rPr>
              <a:t>方式</a:t>
            </a:r>
            <a:r>
              <a:rPr lang="en-US" altLang="zh-CN" dirty="0">
                <a:latin typeface="+mn-ea"/>
              </a:rPr>
              <a:t>1</a:t>
            </a:r>
            <a:r>
              <a:rPr lang="zh-CN" altLang="en-US" dirty="0">
                <a:latin typeface="+mn-ea"/>
              </a:rPr>
              <a:t>和方式</a:t>
            </a:r>
            <a:r>
              <a:rPr lang="en-US" altLang="zh-CN" dirty="0">
                <a:latin typeface="+mn-ea"/>
              </a:rPr>
              <a:t>3</a:t>
            </a:r>
            <a:r>
              <a:rPr lang="zh-CN" altLang="en-US" dirty="0">
                <a:latin typeface="+mn-ea"/>
              </a:rPr>
              <a:t>的波特率定时器</a:t>
            </a:r>
            <a:r>
              <a:rPr lang="en-US" altLang="zh-CN" dirty="0">
                <a:latin typeface="+mn-ea"/>
              </a:rPr>
              <a:t>T1</a:t>
            </a:r>
            <a:r>
              <a:rPr lang="zh-CN" altLang="en-US" dirty="0">
                <a:latin typeface="+mn-ea"/>
              </a:rPr>
              <a:t>的溢出率与</a:t>
            </a:r>
            <a:r>
              <a:rPr lang="en-US" altLang="zh-CN" dirty="0">
                <a:latin typeface="+mn-ea"/>
              </a:rPr>
              <a:t>SMOD</a:t>
            </a:r>
            <a:r>
              <a:rPr lang="zh-CN" altLang="en-US" dirty="0">
                <a:latin typeface="+mn-ea"/>
              </a:rPr>
              <a:t>的值共同决定。</a:t>
            </a:r>
          </a:p>
        </p:txBody>
      </p:sp>
      <p:pic>
        <p:nvPicPr>
          <p:cNvPr id="5" name="图片 4"/>
          <p:cNvPicPr>
            <a:picLocks noChangeAspect="1"/>
          </p:cNvPicPr>
          <p:nvPr/>
        </p:nvPicPr>
        <p:blipFill>
          <a:blip r:embed="rId2"/>
          <a:stretch>
            <a:fillRect/>
          </a:stretch>
        </p:blipFill>
        <p:spPr>
          <a:xfrm>
            <a:off x="2156900" y="3191949"/>
            <a:ext cx="4552381" cy="571429"/>
          </a:xfrm>
          <a:prstGeom prst="rect">
            <a:avLst/>
          </a:prstGeom>
        </p:spPr>
      </p:pic>
      <p:pic>
        <p:nvPicPr>
          <p:cNvPr id="6" name="图片 5"/>
          <p:cNvPicPr>
            <a:picLocks noChangeAspect="1"/>
          </p:cNvPicPr>
          <p:nvPr/>
        </p:nvPicPr>
        <p:blipFill>
          <a:blip r:embed="rId3"/>
          <a:stretch>
            <a:fillRect/>
          </a:stretch>
        </p:blipFill>
        <p:spPr>
          <a:xfrm>
            <a:off x="1752600" y="3763378"/>
            <a:ext cx="5133333" cy="628571"/>
          </a:xfrm>
          <a:prstGeom prst="rect">
            <a:avLst/>
          </a:prstGeom>
        </p:spPr>
      </p:pic>
      <p:sp>
        <p:nvSpPr>
          <p:cNvPr id="11" name="矩形 10"/>
          <p:cNvSpPr/>
          <p:nvPr/>
        </p:nvSpPr>
        <p:spPr>
          <a:xfrm>
            <a:off x="685796" y="4348300"/>
            <a:ext cx="7494588" cy="923330"/>
          </a:xfrm>
          <a:prstGeom prst="rect">
            <a:avLst/>
          </a:prstGeom>
        </p:spPr>
        <p:txBody>
          <a:bodyPr wrap="square">
            <a:spAutoFit/>
          </a:bodyPr>
          <a:lstStyle/>
          <a:p>
            <a:pPr indent="457200">
              <a:lnSpc>
                <a:spcPct val="150000"/>
              </a:lnSpc>
            </a:pPr>
            <a:r>
              <a:rPr lang="zh-CN" altLang="en-US" dirty="0">
                <a:latin typeface="+mn-ea"/>
              </a:rPr>
              <a:t>定时器</a:t>
            </a:r>
            <a:r>
              <a:rPr lang="en-US" altLang="zh-CN" dirty="0">
                <a:latin typeface="+mn-ea"/>
              </a:rPr>
              <a:t>T1</a:t>
            </a:r>
            <a:r>
              <a:rPr lang="zh-CN" altLang="en-US" dirty="0">
                <a:latin typeface="+mn-ea"/>
              </a:rPr>
              <a:t>用作波特率发生器时，通常选用定时器工作模式</a:t>
            </a:r>
            <a:r>
              <a:rPr lang="en-US" altLang="zh-CN" dirty="0">
                <a:latin typeface="+mn-ea"/>
              </a:rPr>
              <a:t>2</a:t>
            </a:r>
            <a:r>
              <a:rPr lang="zh-CN" altLang="en-US" dirty="0">
                <a:latin typeface="+mn-ea"/>
              </a:rPr>
              <a:t>。此时设置</a:t>
            </a:r>
            <a:r>
              <a:rPr lang="en-US" altLang="zh-CN" dirty="0">
                <a:latin typeface="+mn-ea"/>
              </a:rPr>
              <a:t>T1</a:t>
            </a:r>
            <a:r>
              <a:rPr lang="zh-CN" altLang="en-US" dirty="0">
                <a:latin typeface="+mn-ea"/>
              </a:rPr>
              <a:t>为定时方式。其计数初值应为：</a:t>
            </a:r>
          </a:p>
        </p:txBody>
      </p:sp>
      <p:pic>
        <p:nvPicPr>
          <p:cNvPr id="7" name="图片 6"/>
          <p:cNvPicPr>
            <a:picLocks noChangeAspect="1"/>
          </p:cNvPicPr>
          <p:nvPr/>
        </p:nvPicPr>
        <p:blipFill>
          <a:blip r:embed="rId4"/>
          <a:stretch>
            <a:fillRect/>
          </a:stretch>
        </p:blipFill>
        <p:spPr>
          <a:xfrm>
            <a:off x="2866423" y="5482787"/>
            <a:ext cx="3133333" cy="657143"/>
          </a:xfrm>
          <a:prstGeom prst="rect">
            <a:avLst/>
          </a:prstGeom>
        </p:spPr>
      </p:pic>
    </p:spTree>
    <p:extLst>
      <p:ext uri="{BB962C8B-B14F-4D97-AF65-F5344CB8AC3E}">
        <p14:creationId xmlns:p14="http://schemas.microsoft.com/office/powerpoint/2010/main" val="328647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4" name="矩形 3"/>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4. </a:t>
            </a:r>
            <a:r>
              <a:rPr lang="zh-CN" altLang="en-US" dirty="0">
                <a:solidFill>
                  <a:srgbClr val="FF0000"/>
                </a:solidFill>
              </a:rPr>
              <a:t>波特率设计</a:t>
            </a:r>
          </a:p>
        </p:txBody>
      </p:sp>
      <p:pic>
        <p:nvPicPr>
          <p:cNvPr id="8" name="图片 7"/>
          <p:cNvPicPr>
            <a:picLocks noChangeAspect="1"/>
          </p:cNvPicPr>
          <p:nvPr/>
        </p:nvPicPr>
        <p:blipFill>
          <a:blip r:embed="rId2"/>
          <a:stretch>
            <a:fillRect/>
          </a:stretch>
        </p:blipFill>
        <p:spPr>
          <a:xfrm>
            <a:off x="3124200" y="681038"/>
            <a:ext cx="5277158" cy="6233880"/>
          </a:xfrm>
          <a:prstGeom prst="rect">
            <a:avLst/>
          </a:prstGeom>
        </p:spPr>
      </p:pic>
    </p:spTree>
    <p:extLst>
      <p:ext uri="{BB962C8B-B14F-4D97-AF65-F5344CB8AC3E}">
        <p14:creationId xmlns:p14="http://schemas.microsoft.com/office/powerpoint/2010/main" val="3402979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7" name="文本占位符 97282"/>
          <p:cNvSpPr txBox="1">
            <a:spLocks/>
          </p:cNvSpPr>
          <p:nvPr/>
        </p:nvSpPr>
        <p:spPr>
          <a:xfrm>
            <a:off x="616490" y="2148850"/>
            <a:ext cx="8218488" cy="1648460"/>
          </a:xfr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30000"/>
              </a:lnSpc>
              <a:buClr>
                <a:schemeClr val="tx2"/>
              </a:buClr>
            </a:pPr>
            <a:r>
              <a:rPr lang="zh-CN" altLang="en-US" sz="2000" kern="0" dirty="0">
                <a:latin typeface="+mn-ea"/>
              </a:rPr>
              <a:t>例</a:t>
            </a:r>
            <a:r>
              <a:rPr lang="en-US" altLang="zh-CN" sz="2000" kern="0" dirty="0">
                <a:latin typeface="+mn-ea"/>
              </a:rPr>
              <a:t>7-1</a:t>
            </a:r>
            <a:r>
              <a:rPr lang="zh-CN" altLang="en-US" sz="2000" kern="0" dirty="0">
                <a:latin typeface="+mn-ea"/>
              </a:rPr>
              <a:t>：</a:t>
            </a:r>
            <a:r>
              <a:rPr lang="en-US" altLang="zh-CN" sz="2000" kern="0" dirty="0">
                <a:latin typeface="+mn-ea"/>
              </a:rPr>
              <a:t>89C51</a:t>
            </a:r>
            <a:r>
              <a:rPr lang="zh-CN" altLang="en-US" sz="2000" kern="0" dirty="0">
                <a:latin typeface="+mn-ea"/>
              </a:rPr>
              <a:t>单片机时钟振荡频率为</a:t>
            </a:r>
            <a:r>
              <a:rPr lang="en-US" altLang="zh-CN" sz="2000" kern="0" dirty="0">
                <a:latin typeface="+mn-ea"/>
              </a:rPr>
              <a:t>11.0592MHz</a:t>
            </a:r>
            <a:r>
              <a:rPr lang="zh-CN" altLang="en-US" sz="2000" kern="0" dirty="0">
                <a:latin typeface="+mn-ea"/>
              </a:rPr>
              <a:t>，选用定时器</a:t>
            </a:r>
            <a:r>
              <a:rPr lang="en-US" altLang="zh-CN" sz="2000" kern="0" dirty="0">
                <a:latin typeface="+mn-ea"/>
              </a:rPr>
              <a:t>T1</a:t>
            </a:r>
            <a:r>
              <a:rPr lang="zh-CN" altLang="en-US" sz="2000" kern="0" dirty="0">
                <a:latin typeface="+mn-ea"/>
              </a:rPr>
              <a:t>工作模式</a:t>
            </a:r>
            <a:r>
              <a:rPr lang="en-US" altLang="zh-CN" sz="2000" kern="0" dirty="0">
                <a:latin typeface="+mn-ea"/>
              </a:rPr>
              <a:t>2</a:t>
            </a:r>
            <a:r>
              <a:rPr lang="zh-CN" altLang="en-US" sz="2000" kern="0" dirty="0">
                <a:latin typeface="+mn-ea"/>
              </a:rPr>
              <a:t>作为波特率发生器，波特率为</a:t>
            </a:r>
            <a:r>
              <a:rPr lang="en-US" altLang="zh-CN" sz="2000" kern="0" dirty="0">
                <a:latin typeface="+mn-ea"/>
              </a:rPr>
              <a:t>2400b/s</a:t>
            </a:r>
            <a:r>
              <a:rPr lang="zh-CN" altLang="en-US" sz="2000" kern="0" dirty="0">
                <a:latin typeface="+mn-ea"/>
              </a:rPr>
              <a:t>，求初值。设</a:t>
            </a:r>
            <a:r>
              <a:rPr lang="en-US" altLang="zh-CN" sz="2000" kern="0" dirty="0">
                <a:latin typeface="+mn-ea"/>
              </a:rPr>
              <a:t>SMOD=0.</a:t>
            </a:r>
            <a:endParaRPr lang="zh-CN" altLang="en-US" sz="2000" kern="0" dirty="0">
              <a:latin typeface="+mn-ea"/>
            </a:endParaRPr>
          </a:p>
        </p:txBody>
      </p:sp>
      <p:sp>
        <p:nvSpPr>
          <p:cNvPr id="2" name="矩形 1"/>
          <p:cNvSpPr/>
          <p:nvPr/>
        </p:nvSpPr>
        <p:spPr>
          <a:xfrm>
            <a:off x="1143000" y="3471565"/>
            <a:ext cx="4572000" cy="2092881"/>
          </a:xfrm>
          <a:prstGeom prst="rect">
            <a:avLst/>
          </a:prstGeom>
        </p:spPr>
        <p:txBody>
          <a:bodyPr>
            <a:spAutoFit/>
          </a:bodyPr>
          <a:lstStyle/>
          <a:p>
            <a:pPr>
              <a:lnSpc>
                <a:spcPct val="130000"/>
              </a:lnSpc>
              <a:buClr>
                <a:schemeClr val="tx2"/>
              </a:buClr>
              <a:buSzTx/>
              <a:buFontTx/>
            </a:pPr>
            <a:r>
              <a:rPr lang="zh-CN" altLang="en-US" sz="2000" dirty="0">
                <a:latin typeface="+mn-ea"/>
              </a:rPr>
              <a:t>解：设置波特率控制为</a:t>
            </a:r>
            <a:r>
              <a:rPr lang="en-US" altLang="zh-CN" sz="2000" dirty="0">
                <a:latin typeface="+mn-ea"/>
              </a:rPr>
              <a:t>(SMOD)=0</a:t>
            </a:r>
          </a:p>
          <a:p>
            <a:pPr>
              <a:lnSpc>
                <a:spcPct val="130000"/>
              </a:lnSpc>
              <a:buClr>
                <a:schemeClr val="tx2"/>
              </a:buClr>
              <a:buSzTx/>
              <a:buFontTx/>
            </a:pPr>
            <a:endParaRPr lang="en-US" altLang="zh-CN" sz="2000" dirty="0">
              <a:latin typeface="+mn-ea"/>
            </a:endParaRPr>
          </a:p>
          <a:p>
            <a:pPr>
              <a:lnSpc>
                <a:spcPct val="130000"/>
              </a:lnSpc>
              <a:buClr>
                <a:schemeClr val="tx2"/>
              </a:buClr>
              <a:buSzTx/>
              <a:buFontTx/>
            </a:pPr>
            <a:endParaRPr lang="en-US" altLang="zh-CN" sz="2000" dirty="0">
              <a:latin typeface="+mn-ea"/>
            </a:endParaRPr>
          </a:p>
          <a:p>
            <a:pPr>
              <a:lnSpc>
                <a:spcPct val="130000"/>
              </a:lnSpc>
              <a:buClr>
                <a:schemeClr val="tx2"/>
              </a:buClr>
              <a:buSzTx/>
              <a:buFontTx/>
            </a:pPr>
            <a:endParaRPr lang="en-US" altLang="zh-CN" sz="2000" dirty="0">
              <a:latin typeface="+mn-ea"/>
            </a:endParaRPr>
          </a:p>
          <a:p>
            <a:pPr>
              <a:lnSpc>
                <a:spcPct val="130000"/>
              </a:lnSpc>
              <a:buClr>
                <a:schemeClr val="tx2"/>
              </a:buClr>
              <a:buSzTx/>
              <a:buFontTx/>
            </a:pPr>
            <a:r>
              <a:rPr lang="zh-CN" altLang="en-US" sz="2000" dirty="0">
                <a:latin typeface="+mn-ea"/>
              </a:rPr>
              <a:t>所以，</a:t>
            </a:r>
            <a:r>
              <a:rPr lang="en-US" altLang="zh-CN" sz="2000" dirty="0">
                <a:latin typeface="+mn-ea"/>
              </a:rPr>
              <a:t>(TH1)=(TL1)=F4H</a:t>
            </a:r>
            <a:r>
              <a:rPr lang="zh-CN" altLang="en-US" sz="2000" dirty="0">
                <a:latin typeface="+mn-ea"/>
              </a:rPr>
              <a:t>。</a:t>
            </a:r>
          </a:p>
        </p:txBody>
      </p:sp>
      <p:graphicFrame>
        <p:nvGraphicFramePr>
          <p:cNvPr id="9" name="内容占位符 97283"/>
          <p:cNvGraphicFramePr>
            <a:graphicFrameLocks noGrp="1"/>
          </p:cNvGraphicFramePr>
          <p:nvPr>
            <p:extLst>
              <p:ext uri="{D42A27DB-BD31-4B8C-83A1-F6EECF244321}">
                <p14:modId xmlns:p14="http://schemas.microsoft.com/office/powerpoint/2010/main" val="3627452505"/>
              </p:ext>
            </p:extLst>
          </p:nvPr>
        </p:nvGraphicFramePr>
        <p:xfrm>
          <a:off x="1460897" y="4125902"/>
          <a:ext cx="4559935" cy="784206"/>
        </p:xfrm>
        <a:graphic>
          <a:graphicData uri="http://schemas.openxmlformats.org/presentationml/2006/ole">
            <mc:AlternateContent xmlns:mc="http://schemas.openxmlformats.org/markup-compatibility/2006">
              <mc:Choice xmlns:v="urn:schemas-microsoft-com:vml" Requires="v">
                <p:oleObj r:id="rId2" imgW="3295650" imgH="676275" progId="Paint.Picture">
                  <p:embed/>
                </p:oleObj>
              </mc:Choice>
              <mc:Fallback>
                <p:oleObj r:id="rId2" imgW="3295650" imgH="676275" progId="Paint.Picture">
                  <p:embed/>
                  <p:pic>
                    <p:nvPicPr>
                      <p:cNvPr id="76805" name="内容占位符 97283"/>
                      <p:cNvPicPr/>
                      <p:nvPr/>
                    </p:nvPicPr>
                    <p:blipFill>
                      <a:blip r:embed="rId3"/>
                      <a:stretch>
                        <a:fillRect/>
                      </a:stretch>
                    </p:blipFill>
                    <p:spPr>
                      <a:xfrm>
                        <a:off x="1460897" y="4125902"/>
                        <a:ext cx="4559935" cy="784206"/>
                      </a:xfrm>
                      <a:prstGeom prst="rect">
                        <a:avLst/>
                      </a:prstGeom>
                      <a:noFill/>
                      <a:ln w="38100">
                        <a:miter/>
                      </a:ln>
                    </p:spPr>
                  </p:pic>
                </p:oleObj>
              </mc:Fallback>
            </mc:AlternateContent>
          </a:graphicData>
        </a:graphic>
      </p:graphicFrame>
      <p:sp>
        <p:nvSpPr>
          <p:cNvPr id="10" name="矩形 9"/>
          <p:cNvSpPr/>
          <p:nvPr/>
        </p:nvSpPr>
        <p:spPr>
          <a:xfrm>
            <a:off x="533400" y="1696774"/>
            <a:ext cx="1854995"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1. </a:t>
            </a:r>
            <a:r>
              <a:rPr lang="zh-CN" altLang="en-US" dirty="0">
                <a:solidFill>
                  <a:srgbClr val="FF0000"/>
                </a:solidFill>
              </a:rPr>
              <a:t>波特率设计</a:t>
            </a:r>
          </a:p>
        </p:txBody>
      </p:sp>
    </p:spTree>
    <p:extLst>
      <p:ext uri="{BB962C8B-B14F-4D97-AF65-F5344CB8AC3E}">
        <p14:creationId xmlns:p14="http://schemas.microsoft.com/office/powerpoint/2010/main" val="426205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0" name="矩形 9"/>
          <p:cNvSpPr/>
          <p:nvPr/>
        </p:nvSpPr>
        <p:spPr>
          <a:xfrm>
            <a:off x="533400" y="1696774"/>
            <a:ext cx="1741182"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方式</a:t>
            </a:r>
            <a:r>
              <a:rPr lang="en-US" altLang="zh-CN" dirty="0">
                <a:solidFill>
                  <a:srgbClr val="FF0000"/>
                </a:solidFill>
              </a:rPr>
              <a:t>0</a:t>
            </a:r>
            <a:r>
              <a:rPr lang="zh-CN" altLang="en-US" dirty="0">
                <a:solidFill>
                  <a:srgbClr val="FF0000"/>
                </a:solidFill>
              </a:rPr>
              <a:t>应用</a:t>
            </a:r>
          </a:p>
        </p:txBody>
      </p:sp>
      <p:sp>
        <p:nvSpPr>
          <p:cNvPr id="8" name="文本占位符 107522"/>
          <p:cNvSpPr txBox="1">
            <a:spLocks/>
          </p:cNvSpPr>
          <p:nvPr/>
        </p:nvSpPr>
        <p:spPr>
          <a:xfrm>
            <a:off x="665512" y="2066106"/>
            <a:ext cx="3199066" cy="4495800"/>
          </a:xfr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buClr>
                <a:schemeClr val="tx2"/>
              </a:buClr>
            </a:pPr>
            <a:r>
              <a:rPr lang="zh-CN" altLang="en-US" kern="0" dirty="0">
                <a:solidFill>
                  <a:srgbClr val="0000FF"/>
                </a:solidFill>
                <a:latin typeface="+mn-ea"/>
              </a:rPr>
              <a:t>例</a:t>
            </a:r>
            <a:r>
              <a:rPr lang="en-US" altLang="zh-CN" kern="0" dirty="0">
                <a:solidFill>
                  <a:srgbClr val="0000FF"/>
                </a:solidFill>
                <a:latin typeface="+mn-ea"/>
              </a:rPr>
              <a:t>7-2</a:t>
            </a:r>
            <a:r>
              <a:rPr lang="zh-CN" altLang="en-US" kern="0" dirty="0">
                <a:solidFill>
                  <a:srgbClr val="0000FF"/>
                </a:solidFill>
                <a:latin typeface="+mn-ea"/>
              </a:rPr>
              <a:t>：</a:t>
            </a:r>
            <a:r>
              <a:rPr lang="zh-CN" altLang="en-US" kern="0" dirty="0">
                <a:latin typeface="+mn-ea"/>
              </a:rPr>
              <a:t>用</a:t>
            </a:r>
            <a:r>
              <a:rPr lang="en-US" altLang="zh-CN" kern="0" dirty="0">
                <a:latin typeface="+mn-ea"/>
              </a:rPr>
              <a:t>89C51</a:t>
            </a:r>
            <a:r>
              <a:rPr lang="zh-CN" altLang="en-US" kern="0" dirty="0">
                <a:latin typeface="+mn-ea"/>
              </a:rPr>
              <a:t>串行口外接</a:t>
            </a:r>
            <a:r>
              <a:rPr lang="en-US" altLang="zh-CN" kern="0" dirty="0">
                <a:latin typeface="+mn-ea"/>
              </a:rPr>
              <a:t>74ls164</a:t>
            </a:r>
            <a:r>
              <a:rPr lang="zh-CN" altLang="en-US" kern="0" dirty="0">
                <a:latin typeface="+mn-ea"/>
              </a:rPr>
              <a:t>串入</a:t>
            </a:r>
            <a:r>
              <a:rPr lang="en-US" altLang="zh-CN" kern="0" dirty="0">
                <a:latin typeface="+mn-ea"/>
              </a:rPr>
              <a:t>—</a:t>
            </a:r>
            <a:r>
              <a:rPr lang="zh-CN" altLang="en-US" kern="0" dirty="0">
                <a:latin typeface="+mn-ea"/>
              </a:rPr>
              <a:t>并出移位寄存器扩展</a:t>
            </a:r>
            <a:r>
              <a:rPr lang="en-US" altLang="zh-CN" kern="0" dirty="0">
                <a:latin typeface="+mn-ea"/>
              </a:rPr>
              <a:t>8</a:t>
            </a:r>
            <a:r>
              <a:rPr lang="zh-CN" altLang="en-US" kern="0" dirty="0">
                <a:latin typeface="+mn-ea"/>
              </a:rPr>
              <a:t>位并行口；</a:t>
            </a:r>
            <a:r>
              <a:rPr lang="en-US" altLang="zh-CN" kern="0" dirty="0">
                <a:latin typeface="+mn-ea"/>
              </a:rPr>
              <a:t>8</a:t>
            </a:r>
            <a:r>
              <a:rPr lang="zh-CN" altLang="en-US" kern="0" dirty="0">
                <a:latin typeface="+mn-ea"/>
              </a:rPr>
              <a:t>位并行口的每位都接一个发光二极管，要求发光二极管从左到右以一定延迟轮流显示，并不断循环。设发光二极管为共阴极接法。</a:t>
            </a:r>
          </a:p>
          <a:p>
            <a:pPr>
              <a:lnSpc>
                <a:spcPct val="150000"/>
              </a:lnSpc>
              <a:buClr>
                <a:schemeClr val="tx2"/>
              </a:buClr>
            </a:pPr>
            <a:r>
              <a:rPr lang="zh-CN" altLang="en-US" kern="0" dirty="0">
                <a:solidFill>
                  <a:srgbClr val="0000FF"/>
                </a:solidFill>
                <a:latin typeface="+mn-ea"/>
              </a:rPr>
              <a:t>解：设数据串行发送采用中断方式，显示的延迟通过调用延迟程序</a:t>
            </a:r>
            <a:r>
              <a:rPr lang="en-US" altLang="zh-CN" kern="0" dirty="0">
                <a:solidFill>
                  <a:srgbClr val="0000FF"/>
                </a:solidFill>
                <a:latin typeface="+mn-ea"/>
              </a:rPr>
              <a:t>DELAY</a:t>
            </a:r>
            <a:r>
              <a:rPr lang="zh-CN" altLang="en-US" kern="0" dirty="0">
                <a:solidFill>
                  <a:srgbClr val="0000FF"/>
                </a:solidFill>
                <a:latin typeface="+mn-ea"/>
              </a:rPr>
              <a:t>来实现。</a:t>
            </a:r>
          </a:p>
        </p:txBody>
      </p:sp>
      <p:pic>
        <p:nvPicPr>
          <p:cNvPr id="11" name="内容占位符 107523" descr="0717"/>
          <p:cNvPicPr>
            <a:picLocks noGrp="1" noChangeAspect="1"/>
          </p:cNvPicPr>
          <p:nvPr/>
        </p:nvPicPr>
        <p:blipFill>
          <a:blip r:embed="rId2"/>
          <a:stretch>
            <a:fillRect/>
          </a:stretch>
        </p:blipFill>
        <p:spPr>
          <a:xfrm>
            <a:off x="5105400" y="2743200"/>
            <a:ext cx="3392805" cy="2118995"/>
          </a:xfrm>
          <a:prstGeom prst="rect">
            <a:avLst/>
          </a:prstGeom>
        </p:spPr>
      </p:pic>
      <p:sp>
        <p:nvSpPr>
          <p:cNvPr id="12" name="文本占位符 109570"/>
          <p:cNvSpPr>
            <a:spLocks noGrp="1"/>
          </p:cNvSpPr>
          <p:nvPr/>
        </p:nvSpPr>
        <p:spPr>
          <a:xfrm>
            <a:off x="3864578" y="1622742"/>
            <a:ext cx="5147310" cy="4984750"/>
          </a:xfrm>
          <a:prstGeom prst="rect">
            <a:avLst/>
          </a:prstGeom>
          <a:solidFill>
            <a:schemeClr val="accent1">
              <a:lumMod val="20000"/>
              <a:lumOff val="80000"/>
            </a:schemeClr>
          </a:solidFill>
          <a:ln w="9525">
            <a:noFill/>
          </a:ln>
        </p:spPr>
        <p:txBody>
          <a:bodyPr anchor="t"/>
          <a:lstStyle/>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程序清单：</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ORG   0023H        	;</a:t>
            </a:r>
            <a:r>
              <a:rPr lang="zh-CN" altLang="en-US" sz="1200" b="1" dirty="0">
                <a:latin typeface="Arial" panose="020B0604020202020204" pitchFamily="34" charset="0"/>
                <a:ea typeface="宋体" panose="02010600030101010101" pitchFamily="2" charset="-122"/>
              </a:rPr>
              <a:t>串行口中断入口</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AJMP  SBR           	 ;</a:t>
            </a:r>
            <a:r>
              <a:rPr lang="zh-CN" altLang="en-US" sz="1200" b="1" dirty="0">
                <a:latin typeface="Arial" panose="020B0604020202020204" pitchFamily="34" charset="0"/>
                <a:ea typeface="宋体" panose="02010600030101010101" pitchFamily="2" charset="-122"/>
              </a:rPr>
              <a:t>转入串行口中断服务程序</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ORG   2000H          	;</a:t>
            </a:r>
            <a:r>
              <a:rPr lang="zh-CN" altLang="en-US" sz="1200" b="1" dirty="0">
                <a:latin typeface="Arial" panose="020B0604020202020204" pitchFamily="34" charset="0"/>
                <a:ea typeface="宋体" panose="02010600030101010101" pitchFamily="2" charset="-122"/>
              </a:rPr>
              <a:t>主程序起始地址</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MOV   SCON ,#00H     	;</a:t>
            </a:r>
            <a:r>
              <a:rPr lang="zh-CN" altLang="en-US" sz="1200" b="1" dirty="0">
                <a:latin typeface="Arial" panose="020B0604020202020204" pitchFamily="34" charset="0"/>
                <a:ea typeface="宋体" panose="02010600030101010101" pitchFamily="2" charset="-122"/>
              </a:rPr>
              <a:t>串行口方式</a:t>
            </a:r>
            <a:r>
              <a:rPr lang="en-US" altLang="zh-CN" sz="1200" b="1" dirty="0">
                <a:latin typeface="Arial" panose="020B0604020202020204" pitchFamily="34" charset="0"/>
                <a:ea typeface="宋体" panose="02010600030101010101" pitchFamily="2" charset="-122"/>
              </a:rPr>
              <a:t>0</a:t>
            </a:r>
            <a:r>
              <a:rPr lang="zh-CN" altLang="en-US" sz="1200" b="1" dirty="0">
                <a:latin typeface="Arial" panose="020B0604020202020204" pitchFamily="34" charset="0"/>
                <a:ea typeface="宋体" panose="02010600030101010101" pitchFamily="2" charset="-122"/>
              </a:rPr>
              <a:t>初始化</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MOV   A ,#80H        	;</a:t>
            </a:r>
            <a:r>
              <a:rPr lang="zh-CN" altLang="en-US" sz="1200" b="1" dirty="0">
                <a:latin typeface="Arial" panose="020B0604020202020204" pitchFamily="34" charset="0"/>
                <a:ea typeface="宋体" panose="02010600030101010101" pitchFamily="2" charset="-122"/>
              </a:rPr>
              <a:t>最左一位发光二极管先亮</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CLR   P1.0           	;</a:t>
            </a:r>
            <a:r>
              <a:rPr lang="zh-CN" altLang="en-US" sz="1200" b="1" dirty="0">
                <a:latin typeface="Arial" panose="020B0604020202020204" pitchFamily="34" charset="0"/>
                <a:ea typeface="宋体" panose="02010600030101010101" pitchFamily="2" charset="-122"/>
              </a:rPr>
              <a:t>关闭并行输出</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MOV   SBUF</a:t>
            </a:r>
            <a:r>
              <a:rPr lang="zh-CN" altLang="en-US" sz="1200" b="1" dirty="0">
                <a:latin typeface="Arial" panose="020B0604020202020204" pitchFamily="34" charset="0"/>
                <a:ea typeface="宋体" panose="02010600030101010101" pitchFamily="2" charset="-122"/>
              </a:rPr>
              <a:t>，</a:t>
            </a:r>
            <a:r>
              <a:rPr lang="en-US" altLang="zh-CN" sz="1200" b="1" dirty="0">
                <a:latin typeface="Arial" panose="020B0604020202020204" pitchFamily="34" charset="0"/>
                <a:ea typeface="宋体" panose="02010600030101010101" pitchFamily="2" charset="-122"/>
              </a:rPr>
              <a:t>A        	;</a:t>
            </a:r>
            <a:r>
              <a:rPr lang="zh-CN" altLang="en-US" sz="1200" b="1" dirty="0">
                <a:latin typeface="Arial" panose="020B0604020202020204" pitchFamily="34" charset="0"/>
                <a:ea typeface="宋体" panose="02010600030101010101" pitchFamily="2" charset="-122"/>
              </a:rPr>
              <a:t>开始串行输出</a:t>
            </a:r>
          </a:p>
          <a:p>
            <a:pPr marL="342900" indent="-342900">
              <a:lnSpc>
                <a:spcPct val="150000"/>
              </a:lnSpc>
              <a:spcBef>
                <a:spcPct val="20000"/>
              </a:spcBef>
              <a:buClr>
                <a:schemeClr val="tx2"/>
              </a:buClr>
            </a:pPr>
            <a:r>
              <a:rPr lang="en-US" altLang="zh-CN" sz="1200" b="1" dirty="0">
                <a:latin typeface="Arial" panose="020B0604020202020204" pitchFamily="34" charset="0"/>
                <a:ea typeface="宋体" panose="02010600030101010101" pitchFamily="2" charset="-122"/>
              </a:rPr>
              <a:t>LOOP :  	SJMP    $             	;</a:t>
            </a:r>
            <a:r>
              <a:rPr lang="zh-CN" altLang="en-US" sz="1200" b="1" dirty="0">
                <a:latin typeface="Arial" panose="020B0604020202020204" pitchFamily="34" charset="0"/>
                <a:ea typeface="宋体" panose="02010600030101010101" pitchFamily="2" charset="-122"/>
              </a:rPr>
              <a:t>等待中断</a:t>
            </a:r>
          </a:p>
          <a:p>
            <a:pPr marL="342900" indent="-342900">
              <a:lnSpc>
                <a:spcPct val="150000"/>
              </a:lnSpc>
              <a:spcBef>
                <a:spcPct val="20000"/>
              </a:spcBef>
              <a:buClr>
                <a:schemeClr val="tx2"/>
              </a:buClr>
            </a:pPr>
            <a:r>
              <a:rPr lang="en-US" altLang="zh-CN" sz="1200" b="1" dirty="0">
                <a:latin typeface="Arial" panose="020B0604020202020204" pitchFamily="34" charset="0"/>
                <a:ea typeface="宋体" panose="02010600030101010101" pitchFamily="2" charset="-122"/>
              </a:rPr>
              <a:t>SBR  :  	SETB    P1.0          	;</a:t>
            </a:r>
            <a:r>
              <a:rPr lang="zh-CN" altLang="en-US" sz="1200" b="1" dirty="0">
                <a:latin typeface="Arial" panose="020B0604020202020204" pitchFamily="34" charset="0"/>
                <a:ea typeface="宋体" panose="02010600030101010101" pitchFamily="2" charset="-122"/>
              </a:rPr>
              <a:t>启动并行输出</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ACALL   DELAY         	;</a:t>
            </a:r>
            <a:r>
              <a:rPr lang="zh-CN" altLang="en-US" sz="1200" b="1" dirty="0">
                <a:latin typeface="Arial" panose="020B0604020202020204" pitchFamily="34" charset="0"/>
                <a:ea typeface="宋体" panose="02010600030101010101" pitchFamily="2" charset="-122"/>
              </a:rPr>
              <a:t>显示延迟一段时间</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CLR     TI            	;</a:t>
            </a:r>
            <a:r>
              <a:rPr lang="zh-CN" altLang="en-US" sz="1200" b="1" dirty="0">
                <a:latin typeface="Arial" panose="020B0604020202020204" pitchFamily="34" charset="0"/>
                <a:ea typeface="宋体" panose="02010600030101010101" pitchFamily="2" charset="-122"/>
              </a:rPr>
              <a:t>清发送中断标志</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RR      A             	;</a:t>
            </a:r>
            <a:r>
              <a:rPr lang="zh-CN" altLang="en-US" sz="1200" b="1" dirty="0">
                <a:latin typeface="Arial" panose="020B0604020202020204" pitchFamily="34" charset="0"/>
                <a:ea typeface="宋体" panose="02010600030101010101" pitchFamily="2" charset="-122"/>
              </a:rPr>
              <a:t>准备右边一位显示</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CLR     P1.0          	;</a:t>
            </a:r>
            <a:r>
              <a:rPr lang="zh-CN" altLang="en-US" sz="1200" b="1" dirty="0">
                <a:latin typeface="Arial" panose="020B0604020202020204" pitchFamily="34" charset="0"/>
                <a:ea typeface="宋体" panose="02010600030101010101" pitchFamily="2" charset="-122"/>
              </a:rPr>
              <a:t>关闭并行输出</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MOV     SBUF , A      	;</a:t>
            </a:r>
            <a:r>
              <a:rPr lang="zh-CN" altLang="en-US" sz="1200" b="1" dirty="0">
                <a:latin typeface="Arial" panose="020B0604020202020204" pitchFamily="34" charset="0"/>
                <a:ea typeface="宋体" panose="02010600030101010101" pitchFamily="2" charset="-122"/>
              </a:rPr>
              <a:t>再一次串行输出</a:t>
            </a:r>
          </a:p>
          <a:p>
            <a:pPr marL="342900" indent="-342900">
              <a:lnSpc>
                <a:spcPct val="150000"/>
              </a:lnSpc>
              <a:spcBef>
                <a:spcPct val="20000"/>
              </a:spcBef>
              <a:buClr>
                <a:schemeClr val="tx2"/>
              </a:buClr>
            </a:pPr>
            <a:r>
              <a:rPr lang="zh-CN" altLang="en-US" sz="1200" b="1" dirty="0">
                <a:latin typeface="Arial" panose="020B0604020202020204" pitchFamily="34" charset="0"/>
                <a:ea typeface="宋体" panose="02010600030101010101" pitchFamily="2" charset="-122"/>
              </a:rPr>
              <a:t>        	</a:t>
            </a:r>
            <a:r>
              <a:rPr lang="en-US" altLang="zh-CN" sz="1200" b="1" dirty="0">
                <a:latin typeface="Arial" panose="020B0604020202020204" pitchFamily="34" charset="0"/>
                <a:ea typeface="宋体" panose="02010600030101010101" pitchFamily="2" charset="-122"/>
              </a:rPr>
              <a:t>RETI                  	;</a:t>
            </a:r>
            <a:r>
              <a:rPr lang="zh-CN" altLang="en-US" sz="1200" b="1" dirty="0">
                <a:latin typeface="Arial" panose="020B0604020202020204" pitchFamily="34" charset="0"/>
                <a:ea typeface="宋体" panose="02010600030101010101" pitchFamily="2" charset="-122"/>
              </a:rPr>
              <a:t>中断返回</a:t>
            </a:r>
          </a:p>
          <a:p>
            <a:pPr marL="342900" indent="-342900">
              <a:lnSpc>
                <a:spcPct val="80000"/>
              </a:lnSpc>
              <a:spcBef>
                <a:spcPct val="20000"/>
              </a:spcBef>
              <a:buClr>
                <a:schemeClr val="tx2"/>
              </a:buClr>
              <a:buChar char="•"/>
            </a:pPr>
            <a:endParaRPr lang="zh-CN" altLang="en-US" sz="1200" b="1"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7756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0" name="矩形 9"/>
          <p:cNvSpPr/>
          <p:nvPr/>
        </p:nvSpPr>
        <p:spPr>
          <a:xfrm>
            <a:off x="533400" y="1696774"/>
            <a:ext cx="1741182"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方式</a:t>
            </a:r>
            <a:r>
              <a:rPr lang="en-US" altLang="zh-CN" dirty="0">
                <a:solidFill>
                  <a:srgbClr val="FF0000"/>
                </a:solidFill>
              </a:rPr>
              <a:t>0</a:t>
            </a:r>
            <a:r>
              <a:rPr lang="zh-CN" altLang="en-US" dirty="0">
                <a:solidFill>
                  <a:srgbClr val="FF0000"/>
                </a:solidFill>
              </a:rPr>
              <a:t>应用</a:t>
            </a:r>
          </a:p>
        </p:txBody>
      </p:sp>
      <p:sp>
        <p:nvSpPr>
          <p:cNvPr id="9" name="文本占位符 111618"/>
          <p:cNvSpPr txBox="1">
            <a:spLocks/>
          </p:cNvSpPr>
          <p:nvPr/>
        </p:nvSpPr>
        <p:spPr>
          <a:xfrm>
            <a:off x="561975" y="2066106"/>
            <a:ext cx="3527425" cy="1972494"/>
          </a:xfr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20000"/>
              </a:lnSpc>
              <a:buClr>
                <a:schemeClr val="tx2"/>
              </a:buClr>
            </a:pPr>
            <a:r>
              <a:rPr lang="zh-CN" altLang="en-US" sz="1600" kern="0" dirty="0">
                <a:latin typeface="+mn-ea"/>
              </a:rPr>
              <a:t>例</a:t>
            </a:r>
            <a:r>
              <a:rPr lang="en-US" altLang="zh-CN" sz="1600" kern="0" dirty="0">
                <a:latin typeface="+mn-ea"/>
              </a:rPr>
              <a:t>7-3</a:t>
            </a:r>
            <a:r>
              <a:rPr lang="zh-CN" altLang="en-US" sz="1600" kern="0" dirty="0">
                <a:latin typeface="+mn-ea"/>
              </a:rPr>
              <a:t>：用</a:t>
            </a:r>
            <a:r>
              <a:rPr lang="en-US" altLang="zh-CN" sz="1600" kern="0" dirty="0">
                <a:latin typeface="+mn-ea"/>
              </a:rPr>
              <a:t>89C51</a:t>
            </a:r>
            <a:r>
              <a:rPr lang="zh-CN" altLang="en-US" sz="1600" kern="0" dirty="0">
                <a:latin typeface="+mn-ea"/>
              </a:rPr>
              <a:t>串行口外加移位寄存器</a:t>
            </a:r>
            <a:r>
              <a:rPr lang="en-US" altLang="zh-CN" sz="1600" kern="0" dirty="0">
                <a:latin typeface="+mn-ea"/>
              </a:rPr>
              <a:t>165</a:t>
            </a:r>
            <a:r>
              <a:rPr lang="zh-CN" altLang="en-US" sz="1600" kern="0" dirty="0">
                <a:latin typeface="+mn-ea"/>
              </a:rPr>
              <a:t>或</a:t>
            </a:r>
            <a:r>
              <a:rPr lang="en-US" altLang="zh-CN" sz="1600" kern="0" dirty="0">
                <a:latin typeface="+mn-ea"/>
              </a:rPr>
              <a:t>166</a:t>
            </a:r>
            <a:r>
              <a:rPr lang="zh-CN" altLang="en-US" sz="1600" kern="0" dirty="0">
                <a:latin typeface="+mn-ea"/>
              </a:rPr>
              <a:t>扩展</a:t>
            </a:r>
            <a:r>
              <a:rPr lang="en-US" altLang="zh-CN" sz="1600" kern="0" dirty="0">
                <a:latin typeface="+mn-ea"/>
              </a:rPr>
              <a:t>8</a:t>
            </a:r>
            <a:r>
              <a:rPr lang="zh-CN" altLang="en-US" sz="1600" kern="0" dirty="0">
                <a:latin typeface="+mn-ea"/>
              </a:rPr>
              <a:t>位输入口，输入数据由</a:t>
            </a:r>
            <a:r>
              <a:rPr lang="en-US" altLang="zh-CN" sz="1600" kern="0" dirty="0">
                <a:latin typeface="+mn-ea"/>
              </a:rPr>
              <a:t>8</a:t>
            </a:r>
            <a:r>
              <a:rPr lang="zh-CN" altLang="en-US" sz="1600" kern="0" dirty="0">
                <a:latin typeface="+mn-ea"/>
              </a:rPr>
              <a:t>个开关提供，另有一个开关</a:t>
            </a:r>
            <a:r>
              <a:rPr lang="en-US" altLang="zh-CN" sz="1600" kern="0" dirty="0">
                <a:latin typeface="+mn-ea"/>
              </a:rPr>
              <a:t>K</a:t>
            </a:r>
            <a:r>
              <a:rPr lang="zh-CN" altLang="en-US" sz="1600" kern="0" dirty="0">
                <a:latin typeface="+mn-ea"/>
              </a:rPr>
              <a:t>提供联络信号。当</a:t>
            </a:r>
            <a:r>
              <a:rPr lang="en-US" altLang="zh-CN" sz="1600" kern="0" dirty="0">
                <a:latin typeface="+mn-ea"/>
              </a:rPr>
              <a:t>K=0</a:t>
            </a:r>
            <a:r>
              <a:rPr lang="zh-CN" altLang="en-US" sz="1600" kern="0" dirty="0">
                <a:latin typeface="+mn-ea"/>
              </a:rPr>
              <a:t>时，表示要求输入数据，输入的</a:t>
            </a:r>
            <a:r>
              <a:rPr lang="en-US" altLang="zh-CN" sz="1600" kern="0" dirty="0">
                <a:latin typeface="+mn-ea"/>
              </a:rPr>
              <a:t>8</a:t>
            </a:r>
            <a:r>
              <a:rPr lang="zh-CN" altLang="en-US" sz="1600" kern="0" dirty="0">
                <a:latin typeface="+mn-ea"/>
              </a:rPr>
              <a:t>位为开关量，提供逻辑模拟子程序的输入信号。</a:t>
            </a:r>
          </a:p>
        </p:txBody>
      </p:sp>
      <p:sp>
        <p:nvSpPr>
          <p:cNvPr id="13" name="文本框 3"/>
          <p:cNvSpPr txBox="1"/>
          <p:nvPr/>
        </p:nvSpPr>
        <p:spPr>
          <a:xfrm>
            <a:off x="614363" y="4038600"/>
            <a:ext cx="3268662" cy="2031325"/>
          </a:xfrm>
          <a:prstGeom prst="rect">
            <a:avLst/>
          </a:prstGeom>
          <a:noFill/>
          <a:ln w="9525">
            <a:noFill/>
          </a:ln>
        </p:spPr>
        <p:txBody>
          <a:bodyPr wrap="square" anchor="t">
            <a:spAutoFit/>
          </a:bodyPr>
          <a:lstStyle/>
          <a:p>
            <a:pPr>
              <a:lnSpc>
                <a:spcPct val="150000"/>
              </a:lnSpc>
            </a:pPr>
            <a:r>
              <a:rPr lang="zh-CN" altLang="en-US" sz="1400" dirty="0">
                <a:solidFill>
                  <a:srgbClr val="0000FF"/>
                </a:solidFill>
                <a:latin typeface="+mn-ea"/>
              </a:rPr>
              <a:t>串行口方式</a:t>
            </a:r>
            <a:r>
              <a:rPr lang="en-US" altLang="zh-CN" sz="1400" dirty="0">
                <a:solidFill>
                  <a:srgbClr val="0000FF"/>
                </a:solidFill>
                <a:latin typeface="+mn-ea"/>
              </a:rPr>
              <a:t>0</a:t>
            </a:r>
            <a:r>
              <a:rPr lang="zh-CN" altLang="en-US" sz="1400" dirty="0">
                <a:solidFill>
                  <a:srgbClr val="0000FF"/>
                </a:solidFill>
                <a:latin typeface="+mn-ea"/>
              </a:rPr>
              <a:t>的接收要用</a:t>
            </a:r>
            <a:r>
              <a:rPr lang="en-US" altLang="zh-CN" sz="1400" dirty="0">
                <a:solidFill>
                  <a:srgbClr val="0000FF"/>
                </a:solidFill>
                <a:latin typeface="+mn-ea"/>
              </a:rPr>
              <a:t>SCON</a:t>
            </a:r>
            <a:r>
              <a:rPr lang="zh-CN" altLang="en-US" sz="1400" dirty="0">
                <a:solidFill>
                  <a:srgbClr val="0000FF"/>
                </a:solidFill>
                <a:latin typeface="+mn-ea"/>
              </a:rPr>
              <a:t>寄存器中的</a:t>
            </a:r>
            <a:r>
              <a:rPr lang="en-US" altLang="zh-CN" sz="1400" dirty="0">
                <a:solidFill>
                  <a:srgbClr val="0000FF"/>
                </a:solidFill>
                <a:latin typeface="+mn-ea"/>
              </a:rPr>
              <a:t>REN</a:t>
            </a:r>
            <a:r>
              <a:rPr lang="zh-CN" altLang="en-US" sz="1400" dirty="0">
                <a:solidFill>
                  <a:srgbClr val="0000FF"/>
                </a:solidFill>
                <a:latin typeface="+mn-ea"/>
              </a:rPr>
              <a:t>位作为开关来控制。因此，初值化时，除了设置工作方式之外，还要使</a:t>
            </a:r>
            <a:r>
              <a:rPr lang="en-US" altLang="zh-CN" sz="1400" dirty="0">
                <a:solidFill>
                  <a:srgbClr val="0000FF"/>
                </a:solidFill>
                <a:latin typeface="+mn-ea"/>
              </a:rPr>
              <a:t>REN</a:t>
            </a:r>
            <a:r>
              <a:rPr lang="zh-CN" altLang="en-US" sz="1400" dirty="0">
                <a:solidFill>
                  <a:srgbClr val="0000FF"/>
                </a:solidFill>
                <a:latin typeface="+mn-ea"/>
              </a:rPr>
              <a:t>位为</a:t>
            </a:r>
            <a:r>
              <a:rPr lang="en-US" altLang="zh-CN" sz="1400" dirty="0">
                <a:solidFill>
                  <a:srgbClr val="0000FF"/>
                </a:solidFill>
                <a:latin typeface="+mn-ea"/>
              </a:rPr>
              <a:t>1</a:t>
            </a:r>
            <a:r>
              <a:rPr lang="zh-CN" altLang="en-US" sz="1400" dirty="0">
                <a:solidFill>
                  <a:srgbClr val="0000FF"/>
                </a:solidFill>
                <a:latin typeface="+mn-ea"/>
              </a:rPr>
              <a:t>，其余各位仍然为</a:t>
            </a:r>
            <a:r>
              <a:rPr lang="en-US" altLang="zh-CN" sz="1400" dirty="0">
                <a:solidFill>
                  <a:srgbClr val="0000FF"/>
                </a:solidFill>
                <a:latin typeface="+mn-ea"/>
              </a:rPr>
              <a:t>0</a:t>
            </a:r>
            <a:r>
              <a:rPr lang="zh-CN" altLang="en-US" sz="1400" dirty="0">
                <a:solidFill>
                  <a:srgbClr val="0000FF"/>
                </a:solidFill>
                <a:latin typeface="+mn-ea"/>
              </a:rPr>
              <a:t>。</a:t>
            </a:r>
          </a:p>
          <a:p>
            <a:pPr>
              <a:lnSpc>
                <a:spcPct val="150000"/>
              </a:lnSpc>
            </a:pPr>
            <a:r>
              <a:rPr lang="zh-CN" altLang="en-US" sz="1400" dirty="0">
                <a:solidFill>
                  <a:srgbClr val="0000FF"/>
                </a:solidFill>
                <a:latin typeface="+mn-ea"/>
              </a:rPr>
              <a:t>对</a:t>
            </a:r>
            <a:r>
              <a:rPr lang="en-US" altLang="zh-CN" sz="1400" dirty="0">
                <a:solidFill>
                  <a:srgbClr val="0000FF"/>
                </a:solidFill>
                <a:latin typeface="+mn-ea"/>
              </a:rPr>
              <a:t>RI</a:t>
            </a:r>
            <a:r>
              <a:rPr lang="zh-CN" altLang="en-US" sz="1400" dirty="0">
                <a:solidFill>
                  <a:srgbClr val="0000FF"/>
                </a:solidFill>
                <a:latin typeface="+mn-ea"/>
              </a:rPr>
              <a:t>采用查询方式来编写程序，当然，先要查询开关</a:t>
            </a:r>
            <a:r>
              <a:rPr lang="en-US" altLang="zh-CN" sz="1400" dirty="0">
                <a:solidFill>
                  <a:srgbClr val="0000FF"/>
                </a:solidFill>
                <a:latin typeface="+mn-ea"/>
              </a:rPr>
              <a:t>K</a:t>
            </a:r>
            <a:r>
              <a:rPr lang="zh-CN" altLang="en-US" sz="1400" dirty="0">
                <a:solidFill>
                  <a:srgbClr val="0000FF"/>
                </a:solidFill>
                <a:latin typeface="+mn-ea"/>
              </a:rPr>
              <a:t>是否闭合。</a:t>
            </a:r>
          </a:p>
        </p:txBody>
      </p:sp>
      <p:pic>
        <p:nvPicPr>
          <p:cNvPr id="14" name="内容占位符 111619" descr="0718"/>
          <p:cNvPicPr>
            <a:picLocks noGrp="1" noChangeAspect="1"/>
          </p:cNvPicPr>
          <p:nvPr/>
        </p:nvPicPr>
        <p:blipFill>
          <a:blip r:embed="rId2"/>
          <a:stretch>
            <a:fillRect/>
          </a:stretch>
        </p:blipFill>
        <p:spPr>
          <a:xfrm>
            <a:off x="4572000" y="1327468"/>
            <a:ext cx="3097212" cy="2105025"/>
          </a:xfrm>
          <a:prstGeom prst="rect">
            <a:avLst/>
          </a:prstGeom>
        </p:spPr>
      </p:pic>
      <p:sp>
        <p:nvSpPr>
          <p:cNvPr id="15" name="文本框 4"/>
          <p:cNvSpPr txBox="1"/>
          <p:nvPr/>
        </p:nvSpPr>
        <p:spPr>
          <a:xfrm>
            <a:off x="4175125" y="3442018"/>
            <a:ext cx="4578350" cy="2998787"/>
          </a:xfrm>
          <a:prstGeom prst="rect">
            <a:avLst/>
          </a:prstGeom>
          <a:noFill/>
          <a:ln w="9525">
            <a:noFill/>
          </a:ln>
        </p:spPr>
        <p:txBody>
          <a:bodyPr wrap="square" anchor="t">
            <a:spAutoFit/>
          </a:bodyPr>
          <a:lstStyle/>
          <a:p>
            <a:pPr>
              <a:lnSpc>
                <a:spcPct val="150000"/>
              </a:lnSpc>
            </a:pPr>
            <a:r>
              <a:rPr lang="en-US" altLang="zh-CN" sz="1400" dirty="0">
                <a:solidFill>
                  <a:schemeClr val="tx1"/>
                </a:solidFill>
                <a:latin typeface="Arial" panose="020B0604020202020204" pitchFamily="34" charset="0"/>
                <a:ea typeface="宋体" panose="02010600030101010101" pitchFamily="2" charset="-122"/>
              </a:rPr>
              <a:t>START: MOV   SCON ,#10H     ;</a:t>
            </a:r>
            <a:r>
              <a:rPr lang="zh-CN" altLang="en-US" sz="1400" dirty="0">
                <a:solidFill>
                  <a:schemeClr val="tx1"/>
                </a:solidFill>
                <a:latin typeface="Arial" panose="020B0604020202020204" pitchFamily="34" charset="0"/>
                <a:ea typeface="宋体" panose="02010600030101010101" pitchFamily="2" charset="-122"/>
              </a:rPr>
              <a:t>串行口方式</a:t>
            </a:r>
            <a:r>
              <a:rPr lang="en-US" altLang="zh-CN" sz="1400" dirty="0">
                <a:solidFill>
                  <a:schemeClr val="tx1"/>
                </a:solidFill>
                <a:latin typeface="Arial" panose="020B0604020202020204" pitchFamily="34" charset="0"/>
                <a:ea typeface="宋体" panose="02010600030101010101" pitchFamily="2" charset="-122"/>
              </a:rPr>
              <a:t>0</a:t>
            </a:r>
            <a:r>
              <a:rPr lang="zh-CN" altLang="en-US" sz="1400" dirty="0">
                <a:solidFill>
                  <a:schemeClr val="tx1"/>
                </a:solidFill>
                <a:latin typeface="Arial" panose="020B0604020202020204" pitchFamily="34" charset="0"/>
                <a:ea typeface="宋体" panose="02010600030101010101" pitchFamily="2" charset="-122"/>
              </a:rPr>
              <a:t>初始化</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JB    P1.1 ,$    	              ;</a:t>
            </a:r>
            <a:r>
              <a:rPr lang="zh-CN" altLang="en-US" sz="1400" dirty="0">
                <a:solidFill>
                  <a:schemeClr val="tx1"/>
                </a:solidFill>
                <a:latin typeface="Arial" panose="020B0604020202020204" pitchFamily="34" charset="0"/>
                <a:ea typeface="宋体" panose="02010600030101010101" pitchFamily="2" charset="-122"/>
              </a:rPr>
              <a:t>开关</a:t>
            </a:r>
            <a:r>
              <a:rPr lang="en-US" altLang="zh-CN" sz="1400" dirty="0">
                <a:solidFill>
                  <a:schemeClr val="tx1"/>
                </a:solidFill>
                <a:latin typeface="Arial" panose="020B0604020202020204" pitchFamily="34" charset="0"/>
                <a:ea typeface="宋体" panose="02010600030101010101" pitchFamily="2" charset="-122"/>
              </a:rPr>
              <a:t>K</a:t>
            </a:r>
            <a:r>
              <a:rPr lang="zh-CN" altLang="en-US" sz="1400" dirty="0">
                <a:solidFill>
                  <a:schemeClr val="tx1"/>
                </a:solidFill>
                <a:latin typeface="Arial" panose="020B0604020202020204" pitchFamily="34" charset="0"/>
                <a:ea typeface="宋体" panose="02010600030101010101" pitchFamily="2" charset="-122"/>
              </a:rPr>
              <a:t>未闭合，等待</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SETB   P1.0                   ;P/S=1,</a:t>
            </a:r>
            <a:r>
              <a:rPr lang="zh-CN" altLang="en-US" sz="1400" dirty="0">
                <a:solidFill>
                  <a:schemeClr val="tx1"/>
                </a:solidFill>
                <a:latin typeface="Arial" panose="020B0604020202020204" pitchFamily="34" charset="0"/>
                <a:ea typeface="宋体" panose="02010600030101010101" pitchFamily="2" charset="-122"/>
              </a:rPr>
              <a:t>并行置入数据</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CLR    P1.0                    ;PS=0,</a:t>
            </a:r>
            <a:r>
              <a:rPr lang="zh-CN" altLang="en-US" sz="1400" dirty="0">
                <a:solidFill>
                  <a:schemeClr val="tx1"/>
                </a:solidFill>
                <a:latin typeface="Arial" panose="020B0604020202020204" pitchFamily="34" charset="0"/>
                <a:ea typeface="宋体" panose="02010600030101010101" pitchFamily="2" charset="-122"/>
              </a:rPr>
              <a:t>开始串行移位</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JNB    RI ,$                     ;</a:t>
            </a:r>
            <a:r>
              <a:rPr lang="zh-CN" altLang="en-US" sz="1400" dirty="0">
                <a:solidFill>
                  <a:schemeClr val="tx1"/>
                </a:solidFill>
                <a:latin typeface="Arial" panose="020B0604020202020204" pitchFamily="34" charset="0"/>
                <a:ea typeface="宋体" panose="02010600030101010101" pitchFamily="2" charset="-122"/>
              </a:rPr>
              <a:t>查询</a:t>
            </a:r>
            <a:r>
              <a:rPr lang="en-US" altLang="zh-CN" sz="1400" dirty="0">
                <a:solidFill>
                  <a:schemeClr val="tx1"/>
                </a:solidFill>
                <a:latin typeface="Arial" panose="020B0604020202020204" pitchFamily="34" charset="0"/>
                <a:ea typeface="宋体" panose="02010600030101010101" pitchFamily="2" charset="-122"/>
              </a:rPr>
              <a:t>RI</a:t>
            </a:r>
          </a:p>
          <a:p>
            <a:pPr>
              <a:lnSpc>
                <a:spcPct val="150000"/>
              </a:lnSpc>
            </a:pPr>
            <a:r>
              <a:rPr lang="en-US" altLang="zh-CN" sz="1400" dirty="0">
                <a:solidFill>
                  <a:schemeClr val="tx1"/>
                </a:solidFill>
                <a:latin typeface="Arial" panose="020B0604020202020204" pitchFamily="34" charset="0"/>
                <a:ea typeface="宋体" panose="02010600030101010101" pitchFamily="2" charset="-122"/>
              </a:rPr>
              <a:t>             CLR    RI             </a:t>
            </a:r>
            <a:r>
              <a:rPr lang="en-US" altLang="zh-CN" sz="1400" dirty="0">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  ;</a:t>
            </a:r>
            <a:r>
              <a:rPr lang="zh-CN" altLang="en-US" sz="1400" dirty="0">
                <a:solidFill>
                  <a:schemeClr val="tx1"/>
                </a:solidFill>
                <a:latin typeface="Arial" panose="020B0604020202020204" pitchFamily="34" charset="0"/>
                <a:ea typeface="宋体" panose="02010600030101010101" pitchFamily="2" charset="-122"/>
              </a:rPr>
              <a:t>查询结束，清</a:t>
            </a:r>
            <a:r>
              <a:rPr lang="en-US" altLang="zh-CN" sz="1400" dirty="0">
                <a:solidFill>
                  <a:schemeClr val="tx1"/>
                </a:solidFill>
                <a:latin typeface="Arial" panose="020B0604020202020204" pitchFamily="34" charset="0"/>
                <a:ea typeface="宋体" panose="02010600030101010101" pitchFamily="2" charset="-122"/>
              </a:rPr>
              <a:t>RI</a:t>
            </a:r>
          </a:p>
          <a:p>
            <a:pPr>
              <a:lnSpc>
                <a:spcPct val="150000"/>
              </a:lnSpc>
            </a:pPr>
            <a:r>
              <a:rPr lang="en-US" altLang="zh-CN" sz="1400" dirty="0">
                <a:solidFill>
                  <a:schemeClr val="tx1"/>
                </a:solidFill>
                <a:latin typeface="Arial" panose="020B0604020202020204" pitchFamily="34" charset="0"/>
                <a:ea typeface="宋体" panose="02010600030101010101" pitchFamily="2" charset="-122"/>
              </a:rPr>
              <a:t>             MOV    A ,SBUF              ;</a:t>
            </a:r>
            <a:r>
              <a:rPr lang="zh-CN" altLang="en-US" sz="1400" dirty="0">
                <a:solidFill>
                  <a:schemeClr val="tx1"/>
                </a:solidFill>
                <a:latin typeface="Arial" panose="020B0604020202020204" pitchFamily="34" charset="0"/>
                <a:ea typeface="宋体" panose="02010600030101010101" pitchFamily="2" charset="-122"/>
              </a:rPr>
              <a:t>读数据到累加器</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ACALL  LOGSIM             ;</a:t>
            </a:r>
            <a:r>
              <a:rPr lang="zh-CN" altLang="en-US" sz="1400" dirty="0">
                <a:solidFill>
                  <a:schemeClr val="tx1"/>
                </a:solidFill>
                <a:latin typeface="Arial" panose="020B0604020202020204" pitchFamily="34" charset="0"/>
                <a:ea typeface="宋体" panose="02010600030101010101" pitchFamily="2" charset="-122"/>
              </a:rPr>
              <a:t>进行逻辑模拟</a:t>
            </a:r>
          </a:p>
          <a:p>
            <a:pPr>
              <a:lnSpc>
                <a:spcPct val="150000"/>
              </a:lnSpc>
            </a:pPr>
            <a:r>
              <a:rPr lang="zh-CN" altLang="en-US" sz="1400" dirty="0">
                <a:solidFill>
                  <a:schemeClr val="tx1"/>
                </a:solidFill>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SJMP   START          </a:t>
            </a:r>
            <a:r>
              <a:rPr lang="en-US" altLang="zh-CN" sz="1400" dirty="0">
                <a:latin typeface="Arial" panose="020B0604020202020204" pitchFamily="34" charset="0"/>
                <a:ea typeface="宋体" panose="02010600030101010101" pitchFamily="2" charset="-122"/>
              </a:rPr>
              <a:t>    </a:t>
            </a:r>
            <a:r>
              <a:rPr lang="en-US" altLang="zh-CN" sz="1400" dirty="0">
                <a:solidFill>
                  <a:schemeClr val="tx1"/>
                </a:solidFill>
                <a:latin typeface="Arial" panose="020B0604020202020204" pitchFamily="34" charset="0"/>
                <a:ea typeface="宋体" panose="02010600030101010101" pitchFamily="2" charset="-122"/>
              </a:rPr>
              <a:t>  ;</a:t>
            </a:r>
            <a:r>
              <a:rPr lang="zh-CN" altLang="en-US" sz="1400" dirty="0">
                <a:solidFill>
                  <a:schemeClr val="tx1"/>
                </a:solidFill>
                <a:latin typeface="Arial" panose="020B0604020202020204" pitchFamily="34" charset="0"/>
                <a:ea typeface="宋体" panose="02010600030101010101" pitchFamily="2" charset="-122"/>
              </a:rPr>
              <a:t>准备下一次模拟</a:t>
            </a:r>
          </a:p>
        </p:txBody>
      </p:sp>
    </p:spTree>
    <p:extLst>
      <p:ext uri="{BB962C8B-B14F-4D97-AF65-F5344CB8AC3E}">
        <p14:creationId xmlns:p14="http://schemas.microsoft.com/office/powerpoint/2010/main" val="107267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0" name="矩形 9"/>
          <p:cNvSpPr/>
          <p:nvPr/>
        </p:nvSpPr>
        <p:spPr>
          <a:xfrm>
            <a:off x="542924" y="1521098"/>
            <a:ext cx="1741182"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方式</a:t>
            </a:r>
            <a:r>
              <a:rPr lang="en-US" altLang="zh-CN" dirty="0">
                <a:solidFill>
                  <a:srgbClr val="FF0000"/>
                </a:solidFill>
              </a:rPr>
              <a:t>1</a:t>
            </a:r>
            <a:r>
              <a:rPr lang="zh-CN" altLang="en-US" dirty="0">
                <a:solidFill>
                  <a:srgbClr val="FF0000"/>
                </a:solidFill>
              </a:rPr>
              <a:t>应用</a:t>
            </a:r>
          </a:p>
        </p:txBody>
      </p:sp>
      <p:sp>
        <p:nvSpPr>
          <p:cNvPr id="2" name="矩形 1"/>
          <p:cNvSpPr/>
          <p:nvPr/>
        </p:nvSpPr>
        <p:spPr>
          <a:xfrm>
            <a:off x="517124" y="1756872"/>
            <a:ext cx="8296275" cy="1273875"/>
          </a:xfrm>
          <a:prstGeom prst="rect">
            <a:avLst/>
          </a:prstGeom>
        </p:spPr>
        <p:txBody>
          <a:bodyPr wrap="square">
            <a:spAutoFit/>
          </a:bodyPr>
          <a:lstStyle/>
          <a:p>
            <a:pPr>
              <a:lnSpc>
                <a:spcPct val="150000"/>
              </a:lnSpc>
              <a:buNone/>
            </a:pPr>
            <a:r>
              <a:rPr lang="zh-CN" altLang="en-US" dirty="0">
                <a:solidFill>
                  <a:srgbClr val="0000FF"/>
                </a:solidFill>
                <a:latin typeface="+mn-ea"/>
              </a:rPr>
              <a:t>例</a:t>
            </a:r>
            <a:r>
              <a:rPr lang="en-US" altLang="zh-CN" dirty="0">
                <a:solidFill>
                  <a:srgbClr val="0000FF"/>
                </a:solidFill>
                <a:latin typeface="+mn-ea"/>
              </a:rPr>
              <a:t>7-4</a:t>
            </a:r>
            <a:r>
              <a:rPr lang="zh-CN" altLang="en-US" dirty="0">
                <a:solidFill>
                  <a:srgbClr val="0000FF"/>
                </a:solidFill>
                <a:latin typeface="+mn-ea"/>
              </a:rPr>
              <a:t>：</a:t>
            </a:r>
            <a:r>
              <a:rPr lang="en-US" altLang="zh-CN" dirty="0">
                <a:latin typeface="+mn-ea"/>
              </a:rPr>
              <a:t>89C51</a:t>
            </a:r>
            <a:r>
              <a:rPr lang="zh-CN" altLang="en-US" dirty="0">
                <a:latin typeface="+mn-ea"/>
              </a:rPr>
              <a:t>串行口按双工方式收发</a:t>
            </a:r>
            <a:r>
              <a:rPr lang="en-US" altLang="zh-CN" dirty="0">
                <a:latin typeface="+mn-ea"/>
              </a:rPr>
              <a:t>ASCII</a:t>
            </a:r>
            <a:r>
              <a:rPr lang="zh-CN" altLang="en-US" dirty="0">
                <a:latin typeface="+mn-ea"/>
              </a:rPr>
              <a:t>字符，</a:t>
            </a:r>
            <a:r>
              <a:rPr lang="zh-CN" altLang="en-US" dirty="0">
                <a:solidFill>
                  <a:srgbClr val="FF0000"/>
                </a:solidFill>
                <a:latin typeface="+mn-ea"/>
              </a:rPr>
              <a:t>最高位用来作奇偶校验位</a:t>
            </a:r>
            <a:r>
              <a:rPr lang="zh-CN" altLang="en-US" dirty="0">
                <a:latin typeface="+mn-ea"/>
              </a:rPr>
              <a:t>，采用</a:t>
            </a:r>
            <a:r>
              <a:rPr lang="zh-CN" altLang="en-US" dirty="0">
                <a:solidFill>
                  <a:srgbClr val="FF0000"/>
                </a:solidFill>
                <a:latin typeface="+mn-ea"/>
              </a:rPr>
              <a:t>奇校验</a:t>
            </a:r>
            <a:r>
              <a:rPr lang="zh-CN" altLang="en-US" dirty="0">
                <a:latin typeface="+mn-ea"/>
              </a:rPr>
              <a:t>方式，要求传送的波特率为</a:t>
            </a:r>
            <a:r>
              <a:rPr lang="en-US" altLang="zh-CN" dirty="0">
                <a:latin typeface="+mn-ea"/>
              </a:rPr>
              <a:t>1200b/s</a:t>
            </a:r>
            <a:r>
              <a:rPr lang="zh-CN" altLang="en-US" dirty="0">
                <a:latin typeface="+mn-ea"/>
              </a:rPr>
              <a:t>。编写采用方式</a:t>
            </a:r>
            <a:r>
              <a:rPr lang="en-US" altLang="zh-CN" dirty="0">
                <a:latin typeface="+mn-ea"/>
              </a:rPr>
              <a:t>1</a:t>
            </a:r>
            <a:r>
              <a:rPr lang="zh-CN" altLang="en-US" dirty="0">
                <a:latin typeface="+mn-ea"/>
              </a:rPr>
              <a:t>的通信程序。</a:t>
            </a:r>
            <a:endParaRPr lang="en-US" altLang="zh-CN" dirty="0">
              <a:latin typeface="+mn-ea"/>
            </a:endParaRPr>
          </a:p>
          <a:p>
            <a:pPr>
              <a:lnSpc>
                <a:spcPct val="150000"/>
              </a:lnSpc>
              <a:buNone/>
            </a:pPr>
            <a:r>
              <a:rPr lang="zh-CN" altLang="en-US" sz="1800" dirty="0">
                <a:solidFill>
                  <a:srgbClr val="FF0000"/>
                </a:solidFill>
                <a:latin typeface="+mn-ea"/>
              </a:rPr>
              <a:t>设发送数据区的首地址为</a:t>
            </a:r>
            <a:r>
              <a:rPr lang="en-US" altLang="zh-CN" sz="1800" dirty="0">
                <a:solidFill>
                  <a:srgbClr val="FF0000"/>
                </a:solidFill>
                <a:latin typeface="+mn-ea"/>
              </a:rPr>
              <a:t>20H</a:t>
            </a:r>
            <a:r>
              <a:rPr lang="zh-CN" altLang="en-US" sz="1800" dirty="0">
                <a:solidFill>
                  <a:srgbClr val="FF0000"/>
                </a:solidFill>
                <a:latin typeface="+mn-ea"/>
              </a:rPr>
              <a:t>，接收数据区的首地址为</a:t>
            </a:r>
            <a:r>
              <a:rPr lang="en-US" altLang="zh-CN" sz="1800" dirty="0">
                <a:solidFill>
                  <a:srgbClr val="FF0000"/>
                </a:solidFill>
                <a:latin typeface="+mn-ea"/>
              </a:rPr>
              <a:t>40H</a:t>
            </a:r>
            <a:r>
              <a:rPr lang="zh-CN" altLang="en-US" sz="1800" dirty="0">
                <a:solidFill>
                  <a:srgbClr val="FF0000"/>
                </a:solidFill>
                <a:latin typeface="+mn-ea"/>
              </a:rPr>
              <a:t>，</a:t>
            </a:r>
            <a:r>
              <a:rPr lang="en-US" altLang="zh-CN" sz="1800" dirty="0" err="1">
                <a:solidFill>
                  <a:srgbClr val="FF0000"/>
                </a:solidFill>
                <a:latin typeface="+mn-ea"/>
              </a:rPr>
              <a:t>fosc</a:t>
            </a:r>
            <a:r>
              <a:rPr lang="zh-CN" altLang="en-US" sz="1800" dirty="0">
                <a:solidFill>
                  <a:srgbClr val="FF0000"/>
                </a:solidFill>
                <a:latin typeface="+mn-ea"/>
              </a:rPr>
              <a:t>为</a:t>
            </a:r>
            <a:r>
              <a:rPr lang="en-US" altLang="zh-CN" sz="1800" dirty="0">
                <a:solidFill>
                  <a:srgbClr val="FF0000"/>
                </a:solidFill>
                <a:latin typeface="+mn-ea"/>
              </a:rPr>
              <a:t>6MHz</a:t>
            </a:r>
            <a:r>
              <a:rPr lang="zh-CN" altLang="en-US" dirty="0">
                <a:solidFill>
                  <a:srgbClr val="FF0000"/>
                </a:solidFill>
                <a:latin typeface="+mn-ea"/>
              </a:rPr>
              <a:t>。</a:t>
            </a:r>
            <a:endParaRPr lang="zh-CN" altLang="en-US" dirty="0">
              <a:latin typeface="+mn-ea"/>
            </a:endParaRPr>
          </a:p>
        </p:txBody>
      </p:sp>
      <p:sp>
        <p:nvSpPr>
          <p:cNvPr id="3" name="矩形 2"/>
          <p:cNvSpPr/>
          <p:nvPr/>
        </p:nvSpPr>
        <p:spPr>
          <a:xfrm>
            <a:off x="542924" y="2957900"/>
            <a:ext cx="8448676" cy="3785652"/>
          </a:xfrm>
          <a:prstGeom prst="rect">
            <a:avLst/>
          </a:prstGeom>
        </p:spPr>
        <p:txBody>
          <a:bodyPr wrap="square">
            <a:spAutoFit/>
          </a:bodyPr>
          <a:lstStyle/>
          <a:p>
            <a:pPr>
              <a:lnSpc>
                <a:spcPct val="150000"/>
              </a:lnSpc>
              <a:buNone/>
            </a:pPr>
            <a:r>
              <a:rPr lang="zh-CN" altLang="en-US" sz="1600" dirty="0">
                <a:latin typeface="+mn-ea"/>
              </a:rPr>
              <a:t>解：</a:t>
            </a:r>
            <a:r>
              <a:rPr lang="en-US" altLang="zh-CN" sz="1600" dirty="0">
                <a:latin typeface="+mn-ea"/>
              </a:rPr>
              <a:t>7</a:t>
            </a:r>
            <a:r>
              <a:rPr lang="zh-CN" altLang="en-US" sz="1600" dirty="0">
                <a:latin typeface="+mn-ea"/>
              </a:rPr>
              <a:t>位</a:t>
            </a:r>
            <a:r>
              <a:rPr lang="en-US" altLang="zh-CN" sz="1600" dirty="0">
                <a:latin typeface="+mn-ea"/>
              </a:rPr>
              <a:t>ASCII</a:t>
            </a:r>
            <a:r>
              <a:rPr lang="zh-CN" altLang="en-US" sz="1600" dirty="0">
                <a:latin typeface="+mn-ea"/>
              </a:rPr>
              <a:t>码加</a:t>
            </a:r>
            <a:r>
              <a:rPr lang="en-US" altLang="zh-CN" sz="1600" dirty="0">
                <a:latin typeface="+mn-ea"/>
              </a:rPr>
              <a:t>1</a:t>
            </a:r>
            <a:r>
              <a:rPr lang="zh-CN" altLang="en-US" sz="1600" dirty="0">
                <a:latin typeface="+mn-ea"/>
              </a:rPr>
              <a:t>位奇校验共</a:t>
            </a:r>
            <a:r>
              <a:rPr lang="en-US" altLang="zh-CN" sz="1600" dirty="0">
                <a:latin typeface="+mn-ea"/>
              </a:rPr>
              <a:t>8</a:t>
            </a:r>
            <a:r>
              <a:rPr lang="zh-CN" altLang="en-US" sz="1600" dirty="0">
                <a:latin typeface="+mn-ea"/>
              </a:rPr>
              <a:t>位数据，故可采用串行口方式</a:t>
            </a:r>
            <a:r>
              <a:rPr lang="en-US" altLang="zh-CN" sz="1600" dirty="0">
                <a:latin typeface="+mn-ea"/>
              </a:rPr>
              <a:t>1</a:t>
            </a:r>
            <a:r>
              <a:rPr lang="zh-CN" altLang="en-US" sz="1600" dirty="0">
                <a:latin typeface="+mn-ea"/>
              </a:rPr>
              <a:t>。</a:t>
            </a:r>
          </a:p>
          <a:p>
            <a:pPr>
              <a:lnSpc>
                <a:spcPct val="150000"/>
              </a:lnSpc>
              <a:buNone/>
            </a:pPr>
            <a:r>
              <a:rPr lang="zh-CN" altLang="en-US" sz="1600" dirty="0">
                <a:latin typeface="+mn-ea"/>
              </a:rPr>
              <a:t>    </a:t>
            </a:r>
            <a:r>
              <a:rPr lang="en-US" altLang="zh-CN" sz="1600" dirty="0">
                <a:latin typeface="+mn-ea"/>
              </a:rPr>
              <a:t>89C51</a:t>
            </a:r>
            <a:r>
              <a:rPr lang="zh-CN" altLang="en-US" sz="1600" dirty="0">
                <a:latin typeface="+mn-ea"/>
              </a:rPr>
              <a:t>单片机的奇偶校验位</a:t>
            </a:r>
            <a:r>
              <a:rPr lang="en-US" altLang="zh-CN" sz="1600" dirty="0">
                <a:latin typeface="+mn-ea"/>
              </a:rPr>
              <a:t>P</a:t>
            </a:r>
            <a:r>
              <a:rPr lang="zh-CN" altLang="en-US" sz="1600" dirty="0">
                <a:latin typeface="+mn-ea"/>
              </a:rPr>
              <a:t>是当累加器</a:t>
            </a:r>
            <a:r>
              <a:rPr lang="en-US" altLang="zh-CN" sz="1600" dirty="0">
                <a:latin typeface="+mn-ea"/>
              </a:rPr>
              <a:t>A</a:t>
            </a:r>
            <a:r>
              <a:rPr lang="zh-CN" altLang="en-US" sz="1600" dirty="0">
                <a:latin typeface="+mn-ea"/>
              </a:rPr>
              <a:t>中</a:t>
            </a:r>
            <a:r>
              <a:rPr lang="en-US" altLang="zh-CN" sz="1600" dirty="0">
                <a:latin typeface="+mn-ea"/>
              </a:rPr>
              <a:t>1</a:t>
            </a:r>
            <a:r>
              <a:rPr lang="zh-CN" altLang="en-US" sz="1600" dirty="0">
                <a:latin typeface="+mn-ea"/>
              </a:rPr>
              <a:t>的数目为奇数时，</a:t>
            </a:r>
            <a:r>
              <a:rPr lang="en-US" altLang="zh-CN" sz="1600" dirty="0">
                <a:latin typeface="+mn-ea"/>
              </a:rPr>
              <a:t>P=1</a:t>
            </a:r>
            <a:r>
              <a:rPr lang="zh-CN" altLang="en-US" sz="1600" dirty="0">
                <a:latin typeface="+mn-ea"/>
              </a:rPr>
              <a:t>。如果直接把</a:t>
            </a:r>
            <a:r>
              <a:rPr lang="en-US" altLang="zh-CN" sz="1600" dirty="0">
                <a:latin typeface="+mn-ea"/>
              </a:rPr>
              <a:t>P</a:t>
            </a:r>
            <a:r>
              <a:rPr lang="zh-CN" altLang="en-US" sz="1600" dirty="0">
                <a:latin typeface="+mn-ea"/>
              </a:rPr>
              <a:t>的值放入</a:t>
            </a:r>
            <a:r>
              <a:rPr lang="en-US" altLang="zh-CN" sz="1600" dirty="0">
                <a:latin typeface="+mn-ea"/>
              </a:rPr>
              <a:t>ASCII</a:t>
            </a:r>
            <a:r>
              <a:rPr lang="zh-CN" altLang="en-US" sz="1600" dirty="0">
                <a:latin typeface="+mn-ea"/>
              </a:rPr>
              <a:t>码的最高位，恰好成了偶校验，与要求不符。因此，要把</a:t>
            </a:r>
            <a:r>
              <a:rPr lang="en-US" altLang="zh-CN" sz="1600" dirty="0">
                <a:latin typeface="+mn-ea"/>
              </a:rPr>
              <a:t>P</a:t>
            </a:r>
            <a:r>
              <a:rPr lang="zh-CN" altLang="en-US" sz="1600" dirty="0">
                <a:latin typeface="+mn-ea"/>
              </a:rPr>
              <a:t>的值取反以后放入</a:t>
            </a:r>
            <a:r>
              <a:rPr lang="en-US" altLang="zh-CN" sz="1600" dirty="0">
                <a:latin typeface="+mn-ea"/>
              </a:rPr>
              <a:t>ASCII</a:t>
            </a:r>
            <a:r>
              <a:rPr lang="zh-CN" altLang="en-US" sz="1600" dirty="0">
                <a:latin typeface="+mn-ea"/>
              </a:rPr>
              <a:t>码最高位，才是要求的奇校验。</a:t>
            </a:r>
          </a:p>
          <a:p>
            <a:pPr>
              <a:lnSpc>
                <a:spcPct val="150000"/>
              </a:lnSpc>
              <a:buNone/>
            </a:pPr>
            <a:r>
              <a:rPr lang="en-US" altLang="zh-CN" sz="1600" dirty="0">
                <a:latin typeface="+mn-ea"/>
              </a:rPr>
              <a:t>    </a:t>
            </a:r>
            <a:r>
              <a:rPr lang="zh-CN" altLang="en-US" sz="1600" dirty="0">
                <a:latin typeface="+mn-ea"/>
              </a:rPr>
              <a:t>双工通信要求收、发能同时进行。实际上，收、发操作主要是在串行接口进行，</a:t>
            </a:r>
            <a:r>
              <a:rPr lang="en-US" altLang="zh-CN" sz="1600" dirty="0">
                <a:latin typeface="+mn-ea"/>
              </a:rPr>
              <a:t>CPU</a:t>
            </a:r>
            <a:r>
              <a:rPr lang="zh-CN" altLang="en-US" sz="1600" dirty="0">
                <a:latin typeface="+mn-ea"/>
              </a:rPr>
              <a:t>只是把数据从接收缓冲器读出和把数据写入发送缓冲器。</a:t>
            </a:r>
            <a:r>
              <a:rPr lang="zh-CN" altLang="en-US" sz="1600" dirty="0">
                <a:solidFill>
                  <a:srgbClr val="0000FF"/>
                </a:solidFill>
                <a:latin typeface="+mn-ea"/>
              </a:rPr>
              <a:t>数据传送用中断方式进行，</a:t>
            </a:r>
            <a:r>
              <a:rPr lang="zh-CN" altLang="en-US" sz="1600" dirty="0">
                <a:latin typeface="+mn-ea"/>
              </a:rPr>
              <a:t>响应中断以后，</a:t>
            </a:r>
            <a:r>
              <a:rPr lang="zh-CN" altLang="en-US" sz="1600" dirty="0">
                <a:solidFill>
                  <a:srgbClr val="0000FF"/>
                </a:solidFill>
                <a:latin typeface="+mn-ea"/>
              </a:rPr>
              <a:t>通过检测是</a:t>
            </a:r>
            <a:r>
              <a:rPr lang="en-US" altLang="zh-CN" sz="1600" dirty="0">
                <a:solidFill>
                  <a:srgbClr val="0000FF"/>
                </a:solidFill>
                <a:latin typeface="+mn-ea"/>
              </a:rPr>
              <a:t>RI</a:t>
            </a:r>
            <a:r>
              <a:rPr lang="zh-CN" altLang="en-US" sz="1600" dirty="0">
                <a:solidFill>
                  <a:srgbClr val="0000FF"/>
                </a:solidFill>
                <a:latin typeface="+mn-ea"/>
              </a:rPr>
              <a:t>置位还是</a:t>
            </a:r>
            <a:r>
              <a:rPr lang="en-US" altLang="zh-CN" sz="1600" dirty="0">
                <a:solidFill>
                  <a:srgbClr val="0000FF"/>
                </a:solidFill>
                <a:latin typeface="+mn-ea"/>
              </a:rPr>
              <a:t>TI</a:t>
            </a:r>
            <a:r>
              <a:rPr lang="zh-CN" altLang="en-US" sz="1600" dirty="0">
                <a:solidFill>
                  <a:srgbClr val="0000FF"/>
                </a:solidFill>
                <a:latin typeface="+mn-ea"/>
              </a:rPr>
              <a:t>置位来决定</a:t>
            </a:r>
            <a:r>
              <a:rPr lang="en-US" altLang="zh-CN" sz="1600" dirty="0">
                <a:solidFill>
                  <a:srgbClr val="0000FF"/>
                </a:solidFill>
                <a:latin typeface="+mn-ea"/>
              </a:rPr>
              <a:t>CPU</a:t>
            </a:r>
            <a:r>
              <a:rPr lang="zh-CN" altLang="en-US" sz="1600" dirty="0">
                <a:solidFill>
                  <a:srgbClr val="0000FF"/>
                </a:solidFill>
                <a:latin typeface="+mn-ea"/>
              </a:rPr>
              <a:t>是进行发送操作还是接收操作</a:t>
            </a:r>
            <a:r>
              <a:rPr lang="zh-CN" altLang="en-US" sz="1600" dirty="0">
                <a:latin typeface="+mn-ea"/>
              </a:rPr>
              <a:t>。发送和接收都通过调用子程序来完成</a:t>
            </a:r>
            <a:r>
              <a:rPr lang="zh-CN" altLang="en-US" sz="1600" dirty="0">
                <a:solidFill>
                  <a:srgbClr val="FF0000"/>
                </a:solidFill>
                <a:latin typeface="+mn-ea"/>
              </a:rPr>
              <a:t>，发送数据区的首地址为</a:t>
            </a:r>
            <a:r>
              <a:rPr lang="en-US" altLang="zh-CN" sz="1600" dirty="0">
                <a:solidFill>
                  <a:srgbClr val="FF0000"/>
                </a:solidFill>
                <a:latin typeface="+mn-ea"/>
              </a:rPr>
              <a:t>20H</a:t>
            </a:r>
            <a:r>
              <a:rPr lang="zh-CN" altLang="en-US" sz="1600" dirty="0">
                <a:solidFill>
                  <a:srgbClr val="FF0000"/>
                </a:solidFill>
                <a:latin typeface="+mn-ea"/>
              </a:rPr>
              <a:t>，接收数据区的首地址为</a:t>
            </a:r>
            <a:r>
              <a:rPr lang="en-US" altLang="zh-CN" sz="1600" dirty="0">
                <a:solidFill>
                  <a:srgbClr val="FF0000"/>
                </a:solidFill>
                <a:latin typeface="+mn-ea"/>
              </a:rPr>
              <a:t>40H</a:t>
            </a:r>
            <a:r>
              <a:rPr lang="zh-CN" altLang="en-US" sz="1600" dirty="0">
                <a:solidFill>
                  <a:srgbClr val="FF0000"/>
                </a:solidFill>
                <a:latin typeface="+mn-ea"/>
              </a:rPr>
              <a:t>，</a:t>
            </a:r>
            <a:r>
              <a:rPr lang="en-US" altLang="zh-CN" sz="1600" dirty="0" err="1">
                <a:solidFill>
                  <a:srgbClr val="FF0000"/>
                </a:solidFill>
                <a:latin typeface="+mn-ea"/>
              </a:rPr>
              <a:t>fosc</a:t>
            </a:r>
            <a:r>
              <a:rPr lang="zh-CN" altLang="en-US" sz="1600" dirty="0">
                <a:solidFill>
                  <a:srgbClr val="FF0000"/>
                </a:solidFill>
                <a:latin typeface="+mn-ea"/>
              </a:rPr>
              <a:t>为</a:t>
            </a:r>
            <a:r>
              <a:rPr lang="en-US" altLang="zh-CN" sz="1600" dirty="0">
                <a:solidFill>
                  <a:srgbClr val="FF0000"/>
                </a:solidFill>
                <a:latin typeface="+mn-ea"/>
              </a:rPr>
              <a:t>6MHz</a:t>
            </a:r>
            <a:r>
              <a:rPr lang="zh-CN" altLang="en-US" sz="1600" dirty="0">
                <a:solidFill>
                  <a:srgbClr val="FF0000"/>
                </a:solidFill>
                <a:latin typeface="+mn-ea"/>
              </a:rPr>
              <a:t>，通过查波特率初值（</a:t>
            </a:r>
            <a:r>
              <a:rPr lang="zh-CN" altLang="en-US" sz="1600" i="1" dirty="0">
                <a:solidFill>
                  <a:srgbClr val="FF0000"/>
                </a:solidFill>
                <a:latin typeface="+mn-ea"/>
              </a:rPr>
              <a:t>表</a:t>
            </a:r>
            <a:r>
              <a:rPr lang="en-US" altLang="zh-CN" sz="1600" i="1" dirty="0">
                <a:solidFill>
                  <a:srgbClr val="FF0000"/>
                </a:solidFill>
                <a:latin typeface="+mn-ea"/>
              </a:rPr>
              <a:t>7-2</a:t>
            </a:r>
            <a:r>
              <a:rPr lang="zh-CN" altLang="en-US" sz="1600" dirty="0">
                <a:solidFill>
                  <a:srgbClr val="FF0000"/>
                </a:solidFill>
                <a:latin typeface="+mn-ea"/>
              </a:rPr>
              <a:t>）可知定时器的初装值为</a:t>
            </a:r>
            <a:r>
              <a:rPr lang="en-US" altLang="zh-CN" sz="1600" dirty="0">
                <a:solidFill>
                  <a:srgbClr val="FF0000"/>
                </a:solidFill>
                <a:latin typeface="+mn-ea"/>
              </a:rPr>
              <a:t>F3H</a:t>
            </a:r>
            <a:r>
              <a:rPr lang="zh-CN" altLang="en-US" sz="1600" dirty="0">
                <a:solidFill>
                  <a:srgbClr val="FF0000"/>
                </a:solidFill>
                <a:latin typeface="+mn-ea"/>
              </a:rPr>
              <a:t>。</a:t>
            </a:r>
            <a:r>
              <a:rPr lang="zh-CN" altLang="en-US" sz="1600" dirty="0">
                <a:latin typeface="+mn-ea"/>
              </a:rPr>
              <a:t>定时器</a:t>
            </a:r>
            <a:r>
              <a:rPr lang="en-US" altLang="zh-CN" sz="1600" dirty="0">
                <a:latin typeface="+mn-ea"/>
              </a:rPr>
              <a:t>T1</a:t>
            </a:r>
            <a:r>
              <a:rPr lang="zh-CN" altLang="en-US" sz="1600" dirty="0">
                <a:latin typeface="+mn-ea"/>
              </a:rPr>
              <a:t>采用工作模式</a:t>
            </a:r>
            <a:r>
              <a:rPr lang="en-US" altLang="zh-CN" sz="1600" dirty="0">
                <a:latin typeface="+mn-ea"/>
              </a:rPr>
              <a:t>2</a:t>
            </a:r>
            <a:r>
              <a:rPr lang="zh-CN" altLang="en-US" sz="1600" dirty="0">
                <a:latin typeface="+mn-ea"/>
              </a:rPr>
              <a:t>，可以避免计数溢出后用软件重装定时初值的工作。</a:t>
            </a:r>
            <a:endParaRPr lang="en-US" altLang="zh-CN" sz="1600" dirty="0">
              <a:latin typeface="+mn-ea"/>
            </a:endParaRPr>
          </a:p>
        </p:txBody>
      </p:sp>
    </p:spTree>
    <p:extLst>
      <p:ext uri="{BB962C8B-B14F-4D97-AF65-F5344CB8AC3E}">
        <p14:creationId xmlns:p14="http://schemas.microsoft.com/office/powerpoint/2010/main" val="372847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lang="en-US" altLang="zh-CN" spc="-5" smtClean="0"/>
              <a:t>34</a:t>
            </a:fld>
            <a:endParaRPr lang="en-US" altLang="zh-CN" spc="-5" dirty="0"/>
          </a:p>
        </p:txBody>
      </p:sp>
      <p:sp>
        <p:nvSpPr>
          <p:cNvPr id="5" name="文本占位符 121858"/>
          <p:cNvSpPr txBox="1">
            <a:spLocks/>
          </p:cNvSpPr>
          <p:nvPr/>
        </p:nvSpPr>
        <p:spPr>
          <a:xfrm>
            <a:off x="533400" y="1295400"/>
            <a:ext cx="3665538" cy="3096895"/>
          </a:xfrm>
          <a:prstGeom prst="rect">
            <a:avLst/>
          </a:prstGeom>
          <a:ln>
            <a:solidFill>
              <a:schemeClr val="tx2"/>
            </a:solidFill>
            <a:miter/>
          </a:ln>
        </p:spPr>
        <p:txBody>
          <a:bodyPr wrap="square" lIns="0" tIns="0" rIns="0" bIns="0" anchor="t">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20000"/>
              </a:lnSpc>
            </a:pPr>
            <a:r>
              <a:rPr lang="zh-CN" altLang="en-US" sz="1200" kern="0" dirty="0">
                <a:solidFill>
                  <a:srgbClr val="0000FF"/>
                </a:solidFill>
              </a:rPr>
              <a:t>例</a:t>
            </a:r>
            <a:r>
              <a:rPr lang="en-US" altLang="zh-CN" sz="1200" kern="0" dirty="0">
                <a:solidFill>
                  <a:srgbClr val="0000FF"/>
                </a:solidFill>
              </a:rPr>
              <a:t>7-4</a:t>
            </a:r>
            <a:r>
              <a:rPr lang="zh-CN" altLang="en-US" sz="1200" kern="0" dirty="0"/>
              <a:t>：</a:t>
            </a:r>
          </a:p>
          <a:p>
            <a:pPr>
              <a:lnSpc>
                <a:spcPct val="120000"/>
              </a:lnSpc>
            </a:pPr>
            <a:r>
              <a:rPr lang="zh-CN" altLang="en-US" sz="1200" kern="0" dirty="0"/>
              <a:t>程序清单：主程序</a:t>
            </a:r>
          </a:p>
          <a:p>
            <a:pPr>
              <a:lnSpc>
                <a:spcPct val="120000"/>
              </a:lnSpc>
            </a:pPr>
            <a:r>
              <a:rPr lang="zh-CN" altLang="en-US" sz="1200" kern="0" dirty="0"/>
              <a:t>      </a:t>
            </a:r>
            <a:r>
              <a:rPr lang="en-US" altLang="zh-CN" sz="1200" kern="0" dirty="0"/>
              <a:t>MOV    TMOD ,#20H    ;</a:t>
            </a:r>
            <a:r>
              <a:rPr lang="zh-CN" altLang="en-US" sz="1200" kern="0" dirty="0"/>
              <a:t>定时器</a:t>
            </a:r>
            <a:r>
              <a:rPr lang="en-US" altLang="zh-CN" sz="1200" kern="0" dirty="0"/>
              <a:t>1</a:t>
            </a:r>
            <a:r>
              <a:rPr lang="zh-CN" altLang="en-US" sz="1200" kern="0" dirty="0"/>
              <a:t>设为模式</a:t>
            </a:r>
            <a:r>
              <a:rPr lang="en-US" altLang="zh-CN" sz="1200" kern="0" dirty="0"/>
              <a:t>2</a:t>
            </a:r>
          </a:p>
          <a:p>
            <a:pPr>
              <a:lnSpc>
                <a:spcPct val="120000"/>
              </a:lnSpc>
            </a:pPr>
            <a:r>
              <a:rPr lang="en-US" altLang="zh-CN" sz="1200" kern="0" dirty="0"/>
              <a:t>      MOV    TL1 , #0F3H   ;</a:t>
            </a:r>
            <a:r>
              <a:rPr lang="zh-CN" altLang="en-US" sz="1200" kern="0" dirty="0"/>
              <a:t>定时器初值</a:t>
            </a:r>
          </a:p>
          <a:p>
            <a:pPr>
              <a:lnSpc>
                <a:spcPct val="120000"/>
              </a:lnSpc>
            </a:pPr>
            <a:r>
              <a:rPr lang="zh-CN" altLang="en-US" sz="1200" kern="0" dirty="0"/>
              <a:t>      </a:t>
            </a:r>
            <a:r>
              <a:rPr lang="en-US" altLang="zh-CN" sz="1200" kern="0" dirty="0"/>
              <a:t>MOV    TH1 ,#0F3H    ;8</a:t>
            </a:r>
            <a:r>
              <a:rPr lang="zh-CN" altLang="en-US" sz="1200" kern="0" dirty="0"/>
              <a:t>位重装值</a:t>
            </a:r>
          </a:p>
          <a:p>
            <a:pPr>
              <a:lnSpc>
                <a:spcPct val="120000"/>
              </a:lnSpc>
            </a:pPr>
            <a:r>
              <a:rPr lang="zh-CN" altLang="en-US" sz="1200" kern="0" dirty="0"/>
              <a:t>      </a:t>
            </a:r>
            <a:r>
              <a:rPr lang="en-US" altLang="zh-CN" sz="1200" kern="0" dirty="0"/>
              <a:t>SETB   TR1                ;</a:t>
            </a:r>
            <a:r>
              <a:rPr lang="zh-CN" altLang="en-US" sz="1200" kern="0" dirty="0"/>
              <a:t>启动定时器</a:t>
            </a:r>
            <a:r>
              <a:rPr lang="en-US" altLang="zh-CN" sz="1200" kern="0" dirty="0"/>
              <a:t>1</a:t>
            </a:r>
          </a:p>
          <a:p>
            <a:pPr>
              <a:lnSpc>
                <a:spcPct val="120000"/>
              </a:lnSpc>
            </a:pPr>
            <a:r>
              <a:rPr lang="en-US" altLang="zh-CN" sz="1200" kern="0" dirty="0"/>
              <a:t>      MOV    SCON ,#50H   ;</a:t>
            </a:r>
            <a:r>
              <a:rPr lang="zh-CN" altLang="en-US" sz="1200" kern="0" dirty="0"/>
              <a:t>设置为方式</a:t>
            </a:r>
            <a:r>
              <a:rPr lang="en-US" altLang="zh-CN" sz="1200" kern="0" dirty="0"/>
              <a:t>1</a:t>
            </a:r>
            <a:r>
              <a:rPr lang="zh-CN" altLang="en-US" sz="1200" kern="0" dirty="0"/>
              <a:t>，</a:t>
            </a:r>
            <a:r>
              <a:rPr lang="en-US" altLang="zh-CN" sz="1200" kern="0" dirty="0"/>
              <a:t>REN=1</a:t>
            </a:r>
          </a:p>
          <a:p>
            <a:pPr>
              <a:lnSpc>
                <a:spcPct val="120000"/>
              </a:lnSpc>
            </a:pPr>
            <a:r>
              <a:rPr lang="en-US" altLang="zh-CN" sz="1200" kern="0" dirty="0"/>
              <a:t>      MOV    R0 ,#20H      ;</a:t>
            </a:r>
            <a:r>
              <a:rPr lang="zh-CN" altLang="en-US" sz="1200" kern="0" dirty="0"/>
              <a:t>发送数据区首址</a:t>
            </a:r>
          </a:p>
          <a:p>
            <a:pPr>
              <a:lnSpc>
                <a:spcPct val="120000"/>
              </a:lnSpc>
            </a:pPr>
            <a:r>
              <a:rPr lang="zh-CN" altLang="en-US" sz="1200" kern="0" dirty="0"/>
              <a:t>      </a:t>
            </a:r>
            <a:r>
              <a:rPr lang="en-US" altLang="zh-CN" sz="1200" kern="0" dirty="0"/>
              <a:t>MOV    R1 ,#40H      ;</a:t>
            </a:r>
            <a:r>
              <a:rPr lang="zh-CN" altLang="en-US" sz="1200" kern="0" dirty="0"/>
              <a:t>接收数据取首址</a:t>
            </a:r>
          </a:p>
          <a:p>
            <a:pPr>
              <a:lnSpc>
                <a:spcPct val="120000"/>
              </a:lnSpc>
            </a:pPr>
            <a:r>
              <a:rPr lang="zh-CN" altLang="en-US" sz="1200" kern="0" dirty="0"/>
              <a:t>      </a:t>
            </a:r>
            <a:r>
              <a:rPr lang="en-US" altLang="zh-CN" sz="1200" kern="0" dirty="0"/>
              <a:t>ACALL  SOUT         ;</a:t>
            </a:r>
            <a:r>
              <a:rPr lang="zh-CN" altLang="en-US" sz="1200" kern="0" dirty="0"/>
              <a:t>先输出一个字符</a:t>
            </a:r>
          </a:p>
          <a:p>
            <a:pPr>
              <a:lnSpc>
                <a:spcPct val="120000"/>
              </a:lnSpc>
            </a:pPr>
            <a:r>
              <a:rPr lang="zh-CN" altLang="en-US" sz="1200" kern="0" dirty="0"/>
              <a:t>      </a:t>
            </a:r>
            <a:r>
              <a:rPr lang="en-US" altLang="zh-CN" sz="1200" kern="0" dirty="0"/>
              <a:t>SETB   ES</a:t>
            </a:r>
          </a:p>
          <a:p>
            <a:pPr>
              <a:lnSpc>
                <a:spcPct val="120000"/>
              </a:lnSpc>
            </a:pPr>
            <a:r>
              <a:rPr lang="en-US" altLang="zh-CN" sz="1200" kern="0" dirty="0"/>
              <a:t>      SETB   EA</a:t>
            </a:r>
          </a:p>
          <a:p>
            <a:pPr>
              <a:lnSpc>
                <a:spcPct val="120000"/>
              </a:lnSpc>
            </a:pPr>
            <a:r>
              <a:rPr lang="en-US" altLang="zh-CN" sz="1200" kern="0" dirty="0"/>
              <a:t>      SJMP   $                  ;</a:t>
            </a:r>
            <a:r>
              <a:rPr lang="zh-CN" altLang="en-US" sz="1200" kern="0" dirty="0"/>
              <a:t>等待中断</a:t>
            </a:r>
          </a:p>
          <a:p>
            <a:pPr>
              <a:lnSpc>
                <a:spcPct val="120000"/>
              </a:lnSpc>
            </a:pPr>
            <a:r>
              <a:rPr lang="zh-CN" altLang="en-US" sz="1200" kern="0" dirty="0"/>
              <a:t>      </a:t>
            </a:r>
          </a:p>
        </p:txBody>
      </p:sp>
      <p:sp>
        <p:nvSpPr>
          <p:cNvPr id="6" name="矩形 121859"/>
          <p:cNvSpPr/>
          <p:nvPr/>
        </p:nvSpPr>
        <p:spPr>
          <a:xfrm>
            <a:off x="5130799" y="1359534"/>
            <a:ext cx="3146425" cy="2968625"/>
          </a:xfrm>
          <a:prstGeom prst="rect">
            <a:avLst/>
          </a:prstGeom>
          <a:noFill/>
          <a:ln w="9525" cap="flat" cmpd="sng">
            <a:solidFill>
              <a:schemeClr val="tx1"/>
            </a:solidFill>
            <a:prstDash val="solid"/>
            <a:miter/>
            <a:headEnd type="none" w="med" len="med"/>
            <a:tailEnd type="none" w="med" len="med"/>
          </a:ln>
        </p:spPr>
        <p:txBody>
          <a:bodyPr wrap="square" anchor="t">
            <a:spAutoFit/>
          </a:bodyPr>
          <a:lstStyle/>
          <a:p>
            <a:pPr>
              <a:lnSpc>
                <a:spcPct val="130000"/>
              </a:lnSpc>
            </a:pPr>
            <a:r>
              <a:rPr lang="zh-CN" altLang="en-US" sz="1200" dirty="0">
                <a:latin typeface="Arial" panose="020B0604020202020204" pitchFamily="34" charset="0"/>
                <a:ea typeface="宋体" panose="02010600030101010101" pitchFamily="2" charset="-122"/>
              </a:rPr>
              <a:t>中断服务</a:t>
            </a:r>
          </a:p>
          <a:p>
            <a:pPr>
              <a:lnSpc>
                <a:spcPct val="130000"/>
              </a:lnSpc>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ORG    0023H      ;</a:t>
            </a:r>
            <a:r>
              <a:rPr lang="zh-CN" altLang="en-US" sz="1200" dirty="0">
                <a:latin typeface="Arial" panose="020B0604020202020204" pitchFamily="34" charset="0"/>
                <a:ea typeface="宋体" panose="02010600030101010101" pitchFamily="2" charset="-122"/>
              </a:rPr>
              <a:t>串行口中断入口</a:t>
            </a:r>
          </a:p>
          <a:p>
            <a:pPr>
              <a:lnSpc>
                <a:spcPct val="130000"/>
              </a:lnSpc>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AJMP   SBR1      ;</a:t>
            </a:r>
            <a:r>
              <a:rPr lang="zh-CN" altLang="en-US" sz="1200" dirty="0">
                <a:latin typeface="Arial" panose="020B0604020202020204" pitchFamily="34" charset="0"/>
                <a:ea typeface="宋体" panose="02010600030101010101" pitchFamily="2" charset="-122"/>
              </a:rPr>
              <a:t>转至中断服务程序</a:t>
            </a:r>
          </a:p>
          <a:p>
            <a:pPr>
              <a:lnSpc>
                <a:spcPct val="130000"/>
              </a:lnSpc>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ORG    0100H  </a:t>
            </a:r>
          </a:p>
          <a:p>
            <a:pPr>
              <a:lnSpc>
                <a:spcPct val="130000"/>
              </a:lnSpc>
            </a:pPr>
            <a:r>
              <a:rPr lang="en-US" altLang="zh-CN" sz="1200" dirty="0">
                <a:latin typeface="Arial" panose="020B0604020202020204" pitchFamily="34" charset="0"/>
                <a:ea typeface="宋体" panose="02010600030101010101" pitchFamily="2" charset="-122"/>
              </a:rPr>
              <a:t>SBR1: </a:t>
            </a:r>
          </a:p>
          <a:p>
            <a:pPr>
              <a:lnSpc>
                <a:spcPct val="130000"/>
              </a:lnSpc>
            </a:pPr>
            <a:r>
              <a:rPr lang="en-US" altLang="zh-CN" sz="1200" dirty="0">
                <a:latin typeface="Arial" panose="020B0604020202020204" pitchFamily="34" charset="0"/>
                <a:ea typeface="宋体" panose="02010600030101010101" pitchFamily="2" charset="-122"/>
              </a:rPr>
              <a:t>     JNB    RI ,SEND   ;TI=1,</a:t>
            </a:r>
            <a:r>
              <a:rPr lang="zh-CN" altLang="en-US" sz="1200" dirty="0">
                <a:latin typeface="Arial" panose="020B0604020202020204" pitchFamily="34" charset="0"/>
                <a:ea typeface="宋体" panose="02010600030101010101" pitchFamily="2" charset="-122"/>
              </a:rPr>
              <a:t>为发送中断</a:t>
            </a:r>
          </a:p>
          <a:p>
            <a:pPr>
              <a:lnSpc>
                <a:spcPct val="130000"/>
              </a:lnSpc>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ACALL  SIN        ;RI=1,</a:t>
            </a:r>
            <a:r>
              <a:rPr lang="zh-CN" altLang="en-US" sz="1200" dirty="0">
                <a:latin typeface="Arial" panose="020B0604020202020204" pitchFamily="34" charset="0"/>
                <a:ea typeface="宋体" panose="02010600030101010101" pitchFamily="2" charset="-122"/>
              </a:rPr>
              <a:t>为接收中断</a:t>
            </a:r>
          </a:p>
          <a:p>
            <a:pPr>
              <a:lnSpc>
                <a:spcPct val="130000"/>
              </a:lnSpc>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SJMP   NEXT      ;</a:t>
            </a:r>
            <a:r>
              <a:rPr lang="zh-CN" altLang="en-US" sz="1200" dirty="0">
                <a:latin typeface="Arial" panose="020B0604020202020204" pitchFamily="34" charset="0"/>
                <a:ea typeface="宋体" panose="02010600030101010101" pitchFamily="2" charset="-122"/>
              </a:rPr>
              <a:t>转至统一的出口</a:t>
            </a:r>
          </a:p>
          <a:p>
            <a:pPr>
              <a:lnSpc>
                <a:spcPct val="130000"/>
              </a:lnSpc>
            </a:pPr>
            <a:r>
              <a:rPr lang="en-US" altLang="zh-CN" sz="1200" dirty="0">
                <a:latin typeface="Arial" panose="020B0604020202020204" pitchFamily="34" charset="0"/>
                <a:ea typeface="宋体" panose="02010600030101010101" pitchFamily="2" charset="-122"/>
              </a:rPr>
              <a:t>SEND: </a:t>
            </a:r>
          </a:p>
          <a:p>
            <a:pPr>
              <a:lnSpc>
                <a:spcPct val="130000"/>
              </a:lnSpc>
            </a:pPr>
            <a:r>
              <a:rPr lang="en-US" altLang="zh-CN" sz="1200" dirty="0">
                <a:latin typeface="Arial" panose="020B0604020202020204" pitchFamily="34" charset="0"/>
                <a:ea typeface="宋体" panose="02010600030101010101" pitchFamily="2" charset="-122"/>
              </a:rPr>
              <a:t>     ACALL  SOUT     ;</a:t>
            </a:r>
            <a:r>
              <a:rPr lang="zh-CN" altLang="en-US" sz="1200" dirty="0">
                <a:latin typeface="Arial" panose="020B0604020202020204" pitchFamily="34" charset="0"/>
                <a:ea typeface="宋体" panose="02010600030101010101" pitchFamily="2" charset="-122"/>
              </a:rPr>
              <a:t>调用发送子程序</a:t>
            </a:r>
          </a:p>
          <a:p>
            <a:pPr>
              <a:lnSpc>
                <a:spcPct val="130000"/>
              </a:lnSpc>
            </a:pPr>
            <a:r>
              <a:rPr lang="en-US" altLang="zh-CN" sz="1200" dirty="0">
                <a:latin typeface="Arial" panose="020B0604020202020204" pitchFamily="34" charset="0"/>
                <a:ea typeface="宋体" panose="02010600030101010101" pitchFamily="2" charset="-122"/>
              </a:rPr>
              <a:t>NEXT: </a:t>
            </a:r>
          </a:p>
          <a:p>
            <a:pPr>
              <a:lnSpc>
                <a:spcPct val="130000"/>
              </a:lnSpc>
            </a:pPr>
            <a:r>
              <a:rPr lang="en-US" altLang="zh-CN" sz="1200" dirty="0">
                <a:latin typeface="Arial" panose="020B0604020202020204" pitchFamily="34" charset="0"/>
                <a:ea typeface="宋体" panose="02010600030101010101" pitchFamily="2" charset="-122"/>
              </a:rPr>
              <a:t>     RETI                     ;</a:t>
            </a:r>
            <a:r>
              <a:rPr lang="zh-CN" altLang="en-US" sz="1200" dirty="0">
                <a:latin typeface="Arial" panose="020B0604020202020204" pitchFamily="34" charset="0"/>
                <a:ea typeface="宋体" panose="02010600030101010101" pitchFamily="2" charset="-122"/>
              </a:rPr>
              <a:t>中断返回</a:t>
            </a:r>
          </a:p>
        </p:txBody>
      </p:sp>
      <p:sp>
        <p:nvSpPr>
          <p:cNvPr id="7" name="文本占位符 122882"/>
          <p:cNvSpPr>
            <a:spLocks noGrp="1"/>
          </p:cNvSpPr>
          <p:nvPr/>
        </p:nvSpPr>
        <p:spPr>
          <a:xfrm>
            <a:off x="533400" y="4464049"/>
            <a:ext cx="3665538" cy="2070735"/>
          </a:xfrm>
          <a:prstGeom prst="rect">
            <a:avLst/>
          </a:prstGeom>
          <a:noFill/>
          <a:ln w="9525" cap="flat" cmpd="sng">
            <a:solidFill>
              <a:schemeClr val="tx2"/>
            </a:solidFill>
            <a:prstDash val="solid"/>
            <a:miter/>
            <a:headEnd type="none" w="med" len="med"/>
            <a:tailEnd type="none" w="med" len="med"/>
          </a:ln>
        </p:spPr>
        <p:txBody>
          <a:bodyPr anchor="t"/>
          <a:lstStyle/>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发送子程序</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SOUT:   CLR  TI</a:t>
            </a:r>
          </a:p>
          <a:p>
            <a:pPr marL="742950" lvl="1" indent="-285750" algn="l" rtl="0" eaLnBrk="1" fontAlgn="base" latinLnBrk="0" hangingPunct="1">
              <a:lnSpc>
                <a:spcPct val="100000"/>
              </a:lnSpc>
              <a:spcBef>
                <a:spcPct val="20000"/>
              </a:spcBef>
              <a:spcAft>
                <a:spcPct val="0"/>
              </a:spcAft>
              <a:buNone/>
            </a:pPr>
            <a:r>
              <a:rPr lang="en-US" altLang="zh-CN" sz="1200" u="none" baseline="0" dirty="0">
                <a:latin typeface="Arial" panose="020B0604020202020204" pitchFamily="34" charset="0"/>
                <a:ea typeface="宋体" panose="02010600030101010101" pitchFamily="2" charset="-122"/>
              </a:rPr>
              <a:t>      MOV  A ,@R0   ;</a:t>
            </a:r>
            <a:r>
              <a:rPr lang="zh-CN" altLang="en-US" sz="1200" u="none" baseline="0" dirty="0">
                <a:latin typeface="Arial" panose="020B0604020202020204" pitchFamily="34" charset="0"/>
                <a:ea typeface="宋体" panose="02010600030101010101" pitchFamily="2" charset="-122"/>
              </a:rPr>
              <a:t>取发送数据到</a:t>
            </a:r>
            <a:r>
              <a:rPr lang="en-US" altLang="zh-CN" sz="1200" u="none" baseline="0" dirty="0">
                <a:latin typeface="Arial" panose="020B0604020202020204" pitchFamily="34" charset="0"/>
                <a:ea typeface="宋体" panose="02010600030101010101" pitchFamily="2" charset="-122"/>
              </a:rPr>
              <a:t>A</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C ,P        ;</a:t>
            </a:r>
            <a:r>
              <a:rPr lang="zh-CN" altLang="en-US" sz="1200" dirty="0">
                <a:latin typeface="Arial" panose="020B0604020202020204" pitchFamily="34" charset="0"/>
                <a:ea typeface="宋体" panose="02010600030101010101" pitchFamily="2" charset="-122"/>
              </a:rPr>
              <a:t>奇偶标识赋予</a:t>
            </a:r>
            <a:r>
              <a:rPr lang="en-US" altLang="zh-CN" sz="1200" dirty="0">
                <a:latin typeface="Arial" panose="020B0604020202020204" pitchFamily="34" charset="0"/>
                <a:ea typeface="宋体" panose="02010600030101010101" pitchFamily="2" charset="-122"/>
              </a:rPr>
              <a:t>C</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CPL  C              ;</a:t>
            </a:r>
            <a:r>
              <a:rPr lang="zh-CN" altLang="en-US" sz="1200" dirty="0">
                <a:latin typeface="Arial" panose="020B0604020202020204" pitchFamily="34" charset="0"/>
                <a:ea typeface="宋体" panose="02010600030101010101" pitchFamily="2" charset="-122"/>
              </a:rPr>
              <a:t>奇校验</a:t>
            </a:r>
            <a:endParaRPr lang="en-US" altLang="zh-CN" sz="1200" dirty="0">
              <a:latin typeface="Arial" panose="020B0604020202020204" pitchFamily="34" charset="0"/>
              <a:ea typeface="宋体" panose="02010600030101010101" pitchFamily="2" charset="-122"/>
            </a:endParaRP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ACC.7, C ;</a:t>
            </a:r>
            <a:r>
              <a:rPr lang="zh-CN" altLang="en-US" sz="1200" dirty="0">
                <a:latin typeface="Arial" panose="020B0604020202020204" pitchFamily="34" charset="0"/>
                <a:ea typeface="宋体" panose="02010600030101010101" pitchFamily="2" charset="-122"/>
              </a:rPr>
              <a:t>加到最高位</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INC  R0          ;</a:t>
            </a:r>
            <a:r>
              <a:rPr lang="zh-CN" altLang="en-US" sz="1200" dirty="0">
                <a:latin typeface="Arial" panose="020B0604020202020204" pitchFamily="34" charset="0"/>
                <a:ea typeface="宋体" panose="02010600030101010101" pitchFamily="2" charset="-122"/>
              </a:rPr>
              <a:t>修改发送数据指针</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SBUF ,A    ;</a:t>
            </a:r>
            <a:r>
              <a:rPr lang="zh-CN" altLang="en-US" sz="1200" dirty="0">
                <a:latin typeface="Arial" panose="020B0604020202020204" pitchFamily="34" charset="0"/>
                <a:ea typeface="宋体" panose="02010600030101010101" pitchFamily="2" charset="-122"/>
              </a:rPr>
              <a:t>发送</a:t>
            </a:r>
            <a:r>
              <a:rPr lang="en-US" altLang="zh-CN" sz="1200" dirty="0">
                <a:latin typeface="Arial" panose="020B0604020202020204" pitchFamily="34" charset="0"/>
                <a:ea typeface="宋体" panose="02010600030101010101" pitchFamily="2" charset="-122"/>
              </a:rPr>
              <a:t>ASCII</a:t>
            </a:r>
            <a:r>
              <a:rPr lang="zh-CN" altLang="en-US" sz="1200" dirty="0">
                <a:latin typeface="Arial" panose="020B0604020202020204" pitchFamily="34" charset="0"/>
                <a:ea typeface="宋体" panose="02010600030101010101" pitchFamily="2" charset="-122"/>
              </a:rPr>
              <a:t>码</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RET                      ;</a:t>
            </a:r>
            <a:r>
              <a:rPr lang="zh-CN" altLang="en-US" sz="1200" dirty="0">
                <a:latin typeface="Arial" panose="020B0604020202020204" pitchFamily="34" charset="0"/>
                <a:ea typeface="宋体" panose="02010600030101010101" pitchFamily="2" charset="-122"/>
              </a:rPr>
              <a:t>返回</a:t>
            </a:r>
          </a:p>
          <a:p>
            <a:pPr marL="342900" indent="-342900">
              <a:lnSpc>
                <a:spcPct val="80000"/>
              </a:lnSpc>
              <a:spcBef>
                <a:spcPct val="20000"/>
              </a:spcBef>
              <a:buClr>
                <a:schemeClr val="tx2"/>
              </a:buClr>
            </a:pPr>
            <a:endParaRPr lang="zh-CN" altLang="en-US" sz="1200" dirty="0">
              <a:latin typeface="Arial" panose="020B0604020202020204" pitchFamily="34" charset="0"/>
              <a:ea typeface="宋体" panose="02010600030101010101" pitchFamily="2" charset="-122"/>
            </a:endParaRPr>
          </a:p>
        </p:txBody>
      </p:sp>
      <p:sp>
        <p:nvSpPr>
          <p:cNvPr id="8" name="矩形 122883"/>
          <p:cNvSpPr/>
          <p:nvPr/>
        </p:nvSpPr>
        <p:spPr>
          <a:xfrm>
            <a:off x="4665662" y="4546600"/>
            <a:ext cx="4076700" cy="1752600"/>
          </a:xfrm>
          <a:prstGeom prst="rect">
            <a:avLst/>
          </a:prstGeom>
          <a:noFill/>
          <a:ln w="9525" cap="flat" cmpd="sng">
            <a:solidFill>
              <a:schemeClr val="tx2"/>
            </a:solidFill>
            <a:prstDash val="solid"/>
            <a:miter/>
            <a:headEnd type="none" w="med" len="med"/>
            <a:tailEnd type="none" w="med" len="med"/>
          </a:ln>
        </p:spPr>
        <p:txBody>
          <a:bodyPr wrap="square" anchor="t">
            <a:spAutoFit/>
          </a:bodyPr>
          <a:lstStyle/>
          <a:p>
            <a:r>
              <a:rPr lang="zh-CN" altLang="en-US" sz="1200" dirty="0">
                <a:latin typeface="Arial" panose="020B0604020202020204" pitchFamily="34" charset="0"/>
                <a:ea typeface="宋体" panose="02010600030101010101" pitchFamily="2" charset="-122"/>
              </a:rPr>
              <a:t>接收子程序</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SIN: CLR  RI</a:t>
            </a:r>
          </a:p>
          <a:p>
            <a:r>
              <a:rPr lang="en-US" altLang="zh-CN" sz="1200" dirty="0">
                <a:latin typeface="Arial" panose="020B0604020202020204" pitchFamily="34" charset="0"/>
                <a:ea typeface="宋体" panose="02010600030101010101" pitchFamily="2" charset="-122"/>
              </a:rPr>
              <a:t>       MOV  A ,SBUF   ;</a:t>
            </a:r>
            <a:r>
              <a:rPr lang="zh-CN" altLang="en-US" sz="1200" dirty="0">
                <a:latin typeface="Arial" panose="020B0604020202020204" pitchFamily="34" charset="0"/>
                <a:ea typeface="宋体" panose="02010600030101010101" pitchFamily="2" charset="-122"/>
              </a:rPr>
              <a:t>读出接收缓冲区内容</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C ,P           ;</a:t>
            </a:r>
            <a:r>
              <a:rPr lang="zh-CN" altLang="en-US" sz="1200" dirty="0">
                <a:latin typeface="Arial" panose="020B0604020202020204" pitchFamily="34" charset="0"/>
                <a:ea typeface="宋体" panose="02010600030101010101" pitchFamily="2" charset="-122"/>
              </a:rPr>
              <a:t>取出校验位</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CPL  C                 ;</a:t>
            </a:r>
            <a:r>
              <a:rPr lang="zh-CN" altLang="en-US" sz="1200" dirty="0">
                <a:latin typeface="Arial" panose="020B0604020202020204" pitchFamily="34" charset="0"/>
                <a:ea typeface="宋体" panose="02010600030101010101" pitchFamily="2" charset="-122"/>
              </a:rPr>
              <a:t>奇校验</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ANL  A ,#7FH      ;</a:t>
            </a:r>
            <a:r>
              <a:rPr lang="zh-CN" altLang="en-US" sz="1200" dirty="0">
                <a:latin typeface="Arial" panose="020B0604020202020204" pitchFamily="34" charset="0"/>
                <a:ea typeface="宋体" panose="02010600030101010101" pitchFamily="2" charset="-122"/>
              </a:rPr>
              <a:t>删去校验位</a:t>
            </a:r>
          </a:p>
          <a:p>
            <a:r>
              <a:rPr lang="en-US" altLang="zh-CN" sz="1200" dirty="0">
                <a:latin typeface="Arial" panose="020B0604020202020204" pitchFamily="34" charset="0"/>
                <a:ea typeface="宋体" panose="02010600030101010101" pitchFamily="2" charset="-122"/>
              </a:rPr>
              <a:t>       MOV  @R1 ,A      ;</a:t>
            </a:r>
            <a:r>
              <a:rPr lang="zh-CN" altLang="en-US" sz="1200" dirty="0">
                <a:latin typeface="Arial" panose="020B0604020202020204" pitchFamily="34" charset="0"/>
                <a:ea typeface="宋体" panose="02010600030101010101" pitchFamily="2" charset="-122"/>
              </a:rPr>
              <a:t>读入接收缓冲区</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INC  RI                 ;</a:t>
            </a:r>
            <a:r>
              <a:rPr lang="zh-CN" altLang="en-US" sz="1200" dirty="0">
                <a:latin typeface="Arial" panose="020B0604020202020204" pitchFamily="34" charset="0"/>
                <a:ea typeface="宋体" panose="02010600030101010101" pitchFamily="2" charset="-122"/>
              </a:rPr>
              <a:t>修改接收数据指针</a:t>
            </a:r>
          </a:p>
          <a:p>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RET                     ;</a:t>
            </a:r>
            <a:r>
              <a:rPr lang="zh-CN" altLang="en-US" sz="1200" dirty="0">
                <a:latin typeface="Arial" panose="020B0604020202020204" pitchFamily="34" charset="0"/>
                <a:ea typeface="宋体" panose="02010600030101010101" pitchFamily="2" charset="-122"/>
              </a:rPr>
              <a:t>返回</a:t>
            </a:r>
          </a:p>
        </p:txBody>
      </p:sp>
    </p:spTree>
    <p:extLst>
      <p:ext uri="{BB962C8B-B14F-4D97-AF65-F5344CB8AC3E}">
        <p14:creationId xmlns:p14="http://schemas.microsoft.com/office/powerpoint/2010/main" val="3241263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0" name="矩形 9"/>
          <p:cNvSpPr/>
          <p:nvPr/>
        </p:nvSpPr>
        <p:spPr>
          <a:xfrm>
            <a:off x="533400" y="1696774"/>
            <a:ext cx="1741182"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方式</a:t>
            </a:r>
            <a:r>
              <a:rPr lang="en-US" altLang="zh-CN" dirty="0">
                <a:solidFill>
                  <a:srgbClr val="FF0000"/>
                </a:solidFill>
              </a:rPr>
              <a:t>1</a:t>
            </a:r>
            <a:r>
              <a:rPr lang="zh-CN" altLang="en-US" dirty="0">
                <a:solidFill>
                  <a:srgbClr val="FF0000"/>
                </a:solidFill>
              </a:rPr>
              <a:t>应用</a:t>
            </a:r>
          </a:p>
        </p:txBody>
      </p:sp>
      <p:sp>
        <p:nvSpPr>
          <p:cNvPr id="4" name="矩形 3"/>
          <p:cNvSpPr/>
          <p:nvPr/>
        </p:nvSpPr>
        <p:spPr>
          <a:xfrm>
            <a:off x="304800" y="2113847"/>
            <a:ext cx="4019550" cy="773289"/>
          </a:xfrm>
          <a:prstGeom prst="rect">
            <a:avLst/>
          </a:prstGeom>
        </p:spPr>
        <p:txBody>
          <a:bodyPr wrap="square">
            <a:spAutoFit/>
          </a:bodyPr>
          <a:lstStyle/>
          <a:p>
            <a:pPr>
              <a:lnSpc>
                <a:spcPct val="150000"/>
              </a:lnSpc>
              <a:buNone/>
            </a:pPr>
            <a:r>
              <a:rPr lang="zh-CN" altLang="en-US" sz="1600" dirty="0">
                <a:solidFill>
                  <a:srgbClr val="F153E6"/>
                </a:solidFill>
                <a:latin typeface="+mn-ea"/>
              </a:rPr>
              <a:t>例</a:t>
            </a:r>
            <a:r>
              <a:rPr lang="en-US" altLang="zh-CN" sz="1600" dirty="0">
                <a:solidFill>
                  <a:srgbClr val="F153E6"/>
                </a:solidFill>
                <a:latin typeface="+mn-ea"/>
              </a:rPr>
              <a:t>7-5</a:t>
            </a:r>
            <a:r>
              <a:rPr lang="zh-CN" altLang="en-US" sz="1600" dirty="0">
                <a:solidFill>
                  <a:srgbClr val="F153E6"/>
                </a:solidFill>
                <a:latin typeface="+mn-ea"/>
              </a:rPr>
              <a:t>：采用查询方式由串行口发送带奇偶校验位的数据块。</a:t>
            </a:r>
          </a:p>
        </p:txBody>
      </p:sp>
      <p:sp>
        <p:nvSpPr>
          <p:cNvPr id="5" name="矩形 4"/>
          <p:cNvSpPr/>
          <p:nvPr/>
        </p:nvSpPr>
        <p:spPr>
          <a:xfrm>
            <a:off x="304800" y="2983364"/>
            <a:ext cx="4019550" cy="2677656"/>
          </a:xfrm>
          <a:prstGeom prst="rect">
            <a:avLst/>
          </a:prstGeom>
        </p:spPr>
        <p:txBody>
          <a:bodyPr wrap="square">
            <a:spAutoFit/>
          </a:bodyPr>
          <a:lstStyle/>
          <a:p>
            <a:pPr>
              <a:lnSpc>
                <a:spcPct val="150000"/>
              </a:lnSpc>
              <a:buNone/>
            </a:pPr>
            <a:r>
              <a:rPr lang="zh-CN" altLang="en-US" sz="1600" dirty="0">
                <a:latin typeface="+mn-ea"/>
              </a:rPr>
              <a:t>解：本例由内部</a:t>
            </a:r>
            <a:r>
              <a:rPr lang="en-US" altLang="zh-CN" sz="1600" dirty="0">
                <a:latin typeface="+mn-ea"/>
              </a:rPr>
              <a:t>RAM</a:t>
            </a:r>
            <a:r>
              <a:rPr lang="zh-CN" altLang="en-US" sz="1600" dirty="0">
                <a:latin typeface="+mn-ea"/>
              </a:rPr>
              <a:t>单元</a:t>
            </a:r>
            <a:r>
              <a:rPr lang="en-US" altLang="zh-CN" sz="1600" dirty="0">
                <a:latin typeface="+mn-ea"/>
              </a:rPr>
              <a:t>20H-3FH</a:t>
            </a:r>
            <a:r>
              <a:rPr lang="zh-CN" altLang="en-US" sz="1600" dirty="0">
                <a:latin typeface="+mn-ea"/>
              </a:rPr>
              <a:t>取出</a:t>
            </a:r>
            <a:r>
              <a:rPr lang="en-US" altLang="zh-CN" sz="1600" dirty="0">
                <a:latin typeface="+mn-ea"/>
              </a:rPr>
              <a:t>ASCII</a:t>
            </a:r>
            <a:r>
              <a:rPr lang="zh-CN" altLang="en-US" sz="1600" dirty="0">
                <a:latin typeface="+mn-ea"/>
              </a:rPr>
              <a:t>码数据，在最高位上加奇偶校验位后由串行口发出。采用</a:t>
            </a:r>
            <a:r>
              <a:rPr lang="en-US" altLang="zh-CN" sz="1600" dirty="0">
                <a:latin typeface="+mn-ea"/>
              </a:rPr>
              <a:t>8</a:t>
            </a:r>
            <a:r>
              <a:rPr lang="zh-CN" altLang="en-US" sz="1600" dirty="0">
                <a:latin typeface="+mn-ea"/>
              </a:rPr>
              <a:t>位异步通信方式，波特率为</a:t>
            </a:r>
            <a:r>
              <a:rPr lang="en-US" altLang="zh-CN" sz="1600" dirty="0">
                <a:latin typeface="+mn-ea"/>
              </a:rPr>
              <a:t>1200b/s</a:t>
            </a:r>
            <a:r>
              <a:rPr lang="zh-CN" altLang="en-US" sz="1600" dirty="0">
                <a:latin typeface="+mn-ea"/>
              </a:rPr>
              <a:t>，</a:t>
            </a:r>
            <a:r>
              <a:rPr lang="en-US" altLang="zh-CN" sz="1600" dirty="0" err="1">
                <a:latin typeface="+mn-ea"/>
              </a:rPr>
              <a:t>fosc</a:t>
            </a:r>
            <a:r>
              <a:rPr lang="en-US" altLang="zh-CN" sz="1600" dirty="0">
                <a:latin typeface="+mn-ea"/>
              </a:rPr>
              <a:t>=11.059MHz</a:t>
            </a:r>
            <a:r>
              <a:rPr lang="zh-CN" altLang="en-US" sz="1600" dirty="0">
                <a:latin typeface="+mn-ea"/>
              </a:rPr>
              <a:t>。</a:t>
            </a:r>
          </a:p>
          <a:p>
            <a:pPr>
              <a:lnSpc>
                <a:spcPct val="150000"/>
              </a:lnSpc>
              <a:buNone/>
            </a:pPr>
            <a:r>
              <a:rPr lang="zh-CN" altLang="en-US" sz="1600" dirty="0">
                <a:latin typeface="+mn-ea"/>
              </a:rPr>
              <a:t>    由要求可知，应把串行口设置为方式</a:t>
            </a:r>
            <a:r>
              <a:rPr lang="en-US" altLang="zh-CN" sz="1600" dirty="0">
                <a:latin typeface="+mn-ea"/>
              </a:rPr>
              <a:t>1</a:t>
            </a:r>
            <a:r>
              <a:rPr lang="zh-CN" altLang="en-US" sz="1600" dirty="0">
                <a:latin typeface="+mn-ea"/>
              </a:rPr>
              <a:t>，采用定时器</a:t>
            </a:r>
            <a:r>
              <a:rPr lang="en-US" altLang="zh-CN" sz="1600" dirty="0">
                <a:latin typeface="+mn-ea"/>
              </a:rPr>
              <a:t>1</a:t>
            </a:r>
            <a:r>
              <a:rPr lang="zh-CN" altLang="en-US" sz="1600" dirty="0">
                <a:latin typeface="+mn-ea"/>
              </a:rPr>
              <a:t>模式</a:t>
            </a:r>
            <a:r>
              <a:rPr lang="en-US" altLang="zh-CN" sz="1600" dirty="0">
                <a:latin typeface="+mn-ea"/>
              </a:rPr>
              <a:t>2</a:t>
            </a:r>
            <a:r>
              <a:rPr lang="zh-CN" altLang="en-US" sz="1600" dirty="0">
                <a:latin typeface="+mn-ea"/>
              </a:rPr>
              <a:t>作为波特率发生器，预置值（</a:t>
            </a:r>
            <a:r>
              <a:rPr lang="en-US" altLang="zh-CN" sz="1600" dirty="0">
                <a:latin typeface="+mn-ea"/>
              </a:rPr>
              <a:t>TH1</a:t>
            </a:r>
            <a:r>
              <a:rPr lang="zh-CN" altLang="en-US" sz="1600" dirty="0">
                <a:latin typeface="+mn-ea"/>
              </a:rPr>
              <a:t>）</a:t>
            </a:r>
            <a:r>
              <a:rPr lang="en-US" altLang="zh-CN" sz="1600" dirty="0">
                <a:latin typeface="+mn-ea"/>
              </a:rPr>
              <a:t>=0E8H</a:t>
            </a:r>
            <a:r>
              <a:rPr lang="zh-CN" altLang="en-US" sz="1600" dirty="0">
                <a:latin typeface="+mn-ea"/>
              </a:rPr>
              <a:t>。</a:t>
            </a:r>
          </a:p>
        </p:txBody>
      </p:sp>
      <p:sp>
        <p:nvSpPr>
          <p:cNvPr id="9" name="文本占位符 126978"/>
          <p:cNvSpPr>
            <a:spLocks noGrp="1"/>
          </p:cNvSpPr>
          <p:nvPr/>
        </p:nvSpPr>
        <p:spPr>
          <a:xfrm>
            <a:off x="4624070" y="1066800"/>
            <a:ext cx="4362450" cy="3510280"/>
          </a:xfrm>
          <a:prstGeom prst="rect">
            <a:avLst/>
          </a:prstGeom>
          <a:noFill/>
          <a:ln w="9525" cap="flat" cmpd="sng">
            <a:solidFill>
              <a:schemeClr val="tx1"/>
            </a:solidFill>
            <a:prstDash val="solid"/>
            <a:round/>
            <a:headEnd type="none" w="med" len="med"/>
            <a:tailEnd type="none" w="med" len="med"/>
          </a:ln>
        </p:spPr>
        <p:txBody>
          <a:bodyPr anchor="t"/>
          <a:lstStyle/>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程序清单：</a:t>
            </a:r>
            <a:r>
              <a:rPr lang="zh-CN" altLang="en-US" sz="1200" dirty="0">
                <a:solidFill>
                  <a:srgbClr val="F153E6"/>
                </a:solidFill>
                <a:latin typeface="Arial" panose="020B0604020202020204" pitchFamily="34" charset="0"/>
                <a:ea typeface="宋体" panose="02010600030101010101" pitchFamily="2" charset="-122"/>
              </a:rPr>
              <a:t>主程序；</a:t>
            </a:r>
          </a:p>
          <a:p>
            <a:pPr marL="342900" indent="-342900">
              <a:lnSpc>
                <a:spcPct val="110000"/>
              </a:lnSpc>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TMOD ,#20H            ;</a:t>
            </a:r>
            <a:r>
              <a:rPr lang="zh-CN" altLang="en-US" sz="1200" dirty="0">
                <a:latin typeface="Arial" panose="020B0604020202020204" pitchFamily="34" charset="0"/>
                <a:ea typeface="宋体" panose="02010600030101010101" pitchFamily="2" charset="-122"/>
              </a:rPr>
              <a:t>设置定时器</a:t>
            </a:r>
            <a:r>
              <a:rPr lang="en-US" altLang="zh-CN" sz="1200" dirty="0">
                <a:latin typeface="Arial" panose="020B0604020202020204" pitchFamily="34" charset="0"/>
                <a:ea typeface="宋体" panose="02010600030101010101" pitchFamily="2" charset="-122"/>
              </a:rPr>
              <a:t>1</a:t>
            </a:r>
            <a:r>
              <a:rPr lang="zh-CN" altLang="en-US" sz="1200" dirty="0">
                <a:latin typeface="Arial" panose="020B0604020202020204" pitchFamily="34" charset="0"/>
                <a:ea typeface="宋体" panose="02010600030101010101" pitchFamily="2" charset="-122"/>
              </a:rPr>
              <a:t>为模式</a:t>
            </a:r>
            <a:r>
              <a:rPr lang="en-US" altLang="zh-CN" sz="1200" dirty="0">
                <a:latin typeface="Arial" panose="020B0604020202020204" pitchFamily="34" charset="0"/>
                <a:ea typeface="宋体" panose="02010600030101010101" pitchFamily="2" charset="-122"/>
              </a:rPr>
              <a:t>2</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MOV   TL1 ,#0E8H              ;</a:t>
            </a:r>
            <a:r>
              <a:rPr lang="zh-CN" altLang="en-US" sz="1200" dirty="0">
                <a:latin typeface="Arial" panose="020B0604020202020204" pitchFamily="34" charset="0"/>
                <a:ea typeface="宋体" panose="02010600030101010101" pitchFamily="2" charset="-122"/>
              </a:rPr>
              <a:t>初值，波特率为</a:t>
            </a:r>
            <a:r>
              <a:rPr lang="en-US" altLang="zh-CN" sz="1200" dirty="0">
                <a:latin typeface="Arial" panose="020B0604020202020204" pitchFamily="34" charset="0"/>
                <a:ea typeface="宋体" panose="02010600030101010101" pitchFamily="2" charset="-122"/>
              </a:rPr>
              <a:t>1200b/s</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MOV   TH1 ,#0E8H  </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SETB  TR1                 	 ;</a:t>
            </a:r>
            <a:r>
              <a:rPr lang="zh-CN" altLang="en-US" sz="1200" dirty="0">
                <a:latin typeface="Arial" panose="020B0604020202020204" pitchFamily="34" charset="0"/>
                <a:ea typeface="宋体" panose="02010600030101010101" pitchFamily="2" charset="-122"/>
              </a:rPr>
              <a:t>启动</a:t>
            </a:r>
            <a:r>
              <a:rPr lang="en-US" altLang="zh-CN" sz="1200" dirty="0">
                <a:latin typeface="Arial" panose="020B0604020202020204" pitchFamily="34" charset="0"/>
                <a:ea typeface="宋体" panose="02010600030101010101" pitchFamily="2" charset="-122"/>
              </a:rPr>
              <a:t>T1</a:t>
            </a:r>
            <a:r>
              <a:rPr lang="zh-CN" altLang="en-US" sz="1200" dirty="0">
                <a:latin typeface="Arial" panose="020B0604020202020204" pitchFamily="34" charset="0"/>
                <a:ea typeface="宋体" panose="02010600030101010101" pitchFamily="2" charset="-122"/>
              </a:rPr>
              <a:t>运行</a:t>
            </a:r>
          </a:p>
          <a:p>
            <a:pPr marL="342900" indent="-342900">
              <a:lnSpc>
                <a:spcPct val="110000"/>
              </a:lnSpc>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SCON ,#01000000B     ;</a:t>
            </a:r>
            <a:r>
              <a:rPr lang="zh-CN" altLang="en-US" sz="1200" dirty="0">
                <a:latin typeface="Arial" panose="020B0604020202020204" pitchFamily="34" charset="0"/>
                <a:ea typeface="宋体" panose="02010600030101010101" pitchFamily="2" charset="-122"/>
              </a:rPr>
              <a:t>设置串行口为方式</a:t>
            </a:r>
            <a:r>
              <a:rPr lang="en-US" altLang="zh-CN" sz="1200" dirty="0">
                <a:latin typeface="Arial" panose="020B0604020202020204" pitchFamily="34" charset="0"/>
                <a:ea typeface="宋体" panose="02010600030101010101" pitchFamily="2" charset="-122"/>
              </a:rPr>
              <a:t>1</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MOV   R0 ,#20H</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MOV   R7 ,#32            ;</a:t>
            </a:r>
            <a:r>
              <a:rPr lang="zh-CN" altLang="en-US" sz="1200" dirty="0">
                <a:latin typeface="Arial" panose="020B0604020202020204" pitchFamily="34" charset="0"/>
                <a:ea typeface="宋体" panose="02010600030101010101" pitchFamily="2" charset="-122"/>
              </a:rPr>
              <a:t>数据块长度</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LOOP: MOV    A ,@R0</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ACALL  SP-OUT</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JNB    P ,ERROR     ;</a:t>
            </a:r>
            <a:r>
              <a:rPr lang="zh-CN" altLang="en-US" sz="1200" dirty="0">
                <a:latin typeface="Arial" panose="020B0604020202020204" pitchFamily="34" charset="0"/>
                <a:ea typeface="宋体" panose="02010600030101010101" pitchFamily="2" charset="-122"/>
              </a:rPr>
              <a:t>传输出错处理，由</a:t>
            </a:r>
            <a:r>
              <a:rPr lang="en-US" altLang="zh-CN" sz="1200" dirty="0">
                <a:latin typeface="Arial" panose="020B0604020202020204" pitchFamily="34" charset="0"/>
                <a:ea typeface="宋体" panose="02010600030101010101" pitchFamily="2" charset="-122"/>
              </a:rPr>
              <a:t>SP-OUT</a:t>
            </a:r>
            <a:r>
              <a:rPr lang="zh-CN" altLang="en-US" sz="1200" dirty="0">
                <a:latin typeface="Arial" panose="020B0604020202020204" pitchFamily="34" charset="0"/>
                <a:ea typeface="宋体" panose="02010600030101010101" pitchFamily="2" charset="-122"/>
              </a:rPr>
              <a:t>中“</a:t>
            </a:r>
            <a:r>
              <a:rPr lang="en-US" altLang="zh-CN" sz="1200" dirty="0">
                <a:latin typeface="Arial" panose="020B0604020202020204" pitchFamily="34" charset="0"/>
                <a:ea typeface="宋体" panose="02010600030101010101" pitchFamily="2" charset="-122"/>
              </a:rPr>
              <a:t>CPL C”</a:t>
            </a:r>
            <a:r>
              <a:rPr lang="zh-CN" altLang="en-US" sz="1200" dirty="0">
                <a:latin typeface="Arial" panose="020B0604020202020204" pitchFamily="34" charset="0"/>
                <a:ea typeface="宋体" panose="02010600030101010101" pitchFamily="2" charset="-122"/>
              </a:rPr>
              <a:t>结果决定</a:t>
            </a:r>
          </a:p>
          <a:p>
            <a:pPr marL="342900" indent="-342900">
              <a:lnSpc>
                <a:spcPct val="110000"/>
              </a:lnSpc>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INC    R0</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DJNZ   R7 ,LOOP</a:t>
            </a:r>
          </a:p>
          <a:p>
            <a:pPr marL="342900" indent="-342900">
              <a:lnSpc>
                <a:spcPct val="110000"/>
              </a:lnSpc>
              <a:spcBef>
                <a:spcPct val="20000"/>
              </a:spcBef>
              <a:buClr>
                <a:schemeClr val="tx2"/>
              </a:buClr>
            </a:pPr>
            <a:r>
              <a:rPr lang="en-US" altLang="zh-CN" sz="1200" dirty="0">
                <a:latin typeface="Arial" panose="020B0604020202020204" pitchFamily="34" charset="0"/>
                <a:ea typeface="宋体" panose="02010600030101010101" pitchFamily="2" charset="-122"/>
              </a:rPr>
              <a:t>	……</a:t>
            </a:r>
          </a:p>
          <a:p>
            <a:pPr marL="342900" indent="-342900">
              <a:lnSpc>
                <a:spcPct val="80000"/>
              </a:lnSpc>
              <a:spcBef>
                <a:spcPct val="20000"/>
              </a:spcBef>
              <a:buClr>
                <a:schemeClr val="tx2"/>
              </a:buClr>
            </a:pPr>
            <a:endParaRPr lang="en-US" altLang="zh-CN" sz="1200" dirty="0">
              <a:latin typeface="Arial" panose="020B0604020202020204" pitchFamily="34" charset="0"/>
              <a:ea typeface="宋体" panose="02010600030101010101" pitchFamily="2" charset="-122"/>
            </a:endParaRPr>
          </a:p>
        </p:txBody>
      </p:sp>
      <p:sp>
        <p:nvSpPr>
          <p:cNvPr id="11" name="文本占位符 128002"/>
          <p:cNvSpPr>
            <a:spLocks noGrp="1"/>
          </p:cNvSpPr>
          <p:nvPr/>
        </p:nvSpPr>
        <p:spPr>
          <a:xfrm>
            <a:off x="4186555" y="4730110"/>
            <a:ext cx="4828540" cy="1804670"/>
          </a:xfrm>
          <a:prstGeom prst="rect">
            <a:avLst/>
          </a:prstGeom>
          <a:noFill/>
          <a:ln w="9525">
            <a:noFill/>
          </a:ln>
        </p:spPr>
        <p:txBody>
          <a:bodyPr anchor="t"/>
          <a:lstStyle/>
          <a:p>
            <a:pPr marL="342900" indent="-342900">
              <a:spcBef>
                <a:spcPct val="20000"/>
              </a:spcBef>
              <a:buClr>
                <a:schemeClr val="tx2"/>
              </a:buClr>
            </a:pPr>
            <a:r>
              <a:rPr lang="zh-CN" altLang="en-US" sz="1200" dirty="0">
                <a:solidFill>
                  <a:srgbClr val="F153E6"/>
                </a:solidFill>
                <a:latin typeface="Arial" panose="020B0604020202020204" pitchFamily="34" charset="0"/>
                <a:ea typeface="宋体" panose="02010600030101010101" pitchFamily="2" charset="-122"/>
              </a:rPr>
              <a:t>串行口发送子程序（奇校验）；</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SP-OUT:      MOV  C ,PSW.0   ;</a:t>
            </a:r>
            <a:r>
              <a:rPr lang="zh-CN" altLang="en-US" sz="1200" dirty="0">
                <a:latin typeface="Arial" panose="020B0604020202020204" pitchFamily="34" charset="0"/>
                <a:ea typeface="宋体" panose="02010600030101010101" pitchFamily="2" charset="-122"/>
              </a:rPr>
              <a:t>设置奇校验位，校验位</a:t>
            </a:r>
            <a:r>
              <a:rPr lang="en-US" altLang="zh-CN" sz="1200" dirty="0">
                <a:latin typeface="Arial" panose="020B0604020202020204" pitchFamily="34" charset="0"/>
                <a:ea typeface="宋体" panose="02010600030101010101" pitchFamily="2" charset="-122"/>
              </a:rPr>
              <a:t>P=1</a:t>
            </a:r>
            <a:r>
              <a:rPr lang="zh-CN" altLang="en-US" sz="1200" dirty="0">
                <a:latin typeface="Arial" panose="020B0604020202020204" pitchFamily="34" charset="0"/>
                <a:ea typeface="宋体" panose="02010600030101010101" pitchFamily="2" charset="-122"/>
              </a:rPr>
              <a:t>为奇校验</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CPL  C                  ;</a:t>
            </a:r>
            <a:r>
              <a:rPr lang="zh-CN" altLang="en-US" sz="1200" dirty="0">
                <a:latin typeface="Arial" panose="020B0604020202020204" pitchFamily="34" charset="0"/>
                <a:ea typeface="宋体" panose="02010600030101010101" pitchFamily="2" charset="-122"/>
              </a:rPr>
              <a:t>奇校验（无此指令位偶校验）</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ACC.7 ,C   ;ACC.7</a:t>
            </a:r>
            <a:r>
              <a:rPr lang="zh-CN" altLang="en-US" sz="1200" dirty="0">
                <a:latin typeface="Arial" panose="020B0604020202020204" pitchFamily="34" charset="0"/>
                <a:ea typeface="宋体" panose="02010600030101010101" pitchFamily="2" charset="-122"/>
              </a:rPr>
              <a:t>补</a:t>
            </a:r>
            <a:r>
              <a:rPr lang="en-US" altLang="zh-CN" sz="1200" dirty="0">
                <a:latin typeface="Arial" panose="020B0604020202020204" pitchFamily="34" charset="0"/>
                <a:ea typeface="宋体" panose="02010600030101010101" pitchFamily="2" charset="-122"/>
              </a:rPr>
              <a:t>0</a:t>
            </a:r>
            <a:r>
              <a:rPr lang="zh-CN" altLang="en-US" sz="1200" dirty="0">
                <a:latin typeface="Arial" panose="020B0604020202020204" pitchFamily="34" charset="0"/>
                <a:ea typeface="宋体" panose="02010600030101010101" pitchFamily="2" charset="-122"/>
              </a:rPr>
              <a:t>或</a:t>
            </a:r>
            <a:r>
              <a:rPr lang="en-US" altLang="zh-CN" sz="1200" dirty="0">
                <a:latin typeface="Arial" panose="020B0604020202020204" pitchFamily="34" charset="0"/>
                <a:ea typeface="宋体" panose="02010600030101010101" pitchFamily="2" charset="-122"/>
              </a:rPr>
              <a:t>1</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SBUF ,A    ;</a:t>
            </a:r>
            <a:r>
              <a:rPr lang="zh-CN" altLang="en-US" sz="1200" dirty="0">
                <a:latin typeface="Arial" panose="020B0604020202020204" pitchFamily="34" charset="0"/>
                <a:ea typeface="宋体" panose="02010600030101010101" pitchFamily="2" charset="-122"/>
              </a:rPr>
              <a:t>启动串行口发送过程</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CLR  TI                ;</a:t>
            </a:r>
            <a:r>
              <a:rPr lang="zh-CN" altLang="en-US" sz="1200" dirty="0">
                <a:latin typeface="Arial" panose="020B0604020202020204" pitchFamily="34" charset="0"/>
                <a:ea typeface="宋体" panose="02010600030101010101" pitchFamily="2" charset="-122"/>
              </a:rPr>
              <a:t>清</a:t>
            </a:r>
            <a:r>
              <a:rPr lang="en-US" altLang="zh-CN" sz="1200" dirty="0">
                <a:latin typeface="Arial" panose="020B0604020202020204" pitchFamily="34" charset="0"/>
                <a:ea typeface="宋体" panose="02010600030101010101" pitchFamily="2" charset="-122"/>
              </a:rPr>
              <a:t>TI</a:t>
            </a:r>
            <a:r>
              <a:rPr lang="zh-CN" altLang="en-US" sz="1200" dirty="0">
                <a:latin typeface="Arial" panose="020B0604020202020204" pitchFamily="34" charset="0"/>
                <a:ea typeface="宋体" panose="02010600030101010101" pitchFamily="2" charset="-122"/>
              </a:rPr>
              <a:t>标志，允许在发送</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RET</a:t>
            </a:r>
            <a:endParaRPr lang="zh-CN" altLang="en-US" sz="1200"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6386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533400" y="1157227"/>
            <a:ext cx="8384668" cy="369332"/>
          </a:xfrm>
        </p:spPr>
        <p:txBody>
          <a:bodyPr wrap="square"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kern="1200" cap="none" spc="0" normalizeH="0" baseline="0" noProof="1">
                <a:solidFill>
                  <a:srgbClr val="0000FF"/>
                </a:solidFill>
                <a:latin typeface="+mj-lt"/>
                <a:ea typeface="+mj-ea"/>
                <a:cs typeface="+mj-cs"/>
              </a:rPr>
              <a:t>7.2.1  89C51</a:t>
            </a:r>
            <a:r>
              <a:rPr kumimoji="0" lang="zh-CN" altLang="en-US" b="0" i="0" u="none" strike="noStrike" kern="1200" cap="none" spc="0" normalizeH="0" baseline="0" noProof="1">
                <a:solidFill>
                  <a:srgbClr val="0000FF"/>
                </a:solidFill>
                <a:latin typeface="+mj-lt"/>
                <a:ea typeface="+mj-ea"/>
                <a:cs typeface="+mj-cs"/>
              </a:rPr>
              <a:t>串行口的应用</a:t>
            </a:r>
          </a:p>
        </p:txBody>
      </p:sp>
      <p:sp>
        <p:nvSpPr>
          <p:cNvPr id="6146" name="标题 6145"/>
          <p:cNvSpPr>
            <a:spLocks noGrp="1"/>
          </p:cNvSpPr>
          <p:nvPr/>
        </p:nvSpPr>
        <p:spPr>
          <a:xfrm>
            <a:off x="1498600" y="250508"/>
            <a:ext cx="4787900" cy="430530"/>
          </a:xfrm>
          <a:prstGeom prst="rect">
            <a:avLst/>
          </a:prstGeom>
        </p:spPr>
        <p:txBody>
          <a:bodyPr wrap="square" lIns="0" tIns="0" rIns="0" bIns="0" anchor="ctr">
            <a:spAutoFit/>
          </a:bodyPr>
          <a:lstStyle>
            <a:lvl1pPr>
              <a:defRPr sz="2400" b="1" i="0">
                <a:solidFill>
                  <a:srgbClr val="252525"/>
                </a:solidFill>
                <a:latin typeface="微软雅黑" panose="020B0503020204020204" charset="-122"/>
                <a:ea typeface="+mj-ea"/>
                <a:cs typeface="微软雅黑" panose="020B0503020204020204" charset="-122"/>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F153E6"/>
                </a:solidFill>
                <a:latin typeface="+mj-lt"/>
                <a:ea typeface="+mj-ea"/>
                <a:cs typeface="+mj-cs"/>
              </a:rPr>
              <a:t>7.2  </a:t>
            </a:r>
            <a:r>
              <a:rPr kumimoji="0" lang="zh-CN" altLang="en-US" sz="2800" b="1" i="0" u="none" strike="noStrike" kern="1200" cap="none" spc="0" normalizeH="0" baseline="0" noProof="1">
                <a:solidFill>
                  <a:srgbClr val="F153E6"/>
                </a:solidFill>
                <a:latin typeface="+mj-lt"/>
                <a:ea typeface="+mj-ea"/>
                <a:cs typeface="+mj-cs"/>
              </a:rPr>
              <a:t>串行口及应用</a:t>
            </a:r>
          </a:p>
        </p:txBody>
      </p:sp>
      <p:sp>
        <p:nvSpPr>
          <p:cNvPr id="10" name="矩形 9"/>
          <p:cNvSpPr/>
          <p:nvPr/>
        </p:nvSpPr>
        <p:spPr>
          <a:xfrm>
            <a:off x="533400" y="1553541"/>
            <a:ext cx="1947969" cy="369332"/>
          </a:xfrm>
          <a:prstGeom prst="rect">
            <a:avLst/>
          </a:prstGeom>
        </p:spPr>
        <p:txBody>
          <a:bodyPr wrap="none">
            <a:spAutoFit/>
          </a:bodyPr>
          <a:lstStyle/>
          <a:p>
            <a:pPr marL="285750" indent="-285750">
              <a:buFont typeface="Wingdings" panose="05000000000000000000" pitchFamily="2" charset="2"/>
              <a:buChar char="Ø"/>
            </a:pPr>
            <a:r>
              <a:rPr lang="en-US" altLang="zh-CN" dirty="0">
                <a:solidFill>
                  <a:srgbClr val="FF0000"/>
                </a:solidFill>
              </a:rPr>
              <a:t>2. </a:t>
            </a:r>
            <a:r>
              <a:rPr lang="zh-CN" altLang="en-US" dirty="0">
                <a:solidFill>
                  <a:srgbClr val="FF0000"/>
                </a:solidFill>
              </a:rPr>
              <a:t>方式</a:t>
            </a:r>
            <a:r>
              <a:rPr lang="en-US" altLang="zh-CN" dirty="0">
                <a:solidFill>
                  <a:srgbClr val="FF0000"/>
                </a:solidFill>
              </a:rPr>
              <a:t>2/3</a:t>
            </a:r>
            <a:r>
              <a:rPr lang="zh-CN" altLang="en-US" dirty="0">
                <a:solidFill>
                  <a:srgbClr val="FF0000"/>
                </a:solidFill>
              </a:rPr>
              <a:t>应用</a:t>
            </a:r>
          </a:p>
        </p:txBody>
      </p:sp>
      <p:sp>
        <p:nvSpPr>
          <p:cNvPr id="2" name="矩形 1"/>
          <p:cNvSpPr/>
          <p:nvPr/>
        </p:nvSpPr>
        <p:spPr>
          <a:xfrm>
            <a:off x="304800" y="1922873"/>
            <a:ext cx="6403468" cy="387798"/>
          </a:xfrm>
          <a:prstGeom prst="rect">
            <a:avLst/>
          </a:prstGeom>
        </p:spPr>
        <p:txBody>
          <a:bodyPr wrap="square">
            <a:spAutoFit/>
          </a:bodyPr>
          <a:lstStyle/>
          <a:p>
            <a:pPr>
              <a:lnSpc>
                <a:spcPct val="120000"/>
              </a:lnSpc>
              <a:spcBef>
                <a:spcPct val="20000"/>
              </a:spcBef>
              <a:buClr>
                <a:schemeClr val="tx2"/>
              </a:buClr>
              <a:buSzTx/>
            </a:pPr>
            <a:r>
              <a:rPr lang="zh-CN" altLang="en-US" sz="1600" dirty="0">
                <a:solidFill>
                  <a:srgbClr val="F153E6"/>
                </a:solidFill>
                <a:latin typeface="+mn-ea"/>
              </a:rPr>
              <a:t>例</a:t>
            </a:r>
            <a:r>
              <a:rPr lang="en-US" altLang="zh-CN" sz="1600" dirty="0">
                <a:solidFill>
                  <a:srgbClr val="F153E6"/>
                </a:solidFill>
                <a:latin typeface="+mn-ea"/>
              </a:rPr>
              <a:t>7-8</a:t>
            </a:r>
            <a:r>
              <a:rPr lang="zh-CN" altLang="en-US" sz="1600" dirty="0">
                <a:solidFill>
                  <a:srgbClr val="F153E6"/>
                </a:solidFill>
                <a:latin typeface="+mn-ea"/>
              </a:rPr>
              <a:t>：用第</a:t>
            </a:r>
            <a:r>
              <a:rPr lang="en-US" altLang="zh-CN" sz="1600" dirty="0">
                <a:solidFill>
                  <a:srgbClr val="F153E6"/>
                </a:solidFill>
                <a:latin typeface="+mn-ea"/>
              </a:rPr>
              <a:t>9</a:t>
            </a:r>
            <a:r>
              <a:rPr lang="zh-CN" altLang="en-US" sz="1600" dirty="0">
                <a:solidFill>
                  <a:srgbClr val="F153E6"/>
                </a:solidFill>
                <a:latin typeface="+mn-ea"/>
              </a:rPr>
              <a:t>个数据位作奇偶校验位，编制串行口方式</a:t>
            </a:r>
            <a:r>
              <a:rPr lang="en-US" altLang="zh-CN" sz="1600" dirty="0">
                <a:solidFill>
                  <a:srgbClr val="F153E6"/>
                </a:solidFill>
                <a:latin typeface="+mn-ea"/>
              </a:rPr>
              <a:t>2</a:t>
            </a:r>
            <a:r>
              <a:rPr lang="zh-CN" altLang="en-US" sz="1600" dirty="0">
                <a:solidFill>
                  <a:srgbClr val="F153E6"/>
                </a:solidFill>
                <a:latin typeface="+mn-ea"/>
              </a:rPr>
              <a:t>的发送程序。</a:t>
            </a:r>
          </a:p>
        </p:txBody>
      </p:sp>
      <p:sp>
        <p:nvSpPr>
          <p:cNvPr id="3" name="矩形 2"/>
          <p:cNvSpPr/>
          <p:nvPr/>
        </p:nvSpPr>
        <p:spPr>
          <a:xfrm>
            <a:off x="304800" y="2623594"/>
            <a:ext cx="6403468" cy="978729"/>
          </a:xfrm>
          <a:prstGeom prst="rect">
            <a:avLst/>
          </a:prstGeom>
        </p:spPr>
        <p:txBody>
          <a:bodyPr wrap="square">
            <a:spAutoFit/>
          </a:bodyPr>
          <a:lstStyle/>
          <a:p>
            <a:pPr>
              <a:lnSpc>
                <a:spcPct val="120000"/>
              </a:lnSpc>
              <a:spcBef>
                <a:spcPct val="20000"/>
              </a:spcBef>
              <a:buClr>
                <a:schemeClr val="tx2"/>
              </a:buClr>
              <a:buSzTx/>
            </a:pPr>
            <a:r>
              <a:rPr lang="zh-CN" altLang="en-US" sz="1600" dirty="0">
                <a:latin typeface="+mn-ea"/>
              </a:rPr>
              <a:t>解：设计一个发送程序，将片内</a:t>
            </a:r>
            <a:r>
              <a:rPr lang="en-US" altLang="zh-CN" sz="1600" dirty="0">
                <a:latin typeface="+mn-ea"/>
              </a:rPr>
              <a:t>RAM 50H</a:t>
            </a:r>
            <a:r>
              <a:rPr lang="zh-CN" altLang="en-US" sz="1600" dirty="0">
                <a:latin typeface="+mn-ea"/>
              </a:rPr>
              <a:t>～</a:t>
            </a:r>
            <a:r>
              <a:rPr lang="en-US" altLang="zh-CN" sz="1600" dirty="0">
                <a:latin typeface="+mn-ea"/>
              </a:rPr>
              <a:t>5FH</a:t>
            </a:r>
            <a:r>
              <a:rPr lang="zh-CN" altLang="en-US" sz="1600" dirty="0">
                <a:latin typeface="+mn-ea"/>
              </a:rPr>
              <a:t>中的数据串行发送；串行口设定为方式</a:t>
            </a:r>
            <a:r>
              <a:rPr lang="en-US" altLang="zh-CN" sz="1600" dirty="0">
                <a:latin typeface="+mn-ea"/>
              </a:rPr>
              <a:t>2</a:t>
            </a:r>
            <a:r>
              <a:rPr lang="zh-CN" altLang="en-US" sz="1600" dirty="0">
                <a:latin typeface="+mn-ea"/>
              </a:rPr>
              <a:t>状态，</a:t>
            </a:r>
            <a:r>
              <a:rPr lang="en-US" altLang="zh-CN" sz="1600" dirty="0">
                <a:latin typeface="+mn-ea"/>
              </a:rPr>
              <a:t>TB8</a:t>
            </a:r>
            <a:r>
              <a:rPr lang="zh-CN" altLang="en-US" sz="1600" dirty="0">
                <a:latin typeface="+mn-ea"/>
              </a:rPr>
              <a:t>作奇偶校验位。在数据写入发送缓冲器之前，先将数据的奇偶位</a:t>
            </a:r>
            <a:r>
              <a:rPr lang="en-US" altLang="zh-CN" sz="1600" dirty="0">
                <a:latin typeface="+mn-ea"/>
              </a:rPr>
              <a:t>P</a:t>
            </a:r>
            <a:r>
              <a:rPr lang="zh-CN" altLang="en-US" sz="1600" dirty="0">
                <a:latin typeface="+mn-ea"/>
              </a:rPr>
              <a:t>写入</a:t>
            </a:r>
            <a:r>
              <a:rPr lang="en-US" altLang="zh-CN" sz="1600" dirty="0">
                <a:latin typeface="+mn-ea"/>
              </a:rPr>
              <a:t>TB8</a:t>
            </a:r>
            <a:r>
              <a:rPr lang="zh-CN" altLang="en-US" sz="1600" dirty="0">
                <a:latin typeface="+mn-ea"/>
              </a:rPr>
              <a:t>，这时，第</a:t>
            </a:r>
            <a:r>
              <a:rPr lang="en-US" altLang="zh-CN" sz="1600" dirty="0">
                <a:latin typeface="+mn-ea"/>
              </a:rPr>
              <a:t>9</a:t>
            </a:r>
            <a:r>
              <a:rPr lang="zh-CN" altLang="en-US" sz="1600" dirty="0">
                <a:latin typeface="+mn-ea"/>
              </a:rPr>
              <a:t>位数据作奇偶校验用。</a:t>
            </a:r>
          </a:p>
        </p:txBody>
      </p:sp>
      <p:pic>
        <p:nvPicPr>
          <p:cNvPr id="12" name="内容占位符 137219" descr="0719"/>
          <p:cNvPicPr>
            <a:picLocks noChangeAspect="1"/>
          </p:cNvPicPr>
          <p:nvPr/>
        </p:nvPicPr>
        <p:blipFill>
          <a:blip r:embed="rId2"/>
          <a:stretch>
            <a:fillRect/>
          </a:stretch>
        </p:blipFill>
        <p:spPr>
          <a:xfrm>
            <a:off x="6708268" y="1157227"/>
            <a:ext cx="2209800" cy="4744692"/>
          </a:xfrm>
          <a:prstGeom prst="rect">
            <a:avLst/>
          </a:prstGeom>
        </p:spPr>
      </p:pic>
      <p:sp>
        <p:nvSpPr>
          <p:cNvPr id="13" name="文本占位符 139266"/>
          <p:cNvSpPr>
            <a:spLocks noGrp="1"/>
          </p:cNvSpPr>
          <p:nvPr/>
        </p:nvSpPr>
        <p:spPr>
          <a:xfrm>
            <a:off x="666750" y="3602322"/>
            <a:ext cx="5600700" cy="3027077"/>
          </a:xfrm>
          <a:prstGeom prst="rect">
            <a:avLst/>
          </a:prstGeom>
          <a:noFill/>
          <a:ln w="9525">
            <a:noFill/>
          </a:ln>
        </p:spPr>
        <p:txBody>
          <a:bodyPr anchor="t"/>
          <a:lstStyle/>
          <a:p>
            <a:pPr marL="342900" indent="-342900">
              <a:spcBef>
                <a:spcPct val="20000"/>
              </a:spcBef>
              <a:buClr>
                <a:schemeClr val="tx2"/>
              </a:buClr>
            </a:pPr>
            <a:r>
              <a:rPr lang="zh-CN" altLang="en-US" sz="1200" dirty="0">
                <a:solidFill>
                  <a:srgbClr val="F153E6"/>
                </a:solidFill>
                <a:latin typeface="Arial" panose="020B0604020202020204" pitchFamily="34" charset="0"/>
                <a:ea typeface="宋体" panose="02010600030101010101" pitchFamily="2" charset="-122"/>
              </a:rPr>
              <a:t>程序清单如下：</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TRT:  	MOV  SCON ,#80H           ;</a:t>
            </a:r>
            <a:r>
              <a:rPr lang="zh-CN" altLang="en-US" sz="1200" dirty="0">
                <a:latin typeface="Arial" panose="020B0604020202020204" pitchFamily="34" charset="0"/>
                <a:ea typeface="宋体" panose="02010600030101010101" pitchFamily="2" charset="-122"/>
              </a:rPr>
              <a:t>方式</a:t>
            </a:r>
            <a:r>
              <a:rPr lang="en-US" altLang="zh-CN" sz="1200" dirty="0">
                <a:latin typeface="Arial" panose="020B0604020202020204" pitchFamily="34" charset="0"/>
                <a:ea typeface="宋体" panose="02010600030101010101" pitchFamily="2" charset="-122"/>
              </a:rPr>
              <a:t>2</a:t>
            </a:r>
            <a:r>
              <a:rPr lang="zh-CN" altLang="en-US" sz="1200" dirty="0">
                <a:latin typeface="Arial" panose="020B0604020202020204" pitchFamily="34" charset="0"/>
                <a:ea typeface="宋体" panose="02010600030101010101" pitchFamily="2" charset="-122"/>
              </a:rPr>
              <a:t>设定</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MOV  PCON ,#80H           ;</a:t>
            </a:r>
            <a:r>
              <a:rPr lang="zh-CN" altLang="en-US" sz="1200" dirty="0">
                <a:latin typeface="Arial" panose="020B0604020202020204" pitchFamily="34" charset="0"/>
                <a:ea typeface="宋体" panose="02010600030101010101" pitchFamily="2" charset="-122"/>
              </a:rPr>
              <a:t>取波特率为</a:t>
            </a:r>
            <a:r>
              <a:rPr lang="en-US" altLang="zh-CN" sz="1200" dirty="0" err="1">
                <a:latin typeface="Arial" panose="020B0604020202020204" pitchFamily="34" charset="0"/>
                <a:ea typeface="宋体" panose="02010600030101010101" pitchFamily="2" charset="-122"/>
              </a:rPr>
              <a:t>fosc</a:t>
            </a:r>
            <a:r>
              <a:rPr lang="en-US" altLang="zh-CN" sz="1200" dirty="0">
                <a:latin typeface="Arial" panose="020B0604020202020204" pitchFamily="34" charset="0"/>
                <a:ea typeface="宋体" panose="02010600030101010101" pitchFamily="2" charset="-122"/>
              </a:rPr>
              <a:t>/32</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R0, #50H              ;</a:t>
            </a:r>
            <a:r>
              <a:rPr lang="zh-CN" altLang="en-US" sz="1200" dirty="0">
                <a:latin typeface="Arial" panose="020B0604020202020204" pitchFamily="34" charset="0"/>
                <a:ea typeface="宋体" panose="02010600030101010101" pitchFamily="2" charset="-122"/>
              </a:rPr>
              <a:t>取首地址</a:t>
            </a:r>
            <a:endParaRPr lang="en-US" altLang="zh-CN" sz="1200" dirty="0">
              <a:latin typeface="Arial" panose="020B0604020202020204" pitchFamily="34" charset="0"/>
              <a:ea typeface="宋体" panose="02010600030101010101" pitchFamily="2" charset="-122"/>
            </a:endParaRP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R7 ,#10H              ;</a:t>
            </a:r>
            <a:r>
              <a:rPr lang="zh-CN" altLang="en-US" sz="1200" dirty="0">
                <a:latin typeface="Arial" panose="020B0604020202020204" pitchFamily="34" charset="0"/>
                <a:ea typeface="宋体" panose="02010600030101010101" pitchFamily="2" charset="-122"/>
              </a:rPr>
              <a:t>数据长度</a:t>
            </a:r>
            <a:r>
              <a:rPr lang="en-US" altLang="zh-CN" sz="1200" dirty="0">
                <a:latin typeface="Arial" panose="020B0604020202020204" pitchFamily="34" charset="0"/>
                <a:ea typeface="宋体" panose="02010600030101010101" pitchFamily="2" charset="-122"/>
              </a:rPr>
              <a:t>10H→R7</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LOOP: 	MOV  A ,@R0                   ;</a:t>
            </a:r>
            <a:r>
              <a:rPr lang="zh-CN" altLang="en-US" sz="1200" dirty="0">
                <a:latin typeface="Arial" panose="020B0604020202020204" pitchFamily="34" charset="0"/>
                <a:ea typeface="宋体" panose="02010600030101010101" pitchFamily="2" charset="-122"/>
              </a:rPr>
              <a:t>取数据</a:t>
            </a:r>
            <a:r>
              <a:rPr lang="en-US" altLang="zh-CN" sz="1200" dirty="0">
                <a:latin typeface="Arial" panose="020B0604020202020204" pitchFamily="34" charset="0"/>
                <a:ea typeface="宋体" panose="02010600030101010101" pitchFamily="2" charset="-122"/>
              </a:rPr>
              <a:t>→A</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C ,PSW.0                ;P→TB8</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TB8 ,C</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MOV  SBUF ,A                 ;</a:t>
            </a:r>
            <a:r>
              <a:rPr lang="zh-CN" altLang="en-US" sz="1200" dirty="0">
                <a:latin typeface="Arial" panose="020B0604020202020204" pitchFamily="34" charset="0"/>
                <a:ea typeface="宋体" panose="02010600030101010101" pitchFamily="2" charset="-122"/>
              </a:rPr>
              <a:t>数据</a:t>
            </a:r>
            <a:r>
              <a:rPr lang="en-US" altLang="zh-CN" sz="1200" dirty="0">
                <a:latin typeface="Arial" panose="020B0604020202020204" pitchFamily="34" charset="0"/>
                <a:ea typeface="宋体" panose="02010600030101010101" pitchFamily="2" charset="-122"/>
              </a:rPr>
              <a:t>→SBUF,</a:t>
            </a:r>
            <a:r>
              <a:rPr lang="zh-CN" altLang="en-US" sz="1200" dirty="0">
                <a:latin typeface="Arial" panose="020B0604020202020204" pitchFamily="34" charset="0"/>
                <a:ea typeface="宋体" panose="02010600030101010101" pitchFamily="2" charset="-122"/>
              </a:rPr>
              <a:t>启动发送</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WAIT: 	JBC   TI ,CONT                ;</a:t>
            </a:r>
            <a:r>
              <a:rPr lang="zh-CN" altLang="en-US" sz="1200" dirty="0">
                <a:latin typeface="Arial" panose="020B0604020202020204" pitchFamily="34" charset="0"/>
                <a:ea typeface="宋体" panose="02010600030101010101" pitchFamily="2" charset="-122"/>
              </a:rPr>
              <a:t>判断发送中断标志</a:t>
            </a:r>
          </a:p>
          <a:p>
            <a:pPr marL="342900" indent="-342900">
              <a:spcBef>
                <a:spcPct val="20000"/>
              </a:spcBef>
              <a:buClr>
                <a:schemeClr val="tx2"/>
              </a:buClr>
            </a:pPr>
            <a:r>
              <a:rPr lang="zh-CN" altLang="en-US" sz="1200" dirty="0">
                <a:latin typeface="Arial" panose="020B0604020202020204" pitchFamily="34" charset="0"/>
                <a:ea typeface="宋体" panose="02010600030101010101" pitchFamily="2" charset="-122"/>
              </a:rPr>
              <a:t>      	              </a:t>
            </a:r>
            <a:r>
              <a:rPr lang="en-US" altLang="zh-CN" sz="1200" dirty="0">
                <a:latin typeface="Arial" panose="020B0604020202020204" pitchFamily="34" charset="0"/>
                <a:ea typeface="宋体" panose="02010600030101010101" pitchFamily="2" charset="-122"/>
              </a:rPr>
              <a:t>SJMP  WAIT</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CONT: 	INC  R0</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DJNZ  R7 ,LOOP</a:t>
            </a:r>
          </a:p>
          <a:p>
            <a:pPr marL="342900" indent="-342900">
              <a:spcBef>
                <a:spcPct val="20000"/>
              </a:spcBef>
              <a:buClr>
                <a:schemeClr val="tx2"/>
              </a:buClr>
            </a:pPr>
            <a:r>
              <a:rPr lang="en-US" altLang="zh-CN" sz="1200" dirty="0">
                <a:latin typeface="Arial" panose="020B0604020202020204" pitchFamily="34" charset="0"/>
                <a:ea typeface="宋体" panose="02010600030101010101" pitchFamily="2" charset="-122"/>
              </a:rPr>
              <a:t>      	              RET</a:t>
            </a:r>
          </a:p>
        </p:txBody>
      </p:sp>
    </p:spTree>
    <p:extLst>
      <p:ext uri="{BB962C8B-B14F-4D97-AF65-F5344CB8AC3E}">
        <p14:creationId xmlns:p14="http://schemas.microsoft.com/office/powerpoint/2010/main" val="381199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文本占位符 2"/>
          <p:cNvSpPr>
            <a:spLocks noGrp="1"/>
          </p:cNvSpPr>
          <p:nvPr>
            <p:ph type="body" idx="1"/>
          </p:nvPr>
        </p:nvSpPr>
        <p:spPr>
          <a:xfrm>
            <a:off x="1498600" y="1447800"/>
            <a:ext cx="4419600" cy="2462213"/>
          </a:xfrm>
        </p:spPr>
        <p:txBody>
          <a:bodyPr/>
          <a:lstStyle/>
          <a:p>
            <a:r>
              <a:rPr lang="en-US" altLang="zh-CN" sz="3200" dirty="0"/>
              <a:t>2</a:t>
            </a:r>
          </a:p>
          <a:p>
            <a:r>
              <a:rPr lang="en-US" altLang="zh-CN" sz="3200" dirty="0"/>
              <a:t>4</a:t>
            </a:r>
          </a:p>
          <a:p>
            <a:r>
              <a:rPr lang="en-US" altLang="zh-CN" sz="3200" dirty="0"/>
              <a:t>5</a:t>
            </a:r>
          </a:p>
          <a:p>
            <a:r>
              <a:rPr lang="en-US" altLang="zh-CN" sz="3200" dirty="0"/>
              <a:t>8</a:t>
            </a:r>
          </a:p>
          <a:p>
            <a:r>
              <a:rPr lang="en-US" altLang="zh-CN" sz="3200" dirty="0"/>
              <a:t>10</a:t>
            </a:r>
            <a:endParaRPr lang="zh-CN" altLang="en-US" sz="3200" dirty="0"/>
          </a:p>
        </p:txBody>
      </p:sp>
      <p:sp>
        <p:nvSpPr>
          <p:cNvPr id="4" name="灯片编号占位符 3"/>
          <p:cNvSpPr>
            <a:spLocks noGrp="1"/>
          </p:cNvSpPr>
          <p:nvPr>
            <p:ph type="sldNum" sz="quarter" idx="7"/>
          </p:nvPr>
        </p:nvSpPr>
        <p:spPr/>
        <p:txBody>
          <a:bodyPr/>
          <a:lstStyle/>
          <a:p>
            <a:pPr marL="25400">
              <a:lnSpc>
                <a:spcPct val="100000"/>
              </a:lnSpc>
              <a:spcBef>
                <a:spcPts val="185"/>
              </a:spcBef>
            </a:pPr>
            <a:fld id="{81D60167-4931-47E6-BA6A-407CBD079E47}" type="slidenum">
              <a:rPr lang="en-US" altLang="zh-CN" spc="-5" smtClean="0"/>
              <a:t>37</a:t>
            </a:fld>
            <a:endParaRPr lang="en-US" altLang="zh-CN" spc="-5" dirty="0"/>
          </a:p>
        </p:txBody>
      </p:sp>
    </p:spTree>
    <p:extLst>
      <p:ext uri="{BB962C8B-B14F-4D97-AF65-F5344CB8AC3E}">
        <p14:creationId xmlns:p14="http://schemas.microsoft.com/office/powerpoint/2010/main" val="39664615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ec9cd463-2034-451a-ab8d-e27f942fb77c}"/>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c68c465-7417-430c-88b0-51527343829c}"/>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738fbf2b-3a68-40d7-8479-2a3b92cb22c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2297</TotalTime>
  <Words>3569</Words>
  <Application>Microsoft Office PowerPoint</Application>
  <PresentationFormat>全屏显示(4:3)</PresentationFormat>
  <Paragraphs>398</Paragraphs>
  <Slides>37</Slides>
  <Notes>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46" baseType="lpstr">
      <vt:lpstr>隶书</vt:lpstr>
      <vt:lpstr>宋体</vt:lpstr>
      <vt:lpstr>微软雅黑</vt:lpstr>
      <vt:lpstr>Arial</vt:lpstr>
      <vt:lpstr>Calibri</vt:lpstr>
      <vt:lpstr>Times New Roman</vt:lpstr>
      <vt:lpstr>Wingdings</vt:lpstr>
      <vt:lpstr>Office Theme</vt:lpstr>
      <vt:lpstr>Bitmap Image</vt:lpstr>
      <vt:lpstr>PowerPoint 演示文稿</vt:lpstr>
      <vt:lpstr>目  录</vt:lpstr>
      <vt:lpstr>第七章  89C51串行口及串行通信技术</vt:lpstr>
      <vt:lpstr>7.1.1  数据通信</vt:lpstr>
      <vt:lpstr>7.1.2串行通信的传输方式            分为：单向（单工）配置、半双向（半双工）配置                           全双向（全双工）配置</vt:lpstr>
      <vt:lpstr>7.1.3  异步通信和同步通信（2种基本串行通信方式）</vt:lpstr>
      <vt:lpstr>7.1.3  异步通信和同步通信（2种基本串行通信方式）</vt:lpstr>
      <vt:lpstr>7.1.3  异步通信和同步通信（2种基本串行通信方式）</vt:lpstr>
      <vt:lpstr>7.1.3  异步通信和同步通信（2种基本串行通信方式）</vt:lpstr>
      <vt:lpstr>7.1.4  串行通信的过程及通信协议</vt:lpstr>
      <vt:lpstr>7.1.4  串行通信的过程及通信协议</vt:lpstr>
      <vt:lpstr>7.1.4  串行通信的过程及通信协议</vt:lpstr>
      <vt:lpstr> 89C51单片机除了具有4个8位并行口外，还具有串行接口。     该串行接口是一个全双工串行通信接口，即能同时进行串行发送和接收数据。     该串行口可以做UART（通用异步接收和发送器）用，也可做同步移位寄存器使用。     使用串行接口可以实现89C51单片机系统之间点对点的单机通信和89C51与系统机（如PC机）的单机或多机通信。</vt:lpstr>
      <vt:lpstr>7.2.1  89C51串行口</vt:lpstr>
      <vt:lpstr>7.2.1  89C51串行口</vt:lpstr>
      <vt:lpstr>7.2.1  89C51串行口</vt:lpstr>
      <vt:lpstr>7.2.1  89C51串行口</vt:lpstr>
      <vt:lpstr>（1）串口方式0</vt:lpstr>
      <vt:lpstr>（1）串口方式0</vt:lpstr>
      <vt:lpstr>（1）串口方式0</vt:lpstr>
      <vt:lpstr>（2）串口方式1</vt:lpstr>
      <vt:lpstr>（2）串口方式1</vt:lpstr>
      <vt:lpstr>（2）串口方式2和方式3</vt:lpstr>
      <vt:lpstr>（2）串口方式2和方式3</vt:lpstr>
      <vt:lpstr>7.2.1  89C51串行口</vt:lpstr>
      <vt:lpstr>7.2.1  89C51串行口</vt:lpstr>
      <vt:lpstr>7.2.1  89C51串行口</vt:lpstr>
      <vt:lpstr>7.2.1  89C51串行口</vt:lpstr>
      <vt:lpstr>7.2.1  89C51串行口</vt:lpstr>
      <vt:lpstr>7.2.1  89C51串行口的应用</vt:lpstr>
      <vt:lpstr>7.2.1  89C51串行口的应用</vt:lpstr>
      <vt:lpstr>7.2.1  89C51串行口的应用</vt:lpstr>
      <vt:lpstr>7.2.1  89C51串行口的应用</vt:lpstr>
      <vt:lpstr>PowerPoint 演示文稿</vt:lpstr>
      <vt:lpstr>7.2.1  89C51串行口的应用</vt:lpstr>
      <vt:lpstr>7.2.1  89C51串行口的应用</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www.pptbz.com</dc:creator>
  <cp:lastModifiedBy>陈 佩</cp:lastModifiedBy>
  <cp:revision>100</cp:revision>
  <dcterms:created xsi:type="dcterms:W3CDTF">2020-02-03T07:44:00Z</dcterms:created>
  <dcterms:modified xsi:type="dcterms:W3CDTF">2021-03-25T06:01:15Z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2016-10-16T00:00:00Z</vt:filetime>
  </property>
  <property fmtid="{D5CDD505-2E9C-101B-9397-08002B2CF9AE}" pid="3" name="Creator">
    <vt:lpwstr>Microsoft® PowerPoint® 2016</vt:lpwstr>
  </property>
  <property fmtid="{D5CDD505-2E9C-101B-9397-08002B2CF9AE}" pid="4" name="LastSaved">
    <vt:filetime>2020-02-03T00:00:00Z</vt:filetime>
  </property>
  <property fmtid="{D5CDD505-2E9C-101B-9397-08002B2CF9AE}" pid="5" name="KSOProductBuildVer">
    <vt:lpwstr>2052-11.1.0.9339</vt:lpwstr>
  </property>
</Properties>
</file>