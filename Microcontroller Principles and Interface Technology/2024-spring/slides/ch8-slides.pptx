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354" r:id="rId3"/>
    <p:sldId id="1134" r:id="rId4"/>
    <p:sldId id="1171" r:id="rId5"/>
    <p:sldId id="1172" r:id="rId6"/>
    <p:sldId id="1140" r:id="rId7"/>
    <p:sldId id="1141" r:id="rId8"/>
    <p:sldId id="1142" r:id="rId9"/>
    <p:sldId id="1143" r:id="rId10"/>
    <p:sldId id="1145" r:id="rId11"/>
    <p:sldId id="1146" r:id="rId12"/>
    <p:sldId id="1204" r:id="rId13"/>
    <p:sldId id="1149" r:id="rId14"/>
    <p:sldId id="1150" r:id="rId15"/>
    <p:sldId id="1151" r:id="rId16"/>
    <p:sldId id="1153" r:id="rId17"/>
    <p:sldId id="1155" r:id="rId18"/>
    <p:sldId id="1156" r:id="rId19"/>
    <p:sldId id="1157" r:id="rId20"/>
    <p:sldId id="1158" r:id="rId21"/>
    <p:sldId id="1159" r:id="rId22"/>
    <p:sldId id="1160" r:id="rId23"/>
    <p:sldId id="1161" r:id="rId24"/>
    <p:sldId id="1162" r:id="rId25"/>
    <p:sldId id="1163" r:id="rId26"/>
    <p:sldId id="1164" r:id="rId27"/>
    <p:sldId id="1206" r:id="rId28"/>
    <p:sldId id="1205" r:id="rId29"/>
    <p:sldId id="1207" r:id="rId30"/>
    <p:sldId id="1167" r:id="rId31"/>
    <p:sldId id="1168" r:id="rId32"/>
    <p:sldId id="1169" r:id="rId33"/>
  </p:sldIdLst>
  <p:sldSz cx="9144000" cy="6858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7">
          <p15:clr>
            <a:srgbClr val="A4A3A4"/>
          </p15:clr>
        </p15:guide>
        <p15:guide id="2" pos="19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907"/>
        <p:guide pos="1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239617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6146" name="文本占位符 239618"/>
          <p:cNvSpPr>
            <a:spLocks noGrp="1"/>
          </p:cNvSpPr>
          <p:nvPr>
            <p:ph type="body"/>
          </p:nvPr>
        </p:nvSpPr>
        <p:spPr/>
        <p:txBody>
          <a:bodyPr anchor="t"/>
          <a:lstStyle/>
          <a:p>
            <a:pPr lvl="0" indent="0"/>
            <a:endParaRPr lang="zh-CN" dirty="0"/>
          </a:p>
        </p:txBody>
      </p:sp>
      <p:sp>
        <p:nvSpPr>
          <p:cNvPr id="6147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 eaLnBrk="1" hangingPunct="1"/>
            <a:fld id="{9A0DB2DC-4C9A-4742-B13C-FB6460FD3503}" type="slidenum">
              <a:rPr lang="zh-CN" altLang="en-US" sz="1200" b="0" dirty="0"/>
              <a:t>2</a:t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u="none" dirty="0"/>
              <a:t>9</a:t>
            </a:fld>
            <a:endParaRPr lang="zh-CN" altLang="en-US" sz="1200" u="none" dirty="0"/>
          </a:p>
        </p:txBody>
      </p:sp>
      <p:sp>
        <p:nvSpPr>
          <p:cNvPr id="36866" name="幻灯片图像占位符 21505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6867" name="文本占位符 21506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anchor="t"/>
          <a:lstStyle/>
          <a:p>
            <a:pPr lvl="0"/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u="none" dirty="0"/>
              <a:t>13</a:t>
            </a:fld>
            <a:endParaRPr lang="zh-CN" altLang="en-US" sz="1200" u="none" dirty="0"/>
          </a:p>
        </p:txBody>
      </p:sp>
      <p:sp>
        <p:nvSpPr>
          <p:cNvPr id="44034" name="幻灯片图像占位符 337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文本占位符 3379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anchor="t"/>
          <a:lstStyle/>
          <a:p>
            <a:pPr lvl="0"/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2" name="文本占位符 2"/>
          <p:cNvSpPr>
            <a:spLocks noGrp="1"/>
          </p:cNvSpPr>
          <p:nvPr>
            <p:ph type="body"/>
          </p:nvPr>
        </p:nvSpPr>
        <p:spPr/>
        <p:txBody>
          <a:bodyPr anchor="t"/>
          <a:lstStyle/>
          <a:p>
            <a:pPr lvl="0"/>
            <a:endParaRPr lang="zh-CN" altLang="en-US"/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17</a:t>
            </a:fld>
            <a:endParaRPr lang="zh-CN" altLang="en-US" sz="1200" u="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8600" y="282575"/>
            <a:ext cx="298196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75184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57200" y="970280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algn="ctr"/>
            <a:endParaRPr sz="16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35128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3/29/2021</a:t>
            </a:fld>
            <a:endParaRPr lang="en-US"/>
          </a:p>
        </p:txBody>
      </p:sp>
      <p:sp>
        <p:nvSpPr>
          <p:cNvPr id="9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61085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45855" y="661225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7061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40775" y="660717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8600" y="282575"/>
            <a:ext cx="3933190" cy="368935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3/29/2021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2021年3月29日3时4分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2021年3月29日3时4分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2021年3月29日3时4分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2021年3月29日3时4分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289793"/>
          <p:cNvGrpSpPr/>
          <p:nvPr/>
        </p:nvGrpSpPr>
        <p:grpSpPr>
          <a:xfrm>
            <a:off x="-6350" y="20638"/>
            <a:ext cx="9144000" cy="6858000"/>
            <a:chOff x="0" y="0"/>
            <a:chExt cx="5760" cy="4320"/>
          </a:xfrm>
        </p:grpSpPr>
        <p:sp>
          <p:nvSpPr>
            <p:cNvPr id="3075" name="任意多边形 289794"/>
            <p:cNvSpPr/>
            <p:nvPr/>
          </p:nvSpPr>
          <p:spPr>
            <a:xfrm>
              <a:off x="0" y="3072"/>
              <a:ext cx="5760" cy="1248"/>
            </a:xfrm>
            <a:custGeom>
              <a:avLst/>
              <a:gdLst/>
              <a:ahLst/>
              <a:cxnLst/>
              <a:rect l="0" t="0" r="0" b="0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" name="任意多边形 289795"/>
            <p:cNvSpPr/>
            <p:nvPr/>
          </p:nvSpPr>
          <p:spPr>
            <a:xfrm>
              <a:off x="0" y="0"/>
              <a:ext cx="5760" cy="3072"/>
            </a:xfrm>
            <a:custGeom>
              <a:avLst/>
              <a:gdLst/>
              <a:ahLst/>
              <a:cxnLst/>
              <a:rect l="0" t="0" r="0" b="0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847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7" name="任意多边形 289796"/>
          <p:cNvSpPr/>
          <p:nvPr/>
        </p:nvSpPr>
        <p:spPr>
          <a:xfrm>
            <a:off x="6242050" y="6269038"/>
            <a:ext cx="2895600" cy="609600"/>
          </a:xfrm>
          <a:custGeom>
            <a:avLst/>
            <a:gdLst/>
            <a:ahLst/>
            <a:cxnLst/>
            <a:rect l="0" t="0" r="0" b="0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078" name="组合 289797"/>
          <p:cNvGrpSpPr/>
          <p:nvPr/>
        </p:nvGrpSpPr>
        <p:grpSpPr>
          <a:xfrm>
            <a:off x="-1587" y="6034088"/>
            <a:ext cx="7845425" cy="850900"/>
            <a:chOff x="0" y="3792"/>
            <a:chExt cx="4942" cy="536"/>
          </a:xfrm>
        </p:grpSpPr>
        <p:sp>
          <p:nvSpPr>
            <p:cNvPr id="3079" name="任意多边形 289798"/>
            <p:cNvSpPr/>
            <p:nvPr userDrawn="1"/>
          </p:nvSpPr>
          <p:spPr>
            <a:xfrm>
              <a:off x="1488" y="3792"/>
              <a:ext cx="3240" cy="536"/>
            </a:xfrm>
            <a:custGeom>
              <a:avLst/>
              <a:gdLst/>
              <a:ahLst/>
              <a:cxnLst/>
              <a:rect l="0" t="0" r="0" b="0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47864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80" name="组合 289799"/>
            <p:cNvGrpSpPr/>
            <p:nvPr userDrawn="1"/>
          </p:nvGrpSpPr>
          <p:grpSpPr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3081" name="任意多边形 289800"/>
              <p:cNvSpPr/>
              <p:nvPr userDrawn="1"/>
            </p:nvSpPr>
            <p:spPr>
              <a:xfrm>
                <a:off x="3948" y="3799"/>
                <a:ext cx="994" cy="529"/>
              </a:xfrm>
              <a:custGeom>
                <a:avLst/>
                <a:gdLst/>
                <a:ahLst/>
                <a:cxnLst/>
                <a:rect l="0" t="0" r="0" b="0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" name="任意多边形 289801"/>
              <p:cNvSpPr/>
              <p:nvPr userDrawn="1"/>
            </p:nvSpPr>
            <p:spPr>
              <a:xfrm>
                <a:off x="2677" y="3792"/>
                <a:ext cx="186" cy="395"/>
              </a:xfrm>
              <a:custGeom>
                <a:avLst/>
                <a:gdLst/>
                <a:ahLst/>
                <a:cxnLst/>
                <a:rect l="0" t="0" r="0" b="0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" name="任意多边形 289802"/>
              <p:cNvSpPr/>
              <p:nvPr userDrawn="1"/>
            </p:nvSpPr>
            <p:spPr>
              <a:xfrm>
                <a:off x="3030" y="3893"/>
                <a:ext cx="378" cy="271"/>
              </a:xfrm>
              <a:custGeom>
                <a:avLst/>
                <a:gdLst/>
                <a:ahLst/>
                <a:cxnLst/>
                <a:rect l="0" t="0" r="0" b="0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" name="任意多边形 289803"/>
              <p:cNvSpPr/>
              <p:nvPr userDrawn="1"/>
            </p:nvSpPr>
            <p:spPr>
              <a:xfrm>
                <a:off x="3628" y="3866"/>
                <a:ext cx="155" cy="74"/>
              </a:xfrm>
              <a:custGeom>
                <a:avLst/>
                <a:gdLst/>
                <a:ahLst/>
                <a:cxnLst/>
                <a:rect l="0" t="0" r="0" b="0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5" name="任意多边形 289804"/>
              <p:cNvSpPr/>
              <p:nvPr userDrawn="1"/>
            </p:nvSpPr>
            <p:spPr>
              <a:xfrm>
                <a:off x="2486" y="3859"/>
                <a:ext cx="42" cy="81"/>
              </a:xfrm>
              <a:custGeom>
                <a:avLst/>
                <a:gdLst/>
                <a:ahLst/>
                <a:cxnLst/>
                <a:rect l="0" t="0" r="0" b="0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86" name="任意多边形 289805"/>
            <p:cNvSpPr/>
            <p:nvPr userDrawn="1"/>
          </p:nvSpPr>
          <p:spPr>
            <a:xfrm>
              <a:off x="0" y="3792"/>
              <a:ext cx="3976" cy="535"/>
            </a:xfrm>
            <a:custGeom>
              <a:avLst/>
              <a:gdLst/>
              <a:ahLst/>
              <a:cxnLst/>
              <a:rect l="0" t="0" r="0" b="0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3654F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87" name="组合 289806"/>
          <p:cNvGrpSpPr/>
          <p:nvPr/>
        </p:nvGrpSpPr>
        <p:grpSpPr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3088" name="任意多边形 289807"/>
            <p:cNvSpPr/>
            <p:nvPr userDrawn="1"/>
          </p:nvSpPr>
          <p:spPr>
            <a:xfrm>
              <a:off x="1196" y="3793"/>
              <a:ext cx="365" cy="291"/>
            </a:xfrm>
            <a:custGeom>
              <a:avLst/>
              <a:gdLst/>
              <a:ahLst/>
              <a:cxnLst/>
              <a:rect l="0" t="0" r="0" b="0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" name="任意多边形 289808"/>
            <p:cNvSpPr/>
            <p:nvPr userDrawn="1"/>
          </p:nvSpPr>
          <p:spPr>
            <a:xfrm>
              <a:off x="1943" y="3829"/>
              <a:ext cx="2033" cy="499"/>
            </a:xfrm>
            <a:custGeom>
              <a:avLst/>
              <a:gdLst/>
              <a:ahLst/>
              <a:cxnLst/>
              <a:rect l="0" t="0" r="0" b="0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" name="任意多边形 289809"/>
            <p:cNvSpPr/>
            <p:nvPr userDrawn="1"/>
          </p:nvSpPr>
          <p:spPr>
            <a:xfrm>
              <a:off x="1830" y="3823"/>
              <a:ext cx="71" cy="61"/>
            </a:xfrm>
            <a:custGeom>
              <a:avLst/>
              <a:gdLst/>
              <a:ahLst/>
              <a:cxnLst/>
              <a:rect l="0" t="0" r="0" b="0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" name="任意多边形 289810"/>
            <p:cNvSpPr/>
            <p:nvPr userDrawn="1"/>
          </p:nvSpPr>
          <p:spPr>
            <a:xfrm>
              <a:off x="855" y="3842"/>
              <a:ext cx="161" cy="164"/>
            </a:xfrm>
            <a:custGeom>
              <a:avLst/>
              <a:gdLst/>
              <a:ahLst/>
              <a:cxnLst/>
              <a:rect l="0" t="0" r="0" b="0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任意多边形 289811"/>
            <p:cNvSpPr/>
            <p:nvPr userDrawn="1"/>
          </p:nvSpPr>
          <p:spPr>
            <a:xfrm>
              <a:off x="706" y="3854"/>
              <a:ext cx="59" cy="61"/>
            </a:xfrm>
            <a:custGeom>
              <a:avLst/>
              <a:gdLst/>
              <a:ahLst/>
              <a:cxnLst/>
              <a:rect l="0" t="0" r="0" b="0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" name="任意多边形 289812"/>
            <p:cNvSpPr/>
            <p:nvPr userDrawn="1"/>
          </p:nvSpPr>
          <p:spPr>
            <a:xfrm>
              <a:off x="395" y="3811"/>
              <a:ext cx="245" cy="207"/>
            </a:xfrm>
            <a:custGeom>
              <a:avLst/>
              <a:gdLst/>
              <a:ahLst/>
              <a:cxnLst/>
              <a:rect l="0" t="0" r="0" b="0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9814" name="标题 289813"/>
          <p:cNvSpPr>
            <a:spLocks noGrp="1"/>
          </p:cNvSpPr>
          <p:nvPr>
            <p:ph type="ctrTitle" sz="quarter"/>
          </p:nvPr>
        </p:nvSpPr>
        <p:spPr>
          <a:xfrm>
            <a:off x="457200" y="1447800"/>
            <a:ext cx="8229600" cy="1736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buClrTx/>
              <a:buSzTx/>
              <a:buFontTx/>
              <a:defRPr sz="5400"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89815" name="副标题 289814"/>
          <p:cNvSpPr>
            <a:spLocks noGrp="1"/>
          </p:cNvSpPr>
          <p:nvPr>
            <p:ph type="subTitle" sz="quarter" idx="1"/>
          </p:nvPr>
        </p:nvSpPr>
        <p:spPr>
          <a:xfrm>
            <a:off x="1371600" y="34290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Clr>
                <a:schemeClr val="tx2"/>
              </a:buClr>
              <a:buSzTx/>
              <a:buFontTx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1pPr>
            <a:lvl2pPr marL="457200" lvl="1" indent="0" algn="ctr">
              <a:buClrTx/>
              <a:buSzTx/>
              <a:buFontTx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2pPr>
            <a:lvl3pPr marL="914400" lvl="2" indent="0" algn="ctr">
              <a:buClr>
                <a:schemeClr val="tx2"/>
              </a:buClr>
              <a:buSzTx/>
              <a:buFontTx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3pPr>
            <a:lvl4pPr marL="1371600" lvl="3" indent="0" algn="ctr">
              <a:buClrTx/>
              <a:buSzTx/>
              <a:buFontTx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4pPr>
            <a:lvl5pPr marL="1828800" lvl="4" indent="0" algn="ctr">
              <a:buClr>
                <a:schemeClr val="tx2"/>
              </a:buClr>
              <a:buSzTx/>
              <a:buFontTx/>
              <a:buNone/>
              <a:defRPr>
                <a:effectLst>
                  <a:outerShdw blurRad="38100" dist="38100" dir="2700000">
                    <a:srgbClr val="C0C0C0"/>
                  </a:outerShdw>
                </a:effectLst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289816" name="日期占位符 289815"/>
          <p:cNvSpPr>
            <a:spLocks noGrp="1"/>
          </p:cNvSpPr>
          <p:nvPr>
            <p:ph type="dt" sz="quarter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/>
            </a:lvl1pPr>
          </a:lstStyle>
          <a:p>
            <a:pPr fontAlgn="base"/>
            <a:fld id="{BB962C8B-B14F-4D97-AF65-F5344CB8AC3E}" type="datetime3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2021年3月29日星期一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89817" name="灯片编号占位符 28981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89818" name="页脚占位符 289817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/>
            </a:lvl1pPr>
          </a:lstStyle>
          <a:p>
            <a:pPr fontAlgn="base"/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fld id="{BB962C8B-B14F-4D97-AF65-F5344CB8AC3E}" type="datetime3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2021年3月29日星期一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027988" y="6400800"/>
            <a:ext cx="1116013" cy="457200"/>
          </a:xfrm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k object 16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8600" y="282575"/>
            <a:ext cx="292481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0930" y="6550660"/>
            <a:ext cx="433070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b="1">
                <a:solidFill>
                  <a:srgbClr val="FFFF00"/>
                </a:solidFill>
              </a:defRPr>
            </a:lvl1pPr>
          </a:lstStyle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3/29/2021</a:t>
            </a:fld>
            <a:endParaRPr 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67360" y="998855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副标题 12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432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3886200" y="4800600"/>
            <a:ext cx="2866390" cy="3340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80"/>
              </a:spcBef>
            </a:pPr>
            <a:r>
              <a:rPr sz="2000" b="1" dirty="0" err="1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主讲</a:t>
            </a:r>
            <a:r>
              <a:rPr 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:</a:t>
            </a:r>
            <a:r>
              <a:rPr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陈佩</a:t>
            </a:r>
            <a:endParaRPr lang="zh-CN" altLang="zh-CN" sz="2000" b="1" dirty="0">
              <a:solidFill>
                <a:srgbClr val="006FC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64880" y="2717292"/>
            <a:ext cx="579120" cy="993775"/>
          </a:xfrm>
          <a:custGeom>
            <a:avLst/>
            <a:gdLst/>
            <a:ahLst/>
            <a:cxnLst/>
            <a:rect l="l" t="t" r="r" b="b"/>
            <a:pathLst>
              <a:path w="579120" h="993775">
                <a:moveTo>
                  <a:pt x="0" y="993648"/>
                </a:moveTo>
                <a:lnTo>
                  <a:pt x="579120" y="993648"/>
                </a:lnTo>
                <a:lnTo>
                  <a:pt x="579120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64880" y="3805428"/>
            <a:ext cx="579120" cy="273050"/>
          </a:xfrm>
          <a:custGeom>
            <a:avLst/>
            <a:gdLst/>
            <a:ahLst/>
            <a:cxnLst/>
            <a:rect l="l" t="t" r="r" b="b"/>
            <a:pathLst>
              <a:path w="579120" h="273050">
                <a:moveTo>
                  <a:pt x="0" y="272796"/>
                </a:moveTo>
                <a:lnTo>
                  <a:pt x="579120" y="272796"/>
                </a:lnTo>
                <a:lnTo>
                  <a:pt x="579120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05428"/>
            <a:ext cx="5991225" cy="273050"/>
          </a:xfrm>
          <a:custGeom>
            <a:avLst/>
            <a:gdLst/>
            <a:ahLst/>
            <a:cxnLst/>
            <a:rect l="l" t="t" r="r" b="b"/>
            <a:pathLst>
              <a:path w="5991225" h="273050">
                <a:moveTo>
                  <a:pt x="0" y="272796"/>
                </a:moveTo>
                <a:lnTo>
                  <a:pt x="5990844" y="272796"/>
                </a:lnTo>
                <a:lnTo>
                  <a:pt x="5990844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717165"/>
            <a:ext cx="6548755" cy="993775"/>
          </a:xfrm>
          <a:custGeom>
            <a:avLst/>
            <a:gdLst/>
            <a:ahLst/>
            <a:cxnLst/>
            <a:rect l="l" t="t" r="r" b="b"/>
            <a:pathLst>
              <a:path w="5991225" h="993775">
                <a:moveTo>
                  <a:pt x="0" y="993648"/>
                </a:moveTo>
                <a:lnTo>
                  <a:pt x="5990844" y="993648"/>
                </a:lnTo>
                <a:lnTo>
                  <a:pt x="5990844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67025" y="2950210"/>
            <a:ext cx="3628390" cy="53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单片机</a:t>
            </a:r>
            <a:r>
              <a:rPr lang="zh-CN"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原理及应用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27070" y="3805555"/>
            <a:ext cx="332168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-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Chang'an university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611886" y="0"/>
                </a:moveTo>
                <a:lnTo>
                  <a:pt x="564067" y="1840"/>
                </a:lnTo>
                <a:lnTo>
                  <a:pt x="517255" y="7272"/>
                </a:lnTo>
                <a:lnTo>
                  <a:pt x="471586" y="16159"/>
                </a:lnTo>
                <a:lnTo>
                  <a:pt x="427195" y="28365"/>
                </a:lnTo>
                <a:lnTo>
                  <a:pt x="384219" y="43754"/>
                </a:lnTo>
                <a:lnTo>
                  <a:pt x="342794" y="62190"/>
                </a:lnTo>
                <a:lnTo>
                  <a:pt x="303055" y="83537"/>
                </a:lnTo>
                <a:lnTo>
                  <a:pt x="265140" y="107659"/>
                </a:lnTo>
                <a:lnTo>
                  <a:pt x="229182" y="134420"/>
                </a:lnTo>
                <a:lnTo>
                  <a:pt x="195320" y="163684"/>
                </a:lnTo>
                <a:lnTo>
                  <a:pt x="163689" y="195315"/>
                </a:lnTo>
                <a:lnTo>
                  <a:pt x="134424" y="229177"/>
                </a:lnTo>
                <a:lnTo>
                  <a:pt x="107663" y="265134"/>
                </a:lnTo>
                <a:lnTo>
                  <a:pt x="83540" y="303050"/>
                </a:lnTo>
                <a:lnTo>
                  <a:pt x="62192" y="342788"/>
                </a:lnTo>
                <a:lnTo>
                  <a:pt x="43756" y="384214"/>
                </a:lnTo>
                <a:lnTo>
                  <a:pt x="28366" y="427191"/>
                </a:lnTo>
                <a:lnTo>
                  <a:pt x="16160" y="471582"/>
                </a:lnTo>
                <a:lnTo>
                  <a:pt x="7273" y="517252"/>
                </a:lnTo>
                <a:lnTo>
                  <a:pt x="1840" y="564065"/>
                </a:lnTo>
                <a:lnTo>
                  <a:pt x="0" y="611886"/>
                </a:lnTo>
                <a:lnTo>
                  <a:pt x="1840" y="659706"/>
                </a:lnTo>
                <a:lnTo>
                  <a:pt x="7273" y="706519"/>
                </a:lnTo>
                <a:lnTo>
                  <a:pt x="16160" y="752189"/>
                </a:lnTo>
                <a:lnTo>
                  <a:pt x="28366" y="796580"/>
                </a:lnTo>
                <a:lnTo>
                  <a:pt x="43756" y="839557"/>
                </a:lnTo>
                <a:lnTo>
                  <a:pt x="62192" y="880983"/>
                </a:lnTo>
                <a:lnTo>
                  <a:pt x="83540" y="920721"/>
                </a:lnTo>
                <a:lnTo>
                  <a:pt x="107663" y="958637"/>
                </a:lnTo>
                <a:lnTo>
                  <a:pt x="134424" y="994594"/>
                </a:lnTo>
                <a:lnTo>
                  <a:pt x="163689" y="1028456"/>
                </a:lnTo>
                <a:lnTo>
                  <a:pt x="195320" y="1060087"/>
                </a:lnTo>
                <a:lnTo>
                  <a:pt x="229182" y="1089351"/>
                </a:lnTo>
                <a:lnTo>
                  <a:pt x="265140" y="1116112"/>
                </a:lnTo>
                <a:lnTo>
                  <a:pt x="303055" y="1140234"/>
                </a:lnTo>
                <a:lnTo>
                  <a:pt x="342794" y="1161581"/>
                </a:lnTo>
                <a:lnTo>
                  <a:pt x="384219" y="1180017"/>
                </a:lnTo>
                <a:lnTo>
                  <a:pt x="427195" y="1195406"/>
                </a:lnTo>
                <a:lnTo>
                  <a:pt x="471586" y="1207612"/>
                </a:lnTo>
                <a:lnTo>
                  <a:pt x="517255" y="1216499"/>
                </a:lnTo>
                <a:lnTo>
                  <a:pt x="564067" y="1221931"/>
                </a:lnTo>
                <a:lnTo>
                  <a:pt x="611886" y="1223771"/>
                </a:lnTo>
                <a:lnTo>
                  <a:pt x="659704" y="1221931"/>
                </a:lnTo>
                <a:lnTo>
                  <a:pt x="706516" y="1216499"/>
                </a:lnTo>
                <a:lnTo>
                  <a:pt x="752185" y="1207612"/>
                </a:lnTo>
                <a:lnTo>
                  <a:pt x="796576" y="1195406"/>
                </a:lnTo>
                <a:lnTo>
                  <a:pt x="839552" y="1180017"/>
                </a:lnTo>
                <a:lnTo>
                  <a:pt x="880977" y="1161581"/>
                </a:lnTo>
                <a:lnTo>
                  <a:pt x="920716" y="1140234"/>
                </a:lnTo>
                <a:lnTo>
                  <a:pt x="958631" y="1116112"/>
                </a:lnTo>
                <a:lnTo>
                  <a:pt x="994589" y="1089351"/>
                </a:lnTo>
                <a:lnTo>
                  <a:pt x="1028451" y="1060087"/>
                </a:lnTo>
                <a:lnTo>
                  <a:pt x="1060082" y="1028456"/>
                </a:lnTo>
                <a:lnTo>
                  <a:pt x="1089347" y="994594"/>
                </a:lnTo>
                <a:lnTo>
                  <a:pt x="1116108" y="958637"/>
                </a:lnTo>
                <a:lnTo>
                  <a:pt x="1140231" y="920721"/>
                </a:lnTo>
                <a:lnTo>
                  <a:pt x="1161579" y="880983"/>
                </a:lnTo>
                <a:lnTo>
                  <a:pt x="1180015" y="839557"/>
                </a:lnTo>
                <a:lnTo>
                  <a:pt x="1195405" y="796580"/>
                </a:lnTo>
                <a:lnTo>
                  <a:pt x="1207611" y="752189"/>
                </a:lnTo>
                <a:lnTo>
                  <a:pt x="1216498" y="706519"/>
                </a:lnTo>
                <a:lnTo>
                  <a:pt x="1221931" y="659706"/>
                </a:lnTo>
                <a:lnTo>
                  <a:pt x="1223772" y="611886"/>
                </a:lnTo>
                <a:lnTo>
                  <a:pt x="1221931" y="564065"/>
                </a:lnTo>
                <a:lnTo>
                  <a:pt x="1216498" y="517252"/>
                </a:lnTo>
                <a:lnTo>
                  <a:pt x="1207611" y="471582"/>
                </a:lnTo>
                <a:lnTo>
                  <a:pt x="1195405" y="427191"/>
                </a:lnTo>
                <a:lnTo>
                  <a:pt x="1180015" y="384214"/>
                </a:lnTo>
                <a:lnTo>
                  <a:pt x="1161579" y="342788"/>
                </a:lnTo>
                <a:lnTo>
                  <a:pt x="1140231" y="303050"/>
                </a:lnTo>
                <a:lnTo>
                  <a:pt x="1116108" y="265134"/>
                </a:lnTo>
                <a:lnTo>
                  <a:pt x="1089347" y="229177"/>
                </a:lnTo>
                <a:lnTo>
                  <a:pt x="1060082" y="195315"/>
                </a:lnTo>
                <a:lnTo>
                  <a:pt x="1028451" y="163684"/>
                </a:lnTo>
                <a:lnTo>
                  <a:pt x="994589" y="134420"/>
                </a:lnTo>
                <a:lnTo>
                  <a:pt x="958631" y="107659"/>
                </a:lnTo>
                <a:lnTo>
                  <a:pt x="920716" y="83537"/>
                </a:lnTo>
                <a:lnTo>
                  <a:pt x="880977" y="62190"/>
                </a:lnTo>
                <a:lnTo>
                  <a:pt x="839552" y="43754"/>
                </a:lnTo>
                <a:lnTo>
                  <a:pt x="796576" y="28365"/>
                </a:lnTo>
                <a:lnTo>
                  <a:pt x="752185" y="16159"/>
                </a:lnTo>
                <a:lnTo>
                  <a:pt x="706516" y="7272"/>
                </a:lnTo>
                <a:lnTo>
                  <a:pt x="659704" y="1840"/>
                </a:lnTo>
                <a:lnTo>
                  <a:pt x="61188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0" y="611886"/>
                </a:moveTo>
                <a:lnTo>
                  <a:pt x="1840" y="564065"/>
                </a:lnTo>
                <a:lnTo>
                  <a:pt x="7273" y="517252"/>
                </a:lnTo>
                <a:lnTo>
                  <a:pt x="16160" y="471582"/>
                </a:lnTo>
                <a:lnTo>
                  <a:pt x="28366" y="427191"/>
                </a:lnTo>
                <a:lnTo>
                  <a:pt x="43756" y="384214"/>
                </a:lnTo>
                <a:lnTo>
                  <a:pt x="62192" y="342788"/>
                </a:lnTo>
                <a:lnTo>
                  <a:pt x="83540" y="303050"/>
                </a:lnTo>
                <a:lnTo>
                  <a:pt x="107663" y="265134"/>
                </a:lnTo>
                <a:lnTo>
                  <a:pt x="134424" y="229177"/>
                </a:lnTo>
                <a:lnTo>
                  <a:pt x="163689" y="195315"/>
                </a:lnTo>
                <a:lnTo>
                  <a:pt x="195320" y="163684"/>
                </a:lnTo>
                <a:lnTo>
                  <a:pt x="229182" y="134420"/>
                </a:lnTo>
                <a:lnTo>
                  <a:pt x="265140" y="107659"/>
                </a:lnTo>
                <a:lnTo>
                  <a:pt x="303055" y="83537"/>
                </a:lnTo>
                <a:lnTo>
                  <a:pt x="342794" y="62190"/>
                </a:lnTo>
                <a:lnTo>
                  <a:pt x="384219" y="43754"/>
                </a:lnTo>
                <a:lnTo>
                  <a:pt x="427195" y="28365"/>
                </a:lnTo>
                <a:lnTo>
                  <a:pt x="471586" y="16159"/>
                </a:lnTo>
                <a:lnTo>
                  <a:pt x="517255" y="7272"/>
                </a:lnTo>
                <a:lnTo>
                  <a:pt x="564067" y="1840"/>
                </a:lnTo>
                <a:lnTo>
                  <a:pt x="611886" y="0"/>
                </a:lnTo>
                <a:lnTo>
                  <a:pt x="659704" y="1840"/>
                </a:lnTo>
                <a:lnTo>
                  <a:pt x="706516" y="7272"/>
                </a:lnTo>
                <a:lnTo>
                  <a:pt x="752185" y="16159"/>
                </a:lnTo>
                <a:lnTo>
                  <a:pt x="796576" y="28365"/>
                </a:lnTo>
                <a:lnTo>
                  <a:pt x="839552" y="43754"/>
                </a:lnTo>
                <a:lnTo>
                  <a:pt x="880977" y="62190"/>
                </a:lnTo>
                <a:lnTo>
                  <a:pt x="920716" y="83537"/>
                </a:lnTo>
                <a:lnTo>
                  <a:pt x="958631" y="107659"/>
                </a:lnTo>
                <a:lnTo>
                  <a:pt x="994589" y="134420"/>
                </a:lnTo>
                <a:lnTo>
                  <a:pt x="1028451" y="163684"/>
                </a:lnTo>
                <a:lnTo>
                  <a:pt x="1060082" y="195315"/>
                </a:lnTo>
                <a:lnTo>
                  <a:pt x="1089347" y="229177"/>
                </a:lnTo>
                <a:lnTo>
                  <a:pt x="1116108" y="265134"/>
                </a:lnTo>
                <a:lnTo>
                  <a:pt x="1140231" y="303050"/>
                </a:lnTo>
                <a:lnTo>
                  <a:pt x="1161579" y="342788"/>
                </a:lnTo>
                <a:lnTo>
                  <a:pt x="1180015" y="384214"/>
                </a:lnTo>
                <a:lnTo>
                  <a:pt x="1195405" y="427191"/>
                </a:lnTo>
                <a:lnTo>
                  <a:pt x="1207611" y="471582"/>
                </a:lnTo>
                <a:lnTo>
                  <a:pt x="1216498" y="517252"/>
                </a:lnTo>
                <a:lnTo>
                  <a:pt x="1221931" y="564065"/>
                </a:lnTo>
                <a:lnTo>
                  <a:pt x="1223772" y="611886"/>
                </a:lnTo>
                <a:lnTo>
                  <a:pt x="1221931" y="659706"/>
                </a:lnTo>
                <a:lnTo>
                  <a:pt x="1216498" y="706519"/>
                </a:lnTo>
                <a:lnTo>
                  <a:pt x="1207611" y="752189"/>
                </a:lnTo>
                <a:lnTo>
                  <a:pt x="1195405" y="796580"/>
                </a:lnTo>
                <a:lnTo>
                  <a:pt x="1180015" y="839557"/>
                </a:lnTo>
                <a:lnTo>
                  <a:pt x="1161579" y="880983"/>
                </a:lnTo>
                <a:lnTo>
                  <a:pt x="1140231" y="920721"/>
                </a:lnTo>
                <a:lnTo>
                  <a:pt x="1116108" y="958637"/>
                </a:lnTo>
                <a:lnTo>
                  <a:pt x="1089347" y="994594"/>
                </a:lnTo>
                <a:lnTo>
                  <a:pt x="1060082" y="1028456"/>
                </a:lnTo>
                <a:lnTo>
                  <a:pt x="1028451" y="1060087"/>
                </a:lnTo>
                <a:lnTo>
                  <a:pt x="994589" y="1089351"/>
                </a:lnTo>
                <a:lnTo>
                  <a:pt x="958631" y="1116112"/>
                </a:lnTo>
                <a:lnTo>
                  <a:pt x="920716" y="1140234"/>
                </a:lnTo>
                <a:lnTo>
                  <a:pt x="880977" y="1161581"/>
                </a:lnTo>
                <a:lnTo>
                  <a:pt x="839552" y="1180017"/>
                </a:lnTo>
                <a:lnTo>
                  <a:pt x="796576" y="1195406"/>
                </a:lnTo>
                <a:lnTo>
                  <a:pt x="752185" y="1207612"/>
                </a:lnTo>
                <a:lnTo>
                  <a:pt x="706516" y="1216499"/>
                </a:lnTo>
                <a:lnTo>
                  <a:pt x="659704" y="1221931"/>
                </a:lnTo>
                <a:lnTo>
                  <a:pt x="611886" y="1223771"/>
                </a:lnTo>
                <a:lnTo>
                  <a:pt x="564067" y="1221931"/>
                </a:lnTo>
                <a:lnTo>
                  <a:pt x="517255" y="1216499"/>
                </a:lnTo>
                <a:lnTo>
                  <a:pt x="471586" y="1207612"/>
                </a:lnTo>
                <a:lnTo>
                  <a:pt x="427195" y="1195406"/>
                </a:lnTo>
                <a:lnTo>
                  <a:pt x="384219" y="1180017"/>
                </a:lnTo>
                <a:lnTo>
                  <a:pt x="342794" y="1161581"/>
                </a:lnTo>
                <a:lnTo>
                  <a:pt x="303055" y="1140234"/>
                </a:lnTo>
                <a:lnTo>
                  <a:pt x="265140" y="1116112"/>
                </a:lnTo>
                <a:lnTo>
                  <a:pt x="229182" y="1089351"/>
                </a:lnTo>
                <a:lnTo>
                  <a:pt x="195320" y="1060087"/>
                </a:lnTo>
                <a:lnTo>
                  <a:pt x="163689" y="1028456"/>
                </a:lnTo>
                <a:lnTo>
                  <a:pt x="134424" y="994594"/>
                </a:lnTo>
                <a:lnTo>
                  <a:pt x="107663" y="958637"/>
                </a:lnTo>
                <a:lnTo>
                  <a:pt x="83540" y="920721"/>
                </a:lnTo>
                <a:lnTo>
                  <a:pt x="62192" y="880983"/>
                </a:lnTo>
                <a:lnTo>
                  <a:pt x="43756" y="839557"/>
                </a:lnTo>
                <a:lnTo>
                  <a:pt x="28366" y="796580"/>
                </a:lnTo>
                <a:lnTo>
                  <a:pt x="16160" y="752189"/>
                </a:lnTo>
                <a:lnTo>
                  <a:pt x="7273" y="706519"/>
                </a:lnTo>
                <a:lnTo>
                  <a:pt x="1840" y="659706"/>
                </a:lnTo>
                <a:lnTo>
                  <a:pt x="0" y="611886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6531" y="3034283"/>
            <a:ext cx="775970" cy="730250"/>
          </a:xfrm>
          <a:custGeom>
            <a:avLst/>
            <a:gdLst/>
            <a:ahLst/>
            <a:cxnLst/>
            <a:rect l="l" t="t" r="r" b="b"/>
            <a:pathLst>
              <a:path w="775969" h="730250">
                <a:moveTo>
                  <a:pt x="143941" y="0"/>
                </a:moveTo>
                <a:lnTo>
                  <a:pt x="111206" y="5772"/>
                </a:lnTo>
                <a:lnTo>
                  <a:pt x="85969" y="22082"/>
                </a:lnTo>
                <a:lnTo>
                  <a:pt x="69728" y="47416"/>
                </a:lnTo>
                <a:lnTo>
                  <a:pt x="63982" y="80263"/>
                </a:lnTo>
                <a:lnTo>
                  <a:pt x="69728" y="113091"/>
                </a:lnTo>
                <a:lnTo>
                  <a:pt x="85969" y="138382"/>
                </a:lnTo>
                <a:lnTo>
                  <a:pt x="111206" y="154648"/>
                </a:lnTo>
                <a:lnTo>
                  <a:pt x="143941" y="160400"/>
                </a:lnTo>
                <a:lnTo>
                  <a:pt x="176684" y="154648"/>
                </a:lnTo>
                <a:lnTo>
                  <a:pt x="201925" y="138382"/>
                </a:lnTo>
                <a:lnTo>
                  <a:pt x="218167" y="113091"/>
                </a:lnTo>
                <a:lnTo>
                  <a:pt x="223913" y="80263"/>
                </a:lnTo>
                <a:lnTo>
                  <a:pt x="218167" y="47416"/>
                </a:lnTo>
                <a:lnTo>
                  <a:pt x="201925" y="22082"/>
                </a:lnTo>
                <a:lnTo>
                  <a:pt x="176684" y="5772"/>
                </a:lnTo>
                <a:lnTo>
                  <a:pt x="143941" y="0"/>
                </a:lnTo>
                <a:close/>
              </a:path>
              <a:path w="775969" h="730250">
                <a:moveTo>
                  <a:pt x="127952" y="184530"/>
                </a:moveTo>
                <a:lnTo>
                  <a:pt x="39979" y="184530"/>
                </a:lnTo>
                <a:lnTo>
                  <a:pt x="0" y="401065"/>
                </a:lnTo>
                <a:lnTo>
                  <a:pt x="55981" y="441198"/>
                </a:lnTo>
                <a:lnTo>
                  <a:pt x="39979" y="729995"/>
                </a:lnTo>
                <a:lnTo>
                  <a:pt x="111963" y="729995"/>
                </a:lnTo>
                <a:lnTo>
                  <a:pt x="127952" y="481329"/>
                </a:lnTo>
                <a:lnTo>
                  <a:pt x="234136" y="481329"/>
                </a:lnTo>
                <a:lnTo>
                  <a:pt x="231914" y="441198"/>
                </a:lnTo>
                <a:lnTo>
                  <a:pt x="229007" y="377063"/>
                </a:lnTo>
                <a:lnTo>
                  <a:pt x="143941" y="377063"/>
                </a:lnTo>
                <a:lnTo>
                  <a:pt x="111963" y="344931"/>
                </a:lnTo>
                <a:lnTo>
                  <a:pt x="127952" y="216535"/>
                </a:lnTo>
                <a:lnTo>
                  <a:pt x="119951" y="192531"/>
                </a:lnTo>
                <a:lnTo>
                  <a:pt x="127952" y="184530"/>
                </a:lnTo>
                <a:close/>
              </a:path>
              <a:path w="775969" h="730250">
                <a:moveTo>
                  <a:pt x="234136" y="481329"/>
                </a:moveTo>
                <a:lnTo>
                  <a:pt x="159943" y="481329"/>
                </a:lnTo>
                <a:lnTo>
                  <a:pt x="175933" y="729995"/>
                </a:lnTo>
                <a:lnTo>
                  <a:pt x="247904" y="729995"/>
                </a:lnTo>
                <a:lnTo>
                  <a:pt x="234136" y="481329"/>
                </a:lnTo>
                <a:close/>
              </a:path>
              <a:path w="775969" h="730250">
                <a:moveTo>
                  <a:pt x="591781" y="689863"/>
                </a:moveTo>
                <a:lnTo>
                  <a:pt x="343877" y="689863"/>
                </a:lnTo>
                <a:lnTo>
                  <a:pt x="343877" y="729995"/>
                </a:lnTo>
                <a:lnTo>
                  <a:pt x="591781" y="729995"/>
                </a:lnTo>
                <a:lnTo>
                  <a:pt x="591781" y="689863"/>
                </a:lnTo>
                <a:close/>
              </a:path>
              <a:path w="775969" h="730250">
                <a:moveTo>
                  <a:pt x="503821" y="545464"/>
                </a:moveTo>
                <a:lnTo>
                  <a:pt x="431838" y="545464"/>
                </a:lnTo>
                <a:lnTo>
                  <a:pt x="431838" y="673861"/>
                </a:lnTo>
                <a:lnTo>
                  <a:pt x="503821" y="673861"/>
                </a:lnTo>
                <a:lnTo>
                  <a:pt x="503821" y="545464"/>
                </a:lnTo>
                <a:close/>
              </a:path>
              <a:path w="775969" h="730250">
                <a:moveTo>
                  <a:pt x="775716" y="24002"/>
                </a:moveTo>
                <a:lnTo>
                  <a:pt x="271894" y="24002"/>
                </a:lnTo>
                <a:lnTo>
                  <a:pt x="271894" y="72136"/>
                </a:lnTo>
                <a:lnTo>
                  <a:pt x="719734" y="72136"/>
                </a:lnTo>
                <a:lnTo>
                  <a:pt x="719734" y="489330"/>
                </a:lnTo>
                <a:lnTo>
                  <a:pt x="287896" y="489330"/>
                </a:lnTo>
                <a:lnTo>
                  <a:pt x="287896" y="545464"/>
                </a:lnTo>
                <a:lnTo>
                  <a:pt x="775716" y="545464"/>
                </a:lnTo>
                <a:lnTo>
                  <a:pt x="775716" y="24002"/>
                </a:lnTo>
                <a:close/>
              </a:path>
              <a:path w="775969" h="730250">
                <a:moveTo>
                  <a:pt x="457669" y="360933"/>
                </a:moveTo>
                <a:lnTo>
                  <a:pt x="407847" y="360933"/>
                </a:lnTo>
                <a:lnTo>
                  <a:pt x="471830" y="401065"/>
                </a:lnTo>
                <a:lnTo>
                  <a:pt x="487819" y="409066"/>
                </a:lnTo>
                <a:lnTo>
                  <a:pt x="487819" y="393064"/>
                </a:lnTo>
                <a:lnTo>
                  <a:pt x="496789" y="369062"/>
                </a:lnTo>
                <a:lnTo>
                  <a:pt x="471830" y="369062"/>
                </a:lnTo>
                <a:lnTo>
                  <a:pt x="457669" y="360933"/>
                </a:lnTo>
                <a:close/>
              </a:path>
              <a:path w="775969" h="730250">
                <a:moveTo>
                  <a:pt x="407847" y="328929"/>
                </a:moveTo>
                <a:lnTo>
                  <a:pt x="399859" y="336930"/>
                </a:lnTo>
                <a:lnTo>
                  <a:pt x="327875" y="360933"/>
                </a:lnTo>
                <a:lnTo>
                  <a:pt x="335876" y="385063"/>
                </a:lnTo>
                <a:lnTo>
                  <a:pt x="407847" y="360933"/>
                </a:lnTo>
                <a:lnTo>
                  <a:pt x="457669" y="360933"/>
                </a:lnTo>
                <a:lnTo>
                  <a:pt x="415848" y="336930"/>
                </a:lnTo>
                <a:lnTo>
                  <a:pt x="407847" y="328929"/>
                </a:lnTo>
                <a:close/>
              </a:path>
              <a:path w="775969" h="730250">
                <a:moveTo>
                  <a:pt x="239915" y="184530"/>
                </a:moveTo>
                <a:lnTo>
                  <a:pt x="159943" y="184530"/>
                </a:lnTo>
                <a:lnTo>
                  <a:pt x="159943" y="192531"/>
                </a:lnTo>
                <a:lnTo>
                  <a:pt x="151942" y="216535"/>
                </a:lnTo>
                <a:lnTo>
                  <a:pt x="175933" y="344931"/>
                </a:lnTo>
                <a:lnTo>
                  <a:pt x="143941" y="377063"/>
                </a:lnTo>
                <a:lnTo>
                  <a:pt x="229007" y="377063"/>
                </a:lnTo>
                <a:lnTo>
                  <a:pt x="223913" y="264667"/>
                </a:lnTo>
                <a:lnTo>
                  <a:pt x="399859" y="256666"/>
                </a:lnTo>
                <a:lnTo>
                  <a:pt x="439839" y="192531"/>
                </a:lnTo>
                <a:lnTo>
                  <a:pt x="239915" y="184530"/>
                </a:lnTo>
                <a:close/>
              </a:path>
              <a:path w="775969" h="730250">
                <a:moveTo>
                  <a:pt x="527812" y="216535"/>
                </a:moveTo>
                <a:lnTo>
                  <a:pt x="519811" y="232663"/>
                </a:lnTo>
                <a:lnTo>
                  <a:pt x="471830" y="369062"/>
                </a:lnTo>
                <a:lnTo>
                  <a:pt x="496789" y="369062"/>
                </a:lnTo>
                <a:lnTo>
                  <a:pt x="535800" y="264667"/>
                </a:lnTo>
                <a:lnTo>
                  <a:pt x="574063" y="264667"/>
                </a:lnTo>
                <a:lnTo>
                  <a:pt x="535800" y="232663"/>
                </a:lnTo>
                <a:lnTo>
                  <a:pt x="527812" y="216535"/>
                </a:lnTo>
                <a:close/>
              </a:path>
              <a:path w="775969" h="730250">
                <a:moveTo>
                  <a:pt x="574063" y="264667"/>
                </a:moveTo>
                <a:lnTo>
                  <a:pt x="535800" y="264667"/>
                </a:lnTo>
                <a:lnTo>
                  <a:pt x="575792" y="304800"/>
                </a:lnTo>
                <a:lnTo>
                  <a:pt x="583780" y="320928"/>
                </a:lnTo>
                <a:lnTo>
                  <a:pt x="599782" y="304800"/>
                </a:lnTo>
                <a:lnTo>
                  <a:pt x="616805" y="272795"/>
                </a:lnTo>
                <a:lnTo>
                  <a:pt x="583780" y="272795"/>
                </a:lnTo>
                <a:lnTo>
                  <a:pt x="574063" y="264667"/>
                </a:lnTo>
                <a:close/>
              </a:path>
              <a:path w="775969" h="730250">
                <a:moveTo>
                  <a:pt x="647763" y="168401"/>
                </a:moveTo>
                <a:lnTo>
                  <a:pt x="583780" y="272795"/>
                </a:lnTo>
                <a:lnTo>
                  <a:pt x="616805" y="272795"/>
                </a:lnTo>
                <a:lnTo>
                  <a:pt x="663752" y="184530"/>
                </a:lnTo>
                <a:lnTo>
                  <a:pt x="647763" y="1684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238593"/>
          <p:cNvSpPr>
            <a:spLocks noGrp="1"/>
          </p:cNvSpPr>
          <p:nvPr>
            <p:ph type="title"/>
          </p:nvPr>
        </p:nvSpPr>
        <p:spPr>
          <a:xfrm>
            <a:off x="1557973" y="230188"/>
            <a:ext cx="7219950" cy="738505"/>
          </a:xfrm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zh-CN" altLang="en-US" sz="6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目  录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122" name="文本占位符 238594"/>
          <p:cNvSpPr>
            <a:spLocks noGrp="1"/>
          </p:cNvSpPr>
          <p:nvPr>
            <p:ph idx="1"/>
          </p:nvPr>
        </p:nvSpPr>
        <p:spPr>
          <a:xfrm>
            <a:off x="1015057" y="1219200"/>
            <a:ext cx="7696200" cy="4679950"/>
          </a:xfrm>
        </p:spPr>
        <p:txBody>
          <a:bodyPr anchor="t"/>
          <a:lstStyle/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latin typeface="宋体" panose="02010600030101010101" pitchFamily="2" charset="-122"/>
              </a:rPr>
              <a:t>第一章   微机基础知识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 第二章   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单片机的结构和原理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第三章   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指令系统</a:t>
            </a:r>
            <a:endParaRPr lang="zh-CN" altLang="en-US" sz="2600" b="1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 第四章   汇编语言程序设计知识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第五章   中断系统</a:t>
            </a:r>
            <a:endParaRPr lang="zh-CN" altLang="en-US" sz="2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第六章   定时器及应用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第七章   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串行口及通信技术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rgbClr val="FF3300"/>
                </a:solidFill>
                <a:latin typeface="宋体" panose="02010600030101010101" pitchFamily="2" charset="-122"/>
              </a:rPr>
              <a:t>  第八章   单片机小系统及片外扩展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第九章   应用系统配置及接口技术</a:t>
            </a:r>
            <a:endParaRPr lang="en-US" altLang="zh-CN" sz="2600" b="1" dirty="0"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en-US" altLang="zh-CN" sz="2600" b="1" dirty="0"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latin typeface="宋体" panose="02010600030101010101" pitchFamily="2" charset="-122"/>
              </a:rPr>
              <a:t>第十章   系统实用程序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4630" y="369570"/>
            <a:ext cx="4657090" cy="738505"/>
          </a:xfrm>
        </p:spPr>
        <p:txBody>
          <a:bodyPr wrap="square"/>
          <a:lstStyle/>
          <a:p>
            <a:r>
              <a:rPr lang="en-US" altLang="zh-CN" kern="1200" dirty="0">
                <a:solidFill>
                  <a:srgbClr val="CA3112"/>
                </a:solidFill>
                <a:latin typeface="+mj-lt"/>
                <a:cs typeface="+mj-cs"/>
                <a:sym typeface="+mn-ea"/>
              </a:rPr>
              <a:t>8.1  </a:t>
            </a:r>
            <a:r>
              <a:rPr lang="zh-CN" altLang="en-US" kern="1200" dirty="0">
                <a:solidFill>
                  <a:srgbClr val="CA3112"/>
                </a:solidFill>
                <a:latin typeface="+mj-lt"/>
                <a:cs typeface="+mj-cs"/>
                <a:sym typeface="+mn-ea"/>
              </a:rPr>
              <a:t>串行扩展总线接口技术</a:t>
            </a:r>
            <a:br>
              <a:rPr kumimoji="0" lang="zh-CN" altLang="en-US" b="1" i="0" strike="noStrike" kern="1200" cap="none" spc="0" normalizeH="0" baseline="0" noProof="1">
                <a:solidFill>
                  <a:srgbClr val="CA3112"/>
                </a:solidFill>
                <a:latin typeface="+mj-lt"/>
                <a:cs typeface="+mj-cs"/>
              </a:rPr>
            </a:br>
            <a:endParaRPr lang="zh-CN" altLang="en-US" dirty="0"/>
          </a:p>
        </p:txBody>
      </p:sp>
      <p:sp>
        <p:nvSpPr>
          <p:cNvPr id="6155" name="文本占位符 6154"/>
          <p:cNvSpPr>
            <a:spLocks noGrp="1" noRot="1"/>
          </p:cNvSpPr>
          <p:nvPr>
            <p:ph idx="1"/>
          </p:nvPr>
        </p:nvSpPr>
        <p:spPr>
          <a:xfrm>
            <a:off x="631825" y="1345565"/>
            <a:ext cx="7983855" cy="3545205"/>
          </a:xfrm>
        </p:spPr>
        <p:txBody>
          <a:bodyPr wrap="square"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SzPct val="70000"/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根据需要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,89C51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可以进行功能扩展。</a:t>
            </a:r>
            <a:endParaRPr lang="zh-CN" altLang="en-US" sz="2400" u="none" noProof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SzPct val="70000"/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扩展应尽量采用串行扩展方案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占用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MCU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I/O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口线少，编程也方便。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</a:rPr>
              <a:t>89C51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芯片自身具有</a:t>
            </a:r>
            <a:r>
              <a:rPr kumimoji="0" lang="en-US" altLang="zh-CN" sz="2400" i="0" u="none" strike="noStrike" kern="1200" cap="none" spc="0" normalizeH="0" baseline="0" noProof="1">
                <a:solidFill>
                  <a:srgbClr val="CA3112"/>
                </a:solidFill>
              </a:rPr>
              <a:t>UART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可用于串行扩展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</a:rPr>
              <a:t>I/O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口线。</a:t>
            </a: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还可利用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</a:rPr>
              <a:t>89C51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的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</a:rPr>
              <a:t>3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～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</a:rPr>
              <a:t>4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根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</a:rPr>
              <a:t>I/O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口线进行</a:t>
            </a:r>
            <a:r>
              <a:rPr kumimoji="0" lang="en-US" altLang="zh-CN" sz="2400" i="0" u="none" strike="noStrike" kern="1200" cap="none" spc="0" normalizeH="0" baseline="0" noProof="1">
                <a:solidFill>
                  <a:srgbClr val="CA3112"/>
                </a:solidFill>
              </a:rPr>
              <a:t>SPI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或</a:t>
            </a:r>
            <a:r>
              <a:rPr kumimoji="0" lang="en-US" altLang="zh-CN" sz="2400" i="0" u="none" strike="noStrike" kern="1200" cap="none" spc="0" normalizeH="0" baseline="0" noProof="1">
                <a:solidFill>
                  <a:srgbClr val="CA3112"/>
                </a:solidFill>
              </a:rPr>
              <a:t>I</a:t>
            </a:r>
            <a:r>
              <a:rPr kumimoji="0" lang="en-US" altLang="zh-CN" sz="2400" i="0" u="none" strike="noStrike" kern="1200" cap="none" spc="0" normalizeH="0" baseline="30000" noProof="1">
                <a:solidFill>
                  <a:srgbClr val="CA3112"/>
                </a:solidFill>
              </a:rPr>
              <a:t>2</a:t>
            </a:r>
            <a:r>
              <a:rPr kumimoji="0" lang="en-US" altLang="zh-CN" sz="2400" i="0" u="none" strike="noStrike" kern="1200" cap="none" spc="0" normalizeH="0" baseline="0" noProof="1">
                <a:solidFill>
                  <a:srgbClr val="CA3112"/>
                </a:solidFill>
              </a:rPr>
              <a:t>C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串行总线的外设芯片扩展，以及</a:t>
            </a:r>
            <a:r>
              <a:rPr kumimoji="0" lang="zh-CN" altLang="en-US" sz="2400" i="0" u="none" strike="noStrike" kern="1200" cap="none" spc="0" normalizeH="0" baseline="0" noProof="1">
                <a:solidFill>
                  <a:srgbClr val="CA3112"/>
                </a:solidFill>
              </a:rPr>
              <a:t>单总线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</a:rPr>
              <a:t>的扩展。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9" name="标题 8208"/>
          <p:cNvSpPr>
            <a:spLocks noGrp="1" noRot="1"/>
          </p:cNvSpPr>
          <p:nvPr/>
        </p:nvSpPr>
        <p:spPr>
          <a:xfrm>
            <a:off x="250825" y="278092"/>
            <a:ext cx="8229600" cy="57252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         8.1.1   </a:t>
            </a:r>
            <a:r>
              <a:rPr kumimoji="0" lang="en-US" altLang="zh-CN" sz="2800" b="1" i="0" strike="noStrike" kern="1200" cap="none" spc="0" normalizeH="0" baseline="0" noProof="1">
                <a:solidFill>
                  <a:srgbClr val="CA3112"/>
                </a:solidFill>
                <a:latin typeface="+mj-lt"/>
                <a:ea typeface="+mj-ea"/>
                <a:cs typeface="+mj-cs"/>
              </a:rPr>
              <a:t>SPI</a:t>
            </a:r>
            <a:r>
              <a:rPr kumimoji="0" lang="zh-CN" altLang="en-US" sz="2800" b="1" i="0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串行外设接口总线</a:t>
            </a:r>
          </a:p>
        </p:txBody>
      </p:sp>
      <p:sp>
        <p:nvSpPr>
          <p:cNvPr id="8210" name="文本占位符 8209"/>
          <p:cNvSpPr>
            <a:spLocks noGrp="1" noRot="1"/>
          </p:cNvSpPr>
          <p:nvPr>
            <p:ph idx="1"/>
          </p:nvPr>
        </p:nvSpPr>
        <p:spPr>
          <a:xfrm>
            <a:off x="454025" y="1032510"/>
            <a:ext cx="3745230" cy="1744345"/>
          </a:xfrm>
          <a:ln>
            <a:solidFill>
              <a:schemeClr val="accent1"/>
            </a:solidFill>
          </a:ln>
        </p:spPr>
        <p:txBody>
          <a:bodyPr wrap="square"/>
          <a:lstStyle/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kumimoji="0" lang="en-US" altLang="zh-CN" sz="1400" i="0" u="none" strike="noStrike" kern="1200" cap="none" spc="0" normalizeH="0" baseline="0" noProof="1">
                <a:solidFill>
                  <a:srgbClr val="CA3112"/>
                </a:solidFill>
              </a:rPr>
              <a:t>SPI (Serial Peripheral Interface</a:t>
            </a:r>
            <a:r>
              <a:rPr kumimoji="0" lang="zh-CN" altLang="en-US" sz="1400" i="0" u="none" strike="noStrike" kern="1200" cap="none" spc="0" normalizeH="0" baseline="0" noProof="1">
                <a:solidFill>
                  <a:srgbClr val="CA3112"/>
                </a:solidFill>
              </a:rPr>
              <a:t>）</a:t>
            </a: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0" lang="zh-CN" altLang="en-US" sz="1400" i="0" u="none" strike="noStrike" kern="1200" cap="none" spc="0" normalizeH="0" baseline="0" noProof="1">
                <a:solidFill>
                  <a:schemeClr val="tx1"/>
                </a:solidFill>
              </a:rPr>
              <a:t>   </a:t>
            </a:r>
            <a:r>
              <a:rPr lang="en-US" altLang="zh-CN" sz="1400" kern="1200" dirty="0">
                <a:solidFill>
                  <a:schemeClr val="tx1"/>
                </a:solidFill>
                <a:sym typeface="+mn-ea"/>
              </a:rPr>
              <a:t>Motorola</a:t>
            </a:r>
            <a:r>
              <a:rPr lang="zh-CN" altLang="en-US" sz="1400" kern="1200" dirty="0">
                <a:solidFill>
                  <a:schemeClr val="tx1"/>
                </a:solidFill>
                <a:sym typeface="+mn-ea"/>
              </a:rPr>
              <a:t>公司推出的</a:t>
            </a:r>
            <a:r>
              <a:rPr lang="zh-CN" altLang="en-US" sz="1400" kern="1200" dirty="0">
                <a:solidFill>
                  <a:srgbClr val="FF0000"/>
                </a:solidFill>
                <a:sym typeface="+mn-ea"/>
              </a:rPr>
              <a:t>同步串行外设接口总线</a:t>
            </a:r>
            <a:endParaRPr kumimoji="0" lang="zh-CN" altLang="en-US" sz="1400" i="0" u="none" strike="noStrike" kern="1200" cap="none" spc="0" normalizeH="0" baseline="0" noProof="1">
              <a:solidFill>
                <a:srgbClr val="FF0000"/>
              </a:solidFill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kern="1200" dirty="0">
                <a:solidFill>
                  <a:schemeClr val="tx1"/>
                </a:solidFill>
                <a:sym typeface="+mn-ea"/>
              </a:rPr>
              <a:t>用于</a:t>
            </a:r>
            <a:r>
              <a:rPr lang="en-US" altLang="zh-CN" sz="1400" kern="1200" dirty="0">
                <a:solidFill>
                  <a:schemeClr val="tx1"/>
                </a:solidFill>
                <a:sym typeface="+mn-ea"/>
              </a:rPr>
              <a:t>MCU</a:t>
            </a:r>
            <a:r>
              <a:rPr lang="zh-CN" altLang="en-US" sz="1400" kern="1200" dirty="0">
                <a:solidFill>
                  <a:schemeClr val="tx1"/>
                </a:solidFill>
                <a:sym typeface="+mn-ea"/>
              </a:rPr>
              <a:t>与各种外围设备以串行方式进行通信</a:t>
            </a:r>
            <a:endParaRPr kumimoji="0" lang="zh-CN" altLang="en-US" sz="1400" i="0" u="none" strike="noStrike" kern="1200" cap="none" spc="0" normalizeH="0" baseline="0" noProof="1">
              <a:solidFill>
                <a:schemeClr val="tx1"/>
              </a:solidFill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kern="1200" dirty="0">
                <a:solidFill>
                  <a:schemeClr val="tx1"/>
                </a:solidFill>
                <a:sym typeface="+mn-ea"/>
              </a:rPr>
              <a:t>系统可配置为主或从操作模式；</a:t>
            </a:r>
            <a:endParaRPr kumimoji="0" lang="zh-CN" altLang="en-US" sz="1400" i="0" u="none" strike="noStrike" kern="1200" cap="none" spc="0" normalizeH="0" baseline="0" noProof="1">
              <a:solidFill>
                <a:schemeClr val="tx1"/>
              </a:solidFill>
            </a:endParaRPr>
          </a:p>
        </p:txBody>
      </p:sp>
      <p:sp>
        <p:nvSpPr>
          <p:cNvPr id="8211" name="矩形 8210"/>
          <p:cNvSpPr/>
          <p:nvPr/>
        </p:nvSpPr>
        <p:spPr>
          <a:xfrm>
            <a:off x="4352925" y="1032510"/>
            <a:ext cx="4504690" cy="221932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lnSpc>
                <a:spcPct val="150000"/>
              </a:lnSpc>
            </a:pPr>
            <a:r>
              <a:rPr lang="zh-CN" altLang="en-US" sz="1400" strike="noStrike" noProof="1"/>
              <a:t>可直接与标准外围器件以串行方式直接接口，只需</a:t>
            </a:r>
            <a:r>
              <a:rPr lang="en-US" altLang="zh-CN" sz="1400" strike="noStrike" noProof="1"/>
              <a:t>4</a:t>
            </a:r>
            <a:r>
              <a:rPr lang="zh-CN" altLang="en-US" sz="1400" strike="noStrike" noProof="1"/>
              <a:t>条线：串行时钟线（</a:t>
            </a:r>
            <a:r>
              <a:rPr lang="en-US" altLang="zh-CN" sz="1400" strike="noStrike" noProof="1">
                <a:solidFill>
                  <a:srgbClr val="DA0702"/>
                </a:solidFill>
              </a:rPr>
              <a:t>SCK</a:t>
            </a:r>
            <a:r>
              <a:rPr lang="zh-CN" altLang="en-US" sz="1400" strike="noStrike" noProof="1"/>
              <a:t>）、</a:t>
            </a:r>
          </a:p>
          <a:p>
            <a:pPr lvl="0" fontAlgn="base">
              <a:lnSpc>
                <a:spcPct val="150000"/>
              </a:lnSpc>
              <a:buNone/>
            </a:pPr>
            <a:r>
              <a:rPr lang="zh-CN" altLang="en-US" sz="1400" strike="noStrike" noProof="1"/>
              <a:t>                      主机输入</a:t>
            </a:r>
            <a:r>
              <a:rPr lang="en-US" altLang="zh-CN" sz="1400" strike="noStrike" noProof="1"/>
              <a:t>/</a:t>
            </a:r>
            <a:r>
              <a:rPr lang="zh-CN" altLang="en-US" sz="1400" strike="noStrike" noProof="1"/>
              <a:t>从机输出数据线 </a:t>
            </a:r>
            <a:r>
              <a:rPr lang="en-US" altLang="zh-CN" sz="1400" strike="noStrike" noProof="1">
                <a:solidFill>
                  <a:srgbClr val="DA0702"/>
                </a:solidFill>
              </a:rPr>
              <a:t>MISO</a:t>
            </a:r>
          </a:p>
          <a:p>
            <a:pPr lvl="0" fontAlgn="base">
              <a:lnSpc>
                <a:spcPct val="150000"/>
              </a:lnSpc>
              <a:buNone/>
            </a:pPr>
            <a:r>
              <a:rPr lang="en-US" altLang="zh-CN" sz="1400" strike="noStrike" noProof="1"/>
              <a:t>                      </a:t>
            </a:r>
            <a:r>
              <a:rPr lang="zh-CN" altLang="en-US" sz="1400" strike="noStrike" noProof="1"/>
              <a:t>主机输出</a:t>
            </a:r>
            <a:r>
              <a:rPr lang="en-US" altLang="zh-CN" sz="1400" strike="noStrike" noProof="1"/>
              <a:t>/</a:t>
            </a:r>
            <a:r>
              <a:rPr lang="zh-CN" altLang="en-US" sz="1400" strike="noStrike" noProof="1"/>
              <a:t>从机输入数据线</a:t>
            </a:r>
            <a:r>
              <a:rPr lang="zh-CN" altLang="en-US" sz="1400" strike="noStrike" noProof="1">
                <a:solidFill>
                  <a:srgbClr val="DA0702"/>
                </a:solidFill>
              </a:rPr>
              <a:t> </a:t>
            </a:r>
            <a:r>
              <a:rPr lang="en-US" altLang="zh-CN" sz="1400" strike="noStrike" noProof="1">
                <a:solidFill>
                  <a:srgbClr val="DA0702"/>
                </a:solidFill>
              </a:rPr>
              <a:t>MOSI</a:t>
            </a:r>
          </a:p>
          <a:p>
            <a:pPr lvl="0" fontAlgn="base">
              <a:lnSpc>
                <a:spcPct val="150000"/>
              </a:lnSpc>
              <a:buNone/>
            </a:pPr>
            <a:r>
              <a:rPr lang="en-US" altLang="zh-CN" sz="1400" strike="noStrike" noProof="1"/>
              <a:t>                      </a:t>
            </a:r>
            <a:r>
              <a:rPr lang="zh-CN" altLang="en-US" sz="1400" strike="noStrike" noProof="1"/>
              <a:t>低电平有效的从机选择线</a:t>
            </a:r>
            <a:r>
              <a:rPr lang="en-US" altLang="zh-CN" sz="1400" strike="noStrike" noProof="1">
                <a:solidFill>
                  <a:srgbClr val="DA0702"/>
                </a:solidFill>
                <a:sym typeface="+mn-ea"/>
              </a:rPr>
              <a:t>/</a:t>
            </a:r>
            <a:r>
              <a:rPr lang="en-US" altLang="zh-CN" sz="1400" strike="noStrike" noProof="1">
                <a:solidFill>
                  <a:srgbClr val="DA0702"/>
                </a:solidFill>
              </a:rPr>
              <a:t>CS</a:t>
            </a:r>
            <a:r>
              <a:rPr lang="en-US" altLang="zh-CN" sz="1400" strike="noStrike" noProof="1"/>
              <a:t>(</a:t>
            </a:r>
            <a:r>
              <a:rPr lang="en-US" altLang="zh-CN" sz="1400" strike="noStrike" noProof="1">
                <a:solidFill>
                  <a:srgbClr val="DA0702"/>
                </a:solidFill>
                <a:sym typeface="+mn-ea"/>
              </a:rPr>
              <a:t>/</a:t>
            </a:r>
            <a:r>
              <a:rPr lang="en-US" altLang="zh-CN" sz="1400" strike="noStrike" noProof="1">
                <a:solidFill>
                  <a:srgbClr val="DA0702"/>
                </a:solidFill>
              </a:rPr>
              <a:t>SS</a:t>
            </a:r>
            <a:r>
              <a:rPr lang="zh-CN" altLang="en-US" sz="1400" strike="noStrike" noProof="1"/>
              <a:t>）</a:t>
            </a:r>
          </a:p>
          <a:p>
            <a:pPr lvl="0" fontAlgn="base">
              <a:lnSpc>
                <a:spcPct val="150000"/>
              </a:lnSpc>
            </a:pPr>
            <a:r>
              <a:rPr lang="zh-CN" altLang="en-US" sz="1400" strike="noStrike" noProof="1"/>
              <a:t>简化电路设计，提高了设计的可靠性。</a:t>
            </a:r>
          </a:p>
        </p:txBody>
      </p:sp>
      <p:pic>
        <p:nvPicPr>
          <p:cNvPr id="30723" name="图片 12297" descr="08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65" y="3465830"/>
            <a:ext cx="5517515" cy="261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5" name="文本框 13327"/>
          <p:cNvSpPr txBox="1"/>
          <p:nvPr/>
        </p:nvSpPr>
        <p:spPr>
          <a:xfrm>
            <a:off x="454025" y="2990215"/>
            <a:ext cx="2685415" cy="34880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时钟线</a:t>
            </a:r>
            <a:r>
              <a:rPr lang="en-US" altLang="zh-CN" sz="1200" u="none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、数据线</a:t>
            </a:r>
            <a:r>
              <a:rPr lang="en-US" altLang="zh-CN" sz="1200" u="none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MOSI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1200" u="none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MISO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都是</a:t>
            </a:r>
            <a:r>
              <a:rPr lang="zh-CN" altLang="en-US" sz="1200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同名端相连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 外围器件有片选端</a:t>
            </a:r>
            <a:r>
              <a:rPr lang="en-US" altLang="zh-CN" sz="1200" u="none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en-US" altLang="zh-CN" sz="1200" u="none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。单片机通过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口线来分时选通外围器件。</a:t>
            </a:r>
          </a:p>
          <a:p>
            <a:pPr>
              <a:lnSpc>
                <a:spcPct val="150000"/>
              </a:lnSpc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 有多个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SPI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接口的单片机时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应区别其主从地位，某一时刻只能一个主器件。</a:t>
            </a:r>
          </a:p>
          <a:p>
            <a:pPr>
              <a:lnSpc>
                <a:spcPct val="150000"/>
              </a:lnSpc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SPI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有较高的数据传送速度，主机方式最高速率可达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1.05 Mb/s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  在大多数应用场合中，使用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MCU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作为主机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控制数据向</a:t>
            </a:r>
            <a:r>
              <a:rPr lang="en-US" altLang="zh-CN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200" u="none" dirty="0">
                <a:latin typeface="Arial" panose="020B0604020202020204" pitchFamily="34" charset="0"/>
                <a:ea typeface="宋体" panose="02010600030101010101" pitchFamily="2" charset="-122"/>
              </a:rPr>
              <a:t>个或多个从外围器件的传送。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98600" y="282575"/>
            <a:ext cx="4121785" cy="738505"/>
          </a:xfrm>
        </p:spPr>
        <p:txBody>
          <a:bodyPr wrap="square"/>
          <a:lstStyle/>
          <a:p>
            <a:r>
              <a:rPr lang="en-US" altLang="zh-CN" b="0" kern="1200" dirty="0">
                <a:solidFill>
                  <a:schemeClr val="tx2"/>
                </a:solidFill>
                <a:latin typeface="+mj-lt"/>
                <a:cs typeface="+mj-cs"/>
                <a:sym typeface="+mn-ea"/>
              </a:rPr>
              <a:t>8.1.1   </a:t>
            </a:r>
            <a:r>
              <a:rPr lang="en-US" altLang="zh-CN" b="0" kern="1200" dirty="0">
                <a:solidFill>
                  <a:srgbClr val="CA3112"/>
                </a:solidFill>
                <a:latin typeface="+mj-lt"/>
                <a:cs typeface="+mj-cs"/>
                <a:sym typeface="+mn-ea"/>
              </a:rPr>
              <a:t>SPI</a:t>
            </a:r>
            <a:r>
              <a:rPr lang="zh-CN" altLang="en-US" b="0" kern="1200" dirty="0">
                <a:solidFill>
                  <a:schemeClr val="tx2"/>
                </a:solidFill>
                <a:latin typeface="+mj-lt"/>
                <a:cs typeface="+mj-cs"/>
                <a:sym typeface="+mn-ea"/>
              </a:rPr>
              <a:t>串行外设接口总线</a:t>
            </a:r>
            <a:br>
              <a:rPr kumimoji="0" lang="zh-CN" altLang="en-US" b="0" i="0" strike="noStrike" kern="1200" cap="none" spc="0" normalizeH="0" baseline="0" noProof="1">
                <a:solidFill>
                  <a:schemeClr val="tx2"/>
                </a:solidFill>
                <a:latin typeface="+mj-lt"/>
                <a:cs typeface="+mj-cs"/>
              </a:rPr>
            </a:br>
            <a:endParaRPr lang="zh-CN" altLang="en-US" b="0" dirty="0"/>
          </a:p>
        </p:txBody>
      </p:sp>
      <p:sp>
        <p:nvSpPr>
          <p:cNvPr id="31746" name="矩形 47117"/>
          <p:cNvSpPr/>
          <p:nvPr/>
        </p:nvSpPr>
        <p:spPr>
          <a:xfrm>
            <a:off x="379095" y="1091883"/>
            <a:ext cx="8494713" cy="2353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数据传输格式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高位（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MSB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）在前，低位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(LSB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）在后。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（下降沿发送  上升沿接收）</a:t>
            </a:r>
            <a:endParaRPr lang="zh-CN" altLang="en-US" sz="1400" u="none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 当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SPI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工作时，在移位寄存器中的数据逐位从输出引脚（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MOSI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）输出（高位在前），同时从输入引脚（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MISO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）接收的数据逐位移到移位寄存器（高位在前）。</a:t>
            </a:r>
          </a:p>
          <a:p>
            <a:pPr>
              <a:lnSpc>
                <a:spcPct val="150000"/>
              </a:lnSpc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单片机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读操作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时，在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/CS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有效的情况下，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下降沿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时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从器件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将数据放在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MISO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上，单片机经过延时采样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MISO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线，将相应数据位读入，然后将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置为高电平形成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上升沿，数据被锁存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  <a:buClr>
                <a:srgbClr val="DA0702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单片机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写操作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时，在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/CS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有效的情况下，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下降沿时单片机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将数据放在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MOSI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线上，从器件经过延时采样</a:t>
            </a:r>
            <a:r>
              <a:rPr lang="en-US" altLang="zh-CN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MOSI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线，将相应数据位移入，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400" u="non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上升沿，数据被锁存</a:t>
            </a:r>
            <a:r>
              <a:rPr lang="zh-CN" altLang="en-US" sz="1400" u="none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31747" name="图片 47118" descr="08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3809048"/>
            <a:ext cx="5937250" cy="1900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8" name="矩形 47119"/>
          <p:cNvSpPr/>
          <p:nvPr/>
        </p:nvSpPr>
        <p:spPr>
          <a:xfrm>
            <a:off x="1950720" y="5953443"/>
            <a:ext cx="56896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zh-CN" altLang="en-US" sz="2000" b="1" u="none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000" b="1" u="none" dirty="0">
                <a:latin typeface="Arial" panose="020B0604020202020204" pitchFamily="34" charset="0"/>
                <a:ea typeface="宋体" panose="02010600030101010101" pitchFamily="2" charset="-122"/>
              </a:rPr>
              <a:t>8-2   SPI</a:t>
            </a:r>
            <a:r>
              <a:rPr lang="zh-CN" altLang="en-US" sz="2000" b="1" u="none" dirty="0">
                <a:latin typeface="Arial" panose="020B0604020202020204" pitchFamily="34" charset="0"/>
                <a:ea typeface="宋体" panose="02010600030101010101" pitchFamily="2" charset="-122"/>
              </a:rPr>
              <a:t>串行总线典型时序图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225" y="1115695"/>
            <a:ext cx="2458085" cy="45631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96875" y="1115695"/>
            <a:ext cx="5721350" cy="23533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假设下面的8位寄存器装的是待发送的数据10101010，</a:t>
            </a:r>
            <a:r>
              <a:rPr lang="zh-CN" altLang="en-US" sz="1400" b="1" noProof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上升沿发送、下降沿接收、高位先发送。</a:t>
            </a:r>
            <a:endParaRPr lang="zh-CN" altLang="en-US" sz="1400" b="1" noProof="1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那么第一个上升沿来的时候 数据将会是sdo</a:t>
            </a:r>
            <a:r>
              <a:rPr lang="en-US" altLang="zh-CN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(MOSI)</a:t>
            </a:r>
            <a:r>
              <a:rPr lang="zh-CN" altLang="en-US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=1;寄存器=0101010x。下降沿到来的时候，sdi</a:t>
            </a:r>
            <a:r>
              <a:rPr lang="en-US" altLang="zh-CN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(MISO)</a:t>
            </a:r>
            <a:r>
              <a:rPr lang="zh-CN" altLang="en-US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上的电平将锁存到寄存器中去，那么这时寄存器=0101010sdi，这样在 </a:t>
            </a:r>
            <a:r>
              <a:rPr lang="zh-CN" altLang="en-US" sz="1400" noProof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8个时钟脉冲</a:t>
            </a:r>
            <a:r>
              <a:rPr lang="zh-CN" altLang="en-US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以后，两个寄存器的</a:t>
            </a:r>
            <a:r>
              <a:rPr lang="zh-CN" altLang="en-US" sz="1400" noProof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内容互相交换</a:t>
            </a:r>
            <a:r>
              <a:rPr lang="zh-CN" altLang="en-US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一次。这样就完成了一个spi时序。</a:t>
            </a:r>
            <a:endParaRPr lang="zh-CN" altLang="en-US" sz="1400" noProof="1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noProof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上面的上表示上升沿、下表示下降沿，sdi、sdo相对于主机而言的。</a:t>
            </a:r>
            <a:endParaRPr lang="zh-CN" altLang="en-US" sz="1400" noProof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31747" name="图片 47118" descr="08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25" y="3964623"/>
            <a:ext cx="5937250" cy="1900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98600" y="282575"/>
            <a:ext cx="4121785" cy="368935"/>
          </a:xfrm>
        </p:spPr>
        <p:txBody>
          <a:bodyPr wrap="square"/>
          <a:lstStyle/>
          <a:p>
            <a:r>
              <a:rPr lang="en-US" altLang="zh-CN" kern="120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cs typeface="+mj-cs"/>
                <a:sym typeface="+mn-ea"/>
              </a:rPr>
              <a:t>8.1.1   </a:t>
            </a:r>
            <a:r>
              <a:rPr lang="en-US" altLang="zh-CN" kern="1200">
                <a:solidFill>
                  <a:srgbClr val="CA311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cs typeface="+mj-cs"/>
                <a:sym typeface="+mn-ea"/>
              </a:rPr>
              <a:t>SPI</a:t>
            </a:r>
            <a:r>
              <a:rPr lang="zh-CN" altLang="en-US" kern="1200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cs typeface="+mj-cs"/>
                <a:sym typeface="+mn-ea"/>
              </a:rPr>
              <a:t>串行外设接口总线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7" name="标题 16406"/>
          <p:cNvSpPr>
            <a:spLocks noGrp="1" noRot="1"/>
          </p:cNvSpPr>
          <p:nvPr>
            <p:ph type="title"/>
          </p:nvPr>
        </p:nvSpPr>
        <p:spPr>
          <a:xfrm>
            <a:off x="1531620" y="372745"/>
            <a:ext cx="5706110" cy="430530"/>
          </a:xfrm>
        </p:spPr>
        <p:txBody>
          <a:bodyPr wrap="square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3. 89C51</a:t>
            </a:r>
            <a:r>
              <a:rPr kumimoji="0" lang="zh-CN" altLang="en-US" sz="2800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串行扩展</a:t>
            </a:r>
            <a:r>
              <a:rPr kumimoji="0" lang="en-US" altLang="zh-CN" sz="2800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SPI</a:t>
            </a:r>
            <a:r>
              <a:rPr kumimoji="0" lang="zh-CN" altLang="en-US" sz="2800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外设接口的方法</a:t>
            </a:r>
          </a:p>
        </p:txBody>
      </p:sp>
      <p:sp>
        <p:nvSpPr>
          <p:cNvPr id="33795" name="文本框 16407"/>
          <p:cNvSpPr txBox="1"/>
          <p:nvPr/>
        </p:nvSpPr>
        <p:spPr>
          <a:xfrm>
            <a:off x="292735" y="1190625"/>
            <a:ext cx="5940425" cy="3984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</a:pPr>
            <a:r>
              <a:rPr lang="en-US" altLang="zh-CN" sz="20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用一般</a:t>
            </a:r>
            <a:r>
              <a:rPr lang="en-US" altLang="zh-CN" sz="20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口线模拟</a:t>
            </a:r>
            <a:r>
              <a:rPr lang="en-US" altLang="zh-CN" sz="20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SPI</a:t>
            </a:r>
            <a:r>
              <a:rPr lang="zh-CN" altLang="en-US" sz="20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操作</a:t>
            </a:r>
          </a:p>
        </p:txBody>
      </p:sp>
      <p:sp>
        <p:nvSpPr>
          <p:cNvPr id="33796" name="文本框 16408"/>
          <p:cNvSpPr txBox="1"/>
          <p:nvPr/>
        </p:nvSpPr>
        <p:spPr>
          <a:xfrm>
            <a:off x="347345" y="1684020"/>
            <a:ext cx="58312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u="none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用软件模拟</a:t>
            </a:r>
            <a:r>
              <a:rPr lang="en-US" altLang="zh-CN" b="1" u="none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SPI</a:t>
            </a:r>
            <a:r>
              <a:rPr lang="zh-CN" altLang="en-US" b="1" u="none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的操作</a:t>
            </a:r>
            <a:r>
              <a:rPr lang="en-US" altLang="zh-CN" b="1" u="none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u="none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包括串行时钟、数据输入和输出。</a:t>
            </a:r>
          </a:p>
        </p:txBody>
      </p:sp>
      <p:pic>
        <p:nvPicPr>
          <p:cNvPr id="33797" name="图片 16409" descr="08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550" y="2292350"/>
            <a:ext cx="2818130" cy="2154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411" name="文本框 16410"/>
          <p:cNvSpPr txBox="1"/>
          <p:nvPr/>
        </p:nvSpPr>
        <p:spPr>
          <a:xfrm>
            <a:off x="292735" y="2145665"/>
            <a:ext cx="5292725" cy="3584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zh-CN" altLang="en-US" sz="16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不同的串行接口芯片 </a:t>
            </a:r>
            <a:r>
              <a:rPr lang="en-US" altLang="zh-CN" sz="16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6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时钟时序不同</a:t>
            </a:r>
            <a:r>
              <a:rPr lang="en-US" altLang="zh-CN" sz="1600" b="1" u="none" noProof="1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sz="1600" b="1" u="none" noProof="1">
              <a:latin typeface="Arial" panose="020B0604020202020204" pitchFamily="34" charset="0"/>
            </a:endParaRPr>
          </a:p>
        </p:txBody>
      </p:sp>
      <p:sp>
        <p:nvSpPr>
          <p:cNvPr id="33799" name="文本框 16411"/>
          <p:cNvSpPr txBox="1"/>
          <p:nvPr/>
        </p:nvSpPr>
        <p:spPr>
          <a:xfrm>
            <a:off x="346075" y="2573020"/>
            <a:ext cx="566547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buClr>
                <a:srgbClr val="CC00CC"/>
              </a:buClr>
              <a:buSzPct val="150000"/>
              <a:buChar char="•"/>
            </a:pP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对于</a:t>
            </a:r>
            <a:r>
              <a:rPr lang="en-US" altLang="zh-CN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的上升沿输入数据和在下降沿输出数据的器件</a:t>
            </a:r>
            <a:r>
              <a:rPr lang="en-US" altLang="zh-CN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应取图中的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P1.1</a:t>
            </a:r>
            <a:r>
              <a:rPr lang="zh-CN" altLang="en-US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初始为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；允许后，置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。同时，接口芯片串行左移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位数据至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P1.3(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模拟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MCU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MISO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r>
              <a:rPr lang="zh-CN" altLang="en-US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再置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P1.1</a:t>
            </a:r>
            <a:r>
              <a:rPr lang="zh-CN" altLang="en-US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，使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89C51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从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P1.0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位数据至串行接口芯片。模拟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位数据输入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输出完成。</a:t>
            </a:r>
          </a:p>
          <a:p>
            <a:pPr>
              <a:lnSpc>
                <a:spcPct val="150000"/>
              </a:lnSpc>
            </a:pP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以后依次循环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次，可完成传输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字节的操作。</a:t>
            </a:r>
          </a:p>
          <a:p>
            <a:pPr>
              <a:lnSpc>
                <a:spcPct val="150000"/>
              </a:lnSpc>
              <a:buClr>
                <a:srgbClr val="CC00CC"/>
              </a:buClr>
              <a:buSzPct val="150000"/>
              <a:buChar char="•"/>
            </a:pP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对于</a:t>
            </a:r>
            <a:r>
              <a:rPr lang="en-US" altLang="zh-CN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的下降沿输入数据和上升沿输出数据的器件</a:t>
            </a:r>
            <a:r>
              <a:rPr lang="en-US" altLang="zh-CN" sz="1600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则应取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SCK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输出的</a:t>
            </a:r>
            <a:r>
              <a:rPr lang="zh-CN" altLang="en-US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初始状态为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在允许时，先置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，此时，外围芯片输出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位数据（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MCU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接收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位数据）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r>
              <a:rPr lang="zh-CN" altLang="en-US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再置时钟为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，外围接口芯片接收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位数据（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MCU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发送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位数据）</a:t>
            </a:r>
            <a:r>
              <a:rPr lang="en-US" altLang="zh-CN" sz="1600" b="1" u="none" dirty="0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矩形 18448"/>
          <p:cNvSpPr/>
          <p:nvPr/>
        </p:nvSpPr>
        <p:spPr>
          <a:xfrm>
            <a:off x="539750" y="1585913"/>
            <a:ext cx="7993063" cy="28082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8" name="文本占位符 18443"/>
          <p:cNvSpPr>
            <a:spLocks noGrp="1" noRot="1"/>
          </p:cNvSpPr>
          <p:nvPr>
            <p:ph idx="1"/>
          </p:nvPr>
        </p:nvSpPr>
        <p:spPr>
          <a:xfrm>
            <a:off x="1443990" y="1096645"/>
            <a:ext cx="6255385" cy="307340"/>
          </a:xfrm>
        </p:spPr>
        <p:txBody>
          <a:bodyPr wrap="square" anchor="t"/>
          <a:lstStyle/>
          <a:p>
            <a:pPr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zh-CN" altLang="en-US" sz="2000" b="1" dirty="0"/>
              <a:t>图</a:t>
            </a:r>
            <a:r>
              <a:rPr lang="en-US" altLang="zh-CN" sz="2000" b="1" dirty="0"/>
              <a:t>8-3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89C51</a:t>
            </a:r>
            <a:r>
              <a:rPr lang="zh-CN" altLang="en-US" sz="2000" b="1" dirty="0"/>
              <a:t>与</a:t>
            </a:r>
            <a:r>
              <a:rPr lang="en-US" altLang="zh-CN" sz="2000" b="1" dirty="0"/>
              <a:t>MCM2814</a:t>
            </a:r>
            <a:r>
              <a:rPr lang="zh-CN" altLang="en-US" sz="2000" b="1" dirty="0"/>
              <a:t>（</a:t>
            </a:r>
            <a:r>
              <a:rPr lang="en-US" altLang="zh-CN" sz="2000" b="1"/>
              <a:t>E</a:t>
            </a:r>
            <a:r>
              <a:rPr lang="en-US" altLang="zh-CN" sz="2800" b="1" baseline="30000"/>
              <a:t>2</a:t>
            </a:r>
            <a:r>
              <a:rPr lang="en-US" altLang="zh-CN" sz="2000" b="1" dirty="0"/>
              <a:t>PROM</a:t>
            </a:r>
            <a:r>
              <a:rPr lang="zh-CN" altLang="en-US" sz="2000" b="1" dirty="0"/>
              <a:t>）的硬件连接图。</a:t>
            </a:r>
          </a:p>
        </p:txBody>
      </p:sp>
      <p:pic>
        <p:nvPicPr>
          <p:cNvPr id="34819" name="图片 18444" descr="08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1730375"/>
            <a:ext cx="7345362" cy="2466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7" name="文本框 18446"/>
          <p:cNvSpPr txBox="1"/>
          <p:nvPr/>
        </p:nvSpPr>
        <p:spPr>
          <a:xfrm>
            <a:off x="878840" y="4711700"/>
            <a:ext cx="6182360" cy="1630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2000" b="1" u="non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P1.0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模拟</a:t>
            </a:r>
            <a:r>
              <a:rPr lang="en-US" altLang="zh-CN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MCU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的数据输出端（</a:t>
            </a:r>
            <a:r>
              <a:rPr lang="en-US" altLang="zh-CN" sz="2000" b="1" u="non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MOSI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</a:t>
            </a:r>
            <a:endParaRPr lang="zh-CN" altLang="en-US" sz="2000" b="1" u="none" noProof="1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2000" b="1" u="non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P1.1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模拟</a:t>
            </a:r>
            <a:r>
              <a:rPr lang="en-US" altLang="zh-CN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SPI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en-US" altLang="zh-CN" sz="2000" b="1" u="non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SCK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输出端，</a:t>
            </a:r>
            <a:endParaRPr lang="zh-CN" altLang="en-US" sz="2000" b="1" u="none" noProof="1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2000" b="1" u="non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P1.2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模拟</a:t>
            </a:r>
            <a:r>
              <a:rPr lang="en-US" altLang="zh-CN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SPI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的从机选择端，</a:t>
            </a:r>
            <a:r>
              <a:rPr lang="en-US" altLang="zh-CN" sz="2000" b="1" u="non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SS</a:t>
            </a:r>
            <a:endParaRPr lang="en-US" altLang="zh-CN" sz="2000" b="1" u="none" noProof="1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Char char="•"/>
            </a:pPr>
            <a:r>
              <a:rPr lang="en-US" altLang="zh-CN" sz="2000" b="1" u="non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P1.3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模拟</a:t>
            </a:r>
            <a:r>
              <a:rPr lang="en-US" altLang="zh-CN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SPI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的数据输入端（</a:t>
            </a:r>
            <a:r>
              <a:rPr lang="en-US" altLang="zh-CN" sz="2000" b="1" u="non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MISO</a:t>
            </a:r>
            <a:r>
              <a:rPr lang="zh-CN" altLang="en-US" sz="20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）。</a:t>
            </a:r>
            <a:endParaRPr lang="zh-CN" altLang="en-US" sz="2000" b="1" u="none" noProof="1">
              <a:latin typeface="Arial" panose="020B0604020202020204" pitchFamily="34" charset="0"/>
            </a:endParaRPr>
          </a:p>
        </p:txBody>
      </p:sp>
      <p:sp>
        <p:nvSpPr>
          <p:cNvPr id="34821" name="直接连接符 18447"/>
          <p:cNvSpPr/>
          <p:nvPr/>
        </p:nvSpPr>
        <p:spPr>
          <a:xfrm>
            <a:off x="4248150" y="5557520"/>
            <a:ext cx="503238" cy="0"/>
          </a:xfrm>
          <a:prstGeom prst="line">
            <a:avLst/>
          </a:prstGeom>
          <a:ln w="5715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407" name="标题 16406"/>
          <p:cNvSpPr>
            <a:spLocks noGrp="1" noRot="1"/>
          </p:cNvSpPr>
          <p:nvPr>
            <p:ph type="title"/>
          </p:nvPr>
        </p:nvSpPr>
        <p:spPr>
          <a:xfrm>
            <a:off x="1531620" y="372745"/>
            <a:ext cx="5706110" cy="430530"/>
          </a:xfrm>
        </p:spPr>
        <p:txBody>
          <a:bodyPr wrap="square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3. 89C51</a:t>
            </a:r>
            <a:r>
              <a:rPr kumimoji="0" lang="zh-CN" altLang="en-US" sz="2800" b="1" i="0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串行扩展</a:t>
            </a:r>
            <a:r>
              <a:rPr kumimoji="0" lang="en-US" altLang="zh-CN" sz="2800" b="1" i="0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SPI</a:t>
            </a:r>
            <a:r>
              <a:rPr kumimoji="0" lang="zh-CN" altLang="en-US" sz="2800" b="1" i="0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外设接口的方法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20490"/>
          <p:cNvSpPr>
            <a:spLocks noGrp="1" noRot="1"/>
          </p:cNvSpPr>
          <p:nvPr>
            <p:ph type="title"/>
          </p:nvPr>
        </p:nvSpPr>
        <p:spPr>
          <a:xfrm>
            <a:off x="351155" y="1168400"/>
            <a:ext cx="8686800" cy="415290"/>
          </a:xfrm>
        </p:spPr>
        <p:txBody>
          <a:bodyPr anchor="ctr"/>
          <a:lstStyle/>
          <a:p>
            <a:pPr algn="l">
              <a:lnSpc>
                <a:spcPct val="150000"/>
              </a:lnSpc>
            </a:pPr>
            <a:r>
              <a:rPr lang="zh-CN" altLang="en-US" sz="1800" b="1" u="sng" dirty="0"/>
              <a:t>（</a:t>
            </a:r>
            <a:r>
              <a:rPr lang="en-US" altLang="zh-CN" sz="1800" b="1" u="sng" dirty="0"/>
              <a:t>1</a:t>
            </a:r>
            <a:r>
              <a:rPr lang="zh-CN" altLang="en-US" sz="1800" b="1" u="sng" dirty="0"/>
              <a:t>） </a:t>
            </a:r>
            <a:r>
              <a:rPr lang="en-US" altLang="zh-CN" sz="1800" b="1" u="sng" dirty="0"/>
              <a:t>MCU</a:t>
            </a:r>
            <a:r>
              <a:rPr lang="zh-CN" altLang="en-US" sz="1800" b="1" u="sng" dirty="0"/>
              <a:t>串行输入子程序</a:t>
            </a:r>
            <a:r>
              <a:rPr lang="en-US" altLang="zh-CN" sz="1800" b="1" u="sng"/>
              <a:t>SPIIN     </a:t>
            </a:r>
            <a:r>
              <a:rPr lang="zh-CN" altLang="en-US" sz="1800" u="sng" dirty="0">
                <a:sym typeface="+mn-ea"/>
              </a:rPr>
              <a:t>（</a:t>
            </a:r>
            <a:r>
              <a:rPr lang="en-US" altLang="zh-CN" sz="1800" u="sng" dirty="0">
                <a:sym typeface="+mn-ea"/>
              </a:rPr>
              <a:t>2</a:t>
            </a:r>
            <a:r>
              <a:rPr lang="zh-CN" altLang="en-US" sz="1800" u="sng" dirty="0">
                <a:sym typeface="+mn-ea"/>
              </a:rPr>
              <a:t>） </a:t>
            </a:r>
            <a:r>
              <a:rPr lang="en-US" altLang="zh-CN" sz="1800" u="sng" dirty="0">
                <a:sym typeface="+mn-ea"/>
              </a:rPr>
              <a:t>MCU</a:t>
            </a:r>
            <a:r>
              <a:rPr lang="zh-CN" altLang="en-US" sz="1800" u="sng" dirty="0">
                <a:sym typeface="+mn-ea"/>
              </a:rPr>
              <a:t>串行输出子程序</a:t>
            </a:r>
            <a:r>
              <a:rPr lang="en-US" altLang="zh-CN" sz="1800" u="sng">
                <a:sym typeface="+mn-ea"/>
              </a:rPr>
              <a:t>SPIOUT</a:t>
            </a:r>
            <a:endParaRPr lang="en-US" altLang="zh-CN" sz="1800" b="1" u="sng">
              <a:sym typeface="+mn-ea"/>
            </a:endParaRPr>
          </a:p>
        </p:txBody>
      </p:sp>
      <p:sp>
        <p:nvSpPr>
          <p:cNvPr id="35842" name="文本占位符 20491"/>
          <p:cNvSpPr>
            <a:spLocks noGrp="1" noRot="1"/>
          </p:cNvSpPr>
          <p:nvPr>
            <p:ph idx="1"/>
          </p:nvPr>
        </p:nvSpPr>
        <p:spPr>
          <a:xfrm>
            <a:off x="196215" y="1754505"/>
            <a:ext cx="4375785" cy="4201160"/>
          </a:xfrm>
          <a:ln>
            <a:solidFill>
              <a:schemeClr val="accent1"/>
            </a:solidFill>
          </a:ln>
        </p:spPr>
        <p:txBody>
          <a:bodyPr wrap="square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</a:rPr>
              <a:t>从</a:t>
            </a:r>
            <a:r>
              <a:rPr lang="en-US" altLang="zh-CN" sz="1400" b="1" dirty="0">
                <a:solidFill>
                  <a:schemeClr val="accent2"/>
                </a:solidFill>
              </a:rPr>
              <a:t>MCM2814</a:t>
            </a:r>
            <a:r>
              <a:rPr lang="zh-CN" altLang="en-US" sz="1400" b="1" dirty="0">
                <a:solidFill>
                  <a:schemeClr val="accent2"/>
                </a:solidFill>
              </a:rPr>
              <a:t>的</a:t>
            </a:r>
            <a:r>
              <a:rPr lang="en-US" altLang="zh-CN" sz="1400" b="1" dirty="0">
                <a:solidFill>
                  <a:schemeClr val="accent2"/>
                </a:solidFill>
              </a:rPr>
              <a:t>SPISO</a:t>
            </a:r>
            <a:r>
              <a:rPr lang="zh-CN" altLang="en-US" sz="1400" b="1" dirty="0">
                <a:solidFill>
                  <a:schemeClr val="accent2"/>
                </a:solidFill>
              </a:rPr>
              <a:t>上接收</a:t>
            </a:r>
            <a:r>
              <a:rPr lang="en-US" altLang="zh-CN" sz="1400" b="1" dirty="0">
                <a:solidFill>
                  <a:schemeClr val="accent2"/>
                </a:solidFill>
              </a:rPr>
              <a:t>1</a:t>
            </a:r>
            <a:r>
              <a:rPr lang="zh-CN" altLang="en-US" sz="1400" b="1" dirty="0">
                <a:solidFill>
                  <a:schemeClr val="accent2"/>
                </a:solidFill>
              </a:rPr>
              <a:t>字节数据放入寄存器</a:t>
            </a:r>
            <a:r>
              <a:rPr lang="en-US" altLang="zh-CN" sz="1400" b="1" dirty="0">
                <a:solidFill>
                  <a:schemeClr val="accent2"/>
                </a:solidFill>
              </a:rPr>
              <a:t>R0</a:t>
            </a:r>
            <a:r>
              <a:rPr lang="zh-CN" altLang="en-US" sz="1400" b="1" dirty="0">
                <a:solidFill>
                  <a:schemeClr val="accent2"/>
                </a:solidFill>
              </a:rPr>
              <a:t>中</a:t>
            </a:r>
            <a:r>
              <a:rPr lang="en-US" altLang="zh-CN" sz="1400" b="1" dirty="0">
                <a:solidFill>
                  <a:schemeClr val="accent2"/>
                </a:solidFill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</a:rPr>
              <a:t>SPIIN</a:t>
            </a:r>
            <a:r>
              <a:rPr lang="zh-CN" altLang="en-US" sz="1400" b="1" dirty="0">
                <a:solidFill>
                  <a:srgbClr val="DA0702"/>
                </a:solidFill>
              </a:rPr>
              <a:t>：</a:t>
            </a:r>
            <a:r>
              <a:rPr lang="en-US" altLang="zh-CN" sz="1400" b="1" dirty="0">
                <a:solidFill>
                  <a:srgbClr val="DA0702"/>
                </a:solidFill>
              </a:rPr>
              <a:t>SETB  P1.1       </a:t>
            </a:r>
            <a:r>
              <a:rPr lang="zh-CN" altLang="en-US" sz="1400" b="1" dirty="0"/>
              <a:t>；使</a:t>
            </a:r>
            <a:r>
              <a:rPr lang="en-US" altLang="zh-CN" sz="1400" b="1" dirty="0"/>
              <a:t>P1.1</a:t>
            </a:r>
            <a:r>
              <a:rPr lang="zh-CN" altLang="en-US" sz="1400" b="1" dirty="0"/>
              <a:t>（时钟）输出为</a:t>
            </a:r>
            <a:r>
              <a:rPr lang="en-US" altLang="zh-CN" sz="1400" b="1" dirty="0"/>
              <a:t>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CLR	  P1.2            </a:t>
            </a:r>
            <a:r>
              <a:rPr lang="zh-CN" altLang="en-US" sz="1400" b="1" dirty="0"/>
              <a:t>；选择从机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MOV	 R1</a:t>
            </a:r>
            <a:r>
              <a:rPr lang="zh-CN" altLang="en-US" sz="1400" b="1" dirty="0">
                <a:solidFill>
                  <a:srgbClr val="DA0702"/>
                </a:solidFill>
              </a:rPr>
              <a:t>，</a:t>
            </a:r>
            <a:r>
              <a:rPr lang="en-US" altLang="zh-CN" sz="1400" b="1" dirty="0">
                <a:solidFill>
                  <a:srgbClr val="DA0702"/>
                </a:solidFill>
              </a:rPr>
              <a:t>#08H    </a:t>
            </a:r>
            <a:r>
              <a:rPr lang="zh-CN" altLang="en-US" sz="1400" b="1" dirty="0"/>
              <a:t>；置循环次数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</a:rPr>
              <a:t>SPIN1</a:t>
            </a:r>
            <a:r>
              <a:rPr lang="zh-CN" altLang="en-US" sz="1400" b="1" dirty="0">
                <a:solidFill>
                  <a:srgbClr val="DA0702"/>
                </a:solidFill>
              </a:rPr>
              <a:t>：</a:t>
            </a:r>
            <a:r>
              <a:rPr lang="en-US" altLang="zh-CN" sz="1400" b="1" dirty="0">
                <a:solidFill>
                  <a:srgbClr val="DA0702"/>
                </a:solidFill>
              </a:rPr>
              <a:t>CLR	 P1.1         </a:t>
            </a:r>
            <a:r>
              <a:rPr lang="zh-CN" altLang="en-US" sz="1400" b="1" dirty="0"/>
              <a:t>；使</a:t>
            </a:r>
            <a:r>
              <a:rPr lang="en-US" altLang="zh-CN" sz="1400" b="1" dirty="0"/>
              <a:t>P1.1</a:t>
            </a:r>
            <a:r>
              <a:rPr lang="zh-CN" altLang="en-US" sz="1400" b="1" dirty="0"/>
              <a:t>（时钟）输出为</a:t>
            </a:r>
            <a:r>
              <a:rPr lang="en-US" altLang="zh-CN" sz="1400" b="1" dirty="0"/>
              <a:t>0</a:t>
            </a:r>
            <a:r>
              <a:rPr lang="zh-CN" altLang="en-US" sz="1400" b="1" dirty="0">
                <a:solidFill>
                  <a:srgbClr val="FF0000"/>
                </a:solidFill>
              </a:rPr>
              <a:t>（下降）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/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NOP                   </a:t>
            </a:r>
            <a:r>
              <a:rPr lang="zh-CN" altLang="en-US" sz="1400" b="1" dirty="0"/>
              <a:t>；延时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NOP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MOV	 C</a:t>
            </a:r>
            <a:r>
              <a:rPr lang="zh-CN" altLang="en-US" sz="1400" b="1" dirty="0">
                <a:solidFill>
                  <a:srgbClr val="DA0702"/>
                </a:solidFill>
              </a:rPr>
              <a:t>，</a:t>
            </a:r>
            <a:r>
              <a:rPr lang="en-US" altLang="zh-CN" sz="1400" b="1" dirty="0">
                <a:solidFill>
                  <a:srgbClr val="DA0702"/>
                </a:solidFill>
              </a:rPr>
              <a:t>P1.3   </a:t>
            </a:r>
            <a:r>
              <a:rPr lang="zh-CN" altLang="en-US" sz="1400" b="1" dirty="0"/>
              <a:t>；从机输出</a:t>
            </a:r>
            <a:r>
              <a:rPr lang="en-US" altLang="zh-CN" sz="1400" b="1" dirty="0"/>
              <a:t>SPISO</a:t>
            </a:r>
            <a:r>
              <a:rPr lang="zh-CN" altLang="en-US" sz="1400" b="1" dirty="0"/>
              <a:t>送进位</a:t>
            </a:r>
            <a:r>
              <a:rPr lang="en-US" altLang="zh-CN" sz="1400" b="1" dirty="0"/>
              <a:t>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RLC   A               </a:t>
            </a:r>
            <a:r>
              <a:rPr lang="zh-CN" altLang="en-US" sz="1400" b="1" dirty="0"/>
              <a:t>；左移至累加器</a:t>
            </a:r>
            <a:r>
              <a:rPr lang="en-US" altLang="zh-CN" sz="1400" b="1" dirty="0"/>
              <a:t>ACC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SETB  P1.0         </a:t>
            </a:r>
            <a:r>
              <a:rPr lang="zh-CN" altLang="en-US" sz="1400" b="1" dirty="0"/>
              <a:t>；使</a:t>
            </a:r>
            <a:r>
              <a:rPr lang="en-US" altLang="zh-CN" sz="1400" b="1" dirty="0"/>
              <a:t>P1.0(</a:t>
            </a:r>
            <a:r>
              <a:rPr lang="zh-CN" altLang="en-US" sz="1400" b="1" dirty="0"/>
              <a:t>时钟</a:t>
            </a:r>
            <a:r>
              <a:rPr lang="en-US" altLang="zh-CN" sz="1400" b="1" dirty="0"/>
              <a:t>)</a:t>
            </a:r>
            <a:r>
              <a:rPr lang="zh-CN" altLang="en-US" sz="1400" b="1" dirty="0"/>
              <a:t>输出为</a:t>
            </a:r>
            <a:r>
              <a:rPr lang="en-US" altLang="zh-CN" sz="1400" b="1" dirty="0"/>
              <a:t>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DJNZ   R1, SPIN1  </a:t>
            </a:r>
            <a:r>
              <a:rPr lang="zh-CN" altLang="en-US" sz="1400" b="1" dirty="0"/>
              <a:t>；判断是否循环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次</a:t>
            </a:r>
            <a:r>
              <a:rPr lang="en-US" altLang="zh-CN" sz="1400" b="1" dirty="0"/>
              <a:t>(1</a:t>
            </a:r>
            <a:r>
              <a:rPr lang="zh-CN" altLang="en-US" sz="1400" b="1" dirty="0"/>
              <a:t>字节数据）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MOV	 R0</a:t>
            </a:r>
            <a:r>
              <a:rPr lang="zh-CN" altLang="en-US" sz="1400" b="1" dirty="0">
                <a:solidFill>
                  <a:srgbClr val="DA0702"/>
                </a:solidFill>
              </a:rPr>
              <a:t>，</a:t>
            </a:r>
            <a:r>
              <a:rPr lang="en-US" altLang="zh-CN" sz="1400" b="1" dirty="0">
                <a:solidFill>
                  <a:srgbClr val="DA0702"/>
                </a:solidFill>
              </a:rPr>
              <a:t>A       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字节数据送</a:t>
            </a:r>
            <a:r>
              <a:rPr lang="en-US" altLang="zh-CN" sz="1400" b="1" dirty="0"/>
              <a:t>R0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ym typeface="+mn-ea"/>
              </a:rPr>
              <a:t>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RET                     </a:t>
            </a:r>
            <a:r>
              <a:rPr lang="zh-CN" altLang="en-US" sz="1400" b="1" dirty="0"/>
              <a:t>；返回</a:t>
            </a:r>
          </a:p>
        </p:txBody>
      </p:sp>
      <p:sp>
        <p:nvSpPr>
          <p:cNvPr id="16407" name="标题 16406"/>
          <p:cNvSpPr>
            <a:spLocks noGrp="1" noRot="1"/>
          </p:cNvSpPr>
          <p:nvPr/>
        </p:nvSpPr>
        <p:spPr>
          <a:xfrm>
            <a:off x="1367155" y="398463"/>
            <a:ext cx="5706110" cy="36893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3. 89C51</a:t>
            </a:r>
            <a:r>
              <a:rPr kumimoji="0" lang="zh-CN" altLang="en-US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串行扩展</a:t>
            </a:r>
            <a:r>
              <a:rPr kumimoji="0" lang="en-US" altLang="zh-CN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SPI</a:t>
            </a:r>
            <a:r>
              <a:rPr kumimoji="0" lang="zh-CN" altLang="en-US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外设接口的方法</a:t>
            </a:r>
          </a:p>
        </p:txBody>
      </p:sp>
      <p:sp>
        <p:nvSpPr>
          <p:cNvPr id="37890" name="文本占位符 22541"/>
          <p:cNvSpPr>
            <a:spLocks noGrp="1" noRot="1"/>
          </p:cNvSpPr>
          <p:nvPr/>
        </p:nvSpPr>
        <p:spPr>
          <a:xfrm>
            <a:off x="4645660" y="1754505"/>
            <a:ext cx="4392295" cy="420116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lIns="0" tIns="0" rIns="0" bIns="0" anchor="t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</a:rPr>
              <a:t>将</a:t>
            </a:r>
            <a:r>
              <a:rPr lang="en-US" altLang="zh-CN" sz="1400" b="1" dirty="0">
                <a:solidFill>
                  <a:schemeClr val="accent2"/>
                </a:solidFill>
              </a:rPr>
              <a:t>89C51</a:t>
            </a:r>
            <a:r>
              <a:rPr lang="zh-CN" altLang="en-US" sz="1400" b="1" dirty="0">
                <a:solidFill>
                  <a:schemeClr val="accent2"/>
                </a:solidFill>
              </a:rPr>
              <a:t>中</a:t>
            </a:r>
            <a:r>
              <a:rPr lang="en-US" altLang="zh-CN" sz="1400" b="1" dirty="0">
                <a:solidFill>
                  <a:schemeClr val="accent2"/>
                </a:solidFill>
              </a:rPr>
              <a:t>R0</a:t>
            </a:r>
            <a:r>
              <a:rPr lang="zh-CN" altLang="en-US" sz="1400" b="1" dirty="0">
                <a:solidFill>
                  <a:schemeClr val="accent2"/>
                </a:solidFill>
              </a:rPr>
              <a:t>的内容传送到</a:t>
            </a:r>
            <a:r>
              <a:rPr lang="en-US" altLang="zh-CN" sz="1400" b="1" dirty="0">
                <a:solidFill>
                  <a:schemeClr val="accent2"/>
                </a:solidFill>
              </a:rPr>
              <a:t>MCM2814</a:t>
            </a:r>
            <a:r>
              <a:rPr lang="zh-CN" altLang="en-US" sz="1400" b="1" dirty="0">
                <a:solidFill>
                  <a:schemeClr val="accent2"/>
                </a:solidFill>
              </a:rPr>
              <a:t>的</a:t>
            </a:r>
            <a:r>
              <a:rPr lang="en-US" altLang="zh-CN" sz="1400" b="1" dirty="0">
                <a:solidFill>
                  <a:schemeClr val="accent2"/>
                </a:solidFill>
              </a:rPr>
              <a:t>SPISI</a:t>
            </a:r>
            <a:r>
              <a:rPr lang="zh-CN" altLang="en-US" sz="1400" b="1" dirty="0">
                <a:solidFill>
                  <a:schemeClr val="accent2"/>
                </a:solidFill>
              </a:rPr>
              <a:t>线上</a:t>
            </a:r>
            <a:r>
              <a:rPr lang="zh-CN" altLang="en-US" sz="1400" b="1" dirty="0"/>
              <a:t>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0000FF"/>
                </a:solidFill>
              </a:rPr>
              <a:t>SPIOUN</a:t>
            </a:r>
            <a:r>
              <a:rPr lang="zh-CN" altLang="en-US" sz="1400" b="1" dirty="0">
                <a:solidFill>
                  <a:srgbClr val="0000FF"/>
                </a:solidFill>
              </a:rPr>
              <a:t>：</a:t>
            </a:r>
            <a:r>
              <a:rPr lang="zh-CN" altLang="en-US" sz="1400" b="1" dirty="0">
                <a:solidFill>
                  <a:srgbClr val="DA0702"/>
                </a:solidFill>
              </a:rPr>
              <a:t> </a:t>
            </a:r>
            <a:r>
              <a:rPr lang="en-US" altLang="zh-CN" sz="1400" b="1" dirty="0">
                <a:solidFill>
                  <a:srgbClr val="DA0702"/>
                </a:solidFill>
              </a:rPr>
              <a:t>SETB  P1.1     </a:t>
            </a:r>
            <a:r>
              <a:rPr lang="zh-CN" altLang="en-US" sz="1400" b="1" dirty="0"/>
              <a:t>；使</a:t>
            </a:r>
            <a:r>
              <a:rPr lang="en-US" altLang="zh-CN" sz="1400" b="1" dirty="0"/>
              <a:t>P1.1</a:t>
            </a:r>
            <a:r>
              <a:rPr lang="zh-CN" altLang="en-US" sz="1400" b="1" dirty="0"/>
              <a:t>（时钟）输出为</a:t>
            </a:r>
            <a:r>
              <a:rPr lang="en-US" altLang="zh-CN" sz="1400" b="1" dirty="0"/>
              <a:t>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CLR     P1.2      </a:t>
            </a:r>
            <a:r>
              <a:rPr lang="zh-CN" altLang="en-US" sz="1400" b="1" dirty="0"/>
              <a:t>；选择从机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MOV   R1</a:t>
            </a:r>
            <a:r>
              <a:rPr lang="zh-CN" altLang="en-US" sz="1400" b="1" dirty="0">
                <a:solidFill>
                  <a:srgbClr val="DA0702"/>
                </a:solidFill>
              </a:rPr>
              <a:t>，</a:t>
            </a:r>
            <a:r>
              <a:rPr lang="en-US" altLang="zh-CN" sz="1400" b="1" dirty="0">
                <a:solidFill>
                  <a:srgbClr val="DA0702"/>
                </a:solidFill>
              </a:rPr>
              <a:t>#08H  </a:t>
            </a:r>
            <a:r>
              <a:rPr lang="zh-CN" altLang="en-US" sz="1400" b="1" dirty="0"/>
              <a:t>；置循环次数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</a:rPr>
              <a:t>                  MOV   A</a:t>
            </a:r>
            <a:r>
              <a:rPr lang="zh-CN" altLang="en-US" sz="1400" b="1" dirty="0">
                <a:solidFill>
                  <a:srgbClr val="DA0702"/>
                </a:solidFill>
              </a:rPr>
              <a:t>，</a:t>
            </a:r>
            <a:r>
              <a:rPr lang="en-US" altLang="zh-CN" sz="1400" b="1" dirty="0">
                <a:solidFill>
                  <a:srgbClr val="DA0702"/>
                </a:solidFill>
              </a:rPr>
              <a:t>R0    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字节数据送累加器</a:t>
            </a:r>
            <a:r>
              <a:rPr lang="en-US" altLang="zh-CN" sz="1400" b="1" dirty="0"/>
              <a:t>ACC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0000FF"/>
                </a:solidFill>
              </a:rPr>
              <a:t>SPIOT1</a:t>
            </a:r>
            <a:r>
              <a:rPr lang="zh-CN" altLang="en-US" sz="1400" b="1" dirty="0">
                <a:solidFill>
                  <a:srgbClr val="0000FF"/>
                </a:solidFill>
              </a:rPr>
              <a:t>：</a:t>
            </a:r>
            <a:r>
              <a:rPr lang="en-US" altLang="zh-CN" sz="1400" b="1" dirty="0">
                <a:solidFill>
                  <a:srgbClr val="DA0702"/>
                </a:solidFill>
              </a:rPr>
              <a:t>CLR   P1.1    </a:t>
            </a:r>
            <a:r>
              <a:rPr lang="zh-CN" altLang="en-US" sz="1400" b="1" dirty="0"/>
              <a:t>；使</a:t>
            </a:r>
            <a:r>
              <a:rPr lang="en-US" altLang="zh-CN" sz="1400" b="1" dirty="0"/>
              <a:t>P1.1</a:t>
            </a:r>
            <a:r>
              <a:rPr lang="zh-CN" altLang="en-US" sz="1400" b="1" dirty="0"/>
              <a:t>（时钟）输出为</a:t>
            </a:r>
            <a:r>
              <a:rPr lang="en-US" altLang="zh-CN" sz="1400" b="1" dirty="0"/>
              <a:t>0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NOP      </a:t>
            </a:r>
            <a:r>
              <a:rPr lang="zh-CN" altLang="en-US" sz="1400" b="1" dirty="0"/>
              <a:t>；延时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NOP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RLC    A         </a:t>
            </a:r>
            <a:r>
              <a:rPr lang="zh-CN" altLang="en-US" sz="1400" b="1" dirty="0"/>
              <a:t>；左移至累加器</a:t>
            </a:r>
            <a:r>
              <a:rPr lang="en-US" altLang="zh-CN" sz="1400" b="1" dirty="0"/>
              <a:t>ACC</a:t>
            </a:r>
            <a:r>
              <a:rPr lang="zh-CN" altLang="en-US" sz="1400" b="1" dirty="0"/>
              <a:t>最高位至</a:t>
            </a:r>
            <a:r>
              <a:rPr lang="en-US" altLang="zh-CN" sz="1400" b="1" dirty="0"/>
              <a:t>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MOV     P1.0</a:t>
            </a:r>
            <a:r>
              <a:rPr lang="zh-CN" altLang="en-US" sz="1400" b="1" dirty="0">
                <a:solidFill>
                  <a:srgbClr val="DA0702"/>
                </a:solidFill>
              </a:rPr>
              <a:t>，</a:t>
            </a:r>
            <a:r>
              <a:rPr lang="en-US" altLang="zh-CN" sz="1400" b="1" dirty="0">
                <a:solidFill>
                  <a:srgbClr val="DA0702"/>
                </a:solidFill>
              </a:rPr>
              <a:t>C</a:t>
            </a:r>
            <a:r>
              <a:rPr lang="zh-CN" altLang="en-US" sz="1400" b="1" dirty="0"/>
              <a:t>；进位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送从机输入</a:t>
            </a:r>
            <a:r>
              <a:rPr lang="en-US" altLang="zh-CN" sz="1400" b="1" dirty="0"/>
              <a:t>SPISI</a:t>
            </a:r>
            <a:r>
              <a:rPr lang="zh-CN" altLang="en-US" sz="1400" b="1" dirty="0"/>
              <a:t>线上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SETB   P1.1    </a:t>
            </a:r>
            <a:r>
              <a:rPr lang="zh-CN" altLang="en-US" sz="1400" b="1" dirty="0"/>
              <a:t>；使</a:t>
            </a:r>
            <a:r>
              <a:rPr lang="en-US" altLang="zh-CN" sz="1400" b="1" dirty="0"/>
              <a:t>P1.1</a:t>
            </a:r>
            <a:r>
              <a:rPr lang="zh-CN" altLang="en-US" sz="1400" b="1" dirty="0"/>
              <a:t>（时钟）输出为</a:t>
            </a:r>
            <a:r>
              <a:rPr lang="en-US" altLang="zh-CN" sz="1400" b="1" dirty="0"/>
              <a:t>1</a:t>
            </a:r>
            <a:r>
              <a:rPr lang="zh-CN" altLang="en-US" sz="1400" b="1" dirty="0">
                <a:solidFill>
                  <a:srgbClr val="FF0000"/>
                </a:solidFill>
              </a:rPr>
              <a:t>（上升）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DJNZ   R1</a:t>
            </a:r>
            <a:r>
              <a:rPr lang="zh-CN" altLang="en-US" sz="1400" b="1" dirty="0">
                <a:solidFill>
                  <a:srgbClr val="DA0702"/>
                </a:solidFill>
              </a:rPr>
              <a:t>，</a:t>
            </a:r>
            <a:r>
              <a:rPr lang="en-US" altLang="zh-CN" sz="1400" b="1" dirty="0">
                <a:solidFill>
                  <a:srgbClr val="DA0702"/>
                </a:solidFill>
              </a:rPr>
              <a:t>SPIOT1 </a:t>
            </a:r>
            <a:r>
              <a:rPr lang="zh-CN" altLang="en-US" sz="1400" b="1" dirty="0"/>
              <a:t>；判断是否循环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次</a:t>
            </a:r>
            <a:r>
              <a:rPr lang="en-US" altLang="zh-CN" sz="1400" b="1" dirty="0">
                <a:solidFill>
                  <a:srgbClr val="DA0702"/>
                </a:solidFill>
              </a:rPr>
              <a:t>         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rgbClr val="DA0702"/>
                </a:solidFill>
                <a:sym typeface="+mn-ea"/>
              </a:rPr>
              <a:t> 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RET       </a:t>
            </a:r>
            <a:r>
              <a:rPr lang="zh-CN" altLang="en-US" sz="1400" b="1" dirty="0"/>
              <a:t>；返回</a:t>
            </a:r>
          </a:p>
        </p:txBody>
      </p:sp>
      <p:pic>
        <p:nvPicPr>
          <p:cNvPr id="34819" name="图片 18444" descr="08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325" y="68580"/>
            <a:ext cx="3578225" cy="12020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24590"/>
          <p:cNvSpPr>
            <a:spLocks noGrp="1" noRot="1"/>
          </p:cNvSpPr>
          <p:nvPr>
            <p:ph type="title"/>
          </p:nvPr>
        </p:nvSpPr>
        <p:spPr>
          <a:xfrm>
            <a:off x="222250" y="1212215"/>
            <a:ext cx="5034915" cy="415290"/>
          </a:xfrm>
        </p:spPr>
        <p:txBody>
          <a:bodyPr wrap="square" anchor="ctr"/>
          <a:lstStyle/>
          <a:p>
            <a:pPr algn="l">
              <a:lnSpc>
                <a:spcPct val="150000"/>
              </a:lnSpc>
            </a:pPr>
            <a:r>
              <a:rPr lang="zh-CN" altLang="en-US" sz="1800" b="1" u="sng" dirty="0"/>
              <a:t>（</a:t>
            </a:r>
            <a:r>
              <a:rPr lang="en-US" altLang="zh-CN" sz="1800" b="1" u="sng" dirty="0"/>
              <a:t>3</a:t>
            </a:r>
            <a:r>
              <a:rPr lang="zh-CN" altLang="en-US" sz="1800" b="1" u="sng" dirty="0"/>
              <a:t>） </a:t>
            </a:r>
            <a:r>
              <a:rPr lang="en-US" altLang="zh-CN" sz="1800" b="1" u="sng" dirty="0"/>
              <a:t>MCU</a:t>
            </a:r>
            <a:r>
              <a:rPr lang="zh-CN" altLang="en-US" sz="1800" b="1" u="sng" dirty="0"/>
              <a:t>串行输入</a:t>
            </a:r>
            <a:r>
              <a:rPr lang="en-US" altLang="zh-CN" sz="1800" b="1" u="sng" dirty="0"/>
              <a:t>/</a:t>
            </a:r>
            <a:r>
              <a:rPr lang="zh-CN" altLang="en-US" sz="1800" b="1" u="sng" dirty="0"/>
              <a:t>输出子程序</a:t>
            </a:r>
            <a:r>
              <a:rPr lang="en-US" altLang="zh-CN" sz="1800" b="1" u="sng"/>
              <a:t>SPIIO</a:t>
            </a:r>
          </a:p>
        </p:txBody>
      </p:sp>
      <p:sp>
        <p:nvSpPr>
          <p:cNvPr id="38914" name="文本占位符 24591"/>
          <p:cNvSpPr>
            <a:spLocks noGrp="1" noRot="1"/>
          </p:cNvSpPr>
          <p:nvPr>
            <p:ph idx="1"/>
          </p:nvPr>
        </p:nvSpPr>
        <p:spPr>
          <a:xfrm>
            <a:off x="463550" y="1780540"/>
            <a:ext cx="6470650" cy="4719320"/>
          </a:xfrm>
        </p:spPr>
        <p:txBody>
          <a:bodyPr wrap="square" anchor="t"/>
          <a:lstStyle/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chemeClr val="accent2"/>
                </a:solidFill>
              </a:rPr>
              <a:t>将</a:t>
            </a:r>
            <a:r>
              <a:rPr lang="en-US" altLang="zh-CN" sz="1600" b="1" dirty="0">
                <a:solidFill>
                  <a:schemeClr val="accent2"/>
                </a:solidFill>
              </a:rPr>
              <a:t>89C51</a:t>
            </a:r>
            <a:r>
              <a:rPr lang="zh-CN" altLang="en-US" sz="1600" b="1" dirty="0">
                <a:solidFill>
                  <a:schemeClr val="accent2"/>
                </a:solidFill>
              </a:rPr>
              <a:t>中</a:t>
            </a:r>
            <a:r>
              <a:rPr lang="en-US" altLang="zh-CN" sz="1600" b="1" dirty="0">
                <a:solidFill>
                  <a:schemeClr val="accent2"/>
                </a:solidFill>
              </a:rPr>
              <a:t>R0</a:t>
            </a:r>
            <a:r>
              <a:rPr lang="zh-CN" altLang="en-US" sz="1600" b="1" dirty="0">
                <a:solidFill>
                  <a:schemeClr val="accent2"/>
                </a:solidFill>
              </a:rPr>
              <a:t>的内容传送到</a:t>
            </a:r>
            <a:r>
              <a:rPr lang="en-US" altLang="zh-CN" sz="1600" b="1" dirty="0">
                <a:solidFill>
                  <a:schemeClr val="accent2"/>
                </a:solidFill>
              </a:rPr>
              <a:t>MCM2814</a:t>
            </a:r>
            <a:r>
              <a:rPr lang="zh-CN" altLang="en-US" sz="1600" b="1" dirty="0">
                <a:solidFill>
                  <a:schemeClr val="accent2"/>
                </a:solidFill>
              </a:rPr>
              <a:t>的</a:t>
            </a:r>
            <a:r>
              <a:rPr lang="en-US" altLang="zh-CN" sz="1600" b="1" dirty="0">
                <a:solidFill>
                  <a:schemeClr val="accent2"/>
                </a:solidFill>
              </a:rPr>
              <a:t>SPISI</a:t>
            </a:r>
            <a:r>
              <a:rPr lang="zh-CN" altLang="en-US" sz="1600" b="1" dirty="0">
                <a:solidFill>
                  <a:schemeClr val="accent2"/>
                </a:solidFill>
              </a:rPr>
              <a:t>中，同时从</a:t>
            </a:r>
            <a:r>
              <a:rPr lang="en-US" altLang="zh-CN" sz="1600" b="1" dirty="0">
                <a:solidFill>
                  <a:schemeClr val="accent2"/>
                </a:solidFill>
              </a:rPr>
              <a:t>MCM2814</a:t>
            </a:r>
            <a:r>
              <a:rPr lang="zh-CN" altLang="en-US" sz="1600" b="1" dirty="0">
                <a:solidFill>
                  <a:schemeClr val="accent2"/>
                </a:solidFill>
              </a:rPr>
              <a:t>的</a:t>
            </a:r>
            <a:r>
              <a:rPr lang="en-US" altLang="zh-CN" sz="1600" b="1" dirty="0">
                <a:solidFill>
                  <a:schemeClr val="accent2"/>
                </a:solidFill>
              </a:rPr>
              <a:t>SPISO</a:t>
            </a:r>
            <a:r>
              <a:rPr lang="zh-CN" altLang="en-US" sz="1600" b="1" dirty="0">
                <a:solidFill>
                  <a:schemeClr val="accent2"/>
                </a:solidFill>
              </a:rPr>
              <a:t>接收</a:t>
            </a:r>
            <a:r>
              <a:rPr lang="en-US" altLang="zh-CN" sz="1600" b="1" dirty="0">
                <a:solidFill>
                  <a:schemeClr val="accent2"/>
                </a:solidFill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</a:rPr>
              <a:t>字节数据存入</a:t>
            </a:r>
            <a:r>
              <a:rPr lang="en-US" altLang="zh-CN" sz="1600" b="1" dirty="0">
                <a:solidFill>
                  <a:schemeClr val="accent2"/>
                </a:solidFill>
              </a:rPr>
              <a:t>R0</a:t>
            </a:r>
            <a:r>
              <a:rPr lang="zh-CN" altLang="en-US" sz="1600" b="1" dirty="0">
                <a:solidFill>
                  <a:schemeClr val="accent2"/>
                </a:solidFill>
              </a:rPr>
              <a:t>中。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</a:rPr>
              <a:t>SPIIO</a:t>
            </a:r>
            <a:r>
              <a:rPr lang="zh-CN" altLang="en-US" sz="1600" b="1" dirty="0">
                <a:solidFill>
                  <a:srgbClr val="DA0702"/>
                </a:solidFill>
              </a:rPr>
              <a:t>：</a:t>
            </a:r>
            <a:r>
              <a:rPr lang="en-US" altLang="zh-CN" sz="1600" b="1" dirty="0">
                <a:solidFill>
                  <a:srgbClr val="DA0702"/>
                </a:solidFill>
              </a:rPr>
              <a:t>SETB  P1.1      </a:t>
            </a:r>
            <a:r>
              <a:rPr lang="zh-CN" altLang="en-US" sz="1600" b="1" dirty="0"/>
              <a:t>；使</a:t>
            </a:r>
            <a:r>
              <a:rPr lang="en-US" altLang="zh-CN" sz="1600" b="1" dirty="0"/>
              <a:t>P1.1</a:t>
            </a:r>
            <a:r>
              <a:rPr lang="zh-CN" altLang="en-US" sz="1600" b="1" dirty="0"/>
              <a:t>（时钟）输出为</a:t>
            </a:r>
            <a:r>
              <a:rPr lang="en-US" altLang="zh-CN" sz="1600" b="1" dirty="0"/>
              <a:t>1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</a:rPr>
              <a:t>              CLR    P1.2      </a:t>
            </a:r>
            <a:r>
              <a:rPr lang="zh-CN" altLang="en-US" sz="1600" b="1" dirty="0"/>
              <a:t>；选择从机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MOV   R1</a:t>
            </a:r>
            <a:r>
              <a:rPr lang="zh-CN" altLang="en-US" sz="1600" b="1" dirty="0">
                <a:solidFill>
                  <a:srgbClr val="DA0702"/>
                </a:solidFill>
              </a:rPr>
              <a:t>，</a:t>
            </a:r>
            <a:r>
              <a:rPr lang="en-US" altLang="zh-CN" sz="1600" b="1" dirty="0">
                <a:solidFill>
                  <a:srgbClr val="DA0702"/>
                </a:solidFill>
              </a:rPr>
              <a:t>#08H    </a:t>
            </a:r>
            <a:r>
              <a:rPr lang="zh-CN" altLang="en-US" sz="1600" b="1" dirty="0"/>
              <a:t>；置循环次数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MOV   A</a:t>
            </a:r>
            <a:r>
              <a:rPr lang="zh-CN" altLang="en-US" sz="1600" b="1" dirty="0">
                <a:solidFill>
                  <a:srgbClr val="DA0702"/>
                </a:solidFill>
              </a:rPr>
              <a:t>，</a:t>
            </a:r>
            <a:r>
              <a:rPr lang="en-US" altLang="zh-CN" sz="1600" b="1" dirty="0">
                <a:solidFill>
                  <a:srgbClr val="DA0702"/>
                </a:solidFill>
              </a:rPr>
              <a:t>R0   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字节数据送累加器</a:t>
            </a:r>
            <a:r>
              <a:rPr lang="en-US" altLang="zh-CN" sz="1600" b="1" dirty="0"/>
              <a:t>ACC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</a:rPr>
              <a:t>SPIO1</a:t>
            </a:r>
            <a:r>
              <a:rPr lang="zh-CN" altLang="en-US" sz="1600" b="1" dirty="0">
                <a:solidFill>
                  <a:srgbClr val="DA0702"/>
                </a:solidFill>
              </a:rPr>
              <a:t>：</a:t>
            </a:r>
            <a:r>
              <a:rPr lang="en-US" altLang="zh-CN" sz="1600" b="1" dirty="0">
                <a:solidFill>
                  <a:srgbClr val="DA0702"/>
                </a:solidFill>
              </a:rPr>
              <a:t>CLR   P1.1      </a:t>
            </a:r>
            <a:r>
              <a:rPr lang="zh-CN" altLang="en-US" sz="1600" b="1" dirty="0"/>
              <a:t>；使</a:t>
            </a:r>
            <a:r>
              <a:rPr lang="en-US" altLang="zh-CN" sz="1600" b="1" dirty="0"/>
              <a:t>P1.1</a:t>
            </a:r>
            <a:r>
              <a:rPr lang="zh-CN" altLang="en-US" sz="1600" b="1" dirty="0"/>
              <a:t>（时钟）输出为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2814</a:t>
            </a:r>
            <a:r>
              <a:rPr lang="zh-CN" altLang="en-US" sz="1600" b="1" dirty="0"/>
              <a:t>输出一位到</a:t>
            </a:r>
            <a:r>
              <a:rPr lang="en-US" altLang="zh-CN" sz="1600" b="1" dirty="0"/>
              <a:t>SPIO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NOP                </a:t>
            </a:r>
            <a:r>
              <a:rPr lang="zh-CN" altLang="en-US" sz="1600" b="1" dirty="0"/>
              <a:t>；延时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NOP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MOV  C</a:t>
            </a:r>
            <a:r>
              <a:rPr lang="zh-CN" altLang="en-US" sz="1600" b="1" dirty="0">
                <a:solidFill>
                  <a:srgbClr val="DA0702"/>
                </a:solidFill>
              </a:rPr>
              <a:t>，</a:t>
            </a:r>
            <a:r>
              <a:rPr lang="en-US" altLang="zh-CN" sz="1600" b="1" dirty="0">
                <a:solidFill>
                  <a:srgbClr val="DA0702"/>
                </a:solidFill>
              </a:rPr>
              <a:t>P1.3</a:t>
            </a:r>
            <a:r>
              <a:rPr lang="zh-CN" altLang="en-US" sz="1600" b="1" dirty="0"/>
              <a:t>；从机输出</a:t>
            </a:r>
            <a:r>
              <a:rPr lang="en-US" altLang="zh-CN" sz="1600" b="1" dirty="0"/>
              <a:t>SPISO</a:t>
            </a:r>
            <a:r>
              <a:rPr lang="zh-CN" altLang="en-US" sz="1600" b="1" dirty="0"/>
              <a:t>送进位</a:t>
            </a:r>
            <a:r>
              <a:rPr lang="en-US" altLang="zh-CN" sz="1600" b="1" dirty="0"/>
              <a:t>C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RLC   A           </a:t>
            </a:r>
            <a:r>
              <a:rPr lang="zh-CN" altLang="en-US" sz="1600" b="1" dirty="0"/>
              <a:t>；左移至累加器</a:t>
            </a:r>
            <a:r>
              <a:rPr lang="en-US" altLang="zh-CN" sz="1600" b="1" dirty="0"/>
              <a:t>ACC</a:t>
            </a:r>
            <a:r>
              <a:rPr lang="zh-CN" altLang="en-US" sz="1600" b="1" dirty="0"/>
              <a:t>最高位至</a:t>
            </a:r>
            <a:r>
              <a:rPr lang="en-US" altLang="zh-CN" sz="1600" b="1" dirty="0"/>
              <a:t>C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MOV  P1.0</a:t>
            </a:r>
            <a:r>
              <a:rPr lang="zh-CN" altLang="en-US" sz="1600" b="1" dirty="0">
                <a:solidFill>
                  <a:srgbClr val="DA0702"/>
                </a:solidFill>
              </a:rPr>
              <a:t>，</a:t>
            </a:r>
            <a:r>
              <a:rPr lang="en-US" altLang="zh-CN" sz="1600" b="1" dirty="0">
                <a:solidFill>
                  <a:srgbClr val="DA0702"/>
                </a:solidFill>
              </a:rPr>
              <a:t>C </a:t>
            </a:r>
            <a:r>
              <a:rPr lang="zh-CN" altLang="en-US" sz="1600" b="1" dirty="0"/>
              <a:t>；进位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送从机输入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SETB  P1.1      </a:t>
            </a:r>
            <a:r>
              <a:rPr lang="zh-CN" altLang="en-US" sz="1600" b="1" dirty="0"/>
              <a:t>；使</a:t>
            </a:r>
            <a:r>
              <a:rPr lang="en-US" altLang="zh-CN" sz="1600" b="1" dirty="0"/>
              <a:t>P1.1</a:t>
            </a:r>
            <a:r>
              <a:rPr lang="zh-CN" altLang="en-US" sz="1600" b="1" dirty="0"/>
              <a:t>（时钟）输出为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输入到</a:t>
            </a:r>
            <a:r>
              <a:rPr lang="en-US" altLang="zh-CN" sz="1600" b="1" dirty="0"/>
              <a:t>SPISI</a:t>
            </a:r>
            <a:r>
              <a:rPr lang="zh-CN" altLang="en-US" sz="1600" b="1" dirty="0"/>
              <a:t>线）</a:t>
            </a:r>
            <a:endParaRPr lang="en-US" altLang="zh-CN" sz="1600" b="1" dirty="0"/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 DJNZ  R1</a:t>
            </a:r>
            <a:r>
              <a:rPr lang="zh-CN" altLang="en-US" sz="1600" b="1" dirty="0">
                <a:solidFill>
                  <a:srgbClr val="DA0702"/>
                </a:solidFill>
              </a:rPr>
              <a:t>，</a:t>
            </a:r>
            <a:r>
              <a:rPr lang="en-US" altLang="zh-CN" sz="1600" b="1" dirty="0">
                <a:solidFill>
                  <a:srgbClr val="DA0702"/>
                </a:solidFill>
              </a:rPr>
              <a:t>SPIO1   </a:t>
            </a:r>
            <a:r>
              <a:rPr lang="zh-CN" altLang="en-US" sz="1600" b="1" dirty="0"/>
              <a:t>；判断是否循环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次（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字节）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MOV   R0</a:t>
            </a:r>
            <a:r>
              <a:rPr lang="zh-CN" altLang="en-US" sz="1600" b="1" dirty="0">
                <a:solidFill>
                  <a:srgbClr val="DA0702"/>
                </a:solidFill>
              </a:rPr>
              <a:t>，</a:t>
            </a:r>
            <a:r>
              <a:rPr lang="en-US" altLang="zh-CN" sz="1600" b="1" dirty="0">
                <a:solidFill>
                  <a:srgbClr val="DA0702"/>
                </a:solidFill>
              </a:rPr>
              <a:t>A</a:t>
            </a:r>
          </a:p>
          <a:p>
            <a:pPr eaLnBrk="1" fontAlgn="auto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DA0702"/>
                </a:solidFill>
                <a:sym typeface="+mn-ea"/>
              </a:rPr>
              <a:t>             </a:t>
            </a:r>
            <a:r>
              <a:rPr lang="en-US" altLang="zh-CN" sz="1600" b="1" dirty="0">
                <a:solidFill>
                  <a:srgbClr val="DA0702"/>
                </a:solidFill>
              </a:rPr>
              <a:t> RET                  </a:t>
            </a:r>
            <a:r>
              <a:rPr lang="zh-CN" altLang="en-US" sz="1600" b="1" dirty="0"/>
              <a:t>；返回</a:t>
            </a:r>
          </a:p>
        </p:txBody>
      </p:sp>
      <p:pic>
        <p:nvPicPr>
          <p:cNvPr id="34819" name="图片 18444" descr="08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545" y="2173605"/>
            <a:ext cx="4055745" cy="1362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407" name="标题 16406"/>
          <p:cNvSpPr>
            <a:spLocks noGrp="1" noRot="1"/>
          </p:cNvSpPr>
          <p:nvPr/>
        </p:nvSpPr>
        <p:spPr>
          <a:xfrm>
            <a:off x="1367155" y="398463"/>
            <a:ext cx="5706110" cy="36893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3. 89C51</a:t>
            </a:r>
            <a:r>
              <a:rPr kumimoji="0" lang="zh-CN" altLang="en-US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串行扩展</a:t>
            </a:r>
            <a:r>
              <a:rPr kumimoji="0" lang="en-US" altLang="zh-CN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SPI</a:t>
            </a:r>
            <a:r>
              <a:rPr kumimoji="0" lang="zh-CN" altLang="en-US" b="1" i="0" strike="noStrike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外设接口的方法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8" name="标题 25607"/>
          <p:cNvSpPr>
            <a:spLocks noGrp="1" noRot="1"/>
          </p:cNvSpPr>
          <p:nvPr>
            <p:ph type="title"/>
          </p:nvPr>
        </p:nvSpPr>
        <p:spPr>
          <a:xfrm>
            <a:off x="1395730" y="312411"/>
            <a:ext cx="3827780" cy="408958"/>
          </a:xfrm>
        </p:spPr>
        <p:txBody>
          <a:bodyPr wrap="square" anchor="ctr"/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2) </a:t>
            </a:r>
            <a:r>
              <a:rPr kumimoji="0" lang="zh-CN" altLang="en-US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利用</a:t>
            </a:r>
            <a:r>
              <a:rPr kumimoji="0" lang="en-US" altLang="zh-CN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89C51</a:t>
            </a:r>
            <a:r>
              <a:rPr kumimoji="0" lang="zh-CN" altLang="en-US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串行口实现</a:t>
            </a:r>
            <a:r>
              <a:rPr kumimoji="0" lang="en-US" altLang="zh-CN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SPI</a:t>
            </a:r>
            <a:r>
              <a:rPr kumimoji="0" lang="zh-CN" altLang="en-US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操作</a:t>
            </a:r>
          </a:p>
        </p:txBody>
      </p:sp>
      <p:sp>
        <p:nvSpPr>
          <p:cNvPr id="39938" name="文本框 25608"/>
          <p:cNvSpPr txBox="1"/>
          <p:nvPr/>
        </p:nvSpPr>
        <p:spPr>
          <a:xfrm>
            <a:off x="0" y="692150"/>
            <a:ext cx="5508625" cy="3222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endParaRPr lang="zh-CN" sz="1000" u="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矩形 25609"/>
          <p:cNvSpPr/>
          <p:nvPr/>
        </p:nvSpPr>
        <p:spPr>
          <a:xfrm>
            <a:off x="497205" y="1073150"/>
            <a:ext cx="4331970" cy="4552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</a:t>
            </a:r>
            <a:r>
              <a:rPr lang="zh-CN" altLang="en-US" b="1" dirty="0">
                <a:sym typeface="+mn-ea"/>
              </a:rPr>
              <a:t>串行时钟芯片</a:t>
            </a:r>
            <a:r>
              <a:rPr lang="en-US" altLang="zh-CN" b="1" dirty="0">
                <a:sym typeface="+mn-ea"/>
              </a:rPr>
              <a:t>HT1380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9940" name="图片 25610" descr="08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225" y="2076450"/>
            <a:ext cx="3110230" cy="3032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1" name="文本占位符 25611"/>
          <p:cNvSpPr>
            <a:spLocks noGrp="1" noRot="1"/>
          </p:cNvSpPr>
          <p:nvPr>
            <p:ph idx="1"/>
          </p:nvPr>
        </p:nvSpPr>
        <p:spPr>
          <a:xfrm>
            <a:off x="812800" y="2199005"/>
            <a:ext cx="4535805" cy="2680970"/>
          </a:xfrm>
        </p:spPr>
        <p:txBody>
          <a:bodyPr wrap="square" anchor="t"/>
          <a:lstStyle/>
          <a:p>
            <a:pPr>
              <a:lnSpc>
                <a:spcPct val="150000"/>
              </a:lnSpc>
              <a:spcBef>
                <a:spcPct val="15000"/>
              </a:spcBef>
            </a:pPr>
            <a:r>
              <a:rPr lang="zh-CN" altLang="en-US" sz="1400" b="1" dirty="0"/>
              <a:t>芯片中</a:t>
            </a:r>
            <a:r>
              <a:rPr lang="en-US" altLang="zh-CN" sz="1400" b="1" dirty="0"/>
              <a:t>:  </a:t>
            </a:r>
            <a:r>
              <a:rPr lang="en-US" altLang="zh-CN" sz="1400" b="1" dirty="0">
                <a:solidFill>
                  <a:srgbClr val="DA0702"/>
                </a:solidFill>
              </a:rPr>
              <a:t>X1</a:t>
            </a:r>
            <a:r>
              <a:rPr lang="zh-CN" altLang="en-US" sz="1400" b="1" dirty="0">
                <a:solidFill>
                  <a:srgbClr val="DA0702"/>
                </a:solidFill>
              </a:rPr>
              <a:t>、</a:t>
            </a:r>
            <a:r>
              <a:rPr lang="en-US" altLang="zh-CN" sz="1400" b="1" dirty="0">
                <a:solidFill>
                  <a:srgbClr val="DA0702"/>
                </a:solidFill>
              </a:rPr>
              <a:t>X2</a:t>
            </a:r>
            <a:r>
              <a:rPr lang="zh-CN" altLang="en-US" sz="1400" b="1" dirty="0"/>
              <a:t>接晶振，</a:t>
            </a:r>
          </a:p>
          <a:p>
            <a:pPr>
              <a:lnSpc>
                <a:spcPct val="150000"/>
              </a:lnSpc>
              <a:spcBef>
                <a:spcPct val="15000"/>
              </a:spcBef>
              <a:buNone/>
            </a:pPr>
            <a:r>
              <a:rPr lang="zh-CN" altLang="en-US" sz="1400" b="1" dirty="0"/>
              <a:t>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SCLK</a:t>
            </a:r>
            <a:r>
              <a:rPr lang="zh-CN" altLang="en-US" sz="1400" b="1" dirty="0"/>
              <a:t>作为时钟输入端，</a:t>
            </a:r>
          </a:p>
          <a:p>
            <a:pPr>
              <a:lnSpc>
                <a:spcPct val="150000"/>
              </a:lnSpc>
              <a:spcBef>
                <a:spcPct val="15000"/>
              </a:spcBef>
              <a:buNone/>
            </a:pPr>
            <a:r>
              <a:rPr lang="zh-CN" altLang="en-US" sz="1400" b="1" dirty="0">
                <a:sym typeface="+mn-ea"/>
              </a:rPr>
              <a:t>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I/O</a:t>
            </a:r>
            <a:r>
              <a:rPr lang="zh-CN" altLang="en-US" sz="1400" b="1" dirty="0"/>
              <a:t>端为串行数据输入、输出端口，</a:t>
            </a:r>
          </a:p>
          <a:p>
            <a:pPr>
              <a:lnSpc>
                <a:spcPct val="150000"/>
              </a:lnSpc>
              <a:spcBef>
                <a:spcPct val="15000"/>
              </a:spcBef>
              <a:buNone/>
            </a:pPr>
            <a:r>
              <a:rPr lang="zh-CN" altLang="en-US" sz="1400" b="1" dirty="0">
                <a:sym typeface="+mn-ea"/>
              </a:rPr>
              <a:t>                </a:t>
            </a:r>
            <a:r>
              <a:rPr lang="en-US" altLang="zh-CN" sz="1400" b="1" dirty="0">
                <a:solidFill>
                  <a:srgbClr val="DA0702"/>
                </a:solidFill>
              </a:rPr>
              <a:t>RST</a:t>
            </a:r>
            <a:r>
              <a:rPr lang="zh-CN" altLang="en-US" sz="1400" b="1" dirty="0"/>
              <a:t>是复位引脚。该芯片只有当</a:t>
            </a:r>
            <a:r>
              <a:rPr lang="en-US" altLang="zh-CN" sz="1400" b="1" dirty="0">
                <a:solidFill>
                  <a:srgbClr val="DA0702"/>
                </a:solidFill>
              </a:rPr>
              <a:t>RST</a:t>
            </a:r>
            <a:r>
              <a:rPr lang="zh-CN" altLang="en-US" sz="1400" b="1" dirty="0">
                <a:solidFill>
                  <a:srgbClr val="DA0702"/>
                </a:solidFill>
              </a:rPr>
              <a:t>为高</a:t>
            </a:r>
            <a:r>
              <a:rPr lang="zh-CN" altLang="en-US" sz="1400" b="1" dirty="0"/>
              <a:t>时才能进行读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写操作</a:t>
            </a:r>
            <a:r>
              <a:rPr lang="en-US" altLang="zh-CN" sz="1400" b="1" dirty="0"/>
              <a:t>,</a:t>
            </a:r>
            <a:r>
              <a:rPr lang="zh-CN" altLang="en-US" sz="1400" b="1" dirty="0"/>
              <a:t>利用单片机的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口对它进行控制（类似芯片选择）。当</a:t>
            </a:r>
            <a:r>
              <a:rPr lang="en-US" altLang="zh-CN" sz="1400" b="1" dirty="0">
                <a:solidFill>
                  <a:srgbClr val="DA0702"/>
                </a:solidFill>
              </a:rPr>
              <a:t>RST</a:t>
            </a:r>
            <a:r>
              <a:rPr lang="zh-CN" altLang="en-US" sz="1400" b="1" dirty="0">
                <a:solidFill>
                  <a:srgbClr val="DA0702"/>
                </a:solidFill>
              </a:rPr>
              <a:t>为低</a:t>
            </a:r>
            <a:r>
              <a:rPr lang="zh-CN" altLang="en-US" sz="1400" b="1" dirty="0"/>
              <a:t>时，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引脚对外高阻状态，因此它允许多个串行芯片同时挂靠在串行端口上。 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对它的操作可以按串行的方式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（即扩展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方式）进行。</a:t>
            </a:r>
          </a:p>
        </p:txBody>
      </p:sp>
      <p:sp>
        <p:nvSpPr>
          <p:cNvPr id="39942" name="文本框 25612"/>
          <p:cNvSpPr txBox="1"/>
          <p:nvPr/>
        </p:nvSpPr>
        <p:spPr>
          <a:xfrm>
            <a:off x="671195" y="1528445"/>
            <a:ext cx="7169785" cy="414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HT1380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是一个</a:t>
            </a:r>
            <a:r>
              <a:rPr lang="en-US" altLang="zh-CN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脚的日历时钟芯片，可以通过串行口与单片机交换信息，如图</a:t>
            </a:r>
            <a:r>
              <a:rPr lang="en-US" altLang="zh-CN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8-4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所示。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8" name="标题 25607"/>
          <p:cNvSpPr>
            <a:spLocks noGrp="1" noRot="1"/>
          </p:cNvSpPr>
          <p:nvPr>
            <p:ph type="title"/>
          </p:nvPr>
        </p:nvSpPr>
        <p:spPr>
          <a:xfrm>
            <a:off x="1395730" y="312411"/>
            <a:ext cx="3827780" cy="408958"/>
          </a:xfrm>
        </p:spPr>
        <p:txBody>
          <a:bodyPr wrap="square" anchor="ctr"/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2) </a:t>
            </a:r>
            <a:r>
              <a:rPr kumimoji="0" lang="zh-CN" altLang="en-US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利用</a:t>
            </a:r>
            <a:r>
              <a:rPr kumimoji="0" lang="en-US" altLang="zh-CN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89C51</a:t>
            </a:r>
            <a:r>
              <a:rPr kumimoji="0" lang="zh-CN" altLang="en-US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串行口实现</a:t>
            </a:r>
            <a:r>
              <a:rPr kumimoji="0" lang="en-US" altLang="zh-CN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SPI</a:t>
            </a:r>
            <a:r>
              <a:rPr kumimoji="0" lang="zh-CN" altLang="en-US" sz="2000" b="1" i="0" strike="noStrike" kern="1200" cap="none" spc="0" normalizeH="0" baseline="0" noProof="1">
                <a:solidFill>
                  <a:srgbClr val="DA0702"/>
                </a:solidFill>
                <a:latin typeface="+mj-lt"/>
                <a:ea typeface="+mj-ea"/>
                <a:cs typeface="+mj-cs"/>
              </a:rPr>
              <a:t>操作</a:t>
            </a:r>
          </a:p>
        </p:txBody>
      </p:sp>
      <p:sp>
        <p:nvSpPr>
          <p:cNvPr id="39938" name="文本框 25608"/>
          <p:cNvSpPr txBox="1"/>
          <p:nvPr/>
        </p:nvSpPr>
        <p:spPr>
          <a:xfrm>
            <a:off x="0" y="692150"/>
            <a:ext cx="5508625" cy="3222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endParaRPr lang="zh-CN" sz="1000" u="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矩形 25609"/>
          <p:cNvSpPr/>
          <p:nvPr/>
        </p:nvSpPr>
        <p:spPr>
          <a:xfrm>
            <a:off x="497205" y="1073150"/>
            <a:ext cx="4950460" cy="4552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(2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ym typeface="+mn-ea"/>
              </a:rPr>
              <a:t>串行</a:t>
            </a:r>
            <a:r>
              <a:rPr lang="en-US" altLang="zh-CN" b="1" dirty="0">
                <a:sym typeface="+mn-ea"/>
              </a:rPr>
              <a:t>LED</a:t>
            </a:r>
            <a:r>
              <a:rPr lang="zh-CN" altLang="en-US" b="1" dirty="0">
                <a:sym typeface="+mn-ea"/>
              </a:rPr>
              <a:t>显示接口</a:t>
            </a:r>
            <a:r>
              <a:rPr lang="en-US" altLang="zh-CN" b="1">
                <a:sym typeface="+mn-ea"/>
              </a:rPr>
              <a:t>MAX7219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文本占位符 25611"/>
          <p:cNvSpPr>
            <a:spLocks noGrp="1" noRot="1"/>
          </p:cNvSpPr>
          <p:nvPr>
            <p:ph idx="1"/>
          </p:nvPr>
        </p:nvSpPr>
        <p:spPr>
          <a:xfrm>
            <a:off x="567055" y="1528445"/>
            <a:ext cx="4535805" cy="1981200"/>
          </a:xfrm>
        </p:spPr>
        <p:txBody>
          <a:bodyPr wrap="square" anchor="t"/>
          <a:lstStyle/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en-US" altLang="zh-CN" sz="1400" b="1" dirty="0">
                <a:sym typeface="+mn-ea"/>
              </a:rPr>
              <a:t>       </a:t>
            </a:r>
            <a:r>
              <a:rPr lang="zh-CN" altLang="en-US" sz="1400" b="1" dirty="0">
                <a:sym typeface="+mn-ea"/>
              </a:rPr>
              <a:t>该芯片可驱动</a:t>
            </a:r>
            <a:r>
              <a:rPr lang="en-US" altLang="zh-CN" sz="1400" b="1" dirty="0">
                <a:sym typeface="+mn-ea"/>
              </a:rPr>
              <a:t>8</a:t>
            </a:r>
            <a:r>
              <a:rPr lang="zh-CN" altLang="en-US" sz="1400" b="1" dirty="0">
                <a:sym typeface="+mn-ea"/>
              </a:rPr>
              <a:t>个</a:t>
            </a:r>
            <a:r>
              <a:rPr lang="en-US" altLang="zh-CN" sz="1400" b="1" dirty="0">
                <a:sym typeface="+mn-ea"/>
              </a:rPr>
              <a:t>LED</a:t>
            </a:r>
            <a:r>
              <a:rPr lang="zh-CN" altLang="en-US" sz="1400" b="1" dirty="0">
                <a:sym typeface="+mn-ea"/>
              </a:rPr>
              <a:t>显示器，单片机可以通过串行口以方式</a:t>
            </a:r>
            <a:r>
              <a:rPr lang="en-US" altLang="zh-CN" sz="1400" b="1" dirty="0">
                <a:sym typeface="+mn-ea"/>
              </a:rPr>
              <a:t>0</a:t>
            </a:r>
            <a:r>
              <a:rPr lang="zh-CN" altLang="en-US" sz="1400" b="1" dirty="0">
                <a:sym typeface="+mn-ea"/>
              </a:rPr>
              <a:t>与</a:t>
            </a:r>
            <a:r>
              <a:rPr lang="en-US" altLang="zh-CN" sz="1400" b="1" dirty="0">
                <a:sym typeface="+mn-ea"/>
              </a:rPr>
              <a:t>MAX7219</a:t>
            </a:r>
            <a:r>
              <a:rPr lang="zh-CN" altLang="en-US" sz="1400" b="1" dirty="0">
                <a:sym typeface="+mn-ea"/>
              </a:rPr>
              <a:t>交换信息，</a:t>
            </a:r>
            <a:r>
              <a:rPr lang="en-US" altLang="zh-CN" sz="1400" b="1">
                <a:solidFill>
                  <a:srgbClr val="DA0702"/>
                </a:solidFill>
                <a:sym typeface="+mn-ea"/>
              </a:rPr>
              <a:t>TXD</a:t>
            </a:r>
            <a:r>
              <a:rPr lang="zh-CN" altLang="en-US" sz="1400" b="1" dirty="0">
                <a:sym typeface="+mn-ea"/>
              </a:rPr>
              <a:t>作为移位时钟、</a:t>
            </a:r>
            <a:r>
              <a:rPr lang="en-US" altLang="zh-CN" sz="1400" b="1">
                <a:solidFill>
                  <a:srgbClr val="DA0702"/>
                </a:solidFill>
                <a:sym typeface="+mn-ea"/>
              </a:rPr>
              <a:t>RXD</a:t>
            </a:r>
            <a:r>
              <a:rPr lang="zh-CN" altLang="en-US" sz="1400" b="1" dirty="0">
                <a:sym typeface="+mn-ea"/>
              </a:rPr>
              <a:t>作为串行数据</a:t>
            </a:r>
            <a:r>
              <a:rPr lang="en-US" altLang="zh-CN" sz="1400" b="1" dirty="0">
                <a:sym typeface="+mn-ea"/>
              </a:rPr>
              <a:t>I/O</a:t>
            </a:r>
            <a:r>
              <a:rPr lang="zh-CN" altLang="en-US" sz="1400" b="1" dirty="0">
                <a:sym typeface="+mn-ea"/>
              </a:rPr>
              <a:t>端、</a:t>
            </a:r>
            <a:r>
              <a:rPr lang="en-US" altLang="zh-CN" sz="1400" b="1">
                <a:solidFill>
                  <a:srgbClr val="DA0702"/>
                </a:solidFill>
                <a:sym typeface="+mn-ea"/>
              </a:rPr>
              <a:t>Load</a:t>
            </a:r>
            <a:r>
              <a:rPr lang="zh-CN" altLang="en-US" sz="1400" b="1" dirty="0">
                <a:sym typeface="+mn-ea"/>
              </a:rPr>
              <a:t>为芯片选择端。</a:t>
            </a:r>
            <a:endParaRPr lang="zh-CN" altLang="en-US" sz="1400" b="1" dirty="0"/>
          </a:p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zh-CN" altLang="en-US" sz="1400" b="1" dirty="0">
                <a:sym typeface="+mn-ea"/>
              </a:rPr>
              <a:t>       当</a:t>
            </a:r>
            <a:r>
              <a:rPr lang="en-US" altLang="zh-CN" sz="1400" b="1">
                <a:solidFill>
                  <a:srgbClr val="DA0702"/>
                </a:solidFill>
                <a:sym typeface="+mn-ea"/>
              </a:rPr>
              <a:t>Load</a:t>
            </a:r>
            <a:r>
              <a:rPr lang="zh-CN" altLang="en-US" sz="1400" b="1" dirty="0">
                <a:sym typeface="+mn-ea"/>
              </a:rPr>
              <a:t>位于低电平时，对它进行读</a:t>
            </a:r>
            <a:r>
              <a:rPr lang="en-US" altLang="zh-CN" sz="1400" b="1" dirty="0">
                <a:sym typeface="+mn-ea"/>
              </a:rPr>
              <a:t>/</a:t>
            </a:r>
            <a:r>
              <a:rPr lang="zh-CN" altLang="en-US" sz="1400" b="1" dirty="0">
                <a:sym typeface="+mn-ea"/>
              </a:rPr>
              <a:t>写操作；</a:t>
            </a:r>
            <a:endParaRPr lang="zh-CN" altLang="en-US" sz="1400" b="1" dirty="0"/>
          </a:p>
          <a:p>
            <a:pPr>
              <a:lnSpc>
                <a:spcPct val="150000"/>
              </a:lnSpc>
              <a:spcBef>
                <a:spcPct val="10000"/>
              </a:spcBef>
              <a:buNone/>
            </a:pPr>
            <a:r>
              <a:rPr lang="zh-CN" altLang="en-US" sz="1400" b="1" dirty="0">
                <a:sym typeface="+mn-ea"/>
              </a:rPr>
              <a:t>       当</a:t>
            </a:r>
            <a:r>
              <a:rPr lang="en-US" altLang="zh-CN" sz="1400" b="1">
                <a:solidFill>
                  <a:srgbClr val="DA0702"/>
                </a:solidFill>
                <a:sym typeface="+mn-ea"/>
              </a:rPr>
              <a:t>Load</a:t>
            </a:r>
            <a:r>
              <a:rPr lang="zh-CN" altLang="en-US" sz="1400" b="1" dirty="0">
                <a:sym typeface="+mn-ea"/>
              </a:rPr>
              <a:t>为高电平时，</a:t>
            </a:r>
            <a:r>
              <a:rPr lang="en-US" altLang="zh-CN" sz="1400" b="1" dirty="0">
                <a:sym typeface="+mn-ea"/>
              </a:rPr>
              <a:t>DIN</a:t>
            </a:r>
            <a:r>
              <a:rPr lang="zh-CN" altLang="en-US" sz="1400" b="1" dirty="0">
                <a:sym typeface="+mn-ea"/>
              </a:rPr>
              <a:t>处于高阻状态。允许多个串行接口芯片共同使用</a:t>
            </a:r>
            <a:r>
              <a:rPr lang="en-US" altLang="zh-CN" sz="1400" b="1" dirty="0">
                <a:sym typeface="+mn-ea"/>
              </a:rPr>
              <a:t>89C51</a:t>
            </a:r>
            <a:r>
              <a:rPr lang="zh-CN" altLang="en-US" sz="1400" b="1" dirty="0">
                <a:sym typeface="+mn-ea"/>
              </a:rPr>
              <a:t>的串行口。</a:t>
            </a:r>
            <a:endParaRPr lang="zh-CN" altLang="en-US" sz="1400" b="1" dirty="0"/>
          </a:p>
        </p:txBody>
      </p:sp>
      <p:pic>
        <p:nvPicPr>
          <p:cNvPr id="40962" name="图片 26633" descr="08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930" y="1421765"/>
            <a:ext cx="3599815" cy="1898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5" name="标题 27660"/>
          <p:cNvSpPr>
            <a:spLocks noGrp="1" noRot="1"/>
          </p:cNvSpPr>
          <p:nvPr/>
        </p:nvSpPr>
        <p:spPr>
          <a:xfrm>
            <a:off x="497205" y="3636963"/>
            <a:ext cx="4163695" cy="27686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algn="l"/>
            <a:r>
              <a:rPr lang="en-US" altLang="zh-CN" sz="1800" b="1" dirty="0"/>
              <a:t>(3)</a:t>
            </a:r>
            <a:r>
              <a:rPr lang="zh-CN" altLang="en-US" sz="1800" b="1" dirty="0"/>
              <a:t> 串行模拟量输入芯片</a:t>
            </a:r>
            <a:r>
              <a:rPr lang="en-US" altLang="zh-CN" sz="1800" b="1"/>
              <a:t>MAX1458</a:t>
            </a:r>
          </a:p>
        </p:txBody>
      </p:sp>
      <p:sp>
        <p:nvSpPr>
          <p:cNvPr id="41986" name="文本框 27661"/>
          <p:cNvSpPr txBox="1"/>
          <p:nvPr/>
        </p:nvSpPr>
        <p:spPr>
          <a:xfrm>
            <a:off x="207010" y="3968750"/>
            <a:ext cx="9144000" cy="3619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chemeClr val="tx2"/>
              </a:buClr>
            </a:pPr>
            <a:r>
              <a:rPr lang="en-US" altLang="zh-CN" sz="1600" b="1" u="none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1600" b="1" u="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8" name="文本框 27663"/>
          <p:cNvSpPr/>
          <p:nvPr/>
        </p:nvSpPr>
        <p:spPr>
          <a:xfrm>
            <a:off x="488315" y="4060190"/>
            <a:ext cx="4669155" cy="2304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10000"/>
              </a:spcBef>
              <a:buClrTx/>
              <a:buSzTx/>
              <a:buFontTx/>
            </a:pPr>
            <a:r>
              <a:rPr lang="en-US" altLang="zh-CN" sz="1400" b="1" kern="0" dirty="0">
                <a:sym typeface="+mn-ea"/>
              </a:rPr>
              <a:t>          </a:t>
            </a:r>
            <a:r>
              <a:rPr lang="en-US" altLang="zh-CN" sz="1400" b="1" kern="0" dirty="0">
                <a:solidFill>
                  <a:srgbClr val="FF3300"/>
                </a:solidFill>
                <a:sym typeface="+mn-ea"/>
              </a:rPr>
              <a:t>MAX1458</a:t>
            </a:r>
            <a:r>
              <a:rPr lang="en-US" altLang="zh-CN" sz="1400" b="1" kern="0" dirty="0">
                <a:sym typeface="+mn-ea"/>
              </a:rPr>
              <a:t>是一个可对差分输入信号进行程控放大（放大倍数可设定），并进行12位A/D转换的芯片。它既可把转换好的数据通过串口送到CPU，同时也可将转换前的模拟信号输出到显示仪表。</a:t>
            </a:r>
          </a:p>
          <a:p>
            <a:pPr lvl="0" algn="l">
              <a:lnSpc>
                <a:spcPct val="150000"/>
              </a:lnSpc>
              <a:spcBef>
                <a:spcPct val="10000"/>
              </a:spcBef>
              <a:buClrTx/>
              <a:buSzTx/>
              <a:buFontTx/>
            </a:pPr>
            <a:r>
              <a:rPr lang="en-US" altLang="zh-CN" sz="1400" b="1" kern="0" dirty="0">
                <a:sym typeface="+mn-ea"/>
              </a:rPr>
              <a:t>        当</a:t>
            </a:r>
            <a:r>
              <a:rPr lang="en-US" altLang="zh-CN" sz="1400" b="1" kern="0" dirty="0">
                <a:solidFill>
                  <a:srgbClr val="FF3300"/>
                </a:solidFill>
                <a:sym typeface="+mn-ea"/>
              </a:rPr>
              <a:t>CS</a:t>
            </a:r>
            <a:r>
              <a:rPr lang="en-US" altLang="zh-CN" sz="1400" b="1" kern="0" dirty="0">
                <a:sym typeface="+mn-ea"/>
              </a:rPr>
              <a:t>为高电平时，可对MAX1458进行读/写，单片机对它的读/写也是以串口方式0进行的；</a:t>
            </a:r>
          </a:p>
          <a:p>
            <a:pPr lvl="0" algn="l">
              <a:lnSpc>
                <a:spcPct val="150000"/>
              </a:lnSpc>
              <a:spcBef>
                <a:spcPct val="10000"/>
              </a:spcBef>
              <a:buClrTx/>
              <a:buSzTx/>
              <a:buFontTx/>
            </a:pPr>
            <a:r>
              <a:rPr lang="en-US" altLang="zh-CN" sz="1400" b="1" kern="0" dirty="0">
                <a:sym typeface="+mn-ea"/>
              </a:rPr>
              <a:t>        当</a:t>
            </a:r>
            <a:r>
              <a:rPr lang="en-US" altLang="zh-CN" sz="1400" b="1" kern="0" dirty="0">
                <a:solidFill>
                  <a:srgbClr val="FF3300"/>
                </a:solidFill>
                <a:sym typeface="+mn-ea"/>
              </a:rPr>
              <a:t>CS</a:t>
            </a:r>
            <a:r>
              <a:rPr lang="en-US" altLang="zh-CN" sz="1400" b="1" kern="0" dirty="0">
                <a:sym typeface="+mn-ea"/>
              </a:rPr>
              <a:t>为低电平时，DIO对外处于高阻状态。</a:t>
            </a:r>
          </a:p>
        </p:txBody>
      </p:sp>
      <p:pic>
        <p:nvPicPr>
          <p:cNvPr id="41987" name="图片 27662" descr="08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930" y="4330700"/>
            <a:ext cx="3600000" cy="142331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矩形 32782"/>
          <p:cNvSpPr/>
          <p:nvPr/>
        </p:nvSpPr>
        <p:spPr>
          <a:xfrm>
            <a:off x="693103" y="3855403"/>
            <a:ext cx="8101012" cy="21351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1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0" name="标题 32779"/>
          <p:cNvSpPr>
            <a:spLocks noGrp="1" noRot="1"/>
          </p:cNvSpPr>
          <p:nvPr>
            <p:ph type="title"/>
          </p:nvPr>
        </p:nvSpPr>
        <p:spPr>
          <a:xfrm>
            <a:off x="1438275" y="481965"/>
            <a:ext cx="5169535" cy="276860"/>
          </a:xfrm>
        </p:spPr>
        <p:txBody>
          <a:bodyPr wrap="square" anchor="ctr"/>
          <a:lstStyle/>
          <a:p>
            <a:pPr algn="l"/>
            <a:r>
              <a:rPr lang="zh-CN" altLang="en-US" sz="1800" b="1" dirty="0">
                <a:solidFill>
                  <a:srgbClr val="FF3300"/>
                </a:solidFill>
              </a:rPr>
              <a:t>（</a:t>
            </a:r>
            <a:r>
              <a:rPr lang="en-US" altLang="zh-CN" sz="1800" b="1" dirty="0">
                <a:solidFill>
                  <a:srgbClr val="FF3300"/>
                </a:solidFill>
              </a:rPr>
              <a:t>4</a:t>
            </a:r>
            <a:r>
              <a:rPr lang="zh-CN" altLang="en-US" sz="1800" b="1" dirty="0">
                <a:solidFill>
                  <a:srgbClr val="FF3300"/>
                </a:solidFill>
              </a:rPr>
              <a:t>） 串行接口芯片的一般接口规律</a:t>
            </a:r>
          </a:p>
        </p:txBody>
      </p:sp>
      <p:sp>
        <p:nvSpPr>
          <p:cNvPr id="43011" name="文本占位符 32780"/>
          <p:cNvSpPr>
            <a:spLocks noGrp="1" noRot="1"/>
          </p:cNvSpPr>
          <p:nvPr>
            <p:ph idx="1"/>
          </p:nvPr>
        </p:nvSpPr>
        <p:spPr>
          <a:xfrm>
            <a:off x="750570" y="1158240"/>
            <a:ext cx="7986395" cy="1846580"/>
          </a:xfrm>
        </p:spPr>
        <p:txBody>
          <a:bodyPr wrap="square" anchor="t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b="1" dirty="0"/>
              <a:t>都需要通过单片机的开关量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口线进行</a:t>
            </a:r>
            <a:r>
              <a:rPr lang="zh-CN" altLang="en-US" sz="1600" b="1" dirty="0">
                <a:solidFill>
                  <a:srgbClr val="FF3300"/>
                </a:solidFill>
              </a:rPr>
              <a:t>芯片选择；</a:t>
            </a:r>
            <a:endParaRPr lang="zh-CN" altLang="en-US" sz="1600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b="1" dirty="0"/>
              <a:t>当芯片未选中时，数据端口均处于</a:t>
            </a:r>
            <a:r>
              <a:rPr lang="zh-CN" altLang="en-US" sz="1600" b="1" dirty="0">
                <a:solidFill>
                  <a:srgbClr val="FF3300"/>
                </a:solidFill>
              </a:rPr>
              <a:t>高阻状态</a:t>
            </a:r>
            <a:r>
              <a:rPr lang="zh-CN" altLang="en-US" sz="1600" b="1" dirty="0"/>
              <a:t>；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b="1" dirty="0"/>
              <a:t>与单片机交换信息时均要求单片机</a:t>
            </a:r>
            <a:r>
              <a:rPr lang="zh-CN" altLang="en-US" sz="1600" b="1" dirty="0">
                <a:solidFill>
                  <a:srgbClr val="FF3300"/>
                </a:solidFill>
              </a:rPr>
              <a:t>串行口以方式</a:t>
            </a:r>
            <a:r>
              <a:rPr lang="en-US" altLang="zh-CN" sz="1600" b="1" dirty="0">
                <a:solidFill>
                  <a:srgbClr val="FF3300"/>
                </a:solidFill>
              </a:rPr>
              <a:t>0</a:t>
            </a:r>
            <a:r>
              <a:rPr lang="zh-CN" altLang="en-US" sz="1600" b="1" dirty="0"/>
              <a:t>进行；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b="1" dirty="0"/>
              <a:t>传输数据时的</a:t>
            </a:r>
            <a:r>
              <a:rPr lang="zh-CN" altLang="en-US" sz="1600" b="1" dirty="0">
                <a:solidFill>
                  <a:srgbClr val="FF3300"/>
                </a:solidFill>
              </a:rPr>
              <a:t>帧格式</a:t>
            </a:r>
            <a:r>
              <a:rPr lang="zh-CN" altLang="en-US" sz="1600" b="1" dirty="0"/>
              <a:t>均要求</a:t>
            </a:r>
            <a:r>
              <a:rPr lang="zh-CN" altLang="en-US" sz="1600" b="1" dirty="0">
                <a:solidFill>
                  <a:srgbClr val="FF3300"/>
                </a:solidFill>
              </a:rPr>
              <a:t>先传送命令</a:t>
            </a:r>
            <a:r>
              <a:rPr lang="en-US" altLang="zh-CN" sz="1600" b="1" dirty="0">
                <a:solidFill>
                  <a:srgbClr val="FF3300"/>
                </a:solidFill>
              </a:rPr>
              <a:t>/</a:t>
            </a:r>
            <a:r>
              <a:rPr lang="zh-CN" altLang="en-US" sz="1600" b="1" dirty="0">
                <a:solidFill>
                  <a:srgbClr val="FF3300"/>
                </a:solidFill>
              </a:rPr>
              <a:t>地址，再传送数据</a:t>
            </a:r>
            <a:r>
              <a:rPr lang="zh-CN" altLang="en-US" sz="1600" b="1" dirty="0"/>
              <a:t>；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600" b="1" dirty="0"/>
              <a:t>大都具有图</a:t>
            </a:r>
            <a:r>
              <a:rPr lang="en-US" altLang="zh-CN" sz="1600" b="1" dirty="0"/>
              <a:t>8-7</a:t>
            </a:r>
            <a:r>
              <a:rPr lang="zh-CN" altLang="en-US" sz="1600" b="1" dirty="0"/>
              <a:t>所示的</a:t>
            </a:r>
            <a:r>
              <a:rPr lang="zh-CN" altLang="en-US" sz="1600" b="1" dirty="0">
                <a:solidFill>
                  <a:srgbClr val="FF3300"/>
                </a:solidFill>
              </a:rPr>
              <a:t>时序波形</a:t>
            </a:r>
            <a:r>
              <a:rPr lang="zh-CN" altLang="en-US" sz="1600" b="1" dirty="0"/>
              <a:t>。</a:t>
            </a:r>
          </a:p>
        </p:txBody>
      </p:sp>
      <p:pic>
        <p:nvPicPr>
          <p:cNvPr id="43012" name="图片 32781" descr="08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965258"/>
            <a:ext cx="7145338" cy="1914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30729"/>
          <p:cNvSpPr>
            <a:spLocks noGrp="1" noRot="1"/>
          </p:cNvSpPr>
          <p:nvPr>
            <p:ph type="title"/>
          </p:nvPr>
        </p:nvSpPr>
        <p:spPr>
          <a:xfrm>
            <a:off x="1363345" y="537528"/>
            <a:ext cx="5212715" cy="276860"/>
          </a:xfrm>
        </p:spPr>
        <p:txBody>
          <a:bodyPr wrap="square" anchor="ctr"/>
          <a:lstStyle/>
          <a:p>
            <a:pPr algn="l"/>
            <a:r>
              <a:rPr lang="zh-CN" altLang="en-US" sz="1800" b="1" dirty="0">
                <a:solidFill>
                  <a:srgbClr val="FF3300"/>
                </a:solidFill>
              </a:rPr>
              <a:t>（</a:t>
            </a:r>
            <a:r>
              <a:rPr lang="en-US" altLang="zh-CN" sz="1800" b="1" dirty="0">
                <a:solidFill>
                  <a:srgbClr val="FF3300"/>
                </a:solidFill>
              </a:rPr>
              <a:t>5</a:t>
            </a:r>
            <a:r>
              <a:rPr lang="zh-CN" altLang="en-US" sz="1800" b="1" dirty="0">
                <a:solidFill>
                  <a:srgbClr val="FF3300"/>
                </a:solidFill>
              </a:rPr>
              <a:t>） 扩展多个串行接口芯片的典型控制器的结构</a:t>
            </a:r>
          </a:p>
        </p:txBody>
      </p:sp>
      <p:pic>
        <p:nvPicPr>
          <p:cNvPr id="45058" name="图片 30730" descr="08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45" y="2774315"/>
            <a:ext cx="5678170" cy="2933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矩形 30731"/>
          <p:cNvSpPr/>
          <p:nvPr/>
        </p:nvSpPr>
        <p:spPr>
          <a:xfrm>
            <a:off x="2097723" y="5851208"/>
            <a:ext cx="4318000" cy="3683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b="1" u="none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b="1" u="none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8-8  </a:t>
            </a:r>
            <a:r>
              <a:rPr lang="zh-CN" altLang="en-US" b="1" u="none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基于串行接口控制器的电路结构图</a:t>
            </a:r>
          </a:p>
        </p:txBody>
      </p:sp>
      <p:sp>
        <p:nvSpPr>
          <p:cNvPr id="45060" name="文本框 30732"/>
          <p:cNvSpPr txBox="1"/>
          <p:nvPr/>
        </p:nvSpPr>
        <p:spPr>
          <a:xfrm>
            <a:off x="1134110" y="1177290"/>
            <a:ext cx="6246495" cy="15125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Font typeface="Wingdings" panose="05000000000000000000" pitchFamily="2" charset="2"/>
              <a:buChar char="v"/>
            </a:pPr>
            <a:r>
              <a:rPr lang="en-US" altLang="zh-CN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数据采集均由</a:t>
            </a:r>
            <a:r>
              <a:rPr lang="zh-CN" altLang="en-US" sz="1400" b="1" u="none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串行接口芯片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完成。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芯片选择方面不是通过地址线完成，而是</a:t>
            </a:r>
            <a:r>
              <a:rPr lang="zh-CN" altLang="en-US" sz="1400" b="1" u="none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通过</a:t>
            </a:r>
            <a:r>
              <a:rPr lang="en-US" altLang="zh-CN" sz="1400" b="1" u="none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400" b="1" u="none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口线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来实现。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在扩展了系统功能的同时，极大地利用了</a:t>
            </a:r>
            <a:r>
              <a:rPr lang="zh-CN" altLang="en-US" sz="1400" b="1" u="none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系统资源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，且使接口简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DA0702"/>
              </a:buClr>
              <a:buFont typeface="Wingdings" panose="05000000000000000000" pitchFamily="2" charset="2"/>
            </a:pP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   单，控制器体积减小，可靠性提高。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31753"/>
          <p:cNvSpPr>
            <a:spLocks noGrp="1" noRot="1"/>
          </p:cNvSpPr>
          <p:nvPr>
            <p:ph type="title"/>
          </p:nvPr>
        </p:nvSpPr>
        <p:spPr>
          <a:xfrm>
            <a:off x="1454150" y="339408"/>
            <a:ext cx="2352675" cy="276860"/>
          </a:xfrm>
        </p:spPr>
        <p:txBody>
          <a:bodyPr wrap="square" anchor="ctr"/>
          <a:lstStyle/>
          <a:p>
            <a:pPr algn="l"/>
            <a:r>
              <a:rPr lang="en-US" altLang="zh-CN" sz="1800" b="1"/>
              <a:t>8.1.2 </a:t>
            </a:r>
            <a:r>
              <a:rPr lang="en-US" altLang="zh-CN" sz="1800" b="1">
                <a:solidFill>
                  <a:srgbClr val="DA0702"/>
                </a:solidFill>
              </a:rPr>
              <a:t> I</a:t>
            </a:r>
            <a:r>
              <a:rPr lang="en-US" altLang="zh-CN" sz="2000" b="1" baseline="30000">
                <a:solidFill>
                  <a:srgbClr val="DA0702"/>
                </a:solidFill>
              </a:rPr>
              <a:t>2</a:t>
            </a:r>
            <a:r>
              <a:rPr lang="en-US" altLang="zh-CN" sz="1800" b="1">
                <a:solidFill>
                  <a:srgbClr val="DA0702"/>
                </a:solidFill>
              </a:rPr>
              <a:t>C</a:t>
            </a:r>
            <a:r>
              <a:rPr lang="zh-CN" altLang="en-US" sz="1800" b="1" dirty="0"/>
              <a:t>总线</a:t>
            </a:r>
          </a:p>
        </p:txBody>
      </p:sp>
      <p:sp>
        <p:nvSpPr>
          <p:cNvPr id="46083" name="矩形 31757"/>
          <p:cNvSpPr/>
          <p:nvPr/>
        </p:nvSpPr>
        <p:spPr>
          <a:xfrm>
            <a:off x="744220" y="1115695"/>
            <a:ext cx="3008630" cy="5048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16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en-US" altLang="zh-CN" sz="1600" b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I</a:t>
            </a:r>
            <a:r>
              <a:rPr lang="en-US" altLang="zh-CN" sz="1600" b="1" baseline="3000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1600" b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总线的概念</a:t>
            </a:r>
          </a:p>
        </p:txBody>
      </p:sp>
      <p:sp>
        <p:nvSpPr>
          <p:cNvPr id="46085" name="文本框 31759"/>
          <p:cNvSpPr txBox="1"/>
          <p:nvPr/>
        </p:nvSpPr>
        <p:spPr>
          <a:xfrm>
            <a:off x="782320" y="1620520"/>
            <a:ext cx="7680325" cy="192482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30000"/>
              </a:spcBef>
              <a:buClr>
                <a:srgbClr val="DA0702"/>
              </a:buClr>
              <a:buFont typeface="Wingdings" panose="05000000000000000000" pitchFamily="2" charset="2"/>
              <a:buChar char="v"/>
            </a:pPr>
            <a:r>
              <a:rPr lang="en-US" altLang="zh-CN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1400" b="1" baseline="30000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14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总线是</a:t>
            </a:r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PHILIPS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公司推出的串行总线。应用非常广泛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.</a:t>
            </a:r>
            <a:endParaRPr lang="en-US" altLang="zh-CN" sz="1400" b="1" u="none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rgbClr val="DA0702"/>
              </a:buClr>
              <a:buFont typeface="Wingdings" panose="05000000000000000000" pitchFamily="2" charset="2"/>
              <a:buChar char="v"/>
            </a:pPr>
            <a:r>
              <a:rPr lang="en-US" altLang="zh-CN" sz="14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1400" b="1" baseline="30000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14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总线具有自动寻址、高低速设备同步和仲裁等功能的高性能串行总线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能实现完善的全双工数据传输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.</a:t>
            </a:r>
            <a:endParaRPr lang="en-US" altLang="zh-CN" sz="1400" b="1" u="none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rgbClr val="DA0702"/>
              </a:buClr>
              <a:buFont typeface="Wingdings" panose="05000000000000000000" pitchFamily="2" charset="2"/>
              <a:buChar char="v"/>
            </a:pPr>
            <a:r>
              <a:rPr lang="en-US" altLang="zh-CN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b="1" u="none" baseline="30000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总线只有两根信号线： 数据线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SDA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和时钟线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SCL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rgbClr val="DA0702"/>
              </a:buClr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 带有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b="1" u="none" baseline="30000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总线接口、符合总线电气规范特性的所有设备，只需将串行数据线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SDA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和时钟线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SCL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分别与总线的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SDA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SCL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相连即可。各节点供电可以不同，但需</a:t>
            </a:r>
            <a:r>
              <a:rPr lang="zh-CN" altLang="en-US" sz="1400" b="1" u="none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共地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，另外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SDA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14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SCL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需分别</a:t>
            </a:r>
            <a:r>
              <a:rPr lang="zh-CN" altLang="en-US" sz="1400" b="1" u="none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接上拉电阻</a:t>
            </a:r>
            <a:r>
              <a:rPr lang="zh-CN" altLang="en-US" sz="1400" b="1" u="none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46086" name="图片 34828" descr="08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25" y="3641725"/>
            <a:ext cx="4086225" cy="2748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37896"/>
          <p:cNvSpPr>
            <a:spLocks noGrp="1" noRot="1"/>
          </p:cNvSpPr>
          <p:nvPr>
            <p:ph type="title"/>
          </p:nvPr>
        </p:nvSpPr>
        <p:spPr>
          <a:xfrm>
            <a:off x="1423035" y="363220"/>
            <a:ext cx="3037840" cy="430530"/>
          </a:xfrm>
        </p:spPr>
        <p:txBody>
          <a:bodyPr wrap="square" anchor="ctr"/>
          <a:lstStyle/>
          <a:p>
            <a:pPr algn="l"/>
            <a:r>
              <a:rPr lang="en-US" altLang="zh-CN" sz="2800" b="1"/>
              <a:t>2.</a:t>
            </a:r>
            <a:r>
              <a:rPr lang="zh-CN" altLang="en-US" sz="2800" b="1"/>
              <a:t> </a:t>
            </a:r>
            <a:r>
              <a:rPr lang="en-US" altLang="zh-CN" sz="2800" b="1">
                <a:solidFill>
                  <a:srgbClr val="DA0702"/>
                </a:solidFill>
              </a:rPr>
              <a:t>I</a:t>
            </a:r>
            <a:r>
              <a:rPr lang="en-US" altLang="zh-CN" sz="2800" b="1" baseline="30000">
                <a:solidFill>
                  <a:srgbClr val="DA0702"/>
                </a:solidFill>
              </a:rPr>
              <a:t>2</a:t>
            </a:r>
            <a:r>
              <a:rPr lang="en-US" altLang="zh-CN" sz="2800" b="1">
                <a:solidFill>
                  <a:srgbClr val="DA0702"/>
                </a:solidFill>
              </a:rPr>
              <a:t>C</a:t>
            </a:r>
            <a:r>
              <a:rPr lang="zh-CN" altLang="en-US" sz="2800" b="1" dirty="0"/>
              <a:t>总线的应用</a:t>
            </a:r>
          </a:p>
        </p:txBody>
      </p:sp>
      <p:pic>
        <p:nvPicPr>
          <p:cNvPr id="48131" name="图片 37897" descr="08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" y="1665605"/>
            <a:ext cx="7207885" cy="2530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2" name="矩形 37898"/>
          <p:cNvSpPr/>
          <p:nvPr/>
        </p:nvSpPr>
        <p:spPr>
          <a:xfrm>
            <a:off x="1933575" y="4573270"/>
            <a:ext cx="5356225" cy="39846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000" b="1" u="none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 b="1" u="none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8-10  I</a:t>
            </a:r>
            <a:r>
              <a:rPr lang="en-US" altLang="zh-CN" sz="2000" b="1" u="none" baseline="3000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b="1" u="none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b="1" u="none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总线外围扩展示意图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矩形 114696"/>
          <p:cNvSpPr/>
          <p:nvPr/>
        </p:nvSpPr>
        <p:spPr>
          <a:xfrm>
            <a:off x="509588" y="2711450"/>
            <a:ext cx="7940675" cy="34099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1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693" name="矩形 114692"/>
          <p:cNvSpPr/>
          <p:nvPr/>
        </p:nvSpPr>
        <p:spPr>
          <a:xfrm>
            <a:off x="1419860" y="264795"/>
            <a:ext cx="2766695" cy="6794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8.1.3  </a:t>
            </a:r>
            <a:r>
              <a:rPr lang="zh-CN" altLang="en-US" sz="2800" b="1" strike="noStrike" noProof="1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单总线</a:t>
            </a:r>
          </a:p>
        </p:txBody>
      </p:sp>
      <p:sp>
        <p:nvSpPr>
          <p:cNvPr id="50179" name="矩形 114693"/>
          <p:cNvSpPr/>
          <p:nvPr/>
        </p:nvSpPr>
        <p:spPr>
          <a:xfrm>
            <a:off x="540385" y="1133475"/>
            <a:ext cx="7910195" cy="15290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单总线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－</a:t>
            </a:r>
            <a:r>
              <a:rPr lang="en-US" altLang="zh-CN" b="1" u="none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Wire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）是</a:t>
            </a:r>
            <a:r>
              <a:rPr lang="en-US" altLang="zh-CN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Dallas</a:t>
            </a:r>
            <a:r>
              <a:rPr lang="zh-CN" altLang="en-US" b="1" u="none" dirty="0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公司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推出的外围串行扩展总线。单总线只有一根数据输入</a:t>
            </a: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输出线，可由单片机或</a:t>
            </a: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机的</a:t>
            </a: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根</a:t>
            </a: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口线作为数据输入</a:t>
            </a: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输出线，所有的器件都挂在这根线上。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Dallas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公司为单总线的寻址及数据传送提供了严格的时序规范。</a:t>
            </a:r>
          </a:p>
        </p:txBody>
      </p:sp>
      <p:pic>
        <p:nvPicPr>
          <p:cNvPr id="50180" name="图片 114694" descr="08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08" y="2851785"/>
            <a:ext cx="7500937" cy="2624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1" name="矩形 114695"/>
          <p:cNvSpPr/>
          <p:nvPr/>
        </p:nvSpPr>
        <p:spPr>
          <a:xfrm>
            <a:off x="1285875" y="5613400"/>
            <a:ext cx="6388100" cy="3714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t"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－</a:t>
            </a:r>
            <a:r>
              <a:rPr lang="en-US" altLang="zh-CN" b="1" u="none" dirty="0">
                <a:latin typeface="Arial" panose="020B0604020202020204" pitchFamily="34" charset="0"/>
                <a:ea typeface="宋体" panose="02010600030101010101" pitchFamily="2" charset="-122"/>
              </a:rPr>
              <a:t>18   </a:t>
            </a:r>
            <a:r>
              <a:rPr lang="zh-CN" altLang="en-US" b="1" u="none" dirty="0">
                <a:latin typeface="Arial" panose="020B0604020202020204" pitchFamily="34" charset="0"/>
                <a:ea typeface="宋体" panose="02010600030101010101" pitchFamily="2" charset="-122"/>
              </a:rPr>
              <a:t>单总线构成的分布式温度监测系统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239000" y="6492240"/>
            <a:ext cx="1905000" cy="365760"/>
          </a:xfrm>
        </p:spPr>
        <p:txBody>
          <a:bodyPr/>
          <a:lstStyle/>
          <a:p>
            <a:pPr lvl="0" algn="r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17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7" name="矩形 115716"/>
          <p:cNvSpPr/>
          <p:nvPr/>
        </p:nvSpPr>
        <p:spPr>
          <a:xfrm>
            <a:off x="1400810" y="232410"/>
            <a:ext cx="5713730" cy="6794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b="1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DS18B20</a:t>
            </a:r>
            <a:r>
              <a:rPr lang="zh-CN" altLang="en-US" sz="28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单总线测温系统</a:t>
            </a:r>
          </a:p>
        </p:txBody>
      </p:sp>
      <p:sp>
        <p:nvSpPr>
          <p:cNvPr id="52226" name="矩形 115717"/>
          <p:cNvSpPr/>
          <p:nvPr/>
        </p:nvSpPr>
        <p:spPr>
          <a:xfrm>
            <a:off x="250825" y="1719263"/>
            <a:ext cx="8893175" cy="15843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2227" name="矩形 115718"/>
          <p:cNvSpPr/>
          <p:nvPr/>
        </p:nvSpPr>
        <p:spPr>
          <a:xfrm>
            <a:off x="563245" y="1104265"/>
            <a:ext cx="3221990" cy="5048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1)  </a:t>
            </a:r>
            <a:r>
              <a:rPr lang="en-US" altLang="zh-CN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的特性及引脚</a:t>
            </a:r>
          </a:p>
        </p:txBody>
      </p:sp>
      <p:sp>
        <p:nvSpPr>
          <p:cNvPr id="52228" name="矩形 115719"/>
          <p:cNvSpPr/>
          <p:nvPr/>
        </p:nvSpPr>
        <p:spPr>
          <a:xfrm>
            <a:off x="632460" y="1681480"/>
            <a:ext cx="4343400" cy="47688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600" b="1" dirty="0">
                <a:solidFill>
                  <a:srgbClr val="DA0702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DS18B20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是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Dallas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公司的单总线数字温度传感器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仅需一根口线与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MCU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相连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.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它把温度信号直接转换成串行数字信号给单片机 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.</a:t>
            </a:r>
            <a:endParaRPr lang="en-US" altLang="zh-CN" sz="1600" b="1" u="none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一条总线上可挂接任意多个</a:t>
            </a:r>
            <a:r>
              <a:rPr lang="en-US" altLang="zh-CN" sz="1600" b="1" dirty="0">
                <a:solidFill>
                  <a:srgbClr val="DA0702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DS18B20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芯片。</a:t>
            </a:r>
            <a:endParaRPr lang="zh-CN" altLang="en-US" sz="1600" b="1" u="none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测温范围为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-55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～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125 ℃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，精度为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0.5 ℃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-10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～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85 ℃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范围内）；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9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位温度读数；温度转换时间最长为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750 ms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；用户可自设定温度报警上下限。</a:t>
            </a:r>
          </a:p>
          <a:p>
            <a:pPr marL="342900" indent="-342900">
              <a:lnSpc>
                <a:spcPct val="15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600" b="1" u="none" dirty="0">
                <a:solidFill>
                  <a:srgbClr val="DA0702"/>
                </a:solidFill>
                <a:latin typeface="Times New Roman" panose="02020603050405020304" charset="0"/>
                <a:ea typeface="宋体" panose="02010600030101010101" pitchFamily="2" charset="-122"/>
              </a:rPr>
              <a:t>DS18B20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采用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脚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PR35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封装（或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脚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SOIC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封装），引脚排列如图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819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所示。图中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GND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为地，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DQ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为数据输入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/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输出脚（单线接口，可作寄生供电），</a:t>
            </a:r>
            <a:r>
              <a:rPr lang="en-US" altLang="zh-CN" sz="1600" b="1" u="none" dirty="0">
                <a:latin typeface="Times New Roman" panose="02020603050405020304" charset="0"/>
                <a:ea typeface="宋体" panose="02010600030101010101" pitchFamily="2" charset="-122"/>
              </a:rPr>
              <a:t>VDD</a:t>
            </a:r>
            <a:r>
              <a:rPr lang="zh-CN" altLang="en-US" sz="1600" b="1" u="none" dirty="0">
                <a:latin typeface="Times New Roman" panose="02020603050405020304" charset="0"/>
                <a:ea typeface="宋体" panose="02010600030101010101" pitchFamily="2" charset="-122"/>
              </a:rPr>
              <a:t>为电源电压。由数据线提供电源</a:t>
            </a:r>
          </a:p>
        </p:txBody>
      </p:sp>
      <p:pic>
        <p:nvPicPr>
          <p:cNvPr id="52229" name="图片 115720" descr="08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110" y="1719580"/>
            <a:ext cx="1308100" cy="2327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210" y="1681480"/>
            <a:ext cx="2644775" cy="391033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27440" y="6450330"/>
            <a:ext cx="416560" cy="40513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18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矩形 84999"/>
          <p:cNvSpPr/>
          <p:nvPr/>
        </p:nvSpPr>
        <p:spPr>
          <a:xfrm>
            <a:off x="1469390" y="223520"/>
            <a:ext cx="4608830" cy="765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2) </a:t>
            </a:r>
            <a:r>
              <a:rPr lang="en-US" altLang="zh-CN" sz="28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DS18B20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的内部结构</a:t>
            </a:r>
          </a:p>
        </p:txBody>
      </p:sp>
      <p:sp>
        <p:nvSpPr>
          <p:cNvPr id="53250" name="矩形 85000"/>
          <p:cNvSpPr/>
          <p:nvPr/>
        </p:nvSpPr>
        <p:spPr>
          <a:xfrm>
            <a:off x="461645" y="1158875"/>
            <a:ext cx="8009255" cy="513969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主要包括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寄生电源、温度传感器、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位激光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单线接口、存放中间数据的高速暂存器（内含便笺式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）、用于存储用户设定的温度上下限值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TH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TL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的触发器、存储与控制逻辑、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位循环冗余校验码（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CRC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）发生器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部分。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既可以采用</a:t>
            </a:r>
            <a:r>
              <a:rPr lang="zh-CN" altLang="en-US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寄生供电，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也可以采用</a:t>
            </a:r>
            <a:r>
              <a:rPr lang="zh-CN" altLang="en-US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</a:t>
            </a:r>
            <a:r>
              <a:rPr lang="en-US" altLang="zh-CN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5V</a:t>
            </a:r>
            <a:r>
              <a:rPr lang="zh-CN" altLang="en-US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电源供电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。寄生供电时，当总线上是高电平时，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DS18B20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从总线上获得能量并储存在内部电容上。当总线上是低电平时，由电容向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DS18B20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供电。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内部计数器对一个受温度影响的振荡器计数。</a:t>
            </a:r>
            <a:r>
              <a:rPr lang="zh-CN" altLang="en-US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温度表示值应为</a:t>
            </a:r>
            <a:r>
              <a:rPr lang="en-US" altLang="zh-CN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6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高位为符号位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，但因符号位扩展成高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位，故以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位补码形式读出，温度与数字量的关系如表所列。</a:t>
            </a:r>
            <a:endParaRPr lang="zh-CN" altLang="en-US" sz="1600" b="1" u="none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3251" name="图片 85001" descr="08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067" y="2667000"/>
            <a:ext cx="3999865" cy="1304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20455" y="6400800"/>
            <a:ext cx="423545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19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矩形 87044"/>
          <p:cNvSpPr/>
          <p:nvPr/>
        </p:nvSpPr>
        <p:spPr>
          <a:xfrm>
            <a:off x="1386205" y="288925"/>
            <a:ext cx="2834005" cy="6083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温度巡回检测系统电路</a:t>
            </a:r>
          </a:p>
        </p:txBody>
      </p:sp>
      <p:sp>
        <p:nvSpPr>
          <p:cNvPr id="54274" name="矩形 87045"/>
          <p:cNvSpPr/>
          <p:nvPr/>
        </p:nvSpPr>
        <p:spPr>
          <a:xfrm>
            <a:off x="458470" y="1080135"/>
            <a:ext cx="4476750" cy="192341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采用寄生电源供电方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如图。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为提供足够的电流，用一个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MOSFET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管和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89C51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的一个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口线（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P1.0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）来完成对</a:t>
            </a:r>
            <a:r>
              <a:rPr lang="en-US" altLang="zh-CN" sz="1600" b="1" u="none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总线的上拉。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采用寄生电源供电时，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VDD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必须接地。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在此采用 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P1.1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口作发送口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Tx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600" b="1" u="none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P1.2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口作接收口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Rx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600" b="1" u="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4275" name="图片 87046" descr="08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0" y="1282700"/>
            <a:ext cx="3687445" cy="162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6" name="矩形 87048"/>
          <p:cNvSpPr/>
          <p:nvPr/>
        </p:nvSpPr>
        <p:spPr>
          <a:xfrm>
            <a:off x="0" y="3810000"/>
            <a:ext cx="9144000" cy="2643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400" b="1" u="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4277" name="图片 88074" descr="08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55" y="3098800"/>
            <a:ext cx="3131820" cy="33553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8" name="矩形 88075"/>
          <p:cNvSpPr/>
          <p:nvPr/>
        </p:nvSpPr>
        <p:spPr>
          <a:xfrm>
            <a:off x="458470" y="3567430"/>
            <a:ext cx="4527550" cy="260413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① 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初始化（发一个不少于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480 </a:t>
            </a:r>
            <a:r>
              <a:rPr lang="en-US" altLang="zh-CN" sz="1600" b="1" u="none" dirty="0" err="1">
                <a:latin typeface="Arial" panose="020B0604020202020204" pitchFamily="34" charset="0"/>
                <a:ea typeface="宋体" panose="02010600030101010101" pitchFamily="2" charset="-122"/>
              </a:rPr>
              <a:t>μs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的低脉冲）；</a:t>
            </a: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②  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执行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ROM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命令，主要用于定位；</a:t>
            </a: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③  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执行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的存储控制命令，用于转换和读数据；</a:t>
            </a: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④  DS18B20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信号有复位脉冲、回应脉冲、写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、读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、写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和读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等几种。除回应脉冲由</a:t>
            </a:r>
            <a:r>
              <a:rPr lang="en-US" altLang="zh-CN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DS18S20</a:t>
            </a:r>
            <a:r>
              <a:rPr lang="zh-CN" altLang="en-US" sz="1600" b="1" u="none" dirty="0">
                <a:latin typeface="Arial" panose="020B0604020202020204" pitchFamily="34" charset="0"/>
                <a:ea typeface="宋体" panose="02010600030101010101" pitchFamily="2" charset="-122"/>
              </a:rPr>
              <a:t>发出外，其余都由主机发出。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44255" y="6497320"/>
            <a:ext cx="499745" cy="36068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矩形 89095"/>
          <p:cNvSpPr/>
          <p:nvPr/>
        </p:nvSpPr>
        <p:spPr>
          <a:xfrm>
            <a:off x="868680" y="1610360"/>
            <a:ext cx="3679825" cy="47371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</a:t>
            </a:r>
            <a:r>
              <a:rPr lang="en-US" altLang="zh-CN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ROM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命令</a:t>
            </a:r>
          </a:p>
        </p:txBody>
      </p:sp>
      <p:graphicFrame>
        <p:nvGraphicFramePr>
          <p:cNvPr id="55300" name="对象 89098"/>
          <p:cNvGraphicFramePr/>
          <p:nvPr/>
        </p:nvGraphicFramePr>
        <p:xfrm>
          <a:off x="1242695" y="4425315"/>
          <a:ext cx="5721350" cy="2125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72175" imgH="2562225" progId="Paint.Picture">
                  <p:embed/>
                </p:oleObj>
              </mc:Choice>
              <mc:Fallback>
                <p:oleObj r:id="rId2" imgW="5972175" imgH="25622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42695" y="4425315"/>
                        <a:ext cx="5721350" cy="2125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3" name="矩形 87044"/>
          <p:cNvSpPr/>
          <p:nvPr/>
        </p:nvSpPr>
        <p:spPr>
          <a:xfrm>
            <a:off x="1386205" y="288925"/>
            <a:ext cx="2834005" cy="6083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工作过程</a:t>
            </a:r>
          </a:p>
        </p:txBody>
      </p:sp>
      <p:sp>
        <p:nvSpPr>
          <p:cNvPr id="2" name="矩形 90120"/>
          <p:cNvSpPr/>
          <p:nvPr/>
        </p:nvSpPr>
        <p:spPr>
          <a:xfrm>
            <a:off x="457200" y="1076960"/>
            <a:ext cx="7638415" cy="61214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89C51/S51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先发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复位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的负脉冲，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接着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收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的回应脉冲，这时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89C51/S51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再发</a:t>
            </a:r>
            <a:r>
              <a:rPr lang="en-US" altLang="zh-CN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ROM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命令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33H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最后发存储和控制命令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65" y="2012950"/>
            <a:ext cx="6871970" cy="241236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66480" y="6514465"/>
            <a:ext cx="443865" cy="302895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z="1600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21</a:t>
            </a:fld>
            <a:endParaRPr lang="zh-CN" altLang="en-US" sz="1600" strike="noStrike" noProof="1"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矩形 90120"/>
          <p:cNvSpPr/>
          <p:nvPr/>
        </p:nvSpPr>
        <p:spPr>
          <a:xfrm>
            <a:off x="1019175" y="1715135"/>
            <a:ext cx="3014345" cy="33528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</a:t>
            </a:r>
            <a:r>
              <a:rPr lang="en-US" altLang="zh-CN" sz="1600" b="1" dirty="0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存储控制命令 </a:t>
            </a:r>
          </a:p>
        </p:txBody>
      </p:sp>
      <p:sp>
        <p:nvSpPr>
          <p:cNvPr id="56322" name="矩形 90121"/>
          <p:cNvSpPr/>
          <p:nvPr/>
        </p:nvSpPr>
        <p:spPr>
          <a:xfrm>
            <a:off x="551180" y="2181225"/>
            <a:ext cx="7762240" cy="151892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05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400" b="1" u="none" dirty="0">
                <a:solidFill>
                  <a:srgbClr val="DA0702"/>
                </a:solidFill>
                <a:latin typeface="Times New Roman" panose="02020603050405020304" charset="0"/>
                <a:ea typeface="宋体" panose="02010600030101010101" pitchFamily="2" charset="-122"/>
              </a:rPr>
              <a:t>DS18B20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的存储器由便笺式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和非易失性电擦写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EERAM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组成，后者用于存储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TH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和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TL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值。</a:t>
            </a:r>
          </a:p>
          <a:p>
            <a:pPr marL="342900" indent="-342900">
              <a:lnSpc>
                <a:spcPct val="105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数据先写入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，经校验后再传给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EERAM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05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便笺式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RAM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占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9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字节，包括温度信息（第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字节）、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TH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TL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值（第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字节）、计数寄存器（第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7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字节）、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CRC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（第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9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字节）等，第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字节不用。</a:t>
            </a:r>
          </a:p>
          <a:p>
            <a:pPr marL="342900" indent="-342900">
              <a:lnSpc>
                <a:spcPct val="105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400" b="1" u="none" dirty="0">
                <a:solidFill>
                  <a:srgbClr val="DA0702"/>
                </a:solidFill>
                <a:latin typeface="Times New Roman" panose="02020603050405020304" charset="0"/>
                <a:ea typeface="宋体" panose="02010600030101010101" pitchFamily="2" charset="-122"/>
              </a:rPr>
              <a:t>DS18B20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存储控制命令共有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种，如表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－</a:t>
            </a:r>
            <a:r>
              <a:rPr lang="en-US" altLang="zh-CN" sz="1400" b="1" u="none" dirty="0"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1400" b="1" u="none" dirty="0">
                <a:latin typeface="Times New Roman" panose="02020603050405020304" charset="0"/>
                <a:ea typeface="宋体" panose="02010600030101010101" pitchFamily="2" charset="-122"/>
              </a:rPr>
              <a:t>所列。</a:t>
            </a:r>
          </a:p>
        </p:txBody>
      </p:sp>
      <p:graphicFrame>
        <p:nvGraphicFramePr>
          <p:cNvPr id="56323" name="对象 90122"/>
          <p:cNvGraphicFramePr/>
          <p:nvPr/>
        </p:nvGraphicFramePr>
        <p:xfrm>
          <a:off x="1474470" y="3455035"/>
          <a:ext cx="6650355" cy="263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81700" imgH="2924175" progId="Paint.Picture">
                  <p:embed/>
                </p:oleObj>
              </mc:Choice>
              <mc:Fallback>
                <p:oleObj r:id="rId2" imgW="5981700" imgH="292417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74470" y="3455035"/>
                        <a:ext cx="6650355" cy="2630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3" name="矩形 87044"/>
          <p:cNvSpPr/>
          <p:nvPr/>
        </p:nvSpPr>
        <p:spPr>
          <a:xfrm>
            <a:off x="1386205" y="288925"/>
            <a:ext cx="2834005" cy="6083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工作过程</a:t>
            </a:r>
          </a:p>
        </p:txBody>
      </p:sp>
      <p:sp>
        <p:nvSpPr>
          <p:cNvPr id="2" name="矩形 90120"/>
          <p:cNvSpPr/>
          <p:nvPr/>
        </p:nvSpPr>
        <p:spPr>
          <a:xfrm>
            <a:off x="457200" y="1102360"/>
            <a:ext cx="8229600" cy="61214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89C51/S51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先发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复位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的负脉冲，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接着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收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DS18B20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的回应脉冲，这时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89C51/S51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再发</a:t>
            </a:r>
            <a:r>
              <a:rPr lang="en-US" altLang="zh-CN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ROM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命令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33H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</a:t>
            </a:r>
            <a:r>
              <a:rPr lang="zh-CN" altLang="en-US" sz="16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最后发存储和控制命令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86800" y="6400800"/>
            <a:ext cx="43434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22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矩形 91140"/>
          <p:cNvSpPr/>
          <p:nvPr/>
        </p:nvSpPr>
        <p:spPr>
          <a:xfrm>
            <a:off x="1381125" y="158750"/>
            <a:ext cx="6196330" cy="765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>
              <a:lnSpc>
                <a:spcPct val="150000"/>
              </a:lnSpc>
            </a:pPr>
            <a:r>
              <a:rPr lang="en-US" altLang="zh-CN" sz="2800" b="1" u="sng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2.  1</a:t>
            </a:r>
            <a:r>
              <a:rPr lang="zh-CN" altLang="en-US" sz="2800" b="1" u="sng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线（</a:t>
            </a:r>
            <a:r>
              <a:rPr lang="en-US" altLang="zh-CN" sz="2800" b="1" u="sng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2800" b="1" u="sng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－</a:t>
            </a:r>
            <a:r>
              <a:rPr lang="en-US" altLang="zh-CN" sz="2800" b="1" u="sng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Wire</a:t>
            </a:r>
            <a:r>
              <a:rPr lang="zh-CN" altLang="en-US" sz="2800" b="1" u="sng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）热电偶测高温</a:t>
            </a:r>
          </a:p>
        </p:txBody>
      </p:sp>
      <p:sp>
        <p:nvSpPr>
          <p:cNvPr id="57346" name="矩形 91141"/>
          <p:cNvSpPr/>
          <p:nvPr/>
        </p:nvSpPr>
        <p:spPr>
          <a:xfrm>
            <a:off x="376555" y="1112520"/>
            <a:ext cx="8371840" cy="56165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线热电偶测量温度是将传统的热电偶与芯片</a:t>
            </a:r>
            <a:r>
              <a:rPr lang="en-US" altLang="zh-CN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DS2760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结合起来，组成一种可直接将</a:t>
            </a:r>
            <a:r>
              <a:rPr lang="zh-CN" altLang="en-US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冷结温度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信号数字化的变送器。该变送器可以</a:t>
            </a:r>
            <a:r>
              <a:rPr lang="zh-CN" altLang="en-US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通过单条双绞线与</a:t>
            </a:r>
            <a:r>
              <a:rPr lang="en-US" altLang="zh-CN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机（或微控制器）主机通信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每一个变送器都可赋予</a:t>
            </a:r>
            <a:r>
              <a:rPr lang="zh-CN" altLang="en-US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单独的</a:t>
            </a:r>
            <a:r>
              <a:rPr lang="en-US" altLang="zh-CN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sz="1400" b="1" u="none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位地址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，方便总线主机的识别和选通。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多个传感器可以形成一个网络，由软件自动识别和处理来自特定传感器的数据。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目前列为工业标准的热电偶较普遍的是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型和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型两种。</a:t>
            </a:r>
            <a:endParaRPr lang="zh-CN" altLang="en-US" sz="14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典型的电子式热电偶构成包括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一个热电偶、一个用于测量热电偶和引线接头处温度的传感器、信号调理单元和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A/D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转换器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。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微处理器利用来自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和冷结处的温度传感器的数据计算出热电偶“热结”处的实际温度。</a:t>
            </a:r>
            <a:endParaRPr lang="zh-CN" altLang="en-US" sz="14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347" name="矩形 92168"/>
          <p:cNvSpPr/>
          <p:nvPr/>
        </p:nvSpPr>
        <p:spPr>
          <a:xfrm>
            <a:off x="444500" y="2966085"/>
            <a:ext cx="9144000" cy="7889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en-US" altLang="zh-CN" sz="1400" b="1" u="none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348" name="矩形 92169"/>
          <p:cNvSpPr/>
          <p:nvPr/>
        </p:nvSpPr>
        <p:spPr>
          <a:xfrm>
            <a:off x="0" y="3836988"/>
            <a:ext cx="9396413" cy="8159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4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7349" name="图片 92170" descr="08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4107498"/>
            <a:ext cx="4152900" cy="1617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707755" y="6511290"/>
            <a:ext cx="436245" cy="34671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23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矩形 93188"/>
          <p:cNvSpPr/>
          <p:nvPr/>
        </p:nvSpPr>
        <p:spPr>
          <a:xfrm>
            <a:off x="1343025" y="294640"/>
            <a:ext cx="4872990" cy="6064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2800" u="none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u="none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 </a:t>
            </a:r>
            <a:r>
              <a:rPr lang="en-US" altLang="zh-CN" sz="2800" b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DS2760</a:t>
            </a:r>
            <a:r>
              <a:rPr lang="zh-CN" altLang="en-US" sz="2800" u="none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芯片</a:t>
            </a:r>
          </a:p>
        </p:txBody>
      </p:sp>
      <p:sp>
        <p:nvSpPr>
          <p:cNvPr id="58370" name="矩形 93189"/>
          <p:cNvSpPr/>
          <p:nvPr/>
        </p:nvSpPr>
        <p:spPr>
          <a:xfrm>
            <a:off x="401320" y="1131888"/>
            <a:ext cx="9144000" cy="59769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5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400" b="1" u="none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DS2760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用来把一个简单的热电偶变成智能传感器。</a:t>
            </a: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4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8371" name="图片 94217" descr="08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2112010" y="3792855"/>
            <a:ext cx="4368800" cy="1558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2" name="矩形 94216"/>
          <p:cNvSpPr/>
          <p:nvPr/>
        </p:nvSpPr>
        <p:spPr>
          <a:xfrm>
            <a:off x="401320" y="1606550"/>
            <a:ext cx="8217535" cy="28765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5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电路中，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C1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和一只肖特基二极管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CR1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构成一个半波整流器，在总线（电压为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5 V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）空闲时为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DS2760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供电。</a:t>
            </a:r>
          </a:p>
          <a:p>
            <a:pPr marL="342900" indent="-342900">
              <a:lnSpc>
                <a:spcPct val="125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余下的肖特基二极管接在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DATA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GND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两脚之间，将负向信号偏移限制在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-4.0 V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以内，以实现电路保护。</a:t>
            </a:r>
          </a:p>
          <a:p>
            <a:pPr marL="342900" indent="-342900">
              <a:lnSpc>
                <a:spcPct val="125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在总线主机控制下，</a:t>
            </a:r>
            <a:r>
              <a:rPr lang="en-US" altLang="zh-CN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DS2760</a:t>
            </a:r>
            <a:r>
              <a:rPr lang="zh-CN" altLang="en-US" sz="14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既监测热电偶热结和冷结间的电压，又用其内部的温度传感器测量冷结温度。主机利用这一信息计算出热结处实际的温度。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88070" y="6506210"/>
            <a:ext cx="455930" cy="35179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24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0" name="矩形 95239"/>
          <p:cNvSpPr/>
          <p:nvPr/>
        </p:nvSpPr>
        <p:spPr>
          <a:xfrm>
            <a:off x="1337945" y="284480"/>
            <a:ext cx="4694555" cy="6083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8.2  </a:t>
            </a:r>
            <a:r>
              <a:rPr lang="zh-CN" altLang="en-US" sz="2800" b="1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并行扩展三总线的产生</a:t>
            </a:r>
          </a:p>
        </p:txBody>
      </p:sp>
      <p:sp>
        <p:nvSpPr>
          <p:cNvPr id="59394" name="矩形 95240"/>
          <p:cNvSpPr/>
          <p:nvPr/>
        </p:nvSpPr>
        <p:spPr>
          <a:xfrm>
            <a:off x="663575" y="1069340"/>
            <a:ext cx="2546350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8.2.1   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片外三总线结构</a:t>
            </a:r>
          </a:p>
        </p:txBody>
      </p:sp>
      <p:sp>
        <p:nvSpPr>
          <p:cNvPr id="59395" name="矩形 95241"/>
          <p:cNvSpPr/>
          <p:nvPr/>
        </p:nvSpPr>
        <p:spPr>
          <a:xfrm>
            <a:off x="299720" y="1416050"/>
            <a:ext cx="8714740" cy="1803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200" b="1" u="none" dirty="0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总线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，就是连接系统中各扩展部件的一组公共信号线。按照功能，系统总线分为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组：地址、数据和控制总线。</a:t>
            </a:r>
          </a:p>
          <a:p>
            <a:pPr marL="342900" indent="-342900">
              <a:lnSpc>
                <a:spcPct val="150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200" b="1" u="none" dirty="0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地址总线</a:t>
            </a:r>
            <a:r>
              <a:rPr lang="en-US" altLang="zh-CN" sz="1200" b="1" u="none" err="1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(Address Bus,AB</a:t>
            </a:r>
            <a:r>
              <a:rPr lang="en-US" altLang="zh-CN" sz="1200" b="1" u="none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用于传送单片机送出的地址信号，以便进行存储单元和Ｉ／Ｏ端口的选择。地址总线是单向的，只能由单片机向外发送。它决定可直接访问的存储单元数目。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89C51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单片机存储器扩展最多可达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64 KB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，因此，需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位地址。</a:t>
            </a:r>
          </a:p>
          <a:p>
            <a:pPr marL="342900" indent="-342900">
              <a:lnSpc>
                <a:spcPct val="150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200" b="1" u="none" dirty="0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数据总线</a:t>
            </a:r>
            <a:r>
              <a:rPr lang="en-US" altLang="zh-CN" sz="1200" b="1" u="none" err="1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(Data Bus,DB</a:t>
            </a:r>
            <a:r>
              <a:rPr lang="en-US" altLang="zh-CN" sz="1200" b="1" u="none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用于单片机与存储器之间或单片机与Ｉ／Ｏ端口之间传送数据。数据总线是双向的。数据总线的位数与单片机字长一致。 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89C51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位字长。</a:t>
            </a:r>
          </a:p>
          <a:p>
            <a:pPr marL="342900" indent="-342900">
              <a:lnSpc>
                <a:spcPct val="150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200" b="1" u="none" dirty="0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控制总线</a:t>
            </a:r>
            <a:r>
              <a:rPr lang="en-US" altLang="zh-CN" sz="1200" b="1" u="none" dirty="0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(Control Bus</a:t>
            </a:r>
            <a:r>
              <a:rPr lang="zh-CN" altLang="en-US" sz="1200" b="1" u="none" dirty="0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200" b="1" u="none">
                <a:solidFill>
                  <a:srgbClr val="DA070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CB)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是单片机发出的以控制片外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sz="12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和Ｉ／Ｏ口读／写操作的一组控制线。</a:t>
            </a:r>
          </a:p>
          <a:p>
            <a:pPr marL="342900" indent="-342900">
              <a:lnSpc>
                <a:spcPct val="150000"/>
              </a:lnSpc>
              <a:spcBef>
                <a:spcPct val="5000"/>
              </a:spcBef>
              <a:buClr>
                <a:schemeClr val="hlink"/>
              </a:buClr>
              <a:buSzPct val="75000"/>
            </a:pPr>
            <a:endParaRPr lang="zh-CN" altLang="en-US" sz="12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2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396" name="矩形 95242"/>
          <p:cNvSpPr/>
          <p:nvPr/>
        </p:nvSpPr>
        <p:spPr>
          <a:xfrm>
            <a:off x="0" y="1916113"/>
            <a:ext cx="8893175" cy="2305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0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2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397" name="矩形 95243"/>
          <p:cNvSpPr/>
          <p:nvPr/>
        </p:nvSpPr>
        <p:spPr>
          <a:xfrm>
            <a:off x="0" y="4149725"/>
            <a:ext cx="9144000" cy="13684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0000"/>
              </a:lnSpc>
              <a:spcBef>
                <a:spcPct val="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2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398" name="矩形 95244"/>
          <p:cNvSpPr/>
          <p:nvPr/>
        </p:nvSpPr>
        <p:spPr>
          <a:xfrm>
            <a:off x="0" y="5445125"/>
            <a:ext cx="9144000" cy="11525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2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399" name="矩形 1"/>
          <p:cNvSpPr/>
          <p:nvPr/>
        </p:nvSpPr>
        <p:spPr>
          <a:xfrm>
            <a:off x="0" y="476250"/>
            <a:ext cx="5292725" cy="15128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endParaRPr lang="en-US" altLang="zh-CN" sz="1200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264" name="矩形 96263"/>
          <p:cNvSpPr/>
          <p:nvPr/>
        </p:nvSpPr>
        <p:spPr>
          <a:xfrm>
            <a:off x="452120" y="3597275"/>
            <a:ext cx="4989830" cy="3000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sz="1200" b="1" strike="noStrike" noProof="1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1. </a:t>
            </a:r>
            <a:r>
              <a:rPr lang="zh-CN" altLang="en-US" sz="1200" b="1" strike="noStrike" noProof="1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以</a:t>
            </a:r>
            <a:r>
              <a:rPr lang="en-US" altLang="zh-CN" sz="1200" b="1" strike="noStrike" noProof="1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P0</a:t>
            </a:r>
            <a:r>
              <a:rPr lang="zh-CN" altLang="en-US" sz="1200" b="1" strike="noStrike" noProof="1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口作地址／数据总线</a:t>
            </a:r>
            <a:endParaRPr lang="zh-CN" altLang="en-US" sz="1200" b="1" strike="noStrike" noProof="1">
              <a:solidFill>
                <a:srgbClr val="CC00CC"/>
              </a:solidFill>
              <a:latin typeface="宋体" panose="02010600030101010101" pitchFamily="2" charset="-122"/>
              <a:sym typeface="+mn-ea"/>
            </a:endParaRPr>
          </a:p>
          <a:p>
            <a:pPr lvl="0" fontAlgn="base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P0</a:t>
            </a:r>
            <a:r>
              <a:rPr lang="zh-CN" altLang="en-US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口分时使用既作低</a:t>
            </a:r>
            <a:r>
              <a:rPr lang="en-US" altLang="zh-CN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8</a:t>
            </a:r>
            <a:r>
              <a:rPr lang="zh-CN" altLang="en-US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位地址线，又用作数据线</a:t>
            </a:r>
            <a:r>
              <a:rPr lang="en-US" altLang="zh-CN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,</a:t>
            </a:r>
            <a:r>
              <a:rPr lang="zh-CN" altLang="en-US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需要加一个</a:t>
            </a:r>
            <a:r>
              <a:rPr lang="en-US" altLang="zh-CN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8</a:t>
            </a:r>
            <a:r>
              <a:rPr lang="zh-CN" altLang="en-US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位锁存器</a:t>
            </a:r>
            <a:r>
              <a:rPr lang="en-US" altLang="zh-CN" sz="12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.</a:t>
            </a:r>
            <a:endParaRPr lang="en-US" altLang="zh-CN" sz="1200" b="1" strike="noStrike" noProof="1">
              <a:solidFill>
                <a:srgbClr val="CC00CC"/>
              </a:solidFill>
            </a:endParaRPr>
          </a:p>
          <a:p>
            <a:pPr marL="0" lvl="0" indent="0" fontAlgn="base">
              <a:lnSpc>
                <a:spcPct val="150000"/>
              </a:lnSpc>
              <a:spcBef>
                <a:spcPct val="15000"/>
              </a:spcBef>
              <a:buNone/>
            </a:pPr>
            <a:r>
              <a:rPr lang="en-US" altLang="zh-CN" sz="1200" b="1" strike="noStrike" noProof="1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2. </a:t>
            </a:r>
            <a:r>
              <a:rPr lang="zh-CN" altLang="en-US" sz="1200" b="1" strike="noStrike" noProof="1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以</a:t>
            </a:r>
            <a:r>
              <a:rPr lang="en-US" altLang="zh-CN" sz="1200" b="1" strike="noStrike" noProof="1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P2</a:t>
            </a:r>
            <a:r>
              <a:rPr lang="zh-CN" altLang="en-US" sz="1200" b="1" strike="noStrike" noProof="1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口的口线作高位地址线</a:t>
            </a:r>
            <a:endParaRPr lang="zh-CN" altLang="en-US" sz="1200" b="1" u="none" strike="noStrike" noProof="1">
              <a:solidFill>
                <a:srgbClr val="CC00CC"/>
              </a:solidFill>
              <a:latin typeface="Arial" panose="020B0604020202020204" pitchFamily="34" charset="0"/>
            </a:endParaRPr>
          </a:p>
          <a:p>
            <a:pPr marL="0" lvl="0" indent="0" fontAlgn="base">
              <a:lnSpc>
                <a:spcPct val="150000"/>
              </a:lnSpc>
              <a:spcBef>
                <a:spcPct val="15000"/>
              </a:spcBef>
              <a:buNone/>
            </a:pP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形成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16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位地址总线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,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寻址范围达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64KB</a:t>
            </a:r>
            <a:endParaRPr lang="en-US" altLang="zh-CN" sz="1200" b="1" strike="noStrike" noProof="1">
              <a:solidFill>
                <a:srgbClr val="CC00CC"/>
              </a:solidFill>
            </a:endParaRPr>
          </a:p>
          <a:p>
            <a:pPr lvl="0" fontAlgn="base">
              <a:lnSpc>
                <a:spcPct val="150000"/>
              </a:lnSpc>
              <a:spcBef>
                <a:spcPct val="10000"/>
              </a:spcBef>
              <a:buNone/>
            </a:pPr>
            <a:r>
              <a:rPr lang="en-US" altLang="zh-CN" sz="1200" b="1" strike="noStrike" noProof="1">
                <a:solidFill>
                  <a:srgbClr val="CC00CC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</a:t>
            </a:r>
            <a:r>
              <a:rPr lang="zh-CN" altLang="en-US" sz="1200" b="1" strike="noStrike" noProof="1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控制信号</a:t>
            </a:r>
            <a:endParaRPr lang="zh-CN" altLang="en-US" sz="1200" b="1" strike="noStrike" noProof="1">
              <a:solidFill>
                <a:srgbClr val="CC00CC"/>
              </a:solidFill>
              <a:latin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10000"/>
              </a:spcBef>
              <a:buNone/>
            </a:pP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</a:t>
            </a:r>
            <a:r>
              <a:rPr lang="en-US" altLang="zh-CN" sz="1200" b="1" strike="noStrike" noProof="1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ALE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作为地址锁存的选通信号，以实现低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位地址的锁存；</a:t>
            </a:r>
            <a:endParaRPr lang="zh-CN" altLang="en-US" sz="1200" b="1" strike="noStrike" noProof="1"/>
          </a:p>
          <a:p>
            <a:pPr marL="0" lvl="0" indent="0" fontAlgn="base">
              <a:lnSpc>
                <a:spcPct val="150000"/>
              </a:lnSpc>
              <a:spcBef>
                <a:spcPct val="10000"/>
              </a:spcBef>
              <a:buNone/>
            </a:pP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200" b="1" strike="noStrike" noProof="1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PSEN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信号作为扩展程序存储器的读选通信号；</a:t>
            </a:r>
            <a:endParaRPr lang="zh-CN" altLang="en-US" sz="1200" b="1" strike="noStrike" noProof="1"/>
          </a:p>
          <a:p>
            <a:pPr marL="0" lvl="0" indent="0" fontAlgn="base">
              <a:lnSpc>
                <a:spcPct val="150000"/>
              </a:lnSpc>
              <a:spcBef>
                <a:spcPct val="10000"/>
              </a:spcBef>
              <a:buNone/>
            </a:pP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200" b="1" strike="noStrike" noProof="1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EA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信号作内、外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ROM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的选择信号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lang="en-US" altLang="zh-CN" sz="1200" b="1" strike="noStrike" noProof="1"/>
          </a:p>
          <a:p>
            <a:pPr marL="0" lvl="0" indent="0" fontAlgn="base">
              <a:lnSpc>
                <a:spcPct val="150000"/>
              </a:lnSpc>
              <a:spcBef>
                <a:spcPct val="10000"/>
              </a:spcBef>
              <a:buNone/>
            </a:pP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200" b="1" strike="noStrike" noProof="1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RD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200" b="1" strike="noStrike" noProof="1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WR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作扩展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RAM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I/O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端口的读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写选通信号。执行</a:t>
            </a:r>
            <a:r>
              <a:rPr lang="en-US" altLang="zh-CN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MOVX</a:t>
            </a:r>
            <a:r>
              <a:rPr lang="zh-CN" altLang="en-US" sz="1200" b="1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指令时，这两个信号分别自动有效。</a:t>
            </a:r>
            <a:endParaRPr lang="zh-CN" altLang="en-US" sz="1200" b="1" strike="noStrike" noProof="1"/>
          </a:p>
        </p:txBody>
      </p:sp>
      <p:sp>
        <p:nvSpPr>
          <p:cNvPr id="3" name="文本框 2"/>
          <p:cNvSpPr txBox="1"/>
          <p:nvPr/>
        </p:nvSpPr>
        <p:spPr>
          <a:xfrm>
            <a:off x="0" y="1989138"/>
            <a:ext cx="5292725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en-US" altLang="zh-CN" sz="1200" b="1" u="non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endParaRPr lang="en-US" altLang="zh-CN" sz="1200" b="1" u="none" noProof="1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59402" name="图片 96261" descr="08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345" y="3336925"/>
            <a:ext cx="2736850" cy="311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95240"/>
          <p:cNvSpPr/>
          <p:nvPr/>
        </p:nvSpPr>
        <p:spPr>
          <a:xfrm>
            <a:off x="663575" y="3165475"/>
            <a:ext cx="2546350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8.2.2  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系统扩展的实现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21090" y="6508750"/>
            <a:ext cx="422910" cy="34925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25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6" name="矩形 97285"/>
          <p:cNvSpPr/>
          <p:nvPr/>
        </p:nvSpPr>
        <p:spPr>
          <a:xfrm>
            <a:off x="1428750" y="193040"/>
            <a:ext cx="5515610" cy="765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8.3   </a:t>
            </a:r>
            <a:r>
              <a:rPr lang="zh-CN" altLang="en-US" sz="2800" b="1" strike="noStrike" noProof="1">
                <a:solidFill>
                  <a:srgbClr val="DA070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扩展数据存储器</a:t>
            </a:r>
          </a:p>
        </p:txBody>
      </p:sp>
      <p:sp>
        <p:nvSpPr>
          <p:cNvPr id="60420" name="矩形 97289"/>
          <p:cNvSpPr/>
          <p:nvPr/>
        </p:nvSpPr>
        <p:spPr>
          <a:xfrm>
            <a:off x="0" y="1844675"/>
            <a:ext cx="9144000" cy="4714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endParaRPr lang="zh-CN" altLang="en-US" sz="1400" b="1" u="none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62466" name="图片 122923" descr="08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1202690"/>
            <a:ext cx="6083935" cy="46361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56955" y="6526530"/>
            <a:ext cx="487045" cy="33147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26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81720" y="6515100"/>
            <a:ext cx="462280" cy="30988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27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7286" name="矩形 97285"/>
          <p:cNvSpPr/>
          <p:nvPr/>
        </p:nvSpPr>
        <p:spPr>
          <a:xfrm>
            <a:off x="1428750" y="193040"/>
            <a:ext cx="5515610" cy="765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   </a:t>
            </a:r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简单并行</a:t>
            </a:r>
            <a:r>
              <a:rPr lang="en-US" altLang="zh-CN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I/O</a:t>
            </a:r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口的扩展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67752" y="1294529"/>
            <a:ext cx="3813334" cy="4680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92320" y="1803400"/>
            <a:ext cx="425577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P1.0~P1.3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输入，</a:t>
            </a: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P1.4~P1.7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输出</a:t>
            </a:r>
            <a:endParaRPr lang="en-US" altLang="zh-CN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也就是发光二极管显示开关的状态。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LOOP: 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MOV    A,#0FH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；读引脚先写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MOV   P1,A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MOV   A,   P1</a:t>
            </a:r>
            <a:endParaRPr lang="en-US" altLang="zh-CN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SWAP   A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MOV   P1,   A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AJMP   LOOP</a:t>
            </a:r>
          </a:p>
        </p:txBody>
      </p:sp>
      <p:sp>
        <p:nvSpPr>
          <p:cNvPr id="7" name="矩形 95240">
            <a:extLst>
              <a:ext uri="{FF2B5EF4-FFF2-40B4-BE49-F238E27FC236}">
                <a16:creationId xmlns:a16="http://schemas.microsoft.com/office/drawing/2014/main" id="{B647CCFF-676B-4D4E-8D3B-DA31C0CDEDC3}"/>
              </a:ext>
            </a:extLst>
          </p:cNvPr>
          <p:cNvSpPr/>
          <p:nvPr/>
        </p:nvSpPr>
        <p:spPr>
          <a:xfrm>
            <a:off x="441325" y="1267486"/>
            <a:ext cx="369760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8.4.1   I/O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口的直接输入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91880" y="6548120"/>
            <a:ext cx="452120" cy="30988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28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7286" name="矩形 97285"/>
          <p:cNvSpPr/>
          <p:nvPr/>
        </p:nvSpPr>
        <p:spPr>
          <a:xfrm>
            <a:off x="1428750" y="193040"/>
            <a:ext cx="5515610" cy="765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8.4   </a:t>
            </a:r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简单并行</a:t>
            </a:r>
            <a:r>
              <a:rPr lang="en-US" altLang="zh-CN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I/O</a:t>
            </a:r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口的扩展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12970" y="1692910"/>
            <a:ext cx="410337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</a:t>
            </a:r>
            <a:r>
              <a:rPr 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既能从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244</a:t>
            </a:r>
            <a:r>
              <a:rPr lang="zh-CN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输入数据也能从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273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输出数据。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输出信号是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P2.0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和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/WR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信号合成，他们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同为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时，输出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锁存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273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，保持二极管发光。</a:t>
            </a: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输入信号是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P2.0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/RD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信号合成，他们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同为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时，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选通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244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，开关信号输入到总线。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237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244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的地址均为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FEFFH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。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LOOP:  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MOV    DPTR,#0FEFFH 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MOVX   A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@DPTR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MOVX   @DPTR,  A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SJMP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LOOP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3374" t="3757" r="8005"/>
          <a:stretch>
            <a:fillRect/>
          </a:stretch>
        </p:blipFill>
        <p:spPr>
          <a:xfrm>
            <a:off x="269240" y="1964690"/>
            <a:ext cx="4386580" cy="3464560"/>
          </a:xfrm>
          <a:prstGeom prst="rect">
            <a:avLst/>
          </a:prstGeom>
        </p:spPr>
      </p:pic>
      <p:sp>
        <p:nvSpPr>
          <p:cNvPr id="7" name="矩形 95240">
            <a:extLst>
              <a:ext uri="{FF2B5EF4-FFF2-40B4-BE49-F238E27FC236}">
                <a16:creationId xmlns:a16="http://schemas.microsoft.com/office/drawing/2014/main" id="{6F05B011-2BA6-4C0C-BDBA-5321CA12981A}"/>
              </a:ext>
            </a:extLst>
          </p:cNvPr>
          <p:cNvSpPr/>
          <p:nvPr/>
        </p:nvSpPr>
        <p:spPr>
          <a:xfrm>
            <a:off x="356235" y="1261110"/>
            <a:ext cx="369760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8.4.2  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接口的扩展方法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04EDE0-18F3-4AD5-A6AE-6191C116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smtClean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29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FCCE2-97DB-41D0-A388-59747A2057D3}"/>
              </a:ext>
            </a:extLst>
          </p:cNvPr>
          <p:cNvSpPr/>
          <p:nvPr/>
        </p:nvSpPr>
        <p:spPr>
          <a:xfrm>
            <a:off x="1428750" y="193040"/>
            <a:ext cx="5515610" cy="765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F65490-13DC-466C-84D1-1322AD2059B7}"/>
              </a:ext>
            </a:extLst>
          </p:cNvPr>
          <p:cNvSpPr txBox="1"/>
          <p:nvPr/>
        </p:nvSpPr>
        <p:spPr>
          <a:xfrm>
            <a:off x="1752600" y="1407290"/>
            <a:ext cx="65274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3</a:t>
            </a:r>
          </a:p>
          <a:p>
            <a:r>
              <a:rPr lang="en-US" altLang="zh-CN" sz="3600" dirty="0"/>
              <a:t>4</a:t>
            </a:r>
          </a:p>
          <a:p>
            <a:r>
              <a:rPr lang="en-US" altLang="zh-CN" sz="3600" dirty="0"/>
              <a:t>5</a:t>
            </a:r>
          </a:p>
          <a:p>
            <a:r>
              <a:rPr lang="en-US" altLang="zh-CN" sz="3600" dirty="0"/>
              <a:t>8</a:t>
            </a:r>
          </a:p>
          <a:p>
            <a:r>
              <a:rPr lang="en-US" altLang="zh-CN" sz="3600" dirty="0"/>
              <a:t>13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40563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1" name="矩形 123910"/>
          <p:cNvSpPr/>
          <p:nvPr/>
        </p:nvSpPr>
        <p:spPr>
          <a:xfrm>
            <a:off x="1353185" y="115570"/>
            <a:ext cx="5360670" cy="8242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8.5   </a:t>
            </a:r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思考题与习题</a:t>
            </a:r>
          </a:p>
        </p:txBody>
      </p:sp>
      <p:sp>
        <p:nvSpPr>
          <p:cNvPr id="63490" name="矩形 123911"/>
          <p:cNvSpPr/>
          <p:nvPr/>
        </p:nvSpPr>
        <p:spPr>
          <a:xfrm>
            <a:off x="550545" y="1134110"/>
            <a:ext cx="6965950" cy="20878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5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简述单片机系统扩展的基本原则和实现方法。</a:t>
            </a:r>
          </a:p>
          <a:p>
            <a:pPr marL="342900" indent="-342900">
              <a:lnSpc>
                <a:spcPct val="115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存储器可分为哪几类？各有哪些特点和用途？</a:t>
            </a:r>
          </a:p>
          <a:p>
            <a:pPr marL="342900" indent="-342900">
              <a:lnSpc>
                <a:spcPct val="115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假定存储器有</a:t>
            </a: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4096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个存储单元</a:t>
            </a: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首地址为</a:t>
            </a: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0,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末地址为多少？</a:t>
            </a:r>
          </a:p>
          <a:p>
            <a:pPr marL="342900" indent="-342900">
              <a:lnSpc>
                <a:spcPct val="115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除地线共用外</a:t>
            </a: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,6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根地址线和</a:t>
            </a:r>
            <a:r>
              <a:rPr lang="en-US" altLang="zh-CN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根地址线各可选多少个地址</a:t>
            </a:r>
            <a:r>
              <a:rPr lang="en-US" altLang="zh-CN" b="1" u="none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  <a:p>
            <a:pPr marL="342900" indent="-342900">
              <a:lnSpc>
                <a:spcPct val="115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用到三片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74HC373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89C51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应用系统的电路如图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830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所示。现要求通过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74HC373(2)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80H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，请编写相应的程序。</a:t>
            </a:r>
            <a:endParaRPr lang="zh-CN" altLang="en-US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15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endParaRPr lang="en-US" altLang="zh-CN" b="1" u="none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491" name="矩形 123912"/>
          <p:cNvSpPr/>
          <p:nvPr/>
        </p:nvSpPr>
        <p:spPr>
          <a:xfrm>
            <a:off x="0" y="2036763"/>
            <a:ext cx="9144000" cy="48212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endParaRPr lang="zh-CN" altLang="en-US" b="1" u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3492" name="图片 123913" descr="08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70" y="3591560"/>
            <a:ext cx="5126990" cy="20821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77910" y="6513830"/>
            <a:ext cx="466090" cy="307975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30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矩形 124936"/>
          <p:cNvSpPr/>
          <p:nvPr/>
        </p:nvSpPr>
        <p:spPr>
          <a:xfrm>
            <a:off x="532765" y="1109345"/>
            <a:ext cx="7823200" cy="181102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试设计符合下列要求的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89C51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微机系统：有两个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位扩展输出口（用两片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74HC377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），要选通、点亮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个数码管。</a:t>
            </a: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7.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设单片机采用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89C51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，未扩展片外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，片外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采用一片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6116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。请编程将其片内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ROM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100H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单元开始的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字节的内容依次外移到片外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100H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单元开始的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字节中。</a:t>
            </a: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831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片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8K×8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位存储器芯片的连接图。请确定每片存储器芯片的地址范围。</a:t>
            </a:r>
          </a:p>
        </p:txBody>
      </p:sp>
      <p:pic>
        <p:nvPicPr>
          <p:cNvPr id="64514" name="图片 124937" descr="08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178" y="3067685"/>
            <a:ext cx="5903912" cy="3230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911" name="矩形 123910"/>
          <p:cNvSpPr/>
          <p:nvPr/>
        </p:nvSpPr>
        <p:spPr>
          <a:xfrm>
            <a:off x="1353185" y="115570"/>
            <a:ext cx="5360670" cy="8242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8.5    </a:t>
            </a:r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思考题与习题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37905" y="6548120"/>
            <a:ext cx="462915" cy="30988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31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矩形 125957"/>
          <p:cNvSpPr/>
          <p:nvPr/>
        </p:nvSpPr>
        <p:spPr>
          <a:xfrm>
            <a:off x="415290" y="1101090"/>
            <a:ext cx="8115935" cy="478663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9.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根据图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841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线路设计程序，其功能是： 按下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K0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K3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键后，对应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LED4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LED7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发光；按下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K4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K7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键时，对应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LED0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LED3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发光。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10.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I2C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SPI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两种串行总线接口的传输方法。它们与并行总线相比各有什么优缺点？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11.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设以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89C51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为主机的系统，模拟扩展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8 KB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的片外数据存储器，请以并行方式和串行方式选择合适的芯片，并分别绘出电路原理图。请指出这两种电路各有什么特点，各适用于什么情况，并给出串行方式时读取一字节数据的程序。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12.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什么是单片机的最小系统、最小应用系统和应用系统？其与单片机、单片机系统、单片机应用系统层次有何关系？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13.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什么是单片机的扩展总线？并行扩展总线与串行扩展总线各有哪些特点？目前单片机应用系统中较为流行的扩展总线有哪些？为什么？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14.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为什么目前单片机应用系统中已很少使用片外程序存储器扩展？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15. 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随着单片机技术的发展，为什么并行总线外围扩展方式日渐衰落？目前外围设备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器件</a:t>
            </a:r>
            <a:r>
              <a:rPr lang="en-US" altLang="zh-CN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u="none" dirty="0">
                <a:latin typeface="宋体" panose="02010600030101010101" pitchFamily="2" charset="-122"/>
                <a:ea typeface="宋体" panose="02010600030101010101" pitchFamily="2" charset="-122"/>
              </a:rPr>
              <a:t>的主要扩展方式是什么？</a:t>
            </a:r>
          </a:p>
        </p:txBody>
      </p:sp>
      <p:sp>
        <p:nvSpPr>
          <p:cNvPr id="123911" name="矩形 123910"/>
          <p:cNvSpPr/>
          <p:nvPr/>
        </p:nvSpPr>
        <p:spPr>
          <a:xfrm>
            <a:off x="1353185" y="115570"/>
            <a:ext cx="5360670" cy="8242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 fontAlgn="base"/>
            <a:r>
              <a:rPr lang="en-US" altLang="zh-CN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8.5    </a:t>
            </a:r>
            <a:r>
              <a:rPr lang="zh-CN" altLang="en-US" sz="2800" b="1" strike="noStrike" noProof="1">
                <a:solidFill>
                  <a:srgbClr val="DA070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思考题与习题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708390" y="6477000"/>
            <a:ext cx="435610" cy="3810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32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4159</Words>
  <Application>Microsoft Office PowerPoint</Application>
  <PresentationFormat>全屏显示(4:3)</PresentationFormat>
  <Paragraphs>288</Paragraphs>
  <Slides>32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Theme</vt:lpstr>
      <vt:lpstr>Bitmap Image</vt:lpstr>
      <vt:lpstr>PowerPoint 演示文稿</vt:lpstr>
      <vt:lpstr>目  录</vt:lpstr>
      <vt:lpstr>8.1  串行扩展总线接口技术 </vt:lpstr>
      <vt:lpstr>PowerPoint 演示文稿</vt:lpstr>
      <vt:lpstr>8.1.1   SPI串行外设接口总线 </vt:lpstr>
      <vt:lpstr>8.1.1   SPI串行外设接口总线</vt:lpstr>
      <vt:lpstr>3. 89C51串行扩展SPI外设接口的方法</vt:lpstr>
      <vt:lpstr>3. 89C51串行扩展SPI外设接口的方法</vt:lpstr>
      <vt:lpstr>（1） MCU串行输入子程序SPIIN     （2） MCU串行输出子程序SPIOUT</vt:lpstr>
      <vt:lpstr>（3） MCU串行输入/输出子程序SPIIO</vt:lpstr>
      <vt:lpstr>2) 利用89C51串行口实现SPI操作</vt:lpstr>
      <vt:lpstr>2) 利用89C51串行口实现SPI操作</vt:lpstr>
      <vt:lpstr>（4） 串行接口芯片的一般接口规律</vt:lpstr>
      <vt:lpstr>（5） 扩展多个串行接口芯片的典型控制器的结构</vt:lpstr>
      <vt:lpstr>8.1.2  I2C总线</vt:lpstr>
      <vt:lpstr>2. I2C总线的应用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www.pptbz.com</dc:creator>
  <cp:lastModifiedBy>陈 佩</cp:lastModifiedBy>
  <cp:revision>45</cp:revision>
  <dcterms:created xsi:type="dcterms:W3CDTF">2020-02-03T07:44:00Z</dcterms:created>
  <dcterms:modified xsi:type="dcterms:W3CDTF">2021-03-29T07:05:05Z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2020-02-03T00:00:00Z</vt:filetime>
  </property>
  <property fmtid="{D5CDD505-2E9C-101B-9397-08002B2CF9AE}" pid="5" name="KSOProductBuildVer">
    <vt:lpwstr>2052-11.1.0.9339</vt:lpwstr>
  </property>
</Properties>
</file>