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354" r:id="rId3"/>
    <p:sldId id="891" r:id="rId4"/>
    <p:sldId id="892" r:id="rId5"/>
    <p:sldId id="896" r:id="rId6"/>
    <p:sldId id="885" r:id="rId7"/>
    <p:sldId id="887" r:id="rId8"/>
    <p:sldId id="798" r:id="rId9"/>
    <p:sldId id="888" r:id="rId10"/>
    <p:sldId id="900" r:id="rId11"/>
    <p:sldId id="806" r:id="rId12"/>
    <p:sldId id="818" r:id="rId13"/>
    <p:sldId id="827" r:id="rId14"/>
    <p:sldId id="836" r:id="rId15"/>
    <p:sldId id="838" r:id="rId16"/>
    <p:sldId id="923" r:id="rId17"/>
    <p:sldId id="902" r:id="rId18"/>
    <p:sldId id="903" r:id="rId19"/>
    <p:sldId id="904" r:id="rId20"/>
    <p:sldId id="905" r:id="rId21"/>
    <p:sldId id="907" r:id="rId22"/>
    <p:sldId id="908" r:id="rId23"/>
    <p:sldId id="909" r:id="rId24"/>
    <p:sldId id="845" r:id="rId25"/>
    <p:sldId id="850" r:id="rId26"/>
    <p:sldId id="852" r:id="rId27"/>
    <p:sldId id="919" r:id="rId28"/>
    <p:sldId id="860" r:id="rId29"/>
    <p:sldId id="918" r:id="rId30"/>
    <p:sldId id="920" r:id="rId31"/>
    <p:sldId id="921" r:id="rId32"/>
    <p:sldId id="869" r:id="rId33"/>
    <p:sldId id="872" r:id="rId34"/>
    <p:sldId id="875" r:id="rId35"/>
    <p:sldId id="878" r:id="rId36"/>
    <p:sldId id="922" r:id="rId37"/>
    <p:sldId id="880" r:id="rId38"/>
    <p:sldId id="881" r:id="rId39"/>
    <p:sldId id="882" r:id="rId40"/>
    <p:sldId id="883" r:id="rId41"/>
  </p:sldIdLst>
  <p:sldSz cx="9144000" cy="6858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77">
          <p15:clr>
            <a:srgbClr val="A4A3A4"/>
          </p15:clr>
        </p15:guide>
        <p15:guide id="2" pos="207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2"/>
      </p:cViewPr>
      <p:guideLst>
        <p:guide orient="horz" pos="2877"/>
        <p:guide pos="207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2021/3/17</a:t>
            </a:fld>
            <a:endParaRPr lang="zh-CN" altLang="en-US"/>
          </a:p>
        </p:txBody>
      </p:sp>
      <p:sp>
        <p:nvSpPr>
          <p:cNvPr id="4" name="幻灯片图像占位符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3"/>
            <a:ext cx="7315200" cy="2700338"/>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239617"/>
          <p:cNvSpPr>
            <a:spLocks noGrp="1" noRot="1" noChangeAspect="1" noTextEdit="1"/>
          </p:cNvSpPr>
          <p:nvPr>
            <p:ph type="sldImg"/>
          </p:nvPr>
        </p:nvSpPr>
        <p:spPr/>
      </p:sp>
      <p:sp>
        <p:nvSpPr>
          <p:cNvPr id="6146" name="文本占位符 239618"/>
          <p:cNvSpPr>
            <a:spLocks noGrp="1"/>
          </p:cNvSpPr>
          <p:nvPr>
            <p:ph type="body"/>
          </p:nvPr>
        </p:nvSpPr>
        <p:spPr/>
        <p:txBody>
          <a:bodyPr anchor="t"/>
          <a:lstStyle/>
          <a:p>
            <a:pPr lvl="0" indent="0"/>
            <a:endParaRPr lang="zh-CN" dirty="0"/>
          </a:p>
        </p:txBody>
      </p:sp>
      <p:sp>
        <p:nvSpPr>
          <p:cNvPr id="6147"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eaLnBrk="1" hangingPunct="1"/>
            <a:fld id="{9A0DB2DC-4C9A-4742-B13C-FB6460FD3503}" type="slidenum">
              <a:rPr lang="zh-CN" altLang="en-US" sz="1200" b="0" dirty="0"/>
              <a:t>2</a:t>
            </a:fld>
            <a:endParaRPr lang="zh-CN" altLang="en-US" sz="1200" b="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9" name="object 6"/>
          <p:cNvSpPr/>
          <p:nvPr userDrawn="1"/>
        </p:nvSpPr>
        <p:spPr>
          <a:xfrm>
            <a:off x="8709659" y="6519671"/>
            <a:ext cx="433070" cy="338455"/>
          </a:xfrm>
          <a:custGeom>
            <a:avLst/>
            <a:gdLst/>
            <a:ahLst/>
            <a:cxnLst/>
            <a:rect l="l" t="t" r="r" b="b"/>
            <a:pathLst>
              <a:path w="433070" h="338454">
                <a:moveTo>
                  <a:pt x="0" y="338327"/>
                </a:moveTo>
                <a:lnTo>
                  <a:pt x="432816" y="338327"/>
                </a:lnTo>
                <a:lnTo>
                  <a:pt x="432816" y="0"/>
                </a:lnTo>
                <a:lnTo>
                  <a:pt x="0" y="0"/>
                </a:lnTo>
                <a:lnTo>
                  <a:pt x="0" y="338327"/>
                </a:lnTo>
                <a:close/>
              </a:path>
            </a:pathLst>
          </a:custGeom>
          <a:solidFill>
            <a:srgbClr val="006FC0"/>
          </a:solidFill>
        </p:spPr>
        <p:txBody>
          <a:bodyPr wrap="square" lIns="0" tIns="0" rIns="0" bIns="0" rtlCol="0"/>
          <a:lstStyle/>
          <a:p>
            <a:endParaRPr/>
          </a:p>
        </p:txBody>
      </p:sp>
      <p:sp>
        <p:nvSpPr>
          <p:cNvPr id="18" name="bk object 18"/>
          <p:cNvSpPr/>
          <p:nvPr userDrawn="1"/>
        </p:nvSpPr>
        <p:spPr>
          <a:xfrm>
            <a:off x="611123" y="260604"/>
            <a:ext cx="539750" cy="538480"/>
          </a:xfrm>
          <a:custGeom>
            <a:avLst/>
            <a:gdLst/>
            <a:ahLst/>
            <a:cxnLst/>
            <a:rect l="l" t="t" r="r" b="b"/>
            <a:pathLst>
              <a:path w="539750" h="538480">
                <a:moveTo>
                  <a:pt x="0" y="537972"/>
                </a:moveTo>
                <a:lnTo>
                  <a:pt x="539496" y="537972"/>
                </a:lnTo>
                <a:lnTo>
                  <a:pt x="539496" y="0"/>
                </a:lnTo>
                <a:lnTo>
                  <a:pt x="0" y="0"/>
                </a:lnTo>
                <a:lnTo>
                  <a:pt x="0" y="537972"/>
                </a:lnTo>
                <a:close/>
              </a:path>
            </a:pathLst>
          </a:custGeom>
          <a:solidFill>
            <a:srgbClr val="005390"/>
          </a:solidFill>
        </p:spPr>
        <p:txBody>
          <a:bodyPr wrap="square" lIns="0" tIns="0" rIns="0" bIns="0" rtlCol="0"/>
          <a:lstStyle/>
          <a:p>
            <a:endParaRPr/>
          </a:p>
        </p:txBody>
      </p:sp>
      <p:sp>
        <p:nvSpPr>
          <p:cNvPr id="19" name="bk object 19"/>
          <p:cNvSpPr/>
          <p:nvPr userDrawn="1"/>
        </p:nvSpPr>
        <p:spPr>
          <a:xfrm>
            <a:off x="880872" y="530351"/>
            <a:ext cx="396240" cy="394970"/>
          </a:xfrm>
          <a:custGeom>
            <a:avLst/>
            <a:gdLst/>
            <a:ahLst/>
            <a:cxnLst/>
            <a:rect l="l" t="t" r="r" b="b"/>
            <a:pathLst>
              <a:path w="396240" h="394969">
                <a:moveTo>
                  <a:pt x="0" y="394715"/>
                </a:moveTo>
                <a:lnTo>
                  <a:pt x="396240" y="394715"/>
                </a:lnTo>
                <a:lnTo>
                  <a:pt x="396240" y="0"/>
                </a:lnTo>
                <a:lnTo>
                  <a:pt x="0" y="0"/>
                </a:lnTo>
                <a:lnTo>
                  <a:pt x="0" y="394715"/>
                </a:lnTo>
                <a:close/>
              </a:path>
            </a:pathLst>
          </a:custGeom>
          <a:solidFill>
            <a:srgbClr val="006FC0"/>
          </a:solidFill>
        </p:spPr>
        <p:txBody>
          <a:bodyPr wrap="square" lIns="0" tIns="0" rIns="0" bIns="0" rtlCol="0"/>
          <a:lstStyle/>
          <a:p>
            <a:endParaRPr/>
          </a:p>
        </p:txBody>
      </p:sp>
      <p:sp>
        <p:nvSpPr>
          <p:cNvPr id="2" name="Holder 2"/>
          <p:cNvSpPr>
            <a:spLocks noGrp="1"/>
          </p:cNvSpPr>
          <p:nvPr>
            <p:ph type="ctrTitle"/>
          </p:nvPr>
        </p:nvSpPr>
        <p:spPr>
          <a:xfrm>
            <a:off x="1498600" y="282575"/>
            <a:ext cx="2981960" cy="365760"/>
          </a:xfrm>
          <a:prstGeom prst="rect">
            <a:avLst/>
          </a:prstGeom>
        </p:spPr>
        <p:txBody>
          <a:bodyPr wrap="square" lIns="0" tIns="0" rIns="0" bIns="0">
            <a:spAutoFit/>
          </a:bodyPr>
          <a:lstStyle>
            <a:lvl1pPr>
              <a:defRPr sz="2400" b="1" i="0">
                <a:solidFill>
                  <a:srgbClr val="252525"/>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990340" y="6443980"/>
            <a:ext cx="751840" cy="274320"/>
          </a:xfrm>
        </p:spPr>
        <p:txBody>
          <a:bodyPr wrap="square"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3/17/2021</a:t>
            </a:fld>
            <a:endParaRPr lang="en-US"/>
          </a:p>
        </p:txBody>
      </p:sp>
      <p:sp>
        <p:nvSpPr>
          <p:cNvPr id="6" name="Holder 6"/>
          <p:cNvSpPr>
            <a:spLocks noGrp="1"/>
          </p:cNvSpPr>
          <p:nvPr>
            <p:ph type="sldNum" sz="quarter" idx="7"/>
          </p:nvPr>
        </p:nvSpPr>
        <p:spPr>
          <a:xfrm>
            <a:off x="8717915" y="6534785"/>
            <a:ext cx="426720" cy="293370"/>
          </a:xfrm>
        </p:spPr>
        <p:txBody>
          <a:bodyPr wrap="square" lIns="0" tIns="0" rIns="0" bIns="0"/>
          <a:lstStyle>
            <a:lvl1pPr>
              <a:defRPr sz="1200" b="0" i="0">
                <a:solidFill>
                  <a:srgbClr val="FFFF00"/>
                </a:solidFill>
                <a:latin typeface="微软雅黑" panose="020B0503020204020204" charset="-122"/>
                <a:cs typeface="微软雅黑" panose="020B0503020204020204" charset="-122"/>
              </a:defRPr>
            </a:lvl1pPr>
          </a:lstStyle>
          <a:p>
            <a:pPr marL="25400">
              <a:lnSpc>
                <a:spcPct val="100000"/>
              </a:lnSpc>
              <a:spcBef>
                <a:spcPts val="185"/>
              </a:spcBef>
            </a:pPr>
            <a:fld id="{81D60167-4931-47E6-BA6A-407CBD079E47}" type="slidenum">
              <a:rPr spc="-5" dirty="0"/>
              <a:t>‹#›</a:t>
            </a:fld>
            <a:endParaRPr spc="-5" dirty="0"/>
          </a:p>
        </p:txBody>
      </p:sp>
      <p:cxnSp>
        <p:nvCxnSpPr>
          <p:cNvPr id="8" name="直接连接符 7"/>
          <p:cNvCxnSpPr/>
          <p:nvPr userDrawn="1"/>
        </p:nvCxnSpPr>
        <p:spPr>
          <a:xfrm>
            <a:off x="457200" y="970280"/>
            <a:ext cx="4987925"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object 6"/>
          <p:cNvSpPr/>
          <p:nvPr userDrawn="1"/>
        </p:nvSpPr>
        <p:spPr>
          <a:xfrm>
            <a:off x="8709659" y="6519671"/>
            <a:ext cx="433070" cy="338455"/>
          </a:xfrm>
          <a:custGeom>
            <a:avLst/>
            <a:gdLst/>
            <a:ahLst/>
            <a:cxnLst/>
            <a:rect l="l" t="t" r="r" b="b"/>
            <a:pathLst>
              <a:path w="433070" h="338454">
                <a:moveTo>
                  <a:pt x="0" y="338327"/>
                </a:moveTo>
                <a:lnTo>
                  <a:pt x="432816" y="338327"/>
                </a:lnTo>
                <a:lnTo>
                  <a:pt x="432816" y="0"/>
                </a:lnTo>
                <a:lnTo>
                  <a:pt x="0" y="0"/>
                </a:lnTo>
                <a:lnTo>
                  <a:pt x="0" y="338327"/>
                </a:lnTo>
                <a:close/>
              </a:path>
            </a:pathLst>
          </a:custGeom>
          <a:solidFill>
            <a:srgbClr val="006FC0"/>
          </a:solidFill>
        </p:spPr>
        <p:txBody>
          <a:bodyPr wrap="square" lIns="0" tIns="0" rIns="0" bIns="0" rtlCol="0"/>
          <a:lstStyle/>
          <a:p>
            <a:pPr algn="ctr"/>
            <a:endParaRPr sz="1600"/>
          </a:p>
        </p:txBody>
      </p:sp>
      <p:sp>
        <p:nvSpPr>
          <p:cNvPr id="2" name="Holder 2"/>
          <p:cNvSpPr>
            <a:spLocks noGrp="1"/>
          </p:cNvSpPr>
          <p:nvPr>
            <p:ph type="title"/>
          </p:nvPr>
        </p:nvSpPr>
        <p:spPr/>
        <p:txBody>
          <a:bodyPr lIns="0" tIns="0" rIns="0" bIns="0"/>
          <a:lstStyle>
            <a:lvl1pPr>
              <a:defRPr sz="2400" b="1" i="0">
                <a:solidFill>
                  <a:srgbClr val="252525"/>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a:xfrm>
            <a:off x="3990340" y="6443980"/>
            <a:ext cx="1351280" cy="274320"/>
          </a:xfrm>
        </p:spPr>
        <p:txBody>
          <a:bodyPr wrap="square"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3/17/2021</a:t>
            </a:fld>
            <a:endParaRPr lang="en-US"/>
          </a:p>
        </p:txBody>
      </p:sp>
      <p:sp>
        <p:nvSpPr>
          <p:cNvPr id="9" name="Holder 6"/>
          <p:cNvSpPr>
            <a:spLocks noGrp="1"/>
          </p:cNvSpPr>
          <p:nvPr>
            <p:ph type="sldNum" sz="quarter" idx="7"/>
          </p:nvPr>
        </p:nvSpPr>
        <p:spPr>
          <a:xfrm>
            <a:off x="8717915" y="6534785"/>
            <a:ext cx="426720" cy="293370"/>
          </a:xfrm>
        </p:spPr>
        <p:txBody>
          <a:bodyPr wrap="square" lIns="0" tIns="0" rIns="0" bIns="0"/>
          <a:lstStyle>
            <a:lvl1pPr>
              <a:defRPr sz="1200" b="0" i="0">
                <a:solidFill>
                  <a:srgbClr val="FFFF00"/>
                </a:solidFill>
                <a:latin typeface="微软雅黑" panose="020B0503020204020204" charset="-122"/>
                <a:cs typeface="微软雅黑" panose="020B0503020204020204" charset="-122"/>
              </a:defRPr>
            </a:lvl1pPr>
          </a:lstStyle>
          <a:p>
            <a:pPr marL="25400">
              <a:lnSpc>
                <a:spcPct val="100000"/>
              </a:lnSpc>
              <a:spcBef>
                <a:spcPts val="185"/>
              </a:spcBef>
            </a:pPr>
            <a:fld id="{81D60167-4931-47E6-BA6A-407CBD079E47}" type="slidenum">
              <a:rPr spc="-5" dirty="0"/>
              <a:t>‹#›</a:t>
            </a:fld>
            <a:endParaRPr spc="-5"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252525"/>
                </a:solidFill>
                <a:latin typeface="微软雅黑" panose="020B0503020204020204" charset="-122"/>
                <a:cs typeface="微软雅黑" panose="020B0503020204020204" charset="-122"/>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3990340" y="6443980"/>
            <a:ext cx="1061085" cy="274320"/>
          </a:xfrm>
        </p:spPr>
        <p:txBody>
          <a:bodyPr wrap="square"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3/17/2021</a:t>
            </a:fld>
            <a:endParaRPr lang="en-US"/>
          </a:p>
        </p:txBody>
      </p:sp>
      <p:sp>
        <p:nvSpPr>
          <p:cNvPr id="7" name="Holder 7"/>
          <p:cNvSpPr>
            <a:spLocks noGrp="1"/>
          </p:cNvSpPr>
          <p:nvPr>
            <p:ph type="sldNum" sz="quarter" idx="7"/>
          </p:nvPr>
        </p:nvSpPr>
        <p:spPr>
          <a:xfrm>
            <a:off x="8745855" y="6612255"/>
            <a:ext cx="361950" cy="153670"/>
          </a:xfrm>
        </p:spPr>
        <p:txBody>
          <a:bodyPr lIns="0" tIns="0" rIns="0" bIns="0"/>
          <a:lstStyle>
            <a:lvl1pPr>
              <a:defRPr sz="1200" b="0" i="0">
                <a:solidFill>
                  <a:schemeClr val="bg1"/>
                </a:solidFill>
                <a:latin typeface="微软雅黑" panose="020B0503020204020204" charset="-122"/>
                <a:cs typeface="微软雅黑" panose="020B0503020204020204" charset="-122"/>
              </a:defRPr>
            </a:lvl1pPr>
          </a:lstStyle>
          <a:p>
            <a:pPr marL="25400">
              <a:lnSpc>
                <a:spcPct val="100000"/>
              </a:lnSpc>
              <a:spcBef>
                <a:spcPts val="185"/>
              </a:spcBef>
            </a:pPr>
            <a:fld id="{81D60167-4931-47E6-BA6A-407CBD079E47}" type="slidenum">
              <a:rPr spc="-5" dirty="0"/>
              <a:t>‹#›</a:t>
            </a:fld>
            <a:endParaRPr spc="-5"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252525"/>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ftr" sz="quarter" idx="5"/>
          </p:nvPr>
        </p:nvSpPr>
        <p:spPr>
          <a:xfrm>
            <a:off x="3990340" y="6443980"/>
            <a:ext cx="1070610" cy="274320"/>
          </a:xfrm>
        </p:spPr>
        <p:txBody>
          <a:bodyPr wrap="square"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3/17/2021</a:t>
            </a:fld>
            <a:endParaRPr lang="en-US"/>
          </a:p>
        </p:txBody>
      </p:sp>
      <p:sp>
        <p:nvSpPr>
          <p:cNvPr id="5" name="Holder 5"/>
          <p:cNvSpPr>
            <a:spLocks noGrp="1"/>
          </p:cNvSpPr>
          <p:nvPr>
            <p:ph type="sldNum" sz="quarter" idx="7"/>
          </p:nvPr>
        </p:nvSpPr>
        <p:spPr>
          <a:xfrm>
            <a:off x="8740775" y="6607175"/>
            <a:ext cx="361950" cy="153670"/>
          </a:xfrm>
        </p:spPr>
        <p:txBody>
          <a:bodyPr lIns="0" tIns="0" rIns="0" bIns="0"/>
          <a:lstStyle>
            <a:lvl1pPr>
              <a:defRPr sz="1200" b="0" i="0">
                <a:solidFill>
                  <a:schemeClr val="bg1"/>
                </a:solidFill>
                <a:latin typeface="微软雅黑" panose="020B0503020204020204" charset="-122"/>
                <a:cs typeface="微软雅黑" panose="020B0503020204020204" charset="-122"/>
              </a:defRPr>
            </a:lvl1pPr>
          </a:lstStyle>
          <a:p>
            <a:pPr marL="25400">
              <a:lnSpc>
                <a:spcPct val="100000"/>
              </a:lnSpc>
              <a:spcBef>
                <a:spcPts val="185"/>
              </a:spcBef>
            </a:pPr>
            <a:fld id="{81D60167-4931-47E6-BA6A-407CBD079E47}" type="slidenum">
              <a:rPr spc="-5" dirty="0"/>
              <a:t>‹#›</a:t>
            </a:fld>
            <a:endParaRPr spc="-5"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498600" y="282575"/>
            <a:ext cx="3933190" cy="368935"/>
          </a:xfrm>
        </p:spPr>
        <p:txBody>
          <a:bodyPr wrap="square"/>
          <a:lstStyle/>
          <a:p>
            <a:r>
              <a:rPr lang="zh-CN" altLang="en-US"/>
              <a:t>单击此处编辑母版标题样式</a:t>
            </a:r>
          </a:p>
        </p:txBody>
      </p:sp>
      <p:sp>
        <p:nvSpPr>
          <p:cNvPr id="3" name="日期占位符 2"/>
          <p:cNvSpPr>
            <a:spLocks noGrp="1"/>
          </p:cNvSpPr>
          <p:nvPr>
            <p:ph type="dt" sz="half" idx="10"/>
          </p:nvPr>
        </p:nvSpPr>
        <p:spPr/>
        <p:txBody>
          <a:bodyPr/>
          <a:lstStyle/>
          <a:p>
            <a:fld id="{1D8BD707-D9CF-40AE-B4C6-C98DA3205C09}" type="datetimeFigureOut">
              <a:rPr lang="en-US"/>
              <a:t>3/17/2021</a:t>
            </a:fld>
            <a:endParaRPr lang="en-US"/>
          </a:p>
        </p:txBody>
      </p:sp>
      <p:sp>
        <p:nvSpPr>
          <p:cNvPr id="4" name="页脚占位符 3"/>
          <p:cNvSpPr>
            <a:spLocks noGrp="1"/>
          </p:cNvSpPr>
          <p:nvPr>
            <p:ph type="ftr" sz="quarter" idx="11"/>
          </p:nvPr>
        </p:nvSpPr>
        <p:spPr/>
        <p:txBody>
          <a:bodyPr/>
          <a:lstStyle/>
          <a:p>
            <a:fld id="{9A0DB2DC-4C9A-4742-B13C-FB6460FD3503}" type="slidenum">
              <a:rPr/>
              <a:t>‹#›</a:t>
            </a:fld>
            <a:endParaRPr/>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t>‹#›</a:t>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85800" y="1981200"/>
            <a:ext cx="3808476"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9724" y="1981200"/>
            <a:ext cx="3808476"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eaLnBrk="1" fontAlgn="base" hangingPunct="1">
              <a:spcBef>
                <a:spcPct val="50000"/>
              </a:spcBef>
            </a:pPr>
            <a:fld id="{BB962C8B-B14F-4D97-AF65-F5344CB8AC3E}" type="datetime8">
              <a:rPr lang="zh-CN" altLang="en-US" strike="noStrike" noProof="1" dirty="0">
                <a:latin typeface="Times New Roman" panose="02020603050405020304" charset="0"/>
                <a:ea typeface="宋体" panose="02010600030101010101" pitchFamily="2" charset="-122"/>
                <a:cs typeface="+mn-cs"/>
              </a:rPr>
              <a:t>2021年3月17日9时59分</a:t>
            </a:fld>
            <a:endParaRPr lang="zh-CN" altLang="en-US" strike="noStrike" noProof="1">
              <a:latin typeface="Times New Roman" panose="0202060305040502030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eaLnBrk="1" fontAlgn="base" hangingPunct="1">
              <a:spcBef>
                <a:spcPct val="50000"/>
              </a:spcBef>
            </a:pPr>
            <a:endParaRPr lang="zh-CN" altLang="en-US" strike="noStrike" noProof="1">
              <a:latin typeface="Times New Roman" panose="02020603050405020304" charset="0"/>
              <a:ea typeface="宋体" panose="02010600030101010101" pitchFamily="2" charset="-122"/>
            </a:endParaRPr>
          </a:p>
        </p:txBody>
      </p:sp>
      <p:sp>
        <p:nvSpPr>
          <p:cNvPr id="7" name="灯片编号占位符 6"/>
          <p:cNvSpPr>
            <a:spLocks noGrp="1"/>
          </p:cNvSpPr>
          <p:nvPr>
            <p:ph type="sldNum" sz="quarter" idx="12"/>
          </p:nvPr>
        </p:nvSpPr>
        <p:spPr>
          <a:xfrm>
            <a:off x="6553200" y="6248400"/>
            <a:ext cx="1905000" cy="457200"/>
          </a:xfrm>
        </p:spPr>
        <p:txBody>
          <a:bodyPr/>
          <a:lstStyle/>
          <a:p>
            <a:pPr lvl="0" eaLnBrk="1" fontAlgn="base" hangingPunct="1">
              <a:spcBef>
                <a:spcPct val="50000"/>
              </a:spcBef>
            </a:pPr>
            <a:fld id="{9A0DB2DC-4C9A-4742-B13C-FB6460FD3503}" type="slidenum">
              <a:rPr lang="zh-CN" altLang="en-US" strike="noStrike" noProof="1" dirty="0">
                <a:latin typeface="Times New Roman" panose="02020603050405020304" charset="0"/>
                <a:ea typeface="宋体" panose="02010600030101010101" pitchFamily="2" charset="-122"/>
                <a:cs typeface="+mn-cs"/>
              </a:rPr>
              <a:t>‹#›</a:t>
            </a:fld>
            <a:endParaRPr lang="zh-CN" altLang="en-US" strike="noStrike" noProof="1">
              <a:latin typeface="Times New Roman" panose="02020603050405020304" charset="0"/>
              <a:ea typeface="宋体" panose="02010600030101010101" pitchFamily="2" charset="-122"/>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eaLnBrk="1" fontAlgn="base" hangingPunct="1">
              <a:spcBef>
                <a:spcPct val="50000"/>
              </a:spcBef>
            </a:pPr>
            <a:fld id="{BB962C8B-B14F-4D97-AF65-F5344CB8AC3E}" type="datetime8">
              <a:rPr lang="zh-CN" altLang="en-US" strike="noStrike" noProof="1" dirty="0">
                <a:latin typeface="Times New Roman" panose="02020603050405020304" charset="0"/>
                <a:ea typeface="宋体" panose="02010600030101010101" pitchFamily="2" charset="-122"/>
                <a:cs typeface="+mn-cs"/>
              </a:rPr>
              <a:t>2021年3月17日9时59分</a:t>
            </a:fld>
            <a:endParaRPr lang="zh-CN" altLang="en-US" strike="noStrike" noProof="1">
              <a:latin typeface="Times New Roman" panose="02020603050405020304" charset="0"/>
              <a:ea typeface="宋体" panose="02010600030101010101" pitchFamily="2" charset="-122"/>
            </a:endParaRPr>
          </a:p>
        </p:txBody>
      </p:sp>
      <p:sp>
        <p:nvSpPr>
          <p:cNvPr id="3" name="页脚占位符 2"/>
          <p:cNvSpPr>
            <a:spLocks noGrp="1"/>
          </p:cNvSpPr>
          <p:nvPr>
            <p:ph type="ftr" sz="quarter" idx="11"/>
          </p:nvPr>
        </p:nvSpPr>
        <p:spPr/>
        <p:txBody>
          <a:bodyPr/>
          <a:lstStyle/>
          <a:p>
            <a:pPr lvl="0" eaLnBrk="1" fontAlgn="base" hangingPunct="1">
              <a:spcBef>
                <a:spcPct val="50000"/>
              </a:spcBef>
            </a:pPr>
            <a:endParaRPr lang="zh-CN" altLang="en-US" strike="noStrike" noProof="1">
              <a:latin typeface="Times New Roman" panose="02020603050405020304" charset="0"/>
              <a:ea typeface="宋体" panose="02010600030101010101" pitchFamily="2" charset="-122"/>
            </a:endParaRPr>
          </a:p>
        </p:txBody>
      </p:sp>
      <p:sp>
        <p:nvSpPr>
          <p:cNvPr id="4" name="灯片编号占位符 3"/>
          <p:cNvSpPr>
            <a:spLocks noGrp="1"/>
          </p:cNvSpPr>
          <p:nvPr>
            <p:ph type="sldNum" sz="quarter" idx="12"/>
          </p:nvPr>
        </p:nvSpPr>
        <p:spPr>
          <a:xfrm>
            <a:off x="6553200" y="6248400"/>
            <a:ext cx="1905000" cy="457200"/>
          </a:xfrm>
        </p:spPr>
        <p:txBody>
          <a:bodyPr/>
          <a:lstStyle/>
          <a:p>
            <a:pPr lvl="0" eaLnBrk="1" fontAlgn="base" hangingPunct="1">
              <a:spcBef>
                <a:spcPct val="50000"/>
              </a:spcBef>
            </a:pPr>
            <a:fld id="{9A0DB2DC-4C9A-4742-B13C-FB6460FD3503}" type="slidenum">
              <a:rPr lang="zh-CN" altLang="en-US" strike="noStrike" noProof="1" dirty="0">
                <a:latin typeface="Times New Roman" panose="02020603050405020304" charset="0"/>
                <a:ea typeface="宋体" panose="02010600030101010101" pitchFamily="2" charset="-122"/>
                <a:cs typeface="+mn-cs"/>
              </a:rPr>
              <a:t>‹#›</a:t>
            </a:fld>
            <a:endParaRPr lang="zh-CN" altLang="en-US" strike="noStrike" noProof="1">
              <a:latin typeface="Times New Roman" panose="02020603050405020304" charset="0"/>
              <a:ea typeface="宋体" panose="02010600030101010101" pitchFamily="2" charset="-122"/>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eaLnBrk="1" fontAlgn="base" hangingPunct="1">
              <a:spcBef>
                <a:spcPct val="50000"/>
              </a:spcBef>
            </a:pPr>
            <a:fld id="{BB962C8B-B14F-4D97-AF65-F5344CB8AC3E}" type="datetime8">
              <a:rPr lang="zh-CN" altLang="en-US" strike="noStrike" noProof="1" dirty="0">
                <a:latin typeface="Times New Roman" panose="02020603050405020304" charset="0"/>
                <a:ea typeface="宋体" panose="02010600030101010101" pitchFamily="2" charset="-122"/>
                <a:cs typeface="+mn-cs"/>
              </a:rPr>
              <a:t>2021年3月17日9时59分</a:t>
            </a:fld>
            <a:endParaRPr lang="zh-CN" altLang="en-US" strike="noStrike" noProof="1">
              <a:latin typeface="Times New Roman" panose="0202060305040502030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eaLnBrk="1" fontAlgn="base" hangingPunct="1">
              <a:spcBef>
                <a:spcPct val="50000"/>
              </a:spcBef>
            </a:pPr>
            <a:endParaRPr lang="zh-CN" altLang="en-US" strike="noStrike" noProof="1">
              <a:latin typeface="Times New Roman" panose="02020603050405020304" charset="0"/>
              <a:ea typeface="宋体" panose="02010600030101010101" pitchFamily="2" charset="-122"/>
            </a:endParaRPr>
          </a:p>
        </p:txBody>
      </p:sp>
      <p:sp>
        <p:nvSpPr>
          <p:cNvPr id="7" name="灯片编号占位符 6"/>
          <p:cNvSpPr>
            <a:spLocks noGrp="1"/>
          </p:cNvSpPr>
          <p:nvPr>
            <p:ph type="sldNum" sz="quarter" idx="12"/>
          </p:nvPr>
        </p:nvSpPr>
        <p:spPr>
          <a:xfrm>
            <a:off x="6553200" y="6248400"/>
            <a:ext cx="1905000" cy="457200"/>
          </a:xfrm>
        </p:spPr>
        <p:txBody>
          <a:bodyPr/>
          <a:lstStyle/>
          <a:p>
            <a:pPr lvl="0" eaLnBrk="1" fontAlgn="base" hangingPunct="1">
              <a:spcBef>
                <a:spcPct val="50000"/>
              </a:spcBef>
            </a:pPr>
            <a:fld id="{9A0DB2DC-4C9A-4742-B13C-FB6460FD3503}" type="slidenum">
              <a:rPr lang="zh-CN" altLang="en-US" strike="noStrike" noProof="1" dirty="0">
                <a:latin typeface="Times New Roman" panose="02020603050405020304" charset="0"/>
                <a:ea typeface="宋体" panose="02010600030101010101" pitchFamily="2" charset="-122"/>
                <a:cs typeface="+mn-cs"/>
              </a:rPr>
              <a:t>‹#›</a:t>
            </a:fld>
            <a:endParaRPr lang="zh-CN" altLang="en-US" strike="noStrike" noProof="1">
              <a:latin typeface="Times New Roman" panose="02020603050405020304" charset="0"/>
              <a:ea typeface="宋体" panose="02010600030101010101" pitchFamily="2" charset="-122"/>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p:txBody>
          <a:bodyPr/>
          <a:lstStyle/>
          <a:p>
            <a:pPr lvl="0" eaLnBrk="1" fontAlgn="base" hangingPunct="1">
              <a:spcBef>
                <a:spcPct val="50000"/>
              </a:spcBef>
            </a:pPr>
            <a:fld id="{BB962C8B-B14F-4D97-AF65-F5344CB8AC3E}" type="datetime8">
              <a:rPr lang="zh-CN" altLang="en-US" strike="noStrike" noProof="1" dirty="0">
                <a:latin typeface="Times New Roman" panose="02020603050405020304" charset="0"/>
                <a:ea typeface="宋体" panose="02010600030101010101" pitchFamily="2" charset="-122"/>
                <a:cs typeface="+mn-cs"/>
              </a:rPr>
              <a:t>2021年3月17日9时59分</a:t>
            </a:fld>
            <a:endParaRPr lang="zh-CN" altLang="en-US" strike="noStrike" noProof="1">
              <a:latin typeface="Times New Roman" panose="02020603050405020304" charset="0"/>
              <a:ea typeface="宋体" panose="02010600030101010101" pitchFamily="2" charset="-122"/>
            </a:endParaRPr>
          </a:p>
        </p:txBody>
      </p:sp>
      <p:sp>
        <p:nvSpPr>
          <p:cNvPr id="5" name="页脚占位符 4"/>
          <p:cNvSpPr>
            <a:spLocks noGrp="1"/>
          </p:cNvSpPr>
          <p:nvPr>
            <p:ph type="ftr" sz="quarter" idx="11"/>
          </p:nvPr>
        </p:nvSpPr>
        <p:spPr/>
        <p:txBody>
          <a:bodyPr/>
          <a:lstStyle/>
          <a:p>
            <a:pPr lvl="0" eaLnBrk="1" fontAlgn="base" hangingPunct="1">
              <a:spcBef>
                <a:spcPct val="50000"/>
              </a:spcBef>
            </a:pPr>
            <a:endParaRPr lang="zh-CN" altLang="en-US" strike="noStrike" noProof="1">
              <a:latin typeface="Times New Roman" panose="02020603050405020304" charset="0"/>
              <a:ea typeface="宋体" panose="02010600030101010101" pitchFamily="2" charset="-122"/>
            </a:endParaRPr>
          </a:p>
        </p:txBody>
      </p:sp>
      <p:sp>
        <p:nvSpPr>
          <p:cNvPr id="6" name="灯片编号占位符 5"/>
          <p:cNvSpPr>
            <a:spLocks noGrp="1"/>
          </p:cNvSpPr>
          <p:nvPr>
            <p:ph type="sldNum" sz="quarter" idx="12"/>
          </p:nvPr>
        </p:nvSpPr>
        <p:spPr>
          <a:xfrm>
            <a:off x="6553200" y="6248400"/>
            <a:ext cx="1905000" cy="457200"/>
          </a:xfrm>
        </p:spPr>
        <p:txBody>
          <a:bodyPr/>
          <a:lstStyle/>
          <a:p>
            <a:pPr lvl="0" eaLnBrk="1" fontAlgn="base" hangingPunct="1">
              <a:spcBef>
                <a:spcPct val="50000"/>
              </a:spcBef>
            </a:pPr>
            <a:fld id="{9A0DB2DC-4C9A-4742-B13C-FB6460FD3503}" type="slidenum">
              <a:rPr lang="zh-CN" altLang="en-US" strike="noStrike" noProof="1" dirty="0">
                <a:latin typeface="Times New Roman" panose="02020603050405020304" charset="0"/>
                <a:ea typeface="宋体" panose="02010600030101010101" pitchFamily="2" charset="-122"/>
                <a:cs typeface="+mn-cs"/>
              </a:rPr>
              <a:t>‹#›</a:t>
            </a:fld>
            <a:endParaRPr lang="zh-CN" altLang="en-US" strike="noStrike" noProof="1">
              <a:latin typeface="Times New Roman" panose="02020603050405020304" charset="0"/>
              <a:ea typeface="宋体" panose="02010600030101010101" pitchFamily="2" charset="-122"/>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object 6"/>
          <p:cNvSpPr/>
          <p:nvPr userDrawn="1"/>
        </p:nvSpPr>
        <p:spPr>
          <a:xfrm>
            <a:off x="8709659" y="6519671"/>
            <a:ext cx="433070" cy="338455"/>
          </a:xfrm>
          <a:custGeom>
            <a:avLst/>
            <a:gdLst/>
            <a:ahLst/>
            <a:cxnLst/>
            <a:rect l="l" t="t" r="r" b="b"/>
            <a:pathLst>
              <a:path w="433070" h="338454">
                <a:moveTo>
                  <a:pt x="0" y="338327"/>
                </a:moveTo>
                <a:lnTo>
                  <a:pt x="432816" y="338327"/>
                </a:lnTo>
                <a:lnTo>
                  <a:pt x="432816" y="0"/>
                </a:lnTo>
                <a:lnTo>
                  <a:pt x="0" y="0"/>
                </a:lnTo>
                <a:lnTo>
                  <a:pt x="0" y="338327"/>
                </a:lnTo>
                <a:close/>
              </a:path>
            </a:pathLst>
          </a:custGeom>
          <a:solidFill>
            <a:srgbClr val="006FC0"/>
          </a:solidFill>
        </p:spPr>
        <p:txBody>
          <a:bodyPr wrap="square" lIns="0" tIns="0" rIns="0" bIns="0" rtlCol="0"/>
          <a:lstStyle/>
          <a:p>
            <a:endParaRPr/>
          </a:p>
        </p:txBody>
      </p:sp>
      <p:sp>
        <p:nvSpPr>
          <p:cNvPr id="16" name="bk object 16"/>
          <p:cNvSpPr/>
          <p:nvPr userDrawn="1"/>
        </p:nvSpPr>
        <p:spPr>
          <a:xfrm>
            <a:off x="611123" y="260604"/>
            <a:ext cx="539750" cy="538480"/>
          </a:xfrm>
          <a:custGeom>
            <a:avLst/>
            <a:gdLst/>
            <a:ahLst/>
            <a:cxnLst/>
            <a:rect l="l" t="t" r="r" b="b"/>
            <a:pathLst>
              <a:path w="539750" h="538480">
                <a:moveTo>
                  <a:pt x="0" y="537972"/>
                </a:moveTo>
                <a:lnTo>
                  <a:pt x="539496" y="537972"/>
                </a:lnTo>
                <a:lnTo>
                  <a:pt x="539496" y="0"/>
                </a:lnTo>
                <a:lnTo>
                  <a:pt x="0" y="0"/>
                </a:lnTo>
                <a:lnTo>
                  <a:pt x="0" y="537972"/>
                </a:lnTo>
                <a:close/>
              </a:path>
            </a:pathLst>
          </a:custGeom>
          <a:solidFill>
            <a:srgbClr val="005390"/>
          </a:solidFill>
        </p:spPr>
        <p:txBody>
          <a:bodyPr wrap="square" lIns="0" tIns="0" rIns="0" bIns="0" rtlCol="0"/>
          <a:lstStyle/>
          <a:p>
            <a:endParaRPr/>
          </a:p>
        </p:txBody>
      </p:sp>
      <p:sp>
        <p:nvSpPr>
          <p:cNvPr id="17" name="bk object 17"/>
          <p:cNvSpPr/>
          <p:nvPr userDrawn="1"/>
        </p:nvSpPr>
        <p:spPr>
          <a:xfrm>
            <a:off x="880872" y="530351"/>
            <a:ext cx="396240" cy="394970"/>
          </a:xfrm>
          <a:custGeom>
            <a:avLst/>
            <a:gdLst/>
            <a:ahLst/>
            <a:cxnLst/>
            <a:rect l="l" t="t" r="r" b="b"/>
            <a:pathLst>
              <a:path w="396240" h="394969">
                <a:moveTo>
                  <a:pt x="0" y="394715"/>
                </a:moveTo>
                <a:lnTo>
                  <a:pt x="396240" y="394715"/>
                </a:lnTo>
                <a:lnTo>
                  <a:pt x="396240" y="0"/>
                </a:lnTo>
                <a:lnTo>
                  <a:pt x="0" y="0"/>
                </a:lnTo>
                <a:lnTo>
                  <a:pt x="0" y="394715"/>
                </a:lnTo>
                <a:close/>
              </a:path>
            </a:pathLst>
          </a:custGeom>
          <a:solidFill>
            <a:srgbClr val="006FC0"/>
          </a:solidFill>
        </p:spPr>
        <p:txBody>
          <a:bodyPr wrap="square" lIns="0" tIns="0" rIns="0" bIns="0" rtlCol="0"/>
          <a:lstStyle/>
          <a:p>
            <a:endParaRPr/>
          </a:p>
        </p:txBody>
      </p:sp>
      <p:sp>
        <p:nvSpPr>
          <p:cNvPr id="2" name="Holder 2"/>
          <p:cNvSpPr>
            <a:spLocks noGrp="1"/>
          </p:cNvSpPr>
          <p:nvPr>
            <p:ph type="title"/>
          </p:nvPr>
        </p:nvSpPr>
        <p:spPr>
          <a:xfrm>
            <a:off x="1498600" y="282575"/>
            <a:ext cx="2924810" cy="365760"/>
          </a:xfrm>
          <a:prstGeom prst="rect">
            <a:avLst/>
          </a:prstGeom>
        </p:spPr>
        <p:txBody>
          <a:bodyPr wrap="square" lIns="0" tIns="0" rIns="0" bIns="0">
            <a:spAutoFit/>
          </a:bodyPr>
          <a:lstStyle>
            <a:lvl1pPr>
              <a:defRPr sz="2400" b="1" i="0">
                <a:solidFill>
                  <a:srgbClr val="252525"/>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body" idx="1"/>
          </p:nvPr>
        </p:nvSpPr>
        <p:spPr>
          <a:xfrm>
            <a:off x="457200" y="1577340"/>
            <a:ext cx="82296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8710930" y="6550660"/>
            <a:ext cx="433070" cy="276860"/>
          </a:xfrm>
          <a:prstGeom prst="rect">
            <a:avLst/>
          </a:prstGeom>
        </p:spPr>
        <p:txBody>
          <a:bodyPr wrap="square" lIns="0" tIns="0" rIns="0" bIns="0">
            <a:spAutoFit/>
          </a:bodyPr>
          <a:lstStyle>
            <a:lvl1pPr algn="ctr">
              <a:defRPr b="1">
                <a:solidFill>
                  <a:srgbClr val="FFFF00"/>
                </a:solidFill>
              </a:defRPr>
            </a:lvl1pPr>
          </a:lstStyle>
          <a:p>
            <a:fld id="{9A0DB2DC-4C9A-4742-B13C-FB6460FD3503}" type="slidenum">
              <a:rPr/>
              <a:t>‹#›</a:t>
            </a:fld>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3/17/2021</a:t>
            </a:fld>
            <a:endParaRPr lang="en-US"/>
          </a:p>
        </p:txBody>
      </p:sp>
      <p:cxnSp>
        <p:nvCxnSpPr>
          <p:cNvPr id="7" name="直接连接符 6"/>
          <p:cNvCxnSpPr/>
          <p:nvPr userDrawn="1"/>
        </p:nvCxnSpPr>
        <p:spPr>
          <a:xfrm>
            <a:off x="467360" y="998855"/>
            <a:ext cx="4987925"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 Target="slide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副标题 12"/>
          <p:cNvSpPr>
            <a:spLocks noGrp="1"/>
          </p:cNvSpPr>
          <p:nvPr>
            <p:ph type="subTitle" idx="4"/>
          </p:nvPr>
        </p:nvSpPr>
        <p:spPr>
          <a:xfrm>
            <a:off x="1371600" y="3840480"/>
            <a:ext cx="6400800" cy="274320"/>
          </a:xfrm>
        </p:spPr>
        <p:txBody>
          <a:bodyPr/>
          <a:lstStyle/>
          <a:p>
            <a:endParaRPr lang="zh-CN" altLang="en-US"/>
          </a:p>
        </p:txBody>
      </p:sp>
      <p:sp>
        <p:nvSpPr>
          <p:cNvPr id="2" name="object 2"/>
          <p:cNvSpPr txBox="1"/>
          <p:nvPr/>
        </p:nvSpPr>
        <p:spPr>
          <a:xfrm>
            <a:off x="3733800" y="4800600"/>
            <a:ext cx="2866390" cy="334010"/>
          </a:xfrm>
          <a:prstGeom prst="rect">
            <a:avLst/>
          </a:prstGeom>
        </p:spPr>
        <p:txBody>
          <a:bodyPr vert="horz" wrap="square" lIns="0" tIns="10160" rIns="0" bIns="0" rtlCol="0">
            <a:spAutoFit/>
          </a:bodyPr>
          <a:lstStyle/>
          <a:p>
            <a:pPr marL="12700" marR="5080">
              <a:lnSpc>
                <a:spcPts val="2530"/>
              </a:lnSpc>
              <a:spcBef>
                <a:spcPts val="80"/>
              </a:spcBef>
            </a:pPr>
            <a:r>
              <a:rPr sz="2000" b="1" dirty="0" err="1">
                <a:solidFill>
                  <a:srgbClr val="006FC0"/>
                </a:solidFill>
                <a:latin typeface="微软雅黑" panose="020B0503020204020204" charset="-122"/>
                <a:cs typeface="微软雅黑" panose="020B0503020204020204" charset="-122"/>
              </a:rPr>
              <a:t>主讲人</a:t>
            </a:r>
            <a:r>
              <a:rPr lang="en-US" sz="2000" b="1" dirty="0">
                <a:solidFill>
                  <a:srgbClr val="006FC0"/>
                </a:solidFill>
                <a:latin typeface="微软雅黑" panose="020B0503020204020204" charset="-122"/>
                <a:cs typeface="微软雅黑" panose="020B0503020204020204" charset="-122"/>
              </a:rPr>
              <a:t>:</a:t>
            </a:r>
            <a:r>
              <a:rPr sz="2000" b="1" dirty="0">
                <a:solidFill>
                  <a:srgbClr val="006FC0"/>
                </a:solidFill>
                <a:latin typeface="微软雅黑" panose="020B0503020204020204" charset="-122"/>
                <a:cs typeface="微软雅黑" panose="020B0503020204020204" charset="-122"/>
              </a:rPr>
              <a:t>    </a:t>
            </a:r>
            <a:r>
              <a:rPr lang="zh-CN" altLang="en-US" sz="2000" b="1" dirty="0">
                <a:solidFill>
                  <a:srgbClr val="006FC0"/>
                </a:solidFill>
                <a:latin typeface="微软雅黑" panose="020B0503020204020204" charset="-122"/>
                <a:cs typeface="微软雅黑" panose="020B0503020204020204" charset="-122"/>
              </a:rPr>
              <a:t>陈佩</a:t>
            </a:r>
            <a:endParaRPr lang="zh-CN" altLang="zh-CN" sz="2000" b="1" dirty="0">
              <a:solidFill>
                <a:srgbClr val="006FC0"/>
              </a:solidFill>
              <a:latin typeface="微软雅黑" panose="020B0503020204020204" charset="-122"/>
              <a:cs typeface="微软雅黑" panose="020B0503020204020204" charset="-122"/>
            </a:endParaRPr>
          </a:p>
        </p:txBody>
      </p:sp>
      <p:sp>
        <p:nvSpPr>
          <p:cNvPr id="3" name="object 3"/>
          <p:cNvSpPr/>
          <p:nvPr/>
        </p:nvSpPr>
        <p:spPr>
          <a:xfrm>
            <a:off x="8564880" y="2717292"/>
            <a:ext cx="579120" cy="993775"/>
          </a:xfrm>
          <a:custGeom>
            <a:avLst/>
            <a:gdLst/>
            <a:ahLst/>
            <a:cxnLst/>
            <a:rect l="l" t="t" r="r" b="b"/>
            <a:pathLst>
              <a:path w="579120" h="993775">
                <a:moveTo>
                  <a:pt x="0" y="993648"/>
                </a:moveTo>
                <a:lnTo>
                  <a:pt x="579120" y="993648"/>
                </a:lnTo>
                <a:lnTo>
                  <a:pt x="579120" y="0"/>
                </a:lnTo>
                <a:lnTo>
                  <a:pt x="0" y="0"/>
                </a:lnTo>
                <a:lnTo>
                  <a:pt x="0" y="993648"/>
                </a:lnTo>
                <a:close/>
              </a:path>
            </a:pathLst>
          </a:custGeom>
          <a:solidFill>
            <a:srgbClr val="006FC0"/>
          </a:solidFill>
        </p:spPr>
        <p:txBody>
          <a:bodyPr wrap="square" lIns="0" tIns="0" rIns="0" bIns="0" rtlCol="0"/>
          <a:lstStyle/>
          <a:p>
            <a:endParaRPr/>
          </a:p>
        </p:txBody>
      </p:sp>
      <p:sp>
        <p:nvSpPr>
          <p:cNvPr id="4" name="object 4"/>
          <p:cNvSpPr/>
          <p:nvPr/>
        </p:nvSpPr>
        <p:spPr>
          <a:xfrm>
            <a:off x="8564880" y="3805428"/>
            <a:ext cx="579120" cy="273050"/>
          </a:xfrm>
          <a:custGeom>
            <a:avLst/>
            <a:gdLst/>
            <a:ahLst/>
            <a:cxnLst/>
            <a:rect l="l" t="t" r="r" b="b"/>
            <a:pathLst>
              <a:path w="579120" h="273050">
                <a:moveTo>
                  <a:pt x="0" y="272796"/>
                </a:moveTo>
                <a:lnTo>
                  <a:pt x="579120" y="272796"/>
                </a:lnTo>
                <a:lnTo>
                  <a:pt x="579120" y="0"/>
                </a:lnTo>
                <a:lnTo>
                  <a:pt x="0" y="0"/>
                </a:lnTo>
                <a:lnTo>
                  <a:pt x="0" y="272796"/>
                </a:lnTo>
                <a:close/>
              </a:path>
            </a:pathLst>
          </a:custGeom>
          <a:solidFill>
            <a:srgbClr val="006FC0"/>
          </a:solidFill>
        </p:spPr>
        <p:txBody>
          <a:bodyPr wrap="square" lIns="0" tIns="0" rIns="0" bIns="0" rtlCol="0"/>
          <a:lstStyle/>
          <a:p>
            <a:endParaRPr/>
          </a:p>
        </p:txBody>
      </p:sp>
      <p:sp>
        <p:nvSpPr>
          <p:cNvPr id="5" name="object 5"/>
          <p:cNvSpPr/>
          <p:nvPr/>
        </p:nvSpPr>
        <p:spPr>
          <a:xfrm>
            <a:off x="0" y="3805428"/>
            <a:ext cx="5991225" cy="273050"/>
          </a:xfrm>
          <a:custGeom>
            <a:avLst/>
            <a:gdLst/>
            <a:ahLst/>
            <a:cxnLst/>
            <a:rect l="l" t="t" r="r" b="b"/>
            <a:pathLst>
              <a:path w="5991225" h="273050">
                <a:moveTo>
                  <a:pt x="0" y="272796"/>
                </a:moveTo>
                <a:lnTo>
                  <a:pt x="5990844" y="272796"/>
                </a:lnTo>
                <a:lnTo>
                  <a:pt x="5990844" y="0"/>
                </a:lnTo>
                <a:lnTo>
                  <a:pt x="0" y="0"/>
                </a:lnTo>
                <a:lnTo>
                  <a:pt x="0" y="272796"/>
                </a:lnTo>
                <a:close/>
              </a:path>
            </a:pathLst>
          </a:custGeom>
          <a:solidFill>
            <a:srgbClr val="006FC0"/>
          </a:solidFill>
        </p:spPr>
        <p:txBody>
          <a:bodyPr wrap="square" lIns="0" tIns="0" rIns="0" bIns="0" rtlCol="0"/>
          <a:lstStyle/>
          <a:p>
            <a:endParaRPr/>
          </a:p>
        </p:txBody>
      </p:sp>
      <p:sp>
        <p:nvSpPr>
          <p:cNvPr id="6" name="object 6"/>
          <p:cNvSpPr/>
          <p:nvPr/>
        </p:nvSpPr>
        <p:spPr>
          <a:xfrm>
            <a:off x="0" y="2717165"/>
            <a:ext cx="6548755" cy="993775"/>
          </a:xfrm>
          <a:custGeom>
            <a:avLst/>
            <a:gdLst/>
            <a:ahLst/>
            <a:cxnLst/>
            <a:rect l="l" t="t" r="r" b="b"/>
            <a:pathLst>
              <a:path w="5991225" h="993775">
                <a:moveTo>
                  <a:pt x="0" y="993648"/>
                </a:moveTo>
                <a:lnTo>
                  <a:pt x="5990844" y="993648"/>
                </a:lnTo>
                <a:lnTo>
                  <a:pt x="5990844" y="0"/>
                </a:lnTo>
                <a:lnTo>
                  <a:pt x="0" y="0"/>
                </a:lnTo>
                <a:lnTo>
                  <a:pt x="0" y="993648"/>
                </a:lnTo>
                <a:close/>
              </a:path>
            </a:pathLst>
          </a:custGeom>
          <a:solidFill>
            <a:srgbClr val="006FC0"/>
          </a:solidFill>
        </p:spPr>
        <p:txBody>
          <a:bodyPr wrap="square" lIns="0" tIns="0" rIns="0" bIns="0" rtlCol="0"/>
          <a:lstStyle/>
          <a:p>
            <a:endParaRPr/>
          </a:p>
        </p:txBody>
      </p:sp>
      <p:sp>
        <p:nvSpPr>
          <p:cNvPr id="7" name="object 7"/>
          <p:cNvSpPr txBox="1"/>
          <p:nvPr/>
        </p:nvSpPr>
        <p:spPr>
          <a:xfrm>
            <a:off x="2867025" y="2950210"/>
            <a:ext cx="3628390" cy="534670"/>
          </a:xfrm>
          <a:prstGeom prst="rect">
            <a:avLst/>
          </a:prstGeom>
        </p:spPr>
        <p:txBody>
          <a:bodyPr vert="horz" wrap="square" lIns="0" tIns="12065" rIns="0" bIns="0" rtlCol="0">
            <a:spAutoFit/>
          </a:bodyPr>
          <a:lstStyle/>
          <a:p>
            <a:pPr marL="12700">
              <a:lnSpc>
                <a:spcPct val="100000"/>
              </a:lnSpc>
              <a:spcBef>
                <a:spcPts val="95"/>
              </a:spcBef>
            </a:pPr>
            <a:r>
              <a:rPr sz="3400" b="1" spc="-5" dirty="0">
                <a:solidFill>
                  <a:srgbClr val="FFFFFF"/>
                </a:solidFill>
                <a:latin typeface="微软雅黑" panose="020B0503020204020204" charset="-122"/>
                <a:cs typeface="微软雅黑" panose="020B0503020204020204" charset="-122"/>
              </a:rPr>
              <a:t>单片机</a:t>
            </a:r>
            <a:r>
              <a:rPr lang="zh-CN" sz="3400" b="1" spc="-5" dirty="0">
                <a:solidFill>
                  <a:srgbClr val="FFFFFF"/>
                </a:solidFill>
                <a:latin typeface="微软雅黑" panose="020B0503020204020204" charset="-122"/>
                <a:cs typeface="微软雅黑" panose="020B0503020204020204" charset="-122"/>
              </a:rPr>
              <a:t>原理及应用</a:t>
            </a:r>
          </a:p>
        </p:txBody>
      </p:sp>
      <p:sp>
        <p:nvSpPr>
          <p:cNvPr id="8" name="object 8"/>
          <p:cNvSpPr txBox="1"/>
          <p:nvPr/>
        </p:nvSpPr>
        <p:spPr>
          <a:xfrm>
            <a:off x="3227070" y="3805555"/>
            <a:ext cx="3321685" cy="257810"/>
          </a:xfrm>
          <a:prstGeom prst="rect">
            <a:avLst/>
          </a:prstGeom>
        </p:spPr>
        <p:txBody>
          <a:bodyPr vert="horz" wrap="square" lIns="0" tIns="12065" rIns="0" bIns="0" rtlCol="0">
            <a:spAutoFit/>
          </a:bodyPr>
          <a:lstStyle/>
          <a:p>
            <a:pPr marL="12700">
              <a:lnSpc>
                <a:spcPct val="100000"/>
              </a:lnSpc>
              <a:spcBef>
                <a:spcPts val="95"/>
              </a:spcBef>
            </a:pPr>
            <a:r>
              <a:rPr lang="en-US" sz="1600" spc="-5" dirty="0">
                <a:solidFill>
                  <a:srgbClr val="FFFFFF"/>
                </a:solidFill>
                <a:latin typeface="Times New Roman" panose="02020603050405020304"/>
                <a:cs typeface="Times New Roman" panose="02020603050405020304"/>
              </a:rPr>
              <a:t>Chang'an university</a:t>
            </a:r>
            <a:endParaRPr lang="en-US" sz="1600">
              <a:latin typeface="Times New Roman" panose="02020603050405020304"/>
              <a:cs typeface="Times New Roman" panose="02020603050405020304"/>
            </a:endParaRPr>
          </a:p>
        </p:txBody>
      </p:sp>
      <p:sp>
        <p:nvSpPr>
          <p:cNvPr id="9" name="object 9"/>
          <p:cNvSpPr/>
          <p:nvPr/>
        </p:nvSpPr>
        <p:spPr>
          <a:xfrm>
            <a:off x="223265" y="2788157"/>
            <a:ext cx="1224280" cy="1224280"/>
          </a:xfrm>
          <a:custGeom>
            <a:avLst/>
            <a:gdLst/>
            <a:ahLst/>
            <a:cxnLst/>
            <a:rect l="l" t="t" r="r" b="b"/>
            <a:pathLst>
              <a:path w="1224280" h="1224279">
                <a:moveTo>
                  <a:pt x="611886" y="0"/>
                </a:moveTo>
                <a:lnTo>
                  <a:pt x="564067" y="1840"/>
                </a:lnTo>
                <a:lnTo>
                  <a:pt x="517255" y="7272"/>
                </a:lnTo>
                <a:lnTo>
                  <a:pt x="471586" y="16159"/>
                </a:lnTo>
                <a:lnTo>
                  <a:pt x="427195" y="28365"/>
                </a:lnTo>
                <a:lnTo>
                  <a:pt x="384219" y="43754"/>
                </a:lnTo>
                <a:lnTo>
                  <a:pt x="342794" y="62190"/>
                </a:lnTo>
                <a:lnTo>
                  <a:pt x="303055" y="83537"/>
                </a:lnTo>
                <a:lnTo>
                  <a:pt x="265140" y="107659"/>
                </a:lnTo>
                <a:lnTo>
                  <a:pt x="229182" y="134420"/>
                </a:lnTo>
                <a:lnTo>
                  <a:pt x="195320" y="163684"/>
                </a:lnTo>
                <a:lnTo>
                  <a:pt x="163689" y="195315"/>
                </a:lnTo>
                <a:lnTo>
                  <a:pt x="134424" y="229177"/>
                </a:lnTo>
                <a:lnTo>
                  <a:pt x="107663" y="265134"/>
                </a:lnTo>
                <a:lnTo>
                  <a:pt x="83540" y="303050"/>
                </a:lnTo>
                <a:lnTo>
                  <a:pt x="62192" y="342788"/>
                </a:lnTo>
                <a:lnTo>
                  <a:pt x="43756" y="384214"/>
                </a:lnTo>
                <a:lnTo>
                  <a:pt x="28366" y="427191"/>
                </a:lnTo>
                <a:lnTo>
                  <a:pt x="16160" y="471582"/>
                </a:lnTo>
                <a:lnTo>
                  <a:pt x="7273" y="517252"/>
                </a:lnTo>
                <a:lnTo>
                  <a:pt x="1840" y="564065"/>
                </a:lnTo>
                <a:lnTo>
                  <a:pt x="0" y="611886"/>
                </a:lnTo>
                <a:lnTo>
                  <a:pt x="1840" y="659706"/>
                </a:lnTo>
                <a:lnTo>
                  <a:pt x="7273" y="706519"/>
                </a:lnTo>
                <a:lnTo>
                  <a:pt x="16160" y="752189"/>
                </a:lnTo>
                <a:lnTo>
                  <a:pt x="28366" y="796580"/>
                </a:lnTo>
                <a:lnTo>
                  <a:pt x="43756" y="839557"/>
                </a:lnTo>
                <a:lnTo>
                  <a:pt x="62192" y="880983"/>
                </a:lnTo>
                <a:lnTo>
                  <a:pt x="83540" y="920721"/>
                </a:lnTo>
                <a:lnTo>
                  <a:pt x="107663" y="958637"/>
                </a:lnTo>
                <a:lnTo>
                  <a:pt x="134424" y="994594"/>
                </a:lnTo>
                <a:lnTo>
                  <a:pt x="163689" y="1028456"/>
                </a:lnTo>
                <a:lnTo>
                  <a:pt x="195320" y="1060087"/>
                </a:lnTo>
                <a:lnTo>
                  <a:pt x="229182" y="1089351"/>
                </a:lnTo>
                <a:lnTo>
                  <a:pt x="265140" y="1116112"/>
                </a:lnTo>
                <a:lnTo>
                  <a:pt x="303055" y="1140234"/>
                </a:lnTo>
                <a:lnTo>
                  <a:pt x="342794" y="1161581"/>
                </a:lnTo>
                <a:lnTo>
                  <a:pt x="384219" y="1180017"/>
                </a:lnTo>
                <a:lnTo>
                  <a:pt x="427195" y="1195406"/>
                </a:lnTo>
                <a:lnTo>
                  <a:pt x="471586" y="1207612"/>
                </a:lnTo>
                <a:lnTo>
                  <a:pt x="517255" y="1216499"/>
                </a:lnTo>
                <a:lnTo>
                  <a:pt x="564067" y="1221931"/>
                </a:lnTo>
                <a:lnTo>
                  <a:pt x="611886" y="1223771"/>
                </a:lnTo>
                <a:lnTo>
                  <a:pt x="659704" y="1221931"/>
                </a:lnTo>
                <a:lnTo>
                  <a:pt x="706516" y="1216499"/>
                </a:lnTo>
                <a:lnTo>
                  <a:pt x="752185" y="1207612"/>
                </a:lnTo>
                <a:lnTo>
                  <a:pt x="796576" y="1195406"/>
                </a:lnTo>
                <a:lnTo>
                  <a:pt x="839552" y="1180017"/>
                </a:lnTo>
                <a:lnTo>
                  <a:pt x="880977" y="1161581"/>
                </a:lnTo>
                <a:lnTo>
                  <a:pt x="920716" y="1140234"/>
                </a:lnTo>
                <a:lnTo>
                  <a:pt x="958631" y="1116112"/>
                </a:lnTo>
                <a:lnTo>
                  <a:pt x="994589" y="1089351"/>
                </a:lnTo>
                <a:lnTo>
                  <a:pt x="1028451" y="1060087"/>
                </a:lnTo>
                <a:lnTo>
                  <a:pt x="1060082" y="1028456"/>
                </a:lnTo>
                <a:lnTo>
                  <a:pt x="1089347" y="994594"/>
                </a:lnTo>
                <a:lnTo>
                  <a:pt x="1116108" y="958637"/>
                </a:lnTo>
                <a:lnTo>
                  <a:pt x="1140231" y="920721"/>
                </a:lnTo>
                <a:lnTo>
                  <a:pt x="1161579" y="880983"/>
                </a:lnTo>
                <a:lnTo>
                  <a:pt x="1180015" y="839557"/>
                </a:lnTo>
                <a:lnTo>
                  <a:pt x="1195405" y="796580"/>
                </a:lnTo>
                <a:lnTo>
                  <a:pt x="1207611" y="752189"/>
                </a:lnTo>
                <a:lnTo>
                  <a:pt x="1216498" y="706519"/>
                </a:lnTo>
                <a:lnTo>
                  <a:pt x="1221931" y="659706"/>
                </a:lnTo>
                <a:lnTo>
                  <a:pt x="1223772" y="611886"/>
                </a:lnTo>
                <a:lnTo>
                  <a:pt x="1221931" y="564065"/>
                </a:lnTo>
                <a:lnTo>
                  <a:pt x="1216498" y="517252"/>
                </a:lnTo>
                <a:lnTo>
                  <a:pt x="1207611" y="471582"/>
                </a:lnTo>
                <a:lnTo>
                  <a:pt x="1195405" y="427191"/>
                </a:lnTo>
                <a:lnTo>
                  <a:pt x="1180015" y="384214"/>
                </a:lnTo>
                <a:lnTo>
                  <a:pt x="1161579" y="342788"/>
                </a:lnTo>
                <a:lnTo>
                  <a:pt x="1140231" y="303050"/>
                </a:lnTo>
                <a:lnTo>
                  <a:pt x="1116108" y="265134"/>
                </a:lnTo>
                <a:lnTo>
                  <a:pt x="1089347" y="229177"/>
                </a:lnTo>
                <a:lnTo>
                  <a:pt x="1060082" y="195315"/>
                </a:lnTo>
                <a:lnTo>
                  <a:pt x="1028451" y="163684"/>
                </a:lnTo>
                <a:lnTo>
                  <a:pt x="994589" y="134420"/>
                </a:lnTo>
                <a:lnTo>
                  <a:pt x="958631" y="107659"/>
                </a:lnTo>
                <a:lnTo>
                  <a:pt x="920716" y="83537"/>
                </a:lnTo>
                <a:lnTo>
                  <a:pt x="880977" y="62190"/>
                </a:lnTo>
                <a:lnTo>
                  <a:pt x="839552" y="43754"/>
                </a:lnTo>
                <a:lnTo>
                  <a:pt x="796576" y="28365"/>
                </a:lnTo>
                <a:lnTo>
                  <a:pt x="752185" y="16159"/>
                </a:lnTo>
                <a:lnTo>
                  <a:pt x="706516" y="7272"/>
                </a:lnTo>
                <a:lnTo>
                  <a:pt x="659704" y="1840"/>
                </a:lnTo>
                <a:lnTo>
                  <a:pt x="611886" y="0"/>
                </a:lnTo>
                <a:close/>
              </a:path>
            </a:pathLst>
          </a:custGeom>
          <a:solidFill>
            <a:srgbClr val="006FC0"/>
          </a:solidFill>
        </p:spPr>
        <p:txBody>
          <a:bodyPr wrap="square" lIns="0" tIns="0" rIns="0" bIns="0" rtlCol="0"/>
          <a:lstStyle/>
          <a:p>
            <a:endParaRPr/>
          </a:p>
        </p:txBody>
      </p:sp>
      <p:sp>
        <p:nvSpPr>
          <p:cNvPr id="10" name="object 10"/>
          <p:cNvSpPr/>
          <p:nvPr/>
        </p:nvSpPr>
        <p:spPr>
          <a:xfrm>
            <a:off x="223265" y="2788157"/>
            <a:ext cx="1224280" cy="1224280"/>
          </a:xfrm>
          <a:custGeom>
            <a:avLst/>
            <a:gdLst/>
            <a:ahLst/>
            <a:cxnLst/>
            <a:rect l="l" t="t" r="r" b="b"/>
            <a:pathLst>
              <a:path w="1224280" h="1224279">
                <a:moveTo>
                  <a:pt x="0" y="611886"/>
                </a:moveTo>
                <a:lnTo>
                  <a:pt x="1840" y="564065"/>
                </a:lnTo>
                <a:lnTo>
                  <a:pt x="7273" y="517252"/>
                </a:lnTo>
                <a:lnTo>
                  <a:pt x="16160" y="471582"/>
                </a:lnTo>
                <a:lnTo>
                  <a:pt x="28366" y="427191"/>
                </a:lnTo>
                <a:lnTo>
                  <a:pt x="43756" y="384214"/>
                </a:lnTo>
                <a:lnTo>
                  <a:pt x="62192" y="342788"/>
                </a:lnTo>
                <a:lnTo>
                  <a:pt x="83540" y="303050"/>
                </a:lnTo>
                <a:lnTo>
                  <a:pt x="107663" y="265134"/>
                </a:lnTo>
                <a:lnTo>
                  <a:pt x="134424" y="229177"/>
                </a:lnTo>
                <a:lnTo>
                  <a:pt x="163689" y="195315"/>
                </a:lnTo>
                <a:lnTo>
                  <a:pt x="195320" y="163684"/>
                </a:lnTo>
                <a:lnTo>
                  <a:pt x="229182" y="134420"/>
                </a:lnTo>
                <a:lnTo>
                  <a:pt x="265140" y="107659"/>
                </a:lnTo>
                <a:lnTo>
                  <a:pt x="303055" y="83537"/>
                </a:lnTo>
                <a:lnTo>
                  <a:pt x="342794" y="62190"/>
                </a:lnTo>
                <a:lnTo>
                  <a:pt x="384219" y="43754"/>
                </a:lnTo>
                <a:lnTo>
                  <a:pt x="427195" y="28365"/>
                </a:lnTo>
                <a:lnTo>
                  <a:pt x="471586" y="16159"/>
                </a:lnTo>
                <a:lnTo>
                  <a:pt x="517255" y="7272"/>
                </a:lnTo>
                <a:lnTo>
                  <a:pt x="564067" y="1840"/>
                </a:lnTo>
                <a:lnTo>
                  <a:pt x="611886" y="0"/>
                </a:lnTo>
                <a:lnTo>
                  <a:pt x="659704" y="1840"/>
                </a:lnTo>
                <a:lnTo>
                  <a:pt x="706516" y="7272"/>
                </a:lnTo>
                <a:lnTo>
                  <a:pt x="752185" y="16159"/>
                </a:lnTo>
                <a:lnTo>
                  <a:pt x="796576" y="28365"/>
                </a:lnTo>
                <a:lnTo>
                  <a:pt x="839552" y="43754"/>
                </a:lnTo>
                <a:lnTo>
                  <a:pt x="880977" y="62190"/>
                </a:lnTo>
                <a:lnTo>
                  <a:pt x="920716" y="83537"/>
                </a:lnTo>
                <a:lnTo>
                  <a:pt x="958631" y="107659"/>
                </a:lnTo>
                <a:lnTo>
                  <a:pt x="994589" y="134420"/>
                </a:lnTo>
                <a:lnTo>
                  <a:pt x="1028451" y="163684"/>
                </a:lnTo>
                <a:lnTo>
                  <a:pt x="1060082" y="195315"/>
                </a:lnTo>
                <a:lnTo>
                  <a:pt x="1089347" y="229177"/>
                </a:lnTo>
                <a:lnTo>
                  <a:pt x="1116108" y="265134"/>
                </a:lnTo>
                <a:lnTo>
                  <a:pt x="1140231" y="303050"/>
                </a:lnTo>
                <a:lnTo>
                  <a:pt x="1161579" y="342788"/>
                </a:lnTo>
                <a:lnTo>
                  <a:pt x="1180015" y="384214"/>
                </a:lnTo>
                <a:lnTo>
                  <a:pt x="1195405" y="427191"/>
                </a:lnTo>
                <a:lnTo>
                  <a:pt x="1207611" y="471582"/>
                </a:lnTo>
                <a:lnTo>
                  <a:pt x="1216498" y="517252"/>
                </a:lnTo>
                <a:lnTo>
                  <a:pt x="1221931" y="564065"/>
                </a:lnTo>
                <a:lnTo>
                  <a:pt x="1223772" y="611886"/>
                </a:lnTo>
                <a:lnTo>
                  <a:pt x="1221931" y="659706"/>
                </a:lnTo>
                <a:lnTo>
                  <a:pt x="1216498" y="706519"/>
                </a:lnTo>
                <a:lnTo>
                  <a:pt x="1207611" y="752189"/>
                </a:lnTo>
                <a:lnTo>
                  <a:pt x="1195405" y="796580"/>
                </a:lnTo>
                <a:lnTo>
                  <a:pt x="1180015" y="839557"/>
                </a:lnTo>
                <a:lnTo>
                  <a:pt x="1161579" y="880983"/>
                </a:lnTo>
                <a:lnTo>
                  <a:pt x="1140231" y="920721"/>
                </a:lnTo>
                <a:lnTo>
                  <a:pt x="1116108" y="958637"/>
                </a:lnTo>
                <a:lnTo>
                  <a:pt x="1089347" y="994594"/>
                </a:lnTo>
                <a:lnTo>
                  <a:pt x="1060082" y="1028456"/>
                </a:lnTo>
                <a:lnTo>
                  <a:pt x="1028451" y="1060087"/>
                </a:lnTo>
                <a:lnTo>
                  <a:pt x="994589" y="1089351"/>
                </a:lnTo>
                <a:lnTo>
                  <a:pt x="958631" y="1116112"/>
                </a:lnTo>
                <a:lnTo>
                  <a:pt x="920716" y="1140234"/>
                </a:lnTo>
                <a:lnTo>
                  <a:pt x="880977" y="1161581"/>
                </a:lnTo>
                <a:lnTo>
                  <a:pt x="839552" y="1180017"/>
                </a:lnTo>
                <a:lnTo>
                  <a:pt x="796576" y="1195406"/>
                </a:lnTo>
                <a:lnTo>
                  <a:pt x="752185" y="1207612"/>
                </a:lnTo>
                <a:lnTo>
                  <a:pt x="706516" y="1216499"/>
                </a:lnTo>
                <a:lnTo>
                  <a:pt x="659704" y="1221931"/>
                </a:lnTo>
                <a:lnTo>
                  <a:pt x="611886" y="1223771"/>
                </a:lnTo>
                <a:lnTo>
                  <a:pt x="564067" y="1221931"/>
                </a:lnTo>
                <a:lnTo>
                  <a:pt x="517255" y="1216499"/>
                </a:lnTo>
                <a:lnTo>
                  <a:pt x="471586" y="1207612"/>
                </a:lnTo>
                <a:lnTo>
                  <a:pt x="427195" y="1195406"/>
                </a:lnTo>
                <a:lnTo>
                  <a:pt x="384219" y="1180017"/>
                </a:lnTo>
                <a:lnTo>
                  <a:pt x="342794" y="1161581"/>
                </a:lnTo>
                <a:lnTo>
                  <a:pt x="303055" y="1140234"/>
                </a:lnTo>
                <a:lnTo>
                  <a:pt x="265140" y="1116112"/>
                </a:lnTo>
                <a:lnTo>
                  <a:pt x="229182" y="1089351"/>
                </a:lnTo>
                <a:lnTo>
                  <a:pt x="195320" y="1060087"/>
                </a:lnTo>
                <a:lnTo>
                  <a:pt x="163689" y="1028456"/>
                </a:lnTo>
                <a:lnTo>
                  <a:pt x="134424" y="994594"/>
                </a:lnTo>
                <a:lnTo>
                  <a:pt x="107663" y="958637"/>
                </a:lnTo>
                <a:lnTo>
                  <a:pt x="83540" y="920721"/>
                </a:lnTo>
                <a:lnTo>
                  <a:pt x="62192" y="880983"/>
                </a:lnTo>
                <a:lnTo>
                  <a:pt x="43756" y="839557"/>
                </a:lnTo>
                <a:lnTo>
                  <a:pt x="28366" y="796580"/>
                </a:lnTo>
                <a:lnTo>
                  <a:pt x="16160" y="752189"/>
                </a:lnTo>
                <a:lnTo>
                  <a:pt x="7273" y="706519"/>
                </a:lnTo>
                <a:lnTo>
                  <a:pt x="1840" y="659706"/>
                </a:lnTo>
                <a:lnTo>
                  <a:pt x="0" y="611886"/>
                </a:lnTo>
                <a:close/>
              </a:path>
            </a:pathLst>
          </a:custGeom>
          <a:ln w="25907">
            <a:solidFill>
              <a:srgbClr val="FFFFFF"/>
            </a:solidFill>
          </a:ln>
        </p:spPr>
        <p:txBody>
          <a:bodyPr wrap="square" lIns="0" tIns="0" rIns="0" bIns="0" rtlCol="0"/>
          <a:lstStyle/>
          <a:p>
            <a:endParaRPr/>
          </a:p>
        </p:txBody>
      </p:sp>
      <p:sp>
        <p:nvSpPr>
          <p:cNvPr id="11" name="object 11"/>
          <p:cNvSpPr/>
          <p:nvPr/>
        </p:nvSpPr>
        <p:spPr>
          <a:xfrm>
            <a:off x="446531" y="3034283"/>
            <a:ext cx="775970" cy="730250"/>
          </a:xfrm>
          <a:custGeom>
            <a:avLst/>
            <a:gdLst/>
            <a:ahLst/>
            <a:cxnLst/>
            <a:rect l="l" t="t" r="r" b="b"/>
            <a:pathLst>
              <a:path w="775969" h="730250">
                <a:moveTo>
                  <a:pt x="143941" y="0"/>
                </a:moveTo>
                <a:lnTo>
                  <a:pt x="111206" y="5772"/>
                </a:lnTo>
                <a:lnTo>
                  <a:pt x="85969" y="22082"/>
                </a:lnTo>
                <a:lnTo>
                  <a:pt x="69728" y="47416"/>
                </a:lnTo>
                <a:lnTo>
                  <a:pt x="63982" y="80263"/>
                </a:lnTo>
                <a:lnTo>
                  <a:pt x="69728" y="113091"/>
                </a:lnTo>
                <a:lnTo>
                  <a:pt x="85969" y="138382"/>
                </a:lnTo>
                <a:lnTo>
                  <a:pt x="111206" y="154648"/>
                </a:lnTo>
                <a:lnTo>
                  <a:pt x="143941" y="160400"/>
                </a:lnTo>
                <a:lnTo>
                  <a:pt x="176684" y="154648"/>
                </a:lnTo>
                <a:lnTo>
                  <a:pt x="201925" y="138382"/>
                </a:lnTo>
                <a:lnTo>
                  <a:pt x="218167" y="113091"/>
                </a:lnTo>
                <a:lnTo>
                  <a:pt x="223913" y="80263"/>
                </a:lnTo>
                <a:lnTo>
                  <a:pt x="218167" y="47416"/>
                </a:lnTo>
                <a:lnTo>
                  <a:pt x="201925" y="22082"/>
                </a:lnTo>
                <a:lnTo>
                  <a:pt x="176684" y="5772"/>
                </a:lnTo>
                <a:lnTo>
                  <a:pt x="143941" y="0"/>
                </a:lnTo>
                <a:close/>
              </a:path>
              <a:path w="775969" h="730250">
                <a:moveTo>
                  <a:pt x="127952" y="184530"/>
                </a:moveTo>
                <a:lnTo>
                  <a:pt x="39979" y="184530"/>
                </a:lnTo>
                <a:lnTo>
                  <a:pt x="0" y="401065"/>
                </a:lnTo>
                <a:lnTo>
                  <a:pt x="55981" y="441198"/>
                </a:lnTo>
                <a:lnTo>
                  <a:pt x="39979" y="729995"/>
                </a:lnTo>
                <a:lnTo>
                  <a:pt x="111963" y="729995"/>
                </a:lnTo>
                <a:lnTo>
                  <a:pt x="127952" y="481329"/>
                </a:lnTo>
                <a:lnTo>
                  <a:pt x="234136" y="481329"/>
                </a:lnTo>
                <a:lnTo>
                  <a:pt x="231914" y="441198"/>
                </a:lnTo>
                <a:lnTo>
                  <a:pt x="229007" y="377063"/>
                </a:lnTo>
                <a:lnTo>
                  <a:pt x="143941" y="377063"/>
                </a:lnTo>
                <a:lnTo>
                  <a:pt x="111963" y="344931"/>
                </a:lnTo>
                <a:lnTo>
                  <a:pt x="127952" y="216535"/>
                </a:lnTo>
                <a:lnTo>
                  <a:pt x="119951" y="192531"/>
                </a:lnTo>
                <a:lnTo>
                  <a:pt x="127952" y="184530"/>
                </a:lnTo>
                <a:close/>
              </a:path>
              <a:path w="775969" h="730250">
                <a:moveTo>
                  <a:pt x="234136" y="481329"/>
                </a:moveTo>
                <a:lnTo>
                  <a:pt x="159943" y="481329"/>
                </a:lnTo>
                <a:lnTo>
                  <a:pt x="175933" y="729995"/>
                </a:lnTo>
                <a:lnTo>
                  <a:pt x="247904" y="729995"/>
                </a:lnTo>
                <a:lnTo>
                  <a:pt x="234136" y="481329"/>
                </a:lnTo>
                <a:close/>
              </a:path>
              <a:path w="775969" h="730250">
                <a:moveTo>
                  <a:pt x="591781" y="689863"/>
                </a:moveTo>
                <a:lnTo>
                  <a:pt x="343877" y="689863"/>
                </a:lnTo>
                <a:lnTo>
                  <a:pt x="343877" y="729995"/>
                </a:lnTo>
                <a:lnTo>
                  <a:pt x="591781" y="729995"/>
                </a:lnTo>
                <a:lnTo>
                  <a:pt x="591781" y="689863"/>
                </a:lnTo>
                <a:close/>
              </a:path>
              <a:path w="775969" h="730250">
                <a:moveTo>
                  <a:pt x="503821" y="545464"/>
                </a:moveTo>
                <a:lnTo>
                  <a:pt x="431838" y="545464"/>
                </a:lnTo>
                <a:lnTo>
                  <a:pt x="431838" y="673861"/>
                </a:lnTo>
                <a:lnTo>
                  <a:pt x="503821" y="673861"/>
                </a:lnTo>
                <a:lnTo>
                  <a:pt x="503821" y="545464"/>
                </a:lnTo>
                <a:close/>
              </a:path>
              <a:path w="775969" h="730250">
                <a:moveTo>
                  <a:pt x="775716" y="24002"/>
                </a:moveTo>
                <a:lnTo>
                  <a:pt x="271894" y="24002"/>
                </a:lnTo>
                <a:lnTo>
                  <a:pt x="271894" y="72136"/>
                </a:lnTo>
                <a:lnTo>
                  <a:pt x="719734" y="72136"/>
                </a:lnTo>
                <a:lnTo>
                  <a:pt x="719734" y="489330"/>
                </a:lnTo>
                <a:lnTo>
                  <a:pt x="287896" y="489330"/>
                </a:lnTo>
                <a:lnTo>
                  <a:pt x="287896" y="545464"/>
                </a:lnTo>
                <a:lnTo>
                  <a:pt x="775716" y="545464"/>
                </a:lnTo>
                <a:lnTo>
                  <a:pt x="775716" y="24002"/>
                </a:lnTo>
                <a:close/>
              </a:path>
              <a:path w="775969" h="730250">
                <a:moveTo>
                  <a:pt x="457669" y="360933"/>
                </a:moveTo>
                <a:lnTo>
                  <a:pt x="407847" y="360933"/>
                </a:lnTo>
                <a:lnTo>
                  <a:pt x="471830" y="401065"/>
                </a:lnTo>
                <a:lnTo>
                  <a:pt x="487819" y="409066"/>
                </a:lnTo>
                <a:lnTo>
                  <a:pt x="487819" y="393064"/>
                </a:lnTo>
                <a:lnTo>
                  <a:pt x="496789" y="369062"/>
                </a:lnTo>
                <a:lnTo>
                  <a:pt x="471830" y="369062"/>
                </a:lnTo>
                <a:lnTo>
                  <a:pt x="457669" y="360933"/>
                </a:lnTo>
                <a:close/>
              </a:path>
              <a:path w="775969" h="730250">
                <a:moveTo>
                  <a:pt x="407847" y="328929"/>
                </a:moveTo>
                <a:lnTo>
                  <a:pt x="399859" y="336930"/>
                </a:lnTo>
                <a:lnTo>
                  <a:pt x="327875" y="360933"/>
                </a:lnTo>
                <a:lnTo>
                  <a:pt x="335876" y="385063"/>
                </a:lnTo>
                <a:lnTo>
                  <a:pt x="407847" y="360933"/>
                </a:lnTo>
                <a:lnTo>
                  <a:pt x="457669" y="360933"/>
                </a:lnTo>
                <a:lnTo>
                  <a:pt x="415848" y="336930"/>
                </a:lnTo>
                <a:lnTo>
                  <a:pt x="407847" y="328929"/>
                </a:lnTo>
                <a:close/>
              </a:path>
              <a:path w="775969" h="730250">
                <a:moveTo>
                  <a:pt x="239915" y="184530"/>
                </a:moveTo>
                <a:lnTo>
                  <a:pt x="159943" y="184530"/>
                </a:lnTo>
                <a:lnTo>
                  <a:pt x="159943" y="192531"/>
                </a:lnTo>
                <a:lnTo>
                  <a:pt x="151942" y="216535"/>
                </a:lnTo>
                <a:lnTo>
                  <a:pt x="175933" y="344931"/>
                </a:lnTo>
                <a:lnTo>
                  <a:pt x="143941" y="377063"/>
                </a:lnTo>
                <a:lnTo>
                  <a:pt x="229007" y="377063"/>
                </a:lnTo>
                <a:lnTo>
                  <a:pt x="223913" y="264667"/>
                </a:lnTo>
                <a:lnTo>
                  <a:pt x="399859" y="256666"/>
                </a:lnTo>
                <a:lnTo>
                  <a:pt x="439839" y="192531"/>
                </a:lnTo>
                <a:lnTo>
                  <a:pt x="239915" y="184530"/>
                </a:lnTo>
                <a:close/>
              </a:path>
              <a:path w="775969" h="730250">
                <a:moveTo>
                  <a:pt x="527812" y="216535"/>
                </a:moveTo>
                <a:lnTo>
                  <a:pt x="519811" y="232663"/>
                </a:lnTo>
                <a:lnTo>
                  <a:pt x="471830" y="369062"/>
                </a:lnTo>
                <a:lnTo>
                  <a:pt x="496789" y="369062"/>
                </a:lnTo>
                <a:lnTo>
                  <a:pt x="535800" y="264667"/>
                </a:lnTo>
                <a:lnTo>
                  <a:pt x="574063" y="264667"/>
                </a:lnTo>
                <a:lnTo>
                  <a:pt x="535800" y="232663"/>
                </a:lnTo>
                <a:lnTo>
                  <a:pt x="527812" y="216535"/>
                </a:lnTo>
                <a:close/>
              </a:path>
              <a:path w="775969" h="730250">
                <a:moveTo>
                  <a:pt x="574063" y="264667"/>
                </a:moveTo>
                <a:lnTo>
                  <a:pt x="535800" y="264667"/>
                </a:lnTo>
                <a:lnTo>
                  <a:pt x="575792" y="304800"/>
                </a:lnTo>
                <a:lnTo>
                  <a:pt x="583780" y="320928"/>
                </a:lnTo>
                <a:lnTo>
                  <a:pt x="599782" y="304800"/>
                </a:lnTo>
                <a:lnTo>
                  <a:pt x="616805" y="272795"/>
                </a:lnTo>
                <a:lnTo>
                  <a:pt x="583780" y="272795"/>
                </a:lnTo>
                <a:lnTo>
                  <a:pt x="574063" y="264667"/>
                </a:lnTo>
                <a:close/>
              </a:path>
              <a:path w="775969" h="730250">
                <a:moveTo>
                  <a:pt x="647763" y="168401"/>
                </a:moveTo>
                <a:lnTo>
                  <a:pt x="583780" y="272795"/>
                </a:lnTo>
                <a:lnTo>
                  <a:pt x="616805" y="272795"/>
                </a:lnTo>
                <a:lnTo>
                  <a:pt x="663752" y="184530"/>
                </a:lnTo>
                <a:lnTo>
                  <a:pt x="647763" y="168401"/>
                </a:lnTo>
                <a:close/>
              </a:path>
            </a:pathLst>
          </a:custGeom>
          <a:solidFill>
            <a:srgbClr val="FFFFFF"/>
          </a:solidFill>
        </p:spPr>
        <p:txBody>
          <a:bodyPr wrap="square" lIns="0" tIns="0" rIns="0" bIns="0" rtlCol="0"/>
          <a:lstStyle/>
          <a:p>
            <a:endParaRPr/>
          </a:p>
        </p:txBody>
      </p:sp>
      <p:sp>
        <p:nvSpPr>
          <p:cNvPr id="14" name="灯片编号占位符 13"/>
          <p:cNvSpPr>
            <a:spLocks noGrp="1"/>
          </p:cNvSpPr>
          <p:nvPr>
            <p:ph type="sldNum" sz="quarter" idx="7"/>
          </p:nvPr>
        </p:nvSpPr>
        <p:spPr/>
        <p:txBody>
          <a:bodyPr/>
          <a:lstStyle/>
          <a:p>
            <a:pPr marL="25400">
              <a:lnSpc>
                <a:spcPct val="100000"/>
              </a:lnSpc>
              <a:spcBef>
                <a:spcPts val="185"/>
              </a:spcBef>
            </a:pPr>
            <a:fld id="{81D60167-4931-47E6-BA6A-407CBD079E47}" type="slidenum">
              <a:rPr spc="-5" dirty="0"/>
              <a:t>1</a:t>
            </a:fld>
            <a:endParaRPr spc="-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标题 238593"/>
          <p:cNvSpPr>
            <a:spLocks noGrp="1"/>
          </p:cNvSpPr>
          <p:nvPr>
            <p:ph type="title"/>
          </p:nvPr>
        </p:nvSpPr>
        <p:spPr>
          <a:xfrm>
            <a:off x="1557973" y="230188"/>
            <a:ext cx="7219950" cy="738505"/>
          </a:xfrm>
        </p:spPr>
        <p:txBody>
          <a:bodyPr anchor="ctr"/>
          <a:lstStyle/>
          <a:p>
            <a:pPr>
              <a:lnSpc>
                <a:spcPct val="80000"/>
              </a:lnSpc>
            </a:pPr>
            <a:r>
              <a:rPr lang="zh-CN" altLang="en-US" sz="6000" dirty="0">
                <a:solidFill>
                  <a:schemeClr val="tx1"/>
                </a:solidFill>
                <a:latin typeface="隶书" panose="02010509060101010101" pitchFamily="49" charset="-122"/>
                <a:ea typeface="隶书" panose="02010509060101010101" pitchFamily="49" charset="-122"/>
              </a:rPr>
              <a:t>目  录</a:t>
            </a:r>
            <a:endParaRPr lang="zh-CN" altLang="en-US" b="1" dirty="0">
              <a:solidFill>
                <a:schemeClr val="tx1"/>
              </a:solidFill>
              <a:latin typeface="宋体" panose="02010600030101010101" pitchFamily="2" charset="-122"/>
            </a:endParaRPr>
          </a:p>
        </p:txBody>
      </p:sp>
      <p:sp>
        <p:nvSpPr>
          <p:cNvPr id="5122" name="文本占位符 238594"/>
          <p:cNvSpPr>
            <a:spLocks noGrp="1"/>
          </p:cNvSpPr>
          <p:nvPr>
            <p:ph idx="1"/>
          </p:nvPr>
        </p:nvSpPr>
        <p:spPr>
          <a:xfrm>
            <a:off x="971550" y="1628775"/>
            <a:ext cx="7696200" cy="4679950"/>
          </a:xfrm>
        </p:spPr>
        <p:txBody>
          <a:bodyPr anchor="t"/>
          <a:lstStyle/>
          <a:p>
            <a:pPr lvl="1" eaLnBrk="1" fontAlgn="auto" latinLnBrk="0" hangingPunct="1">
              <a:lnSpc>
                <a:spcPct val="130000"/>
              </a:lnSpc>
              <a:buClr>
                <a:schemeClr val="tx2"/>
              </a:buClr>
              <a:buSzPct val="75000"/>
              <a:buFont typeface="Wingdings" panose="05000000000000000000" pitchFamily="2" charset="2"/>
              <a:buChar char="&amp;"/>
            </a:pPr>
            <a:r>
              <a:rPr lang="en-US" altLang="zh-CN" sz="2400" b="1" dirty="0">
                <a:solidFill>
                  <a:srgbClr val="000000"/>
                </a:solidFill>
                <a:latin typeface="宋体" panose="02010600030101010101" pitchFamily="2" charset="-122"/>
              </a:rPr>
              <a:t>  </a:t>
            </a:r>
            <a:r>
              <a:rPr lang="zh-CN" altLang="en-US" sz="2600" b="1" dirty="0">
                <a:latin typeface="宋体" panose="02010600030101010101" pitchFamily="2" charset="-122"/>
              </a:rPr>
              <a:t>第一章   微机基础知识</a:t>
            </a:r>
          </a:p>
          <a:p>
            <a:pPr lvl="1" eaLnBrk="1" fontAlgn="auto" latinLnBrk="0" hangingPunct="1">
              <a:lnSpc>
                <a:spcPct val="130000"/>
              </a:lnSpc>
              <a:buClr>
                <a:schemeClr val="tx2"/>
              </a:buClr>
              <a:buSzPct val="75000"/>
              <a:buFont typeface="Wingdings" panose="05000000000000000000" pitchFamily="2" charset="2"/>
              <a:buChar char="&amp;"/>
            </a:pPr>
            <a:r>
              <a:rPr lang="zh-CN" altLang="en-US" sz="2600" b="1" dirty="0">
                <a:solidFill>
                  <a:schemeClr val="tx1"/>
                </a:solidFill>
                <a:latin typeface="宋体" panose="02010600030101010101" pitchFamily="2" charset="-122"/>
              </a:rPr>
              <a:t>  第二章   </a:t>
            </a:r>
            <a:r>
              <a:rPr lang="en-US" altLang="zh-CN" sz="2600" b="1" dirty="0">
                <a:solidFill>
                  <a:schemeClr val="tx1"/>
                </a:solidFill>
                <a:latin typeface="宋体" panose="02010600030101010101" pitchFamily="2" charset="-122"/>
              </a:rPr>
              <a:t>89C51</a:t>
            </a:r>
            <a:r>
              <a:rPr lang="zh-CN" altLang="en-US" sz="2600" b="1" dirty="0">
                <a:solidFill>
                  <a:schemeClr val="tx1"/>
                </a:solidFill>
                <a:latin typeface="宋体" panose="02010600030101010101" pitchFamily="2" charset="-122"/>
              </a:rPr>
              <a:t>单片机的结构和原理</a:t>
            </a:r>
          </a:p>
          <a:p>
            <a:pPr lvl="1" eaLnBrk="1" fontAlgn="auto" latinLnBrk="0" hangingPunct="1">
              <a:lnSpc>
                <a:spcPct val="130000"/>
              </a:lnSpc>
              <a:buClr>
                <a:schemeClr val="tx2"/>
              </a:buClr>
              <a:buSzPct val="75000"/>
              <a:buFont typeface="Wingdings" panose="05000000000000000000" pitchFamily="2" charset="2"/>
              <a:buChar char="&amp;"/>
            </a:pPr>
            <a:r>
              <a:rPr lang="zh-CN" altLang="en-US" sz="2600" b="1" dirty="0">
                <a:solidFill>
                  <a:srgbClr val="FF3300"/>
                </a:solidFill>
                <a:latin typeface="宋体" panose="02010600030101010101" pitchFamily="2" charset="-122"/>
              </a:rPr>
              <a:t> </a:t>
            </a:r>
            <a:r>
              <a:rPr lang="zh-CN" altLang="en-US" sz="2600" b="1" dirty="0">
                <a:solidFill>
                  <a:schemeClr val="tx1"/>
                </a:solidFill>
                <a:latin typeface="宋体" panose="02010600030101010101" pitchFamily="2" charset="-122"/>
              </a:rPr>
              <a:t> 第三章   </a:t>
            </a:r>
            <a:r>
              <a:rPr lang="en-US" altLang="zh-CN" sz="2600" b="1" dirty="0">
                <a:solidFill>
                  <a:schemeClr val="tx1"/>
                </a:solidFill>
                <a:latin typeface="宋体" panose="02010600030101010101" pitchFamily="2" charset="-122"/>
              </a:rPr>
              <a:t>89C51</a:t>
            </a:r>
            <a:r>
              <a:rPr lang="zh-CN" altLang="en-US" sz="2600" b="1" dirty="0">
                <a:solidFill>
                  <a:schemeClr val="tx1"/>
                </a:solidFill>
                <a:latin typeface="宋体" panose="02010600030101010101" pitchFamily="2" charset="-122"/>
              </a:rPr>
              <a:t>指令系统</a:t>
            </a:r>
            <a:endParaRPr lang="zh-CN" altLang="en-US" sz="2600" b="1">
              <a:solidFill>
                <a:srgbClr val="FF3300"/>
              </a:solidFill>
              <a:latin typeface="宋体" panose="02010600030101010101" pitchFamily="2" charset="-122"/>
            </a:endParaRPr>
          </a:p>
          <a:p>
            <a:pPr lvl="1" eaLnBrk="1" fontAlgn="auto" latinLnBrk="0" hangingPunct="1">
              <a:lnSpc>
                <a:spcPct val="130000"/>
              </a:lnSpc>
              <a:buClr>
                <a:schemeClr val="tx2"/>
              </a:buClr>
              <a:buSzPct val="75000"/>
              <a:buFont typeface="Wingdings" panose="05000000000000000000" pitchFamily="2" charset="2"/>
              <a:buChar char="&amp;"/>
            </a:pPr>
            <a:r>
              <a:rPr lang="zh-CN" altLang="en-US" sz="2600" b="1" dirty="0">
                <a:solidFill>
                  <a:schemeClr val="tx1"/>
                </a:solidFill>
                <a:latin typeface="宋体" panose="02010600030101010101" pitchFamily="2" charset="-122"/>
              </a:rPr>
              <a:t>  第四章   汇编语言程序设计知识</a:t>
            </a:r>
          </a:p>
          <a:p>
            <a:pPr lvl="1" eaLnBrk="1" fontAlgn="auto" latinLnBrk="0" hangingPunct="1">
              <a:lnSpc>
                <a:spcPct val="130000"/>
              </a:lnSpc>
              <a:buClr>
                <a:schemeClr val="tx2"/>
              </a:buClr>
              <a:buSzPct val="75000"/>
              <a:buFont typeface="Wingdings" panose="05000000000000000000" pitchFamily="2" charset="2"/>
              <a:buChar char="&amp;"/>
            </a:pPr>
            <a:r>
              <a:rPr lang="zh-CN" altLang="en-US" sz="2600" b="1" dirty="0">
                <a:solidFill>
                  <a:srgbClr val="FF0000"/>
                </a:solidFill>
                <a:latin typeface="宋体" panose="02010600030101010101" pitchFamily="2" charset="-122"/>
              </a:rPr>
              <a:t>  第五章   中断系统</a:t>
            </a:r>
          </a:p>
          <a:p>
            <a:pPr lvl="1" eaLnBrk="1" fontAlgn="auto" latinLnBrk="0" hangingPunct="1">
              <a:lnSpc>
                <a:spcPct val="130000"/>
              </a:lnSpc>
              <a:buClr>
                <a:schemeClr val="tx2"/>
              </a:buClr>
              <a:buSzPct val="75000"/>
              <a:buFont typeface="Wingdings" panose="05000000000000000000" pitchFamily="2" charset="2"/>
              <a:buChar char="&amp;"/>
            </a:pPr>
            <a:r>
              <a:rPr lang="zh-CN" altLang="en-US" sz="2600" b="1" dirty="0">
                <a:latin typeface="宋体" panose="02010600030101010101" pitchFamily="2" charset="-122"/>
              </a:rPr>
              <a:t>  第六章   定时器及应用</a:t>
            </a:r>
            <a:endParaRPr lang="zh-CN" altLang="en-US" sz="2600" b="1">
              <a:latin typeface="宋体" panose="02010600030101010101" pitchFamily="2" charset="-122"/>
            </a:endParaRPr>
          </a:p>
          <a:p>
            <a:pPr lvl="1" eaLnBrk="1" fontAlgn="auto" latinLnBrk="0" hangingPunct="1">
              <a:lnSpc>
                <a:spcPct val="130000"/>
              </a:lnSpc>
              <a:buClr>
                <a:schemeClr val="tx2"/>
              </a:buClr>
              <a:buSzPct val="75000"/>
              <a:buFont typeface="Wingdings" panose="05000000000000000000" pitchFamily="2" charset="2"/>
              <a:buChar char="&amp;"/>
            </a:pPr>
            <a:r>
              <a:rPr lang="zh-CN" altLang="en-US" sz="2600" b="1" dirty="0">
                <a:latin typeface="宋体" panose="02010600030101010101" pitchFamily="2" charset="-122"/>
              </a:rPr>
              <a:t>  第七章   </a:t>
            </a:r>
            <a:r>
              <a:rPr lang="en-US" altLang="zh-CN" sz="2600" b="1" dirty="0">
                <a:latin typeface="宋体" panose="02010600030101010101" pitchFamily="2" charset="-122"/>
              </a:rPr>
              <a:t>89C51</a:t>
            </a:r>
            <a:r>
              <a:rPr lang="zh-CN" altLang="en-US" sz="2600" b="1" dirty="0">
                <a:latin typeface="宋体" panose="02010600030101010101" pitchFamily="2" charset="-122"/>
              </a:rPr>
              <a:t>串行口及通信技术</a:t>
            </a:r>
          </a:p>
          <a:p>
            <a:pPr lvl="1" eaLnBrk="1" fontAlgn="auto" latinLnBrk="0" hangingPunct="1">
              <a:lnSpc>
                <a:spcPct val="130000"/>
              </a:lnSpc>
              <a:buClr>
                <a:schemeClr val="tx2"/>
              </a:buClr>
              <a:buSzPct val="75000"/>
              <a:buFont typeface="Wingdings" panose="05000000000000000000" pitchFamily="2" charset="2"/>
              <a:buChar char="&amp;"/>
            </a:pPr>
            <a:r>
              <a:rPr lang="zh-CN" altLang="en-US" sz="2600" b="1" dirty="0">
                <a:latin typeface="宋体" panose="02010600030101010101" pitchFamily="2" charset="-122"/>
              </a:rPr>
              <a:t>  第八章   单片机小系统片外扩展</a:t>
            </a:r>
          </a:p>
          <a:p>
            <a:pPr lvl="1" eaLnBrk="1" fontAlgn="auto" latinLnBrk="0" hangingPunct="1">
              <a:lnSpc>
                <a:spcPct val="130000"/>
              </a:lnSpc>
              <a:buClr>
                <a:schemeClr val="tx2"/>
              </a:buClr>
              <a:buSzPct val="75000"/>
              <a:buFont typeface="Wingdings" panose="05000000000000000000" pitchFamily="2" charset="2"/>
              <a:buChar char="&amp;"/>
            </a:pPr>
            <a:r>
              <a:rPr lang="zh-CN" altLang="en-US" sz="2600" b="1" dirty="0">
                <a:latin typeface="宋体" panose="02010600030101010101" pitchFamily="2" charset="-122"/>
              </a:rPr>
              <a:t>  第九章   应用系统配置及接口技术</a:t>
            </a:r>
            <a:endParaRPr lang="zh-CN" altLang="en-US" sz="2600" b="1">
              <a:latin typeface="宋体" panose="02010600030101010101" pitchFamily="2" charset="-122"/>
            </a:endParaRPr>
          </a:p>
        </p:txBody>
      </p:sp>
      <p:sp>
        <p:nvSpPr>
          <p:cNvPr id="2" name="灯片编号占位符 1"/>
          <p:cNvSpPr>
            <a:spLocks noGrp="1"/>
          </p:cNvSpPr>
          <p:nvPr>
            <p:ph type="sldNum" sz="quarter" idx="7"/>
          </p:nvPr>
        </p:nvSpPr>
        <p:spPr/>
        <p:txBody>
          <a:bodyPr/>
          <a:lstStyle/>
          <a:p>
            <a:pPr marL="25400">
              <a:lnSpc>
                <a:spcPct val="100000"/>
              </a:lnSpc>
              <a:spcBef>
                <a:spcPts val="185"/>
              </a:spcBef>
            </a:pPr>
            <a:fld id="{81D60167-4931-47E6-BA6A-407CBD079E47}" type="slidenum">
              <a:rPr spc="-5" dirty="0"/>
              <a:t>2</a:t>
            </a:fld>
            <a:endParaRPr spc="-5" dirty="0"/>
          </a:p>
        </p:txBody>
      </p:sp>
    </p:spTree>
  </p:cSld>
  <p:clrMapOvr>
    <a:masterClrMapping/>
  </p:clrMapOvr>
  <p:transition>
    <p:cut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7169"/>
          <p:cNvSpPr>
            <a:spLocks noGrp="1"/>
          </p:cNvSpPr>
          <p:nvPr>
            <p:ph type="title"/>
          </p:nvPr>
        </p:nvSpPr>
        <p:spPr>
          <a:xfrm>
            <a:off x="1493520" y="383540"/>
            <a:ext cx="2981960" cy="365760"/>
          </a:xfrm>
        </p:spPr>
        <p:txBody>
          <a:bodyPr lIns="46038" tIns="46038" rIns="46038" bIns="46038" anchor="b"/>
          <a:lstStyle/>
          <a:p>
            <a:r>
              <a:rPr lang="zh-CN" altLang="en-US" dirty="0"/>
              <a:t>第五章      中断系统</a:t>
            </a:r>
            <a:endParaRPr lang="zh-CN" altLang="en-US"/>
          </a:p>
        </p:txBody>
      </p:sp>
      <p:sp>
        <p:nvSpPr>
          <p:cNvPr id="7171" name="文本占位符 7170"/>
          <p:cNvSpPr>
            <a:spLocks noGrp="1"/>
          </p:cNvSpPr>
          <p:nvPr>
            <p:ph type="body" idx="1"/>
          </p:nvPr>
        </p:nvSpPr>
        <p:spPr>
          <a:xfrm>
            <a:off x="621665" y="1224915"/>
            <a:ext cx="6379845" cy="3415030"/>
          </a:xfrm>
        </p:spPr>
        <p:txBody>
          <a:bodyPr wrap="square" lIns="92075" tIns="46038" rIns="92075" bIns="46038"/>
          <a:lstStyle/>
          <a:p>
            <a:pPr>
              <a:lnSpc>
                <a:spcPct val="150000"/>
              </a:lnSpc>
            </a:pPr>
            <a:r>
              <a:rPr lang="zh-CN" altLang="en-US" sz="2400" b="1" dirty="0">
                <a:solidFill>
                  <a:srgbClr val="000000"/>
                </a:solidFill>
                <a:latin typeface="宋体" panose="02010600030101010101" pitchFamily="2" charset="-122"/>
              </a:rPr>
              <a:t>§</a:t>
            </a:r>
            <a:r>
              <a:rPr lang="en-US" altLang="zh-CN" sz="2400" b="1" dirty="0">
                <a:solidFill>
                  <a:srgbClr val="000000"/>
                </a:solidFill>
                <a:latin typeface="宋体" panose="02010600030101010101" pitchFamily="2" charset="-122"/>
              </a:rPr>
              <a:t>5.1  </a:t>
            </a:r>
            <a:r>
              <a:rPr lang="zh-CN" altLang="en-US" sz="2400" b="1" dirty="0">
                <a:solidFill>
                  <a:srgbClr val="000000"/>
                </a:solidFill>
                <a:latin typeface="宋体" panose="02010600030101010101" pitchFamily="2" charset="-122"/>
              </a:rPr>
              <a:t>微机的输入</a:t>
            </a:r>
            <a:r>
              <a:rPr lang="en-US" altLang="zh-CN" sz="2400" b="1" dirty="0">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输出方式</a:t>
            </a:r>
            <a:endParaRPr lang="zh-CN" altLang="en-US" sz="2400" b="1">
              <a:solidFill>
                <a:srgbClr val="000000"/>
              </a:solidFill>
              <a:latin typeface="宋体" panose="02010600030101010101" pitchFamily="2" charset="-122"/>
              <a:hlinkClick r:id="rId2" action="ppaction://hlinksldjump"/>
            </a:endParaRPr>
          </a:p>
          <a:p>
            <a:pPr>
              <a:lnSpc>
                <a:spcPct val="150000"/>
              </a:lnSpc>
            </a:pPr>
            <a:r>
              <a:rPr lang="zh-CN" altLang="en-US" sz="2400" b="1" dirty="0">
                <a:solidFill>
                  <a:srgbClr val="000000"/>
                </a:solidFill>
                <a:latin typeface="宋体" panose="02010600030101010101" pitchFamily="2" charset="-122"/>
              </a:rPr>
              <a:t>§</a:t>
            </a:r>
            <a:r>
              <a:rPr lang="en-US" altLang="zh-CN" sz="2400" b="1" dirty="0">
                <a:solidFill>
                  <a:srgbClr val="000000"/>
                </a:solidFill>
                <a:latin typeface="宋体" panose="02010600030101010101" pitchFamily="2" charset="-122"/>
              </a:rPr>
              <a:t>5.2  </a:t>
            </a:r>
            <a:r>
              <a:rPr lang="zh-CN" altLang="en-US" sz="2400" b="1" dirty="0">
                <a:solidFill>
                  <a:srgbClr val="000000"/>
                </a:solidFill>
                <a:latin typeface="宋体" panose="02010600030101010101" pitchFamily="2" charset="-122"/>
              </a:rPr>
              <a:t>中断的概念</a:t>
            </a:r>
            <a:endParaRPr lang="zh-CN" altLang="en-US" sz="2400" b="1">
              <a:solidFill>
                <a:srgbClr val="000000"/>
              </a:solidFill>
              <a:latin typeface="宋体" panose="02010600030101010101" pitchFamily="2" charset="-122"/>
              <a:hlinkClick r:id="rId2" action="ppaction://hlinksldjump"/>
            </a:endParaRPr>
          </a:p>
          <a:p>
            <a:pPr>
              <a:lnSpc>
                <a:spcPct val="150000"/>
              </a:lnSpc>
            </a:pPr>
            <a:r>
              <a:rPr lang="zh-CN" altLang="en-US" sz="2400" b="1" dirty="0">
                <a:solidFill>
                  <a:srgbClr val="000000"/>
                </a:solidFill>
                <a:latin typeface="宋体" panose="02010600030101010101" pitchFamily="2" charset="-122"/>
              </a:rPr>
              <a:t>§</a:t>
            </a:r>
            <a:r>
              <a:rPr lang="en-US" altLang="zh-CN" sz="2400" b="1" dirty="0">
                <a:solidFill>
                  <a:srgbClr val="000000"/>
                </a:solidFill>
                <a:latin typeface="宋体" panose="02010600030101010101" pitchFamily="2" charset="-122"/>
              </a:rPr>
              <a:t>5.3  89C51</a:t>
            </a:r>
            <a:r>
              <a:rPr lang="zh-CN" altLang="en-US" sz="2400" b="1" dirty="0">
                <a:solidFill>
                  <a:srgbClr val="000000"/>
                </a:solidFill>
                <a:latin typeface="宋体" panose="02010600030101010101" pitchFamily="2" charset="-122"/>
              </a:rPr>
              <a:t>中断系统结构及中断控制</a:t>
            </a:r>
            <a:endParaRPr lang="zh-CN" altLang="en-US" sz="2400" b="1">
              <a:solidFill>
                <a:srgbClr val="000000"/>
              </a:solidFill>
              <a:latin typeface="宋体" panose="02010600030101010101" pitchFamily="2" charset="-122"/>
              <a:hlinkClick r:id="rId2" action="ppaction://hlinksldjump"/>
            </a:endParaRPr>
          </a:p>
          <a:p>
            <a:pPr>
              <a:lnSpc>
                <a:spcPct val="150000"/>
              </a:lnSpc>
            </a:pPr>
            <a:r>
              <a:rPr lang="zh-CN" altLang="en-US" sz="2400" b="1" dirty="0">
                <a:solidFill>
                  <a:srgbClr val="000000"/>
                </a:solidFill>
                <a:latin typeface="宋体" panose="02010600030101010101" pitchFamily="2" charset="-122"/>
              </a:rPr>
              <a:t>§</a:t>
            </a:r>
            <a:r>
              <a:rPr lang="en-US" altLang="zh-CN" sz="2400" b="1" dirty="0">
                <a:solidFill>
                  <a:srgbClr val="000000"/>
                </a:solidFill>
                <a:latin typeface="宋体" panose="02010600030101010101" pitchFamily="2" charset="-122"/>
              </a:rPr>
              <a:t>5.4  </a:t>
            </a:r>
            <a:r>
              <a:rPr lang="zh-CN" altLang="en-US" sz="2400" b="1" dirty="0">
                <a:solidFill>
                  <a:srgbClr val="000000"/>
                </a:solidFill>
                <a:latin typeface="宋体" panose="02010600030101010101" pitchFamily="2" charset="-122"/>
              </a:rPr>
              <a:t>中断响应及处理过程</a:t>
            </a:r>
            <a:r>
              <a:rPr lang="zh-CN" altLang="en-US" sz="2400" b="1" dirty="0">
                <a:solidFill>
                  <a:srgbClr val="000000"/>
                </a:solidFill>
                <a:latin typeface="宋体" panose="02010600030101010101" pitchFamily="2" charset="-122"/>
                <a:hlinkClick r:id="rId2" action="ppaction://hlinksldjump"/>
              </a:rPr>
              <a:t>   </a:t>
            </a:r>
          </a:p>
          <a:p>
            <a:pPr>
              <a:lnSpc>
                <a:spcPct val="150000"/>
              </a:lnSpc>
            </a:pPr>
            <a:r>
              <a:rPr lang="zh-CN" altLang="en-US" sz="2400" b="1" dirty="0">
                <a:solidFill>
                  <a:srgbClr val="000000"/>
                </a:solidFill>
                <a:latin typeface="宋体" panose="02010600030101010101" pitchFamily="2" charset="-122"/>
              </a:rPr>
              <a:t>§</a:t>
            </a:r>
            <a:r>
              <a:rPr lang="en-US" altLang="zh-CN" sz="2400" b="1" dirty="0">
                <a:solidFill>
                  <a:srgbClr val="000000"/>
                </a:solidFill>
                <a:latin typeface="宋体" panose="02010600030101010101" pitchFamily="2" charset="-122"/>
              </a:rPr>
              <a:t>5.5  </a:t>
            </a:r>
            <a:r>
              <a:rPr lang="zh-CN" altLang="en-US" sz="2400" b="1" dirty="0">
                <a:solidFill>
                  <a:srgbClr val="000000"/>
                </a:solidFill>
                <a:latin typeface="宋体" panose="02010600030101010101" pitchFamily="2" charset="-122"/>
              </a:rPr>
              <a:t>中断程序举例</a:t>
            </a:r>
            <a:endParaRPr lang="zh-CN" altLang="en-US" sz="2400" b="1">
              <a:solidFill>
                <a:srgbClr val="000000"/>
              </a:solidFill>
              <a:latin typeface="宋体" panose="02010600030101010101" pitchFamily="2" charset="-122"/>
              <a:hlinkClick r:id="rId2" action="ppaction://hlinksldjump"/>
            </a:endParaRPr>
          </a:p>
          <a:p>
            <a:pPr>
              <a:lnSpc>
                <a:spcPct val="150000"/>
              </a:lnSpc>
            </a:pPr>
            <a:r>
              <a:rPr lang="zh-CN" altLang="en-US" sz="2400" b="1" dirty="0">
                <a:solidFill>
                  <a:srgbClr val="000000"/>
                </a:solidFill>
                <a:latin typeface="宋体" panose="02010600030101010101" pitchFamily="2" charset="-122"/>
              </a:rPr>
              <a:t>§</a:t>
            </a:r>
            <a:r>
              <a:rPr lang="en-US" altLang="zh-CN" sz="2400" b="1" dirty="0">
                <a:solidFill>
                  <a:srgbClr val="000000"/>
                </a:solidFill>
                <a:latin typeface="宋体" panose="02010600030101010101" pitchFamily="2" charset="-122"/>
              </a:rPr>
              <a:t>5.6  </a:t>
            </a:r>
            <a:r>
              <a:rPr lang="zh-CN" altLang="en-US" sz="2400" b="1" dirty="0">
                <a:solidFill>
                  <a:srgbClr val="000000"/>
                </a:solidFill>
                <a:latin typeface="宋体" panose="02010600030101010101" pitchFamily="2" charset="-122"/>
              </a:rPr>
              <a:t>思考题与习题</a:t>
            </a:r>
            <a:endParaRPr lang="zh-CN" altLang="en-US" sz="2400" b="1">
              <a:solidFill>
                <a:srgbClr val="000000"/>
              </a:solidFill>
              <a:latin typeface="宋体" panose="02010600030101010101" pitchFamily="2" charset="-122"/>
              <a:hlinkClick r:id="rId2" action="ppaction://hlinksldjump"/>
            </a:endParaRPr>
          </a:p>
        </p:txBody>
      </p:sp>
      <p:sp>
        <p:nvSpPr>
          <p:cNvPr id="3" name="灯片编号占位符 2"/>
          <p:cNvSpPr>
            <a:spLocks noGrp="1"/>
          </p:cNvSpPr>
          <p:nvPr>
            <p:ph type="sldNum" sz="quarter" idx="7"/>
          </p:nvPr>
        </p:nvSpPr>
        <p:spPr/>
        <p:txBody>
          <a:bodyPr/>
          <a:lstStyle/>
          <a:p>
            <a:pPr marL="25400">
              <a:lnSpc>
                <a:spcPct val="100000"/>
              </a:lnSpc>
              <a:spcBef>
                <a:spcPts val="185"/>
              </a:spcBef>
            </a:pPr>
            <a:fld id="{81D60167-4931-47E6-BA6A-407CBD079E47}" type="slidenum">
              <a:rPr spc="-5" dirty="0"/>
              <a:t>3</a:t>
            </a:fld>
            <a:endParaRPr spc="-5" dirty="0"/>
          </a:p>
        </p:txBody>
      </p:sp>
    </p:spTree>
  </p:cSld>
  <p:clrMapOvr>
    <a:masterClrMapping/>
  </p:clrMapOvr>
  <p:transition advClick="0">
    <p:cut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6385"/>
          <p:cNvSpPr>
            <a:spLocks noGrp="1"/>
          </p:cNvSpPr>
          <p:nvPr>
            <p:ph type="title"/>
          </p:nvPr>
        </p:nvSpPr>
        <p:spPr>
          <a:xfrm>
            <a:off x="1498600" y="187960"/>
            <a:ext cx="5902960" cy="460375"/>
          </a:xfrm>
        </p:spPr>
        <p:txBody>
          <a:bodyPr wrap="square" lIns="46038" tIns="46038" rIns="46038" bIns="46038" anchor="b"/>
          <a:lstStyle/>
          <a:p>
            <a:r>
              <a:rPr lang="zh-CN" altLang="en-US" dirty="0"/>
              <a:t>§</a:t>
            </a:r>
            <a:r>
              <a:rPr lang="en-US" altLang="zh-CN" dirty="0"/>
              <a:t>5.1  </a:t>
            </a:r>
            <a:r>
              <a:rPr lang="zh-CN" altLang="en-US" dirty="0"/>
              <a:t>微机的输入</a:t>
            </a:r>
            <a:r>
              <a:rPr lang="en-US" altLang="zh-CN" dirty="0"/>
              <a:t>/</a:t>
            </a:r>
            <a:r>
              <a:rPr lang="zh-CN" altLang="en-US" dirty="0"/>
              <a:t>输出方式</a:t>
            </a:r>
            <a:endParaRPr lang="zh-CN" altLang="en-US" sz="2800" b="0">
              <a:solidFill>
                <a:schemeClr val="tx1"/>
              </a:solidFill>
              <a:latin typeface="宋体" panose="02010600030101010101" pitchFamily="2" charset="-122"/>
            </a:endParaRPr>
          </a:p>
        </p:txBody>
      </p:sp>
      <p:sp>
        <p:nvSpPr>
          <p:cNvPr id="16387" name="文本占位符 16386"/>
          <p:cNvSpPr>
            <a:spLocks noGrp="1"/>
          </p:cNvSpPr>
          <p:nvPr>
            <p:ph type="body" idx="1"/>
          </p:nvPr>
        </p:nvSpPr>
        <p:spPr>
          <a:xfrm>
            <a:off x="457200" y="1676400"/>
            <a:ext cx="1800000" cy="540000"/>
          </a:xfrm>
          <a:solidFill>
            <a:schemeClr val="accent2">
              <a:lumMod val="20000"/>
              <a:lumOff val="80000"/>
            </a:schemeClr>
          </a:solidFill>
          <a:ln w="12700" cmpd="sng">
            <a:solidFill>
              <a:schemeClr val="accent1">
                <a:shade val="50000"/>
              </a:schemeClr>
            </a:solidFill>
            <a:prstDash val="sysDot"/>
          </a:ln>
        </p:spPr>
        <p:txBody>
          <a:bodyPr wrap="square" lIns="92075" tIns="46038" rIns="92075" bIns="46038" anchor="ctr" anchorCtr="0"/>
          <a:lstStyle/>
          <a:p>
            <a:pPr algn="ctr"/>
            <a:r>
              <a:rPr lang="zh-CN" altLang="en-US" sz="1600" b="1" dirty="0">
                <a:latin typeface="宋体" panose="02010600030101010101" pitchFamily="2" charset="-122"/>
              </a:rPr>
              <a:t>无条件传送方式</a:t>
            </a:r>
          </a:p>
        </p:txBody>
      </p:sp>
      <p:sp>
        <p:nvSpPr>
          <p:cNvPr id="3" name="文本占位符 16386"/>
          <p:cNvSpPr>
            <a:spLocks noGrp="1"/>
          </p:cNvSpPr>
          <p:nvPr/>
        </p:nvSpPr>
        <p:spPr>
          <a:xfrm>
            <a:off x="2503580" y="1676400"/>
            <a:ext cx="1799590" cy="540000"/>
          </a:xfrm>
          <a:prstGeom prst="rect">
            <a:avLst/>
          </a:prstGeom>
          <a:solidFill>
            <a:schemeClr val="accent2">
              <a:lumMod val="20000"/>
              <a:lumOff val="80000"/>
            </a:schemeClr>
          </a:solidFill>
          <a:ln w="12700" cmpd="sng">
            <a:solidFill>
              <a:schemeClr val="accent1">
                <a:shade val="50000"/>
              </a:schemeClr>
            </a:solidFill>
            <a:prstDash val="sysDot"/>
          </a:ln>
        </p:spPr>
        <p:txBody>
          <a:bodyPr wrap="square" lIns="92075" tIns="46038" rIns="92075" bIns="46038" anchor="ctr" anchorCtr="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ctr"/>
            <a:r>
              <a:rPr lang="zh-CN" altLang="en-US" sz="1600" b="1" dirty="0">
                <a:latin typeface="宋体" panose="02010600030101010101" pitchFamily="2" charset="-122"/>
              </a:rPr>
              <a:t>查询传送方式</a:t>
            </a:r>
          </a:p>
        </p:txBody>
      </p:sp>
      <p:sp>
        <p:nvSpPr>
          <p:cNvPr id="4" name="文本占位符 16386"/>
          <p:cNvSpPr>
            <a:spLocks noGrp="1"/>
          </p:cNvSpPr>
          <p:nvPr/>
        </p:nvSpPr>
        <p:spPr>
          <a:xfrm>
            <a:off x="6594700" y="1143032"/>
            <a:ext cx="1799590" cy="585418"/>
          </a:xfrm>
          <a:prstGeom prst="rect">
            <a:avLst/>
          </a:prstGeom>
          <a:solidFill>
            <a:schemeClr val="accent2">
              <a:lumMod val="20000"/>
              <a:lumOff val="80000"/>
            </a:schemeClr>
          </a:solidFill>
          <a:ln w="12700" cmpd="sng">
            <a:solidFill>
              <a:schemeClr val="accent1">
                <a:shade val="50000"/>
              </a:schemeClr>
            </a:solidFill>
            <a:prstDash val="sysDot"/>
          </a:ln>
        </p:spPr>
        <p:txBody>
          <a:bodyPr wrap="square" lIns="92075" tIns="46038" rIns="92075" bIns="46038" anchor="ctr" anchorCtr="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ctr"/>
            <a:r>
              <a:rPr lang="en-US" altLang="zh-CN" sz="1600" b="1" dirty="0">
                <a:latin typeface="宋体" panose="02010600030101010101" pitchFamily="2" charset="-122"/>
              </a:rPr>
              <a:t>3.</a:t>
            </a:r>
            <a:r>
              <a:rPr lang="zh-CN" altLang="en-US" sz="1600" b="1" dirty="0">
                <a:latin typeface="宋体" panose="02010600030101010101" pitchFamily="2" charset="-122"/>
              </a:rPr>
              <a:t>直接存储器存取（</a:t>
            </a:r>
            <a:r>
              <a:rPr lang="en-US" altLang="zh-CN" sz="1600" b="1" dirty="0">
                <a:latin typeface="宋体" panose="02010600030101010101" pitchFamily="2" charset="-122"/>
              </a:rPr>
              <a:t>DMA</a:t>
            </a:r>
            <a:r>
              <a:rPr lang="zh-CN" altLang="en-US" sz="1600" b="1" dirty="0">
                <a:latin typeface="宋体" panose="02010600030101010101" pitchFamily="2" charset="-122"/>
              </a:rPr>
              <a:t>）方式</a:t>
            </a:r>
          </a:p>
        </p:txBody>
      </p:sp>
      <p:sp>
        <p:nvSpPr>
          <p:cNvPr id="5" name="文本占位符 16386"/>
          <p:cNvSpPr>
            <a:spLocks noGrp="1"/>
          </p:cNvSpPr>
          <p:nvPr/>
        </p:nvSpPr>
        <p:spPr>
          <a:xfrm>
            <a:off x="4549140" y="1240731"/>
            <a:ext cx="1799590" cy="339196"/>
          </a:xfrm>
          <a:prstGeom prst="rect">
            <a:avLst/>
          </a:prstGeom>
          <a:solidFill>
            <a:schemeClr val="accent2">
              <a:lumMod val="20000"/>
              <a:lumOff val="80000"/>
            </a:schemeClr>
          </a:solidFill>
          <a:ln w="12700" cmpd="sng">
            <a:solidFill>
              <a:schemeClr val="accent1">
                <a:shade val="50000"/>
              </a:schemeClr>
            </a:solidFill>
            <a:prstDash val="sysDot"/>
          </a:ln>
        </p:spPr>
        <p:txBody>
          <a:bodyPr wrap="square" lIns="92075" tIns="46038" rIns="92075" bIns="46038" anchor="ctr" anchorCtr="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ctr"/>
            <a:r>
              <a:rPr lang="en-US" altLang="zh-CN" sz="1600" b="1" dirty="0">
                <a:latin typeface="宋体" panose="02010600030101010101" pitchFamily="2" charset="-122"/>
              </a:rPr>
              <a:t>2.</a:t>
            </a:r>
            <a:r>
              <a:rPr lang="zh-CN" altLang="zh-CN" sz="1600" b="1" dirty="0">
                <a:latin typeface="宋体" panose="02010600030101010101" pitchFamily="2" charset="-122"/>
              </a:rPr>
              <a:t>中断处理方式</a:t>
            </a:r>
          </a:p>
        </p:txBody>
      </p:sp>
      <p:sp>
        <p:nvSpPr>
          <p:cNvPr id="6" name="文本占位符 16386"/>
          <p:cNvSpPr>
            <a:spLocks noGrp="1"/>
          </p:cNvSpPr>
          <p:nvPr/>
        </p:nvSpPr>
        <p:spPr>
          <a:xfrm>
            <a:off x="457200" y="2302000"/>
            <a:ext cx="1800000" cy="3630930"/>
          </a:xfrm>
          <a:prstGeom prst="rect">
            <a:avLst/>
          </a:prstGeom>
          <a:solidFill>
            <a:schemeClr val="accent2">
              <a:lumMod val="20000"/>
              <a:lumOff val="80000"/>
            </a:schemeClr>
          </a:solidFill>
          <a:ln w="12700" cmpd="sng">
            <a:solidFill>
              <a:schemeClr val="accent1">
                <a:shade val="50000"/>
              </a:schemeClr>
            </a:solidFill>
            <a:prstDash val="sysDot"/>
          </a:ln>
        </p:spPr>
        <p:txBody>
          <a:bodyPr wrap="square" lIns="92075" tIns="46038" rIns="92075" bIns="46038" anchor="ctr" anchorCtr="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fontAlgn="auto">
              <a:lnSpc>
                <a:spcPct val="120000"/>
              </a:lnSpc>
              <a:buClr>
                <a:schemeClr val="tx1"/>
              </a:buClr>
              <a:buFont typeface="Webdings" panose="05030102010509060703" pitchFamily="18" charset="2"/>
              <a:buChar char="4"/>
              <a:tabLst>
                <a:tab pos="2000250" algn="l"/>
              </a:tabLst>
            </a:pPr>
            <a:r>
              <a:rPr lang="en-US" altLang="zh-CN" sz="1600" b="1" dirty="0">
                <a:solidFill>
                  <a:schemeClr val="hlink"/>
                </a:solidFill>
                <a:sym typeface="+mn-ea"/>
              </a:rPr>
              <a:t>CPU</a:t>
            </a:r>
            <a:r>
              <a:rPr lang="zh-CN" altLang="en-US" sz="1600" b="1" dirty="0">
                <a:solidFill>
                  <a:schemeClr val="hlink"/>
                </a:solidFill>
                <a:sym typeface="+mn-ea"/>
              </a:rPr>
              <a:t>总是认为外设在任何时刻都处于“准备好”的状态。</a:t>
            </a:r>
            <a:endParaRPr lang="zh-CN" altLang="en-US" sz="1600" b="1" dirty="0">
              <a:solidFill>
                <a:schemeClr val="hlink"/>
              </a:solidFill>
            </a:endParaRPr>
          </a:p>
          <a:p>
            <a:pPr defTabSz="914400" fontAlgn="auto">
              <a:lnSpc>
                <a:spcPct val="120000"/>
              </a:lnSpc>
              <a:buClr>
                <a:schemeClr val="tx1"/>
              </a:buClr>
              <a:buFont typeface="Webdings" panose="05030102010509060703" pitchFamily="18" charset="2"/>
              <a:buChar char="4"/>
              <a:tabLst>
                <a:tab pos="2000250" algn="l"/>
              </a:tabLst>
            </a:pPr>
            <a:r>
              <a:rPr lang="zh-CN" altLang="en-US" sz="1600" b="1" dirty="0">
                <a:solidFill>
                  <a:srgbClr val="CC6600"/>
                </a:solidFill>
                <a:sym typeface="+mn-ea"/>
              </a:rPr>
              <a:t>这种传送方式不需要交换状态信息，只需在程序中加入访问外设的指令，数据传送便可以实现。</a:t>
            </a:r>
            <a:endParaRPr lang="zh-CN" altLang="en-US" sz="1600" b="1" dirty="0">
              <a:solidFill>
                <a:srgbClr val="FF9933"/>
              </a:solidFill>
            </a:endParaRPr>
          </a:p>
          <a:p>
            <a:pPr defTabSz="914400" fontAlgn="auto">
              <a:lnSpc>
                <a:spcPct val="120000"/>
              </a:lnSpc>
              <a:buClr>
                <a:schemeClr val="tx1"/>
              </a:buClr>
              <a:buFont typeface="Webdings" panose="05030102010509060703" pitchFamily="18" charset="2"/>
              <a:buChar char="4"/>
              <a:tabLst>
                <a:tab pos="2000250" algn="l"/>
              </a:tabLst>
            </a:pPr>
            <a:r>
              <a:rPr lang="zh-CN" altLang="en-US" sz="1600" b="1" dirty="0">
                <a:solidFill>
                  <a:srgbClr val="CC0066"/>
                </a:solidFill>
                <a:sym typeface="+mn-ea"/>
              </a:rPr>
              <a:t>此种方法很少使用。</a:t>
            </a:r>
            <a:endParaRPr lang="zh-CN" altLang="en-US" sz="1600" b="1" dirty="0">
              <a:latin typeface="宋体" panose="02010600030101010101" pitchFamily="2" charset="-122"/>
            </a:endParaRPr>
          </a:p>
        </p:txBody>
      </p:sp>
      <p:sp>
        <p:nvSpPr>
          <p:cNvPr id="7" name="文本占位符 16386"/>
          <p:cNvSpPr>
            <a:spLocks noGrp="1"/>
          </p:cNvSpPr>
          <p:nvPr/>
        </p:nvSpPr>
        <p:spPr>
          <a:xfrm>
            <a:off x="2503170" y="2302000"/>
            <a:ext cx="1800000" cy="3784600"/>
          </a:xfrm>
          <a:prstGeom prst="rect">
            <a:avLst/>
          </a:prstGeom>
          <a:solidFill>
            <a:schemeClr val="accent2">
              <a:lumMod val="20000"/>
              <a:lumOff val="80000"/>
            </a:schemeClr>
          </a:solidFill>
          <a:ln w="12700" cmpd="sng">
            <a:solidFill>
              <a:schemeClr val="accent1">
                <a:shade val="50000"/>
              </a:schemeClr>
            </a:solidFill>
            <a:prstDash val="sysDot"/>
          </a:ln>
        </p:spPr>
        <p:txBody>
          <a:bodyPr wrap="square" lIns="92075" tIns="46038" rIns="92075" bIns="46038" anchor="ctr" anchorCtr="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indent="0" defTabSz="914400" fontAlgn="auto">
              <a:lnSpc>
                <a:spcPct val="100000"/>
              </a:lnSpc>
              <a:buClr>
                <a:schemeClr val="tx1"/>
              </a:buClr>
              <a:buNone/>
              <a:tabLst>
                <a:tab pos="2000250" algn="l"/>
              </a:tabLst>
            </a:pPr>
            <a:r>
              <a:rPr lang="zh-CN" altLang="en-US" sz="1600" b="1" dirty="0">
                <a:solidFill>
                  <a:srgbClr val="CC6600"/>
                </a:solidFill>
                <a:sym typeface="+mn-ea"/>
              </a:rPr>
              <a:t>在输入时，需要查询外设的输入数据是否准备好；</a:t>
            </a:r>
            <a:endParaRPr lang="zh-CN" altLang="en-US" sz="1600" b="1" dirty="0">
              <a:solidFill>
                <a:srgbClr val="CC6600"/>
              </a:solidFill>
            </a:endParaRPr>
          </a:p>
          <a:p>
            <a:pPr indent="0" defTabSz="914400" fontAlgn="auto">
              <a:lnSpc>
                <a:spcPct val="100000"/>
              </a:lnSpc>
              <a:buClr>
                <a:schemeClr val="tx1"/>
              </a:buClr>
              <a:buNone/>
              <a:tabLst>
                <a:tab pos="2000250" algn="l"/>
              </a:tabLst>
            </a:pPr>
            <a:r>
              <a:rPr lang="zh-CN" altLang="en-US" sz="1600" b="1" dirty="0">
                <a:solidFill>
                  <a:srgbClr val="008000"/>
                </a:solidFill>
                <a:sym typeface="+mn-ea"/>
              </a:rPr>
              <a:t>在输出时，需要查询外设是否把上一次</a:t>
            </a:r>
            <a:r>
              <a:rPr lang="en-US" altLang="zh-CN" sz="1600" b="1" dirty="0">
                <a:solidFill>
                  <a:srgbClr val="008000"/>
                </a:solidFill>
                <a:sym typeface="+mn-ea"/>
              </a:rPr>
              <a:t>CPU</a:t>
            </a:r>
            <a:r>
              <a:rPr lang="zh-CN" altLang="en-US" sz="1600" b="1" dirty="0">
                <a:solidFill>
                  <a:srgbClr val="008000"/>
                </a:solidFill>
                <a:sym typeface="+mn-ea"/>
              </a:rPr>
              <a:t>输出的数据处理完毕。</a:t>
            </a:r>
            <a:endParaRPr lang="zh-CN" altLang="en-US" sz="1600" b="1" dirty="0"/>
          </a:p>
          <a:p>
            <a:pPr indent="0" defTabSz="914400" fontAlgn="auto">
              <a:lnSpc>
                <a:spcPct val="100000"/>
              </a:lnSpc>
              <a:buClr>
                <a:schemeClr val="tx1"/>
              </a:buClr>
              <a:buNone/>
              <a:tabLst>
                <a:tab pos="2000250" algn="l"/>
              </a:tabLst>
            </a:pPr>
            <a:r>
              <a:rPr lang="zh-CN" altLang="en-US" sz="1600" b="1" dirty="0">
                <a:solidFill>
                  <a:srgbClr val="003399"/>
                </a:solidFill>
                <a:sym typeface="+mn-ea"/>
              </a:rPr>
              <a:t>查询传送方式：通过查询外设的状态信息，确信外设已处于“准备好”，计算机才发出访问外设的指令，实现数据的传送。</a:t>
            </a:r>
            <a:endParaRPr lang="zh-CN" altLang="en-US" sz="1600" b="1" dirty="0">
              <a:latin typeface="宋体" panose="02010600030101010101" pitchFamily="2" charset="-122"/>
            </a:endParaRPr>
          </a:p>
        </p:txBody>
      </p:sp>
      <p:sp>
        <p:nvSpPr>
          <p:cNvPr id="8" name="文本占位符 16386"/>
          <p:cNvSpPr>
            <a:spLocks noGrp="1"/>
          </p:cNvSpPr>
          <p:nvPr/>
        </p:nvSpPr>
        <p:spPr>
          <a:xfrm>
            <a:off x="4549140" y="2301683"/>
            <a:ext cx="1800000" cy="975995"/>
          </a:xfrm>
          <a:prstGeom prst="rect">
            <a:avLst/>
          </a:prstGeom>
        </p:spPr>
        <p:style>
          <a:lnRef idx="2">
            <a:schemeClr val="accent2"/>
          </a:lnRef>
          <a:fillRef idx="1">
            <a:schemeClr val="lt1"/>
          </a:fillRef>
          <a:effectRef idx="0">
            <a:schemeClr val="accent2"/>
          </a:effectRef>
          <a:fontRef idx="minor">
            <a:schemeClr val="dk1"/>
          </a:fontRef>
        </p:style>
        <p:txBody>
          <a:bodyPr wrap="square" lIns="92075" tIns="46038" rIns="92075" bIns="46038" anchor="ctr" anchorCtr="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fontAlgn="auto">
              <a:lnSpc>
                <a:spcPct val="120000"/>
              </a:lnSpc>
              <a:buClr>
                <a:schemeClr val="tx1"/>
              </a:buClr>
              <a:buFont typeface="Webdings" panose="05030102010509060703" pitchFamily="18" charset="2"/>
              <a:buChar char="4"/>
              <a:tabLst>
                <a:tab pos="2000250" algn="l"/>
              </a:tabLst>
            </a:pPr>
            <a:r>
              <a:rPr lang="zh-CN" altLang="zh-CN" sz="1600" b="1" dirty="0">
                <a:latin typeface="宋体" panose="02010600030101010101" pitchFamily="2" charset="-122"/>
              </a:rPr>
              <a:t>提高</a:t>
            </a:r>
            <a:r>
              <a:rPr lang="en-US" altLang="zh-CN" sz="1600" b="1" dirty="0">
                <a:latin typeface="宋体" panose="02010600030101010101" pitchFamily="2" charset="-122"/>
              </a:rPr>
              <a:t>CPU</a:t>
            </a:r>
            <a:r>
              <a:rPr lang="zh-CN" altLang="en-US" sz="1600" b="1" dirty="0">
                <a:latin typeface="宋体" panose="02010600030101010101" pitchFamily="2" charset="-122"/>
              </a:rPr>
              <a:t>的效率，实时处理事件。</a:t>
            </a:r>
          </a:p>
          <a:p>
            <a:pPr defTabSz="914400" fontAlgn="auto">
              <a:lnSpc>
                <a:spcPct val="120000"/>
              </a:lnSpc>
              <a:buClr>
                <a:schemeClr val="tx1"/>
              </a:buClr>
              <a:buFont typeface="Webdings" panose="05030102010509060703" pitchFamily="18" charset="2"/>
              <a:buChar char="4"/>
              <a:tabLst>
                <a:tab pos="2000250" algn="l"/>
              </a:tabLst>
            </a:pPr>
            <a:endParaRPr lang="zh-CN" altLang="en-US" sz="1600" b="1" dirty="0">
              <a:latin typeface="宋体" panose="02010600030101010101" pitchFamily="2" charset="-122"/>
            </a:endParaRPr>
          </a:p>
        </p:txBody>
      </p:sp>
      <p:sp>
        <p:nvSpPr>
          <p:cNvPr id="9" name="文本占位符 16386"/>
          <p:cNvSpPr>
            <a:spLocks noGrp="1"/>
          </p:cNvSpPr>
          <p:nvPr/>
        </p:nvSpPr>
        <p:spPr>
          <a:xfrm>
            <a:off x="6595745" y="2302000"/>
            <a:ext cx="1800000" cy="4250690"/>
          </a:xfrm>
          <a:prstGeom prst="rect">
            <a:avLst/>
          </a:prstGeom>
          <a:solidFill>
            <a:schemeClr val="accent2">
              <a:lumMod val="20000"/>
              <a:lumOff val="80000"/>
            </a:schemeClr>
          </a:solidFill>
          <a:ln w="12700" cmpd="sng">
            <a:solidFill>
              <a:schemeClr val="accent1">
                <a:shade val="50000"/>
              </a:schemeClr>
            </a:solidFill>
            <a:prstDash val="sysDot"/>
          </a:ln>
        </p:spPr>
        <p:txBody>
          <a:bodyPr wrap="square" lIns="92075" tIns="46038" rIns="92075" bIns="46038" anchor="ctr" anchorCtr="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indent="0">
              <a:lnSpc>
                <a:spcPct val="130000"/>
              </a:lnSpc>
              <a:buClr>
                <a:schemeClr val="tx1"/>
              </a:buClr>
              <a:buNone/>
            </a:pPr>
            <a:r>
              <a:rPr lang="en-US" altLang="zh-CN" sz="1600" b="1">
                <a:solidFill>
                  <a:srgbClr val="800080"/>
                </a:solidFill>
                <a:sym typeface="+mn-ea"/>
              </a:rPr>
              <a:t>DMA</a:t>
            </a:r>
            <a:r>
              <a:rPr lang="zh-CN" altLang="en-US" sz="1600" b="1">
                <a:solidFill>
                  <a:srgbClr val="800080"/>
                </a:solidFill>
                <a:sym typeface="+mn-ea"/>
              </a:rPr>
              <a:t>：</a:t>
            </a:r>
            <a:r>
              <a:rPr lang="en-US" altLang="zh-CN" sz="1600" b="1">
                <a:solidFill>
                  <a:srgbClr val="800080"/>
                </a:solidFill>
                <a:sym typeface="+mn-ea"/>
              </a:rPr>
              <a:t>Direct   Memory  Access</a:t>
            </a:r>
            <a:endParaRPr lang="en-US" altLang="zh-CN" sz="1600" b="1"/>
          </a:p>
          <a:p>
            <a:pPr indent="0">
              <a:lnSpc>
                <a:spcPct val="130000"/>
              </a:lnSpc>
              <a:buClr>
                <a:schemeClr val="tx1"/>
              </a:buClr>
              <a:buNone/>
            </a:pPr>
            <a:r>
              <a:rPr lang="en-US" altLang="zh-CN" sz="1600" b="1" dirty="0">
                <a:solidFill>
                  <a:srgbClr val="003399"/>
                </a:solidFill>
                <a:sym typeface="+mn-ea"/>
              </a:rPr>
              <a:t>CPU</a:t>
            </a:r>
            <a:r>
              <a:rPr lang="zh-CN" altLang="en-US" sz="1600" b="1" dirty="0">
                <a:solidFill>
                  <a:srgbClr val="003399"/>
                </a:solidFill>
                <a:sym typeface="+mn-ea"/>
              </a:rPr>
              <a:t>让出数据总线（悬浮状态） ，使外设和存储器之间直接传送（不通过</a:t>
            </a:r>
            <a:r>
              <a:rPr lang="en-US" altLang="zh-CN" sz="1600" b="1" dirty="0">
                <a:solidFill>
                  <a:srgbClr val="003399"/>
                </a:solidFill>
                <a:sym typeface="+mn-ea"/>
              </a:rPr>
              <a:t>CPU</a:t>
            </a:r>
            <a:r>
              <a:rPr lang="zh-CN" altLang="en-US" sz="1600" b="1" dirty="0">
                <a:solidFill>
                  <a:srgbClr val="003399"/>
                </a:solidFill>
                <a:sym typeface="+mn-ea"/>
              </a:rPr>
              <a:t>）数据的方式。</a:t>
            </a:r>
            <a:endParaRPr lang="zh-CN" altLang="en-US" sz="1600" b="1" dirty="0"/>
          </a:p>
          <a:p>
            <a:pPr indent="0">
              <a:lnSpc>
                <a:spcPct val="130000"/>
              </a:lnSpc>
              <a:buClr>
                <a:schemeClr val="tx1"/>
              </a:buClr>
              <a:buNone/>
            </a:pPr>
            <a:r>
              <a:rPr lang="zh-CN" altLang="en-US" sz="1600" b="1" dirty="0">
                <a:solidFill>
                  <a:srgbClr val="D60093"/>
                </a:solidFill>
                <a:sym typeface="+mn-ea"/>
              </a:rPr>
              <a:t>适用于外设和存储器之间有大量的数据需要传送及外设工作速度很快的情况。</a:t>
            </a:r>
            <a:endParaRPr lang="zh-CN" altLang="en-US" sz="1600" b="1" dirty="0">
              <a:latin typeface="宋体" panose="02010600030101010101" pitchFamily="2" charset="-122"/>
            </a:endParaRPr>
          </a:p>
        </p:txBody>
      </p:sp>
      <p:sp>
        <p:nvSpPr>
          <p:cNvPr id="10" name="灯片编号占位符 9"/>
          <p:cNvSpPr>
            <a:spLocks noGrp="1"/>
          </p:cNvSpPr>
          <p:nvPr>
            <p:ph type="sldNum" sz="quarter" idx="7"/>
          </p:nvPr>
        </p:nvSpPr>
        <p:spPr/>
        <p:txBody>
          <a:bodyPr/>
          <a:lstStyle/>
          <a:p>
            <a:pPr marL="25400">
              <a:lnSpc>
                <a:spcPct val="100000"/>
              </a:lnSpc>
              <a:spcBef>
                <a:spcPts val="185"/>
              </a:spcBef>
            </a:pPr>
            <a:fld id="{81D60167-4931-47E6-BA6A-407CBD079E47}" type="slidenum">
              <a:rPr spc="-5" dirty="0"/>
              <a:t>4</a:t>
            </a:fld>
            <a:endParaRPr spc="-5" dirty="0"/>
          </a:p>
        </p:txBody>
      </p:sp>
      <p:sp>
        <p:nvSpPr>
          <p:cNvPr id="12" name="文本占位符 16386"/>
          <p:cNvSpPr>
            <a:spLocks noGrp="1"/>
          </p:cNvSpPr>
          <p:nvPr/>
        </p:nvSpPr>
        <p:spPr>
          <a:xfrm>
            <a:off x="1476566" y="1242726"/>
            <a:ext cx="2053208" cy="339196"/>
          </a:xfrm>
          <a:prstGeom prst="rect">
            <a:avLst/>
          </a:prstGeom>
          <a:solidFill>
            <a:schemeClr val="accent2">
              <a:lumMod val="20000"/>
              <a:lumOff val="80000"/>
            </a:schemeClr>
          </a:solidFill>
          <a:ln w="12700" cmpd="sng">
            <a:solidFill>
              <a:schemeClr val="accent1">
                <a:shade val="50000"/>
              </a:schemeClr>
            </a:solidFill>
            <a:prstDash val="sysDot"/>
          </a:ln>
        </p:spPr>
        <p:txBody>
          <a:bodyPr wrap="square" lIns="92075" tIns="46038" rIns="92075" bIns="46038" anchor="ctr" anchorCtr="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ctr"/>
            <a:r>
              <a:rPr lang="en-US" altLang="zh-CN" sz="1600" b="1" dirty="0">
                <a:latin typeface="宋体" panose="02010600030101010101" pitchFamily="2" charset="-122"/>
              </a:rPr>
              <a:t>1.</a:t>
            </a:r>
            <a:r>
              <a:rPr lang="zh-CN" altLang="en-US" sz="1600" b="1" dirty="0">
                <a:latin typeface="宋体" panose="02010600030101010101" pitchFamily="2" charset="-122"/>
              </a:rPr>
              <a:t>程序控制传送方式</a:t>
            </a:r>
          </a:p>
        </p:txBody>
      </p:sp>
    </p:spTree>
  </p:cSld>
  <p:clrMapOvr>
    <a:masterClrMapping/>
  </p:clrMapOvr>
  <p:transition advClick="0">
    <p:cut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0481"/>
          <p:cNvSpPr>
            <a:spLocks noGrp="1"/>
          </p:cNvSpPr>
          <p:nvPr>
            <p:ph type="title"/>
          </p:nvPr>
        </p:nvSpPr>
        <p:spPr>
          <a:xfrm>
            <a:off x="1311910" y="277495"/>
            <a:ext cx="4822190" cy="460375"/>
          </a:xfrm>
        </p:spPr>
        <p:txBody>
          <a:bodyPr wrap="square" lIns="46038" tIns="46038" rIns="46038" bIns="46038" anchor="b"/>
          <a:lstStyle/>
          <a:p>
            <a:r>
              <a:rPr lang="zh-CN" altLang="en-US" dirty="0"/>
              <a:t>查询方式程序流程图</a:t>
            </a:r>
            <a:endParaRPr lang="zh-CN" altLang="en-US"/>
          </a:p>
        </p:txBody>
      </p:sp>
      <p:sp>
        <p:nvSpPr>
          <p:cNvPr id="20483" name="文本占位符 20482"/>
          <p:cNvSpPr>
            <a:spLocks noGrp="1"/>
          </p:cNvSpPr>
          <p:nvPr>
            <p:ph type="body" idx="1"/>
          </p:nvPr>
        </p:nvSpPr>
        <p:spPr/>
        <p:txBody>
          <a:bodyPr lIns="92075" tIns="46038" rIns="92075" bIns="46038"/>
          <a:lstStyle/>
          <a:p>
            <a:pPr defTabSz="914400">
              <a:buClr>
                <a:schemeClr val="tx1"/>
              </a:buClr>
              <a:buFontTx/>
              <a:buChar char=" "/>
              <a:tabLst>
                <a:tab pos="2000250" algn="l"/>
              </a:tabLst>
            </a:pPr>
            <a:r>
              <a:rPr lang="en-US" altLang="zh-CN" sz="2000" dirty="0"/>
              <a:t>  </a:t>
            </a:r>
            <a:r>
              <a:rPr lang="en-US" altLang="zh-CN" sz="1800" dirty="0"/>
              <a:t>        </a:t>
            </a:r>
            <a:endParaRPr lang="en-US" altLang="zh-CN" sz="2400" dirty="0"/>
          </a:p>
        </p:txBody>
      </p:sp>
      <p:sp>
        <p:nvSpPr>
          <p:cNvPr id="20485" name="直接连接符 20484"/>
          <p:cNvSpPr/>
          <p:nvPr/>
        </p:nvSpPr>
        <p:spPr>
          <a:xfrm>
            <a:off x="2209165" y="1445260"/>
            <a:ext cx="635" cy="383540"/>
          </a:xfrm>
          <a:prstGeom prst="line">
            <a:avLst/>
          </a:prstGeom>
          <a:ln w="28575" cap="flat" cmpd="sng">
            <a:solidFill>
              <a:schemeClr val="tx1"/>
            </a:solidFill>
            <a:prstDash val="solid"/>
            <a:headEnd type="none" w="med" len="med"/>
            <a:tailEnd type="stealth" w="lg" len="lg"/>
          </a:ln>
        </p:spPr>
      </p:sp>
      <p:sp>
        <p:nvSpPr>
          <p:cNvPr id="20486" name="矩形 20485"/>
          <p:cNvSpPr/>
          <p:nvPr/>
        </p:nvSpPr>
        <p:spPr>
          <a:xfrm>
            <a:off x="1219200" y="1828800"/>
            <a:ext cx="1763395" cy="3835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r>
              <a:rPr lang="zh-CN" altLang="en-US" dirty="0">
                <a:latin typeface="Times New Roman" panose="02020603050405020304" charset="0"/>
                <a:ea typeface="宋体" panose="02010600030101010101" pitchFamily="2" charset="-122"/>
              </a:rPr>
              <a:t>输入状态信息</a:t>
            </a:r>
          </a:p>
        </p:txBody>
      </p:sp>
      <p:sp>
        <p:nvSpPr>
          <p:cNvPr id="20488" name="菱形 20487"/>
          <p:cNvSpPr/>
          <p:nvPr/>
        </p:nvSpPr>
        <p:spPr>
          <a:xfrm>
            <a:off x="1294765" y="2547620"/>
            <a:ext cx="1828800" cy="670560"/>
          </a:xfrm>
          <a:prstGeom prst="diamond">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r>
              <a:rPr lang="zh-CN" altLang="en-US" dirty="0">
                <a:latin typeface="Times New Roman" panose="02020603050405020304" charset="0"/>
                <a:ea typeface="宋体" panose="02010600030101010101" pitchFamily="2" charset="-122"/>
              </a:rPr>
              <a:t>准备好？</a:t>
            </a:r>
          </a:p>
        </p:txBody>
      </p:sp>
      <p:sp>
        <p:nvSpPr>
          <p:cNvPr id="20489" name="矩形 20488"/>
          <p:cNvSpPr/>
          <p:nvPr/>
        </p:nvSpPr>
        <p:spPr>
          <a:xfrm>
            <a:off x="1457960" y="3581400"/>
            <a:ext cx="1502410" cy="3352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r>
              <a:rPr lang="zh-CN" altLang="en-US" dirty="0">
                <a:latin typeface="Times New Roman" panose="02020603050405020304" charset="0"/>
                <a:ea typeface="宋体" panose="02010600030101010101" pitchFamily="2" charset="-122"/>
              </a:rPr>
              <a:t>传送数据</a:t>
            </a:r>
          </a:p>
        </p:txBody>
      </p:sp>
      <p:sp>
        <p:nvSpPr>
          <p:cNvPr id="20491" name="直接连接符 20490"/>
          <p:cNvSpPr/>
          <p:nvPr/>
        </p:nvSpPr>
        <p:spPr>
          <a:xfrm>
            <a:off x="958215" y="1684655"/>
            <a:ext cx="1175385" cy="635"/>
          </a:xfrm>
          <a:prstGeom prst="line">
            <a:avLst/>
          </a:prstGeom>
          <a:ln w="28575" cap="flat" cmpd="sng">
            <a:solidFill>
              <a:schemeClr val="tx1"/>
            </a:solidFill>
            <a:prstDash val="solid"/>
            <a:headEnd type="none" w="med" len="med"/>
            <a:tailEnd type="stealth" w="lg" len="lg"/>
          </a:ln>
        </p:spPr>
      </p:sp>
      <p:sp>
        <p:nvSpPr>
          <p:cNvPr id="20492" name="直接连接符 20491"/>
          <p:cNvSpPr/>
          <p:nvPr/>
        </p:nvSpPr>
        <p:spPr>
          <a:xfrm>
            <a:off x="967105" y="1684655"/>
            <a:ext cx="635" cy="1197610"/>
          </a:xfrm>
          <a:prstGeom prst="line">
            <a:avLst/>
          </a:prstGeom>
          <a:ln w="28575" cap="flat" cmpd="sng">
            <a:solidFill>
              <a:schemeClr val="tx1"/>
            </a:solidFill>
            <a:prstDash val="solid"/>
            <a:headEnd type="none" w="med" len="med"/>
            <a:tailEnd type="none" w="med" len="med"/>
          </a:ln>
        </p:spPr>
      </p:sp>
      <p:sp>
        <p:nvSpPr>
          <p:cNvPr id="20493" name="直接连接符 20492"/>
          <p:cNvSpPr/>
          <p:nvPr/>
        </p:nvSpPr>
        <p:spPr>
          <a:xfrm>
            <a:off x="967740" y="2882265"/>
            <a:ext cx="327025" cy="635"/>
          </a:xfrm>
          <a:prstGeom prst="line">
            <a:avLst/>
          </a:prstGeom>
          <a:ln w="28575" cap="flat" cmpd="sng">
            <a:solidFill>
              <a:schemeClr val="tx1"/>
            </a:solidFill>
            <a:prstDash val="solid"/>
            <a:headEnd type="none" w="med" len="med"/>
            <a:tailEnd type="none" w="med" len="med"/>
          </a:ln>
        </p:spPr>
      </p:sp>
      <p:sp>
        <p:nvSpPr>
          <p:cNvPr id="20494" name="直接连接符 20493"/>
          <p:cNvSpPr/>
          <p:nvPr/>
        </p:nvSpPr>
        <p:spPr>
          <a:xfrm>
            <a:off x="2210435" y="2212340"/>
            <a:ext cx="635" cy="335280"/>
          </a:xfrm>
          <a:prstGeom prst="line">
            <a:avLst/>
          </a:prstGeom>
          <a:ln w="28575" cap="flat" cmpd="sng">
            <a:solidFill>
              <a:schemeClr val="tx1"/>
            </a:solidFill>
            <a:prstDash val="solid"/>
            <a:headEnd type="none" w="med" len="med"/>
            <a:tailEnd type="stealth" w="lg" len="lg"/>
          </a:ln>
        </p:spPr>
      </p:sp>
      <p:sp>
        <p:nvSpPr>
          <p:cNvPr id="20495" name="直接连接符 20494"/>
          <p:cNvSpPr/>
          <p:nvPr/>
        </p:nvSpPr>
        <p:spPr>
          <a:xfrm>
            <a:off x="2211070" y="3218180"/>
            <a:ext cx="635" cy="335280"/>
          </a:xfrm>
          <a:prstGeom prst="line">
            <a:avLst/>
          </a:prstGeom>
          <a:ln w="28575" cap="flat" cmpd="sng">
            <a:solidFill>
              <a:schemeClr val="tx1"/>
            </a:solidFill>
            <a:prstDash val="solid"/>
            <a:headEnd type="none" w="med" len="med"/>
            <a:tailEnd type="stealth" w="lg" len="lg"/>
          </a:ln>
        </p:spPr>
      </p:sp>
      <p:sp>
        <p:nvSpPr>
          <p:cNvPr id="20496" name="直接连接符 20495"/>
          <p:cNvSpPr/>
          <p:nvPr/>
        </p:nvSpPr>
        <p:spPr>
          <a:xfrm>
            <a:off x="2208530" y="3916680"/>
            <a:ext cx="635" cy="240030"/>
          </a:xfrm>
          <a:prstGeom prst="line">
            <a:avLst/>
          </a:prstGeom>
          <a:ln w="28575" cap="flat" cmpd="sng">
            <a:solidFill>
              <a:schemeClr val="tx1"/>
            </a:solidFill>
            <a:prstDash val="solid"/>
            <a:headEnd type="none" w="med" len="med"/>
            <a:tailEnd type="stealth" w="lg" len="lg"/>
          </a:ln>
        </p:spPr>
      </p:sp>
      <p:sp>
        <p:nvSpPr>
          <p:cNvPr id="22532" name="直接连接符 22531"/>
          <p:cNvSpPr/>
          <p:nvPr/>
        </p:nvSpPr>
        <p:spPr>
          <a:xfrm>
            <a:off x="4616450" y="1445260"/>
            <a:ext cx="635" cy="383540"/>
          </a:xfrm>
          <a:prstGeom prst="line">
            <a:avLst/>
          </a:prstGeom>
          <a:ln w="28575" cap="flat" cmpd="sng">
            <a:solidFill>
              <a:schemeClr val="tx1"/>
            </a:solidFill>
            <a:prstDash val="solid"/>
            <a:headEnd type="none" w="med" len="med"/>
            <a:tailEnd type="stealth" w="lg" len="lg"/>
          </a:ln>
        </p:spPr>
      </p:sp>
      <p:sp>
        <p:nvSpPr>
          <p:cNvPr id="22533" name="矩形 22532"/>
          <p:cNvSpPr/>
          <p:nvPr/>
        </p:nvSpPr>
        <p:spPr>
          <a:xfrm>
            <a:off x="3733800" y="1828800"/>
            <a:ext cx="1763395" cy="3835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r>
              <a:rPr lang="zh-CN" altLang="en-US" dirty="0">
                <a:latin typeface="Times New Roman" panose="02020603050405020304" charset="0"/>
                <a:ea typeface="宋体" panose="02010600030101010101" pitchFamily="2" charset="-122"/>
              </a:rPr>
              <a:t>启动外设设备</a:t>
            </a:r>
          </a:p>
        </p:txBody>
      </p:sp>
      <p:sp>
        <p:nvSpPr>
          <p:cNvPr id="22535" name="矩形 22534"/>
          <p:cNvSpPr/>
          <p:nvPr/>
        </p:nvSpPr>
        <p:spPr>
          <a:xfrm>
            <a:off x="3865245" y="3331210"/>
            <a:ext cx="1502410" cy="3352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r>
              <a:rPr lang="zh-CN" altLang="en-US" dirty="0">
                <a:latin typeface="Times New Roman" panose="02020603050405020304" charset="0"/>
                <a:ea typeface="宋体" panose="02010600030101010101" pitchFamily="2" charset="-122"/>
              </a:rPr>
              <a:t>传送数据</a:t>
            </a:r>
          </a:p>
        </p:txBody>
      </p:sp>
      <p:sp>
        <p:nvSpPr>
          <p:cNvPr id="22540" name="直接连接符 22539"/>
          <p:cNvSpPr/>
          <p:nvPr/>
        </p:nvSpPr>
        <p:spPr>
          <a:xfrm>
            <a:off x="4615180" y="2212340"/>
            <a:ext cx="635" cy="335280"/>
          </a:xfrm>
          <a:prstGeom prst="line">
            <a:avLst/>
          </a:prstGeom>
          <a:ln w="28575" cap="flat" cmpd="sng">
            <a:solidFill>
              <a:schemeClr val="tx1"/>
            </a:solidFill>
            <a:prstDash val="solid"/>
            <a:headEnd type="none" w="med" len="med"/>
            <a:tailEnd type="stealth" w="lg" len="lg"/>
          </a:ln>
        </p:spPr>
      </p:sp>
      <p:sp>
        <p:nvSpPr>
          <p:cNvPr id="22541" name="直接连接符 22540"/>
          <p:cNvSpPr/>
          <p:nvPr/>
        </p:nvSpPr>
        <p:spPr>
          <a:xfrm>
            <a:off x="4615815" y="2995930"/>
            <a:ext cx="635" cy="335280"/>
          </a:xfrm>
          <a:prstGeom prst="line">
            <a:avLst/>
          </a:prstGeom>
          <a:ln w="28575" cap="flat" cmpd="sng">
            <a:solidFill>
              <a:schemeClr val="tx1"/>
            </a:solidFill>
            <a:prstDash val="solid"/>
            <a:headEnd type="none" w="med" len="med"/>
            <a:tailEnd type="stealth" w="lg" len="lg"/>
          </a:ln>
        </p:spPr>
      </p:sp>
      <p:sp>
        <p:nvSpPr>
          <p:cNvPr id="22542" name="直接连接符 22541"/>
          <p:cNvSpPr/>
          <p:nvPr/>
        </p:nvSpPr>
        <p:spPr>
          <a:xfrm>
            <a:off x="4614545" y="3666490"/>
            <a:ext cx="635" cy="240030"/>
          </a:xfrm>
          <a:prstGeom prst="line">
            <a:avLst/>
          </a:prstGeom>
          <a:ln w="28575" cap="flat" cmpd="sng">
            <a:solidFill>
              <a:schemeClr val="tx1"/>
            </a:solidFill>
            <a:prstDash val="solid"/>
            <a:headEnd type="none" w="med" len="med"/>
            <a:tailEnd type="stealth" w="lg" len="lg"/>
          </a:ln>
        </p:spPr>
      </p:sp>
      <p:sp>
        <p:nvSpPr>
          <p:cNvPr id="22543" name="矩形 22542"/>
          <p:cNvSpPr/>
          <p:nvPr/>
        </p:nvSpPr>
        <p:spPr>
          <a:xfrm>
            <a:off x="4027805" y="2547620"/>
            <a:ext cx="1175385" cy="3835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r>
              <a:rPr lang="zh-CN" altLang="en-US" dirty="0">
                <a:latin typeface="Times New Roman" panose="02020603050405020304" charset="0"/>
                <a:ea typeface="宋体" panose="02010600030101010101" pitchFamily="2" charset="-122"/>
              </a:rPr>
              <a:t>延迟</a:t>
            </a:r>
          </a:p>
        </p:txBody>
      </p:sp>
      <p:sp>
        <p:nvSpPr>
          <p:cNvPr id="22544" name="文本框 22543"/>
          <p:cNvSpPr txBox="1"/>
          <p:nvPr/>
        </p:nvSpPr>
        <p:spPr>
          <a:xfrm>
            <a:off x="5831840" y="1793240"/>
            <a:ext cx="2787650" cy="2084070"/>
          </a:xfrm>
          <a:prstGeom prst="rect">
            <a:avLst/>
          </a:prstGeom>
          <a:noFill/>
          <a:ln w="9525">
            <a:noFill/>
          </a:ln>
        </p:spPr>
        <p:txBody>
          <a:bodyPr wrap="square">
            <a:spAutoFit/>
          </a:bodyPr>
          <a:lstStyle/>
          <a:p>
            <a:pPr eaLnBrk="1" hangingPunct="1">
              <a:lnSpc>
                <a:spcPct val="180000"/>
              </a:lnSpc>
            </a:pPr>
            <a:r>
              <a:rPr lang="zh-CN" altLang="en-US" b="1" dirty="0">
                <a:solidFill>
                  <a:schemeClr val="hlink"/>
                </a:solidFill>
                <a:latin typeface="Times New Roman" panose="02020603050405020304" charset="0"/>
                <a:ea typeface="宋体" panose="02010600030101010101" pitchFamily="2" charset="-122"/>
              </a:rPr>
              <a:t>查询方式的过程：</a:t>
            </a:r>
          </a:p>
          <a:p>
            <a:pPr eaLnBrk="1" hangingPunct="1">
              <a:lnSpc>
                <a:spcPct val="180000"/>
              </a:lnSpc>
            </a:pPr>
            <a:r>
              <a:rPr lang="zh-CN" altLang="en-US" b="1" dirty="0">
                <a:solidFill>
                  <a:schemeClr val="hlink"/>
                </a:solidFill>
                <a:latin typeface="Times New Roman" panose="02020603050405020304" charset="0"/>
                <a:ea typeface="宋体" panose="02010600030101010101" pitchFamily="2" charset="-122"/>
              </a:rPr>
              <a:t>查询</a:t>
            </a:r>
            <a:r>
              <a:rPr lang="en-US" altLang="zh-CN" b="1">
                <a:solidFill>
                  <a:schemeClr val="hlink"/>
                </a:solidFill>
                <a:latin typeface="Times New Roman" panose="02020603050405020304" charset="0"/>
                <a:ea typeface="宋体" panose="02010600030101010101" pitchFamily="2" charset="-122"/>
              </a:rPr>
              <a:t>——</a:t>
            </a:r>
            <a:r>
              <a:rPr lang="zh-CN" altLang="en-US" b="1" dirty="0">
                <a:solidFill>
                  <a:schemeClr val="hlink"/>
                </a:solidFill>
                <a:latin typeface="Times New Roman" panose="02020603050405020304" charset="0"/>
                <a:ea typeface="宋体" panose="02010600030101010101" pitchFamily="2" charset="-122"/>
              </a:rPr>
              <a:t>等待</a:t>
            </a:r>
            <a:r>
              <a:rPr lang="en-US" altLang="zh-CN" b="1">
                <a:solidFill>
                  <a:schemeClr val="hlink"/>
                </a:solidFill>
                <a:latin typeface="Times New Roman" panose="02020603050405020304" charset="0"/>
                <a:ea typeface="宋体" panose="02010600030101010101" pitchFamily="2" charset="-122"/>
              </a:rPr>
              <a:t>——</a:t>
            </a:r>
            <a:r>
              <a:rPr lang="zh-CN" altLang="en-US" b="1" dirty="0">
                <a:solidFill>
                  <a:schemeClr val="hlink"/>
                </a:solidFill>
                <a:latin typeface="Times New Roman" panose="02020603050405020304" charset="0"/>
                <a:ea typeface="宋体" panose="02010600030101010101" pitchFamily="2" charset="-122"/>
              </a:rPr>
              <a:t>数据传送，待到下一次数据传送时则重复上述过程。</a:t>
            </a:r>
          </a:p>
        </p:txBody>
      </p:sp>
      <p:sp>
        <p:nvSpPr>
          <p:cNvPr id="21507" name="文本占位符 21506"/>
          <p:cNvSpPr>
            <a:spLocks noGrp="1"/>
          </p:cNvSpPr>
          <p:nvPr/>
        </p:nvSpPr>
        <p:spPr>
          <a:xfrm>
            <a:off x="457200" y="4297680"/>
            <a:ext cx="8229600" cy="1691640"/>
          </a:xfrm>
          <a:prstGeom prst="rect">
            <a:avLst/>
          </a:prstGeom>
        </p:spPr>
        <p:txBody>
          <a:bodyPr wrap="square" lIns="92075" tIns="46038" rIns="92075" bIns="46038">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67055" indent="-567055" defTabSz="914400">
              <a:lnSpc>
                <a:spcPct val="130000"/>
              </a:lnSpc>
              <a:buClr>
                <a:schemeClr val="tx1"/>
              </a:buClr>
              <a:buFont typeface="Wingdings" panose="05000000000000000000" pitchFamily="2" charset="2"/>
              <a:buChar char="+"/>
              <a:tabLst>
                <a:tab pos="386080" algn="l"/>
              </a:tabLst>
            </a:pPr>
            <a:r>
              <a:rPr lang="zh-CN" altLang="en-US" sz="2000" dirty="0">
                <a:solidFill>
                  <a:schemeClr val="hlink"/>
                </a:solidFill>
                <a:latin typeface="隶书" panose="02010509060101010101" pitchFamily="49" charset="-122"/>
                <a:ea typeface="隶书" panose="02010509060101010101" pitchFamily="49" charset="-122"/>
              </a:rPr>
              <a:t>优点：通用性好，可以用于各类外设和</a:t>
            </a:r>
            <a:r>
              <a:rPr lang="en-US" altLang="zh-CN" sz="2000" dirty="0">
                <a:solidFill>
                  <a:schemeClr val="hlink"/>
                </a:solidFill>
                <a:latin typeface="隶书" panose="02010509060101010101" pitchFamily="49" charset="-122"/>
                <a:ea typeface="隶书" panose="02010509060101010101" pitchFamily="49" charset="-122"/>
              </a:rPr>
              <a:t>CPU</a:t>
            </a:r>
            <a:r>
              <a:rPr lang="zh-CN" altLang="en-US" sz="2000" dirty="0">
                <a:solidFill>
                  <a:schemeClr val="hlink"/>
                </a:solidFill>
                <a:latin typeface="隶书" panose="02010509060101010101" pitchFamily="49" charset="-122"/>
                <a:ea typeface="隶书" panose="02010509060101010101" pitchFamily="49" charset="-122"/>
              </a:rPr>
              <a:t>间的数据传送。</a:t>
            </a:r>
            <a:endParaRPr lang="zh-CN" altLang="en-US" sz="2000" dirty="0">
              <a:latin typeface="隶书" panose="02010509060101010101" pitchFamily="49" charset="-122"/>
              <a:ea typeface="隶书" panose="02010509060101010101" pitchFamily="49" charset="-122"/>
            </a:endParaRPr>
          </a:p>
          <a:p>
            <a:pPr marL="567055" indent="-567055" defTabSz="914400">
              <a:lnSpc>
                <a:spcPct val="130000"/>
              </a:lnSpc>
              <a:buClr>
                <a:schemeClr val="tx1"/>
              </a:buClr>
              <a:buFont typeface="Wingdings" panose="05000000000000000000" pitchFamily="2" charset="2"/>
              <a:buChar char="+"/>
              <a:tabLst>
                <a:tab pos="386080" algn="l"/>
              </a:tabLst>
            </a:pPr>
            <a:r>
              <a:rPr lang="zh-CN" altLang="en-US" sz="2000" dirty="0">
                <a:solidFill>
                  <a:srgbClr val="800080"/>
                </a:solidFill>
                <a:latin typeface="隶书" panose="02010509060101010101" pitchFamily="49" charset="-122"/>
                <a:ea typeface="隶书" panose="02010509060101010101" pitchFamily="49" charset="-122"/>
              </a:rPr>
              <a:t>缺点：</a:t>
            </a:r>
            <a:r>
              <a:rPr lang="en-US" altLang="zh-CN" sz="2000" dirty="0">
                <a:solidFill>
                  <a:srgbClr val="800080"/>
                </a:solidFill>
                <a:latin typeface="隶书" panose="02010509060101010101" pitchFamily="49" charset="-122"/>
                <a:ea typeface="隶书" panose="02010509060101010101" pitchFamily="49" charset="-122"/>
              </a:rPr>
              <a:t>CPU</a:t>
            </a:r>
            <a:r>
              <a:rPr lang="zh-CN" altLang="en-US" sz="2000" dirty="0">
                <a:solidFill>
                  <a:srgbClr val="800080"/>
                </a:solidFill>
                <a:latin typeface="隶书" panose="02010509060101010101" pitchFamily="49" charset="-122"/>
                <a:ea typeface="隶书" panose="02010509060101010101" pitchFamily="49" charset="-122"/>
              </a:rPr>
              <a:t>在完成一次数据传送后要等待很长时间才能进行下一次的传送。在等待过程中，</a:t>
            </a:r>
            <a:r>
              <a:rPr lang="en-US" altLang="zh-CN" sz="2000" dirty="0">
                <a:solidFill>
                  <a:srgbClr val="800080"/>
                </a:solidFill>
                <a:latin typeface="隶书" panose="02010509060101010101" pitchFamily="49" charset="-122"/>
                <a:ea typeface="隶书" panose="02010509060101010101" pitchFamily="49" charset="-122"/>
              </a:rPr>
              <a:t>CPU</a:t>
            </a:r>
            <a:r>
              <a:rPr lang="zh-CN" altLang="en-US" sz="2000" dirty="0">
                <a:solidFill>
                  <a:srgbClr val="800080"/>
                </a:solidFill>
                <a:latin typeface="隶书" panose="02010509060101010101" pitchFamily="49" charset="-122"/>
                <a:ea typeface="隶书" panose="02010509060101010101" pitchFamily="49" charset="-122"/>
              </a:rPr>
              <a:t>不能进行其他操作，所以效率比较低。</a:t>
            </a:r>
            <a:r>
              <a:rPr lang="zh-CN" altLang="en-US" sz="2000">
                <a:solidFill>
                  <a:srgbClr val="800080"/>
                </a:solidFill>
                <a:latin typeface="隶书" panose="02010509060101010101" pitchFamily="49" charset="-122"/>
                <a:ea typeface="隶书" panose="02010509060101010101" pitchFamily="49" charset="-122"/>
              </a:rPr>
              <a:t>		</a:t>
            </a:r>
          </a:p>
        </p:txBody>
      </p:sp>
      <p:sp>
        <p:nvSpPr>
          <p:cNvPr id="3" name="灯片编号占位符 2"/>
          <p:cNvSpPr>
            <a:spLocks noGrp="1"/>
          </p:cNvSpPr>
          <p:nvPr>
            <p:ph type="sldNum" sz="quarter" idx="7"/>
          </p:nvPr>
        </p:nvSpPr>
        <p:spPr/>
        <p:txBody>
          <a:bodyPr/>
          <a:lstStyle/>
          <a:p>
            <a:pPr marL="25400">
              <a:lnSpc>
                <a:spcPct val="100000"/>
              </a:lnSpc>
              <a:spcBef>
                <a:spcPts val="185"/>
              </a:spcBef>
            </a:pPr>
            <a:fld id="{81D60167-4931-47E6-BA6A-407CBD079E47}" type="slidenum">
              <a:rPr spc="-5" dirty="0"/>
              <a:t>5</a:t>
            </a:fld>
            <a:endParaRPr spc="-5" dirty="0"/>
          </a:p>
        </p:txBody>
      </p:sp>
    </p:spTree>
  </p:cSld>
  <p:clrMapOvr>
    <a:masterClrMapping/>
  </p:clrMapOvr>
  <p:transition advClick="0">
    <p:cut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1000"/>
                                  </p:stCondLst>
                                  <p:childTnLst>
                                    <p:set>
                                      <p:cBhvr>
                                        <p:cTn id="6" dur="1" fill="hold">
                                          <p:stCondLst>
                                            <p:cond delay="0"/>
                                          </p:stCondLst>
                                        </p:cTn>
                                        <p:tgtEl>
                                          <p:spTgt spid="20482"/>
                                        </p:tgtEl>
                                        <p:attrNameLst>
                                          <p:attrName>style.visibility</p:attrName>
                                        </p:attrNameLst>
                                      </p:cBhvr>
                                      <p:to>
                                        <p:strVal val="visible"/>
                                      </p:to>
                                    </p:set>
                                    <p:animEffect transition="in" filter="blinds(horizontal)">
                                      <p:cBhvr>
                                        <p:cTn id="7" dur="500"/>
                                        <p:tgtEl>
                                          <p:spTgt spid="20482"/>
                                        </p:tgtEl>
                                      </p:cBhvr>
                                    </p:animEffect>
                                  </p:childTnLst>
                                </p:cTn>
                              </p:par>
                            </p:childTnLst>
                          </p:cTn>
                        </p:par>
                        <p:par>
                          <p:cTn id="8" fill="hold">
                            <p:stCondLst>
                              <p:cond delay="1500"/>
                            </p:stCondLst>
                            <p:childTnLst>
                              <p:par>
                                <p:cTn id="9" presetID="3" presetClass="entr" presetSubtype="10" fill="hold" grpId="0" nodeType="afterEffect">
                                  <p:stCondLst>
                                    <p:cond delay="1000"/>
                                  </p:stCondLst>
                                  <p:childTnLst>
                                    <p:set>
                                      <p:cBhvr>
                                        <p:cTn id="10" dur="1" fill="hold">
                                          <p:stCondLst>
                                            <p:cond delay="0"/>
                                          </p:stCondLst>
                                        </p:cTn>
                                        <p:tgtEl>
                                          <p:spTgt spid="20483"/>
                                        </p:tgtEl>
                                        <p:attrNameLst>
                                          <p:attrName>style.visibility</p:attrName>
                                        </p:attrNameLst>
                                      </p:cBhvr>
                                      <p:to>
                                        <p:strVal val="visible"/>
                                      </p:to>
                                    </p:set>
                                    <p:animEffect transition="in" filter="blinds(horizontal)">
                                      <p:cBhvr>
                                        <p:cTn id="11" dur="500"/>
                                        <p:tgtEl>
                                          <p:spTgt spid="20483"/>
                                        </p:tgtEl>
                                      </p:cBhvr>
                                    </p:animEffect>
                                  </p:childTnLst>
                                </p:cTn>
                              </p:par>
                            </p:childTnLst>
                          </p:cTn>
                        </p:par>
                        <p:par>
                          <p:cTn id="12" fill="hold">
                            <p:stCondLst>
                              <p:cond delay="3000"/>
                            </p:stCondLst>
                            <p:childTnLst>
                              <p:par>
                                <p:cTn id="13" presetID="3" presetClass="entr" presetSubtype="10" fill="hold" grpId="0" nodeType="afterEffect">
                                  <p:stCondLst>
                                    <p:cond delay="1000"/>
                                  </p:stCondLst>
                                  <p:childTnLst>
                                    <p:set>
                                      <p:cBhvr>
                                        <p:cTn id="14" dur="1" fill="hold">
                                          <p:stCondLst>
                                            <p:cond delay="0"/>
                                          </p:stCondLst>
                                        </p:cTn>
                                        <p:tgtEl>
                                          <p:spTgt spid="21507"/>
                                        </p:tgtEl>
                                        <p:attrNameLst>
                                          <p:attrName>style.visibility</p:attrName>
                                        </p:attrNameLst>
                                      </p:cBhvr>
                                      <p:to>
                                        <p:strVal val="visible"/>
                                      </p:to>
                                    </p:set>
                                    <p:animEffect transition="in" filter="blinds(horizontal)">
                                      <p:cBhvr>
                                        <p:cTn id="15" dur="500"/>
                                        <p:tgtEl>
                                          <p:spTgt spid="21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P spid="20483" grpId="0"/>
      <p:bldP spid="2150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97230" y="1233170"/>
            <a:ext cx="2808605" cy="2476500"/>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778510" y="1684020"/>
            <a:ext cx="7644130" cy="3343275"/>
          </a:xfrm>
          <a:prstGeom prst="rect">
            <a:avLst/>
          </a:prstGeom>
        </p:spPr>
        <p:txBody>
          <a:bodyPr vert="horz" wrap="square" lIns="0" tIns="12700" rIns="0" bIns="0" rtlCol="0">
            <a:spAutoFit/>
          </a:bodyPr>
          <a:lstStyle/>
          <a:p>
            <a:pPr marL="3670935">
              <a:lnSpc>
                <a:spcPct val="100000"/>
              </a:lnSpc>
              <a:spcBef>
                <a:spcPts val="100"/>
              </a:spcBef>
            </a:pPr>
            <a:r>
              <a:rPr b="1" spc="10" dirty="0">
                <a:latin typeface="Microsoft JhengHei" panose="020B0604030504040204" charset="-120"/>
                <a:cs typeface="Microsoft JhengHei" panose="020B0604030504040204" charset="-120"/>
              </a:rPr>
              <a:t>单片机处理事件主要有两种方式：</a:t>
            </a:r>
            <a:endParaRPr>
              <a:latin typeface="Microsoft JhengHei" panose="020B0604030504040204" charset="-120"/>
              <a:cs typeface="Microsoft JhengHei" panose="020B0604030504040204" charset="-120"/>
            </a:endParaRPr>
          </a:p>
          <a:p>
            <a:pPr marL="4013835" indent="-343535">
              <a:lnSpc>
                <a:spcPct val="100000"/>
              </a:lnSpc>
              <a:spcBef>
                <a:spcPts val="1870"/>
              </a:spcBef>
              <a:buClr>
                <a:srgbClr val="00007C"/>
              </a:buClr>
              <a:buSzPct val="75000"/>
              <a:buFont typeface="Wingdings" panose="05000000000000000000"/>
              <a:buChar char=""/>
              <a:tabLst>
                <a:tab pos="4013835" algn="l"/>
                <a:tab pos="4014470" algn="l"/>
              </a:tabLst>
            </a:pPr>
            <a:r>
              <a:rPr b="1" spc="10" dirty="0">
                <a:solidFill>
                  <a:srgbClr val="0000FF"/>
                </a:solidFill>
                <a:latin typeface="Microsoft JhengHei" panose="020B0604030504040204" charset="-120"/>
                <a:cs typeface="Microsoft JhengHei" panose="020B0604030504040204" charset="-120"/>
              </a:rPr>
              <a:t>查询方式特点：</a:t>
            </a:r>
            <a:r>
              <a:rPr b="1" spc="10" dirty="0">
                <a:latin typeface="Microsoft JhengHei" panose="020B0604030504040204" charset="-120"/>
                <a:cs typeface="Microsoft JhengHei" panose="020B0604030504040204" charset="-120"/>
              </a:rPr>
              <a:t>耗时，效率低</a:t>
            </a:r>
            <a:endParaRPr>
              <a:latin typeface="Microsoft JhengHei" panose="020B0604030504040204" charset="-120"/>
              <a:cs typeface="Microsoft JhengHei" panose="020B0604030504040204" charset="-120"/>
            </a:endParaRPr>
          </a:p>
          <a:p>
            <a:pPr marL="4132580" marR="5080" indent="-462280">
              <a:lnSpc>
                <a:spcPct val="165000"/>
              </a:lnSpc>
              <a:buClr>
                <a:srgbClr val="00007C"/>
              </a:buClr>
              <a:buSzPct val="75000"/>
              <a:buFont typeface="Wingdings" panose="05000000000000000000"/>
              <a:buChar char=""/>
              <a:tabLst>
                <a:tab pos="4013835" algn="l"/>
                <a:tab pos="4014470" algn="l"/>
              </a:tabLst>
            </a:pPr>
            <a:r>
              <a:rPr b="1" spc="10" dirty="0">
                <a:solidFill>
                  <a:srgbClr val="0000FF"/>
                </a:solidFill>
                <a:latin typeface="Microsoft JhengHei" panose="020B0604030504040204" charset="-120"/>
                <a:cs typeface="Microsoft JhengHei" panose="020B0604030504040204" charset="-120"/>
              </a:rPr>
              <a:t>中断方式特点：</a:t>
            </a:r>
            <a:r>
              <a:rPr b="1" spc="10" dirty="0">
                <a:latin typeface="Microsoft JhengHei" panose="020B0604030504040204" charset="-120"/>
                <a:cs typeface="Microsoft JhengHei" panose="020B0604030504040204" charset="-120"/>
              </a:rPr>
              <a:t>实时，效率高。 中断系统能完全消除单片机在</a:t>
            </a:r>
            <a:endParaRPr>
              <a:latin typeface="Microsoft JhengHei" panose="020B0604030504040204" charset="-120"/>
              <a:cs typeface="Microsoft JhengHei" panose="020B0604030504040204" charset="-120"/>
            </a:endParaRPr>
          </a:p>
          <a:p>
            <a:pPr marL="3670935" marR="193675">
              <a:lnSpc>
                <a:spcPct val="165000"/>
              </a:lnSpc>
              <a:spcBef>
                <a:spcPts val="5"/>
              </a:spcBef>
            </a:pPr>
            <a:r>
              <a:rPr b="1" spc="10" dirty="0">
                <a:latin typeface="Microsoft JhengHei" panose="020B0604030504040204" charset="-120"/>
                <a:cs typeface="Microsoft JhengHei" panose="020B0604030504040204" charset="-120"/>
              </a:rPr>
              <a:t>查询方式中的等待</a:t>
            </a:r>
            <a:r>
              <a:rPr b="1" spc="595" dirty="0">
                <a:latin typeface="Microsoft JhengHei" panose="020B0604030504040204" charset="-120"/>
                <a:cs typeface="Microsoft JhengHei" panose="020B0604030504040204" charset="-120"/>
              </a:rPr>
              <a:t>,</a:t>
            </a:r>
            <a:r>
              <a:rPr b="1" spc="10" dirty="0">
                <a:solidFill>
                  <a:srgbClr val="FF0066"/>
                </a:solidFill>
                <a:latin typeface="Microsoft JhengHei" panose="020B0604030504040204" charset="-120"/>
                <a:cs typeface="Microsoft JhengHei" panose="020B0604030504040204" charset="-120"/>
              </a:rPr>
              <a:t>大大提高</a:t>
            </a:r>
            <a:r>
              <a:rPr b="1" spc="10" dirty="0">
                <a:latin typeface="Microsoft JhengHei" panose="020B0604030504040204" charset="-120"/>
                <a:cs typeface="Microsoft JhengHei" panose="020B0604030504040204" charset="-120"/>
              </a:rPr>
              <a:t>工作 效率和实时性。</a:t>
            </a:r>
            <a:endParaRPr>
              <a:latin typeface="Microsoft JhengHei" panose="020B0604030504040204" charset="-120"/>
              <a:cs typeface="Microsoft JhengHei" panose="020B0604030504040204" charset="-120"/>
            </a:endParaRPr>
          </a:p>
          <a:p>
            <a:pPr>
              <a:lnSpc>
                <a:spcPct val="100000"/>
              </a:lnSpc>
              <a:spcBef>
                <a:spcPts val="20"/>
              </a:spcBef>
            </a:pPr>
            <a:endParaRPr sz="2800">
              <a:latin typeface="Times New Roman" panose="02020603050405020304"/>
              <a:cs typeface="Times New Roman" panose="02020603050405020304"/>
            </a:endParaRPr>
          </a:p>
          <a:p>
            <a:pPr marL="12700">
              <a:lnSpc>
                <a:spcPct val="100000"/>
              </a:lnSpc>
            </a:pPr>
            <a:endParaRPr b="1" dirty="0">
              <a:solidFill>
                <a:srgbClr val="FF0000"/>
              </a:solidFill>
              <a:latin typeface="Microsoft JhengHei" panose="020B0604030504040204" charset="-120"/>
              <a:cs typeface="Microsoft JhengHei" panose="020B0604030504040204" charset="-120"/>
            </a:endParaRPr>
          </a:p>
        </p:txBody>
      </p:sp>
      <p:sp>
        <p:nvSpPr>
          <p:cNvPr id="4" name="object 4"/>
          <p:cNvSpPr txBox="1">
            <a:spLocks noGrp="1"/>
          </p:cNvSpPr>
          <p:nvPr>
            <p:ph type="title"/>
          </p:nvPr>
        </p:nvSpPr>
        <p:spPr>
          <a:xfrm>
            <a:off x="1474470" y="385445"/>
            <a:ext cx="3531870" cy="751205"/>
          </a:xfrm>
          <a:prstGeom prst="rect">
            <a:avLst/>
          </a:prstGeom>
        </p:spPr>
        <p:txBody>
          <a:bodyPr vert="horz" wrap="square" lIns="0" tIns="12700" rIns="0" bIns="0" rtlCol="0">
            <a:spAutoFit/>
          </a:bodyPr>
          <a:lstStyle/>
          <a:p>
            <a:pPr marL="12700">
              <a:lnSpc>
                <a:spcPct val="100000"/>
              </a:lnSpc>
              <a:spcBef>
                <a:spcPts val="100"/>
              </a:spcBef>
            </a:pPr>
            <a:r>
              <a:rPr lang="en-US" dirty="0">
                <a:sym typeface="+mn-ea"/>
              </a:rPr>
              <a:t>5.2 </a:t>
            </a:r>
            <a:r>
              <a:rPr dirty="0">
                <a:sym typeface="+mn-ea"/>
              </a:rPr>
              <a:t>中</a:t>
            </a:r>
            <a:r>
              <a:rPr spc="5" dirty="0">
                <a:sym typeface="+mn-ea"/>
              </a:rPr>
              <a:t>断</a:t>
            </a:r>
            <a:r>
              <a:rPr dirty="0">
                <a:sym typeface="+mn-ea"/>
              </a:rPr>
              <a:t>系</a:t>
            </a:r>
            <a:r>
              <a:rPr spc="15" dirty="0">
                <a:sym typeface="+mn-ea"/>
              </a:rPr>
              <a:t>统</a:t>
            </a:r>
            <a:r>
              <a:rPr spc="5" dirty="0">
                <a:sym typeface="+mn-ea"/>
              </a:rPr>
              <a:t>的</a:t>
            </a:r>
            <a:r>
              <a:rPr lang="zh-CN" spc="5" dirty="0">
                <a:sym typeface="+mn-ea"/>
              </a:rPr>
              <a:t>概念</a:t>
            </a:r>
            <a:br>
              <a:rPr lang="zh-CN" spc="5" dirty="0"/>
            </a:br>
            <a:endParaRPr sz="2400"/>
          </a:p>
        </p:txBody>
      </p:sp>
      <p:sp>
        <p:nvSpPr>
          <p:cNvPr id="6" name="文本框 5"/>
          <p:cNvSpPr txBox="1"/>
          <p:nvPr/>
        </p:nvSpPr>
        <p:spPr>
          <a:xfrm>
            <a:off x="972820" y="3790315"/>
            <a:ext cx="2256790" cy="368300"/>
          </a:xfrm>
          <a:prstGeom prst="rect">
            <a:avLst/>
          </a:prstGeom>
          <a:noFill/>
        </p:spPr>
        <p:txBody>
          <a:bodyPr wrap="none" rtlCol="0" anchor="t">
            <a:spAutoFit/>
          </a:bodyPr>
          <a:lstStyle/>
          <a:p>
            <a:r>
              <a:rPr b="1" dirty="0">
                <a:solidFill>
                  <a:srgbClr val="FF0000"/>
                </a:solidFill>
                <a:latin typeface="Microsoft JhengHei" panose="020B0604030504040204" charset="-120"/>
                <a:cs typeface="Microsoft JhengHei" panose="020B0604030504040204" charset="-120"/>
                <a:sym typeface="+mn-ea"/>
              </a:rPr>
              <a:t>中</a:t>
            </a:r>
            <a:r>
              <a:rPr b="1" spc="5" dirty="0">
                <a:solidFill>
                  <a:srgbClr val="FF0000"/>
                </a:solidFill>
                <a:latin typeface="Microsoft JhengHei" panose="020B0604030504040204" charset="-120"/>
                <a:cs typeface="Microsoft JhengHei" panose="020B0604030504040204" charset="-120"/>
                <a:sym typeface="+mn-ea"/>
              </a:rPr>
              <a:t>断</a:t>
            </a:r>
            <a:r>
              <a:rPr b="1" dirty="0">
                <a:solidFill>
                  <a:srgbClr val="FF0000"/>
                </a:solidFill>
                <a:latin typeface="Microsoft JhengHei" panose="020B0604030504040204" charset="-120"/>
                <a:cs typeface="Microsoft JhengHei" panose="020B0604030504040204" charset="-120"/>
                <a:sym typeface="+mn-ea"/>
              </a:rPr>
              <a:t>响</a:t>
            </a:r>
            <a:r>
              <a:rPr b="1" spc="15" dirty="0">
                <a:solidFill>
                  <a:srgbClr val="FF0000"/>
                </a:solidFill>
                <a:latin typeface="Microsoft JhengHei" panose="020B0604030504040204" charset="-120"/>
                <a:cs typeface="Microsoft JhengHei" panose="020B0604030504040204" charset="-120"/>
                <a:sym typeface="+mn-ea"/>
              </a:rPr>
              <a:t>应</a:t>
            </a:r>
            <a:r>
              <a:rPr b="1" spc="5" dirty="0">
                <a:solidFill>
                  <a:srgbClr val="FF0000"/>
                </a:solidFill>
                <a:latin typeface="Microsoft JhengHei" panose="020B0604030504040204" charset="-120"/>
                <a:cs typeface="Microsoft JhengHei" panose="020B0604030504040204" charset="-120"/>
                <a:sym typeface="+mn-ea"/>
              </a:rPr>
              <a:t>和处理过</a:t>
            </a:r>
            <a:r>
              <a:rPr b="1" dirty="0">
                <a:solidFill>
                  <a:srgbClr val="FF0000"/>
                </a:solidFill>
                <a:latin typeface="Microsoft JhengHei" panose="020B0604030504040204" charset="-120"/>
                <a:cs typeface="Microsoft JhengHei" panose="020B0604030504040204" charset="-120"/>
                <a:sym typeface="+mn-ea"/>
              </a:rPr>
              <a:t>程</a:t>
            </a:r>
            <a:endParaRPr lang="zh-CN" altLang="en-US"/>
          </a:p>
        </p:txBody>
      </p:sp>
      <p:sp>
        <p:nvSpPr>
          <p:cNvPr id="7" name="object 3"/>
          <p:cNvSpPr txBox="1"/>
          <p:nvPr/>
        </p:nvSpPr>
        <p:spPr>
          <a:xfrm>
            <a:off x="778510" y="4535805"/>
            <a:ext cx="7976235" cy="1710055"/>
          </a:xfrm>
          <a:prstGeom prst="rect">
            <a:avLst/>
          </a:prstGeom>
        </p:spPr>
        <p:txBody>
          <a:bodyPr vert="horz" wrap="square" lIns="0" tIns="12700" rIns="0" bIns="0" rtlCol="0">
            <a:spAutoFit/>
          </a:bodyPr>
          <a:lstStyle/>
          <a:p>
            <a:pPr marL="355600" indent="-342900">
              <a:lnSpc>
                <a:spcPct val="100000"/>
              </a:lnSpc>
              <a:spcBef>
                <a:spcPts val="100"/>
              </a:spcBef>
              <a:buClr>
                <a:srgbClr val="00007C"/>
              </a:buClr>
              <a:buSzPct val="75000"/>
              <a:buFont typeface="Wingdings" panose="05000000000000000000"/>
              <a:buChar char=""/>
              <a:tabLst>
                <a:tab pos="354965" algn="l"/>
                <a:tab pos="355600" algn="l"/>
              </a:tabLst>
            </a:pPr>
            <a:r>
              <a:rPr b="1" kern="0" dirty="0">
                <a:solidFill>
                  <a:srgbClr val="0000FF"/>
                </a:solidFill>
                <a:latin typeface="Microsoft JhengHei" panose="020B0604030504040204" charset="-120"/>
                <a:cs typeface="Microsoft JhengHei" panose="020B0604030504040204" charset="-120"/>
              </a:rPr>
              <a:t>中断源：</a:t>
            </a:r>
            <a:r>
              <a:rPr b="1" kern="0" dirty="0">
                <a:latin typeface="Microsoft JhengHei" panose="020B0604030504040204" charset="-120"/>
                <a:cs typeface="Microsoft JhengHei" panose="020B0604030504040204" charset="-120"/>
              </a:rPr>
              <a:t>产生中断的请求源称为中断源或中断请求源。</a:t>
            </a:r>
            <a:endParaRPr kern="0">
              <a:latin typeface="Microsoft JhengHei" panose="020B0604030504040204" charset="-120"/>
              <a:cs typeface="Microsoft JhengHei" panose="020B0604030504040204" charset="-120"/>
            </a:endParaRPr>
          </a:p>
          <a:p>
            <a:pPr marL="354965" marR="155575" indent="-342900">
              <a:lnSpc>
                <a:spcPct val="140000"/>
              </a:lnSpc>
              <a:spcBef>
                <a:spcPts val="715"/>
              </a:spcBef>
              <a:buClr>
                <a:srgbClr val="00007C"/>
              </a:buClr>
              <a:buSzPct val="75000"/>
              <a:buFont typeface="Wingdings" panose="05000000000000000000"/>
              <a:buChar char=""/>
              <a:tabLst>
                <a:tab pos="354965" algn="l"/>
                <a:tab pos="355600" algn="l"/>
              </a:tabLst>
            </a:pPr>
            <a:r>
              <a:rPr b="1" kern="0" dirty="0">
                <a:solidFill>
                  <a:srgbClr val="0000FF"/>
                </a:solidFill>
                <a:latin typeface="Microsoft JhengHei" panose="020B0604030504040204" charset="-120"/>
                <a:cs typeface="Microsoft JhengHei" panose="020B0604030504040204" charset="-120"/>
              </a:rPr>
              <a:t>中断请求：</a:t>
            </a:r>
            <a:r>
              <a:rPr b="1" kern="0" dirty="0">
                <a:latin typeface="Microsoft JhengHei" panose="020B0604030504040204" charset="-120"/>
                <a:cs typeface="Microsoft JhengHei" panose="020B0604030504040204" charset="-120"/>
              </a:rPr>
              <a:t>中断源向CPU提出的处理请求，称为中断请 求（或中断申请）。</a:t>
            </a:r>
            <a:endParaRPr kern="0">
              <a:latin typeface="Microsoft JhengHei" panose="020B0604030504040204" charset="-120"/>
              <a:cs typeface="Microsoft JhengHei" panose="020B0604030504040204" charset="-120"/>
            </a:endParaRPr>
          </a:p>
          <a:p>
            <a:pPr marL="355600" indent="-342900">
              <a:lnSpc>
                <a:spcPct val="100000"/>
              </a:lnSpc>
              <a:spcBef>
                <a:spcPts val="1875"/>
              </a:spcBef>
              <a:buClr>
                <a:srgbClr val="00007C"/>
              </a:buClr>
              <a:buSzPct val="75000"/>
              <a:buFont typeface="Wingdings" panose="05000000000000000000"/>
              <a:buChar char=""/>
              <a:tabLst>
                <a:tab pos="354965" algn="l"/>
                <a:tab pos="355600" algn="l"/>
              </a:tabLst>
            </a:pPr>
            <a:r>
              <a:rPr b="1" kern="0" dirty="0">
                <a:solidFill>
                  <a:srgbClr val="0000FF"/>
                </a:solidFill>
                <a:latin typeface="Microsoft JhengHei" panose="020B0604030504040204" charset="-120"/>
                <a:cs typeface="Microsoft JhengHei" panose="020B0604030504040204" charset="-120"/>
              </a:rPr>
              <a:t>中断处理：CPU对事件的整个处理过程，称为中断处理</a:t>
            </a:r>
            <a:endParaRPr kern="0">
              <a:latin typeface="Microsoft JhengHei" panose="020B0604030504040204" charset="-120"/>
              <a:cs typeface="Microsoft JhengHei" panose="020B0604030504040204" charset="-120"/>
            </a:endParaRPr>
          </a:p>
          <a:p>
            <a:pPr marL="354965">
              <a:lnSpc>
                <a:spcPct val="100000"/>
              </a:lnSpc>
              <a:spcBef>
                <a:spcPts val="1150"/>
              </a:spcBef>
            </a:pPr>
            <a:r>
              <a:rPr b="1" kern="0" dirty="0">
                <a:solidFill>
                  <a:srgbClr val="0000FF"/>
                </a:solidFill>
                <a:latin typeface="Microsoft JhengHei" panose="020B0604030504040204" charset="-120"/>
                <a:cs typeface="Microsoft JhengHei" panose="020B0604030504040204" charset="-120"/>
              </a:rPr>
              <a:t>（或中断服务）。</a:t>
            </a:r>
          </a:p>
        </p:txBody>
      </p:sp>
      <p:sp>
        <p:nvSpPr>
          <p:cNvPr id="8" name="灯片编号占位符 7"/>
          <p:cNvSpPr>
            <a:spLocks noGrp="1"/>
          </p:cNvSpPr>
          <p:nvPr>
            <p:ph type="sldNum" sz="quarter" idx="7"/>
          </p:nvPr>
        </p:nvSpPr>
        <p:spPr/>
        <p:txBody>
          <a:bodyPr/>
          <a:lstStyle/>
          <a:p>
            <a:pPr marL="25400">
              <a:lnSpc>
                <a:spcPct val="100000"/>
              </a:lnSpc>
              <a:spcBef>
                <a:spcPts val="185"/>
              </a:spcBef>
            </a:pPr>
            <a:fld id="{81D60167-4931-47E6-BA6A-407CBD079E47}" type="slidenum">
              <a:rPr spc="-5" dirty="0"/>
              <a:t>6</a:t>
            </a:fld>
            <a:endParaRPr spc="-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16682" y="6187440"/>
            <a:ext cx="3477895" cy="330200"/>
          </a:xfrm>
          <a:prstGeom prst="rect">
            <a:avLst/>
          </a:prstGeom>
        </p:spPr>
        <p:txBody>
          <a:bodyPr vert="horz" wrap="square" lIns="0" tIns="12065" rIns="0" bIns="0" rtlCol="0">
            <a:spAutoFit/>
          </a:bodyPr>
          <a:lstStyle/>
          <a:p>
            <a:pPr marL="12700">
              <a:lnSpc>
                <a:spcPct val="100000"/>
              </a:lnSpc>
              <a:spcBef>
                <a:spcPts val="95"/>
              </a:spcBef>
            </a:pPr>
            <a:r>
              <a:rPr sz="2000" b="1" spc="-215" dirty="0">
                <a:solidFill>
                  <a:srgbClr val="3333CC"/>
                </a:solidFill>
                <a:latin typeface="Microsoft JhengHei" panose="020B0604030504040204" charset="-120"/>
                <a:cs typeface="Microsoft JhengHei" panose="020B0604030504040204" charset="-120"/>
              </a:rPr>
              <a:t>AT89S51</a:t>
            </a:r>
            <a:r>
              <a:rPr sz="2000" b="1" spc="10" dirty="0">
                <a:solidFill>
                  <a:srgbClr val="3333CC"/>
                </a:solidFill>
                <a:latin typeface="Microsoft JhengHei" panose="020B0604030504040204" charset="-120"/>
                <a:cs typeface="Microsoft JhengHei" panose="020B0604030504040204" charset="-120"/>
              </a:rPr>
              <a:t>的中</a:t>
            </a:r>
            <a:r>
              <a:rPr sz="2000" b="1" spc="5" dirty="0">
                <a:solidFill>
                  <a:srgbClr val="3333CC"/>
                </a:solidFill>
                <a:latin typeface="Microsoft JhengHei" panose="020B0604030504040204" charset="-120"/>
                <a:cs typeface="Microsoft JhengHei" panose="020B0604030504040204" charset="-120"/>
              </a:rPr>
              <a:t>断系</a:t>
            </a:r>
            <a:r>
              <a:rPr sz="2000" b="1" spc="10" dirty="0">
                <a:solidFill>
                  <a:srgbClr val="3333CC"/>
                </a:solidFill>
                <a:latin typeface="Microsoft JhengHei" panose="020B0604030504040204" charset="-120"/>
                <a:cs typeface="Microsoft JhengHei" panose="020B0604030504040204" charset="-120"/>
              </a:rPr>
              <a:t>统</a:t>
            </a:r>
            <a:r>
              <a:rPr sz="2000" b="1" spc="5" dirty="0">
                <a:solidFill>
                  <a:srgbClr val="3333CC"/>
                </a:solidFill>
                <a:latin typeface="Microsoft JhengHei" panose="020B0604030504040204" charset="-120"/>
                <a:cs typeface="Microsoft JhengHei" panose="020B0604030504040204" charset="-120"/>
              </a:rPr>
              <a:t>结构</a:t>
            </a:r>
            <a:r>
              <a:rPr sz="2000" b="1" spc="10" dirty="0">
                <a:solidFill>
                  <a:srgbClr val="3333CC"/>
                </a:solidFill>
                <a:latin typeface="Microsoft JhengHei" panose="020B0604030504040204" charset="-120"/>
                <a:cs typeface="Microsoft JhengHei" panose="020B0604030504040204" charset="-120"/>
              </a:rPr>
              <a:t>示</a:t>
            </a:r>
            <a:r>
              <a:rPr sz="2000" b="1" spc="5" dirty="0">
                <a:solidFill>
                  <a:srgbClr val="3333CC"/>
                </a:solidFill>
                <a:latin typeface="Microsoft JhengHei" panose="020B0604030504040204" charset="-120"/>
                <a:cs typeface="Microsoft JhengHei" panose="020B0604030504040204" charset="-120"/>
              </a:rPr>
              <a:t>意</a:t>
            </a:r>
            <a:r>
              <a:rPr sz="2000" b="1" spc="-5" dirty="0">
                <a:solidFill>
                  <a:srgbClr val="3333CC"/>
                </a:solidFill>
                <a:latin typeface="Microsoft JhengHei" panose="020B0604030504040204" charset="-120"/>
                <a:cs typeface="Microsoft JhengHei" panose="020B0604030504040204" charset="-120"/>
              </a:rPr>
              <a:t>图</a:t>
            </a:r>
            <a:endParaRPr sz="2000">
              <a:latin typeface="Microsoft JhengHei" panose="020B0604030504040204" charset="-120"/>
              <a:cs typeface="Microsoft JhengHei" panose="020B0604030504040204" charset="-120"/>
            </a:endParaRPr>
          </a:p>
        </p:txBody>
      </p:sp>
      <p:sp>
        <p:nvSpPr>
          <p:cNvPr id="3" name="object 3"/>
          <p:cNvSpPr txBox="1">
            <a:spLocks noGrp="1"/>
          </p:cNvSpPr>
          <p:nvPr>
            <p:ph type="title"/>
          </p:nvPr>
        </p:nvSpPr>
        <p:spPr>
          <a:xfrm>
            <a:off x="1437640" y="282575"/>
            <a:ext cx="5819775" cy="381635"/>
          </a:xfrm>
          <a:prstGeom prst="rect">
            <a:avLst/>
          </a:prstGeom>
        </p:spPr>
        <p:txBody>
          <a:bodyPr vert="horz" wrap="square" lIns="0" tIns="12700" rIns="0" bIns="0" rtlCol="0">
            <a:spAutoFit/>
          </a:bodyPr>
          <a:lstStyle/>
          <a:p>
            <a:pPr marL="12700">
              <a:lnSpc>
                <a:spcPct val="100000"/>
              </a:lnSpc>
              <a:spcBef>
                <a:spcPts val="100"/>
              </a:spcBef>
            </a:pPr>
            <a:r>
              <a:rPr lang="en-US" sz="2400" spc="10" dirty="0"/>
              <a:t>5.3</a:t>
            </a:r>
            <a:r>
              <a:rPr sz="2400" spc="10" dirty="0"/>
              <a:t>中断系统结构</a:t>
            </a:r>
            <a:r>
              <a:rPr lang="zh-CN" sz="2400" spc="10" dirty="0"/>
              <a:t>及中断控制</a:t>
            </a:r>
          </a:p>
        </p:txBody>
      </p:sp>
      <p:pic>
        <p:nvPicPr>
          <p:cNvPr id="5" name="图片 4"/>
          <p:cNvPicPr>
            <a:picLocks noChangeAspect="1"/>
          </p:cNvPicPr>
          <p:nvPr/>
        </p:nvPicPr>
        <p:blipFill>
          <a:blip r:embed="rId2"/>
          <a:stretch>
            <a:fillRect/>
          </a:stretch>
        </p:blipFill>
        <p:spPr>
          <a:xfrm>
            <a:off x="652780" y="1058545"/>
            <a:ext cx="7597612" cy="5040000"/>
          </a:xfrm>
          <a:prstGeom prst="rect">
            <a:avLst/>
          </a:prstGeom>
        </p:spPr>
      </p:pic>
      <p:sp>
        <p:nvSpPr>
          <p:cNvPr id="6" name="灯片编号占位符 5"/>
          <p:cNvSpPr>
            <a:spLocks noGrp="1"/>
          </p:cNvSpPr>
          <p:nvPr>
            <p:ph type="sldNum" sz="quarter" idx="7"/>
          </p:nvPr>
        </p:nvSpPr>
        <p:spPr/>
        <p:txBody>
          <a:bodyPr/>
          <a:lstStyle/>
          <a:p>
            <a:pPr marL="25400">
              <a:lnSpc>
                <a:spcPct val="100000"/>
              </a:lnSpc>
              <a:spcBef>
                <a:spcPts val="185"/>
              </a:spcBef>
            </a:pPr>
            <a:fld id="{81D60167-4931-47E6-BA6A-407CBD079E47}" type="slidenum">
              <a:rPr spc="-5" dirty="0"/>
              <a:t>7</a:t>
            </a:fld>
            <a:endParaRPr spc="-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37889"/>
          <p:cNvSpPr>
            <a:spLocks noGrp="1"/>
          </p:cNvSpPr>
          <p:nvPr>
            <p:ph type="title"/>
          </p:nvPr>
        </p:nvSpPr>
        <p:spPr>
          <a:xfrm>
            <a:off x="1498600" y="187960"/>
            <a:ext cx="4285615" cy="460375"/>
          </a:xfrm>
        </p:spPr>
        <p:txBody>
          <a:bodyPr wrap="square" lIns="46038" tIns="46038" rIns="46038" bIns="46038" anchor="b"/>
          <a:lstStyle/>
          <a:p>
            <a:r>
              <a:rPr lang="zh-CN" altLang="en-US" dirty="0"/>
              <a:t>中断技术实现的功能</a:t>
            </a:r>
            <a:endParaRPr lang="zh-CN" altLang="en-US"/>
          </a:p>
        </p:txBody>
      </p:sp>
      <p:sp>
        <p:nvSpPr>
          <p:cNvPr id="37891" name="文本占位符 37890"/>
          <p:cNvSpPr>
            <a:spLocks noGrp="1"/>
          </p:cNvSpPr>
          <p:nvPr>
            <p:ph type="body" idx="1"/>
          </p:nvPr>
        </p:nvSpPr>
        <p:spPr>
          <a:xfrm>
            <a:off x="510540" y="1181735"/>
            <a:ext cx="3129915" cy="2453640"/>
          </a:xfrm>
        </p:spPr>
        <p:txBody>
          <a:bodyPr wrap="square" lIns="92075" tIns="46038" rIns="92075" bIns="46038"/>
          <a:lstStyle/>
          <a:p>
            <a:pPr>
              <a:lnSpc>
                <a:spcPct val="160000"/>
              </a:lnSpc>
            </a:pPr>
            <a:r>
              <a:rPr lang="en-US" altLang="zh-CN" sz="3200" b="1" dirty="0"/>
              <a:t>1</a:t>
            </a:r>
            <a:r>
              <a:rPr lang="zh-CN" altLang="en-US" sz="3200" b="1" dirty="0"/>
              <a:t>、分时操作</a:t>
            </a:r>
            <a:endParaRPr lang="zh-CN" altLang="en-US" sz="3200" b="1"/>
          </a:p>
          <a:p>
            <a:pPr>
              <a:lnSpc>
                <a:spcPct val="160000"/>
              </a:lnSpc>
            </a:pPr>
            <a:r>
              <a:rPr lang="en-US" altLang="zh-CN" sz="3200" b="1" dirty="0"/>
              <a:t>2</a:t>
            </a:r>
            <a:r>
              <a:rPr lang="zh-CN" altLang="en-US" sz="3200" b="1" dirty="0"/>
              <a:t>、实时处理</a:t>
            </a:r>
            <a:endParaRPr lang="zh-CN" altLang="en-US" sz="3200" b="1"/>
          </a:p>
          <a:p>
            <a:pPr>
              <a:lnSpc>
                <a:spcPct val="160000"/>
              </a:lnSpc>
            </a:pPr>
            <a:r>
              <a:rPr lang="en-US" altLang="zh-CN" sz="3200" b="1" dirty="0"/>
              <a:t>3</a:t>
            </a:r>
            <a:r>
              <a:rPr lang="zh-CN" altLang="en-US" sz="3200" b="1" dirty="0"/>
              <a:t>、故障处理</a:t>
            </a:r>
            <a:endParaRPr lang="zh-CN" altLang="en-US" sz="3200" b="1"/>
          </a:p>
        </p:txBody>
      </p:sp>
      <p:sp>
        <p:nvSpPr>
          <p:cNvPr id="38915" name="文本占位符 38914"/>
          <p:cNvSpPr>
            <a:spLocks noGrp="1"/>
          </p:cNvSpPr>
          <p:nvPr/>
        </p:nvSpPr>
        <p:spPr>
          <a:xfrm>
            <a:off x="3282315" y="1350010"/>
            <a:ext cx="5380990" cy="4707890"/>
          </a:xfrm>
          <a:prstGeom prst="rect">
            <a:avLst/>
          </a:prstGeom>
          <a:solidFill>
            <a:schemeClr val="accent4">
              <a:lumMod val="20000"/>
              <a:lumOff val="80000"/>
            </a:schemeClr>
          </a:solidFill>
        </p:spPr>
        <p:txBody>
          <a:bodyPr wrap="square" lIns="92075" tIns="46038" rIns="92075" bIns="46038">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50000"/>
              </a:lnSpc>
            </a:pPr>
            <a:r>
              <a:rPr lang="zh-CN" altLang="en-US" sz="2000" dirty="0">
                <a:solidFill>
                  <a:schemeClr val="tx1"/>
                </a:solidFill>
                <a:latin typeface="隶书" panose="02010509060101010101" pitchFamily="49" charset="-122"/>
                <a:ea typeface="隶书" panose="02010509060101010101" pitchFamily="49" charset="-122"/>
              </a:rPr>
              <a:t>计算机的中断系统可以使</a:t>
            </a:r>
            <a:r>
              <a:rPr lang="en-US" altLang="zh-CN" sz="2000" dirty="0">
                <a:solidFill>
                  <a:schemeClr val="tx1"/>
                </a:solidFill>
                <a:latin typeface="隶书" panose="02010509060101010101" pitchFamily="49" charset="-122"/>
                <a:ea typeface="隶书" panose="02010509060101010101" pitchFamily="49" charset="-122"/>
              </a:rPr>
              <a:t>CPU</a:t>
            </a:r>
            <a:r>
              <a:rPr lang="zh-CN" altLang="en-US" sz="2000" dirty="0">
                <a:solidFill>
                  <a:schemeClr val="tx1"/>
                </a:solidFill>
                <a:latin typeface="隶书" panose="02010509060101010101" pitchFamily="49" charset="-122"/>
                <a:ea typeface="隶书" panose="02010509060101010101" pitchFamily="49" charset="-122"/>
              </a:rPr>
              <a:t>与外设同时工作。</a:t>
            </a:r>
          </a:p>
          <a:p>
            <a:pPr>
              <a:lnSpc>
                <a:spcPct val="150000"/>
              </a:lnSpc>
            </a:pPr>
            <a:r>
              <a:rPr lang="en-US" altLang="zh-CN" sz="2000" dirty="0">
                <a:solidFill>
                  <a:schemeClr val="tx1"/>
                </a:solidFill>
                <a:latin typeface="隶书" panose="02010509060101010101" pitchFamily="49" charset="-122"/>
                <a:ea typeface="隶书" panose="02010509060101010101" pitchFamily="49" charset="-122"/>
              </a:rPr>
              <a:t>CPU</a:t>
            </a:r>
            <a:r>
              <a:rPr lang="zh-CN" altLang="en-US" sz="2000" dirty="0">
                <a:solidFill>
                  <a:schemeClr val="tx1"/>
                </a:solidFill>
                <a:latin typeface="隶书" panose="02010509060101010101" pitchFamily="49" charset="-122"/>
                <a:ea typeface="隶书" panose="02010509060101010101" pitchFamily="49" charset="-122"/>
              </a:rPr>
              <a:t>在启动外设后，便继续执行主程序；而外设被启动后，开始进行准备工作。当外设准备就绪时，就向</a:t>
            </a:r>
            <a:r>
              <a:rPr lang="en-US" altLang="zh-CN" sz="2000" dirty="0">
                <a:solidFill>
                  <a:schemeClr val="tx1"/>
                </a:solidFill>
                <a:latin typeface="隶书" panose="02010509060101010101" pitchFamily="49" charset="-122"/>
                <a:ea typeface="隶书" panose="02010509060101010101" pitchFamily="49" charset="-122"/>
              </a:rPr>
              <a:t>CPU</a:t>
            </a:r>
            <a:r>
              <a:rPr lang="zh-CN" altLang="en-US" sz="2000" dirty="0">
                <a:solidFill>
                  <a:schemeClr val="tx1"/>
                </a:solidFill>
                <a:latin typeface="隶书" panose="02010509060101010101" pitchFamily="49" charset="-122"/>
                <a:ea typeface="隶书" panose="02010509060101010101" pitchFamily="49" charset="-122"/>
              </a:rPr>
              <a:t>发出中断请求，</a:t>
            </a:r>
            <a:r>
              <a:rPr lang="en-US" altLang="zh-CN" sz="2000" dirty="0">
                <a:solidFill>
                  <a:schemeClr val="tx1"/>
                </a:solidFill>
                <a:latin typeface="隶书" panose="02010509060101010101" pitchFamily="49" charset="-122"/>
                <a:ea typeface="隶书" panose="02010509060101010101" pitchFamily="49" charset="-122"/>
              </a:rPr>
              <a:t>CPU</a:t>
            </a:r>
            <a:r>
              <a:rPr lang="zh-CN" altLang="en-US" sz="2000" dirty="0">
                <a:solidFill>
                  <a:schemeClr val="tx1"/>
                </a:solidFill>
                <a:latin typeface="隶书" panose="02010509060101010101" pitchFamily="49" charset="-122"/>
                <a:ea typeface="隶书" panose="02010509060101010101" pitchFamily="49" charset="-122"/>
              </a:rPr>
              <a:t>响应该中断请求并为其服务完毕后，返回原来的断点处继续运行主程序。外设在得到服务后，也继续进行自己的工作。</a:t>
            </a:r>
          </a:p>
          <a:p>
            <a:pPr>
              <a:lnSpc>
                <a:spcPct val="150000"/>
              </a:lnSpc>
            </a:pPr>
            <a:r>
              <a:rPr lang="zh-CN" altLang="en-US" sz="2000" dirty="0">
                <a:solidFill>
                  <a:schemeClr val="tx1"/>
                </a:solidFill>
                <a:latin typeface="隶书" panose="02010509060101010101" pitchFamily="49" charset="-122"/>
                <a:ea typeface="隶书" panose="02010509060101010101" pitchFamily="49" charset="-122"/>
              </a:rPr>
              <a:t>因此，</a:t>
            </a:r>
            <a:r>
              <a:rPr lang="en-US" altLang="zh-CN" sz="2000" dirty="0">
                <a:solidFill>
                  <a:srgbClr val="0000FF"/>
                </a:solidFill>
                <a:latin typeface="隶书" panose="02010509060101010101" pitchFamily="49" charset="-122"/>
                <a:ea typeface="隶书" panose="02010509060101010101" pitchFamily="49" charset="-122"/>
              </a:rPr>
              <a:t>CPU</a:t>
            </a:r>
            <a:r>
              <a:rPr lang="zh-CN" altLang="en-US" sz="2000" dirty="0">
                <a:solidFill>
                  <a:srgbClr val="0000FF"/>
                </a:solidFill>
                <a:latin typeface="隶书" panose="02010509060101010101" pitchFamily="49" charset="-122"/>
                <a:ea typeface="隶书" panose="02010509060101010101" pitchFamily="49" charset="-122"/>
              </a:rPr>
              <a:t>可以使多个外设同时工作</a:t>
            </a:r>
            <a:r>
              <a:rPr lang="zh-CN" altLang="en-US" sz="2000" dirty="0">
                <a:solidFill>
                  <a:schemeClr val="tx1"/>
                </a:solidFill>
                <a:latin typeface="隶书" panose="02010509060101010101" pitchFamily="49" charset="-122"/>
                <a:ea typeface="隶书" panose="02010509060101010101" pitchFamily="49" charset="-122"/>
              </a:rPr>
              <a:t>，并分时为各外设提供服务，从而提高了</a:t>
            </a:r>
            <a:r>
              <a:rPr lang="en-US" altLang="zh-CN" sz="2000" dirty="0">
                <a:solidFill>
                  <a:schemeClr val="tx1"/>
                </a:solidFill>
                <a:latin typeface="隶书" panose="02010509060101010101" pitchFamily="49" charset="-122"/>
                <a:ea typeface="隶书" panose="02010509060101010101" pitchFamily="49" charset="-122"/>
              </a:rPr>
              <a:t>CPU</a:t>
            </a:r>
            <a:r>
              <a:rPr lang="zh-CN" altLang="en-US" sz="2000" dirty="0">
                <a:solidFill>
                  <a:schemeClr val="tx1"/>
                </a:solidFill>
                <a:latin typeface="隶书" panose="02010509060101010101" pitchFamily="49" charset="-122"/>
                <a:ea typeface="隶书" panose="02010509060101010101" pitchFamily="49" charset="-122"/>
              </a:rPr>
              <a:t>的利用率和输入和输出的速度。</a:t>
            </a:r>
          </a:p>
        </p:txBody>
      </p:sp>
      <p:sp>
        <p:nvSpPr>
          <p:cNvPr id="39939" name="文本占位符 39938"/>
          <p:cNvSpPr>
            <a:spLocks noGrp="1"/>
          </p:cNvSpPr>
          <p:nvPr/>
        </p:nvSpPr>
        <p:spPr>
          <a:xfrm>
            <a:off x="3142615" y="1922780"/>
            <a:ext cx="5476875" cy="1106805"/>
          </a:xfrm>
          <a:prstGeom prst="rect">
            <a:avLst/>
          </a:prstGeom>
          <a:solidFill>
            <a:schemeClr val="accent1">
              <a:lumMod val="20000"/>
              <a:lumOff val="80000"/>
            </a:schemeClr>
          </a:solidFill>
        </p:spPr>
        <p:txBody>
          <a:bodyPr wrap="square" lIns="92075" tIns="46038" rIns="92075" bIns="46038">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10000"/>
              </a:lnSpc>
            </a:pPr>
            <a:r>
              <a:rPr lang="zh-CN" altLang="en-US" sz="2000" b="1" dirty="0">
                <a:solidFill>
                  <a:schemeClr val="tx1"/>
                </a:solidFill>
              </a:rPr>
              <a:t>当计算机用于实时控制时，请求</a:t>
            </a:r>
            <a:r>
              <a:rPr lang="en-US" altLang="zh-CN" sz="2000" b="1" dirty="0">
                <a:solidFill>
                  <a:schemeClr val="tx1"/>
                </a:solidFill>
              </a:rPr>
              <a:t>CPU</a:t>
            </a:r>
            <a:r>
              <a:rPr lang="zh-CN" altLang="en-US" sz="2000" b="1" dirty="0">
                <a:solidFill>
                  <a:schemeClr val="tx1"/>
                </a:solidFill>
              </a:rPr>
              <a:t>提供服务是随机发生的。有了中断系统，</a:t>
            </a:r>
            <a:r>
              <a:rPr lang="en-US" altLang="zh-CN" sz="2000" b="1" dirty="0">
                <a:solidFill>
                  <a:schemeClr val="tx1"/>
                </a:solidFill>
              </a:rPr>
              <a:t>CPU</a:t>
            </a:r>
            <a:r>
              <a:rPr lang="zh-CN" altLang="en-US" sz="2000" b="1" dirty="0">
                <a:solidFill>
                  <a:schemeClr val="tx1"/>
                </a:solidFill>
              </a:rPr>
              <a:t>就可以立即响应并加以处理。</a:t>
            </a:r>
          </a:p>
        </p:txBody>
      </p:sp>
      <p:sp>
        <p:nvSpPr>
          <p:cNvPr id="40963" name="文本占位符 40962"/>
          <p:cNvSpPr>
            <a:spLocks noGrp="1"/>
          </p:cNvSpPr>
          <p:nvPr/>
        </p:nvSpPr>
        <p:spPr>
          <a:xfrm>
            <a:off x="1056005" y="3635375"/>
            <a:ext cx="7500620" cy="1309370"/>
          </a:xfrm>
          <a:prstGeom prst="rect">
            <a:avLst/>
          </a:prstGeom>
          <a:solidFill>
            <a:schemeClr val="accent6">
              <a:lumMod val="20000"/>
              <a:lumOff val="80000"/>
            </a:schemeClr>
          </a:solidFill>
        </p:spPr>
        <p:txBody>
          <a:bodyPr wrap="square" lIns="92075" tIns="46038" rIns="92075" bIns="46038">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10000"/>
              </a:lnSpc>
            </a:pPr>
            <a:r>
              <a:rPr lang="zh-CN" altLang="en-US" sz="1800" b="1" dirty="0">
                <a:solidFill>
                  <a:schemeClr val="tx1"/>
                </a:solidFill>
              </a:rPr>
              <a:t>计算机在运行时往往会出现一些故障，如断电、存储器奇偶校验出错、运算溢出等。</a:t>
            </a:r>
          </a:p>
          <a:p>
            <a:pPr>
              <a:lnSpc>
                <a:spcPct val="110000"/>
              </a:lnSpc>
            </a:pPr>
            <a:r>
              <a:rPr lang="zh-CN" altLang="en-US" sz="1800" b="1" dirty="0">
                <a:solidFill>
                  <a:schemeClr val="tx1"/>
                </a:solidFill>
              </a:rPr>
              <a:t>有了中断系统，当出现上述情况时，</a:t>
            </a:r>
            <a:r>
              <a:rPr lang="en-US" altLang="zh-CN" sz="1800" b="1" dirty="0">
                <a:solidFill>
                  <a:schemeClr val="tx1"/>
                </a:solidFill>
              </a:rPr>
              <a:t>CPU</a:t>
            </a:r>
            <a:r>
              <a:rPr lang="zh-CN" altLang="en-US" sz="1800" b="1" dirty="0">
                <a:solidFill>
                  <a:schemeClr val="tx1"/>
                </a:solidFill>
              </a:rPr>
              <a:t>可及时转去执行故障处理程序，自行处理故障而不必停机。</a:t>
            </a:r>
          </a:p>
        </p:txBody>
      </p:sp>
      <p:sp>
        <p:nvSpPr>
          <p:cNvPr id="3" name="灯片编号占位符 2"/>
          <p:cNvSpPr>
            <a:spLocks noGrp="1"/>
          </p:cNvSpPr>
          <p:nvPr>
            <p:ph type="sldNum" sz="quarter" idx="7"/>
          </p:nvPr>
        </p:nvSpPr>
        <p:spPr/>
        <p:txBody>
          <a:bodyPr/>
          <a:lstStyle/>
          <a:p>
            <a:pPr marL="25400">
              <a:lnSpc>
                <a:spcPct val="100000"/>
              </a:lnSpc>
              <a:spcBef>
                <a:spcPts val="185"/>
              </a:spcBef>
            </a:pPr>
            <a:fld id="{81D60167-4931-47E6-BA6A-407CBD079E47}" type="slidenum">
              <a:rPr spc="-5" dirty="0"/>
              <a:t>8</a:t>
            </a:fld>
            <a:endParaRPr spc="-5" dirty="0"/>
          </a:p>
        </p:txBody>
      </p:sp>
    </p:spTree>
  </p:cSld>
  <p:clrMapOvr>
    <a:masterClrMapping/>
  </p:clrMapOvr>
  <p:transition advClick="0">
    <p:cut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2" nodeType="clickEffect">
                                  <p:stCondLst>
                                    <p:cond delay="0"/>
                                  </p:stCondLst>
                                  <p:childTnLst>
                                    <p:set>
                                      <p:cBhvr>
                                        <p:cTn id="6" dur="1" fill="hold">
                                          <p:stCondLst>
                                            <p:cond delay="0"/>
                                          </p:stCondLst>
                                        </p:cTn>
                                        <p:tgtEl>
                                          <p:spTgt spid="38915"/>
                                        </p:tgtEl>
                                        <p:attrNameLst>
                                          <p:attrName>style.visibility</p:attrName>
                                        </p:attrNameLst>
                                      </p:cBhvr>
                                      <p:to>
                                        <p:strVal val="visible"/>
                                      </p:to>
                                    </p:set>
                                    <p:anim calcmode="lin" valueType="num">
                                      <p:cBhvr additive="base">
                                        <p:cTn id="7" dur="500" fill="hold"/>
                                        <p:tgtEl>
                                          <p:spTgt spid="38915"/>
                                        </p:tgtEl>
                                        <p:attrNameLst>
                                          <p:attrName>ppt_x</p:attrName>
                                        </p:attrNameLst>
                                      </p:cBhvr>
                                      <p:tavLst>
                                        <p:tav tm="0">
                                          <p:val>
                                            <p:strVal val="#ppt_x"/>
                                          </p:val>
                                        </p:tav>
                                        <p:tav tm="100000">
                                          <p:val>
                                            <p:strVal val="#ppt_x"/>
                                          </p:val>
                                        </p:tav>
                                      </p:tavLst>
                                    </p:anim>
                                    <p:anim calcmode="lin" valueType="num">
                                      <p:cBhvr additive="base">
                                        <p:cTn id="8" dur="500" fill="hold"/>
                                        <p:tgtEl>
                                          <p:spTgt spid="389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38915"/>
                                        </p:tgtEl>
                                        <p:attrNameLst>
                                          <p:attrName>ppt_x</p:attrName>
                                        </p:attrNameLst>
                                      </p:cBhvr>
                                      <p:tavLst>
                                        <p:tav tm="0">
                                          <p:val>
                                            <p:strVal val="ppt_x"/>
                                          </p:val>
                                        </p:tav>
                                        <p:tav tm="100000">
                                          <p:val>
                                            <p:strVal val="ppt_x"/>
                                          </p:val>
                                        </p:tav>
                                      </p:tavLst>
                                    </p:anim>
                                    <p:anim calcmode="lin" valueType="num">
                                      <p:cBhvr additive="base">
                                        <p:cTn id="13" dur="500"/>
                                        <p:tgtEl>
                                          <p:spTgt spid="38915"/>
                                        </p:tgtEl>
                                        <p:attrNameLst>
                                          <p:attrName>ppt_y</p:attrName>
                                        </p:attrNameLst>
                                      </p:cBhvr>
                                      <p:tavLst>
                                        <p:tav tm="0">
                                          <p:val>
                                            <p:strVal val="ppt_y"/>
                                          </p:val>
                                        </p:tav>
                                        <p:tav tm="100000">
                                          <p:val>
                                            <p:strVal val="1+ppt_h/2"/>
                                          </p:val>
                                        </p:tav>
                                      </p:tavLst>
                                    </p:anim>
                                    <p:set>
                                      <p:cBhvr>
                                        <p:cTn id="14" dur="1" fill="hold">
                                          <p:stCondLst>
                                            <p:cond delay="499"/>
                                          </p:stCondLst>
                                        </p:cTn>
                                        <p:tgtEl>
                                          <p:spTgt spid="3891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9939"/>
                                        </p:tgtEl>
                                        <p:attrNameLst>
                                          <p:attrName>style.visibility</p:attrName>
                                        </p:attrNameLst>
                                      </p:cBhvr>
                                      <p:to>
                                        <p:strVal val="visible"/>
                                      </p:to>
                                    </p:set>
                                    <p:anim calcmode="lin" valueType="num">
                                      <p:cBhvr additive="base">
                                        <p:cTn id="19" dur="500" fill="hold"/>
                                        <p:tgtEl>
                                          <p:spTgt spid="39939"/>
                                        </p:tgtEl>
                                        <p:attrNameLst>
                                          <p:attrName>ppt_x</p:attrName>
                                        </p:attrNameLst>
                                      </p:cBhvr>
                                      <p:tavLst>
                                        <p:tav tm="0">
                                          <p:val>
                                            <p:strVal val="#ppt_x"/>
                                          </p:val>
                                        </p:tav>
                                        <p:tav tm="100000">
                                          <p:val>
                                            <p:strVal val="#ppt_x"/>
                                          </p:val>
                                        </p:tav>
                                      </p:tavLst>
                                    </p:anim>
                                    <p:anim calcmode="lin" valueType="num">
                                      <p:cBhvr additive="base">
                                        <p:cTn id="20" dur="500" fill="hold"/>
                                        <p:tgtEl>
                                          <p:spTgt spid="3993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0963"/>
                                        </p:tgtEl>
                                        <p:attrNameLst>
                                          <p:attrName>style.visibility</p:attrName>
                                        </p:attrNameLst>
                                      </p:cBhvr>
                                      <p:to>
                                        <p:strVal val="visible"/>
                                      </p:to>
                                    </p:set>
                                    <p:anim calcmode="lin" valueType="num">
                                      <p:cBhvr additive="base">
                                        <p:cTn id="25" dur="500" fill="hold"/>
                                        <p:tgtEl>
                                          <p:spTgt spid="40963"/>
                                        </p:tgtEl>
                                        <p:attrNameLst>
                                          <p:attrName>ppt_x</p:attrName>
                                        </p:attrNameLst>
                                      </p:cBhvr>
                                      <p:tavLst>
                                        <p:tav tm="0">
                                          <p:val>
                                            <p:strVal val="#ppt_x"/>
                                          </p:val>
                                        </p:tav>
                                        <p:tav tm="100000">
                                          <p:val>
                                            <p:strVal val="#ppt_x"/>
                                          </p:val>
                                        </p:tav>
                                      </p:tavLst>
                                    </p:anim>
                                    <p:anim calcmode="lin" valueType="num">
                                      <p:cBhvr additive="base">
                                        <p:cTn id="26" dur="500" fill="hold"/>
                                        <p:tgtEl>
                                          <p:spTgt spid="409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animBg="1"/>
      <p:bldP spid="38915" grpId="1" animBg="1"/>
      <p:bldP spid="38915" grpId="2" animBg="1"/>
      <p:bldP spid="39939" grpId="0" animBg="1"/>
      <p:bldP spid="39939" grpId="1" animBg="1"/>
      <p:bldP spid="40963" grpId="0" animBg="1"/>
      <p:bldP spid="40963"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488315" y="1200785"/>
            <a:ext cx="8229600" cy="5166995"/>
          </a:xfrm>
          <a:prstGeom prst="rect">
            <a:avLst/>
          </a:prstGeom>
        </p:spPr>
        <p:txBody>
          <a:bodyPr vert="horz" wrap="square" lIns="0" tIns="12700" rIns="0" bIns="0" rtlCol="0">
            <a:spAutoFit/>
          </a:bodyPr>
          <a:lstStyle/>
          <a:p>
            <a:pPr marL="293370">
              <a:lnSpc>
                <a:spcPct val="100000"/>
              </a:lnSpc>
              <a:spcBef>
                <a:spcPts val="100"/>
              </a:spcBef>
            </a:pPr>
            <a:r>
              <a:rPr dirty="0">
                <a:solidFill>
                  <a:srgbClr val="3333FF"/>
                </a:solidFill>
                <a:latin typeface="Times New Roman" panose="02020603050405020304"/>
                <a:cs typeface="Times New Roman" panose="02020603050405020304"/>
              </a:rPr>
              <a:t>5</a:t>
            </a:r>
            <a:r>
              <a:rPr spc="5" dirty="0">
                <a:solidFill>
                  <a:srgbClr val="3333FF"/>
                </a:solidFill>
              </a:rPr>
              <a:t>个</a:t>
            </a:r>
            <a:r>
              <a:rPr dirty="0"/>
              <a:t>中</a:t>
            </a:r>
            <a:r>
              <a:rPr spc="5" dirty="0"/>
              <a:t>断</a:t>
            </a:r>
            <a:r>
              <a:rPr dirty="0"/>
              <a:t>请</a:t>
            </a:r>
            <a:r>
              <a:rPr spc="15" dirty="0"/>
              <a:t>求源</a:t>
            </a:r>
            <a:r>
              <a:rPr spc="5" dirty="0"/>
              <a:t>及标志</a:t>
            </a:r>
            <a:r>
              <a:rPr dirty="0"/>
              <a:t>：</a:t>
            </a:r>
          </a:p>
          <a:p>
            <a:pPr marL="1285240" indent="-763905">
              <a:lnSpc>
                <a:spcPct val="100000"/>
              </a:lnSpc>
              <a:spcBef>
                <a:spcPts val="2015"/>
              </a:spcBef>
              <a:buSzPct val="96000"/>
              <a:buAutoNum type="arabicPlain"/>
              <a:tabLst>
                <a:tab pos="1285875" algn="l"/>
              </a:tabLst>
            </a:pPr>
            <a:r>
              <a:rPr spc="5" dirty="0"/>
              <a:t>外</a:t>
            </a:r>
            <a:r>
              <a:rPr dirty="0"/>
              <a:t>部</a:t>
            </a:r>
            <a:r>
              <a:rPr spc="15" dirty="0"/>
              <a:t>中断</a:t>
            </a:r>
            <a:r>
              <a:rPr spc="5" dirty="0"/>
              <a:t>请</a:t>
            </a:r>
            <a:r>
              <a:rPr spc="15" dirty="0"/>
              <a:t>求</a:t>
            </a:r>
            <a:r>
              <a:rPr spc="5" dirty="0">
                <a:latin typeface="Times New Roman" panose="02020603050405020304"/>
                <a:cs typeface="Times New Roman" panose="02020603050405020304"/>
              </a:rPr>
              <a:t>0</a:t>
            </a:r>
            <a:r>
              <a:rPr spc="5" dirty="0"/>
              <a:t>（</a:t>
            </a:r>
            <a:r>
              <a:rPr dirty="0">
                <a:solidFill>
                  <a:srgbClr val="3333CC"/>
                </a:solidFill>
                <a:latin typeface="Times New Roman" panose="02020603050405020304"/>
                <a:cs typeface="Times New Roman" panose="02020603050405020304"/>
              </a:rPr>
              <a:t>INT0*/P3.2</a:t>
            </a:r>
            <a:r>
              <a:rPr spc="5" dirty="0">
                <a:solidFill>
                  <a:srgbClr val="3333CC"/>
                </a:solidFill>
              </a:rPr>
              <a:t>）</a:t>
            </a:r>
            <a:r>
              <a:rPr spc="5" dirty="0"/>
              <a:t>，标志</a:t>
            </a:r>
            <a:r>
              <a:rPr dirty="0"/>
              <a:t>位</a:t>
            </a:r>
            <a:r>
              <a:rPr spc="-5" dirty="0">
                <a:solidFill>
                  <a:srgbClr val="3333CC"/>
                </a:solidFill>
                <a:latin typeface="Times New Roman" panose="02020603050405020304"/>
                <a:cs typeface="Times New Roman" panose="02020603050405020304"/>
              </a:rPr>
              <a:t>IE</a:t>
            </a:r>
            <a:r>
              <a:rPr spc="5" dirty="0">
                <a:solidFill>
                  <a:srgbClr val="3333CC"/>
                </a:solidFill>
                <a:latin typeface="Times New Roman" panose="02020603050405020304"/>
                <a:cs typeface="Times New Roman" panose="02020603050405020304"/>
              </a:rPr>
              <a:t>0</a:t>
            </a:r>
            <a:r>
              <a:rPr spc="-5" dirty="0"/>
              <a:t>。</a:t>
            </a:r>
          </a:p>
          <a:p>
            <a:pPr marL="1285240" indent="-763905">
              <a:lnSpc>
                <a:spcPct val="100000"/>
              </a:lnSpc>
              <a:spcBef>
                <a:spcPts val="2015"/>
              </a:spcBef>
              <a:buSzPct val="96000"/>
              <a:buAutoNum type="arabicPlain"/>
              <a:tabLst>
                <a:tab pos="1285875" algn="l"/>
              </a:tabLst>
            </a:pPr>
            <a:r>
              <a:rPr spc="5" dirty="0"/>
              <a:t>外</a:t>
            </a:r>
            <a:r>
              <a:rPr dirty="0"/>
              <a:t>部</a:t>
            </a:r>
            <a:r>
              <a:rPr spc="15" dirty="0"/>
              <a:t>中断</a:t>
            </a:r>
            <a:r>
              <a:rPr spc="5" dirty="0"/>
              <a:t>请</a:t>
            </a:r>
            <a:r>
              <a:rPr spc="15" dirty="0"/>
              <a:t>求</a:t>
            </a:r>
            <a:r>
              <a:rPr spc="5" dirty="0">
                <a:latin typeface="Times New Roman" panose="02020603050405020304"/>
                <a:cs typeface="Times New Roman" panose="02020603050405020304"/>
              </a:rPr>
              <a:t>1</a:t>
            </a:r>
            <a:r>
              <a:rPr spc="5" dirty="0"/>
              <a:t>（</a:t>
            </a:r>
            <a:r>
              <a:rPr dirty="0">
                <a:solidFill>
                  <a:srgbClr val="3333CC"/>
                </a:solidFill>
                <a:latin typeface="Times New Roman" panose="02020603050405020304"/>
                <a:cs typeface="Times New Roman" panose="02020603050405020304"/>
              </a:rPr>
              <a:t>INT1*/P3.3</a:t>
            </a:r>
            <a:r>
              <a:rPr spc="5" dirty="0">
                <a:solidFill>
                  <a:srgbClr val="3333CC"/>
                </a:solidFill>
              </a:rPr>
              <a:t>）</a:t>
            </a:r>
            <a:r>
              <a:rPr spc="5" dirty="0"/>
              <a:t>，标志</a:t>
            </a:r>
            <a:r>
              <a:rPr dirty="0"/>
              <a:t>位</a:t>
            </a:r>
            <a:r>
              <a:rPr spc="-5" dirty="0">
                <a:solidFill>
                  <a:srgbClr val="3333CC"/>
                </a:solidFill>
                <a:latin typeface="Times New Roman" panose="02020603050405020304"/>
                <a:cs typeface="Times New Roman" panose="02020603050405020304"/>
              </a:rPr>
              <a:t>IE</a:t>
            </a:r>
            <a:r>
              <a:rPr spc="5" dirty="0">
                <a:solidFill>
                  <a:srgbClr val="3333CC"/>
                </a:solidFill>
                <a:latin typeface="Times New Roman" panose="02020603050405020304"/>
                <a:cs typeface="Times New Roman" panose="02020603050405020304"/>
              </a:rPr>
              <a:t>1</a:t>
            </a:r>
            <a:r>
              <a:rPr spc="-5" dirty="0"/>
              <a:t>。</a:t>
            </a:r>
          </a:p>
          <a:p>
            <a:pPr marL="1285240" indent="-763905">
              <a:lnSpc>
                <a:spcPct val="100000"/>
              </a:lnSpc>
              <a:spcBef>
                <a:spcPts val="2015"/>
              </a:spcBef>
              <a:buClr>
                <a:srgbClr val="000000"/>
              </a:buClr>
              <a:buSzPct val="96000"/>
              <a:buAutoNum type="arabicPlain"/>
              <a:tabLst>
                <a:tab pos="1285875" algn="l"/>
              </a:tabLst>
            </a:pPr>
            <a:r>
              <a:rPr spc="5" dirty="0">
                <a:solidFill>
                  <a:srgbClr val="3333CC"/>
                </a:solidFill>
              </a:rPr>
              <a:t>定时器</a:t>
            </a:r>
            <a:r>
              <a:rPr spc="5" dirty="0">
                <a:solidFill>
                  <a:srgbClr val="3333CC"/>
                </a:solidFill>
                <a:latin typeface="Times New Roman" panose="02020603050405020304"/>
                <a:cs typeface="Times New Roman" panose="02020603050405020304"/>
              </a:rPr>
              <a:t>/</a:t>
            </a:r>
            <a:r>
              <a:rPr spc="10" dirty="0">
                <a:solidFill>
                  <a:srgbClr val="3333CC"/>
                </a:solidFill>
              </a:rPr>
              <a:t>计数</a:t>
            </a:r>
            <a:r>
              <a:rPr spc="5" dirty="0">
                <a:solidFill>
                  <a:srgbClr val="3333CC"/>
                </a:solidFill>
              </a:rPr>
              <a:t>器</a:t>
            </a:r>
            <a:r>
              <a:rPr dirty="0">
                <a:solidFill>
                  <a:srgbClr val="3333CC"/>
                </a:solidFill>
                <a:latin typeface="Times New Roman" panose="02020603050405020304"/>
                <a:cs typeface="Times New Roman" panose="02020603050405020304"/>
              </a:rPr>
              <a:t>T</a:t>
            </a:r>
            <a:r>
              <a:rPr spc="5" dirty="0">
                <a:solidFill>
                  <a:srgbClr val="3333CC"/>
                </a:solidFill>
                <a:latin typeface="Times New Roman" panose="02020603050405020304"/>
                <a:cs typeface="Times New Roman" panose="02020603050405020304"/>
              </a:rPr>
              <a:t>0</a:t>
            </a:r>
            <a:r>
              <a:rPr spc="10" dirty="0">
                <a:solidFill>
                  <a:srgbClr val="3333CC"/>
                </a:solidFill>
              </a:rPr>
              <a:t>中断请求，</a:t>
            </a:r>
            <a:r>
              <a:rPr spc="10" dirty="0"/>
              <a:t>标志</a:t>
            </a:r>
            <a:r>
              <a:rPr spc="5" dirty="0"/>
              <a:t>位</a:t>
            </a:r>
            <a:r>
              <a:rPr dirty="0">
                <a:solidFill>
                  <a:srgbClr val="3333CC"/>
                </a:solidFill>
                <a:latin typeface="Times New Roman" panose="02020603050405020304"/>
                <a:cs typeface="Times New Roman" panose="02020603050405020304"/>
              </a:rPr>
              <a:t>TF</a:t>
            </a:r>
            <a:r>
              <a:rPr spc="5" dirty="0">
                <a:solidFill>
                  <a:srgbClr val="3333CC"/>
                </a:solidFill>
                <a:latin typeface="Times New Roman" panose="02020603050405020304"/>
                <a:cs typeface="Times New Roman" panose="02020603050405020304"/>
              </a:rPr>
              <a:t>0</a:t>
            </a:r>
            <a:r>
              <a:rPr dirty="0"/>
              <a:t>。</a:t>
            </a:r>
          </a:p>
          <a:p>
            <a:pPr marL="1285240" indent="-763905">
              <a:lnSpc>
                <a:spcPct val="100000"/>
              </a:lnSpc>
              <a:spcBef>
                <a:spcPts val="2020"/>
              </a:spcBef>
              <a:buClr>
                <a:srgbClr val="000000"/>
              </a:buClr>
              <a:buSzPct val="96000"/>
              <a:buAutoNum type="arabicPlain"/>
              <a:tabLst>
                <a:tab pos="1285875" algn="l"/>
              </a:tabLst>
            </a:pPr>
            <a:r>
              <a:rPr dirty="0">
                <a:solidFill>
                  <a:srgbClr val="3333CC"/>
                </a:solidFill>
              </a:rPr>
              <a:t>定时</a:t>
            </a:r>
            <a:r>
              <a:rPr spc="5" dirty="0">
                <a:solidFill>
                  <a:srgbClr val="3333CC"/>
                </a:solidFill>
              </a:rPr>
              <a:t>器</a:t>
            </a:r>
            <a:r>
              <a:rPr dirty="0">
                <a:solidFill>
                  <a:srgbClr val="3333CC"/>
                </a:solidFill>
                <a:latin typeface="Times New Roman" panose="02020603050405020304"/>
                <a:cs typeface="Times New Roman" panose="02020603050405020304"/>
              </a:rPr>
              <a:t>/</a:t>
            </a:r>
            <a:r>
              <a:rPr spc="10" dirty="0">
                <a:solidFill>
                  <a:srgbClr val="3333CC"/>
                </a:solidFill>
              </a:rPr>
              <a:t>计数</a:t>
            </a:r>
            <a:r>
              <a:rPr dirty="0">
                <a:solidFill>
                  <a:srgbClr val="3333CC"/>
                </a:solidFill>
              </a:rPr>
              <a:t>器</a:t>
            </a:r>
            <a:r>
              <a:rPr spc="-5" dirty="0">
                <a:solidFill>
                  <a:srgbClr val="3333CC"/>
                </a:solidFill>
                <a:latin typeface="Times New Roman" panose="02020603050405020304"/>
                <a:cs typeface="Times New Roman" panose="02020603050405020304"/>
              </a:rPr>
              <a:t>T</a:t>
            </a:r>
            <a:r>
              <a:rPr spc="5" dirty="0">
                <a:solidFill>
                  <a:srgbClr val="3333CC"/>
                </a:solidFill>
                <a:latin typeface="Times New Roman" panose="02020603050405020304"/>
                <a:cs typeface="Times New Roman" panose="02020603050405020304"/>
              </a:rPr>
              <a:t>1</a:t>
            </a:r>
            <a:r>
              <a:rPr spc="10" dirty="0"/>
              <a:t>中断请求，标志</a:t>
            </a:r>
            <a:r>
              <a:rPr spc="5" dirty="0"/>
              <a:t>位</a:t>
            </a:r>
            <a:r>
              <a:rPr dirty="0">
                <a:solidFill>
                  <a:srgbClr val="3333CC"/>
                </a:solidFill>
                <a:latin typeface="Times New Roman" panose="02020603050405020304"/>
                <a:cs typeface="Times New Roman" panose="02020603050405020304"/>
              </a:rPr>
              <a:t>TF1</a:t>
            </a:r>
            <a:r>
              <a:rPr dirty="0"/>
              <a:t>。</a:t>
            </a:r>
          </a:p>
          <a:p>
            <a:pPr marL="1285240" indent="-763905">
              <a:lnSpc>
                <a:spcPct val="100000"/>
              </a:lnSpc>
              <a:spcBef>
                <a:spcPts val="2015"/>
              </a:spcBef>
              <a:buClr>
                <a:srgbClr val="000000"/>
              </a:buClr>
              <a:buSzPct val="96000"/>
              <a:buAutoNum type="arabicPlain"/>
              <a:tabLst>
                <a:tab pos="1285875" algn="l"/>
              </a:tabLst>
            </a:pPr>
            <a:r>
              <a:rPr spc="5" dirty="0">
                <a:solidFill>
                  <a:srgbClr val="3333CC"/>
                </a:solidFill>
              </a:rPr>
              <a:t>串行</a:t>
            </a:r>
            <a:r>
              <a:rPr spc="10" dirty="0">
                <a:solidFill>
                  <a:srgbClr val="3333CC"/>
                </a:solidFill>
              </a:rPr>
              <a:t>口</a:t>
            </a:r>
            <a:r>
              <a:rPr spc="15" dirty="0"/>
              <a:t>中</a:t>
            </a:r>
            <a:r>
              <a:rPr spc="5" dirty="0"/>
              <a:t>断请求，标志</a:t>
            </a:r>
            <a:r>
              <a:rPr spc="20" dirty="0"/>
              <a:t>位</a:t>
            </a:r>
            <a:r>
              <a:rPr dirty="0">
                <a:solidFill>
                  <a:srgbClr val="3333CC"/>
                </a:solidFill>
                <a:latin typeface="Times New Roman" panose="02020603050405020304"/>
                <a:cs typeface="Times New Roman" panose="02020603050405020304"/>
              </a:rPr>
              <a:t>TI</a:t>
            </a:r>
            <a:r>
              <a:rPr spc="10" dirty="0"/>
              <a:t>或</a:t>
            </a:r>
            <a:r>
              <a:rPr dirty="0">
                <a:solidFill>
                  <a:srgbClr val="3333CC"/>
                </a:solidFill>
                <a:latin typeface="Times New Roman" panose="02020603050405020304"/>
                <a:cs typeface="Times New Roman" panose="02020603050405020304"/>
              </a:rPr>
              <a:t>RI</a:t>
            </a:r>
            <a:r>
              <a:rPr dirty="0"/>
              <a:t>。</a:t>
            </a:r>
          </a:p>
          <a:p>
            <a:pPr marL="521335" indent="0">
              <a:lnSpc>
                <a:spcPct val="100000"/>
              </a:lnSpc>
              <a:spcBef>
                <a:spcPts val="2015"/>
              </a:spcBef>
              <a:buClr>
                <a:srgbClr val="000000"/>
              </a:buClr>
              <a:buSzPct val="96000"/>
              <a:buNone/>
              <a:tabLst>
                <a:tab pos="1285875" algn="l"/>
              </a:tabLst>
            </a:pPr>
            <a:r>
              <a:rPr lang="zh-CN" u="sng" dirty="0">
                <a:solidFill>
                  <a:schemeClr val="tx1"/>
                </a:solidFill>
              </a:rPr>
              <a:t>通常中断源有</a:t>
            </a:r>
            <a:r>
              <a:rPr lang="en-US" altLang="zh-CN" u="sng" dirty="0">
                <a:solidFill>
                  <a:schemeClr val="tx1"/>
                </a:solidFill>
              </a:rPr>
              <a:t>I/O</a:t>
            </a:r>
            <a:r>
              <a:rPr lang="zh-CN" altLang="en-US" u="sng" dirty="0">
                <a:solidFill>
                  <a:schemeClr val="tx1"/>
                </a:solidFill>
              </a:rPr>
              <a:t>设备、硬件故障、实时时钟、为调试程序而设置的中断源</a:t>
            </a:r>
            <a:endParaRPr u="sng" dirty="0">
              <a:solidFill>
                <a:schemeClr val="tx1"/>
              </a:solidFill>
            </a:endParaRPr>
          </a:p>
          <a:p>
            <a:pPr marL="293370">
              <a:lnSpc>
                <a:spcPct val="150000"/>
              </a:lnSpc>
              <a:spcBef>
                <a:spcPts val="5"/>
              </a:spcBef>
            </a:pPr>
            <a:r>
              <a:rPr dirty="0">
                <a:latin typeface="Times New Roman" panose="02020603050405020304"/>
                <a:cs typeface="Times New Roman" panose="02020603050405020304"/>
              </a:rPr>
              <a:t>   </a:t>
            </a:r>
            <a:r>
              <a:rPr lang="en-US" dirty="0">
                <a:solidFill>
                  <a:srgbClr val="FF0000"/>
                </a:solidFill>
                <a:latin typeface="Times New Roman" panose="02020603050405020304"/>
                <a:cs typeface="Times New Roman" panose="02020603050405020304"/>
              </a:rPr>
              <a:t>5</a:t>
            </a:r>
            <a:r>
              <a:rPr lang="zh-CN" altLang="en-US" dirty="0">
                <a:solidFill>
                  <a:srgbClr val="FF0000"/>
                </a:solidFill>
                <a:latin typeface="Times New Roman" panose="02020603050405020304"/>
                <a:cs typeface="Times New Roman" panose="02020603050405020304"/>
              </a:rPr>
              <a:t>个中断源</a:t>
            </a:r>
          </a:p>
          <a:p>
            <a:pPr marL="293370">
              <a:lnSpc>
                <a:spcPct val="150000"/>
              </a:lnSpc>
              <a:spcBef>
                <a:spcPts val="5"/>
              </a:spcBef>
            </a:pPr>
            <a:r>
              <a:rPr lang="en-US" altLang="zh-CN" dirty="0">
                <a:latin typeface="Times New Roman" panose="02020603050405020304"/>
                <a:cs typeface="Times New Roman" panose="02020603050405020304"/>
              </a:rPr>
              <a:t>   </a:t>
            </a:r>
            <a:r>
              <a:rPr lang="en-US" altLang="zh-CN" dirty="0">
                <a:solidFill>
                  <a:srgbClr val="0000FF"/>
                </a:solidFill>
                <a:latin typeface="Times New Roman" panose="02020603050405020304"/>
                <a:cs typeface="Times New Roman" panose="02020603050405020304"/>
              </a:rPr>
              <a:t>2</a:t>
            </a:r>
            <a:r>
              <a:rPr lang="zh-CN" altLang="en-US" dirty="0">
                <a:solidFill>
                  <a:srgbClr val="0000FF"/>
                </a:solidFill>
                <a:latin typeface="Times New Roman" panose="02020603050405020304"/>
                <a:cs typeface="Times New Roman" panose="02020603050405020304"/>
              </a:rPr>
              <a:t>个中断优先级，可嵌套</a:t>
            </a:r>
          </a:p>
          <a:p>
            <a:pPr marL="293370">
              <a:lnSpc>
                <a:spcPct val="150000"/>
              </a:lnSpc>
              <a:spcBef>
                <a:spcPts val="5"/>
              </a:spcBef>
            </a:pPr>
            <a:r>
              <a:rPr lang="zh-CN" altLang="en-US" dirty="0">
                <a:latin typeface="Times New Roman" panose="02020603050405020304"/>
                <a:cs typeface="Times New Roman" panose="02020603050405020304"/>
              </a:rPr>
              <a:t>  </a:t>
            </a:r>
            <a:r>
              <a:rPr lang="zh-CN" altLang="en-US" dirty="0">
                <a:solidFill>
                  <a:srgbClr val="0000FF"/>
                </a:solidFill>
                <a:latin typeface="Times New Roman" panose="02020603050405020304"/>
                <a:cs typeface="Times New Roman" panose="02020603050405020304"/>
              </a:rPr>
              <a:t>每个中断源独立可控，开</a:t>
            </a:r>
            <a:r>
              <a:rPr lang="en-US" altLang="zh-CN" dirty="0">
                <a:solidFill>
                  <a:srgbClr val="0000FF"/>
                </a:solidFill>
                <a:latin typeface="Times New Roman" panose="02020603050405020304"/>
                <a:cs typeface="Times New Roman" panose="02020603050405020304"/>
              </a:rPr>
              <a:t>/</a:t>
            </a:r>
            <a:r>
              <a:rPr lang="zh-CN" altLang="en-US" dirty="0">
                <a:solidFill>
                  <a:srgbClr val="0000FF"/>
                </a:solidFill>
                <a:latin typeface="Times New Roman" panose="02020603050405020304"/>
                <a:cs typeface="Times New Roman" panose="02020603050405020304"/>
              </a:rPr>
              <a:t>关</a:t>
            </a:r>
          </a:p>
          <a:p>
            <a:pPr marL="293370">
              <a:lnSpc>
                <a:spcPct val="150000"/>
              </a:lnSpc>
              <a:spcBef>
                <a:spcPts val="5"/>
              </a:spcBef>
            </a:pPr>
            <a:r>
              <a:rPr lang="en-US" altLang="zh-CN" dirty="0">
                <a:latin typeface="Times New Roman" panose="02020603050405020304"/>
                <a:cs typeface="Times New Roman" panose="02020603050405020304"/>
              </a:rPr>
              <a:t>   4</a:t>
            </a:r>
            <a:r>
              <a:rPr dirty="0"/>
              <a:t>个</a:t>
            </a:r>
            <a:r>
              <a:rPr spc="5" dirty="0"/>
              <a:t>特</a:t>
            </a:r>
            <a:r>
              <a:rPr dirty="0"/>
              <a:t>殊</a:t>
            </a:r>
            <a:r>
              <a:rPr spc="5" dirty="0"/>
              <a:t>功能</a:t>
            </a:r>
            <a:r>
              <a:rPr spc="15" dirty="0"/>
              <a:t>寄</a:t>
            </a:r>
            <a:r>
              <a:rPr spc="5" dirty="0"/>
              <a:t>存器</a:t>
            </a:r>
            <a:r>
              <a:rPr dirty="0"/>
              <a:t>：</a:t>
            </a:r>
            <a:r>
              <a:rPr dirty="0">
                <a:solidFill>
                  <a:srgbClr val="0000FF"/>
                </a:solidFill>
                <a:latin typeface="Times New Roman" panose="02020603050405020304"/>
                <a:cs typeface="Times New Roman" panose="02020603050405020304"/>
              </a:rPr>
              <a:t>TCON</a:t>
            </a:r>
            <a:r>
              <a:rPr dirty="0">
                <a:solidFill>
                  <a:srgbClr val="0000FF"/>
                </a:solidFill>
              </a:rPr>
              <a:t>，</a:t>
            </a:r>
            <a:r>
              <a:rPr dirty="0">
                <a:solidFill>
                  <a:srgbClr val="0000FF"/>
                </a:solidFill>
                <a:latin typeface="Times New Roman" panose="02020603050405020304"/>
                <a:cs typeface="Times New Roman" panose="02020603050405020304"/>
              </a:rPr>
              <a:t>SCON</a:t>
            </a:r>
            <a:r>
              <a:rPr spc="5" dirty="0">
                <a:solidFill>
                  <a:srgbClr val="0000FF"/>
                </a:solidFill>
              </a:rPr>
              <a:t>、</a:t>
            </a:r>
            <a:r>
              <a:rPr dirty="0">
                <a:solidFill>
                  <a:srgbClr val="0000FF"/>
                </a:solidFill>
                <a:latin typeface="Times New Roman" panose="02020603050405020304"/>
                <a:cs typeface="Times New Roman" panose="02020603050405020304"/>
              </a:rPr>
              <a:t>IE</a:t>
            </a:r>
            <a:r>
              <a:rPr spc="5" dirty="0">
                <a:solidFill>
                  <a:srgbClr val="0000FF"/>
                </a:solidFill>
              </a:rPr>
              <a:t>、</a:t>
            </a:r>
            <a:r>
              <a:rPr spc="-5" dirty="0">
                <a:solidFill>
                  <a:srgbClr val="0000FF"/>
                </a:solidFill>
                <a:latin typeface="Times New Roman" panose="02020603050405020304"/>
                <a:cs typeface="Times New Roman" panose="02020603050405020304"/>
              </a:rPr>
              <a:t>IP</a:t>
            </a:r>
          </a:p>
        </p:txBody>
      </p:sp>
      <p:sp>
        <p:nvSpPr>
          <p:cNvPr id="5" name="object 3"/>
          <p:cNvSpPr txBox="1">
            <a:spLocks noGrp="1"/>
          </p:cNvSpPr>
          <p:nvPr/>
        </p:nvSpPr>
        <p:spPr>
          <a:xfrm>
            <a:off x="1460500" y="349885"/>
            <a:ext cx="5819775" cy="381635"/>
          </a:xfrm>
          <a:prstGeom prst="rect">
            <a:avLst/>
          </a:prstGeom>
        </p:spPr>
        <p:txBody>
          <a:bodyPr vert="horz" wrap="square" lIns="0" tIns="12700" rIns="0" bIns="0" rtlCol="0">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12700">
              <a:lnSpc>
                <a:spcPct val="100000"/>
              </a:lnSpc>
              <a:spcBef>
                <a:spcPts val="100"/>
              </a:spcBef>
            </a:pPr>
            <a:r>
              <a:rPr lang="en-US" sz="2400" spc="10" dirty="0"/>
              <a:t>5.3</a:t>
            </a:r>
            <a:r>
              <a:rPr sz="2400" spc="10" dirty="0"/>
              <a:t>中断系统结构</a:t>
            </a:r>
            <a:r>
              <a:rPr lang="zh-CN" sz="2400" spc="10" dirty="0"/>
              <a:t>及中断控制</a:t>
            </a:r>
          </a:p>
        </p:txBody>
      </p:sp>
      <p:sp>
        <p:nvSpPr>
          <p:cNvPr id="7" name="灯片编号占位符 6"/>
          <p:cNvSpPr>
            <a:spLocks noGrp="1"/>
          </p:cNvSpPr>
          <p:nvPr>
            <p:ph type="sldNum" sz="quarter" idx="7"/>
          </p:nvPr>
        </p:nvSpPr>
        <p:spPr/>
        <p:txBody>
          <a:bodyPr/>
          <a:lstStyle/>
          <a:p>
            <a:pPr marL="25400">
              <a:lnSpc>
                <a:spcPct val="100000"/>
              </a:lnSpc>
              <a:spcBef>
                <a:spcPts val="185"/>
              </a:spcBef>
            </a:pPr>
            <a:fld id="{81D60167-4931-47E6-BA6A-407CBD079E47}" type="slidenum">
              <a:rPr spc="-5" dirty="0"/>
              <a:t>9</a:t>
            </a:fld>
            <a:endParaRPr spc="-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47105"/>
          <p:cNvSpPr>
            <a:spLocks noGrp="1"/>
          </p:cNvSpPr>
          <p:nvPr>
            <p:ph type="title"/>
          </p:nvPr>
        </p:nvSpPr>
        <p:spPr/>
        <p:txBody>
          <a:bodyPr lIns="46038" tIns="46038" rIns="46038" bIns="46038" anchor="b"/>
          <a:lstStyle/>
          <a:p>
            <a:r>
              <a:rPr lang="zh-CN" altLang="en-US" dirty="0"/>
              <a:t>一、中断请求标志</a:t>
            </a:r>
            <a:endParaRPr lang="zh-CN" altLang="en-US"/>
          </a:p>
        </p:txBody>
      </p:sp>
      <p:sp>
        <p:nvSpPr>
          <p:cNvPr id="47107" name="文本占位符 47106"/>
          <p:cNvSpPr>
            <a:spLocks noGrp="1"/>
          </p:cNvSpPr>
          <p:nvPr>
            <p:ph type="body" idx="1"/>
          </p:nvPr>
        </p:nvSpPr>
        <p:spPr>
          <a:xfrm>
            <a:off x="612140" y="1066165"/>
            <a:ext cx="8229600" cy="953135"/>
          </a:xfrm>
        </p:spPr>
        <p:txBody>
          <a:bodyPr wrap="square" lIns="92075" tIns="46038" rIns="92075" bIns="46038"/>
          <a:lstStyle/>
          <a:p>
            <a:pPr marL="386080" indent="-386080">
              <a:lnSpc>
                <a:spcPct val="140000"/>
              </a:lnSpc>
              <a:buNone/>
            </a:pPr>
            <a:r>
              <a:rPr lang="en-US" altLang="zh-CN" sz="2000" b="1" i="1" dirty="0">
                <a:solidFill>
                  <a:schemeClr val="hlink"/>
                </a:solidFill>
              </a:rPr>
              <a:t>1</a:t>
            </a:r>
            <a:r>
              <a:rPr lang="zh-CN" altLang="en-US" sz="2000" b="1" i="1" dirty="0">
                <a:solidFill>
                  <a:schemeClr val="hlink"/>
                </a:solidFill>
              </a:rPr>
              <a:t>、定时器控制寄存器</a:t>
            </a:r>
            <a:r>
              <a:rPr lang="en-US" altLang="zh-CN" sz="2000" b="1" i="1" dirty="0">
                <a:solidFill>
                  <a:schemeClr val="hlink"/>
                </a:solidFill>
              </a:rPr>
              <a:t>TCON</a:t>
            </a:r>
            <a:r>
              <a:rPr lang="zh-CN" altLang="en-US" sz="2000" b="1" i="1" dirty="0">
                <a:solidFill>
                  <a:schemeClr val="hlink"/>
                </a:solidFill>
              </a:rPr>
              <a:t>中的中断标志位</a:t>
            </a:r>
          </a:p>
          <a:p>
            <a:pPr marL="386080" indent="-386080">
              <a:lnSpc>
                <a:spcPct val="140000"/>
              </a:lnSpc>
              <a:buNone/>
            </a:pPr>
            <a:r>
              <a:rPr lang="en-US" altLang="zh-CN" sz="2000" b="1" i="1" dirty="0">
                <a:solidFill>
                  <a:srgbClr val="9900CC"/>
                </a:solidFill>
              </a:rPr>
              <a:t>2</a:t>
            </a:r>
            <a:r>
              <a:rPr lang="zh-CN" altLang="en-US" sz="2000" b="1" i="1" dirty="0">
                <a:solidFill>
                  <a:srgbClr val="9900CC"/>
                </a:solidFill>
              </a:rPr>
              <a:t>、串行口控制寄存器</a:t>
            </a:r>
            <a:r>
              <a:rPr lang="en-US" altLang="zh-CN" sz="2000" b="1" i="1" dirty="0">
                <a:solidFill>
                  <a:srgbClr val="9900CC"/>
                </a:solidFill>
              </a:rPr>
              <a:t>SCON</a:t>
            </a:r>
            <a:r>
              <a:rPr lang="zh-CN" altLang="en-US" sz="2000" b="1" i="1" dirty="0">
                <a:solidFill>
                  <a:srgbClr val="9900CC"/>
                </a:solidFill>
              </a:rPr>
              <a:t>中的中断标志位</a:t>
            </a:r>
          </a:p>
        </p:txBody>
      </p:sp>
      <p:sp>
        <p:nvSpPr>
          <p:cNvPr id="48143" name="矩形 48142"/>
          <p:cNvSpPr/>
          <p:nvPr/>
        </p:nvSpPr>
        <p:spPr>
          <a:xfrm>
            <a:off x="1524000" y="2667000"/>
            <a:ext cx="838200" cy="61658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1" hangingPunct="1"/>
            <a:r>
              <a:rPr lang="en-US" altLang="zh-CN" sz="1600">
                <a:latin typeface="Times New Roman" panose="02020603050405020304" charset="0"/>
                <a:ea typeface="宋体" panose="02010600030101010101" pitchFamily="2" charset="-122"/>
              </a:rPr>
              <a:t>TF1</a:t>
            </a:r>
          </a:p>
        </p:txBody>
      </p:sp>
      <p:sp>
        <p:nvSpPr>
          <p:cNvPr id="48144" name="矩形 48143"/>
          <p:cNvSpPr/>
          <p:nvPr/>
        </p:nvSpPr>
        <p:spPr>
          <a:xfrm>
            <a:off x="2362200" y="2667000"/>
            <a:ext cx="838200" cy="616585"/>
          </a:xfrm>
          <a:prstGeom prst="rect">
            <a:avLst/>
          </a:prstGeom>
          <a:solidFill>
            <a:schemeClr val="accent1"/>
          </a:solidFill>
          <a:ln w="9525" cap="flat" cmpd="sng">
            <a:solidFill>
              <a:schemeClr val="tx1"/>
            </a:solidFill>
            <a:prstDash val="solid"/>
            <a:miter/>
            <a:headEnd type="none" w="med" len="med"/>
            <a:tailEnd type="none" w="med" len="med"/>
          </a:ln>
        </p:spPr>
        <p:txBody>
          <a:bodyPr anchor="ctr" anchorCtr="0"/>
          <a:lstStyle/>
          <a:p>
            <a:pPr algn="ctr"/>
            <a:r>
              <a:rPr lang="en-US" altLang="zh-CN" sz="2000">
                <a:solidFill>
                  <a:schemeClr val="bg1"/>
                </a:solidFill>
                <a:sym typeface="+mn-ea"/>
              </a:rPr>
              <a:t>TR0</a:t>
            </a:r>
          </a:p>
        </p:txBody>
      </p:sp>
      <p:sp>
        <p:nvSpPr>
          <p:cNvPr id="48145" name="矩形 48144"/>
          <p:cNvSpPr/>
          <p:nvPr/>
        </p:nvSpPr>
        <p:spPr>
          <a:xfrm>
            <a:off x="3200400" y="2667000"/>
            <a:ext cx="838200" cy="61658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1" hangingPunct="1"/>
            <a:r>
              <a:rPr lang="en-US" altLang="zh-CN" sz="1600">
                <a:latin typeface="Times New Roman" panose="02020603050405020304" charset="0"/>
                <a:ea typeface="宋体" panose="02010600030101010101" pitchFamily="2" charset="-122"/>
              </a:rPr>
              <a:t>TF0</a:t>
            </a:r>
          </a:p>
        </p:txBody>
      </p:sp>
      <p:sp>
        <p:nvSpPr>
          <p:cNvPr id="48146" name="矩形 48145"/>
          <p:cNvSpPr/>
          <p:nvPr/>
        </p:nvSpPr>
        <p:spPr>
          <a:xfrm>
            <a:off x="4038600" y="2667000"/>
            <a:ext cx="838200" cy="616585"/>
          </a:xfrm>
          <a:prstGeom prst="rect">
            <a:avLst/>
          </a:prstGeom>
          <a:solidFill>
            <a:schemeClr val="accent1"/>
          </a:solidFill>
          <a:ln w="9525" cap="flat" cmpd="sng">
            <a:solidFill>
              <a:schemeClr val="tx1"/>
            </a:solidFill>
            <a:prstDash val="solid"/>
            <a:miter/>
            <a:headEnd type="none" w="med" len="med"/>
            <a:tailEnd type="none" w="med" len="med"/>
          </a:ln>
        </p:spPr>
        <p:txBody>
          <a:bodyPr anchor="ctr" anchorCtr="0"/>
          <a:lstStyle/>
          <a:p>
            <a:pPr algn="ctr"/>
            <a:r>
              <a:rPr lang="en-US" altLang="zh-CN" sz="2400">
                <a:solidFill>
                  <a:schemeClr val="bg1"/>
                </a:solidFill>
              </a:rPr>
              <a:t>TR0</a:t>
            </a:r>
          </a:p>
        </p:txBody>
      </p:sp>
      <p:sp>
        <p:nvSpPr>
          <p:cNvPr id="48147" name="矩形 48146"/>
          <p:cNvSpPr/>
          <p:nvPr/>
        </p:nvSpPr>
        <p:spPr>
          <a:xfrm>
            <a:off x="4876800" y="2667000"/>
            <a:ext cx="838200" cy="61658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1" hangingPunct="1"/>
            <a:r>
              <a:rPr lang="en-US" altLang="zh-CN" sz="1600">
                <a:latin typeface="Times New Roman" panose="02020603050405020304" charset="0"/>
                <a:ea typeface="宋体" panose="02010600030101010101" pitchFamily="2" charset="-122"/>
              </a:rPr>
              <a:t>IE1</a:t>
            </a:r>
          </a:p>
        </p:txBody>
      </p:sp>
      <p:sp>
        <p:nvSpPr>
          <p:cNvPr id="48148" name="矩形 48147"/>
          <p:cNvSpPr/>
          <p:nvPr/>
        </p:nvSpPr>
        <p:spPr>
          <a:xfrm>
            <a:off x="5715000" y="2667000"/>
            <a:ext cx="838200" cy="61658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1" hangingPunct="1"/>
            <a:r>
              <a:rPr lang="en-US" altLang="zh-CN" sz="1600">
                <a:latin typeface="Times New Roman" panose="02020603050405020304" charset="0"/>
                <a:ea typeface="宋体" panose="02010600030101010101" pitchFamily="2" charset="-122"/>
              </a:rPr>
              <a:t>IT1</a:t>
            </a:r>
          </a:p>
        </p:txBody>
      </p:sp>
      <p:sp>
        <p:nvSpPr>
          <p:cNvPr id="48149" name="矩形 48148"/>
          <p:cNvSpPr/>
          <p:nvPr/>
        </p:nvSpPr>
        <p:spPr>
          <a:xfrm>
            <a:off x="6553200" y="2667000"/>
            <a:ext cx="838200" cy="61658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1" hangingPunct="1"/>
            <a:r>
              <a:rPr lang="en-US" altLang="zh-CN" sz="1600">
                <a:latin typeface="Times New Roman" panose="02020603050405020304" charset="0"/>
                <a:ea typeface="宋体" panose="02010600030101010101" pitchFamily="2" charset="-122"/>
              </a:rPr>
              <a:t>IE0</a:t>
            </a:r>
          </a:p>
        </p:txBody>
      </p:sp>
      <p:sp>
        <p:nvSpPr>
          <p:cNvPr id="48151" name="矩形 48150"/>
          <p:cNvSpPr/>
          <p:nvPr/>
        </p:nvSpPr>
        <p:spPr>
          <a:xfrm>
            <a:off x="7391400" y="2667000"/>
            <a:ext cx="838200" cy="61658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1" hangingPunct="1"/>
            <a:r>
              <a:rPr lang="en-US" altLang="zh-CN" sz="1600">
                <a:latin typeface="Times New Roman" panose="02020603050405020304" charset="0"/>
                <a:ea typeface="宋体" panose="02010600030101010101" pitchFamily="2" charset="-122"/>
              </a:rPr>
              <a:t>IT0</a:t>
            </a:r>
          </a:p>
        </p:txBody>
      </p:sp>
      <p:sp>
        <p:nvSpPr>
          <p:cNvPr id="48152" name="文本框 48151"/>
          <p:cNvSpPr txBox="1"/>
          <p:nvPr/>
        </p:nvSpPr>
        <p:spPr>
          <a:xfrm>
            <a:off x="457200" y="2743200"/>
            <a:ext cx="953135" cy="583565"/>
          </a:xfrm>
          <a:prstGeom prst="rect">
            <a:avLst/>
          </a:prstGeom>
          <a:noFill/>
          <a:ln w="9525">
            <a:noFill/>
          </a:ln>
        </p:spPr>
        <p:txBody>
          <a:bodyPr wrap="none" anchor="t">
            <a:spAutoFit/>
          </a:bodyPr>
          <a:lstStyle/>
          <a:p>
            <a:pPr eaLnBrk="1" hangingPunct="1"/>
            <a:r>
              <a:rPr lang="en-US" altLang="zh-CN" sz="1600">
                <a:solidFill>
                  <a:srgbClr val="6600CC"/>
                </a:solidFill>
                <a:latin typeface="Times New Roman" panose="02020603050405020304" charset="0"/>
                <a:ea typeface="宋体" panose="02010600030101010101" pitchFamily="2" charset="-122"/>
              </a:rPr>
              <a:t>  </a:t>
            </a:r>
            <a:r>
              <a:rPr lang="en-US" altLang="zh-CN" sz="1600" b="1">
                <a:solidFill>
                  <a:srgbClr val="6600CC"/>
                </a:solidFill>
                <a:latin typeface="Times New Roman" panose="02020603050405020304" charset="0"/>
                <a:ea typeface="宋体" panose="02010600030101010101" pitchFamily="2" charset="-122"/>
              </a:rPr>
              <a:t>TCON</a:t>
            </a:r>
          </a:p>
          <a:p>
            <a:pPr eaLnBrk="1" hangingPunct="1"/>
            <a:r>
              <a:rPr lang="zh-CN" altLang="en-US" sz="1600" b="1">
                <a:solidFill>
                  <a:srgbClr val="6600CC"/>
                </a:solidFill>
                <a:latin typeface="Times New Roman" panose="02020603050405020304" charset="0"/>
                <a:ea typeface="宋体" panose="02010600030101010101" pitchFamily="2" charset="-122"/>
              </a:rPr>
              <a:t>（</a:t>
            </a:r>
            <a:r>
              <a:rPr lang="en-US" altLang="zh-CN" sz="1600" b="1">
                <a:solidFill>
                  <a:srgbClr val="6600CC"/>
                </a:solidFill>
                <a:latin typeface="Times New Roman" panose="02020603050405020304" charset="0"/>
                <a:ea typeface="宋体" panose="02010600030101010101" pitchFamily="2" charset="-122"/>
              </a:rPr>
              <a:t>88H</a:t>
            </a:r>
            <a:r>
              <a:rPr lang="zh-CN" altLang="en-US" sz="1600" b="1">
                <a:solidFill>
                  <a:srgbClr val="6600CC"/>
                </a:solidFill>
                <a:latin typeface="Times New Roman" panose="02020603050405020304" charset="0"/>
                <a:ea typeface="宋体" panose="02010600030101010101" pitchFamily="2" charset="-122"/>
              </a:rPr>
              <a:t>）</a:t>
            </a:r>
          </a:p>
        </p:txBody>
      </p:sp>
      <p:sp>
        <p:nvSpPr>
          <p:cNvPr id="48153" name="文本框 48152"/>
          <p:cNvSpPr txBox="1"/>
          <p:nvPr/>
        </p:nvSpPr>
        <p:spPr>
          <a:xfrm>
            <a:off x="1828800" y="2133600"/>
            <a:ext cx="6193790" cy="337185"/>
          </a:xfrm>
          <a:prstGeom prst="rect">
            <a:avLst/>
          </a:prstGeom>
          <a:noFill/>
          <a:ln w="9525">
            <a:noFill/>
          </a:ln>
        </p:spPr>
        <p:txBody>
          <a:bodyPr wrap="none" anchor="t">
            <a:spAutoFit/>
          </a:bodyPr>
          <a:lstStyle/>
          <a:p>
            <a:pPr eaLnBrk="1" hangingPunct="1"/>
            <a:r>
              <a:rPr lang="en-US" altLang="zh-CN" sz="1600" b="1">
                <a:solidFill>
                  <a:srgbClr val="6600CC"/>
                </a:solidFill>
                <a:latin typeface="Times New Roman" panose="02020603050405020304" charset="0"/>
                <a:ea typeface="宋体" panose="02010600030101010101" pitchFamily="2" charset="-122"/>
              </a:rPr>
              <a:t>8FH       8EH        8DH        8CH       8BH         8AH          89H        88H</a:t>
            </a:r>
          </a:p>
        </p:txBody>
      </p:sp>
      <p:pic>
        <p:nvPicPr>
          <p:cNvPr id="3" name="图片 2"/>
          <p:cNvPicPr>
            <a:picLocks noChangeAspect="1"/>
          </p:cNvPicPr>
          <p:nvPr/>
        </p:nvPicPr>
        <p:blipFill>
          <a:blip r:embed="rId2"/>
          <a:stretch>
            <a:fillRect/>
          </a:stretch>
        </p:blipFill>
        <p:spPr>
          <a:xfrm>
            <a:off x="2174240" y="3481705"/>
            <a:ext cx="5012055" cy="3001010"/>
          </a:xfrm>
          <a:prstGeom prst="rect">
            <a:avLst/>
          </a:prstGeom>
        </p:spPr>
      </p:pic>
      <p:sp>
        <p:nvSpPr>
          <p:cNvPr id="4" name="灯片编号占位符 3"/>
          <p:cNvSpPr>
            <a:spLocks noGrp="1"/>
          </p:cNvSpPr>
          <p:nvPr>
            <p:ph type="sldNum" sz="quarter" idx="7"/>
          </p:nvPr>
        </p:nvSpPr>
        <p:spPr/>
        <p:txBody>
          <a:bodyPr/>
          <a:lstStyle/>
          <a:p>
            <a:pPr marL="25400">
              <a:lnSpc>
                <a:spcPct val="100000"/>
              </a:lnSpc>
              <a:spcBef>
                <a:spcPts val="185"/>
              </a:spcBef>
            </a:pPr>
            <a:fld id="{81D60167-4931-47E6-BA6A-407CBD079E47}" type="slidenum">
              <a:rPr spc="-5" dirty="0"/>
              <a:t>10</a:t>
            </a:fld>
            <a:endParaRPr spc="-5" dirty="0"/>
          </a:p>
        </p:txBody>
      </p:sp>
    </p:spTree>
  </p:cSld>
  <p:clrMapOvr>
    <a:masterClrMapping/>
  </p:clrMapOvr>
  <p:transition advClick="0">
    <p:cut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47105"/>
          <p:cNvSpPr>
            <a:spLocks noGrp="1"/>
          </p:cNvSpPr>
          <p:nvPr>
            <p:ph type="title"/>
          </p:nvPr>
        </p:nvSpPr>
        <p:spPr/>
        <p:txBody>
          <a:bodyPr lIns="46038" tIns="46038" rIns="46038" bIns="46038" anchor="b"/>
          <a:lstStyle/>
          <a:p>
            <a:r>
              <a:rPr lang="zh-CN" altLang="en-US" dirty="0"/>
              <a:t>一、中断请求标志</a:t>
            </a:r>
            <a:endParaRPr lang="zh-CN" altLang="en-US"/>
          </a:p>
        </p:txBody>
      </p:sp>
      <p:sp>
        <p:nvSpPr>
          <p:cNvPr id="47107" name="文本占位符 47106"/>
          <p:cNvSpPr>
            <a:spLocks noGrp="1"/>
          </p:cNvSpPr>
          <p:nvPr>
            <p:ph type="body" idx="1"/>
          </p:nvPr>
        </p:nvSpPr>
        <p:spPr>
          <a:xfrm>
            <a:off x="612140" y="1066165"/>
            <a:ext cx="8229600" cy="953135"/>
          </a:xfrm>
        </p:spPr>
        <p:txBody>
          <a:bodyPr wrap="square" lIns="92075" tIns="46038" rIns="92075" bIns="46038"/>
          <a:lstStyle/>
          <a:p>
            <a:pPr marL="386080" indent="-386080">
              <a:lnSpc>
                <a:spcPct val="140000"/>
              </a:lnSpc>
              <a:buNone/>
            </a:pPr>
            <a:r>
              <a:rPr lang="en-US" altLang="zh-CN" sz="2000" b="1" i="1" dirty="0">
                <a:solidFill>
                  <a:schemeClr val="hlink"/>
                </a:solidFill>
              </a:rPr>
              <a:t>1</a:t>
            </a:r>
            <a:r>
              <a:rPr lang="zh-CN" altLang="en-US" sz="2000" b="1" i="1" dirty="0">
                <a:solidFill>
                  <a:schemeClr val="hlink"/>
                </a:solidFill>
              </a:rPr>
              <a:t>、定时器控制寄存器</a:t>
            </a:r>
            <a:r>
              <a:rPr lang="en-US" altLang="zh-CN" sz="2000" b="1" i="1" dirty="0">
                <a:solidFill>
                  <a:schemeClr val="hlink"/>
                </a:solidFill>
              </a:rPr>
              <a:t>TCON</a:t>
            </a:r>
            <a:r>
              <a:rPr lang="zh-CN" altLang="en-US" sz="2000" b="1" i="1" dirty="0">
                <a:solidFill>
                  <a:schemeClr val="hlink"/>
                </a:solidFill>
              </a:rPr>
              <a:t>中的中断标志位</a:t>
            </a:r>
          </a:p>
          <a:p>
            <a:pPr marL="386080" indent="-386080">
              <a:lnSpc>
                <a:spcPct val="140000"/>
              </a:lnSpc>
              <a:buNone/>
            </a:pPr>
            <a:r>
              <a:rPr lang="en-US" altLang="zh-CN" sz="2000" b="1" i="1" dirty="0">
                <a:solidFill>
                  <a:srgbClr val="9900CC"/>
                </a:solidFill>
              </a:rPr>
              <a:t>2</a:t>
            </a:r>
            <a:r>
              <a:rPr lang="zh-CN" altLang="en-US" sz="2000" b="1" i="1" dirty="0">
                <a:solidFill>
                  <a:srgbClr val="9900CC"/>
                </a:solidFill>
              </a:rPr>
              <a:t>、串行口控制寄存器</a:t>
            </a:r>
            <a:r>
              <a:rPr lang="en-US" altLang="zh-CN" sz="2000" b="1" i="1" dirty="0">
                <a:solidFill>
                  <a:srgbClr val="9900CC"/>
                </a:solidFill>
              </a:rPr>
              <a:t>SCON</a:t>
            </a:r>
            <a:r>
              <a:rPr lang="zh-CN" altLang="en-US" sz="2000" b="1" i="1" dirty="0">
                <a:solidFill>
                  <a:srgbClr val="9900CC"/>
                </a:solidFill>
              </a:rPr>
              <a:t>中的中断标志位</a:t>
            </a:r>
          </a:p>
        </p:txBody>
      </p:sp>
      <p:pic>
        <p:nvPicPr>
          <p:cNvPr id="4" name="图片 3"/>
          <p:cNvPicPr>
            <a:picLocks noChangeAspect="1"/>
          </p:cNvPicPr>
          <p:nvPr/>
        </p:nvPicPr>
        <p:blipFill>
          <a:blip r:embed="rId2"/>
          <a:stretch>
            <a:fillRect/>
          </a:stretch>
        </p:blipFill>
        <p:spPr>
          <a:xfrm>
            <a:off x="1374775" y="2019300"/>
            <a:ext cx="6343650" cy="3022600"/>
          </a:xfrm>
          <a:prstGeom prst="rect">
            <a:avLst/>
          </a:prstGeom>
        </p:spPr>
      </p:pic>
      <p:sp>
        <p:nvSpPr>
          <p:cNvPr id="54275" name="文本占位符 54274"/>
          <p:cNvSpPr>
            <a:spLocks noGrp="1"/>
          </p:cNvSpPr>
          <p:nvPr/>
        </p:nvSpPr>
        <p:spPr>
          <a:xfrm>
            <a:off x="423545" y="4982210"/>
            <a:ext cx="3554730" cy="1383665"/>
          </a:xfrm>
          <a:prstGeom prst="rect">
            <a:avLst/>
          </a:prstGeom>
        </p:spPr>
        <p:txBody>
          <a:bodyPr wrap="square" lIns="92075" tIns="46038" rIns="92075" bIns="46038">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buNone/>
            </a:pPr>
            <a:r>
              <a:rPr lang="en-US" altLang="zh-CN" sz="1400" b="1" dirty="0">
                <a:gradFill>
                  <a:gsLst>
                    <a:gs pos="0">
                      <a:srgbClr val="7B32B2"/>
                    </a:gs>
                    <a:gs pos="100000">
                      <a:srgbClr val="401A5D"/>
                    </a:gs>
                  </a:gsLst>
                  <a:lin scaled="0"/>
                </a:gradFill>
              </a:rPr>
              <a:t>1</a:t>
            </a:r>
            <a:r>
              <a:rPr lang="zh-CN" altLang="en-US" sz="1400" b="1" dirty="0">
                <a:gradFill>
                  <a:gsLst>
                    <a:gs pos="0">
                      <a:srgbClr val="7B32B2"/>
                    </a:gs>
                    <a:gs pos="100000">
                      <a:srgbClr val="401A5D"/>
                    </a:gs>
                  </a:gsLst>
                  <a:lin scaled="0"/>
                </a:gradFill>
              </a:rPr>
              <a:t>、</a:t>
            </a:r>
            <a:r>
              <a:rPr lang="en-US" altLang="zh-CN" sz="1400" b="1" dirty="0">
                <a:gradFill>
                  <a:gsLst>
                    <a:gs pos="0">
                      <a:srgbClr val="7B32B2"/>
                    </a:gs>
                    <a:gs pos="100000">
                      <a:srgbClr val="401A5D"/>
                    </a:gs>
                  </a:gsLst>
                  <a:lin scaled="0"/>
                </a:gradFill>
              </a:rPr>
              <a:t>TI</a:t>
            </a:r>
            <a:r>
              <a:rPr lang="zh-CN" altLang="en-US" sz="1400" b="1" dirty="0">
                <a:gradFill>
                  <a:gsLst>
                    <a:gs pos="0">
                      <a:srgbClr val="7B32B2"/>
                    </a:gs>
                    <a:gs pos="100000">
                      <a:srgbClr val="401A5D"/>
                    </a:gs>
                  </a:gsLst>
                  <a:lin scaled="0"/>
                </a:gradFill>
              </a:rPr>
              <a:t>：串行口发送中断请求标志。</a:t>
            </a:r>
          </a:p>
          <a:p>
            <a:pPr>
              <a:buNone/>
            </a:pPr>
            <a:r>
              <a:rPr lang="zh-CN" altLang="en-US" sz="1400" b="1" dirty="0"/>
              <a:t>              </a:t>
            </a:r>
            <a:r>
              <a:rPr lang="en-US" altLang="zh-CN" sz="1400" b="1" dirty="0"/>
              <a:t>CPU</a:t>
            </a:r>
            <a:r>
              <a:rPr lang="zh-CN" altLang="en-US" sz="1400" b="1" dirty="0"/>
              <a:t>将一个数据写入发送缓冲器</a:t>
            </a:r>
            <a:r>
              <a:rPr lang="en-US" altLang="zh-CN" sz="1400" b="1" dirty="0"/>
              <a:t>SBUF</a:t>
            </a:r>
            <a:r>
              <a:rPr lang="zh-CN" altLang="en-US" sz="1400" b="1" dirty="0"/>
              <a:t>时，就启动发送。</a:t>
            </a:r>
            <a:r>
              <a:rPr lang="zh-CN" altLang="en-US" sz="1400" b="1" dirty="0">
                <a:solidFill>
                  <a:srgbClr val="FF3300"/>
                </a:solidFill>
              </a:rPr>
              <a:t>每发送完一帧串行数据后</a:t>
            </a:r>
            <a:r>
              <a:rPr lang="zh-CN" altLang="en-US" sz="1400" b="1" dirty="0"/>
              <a:t>，</a:t>
            </a:r>
            <a:r>
              <a:rPr lang="zh-CN" altLang="en-US" sz="1400" b="1" dirty="0">
                <a:solidFill>
                  <a:srgbClr val="FF3300"/>
                </a:solidFill>
              </a:rPr>
              <a:t>硬件置位</a:t>
            </a:r>
            <a:r>
              <a:rPr lang="en-US" altLang="zh-CN" sz="1400" b="1">
                <a:solidFill>
                  <a:srgbClr val="FF3300"/>
                </a:solidFill>
              </a:rPr>
              <a:t>TI</a:t>
            </a:r>
            <a:r>
              <a:rPr lang="zh-CN" altLang="en-US" sz="1400" b="1" dirty="0"/>
              <a:t>。但</a:t>
            </a:r>
            <a:r>
              <a:rPr lang="en-US" altLang="zh-CN" sz="1400" b="1" dirty="0"/>
              <a:t>CPU</a:t>
            </a:r>
            <a:r>
              <a:rPr lang="zh-CN" altLang="en-US" sz="1400" b="1" dirty="0"/>
              <a:t>响应中断时，并不清除</a:t>
            </a:r>
            <a:r>
              <a:rPr lang="en-US" altLang="zh-CN" sz="1400" b="1"/>
              <a:t>TI</a:t>
            </a:r>
            <a:r>
              <a:rPr lang="zh-CN" altLang="en-US" sz="1400" b="1"/>
              <a:t>，</a:t>
            </a:r>
            <a:r>
              <a:rPr lang="zh-CN" altLang="en-US" sz="1400" b="1" dirty="0">
                <a:solidFill>
                  <a:srgbClr val="FF3300"/>
                </a:solidFill>
              </a:rPr>
              <a:t>必须在中断服务程序中由软件对</a:t>
            </a:r>
            <a:r>
              <a:rPr lang="en-US" altLang="zh-CN" sz="1400" b="1">
                <a:solidFill>
                  <a:srgbClr val="FF3300"/>
                </a:solidFill>
              </a:rPr>
              <a:t>TI</a:t>
            </a:r>
            <a:r>
              <a:rPr lang="zh-CN" altLang="en-US" sz="1400" b="1">
                <a:solidFill>
                  <a:srgbClr val="FF3300"/>
                </a:solidFill>
              </a:rPr>
              <a:t>清</a:t>
            </a:r>
            <a:r>
              <a:rPr lang="en-US" altLang="zh-CN" sz="1400" b="1">
                <a:solidFill>
                  <a:srgbClr val="FF3300"/>
                </a:solidFill>
              </a:rPr>
              <a:t>0</a:t>
            </a:r>
            <a:r>
              <a:rPr lang="zh-CN" altLang="en-US" sz="1400" b="1" dirty="0"/>
              <a:t>。</a:t>
            </a:r>
          </a:p>
        </p:txBody>
      </p:sp>
      <p:sp>
        <p:nvSpPr>
          <p:cNvPr id="56323" name="文本占位符 56322"/>
          <p:cNvSpPr>
            <a:spLocks noGrp="1"/>
          </p:cNvSpPr>
          <p:nvPr/>
        </p:nvSpPr>
        <p:spPr>
          <a:xfrm>
            <a:off x="4211320" y="5142230"/>
            <a:ext cx="4201160" cy="1124585"/>
          </a:xfrm>
          <a:prstGeom prst="rect">
            <a:avLst/>
          </a:prstGeom>
        </p:spPr>
        <p:txBody>
          <a:bodyPr wrap="square" lIns="92075" tIns="46038" rIns="92075" bIns="46038">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438275" indent="-1438275">
              <a:lnSpc>
                <a:spcPct val="120000"/>
              </a:lnSpc>
              <a:buNone/>
            </a:pPr>
            <a:r>
              <a:rPr lang="en-US" altLang="zh-CN" sz="1400" b="1" dirty="0">
                <a:gradFill>
                  <a:gsLst>
                    <a:gs pos="0">
                      <a:srgbClr val="7B32B2"/>
                    </a:gs>
                    <a:gs pos="100000">
                      <a:srgbClr val="401A5D"/>
                    </a:gs>
                  </a:gsLst>
                  <a:lin scaled="0"/>
                </a:gradFill>
              </a:rPr>
              <a:t>2</a:t>
            </a:r>
            <a:r>
              <a:rPr lang="zh-CN" altLang="en-US" sz="1400" b="1" dirty="0">
                <a:gradFill>
                  <a:gsLst>
                    <a:gs pos="0">
                      <a:srgbClr val="7B32B2"/>
                    </a:gs>
                    <a:gs pos="100000">
                      <a:srgbClr val="401A5D"/>
                    </a:gs>
                  </a:gsLst>
                  <a:lin scaled="0"/>
                </a:gradFill>
              </a:rPr>
              <a:t>、</a:t>
            </a:r>
            <a:r>
              <a:rPr lang="en-US" altLang="zh-CN" sz="1400" b="1" dirty="0">
                <a:gradFill>
                  <a:gsLst>
                    <a:gs pos="0">
                      <a:srgbClr val="7B32B2"/>
                    </a:gs>
                    <a:gs pos="100000">
                      <a:srgbClr val="401A5D"/>
                    </a:gs>
                  </a:gsLst>
                  <a:lin scaled="0"/>
                </a:gradFill>
              </a:rPr>
              <a:t>RI</a:t>
            </a:r>
            <a:r>
              <a:rPr lang="zh-CN" altLang="en-US" sz="1400" b="1" dirty="0">
                <a:gradFill>
                  <a:gsLst>
                    <a:gs pos="0">
                      <a:srgbClr val="7B32B2"/>
                    </a:gs>
                    <a:gs pos="100000">
                      <a:srgbClr val="401A5D"/>
                    </a:gs>
                  </a:gsLst>
                  <a:lin scaled="0"/>
                </a:gradFill>
              </a:rPr>
              <a:t>：串行口接收中断请求标志。</a:t>
            </a:r>
          </a:p>
          <a:p>
            <a:pPr indent="0" eaLnBrk="1" fontAlgn="auto" latinLnBrk="0" hangingPunct="1">
              <a:lnSpc>
                <a:spcPct val="120000"/>
              </a:lnSpc>
              <a:buNone/>
            </a:pPr>
            <a:r>
              <a:rPr lang="zh-CN" altLang="en-US" sz="1400" b="1" dirty="0"/>
              <a:t>              在串行口允许接收时，</a:t>
            </a:r>
            <a:r>
              <a:rPr lang="zh-CN" altLang="en-US" sz="1400" b="1" dirty="0">
                <a:solidFill>
                  <a:srgbClr val="FF3300"/>
                </a:solidFill>
              </a:rPr>
              <a:t>每接收完一个串行帧</a:t>
            </a:r>
            <a:r>
              <a:rPr lang="zh-CN" altLang="en-US" sz="1400" b="1" dirty="0"/>
              <a:t>，</a:t>
            </a:r>
            <a:r>
              <a:rPr lang="zh-CN" altLang="en-US" sz="1400" b="1" dirty="0">
                <a:solidFill>
                  <a:srgbClr val="FF3300"/>
                </a:solidFill>
              </a:rPr>
              <a:t>硬件置位</a:t>
            </a:r>
            <a:r>
              <a:rPr lang="en-US" altLang="zh-CN" sz="1400" b="1">
                <a:solidFill>
                  <a:srgbClr val="FF3300"/>
                </a:solidFill>
              </a:rPr>
              <a:t>RI</a:t>
            </a:r>
            <a:r>
              <a:rPr lang="zh-CN" altLang="en-US" sz="1400" b="1" dirty="0"/>
              <a:t>。同样，</a:t>
            </a:r>
            <a:r>
              <a:rPr lang="en-US" altLang="zh-CN" sz="1400" b="1" dirty="0"/>
              <a:t>CPU</a:t>
            </a:r>
            <a:r>
              <a:rPr lang="zh-CN" altLang="en-US" sz="1400" b="1" dirty="0"/>
              <a:t>响应中断时不会清除</a:t>
            </a:r>
            <a:r>
              <a:rPr lang="en-US" altLang="zh-CN" sz="1400" b="1"/>
              <a:t>RI</a:t>
            </a:r>
            <a:r>
              <a:rPr lang="zh-CN" altLang="en-US" sz="1400" b="1"/>
              <a:t>，</a:t>
            </a:r>
            <a:r>
              <a:rPr lang="zh-CN" altLang="en-US" sz="1400" b="1" dirty="0">
                <a:solidFill>
                  <a:srgbClr val="FF3300"/>
                </a:solidFill>
              </a:rPr>
              <a:t>必须在中断服务程序中由软件对</a:t>
            </a:r>
            <a:r>
              <a:rPr lang="en-US" altLang="zh-CN" sz="1400" b="1">
                <a:solidFill>
                  <a:srgbClr val="FF3300"/>
                </a:solidFill>
              </a:rPr>
              <a:t>RI</a:t>
            </a:r>
            <a:r>
              <a:rPr lang="zh-CN" altLang="en-US" sz="1400" b="1">
                <a:solidFill>
                  <a:srgbClr val="FF3300"/>
                </a:solidFill>
              </a:rPr>
              <a:t>清</a:t>
            </a:r>
            <a:r>
              <a:rPr lang="en-US" altLang="zh-CN" sz="1400" b="1">
                <a:solidFill>
                  <a:srgbClr val="FF3300"/>
                </a:solidFill>
              </a:rPr>
              <a:t>0</a:t>
            </a:r>
            <a:r>
              <a:rPr lang="zh-CN" altLang="en-US" sz="1400" b="1" dirty="0"/>
              <a:t>。</a:t>
            </a:r>
          </a:p>
        </p:txBody>
      </p:sp>
      <p:sp>
        <p:nvSpPr>
          <p:cNvPr id="5" name="灯片编号占位符 4"/>
          <p:cNvSpPr>
            <a:spLocks noGrp="1"/>
          </p:cNvSpPr>
          <p:nvPr>
            <p:ph type="sldNum" sz="quarter" idx="7"/>
          </p:nvPr>
        </p:nvSpPr>
        <p:spPr/>
        <p:txBody>
          <a:bodyPr/>
          <a:lstStyle/>
          <a:p>
            <a:pPr marL="25400">
              <a:lnSpc>
                <a:spcPct val="100000"/>
              </a:lnSpc>
              <a:spcBef>
                <a:spcPts val="185"/>
              </a:spcBef>
            </a:pPr>
            <a:fld id="{81D60167-4931-47E6-BA6A-407CBD079E47}" type="slidenum">
              <a:rPr spc="-5" dirty="0"/>
              <a:t>11</a:t>
            </a:fld>
            <a:endParaRPr spc="-5" dirty="0"/>
          </a:p>
        </p:txBody>
      </p:sp>
    </p:spTree>
  </p:cSld>
  <p:clrMapOvr>
    <a:masterClrMapping/>
  </p:clrMapOvr>
  <p:transition advClick="0">
    <p:cut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标题 11266"/>
          <p:cNvSpPr>
            <a:spLocks noGrp="1"/>
          </p:cNvSpPr>
          <p:nvPr>
            <p:ph type="title"/>
          </p:nvPr>
        </p:nvSpPr>
        <p:spPr/>
        <p:txBody>
          <a:bodyPr lIns="46038" tIns="46038" rIns="46038" bIns="46038" anchor="b"/>
          <a:lstStyle/>
          <a:p>
            <a:r>
              <a:rPr lang="zh-CN" altLang="en-US" dirty="0"/>
              <a:t>二、中断允许控制</a:t>
            </a:r>
            <a:endParaRPr lang="zh-CN" altLang="en-US"/>
          </a:p>
        </p:txBody>
      </p:sp>
      <p:sp>
        <p:nvSpPr>
          <p:cNvPr id="11268" name="文本占位符 11267"/>
          <p:cNvSpPr>
            <a:spLocks noGrp="1"/>
          </p:cNvSpPr>
          <p:nvPr>
            <p:ph type="body" idx="1"/>
          </p:nvPr>
        </p:nvSpPr>
        <p:spPr>
          <a:xfrm>
            <a:off x="509905" y="1075055"/>
            <a:ext cx="8229600" cy="786130"/>
          </a:xfrm>
        </p:spPr>
        <p:txBody>
          <a:bodyPr wrap="square" lIns="92075" tIns="46038" rIns="92075" bIns="46038"/>
          <a:lstStyle/>
          <a:p>
            <a:pPr>
              <a:lnSpc>
                <a:spcPct val="130000"/>
              </a:lnSpc>
              <a:buNone/>
            </a:pPr>
            <a:r>
              <a:rPr lang="en-US" altLang="zh-CN" sz="2400" b="1" dirty="0">
                <a:solidFill>
                  <a:srgbClr val="FF9900"/>
                </a:solidFill>
              </a:rPr>
              <a:t>1</a:t>
            </a:r>
            <a:r>
              <a:rPr lang="zh-CN" altLang="en-US" sz="2400" b="1" dirty="0">
                <a:solidFill>
                  <a:srgbClr val="FF9900"/>
                </a:solidFill>
              </a:rPr>
              <a:t>、中断允许寄存器</a:t>
            </a:r>
            <a:r>
              <a:rPr lang="en-US" altLang="zh-CN" sz="2400" b="1" dirty="0">
                <a:solidFill>
                  <a:srgbClr val="FF9900"/>
                </a:solidFill>
              </a:rPr>
              <a:t>IE</a:t>
            </a:r>
            <a:r>
              <a:rPr lang="zh-CN" altLang="en-US" sz="2400" b="1" dirty="0">
                <a:solidFill>
                  <a:srgbClr val="FF9900"/>
                </a:solidFill>
              </a:rPr>
              <a:t>的格式。</a:t>
            </a:r>
            <a:endParaRPr lang="en-US" altLang="zh-CN" sz="1400"/>
          </a:p>
          <a:p>
            <a:endParaRPr lang="en-US" altLang="zh-CN" sz="1400"/>
          </a:p>
        </p:txBody>
      </p:sp>
      <p:pic>
        <p:nvPicPr>
          <p:cNvPr id="3" name="图片 2"/>
          <p:cNvPicPr>
            <a:picLocks noChangeAspect="1"/>
          </p:cNvPicPr>
          <p:nvPr/>
        </p:nvPicPr>
        <p:blipFill>
          <a:blip r:embed="rId2"/>
          <a:stretch>
            <a:fillRect/>
          </a:stretch>
        </p:blipFill>
        <p:spPr>
          <a:xfrm>
            <a:off x="4882515" y="2152650"/>
            <a:ext cx="3981450" cy="2552700"/>
          </a:xfrm>
          <a:prstGeom prst="rect">
            <a:avLst/>
          </a:prstGeom>
        </p:spPr>
      </p:pic>
      <p:sp>
        <p:nvSpPr>
          <p:cNvPr id="62467" name="文本占位符 62466"/>
          <p:cNvSpPr>
            <a:spLocks noGrp="1"/>
          </p:cNvSpPr>
          <p:nvPr/>
        </p:nvSpPr>
        <p:spPr>
          <a:xfrm>
            <a:off x="669290" y="1813560"/>
            <a:ext cx="4081780" cy="3784600"/>
          </a:xfrm>
          <a:prstGeom prst="rect">
            <a:avLst/>
          </a:prstGeom>
        </p:spPr>
        <p:txBody>
          <a:bodyPr wrap="square" lIns="92075" tIns="46038" rIns="92075" bIns="46038">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eaLnBrk="1" fontAlgn="auto" latinLnBrk="0" hangingPunct="1">
              <a:lnSpc>
                <a:spcPct val="150000"/>
              </a:lnSpc>
              <a:buNone/>
            </a:pPr>
            <a:r>
              <a:rPr lang="zh-CN" altLang="en-US" sz="1600" b="1" dirty="0">
                <a:solidFill>
                  <a:srgbClr val="0000FF"/>
                </a:solidFill>
              </a:rPr>
              <a:t>例</a:t>
            </a:r>
            <a:r>
              <a:rPr lang="en-US" altLang="zh-CN" sz="1600" b="1" dirty="0">
                <a:solidFill>
                  <a:srgbClr val="0000FF"/>
                </a:solidFill>
              </a:rPr>
              <a:t>5-1</a:t>
            </a:r>
            <a:r>
              <a:rPr lang="zh-CN" altLang="en-US" sz="1600" b="1" dirty="0">
                <a:solidFill>
                  <a:srgbClr val="0000FF"/>
                </a:solidFill>
              </a:rPr>
              <a:t>：</a:t>
            </a:r>
          </a:p>
          <a:p>
            <a:pPr marL="0" indent="0" eaLnBrk="1" fontAlgn="auto" latinLnBrk="0" hangingPunct="1">
              <a:lnSpc>
                <a:spcPct val="150000"/>
              </a:lnSpc>
              <a:buNone/>
            </a:pPr>
            <a:r>
              <a:rPr lang="zh-CN" altLang="en-US" sz="1600" b="1" dirty="0">
                <a:solidFill>
                  <a:srgbClr val="990000"/>
                </a:solidFill>
              </a:rPr>
              <a:t>假设允许片内定时器</a:t>
            </a:r>
            <a:r>
              <a:rPr lang="en-US" altLang="zh-CN" sz="1600" b="1" dirty="0">
                <a:solidFill>
                  <a:srgbClr val="990000"/>
                </a:solidFill>
              </a:rPr>
              <a:t>/</a:t>
            </a:r>
            <a:r>
              <a:rPr lang="zh-CN" altLang="en-US" sz="1600" b="1" dirty="0">
                <a:solidFill>
                  <a:srgbClr val="990000"/>
                </a:solidFill>
              </a:rPr>
              <a:t>计数器中断，禁止其他中断。试根据假设条件设置</a:t>
            </a:r>
            <a:r>
              <a:rPr lang="en-US" altLang="zh-CN" sz="1600" b="1" dirty="0">
                <a:solidFill>
                  <a:srgbClr val="990000"/>
                </a:solidFill>
              </a:rPr>
              <a:t>IE</a:t>
            </a:r>
            <a:r>
              <a:rPr lang="zh-CN" altLang="en-US" sz="1600" b="1" dirty="0">
                <a:solidFill>
                  <a:srgbClr val="990000"/>
                </a:solidFill>
              </a:rPr>
              <a:t>的相应值。</a:t>
            </a:r>
            <a:endParaRPr lang="zh-CN" altLang="en-US" sz="1600" dirty="0">
              <a:solidFill>
                <a:srgbClr val="990000"/>
              </a:solidFill>
            </a:endParaRPr>
          </a:p>
          <a:p>
            <a:pPr marL="0" indent="0" eaLnBrk="1" fontAlgn="auto" latinLnBrk="0" hangingPunct="1">
              <a:lnSpc>
                <a:spcPct val="150000"/>
              </a:lnSpc>
              <a:buNone/>
            </a:pPr>
            <a:r>
              <a:rPr lang="zh-CN" altLang="en-US" sz="1600" b="1" dirty="0">
                <a:solidFill>
                  <a:srgbClr val="FF3300"/>
                </a:solidFill>
              </a:rPr>
              <a:t>解</a:t>
            </a:r>
            <a:r>
              <a:rPr lang="zh-CN" altLang="en-US" sz="1600" b="1" dirty="0">
                <a:solidFill>
                  <a:schemeClr val="hlink"/>
                </a:solidFill>
              </a:rPr>
              <a:t>：（</a:t>
            </a:r>
            <a:r>
              <a:rPr lang="en-US" altLang="zh-CN" sz="1600" b="1">
                <a:solidFill>
                  <a:schemeClr val="hlink"/>
                </a:solidFill>
              </a:rPr>
              <a:t>IE</a:t>
            </a:r>
            <a:r>
              <a:rPr lang="zh-CN" altLang="en-US" sz="1600" b="1">
                <a:solidFill>
                  <a:schemeClr val="hlink"/>
                </a:solidFill>
              </a:rPr>
              <a:t>）</a:t>
            </a:r>
            <a:r>
              <a:rPr lang="en-US" altLang="zh-CN" sz="1600" b="1">
                <a:solidFill>
                  <a:schemeClr val="hlink"/>
                </a:solidFill>
              </a:rPr>
              <a:t>=10001010B=8AH</a:t>
            </a:r>
            <a:endParaRPr lang="en-US" altLang="zh-CN" sz="1600">
              <a:solidFill>
                <a:schemeClr val="hlink"/>
              </a:solidFill>
            </a:endParaRPr>
          </a:p>
          <a:p>
            <a:pPr marL="0" indent="0" eaLnBrk="1" fontAlgn="auto" latinLnBrk="0" hangingPunct="1">
              <a:lnSpc>
                <a:spcPct val="150000"/>
              </a:lnSpc>
              <a:buNone/>
            </a:pPr>
            <a:r>
              <a:rPr lang="zh-CN" altLang="en-US" sz="1600" b="1" i="1" dirty="0">
                <a:solidFill>
                  <a:srgbClr val="FF9900"/>
                </a:solidFill>
              </a:rPr>
              <a:t>（</a:t>
            </a:r>
            <a:r>
              <a:rPr lang="en-US" altLang="zh-CN" sz="1600" b="1" i="1" dirty="0">
                <a:solidFill>
                  <a:srgbClr val="FF9900"/>
                </a:solidFill>
              </a:rPr>
              <a:t>a</a:t>
            </a:r>
            <a:r>
              <a:rPr lang="zh-CN" altLang="en-US" sz="1600" b="1" i="1" dirty="0">
                <a:solidFill>
                  <a:srgbClr val="FF9900"/>
                </a:solidFill>
              </a:rPr>
              <a:t>）用字节操作指令</a:t>
            </a:r>
            <a:endParaRPr lang="zh-CN" altLang="en-US" sz="1600" dirty="0"/>
          </a:p>
          <a:p>
            <a:pPr marL="0" indent="0" eaLnBrk="1" fontAlgn="auto" latinLnBrk="0" hangingPunct="1">
              <a:lnSpc>
                <a:spcPct val="150000"/>
              </a:lnSpc>
              <a:buNone/>
            </a:pPr>
            <a:r>
              <a:rPr lang="en-US" altLang="zh-CN" sz="1600" b="1" dirty="0"/>
              <a:t>MOV     IE</a:t>
            </a:r>
            <a:r>
              <a:rPr lang="zh-CN" altLang="en-US" sz="1600" b="1" dirty="0"/>
              <a:t>，</a:t>
            </a:r>
            <a:r>
              <a:rPr lang="en-US" altLang="zh-CN" sz="1600" b="1" dirty="0"/>
              <a:t>#8AH</a:t>
            </a:r>
            <a:r>
              <a:rPr lang="zh-CN" altLang="en-US" sz="1600" b="1" dirty="0"/>
              <a:t>；或   </a:t>
            </a:r>
            <a:r>
              <a:rPr lang="en-US" altLang="zh-CN" sz="1600" b="1"/>
              <a:t>MOV     A8H</a:t>
            </a:r>
            <a:r>
              <a:rPr lang="zh-CN" altLang="en-US" sz="1600" b="1"/>
              <a:t>，</a:t>
            </a:r>
            <a:r>
              <a:rPr lang="en-US" altLang="zh-CN" sz="1600" b="1"/>
              <a:t>#8AH</a:t>
            </a:r>
            <a:r>
              <a:rPr lang="zh-CN" altLang="en-US" sz="1600" b="1"/>
              <a:t>；</a:t>
            </a:r>
            <a:endParaRPr lang="zh-CN" altLang="en-US" sz="1600"/>
          </a:p>
          <a:p>
            <a:pPr marL="0" indent="0" eaLnBrk="1" fontAlgn="auto" latinLnBrk="0" hangingPunct="1">
              <a:lnSpc>
                <a:spcPct val="150000"/>
              </a:lnSpc>
              <a:buNone/>
            </a:pPr>
            <a:r>
              <a:rPr lang="zh-CN" altLang="en-US" sz="1600" b="1" i="1" dirty="0">
                <a:solidFill>
                  <a:srgbClr val="FF9900"/>
                </a:solidFill>
              </a:rPr>
              <a:t>（</a:t>
            </a:r>
            <a:r>
              <a:rPr lang="en-US" altLang="zh-CN" sz="1600" b="1" i="1" dirty="0">
                <a:solidFill>
                  <a:srgbClr val="FF9900"/>
                </a:solidFill>
              </a:rPr>
              <a:t>b</a:t>
            </a:r>
            <a:r>
              <a:rPr lang="zh-CN" altLang="en-US" sz="1600" b="1" i="1" dirty="0">
                <a:solidFill>
                  <a:srgbClr val="FF9900"/>
                </a:solidFill>
              </a:rPr>
              <a:t>）用位操作指令</a:t>
            </a:r>
            <a:endParaRPr lang="zh-CN" altLang="en-US" sz="1600" dirty="0"/>
          </a:p>
          <a:p>
            <a:pPr marL="0" indent="0" eaLnBrk="1" fontAlgn="auto" latinLnBrk="0" hangingPunct="1">
              <a:lnSpc>
                <a:spcPct val="150000"/>
              </a:lnSpc>
              <a:buNone/>
            </a:pPr>
            <a:r>
              <a:rPr lang="en-US" altLang="zh-CN" sz="1600" b="1" dirty="0"/>
              <a:t>SETB     ET0</a:t>
            </a:r>
            <a:r>
              <a:rPr lang="zh-CN" altLang="en-US" sz="1600" b="1" dirty="0"/>
              <a:t>；定时器</a:t>
            </a:r>
            <a:r>
              <a:rPr lang="en-US" altLang="zh-CN" sz="1600" b="1" dirty="0"/>
              <a:t>/</a:t>
            </a:r>
            <a:r>
              <a:rPr lang="zh-CN" altLang="en-US" sz="1600" b="1" dirty="0"/>
              <a:t>计数器</a:t>
            </a:r>
            <a:r>
              <a:rPr lang="en-US" altLang="zh-CN" sz="1600" b="1" dirty="0"/>
              <a:t>0</a:t>
            </a:r>
            <a:r>
              <a:rPr lang="zh-CN" altLang="en-US" sz="1600" b="1" dirty="0"/>
              <a:t>允许中断</a:t>
            </a:r>
            <a:endParaRPr lang="zh-CN" altLang="en-US" sz="1600" b="1"/>
          </a:p>
          <a:p>
            <a:pPr marL="0" indent="0" eaLnBrk="1" fontAlgn="auto" latinLnBrk="0" hangingPunct="1">
              <a:lnSpc>
                <a:spcPct val="150000"/>
              </a:lnSpc>
              <a:buNone/>
            </a:pPr>
            <a:r>
              <a:rPr lang="en-US" altLang="zh-CN" sz="1600" b="1" dirty="0"/>
              <a:t>SETB     ET1</a:t>
            </a:r>
            <a:r>
              <a:rPr lang="zh-CN" altLang="en-US" sz="1600" b="1" dirty="0"/>
              <a:t>；定时器</a:t>
            </a:r>
            <a:r>
              <a:rPr lang="en-US" altLang="zh-CN" sz="1600" b="1" dirty="0"/>
              <a:t>/</a:t>
            </a:r>
            <a:r>
              <a:rPr lang="zh-CN" altLang="en-US" sz="1600" b="1" dirty="0"/>
              <a:t>计数器</a:t>
            </a:r>
            <a:r>
              <a:rPr lang="en-US" altLang="zh-CN" sz="1600" b="1" dirty="0"/>
              <a:t>1</a:t>
            </a:r>
            <a:r>
              <a:rPr lang="zh-CN" altLang="en-US" sz="1600" b="1" dirty="0"/>
              <a:t>允许中断</a:t>
            </a:r>
            <a:endParaRPr lang="zh-CN" altLang="en-US" sz="1600" b="1"/>
          </a:p>
          <a:p>
            <a:pPr marL="0" indent="0" eaLnBrk="1" fontAlgn="auto" latinLnBrk="0" hangingPunct="1">
              <a:lnSpc>
                <a:spcPct val="150000"/>
              </a:lnSpc>
              <a:buNone/>
            </a:pPr>
            <a:r>
              <a:rPr lang="en-US" altLang="zh-CN" sz="1600" b="1" dirty="0"/>
              <a:t>SETB     EA </a:t>
            </a:r>
            <a:r>
              <a:rPr lang="zh-CN" altLang="en-US" sz="1600" b="1" dirty="0"/>
              <a:t>；</a:t>
            </a:r>
            <a:r>
              <a:rPr lang="en-US" altLang="zh-CN" sz="1600" b="1" dirty="0"/>
              <a:t>CPU</a:t>
            </a:r>
            <a:r>
              <a:rPr lang="zh-CN" altLang="en-US" sz="1600" b="1" dirty="0"/>
              <a:t>开中断</a:t>
            </a:r>
          </a:p>
        </p:txBody>
      </p:sp>
      <p:sp>
        <p:nvSpPr>
          <p:cNvPr id="4" name="灯片编号占位符 3"/>
          <p:cNvSpPr>
            <a:spLocks noGrp="1"/>
          </p:cNvSpPr>
          <p:nvPr>
            <p:ph type="sldNum" sz="quarter" idx="7"/>
          </p:nvPr>
        </p:nvSpPr>
        <p:spPr/>
        <p:txBody>
          <a:bodyPr/>
          <a:lstStyle/>
          <a:p>
            <a:pPr marL="25400">
              <a:lnSpc>
                <a:spcPct val="100000"/>
              </a:lnSpc>
              <a:spcBef>
                <a:spcPts val="185"/>
              </a:spcBef>
            </a:pPr>
            <a:fld id="{81D60167-4931-47E6-BA6A-407CBD079E47}" type="slidenum">
              <a:rPr spc="-5" dirty="0"/>
              <a:t>12</a:t>
            </a:fld>
            <a:endParaRPr spc="-5" dirty="0"/>
          </a:p>
        </p:txBody>
      </p:sp>
    </p:spTree>
  </p:cSld>
  <p:clrMapOvr>
    <a:masterClrMapping/>
  </p:clrMapOvr>
  <p:transition advClick="0">
    <p:cut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1000"/>
                                  </p:stCondLst>
                                  <p:childTnLst>
                                    <p:set>
                                      <p:cBhvr>
                                        <p:cTn id="6" dur="1" fill="hold">
                                          <p:stCondLst>
                                            <p:cond delay="0"/>
                                          </p:stCondLst>
                                        </p:cTn>
                                        <p:tgtEl>
                                          <p:spTgt spid="11268"/>
                                        </p:tgtEl>
                                        <p:attrNameLst>
                                          <p:attrName>style.visibility</p:attrName>
                                        </p:attrNameLst>
                                      </p:cBhvr>
                                      <p:to>
                                        <p:strVal val="visible"/>
                                      </p:to>
                                    </p:set>
                                    <p:animEffect transition="in" filter="blinds(horizontal)">
                                      <p:cBhvr>
                                        <p:cTn id="7" dur="500"/>
                                        <p:tgtEl>
                                          <p:spTgt spid="11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60417"/>
          <p:cNvSpPr>
            <a:spLocks noGrp="1"/>
          </p:cNvSpPr>
          <p:nvPr>
            <p:ph type="title"/>
          </p:nvPr>
        </p:nvSpPr>
        <p:spPr/>
        <p:txBody>
          <a:bodyPr lIns="46038" tIns="46038" rIns="46038" bIns="46038" anchor="b"/>
          <a:lstStyle/>
          <a:p>
            <a:r>
              <a:rPr lang="zh-CN" altLang="en-US" dirty="0"/>
              <a:t>三、中断优先级控制</a:t>
            </a:r>
            <a:endParaRPr lang="zh-CN" altLang="en-US"/>
          </a:p>
        </p:txBody>
      </p:sp>
      <p:sp>
        <p:nvSpPr>
          <p:cNvPr id="69635" name="文本占位符 69634"/>
          <p:cNvSpPr>
            <a:spLocks noGrp="1"/>
          </p:cNvSpPr>
          <p:nvPr/>
        </p:nvSpPr>
        <p:spPr>
          <a:xfrm>
            <a:off x="496570" y="1292225"/>
            <a:ext cx="3983990" cy="2331085"/>
          </a:xfrm>
          <a:prstGeom prst="rect">
            <a:avLst/>
          </a:prstGeom>
        </p:spPr>
        <p:txBody>
          <a:bodyPr wrap="square" lIns="92075" tIns="46038" rIns="92075" bIns="46038">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30000"/>
              </a:lnSpc>
              <a:buClr>
                <a:schemeClr val="tx1"/>
              </a:buClr>
              <a:buFontTx/>
              <a:buChar char=""/>
            </a:pPr>
            <a:r>
              <a:rPr lang="en-US" altLang="zh-CN" sz="1600" b="1" dirty="0">
                <a:solidFill>
                  <a:srgbClr val="9900FF"/>
                </a:solidFill>
              </a:rPr>
              <a:t>89C51</a:t>
            </a:r>
            <a:r>
              <a:rPr lang="zh-CN" altLang="en-US" sz="1600" b="1" dirty="0">
                <a:solidFill>
                  <a:srgbClr val="9900FF"/>
                </a:solidFill>
              </a:rPr>
              <a:t>有两个中断优先级。</a:t>
            </a:r>
            <a:endParaRPr lang="zh-CN" altLang="en-US" sz="1600" b="1" dirty="0"/>
          </a:p>
          <a:p>
            <a:pPr>
              <a:lnSpc>
                <a:spcPct val="130000"/>
              </a:lnSpc>
              <a:buClr>
                <a:schemeClr val="tx1"/>
              </a:buClr>
              <a:buFontTx/>
              <a:buChar char=""/>
            </a:pPr>
            <a:r>
              <a:rPr lang="zh-CN" altLang="en-US" sz="1600" b="1" dirty="0">
                <a:solidFill>
                  <a:schemeClr val="hlink"/>
                </a:solidFill>
              </a:rPr>
              <a:t>每个中断请求源均可编程为高优先级中断或低优先级中断。</a:t>
            </a:r>
          </a:p>
          <a:p>
            <a:pPr>
              <a:lnSpc>
                <a:spcPct val="130000"/>
              </a:lnSpc>
              <a:buClr>
                <a:schemeClr val="tx1"/>
              </a:buClr>
              <a:buFontTx/>
              <a:buChar char=""/>
            </a:pPr>
            <a:r>
              <a:rPr lang="zh-CN" altLang="en-US" sz="1600" b="1" dirty="0">
                <a:solidFill>
                  <a:srgbClr val="996600"/>
                </a:solidFill>
              </a:rPr>
              <a:t>中断系统中有两个不可寻址的“优先级生效”触发器，分别指出</a:t>
            </a:r>
            <a:r>
              <a:rPr lang="en-US" altLang="zh-CN" sz="1600" b="1" dirty="0">
                <a:solidFill>
                  <a:srgbClr val="996600"/>
                </a:solidFill>
              </a:rPr>
              <a:t>CPU</a:t>
            </a:r>
            <a:r>
              <a:rPr lang="zh-CN" altLang="en-US" sz="1600" b="1" dirty="0">
                <a:solidFill>
                  <a:srgbClr val="996600"/>
                </a:solidFill>
              </a:rPr>
              <a:t>正在执行的高、低优先级的中断服务程序。当其为</a:t>
            </a:r>
            <a:r>
              <a:rPr lang="en-US" altLang="zh-CN" sz="1600" b="1" dirty="0">
                <a:solidFill>
                  <a:srgbClr val="996600"/>
                </a:solidFill>
              </a:rPr>
              <a:t>1</a:t>
            </a:r>
            <a:r>
              <a:rPr lang="zh-CN" altLang="en-US" sz="1600" b="1" dirty="0">
                <a:solidFill>
                  <a:srgbClr val="996600"/>
                </a:solidFill>
              </a:rPr>
              <a:t>时则分别屏蔽所有的中断请求。</a:t>
            </a:r>
          </a:p>
        </p:txBody>
      </p:sp>
      <p:sp>
        <p:nvSpPr>
          <p:cNvPr id="71683" name="文本占位符 71682"/>
          <p:cNvSpPr>
            <a:spLocks noGrp="1"/>
          </p:cNvSpPr>
          <p:nvPr>
            <p:ph type="body" idx="1"/>
          </p:nvPr>
        </p:nvSpPr>
        <p:spPr>
          <a:xfrm>
            <a:off x="525145" y="3957955"/>
            <a:ext cx="3956050" cy="1568450"/>
          </a:xfrm>
        </p:spPr>
        <p:txBody>
          <a:bodyPr wrap="square" lIns="92075" tIns="46038" rIns="92075" bIns="46038"/>
          <a:lstStyle/>
          <a:p>
            <a:pPr>
              <a:lnSpc>
                <a:spcPct val="150000"/>
              </a:lnSpc>
            </a:pPr>
            <a:r>
              <a:rPr lang="zh-CN" altLang="en-US" sz="1600" dirty="0">
                <a:solidFill>
                  <a:srgbClr val="0000FF"/>
                </a:solidFill>
                <a:sym typeface="+mn-ea"/>
              </a:rPr>
              <a:t>中断优先级排列顺序</a:t>
            </a:r>
            <a:endParaRPr lang="zh-CN" altLang="en-US" sz="1600" dirty="0">
              <a:solidFill>
                <a:srgbClr val="0000FF"/>
              </a:solidFill>
            </a:endParaRPr>
          </a:p>
          <a:p>
            <a:pPr>
              <a:lnSpc>
                <a:spcPct val="150000"/>
              </a:lnSpc>
            </a:pPr>
            <a:r>
              <a:rPr lang="zh-CN" altLang="en-US" sz="1600" b="1" dirty="0">
                <a:solidFill>
                  <a:srgbClr val="660066"/>
                </a:solidFill>
              </a:rPr>
              <a:t>当同时接收到几个同一优先级的中断请求时，响应哪个中断源则取决于内部硬件查询顺序。</a:t>
            </a:r>
            <a:endParaRPr lang="zh-CN" altLang="en-US" sz="2800" b="1" dirty="0"/>
          </a:p>
        </p:txBody>
      </p:sp>
      <p:sp>
        <p:nvSpPr>
          <p:cNvPr id="76803" name="文本占位符 76802"/>
          <p:cNvSpPr>
            <a:spLocks noGrp="1"/>
          </p:cNvSpPr>
          <p:nvPr/>
        </p:nvSpPr>
        <p:spPr>
          <a:xfrm>
            <a:off x="4481195" y="3957955"/>
            <a:ext cx="4133850" cy="2223135"/>
          </a:xfrm>
          <a:prstGeom prst="rect">
            <a:avLst/>
          </a:prstGeom>
        </p:spPr>
        <p:txBody>
          <a:bodyPr wrap="square" lIns="92075" tIns="46038" rIns="92075" bIns="46038">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10000"/>
              </a:lnSpc>
              <a:buNone/>
            </a:pPr>
            <a:r>
              <a:rPr lang="zh-CN" altLang="en-US" sz="1800" b="1" dirty="0"/>
              <a:t>中断源	             同级内的中断优先级</a:t>
            </a:r>
          </a:p>
          <a:p>
            <a:pPr>
              <a:lnSpc>
                <a:spcPct val="110000"/>
              </a:lnSpc>
              <a:buNone/>
            </a:pPr>
            <a:endParaRPr lang="zh-CN" altLang="en-US" sz="1800" b="1" dirty="0"/>
          </a:p>
          <a:p>
            <a:pPr>
              <a:lnSpc>
                <a:spcPct val="110000"/>
              </a:lnSpc>
              <a:buNone/>
            </a:pPr>
            <a:r>
              <a:rPr lang="zh-CN" altLang="en-US" sz="1800" b="1" dirty="0">
                <a:solidFill>
                  <a:srgbClr val="FF3399"/>
                </a:solidFill>
              </a:rPr>
              <a:t>外部中断</a:t>
            </a:r>
            <a:r>
              <a:rPr lang="en-US" altLang="zh-CN" sz="1800" b="1" dirty="0">
                <a:solidFill>
                  <a:srgbClr val="FF3399"/>
                </a:solidFill>
              </a:rPr>
              <a:t>0</a:t>
            </a:r>
            <a:r>
              <a:rPr lang="zh-CN" altLang="en-US" sz="1800" b="1" dirty="0">
                <a:solidFill>
                  <a:srgbClr val="FF3399"/>
                </a:solidFill>
              </a:rPr>
              <a:t>中断</a:t>
            </a:r>
            <a:r>
              <a:rPr lang="zh-CN" altLang="en-US" sz="1800" b="1" dirty="0"/>
              <a:t>                             </a:t>
            </a:r>
            <a:r>
              <a:rPr lang="zh-CN" altLang="en-US" sz="1800" b="1" dirty="0">
                <a:solidFill>
                  <a:srgbClr val="FF3399"/>
                </a:solidFill>
              </a:rPr>
              <a:t>高级</a:t>
            </a:r>
          </a:p>
          <a:p>
            <a:pPr>
              <a:lnSpc>
                <a:spcPct val="110000"/>
              </a:lnSpc>
              <a:buNone/>
            </a:pPr>
            <a:r>
              <a:rPr lang="zh-CN" altLang="en-US" sz="1800" b="1" dirty="0">
                <a:solidFill>
                  <a:srgbClr val="FF5050"/>
                </a:solidFill>
              </a:rPr>
              <a:t>定时器</a:t>
            </a:r>
            <a:r>
              <a:rPr lang="en-US" altLang="zh-CN" sz="1800" b="1" dirty="0">
                <a:solidFill>
                  <a:srgbClr val="FF5050"/>
                </a:solidFill>
              </a:rPr>
              <a:t>/</a:t>
            </a:r>
            <a:r>
              <a:rPr lang="zh-CN" altLang="en-US" sz="1800" b="1" dirty="0">
                <a:solidFill>
                  <a:srgbClr val="FF5050"/>
                </a:solidFill>
              </a:rPr>
              <a:t>计数器</a:t>
            </a:r>
            <a:r>
              <a:rPr lang="en-US" altLang="zh-CN" sz="1800" b="1" dirty="0">
                <a:solidFill>
                  <a:srgbClr val="FF5050"/>
                </a:solidFill>
              </a:rPr>
              <a:t>T0</a:t>
            </a:r>
            <a:r>
              <a:rPr lang="zh-CN" altLang="en-US" sz="1800" b="1" dirty="0">
                <a:solidFill>
                  <a:srgbClr val="FF5050"/>
                </a:solidFill>
              </a:rPr>
              <a:t>溢出中断</a:t>
            </a:r>
            <a:endParaRPr lang="zh-CN" altLang="en-US" sz="1800" b="1" dirty="0"/>
          </a:p>
          <a:p>
            <a:pPr>
              <a:lnSpc>
                <a:spcPct val="110000"/>
              </a:lnSpc>
              <a:buNone/>
            </a:pPr>
            <a:r>
              <a:rPr lang="zh-CN" altLang="en-US" sz="1800" b="1" dirty="0">
                <a:solidFill>
                  <a:srgbClr val="FF7C80"/>
                </a:solidFill>
              </a:rPr>
              <a:t>外部中断</a:t>
            </a:r>
            <a:r>
              <a:rPr lang="en-US" altLang="zh-CN" sz="1800" b="1">
                <a:solidFill>
                  <a:srgbClr val="FF7C80"/>
                </a:solidFill>
              </a:rPr>
              <a:t>1</a:t>
            </a:r>
            <a:endParaRPr lang="en-US" altLang="zh-CN" sz="1800" b="1"/>
          </a:p>
          <a:p>
            <a:pPr>
              <a:lnSpc>
                <a:spcPct val="110000"/>
              </a:lnSpc>
              <a:buNone/>
            </a:pPr>
            <a:r>
              <a:rPr lang="zh-CN" altLang="en-US" sz="1800" b="1" dirty="0">
                <a:solidFill>
                  <a:srgbClr val="FF66CC"/>
                </a:solidFill>
              </a:rPr>
              <a:t>定时器</a:t>
            </a:r>
            <a:r>
              <a:rPr lang="en-US" altLang="zh-CN" sz="1800" b="1" dirty="0">
                <a:solidFill>
                  <a:srgbClr val="FF66CC"/>
                </a:solidFill>
              </a:rPr>
              <a:t>/</a:t>
            </a:r>
            <a:r>
              <a:rPr lang="zh-CN" altLang="en-US" sz="1800" b="1" dirty="0">
                <a:solidFill>
                  <a:srgbClr val="FF66CC"/>
                </a:solidFill>
              </a:rPr>
              <a:t>计数器</a:t>
            </a:r>
            <a:r>
              <a:rPr lang="en-US" altLang="zh-CN" sz="1800" b="1" dirty="0">
                <a:solidFill>
                  <a:srgbClr val="FF66CC"/>
                </a:solidFill>
              </a:rPr>
              <a:t>T1</a:t>
            </a:r>
            <a:r>
              <a:rPr lang="zh-CN" altLang="en-US" sz="1800" b="1" dirty="0">
                <a:solidFill>
                  <a:srgbClr val="FF66CC"/>
                </a:solidFill>
              </a:rPr>
              <a:t>溢出中断</a:t>
            </a:r>
            <a:endParaRPr lang="zh-CN" altLang="en-US" sz="1800" b="1" dirty="0"/>
          </a:p>
          <a:p>
            <a:pPr>
              <a:lnSpc>
                <a:spcPct val="110000"/>
              </a:lnSpc>
              <a:buNone/>
            </a:pPr>
            <a:r>
              <a:rPr lang="zh-CN" altLang="en-US" sz="1800" b="1" dirty="0">
                <a:solidFill>
                  <a:srgbClr val="CC66FF"/>
                </a:solidFill>
              </a:rPr>
              <a:t>串行口中断 </a:t>
            </a:r>
            <a:r>
              <a:rPr lang="zh-CN" altLang="en-US" sz="1800" b="1" dirty="0">
                <a:solidFill>
                  <a:srgbClr val="00CC99"/>
                </a:solidFill>
              </a:rPr>
              <a:t>   </a:t>
            </a:r>
            <a:r>
              <a:rPr lang="zh-CN" altLang="en-US" sz="1800" b="1" dirty="0"/>
              <a:t>                              </a:t>
            </a:r>
            <a:r>
              <a:rPr lang="zh-CN" altLang="en-US" sz="1800" b="1" dirty="0">
                <a:solidFill>
                  <a:srgbClr val="CC66FF"/>
                </a:solidFill>
              </a:rPr>
              <a:t>低级</a:t>
            </a:r>
          </a:p>
        </p:txBody>
      </p:sp>
      <p:sp>
        <p:nvSpPr>
          <p:cNvPr id="78850" name="标题 78849"/>
          <p:cNvSpPr>
            <a:spLocks noGrp="1"/>
          </p:cNvSpPr>
          <p:nvPr/>
        </p:nvSpPr>
        <p:spPr>
          <a:xfrm>
            <a:off x="658495" y="3590290"/>
            <a:ext cx="2981960" cy="398780"/>
          </a:xfrm>
          <a:prstGeom prst="rect">
            <a:avLst/>
          </a:prstGeom>
        </p:spPr>
        <p:txBody>
          <a:bodyPr wrap="square" lIns="46038" tIns="46038" rIns="46038" bIns="46038" anchor="b">
            <a:spAutoFit/>
          </a:bodyPr>
          <a:lstStyle>
            <a:lvl1pPr>
              <a:defRPr sz="2400" b="1" i="0">
                <a:solidFill>
                  <a:srgbClr val="252525"/>
                </a:solidFill>
                <a:latin typeface="微软雅黑" panose="020B0503020204020204" charset="-122"/>
                <a:ea typeface="+mj-ea"/>
                <a:cs typeface="微软雅黑" panose="020B0503020204020204" charset="-122"/>
              </a:defRPr>
            </a:lvl1pPr>
          </a:lstStyle>
          <a:p>
            <a:r>
              <a:rPr lang="zh-CN" altLang="en-US" sz="2000" dirty="0"/>
              <a:t>（</a:t>
            </a:r>
            <a:r>
              <a:rPr lang="en-US" altLang="zh-CN" sz="2000" dirty="0"/>
              <a:t>2</a:t>
            </a:r>
            <a:r>
              <a:rPr lang="zh-CN" altLang="en-US" sz="2000" dirty="0"/>
              <a:t>）中断优先级</a:t>
            </a:r>
          </a:p>
        </p:txBody>
      </p:sp>
      <p:sp>
        <p:nvSpPr>
          <p:cNvPr id="4" name="标题 78849"/>
          <p:cNvSpPr>
            <a:spLocks noGrp="1"/>
          </p:cNvSpPr>
          <p:nvPr/>
        </p:nvSpPr>
        <p:spPr>
          <a:xfrm>
            <a:off x="658495" y="998220"/>
            <a:ext cx="3643630" cy="398780"/>
          </a:xfrm>
          <a:prstGeom prst="rect">
            <a:avLst/>
          </a:prstGeom>
        </p:spPr>
        <p:txBody>
          <a:bodyPr wrap="square" lIns="46038" tIns="46038" rIns="46038" bIns="46038" anchor="b">
            <a:spAutoFit/>
          </a:bodyPr>
          <a:lstStyle>
            <a:lvl1pPr>
              <a:defRPr sz="2400" b="1" i="0">
                <a:solidFill>
                  <a:srgbClr val="252525"/>
                </a:solidFill>
                <a:latin typeface="微软雅黑" panose="020B0503020204020204" charset="-122"/>
                <a:ea typeface="+mj-ea"/>
                <a:cs typeface="微软雅黑" panose="020B0503020204020204" charset="-122"/>
              </a:defRPr>
            </a:lvl1pPr>
          </a:lstStyle>
          <a:p>
            <a:r>
              <a:rPr lang="zh-CN" altLang="en-US" sz="2000" dirty="0"/>
              <a:t>（</a:t>
            </a:r>
            <a:r>
              <a:rPr lang="en-US" altLang="zh-CN" sz="2000" dirty="0"/>
              <a:t>1</a:t>
            </a:r>
            <a:r>
              <a:rPr lang="zh-CN" altLang="en-US" sz="2000" dirty="0"/>
              <a:t>）中断优先级控制器</a:t>
            </a:r>
          </a:p>
        </p:txBody>
      </p:sp>
      <p:sp>
        <p:nvSpPr>
          <p:cNvPr id="5" name="灯片编号占位符 4"/>
          <p:cNvSpPr>
            <a:spLocks noGrp="1"/>
          </p:cNvSpPr>
          <p:nvPr>
            <p:ph type="sldNum" sz="quarter" idx="7"/>
          </p:nvPr>
        </p:nvSpPr>
        <p:spPr/>
        <p:txBody>
          <a:bodyPr/>
          <a:lstStyle/>
          <a:p>
            <a:pPr marL="25400">
              <a:lnSpc>
                <a:spcPct val="100000"/>
              </a:lnSpc>
              <a:spcBef>
                <a:spcPts val="185"/>
              </a:spcBef>
            </a:pPr>
            <a:fld id="{81D60167-4931-47E6-BA6A-407CBD079E47}" type="slidenum">
              <a:rPr spc="-5" dirty="0"/>
              <a:t>13</a:t>
            </a:fld>
            <a:endParaRPr spc="-5" dirty="0"/>
          </a:p>
        </p:txBody>
      </p:sp>
      <p:grpSp>
        <p:nvGrpSpPr>
          <p:cNvPr id="6" name="组合 5"/>
          <p:cNvGrpSpPr/>
          <p:nvPr/>
        </p:nvGrpSpPr>
        <p:grpSpPr>
          <a:xfrm>
            <a:off x="4603750" y="1336040"/>
            <a:ext cx="4053205" cy="1423670"/>
            <a:chOff x="4603750" y="1336040"/>
            <a:chExt cx="4053205" cy="1423670"/>
          </a:xfrm>
        </p:grpSpPr>
        <p:pic>
          <p:nvPicPr>
            <p:cNvPr id="3" name="图片 2"/>
            <p:cNvPicPr>
              <a:picLocks noChangeAspect="1"/>
            </p:cNvPicPr>
            <p:nvPr/>
          </p:nvPicPr>
          <p:blipFill>
            <a:blip r:embed="rId2"/>
            <a:stretch>
              <a:fillRect/>
            </a:stretch>
          </p:blipFill>
          <p:spPr>
            <a:xfrm>
              <a:off x="4603750" y="1336040"/>
              <a:ext cx="4053205" cy="1423670"/>
            </a:xfrm>
            <a:prstGeom prst="rect">
              <a:avLst/>
            </a:prstGeom>
          </p:spPr>
        </p:pic>
        <p:pic>
          <p:nvPicPr>
            <p:cNvPr id="2" name="图片 1"/>
            <p:cNvPicPr>
              <a:picLocks noChangeAspect="1"/>
            </p:cNvPicPr>
            <p:nvPr/>
          </p:nvPicPr>
          <p:blipFill>
            <a:blip r:embed="rId3"/>
            <a:stretch>
              <a:fillRect/>
            </a:stretch>
          </p:blipFill>
          <p:spPr>
            <a:xfrm>
              <a:off x="5943600" y="1644600"/>
              <a:ext cx="379423" cy="118800"/>
            </a:xfrm>
            <a:prstGeom prst="rect">
              <a:avLst/>
            </a:prstGeom>
          </p:spPr>
        </p:pic>
        <p:pic>
          <p:nvPicPr>
            <p:cNvPr id="11" name="图片 10"/>
            <p:cNvPicPr>
              <a:picLocks noChangeAspect="1"/>
            </p:cNvPicPr>
            <p:nvPr/>
          </p:nvPicPr>
          <p:blipFill>
            <a:blip r:embed="rId3"/>
            <a:stretch>
              <a:fillRect/>
            </a:stretch>
          </p:blipFill>
          <p:spPr>
            <a:xfrm>
              <a:off x="5943600" y="1877603"/>
              <a:ext cx="432000" cy="678049"/>
            </a:xfrm>
            <a:prstGeom prst="rect">
              <a:avLst/>
            </a:prstGeom>
          </p:spPr>
        </p:pic>
      </p:grpSp>
    </p:spTree>
  </p:cSld>
  <p:clrMapOvr>
    <a:masterClrMapping/>
  </p:clrMapOvr>
  <p:transition advClick="0">
    <p:cut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78849"/>
          <p:cNvSpPr>
            <a:spLocks noGrp="1"/>
          </p:cNvSpPr>
          <p:nvPr>
            <p:ph type="title"/>
          </p:nvPr>
        </p:nvSpPr>
        <p:spPr>
          <a:xfrm>
            <a:off x="1087755" y="1061720"/>
            <a:ext cx="2981960" cy="460375"/>
          </a:xfrm>
        </p:spPr>
        <p:txBody>
          <a:bodyPr lIns="46038" tIns="46038" rIns="46038" bIns="46038" anchor="b"/>
          <a:lstStyle/>
          <a:p>
            <a:r>
              <a:rPr lang="zh-CN" altLang="en-US" dirty="0"/>
              <a:t>（</a:t>
            </a:r>
            <a:r>
              <a:rPr lang="en-US" altLang="zh-CN" dirty="0"/>
              <a:t>3</a:t>
            </a:r>
            <a:r>
              <a:rPr lang="zh-CN" altLang="en-US" dirty="0"/>
              <a:t>）实现中断嵌套</a:t>
            </a:r>
          </a:p>
        </p:txBody>
      </p:sp>
      <p:sp>
        <p:nvSpPr>
          <p:cNvPr id="78851" name="文本占位符 78850"/>
          <p:cNvSpPr>
            <a:spLocks noGrp="1"/>
          </p:cNvSpPr>
          <p:nvPr>
            <p:ph type="body" idx="1"/>
          </p:nvPr>
        </p:nvSpPr>
        <p:spPr>
          <a:xfrm>
            <a:off x="447675" y="1459548"/>
            <a:ext cx="8118475" cy="2360930"/>
          </a:xfrm>
        </p:spPr>
        <p:txBody>
          <a:bodyPr lIns="92075" tIns="46038" rIns="92075" bIns="46038"/>
          <a:lstStyle/>
          <a:p>
            <a:pPr marL="668655" indent="-668655">
              <a:lnSpc>
                <a:spcPct val="120000"/>
              </a:lnSpc>
              <a:buFont typeface="Webdings" panose="05030102010509060703" pitchFamily="18" charset="2"/>
              <a:buChar char="n"/>
            </a:pPr>
            <a:r>
              <a:rPr lang="zh-CN" altLang="en-US" sz="1800" b="1" dirty="0">
                <a:solidFill>
                  <a:schemeClr val="hlink"/>
                </a:solidFill>
              </a:rPr>
              <a:t>当</a:t>
            </a:r>
            <a:r>
              <a:rPr lang="en-US" altLang="zh-CN" sz="1800" b="1" dirty="0">
                <a:solidFill>
                  <a:schemeClr val="hlink"/>
                </a:solidFill>
              </a:rPr>
              <a:t>CPU</a:t>
            </a:r>
            <a:r>
              <a:rPr lang="zh-CN" altLang="en-US" sz="1800" b="1" dirty="0">
                <a:solidFill>
                  <a:schemeClr val="hlink"/>
                </a:solidFill>
              </a:rPr>
              <a:t>正在处理一个中断请求时，又出现了另一个优先级比它高的中断请求，这时，</a:t>
            </a:r>
            <a:r>
              <a:rPr lang="en-US" altLang="zh-CN" sz="1800" b="1" dirty="0">
                <a:solidFill>
                  <a:schemeClr val="hlink"/>
                </a:solidFill>
              </a:rPr>
              <a:t>CPU</a:t>
            </a:r>
            <a:r>
              <a:rPr lang="zh-CN" altLang="en-US" sz="1800" b="1" dirty="0">
                <a:solidFill>
                  <a:schemeClr val="hlink"/>
                </a:solidFill>
              </a:rPr>
              <a:t>就暂时中止执行对原来优先级较低的中断源的服务程序，保护当前断点，转去响应优先级更高的中断请求，并为它服务。待服务结束，再继续执行原来较低级的中断服务程序。该过程称为中断嵌套。该中断系统称为多级中断系统。</a:t>
            </a:r>
            <a:endParaRPr lang="zh-CN" altLang="en-US" sz="1800" b="1" dirty="0"/>
          </a:p>
          <a:p>
            <a:pPr marL="668655" indent="-668655">
              <a:lnSpc>
                <a:spcPct val="120000"/>
              </a:lnSpc>
              <a:buFont typeface="Webdings" panose="05030102010509060703" pitchFamily="18" charset="2"/>
              <a:buChar char="n"/>
            </a:pPr>
            <a:r>
              <a:rPr lang="zh-CN" altLang="en-US" sz="1800" b="1" dirty="0"/>
              <a:t>二级中断嵌套的中断过程</a:t>
            </a:r>
          </a:p>
          <a:p>
            <a:pPr marL="668655" indent="-668655">
              <a:buChar char="•"/>
            </a:pPr>
            <a:endParaRPr lang="zh-CN" altLang="en-US" sz="1800" dirty="0"/>
          </a:p>
        </p:txBody>
      </p:sp>
      <p:sp>
        <p:nvSpPr>
          <p:cNvPr id="60418" name="标题 60417"/>
          <p:cNvSpPr>
            <a:spLocks noGrp="1"/>
          </p:cNvSpPr>
          <p:nvPr/>
        </p:nvSpPr>
        <p:spPr>
          <a:xfrm>
            <a:off x="1479550" y="360045"/>
            <a:ext cx="2981960" cy="365760"/>
          </a:xfrm>
          <a:prstGeom prst="rect">
            <a:avLst/>
          </a:prstGeom>
        </p:spPr>
        <p:txBody>
          <a:bodyPr wrap="square" lIns="46038" tIns="46038" rIns="46038" bIns="46038" anchor="b">
            <a:spAutoFit/>
          </a:bodyPr>
          <a:lstStyle>
            <a:lvl1pPr>
              <a:defRPr sz="2400" b="1" i="0">
                <a:solidFill>
                  <a:srgbClr val="252525"/>
                </a:solidFill>
                <a:latin typeface="微软雅黑" panose="020B0503020204020204" charset="-122"/>
                <a:ea typeface="+mj-ea"/>
                <a:cs typeface="微软雅黑" panose="020B0503020204020204" charset="-122"/>
              </a:defRPr>
            </a:lvl1pPr>
          </a:lstStyle>
          <a:p>
            <a:r>
              <a:rPr lang="zh-CN" altLang="en-US" dirty="0"/>
              <a:t>三、中断优先级控制</a:t>
            </a:r>
            <a:endParaRPr lang="zh-CN" altLang="en-US"/>
          </a:p>
        </p:txBody>
      </p:sp>
      <p:sp>
        <p:nvSpPr>
          <p:cNvPr id="79879" name="文本框 79878"/>
          <p:cNvSpPr txBox="1"/>
          <p:nvPr/>
        </p:nvSpPr>
        <p:spPr>
          <a:xfrm>
            <a:off x="2527142" y="6160771"/>
            <a:ext cx="1826895" cy="337185"/>
          </a:xfrm>
          <a:prstGeom prst="rect">
            <a:avLst/>
          </a:prstGeom>
          <a:solidFill>
            <a:srgbClr val="FFFF66"/>
          </a:solidFill>
          <a:ln w="38100">
            <a:noFill/>
          </a:ln>
        </p:spPr>
        <p:txBody>
          <a:bodyPr wrap="none" anchor="ctr">
            <a:spAutoFit/>
          </a:bodyPr>
          <a:lstStyle/>
          <a:p>
            <a:pPr algn="ctr" eaLnBrk="1" hangingPunct="1"/>
            <a:r>
              <a:rPr lang="en-US" altLang="zh-CN" sz="1600" b="1" dirty="0">
                <a:solidFill>
                  <a:srgbClr val="9900FF"/>
                </a:solidFill>
                <a:latin typeface="Times New Roman" panose="02020603050405020304" charset="0"/>
                <a:ea typeface="宋体" panose="02010600030101010101" pitchFamily="2" charset="-122"/>
              </a:rPr>
              <a:t>CPU</a:t>
            </a:r>
            <a:r>
              <a:rPr lang="zh-CN" altLang="en-US" sz="1600" b="1" dirty="0">
                <a:solidFill>
                  <a:srgbClr val="9900FF"/>
                </a:solidFill>
                <a:latin typeface="Times New Roman" panose="02020603050405020304" charset="0"/>
                <a:ea typeface="宋体" panose="02010600030101010101" pitchFamily="2" charset="-122"/>
              </a:rPr>
              <a:t>在执行主程序</a:t>
            </a:r>
          </a:p>
        </p:txBody>
      </p:sp>
      <p:sp>
        <p:nvSpPr>
          <p:cNvPr id="79880" name="直接连接符 79879"/>
          <p:cNvSpPr/>
          <p:nvPr/>
        </p:nvSpPr>
        <p:spPr>
          <a:xfrm flipH="1">
            <a:off x="3596640" y="4059555"/>
            <a:ext cx="15875" cy="705485"/>
          </a:xfrm>
          <a:prstGeom prst="line">
            <a:avLst/>
          </a:prstGeom>
          <a:ln w="38100" cap="flat" cmpd="sng">
            <a:solidFill>
              <a:schemeClr val="tx1"/>
            </a:solidFill>
            <a:prstDash val="solid"/>
            <a:headEnd type="none" w="med" len="med"/>
            <a:tailEnd type="triangle" w="med" len="med"/>
          </a:ln>
        </p:spPr>
      </p:sp>
      <p:sp>
        <p:nvSpPr>
          <p:cNvPr id="79881" name="文本框 79880"/>
          <p:cNvSpPr txBox="1"/>
          <p:nvPr/>
        </p:nvSpPr>
        <p:spPr>
          <a:xfrm>
            <a:off x="2234248" y="4462781"/>
            <a:ext cx="796290" cy="583565"/>
          </a:xfrm>
          <a:prstGeom prst="rect">
            <a:avLst/>
          </a:prstGeom>
          <a:noFill/>
          <a:ln w="38100">
            <a:noFill/>
          </a:ln>
        </p:spPr>
        <p:txBody>
          <a:bodyPr wrap="none" anchor="ctr">
            <a:spAutoFit/>
          </a:bodyPr>
          <a:lstStyle/>
          <a:p>
            <a:pPr algn="ctr" eaLnBrk="1" hangingPunct="1"/>
            <a:r>
              <a:rPr lang="zh-CN" altLang="en-US" sz="1600" b="1" dirty="0">
                <a:solidFill>
                  <a:srgbClr val="FF0000"/>
                </a:solidFill>
                <a:latin typeface="Times New Roman" panose="02020603050405020304" charset="0"/>
                <a:ea typeface="宋体" panose="02010600030101010101" pitchFamily="2" charset="-122"/>
              </a:rPr>
              <a:t>低级中</a:t>
            </a:r>
            <a:endParaRPr lang="zh-CN" altLang="en-US" sz="1200" b="1" dirty="0">
              <a:solidFill>
                <a:srgbClr val="FF0000"/>
              </a:solidFill>
              <a:latin typeface="Times New Roman" panose="02020603050405020304" charset="0"/>
              <a:ea typeface="宋体" panose="02010600030101010101" pitchFamily="2" charset="-122"/>
            </a:endParaRPr>
          </a:p>
          <a:p>
            <a:pPr algn="ctr" eaLnBrk="1" hangingPunct="1"/>
            <a:r>
              <a:rPr lang="zh-CN" altLang="en-US" sz="1600" b="1" dirty="0">
                <a:solidFill>
                  <a:srgbClr val="FF0000"/>
                </a:solidFill>
                <a:latin typeface="Times New Roman" panose="02020603050405020304" charset="0"/>
                <a:ea typeface="宋体" panose="02010600030101010101" pitchFamily="2" charset="-122"/>
              </a:rPr>
              <a:t>断请求</a:t>
            </a:r>
          </a:p>
        </p:txBody>
      </p:sp>
      <p:sp>
        <p:nvSpPr>
          <p:cNvPr id="79882" name="直接连接符 79881"/>
          <p:cNvSpPr/>
          <p:nvPr/>
        </p:nvSpPr>
        <p:spPr>
          <a:xfrm>
            <a:off x="3123883" y="4724400"/>
            <a:ext cx="414337" cy="0"/>
          </a:xfrm>
          <a:prstGeom prst="line">
            <a:avLst/>
          </a:prstGeom>
          <a:ln w="38100" cap="flat" cmpd="sng">
            <a:solidFill>
              <a:schemeClr val="tx1"/>
            </a:solidFill>
            <a:prstDash val="solid"/>
            <a:headEnd type="none" w="med" len="med"/>
            <a:tailEnd type="none" w="med" len="med"/>
          </a:ln>
        </p:spPr>
      </p:sp>
      <p:sp>
        <p:nvSpPr>
          <p:cNvPr id="79883" name="直接连接符 79882"/>
          <p:cNvSpPr/>
          <p:nvPr/>
        </p:nvSpPr>
        <p:spPr>
          <a:xfrm flipV="1">
            <a:off x="3596640" y="3723640"/>
            <a:ext cx="2117725" cy="1016635"/>
          </a:xfrm>
          <a:prstGeom prst="line">
            <a:avLst/>
          </a:prstGeom>
          <a:ln w="38100" cap="flat" cmpd="sng">
            <a:solidFill>
              <a:schemeClr val="tx1"/>
            </a:solidFill>
            <a:prstDash val="solid"/>
            <a:headEnd type="none" w="med" len="med"/>
            <a:tailEnd type="triangle" w="med" len="med"/>
          </a:ln>
        </p:spPr>
      </p:sp>
      <p:sp>
        <p:nvSpPr>
          <p:cNvPr id="79884" name="文本框 79883"/>
          <p:cNvSpPr txBox="1"/>
          <p:nvPr/>
        </p:nvSpPr>
        <p:spPr>
          <a:xfrm rot="19980000">
            <a:off x="3662680" y="3830638"/>
            <a:ext cx="1818640" cy="337185"/>
          </a:xfrm>
          <a:prstGeom prst="rect">
            <a:avLst/>
          </a:prstGeom>
          <a:noFill/>
          <a:ln w="38100">
            <a:noFill/>
          </a:ln>
        </p:spPr>
        <p:txBody>
          <a:bodyPr wrap="none" anchor="ctr">
            <a:spAutoFit/>
          </a:bodyPr>
          <a:lstStyle/>
          <a:p>
            <a:pPr algn="ctr" eaLnBrk="1" hangingPunct="1"/>
            <a:r>
              <a:rPr lang="zh-CN" altLang="en-US" sz="1600" b="1" dirty="0">
                <a:solidFill>
                  <a:srgbClr val="FF6600"/>
                </a:solidFill>
                <a:latin typeface="Times New Roman" panose="02020603050405020304" charset="0"/>
                <a:ea typeface="宋体" panose="02010600030101010101" pitchFamily="2" charset="-122"/>
              </a:rPr>
              <a:t>响应低级中断请求</a:t>
            </a:r>
          </a:p>
        </p:txBody>
      </p:sp>
      <p:sp>
        <p:nvSpPr>
          <p:cNvPr id="79885" name="文本框 79884"/>
          <p:cNvSpPr txBox="1"/>
          <p:nvPr/>
        </p:nvSpPr>
        <p:spPr>
          <a:xfrm>
            <a:off x="5132546" y="6289041"/>
            <a:ext cx="1417955" cy="583565"/>
          </a:xfrm>
          <a:prstGeom prst="rect">
            <a:avLst/>
          </a:prstGeom>
          <a:solidFill>
            <a:srgbClr val="FFFF66"/>
          </a:solidFill>
          <a:ln w="38100">
            <a:noFill/>
          </a:ln>
        </p:spPr>
        <p:txBody>
          <a:bodyPr wrap="none" anchor="ctr">
            <a:spAutoFit/>
          </a:bodyPr>
          <a:lstStyle/>
          <a:p>
            <a:pPr algn="ctr" eaLnBrk="1" hangingPunct="1"/>
            <a:r>
              <a:rPr lang="zh-CN" altLang="zh-CN" sz="1600" b="1" dirty="0">
                <a:solidFill>
                  <a:srgbClr val="9900FF"/>
                </a:solidFill>
                <a:latin typeface="Times New Roman" panose="02020603050405020304" charset="0"/>
                <a:ea typeface="宋体" panose="02010600030101010101" pitchFamily="2" charset="-122"/>
              </a:rPr>
              <a:t>CPU执行低级</a:t>
            </a:r>
          </a:p>
          <a:p>
            <a:pPr algn="ctr" eaLnBrk="1" hangingPunct="1"/>
            <a:r>
              <a:rPr lang="zh-CN" altLang="zh-CN" sz="1600" b="1" dirty="0">
                <a:solidFill>
                  <a:srgbClr val="9900FF"/>
                </a:solidFill>
                <a:latin typeface="Times New Roman" panose="02020603050405020304" charset="0"/>
                <a:ea typeface="宋体" panose="02010600030101010101" pitchFamily="2" charset="-122"/>
              </a:rPr>
              <a:t>中断服务程序</a:t>
            </a:r>
          </a:p>
        </p:txBody>
      </p:sp>
      <p:sp>
        <p:nvSpPr>
          <p:cNvPr id="79886" name="直接连接符 79885"/>
          <p:cNvSpPr/>
          <p:nvPr/>
        </p:nvSpPr>
        <p:spPr>
          <a:xfrm>
            <a:off x="5713730" y="3723640"/>
            <a:ext cx="635" cy="1080135"/>
          </a:xfrm>
          <a:prstGeom prst="line">
            <a:avLst/>
          </a:prstGeom>
          <a:ln w="38100" cap="flat" cmpd="sng">
            <a:solidFill>
              <a:schemeClr val="tx1"/>
            </a:solidFill>
            <a:prstDash val="solid"/>
            <a:headEnd type="none" w="med" len="med"/>
            <a:tailEnd type="triangle" w="med" len="med"/>
          </a:ln>
        </p:spPr>
      </p:sp>
      <p:sp>
        <p:nvSpPr>
          <p:cNvPr id="79887" name="文本框 79886"/>
          <p:cNvSpPr txBox="1"/>
          <p:nvPr/>
        </p:nvSpPr>
        <p:spPr>
          <a:xfrm>
            <a:off x="4253866" y="4561841"/>
            <a:ext cx="796290" cy="583565"/>
          </a:xfrm>
          <a:prstGeom prst="rect">
            <a:avLst/>
          </a:prstGeom>
          <a:noFill/>
          <a:ln w="38100">
            <a:noFill/>
          </a:ln>
        </p:spPr>
        <p:txBody>
          <a:bodyPr wrap="none" anchor="ctr">
            <a:spAutoFit/>
          </a:bodyPr>
          <a:lstStyle/>
          <a:p>
            <a:pPr algn="ctr" eaLnBrk="1" hangingPunct="1"/>
            <a:r>
              <a:rPr lang="zh-CN" altLang="en-US" sz="1600" b="1" dirty="0">
                <a:solidFill>
                  <a:srgbClr val="FF0000"/>
                </a:solidFill>
                <a:latin typeface="Times New Roman" panose="02020603050405020304" charset="0"/>
                <a:ea typeface="宋体" panose="02010600030101010101" pitchFamily="2" charset="-122"/>
              </a:rPr>
              <a:t>高级中</a:t>
            </a:r>
            <a:endParaRPr lang="zh-CN" altLang="en-US" sz="1200" b="1" dirty="0">
              <a:solidFill>
                <a:srgbClr val="FF0000"/>
              </a:solidFill>
              <a:latin typeface="Times New Roman" panose="02020603050405020304" charset="0"/>
              <a:ea typeface="宋体" panose="02010600030101010101" pitchFamily="2" charset="-122"/>
            </a:endParaRPr>
          </a:p>
          <a:p>
            <a:pPr algn="ctr" eaLnBrk="1" hangingPunct="1"/>
            <a:r>
              <a:rPr lang="zh-CN" altLang="en-US" sz="1600" b="1" dirty="0">
                <a:solidFill>
                  <a:srgbClr val="FF0000"/>
                </a:solidFill>
                <a:latin typeface="Times New Roman" panose="02020603050405020304" charset="0"/>
                <a:ea typeface="宋体" panose="02010600030101010101" pitchFamily="2" charset="-122"/>
              </a:rPr>
              <a:t>断请求</a:t>
            </a:r>
          </a:p>
        </p:txBody>
      </p:sp>
      <p:sp>
        <p:nvSpPr>
          <p:cNvPr id="79888" name="直接连接符 79887"/>
          <p:cNvSpPr/>
          <p:nvPr/>
        </p:nvSpPr>
        <p:spPr>
          <a:xfrm>
            <a:off x="5299075" y="4765040"/>
            <a:ext cx="414338" cy="0"/>
          </a:xfrm>
          <a:prstGeom prst="line">
            <a:avLst/>
          </a:prstGeom>
          <a:ln w="38100" cap="flat" cmpd="sng">
            <a:solidFill>
              <a:schemeClr val="tx1"/>
            </a:solidFill>
            <a:prstDash val="solid"/>
            <a:headEnd type="none" w="med" len="med"/>
            <a:tailEnd type="none" w="med" len="med"/>
          </a:ln>
        </p:spPr>
      </p:sp>
      <p:sp>
        <p:nvSpPr>
          <p:cNvPr id="79889" name="直接连接符 79888"/>
          <p:cNvSpPr/>
          <p:nvPr/>
        </p:nvSpPr>
        <p:spPr>
          <a:xfrm flipV="1">
            <a:off x="5713730" y="4018915"/>
            <a:ext cx="1236980" cy="746125"/>
          </a:xfrm>
          <a:prstGeom prst="line">
            <a:avLst/>
          </a:prstGeom>
          <a:ln w="38100" cap="flat" cmpd="sng">
            <a:solidFill>
              <a:schemeClr val="tx1"/>
            </a:solidFill>
            <a:prstDash val="solid"/>
            <a:headEnd type="none" w="med" len="med"/>
            <a:tailEnd type="triangle" w="med" len="med"/>
          </a:ln>
        </p:spPr>
      </p:sp>
      <p:sp>
        <p:nvSpPr>
          <p:cNvPr id="79890" name="文本框 79889"/>
          <p:cNvSpPr txBox="1"/>
          <p:nvPr/>
        </p:nvSpPr>
        <p:spPr>
          <a:xfrm rot="19740000">
            <a:off x="5605145" y="3780473"/>
            <a:ext cx="1818640" cy="337185"/>
          </a:xfrm>
          <a:prstGeom prst="rect">
            <a:avLst/>
          </a:prstGeom>
          <a:noFill/>
          <a:ln w="38100">
            <a:noFill/>
          </a:ln>
        </p:spPr>
        <p:txBody>
          <a:bodyPr wrap="none" anchor="ctr">
            <a:spAutoFit/>
          </a:bodyPr>
          <a:lstStyle/>
          <a:p>
            <a:pPr algn="ctr" eaLnBrk="1" hangingPunct="1"/>
            <a:r>
              <a:rPr lang="zh-CN" altLang="en-US" sz="1600" b="1" dirty="0">
                <a:solidFill>
                  <a:srgbClr val="FF6600"/>
                </a:solidFill>
                <a:latin typeface="Times New Roman" panose="02020603050405020304" charset="0"/>
                <a:ea typeface="宋体" panose="02010600030101010101" pitchFamily="2" charset="-122"/>
              </a:rPr>
              <a:t>响应高级中断请求</a:t>
            </a:r>
          </a:p>
        </p:txBody>
      </p:sp>
      <p:sp>
        <p:nvSpPr>
          <p:cNvPr id="79891" name="文本框 79890"/>
          <p:cNvSpPr txBox="1"/>
          <p:nvPr/>
        </p:nvSpPr>
        <p:spPr>
          <a:xfrm>
            <a:off x="7046436" y="4765041"/>
            <a:ext cx="1417955" cy="583565"/>
          </a:xfrm>
          <a:prstGeom prst="rect">
            <a:avLst/>
          </a:prstGeom>
          <a:solidFill>
            <a:srgbClr val="FFFF66"/>
          </a:solidFill>
          <a:ln w="38100">
            <a:noFill/>
          </a:ln>
        </p:spPr>
        <p:txBody>
          <a:bodyPr wrap="none" anchor="ctr">
            <a:spAutoFit/>
          </a:bodyPr>
          <a:lstStyle/>
          <a:p>
            <a:pPr algn="ctr" eaLnBrk="1" hangingPunct="1"/>
            <a:r>
              <a:rPr lang="zh-CN" altLang="zh-CN" sz="1600" b="1" dirty="0">
                <a:solidFill>
                  <a:srgbClr val="9900FF"/>
                </a:solidFill>
                <a:latin typeface="Times New Roman" panose="02020603050405020304" charset="0"/>
                <a:ea typeface="宋体" panose="02010600030101010101" pitchFamily="2" charset="-122"/>
              </a:rPr>
              <a:t>CPU执行高级</a:t>
            </a:r>
          </a:p>
          <a:p>
            <a:pPr algn="ctr" eaLnBrk="1" hangingPunct="1"/>
            <a:r>
              <a:rPr lang="zh-CN" altLang="zh-CN" sz="1600" b="1" dirty="0">
                <a:solidFill>
                  <a:srgbClr val="9900FF"/>
                </a:solidFill>
                <a:latin typeface="Times New Roman" panose="02020603050405020304" charset="0"/>
                <a:ea typeface="宋体" panose="02010600030101010101" pitchFamily="2" charset="-122"/>
              </a:rPr>
              <a:t>中断服务程序</a:t>
            </a:r>
          </a:p>
        </p:txBody>
      </p:sp>
      <p:sp>
        <p:nvSpPr>
          <p:cNvPr id="79892" name="直接连接符 79891"/>
          <p:cNvSpPr/>
          <p:nvPr/>
        </p:nvSpPr>
        <p:spPr>
          <a:xfrm>
            <a:off x="6945630" y="4018915"/>
            <a:ext cx="5715" cy="542925"/>
          </a:xfrm>
          <a:prstGeom prst="line">
            <a:avLst/>
          </a:prstGeom>
          <a:ln w="38100" cap="flat" cmpd="sng">
            <a:solidFill>
              <a:schemeClr val="tx1"/>
            </a:solidFill>
            <a:prstDash val="solid"/>
            <a:headEnd type="none" w="med" len="med"/>
            <a:tailEnd type="triangle" w="med" len="med"/>
          </a:ln>
        </p:spPr>
      </p:sp>
      <p:sp>
        <p:nvSpPr>
          <p:cNvPr id="79893" name="直接连接符 79892"/>
          <p:cNvSpPr/>
          <p:nvPr/>
        </p:nvSpPr>
        <p:spPr>
          <a:xfrm flipH="1">
            <a:off x="6945948" y="4632325"/>
            <a:ext cx="4762" cy="701675"/>
          </a:xfrm>
          <a:prstGeom prst="line">
            <a:avLst/>
          </a:prstGeom>
          <a:ln w="38100" cap="flat" cmpd="sng">
            <a:solidFill>
              <a:schemeClr val="tx1"/>
            </a:solidFill>
            <a:prstDash val="dash"/>
            <a:headEnd type="none" w="med" len="med"/>
            <a:tailEnd type="none" w="med" len="med"/>
          </a:ln>
        </p:spPr>
      </p:sp>
      <p:sp>
        <p:nvSpPr>
          <p:cNvPr id="79894" name="直接连接符 79893"/>
          <p:cNvSpPr/>
          <p:nvPr/>
        </p:nvSpPr>
        <p:spPr>
          <a:xfrm>
            <a:off x="6950710" y="5439410"/>
            <a:ext cx="635" cy="424815"/>
          </a:xfrm>
          <a:prstGeom prst="line">
            <a:avLst/>
          </a:prstGeom>
          <a:ln w="38100" cap="flat" cmpd="sng">
            <a:solidFill>
              <a:schemeClr val="tx1"/>
            </a:solidFill>
            <a:prstDash val="solid"/>
            <a:headEnd type="none" w="med" len="med"/>
            <a:tailEnd type="none" w="med" len="med"/>
          </a:ln>
        </p:spPr>
      </p:sp>
      <p:sp>
        <p:nvSpPr>
          <p:cNvPr id="79895" name="直接连接符 79894"/>
          <p:cNvSpPr/>
          <p:nvPr/>
        </p:nvSpPr>
        <p:spPr>
          <a:xfrm flipH="1" flipV="1">
            <a:off x="5713730" y="5279390"/>
            <a:ext cx="1236980" cy="584835"/>
          </a:xfrm>
          <a:prstGeom prst="line">
            <a:avLst/>
          </a:prstGeom>
          <a:ln w="38100" cap="flat" cmpd="sng">
            <a:solidFill>
              <a:schemeClr val="tx1"/>
            </a:solidFill>
            <a:prstDash val="solid"/>
            <a:headEnd type="none" w="med" len="med"/>
            <a:tailEnd type="triangle" w="med" len="med"/>
          </a:ln>
        </p:spPr>
      </p:sp>
      <p:sp>
        <p:nvSpPr>
          <p:cNvPr id="79897" name="文本框 79896"/>
          <p:cNvSpPr txBox="1"/>
          <p:nvPr/>
        </p:nvSpPr>
        <p:spPr>
          <a:xfrm rot="1800000">
            <a:off x="5739130" y="5872163"/>
            <a:ext cx="1818640" cy="337185"/>
          </a:xfrm>
          <a:prstGeom prst="rect">
            <a:avLst/>
          </a:prstGeom>
          <a:noFill/>
          <a:ln w="38100">
            <a:noFill/>
          </a:ln>
        </p:spPr>
        <p:txBody>
          <a:bodyPr wrap="none" anchor="ctr">
            <a:spAutoFit/>
          </a:bodyPr>
          <a:lstStyle/>
          <a:p>
            <a:pPr algn="ctr" eaLnBrk="1" hangingPunct="1"/>
            <a:r>
              <a:rPr lang="zh-CN" altLang="en-US" sz="1600" b="1" dirty="0">
                <a:solidFill>
                  <a:srgbClr val="FF6600"/>
                </a:solidFill>
                <a:latin typeface="Times New Roman" panose="02020603050405020304" charset="0"/>
                <a:ea typeface="宋体" panose="02010600030101010101" pitchFamily="2" charset="-122"/>
              </a:rPr>
              <a:t>返回低级中断程序</a:t>
            </a:r>
          </a:p>
        </p:txBody>
      </p:sp>
      <p:sp>
        <p:nvSpPr>
          <p:cNvPr id="79898" name="直接连接符 79897"/>
          <p:cNvSpPr/>
          <p:nvPr/>
        </p:nvSpPr>
        <p:spPr>
          <a:xfrm>
            <a:off x="5713730" y="5279390"/>
            <a:ext cx="635" cy="1009650"/>
          </a:xfrm>
          <a:prstGeom prst="line">
            <a:avLst/>
          </a:prstGeom>
          <a:ln w="38100" cap="flat" cmpd="sng">
            <a:solidFill>
              <a:schemeClr val="tx1"/>
            </a:solidFill>
            <a:prstDash val="solid"/>
            <a:headEnd type="none" w="med" len="med"/>
            <a:tailEnd type="triangle" w="med" len="med"/>
          </a:ln>
        </p:spPr>
      </p:sp>
      <p:sp>
        <p:nvSpPr>
          <p:cNvPr id="79899" name="直接连接符 79898"/>
          <p:cNvSpPr/>
          <p:nvPr/>
        </p:nvSpPr>
        <p:spPr>
          <a:xfrm flipH="1" flipV="1">
            <a:off x="3590925" y="5278755"/>
            <a:ext cx="2122805" cy="1010285"/>
          </a:xfrm>
          <a:prstGeom prst="line">
            <a:avLst/>
          </a:prstGeom>
          <a:ln w="38100" cap="flat" cmpd="sng">
            <a:solidFill>
              <a:schemeClr val="tx1"/>
            </a:solidFill>
            <a:prstDash val="solid"/>
            <a:headEnd type="none" w="med" len="med"/>
            <a:tailEnd type="triangle" w="med" len="med"/>
          </a:ln>
        </p:spPr>
      </p:sp>
      <p:sp>
        <p:nvSpPr>
          <p:cNvPr id="79900" name="文本框 79899"/>
          <p:cNvSpPr txBox="1"/>
          <p:nvPr/>
        </p:nvSpPr>
        <p:spPr>
          <a:xfrm rot="1560000">
            <a:off x="3786822" y="5787708"/>
            <a:ext cx="1332230" cy="368300"/>
          </a:xfrm>
          <a:prstGeom prst="rect">
            <a:avLst/>
          </a:prstGeom>
          <a:noFill/>
          <a:ln w="38100">
            <a:noFill/>
          </a:ln>
        </p:spPr>
        <p:txBody>
          <a:bodyPr wrap="none" anchor="ctr">
            <a:spAutoFit/>
          </a:bodyPr>
          <a:lstStyle/>
          <a:p>
            <a:pPr algn="ctr" eaLnBrk="1" hangingPunct="1"/>
            <a:r>
              <a:rPr lang="zh-CN" altLang="en-US" b="1" dirty="0">
                <a:solidFill>
                  <a:srgbClr val="FF6600"/>
                </a:solidFill>
                <a:latin typeface="Times New Roman" panose="02020603050405020304" charset="0"/>
                <a:ea typeface="宋体" panose="02010600030101010101" pitchFamily="2" charset="-122"/>
              </a:rPr>
              <a:t>返回主程序</a:t>
            </a:r>
          </a:p>
        </p:txBody>
      </p:sp>
      <p:sp>
        <p:nvSpPr>
          <p:cNvPr id="79901" name="直接连接符 79900"/>
          <p:cNvSpPr/>
          <p:nvPr/>
        </p:nvSpPr>
        <p:spPr>
          <a:xfrm flipH="1">
            <a:off x="3582035" y="5278755"/>
            <a:ext cx="3810" cy="481330"/>
          </a:xfrm>
          <a:prstGeom prst="line">
            <a:avLst/>
          </a:prstGeom>
          <a:ln w="38100" cap="flat" cmpd="sng">
            <a:solidFill>
              <a:schemeClr val="tx1"/>
            </a:solidFill>
            <a:prstDash val="solid"/>
            <a:headEnd type="none" w="med" len="med"/>
            <a:tailEnd type="triangle" w="med" len="med"/>
          </a:ln>
        </p:spPr>
      </p:sp>
      <p:sp>
        <p:nvSpPr>
          <p:cNvPr id="79902" name="直接连接符 79901"/>
          <p:cNvSpPr/>
          <p:nvPr/>
        </p:nvSpPr>
        <p:spPr>
          <a:xfrm>
            <a:off x="3575050" y="5788660"/>
            <a:ext cx="21590" cy="499745"/>
          </a:xfrm>
          <a:prstGeom prst="line">
            <a:avLst/>
          </a:prstGeom>
          <a:ln w="38100" cap="flat" cmpd="sng">
            <a:solidFill>
              <a:schemeClr val="tx1"/>
            </a:solidFill>
            <a:prstDash val="dash"/>
            <a:headEnd type="none" w="med" len="med"/>
            <a:tailEnd type="none" w="med" len="med"/>
          </a:ln>
        </p:spPr>
      </p:sp>
      <p:sp>
        <p:nvSpPr>
          <p:cNvPr id="79903" name="直接连接符 79902"/>
          <p:cNvSpPr/>
          <p:nvPr/>
        </p:nvSpPr>
        <p:spPr>
          <a:xfrm flipH="1">
            <a:off x="3612515" y="3493135"/>
            <a:ext cx="635" cy="566420"/>
          </a:xfrm>
          <a:prstGeom prst="line">
            <a:avLst/>
          </a:prstGeom>
          <a:ln w="38100" cap="flat" cmpd="sng">
            <a:solidFill>
              <a:schemeClr val="tx1"/>
            </a:solidFill>
            <a:prstDash val="dash"/>
            <a:headEnd type="none" w="med" len="med"/>
            <a:tailEnd type="none" w="med" len="med"/>
          </a:ln>
        </p:spPr>
      </p:sp>
      <p:sp>
        <p:nvSpPr>
          <p:cNvPr id="3" name="灯片编号占位符 2"/>
          <p:cNvSpPr>
            <a:spLocks noGrp="1"/>
          </p:cNvSpPr>
          <p:nvPr>
            <p:ph type="sldNum" sz="quarter" idx="7"/>
          </p:nvPr>
        </p:nvSpPr>
        <p:spPr/>
        <p:txBody>
          <a:bodyPr/>
          <a:lstStyle/>
          <a:p>
            <a:pPr marL="25400">
              <a:lnSpc>
                <a:spcPct val="100000"/>
              </a:lnSpc>
              <a:spcBef>
                <a:spcPts val="185"/>
              </a:spcBef>
            </a:pPr>
            <a:fld id="{81D60167-4931-47E6-BA6A-407CBD079E47}" type="slidenum">
              <a:rPr spc="-5" dirty="0"/>
              <a:t>14</a:t>
            </a:fld>
            <a:endParaRPr spc="-5" dirty="0"/>
          </a:p>
        </p:txBody>
      </p:sp>
    </p:spTree>
  </p:cSld>
  <p:clrMapOvr>
    <a:masterClrMapping/>
  </p:clrMapOvr>
  <p:transition advClick="0">
    <p:cut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grpId="0" nodeType="afterEffect">
                                  <p:stCondLst>
                                    <p:cond delay="0"/>
                                  </p:stCondLst>
                                  <p:childTnLst>
                                    <p:set>
                                      <p:cBhvr>
                                        <p:cTn id="6" dur="1" fill="hold">
                                          <p:stCondLst>
                                            <p:cond delay="0"/>
                                          </p:stCondLst>
                                        </p:cTn>
                                        <p:tgtEl>
                                          <p:spTgt spid="79879"/>
                                        </p:tgtEl>
                                        <p:attrNameLst>
                                          <p:attrName>style.visibility</p:attrName>
                                        </p:attrNameLst>
                                      </p:cBhvr>
                                      <p:to>
                                        <p:strVal val="visible"/>
                                      </p:to>
                                    </p:set>
                                    <p:anim calcmode="lin" valueType="num">
                                      <p:cBhvr>
                                        <p:cTn id="7" dur="500" fill="hold"/>
                                        <p:tgtEl>
                                          <p:spTgt spid="79879"/>
                                        </p:tgtEl>
                                        <p:attrNameLst>
                                          <p:attrName>ppt_x</p:attrName>
                                        </p:attrNameLst>
                                      </p:cBhvr>
                                      <p:tavLst>
                                        <p:tav tm="0">
                                          <p:val>
                                            <p:strVal val="#ppt_x"/>
                                          </p:val>
                                        </p:tav>
                                        <p:tav tm="100000">
                                          <p:val>
                                            <p:strVal val="#ppt_x"/>
                                          </p:val>
                                        </p:tav>
                                      </p:tavLst>
                                    </p:anim>
                                    <p:anim calcmode="lin" valueType="num">
                                      <p:cBhvr>
                                        <p:cTn id="8" dur="500" fill="hold"/>
                                        <p:tgtEl>
                                          <p:spTgt spid="79879"/>
                                        </p:tgtEl>
                                        <p:attrNameLst>
                                          <p:attrName>ppt_y</p:attrName>
                                        </p:attrNameLst>
                                      </p:cBhvr>
                                      <p:tavLst>
                                        <p:tav tm="0">
                                          <p:val>
                                            <p:strVal val="#ppt_y-#ppt_h/2"/>
                                          </p:val>
                                        </p:tav>
                                        <p:tav tm="100000">
                                          <p:val>
                                            <p:strVal val="#ppt_y"/>
                                          </p:val>
                                        </p:tav>
                                      </p:tavLst>
                                    </p:anim>
                                    <p:anim calcmode="lin" valueType="num">
                                      <p:cBhvr>
                                        <p:cTn id="9" dur="500" fill="hold"/>
                                        <p:tgtEl>
                                          <p:spTgt spid="79879"/>
                                        </p:tgtEl>
                                        <p:attrNameLst>
                                          <p:attrName>ppt_w</p:attrName>
                                        </p:attrNameLst>
                                      </p:cBhvr>
                                      <p:tavLst>
                                        <p:tav tm="0">
                                          <p:val>
                                            <p:strVal val="#ppt_w"/>
                                          </p:val>
                                        </p:tav>
                                        <p:tav tm="100000">
                                          <p:val>
                                            <p:strVal val="#ppt_w"/>
                                          </p:val>
                                        </p:tav>
                                      </p:tavLst>
                                    </p:anim>
                                    <p:anim calcmode="lin" valueType="num">
                                      <p:cBhvr>
                                        <p:cTn id="10" dur="500" fill="hold"/>
                                        <p:tgtEl>
                                          <p:spTgt spid="79879"/>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17" presetClass="entr" presetSubtype="1" fill="hold" nodeType="afterEffect">
                                  <p:stCondLst>
                                    <p:cond delay="0"/>
                                  </p:stCondLst>
                                  <p:childTnLst>
                                    <p:set>
                                      <p:cBhvr>
                                        <p:cTn id="13" dur="1" fill="hold">
                                          <p:stCondLst>
                                            <p:cond delay="0"/>
                                          </p:stCondLst>
                                        </p:cTn>
                                        <p:tgtEl>
                                          <p:spTgt spid="79903"/>
                                        </p:tgtEl>
                                        <p:attrNameLst>
                                          <p:attrName>style.visibility</p:attrName>
                                        </p:attrNameLst>
                                      </p:cBhvr>
                                      <p:to>
                                        <p:strVal val="visible"/>
                                      </p:to>
                                    </p:set>
                                    <p:anim calcmode="lin" valueType="num">
                                      <p:cBhvr>
                                        <p:cTn id="14" dur="500" fill="hold"/>
                                        <p:tgtEl>
                                          <p:spTgt spid="79903"/>
                                        </p:tgtEl>
                                        <p:attrNameLst>
                                          <p:attrName>ppt_x</p:attrName>
                                        </p:attrNameLst>
                                      </p:cBhvr>
                                      <p:tavLst>
                                        <p:tav tm="0">
                                          <p:val>
                                            <p:strVal val="#ppt_x"/>
                                          </p:val>
                                        </p:tav>
                                        <p:tav tm="100000">
                                          <p:val>
                                            <p:strVal val="#ppt_x"/>
                                          </p:val>
                                        </p:tav>
                                      </p:tavLst>
                                    </p:anim>
                                    <p:anim calcmode="lin" valueType="num">
                                      <p:cBhvr>
                                        <p:cTn id="15" dur="500" fill="hold"/>
                                        <p:tgtEl>
                                          <p:spTgt spid="79903"/>
                                        </p:tgtEl>
                                        <p:attrNameLst>
                                          <p:attrName>ppt_y</p:attrName>
                                        </p:attrNameLst>
                                      </p:cBhvr>
                                      <p:tavLst>
                                        <p:tav tm="0">
                                          <p:val>
                                            <p:strVal val="#ppt_y-#ppt_h/2"/>
                                          </p:val>
                                        </p:tav>
                                        <p:tav tm="100000">
                                          <p:val>
                                            <p:strVal val="#ppt_y"/>
                                          </p:val>
                                        </p:tav>
                                      </p:tavLst>
                                    </p:anim>
                                    <p:anim calcmode="lin" valueType="num">
                                      <p:cBhvr>
                                        <p:cTn id="16" dur="500" fill="hold"/>
                                        <p:tgtEl>
                                          <p:spTgt spid="79903"/>
                                        </p:tgtEl>
                                        <p:attrNameLst>
                                          <p:attrName>ppt_w</p:attrName>
                                        </p:attrNameLst>
                                      </p:cBhvr>
                                      <p:tavLst>
                                        <p:tav tm="0">
                                          <p:val>
                                            <p:strVal val="#ppt_w"/>
                                          </p:val>
                                        </p:tav>
                                        <p:tav tm="100000">
                                          <p:val>
                                            <p:strVal val="#ppt_w"/>
                                          </p:val>
                                        </p:tav>
                                      </p:tavLst>
                                    </p:anim>
                                    <p:anim calcmode="lin" valueType="num">
                                      <p:cBhvr>
                                        <p:cTn id="17" dur="500" fill="hold"/>
                                        <p:tgtEl>
                                          <p:spTgt spid="79903"/>
                                        </p:tgtEl>
                                        <p:attrNameLst>
                                          <p:attrName>ppt_h</p:attrName>
                                        </p:attrNameLst>
                                      </p:cBhvr>
                                      <p:tavLst>
                                        <p:tav tm="0">
                                          <p:val>
                                            <p:fltVal val="0"/>
                                          </p:val>
                                        </p:tav>
                                        <p:tav tm="100000">
                                          <p:val>
                                            <p:strVal val="#ppt_h"/>
                                          </p:val>
                                        </p:tav>
                                      </p:tavLst>
                                    </p:anim>
                                  </p:childTnLst>
                                </p:cTn>
                              </p:par>
                            </p:childTnLst>
                          </p:cTn>
                        </p:par>
                        <p:par>
                          <p:cTn id="18" fill="hold">
                            <p:stCondLst>
                              <p:cond delay="1000"/>
                            </p:stCondLst>
                            <p:childTnLst>
                              <p:par>
                                <p:cTn id="19" presetID="17" presetClass="entr" presetSubtype="1" fill="hold" nodeType="afterEffect">
                                  <p:stCondLst>
                                    <p:cond delay="0"/>
                                  </p:stCondLst>
                                  <p:childTnLst>
                                    <p:set>
                                      <p:cBhvr>
                                        <p:cTn id="20" dur="1" fill="hold">
                                          <p:stCondLst>
                                            <p:cond delay="0"/>
                                          </p:stCondLst>
                                        </p:cTn>
                                        <p:tgtEl>
                                          <p:spTgt spid="79880"/>
                                        </p:tgtEl>
                                        <p:attrNameLst>
                                          <p:attrName>style.visibility</p:attrName>
                                        </p:attrNameLst>
                                      </p:cBhvr>
                                      <p:to>
                                        <p:strVal val="visible"/>
                                      </p:to>
                                    </p:set>
                                    <p:anim calcmode="lin" valueType="num">
                                      <p:cBhvr>
                                        <p:cTn id="21" dur="500" fill="hold"/>
                                        <p:tgtEl>
                                          <p:spTgt spid="79880"/>
                                        </p:tgtEl>
                                        <p:attrNameLst>
                                          <p:attrName>ppt_x</p:attrName>
                                        </p:attrNameLst>
                                      </p:cBhvr>
                                      <p:tavLst>
                                        <p:tav tm="0">
                                          <p:val>
                                            <p:strVal val="#ppt_x"/>
                                          </p:val>
                                        </p:tav>
                                        <p:tav tm="100000">
                                          <p:val>
                                            <p:strVal val="#ppt_x"/>
                                          </p:val>
                                        </p:tav>
                                      </p:tavLst>
                                    </p:anim>
                                    <p:anim calcmode="lin" valueType="num">
                                      <p:cBhvr>
                                        <p:cTn id="22" dur="500" fill="hold"/>
                                        <p:tgtEl>
                                          <p:spTgt spid="79880"/>
                                        </p:tgtEl>
                                        <p:attrNameLst>
                                          <p:attrName>ppt_y</p:attrName>
                                        </p:attrNameLst>
                                      </p:cBhvr>
                                      <p:tavLst>
                                        <p:tav tm="0">
                                          <p:val>
                                            <p:strVal val="#ppt_y-#ppt_h/2"/>
                                          </p:val>
                                        </p:tav>
                                        <p:tav tm="100000">
                                          <p:val>
                                            <p:strVal val="#ppt_y"/>
                                          </p:val>
                                        </p:tav>
                                      </p:tavLst>
                                    </p:anim>
                                    <p:anim calcmode="lin" valueType="num">
                                      <p:cBhvr>
                                        <p:cTn id="23" dur="500" fill="hold"/>
                                        <p:tgtEl>
                                          <p:spTgt spid="79880"/>
                                        </p:tgtEl>
                                        <p:attrNameLst>
                                          <p:attrName>ppt_w</p:attrName>
                                        </p:attrNameLst>
                                      </p:cBhvr>
                                      <p:tavLst>
                                        <p:tav tm="0">
                                          <p:val>
                                            <p:strVal val="#ppt_w"/>
                                          </p:val>
                                        </p:tav>
                                        <p:tav tm="100000">
                                          <p:val>
                                            <p:strVal val="#ppt_w"/>
                                          </p:val>
                                        </p:tav>
                                      </p:tavLst>
                                    </p:anim>
                                    <p:anim calcmode="lin" valueType="num">
                                      <p:cBhvr>
                                        <p:cTn id="24" dur="500" fill="hold"/>
                                        <p:tgtEl>
                                          <p:spTgt spid="79880"/>
                                        </p:tgtEl>
                                        <p:attrNameLst>
                                          <p:attrName>ppt_h</p:attrName>
                                        </p:attrNameLst>
                                      </p:cBhvr>
                                      <p:tavLst>
                                        <p:tav tm="0">
                                          <p:val>
                                            <p:fltVal val="0"/>
                                          </p:val>
                                        </p:tav>
                                        <p:tav tm="100000">
                                          <p:val>
                                            <p:strVal val="#ppt_h"/>
                                          </p:val>
                                        </p:tav>
                                      </p:tavLst>
                                    </p:anim>
                                  </p:childTnLst>
                                </p:cTn>
                              </p:par>
                            </p:childTnLst>
                          </p:cTn>
                        </p:par>
                        <p:par>
                          <p:cTn id="25" fill="hold">
                            <p:stCondLst>
                              <p:cond delay="1500"/>
                            </p:stCondLst>
                            <p:childTnLst>
                              <p:par>
                                <p:cTn id="26" presetID="17" presetClass="entr" presetSubtype="1" fill="hold" grpId="0" nodeType="afterEffect">
                                  <p:stCondLst>
                                    <p:cond delay="0"/>
                                  </p:stCondLst>
                                  <p:childTnLst>
                                    <p:set>
                                      <p:cBhvr>
                                        <p:cTn id="27" dur="1" fill="hold">
                                          <p:stCondLst>
                                            <p:cond delay="0"/>
                                          </p:stCondLst>
                                        </p:cTn>
                                        <p:tgtEl>
                                          <p:spTgt spid="79881"/>
                                        </p:tgtEl>
                                        <p:attrNameLst>
                                          <p:attrName>style.visibility</p:attrName>
                                        </p:attrNameLst>
                                      </p:cBhvr>
                                      <p:to>
                                        <p:strVal val="visible"/>
                                      </p:to>
                                    </p:set>
                                    <p:anim calcmode="lin" valueType="num">
                                      <p:cBhvr>
                                        <p:cTn id="28" dur="500" fill="hold"/>
                                        <p:tgtEl>
                                          <p:spTgt spid="79881"/>
                                        </p:tgtEl>
                                        <p:attrNameLst>
                                          <p:attrName>ppt_x</p:attrName>
                                        </p:attrNameLst>
                                      </p:cBhvr>
                                      <p:tavLst>
                                        <p:tav tm="0">
                                          <p:val>
                                            <p:strVal val="#ppt_x"/>
                                          </p:val>
                                        </p:tav>
                                        <p:tav tm="100000">
                                          <p:val>
                                            <p:strVal val="#ppt_x"/>
                                          </p:val>
                                        </p:tav>
                                      </p:tavLst>
                                    </p:anim>
                                    <p:anim calcmode="lin" valueType="num">
                                      <p:cBhvr>
                                        <p:cTn id="29" dur="500" fill="hold"/>
                                        <p:tgtEl>
                                          <p:spTgt spid="79881"/>
                                        </p:tgtEl>
                                        <p:attrNameLst>
                                          <p:attrName>ppt_y</p:attrName>
                                        </p:attrNameLst>
                                      </p:cBhvr>
                                      <p:tavLst>
                                        <p:tav tm="0">
                                          <p:val>
                                            <p:strVal val="#ppt_y-#ppt_h/2"/>
                                          </p:val>
                                        </p:tav>
                                        <p:tav tm="100000">
                                          <p:val>
                                            <p:strVal val="#ppt_y"/>
                                          </p:val>
                                        </p:tav>
                                      </p:tavLst>
                                    </p:anim>
                                    <p:anim calcmode="lin" valueType="num">
                                      <p:cBhvr>
                                        <p:cTn id="30" dur="500" fill="hold"/>
                                        <p:tgtEl>
                                          <p:spTgt spid="79881"/>
                                        </p:tgtEl>
                                        <p:attrNameLst>
                                          <p:attrName>ppt_w</p:attrName>
                                        </p:attrNameLst>
                                      </p:cBhvr>
                                      <p:tavLst>
                                        <p:tav tm="0">
                                          <p:val>
                                            <p:strVal val="#ppt_w"/>
                                          </p:val>
                                        </p:tav>
                                        <p:tav tm="100000">
                                          <p:val>
                                            <p:strVal val="#ppt_w"/>
                                          </p:val>
                                        </p:tav>
                                      </p:tavLst>
                                    </p:anim>
                                    <p:anim calcmode="lin" valueType="num">
                                      <p:cBhvr>
                                        <p:cTn id="31" dur="500" fill="hold"/>
                                        <p:tgtEl>
                                          <p:spTgt spid="79881"/>
                                        </p:tgtEl>
                                        <p:attrNameLst>
                                          <p:attrName>ppt_h</p:attrName>
                                        </p:attrNameLst>
                                      </p:cBhvr>
                                      <p:tavLst>
                                        <p:tav tm="0">
                                          <p:val>
                                            <p:fltVal val="0"/>
                                          </p:val>
                                        </p:tav>
                                        <p:tav tm="100000">
                                          <p:val>
                                            <p:strVal val="#ppt_h"/>
                                          </p:val>
                                        </p:tav>
                                      </p:tavLst>
                                    </p:anim>
                                  </p:childTnLst>
                                </p:cTn>
                              </p:par>
                            </p:childTnLst>
                          </p:cTn>
                        </p:par>
                        <p:par>
                          <p:cTn id="32" fill="hold">
                            <p:stCondLst>
                              <p:cond delay="2000"/>
                            </p:stCondLst>
                            <p:childTnLst>
                              <p:par>
                                <p:cTn id="33" presetID="17" presetClass="entr" presetSubtype="8" fill="hold" nodeType="afterEffect">
                                  <p:stCondLst>
                                    <p:cond delay="0"/>
                                  </p:stCondLst>
                                  <p:childTnLst>
                                    <p:set>
                                      <p:cBhvr>
                                        <p:cTn id="34" dur="1" fill="hold">
                                          <p:stCondLst>
                                            <p:cond delay="0"/>
                                          </p:stCondLst>
                                        </p:cTn>
                                        <p:tgtEl>
                                          <p:spTgt spid="79882"/>
                                        </p:tgtEl>
                                        <p:attrNameLst>
                                          <p:attrName>style.visibility</p:attrName>
                                        </p:attrNameLst>
                                      </p:cBhvr>
                                      <p:to>
                                        <p:strVal val="visible"/>
                                      </p:to>
                                    </p:set>
                                    <p:anim calcmode="lin" valueType="num">
                                      <p:cBhvr>
                                        <p:cTn id="35" dur="500" fill="hold"/>
                                        <p:tgtEl>
                                          <p:spTgt spid="79882"/>
                                        </p:tgtEl>
                                        <p:attrNameLst>
                                          <p:attrName>ppt_x</p:attrName>
                                        </p:attrNameLst>
                                      </p:cBhvr>
                                      <p:tavLst>
                                        <p:tav tm="0">
                                          <p:val>
                                            <p:strVal val="#ppt_x-#ppt_w/2"/>
                                          </p:val>
                                        </p:tav>
                                        <p:tav tm="100000">
                                          <p:val>
                                            <p:strVal val="#ppt_x"/>
                                          </p:val>
                                        </p:tav>
                                      </p:tavLst>
                                    </p:anim>
                                    <p:anim calcmode="lin" valueType="num">
                                      <p:cBhvr>
                                        <p:cTn id="36" dur="500" fill="hold"/>
                                        <p:tgtEl>
                                          <p:spTgt spid="79882"/>
                                        </p:tgtEl>
                                        <p:attrNameLst>
                                          <p:attrName>ppt_y</p:attrName>
                                        </p:attrNameLst>
                                      </p:cBhvr>
                                      <p:tavLst>
                                        <p:tav tm="0">
                                          <p:val>
                                            <p:strVal val="#ppt_y"/>
                                          </p:val>
                                        </p:tav>
                                        <p:tav tm="100000">
                                          <p:val>
                                            <p:strVal val="#ppt_y"/>
                                          </p:val>
                                        </p:tav>
                                      </p:tavLst>
                                    </p:anim>
                                    <p:anim calcmode="lin" valueType="num">
                                      <p:cBhvr>
                                        <p:cTn id="37" dur="500" fill="hold"/>
                                        <p:tgtEl>
                                          <p:spTgt spid="79882"/>
                                        </p:tgtEl>
                                        <p:attrNameLst>
                                          <p:attrName>ppt_w</p:attrName>
                                        </p:attrNameLst>
                                      </p:cBhvr>
                                      <p:tavLst>
                                        <p:tav tm="0">
                                          <p:val>
                                            <p:fltVal val="0"/>
                                          </p:val>
                                        </p:tav>
                                        <p:tav tm="100000">
                                          <p:val>
                                            <p:strVal val="#ppt_w"/>
                                          </p:val>
                                        </p:tav>
                                      </p:tavLst>
                                    </p:anim>
                                    <p:anim calcmode="lin" valueType="num">
                                      <p:cBhvr>
                                        <p:cTn id="38" dur="500" fill="hold"/>
                                        <p:tgtEl>
                                          <p:spTgt spid="79882"/>
                                        </p:tgtEl>
                                        <p:attrNameLst>
                                          <p:attrName>ppt_h</p:attrName>
                                        </p:attrNameLst>
                                      </p:cBhvr>
                                      <p:tavLst>
                                        <p:tav tm="0">
                                          <p:val>
                                            <p:strVal val="#ppt_h"/>
                                          </p:val>
                                        </p:tav>
                                        <p:tav tm="100000">
                                          <p:val>
                                            <p:strVal val="#ppt_h"/>
                                          </p:val>
                                        </p:tav>
                                      </p:tavLst>
                                    </p:anim>
                                  </p:childTnLst>
                                </p:cTn>
                              </p:par>
                            </p:childTnLst>
                          </p:cTn>
                        </p:par>
                        <p:par>
                          <p:cTn id="39" fill="hold">
                            <p:stCondLst>
                              <p:cond delay="2500"/>
                            </p:stCondLst>
                            <p:childTnLst>
                              <p:par>
                                <p:cTn id="40" presetID="17" presetClass="entr" presetSubtype="8" fill="hold" nodeType="afterEffect">
                                  <p:stCondLst>
                                    <p:cond delay="0"/>
                                  </p:stCondLst>
                                  <p:childTnLst>
                                    <p:set>
                                      <p:cBhvr>
                                        <p:cTn id="41" dur="1" fill="hold">
                                          <p:stCondLst>
                                            <p:cond delay="0"/>
                                          </p:stCondLst>
                                        </p:cTn>
                                        <p:tgtEl>
                                          <p:spTgt spid="79883"/>
                                        </p:tgtEl>
                                        <p:attrNameLst>
                                          <p:attrName>style.visibility</p:attrName>
                                        </p:attrNameLst>
                                      </p:cBhvr>
                                      <p:to>
                                        <p:strVal val="visible"/>
                                      </p:to>
                                    </p:set>
                                    <p:anim calcmode="lin" valueType="num">
                                      <p:cBhvr>
                                        <p:cTn id="42" dur="500" fill="hold"/>
                                        <p:tgtEl>
                                          <p:spTgt spid="79883"/>
                                        </p:tgtEl>
                                        <p:attrNameLst>
                                          <p:attrName>ppt_x</p:attrName>
                                        </p:attrNameLst>
                                      </p:cBhvr>
                                      <p:tavLst>
                                        <p:tav tm="0">
                                          <p:val>
                                            <p:strVal val="#ppt_x-#ppt_w/2"/>
                                          </p:val>
                                        </p:tav>
                                        <p:tav tm="100000">
                                          <p:val>
                                            <p:strVal val="#ppt_x"/>
                                          </p:val>
                                        </p:tav>
                                      </p:tavLst>
                                    </p:anim>
                                    <p:anim calcmode="lin" valueType="num">
                                      <p:cBhvr>
                                        <p:cTn id="43" dur="500" fill="hold"/>
                                        <p:tgtEl>
                                          <p:spTgt spid="79883"/>
                                        </p:tgtEl>
                                        <p:attrNameLst>
                                          <p:attrName>ppt_y</p:attrName>
                                        </p:attrNameLst>
                                      </p:cBhvr>
                                      <p:tavLst>
                                        <p:tav tm="0">
                                          <p:val>
                                            <p:strVal val="#ppt_y"/>
                                          </p:val>
                                        </p:tav>
                                        <p:tav tm="100000">
                                          <p:val>
                                            <p:strVal val="#ppt_y"/>
                                          </p:val>
                                        </p:tav>
                                      </p:tavLst>
                                    </p:anim>
                                    <p:anim calcmode="lin" valueType="num">
                                      <p:cBhvr>
                                        <p:cTn id="44" dur="500" fill="hold"/>
                                        <p:tgtEl>
                                          <p:spTgt spid="79883"/>
                                        </p:tgtEl>
                                        <p:attrNameLst>
                                          <p:attrName>ppt_w</p:attrName>
                                        </p:attrNameLst>
                                      </p:cBhvr>
                                      <p:tavLst>
                                        <p:tav tm="0">
                                          <p:val>
                                            <p:fltVal val="0"/>
                                          </p:val>
                                        </p:tav>
                                        <p:tav tm="100000">
                                          <p:val>
                                            <p:strVal val="#ppt_w"/>
                                          </p:val>
                                        </p:tav>
                                      </p:tavLst>
                                    </p:anim>
                                    <p:anim calcmode="lin" valueType="num">
                                      <p:cBhvr>
                                        <p:cTn id="45" dur="500" fill="hold"/>
                                        <p:tgtEl>
                                          <p:spTgt spid="79883"/>
                                        </p:tgtEl>
                                        <p:attrNameLst>
                                          <p:attrName>ppt_h</p:attrName>
                                        </p:attrNameLst>
                                      </p:cBhvr>
                                      <p:tavLst>
                                        <p:tav tm="0">
                                          <p:val>
                                            <p:strVal val="#ppt_h"/>
                                          </p:val>
                                        </p:tav>
                                        <p:tav tm="100000">
                                          <p:val>
                                            <p:strVal val="#ppt_h"/>
                                          </p:val>
                                        </p:tav>
                                      </p:tavLst>
                                    </p:anim>
                                  </p:childTnLst>
                                </p:cTn>
                              </p:par>
                            </p:childTnLst>
                          </p:cTn>
                        </p:par>
                        <p:par>
                          <p:cTn id="46" fill="hold">
                            <p:stCondLst>
                              <p:cond delay="3000"/>
                            </p:stCondLst>
                            <p:childTnLst>
                              <p:par>
                                <p:cTn id="47" presetID="17" presetClass="entr" presetSubtype="8" fill="hold" grpId="0" nodeType="afterEffect">
                                  <p:stCondLst>
                                    <p:cond delay="0"/>
                                  </p:stCondLst>
                                  <p:childTnLst>
                                    <p:set>
                                      <p:cBhvr>
                                        <p:cTn id="48" dur="1" fill="hold">
                                          <p:stCondLst>
                                            <p:cond delay="0"/>
                                          </p:stCondLst>
                                        </p:cTn>
                                        <p:tgtEl>
                                          <p:spTgt spid="79884"/>
                                        </p:tgtEl>
                                        <p:attrNameLst>
                                          <p:attrName>style.visibility</p:attrName>
                                        </p:attrNameLst>
                                      </p:cBhvr>
                                      <p:to>
                                        <p:strVal val="visible"/>
                                      </p:to>
                                    </p:set>
                                    <p:anim calcmode="lin" valueType="num">
                                      <p:cBhvr>
                                        <p:cTn id="49" dur="500" fill="hold"/>
                                        <p:tgtEl>
                                          <p:spTgt spid="79884"/>
                                        </p:tgtEl>
                                        <p:attrNameLst>
                                          <p:attrName>ppt_x</p:attrName>
                                        </p:attrNameLst>
                                      </p:cBhvr>
                                      <p:tavLst>
                                        <p:tav tm="0">
                                          <p:val>
                                            <p:strVal val="#ppt_x-#ppt_w/2"/>
                                          </p:val>
                                        </p:tav>
                                        <p:tav tm="100000">
                                          <p:val>
                                            <p:strVal val="#ppt_x"/>
                                          </p:val>
                                        </p:tav>
                                      </p:tavLst>
                                    </p:anim>
                                    <p:anim calcmode="lin" valueType="num">
                                      <p:cBhvr>
                                        <p:cTn id="50" dur="500" fill="hold"/>
                                        <p:tgtEl>
                                          <p:spTgt spid="79884"/>
                                        </p:tgtEl>
                                        <p:attrNameLst>
                                          <p:attrName>ppt_y</p:attrName>
                                        </p:attrNameLst>
                                      </p:cBhvr>
                                      <p:tavLst>
                                        <p:tav tm="0">
                                          <p:val>
                                            <p:strVal val="#ppt_y"/>
                                          </p:val>
                                        </p:tav>
                                        <p:tav tm="100000">
                                          <p:val>
                                            <p:strVal val="#ppt_y"/>
                                          </p:val>
                                        </p:tav>
                                      </p:tavLst>
                                    </p:anim>
                                    <p:anim calcmode="lin" valueType="num">
                                      <p:cBhvr>
                                        <p:cTn id="51" dur="500" fill="hold"/>
                                        <p:tgtEl>
                                          <p:spTgt spid="79884"/>
                                        </p:tgtEl>
                                        <p:attrNameLst>
                                          <p:attrName>ppt_w</p:attrName>
                                        </p:attrNameLst>
                                      </p:cBhvr>
                                      <p:tavLst>
                                        <p:tav tm="0">
                                          <p:val>
                                            <p:fltVal val="0"/>
                                          </p:val>
                                        </p:tav>
                                        <p:tav tm="100000">
                                          <p:val>
                                            <p:strVal val="#ppt_w"/>
                                          </p:val>
                                        </p:tav>
                                      </p:tavLst>
                                    </p:anim>
                                    <p:anim calcmode="lin" valueType="num">
                                      <p:cBhvr>
                                        <p:cTn id="52" dur="500" fill="hold"/>
                                        <p:tgtEl>
                                          <p:spTgt spid="79884"/>
                                        </p:tgtEl>
                                        <p:attrNameLst>
                                          <p:attrName>ppt_h</p:attrName>
                                        </p:attrNameLst>
                                      </p:cBhvr>
                                      <p:tavLst>
                                        <p:tav tm="0">
                                          <p:val>
                                            <p:strVal val="#ppt_h"/>
                                          </p:val>
                                        </p:tav>
                                        <p:tav tm="100000">
                                          <p:val>
                                            <p:strVal val="#ppt_h"/>
                                          </p:val>
                                        </p:tav>
                                      </p:tavLst>
                                    </p:anim>
                                  </p:childTnLst>
                                </p:cTn>
                              </p:par>
                            </p:childTnLst>
                          </p:cTn>
                        </p:par>
                        <p:par>
                          <p:cTn id="53" fill="hold">
                            <p:stCondLst>
                              <p:cond delay="3500"/>
                            </p:stCondLst>
                            <p:childTnLst>
                              <p:par>
                                <p:cTn id="54" presetID="17" presetClass="entr" presetSubtype="1" fill="hold" grpId="0" nodeType="afterEffect">
                                  <p:stCondLst>
                                    <p:cond delay="0"/>
                                  </p:stCondLst>
                                  <p:childTnLst>
                                    <p:set>
                                      <p:cBhvr>
                                        <p:cTn id="55" dur="1" fill="hold">
                                          <p:stCondLst>
                                            <p:cond delay="0"/>
                                          </p:stCondLst>
                                        </p:cTn>
                                        <p:tgtEl>
                                          <p:spTgt spid="79885"/>
                                        </p:tgtEl>
                                        <p:attrNameLst>
                                          <p:attrName>style.visibility</p:attrName>
                                        </p:attrNameLst>
                                      </p:cBhvr>
                                      <p:to>
                                        <p:strVal val="visible"/>
                                      </p:to>
                                    </p:set>
                                    <p:anim calcmode="lin" valueType="num">
                                      <p:cBhvr>
                                        <p:cTn id="56" dur="500" fill="hold"/>
                                        <p:tgtEl>
                                          <p:spTgt spid="79885"/>
                                        </p:tgtEl>
                                        <p:attrNameLst>
                                          <p:attrName>ppt_x</p:attrName>
                                        </p:attrNameLst>
                                      </p:cBhvr>
                                      <p:tavLst>
                                        <p:tav tm="0">
                                          <p:val>
                                            <p:strVal val="#ppt_x"/>
                                          </p:val>
                                        </p:tav>
                                        <p:tav tm="100000">
                                          <p:val>
                                            <p:strVal val="#ppt_x"/>
                                          </p:val>
                                        </p:tav>
                                      </p:tavLst>
                                    </p:anim>
                                    <p:anim calcmode="lin" valueType="num">
                                      <p:cBhvr>
                                        <p:cTn id="57" dur="500" fill="hold"/>
                                        <p:tgtEl>
                                          <p:spTgt spid="79885"/>
                                        </p:tgtEl>
                                        <p:attrNameLst>
                                          <p:attrName>ppt_y</p:attrName>
                                        </p:attrNameLst>
                                      </p:cBhvr>
                                      <p:tavLst>
                                        <p:tav tm="0">
                                          <p:val>
                                            <p:strVal val="#ppt_y-#ppt_h/2"/>
                                          </p:val>
                                        </p:tav>
                                        <p:tav tm="100000">
                                          <p:val>
                                            <p:strVal val="#ppt_y"/>
                                          </p:val>
                                        </p:tav>
                                      </p:tavLst>
                                    </p:anim>
                                    <p:anim calcmode="lin" valueType="num">
                                      <p:cBhvr>
                                        <p:cTn id="58" dur="500" fill="hold"/>
                                        <p:tgtEl>
                                          <p:spTgt spid="79885"/>
                                        </p:tgtEl>
                                        <p:attrNameLst>
                                          <p:attrName>ppt_w</p:attrName>
                                        </p:attrNameLst>
                                      </p:cBhvr>
                                      <p:tavLst>
                                        <p:tav tm="0">
                                          <p:val>
                                            <p:strVal val="#ppt_w"/>
                                          </p:val>
                                        </p:tav>
                                        <p:tav tm="100000">
                                          <p:val>
                                            <p:strVal val="#ppt_w"/>
                                          </p:val>
                                        </p:tav>
                                      </p:tavLst>
                                    </p:anim>
                                    <p:anim calcmode="lin" valueType="num">
                                      <p:cBhvr>
                                        <p:cTn id="59" dur="500" fill="hold"/>
                                        <p:tgtEl>
                                          <p:spTgt spid="79885"/>
                                        </p:tgtEl>
                                        <p:attrNameLst>
                                          <p:attrName>ppt_h</p:attrName>
                                        </p:attrNameLst>
                                      </p:cBhvr>
                                      <p:tavLst>
                                        <p:tav tm="0">
                                          <p:val>
                                            <p:fltVal val="0"/>
                                          </p:val>
                                        </p:tav>
                                        <p:tav tm="100000">
                                          <p:val>
                                            <p:strVal val="#ppt_h"/>
                                          </p:val>
                                        </p:tav>
                                      </p:tavLst>
                                    </p:anim>
                                  </p:childTnLst>
                                </p:cTn>
                              </p:par>
                            </p:childTnLst>
                          </p:cTn>
                        </p:par>
                        <p:par>
                          <p:cTn id="60" fill="hold">
                            <p:stCondLst>
                              <p:cond delay="4000"/>
                            </p:stCondLst>
                            <p:childTnLst>
                              <p:par>
                                <p:cTn id="61" presetID="17" presetClass="entr" presetSubtype="1" fill="hold" nodeType="afterEffect">
                                  <p:stCondLst>
                                    <p:cond delay="0"/>
                                  </p:stCondLst>
                                  <p:childTnLst>
                                    <p:set>
                                      <p:cBhvr>
                                        <p:cTn id="62" dur="1" fill="hold">
                                          <p:stCondLst>
                                            <p:cond delay="0"/>
                                          </p:stCondLst>
                                        </p:cTn>
                                        <p:tgtEl>
                                          <p:spTgt spid="79886"/>
                                        </p:tgtEl>
                                        <p:attrNameLst>
                                          <p:attrName>style.visibility</p:attrName>
                                        </p:attrNameLst>
                                      </p:cBhvr>
                                      <p:to>
                                        <p:strVal val="visible"/>
                                      </p:to>
                                    </p:set>
                                    <p:anim calcmode="lin" valueType="num">
                                      <p:cBhvr>
                                        <p:cTn id="63" dur="500" fill="hold"/>
                                        <p:tgtEl>
                                          <p:spTgt spid="79886"/>
                                        </p:tgtEl>
                                        <p:attrNameLst>
                                          <p:attrName>ppt_x</p:attrName>
                                        </p:attrNameLst>
                                      </p:cBhvr>
                                      <p:tavLst>
                                        <p:tav tm="0">
                                          <p:val>
                                            <p:strVal val="#ppt_x"/>
                                          </p:val>
                                        </p:tav>
                                        <p:tav tm="100000">
                                          <p:val>
                                            <p:strVal val="#ppt_x"/>
                                          </p:val>
                                        </p:tav>
                                      </p:tavLst>
                                    </p:anim>
                                    <p:anim calcmode="lin" valueType="num">
                                      <p:cBhvr>
                                        <p:cTn id="64" dur="500" fill="hold"/>
                                        <p:tgtEl>
                                          <p:spTgt spid="79886"/>
                                        </p:tgtEl>
                                        <p:attrNameLst>
                                          <p:attrName>ppt_y</p:attrName>
                                        </p:attrNameLst>
                                      </p:cBhvr>
                                      <p:tavLst>
                                        <p:tav tm="0">
                                          <p:val>
                                            <p:strVal val="#ppt_y-#ppt_h/2"/>
                                          </p:val>
                                        </p:tav>
                                        <p:tav tm="100000">
                                          <p:val>
                                            <p:strVal val="#ppt_y"/>
                                          </p:val>
                                        </p:tav>
                                      </p:tavLst>
                                    </p:anim>
                                    <p:anim calcmode="lin" valueType="num">
                                      <p:cBhvr>
                                        <p:cTn id="65" dur="500" fill="hold"/>
                                        <p:tgtEl>
                                          <p:spTgt spid="79886"/>
                                        </p:tgtEl>
                                        <p:attrNameLst>
                                          <p:attrName>ppt_w</p:attrName>
                                        </p:attrNameLst>
                                      </p:cBhvr>
                                      <p:tavLst>
                                        <p:tav tm="0">
                                          <p:val>
                                            <p:strVal val="#ppt_w"/>
                                          </p:val>
                                        </p:tav>
                                        <p:tav tm="100000">
                                          <p:val>
                                            <p:strVal val="#ppt_w"/>
                                          </p:val>
                                        </p:tav>
                                      </p:tavLst>
                                    </p:anim>
                                    <p:anim calcmode="lin" valueType="num">
                                      <p:cBhvr>
                                        <p:cTn id="66" dur="500" fill="hold"/>
                                        <p:tgtEl>
                                          <p:spTgt spid="79886"/>
                                        </p:tgtEl>
                                        <p:attrNameLst>
                                          <p:attrName>ppt_h</p:attrName>
                                        </p:attrNameLst>
                                      </p:cBhvr>
                                      <p:tavLst>
                                        <p:tav tm="0">
                                          <p:val>
                                            <p:fltVal val="0"/>
                                          </p:val>
                                        </p:tav>
                                        <p:tav tm="100000">
                                          <p:val>
                                            <p:strVal val="#ppt_h"/>
                                          </p:val>
                                        </p:tav>
                                      </p:tavLst>
                                    </p:anim>
                                  </p:childTnLst>
                                </p:cTn>
                              </p:par>
                            </p:childTnLst>
                          </p:cTn>
                        </p:par>
                        <p:par>
                          <p:cTn id="67" fill="hold">
                            <p:stCondLst>
                              <p:cond delay="4500"/>
                            </p:stCondLst>
                            <p:childTnLst>
                              <p:par>
                                <p:cTn id="68" presetID="17" presetClass="entr" presetSubtype="1" fill="hold" grpId="0" nodeType="afterEffect">
                                  <p:stCondLst>
                                    <p:cond delay="0"/>
                                  </p:stCondLst>
                                  <p:childTnLst>
                                    <p:set>
                                      <p:cBhvr>
                                        <p:cTn id="69" dur="1" fill="hold">
                                          <p:stCondLst>
                                            <p:cond delay="0"/>
                                          </p:stCondLst>
                                        </p:cTn>
                                        <p:tgtEl>
                                          <p:spTgt spid="79887"/>
                                        </p:tgtEl>
                                        <p:attrNameLst>
                                          <p:attrName>style.visibility</p:attrName>
                                        </p:attrNameLst>
                                      </p:cBhvr>
                                      <p:to>
                                        <p:strVal val="visible"/>
                                      </p:to>
                                    </p:set>
                                    <p:anim calcmode="lin" valueType="num">
                                      <p:cBhvr>
                                        <p:cTn id="70" dur="500" fill="hold"/>
                                        <p:tgtEl>
                                          <p:spTgt spid="79887"/>
                                        </p:tgtEl>
                                        <p:attrNameLst>
                                          <p:attrName>ppt_x</p:attrName>
                                        </p:attrNameLst>
                                      </p:cBhvr>
                                      <p:tavLst>
                                        <p:tav tm="0">
                                          <p:val>
                                            <p:strVal val="#ppt_x"/>
                                          </p:val>
                                        </p:tav>
                                        <p:tav tm="100000">
                                          <p:val>
                                            <p:strVal val="#ppt_x"/>
                                          </p:val>
                                        </p:tav>
                                      </p:tavLst>
                                    </p:anim>
                                    <p:anim calcmode="lin" valueType="num">
                                      <p:cBhvr>
                                        <p:cTn id="71" dur="500" fill="hold"/>
                                        <p:tgtEl>
                                          <p:spTgt spid="79887"/>
                                        </p:tgtEl>
                                        <p:attrNameLst>
                                          <p:attrName>ppt_y</p:attrName>
                                        </p:attrNameLst>
                                      </p:cBhvr>
                                      <p:tavLst>
                                        <p:tav tm="0">
                                          <p:val>
                                            <p:strVal val="#ppt_y-#ppt_h/2"/>
                                          </p:val>
                                        </p:tav>
                                        <p:tav tm="100000">
                                          <p:val>
                                            <p:strVal val="#ppt_y"/>
                                          </p:val>
                                        </p:tav>
                                      </p:tavLst>
                                    </p:anim>
                                    <p:anim calcmode="lin" valueType="num">
                                      <p:cBhvr>
                                        <p:cTn id="72" dur="500" fill="hold"/>
                                        <p:tgtEl>
                                          <p:spTgt spid="79887"/>
                                        </p:tgtEl>
                                        <p:attrNameLst>
                                          <p:attrName>ppt_w</p:attrName>
                                        </p:attrNameLst>
                                      </p:cBhvr>
                                      <p:tavLst>
                                        <p:tav tm="0">
                                          <p:val>
                                            <p:strVal val="#ppt_w"/>
                                          </p:val>
                                        </p:tav>
                                        <p:tav tm="100000">
                                          <p:val>
                                            <p:strVal val="#ppt_w"/>
                                          </p:val>
                                        </p:tav>
                                      </p:tavLst>
                                    </p:anim>
                                    <p:anim calcmode="lin" valueType="num">
                                      <p:cBhvr>
                                        <p:cTn id="73" dur="500" fill="hold"/>
                                        <p:tgtEl>
                                          <p:spTgt spid="79887"/>
                                        </p:tgtEl>
                                        <p:attrNameLst>
                                          <p:attrName>ppt_h</p:attrName>
                                        </p:attrNameLst>
                                      </p:cBhvr>
                                      <p:tavLst>
                                        <p:tav tm="0">
                                          <p:val>
                                            <p:fltVal val="0"/>
                                          </p:val>
                                        </p:tav>
                                        <p:tav tm="100000">
                                          <p:val>
                                            <p:strVal val="#ppt_h"/>
                                          </p:val>
                                        </p:tav>
                                      </p:tavLst>
                                    </p:anim>
                                  </p:childTnLst>
                                </p:cTn>
                              </p:par>
                            </p:childTnLst>
                          </p:cTn>
                        </p:par>
                        <p:par>
                          <p:cTn id="74" fill="hold">
                            <p:stCondLst>
                              <p:cond delay="5000"/>
                            </p:stCondLst>
                            <p:childTnLst>
                              <p:par>
                                <p:cTn id="75" presetID="17" presetClass="entr" presetSubtype="8" fill="hold" nodeType="afterEffect">
                                  <p:stCondLst>
                                    <p:cond delay="0"/>
                                  </p:stCondLst>
                                  <p:childTnLst>
                                    <p:set>
                                      <p:cBhvr>
                                        <p:cTn id="76" dur="1" fill="hold">
                                          <p:stCondLst>
                                            <p:cond delay="0"/>
                                          </p:stCondLst>
                                        </p:cTn>
                                        <p:tgtEl>
                                          <p:spTgt spid="79888"/>
                                        </p:tgtEl>
                                        <p:attrNameLst>
                                          <p:attrName>style.visibility</p:attrName>
                                        </p:attrNameLst>
                                      </p:cBhvr>
                                      <p:to>
                                        <p:strVal val="visible"/>
                                      </p:to>
                                    </p:set>
                                    <p:anim calcmode="lin" valueType="num">
                                      <p:cBhvr>
                                        <p:cTn id="77" dur="500" fill="hold"/>
                                        <p:tgtEl>
                                          <p:spTgt spid="79888"/>
                                        </p:tgtEl>
                                        <p:attrNameLst>
                                          <p:attrName>ppt_x</p:attrName>
                                        </p:attrNameLst>
                                      </p:cBhvr>
                                      <p:tavLst>
                                        <p:tav tm="0">
                                          <p:val>
                                            <p:strVal val="#ppt_x-#ppt_w/2"/>
                                          </p:val>
                                        </p:tav>
                                        <p:tav tm="100000">
                                          <p:val>
                                            <p:strVal val="#ppt_x"/>
                                          </p:val>
                                        </p:tav>
                                      </p:tavLst>
                                    </p:anim>
                                    <p:anim calcmode="lin" valueType="num">
                                      <p:cBhvr>
                                        <p:cTn id="78" dur="500" fill="hold"/>
                                        <p:tgtEl>
                                          <p:spTgt spid="79888"/>
                                        </p:tgtEl>
                                        <p:attrNameLst>
                                          <p:attrName>ppt_y</p:attrName>
                                        </p:attrNameLst>
                                      </p:cBhvr>
                                      <p:tavLst>
                                        <p:tav tm="0">
                                          <p:val>
                                            <p:strVal val="#ppt_y"/>
                                          </p:val>
                                        </p:tav>
                                        <p:tav tm="100000">
                                          <p:val>
                                            <p:strVal val="#ppt_y"/>
                                          </p:val>
                                        </p:tav>
                                      </p:tavLst>
                                    </p:anim>
                                    <p:anim calcmode="lin" valueType="num">
                                      <p:cBhvr>
                                        <p:cTn id="79" dur="500" fill="hold"/>
                                        <p:tgtEl>
                                          <p:spTgt spid="79888"/>
                                        </p:tgtEl>
                                        <p:attrNameLst>
                                          <p:attrName>ppt_w</p:attrName>
                                        </p:attrNameLst>
                                      </p:cBhvr>
                                      <p:tavLst>
                                        <p:tav tm="0">
                                          <p:val>
                                            <p:fltVal val="0"/>
                                          </p:val>
                                        </p:tav>
                                        <p:tav tm="100000">
                                          <p:val>
                                            <p:strVal val="#ppt_w"/>
                                          </p:val>
                                        </p:tav>
                                      </p:tavLst>
                                    </p:anim>
                                    <p:anim calcmode="lin" valueType="num">
                                      <p:cBhvr>
                                        <p:cTn id="80" dur="500" fill="hold"/>
                                        <p:tgtEl>
                                          <p:spTgt spid="79888"/>
                                        </p:tgtEl>
                                        <p:attrNameLst>
                                          <p:attrName>ppt_h</p:attrName>
                                        </p:attrNameLst>
                                      </p:cBhvr>
                                      <p:tavLst>
                                        <p:tav tm="0">
                                          <p:val>
                                            <p:strVal val="#ppt_h"/>
                                          </p:val>
                                        </p:tav>
                                        <p:tav tm="100000">
                                          <p:val>
                                            <p:strVal val="#ppt_h"/>
                                          </p:val>
                                        </p:tav>
                                      </p:tavLst>
                                    </p:anim>
                                  </p:childTnLst>
                                </p:cTn>
                              </p:par>
                            </p:childTnLst>
                          </p:cTn>
                        </p:par>
                        <p:par>
                          <p:cTn id="81" fill="hold">
                            <p:stCondLst>
                              <p:cond delay="5500"/>
                            </p:stCondLst>
                            <p:childTnLst>
                              <p:par>
                                <p:cTn id="82" presetID="17" presetClass="entr" presetSubtype="8" fill="hold" nodeType="afterEffect">
                                  <p:stCondLst>
                                    <p:cond delay="0"/>
                                  </p:stCondLst>
                                  <p:childTnLst>
                                    <p:set>
                                      <p:cBhvr>
                                        <p:cTn id="83" dur="1" fill="hold">
                                          <p:stCondLst>
                                            <p:cond delay="0"/>
                                          </p:stCondLst>
                                        </p:cTn>
                                        <p:tgtEl>
                                          <p:spTgt spid="79889"/>
                                        </p:tgtEl>
                                        <p:attrNameLst>
                                          <p:attrName>style.visibility</p:attrName>
                                        </p:attrNameLst>
                                      </p:cBhvr>
                                      <p:to>
                                        <p:strVal val="visible"/>
                                      </p:to>
                                    </p:set>
                                    <p:anim calcmode="lin" valueType="num">
                                      <p:cBhvr>
                                        <p:cTn id="84" dur="500" fill="hold"/>
                                        <p:tgtEl>
                                          <p:spTgt spid="79889"/>
                                        </p:tgtEl>
                                        <p:attrNameLst>
                                          <p:attrName>ppt_x</p:attrName>
                                        </p:attrNameLst>
                                      </p:cBhvr>
                                      <p:tavLst>
                                        <p:tav tm="0">
                                          <p:val>
                                            <p:strVal val="#ppt_x-#ppt_w/2"/>
                                          </p:val>
                                        </p:tav>
                                        <p:tav tm="100000">
                                          <p:val>
                                            <p:strVal val="#ppt_x"/>
                                          </p:val>
                                        </p:tav>
                                      </p:tavLst>
                                    </p:anim>
                                    <p:anim calcmode="lin" valueType="num">
                                      <p:cBhvr>
                                        <p:cTn id="85" dur="500" fill="hold"/>
                                        <p:tgtEl>
                                          <p:spTgt spid="79889"/>
                                        </p:tgtEl>
                                        <p:attrNameLst>
                                          <p:attrName>ppt_y</p:attrName>
                                        </p:attrNameLst>
                                      </p:cBhvr>
                                      <p:tavLst>
                                        <p:tav tm="0">
                                          <p:val>
                                            <p:strVal val="#ppt_y"/>
                                          </p:val>
                                        </p:tav>
                                        <p:tav tm="100000">
                                          <p:val>
                                            <p:strVal val="#ppt_y"/>
                                          </p:val>
                                        </p:tav>
                                      </p:tavLst>
                                    </p:anim>
                                    <p:anim calcmode="lin" valueType="num">
                                      <p:cBhvr>
                                        <p:cTn id="86" dur="500" fill="hold"/>
                                        <p:tgtEl>
                                          <p:spTgt spid="79889"/>
                                        </p:tgtEl>
                                        <p:attrNameLst>
                                          <p:attrName>ppt_w</p:attrName>
                                        </p:attrNameLst>
                                      </p:cBhvr>
                                      <p:tavLst>
                                        <p:tav tm="0">
                                          <p:val>
                                            <p:fltVal val="0"/>
                                          </p:val>
                                        </p:tav>
                                        <p:tav tm="100000">
                                          <p:val>
                                            <p:strVal val="#ppt_w"/>
                                          </p:val>
                                        </p:tav>
                                      </p:tavLst>
                                    </p:anim>
                                    <p:anim calcmode="lin" valueType="num">
                                      <p:cBhvr>
                                        <p:cTn id="87" dur="500" fill="hold"/>
                                        <p:tgtEl>
                                          <p:spTgt spid="79889"/>
                                        </p:tgtEl>
                                        <p:attrNameLst>
                                          <p:attrName>ppt_h</p:attrName>
                                        </p:attrNameLst>
                                      </p:cBhvr>
                                      <p:tavLst>
                                        <p:tav tm="0">
                                          <p:val>
                                            <p:strVal val="#ppt_h"/>
                                          </p:val>
                                        </p:tav>
                                        <p:tav tm="100000">
                                          <p:val>
                                            <p:strVal val="#ppt_h"/>
                                          </p:val>
                                        </p:tav>
                                      </p:tavLst>
                                    </p:anim>
                                  </p:childTnLst>
                                </p:cTn>
                              </p:par>
                            </p:childTnLst>
                          </p:cTn>
                        </p:par>
                        <p:par>
                          <p:cTn id="88" fill="hold">
                            <p:stCondLst>
                              <p:cond delay="6000"/>
                            </p:stCondLst>
                            <p:childTnLst>
                              <p:par>
                                <p:cTn id="89" presetID="17" presetClass="entr" presetSubtype="8" fill="hold" grpId="0" nodeType="afterEffect">
                                  <p:stCondLst>
                                    <p:cond delay="0"/>
                                  </p:stCondLst>
                                  <p:childTnLst>
                                    <p:set>
                                      <p:cBhvr>
                                        <p:cTn id="90" dur="1" fill="hold">
                                          <p:stCondLst>
                                            <p:cond delay="0"/>
                                          </p:stCondLst>
                                        </p:cTn>
                                        <p:tgtEl>
                                          <p:spTgt spid="79890"/>
                                        </p:tgtEl>
                                        <p:attrNameLst>
                                          <p:attrName>style.visibility</p:attrName>
                                        </p:attrNameLst>
                                      </p:cBhvr>
                                      <p:to>
                                        <p:strVal val="visible"/>
                                      </p:to>
                                    </p:set>
                                    <p:anim calcmode="lin" valueType="num">
                                      <p:cBhvr>
                                        <p:cTn id="91" dur="500" fill="hold"/>
                                        <p:tgtEl>
                                          <p:spTgt spid="79890"/>
                                        </p:tgtEl>
                                        <p:attrNameLst>
                                          <p:attrName>ppt_x</p:attrName>
                                        </p:attrNameLst>
                                      </p:cBhvr>
                                      <p:tavLst>
                                        <p:tav tm="0">
                                          <p:val>
                                            <p:strVal val="#ppt_x-#ppt_w/2"/>
                                          </p:val>
                                        </p:tav>
                                        <p:tav tm="100000">
                                          <p:val>
                                            <p:strVal val="#ppt_x"/>
                                          </p:val>
                                        </p:tav>
                                      </p:tavLst>
                                    </p:anim>
                                    <p:anim calcmode="lin" valueType="num">
                                      <p:cBhvr>
                                        <p:cTn id="92" dur="500" fill="hold"/>
                                        <p:tgtEl>
                                          <p:spTgt spid="79890"/>
                                        </p:tgtEl>
                                        <p:attrNameLst>
                                          <p:attrName>ppt_y</p:attrName>
                                        </p:attrNameLst>
                                      </p:cBhvr>
                                      <p:tavLst>
                                        <p:tav tm="0">
                                          <p:val>
                                            <p:strVal val="#ppt_y"/>
                                          </p:val>
                                        </p:tav>
                                        <p:tav tm="100000">
                                          <p:val>
                                            <p:strVal val="#ppt_y"/>
                                          </p:val>
                                        </p:tav>
                                      </p:tavLst>
                                    </p:anim>
                                    <p:anim calcmode="lin" valueType="num">
                                      <p:cBhvr>
                                        <p:cTn id="93" dur="500" fill="hold"/>
                                        <p:tgtEl>
                                          <p:spTgt spid="79890"/>
                                        </p:tgtEl>
                                        <p:attrNameLst>
                                          <p:attrName>ppt_w</p:attrName>
                                        </p:attrNameLst>
                                      </p:cBhvr>
                                      <p:tavLst>
                                        <p:tav tm="0">
                                          <p:val>
                                            <p:fltVal val="0"/>
                                          </p:val>
                                        </p:tav>
                                        <p:tav tm="100000">
                                          <p:val>
                                            <p:strVal val="#ppt_w"/>
                                          </p:val>
                                        </p:tav>
                                      </p:tavLst>
                                    </p:anim>
                                    <p:anim calcmode="lin" valueType="num">
                                      <p:cBhvr>
                                        <p:cTn id="94" dur="500" fill="hold"/>
                                        <p:tgtEl>
                                          <p:spTgt spid="79890"/>
                                        </p:tgtEl>
                                        <p:attrNameLst>
                                          <p:attrName>ppt_h</p:attrName>
                                        </p:attrNameLst>
                                      </p:cBhvr>
                                      <p:tavLst>
                                        <p:tav tm="0">
                                          <p:val>
                                            <p:strVal val="#ppt_h"/>
                                          </p:val>
                                        </p:tav>
                                        <p:tav tm="100000">
                                          <p:val>
                                            <p:strVal val="#ppt_h"/>
                                          </p:val>
                                        </p:tav>
                                      </p:tavLst>
                                    </p:anim>
                                  </p:childTnLst>
                                </p:cTn>
                              </p:par>
                            </p:childTnLst>
                          </p:cTn>
                        </p:par>
                        <p:par>
                          <p:cTn id="95" fill="hold">
                            <p:stCondLst>
                              <p:cond delay="6500"/>
                            </p:stCondLst>
                            <p:childTnLst>
                              <p:par>
                                <p:cTn id="96" presetID="17" presetClass="entr" presetSubtype="1" fill="hold" grpId="0" nodeType="afterEffect">
                                  <p:stCondLst>
                                    <p:cond delay="0"/>
                                  </p:stCondLst>
                                  <p:childTnLst>
                                    <p:set>
                                      <p:cBhvr>
                                        <p:cTn id="97" dur="1" fill="hold">
                                          <p:stCondLst>
                                            <p:cond delay="0"/>
                                          </p:stCondLst>
                                        </p:cTn>
                                        <p:tgtEl>
                                          <p:spTgt spid="79891"/>
                                        </p:tgtEl>
                                        <p:attrNameLst>
                                          <p:attrName>style.visibility</p:attrName>
                                        </p:attrNameLst>
                                      </p:cBhvr>
                                      <p:to>
                                        <p:strVal val="visible"/>
                                      </p:to>
                                    </p:set>
                                    <p:anim calcmode="lin" valueType="num">
                                      <p:cBhvr>
                                        <p:cTn id="98" dur="500" fill="hold"/>
                                        <p:tgtEl>
                                          <p:spTgt spid="79891"/>
                                        </p:tgtEl>
                                        <p:attrNameLst>
                                          <p:attrName>ppt_x</p:attrName>
                                        </p:attrNameLst>
                                      </p:cBhvr>
                                      <p:tavLst>
                                        <p:tav tm="0">
                                          <p:val>
                                            <p:strVal val="#ppt_x"/>
                                          </p:val>
                                        </p:tav>
                                        <p:tav tm="100000">
                                          <p:val>
                                            <p:strVal val="#ppt_x"/>
                                          </p:val>
                                        </p:tav>
                                      </p:tavLst>
                                    </p:anim>
                                    <p:anim calcmode="lin" valueType="num">
                                      <p:cBhvr>
                                        <p:cTn id="99" dur="500" fill="hold"/>
                                        <p:tgtEl>
                                          <p:spTgt spid="79891"/>
                                        </p:tgtEl>
                                        <p:attrNameLst>
                                          <p:attrName>ppt_y</p:attrName>
                                        </p:attrNameLst>
                                      </p:cBhvr>
                                      <p:tavLst>
                                        <p:tav tm="0">
                                          <p:val>
                                            <p:strVal val="#ppt_y-#ppt_h/2"/>
                                          </p:val>
                                        </p:tav>
                                        <p:tav tm="100000">
                                          <p:val>
                                            <p:strVal val="#ppt_y"/>
                                          </p:val>
                                        </p:tav>
                                      </p:tavLst>
                                    </p:anim>
                                    <p:anim calcmode="lin" valueType="num">
                                      <p:cBhvr>
                                        <p:cTn id="100" dur="500" fill="hold"/>
                                        <p:tgtEl>
                                          <p:spTgt spid="79891"/>
                                        </p:tgtEl>
                                        <p:attrNameLst>
                                          <p:attrName>ppt_w</p:attrName>
                                        </p:attrNameLst>
                                      </p:cBhvr>
                                      <p:tavLst>
                                        <p:tav tm="0">
                                          <p:val>
                                            <p:strVal val="#ppt_w"/>
                                          </p:val>
                                        </p:tav>
                                        <p:tav tm="100000">
                                          <p:val>
                                            <p:strVal val="#ppt_w"/>
                                          </p:val>
                                        </p:tav>
                                      </p:tavLst>
                                    </p:anim>
                                    <p:anim calcmode="lin" valueType="num">
                                      <p:cBhvr>
                                        <p:cTn id="101" dur="500" fill="hold"/>
                                        <p:tgtEl>
                                          <p:spTgt spid="79891"/>
                                        </p:tgtEl>
                                        <p:attrNameLst>
                                          <p:attrName>ppt_h</p:attrName>
                                        </p:attrNameLst>
                                      </p:cBhvr>
                                      <p:tavLst>
                                        <p:tav tm="0">
                                          <p:val>
                                            <p:fltVal val="0"/>
                                          </p:val>
                                        </p:tav>
                                        <p:tav tm="100000">
                                          <p:val>
                                            <p:strVal val="#ppt_h"/>
                                          </p:val>
                                        </p:tav>
                                      </p:tavLst>
                                    </p:anim>
                                  </p:childTnLst>
                                </p:cTn>
                              </p:par>
                            </p:childTnLst>
                          </p:cTn>
                        </p:par>
                        <p:par>
                          <p:cTn id="102" fill="hold">
                            <p:stCondLst>
                              <p:cond delay="7000"/>
                            </p:stCondLst>
                            <p:childTnLst>
                              <p:par>
                                <p:cTn id="103" presetID="17" presetClass="entr" presetSubtype="1" fill="hold" nodeType="afterEffect">
                                  <p:stCondLst>
                                    <p:cond delay="0"/>
                                  </p:stCondLst>
                                  <p:childTnLst>
                                    <p:set>
                                      <p:cBhvr>
                                        <p:cTn id="104" dur="1" fill="hold">
                                          <p:stCondLst>
                                            <p:cond delay="0"/>
                                          </p:stCondLst>
                                        </p:cTn>
                                        <p:tgtEl>
                                          <p:spTgt spid="79892"/>
                                        </p:tgtEl>
                                        <p:attrNameLst>
                                          <p:attrName>style.visibility</p:attrName>
                                        </p:attrNameLst>
                                      </p:cBhvr>
                                      <p:to>
                                        <p:strVal val="visible"/>
                                      </p:to>
                                    </p:set>
                                    <p:anim calcmode="lin" valueType="num">
                                      <p:cBhvr>
                                        <p:cTn id="105" dur="500" fill="hold"/>
                                        <p:tgtEl>
                                          <p:spTgt spid="79892"/>
                                        </p:tgtEl>
                                        <p:attrNameLst>
                                          <p:attrName>ppt_x</p:attrName>
                                        </p:attrNameLst>
                                      </p:cBhvr>
                                      <p:tavLst>
                                        <p:tav tm="0">
                                          <p:val>
                                            <p:strVal val="#ppt_x"/>
                                          </p:val>
                                        </p:tav>
                                        <p:tav tm="100000">
                                          <p:val>
                                            <p:strVal val="#ppt_x"/>
                                          </p:val>
                                        </p:tav>
                                      </p:tavLst>
                                    </p:anim>
                                    <p:anim calcmode="lin" valueType="num">
                                      <p:cBhvr>
                                        <p:cTn id="106" dur="500" fill="hold"/>
                                        <p:tgtEl>
                                          <p:spTgt spid="79892"/>
                                        </p:tgtEl>
                                        <p:attrNameLst>
                                          <p:attrName>ppt_y</p:attrName>
                                        </p:attrNameLst>
                                      </p:cBhvr>
                                      <p:tavLst>
                                        <p:tav tm="0">
                                          <p:val>
                                            <p:strVal val="#ppt_y-#ppt_h/2"/>
                                          </p:val>
                                        </p:tav>
                                        <p:tav tm="100000">
                                          <p:val>
                                            <p:strVal val="#ppt_y"/>
                                          </p:val>
                                        </p:tav>
                                      </p:tavLst>
                                    </p:anim>
                                    <p:anim calcmode="lin" valueType="num">
                                      <p:cBhvr>
                                        <p:cTn id="107" dur="500" fill="hold"/>
                                        <p:tgtEl>
                                          <p:spTgt spid="79892"/>
                                        </p:tgtEl>
                                        <p:attrNameLst>
                                          <p:attrName>ppt_w</p:attrName>
                                        </p:attrNameLst>
                                      </p:cBhvr>
                                      <p:tavLst>
                                        <p:tav tm="0">
                                          <p:val>
                                            <p:strVal val="#ppt_w"/>
                                          </p:val>
                                        </p:tav>
                                        <p:tav tm="100000">
                                          <p:val>
                                            <p:strVal val="#ppt_w"/>
                                          </p:val>
                                        </p:tav>
                                      </p:tavLst>
                                    </p:anim>
                                    <p:anim calcmode="lin" valueType="num">
                                      <p:cBhvr>
                                        <p:cTn id="108" dur="500" fill="hold"/>
                                        <p:tgtEl>
                                          <p:spTgt spid="79892"/>
                                        </p:tgtEl>
                                        <p:attrNameLst>
                                          <p:attrName>ppt_h</p:attrName>
                                        </p:attrNameLst>
                                      </p:cBhvr>
                                      <p:tavLst>
                                        <p:tav tm="0">
                                          <p:val>
                                            <p:fltVal val="0"/>
                                          </p:val>
                                        </p:tav>
                                        <p:tav tm="100000">
                                          <p:val>
                                            <p:strVal val="#ppt_h"/>
                                          </p:val>
                                        </p:tav>
                                      </p:tavLst>
                                    </p:anim>
                                  </p:childTnLst>
                                </p:cTn>
                              </p:par>
                            </p:childTnLst>
                          </p:cTn>
                        </p:par>
                        <p:par>
                          <p:cTn id="109" fill="hold">
                            <p:stCondLst>
                              <p:cond delay="7500"/>
                            </p:stCondLst>
                            <p:childTnLst>
                              <p:par>
                                <p:cTn id="110" presetID="17" presetClass="entr" presetSubtype="1" fill="hold" nodeType="afterEffect">
                                  <p:stCondLst>
                                    <p:cond delay="0"/>
                                  </p:stCondLst>
                                  <p:childTnLst>
                                    <p:set>
                                      <p:cBhvr>
                                        <p:cTn id="111" dur="1" fill="hold">
                                          <p:stCondLst>
                                            <p:cond delay="0"/>
                                          </p:stCondLst>
                                        </p:cTn>
                                        <p:tgtEl>
                                          <p:spTgt spid="79893"/>
                                        </p:tgtEl>
                                        <p:attrNameLst>
                                          <p:attrName>style.visibility</p:attrName>
                                        </p:attrNameLst>
                                      </p:cBhvr>
                                      <p:to>
                                        <p:strVal val="visible"/>
                                      </p:to>
                                    </p:set>
                                    <p:anim calcmode="lin" valueType="num">
                                      <p:cBhvr>
                                        <p:cTn id="112" dur="500" fill="hold"/>
                                        <p:tgtEl>
                                          <p:spTgt spid="79893"/>
                                        </p:tgtEl>
                                        <p:attrNameLst>
                                          <p:attrName>ppt_x</p:attrName>
                                        </p:attrNameLst>
                                      </p:cBhvr>
                                      <p:tavLst>
                                        <p:tav tm="0">
                                          <p:val>
                                            <p:strVal val="#ppt_x"/>
                                          </p:val>
                                        </p:tav>
                                        <p:tav tm="100000">
                                          <p:val>
                                            <p:strVal val="#ppt_x"/>
                                          </p:val>
                                        </p:tav>
                                      </p:tavLst>
                                    </p:anim>
                                    <p:anim calcmode="lin" valueType="num">
                                      <p:cBhvr>
                                        <p:cTn id="113" dur="500" fill="hold"/>
                                        <p:tgtEl>
                                          <p:spTgt spid="79893"/>
                                        </p:tgtEl>
                                        <p:attrNameLst>
                                          <p:attrName>ppt_y</p:attrName>
                                        </p:attrNameLst>
                                      </p:cBhvr>
                                      <p:tavLst>
                                        <p:tav tm="0">
                                          <p:val>
                                            <p:strVal val="#ppt_y-#ppt_h/2"/>
                                          </p:val>
                                        </p:tav>
                                        <p:tav tm="100000">
                                          <p:val>
                                            <p:strVal val="#ppt_y"/>
                                          </p:val>
                                        </p:tav>
                                      </p:tavLst>
                                    </p:anim>
                                    <p:anim calcmode="lin" valueType="num">
                                      <p:cBhvr>
                                        <p:cTn id="114" dur="500" fill="hold"/>
                                        <p:tgtEl>
                                          <p:spTgt spid="79893"/>
                                        </p:tgtEl>
                                        <p:attrNameLst>
                                          <p:attrName>ppt_w</p:attrName>
                                        </p:attrNameLst>
                                      </p:cBhvr>
                                      <p:tavLst>
                                        <p:tav tm="0">
                                          <p:val>
                                            <p:strVal val="#ppt_w"/>
                                          </p:val>
                                        </p:tav>
                                        <p:tav tm="100000">
                                          <p:val>
                                            <p:strVal val="#ppt_w"/>
                                          </p:val>
                                        </p:tav>
                                      </p:tavLst>
                                    </p:anim>
                                    <p:anim calcmode="lin" valueType="num">
                                      <p:cBhvr>
                                        <p:cTn id="115" dur="500" fill="hold"/>
                                        <p:tgtEl>
                                          <p:spTgt spid="79893"/>
                                        </p:tgtEl>
                                        <p:attrNameLst>
                                          <p:attrName>ppt_h</p:attrName>
                                        </p:attrNameLst>
                                      </p:cBhvr>
                                      <p:tavLst>
                                        <p:tav tm="0">
                                          <p:val>
                                            <p:fltVal val="0"/>
                                          </p:val>
                                        </p:tav>
                                        <p:tav tm="100000">
                                          <p:val>
                                            <p:strVal val="#ppt_h"/>
                                          </p:val>
                                        </p:tav>
                                      </p:tavLst>
                                    </p:anim>
                                  </p:childTnLst>
                                </p:cTn>
                              </p:par>
                            </p:childTnLst>
                          </p:cTn>
                        </p:par>
                        <p:par>
                          <p:cTn id="116" fill="hold">
                            <p:stCondLst>
                              <p:cond delay="8000"/>
                            </p:stCondLst>
                            <p:childTnLst>
                              <p:par>
                                <p:cTn id="117" presetID="17" presetClass="entr" presetSubtype="1" fill="hold" nodeType="afterEffect">
                                  <p:stCondLst>
                                    <p:cond delay="0"/>
                                  </p:stCondLst>
                                  <p:childTnLst>
                                    <p:set>
                                      <p:cBhvr>
                                        <p:cTn id="118" dur="1" fill="hold">
                                          <p:stCondLst>
                                            <p:cond delay="0"/>
                                          </p:stCondLst>
                                        </p:cTn>
                                        <p:tgtEl>
                                          <p:spTgt spid="79894"/>
                                        </p:tgtEl>
                                        <p:attrNameLst>
                                          <p:attrName>style.visibility</p:attrName>
                                        </p:attrNameLst>
                                      </p:cBhvr>
                                      <p:to>
                                        <p:strVal val="visible"/>
                                      </p:to>
                                    </p:set>
                                    <p:anim calcmode="lin" valueType="num">
                                      <p:cBhvr>
                                        <p:cTn id="119" dur="500" fill="hold"/>
                                        <p:tgtEl>
                                          <p:spTgt spid="79894"/>
                                        </p:tgtEl>
                                        <p:attrNameLst>
                                          <p:attrName>ppt_x</p:attrName>
                                        </p:attrNameLst>
                                      </p:cBhvr>
                                      <p:tavLst>
                                        <p:tav tm="0">
                                          <p:val>
                                            <p:strVal val="#ppt_x"/>
                                          </p:val>
                                        </p:tav>
                                        <p:tav tm="100000">
                                          <p:val>
                                            <p:strVal val="#ppt_x"/>
                                          </p:val>
                                        </p:tav>
                                      </p:tavLst>
                                    </p:anim>
                                    <p:anim calcmode="lin" valueType="num">
                                      <p:cBhvr>
                                        <p:cTn id="120" dur="500" fill="hold"/>
                                        <p:tgtEl>
                                          <p:spTgt spid="79894"/>
                                        </p:tgtEl>
                                        <p:attrNameLst>
                                          <p:attrName>ppt_y</p:attrName>
                                        </p:attrNameLst>
                                      </p:cBhvr>
                                      <p:tavLst>
                                        <p:tav tm="0">
                                          <p:val>
                                            <p:strVal val="#ppt_y-#ppt_h/2"/>
                                          </p:val>
                                        </p:tav>
                                        <p:tav tm="100000">
                                          <p:val>
                                            <p:strVal val="#ppt_y"/>
                                          </p:val>
                                        </p:tav>
                                      </p:tavLst>
                                    </p:anim>
                                    <p:anim calcmode="lin" valueType="num">
                                      <p:cBhvr>
                                        <p:cTn id="121" dur="500" fill="hold"/>
                                        <p:tgtEl>
                                          <p:spTgt spid="79894"/>
                                        </p:tgtEl>
                                        <p:attrNameLst>
                                          <p:attrName>ppt_w</p:attrName>
                                        </p:attrNameLst>
                                      </p:cBhvr>
                                      <p:tavLst>
                                        <p:tav tm="0">
                                          <p:val>
                                            <p:strVal val="#ppt_w"/>
                                          </p:val>
                                        </p:tav>
                                        <p:tav tm="100000">
                                          <p:val>
                                            <p:strVal val="#ppt_w"/>
                                          </p:val>
                                        </p:tav>
                                      </p:tavLst>
                                    </p:anim>
                                    <p:anim calcmode="lin" valueType="num">
                                      <p:cBhvr>
                                        <p:cTn id="122" dur="500" fill="hold"/>
                                        <p:tgtEl>
                                          <p:spTgt spid="79894"/>
                                        </p:tgtEl>
                                        <p:attrNameLst>
                                          <p:attrName>ppt_h</p:attrName>
                                        </p:attrNameLst>
                                      </p:cBhvr>
                                      <p:tavLst>
                                        <p:tav tm="0">
                                          <p:val>
                                            <p:fltVal val="0"/>
                                          </p:val>
                                        </p:tav>
                                        <p:tav tm="100000">
                                          <p:val>
                                            <p:strVal val="#ppt_h"/>
                                          </p:val>
                                        </p:tav>
                                      </p:tavLst>
                                    </p:anim>
                                  </p:childTnLst>
                                </p:cTn>
                              </p:par>
                            </p:childTnLst>
                          </p:cTn>
                        </p:par>
                        <p:par>
                          <p:cTn id="123" fill="hold">
                            <p:stCondLst>
                              <p:cond delay="8500"/>
                            </p:stCondLst>
                            <p:childTnLst>
                              <p:par>
                                <p:cTn id="124" presetID="17" presetClass="entr" presetSubtype="2" fill="hold" nodeType="afterEffect">
                                  <p:stCondLst>
                                    <p:cond delay="0"/>
                                  </p:stCondLst>
                                  <p:childTnLst>
                                    <p:set>
                                      <p:cBhvr>
                                        <p:cTn id="125" dur="1" fill="hold">
                                          <p:stCondLst>
                                            <p:cond delay="0"/>
                                          </p:stCondLst>
                                        </p:cTn>
                                        <p:tgtEl>
                                          <p:spTgt spid="79895"/>
                                        </p:tgtEl>
                                        <p:attrNameLst>
                                          <p:attrName>style.visibility</p:attrName>
                                        </p:attrNameLst>
                                      </p:cBhvr>
                                      <p:to>
                                        <p:strVal val="visible"/>
                                      </p:to>
                                    </p:set>
                                    <p:anim calcmode="lin" valueType="num">
                                      <p:cBhvr>
                                        <p:cTn id="126" dur="500" fill="hold"/>
                                        <p:tgtEl>
                                          <p:spTgt spid="79895"/>
                                        </p:tgtEl>
                                        <p:attrNameLst>
                                          <p:attrName>ppt_x</p:attrName>
                                        </p:attrNameLst>
                                      </p:cBhvr>
                                      <p:tavLst>
                                        <p:tav tm="0">
                                          <p:val>
                                            <p:strVal val="#ppt_x+#ppt_w/2"/>
                                          </p:val>
                                        </p:tav>
                                        <p:tav tm="100000">
                                          <p:val>
                                            <p:strVal val="#ppt_x"/>
                                          </p:val>
                                        </p:tav>
                                      </p:tavLst>
                                    </p:anim>
                                    <p:anim calcmode="lin" valueType="num">
                                      <p:cBhvr>
                                        <p:cTn id="127" dur="500" fill="hold"/>
                                        <p:tgtEl>
                                          <p:spTgt spid="79895"/>
                                        </p:tgtEl>
                                        <p:attrNameLst>
                                          <p:attrName>ppt_y</p:attrName>
                                        </p:attrNameLst>
                                      </p:cBhvr>
                                      <p:tavLst>
                                        <p:tav tm="0">
                                          <p:val>
                                            <p:strVal val="#ppt_y"/>
                                          </p:val>
                                        </p:tav>
                                        <p:tav tm="100000">
                                          <p:val>
                                            <p:strVal val="#ppt_y"/>
                                          </p:val>
                                        </p:tav>
                                      </p:tavLst>
                                    </p:anim>
                                    <p:anim calcmode="lin" valueType="num">
                                      <p:cBhvr>
                                        <p:cTn id="128" dur="500" fill="hold"/>
                                        <p:tgtEl>
                                          <p:spTgt spid="79895"/>
                                        </p:tgtEl>
                                        <p:attrNameLst>
                                          <p:attrName>ppt_w</p:attrName>
                                        </p:attrNameLst>
                                      </p:cBhvr>
                                      <p:tavLst>
                                        <p:tav tm="0">
                                          <p:val>
                                            <p:fltVal val="0"/>
                                          </p:val>
                                        </p:tav>
                                        <p:tav tm="100000">
                                          <p:val>
                                            <p:strVal val="#ppt_w"/>
                                          </p:val>
                                        </p:tav>
                                      </p:tavLst>
                                    </p:anim>
                                    <p:anim calcmode="lin" valueType="num">
                                      <p:cBhvr>
                                        <p:cTn id="129" dur="500" fill="hold"/>
                                        <p:tgtEl>
                                          <p:spTgt spid="79895"/>
                                        </p:tgtEl>
                                        <p:attrNameLst>
                                          <p:attrName>ppt_h</p:attrName>
                                        </p:attrNameLst>
                                      </p:cBhvr>
                                      <p:tavLst>
                                        <p:tav tm="0">
                                          <p:val>
                                            <p:strVal val="#ppt_h"/>
                                          </p:val>
                                        </p:tav>
                                        <p:tav tm="100000">
                                          <p:val>
                                            <p:strVal val="#ppt_h"/>
                                          </p:val>
                                        </p:tav>
                                      </p:tavLst>
                                    </p:anim>
                                  </p:childTnLst>
                                </p:cTn>
                              </p:par>
                            </p:childTnLst>
                          </p:cTn>
                        </p:par>
                        <p:par>
                          <p:cTn id="130" fill="hold">
                            <p:stCondLst>
                              <p:cond delay="9000"/>
                            </p:stCondLst>
                            <p:childTnLst>
                              <p:par>
                                <p:cTn id="131" presetID="17" presetClass="entr" presetSubtype="2" fill="hold" grpId="0" nodeType="afterEffect">
                                  <p:stCondLst>
                                    <p:cond delay="0"/>
                                  </p:stCondLst>
                                  <p:childTnLst>
                                    <p:set>
                                      <p:cBhvr>
                                        <p:cTn id="132" dur="1" fill="hold">
                                          <p:stCondLst>
                                            <p:cond delay="0"/>
                                          </p:stCondLst>
                                        </p:cTn>
                                        <p:tgtEl>
                                          <p:spTgt spid="79897"/>
                                        </p:tgtEl>
                                        <p:attrNameLst>
                                          <p:attrName>style.visibility</p:attrName>
                                        </p:attrNameLst>
                                      </p:cBhvr>
                                      <p:to>
                                        <p:strVal val="visible"/>
                                      </p:to>
                                    </p:set>
                                    <p:anim calcmode="lin" valueType="num">
                                      <p:cBhvr>
                                        <p:cTn id="133" dur="500" fill="hold"/>
                                        <p:tgtEl>
                                          <p:spTgt spid="79897"/>
                                        </p:tgtEl>
                                        <p:attrNameLst>
                                          <p:attrName>ppt_x</p:attrName>
                                        </p:attrNameLst>
                                      </p:cBhvr>
                                      <p:tavLst>
                                        <p:tav tm="0">
                                          <p:val>
                                            <p:strVal val="#ppt_x+#ppt_w/2"/>
                                          </p:val>
                                        </p:tav>
                                        <p:tav tm="100000">
                                          <p:val>
                                            <p:strVal val="#ppt_x"/>
                                          </p:val>
                                        </p:tav>
                                      </p:tavLst>
                                    </p:anim>
                                    <p:anim calcmode="lin" valueType="num">
                                      <p:cBhvr>
                                        <p:cTn id="134" dur="500" fill="hold"/>
                                        <p:tgtEl>
                                          <p:spTgt spid="79897"/>
                                        </p:tgtEl>
                                        <p:attrNameLst>
                                          <p:attrName>ppt_y</p:attrName>
                                        </p:attrNameLst>
                                      </p:cBhvr>
                                      <p:tavLst>
                                        <p:tav tm="0">
                                          <p:val>
                                            <p:strVal val="#ppt_y"/>
                                          </p:val>
                                        </p:tav>
                                        <p:tav tm="100000">
                                          <p:val>
                                            <p:strVal val="#ppt_y"/>
                                          </p:val>
                                        </p:tav>
                                      </p:tavLst>
                                    </p:anim>
                                    <p:anim calcmode="lin" valueType="num">
                                      <p:cBhvr>
                                        <p:cTn id="135" dur="500" fill="hold"/>
                                        <p:tgtEl>
                                          <p:spTgt spid="79897"/>
                                        </p:tgtEl>
                                        <p:attrNameLst>
                                          <p:attrName>ppt_w</p:attrName>
                                        </p:attrNameLst>
                                      </p:cBhvr>
                                      <p:tavLst>
                                        <p:tav tm="0">
                                          <p:val>
                                            <p:fltVal val="0"/>
                                          </p:val>
                                        </p:tav>
                                        <p:tav tm="100000">
                                          <p:val>
                                            <p:strVal val="#ppt_w"/>
                                          </p:val>
                                        </p:tav>
                                      </p:tavLst>
                                    </p:anim>
                                    <p:anim calcmode="lin" valueType="num">
                                      <p:cBhvr>
                                        <p:cTn id="136" dur="500" fill="hold"/>
                                        <p:tgtEl>
                                          <p:spTgt spid="79897"/>
                                        </p:tgtEl>
                                        <p:attrNameLst>
                                          <p:attrName>ppt_h</p:attrName>
                                        </p:attrNameLst>
                                      </p:cBhvr>
                                      <p:tavLst>
                                        <p:tav tm="0">
                                          <p:val>
                                            <p:strVal val="#ppt_h"/>
                                          </p:val>
                                        </p:tav>
                                        <p:tav tm="100000">
                                          <p:val>
                                            <p:strVal val="#ppt_h"/>
                                          </p:val>
                                        </p:tav>
                                      </p:tavLst>
                                    </p:anim>
                                  </p:childTnLst>
                                </p:cTn>
                              </p:par>
                            </p:childTnLst>
                          </p:cTn>
                        </p:par>
                        <p:par>
                          <p:cTn id="137" fill="hold">
                            <p:stCondLst>
                              <p:cond delay="9500"/>
                            </p:stCondLst>
                            <p:childTnLst>
                              <p:par>
                                <p:cTn id="138" presetID="17" presetClass="entr" presetSubtype="1" fill="hold" nodeType="afterEffect">
                                  <p:stCondLst>
                                    <p:cond delay="0"/>
                                  </p:stCondLst>
                                  <p:childTnLst>
                                    <p:set>
                                      <p:cBhvr>
                                        <p:cTn id="139" dur="1" fill="hold">
                                          <p:stCondLst>
                                            <p:cond delay="0"/>
                                          </p:stCondLst>
                                        </p:cTn>
                                        <p:tgtEl>
                                          <p:spTgt spid="79898"/>
                                        </p:tgtEl>
                                        <p:attrNameLst>
                                          <p:attrName>style.visibility</p:attrName>
                                        </p:attrNameLst>
                                      </p:cBhvr>
                                      <p:to>
                                        <p:strVal val="visible"/>
                                      </p:to>
                                    </p:set>
                                    <p:anim calcmode="lin" valueType="num">
                                      <p:cBhvr>
                                        <p:cTn id="140" dur="500" fill="hold"/>
                                        <p:tgtEl>
                                          <p:spTgt spid="79898"/>
                                        </p:tgtEl>
                                        <p:attrNameLst>
                                          <p:attrName>ppt_x</p:attrName>
                                        </p:attrNameLst>
                                      </p:cBhvr>
                                      <p:tavLst>
                                        <p:tav tm="0">
                                          <p:val>
                                            <p:strVal val="#ppt_x"/>
                                          </p:val>
                                        </p:tav>
                                        <p:tav tm="100000">
                                          <p:val>
                                            <p:strVal val="#ppt_x"/>
                                          </p:val>
                                        </p:tav>
                                      </p:tavLst>
                                    </p:anim>
                                    <p:anim calcmode="lin" valueType="num">
                                      <p:cBhvr>
                                        <p:cTn id="141" dur="500" fill="hold"/>
                                        <p:tgtEl>
                                          <p:spTgt spid="79898"/>
                                        </p:tgtEl>
                                        <p:attrNameLst>
                                          <p:attrName>ppt_y</p:attrName>
                                        </p:attrNameLst>
                                      </p:cBhvr>
                                      <p:tavLst>
                                        <p:tav tm="0">
                                          <p:val>
                                            <p:strVal val="#ppt_y-#ppt_h/2"/>
                                          </p:val>
                                        </p:tav>
                                        <p:tav tm="100000">
                                          <p:val>
                                            <p:strVal val="#ppt_y"/>
                                          </p:val>
                                        </p:tav>
                                      </p:tavLst>
                                    </p:anim>
                                    <p:anim calcmode="lin" valueType="num">
                                      <p:cBhvr>
                                        <p:cTn id="142" dur="500" fill="hold"/>
                                        <p:tgtEl>
                                          <p:spTgt spid="79898"/>
                                        </p:tgtEl>
                                        <p:attrNameLst>
                                          <p:attrName>ppt_w</p:attrName>
                                        </p:attrNameLst>
                                      </p:cBhvr>
                                      <p:tavLst>
                                        <p:tav tm="0">
                                          <p:val>
                                            <p:strVal val="#ppt_w"/>
                                          </p:val>
                                        </p:tav>
                                        <p:tav tm="100000">
                                          <p:val>
                                            <p:strVal val="#ppt_w"/>
                                          </p:val>
                                        </p:tav>
                                      </p:tavLst>
                                    </p:anim>
                                    <p:anim calcmode="lin" valueType="num">
                                      <p:cBhvr>
                                        <p:cTn id="143" dur="500" fill="hold"/>
                                        <p:tgtEl>
                                          <p:spTgt spid="79898"/>
                                        </p:tgtEl>
                                        <p:attrNameLst>
                                          <p:attrName>ppt_h</p:attrName>
                                        </p:attrNameLst>
                                      </p:cBhvr>
                                      <p:tavLst>
                                        <p:tav tm="0">
                                          <p:val>
                                            <p:fltVal val="0"/>
                                          </p:val>
                                        </p:tav>
                                        <p:tav tm="100000">
                                          <p:val>
                                            <p:strVal val="#ppt_h"/>
                                          </p:val>
                                        </p:tav>
                                      </p:tavLst>
                                    </p:anim>
                                  </p:childTnLst>
                                </p:cTn>
                              </p:par>
                            </p:childTnLst>
                          </p:cTn>
                        </p:par>
                        <p:par>
                          <p:cTn id="144" fill="hold">
                            <p:stCondLst>
                              <p:cond delay="10000"/>
                            </p:stCondLst>
                            <p:childTnLst>
                              <p:par>
                                <p:cTn id="145" presetID="17" presetClass="entr" presetSubtype="2" fill="hold" nodeType="afterEffect">
                                  <p:stCondLst>
                                    <p:cond delay="0"/>
                                  </p:stCondLst>
                                  <p:childTnLst>
                                    <p:set>
                                      <p:cBhvr>
                                        <p:cTn id="146" dur="1" fill="hold">
                                          <p:stCondLst>
                                            <p:cond delay="0"/>
                                          </p:stCondLst>
                                        </p:cTn>
                                        <p:tgtEl>
                                          <p:spTgt spid="79899"/>
                                        </p:tgtEl>
                                        <p:attrNameLst>
                                          <p:attrName>style.visibility</p:attrName>
                                        </p:attrNameLst>
                                      </p:cBhvr>
                                      <p:to>
                                        <p:strVal val="visible"/>
                                      </p:to>
                                    </p:set>
                                    <p:anim calcmode="lin" valueType="num">
                                      <p:cBhvr>
                                        <p:cTn id="147" dur="500" fill="hold"/>
                                        <p:tgtEl>
                                          <p:spTgt spid="79899"/>
                                        </p:tgtEl>
                                        <p:attrNameLst>
                                          <p:attrName>ppt_x</p:attrName>
                                        </p:attrNameLst>
                                      </p:cBhvr>
                                      <p:tavLst>
                                        <p:tav tm="0">
                                          <p:val>
                                            <p:strVal val="#ppt_x+#ppt_w/2"/>
                                          </p:val>
                                        </p:tav>
                                        <p:tav tm="100000">
                                          <p:val>
                                            <p:strVal val="#ppt_x"/>
                                          </p:val>
                                        </p:tav>
                                      </p:tavLst>
                                    </p:anim>
                                    <p:anim calcmode="lin" valueType="num">
                                      <p:cBhvr>
                                        <p:cTn id="148" dur="500" fill="hold"/>
                                        <p:tgtEl>
                                          <p:spTgt spid="79899"/>
                                        </p:tgtEl>
                                        <p:attrNameLst>
                                          <p:attrName>ppt_y</p:attrName>
                                        </p:attrNameLst>
                                      </p:cBhvr>
                                      <p:tavLst>
                                        <p:tav tm="0">
                                          <p:val>
                                            <p:strVal val="#ppt_y"/>
                                          </p:val>
                                        </p:tav>
                                        <p:tav tm="100000">
                                          <p:val>
                                            <p:strVal val="#ppt_y"/>
                                          </p:val>
                                        </p:tav>
                                      </p:tavLst>
                                    </p:anim>
                                    <p:anim calcmode="lin" valueType="num">
                                      <p:cBhvr>
                                        <p:cTn id="149" dur="500" fill="hold"/>
                                        <p:tgtEl>
                                          <p:spTgt spid="79899"/>
                                        </p:tgtEl>
                                        <p:attrNameLst>
                                          <p:attrName>ppt_w</p:attrName>
                                        </p:attrNameLst>
                                      </p:cBhvr>
                                      <p:tavLst>
                                        <p:tav tm="0">
                                          <p:val>
                                            <p:fltVal val="0"/>
                                          </p:val>
                                        </p:tav>
                                        <p:tav tm="100000">
                                          <p:val>
                                            <p:strVal val="#ppt_w"/>
                                          </p:val>
                                        </p:tav>
                                      </p:tavLst>
                                    </p:anim>
                                    <p:anim calcmode="lin" valueType="num">
                                      <p:cBhvr>
                                        <p:cTn id="150" dur="500" fill="hold"/>
                                        <p:tgtEl>
                                          <p:spTgt spid="79899"/>
                                        </p:tgtEl>
                                        <p:attrNameLst>
                                          <p:attrName>ppt_h</p:attrName>
                                        </p:attrNameLst>
                                      </p:cBhvr>
                                      <p:tavLst>
                                        <p:tav tm="0">
                                          <p:val>
                                            <p:strVal val="#ppt_h"/>
                                          </p:val>
                                        </p:tav>
                                        <p:tav tm="100000">
                                          <p:val>
                                            <p:strVal val="#ppt_h"/>
                                          </p:val>
                                        </p:tav>
                                      </p:tavLst>
                                    </p:anim>
                                  </p:childTnLst>
                                </p:cTn>
                              </p:par>
                            </p:childTnLst>
                          </p:cTn>
                        </p:par>
                        <p:par>
                          <p:cTn id="151" fill="hold">
                            <p:stCondLst>
                              <p:cond delay="10500"/>
                            </p:stCondLst>
                            <p:childTnLst>
                              <p:par>
                                <p:cTn id="152" presetID="17" presetClass="entr" presetSubtype="2" fill="hold" grpId="0" nodeType="afterEffect">
                                  <p:stCondLst>
                                    <p:cond delay="0"/>
                                  </p:stCondLst>
                                  <p:childTnLst>
                                    <p:set>
                                      <p:cBhvr>
                                        <p:cTn id="153" dur="1" fill="hold">
                                          <p:stCondLst>
                                            <p:cond delay="0"/>
                                          </p:stCondLst>
                                        </p:cTn>
                                        <p:tgtEl>
                                          <p:spTgt spid="79900"/>
                                        </p:tgtEl>
                                        <p:attrNameLst>
                                          <p:attrName>style.visibility</p:attrName>
                                        </p:attrNameLst>
                                      </p:cBhvr>
                                      <p:to>
                                        <p:strVal val="visible"/>
                                      </p:to>
                                    </p:set>
                                    <p:anim calcmode="lin" valueType="num">
                                      <p:cBhvr>
                                        <p:cTn id="154" dur="500" fill="hold"/>
                                        <p:tgtEl>
                                          <p:spTgt spid="79900"/>
                                        </p:tgtEl>
                                        <p:attrNameLst>
                                          <p:attrName>ppt_x</p:attrName>
                                        </p:attrNameLst>
                                      </p:cBhvr>
                                      <p:tavLst>
                                        <p:tav tm="0">
                                          <p:val>
                                            <p:strVal val="#ppt_x+#ppt_w/2"/>
                                          </p:val>
                                        </p:tav>
                                        <p:tav tm="100000">
                                          <p:val>
                                            <p:strVal val="#ppt_x"/>
                                          </p:val>
                                        </p:tav>
                                      </p:tavLst>
                                    </p:anim>
                                    <p:anim calcmode="lin" valueType="num">
                                      <p:cBhvr>
                                        <p:cTn id="155" dur="500" fill="hold"/>
                                        <p:tgtEl>
                                          <p:spTgt spid="79900"/>
                                        </p:tgtEl>
                                        <p:attrNameLst>
                                          <p:attrName>ppt_y</p:attrName>
                                        </p:attrNameLst>
                                      </p:cBhvr>
                                      <p:tavLst>
                                        <p:tav tm="0">
                                          <p:val>
                                            <p:strVal val="#ppt_y"/>
                                          </p:val>
                                        </p:tav>
                                        <p:tav tm="100000">
                                          <p:val>
                                            <p:strVal val="#ppt_y"/>
                                          </p:val>
                                        </p:tav>
                                      </p:tavLst>
                                    </p:anim>
                                    <p:anim calcmode="lin" valueType="num">
                                      <p:cBhvr>
                                        <p:cTn id="156" dur="500" fill="hold"/>
                                        <p:tgtEl>
                                          <p:spTgt spid="79900"/>
                                        </p:tgtEl>
                                        <p:attrNameLst>
                                          <p:attrName>ppt_w</p:attrName>
                                        </p:attrNameLst>
                                      </p:cBhvr>
                                      <p:tavLst>
                                        <p:tav tm="0">
                                          <p:val>
                                            <p:fltVal val="0"/>
                                          </p:val>
                                        </p:tav>
                                        <p:tav tm="100000">
                                          <p:val>
                                            <p:strVal val="#ppt_w"/>
                                          </p:val>
                                        </p:tav>
                                      </p:tavLst>
                                    </p:anim>
                                    <p:anim calcmode="lin" valueType="num">
                                      <p:cBhvr>
                                        <p:cTn id="157" dur="500" fill="hold"/>
                                        <p:tgtEl>
                                          <p:spTgt spid="79900"/>
                                        </p:tgtEl>
                                        <p:attrNameLst>
                                          <p:attrName>ppt_h</p:attrName>
                                        </p:attrNameLst>
                                      </p:cBhvr>
                                      <p:tavLst>
                                        <p:tav tm="0">
                                          <p:val>
                                            <p:strVal val="#ppt_h"/>
                                          </p:val>
                                        </p:tav>
                                        <p:tav tm="100000">
                                          <p:val>
                                            <p:strVal val="#ppt_h"/>
                                          </p:val>
                                        </p:tav>
                                      </p:tavLst>
                                    </p:anim>
                                  </p:childTnLst>
                                </p:cTn>
                              </p:par>
                            </p:childTnLst>
                          </p:cTn>
                        </p:par>
                        <p:par>
                          <p:cTn id="158" fill="hold">
                            <p:stCondLst>
                              <p:cond delay="11000"/>
                            </p:stCondLst>
                            <p:childTnLst>
                              <p:par>
                                <p:cTn id="159" presetID="17" presetClass="entr" presetSubtype="1" fill="hold" nodeType="afterEffect">
                                  <p:stCondLst>
                                    <p:cond delay="0"/>
                                  </p:stCondLst>
                                  <p:childTnLst>
                                    <p:set>
                                      <p:cBhvr>
                                        <p:cTn id="160" dur="1" fill="hold">
                                          <p:stCondLst>
                                            <p:cond delay="0"/>
                                          </p:stCondLst>
                                        </p:cTn>
                                        <p:tgtEl>
                                          <p:spTgt spid="79901"/>
                                        </p:tgtEl>
                                        <p:attrNameLst>
                                          <p:attrName>style.visibility</p:attrName>
                                        </p:attrNameLst>
                                      </p:cBhvr>
                                      <p:to>
                                        <p:strVal val="visible"/>
                                      </p:to>
                                    </p:set>
                                    <p:anim calcmode="lin" valueType="num">
                                      <p:cBhvr>
                                        <p:cTn id="161" dur="500" fill="hold"/>
                                        <p:tgtEl>
                                          <p:spTgt spid="79901"/>
                                        </p:tgtEl>
                                        <p:attrNameLst>
                                          <p:attrName>ppt_x</p:attrName>
                                        </p:attrNameLst>
                                      </p:cBhvr>
                                      <p:tavLst>
                                        <p:tav tm="0">
                                          <p:val>
                                            <p:strVal val="#ppt_x"/>
                                          </p:val>
                                        </p:tav>
                                        <p:tav tm="100000">
                                          <p:val>
                                            <p:strVal val="#ppt_x"/>
                                          </p:val>
                                        </p:tav>
                                      </p:tavLst>
                                    </p:anim>
                                    <p:anim calcmode="lin" valueType="num">
                                      <p:cBhvr>
                                        <p:cTn id="162" dur="500" fill="hold"/>
                                        <p:tgtEl>
                                          <p:spTgt spid="79901"/>
                                        </p:tgtEl>
                                        <p:attrNameLst>
                                          <p:attrName>ppt_y</p:attrName>
                                        </p:attrNameLst>
                                      </p:cBhvr>
                                      <p:tavLst>
                                        <p:tav tm="0">
                                          <p:val>
                                            <p:strVal val="#ppt_y-#ppt_h/2"/>
                                          </p:val>
                                        </p:tav>
                                        <p:tav tm="100000">
                                          <p:val>
                                            <p:strVal val="#ppt_y"/>
                                          </p:val>
                                        </p:tav>
                                      </p:tavLst>
                                    </p:anim>
                                    <p:anim calcmode="lin" valueType="num">
                                      <p:cBhvr>
                                        <p:cTn id="163" dur="500" fill="hold"/>
                                        <p:tgtEl>
                                          <p:spTgt spid="79901"/>
                                        </p:tgtEl>
                                        <p:attrNameLst>
                                          <p:attrName>ppt_w</p:attrName>
                                        </p:attrNameLst>
                                      </p:cBhvr>
                                      <p:tavLst>
                                        <p:tav tm="0">
                                          <p:val>
                                            <p:strVal val="#ppt_w"/>
                                          </p:val>
                                        </p:tav>
                                        <p:tav tm="100000">
                                          <p:val>
                                            <p:strVal val="#ppt_w"/>
                                          </p:val>
                                        </p:tav>
                                      </p:tavLst>
                                    </p:anim>
                                    <p:anim calcmode="lin" valueType="num">
                                      <p:cBhvr>
                                        <p:cTn id="164" dur="500" fill="hold"/>
                                        <p:tgtEl>
                                          <p:spTgt spid="79901"/>
                                        </p:tgtEl>
                                        <p:attrNameLst>
                                          <p:attrName>ppt_h</p:attrName>
                                        </p:attrNameLst>
                                      </p:cBhvr>
                                      <p:tavLst>
                                        <p:tav tm="0">
                                          <p:val>
                                            <p:fltVal val="0"/>
                                          </p:val>
                                        </p:tav>
                                        <p:tav tm="100000">
                                          <p:val>
                                            <p:strVal val="#ppt_h"/>
                                          </p:val>
                                        </p:tav>
                                      </p:tavLst>
                                    </p:anim>
                                  </p:childTnLst>
                                </p:cTn>
                              </p:par>
                            </p:childTnLst>
                          </p:cTn>
                        </p:par>
                        <p:par>
                          <p:cTn id="165" fill="hold">
                            <p:stCondLst>
                              <p:cond delay="11500"/>
                            </p:stCondLst>
                            <p:childTnLst>
                              <p:par>
                                <p:cTn id="166" presetID="17" presetClass="entr" presetSubtype="1" fill="hold" nodeType="afterEffect">
                                  <p:stCondLst>
                                    <p:cond delay="0"/>
                                  </p:stCondLst>
                                  <p:childTnLst>
                                    <p:set>
                                      <p:cBhvr>
                                        <p:cTn id="167" dur="1" fill="hold">
                                          <p:stCondLst>
                                            <p:cond delay="0"/>
                                          </p:stCondLst>
                                        </p:cTn>
                                        <p:tgtEl>
                                          <p:spTgt spid="79902"/>
                                        </p:tgtEl>
                                        <p:attrNameLst>
                                          <p:attrName>style.visibility</p:attrName>
                                        </p:attrNameLst>
                                      </p:cBhvr>
                                      <p:to>
                                        <p:strVal val="visible"/>
                                      </p:to>
                                    </p:set>
                                    <p:anim calcmode="lin" valueType="num">
                                      <p:cBhvr>
                                        <p:cTn id="168" dur="500" fill="hold"/>
                                        <p:tgtEl>
                                          <p:spTgt spid="79902"/>
                                        </p:tgtEl>
                                        <p:attrNameLst>
                                          <p:attrName>ppt_x</p:attrName>
                                        </p:attrNameLst>
                                      </p:cBhvr>
                                      <p:tavLst>
                                        <p:tav tm="0">
                                          <p:val>
                                            <p:strVal val="#ppt_x"/>
                                          </p:val>
                                        </p:tav>
                                        <p:tav tm="100000">
                                          <p:val>
                                            <p:strVal val="#ppt_x"/>
                                          </p:val>
                                        </p:tav>
                                      </p:tavLst>
                                    </p:anim>
                                    <p:anim calcmode="lin" valueType="num">
                                      <p:cBhvr>
                                        <p:cTn id="169" dur="500" fill="hold"/>
                                        <p:tgtEl>
                                          <p:spTgt spid="79902"/>
                                        </p:tgtEl>
                                        <p:attrNameLst>
                                          <p:attrName>ppt_y</p:attrName>
                                        </p:attrNameLst>
                                      </p:cBhvr>
                                      <p:tavLst>
                                        <p:tav tm="0">
                                          <p:val>
                                            <p:strVal val="#ppt_y-#ppt_h/2"/>
                                          </p:val>
                                        </p:tav>
                                        <p:tav tm="100000">
                                          <p:val>
                                            <p:strVal val="#ppt_y"/>
                                          </p:val>
                                        </p:tav>
                                      </p:tavLst>
                                    </p:anim>
                                    <p:anim calcmode="lin" valueType="num">
                                      <p:cBhvr>
                                        <p:cTn id="170" dur="500" fill="hold"/>
                                        <p:tgtEl>
                                          <p:spTgt spid="79902"/>
                                        </p:tgtEl>
                                        <p:attrNameLst>
                                          <p:attrName>ppt_w</p:attrName>
                                        </p:attrNameLst>
                                      </p:cBhvr>
                                      <p:tavLst>
                                        <p:tav tm="0">
                                          <p:val>
                                            <p:strVal val="#ppt_w"/>
                                          </p:val>
                                        </p:tav>
                                        <p:tav tm="100000">
                                          <p:val>
                                            <p:strVal val="#ppt_w"/>
                                          </p:val>
                                        </p:tav>
                                      </p:tavLst>
                                    </p:anim>
                                    <p:anim calcmode="lin" valueType="num">
                                      <p:cBhvr>
                                        <p:cTn id="171" dur="500" fill="hold"/>
                                        <p:tgtEl>
                                          <p:spTgt spid="7990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9" grpId="0" bldLvl="0" animBg="1"/>
      <p:bldP spid="79881" grpId="0"/>
      <p:bldP spid="79884" grpId="0"/>
      <p:bldP spid="79885" grpId="0" bldLvl="0" animBg="1"/>
      <p:bldP spid="79887" grpId="0"/>
      <p:bldP spid="79890" grpId="0"/>
      <p:bldP spid="79891" grpId="0" bldLvl="0" animBg="1"/>
      <p:bldP spid="79897" grpId="0"/>
      <p:bldP spid="7990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文本占位符 73730"/>
          <p:cNvSpPr>
            <a:spLocks noGrp="1"/>
          </p:cNvSpPr>
          <p:nvPr>
            <p:ph type="body" idx="1"/>
          </p:nvPr>
        </p:nvSpPr>
        <p:spPr>
          <a:xfrm>
            <a:off x="647700" y="1094105"/>
            <a:ext cx="7848600" cy="3441700"/>
          </a:xfrm>
        </p:spPr>
        <p:txBody>
          <a:bodyPr lIns="92075" tIns="46038" rIns="92075" bIns="46038"/>
          <a:lstStyle/>
          <a:p>
            <a:pPr marL="284480" indent="-284480">
              <a:lnSpc>
                <a:spcPct val="110000"/>
              </a:lnSpc>
            </a:pPr>
            <a:r>
              <a:rPr lang="zh-CN" altLang="en-US" sz="1800" b="1" dirty="0">
                <a:solidFill>
                  <a:srgbClr val="D60093"/>
                </a:solidFill>
              </a:rPr>
              <a:t>例</a:t>
            </a:r>
            <a:r>
              <a:rPr lang="en-US" altLang="zh-CN" sz="1800" b="1" dirty="0">
                <a:solidFill>
                  <a:srgbClr val="D60093"/>
                </a:solidFill>
              </a:rPr>
              <a:t>5-2</a:t>
            </a:r>
            <a:endParaRPr lang="zh-CN" altLang="en-US" sz="1800" b="1" dirty="0">
              <a:solidFill>
                <a:srgbClr val="D60093"/>
              </a:solidFill>
            </a:endParaRPr>
          </a:p>
          <a:p>
            <a:pPr marL="284480" indent="-284480">
              <a:lnSpc>
                <a:spcPct val="110000"/>
              </a:lnSpc>
            </a:pPr>
            <a:r>
              <a:rPr lang="zh-CN" altLang="en-US" sz="1800" b="1" dirty="0">
                <a:solidFill>
                  <a:srgbClr val="D60093"/>
                </a:solidFill>
              </a:rPr>
              <a:t>     设</a:t>
            </a:r>
            <a:r>
              <a:rPr lang="en-US" altLang="zh-CN" sz="1800" b="1" dirty="0">
                <a:solidFill>
                  <a:srgbClr val="D60093"/>
                </a:solidFill>
              </a:rPr>
              <a:t>C51</a:t>
            </a:r>
            <a:r>
              <a:rPr lang="zh-CN" altLang="en-US" sz="1800" b="1" dirty="0">
                <a:solidFill>
                  <a:srgbClr val="D60093"/>
                </a:solidFill>
              </a:rPr>
              <a:t>的片外中断为高优先级，片内中断为低优先级。设置</a:t>
            </a:r>
            <a:r>
              <a:rPr lang="en-US" altLang="zh-CN" sz="1800" b="1" dirty="0">
                <a:solidFill>
                  <a:srgbClr val="D60093"/>
                </a:solidFill>
              </a:rPr>
              <a:t>IP</a:t>
            </a:r>
            <a:r>
              <a:rPr lang="zh-CN" altLang="en-US" sz="1800" b="1" dirty="0">
                <a:solidFill>
                  <a:srgbClr val="D60093"/>
                </a:solidFill>
              </a:rPr>
              <a:t>相应值。</a:t>
            </a:r>
            <a:endParaRPr lang="zh-CN" altLang="en-US" sz="1800" dirty="0"/>
          </a:p>
          <a:p>
            <a:pPr marL="284480" indent="-284480">
              <a:lnSpc>
                <a:spcPct val="110000"/>
              </a:lnSpc>
              <a:buNone/>
            </a:pPr>
            <a:r>
              <a:rPr lang="zh-CN" altLang="en-US" sz="1800" b="1" dirty="0">
                <a:solidFill>
                  <a:srgbClr val="CC3300"/>
                </a:solidFill>
              </a:rPr>
              <a:t>解：（</a:t>
            </a:r>
            <a:r>
              <a:rPr lang="en-US" altLang="zh-CN" sz="1800" b="1" dirty="0">
                <a:solidFill>
                  <a:srgbClr val="CC3300"/>
                </a:solidFill>
              </a:rPr>
              <a:t>IP</a:t>
            </a:r>
            <a:r>
              <a:rPr lang="zh-CN" altLang="en-US" sz="1800" b="1" dirty="0">
                <a:solidFill>
                  <a:srgbClr val="CC3300"/>
                </a:solidFill>
              </a:rPr>
              <a:t>）</a:t>
            </a:r>
            <a:r>
              <a:rPr lang="en-US" altLang="zh-CN" sz="1800" b="1" dirty="0">
                <a:solidFill>
                  <a:srgbClr val="CC3300"/>
                </a:solidFill>
              </a:rPr>
              <a:t>=00000101B=05H</a:t>
            </a:r>
            <a:endParaRPr lang="en-US" altLang="zh-CN" sz="1800" dirty="0">
              <a:solidFill>
                <a:srgbClr val="CC3300"/>
              </a:solidFill>
            </a:endParaRPr>
          </a:p>
          <a:p>
            <a:pPr marL="284480" indent="-284480">
              <a:lnSpc>
                <a:spcPct val="110000"/>
              </a:lnSpc>
              <a:buNone/>
            </a:pPr>
            <a:r>
              <a:rPr lang="en-US" altLang="zh-CN" sz="1800" b="1" dirty="0">
                <a:solidFill>
                  <a:srgbClr val="0066FF"/>
                </a:solidFill>
              </a:rPr>
              <a:t>(a)</a:t>
            </a:r>
            <a:r>
              <a:rPr lang="zh-CN" altLang="en-US" sz="1800" b="1" dirty="0">
                <a:solidFill>
                  <a:srgbClr val="0066FF"/>
                </a:solidFill>
              </a:rPr>
              <a:t>用字节操作指令</a:t>
            </a:r>
            <a:endParaRPr lang="zh-CN" altLang="en-US" sz="1800" dirty="0"/>
          </a:p>
          <a:p>
            <a:pPr marL="284480" indent="-284480">
              <a:lnSpc>
                <a:spcPct val="110000"/>
              </a:lnSpc>
              <a:buNone/>
            </a:pPr>
            <a:r>
              <a:rPr lang="zh-CN" altLang="en-US" sz="1800" dirty="0"/>
              <a:t>             </a:t>
            </a:r>
            <a:r>
              <a:rPr lang="en-US" altLang="zh-CN" sz="1800" b="1" dirty="0"/>
              <a:t>MOV    IP</a:t>
            </a:r>
            <a:r>
              <a:rPr lang="zh-CN" altLang="en-US" sz="1800" b="1" dirty="0"/>
              <a:t>，</a:t>
            </a:r>
            <a:r>
              <a:rPr lang="en-US" altLang="zh-CN" sz="1800" b="1" dirty="0"/>
              <a:t>#05H</a:t>
            </a:r>
            <a:r>
              <a:rPr lang="zh-CN" altLang="en-US" sz="1800" b="1" dirty="0"/>
              <a:t>；或  </a:t>
            </a:r>
            <a:r>
              <a:rPr lang="en-US" altLang="zh-CN" sz="1800" b="1" dirty="0"/>
              <a:t>MOV   0B8H</a:t>
            </a:r>
            <a:r>
              <a:rPr lang="zh-CN" altLang="en-US" sz="1800" b="1" dirty="0"/>
              <a:t>，</a:t>
            </a:r>
            <a:r>
              <a:rPr lang="en-US" altLang="zh-CN" sz="1800" b="1" dirty="0"/>
              <a:t>#05H</a:t>
            </a:r>
            <a:r>
              <a:rPr lang="zh-CN" altLang="en-US" sz="1800" b="1" dirty="0"/>
              <a:t>；</a:t>
            </a:r>
            <a:endParaRPr lang="zh-CN" altLang="en-US" sz="1800" dirty="0"/>
          </a:p>
          <a:p>
            <a:pPr marL="284480" indent="-284480">
              <a:lnSpc>
                <a:spcPct val="110000"/>
              </a:lnSpc>
              <a:buNone/>
            </a:pPr>
            <a:r>
              <a:rPr lang="en-US" altLang="zh-CN" sz="1800" b="1" dirty="0">
                <a:solidFill>
                  <a:srgbClr val="0066FF"/>
                </a:solidFill>
              </a:rPr>
              <a:t>(b)</a:t>
            </a:r>
            <a:r>
              <a:rPr lang="zh-CN" altLang="en-US" sz="1800" b="1" dirty="0">
                <a:solidFill>
                  <a:srgbClr val="0066FF"/>
                </a:solidFill>
              </a:rPr>
              <a:t>用为操作指令</a:t>
            </a:r>
            <a:endParaRPr lang="zh-CN" altLang="en-US" sz="1800" dirty="0"/>
          </a:p>
          <a:p>
            <a:pPr marL="284480" indent="-284480">
              <a:lnSpc>
                <a:spcPct val="110000"/>
              </a:lnSpc>
              <a:buNone/>
            </a:pPr>
            <a:r>
              <a:rPr lang="zh-CN" altLang="en-US" sz="1800" b="1" dirty="0"/>
              <a:t>            </a:t>
            </a:r>
            <a:r>
              <a:rPr lang="en-US" altLang="zh-CN" sz="1800" b="1" dirty="0"/>
              <a:t>SETB    PX0</a:t>
            </a:r>
          </a:p>
          <a:p>
            <a:pPr marL="284480" indent="-284480">
              <a:lnSpc>
                <a:spcPct val="110000"/>
              </a:lnSpc>
              <a:buNone/>
            </a:pPr>
            <a:r>
              <a:rPr lang="en-US" altLang="zh-CN" sz="1800" b="1" dirty="0"/>
              <a:t>            SETB    PX1</a:t>
            </a:r>
          </a:p>
          <a:p>
            <a:pPr marL="284480" indent="-284480">
              <a:lnSpc>
                <a:spcPct val="110000"/>
              </a:lnSpc>
              <a:buNone/>
            </a:pPr>
            <a:r>
              <a:rPr lang="en-US" altLang="zh-CN" sz="1800" b="1" dirty="0"/>
              <a:t>            CLR     PS</a:t>
            </a:r>
          </a:p>
          <a:p>
            <a:pPr marL="284480" indent="-284480">
              <a:lnSpc>
                <a:spcPct val="110000"/>
              </a:lnSpc>
              <a:buNone/>
            </a:pPr>
            <a:r>
              <a:rPr lang="en-US" altLang="zh-CN" sz="1800" b="1" dirty="0"/>
              <a:t>            CLR     PT0</a:t>
            </a:r>
          </a:p>
          <a:p>
            <a:pPr marL="284480" indent="-284480">
              <a:lnSpc>
                <a:spcPct val="110000"/>
              </a:lnSpc>
              <a:buNone/>
            </a:pPr>
            <a:r>
              <a:rPr lang="en-US" altLang="zh-CN" sz="1800" b="1" dirty="0"/>
              <a:t>            CLR     PT1</a:t>
            </a:r>
          </a:p>
        </p:txBody>
      </p:sp>
      <p:sp>
        <p:nvSpPr>
          <p:cNvPr id="60418" name="标题 60417"/>
          <p:cNvSpPr>
            <a:spLocks noGrp="1"/>
          </p:cNvSpPr>
          <p:nvPr/>
        </p:nvSpPr>
        <p:spPr>
          <a:xfrm>
            <a:off x="1479550" y="360045"/>
            <a:ext cx="2981960" cy="365760"/>
          </a:xfrm>
          <a:prstGeom prst="rect">
            <a:avLst/>
          </a:prstGeom>
        </p:spPr>
        <p:txBody>
          <a:bodyPr wrap="square" lIns="46038" tIns="46038" rIns="46038" bIns="46038" anchor="b">
            <a:spAutoFit/>
          </a:bodyPr>
          <a:lstStyle>
            <a:lvl1pPr>
              <a:defRPr sz="2400" b="1" i="0">
                <a:solidFill>
                  <a:srgbClr val="252525"/>
                </a:solidFill>
                <a:latin typeface="微软雅黑" panose="020B0503020204020204" charset="-122"/>
                <a:ea typeface="+mj-ea"/>
                <a:cs typeface="微软雅黑" panose="020B0503020204020204" charset="-122"/>
              </a:defRPr>
            </a:lvl1pPr>
          </a:lstStyle>
          <a:p>
            <a:r>
              <a:rPr lang="zh-CN" altLang="en-US" dirty="0"/>
              <a:t>三、中断优先级控制</a:t>
            </a:r>
            <a:endParaRPr lang="zh-CN" altLang="en-US"/>
          </a:p>
        </p:txBody>
      </p:sp>
      <p:sp>
        <p:nvSpPr>
          <p:cNvPr id="4" name="灯片编号占位符 3"/>
          <p:cNvSpPr>
            <a:spLocks noGrp="1"/>
          </p:cNvSpPr>
          <p:nvPr>
            <p:ph type="sldNum" sz="quarter" idx="7"/>
          </p:nvPr>
        </p:nvSpPr>
        <p:spPr/>
        <p:txBody>
          <a:bodyPr/>
          <a:lstStyle/>
          <a:p>
            <a:pPr marL="25400">
              <a:lnSpc>
                <a:spcPct val="100000"/>
              </a:lnSpc>
              <a:spcBef>
                <a:spcPts val="185"/>
              </a:spcBef>
            </a:pPr>
            <a:fld id="{81D60167-4931-47E6-BA6A-407CBD079E47}" type="slidenum">
              <a:rPr spc="-5" dirty="0"/>
              <a:t>15</a:t>
            </a:fld>
            <a:endParaRPr spc="-5" dirty="0"/>
          </a:p>
        </p:txBody>
      </p:sp>
    </p:spTree>
  </p:cSld>
  <p:clrMapOvr>
    <a:masterClrMapping/>
  </p:clrMapOvr>
  <p:transition advClick="0">
    <p:cut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50365" y="425450"/>
            <a:ext cx="4768215" cy="381635"/>
          </a:xfrm>
          <a:prstGeom prst="rect">
            <a:avLst/>
          </a:prstGeom>
        </p:spPr>
        <p:txBody>
          <a:bodyPr vert="horz" wrap="square" lIns="0" tIns="12700" rIns="0" bIns="0" rtlCol="0">
            <a:spAutoFit/>
          </a:bodyPr>
          <a:lstStyle/>
          <a:p>
            <a:pPr marL="12700">
              <a:lnSpc>
                <a:spcPct val="100000"/>
              </a:lnSpc>
              <a:spcBef>
                <a:spcPts val="100"/>
              </a:spcBef>
            </a:pPr>
            <a:r>
              <a:rPr lang="en-US" sz="2400" spc="10" dirty="0">
                <a:ea typeface="微软雅黑" panose="020B0503020204020204" charset="-122"/>
              </a:rPr>
              <a:t>§</a:t>
            </a:r>
            <a:r>
              <a:rPr lang="en-US" sz="2400" spc="10" dirty="0"/>
              <a:t>5.4  </a:t>
            </a:r>
            <a:r>
              <a:rPr sz="2400" spc="10" dirty="0"/>
              <a:t>中断响应</a:t>
            </a:r>
            <a:r>
              <a:rPr lang="zh-CN" sz="2400" spc="10" dirty="0"/>
              <a:t>及中断处理过程</a:t>
            </a:r>
            <a:endParaRPr sz="2400"/>
          </a:p>
        </p:txBody>
      </p:sp>
      <p:sp>
        <p:nvSpPr>
          <p:cNvPr id="24" name="文本框 23"/>
          <p:cNvSpPr txBox="1"/>
          <p:nvPr/>
        </p:nvSpPr>
        <p:spPr>
          <a:xfrm>
            <a:off x="1981200" y="1828800"/>
            <a:ext cx="4551025" cy="3046988"/>
          </a:xfrm>
          <a:prstGeom prst="rect">
            <a:avLst/>
          </a:prstGeom>
          <a:noFill/>
        </p:spPr>
        <p:txBody>
          <a:bodyPr wrap="square" rtlCol="0" anchor="t">
            <a:spAutoFit/>
          </a:bodyPr>
          <a:lstStyle/>
          <a:p>
            <a:r>
              <a:rPr lang="zh-CN" altLang="en-US" sz="2400" b="1" spc="10" dirty="0">
                <a:solidFill>
                  <a:srgbClr val="0000FF"/>
                </a:solidFill>
                <a:sym typeface="+mn-ea"/>
              </a:rPr>
              <a:t>中断处理过程可分为</a:t>
            </a:r>
            <a:r>
              <a:rPr lang="en-US" altLang="zh-CN" sz="2400" b="1" spc="10" dirty="0">
                <a:solidFill>
                  <a:srgbClr val="0000FF"/>
                </a:solidFill>
                <a:sym typeface="+mn-ea"/>
              </a:rPr>
              <a:t>3</a:t>
            </a:r>
            <a:r>
              <a:rPr lang="zh-CN" altLang="en-US" sz="2400" b="1" spc="10" dirty="0">
                <a:solidFill>
                  <a:srgbClr val="0000FF"/>
                </a:solidFill>
                <a:sym typeface="+mn-ea"/>
              </a:rPr>
              <a:t>个阶段：</a:t>
            </a:r>
            <a:endParaRPr lang="en-US" altLang="zh-CN" sz="2400" b="1" spc="10" dirty="0">
              <a:solidFill>
                <a:srgbClr val="0000FF"/>
              </a:solidFill>
              <a:sym typeface="+mn-ea"/>
            </a:endParaRPr>
          </a:p>
          <a:p>
            <a:endParaRPr lang="en-US" altLang="zh-CN" sz="2400" b="1" spc="10" dirty="0">
              <a:solidFill>
                <a:srgbClr val="0000FF"/>
              </a:solidFill>
              <a:sym typeface="+mn-ea"/>
            </a:endParaRPr>
          </a:p>
          <a:p>
            <a:endParaRPr lang="en-US" altLang="zh-CN" sz="2400" b="1" spc="10" dirty="0">
              <a:solidFill>
                <a:srgbClr val="0000FF"/>
              </a:solidFill>
              <a:sym typeface="+mn-ea"/>
            </a:endParaRPr>
          </a:p>
          <a:p>
            <a:pPr marL="342900" indent="-342900">
              <a:buFont typeface="Wingdings" panose="05000000000000000000" pitchFamily="2" charset="2"/>
              <a:buChar char="Ø"/>
            </a:pPr>
            <a:r>
              <a:rPr lang="en-US" altLang="zh-CN" sz="2400" b="1" spc="10" dirty="0">
                <a:solidFill>
                  <a:srgbClr val="0000FF"/>
                </a:solidFill>
                <a:sym typeface="+mn-ea"/>
              </a:rPr>
              <a:t>	</a:t>
            </a:r>
            <a:r>
              <a:rPr lang="zh-CN" altLang="en-US" sz="2400" b="1" spc="10" dirty="0">
                <a:solidFill>
                  <a:srgbClr val="0000FF"/>
                </a:solidFill>
                <a:sym typeface="+mn-ea"/>
              </a:rPr>
              <a:t>中断响应</a:t>
            </a:r>
            <a:endParaRPr lang="en-US" altLang="zh-CN" sz="2400" b="1" spc="10" dirty="0">
              <a:solidFill>
                <a:srgbClr val="0000FF"/>
              </a:solidFill>
              <a:sym typeface="+mn-ea"/>
            </a:endParaRPr>
          </a:p>
          <a:p>
            <a:endParaRPr lang="en-US" altLang="zh-CN" sz="2400" b="1" spc="10" dirty="0">
              <a:solidFill>
                <a:srgbClr val="0000FF"/>
              </a:solidFill>
              <a:sym typeface="+mn-ea"/>
            </a:endParaRPr>
          </a:p>
          <a:p>
            <a:pPr marL="342900" indent="-342900">
              <a:buFont typeface="Wingdings" panose="05000000000000000000" pitchFamily="2" charset="2"/>
              <a:buChar char="Ø"/>
            </a:pPr>
            <a:r>
              <a:rPr lang="en-US" altLang="zh-CN" sz="2400" b="1" spc="10" dirty="0">
                <a:solidFill>
                  <a:srgbClr val="0000FF"/>
                </a:solidFill>
                <a:sym typeface="+mn-ea"/>
              </a:rPr>
              <a:t>	</a:t>
            </a:r>
            <a:r>
              <a:rPr lang="zh-CN" altLang="en-US" sz="2400" b="1" spc="10" dirty="0">
                <a:solidFill>
                  <a:srgbClr val="0000FF"/>
                </a:solidFill>
                <a:sym typeface="+mn-ea"/>
              </a:rPr>
              <a:t>中断处理</a:t>
            </a:r>
            <a:endParaRPr lang="en-US" altLang="zh-CN" sz="2400" b="1" spc="10" dirty="0">
              <a:solidFill>
                <a:srgbClr val="0000FF"/>
              </a:solidFill>
              <a:sym typeface="+mn-ea"/>
            </a:endParaRPr>
          </a:p>
          <a:p>
            <a:endParaRPr lang="en-US" altLang="zh-CN" sz="2400" b="1" spc="10" dirty="0">
              <a:solidFill>
                <a:srgbClr val="0000FF"/>
              </a:solidFill>
              <a:sym typeface="+mn-ea"/>
            </a:endParaRPr>
          </a:p>
          <a:p>
            <a:pPr marL="342900" indent="-342900">
              <a:buFont typeface="Wingdings" panose="05000000000000000000" pitchFamily="2" charset="2"/>
              <a:buChar char="Ø"/>
            </a:pPr>
            <a:r>
              <a:rPr lang="en-US" altLang="zh-CN" sz="2400" b="1" spc="10" dirty="0">
                <a:solidFill>
                  <a:srgbClr val="0000FF"/>
                </a:solidFill>
                <a:sym typeface="+mn-ea"/>
              </a:rPr>
              <a:t>	</a:t>
            </a:r>
            <a:r>
              <a:rPr lang="zh-CN" altLang="en-US" sz="2400" b="1" spc="10" dirty="0">
                <a:solidFill>
                  <a:srgbClr val="0000FF"/>
                </a:solidFill>
                <a:sym typeface="+mn-ea"/>
              </a:rPr>
              <a:t>中断返回</a:t>
            </a:r>
            <a:endParaRPr lang="zh-CN" sz="2400" b="1" spc="10" dirty="0">
              <a:solidFill>
                <a:srgbClr val="0000FF"/>
              </a:solidFill>
              <a:sym typeface="+mn-ea"/>
            </a:endParaRPr>
          </a:p>
        </p:txBody>
      </p:sp>
    </p:spTree>
    <p:extLst>
      <p:ext uri="{BB962C8B-B14F-4D97-AF65-F5344CB8AC3E}">
        <p14:creationId xmlns:p14="http://schemas.microsoft.com/office/powerpoint/2010/main" val="138020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50365" y="425450"/>
            <a:ext cx="4768215" cy="381635"/>
          </a:xfrm>
          <a:prstGeom prst="rect">
            <a:avLst/>
          </a:prstGeom>
        </p:spPr>
        <p:txBody>
          <a:bodyPr vert="horz" wrap="square" lIns="0" tIns="12700" rIns="0" bIns="0" rtlCol="0">
            <a:spAutoFit/>
          </a:bodyPr>
          <a:lstStyle/>
          <a:p>
            <a:pPr marL="12700">
              <a:lnSpc>
                <a:spcPct val="100000"/>
              </a:lnSpc>
              <a:spcBef>
                <a:spcPts val="100"/>
              </a:spcBef>
            </a:pPr>
            <a:r>
              <a:rPr lang="en-US" sz="2400" spc="10" dirty="0">
                <a:ea typeface="微软雅黑" panose="020B0503020204020204" charset="-122"/>
              </a:rPr>
              <a:t>§</a:t>
            </a:r>
            <a:r>
              <a:rPr lang="en-US" sz="2400" spc="10" dirty="0"/>
              <a:t>5.4  </a:t>
            </a:r>
            <a:r>
              <a:rPr sz="2400" spc="10" dirty="0"/>
              <a:t>中断响应</a:t>
            </a:r>
            <a:r>
              <a:rPr lang="zh-CN" sz="2400" spc="10" dirty="0"/>
              <a:t>及中断处理过程</a:t>
            </a:r>
            <a:endParaRPr sz="2400"/>
          </a:p>
        </p:txBody>
      </p:sp>
      <p:sp>
        <p:nvSpPr>
          <p:cNvPr id="3" name="object 3"/>
          <p:cNvSpPr txBox="1"/>
          <p:nvPr/>
        </p:nvSpPr>
        <p:spPr>
          <a:xfrm>
            <a:off x="2434208" y="1814702"/>
            <a:ext cx="1857375" cy="429259"/>
          </a:xfrm>
          <a:prstGeom prst="rect">
            <a:avLst/>
          </a:prstGeom>
          <a:ln w="25146">
            <a:solidFill>
              <a:srgbClr val="9999FF"/>
            </a:solidFill>
          </a:ln>
        </p:spPr>
        <p:txBody>
          <a:bodyPr vert="horz" wrap="square" lIns="0" tIns="40005" rIns="0" bIns="0" rtlCol="0">
            <a:spAutoFit/>
          </a:bodyPr>
          <a:lstStyle/>
          <a:p>
            <a:pPr marL="124460">
              <a:lnSpc>
                <a:spcPct val="100000"/>
              </a:lnSpc>
              <a:spcBef>
                <a:spcPts val="315"/>
              </a:spcBef>
            </a:pPr>
            <a:r>
              <a:rPr sz="1800" b="1" dirty="0">
                <a:latin typeface="Microsoft JhengHei" panose="020B0604030504040204" charset="-120"/>
                <a:cs typeface="Microsoft JhengHei" panose="020B0604030504040204" charset="-120"/>
              </a:rPr>
              <a:t>中断源发</a:t>
            </a:r>
            <a:r>
              <a:rPr sz="1800" b="1" spc="10" dirty="0">
                <a:latin typeface="Microsoft JhengHei" panose="020B0604030504040204" charset="-120"/>
                <a:cs typeface="Microsoft JhengHei" panose="020B0604030504040204" charset="-120"/>
              </a:rPr>
              <a:t>出</a:t>
            </a:r>
            <a:r>
              <a:rPr sz="1800" b="1" spc="15" dirty="0">
                <a:latin typeface="Microsoft JhengHei" panose="020B0604030504040204" charset="-120"/>
                <a:cs typeface="Microsoft JhengHei" panose="020B0604030504040204" charset="-120"/>
              </a:rPr>
              <a:t>请</a:t>
            </a:r>
            <a:r>
              <a:rPr sz="1800" b="1" dirty="0">
                <a:latin typeface="Microsoft JhengHei" panose="020B0604030504040204" charset="-120"/>
                <a:cs typeface="Microsoft JhengHei" panose="020B0604030504040204" charset="-120"/>
              </a:rPr>
              <a:t>求</a:t>
            </a:r>
            <a:endParaRPr sz="1800">
              <a:latin typeface="Microsoft JhengHei" panose="020B0604030504040204" charset="-120"/>
              <a:cs typeface="Microsoft JhengHei" panose="020B0604030504040204" charset="-120"/>
            </a:endParaRPr>
          </a:p>
        </p:txBody>
      </p:sp>
      <p:sp>
        <p:nvSpPr>
          <p:cNvPr id="4" name="object 4"/>
          <p:cNvSpPr/>
          <p:nvPr/>
        </p:nvSpPr>
        <p:spPr>
          <a:xfrm>
            <a:off x="1648586" y="2613279"/>
            <a:ext cx="3500120" cy="786130"/>
          </a:xfrm>
          <a:custGeom>
            <a:avLst/>
            <a:gdLst/>
            <a:ahLst/>
            <a:cxnLst/>
            <a:rect l="l" t="t" r="r" b="b"/>
            <a:pathLst>
              <a:path w="3500120" h="786130">
                <a:moveTo>
                  <a:pt x="0" y="392811"/>
                </a:moveTo>
                <a:lnTo>
                  <a:pt x="1749933" y="0"/>
                </a:lnTo>
                <a:lnTo>
                  <a:pt x="3499866" y="392811"/>
                </a:lnTo>
                <a:lnTo>
                  <a:pt x="1749933" y="785622"/>
                </a:lnTo>
                <a:lnTo>
                  <a:pt x="0" y="392811"/>
                </a:lnTo>
                <a:close/>
              </a:path>
            </a:pathLst>
          </a:custGeom>
          <a:ln w="25146">
            <a:solidFill>
              <a:srgbClr val="9999CC"/>
            </a:solidFill>
          </a:ln>
        </p:spPr>
        <p:txBody>
          <a:bodyPr wrap="square" lIns="0" tIns="0" rIns="0" bIns="0" rtlCol="0"/>
          <a:lstStyle/>
          <a:p>
            <a:endParaRPr/>
          </a:p>
        </p:txBody>
      </p:sp>
      <p:sp>
        <p:nvSpPr>
          <p:cNvPr id="5" name="object 5"/>
          <p:cNvSpPr/>
          <p:nvPr/>
        </p:nvSpPr>
        <p:spPr>
          <a:xfrm>
            <a:off x="1635633" y="3789807"/>
            <a:ext cx="3500754" cy="786130"/>
          </a:xfrm>
          <a:custGeom>
            <a:avLst/>
            <a:gdLst/>
            <a:ahLst/>
            <a:cxnLst/>
            <a:rect l="l" t="t" r="r" b="b"/>
            <a:pathLst>
              <a:path w="3500754" h="786129">
                <a:moveTo>
                  <a:pt x="0" y="392810"/>
                </a:moveTo>
                <a:lnTo>
                  <a:pt x="1750314" y="0"/>
                </a:lnTo>
                <a:lnTo>
                  <a:pt x="3500628" y="392810"/>
                </a:lnTo>
                <a:lnTo>
                  <a:pt x="1750314" y="785621"/>
                </a:lnTo>
                <a:lnTo>
                  <a:pt x="0" y="392810"/>
                </a:lnTo>
                <a:close/>
              </a:path>
            </a:pathLst>
          </a:custGeom>
          <a:ln w="25146">
            <a:solidFill>
              <a:srgbClr val="9999CC"/>
            </a:solidFill>
          </a:ln>
        </p:spPr>
        <p:txBody>
          <a:bodyPr wrap="square" lIns="0" tIns="0" rIns="0" bIns="0" rtlCol="0"/>
          <a:lstStyle/>
          <a:p>
            <a:endParaRPr/>
          </a:p>
        </p:txBody>
      </p:sp>
      <p:sp>
        <p:nvSpPr>
          <p:cNvPr id="6" name="object 6"/>
          <p:cNvSpPr txBox="1"/>
          <p:nvPr/>
        </p:nvSpPr>
        <p:spPr>
          <a:xfrm>
            <a:off x="2817876" y="4013961"/>
            <a:ext cx="117221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Microsoft JhengHei" panose="020B0604030504040204" charset="-120"/>
                <a:cs typeface="Microsoft JhengHei" panose="020B0604030504040204" charset="-120"/>
              </a:rPr>
              <a:t>中断受阻？</a:t>
            </a:r>
            <a:endParaRPr sz="1800">
              <a:latin typeface="Microsoft JhengHei" panose="020B0604030504040204" charset="-120"/>
              <a:cs typeface="Microsoft JhengHei" panose="020B0604030504040204" charset="-120"/>
            </a:endParaRPr>
          </a:p>
        </p:txBody>
      </p:sp>
      <p:sp>
        <p:nvSpPr>
          <p:cNvPr id="7" name="object 7"/>
          <p:cNvSpPr/>
          <p:nvPr/>
        </p:nvSpPr>
        <p:spPr>
          <a:xfrm>
            <a:off x="3336797" y="2243708"/>
            <a:ext cx="104139" cy="396240"/>
          </a:xfrm>
          <a:custGeom>
            <a:avLst/>
            <a:gdLst/>
            <a:ahLst/>
            <a:cxnLst/>
            <a:rect l="l" t="t" r="r" b="b"/>
            <a:pathLst>
              <a:path w="104139" h="396239">
                <a:moveTo>
                  <a:pt x="7238" y="299338"/>
                </a:moveTo>
                <a:lnTo>
                  <a:pt x="4063" y="301243"/>
                </a:lnTo>
                <a:lnTo>
                  <a:pt x="1015" y="303021"/>
                </a:lnTo>
                <a:lnTo>
                  <a:pt x="0" y="306958"/>
                </a:lnTo>
                <a:lnTo>
                  <a:pt x="1777" y="310006"/>
                </a:lnTo>
                <a:lnTo>
                  <a:pt x="51435" y="395986"/>
                </a:lnTo>
                <a:lnTo>
                  <a:pt x="58990" y="383158"/>
                </a:lnTo>
                <a:lnTo>
                  <a:pt x="44957" y="383158"/>
                </a:lnTo>
                <a:lnTo>
                  <a:pt x="45061" y="359072"/>
                </a:lnTo>
                <a:lnTo>
                  <a:pt x="11175" y="300481"/>
                </a:lnTo>
                <a:lnTo>
                  <a:pt x="7238" y="299338"/>
                </a:lnTo>
                <a:close/>
              </a:path>
              <a:path w="104139" h="396239">
                <a:moveTo>
                  <a:pt x="45061" y="359072"/>
                </a:moveTo>
                <a:lnTo>
                  <a:pt x="44957" y="383158"/>
                </a:lnTo>
                <a:lnTo>
                  <a:pt x="57912" y="383158"/>
                </a:lnTo>
                <a:lnTo>
                  <a:pt x="57925" y="379983"/>
                </a:lnTo>
                <a:lnTo>
                  <a:pt x="45847" y="379856"/>
                </a:lnTo>
                <a:lnTo>
                  <a:pt x="51520" y="370245"/>
                </a:lnTo>
                <a:lnTo>
                  <a:pt x="45061" y="359072"/>
                </a:lnTo>
                <a:close/>
              </a:path>
              <a:path w="104139" h="396239">
                <a:moveTo>
                  <a:pt x="96392" y="299719"/>
                </a:moveTo>
                <a:lnTo>
                  <a:pt x="92455" y="300736"/>
                </a:lnTo>
                <a:lnTo>
                  <a:pt x="90677" y="303911"/>
                </a:lnTo>
                <a:lnTo>
                  <a:pt x="58015" y="359243"/>
                </a:lnTo>
                <a:lnTo>
                  <a:pt x="57912" y="383158"/>
                </a:lnTo>
                <a:lnTo>
                  <a:pt x="58990" y="383158"/>
                </a:lnTo>
                <a:lnTo>
                  <a:pt x="101853" y="310388"/>
                </a:lnTo>
                <a:lnTo>
                  <a:pt x="103631" y="307339"/>
                </a:lnTo>
                <a:lnTo>
                  <a:pt x="102615" y="303402"/>
                </a:lnTo>
                <a:lnTo>
                  <a:pt x="99567" y="301625"/>
                </a:lnTo>
                <a:lnTo>
                  <a:pt x="96392" y="299719"/>
                </a:lnTo>
                <a:close/>
              </a:path>
              <a:path w="104139" h="396239">
                <a:moveTo>
                  <a:pt x="51520" y="370245"/>
                </a:moveTo>
                <a:lnTo>
                  <a:pt x="45847" y="379856"/>
                </a:lnTo>
                <a:lnTo>
                  <a:pt x="57150" y="379983"/>
                </a:lnTo>
                <a:lnTo>
                  <a:pt x="51520" y="370245"/>
                </a:lnTo>
                <a:close/>
              </a:path>
              <a:path w="104139" h="396239">
                <a:moveTo>
                  <a:pt x="58015" y="359243"/>
                </a:moveTo>
                <a:lnTo>
                  <a:pt x="51520" y="370245"/>
                </a:lnTo>
                <a:lnTo>
                  <a:pt x="57150" y="379983"/>
                </a:lnTo>
                <a:lnTo>
                  <a:pt x="57925" y="379983"/>
                </a:lnTo>
                <a:lnTo>
                  <a:pt x="58015" y="359243"/>
                </a:lnTo>
                <a:close/>
              </a:path>
              <a:path w="104139" h="396239">
                <a:moveTo>
                  <a:pt x="59562" y="0"/>
                </a:moveTo>
                <a:lnTo>
                  <a:pt x="46609" y="0"/>
                </a:lnTo>
                <a:lnTo>
                  <a:pt x="45286" y="306958"/>
                </a:lnTo>
                <a:lnTo>
                  <a:pt x="45160" y="359243"/>
                </a:lnTo>
                <a:lnTo>
                  <a:pt x="51520" y="370245"/>
                </a:lnTo>
                <a:lnTo>
                  <a:pt x="58015" y="359243"/>
                </a:lnTo>
                <a:lnTo>
                  <a:pt x="59562" y="0"/>
                </a:lnTo>
                <a:close/>
              </a:path>
            </a:pathLst>
          </a:custGeom>
          <a:solidFill>
            <a:srgbClr val="000000"/>
          </a:solidFill>
        </p:spPr>
        <p:txBody>
          <a:bodyPr wrap="square" lIns="0" tIns="0" rIns="0" bIns="0" rtlCol="0"/>
          <a:lstStyle/>
          <a:p>
            <a:endParaRPr/>
          </a:p>
        </p:txBody>
      </p:sp>
      <p:sp>
        <p:nvSpPr>
          <p:cNvPr id="8" name="object 8"/>
          <p:cNvSpPr/>
          <p:nvPr/>
        </p:nvSpPr>
        <p:spPr>
          <a:xfrm>
            <a:off x="3311651" y="3386708"/>
            <a:ext cx="104139" cy="396240"/>
          </a:xfrm>
          <a:custGeom>
            <a:avLst/>
            <a:gdLst/>
            <a:ahLst/>
            <a:cxnLst/>
            <a:rect l="l" t="t" r="r" b="b"/>
            <a:pathLst>
              <a:path w="104139" h="396239">
                <a:moveTo>
                  <a:pt x="7239" y="299338"/>
                </a:moveTo>
                <a:lnTo>
                  <a:pt x="4064" y="301243"/>
                </a:lnTo>
                <a:lnTo>
                  <a:pt x="1016" y="303021"/>
                </a:lnTo>
                <a:lnTo>
                  <a:pt x="0" y="306958"/>
                </a:lnTo>
                <a:lnTo>
                  <a:pt x="1778" y="310006"/>
                </a:lnTo>
                <a:lnTo>
                  <a:pt x="51435" y="395986"/>
                </a:lnTo>
                <a:lnTo>
                  <a:pt x="58990" y="383158"/>
                </a:lnTo>
                <a:lnTo>
                  <a:pt x="44958" y="383158"/>
                </a:lnTo>
                <a:lnTo>
                  <a:pt x="45061" y="359072"/>
                </a:lnTo>
                <a:lnTo>
                  <a:pt x="11175" y="300481"/>
                </a:lnTo>
                <a:lnTo>
                  <a:pt x="7239" y="299338"/>
                </a:lnTo>
                <a:close/>
              </a:path>
              <a:path w="104139" h="396239">
                <a:moveTo>
                  <a:pt x="45061" y="359072"/>
                </a:moveTo>
                <a:lnTo>
                  <a:pt x="44958" y="383158"/>
                </a:lnTo>
                <a:lnTo>
                  <a:pt x="57912" y="383158"/>
                </a:lnTo>
                <a:lnTo>
                  <a:pt x="57925" y="379983"/>
                </a:lnTo>
                <a:lnTo>
                  <a:pt x="45847" y="379856"/>
                </a:lnTo>
                <a:lnTo>
                  <a:pt x="51520" y="370245"/>
                </a:lnTo>
                <a:lnTo>
                  <a:pt x="45061" y="359072"/>
                </a:lnTo>
                <a:close/>
              </a:path>
              <a:path w="104139" h="396239">
                <a:moveTo>
                  <a:pt x="96393" y="299719"/>
                </a:moveTo>
                <a:lnTo>
                  <a:pt x="92456" y="300736"/>
                </a:lnTo>
                <a:lnTo>
                  <a:pt x="90677" y="303911"/>
                </a:lnTo>
                <a:lnTo>
                  <a:pt x="58015" y="359243"/>
                </a:lnTo>
                <a:lnTo>
                  <a:pt x="57912" y="383158"/>
                </a:lnTo>
                <a:lnTo>
                  <a:pt x="58990" y="383158"/>
                </a:lnTo>
                <a:lnTo>
                  <a:pt x="101853" y="310388"/>
                </a:lnTo>
                <a:lnTo>
                  <a:pt x="103632" y="307339"/>
                </a:lnTo>
                <a:lnTo>
                  <a:pt x="102615" y="303402"/>
                </a:lnTo>
                <a:lnTo>
                  <a:pt x="99568" y="301625"/>
                </a:lnTo>
                <a:lnTo>
                  <a:pt x="96393" y="299719"/>
                </a:lnTo>
                <a:close/>
              </a:path>
              <a:path w="104139" h="396239">
                <a:moveTo>
                  <a:pt x="51520" y="370245"/>
                </a:moveTo>
                <a:lnTo>
                  <a:pt x="45847" y="379856"/>
                </a:lnTo>
                <a:lnTo>
                  <a:pt x="57150" y="379983"/>
                </a:lnTo>
                <a:lnTo>
                  <a:pt x="51520" y="370245"/>
                </a:lnTo>
                <a:close/>
              </a:path>
              <a:path w="104139" h="396239">
                <a:moveTo>
                  <a:pt x="58015" y="359243"/>
                </a:moveTo>
                <a:lnTo>
                  <a:pt x="51520" y="370245"/>
                </a:lnTo>
                <a:lnTo>
                  <a:pt x="57150" y="379983"/>
                </a:lnTo>
                <a:lnTo>
                  <a:pt x="57925" y="379983"/>
                </a:lnTo>
                <a:lnTo>
                  <a:pt x="58015" y="359243"/>
                </a:lnTo>
                <a:close/>
              </a:path>
              <a:path w="104139" h="396239">
                <a:moveTo>
                  <a:pt x="59562" y="0"/>
                </a:moveTo>
                <a:lnTo>
                  <a:pt x="46609" y="0"/>
                </a:lnTo>
                <a:lnTo>
                  <a:pt x="45286" y="306958"/>
                </a:lnTo>
                <a:lnTo>
                  <a:pt x="45160" y="359243"/>
                </a:lnTo>
                <a:lnTo>
                  <a:pt x="51520" y="370245"/>
                </a:lnTo>
                <a:lnTo>
                  <a:pt x="58015" y="359243"/>
                </a:lnTo>
                <a:lnTo>
                  <a:pt x="59562" y="0"/>
                </a:lnTo>
                <a:close/>
              </a:path>
            </a:pathLst>
          </a:custGeom>
          <a:solidFill>
            <a:srgbClr val="000000"/>
          </a:solidFill>
        </p:spPr>
        <p:txBody>
          <a:bodyPr wrap="square" lIns="0" tIns="0" rIns="0" bIns="0" rtlCol="0"/>
          <a:lstStyle/>
          <a:p>
            <a:endParaRPr/>
          </a:p>
        </p:txBody>
      </p:sp>
      <p:sp>
        <p:nvSpPr>
          <p:cNvPr id="9" name="object 9"/>
          <p:cNvSpPr txBox="1"/>
          <p:nvPr/>
        </p:nvSpPr>
        <p:spPr>
          <a:xfrm>
            <a:off x="2434208" y="5029580"/>
            <a:ext cx="1857375" cy="429259"/>
          </a:xfrm>
          <a:prstGeom prst="rect">
            <a:avLst/>
          </a:prstGeom>
          <a:ln w="25146">
            <a:solidFill>
              <a:srgbClr val="9999FF"/>
            </a:solidFill>
          </a:ln>
        </p:spPr>
        <p:txBody>
          <a:bodyPr vert="horz" wrap="square" lIns="0" tIns="40640" rIns="0" bIns="0" rtlCol="0">
            <a:spAutoFit/>
          </a:bodyPr>
          <a:lstStyle/>
          <a:p>
            <a:pPr marL="316865">
              <a:lnSpc>
                <a:spcPct val="100000"/>
              </a:lnSpc>
              <a:spcBef>
                <a:spcPts val="320"/>
              </a:spcBef>
            </a:pPr>
            <a:r>
              <a:rPr sz="1800" b="1" spc="-5" dirty="0">
                <a:latin typeface="Times New Roman" panose="02020603050405020304"/>
                <a:cs typeface="Times New Roman" panose="02020603050405020304"/>
              </a:rPr>
              <a:t>PC</a:t>
            </a:r>
            <a:r>
              <a:rPr sz="1800" b="1" spc="5" dirty="0">
                <a:latin typeface="Microsoft JhengHei" panose="020B0604030504040204" charset="-120"/>
                <a:cs typeface="Microsoft JhengHei" panose="020B0604030504040204" charset="-120"/>
              </a:rPr>
              <a:t>断点入栈</a:t>
            </a:r>
            <a:endParaRPr sz="1800">
              <a:latin typeface="Microsoft JhengHei" panose="020B0604030504040204" charset="-120"/>
              <a:cs typeface="Microsoft JhengHei" panose="020B0604030504040204" charset="-120"/>
            </a:endParaRPr>
          </a:p>
        </p:txBody>
      </p:sp>
      <p:sp>
        <p:nvSpPr>
          <p:cNvPr id="10" name="object 10"/>
          <p:cNvSpPr/>
          <p:nvPr/>
        </p:nvSpPr>
        <p:spPr>
          <a:xfrm>
            <a:off x="3311651" y="4601336"/>
            <a:ext cx="104139" cy="396240"/>
          </a:xfrm>
          <a:custGeom>
            <a:avLst/>
            <a:gdLst/>
            <a:ahLst/>
            <a:cxnLst/>
            <a:rect l="l" t="t" r="r" b="b"/>
            <a:pathLst>
              <a:path w="104139" h="396239">
                <a:moveTo>
                  <a:pt x="7239" y="299338"/>
                </a:moveTo>
                <a:lnTo>
                  <a:pt x="4064" y="301244"/>
                </a:lnTo>
                <a:lnTo>
                  <a:pt x="1016" y="303021"/>
                </a:lnTo>
                <a:lnTo>
                  <a:pt x="0" y="306958"/>
                </a:lnTo>
                <a:lnTo>
                  <a:pt x="1778" y="310006"/>
                </a:lnTo>
                <a:lnTo>
                  <a:pt x="51435" y="395986"/>
                </a:lnTo>
                <a:lnTo>
                  <a:pt x="58990" y="383158"/>
                </a:lnTo>
                <a:lnTo>
                  <a:pt x="44958" y="383158"/>
                </a:lnTo>
                <a:lnTo>
                  <a:pt x="45061" y="359072"/>
                </a:lnTo>
                <a:lnTo>
                  <a:pt x="11175" y="300481"/>
                </a:lnTo>
                <a:lnTo>
                  <a:pt x="7239" y="299338"/>
                </a:lnTo>
                <a:close/>
              </a:path>
              <a:path w="104139" h="396239">
                <a:moveTo>
                  <a:pt x="45061" y="359072"/>
                </a:moveTo>
                <a:lnTo>
                  <a:pt x="44958" y="383158"/>
                </a:lnTo>
                <a:lnTo>
                  <a:pt x="57912" y="383158"/>
                </a:lnTo>
                <a:lnTo>
                  <a:pt x="57925" y="379983"/>
                </a:lnTo>
                <a:lnTo>
                  <a:pt x="45847" y="379856"/>
                </a:lnTo>
                <a:lnTo>
                  <a:pt x="51520" y="370245"/>
                </a:lnTo>
                <a:lnTo>
                  <a:pt x="45061" y="359072"/>
                </a:lnTo>
                <a:close/>
              </a:path>
              <a:path w="104139" h="396239">
                <a:moveTo>
                  <a:pt x="96393" y="299719"/>
                </a:moveTo>
                <a:lnTo>
                  <a:pt x="92456" y="300736"/>
                </a:lnTo>
                <a:lnTo>
                  <a:pt x="90677" y="303911"/>
                </a:lnTo>
                <a:lnTo>
                  <a:pt x="58015" y="359243"/>
                </a:lnTo>
                <a:lnTo>
                  <a:pt x="57912" y="383158"/>
                </a:lnTo>
                <a:lnTo>
                  <a:pt x="58990" y="383158"/>
                </a:lnTo>
                <a:lnTo>
                  <a:pt x="101853" y="310388"/>
                </a:lnTo>
                <a:lnTo>
                  <a:pt x="103632" y="307339"/>
                </a:lnTo>
                <a:lnTo>
                  <a:pt x="102615" y="303402"/>
                </a:lnTo>
                <a:lnTo>
                  <a:pt x="99568" y="301625"/>
                </a:lnTo>
                <a:lnTo>
                  <a:pt x="96393" y="299719"/>
                </a:lnTo>
                <a:close/>
              </a:path>
              <a:path w="104139" h="396239">
                <a:moveTo>
                  <a:pt x="51520" y="370245"/>
                </a:moveTo>
                <a:lnTo>
                  <a:pt x="45847" y="379856"/>
                </a:lnTo>
                <a:lnTo>
                  <a:pt x="57150" y="379983"/>
                </a:lnTo>
                <a:lnTo>
                  <a:pt x="51520" y="370245"/>
                </a:lnTo>
                <a:close/>
              </a:path>
              <a:path w="104139" h="396239">
                <a:moveTo>
                  <a:pt x="58015" y="359243"/>
                </a:moveTo>
                <a:lnTo>
                  <a:pt x="51520" y="370245"/>
                </a:lnTo>
                <a:lnTo>
                  <a:pt x="57150" y="379983"/>
                </a:lnTo>
                <a:lnTo>
                  <a:pt x="57925" y="379983"/>
                </a:lnTo>
                <a:lnTo>
                  <a:pt x="58015" y="359243"/>
                </a:lnTo>
                <a:close/>
              </a:path>
              <a:path w="104139" h="396239">
                <a:moveTo>
                  <a:pt x="59562" y="0"/>
                </a:moveTo>
                <a:lnTo>
                  <a:pt x="46609" y="0"/>
                </a:lnTo>
                <a:lnTo>
                  <a:pt x="45286" y="306958"/>
                </a:lnTo>
                <a:lnTo>
                  <a:pt x="45160" y="359243"/>
                </a:lnTo>
                <a:lnTo>
                  <a:pt x="51520" y="370245"/>
                </a:lnTo>
                <a:lnTo>
                  <a:pt x="58015" y="359243"/>
                </a:lnTo>
                <a:lnTo>
                  <a:pt x="59562" y="0"/>
                </a:lnTo>
                <a:close/>
              </a:path>
            </a:pathLst>
          </a:custGeom>
          <a:solidFill>
            <a:srgbClr val="000000"/>
          </a:solidFill>
        </p:spPr>
        <p:txBody>
          <a:bodyPr wrap="square" lIns="0" tIns="0" rIns="0" bIns="0" rtlCol="0"/>
          <a:lstStyle/>
          <a:p>
            <a:endParaRPr/>
          </a:p>
        </p:txBody>
      </p:sp>
      <p:sp>
        <p:nvSpPr>
          <p:cNvPr id="11" name="object 11"/>
          <p:cNvSpPr txBox="1"/>
          <p:nvPr/>
        </p:nvSpPr>
        <p:spPr>
          <a:xfrm>
            <a:off x="2438780" y="5861684"/>
            <a:ext cx="1858010" cy="668655"/>
          </a:xfrm>
          <a:prstGeom prst="rect">
            <a:avLst/>
          </a:prstGeom>
          <a:ln w="25146">
            <a:solidFill>
              <a:srgbClr val="9999FF"/>
            </a:solidFill>
          </a:ln>
        </p:spPr>
        <p:txBody>
          <a:bodyPr vert="horz" wrap="square" lIns="0" tIns="40005" rIns="0" bIns="0" rtlCol="0">
            <a:spAutoFit/>
          </a:bodyPr>
          <a:lstStyle/>
          <a:p>
            <a:pPr marL="699135" marR="235585" indent="-459740">
              <a:lnSpc>
                <a:spcPct val="100000"/>
              </a:lnSpc>
              <a:spcBef>
                <a:spcPts val="315"/>
              </a:spcBef>
            </a:pPr>
            <a:r>
              <a:rPr sz="1800" b="1" dirty="0">
                <a:latin typeface="Microsoft JhengHei" panose="020B0604030504040204" charset="-120"/>
                <a:cs typeface="Microsoft JhengHei" panose="020B0604030504040204" charset="-120"/>
              </a:rPr>
              <a:t>转向中断</a:t>
            </a:r>
            <a:r>
              <a:rPr sz="1800" b="1" spc="10" dirty="0">
                <a:latin typeface="Microsoft JhengHei" panose="020B0604030504040204" charset="-120"/>
                <a:cs typeface="Microsoft JhengHei" panose="020B0604030504040204" charset="-120"/>
              </a:rPr>
              <a:t>服</a:t>
            </a:r>
            <a:r>
              <a:rPr sz="1800" b="1" dirty="0">
                <a:latin typeface="Microsoft JhengHei" panose="020B0604030504040204" charset="-120"/>
                <a:cs typeface="Microsoft JhengHei" panose="020B0604030504040204" charset="-120"/>
              </a:rPr>
              <a:t>务 </a:t>
            </a:r>
            <a:r>
              <a:rPr sz="1800" b="1" spc="5" dirty="0">
                <a:latin typeface="Microsoft JhengHei" panose="020B0604030504040204" charset="-120"/>
                <a:cs typeface="Microsoft JhengHei" panose="020B0604030504040204" charset="-120"/>
              </a:rPr>
              <a:t>程序</a:t>
            </a:r>
            <a:endParaRPr sz="1800">
              <a:latin typeface="Microsoft JhengHei" panose="020B0604030504040204" charset="-120"/>
              <a:cs typeface="Microsoft JhengHei" panose="020B0604030504040204" charset="-120"/>
            </a:endParaRPr>
          </a:p>
        </p:txBody>
      </p:sp>
      <p:sp>
        <p:nvSpPr>
          <p:cNvPr id="12" name="object 12"/>
          <p:cNvSpPr/>
          <p:nvPr/>
        </p:nvSpPr>
        <p:spPr>
          <a:xfrm>
            <a:off x="3311651" y="5458586"/>
            <a:ext cx="104139" cy="396240"/>
          </a:xfrm>
          <a:custGeom>
            <a:avLst/>
            <a:gdLst/>
            <a:ahLst/>
            <a:cxnLst/>
            <a:rect l="l" t="t" r="r" b="b"/>
            <a:pathLst>
              <a:path w="104139" h="396239">
                <a:moveTo>
                  <a:pt x="7239" y="299338"/>
                </a:moveTo>
                <a:lnTo>
                  <a:pt x="4064" y="301244"/>
                </a:lnTo>
                <a:lnTo>
                  <a:pt x="1016" y="303022"/>
                </a:lnTo>
                <a:lnTo>
                  <a:pt x="0" y="306959"/>
                </a:lnTo>
                <a:lnTo>
                  <a:pt x="1778" y="310006"/>
                </a:lnTo>
                <a:lnTo>
                  <a:pt x="51435" y="395985"/>
                </a:lnTo>
                <a:lnTo>
                  <a:pt x="58990" y="383159"/>
                </a:lnTo>
                <a:lnTo>
                  <a:pt x="44958" y="383159"/>
                </a:lnTo>
                <a:lnTo>
                  <a:pt x="45061" y="359072"/>
                </a:lnTo>
                <a:lnTo>
                  <a:pt x="11175" y="300481"/>
                </a:lnTo>
                <a:lnTo>
                  <a:pt x="7239" y="299338"/>
                </a:lnTo>
                <a:close/>
              </a:path>
              <a:path w="104139" h="396239">
                <a:moveTo>
                  <a:pt x="45061" y="359072"/>
                </a:moveTo>
                <a:lnTo>
                  <a:pt x="44958" y="383159"/>
                </a:lnTo>
                <a:lnTo>
                  <a:pt x="57912" y="383159"/>
                </a:lnTo>
                <a:lnTo>
                  <a:pt x="57925" y="379984"/>
                </a:lnTo>
                <a:lnTo>
                  <a:pt x="45847" y="379856"/>
                </a:lnTo>
                <a:lnTo>
                  <a:pt x="51520" y="370245"/>
                </a:lnTo>
                <a:lnTo>
                  <a:pt x="45061" y="359072"/>
                </a:lnTo>
                <a:close/>
              </a:path>
              <a:path w="104139" h="396239">
                <a:moveTo>
                  <a:pt x="96393" y="299719"/>
                </a:moveTo>
                <a:lnTo>
                  <a:pt x="92456" y="300735"/>
                </a:lnTo>
                <a:lnTo>
                  <a:pt x="90677" y="303910"/>
                </a:lnTo>
                <a:lnTo>
                  <a:pt x="58015" y="359243"/>
                </a:lnTo>
                <a:lnTo>
                  <a:pt x="57912" y="383159"/>
                </a:lnTo>
                <a:lnTo>
                  <a:pt x="58990" y="383159"/>
                </a:lnTo>
                <a:lnTo>
                  <a:pt x="101853" y="310388"/>
                </a:lnTo>
                <a:lnTo>
                  <a:pt x="103632" y="307340"/>
                </a:lnTo>
                <a:lnTo>
                  <a:pt x="102615" y="303403"/>
                </a:lnTo>
                <a:lnTo>
                  <a:pt x="99568" y="301625"/>
                </a:lnTo>
                <a:lnTo>
                  <a:pt x="96393" y="299719"/>
                </a:lnTo>
                <a:close/>
              </a:path>
              <a:path w="104139" h="396239">
                <a:moveTo>
                  <a:pt x="51520" y="370245"/>
                </a:moveTo>
                <a:lnTo>
                  <a:pt x="45847" y="379856"/>
                </a:lnTo>
                <a:lnTo>
                  <a:pt x="57150" y="379984"/>
                </a:lnTo>
                <a:lnTo>
                  <a:pt x="51520" y="370245"/>
                </a:lnTo>
                <a:close/>
              </a:path>
              <a:path w="104139" h="396239">
                <a:moveTo>
                  <a:pt x="58015" y="359243"/>
                </a:moveTo>
                <a:lnTo>
                  <a:pt x="51520" y="370245"/>
                </a:lnTo>
                <a:lnTo>
                  <a:pt x="57150" y="379984"/>
                </a:lnTo>
                <a:lnTo>
                  <a:pt x="57925" y="379984"/>
                </a:lnTo>
                <a:lnTo>
                  <a:pt x="58015" y="359243"/>
                </a:lnTo>
                <a:close/>
              </a:path>
              <a:path w="104139" h="396239">
                <a:moveTo>
                  <a:pt x="59562" y="0"/>
                </a:moveTo>
                <a:lnTo>
                  <a:pt x="46609" y="0"/>
                </a:lnTo>
                <a:lnTo>
                  <a:pt x="45286" y="306959"/>
                </a:lnTo>
                <a:lnTo>
                  <a:pt x="45160" y="359243"/>
                </a:lnTo>
                <a:lnTo>
                  <a:pt x="51520" y="370245"/>
                </a:lnTo>
                <a:lnTo>
                  <a:pt x="58015" y="359243"/>
                </a:lnTo>
                <a:lnTo>
                  <a:pt x="59562" y="0"/>
                </a:lnTo>
                <a:close/>
              </a:path>
            </a:pathLst>
          </a:custGeom>
          <a:solidFill>
            <a:srgbClr val="000000"/>
          </a:solidFill>
        </p:spPr>
        <p:txBody>
          <a:bodyPr wrap="square" lIns="0" tIns="0" rIns="0" bIns="0" rtlCol="0"/>
          <a:lstStyle/>
          <a:p>
            <a:endParaRPr/>
          </a:p>
        </p:txBody>
      </p:sp>
      <p:sp>
        <p:nvSpPr>
          <p:cNvPr id="13" name="object 13"/>
          <p:cNvSpPr txBox="1"/>
          <p:nvPr/>
        </p:nvSpPr>
        <p:spPr>
          <a:xfrm>
            <a:off x="3684523" y="3411728"/>
            <a:ext cx="356235" cy="299720"/>
          </a:xfrm>
          <a:prstGeom prst="rect">
            <a:avLst/>
          </a:prstGeom>
        </p:spPr>
        <p:txBody>
          <a:bodyPr vert="horz" wrap="square" lIns="0" tIns="12700" rIns="0" bIns="0" rtlCol="0">
            <a:spAutoFit/>
          </a:bodyPr>
          <a:lstStyle/>
          <a:p>
            <a:pPr marL="12700">
              <a:lnSpc>
                <a:spcPct val="100000"/>
              </a:lnSpc>
              <a:spcBef>
                <a:spcPts val="100"/>
              </a:spcBef>
            </a:pPr>
            <a:r>
              <a:rPr sz="1800" b="1" spc="-204" dirty="0">
                <a:latin typeface="Times New Roman" panose="02020603050405020304"/>
                <a:cs typeface="Times New Roman" panose="02020603050405020304"/>
              </a:rPr>
              <a:t>Y</a:t>
            </a:r>
            <a:r>
              <a:rPr sz="1800" b="1" spc="-5" dirty="0">
                <a:latin typeface="Times New Roman" panose="02020603050405020304"/>
                <a:cs typeface="Times New Roman" panose="02020603050405020304"/>
              </a:rPr>
              <a:t>es</a:t>
            </a:r>
            <a:endParaRPr sz="1800">
              <a:latin typeface="Times New Roman" panose="02020603050405020304"/>
              <a:cs typeface="Times New Roman" panose="02020603050405020304"/>
            </a:endParaRPr>
          </a:p>
        </p:txBody>
      </p:sp>
      <p:sp>
        <p:nvSpPr>
          <p:cNvPr id="14" name="object 14"/>
          <p:cNvSpPr txBox="1"/>
          <p:nvPr/>
        </p:nvSpPr>
        <p:spPr>
          <a:xfrm>
            <a:off x="3781044" y="4554982"/>
            <a:ext cx="3054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Times New Roman" panose="02020603050405020304"/>
                <a:cs typeface="Times New Roman" panose="02020603050405020304"/>
              </a:rPr>
              <a:t>No</a:t>
            </a:r>
            <a:endParaRPr sz="1800">
              <a:latin typeface="Times New Roman" panose="02020603050405020304"/>
              <a:cs typeface="Times New Roman" panose="02020603050405020304"/>
            </a:endParaRPr>
          </a:p>
        </p:txBody>
      </p:sp>
      <p:sp>
        <p:nvSpPr>
          <p:cNvPr id="15" name="object 15"/>
          <p:cNvSpPr txBox="1"/>
          <p:nvPr/>
        </p:nvSpPr>
        <p:spPr>
          <a:xfrm>
            <a:off x="1209039" y="2625852"/>
            <a:ext cx="3029585" cy="511809"/>
          </a:xfrm>
          <a:prstGeom prst="rect">
            <a:avLst/>
          </a:prstGeom>
        </p:spPr>
        <p:txBody>
          <a:bodyPr vert="horz" wrap="square" lIns="0" tIns="12700" rIns="0" bIns="0" rtlCol="0">
            <a:spAutoFit/>
          </a:bodyPr>
          <a:lstStyle/>
          <a:p>
            <a:pPr marL="12700">
              <a:lnSpc>
                <a:spcPts val="1915"/>
              </a:lnSpc>
              <a:spcBef>
                <a:spcPts val="100"/>
              </a:spcBef>
            </a:pPr>
            <a:r>
              <a:rPr sz="1800" b="1" spc="-5" dirty="0">
                <a:latin typeface="Times New Roman" panose="02020603050405020304"/>
                <a:cs typeface="Times New Roman" panose="02020603050405020304"/>
              </a:rPr>
              <a:t>No</a:t>
            </a:r>
            <a:endParaRPr sz="1800" dirty="0">
              <a:latin typeface="Times New Roman" panose="02020603050405020304"/>
              <a:cs typeface="Times New Roman" panose="02020603050405020304"/>
            </a:endParaRPr>
          </a:p>
          <a:p>
            <a:pPr marL="1405255">
              <a:lnSpc>
                <a:spcPts val="1915"/>
              </a:lnSpc>
            </a:pPr>
            <a:r>
              <a:rPr sz="1800" b="1" spc="10" dirty="0">
                <a:latin typeface="Microsoft JhengHei" panose="020B0604030504040204" charset="-120"/>
                <a:cs typeface="Microsoft JhengHei" panose="020B0604030504040204" charset="-120"/>
              </a:rPr>
              <a:t>满足响应条件？</a:t>
            </a:r>
            <a:endParaRPr sz="1800" dirty="0">
              <a:latin typeface="Microsoft JhengHei" panose="020B0604030504040204" charset="-120"/>
              <a:cs typeface="Microsoft JhengHei" panose="020B0604030504040204" charset="-120"/>
            </a:endParaRPr>
          </a:p>
        </p:txBody>
      </p:sp>
      <p:sp>
        <p:nvSpPr>
          <p:cNvPr id="16" name="object 16"/>
          <p:cNvSpPr txBox="1"/>
          <p:nvPr/>
        </p:nvSpPr>
        <p:spPr>
          <a:xfrm>
            <a:off x="1255522" y="3769105"/>
            <a:ext cx="356235" cy="299720"/>
          </a:xfrm>
          <a:prstGeom prst="rect">
            <a:avLst/>
          </a:prstGeom>
        </p:spPr>
        <p:txBody>
          <a:bodyPr vert="horz" wrap="square" lIns="0" tIns="12700" rIns="0" bIns="0" rtlCol="0">
            <a:spAutoFit/>
          </a:bodyPr>
          <a:lstStyle/>
          <a:p>
            <a:pPr marL="12700">
              <a:lnSpc>
                <a:spcPct val="100000"/>
              </a:lnSpc>
              <a:spcBef>
                <a:spcPts val="100"/>
              </a:spcBef>
            </a:pPr>
            <a:r>
              <a:rPr sz="1800" b="1" spc="-204" dirty="0">
                <a:latin typeface="Times New Roman" panose="02020603050405020304"/>
                <a:cs typeface="Times New Roman" panose="02020603050405020304"/>
              </a:rPr>
              <a:t>Y</a:t>
            </a:r>
            <a:r>
              <a:rPr sz="1800" b="1" spc="-5" dirty="0">
                <a:latin typeface="Times New Roman" panose="02020603050405020304"/>
                <a:cs typeface="Times New Roman" panose="02020603050405020304"/>
              </a:rPr>
              <a:t>es</a:t>
            </a:r>
            <a:endParaRPr sz="1800">
              <a:latin typeface="Times New Roman" panose="02020603050405020304"/>
              <a:cs typeface="Times New Roman" panose="02020603050405020304"/>
            </a:endParaRPr>
          </a:p>
        </p:txBody>
      </p:sp>
      <p:sp>
        <p:nvSpPr>
          <p:cNvPr id="17" name="object 17"/>
          <p:cNvSpPr/>
          <p:nvPr/>
        </p:nvSpPr>
        <p:spPr>
          <a:xfrm>
            <a:off x="933805" y="2950972"/>
            <a:ext cx="715010" cy="104139"/>
          </a:xfrm>
          <a:custGeom>
            <a:avLst/>
            <a:gdLst/>
            <a:ahLst/>
            <a:cxnLst/>
            <a:rect l="l" t="t" r="r" b="b"/>
            <a:pathLst>
              <a:path w="715010" h="104139">
                <a:moveTo>
                  <a:pt x="88988" y="0"/>
                </a:moveTo>
                <a:lnTo>
                  <a:pt x="0" y="51688"/>
                </a:lnTo>
                <a:lnTo>
                  <a:pt x="85674" y="101980"/>
                </a:lnTo>
                <a:lnTo>
                  <a:pt x="88760" y="103758"/>
                </a:lnTo>
                <a:lnTo>
                  <a:pt x="92722" y="102742"/>
                </a:lnTo>
                <a:lnTo>
                  <a:pt x="94538" y="99567"/>
                </a:lnTo>
                <a:lnTo>
                  <a:pt x="96342" y="96519"/>
                </a:lnTo>
                <a:lnTo>
                  <a:pt x="95313" y="92582"/>
                </a:lnTo>
                <a:lnTo>
                  <a:pt x="92227" y="90804"/>
                </a:lnTo>
                <a:lnTo>
                  <a:pt x="36762" y="58222"/>
                </a:lnTo>
                <a:lnTo>
                  <a:pt x="12826" y="58165"/>
                </a:lnTo>
                <a:lnTo>
                  <a:pt x="12865" y="45212"/>
                </a:lnTo>
                <a:lnTo>
                  <a:pt x="36937" y="45212"/>
                </a:lnTo>
                <a:lnTo>
                  <a:pt x="95491" y="11302"/>
                </a:lnTo>
                <a:lnTo>
                  <a:pt x="96545" y="7238"/>
                </a:lnTo>
                <a:lnTo>
                  <a:pt x="92951" y="1142"/>
                </a:lnTo>
                <a:lnTo>
                  <a:pt x="88988" y="0"/>
                </a:lnTo>
                <a:close/>
              </a:path>
              <a:path w="715010" h="104139">
                <a:moveTo>
                  <a:pt x="36839" y="45268"/>
                </a:moveTo>
                <a:lnTo>
                  <a:pt x="25696" y="51721"/>
                </a:lnTo>
                <a:lnTo>
                  <a:pt x="36762" y="58222"/>
                </a:lnTo>
                <a:lnTo>
                  <a:pt x="714400" y="59816"/>
                </a:lnTo>
                <a:lnTo>
                  <a:pt x="714400" y="46862"/>
                </a:lnTo>
                <a:lnTo>
                  <a:pt x="36839" y="45268"/>
                </a:lnTo>
                <a:close/>
              </a:path>
              <a:path w="715010" h="104139">
                <a:moveTo>
                  <a:pt x="12865" y="45212"/>
                </a:moveTo>
                <a:lnTo>
                  <a:pt x="12826" y="58165"/>
                </a:lnTo>
                <a:lnTo>
                  <a:pt x="36762" y="58222"/>
                </a:lnTo>
                <a:lnTo>
                  <a:pt x="35153" y="57276"/>
                </a:lnTo>
                <a:lnTo>
                  <a:pt x="16103" y="57276"/>
                </a:lnTo>
                <a:lnTo>
                  <a:pt x="16128" y="46100"/>
                </a:lnTo>
                <a:lnTo>
                  <a:pt x="35402" y="46100"/>
                </a:lnTo>
                <a:lnTo>
                  <a:pt x="36839" y="45268"/>
                </a:lnTo>
                <a:lnTo>
                  <a:pt x="12865" y="45212"/>
                </a:lnTo>
                <a:close/>
              </a:path>
              <a:path w="715010" h="104139">
                <a:moveTo>
                  <a:pt x="16128" y="46100"/>
                </a:moveTo>
                <a:lnTo>
                  <a:pt x="16103" y="57276"/>
                </a:lnTo>
                <a:lnTo>
                  <a:pt x="25696" y="51721"/>
                </a:lnTo>
                <a:lnTo>
                  <a:pt x="16128" y="46100"/>
                </a:lnTo>
                <a:close/>
              </a:path>
              <a:path w="715010" h="104139">
                <a:moveTo>
                  <a:pt x="25696" y="51721"/>
                </a:moveTo>
                <a:lnTo>
                  <a:pt x="16103" y="57276"/>
                </a:lnTo>
                <a:lnTo>
                  <a:pt x="35153" y="57276"/>
                </a:lnTo>
                <a:lnTo>
                  <a:pt x="25696" y="51721"/>
                </a:lnTo>
                <a:close/>
              </a:path>
              <a:path w="715010" h="104139">
                <a:moveTo>
                  <a:pt x="35402" y="46100"/>
                </a:moveTo>
                <a:lnTo>
                  <a:pt x="16128" y="46100"/>
                </a:lnTo>
                <a:lnTo>
                  <a:pt x="25696" y="51721"/>
                </a:lnTo>
                <a:lnTo>
                  <a:pt x="35402" y="46100"/>
                </a:lnTo>
                <a:close/>
              </a:path>
              <a:path w="715010" h="104139">
                <a:moveTo>
                  <a:pt x="36937" y="45212"/>
                </a:moveTo>
                <a:lnTo>
                  <a:pt x="12865" y="45212"/>
                </a:lnTo>
                <a:lnTo>
                  <a:pt x="36839" y="45268"/>
                </a:lnTo>
                <a:close/>
              </a:path>
            </a:pathLst>
          </a:custGeom>
          <a:solidFill>
            <a:srgbClr val="000000"/>
          </a:solidFill>
        </p:spPr>
        <p:txBody>
          <a:bodyPr wrap="square" lIns="0" tIns="0" rIns="0" bIns="0" rtlCol="0"/>
          <a:lstStyle/>
          <a:p>
            <a:endParaRPr/>
          </a:p>
        </p:txBody>
      </p:sp>
      <p:sp>
        <p:nvSpPr>
          <p:cNvPr id="18" name="object 18"/>
          <p:cNvSpPr/>
          <p:nvPr/>
        </p:nvSpPr>
        <p:spPr>
          <a:xfrm>
            <a:off x="933830" y="4172330"/>
            <a:ext cx="714375" cy="1905"/>
          </a:xfrm>
          <a:custGeom>
            <a:avLst/>
            <a:gdLst/>
            <a:ahLst/>
            <a:cxnLst/>
            <a:rect l="l" t="t" r="r" b="b"/>
            <a:pathLst>
              <a:path w="714375" h="1904">
                <a:moveTo>
                  <a:pt x="714375" y="1651"/>
                </a:moveTo>
                <a:lnTo>
                  <a:pt x="0" y="0"/>
                </a:lnTo>
              </a:path>
            </a:pathLst>
          </a:custGeom>
          <a:ln w="12953">
            <a:solidFill>
              <a:srgbClr val="000000"/>
            </a:solidFill>
          </a:ln>
        </p:spPr>
        <p:txBody>
          <a:bodyPr wrap="square" lIns="0" tIns="0" rIns="0" bIns="0" rtlCol="0"/>
          <a:lstStyle/>
          <a:p>
            <a:endParaRPr/>
          </a:p>
        </p:txBody>
      </p:sp>
      <p:sp>
        <p:nvSpPr>
          <p:cNvPr id="19" name="object 19"/>
          <p:cNvSpPr/>
          <p:nvPr/>
        </p:nvSpPr>
        <p:spPr>
          <a:xfrm>
            <a:off x="933069" y="2386964"/>
            <a:ext cx="1905" cy="1786255"/>
          </a:xfrm>
          <a:custGeom>
            <a:avLst/>
            <a:gdLst/>
            <a:ahLst/>
            <a:cxnLst/>
            <a:rect l="l" t="t" r="r" b="b"/>
            <a:pathLst>
              <a:path w="1905" h="1786254">
                <a:moveTo>
                  <a:pt x="0" y="1786001"/>
                </a:moveTo>
                <a:lnTo>
                  <a:pt x="1587" y="0"/>
                </a:lnTo>
              </a:path>
            </a:pathLst>
          </a:custGeom>
          <a:ln w="12954">
            <a:solidFill>
              <a:srgbClr val="000000"/>
            </a:solidFill>
          </a:ln>
        </p:spPr>
        <p:txBody>
          <a:bodyPr wrap="square" lIns="0" tIns="0" rIns="0" bIns="0" rtlCol="0"/>
          <a:lstStyle/>
          <a:p>
            <a:endParaRPr/>
          </a:p>
        </p:txBody>
      </p:sp>
      <p:sp>
        <p:nvSpPr>
          <p:cNvPr id="20" name="object 20"/>
          <p:cNvSpPr/>
          <p:nvPr/>
        </p:nvSpPr>
        <p:spPr>
          <a:xfrm>
            <a:off x="933830" y="2335910"/>
            <a:ext cx="2428875" cy="104139"/>
          </a:xfrm>
          <a:custGeom>
            <a:avLst/>
            <a:gdLst/>
            <a:ahLst/>
            <a:cxnLst/>
            <a:rect l="l" t="t" r="r" b="b"/>
            <a:pathLst>
              <a:path w="2428875" h="104139">
                <a:moveTo>
                  <a:pt x="2340102" y="0"/>
                </a:moveTo>
                <a:lnTo>
                  <a:pt x="2336038" y="1015"/>
                </a:lnTo>
                <a:lnTo>
                  <a:pt x="2334260" y="4063"/>
                </a:lnTo>
                <a:lnTo>
                  <a:pt x="2332482" y="7238"/>
                </a:lnTo>
                <a:lnTo>
                  <a:pt x="2333498" y="11175"/>
                </a:lnTo>
                <a:lnTo>
                  <a:pt x="2336673" y="12953"/>
                </a:lnTo>
                <a:lnTo>
                  <a:pt x="2392071" y="45323"/>
                </a:lnTo>
                <a:lnTo>
                  <a:pt x="2416047" y="45338"/>
                </a:lnTo>
                <a:lnTo>
                  <a:pt x="2416047" y="58292"/>
                </a:lnTo>
                <a:lnTo>
                  <a:pt x="2392063" y="58292"/>
                </a:lnTo>
                <a:lnTo>
                  <a:pt x="2333498" y="92455"/>
                </a:lnTo>
                <a:lnTo>
                  <a:pt x="2332482" y="96392"/>
                </a:lnTo>
                <a:lnTo>
                  <a:pt x="2334260" y="99567"/>
                </a:lnTo>
                <a:lnTo>
                  <a:pt x="2336038" y="102615"/>
                </a:lnTo>
                <a:lnTo>
                  <a:pt x="2339975" y="103631"/>
                </a:lnTo>
                <a:lnTo>
                  <a:pt x="2417762" y="58292"/>
                </a:lnTo>
                <a:lnTo>
                  <a:pt x="2416047" y="58292"/>
                </a:lnTo>
                <a:lnTo>
                  <a:pt x="2417788" y="58277"/>
                </a:lnTo>
                <a:lnTo>
                  <a:pt x="2428874" y="51815"/>
                </a:lnTo>
                <a:lnTo>
                  <a:pt x="2340102" y="0"/>
                </a:lnTo>
                <a:close/>
              </a:path>
              <a:path w="2428875" h="104139">
                <a:moveTo>
                  <a:pt x="2403174" y="51811"/>
                </a:moveTo>
                <a:lnTo>
                  <a:pt x="2392089" y="58277"/>
                </a:lnTo>
                <a:lnTo>
                  <a:pt x="2416047" y="58292"/>
                </a:lnTo>
                <a:lnTo>
                  <a:pt x="2416047" y="57403"/>
                </a:lnTo>
                <a:lnTo>
                  <a:pt x="2412746" y="57403"/>
                </a:lnTo>
                <a:lnTo>
                  <a:pt x="2403174" y="51811"/>
                </a:lnTo>
                <a:close/>
              </a:path>
              <a:path w="2428875" h="104139">
                <a:moveTo>
                  <a:pt x="0" y="43814"/>
                </a:moveTo>
                <a:lnTo>
                  <a:pt x="0" y="56768"/>
                </a:lnTo>
                <a:lnTo>
                  <a:pt x="2392089" y="58277"/>
                </a:lnTo>
                <a:lnTo>
                  <a:pt x="2403174" y="51811"/>
                </a:lnTo>
                <a:lnTo>
                  <a:pt x="2392071" y="45323"/>
                </a:lnTo>
                <a:lnTo>
                  <a:pt x="0" y="43814"/>
                </a:lnTo>
                <a:close/>
              </a:path>
              <a:path w="2428875" h="104139">
                <a:moveTo>
                  <a:pt x="2412746" y="46227"/>
                </a:moveTo>
                <a:lnTo>
                  <a:pt x="2403174" y="51811"/>
                </a:lnTo>
                <a:lnTo>
                  <a:pt x="2412746" y="57403"/>
                </a:lnTo>
                <a:lnTo>
                  <a:pt x="2412746" y="46227"/>
                </a:lnTo>
                <a:close/>
              </a:path>
              <a:path w="2428875" h="104139">
                <a:moveTo>
                  <a:pt x="2416047" y="46227"/>
                </a:moveTo>
                <a:lnTo>
                  <a:pt x="2412746" y="46227"/>
                </a:lnTo>
                <a:lnTo>
                  <a:pt x="2412746" y="57403"/>
                </a:lnTo>
                <a:lnTo>
                  <a:pt x="2416047" y="57403"/>
                </a:lnTo>
                <a:lnTo>
                  <a:pt x="2416047" y="46227"/>
                </a:lnTo>
                <a:close/>
              </a:path>
              <a:path w="2428875" h="104139">
                <a:moveTo>
                  <a:pt x="2392071" y="45323"/>
                </a:moveTo>
                <a:lnTo>
                  <a:pt x="2403174" y="51811"/>
                </a:lnTo>
                <a:lnTo>
                  <a:pt x="2412746" y="46227"/>
                </a:lnTo>
                <a:lnTo>
                  <a:pt x="2416047" y="46227"/>
                </a:lnTo>
                <a:lnTo>
                  <a:pt x="2416047" y="45338"/>
                </a:lnTo>
                <a:lnTo>
                  <a:pt x="2392071" y="45323"/>
                </a:lnTo>
                <a:close/>
              </a:path>
            </a:pathLst>
          </a:custGeom>
          <a:solidFill>
            <a:srgbClr val="000000"/>
          </a:solidFill>
        </p:spPr>
        <p:txBody>
          <a:bodyPr wrap="square" lIns="0" tIns="0" rIns="0" bIns="0" rtlCol="0"/>
          <a:lstStyle/>
          <a:p>
            <a:endParaRPr/>
          </a:p>
        </p:txBody>
      </p:sp>
      <p:sp>
        <p:nvSpPr>
          <p:cNvPr id="21" name="object 21"/>
          <p:cNvSpPr/>
          <p:nvPr/>
        </p:nvSpPr>
        <p:spPr>
          <a:xfrm>
            <a:off x="5686574" y="3061408"/>
            <a:ext cx="2988054" cy="1059560"/>
          </a:xfrm>
          <a:prstGeom prst="rect">
            <a:avLst/>
          </a:prstGeom>
          <a:blipFill>
            <a:blip r:embed="rId2" cstate="print"/>
            <a:stretch>
              <a:fillRect/>
            </a:stretch>
          </a:blipFill>
        </p:spPr>
        <p:txBody>
          <a:bodyPr wrap="square" lIns="0" tIns="0" rIns="0" bIns="0" rtlCol="0"/>
          <a:lstStyle/>
          <a:p>
            <a:endParaRPr/>
          </a:p>
        </p:txBody>
      </p:sp>
      <p:sp>
        <p:nvSpPr>
          <p:cNvPr id="22" name="object 22"/>
          <p:cNvSpPr txBox="1"/>
          <p:nvPr/>
        </p:nvSpPr>
        <p:spPr>
          <a:xfrm>
            <a:off x="5794247" y="3115055"/>
            <a:ext cx="2471420" cy="740410"/>
          </a:xfrm>
          <a:prstGeom prst="rect">
            <a:avLst/>
          </a:prstGeom>
        </p:spPr>
        <p:txBody>
          <a:bodyPr vert="horz" wrap="square" lIns="0" tIns="38100" rIns="0" bIns="0" rtlCol="0">
            <a:spAutoFit/>
          </a:bodyPr>
          <a:lstStyle/>
          <a:p>
            <a:pPr marL="12700" marR="5080">
              <a:lnSpc>
                <a:spcPts val="2750"/>
              </a:lnSpc>
              <a:spcBef>
                <a:spcPts val="300"/>
              </a:spcBef>
            </a:pPr>
            <a:r>
              <a:rPr sz="2400" b="1" dirty="0">
                <a:solidFill>
                  <a:srgbClr val="0000FF"/>
                </a:solidFill>
                <a:latin typeface="Microsoft JhengHei" panose="020B0604030504040204" charset="-120"/>
                <a:cs typeface="Microsoft JhengHei" panose="020B0604030504040204" charset="-120"/>
              </a:rPr>
              <a:t>上</a:t>
            </a:r>
            <a:r>
              <a:rPr sz="2400" b="1" spc="5" dirty="0">
                <a:solidFill>
                  <a:srgbClr val="0000FF"/>
                </a:solidFill>
                <a:latin typeface="Microsoft JhengHei" panose="020B0604030504040204" charset="-120"/>
                <a:cs typeface="Microsoft JhengHei" panose="020B0604030504040204" charset="-120"/>
              </a:rPr>
              <a:t>述</a:t>
            </a:r>
            <a:r>
              <a:rPr sz="2400" b="1" dirty="0">
                <a:solidFill>
                  <a:srgbClr val="0000FF"/>
                </a:solidFill>
                <a:latin typeface="Microsoft JhengHei" panose="020B0604030504040204" charset="-120"/>
                <a:cs typeface="Microsoft JhengHei" panose="020B0604030504040204" charset="-120"/>
              </a:rPr>
              <a:t>操</a:t>
            </a:r>
            <a:r>
              <a:rPr sz="2400" b="1" spc="5" dirty="0">
                <a:solidFill>
                  <a:srgbClr val="0000FF"/>
                </a:solidFill>
                <a:latin typeface="Microsoft JhengHei" panose="020B0604030504040204" charset="-120"/>
                <a:cs typeface="Microsoft JhengHei" panose="020B0604030504040204" charset="-120"/>
              </a:rPr>
              <a:t>作与</a:t>
            </a:r>
            <a:r>
              <a:rPr sz="2400" b="1" spc="15" dirty="0">
                <a:solidFill>
                  <a:srgbClr val="0000FF"/>
                </a:solidFill>
                <a:latin typeface="Microsoft JhengHei" panose="020B0604030504040204" charset="-120"/>
                <a:cs typeface="Microsoft JhengHei" panose="020B0604030504040204" charset="-120"/>
              </a:rPr>
              <a:t>判</a:t>
            </a:r>
            <a:r>
              <a:rPr sz="2400" b="1" spc="5" dirty="0">
                <a:solidFill>
                  <a:srgbClr val="0000FF"/>
                </a:solidFill>
                <a:latin typeface="Microsoft JhengHei" panose="020B0604030504040204" charset="-120"/>
                <a:cs typeface="Microsoft JhengHei" panose="020B0604030504040204" charset="-120"/>
              </a:rPr>
              <a:t>断</a:t>
            </a:r>
            <a:r>
              <a:rPr sz="2400" b="1" dirty="0">
                <a:solidFill>
                  <a:srgbClr val="0000FF"/>
                </a:solidFill>
                <a:latin typeface="Microsoft JhengHei" panose="020B0604030504040204" charset="-120"/>
                <a:cs typeface="Microsoft JhengHei" panose="020B0604030504040204" charset="-120"/>
              </a:rPr>
              <a:t>均 由</a:t>
            </a:r>
            <a:r>
              <a:rPr sz="2400" b="1" spc="5" dirty="0">
                <a:solidFill>
                  <a:srgbClr val="0000FF"/>
                </a:solidFill>
                <a:latin typeface="Microsoft JhengHei" panose="020B0604030504040204" charset="-120"/>
                <a:cs typeface="Microsoft JhengHei" panose="020B0604030504040204" charset="-120"/>
              </a:rPr>
              <a:t>硬</a:t>
            </a:r>
            <a:r>
              <a:rPr sz="2400" b="1" dirty="0">
                <a:solidFill>
                  <a:srgbClr val="0000FF"/>
                </a:solidFill>
                <a:latin typeface="Microsoft JhengHei" panose="020B0604030504040204" charset="-120"/>
                <a:cs typeface="Microsoft JhengHei" panose="020B0604030504040204" charset="-120"/>
              </a:rPr>
              <a:t>件</a:t>
            </a:r>
            <a:r>
              <a:rPr sz="2400" b="1" spc="5" dirty="0">
                <a:solidFill>
                  <a:srgbClr val="0000FF"/>
                </a:solidFill>
                <a:latin typeface="Microsoft JhengHei" panose="020B0604030504040204" charset="-120"/>
                <a:cs typeface="Microsoft JhengHei" panose="020B0604030504040204" charset="-120"/>
              </a:rPr>
              <a:t>自动</a:t>
            </a:r>
            <a:r>
              <a:rPr sz="2400" b="1" spc="15" dirty="0">
                <a:solidFill>
                  <a:srgbClr val="0000FF"/>
                </a:solidFill>
                <a:latin typeface="Microsoft JhengHei" panose="020B0604030504040204" charset="-120"/>
                <a:cs typeface="Microsoft JhengHei" panose="020B0604030504040204" charset="-120"/>
              </a:rPr>
              <a:t>完</a:t>
            </a:r>
            <a:r>
              <a:rPr sz="2400" b="1" spc="5" dirty="0">
                <a:solidFill>
                  <a:srgbClr val="0000FF"/>
                </a:solidFill>
                <a:latin typeface="Microsoft JhengHei" panose="020B0604030504040204" charset="-120"/>
                <a:cs typeface="Microsoft JhengHei" panose="020B0604030504040204" charset="-120"/>
              </a:rPr>
              <a:t>成</a:t>
            </a:r>
            <a:r>
              <a:rPr sz="2400" b="1" dirty="0">
                <a:solidFill>
                  <a:srgbClr val="0000FF"/>
                </a:solidFill>
                <a:latin typeface="Microsoft JhengHei" panose="020B0604030504040204" charset="-120"/>
                <a:cs typeface="Microsoft JhengHei" panose="020B0604030504040204" charset="-120"/>
              </a:rPr>
              <a:t>！</a:t>
            </a:r>
            <a:endParaRPr sz="2400">
              <a:latin typeface="Microsoft JhengHei" panose="020B0604030504040204" charset="-120"/>
              <a:cs typeface="Microsoft JhengHei" panose="020B0604030504040204" charset="-120"/>
            </a:endParaRPr>
          </a:p>
        </p:txBody>
      </p:sp>
      <p:sp>
        <p:nvSpPr>
          <p:cNvPr id="24" name="文本框 23"/>
          <p:cNvSpPr txBox="1"/>
          <p:nvPr/>
        </p:nvSpPr>
        <p:spPr>
          <a:xfrm>
            <a:off x="688975" y="1168400"/>
            <a:ext cx="2026920" cy="460375"/>
          </a:xfrm>
          <a:prstGeom prst="rect">
            <a:avLst/>
          </a:prstGeom>
          <a:noFill/>
        </p:spPr>
        <p:txBody>
          <a:bodyPr wrap="none" rtlCol="0" anchor="t">
            <a:spAutoFit/>
          </a:bodyPr>
          <a:lstStyle/>
          <a:p>
            <a:r>
              <a:rPr sz="2400" b="1" spc="10" dirty="0">
                <a:solidFill>
                  <a:srgbClr val="0000FF"/>
                </a:solidFill>
                <a:sym typeface="+mn-ea"/>
              </a:rPr>
              <a:t>中断响应</a:t>
            </a:r>
            <a:r>
              <a:rPr lang="zh-CN" sz="2400" b="1" spc="10" dirty="0">
                <a:solidFill>
                  <a:srgbClr val="0000FF"/>
                </a:solidFill>
                <a:sym typeface="+mn-ea"/>
              </a:rPr>
              <a:t>过程</a:t>
            </a:r>
          </a:p>
        </p:txBody>
      </p:sp>
      <p:sp>
        <p:nvSpPr>
          <p:cNvPr id="25" name="灯片编号占位符 24"/>
          <p:cNvSpPr>
            <a:spLocks noGrp="1"/>
          </p:cNvSpPr>
          <p:nvPr>
            <p:ph type="sldNum" sz="quarter" idx="7"/>
          </p:nvPr>
        </p:nvSpPr>
        <p:spPr/>
        <p:txBody>
          <a:bodyPr/>
          <a:lstStyle/>
          <a:p>
            <a:pPr marL="25400">
              <a:lnSpc>
                <a:spcPct val="100000"/>
              </a:lnSpc>
              <a:spcBef>
                <a:spcPts val="185"/>
              </a:spcBef>
            </a:pPr>
            <a:fld id="{81D60167-4931-47E6-BA6A-407CBD079E47}" type="slidenum">
              <a:rPr spc="-5" dirty="0"/>
              <a:t>17</a:t>
            </a:fld>
            <a:endParaRPr spc="-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7811" y="1621408"/>
            <a:ext cx="8088630" cy="2844165"/>
          </a:xfrm>
          <a:prstGeom prst="rect">
            <a:avLst/>
          </a:prstGeom>
        </p:spPr>
        <p:txBody>
          <a:bodyPr vert="horz" wrap="square" lIns="0" tIns="12700" rIns="0" bIns="0" rtlCol="0">
            <a:spAutoFit/>
          </a:bodyPr>
          <a:lstStyle/>
          <a:p>
            <a:pPr marL="12700" marR="37465">
              <a:lnSpc>
                <a:spcPct val="150000"/>
              </a:lnSpc>
              <a:spcBef>
                <a:spcPts val="100"/>
              </a:spcBef>
            </a:pPr>
            <a:r>
              <a:rPr b="1" spc="5" dirty="0">
                <a:latin typeface="Microsoft JhengHei" panose="020B0604030504040204" charset="-120"/>
                <a:cs typeface="Microsoft JhengHei" panose="020B0604030504040204" charset="-120"/>
              </a:rPr>
              <a:t>首先</a:t>
            </a:r>
            <a:r>
              <a:rPr b="1" dirty="0">
                <a:solidFill>
                  <a:srgbClr val="3333CC"/>
                </a:solidFill>
                <a:latin typeface="Microsoft JhengHei" panose="020B0604030504040204" charset="-120"/>
                <a:cs typeface="Microsoft JhengHei" panose="020B0604030504040204" charset="-120"/>
              </a:rPr>
              <a:t>硬</a:t>
            </a:r>
            <a:r>
              <a:rPr b="1" spc="5" dirty="0">
                <a:solidFill>
                  <a:srgbClr val="3333CC"/>
                </a:solidFill>
                <a:latin typeface="Microsoft JhengHei" panose="020B0604030504040204" charset="-120"/>
                <a:cs typeface="Microsoft JhengHei" panose="020B0604030504040204" charset="-120"/>
              </a:rPr>
              <a:t>件自</a:t>
            </a:r>
            <a:r>
              <a:rPr b="1" spc="15" dirty="0">
                <a:solidFill>
                  <a:srgbClr val="3333CC"/>
                </a:solidFill>
                <a:latin typeface="Microsoft JhengHei" panose="020B0604030504040204" charset="-120"/>
                <a:cs typeface="Microsoft JhengHei" panose="020B0604030504040204" charset="-120"/>
              </a:rPr>
              <a:t>动</a:t>
            </a:r>
            <a:r>
              <a:rPr b="1" spc="5" dirty="0">
                <a:solidFill>
                  <a:srgbClr val="3333CC"/>
                </a:solidFill>
                <a:latin typeface="Microsoft JhengHei" panose="020B0604030504040204" charset="-120"/>
                <a:cs typeface="Microsoft JhengHei" panose="020B0604030504040204" charset="-120"/>
              </a:rPr>
              <a:t>生</a:t>
            </a:r>
            <a:r>
              <a:rPr b="1" spc="20" dirty="0">
                <a:solidFill>
                  <a:srgbClr val="3333CC"/>
                </a:solidFill>
                <a:latin typeface="Microsoft JhengHei" panose="020B0604030504040204" charset="-120"/>
                <a:cs typeface="Microsoft JhengHei" panose="020B0604030504040204" charset="-120"/>
              </a:rPr>
              <a:t>成</a:t>
            </a:r>
            <a:r>
              <a:rPr b="1" spc="10" dirty="0">
                <a:solidFill>
                  <a:srgbClr val="FF3300"/>
                </a:solidFill>
                <a:latin typeface="Microsoft JhengHei" panose="020B0604030504040204" charset="-120"/>
                <a:cs typeface="Microsoft JhengHei" panose="020B0604030504040204" charset="-120"/>
              </a:rPr>
              <a:t>一条长调用指令</a:t>
            </a:r>
            <a:r>
              <a:rPr b="1" spc="-5" dirty="0">
                <a:latin typeface="Microsoft JhengHei" panose="020B0604030504040204" charset="-120"/>
                <a:cs typeface="Microsoft JhengHei" panose="020B0604030504040204" charset="-120"/>
              </a:rPr>
              <a:t>“</a:t>
            </a:r>
            <a:r>
              <a:rPr b="1" spc="-5" dirty="0">
                <a:solidFill>
                  <a:srgbClr val="3333CC"/>
                </a:solidFill>
                <a:latin typeface="Times New Roman" panose="02020603050405020304"/>
                <a:cs typeface="Times New Roman" panose="02020603050405020304"/>
              </a:rPr>
              <a:t>LCALL</a:t>
            </a:r>
            <a:r>
              <a:rPr b="1" spc="-40" dirty="0">
                <a:solidFill>
                  <a:srgbClr val="3333CC"/>
                </a:solidFill>
                <a:latin typeface="Times New Roman" panose="02020603050405020304"/>
                <a:cs typeface="Times New Roman" panose="02020603050405020304"/>
              </a:rPr>
              <a:t> </a:t>
            </a:r>
            <a:r>
              <a:rPr b="1" dirty="0">
                <a:solidFill>
                  <a:srgbClr val="3333CC"/>
                </a:solidFill>
                <a:latin typeface="Times New Roman" panose="02020603050405020304"/>
                <a:cs typeface="Times New Roman" panose="02020603050405020304"/>
              </a:rPr>
              <a:t>addr16”</a:t>
            </a:r>
            <a:r>
              <a:rPr b="1" spc="5" dirty="0">
                <a:latin typeface="Microsoft JhengHei" panose="020B0604030504040204" charset="-120"/>
                <a:cs typeface="Microsoft JhengHei" panose="020B0604030504040204" charset="-120"/>
              </a:rPr>
              <a:t>。就是 </a:t>
            </a:r>
            <a:r>
              <a:rPr b="1" dirty="0" err="1">
                <a:latin typeface="Microsoft JhengHei" panose="020B0604030504040204" charset="-120"/>
                <a:cs typeface="Microsoft JhengHei" panose="020B0604030504040204" charset="-120"/>
              </a:rPr>
              <a:t>程</a:t>
            </a:r>
            <a:r>
              <a:rPr b="1" spc="5" dirty="0" err="1">
                <a:latin typeface="Microsoft JhengHei" panose="020B0604030504040204" charset="-120"/>
                <a:cs typeface="Microsoft JhengHei" panose="020B0604030504040204" charset="-120"/>
              </a:rPr>
              <a:t>序</a:t>
            </a:r>
            <a:r>
              <a:rPr b="1" dirty="0" err="1">
                <a:latin typeface="Microsoft JhengHei" panose="020B0604030504040204" charset="-120"/>
                <a:cs typeface="Microsoft JhengHei" panose="020B0604030504040204" charset="-120"/>
              </a:rPr>
              <a:t>存</a:t>
            </a:r>
            <a:r>
              <a:rPr b="1" spc="5" dirty="0" err="1">
                <a:latin typeface="Microsoft JhengHei" panose="020B0604030504040204" charset="-120"/>
                <a:cs typeface="Microsoft JhengHei" panose="020B0604030504040204" charset="-120"/>
              </a:rPr>
              <a:t>储区</a:t>
            </a:r>
            <a:r>
              <a:rPr b="1" spc="25" dirty="0" err="1">
                <a:latin typeface="Microsoft JhengHei" panose="020B0604030504040204" charset="-120"/>
                <a:cs typeface="Microsoft JhengHei" panose="020B0604030504040204" charset="-120"/>
              </a:rPr>
              <a:t>中</a:t>
            </a:r>
            <a:r>
              <a:rPr b="1" spc="10" dirty="0" err="1">
                <a:solidFill>
                  <a:srgbClr val="3333CC"/>
                </a:solidFill>
                <a:latin typeface="Microsoft JhengHei" panose="020B0604030504040204" charset="-120"/>
                <a:cs typeface="Microsoft JhengHei" panose="020B0604030504040204" charset="-120"/>
              </a:rPr>
              <a:t>相应的中断入口地址</a:t>
            </a:r>
            <a:r>
              <a:rPr b="1" dirty="0">
                <a:latin typeface="Microsoft JhengHei" panose="020B0604030504040204" charset="-120"/>
                <a:cs typeface="Microsoft JhengHei" panose="020B0604030504040204" charset="-120"/>
              </a:rPr>
              <a:t>。</a:t>
            </a:r>
            <a:r>
              <a:rPr lang="zh-CN" altLang="en-US" b="1" dirty="0">
                <a:latin typeface="Microsoft JhengHei" panose="020B0604030504040204" charset="-120"/>
                <a:cs typeface="Microsoft JhengHei" panose="020B0604030504040204" charset="-120"/>
              </a:rPr>
              <a:t>（</a:t>
            </a:r>
            <a:r>
              <a:rPr lang="en-US" altLang="zh-CN" b="1" dirty="0">
                <a:latin typeface="Microsoft JhengHei" panose="020B0604030504040204" charset="-120"/>
                <a:cs typeface="Microsoft JhengHei" panose="020B0604030504040204" charset="-120"/>
              </a:rPr>
              <a:t>P36 </a:t>
            </a:r>
            <a:r>
              <a:rPr lang="zh-CN" altLang="en-US" b="1" dirty="0">
                <a:latin typeface="Microsoft JhengHei" panose="020B0604030504040204" charset="-120"/>
                <a:cs typeface="Microsoft JhengHei" panose="020B0604030504040204" charset="-120"/>
              </a:rPr>
              <a:t>表</a:t>
            </a:r>
            <a:r>
              <a:rPr lang="en-US" altLang="zh-CN" b="1" dirty="0">
                <a:latin typeface="Microsoft JhengHei" panose="020B0604030504040204" charset="-120"/>
                <a:cs typeface="Microsoft JhengHei" panose="020B0604030504040204" charset="-120"/>
              </a:rPr>
              <a:t>2-3</a:t>
            </a:r>
            <a:r>
              <a:rPr lang="zh-CN" altLang="en-US" b="1" dirty="0">
                <a:latin typeface="Microsoft JhengHei" panose="020B0604030504040204" charset="-120"/>
                <a:cs typeface="Microsoft JhengHei" panose="020B0604030504040204" charset="-120"/>
              </a:rPr>
              <a:t>）</a:t>
            </a:r>
            <a:endParaRPr dirty="0">
              <a:latin typeface="Microsoft JhengHei" panose="020B0604030504040204" charset="-120"/>
              <a:cs typeface="Microsoft JhengHei" panose="020B0604030504040204" charset="-120"/>
            </a:endParaRPr>
          </a:p>
          <a:p>
            <a:pPr>
              <a:lnSpc>
                <a:spcPct val="100000"/>
              </a:lnSpc>
              <a:spcBef>
                <a:spcPts val="50"/>
              </a:spcBef>
            </a:pPr>
            <a:endParaRPr dirty="0">
              <a:latin typeface="Times New Roman" panose="02020603050405020304"/>
              <a:cs typeface="Times New Roman" panose="02020603050405020304"/>
            </a:endParaRPr>
          </a:p>
          <a:p>
            <a:pPr marL="12700">
              <a:lnSpc>
                <a:spcPct val="100000"/>
              </a:lnSpc>
            </a:pPr>
            <a:r>
              <a:rPr b="1" spc="5" dirty="0">
                <a:solidFill>
                  <a:srgbClr val="FF3300"/>
                </a:solidFill>
                <a:latin typeface="Microsoft JhengHei" panose="020B0604030504040204" charset="-120"/>
                <a:cs typeface="Microsoft JhengHei" panose="020B0604030504040204" charset="-120"/>
              </a:rPr>
              <a:t>例如，</a:t>
            </a:r>
            <a:r>
              <a:rPr b="1" dirty="0">
                <a:latin typeface="Microsoft JhengHei" panose="020B0604030504040204" charset="-120"/>
                <a:cs typeface="Microsoft JhengHei" panose="020B0604030504040204" charset="-120"/>
              </a:rPr>
              <a:t>对</a:t>
            </a:r>
            <a:r>
              <a:rPr b="1" spc="15" dirty="0">
                <a:latin typeface="Microsoft JhengHei" panose="020B0604030504040204" charset="-120"/>
                <a:cs typeface="Microsoft JhengHei" panose="020B0604030504040204" charset="-120"/>
              </a:rPr>
              <a:t>于外</a:t>
            </a:r>
            <a:r>
              <a:rPr b="1" spc="5" dirty="0">
                <a:latin typeface="Microsoft JhengHei" panose="020B0604030504040204" charset="-120"/>
                <a:cs typeface="Microsoft JhengHei" panose="020B0604030504040204" charset="-120"/>
              </a:rPr>
              <a:t>部中</a:t>
            </a:r>
            <a:r>
              <a:rPr b="1" spc="15" dirty="0">
                <a:latin typeface="Microsoft JhengHei" panose="020B0604030504040204" charset="-120"/>
                <a:cs typeface="Microsoft JhengHei" panose="020B0604030504040204" charset="-120"/>
              </a:rPr>
              <a:t>断</a:t>
            </a:r>
            <a:r>
              <a:rPr b="1" spc="5" dirty="0">
                <a:latin typeface="Times New Roman" panose="02020603050405020304"/>
                <a:cs typeface="Times New Roman" panose="02020603050405020304"/>
              </a:rPr>
              <a:t>1</a:t>
            </a:r>
            <a:r>
              <a:rPr b="1" spc="10" dirty="0">
                <a:latin typeface="Microsoft JhengHei" panose="020B0604030504040204" charset="-120"/>
                <a:cs typeface="Microsoft JhengHei" panose="020B0604030504040204" charset="-120"/>
              </a:rPr>
              <a:t>响应，自动生成的长调用指令为</a:t>
            </a:r>
            <a:endParaRPr dirty="0">
              <a:latin typeface="Microsoft JhengHei" panose="020B0604030504040204" charset="-120"/>
              <a:cs typeface="Microsoft JhengHei" panose="020B0604030504040204" charset="-120"/>
            </a:endParaRPr>
          </a:p>
          <a:p>
            <a:pPr marL="1841500">
              <a:lnSpc>
                <a:spcPct val="100000"/>
              </a:lnSpc>
              <a:spcBef>
                <a:spcPts val="2015"/>
              </a:spcBef>
              <a:tabLst>
                <a:tab pos="3195955" algn="l"/>
              </a:tabLst>
            </a:pPr>
            <a:r>
              <a:rPr b="1" spc="-5" dirty="0">
                <a:solidFill>
                  <a:srgbClr val="3333CC"/>
                </a:solidFill>
                <a:latin typeface="Times New Roman" panose="02020603050405020304"/>
                <a:cs typeface="Times New Roman" panose="02020603050405020304"/>
              </a:rPr>
              <a:t>LCALL	</a:t>
            </a:r>
            <a:r>
              <a:rPr b="1" dirty="0">
                <a:solidFill>
                  <a:srgbClr val="3333CC"/>
                </a:solidFill>
                <a:latin typeface="Times New Roman" panose="02020603050405020304"/>
                <a:cs typeface="Times New Roman" panose="02020603050405020304"/>
              </a:rPr>
              <a:t>0013H</a:t>
            </a:r>
            <a:endParaRPr dirty="0">
              <a:latin typeface="Times New Roman" panose="02020603050405020304"/>
              <a:cs typeface="Times New Roman" panose="02020603050405020304"/>
            </a:endParaRPr>
          </a:p>
          <a:p>
            <a:pPr marL="12700" marR="5080">
              <a:lnSpc>
                <a:spcPct val="150000"/>
              </a:lnSpc>
              <a:spcBef>
                <a:spcPts val="575"/>
              </a:spcBef>
            </a:pPr>
            <a:r>
              <a:rPr b="1" dirty="0">
                <a:latin typeface="Microsoft JhengHei" panose="020B0604030504040204" charset="-120"/>
                <a:cs typeface="Microsoft JhengHei" panose="020B0604030504040204" charset="-120"/>
              </a:rPr>
              <a:t>首先将程</a:t>
            </a:r>
            <a:r>
              <a:rPr b="1" spc="5" dirty="0">
                <a:latin typeface="Microsoft JhengHei" panose="020B0604030504040204" charset="-120"/>
                <a:cs typeface="Microsoft JhengHei" panose="020B0604030504040204" charset="-120"/>
              </a:rPr>
              <a:t>序</a:t>
            </a:r>
            <a:r>
              <a:rPr b="1" spc="10" dirty="0">
                <a:latin typeface="Microsoft JhengHei" panose="020B0604030504040204" charset="-120"/>
                <a:cs typeface="Microsoft JhengHei" panose="020B0604030504040204" charset="-120"/>
              </a:rPr>
              <a:t>计</a:t>
            </a:r>
            <a:r>
              <a:rPr b="1" spc="5" dirty="0">
                <a:latin typeface="Microsoft JhengHei" panose="020B0604030504040204" charset="-120"/>
                <a:cs typeface="Microsoft JhengHei" panose="020B0604030504040204" charset="-120"/>
              </a:rPr>
              <a:t>数</a:t>
            </a:r>
            <a:r>
              <a:rPr b="1" spc="15" dirty="0">
                <a:latin typeface="Microsoft JhengHei" panose="020B0604030504040204" charset="-120"/>
                <a:cs typeface="Microsoft JhengHei" panose="020B0604030504040204" charset="-120"/>
              </a:rPr>
              <a:t>器</a:t>
            </a:r>
            <a:r>
              <a:rPr b="1" spc="-5" dirty="0">
                <a:solidFill>
                  <a:srgbClr val="FF3300"/>
                </a:solidFill>
                <a:latin typeface="Times New Roman" panose="02020603050405020304"/>
                <a:cs typeface="Times New Roman" panose="02020603050405020304"/>
              </a:rPr>
              <a:t>P</a:t>
            </a:r>
            <a:r>
              <a:rPr b="1" spc="5" dirty="0">
                <a:solidFill>
                  <a:srgbClr val="FF3300"/>
                </a:solidFill>
                <a:latin typeface="Times New Roman" panose="02020603050405020304"/>
                <a:cs typeface="Times New Roman" panose="02020603050405020304"/>
              </a:rPr>
              <a:t>C</a:t>
            </a:r>
            <a:r>
              <a:rPr b="1" spc="10" dirty="0">
                <a:solidFill>
                  <a:srgbClr val="FF3300"/>
                </a:solidFill>
                <a:latin typeface="Microsoft JhengHei" panose="020B0604030504040204" charset="-120"/>
                <a:cs typeface="Microsoft JhengHei" panose="020B0604030504040204" charset="-120"/>
              </a:rPr>
              <a:t>的内容</a:t>
            </a:r>
            <a:r>
              <a:rPr b="1" spc="5" dirty="0">
                <a:solidFill>
                  <a:srgbClr val="3333CC"/>
                </a:solidFill>
                <a:latin typeface="Microsoft JhengHei" panose="020B0604030504040204" charset="-120"/>
                <a:cs typeface="Microsoft JhengHei" panose="020B0604030504040204" charset="-120"/>
              </a:rPr>
              <a:t>压入</a:t>
            </a:r>
            <a:r>
              <a:rPr b="1" spc="10" dirty="0">
                <a:solidFill>
                  <a:srgbClr val="3333CC"/>
                </a:solidFill>
                <a:latin typeface="Microsoft JhengHei" panose="020B0604030504040204" charset="-120"/>
                <a:cs typeface="Microsoft JhengHei" panose="020B0604030504040204" charset="-120"/>
              </a:rPr>
              <a:t>堆</a:t>
            </a:r>
            <a:r>
              <a:rPr b="1" spc="15" dirty="0">
                <a:solidFill>
                  <a:srgbClr val="3333CC"/>
                </a:solidFill>
                <a:latin typeface="Microsoft JhengHei" panose="020B0604030504040204" charset="-120"/>
                <a:cs typeface="Microsoft JhengHei" panose="020B0604030504040204" charset="-120"/>
              </a:rPr>
              <a:t>栈</a:t>
            </a:r>
            <a:r>
              <a:rPr b="1" spc="10" dirty="0">
                <a:latin typeface="Microsoft JhengHei" panose="020B0604030504040204" charset="-120"/>
                <a:cs typeface="Microsoft JhengHei" panose="020B0604030504040204" charset="-120"/>
              </a:rPr>
              <a:t>以保护断点，再将</a:t>
            </a:r>
            <a:r>
              <a:rPr b="1" spc="10" dirty="0">
                <a:solidFill>
                  <a:srgbClr val="3333CC"/>
                </a:solidFill>
                <a:latin typeface="Microsoft JhengHei" panose="020B0604030504040204" charset="-120"/>
                <a:cs typeface="Microsoft JhengHei" panose="020B0604030504040204" charset="-120"/>
              </a:rPr>
              <a:t>中断 </a:t>
            </a:r>
            <a:r>
              <a:rPr b="1" dirty="0">
                <a:solidFill>
                  <a:srgbClr val="3333CC"/>
                </a:solidFill>
                <a:latin typeface="Microsoft JhengHei" panose="020B0604030504040204" charset="-120"/>
                <a:cs typeface="Microsoft JhengHei" panose="020B0604030504040204" charset="-120"/>
              </a:rPr>
              <a:t>入</a:t>
            </a:r>
            <a:r>
              <a:rPr b="1" spc="5" dirty="0">
                <a:solidFill>
                  <a:srgbClr val="3333CC"/>
                </a:solidFill>
                <a:latin typeface="Microsoft JhengHei" panose="020B0604030504040204" charset="-120"/>
                <a:cs typeface="Microsoft JhengHei" panose="020B0604030504040204" charset="-120"/>
              </a:rPr>
              <a:t>口</a:t>
            </a:r>
            <a:r>
              <a:rPr b="1" dirty="0">
                <a:solidFill>
                  <a:srgbClr val="3333CC"/>
                </a:solidFill>
                <a:latin typeface="Microsoft JhengHei" panose="020B0604030504040204" charset="-120"/>
                <a:cs typeface="Microsoft JhengHei" panose="020B0604030504040204" charset="-120"/>
              </a:rPr>
              <a:t>地</a:t>
            </a:r>
            <a:r>
              <a:rPr b="1" spc="5" dirty="0">
                <a:solidFill>
                  <a:srgbClr val="3333CC"/>
                </a:solidFill>
                <a:latin typeface="Microsoft JhengHei" panose="020B0604030504040204" charset="-120"/>
                <a:cs typeface="Microsoft JhengHei" panose="020B0604030504040204" charset="-120"/>
              </a:rPr>
              <a:t>址装</a:t>
            </a:r>
            <a:r>
              <a:rPr b="1" spc="15" dirty="0">
                <a:solidFill>
                  <a:srgbClr val="3333CC"/>
                </a:solidFill>
                <a:latin typeface="Microsoft JhengHei" panose="020B0604030504040204" charset="-120"/>
                <a:cs typeface="Microsoft JhengHei" panose="020B0604030504040204" charset="-120"/>
              </a:rPr>
              <a:t>入</a:t>
            </a:r>
            <a:r>
              <a:rPr b="1" dirty="0">
                <a:solidFill>
                  <a:srgbClr val="3333CC"/>
                </a:solidFill>
                <a:latin typeface="Times New Roman" panose="02020603050405020304"/>
                <a:cs typeface="Times New Roman" panose="02020603050405020304"/>
              </a:rPr>
              <a:t>PC</a:t>
            </a:r>
            <a:r>
              <a:rPr b="1" dirty="0">
                <a:latin typeface="Microsoft JhengHei" panose="020B0604030504040204" charset="-120"/>
                <a:cs typeface="Microsoft JhengHei" panose="020B0604030504040204" charset="-120"/>
              </a:rPr>
              <a:t>，</a:t>
            </a:r>
            <a:r>
              <a:rPr b="1" spc="10" dirty="0">
                <a:latin typeface="Microsoft JhengHei" panose="020B0604030504040204" charset="-120"/>
                <a:cs typeface="Microsoft JhengHei" panose="020B0604030504040204" charset="-120"/>
              </a:rPr>
              <a:t>使程序转向相应中断请求的中断入口。</a:t>
            </a:r>
          </a:p>
        </p:txBody>
      </p:sp>
      <p:sp>
        <p:nvSpPr>
          <p:cNvPr id="3" name="object 3"/>
          <p:cNvSpPr txBox="1">
            <a:spLocks noGrp="1"/>
          </p:cNvSpPr>
          <p:nvPr>
            <p:ph type="title"/>
          </p:nvPr>
        </p:nvSpPr>
        <p:spPr>
          <a:xfrm>
            <a:off x="589914" y="1133855"/>
            <a:ext cx="2171700"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FF3300"/>
                </a:solidFill>
              </a:rPr>
              <a:t>中断响应的过程</a:t>
            </a:r>
            <a:endParaRPr sz="2400"/>
          </a:p>
        </p:txBody>
      </p:sp>
      <p:sp>
        <p:nvSpPr>
          <p:cNvPr id="5" name="object 2"/>
          <p:cNvSpPr txBox="1">
            <a:spLocks noGrp="1"/>
          </p:cNvSpPr>
          <p:nvPr/>
        </p:nvSpPr>
        <p:spPr>
          <a:xfrm>
            <a:off x="1466850" y="445135"/>
            <a:ext cx="4768215" cy="381635"/>
          </a:xfrm>
          <a:prstGeom prst="rect">
            <a:avLst/>
          </a:prstGeom>
        </p:spPr>
        <p:txBody>
          <a:bodyPr vert="horz" wrap="square" lIns="0" tIns="12700" rIns="0" bIns="0" rtlCol="0">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12700">
              <a:lnSpc>
                <a:spcPct val="100000"/>
              </a:lnSpc>
              <a:spcBef>
                <a:spcPts val="100"/>
              </a:spcBef>
            </a:pPr>
            <a:r>
              <a:rPr lang="en-US" sz="2400" spc="10" dirty="0">
                <a:ea typeface="微软雅黑" panose="020B0503020204020204" charset="-122"/>
              </a:rPr>
              <a:t>§</a:t>
            </a:r>
            <a:r>
              <a:rPr lang="en-US" sz="2400" spc="10" dirty="0"/>
              <a:t>5.4  </a:t>
            </a:r>
            <a:r>
              <a:rPr sz="2400" spc="10" dirty="0"/>
              <a:t>中断响应</a:t>
            </a:r>
            <a:r>
              <a:rPr lang="zh-CN" sz="2400" spc="10" dirty="0"/>
              <a:t>及中断处理过程</a:t>
            </a:r>
            <a:endParaRPr sz="2400"/>
          </a:p>
        </p:txBody>
      </p:sp>
      <p:sp>
        <p:nvSpPr>
          <p:cNvPr id="6" name="灯片编号占位符 5"/>
          <p:cNvSpPr>
            <a:spLocks noGrp="1"/>
          </p:cNvSpPr>
          <p:nvPr>
            <p:ph type="sldNum" sz="quarter" idx="7"/>
          </p:nvPr>
        </p:nvSpPr>
        <p:spPr/>
        <p:txBody>
          <a:bodyPr/>
          <a:lstStyle/>
          <a:p>
            <a:pPr marL="25400">
              <a:lnSpc>
                <a:spcPct val="100000"/>
              </a:lnSpc>
              <a:spcBef>
                <a:spcPts val="185"/>
              </a:spcBef>
            </a:pPr>
            <a:fld id="{81D60167-4931-47E6-BA6A-407CBD079E47}" type="slidenum">
              <a:rPr spc="-5" dirty="0"/>
              <a:t>18</a:t>
            </a:fld>
            <a:endParaRPr spc="-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7184" y="1195959"/>
            <a:ext cx="2875280" cy="513080"/>
          </a:xfrm>
          <a:prstGeom prst="rect">
            <a:avLst/>
          </a:prstGeom>
        </p:spPr>
        <p:txBody>
          <a:bodyPr vert="horz" wrap="square" lIns="0" tIns="12065" rIns="0" bIns="0" rtlCol="0">
            <a:spAutoFit/>
          </a:bodyPr>
          <a:lstStyle/>
          <a:p>
            <a:pPr marL="12700">
              <a:lnSpc>
                <a:spcPct val="100000"/>
              </a:lnSpc>
              <a:spcBef>
                <a:spcPts val="95"/>
              </a:spcBef>
            </a:pPr>
            <a:r>
              <a:rPr sz="3200" dirty="0">
                <a:solidFill>
                  <a:srgbClr val="FF3300"/>
                </a:solidFill>
              </a:rPr>
              <a:t>中断</a:t>
            </a:r>
            <a:r>
              <a:rPr sz="3200" spc="-5" dirty="0">
                <a:solidFill>
                  <a:srgbClr val="FF3300"/>
                </a:solidFill>
              </a:rPr>
              <a:t>入</a:t>
            </a:r>
            <a:r>
              <a:rPr sz="3200" spc="10" dirty="0">
                <a:solidFill>
                  <a:srgbClr val="FF3300"/>
                </a:solidFill>
              </a:rPr>
              <a:t>口地</a:t>
            </a:r>
            <a:r>
              <a:rPr sz="3200" dirty="0">
                <a:solidFill>
                  <a:srgbClr val="FF3300"/>
                </a:solidFill>
              </a:rPr>
              <a:t>址</a:t>
            </a:r>
            <a:r>
              <a:rPr sz="3200" spc="-5" dirty="0">
                <a:solidFill>
                  <a:srgbClr val="FF3300"/>
                </a:solidFill>
              </a:rPr>
              <a:t>表</a:t>
            </a:r>
            <a:endParaRPr sz="3200"/>
          </a:p>
        </p:txBody>
      </p:sp>
      <p:graphicFrame>
        <p:nvGraphicFramePr>
          <p:cNvPr id="3" name="object 3"/>
          <p:cNvGraphicFramePr>
            <a:graphicFrameLocks noGrp="1"/>
          </p:cNvGraphicFramePr>
          <p:nvPr>
            <p:custDataLst>
              <p:tags r:id="rId1"/>
            </p:custDataLst>
          </p:nvPr>
        </p:nvGraphicFramePr>
        <p:xfrm>
          <a:off x="2202180" y="1896745"/>
          <a:ext cx="3494405" cy="2401570"/>
        </p:xfrm>
        <a:graphic>
          <a:graphicData uri="http://schemas.openxmlformats.org/drawingml/2006/table">
            <a:tbl>
              <a:tblPr firstRow="1" bandRow="1">
                <a:tableStyleId>{2D5ABB26-0587-4C30-8999-92F81FD0307C}</a:tableStyleId>
              </a:tblPr>
              <a:tblGrid>
                <a:gridCol w="2178685">
                  <a:extLst>
                    <a:ext uri="{9D8B030D-6E8A-4147-A177-3AD203B41FA5}">
                      <a16:colId xmlns:a16="http://schemas.microsoft.com/office/drawing/2014/main" val="20000"/>
                    </a:ext>
                  </a:extLst>
                </a:gridCol>
                <a:gridCol w="1315720">
                  <a:extLst>
                    <a:ext uri="{9D8B030D-6E8A-4147-A177-3AD203B41FA5}">
                      <a16:colId xmlns:a16="http://schemas.microsoft.com/office/drawing/2014/main" val="20001"/>
                    </a:ext>
                  </a:extLst>
                </a:gridCol>
              </a:tblGrid>
              <a:tr h="334645">
                <a:tc>
                  <a:txBody>
                    <a:bodyPr/>
                    <a:lstStyle/>
                    <a:p>
                      <a:pPr marL="274320">
                        <a:lnSpc>
                          <a:spcPts val="2115"/>
                        </a:lnSpc>
                      </a:pPr>
                      <a:r>
                        <a:rPr sz="2000" b="1" dirty="0">
                          <a:solidFill>
                            <a:srgbClr val="3366FF"/>
                          </a:solidFill>
                          <a:latin typeface="Microsoft JhengHei" panose="020B0604030504040204" charset="-120"/>
                          <a:cs typeface="Microsoft JhengHei" panose="020B0604030504040204" charset="-120"/>
                        </a:rPr>
                        <a:t>中断源</a:t>
                      </a:r>
                      <a:endParaRPr sz="2000">
                        <a:latin typeface="Microsoft JhengHei" panose="020B0604030504040204" charset="-120"/>
                        <a:cs typeface="Microsoft JhengHei" panose="020B0604030504040204" charset="-120"/>
                      </a:endParaRPr>
                    </a:p>
                  </a:txBody>
                  <a:tcPr marL="0" marR="0" marT="0" marB="0"/>
                </a:tc>
                <a:tc>
                  <a:txBody>
                    <a:bodyPr/>
                    <a:lstStyle/>
                    <a:p>
                      <a:pPr marL="287020" algn="ctr">
                        <a:lnSpc>
                          <a:spcPts val="2115"/>
                        </a:lnSpc>
                      </a:pPr>
                      <a:r>
                        <a:rPr sz="2000" b="1" spc="-5" dirty="0">
                          <a:solidFill>
                            <a:srgbClr val="3366FF"/>
                          </a:solidFill>
                          <a:latin typeface="Microsoft JhengHei" panose="020B0604030504040204" charset="-120"/>
                          <a:cs typeface="Microsoft JhengHei" panose="020B0604030504040204" charset="-120"/>
                        </a:rPr>
                        <a:t>入口</a:t>
                      </a:r>
                      <a:r>
                        <a:rPr sz="2000" b="1" spc="5" dirty="0">
                          <a:solidFill>
                            <a:srgbClr val="3366FF"/>
                          </a:solidFill>
                          <a:latin typeface="Microsoft JhengHei" panose="020B0604030504040204" charset="-120"/>
                          <a:cs typeface="Microsoft JhengHei" panose="020B0604030504040204" charset="-120"/>
                        </a:rPr>
                        <a:t>地</a:t>
                      </a:r>
                      <a:r>
                        <a:rPr sz="2000" b="1" spc="-5" dirty="0">
                          <a:solidFill>
                            <a:srgbClr val="3366FF"/>
                          </a:solidFill>
                          <a:latin typeface="Microsoft JhengHei" panose="020B0604030504040204" charset="-120"/>
                          <a:cs typeface="Microsoft JhengHei" panose="020B0604030504040204" charset="-120"/>
                        </a:rPr>
                        <a:t>址</a:t>
                      </a:r>
                      <a:endParaRPr sz="2000">
                        <a:latin typeface="Microsoft JhengHei" panose="020B0604030504040204" charset="-120"/>
                        <a:cs typeface="Microsoft JhengHei" panose="020B0604030504040204" charset="-120"/>
                      </a:endParaRPr>
                    </a:p>
                  </a:txBody>
                  <a:tcPr marL="0" marR="0" marT="0" marB="0"/>
                </a:tc>
                <a:extLst>
                  <a:ext uri="{0D108BD9-81ED-4DB2-BD59-A6C34878D82A}">
                    <a16:rowId xmlns:a16="http://schemas.microsoft.com/office/drawing/2014/main" val="10000"/>
                  </a:ext>
                </a:extLst>
              </a:tr>
              <a:tr h="430530">
                <a:tc>
                  <a:txBody>
                    <a:bodyPr/>
                    <a:lstStyle/>
                    <a:p>
                      <a:pPr marL="31750">
                        <a:lnSpc>
                          <a:spcPct val="100000"/>
                        </a:lnSpc>
                        <a:spcBef>
                          <a:spcPts val="515"/>
                        </a:spcBef>
                      </a:pPr>
                      <a:r>
                        <a:rPr sz="2000" b="1" spc="-5" dirty="0">
                          <a:solidFill>
                            <a:srgbClr val="FF0066"/>
                          </a:solidFill>
                          <a:latin typeface="Microsoft JhengHei" panose="020B0604030504040204" charset="-120"/>
                          <a:cs typeface="Microsoft JhengHei" panose="020B0604030504040204" charset="-120"/>
                        </a:rPr>
                        <a:t>外部</a:t>
                      </a:r>
                      <a:r>
                        <a:rPr sz="2000" b="1" spc="5" dirty="0">
                          <a:solidFill>
                            <a:srgbClr val="FF0066"/>
                          </a:solidFill>
                          <a:latin typeface="Microsoft JhengHei" panose="020B0604030504040204" charset="-120"/>
                          <a:cs typeface="Microsoft JhengHei" panose="020B0604030504040204" charset="-120"/>
                        </a:rPr>
                        <a:t>中断</a:t>
                      </a:r>
                      <a:r>
                        <a:rPr sz="2000" b="1" spc="-195" dirty="0">
                          <a:solidFill>
                            <a:srgbClr val="FF0066"/>
                          </a:solidFill>
                          <a:latin typeface="Microsoft JhengHei" panose="020B0604030504040204" charset="-120"/>
                          <a:cs typeface="Microsoft JhengHei" panose="020B0604030504040204" charset="-120"/>
                        </a:rPr>
                        <a:t>0</a:t>
                      </a:r>
                      <a:endParaRPr sz="2000">
                        <a:latin typeface="Microsoft JhengHei" panose="020B0604030504040204" charset="-120"/>
                        <a:cs typeface="Microsoft JhengHei" panose="020B0604030504040204" charset="-120"/>
                      </a:endParaRPr>
                    </a:p>
                  </a:txBody>
                  <a:tcPr marL="0" marR="0" marT="65405" marB="0"/>
                </a:tc>
                <a:tc>
                  <a:txBody>
                    <a:bodyPr/>
                    <a:lstStyle/>
                    <a:p>
                      <a:pPr marL="292100" algn="ctr">
                        <a:lnSpc>
                          <a:spcPct val="100000"/>
                        </a:lnSpc>
                        <a:spcBef>
                          <a:spcPts val="515"/>
                        </a:spcBef>
                      </a:pPr>
                      <a:r>
                        <a:rPr sz="2000" b="1" spc="-265" dirty="0">
                          <a:solidFill>
                            <a:srgbClr val="FF0066"/>
                          </a:solidFill>
                          <a:latin typeface="Microsoft JhengHei" panose="020B0604030504040204" charset="-120"/>
                          <a:cs typeface="Microsoft JhengHei" panose="020B0604030504040204" charset="-120"/>
                        </a:rPr>
                        <a:t>0003H</a:t>
                      </a:r>
                      <a:endParaRPr sz="2000">
                        <a:latin typeface="Microsoft JhengHei" panose="020B0604030504040204" charset="-120"/>
                        <a:cs typeface="Microsoft JhengHei" panose="020B0604030504040204" charset="-120"/>
                      </a:endParaRPr>
                    </a:p>
                  </a:txBody>
                  <a:tcPr marL="0" marR="0" marT="65405" marB="0"/>
                </a:tc>
                <a:extLst>
                  <a:ext uri="{0D108BD9-81ED-4DB2-BD59-A6C34878D82A}">
                    <a16:rowId xmlns:a16="http://schemas.microsoft.com/office/drawing/2014/main" val="10001"/>
                  </a:ext>
                </a:extLst>
              </a:tr>
              <a:tr h="430530">
                <a:tc>
                  <a:txBody>
                    <a:bodyPr/>
                    <a:lstStyle/>
                    <a:p>
                      <a:pPr marL="31750">
                        <a:lnSpc>
                          <a:spcPct val="100000"/>
                        </a:lnSpc>
                        <a:spcBef>
                          <a:spcPts val="515"/>
                        </a:spcBef>
                      </a:pPr>
                      <a:r>
                        <a:rPr sz="2000" b="1" dirty="0">
                          <a:solidFill>
                            <a:srgbClr val="FF0066"/>
                          </a:solidFill>
                          <a:latin typeface="Microsoft JhengHei" panose="020B0604030504040204" charset="-120"/>
                          <a:cs typeface="Microsoft JhengHei" panose="020B0604030504040204" charset="-120"/>
                        </a:rPr>
                        <a:t>定时器</a:t>
                      </a:r>
                      <a:r>
                        <a:rPr sz="2000" b="1" spc="130" dirty="0">
                          <a:solidFill>
                            <a:srgbClr val="FF0066"/>
                          </a:solidFill>
                          <a:latin typeface="Microsoft JhengHei" panose="020B0604030504040204" charset="-120"/>
                          <a:cs typeface="Microsoft JhengHei" panose="020B0604030504040204" charset="-120"/>
                        </a:rPr>
                        <a:t>/</a:t>
                      </a:r>
                      <a:r>
                        <a:rPr sz="2000" b="1" spc="5" dirty="0">
                          <a:solidFill>
                            <a:srgbClr val="FF0066"/>
                          </a:solidFill>
                          <a:latin typeface="Microsoft JhengHei" panose="020B0604030504040204" charset="-120"/>
                          <a:cs typeface="Microsoft JhengHei" panose="020B0604030504040204" charset="-120"/>
                        </a:rPr>
                        <a:t>计</a:t>
                      </a:r>
                      <a:r>
                        <a:rPr sz="2000" b="1" spc="10" dirty="0">
                          <a:solidFill>
                            <a:srgbClr val="FF0066"/>
                          </a:solidFill>
                          <a:latin typeface="Microsoft JhengHei" panose="020B0604030504040204" charset="-120"/>
                          <a:cs typeface="Microsoft JhengHei" panose="020B0604030504040204" charset="-120"/>
                        </a:rPr>
                        <a:t>数器</a:t>
                      </a:r>
                      <a:r>
                        <a:rPr sz="2000" b="1" spc="-180" dirty="0">
                          <a:solidFill>
                            <a:srgbClr val="FF0066"/>
                          </a:solidFill>
                          <a:latin typeface="Microsoft JhengHei" panose="020B0604030504040204" charset="-120"/>
                          <a:cs typeface="Microsoft JhengHei" panose="020B0604030504040204" charset="-120"/>
                        </a:rPr>
                        <a:t>T0</a:t>
                      </a:r>
                      <a:endParaRPr sz="2000">
                        <a:latin typeface="Microsoft JhengHei" panose="020B0604030504040204" charset="-120"/>
                        <a:cs typeface="Microsoft JhengHei" panose="020B0604030504040204" charset="-120"/>
                      </a:endParaRPr>
                    </a:p>
                  </a:txBody>
                  <a:tcPr marL="0" marR="0" marT="65405" marB="0"/>
                </a:tc>
                <a:tc>
                  <a:txBody>
                    <a:bodyPr/>
                    <a:lstStyle/>
                    <a:p>
                      <a:pPr marL="294005" algn="ctr">
                        <a:lnSpc>
                          <a:spcPct val="100000"/>
                        </a:lnSpc>
                        <a:spcBef>
                          <a:spcPts val="515"/>
                        </a:spcBef>
                      </a:pPr>
                      <a:r>
                        <a:rPr sz="2000" b="1" spc="-280" dirty="0">
                          <a:solidFill>
                            <a:srgbClr val="FF0066"/>
                          </a:solidFill>
                          <a:latin typeface="Microsoft JhengHei" panose="020B0604030504040204" charset="-120"/>
                          <a:cs typeface="Microsoft JhengHei" panose="020B0604030504040204" charset="-120"/>
                        </a:rPr>
                        <a:t>000BH</a:t>
                      </a:r>
                      <a:endParaRPr sz="2000" dirty="0">
                        <a:latin typeface="Microsoft JhengHei" panose="020B0604030504040204" charset="-120"/>
                        <a:cs typeface="Microsoft JhengHei" panose="020B0604030504040204" charset="-120"/>
                      </a:endParaRPr>
                    </a:p>
                  </a:txBody>
                  <a:tcPr marL="0" marR="0" marT="65405" marB="0"/>
                </a:tc>
                <a:extLst>
                  <a:ext uri="{0D108BD9-81ED-4DB2-BD59-A6C34878D82A}">
                    <a16:rowId xmlns:a16="http://schemas.microsoft.com/office/drawing/2014/main" val="10002"/>
                  </a:ext>
                </a:extLst>
              </a:tr>
              <a:tr h="430530">
                <a:tc>
                  <a:txBody>
                    <a:bodyPr/>
                    <a:lstStyle/>
                    <a:p>
                      <a:pPr marL="31750">
                        <a:lnSpc>
                          <a:spcPct val="100000"/>
                        </a:lnSpc>
                        <a:spcBef>
                          <a:spcPts val="515"/>
                        </a:spcBef>
                      </a:pPr>
                      <a:r>
                        <a:rPr sz="2000" b="1" spc="-5" dirty="0">
                          <a:solidFill>
                            <a:srgbClr val="FF0066"/>
                          </a:solidFill>
                          <a:latin typeface="Microsoft JhengHei" panose="020B0604030504040204" charset="-120"/>
                          <a:cs typeface="Microsoft JhengHei" panose="020B0604030504040204" charset="-120"/>
                        </a:rPr>
                        <a:t>外部</a:t>
                      </a:r>
                      <a:r>
                        <a:rPr sz="2000" b="1" spc="5" dirty="0">
                          <a:solidFill>
                            <a:srgbClr val="FF0066"/>
                          </a:solidFill>
                          <a:latin typeface="Microsoft JhengHei" panose="020B0604030504040204" charset="-120"/>
                          <a:cs typeface="Microsoft JhengHei" panose="020B0604030504040204" charset="-120"/>
                        </a:rPr>
                        <a:t>中断</a:t>
                      </a:r>
                      <a:r>
                        <a:rPr sz="2000" b="1" spc="-195" dirty="0">
                          <a:solidFill>
                            <a:srgbClr val="FF0066"/>
                          </a:solidFill>
                          <a:latin typeface="Microsoft JhengHei" panose="020B0604030504040204" charset="-120"/>
                          <a:cs typeface="Microsoft JhengHei" panose="020B0604030504040204" charset="-120"/>
                        </a:rPr>
                        <a:t>1</a:t>
                      </a:r>
                      <a:endParaRPr sz="2000">
                        <a:latin typeface="Microsoft JhengHei" panose="020B0604030504040204" charset="-120"/>
                        <a:cs typeface="Microsoft JhengHei" panose="020B0604030504040204" charset="-120"/>
                      </a:endParaRPr>
                    </a:p>
                  </a:txBody>
                  <a:tcPr marL="0" marR="0" marT="65405" marB="0"/>
                </a:tc>
                <a:tc>
                  <a:txBody>
                    <a:bodyPr/>
                    <a:lstStyle/>
                    <a:p>
                      <a:pPr marL="292100" algn="ctr">
                        <a:lnSpc>
                          <a:spcPct val="100000"/>
                        </a:lnSpc>
                        <a:spcBef>
                          <a:spcPts val="515"/>
                        </a:spcBef>
                      </a:pPr>
                      <a:r>
                        <a:rPr sz="2000" b="1" spc="-265" dirty="0">
                          <a:solidFill>
                            <a:srgbClr val="FF0066"/>
                          </a:solidFill>
                          <a:latin typeface="Microsoft JhengHei" panose="020B0604030504040204" charset="-120"/>
                          <a:cs typeface="Microsoft JhengHei" panose="020B0604030504040204" charset="-120"/>
                        </a:rPr>
                        <a:t>0013H</a:t>
                      </a:r>
                      <a:endParaRPr sz="2000">
                        <a:latin typeface="Microsoft JhengHei" panose="020B0604030504040204" charset="-120"/>
                        <a:cs typeface="Microsoft JhengHei" panose="020B0604030504040204" charset="-120"/>
                      </a:endParaRPr>
                    </a:p>
                  </a:txBody>
                  <a:tcPr marL="0" marR="0" marT="65405" marB="0"/>
                </a:tc>
                <a:extLst>
                  <a:ext uri="{0D108BD9-81ED-4DB2-BD59-A6C34878D82A}">
                    <a16:rowId xmlns:a16="http://schemas.microsoft.com/office/drawing/2014/main" val="10003"/>
                  </a:ext>
                </a:extLst>
              </a:tr>
              <a:tr h="430530">
                <a:tc>
                  <a:txBody>
                    <a:bodyPr/>
                    <a:lstStyle/>
                    <a:p>
                      <a:pPr marL="31750">
                        <a:lnSpc>
                          <a:spcPct val="100000"/>
                        </a:lnSpc>
                        <a:spcBef>
                          <a:spcPts val="515"/>
                        </a:spcBef>
                      </a:pPr>
                      <a:r>
                        <a:rPr sz="2000" b="1" dirty="0">
                          <a:solidFill>
                            <a:srgbClr val="FF0066"/>
                          </a:solidFill>
                          <a:latin typeface="Microsoft JhengHei" panose="020B0604030504040204" charset="-120"/>
                          <a:cs typeface="Microsoft JhengHei" panose="020B0604030504040204" charset="-120"/>
                        </a:rPr>
                        <a:t>定时器</a:t>
                      </a:r>
                      <a:r>
                        <a:rPr sz="2000" b="1" spc="130" dirty="0">
                          <a:solidFill>
                            <a:srgbClr val="FF0066"/>
                          </a:solidFill>
                          <a:latin typeface="Microsoft JhengHei" panose="020B0604030504040204" charset="-120"/>
                          <a:cs typeface="Microsoft JhengHei" panose="020B0604030504040204" charset="-120"/>
                        </a:rPr>
                        <a:t>/</a:t>
                      </a:r>
                      <a:r>
                        <a:rPr sz="2000" b="1" spc="5" dirty="0">
                          <a:solidFill>
                            <a:srgbClr val="FF0066"/>
                          </a:solidFill>
                          <a:latin typeface="Microsoft JhengHei" panose="020B0604030504040204" charset="-120"/>
                          <a:cs typeface="Microsoft JhengHei" panose="020B0604030504040204" charset="-120"/>
                        </a:rPr>
                        <a:t>计</a:t>
                      </a:r>
                      <a:r>
                        <a:rPr sz="2000" b="1" spc="10" dirty="0">
                          <a:solidFill>
                            <a:srgbClr val="FF0066"/>
                          </a:solidFill>
                          <a:latin typeface="Microsoft JhengHei" panose="020B0604030504040204" charset="-120"/>
                          <a:cs typeface="Microsoft JhengHei" panose="020B0604030504040204" charset="-120"/>
                        </a:rPr>
                        <a:t>数器</a:t>
                      </a:r>
                      <a:r>
                        <a:rPr sz="2000" b="1" spc="-180" dirty="0">
                          <a:solidFill>
                            <a:srgbClr val="FF0066"/>
                          </a:solidFill>
                          <a:latin typeface="Microsoft JhengHei" panose="020B0604030504040204" charset="-120"/>
                          <a:cs typeface="Microsoft JhengHei" panose="020B0604030504040204" charset="-120"/>
                        </a:rPr>
                        <a:t>T1</a:t>
                      </a:r>
                      <a:endParaRPr sz="2000">
                        <a:latin typeface="Microsoft JhengHei" panose="020B0604030504040204" charset="-120"/>
                        <a:cs typeface="Microsoft JhengHei" panose="020B0604030504040204" charset="-120"/>
                      </a:endParaRPr>
                    </a:p>
                  </a:txBody>
                  <a:tcPr marL="0" marR="0" marT="65405" marB="0"/>
                </a:tc>
                <a:tc>
                  <a:txBody>
                    <a:bodyPr/>
                    <a:lstStyle/>
                    <a:p>
                      <a:pPr marL="294005" algn="ctr">
                        <a:lnSpc>
                          <a:spcPct val="100000"/>
                        </a:lnSpc>
                        <a:spcBef>
                          <a:spcPts val="515"/>
                        </a:spcBef>
                      </a:pPr>
                      <a:r>
                        <a:rPr sz="2000" b="1" spc="-280" dirty="0">
                          <a:solidFill>
                            <a:srgbClr val="FF0066"/>
                          </a:solidFill>
                          <a:latin typeface="Microsoft JhengHei" panose="020B0604030504040204" charset="-120"/>
                          <a:cs typeface="Microsoft JhengHei" panose="020B0604030504040204" charset="-120"/>
                        </a:rPr>
                        <a:t>001BH</a:t>
                      </a:r>
                      <a:endParaRPr sz="2000">
                        <a:latin typeface="Microsoft JhengHei" panose="020B0604030504040204" charset="-120"/>
                        <a:cs typeface="Microsoft JhengHei" panose="020B0604030504040204" charset="-120"/>
                      </a:endParaRPr>
                    </a:p>
                  </a:txBody>
                  <a:tcPr marL="0" marR="0" marT="65405" marB="0"/>
                </a:tc>
                <a:extLst>
                  <a:ext uri="{0D108BD9-81ED-4DB2-BD59-A6C34878D82A}">
                    <a16:rowId xmlns:a16="http://schemas.microsoft.com/office/drawing/2014/main" val="10004"/>
                  </a:ext>
                </a:extLst>
              </a:tr>
              <a:tr h="342265">
                <a:tc>
                  <a:txBody>
                    <a:bodyPr/>
                    <a:lstStyle/>
                    <a:p>
                      <a:pPr marL="31750">
                        <a:lnSpc>
                          <a:spcPts val="2180"/>
                        </a:lnSpc>
                        <a:spcBef>
                          <a:spcPts val="515"/>
                        </a:spcBef>
                      </a:pPr>
                      <a:r>
                        <a:rPr sz="2000" b="1" spc="-5" dirty="0">
                          <a:solidFill>
                            <a:srgbClr val="FF0066"/>
                          </a:solidFill>
                          <a:latin typeface="Microsoft JhengHei" panose="020B0604030504040204" charset="-120"/>
                          <a:cs typeface="Microsoft JhengHei" panose="020B0604030504040204" charset="-120"/>
                        </a:rPr>
                        <a:t>串行</a:t>
                      </a:r>
                      <a:r>
                        <a:rPr sz="2000" b="1" spc="5" dirty="0">
                          <a:solidFill>
                            <a:srgbClr val="FF0066"/>
                          </a:solidFill>
                          <a:latin typeface="Microsoft JhengHei" panose="020B0604030504040204" charset="-120"/>
                          <a:cs typeface="Microsoft JhengHei" panose="020B0604030504040204" charset="-120"/>
                        </a:rPr>
                        <a:t>口中</a:t>
                      </a:r>
                      <a:r>
                        <a:rPr sz="2000" b="1" spc="-5" dirty="0">
                          <a:solidFill>
                            <a:srgbClr val="FF0066"/>
                          </a:solidFill>
                          <a:latin typeface="Microsoft JhengHei" panose="020B0604030504040204" charset="-120"/>
                          <a:cs typeface="Microsoft JhengHei" panose="020B0604030504040204" charset="-120"/>
                        </a:rPr>
                        <a:t>断</a:t>
                      </a:r>
                      <a:endParaRPr sz="2000">
                        <a:latin typeface="Microsoft JhengHei" panose="020B0604030504040204" charset="-120"/>
                        <a:cs typeface="Microsoft JhengHei" panose="020B0604030504040204" charset="-120"/>
                      </a:endParaRPr>
                    </a:p>
                  </a:txBody>
                  <a:tcPr marL="0" marR="0" marT="65405" marB="0"/>
                </a:tc>
                <a:tc>
                  <a:txBody>
                    <a:bodyPr/>
                    <a:lstStyle/>
                    <a:p>
                      <a:pPr marL="292100" algn="ctr">
                        <a:lnSpc>
                          <a:spcPts val="2180"/>
                        </a:lnSpc>
                        <a:spcBef>
                          <a:spcPts val="515"/>
                        </a:spcBef>
                      </a:pPr>
                      <a:r>
                        <a:rPr sz="2000" b="1" spc="-265" dirty="0">
                          <a:solidFill>
                            <a:srgbClr val="FF0066"/>
                          </a:solidFill>
                          <a:latin typeface="Microsoft JhengHei" panose="020B0604030504040204" charset="-120"/>
                          <a:cs typeface="Microsoft JhengHei" panose="020B0604030504040204" charset="-120"/>
                        </a:rPr>
                        <a:t>0023H</a:t>
                      </a:r>
                      <a:endParaRPr sz="2000" dirty="0">
                        <a:latin typeface="Microsoft JhengHei" panose="020B0604030504040204" charset="-120"/>
                        <a:cs typeface="Microsoft JhengHei" panose="020B0604030504040204" charset="-120"/>
                      </a:endParaRPr>
                    </a:p>
                  </a:txBody>
                  <a:tcPr marL="0" marR="0" marT="65405" marB="0"/>
                </a:tc>
                <a:extLst>
                  <a:ext uri="{0D108BD9-81ED-4DB2-BD59-A6C34878D82A}">
                    <a16:rowId xmlns:a16="http://schemas.microsoft.com/office/drawing/2014/main" val="10005"/>
                  </a:ext>
                </a:extLst>
              </a:tr>
            </a:tbl>
          </a:graphicData>
        </a:graphic>
      </p:graphicFrame>
      <p:sp>
        <p:nvSpPr>
          <p:cNvPr id="4" name="object 4"/>
          <p:cNvSpPr txBox="1"/>
          <p:nvPr/>
        </p:nvSpPr>
        <p:spPr>
          <a:xfrm>
            <a:off x="1378457" y="4532358"/>
            <a:ext cx="4318000" cy="2002155"/>
          </a:xfrm>
          <a:prstGeom prst="rect">
            <a:avLst/>
          </a:prstGeom>
        </p:spPr>
        <p:txBody>
          <a:bodyPr vert="horz" wrap="square" lIns="0" tIns="207645" rIns="0" bIns="0" rtlCol="0">
            <a:spAutoFit/>
          </a:bodyPr>
          <a:lstStyle/>
          <a:p>
            <a:pPr marL="12700">
              <a:lnSpc>
                <a:spcPct val="100000"/>
              </a:lnSpc>
              <a:spcBef>
                <a:spcPts val="1635"/>
              </a:spcBef>
            </a:pPr>
            <a:r>
              <a:rPr dirty="0">
                <a:latin typeface="宋体" panose="02010600030101010101" pitchFamily="2" charset="-122"/>
                <a:cs typeface="宋体" panose="02010600030101010101" pitchFamily="2" charset="-122"/>
              </a:rPr>
              <a:t>常用的</a:t>
            </a:r>
            <a:r>
              <a:rPr b="1" spc="5" dirty="0">
                <a:solidFill>
                  <a:srgbClr val="FF3300"/>
                </a:solidFill>
                <a:latin typeface="Microsoft JhengHei" panose="020B0604030504040204" charset="-120"/>
                <a:cs typeface="Microsoft JhengHei" panose="020B0604030504040204" charset="-120"/>
              </a:rPr>
              <a:t>主程序结构</a:t>
            </a:r>
            <a:r>
              <a:rPr dirty="0">
                <a:latin typeface="宋体" panose="02010600030101010101" pitchFamily="2" charset="-122"/>
                <a:cs typeface="宋体" panose="02010600030101010101" pitchFamily="2" charset="-122"/>
              </a:rPr>
              <a:t>如下：</a:t>
            </a:r>
          </a:p>
          <a:p>
            <a:pPr marL="927100">
              <a:lnSpc>
                <a:spcPct val="100000"/>
              </a:lnSpc>
              <a:spcBef>
                <a:spcPts val="1275"/>
              </a:spcBef>
              <a:tabLst>
                <a:tab pos="1840230" algn="l"/>
              </a:tabLst>
            </a:pPr>
            <a:r>
              <a:rPr sz="1600" b="1" spc="-5" dirty="0">
                <a:solidFill>
                  <a:srgbClr val="3333CC"/>
                </a:solidFill>
                <a:latin typeface="Times New Roman" panose="02020603050405020304"/>
                <a:cs typeface="Times New Roman" panose="02020603050405020304"/>
              </a:rPr>
              <a:t>ORG	0000H</a:t>
            </a:r>
            <a:endParaRPr sz="1600" dirty="0">
              <a:latin typeface="Times New Roman" panose="02020603050405020304"/>
              <a:cs typeface="Times New Roman" panose="02020603050405020304"/>
            </a:endParaRPr>
          </a:p>
          <a:p>
            <a:pPr marL="927100" marR="5080">
              <a:lnSpc>
                <a:spcPct val="150000"/>
              </a:lnSpc>
              <a:tabLst>
                <a:tab pos="1694180" algn="l"/>
                <a:tab pos="1737995" algn="l"/>
                <a:tab pos="1801495" algn="l"/>
              </a:tabLst>
            </a:pPr>
            <a:r>
              <a:rPr sz="1600" spc="-5" dirty="0">
                <a:solidFill>
                  <a:srgbClr val="FF0000"/>
                </a:solidFill>
                <a:latin typeface="Times New Roman" panose="02020603050405020304"/>
                <a:cs typeface="Times New Roman" panose="02020603050405020304"/>
              </a:rPr>
              <a:t>LJMP		MAIN</a:t>
            </a:r>
            <a:r>
              <a:rPr sz="1600" spc="-5" dirty="0">
                <a:solidFill>
                  <a:srgbClr val="FF0000"/>
                </a:solidFill>
                <a:latin typeface="宋体" panose="02010600030101010101" pitchFamily="2" charset="-122"/>
                <a:cs typeface="宋体" panose="02010600030101010101" pitchFamily="2" charset="-122"/>
              </a:rPr>
              <a:t>；复位入口 </a:t>
            </a:r>
            <a:r>
              <a:rPr sz="1600" b="1" spc="-5" dirty="0">
                <a:solidFill>
                  <a:srgbClr val="3333CC"/>
                </a:solidFill>
                <a:latin typeface="Times New Roman" panose="02020603050405020304"/>
                <a:cs typeface="Times New Roman" panose="02020603050405020304"/>
              </a:rPr>
              <a:t>ORG</a:t>
            </a:r>
            <a:r>
              <a:rPr sz="1600" b="1" dirty="0">
                <a:solidFill>
                  <a:srgbClr val="3333CC"/>
                </a:solidFill>
                <a:latin typeface="Times New Roman" panose="02020603050405020304"/>
                <a:cs typeface="Times New Roman" panose="02020603050405020304"/>
              </a:rPr>
              <a:t>	</a:t>
            </a:r>
            <a:r>
              <a:rPr sz="1600" b="1" spc="-5" dirty="0">
                <a:solidFill>
                  <a:srgbClr val="3333CC"/>
                </a:solidFill>
                <a:latin typeface="Times New Roman" panose="02020603050405020304"/>
                <a:cs typeface="Times New Roman" panose="02020603050405020304"/>
              </a:rPr>
              <a:t>00</a:t>
            </a:r>
            <a:r>
              <a:rPr sz="1600" b="1" dirty="0">
                <a:solidFill>
                  <a:srgbClr val="3333CC"/>
                </a:solidFill>
                <a:latin typeface="Times New Roman" panose="02020603050405020304"/>
                <a:cs typeface="Times New Roman" panose="02020603050405020304"/>
              </a:rPr>
              <a:t>1</a:t>
            </a:r>
            <a:r>
              <a:rPr sz="1600" b="1" spc="-5" dirty="0">
                <a:solidFill>
                  <a:srgbClr val="3333CC"/>
                </a:solidFill>
                <a:latin typeface="Times New Roman" panose="02020603050405020304"/>
                <a:cs typeface="Times New Roman" panose="02020603050405020304"/>
              </a:rPr>
              <a:t>3H</a:t>
            </a:r>
            <a:r>
              <a:rPr sz="1600" spc="-5" dirty="0">
                <a:latin typeface="宋体" panose="02010600030101010101" pitchFamily="2" charset="-122"/>
                <a:cs typeface="宋体" panose="02010600030101010101" pitchFamily="2" charset="-122"/>
              </a:rPr>
              <a:t>；外部中断</a:t>
            </a:r>
            <a:r>
              <a:rPr sz="1600" spc="-5" dirty="0">
                <a:latin typeface="Times New Roman" panose="02020603050405020304"/>
                <a:cs typeface="Times New Roman" panose="02020603050405020304"/>
              </a:rPr>
              <a:t>1</a:t>
            </a:r>
            <a:r>
              <a:rPr sz="1600" spc="-5" dirty="0">
                <a:latin typeface="宋体" panose="02010600030101010101" pitchFamily="2" charset="-122"/>
                <a:cs typeface="宋体" panose="02010600030101010101" pitchFamily="2" charset="-122"/>
              </a:rPr>
              <a:t>入口  </a:t>
            </a:r>
            <a:r>
              <a:rPr sz="1600" spc="-5" dirty="0">
                <a:solidFill>
                  <a:srgbClr val="FF0000"/>
                </a:solidFill>
                <a:latin typeface="Times New Roman" panose="02020603050405020304"/>
                <a:cs typeface="Times New Roman" panose="02020603050405020304"/>
              </a:rPr>
              <a:t>LJMP			INT1</a:t>
            </a:r>
          </a:p>
        </p:txBody>
      </p:sp>
      <p:sp>
        <p:nvSpPr>
          <p:cNvPr id="6" name="object 2"/>
          <p:cNvSpPr txBox="1">
            <a:spLocks noGrp="1"/>
          </p:cNvSpPr>
          <p:nvPr/>
        </p:nvSpPr>
        <p:spPr>
          <a:xfrm>
            <a:off x="1486535" y="304800"/>
            <a:ext cx="4768215" cy="381635"/>
          </a:xfrm>
          <a:prstGeom prst="rect">
            <a:avLst/>
          </a:prstGeom>
        </p:spPr>
        <p:txBody>
          <a:bodyPr vert="horz" wrap="square" lIns="0" tIns="12700" rIns="0" bIns="0" rtlCol="0">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12700">
              <a:lnSpc>
                <a:spcPct val="100000"/>
              </a:lnSpc>
              <a:spcBef>
                <a:spcPts val="100"/>
              </a:spcBef>
            </a:pPr>
            <a:r>
              <a:rPr lang="en-US" sz="2400" spc="10" dirty="0">
                <a:ea typeface="微软雅黑" panose="020B0503020204020204" charset="-122"/>
              </a:rPr>
              <a:t>§</a:t>
            </a:r>
            <a:r>
              <a:rPr lang="en-US" sz="2400" spc="10" dirty="0"/>
              <a:t>5.4  </a:t>
            </a:r>
            <a:r>
              <a:rPr sz="2400" spc="10" dirty="0"/>
              <a:t>中断响应</a:t>
            </a:r>
            <a:r>
              <a:rPr lang="zh-CN" sz="2400" spc="10" dirty="0"/>
              <a:t>及中断处理过程</a:t>
            </a:r>
            <a:endParaRPr sz="2400"/>
          </a:p>
        </p:txBody>
      </p:sp>
      <p:sp>
        <p:nvSpPr>
          <p:cNvPr id="7" name="灯片编号占位符 6"/>
          <p:cNvSpPr>
            <a:spLocks noGrp="1"/>
          </p:cNvSpPr>
          <p:nvPr>
            <p:ph type="sldNum" sz="quarter" idx="7"/>
          </p:nvPr>
        </p:nvSpPr>
        <p:spPr/>
        <p:txBody>
          <a:bodyPr/>
          <a:lstStyle/>
          <a:p>
            <a:pPr marL="25400">
              <a:lnSpc>
                <a:spcPct val="100000"/>
              </a:lnSpc>
              <a:spcBef>
                <a:spcPts val="185"/>
              </a:spcBef>
            </a:pPr>
            <a:fld id="{81D60167-4931-47E6-BA6A-407CBD079E47}" type="slidenum">
              <a:rPr spc="-5" dirty="0"/>
              <a:t>19</a:t>
            </a:fld>
            <a:endParaRPr spc="-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0384" y="1298955"/>
            <a:ext cx="3690620" cy="442595"/>
          </a:xfrm>
          <a:prstGeom prst="rect">
            <a:avLst/>
          </a:prstGeom>
        </p:spPr>
        <p:txBody>
          <a:bodyPr vert="horz" wrap="square" lIns="0" tIns="12065" rIns="0" bIns="0" rtlCol="0">
            <a:spAutoFit/>
          </a:bodyPr>
          <a:lstStyle/>
          <a:p>
            <a:pPr marL="12700">
              <a:lnSpc>
                <a:spcPct val="100000"/>
              </a:lnSpc>
              <a:spcBef>
                <a:spcPts val="95"/>
              </a:spcBef>
            </a:pPr>
            <a:r>
              <a:rPr sz="2800" spc="-5" dirty="0"/>
              <a:t>响</a:t>
            </a:r>
            <a:r>
              <a:rPr sz="2800" dirty="0"/>
              <a:t>应中断请</a:t>
            </a:r>
            <a:r>
              <a:rPr sz="2800" spc="10" dirty="0"/>
              <a:t>求</a:t>
            </a:r>
            <a:r>
              <a:rPr sz="2800" dirty="0"/>
              <a:t>的条</a:t>
            </a:r>
            <a:r>
              <a:rPr sz="2800" spc="-5" dirty="0"/>
              <a:t>件</a:t>
            </a:r>
          </a:p>
        </p:txBody>
      </p:sp>
      <p:sp>
        <p:nvSpPr>
          <p:cNvPr id="3" name="object 3"/>
          <p:cNvSpPr/>
          <p:nvPr/>
        </p:nvSpPr>
        <p:spPr>
          <a:xfrm>
            <a:off x="5922264" y="3019805"/>
            <a:ext cx="1297686" cy="1296924"/>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6215888" y="3228594"/>
            <a:ext cx="714375" cy="835025"/>
          </a:xfrm>
          <a:prstGeom prst="rect">
            <a:avLst/>
          </a:prstGeom>
        </p:spPr>
        <p:txBody>
          <a:bodyPr vert="horz" wrap="square" lIns="0" tIns="26670" rIns="0" bIns="0" rtlCol="0">
            <a:spAutoFit/>
          </a:bodyPr>
          <a:lstStyle/>
          <a:p>
            <a:pPr marL="12700" marR="5080" algn="just">
              <a:lnSpc>
                <a:spcPts val="2110"/>
              </a:lnSpc>
              <a:spcBef>
                <a:spcPts val="210"/>
              </a:spcBef>
            </a:pPr>
            <a:r>
              <a:rPr sz="1800" b="1" spc="5" dirty="0">
                <a:solidFill>
                  <a:srgbClr val="C00000"/>
                </a:solidFill>
                <a:latin typeface="Microsoft JhengHei" panose="020B0604030504040204" charset="-120"/>
                <a:cs typeface="Microsoft JhengHei" panose="020B0604030504040204" charset="-120"/>
              </a:rPr>
              <a:t>响应中 断请求 的条件</a:t>
            </a:r>
            <a:endParaRPr sz="1800">
              <a:latin typeface="Microsoft JhengHei" panose="020B0604030504040204" charset="-120"/>
              <a:cs typeface="Microsoft JhengHei" panose="020B0604030504040204" charset="-120"/>
            </a:endParaRPr>
          </a:p>
        </p:txBody>
      </p:sp>
      <p:sp>
        <p:nvSpPr>
          <p:cNvPr id="5" name="object 5"/>
          <p:cNvSpPr/>
          <p:nvPr/>
        </p:nvSpPr>
        <p:spPr>
          <a:xfrm>
            <a:off x="6354218" y="2631147"/>
            <a:ext cx="438287" cy="275882"/>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5922264" y="1205483"/>
            <a:ext cx="1297686" cy="1297686"/>
          </a:xfrm>
          <a:prstGeom prst="rect">
            <a:avLst/>
          </a:prstGeom>
          <a:blipFill>
            <a:blip r:embed="rId4" cstate="print"/>
            <a:stretch>
              <a:fillRect/>
            </a:stretch>
          </a:blipFill>
        </p:spPr>
        <p:txBody>
          <a:bodyPr wrap="square" lIns="0" tIns="0" rIns="0" bIns="0" rtlCol="0"/>
          <a:lstStyle/>
          <a:p>
            <a:endParaRPr/>
          </a:p>
        </p:txBody>
      </p:sp>
      <p:sp>
        <p:nvSpPr>
          <p:cNvPr id="7" name="object 7"/>
          <p:cNvSpPr txBox="1"/>
          <p:nvPr/>
        </p:nvSpPr>
        <p:spPr>
          <a:xfrm>
            <a:off x="6215888" y="1399646"/>
            <a:ext cx="714375" cy="767715"/>
          </a:xfrm>
          <a:prstGeom prst="rect">
            <a:avLst/>
          </a:prstGeom>
        </p:spPr>
        <p:txBody>
          <a:bodyPr vert="horz" wrap="square" lIns="0" tIns="109220" rIns="0" bIns="0" rtlCol="0">
            <a:spAutoFit/>
          </a:bodyPr>
          <a:lstStyle/>
          <a:p>
            <a:pPr marL="12700">
              <a:lnSpc>
                <a:spcPct val="100000"/>
              </a:lnSpc>
              <a:spcBef>
                <a:spcPts val="860"/>
              </a:spcBef>
            </a:pPr>
            <a:r>
              <a:rPr sz="1800" b="1" spc="5" dirty="0">
                <a:solidFill>
                  <a:srgbClr val="1717FF"/>
                </a:solidFill>
                <a:latin typeface="Microsoft JhengHei" panose="020B0604030504040204" charset="-120"/>
                <a:cs typeface="Microsoft JhengHei" panose="020B0604030504040204" charset="-120"/>
              </a:rPr>
              <a:t>中断源</a:t>
            </a:r>
            <a:endParaRPr sz="1800">
              <a:latin typeface="Microsoft JhengHei" panose="020B0604030504040204" charset="-120"/>
              <a:cs typeface="Microsoft JhengHei" panose="020B0604030504040204" charset="-120"/>
            </a:endParaRPr>
          </a:p>
          <a:p>
            <a:pPr marL="12700">
              <a:lnSpc>
                <a:spcPct val="100000"/>
              </a:lnSpc>
              <a:spcBef>
                <a:spcPts val="760"/>
              </a:spcBef>
            </a:pPr>
            <a:r>
              <a:rPr sz="1800" b="1" spc="5" dirty="0">
                <a:solidFill>
                  <a:srgbClr val="1717FF"/>
                </a:solidFill>
                <a:latin typeface="Microsoft JhengHei" panose="020B0604030504040204" charset="-120"/>
                <a:cs typeface="Microsoft JhengHei" panose="020B0604030504040204" charset="-120"/>
              </a:rPr>
              <a:t>发请求</a:t>
            </a:r>
            <a:endParaRPr sz="1800">
              <a:latin typeface="Microsoft JhengHei" panose="020B0604030504040204" charset="-120"/>
              <a:cs typeface="Microsoft JhengHei" panose="020B0604030504040204" charset="-120"/>
            </a:endParaRPr>
          </a:p>
        </p:txBody>
      </p:sp>
      <p:sp>
        <p:nvSpPr>
          <p:cNvPr id="8" name="object 8"/>
          <p:cNvSpPr/>
          <p:nvPr/>
        </p:nvSpPr>
        <p:spPr>
          <a:xfrm>
            <a:off x="7331964" y="3447262"/>
            <a:ext cx="276644" cy="437475"/>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7736585" y="3019805"/>
            <a:ext cx="1296923" cy="1296924"/>
          </a:xfrm>
          <a:prstGeom prst="rect">
            <a:avLst/>
          </a:prstGeom>
          <a:blipFill>
            <a:blip r:embed="rId6" cstate="print"/>
            <a:stretch>
              <a:fillRect/>
            </a:stretch>
          </a:blipFill>
        </p:spPr>
        <p:txBody>
          <a:bodyPr wrap="square" lIns="0" tIns="0" rIns="0" bIns="0" rtlCol="0"/>
          <a:lstStyle/>
          <a:p>
            <a:endParaRPr/>
          </a:p>
        </p:txBody>
      </p:sp>
      <p:sp>
        <p:nvSpPr>
          <p:cNvPr id="10" name="object 10"/>
          <p:cNvSpPr txBox="1"/>
          <p:nvPr/>
        </p:nvSpPr>
        <p:spPr>
          <a:xfrm>
            <a:off x="8029955" y="3212788"/>
            <a:ext cx="714375" cy="768985"/>
          </a:xfrm>
          <a:prstGeom prst="rect">
            <a:avLst/>
          </a:prstGeom>
        </p:spPr>
        <p:txBody>
          <a:bodyPr vert="horz" wrap="square" lIns="0" tIns="109855" rIns="0" bIns="0" rtlCol="0">
            <a:spAutoFit/>
          </a:bodyPr>
          <a:lstStyle/>
          <a:p>
            <a:pPr marL="12700">
              <a:lnSpc>
                <a:spcPct val="100000"/>
              </a:lnSpc>
              <a:spcBef>
                <a:spcPts val="865"/>
              </a:spcBef>
            </a:pPr>
            <a:r>
              <a:rPr sz="1800" b="1" spc="5" dirty="0">
                <a:solidFill>
                  <a:srgbClr val="1717FF"/>
                </a:solidFill>
                <a:latin typeface="Microsoft JhengHei" panose="020B0604030504040204" charset="-120"/>
                <a:cs typeface="Microsoft JhengHei" panose="020B0604030504040204" charset="-120"/>
              </a:rPr>
              <a:t>该中断</a:t>
            </a:r>
            <a:endParaRPr sz="1800">
              <a:latin typeface="Microsoft JhengHei" panose="020B0604030504040204" charset="-120"/>
              <a:cs typeface="Microsoft JhengHei" panose="020B0604030504040204" charset="-120"/>
            </a:endParaRPr>
          </a:p>
          <a:p>
            <a:pPr marL="12700">
              <a:lnSpc>
                <a:spcPct val="100000"/>
              </a:lnSpc>
              <a:spcBef>
                <a:spcPts val="765"/>
              </a:spcBef>
            </a:pPr>
            <a:r>
              <a:rPr sz="1800" b="1" spc="5" dirty="0">
                <a:solidFill>
                  <a:srgbClr val="1717FF"/>
                </a:solidFill>
                <a:latin typeface="Microsoft JhengHei" panose="020B0604030504040204" charset="-120"/>
                <a:cs typeface="Microsoft JhengHei" panose="020B0604030504040204" charset="-120"/>
              </a:rPr>
              <a:t>被允许</a:t>
            </a:r>
            <a:endParaRPr sz="1800">
              <a:latin typeface="Microsoft JhengHei" panose="020B0604030504040204" charset="-120"/>
              <a:cs typeface="Microsoft JhengHei" panose="020B0604030504040204" charset="-120"/>
            </a:endParaRPr>
          </a:p>
        </p:txBody>
      </p:sp>
      <p:sp>
        <p:nvSpPr>
          <p:cNvPr id="11" name="object 11"/>
          <p:cNvSpPr/>
          <p:nvPr/>
        </p:nvSpPr>
        <p:spPr>
          <a:xfrm>
            <a:off x="6354218" y="4429505"/>
            <a:ext cx="433815" cy="275844"/>
          </a:xfrm>
          <a:prstGeom prst="rect">
            <a:avLst/>
          </a:prstGeom>
          <a:blipFill>
            <a:blip r:embed="rId7" cstate="print"/>
            <a:stretch>
              <a:fillRect/>
            </a:stretch>
          </a:blipFill>
        </p:spPr>
        <p:txBody>
          <a:bodyPr wrap="square" lIns="0" tIns="0" rIns="0" bIns="0" rtlCol="0"/>
          <a:lstStyle/>
          <a:p>
            <a:endParaRPr/>
          </a:p>
        </p:txBody>
      </p:sp>
      <p:sp>
        <p:nvSpPr>
          <p:cNvPr id="12" name="object 12"/>
          <p:cNvSpPr/>
          <p:nvPr/>
        </p:nvSpPr>
        <p:spPr>
          <a:xfrm>
            <a:off x="5924804" y="4762245"/>
            <a:ext cx="1297686" cy="1297686"/>
          </a:xfrm>
          <a:prstGeom prst="rect">
            <a:avLst/>
          </a:prstGeom>
          <a:blipFill>
            <a:blip r:embed="rId4" cstate="print"/>
            <a:stretch>
              <a:fillRect/>
            </a:stretch>
          </a:blipFill>
        </p:spPr>
        <p:txBody>
          <a:bodyPr wrap="square" lIns="0" tIns="0" rIns="0" bIns="0" rtlCol="0"/>
          <a:lstStyle/>
          <a:p>
            <a:endParaRPr/>
          </a:p>
        </p:txBody>
      </p:sp>
      <p:sp>
        <p:nvSpPr>
          <p:cNvPr id="13" name="object 13"/>
          <p:cNvSpPr txBox="1"/>
          <p:nvPr/>
        </p:nvSpPr>
        <p:spPr>
          <a:xfrm>
            <a:off x="6215888" y="5027676"/>
            <a:ext cx="714375" cy="767715"/>
          </a:xfrm>
          <a:prstGeom prst="rect">
            <a:avLst/>
          </a:prstGeom>
        </p:spPr>
        <p:txBody>
          <a:bodyPr vert="horz" wrap="square" lIns="0" tIns="12700" rIns="0" bIns="0" rtlCol="0">
            <a:spAutoFit/>
          </a:bodyPr>
          <a:lstStyle/>
          <a:p>
            <a:pPr marL="127000" marR="5080" indent="-114300">
              <a:lnSpc>
                <a:spcPct val="135000"/>
              </a:lnSpc>
              <a:spcBef>
                <a:spcPts val="100"/>
              </a:spcBef>
            </a:pPr>
            <a:r>
              <a:rPr sz="1800" b="1" spc="5" dirty="0">
                <a:solidFill>
                  <a:srgbClr val="1717FF"/>
                </a:solidFill>
                <a:latin typeface="Microsoft JhengHei" panose="020B0604030504040204" charset="-120"/>
                <a:cs typeface="Microsoft JhengHei" panose="020B0604030504040204" charset="-120"/>
              </a:rPr>
              <a:t>总中断 允许</a:t>
            </a:r>
            <a:endParaRPr sz="1800">
              <a:latin typeface="Microsoft JhengHei" panose="020B0604030504040204" charset="-120"/>
              <a:cs typeface="Microsoft JhengHei" panose="020B0604030504040204" charset="-120"/>
            </a:endParaRPr>
          </a:p>
        </p:txBody>
      </p:sp>
      <p:sp>
        <p:nvSpPr>
          <p:cNvPr id="14" name="object 14"/>
          <p:cNvSpPr/>
          <p:nvPr/>
        </p:nvSpPr>
        <p:spPr>
          <a:xfrm>
            <a:off x="5533644" y="3447262"/>
            <a:ext cx="276644" cy="437475"/>
          </a:xfrm>
          <a:prstGeom prst="rect">
            <a:avLst/>
          </a:prstGeom>
          <a:blipFill>
            <a:blip r:embed="rId8" cstate="print"/>
            <a:stretch>
              <a:fillRect/>
            </a:stretch>
          </a:blipFill>
        </p:spPr>
        <p:txBody>
          <a:bodyPr wrap="square" lIns="0" tIns="0" rIns="0" bIns="0" rtlCol="0"/>
          <a:lstStyle/>
          <a:p>
            <a:endParaRPr/>
          </a:p>
        </p:txBody>
      </p:sp>
      <p:sp>
        <p:nvSpPr>
          <p:cNvPr id="15" name="object 15"/>
          <p:cNvSpPr/>
          <p:nvPr/>
        </p:nvSpPr>
        <p:spPr>
          <a:xfrm>
            <a:off x="4181729" y="3017265"/>
            <a:ext cx="1296924" cy="1296924"/>
          </a:xfrm>
          <a:prstGeom prst="rect">
            <a:avLst/>
          </a:prstGeom>
          <a:blipFill>
            <a:blip r:embed="rId9" cstate="print"/>
            <a:stretch>
              <a:fillRect/>
            </a:stretch>
          </a:blipFill>
        </p:spPr>
        <p:txBody>
          <a:bodyPr wrap="square" lIns="0" tIns="0" rIns="0" bIns="0" rtlCol="0"/>
          <a:lstStyle/>
          <a:p>
            <a:endParaRPr/>
          </a:p>
        </p:txBody>
      </p:sp>
      <p:sp>
        <p:nvSpPr>
          <p:cNvPr id="16" name="object 16"/>
          <p:cNvSpPr txBox="1"/>
          <p:nvPr/>
        </p:nvSpPr>
        <p:spPr>
          <a:xfrm>
            <a:off x="4401820" y="3094735"/>
            <a:ext cx="713740" cy="1102360"/>
          </a:xfrm>
          <a:prstGeom prst="rect">
            <a:avLst/>
          </a:prstGeom>
        </p:spPr>
        <p:txBody>
          <a:bodyPr vert="horz" wrap="square" lIns="0" tIns="26670" rIns="0" bIns="0" rtlCol="0">
            <a:spAutoFit/>
          </a:bodyPr>
          <a:lstStyle/>
          <a:p>
            <a:pPr marL="12700" marR="5080" algn="just">
              <a:lnSpc>
                <a:spcPts val="2110"/>
              </a:lnSpc>
              <a:spcBef>
                <a:spcPts val="210"/>
              </a:spcBef>
            </a:pPr>
            <a:r>
              <a:rPr sz="1800" b="1" spc="5" dirty="0">
                <a:solidFill>
                  <a:srgbClr val="1717FF"/>
                </a:solidFill>
                <a:latin typeface="Microsoft JhengHei" panose="020B0604030504040204" charset="-120"/>
                <a:cs typeface="Microsoft JhengHei" panose="020B0604030504040204" charset="-120"/>
              </a:rPr>
              <a:t>无同级 或更高 级中断 在运行</a:t>
            </a:r>
            <a:endParaRPr sz="1800">
              <a:latin typeface="Microsoft JhengHei" panose="020B0604030504040204" charset="-120"/>
              <a:cs typeface="Microsoft JhengHei" panose="020B0604030504040204" charset="-120"/>
            </a:endParaRPr>
          </a:p>
        </p:txBody>
      </p:sp>
      <p:sp>
        <p:nvSpPr>
          <p:cNvPr id="18" name="object 2"/>
          <p:cNvSpPr txBox="1">
            <a:spLocks noGrp="1"/>
          </p:cNvSpPr>
          <p:nvPr/>
        </p:nvSpPr>
        <p:spPr>
          <a:xfrm>
            <a:off x="1650365" y="425450"/>
            <a:ext cx="4768215" cy="381635"/>
          </a:xfrm>
          <a:prstGeom prst="rect">
            <a:avLst/>
          </a:prstGeom>
        </p:spPr>
        <p:txBody>
          <a:bodyPr vert="horz" wrap="square" lIns="0" tIns="12700" rIns="0" bIns="0" rtlCol="0">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12700">
              <a:lnSpc>
                <a:spcPct val="100000"/>
              </a:lnSpc>
              <a:spcBef>
                <a:spcPts val="100"/>
              </a:spcBef>
            </a:pPr>
            <a:r>
              <a:rPr lang="en-US" sz="2400" spc="10" dirty="0">
                <a:ea typeface="微软雅黑" panose="020B0503020204020204" charset="-122"/>
              </a:rPr>
              <a:t>§</a:t>
            </a:r>
            <a:r>
              <a:rPr lang="en-US" sz="2400" spc="10" dirty="0"/>
              <a:t>5.4  </a:t>
            </a:r>
            <a:r>
              <a:rPr sz="2400" spc="10" dirty="0"/>
              <a:t>中断响应</a:t>
            </a:r>
            <a:r>
              <a:rPr lang="zh-CN" sz="2400" spc="10" dirty="0"/>
              <a:t>及中断处理过程</a:t>
            </a:r>
            <a:endParaRPr sz="2400"/>
          </a:p>
        </p:txBody>
      </p:sp>
      <p:sp>
        <p:nvSpPr>
          <p:cNvPr id="90115" name="文本占位符 90114"/>
          <p:cNvSpPr>
            <a:spLocks noGrp="1"/>
          </p:cNvSpPr>
          <p:nvPr>
            <p:ph type="body" idx="1"/>
          </p:nvPr>
        </p:nvSpPr>
        <p:spPr>
          <a:xfrm>
            <a:off x="283845" y="1770380"/>
            <a:ext cx="4440555" cy="3740127"/>
          </a:xfrm>
        </p:spPr>
        <p:txBody>
          <a:bodyPr wrap="square" lIns="92075" tIns="46038" rIns="92075" bIns="46038"/>
          <a:lstStyle/>
          <a:p>
            <a:pPr indent="0" eaLnBrk="1" fontAlgn="auto" latinLnBrk="0" hangingPunct="1">
              <a:lnSpc>
                <a:spcPct val="150000"/>
              </a:lnSpc>
              <a:buNone/>
            </a:pPr>
            <a:r>
              <a:rPr lang="en-US" altLang="zh-CN" b="1" dirty="0">
                <a:solidFill>
                  <a:srgbClr val="660066"/>
                </a:solidFill>
              </a:rPr>
              <a:t>①</a:t>
            </a:r>
            <a:r>
              <a:rPr lang="zh-CN" altLang="en-US" b="1" dirty="0">
                <a:solidFill>
                  <a:srgbClr val="660066"/>
                </a:solidFill>
              </a:rPr>
              <a:t>有中断源发出中断请求。</a:t>
            </a:r>
            <a:endParaRPr lang="zh-CN" altLang="en-US" b="1" dirty="0"/>
          </a:p>
          <a:p>
            <a:pPr indent="0" eaLnBrk="1" fontAlgn="auto" latinLnBrk="0" hangingPunct="1">
              <a:lnSpc>
                <a:spcPct val="150000"/>
              </a:lnSpc>
              <a:buNone/>
            </a:pPr>
            <a:r>
              <a:rPr lang="en-US" altLang="zh-CN" b="1" dirty="0">
                <a:solidFill>
                  <a:srgbClr val="000099"/>
                </a:solidFill>
              </a:rPr>
              <a:t>②</a:t>
            </a:r>
            <a:r>
              <a:rPr lang="zh-CN" altLang="en-US" b="1" dirty="0">
                <a:solidFill>
                  <a:srgbClr val="000099"/>
                </a:solidFill>
              </a:rPr>
              <a:t>中断总允许位</a:t>
            </a:r>
            <a:r>
              <a:rPr lang="en-US" altLang="zh-CN" b="1" dirty="0">
                <a:solidFill>
                  <a:srgbClr val="000099"/>
                </a:solidFill>
              </a:rPr>
              <a:t>EA=1</a:t>
            </a:r>
            <a:r>
              <a:rPr lang="zh-CN" altLang="en-US" b="1" dirty="0">
                <a:solidFill>
                  <a:srgbClr val="000099"/>
                </a:solidFill>
              </a:rPr>
              <a:t>，即</a:t>
            </a:r>
            <a:r>
              <a:rPr lang="en-US" altLang="zh-CN" b="1" dirty="0">
                <a:solidFill>
                  <a:srgbClr val="000099"/>
                </a:solidFill>
              </a:rPr>
              <a:t>CPU</a:t>
            </a:r>
            <a:r>
              <a:rPr lang="zh-CN" altLang="en-US" b="1" dirty="0">
                <a:solidFill>
                  <a:srgbClr val="000099"/>
                </a:solidFill>
              </a:rPr>
              <a:t>中断。（</a:t>
            </a:r>
            <a:r>
              <a:rPr lang="en-US" altLang="zh-CN" b="1" dirty="0">
                <a:solidFill>
                  <a:srgbClr val="000099"/>
                </a:solidFill>
              </a:rPr>
              <a:t>IE</a:t>
            </a:r>
            <a:r>
              <a:rPr lang="zh-CN" altLang="en-US" b="1" dirty="0">
                <a:solidFill>
                  <a:srgbClr val="000099"/>
                </a:solidFill>
              </a:rPr>
              <a:t>）</a:t>
            </a:r>
            <a:endParaRPr lang="zh-CN" altLang="en-US" b="1" dirty="0"/>
          </a:p>
          <a:p>
            <a:pPr indent="0" eaLnBrk="1" fontAlgn="auto" latinLnBrk="0" hangingPunct="1">
              <a:lnSpc>
                <a:spcPct val="150000"/>
              </a:lnSpc>
              <a:buNone/>
            </a:pPr>
            <a:r>
              <a:rPr lang="en-US" altLang="zh-CN" b="1" dirty="0">
                <a:solidFill>
                  <a:srgbClr val="CC3300"/>
                </a:solidFill>
              </a:rPr>
              <a:t>③</a:t>
            </a:r>
            <a:r>
              <a:rPr lang="zh-CN" altLang="en-US" b="1" dirty="0">
                <a:solidFill>
                  <a:srgbClr val="CC3300"/>
                </a:solidFill>
              </a:rPr>
              <a:t>申请中断的中断源的中断允许位为</a:t>
            </a:r>
            <a:r>
              <a:rPr lang="en-US" altLang="zh-CN" b="1" dirty="0">
                <a:solidFill>
                  <a:srgbClr val="CC3300"/>
                </a:solidFill>
              </a:rPr>
              <a:t>1</a:t>
            </a:r>
            <a:r>
              <a:rPr lang="zh-CN" altLang="en-US" b="1" dirty="0">
                <a:solidFill>
                  <a:srgbClr val="CC3300"/>
                </a:solidFill>
              </a:rPr>
              <a:t>，即中断没有被屏蔽。（</a:t>
            </a:r>
            <a:r>
              <a:rPr lang="en-US" altLang="zh-CN" b="1" dirty="0">
                <a:solidFill>
                  <a:srgbClr val="CC3300"/>
                </a:solidFill>
              </a:rPr>
              <a:t>IE</a:t>
            </a:r>
            <a:r>
              <a:rPr lang="zh-CN" altLang="en-US" b="1" dirty="0">
                <a:solidFill>
                  <a:srgbClr val="CC3300"/>
                </a:solidFill>
              </a:rPr>
              <a:t>）</a:t>
            </a:r>
            <a:endParaRPr lang="zh-CN" altLang="en-US" b="1" dirty="0"/>
          </a:p>
          <a:p>
            <a:pPr indent="0" eaLnBrk="1" fontAlgn="auto" latinLnBrk="0" hangingPunct="1">
              <a:lnSpc>
                <a:spcPct val="150000"/>
              </a:lnSpc>
              <a:buNone/>
            </a:pPr>
            <a:r>
              <a:rPr lang="en-US" altLang="zh-CN" b="1" dirty="0">
                <a:solidFill>
                  <a:srgbClr val="666633"/>
                </a:solidFill>
              </a:rPr>
              <a:t>④</a:t>
            </a:r>
            <a:r>
              <a:rPr lang="zh-CN" altLang="en-US" b="1" dirty="0">
                <a:solidFill>
                  <a:srgbClr val="666633"/>
                </a:solidFill>
              </a:rPr>
              <a:t>无同级或更高级中断正在被服务。</a:t>
            </a:r>
            <a:endParaRPr lang="zh-CN" altLang="en-US" b="1" dirty="0"/>
          </a:p>
          <a:p>
            <a:pPr indent="0" eaLnBrk="1" fontAlgn="auto" latinLnBrk="0" hangingPunct="1">
              <a:lnSpc>
                <a:spcPct val="150000"/>
              </a:lnSpc>
              <a:buNone/>
            </a:pPr>
            <a:r>
              <a:rPr lang="en-US" altLang="zh-CN" b="1" dirty="0">
                <a:solidFill>
                  <a:srgbClr val="D60093"/>
                </a:solidFill>
              </a:rPr>
              <a:t>⑤</a:t>
            </a:r>
            <a:r>
              <a:rPr lang="zh-CN" altLang="en-US" b="1" dirty="0">
                <a:solidFill>
                  <a:srgbClr val="D60093"/>
                </a:solidFill>
              </a:rPr>
              <a:t>当前的指令周期已经结束。</a:t>
            </a:r>
            <a:endParaRPr lang="zh-CN" altLang="en-US" b="1" dirty="0"/>
          </a:p>
          <a:p>
            <a:pPr indent="0" eaLnBrk="1" fontAlgn="auto" latinLnBrk="0" hangingPunct="1">
              <a:lnSpc>
                <a:spcPct val="150000"/>
              </a:lnSpc>
              <a:buNone/>
            </a:pPr>
            <a:r>
              <a:rPr lang="en-US" altLang="zh-CN" b="1" dirty="0">
                <a:solidFill>
                  <a:srgbClr val="000099"/>
                </a:solidFill>
              </a:rPr>
              <a:t>⑥</a:t>
            </a:r>
            <a:r>
              <a:rPr lang="zh-CN" altLang="en-US" b="1" dirty="0">
                <a:solidFill>
                  <a:srgbClr val="000099"/>
                </a:solidFill>
              </a:rPr>
              <a:t>若现行指令为</a:t>
            </a:r>
            <a:r>
              <a:rPr lang="en-US" altLang="zh-CN" b="1" dirty="0">
                <a:solidFill>
                  <a:srgbClr val="000099"/>
                </a:solidFill>
              </a:rPr>
              <a:t>RETI</a:t>
            </a:r>
            <a:r>
              <a:rPr lang="zh-CN" altLang="en-US" b="1" dirty="0">
                <a:solidFill>
                  <a:srgbClr val="000099"/>
                </a:solidFill>
              </a:rPr>
              <a:t>或是访问</a:t>
            </a:r>
            <a:r>
              <a:rPr lang="en-US" altLang="zh-CN" b="1" dirty="0">
                <a:solidFill>
                  <a:srgbClr val="000099"/>
                </a:solidFill>
              </a:rPr>
              <a:t>IE</a:t>
            </a:r>
            <a:r>
              <a:rPr lang="zh-CN" altLang="en-US" b="1" dirty="0">
                <a:solidFill>
                  <a:srgbClr val="000099"/>
                </a:solidFill>
              </a:rPr>
              <a:t>或</a:t>
            </a:r>
            <a:r>
              <a:rPr lang="en-US" altLang="zh-CN" b="1" dirty="0">
                <a:solidFill>
                  <a:srgbClr val="000099"/>
                </a:solidFill>
              </a:rPr>
              <a:t>IP</a:t>
            </a:r>
            <a:r>
              <a:rPr lang="zh-CN" altLang="en-US" b="1" dirty="0">
                <a:solidFill>
                  <a:srgbClr val="000099"/>
                </a:solidFill>
              </a:rPr>
              <a:t>指令时，该指令以及紧接着的另一条指令已执行完。</a:t>
            </a:r>
            <a:endParaRPr lang="zh-CN" altLang="en-US" sz="3200" b="1" dirty="0"/>
          </a:p>
        </p:txBody>
      </p:sp>
      <p:sp>
        <p:nvSpPr>
          <p:cNvPr id="19" name="文本框 18"/>
          <p:cNvSpPr txBox="1"/>
          <p:nvPr/>
        </p:nvSpPr>
        <p:spPr>
          <a:xfrm>
            <a:off x="574040" y="6036310"/>
            <a:ext cx="4912360" cy="368300"/>
          </a:xfrm>
          <a:prstGeom prst="rect">
            <a:avLst/>
          </a:prstGeom>
          <a:noFill/>
        </p:spPr>
        <p:txBody>
          <a:bodyPr wrap="square" rtlCol="0">
            <a:spAutoFit/>
          </a:bodyPr>
          <a:lstStyle/>
          <a:p>
            <a:r>
              <a:rPr lang="en-US" altLang="zh-CN" b="1" dirty="0">
                <a:solidFill>
                  <a:srgbClr val="666633"/>
                </a:solidFill>
                <a:sym typeface="+mn-ea"/>
              </a:rPr>
              <a:t>④</a:t>
            </a:r>
            <a:r>
              <a:rPr lang="en-US" altLang="zh-CN" b="1" dirty="0">
                <a:solidFill>
                  <a:srgbClr val="D60093"/>
                </a:solidFill>
                <a:sym typeface="+mn-ea"/>
              </a:rPr>
              <a:t>⑤</a:t>
            </a:r>
            <a:r>
              <a:rPr lang="en-US" altLang="zh-CN" b="1" dirty="0">
                <a:solidFill>
                  <a:srgbClr val="000099"/>
                </a:solidFill>
                <a:sym typeface="+mn-ea"/>
              </a:rPr>
              <a:t>⑥</a:t>
            </a:r>
            <a:r>
              <a:rPr lang="zh-CN" altLang="zh-CN" b="1" dirty="0">
                <a:solidFill>
                  <a:srgbClr val="000099"/>
                </a:solidFill>
                <a:sym typeface="+mn-ea"/>
              </a:rPr>
              <a:t>为终端被阻塞（封锁）的三种情况</a:t>
            </a:r>
          </a:p>
        </p:txBody>
      </p:sp>
      <p:sp>
        <p:nvSpPr>
          <p:cNvPr id="20" name="灯片编号占位符 19"/>
          <p:cNvSpPr>
            <a:spLocks noGrp="1"/>
          </p:cNvSpPr>
          <p:nvPr>
            <p:ph type="sldNum" sz="quarter" idx="7"/>
          </p:nvPr>
        </p:nvSpPr>
        <p:spPr/>
        <p:txBody>
          <a:bodyPr/>
          <a:lstStyle/>
          <a:p>
            <a:pPr marL="25400">
              <a:lnSpc>
                <a:spcPct val="100000"/>
              </a:lnSpc>
              <a:spcBef>
                <a:spcPts val="185"/>
              </a:spcBef>
            </a:pPr>
            <a:fld id="{81D60167-4931-47E6-BA6A-407CBD079E47}" type="slidenum">
              <a:rPr spc="-5" dirty="0"/>
              <a:t>20</a:t>
            </a:fld>
            <a:endParaRPr spc="-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488315" y="1712595"/>
            <a:ext cx="8229600" cy="3294380"/>
          </a:xfrm>
          <a:prstGeom prst="rect">
            <a:avLst/>
          </a:prstGeom>
        </p:spPr>
        <p:txBody>
          <a:bodyPr vert="horz" wrap="square" lIns="0" tIns="12065" rIns="0" bIns="0" rtlCol="0">
            <a:spAutoFit/>
          </a:bodyPr>
          <a:lstStyle/>
          <a:p>
            <a:pPr marL="514350">
              <a:lnSpc>
                <a:spcPct val="100000"/>
              </a:lnSpc>
              <a:spcBef>
                <a:spcPts val="95"/>
              </a:spcBef>
            </a:pPr>
            <a:r>
              <a:rPr spc="-5" dirty="0"/>
              <a:t>当某</a:t>
            </a:r>
            <a:r>
              <a:rPr spc="5" dirty="0"/>
              <a:t>中断请</a:t>
            </a:r>
            <a:r>
              <a:rPr spc="10" dirty="0"/>
              <a:t>求</a:t>
            </a:r>
            <a:r>
              <a:rPr spc="5" dirty="0"/>
              <a:t>被</a:t>
            </a:r>
            <a:r>
              <a:rPr spc="10" dirty="0"/>
              <a:t>响</a:t>
            </a:r>
            <a:r>
              <a:rPr spc="5" dirty="0"/>
              <a:t>应</a:t>
            </a:r>
            <a:r>
              <a:rPr spc="10" dirty="0"/>
              <a:t>后</a:t>
            </a:r>
            <a:r>
              <a:rPr spc="5" dirty="0"/>
              <a:t>，存</a:t>
            </a:r>
            <a:r>
              <a:rPr spc="10" dirty="0"/>
              <a:t>在</a:t>
            </a:r>
            <a:r>
              <a:rPr spc="5" dirty="0"/>
              <a:t>一</a:t>
            </a:r>
            <a:r>
              <a:rPr spc="10" dirty="0"/>
              <a:t>个</a:t>
            </a:r>
            <a:r>
              <a:rPr spc="5" dirty="0"/>
              <a:t>中断</a:t>
            </a:r>
            <a:r>
              <a:rPr spc="10" dirty="0"/>
              <a:t>请</a:t>
            </a:r>
            <a:r>
              <a:rPr spc="5" dirty="0"/>
              <a:t>求</a:t>
            </a:r>
            <a:r>
              <a:rPr spc="10" dirty="0"/>
              <a:t>如</a:t>
            </a:r>
            <a:r>
              <a:rPr spc="5" dirty="0"/>
              <a:t>何</a:t>
            </a:r>
            <a:r>
              <a:rPr spc="10" dirty="0"/>
              <a:t>撤</a:t>
            </a:r>
            <a:r>
              <a:rPr spc="5" dirty="0"/>
              <a:t>销问</a:t>
            </a:r>
            <a:r>
              <a:rPr spc="10" dirty="0"/>
              <a:t>题</a:t>
            </a:r>
            <a:r>
              <a:rPr spc="-5" dirty="0"/>
              <a:t>。</a:t>
            </a:r>
          </a:p>
          <a:p>
            <a:pPr marL="514350">
              <a:lnSpc>
                <a:spcPct val="100000"/>
              </a:lnSpc>
              <a:spcBef>
                <a:spcPts val="95"/>
              </a:spcBef>
            </a:pPr>
            <a:endParaRPr sz="1700" dirty="0">
              <a:latin typeface="Times New Roman" panose="02020603050405020304"/>
              <a:cs typeface="Times New Roman" panose="02020603050405020304"/>
            </a:endParaRPr>
          </a:p>
          <a:p>
            <a:pPr marL="452120" indent="-382270">
              <a:lnSpc>
                <a:spcPct val="100000"/>
              </a:lnSpc>
              <a:buSzPct val="95000"/>
              <a:buFont typeface="Times New Roman" panose="02020603050405020304"/>
              <a:buAutoNum type="arabicPeriod"/>
              <a:tabLst>
                <a:tab pos="452755" algn="l"/>
              </a:tabLst>
            </a:pPr>
            <a:r>
              <a:rPr dirty="0">
                <a:solidFill>
                  <a:srgbClr val="0000CC"/>
                </a:solidFill>
              </a:rPr>
              <a:t>定时器</a:t>
            </a:r>
            <a:r>
              <a:rPr spc="-5" dirty="0">
                <a:solidFill>
                  <a:srgbClr val="0000CC"/>
                </a:solidFill>
                <a:latin typeface="Times New Roman" panose="02020603050405020304"/>
                <a:cs typeface="Times New Roman" panose="02020603050405020304"/>
              </a:rPr>
              <a:t>/</a:t>
            </a:r>
            <a:r>
              <a:rPr spc="5" dirty="0">
                <a:solidFill>
                  <a:srgbClr val="0000CC"/>
                </a:solidFill>
              </a:rPr>
              <a:t>计</a:t>
            </a:r>
            <a:r>
              <a:rPr spc="10" dirty="0">
                <a:solidFill>
                  <a:srgbClr val="0000CC"/>
                </a:solidFill>
              </a:rPr>
              <a:t>数</a:t>
            </a:r>
            <a:r>
              <a:rPr spc="5" dirty="0">
                <a:solidFill>
                  <a:srgbClr val="0000CC"/>
                </a:solidFill>
              </a:rPr>
              <a:t>器</a:t>
            </a:r>
            <a:r>
              <a:rPr spc="10" dirty="0">
                <a:solidFill>
                  <a:srgbClr val="0000CC"/>
                </a:solidFill>
              </a:rPr>
              <a:t>中</a:t>
            </a:r>
            <a:r>
              <a:rPr spc="5" dirty="0">
                <a:solidFill>
                  <a:srgbClr val="0000CC"/>
                </a:solidFill>
              </a:rPr>
              <a:t>断</a:t>
            </a:r>
            <a:r>
              <a:rPr spc="10" dirty="0">
                <a:solidFill>
                  <a:srgbClr val="0000CC"/>
                </a:solidFill>
              </a:rPr>
              <a:t>请</a:t>
            </a:r>
            <a:r>
              <a:rPr spc="5" dirty="0">
                <a:solidFill>
                  <a:srgbClr val="0000CC"/>
                </a:solidFill>
              </a:rPr>
              <a:t>求的</a:t>
            </a:r>
            <a:r>
              <a:rPr spc="10" dirty="0">
                <a:solidFill>
                  <a:srgbClr val="0000CC"/>
                </a:solidFill>
              </a:rPr>
              <a:t>撤</a:t>
            </a:r>
            <a:r>
              <a:rPr spc="-5" dirty="0">
                <a:solidFill>
                  <a:srgbClr val="0000CC"/>
                </a:solidFill>
              </a:rPr>
              <a:t>销</a:t>
            </a:r>
          </a:p>
          <a:p>
            <a:pPr marL="514350">
              <a:lnSpc>
                <a:spcPct val="100000"/>
              </a:lnSpc>
              <a:spcBef>
                <a:spcPts val="1200"/>
              </a:spcBef>
            </a:pPr>
            <a:r>
              <a:rPr spc="-5" dirty="0"/>
              <a:t>硬件</a:t>
            </a:r>
            <a:r>
              <a:rPr spc="5" dirty="0"/>
              <a:t>会自动</a:t>
            </a:r>
            <a:r>
              <a:rPr spc="10" dirty="0"/>
              <a:t>把</a:t>
            </a:r>
            <a:r>
              <a:rPr spc="5" dirty="0"/>
              <a:t>中</a:t>
            </a:r>
            <a:r>
              <a:rPr spc="10" dirty="0"/>
              <a:t>断</a:t>
            </a:r>
            <a:r>
              <a:rPr spc="5" dirty="0"/>
              <a:t>请</a:t>
            </a:r>
            <a:r>
              <a:rPr spc="10" dirty="0"/>
              <a:t>求</a:t>
            </a:r>
            <a:r>
              <a:rPr spc="5" dirty="0"/>
              <a:t>标志</a:t>
            </a:r>
            <a:r>
              <a:rPr spc="10" dirty="0"/>
              <a:t>位（</a:t>
            </a:r>
            <a:r>
              <a:rPr spc="10" dirty="0">
                <a:latin typeface="Times New Roman" panose="02020603050405020304"/>
                <a:cs typeface="Times New Roman" panose="02020603050405020304"/>
              </a:rPr>
              <a:t>TF0</a:t>
            </a:r>
            <a:r>
              <a:rPr spc="5" dirty="0"/>
              <a:t>或</a:t>
            </a:r>
            <a:r>
              <a:rPr dirty="0">
                <a:latin typeface="Times New Roman" panose="02020603050405020304"/>
                <a:cs typeface="Times New Roman" panose="02020603050405020304"/>
              </a:rPr>
              <a:t>TF1</a:t>
            </a:r>
            <a:r>
              <a:rPr dirty="0"/>
              <a:t>）</a:t>
            </a:r>
            <a:r>
              <a:rPr spc="5" dirty="0"/>
              <a:t>清“</a:t>
            </a:r>
            <a:r>
              <a:rPr spc="5" dirty="0">
                <a:latin typeface="Times New Roman" panose="02020603050405020304"/>
                <a:cs typeface="Times New Roman" panose="02020603050405020304"/>
              </a:rPr>
              <a:t>0</a:t>
            </a:r>
            <a:r>
              <a:rPr spc="5" dirty="0"/>
              <a:t>”，</a:t>
            </a:r>
            <a:r>
              <a:rPr spc="5" dirty="0">
                <a:solidFill>
                  <a:srgbClr val="3333CC"/>
                </a:solidFill>
              </a:rPr>
              <a:t>自</a:t>
            </a:r>
            <a:r>
              <a:rPr spc="10" dirty="0">
                <a:solidFill>
                  <a:srgbClr val="3333CC"/>
                </a:solidFill>
              </a:rPr>
              <a:t>动</a:t>
            </a:r>
            <a:r>
              <a:rPr spc="5" dirty="0">
                <a:solidFill>
                  <a:srgbClr val="3333CC"/>
                </a:solidFill>
              </a:rPr>
              <a:t>撤</a:t>
            </a:r>
            <a:r>
              <a:rPr spc="15" dirty="0">
                <a:solidFill>
                  <a:srgbClr val="3333CC"/>
                </a:solidFill>
              </a:rPr>
              <a:t>销</a:t>
            </a:r>
            <a:r>
              <a:rPr spc="-5" dirty="0"/>
              <a:t>。</a:t>
            </a:r>
          </a:p>
          <a:p>
            <a:pPr marL="514350">
              <a:lnSpc>
                <a:spcPct val="100000"/>
              </a:lnSpc>
              <a:spcBef>
                <a:spcPts val="1200"/>
              </a:spcBef>
            </a:pPr>
            <a:endParaRPr sz="1950" dirty="0">
              <a:latin typeface="Times New Roman" panose="02020603050405020304"/>
              <a:cs typeface="Times New Roman" panose="02020603050405020304"/>
            </a:endParaRPr>
          </a:p>
          <a:p>
            <a:pPr marL="452120" indent="-381635">
              <a:lnSpc>
                <a:spcPct val="100000"/>
              </a:lnSpc>
              <a:buSzPct val="95000"/>
              <a:buFont typeface="Times New Roman" panose="02020603050405020304"/>
              <a:buAutoNum type="arabicPeriod" startAt="2"/>
              <a:tabLst>
                <a:tab pos="452120" algn="l"/>
              </a:tabLst>
            </a:pPr>
            <a:r>
              <a:rPr spc="-5" dirty="0">
                <a:solidFill>
                  <a:srgbClr val="0000CC"/>
                </a:solidFill>
              </a:rPr>
              <a:t>串口</a:t>
            </a:r>
            <a:r>
              <a:rPr spc="5" dirty="0">
                <a:solidFill>
                  <a:srgbClr val="0000CC"/>
                </a:solidFill>
              </a:rPr>
              <a:t>中</a:t>
            </a:r>
            <a:r>
              <a:rPr spc="10" dirty="0">
                <a:solidFill>
                  <a:srgbClr val="0000CC"/>
                </a:solidFill>
              </a:rPr>
              <a:t>断</a:t>
            </a:r>
            <a:r>
              <a:rPr spc="5" dirty="0">
                <a:solidFill>
                  <a:srgbClr val="0000CC"/>
                </a:solidFill>
              </a:rPr>
              <a:t>请</a:t>
            </a:r>
            <a:r>
              <a:rPr spc="10" dirty="0">
                <a:solidFill>
                  <a:srgbClr val="0000CC"/>
                </a:solidFill>
              </a:rPr>
              <a:t>求</a:t>
            </a:r>
            <a:r>
              <a:rPr spc="5" dirty="0">
                <a:solidFill>
                  <a:srgbClr val="0000CC"/>
                </a:solidFill>
              </a:rPr>
              <a:t>的撤</a:t>
            </a:r>
            <a:r>
              <a:rPr spc="-5" dirty="0">
                <a:solidFill>
                  <a:srgbClr val="0000CC"/>
                </a:solidFill>
              </a:rPr>
              <a:t>销</a:t>
            </a:r>
          </a:p>
          <a:p>
            <a:pPr marL="70485" marR="5080" indent="443865">
              <a:lnSpc>
                <a:spcPct val="150000"/>
              </a:lnSpc>
              <a:spcBef>
                <a:spcPts val="360"/>
              </a:spcBef>
            </a:pPr>
            <a:r>
              <a:rPr spc="-5" dirty="0"/>
              <a:t>响应</a:t>
            </a:r>
            <a:r>
              <a:rPr spc="5" dirty="0"/>
              <a:t>串口中</a:t>
            </a:r>
            <a:r>
              <a:rPr spc="10" dirty="0"/>
              <a:t>断</a:t>
            </a:r>
            <a:r>
              <a:rPr spc="5" dirty="0"/>
              <a:t>后，</a:t>
            </a:r>
            <a:r>
              <a:rPr spc="5" dirty="0">
                <a:latin typeface="Times New Roman" panose="02020603050405020304"/>
                <a:cs typeface="Times New Roman" panose="02020603050405020304"/>
              </a:rPr>
              <a:t>CPU</a:t>
            </a:r>
            <a:r>
              <a:rPr spc="10" dirty="0"/>
              <a:t>无</a:t>
            </a:r>
            <a:r>
              <a:rPr spc="5" dirty="0"/>
              <a:t>法知</a:t>
            </a:r>
            <a:r>
              <a:rPr spc="10" dirty="0"/>
              <a:t>道</a:t>
            </a:r>
            <a:r>
              <a:rPr spc="5" dirty="0"/>
              <a:t>是</a:t>
            </a:r>
            <a:r>
              <a:rPr spc="10" dirty="0"/>
              <a:t>接</a:t>
            </a:r>
            <a:r>
              <a:rPr spc="5" dirty="0"/>
              <a:t>收</a:t>
            </a:r>
            <a:r>
              <a:rPr spc="10" dirty="0"/>
              <a:t>中</a:t>
            </a:r>
            <a:r>
              <a:rPr spc="5" dirty="0"/>
              <a:t>断还</a:t>
            </a:r>
            <a:r>
              <a:rPr spc="10" dirty="0"/>
              <a:t>是</a:t>
            </a:r>
            <a:r>
              <a:rPr spc="5" dirty="0"/>
              <a:t>发</a:t>
            </a:r>
            <a:r>
              <a:rPr spc="10" dirty="0"/>
              <a:t>送</a:t>
            </a:r>
            <a:r>
              <a:rPr spc="5" dirty="0"/>
              <a:t>中断</a:t>
            </a:r>
            <a:r>
              <a:rPr spc="10" dirty="0"/>
              <a:t>，</a:t>
            </a:r>
            <a:r>
              <a:rPr spc="5" dirty="0"/>
              <a:t>还</a:t>
            </a:r>
            <a:r>
              <a:rPr spc="10" dirty="0"/>
              <a:t>需</a:t>
            </a:r>
            <a:r>
              <a:rPr spc="5" dirty="0"/>
              <a:t>测</a:t>
            </a:r>
            <a:r>
              <a:rPr spc="10" dirty="0"/>
              <a:t>试</a:t>
            </a:r>
            <a:r>
              <a:rPr spc="-5" dirty="0"/>
              <a:t>这 </a:t>
            </a:r>
            <a:r>
              <a:rPr spc="-5" dirty="0">
                <a:latin typeface="Times New Roman" panose="02020603050405020304"/>
                <a:cs typeface="Times New Roman" panose="02020603050405020304"/>
              </a:rPr>
              <a:t>2</a:t>
            </a:r>
            <a:r>
              <a:rPr spc="-5" dirty="0"/>
              <a:t>个中断</a:t>
            </a:r>
            <a:r>
              <a:rPr spc="5" dirty="0"/>
              <a:t>标</a:t>
            </a:r>
            <a:r>
              <a:rPr spc="10" dirty="0"/>
              <a:t>志</a:t>
            </a:r>
            <a:r>
              <a:rPr spc="5" dirty="0"/>
              <a:t>位</a:t>
            </a:r>
            <a:r>
              <a:rPr spc="10" dirty="0"/>
              <a:t>，</a:t>
            </a:r>
            <a:r>
              <a:rPr spc="20" dirty="0"/>
              <a:t>以</a:t>
            </a:r>
            <a:r>
              <a:rPr spc="5" dirty="0">
                <a:solidFill>
                  <a:srgbClr val="3333CC"/>
                </a:solidFill>
              </a:rPr>
              <a:t>判</a:t>
            </a:r>
            <a:r>
              <a:rPr spc="10" dirty="0">
                <a:solidFill>
                  <a:srgbClr val="3333CC"/>
                </a:solidFill>
              </a:rPr>
              <a:t>定</a:t>
            </a:r>
            <a:r>
              <a:rPr spc="5" dirty="0">
                <a:solidFill>
                  <a:srgbClr val="3333CC"/>
                </a:solidFill>
              </a:rPr>
              <a:t>是</a:t>
            </a:r>
            <a:r>
              <a:rPr spc="10" dirty="0">
                <a:solidFill>
                  <a:srgbClr val="3333CC"/>
                </a:solidFill>
              </a:rPr>
              <a:t>接</a:t>
            </a:r>
            <a:r>
              <a:rPr spc="5" dirty="0">
                <a:solidFill>
                  <a:srgbClr val="3333CC"/>
                </a:solidFill>
              </a:rPr>
              <a:t>收</a:t>
            </a:r>
            <a:r>
              <a:rPr spc="10" dirty="0">
                <a:solidFill>
                  <a:srgbClr val="3333CC"/>
                </a:solidFill>
              </a:rPr>
              <a:t>操</a:t>
            </a:r>
            <a:r>
              <a:rPr spc="5" dirty="0">
                <a:solidFill>
                  <a:srgbClr val="3333CC"/>
                </a:solidFill>
              </a:rPr>
              <a:t>作还</a:t>
            </a:r>
            <a:r>
              <a:rPr spc="10" dirty="0">
                <a:solidFill>
                  <a:srgbClr val="3333CC"/>
                </a:solidFill>
              </a:rPr>
              <a:t>是</a:t>
            </a:r>
            <a:r>
              <a:rPr spc="5" dirty="0">
                <a:solidFill>
                  <a:srgbClr val="3333CC"/>
                </a:solidFill>
              </a:rPr>
              <a:t>发</a:t>
            </a:r>
            <a:r>
              <a:rPr spc="10" dirty="0">
                <a:solidFill>
                  <a:srgbClr val="3333CC"/>
                </a:solidFill>
              </a:rPr>
              <a:t>送</a:t>
            </a:r>
            <a:r>
              <a:rPr spc="5" dirty="0">
                <a:solidFill>
                  <a:srgbClr val="3333CC"/>
                </a:solidFill>
              </a:rPr>
              <a:t>操</a:t>
            </a:r>
            <a:r>
              <a:rPr spc="30" dirty="0">
                <a:solidFill>
                  <a:srgbClr val="3333CC"/>
                </a:solidFill>
              </a:rPr>
              <a:t>作</a:t>
            </a:r>
            <a:r>
              <a:rPr spc="10" dirty="0"/>
              <a:t>，</a:t>
            </a:r>
            <a:r>
              <a:rPr spc="5" dirty="0"/>
              <a:t>然</a:t>
            </a:r>
            <a:r>
              <a:rPr spc="10" dirty="0"/>
              <a:t>后</a:t>
            </a:r>
            <a:r>
              <a:rPr spc="5" dirty="0"/>
              <a:t>才</a:t>
            </a:r>
            <a:r>
              <a:rPr spc="10" dirty="0"/>
              <a:t>清</a:t>
            </a:r>
            <a:r>
              <a:rPr spc="5" dirty="0"/>
              <a:t>除。</a:t>
            </a:r>
            <a:r>
              <a:rPr spc="10" dirty="0"/>
              <a:t>所</a:t>
            </a:r>
            <a:r>
              <a:rPr spc="5" dirty="0"/>
              <a:t>以</a:t>
            </a:r>
            <a:r>
              <a:rPr spc="10" dirty="0"/>
              <a:t>串</a:t>
            </a:r>
            <a:r>
              <a:rPr spc="-5" dirty="0"/>
              <a:t>口 </a:t>
            </a:r>
            <a:r>
              <a:rPr dirty="0"/>
              <a:t>中</a:t>
            </a:r>
            <a:r>
              <a:rPr spc="5" dirty="0"/>
              <a:t>断请求撤</a:t>
            </a:r>
            <a:r>
              <a:rPr spc="25" dirty="0"/>
              <a:t>销</a:t>
            </a:r>
            <a:r>
              <a:rPr spc="5" dirty="0">
                <a:solidFill>
                  <a:srgbClr val="3333CC"/>
                </a:solidFill>
              </a:rPr>
              <a:t>只能</a:t>
            </a:r>
            <a:r>
              <a:rPr spc="10" dirty="0">
                <a:solidFill>
                  <a:srgbClr val="3333CC"/>
                </a:solidFill>
              </a:rPr>
              <a:t>使</a:t>
            </a:r>
            <a:r>
              <a:rPr spc="15" dirty="0">
                <a:solidFill>
                  <a:srgbClr val="3333CC"/>
                </a:solidFill>
              </a:rPr>
              <a:t>用</a:t>
            </a:r>
            <a:r>
              <a:rPr spc="15" dirty="0">
                <a:solidFill>
                  <a:srgbClr val="FF3300"/>
                </a:solidFill>
              </a:rPr>
              <a:t>软</a:t>
            </a:r>
            <a:r>
              <a:rPr spc="10" dirty="0">
                <a:solidFill>
                  <a:srgbClr val="FF3300"/>
                </a:solidFill>
              </a:rPr>
              <a:t>件</a:t>
            </a:r>
            <a:r>
              <a:rPr spc="5" dirty="0">
                <a:solidFill>
                  <a:srgbClr val="3333CC"/>
                </a:solidFill>
              </a:rPr>
              <a:t>的</a:t>
            </a:r>
            <a:r>
              <a:rPr spc="10" dirty="0">
                <a:solidFill>
                  <a:srgbClr val="3333CC"/>
                </a:solidFill>
              </a:rPr>
              <a:t>方法</a:t>
            </a:r>
            <a:r>
              <a:rPr spc="10" dirty="0"/>
              <a:t>，</a:t>
            </a:r>
            <a:r>
              <a:rPr spc="5" dirty="0"/>
              <a:t>在</a:t>
            </a:r>
            <a:r>
              <a:rPr spc="10" dirty="0"/>
              <a:t>中</a:t>
            </a:r>
            <a:r>
              <a:rPr spc="5" dirty="0"/>
              <a:t>断服</a:t>
            </a:r>
            <a:r>
              <a:rPr spc="10" dirty="0"/>
              <a:t>务</a:t>
            </a:r>
            <a:r>
              <a:rPr spc="5" dirty="0"/>
              <a:t>程</a:t>
            </a:r>
            <a:r>
              <a:rPr spc="10" dirty="0"/>
              <a:t>序</a:t>
            </a:r>
            <a:r>
              <a:rPr spc="5" dirty="0"/>
              <a:t>中进</a:t>
            </a:r>
            <a:r>
              <a:rPr spc="10" dirty="0"/>
              <a:t>行</a:t>
            </a:r>
            <a:r>
              <a:rPr spc="5" dirty="0"/>
              <a:t>。</a:t>
            </a:r>
            <a:r>
              <a:rPr spc="10" dirty="0"/>
              <a:t>即</a:t>
            </a:r>
            <a:r>
              <a:rPr spc="5" dirty="0"/>
              <a:t>用</a:t>
            </a:r>
            <a:r>
              <a:rPr spc="10" dirty="0"/>
              <a:t>如</a:t>
            </a:r>
            <a:r>
              <a:rPr spc="5" dirty="0"/>
              <a:t>下</a:t>
            </a:r>
            <a:r>
              <a:rPr dirty="0"/>
              <a:t>指 </a:t>
            </a:r>
            <a:r>
              <a:rPr spc="-5" dirty="0"/>
              <a:t>令进</a:t>
            </a:r>
            <a:r>
              <a:rPr spc="5" dirty="0"/>
              <a:t>行清除</a:t>
            </a:r>
            <a:r>
              <a:rPr spc="-5" dirty="0"/>
              <a:t>：</a:t>
            </a:r>
          </a:p>
        </p:txBody>
      </p:sp>
      <p:graphicFrame>
        <p:nvGraphicFramePr>
          <p:cNvPr id="3" name="object 3"/>
          <p:cNvGraphicFramePr>
            <a:graphicFrameLocks noGrp="1"/>
          </p:cNvGraphicFramePr>
          <p:nvPr>
            <p:custDataLst>
              <p:tags r:id="rId1"/>
            </p:custDataLst>
          </p:nvPr>
        </p:nvGraphicFramePr>
        <p:xfrm>
          <a:off x="2334514" y="5306694"/>
          <a:ext cx="3522345" cy="719795"/>
        </p:xfrm>
        <a:graphic>
          <a:graphicData uri="http://schemas.openxmlformats.org/drawingml/2006/table">
            <a:tbl>
              <a:tblPr firstRow="1" bandRow="1">
                <a:tableStyleId>{2D5ABB26-0587-4C30-8999-92F81FD0307C}</a:tableStyleId>
              </a:tblPr>
              <a:tblGrid>
                <a:gridCol w="600075">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007870">
                  <a:extLst>
                    <a:ext uri="{9D8B030D-6E8A-4147-A177-3AD203B41FA5}">
                      <a16:colId xmlns:a16="http://schemas.microsoft.com/office/drawing/2014/main" val="20002"/>
                    </a:ext>
                  </a:extLst>
                </a:gridCol>
              </a:tblGrid>
              <a:tr h="360045">
                <a:tc>
                  <a:txBody>
                    <a:bodyPr/>
                    <a:lstStyle/>
                    <a:p>
                      <a:pPr marL="31750">
                        <a:lnSpc>
                          <a:spcPts val="1965"/>
                        </a:lnSpc>
                      </a:pPr>
                      <a:r>
                        <a:rPr sz="1800" b="1" spc="-5" dirty="0">
                          <a:solidFill>
                            <a:srgbClr val="3333CC"/>
                          </a:solidFill>
                          <a:latin typeface="Times New Roman" panose="02020603050405020304"/>
                          <a:cs typeface="Times New Roman" panose="02020603050405020304"/>
                        </a:rPr>
                        <a:t>CLR</a:t>
                      </a:r>
                      <a:endParaRPr sz="1800">
                        <a:latin typeface="Times New Roman" panose="02020603050405020304"/>
                        <a:cs typeface="Times New Roman" panose="02020603050405020304"/>
                      </a:endParaRPr>
                    </a:p>
                  </a:txBody>
                  <a:tcPr marL="0" marR="0" marT="0" marB="0"/>
                </a:tc>
                <a:tc>
                  <a:txBody>
                    <a:bodyPr/>
                    <a:lstStyle/>
                    <a:p>
                      <a:pPr marL="85725">
                        <a:lnSpc>
                          <a:spcPts val="1965"/>
                        </a:lnSpc>
                      </a:pPr>
                      <a:r>
                        <a:rPr sz="1800" b="1" spc="-5" dirty="0">
                          <a:solidFill>
                            <a:srgbClr val="3333CC"/>
                          </a:solidFill>
                          <a:latin typeface="Times New Roman" panose="02020603050405020304"/>
                          <a:cs typeface="Times New Roman" panose="02020603050405020304"/>
                        </a:rPr>
                        <a:t>TI</a:t>
                      </a:r>
                      <a:endParaRPr sz="1800">
                        <a:latin typeface="Times New Roman" panose="02020603050405020304"/>
                        <a:cs typeface="Times New Roman" panose="02020603050405020304"/>
                      </a:endParaRPr>
                    </a:p>
                  </a:txBody>
                  <a:tcPr marL="0" marR="0" marT="0" marB="0"/>
                </a:tc>
                <a:tc>
                  <a:txBody>
                    <a:bodyPr/>
                    <a:lstStyle/>
                    <a:p>
                      <a:pPr marR="36830" algn="r">
                        <a:lnSpc>
                          <a:spcPts val="1965"/>
                        </a:lnSpc>
                      </a:pPr>
                      <a:r>
                        <a:rPr sz="1800" b="1" spc="5" dirty="0">
                          <a:solidFill>
                            <a:srgbClr val="3333CC"/>
                          </a:solidFill>
                          <a:latin typeface="Microsoft JhengHei" panose="020B0604030504040204" charset="-120"/>
                          <a:cs typeface="Microsoft JhengHei" panose="020B0604030504040204" charset="-120"/>
                        </a:rPr>
                        <a:t>；清</a:t>
                      </a:r>
                      <a:r>
                        <a:rPr sz="1800" b="1" spc="-5" dirty="0">
                          <a:solidFill>
                            <a:srgbClr val="3333CC"/>
                          </a:solidFill>
                          <a:latin typeface="Times New Roman" panose="02020603050405020304"/>
                          <a:cs typeface="Times New Roman" panose="02020603050405020304"/>
                        </a:rPr>
                        <a:t>T</a:t>
                      </a:r>
                      <a:r>
                        <a:rPr sz="1800" b="1" dirty="0">
                          <a:solidFill>
                            <a:srgbClr val="3333CC"/>
                          </a:solidFill>
                          <a:latin typeface="Times New Roman" panose="02020603050405020304"/>
                          <a:cs typeface="Times New Roman" panose="02020603050405020304"/>
                        </a:rPr>
                        <a:t>I</a:t>
                      </a:r>
                      <a:r>
                        <a:rPr sz="1800" b="1" spc="5" dirty="0">
                          <a:solidFill>
                            <a:srgbClr val="3333CC"/>
                          </a:solidFill>
                          <a:latin typeface="Microsoft JhengHei" panose="020B0604030504040204" charset="-120"/>
                          <a:cs typeface="Microsoft JhengHei" panose="020B0604030504040204" charset="-120"/>
                        </a:rPr>
                        <a:t>标志位</a:t>
                      </a:r>
                      <a:endParaRPr sz="1800">
                        <a:latin typeface="Microsoft JhengHei" panose="020B0604030504040204" charset="-120"/>
                        <a:cs typeface="Microsoft JhengHei" panose="020B0604030504040204" charset="-120"/>
                      </a:endParaRPr>
                    </a:p>
                  </a:txBody>
                  <a:tcPr marL="0" marR="0" marT="0" marB="0"/>
                </a:tc>
                <a:extLst>
                  <a:ext uri="{0D108BD9-81ED-4DB2-BD59-A6C34878D82A}">
                    <a16:rowId xmlns:a16="http://schemas.microsoft.com/office/drawing/2014/main" val="10000"/>
                  </a:ext>
                </a:extLst>
              </a:tr>
              <a:tr h="359750">
                <a:tc>
                  <a:txBody>
                    <a:bodyPr/>
                    <a:lstStyle/>
                    <a:p>
                      <a:pPr marL="31750">
                        <a:lnSpc>
                          <a:spcPts val="2090"/>
                        </a:lnSpc>
                        <a:spcBef>
                          <a:spcPts val="640"/>
                        </a:spcBef>
                      </a:pPr>
                      <a:r>
                        <a:rPr sz="1800" b="1" spc="-5" dirty="0">
                          <a:solidFill>
                            <a:srgbClr val="3333CC"/>
                          </a:solidFill>
                          <a:latin typeface="Times New Roman" panose="02020603050405020304"/>
                          <a:cs typeface="Times New Roman" panose="02020603050405020304"/>
                        </a:rPr>
                        <a:t>CLR</a:t>
                      </a:r>
                      <a:endParaRPr sz="1800">
                        <a:latin typeface="Times New Roman" panose="02020603050405020304"/>
                        <a:cs typeface="Times New Roman" panose="02020603050405020304"/>
                      </a:endParaRPr>
                    </a:p>
                  </a:txBody>
                  <a:tcPr marL="0" marR="0" marT="81280" marB="0"/>
                </a:tc>
                <a:tc>
                  <a:txBody>
                    <a:bodyPr/>
                    <a:lstStyle/>
                    <a:p>
                      <a:pPr marL="85725">
                        <a:lnSpc>
                          <a:spcPts val="2090"/>
                        </a:lnSpc>
                        <a:spcBef>
                          <a:spcPts val="640"/>
                        </a:spcBef>
                      </a:pPr>
                      <a:r>
                        <a:rPr sz="1800" b="1" spc="-5" dirty="0">
                          <a:solidFill>
                            <a:srgbClr val="3333CC"/>
                          </a:solidFill>
                          <a:latin typeface="Times New Roman" panose="02020603050405020304"/>
                          <a:cs typeface="Times New Roman" panose="02020603050405020304"/>
                        </a:rPr>
                        <a:t>RI</a:t>
                      </a:r>
                      <a:endParaRPr sz="1800">
                        <a:latin typeface="Times New Roman" panose="02020603050405020304"/>
                        <a:cs typeface="Times New Roman" panose="02020603050405020304"/>
                      </a:endParaRPr>
                    </a:p>
                  </a:txBody>
                  <a:tcPr marL="0" marR="0" marT="81280" marB="0"/>
                </a:tc>
                <a:tc>
                  <a:txBody>
                    <a:bodyPr/>
                    <a:lstStyle/>
                    <a:p>
                      <a:pPr marR="24130" algn="r">
                        <a:lnSpc>
                          <a:spcPts val="2090"/>
                        </a:lnSpc>
                        <a:spcBef>
                          <a:spcPts val="640"/>
                        </a:spcBef>
                      </a:pPr>
                      <a:r>
                        <a:rPr sz="1800" b="1" spc="5" dirty="0">
                          <a:solidFill>
                            <a:srgbClr val="3333CC"/>
                          </a:solidFill>
                          <a:latin typeface="Microsoft JhengHei" panose="020B0604030504040204" charset="-120"/>
                          <a:cs typeface="Microsoft JhengHei" panose="020B0604030504040204" charset="-120"/>
                        </a:rPr>
                        <a:t>；清</a:t>
                      </a:r>
                      <a:r>
                        <a:rPr sz="1800" b="1" dirty="0">
                          <a:solidFill>
                            <a:srgbClr val="3333CC"/>
                          </a:solidFill>
                          <a:latin typeface="Times New Roman" panose="02020603050405020304"/>
                          <a:cs typeface="Times New Roman" panose="02020603050405020304"/>
                        </a:rPr>
                        <a:t>RI</a:t>
                      </a:r>
                      <a:r>
                        <a:rPr sz="1800" b="1" spc="5" dirty="0">
                          <a:solidFill>
                            <a:srgbClr val="3333CC"/>
                          </a:solidFill>
                          <a:latin typeface="Microsoft JhengHei" panose="020B0604030504040204" charset="-120"/>
                          <a:cs typeface="Microsoft JhengHei" panose="020B0604030504040204" charset="-120"/>
                        </a:rPr>
                        <a:t>标志位</a:t>
                      </a:r>
                      <a:endParaRPr sz="1800">
                        <a:latin typeface="Microsoft JhengHei" panose="020B0604030504040204" charset="-120"/>
                        <a:cs typeface="Microsoft JhengHei" panose="020B0604030504040204" charset="-120"/>
                      </a:endParaRPr>
                    </a:p>
                  </a:txBody>
                  <a:tcPr marL="0" marR="0" marT="81280" marB="0"/>
                </a:tc>
                <a:extLst>
                  <a:ext uri="{0D108BD9-81ED-4DB2-BD59-A6C34878D82A}">
                    <a16:rowId xmlns:a16="http://schemas.microsoft.com/office/drawing/2014/main" val="10001"/>
                  </a:ext>
                </a:extLst>
              </a:tr>
            </a:tbl>
          </a:graphicData>
        </a:graphic>
      </p:graphicFrame>
      <p:sp>
        <p:nvSpPr>
          <p:cNvPr id="4" name="object 4"/>
          <p:cNvSpPr txBox="1">
            <a:spLocks noGrp="1"/>
          </p:cNvSpPr>
          <p:nvPr>
            <p:ph type="title"/>
          </p:nvPr>
        </p:nvSpPr>
        <p:spPr>
          <a:xfrm>
            <a:off x="981074" y="1075182"/>
            <a:ext cx="2518410" cy="452755"/>
          </a:xfrm>
          <a:prstGeom prst="rect">
            <a:avLst/>
          </a:prstGeom>
        </p:spPr>
        <p:txBody>
          <a:bodyPr vert="horz" wrap="square" lIns="0" tIns="12700" rIns="0" bIns="0" rtlCol="0">
            <a:spAutoFit/>
          </a:bodyPr>
          <a:lstStyle/>
          <a:p>
            <a:pPr marL="12700">
              <a:lnSpc>
                <a:spcPct val="100000"/>
              </a:lnSpc>
              <a:spcBef>
                <a:spcPts val="100"/>
              </a:spcBef>
            </a:pPr>
            <a:r>
              <a:rPr dirty="0"/>
              <a:t>中</a:t>
            </a:r>
            <a:r>
              <a:rPr spc="10" dirty="0"/>
              <a:t>断</a:t>
            </a:r>
            <a:r>
              <a:rPr dirty="0"/>
              <a:t>请求的撤销</a:t>
            </a:r>
          </a:p>
        </p:txBody>
      </p:sp>
      <p:sp>
        <p:nvSpPr>
          <p:cNvPr id="6" name="object 2"/>
          <p:cNvSpPr txBox="1">
            <a:spLocks noGrp="1"/>
          </p:cNvSpPr>
          <p:nvPr/>
        </p:nvSpPr>
        <p:spPr>
          <a:xfrm>
            <a:off x="1650365" y="425450"/>
            <a:ext cx="4768215" cy="381635"/>
          </a:xfrm>
          <a:prstGeom prst="rect">
            <a:avLst/>
          </a:prstGeom>
        </p:spPr>
        <p:txBody>
          <a:bodyPr vert="horz" wrap="square" lIns="0" tIns="12700" rIns="0" bIns="0" rtlCol="0">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12700">
              <a:lnSpc>
                <a:spcPct val="100000"/>
              </a:lnSpc>
              <a:spcBef>
                <a:spcPts val="100"/>
              </a:spcBef>
            </a:pPr>
            <a:r>
              <a:rPr lang="en-US" sz="2400" spc="10" dirty="0">
                <a:ea typeface="微软雅黑" panose="020B0503020204020204" charset="-122"/>
              </a:rPr>
              <a:t>§</a:t>
            </a:r>
            <a:r>
              <a:rPr lang="en-US" sz="2400" spc="10" dirty="0"/>
              <a:t>5.4  </a:t>
            </a:r>
            <a:r>
              <a:rPr sz="2400" spc="10" dirty="0"/>
              <a:t>中断响应</a:t>
            </a:r>
            <a:r>
              <a:rPr lang="zh-CN" sz="2400" spc="10" dirty="0"/>
              <a:t>及中断处理过程</a:t>
            </a:r>
            <a:endParaRPr sz="2400"/>
          </a:p>
        </p:txBody>
      </p:sp>
      <p:sp>
        <p:nvSpPr>
          <p:cNvPr id="7" name="灯片编号占位符 6"/>
          <p:cNvSpPr>
            <a:spLocks noGrp="1"/>
          </p:cNvSpPr>
          <p:nvPr>
            <p:ph type="sldNum" sz="quarter" idx="7"/>
          </p:nvPr>
        </p:nvSpPr>
        <p:spPr/>
        <p:txBody>
          <a:bodyPr/>
          <a:lstStyle/>
          <a:p>
            <a:pPr marL="25400">
              <a:lnSpc>
                <a:spcPct val="100000"/>
              </a:lnSpc>
              <a:spcBef>
                <a:spcPts val="185"/>
              </a:spcBef>
            </a:pPr>
            <a:fld id="{81D60167-4931-47E6-BA6A-407CBD079E47}" type="slidenum">
              <a:rPr spc="-5" dirty="0"/>
              <a:t>21</a:t>
            </a:fld>
            <a:endParaRPr spc="-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7116" y="1400632"/>
            <a:ext cx="7814309" cy="3706495"/>
          </a:xfrm>
          <a:prstGeom prst="rect">
            <a:avLst/>
          </a:prstGeom>
        </p:spPr>
        <p:txBody>
          <a:bodyPr vert="horz" wrap="square" lIns="0" tIns="165100" rIns="0" bIns="0" rtlCol="0">
            <a:spAutoFit/>
          </a:bodyPr>
          <a:lstStyle/>
          <a:p>
            <a:pPr marL="394335" indent="-381635">
              <a:lnSpc>
                <a:spcPct val="100000"/>
              </a:lnSpc>
              <a:spcBef>
                <a:spcPts val="1300"/>
              </a:spcBef>
              <a:buSzPct val="95000"/>
              <a:buFont typeface="Times New Roman" panose="02020603050405020304"/>
              <a:buAutoNum type="arabicPeriod" startAt="3"/>
              <a:tabLst>
                <a:tab pos="394335" algn="l"/>
              </a:tabLst>
            </a:pPr>
            <a:r>
              <a:rPr b="1" spc="-5" dirty="0">
                <a:solidFill>
                  <a:srgbClr val="FF3300"/>
                </a:solidFill>
                <a:latin typeface="Microsoft JhengHei" panose="020B0604030504040204" charset="-120"/>
                <a:cs typeface="Microsoft JhengHei" panose="020B0604030504040204" charset="-120"/>
              </a:rPr>
              <a:t>外部</a:t>
            </a:r>
            <a:r>
              <a:rPr b="1" spc="5" dirty="0">
                <a:solidFill>
                  <a:srgbClr val="FF3300"/>
                </a:solidFill>
                <a:latin typeface="Microsoft JhengHei" panose="020B0604030504040204" charset="-120"/>
                <a:cs typeface="Microsoft JhengHei" panose="020B0604030504040204" charset="-120"/>
              </a:rPr>
              <a:t>中</a:t>
            </a:r>
            <a:r>
              <a:rPr b="1" spc="10" dirty="0">
                <a:solidFill>
                  <a:srgbClr val="FF3300"/>
                </a:solidFill>
                <a:latin typeface="Microsoft JhengHei" panose="020B0604030504040204" charset="-120"/>
                <a:cs typeface="Microsoft JhengHei" panose="020B0604030504040204" charset="-120"/>
              </a:rPr>
              <a:t>断</a:t>
            </a:r>
            <a:r>
              <a:rPr b="1" spc="5" dirty="0">
                <a:solidFill>
                  <a:srgbClr val="FF3300"/>
                </a:solidFill>
                <a:latin typeface="Microsoft JhengHei" panose="020B0604030504040204" charset="-120"/>
                <a:cs typeface="Microsoft JhengHei" panose="020B0604030504040204" charset="-120"/>
              </a:rPr>
              <a:t>请</a:t>
            </a:r>
            <a:r>
              <a:rPr b="1" spc="10" dirty="0">
                <a:solidFill>
                  <a:srgbClr val="FF3300"/>
                </a:solidFill>
                <a:latin typeface="Microsoft JhengHei" panose="020B0604030504040204" charset="-120"/>
                <a:cs typeface="Microsoft JhengHei" panose="020B0604030504040204" charset="-120"/>
              </a:rPr>
              <a:t>求</a:t>
            </a:r>
            <a:r>
              <a:rPr b="1" spc="5" dirty="0">
                <a:solidFill>
                  <a:srgbClr val="FF3300"/>
                </a:solidFill>
                <a:latin typeface="Microsoft JhengHei" panose="020B0604030504040204" charset="-120"/>
                <a:cs typeface="Microsoft JhengHei" panose="020B0604030504040204" charset="-120"/>
              </a:rPr>
              <a:t>的撤</a:t>
            </a:r>
            <a:r>
              <a:rPr b="1" spc="-5" dirty="0">
                <a:solidFill>
                  <a:srgbClr val="FF3300"/>
                </a:solidFill>
                <a:latin typeface="Microsoft JhengHei" panose="020B0604030504040204" charset="-120"/>
                <a:cs typeface="Microsoft JhengHei" panose="020B0604030504040204" charset="-120"/>
              </a:rPr>
              <a:t>销</a:t>
            </a:r>
            <a:endParaRPr dirty="0">
              <a:latin typeface="Microsoft JhengHei" panose="020B0604030504040204" charset="-120"/>
              <a:cs typeface="Microsoft JhengHei" panose="020B0604030504040204" charset="-120"/>
            </a:endParaRPr>
          </a:p>
          <a:p>
            <a:pPr marL="838835" lvl="1" indent="-636270">
              <a:lnSpc>
                <a:spcPct val="100000"/>
              </a:lnSpc>
              <a:spcBef>
                <a:spcPts val="1200"/>
              </a:spcBef>
              <a:buSzPct val="95000"/>
              <a:buAutoNum type="arabicPlain"/>
              <a:tabLst>
                <a:tab pos="838835" algn="l"/>
              </a:tabLst>
            </a:pPr>
            <a:r>
              <a:rPr b="1" spc="-5" dirty="0">
                <a:solidFill>
                  <a:srgbClr val="3333CC"/>
                </a:solidFill>
                <a:latin typeface="Microsoft JhengHei" panose="020B0604030504040204" charset="-120"/>
                <a:cs typeface="Microsoft JhengHei" panose="020B0604030504040204" charset="-120"/>
              </a:rPr>
              <a:t>跳</a:t>
            </a:r>
            <a:r>
              <a:rPr b="1" spc="5" dirty="0">
                <a:solidFill>
                  <a:srgbClr val="3333CC"/>
                </a:solidFill>
                <a:latin typeface="Microsoft JhengHei" panose="020B0604030504040204" charset="-120"/>
                <a:cs typeface="Microsoft JhengHei" panose="020B0604030504040204" charset="-120"/>
              </a:rPr>
              <a:t>沿</a:t>
            </a:r>
            <a:r>
              <a:rPr b="1" spc="10" dirty="0">
                <a:solidFill>
                  <a:srgbClr val="3333CC"/>
                </a:solidFill>
                <a:latin typeface="Microsoft JhengHei" panose="020B0604030504040204" charset="-120"/>
                <a:cs typeface="Microsoft JhengHei" panose="020B0604030504040204" charset="-120"/>
              </a:rPr>
              <a:t>方</a:t>
            </a:r>
            <a:r>
              <a:rPr b="1" spc="5" dirty="0">
                <a:solidFill>
                  <a:srgbClr val="3333CC"/>
                </a:solidFill>
                <a:latin typeface="Microsoft JhengHei" panose="020B0604030504040204" charset="-120"/>
                <a:cs typeface="Microsoft JhengHei" panose="020B0604030504040204" charset="-120"/>
              </a:rPr>
              <a:t>式</a:t>
            </a:r>
            <a:r>
              <a:rPr b="1" spc="10" dirty="0">
                <a:solidFill>
                  <a:srgbClr val="3333CC"/>
                </a:solidFill>
                <a:latin typeface="Microsoft JhengHei" panose="020B0604030504040204" charset="-120"/>
                <a:cs typeface="Microsoft JhengHei" panose="020B0604030504040204" charset="-120"/>
              </a:rPr>
              <a:t>请</a:t>
            </a:r>
            <a:r>
              <a:rPr b="1" spc="5" dirty="0">
                <a:solidFill>
                  <a:srgbClr val="3333CC"/>
                </a:solidFill>
                <a:latin typeface="Microsoft JhengHei" panose="020B0604030504040204" charset="-120"/>
                <a:cs typeface="Microsoft JhengHei" panose="020B0604030504040204" charset="-120"/>
              </a:rPr>
              <a:t>求的</a:t>
            </a:r>
            <a:r>
              <a:rPr b="1" spc="10" dirty="0">
                <a:solidFill>
                  <a:srgbClr val="3333CC"/>
                </a:solidFill>
                <a:latin typeface="Microsoft JhengHei" panose="020B0604030504040204" charset="-120"/>
                <a:cs typeface="Microsoft JhengHei" panose="020B0604030504040204" charset="-120"/>
              </a:rPr>
              <a:t>撤</a:t>
            </a:r>
            <a:r>
              <a:rPr b="1" spc="-5" dirty="0">
                <a:solidFill>
                  <a:srgbClr val="3333CC"/>
                </a:solidFill>
                <a:latin typeface="Microsoft JhengHei" panose="020B0604030504040204" charset="-120"/>
                <a:cs typeface="Microsoft JhengHei" panose="020B0604030504040204" charset="-120"/>
              </a:rPr>
              <a:t>销</a:t>
            </a:r>
            <a:endParaRPr dirty="0">
              <a:latin typeface="Microsoft JhengHei" panose="020B0604030504040204" charset="-120"/>
              <a:cs typeface="Microsoft JhengHei" panose="020B0604030504040204" charset="-120"/>
            </a:endParaRPr>
          </a:p>
          <a:p>
            <a:pPr marL="330200" marR="1217930">
              <a:lnSpc>
                <a:spcPct val="150000"/>
              </a:lnSpc>
            </a:pPr>
            <a:r>
              <a:rPr b="1" spc="-5" dirty="0">
                <a:latin typeface="Microsoft JhengHei" panose="020B0604030504040204" charset="-120"/>
                <a:cs typeface="Microsoft JhengHei" panose="020B0604030504040204" charset="-120"/>
              </a:rPr>
              <a:t>包括两</a:t>
            </a:r>
            <a:r>
              <a:rPr b="1" spc="5" dirty="0">
                <a:latin typeface="Microsoft JhengHei" panose="020B0604030504040204" charset="-120"/>
                <a:cs typeface="Microsoft JhengHei" panose="020B0604030504040204" charset="-120"/>
              </a:rPr>
              <a:t>项</a:t>
            </a:r>
            <a:r>
              <a:rPr b="1" spc="20" dirty="0">
                <a:latin typeface="Microsoft JhengHei" panose="020B0604030504040204" charset="-120"/>
                <a:cs typeface="Microsoft JhengHei" panose="020B0604030504040204" charset="-120"/>
              </a:rPr>
              <a:t>：</a:t>
            </a:r>
            <a:r>
              <a:rPr b="1" spc="5" dirty="0">
                <a:solidFill>
                  <a:srgbClr val="FF3300"/>
                </a:solidFill>
                <a:latin typeface="Microsoft JhengHei" panose="020B0604030504040204" charset="-120"/>
                <a:cs typeface="Microsoft JhengHei" panose="020B0604030504040204" charset="-120"/>
              </a:rPr>
              <a:t>中</a:t>
            </a:r>
            <a:r>
              <a:rPr b="1" spc="10" dirty="0">
                <a:solidFill>
                  <a:srgbClr val="FF3300"/>
                </a:solidFill>
                <a:latin typeface="Microsoft JhengHei" panose="020B0604030504040204" charset="-120"/>
                <a:cs typeface="Microsoft JhengHei" panose="020B0604030504040204" charset="-120"/>
              </a:rPr>
              <a:t>断</a:t>
            </a:r>
            <a:r>
              <a:rPr b="1" spc="5" dirty="0">
                <a:solidFill>
                  <a:srgbClr val="FF3300"/>
                </a:solidFill>
                <a:latin typeface="Microsoft JhengHei" panose="020B0604030504040204" charset="-120"/>
                <a:cs typeface="Microsoft JhengHei" panose="020B0604030504040204" charset="-120"/>
              </a:rPr>
              <a:t>标志</a:t>
            </a:r>
            <a:r>
              <a:rPr b="1" spc="10" dirty="0">
                <a:solidFill>
                  <a:srgbClr val="FF3300"/>
                </a:solidFill>
                <a:latin typeface="Microsoft JhengHei" panose="020B0604030504040204" charset="-120"/>
                <a:cs typeface="Microsoft JhengHei" panose="020B0604030504040204" charset="-120"/>
              </a:rPr>
              <a:t>位</a:t>
            </a:r>
            <a:r>
              <a:rPr b="1" spc="5" dirty="0">
                <a:solidFill>
                  <a:srgbClr val="FF3300"/>
                </a:solidFill>
                <a:latin typeface="Microsoft JhengHei" panose="020B0604030504040204" charset="-120"/>
                <a:cs typeface="Microsoft JhengHei" panose="020B0604030504040204" charset="-120"/>
              </a:rPr>
              <a:t>清</a:t>
            </a:r>
            <a:r>
              <a:rPr b="1" spc="10" dirty="0">
                <a:solidFill>
                  <a:srgbClr val="FF3300"/>
                </a:solidFill>
                <a:latin typeface="Microsoft JhengHei" panose="020B0604030504040204" charset="-120"/>
                <a:cs typeface="Microsoft JhengHei" panose="020B0604030504040204" charset="-120"/>
              </a:rPr>
              <a:t>“</a:t>
            </a:r>
            <a:r>
              <a:rPr b="1" spc="10" dirty="0">
                <a:solidFill>
                  <a:srgbClr val="FF3300"/>
                </a:solidFill>
                <a:latin typeface="Times New Roman" panose="02020603050405020304"/>
                <a:cs typeface="Times New Roman" panose="02020603050405020304"/>
              </a:rPr>
              <a:t>0</a:t>
            </a:r>
            <a:r>
              <a:rPr b="1" spc="10" dirty="0">
                <a:solidFill>
                  <a:srgbClr val="FF3300"/>
                </a:solidFill>
                <a:latin typeface="Microsoft JhengHei" panose="020B0604030504040204" charset="-120"/>
                <a:cs typeface="Microsoft JhengHei" panose="020B0604030504040204" charset="-120"/>
              </a:rPr>
              <a:t>”</a:t>
            </a:r>
            <a:r>
              <a:rPr b="1" spc="5" dirty="0">
                <a:solidFill>
                  <a:srgbClr val="3333CC"/>
                </a:solidFill>
                <a:latin typeface="Microsoft JhengHei" panose="020B0604030504040204" charset="-120"/>
                <a:cs typeface="Microsoft JhengHei" panose="020B0604030504040204" charset="-120"/>
              </a:rPr>
              <a:t>和</a:t>
            </a:r>
            <a:r>
              <a:rPr b="1" spc="10" dirty="0">
                <a:solidFill>
                  <a:srgbClr val="FF3300"/>
                </a:solidFill>
                <a:latin typeface="Microsoft JhengHei" panose="020B0604030504040204" charset="-120"/>
                <a:cs typeface="Microsoft JhengHei" panose="020B0604030504040204" charset="-120"/>
              </a:rPr>
              <a:t>外</a:t>
            </a:r>
            <a:r>
              <a:rPr b="1" spc="5" dirty="0">
                <a:solidFill>
                  <a:srgbClr val="FF3300"/>
                </a:solidFill>
                <a:latin typeface="Microsoft JhengHei" panose="020B0604030504040204" charset="-120"/>
                <a:cs typeface="Microsoft JhengHei" panose="020B0604030504040204" charset="-120"/>
              </a:rPr>
              <a:t>中断</a:t>
            </a:r>
            <a:r>
              <a:rPr b="1" spc="10" dirty="0">
                <a:solidFill>
                  <a:srgbClr val="FF3300"/>
                </a:solidFill>
                <a:latin typeface="Microsoft JhengHei" panose="020B0604030504040204" charset="-120"/>
                <a:cs typeface="Microsoft JhengHei" panose="020B0604030504040204" charset="-120"/>
              </a:rPr>
              <a:t>信</a:t>
            </a:r>
            <a:r>
              <a:rPr b="1" spc="5" dirty="0">
                <a:solidFill>
                  <a:srgbClr val="FF3300"/>
                </a:solidFill>
                <a:latin typeface="Microsoft JhengHei" panose="020B0604030504040204" charset="-120"/>
                <a:cs typeface="Microsoft JhengHei" panose="020B0604030504040204" charset="-120"/>
              </a:rPr>
              <a:t>号</a:t>
            </a:r>
            <a:r>
              <a:rPr b="1" spc="10" dirty="0">
                <a:solidFill>
                  <a:srgbClr val="FF3300"/>
                </a:solidFill>
                <a:latin typeface="Microsoft JhengHei" panose="020B0604030504040204" charset="-120"/>
                <a:cs typeface="Microsoft JhengHei" panose="020B0604030504040204" charset="-120"/>
              </a:rPr>
              <a:t>的</a:t>
            </a:r>
            <a:r>
              <a:rPr b="1" spc="5" dirty="0">
                <a:solidFill>
                  <a:srgbClr val="FF3300"/>
                </a:solidFill>
                <a:latin typeface="Microsoft JhengHei" panose="020B0604030504040204" charset="-120"/>
                <a:cs typeface="Microsoft JhengHei" panose="020B0604030504040204" charset="-120"/>
              </a:rPr>
              <a:t>撤</a:t>
            </a:r>
            <a:r>
              <a:rPr b="1" spc="10" dirty="0">
                <a:solidFill>
                  <a:srgbClr val="FF3300"/>
                </a:solidFill>
                <a:latin typeface="Microsoft JhengHei" panose="020B0604030504040204" charset="-120"/>
                <a:cs typeface="Microsoft JhengHei" panose="020B0604030504040204" charset="-120"/>
              </a:rPr>
              <a:t>销</a:t>
            </a:r>
            <a:r>
              <a:rPr b="1" spc="-5" dirty="0">
                <a:solidFill>
                  <a:srgbClr val="FF3300"/>
                </a:solidFill>
                <a:latin typeface="Microsoft JhengHei" panose="020B0604030504040204" charset="-120"/>
                <a:cs typeface="Microsoft JhengHei" panose="020B0604030504040204" charset="-120"/>
              </a:rPr>
              <a:t>。 </a:t>
            </a:r>
            <a:r>
              <a:rPr b="1" spc="-5" dirty="0">
                <a:solidFill>
                  <a:srgbClr val="3333CC"/>
                </a:solidFill>
                <a:latin typeface="Microsoft JhengHei" panose="020B0604030504040204" charset="-120"/>
                <a:cs typeface="Microsoft JhengHei" panose="020B0604030504040204" charset="-120"/>
              </a:rPr>
              <a:t>中断标</a:t>
            </a:r>
            <a:r>
              <a:rPr b="1" spc="5" dirty="0">
                <a:solidFill>
                  <a:srgbClr val="3333CC"/>
                </a:solidFill>
                <a:latin typeface="Microsoft JhengHei" panose="020B0604030504040204" charset="-120"/>
                <a:cs typeface="Microsoft JhengHei" panose="020B0604030504040204" charset="-120"/>
              </a:rPr>
              <a:t>志</a:t>
            </a:r>
            <a:r>
              <a:rPr b="1" spc="10" dirty="0">
                <a:solidFill>
                  <a:srgbClr val="3333CC"/>
                </a:solidFill>
                <a:latin typeface="Microsoft JhengHei" panose="020B0604030504040204" charset="-120"/>
                <a:cs typeface="Microsoft JhengHei" panose="020B0604030504040204" charset="-120"/>
              </a:rPr>
              <a:t>位</a:t>
            </a:r>
            <a:r>
              <a:rPr b="1" spc="5" dirty="0">
                <a:solidFill>
                  <a:srgbClr val="3333CC"/>
                </a:solidFill>
                <a:latin typeface="Microsoft JhengHei" panose="020B0604030504040204" charset="-120"/>
                <a:cs typeface="Microsoft JhengHei" panose="020B0604030504040204" charset="-120"/>
              </a:rPr>
              <a:t>清</a:t>
            </a:r>
            <a:r>
              <a:rPr b="1" spc="10" dirty="0">
                <a:solidFill>
                  <a:srgbClr val="3333CC"/>
                </a:solidFill>
                <a:latin typeface="Microsoft JhengHei" panose="020B0604030504040204" charset="-120"/>
                <a:cs typeface="Microsoft JhengHei" panose="020B0604030504040204" charset="-120"/>
              </a:rPr>
              <a:t>“</a:t>
            </a:r>
            <a:r>
              <a:rPr b="1" spc="10" dirty="0">
                <a:solidFill>
                  <a:srgbClr val="3333CC"/>
                </a:solidFill>
                <a:latin typeface="Times New Roman" panose="02020603050405020304"/>
                <a:cs typeface="Times New Roman" panose="02020603050405020304"/>
              </a:rPr>
              <a:t>0</a:t>
            </a:r>
            <a:r>
              <a:rPr b="1" spc="10" dirty="0">
                <a:solidFill>
                  <a:srgbClr val="3333CC"/>
                </a:solidFill>
                <a:latin typeface="Microsoft JhengHei" panose="020B0604030504040204" charset="-120"/>
                <a:cs typeface="Microsoft JhengHei" panose="020B0604030504040204" charset="-120"/>
              </a:rPr>
              <a:t>”</a:t>
            </a:r>
            <a:r>
              <a:rPr b="1" spc="5" dirty="0">
                <a:latin typeface="Microsoft JhengHei" panose="020B0604030504040204" charset="-120"/>
                <a:cs typeface="Microsoft JhengHei" panose="020B0604030504040204" charset="-120"/>
              </a:rPr>
              <a:t>是</a:t>
            </a:r>
            <a:r>
              <a:rPr b="1" spc="10" dirty="0">
                <a:latin typeface="Microsoft JhengHei" panose="020B0604030504040204" charset="-120"/>
                <a:cs typeface="Microsoft JhengHei" panose="020B0604030504040204" charset="-120"/>
              </a:rPr>
              <a:t>在</a:t>
            </a:r>
            <a:r>
              <a:rPr b="1" spc="5" dirty="0">
                <a:latin typeface="Microsoft JhengHei" panose="020B0604030504040204" charset="-120"/>
                <a:cs typeface="Microsoft JhengHei" panose="020B0604030504040204" charset="-120"/>
              </a:rPr>
              <a:t>中断</a:t>
            </a:r>
            <a:r>
              <a:rPr b="1" spc="10" dirty="0">
                <a:latin typeface="Microsoft JhengHei" panose="020B0604030504040204" charset="-120"/>
                <a:cs typeface="Microsoft JhengHei" panose="020B0604030504040204" charset="-120"/>
              </a:rPr>
              <a:t>响</a:t>
            </a:r>
            <a:r>
              <a:rPr b="1" spc="5" dirty="0">
                <a:latin typeface="Microsoft JhengHei" panose="020B0604030504040204" charset="-120"/>
                <a:cs typeface="Microsoft JhengHei" panose="020B0604030504040204" charset="-120"/>
              </a:rPr>
              <a:t>应</a:t>
            </a:r>
            <a:r>
              <a:rPr b="1" spc="10" dirty="0">
                <a:latin typeface="Microsoft JhengHei" panose="020B0604030504040204" charset="-120"/>
                <a:cs typeface="Microsoft JhengHei" panose="020B0604030504040204" charset="-120"/>
              </a:rPr>
              <a:t>后</a:t>
            </a:r>
            <a:r>
              <a:rPr b="1" spc="20" dirty="0">
                <a:latin typeface="Microsoft JhengHei" panose="020B0604030504040204" charset="-120"/>
                <a:cs typeface="Microsoft JhengHei" panose="020B0604030504040204" charset="-120"/>
              </a:rPr>
              <a:t>由</a:t>
            </a:r>
            <a:r>
              <a:rPr b="1" spc="5" dirty="0">
                <a:solidFill>
                  <a:srgbClr val="0000FF"/>
                </a:solidFill>
                <a:latin typeface="Microsoft JhengHei" panose="020B0604030504040204" charset="-120"/>
                <a:cs typeface="Microsoft JhengHei" panose="020B0604030504040204" charset="-120"/>
              </a:rPr>
              <a:t>硬</a:t>
            </a:r>
            <a:r>
              <a:rPr b="1" spc="10" dirty="0">
                <a:solidFill>
                  <a:srgbClr val="0000FF"/>
                </a:solidFill>
                <a:latin typeface="Microsoft JhengHei" panose="020B0604030504040204" charset="-120"/>
                <a:cs typeface="Microsoft JhengHei" panose="020B0604030504040204" charset="-120"/>
              </a:rPr>
              <a:t>件</a:t>
            </a:r>
            <a:r>
              <a:rPr b="1" spc="5" dirty="0">
                <a:solidFill>
                  <a:srgbClr val="0000FF"/>
                </a:solidFill>
                <a:latin typeface="Microsoft JhengHei" panose="020B0604030504040204" charset="-120"/>
                <a:cs typeface="Microsoft JhengHei" panose="020B0604030504040204" charset="-120"/>
              </a:rPr>
              <a:t>自</a:t>
            </a:r>
            <a:r>
              <a:rPr b="1" spc="10" dirty="0">
                <a:solidFill>
                  <a:srgbClr val="0000FF"/>
                </a:solidFill>
                <a:latin typeface="Microsoft JhengHei" panose="020B0604030504040204" charset="-120"/>
                <a:cs typeface="Microsoft JhengHei" panose="020B0604030504040204" charset="-120"/>
              </a:rPr>
              <a:t>动</a:t>
            </a:r>
            <a:r>
              <a:rPr b="1" spc="5" dirty="0">
                <a:solidFill>
                  <a:srgbClr val="0000FF"/>
                </a:solidFill>
                <a:latin typeface="Microsoft JhengHei" panose="020B0604030504040204" charset="-120"/>
                <a:cs typeface="Microsoft JhengHei" panose="020B0604030504040204" charset="-120"/>
              </a:rPr>
              <a:t>完</a:t>
            </a:r>
            <a:r>
              <a:rPr b="1" spc="25" dirty="0">
                <a:solidFill>
                  <a:srgbClr val="0000FF"/>
                </a:solidFill>
                <a:latin typeface="Microsoft JhengHei" panose="020B0604030504040204" charset="-120"/>
                <a:cs typeface="Microsoft JhengHei" panose="020B0604030504040204" charset="-120"/>
              </a:rPr>
              <a:t>成</a:t>
            </a:r>
            <a:r>
              <a:rPr b="1" spc="5" dirty="0">
                <a:latin typeface="Microsoft JhengHei" panose="020B0604030504040204" charset="-120"/>
                <a:cs typeface="Microsoft JhengHei" panose="020B0604030504040204" charset="-120"/>
              </a:rPr>
              <a:t>的。</a:t>
            </a:r>
            <a:endParaRPr dirty="0">
              <a:latin typeface="Microsoft JhengHei" panose="020B0604030504040204" charset="-120"/>
              <a:cs typeface="Microsoft JhengHei" panose="020B0604030504040204" charset="-120"/>
            </a:endParaRPr>
          </a:p>
          <a:p>
            <a:pPr marL="393700">
              <a:lnSpc>
                <a:spcPct val="100000"/>
              </a:lnSpc>
              <a:spcBef>
                <a:spcPts val="1200"/>
              </a:spcBef>
            </a:pPr>
            <a:r>
              <a:rPr b="1" spc="-5" dirty="0">
                <a:solidFill>
                  <a:srgbClr val="3333CC"/>
                </a:solidFill>
                <a:latin typeface="Microsoft JhengHei" panose="020B0604030504040204" charset="-120"/>
                <a:cs typeface="Microsoft JhengHei" panose="020B0604030504040204" charset="-120"/>
              </a:rPr>
              <a:t>外中</a:t>
            </a:r>
            <a:r>
              <a:rPr b="1" spc="5" dirty="0">
                <a:solidFill>
                  <a:srgbClr val="3333CC"/>
                </a:solidFill>
                <a:latin typeface="Microsoft JhengHei" panose="020B0604030504040204" charset="-120"/>
                <a:cs typeface="Microsoft JhengHei" panose="020B0604030504040204" charset="-120"/>
              </a:rPr>
              <a:t>断请求</a:t>
            </a:r>
            <a:r>
              <a:rPr b="1" spc="10" dirty="0">
                <a:solidFill>
                  <a:srgbClr val="3333CC"/>
                </a:solidFill>
                <a:latin typeface="Microsoft JhengHei" panose="020B0604030504040204" charset="-120"/>
                <a:cs typeface="Microsoft JhengHei" panose="020B0604030504040204" charset="-120"/>
              </a:rPr>
              <a:t>信</a:t>
            </a:r>
            <a:r>
              <a:rPr b="1" spc="5" dirty="0">
                <a:solidFill>
                  <a:srgbClr val="3333CC"/>
                </a:solidFill>
                <a:latin typeface="Microsoft JhengHei" panose="020B0604030504040204" charset="-120"/>
                <a:cs typeface="Microsoft JhengHei" panose="020B0604030504040204" charset="-120"/>
              </a:rPr>
              <a:t>号撤</a:t>
            </a:r>
            <a:r>
              <a:rPr b="1" spc="30" dirty="0">
                <a:solidFill>
                  <a:srgbClr val="3333CC"/>
                </a:solidFill>
                <a:latin typeface="Microsoft JhengHei" panose="020B0604030504040204" charset="-120"/>
                <a:cs typeface="Microsoft JhengHei" panose="020B0604030504040204" charset="-120"/>
              </a:rPr>
              <a:t>销</a:t>
            </a:r>
            <a:r>
              <a:rPr b="1" spc="5" dirty="0">
                <a:latin typeface="Microsoft JhengHei" panose="020B0604030504040204" charset="-120"/>
                <a:cs typeface="Microsoft JhengHei" panose="020B0604030504040204" charset="-120"/>
              </a:rPr>
              <a:t>，</a:t>
            </a:r>
            <a:r>
              <a:rPr b="1" spc="10" dirty="0">
                <a:latin typeface="Microsoft JhengHei" panose="020B0604030504040204" charset="-120"/>
                <a:cs typeface="Microsoft JhengHei" panose="020B0604030504040204" charset="-120"/>
              </a:rPr>
              <a:t>由</a:t>
            </a:r>
            <a:r>
              <a:rPr b="1" spc="5" dirty="0">
                <a:latin typeface="Microsoft JhengHei" panose="020B0604030504040204" charset="-120"/>
                <a:cs typeface="Microsoft JhengHei" panose="020B0604030504040204" charset="-120"/>
              </a:rPr>
              <a:t>于跳</a:t>
            </a:r>
            <a:r>
              <a:rPr b="1" spc="10" dirty="0">
                <a:latin typeface="Microsoft JhengHei" panose="020B0604030504040204" charset="-120"/>
                <a:cs typeface="Microsoft JhengHei" panose="020B0604030504040204" charset="-120"/>
              </a:rPr>
              <a:t>沿</a:t>
            </a:r>
            <a:r>
              <a:rPr b="1" spc="5" dirty="0">
                <a:latin typeface="Microsoft JhengHei" panose="020B0604030504040204" charset="-120"/>
                <a:cs typeface="Microsoft JhengHei" panose="020B0604030504040204" charset="-120"/>
              </a:rPr>
              <a:t>信</a:t>
            </a:r>
            <a:r>
              <a:rPr b="1" spc="10" dirty="0">
                <a:latin typeface="Microsoft JhengHei" panose="020B0604030504040204" charset="-120"/>
                <a:cs typeface="Microsoft JhengHei" panose="020B0604030504040204" charset="-120"/>
              </a:rPr>
              <a:t>号</a:t>
            </a:r>
            <a:r>
              <a:rPr b="1" spc="5" dirty="0">
                <a:latin typeface="Microsoft JhengHei" panose="020B0604030504040204" charset="-120"/>
                <a:cs typeface="Microsoft JhengHei" panose="020B0604030504040204" charset="-120"/>
              </a:rPr>
              <a:t>过</a:t>
            </a:r>
            <a:r>
              <a:rPr b="1" spc="10" dirty="0">
                <a:latin typeface="Microsoft JhengHei" panose="020B0604030504040204" charset="-120"/>
                <a:cs typeface="Microsoft JhengHei" panose="020B0604030504040204" charset="-120"/>
              </a:rPr>
              <a:t>后</a:t>
            </a:r>
            <a:r>
              <a:rPr b="1" spc="5" dirty="0">
                <a:latin typeface="Microsoft JhengHei" panose="020B0604030504040204" charset="-120"/>
                <a:cs typeface="Microsoft JhengHei" panose="020B0604030504040204" charset="-120"/>
              </a:rPr>
              <a:t>也就</a:t>
            </a:r>
            <a:r>
              <a:rPr b="1" spc="10" dirty="0">
                <a:latin typeface="Microsoft JhengHei" panose="020B0604030504040204" charset="-120"/>
                <a:cs typeface="Microsoft JhengHei" panose="020B0604030504040204" charset="-120"/>
              </a:rPr>
              <a:t>消</a:t>
            </a:r>
            <a:r>
              <a:rPr b="1" spc="5" dirty="0">
                <a:latin typeface="Microsoft JhengHei" panose="020B0604030504040204" charset="-120"/>
                <a:cs typeface="Microsoft JhengHei" panose="020B0604030504040204" charset="-120"/>
              </a:rPr>
              <a:t>失</a:t>
            </a:r>
            <a:r>
              <a:rPr b="1" spc="10" dirty="0">
                <a:latin typeface="Microsoft JhengHei" panose="020B0604030504040204" charset="-120"/>
                <a:cs typeface="Microsoft JhengHei" panose="020B0604030504040204" charset="-120"/>
              </a:rPr>
              <a:t>了</a:t>
            </a:r>
            <a:r>
              <a:rPr b="1" spc="35" dirty="0">
                <a:latin typeface="Microsoft JhengHei" panose="020B0604030504040204" charset="-120"/>
                <a:cs typeface="Microsoft JhengHei" panose="020B0604030504040204" charset="-120"/>
              </a:rPr>
              <a:t>，</a:t>
            </a:r>
            <a:r>
              <a:rPr b="1" spc="5" dirty="0">
                <a:solidFill>
                  <a:srgbClr val="FF0000"/>
                </a:solidFill>
                <a:latin typeface="Microsoft JhengHei" panose="020B0604030504040204" charset="-120"/>
                <a:cs typeface="Microsoft JhengHei" panose="020B0604030504040204" charset="-120"/>
              </a:rPr>
              <a:t>自</a:t>
            </a:r>
            <a:r>
              <a:rPr b="1" spc="10" dirty="0">
                <a:solidFill>
                  <a:srgbClr val="FF0000"/>
                </a:solidFill>
                <a:latin typeface="Microsoft JhengHei" panose="020B0604030504040204" charset="-120"/>
                <a:cs typeface="Microsoft JhengHei" panose="020B0604030504040204" charset="-120"/>
              </a:rPr>
              <a:t>动</a:t>
            </a:r>
            <a:r>
              <a:rPr b="1" spc="5" dirty="0">
                <a:solidFill>
                  <a:srgbClr val="FF0000"/>
                </a:solidFill>
                <a:latin typeface="Microsoft JhengHei" panose="020B0604030504040204" charset="-120"/>
                <a:cs typeface="Microsoft JhengHei" panose="020B0604030504040204" charset="-120"/>
              </a:rPr>
              <a:t>撤</a:t>
            </a:r>
            <a:r>
              <a:rPr b="1" spc="15" dirty="0">
                <a:solidFill>
                  <a:srgbClr val="FF0000"/>
                </a:solidFill>
                <a:latin typeface="Microsoft JhengHei" panose="020B0604030504040204" charset="-120"/>
                <a:cs typeface="Microsoft JhengHei" panose="020B0604030504040204" charset="-120"/>
              </a:rPr>
              <a:t>销</a:t>
            </a:r>
            <a:r>
              <a:rPr b="1" spc="-5" dirty="0">
                <a:latin typeface="Microsoft JhengHei" panose="020B0604030504040204" charset="-120"/>
                <a:cs typeface="Microsoft JhengHei" panose="020B0604030504040204" charset="-120"/>
              </a:rPr>
              <a:t>。</a:t>
            </a:r>
            <a:endParaRPr dirty="0">
              <a:latin typeface="Microsoft JhengHei" panose="020B0604030504040204" charset="-120"/>
              <a:cs typeface="Microsoft JhengHei" panose="020B0604030504040204" charset="-120"/>
            </a:endParaRPr>
          </a:p>
          <a:p>
            <a:pPr marL="838835" lvl="1" indent="-636270">
              <a:lnSpc>
                <a:spcPct val="100000"/>
              </a:lnSpc>
              <a:spcBef>
                <a:spcPts val="1200"/>
              </a:spcBef>
              <a:buSzPct val="95000"/>
              <a:buAutoNum type="arabicPlain" startAt="2"/>
              <a:tabLst>
                <a:tab pos="838835" algn="l"/>
              </a:tabLst>
            </a:pPr>
            <a:r>
              <a:rPr b="1" spc="-5" dirty="0">
                <a:solidFill>
                  <a:srgbClr val="3333CC"/>
                </a:solidFill>
                <a:latin typeface="Microsoft JhengHei" panose="020B0604030504040204" charset="-120"/>
                <a:cs typeface="Microsoft JhengHei" panose="020B0604030504040204" charset="-120"/>
              </a:rPr>
              <a:t>电</a:t>
            </a:r>
            <a:r>
              <a:rPr b="1" spc="5" dirty="0">
                <a:solidFill>
                  <a:srgbClr val="3333CC"/>
                </a:solidFill>
                <a:latin typeface="Microsoft JhengHei" panose="020B0604030504040204" charset="-120"/>
                <a:cs typeface="Microsoft JhengHei" panose="020B0604030504040204" charset="-120"/>
              </a:rPr>
              <a:t>平</a:t>
            </a:r>
            <a:r>
              <a:rPr b="1" spc="10" dirty="0">
                <a:solidFill>
                  <a:srgbClr val="3333CC"/>
                </a:solidFill>
                <a:latin typeface="Microsoft JhengHei" panose="020B0604030504040204" charset="-120"/>
                <a:cs typeface="Microsoft JhengHei" panose="020B0604030504040204" charset="-120"/>
              </a:rPr>
              <a:t>方</a:t>
            </a:r>
            <a:r>
              <a:rPr b="1" spc="5" dirty="0">
                <a:solidFill>
                  <a:srgbClr val="3333CC"/>
                </a:solidFill>
                <a:latin typeface="Microsoft JhengHei" panose="020B0604030504040204" charset="-120"/>
                <a:cs typeface="Microsoft JhengHei" panose="020B0604030504040204" charset="-120"/>
              </a:rPr>
              <a:t>式</a:t>
            </a:r>
            <a:r>
              <a:rPr b="1" spc="10" dirty="0">
                <a:solidFill>
                  <a:srgbClr val="3333CC"/>
                </a:solidFill>
                <a:latin typeface="Microsoft JhengHei" panose="020B0604030504040204" charset="-120"/>
                <a:cs typeface="Microsoft JhengHei" panose="020B0604030504040204" charset="-120"/>
              </a:rPr>
              <a:t>外</a:t>
            </a:r>
            <a:r>
              <a:rPr b="1" spc="5" dirty="0">
                <a:solidFill>
                  <a:srgbClr val="3333CC"/>
                </a:solidFill>
                <a:latin typeface="Microsoft JhengHei" panose="020B0604030504040204" charset="-120"/>
                <a:cs typeface="Microsoft JhengHei" panose="020B0604030504040204" charset="-120"/>
              </a:rPr>
              <a:t>部中</a:t>
            </a:r>
            <a:r>
              <a:rPr b="1" spc="10" dirty="0">
                <a:solidFill>
                  <a:srgbClr val="3333CC"/>
                </a:solidFill>
                <a:latin typeface="Microsoft JhengHei" panose="020B0604030504040204" charset="-120"/>
                <a:cs typeface="Microsoft JhengHei" panose="020B0604030504040204" charset="-120"/>
              </a:rPr>
              <a:t>断</a:t>
            </a:r>
            <a:r>
              <a:rPr b="1" spc="5" dirty="0">
                <a:solidFill>
                  <a:srgbClr val="3333CC"/>
                </a:solidFill>
                <a:latin typeface="Microsoft JhengHei" panose="020B0604030504040204" charset="-120"/>
                <a:cs typeface="Microsoft JhengHei" panose="020B0604030504040204" charset="-120"/>
              </a:rPr>
              <a:t>请</a:t>
            </a:r>
            <a:r>
              <a:rPr b="1" spc="10" dirty="0">
                <a:solidFill>
                  <a:srgbClr val="3333CC"/>
                </a:solidFill>
                <a:latin typeface="Microsoft JhengHei" panose="020B0604030504040204" charset="-120"/>
                <a:cs typeface="Microsoft JhengHei" panose="020B0604030504040204" charset="-120"/>
              </a:rPr>
              <a:t>求</a:t>
            </a:r>
            <a:r>
              <a:rPr b="1" spc="5" dirty="0">
                <a:solidFill>
                  <a:srgbClr val="3333CC"/>
                </a:solidFill>
                <a:latin typeface="Microsoft JhengHei" panose="020B0604030504040204" charset="-120"/>
                <a:cs typeface="Microsoft JhengHei" panose="020B0604030504040204" charset="-120"/>
              </a:rPr>
              <a:t>的</a:t>
            </a:r>
            <a:r>
              <a:rPr b="1" spc="10" dirty="0">
                <a:solidFill>
                  <a:srgbClr val="3333CC"/>
                </a:solidFill>
                <a:latin typeface="Microsoft JhengHei" panose="020B0604030504040204" charset="-120"/>
                <a:cs typeface="Microsoft JhengHei" panose="020B0604030504040204" charset="-120"/>
              </a:rPr>
              <a:t>撤</a:t>
            </a:r>
            <a:r>
              <a:rPr b="1" spc="-5" dirty="0">
                <a:solidFill>
                  <a:srgbClr val="3333CC"/>
                </a:solidFill>
                <a:latin typeface="Microsoft JhengHei" panose="020B0604030504040204" charset="-120"/>
                <a:cs typeface="Microsoft JhengHei" panose="020B0604030504040204" charset="-120"/>
              </a:rPr>
              <a:t>销</a:t>
            </a:r>
            <a:endParaRPr dirty="0">
              <a:latin typeface="Microsoft JhengHei" panose="020B0604030504040204" charset="-120"/>
              <a:cs typeface="Microsoft JhengHei" panose="020B0604030504040204" charset="-120"/>
            </a:endParaRPr>
          </a:p>
          <a:p>
            <a:pPr marL="12700" marR="5080" indent="381000" algn="just">
              <a:lnSpc>
                <a:spcPct val="130000"/>
              </a:lnSpc>
              <a:spcBef>
                <a:spcPts val="480"/>
              </a:spcBef>
            </a:pPr>
            <a:r>
              <a:rPr b="1" spc="-5" dirty="0">
                <a:latin typeface="Microsoft JhengHei" panose="020B0604030504040204" charset="-120"/>
                <a:cs typeface="Microsoft JhengHei" panose="020B0604030504040204" charset="-120"/>
              </a:rPr>
              <a:t>电平</a:t>
            </a:r>
            <a:r>
              <a:rPr b="1" spc="5" dirty="0">
                <a:latin typeface="Microsoft JhengHei" panose="020B0604030504040204" charset="-120"/>
                <a:cs typeface="Microsoft JhengHei" panose="020B0604030504040204" charset="-120"/>
              </a:rPr>
              <a:t>方式外</a:t>
            </a:r>
            <a:r>
              <a:rPr b="1" spc="10" dirty="0">
                <a:latin typeface="Microsoft JhengHei" panose="020B0604030504040204" charset="-120"/>
                <a:cs typeface="Microsoft JhengHei" panose="020B0604030504040204" charset="-120"/>
              </a:rPr>
              <a:t>中</a:t>
            </a:r>
            <a:r>
              <a:rPr b="1" spc="5" dirty="0">
                <a:latin typeface="Microsoft JhengHei" panose="020B0604030504040204" charset="-120"/>
                <a:cs typeface="Microsoft JhengHei" panose="020B0604030504040204" charset="-120"/>
              </a:rPr>
              <a:t>断请</a:t>
            </a:r>
            <a:r>
              <a:rPr b="1" spc="10" dirty="0">
                <a:latin typeface="Microsoft JhengHei" panose="020B0604030504040204" charset="-120"/>
                <a:cs typeface="Microsoft JhengHei" panose="020B0604030504040204" charset="-120"/>
              </a:rPr>
              <a:t>求</a:t>
            </a:r>
            <a:r>
              <a:rPr b="1" spc="5" dirty="0">
                <a:latin typeface="Microsoft JhengHei" panose="020B0604030504040204" charset="-120"/>
                <a:cs typeface="Microsoft JhengHei" panose="020B0604030504040204" charset="-120"/>
              </a:rPr>
              <a:t>的</a:t>
            </a:r>
            <a:r>
              <a:rPr b="1" spc="10" dirty="0">
                <a:latin typeface="Microsoft JhengHei" panose="020B0604030504040204" charset="-120"/>
                <a:cs typeface="Microsoft JhengHei" panose="020B0604030504040204" charset="-120"/>
              </a:rPr>
              <a:t>撤</a:t>
            </a:r>
            <a:r>
              <a:rPr b="1" spc="5" dirty="0">
                <a:latin typeface="Microsoft JhengHei" panose="020B0604030504040204" charset="-120"/>
                <a:cs typeface="Microsoft JhengHei" panose="020B0604030504040204" charset="-120"/>
              </a:rPr>
              <a:t>销，</a:t>
            </a:r>
            <a:r>
              <a:rPr b="1" spc="10" dirty="0">
                <a:latin typeface="Microsoft JhengHei" panose="020B0604030504040204" charset="-120"/>
                <a:cs typeface="Microsoft JhengHei" panose="020B0604030504040204" charset="-120"/>
              </a:rPr>
              <a:t>其</a:t>
            </a:r>
            <a:r>
              <a:rPr b="1" spc="35" dirty="0">
                <a:latin typeface="Microsoft JhengHei" panose="020B0604030504040204" charset="-120"/>
                <a:cs typeface="Microsoft JhengHei" panose="020B0604030504040204" charset="-120"/>
              </a:rPr>
              <a:t>中</a:t>
            </a:r>
            <a:r>
              <a:rPr b="1" spc="10" dirty="0">
                <a:solidFill>
                  <a:srgbClr val="FF0000"/>
                </a:solidFill>
                <a:latin typeface="Microsoft JhengHei" panose="020B0604030504040204" charset="-120"/>
                <a:cs typeface="Microsoft JhengHei" panose="020B0604030504040204" charset="-120"/>
              </a:rPr>
              <a:t>中</a:t>
            </a:r>
            <a:r>
              <a:rPr b="1" spc="5" dirty="0">
                <a:solidFill>
                  <a:srgbClr val="FF0000"/>
                </a:solidFill>
                <a:latin typeface="Microsoft JhengHei" panose="020B0604030504040204" charset="-120"/>
                <a:cs typeface="Microsoft JhengHei" panose="020B0604030504040204" charset="-120"/>
              </a:rPr>
              <a:t>断</a:t>
            </a:r>
            <a:r>
              <a:rPr b="1" spc="10" dirty="0">
                <a:solidFill>
                  <a:srgbClr val="FF0000"/>
                </a:solidFill>
                <a:latin typeface="Microsoft JhengHei" panose="020B0604030504040204" charset="-120"/>
                <a:cs typeface="Microsoft JhengHei" panose="020B0604030504040204" charset="-120"/>
              </a:rPr>
              <a:t>请</a:t>
            </a:r>
            <a:r>
              <a:rPr b="1" spc="5" dirty="0">
                <a:solidFill>
                  <a:srgbClr val="FF0000"/>
                </a:solidFill>
                <a:latin typeface="Microsoft JhengHei" panose="020B0604030504040204" charset="-120"/>
                <a:cs typeface="Microsoft JhengHei" panose="020B0604030504040204" charset="-120"/>
              </a:rPr>
              <a:t>求标</a:t>
            </a:r>
            <a:r>
              <a:rPr b="1" spc="10" dirty="0">
                <a:solidFill>
                  <a:srgbClr val="FF0000"/>
                </a:solidFill>
                <a:latin typeface="Microsoft JhengHei" panose="020B0604030504040204" charset="-120"/>
                <a:cs typeface="Microsoft JhengHei" panose="020B0604030504040204" charset="-120"/>
              </a:rPr>
              <a:t>志</a:t>
            </a:r>
            <a:r>
              <a:rPr b="1" spc="5" dirty="0">
                <a:solidFill>
                  <a:srgbClr val="FF0000"/>
                </a:solidFill>
                <a:latin typeface="Microsoft JhengHei" panose="020B0604030504040204" charset="-120"/>
                <a:cs typeface="Microsoft JhengHei" panose="020B0604030504040204" charset="-120"/>
              </a:rPr>
              <a:t>自</a:t>
            </a:r>
            <a:r>
              <a:rPr b="1" spc="10" dirty="0">
                <a:solidFill>
                  <a:srgbClr val="FF0000"/>
                </a:solidFill>
                <a:latin typeface="Microsoft JhengHei" panose="020B0604030504040204" charset="-120"/>
                <a:cs typeface="Microsoft JhengHei" panose="020B0604030504040204" charset="-120"/>
              </a:rPr>
              <a:t>动</a:t>
            </a:r>
            <a:r>
              <a:rPr b="1" spc="5" dirty="0">
                <a:solidFill>
                  <a:srgbClr val="FF0000"/>
                </a:solidFill>
                <a:latin typeface="Microsoft JhengHei" panose="020B0604030504040204" charset="-120"/>
                <a:cs typeface="Microsoft JhengHei" panose="020B0604030504040204" charset="-120"/>
              </a:rPr>
              <a:t>撤</a:t>
            </a:r>
            <a:r>
              <a:rPr b="1" spc="25" dirty="0">
                <a:solidFill>
                  <a:srgbClr val="FF0000"/>
                </a:solidFill>
                <a:latin typeface="Microsoft JhengHei" panose="020B0604030504040204" charset="-120"/>
                <a:cs typeface="Microsoft JhengHei" panose="020B0604030504040204" charset="-120"/>
              </a:rPr>
              <a:t>销</a:t>
            </a:r>
            <a:r>
              <a:rPr b="1" spc="10" dirty="0">
                <a:latin typeface="Microsoft JhengHei" panose="020B0604030504040204" charset="-120"/>
                <a:cs typeface="Microsoft JhengHei" panose="020B0604030504040204" charset="-120"/>
              </a:rPr>
              <a:t>，</a:t>
            </a:r>
            <a:r>
              <a:rPr b="1" spc="5" dirty="0">
                <a:latin typeface="Microsoft JhengHei" panose="020B0604030504040204" charset="-120"/>
                <a:cs typeface="Microsoft JhengHei" panose="020B0604030504040204" charset="-120"/>
              </a:rPr>
              <a:t>但</a:t>
            </a:r>
            <a:r>
              <a:rPr b="1" spc="10" dirty="0">
                <a:latin typeface="Microsoft JhengHei" panose="020B0604030504040204" charset="-120"/>
                <a:cs typeface="Microsoft JhengHei" panose="020B0604030504040204" charset="-120"/>
              </a:rPr>
              <a:t>请</a:t>
            </a:r>
            <a:r>
              <a:rPr b="1" spc="-5" dirty="0">
                <a:latin typeface="Microsoft JhengHei" panose="020B0604030504040204" charset="-120"/>
                <a:cs typeface="Microsoft JhengHei" panose="020B0604030504040204" charset="-120"/>
              </a:rPr>
              <a:t>求 </a:t>
            </a:r>
            <a:r>
              <a:rPr b="1" spc="-5" dirty="0">
                <a:solidFill>
                  <a:srgbClr val="FF0000"/>
                </a:solidFill>
                <a:latin typeface="Microsoft JhengHei" panose="020B0604030504040204" charset="-120"/>
                <a:cs typeface="Microsoft JhengHei" panose="020B0604030504040204" charset="-120"/>
              </a:rPr>
              <a:t>信号</a:t>
            </a:r>
            <a:r>
              <a:rPr b="1" spc="5" dirty="0">
                <a:solidFill>
                  <a:srgbClr val="FF0000"/>
                </a:solidFill>
                <a:latin typeface="Microsoft JhengHei" panose="020B0604030504040204" charset="-120"/>
                <a:cs typeface="Microsoft JhengHei" panose="020B0604030504040204" charset="-120"/>
              </a:rPr>
              <a:t>的低电</a:t>
            </a:r>
            <a:r>
              <a:rPr b="1" spc="10" dirty="0">
                <a:solidFill>
                  <a:srgbClr val="FF0000"/>
                </a:solidFill>
                <a:latin typeface="Microsoft JhengHei" panose="020B0604030504040204" charset="-120"/>
                <a:cs typeface="Microsoft JhengHei" panose="020B0604030504040204" charset="-120"/>
              </a:rPr>
              <a:t>平</a:t>
            </a:r>
            <a:r>
              <a:rPr b="1" spc="5" dirty="0">
                <a:solidFill>
                  <a:srgbClr val="FF0000"/>
                </a:solidFill>
                <a:latin typeface="Microsoft JhengHei" panose="020B0604030504040204" charset="-120"/>
                <a:cs typeface="Microsoft JhengHei" panose="020B0604030504040204" charset="-120"/>
              </a:rPr>
              <a:t>可能</a:t>
            </a:r>
            <a:r>
              <a:rPr b="1" spc="10" dirty="0">
                <a:solidFill>
                  <a:srgbClr val="FF0000"/>
                </a:solidFill>
                <a:latin typeface="Microsoft JhengHei" panose="020B0604030504040204" charset="-120"/>
                <a:cs typeface="Microsoft JhengHei" panose="020B0604030504040204" charset="-120"/>
              </a:rPr>
              <a:t>继</a:t>
            </a:r>
            <a:r>
              <a:rPr b="1" spc="5" dirty="0">
                <a:solidFill>
                  <a:srgbClr val="FF0000"/>
                </a:solidFill>
                <a:latin typeface="Microsoft JhengHei" panose="020B0604030504040204" charset="-120"/>
                <a:cs typeface="Microsoft JhengHei" panose="020B0604030504040204" charset="-120"/>
              </a:rPr>
              <a:t>续</a:t>
            </a:r>
            <a:r>
              <a:rPr b="1" spc="10" dirty="0">
                <a:solidFill>
                  <a:srgbClr val="FF0000"/>
                </a:solidFill>
                <a:latin typeface="Microsoft JhengHei" panose="020B0604030504040204" charset="-120"/>
                <a:cs typeface="Microsoft JhengHei" panose="020B0604030504040204" charset="-120"/>
              </a:rPr>
              <a:t>存</a:t>
            </a:r>
            <a:r>
              <a:rPr b="1" spc="30" dirty="0">
                <a:solidFill>
                  <a:srgbClr val="FF0000"/>
                </a:solidFill>
                <a:latin typeface="Microsoft JhengHei" panose="020B0604030504040204" charset="-120"/>
                <a:cs typeface="Microsoft JhengHei" panose="020B0604030504040204" charset="-120"/>
              </a:rPr>
              <a:t>在</a:t>
            </a:r>
            <a:r>
              <a:rPr b="1" spc="5" dirty="0">
                <a:latin typeface="Microsoft JhengHei" panose="020B0604030504040204" charset="-120"/>
                <a:cs typeface="Microsoft JhengHei" panose="020B0604030504040204" charset="-120"/>
              </a:rPr>
              <a:t>，</a:t>
            </a:r>
            <a:r>
              <a:rPr b="1" spc="10" dirty="0">
                <a:latin typeface="Microsoft JhengHei" panose="020B0604030504040204" charset="-120"/>
                <a:cs typeface="Microsoft JhengHei" panose="020B0604030504040204" charset="-120"/>
              </a:rPr>
              <a:t>为</a:t>
            </a:r>
            <a:r>
              <a:rPr b="1" spc="5" dirty="0">
                <a:latin typeface="Microsoft JhengHei" panose="020B0604030504040204" charset="-120"/>
                <a:cs typeface="Microsoft JhengHei" panose="020B0604030504040204" charset="-120"/>
              </a:rPr>
              <a:t>此</a:t>
            </a:r>
            <a:r>
              <a:rPr b="1" spc="10" dirty="0">
                <a:latin typeface="Microsoft JhengHei" panose="020B0604030504040204" charset="-120"/>
                <a:cs typeface="Microsoft JhengHei" panose="020B0604030504040204" charset="-120"/>
              </a:rPr>
              <a:t>，</a:t>
            </a:r>
            <a:r>
              <a:rPr b="1" spc="5" dirty="0">
                <a:latin typeface="Microsoft JhengHei" panose="020B0604030504040204" charset="-120"/>
                <a:cs typeface="Microsoft JhengHei" panose="020B0604030504040204" charset="-120"/>
              </a:rPr>
              <a:t>除</a:t>
            </a:r>
            <a:r>
              <a:rPr b="1" spc="10" dirty="0">
                <a:latin typeface="Microsoft JhengHei" panose="020B0604030504040204" charset="-120"/>
                <a:cs typeface="Microsoft JhengHei" panose="020B0604030504040204" charset="-120"/>
              </a:rPr>
              <a:t>了</a:t>
            </a:r>
            <a:r>
              <a:rPr b="1" spc="5" dirty="0">
                <a:latin typeface="Microsoft JhengHei" panose="020B0604030504040204" charset="-120"/>
                <a:cs typeface="Microsoft JhengHei" panose="020B0604030504040204" charset="-120"/>
              </a:rPr>
              <a:t>标志</a:t>
            </a:r>
            <a:r>
              <a:rPr b="1" spc="10" dirty="0">
                <a:latin typeface="Microsoft JhengHei" panose="020B0604030504040204" charset="-120"/>
                <a:cs typeface="Microsoft JhengHei" panose="020B0604030504040204" charset="-120"/>
              </a:rPr>
              <a:t>位</a:t>
            </a:r>
            <a:r>
              <a:rPr b="1" spc="5" dirty="0">
                <a:latin typeface="Microsoft JhengHei" panose="020B0604030504040204" charset="-120"/>
                <a:cs typeface="Microsoft JhengHei" panose="020B0604030504040204" charset="-120"/>
              </a:rPr>
              <a:t>清</a:t>
            </a:r>
            <a:r>
              <a:rPr b="1" spc="10" dirty="0">
                <a:latin typeface="Microsoft JhengHei" panose="020B0604030504040204" charset="-120"/>
                <a:cs typeface="Microsoft JhengHei" panose="020B0604030504040204" charset="-120"/>
              </a:rPr>
              <a:t>“</a:t>
            </a:r>
            <a:r>
              <a:rPr b="1" spc="10" dirty="0">
                <a:latin typeface="Times New Roman" panose="02020603050405020304"/>
                <a:cs typeface="Times New Roman" panose="02020603050405020304"/>
              </a:rPr>
              <a:t>0</a:t>
            </a:r>
            <a:r>
              <a:rPr b="1" spc="10" dirty="0">
                <a:latin typeface="Microsoft JhengHei" panose="020B0604030504040204" charset="-120"/>
                <a:cs typeface="Microsoft JhengHei" panose="020B0604030504040204" charset="-120"/>
              </a:rPr>
              <a:t>”</a:t>
            </a:r>
            <a:r>
              <a:rPr b="1" spc="5" dirty="0">
                <a:latin typeface="Microsoft JhengHei" panose="020B0604030504040204" charset="-120"/>
                <a:cs typeface="Microsoft JhengHei" panose="020B0604030504040204" charset="-120"/>
              </a:rPr>
              <a:t>之</a:t>
            </a:r>
            <a:r>
              <a:rPr b="1" spc="10" dirty="0">
                <a:latin typeface="Microsoft JhengHei" panose="020B0604030504040204" charset="-120"/>
                <a:cs typeface="Microsoft JhengHei" panose="020B0604030504040204" charset="-120"/>
              </a:rPr>
              <a:t>外</a:t>
            </a:r>
            <a:r>
              <a:rPr b="1" spc="5" dirty="0">
                <a:latin typeface="Microsoft JhengHei" panose="020B0604030504040204" charset="-120"/>
                <a:cs typeface="Microsoft JhengHei" panose="020B0604030504040204" charset="-120"/>
              </a:rPr>
              <a:t>，还</a:t>
            </a:r>
            <a:r>
              <a:rPr b="1" spc="10" dirty="0">
                <a:latin typeface="Microsoft JhengHei" panose="020B0604030504040204" charset="-120"/>
                <a:cs typeface="Microsoft JhengHei" panose="020B0604030504040204" charset="-120"/>
              </a:rPr>
              <a:t>需</a:t>
            </a:r>
            <a:r>
              <a:rPr b="1" spc="-5" dirty="0">
                <a:latin typeface="Microsoft JhengHei" panose="020B0604030504040204" charset="-120"/>
                <a:cs typeface="Microsoft JhengHei" panose="020B0604030504040204" charset="-120"/>
              </a:rPr>
              <a:t>在 中断</a:t>
            </a:r>
            <a:r>
              <a:rPr b="1" spc="5" dirty="0">
                <a:latin typeface="Microsoft JhengHei" panose="020B0604030504040204" charset="-120"/>
                <a:cs typeface="Microsoft JhengHei" panose="020B0604030504040204" charset="-120"/>
              </a:rPr>
              <a:t>响应</a:t>
            </a:r>
            <a:r>
              <a:rPr b="1" spc="15" dirty="0">
                <a:latin typeface="Microsoft JhengHei" panose="020B0604030504040204" charset="-120"/>
                <a:cs typeface="Microsoft JhengHei" panose="020B0604030504040204" charset="-120"/>
              </a:rPr>
              <a:t>后</a:t>
            </a:r>
            <a:r>
              <a:rPr b="1" spc="10" dirty="0">
                <a:solidFill>
                  <a:srgbClr val="3333CC"/>
                </a:solidFill>
                <a:latin typeface="Microsoft JhengHei" panose="020B0604030504040204" charset="-120"/>
                <a:cs typeface="Microsoft JhengHei" panose="020B0604030504040204" charset="-120"/>
              </a:rPr>
              <a:t>把</a:t>
            </a:r>
            <a:r>
              <a:rPr b="1" spc="5" dirty="0">
                <a:solidFill>
                  <a:srgbClr val="3333CC"/>
                </a:solidFill>
                <a:latin typeface="Microsoft JhengHei" panose="020B0604030504040204" charset="-120"/>
                <a:cs typeface="Microsoft JhengHei" panose="020B0604030504040204" charset="-120"/>
              </a:rPr>
              <a:t>中断</a:t>
            </a:r>
            <a:r>
              <a:rPr b="1" spc="10" dirty="0">
                <a:solidFill>
                  <a:srgbClr val="3333CC"/>
                </a:solidFill>
                <a:latin typeface="Microsoft JhengHei" panose="020B0604030504040204" charset="-120"/>
                <a:cs typeface="Microsoft JhengHei" panose="020B0604030504040204" charset="-120"/>
              </a:rPr>
              <a:t>请</a:t>
            </a:r>
            <a:r>
              <a:rPr b="1" spc="5" dirty="0">
                <a:solidFill>
                  <a:srgbClr val="3333CC"/>
                </a:solidFill>
                <a:latin typeface="Microsoft JhengHei" panose="020B0604030504040204" charset="-120"/>
                <a:cs typeface="Microsoft JhengHei" panose="020B0604030504040204" charset="-120"/>
              </a:rPr>
              <a:t>求</a:t>
            </a:r>
            <a:r>
              <a:rPr b="1" spc="10" dirty="0">
                <a:solidFill>
                  <a:srgbClr val="3333CC"/>
                </a:solidFill>
                <a:latin typeface="Microsoft JhengHei" panose="020B0604030504040204" charset="-120"/>
                <a:cs typeface="Microsoft JhengHei" panose="020B0604030504040204" charset="-120"/>
              </a:rPr>
              <a:t>信</a:t>
            </a:r>
            <a:r>
              <a:rPr b="1" spc="5" dirty="0">
                <a:solidFill>
                  <a:srgbClr val="3333CC"/>
                </a:solidFill>
                <a:latin typeface="Microsoft JhengHei" panose="020B0604030504040204" charset="-120"/>
                <a:cs typeface="Microsoft JhengHei" panose="020B0604030504040204" charset="-120"/>
              </a:rPr>
              <a:t>号输</a:t>
            </a:r>
            <a:r>
              <a:rPr b="1" spc="10" dirty="0">
                <a:solidFill>
                  <a:srgbClr val="3333CC"/>
                </a:solidFill>
                <a:latin typeface="Microsoft JhengHei" panose="020B0604030504040204" charset="-120"/>
                <a:cs typeface="Microsoft JhengHei" panose="020B0604030504040204" charset="-120"/>
              </a:rPr>
              <a:t>入</a:t>
            </a:r>
            <a:r>
              <a:rPr b="1" spc="5" dirty="0">
                <a:solidFill>
                  <a:srgbClr val="3333CC"/>
                </a:solidFill>
                <a:latin typeface="Microsoft JhengHei" panose="020B0604030504040204" charset="-120"/>
                <a:cs typeface="Microsoft JhengHei" panose="020B0604030504040204" charset="-120"/>
              </a:rPr>
              <a:t>引</a:t>
            </a:r>
            <a:r>
              <a:rPr b="1" spc="10" dirty="0">
                <a:solidFill>
                  <a:srgbClr val="3333CC"/>
                </a:solidFill>
                <a:latin typeface="Microsoft JhengHei" panose="020B0604030504040204" charset="-120"/>
                <a:cs typeface="Microsoft JhengHei" panose="020B0604030504040204" charset="-120"/>
              </a:rPr>
              <a:t>脚</a:t>
            </a:r>
            <a:r>
              <a:rPr b="1" spc="30" dirty="0">
                <a:solidFill>
                  <a:srgbClr val="3333CC"/>
                </a:solidFill>
                <a:latin typeface="Microsoft JhengHei" panose="020B0604030504040204" charset="-120"/>
                <a:cs typeface="Microsoft JhengHei" panose="020B0604030504040204" charset="-120"/>
              </a:rPr>
              <a:t>从</a:t>
            </a:r>
            <a:r>
              <a:rPr b="1" spc="10" dirty="0">
                <a:solidFill>
                  <a:srgbClr val="FF3300"/>
                </a:solidFill>
                <a:latin typeface="Microsoft JhengHei" panose="020B0604030504040204" charset="-120"/>
                <a:cs typeface="Microsoft JhengHei" panose="020B0604030504040204" charset="-120"/>
              </a:rPr>
              <a:t>低</a:t>
            </a:r>
            <a:r>
              <a:rPr b="1" spc="5" dirty="0">
                <a:solidFill>
                  <a:srgbClr val="3333CC"/>
                </a:solidFill>
                <a:latin typeface="Microsoft JhengHei" panose="020B0604030504040204" charset="-120"/>
                <a:cs typeface="Microsoft JhengHei" panose="020B0604030504040204" charset="-120"/>
              </a:rPr>
              <a:t>强制</a:t>
            </a:r>
            <a:r>
              <a:rPr b="1" spc="15" dirty="0">
                <a:solidFill>
                  <a:srgbClr val="3333CC"/>
                </a:solidFill>
                <a:latin typeface="Microsoft JhengHei" panose="020B0604030504040204" charset="-120"/>
                <a:cs typeface="Microsoft JhengHei" panose="020B0604030504040204" charset="-120"/>
              </a:rPr>
              <a:t>变</a:t>
            </a:r>
            <a:r>
              <a:rPr b="1" spc="5" dirty="0">
                <a:solidFill>
                  <a:srgbClr val="FF3300"/>
                </a:solidFill>
                <a:latin typeface="Microsoft JhengHei" panose="020B0604030504040204" charset="-120"/>
                <a:cs typeface="Microsoft JhengHei" panose="020B0604030504040204" charset="-120"/>
              </a:rPr>
              <a:t>高</a:t>
            </a:r>
            <a:r>
              <a:rPr b="1" spc="10" dirty="0">
                <a:latin typeface="Microsoft JhengHei" panose="020B0604030504040204" charset="-120"/>
                <a:cs typeface="Microsoft JhengHei" panose="020B0604030504040204" charset="-120"/>
              </a:rPr>
              <a:t>。</a:t>
            </a:r>
            <a:r>
              <a:rPr b="1" spc="5" dirty="0">
                <a:latin typeface="Microsoft JhengHei" panose="020B0604030504040204" charset="-120"/>
                <a:cs typeface="Microsoft JhengHei" panose="020B0604030504040204" charset="-120"/>
              </a:rPr>
              <a:t>如</a:t>
            </a:r>
            <a:r>
              <a:rPr b="1" spc="10" dirty="0">
                <a:latin typeface="Microsoft JhengHei" panose="020B0604030504040204" charset="-120"/>
                <a:cs typeface="Microsoft JhengHei" panose="020B0604030504040204" charset="-120"/>
              </a:rPr>
              <a:t>下</a:t>
            </a:r>
            <a:r>
              <a:rPr b="1" spc="10" dirty="0">
                <a:solidFill>
                  <a:srgbClr val="FF3300"/>
                </a:solidFill>
                <a:latin typeface="Microsoft JhengHei" panose="020B0604030504040204" charset="-120"/>
                <a:cs typeface="Microsoft JhengHei" panose="020B0604030504040204" charset="-120"/>
              </a:rPr>
              <a:t>图</a:t>
            </a:r>
            <a:r>
              <a:rPr b="1" spc="-5" dirty="0">
                <a:latin typeface="Microsoft JhengHei" panose="020B0604030504040204" charset="-120"/>
                <a:cs typeface="Microsoft JhengHei" panose="020B0604030504040204" charset="-120"/>
              </a:rPr>
              <a:t>。</a:t>
            </a:r>
          </a:p>
        </p:txBody>
      </p:sp>
      <p:sp>
        <p:nvSpPr>
          <p:cNvPr id="3" name="object 3"/>
          <p:cNvSpPr/>
          <p:nvPr/>
        </p:nvSpPr>
        <p:spPr>
          <a:xfrm>
            <a:off x="5845624" y="4730495"/>
            <a:ext cx="3033697" cy="1681132"/>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583311" y="1081023"/>
            <a:ext cx="2517775" cy="452755"/>
          </a:xfrm>
          <a:prstGeom prst="rect">
            <a:avLst/>
          </a:prstGeom>
        </p:spPr>
        <p:txBody>
          <a:bodyPr vert="horz" wrap="square" lIns="0" tIns="12700" rIns="0" bIns="0" rtlCol="0">
            <a:spAutoFit/>
          </a:bodyPr>
          <a:lstStyle/>
          <a:p>
            <a:pPr marL="12700">
              <a:lnSpc>
                <a:spcPct val="100000"/>
              </a:lnSpc>
              <a:spcBef>
                <a:spcPts val="100"/>
              </a:spcBef>
            </a:pPr>
            <a:r>
              <a:rPr dirty="0"/>
              <a:t>中</a:t>
            </a:r>
            <a:r>
              <a:rPr spc="5" dirty="0"/>
              <a:t>断</a:t>
            </a:r>
            <a:r>
              <a:rPr dirty="0"/>
              <a:t>请求的撤销</a:t>
            </a:r>
          </a:p>
        </p:txBody>
      </p:sp>
      <p:sp>
        <p:nvSpPr>
          <p:cNvPr id="6" name="object 2"/>
          <p:cNvSpPr txBox="1">
            <a:spLocks noGrp="1"/>
          </p:cNvSpPr>
          <p:nvPr/>
        </p:nvSpPr>
        <p:spPr>
          <a:xfrm>
            <a:off x="1650365" y="425450"/>
            <a:ext cx="4768215" cy="381635"/>
          </a:xfrm>
          <a:prstGeom prst="rect">
            <a:avLst/>
          </a:prstGeom>
        </p:spPr>
        <p:txBody>
          <a:bodyPr vert="horz" wrap="square" lIns="0" tIns="12700" rIns="0" bIns="0" rtlCol="0">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12700">
              <a:lnSpc>
                <a:spcPct val="100000"/>
              </a:lnSpc>
              <a:spcBef>
                <a:spcPts val="100"/>
              </a:spcBef>
            </a:pPr>
            <a:r>
              <a:rPr lang="en-US" sz="2400" spc="10" dirty="0">
                <a:ea typeface="微软雅黑" panose="020B0503020204020204" charset="-122"/>
              </a:rPr>
              <a:t>§</a:t>
            </a:r>
            <a:r>
              <a:rPr lang="en-US" sz="2400" spc="10" dirty="0"/>
              <a:t>5.4  </a:t>
            </a:r>
            <a:r>
              <a:rPr sz="2400" spc="10" dirty="0"/>
              <a:t>中断响应</a:t>
            </a:r>
            <a:r>
              <a:rPr lang="zh-CN" sz="2400" spc="10" dirty="0"/>
              <a:t>及中断处理过程</a:t>
            </a:r>
            <a:endParaRPr sz="2400"/>
          </a:p>
        </p:txBody>
      </p:sp>
      <p:sp>
        <p:nvSpPr>
          <p:cNvPr id="7" name="灯片编号占位符 6"/>
          <p:cNvSpPr>
            <a:spLocks noGrp="1"/>
          </p:cNvSpPr>
          <p:nvPr>
            <p:ph type="sldNum" sz="quarter" idx="7"/>
          </p:nvPr>
        </p:nvSpPr>
        <p:spPr/>
        <p:txBody>
          <a:bodyPr/>
          <a:lstStyle/>
          <a:p>
            <a:pPr marL="25400">
              <a:lnSpc>
                <a:spcPct val="100000"/>
              </a:lnSpc>
              <a:spcBef>
                <a:spcPts val="185"/>
              </a:spcBef>
            </a:pPr>
            <a:fld id="{81D60167-4931-47E6-BA6A-407CBD079E47}" type="slidenum">
              <a:rPr spc="-5" dirty="0"/>
              <a:t>22</a:t>
            </a:fld>
            <a:endParaRPr spc="-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2640" y="1607896"/>
            <a:ext cx="8355330" cy="2073275"/>
          </a:xfrm>
          <a:prstGeom prst="rect">
            <a:avLst/>
          </a:prstGeom>
        </p:spPr>
        <p:txBody>
          <a:bodyPr vert="horz" wrap="square" lIns="0" tIns="165100" rIns="0" bIns="0" rtlCol="0">
            <a:spAutoFit/>
          </a:bodyPr>
          <a:lstStyle/>
          <a:p>
            <a:pPr marL="368300">
              <a:lnSpc>
                <a:spcPct val="100000"/>
              </a:lnSpc>
              <a:spcBef>
                <a:spcPts val="1300"/>
              </a:spcBef>
            </a:pPr>
            <a:r>
              <a:rPr sz="1600" b="1" dirty="0">
                <a:latin typeface="Microsoft JhengHei" panose="020B0604030504040204" charset="-120"/>
                <a:cs typeface="Microsoft JhengHei" panose="020B0604030504040204" charset="-120"/>
              </a:rPr>
              <a:t>用</a:t>
            </a:r>
            <a:r>
              <a:rPr sz="1600" b="1" spc="-10" dirty="0">
                <a:solidFill>
                  <a:srgbClr val="3333CC"/>
                </a:solidFill>
                <a:latin typeface="Times New Roman" panose="02020603050405020304"/>
                <a:cs typeface="Times New Roman" panose="02020603050405020304"/>
              </a:rPr>
              <a:t>D</a:t>
            </a:r>
            <a:r>
              <a:rPr sz="1600" b="1" spc="5" dirty="0">
                <a:solidFill>
                  <a:srgbClr val="3333CC"/>
                </a:solidFill>
                <a:latin typeface="Microsoft JhengHei" panose="020B0604030504040204" charset="-120"/>
                <a:cs typeface="Microsoft JhengHei" panose="020B0604030504040204" charset="-120"/>
              </a:rPr>
              <a:t>触发器</a:t>
            </a:r>
            <a:r>
              <a:rPr sz="1600" b="1" spc="10" dirty="0">
                <a:solidFill>
                  <a:srgbClr val="3333CC"/>
                </a:solidFill>
                <a:latin typeface="Microsoft JhengHei" panose="020B0604030504040204" charset="-120"/>
                <a:cs typeface="Microsoft JhengHei" panose="020B0604030504040204" charset="-120"/>
              </a:rPr>
              <a:t>锁</a:t>
            </a:r>
            <a:r>
              <a:rPr sz="1600" b="1" spc="15" dirty="0">
                <a:solidFill>
                  <a:srgbClr val="3333CC"/>
                </a:solidFill>
                <a:latin typeface="Microsoft JhengHei" panose="020B0604030504040204" charset="-120"/>
                <a:cs typeface="Microsoft JhengHei" panose="020B0604030504040204" charset="-120"/>
              </a:rPr>
              <a:t>存</a:t>
            </a:r>
            <a:r>
              <a:rPr sz="1600" b="1" spc="10" dirty="0">
                <a:solidFill>
                  <a:srgbClr val="FF3300"/>
                </a:solidFill>
                <a:latin typeface="Microsoft JhengHei" panose="020B0604030504040204" charset="-120"/>
                <a:cs typeface="Microsoft JhengHei" panose="020B0604030504040204" charset="-120"/>
              </a:rPr>
              <a:t>外</a:t>
            </a:r>
            <a:r>
              <a:rPr sz="1600" b="1" spc="5" dirty="0">
                <a:solidFill>
                  <a:srgbClr val="FF3300"/>
                </a:solidFill>
                <a:latin typeface="Microsoft JhengHei" panose="020B0604030504040204" charset="-120"/>
                <a:cs typeface="Microsoft JhengHei" panose="020B0604030504040204" charset="-120"/>
              </a:rPr>
              <a:t>来的</a:t>
            </a:r>
            <a:r>
              <a:rPr sz="1600" b="1" spc="10" dirty="0">
                <a:solidFill>
                  <a:srgbClr val="FF3300"/>
                </a:solidFill>
                <a:latin typeface="Microsoft JhengHei" panose="020B0604030504040204" charset="-120"/>
                <a:cs typeface="Microsoft JhengHei" panose="020B0604030504040204" charset="-120"/>
              </a:rPr>
              <a:t>中</a:t>
            </a:r>
            <a:r>
              <a:rPr sz="1600" b="1" spc="5" dirty="0">
                <a:solidFill>
                  <a:srgbClr val="FF3300"/>
                </a:solidFill>
                <a:latin typeface="Microsoft JhengHei" panose="020B0604030504040204" charset="-120"/>
                <a:cs typeface="Microsoft JhengHei" panose="020B0604030504040204" charset="-120"/>
              </a:rPr>
              <a:t>断</a:t>
            </a:r>
            <a:r>
              <a:rPr sz="1600" b="1" spc="10" dirty="0">
                <a:solidFill>
                  <a:srgbClr val="FF3300"/>
                </a:solidFill>
                <a:latin typeface="Microsoft JhengHei" panose="020B0604030504040204" charset="-120"/>
                <a:cs typeface="Microsoft JhengHei" panose="020B0604030504040204" charset="-120"/>
              </a:rPr>
              <a:t>请</a:t>
            </a:r>
            <a:r>
              <a:rPr sz="1600" b="1" spc="5" dirty="0">
                <a:solidFill>
                  <a:srgbClr val="FF3300"/>
                </a:solidFill>
                <a:latin typeface="Microsoft JhengHei" panose="020B0604030504040204" charset="-120"/>
                <a:cs typeface="Microsoft JhengHei" panose="020B0604030504040204" charset="-120"/>
              </a:rPr>
              <a:t>求</a:t>
            </a:r>
            <a:r>
              <a:rPr sz="1600" b="1" spc="10" dirty="0">
                <a:solidFill>
                  <a:srgbClr val="3333CC"/>
                </a:solidFill>
                <a:latin typeface="Microsoft JhengHei" panose="020B0604030504040204" charset="-120"/>
                <a:cs typeface="Microsoft JhengHei" panose="020B0604030504040204" charset="-120"/>
              </a:rPr>
              <a:t>低</a:t>
            </a:r>
            <a:r>
              <a:rPr sz="1600" b="1" spc="5" dirty="0">
                <a:solidFill>
                  <a:srgbClr val="3333CC"/>
                </a:solidFill>
                <a:latin typeface="Microsoft JhengHei" panose="020B0604030504040204" charset="-120"/>
                <a:cs typeface="Microsoft JhengHei" panose="020B0604030504040204" charset="-120"/>
              </a:rPr>
              <a:t>电</a:t>
            </a:r>
            <a:r>
              <a:rPr sz="1600" b="1" spc="10" dirty="0">
                <a:solidFill>
                  <a:srgbClr val="3333CC"/>
                </a:solidFill>
                <a:latin typeface="Microsoft JhengHei" panose="020B0604030504040204" charset="-120"/>
                <a:cs typeface="Microsoft JhengHei" panose="020B0604030504040204" charset="-120"/>
              </a:rPr>
              <a:t>平</a:t>
            </a:r>
            <a:r>
              <a:rPr sz="1600" b="1" spc="10" dirty="0">
                <a:latin typeface="Microsoft JhengHei" panose="020B0604030504040204" charset="-120"/>
                <a:cs typeface="Microsoft JhengHei" panose="020B0604030504040204" charset="-120"/>
              </a:rPr>
              <a:t>，</a:t>
            </a:r>
            <a:r>
              <a:rPr sz="1600" b="1" spc="5" dirty="0">
                <a:latin typeface="Microsoft JhengHei" panose="020B0604030504040204" charset="-120"/>
                <a:cs typeface="Microsoft JhengHei" panose="020B0604030504040204" charset="-120"/>
              </a:rPr>
              <a:t>并</a:t>
            </a:r>
            <a:r>
              <a:rPr sz="1600" b="1" spc="10" dirty="0">
                <a:latin typeface="Microsoft JhengHei" panose="020B0604030504040204" charset="-120"/>
                <a:cs typeface="Microsoft JhengHei" panose="020B0604030504040204" charset="-120"/>
              </a:rPr>
              <a:t>通</a:t>
            </a:r>
            <a:r>
              <a:rPr sz="1600" b="1" spc="15" dirty="0">
                <a:latin typeface="Microsoft JhengHei" panose="020B0604030504040204" charset="-120"/>
                <a:cs typeface="Microsoft JhengHei" panose="020B0604030504040204" charset="-120"/>
              </a:rPr>
              <a:t>过</a:t>
            </a:r>
            <a:r>
              <a:rPr sz="1600" b="1" dirty="0">
                <a:latin typeface="Times New Roman" panose="02020603050405020304"/>
                <a:cs typeface="Times New Roman" panose="02020603050405020304"/>
              </a:rPr>
              <a:t>D</a:t>
            </a:r>
            <a:r>
              <a:rPr sz="1600" b="1" spc="5" dirty="0">
                <a:latin typeface="Microsoft JhengHei" panose="020B0604030504040204" charset="-120"/>
                <a:cs typeface="Microsoft JhengHei" panose="020B0604030504040204" charset="-120"/>
              </a:rPr>
              <a:t>触</a:t>
            </a:r>
            <a:r>
              <a:rPr sz="1600" b="1" spc="10" dirty="0">
                <a:latin typeface="Microsoft JhengHei" panose="020B0604030504040204" charset="-120"/>
                <a:cs typeface="Microsoft JhengHei" panose="020B0604030504040204" charset="-120"/>
              </a:rPr>
              <a:t>发</a:t>
            </a:r>
            <a:r>
              <a:rPr sz="1600" b="1" spc="5" dirty="0">
                <a:latin typeface="Microsoft JhengHei" panose="020B0604030504040204" charset="-120"/>
                <a:cs typeface="Microsoft JhengHei" panose="020B0604030504040204" charset="-120"/>
              </a:rPr>
              <a:t>器的</a:t>
            </a:r>
            <a:r>
              <a:rPr sz="1600" b="1" spc="10" dirty="0">
                <a:latin typeface="Microsoft JhengHei" panose="020B0604030504040204" charset="-120"/>
                <a:cs typeface="Microsoft JhengHei" panose="020B0604030504040204" charset="-120"/>
              </a:rPr>
              <a:t>输</a:t>
            </a:r>
            <a:r>
              <a:rPr sz="1600" b="1" spc="5" dirty="0">
                <a:latin typeface="Microsoft JhengHei" panose="020B0604030504040204" charset="-120"/>
                <a:cs typeface="Microsoft JhengHei" panose="020B0604030504040204" charset="-120"/>
              </a:rPr>
              <a:t>出</a:t>
            </a:r>
            <a:r>
              <a:rPr sz="1600" b="1" spc="15" dirty="0">
                <a:latin typeface="Microsoft JhengHei" panose="020B0604030504040204" charset="-120"/>
                <a:cs typeface="Microsoft JhengHei" panose="020B0604030504040204" charset="-120"/>
              </a:rPr>
              <a:t>端</a:t>
            </a:r>
            <a:r>
              <a:rPr sz="1600" b="1" spc="-10" dirty="0">
                <a:latin typeface="Times New Roman" panose="02020603050405020304"/>
                <a:cs typeface="Times New Roman" panose="02020603050405020304"/>
              </a:rPr>
              <a:t>Q</a:t>
            </a:r>
            <a:r>
              <a:rPr sz="1600" b="1" spc="5" dirty="0">
                <a:latin typeface="Microsoft JhengHei" panose="020B0604030504040204" charset="-120"/>
                <a:cs typeface="Microsoft JhengHei" panose="020B0604030504040204" charset="-120"/>
              </a:rPr>
              <a:t>接到</a:t>
            </a:r>
            <a:endParaRPr sz="1600">
              <a:latin typeface="Microsoft JhengHei" panose="020B0604030504040204" charset="-120"/>
              <a:cs typeface="Microsoft JhengHei" panose="020B0604030504040204" charset="-120"/>
            </a:endParaRPr>
          </a:p>
          <a:p>
            <a:pPr marL="12700">
              <a:lnSpc>
                <a:spcPct val="100000"/>
              </a:lnSpc>
              <a:spcBef>
                <a:spcPts val="1200"/>
              </a:spcBef>
            </a:pPr>
            <a:r>
              <a:rPr sz="1600" b="1" spc="-5" dirty="0">
                <a:latin typeface="Times New Roman" panose="02020603050405020304"/>
                <a:cs typeface="Times New Roman" panose="02020603050405020304"/>
              </a:rPr>
              <a:t>INT0*</a:t>
            </a:r>
            <a:r>
              <a:rPr sz="1600" b="1" dirty="0">
                <a:latin typeface="Times New Roman" panose="02020603050405020304"/>
                <a:cs typeface="Times New Roman" panose="02020603050405020304"/>
              </a:rPr>
              <a:t> </a:t>
            </a:r>
            <a:r>
              <a:rPr sz="1600" b="1" dirty="0">
                <a:latin typeface="Microsoft JhengHei" panose="020B0604030504040204" charset="-120"/>
                <a:cs typeface="Microsoft JhengHei" panose="020B0604030504040204" charset="-120"/>
              </a:rPr>
              <a:t>（</a:t>
            </a:r>
            <a:r>
              <a:rPr sz="1600" b="1" spc="-5" dirty="0">
                <a:latin typeface="Microsoft JhengHei" panose="020B0604030504040204" charset="-120"/>
                <a:cs typeface="Microsoft JhengHei" panose="020B0604030504040204" charset="-120"/>
              </a:rPr>
              <a:t>或</a:t>
            </a:r>
            <a:r>
              <a:rPr sz="1600" b="1" spc="25" dirty="0">
                <a:latin typeface="Microsoft JhengHei" panose="020B0604030504040204" charset="-120"/>
                <a:cs typeface="Microsoft JhengHei" panose="020B0604030504040204" charset="-120"/>
              </a:rPr>
              <a:t> </a:t>
            </a:r>
            <a:r>
              <a:rPr sz="1600" b="1" dirty="0">
                <a:latin typeface="Times New Roman" panose="02020603050405020304"/>
                <a:cs typeface="Times New Roman" panose="02020603050405020304"/>
              </a:rPr>
              <a:t>INT1*</a:t>
            </a:r>
            <a:r>
              <a:rPr sz="1600" b="1" dirty="0">
                <a:latin typeface="Microsoft JhengHei" panose="020B0604030504040204" charset="-120"/>
                <a:cs typeface="Microsoft JhengHei" panose="020B0604030504040204" charset="-120"/>
              </a:rPr>
              <a:t>）。</a:t>
            </a:r>
            <a:r>
              <a:rPr sz="1600" b="1" spc="5" dirty="0">
                <a:latin typeface="Microsoft JhengHei" panose="020B0604030504040204" charset="-120"/>
                <a:cs typeface="Microsoft JhengHei" panose="020B0604030504040204" charset="-120"/>
              </a:rPr>
              <a:t>所以</a:t>
            </a:r>
            <a:r>
              <a:rPr sz="1600" b="1" spc="10" dirty="0">
                <a:latin typeface="Microsoft JhengHei" panose="020B0604030504040204" charset="-120"/>
                <a:cs typeface="Microsoft JhengHei" panose="020B0604030504040204" charset="-120"/>
              </a:rPr>
              <a:t>，</a:t>
            </a:r>
            <a:r>
              <a:rPr sz="1600" b="1" spc="5" dirty="0">
                <a:latin typeface="Microsoft JhengHei" panose="020B0604030504040204" charset="-120"/>
                <a:cs typeface="Microsoft JhengHei" panose="020B0604030504040204" charset="-120"/>
              </a:rPr>
              <a:t>增</a:t>
            </a:r>
            <a:r>
              <a:rPr sz="1600" b="1" spc="10" dirty="0">
                <a:latin typeface="Microsoft JhengHei" panose="020B0604030504040204" charset="-120"/>
                <a:cs typeface="Microsoft JhengHei" panose="020B0604030504040204" charset="-120"/>
              </a:rPr>
              <a:t>加</a:t>
            </a:r>
            <a:r>
              <a:rPr sz="1600" b="1" spc="5" dirty="0">
                <a:latin typeface="Microsoft JhengHei" panose="020B0604030504040204" charset="-120"/>
                <a:cs typeface="Microsoft JhengHei" panose="020B0604030504040204" charset="-120"/>
              </a:rPr>
              <a:t>的</a:t>
            </a:r>
            <a:r>
              <a:rPr sz="1600" b="1" dirty="0">
                <a:latin typeface="Times New Roman" panose="02020603050405020304"/>
                <a:cs typeface="Times New Roman" panose="02020603050405020304"/>
              </a:rPr>
              <a:t>D</a:t>
            </a:r>
            <a:r>
              <a:rPr sz="1600" b="1" spc="5" dirty="0">
                <a:latin typeface="Microsoft JhengHei" panose="020B0604030504040204" charset="-120"/>
                <a:cs typeface="Microsoft JhengHei" panose="020B0604030504040204" charset="-120"/>
              </a:rPr>
              <a:t>触</a:t>
            </a:r>
            <a:r>
              <a:rPr sz="1600" b="1" spc="10" dirty="0">
                <a:latin typeface="Microsoft JhengHei" panose="020B0604030504040204" charset="-120"/>
                <a:cs typeface="Microsoft JhengHei" panose="020B0604030504040204" charset="-120"/>
              </a:rPr>
              <a:t>发</a:t>
            </a:r>
            <a:r>
              <a:rPr sz="1600" b="1" spc="5" dirty="0">
                <a:latin typeface="Microsoft JhengHei" panose="020B0604030504040204" charset="-120"/>
                <a:cs typeface="Microsoft JhengHei" panose="020B0604030504040204" charset="-120"/>
              </a:rPr>
              <a:t>器不</a:t>
            </a:r>
            <a:r>
              <a:rPr sz="1600" b="1" spc="10" dirty="0">
                <a:latin typeface="Microsoft JhengHei" panose="020B0604030504040204" charset="-120"/>
                <a:cs typeface="Microsoft JhengHei" panose="020B0604030504040204" charset="-120"/>
              </a:rPr>
              <a:t>影</a:t>
            </a:r>
            <a:r>
              <a:rPr sz="1600" b="1" spc="5" dirty="0">
                <a:latin typeface="Microsoft JhengHei" panose="020B0604030504040204" charset="-120"/>
                <a:cs typeface="Microsoft JhengHei" panose="020B0604030504040204" charset="-120"/>
              </a:rPr>
              <a:t>响</a:t>
            </a:r>
            <a:r>
              <a:rPr sz="1600" b="1" spc="10" dirty="0">
                <a:latin typeface="Microsoft JhengHei" panose="020B0604030504040204" charset="-120"/>
                <a:cs typeface="Microsoft JhengHei" panose="020B0604030504040204" charset="-120"/>
              </a:rPr>
              <a:t>中</a:t>
            </a:r>
            <a:r>
              <a:rPr sz="1600" b="1" spc="5" dirty="0">
                <a:latin typeface="Microsoft JhengHei" panose="020B0604030504040204" charset="-120"/>
                <a:cs typeface="Microsoft JhengHei" panose="020B0604030504040204" charset="-120"/>
              </a:rPr>
              <a:t>断请</a:t>
            </a:r>
            <a:r>
              <a:rPr sz="1600" b="1" spc="10" dirty="0">
                <a:latin typeface="Microsoft JhengHei" panose="020B0604030504040204" charset="-120"/>
                <a:cs typeface="Microsoft JhengHei" panose="020B0604030504040204" charset="-120"/>
              </a:rPr>
              <a:t>求</a:t>
            </a:r>
            <a:r>
              <a:rPr sz="1600" b="1" spc="-5" dirty="0">
                <a:latin typeface="Microsoft JhengHei" panose="020B0604030504040204" charset="-120"/>
                <a:cs typeface="Microsoft JhengHei" panose="020B0604030504040204" charset="-120"/>
              </a:rPr>
              <a:t>。</a:t>
            </a:r>
            <a:endParaRPr sz="1600">
              <a:latin typeface="Microsoft JhengHei" panose="020B0604030504040204" charset="-120"/>
              <a:cs typeface="Microsoft JhengHei" panose="020B0604030504040204" charset="-120"/>
            </a:endParaRPr>
          </a:p>
          <a:p>
            <a:pPr marL="12700" marR="155575" indent="355600">
              <a:lnSpc>
                <a:spcPct val="150000"/>
              </a:lnSpc>
              <a:spcBef>
                <a:spcPts val="480"/>
              </a:spcBef>
            </a:pPr>
            <a:r>
              <a:rPr sz="1600" b="1" spc="-5" dirty="0">
                <a:latin typeface="Microsoft JhengHei" panose="020B0604030504040204" charset="-120"/>
                <a:cs typeface="Microsoft JhengHei" panose="020B0604030504040204" charset="-120"/>
              </a:rPr>
              <a:t>中断</a:t>
            </a:r>
            <a:r>
              <a:rPr sz="1600" b="1" spc="5" dirty="0">
                <a:latin typeface="Microsoft JhengHei" panose="020B0604030504040204" charset="-120"/>
                <a:cs typeface="Microsoft JhengHei" panose="020B0604030504040204" charset="-120"/>
              </a:rPr>
              <a:t>响应后</a:t>
            </a:r>
            <a:r>
              <a:rPr sz="1600" b="1" spc="10" dirty="0">
                <a:latin typeface="Microsoft JhengHei" panose="020B0604030504040204" charset="-120"/>
                <a:cs typeface="Microsoft JhengHei" panose="020B0604030504040204" charset="-120"/>
              </a:rPr>
              <a:t>，</a:t>
            </a:r>
            <a:r>
              <a:rPr sz="1600" b="1" spc="5" dirty="0">
                <a:latin typeface="Microsoft JhengHei" panose="020B0604030504040204" charset="-120"/>
                <a:cs typeface="Microsoft JhengHei" panose="020B0604030504040204" charset="-120"/>
              </a:rPr>
              <a:t>利</a:t>
            </a:r>
            <a:r>
              <a:rPr sz="1600" b="1" spc="20" dirty="0">
                <a:latin typeface="Microsoft JhengHei" panose="020B0604030504040204" charset="-120"/>
                <a:cs typeface="Microsoft JhengHei" panose="020B0604030504040204" charset="-120"/>
              </a:rPr>
              <a:t>用</a:t>
            </a:r>
            <a:r>
              <a:rPr sz="1600" b="1" dirty="0">
                <a:latin typeface="Times New Roman" panose="02020603050405020304"/>
                <a:cs typeface="Times New Roman" panose="02020603050405020304"/>
              </a:rPr>
              <a:t>D</a:t>
            </a:r>
            <a:r>
              <a:rPr sz="1600" b="1" spc="5" dirty="0">
                <a:latin typeface="Microsoft JhengHei" panose="020B0604030504040204" charset="-120"/>
                <a:cs typeface="Microsoft JhengHei" panose="020B0604030504040204" charset="-120"/>
              </a:rPr>
              <a:t>触</a:t>
            </a:r>
            <a:r>
              <a:rPr sz="1600" b="1" spc="10" dirty="0">
                <a:latin typeface="Microsoft JhengHei" panose="020B0604030504040204" charset="-120"/>
                <a:cs typeface="Microsoft JhengHei" panose="020B0604030504040204" charset="-120"/>
              </a:rPr>
              <a:t>发</a:t>
            </a:r>
            <a:r>
              <a:rPr sz="1600" b="1" spc="5" dirty="0">
                <a:latin typeface="Microsoft JhengHei" panose="020B0604030504040204" charset="-120"/>
                <a:cs typeface="Microsoft JhengHei" panose="020B0604030504040204" charset="-120"/>
              </a:rPr>
              <a:t>器</a:t>
            </a:r>
            <a:r>
              <a:rPr sz="1600" b="1" spc="10" dirty="0">
                <a:latin typeface="Microsoft JhengHei" panose="020B0604030504040204" charset="-120"/>
                <a:cs typeface="Microsoft JhengHei" panose="020B0604030504040204" charset="-120"/>
              </a:rPr>
              <a:t>的</a:t>
            </a:r>
            <a:r>
              <a:rPr sz="1600" b="1" dirty="0">
                <a:latin typeface="Times New Roman" panose="02020603050405020304"/>
                <a:cs typeface="Times New Roman" panose="02020603050405020304"/>
              </a:rPr>
              <a:t>SD</a:t>
            </a:r>
            <a:r>
              <a:rPr sz="1600" b="1" spc="5" dirty="0">
                <a:latin typeface="Microsoft JhengHei" panose="020B0604030504040204" charset="-120"/>
                <a:cs typeface="Microsoft JhengHei" panose="020B0604030504040204" charset="-120"/>
              </a:rPr>
              <a:t>端</a:t>
            </a:r>
            <a:r>
              <a:rPr sz="1600" b="1" spc="10" dirty="0">
                <a:latin typeface="Microsoft JhengHei" panose="020B0604030504040204" charset="-120"/>
                <a:cs typeface="Microsoft JhengHei" panose="020B0604030504040204" charset="-120"/>
              </a:rPr>
              <a:t>接</a:t>
            </a:r>
            <a:r>
              <a:rPr sz="1600" b="1" dirty="0">
                <a:latin typeface="Times New Roman" panose="02020603050405020304"/>
                <a:cs typeface="Times New Roman" panose="02020603050405020304"/>
              </a:rPr>
              <a:t>AT89S51</a:t>
            </a:r>
            <a:r>
              <a:rPr sz="1600" b="1" spc="5" dirty="0">
                <a:latin typeface="Microsoft JhengHei" panose="020B0604030504040204" charset="-120"/>
                <a:cs typeface="Microsoft JhengHei" panose="020B0604030504040204" charset="-120"/>
              </a:rPr>
              <a:t>的</a:t>
            </a:r>
            <a:r>
              <a:rPr sz="1600" b="1" dirty="0">
                <a:latin typeface="Times New Roman" panose="02020603050405020304"/>
                <a:cs typeface="Times New Roman" panose="02020603050405020304"/>
              </a:rPr>
              <a:t>P1.0</a:t>
            </a:r>
            <a:r>
              <a:rPr sz="1600" b="1" spc="5" dirty="0">
                <a:latin typeface="Microsoft JhengHei" panose="020B0604030504040204" charset="-120"/>
                <a:cs typeface="Microsoft JhengHei" panose="020B0604030504040204" charset="-120"/>
              </a:rPr>
              <a:t>端。</a:t>
            </a:r>
            <a:r>
              <a:rPr sz="1600" b="1" spc="10" dirty="0">
                <a:latin typeface="Microsoft JhengHei" panose="020B0604030504040204" charset="-120"/>
                <a:cs typeface="Microsoft JhengHei" panose="020B0604030504040204" charset="-120"/>
              </a:rPr>
              <a:t>只要</a:t>
            </a:r>
            <a:r>
              <a:rPr sz="1600" b="1" dirty="0">
                <a:solidFill>
                  <a:srgbClr val="3333CC"/>
                </a:solidFill>
                <a:latin typeface="Times New Roman" panose="02020603050405020304"/>
                <a:cs typeface="Times New Roman" panose="02020603050405020304"/>
              </a:rPr>
              <a:t>P1.0</a:t>
            </a:r>
            <a:r>
              <a:rPr sz="1600" b="1" spc="5" dirty="0">
                <a:solidFill>
                  <a:srgbClr val="3333CC"/>
                </a:solidFill>
                <a:latin typeface="Microsoft JhengHei" panose="020B0604030504040204" charset="-120"/>
                <a:cs typeface="Microsoft JhengHei" panose="020B0604030504040204" charset="-120"/>
              </a:rPr>
              <a:t>端输 </a:t>
            </a:r>
            <a:r>
              <a:rPr sz="1600" b="1" spc="-5" dirty="0">
                <a:solidFill>
                  <a:srgbClr val="3333CC"/>
                </a:solidFill>
                <a:latin typeface="Microsoft JhengHei" panose="020B0604030504040204" charset="-120"/>
                <a:cs typeface="Microsoft JhengHei" panose="020B0604030504040204" charset="-120"/>
              </a:rPr>
              <a:t>出一</a:t>
            </a:r>
            <a:r>
              <a:rPr sz="1600" b="1" spc="5" dirty="0">
                <a:solidFill>
                  <a:srgbClr val="3333CC"/>
                </a:solidFill>
                <a:latin typeface="Microsoft JhengHei" panose="020B0604030504040204" charset="-120"/>
                <a:cs typeface="Microsoft JhengHei" panose="020B0604030504040204" charset="-120"/>
              </a:rPr>
              <a:t>个负脉</a:t>
            </a:r>
            <a:r>
              <a:rPr sz="1600" b="1" spc="10" dirty="0">
                <a:solidFill>
                  <a:srgbClr val="3333CC"/>
                </a:solidFill>
                <a:latin typeface="Microsoft JhengHei" panose="020B0604030504040204" charset="-120"/>
                <a:cs typeface="Microsoft JhengHei" panose="020B0604030504040204" charset="-120"/>
              </a:rPr>
              <a:t>冲</a:t>
            </a:r>
            <a:r>
              <a:rPr sz="1600" b="1" spc="5" dirty="0">
                <a:solidFill>
                  <a:srgbClr val="3333CC"/>
                </a:solidFill>
                <a:latin typeface="Microsoft JhengHei" panose="020B0604030504040204" charset="-120"/>
                <a:cs typeface="Microsoft JhengHei" panose="020B0604030504040204" charset="-120"/>
              </a:rPr>
              <a:t>就可</a:t>
            </a:r>
            <a:r>
              <a:rPr sz="1600" b="1" spc="10" dirty="0">
                <a:solidFill>
                  <a:srgbClr val="3333CC"/>
                </a:solidFill>
                <a:latin typeface="Microsoft JhengHei" panose="020B0604030504040204" charset="-120"/>
                <a:cs typeface="Microsoft JhengHei" panose="020B0604030504040204" charset="-120"/>
              </a:rPr>
              <a:t>以</a:t>
            </a:r>
            <a:r>
              <a:rPr sz="1600" b="1" spc="25" dirty="0">
                <a:solidFill>
                  <a:srgbClr val="3333CC"/>
                </a:solidFill>
                <a:latin typeface="Microsoft JhengHei" panose="020B0604030504040204" charset="-120"/>
                <a:cs typeface="Microsoft JhengHei" panose="020B0604030504040204" charset="-120"/>
              </a:rPr>
              <a:t>使</a:t>
            </a:r>
            <a:r>
              <a:rPr sz="1600" b="1" dirty="0">
                <a:solidFill>
                  <a:srgbClr val="3333CC"/>
                </a:solidFill>
                <a:latin typeface="Times New Roman" panose="02020603050405020304"/>
                <a:cs typeface="Times New Roman" panose="02020603050405020304"/>
              </a:rPr>
              <a:t>D</a:t>
            </a:r>
            <a:r>
              <a:rPr sz="1600" b="1" spc="5" dirty="0">
                <a:solidFill>
                  <a:srgbClr val="3333CC"/>
                </a:solidFill>
                <a:latin typeface="Microsoft JhengHei" panose="020B0604030504040204" charset="-120"/>
                <a:cs typeface="Microsoft JhengHei" panose="020B0604030504040204" charset="-120"/>
              </a:rPr>
              <a:t>触</a:t>
            </a:r>
            <a:r>
              <a:rPr sz="1600" b="1" spc="10" dirty="0">
                <a:solidFill>
                  <a:srgbClr val="3333CC"/>
                </a:solidFill>
                <a:latin typeface="Microsoft JhengHei" panose="020B0604030504040204" charset="-120"/>
                <a:cs typeface="Microsoft JhengHei" panose="020B0604030504040204" charset="-120"/>
              </a:rPr>
              <a:t>发</a:t>
            </a:r>
            <a:r>
              <a:rPr sz="1600" b="1" spc="5" dirty="0">
                <a:solidFill>
                  <a:srgbClr val="3333CC"/>
                </a:solidFill>
                <a:latin typeface="Microsoft JhengHei" panose="020B0604030504040204" charset="-120"/>
                <a:cs typeface="Microsoft JhengHei" panose="020B0604030504040204" charset="-120"/>
              </a:rPr>
              <a:t>器</a:t>
            </a:r>
            <a:r>
              <a:rPr sz="1600" b="1" spc="10" dirty="0">
                <a:solidFill>
                  <a:srgbClr val="3333CC"/>
                </a:solidFill>
                <a:latin typeface="Microsoft JhengHei" panose="020B0604030504040204" charset="-120"/>
                <a:cs typeface="Microsoft JhengHei" panose="020B0604030504040204" charset="-120"/>
              </a:rPr>
              <a:t>置</a:t>
            </a:r>
            <a:r>
              <a:rPr sz="1600" b="1" spc="5" dirty="0">
                <a:solidFill>
                  <a:srgbClr val="3333CC"/>
                </a:solidFill>
                <a:latin typeface="Microsoft JhengHei" panose="020B0604030504040204" charset="-120"/>
                <a:cs typeface="Microsoft JhengHei" panose="020B0604030504040204" charset="-120"/>
              </a:rPr>
              <a:t>“</a:t>
            </a:r>
            <a:r>
              <a:rPr sz="1600" b="1" spc="5" dirty="0">
                <a:solidFill>
                  <a:srgbClr val="3333CC"/>
                </a:solidFill>
                <a:latin typeface="Times New Roman" panose="02020603050405020304"/>
                <a:cs typeface="Times New Roman" panose="02020603050405020304"/>
              </a:rPr>
              <a:t>1</a:t>
            </a:r>
            <a:r>
              <a:rPr sz="1600" b="1" spc="5" dirty="0">
                <a:solidFill>
                  <a:srgbClr val="3333CC"/>
                </a:solidFill>
                <a:latin typeface="Microsoft JhengHei" panose="020B0604030504040204" charset="-120"/>
                <a:cs typeface="Microsoft JhengHei" panose="020B0604030504040204" charset="-120"/>
              </a:rPr>
              <a:t>”，</a:t>
            </a:r>
            <a:r>
              <a:rPr sz="1600" b="1" spc="10" dirty="0">
                <a:latin typeface="Microsoft JhengHei" panose="020B0604030504040204" charset="-120"/>
                <a:cs typeface="Microsoft JhengHei" panose="020B0604030504040204" charset="-120"/>
              </a:rPr>
              <a:t>撤</a:t>
            </a:r>
            <a:r>
              <a:rPr sz="1600" b="1" spc="5" dirty="0">
                <a:latin typeface="Microsoft JhengHei" panose="020B0604030504040204" charset="-120"/>
                <a:cs typeface="Microsoft JhengHei" panose="020B0604030504040204" charset="-120"/>
              </a:rPr>
              <a:t>销</a:t>
            </a:r>
            <a:r>
              <a:rPr sz="1600" b="1" spc="10" dirty="0">
                <a:latin typeface="Microsoft JhengHei" panose="020B0604030504040204" charset="-120"/>
                <a:cs typeface="Microsoft JhengHei" panose="020B0604030504040204" charset="-120"/>
              </a:rPr>
              <a:t>低</a:t>
            </a:r>
            <a:r>
              <a:rPr sz="1600" b="1" spc="5" dirty="0">
                <a:latin typeface="Microsoft JhengHei" panose="020B0604030504040204" charset="-120"/>
                <a:cs typeface="Microsoft JhengHei" panose="020B0604030504040204" charset="-120"/>
              </a:rPr>
              <a:t>电</a:t>
            </a:r>
            <a:r>
              <a:rPr sz="1600" b="1" spc="10" dirty="0">
                <a:latin typeface="Microsoft JhengHei" panose="020B0604030504040204" charset="-120"/>
                <a:cs typeface="Microsoft JhengHei" panose="020B0604030504040204" charset="-120"/>
              </a:rPr>
              <a:t>平</a:t>
            </a:r>
            <a:r>
              <a:rPr sz="1600" b="1" spc="5" dirty="0">
                <a:latin typeface="Microsoft JhengHei" panose="020B0604030504040204" charset="-120"/>
                <a:cs typeface="Microsoft JhengHei" panose="020B0604030504040204" charset="-120"/>
              </a:rPr>
              <a:t>的中</a:t>
            </a:r>
            <a:r>
              <a:rPr sz="1600" b="1" spc="10" dirty="0">
                <a:latin typeface="Microsoft JhengHei" panose="020B0604030504040204" charset="-120"/>
                <a:cs typeface="Microsoft JhengHei" panose="020B0604030504040204" charset="-120"/>
              </a:rPr>
              <a:t>断</a:t>
            </a:r>
            <a:r>
              <a:rPr sz="1600" b="1" spc="5" dirty="0">
                <a:latin typeface="Microsoft JhengHei" panose="020B0604030504040204" charset="-120"/>
                <a:cs typeface="Microsoft JhengHei" panose="020B0604030504040204" charset="-120"/>
              </a:rPr>
              <a:t>请</a:t>
            </a:r>
            <a:r>
              <a:rPr sz="1600" b="1" spc="10" dirty="0">
                <a:latin typeface="Microsoft JhengHei" panose="020B0604030504040204" charset="-120"/>
                <a:cs typeface="Microsoft JhengHei" panose="020B0604030504040204" charset="-120"/>
              </a:rPr>
              <a:t>求</a:t>
            </a:r>
            <a:r>
              <a:rPr sz="1600" b="1" spc="5" dirty="0">
                <a:latin typeface="Microsoft JhengHei" panose="020B0604030504040204" charset="-120"/>
                <a:cs typeface="Microsoft JhengHei" panose="020B0604030504040204" charset="-120"/>
              </a:rPr>
              <a:t>信号</a:t>
            </a:r>
            <a:r>
              <a:rPr sz="1600" b="1" spc="-5" dirty="0">
                <a:latin typeface="Microsoft JhengHei" panose="020B0604030504040204" charset="-120"/>
                <a:cs typeface="Microsoft JhengHei" panose="020B0604030504040204" charset="-120"/>
              </a:rPr>
              <a:t>。</a:t>
            </a:r>
            <a:endParaRPr sz="1600">
              <a:latin typeface="Microsoft JhengHei" panose="020B0604030504040204" charset="-120"/>
              <a:cs typeface="Microsoft JhengHei" panose="020B0604030504040204" charset="-120"/>
            </a:endParaRPr>
          </a:p>
          <a:p>
            <a:pPr marL="368300">
              <a:lnSpc>
                <a:spcPct val="100000"/>
              </a:lnSpc>
              <a:spcBef>
                <a:spcPts val="1680"/>
              </a:spcBef>
            </a:pPr>
            <a:r>
              <a:rPr sz="1600" b="1" spc="-5" dirty="0">
                <a:latin typeface="Microsoft JhengHei" panose="020B0604030504040204" charset="-120"/>
                <a:cs typeface="Microsoft JhengHei" panose="020B0604030504040204" charset="-120"/>
              </a:rPr>
              <a:t>在中</a:t>
            </a:r>
            <a:r>
              <a:rPr sz="1600" b="1" spc="5" dirty="0">
                <a:latin typeface="Microsoft JhengHei" panose="020B0604030504040204" charset="-120"/>
                <a:cs typeface="Microsoft JhengHei" panose="020B0604030504040204" charset="-120"/>
              </a:rPr>
              <a:t>断服务</a:t>
            </a:r>
            <a:r>
              <a:rPr sz="1600" b="1" spc="10" dirty="0">
                <a:latin typeface="Microsoft JhengHei" panose="020B0604030504040204" charset="-120"/>
                <a:cs typeface="Microsoft JhengHei" panose="020B0604030504040204" charset="-120"/>
              </a:rPr>
              <a:t>程</a:t>
            </a:r>
            <a:r>
              <a:rPr sz="1600" b="1" spc="5" dirty="0">
                <a:latin typeface="Microsoft JhengHei" panose="020B0604030504040204" charset="-120"/>
                <a:cs typeface="Microsoft JhengHei" panose="020B0604030504040204" charset="-120"/>
              </a:rPr>
              <a:t>序中</a:t>
            </a:r>
            <a:r>
              <a:rPr sz="1600" b="1" spc="10" dirty="0">
                <a:latin typeface="Microsoft JhengHei" panose="020B0604030504040204" charset="-120"/>
                <a:cs typeface="Microsoft JhengHei" panose="020B0604030504040204" charset="-120"/>
              </a:rPr>
              <a:t>增</a:t>
            </a:r>
            <a:r>
              <a:rPr sz="1600" b="1" spc="5" dirty="0">
                <a:latin typeface="Microsoft JhengHei" panose="020B0604030504040204" charset="-120"/>
                <a:cs typeface="Microsoft JhengHei" panose="020B0604030504040204" charset="-120"/>
              </a:rPr>
              <a:t>加</a:t>
            </a:r>
            <a:r>
              <a:rPr sz="1600" b="1" spc="10" dirty="0">
                <a:latin typeface="Microsoft JhengHei" panose="020B0604030504040204" charset="-120"/>
                <a:cs typeface="Microsoft JhengHei" panose="020B0604030504040204" charset="-120"/>
              </a:rPr>
              <a:t>如</a:t>
            </a:r>
            <a:r>
              <a:rPr sz="1600" b="1" spc="5" dirty="0">
                <a:latin typeface="Microsoft JhengHei" panose="020B0604030504040204" charset="-120"/>
                <a:cs typeface="Microsoft JhengHei" panose="020B0604030504040204" charset="-120"/>
              </a:rPr>
              <a:t>下指</a:t>
            </a:r>
            <a:r>
              <a:rPr sz="1600" b="1" spc="10" dirty="0">
                <a:latin typeface="Microsoft JhengHei" panose="020B0604030504040204" charset="-120"/>
                <a:cs typeface="Microsoft JhengHei" panose="020B0604030504040204" charset="-120"/>
              </a:rPr>
              <a:t>令</a:t>
            </a:r>
            <a:r>
              <a:rPr sz="1600" b="1" spc="5" dirty="0">
                <a:latin typeface="Microsoft JhengHei" panose="020B0604030504040204" charset="-120"/>
                <a:cs typeface="Microsoft JhengHei" panose="020B0604030504040204" charset="-120"/>
              </a:rPr>
              <a:t>产</a:t>
            </a:r>
            <a:r>
              <a:rPr sz="1600" b="1" spc="45" dirty="0">
                <a:latin typeface="Microsoft JhengHei" panose="020B0604030504040204" charset="-120"/>
                <a:cs typeface="Microsoft JhengHei" panose="020B0604030504040204" charset="-120"/>
              </a:rPr>
              <a:t>生</a:t>
            </a:r>
            <a:r>
              <a:rPr sz="1600" b="1" spc="5" dirty="0">
                <a:solidFill>
                  <a:srgbClr val="FF3300"/>
                </a:solidFill>
                <a:latin typeface="Microsoft JhengHei" panose="020B0604030504040204" charset="-120"/>
                <a:cs typeface="Microsoft JhengHei" panose="020B0604030504040204" charset="-120"/>
              </a:rPr>
              <a:t>负</a:t>
            </a:r>
            <a:r>
              <a:rPr sz="1600" b="1" spc="10" dirty="0">
                <a:solidFill>
                  <a:srgbClr val="FF3300"/>
                </a:solidFill>
                <a:latin typeface="Microsoft JhengHei" panose="020B0604030504040204" charset="-120"/>
                <a:cs typeface="Microsoft JhengHei" panose="020B0604030504040204" charset="-120"/>
              </a:rPr>
              <a:t>脉冲</a:t>
            </a:r>
            <a:r>
              <a:rPr sz="1600" b="1" spc="-5" dirty="0">
                <a:latin typeface="Microsoft JhengHei" panose="020B0604030504040204" charset="-120"/>
                <a:cs typeface="Microsoft JhengHei" panose="020B0604030504040204" charset="-120"/>
              </a:rPr>
              <a:t>：</a:t>
            </a:r>
          </a:p>
        </p:txBody>
      </p:sp>
      <p:sp>
        <p:nvSpPr>
          <p:cNvPr id="3" name="object 3"/>
          <p:cNvSpPr txBox="1"/>
          <p:nvPr/>
        </p:nvSpPr>
        <p:spPr>
          <a:xfrm>
            <a:off x="815086" y="3971544"/>
            <a:ext cx="1861185" cy="1065530"/>
          </a:xfrm>
          <a:prstGeom prst="rect">
            <a:avLst/>
          </a:prstGeom>
        </p:spPr>
        <p:txBody>
          <a:bodyPr vert="horz" wrap="square" lIns="0" tIns="17145" rIns="0" bIns="0" rtlCol="0">
            <a:spAutoFit/>
          </a:bodyPr>
          <a:lstStyle/>
          <a:p>
            <a:pPr marL="12700" marR="5080">
              <a:lnSpc>
                <a:spcPct val="142000"/>
              </a:lnSpc>
              <a:spcBef>
                <a:spcPts val="135"/>
              </a:spcBef>
              <a:tabLst>
                <a:tab pos="666115" algn="l"/>
              </a:tabLst>
            </a:pPr>
            <a:r>
              <a:rPr sz="1600" b="1" spc="-5" dirty="0">
                <a:solidFill>
                  <a:srgbClr val="3333CC"/>
                </a:solidFill>
                <a:latin typeface="Times New Roman" panose="02020603050405020304"/>
                <a:cs typeface="Times New Roman" panose="02020603050405020304"/>
              </a:rPr>
              <a:t>ORL	</a:t>
            </a:r>
            <a:r>
              <a:rPr sz="1600" b="1" dirty="0">
                <a:solidFill>
                  <a:srgbClr val="3333CC"/>
                </a:solidFill>
                <a:latin typeface="Times New Roman" panose="02020603050405020304"/>
                <a:cs typeface="Times New Roman" panose="02020603050405020304"/>
              </a:rPr>
              <a:t>P1</a:t>
            </a:r>
            <a:r>
              <a:rPr sz="1600" b="1" dirty="0">
                <a:solidFill>
                  <a:srgbClr val="3333CC"/>
                </a:solidFill>
                <a:latin typeface="Microsoft JhengHei" panose="020B0604030504040204" charset="-120"/>
                <a:cs typeface="Microsoft JhengHei" panose="020B0604030504040204" charset="-120"/>
              </a:rPr>
              <a:t>，</a:t>
            </a:r>
            <a:r>
              <a:rPr sz="1600" b="1" dirty="0">
                <a:solidFill>
                  <a:srgbClr val="3333CC"/>
                </a:solidFill>
                <a:latin typeface="Times New Roman" panose="02020603050405020304"/>
                <a:cs typeface="Times New Roman" panose="02020603050405020304"/>
              </a:rPr>
              <a:t>#01H  ANL	P</a:t>
            </a:r>
            <a:r>
              <a:rPr sz="1600" b="1" spc="-5" dirty="0">
                <a:solidFill>
                  <a:srgbClr val="3333CC"/>
                </a:solidFill>
                <a:latin typeface="Times New Roman" panose="02020603050405020304"/>
                <a:cs typeface="Times New Roman" panose="02020603050405020304"/>
              </a:rPr>
              <a:t>1</a:t>
            </a:r>
            <a:r>
              <a:rPr sz="1600" b="1" spc="5" dirty="0">
                <a:solidFill>
                  <a:srgbClr val="3333CC"/>
                </a:solidFill>
                <a:latin typeface="Microsoft JhengHei" panose="020B0604030504040204" charset="-120"/>
                <a:cs typeface="Microsoft JhengHei" panose="020B0604030504040204" charset="-120"/>
              </a:rPr>
              <a:t>，</a:t>
            </a:r>
            <a:r>
              <a:rPr sz="1600" b="1" dirty="0">
                <a:solidFill>
                  <a:srgbClr val="3333CC"/>
                </a:solidFill>
                <a:latin typeface="Times New Roman" panose="02020603050405020304"/>
                <a:cs typeface="Times New Roman" panose="02020603050405020304"/>
              </a:rPr>
              <a:t>#0FEH  ORL	P1</a:t>
            </a:r>
            <a:r>
              <a:rPr sz="1600" b="1" dirty="0">
                <a:solidFill>
                  <a:srgbClr val="3333CC"/>
                </a:solidFill>
                <a:latin typeface="Microsoft JhengHei" panose="020B0604030504040204" charset="-120"/>
                <a:cs typeface="Microsoft JhengHei" panose="020B0604030504040204" charset="-120"/>
              </a:rPr>
              <a:t>，</a:t>
            </a:r>
            <a:r>
              <a:rPr sz="1600" b="1" dirty="0">
                <a:solidFill>
                  <a:srgbClr val="3333CC"/>
                </a:solidFill>
                <a:latin typeface="Times New Roman" panose="02020603050405020304"/>
                <a:cs typeface="Times New Roman" panose="02020603050405020304"/>
              </a:rPr>
              <a:t>#01H</a:t>
            </a:r>
          </a:p>
        </p:txBody>
      </p:sp>
      <p:sp>
        <p:nvSpPr>
          <p:cNvPr id="4" name="object 4"/>
          <p:cNvSpPr txBox="1"/>
          <p:nvPr/>
        </p:nvSpPr>
        <p:spPr>
          <a:xfrm>
            <a:off x="3021965" y="3953764"/>
            <a:ext cx="1588770" cy="1100455"/>
          </a:xfrm>
          <a:prstGeom prst="rect">
            <a:avLst/>
          </a:prstGeom>
        </p:spPr>
        <p:txBody>
          <a:bodyPr vert="horz" wrap="square" lIns="0" tIns="131445" rIns="0" bIns="0" rtlCol="0">
            <a:spAutoFit/>
          </a:bodyPr>
          <a:lstStyle/>
          <a:p>
            <a:pPr marL="119380">
              <a:lnSpc>
                <a:spcPct val="100000"/>
              </a:lnSpc>
              <a:spcBef>
                <a:spcPts val="1035"/>
              </a:spcBef>
            </a:pPr>
            <a:r>
              <a:rPr sz="1600" b="1" spc="5" dirty="0">
                <a:solidFill>
                  <a:srgbClr val="3333CC"/>
                </a:solidFill>
                <a:latin typeface="Microsoft JhengHei" panose="020B0604030504040204" charset="-120"/>
                <a:cs typeface="Microsoft JhengHei" panose="020B0604030504040204" charset="-120"/>
              </a:rPr>
              <a:t>；</a:t>
            </a:r>
            <a:r>
              <a:rPr sz="1600" b="1" dirty="0">
                <a:solidFill>
                  <a:srgbClr val="3333CC"/>
                </a:solidFill>
                <a:latin typeface="Times New Roman" panose="02020603050405020304"/>
                <a:cs typeface="Times New Roman" panose="02020603050405020304"/>
              </a:rPr>
              <a:t>P1.</a:t>
            </a:r>
            <a:r>
              <a:rPr sz="1600" b="1" spc="-5" dirty="0">
                <a:solidFill>
                  <a:srgbClr val="3333CC"/>
                </a:solidFill>
                <a:latin typeface="Times New Roman" panose="02020603050405020304"/>
                <a:cs typeface="Times New Roman" panose="02020603050405020304"/>
              </a:rPr>
              <a:t>0</a:t>
            </a:r>
            <a:r>
              <a:rPr sz="1600" b="1" spc="5" dirty="0">
                <a:solidFill>
                  <a:srgbClr val="3333CC"/>
                </a:solidFill>
                <a:latin typeface="Microsoft JhengHei" panose="020B0604030504040204" charset="-120"/>
                <a:cs typeface="Microsoft JhengHei" panose="020B0604030504040204" charset="-120"/>
              </a:rPr>
              <a:t>为“</a:t>
            </a:r>
            <a:r>
              <a:rPr sz="1600" b="1" dirty="0">
                <a:solidFill>
                  <a:srgbClr val="3333CC"/>
                </a:solidFill>
                <a:latin typeface="Times New Roman" panose="02020603050405020304"/>
                <a:cs typeface="Times New Roman" panose="02020603050405020304"/>
              </a:rPr>
              <a:t>1</a:t>
            </a:r>
            <a:r>
              <a:rPr sz="1600" b="1" dirty="0">
                <a:solidFill>
                  <a:srgbClr val="3333CC"/>
                </a:solidFill>
                <a:latin typeface="Microsoft JhengHei" panose="020B0604030504040204" charset="-120"/>
                <a:cs typeface="Microsoft JhengHei" panose="020B0604030504040204" charset="-120"/>
              </a:rPr>
              <a:t>”</a:t>
            </a:r>
            <a:endParaRPr sz="1600">
              <a:latin typeface="Microsoft JhengHei" panose="020B0604030504040204" charset="-120"/>
              <a:cs typeface="Microsoft JhengHei" panose="020B0604030504040204" charset="-120"/>
            </a:endParaRPr>
          </a:p>
          <a:p>
            <a:pPr marL="12700">
              <a:lnSpc>
                <a:spcPct val="100000"/>
              </a:lnSpc>
              <a:spcBef>
                <a:spcPts val="935"/>
              </a:spcBef>
            </a:pPr>
            <a:r>
              <a:rPr sz="1600" b="1" dirty="0">
                <a:solidFill>
                  <a:srgbClr val="3333CC"/>
                </a:solidFill>
                <a:latin typeface="Microsoft JhengHei" panose="020B0604030504040204" charset="-120"/>
                <a:cs typeface="Microsoft JhengHei" panose="020B0604030504040204" charset="-120"/>
              </a:rPr>
              <a:t>；</a:t>
            </a:r>
            <a:r>
              <a:rPr sz="1600" b="1" dirty="0">
                <a:solidFill>
                  <a:srgbClr val="3333CC"/>
                </a:solidFill>
                <a:latin typeface="Times New Roman" panose="02020603050405020304"/>
                <a:cs typeface="Times New Roman" panose="02020603050405020304"/>
              </a:rPr>
              <a:t>P1.0</a:t>
            </a:r>
            <a:r>
              <a:rPr sz="1600" b="1" spc="5" dirty="0">
                <a:solidFill>
                  <a:srgbClr val="3333CC"/>
                </a:solidFill>
                <a:latin typeface="Microsoft JhengHei" panose="020B0604030504040204" charset="-120"/>
                <a:cs typeface="Microsoft JhengHei" panose="020B0604030504040204" charset="-120"/>
              </a:rPr>
              <a:t>为</a:t>
            </a:r>
            <a:r>
              <a:rPr sz="1600" b="1" dirty="0">
                <a:solidFill>
                  <a:srgbClr val="3333CC"/>
                </a:solidFill>
                <a:latin typeface="Microsoft JhengHei" panose="020B0604030504040204" charset="-120"/>
                <a:cs typeface="Microsoft JhengHei" panose="020B0604030504040204" charset="-120"/>
              </a:rPr>
              <a:t>“</a:t>
            </a:r>
            <a:r>
              <a:rPr sz="1600" b="1" dirty="0">
                <a:solidFill>
                  <a:srgbClr val="3333CC"/>
                </a:solidFill>
                <a:latin typeface="Times New Roman" panose="02020603050405020304"/>
                <a:cs typeface="Times New Roman" panose="02020603050405020304"/>
              </a:rPr>
              <a:t>0</a:t>
            </a:r>
            <a:r>
              <a:rPr sz="1600" b="1" dirty="0">
                <a:solidFill>
                  <a:srgbClr val="3333CC"/>
                </a:solidFill>
                <a:latin typeface="Microsoft JhengHei" panose="020B0604030504040204" charset="-120"/>
                <a:cs typeface="Microsoft JhengHei" panose="020B0604030504040204" charset="-120"/>
              </a:rPr>
              <a:t>”</a:t>
            </a:r>
            <a:endParaRPr sz="1600">
              <a:latin typeface="Microsoft JhengHei" panose="020B0604030504040204" charset="-120"/>
              <a:cs typeface="Microsoft JhengHei" panose="020B0604030504040204" charset="-120"/>
            </a:endParaRPr>
          </a:p>
          <a:p>
            <a:pPr marL="119380">
              <a:lnSpc>
                <a:spcPct val="100000"/>
              </a:lnSpc>
              <a:spcBef>
                <a:spcPts val="865"/>
              </a:spcBef>
            </a:pPr>
            <a:r>
              <a:rPr sz="1600" b="1" spc="5" dirty="0">
                <a:solidFill>
                  <a:srgbClr val="3333CC"/>
                </a:solidFill>
                <a:latin typeface="Microsoft JhengHei" panose="020B0604030504040204" charset="-120"/>
                <a:cs typeface="Microsoft JhengHei" panose="020B0604030504040204" charset="-120"/>
              </a:rPr>
              <a:t>；</a:t>
            </a:r>
            <a:r>
              <a:rPr sz="1600" b="1" dirty="0">
                <a:solidFill>
                  <a:srgbClr val="3333CC"/>
                </a:solidFill>
                <a:latin typeface="Times New Roman" panose="02020603050405020304"/>
                <a:cs typeface="Times New Roman" panose="02020603050405020304"/>
              </a:rPr>
              <a:t>P1.</a:t>
            </a:r>
            <a:r>
              <a:rPr sz="1600" b="1" spc="-5" dirty="0">
                <a:solidFill>
                  <a:srgbClr val="3333CC"/>
                </a:solidFill>
                <a:latin typeface="Times New Roman" panose="02020603050405020304"/>
                <a:cs typeface="Times New Roman" panose="02020603050405020304"/>
              </a:rPr>
              <a:t>0</a:t>
            </a:r>
            <a:r>
              <a:rPr sz="1600" b="1" spc="5" dirty="0">
                <a:solidFill>
                  <a:srgbClr val="3333CC"/>
                </a:solidFill>
                <a:latin typeface="Microsoft JhengHei" panose="020B0604030504040204" charset="-120"/>
                <a:cs typeface="Microsoft JhengHei" panose="020B0604030504040204" charset="-120"/>
              </a:rPr>
              <a:t>为“</a:t>
            </a:r>
            <a:r>
              <a:rPr sz="1600" b="1" dirty="0">
                <a:solidFill>
                  <a:srgbClr val="3333CC"/>
                </a:solidFill>
                <a:latin typeface="Times New Roman" panose="02020603050405020304"/>
                <a:cs typeface="Times New Roman" panose="02020603050405020304"/>
              </a:rPr>
              <a:t>1</a:t>
            </a:r>
            <a:r>
              <a:rPr sz="1600" b="1" dirty="0">
                <a:solidFill>
                  <a:srgbClr val="3333CC"/>
                </a:solidFill>
                <a:latin typeface="Microsoft JhengHei" panose="020B0604030504040204" charset="-120"/>
                <a:cs typeface="Microsoft JhengHei" panose="020B0604030504040204" charset="-120"/>
              </a:rPr>
              <a:t>”</a:t>
            </a:r>
          </a:p>
        </p:txBody>
      </p:sp>
      <p:sp>
        <p:nvSpPr>
          <p:cNvPr id="5" name="object 5"/>
          <p:cNvSpPr txBox="1">
            <a:spLocks noGrp="1"/>
          </p:cNvSpPr>
          <p:nvPr>
            <p:ph type="title"/>
          </p:nvPr>
        </p:nvSpPr>
        <p:spPr>
          <a:xfrm>
            <a:off x="815086" y="1155192"/>
            <a:ext cx="2517775" cy="452755"/>
          </a:xfrm>
          <a:prstGeom prst="rect">
            <a:avLst/>
          </a:prstGeom>
        </p:spPr>
        <p:txBody>
          <a:bodyPr vert="horz" wrap="square" lIns="0" tIns="12700" rIns="0" bIns="0" rtlCol="0">
            <a:spAutoFit/>
          </a:bodyPr>
          <a:lstStyle/>
          <a:p>
            <a:pPr marL="12700">
              <a:lnSpc>
                <a:spcPct val="100000"/>
              </a:lnSpc>
              <a:spcBef>
                <a:spcPts val="100"/>
              </a:spcBef>
            </a:pPr>
            <a:r>
              <a:rPr dirty="0"/>
              <a:t>中</a:t>
            </a:r>
            <a:r>
              <a:rPr spc="5" dirty="0"/>
              <a:t>断</a:t>
            </a:r>
            <a:r>
              <a:rPr dirty="0"/>
              <a:t>请求的撤销</a:t>
            </a:r>
          </a:p>
        </p:txBody>
      </p:sp>
      <p:sp>
        <p:nvSpPr>
          <p:cNvPr id="7" name="object 2"/>
          <p:cNvSpPr txBox="1">
            <a:spLocks noGrp="1"/>
          </p:cNvSpPr>
          <p:nvPr/>
        </p:nvSpPr>
        <p:spPr>
          <a:xfrm>
            <a:off x="1650365" y="425450"/>
            <a:ext cx="4768215" cy="381635"/>
          </a:xfrm>
          <a:prstGeom prst="rect">
            <a:avLst/>
          </a:prstGeom>
        </p:spPr>
        <p:txBody>
          <a:bodyPr vert="horz" wrap="square" lIns="0" tIns="12700" rIns="0" bIns="0" rtlCol="0">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12700">
              <a:lnSpc>
                <a:spcPct val="100000"/>
              </a:lnSpc>
              <a:spcBef>
                <a:spcPts val="100"/>
              </a:spcBef>
            </a:pPr>
            <a:r>
              <a:rPr lang="en-US" sz="2400" spc="10" dirty="0">
                <a:ea typeface="微软雅黑" panose="020B0503020204020204" charset="-122"/>
              </a:rPr>
              <a:t>§</a:t>
            </a:r>
            <a:r>
              <a:rPr lang="en-US" sz="2400" spc="10" dirty="0"/>
              <a:t>5.4  </a:t>
            </a:r>
            <a:r>
              <a:rPr sz="2400" spc="10" dirty="0"/>
              <a:t>中断响应</a:t>
            </a:r>
            <a:r>
              <a:rPr lang="zh-CN" sz="2400" spc="10" dirty="0"/>
              <a:t>及中断处理过程</a:t>
            </a:r>
            <a:endParaRPr sz="2400"/>
          </a:p>
        </p:txBody>
      </p:sp>
      <p:sp>
        <p:nvSpPr>
          <p:cNvPr id="8" name="灯片编号占位符 7"/>
          <p:cNvSpPr>
            <a:spLocks noGrp="1"/>
          </p:cNvSpPr>
          <p:nvPr>
            <p:ph type="sldNum" sz="quarter" idx="7"/>
          </p:nvPr>
        </p:nvSpPr>
        <p:spPr/>
        <p:txBody>
          <a:bodyPr/>
          <a:lstStyle/>
          <a:p>
            <a:pPr marL="25400">
              <a:lnSpc>
                <a:spcPct val="100000"/>
              </a:lnSpc>
              <a:spcBef>
                <a:spcPts val="185"/>
              </a:spcBef>
            </a:pPr>
            <a:fld id="{81D60167-4931-47E6-BA6A-407CBD079E47}" type="slidenum">
              <a:rPr spc="-5" dirty="0"/>
              <a:t>23</a:t>
            </a:fld>
            <a:endParaRPr spc="-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93185"/>
          <p:cNvSpPr>
            <a:spLocks noGrp="1"/>
          </p:cNvSpPr>
          <p:nvPr>
            <p:ph type="title"/>
          </p:nvPr>
        </p:nvSpPr>
        <p:spPr>
          <a:xfrm>
            <a:off x="774700" y="1129665"/>
            <a:ext cx="6000115" cy="460375"/>
          </a:xfrm>
        </p:spPr>
        <p:txBody>
          <a:bodyPr wrap="square" lIns="46038" tIns="46038" rIns="46038" bIns="46038" anchor="b"/>
          <a:lstStyle/>
          <a:p>
            <a:r>
              <a:rPr lang="en-US" altLang="zh-CN" dirty="0"/>
              <a:t>2.</a:t>
            </a:r>
            <a:r>
              <a:rPr lang="zh-CN" altLang="en-US" dirty="0"/>
              <a:t>中断响应操作过程</a:t>
            </a:r>
            <a:endParaRPr lang="zh-CN" altLang="en-US" sz="2800" b="0">
              <a:solidFill>
                <a:srgbClr val="000000"/>
              </a:solidFill>
              <a:latin typeface="宋体" panose="02010600030101010101" pitchFamily="2" charset="-122"/>
            </a:endParaRPr>
          </a:p>
        </p:txBody>
      </p:sp>
      <p:sp>
        <p:nvSpPr>
          <p:cNvPr id="93187" name="文本占位符 93186"/>
          <p:cNvSpPr>
            <a:spLocks noGrp="1"/>
          </p:cNvSpPr>
          <p:nvPr>
            <p:ph type="body" idx="1"/>
          </p:nvPr>
        </p:nvSpPr>
        <p:spPr>
          <a:xfrm>
            <a:off x="774700" y="1590040"/>
            <a:ext cx="7508875" cy="2414905"/>
          </a:xfrm>
        </p:spPr>
        <p:txBody>
          <a:bodyPr wrap="square" lIns="92075" tIns="46038" rIns="92075" bIns="46038"/>
          <a:lstStyle/>
          <a:p>
            <a:pPr marL="567055" indent="-567055">
              <a:lnSpc>
                <a:spcPct val="140000"/>
              </a:lnSpc>
              <a:buFontTx/>
              <a:buNone/>
            </a:pPr>
            <a:r>
              <a:rPr lang="en-US" altLang="zh-CN" b="1"/>
              <a:t>⑴  </a:t>
            </a:r>
            <a:r>
              <a:rPr lang="zh-CN" altLang="en-US" b="1" dirty="0">
                <a:solidFill>
                  <a:srgbClr val="000099"/>
                </a:solidFill>
              </a:rPr>
              <a:t>把当前</a:t>
            </a:r>
            <a:r>
              <a:rPr lang="en-US" altLang="zh-CN" b="1" dirty="0">
                <a:solidFill>
                  <a:srgbClr val="000099"/>
                </a:solidFill>
              </a:rPr>
              <a:t>PC</a:t>
            </a:r>
            <a:r>
              <a:rPr lang="zh-CN" altLang="en-US" b="1" dirty="0">
                <a:solidFill>
                  <a:srgbClr val="000099"/>
                </a:solidFill>
              </a:rPr>
              <a:t>值压入堆栈，保护断点。</a:t>
            </a:r>
            <a:endParaRPr lang="zh-CN" altLang="en-US" b="1" dirty="0"/>
          </a:p>
          <a:p>
            <a:pPr marL="567055" indent="-567055">
              <a:lnSpc>
                <a:spcPct val="140000"/>
              </a:lnSpc>
              <a:buFontTx/>
              <a:buNone/>
            </a:pPr>
            <a:r>
              <a:rPr lang="en-US" altLang="zh-CN" b="1"/>
              <a:t>⑵  </a:t>
            </a:r>
            <a:r>
              <a:rPr lang="zh-CN" altLang="en-US" b="1" dirty="0">
                <a:solidFill>
                  <a:srgbClr val="D60093"/>
                </a:solidFill>
              </a:rPr>
              <a:t>将相应的中断服务程序的入口地址送入</a:t>
            </a:r>
            <a:r>
              <a:rPr lang="en-US" altLang="zh-CN" b="1">
                <a:solidFill>
                  <a:srgbClr val="D60093"/>
                </a:solidFill>
              </a:rPr>
              <a:t>PC</a:t>
            </a:r>
            <a:r>
              <a:rPr lang="zh-CN" altLang="en-US" b="1">
                <a:solidFill>
                  <a:srgbClr val="D60093"/>
                </a:solidFill>
              </a:rPr>
              <a:t>。</a:t>
            </a:r>
            <a:endParaRPr lang="zh-CN" altLang="en-US" b="1"/>
          </a:p>
          <a:p>
            <a:pPr marL="567055" indent="-567055">
              <a:lnSpc>
                <a:spcPct val="140000"/>
              </a:lnSpc>
              <a:buFontTx/>
              <a:buNone/>
            </a:pPr>
            <a:r>
              <a:rPr lang="en-US" altLang="zh-CN" b="1"/>
              <a:t>⑶  </a:t>
            </a:r>
            <a:r>
              <a:rPr lang="zh-CN" altLang="en-US" b="1" dirty="0">
                <a:solidFill>
                  <a:srgbClr val="660066"/>
                </a:solidFill>
              </a:rPr>
              <a:t>对有些中断源，</a:t>
            </a:r>
            <a:r>
              <a:rPr lang="en-US" altLang="zh-CN" b="1" dirty="0">
                <a:solidFill>
                  <a:srgbClr val="660066"/>
                </a:solidFill>
              </a:rPr>
              <a:t>CPU</a:t>
            </a:r>
            <a:r>
              <a:rPr lang="zh-CN" altLang="en-US" b="1" dirty="0">
                <a:solidFill>
                  <a:srgbClr val="660066"/>
                </a:solidFill>
              </a:rPr>
              <a:t>会自动清除中断标志。</a:t>
            </a:r>
            <a:endParaRPr lang="zh-CN" altLang="en-US" b="1" dirty="0"/>
          </a:p>
          <a:p>
            <a:pPr marL="567055" indent="-567055">
              <a:lnSpc>
                <a:spcPct val="140000"/>
              </a:lnSpc>
              <a:buFontTx/>
              <a:buNone/>
            </a:pPr>
            <a:r>
              <a:rPr lang="en-US" altLang="zh-CN" b="1"/>
              <a:t>⑷  </a:t>
            </a:r>
            <a:r>
              <a:rPr lang="zh-CN" altLang="en-US" b="1" dirty="0">
                <a:solidFill>
                  <a:srgbClr val="FF5050"/>
                </a:solidFill>
              </a:rPr>
              <a:t>执行中断服务程序。</a:t>
            </a:r>
            <a:endParaRPr lang="zh-CN" altLang="en-US" b="1" dirty="0"/>
          </a:p>
          <a:p>
            <a:pPr marL="567055" indent="-567055">
              <a:lnSpc>
                <a:spcPct val="140000"/>
              </a:lnSpc>
              <a:buFontTx/>
              <a:buNone/>
            </a:pPr>
            <a:r>
              <a:rPr lang="en-US" altLang="zh-CN" b="1"/>
              <a:t>⑸  </a:t>
            </a:r>
            <a:r>
              <a:rPr lang="zh-CN" altLang="en-US" b="1" dirty="0">
                <a:solidFill>
                  <a:srgbClr val="666633"/>
                </a:solidFill>
              </a:rPr>
              <a:t>执行到返回指令</a:t>
            </a:r>
            <a:r>
              <a:rPr lang="en-US" altLang="zh-CN" b="1" dirty="0">
                <a:solidFill>
                  <a:srgbClr val="666633"/>
                </a:solidFill>
              </a:rPr>
              <a:t>RETI</a:t>
            </a:r>
            <a:r>
              <a:rPr lang="zh-CN" altLang="en-US" b="1" dirty="0">
                <a:solidFill>
                  <a:srgbClr val="666633"/>
                </a:solidFill>
              </a:rPr>
              <a:t>，中断服务程序结束，将堆栈内容弹出到</a:t>
            </a:r>
            <a:r>
              <a:rPr lang="en-US" altLang="zh-CN" b="1" dirty="0">
                <a:solidFill>
                  <a:srgbClr val="666633"/>
                </a:solidFill>
              </a:rPr>
              <a:t>PC</a:t>
            </a:r>
            <a:r>
              <a:rPr lang="zh-CN" altLang="en-US" b="1" dirty="0">
                <a:solidFill>
                  <a:srgbClr val="666633"/>
                </a:solidFill>
              </a:rPr>
              <a:t>，返回到原来断点继续执行。</a:t>
            </a:r>
            <a:endParaRPr lang="zh-CN" altLang="en-US" b="1"/>
          </a:p>
        </p:txBody>
      </p:sp>
      <p:sp>
        <p:nvSpPr>
          <p:cNvPr id="92163" name="文本占位符 92162"/>
          <p:cNvSpPr>
            <a:spLocks noGrp="1"/>
          </p:cNvSpPr>
          <p:nvPr/>
        </p:nvSpPr>
        <p:spPr>
          <a:xfrm>
            <a:off x="808355" y="4161155"/>
            <a:ext cx="4337050" cy="2155825"/>
          </a:xfrm>
          <a:prstGeom prst="rect">
            <a:avLst/>
          </a:prstGeom>
        </p:spPr>
        <p:txBody>
          <a:bodyPr wrap="square" lIns="92075" tIns="46038" rIns="92075" bIns="46038">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fontAlgn="auto">
              <a:lnSpc>
                <a:spcPct val="120000"/>
              </a:lnSpc>
            </a:pPr>
            <a:r>
              <a:rPr lang="en-US" altLang="zh-CN" sz="1600" b="1" dirty="0">
                <a:solidFill>
                  <a:srgbClr val="D60093"/>
                </a:solidFill>
                <a:latin typeface="宋体" panose="02010600030101010101" pitchFamily="2" charset="-122"/>
                <a:ea typeface="宋体" panose="02010600030101010101" pitchFamily="2" charset="-122"/>
                <a:cs typeface="宋体" panose="02010600030101010101" pitchFamily="2" charset="-122"/>
              </a:rPr>
              <a:t>CPU</a:t>
            </a:r>
            <a:r>
              <a:rPr lang="zh-CN" altLang="en-US" sz="1600" b="1" dirty="0">
                <a:solidFill>
                  <a:srgbClr val="D60093"/>
                </a:solidFill>
                <a:latin typeface="宋体" panose="02010600030101010101" pitchFamily="2" charset="-122"/>
                <a:ea typeface="宋体" panose="02010600030101010101" pitchFamily="2" charset="-122"/>
                <a:cs typeface="宋体" panose="02010600030101010101" pitchFamily="2" charset="-122"/>
              </a:rPr>
              <a:t>不是在任何情况下都对中断请求予以响应，而不同的情况下对中断响应的时间是不同的。</a:t>
            </a:r>
          </a:p>
          <a:p>
            <a:pPr fontAlgn="auto">
              <a:lnSpc>
                <a:spcPct val="120000"/>
              </a:lnSpc>
            </a:pPr>
            <a:r>
              <a:rPr lang="zh-CN" altLang="en-US" sz="1600" b="1" dirty="0">
                <a:solidFill>
                  <a:srgbClr val="FF7C80"/>
                </a:solidFill>
                <a:latin typeface="宋体" panose="02010600030101010101" pitchFamily="2" charset="-122"/>
                <a:ea typeface="宋体" panose="02010600030101010101" pitchFamily="2" charset="-122"/>
                <a:cs typeface="宋体" panose="02010600030101010101" pitchFamily="2" charset="-122"/>
              </a:rPr>
              <a:t>对于顺利的中断响应，其最短的响应时间为</a:t>
            </a:r>
            <a:r>
              <a:rPr lang="en-US" altLang="zh-CN" sz="1600" b="1" dirty="0">
                <a:solidFill>
                  <a:srgbClr val="FF7C80"/>
                </a:solidFill>
                <a:latin typeface="宋体" panose="02010600030101010101" pitchFamily="2" charset="-122"/>
                <a:ea typeface="宋体" panose="02010600030101010101" pitchFamily="2" charset="-122"/>
                <a:cs typeface="宋体" panose="02010600030101010101" pitchFamily="2" charset="-122"/>
              </a:rPr>
              <a:t>3</a:t>
            </a:r>
            <a:r>
              <a:rPr lang="zh-CN" altLang="en-US" sz="1600" b="1" dirty="0">
                <a:solidFill>
                  <a:srgbClr val="FF7C80"/>
                </a:solidFill>
                <a:latin typeface="宋体" panose="02010600030101010101" pitchFamily="2" charset="-122"/>
                <a:ea typeface="宋体" panose="02010600030101010101" pitchFamily="2" charset="-122"/>
                <a:cs typeface="宋体" panose="02010600030101010101" pitchFamily="2" charset="-122"/>
              </a:rPr>
              <a:t>个机器周期。</a:t>
            </a:r>
            <a:endParaRPr lang="zh-CN" altLang="en-US" sz="1600" b="1" dirty="0">
              <a:latin typeface="宋体" panose="02010600030101010101" pitchFamily="2" charset="-122"/>
              <a:ea typeface="宋体" panose="02010600030101010101" pitchFamily="2" charset="-122"/>
              <a:cs typeface="宋体" panose="02010600030101010101" pitchFamily="2" charset="-122"/>
            </a:endParaRPr>
          </a:p>
          <a:p>
            <a:pPr fontAlgn="auto">
              <a:lnSpc>
                <a:spcPct val="120000"/>
              </a:lnSpc>
            </a:pPr>
            <a:r>
              <a:rPr lang="zh-CN" altLang="en-US" sz="1600" b="1" dirty="0">
                <a:solidFill>
                  <a:srgbClr val="660066"/>
                </a:solidFill>
                <a:latin typeface="宋体" panose="02010600030101010101" pitchFamily="2" charset="-122"/>
                <a:ea typeface="宋体" panose="02010600030101010101" pitchFamily="2" charset="-122"/>
                <a:cs typeface="宋体" panose="02010600030101010101" pitchFamily="2" charset="-122"/>
              </a:rPr>
              <a:t>对于受阻的中断响应，则响应时间会更长一些。</a:t>
            </a:r>
            <a:endParaRPr lang="zh-CN" altLang="en-US" sz="1600" b="1" dirty="0">
              <a:latin typeface="宋体" panose="02010600030101010101" pitchFamily="2" charset="-122"/>
              <a:ea typeface="宋体" panose="02010600030101010101" pitchFamily="2" charset="-122"/>
              <a:cs typeface="宋体" panose="02010600030101010101" pitchFamily="2" charset="-122"/>
            </a:endParaRPr>
          </a:p>
          <a:p>
            <a:pPr fontAlgn="auto">
              <a:lnSpc>
                <a:spcPct val="120000"/>
              </a:lnSpc>
            </a:pPr>
            <a:r>
              <a:rPr lang="zh-CN" altLang="en-US" sz="1600" b="1" dirty="0">
                <a:solidFill>
                  <a:schemeClr val="hlink"/>
                </a:solidFill>
                <a:latin typeface="宋体" panose="02010600030101010101" pitchFamily="2" charset="-122"/>
                <a:ea typeface="宋体" panose="02010600030101010101" pitchFamily="2" charset="-122"/>
                <a:cs typeface="宋体" panose="02010600030101010101" pitchFamily="2" charset="-122"/>
              </a:rPr>
              <a:t>若中断系统只有一个中断源，则响应时间为</a:t>
            </a:r>
            <a:r>
              <a:rPr lang="en-US" altLang="zh-CN" sz="1600" b="1">
                <a:solidFill>
                  <a:schemeClr val="hlink"/>
                </a:solidFill>
                <a:latin typeface="宋体" panose="02010600030101010101" pitchFamily="2" charset="-122"/>
                <a:ea typeface="宋体" panose="02010600030101010101" pitchFamily="2" charset="-122"/>
                <a:cs typeface="宋体" panose="02010600030101010101" pitchFamily="2" charset="-122"/>
              </a:rPr>
              <a:t>3</a:t>
            </a:r>
            <a:r>
              <a:rPr lang="zh-CN" altLang="en-US" sz="1600" b="1">
                <a:solidFill>
                  <a:schemeClr val="hlink"/>
                </a:solidFill>
                <a:latin typeface="宋体" panose="02010600030101010101" pitchFamily="2" charset="-122"/>
                <a:ea typeface="宋体" panose="02010600030101010101" pitchFamily="2" charset="-122"/>
                <a:cs typeface="宋体" panose="02010600030101010101" pitchFamily="2" charset="-122"/>
              </a:rPr>
              <a:t>～</a:t>
            </a:r>
            <a:r>
              <a:rPr lang="en-US" altLang="zh-CN" sz="1600" b="1" dirty="0">
                <a:solidFill>
                  <a:schemeClr val="hlink"/>
                </a:solidFill>
                <a:latin typeface="宋体" panose="02010600030101010101" pitchFamily="2" charset="-122"/>
                <a:ea typeface="宋体" panose="02010600030101010101" pitchFamily="2" charset="-122"/>
                <a:cs typeface="宋体" panose="02010600030101010101" pitchFamily="2" charset="-122"/>
              </a:rPr>
              <a:t>8</a:t>
            </a:r>
            <a:r>
              <a:rPr lang="zh-CN" altLang="en-US" sz="1600" b="1" dirty="0">
                <a:solidFill>
                  <a:schemeClr val="hlink"/>
                </a:solidFill>
                <a:latin typeface="宋体" panose="02010600030101010101" pitchFamily="2" charset="-122"/>
                <a:ea typeface="宋体" panose="02010600030101010101" pitchFamily="2" charset="-122"/>
                <a:cs typeface="宋体" panose="02010600030101010101" pitchFamily="2" charset="-122"/>
              </a:rPr>
              <a:t>个机器周期之间。</a:t>
            </a:r>
          </a:p>
        </p:txBody>
      </p:sp>
      <p:graphicFrame>
        <p:nvGraphicFramePr>
          <p:cNvPr id="94212" name="对象 94211"/>
          <p:cNvGraphicFramePr>
            <a:graphicFrameLocks noGrp="1"/>
          </p:cNvGraphicFramePr>
          <p:nvPr/>
        </p:nvGraphicFramePr>
        <p:xfrm>
          <a:off x="5102860" y="4194175"/>
          <a:ext cx="3805555" cy="1798320"/>
        </p:xfrm>
        <a:graphic>
          <a:graphicData uri="http://schemas.openxmlformats.org/presentationml/2006/ole">
            <mc:AlternateContent xmlns:mc="http://schemas.openxmlformats.org/markup-compatibility/2006">
              <mc:Choice xmlns:v="urn:schemas-microsoft-com:vml" Requires="v">
                <p:oleObj r:id="rId2" imgW="7940040" imgH="3657600" progId="Word.Document.8">
                  <p:embed/>
                </p:oleObj>
              </mc:Choice>
              <mc:Fallback>
                <p:oleObj r:id="rId2" imgW="7940040" imgH="3657600" progId="Word.Document.8">
                  <p:embed/>
                  <p:pic>
                    <p:nvPicPr>
                      <p:cNvPr id="0" name="图片 3075"/>
                      <p:cNvPicPr/>
                      <p:nvPr/>
                    </p:nvPicPr>
                    <p:blipFill>
                      <a:blip r:embed="rId3"/>
                      <a:stretch>
                        <a:fillRect/>
                      </a:stretch>
                    </p:blipFill>
                    <p:spPr>
                      <a:xfrm>
                        <a:off x="5102860" y="4194175"/>
                        <a:ext cx="3805555" cy="1798320"/>
                      </a:xfrm>
                      <a:prstGeom prst="rect">
                        <a:avLst/>
                      </a:prstGeom>
                      <a:noFill/>
                      <a:ln w="38100">
                        <a:miter/>
                      </a:ln>
                    </p:spPr>
                  </p:pic>
                </p:oleObj>
              </mc:Fallback>
            </mc:AlternateContent>
          </a:graphicData>
        </a:graphic>
      </p:graphicFrame>
      <p:sp>
        <p:nvSpPr>
          <p:cNvPr id="6" name="object 2"/>
          <p:cNvSpPr txBox="1">
            <a:spLocks noGrp="1"/>
          </p:cNvSpPr>
          <p:nvPr/>
        </p:nvSpPr>
        <p:spPr>
          <a:xfrm>
            <a:off x="1650365" y="425450"/>
            <a:ext cx="4768215" cy="381635"/>
          </a:xfrm>
          <a:prstGeom prst="rect">
            <a:avLst/>
          </a:prstGeom>
        </p:spPr>
        <p:txBody>
          <a:bodyPr vert="horz" wrap="square" lIns="0" tIns="12700" rIns="0" bIns="0" rtlCol="0">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12700">
              <a:lnSpc>
                <a:spcPct val="100000"/>
              </a:lnSpc>
              <a:spcBef>
                <a:spcPts val="100"/>
              </a:spcBef>
            </a:pPr>
            <a:r>
              <a:rPr lang="en-US" sz="2400" spc="10" dirty="0">
                <a:ea typeface="微软雅黑" panose="020B0503020204020204" charset="-122"/>
              </a:rPr>
              <a:t>§</a:t>
            </a:r>
            <a:r>
              <a:rPr lang="en-US" sz="2400" spc="10" dirty="0"/>
              <a:t>5.4</a:t>
            </a:r>
            <a:r>
              <a:rPr lang="en-US" altLang="zh-CN" sz="2400" spc="10" dirty="0"/>
              <a:t>.1</a:t>
            </a:r>
            <a:r>
              <a:rPr lang="en-US" sz="2400" spc="10" dirty="0"/>
              <a:t>  </a:t>
            </a:r>
            <a:r>
              <a:rPr sz="2400" spc="10" dirty="0"/>
              <a:t>中断响应</a:t>
            </a:r>
            <a:r>
              <a:rPr lang="zh-CN" sz="2400" spc="10" dirty="0"/>
              <a:t>及中断处理过程</a:t>
            </a:r>
            <a:endParaRPr sz="2400"/>
          </a:p>
        </p:txBody>
      </p:sp>
      <p:sp>
        <p:nvSpPr>
          <p:cNvPr id="3" name="灯片编号占位符 2"/>
          <p:cNvSpPr>
            <a:spLocks noGrp="1"/>
          </p:cNvSpPr>
          <p:nvPr>
            <p:ph type="sldNum" sz="quarter" idx="7"/>
          </p:nvPr>
        </p:nvSpPr>
        <p:spPr/>
        <p:txBody>
          <a:bodyPr/>
          <a:lstStyle/>
          <a:p>
            <a:pPr marL="25400">
              <a:lnSpc>
                <a:spcPct val="100000"/>
              </a:lnSpc>
              <a:spcBef>
                <a:spcPts val="185"/>
              </a:spcBef>
            </a:pPr>
            <a:fld id="{81D60167-4931-47E6-BA6A-407CBD079E47}" type="slidenum">
              <a:rPr spc="-5" dirty="0"/>
              <a:t>24</a:t>
            </a:fld>
            <a:endParaRPr spc="-5" dirty="0"/>
          </a:p>
        </p:txBody>
      </p:sp>
    </p:spTree>
  </p:cSld>
  <p:clrMapOvr>
    <a:masterClrMapping/>
  </p:clrMapOvr>
  <p:transition advClick="0">
    <p:cut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99329"/>
          <p:cNvSpPr>
            <a:spLocks noGrp="1"/>
          </p:cNvSpPr>
          <p:nvPr>
            <p:ph type="title"/>
          </p:nvPr>
        </p:nvSpPr>
        <p:spPr>
          <a:xfrm>
            <a:off x="1498600" y="187960"/>
            <a:ext cx="4662805" cy="460375"/>
          </a:xfrm>
        </p:spPr>
        <p:txBody>
          <a:bodyPr wrap="square" lIns="46038" tIns="46038" rIns="46038" bIns="46038" anchor="b"/>
          <a:lstStyle/>
          <a:p>
            <a:r>
              <a:rPr lang="en-US" altLang="zh-CN" dirty="0"/>
              <a:t>5.4.2 </a:t>
            </a:r>
            <a:r>
              <a:rPr lang="zh-CN" altLang="en-US" dirty="0"/>
              <a:t>中断处理包括的内容</a:t>
            </a:r>
            <a:endParaRPr lang="zh-CN" altLang="en-US"/>
          </a:p>
        </p:txBody>
      </p:sp>
      <p:sp>
        <p:nvSpPr>
          <p:cNvPr id="99332" name="文本占位符 99331"/>
          <p:cNvSpPr>
            <a:spLocks noGrp="1"/>
          </p:cNvSpPr>
          <p:nvPr>
            <p:ph type="body" idx="1"/>
          </p:nvPr>
        </p:nvSpPr>
        <p:spPr>
          <a:xfrm>
            <a:off x="304800" y="1143000"/>
            <a:ext cx="8270875" cy="2416810"/>
          </a:xfrm>
        </p:spPr>
        <p:txBody>
          <a:bodyPr lIns="92075" tIns="46038" rIns="92075" bIns="46038"/>
          <a:lstStyle/>
          <a:p>
            <a:pPr>
              <a:lnSpc>
                <a:spcPct val="120000"/>
              </a:lnSpc>
            </a:pPr>
            <a:r>
              <a:rPr lang="zh-CN" altLang="en-US" sz="1800" b="1" dirty="0">
                <a:solidFill>
                  <a:srgbClr val="000099"/>
                </a:solidFill>
              </a:rPr>
              <a:t>不同的中断源服务的内容及要求各不相同，其处理过程也就有所区别。一般情况，中断处理包括两部分内容：</a:t>
            </a:r>
          </a:p>
          <a:p>
            <a:pPr>
              <a:lnSpc>
                <a:spcPct val="160000"/>
              </a:lnSpc>
            </a:pPr>
            <a:r>
              <a:rPr lang="en-US" altLang="zh-CN" sz="1800" b="1" dirty="0">
                <a:solidFill>
                  <a:srgbClr val="CC3300"/>
                </a:solidFill>
              </a:rPr>
              <a:t>1</a:t>
            </a:r>
            <a:r>
              <a:rPr lang="zh-CN" altLang="en-US" sz="1800" b="1" dirty="0">
                <a:solidFill>
                  <a:srgbClr val="CC3300"/>
                </a:solidFill>
              </a:rPr>
              <a:t>、保护现场：</a:t>
            </a:r>
            <a:r>
              <a:rPr lang="zh-CN" altLang="en-US" sz="1800" dirty="0"/>
              <a:t>如在中断服务程序中要用到	</a:t>
            </a:r>
            <a:r>
              <a:rPr lang="en-US" altLang="zh-CN" sz="1800" dirty="0"/>
              <a:t>PSW</a:t>
            </a:r>
            <a:r>
              <a:rPr lang="zh-CN" altLang="en-US" sz="1800" dirty="0"/>
              <a:t>、工作寄存器和</a:t>
            </a:r>
            <a:r>
              <a:rPr lang="en-US" altLang="zh-CN" sz="1800" dirty="0"/>
              <a:t>SFR</a:t>
            </a:r>
            <a:r>
              <a:rPr lang="zh-CN" altLang="en-US" sz="1800" dirty="0"/>
              <a:t>等寄存器时，则在进入中断服务之前应将它们的内容保护起来，在中断结束、执行</a:t>
            </a:r>
            <a:r>
              <a:rPr lang="en-US" altLang="zh-CN" sz="1800" dirty="0"/>
              <a:t>RETI</a:t>
            </a:r>
            <a:r>
              <a:rPr lang="zh-CN" altLang="en-US" sz="1800" dirty="0"/>
              <a:t>指令前应恢复现场。</a:t>
            </a:r>
          </a:p>
          <a:p>
            <a:pPr>
              <a:lnSpc>
                <a:spcPct val="120000"/>
              </a:lnSpc>
            </a:pPr>
            <a:r>
              <a:rPr lang="en-US" altLang="zh-CN" sz="1800" b="1" dirty="0">
                <a:solidFill>
                  <a:srgbClr val="CC3300"/>
                </a:solidFill>
              </a:rPr>
              <a:t>2</a:t>
            </a:r>
            <a:r>
              <a:rPr lang="zh-CN" altLang="en-US" sz="1800" b="1" dirty="0">
                <a:solidFill>
                  <a:srgbClr val="CC3300"/>
                </a:solidFill>
              </a:rPr>
              <a:t>、为中断源服务：</a:t>
            </a:r>
            <a:r>
              <a:rPr lang="zh-CN" altLang="en-US" sz="1800" dirty="0"/>
              <a:t>针对中断源的具体要求进行相应的处理。</a:t>
            </a:r>
          </a:p>
        </p:txBody>
      </p:sp>
      <p:sp>
        <p:nvSpPr>
          <p:cNvPr id="97282" name="标题 97281"/>
          <p:cNvSpPr>
            <a:spLocks noGrp="1"/>
          </p:cNvSpPr>
          <p:nvPr/>
        </p:nvSpPr>
        <p:spPr>
          <a:xfrm>
            <a:off x="457200" y="3570605"/>
            <a:ext cx="5478145" cy="368300"/>
          </a:xfrm>
          <a:prstGeom prst="rect">
            <a:avLst/>
          </a:prstGeom>
        </p:spPr>
        <p:txBody>
          <a:bodyPr wrap="square" lIns="46038" tIns="46038" rIns="46038" bIns="46038" anchor="b">
            <a:spAutoFit/>
          </a:bodyPr>
          <a:lstStyle>
            <a:lvl1pPr>
              <a:defRPr sz="2400" b="1" i="0">
                <a:solidFill>
                  <a:srgbClr val="252525"/>
                </a:solidFill>
                <a:latin typeface="微软雅黑" panose="020B0503020204020204" charset="-122"/>
                <a:ea typeface="+mj-ea"/>
                <a:cs typeface="微软雅黑" panose="020B0503020204020204" charset="-122"/>
              </a:defRPr>
            </a:lvl1pPr>
          </a:lstStyle>
          <a:p>
            <a:r>
              <a:rPr lang="zh-CN" altLang="en-US" sz="1800" dirty="0">
                <a:solidFill>
                  <a:srgbClr val="0000FF"/>
                </a:solidFill>
              </a:rPr>
              <a:t>编写中断服务程序时的注意问题</a:t>
            </a:r>
            <a:endParaRPr lang="zh-CN" altLang="en-US" sz="1800" b="0" dirty="0">
              <a:solidFill>
                <a:srgbClr val="0000FF"/>
              </a:solidFill>
              <a:latin typeface="宋体" panose="02010600030101010101" pitchFamily="2" charset="-122"/>
            </a:endParaRPr>
          </a:p>
        </p:txBody>
      </p:sp>
      <p:sp>
        <p:nvSpPr>
          <p:cNvPr id="97283" name="文本占位符 97282"/>
          <p:cNvSpPr>
            <a:spLocks noGrp="1"/>
          </p:cNvSpPr>
          <p:nvPr/>
        </p:nvSpPr>
        <p:spPr>
          <a:xfrm>
            <a:off x="379730" y="4002405"/>
            <a:ext cx="8229600" cy="2414905"/>
          </a:xfrm>
          <a:prstGeom prst="rect">
            <a:avLst/>
          </a:prstGeom>
        </p:spPr>
        <p:txBody>
          <a:bodyPr wrap="square" lIns="92075" tIns="46038" rIns="92075" bIns="46038">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40000"/>
              </a:lnSpc>
              <a:buNone/>
            </a:pPr>
            <a:r>
              <a:rPr lang="en-US" altLang="zh-CN" dirty="0">
                <a:solidFill>
                  <a:srgbClr val="000099"/>
                </a:solidFill>
              </a:rPr>
              <a:t>①</a:t>
            </a:r>
            <a:r>
              <a:rPr lang="zh-CN" altLang="en-US" dirty="0">
                <a:solidFill>
                  <a:srgbClr val="000099"/>
                </a:solidFill>
              </a:rPr>
              <a:t>在中断矢量地址单元处放一条无条件转移指令，使中断服务程序可灵活地安排在</a:t>
            </a:r>
            <a:r>
              <a:rPr lang="en-US" altLang="zh-CN" dirty="0">
                <a:solidFill>
                  <a:srgbClr val="000099"/>
                </a:solidFill>
              </a:rPr>
              <a:t>64KB  ROM</a:t>
            </a:r>
            <a:r>
              <a:rPr lang="zh-CN" altLang="en-US" dirty="0">
                <a:solidFill>
                  <a:srgbClr val="000099"/>
                </a:solidFill>
              </a:rPr>
              <a:t>的任何空间。</a:t>
            </a:r>
            <a:endParaRPr lang="zh-CN" altLang="en-US" dirty="0"/>
          </a:p>
          <a:p>
            <a:pPr>
              <a:lnSpc>
                <a:spcPct val="140000"/>
              </a:lnSpc>
              <a:buNone/>
            </a:pPr>
            <a:r>
              <a:rPr lang="en-US" altLang="zh-CN" dirty="0">
                <a:solidFill>
                  <a:srgbClr val="D60093"/>
                </a:solidFill>
              </a:rPr>
              <a:t>②</a:t>
            </a:r>
            <a:r>
              <a:rPr lang="zh-CN" altLang="en-US" dirty="0">
                <a:solidFill>
                  <a:srgbClr val="D60093"/>
                </a:solidFill>
              </a:rPr>
              <a:t>在中断服务程序中，应注意用软件保护现场，以免中断返回后丢失原来寄存器、累加器中的信息。</a:t>
            </a:r>
          </a:p>
          <a:p>
            <a:pPr>
              <a:lnSpc>
                <a:spcPct val="140000"/>
              </a:lnSpc>
              <a:buNone/>
            </a:pPr>
            <a:r>
              <a:rPr lang="en-US" altLang="zh-CN" dirty="0">
                <a:solidFill>
                  <a:srgbClr val="660066"/>
                </a:solidFill>
              </a:rPr>
              <a:t>③</a:t>
            </a:r>
            <a:r>
              <a:rPr lang="zh-CN" altLang="en-US" dirty="0">
                <a:solidFill>
                  <a:srgbClr val="660066"/>
                </a:solidFill>
              </a:rPr>
              <a:t>若要在执行当前中断程序时禁止更高优先级中断，可以先用软件关闭</a:t>
            </a:r>
            <a:r>
              <a:rPr lang="en-US" altLang="zh-CN" dirty="0">
                <a:solidFill>
                  <a:srgbClr val="660066"/>
                </a:solidFill>
              </a:rPr>
              <a:t>CPU</a:t>
            </a:r>
            <a:r>
              <a:rPr lang="zh-CN" altLang="en-US" dirty="0">
                <a:solidFill>
                  <a:srgbClr val="660066"/>
                </a:solidFill>
              </a:rPr>
              <a:t>中断或禁止某中断源中断，在中断返回前再开放中断。</a:t>
            </a:r>
          </a:p>
        </p:txBody>
      </p:sp>
      <p:sp>
        <p:nvSpPr>
          <p:cNvPr id="3" name="灯片编号占位符 2"/>
          <p:cNvSpPr>
            <a:spLocks noGrp="1"/>
          </p:cNvSpPr>
          <p:nvPr>
            <p:ph type="sldNum" sz="quarter" idx="7"/>
          </p:nvPr>
        </p:nvSpPr>
        <p:spPr/>
        <p:txBody>
          <a:bodyPr/>
          <a:lstStyle/>
          <a:p>
            <a:pPr marL="25400">
              <a:lnSpc>
                <a:spcPct val="100000"/>
              </a:lnSpc>
              <a:spcBef>
                <a:spcPts val="185"/>
              </a:spcBef>
            </a:pPr>
            <a:fld id="{81D60167-4931-47E6-BA6A-407CBD079E47}" type="slidenum">
              <a:rPr spc="-5" dirty="0"/>
              <a:t>25</a:t>
            </a:fld>
            <a:endParaRPr spc="-5" dirty="0"/>
          </a:p>
        </p:txBody>
      </p:sp>
    </p:spTree>
  </p:cSld>
  <p:clrMapOvr>
    <a:masterClrMapping/>
  </p:clrMapOvr>
  <p:transition advClick="0">
    <p:cut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83969"/>
          <p:cNvSpPr>
            <a:spLocks noGrp="1"/>
          </p:cNvSpPr>
          <p:nvPr>
            <p:ph type="title"/>
          </p:nvPr>
        </p:nvSpPr>
        <p:spPr>
          <a:xfrm>
            <a:off x="1498600" y="308610"/>
            <a:ext cx="2981960" cy="460375"/>
          </a:xfrm>
        </p:spPr>
        <p:txBody>
          <a:bodyPr lIns="46038" tIns="46038" rIns="46038" bIns="46038" anchor="b"/>
          <a:lstStyle/>
          <a:p>
            <a:r>
              <a:rPr lang="zh-CN" altLang="en-US" dirty="0"/>
              <a:t>§</a:t>
            </a:r>
            <a:r>
              <a:rPr lang="en-US" altLang="zh-CN" dirty="0"/>
              <a:t>5.4.3  </a:t>
            </a:r>
            <a:r>
              <a:rPr lang="zh-CN" altLang="en-US" dirty="0"/>
              <a:t>中断返回</a:t>
            </a:r>
            <a:endParaRPr lang="zh-CN" altLang="en-US" sz="2800" b="0">
              <a:solidFill>
                <a:srgbClr val="000000"/>
              </a:solidFill>
              <a:latin typeface="宋体" panose="02010600030101010101" pitchFamily="2" charset="-122"/>
            </a:endParaRPr>
          </a:p>
        </p:txBody>
      </p:sp>
      <p:sp>
        <p:nvSpPr>
          <p:cNvPr id="83971" name="文本占位符 83970"/>
          <p:cNvSpPr>
            <a:spLocks noGrp="1"/>
          </p:cNvSpPr>
          <p:nvPr>
            <p:ph type="body" idx="1"/>
          </p:nvPr>
        </p:nvSpPr>
        <p:spPr>
          <a:xfrm>
            <a:off x="661670" y="1127760"/>
            <a:ext cx="7508875" cy="2414905"/>
          </a:xfrm>
        </p:spPr>
        <p:txBody>
          <a:bodyPr lIns="92075" tIns="46038" rIns="92075" bIns="46038"/>
          <a:lstStyle/>
          <a:p>
            <a:pPr>
              <a:lnSpc>
                <a:spcPct val="140000"/>
              </a:lnSpc>
            </a:pPr>
            <a:r>
              <a:rPr lang="zh-CN" altLang="en-US" sz="1800" b="1" dirty="0">
                <a:solidFill>
                  <a:srgbClr val="660066"/>
                </a:solidFill>
              </a:rPr>
              <a:t>在中断服务程序中，最后一条指令必须为中断返回指令</a:t>
            </a:r>
            <a:r>
              <a:rPr lang="en-US" altLang="zh-CN" sz="1800" b="1">
                <a:solidFill>
                  <a:srgbClr val="660066"/>
                </a:solidFill>
              </a:rPr>
              <a:t>RETI</a:t>
            </a:r>
            <a:r>
              <a:rPr lang="zh-CN" altLang="en-US" sz="1800" b="1">
                <a:solidFill>
                  <a:srgbClr val="660066"/>
                </a:solidFill>
              </a:rPr>
              <a:t>。</a:t>
            </a:r>
            <a:endParaRPr lang="zh-CN" altLang="en-US" sz="1800" b="1"/>
          </a:p>
          <a:p>
            <a:pPr>
              <a:lnSpc>
                <a:spcPct val="140000"/>
              </a:lnSpc>
            </a:pPr>
            <a:r>
              <a:rPr lang="en-US" altLang="zh-CN" sz="1800" b="1" dirty="0">
                <a:solidFill>
                  <a:srgbClr val="D60093"/>
                </a:solidFill>
              </a:rPr>
              <a:t>CPU</a:t>
            </a:r>
            <a:r>
              <a:rPr lang="zh-CN" altLang="en-US" sz="1800" b="1" dirty="0">
                <a:solidFill>
                  <a:srgbClr val="D60093"/>
                </a:solidFill>
              </a:rPr>
              <a:t>执行该指令时，一方面清除中断响应时所置位的“优先级生效”触发器，另一方面从当前栈顶弹出断点地址送入程序计数器</a:t>
            </a:r>
            <a:r>
              <a:rPr lang="en-US" altLang="zh-CN" sz="1800" b="1" dirty="0">
                <a:solidFill>
                  <a:srgbClr val="D60093"/>
                </a:solidFill>
              </a:rPr>
              <a:t>PC</a:t>
            </a:r>
            <a:r>
              <a:rPr lang="zh-CN" altLang="en-US" sz="1800" b="1" dirty="0">
                <a:solidFill>
                  <a:srgbClr val="D60093"/>
                </a:solidFill>
              </a:rPr>
              <a:t>，从而返回住程序。</a:t>
            </a:r>
          </a:p>
          <a:p>
            <a:pPr>
              <a:lnSpc>
                <a:spcPct val="140000"/>
              </a:lnSpc>
            </a:pPr>
            <a:r>
              <a:rPr lang="zh-CN" altLang="en-US" sz="1800" b="1" dirty="0">
                <a:solidFill>
                  <a:srgbClr val="9900FF"/>
                </a:solidFill>
              </a:rPr>
              <a:t>注意在中断服务程序中，</a:t>
            </a:r>
            <a:r>
              <a:rPr lang="en-US" altLang="zh-CN" sz="1800" b="1" dirty="0">
                <a:solidFill>
                  <a:srgbClr val="9900FF"/>
                </a:solidFill>
              </a:rPr>
              <a:t>PUSH</a:t>
            </a:r>
            <a:r>
              <a:rPr lang="zh-CN" altLang="en-US" sz="1800" b="1" dirty="0">
                <a:solidFill>
                  <a:srgbClr val="9900FF"/>
                </a:solidFill>
              </a:rPr>
              <a:t>和</a:t>
            </a:r>
            <a:r>
              <a:rPr lang="en-US" altLang="zh-CN" sz="1800" b="1" dirty="0">
                <a:solidFill>
                  <a:srgbClr val="9900FF"/>
                </a:solidFill>
              </a:rPr>
              <a:t>POP</a:t>
            </a:r>
            <a:r>
              <a:rPr lang="zh-CN" altLang="en-US" sz="1800" b="1" dirty="0">
                <a:solidFill>
                  <a:srgbClr val="9900FF"/>
                </a:solidFill>
              </a:rPr>
              <a:t>指令必须成对使用，否则，不能正确返回断点。</a:t>
            </a:r>
          </a:p>
        </p:txBody>
      </p:sp>
      <p:sp>
        <p:nvSpPr>
          <p:cNvPr id="3" name="灯片编号占位符 2"/>
          <p:cNvSpPr>
            <a:spLocks noGrp="1"/>
          </p:cNvSpPr>
          <p:nvPr>
            <p:ph type="sldNum" sz="quarter" idx="7"/>
          </p:nvPr>
        </p:nvSpPr>
        <p:spPr/>
        <p:txBody>
          <a:bodyPr/>
          <a:lstStyle/>
          <a:p>
            <a:pPr marL="25400">
              <a:lnSpc>
                <a:spcPct val="100000"/>
              </a:lnSpc>
              <a:spcBef>
                <a:spcPts val="185"/>
              </a:spcBef>
            </a:pPr>
            <a:fld id="{81D60167-4931-47E6-BA6A-407CBD079E47}" type="slidenum">
              <a:rPr spc="-5" dirty="0"/>
              <a:t>26</a:t>
            </a:fld>
            <a:endParaRPr spc="-5" dirty="0"/>
          </a:p>
        </p:txBody>
      </p:sp>
    </p:spTree>
  </p:cSld>
  <p:clrMapOvr>
    <a:masterClrMapping/>
  </p:clrMapOvr>
  <p:transition advClick="0">
    <p:cut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23340" y="310515"/>
            <a:ext cx="6019800" cy="381000"/>
          </a:xfrm>
          <a:prstGeom prst="rect">
            <a:avLst/>
          </a:prstGeom>
        </p:spPr>
        <p:txBody>
          <a:bodyPr vert="horz" wrap="square" lIns="0" tIns="12065" rIns="0" bIns="0" rtlCol="0">
            <a:spAutoFit/>
          </a:bodyPr>
          <a:lstStyle/>
          <a:p>
            <a:pPr marL="12700">
              <a:lnSpc>
                <a:spcPct val="100000"/>
              </a:lnSpc>
              <a:spcBef>
                <a:spcPts val="95"/>
              </a:spcBef>
            </a:pPr>
            <a:r>
              <a:rPr lang="zh-CN" altLang="en-US" dirty="0">
                <a:sym typeface="+mn-ea"/>
              </a:rPr>
              <a:t>§</a:t>
            </a:r>
            <a:r>
              <a:rPr lang="en-US" altLang="zh-CN" dirty="0">
                <a:sym typeface="+mn-ea"/>
              </a:rPr>
              <a:t>5.4.3</a:t>
            </a:r>
            <a:r>
              <a:rPr spc="-5" dirty="0"/>
              <a:t>中</a:t>
            </a:r>
            <a:r>
              <a:rPr dirty="0"/>
              <a:t>断服务子</a:t>
            </a:r>
            <a:r>
              <a:rPr spc="10" dirty="0"/>
              <a:t>程</a:t>
            </a:r>
            <a:r>
              <a:rPr dirty="0"/>
              <a:t>序</a:t>
            </a:r>
            <a:r>
              <a:rPr spc="10" dirty="0"/>
              <a:t>的</a:t>
            </a:r>
            <a:r>
              <a:rPr dirty="0"/>
              <a:t>流</a:t>
            </a:r>
            <a:r>
              <a:rPr spc="-5" dirty="0"/>
              <a:t>程</a:t>
            </a:r>
          </a:p>
        </p:txBody>
      </p:sp>
      <p:sp>
        <p:nvSpPr>
          <p:cNvPr id="3" name="object 3"/>
          <p:cNvSpPr/>
          <p:nvPr/>
        </p:nvSpPr>
        <p:spPr>
          <a:xfrm>
            <a:off x="571500" y="1071372"/>
            <a:ext cx="1543050" cy="5644134"/>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2793492" y="894842"/>
            <a:ext cx="5373370" cy="5659120"/>
          </a:xfrm>
          <a:prstGeom prst="rect">
            <a:avLst/>
          </a:prstGeom>
        </p:spPr>
        <p:txBody>
          <a:bodyPr vert="horz" wrap="square" lIns="0" tIns="158750" rIns="0" bIns="0" rtlCol="0">
            <a:spAutoFit/>
          </a:bodyPr>
          <a:lstStyle/>
          <a:p>
            <a:pPr marL="12700">
              <a:lnSpc>
                <a:spcPct val="100000"/>
              </a:lnSpc>
              <a:spcBef>
                <a:spcPts val="1250"/>
              </a:spcBef>
            </a:pPr>
            <a:r>
              <a:rPr sz="2400" b="1" spc="5" dirty="0">
                <a:solidFill>
                  <a:srgbClr val="0000CC"/>
                </a:solidFill>
                <a:latin typeface="Microsoft JhengHei" panose="020B0604030504040204" charset="-120"/>
                <a:cs typeface="Microsoft JhengHei" panose="020B0604030504040204" charset="-120"/>
              </a:rPr>
              <a:t>现场保护</a:t>
            </a:r>
            <a:r>
              <a:rPr sz="2400" b="1" spc="10" dirty="0">
                <a:solidFill>
                  <a:srgbClr val="0000CC"/>
                </a:solidFill>
                <a:latin typeface="Microsoft JhengHei" panose="020B0604030504040204" charset="-120"/>
                <a:cs typeface="Microsoft JhengHei" panose="020B0604030504040204" charset="-120"/>
              </a:rPr>
              <a:t>：</a:t>
            </a:r>
            <a:r>
              <a:rPr sz="2400" b="1" spc="15" dirty="0">
                <a:latin typeface="Microsoft JhengHei" panose="020B0604030504040204" charset="-120"/>
                <a:cs typeface="Microsoft JhengHei" panose="020B0604030504040204" charset="-120"/>
              </a:rPr>
              <a:t>将</a:t>
            </a:r>
            <a:r>
              <a:rPr sz="2400" b="1" spc="5" dirty="0">
                <a:latin typeface="Microsoft JhengHei" panose="020B0604030504040204" charset="-120"/>
                <a:cs typeface="Microsoft JhengHei" panose="020B0604030504040204" charset="-120"/>
              </a:rPr>
              <a:t>单片机中</a:t>
            </a:r>
            <a:r>
              <a:rPr sz="2400" b="1" spc="20" dirty="0">
                <a:latin typeface="Microsoft JhengHei" panose="020B0604030504040204" charset="-120"/>
                <a:cs typeface="Microsoft JhengHei" panose="020B0604030504040204" charset="-120"/>
              </a:rPr>
              <a:t>的</a:t>
            </a:r>
            <a:r>
              <a:rPr sz="2400" b="1" spc="10" dirty="0">
                <a:latin typeface="Microsoft JhengHei" panose="020B0604030504040204" charset="-120"/>
                <a:cs typeface="Microsoft JhengHei" panose="020B0604030504040204" charset="-120"/>
              </a:rPr>
              <a:t>重要数据</a:t>
            </a:r>
            <a:endParaRPr sz="2400">
              <a:latin typeface="Microsoft JhengHei" panose="020B0604030504040204" charset="-120"/>
              <a:cs typeface="Microsoft JhengHei" panose="020B0604030504040204" charset="-120"/>
            </a:endParaRPr>
          </a:p>
          <a:p>
            <a:pPr marL="1460500">
              <a:lnSpc>
                <a:spcPct val="100000"/>
              </a:lnSpc>
              <a:spcBef>
                <a:spcPts val="1150"/>
              </a:spcBef>
            </a:pPr>
            <a:r>
              <a:rPr sz="2400" b="1" dirty="0">
                <a:latin typeface="Microsoft JhengHei" panose="020B0604030504040204" charset="-120"/>
                <a:cs typeface="Microsoft JhengHei" panose="020B0604030504040204" charset="-120"/>
              </a:rPr>
              <a:t>或</a:t>
            </a:r>
            <a:r>
              <a:rPr sz="2400" b="1" spc="5" dirty="0">
                <a:latin typeface="Microsoft JhengHei" panose="020B0604030504040204" charset="-120"/>
                <a:cs typeface="Microsoft JhengHei" panose="020B0604030504040204" charset="-120"/>
              </a:rPr>
              <a:t>状</a:t>
            </a:r>
            <a:r>
              <a:rPr sz="2400" b="1" dirty="0">
                <a:latin typeface="Microsoft JhengHei" panose="020B0604030504040204" charset="-120"/>
                <a:cs typeface="Microsoft JhengHei" panose="020B0604030504040204" charset="-120"/>
              </a:rPr>
              <a:t>态</a:t>
            </a:r>
            <a:r>
              <a:rPr sz="2400" b="1" spc="5" dirty="0">
                <a:latin typeface="Microsoft JhengHei" panose="020B0604030504040204" charset="-120"/>
                <a:cs typeface="Microsoft JhengHei" panose="020B0604030504040204" charset="-120"/>
              </a:rPr>
              <a:t>送入</a:t>
            </a:r>
            <a:r>
              <a:rPr sz="2400" b="1" spc="15" dirty="0">
                <a:latin typeface="Microsoft JhengHei" panose="020B0604030504040204" charset="-120"/>
                <a:cs typeface="Microsoft JhengHei" panose="020B0604030504040204" charset="-120"/>
              </a:rPr>
              <a:t>堆</a:t>
            </a:r>
            <a:r>
              <a:rPr sz="2400" b="1" spc="5" dirty="0">
                <a:latin typeface="Microsoft JhengHei" panose="020B0604030504040204" charset="-120"/>
                <a:cs typeface="Microsoft JhengHei" panose="020B0604030504040204" charset="-120"/>
              </a:rPr>
              <a:t>栈保存</a:t>
            </a:r>
            <a:r>
              <a:rPr sz="2400" b="1" dirty="0">
                <a:latin typeface="Microsoft JhengHei" panose="020B0604030504040204" charset="-120"/>
                <a:cs typeface="Microsoft JhengHei" panose="020B0604030504040204" charset="-120"/>
              </a:rPr>
              <a:t>。</a:t>
            </a:r>
            <a:endParaRPr sz="2400">
              <a:latin typeface="Microsoft JhengHei" panose="020B0604030504040204" charset="-120"/>
              <a:cs typeface="Microsoft JhengHei" panose="020B0604030504040204" charset="-120"/>
            </a:endParaRPr>
          </a:p>
          <a:p>
            <a:pPr marL="1460500" marR="151130" indent="-1448435" algn="just">
              <a:lnSpc>
                <a:spcPct val="140000"/>
              </a:lnSpc>
            </a:pPr>
            <a:r>
              <a:rPr sz="2400" b="1" spc="5" dirty="0">
                <a:solidFill>
                  <a:srgbClr val="0000CC"/>
                </a:solidFill>
                <a:latin typeface="Microsoft JhengHei" panose="020B0604030504040204" charset="-120"/>
                <a:cs typeface="Microsoft JhengHei" panose="020B0604030504040204" charset="-120"/>
              </a:rPr>
              <a:t>现场恢复</a:t>
            </a:r>
            <a:r>
              <a:rPr sz="2400" b="1" spc="10" dirty="0">
                <a:solidFill>
                  <a:srgbClr val="0000CC"/>
                </a:solidFill>
                <a:latin typeface="Microsoft JhengHei" panose="020B0604030504040204" charset="-120"/>
                <a:cs typeface="Microsoft JhengHei" panose="020B0604030504040204" charset="-120"/>
              </a:rPr>
              <a:t>：</a:t>
            </a:r>
            <a:r>
              <a:rPr sz="2400" b="1" spc="15" dirty="0">
                <a:latin typeface="Microsoft JhengHei" panose="020B0604030504040204" charset="-120"/>
                <a:cs typeface="Microsoft JhengHei" panose="020B0604030504040204" charset="-120"/>
              </a:rPr>
              <a:t>中</a:t>
            </a:r>
            <a:r>
              <a:rPr sz="2400" b="1" spc="5" dirty="0">
                <a:latin typeface="Microsoft JhengHei" panose="020B0604030504040204" charset="-120"/>
                <a:cs typeface="Microsoft JhengHei" panose="020B0604030504040204" charset="-120"/>
              </a:rPr>
              <a:t>断返回主程序前，把保</a:t>
            </a:r>
            <a:r>
              <a:rPr sz="2400" b="1" dirty="0">
                <a:latin typeface="Microsoft JhengHei" panose="020B0604030504040204" charset="-120"/>
                <a:cs typeface="Microsoft JhengHei" panose="020B0604030504040204" charset="-120"/>
              </a:rPr>
              <a:t>存 的</a:t>
            </a:r>
            <a:r>
              <a:rPr sz="2400" b="1" spc="5" dirty="0">
                <a:latin typeface="Microsoft JhengHei" panose="020B0604030504040204" charset="-120"/>
                <a:cs typeface="Microsoft JhengHei" panose="020B0604030504040204" charset="-120"/>
              </a:rPr>
              <a:t>现</a:t>
            </a:r>
            <a:r>
              <a:rPr sz="2400" b="1" dirty="0">
                <a:latin typeface="Microsoft JhengHei" panose="020B0604030504040204" charset="-120"/>
                <a:cs typeface="Microsoft JhengHei" panose="020B0604030504040204" charset="-120"/>
              </a:rPr>
              <a:t>场</a:t>
            </a:r>
            <a:r>
              <a:rPr sz="2400" b="1" spc="5" dirty="0">
                <a:latin typeface="Microsoft JhengHei" panose="020B0604030504040204" charset="-120"/>
                <a:cs typeface="Microsoft JhengHei" panose="020B0604030504040204" charset="-120"/>
              </a:rPr>
              <a:t>内容</a:t>
            </a:r>
            <a:r>
              <a:rPr sz="2400" b="1" spc="15" dirty="0">
                <a:latin typeface="Microsoft JhengHei" panose="020B0604030504040204" charset="-120"/>
                <a:cs typeface="Microsoft JhengHei" panose="020B0604030504040204" charset="-120"/>
              </a:rPr>
              <a:t>从</a:t>
            </a:r>
            <a:r>
              <a:rPr sz="2400" b="1" spc="5" dirty="0">
                <a:latin typeface="Microsoft JhengHei" panose="020B0604030504040204" charset="-120"/>
                <a:cs typeface="Microsoft JhengHei" panose="020B0604030504040204" charset="-120"/>
              </a:rPr>
              <a:t>堆栈中弹出</a:t>
            </a:r>
            <a:r>
              <a:rPr sz="2400" b="1" dirty="0">
                <a:latin typeface="Microsoft JhengHei" panose="020B0604030504040204" charset="-120"/>
                <a:cs typeface="Microsoft JhengHei" panose="020B0604030504040204" charset="-120"/>
              </a:rPr>
              <a:t>恢 复原有内</a:t>
            </a:r>
            <a:r>
              <a:rPr sz="2400" b="1" spc="5" dirty="0">
                <a:latin typeface="Microsoft JhengHei" panose="020B0604030504040204" charset="-120"/>
                <a:cs typeface="Microsoft JhengHei" panose="020B0604030504040204" charset="-120"/>
              </a:rPr>
              <a:t>容</a:t>
            </a:r>
            <a:r>
              <a:rPr sz="2400" b="1" dirty="0">
                <a:latin typeface="Microsoft JhengHei" panose="020B0604030504040204" charset="-120"/>
                <a:cs typeface="Microsoft JhengHei" panose="020B0604030504040204" charset="-120"/>
              </a:rPr>
              <a:t>。</a:t>
            </a:r>
            <a:endParaRPr sz="2400">
              <a:latin typeface="Microsoft JhengHei" panose="020B0604030504040204" charset="-120"/>
              <a:cs typeface="Microsoft JhengHei" panose="020B0604030504040204" charset="-120"/>
            </a:endParaRPr>
          </a:p>
          <a:p>
            <a:pPr marL="12700">
              <a:lnSpc>
                <a:spcPct val="100000"/>
              </a:lnSpc>
              <a:spcBef>
                <a:spcPts val="1155"/>
              </a:spcBef>
            </a:pPr>
            <a:r>
              <a:rPr sz="2400" b="1" dirty="0">
                <a:solidFill>
                  <a:srgbClr val="0000CC"/>
                </a:solidFill>
                <a:latin typeface="Microsoft JhengHei" panose="020B0604030504040204" charset="-120"/>
                <a:cs typeface="Microsoft JhengHei" panose="020B0604030504040204" charset="-120"/>
              </a:rPr>
              <a:t>堆</a:t>
            </a:r>
            <a:r>
              <a:rPr sz="2400" b="1" spc="5" dirty="0">
                <a:solidFill>
                  <a:srgbClr val="0000CC"/>
                </a:solidFill>
                <a:latin typeface="Microsoft JhengHei" panose="020B0604030504040204" charset="-120"/>
                <a:cs typeface="Microsoft JhengHei" panose="020B0604030504040204" charset="-120"/>
              </a:rPr>
              <a:t>栈</a:t>
            </a:r>
            <a:r>
              <a:rPr sz="2400" b="1" dirty="0">
                <a:solidFill>
                  <a:srgbClr val="0000CC"/>
                </a:solidFill>
                <a:latin typeface="Microsoft JhengHei" panose="020B0604030504040204" charset="-120"/>
                <a:cs typeface="Microsoft JhengHei" panose="020B0604030504040204" charset="-120"/>
              </a:rPr>
              <a:t>操</a:t>
            </a:r>
            <a:r>
              <a:rPr sz="2400" b="1" spc="5" dirty="0">
                <a:solidFill>
                  <a:srgbClr val="0000CC"/>
                </a:solidFill>
                <a:latin typeface="Microsoft JhengHei" panose="020B0604030504040204" charset="-120"/>
                <a:cs typeface="Microsoft JhengHei" panose="020B0604030504040204" charset="-120"/>
              </a:rPr>
              <a:t>作指</a:t>
            </a:r>
            <a:r>
              <a:rPr sz="2400" b="1" spc="25" dirty="0">
                <a:solidFill>
                  <a:srgbClr val="0000CC"/>
                </a:solidFill>
                <a:latin typeface="Microsoft JhengHei" panose="020B0604030504040204" charset="-120"/>
                <a:cs typeface="Microsoft JhengHei" panose="020B0604030504040204" charset="-120"/>
              </a:rPr>
              <a:t>令</a:t>
            </a:r>
            <a:r>
              <a:rPr sz="2400" b="1" dirty="0">
                <a:latin typeface="Microsoft JhengHei" panose="020B0604030504040204" charset="-120"/>
                <a:cs typeface="Microsoft JhengHei" panose="020B0604030504040204" charset="-120"/>
              </a:rPr>
              <a:t>：</a:t>
            </a:r>
            <a:endParaRPr sz="2400">
              <a:latin typeface="Microsoft JhengHei" panose="020B0604030504040204" charset="-120"/>
              <a:cs typeface="Microsoft JhengHei" panose="020B0604030504040204" charset="-120"/>
            </a:endParaRPr>
          </a:p>
          <a:p>
            <a:pPr marL="1231900" marR="1870075" indent="-76200">
              <a:lnSpc>
                <a:spcPct val="140000"/>
              </a:lnSpc>
              <a:tabLst>
                <a:tab pos="2299335" algn="l"/>
                <a:tab pos="2426970" algn="l"/>
              </a:tabLst>
            </a:pPr>
            <a:r>
              <a:rPr sz="2400" b="1" spc="5" dirty="0">
                <a:latin typeface="Microsoft JhengHei" panose="020B0604030504040204" charset="-120"/>
                <a:cs typeface="Microsoft JhengHei" panose="020B0604030504040204" charset="-120"/>
              </a:rPr>
              <a:t>“</a:t>
            </a:r>
            <a:r>
              <a:rPr sz="2400" b="1" spc="-5" dirty="0">
                <a:latin typeface="Times New Roman" panose="02020603050405020304"/>
                <a:cs typeface="Times New Roman" panose="02020603050405020304"/>
              </a:rPr>
              <a:t>PUSH</a:t>
            </a:r>
            <a:r>
              <a:rPr sz="2400" b="1" dirty="0">
                <a:latin typeface="Times New Roman" panose="02020603050405020304"/>
                <a:cs typeface="Times New Roman" panose="02020603050405020304"/>
              </a:rPr>
              <a:t>		direc</a:t>
            </a:r>
            <a:r>
              <a:rPr sz="2400" b="1" spc="5" dirty="0">
                <a:latin typeface="Times New Roman" panose="02020603050405020304"/>
                <a:cs typeface="Times New Roman" panose="02020603050405020304"/>
              </a:rPr>
              <a:t>t</a:t>
            </a:r>
            <a:r>
              <a:rPr sz="2400" b="1" dirty="0">
                <a:latin typeface="Microsoft JhengHei" panose="020B0604030504040204" charset="-120"/>
                <a:cs typeface="Microsoft JhengHei" panose="020B0604030504040204" charset="-120"/>
              </a:rPr>
              <a:t>”  “</a:t>
            </a:r>
            <a:r>
              <a:rPr sz="2400" b="1" dirty="0">
                <a:latin typeface="Times New Roman" panose="02020603050405020304"/>
                <a:cs typeface="Times New Roman" panose="02020603050405020304"/>
              </a:rPr>
              <a:t>POP	</a:t>
            </a:r>
            <a:r>
              <a:rPr sz="2400" b="1" spc="-5" dirty="0">
                <a:latin typeface="Times New Roman" panose="02020603050405020304"/>
                <a:cs typeface="Times New Roman" panose="02020603050405020304"/>
              </a:rPr>
              <a:t>direct</a:t>
            </a:r>
            <a:r>
              <a:rPr sz="2400" b="1" spc="-5" dirty="0">
                <a:latin typeface="Microsoft JhengHei" panose="020B0604030504040204" charset="-120"/>
                <a:cs typeface="Microsoft JhengHei" panose="020B0604030504040204" charset="-120"/>
              </a:rPr>
              <a:t>”</a:t>
            </a:r>
            <a:endParaRPr sz="2400">
              <a:latin typeface="Microsoft JhengHei" panose="020B0604030504040204" charset="-120"/>
              <a:cs typeface="Microsoft JhengHei" panose="020B0604030504040204" charset="-120"/>
            </a:endParaRPr>
          </a:p>
          <a:p>
            <a:pPr marL="12700">
              <a:lnSpc>
                <a:spcPct val="100000"/>
              </a:lnSpc>
              <a:spcBef>
                <a:spcPts val="1155"/>
              </a:spcBef>
            </a:pPr>
            <a:r>
              <a:rPr sz="2400" b="1" dirty="0">
                <a:solidFill>
                  <a:srgbClr val="FF0000"/>
                </a:solidFill>
                <a:latin typeface="Microsoft JhengHei" panose="020B0604030504040204" charset="-120"/>
                <a:cs typeface="Microsoft JhengHei" panose="020B0604030504040204" charset="-120"/>
              </a:rPr>
              <a:t>两</a:t>
            </a:r>
            <a:r>
              <a:rPr sz="2400" b="1" spc="5" dirty="0">
                <a:solidFill>
                  <a:srgbClr val="FF0000"/>
                </a:solidFill>
                <a:latin typeface="Microsoft JhengHei" panose="020B0604030504040204" charset="-120"/>
                <a:cs typeface="Microsoft JhengHei" panose="020B0604030504040204" charset="-120"/>
              </a:rPr>
              <a:t>关</a:t>
            </a:r>
            <a:r>
              <a:rPr sz="2400" b="1" dirty="0">
                <a:solidFill>
                  <a:srgbClr val="FF0000"/>
                </a:solidFill>
                <a:latin typeface="Microsoft JhengHei" panose="020B0604030504040204" charset="-120"/>
                <a:cs typeface="Microsoft JhengHei" panose="020B0604030504040204" charset="-120"/>
              </a:rPr>
              <a:t>两</a:t>
            </a:r>
            <a:r>
              <a:rPr sz="2400" b="1" spc="5" dirty="0">
                <a:solidFill>
                  <a:srgbClr val="FF0000"/>
                </a:solidFill>
                <a:latin typeface="Microsoft JhengHei" panose="020B0604030504040204" charset="-120"/>
                <a:cs typeface="Microsoft JhengHei" panose="020B0604030504040204" charset="-120"/>
              </a:rPr>
              <a:t>开中</a:t>
            </a:r>
            <a:r>
              <a:rPr sz="2400" b="1" spc="15" dirty="0">
                <a:solidFill>
                  <a:srgbClr val="FF0000"/>
                </a:solidFill>
                <a:latin typeface="Microsoft JhengHei" panose="020B0604030504040204" charset="-120"/>
                <a:cs typeface="Microsoft JhengHei" panose="020B0604030504040204" charset="-120"/>
              </a:rPr>
              <a:t>断</a:t>
            </a:r>
            <a:r>
              <a:rPr sz="2400" b="1" dirty="0">
                <a:solidFill>
                  <a:srgbClr val="FF0000"/>
                </a:solidFill>
                <a:latin typeface="Microsoft JhengHei" panose="020B0604030504040204" charset="-120"/>
                <a:cs typeface="Microsoft JhengHei" panose="020B0604030504040204" charset="-120"/>
              </a:rPr>
              <a:t>：</a:t>
            </a:r>
            <a:endParaRPr sz="2400">
              <a:latin typeface="Microsoft JhengHei" panose="020B0604030504040204" charset="-120"/>
              <a:cs typeface="Microsoft JhengHei" panose="020B0604030504040204" charset="-120"/>
            </a:endParaRPr>
          </a:p>
          <a:p>
            <a:pPr marL="1384300">
              <a:lnSpc>
                <a:spcPct val="100000"/>
              </a:lnSpc>
              <a:spcBef>
                <a:spcPts val="1150"/>
              </a:spcBef>
            </a:pPr>
            <a:r>
              <a:rPr sz="2400" b="1" dirty="0">
                <a:solidFill>
                  <a:srgbClr val="FF0000"/>
                </a:solidFill>
                <a:latin typeface="Microsoft JhengHei" panose="020B0604030504040204" charset="-120"/>
                <a:cs typeface="Microsoft JhengHei" panose="020B0604030504040204" charset="-120"/>
              </a:rPr>
              <a:t>两</a:t>
            </a:r>
            <a:r>
              <a:rPr sz="2400" b="1" spc="5" dirty="0">
                <a:solidFill>
                  <a:srgbClr val="FF0000"/>
                </a:solidFill>
                <a:latin typeface="Microsoft JhengHei" panose="020B0604030504040204" charset="-120"/>
                <a:cs typeface="Microsoft JhengHei" panose="020B0604030504040204" charset="-120"/>
              </a:rPr>
              <a:t>关</a:t>
            </a:r>
            <a:r>
              <a:rPr sz="2400" b="1" dirty="0">
                <a:solidFill>
                  <a:srgbClr val="FF0000"/>
                </a:solidFill>
                <a:latin typeface="Microsoft JhengHei" panose="020B0604030504040204" charset="-120"/>
                <a:cs typeface="Microsoft JhengHei" panose="020B0604030504040204" charset="-120"/>
              </a:rPr>
              <a:t>中</a:t>
            </a:r>
            <a:r>
              <a:rPr sz="2400" b="1" spc="5" dirty="0">
                <a:solidFill>
                  <a:srgbClr val="FF0000"/>
                </a:solidFill>
                <a:latin typeface="Microsoft JhengHei" panose="020B0604030504040204" charset="-120"/>
                <a:cs typeface="Microsoft JhengHei" panose="020B0604030504040204" charset="-120"/>
              </a:rPr>
              <a:t>断是</a:t>
            </a:r>
            <a:r>
              <a:rPr sz="2400" b="1" spc="15" dirty="0">
                <a:solidFill>
                  <a:srgbClr val="FF0000"/>
                </a:solidFill>
                <a:latin typeface="Microsoft JhengHei" panose="020B0604030504040204" charset="-120"/>
                <a:cs typeface="Microsoft JhengHei" panose="020B0604030504040204" charset="-120"/>
              </a:rPr>
              <a:t>为</a:t>
            </a:r>
            <a:r>
              <a:rPr sz="2400" b="1" spc="5" dirty="0">
                <a:solidFill>
                  <a:srgbClr val="FF0000"/>
                </a:solidFill>
                <a:latin typeface="Microsoft JhengHei" panose="020B0604030504040204" charset="-120"/>
                <a:cs typeface="Microsoft JhengHei" panose="020B0604030504040204" charset="-120"/>
              </a:rPr>
              <a:t>了保护现</a:t>
            </a:r>
            <a:r>
              <a:rPr sz="2400" b="1" dirty="0">
                <a:solidFill>
                  <a:srgbClr val="FF0000"/>
                </a:solidFill>
                <a:latin typeface="Microsoft JhengHei" panose="020B0604030504040204" charset="-120"/>
                <a:cs typeface="Microsoft JhengHei" panose="020B0604030504040204" charset="-120"/>
              </a:rPr>
              <a:t>场</a:t>
            </a:r>
            <a:endParaRPr sz="2400">
              <a:latin typeface="Microsoft JhengHei" panose="020B0604030504040204" charset="-120"/>
              <a:cs typeface="Microsoft JhengHei" panose="020B0604030504040204" charset="-120"/>
            </a:endParaRPr>
          </a:p>
          <a:p>
            <a:pPr marL="1384300">
              <a:lnSpc>
                <a:spcPct val="100000"/>
              </a:lnSpc>
              <a:spcBef>
                <a:spcPts val="1155"/>
              </a:spcBef>
            </a:pPr>
            <a:r>
              <a:rPr sz="2400" b="1" dirty="0">
                <a:solidFill>
                  <a:srgbClr val="FF0000"/>
                </a:solidFill>
                <a:latin typeface="Microsoft JhengHei" panose="020B0604030504040204" charset="-120"/>
                <a:cs typeface="Microsoft JhengHei" panose="020B0604030504040204" charset="-120"/>
              </a:rPr>
              <a:t>两</a:t>
            </a:r>
            <a:r>
              <a:rPr sz="2400" b="1" spc="5" dirty="0">
                <a:solidFill>
                  <a:srgbClr val="FF0000"/>
                </a:solidFill>
                <a:latin typeface="Microsoft JhengHei" panose="020B0604030504040204" charset="-120"/>
                <a:cs typeface="Microsoft JhengHei" panose="020B0604030504040204" charset="-120"/>
              </a:rPr>
              <a:t>开</a:t>
            </a:r>
            <a:r>
              <a:rPr sz="2400" b="1" dirty="0">
                <a:solidFill>
                  <a:srgbClr val="FF0000"/>
                </a:solidFill>
                <a:latin typeface="Microsoft JhengHei" panose="020B0604030504040204" charset="-120"/>
                <a:cs typeface="Microsoft JhengHei" panose="020B0604030504040204" charset="-120"/>
              </a:rPr>
              <a:t>中</a:t>
            </a:r>
            <a:r>
              <a:rPr sz="2400" b="1" spc="5" dirty="0">
                <a:solidFill>
                  <a:srgbClr val="FF0000"/>
                </a:solidFill>
                <a:latin typeface="Microsoft JhengHei" panose="020B0604030504040204" charset="-120"/>
                <a:cs typeface="Microsoft JhengHei" panose="020B0604030504040204" charset="-120"/>
              </a:rPr>
              <a:t>断是</a:t>
            </a:r>
            <a:r>
              <a:rPr sz="2400" b="1" spc="15" dirty="0">
                <a:solidFill>
                  <a:srgbClr val="FF0000"/>
                </a:solidFill>
                <a:latin typeface="Microsoft JhengHei" panose="020B0604030504040204" charset="-120"/>
                <a:cs typeface="Microsoft JhengHei" panose="020B0604030504040204" charset="-120"/>
              </a:rPr>
              <a:t>为</a:t>
            </a:r>
            <a:r>
              <a:rPr sz="2400" b="1" spc="5" dirty="0">
                <a:solidFill>
                  <a:srgbClr val="FF0000"/>
                </a:solidFill>
                <a:latin typeface="Microsoft JhengHei" panose="020B0604030504040204" charset="-120"/>
                <a:cs typeface="Microsoft JhengHei" panose="020B0604030504040204" charset="-120"/>
              </a:rPr>
              <a:t>了允许高级中</a:t>
            </a:r>
            <a:r>
              <a:rPr sz="2400" b="1" dirty="0">
                <a:solidFill>
                  <a:srgbClr val="FF0000"/>
                </a:solidFill>
                <a:latin typeface="Microsoft JhengHei" panose="020B0604030504040204" charset="-120"/>
                <a:cs typeface="Microsoft JhengHei" panose="020B0604030504040204" charset="-120"/>
              </a:rPr>
              <a:t>断</a:t>
            </a:r>
            <a:endParaRPr sz="2400">
              <a:latin typeface="Microsoft JhengHei" panose="020B0604030504040204" charset="-120"/>
              <a:cs typeface="Microsoft JhengHei" panose="020B0604030504040204" charset="-120"/>
            </a:endParaRPr>
          </a:p>
        </p:txBody>
      </p:sp>
      <p:sp>
        <p:nvSpPr>
          <p:cNvPr id="6" name="灯片编号占位符 5"/>
          <p:cNvSpPr>
            <a:spLocks noGrp="1"/>
          </p:cNvSpPr>
          <p:nvPr>
            <p:ph type="sldNum" sz="quarter" idx="7"/>
          </p:nvPr>
        </p:nvSpPr>
        <p:spPr/>
        <p:txBody>
          <a:bodyPr/>
          <a:lstStyle/>
          <a:p>
            <a:pPr marL="25400">
              <a:lnSpc>
                <a:spcPct val="100000"/>
              </a:lnSpc>
              <a:spcBef>
                <a:spcPts val="185"/>
              </a:spcBef>
            </a:pPr>
            <a:fld id="{81D60167-4931-47E6-BA6A-407CBD079E47}" type="slidenum">
              <a:rPr spc="-5" dirty="0"/>
              <a:t>27</a:t>
            </a:fld>
            <a:endParaRPr spc="-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07521"/>
          <p:cNvSpPr>
            <a:spLocks noGrp="1"/>
          </p:cNvSpPr>
          <p:nvPr>
            <p:ph type="title"/>
          </p:nvPr>
        </p:nvSpPr>
        <p:spPr>
          <a:xfrm>
            <a:off x="488950" y="1192530"/>
            <a:ext cx="4575175" cy="460375"/>
          </a:xfrm>
        </p:spPr>
        <p:txBody>
          <a:bodyPr wrap="square" lIns="46038" tIns="46038" rIns="46038" bIns="46038" anchor="b"/>
          <a:lstStyle/>
          <a:p>
            <a:r>
              <a:rPr lang="en-US" altLang="zh-CN" dirty="0"/>
              <a:t>1</a:t>
            </a:r>
            <a:r>
              <a:rPr lang="zh-CN" altLang="en-US" dirty="0"/>
              <a:t>、主程序</a:t>
            </a:r>
            <a:r>
              <a:rPr lang="zh-CN" altLang="zh-CN" dirty="0"/>
              <a:t>的起始地址</a:t>
            </a:r>
            <a:endParaRPr lang="zh-CN" altLang="en-US"/>
          </a:p>
        </p:txBody>
      </p:sp>
      <p:sp>
        <p:nvSpPr>
          <p:cNvPr id="107523" name="文本占位符 107522"/>
          <p:cNvSpPr>
            <a:spLocks noGrp="1"/>
          </p:cNvSpPr>
          <p:nvPr>
            <p:ph type="body" idx="1"/>
          </p:nvPr>
        </p:nvSpPr>
        <p:spPr>
          <a:xfrm>
            <a:off x="381000" y="1652588"/>
            <a:ext cx="8194675" cy="1419860"/>
          </a:xfrm>
        </p:spPr>
        <p:txBody>
          <a:bodyPr lIns="92075" tIns="46038" rIns="92075" bIns="46038"/>
          <a:lstStyle/>
          <a:p>
            <a:pPr>
              <a:lnSpc>
                <a:spcPct val="120000"/>
              </a:lnSpc>
            </a:pPr>
            <a:r>
              <a:rPr lang="en-US" altLang="zh-CN" b="1" dirty="0"/>
              <a:t>MCS-51</a:t>
            </a:r>
            <a:r>
              <a:rPr lang="zh-CN" altLang="en-US" b="1" dirty="0"/>
              <a:t>系列单片机</a:t>
            </a:r>
            <a:r>
              <a:rPr lang="zh-CN" altLang="en-US" b="1" dirty="0">
                <a:solidFill>
                  <a:srgbClr val="FF6600"/>
                </a:solidFill>
              </a:rPr>
              <a:t>复位</a:t>
            </a:r>
            <a:r>
              <a:rPr lang="zh-CN" altLang="en-US" b="1" dirty="0"/>
              <a:t>后，</a:t>
            </a:r>
            <a:r>
              <a:rPr lang="zh-CN" altLang="en-US" b="1" dirty="0">
                <a:solidFill>
                  <a:srgbClr val="FF6600"/>
                </a:solidFill>
              </a:rPr>
              <a:t>（</a:t>
            </a:r>
            <a:r>
              <a:rPr lang="en-US" altLang="zh-CN" b="1">
                <a:solidFill>
                  <a:srgbClr val="FF6600"/>
                </a:solidFill>
              </a:rPr>
              <a:t>PC</a:t>
            </a:r>
            <a:r>
              <a:rPr lang="zh-CN" altLang="en-US" b="1">
                <a:solidFill>
                  <a:srgbClr val="FF6600"/>
                </a:solidFill>
              </a:rPr>
              <a:t>）</a:t>
            </a:r>
            <a:r>
              <a:rPr lang="en-US" altLang="zh-CN" b="1">
                <a:solidFill>
                  <a:srgbClr val="FF6600"/>
                </a:solidFill>
              </a:rPr>
              <a:t>=0000H</a:t>
            </a:r>
            <a:endParaRPr lang="en-US" altLang="zh-CN" b="1">
              <a:solidFill>
                <a:schemeClr val="hlink"/>
              </a:solidFill>
            </a:endParaRPr>
          </a:p>
          <a:p>
            <a:pPr>
              <a:lnSpc>
                <a:spcPct val="120000"/>
              </a:lnSpc>
            </a:pPr>
            <a:r>
              <a:rPr lang="zh-CN" altLang="en-US" b="1"/>
              <a:t>而</a:t>
            </a:r>
            <a:r>
              <a:rPr lang="en-US" altLang="zh-CN" b="1">
                <a:solidFill>
                  <a:srgbClr val="FF6600"/>
                </a:solidFill>
              </a:rPr>
              <a:t>0003H</a:t>
            </a:r>
            <a:r>
              <a:rPr lang="zh-CN" altLang="en-US" b="1">
                <a:solidFill>
                  <a:srgbClr val="FF6600"/>
                </a:solidFill>
              </a:rPr>
              <a:t>～</a:t>
            </a:r>
            <a:r>
              <a:rPr lang="en-US" altLang="zh-CN" b="1">
                <a:solidFill>
                  <a:srgbClr val="FF6600"/>
                </a:solidFill>
              </a:rPr>
              <a:t>002BH</a:t>
            </a:r>
            <a:r>
              <a:rPr lang="zh-CN" altLang="en-US" b="1" dirty="0"/>
              <a:t>分别为各</a:t>
            </a:r>
            <a:r>
              <a:rPr lang="zh-CN" altLang="en-US" b="1" dirty="0">
                <a:solidFill>
                  <a:srgbClr val="FF6600"/>
                </a:solidFill>
              </a:rPr>
              <a:t>中断源的入口地址</a:t>
            </a:r>
            <a:r>
              <a:rPr lang="zh-CN" altLang="en-US" b="1" dirty="0"/>
              <a:t>。</a:t>
            </a:r>
          </a:p>
          <a:p>
            <a:pPr>
              <a:lnSpc>
                <a:spcPct val="120000"/>
              </a:lnSpc>
            </a:pPr>
            <a:r>
              <a:rPr lang="zh-CN" altLang="en-US" b="1" dirty="0"/>
              <a:t>编程时应在</a:t>
            </a:r>
            <a:r>
              <a:rPr lang="en-US" altLang="zh-CN" b="1">
                <a:solidFill>
                  <a:srgbClr val="FF6600"/>
                </a:solidFill>
              </a:rPr>
              <a:t>0000H</a:t>
            </a:r>
            <a:r>
              <a:rPr lang="zh-CN" altLang="en-US" b="1" dirty="0"/>
              <a:t>处写一条</a:t>
            </a:r>
            <a:r>
              <a:rPr lang="zh-CN" altLang="en-US" b="1" dirty="0">
                <a:solidFill>
                  <a:srgbClr val="FF6600"/>
                </a:solidFill>
              </a:rPr>
              <a:t>跳转指令</a:t>
            </a:r>
            <a:r>
              <a:rPr lang="zh-CN" altLang="en-US" b="1" dirty="0"/>
              <a:t>（一般为长跳转指令），</a:t>
            </a:r>
            <a:r>
              <a:rPr lang="zh-CN" altLang="en-US" b="1" dirty="0">
                <a:solidFill>
                  <a:srgbClr val="FF6600"/>
                </a:solidFill>
              </a:rPr>
              <a:t>主程序是以跳转的目标地址作为起始地址开始编写</a:t>
            </a:r>
            <a:r>
              <a:rPr lang="zh-CN" altLang="en-US" b="1" dirty="0"/>
              <a:t>，一般从</a:t>
            </a:r>
            <a:r>
              <a:rPr lang="en-US" altLang="zh-CN" b="1" dirty="0"/>
              <a:t>0003H</a:t>
            </a:r>
            <a:r>
              <a:rPr lang="zh-CN" altLang="en-US" b="1" dirty="0"/>
              <a:t>开始</a:t>
            </a:r>
            <a:endParaRPr lang="zh-CN" altLang="en-US" b="1"/>
          </a:p>
        </p:txBody>
      </p:sp>
      <p:sp>
        <p:nvSpPr>
          <p:cNvPr id="108546" name="标题 108545"/>
          <p:cNvSpPr>
            <a:spLocks noGrp="1"/>
          </p:cNvSpPr>
          <p:nvPr/>
        </p:nvSpPr>
        <p:spPr>
          <a:xfrm>
            <a:off x="488950" y="3571240"/>
            <a:ext cx="4686935" cy="460375"/>
          </a:xfrm>
          <a:prstGeom prst="rect">
            <a:avLst/>
          </a:prstGeom>
        </p:spPr>
        <p:txBody>
          <a:bodyPr wrap="square" lIns="46038" tIns="46038" rIns="46038" bIns="46038" anchor="b">
            <a:spAutoFit/>
          </a:bodyPr>
          <a:lstStyle>
            <a:lvl1pPr>
              <a:defRPr sz="2400" b="1" i="0">
                <a:solidFill>
                  <a:srgbClr val="252525"/>
                </a:solidFill>
                <a:latin typeface="微软雅黑" panose="020B0503020204020204" charset="-122"/>
                <a:ea typeface="+mj-ea"/>
                <a:cs typeface="微软雅黑" panose="020B0503020204020204" charset="-122"/>
              </a:defRPr>
            </a:lvl1pPr>
          </a:lstStyle>
          <a:p>
            <a:r>
              <a:rPr lang="zh-CN" altLang="zh-CN" dirty="0"/>
              <a:t>2、主程序的初始化内容</a:t>
            </a:r>
            <a:endParaRPr lang="en-US" altLang="zh-CN"/>
          </a:p>
        </p:txBody>
      </p:sp>
      <p:sp>
        <p:nvSpPr>
          <p:cNvPr id="108547" name="文本占位符 108546"/>
          <p:cNvSpPr>
            <a:spLocks noGrp="1"/>
          </p:cNvSpPr>
          <p:nvPr/>
        </p:nvSpPr>
        <p:spPr>
          <a:xfrm>
            <a:off x="414020" y="3923030"/>
            <a:ext cx="8229600" cy="1252855"/>
          </a:xfrm>
          <a:prstGeom prst="rect">
            <a:avLst/>
          </a:prstGeom>
        </p:spPr>
        <p:txBody>
          <a:bodyPr wrap="square" lIns="92075" tIns="46038" rIns="92075" bIns="46038">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40000"/>
              </a:lnSpc>
            </a:pPr>
            <a:r>
              <a:rPr lang="zh-CN" altLang="en-US" dirty="0">
                <a:solidFill>
                  <a:schemeClr val="hlink"/>
                </a:solidFill>
              </a:rPr>
              <a:t>初始化：将用到的内部部件或扩展芯片进行初始工作状态设定。</a:t>
            </a:r>
          </a:p>
          <a:p>
            <a:pPr>
              <a:lnSpc>
                <a:spcPct val="140000"/>
              </a:lnSpc>
            </a:pPr>
            <a:r>
              <a:rPr lang="zh-CN" altLang="en-US" dirty="0"/>
              <a:t>单片机</a:t>
            </a:r>
            <a:r>
              <a:rPr lang="zh-CN" altLang="en-US" dirty="0">
                <a:solidFill>
                  <a:srgbClr val="FF6600"/>
                </a:solidFill>
              </a:rPr>
              <a:t>复位</a:t>
            </a:r>
            <a:r>
              <a:rPr lang="zh-CN" altLang="en-US" dirty="0"/>
              <a:t>后，特殊功能寄存器</a:t>
            </a:r>
            <a:r>
              <a:rPr lang="en-US" altLang="zh-CN" dirty="0">
                <a:solidFill>
                  <a:srgbClr val="FF6600"/>
                </a:solidFill>
              </a:rPr>
              <a:t>IE</a:t>
            </a:r>
            <a:r>
              <a:rPr lang="zh-CN" altLang="en-US" dirty="0">
                <a:solidFill>
                  <a:srgbClr val="FF6600"/>
                </a:solidFill>
              </a:rPr>
              <a:t>、</a:t>
            </a:r>
            <a:r>
              <a:rPr lang="en-US" altLang="zh-CN" dirty="0">
                <a:solidFill>
                  <a:srgbClr val="FF6600"/>
                </a:solidFill>
              </a:rPr>
              <a:t>IP</a:t>
            </a:r>
            <a:r>
              <a:rPr lang="zh-CN" altLang="en-US" dirty="0">
                <a:solidFill>
                  <a:srgbClr val="FF6600"/>
                </a:solidFill>
              </a:rPr>
              <a:t>内容均为</a:t>
            </a:r>
            <a:r>
              <a:rPr lang="en-US" altLang="zh-CN" dirty="0">
                <a:solidFill>
                  <a:srgbClr val="FF6600"/>
                </a:solidFill>
              </a:rPr>
              <a:t>00H</a:t>
            </a:r>
            <a:r>
              <a:rPr lang="zh-CN" altLang="en-US" dirty="0"/>
              <a:t>，</a:t>
            </a:r>
            <a:r>
              <a:rPr lang="zh-CN" altLang="en-US" b="1" dirty="0">
                <a:solidFill>
                  <a:srgbClr val="FF0000"/>
                </a:solidFill>
              </a:rPr>
              <a:t>所以应对</a:t>
            </a:r>
            <a:r>
              <a:rPr lang="en-US" altLang="zh-CN" b="1" dirty="0">
                <a:solidFill>
                  <a:srgbClr val="FF0000"/>
                </a:solidFill>
              </a:rPr>
              <a:t>IE</a:t>
            </a:r>
            <a:r>
              <a:rPr lang="zh-CN" altLang="en-US" b="1" dirty="0">
                <a:solidFill>
                  <a:srgbClr val="FF0000"/>
                </a:solidFill>
              </a:rPr>
              <a:t>、</a:t>
            </a:r>
            <a:r>
              <a:rPr lang="en-US" altLang="zh-CN" b="1" dirty="0">
                <a:solidFill>
                  <a:srgbClr val="FF0000"/>
                </a:solidFill>
              </a:rPr>
              <a:t>IP</a:t>
            </a:r>
            <a:r>
              <a:rPr lang="zh-CN" altLang="en-US" b="1" dirty="0">
                <a:solidFill>
                  <a:srgbClr val="FF0000"/>
                </a:solidFill>
              </a:rPr>
              <a:t>进行初始化编程，以开放中断，允许某些中断源中断和设置中断优先级等</a:t>
            </a:r>
            <a:r>
              <a:rPr lang="zh-CN" altLang="en-US" b="1" dirty="0"/>
              <a:t>。</a:t>
            </a:r>
            <a:endParaRPr lang="zh-CN" altLang="en-US" dirty="0"/>
          </a:p>
        </p:txBody>
      </p:sp>
      <p:sp>
        <p:nvSpPr>
          <p:cNvPr id="18" name="object 2"/>
          <p:cNvSpPr txBox="1">
            <a:spLocks noGrp="1"/>
          </p:cNvSpPr>
          <p:nvPr/>
        </p:nvSpPr>
        <p:spPr>
          <a:xfrm>
            <a:off x="1442720" y="343535"/>
            <a:ext cx="4768215" cy="381635"/>
          </a:xfrm>
          <a:prstGeom prst="rect">
            <a:avLst/>
          </a:prstGeom>
        </p:spPr>
        <p:txBody>
          <a:bodyPr vert="horz" wrap="square" lIns="0" tIns="12700" rIns="0" bIns="0" rtlCol="0">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12700">
              <a:lnSpc>
                <a:spcPct val="100000"/>
              </a:lnSpc>
              <a:spcBef>
                <a:spcPts val="100"/>
              </a:spcBef>
            </a:pPr>
            <a:r>
              <a:rPr lang="en-US" sz="2400" spc="10" dirty="0">
                <a:ea typeface="微软雅黑" panose="020B0503020204020204" charset="-122"/>
              </a:rPr>
              <a:t>§</a:t>
            </a:r>
            <a:r>
              <a:rPr lang="en-US" sz="2400" spc="10" dirty="0"/>
              <a:t>5.5  </a:t>
            </a:r>
            <a:r>
              <a:rPr sz="2400" spc="10" dirty="0"/>
              <a:t>中断</a:t>
            </a:r>
            <a:r>
              <a:rPr lang="zh-CN" sz="2400" spc="10" dirty="0"/>
              <a:t>程序举例</a:t>
            </a:r>
          </a:p>
        </p:txBody>
      </p:sp>
      <p:sp>
        <p:nvSpPr>
          <p:cNvPr id="3" name="灯片编号占位符 2"/>
          <p:cNvSpPr>
            <a:spLocks noGrp="1"/>
          </p:cNvSpPr>
          <p:nvPr>
            <p:ph type="sldNum" sz="quarter" idx="7"/>
          </p:nvPr>
        </p:nvSpPr>
        <p:spPr/>
        <p:txBody>
          <a:bodyPr/>
          <a:lstStyle/>
          <a:p>
            <a:pPr marL="25400">
              <a:lnSpc>
                <a:spcPct val="100000"/>
              </a:lnSpc>
              <a:spcBef>
                <a:spcPts val="185"/>
              </a:spcBef>
            </a:pPr>
            <a:fld id="{81D60167-4931-47E6-BA6A-407CBD079E47}" type="slidenum">
              <a:rPr spc="-5" dirty="0"/>
              <a:t>28</a:t>
            </a:fld>
            <a:endParaRPr spc="-5" dirty="0"/>
          </a:p>
        </p:txBody>
      </p:sp>
    </p:spTree>
  </p:cSld>
  <p:clrMapOvr>
    <a:masterClrMapping/>
  </p:clrMapOvr>
  <p:transition advClick="0">
    <p:cut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8395" y="1538097"/>
            <a:ext cx="5821680" cy="1857375"/>
          </a:xfrm>
          <a:prstGeom prst="rect">
            <a:avLst/>
          </a:prstGeom>
        </p:spPr>
        <p:txBody>
          <a:bodyPr vert="horz" wrap="square" lIns="0" tIns="195580" rIns="0" bIns="0" rtlCol="0">
            <a:spAutoFit/>
          </a:bodyPr>
          <a:lstStyle/>
          <a:p>
            <a:pPr marL="12700">
              <a:lnSpc>
                <a:spcPct val="100000"/>
              </a:lnSpc>
              <a:spcBef>
                <a:spcPts val="1540"/>
              </a:spcBef>
            </a:pPr>
            <a:r>
              <a:rPr b="1" spc="-10" dirty="0">
                <a:solidFill>
                  <a:srgbClr val="0000CC"/>
                </a:solidFill>
                <a:latin typeface="Arial" panose="020B0604020202020204"/>
                <a:cs typeface="Arial" panose="020B0604020202020204"/>
              </a:rPr>
              <a:t>1</a:t>
            </a:r>
            <a:r>
              <a:rPr b="1" dirty="0">
                <a:solidFill>
                  <a:srgbClr val="0000CC"/>
                </a:solidFill>
                <a:latin typeface="Microsoft JhengHei" panose="020B0604030504040204" charset="-120"/>
                <a:cs typeface="Microsoft JhengHei" panose="020B0604030504040204" charset="-120"/>
              </a:rPr>
              <a:t>、</a:t>
            </a:r>
            <a:r>
              <a:rPr b="1" spc="5" dirty="0">
                <a:solidFill>
                  <a:srgbClr val="0000CC"/>
                </a:solidFill>
                <a:latin typeface="Microsoft JhengHei" panose="020B0604030504040204" charset="-120"/>
                <a:cs typeface="Microsoft JhengHei" panose="020B0604030504040204" charset="-120"/>
              </a:rPr>
              <a:t>在</a:t>
            </a:r>
            <a:r>
              <a:rPr b="1" dirty="0">
                <a:solidFill>
                  <a:srgbClr val="0000CC"/>
                </a:solidFill>
                <a:latin typeface="Microsoft JhengHei" panose="020B0604030504040204" charset="-120"/>
                <a:cs typeface="Microsoft JhengHei" panose="020B0604030504040204" charset="-120"/>
              </a:rPr>
              <a:t>主</a:t>
            </a:r>
            <a:r>
              <a:rPr b="1" spc="15" dirty="0">
                <a:solidFill>
                  <a:srgbClr val="0000CC"/>
                </a:solidFill>
                <a:latin typeface="Microsoft JhengHei" panose="020B0604030504040204" charset="-120"/>
                <a:cs typeface="Microsoft JhengHei" panose="020B0604030504040204" charset="-120"/>
              </a:rPr>
              <a:t>程</a:t>
            </a:r>
            <a:r>
              <a:rPr b="1" spc="5" dirty="0">
                <a:solidFill>
                  <a:srgbClr val="0000CC"/>
                </a:solidFill>
                <a:latin typeface="Microsoft JhengHei" panose="020B0604030504040204" charset="-120"/>
                <a:cs typeface="Microsoft JhengHei" panose="020B0604030504040204" charset="-120"/>
              </a:rPr>
              <a:t>序中</a:t>
            </a:r>
            <a:r>
              <a:rPr b="1" spc="15" dirty="0">
                <a:solidFill>
                  <a:srgbClr val="0000CC"/>
                </a:solidFill>
                <a:latin typeface="Microsoft JhengHei" panose="020B0604030504040204" charset="-120"/>
                <a:cs typeface="Microsoft JhengHei" panose="020B0604030504040204" charset="-120"/>
              </a:rPr>
              <a:t>完</a:t>
            </a:r>
            <a:r>
              <a:rPr b="1" spc="5" dirty="0">
                <a:solidFill>
                  <a:srgbClr val="0000CC"/>
                </a:solidFill>
                <a:latin typeface="Microsoft JhengHei" panose="020B0604030504040204" charset="-120"/>
                <a:cs typeface="Microsoft JhengHei" panose="020B0604030504040204" charset="-120"/>
              </a:rPr>
              <a:t>成初始化</a:t>
            </a:r>
            <a:r>
              <a:rPr b="1" dirty="0">
                <a:solidFill>
                  <a:srgbClr val="0000CC"/>
                </a:solidFill>
                <a:latin typeface="Microsoft JhengHei" panose="020B0604030504040204" charset="-120"/>
                <a:cs typeface="Microsoft JhengHei" panose="020B0604030504040204" charset="-120"/>
              </a:rPr>
              <a:t>：</a:t>
            </a:r>
            <a:endParaRPr dirty="0">
              <a:latin typeface="Microsoft JhengHei" panose="020B0604030504040204" charset="-120"/>
              <a:cs typeface="Microsoft JhengHei" panose="020B0604030504040204" charset="-120"/>
            </a:endParaRPr>
          </a:p>
          <a:p>
            <a:pPr marL="1213485" indent="-781050">
              <a:lnSpc>
                <a:spcPct val="100000"/>
              </a:lnSpc>
              <a:spcBef>
                <a:spcPts val="1445"/>
              </a:spcBef>
              <a:buClr>
                <a:srgbClr val="000000"/>
              </a:buClr>
              <a:buSzPct val="96000"/>
              <a:buAutoNum type="arabicPlain"/>
              <a:tabLst>
                <a:tab pos="1214120" algn="l"/>
              </a:tabLst>
            </a:pPr>
            <a:r>
              <a:rPr b="1" dirty="0" err="1">
                <a:solidFill>
                  <a:srgbClr val="3333CC"/>
                </a:solidFill>
                <a:latin typeface="Microsoft JhengHei" panose="020B0604030504040204" charset="-120"/>
                <a:cs typeface="Microsoft JhengHei" panose="020B0604030504040204" charset="-120"/>
              </a:rPr>
              <a:t>设</a:t>
            </a:r>
            <a:r>
              <a:rPr b="1" spc="15" dirty="0" err="1">
                <a:solidFill>
                  <a:srgbClr val="3333CC"/>
                </a:solidFill>
                <a:latin typeface="Microsoft JhengHei" panose="020B0604030504040204" charset="-120"/>
                <a:cs typeface="Microsoft JhengHei" panose="020B0604030504040204" charset="-120"/>
              </a:rPr>
              <a:t>置</a:t>
            </a:r>
            <a:r>
              <a:rPr b="1" spc="5" dirty="0" err="1">
                <a:solidFill>
                  <a:srgbClr val="3333CC"/>
                </a:solidFill>
                <a:latin typeface="Microsoft JhengHei" panose="020B0604030504040204" charset="-120"/>
                <a:cs typeface="Microsoft JhengHei" panose="020B0604030504040204" charset="-120"/>
              </a:rPr>
              <a:t>中</a:t>
            </a:r>
            <a:r>
              <a:rPr b="1" spc="15" dirty="0" err="1">
                <a:solidFill>
                  <a:srgbClr val="3333CC"/>
                </a:solidFill>
                <a:latin typeface="Microsoft JhengHei" panose="020B0604030504040204" charset="-120"/>
                <a:cs typeface="Microsoft JhengHei" panose="020B0604030504040204" charset="-120"/>
              </a:rPr>
              <a:t>断</a:t>
            </a:r>
            <a:r>
              <a:rPr b="1" spc="5" dirty="0" err="1">
                <a:solidFill>
                  <a:srgbClr val="3333CC"/>
                </a:solidFill>
                <a:latin typeface="Microsoft JhengHei" panose="020B0604030504040204" charset="-120"/>
                <a:cs typeface="Microsoft JhengHei" panose="020B0604030504040204" charset="-120"/>
              </a:rPr>
              <a:t>允许控制寄存</a:t>
            </a:r>
            <a:r>
              <a:rPr b="1" spc="30" dirty="0" err="1">
                <a:solidFill>
                  <a:srgbClr val="3333CC"/>
                </a:solidFill>
                <a:latin typeface="Microsoft JhengHei" panose="020B0604030504040204" charset="-120"/>
                <a:cs typeface="Microsoft JhengHei" panose="020B0604030504040204" charset="-120"/>
              </a:rPr>
              <a:t>器</a:t>
            </a:r>
            <a:r>
              <a:rPr lang="en-US" altLang="zh-CN" b="1" spc="30" dirty="0" err="1">
                <a:solidFill>
                  <a:srgbClr val="3333CC"/>
                </a:solidFill>
                <a:latin typeface="Microsoft JhengHei" panose="020B0604030504040204" charset="-120"/>
                <a:cs typeface="Microsoft JhengHei" panose="020B0604030504040204" charset="-120"/>
              </a:rPr>
              <a:t>IE</a:t>
            </a:r>
            <a:r>
              <a:rPr b="1" dirty="0">
                <a:latin typeface="Microsoft JhengHei" panose="020B0604030504040204" charset="-120"/>
                <a:cs typeface="Microsoft JhengHei" panose="020B0604030504040204" charset="-120"/>
              </a:rPr>
              <a:t>，</a:t>
            </a:r>
            <a:endParaRPr dirty="0">
              <a:latin typeface="Microsoft JhengHei" panose="020B0604030504040204" charset="-120"/>
              <a:cs typeface="Microsoft JhengHei" panose="020B0604030504040204" charset="-120"/>
            </a:endParaRPr>
          </a:p>
          <a:p>
            <a:pPr marL="1213485" indent="-781050">
              <a:lnSpc>
                <a:spcPct val="100000"/>
              </a:lnSpc>
              <a:spcBef>
                <a:spcPts val="1435"/>
              </a:spcBef>
              <a:buClr>
                <a:srgbClr val="000000"/>
              </a:buClr>
              <a:buSzPct val="96000"/>
              <a:buAutoNum type="arabicPlain"/>
              <a:tabLst>
                <a:tab pos="1214120" algn="l"/>
              </a:tabLst>
            </a:pPr>
            <a:r>
              <a:rPr b="1" dirty="0" err="1">
                <a:solidFill>
                  <a:srgbClr val="3333CC"/>
                </a:solidFill>
                <a:latin typeface="Microsoft JhengHei" panose="020B0604030504040204" charset="-120"/>
                <a:cs typeface="Microsoft JhengHei" panose="020B0604030504040204" charset="-120"/>
              </a:rPr>
              <a:t>设</a:t>
            </a:r>
            <a:r>
              <a:rPr b="1" spc="15" dirty="0" err="1">
                <a:solidFill>
                  <a:srgbClr val="3333CC"/>
                </a:solidFill>
                <a:latin typeface="Microsoft JhengHei" panose="020B0604030504040204" charset="-120"/>
                <a:cs typeface="Microsoft JhengHei" panose="020B0604030504040204" charset="-120"/>
              </a:rPr>
              <a:t>置</a:t>
            </a:r>
            <a:r>
              <a:rPr b="1" spc="5" dirty="0" err="1">
                <a:solidFill>
                  <a:srgbClr val="3333CC"/>
                </a:solidFill>
                <a:latin typeface="Microsoft JhengHei" panose="020B0604030504040204" charset="-120"/>
                <a:cs typeface="Microsoft JhengHei" panose="020B0604030504040204" charset="-120"/>
              </a:rPr>
              <a:t>中</a:t>
            </a:r>
            <a:r>
              <a:rPr b="1" spc="15" dirty="0" err="1">
                <a:solidFill>
                  <a:srgbClr val="3333CC"/>
                </a:solidFill>
                <a:latin typeface="Microsoft JhengHei" panose="020B0604030504040204" charset="-120"/>
                <a:cs typeface="Microsoft JhengHei" panose="020B0604030504040204" charset="-120"/>
              </a:rPr>
              <a:t>断</a:t>
            </a:r>
            <a:r>
              <a:rPr b="1" spc="5" dirty="0" err="1">
                <a:solidFill>
                  <a:srgbClr val="3333CC"/>
                </a:solidFill>
                <a:latin typeface="Microsoft JhengHei" panose="020B0604030504040204" charset="-120"/>
                <a:cs typeface="Microsoft JhengHei" panose="020B0604030504040204" charset="-120"/>
              </a:rPr>
              <a:t>优先级寄存</a:t>
            </a:r>
            <a:r>
              <a:rPr b="1" spc="30" dirty="0" err="1">
                <a:solidFill>
                  <a:srgbClr val="3333CC"/>
                </a:solidFill>
                <a:latin typeface="Microsoft JhengHei" panose="020B0604030504040204" charset="-120"/>
                <a:cs typeface="Microsoft JhengHei" panose="020B0604030504040204" charset="-120"/>
              </a:rPr>
              <a:t>器</a:t>
            </a:r>
            <a:r>
              <a:rPr lang="en-US" altLang="zh-CN" b="1" spc="30" dirty="0" err="1">
                <a:solidFill>
                  <a:srgbClr val="3333CC"/>
                </a:solidFill>
                <a:latin typeface="Microsoft JhengHei" panose="020B0604030504040204" charset="-120"/>
                <a:cs typeface="Microsoft JhengHei" panose="020B0604030504040204" charset="-120"/>
              </a:rPr>
              <a:t>IP</a:t>
            </a:r>
            <a:r>
              <a:rPr b="1" dirty="0">
                <a:latin typeface="Microsoft JhengHei" panose="020B0604030504040204" charset="-120"/>
                <a:cs typeface="Microsoft JhengHei" panose="020B0604030504040204" charset="-120"/>
              </a:rPr>
              <a:t>，</a:t>
            </a:r>
            <a:endParaRPr dirty="0">
              <a:latin typeface="Microsoft JhengHei" panose="020B0604030504040204" charset="-120"/>
              <a:cs typeface="Microsoft JhengHei" panose="020B0604030504040204" charset="-120"/>
            </a:endParaRPr>
          </a:p>
          <a:p>
            <a:pPr marL="1213485" indent="-781050">
              <a:lnSpc>
                <a:spcPct val="100000"/>
              </a:lnSpc>
              <a:spcBef>
                <a:spcPts val="1440"/>
              </a:spcBef>
              <a:buClr>
                <a:srgbClr val="000000"/>
              </a:buClr>
              <a:buSzPct val="96000"/>
              <a:buAutoNum type="arabicPlain"/>
              <a:tabLst>
                <a:tab pos="1214120" algn="l"/>
              </a:tabLst>
            </a:pPr>
            <a:r>
              <a:rPr b="1" dirty="0" err="1">
                <a:solidFill>
                  <a:srgbClr val="3333CC"/>
                </a:solidFill>
                <a:latin typeface="Microsoft JhengHei" panose="020B0604030504040204" charset="-120"/>
                <a:cs typeface="Microsoft JhengHei" panose="020B0604030504040204" charset="-120"/>
              </a:rPr>
              <a:t>若</a:t>
            </a:r>
            <a:r>
              <a:rPr b="1" spc="15" dirty="0" err="1">
                <a:solidFill>
                  <a:srgbClr val="3333CC"/>
                </a:solidFill>
                <a:latin typeface="Microsoft JhengHei" panose="020B0604030504040204" charset="-120"/>
                <a:cs typeface="Microsoft JhengHei" panose="020B0604030504040204" charset="-120"/>
              </a:rPr>
              <a:t>是</a:t>
            </a:r>
            <a:r>
              <a:rPr b="1" spc="5" dirty="0" err="1">
                <a:solidFill>
                  <a:srgbClr val="3333CC"/>
                </a:solidFill>
                <a:latin typeface="Microsoft JhengHei" panose="020B0604030504040204" charset="-120"/>
                <a:cs typeface="Microsoft JhengHei" panose="020B0604030504040204" charset="-120"/>
              </a:rPr>
              <a:t>外</a:t>
            </a:r>
            <a:r>
              <a:rPr b="1" spc="15" dirty="0" err="1">
                <a:solidFill>
                  <a:srgbClr val="3333CC"/>
                </a:solidFill>
                <a:latin typeface="Microsoft JhengHei" panose="020B0604030504040204" charset="-120"/>
                <a:cs typeface="Microsoft JhengHei" panose="020B0604030504040204" charset="-120"/>
              </a:rPr>
              <a:t>部</a:t>
            </a:r>
            <a:r>
              <a:rPr b="1" spc="5" dirty="0" err="1">
                <a:solidFill>
                  <a:srgbClr val="3333CC"/>
                </a:solidFill>
                <a:latin typeface="Microsoft JhengHei" panose="020B0604030504040204" charset="-120"/>
                <a:cs typeface="Microsoft JhengHei" panose="020B0604030504040204" charset="-120"/>
              </a:rPr>
              <a:t>中断</a:t>
            </a:r>
            <a:r>
              <a:rPr b="1" spc="20" dirty="0" err="1">
                <a:solidFill>
                  <a:srgbClr val="3333CC"/>
                </a:solidFill>
                <a:latin typeface="Microsoft JhengHei" panose="020B0604030504040204" charset="-120"/>
                <a:cs typeface="Microsoft JhengHei" panose="020B0604030504040204" charset="-120"/>
              </a:rPr>
              <a:t>源</a:t>
            </a:r>
            <a:r>
              <a:rPr b="1" spc="10" dirty="0" err="1">
                <a:latin typeface="Microsoft JhengHei" panose="020B0604030504040204" charset="-120"/>
                <a:cs typeface="Microsoft JhengHei" panose="020B0604030504040204" charset="-120"/>
              </a:rPr>
              <a:t>，设置触发方式</a:t>
            </a:r>
            <a:r>
              <a:rPr lang="en-US" altLang="zh-CN" b="1" spc="10" dirty="0" err="1">
                <a:latin typeface="Microsoft JhengHei" panose="020B0604030504040204" charset="-120"/>
                <a:cs typeface="Microsoft JhengHei" panose="020B0604030504040204" charset="-120"/>
              </a:rPr>
              <a:t>TCON</a:t>
            </a:r>
            <a:r>
              <a:rPr b="1" spc="10" dirty="0">
                <a:latin typeface="Microsoft JhengHei" panose="020B0604030504040204" charset="-120"/>
                <a:cs typeface="Microsoft JhengHei" panose="020B0604030504040204" charset="-120"/>
              </a:rPr>
              <a:t>。</a:t>
            </a:r>
          </a:p>
        </p:txBody>
      </p:sp>
      <p:sp>
        <p:nvSpPr>
          <p:cNvPr id="3" name="object 3"/>
          <p:cNvSpPr txBox="1"/>
          <p:nvPr/>
        </p:nvSpPr>
        <p:spPr>
          <a:xfrm>
            <a:off x="628904" y="3458337"/>
            <a:ext cx="5707380" cy="289560"/>
          </a:xfrm>
          <a:prstGeom prst="rect">
            <a:avLst/>
          </a:prstGeom>
        </p:spPr>
        <p:txBody>
          <a:bodyPr vert="horz" wrap="square" lIns="0" tIns="12700" rIns="0" bIns="0" rtlCol="0">
            <a:spAutoFit/>
          </a:bodyPr>
          <a:lstStyle/>
          <a:p>
            <a:pPr marL="12700">
              <a:lnSpc>
                <a:spcPct val="100000"/>
              </a:lnSpc>
              <a:spcBef>
                <a:spcPts val="100"/>
              </a:spcBef>
            </a:pPr>
            <a:r>
              <a:rPr b="1" spc="-10" dirty="0">
                <a:solidFill>
                  <a:srgbClr val="0000CC"/>
                </a:solidFill>
                <a:latin typeface="Arial" panose="020B0604020202020204"/>
                <a:cs typeface="Arial" panose="020B0604020202020204"/>
              </a:rPr>
              <a:t>2</a:t>
            </a:r>
            <a:r>
              <a:rPr b="1" dirty="0">
                <a:solidFill>
                  <a:srgbClr val="0000CC"/>
                </a:solidFill>
                <a:latin typeface="Microsoft JhengHei" panose="020B0604030504040204" charset="-120"/>
                <a:cs typeface="Microsoft JhengHei" panose="020B0604030504040204" charset="-120"/>
              </a:rPr>
              <a:t>、</a:t>
            </a:r>
            <a:r>
              <a:rPr b="1" spc="5" dirty="0">
                <a:solidFill>
                  <a:srgbClr val="0000CC"/>
                </a:solidFill>
                <a:latin typeface="Microsoft JhengHei" panose="020B0604030504040204" charset="-120"/>
                <a:cs typeface="Microsoft JhengHei" panose="020B0604030504040204" charset="-120"/>
              </a:rPr>
              <a:t>编</a:t>
            </a:r>
            <a:r>
              <a:rPr b="1" dirty="0">
                <a:solidFill>
                  <a:srgbClr val="0000CC"/>
                </a:solidFill>
                <a:latin typeface="Microsoft JhengHei" panose="020B0604030504040204" charset="-120"/>
                <a:cs typeface="Microsoft JhengHei" panose="020B0604030504040204" charset="-120"/>
              </a:rPr>
              <a:t>写</a:t>
            </a:r>
            <a:r>
              <a:rPr b="1" spc="15" dirty="0">
                <a:solidFill>
                  <a:srgbClr val="0000CC"/>
                </a:solidFill>
                <a:latin typeface="Microsoft JhengHei" panose="020B0604030504040204" charset="-120"/>
                <a:cs typeface="Microsoft JhengHei" panose="020B0604030504040204" charset="-120"/>
              </a:rPr>
              <a:t>中</a:t>
            </a:r>
            <a:r>
              <a:rPr b="1" spc="5" dirty="0">
                <a:solidFill>
                  <a:srgbClr val="0000CC"/>
                </a:solidFill>
                <a:latin typeface="Microsoft JhengHei" panose="020B0604030504040204" charset="-120"/>
                <a:cs typeface="Microsoft JhengHei" panose="020B0604030504040204" charset="-120"/>
              </a:rPr>
              <a:t>断服</a:t>
            </a:r>
            <a:r>
              <a:rPr b="1" spc="15" dirty="0">
                <a:solidFill>
                  <a:srgbClr val="0000CC"/>
                </a:solidFill>
                <a:latin typeface="Microsoft JhengHei" panose="020B0604030504040204" charset="-120"/>
                <a:cs typeface="Microsoft JhengHei" panose="020B0604030504040204" charset="-120"/>
              </a:rPr>
              <a:t>务</a:t>
            </a:r>
            <a:r>
              <a:rPr b="1" spc="5" dirty="0">
                <a:solidFill>
                  <a:srgbClr val="0000CC"/>
                </a:solidFill>
                <a:latin typeface="Microsoft JhengHei" panose="020B0604030504040204" charset="-120"/>
                <a:cs typeface="Microsoft JhengHei" panose="020B0604030504040204" charset="-120"/>
              </a:rPr>
              <a:t>子程序</a:t>
            </a:r>
            <a:r>
              <a:rPr b="1" spc="30" dirty="0">
                <a:solidFill>
                  <a:srgbClr val="0000CC"/>
                </a:solidFill>
                <a:latin typeface="Microsoft JhengHei" panose="020B0604030504040204" charset="-120"/>
                <a:cs typeface="Microsoft JhengHei" panose="020B0604030504040204" charset="-120"/>
              </a:rPr>
              <a:t>，</a:t>
            </a:r>
            <a:r>
              <a:rPr b="1" spc="10" dirty="0">
                <a:latin typeface="Microsoft JhengHei" panose="020B0604030504040204" charset="-120"/>
                <a:cs typeface="Microsoft JhengHei" panose="020B0604030504040204" charset="-120"/>
              </a:rPr>
              <a:t>处理中断请求。</a:t>
            </a:r>
          </a:p>
        </p:txBody>
      </p:sp>
      <p:sp>
        <p:nvSpPr>
          <p:cNvPr id="4" name="object 4"/>
          <p:cNvSpPr txBox="1">
            <a:spLocks noGrp="1"/>
          </p:cNvSpPr>
          <p:nvPr>
            <p:ph type="title"/>
          </p:nvPr>
        </p:nvSpPr>
        <p:spPr>
          <a:xfrm>
            <a:off x="774064" y="1156589"/>
            <a:ext cx="6105525" cy="381635"/>
          </a:xfrm>
          <a:prstGeom prst="rect">
            <a:avLst/>
          </a:prstGeom>
        </p:spPr>
        <p:txBody>
          <a:bodyPr vert="horz" wrap="square" lIns="0" tIns="12700" rIns="0" bIns="0" rtlCol="0">
            <a:spAutoFit/>
          </a:bodyPr>
          <a:lstStyle/>
          <a:p>
            <a:pPr marL="12700">
              <a:lnSpc>
                <a:spcPct val="100000"/>
              </a:lnSpc>
              <a:spcBef>
                <a:spcPts val="100"/>
              </a:spcBef>
            </a:pPr>
            <a:r>
              <a:rPr spc="10" dirty="0">
                <a:solidFill>
                  <a:srgbClr val="FF0000"/>
                </a:solidFill>
              </a:rPr>
              <a:t>中断服务程序设计的任务（两个任务）</a:t>
            </a:r>
          </a:p>
        </p:txBody>
      </p:sp>
      <p:sp>
        <p:nvSpPr>
          <p:cNvPr id="18" name="object 2"/>
          <p:cNvSpPr txBox="1">
            <a:spLocks noGrp="1"/>
          </p:cNvSpPr>
          <p:nvPr/>
        </p:nvSpPr>
        <p:spPr>
          <a:xfrm>
            <a:off x="1442720" y="343535"/>
            <a:ext cx="4768215" cy="381635"/>
          </a:xfrm>
          <a:prstGeom prst="rect">
            <a:avLst/>
          </a:prstGeom>
        </p:spPr>
        <p:txBody>
          <a:bodyPr vert="horz" wrap="square" lIns="0" tIns="12700" rIns="0" bIns="0" rtlCol="0">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12700">
              <a:lnSpc>
                <a:spcPct val="100000"/>
              </a:lnSpc>
              <a:spcBef>
                <a:spcPts val="100"/>
              </a:spcBef>
            </a:pPr>
            <a:r>
              <a:rPr lang="en-US" sz="2400" spc="10" dirty="0">
                <a:ea typeface="微软雅黑" panose="020B0503020204020204" charset="-122"/>
              </a:rPr>
              <a:t>§</a:t>
            </a:r>
            <a:r>
              <a:rPr lang="en-US" sz="2400" spc="10" dirty="0"/>
              <a:t>5.5  </a:t>
            </a:r>
            <a:r>
              <a:rPr sz="2400" spc="10" dirty="0"/>
              <a:t>中断</a:t>
            </a:r>
            <a:r>
              <a:rPr lang="zh-CN" sz="2400" spc="10" dirty="0"/>
              <a:t>程序举例</a:t>
            </a:r>
          </a:p>
        </p:txBody>
      </p:sp>
      <p:pic>
        <p:nvPicPr>
          <p:cNvPr id="12" name="图片 11"/>
          <p:cNvPicPr>
            <a:picLocks noChangeAspect="1"/>
          </p:cNvPicPr>
          <p:nvPr/>
        </p:nvPicPr>
        <p:blipFill>
          <a:blip r:embed="rId2"/>
          <a:stretch>
            <a:fillRect/>
          </a:stretch>
        </p:blipFill>
        <p:spPr>
          <a:xfrm>
            <a:off x="628650" y="4156075"/>
            <a:ext cx="3923665" cy="2453005"/>
          </a:xfrm>
          <a:prstGeom prst="rect">
            <a:avLst/>
          </a:prstGeom>
        </p:spPr>
      </p:pic>
      <p:sp>
        <p:nvSpPr>
          <p:cNvPr id="8" name="object 8"/>
          <p:cNvSpPr txBox="1">
            <a:spLocks noGrp="1"/>
          </p:cNvSpPr>
          <p:nvPr/>
        </p:nvSpPr>
        <p:spPr>
          <a:xfrm>
            <a:off x="1037462" y="3830573"/>
            <a:ext cx="4008120" cy="258445"/>
          </a:xfrm>
          <a:prstGeom prst="rect">
            <a:avLst/>
          </a:prstGeom>
        </p:spPr>
        <p:txBody>
          <a:bodyPr vert="horz" wrap="square" lIns="0" tIns="12700" rIns="0" bIns="0" rtlCol="0">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12700">
              <a:lnSpc>
                <a:spcPct val="100000"/>
              </a:lnSpc>
              <a:spcBef>
                <a:spcPts val="100"/>
              </a:spcBef>
            </a:pPr>
            <a:r>
              <a:rPr sz="1600" spc="10" dirty="0"/>
              <a:t>采用中断时的常用主程序结构</a:t>
            </a:r>
          </a:p>
        </p:txBody>
      </p:sp>
      <p:sp>
        <p:nvSpPr>
          <p:cNvPr id="6" name="object 2"/>
          <p:cNvSpPr txBox="1"/>
          <p:nvPr/>
        </p:nvSpPr>
        <p:spPr>
          <a:xfrm>
            <a:off x="4651375" y="3844925"/>
            <a:ext cx="4015105" cy="2689860"/>
          </a:xfrm>
          <a:prstGeom prst="rect">
            <a:avLst/>
          </a:prstGeom>
        </p:spPr>
        <p:txBody>
          <a:bodyPr vert="horz" wrap="square" lIns="0" tIns="12700" rIns="0" bIns="0" rtlCol="0">
            <a:spAutoFit/>
          </a:bodyPr>
          <a:lstStyle/>
          <a:p>
            <a:pPr marL="406400" indent="-356235" algn="just">
              <a:lnSpc>
                <a:spcPct val="100000"/>
              </a:lnSpc>
              <a:spcBef>
                <a:spcPts val="100"/>
              </a:spcBef>
              <a:buClr>
                <a:srgbClr val="00007C"/>
              </a:buClr>
              <a:buSzPct val="75000"/>
              <a:buFont typeface="Wingdings" panose="05000000000000000000"/>
              <a:buChar char=""/>
              <a:tabLst>
                <a:tab pos="406400" algn="l"/>
              </a:tabLst>
            </a:pPr>
            <a:r>
              <a:rPr sz="1400" b="1" spc="5" dirty="0">
                <a:solidFill>
                  <a:srgbClr val="FF3300"/>
                </a:solidFill>
                <a:latin typeface="Microsoft JhengHei" panose="020B0604030504040204" charset="-120"/>
                <a:cs typeface="Microsoft JhengHei" panose="020B0604030504040204" charset="-120"/>
              </a:rPr>
              <a:t>在</a:t>
            </a:r>
            <a:r>
              <a:rPr sz="1400" b="1" spc="-5" dirty="0">
                <a:solidFill>
                  <a:srgbClr val="FF3300"/>
                </a:solidFill>
                <a:latin typeface="Times New Roman" panose="02020603050405020304"/>
                <a:cs typeface="Times New Roman" panose="02020603050405020304"/>
              </a:rPr>
              <a:t>0000H</a:t>
            </a:r>
            <a:r>
              <a:rPr sz="1400" b="1" dirty="0">
                <a:solidFill>
                  <a:srgbClr val="FF3300"/>
                </a:solidFill>
                <a:latin typeface="Microsoft JhengHei" panose="020B0604030504040204" charset="-120"/>
                <a:cs typeface="Microsoft JhengHei" panose="020B0604030504040204" charset="-120"/>
              </a:rPr>
              <a:t>起</a:t>
            </a:r>
            <a:r>
              <a:rPr sz="1400" b="1" spc="5" dirty="0">
                <a:solidFill>
                  <a:srgbClr val="FF3300"/>
                </a:solidFill>
                <a:latin typeface="Microsoft JhengHei" panose="020B0604030504040204" charset="-120"/>
                <a:cs typeface="Microsoft JhengHei" panose="020B0604030504040204" charset="-120"/>
              </a:rPr>
              <a:t>始</a:t>
            </a:r>
            <a:r>
              <a:rPr sz="1400" b="1" dirty="0">
                <a:solidFill>
                  <a:srgbClr val="FF3300"/>
                </a:solidFill>
                <a:latin typeface="Microsoft JhengHei" panose="020B0604030504040204" charset="-120"/>
                <a:cs typeface="Microsoft JhengHei" panose="020B0604030504040204" charset="-120"/>
              </a:rPr>
              <a:t>地</a:t>
            </a:r>
            <a:r>
              <a:rPr sz="1400" b="1" spc="15" dirty="0">
                <a:solidFill>
                  <a:srgbClr val="FF3300"/>
                </a:solidFill>
                <a:latin typeface="Microsoft JhengHei" panose="020B0604030504040204" charset="-120"/>
                <a:cs typeface="Microsoft JhengHei" panose="020B0604030504040204" charset="-120"/>
              </a:rPr>
              <a:t>址</a:t>
            </a:r>
            <a:r>
              <a:rPr sz="1400" b="1" spc="5" dirty="0">
                <a:solidFill>
                  <a:srgbClr val="FF3300"/>
                </a:solidFill>
                <a:latin typeface="Microsoft JhengHei" panose="020B0604030504040204" charset="-120"/>
                <a:cs typeface="Microsoft JhengHei" panose="020B0604030504040204" charset="-120"/>
              </a:rPr>
              <a:t>，用无条件转移</a:t>
            </a:r>
            <a:r>
              <a:rPr sz="1400" b="1" spc="15" dirty="0">
                <a:solidFill>
                  <a:srgbClr val="FF3300"/>
                </a:solidFill>
                <a:latin typeface="Microsoft JhengHei" panose="020B0604030504040204" charset="-120"/>
                <a:cs typeface="Microsoft JhengHei" panose="020B0604030504040204" charset="-120"/>
              </a:rPr>
              <a:t>指</a:t>
            </a:r>
            <a:r>
              <a:rPr sz="1400" b="1" spc="35" dirty="0">
                <a:solidFill>
                  <a:srgbClr val="FF3300"/>
                </a:solidFill>
                <a:latin typeface="Microsoft JhengHei" panose="020B0604030504040204" charset="-120"/>
                <a:cs typeface="Microsoft JhengHei" panose="020B0604030504040204" charset="-120"/>
              </a:rPr>
              <a:t>令</a:t>
            </a:r>
            <a:r>
              <a:rPr sz="1400" b="1" spc="10" dirty="0">
                <a:latin typeface="Microsoft JhengHei" panose="020B0604030504040204" charset="-120"/>
                <a:cs typeface="Microsoft JhengHei" panose="020B0604030504040204" charset="-120"/>
              </a:rPr>
              <a:t>，跳向主程序。</a:t>
            </a:r>
            <a:endParaRPr sz="1400">
              <a:latin typeface="Microsoft JhengHei" panose="020B0604030504040204" charset="-120"/>
              <a:cs typeface="Microsoft JhengHei" panose="020B0604030504040204" charset="-120"/>
            </a:endParaRPr>
          </a:p>
          <a:p>
            <a:pPr marL="50800" marR="121920" algn="just">
              <a:lnSpc>
                <a:spcPct val="150000"/>
              </a:lnSpc>
              <a:spcBef>
                <a:spcPts val="1200"/>
              </a:spcBef>
              <a:buClr>
                <a:srgbClr val="00007C"/>
              </a:buClr>
              <a:buSzPct val="75000"/>
              <a:buFont typeface="Wingdings" panose="05000000000000000000"/>
              <a:buChar char=""/>
              <a:tabLst>
                <a:tab pos="406400" algn="l"/>
              </a:tabLst>
            </a:pPr>
            <a:r>
              <a:rPr sz="1400" b="1" spc="5" dirty="0">
                <a:latin typeface="Microsoft JhengHei" panose="020B0604030504040204" charset="-120"/>
                <a:cs typeface="Microsoft JhengHei" panose="020B0604030504040204" charset="-120"/>
              </a:rPr>
              <a:t>各</a:t>
            </a:r>
            <a:r>
              <a:rPr sz="1400" b="1" dirty="0">
                <a:solidFill>
                  <a:srgbClr val="0000CC"/>
                </a:solidFill>
                <a:latin typeface="Microsoft JhengHei" panose="020B0604030504040204" charset="-120"/>
                <a:cs typeface="Microsoft JhengHei" panose="020B0604030504040204" charset="-120"/>
              </a:rPr>
              <a:t>中</a:t>
            </a:r>
            <a:r>
              <a:rPr sz="1400" b="1" spc="5" dirty="0">
                <a:solidFill>
                  <a:srgbClr val="0000CC"/>
                </a:solidFill>
                <a:latin typeface="Microsoft JhengHei" panose="020B0604030504040204" charset="-120"/>
                <a:cs typeface="Microsoft JhengHei" panose="020B0604030504040204" charset="-120"/>
              </a:rPr>
              <a:t>断</a:t>
            </a:r>
            <a:r>
              <a:rPr sz="1400" b="1" dirty="0">
                <a:solidFill>
                  <a:srgbClr val="0000CC"/>
                </a:solidFill>
                <a:latin typeface="Microsoft JhengHei" panose="020B0604030504040204" charset="-120"/>
                <a:cs typeface="Microsoft JhengHei" panose="020B0604030504040204" charset="-120"/>
              </a:rPr>
              <a:t>入</a:t>
            </a:r>
            <a:r>
              <a:rPr sz="1400" b="1" spc="15" dirty="0">
                <a:solidFill>
                  <a:srgbClr val="0000CC"/>
                </a:solidFill>
                <a:latin typeface="Microsoft JhengHei" panose="020B0604030504040204" charset="-120"/>
                <a:cs typeface="Microsoft JhengHei" panose="020B0604030504040204" charset="-120"/>
              </a:rPr>
              <a:t>口地</a:t>
            </a:r>
            <a:r>
              <a:rPr sz="1400" b="1" spc="5" dirty="0">
                <a:solidFill>
                  <a:srgbClr val="0000CC"/>
                </a:solidFill>
                <a:latin typeface="Microsoft JhengHei" panose="020B0604030504040204" charset="-120"/>
                <a:cs typeface="Microsoft JhengHei" panose="020B0604030504040204" charset="-120"/>
              </a:rPr>
              <a:t>址</a:t>
            </a:r>
            <a:r>
              <a:rPr sz="1400" b="1" spc="15" dirty="0">
                <a:solidFill>
                  <a:srgbClr val="0000CC"/>
                </a:solidFill>
                <a:latin typeface="Microsoft JhengHei" panose="020B0604030504040204" charset="-120"/>
                <a:cs typeface="Microsoft JhengHei" panose="020B0604030504040204" charset="-120"/>
              </a:rPr>
              <a:t>间</a:t>
            </a:r>
            <a:r>
              <a:rPr sz="1400" b="1" spc="10" dirty="0">
                <a:latin typeface="Microsoft JhengHei" panose="020B0604030504040204" charset="-120"/>
                <a:cs typeface="Microsoft JhengHei" panose="020B0604030504040204" charset="-120"/>
              </a:rPr>
              <a:t>依次相</a:t>
            </a:r>
            <a:r>
              <a:rPr sz="1400" b="1" spc="5" dirty="0">
                <a:latin typeface="Microsoft JhengHei" panose="020B0604030504040204" charset="-120"/>
                <a:cs typeface="Microsoft JhengHei" panose="020B0604030504040204" charset="-120"/>
              </a:rPr>
              <a:t>差</a:t>
            </a:r>
            <a:r>
              <a:rPr sz="1400" b="1" spc="5" dirty="0">
                <a:solidFill>
                  <a:srgbClr val="0000CC"/>
                </a:solidFill>
                <a:latin typeface="Times New Roman" panose="02020603050405020304"/>
                <a:cs typeface="Times New Roman" panose="02020603050405020304"/>
              </a:rPr>
              <a:t>8</a:t>
            </a:r>
            <a:r>
              <a:rPr sz="1400" b="1" spc="10" dirty="0">
                <a:solidFill>
                  <a:srgbClr val="0000CC"/>
                </a:solidFill>
                <a:latin typeface="Microsoft JhengHei" panose="020B0604030504040204" charset="-120"/>
                <a:cs typeface="Microsoft JhengHei" panose="020B0604030504040204" charset="-120"/>
              </a:rPr>
              <a:t>字节</a:t>
            </a:r>
            <a:r>
              <a:rPr sz="1400" b="1" spc="5" dirty="0">
                <a:latin typeface="Microsoft JhengHei" panose="020B0604030504040204" charset="-120"/>
                <a:cs typeface="Microsoft JhengHei" panose="020B0604030504040204" charset="-120"/>
              </a:rPr>
              <a:t>，中断</a:t>
            </a:r>
            <a:r>
              <a:rPr sz="1400" b="1" spc="15" dirty="0">
                <a:latin typeface="Microsoft JhengHei" panose="020B0604030504040204" charset="-120"/>
                <a:cs typeface="Microsoft JhengHei" panose="020B0604030504040204" charset="-120"/>
              </a:rPr>
              <a:t>服</a:t>
            </a:r>
            <a:r>
              <a:rPr sz="1400" b="1" spc="5" dirty="0">
                <a:latin typeface="Microsoft JhengHei" panose="020B0604030504040204" charset="-120"/>
                <a:cs typeface="Microsoft JhengHei" panose="020B0604030504040204" charset="-120"/>
              </a:rPr>
              <a:t>务子程序稍长</a:t>
            </a:r>
            <a:r>
              <a:rPr sz="1400" b="1" dirty="0">
                <a:latin typeface="Microsoft JhengHei" panose="020B0604030504040204" charset="-120"/>
                <a:cs typeface="Microsoft JhengHei" panose="020B0604030504040204" charset="-120"/>
              </a:rPr>
              <a:t>就 </a:t>
            </a:r>
            <a:r>
              <a:rPr sz="1400" b="1" spc="5" dirty="0">
                <a:latin typeface="Microsoft JhengHei" panose="020B0604030504040204" charset="-120"/>
                <a:cs typeface="Microsoft JhengHei" panose="020B0604030504040204" charset="-120"/>
              </a:rPr>
              <a:t>超过</a:t>
            </a:r>
            <a:r>
              <a:rPr sz="1400" b="1" dirty="0">
                <a:latin typeface="Times New Roman" panose="02020603050405020304"/>
                <a:cs typeface="Times New Roman" panose="02020603050405020304"/>
              </a:rPr>
              <a:t>8</a:t>
            </a:r>
            <a:r>
              <a:rPr sz="1400" b="1" spc="5" dirty="0">
                <a:latin typeface="Microsoft JhengHei" panose="020B0604030504040204" charset="-120"/>
                <a:cs typeface="Microsoft JhengHei" panose="020B0604030504040204" charset="-120"/>
              </a:rPr>
              <a:t>字节</a:t>
            </a:r>
            <a:r>
              <a:rPr sz="1400" b="1" spc="10" dirty="0">
                <a:latin typeface="Microsoft JhengHei" panose="020B0604030504040204" charset="-120"/>
                <a:cs typeface="Microsoft JhengHei" panose="020B0604030504040204" charset="-120"/>
              </a:rPr>
              <a:t>。</a:t>
            </a:r>
            <a:r>
              <a:rPr sz="1400" b="1" spc="15" dirty="0">
                <a:solidFill>
                  <a:srgbClr val="3333CC"/>
                </a:solidFill>
                <a:latin typeface="Microsoft JhengHei" panose="020B0604030504040204" charset="-120"/>
                <a:cs typeface="Microsoft JhengHei" panose="020B0604030504040204" charset="-120"/>
              </a:rPr>
              <a:t>一</a:t>
            </a:r>
            <a:r>
              <a:rPr sz="1400" b="1" spc="5" dirty="0">
                <a:solidFill>
                  <a:srgbClr val="3333CC"/>
                </a:solidFill>
                <a:latin typeface="Microsoft JhengHei" panose="020B0604030504040204" charset="-120"/>
                <a:cs typeface="Microsoft JhengHei" panose="020B0604030504040204" charset="-120"/>
              </a:rPr>
              <a:t>般在进入中断后，</a:t>
            </a:r>
            <a:r>
              <a:rPr sz="1400" b="1" spc="30" dirty="0">
                <a:solidFill>
                  <a:srgbClr val="3333CC"/>
                </a:solidFill>
                <a:latin typeface="Microsoft JhengHei" panose="020B0604030504040204" charset="-120"/>
                <a:cs typeface="Microsoft JhengHei" panose="020B0604030504040204" charset="-120"/>
              </a:rPr>
              <a:t>用</a:t>
            </a:r>
            <a:r>
              <a:rPr sz="1400" b="1" spc="5" dirty="0">
                <a:solidFill>
                  <a:srgbClr val="FF3300"/>
                </a:solidFill>
                <a:latin typeface="Microsoft JhengHei" panose="020B0604030504040204" charset="-120"/>
                <a:cs typeface="Microsoft JhengHei" panose="020B0604030504040204" charset="-120"/>
              </a:rPr>
              <a:t>一条</a:t>
            </a:r>
            <a:r>
              <a:rPr sz="1400" b="1" spc="15" dirty="0">
                <a:solidFill>
                  <a:srgbClr val="FF3300"/>
                </a:solidFill>
                <a:latin typeface="Microsoft JhengHei" panose="020B0604030504040204" charset="-120"/>
                <a:cs typeface="Microsoft JhengHei" panose="020B0604030504040204" charset="-120"/>
              </a:rPr>
              <a:t>无</a:t>
            </a:r>
            <a:r>
              <a:rPr sz="1400" b="1" spc="5" dirty="0">
                <a:solidFill>
                  <a:srgbClr val="FF3300"/>
                </a:solidFill>
                <a:latin typeface="Microsoft JhengHei" panose="020B0604030504040204" charset="-120"/>
                <a:cs typeface="Microsoft JhengHei" panose="020B0604030504040204" charset="-120"/>
              </a:rPr>
              <a:t>条件转移指</a:t>
            </a:r>
            <a:r>
              <a:rPr sz="1400" b="1" spc="30" dirty="0">
                <a:solidFill>
                  <a:srgbClr val="FF3300"/>
                </a:solidFill>
                <a:latin typeface="Microsoft JhengHei" panose="020B0604030504040204" charset="-120"/>
                <a:cs typeface="Microsoft JhengHei" panose="020B0604030504040204" charset="-120"/>
              </a:rPr>
              <a:t>令</a:t>
            </a:r>
            <a:r>
              <a:rPr sz="1400" b="1" spc="10" dirty="0">
                <a:solidFill>
                  <a:srgbClr val="3333CC"/>
                </a:solidFill>
                <a:latin typeface="Microsoft JhengHei" panose="020B0604030504040204" charset="-120"/>
                <a:cs typeface="Microsoft JhengHei" panose="020B0604030504040204" charset="-120"/>
              </a:rPr>
              <a:t>，跳 </a:t>
            </a:r>
            <a:r>
              <a:rPr sz="1400" b="1" dirty="0">
                <a:solidFill>
                  <a:srgbClr val="3333CC"/>
                </a:solidFill>
                <a:latin typeface="Microsoft JhengHei" panose="020B0604030504040204" charset="-120"/>
                <a:cs typeface="Microsoft JhengHei" panose="020B0604030504040204" charset="-120"/>
              </a:rPr>
              <a:t>转</a:t>
            </a:r>
            <a:r>
              <a:rPr sz="1400" b="1" spc="5" dirty="0">
                <a:solidFill>
                  <a:srgbClr val="3333CC"/>
                </a:solidFill>
                <a:latin typeface="Microsoft JhengHei" panose="020B0604030504040204" charset="-120"/>
                <a:cs typeface="Microsoft JhengHei" panose="020B0604030504040204" charset="-120"/>
              </a:rPr>
              <a:t>到</a:t>
            </a:r>
            <a:r>
              <a:rPr sz="1400" b="1" dirty="0">
                <a:solidFill>
                  <a:srgbClr val="3333CC"/>
                </a:solidFill>
                <a:latin typeface="Microsoft JhengHei" panose="020B0604030504040204" charset="-120"/>
                <a:cs typeface="Microsoft JhengHei" panose="020B0604030504040204" charset="-120"/>
              </a:rPr>
              <a:t>其</a:t>
            </a:r>
            <a:r>
              <a:rPr sz="1400" b="1" spc="5" dirty="0">
                <a:solidFill>
                  <a:srgbClr val="3333CC"/>
                </a:solidFill>
                <a:latin typeface="Microsoft JhengHei" panose="020B0604030504040204" charset="-120"/>
                <a:cs typeface="Microsoft JhengHei" panose="020B0604030504040204" charset="-120"/>
              </a:rPr>
              <a:t>他地</a:t>
            </a:r>
            <a:r>
              <a:rPr sz="1400" b="1" spc="15" dirty="0">
                <a:solidFill>
                  <a:srgbClr val="3333CC"/>
                </a:solidFill>
                <a:latin typeface="Microsoft JhengHei" panose="020B0604030504040204" charset="-120"/>
                <a:cs typeface="Microsoft JhengHei" panose="020B0604030504040204" charset="-120"/>
              </a:rPr>
              <a:t>址</a:t>
            </a:r>
            <a:r>
              <a:rPr sz="1400" b="1" spc="5" dirty="0">
                <a:solidFill>
                  <a:srgbClr val="3333CC"/>
                </a:solidFill>
                <a:latin typeface="Microsoft JhengHei" panose="020B0604030504040204" charset="-120"/>
                <a:cs typeface="Microsoft JhengHei" panose="020B0604030504040204" charset="-120"/>
              </a:rPr>
              <a:t>处</a:t>
            </a:r>
            <a:r>
              <a:rPr sz="1400" b="1" dirty="0">
                <a:solidFill>
                  <a:srgbClr val="3333CC"/>
                </a:solidFill>
                <a:latin typeface="Microsoft JhengHei" panose="020B0604030504040204" charset="-120"/>
                <a:cs typeface="Microsoft JhengHei" panose="020B0604030504040204" charset="-120"/>
              </a:rPr>
              <a:t>。</a:t>
            </a:r>
            <a:endParaRPr sz="1400">
              <a:latin typeface="Microsoft JhengHei" panose="020B0604030504040204" charset="-120"/>
              <a:cs typeface="Microsoft JhengHei" panose="020B0604030504040204" charset="-120"/>
            </a:endParaRPr>
          </a:p>
          <a:p>
            <a:pPr marL="50800" marR="43180" algn="just">
              <a:lnSpc>
                <a:spcPct val="150000"/>
              </a:lnSpc>
              <a:spcBef>
                <a:spcPts val="1200"/>
              </a:spcBef>
              <a:buClr>
                <a:srgbClr val="00007C"/>
              </a:buClr>
              <a:buSzPct val="75000"/>
              <a:buFont typeface="Wingdings" panose="05000000000000000000"/>
              <a:buChar char=""/>
              <a:tabLst>
                <a:tab pos="406400" algn="l"/>
              </a:tabLst>
            </a:pPr>
            <a:r>
              <a:rPr sz="1400" b="1" spc="5" dirty="0">
                <a:latin typeface="Microsoft JhengHei" panose="020B0604030504040204" charset="-120"/>
                <a:cs typeface="Microsoft JhengHei" panose="020B0604030504040204" charset="-120"/>
              </a:rPr>
              <a:t>如有</a:t>
            </a:r>
            <a:r>
              <a:rPr sz="1400" b="1" dirty="0">
                <a:solidFill>
                  <a:srgbClr val="0000CC"/>
                </a:solidFill>
                <a:latin typeface="Microsoft JhengHei" panose="020B0604030504040204" charset="-120"/>
                <a:cs typeface="Microsoft JhengHei" panose="020B0604030504040204" charset="-120"/>
              </a:rPr>
              <a:t>多</a:t>
            </a:r>
            <a:r>
              <a:rPr sz="1400" b="1" spc="5" dirty="0">
                <a:solidFill>
                  <a:srgbClr val="0000CC"/>
                </a:solidFill>
                <a:latin typeface="Microsoft JhengHei" panose="020B0604030504040204" charset="-120"/>
                <a:cs typeface="Microsoft JhengHei" panose="020B0604030504040204" charset="-120"/>
              </a:rPr>
              <a:t>个中</a:t>
            </a:r>
            <a:r>
              <a:rPr sz="1400" b="1" spc="15" dirty="0">
                <a:solidFill>
                  <a:srgbClr val="0000CC"/>
                </a:solidFill>
                <a:latin typeface="Microsoft JhengHei" panose="020B0604030504040204" charset="-120"/>
                <a:cs typeface="Microsoft JhengHei" panose="020B0604030504040204" charset="-120"/>
              </a:rPr>
              <a:t>断源</a:t>
            </a:r>
            <a:r>
              <a:rPr sz="1400" b="1" spc="10" dirty="0">
                <a:latin typeface="Microsoft JhengHei" panose="020B0604030504040204" charset="-120"/>
                <a:cs typeface="Microsoft JhengHei" panose="020B0604030504040204" charset="-120"/>
              </a:rPr>
              <a:t>，就有多个</a:t>
            </a:r>
            <a:r>
              <a:rPr sz="1400" b="1" dirty="0">
                <a:latin typeface="Microsoft JhengHei" panose="020B0604030504040204" charset="-120"/>
                <a:cs typeface="Microsoft JhengHei" panose="020B0604030504040204" charset="-120"/>
              </a:rPr>
              <a:t>“</a:t>
            </a:r>
            <a:r>
              <a:rPr sz="1400" b="1" dirty="0">
                <a:latin typeface="Times New Roman" panose="02020603050405020304"/>
                <a:cs typeface="Times New Roman" panose="02020603050405020304"/>
              </a:rPr>
              <a:t>ORG</a:t>
            </a:r>
            <a:r>
              <a:rPr sz="1400" b="1" spc="53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X</a:t>
            </a:r>
            <a:r>
              <a:rPr sz="1400" b="1" baseline="-21000" dirty="0">
                <a:latin typeface="Times New Roman" panose="02020603050405020304"/>
                <a:cs typeface="Times New Roman" panose="02020603050405020304"/>
              </a:rPr>
              <a:t>1</a:t>
            </a:r>
            <a:r>
              <a:rPr sz="1400" b="1" dirty="0">
                <a:latin typeface="Times New Roman" panose="02020603050405020304"/>
                <a:cs typeface="Times New Roman" panose="02020603050405020304"/>
              </a:rPr>
              <a:t>X</a:t>
            </a:r>
            <a:r>
              <a:rPr sz="1400" b="1" baseline="-21000" dirty="0">
                <a:latin typeface="Times New Roman" panose="02020603050405020304"/>
                <a:cs typeface="Times New Roman" panose="02020603050405020304"/>
              </a:rPr>
              <a:t>2</a:t>
            </a:r>
            <a:r>
              <a:rPr sz="1400" b="1" dirty="0">
                <a:latin typeface="Times New Roman" panose="02020603050405020304"/>
                <a:cs typeface="Times New Roman" panose="02020603050405020304"/>
              </a:rPr>
              <a:t>X</a:t>
            </a:r>
            <a:r>
              <a:rPr sz="1400" b="1" baseline="-21000" dirty="0">
                <a:latin typeface="Times New Roman" panose="02020603050405020304"/>
                <a:cs typeface="Times New Roman" panose="02020603050405020304"/>
              </a:rPr>
              <a:t>3</a:t>
            </a:r>
            <a:r>
              <a:rPr sz="1400" b="1" dirty="0">
                <a:latin typeface="Times New Roman" panose="02020603050405020304"/>
                <a:cs typeface="Times New Roman" panose="02020603050405020304"/>
              </a:rPr>
              <a:t>X</a:t>
            </a:r>
            <a:r>
              <a:rPr sz="1400" b="1" baseline="-21000" dirty="0">
                <a:latin typeface="Times New Roman" panose="02020603050405020304"/>
                <a:cs typeface="Times New Roman" panose="02020603050405020304"/>
              </a:rPr>
              <a:t>4</a:t>
            </a:r>
            <a:r>
              <a:rPr sz="1400" b="1" dirty="0">
                <a:latin typeface="Times New Roman" panose="02020603050405020304"/>
                <a:cs typeface="Times New Roman" panose="02020603050405020304"/>
              </a:rPr>
              <a:t>H</a:t>
            </a:r>
            <a:r>
              <a:rPr sz="1400" b="1" dirty="0">
                <a:latin typeface="Microsoft JhengHei" panose="020B0604030504040204" charset="-120"/>
                <a:cs typeface="Microsoft JhengHei" panose="020B0604030504040204" charset="-120"/>
              </a:rPr>
              <a:t>”</a:t>
            </a:r>
            <a:r>
              <a:rPr sz="1400" b="1" spc="5" dirty="0">
                <a:latin typeface="Microsoft JhengHei" panose="020B0604030504040204" charset="-120"/>
                <a:cs typeface="Microsoft JhengHei" panose="020B0604030504040204" charset="-120"/>
              </a:rPr>
              <a:t>的入口地 </a:t>
            </a:r>
            <a:r>
              <a:rPr sz="1400" b="1" dirty="0">
                <a:latin typeface="Microsoft JhengHei" panose="020B0604030504040204" charset="-120"/>
                <a:cs typeface="Microsoft JhengHei" panose="020B0604030504040204" charset="-120"/>
              </a:rPr>
              <a:t>址</a:t>
            </a:r>
            <a:r>
              <a:rPr sz="1400" b="1" spc="5" dirty="0">
                <a:latin typeface="Microsoft JhengHei" panose="020B0604030504040204" charset="-120"/>
                <a:cs typeface="Microsoft JhengHei" panose="020B0604030504040204" charset="-120"/>
              </a:rPr>
              <a:t>，</a:t>
            </a:r>
            <a:r>
              <a:rPr sz="1400" b="1" dirty="0">
                <a:latin typeface="Microsoft JhengHei" panose="020B0604030504040204" charset="-120"/>
                <a:cs typeface="Microsoft JhengHei" panose="020B0604030504040204" charset="-120"/>
              </a:rPr>
              <a:t>多</a:t>
            </a:r>
            <a:r>
              <a:rPr sz="1400" b="1" spc="5" dirty="0">
                <a:latin typeface="Microsoft JhengHei" panose="020B0604030504040204" charset="-120"/>
                <a:cs typeface="Microsoft JhengHei" panose="020B0604030504040204" charset="-120"/>
              </a:rPr>
              <a:t>个“</a:t>
            </a:r>
            <a:r>
              <a:rPr sz="1400" b="1" spc="15" dirty="0">
                <a:latin typeface="Microsoft JhengHei" panose="020B0604030504040204" charset="-120"/>
                <a:cs typeface="Microsoft JhengHei" panose="020B0604030504040204" charset="-120"/>
              </a:rPr>
              <a:t>中</a:t>
            </a:r>
            <a:r>
              <a:rPr sz="1400" b="1" spc="5" dirty="0">
                <a:latin typeface="Microsoft JhengHei" panose="020B0604030504040204" charset="-120"/>
                <a:cs typeface="Microsoft JhengHei" panose="020B0604030504040204" charset="-120"/>
              </a:rPr>
              <a:t>断入口地址</a:t>
            </a:r>
            <a:r>
              <a:rPr sz="1400" b="1" spc="35" dirty="0">
                <a:latin typeface="Microsoft JhengHei" panose="020B0604030504040204" charset="-120"/>
                <a:cs typeface="Microsoft JhengHei" panose="020B0604030504040204" charset="-120"/>
              </a:rPr>
              <a:t>”</a:t>
            </a:r>
            <a:r>
              <a:rPr sz="1400" b="1" spc="5" dirty="0">
                <a:solidFill>
                  <a:srgbClr val="3333CC"/>
                </a:solidFill>
                <a:latin typeface="Microsoft JhengHei" panose="020B0604030504040204" charset="-120"/>
                <a:cs typeface="Microsoft JhengHei" panose="020B0604030504040204" charset="-120"/>
              </a:rPr>
              <a:t>必须依次由</a:t>
            </a:r>
            <a:r>
              <a:rPr sz="1400" b="1" spc="15" dirty="0">
                <a:solidFill>
                  <a:srgbClr val="3333CC"/>
                </a:solidFill>
                <a:latin typeface="Microsoft JhengHei" panose="020B0604030504040204" charset="-120"/>
                <a:cs typeface="Microsoft JhengHei" panose="020B0604030504040204" charset="-120"/>
              </a:rPr>
              <a:t>小</a:t>
            </a:r>
            <a:r>
              <a:rPr sz="1400" b="1" spc="5" dirty="0">
                <a:solidFill>
                  <a:srgbClr val="3333CC"/>
                </a:solidFill>
                <a:latin typeface="Microsoft JhengHei" panose="020B0604030504040204" charset="-120"/>
                <a:cs typeface="Microsoft JhengHei" panose="020B0604030504040204" charset="-120"/>
              </a:rPr>
              <a:t>到大排</a:t>
            </a:r>
            <a:r>
              <a:rPr sz="1400" b="1" spc="30" dirty="0">
                <a:solidFill>
                  <a:srgbClr val="3333CC"/>
                </a:solidFill>
                <a:latin typeface="Microsoft JhengHei" panose="020B0604030504040204" charset="-120"/>
                <a:cs typeface="Microsoft JhengHei" panose="020B0604030504040204" charset="-120"/>
              </a:rPr>
              <a:t>列</a:t>
            </a:r>
            <a:r>
              <a:rPr sz="1400" b="1" dirty="0">
                <a:latin typeface="Microsoft JhengHei" panose="020B0604030504040204" charset="-120"/>
                <a:cs typeface="Microsoft JhengHei" panose="020B0604030504040204" charset="-120"/>
              </a:rPr>
              <a:t>。</a:t>
            </a:r>
          </a:p>
        </p:txBody>
      </p:sp>
      <p:sp>
        <p:nvSpPr>
          <p:cNvPr id="5" name="灯片编号占位符 4"/>
          <p:cNvSpPr>
            <a:spLocks noGrp="1"/>
          </p:cNvSpPr>
          <p:nvPr>
            <p:ph type="sldNum" sz="quarter" idx="7"/>
          </p:nvPr>
        </p:nvSpPr>
        <p:spPr/>
        <p:txBody>
          <a:bodyPr/>
          <a:lstStyle/>
          <a:p>
            <a:pPr marL="25400">
              <a:lnSpc>
                <a:spcPct val="100000"/>
              </a:lnSpc>
              <a:spcBef>
                <a:spcPts val="185"/>
              </a:spcBef>
            </a:pPr>
            <a:fld id="{81D60167-4931-47E6-BA6A-407CBD079E47}" type="slidenum">
              <a:rPr spc="-5" dirty="0"/>
              <a:t>29</a:t>
            </a:fld>
            <a:endParaRPr spc="-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0872" y="530351"/>
            <a:ext cx="295275" cy="268605"/>
          </a:xfrm>
          <a:prstGeom prst="rect">
            <a:avLst/>
          </a:prstGeom>
          <a:solidFill>
            <a:srgbClr val="006FC0"/>
          </a:solidFill>
        </p:spPr>
        <p:txBody>
          <a:bodyPr vert="horz" wrap="square" lIns="0" tIns="44450" rIns="0" bIns="0" rtlCol="0">
            <a:spAutoFit/>
          </a:bodyPr>
          <a:lstStyle/>
          <a:p>
            <a:pPr marL="53340">
              <a:lnSpc>
                <a:spcPts val="1760"/>
              </a:lnSpc>
              <a:spcBef>
                <a:spcPts val="350"/>
              </a:spcBef>
            </a:pPr>
            <a:r>
              <a:rPr sz="2400" dirty="0">
                <a:solidFill>
                  <a:srgbClr val="00007C"/>
                </a:solidFill>
                <a:latin typeface="Wingdings" panose="05000000000000000000"/>
                <a:cs typeface="Wingdings" panose="05000000000000000000"/>
              </a:rPr>
              <a:t></a:t>
            </a:r>
            <a:endParaRPr sz="2400">
              <a:latin typeface="Wingdings" panose="05000000000000000000"/>
              <a:cs typeface="Wingdings" panose="05000000000000000000"/>
            </a:endParaRPr>
          </a:p>
        </p:txBody>
      </p:sp>
      <p:sp>
        <p:nvSpPr>
          <p:cNvPr id="3" name="object 3"/>
          <p:cNvSpPr txBox="1">
            <a:spLocks noGrp="1"/>
          </p:cNvSpPr>
          <p:nvPr>
            <p:ph type="title"/>
          </p:nvPr>
        </p:nvSpPr>
        <p:spPr>
          <a:xfrm>
            <a:off x="1453641" y="461263"/>
            <a:ext cx="3690620" cy="513080"/>
          </a:xfrm>
          <a:prstGeom prst="rect">
            <a:avLst/>
          </a:prstGeom>
        </p:spPr>
        <p:txBody>
          <a:bodyPr vert="horz" wrap="square" lIns="0" tIns="12065" rIns="0" bIns="0" rtlCol="0">
            <a:spAutoFit/>
          </a:bodyPr>
          <a:lstStyle/>
          <a:p>
            <a:pPr marL="12700">
              <a:lnSpc>
                <a:spcPct val="100000"/>
              </a:lnSpc>
              <a:spcBef>
                <a:spcPts val="95"/>
              </a:spcBef>
            </a:pPr>
            <a:r>
              <a:rPr sz="3200" spc="-5" dirty="0">
                <a:solidFill>
                  <a:srgbClr val="FF0000"/>
                </a:solidFill>
              </a:rPr>
              <a:t>中</a:t>
            </a:r>
            <a:r>
              <a:rPr sz="3200" dirty="0">
                <a:solidFill>
                  <a:srgbClr val="FF0000"/>
                </a:solidFill>
              </a:rPr>
              <a:t>断服务子</a:t>
            </a:r>
            <a:r>
              <a:rPr sz="3200" spc="10" dirty="0">
                <a:solidFill>
                  <a:srgbClr val="FF0000"/>
                </a:solidFill>
              </a:rPr>
              <a:t>程</a:t>
            </a:r>
            <a:r>
              <a:rPr sz="3200" dirty="0">
                <a:solidFill>
                  <a:srgbClr val="FF0000"/>
                </a:solidFill>
              </a:rPr>
              <a:t>序实</a:t>
            </a:r>
            <a:r>
              <a:rPr sz="3200" spc="-5" dirty="0">
                <a:solidFill>
                  <a:srgbClr val="FF0000"/>
                </a:solidFill>
              </a:rPr>
              <a:t>例</a:t>
            </a:r>
            <a:endParaRPr sz="3200"/>
          </a:p>
        </p:txBody>
      </p:sp>
      <p:sp>
        <p:nvSpPr>
          <p:cNvPr id="4" name="object 4"/>
          <p:cNvSpPr txBox="1"/>
          <p:nvPr/>
        </p:nvSpPr>
        <p:spPr>
          <a:xfrm>
            <a:off x="807720" y="1116965"/>
            <a:ext cx="7720965" cy="28956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实例：现场保护只将</a:t>
            </a:r>
            <a:r>
              <a:rPr spc="-5" dirty="0">
                <a:latin typeface="Times New Roman" panose="02020603050405020304"/>
                <a:cs typeface="Times New Roman" panose="02020603050405020304"/>
              </a:rPr>
              <a:t>PSW</a:t>
            </a:r>
            <a:r>
              <a:rPr spc="-5" dirty="0">
                <a:latin typeface="宋体" panose="02010600030101010101" pitchFamily="2" charset="-122"/>
                <a:cs typeface="宋体" panose="02010600030101010101" pitchFamily="2" charset="-122"/>
              </a:rPr>
              <a:t>寄存器和累加器</a:t>
            </a:r>
            <a:r>
              <a:rPr spc="-5" dirty="0">
                <a:latin typeface="Times New Roman" panose="02020603050405020304"/>
                <a:cs typeface="Times New Roman" panose="02020603050405020304"/>
              </a:rPr>
              <a:t>A</a:t>
            </a:r>
            <a:r>
              <a:rPr spc="-5" dirty="0">
                <a:latin typeface="宋体" panose="02010600030101010101" pitchFamily="2" charset="-122"/>
                <a:cs typeface="宋体" panose="02010600030101010101" pitchFamily="2" charset="-122"/>
              </a:rPr>
              <a:t>的内容压入堆栈中。</a:t>
            </a:r>
            <a:r>
              <a:rPr dirty="0">
                <a:latin typeface="宋体" panose="02010600030101010101" pitchFamily="2" charset="-122"/>
                <a:cs typeface="宋体" panose="02010600030101010101" pitchFamily="2" charset="-122"/>
                <a:sym typeface="+mn-ea"/>
              </a:rPr>
              <a:t>程序如下：</a:t>
            </a:r>
            <a:endParaRPr spc="-5" dirty="0">
              <a:latin typeface="宋体" panose="02010600030101010101" pitchFamily="2" charset="-122"/>
              <a:cs typeface="宋体" panose="02010600030101010101" pitchFamily="2" charset="-122"/>
            </a:endParaRPr>
          </a:p>
        </p:txBody>
      </p:sp>
      <p:graphicFrame>
        <p:nvGraphicFramePr>
          <p:cNvPr id="5" name="object 5"/>
          <p:cNvGraphicFramePr>
            <a:graphicFrameLocks noGrp="1"/>
          </p:cNvGraphicFramePr>
          <p:nvPr>
            <p:custDataLst>
              <p:tags r:id="rId1"/>
            </p:custDataLst>
          </p:nvPr>
        </p:nvGraphicFramePr>
        <p:xfrm>
          <a:off x="559816" y="1611312"/>
          <a:ext cx="6082664" cy="5354549"/>
        </p:xfrm>
        <a:graphic>
          <a:graphicData uri="http://schemas.openxmlformats.org/drawingml/2006/table">
            <a:tbl>
              <a:tblPr firstRow="1" bandRow="1">
                <a:tableStyleId>{2D5ABB26-0587-4C30-8999-92F81FD0307C}</a:tableStyleId>
              </a:tblPr>
              <a:tblGrid>
                <a:gridCol w="1793239">
                  <a:extLst>
                    <a:ext uri="{9D8B030D-6E8A-4147-A177-3AD203B41FA5}">
                      <a16:colId xmlns:a16="http://schemas.microsoft.com/office/drawing/2014/main" val="20000"/>
                    </a:ext>
                  </a:extLst>
                </a:gridCol>
                <a:gridCol w="1343025">
                  <a:extLst>
                    <a:ext uri="{9D8B030D-6E8A-4147-A177-3AD203B41FA5}">
                      <a16:colId xmlns:a16="http://schemas.microsoft.com/office/drawing/2014/main" val="20001"/>
                    </a:ext>
                  </a:extLst>
                </a:gridCol>
                <a:gridCol w="2946400">
                  <a:extLst>
                    <a:ext uri="{9D8B030D-6E8A-4147-A177-3AD203B41FA5}">
                      <a16:colId xmlns:a16="http://schemas.microsoft.com/office/drawing/2014/main" val="20002"/>
                    </a:ext>
                  </a:extLst>
                </a:gridCol>
              </a:tblGrid>
              <a:tr h="470639">
                <a:tc>
                  <a:txBody>
                    <a:bodyPr/>
                    <a:lstStyle/>
                    <a:p>
                      <a:pPr marL="31750">
                        <a:lnSpc>
                          <a:spcPct val="100000"/>
                        </a:lnSpc>
                        <a:spcBef>
                          <a:spcPts val="240"/>
                        </a:spcBef>
                      </a:pPr>
                      <a:r>
                        <a:rPr sz="1800" spc="-5" dirty="0">
                          <a:solidFill>
                            <a:srgbClr val="0000CC"/>
                          </a:solidFill>
                          <a:latin typeface="Times New Roman" panose="02020603050405020304"/>
                          <a:cs typeface="Times New Roman" panose="02020603050405020304"/>
                        </a:rPr>
                        <a:t>INT</a:t>
                      </a:r>
                      <a:r>
                        <a:rPr sz="1800" spc="-5" dirty="0">
                          <a:solidFill>
                            <a:srgbClr val="0000CC"/>
                          </a:solidFill>
                          <a:latin typeface="宋体" panose="02010600030101010101" pitchFamily="2" charset="-122"/>
                          <a:cs typeface="宋体" panose="02010600030101010101" pitchFamily="2" charset="-122"/>
                        </a:rPr>
                        <a:t>：</a:t>
                      </a:r>
                      <a:r>
                        <a:rPr sz="1800" spc="-425" dirty="0">
                          <a:solidFill>
                            <a:srgbClr val="0000CC"/>
                          </a:solidFill>
                          <a:latin typeface="宋体" panose="02010600030101010101" pitchFamily="2" charset="-122"/>
                          <a:cs typeface="宋体" panose="02010600030101010101" pitchFamily="2" charset="-122"/>
                        </a:rPr>
                        <a:t>       </a:t>
                      </a:r>
                      <a:r>
                        <a:rPr sz="1800" dirty="0">
                          <a:latin typeface="Times New Roman" panose="02020603050405020304"/>
                          <a:cs typeface="Times New Roman" panose="02020603050405020304"/>
                        </a:rPr>
                        <a:t>CLR</a:t>
                      </a:r>
                    </a:p>
                  </a:txBody>
                  <a:tcPr marL="0" marR="0" marT="30480" marB="0"/>
                </a:tc>
                <a:tc>
                  <a:txBody>
                    <a:bodyPr/>
                    <a:lstStyle/>
                    <a:p>
                      <a:pPr marL="67310">
                        <a:lnSpc>
                          <a:spcPct val="100000"/>
                        </a:lnSpc>
                        <a:spcBef>
                          <a:spcPts val="240"/>
                        </a:spcBef>
                      </a:pPr>
                      <a:r>
                        <a:rPr lang="en-US" sz="1800" spc="-1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EA</a:t>
                      </a:r>
                    </a:p>
                  </a:txBody>
                  <a:tcPr marL="0" marR="0" marT="30480" marB="0"/>
                </a:tc>
                <a:tc>
                  <a:txBody>
                    <a:bodyPr/>
                    <a:lstStyle/>
                    <a:p>
                      <a:pPr marL="553085">
                        <a:lnSpc>
                          <a:spcPct val="100000"/>
                        </a:lnSpc>
                        <a:spcBef>
                          <a:spcPts val="240"/>
                        </a:spcBef>
                      </a:pPr>
                      <a:r>
                        <a:rPr sz="1800" spc="-5" dirty="0">
                          <a:latin typeface="宋体" panose="02010600030101010101" pitchFamily="2" charset="-122"/>
                          <a:cs typeface="宋体" panose="02010600030101010101" pitchFamily="2" charset="-122"/>
                        </a:rPr>
                        <a:t>；</a:t>
                      </a:r>
                      <a:r>
                        <a:rPr sz="1800" spc="-5" dirty="0">
                          <a:solidFill>
                            <a:srgbClr val="FF0000"/>
                          </a:solidFill>
                          <a:latin typeface="Times New Roman" panose="02020603050405020304"/>
                          <a:cs typeface="Times New Roman" panose="02020603050405020304"/>
                        </a:rPr>
                        <a:t>CPU</a:t>
                      </a:r>
                      <a:r>
                        <a:rPr sz="1800" dirty="0">
                          <a:solidFill>
                            <a:srgbClr val="FF0000"/>
                          </a:solidFill>
                          <a:latin typeface="宋体" panose="02010600030101010101" pitchFamily="2" charset="-122"/>
                          <a:cs typeface="宋体" panose="02010600030101010101" pitchFamily="2" charset="-122"/>
                        </a:rPr>
                        <a:t>关中断</a:t>
                      </a:r>
                    </a:p>
                  </a:txBody>
                  <a:tcPr marL="0" marR="0" marT="30480" marB="0"/>
                </a:tc>
                <a:extLst>
                  <a:ext uri="{0D108BD9-81ED-4DB2-BD59-A6C34878D82A}">
                    <a16:rowId xmlns:a16="http://schemas.microsoft.com/office/drawing/2014/main" val="10000"/>
                  </a:ext>
                </a:extLst>
              </a:tr>
              <a:tr h="475487">
                <a:tc>
                  <a:txBody>
                    <a:bodyPr/>
                    <a:lstStyle/>
                    <a:p>
                      <a:pPr marR="59690" algn="r">
                        <a:lnSpc>
                          <a:spcPct val="100000"/>
                        </a:lnSpc>
                        <a:spcBef>
                          <a:spcPts val="280"/>
                        </a:spcBef>
                      </a:pPr>
                      <a:r>
                        <a:rPr sz="1800" dirty="0">
                          <a:latin typeface="Times New Roman" panose="02020603050405020304"/>
                          <a:cs typeface="Times New Roman" panose="02020603050405020304"/>
                        </a:rPr>
                        <a:t>PUSH</a:t>
                      </a:r>
                    </a:p>
                  </a:txBody>
                  <a:tcPr marL="0" marR="0" marT="35560" marB="0"/>
                </a:tc>
                <a:tc>
                  <a:txBody>
                    <a:bodyPr/>
                    <a:lstStyle/>
                    <a:p>
                      <a:pPr marL="162560">
                        <a:lnSpc>
                          <a:spcPct val="100000"/>
                        </a:lnSpc>
                        <a:spcBef>
                          <a:spcPts val="280"/>
                        </a:spcBef>
                      </a:pPr>
                      <a:r>
                        <a:rPr lang="en-US" sz="1800" spc="-5" dirty="0">
                          <a:latin typeface="Times New Roman" panose="02020603050405020304"/>
                          <a:cs typeface="Times New Roman" panose="02020603050405020304"/>
                        </a:rPr>
                        <a:t>    </a:t>
                      </a:r>
                      <a:r>
                        <a:rPr sz="1800" spc="-5" dirty="0">
                          <a:latin typeface="Times New Roman" panose="02020603050405020304"/>
                          <a:cs typeface="Times New Roman" panose="02020603050405020304"/>
                        </a:rPr>
                        <a:t>PSW</a:t>
                      </a:r>
                    </a:p>
                  </a:txBody>
                  <a:tcPr marL="0" marR="0" marT="35560" marB="0"/>
                </a:tc>
                <a:tc>
                  <a:txBody>
                    <a:bodyPr/>
                    <a:lstStyle/>
                    <a:p>
                      <a:pPr marL="553085">
                        <a:lnSpc>
                          <a:spcPct val="100000"/>
                        </a:lnSpc>
                        <a:spcBef>
                          <a:spcPts val="280"/>
                        </a:spcBef>
                      </a:pPr>
                      <a:r>
                        <a:rPr sz="1800" dirty="0">
                          <a:latin typeface="宋体" panose="02010600030101010101" pitchFamily="2" charset="-122"/>
                          <a:cs typeface="宋体" panose="02010600030101010101" pitchFamily="2" charset="-122"/>
                        </a:rPr>
                        <a:t>；</a:t>
                      </a:r>
                      <a:r>
                        <a:rPr sz="1800" dirty="0">
                          <a:solidFill>
                            <a:srgbClr val="FF0000"/>
                          </a:solidFill>
                          <a:latin typeface="宋体" panose="02010600030101010101" pitchFamily="2" charset="-122"/>
                          <a:cs typeface="宋体" panose="02010600030101010101" pitchFamily="2" charset="-122"/>
                        </a:rPr>
                        <a:t>现场保护</a:t>
                      </a:r>
                    </a:p>
                  </a:txBody>
                  <a:tcPr marL="0" marR="0" marT="35560" marB="0"/>
                </a:tc>
                <a:extLst>
                  <a:ext uri="{0D108BD9-81ED-4DB2-BD59-A6C34878D82A}">
                    <a16:rowId xmlns:a16="http://schemas.microsoft.com/office/drawing/2014/main" val="10001"/>
                  </a:ext>
                </a:extLst>
              </a:tr>
              <a:tr h="475488">
                <a:tc>
                  <a:txBody>
                    <a:bodyPr/>
                    <a:lstStyle/>
                    <a:p>
                      <a:pPr marR="59690" algn="r">
                        <a:lnSpc>
                          <a:spcPct val="100000"/>
                        </a:lnSpc>
                        <a:spcBef>
                          <a:spcPts val="280"/>
                        </a:spcBef>
                      </a:pPr>
                      <a:r>
                        <a:rPr sz="1800" dirty="0">
                          <a:latin typeface="Times New Roman" panose="02020603050405020304"/>
                          <a:cs typeface="Times New Roman" panose="02020603050405020304"/>
                        </a:rPr>
                        <a:t>PUSH</a:t>
                      </a:r>
                    </a:p>
                  </a:txBody>
                  <a:tcPr marL="0" marR="0" marT="35560" marB="0"/>
                </a:tc>
                <a:tc>
                  <a:txBody>
                    <a:bodyPr/>
                    <a:lstStyle/>
                    <a:p>
                      <a:pPr marL="162560">
                        <a:lnSpc>
                          <a:spcPct val="100000"/>
                        </a:lnSpc>
                        <a:spcBef>
                          <a:spcPts val="280"/>
                        </a:spcBef>
                      </a:pPr>
                      <a:r>
                        <a:rPr lang="en-US" sz="1800" spc="-5" dirty="0">
                          <a:latin typeface="Times New Roman" panose="02020603050405020304"/>
                          <a:cs typeface="Times New Roman" panose="02020603050405020304"/>
                        </a:rPr>
                        <a:t>    </a:t>
                      </a:r>
                      <a:r>
                        <a:rPr sz="1800" spc="-5" dirty="0">
                          <a:latin typeface="Times New Roman" panose="02020603050405020304"/>
                          <a:cs typeface="Times New Roman" panose="02020603050405020304"/>
                        </a:rPr>
                        <a:t>Acc</a:t>
                      </a:r>
                    </a:p>
                  </a:txBody>
                  <a:tcPr marL="0" marR="0" marT="35560" marB="0"/>
                </a:tc>
                <a:tc>
                  <a:txBody>
                    <a:bodyPr/>
                    <a:lstStyle/>
                    <a:p>
                      <a:pPr>
                        <a:lnSpc>
                          <a:spcPct val="100000"/>
                        </a:lnSpc>
                      </a:pPr>
                      <a:endParaRPr sz="180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02"/>
                  </a:ext>
                </a:extLst>
              </a:tr>
              <a:tr h="406515">
                <a:tc>
                  <a:txBody>
                    <a:bodyPr/>
                    <a:lstStyle/>
                    <a:p>
                      <a:pPr marR="94615" algn="r">
                        <a:lnSpc>
                          <a:spcPts val="2820"/>
                        </a:lnSpc>
                        <a:spcBef>
                          <a:spcPts val="280"/>
                        </a:spcBef>
                      </a:pPr>
                      <a:r>
                        <a:rPr sz="1800" dirty="0">
                          <a:latin typeface="Times New Roman" panose="02020603050405020304"/>
                          <a:cs typeface="Times New Roman" panose="02020603050405020304"/>
                        </a:rPr>
                        <a:t>SE</a:t>
                      </a:r>
                      <a:r>
                        <a:rPr sz="1800" spc="-10" dirty="0">
                          <a:latin typeface="Times New Roman" panose="02020603050405020304"/>
                          <a:cs typeface="Times New Roman" panose="02020603050405020304"/>
                        </a:rPr>
                        <a:t>T</a:t>
                      </a:r>
                      <a:r>
                        <a:rPr sz="1800" dirty="0">
                          <a:latin typeface="Times New Roman" panose="02020603050405020304"/>
                          <a:cs typeface="Times New Roman" panose="02020603050405020304"/>
                        </a:rPr>
                        <a:t>B</a:t>
                      </a:r>
                    </a:p>
                  </a:txBody>
                  <a:tcPr marL="0" marR="0" marT="35560" marB="0"/>
                </a:tc>
                <a:tc>
                  <a:txBody>
                    <a:bodyPr/>
                    <a:lstStyle/>
                    <a:p>
                      <a:pPr marL="67310">
                        <a:lnSpc>
                          <a:spcPts val="2820"/>
                        </a:lnSpc>
                        <a:spcBef>
                          <a:spcPts val="280"/>
                        </a:spcBef>
                      </a:pPr>
                      <a:r>
                        <a:rPr lang="en-US" sz="1800" spc="-1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EA</a:t>
                      </a:r>
                    </a:p>
                  </a:txBody>
                  <a:tcPr marL="0" marR="0" marT="35560" marB="0"/>
                </a:tc>
                <a:tc>
                  <a:txBody>
                    <a:bodyPr/>
                    <a:lstStyle/>
                    <a:p>
                      <a:pPr marL="553085">
                        <a:lnSpc>
                          <a:spcPts val="2820"/>
                        </a:lnSpc>
                        <a:spcBef>
                          <a:spcPts val="280"/>
                        </a:spcBef>
                      </a:pPr>
                      <a:r>
                        <a:rPr sz="1800" dirty="0">
                          <a:latin typeface="宋体" panose="02010600030101010101" pitchFamily="2" charset="-122"/>
                          <a:cs typeface="宋体" panose="02010600030101010101" pitchFamily="2" charset="-122"/>
                        </a:rPr>
                        <a:t>；总中断允许</a:t>
                      </a:r>
                    </a:p>
                  </a:txBody>
                  <a:tcPr marL="0" marR="0" marT="35560" marB="0"/>
                </a:tc>
                <a:extLst>
                  <a:ext uri="{0D108BD9-81ED-4DB2-BD59-A6C34878D82A}">
                    <a16:rowId xmlns:a16="http://schemas.microsoft.com/office/drawing/2014/main" val="10003"/>
                  </a:ext>
                </a:extLst>
              </a:tr>
              <a:tr h="533071">
                <a:tc gridSpan="3">
                  <a:txBody>
                    <a:bodyPr/>
                    <a:lstStyle/>
                    <a:p>
                      <a:pPr marL="946150">
                        <a:lnSpc>
                          <a:spcPct val="100000"/>
                        </a:lnSpc>
                        <a:spcBef>
                          <a:spcPts val="825"/>
                        </a:spcBef>
                      </a:pPr>
                      <a:r>
                        <a:rPr sz="1800" b="1" dirty="0">
                          <a:solidFill>
                            <a:srgbClr val="FF3300"/>
                          </a:solidFill>
                          <a:latin typeface="Microsoft JhengHei" panose="020B0604030504040204" charset="-120"/>
                          <a:cs typeface="Microsoft JhengHei" panose="020B0604030504040204" charset="-120"/>
                        </a:rPr>
                        <a:t>中断处理段</a:t>
                      </a:r>
                    </a:p>
                  </a:txBody>
                  <a:tcPr marL="0" marR="0" marT="104775" marB="0"/>
                </a:tc>
                <a:tc hMerge="1">
                  <a:txBody>
                    <a:bodyPr/>
                    <a:lstStyle/>
                    <a:p>
                      <a:endParaRPr lang="zh-CN"/>
                    </a:p>
                  </a:txBody>
                  <a:tcPr marL="0" marR="0" marT="0" marB="0"/>
                </a:tc>
                <a:tc hMerge="1">
                  <a:txBody>
                    <a:bodyPr/>
                    <a:lstStyle/>
                    <a:p>
                      <a:endParaRPr lang="zh-CN"/>
                    </a:p>
                  </a:txBody>
                  <a:tcPr marL="0" marR="0" marT="0" marB="0"/>
                </a:tc>
                <a:extLst>
                  <a:ext uri="{0D108BD9-81ED-4DB2-BD59-A6C34878D82A}">
                    <a16:rowId xmlns:a16="http://schemas.microsoft.com/office/drawing/2014/main" val="10004"/>
                  </a:ext>
                </a:extLst>
              </a:tr>
              <a:tr h="487131">
                <a:tc>
                  <a:txBody>
                    <a:bodyPr/>
                    <a:lstStyle/>
                    <a:p>
                      <a:pPr marL="946150">
                        <a:lnSpc>
                          <a:spcPct val="100000"/>
                        </a:lnSpc>
                        <a:spcBef>
                          <a:spcPts val="370"/>
                        </a:spcBef>
                      </a:pPr>
                      <a:r>
                        <a:rPr sz="1800" dirty="0">
                          <a:latin typeface="Times New Roman" panose="02020603050405020304"/>
                          <a:cs typeface="Times New Roman" panose="02020603050405020304"/>
                        </a:rPr>
                        <a:t>CLR</a:t>
                      </a:r>
                    </a:p>
                  </a:txBody>
                  <a:tcPr marL="0" marR="0" marT="46990" marB="0"/>
                </a:tc>
                <a:tc>
                  <a:txBody>
                    <a:bodyPr/>
                    <a:lstStyle/>
                    <a:p>
                      <a:pPr marL="67310">
                        <a:lnSpc>
                          <a:spcPct val="100000"/>
                        </a:lnSpc>
                        <a:spcBef>
                          <a:spcPts val="370"/>
                        </a:spcBef>
                      </a:pPr>
                      <a:r>
                        <a:rPr sz="1800" spc="-10" dirty="0">
                          <a:latin typeface="Times New Roman" panose="02020603050405020304"/>
                          <a:cs typeface="Times New Roman" panose="02020603050405020304"/>
                        </a:rPr>
                        <a:t>EA</a:t>
                      </a:r>
                    </a:p>
                  </a:txBody>
                  <a:tcPr marL="0" marR="0" marT="46990" marB="0"/>
                </a:tc>
                <a:tc>
                  <a:txBody>
                    <a:bodyPr/>
                    <a:lstStyle/>
                    <a:p>
                      <a:pPr marL="553085">
                        <a:lnSpc>
                          <a:spcPct val="100000"/>
                        </a:lnSpc>
                        <a:spcBef>
                          <a:spcPts val="370"/>
                        </a:spcBef>
                      </a:pPr>
                      <a:r>
                        <a:rPr sz="1800" b="1" spc="5" dirty="0">
                          <a:latin typeface="Microsoft JhengHei" panose="020B0604030504040204" charset="-120"/>
                          <a:cs typeface="Microsoft JhengHei" panose="020B0604030504040204" charset="-120"/>
                        </a:rPr>
                        <a:t>；关中断</a:t>
                      </a:r>
                    </a:p>
                  </a:txBody>
                  <a:tcPr marL="0" marR="0" marT="46990" marB="0"/>
                </a:tc>
                <a:extLst>
                  <a:ext uri="{0D108BD9-81ED-4DB2-BD59-A6C34878D82A}">
                    <a16:rowId xmlns:a16="http://schemas.microsoft.com/office/drawing/2014/main" val="10005"/>
                  </a:ext>
                </a:extLst>
              </a:tr>
              <a:tr h="475488">
                <a:tc>
                  <a:txBody>
                    <a:bodyPr/>
                    <a:lstStyle/>
                    <a:p>
                      <a:pPr marL="946150">
                        <a:lnSpc>
                          <a:spcPct val="100000"/>
                        </a:lnSpc>
                        <a:spcBef>
                          <a:spcPts val="280"/>
                        </a:spcBef>
                      </a:pPr>
                      <a:r>
                        <a:rPr sz="1800" spc="-5" dirty="0">
                          <a:latin typeface="Times New Roman" panose="02020603050405020304"/>
                          <a:cs typeface="Times New Roman" panose="02020603050405020304"/>
                        </a:rPr>
                        <a:t>POP</a:t>
                      </a:r>
                    </a:p>
                  </a:txBody>
                  <a:tcPr marL="0" marR="0" marT="35560" marB="0"/>
                </a:tc>
                <a:tc>
                  <a:txBody>
                    <a:bodyPr/>
                    <a:lstStyle/>
                    <a:p>
                      <a:pPr marL="67310">
                        <a:lnSpc>
                          <a:spcPct val="100000"/>
                        </a:lnSpc>
                        <a:spcBef>
                          <a:spcPts val="280"/>
                        </a:spcBef>
                      </a:pPr>
                      <a:r>
                        <a:rPr sz="1800" spc="-5" dirty="0">
                          <a:latin typeface="Times New Roman" panose="02020603050405020304"/>
                          <a:cs typeface="Times New Roman" panose="02020603050405020304"/>
                        </a:rPr>
                        <a:t>Acc</a:t>
                      </a:r>
                    </a:p>
                  </a:txBody>
                  <a:tcPr marL="0" marR="0" marT="35560" marB="0"/>
                </a:tc>
                <a:tc>
                  <a:txBody>
                    <a:bodyPr/>
                    <a:lstStyle/>
                    <a:p>
                      <a:pPr marL="553085">
                        <a:lnSpc>
                          <a:spcPct val="100000"/>
                        </a:lnSpc>
                        <a:spcBef>
                          <a:spcPts val="280"/>
                        </a:spcBef>
                      </a:pPr>
                      <a:r>
                        <a:rPr sz="1800" dirty="0">
                          <a:latin typeface="宋体" panose="02010600030101010101" pitchFamily="2" charset="-122"/>
                          <a:cs typeface="宋体" panose="02010600030101010101" pitchFamily="2" charset="-122"/>
                        </a:rPr>
                        <a:t>；</a:t>
                      </a:r>
                      <a:r>
                        <a:rPr sz="1800" dirty="0">
                          <a:solidFill>
                            <a:srgbClr val="FF0000"/>
                          </a:solidFill>
                          <a:latin typeface="宋体" panose="02010600030101010101" pitchFamily="2" charset="-122"/>
                          <a:cs typeface="宋体" panose="02010600030101010101" pitchFamily="2" charset="-122"/>
                        </a:rPr>
                        <a:t>现场恢复</a:t>
                      </a:r>
                    </a:p>
                  </a:txBody>
                  <a:tcPr marL="0" marR="0" marT="35560" marB="0"/>
                </a:tc>
                <a:extLst>
                  <a:ext uri="{0D108BD9-81ED-4DB2-BD59-A6C34878D82A}">
                    <a16:rowId xmlns:a16="http://schemas.microsoft.com/office/drawing/2014/main" val="10006"/>
                  </a:ext>
                </a:extLst>
              </a:tr>
              <a:tr h="475488">
                <a:tc>
                  <a:txBody>
                    <a:bodyPr/>
                    <a:lstStyle/>
                    <a:p>
                      <a:pPr marL="946150">
                        <a:lnSpc>
                          <a:spcPct val="100000"/>
                        </a:lnSpc>
                        <a:spcBef>
                          <a:spcPts val="280"/>
                        </a:spcBef>
                      </a:pPr>
                      <a:r>
                        <a:rPr sz="1800" spc="-5" dirty="0">
                          <a:latin typeface="Times New Roman" panose="02020603050405020304"/>
                          <a:cs typeface="Times New Roman" panose="02020603050405020304"/>
                        </a:rPr>
                        <a:t>POP</a:t>
                      </a:r>
                    </a:p>
                  </a:txBody>
                  <a:tcPr marL="0" marR="0" marT="35560" marB="0"/>
                </a:tc>
                <a:tc>
                  <a:txBody>
                    <a:bodyPr/>
                    <a:lstStyle/>
                    <a:p>
                      <a:pPr marL="67310">
                        <a:lnSpc>
                          <a:spcPct val="100000"/>
                        </a:lnSpc>
                        <a:spcBef>
                          <a:spcPts val="280"/>
                        </a:spcBef>
                      </a:pPr>
                      <a:r>
                        <a:rPr sz="1800" spc="-10" dirty="0">
                          <a:latin typeface="Times New Roman" panose="02020603050405020304"/>
                          <a:cs typeface="Times New Roman" panose="02020603050405020304"/>
                        </a:rPr>
                        <a:t>PSW</a:t>
                      </a:r>
                    </a:p>
                  </a:txBody>
                  <a:tcPr marL="0" marR="0" marT="35560" marB="0"/>
                </a:tc>
                <a:tc>
                  <a:txBody>
                    <a:bodyPr/>
                    <a:lstStyle/>
                    <a:p>
                      <a:pPr>
                        <a:lnSpc>
                          <a:spcPct val="100000"/>
                        </a:lnSpc>
                      </a:pPr>
                      <a:endParaRPr sz="180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07"/>
                  </a:ext>
                </a:extLst>
              </a:tr>
              <a:tr h="475615">
                <a:tc>
                  <a:txBody>
                    <a:bodyPr/>
                    <a:lstStyle/>
                    <a:p>
                      <a:pPr marR="95250" algn="r">
                        <a:lnSpc>
                          <a:spcPct val="100000"/>
                        </a:lnSpc>
                        <a:spcBef>
                          <a:spcPts val="280"/>
                        </a:spcBef>
                      </a:pPr>
                      <a:r>
                        <a:rPr sz="1800" spc="-5" dirty="0">
                          <a:latin typeface="Times New Roman" panose="02020603050405020304"/>
                          <a:cs typeface="Times New Roman" panose="02020603050405020304"/>
                        </a:rPr>
                        <a:t>SETB</a:t>
                      </a:r>
                    </a:p>
                  </a:txBody>
                  <a:tcPr marL="0" marR="0" marT="35560" marB="0"/>
                </a:tc>
                <a:tc>
                  <a:txBody>
                    <a:bodyPr/>
                    <a:lstStyle/>
                    <a:p>
                      <a:pPr marL="67310">
                        <a:lnSpc>
                          <a:spcPct val="100000"/>
                        </a:lnSpc>
                        <a:spcBef>
                          <a:spcPts val="280"/>
                        </a:spcBef>
                      </a:pPr>
                      <a:r>
                        <a:rPr sz="1800" spc="-10" dirty="0">
                          <a:latin typeface="Times New Roman" panose="02020603050405020304"/>
                          <a:cs typeface="Times New Roman" panose="02020603050405020304"/>
                        </a:rPr>
                        <a:t>EA</a:t>
                      </a:r>
                    </a:p>
                  </a:txBody>
                  <a:tcPr marL="0" marR="0" marT="35560" marB="0"/>
                </a:tc>
                <a:tc>
                  <a:txBody>
                    <a:bodyPr/>
                    <a:lstStyle/>
                    <a:p>
                      <a:pPr marL="553085">
                        <a:lnSpc>
                          <a:spcPct val="100000"/>
                        </a:lnSpc>
                        <a:spcBef>
                          <a:spcPts val="280"/>
                        </a:spcBef>
                      </a:pPr>
                      <a:r>
                        <a:rPr sz="1800" dirty="0">
                          <a:latin typeface="宋体" panose="02010600030101010101" pitchFamily="2" charset="-122"/>
                          <a:cs typeface="宋体" panose="02010600030101010101" pitchFamily="2" charset="-122"/>
                        </a:rPr>
                        <a:t>；</a:t>
                      </a:r>
                      <a:r>
                        <a:rPr sz="1800" dirty="0">
                          <a:solidFill>
                            <a:srgbClr val="FF0000"/>
                          </a:solidFill>
                          <a:latin typeface="宋体" panose="02010600030101010101" pitchFamily="2" charset="-122"/>
                          <a:cs typeface="宋体" panose="02010600030101010101" pitchFamily="2" charset="-122"/>
                        </a:rPr>
                        <a:t>总中断允许</a:t>
                      </a:r>
                    </a:p>
                  </a:txBody>
                  <a:tcPr marL="0" marR="0" marT="35560" marB="0"/>
                </a:tc>
                <a:extLst>
                  <a:ext uri="{0D108BD9-81ED-4DB2-BD59-A6C34878D82A}">
                    <a16:rowId xmlns:a16="http://schemas.microsoft.com/office/drawing/2014/main" val="10008"/>
                  </a:ext>
                </a:extLst>
              </a:tr>
              <a:tr h="412146">
                <a:tc>
                  <a:txBody>
                    <a:bodyPr/>
                    <a:lstStyle/>
                    <a:p>
                      <a:pPr marR="161925" algn="r">
                        <a:lnSpc>
                          <a:spcPts val="2865"/>
                        </a:lnSpc>
                        <a:spcBef>
                          <a:spcPts val="280"/>
                        </a:spcBef>
                      </a:pPr>
                      <a:r>
                        <a:rPr sz="1800" dirty="0">
                          <a:latin typeface="Times New Roman" panose="02020603050405020304"/>
                          <a:cs typeface="Times New Roman" panose="02020603050405020304"/>
                        </a:rPr>
                        <a:t>RETI</a:t>
                      </a:r>
                    </a:p>
                  </a:txBody>
                  <a:tcPr marL="0" marR="0" marT="35560" marB="0"/>
                </a:tc>
                <a:tc>
                  <a:txBody>
                    <a:bodyPr/>
                    <a:lstStyle/>
                    <a:p>
                      <a:pPr>
                        <a:lnSpc>
                          <a:spcPct val="100000"/>
                        </a:lnSpc>
                      </a:pPr>
                      <a:endParaRPr sz="1800">
                        <a:latin typeface="Times New Roman" panose="02020603050405020304"/>
                        <a:cs typeface="Times New Roman" panose="02020603050405020304"/>
                      </a:endParaRPr>
                    </a:p>
                  </a:txBody>
                  <a:tcPr marL="0" marR="0" marT="0" marB="0"/>
                </a:tc>
                <a:tc>
                  <a:txBody>
                    <a:bodyPr/>
                    <a:lstStyle/>
                    <a:p>
                      <a:pPr marL="553085">
                        <a:lnSpc>
                          <a:spcPts val="2865"/>
                        </a:lnSpc>
                        <a:spcBef>
                          <a:spcPts val="280"/>
                        </a:spcBef>
                        <a:tabLst>
                          <a:tab pos="4797425" algn="l"/>
                        </a:tabLst>
                      </a:pPr>
                      <a:r>
                        <a:rPr sz="1800" dirty="0">
                          <a:latin typeface="宋体" panose="02010600030101010101" pitchFamily="2" charset="-122"/>
                          <a:cs typeface="宋体" panose="02010600030101010101" pitchFamily="2" charset="-122"/>
                        </a:rPr>
                        <a:t>；</a:t>
                      </a:r>
                      <a:r>
                        <a:rPr sz="1800" dirty="0">
                          <a:solidFill>
                            <a:srgbClr val="0000CC"/>
                          </a:solidFill>
                          <a:latin typeface="宋体" panose="02010600030101010101" pitchFamily="2" charset="-122"/>
                          <a:cs typeface="宋体" panose="02010600030101010101" pitchFamily="2" charset="-122"/>
                        </a:rPr>
                        <a:t>中断返回，恢复断点	</a:t>
                      </a:r>
                      <a:r>
                        <a:rPr sz="1400" baseline="-9000" dirty="0">
                          <a:latin typeface="Arial Black" panose="020B0A04020102020204"/>
                          <a:cs typeface="Arial Black" panose="020B0A04020102020204"/>
                        </a:rPr>
                        <a:t>7</a:t>
                      </a:r>
                    </a:p>
                  </a:txBody>
                  <a:tcPr marL="0" marR="0" marT="35560" marB="0"/>
                </a:tc>
                <a:extLst>
                  <a:ext uri="{0D108BD9-81ED-4DB2-BD59-A6C34878D82A}">
                    <a16:rowId xmlns:a16="http://schemas.microsoft.com/office/drawing/2014/main" val="10009"/>
                  </a:ext>
                </a:extLst>
              </a:tr>
            </a:tbl>
          </a:graphicData>
        </a:graphic>
      </p:graphicFrame>
      <p:sp>
        <p:nvSpPr>
          <p:cNvPr id="6" name="灯片编号占位符 5"/>
          <p:cNvSpPr>
            <a:spLocks noGrp="1"/>
          </p:cNvSpPr>
          <p:nvPr>
            <p:ph type="sldNum" sz="quarter" idx="7"/>
          </p:nvPr>
        </p:nvSpPr>
        <p:spPr/>
        <p:txBody>
          <a:bodyPr/>
          <a:lstStyle/>
          <a:p>
            <a:pPr marL="25400">
              <a:lnSpc>
                <a:spcPct val="100000"/>
              </a:lnSpc>
              <a:spcBef>
                <a:spcPts val="185"/>
              </a:spcBef>
            </a:pPr>
            <a:fld id="{81D60167-4931-47E6-BA6A-407CBD079E47}" type="slidenum">
              <a:rPr spc="-5" dirty="0"/>
              <a:t>30</a:t>
            </a:fld>
            <a:endParaRPr spc="-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2994" y="569467"/>
            <a:ext cx="2165350" cy="391160"/>
          </a:xfrm>
          <a:prstGeom prst="rect">
            <a:avLst/>
          </a:prstGeom>
        </p:spPr>
        <p:txBody>
          <a:bodyPr vert="horz" wrap="square" lIns="0" tIns="12700" rIns="0" bIns="0" rtlCol="0">
            <a:spAutoFit/>
          </a:bodyPr>
          <a:lstStyle/>
          <a:p>
            <a:pPr marL="12700">
              <a:lnSpc>
                <a:spcPct val="100000"/>
              </a:lnSpc>
              <a:spcBef>
                <a:spcPts val="100"/>
              </a:spcBef>
            </a:pPr>
            <a:r>
              <a:rPr dirty="0"/>
              <a:t>程</a:t>
            </a:r>
            <a:r>
              <a:rPr spc="5" dirty="0"/>
              <a:t>序</a:t>
            </a:r>
            <a:r>
              <a:rPr dirty="0"/>
              <a:t>几</a:t>
            </a:r>
            <a:r>
              <a:rPr spc="5" dirty="0"/>
              <a:t>点说</a:t>
            </a:r>
            <a:r>
              <a:rPr spc="15" dirty="0"/>
              <a:t>明</a:t>
            </a:r>
            <a:r>
              <a:rPr b="0" dirty="0">
                <a:solidFill>
                  <a:srgbClr val="000000"/>
                </a:solidFill>
                <a:latin typeface="宋体" panose="02010600030101010101" pitchFamily="2" charset="-122"/>
                <a:cs typeface="宋体" panose="02010600030101010101" pitchFamily="2" charset="-122"/>
              </a:rPr>
              <a:t>：</a:t>
            </a:r>
          </a:p>
        </p:txBody>
      </p:sp>
      <p:sp>
        <p:nvSpPr>
          <p:cNvPr id="3" name="object 3"/>
          <p:cNvSpPr txBox="1"/>
          <p:nvPr/>
        </p:nvSpPr>
        <p:spPr>
          <a:xfrm>
            <a:off x="530860" y="1122933"/>
            <a:ext cx="7981315" cy="2945130"/>
          </a:xfrm>
          <a:prstGeom prst="rect">
            <a:avLst/>
          </a:prstGeom>
        </p:spPr>
        <p:txBody>
          <a:bodyPr vert="horz" wrap="square" lIns="0" tIns="12700" rIns="0" bIns="0" rtlCol="0">
            <a:spAutoFit/>
          </a:bodyPr>
          <a:lstStyle/>
          <a:p>
            <a:pPr marL="12700" marR="193040">
              <a:lnSpc>
                <a:spcPct val="140000"/>
              </a:lnSpc>
              <a:spcBef>
                <a:spcPts val="100"/>
              </a:spcBef>
              <a:buClr>
                <a:srgbClr val="000000"/>
              </a:buClr>
              <a:buSzPct val="96000"/>
              <a:buAutoNum type="arabicPlain"/>
              <a:tabLst>
                <a:tab pos="776605" algn="l"/>
              </a:tabLst>
            </a:pPr>
            <a:r>
              <a:rPr b="1" dirty="0">
                <a:solidFill>
                  <a:srgbClr val="3333CC"/>
                </a:solidFill>
                <a:latin typeface="Microsoft JhengHei" panose="020B0604030504040204" charset="-120"/>
                <a:cs typeface="Microsoft JhengHei" panose="020B0604030504040204" charset="-120"/>
              </a:rPr>
              <a:t>现</a:t>
            </a:r>
            <a:r>
              <a:rPr b="1" spc="5" dirty="0">
                <a:solidFill>
                  <a:srgbClr val="3333CC"/>
                </a:solidFill>
                <a:latin typeface="Microsoft JhengHei" panose="020B0604030504040204" charset="-120"/>
                <a:cs typeface="Microsoft JhengHei" panose="020B0604030504040204" charset="-120"/>
              </a:rPr>
              <a:t>场保</a:t>
            </a:r>
            <a:r>
              <a:rPr b="1" spc="15" dirty="0">
                <a:solidFill>
                  <a:srgbClr val="3333CC"/>
                </a:solidFill>
                <a:latin typeface="Microsoft JhengHei" panose="020B0604030504040204" charset="-120"/>
                <a:cs typeface="Microsoft JhengHei" panose="020B0604030504040204" charset="-120"/>
              </a:rPr>
              <a:t>护</a:t>
            </a:r>
            <a:r>
              <a:rPr b="1" spc="5" dirty="0">
                <a:solidFill>
                  <a:srgbClr val="3333CC"/>
                </a:solidFill>
                <a:latin typeface="Microsoft JhengHei" panose="020B0604030504040204" charset="-120"/>
                <a:cs typeface="Microsoft JhengHei" panose="020B0604030504040204" charset="-120"/>
              </a:rPr>
              <a:t>假设仅仅涉</a:t>
            </a:r>
            <a:r>
              <a:rPr b="1" spc="25" dirty="0">
                <a:solidFill>
                  <a:srgbClr val="3333CC"/>
                </a:solidFill>
                <a:latin typeface="Microsoft JhengHei" panose="020B0604030504040204" charset="-120"/>
                <a:cs typeface="Microsoft JhengHei" panose="020B0604030504040204" charset="-120"/>
              </a:rPr>
              <a:t>及</a:t>
            </a:r>
            <a:r>
              <a:rPr b="1" dirty="0">
                <a:solidFill>
                  <a:srgbClr val="FF0000"/>
                </a:solidFill>
                <a:latin typeface="Times New Roman" panose="02020603050405020304"/>
                <a:cs typeface="Times New Roman" panose="02020603050405020304"/>
              </a:rPr>
              <a:t>PS</a:t>
            </a:r>
            <a:r>
              <a:rPr b="1" spc="5" dirty="0">
                <a:solidFill>
                  <a:srgbClr val="FF0000"/>
                </a:solidFill>
                <a:latin typeface="Times New Roman" panose="02020603050405020304"/>
                <a:cs typeface="Times New Roman" panose="02020603050405020304"/>
              </a:rPr>
              <a:t>W</a:t>
            </a:r>
            <a:r>
              <a:rPr b="1" spc="5" dirty="0">
                <a:solidFill>
                  <a:srgbClr val="3333CC"/>
                </a:solidFill>
                <a:latin typeface="Microsoft JhengHei" panose="020B0604030504040204" charset="-120"/>
                <a:cs typeface="Microsoft JhengHei" panose="020B0604030504040204" charset="-120"/>
              </a:rPr>
              <a:t>和</a:t>
            </a:r>
            <a:r>
              <a:rPr b="1" dirty="0">
                <a:solidFill>
                  <a:srgbClr val="FF0000"/>
                </a:solidFill>
                <a:latin typeface="Times New Roman" panose="02020603050405020304"/>
                <a:cs typeface="Times New Roman" panose="02020603050405020304"/>
              </a:rPr>
              <a:t>A</a:t>
            </a:r>
            <a:r>
              <a:rPr b="1" spc="5" dirty="0">
                <a:latin typeface="Microsoft JhengHei" panose="020B0604030504040204" charset="-120"/>
                <a:cs typeface="Microsoft JhengHei" panose="020B0604030504040204" charset="-120"/>
              </a:rPr>
              <a:t>的</a:t>
            </a:r>
            <a:r>
              <a:rPr b="1" spc="15" dirty="0">
                <a:latin typeface="Microsoft JhengHei" panose="020B0604030504040204" charset="-120"/>
                <a:cs typeface="Microsoft JhengHei" panose="020B0604030504040204" charset="-120"/>
              </a:rPr>
              <a:t>内</a:t>
            </a:r>
            <a:r>
              <a:rPr b="1" spc="5" dirty="0">
                <a:latin typeface="Microsoft JhengHei" panose="020B0604030504040204" charset="-120"/>
                <a:cs typeface="Microsoft JhengHei" panose="020B0604030504040204" charset="-120"/>
              </a:rPr>
              <a:t>容，如有其他</a:t>
            </a:r>
            <a:r>
              <a:rPr b="1" dirty="0">
                <a:latin typeface="Microsoft JhengHei" panose="020B0604030504040204" charset="-120"/>
                <a:cs typeface="Microsoft JhengHei" panose="020B0604030504040204" charset="-120"/>
              </a:rPr>
              <a:t>需 保</a:t>
            </a:r>
            <a:r>
              <a:rPr b="1" spc="5" dirty="0">
                <a:latin typeface="Microsoft JhengHei" panose="020B0604030504040204" charset="-120"/>
                <a:cs typeface="Microsoft JhengHei" panose="020B0604030504040204" charset="-120"/>
              </a:rPr>
              <a:t>护</a:t>
            </a:r>
            <a:r>
              <a:rPr b="1" dirty="0">
                <a:latin typeface="Microsoft JhengHei" panose="020B0604030504040204" charset="-120"/>
                <a:cs typeface="Microsoft JhengHei" panose="020B0604030504040204" charset="-120"/>
              </a:rPr>
              <a:t>内</a:t>
            </a:r>
            <a:r>
              <a:rPr b="1" spc="5" dirty="0">
                <a:latin typeface="Microsoft JhengHei" panose="020B0604030504040204" charset="-120"/>
                <a:cs typeface="Microsoft JhengHei" panose="020B0604030504040204" charset="-120"/>
              </a:rPr>
              <a:t>容，</a:t>
            </a:r>
            <a:r>
              <a:rPr b="1" spc="15" dirty="0">
                <a:latin typeface="Microsoft JhengHei" panose="020B0604030504040204" charset="-120"/>
                <a:cs typeface="Microsoft JhengHei" panose="020B0604030504040204" charset="-120"/>
              </a:rPr>
              <a:t>只</a:t>
            </a:r>
            <a:r>
              <a:rPr b="1" spc="5" dirty="0">
                <a:latin typeface="Microsoft JhengHei" panose="020B0604030504040204" charset="-120"/>
                <a:cs typeface="Microsoft JhengHei" panose="020B0604030504040204" charset="-120"/>
              </a:rPr>
              <a:t>需在相应位置再加几</a:t>
            </a:r>
            <a:r>
              <a:rPr b="1" spc="40" dirty="0">
                <a:latin typeface="Microsoft JhengHei" panose="020B0604030504040204" charset="-120"/>
                <a:cs typeface="Microsoft JhengHei" panose="020B0604030504040204" charset="-120"/>
              </a:rPr>
              <a:t>条</a:t>
            </a:r>
            <a:r>
              <a:rPr b="1" spc="-5" dirty="0">
                <a:latin typeface="Times New Roman" panose="02020603050405020304"/>
                <a:cs typeface="Times New Roman" panose="02020603050405020304"/>
              </a:rPr>
              <a:t>PUSH</a:t>
            </a:r>
            <a:r>
              <a:rPr b="1" spc="5" dirty="0">
                <a:latin typeface="Microsoft JhengHei" panose="020B0604030504040204" charset="-120"/>
                <a:cs typeface="Microsoft JhengHei" panose="020B0604030504040204" charset="-120"/>
              </a:rPr>
              <a:t>和</a:t>
            </a:r>
            <a:r>
              <a:rPr b="1" spc="-5" dirty="0">
                <a:latin typeface="Times New Roman" panose="02020603050405020304"/>
                <a:cs typeface="Times New Roman" panose="02020603050405020304"/>
              </a:rPr>
              <a:t>POP</a:t>
            </a:r>
            <a:r>
              <a:rPr b="1" spc="10" dirty="0">
                <a:latin typeface="Microsoft JhengHei" panose="020B0604030504040204" charset="-120"/>
                <a:cs typeface="Microsoft JhengHei" panose="020B0604030504040204" charset="-120"/>
              </a:rPr>
              <a:t>指令。</a:t>
            </a:r>
            <a:endParaRPr>
              <a:latin typeface="Microsoft JhengHei" panose="020B0604030504040204" charset="-120"/>
              <a:cs typeface="Microsoft JhengHei" panose="020B0604030504040204" charset="-120"/>
            </a:endParaRPr>
          </a:p>
          <a:p>
            <a:pPr marL="12700" marR="77470">
              <a:lnSpc>
                <a:spcPct val="140000"/>
              </a:lnSpc>
              <a:spcBef>
                <a:spcPts val="575"/>
              </a:spcBef>
              <a:buSzPct val="96000"/>
              <a:buAutoNum type="arabicPlain"/>
              <a:tabLst>
                <a:tab pos="854075" algn="l"/>
              </a:tabLst>
            </a:pPr>
            <a:r>
              <a:rPr b="1" dirty="0">
                <a:latin typeface="Microsoft JhengHei" panose="020B0604030504040204" charset="-120"/>
                <a:cs typeface="Microsoft JhengHei" panose="020B0604030504040204" charset="-120"/>
              </a:rPr>
              <a:t>“中断</a:t>
            </a:r>
            <a:r>
              <a:rPr b="1" spc="10" dirty="0">
                <a:latin typeface="Microsoft JhengHei" panose="020B0604030504040204" charset="-120"/>
                <a:cs typeface="Microsoft JhengHei" panose="020B0604030504040204" charset="-120"/>
              </a:rPr>
              <a:t>处理程序段”，根据中断任</a:t>
            </a:r>
            <a:r>
              <a:rPr b="1" spc="15" dirty="0">
                <a:latin typeface="Microsoft JhengHei" panose="020B0604030504040204" charset="-120"/>
                <a:cs typeface="Microsoft JhengHei" panose="020B0604030504040204" charset="-120"/>
              </a:rPr>
              <a:t>务</a:t>
            </a:r>
            <a:r>
              <a:rPr b="1" spc="10" dirty="0">
                <a:latin typeface="Microsoft JhengHei" panose="020B0604030504040204" charset="-120"/>
                <a:cs typeface="Microsoft JhengHei" panose="020B0604030504040204" charset="-120"/>
              </a:rPr>
              <a:t>的具体要求，</a:t>
            </a:r>
            <a:r>
              <a:rPr b="1" dirty="0">
                <a:latin typeface="Microsoft JhengHei" panose="020B0604030504040204" charset="-120"/>
                <a:cs typeface="Microsoft JhengHei" panose="020B0604030504040204" charset="-120"/>
              </a:rPr>
              <a:t>编 写</a:t>
            </a:r>
            <a:r>
              <a:rPr b="1" spc="5" dirty="0">
                <a:latin typeface="Microsoft JhengHei" panose="020B0604030504040204" charset="-120"/>
                <a:cs typeface="Microsoft JhengHei" panose="020B0604030504040204" charset="-120"/>
              </a:rPr>
              <a:t>中</a:t>
            </a:r>
            <a:r>
              <a:rPr b="1" dirty="0">
                <a:latin typeface="Microsoft JhengHei" panose="020B0604030504040204" charset="-120"/>
                <a:cs typeface="Microsoft JhengHei" panose="020B0604030504040204" charset="-120"/>
              </a:rPr>
              <a:t>断</a:t>
            </a:r>
            <a:r>
              <a:rPr b="1" spc="5" dirty="0">
                <a:latin typeface="Microsoft JhengHei" panose="020B0604030504040204" charset="-120"/>
                <a:cs typeface="Microsoft JhengHei" panose="020B0604030504040204" charset="-120"/>
              </a:rPr>
              <a:t>处理</a:t>
            </a:r>
            <a:r>
              <a:rPr b="1" spc="15" dirty="0">
                <a:latin typeface="Microsoft JhengHei" panose="020B0604030504040204" charset="-120"/>
                <a:cs typeface="Microsoft JhengHei" panose="020B0604030504040204" charset="-120"/>
              </a:rPr>
              <a:t>程</a:t>
            </a:r>
            <a:r>
              <a:rPr b="1" spc="5" dirty="0">
                <a:latin typeface="Microsoft JhengHei" panose="020B0604030504040204" charset="-120"/>
                <a:cs typeface="Microsoft JhengHei" panose="020B0604030504040204" charset="-120"/>
              </a:rPr>
              <a:t>序</a:t>
            </a:r>
            <a:r>
              <a:rPr b="1" dirty="0">
                <a:latin typeface="Microsoft JhengHei" panose="020B0604030504040204" charset="-120"/>
                <a:cs typeface="Microsoft JhengHei" panose="020B0604030504040204" charset="-120"/>
              </a:rPr>
              <a:t>。</a:t>
            </a:r>
            <a:endParaRPr>
              <a:latin typeface="Microsoft JhengHei" panose="020B0604030504040204" charset="-120"/>
              <a:cs typeface="Microsoft JhengHei" panose="020B0604030504040204" charset="-120"/>
            </a:endParaRPr>
          </a:p>
          <a:p>
            <a:pPr marL="12700" marR="158750">
              <a:lnSpc>
                <a:spcPct val="140000"/>
              </a:lnSpc>
              <a:spcBef>
                <a:spcPts val="575"/>
              </a:spcBef>
              <a:buSzPct val="96000"/>
              <a:buAutoNum type="arabicPlain"/>
              <a:tabLst>
                <a:tab pos="776605" algn="l"/>
                <a:tab pos="2781935" algn="l"/>
                <a:tab pos="4922520" algn="l"/>
              </a:tabLst>
            </a:pPr>
            <a:r>
              <a:rPr b="1" spc="5" dirty="0">
                <a:latin typeface="Microsoft JhengHei" panose="020B0604030504040204" charset="-120"/>
                <a:cs typeface="Microsoft JhengHei" panose="020B0604030504040204" charset="-120"/>
              </a:rPr>
              <a:t>如</a:t>
            </a:r>
            <a:r>
              <a:rPr b="1" dirty="0">
                <a:latin typeface="Microsoft JhengHei" panose="020B0604030504040204" charset="-120"/>
                <a:cs typeface="Microsoft JhengHei" panose="020B0604030504040204" charset="-120"/>
              </a:rPr>
              <a:t>不</a:t>
            </a:r>
            <a:r>
              <a:rPr b="1" spc="15" dirty="0">
                <a:latin typeface="Microsoft JhengHei" panose="020B0604030504040204" charset="-120"/>
                <a:cs typeface="Microsoft JhengHei" panose="020B0604030504040204" charset="-120"/>
              </a:rPr>
              <a:t>允许</a:t>
            </a:r>
            <a:r>
              <a:rPr b="1" spc="5" dirty="0">
                <a:latin typeface="Microsoft JhengHei" panose="020B0604030504040204" charset="-120"/>
                <a:cs typeface="Microsoft JhengHei" panose="020B0604030504040204" charset="-120"/>
              </a:rPr>
              <a:t>被其他的中断所中断，可</a:t>
            </a:r>
            <a:r>
              <a:rPr b="1" spc="15" dirty="0">
                <a:latin typeface="Microsoft JhengHei" panose="020B0604030504040204" charset="-120"/>
                <a:cs typeface="Microsoft JhengHei" panose="020B0604030504040204" charset="-120"/>
              </a:rPr>
              <a:t>将</a:t>
            </a:r>
            <a:r>
              <a:rPr b="1" spc="5" dirty="0">
                <a:latin typeface="Microsoft JhengHei" panose="020B0604030504040204" charset="-120"/>
                <a:cs typeface="Microsoft JhengHei" panose="020B0604030504040204" charset="-120"/>
              </a:rPr>
              <a:t>“中断处理程</a:t>
            </a:r>
            <a:r>
              <a:rPr b="1" dirty="0">
                <a:latin typeface="Microsoft JhengHei" panose="020B0604030504040204" charset="-120"/>
                <a:cs typeface="Microsoft JhengHei" panose="020B0604030504040204" charset="-120"/>
              </a:rPr>
              <a:t>序 段”前后</a:t>
            </a:r>
            <a:r>
              <a:rPr b="1" spc="5" dirty="0">
                <a:latin typeface="Microsoft JhengHei" panose="020B0604030504040204" charset="-120"/>
                <a:cs typeface="Microsoft JhengHei" panose="020B0604030504040204" charset="-120"/>
              </a:rPr>
              <a:t>的“</a:t>
            </a:r>
            <a:r>
              <a:rPr b="1" spc="5" dirty="0">
                <a:latin typeface="Times New Roman" panose="02020603050405020304"/>
                <a:cs typeface="Times New Roman" panose="02020603050405020304"/>
              </a:rPr>
              <a:t>SETB	</a:t>
            </a:r>
            <a:r>
              <a:rPr b="1" dirty="0">
                <a:latin typeface="Times New Roman" panose="02020603050405020304"/>
                <a:cs typeface="Times New Roman" panose="02020603050405020304"/>
              </a:rPr>
              <a:t>EA</a:t>
            </a:r>
            <a:r>
              <a:rPr b="1" dirty="0">
                <a:latin typeface="Microsoft JhengHei" panose="020B0604030504040204" charset="-120"/>
                <a:cs typeface="Microsoft JhengHei" panose="020B0604030504040204" charset="-120"/>
              </a:rPr>
              <a:t>”和“</a:t>
            </a:r>
            <a:r>
              <a:rPr b="1" dirty="0">
                <a:latin typeface="Times New Roman" panose="02020603050405020304"/>
                <a:cs typeface="Times New Roman" panose="02020603050405020304"/>
              </a:rPr>
              <a:t>CLR	EA</a:t>
            </a:r>
            <a:r>
              <a:rPr b="1" dirty="0">
                <a:latin typeface="Microsoft JhengHei" panose="020B0604030504040204" charset="-120"/>
                <a:cs typeface="Microsoft JhengHei" panose="020B0604030504040204" charset="-120"/>
              </a:rPr>
              <a:t>”两条指</a:t>
            </a:r>
            <a:r>
              <a:rPr b="1" spc="5" dirty="0">
                <a:latin typeface="Microsoft JhengHei" panose="020B0604030504040204" charset="-120"/>
                <a:cs typeface="Microsoft JhengHei" panose="020B0604030504040204" charset="-120"/>
              </a:rPr>
              <a:t>令</a:t>
            </a:r>
            <a:r>
              <a:rPr b="1" spc="10" dirty="0">
                <a:latin typeface="Microsoft JhengHei" panose="020B0604030504040204" charset="-120"/>
                <a:cs typeface="Microsoft JhengHei" panose="020B0604030504040204" charset="-120"/>
              </a:rPr>
              <a:t>去</a:t>
            </a:r>
            <a:r>
              <a:rPr b="1" spc="5" dirty="0">
                <a:latin typeface="Microsoft JhengHei" panose="020B0604030504040204" charset="-120"/>
                <a:cs typeface="Microsoft JhengHei" panose="020B0604030504040204" charset="-120"/>
              </a:rPr>
              <a:t>掉</a:t>
            </a:r>
            <a:r>
              <a:rPr b="1" dirty="0">
                <a:latin typeface="Microsoft JhengHei" panose="020B0604030504040204" charset="-120"/>
                <a:cs typeface="Microsoft JhengHei" panose="020B0604030504040204" charset="-120"/>
              </a:rPr>
              <a:t>。</a:t>
            </a:r>
            <a:endParaRPr>
              <a:latin typeface="Microsoft JhengHei" panose="020B0604030504040204" charset="-120"/>
              <a:cs typeface="Microsoft JhengHei" panose="020B0604030504040204" charset="-120"/>
            </a:endParaRPr>
          </a:p>
          <a:p>
            <a:pPr marL="12700" marR="5080">
              <a:lnSpc>
                <a:spcPct val="140000"/>
              </a:lnSpc>
              <a:spcBef>
                <a:spcPts val="580"/>
              </a:spcBef>
              <a:buClr>
                <a:srgbClr val="000000"/>
              </a:buClr>
              <a:buSzPct val="96000"/>
              <a:buAutoNum type="arabicPlain"/>
              <a:tabLst>
                <a:tab pos="776605" algn="l"/>
              </a:tabLst>
            </a:pPr>
            <a:r>
              <a:rPr b="1" dirty="0">
                <a:solidFill>
                  <a:srgbClr val="3333CC"/>
                </a:solidFill>
                <a:latin typeface="Microsoft JhengHei" panose="020B0604030504040204" charset="-120"/>
                <a:cs typeface="Microsoft JhengHei" panose="020B0604030504040204" charset="-120"/>
              </a:rPr>
              <a:t>最</a:t>
            </a:r>
            <a:r>
              <a:rPr b="1" spc="5" dirty="0">
                <a:solidFill>
                  <a:srgbClr val="3333CC"/>
                </a:solidFill>
                <a:latin typeface="Microsoft JhengHei" panose="020B0604030504040204" charset="-120"/>
                <a:cs typeface="Microsoft JhengHei" panose="020B0604030504040204" charset="-120"/>
              </a:rPr>
              <a:t>后一</a:t>
            </a:r>
            <a:r>
              <a:rPr b="1" spc="15" dirty="0">
                <a:solidFill>
                  <a:srgbClr val="3333CC"/>
                </a:solidFill>
                <a:latin typeface="Microsoft JhengHei" panose="020B0604030504040204" charset="-120"/>
                <a:cs typeface="Microsoft JhengHei" panose="020B0604030504040204" charset="-120"/>
              </a:rPr>
              <a:t>条</a:t>
            </a:r>
            <a:r>
              <a:rPr b="1" spc="5" dirty="0">
                <a:solidFill>
                  <a:srgbClr val="3333CC"/>
                </a:solidFill>
                <a:latin typeface="Microsoft JhengHei" panose="020B0604030504040204" charset="-120"/>
                <a:cs typeface="Microsoft JhengHei" panose="020B0604030504040204" charset="-120"/>
              </a:rPr>
              <a:t>指令必须是返回指</a:t>
            </a:r>
            <a:r>
              <a:rPr b="1" spc="40" dirty="0">
                <a:solidFill>
                  <a:srgbClr val="3333CC"/>
                </a:solidFill>
                <a:latin typeface="Microsoft JhengHei" panose="020B0604030504040204" charset="-120"/>
                <a:cs typeface="Microsoft JhengHei" panose="020B0604030504040204" charset="-120"/>
              </a:rPr>
              <a:t>令</a:t>
            </a:r>
            <a:r>
              <a:rPr b="1" spc="-5" dirty="0">
                <a:solidFill>
                  <a:srgbClr val="FF3300"/>
                </a:solidFill>
                <a:latin typeface="Times New Roman" panose="02020603050405020304"/>
                <a:cs typeface="Times New Roman" panose="02020603050405020304"/>
              </a:rPr>
              <a:t>RET</a:t>
            </a:r>
            <a:r>
              <a:rPr b="1" dirty="0">
                <a:solidFill>
                  <a:srgbClr val="FF3300"/>
                </a:solidFill>
                <a:latin typeface="Times New Roman" panose="02020603050405020304"/>
                <a:cs typeface="Times New Roman" panose="02020603050405020304"/>
              </a:rPr>
              <a:t>I</a:t>
            </a:r>
            <a:r>
              <a:rPr b="1" spc="10" dirty="0">
                <a:latin typeface="Microsoft JhengHei" panose="020B0604030504040204" charset="-120"/>
                <a:cs typeface="Microsoft JhengHei" panose="020B0604030504040204" charset="-120"/>
              </a:rPr>
              <a:t>，不可少</a:t>
            </a:r>
            <a:r>
              <a:rPr b="1" spc="5" dirty="0">
                <a:latin typeface="Microsoft JhengHei" panose="020B0604030504040204" charset="-120"/>
                <a:cs typeface="Microsoft JhengHei" panose="020B0604030504040204" charset="-120"/>
              </a:rPr>
              <a:t>，</a:t>
            </a:r>
            <a:r>
              <a:rPr b="1" spc="-5" dirty="0">
                <a:latin typeface="Times New Roman" panose="02020603050405020304"/>
                <a:cs typeface="Times New Roman" panose="02020603050405020304"/>
              </a:rPr>
              <a:t>CP</a:t>
            </a:r>
            <a:r>
              <a:rPr b="1" spc="5" dirty="0">
                <a:latin typeface="Times New Roman" panose="02020603050405020304"/>
                <a:cs typeface="Times New Roman" panose="02020603050405020304"/>
              </a:rPr>
              <a:t>U</a:t>
            </a:r>
            <a:r>
              <a:rPr b="1" dirty="0">
                <a:latin typeface="Microsoft JhengHei" panose="020B0604030504040204" charset="-120"/>
                <a:cs typeface="Microsoft JhengHei" panose="020B0604030504040204" charset="-120"/>
              </a:rPr>
              <a:t>执 行</a:t>
            </a:r>
            <a:r>
              <a:rPr b="1" spc="5" dirty="0">
                <a:latin typeface="Microsoft JhengHei" panose="020B0604030504040204" charset="-120"/>
                <a:cs typeface="Microsoft JhengHei" panose="020B0604030504040204" charset="-120"/>
              </a:rPr>
              <a:t>该</a:t>
            </a:r>
            <a:r>
              <a:rPr b="1" dirty="0">
                <a:latin typeface="Microsoft JhengHei" panose="020B0604030504040204" charset="-120"/>
                <a:cs typeface="Microsoft JhengHei" panose="020B0604030504040204" charset="-120"/>
              </a:rPr>
              <a:t>指</a:t>
            </a:r>
            <a:r>
              <a:rPr b="1" spc="5" dirty="0">
                <a:latin typeface="Microsoft JhengHei" panose="020B0604030504040204" charset="-120"/>
                <a:cs typeface="Microsoft JhengHei" panose="020B0604030504040204" charset="-120"/>
              </a:rPr>
              <a:t>令后</a:t>
            </a:r>
            <a:r>
              <a:rPr b="1" spc="15" dirty="0">
                <a:latin typeface="Microsoft JhengHei" panose="020B0604030504040204" charset="-120"/>
                <a:cs typeface="Microsoft JhengHei" panose="020B0604030504040204" charset="-120"/>
              </a:rPr>
              <a:t>，</a:t>
            </a:r>
            <a:r>
              <a:rPr b="1" spc="5" dirty="0">
                <a:latin typeface="Microsoft JhengHei" panose="020B0604030504040204" charset="-120"/>
                <a:cs typeface="Microsoft JhengHei" panose="020B0604030504040204" charset="-120"/>
              </a:rPr>
              <a:t>返回断点处，重新执行被</a:t>
            </a:r>
            <a:r>
              <a:rPr b="1" spc="15" dirty="0">
                <a:latin typeface="Microsoft JhengHei" panose="020B0604030504040204" charset="-120"/>
                <a:cs typeface="Microsoft JhengHei" panose="020B0604030504040204" charset="-120"/>
              </a:rPr>
              <a:t>中</a:t>
            </a:r>
            <a:r>
              <a:rPr b="1" spc="5" dirty="0">
                <a:latin typeface="Microsoft JhengHei" panose="020B0604030504040204" charset="-120"/>
                <a:cs typeface="Microsoft JhengHei" panose="020B0604030504040204" charset="-120"/>
              </a:rPr>
              <a:t>断的主程序</a:t>
            </a:r>
            <a:r>
              <a:rPr b="1" dirty="0">
                <a:latin typeface="Microsoft JhengHei" panose="020B0604030504040204" charset="-120"/>
                <a:cs typeface="Microsoft JhengHei" panose="020B0604030504040204" charset="-120"/>
              </a:rPr>
              <a:t>。</a:t>
            </a:r>
          </a:p>
        </p:txBody>
      </p:sp>
      <p:sp>
        <p:nvSpPr>
          <p:cNvPr id="5" name="灯片编号占位符 4"/>
          <p:cNvSpPr>
            <a:spLocks noGrp="1"/>
          </p:cNvSpPr>
          <p:nvPr>
            <p:ph type="sldNum" sz="quarter" idx="7"/>
          </p:nvPr>
        </p:nvSpPr>
        <p:spPr/>
        <p:txBody>
          <a:bodyPr/>
          <a:lstStyle/>
          <a:p>
            <a:pPr marL="25400">
              <a:lnSpc>
                <a:spcPct val="100000"/>
              </a:lnSpc>
              <a:spcBef>
                <a:spcPts val="185"/>
              </a:spcBef>
            </a:pPr>
            <a:fld id="{81D60167-4931-47E6-BA6A-407CBD079E47}" type="slidenum">
              <a:rPr spc="-5" dirty="0"/>
              <a:t>31</a:t>
            </a:fld>
            <a:endParaRPr spc="-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1" name="文本占位符 130050"/>
          <p:cNvSpPr>
            <a:spLocks noGrp="1"/>
          </p:cNvSpPr>
          <p:nvPr>
            <p:ph type="body" idx="1"/>
          </p:nvPr>
        </p:nvSpPr>
        <p:spPr>
          <a:xfrm>
            <a:off x="533400" y="1219200"/>
            <a:ext cx="8042275" cy="1751965"/>
          </a:xfrm>
        </p:spPr>
        <p:txBody>
          <a:bodyPr wrap="square" lIns="92075" tIns="46038" rIns="92075" bIns="46038"/>
          <a:lstStyle/>
          <a:p>
            <a:pPr indent="0" eaLnBrk="1" fontAlgn="auto" latinLnBrk="0" hangingPunct="1">
              <a:lnSpc>
                <a:spcPct val="120000"/>
              </a:lnSpc>
              <a:buNone/>
            </a:pPr>
            <a:r>
              <a:rPr lang="zh-CN" altLang="en-US" b="1" dirty="0"/>
              <a:t>例</a:t>
            </a:r>
            <a:r>
              <a:rPr lang="en-US" altLang="zh-CN" b="1" dirty="0"/>
              <a:t>5-3</a:t>
            </a:r>
            <a:r>
              <a:rPr lang="zh-CN" altLang="en-US" b="1" dirty="0"/>
              <a:t>：如 </a:t>
            </a:r>
            <a:r>
              <a:rPr lang="zh-CN" altLang="en-US" b="1" dirty="0">
                <a:hlinkClick r:id="rId2" action="ppaction://hlinksldjump"/>
              </a:rPr>
              <a:t>图</a:t>
            </a:r>
            <a:r>
              <a:rPr lang="en-US" altLang="zh-CN" b="1" dirty="0">
                <a:hlinkClick r:id="rId2" action="ppaction://hlinksldjump"/>
              </a:rPr>
              <a:t>5-14</a:t>
            </a:r>
            <a:r>
              <a:rPr lang="zh-CN" altLang="en-US" b="1" dirty="0"/>
              <a:t>所示，将</a:t>
            </a:r>
            <a:r>
              <a:rPr lang="en-US" altLang="zh-CN" b="1" dirty="0"/>
              <a:t>P1</a:t>
            </a:r>
            <a:r>
              <a:rPr lang="zh-CN" altLang="en-US" b="1" dirty="0"/>
              <a:t>口的</a:t>
            </a:r>
            <a:r>
              <a:rPr lang="en-US" altLang="zh-CN" b="1" dirty="0">
                <a:solidFill>
                  <a:srgbClr val="FF0000"/>
                </a:solidFill>
              </a:rPr>
              <a:t>P1.4</a:t>
            </a:r>
            <a:r>
              <a:rPr lang="zh-CN" altLang="en-US" b="1" dirty="0">
                <a:solidFill>
                  <a:srgbClr val="FF0000"/>
                </a:solidFill>
              </a:rPr>
              <a:t>～</a:t>
            </a:r>
            <a:r>
              <a:rPr lang="en-US" altLang="zh-CN" b="1" dirty="0">
                <a:solidFill>
                  <a:srgbClr val="FF0000"/>
                </a:solidFill>
              </a:rPr>
              <a:t>P1.7</a:t>
            </a:r>
            <a:r>
              <a:rPr lang="zh-CN" altLang="zh-CN" b="1" dirty="0"/>
              <a:t>作为</a:t>
            </a:r>
            <a:r>
              <a:rPr lang="zh-CN" altLang="zh-CN" b="1" dirty="0">
                <a:solidFill>
                  <a:srgbClr val="FF0000"/>
                </a:solidFill>
              </a:rPr>
              <a:t>输入</a:t>
            </a:r>
            <a:r>
              <a:rPr lang="zh-CN" altLang="zh-CN" b="1" dirty="0"/>
              <a:t>位， </a:t>
            </a:r>
            <a:r>
              <a:rPr lang="en-US" altLang="zh-CN" b="1" dirty="0">
                <a:solidFill>
                  <a:srgbClr val="FF0000"/>
                </a:solidFill>
              </a:rPr>
              <a:t>P1.0</a:t>
            </a:r>
            <a:r>
              <a:rPr lang="zh-CN" altLang="en-US" b="1" dirty="0">
                <a:solidFill>
                  <a:srgbClr val="FF0000"/>
                </a:solidFill>
              </a:rPr>
              <a:t>～</a:t>
            </a:r>
            <a:r>
              <a:rPr lang="en-US" altLang="zh-CN" b="1" dirty="0">
                <a:solidFill>
                  <a:srgbClr val="FF0000"/>
                </a:solidFill>
              </a:rPr>
              <a:t>P1.3</a:t>
            </a:r>
            <a:r>
              <a:rPr lang="zh-CN" altLang="zh-CN" b="1" dirty="0"/>
              <a:t>作为</a:t>
            </a:r>
            <a:r>
              <a:rPr lang="zh-CN" altLang="zh-CN" b="1" dirty="0">
                <a:solidFill>
                  <a:srgbClr val="FF0000"/>
                </a:solidFill>
              </a:rPr>
              <a:t>输出</a:t>
            </a:r>
            <a:r>
              <a:rPr lang="zh-CN" altLang="zh-CN" b="1" dirty="0"/>
              <a:t>位。要求利用</a:t>
            </a:r>
            <a:r>
              <a:rPr lang="en-US" altLang="zh-CN" b="1" dirty="0"/>
              <a:t>C51</a:t>
            </a:r>
            <a:r>
              <a:rPr lang="zh-CN" altLang="zh-CN" b="1" dirty="0"/>
              <a:t>将开关所设的数据读入单片机内，并依次通过P1.0～P1.3输出，驱动发光二极管，以检查P1.4～P1.7输入的电平情况（若输入为</a:t>
            </a:r>
            <a:r>
              <a:rPr lang="en-US" altLang="zh-CN" b="1" dirty="0"/>
              <a:t>1</a:t>
            </a:r>
            <a:r>
              <a:rPr lang="zh-CN" altLang="zh-CN" b="1" dirty="0"/>
              <a:t>则相应的LED亮）。 </a:t>
            </a:r>
            <a:r>
              <a:rPr lang="zh-CN" altLang="zh-CN" b="1" dirty="0">
                <a:solidFill>
                  <a:srgbClr val="FF0000"/>
                </a:solidFill>
              </a:rPr>
              <a:t>现要求采用中断边沿触发方式，每中断一次，完成一次读/写操作。</a:t>
            </a:r>
            <a:endParaRPr lang="en-US" altLang="zh-CN" b="1" dirty="0">
              <a:solidFill>
                <a:srgbClr val="FF0000"/>
              </a:solidFill>
            </a:endParaRPr>
          </a:p>
        </p:txBody>
      </p:sp>
      <p:sp>
        <p:nvSpPr>
          <p:cNvPr id="18" name="object 2"/>
          <p:cNvSpPr txBox="1">
            <a:spLocks noGrp="1"/>
          </p:cNvSpPr>
          <p:nvPr/>
        </p:nvSpPr>
        <p:spPr>
          <a:xfrm>
            <a:off x="1373505" y="353695"/>
            <a:ext cx="4768215" cy="381635"/>
          </a:xfrm>
          <a:prstGeom prst="rect">
            <a:avLst/>
          </a:prstGeom>
        </p:spPr>
        <p:txBody>
          <a:bodyPr vert="horz" wrap="square" lIns="0" tIns="12700" rIns="0" bIns="0" rtlCol="0">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12700">
              <a:lnSpc>
                <a:spcPct val="100000"/>
              </a:lnSpc>
              <a:spcBef>
                <a:spcPts val="100"/>
              </a:spcBef>
            </a:pPr>
            <a:r>
              <a:rPr lang="en-US" sz="2400" spc="10" dirty="0">
                <a:ea typeface="微软雅黑" panose="020B0503020204020204" charset="-122"/>
              </a:rPr>
              <a:t>§</a:t>
            </a:r>
            <a:r>
              <a:rPr lang="en-US" sz="2400" spc="10" dirty="0"/>
              <a:t>5.5.2  </a:t>
            </a:r>
            <a:r>
              <a:rPr sz="2400" spc="10" dirty="0"/>
              <a:t>中断</a:t>
            </a:r>
            <a:r>
              <a:rPr lang="zh-CN" sz="2400" spc="10" dirty="0"/>
              <a:t>服务程序</a:t>
            </a:r>
          </a:p>
        </p:txBody>
      </p:sp>
      <p:pic>
        <p:nvPicPr>
          <p:cNvPr id="4" name="图片 3"/>
          <p:cNvPicPr>
            <a:picLocks noChangeAspect="1"/>
          </p:cNvPicPr>
          <p:nvPr/>
        </p:nvPicPr>
        <p:blipFill>
          <a:blip r:embed="rId3"/>
          <a:stretch>
            <a:fillRect/>
          </a:stretch>
        </p:blipFill>
        <p:spPr>
          <a:xfrm>
            <a:off x="4635500" y="2773045"/>
            <a:ext cx="3735849" cy="3600000"/>
          </a:xfrm>
          <a:prstGeom prst="rect">
            <a:avLst/>
          </a:prstGeom>
        </p:spPr>
      </p:pic>
      <p:sp>
        <p:nvSpPr>
          <p:cNvPr id="113667" name="文本占位符 113666"/>
          <p:cNvSpPr>
            <a:spLocks noGrp="1"/>
          </p:cNvSpPr>
          <p:nvPr/>
        </p:nvSpPr>
        <p:spPr>
          <a:xfrm>
            <a:off x="595630" y="3176905"/>
            <a:ext cx="3858260" cy="2802255"/>
          </a:xfrm>
          <a:prstGeom prst="rect">
            <a:avLst/>
          </a:prstGeom>
        </p:spPr>
        <p:txBody>
          <a:bodyPr wrap="square" lIns="92075" tIns="46038" rIns="92075" bIns="46038">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indent="0" fontAlgn="auto">
              <a:lnSpc>
                <a:spcPct val="140000"/>
              </a:lnSpc>
              <a:buNone/>
            </a:pPr>
            <a:r>
              <a:rPr lang="zh-CN" altLang="en-US" b="1" dirty="0"/>
              <a:t>解：如图所示，采用外部中断</a:t>
            </a:r>
            <a:r>
              <a:rPr lang="en-US" altLang="zh-CN" b="1" dirty="0"/>
              <a:t>0</a:t>
            </a:r>
            <a:r>
              <a:rPr lang="zh-CN" altLang="en-US" b="1" dirty="0"/>
              <a:t>，中断申请从</a:t>
            </a:r>
            <a:r>
              <a:rPr lang="en-US" altLang="zh-CN" b="1" dirty="0"/>
              <a:t>INT0</a:t>
            </a:r>
            <a:r>
              <a:rPr lang="zh-CN" altLang="en-US" b="1" dirty="0"/>
              <a:t>输入，并采用了去抖动电路。</a:t>
            </a:r>
          </a:p>
          <a:p>
            <a:pPr indent="0" fontAlgn="auto">
              <a:lnSpc>
                <a:spcPct val="140000"/>
              </a:lnSpc>
              <a:buNone/>
            </a:pPr>
            <a:r>
              <a:rPr lang="zh-CN" altLang="en-US" b="1" dirty="0"/>
              <a:t>       当</a:t>
            </a:r>
            <a:r>
              <a:rPr lang="en-US" altLang="zh-CN" b="1" dirty="0"/>
              <a:t>P1.0</a:t>
            </a:r>
            <a:r>
              <a:rPr lang="zh-CN" altLang="en-US" b="1" dirty="0"/>
              <a:t>～</a:t>
            </a:r>
            <a:r>
              <a:rPr lang="en-US" altLang="zh-CN" b="1" dirty="0"/>
              <a:t>P1.3</a:t>
            </a:r>
            <a:r>
              <a:rPr lang="zh-CN" altLang="en-US" b="1" dirty="0"/>
              <a:t>的任何一位输出为</a:t>
            </a:r>
            <a:r>
              <a:rPr lang="en-US" altLang="zh-CN" b="1" dirty="0"/>
              <a:t>0</a:t>
            </a:r>
            <a:r>
              <a:rPr lang="zh-CN" altLang="en-US" b="1" dirty="0"/>
              <a:t>时，相应的发光二极管就会发光。当开关</a:t>
            </a:r>
            <a:r>
              <a:rPr lang="en-US" altLang="zh-CN" b="1" dirty="0"/>
              <a:t>S1</a:t>
            </a:r>
            <a:r>
              <a:rPr lang="zh-CN" altLang="en-US" b="1" dirty="0"/>
              <a:t>闭合时，发出中断请求。中断服务程序的矢量地址为</a:t>
            </a:r>
            <a:r>
              <a:rPr lang="en-US" altLang="zh-CN" b="1" dirty="0"/>
              <a:t>0003H</a:t>
            </a:r>
            <a:r>
              <a:rPr lang="zh-CN" altLang="en-US" b="1" dirty="0"/>
              <a:t>。</a:t>
            </a:r>
          </a:p>
        </p:txBody>
      </p:sp>
      <p:sp>
        <p:nvSpPr>
          <p:cNvPr id="5" name="灯片编号占位符 4"/>
          <p:cNvSpPr>
            <a:spLocks noGrp="1"/>
          </p:cNvSpPr>
          <p:nvPr>
            <p:ph type="sldNum" sz="quarter" idx="7"/>
          </p:nvPr>
        </p:nvSpPr>
        <p:spPr/>
        <p:txBody>
          <a:bodyPr/>
          <a:lstStyle/>
          <a:p>
            <a:pPr marL="25400">
              <a:lnSpc>
                <a:spcPct val="100000"/>
              </a:lnSpc>
              <a:spcBef>
                <a:spcPts val="185"/>
              </a:spcBef>
            </a:pPr>
            <a:fld id="{81D60167-4931-47E6-BA6A-407CBD079E47}" type="slidenum">
              <a:rPr spc="-5" dirty="0"/>
              <a:t>32</a:t>
            </a:fld>
            <a:endParaRPr spc="-5" dirty="0"/>
          </a:p>
        </p:txBody>
      </p:sp>
    </p:spTree>
  </p:cSld>
  <p:clrMapOvr>
    <a:masterClrMapping/>
  </p:clrMapOvr>
  <p:transition advClick="0">
    <p:cut thruBlk="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文本占位符 114690"/>
          <p:cNvSpPr>
            <a:spLocks noGrp="1"/>
          </p:cNvSpPr>
          <p:nvPr>
            <p:ph type="body" idx="1"/>
          </p:nvPr>
        </p:nvSpPr>
        <p:spPr>
          <a:xfrm>
            <a:off x="511175" y="1072515"/>
            <a:ext cx="4268470" cy="1812925"/>
          </a:xfrm>
        </p:spPr>
        <p:txBody>
          <a:bodyPr wrap="square" lIns="92075" tIns="46038" rIns="92075" bIns="46038"/>
          <a:lstStyle/>
          <a:p>
            <a:pPr marL="952500" indent="-952500">
              <a:lnSpc>
                <a:spcPct val="140000"/>
              </a:lnSpc>
              <a:buNone/>
            </a:pPr>
            <a:r>
              <a:rPr lang="zh-CN" altLang="en-US" sz="1600" b="1" dirty="0">
                <a:solidFill>
                  <a:srgbClr val="FF3300"/>
                </a:solidFill>
              </a:rPr>
              <a:t>例</a:t>
            </a:r>
            <a:r>
              <a:rPr lang="en-US" altLang="zh-CN" sz="1600" b="1" dirty="0">
                <a:solidFill>
                  <a:srgbClr val="FF3300"/>
                </a:solidFill>
              </a:rPr>
              <a:t>5-3</a:t>
            </a:r>
            <a:r>
              <a:rPr lang="en-US" altLang="zh-CN" sz="1600" dirty="0"/>
              <a:t> </a:t>
            </a:r>
            <a:r>
              <a:rPr lang="zh-CN" altLang="en-US" sz="1600" dirty="0"/>
              <a:t>源程序如下：</a:t>
            </a:r>
          </a:p>
          <a:p>
            <a:pPr marL="952500" indent="-952500">
              <a:lnSpc>
                <a:spcPct val="140000"/>
              </a:lnSpc>
              <a:buNone/>
            </a:pPr>
            <a:r>
              <a:rPr lang="zh-CN" altLang="en-US" sz="1600" dirty="0"/>
              <a:t>           </a:t>
            </a:r>
            <a:r>
              <a:rPr lang="en-US" altLang="zh-CN" sz="1600"/>
              <a:t>ORG     0000H</a:t>
            </a:r>
          </a:p>
          <a:p>
            <a:pPr marL="952500" indent="-952500">
              <a:lnSpc>
                <a:spcPct val="140000"/>
              </a:lnSpc>
              <a:buNone/>
            </a:pPr>
            <a:r>
              <a:rPr lang="en-US" altLang="zh-CN" sz="1600" dirty="0"/>
              <a:t>           </a:t>
            </a:r>
            <a:r>
              <a:rPr lang="en-US" altLang="zh-CN" sz="1600" dirty="0">
                <a:solidFill>
                  <a:srgbClr val="0000FF"/>
                </a:solidFill>
              </a:rPr>
              <a:t>SJMP    MAIN</a:t>
            </a:r>
            <a:r>
              <a:rPr lang="zh-CN" altLang="en-US" sz="1600" dirty="0"/>
              <a:t>；上电，转向主程序</a:t>
            </a:r>
            <a:endParaRPr lang="zh-CN" altLang="en-US" sz="1600"/>
          </a:p>
          <a:p>
            <a:pPr marL="952500" indent="-952500">
              <a:lnSpc>
                <a:spcPct val="140000"/>
              </a:lnSpc>
              <a:buNone/>
            </a:pPr>
            <a:r>
              <a:rPr lang="zh-CN" altLang="en-US" sz="1600" dirty="0"/>
              <a:t>           </a:t>
            </a:r>
            <a:r>
              <a:rPr lang="en-US" altLang="zh-CN" sz="1600" dirty="0">
                <a:solidFill>
                  <a:srgbClr val="FF3300"/>
                </a:solidFill>
              </a:rPr>
              <a:t>ORG     0003H</a:t>
            </a:r>
            <a:r>
              <a:rPr lang="zh-CN" altLang="en-US" sz="1600" dirty="0"/>
              <a:t>；外部中断</a:t>
            </a:r>
            <a:r>
              <a:rPr lang="en-US" altLang="zh-CN" sz="1600" dirty="0"/>
              <a:t>0</a:t>
            </a:r>
            <a:r>
              <a:rPr lang="zh-CN" altLang="en-US" sz="1600" dirty="0"/>
              <a:t>入口地址</a:t>
            </a:r>
            <a:endParaRPr lang="zh-CN" altLang="en-US" sz="1600"/>
          </a:p>
          <a:p>
            <a:pPr marL="952500" indent="-952500">
              <a:lnSpc>
                <a:spcPct val="140000"/>
              </a:lnSpc>
              <a:buNone/>
            </a:pPr>
            <a:r>
              <a:rPr lang="zh-CN" altLang="en-US" sz="1600" dirty="0"/>
              <a:t>          </a:t>
            </a:r>
            <a:r>
              <a:rPr lang="zh-CN" altLang="en-US" sz="1600" dirty="0">
                <a:solidFill>
                  <a:srgbClr val="FF3300"/>
                </a:solidFill>
              </a:rPr>
              <a:t> </a:t>
            </a:r>
            <a:r>
              <a:rPr lang="en-US" altLang="zh-CN" sz="1600" dirty="0">
                <a:solidFill>
                  <a:srgbClr val="FF3300"/>
                </a:solidFill>
              </a:rPr>
              <a:t>SJMP    INSER</a:t>
            </a:r>
            <a:r>
              <a:rPr lang="zh-CN" altLang="en-US" sz="1600" dirty="0"/>
              <a:t>；转向中断服务程序</a:t>
            </a:r>
          </a:p>
        </p:txBody>
      </p:sp>
      <p:pic>
        <p:nvPicPr>
          <p:cNvPr id="4" name="图片 3"/>
          <p:cNvPicPr>
            <a:picLocks noChangeAspect="1"/>
          </p:cNvPicPr>
          <p:nvPr/>
        </p:nvPicPr>
        <p:blipFill>
          <a:blip r:embed="rId2"/>
          <a:stretch>
            <a:fillRect/>
          </a:stretch>
        </p:blipFill>
        <p:spPr>
          <a:xfrm>
            <a:off x="5046345" y="1861820"/>
            <a:ext cx="3600450" cy="3469640"/>
          </a:xfrm>
          <a:prstGeom prst="rect">
            <a:avLst/>
          </a:prstGeom>
        </p:spPr>
      </p:pic>
      <p:sp>
        <p:nvSpPr>
          <p:cNvPr id="118787" name="文本占位符 118786"/>
          <p:cNvSpPr>
            <a:spLocks noGrp="1"/>
          </p:cNvSpPr>
          <p:nvPr/>
        </p:nvSpPr>
        <p:spPr>
          <a:xfrm>
            <a:off x="405130" y="2885440"/>
            <a:ext cx="4641215" cy="1791902"/>
          </a:xfrm>
          <a:prstGeom prst="rect">
            <a:avLst/>
          </a:prstGeom>
        </p:spPr>
        <p:txBody>
          <a:bodyPr wrap="square" lIns="92075" tIns="46038" rIns="92075" bIns="46038">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36980" indent="-1236980">
              <a:lnSpc>
                <a:spcPct val="120000"/>
              </a:lnSpc>
              <a:buNone/>
            </a:pPr>
            <a:r>
              <a:rPr lang="en-US" altLang="zh-CN" sz="1600" dirty="0">
                <a:ea typeface="宋体" panose="02010600030101010101" pitchFamily="2" charset="-122"/>
                <a:cs typeface="+mn-lt"/>
              </a:rPr>
              <a:t>              ORG    0030H </a:t>
            </a:r>
            <a:r>
              <a:rPr lang="zh-CN" altLang="en-US" sz="1600" dirty="0">
                <a:ea typeface="宋体" panose="02010600030101010101" pitchFamily="2" charset="-122"/>
                <a:cs typeface="+mn-lt"/>
              </a:rPr>
              <a:t>；</a:t>
            </a:r>
            <a:r>
              <a:rPr lang="zh-CN" altLang="en-US" sz="1600" dirty="0">
                <a:solidFill>
                  <a:srgbClr val="0000FF"/>
                </a:solidFill>
                <a:ea typeface="宋体" panose="02010600030101010101" pitchFamily="2" charset="-122"/>
                <a:cs typeface="+mn-lt"/>
              </a:rPr>
              <a:t>主程序</a:t>
            </a:r>
          </a:p>
          <a:p>
            <a:pPr marL="1236980" indent="-1236980">
              <a:lnSpc>
                <a:spcPct val="120000"/>
              </a:lnSpc>
              <a:buNone/>
            </a:pPr>
            <a:r>
              <a:rPr lang="en-US" altLang="zh-CN" sz="1600" dirty="0">
                <a:ea typeface="宋体" panose="02010600030101010101" pitchFamily="2" charset="-122"/>
                <a:cs typeface="+mn-lt"/>
              </a:rPr>
              <a:t>MAIN</a:t>
            </a:r>
            <a:r>
              <a:rPr lang="zh-CN" altLang="en-US" sz="1600" dirty="0">
                <a:ea typeface="宋体" panose="02010600030101010101" pitchFamily="2" charset="-122"/>
                <a:cs typeface="+mn-lt"/>
              </a:rPr>
              <a:t>：</a:t>
            </a:r>
            <a:r>
              <a:rPr lang="en-US" altLang="zh-CN" sz="1600" dirty="0">
                <a:ea typeface="宋体" panose="02010600030101010101" pitchFamily="2" charset="-122"/>
                <a:cs typeface="+mn-lt"/>
              </a:rPr>
              <a:t>SETB   EX0    </a:t>
            </a:r>
            <a:r>
              <a:rPr lang="zh-CN" altLang="en-US" sz="1600" dirty="0">
                <a:ea typeface="宋体" panose="02010600030101010101" pitchFamily="2" charset="-122"/>
                <a:cs typeface="+mn-lt"/>
              </a:rPr>
              <a:t>；允许外部中断</a:t>
            </a:r>
            <a:r>
              <a:rPr lang="en-US" altLang="zh-CN" sz="1600" dirty="0">
                <a:ea typeface="宋体" panose="02010600030101010101" pitchFamily="2" charset="-122"/>
                <a:cs typeface="+mn-lt"/>
              </a:rPr>
              <a:t>0</a:t>
            </a:r>
            <a:r>
              <a:rPr lang="zh-CN" altLang="en-US" sz="1600" dirty="0">
                <a:ea typeface="宋体" panose="02010600030101010101" pitchFamily="2" charset="-122"/>
                <a:cs typeface="+mn-lt"/>
              </a:rPr>
              <a:t>中断</a:t>
            </a:r>
          </a:p>
          <a:p>
            <a:pPr marL="1236980" indent="-1236980">
              <a:lnSpc>
                <a:spcPct val="120000"/>
              </a:lnSpc>
              <a:buNone/>
            </a:pPr>
            <a:r>
              <a:rPr lang="zh-CN" altLang="en-US" sz="1600" dirty="0">
                <a:ea typeface="宋体" panose="02010600030101010101" pitchFamily="2" charset="-122"/>
                <a:cs typeface="+mn-lt"/>
              </a:rPr>
              <a:t>               </a:t>
            </a:r>
            <a:r>
              <a:rPr lang="en-US" altLang="zh-CN" sz="1600" dirty="0">
                <a:ea typeface="宋体" panose="02010600030101010101" pitchFamily="2" charset="-122"/>
                <a:cs typeface="+mn-lt"/>
              </a:rPr>
              <a:t>SETB   IT0     </a:t>
            </a:r>
            <a:r>
              <a:rPr lang="zh-CN" altLang="en-US" sz="1600" dirty="0">
                <a:ea typeface="宋体" panose="02010600030101010101" pitchFamily="2" charset="-122"/>
                <a:cs typeface="+mn-lt"/>
              </a:rPr>
              <a:t>；选择边沿触发方式</a:t>
            </a:r>
          </a:p>
          <a:p>
            <a:pPr marL="1236980" indent="-1236980">
              <a:lnSpc>
                <a:spcPct val="120000"/>
              </a:lnSpc>
              <a:buNone/>
            </a:pPr>
            <a:r>
              <a:rPr lang="zh-CN" altLang="en-US" sz="1600" dirty="0">
                <a:ea typeface="宋体" panose="02010600030101010101" pitchFamily="2" charset="-122"/>
                <a:cs typeface="+mn-lt"/>
              </a:rPr>
              <a:t>               </a:t>
            </a:r>
            <a:r>
              <a:rPr lang="en-US" altLang="zh-CN" sz="1600" dirty="0">
                <a:ea typeface="宋体" panose="02010600030101010101" pitchFamily="2" charset="-122"/>
                <a:cs typeface="+mn-lt"/>
              </a:rPr>
              <a:t>SETB   EA      </a:t>
            </a:r>
            <a:r>
              <a:rPr lang="zh-CN" altLang="en-US" sz="1600" dirty="0">
                <a:ea typeface="宋体" panose="02010600030101010101" pitchFamily="2" charset="-122"/>
                <a:cs typeface="+mn-lt"/>
              </a:rPr>
              <a:t>；</a:t>
            </a:r>
            <a:r>
              <a:rPr lang="en-US" altLang="zh-CN" sz="1600" dirty="0">
                <a:ea typeface="宋体" panose="02010600030101010101" pitchFamily="2" charset="-122"/>
                <a:cs typeface="+mn-lt"/>
              </a:rPr>
              <a:t>CPU</a:t>
            </a:r>
            <a:r>
              <a:rPr lang="zh-CN" altLang="en-US" sz="1600" dirty="0">
                <a:ea typeface="宋体" panose="02010600030101010101" pitchFamily="2" charset="-122"/>
                <a:cs typeface="+mn-lt"/>
              </a:rPr>
              <a:t>开中断</a:t>
            </a:r>
          </a:p>
          <a:p>
            <a:pPr marL="1236980" indent="-1236980">
              <a:lnSpc>
                <a:spcPct val="120000"/>
              </a:lnSpc>
              <a:buNone/>
            </a:pPr>
            <a:r>
              <a:rPr lang="en-US" altLang="zh-CN" sz="1600" dirty="0">
                <a:ea typeface="宋体" panose="02010600030101010101" pitchFamily="2" charset="-122"/>
                <a:cs typeface="+mn-lt"/>
              </a:rPr>
              <a:t>HERE</a:t>
            </a:r>
            <a:r>
              <a:rPr lang="zh-CN" altLang="en-US" sz="1600" dirty="0">
                <a:ea typeface="宋体" panose="02010600030101010101" pitchFamily="2" charset="-122"/>
                <a:cs typeface="+mn-lt"/>
              </a:rPr>
              <a:t>： </a:t>
            </a:r>
            <a:r>
              <a:rPr lang="en-US" altLang="zh-CN" sz="1600" dirty="0">
                <a:ea typeface="宋体" panose="02010600030101010101" pitchFamily="2" charset="-122"/>
                <a:cs typeface="+mn-lt"/>
              </a:rPr>
              <a:t>SJMP   HERE </a:t>
            </a:r>
            <a:r>
              <a:rPr lang="zh-CN" altLang="en-US" sz="1600" dirty="0">
                <a:ea typeface="宋体" panose="02010600030101010101" pitchFamily="2" charset="-122"/>
                <a:cs typeface="+mn-lt"/>
              </a:rPr>
              <a:t>；等待中断</a:t>
            </a:r>
          </a:p>
          <a:p>
            <a:pPr marL="1236980" indent="-1236980">
              <a:lnSpc>
                <a:spcPct val="120000"/>
              </a:lnSpc>
              <a:buNone/>
            </a:pPr>
            <a:r>
              <a:rPr lang="zh-CN" altLang="en-US" sz="1200" dirty="0">
                <a:ea typeface="宋体" panose="02010600030101010101" pitchFamily="2" charset="-122"/>
                <a:cs typeface="+mn-lt"/>
              </a:rPr>
              <a:t>              </a:t>
            </a:r>
          </a:p>
        </p:txBody>
      </p:sp>
      <p:sp>
        <p:nvSpPr>
          <p:cNvPr id="119811" name="文本占位符 119810"/>
          <p:cNvSpPr>
            <a:spLocks noGrp="1"/>
          </p:cNvSpPr>
          <p:nvPr/>
        </p:nvSpPr>
        <p:spPr>
          <a:xfrm>
            <a:off x="405130" y="4472040"/>
            <a:ext cx="4366260" cy="2062745"/>
          </a:xfrm>
          <a:prstGeom prst="rect">
            <a:avLst/>
          </a:prstGeom>
        </p:spPr>
        <p:txBody>
          <a:bodyPr wrap="square" lIns="92075" tIns="46038" rIns="92075" bIns="46038">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36980" indent="-1236980">
              <a:buNone/>
            </a:pPr>
            <a:r>
              <a:rPr lang="en-US" altLang="zh-CN" sz="1600" dirty="0">
                <a:cs typeface="+mn-lt"/>
              </a:rPr>
              <a:t>               </a:t>
            </a:r>
          </a:p>
          <a:p>
            <a:pPr marL="1236980" indent="-1236980">
              <a:buNone/>
            </a:pPr>
            <a:r>
              <a:rPr lang="en-US" altLang="zh-CN" sz="1600" dirty="0">
                <a:solidFill>
                  <a:srgbClr val="FF3300"/>
                </a:solidFill>
                <a:cs typeface="+mn-lt"/>
              </a:rPr>
              <a:t>              ORG    0200H </a:t>
            </a:r>
            <a:r>
              <a:rPr lang="zh-CN" altLang="en-US" sz="1600" dirty="0">
                <a:cs typeface="+mn-lt"/>
              </a:rPr>
              <a:t>；</a:t>
            </a:r>
            <a:r>
              <a:rPr lang="zh-CN" altLang="en-US" sz="1600" dirty="0">
                <a:solidFill>
                  <a:srgbClr val="0000FF"/>
                </a:solidFill>
                <a:cs typeface="+mn-lt"/>
              </a:rPr>
              <a:t>中断服务程序</a:t>
            </a:r>
          </a:p>
          <a:p>
            <a:pPr marL="1236980" indent="-1236980">
              <a:buNone/>
            </a:pPr>
            <a:r>
              <a:rPr lang="en-US" altLang="zh-CN" sz="1600" dirty="0">
                <a:solidFill>
                  <a:srgbClr val="FF3300"/>
                </a:solidFill>
                <a:cs typeface="+mn-lt"/>
              </a:rPr>
              <a:t>INSER</a:t>
            </a:r>
            <a:r>
              <a:rPr lang="zh-CN" altLang="en-US" sz="1600" dirty="0">
                <a:cs typeface="+mn-lt"/>
              </a:rPr>
              <a:t>：</a:t>
            </a:r>
            <a:r>
              <a:rPr lang="en-US" altLang="zh-CN" sz="1600" dirty="0">
                <a:cs typeface="+mn-lt"/>
              </a:rPr>
              <a:t> MOV   A</a:t>
            </a:r>
            <a:r>
              <a:rPr lang="zh-CN" altLang="en-US" sz="1600" dirty="0">
                <a:cs typeface="+mn-lt"/>
              </a:rPr>
              <a:t>，</a:t>
            </a:r>
            <a:r>
              <a:rPr lang="en-US" altLang="zh-CN" sz="1600" dirty="0">
                <a:cs typeface="+mn-lt"/>
              </a:rPr>
              <a:t>P1 </a:t>
            </a:r>
            <a:r>
              <a:rPr lang="zh-CN" altLang="en-US" sz="1600" dirty="0">
                <a:cs typeface="+mn-lt"/>
              </a:rPr>
              <a:t>；取开关数</a:t>
            </a:r>
          </a:p>
          <a:p>
            <a:pPr marL="1236980" indent="-1236980">
              <a:buNone/>
            </a:pPr>
            <a:r>
              <a:rPr lang="zh-CN" altLang="en-US" sz="1600" dirty="0">
                <a:cs typeface="+mn-lt"/>
              </a:rPr>
              <a:t>               </a:t>
            </a:r>
            <a:r>
              <a:rPr lang="en-US" altLang="zh-CN" sz="1600" dirty="0">
                <a:cs typeface="+mn-lt"/>
              </a:rPr>
              <a:t>SWAP  A        </a:t>
            </a:r>
            <a:r>
              <a:rPr lang="zh-CN" altLang="en-US" sz="1600" dirty="0">
                <a:cs typeface="+mn-lt"/>
              </a:rPr>
              <a:t>；</a:t>
            </a:r>
            <a:r>
              <a:rPr lang="en-US" altLang="zh-CN" sz="1600" dirty="0">
                <a:cs typeface="+mn-lt"/>
              </a:rPr>
              <a:t>A</a:t>
            </a:r>
            <a:r>
              <a:rPr lang="zh-CN" altLang="en-US" sz="1600" dirty="0">
                <a:cs typeface="+mn-lt"/>
              </a:rPr>
              <a:t>的高、低四位互换</a:t>
            </a:r>
            <a:endParaRPr lang="en-US" altLang="zh-CN" sz="1600" dirty="0">
              <a:cs typeface="+mn-lt"/>
            </a:endParaRPr>
          </a:p>
          <a:p>
            <a:pPr marL="1236980" indent="-1236980">
              <a:buNone/>
            </a:pPr>
            <a:r>
              <a:rPr lang="en-US" altLang="zh-CN" sz="1600" dirty="0">
                <a:cs typeface="+mn-lt"/>
              </a:rPr>
              <a:t>               CPL  A</a:t>
            </a:r>
            <a:endParaRPr lang="zh-CN" altLang="en-US" sz="1600" dirty="0">
              <a:cs typeface="+mn-lt"/>
            </a:endParaRPr>
          </a:p>
          <a:p>
            <a:pPr marL="1236980" indent="-1236980">
              <a:buNone/>
            </a:pPr>
            <a:r>
              <a:rPr lang="zh-CN" altLang="en-US" sz="1600" dirty="0">
                <a:cs typeface="+mn-lt"/>
              </a:rPr>
              <a:t>               </a:t>
            </a:r>
            <a:r>
              <a:rPr lang="en-US" altLang="zh-CN" sz="1600" dirty="0">
                <a:cs typeface="+mn-lt"/>
              </a:rPr>
              <a:t>MOV   P1</a:t>
            </a:r>
            <a:r>
              <a:rPr lang="zh-CN" altLang="en-US" sz="1600" dirty="0">
                <a:cs typeface="+mn-lt"/>
              </a:rPr>
              <a:t>，</a:t>
            </a:r>
            <a:r>
              <a:rPr lang="en-US" altLang="zh-CN" sz="1600" dirty="0">
                <a:cs typeface="+mn-lt"/>
              </a:rPr>
              <a:t>A</a:t>
            </a:r>
            <a:r>
              <a:rPr lang="zh-CN" altLang="en-US" sz="1600" dirty="0">
                <a:cs typeface="+mn-lt"/>
              </a:rPr>
              <a:t>；输出驱动</a:t>
            </a:r>
            <a:r>
              <a:rPr lang="en-US" altLang="zh-CN" sz="1600" dirty="0">
                <a:cs typeface="+mn-lt"/>
              </a:rPr>
              <a:t>LED</a:t>
            </a:r>
            <a:r>
              <a:rPr lang="zh-CN" altLang="en-US" sz="1600" dirty="0">
                <a:cs typeface="+mn-lt"/>
              </a:rPr>
              <a:t>发光</a:t>
            </a:r>
          </a:p>
          <a:p>
            <a:pPr marL="1236980" indent="-1236980">
              <a:buNone/>
            </a:pPr>
            <a:r>
              <a:rPr lang="zh-CN" altLang="en-US" sz="1600" dirty="0">
                <a:cs typeface="+mn-lt"/>
              </a:rPr>
              <a:t>               </a:t>
            </a:r>
            <a:r>
              <a:rPr lang="en-US" altLang="zh-CN" sz="1600" dirty="0">
                <a:cs typeface="+mn-lt"/>
              </a:rPr>
              <a:t>RETI               </a:t>
            </a:r>
            <a:r>
              <a:rPr lang="zh-CN" altLang="en-US" sz="1600" dirty="0">
                <a:cs typeface="+mn-lt"/>
              </a:rPr>
              <a:t>；中断返回</a:t>
            </a:r>
          </a:p>
          <a:p>
            <a:pPr marL="1236980" indent="-1236980">
              <a:buNone/>
            </a:pPr>
            <a:r>
              <a:rPr lang="zh-CN" altLang="en-US" sz="1600" dirty="0">
                <a:cs typeface="+mn-lt"/>
              </a:rPr>
              <a:t>               </a:t>
            </a:r>
            <a:r>
              <a:rPr lang="en-US" altLang="zh-CN" sz="1600" dirty="0">
                <a:cs typeface="+mn-lt"/>
              </a:rPr>
              <a:t>END</a:t>
            </a:r>
          </a:p>
        </p:txBody>
      </p:sp>
      <p:sp>
        <p:nvSpPr>
          <p:cNvPr id="18" name="object 2"/>
          <p:cNvSpPr txBox="1">
            <a:spLocks noGrp="1"/>
          </p:cNvSpPr>
          <p:nvPr/>
        </p:nvSpPr>
        <p:spPr>
          <a:xfrm>
            <a:off x="1373505" y="353695"/>
            <a:ext cx="4768215" cy="381635"/>
          </a:xfrm>
          <a:prstGeom prst="rect">
            <a:avLst/>
          </a:prstGeom>
        </p:spPr>
        <p:txBody>
          <a:bodyPr vert="horz" wrap="square" lIns="0" tIns="12700" rIns="0" bIns="0" rtlCol="0">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12700">
              <a:lnSpc>
                <a:spcPct val="100000"/>
              </a:lnSpc>
              <a:spcBef>
                <a:spcPts val="100"/>
              </a:spcBef>
            </a:pPr>
            <a:r>
              <a:rPr lang="en-US" sz="2400" spc="10" dirty="0">
                <a:ea typeface="微软雅黑" panose="020B0503020204020204" charset="-122"/>
              </a:rPr>
              <a:t>§</a:t>
            </a:r>
            <a:r>
              <a:rPr lang="en-US" sz="2400" spc="10" dirty="0"/>
              <a:t>5.5.2  </a:t>
            </a:r>
            <a:r>
              <a:rPr sz="2400" spc="10" dirty="0"/>
              <a:t>中断</a:t>
            </a:r>
            <a:r>
              <a:rPr lang="zh-CN" sz="2400" spc="10" dirty="0"/>
              <a:t>服务程序</a:t>
            </a:r>
          </a:p>
        </p:txBody>
      </p:sp>
      <p:sp>
        <p:nvSpPr>
          <p:cNvPr id="5" name="灯片编号占位符 4"/>
          <p:cNvSpPr>
            <a:spLocks noGrp="1"/>
          </p:cNvSpPr>
          <p:nvPr>
            <p:ph type="sldNum" sz="quarter" idx="7"/>
          </p:nvPr>
        </p:nvSpPr>
        <p:spPr/>
        <p:txBody>
          <a:bodyPr/>
          <a:lstStyle/>
          <a:p>
            <a:pPr marL="25400">
              <a:lnSpc>
                <a:spcPct val="100000"/>
              </a:lnSpc>
              <a:spcBef>
                <a:spcPts val="185"/>
              </a:spcBef>
            </a:pPr>
            <a:fld id="{81D60167-4931-47E6-BA6A-407CBD079E47}" type="slidenum">
              <a:rPr spc="-5" dirty="0"/>
              <a:t>33</a:t>
            </a:fld>
            <a:endParaRPr spc="-5" dirty="0"/>
          </a:p>
        </p:txBody>
      </p:sp>
    </p:spTree>
  </p:cSld>
  <p:clrMapOvr>
    <a:masterClrMapping/>
  </p:clrMapOvr>
  <p:transition advClick="0">
    <p:cut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文本占位符 120834"/>
          <p:cNvSpPr>
            <a:spLocks noGrp="1"/>
          </p:cNvSpPr>
          <p:nvPr>
            <p:ph type="body" idx="1"/>
          </p:nvPr>
        </p:nvSpPr>
        <p:spPr>
          <a:xfrm>
            <a:off x="517525" y="1089025"/>
            <a:ext cx="7508875" cy="1568450"/>
          </a:xfrm>
        </p:spPr>
        <p:txBody>
          <a:bodyPr lIns="92075" tIns="46038" rIns="92075" bIns="46038"/>
          <a:lstStyle/>
          <a:p>
            <a:pPr>
              <a:lnSpc>
                <a:spcPct val="150000"/>
              </a:lnSpc>
            </a:pPr>
            <a:r>
              <a:rPr lang="zh-CN" altLang="en-US" sz="1600" dirty="0">
                <a:sym typeface="+mn-ea"/>
              </a:rPr>
              <a:t>例</a:t>
            </a:r>
            <a:r>
              <a:rPr lang="en-US" altLang="zh-CN" sz="1600" dirty="0">
                <a:sym typeface="+mn-ea"/>
              </a:rPr>
              <a:t>5-4     </a:t>
            </a:r>
            <a:r>
              <a:rPr lang="zh-CN" altLang="en-US" sz="1600" dirty="0">
                <a:sym typeface="+mn-ea"/>
              </a:rPr>
              <a:t>利用中断显示系统故障</a:t>
            </a:r>
            <a:endParaRPr lang="zh-CN" altLang="en-US" sz="1600" b="0" dirty="0">
              <a:solidFill>
                <a:srgbClr val="000099"/>
              </a:solidFill>
            </a:endParaRPr>
          </a:p>
          <a:p>
            <a:pPr>
              <a:lnSpc>
                <a:spcPct val="150000"/>
              </a:lnSpc>
            </a:pPr>
            <a:r>
              <a:rPr lang="zh-CN" altLang="en-US" sz="1600" b="1" dirty="0">
                <a:solidFill>
                  <a:srgbClr val="000099"/>
                </a:solidFill>
              </a:rPr>
              <a:t>如</a:t>
            </a:r>
            <a:r>
              <a:rPr lang="zh-CN" altLang="en-US" sz="1600" b="1" dirty="0">
                <a:solidFill>
                  <a:srgbClr val="000099"/>
                </a:solidFill>
                <a:hlinkClick r:id="rId2" action="ppaction://hlinksldjump"/>
              </a:rPr>
              <a:t>图</a:t>
            </a:r>
            <a:r>
              <a:rPr lang="en-US" altLang="zh-CN" sz="1600" b="1" dirty="0">
                <a:solidFill>
                  <a:srgbClr val="000099"/>
                </a:solidFill>
                <a:hlinkClick r:id="rId2" action="ppaction://hlinksldjump"/>
              </a:rPr>
              <a:t>5-15</a:t>
            </a:r>
            <a:r>
              <a:rPr lang="zh-CN" altLang="en-US" sz="1600" b="1" dirty="0">
                <a:solidFill>
                  <a:srgbClr val="000099"/>
                </a:solidFill>
              </a:rPr>
              <a:t>所示，此中断电路可实现系统的故障显示。当系统的各部分正常工作时，四个故障源的输入均为低电平，显示灯全不亮。当有某个部分出现故障时，则相应的输入线有低电平变为高电平，相应的发光二极管亮。</a:t>
            </a:r>
          </a:p>
        </p:txBody>
      </p:sp>
      <p:sp>
        <p:nvSpPr>
          <p:cNvPr id="18" name="object 2"/>
          <p:cNvSpPr txBox="1">
            <a:spLocks noGrp="1"/>
          </p:cNvSpPr>
          <p:nvPr/>
        </p:nvSpPr>
        <p:spPr>
          <a:xfrm>
            <a:off x="1431290" y="329565"/>
            <a:ext cx="4768215" cy="381635"/>
          </a:xfrm>
          <a:prstGeom prst="rect">
            <a:avLst/>
          </a:prstGeom>
        </p:spPr>
        <p:txBody>
          <a:bodyPr vert="horz" wrap="square" lIns="0" tIns="12700" rIns="0" bIns="0" rtlCol="0">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12700">
              <a:lnSpc>
                <a:spcPct val="100000"/>
              </a:lnSpc>
              <a:spcBef>
                <a:spcPts val="100"/>
              </a:spcBef>
            </a:pPr>
            <a:r>
              <a:rPr lang="en-US" sz="2400" spc="10" dirty="0">
                <a:ea typeface="微软雅黑" panose="020B0503020204020204" charset="-122"/>
              </a:rPr>
              <a:t>§</a:t>
            </a:r>
            <a:r>
              <a:rPr lang="en-US" sz="2400" spc="10" dirty="0"/>
              <a:t>5.5.2  </a:t>
            </a:r>
            <a:r>
              <a:rPr sz="2400" spc="10" dirty="0"/>
              <a:t>中断</a:t>
            </a:r>
            <a:r>
              <a:rPr lang="zh-CN" sz="2400" spc="10" dirty="0"/>
              <a:t>服务程序</a:t>
            </a:r>
          </a:p>
        </p:txBody>
      </p:sp>
      <p:grpSp>
        <p:nvGrpSpPr>
          <p:cNvPr id="131154" name="组合 131153"/>
          <p:cNvGrpSpPr/>
          <p:nvPr/>
        </p:nvGrpSpPr>
        <p:grpSpPr>
          <a:xfrm>
            <a:off x="3639996" y="2657475"/>
            <a:ext cx="4672789" cy="3380040"/>
            <a:chOff x="720" y="288"/>
            <a:chExt cx="4416" cy="3349"/>
          </a:xfrm>
        </p:grpSpPr>
        <p:sp>
          <p:nvSpPr>
            <p:cNvPr id="131074" name="矩形 131073"/>
            <p:cNvSpPr/>
            <p:nvPr/>
          </p:nvSpPr>
          <p:spPr>
            <a:xfrm>
              <a:off x="4176" y="288"/>
              <a:ext cx="960" cy="2832"/>
            </a:xfrm>
            <a:prstGeom prst="rect">
              <a:avLst/>
            </a:prstGeom>
            <a:noFill/>
            <a:ln w="38100" cap="flat" cmpd="sng">
              <a:solidFill>
                <a:schemeClr val="tx1"/>
              </a:solidFill>
              <a:prstDash val="solid"/>
              <a:miter/>
              <a:headEnd type="none" w="med" len="med"/>
              <a:tailEnd type="none" w="med" len="med"/>
            </a:ln>
          </p:spPr>
          <p:txBody>
            <a:bodyPr/>
            <a:lstStyle/>
            <a:p>
              <a:endParaRPr lang="zh-CN" altLang="en-US" sz="900"/>
            </a:p>
          </p:txBody>
        </p:sp>
        <p:sp>
          <p:nvSpPr>
            <p:cNvPr id="131075" name="矩形 131074"/>
            <p:cNvSpPr/>
            <p:nvPr/>
          </p:nvSpPr>
          <p:spPr>
            <a:xfrm>
              <a:off x="3360" y="288"/>
              <a:ext cx="288" cy="720"/>
            </a:xfrm>
            <a:prstGeom prst="rect">
              <a:avLst/>
            </a:prstGeom>
            <a:noFill/>
            <a:ln w="38100" cap="flat" cmpd="sng">
              <a:solidFill>
                <a:schemeClr val="tx1"/>
              </a:solidFill>
              <a:prstDash val="solid"/>
              <a:miter/>
              <a:headEnd type="none" w="med" len="med"/>
              <a:tailEnd type="none" w="med" len="med"/>
            </a:ln>
          </p:spPr>
          <p:txBody>
            <a:bodyPr/>
            <a:lstStyle/>
            <a:p>
              <a:endParaRPr lang="zh-CN" altLang="en-US" sz="900"/>
            </a:p>
          </p:txBody>
        </p:sp>
        <p:sp>
          <p:nvSpPr>
            <p:cNvPr id="131076" name="直接连接符 131075"/>
            <p:cNvSpPr/>
            <p:nvPr/>
          </p:nvSpPr>
          <p:spPr>
            <a:xfrm flipH="1">
              <a:off x="816" y="384"/>
              <a:ext cx="2544" cy="0"/>
            </a:xfrm>
            <a:prstGeom prst="line">
              <a:avLst/>
            </a:prstGeom>
            <a:ln w="38100" cap="flat" cmpd="sng">
              <a:solidFill>
                <a:schemeClr val="tx1"/>
              </a:solidFill>
              <a:prstDash val="solid"/>
              <a:headEnd type="none" w="med" len="med"/>
              <a:tailEnd type="none" w="med" len="med"/>
            </a:ln>
          </p:spPr>
        </p:sp>
        <p:sp>
          <p:nvSpPr>
            <p:cNvPr id="131077" name="直接连接符 131076"/>
            <p:cNvSpPr/>
            <p:nvPr/>
          </p:nvSpPr>
          <p:spPr>
            <a:xfrm flipH="1">
              <a:off x="816" y="528"/>
              <a:ext cx="2544" cy="0"/>
            </a:xfrm>
            <a:prstGeom prst="line">
              <a:avLst/>
            </a:prstGeom>
            <a:ln w="38100" cap="flat" cmpd="sng">
              <a:solidFill>
                <a:schemeClr val="tx1"/>
              </a:solidFill>
              <a:prstDash val="solid"/>
              <a:headEnd type="none" w="med" len="med"/>
              <a:tailEnd type="none" w="med" len="med"/>
            </a:ln>
          </p:spPr>
        </p:sp>
        <p:sp>
          <p:nvSpPr>
            <p:cNvPr id="131078" name="直接连接符 131077"/>
            <p:cNvSpPr/>
            <p:nvPr/>
          </p:nvSpPr>
          <p:spPr>
            <a:xfrm flipH="1">
              <a:off x="816" y="912"/>
              <a:ext cx="2544" cy="0"/>
            </a:xfrm>
            <a:prstGeom prst="line">
              <a:avLst/>
            </a:prstGeom>
            <a:ln w="38100" cap="flat" cmpd="sng">
              <a:solidFill>
                <a:schemeClr val="tx1"/>
              </a:solidFill>
              <a:prstDash val="solid"/>
              <a:headEnd type="none" w="med" len="med"/>
              <a:tailEnd type="none" w="med" len="med"/>
            </a:ln>
          </p:spPr>
        </p:sp>
        <p:sp>
          <p:nvSpPr>
            <p:cNvPr id="131079" name="直接连接符 131078"/>
            <p:cNvSpPr/>
            <p:nvPr/>
          </p:nvSpPr>
          <p:spPr>
            <a:xfrm flipH="1">
              <a:off x="816" y="768"/>
              <a:ext cx="2544" cy="0"/>
            </a:xfrm>
            <a:prstGeom prst="line">
              <a:avLst/>
            </a:prstGeom>
            <a:ln w="38100" cap="flat" cmpd="sng">
              <a:solidFill>
                <a:schemeClr val="tx1"/>
              </a:solidFill>
              <a:prstDash val="solid"/>
              <a:headEnd type="none" w="med" len="med"/>
              <a:tailEnd type="none" w="med" len="med"/>
            </a:ln>
          </p:spPr>
        </p:sp>
        <p:sp>
          <p:nvSpPr>
            <p:cNvPr id="131080" name="椭圆 131079"/>
            <p:cNvSpPr/>
            <p:nvPr/>
          </p:nvSpPr>
          <p:spPr>
            <a:xfrm>
              <a:off x="3670" y="576"/>
              <a:ext cx="74" cy="96"/>
            </a:xfrm>
            <a:prstGeom prst="ellipse">
              <a:avLst/>
            </a:prstGeom>
            <a:noFill/>
            <a:ln w="38100" cap="flat" cmpd="sng">
              <a:solidFill>
                <a:schemeClr val="tx1"/>
              </a:solidFill>
              <a:prstDash val="solid"/>
              <a:headEnd type="none" w="med" len="med"/>
              <a:tailEnd type="none" w="med" len="med"/>
            </a:ln>
          </p:spPr>
          <p:txBody>
            <a:bodyPr/>
            <a:lstStyle/>
            <a:p>
              <a:endParaRPr lang="zh-CN" altLang="en-US" sz="900"/>
            </a:p>
          </p:txBody>
        </p:sp>
        <p:sp>
          <p:nvSpPr>
            <p:cNvPr id="131081" name="直接连接符 131080"/>
            <p:cNvSpPr/>
            <p:nvPr/>
          </p:nvSpPr>
          <p:spPr>
            <a:xfrm>
              <a:off x="3744" y="624"/>
              <a:ext cx="432" cy="0"/>
            </a:xfrm>
            <a:prstGeom prst="line">
              <a:avLst/>
            </a:prstGeom>
            <a:ln w="38100" cap="flat" cmpd="sng">
              <a:solidFill>
                <a:schemeClr val="tx1"/>
              </a:solidFill>
              <a:prstDash val="solid"/>
              <a:headEnd type="none" w="med" len="med"/>
              <a:tailEnd type="none" w="med" len="med"/>
            </a:ln>
          </p:spPr>
        </p:sp>
        <p:sp>
          <p:nvSpPr>
            <p:cNvPr id="131082" name="直接连接符 131081"/>
            <p:cNvSpPr/>
            <p:nvPr/>
          </p:nvSpPr>
          <p:spPr>
            <a:xfrm>
              <a:off x="3072" y="912"/>
              <a:ext cx="0" cy="192"/>
            </a:xfrm>
            <a:prstGeom prst="line">
              <a:avLst/>
            </a:prstGeom>
            <a:ln w="38100" cap="flat" cmpd="sng">
              <a:solidFill>
                <a:schemeClr val="tx1"/>
              </a:solidFill>
              <a:prstDash val="solid"/>
              <a:headEnd type="none" w="med" len="med"/>
              <a:tailEnd type="none" w="med" len="med"/>
            </a:ln>
          </p:spPr>
        </p:sp>
        <p:sp>
          <p:nvSpPr>
            <p:cNvPr id="131083" name="直接连接符 131082"/>
            <p:cNvSpPr/>
            <p:nvPr/>
          </p:nvSpPr>
          <p:spPr>
            <a:xfrm>
              <a:off x="3072" y="1104"/>
              <a:ext cx="1104" cy="0"/>
            </a:xfrm>
            <a:prstGeom prst="line">
              <a:avLst/>
            </a:prstGeom>
            <a:ln w="38100" cap="flat" cmpd="sng">
              <a:solidFill>
                <a:schemeClr val="tx1"/>
              </a:solidFill>
              <a:prstDash val="solid"/>
              <a:headEnd type="none" w="med" len="med"/>
              <a:tailEnd type="none" w="med" len="med"/>
            </a:ln>
          </p:spPr>
        </p:sp>
        <p:sp>
          <p:nvSpPr>
            <p:cNvPr id="131084" name="直接连接符 131083"/>
            <p:cNvSpPr/>
            <p:nvPr/>
          </p:nvSpPr>
          <p:spPr>
            <a:xfrm>
              <a:off x="2928" y="768"/>
              <a:ext cx="0" cy="864"/>
            </a:xfrm>
            <a:prstGeom prst="line">
              <a:avLst/>
            </a:prstGeom>
            <a:ln w="38100" cap="flat" cmpd="sng">
              <a:solidFill>
                <a:schemeClr val="tx1"/>
              </a:solidFill>
              <a:prstDash val="solid"/>
              <a:headEnd type="none" w="med" len="med"/>
              <a:tailEnd type="none" w="med" len="med"/>
            </a:ln>
          </p:spPr>
        </p:sp>
        <p:sp>
          <p:nvSpPr>
            <p:cNvPr id="131086" name="直接连接符 131085"/>
            <p:cNvSpPr/>
            <p:nvPr/>
          </p:nvSpPr>
          <p:spPr>
            <a:xfrm>
              <a:off x="2688" y="528"/>
              <a:ext cx="0" cy="1632"/>
            </a:xfrm>
            <a:prstGeom prst="line">
              <a:avLst/>
            </a:prstGeom>
            <a:ln w="38100" cap="flat" cmpd="sng">
              <a:solidFill>
                <a:schemeClr val="tx1"/>
              </a:solidFill>
              <a:prstDash val="solid"/>
              <a:headEnd type="none" w="med" len="med"/>
              <a:tailEnd type="none" w="med" len="med"/>
            </a:ln>
          </p:spPr>
        </p:sp>
        <p:sp>
          <p:nvSpPr>
            <p:cNvPr id="131087" name="直接连接符 131086"/>
            <p:cNvSpPr/>
            <p:nvPr/>
          </p:nvSpPr>
          <p:spPr>
            <a:xfrm>
              <a:off x="2544" y="384"/>
              <a:ext cx="0" cy="2352"/>
            </a:xfrm>
            <a:prstGeom prst="line">
              <a:avLst/>
            </a:prstGeom>
            <a:ln w="38100" cap="flat" cmpd="sng">
              <a:solidFill>
                <a:schemeClr val="tx1"/>
              </a:solidFill>
              <a:prstDash val="solid"/>
              <a:headEnd type="none" w="med" len="med"/>
              <a:tailEnd type="none" w="med" len="med"/>
            </a:ln>
          </p:spPr>
        </p:sp>
        <p:sp>
          <p:nvSpPr>
            <p:cNvPr id="131088" name="直接连接符 131087"/>
            <p:cNvSpPr/>
            <p:nvPr/>
          </p:nvSpPr>
          <p:spPr>
            <a:xfrm>
              <a:off x="2928" y="1632"/>
              <a:ext cx="1248" cy="0"/>
            </a:xfrm>
            <a:prstGeom prst="line">
              <a:avLst/>
            </a:prstGeom>
            <a:ln w="38100" cap="flat" cmpd="sng">
              <a:solidFill>
                <a:schemeClr val="tx1"/>
              </a:solidFill>
              <a:prstDash val="solid"/>
              <a:headEnd type="none" w="med" len="med"/>
              <a:tailEnd type="none" w="med" len="med"/>
            </a:ln>
          </p:spPr>
        </p:sp>
        <p:sp>
          <p:nvSpPr>
            <p:cNvPr id="131090" name="直接连接符 131089"/>
            <p:cNvSpPr/>
            <p:nvPr/>
          </p:nvSpPr>
          <p:spPr>
            <a:xfrm>
              <a:off x="2688" y="2160"/>
              <a:ext cx="1488" cy="0"/>
            </a:xfrm>
            <a:prstGeom prst="line">
              <a:avLst/>
            </a:prstGeom>
            <a:ln w="38100" cap="flat" cmpd="sng">
              <a:solidFill>
                <a:schemeClr val="tx1"/>
              </a:solidFill>
              <a:prstDash val="solid"/>
              <a:headEnd type="none" w="med" len="med"/>
              <a:tailEnd type="none" w="med" len="med"/>
            </a:ln>
          </p:spPr>
        </p:sp>
        <p:sp>
          <p:nvSpPr>
            <p:cNvPr id="131092" name="直接连接符 131091"/>
            <p:cNvSpPr/>
            <p:nvPr/>
          </p:nvSpPr>
          <p:spPr>
            <a:xfrm>
              <a:off x="2544" y="2736"/>
              <a:ext cx="1632" cy="0"/>
            </a:xfrm>
            <a:prstGeom prst="line">
              <a:avLst/>
            </a:prstGeom>
            <a:ln w="38100" cap="flat" cmpd="sng">
              <a:solidFill>
                <a:schemeClr val="tx1"/>
              </a:solidFill>
              <a:prstDash val="solid"/>
              <a:headEnd type="none" w="med" len="med"/>
              <a:tailEnd type="none" w="med" len="med"/>
            </a:ln>
          </p:spPr>
        </p:sp>
        <p:sp>
          <p:nvSpPr>
            <p:cNvPr id="131095" name="直接连接符 131094"/>
            <p:cNvSpPr/>
            <p:nvPr/>
          </p:nvSpPr>
          <p:spPr>
            <a:xfrm>
              <a:off x="2016" y="1248"/>
              <a:ext cx="0" cy="288"/>
            </a:xfrm>
            <a:prstGeom prst="line">
              <a:avLst/>
            </a:prstGeom>
            <a:ln w="38100" cap="flat" cmpd="sng">
              <a:solidFill>
                <a:schemeClr val="tx1"/>
              </a:solidFill>
              <a:prstDash val="solid"/>
              <a:headEnd type="none" w="med" len="med"/>
              <a:tailEnd type="none" w="med" len="med"/>
            </a:ln>
          </p:spPr>
        </p:sp>
        <p:grpSp>
          <p:nvGrpSpPr>
            <p:cNvPr id="131099" name="组合 131098"/>
            <p:cNvGrpSpPr/>
            <p:nvPr/>
          </p:nvGrpSpPr>
          <p:grpSpPr>
            <a:xfrm>
              <a:off x="1248" y="1104"/>
              <a:ext cx="2928" cy="432"/>
              <a:chOff x="1248" y="1344"/>
              <a:chExt cx="2928" cy="432"/>
            </a:xfrm>
          </p:grpSpPr>
          <p:sp>
            <p:nvSpPr>
              <p:cNvPr id="131085" name="直接连接符 131084"/>
              <p:cNvSpPr/>
              <p:nvPr/>
            </p:nvSpPr>
            <p:spPr>
              <a:xfrm>
                <a:off x="1584" y="1632"/>
                <a:ext cx="2592" cy="0"/>
              </a:xfrm>
              <a:prstGeom prst="line">
                <a:avLst/>
              </a:prstGeom>
              <a:ln w="38100" cap="flat" cmpd="sng">
                <a:solidFill>
                  <a:schemeClr val="tx1"/>
                </a:solidFill>
                <a:prstDash val="solid"/>
                <a:headEnd type="none" w="med" len="med"/>
                <a:tailEnd type="none" w="med" len="med"/>
              </a:ln>
            </p:spPr>
          </p:sp>
          <p:sp>
            <p:nvSpPr>
              <p:cNvPr id="131094" name="等腰三角形 131093"/>
              <p:cNvSpPr/>
              <p:nvPr/>
            </p:nvSpPr>
            <p:spPr>
              <a:xfrm rot="-5400000">
                <a:off x="1992" y="1512"/>
                <a:ext cx="288" cy="240"/>
              </a:xfrm>
              <a:prstGeom prst="triangle">
                <a:avLst>
                  <a:gd name="adj" fmla="val 50000"/>
                </a:avLst>
              </a:prstGeom>
              <a:noFill/>
              <a:ln w="38100" cap="flat" cmpd="sng">
                <a:solidFill>
                  <a:schemeClr val="tx1"/>
                </a:solidFill>
                <a:prstDash val="solid"/>
                <a:miter/>
                <a:headEnd type="none" w="med" len="med"/>
                <a:tailEnd type="none" w="med" len="med"/>
              </a:ln>
            </p:spPr>
            <p:txBody>
              <a:bodyPr/>
              <a:lstStyle/>
              <a:p>
                <a:endParaRPr lang="zh-CN" altLang="en-US" sz="900"/>
              </a:p>
            </p:txBody>
          </p:sp>
          <p:sp>
            <p:nvSpPr>
              <p:cNvPr id="131096" name="直接连接符 131095"/>
              <p:cNvSpPr/>
              <p:nvPr/>
            </p:nvSpPr>
            <p:spPr>
              <a:xfrm flipH="1" flipV="1">
                <a:off x="2016" y="1344"/>
                <a:ext cx="144" cy="96"/>
              </a:xfrm>
              <a:prstGeom prst="line">
                <a:avLst/>
              </a:prstGeom>
              <a:ln w="38100" cap="flat" cmpd="sng">
                <a:solidFill>
                  <a:schemeClr val="tx1"/>
                </a:solidFill>
                <a:prstDash val="solid"/>
                <a:headEnd type="none" w="med" len="med"/>
                <a:tailEnd type="triangle" w="med" len="med"/>
              </a:ln>
            </p:spPr>
          </p:sp>
          <p:sp>
            <p:nvSpPr>
              <p:cNvPr id="131097" name="直接连接符 131096"/>
              <p:cNvSpPr/>
              <p:nvPr/>
            </p:nvSpPr>
            <p:spPr>
              <a:xfrm flipH="1" flipV="1">
                <a:off x="1968" y="1392"/>
                <a:ext cx="144" cy="96"/>
              </a:xfrm>
              <a:prstGeom prst="line">
                <a:avLst/>
              </a:prstGeom>
              <a:ln w="38100" cap="flat" cmpd="sng">
                <a:solidFill>
                  <a:schemeClr val="tx1"/>
                </a:solidFill>
                <a:prstDash val="solid"/>
                <a:headEnd type="none" w="med" len="med"/>
                <a:tailEnd type="triangle" w="med" len="med"/>
              </a:ln>
            </p:spPr>
          </p:sp>
          <p:sp>
            <p:nvSpPr>
              <p:cNvPr id="131098" name="矩形 131097"/>
              <p:cNvSpPr/>
              <p:nvPr/>
            </p:nvSpPr>
            <p:spPr>
              <a:xfrm>
                <a:off x="1248" y="1584"/>
                <a:ext cx="336" cy="144"/>
              </a:xfrm>
              <a:prstGeom prst="rect">
                <a:avLst/>
              </a:prstGeom>
              <a:noFill/>
              <a:ln w="38100" cap="flat" cmpd="sng">
                <a:solidFill>
                  <a:schemeClr val="tx1"/>
                </a:solidFill>
                <a:prstDash val="solid"/>
                <a:miter/>
                <a:headEnd type="none" w="med" len="med"/>
                <a:tailEnd type="none" w="med" len="med"/>
              </a:ln>
            </p:spPr>
            <p:txBody>
              <a:bodyPr/>
              <a:lstStyle/>
              <a:p>
                <a:endParaRPr lang="zh-CN" altLang="en-US" sz="900"/>
              </a:p>
            </p:txBody>
          </p:sp>
        </p:grpSp>
        <p:grpSp>
          <p:nvGrpSpPr>
            <p:cNvPr id="131100" name="组合 131099"/>
            <p:cNvGrpSpPr/>
            <p:nvPr/>
          </p:nvGrpSpPr>
          <p:grpSpPr>
            <a:xfrm>
              <a:off x="1248" y="1632"/>
              <a:ext cx="2928" cy="432"/>
              <a:chOff x="1248" y="1344"/>
              <a:chExt cx="2928" cy="432"/>
            </a:xfrm>
          </p:grpSpPr>
          <p:sp>
            <p:nvSpPr>
              <p:cNvPr id="131101" name="直接连接符 131100"/>
              <p:cNvSpPr/>
              <p:nvPr/>
            </p:nvSpPr>
            <p:spPr>
              <a:xfrm>
                <a:off x="1584" y="1632"/>
                <a:ext cx="2592" cy="0"/>
              </a:xfrm>
              <a:prstGeom prst="line">
                <a:avLst/>
              </a:prstGeom>
              <a:ln w="38100" cap="flat" cmpd="sng">
                <a:solidFill>
                  <a:schemeClr val="tx1"/>
                </a:solidFill>
                <a:prstDash val="solid"/>
                <a:headEnd type="none" w="med" len="med"/>
                <a:tailEnd type="none" w="med" len="med"/>
              </a:ln>
            </p:spPr>
          </p:sp>
          <p:sp>
            <p:nvSpPr>
              <p:cNvPr id="131102" name="等腰三角形 131101"/>
              <p:cNvSpPr/>
              <p:nvPr/>
            </p:nvSpPr>
            <p:spPr>
              <a:xfrm rot="-5400000">
                <a:off x="1992" y="1512"/>
                <a:ext cx="288" cy="240"/>
              </a:xfrm>
              <a:prstGeom prst="triangle">
                <a:avLst>
                  <a:gd name="adj" fmla="val 50000"/>
                </a:avLst>
              </a:prstGeom>
              <a:noFill/>
              <a:ln w="38100" cap="flat" cmpd="sng">
                <a:solidFill>
                  <a:schemeClr val="tx1"/>
                </a:solidFill>
                <a:prstDash val="solid"/>
                <a:miter/>
                <a:headEnd type="none" w="med" len="med"/>
                <a:tailEnd type="none" w="med" len="med"/>
              </a:ln>
            </p:spPr>
            <p:txBody>
              <a:bodyPr/>
              <a:lstStyle/>
              <a:p>
                <a:endParaRPr lang="zh-CN" altLang="en-US" sz="900"/>
              </a:p>
            </p:txBody>
          </p:sp>
          <p:sp>
            <p:nvSpPr>
              <p:cNvPr id="131103" name="直接连接符 131102"/>
              <p:cNvSpPr/>
              <p:nvPr/>
            </p:nvSpPr>
            <p:spPr>
              <a:xfrm flipH="1" flipV="1">
                <a:off x="2016" y="1344"/>
                <a:ext cx="144" cy="96"/>
              </a:xfrm>
              <a:prstGeom prst="line">
                <a:avLst/>
              </a:prstGeom>
              <a:ln w="38100" cap="flat" cmpd="sng">
                <a:solidFill>
                  <a:schemeClr val="tx1"/>
                </a:solidFill>
                <a:prstDash val="solid"/>
                <a:headEnd type="none" w="med" len="med"/>
                <a:tailEnd type="triangle" w="med" len="med"/>
              </a:ln>
            </p:spPr>
          </p:sp>
          <p:sp>
            <p:nvSpPr>
              <p:cNvPr id="131104" name="直接连接符 131103"/>
              <p:cNvSpPr/>
              <p:nvPr/>
            </p:nvSpPr>
            <p:spPr>
              <a:xfrm flipH="1" flipV="1">
                <a:off x="1968" y="1392"/>
                <a:ext cx="144" cy="96"/>
              </a:xfrm>
              <a:prstGeom prst="line">
                <a:avLst/>
              </a:prstGeom>
              <a:ln w="38100" cap="flat" cmpd="sng">
                <a:solidFill>
                  <a:schemeClr val="tx1"/>
                </a:solidFill>
                <a:prstDash val="solid"/>
                <a:headEnd type="none" w="med" len="med"/>
                <a:tailEnd type="triangle" w="med" len="med"/>
              </a:ln>
            </p:spPr>
          </p:sp>
          <p:sp>
            <p:nvSpPr>
              <p:cNvPr id="131105" name="矩形 131104"/>
              <p:cNvSpPr/>
              <p:nvPr/>
            </p:nvSpPr>
            <p:spPr>
              <a:xfrm>
                <a:off x="1248" y="1584"/>
                <a:ext cx="336" cy="144"/>
              </a:xfrm>
              <a:prstGeom prst="rect">
                <a:avLst/>
              </a:prstGeom>
              <a:noFill/>
              <a:ln w="38100" cap="flat" cmpd="sng">
                <a:solidFill>
                  <a:schemeClr val="tx1"/>
                </a:solidFill>
                <a:prstDash val="solid"/>
                <a:miter/>
                <a:headEnd type="none" w="med" len="med"/>
                <a:tailEnd type="none" w="med" len="med"/>
              </a:ln>
            </p:spPr>
            <p:txBody>
              <a:bodyPr/>
              <a:lstStyle/>
              <a:p>
                <a:endParaRPr lang="zh-CN" altLang="en-US" sz="900"/>
              </a:p>
            </p:txBody>
          </p:sp>
        </p:grpSp>
        <p:grpSp>
          <p:nvGrpSpPr>
            <p:cNvPr id="131106" name="组合 131105"/>
            <p:cNvGrpSpPr/>
            <p:nvPr/>
          </p:nvGrpSpPr>
          <p:grpSpPr>
            <a:xfrm>
              <a:off x="1248" y="2160"/>
              <a:ext cx="2928" cy="432"/>
              <a:chOff x="1248" y="1344"/>
              <a:chExt cx="2928" cy="432"/>
            </a:xfrm>
          </p:grpSpPr>
          <p:sp>
            <p:nvSpPr>
              <p:cNvPr id="131107" name="直接连接符 131106"/>
              <p:cNvSpPr/>
              <p:nvPr/>
            </p:nvSpPr>
            <p:spPr>
              <a:xfrm>
                <a:off x="1584" y="1632"/>
                <a:ext cx="2592" cy="0"/>
              </a:xfrm>
              <a:prstGeom prst="line">
                <a:avLst/>
              </a:prstGeom>
              <a:ln w="38100" cap="flat" cmpd="sng">
                <a:solidFill>
                  <a:schemeClr val="tx1"/>
                </a:solidFill>
                <a:prstDash val="solid"/>
                <a:headEnd type="none" w="med" len="med"/>
                <a:tailEnd type="none" w="med" len="med"/>
              </a:ln>
            </p:spPr>
          </p:sp>
          <p:sp>
            <p:nvSpPr>
              <p:cNvPr id="131108" name="等腰三角形 131107"/>
              <p:cNvSpPr/>
              <p:nvPr/>
            </p:nvSpPr>
            <p:spPr>
              <a:xfrm rot="-5400000">
                <a:off x="1992" y="1512"/>
                <a:ext cx="288" cy="240"/>
              </a:xfrm>
              <a:prstGeom prst="triangle">
                <a:avLst>
                  <a:gd name="adj" fmla="val 50000"/>
                </a:avLst>
              </a:prstGeom>
              <a:noFill/>
              <a:ln w="38100" cap="flat" cmpd="sng">
                <a:solidFill>
                  <a:schemeClr val="tx1"/>
                </a:solidFill>
                <a:prstDash val="solid"/>
                <a:miter/>
                <a:headEnd type="none" w="med" len="med"/>
                <a:tailEnd type="none" w="med" len="med"/>
              </a:ln>
            </p:spPr>
            <p:txBody>
              <a:bodyPr/>
              <a:lstStyle/>
              <a:p>
                <a:endParaRPr lang="zh-CN" altLang="en-US" sz="900"/>
              </a:p>
            </p:txBody>
          </p:sp>
          <p:sp>
            <p:nvSpPr>
              <p:cNvPr id="131109" name="直接连接符 131108"/>
              <p:cNvSpPr/>
              <p:nvPr/>
            </p:nvSpPr>
            <p:spPr>
              <a:xfrm flipH="1" flipV="1">
                <a:off x="2016" y="1344"/>
                <a:ext cx="144" cy="96"/>
              </a:xfrm>
              <a:prstGeom prst="line">
                <a:avLst/>
              </a:prstGeom>
              <a:ln w="38100" cap="flat" cmpd="sng">
                <a:solidFill>
                  <a:schemeClr val="tx1"/>
                </a:solidFill>
                <a:prstDash val="solid"/>
                <a:headEnd type="none" w="med" len="med"/>
                <a:tailEnd type="triangle" w="med" len="med"/>
              </a:ln>
            </p:spPr>
          </p:sp>
          <p:sp>
            <p:nvSpPr>
              <p:cNvPr id="131110" name="直接连接符 131109"/>
              <p:cNvSpPr/>
              <p:nvPr/>
            </p:nvSpPr>
            <p:spPr>
              <a:xfrm flipH="1" flipV="1">
                <a:off x="1968" y="1392"/>
                <a:ext cx="144" cy="96"/>
              </a:xfrm>
              <a:prstGeom prst="line">
                <a:avLst/>
              </a:prstGeom>
              <a:ln w="38100" cap="flat" cmpd="sng">
                <a:solidFill>
                  <a:schemeClr val="tx1"/>
                </a:solidFill>
                <a:prstDash val="solid"/>
                <a:headEnd type="none" w="med" len="med"/>
                <a:tailEnd type="triangle" w="med" len="med"/>
              </a:ln>
            </p:spPr>
          </p:sp>
          <p:sp>
            <p:nvSpPr>
              <p:cNvPr id="131111" name="矩形 131110"/>
              <p:cNvSpPr/>
              <p:nvPr/>
            </p:nvSpPr>
            <p:spPr>
              <a:xfrm>
                <a:off x="1248" y="1584"/>
                <a:ext cx="336" cy="144"/>
              </a:xfrm>
              <a:prstGeom prst="rect">
                <a:avLst/>
              </a:prstGeom>
              <a:noFill/>
              <a:ln w="38100" cap="flat" cmpd="sng">
                <a:solidFill>
                  <a:schemeClr val="tx1"/>
                </a:solidFill>
                <a:prstDash val="solid"/>
                <a:miter/>
                <a:headEnd type="none" w="med" len="med"/>
                <a:tailEnd type="none" w="med" len="med"/>
              </a:ln>
            </p:spPr>
            <p:txBody>
              <a:bodyPr/>
              <a:lstStyle/>
              <a:p>
                <a:endParaRPr lang="zh-CN" altLang="en-US" sz="900"/>
              </a:p>
            </p:txBody>
          </p:sp>
        </p:grpSp>
        <p:grpSp>
          <p:nvGrpSpPr>
            <p:cNvPr id="131112" name="组合 131111"/>
            <p:cNvGrpSpPr/>
            <p:nvPr/>
          </p:nvGrpSpPr>
          <p:grpSpPr>
            <a:xfrm>
              <a:off x="1248" y="2688"/>
              <a:ext cx="2928" cy="432"/>
              <a:chOff x="1248" y="1344"/>
              <a:chExt cx="2928" cy="432"/>
            </a:xfrm>
          </p:grpSpPr>
          <p:sp>
            <p:nvSpPr>
              <p:cNvPr id="131113" name="直接连接符 131112"/>
              <p:cNvSpPr/>
              <p:nvPr/>
            </p:nvSpPr>
            <p:spPr>
              <a:xfrm>
                <a:off x="1584" y="1632"/>
                <a:ext cx="2592" cy="0"/>
              </a:xfrm>
              <a:prstGeom prst="line">
                <a:avLst/>
              </a:prstGeom>
              <a:ln w="38100" cap="flat" cmpd="sng">
                <a:solidFill>
                  <a:schemeClr val="tx1"/>
                </a:solidFill>
                <a:prstDash val="solid"/>
                <a:headEnd type="none" w="med" len="med"/>
                <a:tailEnd type="none" w="med" len="med"/>
              </a:ln>
            </p:spPr>
          </p:sp>
          <p:sp>
            <p:nvSpPr>
              <p:cNvPr id="131114" name="等腰三角形 131113"/>
              <p:cNvSpPr/>
              <p:nvPr/>
            </p:nvSpPr>
            <p:spPr>
              <a:xfrm rot="-5400000">
                <a:off x="1992" y="1512"/>
                <a:ext cx="288" cy="240"/>
              </a:xfrm>
              <a:prstGeom prst="triangle">
                <a:avLst>
                  <a:gd name="adj" fmla="val 50000"/>
                </a:avLst>
              </a:prstGeom>
              <a:noFill/>
              <a:ln w="38100" cap="flat" cmpd="sng">
                <a:solidFill>
                  <a:schemeClr val="tx1"/>
                </a:solidFill>
                <a:prstDash val="solid"/>
                <a:miter/>
                <a:headEnd type="none" w="med" len="med"/>
                <a:tailEnd type="none" w="med" len="med"/>
              </a:ln>
            </p:spPr>
            <p:txBody>
              <a:bodyPr/>
              <a:lstStyle/>
              <a:p>
                <a:endParaRPr lang="zh-CN" altLang="en-US" sz="900"/>
              </a:p>
            </p:txBody>
          </p:sp>
          <p:sp>
            <p:nvSpPr>
              <p:cNvPr id="131115" name="直接连接符 131114"/>
              <p:cNvSpPr/>
              <p:nvPr/>
            </p:nvSpPr>
            <p:spPr>
              <a:xfrm flipH="1" flipV="1">
                <a:off x="2016" y="1344"/>
                <a:ext cx="144" cy="96"/>
              </a:xfrm>
              <a:prstGeom prst="line">
                <a:avLst/>
              </a:prstGeom>
              <a:ln w="38100" cap="flat" cmpd="sng">
                <a:solidFill>
                  <a:schemeClr val="tx1"/>
                </a:solidFill>
                <a:prstDash val="solid"/>
                <a:headEnd type="none" w="med" len="med"/>
                <a:tailEnd type="triangle" w="med" len="med"/>
              </a:ln>
            </p:spPr>
          </p:sp>
          <p:sp>
            <p:nvSpPr>
              <p:cNvPr id="131116" name="直接连接符 131115"/>
              <p:cNvSpPr/>
              <p:nvPr/>
            </p:nvSpPr>
            <p:spPr>
              <a:xfrm flipH="1" flipV="1">
                <a:off x="1968" y="1392"/>
                <a:ext cx="144" cy="96"/>
              </a:xfrm>
              <a:prstGeom prst="line">
                <a:avLst/>
              </a:prstGeom>
              <a:ln w="38100" cap="flat" cmpd="sng">
                <a:solidFill>
                  <a:schemeClr val="tx1"/>
                </a:solidFill>
                <a:prstDash val="solid"/>
                <a:headEnd type="none" w="med" len="med"/>
                <a:tailEnd type="triangle" w="med" len="med"/>
              </a:ln>
            </p:spPr>
          </p:sp>
          <p:sp>
            <p:nvSpPr>
              <p:cNvPr id="131117" name="矩形 131116"/>
              <p:cNvSpPr/>
              <p:nvPr/>
            </p:nvSpPr>
            <p:spPr>
              <a:xfrm>
                <a:off x="1248" y="1584"/>
                <a:ext cx="336" cy="144"/>
              </a:xfrm>
              <a:prstGeom prst="rect">
                <a:avLst/>
              </a:prstGeom>
              <a:noFill/>
              <a:ln w="38100" cap="flat" cmpd="sng">
                <a:solidFill>
                  <a:schemeClr val="tx1"/>
                </a:solidFill>
                <a:prstDash val="solid"/>
                <a:miter/>
                <a:headEnd type="none" w="med" len="med"/>
                <a:tailEnd type="none" w="med" len="med"/>
              </a:ln>
            </p:spPr>
            <p:txBody>
              <a:bodyPr/>
              <a:lstStyle/>
              <a:p>
                <a:endParaRPr lang="zh-CN" altLang="en-US" sz="900"/>
              </a:p>
            </p:txBody>
          </p:sp>
        </p:grpSp>
        <p:sp>
          <p:nvSpPr>
            <p:cNvPr id="131118" name="直接连接符 131117"/>
            <p:cNvSpPr/>
            <p:nvPr/>
          </p:nvSpPr>
          <p:spPr>
            <a:xfrm>
              <a:off x="816" y="1392"/>
              <a:ext cx="0" cy="1728"/>
            </a:xfrm>
            <a:prstGeom prst="line">
              <a:avLst/>
            </a:prstGeom>
            <a:ln w="38100" cap="flat" cmpd="sng">
              <a:solidFill>
                <a:schemeClr val="tx1"/>
              </a:solidFill>
              <a:prstDash val="solid"/>
              <a:headEnd type="none" w="med" len="med"/>
              <a:tailEnd type="none" w="med" len="med"/>
            </a:ln>
          </p:spPr>
        </p:sp>
        <p:sp>
          <p:nvSpPr>
            <p:cNvPr id="131119" name="直接连接符 131118"/>
            <p:cNvSpPr/>
            <p:nvPr/>
          </p:nvSpPr>
          <p:spPr>
            <a:xfrm flipH="1">
              <a:off x="816" y="1392"/>
              <a:ext cx="432" cy="0"/>
            </a:xfrm>
            <a:prstGeom prst="line">
              <a:avLst/>
            </a:prstGeom>
            <a:ln w="38100" cap="flat" cmpd="sng">
              <a:solidFill>
                <a:schemeClr val="tx1"/>
              </a:solidFill>
              <a:prstDash val="solid"/>
              <a:headEnd type="none" w="med" len="med"/>
              <a:tailEnd type="none" w="med" len="med"/>
            </a:ln>
          </p:spPr>
        </p:sp>
        <p:sp>
          <p:nvSpPr>
            <p:cNvPr id="131120" name="直接连接符 131119"/>
            <p:cNvSpPr/>
            <p:nvPr/>
          </p:nvSpPr>
          <p:spPr>
            <a:xfrm flipH="1">
              <a:off x="816" y="1920"/>
              <a:ext cx="432" cy="0"/>
            </a:xfrm>
            <a:prstGeom prst="line">
              <a:avLst/>
            </a:prstGeom>
            <a:ln w="38100" cap="flat" cmpd="sng">
              <a:solidFill>
                <a:schemeClr val="tx1"/>
              </a:solidFill>
              <a:prstDash val="solid"/>
              <a:headEnd type="none" w="med" len="med"/>
              <a:tailEnd type="none" w="med" len="med"/>
            </a:ln>
          </p:spPr>
        </p:sp>
        <p:sp>
          <p:nvSpPr>
            <p:cNvPr id="131121" name="直接连接符 131120"/>
            <p:cNvSpPr/>
            <p:nvPr/>
          </p:nvSpPr>
          <p:spPr>
            <a:xfrm flipH="1">
              <a:off x="816" y="2496"/>
              <a:ext cx="432" cy="0"/>
            </a:xfrm>
            <a:prstGeom prst="line">
              <a:avLst/>
            </a:prstGeom>
            <a:ln w="38100" cap="flat" cmpd="sng">
              <a:solidFill>
                <a:schemeClr val="tx1"/>
              </a:solidFill>
              <a:prstDash val="solid"/>
              <a:headEnd type="none" w="med" len="med"/>
              <a:tailEnd type="none" w="med" len="med"/>
            </a:ln>
          </p:spPr>
        </p:sp>
        <p:sp>
          <p:nvSpPr>
            <p:cNvPr id="131122" name="直接连接符 131121"/>
            <p:cNvSpPr/>
            <p:nvPr/>
          </p:nvSpPr>
          <p:spPr>
            <a:xfrm flipH="1">
              <a:off x="816" y="2976"/>
              <a:ext cx="432" cy="0"/>
            </a:xfrm>
            <a:prstGeom prst="line">
              <a:avLst/>
            </a:prstGeom>
            <a:ln w="38100" cap="flat" cmpd="sng">
              <a:solidFill>
                <a:schemeClr val="tx1"/>
              </a:solidFill>
              <a:prstDash val="solid"/>
              <a:headEnd type="none" w="med" len="med"/>
              <a:tailEnd type="none" w="med" len="med"/>
            </a:ln>
          </p:spPr>
        </p:sp>
        <p:sp>
          <p:nvSpPr>
            <p:cNvPr id="131124" name="直接连接符 131123"/>
            <p:cNvSpPr/>
            <p:nvPr/>
          </p:nvSpPr>
          <p:spPr>
            <a:xfrm>
              <a:off x="720" y="3120"/>
              <a:ext cx="192" cy="0"/>
            </a:xfrm>
            <a:prstGeom prst="line">
              <a:avLst/>
            </a:prstGeom>
            <a:ln w="38100" cap="flat" cmpd="sng">
              <a:solidFill>
                <a:schemeClr val="tx1"/>
              </a:solidFill>
              <a:prstDash val="solid"/>
              <a:headEnd type="none" w="med" len="med"/>
              <a:tailEnd type="none" w="med" len="med"/>
            </a:ln>
          </p:spPr>
        </p:sp>
        <p:sp>
          <p:nvSpPr>
            <p:cNvPr id="131125" name="直接连接符 131124"/>
            <p:cNvSpPr/>
            <p:nvPr/>
          </p:nvSpPr>
          <p:spPr>
            <a:xfrm>
              <a:off x="733" y="3168"/>
              <a:ext cx="144" cy="0"/>
            </a:xfrm>
            <a:prstGeom prst="line">
              <a:avLst/>
            </a:prstGeom>
            <a:ln w="38100" cap="flat" cmpd="sng">
              <a:solidFill>
                <a:schemeClr val="tx1"/>
              </a:solidFill>
              <a:prstDash val="solid"/>
              <a:headEnd type="none" w="med" len="med"/>
              <a:tailEnd type="none" w="med" len="med"/>
            </a:ln>
          </p:spPr>
        </p:sp>
        <p:sp>
          <p:nvSpPr>
            <p:cNvPr id="131126" name="直接连接符 131125"/>
            <p:cNvSpPr/>
            <p:nvPr/>
          </p:nvSpPr>
          <p:spPr>
            <a:xfrm>
              <a:off x="768" y="3216"/>
              <a:ext cx="96" cy="0"/>
            </a:xfrm>
            <a:prstGeom prst="line">
              <a:avLst/>
            </a:prstGeom>
            <a:ln w="38100" cap="flat" cmpd="sng">
              <a:solidFill>
                <a:schemeClr val="tx1"/>
              </a:solidFill>
              <a:prstDash val="solid"/>
              <a:headEnd type="none" w="med" len="med"/>
              <a:tailEnd type="none" w="med" len="med"/>
            </a:ln>
          </p:spPr>
        </p:sp>
        <p:sp>
          <p:nvSpPr>
            <p:cNvPr id="131128" name="文本框 131127"/>
            <p:cNvSpPr txBox="1"/>
            <p:nvPr/>
          </p:nvSpPr>
          <p:spPr>
            <a:xfrm>
              <a:off x="4165" y="488"/>
              <a:ext cx="554" cy="273"/>
            </a:xfrm>
            <a:prstGeom prst="rect">
              <a:avLst/>
            </a:prstGeom>
            <a:noFill/>
            <a:ln w="38100">
              <a:noFill/>
            </a:ln>
          </p:spPr>
          <p:txBody>
            <a:bodyPr wrap="square" anchor="ctr">
              <a:spAutoFit/>
            </a:bodyPr>
            <a:lstStyle/>
            <a:p>
              <a:pPr algn="ctr" eaLnBrk="1" hangingPunct="1"/>
              <a:r>
                <a:rPr lang="en-US" altLang="zh-CN" sz="1200" b="1">
                  <a:latin typeface="Times New Roman" panose="02020603050405020304" charset="0"/>
                  <a:ea typeface="宋体" panose="02010600030101010101" pitchFamily="2" charset="-122"/>
                </a:rPr>
                <a:t>INT0</a:t>
              </a:r>
            </a:p>
          </p:txBody>
        </p:sp>
        <p:sp>
          <p:nvSpPr>
            <p:cNvPr id="131129" name="文本框 131128"/>
            <p:cNvSpPr txBox="1"/>
            <p:nvPr/>
          </p:nvSpPr>
          <p:spPr>
            <a:xfrm>
              <a:off x="4171" y="968"/>
              <a:ext cx="473" cy="273"/>
            </a:xfrm>
            <a:prstGeom prst="rect">
              <a:avLst/>
            </a:prstGeom>
            <a:noFill/>
            <a:ln w="38100">
              <a:noFill/>
            </a:ln>
          </p:spPr>
          <p:txBody>
            <a:bodyPr wrap="square" anchor="ctr">
              <a:spAutoFit/>
            </a:bodyPr>
            <a:lstStyle/>
            <a:p>
              <a:pPr algn="ctr" eaLnBrk="1" hangingPunct="1"/>
              <a:r>
                <a:rPr lang="en-US" altLang="zh-CN" sz="1200" b="1">
                  <a:latin typeface="Times New Roman" panose="02020603050405020304" charset="0"/>
                  <a:ea typeface="宋体" panose="02010600030101010101" pitchFamily="2" charset="-122"/>
                </a:rPr>
                <a:t>P1.0</a:t>
              </a:r>
            </a:p>
          </p:txBody>
        </p:sp>
        <p:sp>
          <p:nvSpPr>
            <p:cNvPr id="131130" name="文本框 131129"/>
            <p:cNvSpPr txBox="1"/>
            <p:nvPr/>
          </p:nvSpPr>
          <p:spPr>
            <a:xfrm>
              <a:off x="4176" y="1256"/>
              <a:ext cx="473" cy="273"/>
            </a:xfrm>
            <a:prstGeom prst="rect">
              <a:avLst/>
            </a:prstGeom>
            <a:noFill/>
            <a:ln w="38100">
              <a:noFill/>
            </a:ln>
          </p:spPr>
          <p:txBody>
            <a:bodyPr wrap="square" anchor="ctr">
              <a:spAutoFit/>
            </a:bodyPr>
            <a:lstStyle/>
            <a:p>
              <a:pPr eaLnBrk="1" hangingPunct="1"/>
              <a:r>
                <a:rPr lang="en-US" altLang="zh-CN" sz="1200" b="1">
                  <a:latin typeface="Times New Roman" panose="02020603050405020304" charset="0"/>
                  <a:ea typeface="宋体" panose="02010600030101010101" pitchFamily="2" charset="-122"/>
                </a:rPr>
                <a:t>P1.1</a:t>
              </a:r>
            </a:p>
          </p:txBody>
        </p:sp>
        <p:sp>
          <p:nvSpPr>
            <p:cNvPr id="131131" name="文本框 131130"/>
            <p:cNvSpPr txBox="1"/>
            <p:nvPr/>
          </p:nvSpPr>
          <p:spPr>
            <a:xfrm>
              <a:off x="4176" y="1496"/>
              <a:ext cx="473" cy="273"/>
            </a:xfrm>
            <a:prstGeom prst="rect">
              <a:avLst/>
            </a:prstGeom>
            <a:noFill/>
            <a:ln w="38100">
              <a:noFill/>
            </a:ln>
          </p:spPr>
          <p:txBody>
            <a:bodyPr wrap="square" anchor="ctr">
              <a:spAutoFit/>
            </a:bodyPr>
            <a:lstStyle/>
            <a:p>
              <a:pPr eaLnBrk="1" hangingPunct="1"/>
              <a:r>
                <a:rPr lang="en-US" altLang="zh-CN" sz="1200" b="1">
                  <a:latin typeface="Times New Roman" panose="02020603050405020304" charset="0"/>
                  <a:ea typeface="宋体" panose="02010600030101010101" pitchFamily="2" charset="-122"/>
                </a:rPr>
                <a:t>P1.2</a:t>
              </a:r>
            </a:p>
          </p:txBody>
        </p:sp>
        <p:sp>
          <p:nvSpPr>
            <p:cNvPr id="131132" name="文本框 131131"/>
            <p:cNvSpPr txBox="1"/>
            <p:nvPr/>
          </p:nvSpPr>
          <p:spPr>
            <a:xfrm>
              <a:off x="4193" y="1736"/>
              <a:ext cx="473" cy="273"/>
            </a:xfrm>
            <a:prstGeom prst="rect">
              <a:avLst/>
            </a:prstGeom>
            <a:noFill/>
            <a:ln w="38100">
              <a:noFill/>
            </a:ln>
          </p:spPr>
          <p:txBody>
            <a:bodyPr wrap="square" anchor="ctr">
              <a:spAutoFit/>
            </a:bodyPr>
            <a:lstStyle/>
            <a:p>
              <a:pPr eaLnBrk="1" hangingPunct="1"/>
              <a:r>
                <a:rPr lang="en-US" altLang="zh-CN" sz="1200" b="1">
                  <a:latin typeface="Times New Roman" panose="02020603050405020304" charset="0"/>
                  <a:ea typeface="宋体" panose="02010600030101010101" pitchFamily="2" charset="-122"/>
                </a:rPr>
                <a:t>P1.3</a:t>
              </a:r>
            </a:p>
          </p:txBody>
        </p:sp>
        <p:sp>
          <p:nvSpPr>
            <p:cNvPr id="131133" name="文本框 131132"/>
            <p:cNvSpPr txBox="1"/>
            <p:nvPr/>
          </p:nvSpPr>
          <p:spPr>
            <a:xfrm>
              <a:off x="4176" y="2024"/>
              <a:ext cx="473" cy="273"/>
            </a:xfrm>
            <a:prstGeom prst="rect">
              <a:avLst/>
            </a:prstGeom>
            <a:noFill/>
            <a:ln w="38100">
              <a:noFill/>
            </a:ln>
          </p:spPr>
          <p:txBody>
            <a:bodyPr wrap="square" anchor="ctr">
              <a:spAutoFit/>
            </a:bodyPr>
            <a:lstStyle/>
            <a:p>
              <a:pPr eaLnBrk="1" hangingPunct="1"/>
              <a:r>
                <a:rPr lang="en-US" altLang="zh-CN" sz="1200" b="1">
                  <a:latin typeface="Times New Roman" panose="02020603050405020304" charset="0"/>
                  <a:ea typeface="宋体" panose="02010600030101010101" pitchFamily="2" charset="-122"/>
                </a:rPr>
                <a:t>P1.4</a:t>
              </a:r>
            </a:p>
          </p:txBody>
        </p:sp>
        <p:sp>
          <p:nvSpPr>
            <p:cNvPr id="131134" name="文本框 131133"/>
            <p:cNvSpPr txBox="1"/>
            <p:nvPr/>
          </p:nvSpPr>
          <p:spPr>
            <a:xfrm>
              <a:off x="4176" y="2312"/>
              <a:ext cx="473" cy="273"/>
            </a:xfrm>
            <a:prstGeom prst="rect">
              <a:avLst/>
            </a:prstGeom>
            <a:noFill/>
            <a:ln w="38100">
              <a:noFill/>
            </a:ln>
          </p:spPr>
          <p:txBody>
            <a:bodyPr wrap="square" anchor="ctr">
              <a:spAutoFit/>
            </a:bodyPr>
            <a:lstStyle/>
            <a:p>
              <a:pPr eaLnBrk="1" hangingPunct="1"/>
              <a:r>
                <a:rPr lang="en-US" altLang="zh-CN" sz="1200" b="1">
                  <a:latin typeface="Times New Roman" panose="02020603050405020304" charset="0"/>
                  <a:ea typeface="宋体" panose="02010600030101010101" pitchFamily="2" charset="-122"/>
                </a:rPr>
                <a:t>P1.5</a:t>
              </a:r>
            </a:p>
          </p:txBody>
        </p:sp>
        <p:sp>
          <p:nvSpPr>
            <p:cNvPr id="131135" name="文本框 131134"/>
            <p:cNvSpPr txBox="1"/>
            <p:nvPr/>
          </p:nvSpPr>
          <p:spPr>
            <a:xfrm>
              <a:off x="4193" y="2552"/>
              <a:ext cx="473" cy="273"/>
            </a:xfrm>
            <a:prstGeom prst="rect">
              <a:avLst/>
            </a:prstGeom>
            <a:noFill/>
            <a:ln w="38100">
              <a:noFill/>
            </a:ln>
          </p:spPr>
          <p:txBody>
            <a:bodyPr wrap="square" anchor="ctr">
              <a:spAutoFit/>
            </a:bodyPr>
            <a:lstStyle/>
            <a:p>
              <a:pPr eaLnBrk="1" hangingPunct="1"/>
              <a:r>
                <a:rPr lang="en-US" altLang="zh-CN" sz="1200" b="1">
                  <a:latin typeface="Times New Roman" panose="02020603050405020304" charset="0"/>
                  <a:ea typeface="宋体" panose="02010600030101010101" pitchFamily="2" charset="-122"/>
                </a:rPr>
                <a:t>P1.6</a:t>
              </a:r>
            </a:p>
          </p:txBody>
        </p:sp>
        <p:sp>
          <p:nvSpPr>
            <p:cNvPr id="131136" name="文本框 131135"/>
            <p:cNvSpPr txBox="1"/>
            <p:nvPr/>
          </p:nvSpPr>
          <p:spPr>
            <a:xfrm>
              <a:off x="4176" y="2840"/>
              <a:ext cx="473" cy="273"/>
            </a:xfrm>
            <a:prstGeom prst="rect">
              <a:avLst/>
            </a:prstGeom>
            <a:noFill/>
            <a:ln w="38100">
              <a:noFill/>
            </a:ln>
          </p:spPr>
          <p:txBody>
            <a:bodyPr wrap="square" anchor="ctr">
              <a:spAutoFit/>
            </a:bodyPr>
            <a:lstStyle/>
            <a:p>
              <a:pPr eaLnBrk="1" hangingPunct="1"/>
              <a:r>
                <a:rPr lang="en-US" altLang="zh-CN" sz="1200" b="1">
                  <a:latin typeface="Times New Roman" panose="02020603050405020304" charset="0"/>
                  <a:ea typeface="宋体" panose="02010600030101010101" pitchFamily="2" charset="-122"/>
                </a:rPr>
                <a:t>P1.7</a:t>
              </a:r>
            </a:p>
          </p:txBody>
        </p:sp>
        <p:sp>
          <p:nvSpPr>
            <p:cNvPr id="131137" name="文本框 131136"/>
            <p:cNvSpPr txBox="1"/>
            <p:nvPr/>
          </p:nvSpPr>
          <p:spPr>
            <a:xfrm>
              <a:off x="4636" y="1688"/>
              <a:ext cx="500" cy="273"/>
            </a:xfrm>
            <a:prstGeom prst="rect">
              <a:avLst/>
            </a:prstGeom>
            <a:noFill/>
            <a:ln w="38100">
              <a:noFill/>
            </a:ln>
          </p:spPr>
          <p:txBody>
            <a:bodyPr wrap="square" anchor="ctr">
              <a:spAutoFit/>
            </a:bodyPr>
            <a:lstStyle/>
            <a:p>
              <a:pPr algn="ctr" eaLnBrk="1" hangingPunct="1"/>
              <a:r>
                <a:rPr lang="en-US" altLang="zh-CN" sz="1200" b="1">
                  <a:latin typeface="Times New Roman" panose="02020603050405020304" charset="0"/>
                  <a:ea typeface="宋体" panose="02010600030101010101" pitchFamily="2" charset="-122"/>
                </a:rPr>
                <a:t>8031</a:t>
              </a:r>
            </a:p>
          </p:txBody>
        </p:sp>
        <p:sp>
          <p:nvSpPr>
            <p:cNvPr id="131138" name="直接连接符 131137"/>
            <p:cNvSpPr/>
            <p:nvPr/>
          </p:nvSpPr>
          <p:spPr>
            <a:xfrm>
              <a:off x="4213" y="480"/>
              <a:ext cx="443" cy="0"/>
            </a:xfrm>
            <a:prstGeom prst="line">
              <a:avLst/>
            </a:prstGeom>
            <a:ln w="38100" cap="flat" cmpd="sng">
              <a:solidFill>
                <a:schemeClr val="tx1"/>
              </a:solidFill>
              <a:prstDash val="solid"/>
              <a:headEnd type="none" w="med" len="med"/>
              <a:tailEnd type="none" w="med" len="med"/>
            </a:ln>
          </p:spPr>
        </p:sp>
        <p:sp>
          <p:nvSpPr>
            <p:cNvPr id="131139" name="文本框 131138"/>
            <p:cNvSpPr txBox="1"/>
            <p:nvPr/>
          </p:nvSpPr>
          <p:spPr>
            <a:xfrm>
              <a:off x="1281" y="1064"/>
              <a:ext cx="255" cy="273"/>
            </a:xfrm>
            <a:prstGeom prst="rect">
              <a:avLst/>
            </a:prstGeom>
            <a:noFill/>
            <a:ln w="9525">
              <a:noFill/>
            </a:ln>
          </p:spPr>
          <p:txBody>
            <a:bodyPr wrap="square" anchor="ctr">
              <a:spAutoFit/>
            </a:bodyPr>
            <a:lstStyle/>
            <a:p>
              <a:pPr algn="ctr" eaLnBrk="1" hangingPunct="1"/>
              <a:r>
                <a:rPr lang="en-US" altLang="zh-CN" sz="1200" b="1">
                  <a:latin typeface="Times New Roman" panose="02020603050405020304" charset="0"/>
                  <a:ea typeface="宋体" panose="02010600030101010101" pitchFamily="2" charset="-122"/>
                </a:rPr>
                <a:t>R</a:t>
              </a:r>
            </a:p>
          </p:txBody>
        </p:sp>
        <p:sp>
          <p:nvSpPr>
            <p:cNvPr id="131140" name="文本框 131139"/>
            <p:cNvSpPr txBox="1"/>
            <p:nvPr/>
          </p:nvSpPr>
          <p:spPr>
            <a:xfrm>
              <a:off x="1281" y="1592"/>
              <a:ext cx="255" cy="273"/>
            </a:xfrm>
            <a:prstGeom prst="rect">
              <a:avLst/>
            </a:prstGeom>
            <a:noFill/>
            <a:ln w="9525">
              <a:noFill/>
            </a:ln>
          </p:spPr>
          <p:txBody>
            <a:bodyPr wrap="square" anchor="ctr">
              <a:spAutoFit/>
            </a:bodyPr>
            <a:lstStyle/>
            <a:p>
              <a:pPr algn="ctr" eaLnBrk="1" hangingPunct="1"/>
              <a:r>
                <a:rPr lang="en-US" altLang="zh-CN" sz="1200" b="1">
                  <a:latin typeface="Times New Roman" panose="02020603050405020304" charset="0"/>
                  <a:ea typeface="宋体" panose="02010600030101010101" pitchFamily="2" charset="-122"/>
                </a:rPr>
                <a:t>R</a:t>
              </a:r>
            </a:p>
          </p:txBody>
        </p:sp>
        <p:sp>
          <p:nvSpPr>
            <p:cNvPr id="131141" name="文本框 131140"/>
            <p:cNvSpPr txBox="1"/>
            <p:nvPr/>
          </p:nvSpPr>
          <p:spPr>
            <a:xfrm>
              <a:off x="1296" y="2120"/>
              <a:ext cx="255" cy="273"/>
            </a:xfrm>
            <a:prstGeom prst="rect">
              <a:avLst/>
            </a:prstGeom>
            <a:noFill/>
            <a:ln w="9525">
              <a:noFill/>
            </a:ln>
          </p:spPr>
          <p:txBody>
            <a:bodyPr wrap="square" anchor="ctr">
              <a:spAutoFit/>
            </a:bodyPr>
            <a:lstStyle/>
            <a:p>
              <a:pPr algn="ctr" eaLnBrk="1" hangingPunct="1"/>
              <a:r>
                <a:rPr lang="en-US" altLang="zh-CN" sz="1200" b="1">
                  <a:latin typeface="Times New Roman" panose="02020603050405020304" charset="0"/>
                  <a:ea typeface="宋体" panose="02010600030101010101" pitchFamily="2" charset="-122"/>
                </a:rPr>
                <a:t>R</a:t>
              </a:r>
            </a:p>
          </p:txBody>
        </p:sp>
        <p:sp>
          <p:nvSpPr>
            <p:cNvPr id="131142" name="文本框 131141"/>
            <p:cNvSpPr txBox="1"/>
            <p:nvPr/>
          </p:nvSpPr>
          <p:spPr>
            <a:xfrm>
              <a:off x="1296" y="2648"/>
              <a:ext cx="255" cy="273"/>
            </a:xfrm>
            <a:prstGeom prst="rect">
              <a:avLst/>
            </a:prstGeom>
            <a:noFill/>
            <a:ln w="9525">
              <a:noFill/>
            </a:ln>
          </p:spPr>
          <p:txBody>
            <a:bodyPr wrap="square" anchor="ctr">
              <a:spAutoFit/>
            </a:bodyPr>
            <a:lstStyle/>
            <a:p>
              <a:pPr algn="ctr" eaLnBrk="1" hangingPunct="1"/>
              <a:r>
                <a:rPr lang="en-US" altLang="zh-CN" sz="1200" b="1">
                  <a:latin typeface="Times New Roman" panose="02020603050405020304" charset="0"/>
                  <a:ea typeface="宋体" panose="02010600030101010101" pitchFamily="2" charset="-122"/>
                </a:rPr>
                <a:t>R</a:t>
              </a:r>
            </a:p>
          </p:txBody>
        </p:sp>
        <p:sp>
          <p:nvSpPr>
            <p:cNvPr id="131143" name="文本框 131142"/>
            <p:cNvSpPr txBox="1"/>
            <p:nvPr/>
          </p:nvSpPr>
          <p:spPr>
            <a:xfrm>
              <a:off x="1553" y="920"/>
              <a:ext cx="511" cy="273"/>
            </a:xfrm>
            <a:prstGeom prst="rect">
              <a:avLst/>
            </a:prstGeom>
            <a:noFill/>
            <a:ln w="9525">
              <a:noFill/>
            </a:ln>
          </p:spPr>
          <p:txBody>
            <a:bodyPr wrap="square" anchor="ctr">
              <a:spAutoFit/>
            </a:bodyPr>
            <a:lstStyle/>
            <a:p>
              <a:pPr algn="ctr" eaLnBrk="1" hangingPunct="1"/>
              <a:r>
                <a:rPr lang="en-US" altLang="zh-CN" sz="1200" b="1">
                  <a:solidFill>
                    <a:srgbClr val="FF0000"/>
                  </a:solidFill>
                  <a:latin typeface="Times New Roman" panose="02020603050405020304" charset="0"/>
                  <a:ea typeface="宋体" panose="02010600030101010101" pitchFamily="2" charset="-122"/>
                </a:rPr>
                <a:t>LED</a:t>
              </a:r>
            </a:p>
          </p:txBody>
        </p:sp>
        <p:sp>
          <p:nvSpPr>
            <p:cNvPr id="131144" name="文本框 131143"/>
            <p:cNvSpPr txBox="1"/>
            <p:nvPr/>
          </p:nvSpPr>
          <p:spPr>
            <a:xfrm>
              <a:off x="1536" y="1448"/>
              <a:ext cx="511" cy="273"/>
            </a:xfrm>
            <a:prstGeom prst="rect">
              <a:avLst/>
            </a:prstGeom>
            <a:noFill/>
            <a:ln w="9525">
              <a:noFill/>
            </a:ln>
          </p:spPr>
          <p:txBody>
            <a:bodyPr wrap="square" anchor="ctr">
              <a:spAutoFit/>
            </a:bodyPr>
            <a:lstStyle/>
            <a:p>
              <a:pPr algn="ctr" eaLnBrk="1" hangingPunct="1"/>
              <a:r>
                <a:rPr lang="en-US" altLang="zh-CN" sz="1200" b="1">
                  <a:solidFill>
                    <a:srgbClr val="FF0000"/>
                  </a:solidFill>
                  <a:latin typeface="Times New Roman" panose="02020603050405020304" charset="0"/>
                  <a:ea typeface="宋体" panose="02010600030101010101" pitchFamily="2" charset="-122"/>
                </a:rPr>
                <a:t>LED</a:t>
              </a:r>
            </a:p>
          </p:txBody>
        </p:sp>
        <p:sp>
          <p:nvSpPr>
            <p:cNvPr id="131145" name="文本框 131144"/>
            <p:cNvSpPr txBox="1"/>
            <p:nvPr/>
          </p:nvSpPr>
          <p:spPr>
            <a:xfrm>
              <a:off x="1536" y="1976"/>
              <a:ext cx="511" cy="273"/>
            </a:xfrm>
            <a:prstGeom prst="rect">
              <a:avLst/>
            </a:prstGeom>
            <a:noFill/>
            <a:ln w="9525">
              <a:noFill/>
            </a:ln>
          </p:spPr>
          <p:txBody>
            <a:bodyPr wrap="square" anchor="ctr">
              <a:spAutoFit/>
            </a:bodyPr>
            <a:lstStyle/>
            <a:p>
              <a:pPr algn="ctr" eaLnBrk="1" hangingPunct="1"/>
              <a:r>
                <a:rPr lang="en-US" altLang="zh-CN" sz="1200" b="1">
                  <a:solidFill>
                    <a:srgbClr val="FF0000"/>
                  </a:solidFill>
                  <a:latin typeface="Times New Roman" panose="02020603050405020304" charset="0"/>
                  <a:ea typeface="宋体" panose="02010600030101010101" pitchFamily="2" charset="-122"/>
                </a:rPr>
                <a:t>LED</a:t>
              </a:r>
            </a:p>
          </p:txBody>
        </p:sp>
        <p:sp>
          <p:nvSpPr>
            <p:cNvPr id="131146" name="文本框 131145"/>
            <p:cNvSpPr txBox="1"/>
            <p:nvPr/>
          </p:nvSpPr>
          <p:spPr>
            <a:xfrm>
              <a:off x="1536" y="2504"/>
              <a:ext cx="511" cy="273"/>
            </a:xfrm>
            <a:prstGeom prst="rect">
              <a:avLst/>
            </a:prstGeom>
            <a:noFill/>
            <a:ln w="9525">
              <a:noFill/>
            </a:ln>
          </p:spPr>
          <p:txBody>
            <a:bodyPr wrap="square" anchor="ctr">
              <a:spAutoFit/>
            </a:bodyPr>
            <a:lstStyle/>
            <a:p>
              <a:pPr algn="ctr" eaLnBrk="1" hangingPunct="1"/>
              <a:r>
                <a:rPr lang="en-US" altLang="zh-CN" sz="1200" b="1">
                  <a:solidFill>
                    <a:srgbClr val="FF0000"/>
                  </a:solidFill>
                  <a:latin typeface="Times New Roman" panose="02020603050405020304" charset="0"/>
                  <a:ea typeface="宋体" panose="02010600030101010101" pitchFamily="2" charset="-122"/>
                </a:rPr>
                <a:t>LED</a:t>
              </a:r>
            </a:p>
          </p:txBody>
        </p:sp>
        <p:sp>
          <p:nvSpPr>
            <p:cNvPr id="131147" name="直接连接符 131146"/>
            <p:cNvSpPr/>
            <p:nvPr/>
          </p:nvSpPr>
          <p:spPr>
            <a:xfrm>
              <a:off x="2016" y="1776"/>
              <a:ext cx="0" cy="288"/>
            </a:xfrm>
            <a:prstGeom prst="line">
              <a:avLst/>
            </a:prstGeom>
            <a:ln w="38100" cap="flat" cmpd="sng">
              <a:solidFill>
                <a:schemeClr val="tx1"/>
              </a:solidFill>
              <a:prstDash val="solid"/>
              <a:headEnd type="none" w="med" len="med"/>
              <a:tailEnd type="none" w="med" len="med"/>
            </a:ln>
          </p:spPr>
        </p:sp>
        <p:sp>
          <p:nvSpPr>
            <p:cNvPr id="131148" name="直接连接符 131147"/>
            <p:cNvSpPr/>
            <p:nvPr/>
          </p:nvSpPr>
          <p:spPr>
            <a:xfrm>
              <a:off x="2016" y="2304"/>
              <a:ext cx="0" cy="288"/>
            </a:xfrm>
            <a:prstGeom prst="line">
              <a:avLst/>
            </a:prstGeom>
            <a:ln w="38100" cap="flat" cmpd="sng">
              <a:solidFill>
                <a:schemeClr val="tx1"/>
              </a:solidFill>
              <a:prstDash val="solid"/>
              <a:headEnd type="none" w="med" len="med"/>
              <a:tailEnd type="none" w="med" len="med"/>
            </a:ln>
          </p:spPr>
        </p:sp>
        <p:sp>
          <p:nvSpPr>
            <p:cNvPr id="131149" name="直接连接符 131148"/>
            <p:cNvSpPr/>
            <p:nvPr/>
          </p:nvSpPr>
          <p:spPr>
            <a:xfrm>
              <a:off x="2016" y="2832"/>
              <a:ext cx="0" cy="288"/>
            </a:xfrm>
            <a:prstGeom prst="line">
              <a:avLst/>
            </a:prstGeom>
            <a:ln w="38100" cap="flat" cmpd="sng">
              <a:solidFill>
                <a:schemeClr val="tx1"/>
              </a:solidFill>
              <a:prstDash val="solid"/>
              <a:headEnd type="none" w="med" len="med"/>
              <a:tailEnd type="none" w="med" len="med"/>
            </a:ln>
          </p:spPr>
        </p:sp>
        <p:sp>
          <p:nvSpPr>
            <p:cNvPr id="131151" name="矩形 131150"/>
            <p:cNvSpPr/>
            <p:nvPr/>
          </p:nvSpPr>
          <p:spPr>
            <a:xfrm>
              <a:off x="1407" y="3364"/>
              <a:ext cx="2786" cy="273"/>
            </a:xfrm>
            <a:prstGeom prst="rect">
              <a:avLst/>
            </a:prstGeom>
            <a:noFill/>
            <a:ln w="9525">
              <a:noFill/>
            </a:ln>
          </p:spPr>
          <p:txBody>
            <a:bodyPr wrap="square" anchor="ctr">
              <a:spAutoFit/>
            </a:bodyPr>
            <a:lstStyle/>
            <a:p>
              <a:pPr algn="ctr" eaLnBrk="1" hangingPunct="1"/>
              <a:r>
                <a:rPr lang="zh-CN" altLang="en-US" sz="1200" b="1" dirty="0">
                  <a:solidFill>
                    <a:srgbClr val="000099"/>
                  </a:solidFill>
                  <a:latin typeface="Times New Roman" panose="02020603050405020304" charset="0"/>
                  <a:ea typeface="宋体" panose="02010600030101010101" pitchFamily="2" charset="-122"/>
                </a:rPr>
                <a:t>图</a:t>
              </a:r>
              <a:r>
                <a:rPr lang="en-US" altLang="zh-CN" sz="1200" b="1" dirty="0">
                  <a:solidFill>
                    <a:srgbClr val="000099"/>
                  </a:solidFill>
                  <a:latin typeface="Times New Roman" panose="02020603050405020304" charset="0"/>
                  <a:ea typeface="宋体" panose="02010600030101010101" pitchFamily="2" charset="-122"/>
                </a:rPr>
                <a:t>5-15    </a:t>
              </a:r>
              <a:r>
                <a:rPr lang="zh-CN" altLang="en-US" sz="1200" b="1" dirty="0">
                  <a:solidFill>
                    <a:srgbClr val="000099"/>
                  </a:solidFill>
                  <a:latin typeface="Times New Roman" panose="02020603050405020304" charset="0"/>
                  <a:ea typeface="宋体" panose="02010600030101010101" pitchFamily="2" charset="-122"/>
                </a:rPr>
                <a:t>利用中断显示系统故障</a:t>
              </a:r>
            </a:p>
          </p:txBody>
        </p:sp>
      </p:grpSp>
      <p:sp>
        <p:nvSpPr>
          <p:cNvPr id="121859" name="文本占位符 121858"/>
          <p:cNvSpPr>
            <a:spLocks noGrp="1"/>
          </p:cNvSpPr>
          <p:nvPr/>
        </p:nvSpPr>
        <p:spPr>
          <a:xfrm>
            <a:off x="620395" y="2734310"/>
            <a:ext cx="2863215" cy="3189605"/>
          </a:xfrm>
          <a:prstGeom prst="rect">
            <a:avLst/>
          </a:prstGeom>
        </p:spPr>
        <p:txBody>
          <a:bodyPr wrap="square" lIns="92075" tIns="46038" rIns="92075" bIns="46038">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lvl="0" algn="l">
              <a:lnSpc>
                <a:spcPct val="140000"/>
              </a:lnSpc>
              <a:buClrTx/>
              <a:buSzTx/>
              <a:buFontTx/>
            </a:pPr>
            <a:r>
              <a:rPr lang="zh-CN" altLang="en-US" b="1" dirty="0">
                <a:sym typeface="+mn-ea"/>
              </a:rPr>
              <a:t>解：如图所示，当某一个故障信号输入线由低电平变为高点平时，会通过 INT0线引起</a:t>
            </a:r>
            <a:r>
              <a:rPr lang="en-US" altLang="zh-CN" b="1" dirty="0">
                <a:sym typeface="+mn-ea"/>
              </a:rPr>
              <a:t>C51</a:t>
            </a:r>
            <a:r>
              <a:rPr lang="zh-CN" altLang="en-US" b="1" dirty="0">
                <a:sym typeface="+mn-ea"/>
              </a:rPr>
              <a:t>中断（边沿触发方式）。在中断服务程序中，应将各故障源的信号读入，并加以查询，以进行相应的发光显示。</a:t>
            </a:r>
          </a:p>
        </p:txBody>
      </p:sp>
      <p:sp>
        <p:nvSpPr>
          <p:cNvPr id="3" name="灯片编号占位符 2"/>
          <p:cNvSpPr>
            <a:spLocks noGrp="1"/>
          </p:cNvSpPr>
          <p:nvPr>
            <p:ph type="sldNum" sz="quarter" idx="7"/>
          </p:nvPr>
        </p:nvSpPr>
        <p:spPr/>
        <p:txBody>
          <a:bodyPr/>
          <a:lstStyle/>
          <a:p>
            <a:pPr marL="25400">
              <a:lnSpc>
                <a:spcPct val="100000"/>
              </a:lnSpc>
              <a:spcBef>
                <a:spcPts val="185"/>
              </a:spcBef>
            </a:pPr>
            <a:fld id="{81D60167-4931-47E6-BA6A-407CBD079E47}" type="slidenum">
              <a:rPr spc="-5" dirty="0"/>
              <a:t>34</a:t>
            </a:fld>
            <a:endParaRPr spc="-5" dirty="0"/>
          </a:p>
        </p:txBody>
      </p:sp>
    </p:spTree>
  </p:cSld>
  <p:clrMapOvr>
    <a:masterClrMapping/>
  </p:clrMapOvr>
  <p:transition advClick="0">
    <p:cut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标题 122881"/>
          <p:cNvSpPr>
            <a:spLocks noGrp="1"/>
          </p:cNvSpPr>
          <p:nvPr>
            <p:ph type="title"/>
          </p:nvPr>
        </p:nvSpPr>
        <p:spPr>
          <a:xfrm>
            <a:off x="685800" y="0"/>
            <a:ext cx="7772400" cy="838200"/>
          </a:xfrm>
        </p:spPr>
        <p:txBody>
          <a:bodyPr lIns="46038" tIns="46038" rIns="46038" bIns="46038" anchor="b"/>
          <a:lstStyle/>
          <a:p>
            <a:r>
              <a:rPr lang="zh-CN" altLang="en-US" sz="4000"/>
              <a:t>例</a:t>
            </a:r>
            <a:r>
              <a:rPr lang="en-US" altLang="zh-CN" sz="4000"/>
              <a:t>5-4</a:t>
            </a:r>
          </a:p>
        </p:txBody>
      </p:sp>
      <p:sp>
        <p:nvSpPr>
          <p:cNvPr id="122883" name="文本占位符 122882"/>
          <p:cNvSpPr>
            <a:spLocks noGrp="1"/>
          </p:cNvSpPr>
          <p:nvPr>
            <p:ph type="body" idx="1"/>
          </p:nvPr>
        </p:nvSpPr>
        <p:spPr>
          <a:xfrm>
            <a:off x="397510" y="1037590"/>
            <a:ext cx="5010150" cy="2799715"/>
          </a:xfrm>
        </p:spPr>
        <p:txBody>
          <a:bodyPr wrap="square" lIns="92075" tIns="46038" rIns="92075" bIns="46038"/>
          <a:lstStyle/>
          <a:p>
            <a:pPr marL="952500" indent="-952500">
              <a:lnSpc>
                <a:spcPct val="100000"/>
              </a:lnSpc>
              <a:buNone/>
            </a:pPr>
            <a:r>
              <a:rPr lang="zh-CN" altLang="en-US" sz="1600" b="1" dirty="0">
                <a:solidFill>
                  <a:srgbClr val="FF3300"/>
                </a:solidFill>
              </a:rPr>
              <a:t>例</a:t>
            </a:r>
            <a:r>
              <a:rPr lang="en-US" altLang="zh-CN" sz="1600" b="1" dirty="0">
                <a:solidFill>
                  <a:srgbClr val="FF3300"/>
                </a:solidFill>
              </a:rPr>
              <a:t>5-4 </a:t>
            </a:r>
            <a:r>
              <a:rPr lang="en-US" altLang="zh-CN" sz="1600" dirty="0">
                <a:solidFill>
                  <a:srgbClr val="000099"/>
                </a:solidFill>
              </a:rPr>
              <a:t> </a:t>
            </a:r>
            <a:r>
              <a:rPr lang="zh-CN" altLang="en-US" sz="1600" dirty="0">
                <a:solidFill>
                  <a:srgbClr val="000099"/>
                </a:solidFill>
              </a:rPr>
              <a:t>源程序如下：</a:t>
            </a:r>
          </a:p>
          <a:p>
            <a:pPr marL="952500" indent="-952500">
              <a:lnSpc>
                <a:spcPct val="100000"/>
              </a:lnSpc>
              <a:buNone/>
            </a:pPr>
            <a:r>
              <a:rPr lang="zh-CN" altLang="en-US" sz="1600" dirty="0">
                <a:solidFill>
                  <a:srgbClr val="000099"/>
                </a:solidFill>
              </a:rPr>
              <a:t>                </a:t>
            </a:r>
            <a:r>
              <a:rPr lang="en-US" altLang="zh-CN" sz="1600" b="1">
                <a:solidFill>
                  <a:srgbClr val="000099"/>
                </a:solidFill>
              </a:rPr>
              <a:t>ORG     0000H</a:t>
            </a:r>
            <a:endParaRPr lang="en-US" altLang="zh-CN" sz="1600">
              <a:solidFill>
                <a:srgbClr val="000099"/>
              </a:solidFill>
            </a:endParaRPr>
          </a:p>
          <a:p>
            <a:pPr marL="952500" indent="-952500">
              <a:lnSpc>
                <a:spcPct val="100000"/>
              </a:lnSpc>
              <a:buNone/>
            </a:pPr>
            <a:r>
              <a:rPr lang="en-US" altLang="zh-CN" sz="1600">
                <a:solidFill>
                  <a:srgbClr val="000099"/>
                </a:solidFill>
              </a:rPr>
              <a:t>                </a:t>
            </a:r>
            <a:r>
              <a:rPr lang="en-US" altLang="zh-CN" sz="1600" b="1">
                <a:solidFill>
                  <a:srgbClr val="000099"/>
                </a:solidFill>
              </a:rPr>
              <a:t>SJMP   </a:t>
            </a:r>
            <a:r>
              <a:rPr lang="en-US" altLang="zh-CN" sz="1600" b="1">
                <a:solidFill>
                  <a:srgbClr val="FF3300"/>
                </a:solidFill>
              </a:rPr>
              <a:t> MAIN</a:t>
            </a:r>
            <a:r>
              <a:rPr lang="zh-CN" altLang="en-US" sz="1600" dirty="0">
                <a:solidFill>
                  <a:srgbClr val="000099"/>
                </a:solidFill>
              </a:rPr>
              <a:t>；上电，转向主程序</a:t>
            </a:r>
            <a:endParaRPr lang="zh-CN" altLang="en-US" sz="1600">
              <a:solidFill>
                <a:srgbClr val="000099"/>
              </a:solidFill>
            </a:endParaRPr>
          </a:p>
          <a:p>
            <a:pPr marL="952500" indent="-952500">
              <a:lnSpc>
                <a:spcPct val="100000"/>
              </a:lnSpc>
              <a:buNone/>
            </a:pPr>
            <a:r>
              <a:rPr lang="zh-CN" altLang="en-US" sz="1600" dirty="0">
                <a:solidFill>
                  <a:srgbClr val="000099"/>
                </a:solidFill>
              </a:rPr>
              <a:t>     </a:t>
            </a:r>
            <a:r>
              <a:rPr lang="zh-CN" altLang="en-US" sz="1600">
                <a:solidFill>
                  <a:srgbClr val="000099"/>
                </a:solidFill>
              </a:rPr>
              <a:t>           </a:t>
            </a:r>
            <a:r>
              <a:rPr lang="en-US" altLang="zh-CN" sz="1600" b="1">
                <a:solidFill>
                  <a:srgbClr val="000099"/>
                </a:solidFill>
              </a:rPr>
              <a:t>ORG     0003H</a:t>
            </a:r>
            <a:r>
              <a:rPr lang="zh-CN" altLang="en-US" sz="1600" dirty="0">
                <a:solidFill>
                  <a:srgbClr val="000099"/>
                </a:solidFill>
              </a:rPr>
              <a:t>；外部中断</a:t>
            </a:r>
            <a:r>
              <a:rPr lang="en-US" altLang="zh-CN" sz="1600" dirty="0">
                <a:solidFill>
                  <a:srgbClr val="000099"/>
                </a:solidFill>
              </a:rPr>
              <a:t>0</a:t>
            </a:r>
            <a:r>
              <a:rPr lang="zh-CN" altLang="en-US" sz="1600" dirty="0">
                <a:solidFill>
                  <a:srgbClr val="000099"/>
                </a:solidFill>
              </a:rPr>
              <a:t>入口地址</a:t>
            </a:r>
            <a:endParaRPr lang="zh-CN" altLang="en-US" sz="1600">
              <a:solidFill>
                <a:srgbClr val="000099"/>
              </a:solidFill>
            </a:endParaRPr>
          </a:p>
          <a:p>
            <a:pPr marL="952500" indent="-952500">
              <a:lnSpc>
                <a:spcPct val="100000"/>
              </a:lnSpc>
              <a:buNone/>
            </a:pPr>
            <a:r>
              <a:rPr lang="zh-CN" altLang="en-US" sz="1600" dirty="0">
                <a:solidFill>
                  <a:srgbClr val="000099"/>
                </a:solidFill>
              </a:rPr>
              <a:t>              </a:t>
            </a:r>
            <a:r>
              <a:rPr lang="zh-CN" altLang="en-US" sz="1600">
                <a:solidFill>
                  <a:srgbClr val="000099"/>
                </a:solidFill>
              </a:rPr>
              <a:t>  </a:t>
            </a:r>
            <a:r>
              <a:rPr lang="en-US" altLang="zh-CN" sz="1600" b="1">
                <a:solidFill>
                  <a:srgbClr val="000099"/>
                </a:solidFill>
              </a:rPr>
              <a:t>SJMP    </a:t>
            </a:r>
            <a:r>
              <a:rPr lang="en-US" altLang="zh-CN" sz="1600" b="1">
                <a:solidFill>
                  <a:srgbClr val="FF3300"/>
                </a:solidFill>
              </a:rPr>
              <a:t>INSER</a:t>
            </a:r>
            <a:r>
              <a:rPr lang="zh-CN" altLang="en-US" sz="1600" dirty="0">
                <a:solidFill>
                  <a:srgbClr val="000099"/>
                </a:solidFill>
              </a:rPr>
              <a:t>；转向中断服务程序</a:t>
            </a:r>
          </a:p>
          <a:p>
            <a:pPr marL="952500" indent="-952500">
              <a:lnSpc>
                <a:spcPct val="100000"/>
              </a:lnSpc>
              <a:buNone/>
            </a:pPr>
            <a:r>
              <a:rPr lang="zh-CN" altLang="en-US" sz="1600" dirty="0">
                <a:solidFill>
                  <a:srgbClr val="FF3300"/>
                </a:solidFill>
              </a:rPr>
              <a:t> </a:t>
            </a:r>
            <a:r>
              <a:rPr lang="en-US" altLang="zh-CN" sz="1600" b="1">
                <a:solidFill>
                  <a:srgbClr val="FF3300"/>
                </a:solidFill>
              </a:rPr>
              <a:t>MAIN</a:t>
            </a:r>
            <a:r>
              <a:rPr lang="zh-CN" altLang="en-US" sz="1600" b="1">
                <a:solidFill>
                  <a:srgbClr val="FF3300"/>
                </a:solidFill>
              </a:rPr>
              <a:t>：</a:t>
            </a:r>
            <a:r>
              <a:rPr lang="zh-CN" altLang="en-US" sz="1600" b="1">
                <a:solidFill>
                  <a:srgbClr val="000099"/>
                </a:solidFill>
              </a:rPr>
              <a:t>  </a:t>
            </a:r>
            <a:r>
              <a:rPr lang="en-US" altLang="zh-CN" sz="1600" b="1">
                <a:solidFill>
                  <a:srgbClr val="000099"/>
                </a:solidFill>
              </a:rPr>
              <a:t>ANL    P1,#55H</a:t>
            </a:r>
            <a:r>
              <a:rPr lang="zh-CN" altLang="en-US" sz="1600" dirty="0">
                <a:solidFill>
                  <a:srgbClr val="000099"/>
                </a:solidFill>
              </a:rPr>
              <a:t>；</a:t>
            </a:r>
            <a:r>
              <a:rPr lang="en-US" altLang="zh-CN" sz="1600" dirty="0">
                <a:solidFill>
                  <a:srgbClr val="000099"/>
                </a:solidFill>
              </a:rPr>
              <a:t>P1.0,P1.2,P1.4,P1.6</a:t>
            </a:r>
            <a:r>
              <a:rPr lang="zh-CN" altLang="en-US" sz="1600" dirty="0">
                <a:solidFill>
                  <a:srgbClr val="000099"/>
                </a:solidFill>
              </a:rPr>
              <a:t>为输入</a:t>
            </a:r>
            <a:endParaRPr lang="zh-CN" altLang="en-US" sz="1600">
              <a:solidFill>
                <a:srgbClr val="000099"/>
              </a:solidFill>
            </a:endParaRPr>
          </a:p>
          <a:p>
            <a:pPr marL="952500" indent="-952500">
              <a:lnSpc>
                <a:spcPct val="100000"/>
              </a:lnSpc>
              <a:buNone/>
            </a:pPr>
            <a:r>
              <a:rPr lang="zh-CN" altLang="zh-CN" sz="1600" dirty="0">
                <a:solidFill>
                  <a:srgbClr val="000099"/>
                </a:solidFill>
              </a:rPr>
              <a:t>                                             P1.1,P1.3,P1.5,P1.7为输出</a:t>
            </a:r>
            <a:endParaRPr lang="zh-CN" altLang="en-US" sz="1600">
              <a:solidFill>
                <a:srgbClr val="000099"/>
              </a:solidFill>
            </a:endParaRPr>
          </a:p>
          <a:p>
            <a:pPr marL="952500" indent="-952500">
              <a:lnSpc>
                <a:spcPct val="100000"/>
              </a:lnSpc>
              <a:buNone/>
            </a:pPr>
            <a:r>
              <a:rPr lang="zh-CN" altLang="en-US" sz="1600">
                <a:solidFill>
                  <a:srgbClr val="000099"/>
                </a:solidFill>
              </a:rPr>
              <a:t>                </a:t>
            </a:r>
            <a:r>
              <a:rPr lang="en-US" altLang="zh-CN" sz="1600" b="1">
                <a:solidFill>
                  <a:srgbClr val="000099"/>
                </a:solidFill>
              </a:rPr>
              <a:t>SETB   EX0</a:t>
            </a:r>
            <a:r>
              <a:rPr lang="en-US" altLang="zh-CN" sz="1600" dirty="0">
                <a:solidFill>
                  <a:srgbClr val="000099"/>
                </a:solidFill>
              </a:rPr>
              <a:t>    </a:t>
            </a:r>
            <a:r>
              <a:rPr lang="zh-CN" altLang="en-US" sz="1600" dirty="0">
                <a:solidFill>
                  <a:srgbClr val="000099"/>
                </a:solidFill>
              </a:rPr>
              <a:t>；允许外部中断</a:t>
            </a:r>
            <a:r>
              <a:rPr lang="en-US" altLang="zh-CN" sz="1600" dirty="0">
                <a:solidFill>
                  <a:srgbClr val="000099"/>
                </a:solidFill>
              </a:rPr>
              <a:t>0</a:t>
            </a:r>
            <a:r>
              <a:rPr lang="zh-CN" altLang="en-US" sz="1600" dirty="0">
                <a:solidFill>
                  <a:srgbClr val="000099"/>
                </a:solidFill>
              </a:rPr>
              <a:t>中断</a:t>
            </a:r>
          </a:p>
          <a:p>
            <a:pPr marL="952500" indent="-952500">
              <a:lnSpc>
                <a:spcPct val="100000"/>
              </a:lnSpc>
              <a:buNone/>
            </a:pPr>
            <a:r>
              <a:rPr lang="zh-CN" altLang="en-US" sz="1600">
                <a:solidFill>
                  <a:srgbClr val="000099"/>
                </a:solidFill>
              </a:rPr>
              <a:t>                </a:t>
            </a:r>
            <a:r>
              <a:rPr lang="en-US" altLang="zh-CN" sz="1600" b="1">
                <a:solidFill>
                  <a:srgbClr val="000099"/>
                </a:solidFill>
              </a:rPr>
              <a:t>SETB   IT0</a:t>
            </a:r>
            <a:r>
              <a:rPr lang="en-US" altLang="zh-CN" sz="1600" dirty="0">
                <a:solidFill>
                  <a:srgbClr val="000099"/>
                </a:solidFill>
              </a:rPr>
              <a:t>     </a:t>
            </a:r>
            <a:r>
              <a:rPr lang="zh-CN" altLang="en-US" sz="1600" dirty="0">
                <a:solidFill>
                  <a:srgbClr val="000099"/>
                </a:solidFill>
              </a:rPr>
              <a:t>；选择边沿触发方式</a:t>
            </a:r>
          </a:p>
          <a:p>
            <a:pPr marL="952500" indent="-952500">
              <a:lnSpc>
                <a:spcPct val="100000"/>
              </a:lnSpc>
              <a:buNone/>
            </a:pPr>
            <a:r>
              <a:rPr lang="zh-CN" altLang="en-US" sz="1600">
                <a:solidFill>
                  <a:srgbClr val="000099"/>
                </a:solidFill>
              </a:rPr>
              <a:t>                </a:t>
            </a:r>
            <a:r>
              <a:rPr lang="en-US" altLang="zh-CN" sz="1600" b="1">
                <a:solidFill>
                  <a:srgbClr val="000099"/>
                </a:solidFill>
              </a:rPr>
              <a:t>SETB   EA</a:t>
            </a:r>
            <a:r>
              <a:rPr lang="en-US" altLang="zh-CN" sz="1600" dirty="0">
                <a:solidFill>
                  <a:srgbClr val="000099"/>
                </a:solidFill>
              </a:rPr>
              <a:t>      </a:t>
            </a:r>
            <a:r>
              <a:rPr lang="zh-CN" altLang="en-US" sz="1600" dirty="0">
                <a:solidFill>
                  <a:srgbClr val="000099"/>
                </a:solidFill>
              </a:rPr>
              <a:t>；</a:t>
            </a:r>
            <a:r>
              <a:rPr lang="en-US" altLang="zh-CN" sz="1600" dirty="0">
                <a:solidFill>
                  <a:srgbClr val="000099"/>
                </a:solidFill>
              </a:rPr>
              <a:t>CPU</a:t>
            </a:r>
            <a:r>
              <a:rPr lang="zh-CN" altLang="en-US" sz="1600" dirty="0">
                <a:solidFill>
                  <a:srgbClr val="000099"/>
                </a:solidFill>
              </a:rPr>
              <a:t>开中断</a:t>
            </a:r>
          </a:p>
          <a:p>
            <a:pPr marL="952500" indent="-952500">
              <a:lnSpc>
                <a:spcPct val="100000"/>
              </a:lnSpc>
              <a:buNone/>
            </a:pPr>
            <a:r>
              <a:rPr lang="en-US" altLang="zh-CN" sz="1600" b="1">
                <a:solidFill>
                  <a:srgbClr val="000099"/>
                </a:solidFill>
              </a:rPr>
              <a:t>HERE</a:t>
            </a:r>
            <a:r>
              <a:rPr lang="zh-CN" altLang="en-US" sz="1600" b="1">
                <a:solidFill>
                  <a:srgbClr val="000099"/>
                </a:solidFill>
              </a:rPr>
              <a:t>：  </a:t>
            </a:r>
            <a:r>
              <a:rPr lang="en-US" altLang="zh-CN" sz="1600" b="1">
                <a:solidFill>
                  <a:srgbClr val="000099"/>
                </a:solidFill>
              </a:rPr>
              <a:t>SJMP   HERE</a:t>
            </a:r>
            <a:r>
              <a:rPr lang="en-US" altLang="zh-CN" sz="1600" dirty="0">
                <a:solidFill>
                  <a:srgbClr val="000099"/>
                </a:solidFill>
              </a:rPr>
              <a:t> </a:t>
            </a:r>
            <a:r>
              <a:rPr lang="zh-CN" altLang="en-US" sz="1600" dirty="0">
                <a:solidFill>
                  <a:srgbClr val="000099"/>
                </a:solidFill>
              </a:rPr>
              <a:t>；等待中断</a:t>
            </a:r>
          </a:p>
        </p:txBody>
      </p:sp>
      <p:grpSp>
        <p:nvGrpSpPr>
          <p:cNvPr id="131154" name="组合 131153"/>
          <p:cNvGrpSpPr/>
          <p:nvPr/>
        </p:nvGrpSpPr>
        <p:grpSpPr>
          <a:xfrm>
            <a:off x="5262109" y="1212850"/>
            <a:ext cx="3465966" cy="2838996"/>
            <a:chOff x="720" y="288"/>
            <a:chExt cx="4416" cy="3430"/>
          </a:xfrm>
        </p:grpSpPr>
        <p:sp>
          <p:nvSpPr>
            <p:cNvPr id="131074" name="矩形 131073"/>
            <p:cNvSpPr/>
            <p:nvPr/>
          </p:nvSpPr>
          <p:spPr>
            <a:xfrm>
              <a:off x="4176" y="288"/>
              <a:ext cx="960" cy="2832"/>
            </a:xfrm>
            <a:prstGeom prst="rect">
              <a:avLst/>
            </a:prstGeom>
            <a:noFill/>
            <a:ln w="38100" cap="flat" cmpd="sng">
              <a:solidFill>
                <a:schemeClr val="tx1"/>
              </a:solidFill>
              <a:prstDash val="solid"/>
              <a:miter/>
              <a:headEnd type="none" w="med" len="med"/>
              <a:tailEnd type="none" w="med" len="med"/>
            </a:ln>
          </p:spPr>
          <p:txBody>
            <a:bodyPr/>
            <a:lstStyle/>
            <a:p>
              <a:endParaRPr lang="zh-CN" altLang="en-US" sz="400"/>
            </a:p>
          </p:txBody>
        </p:sp>
        <p:sp>
          <p:nvSpPr>
            <p:cNvPr id="131075" name="矩形 131074"/>
            <p:cNvSpPr/>
            <p:nvPr/>
          </p:nvSpPr>
          <p:spPr>
            <a:xfrm>
              <a:off x="3360" y="288"/>
              <a:ext cx="288" cy="720"/>
            </a:xfrm>
            <a:prstGeom prst="rect">
              <a:avLst/>
            </a:prstGeom>
            <a:noFill/>
            <a:ln w="38100" cap="flat" cmpd="sng">
              <a:solidFill>
                <a:schemeClr val="tx1"/>
              </a:solidFill>
              <a:prstDash val="solid"/>
              <a:miter/>
              <a:headEnd type="none" w="med" len="med"/>
              <a:tailEnd type="none" w="med" len="med"/>
            </a:ln>
          </p:spPr>
          <p:txBody>
            <a:bodyPr/>
            <a:lstStyle/>
            <a:p>
              <a:endParaRPr lang="zh-CN" altLang="en-US" sz="400"/>
            </a:p>
          </p:txBody>
        </p:sp>
        <p:sp>
          <p:nvSpPr>
            <p:cNvPr id="131076" name="直接连接符 131075"/>
            <p:cNvSpPr/>
            <p:nvPr/>
          </p:nvSpPr>
          <p:spPr>
            <a:xfrm flipH="1">
              <a:off x="816" y="384"/>
              <a:ext cx="2544" cy="0"/>
            </a:xfrm>
            <a:prstGeom prst="line">
              <a:avLst/>
            </a:prstGeom>
            <a:ln w="38100" cap="flat" cmpd="sng">
              <a:solidFill>
                <a:schemeClr val="tx1"/>
              </a:solidFill>
              <a:prstDash val="solid"/>
              <a:headEnd type="none" w="med" len="med"/>
              <a:tailEnd type="none" w="med" len="med"/>
            </a:ln>
          </p:spPr>
        </p:sp>
        <p:sp>
          <p:nvSpPr>
            <p:cNvPr id="131077" name="直接连接符 131076"/>
            <p:cNvSpPr/>
            <p:nvPr/>
          </p:nvSpPr>
          <p:spPr>
            <a:xfrm flipH="1">
              <a:off x="816" y="528"/>
              <a:ext cx="2544" cy="0"/>
            </a:xfrm>
            <a:prstGeom prst="line">
              <a:avLst/>
            </a:prstGeom>
            <a:ln w="38100" cap="flat" cmpd="sng">
              <a:solidFill>
                <a:schemeClr val="tx1"/>
              </a:solidFill>
              <a:prstDash val="solid"/>
              <a:headEnd type="none" w="med" len="med"/>
              <a:tailEnd type="none" w="med" len="med"/>
            </a:ln>
          </p:spPr>
        </p:sp>
        <p:sp>
          <p:nvSpPr>
            <p:cNvPr id="131078" name="直接连接符 131077"/>
            <p:cNvSpPr/>
            <p:nvPr/>
          </p:nvSpPr>
          <p:spPr>
            <a:xfrm flipH="1">
              <a:off x="816" y="912"/>
              <a:ext cx="2544" cy="0"/>
            </a:xfrm>
            <a:prstGeom prst="line">
              <a:avLst/>
            </a:prstGeom>
            <a:ln w="38100" cap="flat" cmpd="sng">
              <a:solidFill>
                <a:schemeClr val="tx1"/>
              </a:solidFill>
              <a:prstDash val="solid"/>
              <a:headEnd type="none" w="med" len="med"/>
              <a:tailEnd type="none" w="med" len="med"/>
            </a:ln>
          </p:spPr>
        </p:sp>
        <p:sp>
          <p:nvSpPr>
            <p:cNvPr id="131079" name="直接连接符 131078"/>
            <p:cNvSpPr/>
            <p:nvPr/>
          </p:nvSpPr>
          <p:spPr>
            <a:xfrm flipH="1">
              <a:off x="816" y="768"/>
              <a:ext cx="2544" cy="0"/>
            </a:xfrm>
            <a:prstGeom prst="line">
              <a:avLst/>
            </a:prstGeom>
            <a:ln w="38100" cap="flat" cmpd="sng">
              <a:solidFill>
                <a:schemeClr val="tx1"/>
              </a:solidFill>
              <a:prstDash val="solid"/>
              <a:headEnd type="none" w="med" len="med"/>
              <a:tailEnd type="none" w="med" len="med"/>
            </a:ln>
          </p:spPr>
        </p:sp>
        <p:sp>
          <p:nvSpPr>
            <p:cNvPr id="131080" name="椭圆 131079"/>
            <p:cNvSpPr/>
            <p:nvPr/>
          </p:nvSpPr>
          <p:spPr>
            <a:xfrm>
              <a:off x="3670" y="576"/>
              <a:ext cx="74" cy="96"/>
            </a:xfrm>
            <a:prstGeom prst="ellipse">
              <a:avLst/>
            </a:prstGeom>
            <a:noFill/>
            <a:ln w="38100" cap="flat" cmpd="sng">
              <a:solidFill>
                <a:schemeClr val="tx1"/>
              </a:solidFill>
              <a:prstDash val="solid"/>
              <a:headEnd type="none" w="med" len="med"/>
              <a:tailEnd type="none" w="med" len="med"/>
            </a:ln>
          </p:spPr>
          <p:txBody>
            <a:bodyPr/>
            <a:lstStyle/>
            <a:p>
              <a:endParaRPr lang="zh-CN" altLang="en-US" sz="400"/>
            </a:p>
          </p:txBody>
        </p:sp>
        <p:sp>
          <p:nvSpPr>
            <p:cNvPr id="131081" name="直接连接符 131080"/>
            <p:cNvSpPr/>
            <p:nvPr/>
          </p:nvSpPr>
          <p:spPr>
            <a:xfrm>
              <a:off x="3744" y="624"/>
              <a:ext cx="432" cy="0"/>
            </a:xfrm>
            <a:prstGeom prst="line">
              <a:avLst/>
            </a:prstGeom>
            <a:ln w="38100" cap="flat" cmpd="sng">
              <a:solidFill>
                <a:schemeClr val="tx1"/>
              </a:solidFill>
              <a:prstDash val="solid"/>
              <a:headEnd type="none" w="med" len="med"/>
              <a:tailEnd type="none" w="med" len="med"/>
            </a:ln>
          </p:spPr>
        </p:sp>
        <p:sp>
          <p:nvSpPr>
            <p:cNvPr id="131082" name="直接连接符 131081"/>
            <p:cNvSpPr/>
            <p:nvPr/>
          </p:nvSpPr>
          <p:spPr>
            <a:xfrm>
              <a:off x="3072" y="912"/>
              <a:ext cx="0" cy="192"/>
            </a:xfrm>
            <a:prstGeom prst="line">
              <a:avLst/>
            </a:prstGeom>
            <a:ln w="38100" cap="flat" cmpd="sng">
              <a:solidFill>
                <a:schemeClr val="tx1"/>
              </a:solidFill>
              <a:prstDash val="solid"/>
              <a:headEnd type="none" w="med" len="med"/>
              <a:tailEnd type="none" w="med" len="med"/>
            </a:ln>
          </p:spPr>
        </p:sp>
        <p:sp>
          <p:nvSpPr>
            <p:cNvPr id="131083" name="直接连接符 131082"/>
            <p:cNvSpPr/>
            <p:nvPr/>
          </p:nvSpPr>
          <p:spPr>
            <a:xfrm>
              <a:off x="3072" y="1104"/>
              <a:ext cx="1104" cy="0"/>
            </a:xfrm>
            <a:prstGeom prst="line">
              <a:avLst/>
            </a:prstGeom>
            <a:ln w="38100" cap="flat" cmpd="sng">
              <a:solidFill>
                <a:schemeClr val="tx1"/>
              </a:solidFill>
              <a:prstDash val="solid"/>
              <a:headEnd type="none" w="med" len="med"/>
              <a:tailEnd type="none" w="med" len="med"/>
            </a:ln>
          </p:spPr>
        </p:sp>
        <p:sp>
          <p:nvSpPr>
            <p:cNvPr id="131084" name="直接连接符 131083"/>
            <p:cNvSpPr/>
            <p:nvPr/>
          </p:nvSpPr>
          <p:spPr>
            <a:xfrm>
              <a:off x="2928" y="768"/>
              <a:ext cx="0" cy="864"/>
            </a:xfrm>
            <a:prstGeom prst="line">
              <a:avLst/>
            </a:prstGeom>
            <a:ln w="38100" cap="flat" cmpd="sng">
              <a:solidFill>
                <a:schemeClr val="tx1"/>
              </a:solidFill>
              <a:prstDash val="solid"/>
              <a:headEnd type="none" w="med" len="med"/>
              <a:tailEnd type="none" w="med" len="med"/>
            </a:ln>
          </p:spPr>
        </p:sp>
        <p:sp>
          <p:nvSpPr>
            <p:cNvPr id="131086" name="直接连接符 131085"/>
            <p:cNvSpPr/>
            <p:nvPr/>
          </p:nvSpPr>
          <p:spPr>
            <a:xfrm>
              <a:off x="2688" y="528"/>
              <a:ext cx="0" cy="1632"/>
            </a:xfrm>
            <a:prstGeom prst="line">
              <a:avLst/>
            </a:prstGeom>
            <a:ln w="38100" cap="flat" cmpd="sng">
              <a:solidFill>
                <a:schemeClr val="tx1"/>
              </a:solidFill>
              <a:prstDash val="solid"/>
              <a:headEnd type="none" w="med" len="med"/>
              <a:tailEnd type="none" w="med" len="med"/>
            </a:ln>
          </p:spPr>
        </p:sp>
        <p:sp>
          <p:nvSpPr>
            <p:cNvPr id="131087" name="直接连接符 131086"/>
            <p:cNvSpPr/>
            <p:nvPr/>
          </p:nvSpPr>
          <p:spPr>
            <a:xfrm>
              <a:off x="2544" y="384"/>
              <a:ext cx="0" cy="2352"/>
            </a:xfrm>
            <a:prstGeom prst="line">
              <a:avLst/>
            </a:prstGeom>
            <a:ln w="38100" cap="flat" cmpd="sng">
              <a:solidFill>
                <a:schemeClr val="tx1"/>
              </a:solidFill>
              <a:prstDash val="solid"/>
              <a:headEnd type="none" w="med" len="med"/>
              <a:tailEnd type="none" w="med" len="med"/>
            </a:ln>
          </p:spPr>
        </p:sp>
        <p:sp>
          <p:nvSpPr>
            <p:cNvPr id="131088" name="直接连接符 131087"/>
            <p:cNvSpPr/>
            <p:nvPr/>
          </p:nvSpPr>
          <p:spPr>
            <a:xfrm>
              <a:off x="2928" y="1632"/>
              <a:ext cx="1248" cy="0"/>
            </a:xfrm>
            <a:prstGeom prst="line">
              <a:avLst/>
            </a:prstGeom>
            <a:ln w="38100" cap="flat" cmpd="sng">
              <a:solidFill>
                <a:schemeClr val="tx1"/>
              </a:solidFill>
              <a:prstDash val="solid"/>
              <a:headEnd type="none" w="med" len="med"/>
              <a:tailEnd type="none" w="med" len="med"/>
            </a:ln>
          </p:spPr>
        </p:sp>
        <p:sp>
          <p:nvSpPr>
            <p:cNvPr id="131090" name="直接连接符 131089"/>
            <p:cNvSpPr/>
            <p:nvPr/>
          </p:nvSpPr>
          <p:spPr>
            <a:xfrm>
              <a:off x="2688" y="2160"/>
              <a:ext cx="1488" cy="0"/>
            </a:xfrm>
            <a:prstGeom prst="line">
              <a:avLst/>
            </a:prstGeom>
            <a:ln w="38100" cap="flat" cmpd="sng">
              <a:solidFill>
                <a:schemeClr val="tx1"/>
              </a:solidFill>
              <a:prstDash val="solid"/>
              <a:headEnd type="none" w="med" len="med"/>
              <a:tailEnd type="none" w="med" len="med"/>
            </a:ln>
          </p:spPr>
        </p:sp>
        <p:sp>
          <p:nvSpPr>
            <p:cNvPr id="131092" name="直接连接符 131091"/>
            <p:cNvSpPr/>
            <p:nvPr/>
          </p:nvSpPr>
          <p:spPr>
            <a:xfrm>
              <a:off x="2544" y="2736"/>
              <a:ext cx="1632" cy="0"/>
            </a:xfrm>
            <a:prstGeom prst="line">
              <a:avLst/>
            </a:prstGeom>
            <a:ln w="38100" cap="flat" cmpd="sng">
              <a:solidFill>
                <a:schemeClr val="tx1"/>
              </a:solidFill>
              <a:prstDash val="solid"/>
              <a:headEnd type="none" w="med" len="med"/>
              <a:tailEnd type="none" w="med" len="med"/>
            </a:ln>
          </p:spPr>
        </p:sp>
        <p:sp>
          <p:nvSpPr>
            <p:cNvPr id="131095" name="直接连接符 131094"/>
            <p:cNvSpPr/>
            <p:nvPr/>
          </p:nvSpPr>
          <p:spPr>
            <a:xfrm>
              <a:off x="2016" y="1248"/>
              <a:ext cx="0" cy="288"/>
            </a:xfrm>
            <a:prstGeom prst="line">
              <a:avLst/>
            </a:prstGeom>
            <a:ln w="38100" cap="flat" cmpd="sng">
              <a:solidFill>
                <a:schemeClr val="tx1"/>
              </a:solidFill>
              <a:prstDash val="solid"/>
              <a:headEnd type="none" w="med" len="med"/>
              <a:tailEnd type="none" w="med" len="med"/>
            </a:ln>
          </p:spPr>
        </p:sp>
        <p:grpSp>
          <p:nvGrpSpPr>
            <p:cNvPr id="131099" name="组合 131098"/>
            <p:cNvGrpSpPr/>
            <p:nvPr/>
          </p:nvGrpSpPr>
          <p:grpSpPr>
            <a:xfrm>
              <a:off x="1248" y="1104"/>
              <a:ext cx="2928" cy="432"/>
              <a:chOff x="1248" y="1344"/>
              <a:chExt cx="2928" cy="432"/>
            </a:xfrm>
          </p:grpSpPr>
          <p:sp>
            <p:nvSpPr>
              <p:cNvPr id="131085" name="直接连接符 131084"/>
              <p:cNvSpPr/>
              <p:nvPr/>
            </p:nvSpPr>
            <p:spPr>
              <a:xfrm>
                <a:off x="1584" y="1632"/>
                <a:ext cx="2592" cy="0"/>
              </a:xfrm>
              <a:prstGeom prst="line">
                <a:avLst/>
              </a:prstGeom>
              <a:ln w="38100" cap="flat" cmpd="sng">
                <a:solidFill>
                  <a:schemeClr val="tx1"/>
                </a:solidFill>
                <a:prstDash val="solid"/>
                <a:headEnd type="none" w="med" len="med"/>
                <a:tailEnd type="none" w="med" len="med"/>
              </a:ln>
            </p:spPr>
          </p:sp>
          <p:sp>
            <p:nvSpPr>
              <p:cNvPr id="131094" name="等腰三角形 131093"/>
              <p:cNvSpPr/>
              <p:nvPr/>
            </p:nvSpPr>
            <p:spPr>
              <a:xfrm rot="-5400000">
                <a:off x="1992" y="1512"/>
                <a:ext cx="288" cy="240"/>
              </a:xfrm>
              <a:prstGeom prst="triangle">
                <a:avLst>
                  <a:gd name="adj" fmla="val 50000"/>
                </a:avLst>
              </a:prstGeom>
              <a:noFill/>
              <a:ln w="38100" cap="flat" cmpd="sng">
                <a:solidFill>
                  <a:schemeClr val="tx1"/>
                </a:solidFill>
                <a:prstDash val="solid"/>
                <a:miter/>
                <a:headEnd type="none" w="med" len="med"/>
                <a:tailEnd type="none" w="med" len="med"/>
              </a:ln>
            </p:spPr>
            <p:txBody>
              <a:bodyPr/>
              <a:lstStyle/>
              <a:p>
                <a:endParaRPr lang="zh-CN" altLang="en-US" sz="400"/>
              </a:p>
            </p:txBody>
          </p:sp>
          <p:sp>
            <p:nvSpPr>
              <p:cNvPr id="131096" name="直接连接符 131095"/>
              <p:cNvSpPr/>
              <p:nvPr/>
            </p:nvSpPr>
            <p:spPr>
              <a:xfrm flipH="1" flipV="1">
                <a:off x="2016" y="1344"/>
                <a:ext cx="144" cy="96"/>
              </a:xfrm>
              <a:prstGeom prst="line">
                <a:avLst/>
              </a:prstGeom>
              <a:ln w="38100" cap="flat" cmpd="sng">
                <a:solidFill>
                  <a:schemeClr val="tx1"/>
                </a:solidFill>
                <a:prstDash val="solid"/>
                <a:headEnd type="none" w="med" len="med"/>
                <a:tailEnd type="triangle" w="med" len="med"/>
              </a:ln>
            </p:spPr>
          </p:sp>
          <p:sp>
            <p:nvSpPr>
              <p:cNvPr id="131097" name="直接连接符 131096"/>
              <p:cNvSpPr/>
              <p:nvPr/>
            </p:nvSpPr>
            <p:spPr>
              <a:xfrm flipH="1" flipV="1">
                <a:off x="1968" y="1392"/>
                <a:ext cx="144" cy="96"/>
              </a:xfrm>
              <a:prstGeom prst="line">
                <a:avLst/>
              </a:prstGeom>
              <a:ln w="38100" cap="flat" cmpd="sng">
                <a:solidFill>
                  <a:schemeClr val="tx1"/>
                </a:solidFill>
                <a:prstDash val="solid"/>
                <a:headEnd type="none" w="med" len="med"/>
                <a:tailEnd type="triangle" w="med" len="med"/>
              </a:ln>
            </p:spPr>
          </p:sp>
          <p:sp>
            <p:nvSpPr>
              <p:cNvPr id="131098" name="矩形 131097"/>
              <p:cNvSpPr/>
              <p:nvPr/>
            </p:nvSpPr>
            <p:spPr>
              <a:xfrm>
                <a:off x="1248" y="1584"/>
                <a:ext cx="336" cy="144"/>
              </a:xfrm>
              <a:prstGeom prst="rect">
                <a:avLst/>
              </a:prstGeom>
              <a:noFill/>
              <a:ln w="38100" cap="flat" cmpd="sng">
                <a:solidFill>
                  <a:schemeClr val="tx1"/>
                </a:solidFill>
                <a:prstDash val="solid"/>
                <a:miter/>
                <a:headEnd type="none" w="med" len="med"/>
                <a:tailEnd type="none" w="med" len="med"/>
              </a:ln>
            </p:spPr>
            <p:txBody>
              <a:bodyPr/>
              <a:lstStyle/>
              <a:p>
                <a:endParaRPr lang="zh-CN" altLang="en-US" sz="400"/>
              </a:p>
            </p:txBody>
          </p:sp>
        </p:grpSp>
        <p:grpSp>
          <p:nvGrpSpPr>
            <p:cNvPr id="131100" name="组合 131099"/>
            <p:cNvGrpSpPr/>
            <p:nvPr/>
          </p:nvGrpSpPr>
          <p:grpSpPr>
            <a:xfrm>
              <a:off x="1248" y="1632"/>
              <a:ext cx="2928" cy="432"/>
              <a:chOff x="1248" y="1344"/>
              <a:chExt cx="2928" cy="432"/>
            </a:xfrm>
          </p:grpSpPr>
          <p:sp>
            <p:nvSpPr>
              <p:cNvPr id="131101" name="直接连接符 131100"/>
              <p:cNvSpPr/>
              <p:nvPr/>
            </p:nvSpPr>
            <p:spPr>
              <a:xfrm>
                <a:off x="1584" y="1632"/>
                <a:ext cx="2592" cy="0"/>
              </a:xfrm>
              <a:prstGeom prst="line">
                <a:avLst/>
              </a:prstGeom>
              <a:ln w="38100" cap="flat" cmpd="sng">
                <a:solidFill>
                  <a:schemeClr val="tx1"/>
                </a:solidFill>
                <a:prstDash val="solid"/>
                <a:headEnd type="none" w="med" len="med"/>
                <a:tailEnd type="none" w="med" len="med"/>
              </a:ln>
            </p:spPr>
          </p:sp>
          <p:sp>
            <p:nvSpPr>
              <p:cNvPr id="131102" name="等腰三角形 131101"/>
              <p:cNvSpPr/>
              <p:nvPr/>
            </p:nvSpPr>
            <p:spPr>
              <a:xfrm rot="-5400000">
                <a:off x="1992" y="1512"/>
                <a:ext cx="288" cy="240"/>
              </a:xfrm>
              <a:prstGeom prst="triangle">
                <a:avLst>
                  <a:gd name="adj" fmla="val 50000"/>
                </a:avLst>
              </a:prstGeom>
              <a:noFill/>
              <a:ln w="38100" cap="flat" cmpd="sng">
                <a:solidFill>
                  <a:schemeClr val="tx1"/>
                </a:solidFill>
                <a:prstDash val="solid"/>
                <a:miter/>
                <a:headEnd type="none" w="med" len="med"/>
                <a:tailEnd type="none" w="med" len="med"/>
              </a:ln>
            </p:spPr>
            <p:txBody>
              <a:bodyPr/>
              <a:lstStyle/>
              <a:p>
                <a:endParaRPr lang="zh-CN" altLang="en-US" sz="400"/>
              </a:p>
            </p:txBody>
          </p:sp>
          <p:sp>
            <p:nvSpPr>
              <p:cNvPr id="131103" name="直接连接符 131102"/>
              <p:cNvSpPr/>
              <p:nvPr/>
            </p:nvSpPr>
            <p:spPr>
              <a:xfrm flipH="1" flipV="1">
                <a:off x="2016" y="1344"/>
                <a:ext cx="144" cy="96"/>
              </a:xfrm>
              <a:prstGeom prst="line">
                <a:avLst/>
              </a:prstGeom>
              <a:ln w="38100" cap="flat" cmpd="sng">
                <a:solidFill>
                  <a:schemeClr val="tx1"/>
                </a:solidFill>
                <a:prstDash val="solid"/>
                <a:headEnd type="none" w="med" len="med"/>
                <a:tailEnd type="triangle" w="med" len="med"/>
              </a:ln>
            </p:spPr>
          </p:sp>
          <p:sp>
            <p:nvSpPr>
              <p:cNvPr id="131104" name="直接连接符 131103"/>
              <p:cNvSpPr/>
              <p:nvPr/>
            </p:nvSpPr>
            <p:spPr>
              <a:xfrm flipH="1" flipV="1">
                <a:off x="1968" y="1392"/>
                <a:ext cx="144" cy="96"/>
              </a:xfrm>
              <a:prstGeom prst="line">
                <a:avLst/>
              </a:prstGeom>
              <a:ln w="38100" cap="flat" cmpd="sng">
                <a:solidFill>
                  <a:schemeClr val="tx1"/>
                </a:solidFill>
                <a:prstDash val="solid"/>
                <a:headEnd type="none" w="med" len="med"/>
                <a:tailEnd type="triangle" w="med" len="med"/>
              </a:ln>
            </p:spPr>
          </p:sp>
          <p:sp>
            <p:nvSpPr>
              <p:cNvPr id="131105" name="矩形 131104"/>
              <p:cNvSpPr/>
              <p:nvPr/>
            </p:nvSpPr>
            <p:spPr>
              <a:xfrm>
                <a:off x="1248" y="1584"/>
                <a:ext cx="336" cy="144"/>
              </a:xfrm>
              <a:prstGeom prst="rect">
                <a:avLst/>
              </a:prstGeom>
              <a:noFill/>
              <a:ln w="38100" cap="flat" cmpd="sng">
                <a:solidFill>
                  <a:schemeClr val="tx1"/>
                </a:solidFill>
                <a:prstDash val="solid"/>
                <a:miter/>
                <a:headEnd type="none" w="med" len="med"/>
                <a:tailEnd type="none" w="med" len="med"/>
              </a:ln>
            </p:spPr>
            <p:txBody>
              <a:bodyPr/>
              <a:lstStyle/>
              <a:p>
                <a:endParaRPr lang="zh-CN" altLang="en-US" sz="400"/>
              </a:p>
            </p:txBody>
          </p:sp>
        </p:grpSp>
        <p:grpSp>
          <p:nvGrpSpPr>
            <p:cNvPr id="131106" name="组合 131105"/>
            <p:cNvGrpSpPr/>
            <p:nvPr/>
          </p:nvGrpSpPr>
          <p:grpSpPr>
            <a:xfrm>
              <a:off x="1248" y="2160"/>
              <a:ext cx="2928" cy="432"/>
              <a:chOff x="1248" y="1344"/>
              <a:chExt cx="2928" cy="432"/>
            </a:xfrm>
          </p:grpSpPr>
          <p:sp>
            <p:nvSpPr>
              <p:cNvPr id="131107" name="直接连接符 131106"/>
              <p:cNvSpPr/>
              <p:nvPr/>
            </p:nvSpPr>
            <p:spPr>
              <a:xfrm>
                <a:off x="1584" y="1632"/>
                <a:ext cx="2592" cy="0"/>
              </a:xfrm>
              <a:prstGeom prst="line">
                <a:avLst/>
              </a:prstGeom>
              <a:ln w="38100" cap="flat" cmpd="sng">
                <a:solidFill>
                  <a:schemeClr val="tx1"/>
                </a:solidFill>
                <a:prstDash val="solid"/>
                <a:headEnd type="none" w="med" len="med"/>
                <a:tailEnd type="none" w="med" len="med"/>
              </a:ln>
            </p:spPr>
          </p:sp>
          <p:sp>
            <p:nvSpPr>
              <p:cNvPr id="131108" name="等腰三角形 131107"/>
              <p:cNvSpPr/>
              <p:nvPr/>
            </p:nvSpPr>
            <p:spPr>
              <a:xfrm rot="-5400000">
                <a:off x="1992" y="1512"/>
                <a:ext cx="288" cy="240"/>
              </a:xfrm>
              <a:prstGeom prst="triangle">
                <a:avLst>
                  <a:gd name="adj" fmla="val 50000"/>
                </a:avLst>
              </a:prstGeom>
              <a:noFill/>
              <a:ln w="38100" cap="flat" cmpd="sng">
                <a:solidFill>
                  <a:schemeClr val="tx1"/>
                </a:solidFill>
                <a:prstDash val="solid"/>
                <a:miter/>
                <a:headEnd type="none" w="med" len="med"/>
                <a:tailEnd type="none" w="med" len="med"/>
              </a:ln>
            </p:spPr>
            <p:txBody>
              <a:bodyPr/>
              <a:lstStyle/>
              <a:p>
                <a:endParaRPr lang="zh-CN" altLang="en-US" sz="400"/>
              </a:p>
            </p:txBody>
          </p:sp>
          <p:sp>
            <p:nvSpPr>
              <p:cNvPr id="131109" name="直接连接符 131108"/>
              <p:cNvSpPr/>
              <p:nvPr/>
            </p:nvSpPr>
            <p:spPr>
              <a:xfrm flipH="1" flipV="1">
                <a:off x="2016" y="1344"/>
                <a:ext cx="144" cy="96"/>
              </a:xfrm>
              <a:prstGeom prst="line">
                <a:avLst/>
              </a:prstGeom>
              <a:ln w="38100" cap="flat" cmpd="sng">
                <a:solidFill>
                  <a:schemeClr val="tx1"/>
                </a:solidFill>
                <a:prstDash val="solid"/>
                <a:headEnd type="none" w="med" len="med"/>
                <a:tailEnd type="triangle" w="med" len="med"/>
              </a:ln>
            </p:spPr>
          </p:sp>
          <p:sp>
            <p:nvSpPr>
              <p:cNvPr id="131110" name="直接连接符 131109"/>
              <p:cNvSpPr/>
              <p:nvPr/>
            </p:nvSpPr>
            <p:spPr>
              <a:xfrm flipH="1" flipV="1">
                <a:off x="1968" y="1392"/>
                <a:ext cx="144" cy="96"/>
              </a:xfrm>
              <a:prstGeom prst="line">
                <a:avLst/>
              </a:prstGeom>
              <a:ln w="38100" cap="flat" cmpd="sng">
                <a:solidFill>
                  <a:schemeClr val="tx1"/>
                </a:solidFill>
                <a:prstDash val="solid"/>
                <a:headEnd type="none" w="med" len="med"/>
                <a:tailEnd type="triangle" w="med" len="med"/>
              </a:ln>
            </p:spPr>
          </p:sp>
          <p:sp>
            <p:nvSpPr>
              <p:cNvPr id="131111" name="矩形 131110"/>
              <p:cNvSpPr/>
              <p:nvPr/>
            </p:nvSpPr>
            <p:spPr>
              <a:xfrm>
                <a:off x="1248" y="1584"/>
                <a:ext cx="336" cy="144"/>
              </a:xfrm>
              <a:prstGeom prst="rect">
                <a:avLst/>
              </a:prstGeom>
              <a:noFill/>
              <a:ln w="38100" cap="flat" cmpd="sng">
                <a:solidFill>
                  <a:schemeClr val="tx1"/>
                </a:solidFill>
                <a:prstDash val="solid"/>
                <a:miter/>
                <a:headEnd type="none" w="med" len="med"/>
                <a:tailEnd type="none" w="med" len="med"/>
              </a:ln>
            </p:spPr>
            <p:txBody>
              <a:bodyPr/>
              <a:lstStyle/>
              <a:p>
                <a:endParaRPr lang="zh-CN" altLang="en-US" sz="400"/>
              </a:p>
            </p:txBody>
          </p:sp>
        </p:grpSp>
        <p:grpSp>
          <p:nvGrpSpPr>
            <p:cNvPr id="131112" name="组合 131111"/>
            <p:cNvGrpSpPr/>
            <p:nvPr/>
          </p:nvGrpSpPr>
          <p:grpSpPr>
            <a:xfrm>
              <a:off x="1248" y="2688"/>
              <a:ext cx="2928" cy="432"/>
              <a:chOff x="1248" y="1344"/>
              <a:chExt cx="2928" cy="432"/>
            </a:xfrm>
          </p:grpSpPr>
          <p:sp>
            <p:nvSpPr>
              <p:cNvPr id="131113" name="直接连接符 131112"/>
              <p:cNvSpPr/>
              <p:nvPr/>
            </p:nvSpPr>
            <p:spPr>
              <a:xfrm>
                <a:off x="1584" y="1632"/>
                <a:ext cx="2592" cy="0"/>
              </a:xfrm>
              <a:prstGeom prst="line">
                <a:avLst/>
              </a:prstGeom>
              <a:ln w="38100" cap="flat" cmpd="sng">
                <a:solidFill>
                  <a:schemeClr val="tx1"/>
                </a:solidFill>
                <a:prstDash val="solid"/>
                <a:headEnd type="none" w="med" len="med"/>
                <a:tailEnd type="none" w="med" len="med"/>
              </a:ln>
            </p:spPr>
          </p:sp>
          <p:sp>
            <p:nvSpPr>
              <p:cNvPr id="131114" name="等腰三角形 131113"/>
              <p:cNvSpPr/>
              <p:nvPr/>
            </p:nvSpPr>
            <p:spPr>
              <a:xfrm rot="-5400000">
                <a:off x="1992" y="1512"/>
                <a:ext cx="288" cy="240"/>
              </a:xfrm>
              <a:prstGeom prst="triangle">
                <a:avLst>
                  <a:gd name="adj" fmla="val 50000"/>
                </a:avLst>
              </a:prstGeom>
              <a:noFill/>
              <a:ln w="38100" cap="flat" cmpd="sng">
                <a:solidFill>
                  <a:schemeClr val="tx1"/>
                </a:solidFill>
                <a:prstDash val="solid"/>
                <a:miter/>
                <a:headEnd type="none" w="med" len="med"/>
                <a:tailEnd type="none" w="med" len="med"/>
              </a:ln>
            </p:spPr>
            <p:txBody>
              <a:bodyPr/>
              <a:lstStyle/>
              <a:p>
                <a:endParaRPr lang="zh-CN" altLang="en-US" sz="400"/>
              </a:p>
            </p:txBody>
          </p:sp>
          <p:sp>
            <p:nvSpPr>
              <p:cNvPr id="131115" name="直接连接符 131114"/>
              <p:cNvSpPr/>
              <p:nvPr/>
            </p:nvSpPr>
            <p:spPr>
              <a:xfrm flipH="1" flipV="1">
                <a:off x="2016" y="1344"/>
                <a:ext cx="144" cy="96"/>
              </a:xfrm>
              <a:prstGeom prst="line">
                <a:avLst/>
              </a:prstGeom>
              <a:ln w="38100" cap="flat" cmpd="sng">
                <a:solidFill>
                  <a:schemeClr val="tx1"/>
                </a:solidFill>
                <a:prstDash val="solid"/>
                <a:headEnd type="none" w="med" len="med"/>
                <a:tailEnd type="triangle" w="med" len="med"/>
              </a:ln>
            </p:spPr>
          </p:sp>
          <p:sp>
            <p:nvSpPr>
              <p:cNvPr id="131116" name="直接连接符 131115"/>
              <p:cNvSpPr/>
              <p:nvPr/>
            </p:nvSpPr>
            <p:spPr>
              <a:xfrm flipH="1" flipV="1">
                <a:off x="1968" y="1392"/>
                <a:ext cx="144" cy="96"/>
              </a:xfrm>
              <a:prstGeom prst="line">
                <a:avLst/>
              </a:prstGeom>
              <a:ln w="38100" cap="flat" cmpd="sng">
                <a:solidFill>
                  <a:schemeClr val="tx1"/>
                </a:solidFill>
                <a:prstDash val="solid"/>
                <a:headEnd type="none" w="med" len="med"/>
                <a:tailEnd type="triangle" w="med" len="med"/>
              </a:ln>
            </p:spPr>
          </p:sp>
          <p:sp>
            <p:nvSpPr>
              <p:cNvPr id="131117" name="矩形 131116"/>
              <p:cNvSpPr/>
              <p:nvPr/>
            </p:nvSpPr>
            <p:spPr>
              <a:xfrm>
                <a:off x="1248" y="1584"/>
                <a:ext cx="336" cy="144"/>
              </a:xfrm>
              <a:prstGeom prst="rect">
                <a:avLst/>
              </a:prstGeom>
              <a:noFill/>
              <a:ln w="38100" cap="flat" cmpd="sng">
                <a:solidFill>
                  <a:schemeClr val="tx1"/>
                </a:solidFill>
                <a:prstDash val="solid"/>
                <a:miter/>
                <a:headEnd type="none" w="med" len="med"/>
                <a:tailEnd type="none" w="med" len="med"/>
              </a:ln>
            </p:spPr>
            <p:txBody>
              <a:bodyPr/>
              <a:lstStyle/>
              <a:p>
                <a:endParaRPr lang="zh-CN" altLang="en-US" sz="400"/>
              </a:p>
            </p:txBody>
          </p:sp>
        </p:grpSp>
        <p:sp>
          <p:nvSpPr>
            <p:cNvPr id="131118" name="直接连接符 131117"/>
            <p:cNvSpPr/>
            <p:nvPr/>
          </p:nvSpPr>
          <p:spPr>
            <a:xfrm>
              <a:off x="816" y="1392"/>
              <a:ext cx="0" cy="1728"/>
            </a:xfrm>
            <a:prstGeom prst="line">
              <a:avLst/>
            </a:prstGeom>
            <a:ln w="38100" cap="flat" cmpd="sng">
              <a:solidFill>
                <a:schemeClr val="tx1"/>
              </a:solidFill>
              <a:prstDash val="solid"/>
              <a:headEnd type="none" w="med" len="med"/>
              <a:tailEnd type="none" w="med" len="med"/>
            </a:ln>
          </p:spPr>
        </p:sp>
        <p:sp>
          <p:nvSpPr>
            <p:cNvPr id="131119" name="直接连接符 131118"/>
            <p:cNvSpPr/>
            <p:nvPr/>
          </p:nvSpPr>
          <p:spPr>
            <a:xfrm flipH="1">
              <a:off x="816" y="1392"/>
              <a:ext cx="432" cy="0"/>
            </a:xfrm>
            <a:prstGeom prst="line">
              <a:avLst/>
            </a:prstGeom>
            <a:ln w="38100" cap="flat" cmpd="sng">
              <a:solidFill>
                <a:schemeClr val="tx1"/>
              </a:solidFill>
              <a:prstDash val="solid"/>
              <a:headEnd type="none" w="med" len="med"/>
              <a:tailEnd type="none" w="med" len="med"/>
            </a:ln>
          </p:spPr>
        </p:sp>
        <p:sp>
          <p:nvSpPr>
            <p:cNvPr id="131120" name="直接连接符 131119"/>
            <p:cNvSpPr/>
            <p:nvPr/>
          </p:nvSpPr>
          <p:spPr>
            <a:xfrm flipH="1">
              <a:off x="816" y="1920"/>
              <a:ext cx="432" cy="0"/>
            </a:xfrm>
            <a:prstGeom prst="line">
              <a:avLst/>
            </a:prstGeom>
            <a:ln w="38100" cap="flat" cmpd="sng">
              <a:solidFill>
                <a:schemeClr val="tx1"/>
              </a:solidFill>
              <a:prstDash val="solid"/>
              <a:headEnd type="none" w="med" len="med"/>
              <a:tailEnd type="none" w="med" len="med"/>
            </a:ln>
          </p:spPr>
        </p:sp>
        <p:sp>
          <p:nvSpPr>
            <p:cNvPr id="131121" name="直接连接符 131120"/>
            <p:cNvSpPr/>
            <p:nvPr/>
          </p:nvSpPr>
          <p:spPr>
            <a:xfrm flipH="1">
              <a:off x="816" y="2496"/>
              <a:ext cx="432" cy="0"/>
            </a:xfrm>
            <a:prstGeom prst="line">
              <a:avLst/>
            </a:prstGeom>
            <a:ln w="38100" cap="flat" cmpd="sng">
              <a:solidFill>
                <a:schemeClr val="tx1"/>
              </a:solidFill>
              <a:prstDash val="solid"/>
              <a:headEnd type="none" w="med" len="med"/>
              <a:tailEnd type="none" w="med" len="med"/>
            </a:ln>
          </p:spPr>
        </p:sp>
        <p:sp>
          <p:nvSpPr>
            <p:cNvPr id="131122" name="直接连接符 131121"/>
            <p:cNvSpPr/>
            <p:nvPr/>
          </p:nvSpPr>
          <p:spPr>
            <a:xfrm flipH="1">
              <a:off x="816" y="2976"/>
              <a:ext cx="432" cy="0"/>
            </a:xfrm>
            <a:prstGeom prst="line">
              <a:avLst/>
            </a:prstGeom>
            <a:ln w="38100" cap="flat" cmpd="sng">
              <a:solidFill>
                <a:schemeClr val="tx1"/>
              </a:solidFill>
              <a:prstDash val="solid"/>
              <a:headEnd type="none" w="med" len="med"/>
              <a:tailEnd type="none" w="med" len="med"/>
            </a:ln>
          </p:spPr>
        </p:sp>
        <p:sp>
          <p:nvSpPr>
            <p:cNvPr id="131124" name="直接连接符 131123"/>
            <p:cNvSpPr/>
            <p:nvPr/>
          </p:nvSpPr>
          <p:spPr>
            <a:xfrm>
              <a:off x="720" y="3120"/>
              <a:ext cx="192" cy="0"/>
            </a:xfrm>
            <a:prstGeom prst="line">
              <a:avLst/>
            </a:prstGeom>
            <a:ln w="38100" cap="flat" cmpd="sng">
              <a:solidFill>
                <a:schemeClr val="tx1"/>
              </a:solidFill>
              <a:prstDash val="solid"/>
              <a:headEnd type="none" w="med" len="med"/>
              <a:tailEnd type="none" w="med" len="med"/>
            </a:ln>
          </p:spPr>
        </p:sp>
        <p:sp>
          <p:nvSpPr>
            <p:cNvPr id="131125" name="直接连接符 131124"/>
            <p:cNvSpPr/>
            <p:nvPr/>
          </p:nvSpPr>
          <p:spPr>
            <a:xfrm>
              <a:off x="733" y="3168"/>
              <a:ext cx="144" cy="0"/>
            </a:xfrm>
            <a:prstGeom prst="line">
              <a:avLst/>
            </a:prstGeom>
            <a:ln w="38100" cap="flat" cmpd="sng">
              <a:solidFill>
                <a:schemeClr val="tx1"/>
              </a:solidFill>
              <a:prstDash val="solid"/>
              <a:headEnd type="none" w="med" len="med"/>
              <a:tailEnd type="none" w="med" len="med"/>
            </a:ln>
          </p:spPr>
        </p:sp>
        <p:sp>
          <p:nvSpPr>
            <p:cNvPr id="131126" name="直接连接符 131125"/>
            <p:cNvSpPr/>
            <p:nvPr/>
          </p:nvSpPr>
          <p:spPr>
            <a:xfrm>
              <a:off x="768" y="3216"/>
              <a:ext cx="96" cy="0"/>
            </a:xfrm>
            <a:prstGeom prst="line">
              <a:avLst/>
            </a:prstGeom>
            <a:ln w="38100" cap="flat" cmpd="sng">
              <a:solidFill>
                <a:schemeClr val="tx1"/>
              </a:solidFill>
              <a:prstDash val="solid"/>
              <a:headEnd type="none" w="med" len="med"/>
              <a:tailEnd type="none" w="med" len="med"/>
            </a:ln>
          </p:spPr>
        </p:sp>
        <p:sp>
          <p:nvSpPr>
            <p:cNvPr id="131128" name="文本框 131127"/>
            <p:cNvSpPr txBox="1"/>
            <p:nvPr/>
          </p:nvSpPr>
          <p:spPr>
            <a:xfrm>
              <a:off x="4165" y="513"/>
              <a:ext cx="554" cy="222"/>
            </a:xfrm>
            <a:prstGeom prst="rect">
              <a:avLst/>
            </a:prstGeom>
            <a:noFill/>
            <a:ln w="38100">
              <a:noFill/>
            </a:ln>
          </p:spPr>
          <p:txBody>
            <a:bodyPr wrap="square" anchor="ctr">
              <a:spAutoFit/>
            </a:bodyPr>
            <a:lstStyle/>
            <a:p>
              <a:pPr algn="ctr" eaLnBrk="1" hangingPunct="1"/>
              <a:r>
                <a:rPr lang="en-US" altLang="zh-CN" sz="600" b="1">
                  <a:latin typeface="Times New Roman" panose="02020603050405020304" charset="0"/>
                  <a:ea typeface="宋体" panose="02010600030101010101" pitchFamily="2" charset="-122"/>
                </a:rPr>
                <a:t>INT0</a:t>
              </a:r>
            </a:p>
          </p:txBody>
        </p:sp>
        <p:sp>
          <p:nvSpPr>
            <p:cNvPr id="131129" name="文本框 131128"/>
            <p:cNvSpPr txBox="1"/>
            <p:nvPr/>
          </p:nvSpPr>
          <p:spPr>
            <a:xfrm>
              <a:off x="4171" y="995"/>
              <a:ext cx="473" cy="222"/>
            </a:xfrm>
            <a:prstGeom prst="rect">
              <a:avLst/>
            </a:prstGeom>
            <a:noFill/>
            <a:ln w="38100">
              <a:noFill/>
            </a:ln>
          </p:spPr>
          <p:txBody>
            <a:bodyPr wrap="square" anchor="ctr">
              <a:spAutoFit/>
            </a:bodyPr>
            <a:lstStyle/>
            <a:p>
              <a:pPr algn="ctr" eaLnBrk="1" hangingPunct="1"/>
              <a:r>
                <a:rPr lang="en-US" altLang="zh-CN" sz="600" b="1">
                  <a:latin typeface="Times New Roman" panose="02020603050405020304" charset="0"/>
                  <a:ea typeface="宋体" panose="02010600030101010101" pitchFamily="2" charset="-122"/>
                </a:rPr>
                <a:t>P1.0</a:t>
              </a:r>
            </a:p>
          </p:txBody>
        </p:sp>
        <p:sp>
          <p:nvSpPr>
            <p:cNvPr id="131130" name="文本框 131129"/>
            <p:cNvSpPr txBox="1"/>
            <p:nvPr/>
          </p:nvSpPr>
          <p:spPr>
            <a:xfrm>
              <a:off x="4176" y="1283"/>
              <a:ext cx="473" cy="222"/>
            </a:xfrm>
            <a:prstGeom prst="rect">
              <a:avLst/>
            </a:prstGeom>
            <a:noFill/>
            <a:ln w="38100">
              <a:noFill/>
            </a:ln>
          </p:spPr>
          <p:txBody>
            <a:bodyPr wrap="square" anchor="ctr">
              <a:spAutoFit/>
            </a:bodyPr>
            <a:lstStyle/>
            <a:p>
              <a:pPr eaLnBrk="1" hangingPunct="1"/>
              <a:r>
                <a:rPr lang="en-US" altLang="zh-CN" sz="600" b="1">
                  <a:latin typeface="Times New Roman" panose="02020603050405020304" charset="0"/>
                  <a:ea typeface="宋体" panose="02010600030101010101" pitchFamily="2" charset="-122"/>
                </a:rPr>
                <a:t>P1.1</a:t>
              </a:r>
            </a:p>
          </p:txBody>
        </p:sp>
        <p:sp>
          <p:nvSpPr>
            <p:cNvPr id="131131" name="文本框 131130"/>
            <p:cNvSpPr txBox="1"/>
            <p:nvPr/>
          </p:nvSpPr>
          <p:spPr>
            <a:xfrm>
              <a:off x="4176" y="1523"/>
              <a:ext cx="473" cy="222"/>
            </a:xfrm>
            <a:prstGeom prst="rect">
              <a:avLst/>
            </a:prstGeom>
            <a:noFill/>
            <a:ln w="38100">
              <a:noFill/>
            </a:ln>
          </p:spPr>
          <p:txBody>
            <a:bodyPr wrap="square" anchor="ctr">
              <a:spAutoFit/>
            </a:bodyPr>
            <a:lstStyle/>
            <a:p>
              <a:pPr eaLnBrk="1" hangingPunct="1"/>
              <a:r>
                <a:rPr lang="en-US" altLang="zh-CN" sz="600" b="1">
                  <a:latin typeface="Times New Roman" panose="02020603050405020304" charset="0"/>
                  <a:ea typeface="宋体" panose="02010600030101010101" pitchFamily="2" charset="-122"/>
                </a:rPr>
                <a:t>P1.2</a:t>
              </a:r>
            </a:p>
          </p:txBody>
        </p:sp>
        <p:sp>
          <p:nvSpPr>
            <p:cNvPr id="131132" name="文本框 131131"/>
            <p:cNvSpPr txBox="1"/>
            <p:nvPr/>
          </p:nvSpPr>
          <p:spPr>
            <a:xfrm>
              <a:off x="4193" y="1763"/>
              <a:ext cx="473" cy="222"/>
            </a:xfrm>
            <a:prstGeom prst="rect">
              <a:avLst/>
            </a:prstGeom>
            <a:noFill/>
            <a:ln w="38100">
              <a:noFill/>
            </a:ln>
          </p:spPr>
          <p:txBody>
            <a:bodyPr wrap="square" anchor="ctr">
              <a:spAutoFit/>
            </a:bodyPr>
            <a:lstStyle/>
            <a:p>
              <a:pPr eaLnBrk="1" hangingPunct="1"/>
              <a:r>
                <a:rPr lang="en-US" altLang="zh-CN" sz="600" b="1">
                  <a:latin typeface="Times New Roman" panose="02020603050405020304" charset="0"/>
                  <a:ea typeface="宋体" panose="02010600030101010101" pitchFamily="2" charset="-122"/>
                </a:rPr>
                <a:t>P1.3</a:t>
              </a:r>
            </a:p>
          </p:txBody>
        </p:sp>
        <p:sp>
          <p:nvSpPr>
            <p:cNvPr id="131133" name="文本框 131132"/>
            <p:cNvSpPr txBox="1"/>
            <p:nvPr/>
          </p:nvSpPr>
          <p:spPr>
            <a:xfrm>
              <a:off x="4176" y="2051"/>
              <a:ext cx="473" cy="222"/>
            </a:xfrm>
            <a:prstGeom prst="rect">
              <a:avLst/>
            </a:prstGeom>
            <a:noFill/>
            <a:ln w="38100">
              <a:noFill/>
            </a:ln>
          </p:spPr>
          <p:txBody>
            <a:bodyPr wrap="square" anchor="ctr">
              <a:spAutoFit/>
            </a:bodyPr>
            <a:lstStyle/>
            <a:p>
              <a:pPr eaLnBrk="1" hangingPunct="1"/>
              <a:r>
                <a:rPr lang="en-US" altLang="zh-CN" sz="600" b="1">
                  <a:latin typeface="Times New Roman" panose="02020603050405020304" charset="0"/>
                  <a:ea typeface="宋体" panose="02010600030101010101" pitchFamily="2" charset="-122"/>
                </a:rPr>
                <a:t>P1.4</a:t>
              </a:r>
            </a:p>
          </p:txBody>
        </p:sp>
        <p:sp>
          <p:nvSpPr>
            <p:cNvPr id="131134" name="文本框 131133"/>
            <p:cNvSpPr txBox="1"/>
            <p:nvPr/>
          </p:nvSpPr>
          <p:spPr>
            <a:xfrm>
              <a:off x="4176" y="2339"/>
              <a:ext cx="473" cy="222"/>
            </a:xfrm>
            <a:prstGeom prst="rect">
              <a:avLst/>
            </a:prstGeom>
            <a:noFill/>
            <a:ln w="38100">
              <a:noFill/>
            </a:ln>
          </p:spPr>
          <p:txBody>
            <a:bodyPr wrap="square" anchor="ctr">
              <a:spAutoFit/>
            </a:bodyPr>
            <a:lstStyle/>
            <a:p>
              <a:pPr eaLnBrk="1" hangingPunct="1"/>
              <a:r>
                <a:rPr lang="en-US" altLang="zh-CN" sz="600" b="1">
                  <a:latin typeface="Times New Roman" panose="02020603050405020304" charset="0"/>
                  <a:ea typeface="宋体" panose="02010600030101010101" pitchFamily="2" charset="-122"/>
                </a:rPr>
                <a:t>P1.5</a:t>
              </a:r>
            </a:p>
          </p:txBody>
        </p:sp>
        <p:sp>
          <p:nvSpPr>
            <p:cNvPr id="131135" name="文本框 131134"/>
            <p:cNvSpPr txBox="1"/>
            <p:nvPr/>
          </p:nvSpPr>
          <p:spPr>
            <a:xfrm>
              <a:off x="4193" y="2579"/>
              <a:ext cx="473" cy="222"/>
            </a:xfrm>
            <a:prstGeom prst="rect">
              <a:avLst/>
            </a:prstGeom>
            <a:noFill/>
            <a:ln w="38100">
              <a:noFill/>
            </a:ln>
          </p:spPr>
          <p:txBody>
            <a:bodyPr wrap="square" anchor="ctr">
              <a:spAutoFit/>
            </a:bodyPr>
            <a:lstStyle/>
            <a:p>
              <a:pPr eaLnBrk="1" hangingPunct="1"/>
              <a:r>
                <a:rPr lang="en-US" altLang="zh-CN" sz="600" b="1">
                  <a:latin typeface="Times New Roman" panose="02020603050405020304" charset="0"/>
                  <a:ea typeface="宋体" panose="02010600030101010101" pitchFamily="2" charset="-122"/>
                </a:rPr>
                <a:t>P1.6</a:t>
              </a:r>
            </a:p>
          </p:txBody>
        </p:sp>
        <p:sp>
          <p:nvSpPr>
            <p:cNvPr id="131136" name="文本框 131135"/>
            <p:cNvSpPr txBox="1"/>
            <p:nvPr/>
          </p:nvSpPr>
          <p:spPr>
            <a:xfrm>
              <a:off x="4176" y="2867"/>
              <a:ext cx="473" cy="222"/>
            </a:xfrm>
            <a:prstGeom prst="rect">
              <a:avLst/>
            </a:prstGeom>
            <a:noFill/>
            <a:ln w="38100">
              <a:noFill/>
            </a:ln>
          </p:spPr>
          <p:txBody>
            <a:bodyPr wrap="square" anchor="ctr">
              <a:spAutoFit/>
            </a:bodyPr>
            <a:lstStyle/>
            <a:p>
              <a:pPr eaLnBrk="1" hangingPunct="1"/>
              <a:r>
                <a:rPr lang="en-US" altLang="zh-CN" sz="600" b="1">
                  <a:latin typeface="Times New Roman" panose="02020603050405020304" charset="0"/>
                  <a:ea typeface="宋体" panose="02010600030101010101" pitchFamily="2" charset="-122"/>
                </a:rPr>
                <a:t>P1.7</a:t>
              </a:r>
            </a:p>
          </p:txBody>
        </p:sp>
        <p:sp>
          <p:nvSpPr>
            <p:cNvPr id="131137" name="文本框 131136"/>
            <p:cNvSpPr txBox="1"/>
            <p:nvPr/>
          </p:nvSpPr>
          <p:spPr>
            <a:xfrm>
              <a:off x="4636" y="1714"/>
              <a:ext cx="500" cy="222"/>
            </a:xfrm>
            <a:prstGeom prst="rect">
              <a:avLst/>
            </a:prstGeom>
            <a:noFill/>
            <a:ln w="38100">
              <a:noFill/>
            </a:ln>
          </p:spPr>
          <p:txBody>
            <a:bodyPr wrap="square" anchor="ctr">
              <a:spAutoFit/>
            </a:bodyPr>
            <a:lstStyle/>
            <a:p>
              <a:pPr algn="ctr" eaLnBrk="1" hangingPunct="1"/>
              <a:r>
                <a:rPr lang="en-US" altLang="zh-CN" sz="600" b="1">
                  <a:latin typeface="Times New Roman" panose="02020603050405020304" charset="0"/>
                  <a:ea typeface="宋体" panose="02010600030101010101" pitchFamily="2" charset="-122"/>
                </a:rPr>
                <a:t>8031</a:t>
              </a:r>
            </a:p>
          </p:txBody>
        </p:sp>
        <p:sp>
          <p:nvSpPr>
            <p:cNvPr id="131138" name="直接连接符 131137"/>
            <p:cNvSpPr/>
            <p:nvPr/>
          </p:nvSpPr>
          <p:spPr>
            <a:xfrm>
              <a:off x="4213" y="480"/>
              <a:ext cx="443" cy="0"/>
            </a:xfrm>
            <a:prstGeom prst="line">
              <a:avLst/>
            </a:prstGeom>
            <a:ln w="38100" cap="flat" cmpd="sng">
              <a:solidFill>
                <a:schemeClr val="tx1"/>
              </a:solidFill>
              <a:prstDash val="solid"/>
              <a:headEnd type="none" w="med" len="med"/>
              <a:tailEnd type="none" w="med" len="med"/>
            </a:ln>
          </p:spPr>
        </p:sp>
        <p:sp>
          <p:nvSpPr>
            <p:cNvPr id="131139" name="文本框 131138"/>
            <p:cNvSpPr txBox="1"/>
            <p:nvPr/>
          </p:nvSpPr>
          <p:spPr>
            <a:xfrm>
              <a:off x="1281" y="1089"/>
              <a:ext cx="255" cy="222"/>
            </a:xfrm>
            <a:prstGeom prst="rect">
              <a:avLst/>
            </a:prstGeom>
            <a:noFill/>
            <a:ln w="9525">
              <a:noFill/>
            </a:ln>
          </p:spPr>
          <p:txBody>
            <a:bodyPr wrap="square" anchor="ctr">
              <a:spAutoFit/>
            </a:bodyPr>
            <a:lstStyle/>
            <a:p>
              <a:pPr algn="ctr" eaLnBrk="1" hangingPunct="1"/>
              <a:r>
                <a:rPr lang="en-US" altLang="zh-CN" sz="600" b="1">
                  <a:latin typeface="Times New Roman" panose="02020603050405020304" charset="0"/>
                  <a:ea typeface="宋体" panose="02010600030101010101" pitchFamily="2" charset="-122"/>
                </a:rPr>
                <a:t>R</a:t>
              </a:r>
            </a:p>
          </p:txBody>
        </p:sp>
        <p:sp>
          <p:nvSpPr>
            <p:cNvPr id="131140" name="文本框 131139"/>
            <p:cNvSpPr txBox="1"/>
            <p:nvPr/>
          </p:nvSpPr>
          <p:spPr>
            <a:xfrm>
              <a:off x="1281" y="1617"/>
              <a:ext cx="255" cy="222"/>
            </a:xfrm>
            <a:prstGeom prst="rect">
              <a:avLst/>
            </a:prstGeom>
            <a:noFill/>
            <a:ln w="9525">
              <a:noFill/>
            </a:ln>
          </p:spPr>
          <p:txBody>
            <a:bodyPr wrap="square" anchor="ctr">
              <a:spAutoFit/>
            </a:bodyPr>
            <a:lstStyle/>
            <a:p>
              <a:pPr algn="ctr" eaLnBrk="1" hangingPunct="1"/>
              <a:r>
                <a:rPr lang="en-US" altLang="zh-CN" sz="600" b="1">
                  <a:latin typeface="Times New Roman" panose="02020603050405020304" charset="0"/>
                  <a:ea typeface="宋体" panose="02010600030101010101" pitchFamily="2" charset="-122"/>
                </a:rPr>
                <a:t>R</a:t>
              </a:r>
            </a:p>
          </p:txBody>
        </p:sp>
        <p:sp>
          <p:nvSpPr>
            <p:cNvPr id="131141" name="文本框 131140"/>
            <p:cNvSpPr txBox="1"/>
            <p:nvPr/>
          </p:nvSpPr>
          <p:spPr>
            <a:xfrm>
              <a:off x="1296" y="2145"/>
              <a:ext cx="255" cy="222"/>
            </a:xfrm>
            <a:prstGeom prst="rect">
              <a:avLst/>
            </a:prstGeom>
            <a:noFill/>
            <a:ln w="9525">
              <a:noFill/>
            </a:ln>
          </p:spPr>
          <p:txBody>
            <a:bodyPr wrap="square" anchor="ctr">
              <a:spAutoFit/>
            </a:bodyPr>
            <a:lstStyle/>
            <a:p>
              <a:pPr algn="ctr" eaLnBrk="1" hangingPunct="1"/>
              <a:r>
                <a:rPr lang="en-US" altLang="zh-CN" sz="600" b="1">
                  <a:latin typeface="Times New Roman" panose="02020603050405020304" charset="0"/>
                  <a:ea typeface="宋体" panose="02010600030101010101" pitchFamily="2" charset="-122"/>
                </a:rPr>
                <a:t>R</a:t>
              </a:r>
            </a:p>
          </p:txBody>
        </p:sp>
        <p:sp>
          <p:nvSpPr>
            <p:cNvPr id="131142" name="文本框 131141"/>
            <p:cNvSpPr txBox="1"/>
            <p:nvPr/>
          </p:nvSpPr>
          <p:spPr>
            <a:xfrm>
              <a:off x="1296" y="2673"/>
              <a:ext cx="255" cy="222"/>
            </a:xfrm>
            <a:prstGeom prst="rect">
              <a:avLst/>
            </a:prstGeom>
            <a:noFill/>
            <a:ln w="9525">
              <a:noFill/>
            </a:ln>
          </p:spPr>
          <p:txBody>
            <a:bodyPr wrap="square" anchor="ctr">
              <a:spAutoFit/>
            </a:bodyPr>
            <a:lstStyle/>
            <a:p>
              <a:pPr algn="ctr" eaLnBrk="1" hangingPunct="1"/>
              <a:r>
                <a:rPr lang="en-US" altLang="zh-CN" sz="600" b="1">
                  <a:latin typeface="Times New Roman" panose="02020603050405020304" charset="0"/>
                  <a:ea typeface="宋体" panose="02010600030101010101" pitchFamily="2" charset="-122"/>
                </a:rPr>
                <a:t>R</a:t>
              </a:r>
            </a:p>
          </p:txBody>
        </p:sp>
        <p:sp>
          <p:nvSpPr>
            <p:cNvPr id="131143" name="文本框 131142"/>
            <p:cNvSpPr txBox="1"/>
            <p:nvPr/>
          </p:nvSpPr>
          <p:spPr>
            <a:xfrm>
              <a:off x="1553" y="947"/>
              <a:ext cx="511" cy="222"/>
            </a:xfrm>
            <a:prstGeom prst="rect">
              <a:avLst/>
            </a:prstGeom>
            <a:noFill/>
            <a:ln w="9525">
              <a:noFill/>
            </a:ln>
          </p:spPr>
          <p:txBody>
            <a:bodyPr wrap="square" anchor="ctr">
              <a:spAutoFit/>
            </a:bodyPr>
            <a:lstStyle/>
            <a:p>
              <a:pPr algn="ctr" eaLnBrk="1" hangingPunct="1"/>
              <a:r>
                <a:rPr lang="en-US" altLang="zh-CN" sz="600" b="1">
                  <a:solidFill>
                    <a:srgbClr val="FF0000"/>
                  </a:solidFill>
                  <a:latin typeface="Times New Roman" panose="02020603050405020304" charset="0"/>
                  <a:ea typeface="宋体" panose="02010600030101010101" pitchFamily="2" charset="-122"/>
                </a:rPr>
                <a:t>LED</a:t>
              </a:r>
            </a:p>
          </p:txBody>
        </p:sp>
        <p:sp>
          <p:nvSpPr>
            <p:cNvPr id="131144" name="文本框 131143"/>
            <p:cNvSpPr txBox="1"/>
            <p:nvPr/>
          </p:nvSpPr>
          <p:spPr>
            <a:xfrm>
              <a:off x="1536" y="1475"/>
              <a:ext cx="511" cy="222"/>
            </a:xfrm>
            <a:prstGeom prst="rect">
              <a:avLst/>
            </a:prstGeom>
            <a:noFill/>
            <a:ln w="9525">
              <a:noFill/>
            </a:ln>
          </p:spPr>
          <p:txBody>
            <a:bodyPr wrap="square" anchor="ctr">
              <a:spAutoFit/>
            </a:bodyPr>
            <a:lstStyle/>
            <a:p>
              <a:pPr algn="ctr" eaLnBrk="1" hangingPunct="1"/>
              <a:r>
                <a:rPr lang="en-US" altLang="zh-CN" sz="600" b="1">
                  <a:solidFill>
                    <a:srgbClr val="FF0000"/>
                  </a:solidFill>
                  <a:latin typeface="Times New Roman" panose="02020603050405020304" charset="0"/>
                  <a:ea typeface="宋体" panose="02010600030101010101" pitchFamily="2" charset="-122"/>
                </a:rPr>
                <a:t>LED</a:t>
              </a:r>
            </a:p>
          </p:txBody>
        </p:sp>
        <p:sp>
          <p:nvSpPr>
            <p:cNvPr id="131145" name="文本框 131144"/>
            <p:cNvSpPr txBox="1"/>
            <p:nvPr/>
          </p:nvSpPr>
          <p:spPr>
            <a:xfrm>
              <a:off x="1536" y="2003"/>
              <a:ext cx="511" cy="222"/>
            </a:xfrm>
            <a:prstGeom prst="rect">
              <a:avLst/>
            </a:prstGeom>
            <a:noFill/>
            <a:ln w="9525">
              <a:noFill/>
            </a:ln>
          </p:spPr>
          <p:txBody>
            <a:bodyPr wrap="square" anchor="ctr">
              <a:spAutoFit/>
            </a:bodyPr>
            <a:lstStyle/>
            <a:p>
              <a:pPr algn="ctr" eaLnBrk="1" hangingPunct="1"/>
              <a:r>
                <a:rPr lang="en-US" altLang="zh-CN" sz="600" b="1">
                  <a:solidFill>
                    <a:srgbClr val="FF0000"/>
                  </a:solidFill>
                  <a:latin typeface="Times New Roman" panose="02020603050405020304" charset="0"/>
                  <a:ea typeface="宋体" panose="02010600030101010101" pitchFamily="2" charset="-122"/>
                </a:rPr>
                <a:t>LED</a:t>
              </a:r>
            </a:p>
          </p:txBody>
        </p:sp>
        <p:sp>
          <p:nvSpPr>
            <p:cNvPr id="131146" name="文本框 131145"/>
            <p:cNvSpPr txBox="1"/>
            <p:nvPr/>
          </p:nvSpPr>
          <p:spPr>
            <a:xfrm>
              <a:off x="1536" y="2531"/>
              <a:ext cx="511" cy="222"/>
            </a:xfrm>
            <a:prstGeom prst="rect">
              <a:avLst/>
            </a:prstGeom>
            <a:noFill/>
            <a:ln w="9525">
              <a:noFill/>
            </a:ln>
          </p:spPr>
          <p:txBody>
            <a:bodyPr wrap="square" anchor="ctr">
              <a:spAutoFit/>
            </a:bodyPr>
            <a:lstStyle/>
            <a:p>
              <a:pPr algn="ctr" eaLnBrk="1" hangingPunct="1"/>
              <a:r>
                <a:rPr lang="en-US" altLang="zh-CN" sz="600" b="1">
                  <a:solidFill>
                    <a:srgbClr val="FF0000"/>
                  </a:solidFill>
                  <a:latin typeface="Times New Roman" panose="02020603050405020304" charset="0"/>
                  <a:ea typeface="宋体" panose="02010600030101010101" pitchFamily="2" charset="-122"/>
                </a:rPr>
                <a:t>LED</a:t>
              </a:r>
            </a:p>
          </p:txBody>
        </p:sp>
        <p:sp>
          <p:nvSpPr>
            <p:cNvPr id="131147" name="直接连接符 131146"/>
            <p:cNvSpPr/>
            <p:nvPr/>
          </p:nvSpPr>
          <p:spPr>
            <a:xfrm>
              <a:off x="2016" y="1776"/>
              <a:ext cx="0" cy="288"/>
            </a:xfrm>
            <a:prstGeom prst="line">
              <a:avLst/>
            </a:prstGeom>
            <a:ln w="38100" cap="flat" cmpd="sng">
              <a:solidFill>
                <a:schemeClr val="tx1"/>
              </a:solidFill>
              <a:prstDash val="solid"/>
              <a:headEnd type="none" w="med" len="med"/>
              <a:tailEnd type="none" w="med" len="med"/>
            </a:ln>
          </p:spPr>
        </p:sp>
        <p:sp>
          <p:nvSpPr>
            <p:cNvPr id="131148" name="直接连接符 131147"/>
            <p:cNvSpPr/>
            <p:nvPr/>
          </p:nvSpPr>
          <p:spPr>
            <a:xfrm>
              <a:off x="2016" y="2304"/>
              <a:ext cx="0" cy="288"/>
            </a:xfrm>
            <a:prstGeom prst="line">
              <a:avLst/>
            </a:prstGeom>
            <a:ln w="38100" cap="flat" cmpd="sng">
              <a:solidFill>
                <a:schemeClr val="tx1"/>
              </a:solidFill>
              <a:prstDash val="solid"/>
              <a:headEnd type="none" w="med" len="med"/>
              <a:tailEnd type="none" w="med" len="med"/>
            </a:ln>
          </p:spPr>
        </p:sp>
        <p:sp>
          <p:nvSpPr>
            <p:cNvPr id="131149" name="直接连接符 131148"/>
            <p:cNvSpPr/>
            <p:nvPr/>
          </p:nvSpPr>
          <p:spPr>
            <a:xfrm>
              <a:off x="2016" y="2832"/>
              <a:ext cx="0" cy="288"/>
            </a:xfrm>
            <a:prstGeom prst="line">
              <a:avLst/>
            </a:prstGeom>
            <a:ln w="38100" cap="flat" cmpd="sng">
              <a:solidFill>
                <a:schemeClr val="tx1"/>
              </a:solidFill>
              <a:prstDash val="solid"/>
              <a:headEnd type="none" w="med" len="med"/>
              <a:tailEnd type="none" w="med" len="med"/>
            </a:ln>
          </p:spPr>
        </p:sp>
        <p:sp>
          <p:nvSpPr>
            <p:cNvPr id="131151" name="矩形 131150"/>
            <p:cNvSpPr/>
            <p:nvPr/>
          </p:nvSpPr>
          <p:spPr>
            <a:xfrm>
              <a:off x="1863" y="3459"/>
              <a:ext cx="2786" cy="259"/>
            </a:xfrm>
            <a:prstGeom prst="rect">
              <a:avLst/>
            </a:prstGeom>
            <a:noFill/>
            <a:ln w="9525">
              <a:noFill/>
            </a:ln>
          </p:spPr>
          <p:txBody>
            <a:bodyPr wrap="square" anchor="ctr">
              <a:spAutoFit/>
            </a:bodyPr>
            <a:lstStyle/>
            <a:p>
              <a:pPr algn="ctr" eaLnBrk="1" hangingPunct="1"/>
              <a:r>
                <a:rPr lang="zh-CN" altLang="en-US" sz="800" b="1" dirty="0">
                  <a:solidFill>
                    <a:srgbClr val="000099"/>
                  </a:solidFill>
                  <a:latin typeface="Times New Roman" panose="02020603050405020304" charset="0"/>
                  <a:ea typeface="宋体" panose="02010600030101010101" pitchFamily="2" charset="-122"/>
                </a:rPr>
                <a:t>图</a:t>
              </a:r>
              <a:r>
                <a:rPr lang="en-US" altLang="zh-CN" sz="800" b="1" dirty="0">
                  <a:solidFill>
                    <a:srgbClr val="000099"/>
                  </a:solidFill>
                  <a:latin typeface="Times New Roman" panose="02020603050405020304" charset="0"/>
                  <a:ea typeface="宋体" panose="02010600030101010101" pitchFamily="2" charset="-122"/>
                </a:rPr>
                <a:t>5-15    </a:t>
              </a:r>
              <a:r>
                <a:rPr lang="zh-CN" altLang="en-US" sz="800" b="1" dirty="0">
                  <a:solidFill>
                    <a:srgbClr val="000099"/>
                  </a:solidFill>
                  <a:latin typeface="Times New Roman" panose="02020603050405020304" charset="0"/>
                  <a:ea typeface="宋体" panose="02010600030101010101" pitchFamily="2" charset="-122"/>
                </a:rPr>
                <a:t>利用中断显示系统故障</a:t>
              </a:r>
            </a:p>
          </p:txBody>
        </p:sp>
      </p:grpSp>
      <p:sp>
        <p:nvSpPr>
          <p:cNvPr id="123907" name="文本占位符 123906"/>
          <p:cNvSpPr>
            <a:spLocks noGrp="1"/>
          </p:cNvSpPr>
          <p:nvPr/>
        </p:nvSpPr>
        <p:spPr>
          <a:xfrm>
            <a:off x="397510" y="3837305"/>
            <a:ext cx="8077200" cy="2553335"/>
          </a:xfrm>
          <a:prstGeom prst="rect">
            <a:avLst/>
          </a:prstGeom>
        </p:spPr>
        <p:txBody>
          <a:bodyPr wrap="square" lIns="92075" tIns="46038" rIns="92075" bIns="46038">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36980" indent="-1236980">
              <a:buNone/>
            </a:pPr>
            <a:r>
              <a:rPr lang="en-US" altLang="zh-CN" sz="1600" b="1">
                <a:solidFill>
                  <a:srgbClr val="FF3300"/>
                </a:solidFill>
              </a:rPr>
              <a:t>INSER</a:t>
            </a:r>
            <a:r>
              <a:rPr lang="zh-CN" altLang="en-US" sz="1600" b="1">
                <a:solidFill>
                  <a:srgbClr val="000099"/>
                </a:solidFill>
              </a:rPr>
              <a:t>：</a:t>
            </a:r>
            <a:r>
              <a:rPr lang="en-US" altLang="zh-CN" sz="1600" b="1">
                <a:solidFill>
                  <a:srgbClr val="000099"/>
                </a:solidFill>
              </a:rPr>
              <a:t>JNB   P1.0</a:t>
            </a:r>
            <a:r>
              <a:rPr lang="zh-CN" altLang="en-US" sz="1600" b="1">
                <a:solidFill>
                  <a:srgbClr val="000099"/>
                </a:solidFill>
              </a:rPr>
              <a:t>，</a:t>
            </a:r>
            <a:r>
              <a:rPr lang="en-US" altLang="zh-CN" sz="1600" b="1">
                <a:solidFill>
                  <a:srgbClr val="000099"/>
                </a:solidFill>
              </a:rPr>
              <a:t>L1</a:t>
            </a:r>
            <a:r>
              <a:rPr lang="zh-CN" altLang="en-US" sz="1600" dirty="0">
                <a:solidFill>
                  <a:srgbClr val="000099"/>
                </a:solidFill>
              </a:rPr>
              <a:t>；查询中断源，（ </a:t>
            </a:r>
            <a:r>
              <a:rPr lang="en-US" altLang="zh-CN" sz="1600">
                <a:solidFill>
                  <a:srgbClr val="000099"/>
                </a:solidFill>
              </a:rPr>
              <a:t>P1.0</a:t>
            </a:r>
            <a:r>
              <a:rPr lang="zh-CN" altLang="en-US" sz="1600">
                <a:solidFill>
                  <a:srgbClr val="000099"/>
                </a:solidFill>
              </a:rPr>
              <a:t>）</a:t>
            </a:r>
            <a:r>
              <a:rPr lang="en-US" altLang="zh-CN" sz="1600">
                <a:solidFill>
                  <a:srgbClr val="000099"/>
                </a:solidFill>
              </a:rPr>
              <a:t>=0</a:t>
            </a:r>
            <a:r>
              <a:rPr lang="zh-CN" altLang="en-US" sz="1600">
                <a:solidFill>
                  <a:srgbClr val="000099"/>
                </a:solidFill>
              </a:rPr>
              <a:t>，转</a:t>
            </a:r>
            <a:r>
              <a:rPr lang="en-US" altLang="zh-CN" sz="1600">
                <a:solidFill>
                  <a:srgbClr val="000099"/>
                </a:solidFill>
              </a:rPr>
              <a:t>L1</a:t>
            </a:r>
          </a:p>
          <a:p>
            <a:pPr marL="1236980" indent="-1236980">
              <a:buNone/>
            </a:pPr>
            <a:r>
              <a:rPr lang="en-US" altLang="zh-CN" sz="1600">
                <a:solidFill>
                  <a:srgbClr val="000099"/>
                </a:solidFill>
              </a:rPr>
              <a:t>                 </a:t>
            </a:r>
            <a:r>
              <a:rPr lang="en-US" altLang="zh-CN" sz="1600" b="1">
                <a:solidFill>
                  <a:srgbClr val="000099"/>
                </a:solidFill>
              </a:rPr>
              <a:t>SETB   P1.1</a:t>
            </a:r>
            <a:r>
              <a:rPr lang="en-US" altLang="zh-CN" sz="1600" dirty="0">
                <a:solidFill>
                  <a:srgbClr val="000099"/>
                </a:solidFill>
              </a:rPr>
              <a:t>     </a:t>
            </a:r>
            <a:r>
              <a:rPr lang="zh-CN" altLang="en-US" sz="1600" dirty="0">
                <a:solidFill>
                  <a:srgbClr val="000099"/>
                </a:solidFill>
              </a:rPr>
              <a:t>；是</a:t>
            </a:r>
            <a:r>
              <a:rPr lang="en-US" altLang="zh-CN" sz="1600" dirty="0">
                <a:solidFill>
                  <a:srgbClr val="000099"/>
                </a:solidFill>
              </a:rPr>
              <a:t>P1.0</a:t>
            </a:r>
            <a:r>
              <a:rPr lang="zh-CN" altLang="en-US" sz="1600" dirty="0">
                <a:solidFill>
                  <a:srgbClr val="000099"/>
                </a:solidFill>
              </a:rPr>
              <a:t>引起的中断，使相应的二极管亮</a:t>
            </a:r>
          </a:p>
          <a:p>
            <a:pPr marL="1236980" indent="-1236980">
              <a:buNone/>
            </a:pPr>
            <a:r>
              <a:rPr lang="en-US" altLang="zh-CN" sz="1600" b="1">
                <a:solidFill>
                  <a:srgbClr val="000099"/>
                </a:solidFill>
              </a:rPr>
              <a:t>L1</a:t>
            </a:r>
            <a:r>
              <a:rPr lang="zh-CN" altLang="en-US" sz="1600" b="1">
                <a:solidFill>
                  <a:srgbClr val="000099"/>
                </a:solidFill>
              </a:rPr>
              <a:t>：       </a:t>
            </a:r>
            <a:r>
              <a:rPr lang="en-US" altLang="zh-CN" sz="1600" b="1">
                <a:solidFill>
                  <a:srgbClr val="000099"/>
                </a:solidFill>
              </a:rPr>
              <a:t>JNB   P1.2</a:t>
            </a:r>
            <a:r>
              <a:rPr lang="zh-CN" altLang="en-US" sz="1600" b="1">
                <a:solidFill>
                  <a:srgbClr val="000099"/>
                </a:solidFill>
              </a:rPr>
              <a:t>，</a:t>
            </a:r>
            <a:r>
              <a:rPr lang="en-US" altLang="zh-CN" sz="1600" b="1">
                <a:solidFill>
                  <a:srgbClr val="000099"/>
                </a:solidFill>
              </a:rPr>
              <a:t>L2</a:t>
            </a:r>
            <a:r>
              <a:rPr lang="zh-CN" altLang="en-US" sz="1600" dirty="0">
                <a:solidFill>
                  <a:srgbClr val="000099"/>
                </a:solidFill>
              </a:rPr>
              <a:t>；继续查询</a:t>
            </a:r>
            <a:endParaRPr lang="zh-CN" altLang="en-US" sz="1600">
              <a:solidFill>
                <a:srgbClr val="000099"/>
              </a:solidFill>
            </a:endParaRPr>
          </a:p>
          <a:p>
            <a:pPr marL="1236980" indent="-1236980">
              <a:buNone/>
            </a:pPr>
            <a:r>
              <a:rPr lang="zh-CN" altLang="en-US" sz="1600" dirty="0">
                <a:solidFill>
                  <a:srgbClr val="000099"/>
                </a:solidFill>
              </a:rPr>
              <a:t>             </a:t>
            </a:r>
            <a:r>
              <a:rPr lang="zh-CN" altLang="en-US" sz="1600">
                <a:solidFill>
                  <a:srgbClr val="000099"/>
                </a:solidFill>
              </a:rPr>
              <a:t>    </a:t>
            </a:r>
            <a:r>
              <a:rPr lang="en-US" altLang="zh-CN" sz="1600" b="1">
                <a:solidFill>
                  <a:srgbClr val="000099"/>
                </a:solidFill>
              </a:rPr>
              <a:t>SETB   P1.3 </a:t>
            </a:r>
            <a:r>
              <a:rPr lang="zh-CN" altLang="en-US" sz="1600" b="1">
                <a:solidFill>
                  <a:srgbClr val="000099"/>
                </a:solidFill>
              </a:rPr>
              <a:t>；</a:t>
            </a:r>
          </a:p>
          <a:p>
            <a:pPr marL="1236980" indent="-1236980">
              <a:buNone/>
            </a:pPr>
            <a:r>
              <a:rPr lang="en-US" altLang="zh-CN" sz="1600" b="1">
                <a:solidFill>
                  <a:srgbClr val="000099"/>
                </a:solidFill>
              </a:rPr>
              <a:t>L2</a:t>
            </a:r>
            <a:r>
              <a:rPr lang="zh-CN" altLang="en-US" sz="1600" b="1">
                <a:solidFill>
                  <a:srgbClr val="000099"/>
                </a:solidFill>
              </a:rPr>
              <a:t>：       </a:t>
            </a:r>
            <a:r>
              <a:rPr lang="en-US" altLang="zh-CN" sz="1600" b="1">
                <a:solidFill>
                  <a:srgbClr val="000099"/>
                </a:solidFill>
              </a:rPr>
              <a:t>JNB   P1.4</a:t>
            </a:r>
            <a:r>
              <a:rPr lang="zh-CN" altLang="en-US" sz="1600" b="1">
                <a:solidFill>
                  <a:srgbClr val="000099"/>
                </a:solidFill>
              </a:rPr>
              <a:t>，</a:t>
            </a:r>
            <a:r>
              <a:rPr lang="en-US" altLang="zh-CN" sz="1600" b="1">
                <a:solidFill>
                  <a:srgbClr val="000099"/>
                </a:solidFill>
              </a:rPr>
              <a:t>L3</a:t>
            </a:r>
          </a:p>
          <a:p>
            <a:pPr marL="1236980" indent="-1236980">
              <a:buNone/>
            </a:pPr>
            <a:r>
              <a:rPr lang="en-US" altLang="zh-CN" sz="1600" b="1">
                <a:solidFill>
                  <a:srgbClr val="000099"/>
                </a:solidFill>
              </a:rPr>
              <a:t>               SETB   P1.5</a:t>
            </a:r>
          </a:p>
          <a:p>
            <a:pPr marL="1236980" indent="-1236980">
              <a:buNone/>
            </a:pPr>
            <a:r>
              <a:rPr lang="en-US" altLang="zh-CN" sz="1600" b="1">
                <a:solidFill>
                  <a:srgbClr val="000099"/>
                </a:solidFill>
              </a:rPr>
              <a:t>L3</a:t>
            </a:r>
            <a:r>
              <a:rPr lang="zh-CN" altLang="en-US" sz="1600" b="1">
                <a:solidFill>
                  <a:srgbClr val="000099"/>
                </a:solidFill>
              </a:rPr>
              <a:t>：       </a:t>
            </a:r>
            <a:r>
              <a:rPr lang="en-US" altLang="zh-CN" sz="1600" b="1">
                <a:solidFill>
                  <a:srgbClr val="000099"/>
                </a:solidFill>
              </a:rPr>
              <a:t>JNB   P1.6</a:t>
            </a:r>
            <a:r>
              <a:rPr lang="zh-CN" altLang="en-US" sz="1600" b="1">
                <a:solidFill>
                  <a:srgbClr val="000099"/>
                </a:solidFill>
              </a:rPr>
              <a:t>，</a:t>
            </a:r>
            <a:r>
              <a:rPr lang="en-US" altLang="zh-CN" sz="1600" b="1">
                <a:solidFill>
                  <a:srgbClr val="000099"/>
                </a:solidFill>
              </a:rPr>
              <a:t>L4</a:t>
            </a:r>
            <a:r>
              <a:rPr lang="zh-CN" altLang="en-US" sz="1600" b="1">
                <a:solidFill>
                  <a:srgbClr val="000099"/>
                </a:solidFill>
              </a:rPr>
              <a:t>；</a:t>
            </a:r>
          </a:p>
          <a:p>
            <a:pPr marL="1236980" indent="-1236980">
              <a:buNone/>
            </a:pPr>
            <a:r>
              <a:rPr lang="zh-CN" altLang="en-US" sz="1600" b="1">
                <a:solidFill>
                  <a:srgbClr val="000099"/>
                </a:solidFill>
              </a:rPr>
              <a:t>               </a:t>
            </a:r>
            <a:r>
              <a:rPr lang="en-US" altLang="zh-CN" sz="1600" b="1">
                <a:solidFill>
                  <a:srgbClr val="000099"/>
                </a:solidFill>
              </a:rPr>
              <a:t>SETB   P1.7</a:t>
            </a:r>
          </a:p>
          <a:p>
            <a:pPr marL="1236980" indent="-1236980">
              <a:buNone/>
            </a:pPr>
            <a:r>
              <a:rPr lang="en-US" altLang="zh-CN" sz="1600" b="1" dirty="0">
                <a:solidFill>
                  <a:srgbClr val="000099"/>
                </a:solidFill>
              </a:rPr>
              <a:t>L4</a:t>
            </a:r>
            <a:r>
              <a:rPr lang="zh-CN" altLang="en-US" sz="1600" b="1" dirty="0">
                <a:solidFill>
                  <a:srgbClr val="000099"/>
                </a:solidFill>
              </a:rPr>
              <a:t>：      </a:t>
            </a:r>
            <a:r>
              <a:rPr lang="zh-CN" altLang="en-US" sz="1600" b="1">
                <a:solidFill>
                  <a:srgbClr val="000099"/>
                </a:solidFill>
              </a:rPr>
              <a:t> </a:t>
            </a:r>
            <a:r>
              <a:rPr lang="en-US" altLang="zh-CN" sz="1600" b="1">
                <a:solidFill>
                  <a:srgbClr val="000099"/>
                </a:solidFill>
              </a:rPr>
              <a:t>RETI</a:t>
            </a:r>
          </a:p>
          <a:p>
            <a:pPr marL="1236980" indent="-1236980">
              <a:buNone/>
            </a:pPr>
            <a:r>
              <a:rPr lang="en-US" altLang="zh-CN" sz="1600" b="1">
                <a:solidFill>
                  <a:srgbClr val="000099"/>
                </a:solidFill>
              </a:rPr>
              <a:t>               END</a:t>
            </a:r>
          </a:p>
        </p:txBody>
      </p:sp>
      <p:sp>
        <p:nvSpPr>
          <p:cNvPr id="3" name="灯片编号占位符 2"/>
          <p:cNvSpPr>
            <a:spLocks noGrp="1"/>
          </p:cNvSpPr>
          <p:nvPr>
            <p:ph type="sldNum" sz="quarter" idx="7"/>
          </p:nvPr>
        </p:nvSpPr>
        <p:spPr/>
        <p:txBody>
          <a:bodyPr/>
          <a:lstStyle/>
          <a:p>
            <a:pPr marL="25400">
              <a:lnSpc>
                <a:spcPct val="100000"/>
              </a:lnSpc>
              <a:spcBef>
                <a:spcPts val="185"/>
              </a:spcBef>
            </a:pPr>
            <a:fld id="{81D60167-4931-47E6-BA6A-407CBD079E47}" type="slidenum">
              <a:rPr spc="-5" dirty="0"/>
              <a:t>35</a:t>
            </a:fld>
            <a:endParaRPr spc="-5" dirty="0"/>
          </a:p>
        </p:txBody>
      </p:sp>
    </p:spTree>
  </p:cSld>
  <p:clrMapOvr>
    <a:masterClrMapping/>
  </p:clrMapOvr>
  <p:transition advClick="0">
    <p:cut thruBlk="1"/>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p:sp>
        <p:nvSpPr>
          <p:cNvPr id="3" name="文本占位符 2"/>
          <p:cNvSpPr>
            <a:spLocks noGrp="1"/>
          </p:cNvSpPr>
          <p:nvPr>
            <p:ph type="body" idx="1"/>
          </p:nvPr>
        </p:nvSpPr>
        <p:spPr>
          <a:xfrm>
            <a:off x="1756410" y="1371600"/>
            <a:ext cx="3958590" cy="3447098"/>
          </a:xfrm>
        </p:spPr>
        <p:txBody>
          <a:bodyPr/>
          <a:lstStyle/>
          <a:p>
            <a:r>
              <a:rPr lang="en-US" altLang="zh-CN" sz="3200" dirty="0"/>
              <a:t>1</a:t>
            </a:r>
          </a:p>
          <a:p>
            <a:r>
              <a:rPr lang="en-US" altLang="zh-CN" sz="3200" dirty="0"/>
              <a:t>4</a:t>
            </a:r>
          </a:p>
          <a:p>
            <a:r>
              <a:rPr lang="en-US" altLang="zh-CN" sz="3200" dirty="0"/>
              <a:t>8</a:t>
            </a:r>
          </a:p>
          <a:p>
            <a:r>
              <a:rPr lang="en-US" altLang="zh-CN" sz="3200" dirty="0"/>
              <a:t>13</a:t>
            </a:r>
            <a:r>
              <a:rPr lang="zh-CN" altLang="en-US" sz="3200" dirty="0"/>
              <a:t>（</a:t>
            </a:r>
            <a:r>
              <a:rPr lang="en-US" altLang="zh-CN" sz="3200" dirty="0"/>
              <a:t>1</a:t>
            </a:r>
            <a:r>
              <a:rPr lang="zh-CN" altLang="en-US" sz="3200" dirty="0"/>
              <a:t>）（</a:t>
            </a:r>
            <a:r>
              <a:rPr lang="en-US" altLang="zh-CN" sz="3200" dirty="0"/>
              <a:t>2</a:t>
            </a:r>
            <a:r>
              <a:rPr lang="zh-CN" altLang="en-US" sz="3200" dirty="0"/>
              <a:t>）（</a:t>
            </a:r>
            <a:r>
              <a:rPr lang="en-US" altLang="zh-CN" sz="3200" dirty="0"/>
              <a:t>3</a:t>
            </a:r>
            <a:r>
              <a:rPr lang="zh-CN" altLang="en-US" sz="3200" dirty="0"/>
              <a:t>）</a:t>
            </a:r>
            <a:endParaRPr lang="en-US" altLang="zh-CN" sz="3200" dirty="0"/>
          </a:p>
          <a:p>
            <a:r>
              <a:rPr lang="en-US" altLang="zh-CN" sz="3200" dirty="0"/>
              <a:t>15</a:t>
            </a:r>
          </a:p>
          <a:p>
            <a:r>
              <a:rPr lang="en-US" altLang="zh-CN" sz="3200" dirty="0"/>
              <a:t>16</a:t>
            </a:r>
            <a:endParaRPr lang="zh-CN" altLang="en-US" sz="3200" dirty="0"/>
          </a:p>
        </p:txBody>
      </p:sp>
      <p:sp>
        <p:nvSpPr>
          <p:cNvPr id="4" name="灯片编号占位符 3"/>
          <p:cNvSpPr>
            <a:spLocks noGrp="1"/>
          </p:cNvSpPr>
          <p:nvPr>
            <p:ph type="sldNum" sz="quarter" idx="7"/>
          </p:nvPr>
        </p:nvSpPr>
        <p:spPr/>
        <p:txBody>
          <a:bodyPr/>
          <a:lstStyle/>
          <a:p>
            <a:pPr marL="25400">
              <a:lnSpc>
                <a:spcPct val="100000"/>
              </a:lnSpc>
              <a:spcBef>
                <a:spcPts val="185"/>
              </a:spcBef>
            </a:pPr>
            <a:fld id="{81D60167-4931-47E6-BA6A-407CBD079E47}" type="slidenum">
              <a:rPr lang="en-US" altLang="zh-CN" spc="-5" smtClean="0"/>
              <a:t>36</a:t>
            </a:fld>
            <a:endParaRPr lang="en-US" altLang="zh-CN" spc="-5" dirty="0"/>
          </a:p>
        </p:txBody>
      </p:sp>
    </p:spTree>
    <p:extLst>
      <p:ext uri="{BB962C8B-B14F-4D97-AF65-F5344CB8AC3E}">
        <p14:creationId xmlns:p14="http://schemas.microsoft.com/office/powerpoint/2010/main" val="41867159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标题 124929"/>
          <p:cNvSpPr>
            <a:spLocks noGrp="1"/>
          </p:cNvSpPr>
          <p:nvPr>
            <p:ph type="title"/>
          </p:nvPr>
        </p:nvSpPr>
        <p:spPr>
          <a:xfrm>
            <a:off x="1371600" y="513080"/>
            <a:ext cx="3812540" cy="460375"/>
          </a:xfrm>
        </p:spPr>
        <p:txBody>
          <a:bodyPr wrap="square" lIns="46038" tIns="46038" rIns="46038" bIns="46038" anchor="b"/>
          <a:lstStyle/>
          <a:p>
            <a:r>
              <a:rPr lang="zh-CN" altLang="en-US" dirty="0"/>
              <a:t>§</a:t>
            </a:r>
            <a:r>
              <a:rPr lang="en-US" altLang="zh-CN" dirty="0"/>
              <a:t>5.6  </a:t>
            </a:r>
            <a:r>
              <a:rPr lang="zh-CN" altLang="en-US" dirty="0"/>
              <a:t>思考题与习题</a:t>
            </a:r>
            <a:endParaRPr lang="zh-CN" altLang="en-US" sz="2800" b="0">
              <a:solidFill>
                <a:srgbClr val="000000"/>
              </a:solidFill>
              <a:latin typeface="宋体" panose="02010600030101010101" pitchFamily="2" charset="-122"/>
            </a:endParaRPr>
          </a:p>
        </p:txBody>
      </p:sp>
      <p:sp>
        <p:nvSpPr>
          <p:cNvPr id="124932" name="文本占位符 124931"/>
          <p:cNvSpPr>
            <a:spLocks noGrp="1"/>
          </p:cNvSpPr>
          <p:nvPr>
            <p:ph type="body" idx="1"/>
          </p:nvPr>
        </p:nvSpPr>
        <p:spPr>
          <a:xfrm>
            <a:off x="685800" y="1295400"/>
            <a:ext cx="8077200" cy="4038600"/>
          </a:xfrm>
        </p:spPr>
        <p:txBody>
          <a:bodyPr lIns="92075" tIns="46038" rIns="92075" bIns="46038"/>
          <a:lstStyle/>
          <a:p>
            <a:pPr marL="386080" indent="-386080">
              <a:lnSpc>
                <a:spcPct val="140000"/>
              </a:lnSpc>
              <a:buNone/>
            </a:pPr>
            <a:r>
              <a:rPr lang="en-US" altLang="zh-CN" sz="2400" b="1">
                <a:solidFill>
                  <a:srgbClr val="FF0000"/>
                </a:solidFill>
              </a:rPr>
              <a:t>1</a:t>
            </a:r>
            <a:r>
              <a:rPr lang="zh-CN" altLang="en-US" sz="2400" b="1" dirty="0"/>
              <a:t>、什么是中断和中断系统？其主要功能是什么？</a:t>
            </a:r>
          </a:p>
          <a:p>
            <a:pPr marL="386080" indent="-386080">
              <a:lnSpc>
                <a:spcPct val="140000"/>
              </a:lnSpc>
              <a:buNone/>
            </a:pPr>
            <a:r>
              <a:rPr lang="en-US" altLang="zh-CN" sz="2400" b="1">
                <a:solidFill>
                  <a:srgbClr val="FF0000"/>
                </a:solidFill>
              </a:rPr>
              <a:t>2</a:t>
            </a:r>
            <a:r>
              <a:rPr lang="zh-CN" altLang="en-US" sz="2400" b="1" dirty="0"/>
              <a:t>、试编写一段对中断系统初始化的程序，使之允许</a:t>
            </a:r>
            <a:r>
              <a:rPr lang="en-US" altLang="zh-CN" sz="2400" b="1" dirty="0"/>
              <a:t>INT0</a:t>
            </a:r>
            <a:r>
              <a:rPr lang="zh-CN" altLang="en-US" sz="2400" b="1" dirty="0"/>
              <a:t>，</a:t>
            </a:r>
            <a:r>
              <a:rPr lang="en-US" altLang="zh-CN" sz="2400" b="1" dirty="0"/>
              <a:t>INT1</a:t>
            </a:r>
            <a:r>
              <a:rPr lang="zh-CN" altLang="en-US" sz="2400" b="1" dirty="0"/>
              <a:t>，</a:t>
            </a:r>
            <a:r>
              <a:rPr lang="en-US" altLang="zh-CN" sz="2400" b="1" dirty="0"/>
              <a:t>TO</a:t>
            </a:r>
            <a:r>
              <a:rPr lang="zh-CN" altLang="en-US" sz="2400" b="1" dirty="0"/>
              <a:t>，串行口中断，且使</a:t>
            </a:r>
            <a:r>
              <a:rPr lang="en-US" altLang="zh-CN" sz="2400" b="1" dirty="0"/>
              <a:t>T0</a:t>
            </a:r>
            <a:r>
              <a:rPr lang="zh-CN" altLang="en-US" sz="2400" b="1" dirty="0"/>
              <a:t>中断为高优先级中断。</a:t>
            </a:r>
          </a:p>
          <a:p>
            <a:pPr marL="386080" indent="-386080">
              <a:lnSpc>
                <a:spcPct val="140000"/>
              </a:lnSpc>
              <a:buNone/>
            </a:pPr>
            <a:r>
              <a:rPr lang="en-US" altLang="zh-CN" sz="2400" b="1">
                <a:solidFill>
                  <a:srgbClr val="FF0000"/>
                </a:solidFill>
              </a:rPr>
              <a:t>3</a:t>
            </a:r>
            <a:r>
              <a:rPr lang="zh-CN" altLang="en-US" sz="2400" b="1" dirty="0"/>
              <a:t>、在单片机中，中断能实现哪些功能？</a:t>
            </a:r>
          </a:p>
          <a:p>
            <a:pPr marL="386080" indent="-386080">
              <a:lnSpc>
                <a:spcPct val="140000"/>
              </a:lnSpc>
              <a:buNone/>
            </a:pPr>
            <a:r>
              <a:rPr lang="en-US" altLang="zh-CN" sz="2400" b="1">
                <a:solidFill>
                  <a:srgbClr val="FF0000"/>
                </a:solidFill>
              </a:rPr>
              <a:t>4</a:t>
            </a:r>
            <a:r>
              <a:rPr lang="zh-CN" altLang="en-US" sz="2400" b="1" dirty="0"/>
              <a:t>、</a:t>
            </a:r>
            <a:r>
              <a:rPr lang="en-US" altLang="zh-CN" sz="2400" b="1" dirty="0"/>
              <a:t>89C51</a:t>
            </a:r>
            <a:r>
              <a:rPr lang="zh-CN" altLang="en-US" sz="2400" b="1" dirty="0"/>
              <a:t>共有哪些中断源？对其中端请求如何进行控制？</a:t>
            </a:r>
          </a:p>
          <a:p>
            <a:pPr marL="386080" indent="-386080">
              <a:lnSpc>
                <a:spcPct val="140000"/>
              </a:lnSpc>
              <a:buNone/>
            </a:pPr>
            <a:r>
              <a:rPr lang="en-US" altLang="zh-CN" sz="2400" b="1">
                <a:solidFill>
                  <a:srgbClr val="FF0000"/>
                </a:solidFill>
              </a:rPr>
              <a:t>5</a:t>
            </a:r>
            <a:r>
              <a:rPr lang="zh-CN" altLang="en-US" sz="2400" b="1" dirty="0"/>
              <a:t>、什么是中断优先级？中断优先处理的原则是什么？</a:t>
            </a:r>
          </a:p>
          <a:p>
            <a:pPr marL="386080" indent="-386080">
              <a:lnSpc>
                <a:spcPct val="140000"/>
              </a:lnSpc>
              <a:buNone/>
            </a:pPr>
            <a:r>
              <a:rPr lang="en-US" altLang="zh-CN" sz="2400" b="1">
                <a:solidFill>
                  <a:srgbClr val="FF0000"/>
                </a:solidFill>
              </a:rPr>
              <a:t>6</a:t>
            </a:r>
            <a:r>
              <a:rPr lang="zh-CN" altLang="en-US" sz="2400" b="1" dirty="0"/>
              <a:t>、说明外部中断请求的查询和响应过程。</a:t>
            </a:r>
          </a:p>
        </p:txBody>
      </p:sp>
      <p:sp>
        <p:nvSpPr>
          <p:cNvPr id="3" name="灯片编号占位符 2"/>
          <p:cNvSpPr>
            <a:spLocks noGrp="1"/>
          </p:cNvSpPr>
          <p:nvPr>
            <p:ph type="sldNum" sz="quarter" idx="7"/>
          </p:nvPr>
        </p:nvSpPr>
        <p:spPr/>
        <p:txBody>
          <a:bodyPr/>
          <a:lstStyle/>
          <a:p>
            <a:pPr marL="25400">
              <a:lnSpc>
                <a:spcPct val="100000"/>
              </a:lnSpc>
              <a:spcBef>
                <a:spcPts val="185"/>
              </a:spcBef>
            </a:pPr>
            <a:fld id="{81D60167-4931-47E6-BA6A-407CBD079E47}" type="slidenum">
              <a:rPr spc="-5" dirty="0"/>
              <a:t>37</a:t>
            </a:fld>
            <a:endParaRPr spc="-5" dirty="0"/>
          </a:p>
        </p:txBody>
      </p:sp>
    </p:spTree>
  </p:cSld>
  <p:clrMapOvr>
    <a:masterClrMapping/>
  </p:clrMapOvr>
  <p:transition advClick="0">
    <p:cut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115713"/>
          <p:cNvSpPr>
            <a:spLocks noGrp="1"/>
          </p:cNvSpPr>
          <p:nvPr>
            <p:ph type="title"/>
          </p:nvPr>
        </p:nvSpPr>
        <p:spPr>
          <a:xfrm>
            <a:off x="1498600" y="187960"/>
            <a:ext cx="2981960" cy="460375"/>
          </a:xfrm>
        </p:spPr>
        <p:txBody>
          <a:bodyPr lIns="46038" tIns="46038" rIns="46038" bIns="46038" anchor="b"/>
          <a:lstStyle/>
          <a:p>
            <a:r>
              <a:rPr lang="zh-CN" altLang="en-US" dirty="0"/>
              <a:t>§</a:t>
            </a:r>
            <a:r>
              <a:rPr lang="en-US" altLang="zh-CN" dirty="0"/>
              <a:t>5.6 </a:t>
            </a:r>
            <a:r>
              <a:rPr lang="zh-CN" altLang="en-US" dirty="0"/>
              <a:t>思考题与习题</a:t>
            </a:r>
            <a:endParaRPr lang="zh-CN" altLang="en-US" sz="2800" b="0">
              <a:solidFill>
                <a:srgbClr val="000000"/>
              </a:solidFill>
              <a:latin typeface="宋体" panose="02010600030101010101" pitchFamily="2" charset="-122"/>
            </a:endParaRPr>
          </a:p>
        </p:txBody>
      </p:sp>
      <p:sp>
        <p:nvSpPr>
          <p:cNvPr id="115715" name="文本占位符 115714"/>
          <p:cNvSpPr>
            <a:spLocks noGrp="1"/>
          </p:cNvSpPr>
          <p:nvPr>
            <p:ph type="body" idx="1"/>
          </p:nvPr>
        </p:nvSpPr>
        <p:spPr>
          <a:xfrm>
            <a:off x="457200" y="1066800"/>
            <a:ext cx="8118475" cy="5077460"/>
          </a:xfrm>
        </p:spPr>
        <p:txBody>
          <a:bodyPr lIns="92075" tIns="46038" rIns="92075" bIns="46038"/>
          <a:lstStyle/>
          <a:p>
            <a:pPr marL="485775" indent="-485775">
              <a:lnSpc>
                <a:spcPct val="150000"/>
              </a:lnSpc>
              <a:buNone/>
            </a:pPr>
            <a:r>
              <a:rPr lang="en-US" altLang="zh-CN" b="1">
                <a:solidFill>
                  <a:srgbClr val="FF0000"/>
                </a:solidFill>
              </a:rPr>
              <a:t>7</a:t>
            </a:r>
            <a:r>
              <a:rPr lang="zh-CN" altLang="en-US" b="1" dirty="0"/>
              <a:t>、</a:t>
            </a:r>
            <a:r>
              <a:rPr lang="en-US" altLang="zh-CN" b="1" dirty="0"/>
              <a:t>89C51</a:t>
            </a:r>
            <a:r>
              <a:rPr lang="zh-CN" altLang="en-US" b="1" dirty="0"/>
              <a:t>在什么条件下可响应中断？</a:t>
            </a:r>
            <a:r>
              <a:rPr lang="zh-CN" altLang="en-US" sz="2400" b="1" dirty="0"/>
              <a:t> </a:t>
            </a:r>
          </a:p>
          <a:p>
            <a:pPr marL="485775" indent="-485775">
              <a:lnSpc>
                <a:spcPct val="150000"/>
              </a:lnSpc>
              <a:buNone/>
            </a:pPr>
            <a:r>
              <a:rPr lang="en-US" altLang="zh-CN" sz="2400" b="1" dirty="0"/>
              <a:t>8</a:t>
            </a:r>
            <a:r>
              <a:rPr lang="zh-CN" altLang="en-US" sz="2400" b="1" dirty="0"/>
              <a:t>、简述</a:t>
            </a:r>
            <a:r>
              <a:rPr lang="en-US" altLang="zh-CN" sz="2400" b="1" dirty="0"/>
              <a:t>89C51</a:t>
            </a:r>
            <a:r>
              <a:rPr lang="zh-CN" altLang="en-US" sz="2400" b="1" dirty="0"/>
              <a:t>单片机的中断响应过程。</a:t>
            </a:r>
          </a:p>
          <a:p>
            <a:pPr marL="485775" indent="-485775">
              <a:lnSpc>
                <a:spcPct val="150000"/>
              </a:lnSpc>
              <a:buNone/>
            </a:pPr>
            <a:r>
              <a:rPr lang="en-US" altLang="zh-CN" sz="2400" b="1">
                <a:solidFill>
                  <a:srgbClr val="FF0000"/>
                </a:solidFill>
              </a:rPr>
              <a:t>9</a:t>
            </a:r>
            <a:r>
              <a:rPr lang="zh-CN" altLang="en-US" sz="2400" b="1" dirty="0"/>
              <a:t>、在</a:t>
            </a:r>
            <a:r>
              <a:rPr lang="en-US" altLang="zh-CN" sz="2400" b="1" dirty="0"/>
              <a:t>89C51</a:t>
            </a:r>
            <a:r>
              <a:rPr lang="zh-CN" altLang="en-US" sz="2400" b="1" dirty="0"/>
              <a:t>内存中，应如何安排程序区？</a:t>
            </a:r>
          </a:p>
          <a:p>
            <a:pPr marL="485775" indent="-485775">
              <a:lnSpc>
                <a:spcPct val="150000"/>
              </a:lnSpc>
              <a:buNone/>
            </a:pPr>
            <a:r>
              <a:rPr lang="en-US" altLang="zh-CN" sz="2400" b="1">
                <a:solidFill>
                  <a:srgbClr val="FF0000"/>
                </a:solidFill>
              </a:rPr>
              <a:t>10</a:t>
            </a:r>
            <a:r>
              <a:rPr lang="zh-CN" altLang="en-US" sz="2400" b="1" dirty="0"/>
              <a:t>、试述中断的作用及中断的全过程。</a:t>
            </a:r>
          </a:p>
          <a:p>
            <a:pPr marL="485775" indent="-485775">
              <a:lnSpc>
                <a:spcPct val="150000"/>
              </a:lnSpc>
              <a:buNone/>
            </a:pPr>
            <a:r>
              <a:rPr lang="en-US" altLang="zh-CN" sz="2400" b="1">
                <a:solidFill>
                  <a:srgbClr val="FF0000"/>
                </a:solidFill>
              </a:rPr>
              <a:t>11</a:t>
            </a:r>
            <a:r>
              <a:rPr lang="zh-CN" altLang="en-US" sz="2400" b="1" dirty="0"/>
              <a:t>、当正在执行某一个中断源的中断服务程序时，如果有新的中断请求出现，试问在什么情况下可响应新的中断请求？在什么情况下不能响应新的中断请求？</a:t>
            </a:r>
          </a:p>
          <a:p>
            <a:pPr marL="485775" indent="-485775">
              <a:lnSpc>
                <a:spcPct val="150000"/>
              </a:lnSpc>
              <a:buNone/>
            </a:pPr>
            <a:r>
              <a:rPr lang="en-US" altLang="zh-CN" sz="2400" b="1">
                <a:solidFill>
                  <a:srgbClr val="FF0000"/>
                </a:solidFill>
                <a:sym typeface="+mn-ea"/>
              </a:rPr>
              <a:t>12</a:t>
            </a:r>
            <a:r>
              <a:rPr lang="zh-CN" altLang="en-US" sz="2400" b="1" dirty="0">
                <a:sym typeface="+mn-ea"/>
              </a:rPr>
              <a:t>、</a:t>
            </a:r>
            <a:r>
              <a:rPr lang="en-US" altLang="zh-CN" sz="2400" b="1" dirty="0">
                <a:sym typeface="+mn-ea"/>
              </a:rPr>
              <a:t>89C51</a:t>
            </a:r>
            <a:r>
              <a:rPr lang="zh-CN" altLang="en-US" sz="2400" b="1" dirty="0">
                <a:sym typeface="+mn-ea"/>
              </a:rPr>
              <a:t>单片机外部中断源有几种触发中断请求的方法？如何实现中断请求？</a:t>
            </a:r>
            <a:endParaRPr lang="zh-CN" altLang="en-US" sz="2400" b="1" dirty="0"/>
          </a:p>
        </p:txBody>
      </p:sp>
      <p:sp>
        <p:nvSpPr>
          <p:cNvPr id="3" name="灯片编号占位符 2"/>
          <p:cNvSpPr>
            <a:spLocks noGrp="1"/>
          </p:cNvSpPr>
          <p:nvPr>
            <p:ph type="sldNum" sz="quarter" idx="7"/>
          </p:nvPr>
        </p:nvSpPr>
        <p:spPr/>
        <p:txBody>
          <a:bodyPr/>
          <a:lstStyle/>
          <a:p>
            <a:pPr marL="25400">
              <a:lnSpc>
                <a:spcPct val="100000"/>
              </a:lnSpc>
              <a:spcBef>
                <a:spcPts val="185"/>
              </a:spcBef>
            </a:pPr>
            <a:fld id="{81D60167-4931-47E6-BA6A-407CBD079E47}" type="slidenum">
              <a:rPr spc="-5" dirty="0"/>
              <a:t>38</a:t>
            </a:fld>
            <a:endParaRPr spc="-5" dirty="0"/>
          </a:p>
        </p:txBody>
      </p:sp>
    </p:spTree>
  </p:cSld>
  <p:clrMapOvr>
    <a:masterClrMapping/>
  </p:clrMapOvr>
  <p:transition advClick="0">
    <p:cut thruBlk="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16737"/>
          <p:cNvSpPr>
            <a:spLocks noGrp="1"/>
          </p:cNvSpPr>
          <p:nvPr>
            <p:ph type="title"/>
          </p:nvPr>
        </p:nvSpPr>
        <p:spPr>
          <a:xfrm>
            <a:off x="1369060" y="454025"/>
            <a:ext cx="6860540" cy="460375"/>
          </a:xfrm>
        </p:spPr>
        <p:txBody>
          <a:bodyPr wrap="square" lIns="46038" tIns="46038" rIns="46038" bIns="46038" anchor="b"/>
          <a:lstStyle/>
          <a:p>
            <a:r>
              <a:rPr lang="zh-CN" altLang="en-US" dirty="0"/>
              <a:t>§</a:t>
            </a:r>
            <a:r>
              <a:rPr lang="en-US" altLang="zh-CN" dirty="0"/>
              <a:t>5.7  </a:t>
            </a:r>
            <a:r>
              <a:rPr lang="zh-CN" altLang="en-US" dirty="0"/>
              <a:t>思考题与习题</a:t>
            </a:r>
            <a:endParaRPr lang="zh-CN" altLang="en-US" sz="2800" b="0">
              <a:solidFill>
                <a:srgbClr val="000000"/>
              </a:solidFill>
              <a:latin typeface="宋体" panose="02010600030101010101" pitchFamily="2" charset="-122"/>
            </a:endParaRPr>
          </a:p>
        </p:txBody>
      </p:sp>
      <p:sp>
        <p:nvSpPr>
          <p:cNvPr id="116739" name="文本占位符 116738"/>
          <p:cNvSpPr>
            <a:spLocks noGrp="1"/>
          </p:cNvSpPr>
          <p:nvPr>
            <p:ph type="body" idx="1"/>
          </p:nvPr>
        </p:nvSpPr>
        <p:spPr>
          <a:xfrm>
            <a:off x="381000" y="1219200"/>
            <a:ext cx="8033385" cy="3673475"/>
          </a:xfrm>
        </p:spPr>
        <p:txBody>
          <a:bodyPr wrap="square" lIns="92075" tIns="46038" rIns="92075" bIns="46038"/>
          <a:lstStyle/>
          <a:p>
            <a:pPr marL="386080" indent="-386080">
              <a:lnSpc>
                <a:spcPct val="120000"/>
              </a:lnSpc>
              <a:buNone/>
            </a:pPr>
            <a:r>
              <a:rPr lang="en-US" altLang="zh-CN" sz="2100" b="1">
                <a:solidFill>
                  <a:srgbClr val="FF0000"/>
                </a:solidFill>
              </a:rPr>
              <a:t>13</a:t>
            </a:r>
            <a:r>
              <a:rPr lang="zh-CN" altLang="en-US" sz="2100" b="1" dirty="0"/>
              <a:t>、</a:t>
            </a:r>
            <a:r>
              <a:rPr lang="en-US" altLang="zh-CN" sz="2100" b="1" dirty="0"/>
              <a:t>89C51</a:t>
            </a:r>
            <a:r>
              <a:rPr lang="zh-CN" altLang="en-US" sz="2100" b="1" dirty="0"/>
              <a:t>单片机有五个中断源，但只能设置两个中断优先级，因此，在中断优先级安排上受到一定的限制。试问以下几种中断优先顺序的安排（级别由高到低）是否可能：若可能，则应如何设置中断源的中断级别：否则，请简述不可能的理由。</a:t>
            </a:r>
          </a:p>
          <a:p>
            <a:pPr marL="386080" indent="-386080">
              <a:lnSpc>
                <a:spcPct val="90000"/>
              </a:lnSpc>
              <a:buNone/>
            </a:pPr>
            <a:r>
              <a:rPr lang="zh-CN" altLang="en-US" sz="2100" b="1" dirty="0"/>
              <a:t>   </a:t>
            </a:r>
            <a:r>
              <a:rPr lang="en-US" altLang="zh-CN" sz="2100" b="1" dirty="0"/>
              <a:t>⑴  </a:t>
            </a:r>
            <a:r>
              <a:rPr lang="zh-CN" altLang="en-US" sz="2100" b="1" dirty="0"/>
              <a:t>定时器</a:t>
            </a:r>
            <a:r>
              <a:rPr lang="en-US" altLang="zh-CN" sz="2100" b="1" dirty="0"/>
              <a:t>0</a:t>
            </a:r>
            <a:r>
              <a:rPr lang="zh-CN" altLang="en-US" sz="2100" b="1" dirty="0"/>
              <a:t>，定时器</a:t>
            </a:r>
            <a:r>
              <a:rPr lang="en-US" altLang="zh-CN" sz="2100" b="1" dirty="0"/>
              <a:t>1</a:t>
            </a:r>
            <a:r>
              <a:rPr lang="zh-CN" altLang="en-US" sz="2100" b="1" dirty="0"/>
              <a:t>，外中断</a:t>
            </a:r>
            <a:r>
              <a:rPr lang="en-US" altLang="zh-CN" sz="2100" b="1" dirty="0"/>
              <a:t>0</a:t>
            </a:r>
            <a:r>
              <a:rPr lang="zh-CN" altLang="en-US" sz="2100" b="1" dirty="0"/>
              <a:t>，外中断</a:t>
            </a:r>
            <a:r>
              <a:rPr lang="en-US" altLang="zh-CN" sz="2100" b="1" dirty="0"/>
              <a:t>1</a:t>
            </a:r>
            <a:r>
              <a:rPr lang="zh-CN" altLang="en-US" sz="2100" b="1" dirty="0"/>
              <a:t>，串行口中断。</a:t>
            </a:r>
          </a:p>
          <a:p>
            <a:pPr marL="386080" indent="-386080">
              <a:lnSpc>
                <a:spcPct val="90000"/>
              </a:lnSpc>
              <a:buNone/>
            </a:pPr>
            <a:r>
              <a:rPr lang="zh-CN" altLang="en-US" sz="2100" b="1" dirty="0"/>
              <a:t>   </a:t>
            </a:r>
            <a:r>
              <a:rPr lang="en-US" altLang="zh-CN" sz="2100" b="1" dirty="0"/>
              <a:t>⑵  </a:t>
            </a:r>
            <a:r>
              <a:rPr lang="zh-CN" altLang="en-US" sz="2100" b="1" dirty="0"/>
              <a:t>串行口中断，外中断</a:t>
            </a:r>
            <a:r>
              <a:rPr lang="en-US" altLang="zh-CN" sz="2100" b="1" dirty="0"/>
              <a:t>0</a:t>
            </a:r>
            <a:r>
              <a:rPr lang="zh-CN" altLang="en-US" sz="2100" b="1" dirty="0"/>
              <a:t>，定时器</a:t>
            </a:r>
            <a:r>
              <a:rPr lang="en-US" altLang="zh-CN" sz="2100" b="1" dirty="0"/>
              <a:t>0</a:t>
            </a:r>
            <a:r>
              <a:rPr lang="zh-CN" altLang="en-US" sz="2100" b="1" dirty="0"/>
              <a:t>，外中断</a:t>
            </a:r>
            <a:r>
              <a:rPr lang="en-US" altLang="zh-CN" sz="2100" b="1" dirty="0"/>
              <a:t>1</a:t>
            </a:r>
            <a:r>
              <a:rPr lang="zh-CN" altLang="en-US" sz="2100" b="1" dirty="0"/>
              <a:t>，定时器</a:t>
            </a:r>
            <a:r>
              <a:rPr lang="en-US" altLang="zh-CN" sz="2100" b="1" dirty="0"/>
              <a:t>1</a:t>
            </a:r>
            <a:r>
              <a:rPr lang="zh-CN" altLang="en-US" sz="2100" b="1" dirty="0"/>
              <a:t>。</a:t>
            </a:r>
          </a:p>
          <a:p>
            <a:pPr marL="386080" indent="-386080">
              <a:lnSpc>
                <a:spcPct val="90000"/>
              </a:lnSpc>
              <a:buNone/>
            </a:pPr>
            <a:r>
              <a:rPr lang="zh-CN" altLang="en-US" sz="2100" b="1" dirty="0"/>
              <a:t>   </a:t>
            </a:r>
            <a:r>
              <a:rPr lang="en-US" altLang="zh-CN" sz="2100" b="1" dirty="0"/>
              <a:t>⑶  </a:t>
            </a:r>
            <a:r>
              <a:rPr lang="zh-CN" altLang="en-US" sz="2100" b="1" dirty="0"/>
              <a:t>外中断</a:t>
            </a:r>
            <a:r>
              <a:rPr lang="en-US" altLang="zh-CN" sz="2100" b="1" dirty="0"/>
              <a:t>0</a:t>
            </a:r>
            <a:r>
              <a:rPr lang="zh-CN" altLang="en-US" sz="2100" b="1" dirty="0"/>
              <a:t>，定时器</a:t>
            </a:r>
            <a:r>
              <a:rPr lang="en-US" altLang="zh-CN" sz="2100" b="1" dirty="0"/>
              <a:t>1</a:t>
            </a:r>
            <a:r>
              <a:rPr lang="zh-CN" altLang="en-US" sz="2100" b="1" dirty="0"/>
              <a:t>，外中断</a:t>
            </a:r>
            <a:r>
              <a:rPr lang="en-US" altLang="zh-CN" sz="2100" b="1" dirty="0"/>
              <a:t>1</a:t>
            </a:r>
            <a:r>
              <a:rPr lang="zh-CN" altLang="en-US" sz="2100" b="1" dirty="0"/>
              <a:t>，定时器</a:t>
            </a:r>
            <a:r>
              <a:rPr lang="en-US" altLang="zh-CN" sz="2100" b="1" dirty="0"/>
              <a:t>0</a:t>
            </a:r>
            <a:r>
              <a:rPr lang="zh-CN" altLang="en-US" sz="2100" b="1" dirty="0"/>
              <a:t>，串行口中断。</a:t>
            </a:r>
          </a:p>
          <a:p>
            <a:pPr marL="386080" indent="-386080">
              <a:lnSpc>
                <a:spcPct val="90000"/>
              </a:lnSpc>
              <a:buNone/>
            </a:pPr>
            <a:r>
              <a:rPr lang="zh-CN" altLang="en-US" sz="2100" b="1" dirty="0"/>
              <a:t>   </a:t>
            </a:r>
            <a:r>
              <a:rPr lang="en-US" altLang="zh-CN" sz="2100" b="1" dirty="0"/>
              <a:t>⑷  </a:t>
            </a:r>
            <a:r>
              <a:rPr lang="zh-CN" altLang="en-US" sz="2100" b="1" dirty="0"/>
              <a:t>外中断</a:t>
            </a:r>
            <a:r>
              <a:rPr lang="en-US" altLang="zh-CN" sz="2100" b="1" dirty="0"/>
              <a:t>0</a:t>
            </a:r>
            <a:r>
              <a:rPr lang="zh-CN" altLang="en-US" sz="2100" b="1" dirty="0"/>
              <a:t>，外中断</a:t>
            </a:r>
            <a:r>
              <a:rPr lang="en-US" altLang="zh-CN" sz="2100" b="1" dirty="0"/>
              <a:t>1</a:t>
            </a:r>
            <a:r>
              <a:rPr lang="zh-CN" altLang="en-US" sz="2100" b="1" dirty="0"/>
              <a:t>，串行口中断， 定时器</a:t>
            </a:r>
            <a:r>
              <a:rPr lang="en-US" altLang="zh-CN" sz="2100" b="1" dirty="0"/>
              <a:t>0</a:t>
            </a:r>
            <a:r>
              <a:rPr lang="zh-CN" altLang="en-US" sz="2100" b="1" dirty="0"/>
              <a:t>，定时器</a:t>
            </a:r>
            <a:r>
              <a:rPr lang="en-US" altLang="zh-CN" sz="2100" b="1" dirty="0"/>
              <a:t>1 </a:t>
            </a:r>
            <a:r>
              <a:rPr lang="zh-CN" altLang="en-US" sz="2100" b="1" dirty="0"/>
              <a:t>。</a:t>
            </a:r>
          </a:p>
          <a:p>
            <a:pPr marL="386080" indent="-386080">
              <a:lnSpc>
                <a:spcPct val="90000"/>
              </a:lnSpc>
              <a:buNone/>
            </a:pPr>
            <a:r>
              <a:rPr lang="zh-CN" altLang="en-US" sz="2100" b="1" dirty="0"/>
              <a:t>   </a:t>
            </a:r>
            <a:r>
              <a:rPr lang="en-US" altLang="zh-CN" sz="2100" b="1" dirty="0"/>
              <a:t>⑸  </a:t>
            </a:r>
            <a:r>
              <a:rPr lang="zh-CN" altLang="en-US" sz="2100" b="1" dirty="0"/>
              <a:t>串行口中断，定时器</a:t>
            </a:r>
            <a:r>
              <a:rPr lang="en-US" altLang="zh-CN" sz="2100" b="1" dirty="0"/>
              <a:t>0</a:t>
            </a:r>
            <a:r>
              <a:rPr lang="zh-CN" altLang="en-US" sz="2100" b="1" dirty="0"/>
              <a:t>，外中断</a:t>
            </a:r>
            <a:r>
              <a:rPr lang="en-US" altLang="zh-CN" sz="2100" b="1" dirty="0"/>
              <a:t>0</a:t>
            </a:r>
            <a:r>
              <a:rPr lang="zh-CN" altLang="en-US" sz="2100" b="1" dirty="0"/>
              <a:t>，外中断</a:t>
            </a:r>
            <a:r>
              <a:rPr lang="en-US" altLang="zh-CN" sz="2100" b="1" dirty="0"/>
              <a:t>1</a:t>
            </a:r>
            <a:r>
              <a:rPr lang="zh-CN" altLang="en-US" sz="2100" b="1" dirty="0"/>
              <a:t>，定时器</a:t>
            </a:r>
            <a:r>
              <a:rPr lang="en-US" altLang="zh-CN" sz="2100" b="1" dirty="0"/>
              <a:t>1</a:t>
            </a:r>
            <a:r>
              <a:rPr lang="zh-CN" altLang="en-US" sz="2100" b="1" dirty="0"/>
              <a:t>。</a:t>
            </a:r>
          </a:p>
          <a:p>
            <a:pPr marL="386080" indent="-386080">
              <a:lnSpc>
                <a:spcPct val="90000"/>
              </a:lnSpc>
              <a:buNone/>
            </a:pPr>
            <a:r>
              <a:rPr lang="zh-CN" altLang="en-US" sz="2100" b="1" dirty="0"/>
              <a:t>   </a:t>
            </a:r>
            <a:r>
              <a:rPr lang="en-US" altLang="zh-CN" sz="2100" b="1" dirty="0"/>
              <a:t>⑹  </a:t>
            </a:r>
            <a:r>
              <a:rPr lang="zh-CN" altLang="en-US" sz="2100" b="1" dirty="0"/>
              <a:t>外中断</a:t>
            </a:r>
            <a:r>
              <a:rPr lang="en-US" altLang="zh-CN" sz="2100" b="1" dirty="0"/>
              <a:t>0</a:t>
            </a:r>
            <a:r>
              <a:rPr lang="zh-CN" altLang="en-US" sz="2100" b="1" dirty="0"/>
              <a:t>，外中断</a:t>
            </a:r>
            <a:r>
              <a:rPr lang="en-US" altLang="zh-CN" sz="2100" b="1" dirty="0"/>
              <a:t>1</a:t>
            </a:r>
            <a:r>
              <a:rPr lang="zh-CN" altLang="en-US" sz="2100" b="1" dirty="0"/>
              <a:t>，定时器</a:t>
            </a:r>
            <a:r>
              <a:rPr lang="en-US" altLang="zh-CN" sz="2100" b="1" dirty="0"/>
              <a:t>0</a:t>
            </a:r>
            <a:r>
              <a:rPr lang="zh-CN" altLang="en-US" sz="2100" b="1" dirty="0"/>
              <a:t>，串行口中断，定时器</a:t>
            </a:r>
            <a:r>
              <a:rPr lang="en-US" altLang="zh-CN" sz="2100" b="1" dirty="0"/>
              <a:t>1 </a:t>
            </a:r>
            <a:r>
              <a:rPr lang="zh-CN" altLang="en-US" sz="2100" b="1" dirty="0"/>
              <a:t>。</a:t>
            </a:r>
          </a:p>
          <a:p>
            <a:pPr marL="386080" indent="-386080">
              <a:lnSpc>
                <a:spcPct val="90000"/>
              </a:lnSpc>
              <a:buNone/>
            </a:pPr>
            <a:r>
              <a:rPr lang="zh-CN" altLang="en-US" sz="2100" b="1" dirty="0"/>
              <a:t>   </a:t>
            </a:r>
            <a:r>
              <a:rPr lang="en-US" altLang="zh-CN" sz="2100" b="1" dirty="0"/>
              <a:t>⑺  </a:t>
            </a:r>
            <a:r>
              <a:rPr lang="zh-CN" altLang="en-US" sz="2100" b="1" dirty="0"/>
              <a:t>外中断</a:t>
            </a:r>
            <a:r>
              <a:rPr lang="en-US" altLang="zh-CN" sz="2100" b="1" dirty="0"/>
              <a:t>0</a:t>
            </a:r>
            <a:r>
              <a:rPr lang="zh-CN" altLang="en-US" sz="2100" b="1" dirty="0"/>
              <a:t>，定时器</a:t>
            </a:r>
            <a:r>
              <a:rPr lang="en-US" altLang="zh-CN" sz="2100" b="1" dirty="0"/>
              <a:t>1</a:t>
            </a:r>
            <a:r>
              <a:rPr lang="zh-CN" altLang="en-US" sz="2100" b="1" dirty="0"/>
              <a:t>，定时器</a:t>
            </a:r>
            <a:r>
              <a:rPr lang="en-US" altLang="zh-CN" sz="2100" b="1" dirty="0"/>
              <a:t>0</a:t>
            </a:r>
            <a:r>
              <a:rPr lang="zh-CN" altLang="en-US" sz="2100" b="1" dirty="0"/>
              <a:t>，外中断</a:t>
            </a:r>
            <a:r>
              <a:rPr lang="en-US" altLang="zh-CN" sz="2100" b="1" dirty="0"/>
              <a:t>1</a:t>
            </a:r>
            <a:r>
              <a:rPr lang="zh-CN" altLang="en-US" sz="2100" b="1" dirty="0"/>
              <a:t>，串行口中断。</a:t>
            </a:r>
          </a:p>
        </p:txBody>
      </p:sp>
      <p:sp>
        <p:nvSpPr>
          <p:cNvPr id="3" name="灯片编号占位符 2"/>
          <p:cNvSpPr>
            <a:spLocks noGrp="1"/>
          </p:cNvSpPr>
          <p:nvPr>
            <p:ph type="sldNum" sz="quarter" idx="7"/>
          </p:nvPr>
        </p:nvSpPr>
        <p:spPr/>
        <p:txBody>
          <a:bodyPr/>
          <a:lstStyle/>
          <a:p>
            <a:pPr marL="25400">
              <a:lnSpc>
                <a:spcPct val="100000"/>
              </a:lnSpc>
              <a:spcBef>
                <a:spcPts val="185"/>
              </a:spcBef>
            </a:pPr>
            <a:fld id="{81D60167-4931-47E6-BA6A-407CBD079E47}" type="slidenum">
              <a:rPr spc="-5" dirty="0"/>
              <a:t>39</a:t>
            </a:fld>
            <a:endParaRPr spc="-5" dirty="0"/>
          </a:p>
        </p:txBody>
      </p:sp>
    </p:spTree>
  </p:cSld>
  <p:clrMapOvr>
    <a:masterClrMapping/>
  </p:clrMapOvr>
  <p:transition advClick="0">
    <p:cut thruBlk="1"/>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标题 117761"/>
          <p:cNvSpPr>
            <a:spLocks noGrp="1"/>
          </p:cNvSpPr>
          <p:nvPr>
            <p:ph type="title"/>
          </p:nvPr>
        </p:nvSpPr>
        <p:spPr/>
        <p:txBody>
          <a:bodyPr lIns="46038" tIns="46038" rIns="46038" bIns="46038" anchor="b"/>
          <a:lstStyle/>
          <a:p>
            <a:r>
              <a:rPr lang="zh-CN" altLang="en-US" dirty="0"/>
              <a:t>§</a:t>
            </a:r>
            <a:r>
              <a:rPr lang="en-US" altLang="zh-CN" dirty="0"/>
              <a:t>5.7  </a:t>
            </a:r>
            <a:r>
              <a:rPr lang="zh-CN" altLang="en-US" dirty="0"/>
              <a:t>思考题与习题</a:t>
            </a:r>
            <a:endParaRPr lang="zh-CN" altLang="en-US" sz="2800" b="0">
              <a:solidFill>
                <a:srgbClr val="000000"/>
              </a:solidFill>
              <a:latin typeface="宋体" panose="02010600030101010101" pitchFamily="2" charset="-122"/>
            </a:endParaRPr>
          </a:p>
        </p:txBody>
      </p:sp>
      <p:sp>
        <p:nvSpPr>
          <p:cNvPr id="117763" name="文本占位符 117762"/>
          <p:cNvSpPr>
            <a:spLocks noGrp="1"/>
          </p:cNvSpPr>
          <p:nvPr>
            <p:ph type="body" idx="1"/>
          </p:nvPr>
        </p:nvSpPr>
        <p:spPr>
          <a:xfrm>
            <a:off x="719455" y="1258888"/>
            <a:ext cx="7508875" cy="4692650"/>
          </a:xfrm>
        </p:spPr>
        <p:txBody>
          <a:bodyPr lIns="92075" tIns="46038" rIns="92075" bIns="46038"/>
          <a:lstStyle/>
          <a:p>
            <a:pPr marL="485775" indent="-485775">
              <a:lnSpc>
                <a:spcPct val="170000"/>
              </a:lnSpc>
              <a:buNone/>
            </a:pPr>
            <a:r>
              <a:rPr lang="en-US" altLang="zh-CN" sz="2200" b="1">
                <a:solidFill>
                  <a:srgbClr val="FF0000"/>
                </a:solidFill>
              </a:rPr>
              <a:t>14</a:t>
            </a:r>
            <a:r>
              <a:rPr lang="zh-CN" altLang="en-US" sz="2200" b="1" dirty="0"/>
              <a:t>、</a:t>
            </a:r>
            <a:r>
              <a:rPr lang="en-US" sz="2200" b="1" dirty="0"/>
              <a:t>89C51/S51</a:t>
            </a:r>
            <a:r>
              <a:rPr lang="zh-CN" altLang="en-US" sz="2200" b="1" dirty="0"/>
              <a:t>各个中断源的中断标志是如何产生的？又是如何清零的？</a:t>
            </a:r>
            <a:r>
              <a:rPr lang="en-US" altLang="zh-CN" sz="2200" b="1" dirty="0"/>
              <a:t>CPU</a:t>
            </a:r>
            <a:r>
              <a:rPr lang="zh-CN" altLang="en-US" sz="2200" b="1" dirty="0"/>
              <a:t>响应中断时，中断入口地址各是多少？</a:t>
            </a:r>
            <a:endParaRPr lang="zh-CN" altLang="en-US" sz="2200" b="1" dirty="0">
              <a:solidFill>
                <a:srgbClr val="FF0000"/>
              </a:solidFill>
            </a:endParaRPr>
          </a:p>
          <a:p>
            <a:pPr marL="485775" indent="-485775">
              <a:lnSpc>
                <a:spcPct val="170000"/>
              </a:lnSpc>
              <a:buNone/>
            </a:pPr>
            <a:r>
              <a:rPr lang="en-US" altLang="zh-CN" sz="2200" b="1">
                <a:solidFill>
                  <a:srgbClr val="FF0000"/>
                </a:solidFill>
              </a:rPr>
              <a:t>15</a:t>
            </a:r>
            <a:r>
              <a:rPr lang="zh-CN" altLang="en-US" sz="2200" b="1" dirty="0"/>
              <a:t>、中断响应的时间是否为不变的？为什么？</a:t>
            </a:r>
          </a:p>
          <a:p>
            <a:pPr marL="485775" indent="-485775">
              <a:lnSpc>
                <a:spcPct val="170000"/>
              </a:lnSpc>
              <a:buNone/>
            </a:pPr>
            <a:r>
              <a:rPr lang="en-US" altLang="zh-CN" sz="2200" b="1"/>
              <a:t>16</a:t>
            </a:r>
            <a:r>
              <a:rPr lang="zh-CN" altLang="en-US" sz="2200" b="1"/>
              <a:t>、中断响应过程中，为什么通常要保护现场？如何保护？</a:t>
            </a:r>
          </a:p>
          <a:p>
            <a:pPr marL="485775" indent="-485775">
              <a:lnSpc>
                <a:spcPct val="170000"/>
              </a:lnSpc>
              <a:buNone/>
            </a:pPr>
            <a:r>
              <a:rPr lang="en-US" altLang="zh-CN" sz="2200" b="1"/>
              <a:t>17</a:t>
            </a:r>
            <a:r>
              <a:rPr lang="zh-CN" altLang="en-US" sz="2200" b="1"/>
              <a:t>、叙述中断响应的</a:t>
            </a:r>
            <a:r>
              <a:rPr lang="en-US" altLang="zh-CN" sz="2200" b="1"/>
              <a:t>CPU</a:t>
            </a:r>
            <a:r>
              <a:rPr lang="zh-CN" altLang="en-US" sz="2200" b="1"/>
              <a:t>操作过程，为什么说中断操作是一个</a:t>
            </a:r>
            <a:r>
              <a:rPr lang="en-US" altLang="zh-CN" sz="2200" b="1"/>
              <a:t>CPU</a:t>
            </a:r>
            <a:r>
              <a:rPr lang="zh-CN" altLang="en-US" sz="2200" b="1"/>
              <a:t>的微查询过程？</a:t>
            </a:r>
          </a:p>
          <a:p>
            <a:pPr marL="485775" indent="-485775">
              <a:lnSpc>
                <a:spcPct val="170000"/>
              </a:lnSpc>
              <a:buNone/>
            </a:pPr>
            <a:r>
              <a:rPr lang="en-US" altLang="zh-CN" sz="2200" b="1"/>
              <a:t>18</a:t>
            </a:r>
            <a:r>
              <a:rPr lang="zh-CN" altLang="en-US" sz="2200" b="1"/>
              <a:t>、在中断请求有效并开中断状况下，能否保证立即响应中断？有什么条件？</a:t>
            </a:r>
          </a:p>
        </p:txBody>
      </p:sp>
      <p:sp>
        <p:nvSpPr>
          <p:cNvPr id="3" name="灯片编号占位符 2"/>
          <p:cNvSpPr>
            <a:spLocks noGrp="1"/>
          </p:cNvSpPr>
          <p:nvPr>
            <p:ph type="sldNum" sz="quarter" idx="7"/>
          </p:nvPr>
        </p:nvSpPr>
        <p:spPr/>
        <p:txBody>
          <a:bodyPr/>
          <a:lstStyle/>
          <a:p>
            <a:pPr marL="25400">
              <a:lnSpc>
                <a:spcPct val="100000"/>
              </a:lnSpc>
              <a:spcBef>
                <a:spcPts val="185"/>
              </a:spcBef>
            </a:pPr>
            <a:fld id="{81D60167-4931-47E6-BA6A-407CBD079E47}" type="slidenum">
              <a:rPr spc="-5" dirty="0"/>
              <a:t>40</a:t>
            </a:fld>
            <a:endParaRPr spc="-5" dirty="0"/>
          </a:p>
        </p:txBody>
      </p:sp>
    </p:spTree>
  </p:cSld>
  <p:clrMapOvr>
    <a:masterClrMapping/>
  </p:clrMapOvr>
  <p:transition advClick="0">
    <p:cut thruBlk="1"/>
  </p:transition>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7772a7bf-62ef-4b56-8260-b6acf6fb8c44}"/>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0576622b-f5d3-4c9c-a34a-ae08acb3461b}"/>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49bd1e37-75cb-4465-a588-7e27a8b46d2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730</TotalTime>
  <Words>3819</Words>
  <Application>Microsoft Office PowerPoint</Application>
  <PresentationFormat>全屏显示(4:3)</PresentationFormat>
  <Paragraphs>500</Paragraphs>
  <Slides>40</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40</vt:i4>
      </vt:variant>
    </vt:vector>
  </HeadingPairs>
  <TitlesOfParts>
    <vt:vector size="52" baseType="lpstr">
      <vt:lpstr>Microsoft JhengHei</vt:lpstr>
      <vt:lpstr>隶书</vt:lpstr>
      <vt:lpstr>宋体</vt:lpstr>
      <vt:lpstr>微软雅黑</vt:lpstr>
      <vt:lpstr>Arial</vt:lpstr>
      <vt:lpstr>Arial Black</vt:lpstr>
      <vt:lpstr>Calibri</vt:lpstr>
      <vt:lpstr>Times New Roman</vt:lpstr>
      <vt:lpstr>Webdings</vt:lpstr>
      <vt:lpstr>Wingdings</vt:lpstr>
      <vt:lpstr>Office Theme</vt:lpstr>
      <vt:lpstr>Microsoft Word 97 - 2003 Document</vt:lpstr>
      <vt:lpstr>PowerPoint 演示文稿</vt:lpstr>
      <vt:lpstr>目  录</vt:lpstr>
      <vt:lpstr>第五章      中断系统</vt:lpstr>
      <vt:lpstr>§5.1  微机的输入/输出方式</vt:lpstr>
      <vt:lpstr>查询方式程序流程图</vt:lpstr>
      <vt:lpstr>5.2 中断系统的概念 </vt:lpstr>
      <vt:lpstr>5.3中断系统结构及中断控制</vt:lpstr>
      <vt:lpstr>中断技术实现的功能</vt:lpstr>
      <vt:lpstr>PowerPoint 演示文稿</vt:lpstr>
      <vt:lpstr>一、中断请求标志</vt:lpstr>
      <vt:lpstr>一、中断请求标志</vt:lpstr>
      <vt:lpstr>二、中断允许控制</vt:lpstr>
      <vt:lpstr>三、中断优先级控制</vt:lpstr>
      <vt:lpstr>（3）实现中断嵌套</vt:lpstr>
      <vt:lpstr>PowerPoint 演示文稿</vt:lpstr>
      <vt:lpstr>§5.4  中断响应及中断处理过程</vt:lpstr>
      <vt:lpstr>§5.4  中断响应及中断处理过程</vt:lpstr>
      <vt:lpstr>中断响应的过程</vt:lpstr>
      <vt:lpstr>中断入口地址表</vt:lpstr>
      <vt:lpstr>响应中断请求的条件</vt:lpstr>
      <vt:lpstr>中断请求的撤销</vt:lpstr>
      <vt:lpstr>中断请求的撤销</vt:lpstr>
      <vt:lpstr>中断请求的撤销</vt:lpstr>
      <vt:lpstr>2.中断响应操作过程</vt:lpstr>
      <vt:lpstr>5.4.2 中断处理包括的内容</vt:lpstr>
      <vt:lpstr>§5.4.3  中断返回</vt:lpstr>
      <vt:lpstr>§5.4.3中断服务子程序的流程</vt:lpstr>
      <vt:lpstr>1、主程序的起始地址</vt:lpstr>
      <vt:lpstr>中断服务程序设计的任务（两个任务）</vt:lpstr>
      <vt:lpstr>中断服务子程序实例</vt:lpstr>
      <vt:lpstr>程序几点说明：</vt:lpstr>
      <vt:lpstr>PowerPoint 演示文稿</vt:lpstr>
      <vt:lpstr>PowerPoint 演示文稿</vt:lpstr>
      <vt:lpstr>PowerPoint 演示文稿</vt:lpstr>
      <vt:lpstr>例5-4</vt:lpstr>
      <vt:lpstr>作业</vt:lpstr>
      <vt:lpstr>§5.6  思考题与习题</vt:lpstr>
      <vt:lpstr>§5.6 思考题与习题</vt:lpstr>
      <vt:lpstr>§5.7  思考题与习题</vt:lpstr>
      <vt:lpstr>§5.7  思考题与习题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www.pptbz.com</dc:creator>
  <cp:lastModifiedBy>陈 佩</cp:lastModifiedBy>
  <cp:revision>40</cp:revision>
  <dcterms:created xsi:type="dcterms:W3CDTF">2020-02-03T07:44:00Z</dcterms:created>
  <dcterms:modified xsi:type="dcterms:W3CDTF">2021-03-17T02:35:20Z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2016-10-16T00:00:00Z</vt:filetime>
  </property>
  <property fmtid="{D5CDD505-2E9C-101B-9397-08002B2CF9AE}" pid="3" name="Creator">
    <vt:lpwstr>Microsoft® PowerPoint® 2016</vt:lpwstr>
  </property>
  <property fmtid="{D5CDD505-2E9C-101B-9397-08002B2CF9AE}" pid="4" name="LastSaved">
    <vt:filetime>2020-02-03T00:00:00Z</vt:filetime>
  </property>
  <property fmtid="{D5CDD505-2E9C-101B-9397-08002B2CF9AE}" pid="5" name="KSOProductBuildVer">
    <vt:lpwstr>2052-11.1.0.9339</vt:lpwstr>
  </property>
</Properties>
</file>