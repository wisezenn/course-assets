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354" r:id="rId3"/>
    <p:sldId id="707" r:id="rId4"/>
    <p:sldId id="712" r:id="rId5"/>
    <p:sldId id="718" r:id="rId6"/>
    <p:sldId id="723" r:id="rId7"/>
    <p:sldId id="726" r:id="rId8"/>
    <p:sldId id="757" r:id="rId9"/>
    <p:sldId id="758" r:id="rId10"/>
    <p:sldId id="756" r:id="rId11"/>
    <p:sldId id="727" r:id="rId12"/>
    <p:sldId id="759" r:id="rId13"/>
    <p:sldId id="760" r:id="rId14"/>
    <p:sldId id="761" r:id="rId15"/>
    <p:sldId id="730" r:id="rId16"/>
    <p:sldId id="762" r:id="rId17"/>
    <p:sldId id="763" r:id="rId18"/>
    <p:sldId id="764" r:id="rId19"/>
    <p:sldId id="736" r:id="rId20"/>
    <p:sldId id="746" r:id="rId21"/>
    <p:sldId id="748" r:id="rId22"/>
    <p:sldId id="749" r:id="rId23"/>
    <p:sldId id="751" r:id="rId24"/>
    <p:sldId id="753" r:id="rId25"/>
    <p:sldId id="754" r:id="rId26"/>
  </p:sldIdLst>
  <p:sldSz cx="9144000" cy="6858000" type="screen4x3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28">
          <p15:clr>
            <a:srgbClr val="A4A3A4"/>
          </p15:clr>
        </p15:guide>
        <p15:guide id="2" pos="216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14"/>
      </p:cViewPr>
      <p:guideLst>
        <p:guide orient="horz" pos="2928"/>
        <p:guide pos="216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2022/3/13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239617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6" name="文本占位符 239618"/>
          <p:cNvSpPr>
            <a:spLocks noGrp="1"/>
          </p:cNvSpPr>
          <p:nvPr>
            <p:ph type="body"/>
          </p:nvPr>
        </p:nvSpPr>
        <p:spPr/>
        <p:txBody>
          <a:bodyPr anchor="t"/>
          <a:lstStyle/>
          <a:p>
            <a:pPr lvl="0" indent="0"/>
            <a:endParaRPr lang="zh-CN" dirty="0"/>
          </a:p>
        </p:txBody>
      </p:sp>
      <p:sp>
        <p:nvSpPr>
          <p:cNvPr id="6147" name="灯片编号占位符 1"/>
          <p:cNvSpPr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indent="0" algn="r" eaLnBrk="1" hangingPunct="1"/>
            <a:fld id="{9A0DB2DC-4C9A-4742-B13C-FB6460FD3503}" type="slidenum">
              <a:rPr lang="zh-CN" altLang="en-US" sz="1200" b="0" dirty="0"/>
              <a:t>2</a:t>
            </a:fld>
            <a:endParaRPr lang="zh-CN" altLang="en-US" sz="1200" b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6"/>
          <p:cNvSpPr/>
          <p:nvPr userDrawn="1"/>
        </p:nvSpPr>
        <p:spPr>
          <a:xfrm>
            <a:off x="8709659" y="6519671"/>
            <a:ext cx="433070" cy="338455"/>
          </a:xfrm>
          <a:custGeom>
            <a:avLst/>
            <a:gdLst/>
            <a:ahLst/>
            <a:cxnLst/>
            <a:rect l="l" t="t" r="r" b="b"/>
            <a:pathLst>
              <a:path w="433070" h="338454">
                <a:moveTo>
                  <a:pt x="0" y="338327"/>
                </a:moveTo>
                <a:lnTo>
                  <a:pt x="432816" y="338327"/>
                </a:lnTo>
                <a:lnTo>
                  <a:pt x="432816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 userDrawn="1"/>
        </p:nvSpPr>
        <p:spPr>
          <a:xfrm>
            <a:off x="611123" y="260604"/>
            <a:ext cx="539750" cy="538480"/>
          </a:xfrm>
          <a:custGeom>
            <a:avLst/>
            <a:gdLst/>
            <a:ahLst/>
            <a:cxnLst/>
            <a:rect l="l" t="t" r="r" b="b"/>
            <a:pathLst>
              <a:path w="539750" h="538480">
                <a:moveTo>
                  <a:pt x="0" y="537972"/>
                </a:moveTo>
                <a:lnTo>
                  <a:pt x="539496" y="537972"/>
                </a:lnTo>
                <a:lnTo>
                  <a:pt x="539496" y="0"/>
                </a:lnTo>
                <a:lnTo>
                  <a:pt x="0" y="0"/>
                </a:lnTo>
                <a:lnTo>
                  <a:pt x="0" y="537972"/>
                </a:lnTo>
                <a:close/>
              </a:path>
            </a:pathLst>
          </a:custGeom>
          <a:solidFill>
            <a:srgbClr val="0053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 userDrawn="1"/>
        </p:nvSpPr>
        <p:spPr>
          <a:xfrm>
            <a:off x="880872" y="530351"/>
            <a:ext cx="396240" cy="394970"/>
          </a:xfrm>
          <a:custGeom>
            <a:avLst/>
            <a:gdLst/>
            <a:ahLst/>
            <a:cxnLst/>
            <a:rect l="l" t="t" r="r" b="b"/>
            <a:pathLst>
              <a:path w="396240" h="394969">
                <a:moveTo>
                  <a:pt x="0" y="394715"/>
                </a:moveTo>
                <a:lnTo>
                  <a:pt x="396240" y="394715"/>
                </a:lnTo>
                <a:lnTo>
                  <a:pt x="396240" y="0"/>
                </a:lnTo>
                <a:lnTo>
                  <a:pt x="0" y="0"/>
                </a:lnTo>
                <a:lnTo>
                  <a:pt x="0" y="39471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98600" y="282575"/>
            <a:ext cx="2981960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990340" y="6443980"/>
            <a:ext cx="751840" cy="274320"/>
          </a:xfrm>
        </p:spPr>
        <p:txBody>
          <a:bodyPr wrap="square"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17915" y="6534785"/>
            <a:ext cx="426720" cy="293370"/>
          </a:xfrm>
        </p:spPr>
        <p:txBody>
          <a:bodyPr wrap="square" lIns="0" tIns="0" rIns="0" bIns="0"/>
          <a:lstStyle>
            <a:lvl1pPr>
              <a:defRPr sz="1200" b="0" i="0">
                <a:solidFill>
                  <a:srgbClr val="FFFF00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57200" y="970280"/>
            <a:ext cx="49879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6"/>
          <p:cNvSpPr/>
          <p:nvPr userDrawn="1"/>
        </p:nvSpPr>
        <p:spPr>
          <a:xfrm>
            <a:off x="8709659" y="6519671"/>
            <a:ext cx="433070" cy="338455"/>
          </a:xfrm>
          <a:custGeom>
            <a:avLst/>
            <a:gdLst/>
            <a:ahLst/>
            <a:cxnLst/>
            <a:rect l="l" t="t" r="r" b="b"/>
            <a:pathLst>
              <a:path w="433070" h="338454">
                <a:moveTo>
                  <a:pt x="0" y="338327"/>
                </a:moveTo>
                <a:lnTo>
                  <a:pt x="432816" y="338327"/>
                </a:lnTo>
                <a:lnTo>
                  <a:pt x="432816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pPr algn="ctr"/>
            <a:endParaRPr sz="16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990340" y="6443980"/>
            <a:ext cx="1351280" cy="274320"/>
          </a:xfrm>
        </p:spPr>
        <p:txBody>
          <a:bodyPr wrap="square"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3/13/2022</a:t>
            </a:fld>
            <a:endParaRPr lang="en-US"/>
          </a:p>
        </p:txBody>
      </p:sp>
      <p:sp>
        <p:nvSpPr>
          <p:cNvPr id="9" name="Holder 6"/>
          <p:cNvSpPr>
            <a:spLocks noGrp="1"/>
          </p:cNvSpPr>
          <p:nvPr>
            <p:ph type="sldNum" sz="quarter" idx="7"/>
          </p:nvPr>
        </p:nvSpPr>
        <p:spPr>
          <a:xfrm>
            <a:off x="8717915" y="6534785"/>
            <a:ext cx="426720" cy="293370"/>
          </a:xfrm>
        </p:spPr>
        <p:txBody>
          <a:bodyPr wrap="square" lIns="0" tIns="0" rIns="0" bIns="0"/>
          <a:lstStyle>
            <a:lvl1pPr>
              <a:defRPr sz="1200" b="0" i="0">
                <a:solidFill>
                  <a:srgbClr val="FFFF00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3990340" y="6443980"/>
            <a:ext cx="1061085" cy="274320"/>
          </a:xfrm>
        </p:spPr>
        <p:txBody>
          <a:bodyPr wrap="square"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45855" y="6612255"/>
            <a:ext cx="361950" cy="153670"/>
          </a:xfrm>
        </p:spPr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3990340" y="6443980"/>
            <a:ext cx="1070610" cy="274320"/>
          </a:xfrm>
        </p:spPr>
        <p:txBody>
          <a:bodyPr wrap="square"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8740775" y="6607175"/>
            <a:ext cx="361950" cy="153670"/>
          </a:xfrm>
        </p:spPr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98600" y="282575"/>
            <a:ext cx="3933190" cy="368935"/>
          </a:xfrm>
        </p:spPr>
        <p:txBody>
          <a:bodyPr wrap="square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t>3/13/2022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9A0DB2DC-4C9A-4742-B13C-FB6460FD3503}" type="slidenum">
              <a:rPr/>
              <a:t>‹#›</a:t>
            </a:fld>
            <a:endParaRPr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BB962C8B-B14F-4D97-AF65-F5344CB8AC3E}" type="datetime8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2022年3月13日5时26分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BB962C8B-B14F-4D97-AF65-F5344CB8AC3E}" type="datetime8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2022年3月13日5时26分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BB962C8B-B14F-4D97-AF65-F5344CB8AC3E}" type="datetime8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2022年3月13日5时26分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BB962C8B-B14F-4D97-AF65-F5344CB8AC3E}" type="datetime8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2022年3月13日5时26分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6"/>
          <p:cNvSpPr/>
          <p:nvPr userDrawn="1"/>
        </p:nvSpPr>
        <p:spPr>
          <a:xfrm>
            <a:off x="8709659" y="6519671"/>
            <a:ext cx="433070" cy="338455"/>
          </a:xfrm>
          <a:custGeom>
            <a:avLst/>
            <a:gdLst/>
            <a:ahLst/>
            <a:cxnLst/>
            <a:rect l="l" t="t" r="r" b="b"/>
            <a:pathLst>
              <a:path w="433070" h="338454">
                <a:moveTo>
                  <a:pt x="0" y="338327"/>
                </a:moveTo>
                <a:lnTo>
                  <a:pt x="432816" y="338327"/>
                </a:lnTo>
                <a:lnTo>
                  <a:pt x="432816" y="0"/>
                </a:lnTo>
                <a:lnTo>
                  <a:pt x="0" y="0"/>
                </a:lnTo>
                <a:lnTo>
                  <a:pt x="0" y="33832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bk object 16"/>
          <p:cNvSpPr/>
          <p:nvPr userDrawn="1"/>
        </p:nvSpPr>
        <p:spPr>
          <a:xfrm>
            <a:off x="611123" y="260604"/>
            <a:ext cx="539750" cy="538480"/>
          </a:xfrm>
          <a:custGeom>
            <a:avLst/>
            <a:gdLst/>
            <a:ahLst/>
            <a:cxnLst/>
            <a:rect l="l" t="t" r="r" b="b"/>
            <a:pathLst>
              <a:path w="539750" h="538480">
                <a:moveTo>
                  <a:pt x="0" y="537972"/>
                </a:moveTo>
                <a:lnTo>
                  <a:pt x="539496" y="537972"/>
                </a:lnTo>
                <a:lnTo>
                  <a:pt x="539496" y="0"/>
                </a:lnTo>
                <a:lnTo>
                  <a:pt x="0" y="0"/>
                </a:lnTo>
                <a:lnTo>
                  <a:pt x="0" y="537972"/>
                </a:lnTo>
                <a:close/>
              </a:path>
            </a:pathLst>
          </a:custGeom>
          <a:solidFill>
            <a:srgbClr val="0053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 userDrawn="1"/>
        </p:nvSpPr>
        <p:spPr>
          <a:xfrm>
            <a:off x="880872" y="530351"/>
            <a:ext cx="396240" cy="394970"/>
          </a:xfrm>
          <a:custGeom>
            <a:avLst/>
            <a:gdLst/>
            <a:ahLst/>
            <a:cxnLst/>
            <a:rect l="l" t="t" r="r" b="b"/>
            <a:pathLst>
              <a:path w="396240" h="394969">
                <a:moveTo>
                  <a:pt x="0" y="394715"/>
                </a:moveTo>
                <a:lnTo>
                  <a:pt x="396240" y="394715"/>
                </a:lnTo>
                <a:lnTo>
                  <a:pt x="396240" y="0"/>
                </a:lnTo>
                <a:lnTo>
                  <a:pt x="0" y="0"/>
                </a:lnTo>
                <a:lnTo>
                  <a:pt x="0" y="394715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98600" y="282575"/>
            <a:ext cx="2924810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710930" y="6550660"/>
            <a:ext cx="433070" cy="27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b="1">
                <a:solidFill>
                  <a:srgbClr val="FFFF00"/>
                </a:solidFill>
              </a:defRPr>
            </a:lvl1pPr>
          </a:lstStyle>
          <a:p>
            <a:fld id="{9A0DB2DC-4C9A-4742-B13C-FB6460FD3503}" type="slidenum">
              <a:rPr/>
              <a:t>‹#›</a:t>
            </a:fld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3/13/2022</a:t>
            </a:fld>
            <a:endParaRPr 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467360" y="998855"/>
            <a:ext cx="49879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6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副标题 12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7432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4038600" y="4800600"/>
            <a:ext cx="2866390" cy="3340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ts val="2530"/>
              </a:lnSpc>
              <a:spcBef>
                <a:spcPts val="80"/>
              </a:spcBef>
            </a:pPr>
            <a:r>
              <a:rPr sz="2000" b="1" dirty="0" err="1">
                <a:solidFill>
                  <a:srgbClr val="006FC0"/>
                </a:solidFill>
                <a:latin typeface="微软雅黑" panose="020B0503020204020204" charset="-122"/>
                <a:cs typeface="微软雅黑" panose="020B0503020204020204" charset="-122"/>
              </a:rPr>
              <a:t>主讲</a:t>
            </a:r>
            <a:r>
              <a:rPr lang="en-US" sz="2000" b="1" dirty="0">
                <a:solidFill>
                  <a:srgbClr val="006FC0"/>
                </a:solidFill>
                <a:latin typeface="微软雅黑" panose="020B0503020204020204" charset="-122"/>
                <a:cs typeface="微软雅黑" panose="020B0503020204020204" charset="-122"/>
              </a:rPr>
              <a:t>:</a:t>
            </a:r>
            <a:r>
              <a:rPr sz="2000" b="1" dirty="0">
                <a:solidFill>
                  <a:srgbClr val="006FC0"/>
                </a:solidFill>
                <a:latin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2000" b="1" dirty="0">
                <a:solidFill>
                  <a:srgbClr val="006FC0"/>
                </a:solidFill>
                <a:latin typeface="微软雅黑" panose="020B0503020204020204" charset="-122"/>
                <a:cs typeface="微软雅黑" panose="020B0503020204020204" charset="-122"/>
              </a:rPr>
              <a:t>陈佩</a:t>
            </a:r>
            <a:endParaRPr lang="zh-CN" altLang="zh-CN" sz="2000" b="1" dirty="0">
              <a:solidFill>
                <a:srgbClr val="006FC0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564880" y="2717292"/>
            <a:ext cx="579120" cy="993775"/>
          </a:xfrm>
          <a:custGeom>
            <a:avLst/>
            <a:gdLst/>
            <a:ahLst/>
            <a:cxnLst/>
            <a:rect l="l" t="t" r="r" b="b"/>
            <a:pathLst>
              <a:path w="579120" h="993775">
                <a:moveTo>
                  <a:pt x="0" y="993648"/>
                </a:moveTo>
                <a:lnTo>
                  <a:pt x="579120" y="993648"/>
                </a:lnTo>
                <a:lnTo>
                  <a:pt x="579120" y="0"/>
                </a:lnTo>
                <a:lnTo>
                  <a:pt x="0" y="0"/>
                </a:lnTo>
                <a:lnTo>
                  <a:pt x="0" y="993648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564880" y="3805428"/>
            <a:ext cx="579120" cy="273050"/>
          </a:xfrm>
          <a:custGeom>
            <a:avLst/>
            <a:gdLst/>
            <a:ahLst/>
            <a:cxnLst/>
            <a:rect l="l" t="t" r="r" b="b"/>
            <a:pathLst>
              <a:path w="579120" h="273050">
                <a:moveTo>
                  <a:pt x="0" y="272796"/>
                </a:moveTo>
                <a:lnTo>
                  <a:pt x="579120" y="272796"/>
                </a:lnTo>
                <a:lnTo>
                  <a:pt x="579120" y="0"/>
                </a:lnTo>
                <a:lnTo>
                  <a:pt x="0" y="0"/>
                </a:lnTo>
                <a:lnTo>
                  <a:pt x="0" y="27279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3805428"/>
            <a:ext cx="5991225" cy="273050"/>
          </a:xfrm>
          <a:custGeom>
            <a:avLst/>
            <a:gdLst/>
            <a:ahLst/>
            <a:cxnLst/>
            <a:rect l="l" t="t" r="r" b="b"/>
            <a:pathLst>
              <a:path w="5991225" h="273050">
                <a:moveTo>
                  <a:pt x="0" y="272796"/>
                </a:moveTo>
                <a:lnTo>
                  <a:pt x="5990844" y="272796"/>
                </a:lnTo>
                <a:lnTo>
                  <a:pt x="5990844" y="0"/>
                </a:lnTo>
                <a:lnTo>
                  <a:pt x="0" y="0"/>
                </a:lnTo>
                <a:lnTo>
                  <a:pt x="0" y="272796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2717165"/>
            <a:ext cx="6548755" cy="993775"/>
          </a:xfrm>
          <a:custGeom>
            <a:avLst/>
            <a:gdLst/>
            <a:ahLst/>
            <a:cxnLst/>
            <a:rect l="l" t="t" r="r" b="b"/>
            <a:pathLst>
              <a:path w="5991225" h="993775">
                <a:moveTo>
                  <a:pt x="0" y="993648"/>
                </a:moveTo>
                <a:lnTo>
                  <a:pt x="5990844" y="993648"/>
                </a:lnTo>
                <a:lnTo>
                  <a:pt x="5990844" y="0"/>
                </a:lnTo>
                <a:lnTo>
                  <a:pt x="0" y="0"/>
                </a:lnTo>
                <a:lnTo>
                  <a:pt x="0" y="993648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67025" y="2950210"/>
            <a:ext cx="3628390" cy="534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单片机</a:t>
            </a:r>
            <a:r>
              <a:rPr lang="zh-CN" sz="3400" b="1" spc="-5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原理及应用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227070" y="3805555"/>
            <a:ext cx="3321685" cy="257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600" spc="-5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</a:rPr>
              <a:t>Chang'an university</a:t>
            </a:r>
            <a:endParaRPr lang="en-US"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3265" y="2788157"/>
            <a:ext cx="1224280" cy="1224280"/>
          </a:xfrm>
          <a:custGeom>
            <a:avLst/>
            <a:gdLst/>
            <a:ahLst/>
            <a:cxnLst/>
            <a:rect l="l" t="t" r="r" b="b"/>
            <a:pathLst>
              <a:path w="1224280" h="1224279">
                <a:moveTo>
                  <a:pt x="611886" y="0"/>
                </a:moveTo>
                <a:lnTo>
                  <a:pt x="564067" y="1840"/>
                </a:lnTo>
                <a:lnTo>
                  <a:pt x="517255" y="7272"/>
                </a:lnTo>
                <a:lnTo>
                  <a:pt x="471586" y="16159"/>
                </a:lnTo>
                <a:lnTo>
                  <a:pt x="427195" y="28365"/>
                </a:lnTo>
                <a:lnTo>
                  <a:pt x="384219" y="43754"/>
                </a:lnTo>
                <a:lnTo>
                  <a:pt x="342794" y="62190"/>
                </a:lnTo>
                <a:lnTo>
                  <a:pt x="303055" y="83537"/>
                </a:lnTo>
                <a:lnTo>
                  <a:pt x="265140" y="107659"/>
                </a:lnTo>
                <a:lnTo>
                  <a:pt x="229182" y="134420"/>
                </a:lnTo>
                <a:lnTo>
                  <a:pt x="195320" y="163684"/>
                </a:lnTo>
                <a:lnTo>
                  <a:pt x="163689" y="195315"/>
                </a:lnTo>
                <a:lnTo>
                  <a:pt x="134424" y="229177"/>
                </a:lnTo>
                <a:lnTo>
                  <a:pt x="107663" y="265134"/>
                </a:lnTo>
                <a:lnTo>
                  <a:pt x="83540" y="303050"/>
                </a:lnTo>
                <a:lnTo>
                  <a:pt x="62192" y="342788"/>
                </a:lnTo>
                <a:lnTo>
                  <a:pt x="43756" y="384214"/>
                </a:lnTo>
                <a:lnTo>
                  <a:pt x="28366" y="427191"/>
                </a:lnTo>
                <a:lnTo>
                  <a:pt x="16160" y="471582"/>
                </a:lnTo>
                <a:lnTo>
                  <a:pt x="7273" y="517252"/>
                </a:lnTo>
                <a:lnTo>
                  <a:pt x="1840" y="564065"/>
                </a:lnTo>
                <a:lnTo>
                  <a:pt x="0" y="611886"/>
                </a:lnTo>
                <a:lnTo>
                  <a:pt x="1840" y="659706"/>
                </a:lnTo>
                <a:lnTo>
                  <a:pt x="7273" y="706519"/>
                </a:lnTo>
                <a:lnTo>
                  <a:pt x="16160" y="752189"/>
                </a:lnTo>
                <a:lnTo>
                  <a:pt x="28366" y="796580"/>
                </a:lnTo>
                <a:lnTo>
                  <a:pt x="43756" y="839557"/>
                </a:lnTo>
                <a:lnTo>
                  <a:pt x="62192" y="880983"/>
                </a:lnTo>
                <a:lnTo>
                  <a:pt x="83540" y="920721"/>
                </a:lnTo>
                <a:lnTo>
                  <a:pt x="107663" y="958637"/>
                </a:lnTo>
                <a:lnTo>
                  <a:pt x="134424" y="994594"/>
                </a:lnTo>
                <a:lnTo>
                  <a:pt x="163689" y="1028456"/>
                </a:lnTo>
                <a:lnTo>
                  <a:pt x="195320" y="1060087"/>
                </a:lnTo>
                <a:lnTo>
                  <a:pt x="229182" y="1089351"/>
                </a:lnTo>
                <a:lnTo>
                  <a:pt x="265140" y="1116112"/>
                </a:lnTo>
                <a:lnTo>
                  <a:pt x="303055" y="1140234"/>
                </a:lnTo>
                <a:lnTo>
                  <a:pt x="342794" y="1161581"/>
                </a:lnTo>
                <a:lnTo>
                  <a:pt x="384219" y="1180017"/>
                </a:lnTo>
                <a:lnTo>
                  <a:pt x="427195" y="1195406"/>
                </a:lnTo>
                <a:lnTo>
                  <a:pt x="471586" y="1207612"/>
                </a:lnTo>
                <a:lnTo>
                  <a:pt x="517255" y="1216499"/>
                </a:lnTo>
                <a:lnTo>
                  <a:pt x="564067" y="1221931"/>
                </a:lnTo>
                <a:lnTo>
                  <a:pt x="611886" y="1223771"/>
                </a:lnTo>
                <a:lnTo>
                  <a:pt x="659704" y="1221931"/>
                </a:lnTo>
                <a:lnTo>
                  <a:pt x="706516" y="1216499"/>
                </a:lnTo>
                <a:lnTo>
                  <a:pt x="752185" y="1207612"/>
                </a:lnTo>
                <a:lnTo>
                  <a:pt x="796576" y="1195406"/>
                </a:lnTo>
                <a:lnTo>
                  <a:pt x="839552" y="1180017"/>
                </a:lnTo>
                <a:lnTo>
                  <a:pt x="880977" y="1161581"/>
                </a:lnTo>
                <a:lnTo>
                  <a:pt x="920716" y="1140234"/>
                </a:lnTo>
                <a:lnTo>
                  <a:pt x="958631" y="1116112"/>
                </a:lnTo>
                <a:lnTo>
                  <a:pt x="994589" y="1089351"/>
                </a:lnTo>
                <a:lnTo>
                  <a:pt x="1028451" y="1060087"/>
                </a:lnTo>
                <a:lnTo>
                  <a:pt x="1060082" y="1028456"/>
                </a:lnTo>
                <a:lnTo>
                  <a:pt x="1089347" y="994594"/>
                </a:lnTo>
                <a:lnTo>
                  <a:pt x="1116108" y="958637"/>
                </a:lnTo>
                <a:lnTo>
                  <a:pt x="1140231" y="920721"/>
                </a:lnTo>
                <a:lnTo>
                  <a:pt x="1161579" y="880983"/>
                </a:lnTo>
                <a:lnTo>
                  <a:pt x="1180015" y="839557"/>
                </a:lnTo>
                <a:lnTo>
                  <a:pt x="1195405" y="796580"/>
                </a:lnTo>
                <a:lnTo>
                  <a:pt x="1207611" y="752189"/>
                </a:lnTo>
                <a:lnTo>
                  <a:pt x="1216498" y="706519"/>
                </a:lnTo>
                <a:lnTo>
                  <a:pt x="1221931" y="659706"/>
                </a:lnTo>
                <a:lnTo>
                  <a:pt x="1223772" y="611886"/>
                </a:lnTo>
                <a:lnTo>
                  <a:pt x="1221931" y="564065"/>
                </a:lnTo>
                <a:lnTo>
                  <a:pt x="1216498" y="517252"/>
                </a:lnTo>
                <a:lnTo>
                  <a:pt x="1207611" y="471582"/>
                </a:lnTo>
                <a:lnTo>
                  <a:pt x="1195405" y="427191"/>
                </a:lnTo>
                <a:lnTo>
                  <a:pt x="1180015" y="384214"/>
                </a:lnTo>
                <a:lnTo>
                  <a:pt x="1161579" y="342788"/>
                </a:lnTo>
                <a:lnTo>
                  <a:pt x="1140231" y="303050"/>
                </a:lnTo>
                <a:lnTo>
                  <a:pt x="1116108" y="265134"/>
                </a:lnTo>
                <a:lnTo>
                  <a:pt x="1089347" y="229177"/>
                </a:lnTo>
                <a:lnTo>
                  <a:pt x="1060082" y="195315"/>
                </a:lnTo>
                <a:lnTo>
                  <a:pt x="1028451" y="163684"/>
                </a:lnTo>
                <a:lnTo>
                  <a:pt x="994589" y="134420"/>
                </a:lnTo>
                <a:lnTo>
                  <a:pt x="958631" y="107659"/>
                </a:lnTo>
                <a:lnTo>
                  <a:pt x="920716" y="83537"/>
                </a:lnTo>
                <a:lnTo>
                  <a:pt x="880977" y="62190"/>
                </a:lnTo>
                <a:lnTo>
                  <a:pt x="839552" y="43754"/>
                </a:lnTo>
                <a:lnTo>
                  <a:pt x="796576" y="28365"/>
                </a:lnTo>
                <a:lnTo>
                  <a:pt x="752185" y="16159"/>
                </a:lnTo>
                <a:lnTo>
                  <a:pt x="706516" y="7272"/>
                </a:lnTo>
                <a:lnTo>
                  <a:pt x="659704" y="1840"/>
                </a:lnTo>
                <a:lnTo>
                  <a:pt x="611886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3265" y="2788157"/>
            <a:ext cx="1224280" cy="1224280"/>
          </a:xfrm>
          <a:custGeom>
            <a:avLst/>
            <a:gdLst/>
            <a:ahLst/>
            <a:cxnLst/>
            <a:rect l="l" t="t" r="r" b="b"/>
            <a:pathLst>
              <a:path w="1224280" h="1224279">
                <a:moveTo>
                  <a:pt x="0" y="611886"/>
                </a:moveTo>
                <a:lnTo>
                  <a:pt x="1840" y="564065"/>
                </a:lnTo>
                <a:lnTo>
                  <a:pt x="7273" y="517252"/>
                </a:lnTo>
                <a:lnTo>
                  <a:pt x="16160" y="471582"/>
                </a:lnTo>
                <a:lnTo>
                  <a:pt x="28366" y="427191"/>
                </a:lnTo>
                <a:lnTo>
                  <a:pt x="43756" y="384214"/>
                </a:lnTo>
                <a:lnTo>
                  <a:pt x="62192" y="342788"/>
                </a:lnTo>
                <a:lnTo>
                  <a:pt x="83540" y="303050"/>
                </a:lnTo>
                <a:lnTo>
                  <a:pt x="107663" y="265134"/>
                </a:lnTo>
                <a:lnTo>
                  <a:pt x="134424" y="229177"/>
                </a:lnTo>
                <a:lnTo>
                  <a:pt x="163689" y="195315"/>
                </a:lnTo>
                <a:lnTo>
                  <a:pt x="195320" y="163684"/>
                </a:lnTo>
                <a:lnTo>
                  <a:pt x="229182" y="134420"/>
                </a:lnTo>
                <a:lnTo>
                  <a:pt x="265140" y="107659"/>
                </a:lnTo>
                <a:lnTo>
                  <a:pt x="303055" y="83537"/>
                </a:lnTo>
                <a:lnTo>
                  <a:pt x="342794" y="62190"/>
                </a:lnTo>
                <a:lnTo>
                  <a:pt x="384219" y="43754"/>
                </a:lnTo>
                <a:lnTo>
                  <a:pt x="427195" y="28365"/>
                </a:lnTo>
                <a:lnTo>
                  <a:pt x="471586" y="16159"/>
                </a:lnTo>
                <a:lnTo>
                  <a:pt x="517255" y="7272"/>
                </a:lnTo>
                <a:lnTo>
                  <a:pt x="564067" y="1840"/>
                </a:lnTo>
                <a:lnTo>
                  <a:pt x="611886" y="0"/>
                </a:lnTo>
                <a:lnTo>
                  <a:pt x="659704" y="1840"/>
                </a:lnTo>
                <a:lnTo>
                  <a:pt x="706516" y="7272"/>
                </a:lnTo>
                <a:lnTo>
                  <a:pt x="752185" y="16159"/>
                </a:lnTo>
                <a:lnTo>
                  <a:pt x="796576" y="28365"/>
                </a:lnTo>
                <a:lnTo>
                  <a:pt x="839552" y="43754"/>
                </a:lnTo>
                <a:lnTo>
                  <a:pt x="880977" y="62190"/>
                </a:lnTo>
                <a:lnTo>
                  <a:pt x="920716" y="83537"/>
                </a:lnTo>
                <a:lnTo>
                  <a:pt x="958631" y="107659"/>
                </a:lnTo>
                <a:lnTo>
                  <a:pt x="994589" y="134420"/>
                </a:lnTo>
                <a:lnTo>
                  <a:pt x="1028451" y="163684"/>
                </a:lnTo>
                <a:lnTo>
                  <a:pt x="1060082" y="195315"/>
                </a:lnTo>
                <a:lnTo>
                  <a:pt x="1089347" y="229177"/>
                </a:lnTo>
                <a:lnTo>
                  <a:pt x="1116108" y="265134"/>
                </a:lnTo>
                <a:lnTo>
                  <a:pt x="1140231" y="303050"/>
                </a:lnTo>
                <a:lnTo>
                  <a:pt x="1161579" y="342788"/>
                </a:lnTo>
                <a:lnTo>
                  <a:pt x="1180015" y="384214"/>
                </a:lnTo>
                <a:lnTo>
                  <a:pt x="1195405" y="427191"/>
                </a:lnTo>
                <a:lnTo>
                  <a:pt x="1207611" y="471582"/>
                </a:lnTo>
                <a:lnTo>
                  <a:pt x="1216498" y="517252"/>
                </a:lnTo>
                <a:lnTo>
                  <a:pt x="1221931" y="564065"/>
                </a:lnTo>
                <a:lnTo>
                  <a:pt x="1223772" y="611886"/>
                </a:lnTo>
                <a:lnTo>
                  <a:pt x="1221931" y="659706"/>
                </a:lnTo>
                <a:lnTo>
                  <a:pt x="1216498" y="706519"/>
                </a:lnTo>
                <a:lnTo>
                  <a:pt x="1207611" y="752189"/>
                </a:lnTo>
                <a:lnTo>
                  <a:pt x="1195405" y="796580"/>
                </a:lnTo>
                <a:lnTo>
                  <a:pt x="1180015" y="839557"/>
                </a:lnTo>
                <a:lnTo>
                  <a:pt x="1161579" y="880983"/>
                </a:lnTo>
                <a:lnTo>
                  <a:pt x="1140231" y="920721"/>
                </a:lnTo>
                <a:lnTo>
                  <a:pt x="1116108" y="958637"/>
                </a:lnTo>
                <a:lnTo>
                  <a:pt x="1089347" y="994594"/>
                </a:lnTo>
                <a:lnTo>
                  <a:pt x="1060082" y="1028456"/>
                </a:lnTo>
                <a:lnTo>
                  <a:pt x="1028451" y="1060087"/>
                </a:lnTo>
                <a:lnTo>
                  <a:pt x="994589" y="1089351"/>
                </a:lnTo>
                <a:lnTo>
                  <a:pt x="958631" y="1116112"/>
                </a:lnTo>
                <a:lnTo>
                  <a:pt x="920716" y="1140234"/>
                </a:lnTo>
                <a:lnTo>
                  <a:pt x="880977" y="1161581"/>
                </a:lnTo>
                <a:lnTo>
                  <a:pt x="839552" y="1180017"/>
                </a:lnTo>
                <a:lnTo>
                  <a:pt x="796576" y="1195406"/>
                </a:lnTo>
                <a:lnTo>
                  <a:pt x="752185" y="1207612"/>
                </a:lnTo>
                <a:lnTo>
                  <a:pt x="706516" y="1216499"/>
                </a:lnTo>
                <a:lnTo>
                  <a:pt x="659704" y="1221931"/>
                </a:lnTo>
                <a:lnTo>
                  <a:pt x="611886" y="1223771"/>
                </a:lnTo>
                <a:lnTo>
                  <a:pt x="564067" y="1221931"/>
                </a:lnTo>
                <a:lnTo>
                  <a:pt x="517255" y="1216499"/>
                </a:lnTo>
                <a:lnTo>
                  <a:pt x="471586" y="1207612"/>
                </a:lnTo>
                <a:lnTo>
                  <a:pt x="427195" y="1195406"/>
                </a:lnTo>
                <a:lnTo>
                  <a:pt x="384219" y="1180017"/>
                </a:lnTo>
                <a:lnTo>
                  <a:pt x="342794" y="1161581"/>
                </a:lnTo>
                <a:lnTo>
                  <a:pt x="303055" y="1140234"/>
                </a:lnTo>
                <a:lnTo>
                  <a:pt x="265140" y="1116112"/>
                </a:lnTo>
                <a:lnTo>
                  <a:pt x="229182" y="1089351"/>
                </a:lnTo>
                <a:lnTo>
                  <a:pt x="195320" y="1060087"/>
                </a:lnTo>
                <a:lnTo>
                  <a:pt x="163689" y="1028456"/>
                </a:lnTo>
                <a:lnTo>
                  <a:pt x="134424" y="994594"/>
                </a:lnTo>
                <a:lnTo>
                  <a:pt x="107663" y="958637"/>
                </a:lnTo>
                <a:lnTo>
                  <a:pt x="83540" y="920721"/>
                </a:lnTo>
                <a:lnTo>
                  <a:pt x="62192" y="880983"/>
                </a:lnTo>
                <a:lnTo>
                  <a:pt x="43756" y="839557"/>
                </a:lnTo>
                <a:lnTo>
                  <a:pt x="28366" y="796580"/>
                </a:lnTo>
                <a:lnTo>
                  <a:pt x="16160" y="752189"/>
                </a:lnTo>
                <a:lnTo>
                  <a:pt x="7273" y="706519"/>
                </a:lnTo>
                <a:lnTo>
                  <a:pt x="1840" y="659706"/>
                </a:lnTo>
                <a:lnTo>
                  <a:pt x="0" y="611886"/>
                </a:lnTo>
                <a:close/>
              </a:path>
            </a:pathLst>
          </a:custGeom>
          <a:ln w="2590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6531" y="3034283"/>
            <a:ext cx="775970" cy="730250"/>
          </a:xfrm>
          <a:custGeom>
            <a:avLst/>
            <a:gdLst/>
            <a:ahLst/>
            <a:cxnLst/>
            <a:rect l="l" t="t" r="r" b="b"/>
            <a:pathLst>
              <a:path w="775969" h="730250">
                <a:moveTo>
                  <a:pt x="143941" y="0"/>
                </a:moveTo>
                <a:lnTo>
                  <a:pt x="111206" y="5772"/>
                </a:lnTo>
                <a:lnTo>
                  <a:pt x="85969" y="22082"/>
                </a:lnTo>
                <a:lnTo>
                  <a:pt x="69728" y="47416"/>
                </a:lnTo>
                <a:lnTo>
                  <a:pt x="63982" y="80263"/>
                </a:lnTo>
                <a:lnTo>
                  <a:pt x="69728" y="113091"/>
                </a:lnTo>
                <a:lnTo>
                  <a:pt x="85969" y="138382"/>
                </a:lnTo>
                <a:lnTo>
                  <a:pt x="111206" y="154648"/>
                </a:lnTo>
                <a:lnTo>
                  <a:pt x="143941" y="160400"/>
                </a:lnTo>
                <a:lnTo>
                  <a:pt x="176684" y="154648"/>
                </a:lnTo>
                <a:lnTo>
                  <a:pt x="201925" y="138382"/>
                </a:lnTo>
                <a:lnTo>
                  <a:pt x="218167" y="113091"/>
                </a:lnTo>
                <a:lnTo>
                  <a:pt x="223913" y="80263"/>
                </a:lnTo>
                <a:lnTo>
                  <a:pt x="218167" y="47416"/>
                </a:lnTo>
                <a:lnTo>
                  <a:pt x="201925" y="22082"/>
                </a:lnTo>
                <a:lnTo>
                  <a:pt x="176684" y="5772"/>
                </a:lnTo>
                <a:lnTo>
                  <a:pt x="143941" y="0"/>
                </a:lnTo>
                <a:close/>
              </a:path>
              <a:path w="775969" h="730250">
                <a:moveTo>
                  <a:pt x="127952" y="184530"/>
                </a:moveTo>
                <a:lnTo>
                  <a:pt x="39979" y="184530"/>
                </a:lnTo>
                <a:lnTo>
                  <a:pt x="0" y="401065"/>
                </a:lnTo>
                <a:lnTo>
                  <a:pt x="55981" y="441198"/>
                </a:lnTo>
                <a:lnTo>
                  <a:pt x="39979" y="729995"/>
                </a:lnTo>
                <a:lnTo>
                  <a:pt x="111963" y="729995"/>
                </a:lnTo>
                <a:lnTo>
                  <a:pt x="127952" y="481329"/>
                </a:lnTo>
                <a:lnTo>
                  <a:pt x="234136" y="481329"/>
                </a:lnTo>
                <a:lnTo>
                  <a:pt x="231914" y="441198"/>
                </a:lnTo>
                <a:lnTo>
                  <a:pt x="229007" y="377063"/>
                </a:lnTo>
                <a:lnTo>
                  <a:pt x="143941" y="377063"/>
                </a:lnTo>
                <a:lnTo>
                  <a:pt x="111963" y="344931"/>
                </a:lnTo>
                <a:lnTo>
                  <a:pt x="127952" y="216535"/>
                </a:lnTo>
                <a:lnTo>
                  <a:pt x="119951" y="192531"/>
                </a:lnTo>
                <a:lnTo>
                  <a:pt x="127952" y="184530"/>
                </a:lnTo>
                <a:close/>
              </a:path>
              <a:path w="775969" h="730250">
                <a:moveTo>
                  <a:pt x="234136" y="481329"/>
                </a:moveTo>
                <a:lnTo>
                  <a:pt x="159943" y="481329"/>
                </a:lnTo>
                <a:lnTo>
                  <a:pt x="175933" y="729995"/>
                </a:lnTo>
                <a:lnTo>
                  <a:pt x="247904" y="729995"/>
                </a:lnTo>
                <a:lnTo>
                  <a:pt x="234136" y="481329"/>
                </a:lnTo>
                <a:close/>
              </a:path>
              <a:path w="775969" h="730250">
                <a:moveTo>
                  <a:pt x="591781" y="689863"/>
                </a:moveTo>
                <a:lnTo>
                  <a:pt x="343877" y="689863"/>
                </a:lnTo>
                <a:lnTo>
                  <a:pt x="343877" y="729995"/>
                </a:lnTo>
                <a:lnTo>
                  <a:pt x="591781" y="729995"/>
                </a:lnTo>
                <a:lnTo>
                  <a:pt x="591781" y="689863"/>
                </a:lnTo>
                <a:close/>
              </a:path>
              <a:path w="775969" h="730250">
                <a:moveTo>
                  <a:pt x="503821" y="545464"/>
                </a:moveTo>
                <a:lnTo>
                  <a:pt x="431838" y="545464"/>
                </a:lnTo>
                <a:lnTo>
                  <a:pt x="431838" y="673861"/>
                </a:lnTo>
                <a:lnTo>
                  <a:pt x="503821" y="673861"/>
                </a:lnTo>
                <a:lnTo>
                  <a:pt x="503821" y="545464"/>
                </a:lnTo>
                <a:close/>
              </a:path>
              <a:path w="775969" h="730250">
                <a:moveTo>
                  <a:pt x="775716" y="24002"/>
                </a:moveTo>
                <a:lnTo>
                  <a:pt x="271894" y="24002"/>
                </a:lnTo>
                <a:lnTo>
                  <a:pt x="271894" y="72136"/>
                </a:lnTo>
                <a:lnTo>
                  <a:pt x="719734" y="72136"/>
                </a:lnTo>
                <a:lnTo>
                  <a:pt x="719734" y="489330"/>
                </a:lnTo>
                <a:lnTo>
                  <a:pt x="287896" y="489330"/>
                </a:lnTo>
                <a:lnTo>
                  <a:pt x="287896" y="545464"/>
                </a:lnTo>
                <a:lnTo>
                  <a:pt x="775716" y="545464"/>
                </a:lnTo>
                <a:lnTo>
                  <a:pt x="775716" y="24002"/>
                </a:lnTo>
                <a:close/>
              </a:path>
              <a:path w="775969" h="730250">
                <a:moveTo>
                  <a:pt x="457669" y="360933"/>
                </a:moveTo>
                <a:lnTo>
                  <a:pt x="407847" y="360933"/>
                </a:lnTo>
                <a:lnTo>
                  <a:pt x="471830" y="401065"/>
                </a:lnTo>
                <a:lnTo>
                  <a:pt x="487819" y="409066"/>
                </a:lnTo>
                <a:lnTo>
                  <a:pt x="487819" y="393064"/>
                </a:lnTo>
                <a:lnTo>
                  <a:pt x="496789" y="369062"/>
                </a:lnTo>
                <a:lnTo>
                  <a:pt x="471830" y="369062"/>
                </a:lnTo>
                <a:lnTo>
                  <a:pt x="457669" y="360933"/>
                </a:lnTo>
                <a:close/>
              </a:path>
              <a:path w="775969" h="730250">
                <a:moveTo>
                  <a:pt x="407847" y="328929"/>
                </a:moveTo>
                <a:lnTo>
                  <a:pt x="399859" y="336930"/>
                </a:lnTo>
                <a:lnTo>
                  <a:pt x="327875" y="360933"/>
                </a:lnTo>
                <a:lnTo>
                  <a:pt x="335876" y="385063"/>
                </a:lnTo>
                <a:lnTo>
                  <a:pt x="407847" y="360933"/>
                </a:lnTo>
                <a:lnTo>
                  <a:pt x="457669" y="360933"/>
                </a:lnTo>
                <a:lnTo>
                  <a:pt x="415848" y="336930"/>
                </a:lnTo>
                <a:lnTo>
                  <a:pt x="407847" y="328929"/>
                </a:lnTo>
                <a:close/>
              </a:path>
              <a:path w="775969" h="730250">
                <a:moveTo>
                  <a:pt x="239915" y="184530"/>
                </a:moveTo>
                <a:lnTo>
                  <a:pt x="159943" y="184530"/>
                </a:lnTo>
                <a:lnTo>
                  <a:pt x="159943" y="192531"/>
                </a:lnTo>
                <a:lnTo>
                  <a:pt x="151942" y="216535"/>
                </a:lnTo>
                <a:lnTo>
                  <a:pt x="175933" y="344931"/>
                </a:lnTo>
                <a:lnTo>
                  <a:pt x="143941" y="377063"/>
                </a:lnTo>
                <a:lnTo>
                  <a:pt x="229007" y="377063"/>
                </a:lnTo>
                <a:lnTo>
                  <a:pt x="223913" y="264667"/>
                </a:lnTo>
                <a:lnTo>
                  <a:pt x="399859" y="256666"/>
                </a:lnTo>
                <a:lnTo>
                  <a:pt x="439839" y="192531"/>
                </a:lnTo>
                <a:lnTo>
                  <a:pt x="239915" y="184530"/>
                </a:lnTo>
                <a:close/>
              </a:path>
              <a:path w="775969" h="730250">
                <a:moveTo>
                  <a:pt x="527812" y="216535"/>
                </a:moveTo>
                <a:lnTo>
                  <a:pt x="519811" y="232663"/>
                </a:lnTo>
                <a:lnTo>
                  <a:pt x="471830" y="369062"/>
                </a:lnTo>
                <a:lnTo>
                  <a:pt x="496789" y="369062"/>
                </a:lnTo>
                <a:lnTo>
                  <a:pt x="535800" y="264667"/>
                </a:lnTo>
                <a:lnTo>
                  <a:pt x="574063" y="264667"/>
                </a:lnTo>
                <a:lnTo>
                  <a:pt x="535800" y="232663"/>
                </a:lnTo>
                <a:lnTo>
                  <a:pt x="527812" y="216535"/>
                </a:lnTo>
                <a:close/>
              </a:path>
              <a:path w="775969" h="730250">
                <a:moveTo>
                  <a:pt x="574063" y="264667"/>
                </a:moveTo>
                <a:lnTo>
                  <a:pt x="535800" y="264667"/>
                </a:lnTo>
                <a:lnTo>
                  <a:pt x="575792" y="304800"/>
                </a:lnTo>
                <a:lnTo>
                  <a:pt x="583780" y="320928"/>
                </a:lnTo>
                <a:lnTo>
                  <a:pt x="599782" y="304800"/>
                </a:lnTo>
                <a:lnTo>
                  <a:pt x="616805" y="272795"/>
                </a:lnTo>
                <a:lnTo>
                  <a:pt x="583780" y="272795"/>
                </a:lnTo>
                <a:lnTo>
                  <a:pt x="574063" y="264667"/>
                </a:lnTo>
                <a:close/>
              </a:path>
              <a:path w="775969" h="730250">
                <a:moveTo>
                  <a:pt x="647763" y="168401"/>
                </a:moveTo>
                <a:lnTo>
                  <a:pt x="583780" y="272795"/>
                </a:lnTo>
                <a:lnTo>
                  <a:pt x="616805" y="272795"/>
                </a:lnTo>
                <a:lnTo>
                  <a:pt x="663752" y="184530"/>
                </a:lnTo>
                <a:lnTo>
                  <a:pt x="647763" y="1684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</a:t>
            </a:fld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238593"/>
          <p:cNvSpPr>
            <a:spLocks noGrp="1"/>
          </p:cNvSpPr>
          <p:nvPr>
            <p:ph type="title"/>
          </p:nvPr>
        </p:nvSpPr>
        <p:spPr>
          <a:xfrm>
            <a:off x="1557973" y="230188"/>
            <a:ext cx="7219950" cy="738505"/>
          </a:xfrm>
        </p:spPr>
        <p:txBody>
          <a:bodyPr anchor="ctr"/>
          <a:lstStyle/>
          <a:p>
            <a:pPr>
              <a:lnSpc>
                <a:spcPct val="80000"/>
              </a:lnSpc>
            </a:pPr>
            <a:r>
              <a:rPr lang="zh-CN" altLang="en-US" sz="60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目  录</a:t>
            </a:r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5122" name="文本占位符 238594"/>
          <p:cNvSpPr>
            <a:spLocks noGrp="1"/>
          </p:cNvSpPr>
          <p:nvPr>
            <p:ph idx="1"/>
          </p:nvPr>
        </p:nvSpPr>
        <p:spPr>
          <a:xfrm>
            <a:off x="971550" y="1628775"/>
            <a:ext cx="7696200" cy="4679950"/>
          </a:xfrm>
        </p:spPr>
        <p:txBody>
          <a:bodyPr anchor="t"/>
          <a:lstStyle/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600" b="1" dirty="0">
                <a:latin typeface="宋体" panose="02010600030101010101" pitchFamily="2" charset="-122"/>
              </a:rPr>
              <a:t>第一章   微机基础知识</a:t>
            </a: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  第二章   </a:t>
            </a:r>
            <a:r>
              <a:rPr lang="en-US" altLang="zh-CN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89C51</a:t>
            </a: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单片机的结构和原理</a:t>
            </a: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solidFill>
                  <a:srgbClr val="FF33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 第三章   </a:t>
            </a:r>
            <a:r>
              <a:rPr lang="en-US" altLang="zh-CN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89C51</a:t>
            </a:r>
            <a:r>
              <a:rPr lang="zh-CN" altLang="en-US" sz="2600" b="1" dirty="0">
                <a:solidFill>
                  <a:schemeClr val="tx1"/>
                </a:solidFill>
                <a:latin typeface="宋体" panose="02010600030101010101" pitchFamily="2" charset="-122"/>
              </a:rPr>
              <a:t>指令系统</a:t>
            </a:r>
            <a:endParaRPr lang="zh-CN" altLang="en-US" sz="2600" b="1">
              <a:solidFill>
                <a:srgbClr val="FF3300"/>
              </a:solidFill>
              <a:latin typeface="宋体" panose="02010600030101010101" pitchFamily="2" charset="-122"/>
            </a:endParaRP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latin typeface="宋体" panose="02010600030101010101" pitchFamily="2" charset="-122"/>
              </a:rPr>
              <a:t> </a:t>
            </a:r>
            <a:r>
              <a:rPr lang="zh-CN" altLang="en-US" sz="2600" b="1" dirty="0">
                <a:solidFill>
                  <a:srgbClr val="FF3300"/>
                </a:solidFill>
                <a:latin typeface="宋体" panose="02010600030101010101" pitchFamily="2" charset="-122"/>
              </a:rPr>
              <a:t> 第四章   汇编语言程序设计知识</a:t>
            </a:r>
            <a:endParaRPr lang="zh-CN" altLang="en-US" sz="2600" b="1" dirty="0">
              <a:latin typeface="宋体" panose="02010600030101010101" pitchFamily="2" charset="-122"/>
            </a:endParaRP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latin typeface="宋体" panose="02010600030101010101" pitchFamily="2" charset="-122"/>
              </a:rPr>
              <a:t>  第五章   中断系统</a:t>
            </a: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latin typeface="宋体" panose="02010600030101010101" pitchFamily="2" charset="-122"/>
              </a:rPr>
              <a:t>  第六章   定时器及应用</a:t>
            </a:r>
            <a:endParaRPr lang="zh-CN" altLang="en-US" sz="2600" b="1">
              <a:latin typeface="宋体" panose="02010600030101010101" pitchFamily="2" charset="-122"/>
            </a:endParaRP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latin typeface="宋体" panose="02010600030101010101" pitchFamily="2" charset="-122"/>
              </a:rPr>
              <a:t>  第七章   </a:t>
            </a:r>
            <a:r>
              <a:rPr lang="en-US" altLang="zh-CN" sz="2600" b="1" dirty="0">
                <a:latin typeface="宋体" panose="02010600030101010101" pitchFamily="2" charset="-122"/>
              </a:rPr>
              <a:t>89C51</a:t>
            </a:r>
            <a:r>
              <a:rPr lang="zh-CN" altLang="en-US" sz="2600" b="1" dirty="0">
                <a:latin typeface="宋体" panose="02010600030101010101" pitchFamily="2" charset="-122"/>
              </a:rPr>
              <a:t>串行口及通信技术</a:t>
            </a: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latin typeface="宋体" panose="02010600030101010101" pitchFamily="2" charset="-122"/>
              </a:rPr>
              <a:t>  第八章   单片机小系统片外扩展</a:t>
            </a:r>
          </a:p>
          <a:p>
            <a:pPr lvl="1" eaLnBrk="1" fontAlgn="auto" latinLnBrk="0" hangingPunct="1">
              <a:lnSpc>
                <a:spcPct val="13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Char char="&amp;"/>
            </a:pPr>
            <a:r>
              <a:rPr lang="zh-CN" altLang="en-US" sz="2600" b="1" dirty="0">
                <a:latin typeface="宋体" panose="02010600030101010101" pitchFamily="2" charset="-122"/>
              </a:rPr>
              <a:t>  第九章   应用系统配置及接口技术</a:t>
            </a:r>
            <a:endParaRPr lang="zh-CN" altLang="en-US" sz="2600" b="1">
              <a:latin typeface="宋体" panose="0201060003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</p:spTree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1374140" y="323850"/>
            <a:ext cx="7091045" cy="521970"/>
          </a:xfrm>
        </p:spPr>
        <p:txBody>
          <a:bodyPr wrap="square" lIns="92075" tIns="46038" rIns="92075" bIns="46038" anchor="ctr"/>
          <a:lstStyle/>
          <a:p>
            <a:r>
              <a:rPr lang="zh-CN" altLang="en-US" sz="2800" dirty="0">
                <a:solidFill>
                  <a:srgbClr val="0000FF"/>
                </a:solidFill>
                <a:latin typeface="宋体" panose="02010600030101010101" pitchFamily="2" charset="-122"/>
              </a:rPr>
              <a:t>§</a:t>
            </a:r>
            <a:r>
              <a:rPr lang="en-US" altLang="zh-CN" sz="2800" dirty="0">
                <a:solidFill>
                  <a:srgbClr val="0000FF"/>
                </a:solidFill>
                <a:latin typeface="宋体" panose="02010600030101010101" pitchFamily="2" charset="-122"/>
              </a:rPr>
              <a:t>4.1  </a:t>
            </a:r>
            <a:r>
              <a:rPr lang="zh-CN" altLang="en-US" sz="2800" dirty="0">
                <a:solidFill>
                  <a:srgbClr val="0000FF"/>
                </a:solidFill>
                <a:latin typeface="宋体" panose="02010600030101010101" pitchFamily="2" charset="-122"/>
              </a:rPr>
              <a:t>编程的步骤、方法和技巧</a:t>
            </a:r>
          </a:p>
        </p:txBody>
      </p:sp>
      <p:sp>
        <p:nvSpPr>
          <p:cNvPr id="8195" name="文本占位符 8194"/>
          <p:cNvSpPr>
            <a:spLocks noGrp="1"/>
          </p:cNvSpPr>
          <p:nvPr>
            <p:ph type="body" idx="1"/>
          </p:nvPr>
        </p:nvSpPr>
        <p:spPr>
          <a:xfrm>
            <a:off x="450850" y="1024890"/>
            <a:ext cx="7948930" cy="922020"/>
          </a:xfrm>
        </p:spPr>
        <p:txBody>
          <a:bodyPr wrap="square" lIns="92075" tIns="46038" rIns="92075" bIns="46038"/>
          <a:lstStyle/>
          <a:p>
            <a:pPr indent="711200">
              <a:lnSpc>
                <a:spcPct val="150000"/>
              </a:lnSpc>
              <a:buNone/>
            </a:pPr>
            <a:r>
              <a:rPr lang="en-US" altLang="zh-CN" sz="3600" b="1" dirty="0">
                <a:solidFill>
                  <a:srgbClr val="000000"/>
                </a:solidFill>
                <a:latin typeface="宋体" panose="02010600030101010101" pitchFamily="2" charset="-122"/>
              </a:rPr>
              <a:t>4.1.1  </a:t>
            </a:r>
            <a:r>
              <a:rPr lang="zh-CN" altLang="en-US" sz="3600" b="1" dirty="0">
                <a:solidFill>
                  <a:srgbClr val="000000"/>
                </a:solidFill>
                <a:latin typeface="宋体" panose="02010600030101010101" pitchFamily="2" charset="-122"/>
              </a:rPr>
              <a:t>编程的步骤</a:t>
            </a:r>
            <a:endParaRPr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80440" y="2133600"/>
            <a:ext cx="1301750" cy="52832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分析问题</a:t>
            </a:r>
          </a:p>
        </p:txBody>
      </p:sp>
      <p:sp>
        <p:nvSpPr>
          <p:cNvPr id="6" name="矩形 5"/>
          <p:cNvSpPr/>
          <p:nvPr/>
        </p:nvSpPr>
        <p:spPr>
          <a:xfrm>
            <a:off x="2896870" y="2133600"/>
            <a:ext cx="1301750" cy="52832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确定算法</a:t>
            </a:r>
          </a:p>
        </p:txBody>
      </p:sp>
      <p:sp>
        <p:nvSpPr>
          <p:cNvPr id="7" name="矩形 6"/>
          <p:cNvSpPr/>
          <p:nvPr/>
        </p:nvSpPr>
        <p:spPr>
          <a:xfrm>
            <a:off x="4815840" y="2133600"/>
            <a:ext cx="1301750" cy="52832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画出程序流程图</a:t>
            </a:r>
          </a:p>
        </p:txBody>
      </p:sp>
      <p:sp>
        <p:nvSpPr>
          <p:cNvPr id="8" name="矩形 7"/>
          <p:cNvSpPr/>
          <p:nvPr/>
        </p:nvSpPr>
        <p:spPr>
          <a:xfrm>
            <a:off x="6734810" y="2133600"/>
            <a:ext cx="1301750" cy="52832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编写程序</a:t>
            </a:r>
          </a:p>
        </p:txBody>
      </p:sp>
      <p:cxnSp>
        <p:nvCxnSpPr>
          <p:cNvPr id="9" name="直接箭头连接符 8"/>
          <p:cNvCxnSpPr>
            <a:stCxn id="4" idx="3"/>
            <a:endCxn id="6" idx="1"/>
          </p:cNvCxnSpPr>
          <p:nvPr/>
        </p:nvCxnSpPr>
        <p:spPr>
          <a:xfrm>
            <a:off x="2282190" y="2321560"/>
            <a:ext cx="614680" cy="0"/>
          </a:xfrm>
          <a:prstGeom prst="straightConnector1">
            <a:avLst/>
          </a:prstGeom>
          <a:ln w="19050">
            <a:solidFill>
              <a:srgbClr val="0070C0"/>
            </a:solidFill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4201160" y="2397760"/>
            <a:ext cx="614680" cy="0"/>
          </a:xfrm>
          <a:prstGeom prst="straightConnector1">
            <a:avLst/>
          </a:prstGeom>
          <a:ln w="19050">
            <a:solidFill>
              <a:srgbClr val="0070C0"/>
            </a:solidFill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6120130" y="2397760"/>
            <a:ext cx="614680" cy="0"/>
          </a:xfrm>
          <a:prstGeom prst="straightConnector1">
            <a:avLst/>
          </a:prstGeom>
          <a:ln w="19050">
            <a:solidFill>
              <a:srgbClr val="0070C0"/>
            </a:solidFill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23925" y="2881630"/>
            <a:ext cx="1415415" cy="2891790"/>
          </a:xfrm>
          <a:prstGeom prst="rect">
            <a:avLst/>
          </a:prstGeom>
          <a:noFill/>
          <a:ln w="15875" cmpd="sng">
            <a:solidFill>
              <a:schemeClr val="accent1">
                <a:shade val="5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ym typeface="+mn-ea"/>
              </a:rPr>
              <a:t>对问题进行分析，以求对问题有正确的理解。如，解决问题的任务是什么？工作过程？现有的条件，已知数据，对运算的精度和速度方面的要求？设计的硬件结构是否方便编程？</a:t>
            </a:r>
            <a:endParaRPr lang="zh-CN" altLang="en-US" sz="1400"/>
          </a:p>
        </p:txBody>
      </p:sp>
      <p:sp>
        <p:nvSpPr>
          <p:cNvPr id="14" name="文本框 13"/>
          <p:cNvSpPr txBox="1"/>
          <p:nvPr/>
        </p:nvSpPr>
        <p:spPr>
          <a:xfrm>
            <a:off x="2840355" y="2881630"/>
            <a:ext cx="1415415" cy="2245360"/>
          </a:xfrm>
          <a:prstGeom prst="rect">
            <a:avLst/>
          </a:prstGeom>
          <a:noFill/>
          <a:ln w="15875" cmpd="sng">
            <a:solidFill>
              <a:schemeClr val="accent1">
                <a:shade val="5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ym typeface="+mn-ea"/>
              </a:rPr>
              <a:t>算法是如何将实际问题转化成程序模块来处理。</a:t>
            </a:r>
            <a:endParaRPr lang="zh-CN" altLang="en-US" sz="1400" b="1" dirty="0"/>
          </a:p>
          <a:p>
            <a:r>
              <a:rPr lang="zh-CN" altLang="en-US" sz="1400" b="1" dirty="0">
                <a:sym typeface="+mn-ea"/>
              </a:rPr>
              <a:t>在编程以前，先要对几种不同的算法进行分析、比较，找出最适宜的算法</a:t>
            </a:r>
            <a:endParaRPr lang="zh-CN" altLang="en-US" sz="1400"/>
          </a:p>
        </p:txBody>
      </p:sp>
      <p:sp>
        <p:nvSpPr>
          <p:cNvPr id="15" name="文本框 14"/>
          <p:cNvSpPr txBox="1"/>
          <p:nvPr/>
        </p:nvSpPr>
        <p:spPr>
          <a:xfrm>
            <a:off x="4759325" y="2881630"/>
            <a:ext cx="1415415" cy="2461260"/>
          </a:xfrm>
          <a:prstGeom prst="rect">
            <a:avLst/>
          </a:prstGeom>
          <a:noFill/>
          <a:ln w="15875" cmpd="sng">
            <a:solidFill>
              <a:schemeClr val="accent1">
                <a:shade val="5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400" b="1" dirty="0">
                <a:sym typeface="+mn-ea"/>
              </a:rPr>
              <a:t>程序流程图是使用各种图形、符号、有向线段等来说明程序设计过程的一种直观的表示。</a:t>
            </a:r>
            <a:endParaRPr lang="zh-CN" altLang="en-US" sz="1400" b="1" dirty="0"/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400" b="1" dirty="0">
                <a:sym typeface="+mn-ea"/>
              </a:rPr>
              <a:t>流程图步骤分得越细致，编写程序是也越方便。</a:t>
            </a:r>
            <a:endParaRPr lang="zh-CN" altLang="en-US" sz="1400" b="1" dirty="0"/>
          </a:p>
        </p:txBody>
      </p:sp>
      <p:sp>
        <p:nvSpPr>
          <p:cNvPr id="16" name="文本框 15"/>
          <p:cNvSpPr txBox="1"/>
          <p:nvPr/>
        </p:nvSpPr>
        <p:spPr>
          <a:xfrm>
            <a:off x="6678295" y="2881630"/>
            <a:ext cx="1415415" cy="1383665"/>
          </a:xfrm>
          <a:prstGeom prst="rect">
            <a:avLst/>
          </a:prstGeom>
          <a:noFill/>
          <a:ln w="15875" cmpd="sng">
            <a:solidFill>
              <a:schemeClr val="accent1">
                <a:shade val="5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400" b="1" dirty="0"/>
              <a:t>根据流程图，采用汇编语言或者</a:t>
            </a:r>
            <a:r>
              <a:rPr lang="en-US" altLang="zh-CN" sz="1400" b="1" dirty="0"/>
              <a:t>C</a:t>
            </a:r>
            <a:r>
              <a:rPr lang="zh-CN" altLang="en-US" sz="1400" b="1" dirty="0"/>
              <a:t>语言编写程序，完成问题所需要达到的目标。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椭圆 16385"/>
          <p:cNvSpPr/>
          <p:nvPr/>
        </p:nvSpPr>
        <p:spPr>
          <a:xfrm>
            <a:off x="2057400" y="1447800"/>
            <a:ext cx="883920" cy="26987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87" name="流程图: 可选过程 16386"/>
          <p:cNvSpPr/>
          <p:nvPr/>
        </p:nvSpPr>
        <p:spPr>
          <a:xfrm>
            <a:off x="4648200" y="1447800"/>
            <a:ext cx="1009650" cy="314325"/>
          </a:xfrm>
          <a:prstGeom prst="flowChartAlternate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88" name="流程图: 过程 16387"/>
          <p:cNvSpPr/>
          <p:nvPr/>
        </p:nvSpPr>
        <p:spPr>
          <a:xfrm>
            <a:off x="2209800" y="2667000"/>
            <a:ext cx="1073150" cy="359410"/>
          </a:xfrm>
          <a:prstGeom prst="flowChartProcess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89" name="流程图: 决策 16388"/>
          <p:cNvSpPr/>
          <p:nvPr/>
        </p:nvSpPr>
        <p:spPr>
          <a:xfrm>
            <a:off x="2133600" y="3581400"/>
            <a:ext cx="1577340" cy="449580"/>
          </a:xfrm>
          <a:prstGeom prst="flowChartDecision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90" name="流程图: 联系 16389"/>
          <p:cNvSpPr/>
          <p:nvPr/>
        </p:nvSpPr>
        <p:spPr>
          <a:xfrm>
            <a:off x="2133600" y="4648200"/>
            <a:ext cx="757555" cy="494030"/>
          </a:xfrm>
          <a:prstGeom prst="flowChartConnector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91" name="直接连接符 16390"/>
          <p:cNvSpPr/>
          <p:nvPr/>
        </p:nvSpPr>
        <p:spPr>
          <a:xfrm>
            <a:off x="2209800" y="6019800"/>
            <a:ext cx="1136015" cy="63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6392" name="文本框 16391"/>
          <p:cNvSpPr txBox="1"/>
          <p:nvPr/>
        </p:nvSpPr>
        <p:spPr>
          <a:xfrm>
            <a:off x="974725" y="1468755"/>
            <a:ext cx="9175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1" hangingPunct="1"/>
            <a:r>
              <a:rPr lang="zh-CN" altLang="en-US" b="1" dirty="0">
                <a:latin typeface="Times New Roman" panose="02020603050405020304" charset="0"/>
                <a:ea typeface="宋体" panose="02010600030101010101" pitchFamily="2" charset="-122"/>
              </a:rPr>
              <a:t>椭圆框</a:t>
            </a:r>
            <a:endParaRPr lang="zh-CN" altLang="en-US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6393" name="文本框 16392"/>
          <p:cNvSpPr txBox="1"/>
          <p:nvPr/>
        </p:nvSpPr>
        <p:spPr>
          <a:xfrm>
            <a:off x="3276600" y="1447800"/>
            <a:ext cx="117284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1" hangingPunct="1"/>
            <a:r>
              <a:rPr lang="zh-CN" altLang="en-US" b="1" dirty="0">
                <a:latin typeface="Times New Roman" panose="02020603050405020304" charset="0"/>
                <a:ea typeface="宋体" panose="02010600030101010101" pitchFamily="2" charset="-122"/>
              </a:rPr>
              <a:t>或桶形框</a:t>
            </a:r>
            <a:endParaRPr lang="zh-CN" altLang="en-US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6394" name="文本框 16393"/>
          <p:cNvSpPr txBox="1"/>
          <p:nvPr/>
        </p:nvSpPr>
        <p:spPr>
          <a:xfrm>
            <a:off x="5455285" y="1409700"/>
            <a:ext cx="29781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1" hangingPunct="1"/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：表示程序的开始或结束。</a:t>
            </a:r>
            <a:endParaRPr lang="zh-CN" alt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6395" name="文本框 16394"/>
          <p:cNvSpPr txBox="1"/>
          <p:nvPr/>
        </p:nvSpPr>
        <p:spPr>
          <a:xfrm>
            <a:off x="1050925" y="2764155"/>
            <a:ext cx="9175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1" hangingPunct="1"/>
            <a:r>
              <a:rPr lang="zh-CN" altLang="en-US" b="1" dirty="0">
                <a:latin typeface="Times New Roman" panose="02020603050405020304" charset="0"/>
                <a:ea typeface="宋体" panose="02010600030101010101" pitchFamily="2" charset="-122"/>
              </a:rPr>
              <a:t>矩形框</a:t>
            </a:r>
            <a:endParaRPr lang="zh-CN" altLang="en-US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6396" name="文本框 16395"/>
          <p:cNvSpPr txBox="1"/>
          <p:nvPr/>
        </p:nvSpPr>
        <p:spPr>
          <a:xfrm>
            <a:off x="4098925" y="2687638"/>
            <a:ext cx="3257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1" hangingPunct="1"/>
            <a:r>
              <a:rPr lang="zh-CN" altLang="en-US" b="1" dirty="0">
                <a:latin typeface="Times New Roman" panose="02020603050405020304" charset="0"/>
                <a:ea typeface="宋体" panose="02010600030101010101" pitchFamily="2" charset="-122"/>
              </a:rPr>
              <a:t>：表示要进行的工作。</a:t>
            </a:r>
            <a:endParaRPr lang="zh-CN" altLang="en-US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6397" name="文本框 16396"/>
          <p:cNvSpPr txBox="1"/>
          <p:nvPr/>
        </p:nvSpPr>
        <p:spPr>
          <a:xfrm>
            <a:off x="1050925" y="3754755"/>
            <a:ext cx="9175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1" hangingPunct="1"/>
            <a:r>
              <a:rPr lang="zh-CN" altLang="en-US" b="1" dirty="0">
                <a:latin typeface="Times New Roman" panose="02020603050405020304" charset="0"/>
                <a:ea typeface="宋体" panose="02010600030101010101" pitchFamily="2" charset="-122"/>
              </a:rPr>
              <a:t>菱形框</a:t>
            </a:r>
            <a:endParaRPr lang="zh-CN" altLang="en-US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6398" name="文本框 16397"/>
          <p:cNvSpPr txBox="1"/>
          <p:nvPr/>
        </p:nvSpPr>
        <p:spPr>
          <a:xfrm>
            <a:off x="4038600" y="3352800"/>
            <a:ext cx="47244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b="1" dirty="0">
                <a:latin typeface="Times New Roman" panose="02020603050405020304" charset="0"/>
                <a:ea typeface="宋体" panose="02010600030101010101" pitchFamily="2" charset="-122"/>
              </a:rPr>
              <a:t>：表示要判断的事情，菱形框内的表达式表示要判断的内容。</a:t>
            </a:r>
            <a:endParaRPr lang="zh-CN" altLang="en-US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6399" name="文本框 16398"/>
          <p:cNvSpPr txBox="1"/>
          <p:nvPr/>
        </p:nvSpPr>
        <p:spPr>
          <a:xfrm>
            <a:off x="1127125" y="4821555"/>
            <a:ext cx="66294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1" hangingPunct="1"/>
            <a:r>
              <a:rPr lang="zh-CN" altLang="en-US" b="1" dirty="0">
                <a:latin typeface="Times New Roman" panose="02020603050405020304" charset="0"/>
                <a:ea typeface="宋体" panose="02010600030101010101" pitchFamily="2" charset="-122"/>
              </a:rPr>
              <a:t>圆圈</a:t>
            </a:r>
            <a:endParaRPr lang="zh-CN" altLang="en-US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6400" name="文本框 16399"/>
          <p:cNvSpPr txBox="1"/>
          <p:nvPr/>
        </p:nvSpPr>
        <p:spPr>
          <a:xfrm>
            <a:off x="4251325" y="4821238"/>
            <a:ext cx="203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1" hangingPunct="1"/>
            <a:r>
              <a:rPr lang="zh-CN" altLang="en-US" b="1" dirty="0">
                <a:latin typeface="Times New Roman" panose="02020603050405020304" charset="0"/>
                <a:ea typeface="宋体" panose="02010600030101010101" pitchFamily="2" charset="-122"/>
              </a:rPr>
              <a:t>：表示连接点</a:t>
            </a:r>
            <a:endParaRPr lang="zh-CN" altLang="en-US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6401" name="文本框 16400"/>
          <p:cNvSpPr txBox="1"/>
          <p:nvPr/>
        </p:nvSpPr>
        <p:spPr>
          <a:xfrm>
            <a:off x="974725" y="5735955"/>
            <a:ext cx="91249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1" hangingPunct="1"/>
            <a:r>
              <a:rPr lang="zh-CN" altLang="en-US" b="1" dirty="0">
                <a:latin typeface="Times New Roman" panose="02020603050405020304" charset="0"/>
                <a:ea typeface="宋体" panose="02010600030101010101" pitchFamily="2" charset="-122"/>
              </a:rPr>
              <a:t>指向线</a:t>
            </a:r>
            <a:endParaRPr lang="zh-CN" altLang="en-US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6402" name="文本框 16401"/>
          <p:cNvSpPr txBox="1"/>
          <p:nvPr/>
        </p:nvSpPr>
        <p:spPr>
          <a:xfrm>
            <a:off x="4175125" y="5659438"/>
            <a:ext cx="26289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1" hangingPunct="1"/>
            <a:r>
              <a:rPr lang="zh-CN" altLang="en-US" b="1" dirty="0">
                <a:latin typeface="Times New Roman" panose="02020603050405020304" charset="0"/>
                <a:ea typeface="宋体" panose="02010600030101010101" pitchFamily="2" charset="-122"/>
              </a:rPr>
              <a:t>：表示程序的流向</a:t>
            </a:r>
            <a:endParaRPr lang="zh-CN" altLang="en-US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4</a:t>
            </a:fld>
            <a:endParaRPr lang="zh-CN" altLang="en-US" strike="noStrike" noProof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0241"/>
          <p:cNvSpPr>
            <a:spLocks noGrp="1"/>
          </p:cNvSpPr>
          <p:nvPr>
            <p:ph type="title"/>
          </p:nvPr>
        </p:nvSpPr>
        <p:spPr>
          <a:xfrm>
            <a:off x="1498600" y="173673"/>
            <a:ext cx="6934200" cy="583565"/>
          </a:xfrm>
        </p:spPr>
        <p:txBody>
          <a:bodyPr wrap="square" lIns="92075" tIns="46038" rIns="92075" bIns="46038" anchor="ctr"/>
          <a:lstStyle/>
          <a:p>
            <a:r>
              <a:rPr lang="zh-CN" altLang="en-US" sz="3200" dirty="0">
                <a:solidFill>
                  <a:srgbClr val="0000FF"/>
                </a:solidFill>
                <a:latin typeface="宋体" panose="02010600030101010101" pitchFamily="2" charset="-122"/>
              </a:rPr>
              <a:t>§</a:t>
            </a:r>
            <a:r>
              <a:rPr lang="en-US" altLang="zh-CN" sz="3200" dirty="0">
                <a:solidFill>
                  <a:srgbClr val="0000FF"/>
                </a:solidFill>
                <a:latin typeface="宋体" panose="02010600030101010101" pitchFamily="2" charset="-122"/>
              </a:rPr>
              <a:t>4.1.2  </a:t>
            </a:r>
            <a:r>
              <a:rPr lang="zh-CN" altLang="en-US" sz="3200" dirty="0">
                <a:solidFill>
                  <a:srgbClr val="0000FF"/>
                </a:solidFill>
                <a:latin typeface="宋体" panose="02010600030101010101" pitchFamily="2" charset="-122"/>
              </a:rPr>
              <a:t>编程的方法和技巧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78510" y="1352550"/>
            <a:ext cx="3070860" cy="3683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dirty="0">
                <a:sym typeface="+mn-ea"/>
              </a:rPr>
              <a:t>模块化的程序设计方法</a:t>
            </a:r>
            <a:endParaRPr lang="zh-CN" altLang="en-US"/>
          </a:p>
        </p:txBody>
      </p:sp>
      <p:sp>
        <p:nvSpPr>
          <p:cNvPr id="25603" name="文本占位符 25602"/>
          <p:cNvSpPr>
            <a:spLocks noGrp="1"/>
          </p:cNvSpPr>
          <p:nvPr>
            <p:ph type="body" idx="1"/>
          </p:nvPr>
        </p:nvSpPr>
        <p:spPr>
          <a:xfrm>
            <a:off x="690880" y="1835150"/>
            <a:ext cx="3651250" cy="3610610"/>
          </a:xfrm>
        </p:spPr>
        <p:txBody>
          <a:bodyPr wrap="square" lIns="92075" tIns="46038" rIns="92075" bIns="46038"/>
          <a:lstStyle/>
          <a:p>
            <a:pPr>
              <a:lnSpc>
                <a:spcPct val="130000"/>
              </a:lnSpc>
            </a:pPr>
            <a:r>
              <a:rPr lang="zh-CN" altLang="en-US" sz="1600" b="1" dirty="0"/>
              <a:t>每个模块应具有独立的功能，能产生一个明确的结果，即单模块的功能高内聚性。</a:t>
            </a:r>
          </a:p>
          <a:p>
            <a:pPr>
              <a:lnSpc>
                <a:spcPct val="130000"/>
              </a:lnSpc>
            </a:pPr>
            <a:r>
              <a:rPr lang="zh-CN" altLang="en-US" sz="1600" b="1" dirty="0"/>
              <a:t>模块之间的控制耦合应尽量简单，数据耦合应尽量少，即模块间的低耦合性。控制耦合是指模块进入和退出的条件及方式，数据耦合是指模块间的信息交换方式、交换量的多少及交换频繁程度。</a:t>
            </a:r>
          </a:p>
          <a:p>
            <a:pPr>
              <a:lnSpc>
                <a:spcPct val="130000"/>
              </a:lnSpc>
            </a:pPr>
            <a:r>
              <a:rPr lang="zh-CN" altLang="en-US" sz="1600" b="1" dirty="0"/>
              <a:t>模块长度适中。</a:t>
            </a:r>
            <a:r>
              <a:rPr lang="en-US" altLang="zh-CN" sz="1600" b="1" dirty="0"/>
              <a:t>20</a:t>
            </a:r>
            <a:r>
              <a:rPr lang="zh-CN" altLang="en-US" sz="1600" b="1" dirty="0"/>
              <a:t>条～</a:t>
            </a:r>
            <a:r>
              <a:rPr lang="en-US" altLang="zh-CN" sz="1600" b="1" dirty="0"/>
              <a:t>100</a:t>
            </a:r>
            <a:r>
              <a:rPr lang="zh-CN" altLang="en-US" sz="1600" b="1" dirty="0"/>
              <a:t>条的范围较合适。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025390" y="1298575"/>
            <a:ext cx="3198495" cy="3683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/>
              <a:t>编程技巧</a:t>
            </a:r>
          </a:p>
        </p:txBody>
      </p:sp>
      <p:sp>
        <p:nvSpPr>
          <p:cNvPr id="23555" name="文本占位符 23554"/>
          <p:cNvSpPr>
            <a:spLocks noGrp="1"/>
          </p:cNvSpPr>
          <p:nvPr/>
        </p:nvSpPr>
        <p:spPr>
          <a:xfrm>
            <a:off x="4991100" y="1774825"/>
            <a:ext cx="3792855" cy="3925570"/>
          </a:xfrm>
          <a:prstGeom prst="rect">
            <a:avLst/>
          </a:prstGeom>
        </p:spPr>
        <p:txBody>
          <a:bodyPr wrap="square" lIns="92075" tIns="46038" rIns="92075" bIns="46038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None/>
            </a:pPr>
            <a:r>
              <a:rPr lang="en-US" altLang="zh-CN" sz="1600" b="1" dirty="0"/>
              <a:t>1</a:t>
            </a:r>
            <a:r>
              <a:rPr lang="zh-CN" altLang="en-US" sz="1600" b="1" dirty="0"/>
              <a:t>、尽量采用循环结构和子程序。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sz="1600" b="1" dirty="0"/>
              <a:t>2</a:t>
            </a:r>
            <a:r>
              <a:rPr lang="zh-CN" altLang="en-US" sz="1600" b="1" dirty="0"/>
              <a:t>、尽量少用无条件转移指令。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sz="1600" b="1" dirty="0"/>
              <a:t>3</a:t>
            </a:r>
            <a:r>
              <a:rPr lang="zh-CN" altLang="en-US" sz="1600" b="1" dirty="0"/>
              <a:t>、对于通用的子程序，考虑到其通用性，除了用于存放子程序入口参数的寄存器外，子程序中用到的其他寄存器的内容应压入堆栈（返回前再弹出），即保护现场。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sz="1600" b="1" dirty="0"/>
              <a:t>4</a:t>
            </a:r>
            <a:r>
              <a:rPr lang="zh-CN" altLang="en-US" sz="1600" b="1" dirty="0"/>
              <a:t>、在中断处理程序中，除了要保护处理程序中用到的寄存器外，还要保护标志寄存器。</a:t>
            </a:r>
          </a:p>
          <a:p>
            <a:pPr>
              <a:lnSpc>
                <a:spcPct val="120000"/>
              </a:lnSpc>
              <a:buNone/>
            </a:pPr>
            <a:r>
              <a:rPr lang="en-US" altLang="zh-CN" sz="1600" b="1" dirty="0"/>
              <a:t>5</a:t>
            </a:r>
            <a:r>
              <a:rPr lang="zh-CN" altLang="en-US" sz="1600" b="1" dirty="0"/>
              <a:t>、用累加器传递入口参数或返回参数比较方便，在子程序中，一般不必把累加器内容压入堆栈。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1265"/>
          <p:cNvSpPr>
            <a:spLocks noGrp="1"/>
          </p:cNvSpPr>
          <p:nvPr>
            <p:ph type="title"/>
          </p:nvPr>
        </p:nvSpPr>
        <p:spPr>
          <a:xfrm>
            <a:off x="1498600" y="204470"/>
            <a:ext cx="6816725" cy="521970"/>
          </a:xfrm>
        </p:spPr>
        <p:txBody>
          <a:bodyPr wrap="square" lIns="92075" tIns="46038" rIns="92075" bIns="46038" anchor="ctr"/>
          <a:lstStyle/>
          <a:p>
            <a:r>
              <a:rPr lang="zh-CN" altLang="en-US" sz="2800" b="0" dirty="0">
                <a:solidFill>
                  <a:srgbClr val="0000FF"/>
                </a:solidFill>
                <a:latin typeface="宋体" panose="02010600030101010101" pitchFamily="2" charset="-122"/>
              </a:rPr>
              <a:t>§</a:t>
            </a:r>
            <a:r>
              <a:rPr lang="en-US" altLang="zh-CN" sz="2800" b="0" dirty="0">
                <a:solidFill>
                  <a:srgbClr val="0000FF"/>
                </a:solidFill>
                <a:latin typeface="宋体" panose="02010600030101010101" pitchFamily="2" charset="-122"/>
              </a:rPr>
              <a:t>4.1.3  </a:t>
            </a:r>
            <a:r>
              <a:rPr lang="zh-CN" altLang="en-US" sz="2800" b="0" dirty="0">
                <a:solidFill>
                  <a:srgbClr val="0000FF"/>
                </a:solidFill>
                <a:latin typeface="宋体" panose="02010600030101010101" pitchFamily="2" charset="-122"/>
              </a:rPr>
              <a:t>汇编语言程序的基本结构</a:t>
            </a:r>
          </a:p>
        </p:txBody>
      </p:sp>
      <p:sp>
        <p:nvSpPr>
          <p:cNvPr id="11267" name="文本占位符 11266"/>
          <p:cNvSpPr>
            <a:spLocks noGrp="1"/>
          </p:cNvSpPr>
          <p:nvPr>
            <p:ph type="body" idx="1"/>
          </p:nvPr>
        </p:nvSpPr>
        <p:spPr>
          <a:xfrm>
            <a:off x="852805" y="1435735"/>
            <a:ext cx="2096135" cy="730885"/>
          </a:xfrm>
          <a:solidFill>
            <a:schemeClr val="accent3">
              <a:lumMod val="40000"/>
              <a:lumOff val="60000"/>
            </a:schemeClr>
          </a:solidFill>
        </p:spPr>
        <p:txBody>
          <a:bodyPr wrap="square" lIns="92075" tIns="46038" rIns="92075" bIns="46038"/>
          <a:lstStyle/>
          <a:p>
            <a:pPr indent="0" algn="ctr" eaLnBrk="1" fontAlgn="auto" latinLnBrk="0" hangingPunct="1">
              <a:lnSpc>
                <a:spcPct val="130000"/>
              </a:lnSpc>
              <a:buNone/>
            </a:pPr>
            <a:r>
              <a:rPr lang="zh-CN" altLang="en-US" sz="3200" b="1" dirty="0"/>
              <a:t>顺序程序</a:t>
            </a:r>
          </a:p>
        </p:txBody>
      </p:sp>
      <p:sp>
        <p:nvSpPr>
          <p:cNvPr id="2" name="文本占位符 11266"/>
          <p:cNvSpPr>
            <a:spLocks noGrp="1"/>
          </p:cNvSpPr>
          <p:nvPr/>
        </p:nvSpPr>
        <p:spPr>
          <a:xfrm>
            <a:off x="3588385" y="1473835"/>
            <a:ext cx="2096135" cy="73088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lIns="92075" tIns="46038" rIns="92075" bIns="46038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indent="0" algn="ctr" eaLnBrk="1" fontAlgn="auto" latinLnBrk="0" hangingPunct="1">
              <a:lnSpc>
                <a:spcPct val="130000"/>
              </a:lnSpc>
              <a:buNone/>
            </a:pPr>
            <a:r>
              <a:rPr lang="zh-CN" altLang="en-US" sz="3200" b="1" dirty="0"/>
              <a:t>分支程序</a:t>
            </a:r>
            <a:endParaRPr lang="zh-CN" altLang="en-US" sz="3200" b="1"/>
          </a:p>
        </p:txBody>
      </p:sp>
      <p:sp>
        <p:nvSpPr>
          <p:cNvPr id="3" name="文本占位符 11266"/>
          <p:cNvSpPr>
            <a:spLocks noGrp="1"/>
          </p:cNvSpPr>
          <p:nvPr/>
        </p:nvSpPr>
        <p:spPr>
          <a:xfrm>
            <a:off x="6324600" y="1435735"/>
            <a:ext cx="2096135" cy="73088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lIns="92075" tIns="46038" rIns="92075" bIns="46038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indent="0" algn="ctr" eaLnBrk="1" fontAlgn="auto" latinLnBrk="0" hangingPunct="1">
              <a:lnSpc>
                <a:spcPct val="130000"/>
              </a:lnSpc>
              <a:buNone/>
            </a:pPr>
            <a:r>
              <a:rPr lang="zh-CN" altLang="en-US" sz="3200" b="1" dirty="0"/>
              <a:t>循环程序</a:t>
            </a:r>
            <a:endParaRPr lang="zh-CN" altLang="en-US" sz="3200" b="1"/>
          </a:p>
        </p:txBody>
      </p:sp>
      <p:sp>
        <p:nvSpPr>
          <p:cNvPr id="26627" name="文本占位符 26626"/>
          <p:cNvSpPr>
            <a:spLocks noGrp="1"/>
          </p:cNvSpPr>
          <p:nvPr/>
        </p:nvSpPr>
        <p:spPr>
          <a:xfrm>
            <a:off x="852805" y="2590165"/>
            <a:ext cx="2096135" cy="1565910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dash"/>
          </a:ln>
        </p:spPr>
        <p:txBody>
          <a:bodyPr wrap="square" lIns="92075" tIns="46038" rIns="92075" bIns="46038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600" b="1" dirty="0"/>
              <a:t>顺序程序是最简单的程序结构，即顺序结构。</a:t>
            </a:r>
          </a:p>
          <a:p>
            <a:pPr>
              <a:lnSpc>
                <a:spcPct val="120000"/>
              </a:lnSpc>
            </a:pPr>
            <a:r>
              <a:rPr lang="zh-CN" altLang="en-US" sz="1600" b="1" dirty="0"/>
              <a:t>程序按顺序一条一条地执行指令。</a:t>
            </a:r>
          </a:p>
        </p:txBody>
      </p:sp>
      <p:sp>
        <p:nvSpPr>
          <p:cNvPr id="4" name="文本占位符 26626"/>
          <p:cNvSpPr>
            <a:spLocks noGrp="1"/>
          </p:cNvSpPr>
          <p:nvPr/>
        </p:nvSpPr>
        <p:spPr>
          <a:xfrm>
            <a:off x="3588385" y="2590165"/>
            <a:ext cx="2096135" cy="3190240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dash"/>
          </a:ln>
        </p:spPr>
        <p:txBody>
          <a:bodyPr wrap="square" lIns="92075" tIns="46038" rIns="92075" bIns="46038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</a:pPr>
            <a:r>
              <a:rPr lang="zh-CN" altLang="en-US" sz="1600" b="1" dirty="0">
                <a:sym typeface="+mn-ea"/>
              </a:rPr>
              <a:t>程序分支是通过条件转移指令实现的，即根据条件对程序的执行进行判断、满足条件则进行程序转移，不满足条件就顺序执行程序。</a:t>
            </a:r>
            <a:endParaRPr lang="zh-CN" altLang="en-US" sz="1600" b="1" dirty="0"/>
          </a:p>
          <a:p>
            <a:pPr>
              <a:lnSpc>
                <a:spcPct val="140000"/>
              </a:lnSpc>
            </a:pPr>
            <a:r>
              <a:rPr lang="zh-CN" altLang="en-US" sz="1600" b="1" dirty="0">
                <a:sym typeface="+mn-ea"/>
              </a:rPr>
              <a:t>分支程序又分为单分支和多分支结构。</a:t>
            </a:r>
            <a:endParaRPr lang="zh-CN" altLang="en-US" sz="1600" b="1" dirty="0"/>
          </a:p>
        </p:txBody>
      </p:sp>
      <p:sp>
        <p:nvSpPr>
          <p:cNvPr id="5" name="文本占位符 26626"/>
          <p:cNvSpPr>
            <a:spLocks noGrp="1"/>
          </p:cNvSpPr>
          <p:nvPr/>
        </p:nvSpPr>
        <p:spPr>
          <a:xfrm>
            <a:off x="6324600" y="2590165"/>
            <a:ext cx="2096135" cy="2797175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dash"/>
          </a:ln>
        </p:spPr>
        <p:txBody>
          <a:bodyPr wrap="square" lIns="92075" tIns="46038" rIns="92075" bIns="46038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600" b="1" dirty="0">
                <a:sym typeface="+mn-ea"/>
              </a:rPr>
              <a:t>在程序运行时，有时需要连续重复执行某段程序，可以使用循环程序。其结构包括四部分：</a:t>
            </a:r>
            <a:endParaRPr lang="zh-CN" altLang="en-US" sz="1600" b="1" dirty="0"/>
          </a:p>
          <a:p>
            <a:pPr>
              <a:buNone/>
            </a:pPr>
            <a:r>
              <a:rPr lang="en-US" altLang="zh-CN" sz="1600" b="1" dirty="0">
                <a:sym typeface="+mn-ea"/>
              </a:rPr>
              <a:t>1</a:t>
            </a:r>
            <a:r>
              <a:rPr lang="zh-CN" altLang="en-US" sz="1600" b="1" dirty="0">
                <a:sym typeface="+mn-ea"/>
              </a:rPr>
              <a:t>、置循环初值</a:t>
            </a:r>
            <a:endParaRPr lang="zh-CN" altLang="en-US" sz="1600" b="1" dirty="0"/>
          </a:p>
          <a:p>
            <a:pPr>
              <a:buNone/>
            </a:pPr>
            <a:r>
              <a:rPr lang="en-US" altLang="zh-CN" sz="1600" b="1" dirty="0">
                <a:sym typeface="+mn-ea"/>
              </a:rPr>
              <a:t>2</a:t>
            </a:r>
            <a:r>
              <a:rPr lang="zh-CN" altLang="en-US" sz="1600" b="1" dirty="0">
                <a:sym typeface="+mn-ea"/>
              </a:rPr>
              <a:t>、循环体（循环工作部分）</a:t>
            </a:r>
            <a:endParaRPr lang="zh-CN" altLang="en-US" sz="1600" b="1" dirty="0"/>
          </a:p>
          <a:p>
            <a:pPr>
              <a:buNone/>
            </a:pPr>
            <a:r>
              <a:rPr lang="en-US" altLang="zh-CN" sz="1600" b="1" dirty="0">
                <a:sym typeface="+mn-ea"/>
              </a:rPr>
              <a:t>3</a:t>
            </a:r>
            <a:r>
              <a:rPr lang="zh-CN" altLang="en-US" sz="1600" b="1" dirty="0">
                <a:sym typeface="+mn-ea"/>
              </a:rPr>
              <a:t>、修改控制变量</a:t>
            </a:r>
            <a:endParaRPr lang="zh-CN" altLang="en-US" sz="1600" b="1" dirty="0"/>
          </a:p>
          <a:p>
            <a:pPr>
              <a:buNone/>
            </a:pPr>
            <a:r>
              <a:rPr lang="en-US" altLang="zh-CN" sz="1600" b="1" dirty="0">
                <a:sym typeface="+mn-ea"/>
              </a:rPr>
              <a:t>4</a:t>
            </a:r>
            <a:r>
              <a:rPr lang="zh-CN" altLang="en-US" sz="1600" b="1" dirty="0">
                <a:sym typeface="+mn-ea"/>
              </a:rPr>
              <a:t>、循环控制部分</a:t>
            </a:r>
            <a:endParaRPr lang="zh-CN" altLang="en-US" sz="1600" b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55297"/>
          <p:cNvSpPr>
            <a:spLocks noGrp="1"/>
          </p:cNvSpPr>
          <p:nvPr>
            <p:ph type="title"/>
          </p:nvPr>
        </p:nvSpPr>
        <p:spPr>
          <a:xfrm>
            <a:off x="1498600" y="235268"/>
            <a:ext cx="2981960" cy="460375"/>
          </a:xfrm>
        </p:spPr>
        <p:txBody>
          <a:bodyPr lIns="92075" tIns="46038" rIns="92075" bIns="46038" anchor="ctr"/>
          <a:lstStyle/>
          <a:p>
            <a:r>
              <a:rPr lang="en-US" altLang="zh-CN" dirty="0"/>
              <a:t>1</a:t>
            </a:r>
            <a:r>
              <a:rPr lang="zh-CN" altLang="en-US" dirty="0"/>
              <a:t>、顺序程序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485140" y="1036320"/>
            <a:ext cx="80911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</a:rPr>
              <a:t>【例</a:t>
            </a:r>
            <a:r>
              <a:rPr lang="en-US" altLang="zh-CN">
                <a:solidFill>
                  <a:srgbClr val="0000FF"/>
                </a:solidFill>
              </a:rPr>
              <a:t>4-1</a:t>
            </a:r>
            <a:r>
              <a:rPr lang="zh-CN" altLang="en-US">
                <a:solidFill>
                  <a:srgbClr val="0000FF"/>
                </a:solidFill>
              </a:rPr>
              <a:t>】双字节加法程序段</a:t>
            </a:r>
          </a:p>
          <a:p>
            <a:r>
              <a:rPr lang="zh-CN" altLang="en-US"/>
              <a:t>设被加数存放于片内</a:t>
            </a:r>
            <a:r>
              <a:rPr lang="en-US" altLang="zh-CN"/>
              <a:t>RAM</a:t>
            </a:r>
            <a:r>
              <a:rPr lang="zh-CN" altLang="en-US"/>
              <a:t>的</a:t>
            </a:r>
            <a:r>
              <a:rPr lang="en-US" altLang="zh-CN"/>
              <a:t>addr1</a:t>
            </a:r>
            <a:r>
              <a:rPr lang="zh-CN" altLang="en-US"/>
              <a:t>（低位字节）和</a:t>
            </a:r>
            <a:r>
              <a:rPr lang="en-US" altLang="zh-CN"/>
              <a:t>addr2</a:t>
            </a:r>
            <a:r>
              <a:rPr lang="zh-CN" altLang="en-US"/>
              <a:t>（高位字节，加数存放在</a:t>
            </a:r>
            <a:r>
              <a:rPr lang="en-US" altLang="zh-CN"/>
              <a:t>addr3</a:t>
            </a:r>
            <a:r>
              <a:rPr lang="zh-CN" altLang="en-US"/>
              <a:t>（低位字节）和</a:t>
            </a:r>
            <a:r>
              <a:rPr lang="en-US" altLang="zh-CN"/>
              <a:t>addr4</a:t>
            </a:r>
            <a:r>
              <a:rPr lang="zh-CN" altLang="en-US"/>
              <a:t>（高位字节），运算结果和数存于</a:t>
            </a:r>
            <a:r>
              <a:rPr lang="en-US" altLang="zh-CN"/>
              <a:t>addr1</a:t>
            </a:r>
            <a:r>
              <a:rPr lang="zh-CN" altLang="en-US"/>
              <a:t>和</a:t>
            </a:r>
            <a:r>
              <a:rPr lang="en-US" altLang="zh-CN"/>
              <a:t>addr2</a:t>
            </a:r>
            <a:r>
              <a:rPr lang="zh-CN" altLang="en-US"/>
              <a:t>中。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878205" y="2012315"/>
          <a:ext cx="63982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2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START: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PUSH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ACC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lang="zh-CN" altLang="zh-CN" sz="1600" b="0">
                          <a:solidFill>
                            <a:schemeClr val="tx1"/>
                          </a:solidFill>
                        </a:rPr>
                        <a:t>将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中的内容进栈保户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MOV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R0,  #addr1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将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addr1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地址值送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R0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MOV   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R1,  #addr3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;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将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addr1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地址值送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R1</a:t>
                      </a: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MOV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rgbClr val="0000FF"/>
                          </a:solidFill>
                        </a:rPr>
                        <a:t>A,  </a:t>
                      </a:r>
                      <a:r>
                        <a:rPr lang="zh-CN" altLang="en-US" sz="1600" b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altLang="zh-CN" sz="1600" b="0">
                          <a:solidFill>
                            <a:srgbClr val="0000FF"/>
                          </a:solidFill>
                        </a:rPr>
                        <a:t>@R0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被加数低字节内容送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ADD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rgbClr val="0000FF"/>
                          </a:solidFill>
                        </a:rPr>
                        <a:t>A,   </a:t>
                      </a:r>
                      <a:r>
                        <a:rPr lang="zh-CN" altLang="en-US" sz="1600" b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altLang="zh-CN" sz="1600" b="0">
                          <a:solidFill>
                            <a:srgbClr val="0000FF"/>
                          </a:solidFill>
                        </a:rPr>
                        <a:t>@R1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低字节数相加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MOV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@R0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,  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A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zh-CN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lang="zh-CN" altLang="zh-CN" sz="1600" b="0">
                          <a:solidFill>
                            <a:schemeClr val="tx1"/>
                          </a:solidFill>
                        </a:rPr>
                        <a:t>低字节数和存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addr1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中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INC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R0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指向被加数高位字节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INC</a:t>
                      </a:r>
                      <a:endParaRPr lang="en-US" altLang="zh-CN" sz="16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R1</a:t>
                      </a:r>
                      <a:endParaRPr lang="en-US" altLang="zh-CN" sz="16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指向加数高位字节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MOV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A,  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@R0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被加数高字节内容送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0">
                        <a:solidFill>
                          <a:srgbClr val="FF3300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rgbClr val="FF3300"/>
                          </a:solidFill>
                        </a:rPr>
                        <a:t>ADDC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rgbClr val="FF3300"/>
                          </a:solidFill>
                        </a:rPr>
                        <a:t>A,   </a:t>
                      </a:r>
                      <a:r>
                        <a:rPr lang="zh-CN" altLang="en-US" sz="1600" b="0">
                          <a:solidFill>
                            <a:srgbClr val="FF3300"/>
                          </a:solidFill>
                        </a:rPr>
                        <a:t> </a:t>
                      </a:r>
                      <a:r>
                        <a:rPr lang="en-US" altLang="zh-CN" sz="1600" b="0">
                          <a:solidFill>
                            <a:srgbClr val="FF3300"/>
                          </a:solidFill>
                        </a:rPr>
                        <a:t>@R1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高字节数相加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MOV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@R0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,  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A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zh-CN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高</a:t>
                      </a:r>
                      <a:r>
                        <a:rPr lang="zh-CN" altLang="zh-CN" sz="1600" b="0">
                          <a:solidFill>
                            <a:schemeClr val="tx1"/>
                          </a:solidFill>
                        </a:rPr>
                        <a:t>字节数和存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addr2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中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POP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ACC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恢复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原内容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55297"/>
          <p:cNvSpPr>
            <a:spLocks noGrp="1"/>
          </p:cNvSpPr>
          <p:nvPr>
            <p:ph type="title"/>
          </p:nvPr>
        </p:nvSpPr>
        <p:spPr>
          <a:xfrm>
            <a:off x="1498600" y="235268"/>
            <a:ext cx="2981960" cy="460375"/>
          </a:xfrm>
        </p:spPr>
        <p:txBody>
          <a:bodyPr lIns="92075" tIns="46038" rIns="92075" bIns="46038" anchor="ctr"/>
          <a:lstStyle/>
          <a:p>
            <a:r>
              <a:rPr lang="en-US" altLang="zh-CN" dirty="0"/>
              <a:t>1</a:t>
            </a:r>
            <a:r>
              <a:rPr lang="zh-CN" altLang="en-US" dirty="0"/>
              <a:t>、顺序程序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485140" y="1163320"/>
            <a:ext cx="80911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</a:rPr>
              <a:t>【例</a:t>
            </a:r>
            <a:r>
              <a:rPr lang="en-US" altLang="zh-CN">
                <a:solidFill>
                  <a:srgbClr val="0000FF"/>
                </a:solidFill>
              </a:rPr>
              <a:t>4-2</a:t>
            </a:r>
            <a:r>
              <a:rPr lang="zh-CN" altLang="en-US">
                <a:solidFill>
                  <a:srgbClr val="0000FF"/>
                </a:solidFill>
              </a:rPr>
              <a:t>】拆字  </a:t>
            </a:r>
            <a:r>
              <a:rPr lang="zh-CN" altLang="en-US">
                <a:solidFill>
                  <a:schemeClr val="tx1"/>
                </a:solidFill>
              </a:rPr>
              <a:t>将片内</a:t>
            </a:r>
            <a:r>
              <a:rPr lang="en-US" altLang="zh-CN">
                <a:solidFill>
                  <a:schemeClr val="tx1"/>
                </a:solidFill>
              </a:rPr>
              <a:t>RAM20H</a:t>
            </a:r>
            <a:r>
              <a:rPr lang="zh-CN" altLang="en-US">
                <a:solidFill>
                  <a:schemeClr val="tx1"/>
                </a:solidFill>
              </a:rPr>
              <a:t>单元的内容拆成两段，每段</a:t>
            </a:r>
            <a:r>
              <a:rPr lang="en-US" altLang="zh-CN">
                <a:solidFill>
                  <a:schemeClr val="tx1"/>
                </a:solidFill>
              </a:rPr>
              <a:t>4</a:t>
            </a:r>
            <a:r>
              <a:rPr lang="zh-CN" altLang="en-US">
                <a:solidFill>
                  <a:schemeClr val="tx1"/>
                </a:solidFill>
              </a:rPr>
              <a:t>位，并将他们分别存入</a:t>
            </a:r>
            <a:r>
              <a:rPr lang="en-US" altLang="zh-CN">
                <a:solidFill>
                  <a:schemeClr val="tx1"/>
                </a:solidFill>
              </a:rPr>
              <a:t>21H</a:t>
            </a:r>
            <a:r>
              <a:rPr lang="zh-CN" altLang="en-US">
                <a:solidFill>
                  <a:schemeClr val="tx1"/>
                </a:solidFill>
              </a:rPr>
              <a:t>和</a:t>
            </a:r>
            <a:r>
              <a:rPr lang="en-US" altLang="zh-CN">
                <a:solidFill>
                  <a:schemeClr val="tx1"/>
                </a:solidFill>
              </a:rPr>
              <a:t>22H</a:t>
            </a:r>
            <a:r>
              <a:rPr lang="zh-CN" altLang="en-US">
                <a:solidFill>
                  <a:schemeClr val="tx1"/>
                </a:solidFill>
              </a:rPr>
              <a:t>单元中。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883285" y="1900555"/>
          <a:ext cx="69215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ORG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2000H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伪指令，定义程序的起始地址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START:</a:t>
                      </a:r>
                      <a:endParaRPr lang="en-US" altLang="zh-CN" sz="16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MOV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R0,  #21H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;21H→R0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MOV   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A,  20H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;(20H)→A</a:t>
                      </a:r>
                      <a:endParaRPr lang="zh-CN" altLang="en-US" sz="16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rgbClr val="0000FF"/>
                          </a:solidFill>
                        </a:rPr>
                        <a:t>ANL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rgbClr val="0000FF"/>
                          </a:solidFill>
                        </a:rPr>
                        <a:t>A,  </a:t>
                      </a:r>
                      <a:r>
                        <a:rPr lang="zh-CN" altLang="en-US" sz="1600" b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altLang="zh-CN" sz="1600" b="0">
                          <a:solidFill>
                            <a:srgbClr val="0000FF"/>
                          </a:solidFill>
                        </a:rPr>
                        <a:t>#0FH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;A∧#0FH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→A 屏蔽</a:t>
                      </a:r>
                      <a:endParaRPr lang="zh-CN" altLang="en-US" sz="16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MOV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@R0,  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A  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zh-CN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A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→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R0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)</a:t>
                      </a:r>
                      <a:endParaRPr lang="en-US" altLang="zh-CN" sz="16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INC</a:t>
                      </a:r>
                      <a:endParaRPr lang="en-US" altLang="zh-CN" sz="16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R0</a:t>
                      </a:r>
                      <a:endParaRPr lang="en-US" altLang="zh-CN" sz="16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;R0+1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→R0</a:t>
                      </a:r>
                      <a:endParaRPr lang="en-US" altLang="zh-CN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MOV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A,  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20H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(20H)→A</a:t>
                      </a:r>
                      <a:endParaRPr lang="en-US" altLang="zh-CN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rgbClr val="0000FF"/>
                          </a:solidFill>
                        </a:rPr>
                        <a:t>SWAP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rgbClr val="0000FF"/>
                          </a:solidFill>
                        </a:rPr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;A</a:t>
                      </a:r>
                      <a:r>
                        <a:rPr lang="en-US" altLang="zh-CN" sz="1600" b="0" baseline="-25000">
                          <a:solidFill>
                            <a:schemeClr val="tx1"/>
                          </a:solidFill>
                        </a:rPr>
                        <a:t>0-3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→A</a:t>
                      </a:r>
                      <a:r>
                        <a:rPr lang="en-US" altLang="zh-CN" sz="1600" baseline="-25000">
                          <a:solidFill>
                            <a:schemeClr val="tx1"/>
                          </a:solidFill>
                          <a:sym typeface="+mn-ea"/>
                        </a:rPr>
                        <a:t>4-7</a:t>
                      </a:r>
                      <a:endParaRPr lang="en-US" altLang="zh-CN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ANL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A,  #0FH</a:t>
                      </a:r>
                      <a:endParaRPr lang="en-US" altLang="zh-CN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A∧#0FH→A 屏蔽</a:t>
                      </a: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MOV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@R0,  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A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→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R0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)</a:t>
                      </a: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55297"/>
          <p:cNvSpPr>
            <a:spLocks noGrp="1"/>
          </p:cNvSpPr>
          <p:nvPr>
            <p:ph type="title"/>
          </p:nvPr>
        </p:nvSpPr>
        <p:spPr>
          <a:xfrm>
            <a:off x="1498600" y="235268"/>
            <a:ext cx="2981960" cy="460375"/>
          </a:xfrm>
        </p:spPr>
        <p:txBody>
          <a:bodyPr lIns="92075" tIns="46038" rIns="92075" bIns="46038" anchor="ctr"/>
          <a:lstStyle/>
          <a:p>
            <a:r>
              <a:rPr lang="en-US" altLang="zh-CN" dirty="0"/>
              <a:t>1</a:t>
            </a:r>
            <a:r>
              <a:rPr lang="zh-CN" altLang="en-US" dirty="0"/>
              <a:t>、顺序程序</a:t>
            </a: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485140" y="1163320"/>
            <a:ext cx="8091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0000FF"/>
                </a:solidFill>
              </a:rPr>
              <a:t>【例</a:t>
            </a:r>
            <a:r>
              <a:rPr lang="en-US" altLang="zh-CN">
                <a:solidFill>
                  <a:srgbClr val="0000FF"/>
                </a:solidFill>
              </a:rPr>
              <a:t>4-3</a:t>
            </a:r>
            <a:r>
              <a:rPr lang="zh-CN" altLang="en-US">
                <a:solidFill>
                  <a:srgbClr val="0000FF"/>
                </a:solidFill>
              </a:rPr>
              <a:t>】</a:t>
            </a:r>
            <a:r>
              <a:rPr lang="en-US" altLang="zh-CN">
                <a:solidFill>
                  <a:srgbClr val="0000FF"/>
                </a:solidFill>
              </a:rPr>
              <a:t>16</a:t>
            </a:r>
            <a:r>
              <a:rPr lang="zh-CN" altLang="en-US">
                <a:solidFill>
                  <a:srgbClr val="0000FF"/>
                </a:solidFill>
              </a:rPr>
              <a:t>位数求补  设</a:t>
            </a:r>
            <a:r>
              <a:rPr lang="en-US" altLang="zh-CN">
                <a:solidFill>
                  <a:srgbClr val="0000FF"/>
                </a:solidFill>
              </a:rPr>
              <a:t>16</a:t>
            </a:r>
            <a:r>
              <a:rPr lang="zh-CN" altLang="en-US">
                <a:solidFill>
                  <a:srgbClr val="0000FF"/>
                </a:solidFill>
              </a:rPr>
              <a:t>位二进制数在</a:t>
            </a:r>
            <a:r>
              <a:rPr lang="en-US" altLang="zh-CN">
                <a:solidFill>
                  <a:srgbClr val="0000FF"/>
                </a:solidFill>
              </a:rPr>
              <a:t>R1</a:t>
            </a:r>
            <a:r>
              <a:rPr lang="zh-CN" altLang="en-US">
                <a:solidFill>
                  <a:srgbClr val="0000FF"/>
                </a:solidFill>
              </a:rPr>
              <a:t>和</a:t>
            </a:r>
            <a:r>
              <a:rPr lang="en-US" altLang="zh-CN">
                <a:solidFill>
                  <a:srgbClr val="0000FF"/>
                </a:solidFill>
              </a:rPr>
              <a:t>R0</a:t>
            </a:r>
            <a:r>
              <a:rPr lang="zh-CN" altLang="en-US">
                <a:solidFill>
                  <a:srgbClr val="0000FF"/>
                </a:solidFill>
              </a:rPr>
              <a:t>中，求补结果存于</a:t>
            </a:r>
            <a:r>
              <a:rPr lang="en-US" altLang="zh-CN">
                <a:solidFill>
                  <a:srgbClr val="0000FF"/>
                </a:solidFill>
              </a:rPr>
              <a:t>R3</a:t>
            </a:r>
            <a:r>
              <a:rPr lang="zh-CN" altLang="en-US">
                <a:solidFill>
                  <a:srgbClr val="0000FF"/>
                </a:solidFill>
              </a:rPr>
              <a:t>和</a:t>
            </a:r>
            <a:r>
              <a:rPr lang="en-US" altLang="zh-CN">
                <a:solidFill>
                  <a:srgbClr val="0000FF"/>
                </a:solidFill>
              </a:rPr>
              <a:t>R2</a:t>
            </a:r>
            <a:r>
              <a:rPr lang="zh-CN" altLang="en-US">
                <a:solidFill>
                  <a:srgbClr val="0000FF"/>
                </a:solidFill>
              </a:rPr>
              <a:t>中。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8447766"/>
              </p:ext>
            </p:extLst>
          </p:nvPr>
        </p:nvGraphicFramePr>
        <p:xfrm>
          <a:off x="883285" y="1900555"/>
          <a:ext cx="69215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ORG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2000H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伪指令，定义程序的起始地址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START:</a:t>
                      </a:r>
                      <a:endParaRPr lang="en-US" altLang="zh-CN" sz="16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MOV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  R0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R0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→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，低八位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rgbClr val="0000FF"/>
                          </a:solidFill>
                        </a:rPr>
                        <a:t>CPL  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rgbClr val="0000FF"/>
                          </a:solidFill>
                        </a:rPr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;取反</a:t>
                      </a:r>
                      <a:endParaRPr lang="zh-CN" altLang="en-US" sz="16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rgbClr val="0000FF"/>
                          </a:solidFill>
                        </a:rPr>
                        <a:t>ADD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rgbClr val="0000FF"/>
                          </a:solidFill>
                        </a:rPr>
                        <a:t>A,  </a:t>
                      </a:r>
                      <a:r>
                        <a:rPr lang="zh-CN" altLang="en-US" sz="1600" b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altLang="zh-CN" sz="1600" b="0">
                          <a:solidFill>
                            <a:srgbClr val="0000FF"/>
                          </a:solidFill>
                        </a:rPr>
                        <a:t>#01H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;加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6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MOV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R2,  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A  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zh-CN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A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→R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2 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存低八位补码</a:t>
                      </a:r>
                      <a:endParaRPr lang="zh-CN" altLang="en-US" sz="16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MOV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  R1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R1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→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，高八位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CPL  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;取反</a:t>
                      </a:r>
                      <a:endParaRPr lang="zh-CN" altLang="en-US" sz="16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rgbClr val="FF3300"/>
                          </a:solidFill>
                        </a:rPr>
                        <a:t>ADDC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A,  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#00H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;加进位</a:t>
                      </a:r>
                      <a:endParaRPr lang="en-US" altLang="zh-CN" sz="16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MOV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R3,  </a:t>
                      </a: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A  </a:t>
                      </a:r>
                      <a:r>
                        <a:rPr lang="zh-CN" altLang="en-US" sz="1600" b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zh-CN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;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sym typeface="+mn-ea"/>
                        </a:rPr>
                        <a:t>A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sym typeface="+mn-ea"/>
                        </a:rPr>
                        <a:t>→R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sym typeface="+mn-ea"/>
                        </a:rPr>
                        <a:t>3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  <a:sym typeface="+mn-ea"/>
                        </a:rPr>
                        <a:t>存高八位补码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T>
                    <a:lnB w="12700">
                      <a:solidFill>
                        <a:schemeClr val="bg1">
                          <a:lumMod val="85000"/>
                        </a:schemeClr>
                      </a:solidFill>
                      <a:prstDash val="sysDot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55297"/>
          <p:cNvSpPr>
            <a:spLocks noGrp="1"/>
          </p:cNvSpPr>
          <p:nvPr>
            <p:ph type="title"/>
          </p:nvPr>
        </p:nvSpPr>
        <p:spPr>
          <a:xfrm>
            <a:off x="1498600" y="235268"/>
            <a:ext cx="2981960" cy="460375"/>
          </a:xfrm>
        </p:spPr>
        <p:txBody>
          <a:bodyPr lIns="92075" tIns="46038" rIns="92075" bIns="46038" anchor="ctr"/>
          <a:lstStyle/>
          <a:p>
            <a:r>
              <a:rPr lang="en-US" altLang="zh-CN" dirty="0"/>
              <a:t>2</a:t>
            </a:r>
            <a:r>
              <a:rPr lang="zh-CN" altLang="en-US" dirty="0"/>
              <a:t>、分支程序</a:t>
            </a:r>
          </a:p>
        </p:txBody>
      </p:sp>
      <p:sp>
        <p:nvSpPr>
          <p:cNvPr id="55299" name="文本占位符 55298"/>
          <p:cNvSpPr>
            <a:spLocks noGrp="1"/>
          </p:cNvSpPr>
          <p:nvPr>
            <p:ph type="body" idx="1"/>
          </p:nvPr>
        </p:nvSpPr>
        <p:spPr>
          <a:xfrm>
            <a:off x="427355" y="1031240"/>
            <a:ext cx="8150860" cy="1753235"/>
          </a:xfrm>
        </p:spPr>
        <p:txBody>
          <a:bodyPr wrap="square" lIns="92075" tIns="46038" rIns="92075" bIns="46038"/>
          <a:lstStyle/>
          <a:p>
            <a:pPr>
              <a:lnSpc>
                <a:spcPct val="150000"/>
              </a:lnSpc>
            </a:pPr>
            <a:r>
              <a:rPr lang="zh-CN" altLang="en-US" sz="1800" b="1" dirty="0"/>
              <a:t>在</a:t>
            </a:r>
            <a:r>
              <a:rPr lang="en-US" altLang="zh-CN" sz="1800" b="1" dirty="0"/>
              <a:t>MCS-51</a:t>
            </a:r>
            <a:r>
              <a:rPr lang="zh-CN" altLang="en-US" sz="1800" b="1" dirty="0"/>
              <a:t>指令系统中，通过条件判断实现单分支程序转移的指令有：</a:t>
            </a:r>
            <a:r>
              <a:rPr lang="en-US" altLang="zh-CN" sz="1800" b="1" dirty="0"/>
              <a:t>JZ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JNZ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CJNE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DJNZ</a:t>
            </a:r>
            <a:r>
              <a:rPr lang="zh-CN" altLang="en-US" sz="1800" b="1" dirty="0"/>
              <a:t>等。此外还有以位状态作为条件进行程序分支的指令，如</a:t>
            </a:r>
            <a:r>
              <a:rPr lang="en-US" altLang="zh-CN" sz="1800" b="1" dirty="0"/>
              <a:t>JC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JNC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JB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JNB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JBC</a:t>
            </a:r>
            <a:r>
              <a:rPr lang="zh-CN" altLang="en-US" sz="1800" b="1" dirty="0"/>
              <a:t>等。使用这些指令可以完成</a:t>
            </a:r>
            <a:r>
              <a:rPr lang="en-US" altLang="zh-CN" sz="1800" b="1" dirty="0"/>
              <a:t>0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、正、负，以及相等、不相等作为各种条件判断依据的程序转移。</a:t>
            </a:r>
          </a:p>
        </p:txBody>
      </p:sp>
      <p:sp>
        <p:nvSpPr>
          <p:cNvPr id="2" name="矩形 1"/>
          <p:cNvSpPr/>
          <p:nvPr/>
        </p:nvSpPr>
        <p:spPr>
          <a:xfrm>
            <a:off x="3771900" y="2851150"/>
            <a:ext cx="1462405" cy="273050"/>
          </a:xfrm>
          <a:prstGeom prst="rect">
            <a:avLst/>
          </a:prstGeom>
          <a:solidFill>
            <a:schemeClr val="bg2">
              <a:alpha val="73000"/>
            </a:schemeClr>
          </a:solidFill>
          <a:ln w="31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取分支号</a:t>
            </a:r>
          </a:p>
        </p:txBody>
      </p:sp>
      <p:sp>
        <p:nvSpPr>
          <p:cNvPr id="3" name="矩形 2"/>
          <p:cNvSpPr/>
          <p:nvPr/>
        </p:nvSpPr>
        <p:spPr>
          <a:xfrm>
            <a:off x="3099435" y="3368675"/>
            <a:ext cx="2806700" cy="273050"/>
          </a:xfrm>
          <a:prstGeom prst="rect">
            <a:avLst/>
          </a:prstGeom>
          <a:solidFill>
            <a:schemeClr val="bg2">
              <a:alpha val="73000"/>
            </a:schemeClr>
          </a:solidFill>
          <a:ln w="31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地址高低字节存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DPTR</a:t>
            </a:r>
          </a:p>
        </p:txBody>
      </p:sp>
      <p:sp>
        <p:nvSpPr>
          <p:cNvPr id="4" name="流程图: 决策 3"/>
          <p:cNvSpPr/>
          <p:nvPr/>
        </p:nvSpPr>
        <p:spPr>
          <a:xfrm>
            <a:off x="3973195" y="3886200"/>
            <a:ext cx="1058545" cy="381000"/>
          </a:xfrm>
          <a:prstGeom prst="flowChartDecision">
            <a:avLst/>
          </a:prstGeom>
          <a:solidFill>
            <a:schemeClr val="bg2">
              <a:alpha val="73000"/>
            </a:schemeClr>
          </a:solidFill>
          <a:ln w="31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N=?</a:t>
            </a:r>
          </a:p>
        </p:txBody>
      </p:sp>
      <p:sp>
        <p:nvSpPr>
          <p:cNvPr id="5" name="矩形 4"/>
          <p:cNvSpPr/>
          <p:nvPr/>
        </p:nvSpPr>
        <p:spPr>
          <a:xfrm>
            <a:off x="647065" y="4826635"/>
            <a:ext cx="1462405" cy="273050"/>
          </a:xfrm>
          <a:prstGeom prst="rect">
            <a:avLst/>
          </a:prstGeom>
          <a:solidFill>
            <a:schemeClr val="bg2">
              <a:alpha val="73000"/>
            </a:schemeClr>
          </a:solidFill>
          <a:ln w="31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分支程序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PP0</a:t>
            </a:r>
          </a:p>
        </p:txBody>
      </p:sp>
      <p:sp>
        <p:nvSpPr>
          <p:cNvPr id="6" name="矩形 5"/>
          <p:cNvSpPr/>
          <p:nvPr/>
        </p:nvSpPr>
        <p:spPr>
          <a:xfrm>
            <a:off x="2190750" y="4826635"/>
            <a:ext cx="1462405" cy="273050"/>
          </a:xfrm>
          <a:prstGeom prst="rect">
            <a:avLst/>
          </a:prstGeom>
          <a:solidFill>
            <a:schemeClr val="bg2">
              <a:alpha val="73000"/>
            </a:schemeClr>
          </a:solidFill>
          <a:ln w="31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分支程序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PP1</a:t>
            </a:r>
          </a:p>
        </p:txBody>
      </p:sp>
      <p:sp>
        <p:nvSpPr>
          <p:cNvPr id="7" name="矩形 6"/>
          <p:cNvSpPr/>
          <p:nvPr/>
        </p:nvSpPr>
        <p:spPr>
          <a:xfrm>
            <a:off x="5273675" y="4826635"/>
            <a:ext cx="1462405" cy="273050"/>
          </a:xfrm>
          <a:prstGeom prst="rect">
            <a:avLst/>
          </a:prstGeom>
          <a:solidFill>
            <a:schemeClr val="bg2">
              <a:alpha val="73000"/>
            </a:schemeClr>
          </a:solidFill>
          <a:ln w="31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分支程序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PP3</a:t>
            </a:r>
          </a:p>
        </p:txBody>
      </p:sp>
      <p:sp>
        <p:nvSpPr>
          <p:cNvPr id="8" name="矩形 7"/>
          <p:cNvSpPr/>
          <p:nvPr/>
        </p:nvSpPr>
        <p:spPr>
          <a:xfrm>
            <a:off x="3733800" y="4826635"/>
            <a:ext cx="1462405" cy="273050"/>
          </a:xfrm>
          <a:prstGeom prst="rect">
            <a:avLst/>
          </a:prstGeom>
          <a:solidFill>
            <a:schemeClr val="bg2">
              <a:alpha val="73000"/>
            </a:schemeClr>
          </a:solidFill>
          <a:ln w="31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分支程序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PP2</a:t>
            </a:r>
          </a:p>
        </p:txBody>
      </p:sp>
      <p:sp>
        <p:nvSpPr>
          <p:cNvPr id="9" name="矩形 8"/>
          <p:cNvSpPr/>
          <p:nvPr/>
        </p:nvSpPr>
        <p:spPr>
          <a:xfrm>
            <a:off x="6824345" y="4826635"/>
            <a:ext cx="1462405" cy="273050"/>
          </a:xfrm>
          <a:prstGeom prst="rect">
            <a:avLst/>
          </a:prstGeom>
          <a:solidFill>
            <a:schemeClr val="bg2">
              <a:alpha val="73000"/>
            </a:schemeClr>
          </a:solidFill>
          <a:ln w="31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分支程序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PP4</a:t>
            </a:r>
          </a:p>
        </p:txBody>
      </p:sp>
      <p:sp>
        <p:nvSpPr>
          <p:cNvPr id="10" name="流程图: 终止 9"/>
          <p:cNvSpPr/>
          <p:nvPr/>
        </p:nvSpPr>
        <p:spPr>
          <a:xfrm>
            <a:off x="4055745" y="5655310"/>
            <a:ext cx="871220" cy="283845"/>
          </a:xfrm>
          <a:prstGeom prst="flowChartTerminator">
            <a:avLst/>
          </a:prstGeom>
          <a:solidFill>
            <a:schemeClr val="bg2">
              <a:alpha val="73000"/>
            </a:schemeClr>
          </a:solidFill>
          <a:ln w="31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lstStyle/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返回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80720" y="4485005"/>
            <a:ext cx="4419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N=0</a:t>
            </a:r>
          </a:p>
        </p:txBody>
      </p:sp>
      <p:cxnSp>
        <p:nvCxnSpPr>
          <p:cNvPr id="12" name="直接箭头连接符 11"/>
          <p:cNvCxnSpPr>
            <a:endCxn id="2" idx="0"/>
          </p:cNvCxnSpPr>
          <p:nvPr/>
        </p:nvCxnSpPr>
        <p:spPr>
          <a:xfrm>
            <a:off x="4495800" y="2514600"/>
            <a:ext cx="7620" cy="3365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2" idx="2"/>
            <a:endCxn id="3" idx="0"/>
          </p:cNvCxnSpPr>
          <p:nvPr/>
        </p:nvCxnSpPr>
        <p:spPr>
          <a:xfrm flipH="1">
            <a:off x="4502785" y="3124200"/>
            <a:ext cx="635" cy="2444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3" idx="2"/>
            <a:endCxn id="4" idx="0"/>
          </p:cNvCxnSpPr>
          <p:nvPr/>
        </p:nvCxnSpPr>
        <p:spPr>
          <a:xfrm>
            <a:off x="4502785" y="3641725"/>
            <a:ext cx="0" cy="2444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1301750" y="4489450"/>
            <a:ext cx="61829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4" idx="2"/>
          </p:cNvCxnSpPr>
          <p:nvPr/>
        </p:nvCxnSpPr>
        <p:spPr>
          <a:xfrm>
            <a:off x="4502785" y="4267200"/>
            <a:ext cx="0" cy="2127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1296670" y="4485005"/>
            <a:ext cx="0" cy="3371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7484745" y="4489450"/>
            <a:ext cx="0" cy="3371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5906135" y="4489450"/>
            <a:ext cx="0" cy="3371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2989580" y="4489450"/>
            <a:ext cx="0" cy="3371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4503420" y="4485005"/>
            <a:ext cx="0" cy="3371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96670" y="5436870"/>
            <a:ext cx="61829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4503420" y="5099685"/>
            <a:ext cx="0" cy="3371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1301750" y="5099685"/>
            <a:ext cx="0" cy="3371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7484745" y="5099685"/>
            <a:ext cx="0" cy="3371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5906135" y="5099685"/>
            <a:ext cx="0" cy="3371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2989580" y="5099685"/>
            <a:ext cx="0" cy="3371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endCxn id="10" idx="0"/>
          </p:cNvCxnSpPr>
          <p:nvPr/>
        </p:nvCxnSpPr>
        <p:spPr>
          <a:xfrm flipH="1">
            <a:off x="4491355" y="5439410"/>
            <a:ext cx="5715" cy="2159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2406650" y="4520565"/>
            <a:ext cx="4419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N=1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842385" y="4515485"/>
            <a:ext cx="4419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N=2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5416550" y="4515485"/>
            <a:ext cx="4419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N=3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6927850" y="4515485"/>
            <a:ext cx="4419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N=4</a:t>
            </a:r>
          </a:p>
        </p:txBody>
      </p:sp>
      <p:sp>
        <p:nvSpPr>
          <p:cNvPr id="33" name="灯片编号占位符 3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文本占位符 56322"/>
          <p:cNvSpPr>
            <a:spLocks noGrp="1"/>
          </p:cNvSpPr>
          <p:nvPr>
            <p:ph type="body" idx="1"/>
          </p:nvPr>
        </p:nvSpPr>
        <p:spPr>
          <a:xfrm>
            <a:off x="533400" y="1096010"/>
            <a:ext cx="8610600" cy="1198880"/>
          </a:xfrm>
        </p:spPr>
        <p:txBody>
          <a:bodyPr lIns="92075" tIns="46038" rIns="92075" bIns="46038"/>
          <a:lstStyle/>
          <a:p>
            <a:pPr>
              <a:buNone/>
            </a:pPr>
            <a:r>
              <a:rPr lang="zh-CN" altLang="en-US" sz="1800" b="1" dirty="0">
                <a:solidFill>
                  <a:srgbClr val="0000FF"/>
                </a:solidFill>
              </a:rPr>
              <a:t>例</a:t>
            </a:r>
            <a:r>
              <a:rPr lang="en-US" altLang="zh-CN" sz="1800" b="1" dirty="0">
                <a:solidFill>
                  <a:srgbClr val="0000FF"/>
                </a:solidFill>
              </a:rPr>
              <a:t>4-4</a:t>
            </a:r>
            <a:r>
              <a:rPr lang="zh-CN" altLang="en-US" sz="1800" b="1" dirty="0">
                <a:solidFill>
                  <a:srgbClr val="0000FF"/>
                </a:solidFill>
              </a:rPr>
              <a:t>： </a:t>
            </a:r>
            <a:r>
              <a:rPr lang="en-US" altLang="zh-CN" sz="1800" b="1" dirty="0">
                <a:solidFill>
                  <a:srgbClr val="0000FF"/>
                </a:solidFill>
              </a:rPr>
              <a:t>128</a:t>
            </a:r>
            <a:r>
              <a:rPr lang="zh-CN" altLang="en-US" sz="1800" b="1" dirty="0">
                <a:solidFill>
                  <a:srgbClr val="0000FF"/>
                </a:solidFill>
              </a:rPr>
              <a:t>种分支转移程序。</a:t>
            </a:r>
            <a:endParaRPr lang="zh-CN" altLang="en-US" sz="1800" b="1" dirty="0"/>
          </a:p>
          <a:p>
            <a:pPr>
              <a:buNone/>
            </a:pPr>
            <a:r>
              <a:rPr lang="zh-CN" altLang="en-US" sz="1800" b="1" dirty="0"/>
              <a:t>                功能：根据入口条件转移到</a:t>
            </a:r>
            <a:r>
              <a:rPr lang="en-US" altLang="zh-CN" sz="1800" b="1" dirty="0"/>
              <a:t>128</a:t>
            </a:r>
            <a:r>
              <a:rPr lang="zh-CN" altLang="en-US" sz="1800" b="1" dirty="0"/>
              <a:t>个目的地址。</a:t>
            </a:r>
          </a:p>
          <a:p>
            <a:pPr>
              <a:buNone/>
            </a:pPr>
            <a:r>
              <a:rPr lang="zh-CN" altLang="en-US" sz="1800" b="1" dirty="0"/>
              <a:t>                入口：（</a:t>
            </a:r>
            <a:r>
              <a:rPr lang="en-US" altLang="zh-CN" sz="1800" b="1" dirty="0"/>
              <a:t>R3</a:t>
            </a:r>
            <a:r>
              <a:rPr lang="zh-CN" altLang="en-US" sz="1800" b="1" dirty="0"/>
              <a:t>）</a:t>
            </a:r>
            <a:r>
              <a:rPr lang="en-US" altLang="zh-CN" sz="1800" b="1" dirty="0"/>
              <a:t>=</a:t>
            </a:r>
            <a:r>
              <a:rPr lang="zh-CN" altLang="en-US" sz="1800" b="1" dirty="0"/>
              <a:t>转移目的地址的序号</a:t>
            </a:r>
            <a:r>
              <a:rPr lang="en-US" altLang="zh-CN" sz="1800" b="1" dirty="0"/>
              <a:t>00H</a:t>
            </a:r>
            <a:r>
              <a:rPr lang="zh-CN" altLang="en-US" sz="1800" b="1" dirty="0"/>
              <a:t>～</a:t>
            </a:r>
            <a:r>
              <a:rPr lang="en-US" altLang="zh-CN" sz="1800" b="1" dirty="0"/>
              <a:t>7FH</a:t>
            </a:r>
            <a:r>
              <a:rPr lang="zh-CN" altLang="en-US" sz="1800" b="1" dirty="0"/>
              <a:t>。</a:t>
            </a:r>
          </a:p>
          <a:p>
            <a:pPr>
              <a:buNone/>
            </a:pPr>
            <a:r>
              <a:rPr lang="zh-CN" altLang="en-US" sz="1800" b="1" dirty="0"/>
              <a:t>                出口：转移到相应子程序入口。</a:t>
            </a:r>
          </a:p>
        </p:txBody>
      </p:sp>
      <p:grpSp>
        <p:nvGrpSpPr>
          <p:cNvPr id="56327" name="组合 56326"/>
          <p:cNvGrpSpPr/>
          <p:nvPr/>
        </p:nvGrpSpPr>
        <p:grpSpPr>
          <a:xfrm>
            <a:off x="1275715" y="2353945"/>
            <a:ext cx="6375400" cy="3291476"/>
            <a:chOff x="624" y="2400"/>
            <a:chExt cx="4016" cy="2223"/>
          </a:xfrm>
        </p:grpSpPr>
        <p:sp>
          <p:nvSpPr>
            <p:cNvPr id="56324" name="右大括号 56323"/>
            <p:cNvSpPr/>
            <p:nvPr/>
          </p:nvSpPr>
          <p:spPr>
            <a:xfrm>
              <a:off x="2501" y="3540"/>
              <a:ext cx="144" cy="856"/>
            </a:xfrm>
            <a:prstGeom prst="rightBrace">
              <a:avLst>
                <a:gd name="adj1" fmla="val 33333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56325" name="文本框 56324"/>
            <p:cNvSpPr txBox="1"/>
            <p:nvPr/>
          </p:nvSpPr>
          <p:spPr>
            <a:xfrm>
              <a:off x="3565" y="3312"/>
              <a:ext cx="1075" cy="2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eaLnBrk="1" hangingPunct="1"/>
              <a:r>
                <a:rPr lang="en-US" altLang="zh-CN" sz="1600" dirty="0">
                  <a:latin typeface="Times New Roman" panose="02020603050405020304" charset="0"/>
                  <a:ea typeface="宋体" panose="02010600030101010101" pitchFamily="2" charset="-122"/>
                </a:rPr>
                <a:t>128</a:t>
              </a:r>
              <a:r>
                <a:rPr lang="zh-CN" altLang="en-US" sz="1600" dirty="0">
                  <a:latin typeface="Times New Roman" panose="02020603050405020304" charset="0"/>
                  <a:ea typeface="宋体" panose="02010600030101010101" pitchFamily="2" charset="-122"/>
                </a:rPr>
                <a:t>个子程序首址</a:t>
              </a:r>
            </a:p>
          </p:txBody>
        </p:sp>
        <p:sp>
          <p:nvSpPr>
            <p:cNvPr id="56326" name="文本框 56325"/>
            <p:cNvSpPr txBox="1"/>
            <p:nvPr/>
          </p:nvSpPr>
          <p:spPr>
            <a:xfrm>
              <a:off x="624" y="2400"/>
              <a:ext cx="2410" cy="22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</a:rPr>
                <a:t>JMP_128</a:t>
              </a:r>
              <a:r>
                <a:rPr lang="zh-CN" altLang="en-US" sz="1600">
                  <a:latin typeface="Times New Roman" panose="02020603050405020304" charset="0"/>
                  <a:ea typeface="宋体" panose="02010600030101010101" pitchFamily="2" charset="-122"/>
                </a:rPr>
                <a:t>：</a:t>
              </a: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</a:rPr>
                <a:t>MOV    A</a:t>
              </a:r>
              <a:r>
                <a:rPr lang="zh-CN" altLang="en-US" sz="16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</a:rPr>
                <a:t>R3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</a:rPr>
                <a:t>                    RL        A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</a:rPr>
                <a:t>                    MOV   DPTR</a:t>
              </a:r>
              <a:r>
                <a:rPr lang="zh-CN" altLang="en-US" sz="1600">
                  <a:latin typeface="Times New Roman" panose="02020603050405020304" charset="0"/>
                  <a:ea typeface="宋体" panose="02010600030101010101" pitchFamily="2" charset="-122"/>
                </a:rPr>
                <a:t>，</a:t>
              </a: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</a:rPr>
                <a:t>#JMPTAB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</a:rPr>
                <a:t>                    JMP      @A+DPTR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</a:rPr>
                <a:t>JMPTAB</a:t>
              </a:r>
              <a:r>
                <a:rPr lang="zh-CN" altLang="en-US" sz="1600">
                  <a:latin typeface="Times New Roman" panose="02020603050405020304" charset="0"/>
                  <a:ea typeface="宋体" panose="02010600030101010101" pitchFamily="2" charset="-122"/>
                </a:rPr>
                <a:t>：</a:t>
              </a: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</a:rPr>
                <a:t>AJMP    ROUT00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</a:rPr>
                <a:t>                    AJMP    ROUT01     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</a:rPr>
                <a:t>                    ┇            ┇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>
                  <a:latin typeface="Times New Roman" panose="02020603050405020304" charset="0"/>
                  <a:ea typeface="宋体" panose="02010600030101010101" pitchFamily="2" charset="-122"/>
                </a:rPr>
                <a:t>                    AJMP    ROUT7F</a:t>
              </a:r>
            </a:p>
            <a:p>
              <a:pPr eaLnBrk="1" hangingPunct="1"/>
              <a:endParaRPr lang="en-US" altLang="zh-CN" sz="16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5298" name="标题 55297"/>
          <p:cNvSpPr>
            <a:spLocks noGrp="1"/>
          </p:cNvSpPr>
          <p:nvPr/>
        </p:nvSpPr>
        <p:spPr>
          <a:xfrm>
            <a:off x="1455420" y="392113"/>
            <a:ext cx="2981960" cy="460375"/>
          </a:xfrm>
          <a:prstGeom prst="rect">
            <a:avLst/>
          </a:prstGeom>
        </p:spPr>
        <p:txBody>
          <a:bodyPr wrap="square" lIns="92075" tIns="46038" rIns="92075" bIns="46038" anchor="ctr">
            <a:spAutoFit/>
          </a:bodyPr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r>
              <a:rPr lang="en-US" altLang="zh-CN" dirty="0"/>
              <a:t>2</a:t>
            </a:r>
            <a:r>
              <a:rPr lang="zh-CN" altLang="en-US" dirty="0"/>
              <a:t>、分支程序</a:t>
            </a:r>
          </a:p>
        </p:txBody>
      </p:sp>
      <p:sp>
        <p:nvSpPr>
          <p:cNvPr id="54276" name="文本占位符 54275"/>
          <p:cNvSpPr txBox="1">
            <a:spLocks noGrp="1"/>
          </p:cNvSpPr>
          <p:nvPr/>
        </p:nvSpPr>
        <p:spPr>
          <a:xfrm>
            <a:off x="457200" y="5401945"/>
            <a:ext cx="8229600" cy="69405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</a:pPr>
            <a:r>
              <a:rPr lang="zh-CN" altLang="en-US" sz="1400" b="1" dirty="0"/>
              <a:t>说明：此程序要求</a:t>
            </a:r>
            <a:r>
              <a:rPr lang="en-US" altLang="zh-CN" sz="1400" b="1" dirty="0"/>
              <a:t>128</a:t>
            </a:r>
            <a:r>
              <a:rPr lang="zh-CN" altLang="en-US" sz="1400" b="1" dirty="0"/>
              <a:t>个转移目的地址（</a:t>
            </a:r>
            <a:r>
              <a:rPr lang="en-US" altLang="zh-CN" sz="1400" b="1" dirty="0"/>
              <a:t>ROUT00 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ROUT7FH</a:t>
            </a:r>
            <a:r>
              <a:rPr lang="zh-CN" altLang="en-US" sz="1400" b="1" dirty="0"/>
              <a:t>）必须驻留在与绝对转移指令</a:t>
            </a:r>
            <a:r>
              <a:rPr lang="en-US" altLang="zh-CN" sz="1400" b="1" dirty="0"/>
              <a:t>AJMP</a:t>
            </a:r>
            <a:r>
              <a:rPr lang="zh-CN" altLang="en-US" sz="1400" b="1" dirty="0"/>
              <a:t>相同的一个</a:t>
            </a:r>
            <a:r>
              <a:rPr lang="en-US" altLang="zh-CN" sz="1400" b="1" dirty="0"/>
              <a:t>2KB</a:t>
            </a:r>
            <a:r>
              <a:rPr lang="zh-CN" altLang="en-US" sz="1400" b="1" dirty="0"/>
              <a:t>存储区内。</a:t>
            </a:r>
            <a:r>
              <a:rPr lang="en-US" altLang="zh-CN" sz="1400" b="1" dirty="0">
                <a:solidFill>
                  <a:srgbClr val="0000FF"/>
                </a:solidFill>
              </a:rPr>
              <a:t>RL</a:t>
            </a:r>
            <a:r>
              <a:rPr lang="zh-CN" altLang="en-US" sz="1400" b="1" dirty="0">
                <a:solidFill>
                  <a:srgbClr val="0000FF"/>
                </a:solidFill>
              </a:rPr>
              <a:t>指令对变址部分乘以</a:t>
            </a:r>
            <a:r>
              <a:rPr lang="en-US" altLang="zh-CN" sz="1400" b="1" dirty="0">
                <a:solidFill>
                  <a:srgbClr val="0000FF"/>
                </a:solidFill>
              </a:rPr>
              <a:t>2</a:t>
            </a:r>
            <a:r>
              <a:rPr lang="zh-CN" altLang="en-US" sz="1400" b="1" dirty="0">
                <a:solidFill>
                  <a:srgbClr val="0000FF"/>
                </a:solidFill>
              </a:rPr>
              <a:t>，因为每条</a:t>
            </a:r>
            <a:r>
              <a:rPr lang="en-US" altLang="zh-CN" sz="1400" b="1" dirty="0">
                <a:solidFill>
                  <a:srgbClr val="0000FF"/>
                </a:solidFill>
              </a:rPr>
              <a:t>AJMP</a:t>
            </a:r>
            <a:r>
              <a:rPr lang="zh-CN" altLang="en-US" sz="1400" b="1" dirty="0">
                <a:solidFill>
                  <a:srgbClr val="0000FF"/>
                </a:solidFill>
              </a:rPr>
              <a:t>指令占两个字节</a:t>
            </a:r>
            <a:r>
              <a:rPr lang="zh-CN" altLang="en-US" sz="1400" b="1" dirty="0"/>
              <a:t>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文本占位符 56322"/>
          <p:cNvSpPr>
            <a:spLocks noGrp="1"/>
          </p:cNvSpPr>
          <p:nvPr>
            <p:ph type="body" idx="1"/>
          </p:nvPr>
        </p:nvSpPr>
        <p:spPr>
          <a:xfrm>
            <a:off x="533400" y="1096010"/>
            <a:ext cx="8436610" cy="645160"/>
          </a:xfrm>
        </p:spPr>
        <p:txBody>
          <a:bodyPr wrap="square" lIns="92075" tIns="46038" rIns="92075" bIns="46038"/>
          <a:lstStyle/>
          <a:p>
            <a:pPr>
              <a:buNone/>
            </a:pPr>
            <a:r>
              <a:rPr lang="zh-CN" altLang="en-US" sz="1800" b="1" dirty="0">
                <a:solidFill>
                  <a:srgbClr val="0000FF"/>
                </a:solidFill>
              </a:rPr>
              <a:t>例</a:t>
            </a:r>
            <a:r>
              <a:rPr lang="en-US" altLang="zh-CN" sz="1800" b="1" dirty="0">
                <a:solidFill>
                  <a:srgbClr val="0000FF"/>
                </a:solidFill>
              </a:rPr>
              <a:t>4-5</a:t>
            </a:r>
            <a:r>
              <a:rPr lang="zh-CN" altLang="en-US" sz="1800" b="1" dirty="0">
                <a:solidFill>
                  <a:srgbClr val="0000FF"/>
                </a:solidFill>
              </a:rPr>
              <a:t>： 求大数</a:t>
            </a:r>
          </a:p>
          <a:p>
            <a:pPr>
              <a:buNone/>
            </a:pPr>
            <a:r>
              <a:rPr lang="zh-CN" altLang="en-US" sz="1800" b="1" dirty="0">
                <a:solidFill>
                  <a:srgbClr val="0000FF"/>
                </a:solidFill>
              </a:rPr>
              <a:t>         </a:t>
            </a:r>
            <a:r>
              <a:rPr lang="zh-CN" altLang="en-US" sz="1800" b="1" dirty="0">
                <a:solidFill>
                  <a:schemeClr val="tx1"/>
                </a:solidFill>
              </a:rPr>
              <a:t>存放于</a:t>
            </a:r>
            <a:r>
              <a:rPr lang="en-US" altLang="zh-CN" sz="1800" b="1" dirty="0">
                <a:solidFill>
                  <a:schemeClr val="tx1"/>
                </a:solidFill>
              </a:rPr>
              <a:t>aadr1</a:t>
            </a:r>
            <a:r>
              <a:rPr lang="zh-CN" altLang="en-US" sz="1800" b="1" dirty="0">
                <a:solidFill>
                  <a:schemeClr val="tx1"/>
                </a:solidFill>
              </a:rPr>
              <a:t>和</a:t>
            </a:r>
            <a:r>
              <a:rPr lang="en-US" altLang="zh-CN" sz="1800" b="1" dirty="0">
                <a:solidFill>
                  <a:schemeClr val="tx1"/>
                </a:solidFill>
              </a:rPr>
              <a:t>addr2</a:t>
            </a:r>
            <a:r>
              <a:rPr lang="zh-CN" altLang="en-US" sz="1800" b="1" dirty="0">
                <a:solidFill>
                  <a:schemeClr val="tx1"/>
                </a:solidFill>
              </a:rPr>
              <a:t>中的两个无符号二进制数，求其中的大数并存于</a:t>
            </a:r>
            <a:r>
              <a:rPr lang="en-US" altLang="zh-CN" sz="1800" b="1" dirty="0">
                <a:solidFill>
                  <a:schemeClr val="tx1"/>
                </a:solidFill>
              </a:rPr>
              <a:t>addr3</a:t>
            </a:r>
            <a:r>
              <a:rPr lang="zh-CN" altLang="en-US" sz="1800" b="1" dirty="0">
                <a:solidFill>
                  <a:schemeClr val="tx1"/>
                </a:solidFill>
              </a:rPr>
              <a:t>中。</a:t>
            </a:r>
            <a:endParaRPr lang="zh-CN" altLang="en-US" sz="1800" b="1" dirty="0"/>
          </a:p>
        </p:txBody>
      </p:sp>
      <p:sp>
        <p:nvSpPr>
          <p:cNvPr id="55298" name="标题 55297"/>
          <p:cNvSpPr>
            <a:spLocks noGrp="1"/>
          </p:cNvSpPr>
          <p:nvPr/>
        </p:nvSpPr>
        <p:spPr>
          <a:xfrm>
            <a:off x="1455420" y="392113"/>
            <a:ext cx="2981960" cy="460375"/>
          </a:xfrm>
          <a:prstGeom prst="rect">
            <a:avLst/>
          </a:prstGeom>
        </p:spPr>
        <p:txBody>
          <a:bodyPr wrap="square" lIns="92075" tIns="46038" rIns="92075" bIns="46038" anchor="ctr">
            <a:spAutoFit/>
          </a:bodyPr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r>
              <a:rPr lang="en-US" altLang="zh-CN" dirty="0"/>
              <a:t>2</a:t>
            </a:r>
            <a:r>
              <a:rPr lang="zh-CN" altLang="en-US" dirty="0"/>
              <a:t>、分支程序</a:t>
            </a:r>
          </a:p>
        </p:txBody>
      </p:sp>
      <p:graphicFrame>
        <p:nvGraphicFramePr>
          <p:cNvPr id="2" name="对象 1"/>
          <p:cNvGraphicFramePr/>
          <p:nvPr/>
        </p:nvGraphicFramePr>
        <p:xfrm>
          <a:off x="726440" y="2093595"/>
          <a:ext cx="3576320" cy="351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r:id="rId3" imgW="9029700" imgH="7556500" progId="Visio.Drawing.11">
                  <p:embed/>
                </p:oleObj>
              </mc:Choice>
              <mc:Fallback>
                <p:oleObj r:id="rId3" imgW="9029700" imgH="7556500" progId="Visio.Drawing.1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6440" y="2093595"/>
                        <a:ext cx="3576320" cy="3511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584065" y="2027555"/>
            <a:ext cx="364109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/>
              <a:t>START:  MOV   A,addr1</a:t>
            </a:r>
          </a:p>
          <a:p>
            <a:pPr>
              <a:lnSpc>
                <a:spcPct val="150000"/>
              </a:lnSpc>
            </a:pPr>
            <a:r>
              <a:rPr lang="en-US" altLang="zh-CN"/>
              <a:t>              </a:t>
            </a:r>
            <a:r>
              <a:rPr lang="en-US" altLang="zh-CN">
                <a:solidFill>
                  <a:srgbClr val="FF3300"/>
                </a:solidFill>
              </a:rPr>
              <a:t>CJNE  </a:t>
            </a:r>
            <a:r>
              <a:rPr lang="en-US" altLang="zh-CN"/>
              <a:t> A,addr2,LOOP1</a:t>
            </a:r>
          </a:p>
          <a:p>
            <a:pPr>
              <a:lnSpc>
                <a:spcPct val="150000"/>
              </a:lnSpc>
            </a:pPr>
            <a:r>
              <a:rPr lang="en-US" altLang="zh-CN">
                <a:sym typeface="+mn-ea"/>
              </a:rPr>
              <a:t>              SJMP   LOOP3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>
                <a:sym typeface="+mn-ea"/>
              </a:rPr>
              <a:t>LOOP1: JC        LOOP2</a:t>
            </a:r>
          </a:p>
          <a:p>
            <a:pPr>
              <a:lnSpc>
                <a:spcPct val="150000"/>
              </a:lnSpc>
            </a:pPr>
            <a:r>
              <a:rPr lang="en-US" altLang="zh-CN">
                <a:sym typeface="+mn-ea"/>
              </a:rPr>
              <a:t>              MOV   addr3, A</a:t>
            </a:r>
          </a:p>
          <a:p>
            <a:pPr>
              <a:lnSpc>
                <a:spcPct val="150000"/>
              </a:lnSpc>
            </a:pPr>
            <a:r>
              <a:rPr lang="en-US" altLang="zh-CN">
                <a:sym typeface="+mn-ea"/>
              </a:rPr>
              <a:t>              SJMP   LOOP3</a:t>
            </a:r>
          </a:p>
          <a:p>
            <a:pPr>
              <a:lnSpc>
                <a:spcPct val="150000"/>
              </a:lnSpc>
            </a:pPr>
            <a:r>
              <a:rPr lang="en-US" altLang="zh-CN">
                <a:sym typeface="+mn-ea"/>
              </a:rPr>
              <a:t>LOOP2: MOV   addr3,addr2</a:t>
            </a:r>
          </a:p>
          <a:p>
            <a:pPr>
              <a:lnSpc>
                <a:spcPct val="150000"/>
              </a:lnSpc>
            </a:pPr>
            <a:r>
              <a:rPr lang="en-US" altLang="zh-CN">
                <a:sym typeface="+mn-ea"/>
              </a:rPr>
              <a:t>LOOP3: END</a:t>
            </a:r>
            <a:endParaRPr lang="en-US" altLang="zh-CN"/>
          </a:p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文本占位符 56322"/>
          <p:cNvSpPr>
            <a:spLocks noGrp="1"/>
          </p:cNvSpPr>
          <p:nvPr>
            <p:ph type="body" idx="1"/>
          </p:nvPr>
        </p:nvSpPr>
        <p:spPr>
          <a:xfrm>
            <a:off x="533400" y="1096010"/>
            <a:ext cx="8248650" cy="922020"/>
          </a:xfrm>
        </p:spPr>
        <p:txBody>
          <a:bodyPr wrap="square" lIns="92075" tIns="46038" rIns="92075" bIns="46038"/>
          <a:lstStyle/>
          <a:p>
            <a:pPr>
              <a:buNone/>
            </a:pPr>
            <a:r>
              <a:rPr lang="zh-CN" altLang="en-US" sz="1800" b="1" dirty="0">
                <a:solidFill>
                  <a:srgbClr val="0000FF"/>
                </a:solidFill>
              </a:rPr>
              <a:t>例</a:t>
            </a:r>
            <a:r>
              <a:rPr lang="en-US" altLang="zh-CN" sz="1800" b="1" dirty="0">
                <a:solidFill>
                  <a:srgbClr val="0000FF"/>
                </a:solidFill>
              </a:rPr>
              <a:t>4-6</a:t>
            </a:r>
            <a:r>
              <a:rPr lang="zh-CN" altLang="en-US" sz="1800" b="1" dirty="0">
                <a:solidFill>
                  <a:srgbClr val="0000FF"/>
                </a:solidFill>
              </a:rPr>
              <a:t>： 求小。</a:t>
            </a:r>
            <a:endParaRPr lang="zh-CN" altLang="en-US" sz="1800" b="1" dirty="0"/>
          </a:p>
          <a:p>
            <a:pPr>
              <a:buNone/>
            </a:pPr>
            <a:r>
              <a:rPr lang="zh-CN" altLang="en-US" sz="1800" b="1" dirty="0"/>
              <a:t>               片内</a:t>
            </a:r>
            <a:r>
              <a:rPr lang="en-US" altLang="zh-CN" sz="1800" b="1" dirty="0"/>
              <a:t>RAM ONE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TWO</a:t>
            </a:r>
            <a:r>
              <a:rPr lang="zh-CN" altLang="en-US" sz="1800" b="1" dirty="0"/>
              <a:t>两个单元中存有两个无符号数，将两个数中的小者存入</a:t>
            </a:r>
            <a:r>
              <a:rPr lang="en-US" altLang="zh-CN" sz="1800" b="1" dirty="0"/>
              <a:t>30H</a:t>
            </a:r>
            <a:r>
              <a:rPr lang="zh-CN" altLang="en-US" sz="1800" b="1" dirty="0"/>
              <a:t>单元。</a:t>
            </a:r>
          </a:p>
        </p:txBody>
      </p:sp>
      <p:sp>
        <p:nvSpPr>
          <p:cNvPr id="55298" name="标题 55297"/>
          <p:cNvSpPr>
            <a:spLocks noGrp="1"/>
          </p:cNvSpPr>
          <p:nvPr/>
        </p:nvSpPr>
        <p:spPr>
          <a:xfrm>
            <a:off x="1455420" y="392113"/>
            <a:ext cx="2981960" cy="460375"/>
          </a:xfrm>
          <a:prstGeom prst="rect">
            <a:avLst/>
          </a:prstGeom>
        </p:spPr>
        <p:txBody>
          <a:bodyPr wrap="square" lIns="92075" tIns="46038" rIns="92075" bIns="46038" anchor="ctr">
            <a:spAutoFit/>
          </a:bodyPr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r>
              <a:rPr lang="en-US" altLang="zh-CN" dirty="0"/>
              <a:t>2</a:t>
            </a:r>
            <a:r>
              <a:rPr lang="zh-CN" altLang="en-US" dirty="0"/>
              <a:t>、分支程序</a:t>
            </a:r>
          </a:p>
        </p:txBody>
      </p:sp>
      <p:graphicFrame>
        <p:nvGraphicFramePr>
          <p:cNvPr id="2" name="对象 1"/>
          <p:cNvGraphicFramePr/>
          <p:nvPr/>
        </p:nvGraphicFramePr>
        <p:xfrm>
          <a:off x="726440" y="2274570"/>
          <a:ext cx="3710940" cy="351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r:id="rId3" imgW="9029700" imgH="7556500" progId="Visio.Drawing.11">
                  <p:embed/>
                </p:oleObj>
              </mc:Choice>
              <mc:Fallback>
                <p:oleObj r:id="rId3" imgW="9029700" imgH="7556500" progId="Visio.Drawing.1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6440" y="2274570"/>
                        <a:ext cx="3710940" cy="3511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584065" y="2027555"/>
            <a:ext cx="364109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/>
              <a:t>START:  MOV   A,ONE</a:t>
            </a:r>
          </a:p>
          <a:p>
            <a:pPr>
              <a:lnSpc>
                <a:spcPct val="150000"/>
              </a:lnSpc>
            </a:pPr>
            <a:r>
              <a:rPr lang="en-US" altLang="zh-CN"/>
              <a:t>              </a:t>
            </a:r>
            <a:r>
              <a:rPr lang="en-US" altLang="zh-CN">
                <a:solidFill>
                  <a:srgbClr val="FF3300"/>
                </a:solidFill>
              </a:rPr>
              <a:t>CJNE  </a:t>
            </a:r>
            <a:r>
              <a:rPr lang="en-US" altLang="zh-CN"/>
              <a:t> A,TWO,</a:t>
            </a:r>
            <a:r>
              <a:rPr lang="en-US" altLang="zh-CN">
                <a:solidFill>
                  <a:srgbClr val="0000FF"/>
                </a:solidFill>
              </a:rPr>
              <a:t>BIG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>
                <a:sym typeface="+mn-ea"/>
              </a:rPr>
              <a:t>              SJMP  </a:t>
            </a:r>
            <a:r>
              <a:rPr lang="en-US" altLang="zh-CN">
                <a:solidFill>
                  <a:srgbClr val="FF3300"/>
                </a:solidFill>
                <a:sym typeface="+mn-ea"/>
              </a:rPr>
              <a:t> STORE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FF"/>
                </a:solidFill>
                <a:sym typeface="+mn-ea"/>
              </a:rPr>
              <a:t>BIG:</a:t>
            </a:r>
            <a:r>
              <a:rPr lang="en-US" altLang="zh-CN">
                <a:sym typeface="+mn-ea"/>
              </a:rPr>
              <a:t>      JC       STORE</a:t>
            </a:r>
          </a:p>
          <a:p>
            <a:pPr>
              <a:lnSpc>
                <a:spcPct val="150000"/>
              </a:lnSpc>
            </a:pPr>
            <a:r>
              <a:rPr lang="en-US" altLang="zh-CN">
                <a:sym typeface="+mn-ea"/>
              </a:rPr>
              <a:t>             MOV   A, TWO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FF3300"/>
                </a:solidFill>
                <a:sym typeface="+mn-ea"/>
              </a:rPr>
              <a:t>STORE:</a:t>
            </a:r>
            <a:r>
              <a:rPr lang="en-US" altLang="zh-CN">
                <a:sym typeface="+mn-ea"/>
              </a:rPr>
              <a:t> MOV  30H,A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文本占位符 56322"/>
          <p:cNvSpPr>
            <a:spLocks noGrp="1"/>
          </p:cNvSpPr>
          <p:nvPr>
            <p:ph type="body" idx="1"/>
          </p:nvPr>
        </p:nvSpPr>
        <p:spPr>
          <a:xfrm>
            <a:off x="533400" y="1096010"/>
            <a:ext cx="8436610" cy="645160"/>
          </a:xfrm>
        </p:spPr>
        <p:txBody>
          <a:bodyPr wrap="square" lIns="92075" tIns="46038" rIns="92075" bIns="46038"/>
          <a:lstStyle/>
          <a:p>
            <a:pPr>
              <a:buNone/>
            </a:pPr>
            <a:r>
              <a:rPr lang="zh-CN" altLang="en-US" sz="1800" b="1" dirty="0">
                <a:solidFill>
                  <a:srgbClr val="0000FF"/>
                </a:solidFill>
              </a:rPr>
              <a:t>例</a:t>
            </a:r>
            <a:r>
              <a:rPr lang="en-US" altLang="zh-CN" sz="1800" b="1" dirty="0">
                <a:solidFill>
                  <a:srgbClr val="0000FF"/>
                </a:solidFill>
              </a:rPr>
              <a:t>4-7</a:t>
            </a:r>
            <a:r>
              <a:rPr lang="zh-CN" altLang="en-US" sz="1800" b="1" dirty="0">
                <a:solidFill>
                  <a:srgbClr val="0000FF"/>
                </a:solidFill>
              </a:rPr>
              <a:t>： 赋值   设变量</a:t>
            </a:r>
            <a:r>
              <a:rPr lang="en-US" altLang="zh-CN" sz="1800" b="1" dirty="0">
                <a:solidFill>
                  <a:srgbClr val="0000FF"/>
                </a:solidFill>
              </a:rPr>
              <a:t>x</a:t>
            </a:r>
            <a:r>
              <a:rPr lang="zh-CN" altLang="en-US" sz="1800" b="1" dirty="0">
                <a:solidFill>
                  <a:srgbClr val="0000FF"/>
                </a:solidFill>
              </a:rPr>
              <a:t>存放在</a:t>
            </a:r>
            <a:r>
              <a:rPr lang="en-US" altLang="zh-CN" sz="1800" b="1" dirty="0">
                <a:solidFill>
                  <a:srgbClr val="0000FF"/>
                </a:solidFill>
              </a:rPr>
              <a:t>VAR</a:t>
            </a:r>
            <a:r>
              <a:rPr lang="zh-CN" altLang="en-US" sz="1800" b="1" dirty="0">
                <a:solidFill>
                  <a:srgbClr val="0000FF"/>
                </a:solidFill>
              </a:rPr>
              <a:t>单元中，函数值</a:t>
            </a:r>
            <a:r>
              <a:rPr lang="en-US" altLang="zh-CN" sz="1800" b="1" dirty="0">
                <a:solidFill>
                  <a:srgbClr val="0000FF"/>
                </a:solidFill>
              </a:rPr>
              <a:t>y</a:t>
            </a:r>
            <a:r>
              <a:rPr lang="zh-CN" altLang="en-US" sz="1800" b="1" dirty="0">
                <a:solidFill>
                  <a:srgbClr val="0000FF"/>
                </a:solidFill>
              </a:rPr>
              <a:t>存放在</a:t>
            </a:r>
            <a:r>
              <a:rPr lang="en-US" altLang="zh-CN" sz="1800" b="1" dirty="0">
                <a:solidFill>
                  <a:srgbClr val="0000FF"/>
                </a:solidFill>
              </a:rPr>
              <a:t>FUNC</a:t>
            </a:r>
            <a:r>
              <a:rPr lang="zh-CN" altLang="en-US" sz="1800" b="1" dirty="0">
                <a:solidFill>
                  <a:srgbClr val="0000FF"/>
                </a:solidFill>
              </a:rPr>
              <a:t>中。按下式给</a:t>
            </a:r>
            <a:r>
              <a:rPr lang="en-US" altLang="zh-CN" sz="1800" b="1" dirty="0">
                <a:solidFill>
                  <a:srgbClr val="0000FF"/>
                </a:solidFill>
              </a:rPr>
              <a:t>y</a:t>
            </a:r>
            <a:r>
              <a:rPr lang="zh-CN" altLang="en-US" sz="1800" b="1" dirty="0">
                <a:solidFill>
                  <a:srgbClr val="0000FF"/>
                </a:solidFill>
              </a:rPr>
              <a:t>赋值。</a:t>
            </a:r>
          </a:p>
          <a:p>
            <a:pPr>
              <a:buNone/>
            </a:pPr>
            <a:endParaRPr lang="zh-CN" altLang="en-US" sz="1800" b="1" dirty="0"/>
          </a:p>
        </p:txBody>
      </p:sp>
      <p:sp>
        <p:nvSpPr>
          <p:cNvPr id="55298" name="标题 55297"/>
          <p:cNvSpPr>
            <a:spLocks noGrp="1"/>
          </p:cNvSpPr>
          <p:nvPr/>
        </p:nvSpPr>
        <p:spPr>
          <a:xfrm>
            <a:off x="1455420" y="392113"/>
            <a:ext cx="2981960" cy="460375"/>
          </a:xfrm>
          <a:prstGeom prst="rect">
            <a:avLst/>
          </a:prstGeom>
        </p:spPr>
        <p:txBody>
          <a:bodyPr wrap="square" lIns="92075" tIns="46038" rIns="92075" bIns="46038" anchor="ctr">
            <a:spAutoFit/>
          </a:bodyPr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r>
              <a:rPr lang="en-US" altLang="zh-CN" dirty="0"/>
              <a:t>2</a:t>
            </a:r>
            <a:r>
              <a:rPr lang="zh-CN" altLang="en-US" dirty="0"/>
              <a:t>、分支程序</a:t>
            </a:r>
          </a:p>
        </p:txBody>
      </p:sp>
      <p:graphicFrame>
        <p:nvGraphicFramePr>
          <p:cNvPr id="2" name="对象 1"/>
          <p:cNvGraphicFramePr/>
          <p:nvPr/>
        </p:nvGraphicFramePr>
        <p:xfrm>
          <a:off x="878840" y="2574290"/>
          <a:ext cx="1841500" cy="3145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r:id="rId3" imgW="4648200" imgH="6769100" progId="Visio.Drawing.11">
                  <p:embed/>
                </p:oleObj>
              </mc:Choice>
              <mc:Fallback>
                <p:oleObj r:id="rId3" imgW="4648200" imgH="6769100" progId="Visio.Drawing.1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8840" y="2574290"/>
                        <a:ext cx="1841500" cy="3145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515995" y="1842135"/>
            <a:ext cx="3641090" cy="3830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FF"/>
                </a:solidFill>
              </a:rPr>
              <a:t>              VAR     DATA    30H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FF"/>
                </a:solidFill>
              </a:rPr>
              <a:t>              FUNC   DATA    31H</a:t>
            </a:r>
          </a:p>
          <a:p>
            <a:pPr>
              <a:lnSpc>
                <a:spcPct val="150000"/>
              </a:lnSpc>
            </a:pPr>
            <a:r>
              <a:rPr lang="en-US" altLang="zh-CN"/>
              <a:t>START:   MOV   A,   VAR </a:t>
            </a:r>
          </a:p>
          <a:p>
            <a:pPr>
              <a:lnSpc>
                <a:spcPct val="150000"/>
              </a:lnSpc>
            </a:pPr>
            <a:r>
              <a:rPr lang="en-US" altLang="zh-CN"/>
              <a:t>               JZ         COMP</a:t>
            </a: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FF3300"/>
                </a:solidFill>
              </a:rPr>
              <a:t>               JNB       </a:t>
            </a:r>
            <a:r>
              <a:rPr lang="en-US" altLang="zh-CN"/>
              <a:t>ACC.7,   POSI</a:t>
            </a:r>
          </a:p>
          <a:p>
            <a:pPr>
              <a:lnSpc>
                <a:spcPct val="150000"/>
              </a:lnSpc>
            </a:pPr>
            <a:r>
              <a:rPr lang="en-US" altLang="zh-CN">
                <a:sym typeface="+mn-ea"/>
              </a:rPr>
              <a:t>               MOV     A,</a:t>
            </a:r>
            <a:r>
              <a:rPr lang="en-US" altLang="zh-CN">
                <a:solidFill>
                  <a:srgbClr val="0000FF"/>
                </a:solidFill>
                <a:sym typeface="+mn-ea"/>
              </a:rPr>
              <a:t>#0FFH</a:t>
            </a:r>
            <a:endParaRPr lang="en-US" altLang="zh-CN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sym typeface="+mn-ea"/>
              </a:rPr>
              <a:t>               SJMP     COMP</a:t>
            </a:r>
          </a:p>
          <a:p>
            <a:pPr>
              <a:lnSpc>
                <a:spcPct val="150000"/>
              </a:lnSpc>
            </a:pPr>
            <a:r>
              <a:rPr lang="en-US" altLang="zh-CN">
                <a:sym typeface="+mn-ea"/>
              </a:rPr>
              <a:t>POSI:     MOV      A,   #01H</a:t>
            </a:r>
          </a:p>
          <a:p>
            <a:pPr>
              <a:lnSpc>
                <a:spcPct val="150000"/>
              </a:lnSpc>
            </a:pPr>
            <a:r>
              <a:rPr lang="en-US" altLang="zh-CN"/>
              <a:t>COMP:  MOV      FUNC,   A</a:t>
            </a:r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267460" y="1557020"/>
          <a:ext cx="1296035" cy="942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r:id="rId5" imgW="977900" imgH="711200" progId="Equation.KSEE3">
                  <p:embed/>
                </p:oleObj>
              </mc:Choice>
              <mc:Fallback>
                <p:oleObj r:id="rId5" imgW="977900" imgH="711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67460" y="1557020"/>
                        <a:ext cx="1296035" cy="9423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28673"/>
          <p:cNvSpPr>
            <a:spLocks noGrp="1"/>
          </p:cNvSpPr>
          <p:nvPr>
            <p:ph type="title"/>
          </p:nvPr>
        </p:nvSpPr>
        <p:spPr>
          <a:xfrm>
            <a:off x="1524000" y="316548"/>
            <a:ext cx="2981960" cy="460375"/>
          </a:xfrm>
        </p:spPr>
        <p:txBody>
          <a:bodyPr lIns="92075" tIns="46038" rIns="92075" bIns="46038" anchor="ctr"/>
          <a:lstStyle/>
          <a:p>
            <a:r>
              <a:rPr lang="en-US" altLang="zh-CN" dirty="0"/>
              <a:t>3</a:t>
            </a:r>
            <a:r>
              <a:rPr lang="zh-CN" altLang="en-US" dirty="0"/>
              <a:t>、循环程序</a:t>
            </a:r>
          </a:p>
        </p:txBody>
      </p:sp>
      <p:sp>
        <p:nvSpPr>
          <p:cNvPr id="53250" name="流程图: 可选过程 53249"/>
          <p:cNvSpPr/>
          <p:nvPr/>
        </p:nvSpPr>
        <p:spPr>
          <a:xfrm>
            <a:off x="1676400" y="990600"/>
            <a:ext cx="990600" cy="457200"/>
          </a:xfrm>
          <a:prstGeom prst="flowChartAlternateProcess">
            <a:avLst/>
          </a:prstGeom>
          <a:solidFill>
            <a:schemeClr val="bg2"/>
          </a:solidFill>
          <a:ln w="9525" cap="flat" cmpd="sng">
            <a:solidFill>
              <a:schemeClr val="accent1">
                <a:shade val="50000"/>
              </a:schemeClr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>
              <a:lnSpc>
                <a:spcPct val="110000"/>
              </a:lnSpc>
            </a:pPr>
            <a:r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置初值</a:t>
            </a:r>
          </a:p>
        </p:txBody>
      </p:sp>
      <p:sp>
        <p:nvSpPr>
          <p:cNvPr id="53251" name="流程图: 过程 53250"/>
          <p:cNvSpPr/>
          <p:nvPr/>
        </p:nvSpPr>
        <p:spPr>
          <a:xfrm>
            <a:off x="1524000" y="1752600"/>
            <a:ext cx="1219200" cy="457200"/>
          </a:xfrm>
          <a:prstGeom prst="flowChartProcess">
            <a:avLst/>
          </a:prstGeom>
          <a:solidFill>
            <a:schemeClr val="bg2"/>
          </a:solidFill>
          <a:ln w="9525" cap="flat" cmpd="sng">
            <a:solidFill>
              <a:schemeClr val="accent1">
                <a:shade val="50000"/>
              </a:schemeClr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>
              <a:lnSpc>
                <a:spcPct val="110000"/>
              </a:lnSpc>
            </a:pPr>
            <a:r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循环体</a:t>
            </a:r>
          </a:p>
        </p:txBody>
      </p:sp>
      <p:sp>
        <p:nvSpPr>
          <p:cNvPr id="53252" name="流程图: 过程 53251"/>
          <p:cNvSpPr/>
          <p:nvPr/>
        </p:nvSpPr>
        <p:spPr>
          <a:xfrm>
            <a:off x="1371600" y="2514600"/>
            <a:ext cx="1524000" cy="457200"/>
          </a:xfrm>
          <a:prstGeom prst="flowChartProcess">
            <a:avLst/>
          </a:prstGeom>
          <a:solidFill>
            <a:schemeClr val="bg2"/>
          </a:solidFill>
          <a:ln w="9525" cap="flat" cmpd="sng">
            <a:solidFill>
              <a:schemeClr val="accent1">
                <a:shade val="50000"/>
              </a:schemeClr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>
              <a:lnSpc>
                <a:spcPct val="110000"/>
              </a:lnSpc>
            </a:pPr>
            <a:r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循环修改</a:t>
            </a:r>
          </a:p>
        </p:txBody>
      </p:sp>
      <p:sp>
        <p:nvSpPr>
          <p:cNvPr id="53253" name="流程图: 决策 53252"/>
          <p:cNvSpPr/>
          <p:nvPr/>
        </p:nvSpPr>
        <p:spPr>
          <a:xfrm>
            <a:off x="1143000" y="3276600"/>
            <a:ext cx="1905000" cy="838200"/>
          </a:xfrm>
          <a:prstGeom prst="flowChartDecision">
            <a:avLst/>
          </a:prstGeom>
          <a:solidFill>
            <a:schemeClr val="bg2"/>
          </a:solidFill>
          <a:ln w="9525" cap="flat" cmpd="sng">
            <a:solidFill>
              <a:schemeClr val="accent1">
                <a:shade val="50000"/>
              </a:schemeClr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/>
            <a:r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循环控制</a:t>
            </a:r>
          </a:p>
        </p:txBody>
      </p:sp>
      <p:sp>
        <p:nvSpPr>
          <p:cNvPr id="53254" name="流程图: 可选过程 53253"/>
          <p:cNvSpPr/>
          <p:nvPr/>
        </p:nvSpPr>
        <p:spPr>
          <a:xfrm>
            <a:off x="1295400" y="4419600"/>
            <a:ext cx="1600200" cy="457200"/>
          </a:xfrm>
          <a:prstGeom prst="flowChartAlternateProcess">
            <a:avLst/>
          </a:prstGeom>
          <a:solidFill>
            <a:schemeClr val="bg2"/>
          </a:solidFill>
          <a:ln w="9525" cap="flat" cmpd="sng">
            <a:solidFill>
              <a:schemeClr val="accent1">
                <a:shade val="50000"/>
              </a:schemeClr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>
              <a:lnSpc>
                <a:spcPct val="110000"/>
              </a:lnSpc>
            </a:pPr>
            <a:r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退出循环</a:t>
            </a:r>
          </a:p>
        </p:txBody>
      </p:sp>
      <p:sp>
        <p:nvSpPr>
          <p:cNvPr id="53255" name="直接连接符 53254"/>
          <p:cNvSpPr/>
          <p:nvPr/>
        </p:nvSpPr>
        <p:spPr>
          <a:xfrm>
            <a:off x="2133600" y="1447800"/>
            <a:ext cx="0" cy="304800"/>
          </a:xfrm>
          <a:prstGeom prst="line">
            <a:avLst/>
          </a:prstGeom>
          <a:solidFill>
            <a:schemeClr val="bg2"/>
          </a:solidFill>
          <a:ln w="9525" cap="flat" cmpd="sng">
            <a:solidFill>
              <a:schemeClr val="accent1">
                <a:shade val="50000"/>
              </a:schemeClr>
            </a:solidFill>
            <a:prstDash val="solid"/>
            <a:headEnd type="none" w="med" len="med"/>
            <a:tailEnd type="stealth" w="lg" len="med"/>
          </a:ln>
        </p:spPr>
      </p:sp>
      <p:sp>
        <p:nvSpPr>
          <p:cNvPr id="53256" name="直接连接符 53255"/>
          <p:cNvSpPr/>
          <p:nvPr/>
        </p:nvSpPr>
        <p:spPr>
          <a:xfrm>
            <a:off x="2133600" y="2209800"/>
            <a:ext cx="0" cy="304800"/>
          </a:xfrm>
          <a:prstGeom prst="line">
            <a:avLst/>
          </a:prstGeom>
          <a:solidFill>
            <a:schemeClr val="bg2"/>
          </a:solidFill>
          <a:ln w="9525" cap="flat" cmpd="sng">
            <a:solidFill>
              <a:schemeClr val="accent1">
                <a:shade val="50000"/>
              </a:schemeClr>
            </a:solidFill>
            <a:prstDash val="solid"/>
            <a:headEnd type="none" w="med" len="med"/>
            <a:tailEnd type="stealth" w="lg" len="med"/>
          </a:ln>
        </p:spPr>
      </p:sp>
      <p:sp>
        <p:nvSpPr>
          <p:cNvPr id="53257" name="直接连接符 53256"/>
          <p:cNvSpPr/>
          <p:nvPr/>
        </p:nvSpPr>
        <p:spPr>
          <a:xfrm>
            <a:off x="2133600" y="2971800"/>
            <a:ext cx="0" cy="304800"/>
          </a:xfrm>
          <a:prstGeom prst="line">
            <a:avLst/>
          </a:prstGeom>
          <a:solidFill>
            <a:schemeClr val="bg2"/>
          </a:solidFill>
          <a:ln w="9525" cap="flat" cmpd="sng">
            <a:solidFill>
              <a:schemeClr val="accent1">
                <a:shade val="50000"/>
              </a:schemeClr>
            </a:solidFill>
            <a:prstDash val="solid"/>
            <a:headEnd type="none" w="med" len="med"/>
            <a:tailEnd type="stealth" w="lg" len="med"/>
          </a:ln>
        </p:spPr>
      </p:sp>
      <p:sp>
        <p:nvSpPr>
          <p:cNvPr id="53258" name="直接连接符 53257"/>
          <p:cNvSpPr/>
          <p:nvPr/>
        </p:nvSpPr>
        <p:spPr>
          <a:xfrm>
            <a:off x="2133600" y="4114800"/>
            <a:ext cx="0" cy="304800"/>
          </a:xfrm>
          <a:prstGeom prst="line">
            <a:avLst/>
          </a:prstGeom>
          <a:solidFill>
            <a:schemeClr val="bg2"/>
          </a:solidFill>
          <a:ln w="9525" cap="flat" cmpd="sng">
            <a:solidFill>
              <a:schemeClr val="accent1">
                <a:shade val="50000"/>
              </a:schemeClr>
            </a:solidFill>
            <a:prstDash val="solid"/>
            <a:headEnd type="none" w="med" len="med"/>
            <a:tailEnd type="stealth" w="lg" len="med"/>
          </a:ln>
        </p:spPr>
      </p:sp>
      <p:sp>
        <p:nvSpPr>
          <p:cNvPr id="53259" name="直接连接符 53258"/>
          <p:cNvSpPr/>
          <p:nvPr/>
        </p:nvSpPr>
        <p:spPr>
          <a:xfrm flipH="1">
            <a:off x="685800" y="3657600"/>
            <a:ext cx="533400" cy="635"/>
          </a:xfrm>
          <a:prstGeom prst="line">
            <a:avLst/>
          </a:prstGeom>
          <a:solidFill>
            <a:schemeClr val="bg2"/>
          </a:solidFill>
          <a:ln w="9525" cap="flat" cmpd="sng">
            <a:solidFill>
              <a:schemeClr val="accent1">
                <a:shade val="50000"/>
              </a:schemeClr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60" name="直接连接符 53259"/>
          <p:cNvSpPr/>
          <p:nvPr/>
        </p:nvSpPr>
        <p:spPr>
          <a:xfrm flipV="1">
            <a:off x="685800" y="1600200"/>
            <a:ext cx="0" cy="2057400"/>
          </a:xfrm>
          <a:prstGeom prst="line">
            <a:avLst/>
          </a:prstGeom>
          <a:solidFill>
            <a:schemeClr val="bg2"/>
          </a:solidFill>
          <a:ln w="9525" cap="flat" cmpd="sng">
            <a:solidFill>
              <a:schemeClr val="accent1">
                <a:shade val="50000"/>
              </a:schemeClr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61" name="直接连接符 53260"/>
          <p:cNvSpPr/>
          <p:nvPr/>
        </p:nvSpPr>
        <p:spPr>
          <a:xfrm>
            <a:off x="685800" y="1600200"/>
            <a:ext cx="1447800" cy="0"/>
          </a:xfrm>
          <a:prstGeom prst="line">
            <a:avLst/>
          </a:prstGeom>
          <a:solidFill>
            <a:schemeClr val="bg2"/>
          </a:solidFill>
          <a:ln w="9525" cap="flat" cmpd="sng">
            <a:solidFill>
              <a:schemeClr val="accent1">
                <a:shade val="50000"/>
              </a:schemeClr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3262" name="文本框 53261"/>
          <p:cNvSpPr txBox="1"/>
          <p:nvPr/>
        </p:nvSpPr>
        <p:spPr>
          <a:xfrm>
            <a:off x="756920" y="3245168"/>
            <a:ext cx="538480" cy="306705"/>
          </a:xfrm>
          <a:prstGeom prst="rect">
            <a:avLst/>
          </a:prstGeom>
          <a:solidFill>
            <a:schemeClr val="bg2"/>
          </a:solidFill>
          <a:ln w="952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none" anchor="t">
            <a:spAutoFit/>
          </a:bodyPr>
          <a:lstStyle/>
          <a:p>
            <a:pPr eaLnBrk="1" hangingPunct="1"/>
            <a:r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未完</a:t>
            </a:r>
          </a:p>
        </p:txBody>
      </p:sp>
      <p:sp>
        <p:nvSpPr>
          <p:cNvPr id="53263" name="文本框 53262"/>
          <p:cNvSpPr txBox="1"/>
          <p:nvPr/>
        </p:nvSpPr>
        <p:spPr>
          <a:xfrm>
            <a:off x="2241550" y="4075113"/>
            <a:ext cx="360680" cy="306705"/>
          </a:xfrm>
          <a:prstGeom prst="rect">
            <a:avLst/>
          </a:prstGeom>
          <a:solidFill>
            <a:schemeClr val="bg2"/>
          </a:solidFill>
          <a:ln w="952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none" anchor="t">
            <a:spAutoFit/>
          </a:bodyPr>
          <a:lstStyle/>
          <a:p>
            <a:pPr eaLnBrk="1" hangingPunct="1"/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</a:rPr>
              <a:t>完</a:t>
            </a:r>
          </a:p>
        </p:txBody>
      </p:sp>
      <p:sp>
        <p:nvSpPr>
          <p:cNvPr id="53264" name="文本框 53263"/>
          <p:cNvSpPr txBox="1"/>
          <p:nvPr/>
        </p:nvSpPr>
        <p:spPr>
          <a:xfrm>
            <a:off x="1786890" y="4979670"/>
            <a:ext cx="617220" cy="306705"/>
          </a:xfrm>
          <a:prstGeom prst="rect">
            <a:avLst/>
          </a:prstGeom>
          <a:noFill/>
          <a:ln w="952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none" anchor="t">
            <a:spAutoFit/>
          </a:bodyPr>
          <a:lstStyle/>
          <a:p>
            <a:pPr eaLnBrk="1" hangingPunct="1"/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</a:rPr>
              <a:t>a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53265" name="流程图: 可选过程 53264"/>
          <p:cNvSpPr/>
          <p:nvPr/>
        </p:nvSpPr>
        <p:spPr>
          <a:xfrm>
            <a:off x="5105400" y="1143000"/>
            <a:ext cx="990600" cy="457200"/>
          </a:xfrm>
          <a:prstGeom prst="flowChartAlternateProcess">
            <a:avLst/>
          </a:prstGeom>
          <a:solidFill>
            <a:schemeClr val="bg2"/>
          </a:solidFill>
          <a:ln w="9525" cap="flat" cmpd="sng">
            <a:solidFill>
              <a:schemeClr val="accent1">
                <a:shade val="50000"/>
              </a:schemeClr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>
              <a:lnSpc>
                <a:spcPct val="110000"/>
              </a:lnSpc>
            </a:pPr>
            <a:r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置初值</a:t>
            </a:r>
          </a:p>
        </p:txBody>
      </p:sp>
      <p:sp>
        <p:nvSpPr>
          <p:cNvPr id="53266" name="流程图: 过程 53265"/>
          <p:cNvSpPr/>
          <p:nvPr/>
        </p:nvSpPr>
        <p:spPr>
          <a:xfrm>
            <a:off x="4953000" y="3048000"/>
            <a:ext cx="1219200" cy="457200"/>
          </a:xfrm>
          <a:prstGeom prst="flowChartProcess">
            <a:avLst/>
          </a:prstGeom>
          <a:solidFill>
            <a:schemeClr val="bg2"/>
          </a:solidFill>
          <a:ln w="9525" cap="flat" cmpd="sng">
            <a:solidFill>
              <a:schemeClr val="accent1">
                <a:shade val="50000"/>
              </a:schemeClr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>
              <a:lnSpc>
                <a:spcPct val="110000"/>
              </a:lnSpc>
            </a:pPr>
            <a:r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循环体</a:t>
            </a:r>
          </a:p>
        </p:txBody>
      </p:sp>
      <p:sp>
        <p:nvSpPr>
          <p:cNvPr id="53267" name="流程图: 过程 53266"/>
          <p:cNvSpPr/>
          <p:nvPr/>
        </p:nvSpPr>
        <p:spPr>
          <a:xfrm>
            <a:off x="4800600" y="3810000"/>
            <a:ext cx="1524000" cy="457200"/>
          </a:xfrm>
          <a:prstGeom prst="flowChartProcess">
            <a:avLst/>
          </a:prstGeom>
          <a:solidFill>
            <a:schemeClr val="bg2"/>
          </a:solidFill>
          <a:ln w="9525" cap="flat" cmpd="sng">
            <a:solidFill>
              <a:schemeClr val="accent1">
                <a:shade val="50000"/>
              </a:schemeClr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>
              <a:lnSpc>
                <a:spcPct val="110000"/>
              </a:lnSpc>
            </a:pPr>
            <a:r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循环修改</a:t>
            </a:r>
          </a:p>
        </p:txBody>
      </p:sp>
      <p:sp>
        <p:nvSpPr>
          <p:cNvPr id="53268" name="流程图: 决策 53267"/>
          <p:cNvSpPr/>
          <p:nvPr/>
        </p:nvSpPr>
        <p:spPr>
          <a:xfrm>
            <a:off x="4572000" y="1905000"/>
            <a:ext cx="1905000" cy="838200"/>
          </a:xfrm>
          <a:prstGeom prst="flowChartDecision">
            <a:avLst/>
          </a:prstGeom>
          <a:solidFill>
            <a:schemeClr val="bg2"/>
          </a:solidFill>
          <a:ln w="9525" cap="flat" cmpd="sng">
            <a:solidFill>
              <a:schemeClr val="accent1">
                <a:shade val="50000"/>
              </a:schemeClr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/>
            <a:r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循环控制</a:t>
            </a:r>
          </a:p>
        </p:txBody>
      </p:sp>
      <p:sp>
        <p:nvSpPr>
          <p:cNvPr id="53269" name="流程图: 可选过程 53268"/>
          <p:cNvSpPr/>
          <p:nvPr/>
        </p:nvSpPr>
        <p:spPr>
          <a:xfrm>
            <a:off x="7239000" y="2133600"/>
            <a:ext cx="1600200" cy="457200"/>
          </a:xfrm>
          <a:prstGeom prst="flowChartAlternateProcess">
            <a:avLst/>
          </a:prstGeom>
          <a:solidFill>
            <a:schemeClr val="bg2"/>
          </a:solidFill>
          <a:ln w="9525" cap="flat" cmpd="sng">
            <a:solidFill>
              <a:schemeClr val="accent1">
                <a:shade val="50000"/>
              </a:schemeClr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>
              <a:lnSpc>
                <a:spcPct val="110000"/>
              </a:lnSpc>
            </a:pPr>
            <a:r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退出循环</a:t>
            </a:r>
          </a:p>
        </p:txBody>
      </p:sp>
      <p:sp>
        <p:nvSpPr>
          <p:cNvPr id="53270" name="直接连接符 53269"/>
          <p:cNvSpPr/>
          <p:nvPr/>
        </p:nvSpPr>
        <p:spPr>
          <a:xfrm>
            <a:off x="5562600" y="1600200"/>
            <a:ext cx="0" cy="304800"/>
          </a:xfrm>
          <a:prstGeom prst="line">
            <a:avLst/>
          </a:prstGeom>
          <a:solidFill>
            <a:schemeClr val="bg2"/>
          </a:solidFill>
          <a:ln w="9525" cap="flat" cmpd="sng">
            <a:solidFill>
              <a:schemeClr val="accent1">
                <a:shade val="50000"/>
              </a:schemeClr>
            </a:solidFill>
            <a:prstDash val="solid"/>
            <a:headEnd type="none" w="med" len="med"/>
            <a:tailEnd type="stealth" w="lg" len="med"/>
          </a:ln>
        </p:spPr>
      </p:sp>
      <p:sp>
        <p:nvSpPr>
          <p:cNvPr id="53271" name="直接连接符 53270"/>
          <p:cNvSpPr/>
          <p:nvPr/>
        </p:nvSpPr>
        <p:spPr>
          <a:xfrm>
            <a:off x="5562600" y="3505200"/>
            <a:ext cx="0" cy="304800"/>
          </a:xfrm>
          <a:prstGeom prst="line">
            <a:avLst/>
          </a:prstGeom>
          <a:solidFill>
            <a:schemeClr val="bg2"/>
          </a:solidFill>
          <a:ln w="9525" cap="flat" cmpd="sng">
            <a:solidFill>
              <a:schemeClr val="accent1">
                <a:shade val="50000"/>
              </a:schemeClr>
            </a:solidFill>
            <a:prstDash val="solid"/>
            <a:headEnd type="none" w="med" len="med"/>
            <a:tailEnd type="stealth" w="lg" len="med"/>
          </a:ln>
        </p:spPr>
      </p:sp>
      <p:sp>
        <p:nvSpPr>
          <p:cNvPr id="53272" name="直接连接符 53271"/>
          <p:cNvSpPr/>
          <p:nvPr/>
        </p:nvSpPr>
        <p:spPr>
          <a:xfrm>
            <a:off x="5562600" y="2743200"/>
            <a:ext cx="0" cy="304800"/>
          </a:xfrm>
          <a:prstGeom prst="line">
            <a:avLst/>
          </a:prstGeom>
          <a:solidFill>
            <a:schemeClr val="bg2"/>
          </a:solidFill>
          <a:ln w="9525" cap="flat" cmpd="sng">
            <a:solidFill>
              <a:schemeClr val="accent1">
                <a:shade val="50000"/>
              </a:schemeClr>
            </a:solidFill>
            <a:prstDash val="solid"/>
            <a:headEnd type="none" w="med" len="med"/>
            <a:tailEnd type="stealth" w="lg" len="med"/>
          </a:ln>
        </p:spPr>
      </p:sp>
      <p:sp>
        <p:nvSpPr>
          <p:cNvPr id="53273" name="直接连接符 53272"/>
          <p:cNvSpPr/>
          <p:nvPr/>
        </p:nvSpPr>
        <p:spPr>
          <a:xfrm>
            <a:off x="5562600" y="4267200"/>
            <a:ext cx="0" cy="304800"/>
          </a:xfrm>
          <a:prstGeom prst="line">
            <a:avLst/>
          </a:prstGeom>
          <a:solidFill>
            <a:schemeClr val="bg2"/>
          </a:solidFill>
          <a:ln w="9525" cap="flat" cmpd="sng">
            <a:solidFill>
              <a:schemeClr val="accent1">
                <a:shade val="50000"/>
              </a:schemeClr>
            </a:solidFill>
            <a:prstDash val="solid"/>
            <a:headEnd type="none" w="med" len="med"/>
            <a:tailEnd type="stealth" w="lg" len="med"/>
          </a:ln>
        </p:spPr>
      </p:sp>
      <p:sp>
        <p:nvSpPr>
          <p:cNvPr id="53274" name="直接连接符 53273"/>
          <p:cNvSpPr/>
          <p:nvPr/>
        </p:nvSpPr>
        <p:spPr>
          <a:xfrm flipH="1">
            <a:off x="4114800" y="4572000"/>
            <a:ext cx="1447800" cy="0"/>
          </a:xfrm>
          <a:prstGeom prst="line">
            <a:avLst/>
          </a:prstGeom>
          <a:solidFill>
            <a:schemeClr val="bg2"/>
          </a:solidFill>
          <a:ln w="9525" cap="flat" cmpd="sng">
            <a:solidFill>
              <a:schemeClr val="accent1">
                <a:shade val="50000"/>
              </a:schemeClr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75" name="直接连接符 53274"/>
          <p:cNvSpPr/>
          <p:nvPr/>
        </p:nvSpPr>
        <p:spPr>
          <a:xfrm flipV="1">
            <a:off x="4114800" y="1752600"/>
            <a:ext cx="0" cy="2819400"/>
          </a:xfrm>
          <a:prstGeom prst="line">
            <a:avLst/>
          </a:prstGeom>
          <a:solidFill>
            <a:schemeClr val="bg2"/>
          </a:solidFill>
          <a:ln w="9525" cap="flat" cmpd="sng">
            <a:solidFill>
              <a:schemeClr val="accent1">
                <a:shade val="50000"/>
              </a:schemeClr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3276" name="直接连接符 53275"/>
          <p:cNvSpPr/>
          <p:nvPr/>
        </p:nvSpPr>
        <p:spPr>
          <a:xfrm>
            <a:off x="4114800" y="1752600"/>
            <a:ext cx="1447800" cy="0"/>
          </a:xfrm>
          <a:prstGeom prst="line">
            <a:avLst/>
          </a:prstGeom>
          <a:solidFill>
            <a:schemeClr val="bg2"/>
          </a:solidFill>
          <a:ln w="9525" cap="flat" cmpd="sng">
            <a:solidFill>
              <a:schemeClr val="accent1">
                <a:shade val="50000"/>
              </a:schemeClr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3277" name="文本框 53276"/>
          <p:cNvSpPr txBox="1"/>
          <p:nvPr/>
        </p:nvSpPr>
        <p:spPr>
          <a:xfrm>
            <a:off x="5862320" y="2665095"/>
            <a:ext cx="538480" cy="306705"/>
          </a:xfrm>
          <a:prstGeom prst="rect">
            <a:avLst/>
          </a:prstGeom>
          <a:solidFill>
            <a:schemeClr val="bg2"/>
          </a:solidFill>
          <a:ln w="952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none" anchor="t">
            <a:spAutoFit/>
          </a:bodyPr>
          <a:lstStyle/>
          <a:p>
            <a:pPr eaLnBrk="1" hangingPunct="1"/>
            <a:r>
              <a:rPr lang="zh-CN" altLang="en-US" sz="1400" dirty="0">
                <a:latin typeface="Times New Roman" panose="02020603050405020304" charset="0"/>
                <a:ea typeface="宋体" panose="02010600030101010101" pitchFamily="2" charset="-122"/>
              </a:rPr>
              <a:t>未完</a:t>
            </a:r>
          </a:p>
        </p:txBody>
      </p:sp>
      <p:sp>
        <p:nvSpPr>
          <p:cNvPr id="53278" name="文本框 53277"/>
          <p:cNvSpPr txBox="1"/>
          <p:nvPr/>
        </p:nvSpPr>
        <p:spPr>
          <a:xfrm>
            <a:off x="6586220" y="1957705"/>
            <a:ext cx="360680" cy="306705"/>
          </a:xfrm>
          <a:prstGeom prst="rect">
            <a:avLst/>
          </a:prstGeom>
          <a:solidFill>
            <a:schemeClr val="bg2"/>
          </a:solidFill>
          <a:ln w="952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none" anchor="t">
            <a:spAutoFit/>
          </a:bodyPr>
          <a:lstStyle/>
          <a:p>
            <a:pPr eaLnBrk="1" hangingPunct="1"/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</a:rPr>
              <a:t>完</a:t>
            </a:r>
          </a:p>
        </p:txBody>
      </p:sp>
      <p:sp>
        <p:nvSpPr>
          <p:cNvPr id="53279" name="直接连接符 53278"/>
          <p:cNvSpPr/>
          <p:nvPr/>
        </p:nvSpPr>
        <p:spPr>
          <a:xfrm>
            <a:off x="6400800" y="2362200"/>
            <a:ext cx="838200" cy="0"/>
          </a:xfrm>
          <a:prstGeom prst="line">
            <a:avLst/>
          </a:prstGeom>
          <a:solidFill>
            <a:schemeClr val="bg2"/>
          </a:solidFill>
          <a:ln w="9525" cap="flat" cmpd="sng">
            <a:solidFill>
              <a:schemeClr val="accent1">
                <a:shade val="50000"/>
              </a:schemeClr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3280" name="文本框 53279"/>
          <p:cNvSpPr txBox="1"/>
          <p:nvPr/>
        </p:nvSpPr>
        <p:spPr>
          <a:xfrm>
            <a:off x="5337175" y="4876800"/>
            <a:ext cx="627380" cy="306705"/>
          </a:xfrm>
          <a:prstGeom prst="rect">
            <a:avLst/>
          </a:prstGeom>
          <a:noFill/>
          <a:ln w="952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none" anchor="t">
            <a:spAutoFit/>
          </a:bodyPr>
          <a:lstStyle/>
          <a:p>
            <a:pPr eaLnBrk="1" hangingPunct="1"/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altLang="zh-CN" sz="1400">
                <a:latin typeface="Times New Roman" panose="02020603050405020304" charset="0"/>
                <a:ea typeface="宋体" panose="02010600030101010101" pitchFamily="2" charset="-122"/>
              </a:rPr>
              <a:t>b</a:t>
            </a:r>
            <a:r>
              <a:rPr lang="zh-CN" altLang="en-US" sz="1400">
                <a:latin typeface="Times New Roman" panose="02020603050405020304" charset="0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53281" name="文本框 53280"/>
          <p:cNvSpPr txBox="1"/>
          <p:nvPr/>
        </p:nvSpPr>
        <p:spPr>
          <a:xfrm>
            <a:off x="2506345" y="4918075"/>
            <a:ext cx="283083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eaLnBrk="1" hangingPunct="1"/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图</a:t>
            </a:r>
            <a:r>
              <a:rPr lang="en-US" altLang="zh-CN" dirty="0">
                <a:latin typeface="Times New Roman" panose="02020603050405020304" charset="0"/>
                <a:ea typeface="宋体" panose="02010600030101010101" pitchFamily="2" charset="-122"/>
              </a:rPr>
              <a:t>4-5 </a:t>
            </a:r>
            <a:r>
              <a:rPr lang="zh-CN" altLang="en-US" dirty="0">
                <a:latin typeface="Times New Roman" panose="02020603050405020304" charset="0"/>
                <a:ea typeface="宋体" panose="02010600030101010101" pitchFamily="2" charset="-122"/>
              </a:rPr>
              <a:t>循环组织方式流程图</a:t>
            </a:r>
            <a:endParaRPr lang="zh-CN" alt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1747" name="文本占位符 31746"/>
          <p:cNvSpPr>
            <a:spLocks noGrp="1"/>
          </p:cNvSpPr>
          <p:nvPr>
            <p:ph type="body" idx="1"/>
          </p:nvPr>
        </p:nvSpPr>
        <p:spPr>
          <a:xfrm>
            <a:off x="229235" y="5286375"/>
            <a:ext cx="8229600" cy="1322070"/>
          </a:xfrm>
        </p:spPr>
        <p:txBody>
          <a:bodyPr lIns="92075" tIns="46038" rIns="92075" bIns="46038"/>
          <a:lstStyle/>
          <a:p>
            <a:r>
              <a:rPr lang="zh-CN" altLang="en-US" sz="1600" b="1" dirty="0">
                <a:solidFill>
                  <a:srgbClr val="0000FF"/>
                </a:solidFill>
                <a:sym typeface="+mn-ea"/>
              </a:rPr>
              <a:t>置初值：</a:t>
            </a:r>
            <a:r>
              <a:rPr lang="zh-CN" altLang="en-US" sz="1600" b="1" dirty="0">
                <a:sym typeface="+mn-ea"/>
              </a:rPr>
              <a:t>设置计数初值，累加器</a:t>
            </a:r>
            <a:r>
              <a:rPr lang="en-US" altLang="zh-CN" sz="1600" b="1" dirty="0">
                <a:sym typeface="+mn-ea"/>
              </a:rPr>
              <a:t>A</a:t>
            </a:r>
            <a:r>
              <a:rPr lang="zh-CN" altLang="en-US" sz="1600" b="1" dirty="0">
                <a:sym typeface="+mn-ea"/>
              </a:rPr>
              <a:t>清</a:t>
            </a:r>
            <a:r>
              <a:rPr lang="en-US" altLang="zh-CN" sz="1600" b="1" dirty="0">
                <a:sym typeface="+mn-ea"/>
              </a:rPr>
              <a:t>0</a:t>
            </a:r>
            <a:r>
              <a:rPr lang="zh-CN" altLang="en-US" sz="1600" b="1" dirty="0">
                <a:sym typeface="+mn-ea"/>
              </a:rPr>
              <a:t>，以及设置地址指针、长度等。</a:t>
            </a:r>
            <a:endParaRPr lang="zh-CN" altLang="en-US" sz="1600" b="1" dirty="0"/>
          </a:p>
          <a:p>
            <a:r>
              <a:rPr lang="zh-CN" altLang="en-US" sz="1600" b="1" dirty="0">
                <a:solidFill>
                  <a:srgbClr val="0000FF"/>
                </a:solidFill>
              </a:rPr>
              <a:t>循环：</a:t>
            </a:r>
            <a:r>
              <a:rPr lang="zh-CN" altLang="en-US" sz="1600" b="1" dirty="0"/>
              <a:t>一般用一个工作寄存器</a:t>
            </a:r>
            <a:r>
              <a:rPr lang="en-US" altLang="zh-CN" sz="1600" b="1" dirty="0"/>
              <a:t>Rn</a:t>
            </a:r>
            <a:r>
              <a:rPr lang="zh-CN" altLang="zh-CN" sz="1600" b="1" dirty="0"/>
              <a:t>作为计数器，对该计数器赋初值作为循环次数。每循环一次，计数器的值减1，即修改循环控制变量，当计数器的置为0时，就停止循环。</a:t>
            </a:r>
          </a:p>
          <a:p>
            <a:r>
              <a:rPr lang="zh-CN" altLang="en-US" sz="1600" b="1" dirty="0">
                <a:solidFill>
                  <a:srgbClr val="0000FF"/>
                </a:solidFill>
                <a:sym typeface="+mn-ea"/>
              </a:rPr>
              <a:t>循环控制：</a:t>
            </a:r>
            <a:r>
              <a:rPr lang="en-US" altLang="zh-CN" sz="1600" b="1" dirty="0">
                <a:sym typeface="+mn-ea"/>
              </a:rPr>
              <a:t>89C51</a:t>
            </a:r>
            <a:r>
              <a:rPr lang="zh-CN" altLang="en-US" sz="1600" b="1" dirty="0">
                <a:sym typeface="+mn-ea"/>
              </a:rPr>
              <a:t>可采用</a:t>
            </a:r>
            <a:r>
              <a:rPr lang="en-US" altLang="zh-CN" sz="1600" b="1" dirty="0">
                <a:sym typeface="+mn-ea"/>
              </a:rPr>
              <a:t>DJNZ</a:t>
            </a:r>
            <a:r>
              <a:rPr lang="zh-CN" altLang="en-US" sz="1600" b="1" dirty="0">
                <a:sym typeface="+mn-ea"/>
              </a:rPr>
              <a:t>指令来自动修改控制变量并能结束循环。</a:t>
            </a:r>
            <a:endParaRPr lang="zh-CN" altLang="en-US" sz="1600" b="1" dirty="0"/>
          </a:p>
          <a:p>
            <a:endParaRPr lang="zh-CN" altLang="en-US" sz="16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文本占位符 56322"/>
          <p:cNvSpPr>
            <a:spLocks noGrp="1"/>
          </p:cNvSpPr>
          <p:nvPr>
            <p:ph type="body" idx="1"/>
          </p:nvPr>
        </p:nvSpPr>
        <p:spPr>
          <a:xfrm>
            <a:off x="533400" y="1096010"/>
            <a:ext cx="8436610" cy="1198880"/>
          </a:xfrm>
        </p:spPr>
        <p:txBody>
          <a:bodyPr wrap="square" lIns="92075" tIns="46038" rIns="92075" bIns="46038"/>
          <a:lstStyle/>
          <a:p>
            <a:pPr>
              <a:buNone/>
            </a:pPr>
            <a:r>
              <a:rPr lang="zh-CN" altLang="en-US" sz="1800" b="1" dirty="0">
                <a:solidFill>
                  <a:srgbClr val="0000FF"/>
                </a:solidFill>
              </a:rPr>
              <a:t>例</a:t>
            </a:r>
            <a:r>
              <a:rPr lang="en-US" altLang="zh-CN" sz="1800" b="1" dirty="0">
                <a:solidFill>
                  <a:srgbClr val="0000FF"/>
                </a:solidFill>
              </a:rPr>
              <a:t>4-8</a:t>
            </a:r>
            <a:r>
              <a:rPr lang="zh-CN" altLang="en-US" sz="1800" b="1" dirty="0">
                <a:solidFill>
                  <a:srgbClr val="0000FF"/>
                </a:solidFill>
              </a:rPr>
              <a:t>： 软件延时子程序</a:t>
            </a:r>
          </a:p>
          <a:p>
            <a:pPr>
              <a:buNone/>
            </a:pPr>
            <a:r>
              <a:rPr lang="zh-CN" altLang="en-US" sz="1800" b="1" dirty="0">
                <a:solidFill>
                  <a:schemeClr val="tx1"/>
                </a:solidFill>
              </a:rPr>
              <a:t>当单片机时钟确定后，每条指令的周期都是确定的。在指令表中以用机器周期来表示。因此，根据程序执行所用的总的机器周期数。可以缴准确的计算程序，执行完所用的时间。软件延时是实际经常采用的一种短时间定时方法。</a:t>
            </a:r>
          </a:p>
        </p:txBody>
      </p:sp>
      <p:sp>
        <p:nvSpPr>
          <p:cNvPr id="55298" name="标题 55297"/>
          <p:cNvSpPr>
            <a:spLocks noGrp="1"/>
          </p:cNvSpPr>
          <p:nvPr/>
        </p:nvSpPr>
        <p:spPr>
          <a:xfrm>
            <a:off x="1455420" y="392113"/>
            <a:ext cx="2981960" cy="460375"/>
          </a:xfrm>
          <a:prstGeom prst="rect">
            <a:avLst/>
          </a:prstGeom>
        </p:spPr>
        <p:txBody>
          <a:bodyPr wrap="square" lIns="92075" tIns="46038" rIns="92075" bIns="46038" anchor="ctr">
            <a:spAutoFit/>
          </a:bodyPr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r>
              <a:rPr lang="en-US" altLang="zh-CN" dirty="0"/>
              <a:t>3</a:t>
            </a:r>
            <a:r>
              <a:rPr lang="zh-CN" altLang="en-US" dirty="0"/>
              <a:t>、循环程序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68020" y="2294890"/>
            <a:ext cx="3674110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FF"/>
                </a:solidFill>
              </a:rPr>
              <a:t>   </a:t>
            </a:r>
            <a:r>
              <a:rPr lang="zh-CN" altLang="en-US">
                <a:solidFill>
                  <a:srgbClr val="0000FF"/>
                </a:solidFill>
              </a:rPr>
              <a:t>（</a:t>
            </a:r>
            <a:r>
              <a:rPr lang="en-US" altLang="zh-CN">
                <a:solidFill>
                  <a:srgbClr val="0000FF"/>
                </a:solidFill>
              </a:rPr>
              <a:t>1</a:t>
            </a:r>
            <a:r>
              <a:rPr lang="zh-CN" altLang="en-US">
                <a:solidFill>
                  <a:srgbClr val="0000FF"/>
                </a:solidFill>
              </a:rPr>
              <a:t>）</a:t>
            </a:r>
            <a:r>
              <a:rPr lang="en-US" altLang="zh-CN">
                <a:solidFill>
                  <a:srgbClr val="0000FF"/>
                </a:solidFill>
              </a:rPr>
              <a:t>   </a:t>
            </a:r>
            <a:r>
              <a:rPr lang="zh-CN" altLang="en-US">
                <a:solidFill>
                  <a:srgbClr val="0000FF"/>
                </a:solidFill>
              </a:rPr>
              <a:t>采用循环程序进行软件延时子程序</a:t>
            </a:r>
            <a:r>
              <a:rPr lang="en-US" altLang="zh-CN">
                <a:solidFill>
                  <a:srgbClr val="0000FF"/>
                </a:solidFill>
              </a:rPr>
              <a:t>        </a:t>
            </a:r>
          </a:p>
          <a:p>
            <a:pPr>
              <a:lnSpc>
                <a:spcPct val="150000"/>
              </a:lnSpc>
            </a:pPr>
            <a:r>
              <a:rPr lang="en-US" altLang="zh-CN"/>
              <a:t>DELAY:       MOV    R2,  #DATA   </a:t>
            </a:r>
            <a:r>
              <a:rPr lang="en-US">
                <a:sym typeface="+mn-ea"/>
              </a:rPr>
              <a:t>;</a:t>
            </a:r>
            <a:r>
              <a:rPr lang="en-US" altLang="zh-CN">
                <a:sym typeface="+mn-ea"/>
              </a:rPr>
              <a:t>(1</a:t>
            </a:r>
            <a:r>
              <a:rPr lang="zh-CN" altLang="zh-CN">
                <a:sym typeface="+mn-ea"/>
              </a:rPr>
              <a:t>个</a:t>
            </a:r>
            <a:r>
              <a:rPr lang="en-US" altLang="zh-CN">
                <a:sym typeface="+mn-ea"/>
              </a:rPr>
              <a:t>)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DELAY1:    </a:t>
            </a:r>
            <a:r>
              <a:rPr lang="en-US" altLang="zh-CN">
                <a:solidFill>
                  <a:srgbClr val="FF3300"/>
                </a:solidFill>
              </a:rPr>
              <a:t>DJNZ </a:t>
            </a:r>
            <a:r>
              <a:rPr lang="en-US" altLang="zh-CN"/>
              <a:t>    R2,  DELAY   </a:t>
            </a:r>
            <a:r>
              <a:rPr lang="en-US">
                <a:sym typeface="+mn-ea"/>
              </a:rPr>
              <a:t>;</a:t>
            </a:r>
            <a:r>
              <a:rPr lang="en-US" altLang="zh-CN">
                <a:sym typeface="+mn-ea"/>
              </a:rPr>
              <a:t>(2</a:t>
            </a:r>
            <a:r>
              <a:rPr lang="zh-CN" altLang="zh-CN">
                <a:sym typeface="+mn-ea"/>
              </a:rPr>
              <a:t>个</a:t>
            </a:r>
            <a:r>
              <a:rPr lang="en-US" altLang="zh-CN">
                <a:sym typeface="+mn-ea"/>
              </a:rPr>
              <a:t>)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                  RET                             </a:t>
            </a:r>
            <a:r>
              <a:rPr lang="en-US">
                <a:sym typeface="+mn-ea"/>
              </a:rPr>
              <a:t>;</a:t>
            </a:r>
            <a:r>
              <a:rPr lang="en-US" altLang="zh-CN">
                <a:sym typeface="+mn-ea"/>
              </a:rPr>
              <a:t>(2</a:t>
            </a:r>
            <a:r>
              <a:rPr lang="zh-CN" altLang="zh-CN">
                <a:sym typeface="+mn-ea"/>
              </a:rPr>
              <a:t>个</a:t>
            </a:r>
            <a:r>
              <a:rPr lang="en-US" altLang="zh-CN">
                <a:sym typeface="+mn-ea"/>
              </a:rPr>
              <a:t>)</a:t>
            </a:r>
            <a:endParaRPr lang="en-US" altLang="zh-CN"/>
          </a:p>
          <a:p>
            <a:pPr>
              <a:lnSpc>
                <a:spcPct val="150000"/>
              </a:lnSpc>
            </a:pP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DJNZ </a:t>
            </a:r>
            <a:r>
              <a:rPr lang="zh-CN" altLang="zh-CN"/>
              <a:t>为双周期指令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621530" y="2294890"/>
            <a:ext cx="4305935" cy="3830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00FF"/>
                </a:solidFill>
              </a:rPr>
              <a:t>   </a:t>
            </a:r>
            <a:r>
              <a:rPr lang="zh-CN" altLang="en-US">
                <a:solidFill>
                  <a:srgbClr val="0000FF"/>
                </a:solidFill>
              </a:rPr>
              <a:t>（</a:t>
            </a:r>
            <a:r>
              <a:rPr lang="en-US" altLang="zh-CN">
                <a:solidFill>
                  <a:srgbClr val="0000FF"/>
                </a:solidFill>
              </a:rPr>
              <a:t>2</a:t>
            </a:r>
            <a:r>
              <a:rPr lang="zh-CN" altLang="en-US">
                <a:solidFill>
                  <a:srgbClr val="0000FF"/>
                </a:solidFill>
              </a:rPr>
              <a:t>）</a:t>
            </a:r>
            <a:r>
              <a:rPr lang="en-US" altLang="zh-CN">
                <a:solidFill>
                  <a:srgbClr val="0000FF"/>
                </a:solidFill>
              </a:rPr>
              <a:t>   </a:t>
            </a:r>
            <a:r>
              <a:rPr lang="zh-CN" altLang="en-US">
                <a:solidFill>
                  <a:srgbClr val="0000FF"/>
                </a:solidFill>
              </a:rPr>
              <a:t>采用双重循环程序的延时子程序</a:t>
            </a:r>
            <a:r>
              <a:rPr lang="en-US" altLang="zh-CN">
                <a:solidFill>
                  <a:srgbClr val="0000FF"/>
                </a:solidFill>
              </a:rPr>
              <a:t>        </a:t>
            </a:r>
          </a:p>
          <a:p>
            <a:pPr>
              <a:lnSpc>
                <a:spcPct val="150000"/>
              </a:lnSpc>
            </a:pPr>
            <a:r>
              <a:rPr lang="en-US" altLang="zh-CN"/>
              <a:t>TIME:    MOV     R1,   #0FAH  </a:t>
            </a:r>
            <a:r>
              <a:rPr lang="en-US"/>
              <a:t>;</a:t>
            </a:r>
            <a:r>
              <a:rPr lang="en-US" altLang="zh-CN"/>
              <a:t>(1</a:t>
            </a:r>
            <a:r>
              <a:rPr lang="zh-CN" altLang="zh-CN"/>
              <a:t>个</a:t>
            </a:r>
            <a:r>
              <a:rPr lang="en-US" altLang="zh-CN"/>
              <a:t>)</a:t>
            </a:r>
          </a:p>
          <a:p>
            <a:pPr>
              <a:lnSpc>
                <a:spcPct val="150000"/>
              </a:lnSpc>
            </a:pPr>
            <a:r>
              <a:rPr lang="en-US" altLang="zh-CN"/>
              <a:t>L1:         MOV      R0,  #0FFH  </a:t>
            </a:r>
            <a:r>
              <a:rPr lang="en-US">
                <a:sym typeface="+mn-ea"/>
              </a:rPr>
              <a:t>;</a:t>
            </a:r>
            <a:r>
              <a:rPr lang="en-US" altLang="zh-CN">
                <a:sym typeface="+mn-ea"/>
              </a:rPr>
              <a:t>(1</a:t>
            </a:r>
            <a:r>
              <a:rPr lang="zh-CN" altLang="zh-CN">
                <a:sym typeface="+mn-ea"/>
              </a:rPr>
              <a:t>个</a:t>
            </a:r>
            <a:r>
              <a:rPr lang="en-US" altLang="zh-CN">
                <a:sym typeface="+mn-ea"/>
              </a:rPr>
              <a:t>)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W1:       DJNZ      R0,   W1  </a:t>
            </a:r>
            <a:r>
              <a:rPr lang="en-US">
                <a:sym typeface="+mn-ea"/>
              </a:rPr>
              <a:t>;</a:t>
            </a:r>
            <a:r>
              <a:rPr lang="en-US" altLang="zh-CN">
                <a:sym typeface="+mn-ea"/>
              </a:rPr>
              <a:t>(2</a:t>
            </a:r>
            <a:r>
              <a:rPr lang="zh-CN" altLang="zh-CN">
                <a:sym typeface="+mn-ea"/>
              </a:rPr>
              <a:t>个</a:t>
            </a:r>
            <a:r>
              <a:rPr lang="en-US" altLang="zh-CN">
                <a:sym typeface="+mn-ea"/>
              </a:rPr>
              <a:t>)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               DJNZ      R1,   L1  </a:t>
            </a:r>
            <a:r>
              <a:rPr lang="en-US">
                <a:sym typeface="+mn-ea"/>
              </a:rPr>
              <a:t>;</a:t>
            </a:r>
            <a:r>
              <a:rPr lang="en-US" altLang="zh-CN">
                <a:sym typeface="+mn-ea"/>
              </a:rPr>
              <a:t>(2</a:t>
            </a:r>
            <a:r>
              <a:rPr lang="zh-CN" altLang="zh-CN">
                <a:sym typeface="+mn-ea"/>
              </a:rPr>
              <a:t>个</a:t>
            </a:r>
            <a:r>
              <a:rPr lang="en-US" altLang="zh-CN">
                <a:sym typeface="+mn-ea"/>
              </a:rPr>
              <a:t>)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               NOP                     </a:t>
            </a:r>
            <a:r>
              <a:rPr lang="en-US">
                <a:sym typeface="+mn-ea"/>
              </a:rPr>
              <a:t>;</a:t>
            </a:r>
            <a:r>
              <a:rPr lang="en-US" altLang="zh-CN">
                <a:sym typeface="+mn-ea"/>
              </a:rPr>
              <a:t>(1</a:t>
            </a:r>
            <a:r>
              <a:rPr lang="zh-CN" altLang="zh-CN">
                <a:sym typeface="+mn-ea"/>
              </a:rPr>
              <a:t>个</a:t>
            </a:r>
            <a:r>
              <a:rPr lang="en-US" altLang="zh-CN">
                <a:sym typeface="+mn-ea"/>
              </a:rPr>
              <a:t>)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               NOP                    </a:t>
            </a:r>
            <a:r>
              <a:rPr lang="en-US">
                <a:sym typeface="+mn-ea"/>
              </a:rPr>
              <a:t>;</a:t>
            </a:r>
            <a:r>
              <a:rPr lang="en-US" altLang="zh-CN">
                <a:sym typeface="+mn-ea"/>
              </a:rPr>
              <a:t>(1</a:t>
            </a:r>
            <a:r>
              <a:rPr lang="zh-CN" altLang="zh-CN">
                <a:sym typeface="+mn-ea"/>
              </a:rPr>
              <a:t>个</a:t>
            </a:r>
            <a:r>
              <a:rPr lang="en-US" altLang="zh-CN">
                <a:sym typeface="+mn-ea"/>
              </a:rPr>
              <a:t>)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               RET                     </a:t>
            </a:r>
            <a:r>
              <a:rPr lang="en-US">
                <a:sym typeface="+mn-ea"/>
              </a:rPr>
              <a:t>;</a:t>
            </a:r>
            <a:r>
              <a:rPr lang="en-US" altLang="zh-CN">
                <a:sym typeface="+mn-ea"/>
              </a:rPr>
              <a:t>(2</a:t>
            </a:r>
            <a:r>
              <a:rPr lang="zh-CN" altLang="zh-CN">
                <a:sym typeface="+mn-ea"/>
              </a:rPr>
              <a:t>个</a:t>
            </a:r>
            <a:r>
              <a:rPr lang="en-US" altLang="zh-CN">
                <a:sym typeface="+mn-ea"/>
              </a:rPr>
              <a:t>)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1+</a:t>
            </a:r>
            <a:r>
              <a:rPr lang="zh-CN" altLang="en-US"/>
              <a:t>（</a:t>
            </a:r>
            <a:r>
              <a:rPr lang="en-US" altLang="zh-CN"/>
              <a:t>1+2*255+2</a:t>
            </a:r>
            <a:r>
              <a:rPr lang="zh-CN" altLang="en-US"/>
              <a:t>）</a:t>
            </a:r>
            <a:r>
              <a:rPr lang="en-US" altLang="zh-CN"/>
              <a:t>*250+1+1+2=128255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文本占位符 56322"/>
          <p:cNvSpPr>
            <a:spLocks noGrp="1"/>
          </p:cNvSpPr>
          <p:nvPr>
            <p:ph type="body" idx="1"/>
          </p:nvPr>
        </p:nvSpPr>
        <p:spPr>
          <a:xfrm>
            <a:off x="533400" y="1096010"/>
            <a:ext cx="8436610" cy="922020"/>
          </a:xfrm>
        </p:spPr>
        <p:txBody>
          <a:bodyPr wrap="square" lIns="92075" tIns="46038" rIns="92075" bIns="46038"/>
          <a:lstStyle/>
          <a:p>
            <a:pPr>
              <a:buNone/>
            </a:pPr>
            <a:r>
              <a:rPr lang="zh-CN" altLang="en-US" sz="1800" b="1" dirty="0">
                <a:solidFill>
                  <a:srgbClr val="0000FF"/>
                </a:solidFill>
              </a:rPr>
              <a:t>例</a:t>
            </a:r>
            <a:r>
              <a:rPr lang="en-US" altLang="zh-CN" sz="1800" b="1" dirty="0">
                <a:solidFill>
                  <a:srgbClr val="0000FF"/>
                </a:solidFill>
              </a:rPr>
              <a:t>4-9</a:t>
            </a:r>
            <a:r>
              <a:rPr lang="zh-CN" altLang="en-US" sz="1800" b="1" dirty="0">
                <a:solidFill>
                  <a:srgbClr val="0000FF"/>
                </a:solidFill>
              </a:rPr>
              <a:t>：多字节无符号数加法程序</a:t>
            </a:r>
          </a:p>
          <a:p>
            <a:pPr>
              <a:buNone/>
            </a:pPr>
            <a:r>
              <a:rPr lang="zh-CN" altLang="zh-CN" sz="1800" b="1" dirty="0">
                <a:solidFill>
                  <a:schemeClr val="tx1"/>
                </a:solidFill>
              </a:rPr>
              <a:t>设被加数低字节地址存</a:t>
            </a:r>
            <a:r>
              <a:rPr lang="en-US" altLang="zh-CN" sz="1800" b="1" dirty="0">
                <a:solidFill>
                  <a:schemeClr val="tx1"/>
                </a:solidFill>
              </a:rPr>
              <a:t>R0</a:t>
            </a:r>
            <a:r>
              <a:rPr lang="zh-CN" altLang="en-US" sz="1800" b="1" dirty="0">
                <a:solidFill>
                  <a:schemeClr val="tx1"/>
                </a:solidFill>
              </a:rPr>
              <a:t>中，加数低字节地址存</a:t>
            </a:r>
            <a:r>
              <a:rPr lang="en-US" altLang="zh-CN" sz="1800" b="1" dirty="0">
                <a:solidFill>
                  <a:schemeClr val="tx1"/>
                </a:solidFill>
              </a:rPr>
              <a:t>R1</a:t>
            </a:r>
            <a:r>
              <a:rPr lang="zh-CN" altLang="en-US" sz="1800" b="1" dirty="0">
                <a:solidFill>
                  <a:schemeClr val="tx1"/>
                </a:solidFill>
              </a:rPr>
              <a:t>中，字节数存</a:t>
            </a:r>
            <a:r>
              <a:rPr lang="en-US" altLang="zh-CN" sz="1800" b="1" dirty="0">
                <a:solidFill>
                  <a:schemeClr val="tx1"/>
                </a:solidFill>
              </a:rPr>
              <a:t>R3</a:t>
            </a:r>
            <a:r>
              <a:rPr lang="zh-CN" altLang="en-US" sz="1800" b="1" dirty="0">
                <a:solidFill>
                  <a:schemeClr val="tx1"/>
                </a:solidFill>
              </a:rPr>
              <a:t>中，相加的结果依次存于原被加数单元。</a:t>
            </a:r>
          </a:p>
        </p:txBody>
      </p:sp>
      <p:sp>
        <p:nvSpPr>
          <p:cNvPr id="55298" name="标题 55297"/>
          <p:cNvSpPr>
            <a:spLocks noGrp="1"/>
          </p:cNvSpPr>
          <p:nvPr/>
        </p:nvSpPr>
        <p:spPr>
          <a:xfrm>
            <a:off x="1455420" y="392113"/>
            <a:ext cx="2981960" cy="460375"/>
          </a:xfrm>
          <a:prstGeom prst="rect">
            <a:avLst/>
          </a:prstGeom>
        </p:spPr>
        <p:txBody>
          <a:bodyPr wrap="square" lIns="92075" tIns="46038" rIns="92075" bIns="46038" anchor="ctr">
            <a:spAutoFit/>
          </a:bodyPr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r>
              <a:rPr lang="en-US" altLang="zh-CN" dirty="0"/>
              <a:t>3</a:t>
            </a:r>
            <a:r>
              <a:rPr lang="zh-CN" altLang="en-US" dirty="0"/>
              <a:t>、循环程序</a:t>
            </a:r>
          </a:p>
        </p:txBody>
      </p:sp>
      <p:graphicFrame>
        <p:nvGraphicFramePr>
          <p:cNvPr id="2" name="对象 1"/>
          <p:cNvGraphicFramePr/>
          <p:nvPr/>
        </p:nvGraphicFramePr>
        <p:xfrm>
          <a:off x="973455" y="2134870"/>
          <a:ext cx="2100580" cy="3536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r:id="rId3" imgW="3340100" imgH="6769100" progId="Visio.Drawing.11">
                  <p:embed/>
                </p:oleObj>
              </mc:Choice>
              <mc:Fallback>
                <p:oleObj r:id="rId3" imgW="3340100" imgH="6769100" progId="Visio.Drawing.1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3455" y="2134870"/>
                        <a:ext cx="2100580" cy="35363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521075" y="1892300"/>
            <a:ext cx="548132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/>
              <a:t>START:   MOV   A,   R0        ; </a:t>
            </a:r>
            <a:r>
              <a:rPr lang="zh-CN" altLang="zh-CN" dirty="0"/>
              <a:t>保存被加数首地址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               MOV   R5,  A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               MOV   A,   R3        </a:t>
            </a:r>
            <a:r>
              <a:rPr lang="zh-CN" altLang="en-US" dirty="0"/>
              <a:t>；保存字节数</a:t>
            </a:r>
            <a:r>
              <a:rPr lang="en-US" altLang="zh-CN" dirty="0"/>
              <a:t>(</a:t>
            </a:r>
            <a:r>
              <a:rPr lang="zh-CN" altLang="en-US" dirty="0"/>
              <a:t>循环次数</a:t>
            </a:r>
            <a:r>
              <a:rPr lang="en-US" altLang="zh-CN" dirty="0"/>
              <a:t>)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               MOV   R7,  A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               CLR      C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ADDA:     MOV    A,  @R0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                 </a:t>
            </a:r>
            <a:r>
              <a:rPr lang="en-US" altLang="zh-CN" dirty="0">
                <a:solidFill>
                  <a:srgbClr val="FF0000"/>
                </a:solidFill>
              </a:rPr>
              <a:t>ADDC</a:t>
            </a:r>
            <a:r>
              <a:rPr lang="en-US" altLang="zh-CN" dirty="0"/>
              <a:t>   A,  @R1        ;</a:t>
            </a:r>
            <a:r>
              <a:rPr lang="zh-CN" altLang="zh-CN" dirty="0"/>
              <a:t>加法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                 MOV    @R0,  A         </a:t>
            </a:r>
            <a:r>
              <a:rPr lang="zh-CN" altLang="en-US" dirty="0"/>
              <a:t>；存入被加数单元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                 INC        R0                 </a:t>
            </a:r>
            <a:r>
              <a:rPr lang="zh-CN" altLang="en-US" dirty="0"/>
              <a:t>；修改指针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                 INC        R1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                </a:t>
            </a:r>
            <a:r>
              <a:rPr lang="en-US" altLang="zh-CN" dirty="0">
                <a:solidFill>
                  <a:srgbClr val="0000FF"/>
                </a:solidFill>
              </a:rPr>
              <a:t> DJNZ  </a:t>
            </a:r>
            <a:r>
              <a:rPr lang="en-US" altLang="zh-CN" dirty="0"/>
              <a:t>   R7,   ADDA          </a:t>
            </a:r>
            <a:r>
              <a:rPr lang="zh-CN" altLang="en-US" dirty="0"/>
              <a:t>；判断结束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                </a:t>
            </a:r>
            <a:r>
              <a:rPr lang="en-US" altLang="zh-CN" dirty="0">
                <a:solidFill>
                  <a:srgbClr val="0000FF"/>
                </a:solidFill>
              </a:rPr>
              <a:t> JNC  </a:t>
            </a:r>
            <a:r>
              <a:rPr lang="en-US" altLang="zh-CN" dirty="0"/>
              <a:t>     ADDB    </a:t>
            </a:r>
            <a:r>
              <a:rPr lang="zh-CN" altLang="en-US" dirty="0"/>
              <a:t>；最后一次相加是否有进位位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                 INC       R3           </a:t>
            </a:r>
            <a:r>
              <a:rPr lang="zh-CN" altLang="en-US" dirty="0"/>
              <a:t>；有进位，增加一个单元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                 MOV    @R0,  #01H     </a:t>
            </a:r>
            <a:r>
              <a:rPr lang="zh-CN" altLang="en-US" dirty="0"/>
              <a:t>；进位位一个字节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ADDB:     MOV     A,   R5       </a:t>
            </a:r>
            <a:r>
              <a:rPr lang="zh-CN" altLang="en-US" dirty="0"/>
              <a:t>；没有进位，恢复初始位置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                 MOV    R0,  A 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                END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文本占位符 56322"/>
          <p:cNvSpPr>
            <a:spLocks noGrp="1"/>
          </p:cNvSpPr>
          <p:nvPr>
            <p:ph type="body" idx="1"/>
          </p:nvPr>
        </p:nvSpPr>
        <p:spPr>
          <a:xfrm>
            <a:off x="533400" y="1096010"/>
            <a:ext cx="8436610" cy="645160"/>
          </a:xfrm>
        </p:spPr>
        <p:txBody>
          <a:bodyPr wrap="square" lIns="92075" tIns="46038" rIns="92075" bIns="46038"/>
          <a:lstStyle/>
          <a:p>
            <a:pPr>
              <a:buNone/>
            </a:pPr>
            <a:r>
              <a:rPr lang="zh-CN" altLang="en-US" sz="1800" b="1" dirty="0">
                <a:solidFill>
                  <a:srgbClr val="0000FF"/>
                </a:solidFill>
              </a:rPr>
              <a:t>例</a:t>
            </a:r>
            <a:r>
              <a:rPr lang="en-US" altLang="zh-CN" sz="1800" b="1" dirty="0">
                <a:solidFill>
                  <a:srgbClr val="0000FF"/>
                </a:solidFill>
              </a:rPr>
              <a:t>4-10</a:t>
            </a:r>
            <a:r>
              <a:rPr lang="zh-CN" altLang="en-US" sz="1800" b="1" dirty="0">
                <a:solidFill>
                  <a:srgbClr val="0000FF"/>
                </a:solidFill>
              </a:rPr>
              <a:t>：搜索最大值  </a:t>
            </a:r>
            <a:r>
              <a:rPr lang="zh-CN" altLang="en-US" sz="1800" b="1" dirty="0">
                <a:solidFill>
                  <a:schemeClr val="tx1"/>
                </a:solidFill>
              </a:rPr>
              <a:t>从片内</a:t>
            </a:r>
            <a:r>
              <a:rPr lang="en-US" altLang="zh-CN" sz="1800" b="1" dirty="0">
                <a:solidFill>
                  <a:schemeClr val="tx1"/>
                </a:solidFill>
              </a:rPr>
              <a:t>RAM</a:t>
            </a:r>
            <a:r>
              <a:rPr lang="zh-CN" altLang="en-US" sz="1800" b="1" dirty="0">
                <a:solidFill>
                  <a:schemeClr val="tx1"/>
                </a:solidFill>
              </a:rPr>
              <a:t>的</a:t>
            </a:r>
            <a:r>
              <a:rPr lang="en-US" altLang="zh-CN" sz="1800" b="1" dirty="0">
                <a:solidFill>
                  <a:schemeClr val="tx1"/>
                </a:solidFill>
              </a:rPr>
              <a:t>BLOCK</a:t>
            </a:r>
            <a:r>
              <a:rPr lang="zh-CN" altLang="en-US" sz="1800" b="1" dirty="0">
                <a:solidFill>
                  <a:schemeClr val="tx1"/>
                </a:solidFill>
              </a:rPr>
              <a:t>单元开始有一个无符号数数据块，其长度存于</a:t>
            </a:r>
            <a:r>
              <a:rPr lang="en-US" altLang="zh-CN" sz="1800" b="1" dirty="0">
                <a:solidFill>
                  <a:schemeClr val="tx1"/>
                </a:solidFill>
              </a:rPr>
              <a:t>LEN</a:t>
            </a:r>
            <a:r>
              <a:rPr lang="zh-CN" altLang="en-US" sz="1800" b="1" dirty="0">
                <a:solidFill>
                  <a:schemeClr val="tx1"/>
                </a:solidFill>
              </a:rPr>
              <a:t>单元中，试求出其最大的。</a:t>
            </a:r>
          </a:p>
        </p:txBody>
      </p:sp>
      <p:sp>
        <p:nvSpPr>
          <p:cNvPr id="55298" name="标题 55297"/>
          <p:cNvSpPr>
            <a:spLocks noGrp="1"/>
          </p:cNvSpPr>
          <p:nvPr/>
        </p:nvSpPr>
        <p:spPr>
          <a:xfrm>
            <a:off x="1455420" y="392113"/>
            <a:ext cx="2981960" cy="460375"/>
          </a:xfrm>
          <a:prstGeom prst="rect">
            <a:avLst/>
          </a:prstGeom>
        </p:spPr>
        <p:txBody>
          <a:bodyPr wrap="square" lIns="92075" tIns="46038" rIns="92075" bIns="46038" anchor="ctr">
            <a:spAutoFit/>
          </a:bodyPr>
          <a:lstStyle>
            <a:lvl1pPr>
              <a:defRPr sz="2400" b="1" i="0">
                <a:solidFill>
                  <a:srgbClr val="252525"/>
                </a:solidFill>
                <a:latin typeface="微软雅黑" panose="020B0503020204020204" charset="-122"/>
                <a:ea typeface="+mj-ea"/>
                <a:cs typeface="微软雅黑" panose="020B0503020204020204" charset="-122"/>
              </a:defRPr>
            </a:lvl1pPr>
          </a:lstStyle>
          <a:p>
            <a:r>
              <a:rPr lang="en-US" altLang="zh-CN" dirty="0"/>
              <a:t>3</a:t>
            </a:r>
            <a:r>
              <a:rPr lang="zh-CN" altLang="en-US" dirty="0"/>
              <a:t>、循环程序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592830" y="1922780"/>
            <a:ext cx="5222240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rgbClr val="0000FF"/>
                </a:solidFill>
              </a:rPr>
              <a:t>START:   LEN      DATA   20H           ;</a:t>
            </a:r>
            <a:r>
              <a:rPr lang="zh-CN" altLang="zh-CN" sz="1600" dirty="0">
                <a:solidFill>
                  <a:srgbClr val="0000FF"/>
                </a:solidFill>
              </a:rPr>
              <a:t>初始化</a:t>
            </a:r>
            <a:endParaRPr lang="en-US" altLang="zh-CN" sz="1600" dirty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rgbClr val="0000FF"/>
                </a:solidFill>
              </a:rPr>
              <a:t>               MAX    DATA   21H </a:t>
            </a: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rgbClr val="0000FF"/>
                </a:solidFill>
              </a:rPr>
              <a:t>               BLOCK  DATA    22H</a:t>
            </a:r>
          </a:p>
          <a:p>
            <a:pPr>
              <a:lnSpc>
                <a:spcPct val="100000"/>
              </a:lnSpc>
            </a:pPr>
            <a:r>
              <a:rPr lang="en-US" altLang="zh-CN" sz="1600" dirty="0"/>
              <a:t>               CLR        A                          </a:t>
            </a:r>
            <a:r>
              <a:rPr lang="zh-CN" altLang="en-US" sz="1600" dirty="0"/>
              <a:t>；</a:t>
            </a:r>
            <a:r>
              <a:rPr lang="en-US" altLang="zh-CN" sz="1600" dirty="0"/>
              <a:t>A</a:t>
            </a:r>
            <a:r>
              <a:rPr lang="zh-CN" altLang="en-US" sz="1600" dirty="0"/>
              <a:t>清零</a:t>
            </a:r>
            <a:endParaRPr lang="en-US" altLang="zh-CN" sz="1600" dirty="0"/>
          </a:p>
          <a:p>
            <a:pPr>
              <a:lnSpc>
                <a:spcPct val="100000"/>
              </a:lnSpc>
            </a:pPr>
            <a:r>
              <a:rPr lang="en-US" altLang="zh-CN" sz="1600" dirty="0"/>
              <a:t>               MOV    R2,   LEN              </a:t>
            </a:r>
            <a:r>
              <a:rPr lang="zh-CN" altLang="en-US" sz="1600" dirty="0"/>
              <a:t>；取长度，循环次数</a:t>
            </a:r>
            <a:endParaRPr lang="en-US" altLang="zh-CN" sz="1600" dirty="0"/>
          </a:p>
          <a:p>
            <a:pPr>
              <a:lnSpc>
                <a:spcPct val="100000"/>
              </a:lnSpc>
            </a:pPr>
            <a:r>
              <a:rPr lang="en-US" altLang="zh-CN" sz="1600" dirty="0"/>
              <a:t>               MOV    R1,   #BLOCK       </a:t>
            </a:r>
            <a:r>
              <a:rPr lang="zh-CN" altLang="en-US" sz="1600" dirty="0"/>
              <a:t>；取首地址</a:t>
            </a:r>
            <a:endParaRPr lang="en-US" altLang="zh-CN" sz="1600" dirty="0"/>
          </a:p>
          <a:p>
            <a:pPr>
              <a:lnSpc>
                <a:spcPct val="100000"/>
              </a:lnSpc>
            </a:pPr>
            <a:r>
              <a:rPr lang="en-US" altLang="zh-CN" sz="1600" dirty="0"/>
              <a:t>LOOP:    CLR       C                      </a:t>
            </a:r>
          </a:p>
          <a:p>
            <a:pPr>
              <a:lnSpc>
                <a:spcPct val="100000"/>
              </a:lnSpc>
            </a:pPr>
            <a:r>
              <a:rPr lang="en-US" altLang="zh-CN" sz="1600" dirty="0"/>
              <a:t>               SUBB    A, @R1                 </a:t>
            </a:r>
            <a:r>
              <a:rPr lang="zh-CN" altLang="en-US" sz="1600" dirty="0"/>
              <a:t>；减法进行大小比较 </a:t>
            </a:r>
            <a:endParaRPr lang="en-US" altLang="zh-CN" sz="1600" dirty="0"/>
          </a:p>
          <a:p>
            <a:pPr>
              <a:lnSpc>
                <a:spcPct val="100000"/>
              </a:lnSpc>
            </a:pPr>
            <a:r>
              <a:rPr lang="en-US" altLang="zh-CN" sz="1600" dirty="0"/>
              <a:t>               JNC        NEXT                     </a:t>
            </a:r>
            <a:r>
              <a:rPr lang="zh-CN" altLang="en-US" sz="1600" dirty="0"/>
              <a:t>；没有借位，</a:t>
            </a:r>
            <a:r>
              <a:rPr lang="en-US" altLang="zh-CN" sz="1600" dirty="0"/>
              <a:t>A</a:t>
            </a:r>
            <a:r>
              <a:rPr lang="zh-CN" altLang="en-US" sz="1600" dirty="0"/>
              <a:t>大，</a:t>
            </a:r>
            <a:r>
              <a:rPr lang="zh-CN" altLang="en-US" sz="1600" dirty="0">
                <a:solidFill>
                  <a:srgbClr val="FF3300"/>
                </a:solidFill>
              </a:rPr>
              <a:t>恢复</a:t>
            </a:r>
            <a:r>
              <a:rPr lang="en-US" altLang="zh-CN" sz="1600" dirty="0">
                <a:solidFill>
                  <a:srgbClr val="FF3300"/>
                </a:solidFill>
              </a:rPr>
              <a:t>A</a:t>
            </a:r>
            <a:endParaRPr lang="en-US" altLang="zh-CN" sz="1600" dirty="0"/>
          </a:p>
          <a:p>
            <a:pPr>
              <a:lnSpc>
                <a:spcPct val="100000"/>
              </a:lnSpc>
            </a:pPr>
            <a:r>
              <a:rPr lang="en-US" altLang="zh-CN" sz="1600" dirty="0"/>
              <a:t>               MOV      A,  @R1               </a:t>
            </a:r>
            <a:r>
              <a:rPr lang="zh-CN" altLang="en-US" sz="1600" dirty="0"/>
              <a:t>；有借位，</a:t>
            </a:r>
            <a:r>
              <a:rPr lang="en-US" altLang="zh-CN" sz="1600" dirty="0"/>
              <a:t>@R1</a:t>
            </a:r>
            <a:r>
              <a:rPr lang="zh-CN" altLang="en-US" sz="1600" dirty="0"/>
              <a:t>大，送</a:t>
            </a:r>
            <a:r>
              <a:rPr lang="en-US" altLang="zh-CN" sz="1600" dirty="0"/>
              <a:t>A</a:t>
            </a:r>
          </a:p>
          <a:p>
            <a:pPr>
              <a:lnSpc>
                <a:spcPct val="100000"/>
              </a:lnSpc>
            </a:pPr>
            <a:r>
              <a:rPr lang="en-US" altLang="zh-CN" sz="1600" dirty="0"/>
              <a:t>               SJMP      NEXT1</a:t>
            </a:r>
          </a:p>
          <a:p>
            <a:pPr>
              <a:lnSpc>
                <a:spcPct val="100000"/>
              </a:lnSpc>
            </a:pPr>
            <a:r>
              <a:rPr lang="en-US" altLang="zh-CN" sz="1600" dirty="0"/>
              <a:t>NEXT:     ADD        A,   @R1          </a:t>
            </a:r>
            <a:r>
              <a:rPr lang="en-US" altLang="zh-CN" sz="1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   </a:t>
            </a:r>
            <a:r>
              <a:rPr lang="zh-CN" altLang="en-US" sz="1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；恢复</a:t>
            </a:r>
            <a:r>
              <a:rPr lang="en-US" altLang="zh-CN" sz="1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A</a:t>
            </a:r>
          </a:p>
          <a:p>
            <a:pPr>
              <a:lnSpc>
                <a:spcPct val="100000"/>
              </a:lnSpc>
            </a:pPr>
            <a:r>
              <a:rPr lang="en-US" altLang="zh-CN" sz="1600" dirty="0"/>
              <a:t>NEXT1:   INC        R1                         </a:t>
            </a:r>
            <a:r>
              <a:rPr lang="zh-CN" altLang="en-US" sz="1600" dirty="0"/>
              <a:t>；修改指针</a:t>
            </a:r>
            <a:endParaRPr lang="en-US" altLang="zh-CN" sz="1600" dirty="0"/>
          </a:p>
          <a:p>
            <a:pPr>
              <a:lnSpc>
                <a:spcPct val="100000"/>
              </a:lnSpc>
            </a:pPr>
            <a:r>
              <a:rPr lang="en-US" altLang="zh-CN" sz="1600" dirty="0"/>
              <a:t>                DJNZ      R2,  LOOP           </a:t>
            </a:r>
            <a:r>
              <a:rPr lang="zh-CN" altLang="en-US" sz="1600" dirty="0"/>
              <a:t>；判定是否循环结束</a:t>
            </a:r>
            <a:endParaRPr lang="en-US" altLang="zh-CN" sz="1600" dirty="0"/>
          </a:p>
          <a:p>
            <a:pPr>
              <a:lnSpc>
                <a:spcPct val="100000"/>
              </a:lnSpc>
            </a:pPr>
            <a:r>
              <a:rPr lang="en-US" altLang="zh-CN" sz="1600" dirty="0"/>
              <a:t>                MOV      MAX,   A             </a:t>
            </a:r>
            <a:r>
              <a:rPr lang="zh-CN" altLang="en-US" sz="1600" dirty="0"/>
              <a:t>；将最大值送</a:t>
            </a:r>
            <a:r>
              <a:rPr lang="en-US" altLang="zh-CN" sz="1600" dirty="0"/>
              <a:t>MAX</a:t>
            </a:r>
          </a:p>
          <a:p>
            <a:pPr>
              <a:lnSpc>
                <a:spcPct val="100000"/>
              </a:lnSpc>
            </a:pPr>
            <a:r>
              <a:rPr lang="en-US" altLang="zh-CN" sz="1600" dirty="0">
                <a:solidFill>
                  <a:srgbClr val="FF3300"/>
                </a:solidFill>
              </a:rPr>
              <a:t>              </a:t>
            </a:r>
            <a:endParaRPr lang="en-US" altLang="zh-CN" sz="1600" dirty="0"/>
          </a:p>
        </p:txBody>
      </p:sp>
      <p:graphicFrame>
        <p:nvGraphicFramePr>
          <p:cNvPr id="5" name="对象 4"/>
          <p:cNvGraphicFramePr/>
          <p:nvPr/>
        </p:nvGraphicFramePr>
        <p:xfrm>
          <a:off x="-47625" y="1813560"/>
          <a:ext cx="4010025" cy="4420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r:id="rId3" imgW="6375400" imgH="7378700" progId="Visio.Drawing.11">
                  <p:embed/>
                </p:oleObj>
              </mc:Choice>
              <mc:Fallback>
                <p:oleObj r:id="rId3" imgW="6375400" imgH="7378700" progId="Visio.Drawing.1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47625" y="1813560"/>
                        <a:ext cx="4010025" cy="44208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33793"/>
          <p:cNvSpPr>
            <a:spLocks noGrp="1"/>
          </p:cNvSpPr>
          <p:nvPr>
            <p:ph type="title"/>
          </p:nvPr>
        </p:nvSpPr>
        <p:spPr>
          <a:xfrm>
            <a:off x="1498600" y="204470"/>
            <a:ext cx="6642100" cy="521970"/>
          </a:xfrm>
        </p:spPr>
        <p:txBody>
          <a:bodyPr wrap="square" lIns="92075" tIns="46038" rIns="92075" bIns="46038" anchor="ctr"/>
          <a:lstStyle/>
          <a:p>
            <a:r>
              <a:rPr lang="zh-CN" altLang="en-US" sz="2800" b="0" dirty="0">
                <a:solidFill>
                  <a:srgbClr val="000000"/>
                </a:solidFill>
                <a:latin typeface="宋体" panose="02010600030101010101" pitchFamily="2" charset="-122"/>
              </a:rPr>
              <a:t>§</a:t>
            </a:r>
            <a:r>
              <a:rPr lang="en-US" altLang="zh-CN" sz="2800" b="0" dirty="0">
                <a:solidFill>
                  <a:srgbClr val="000000"/>
                </a:solidFill>
                <a:latin typeface="宋体" panose="02010600030101010101" pitchFamily="2" charset="-122"/>
              </a:rPr>
              <a:t>4.2  </a:t>
            </a:r>
            <a:r>
              <a:rPr lang="zh-CN" altLang="en-US" sz="2800" b="0" dirty="0">
                <a:solidFill>
                  <a:srgbClr val="000000"/>
                </a:solidFill>
                <a:latin typeface="宋体" panose="02010600030101010101" pitchFamily="2" charset="-122"/>
              </a:rPr>
              <a:t>伪指令</a:t>
            </a:r>
          </a:p>
        </p:txBody>
      </p:sp>
      <p:sp>
        <p:nvSpPr>
          <p:cNvPr id="36867" name="文本占位符 36866"/>
          <p:cNvSpPr>
            <a:spLocks noGrp="1"/>
          </p:cNvSpPr>
          <p:nvPr>
            <p:ph type="body" idx="1"/>
          </p:nvPr>
        </p:nvSpPr>
        <p:spPr>
          <a:xfrm>
            <a:off x="404495" y="1123950"/>
            <a:ext cx="8610600" cy="865505"/>
          </a:xfrm>
        </p:spPr>
        <p:txBody>
          <a:bodyPr wrap="square" lIns="92075" tIns="46038" rIns="92075" bIns="46038"/>
          <a:lstStyle/>
          <a:p>
            <a:pPr>
              <a:lnSpc>
                <a:spcPct val="140000"/>
              </a:lnSpc>
            </a:pPr>
            <a:r>
              <a:rPr lang="zh-CN" altLang="en-US" b="1" dirty="0"/>
              <a:t>伪指令不是真正的指令，无对应的机器码，在汇编时不产生目标程序，只是用来对汇编过程进行某种控制。</a:t>
            </a:r>
            <a:endParaRPr lang="zh-CN" altLang="en-US" b="1"/>
          </a:p>
        </p:txBody>
      </p:sp>
      <p:sp>
        <p:nvSpPr>
          <p:cNvPr id="40963" name="文本占位符 40962"/>
          <p:cNvSpPr>
            <a:spLocks noGrp="1"/>
          </p:cNvSpPr>
          <p:nvPr/>
        </p:nvSpPr>
        <p:spPr>
          <a:xfrm>
            <a:off x="404495" y="1989455"/>
            <a:ext cx="8229600" cy="2306955"/>
          </a:xfrm>
          <a:prstGeom prst="rect">
            <a:avLst/>
          </a:prstGeom>
        </p:spPr>
        <p:txBody>
          <a:bodyPr wrap="square" lIns="92075" tIns="46038" rIns="92075" bIns="46038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/>
              <a:t>            </a:t>
            </a:r>
            <a:r>
              <a:rPr lang="en-US" altLang="zh-CN" b="1" dirty="0">
                <a:solidFill>
                  <a:srgbClr val="0000FF"/>
                </a:solidFill>
              </a:rPr>
              <a:t> ORG    </a:t>
            </a:r>
            <a:r>
              <a:rPr lang="zh-CN" altLang="en-US" b="1" dirty="0">
                <a:solidFill>
                  <a:srgbClr val="0000FF"/>
                </a:solidFill>
              </a:rPr>
              <a:t>程序起始命令</a:t>
            </a:r>
          </a:p>
          <a:p>
            <a:r>
              <a:rPr lang="zh-CN" altLang="en-US" b="1" dirty="0"/>
              <a:t>格式：</a:t>
            </a:r>
            <a:r>
              <a:rPr lang="en-US" altLang="zh-CN" b="1" dirty="0"/>
              <a:t>ORG    16</a:t>
            </a:r>
            <a:r>
              <a:rPr lang="zh-CN" altLang="en-US" b="1" dirty="0"/>
              <a:t>位地址</a:t>
            </a:r>
          </a:p>
          <a:p>
            <a:r>
              <a:rPr lang="zh-CN" altLang="en-US" b="1" dirty="0"/>
              <a:t>功能：规定该伪指令后面程序的汇编地址，即汇编后生成目标程序存放的起始地址。例如：</a:t>
            </a:r>
          </a:p>
          <a:p>
            <a:pPr>
              <a:buNone/>
            </a:pPr>
            <a:r>
              <a:rPr lang="zh-CN" altLang="en-US" b="1"/>
              <a:t>                 </a:t>
            </a:r>
            <a:r>
              <a:rPr lang="en-US" altLang="zh-CN" b="1"/>
              <a:t>ORG    2000H</a:t>
            </a:r>
          </a:p>
          <a:p>
            <a:pPr>
              <a:buNone/>
            </a:pPr>
            <a:r>
              <a:rPr lang="en-US" altLang="zh-CN" b="1"/>
              <a:t>START</a:t>
            </a:r>
            <a:r>
              <a:rPr lang="zh-CN" altLang="en-US" b="1"/>
              <a:t>：</a:t>
            </a:r>
            <a:r>
              <a:rPr lang="en-US" altLang="zh-CN" b="1"/>
              <a:t>MOV    A</a:t>
            </a:r>
            <a:r>
              <a:rPr lang="zh-CN" altLang="en-US" b="1"/>
              <a:t>，</a:t>
            </a:r>
            <a:r>
              <a:rPr lang="en-US" altLang="zh-CN" b="1"/>
              <a:t>#64H</a:t>
            </a:r>
          </a:p>
          <a:p>
            <a:pPr>
              <a:buNone/>
            </a:pPr>
            <a:r>
              <a:rPr lang="en-US" altLang="zh-CN" b="1"/>
              <a:t>               ┇</a:t>
            </a:r>
          </a:p>
          <a:p>
            <a:r>
              <a:rPr lang="zh-CN" altLang="en-US" b="1" dirty="0"/>
              <a:t>规定了</a:t>
            </a:r>
            <a:r>
              <a:rPr lang="en-US" altLang="zh-CN" b="1" dirty="0"/>
              <a:t>START</a:t>
            </a:r>
            <a:r>
              <a:rPr lang="zh-CN" altLang="en-US" b="1" dirty="0"/>
              <a:t>的地址是</a:t>
            </a:r>
            <a:r>
              <a:rPr lang="en-US" altLang="zh-CN" b="1" dirty="0"/>
              <a:t>2000H</a:t>
            </a:r>
            <a:r>
              <a:rPr lang="zh-CN" altLang="en-US" b="1" dirty="0"/>
              <a:t>，又规定了汇编后的第一条指令码从</a:t>
            </a:r>
            <a:r>
              <a:rPr lang="en-US" altLang="zh-CN" b="1" dirty="0"/>
              <a:t>2000H</a:t>
            </a:r>
            <a:r>
              <a:rPr lang="zh-CN" altLang="en-US" b="1" dirty="0"/>
              <a:t>开始存放。</a:t>
            </a:r>
          </a:p>
        </p:txBody>
      </p:sp>
      <p:sp>
        <p:nvSpPr>
          <p:cNvPr id="41987" name="文本占位符 41986"/>
          <p:cNvSpPr>
            <a:spLocks noGrp="1"/>
          </p:cNvSpPr>
          <p:nvPr/>
        </p:nvSpPr>
        <p:spPr>
          <a:xfrm>
            <a:off x="404495" y="4387850"/>
            <a:ext cx="8229600" cy="1087755"/>
          </a:xfrm>
          <a:prstGeom prst="rect">
            <a:avLst/>
          </a:prstGeom>
        </p:spPr>
        <p:txBody>
          <a:bodyPr wrap="square" lIns="92075" tIns="46038" rIns="92075" bIns="46038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b="1" dirty="0">
                <a:solidFill>
                  <a:srgbClr val="0000FF"/>
                </a:solidFill>
                <a:sym typeface="+mn-ea"/>
              </a:rPr>
              <a:t>             END    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程序结束命令</a:t>
            </a:r>
            <a:endParaRPr lang="zh-CN" altLang="en-US" b="1" dirty="0"/>
          </a:p>
          <a:p>
            <a:pPr>
              <a:lnSpc>
                <a:spcPct val="120000"/>
              </a:lnSpc>
            </a:pPr>
            <a:r>
              <a:rPr lang="zh-CN" altLang="en-US" b="1" dirty="0"/>
              <a:t>格式：</a:t>
            </a:r>
            <a:r>
              <a:rPr lang="en-US" altLang="zh-CN" b="1"/>
              <a:t>END</a:t>
            </a:r>
          </a:p>
          <a:p>
            <a:pPr>
              <a:lnSpc>
                <a:spcPct val="120000"/>
              </a:lnSpc>
            </a:pPr>
            <a:r>
              <a:rPr lang="zh-CN" altLang="en-US" b="1" dirty="0"/>
              <a:t>功能：通知汇编程序结束汇编。在</a:t>
            </a:r>
            <a:r>
              <a:rPr lang="en-US" altLang="zh-CN" b="1" dirty="0"/>
              <a:t>END</a:t>
            </a:r>
            <a:r>
              <a:rPr lang="zh-CN" altLang="en-US" b="1" dirty="0"/>
              <a:t>之后所有的汇编指令均不予以处理。</a:t>
            </a:r>
            <a:endParaRPr lang="zh-CN" altLang="en-US" b="1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43009"/>
          <p:cNvSpPr>
            <a:spLocks noGrp="1"/>
          </p:cNvSpPr>
          <p:nvPr>
            <p:ph type="title"/>
          </p:nvPr>
        </p:nvSpPr>
        <p:spPr/>
        <p:txBody>
          <a:bodyPr lIns="92075" tIns="46038" rIns="92075" bIns="46038" anchor="ctr"/>
          <a:lstStyle/>
          <a:p>
            <a:r>
              <a:rPr lang="en-US" altLang="zh-CN" dirty="0"/>
              <a:t>EQU  </a:t>
            </a:r>
            <a:r>
              <a:rPr lang="zh-CN" altLang="en-US" dirty="0"/>
              <a:t>赋值命令</a:t>
            </a:r>
            <a:endParaRPr lang="zh-CN" altLang="en-US"/>
          </a:p>
        </p:txBody>
      </p:sp>
      <p:sp>
        <p:nvSpPr>
          <p:cNvPr id="43011" name="文本占位符 43010"/>
          <p:cNvSpPr>
            <a:spLocks noGrp="1"/>
          </p:cNvSpPr>
          <p:nvPr>
            <p:ph type="body" idx="1"/>
          </p:nvPr>
        </p:nvSpPr>
        <p:spPr>
          <a:xfrm>
            <a:off x="328295" y="1066800"/>
            <a:ext cx="8610600" cy="2416175"/>
          </a:xfrm>
        </p:spPr>
        <p:txBody>
          <a:bodyPr lIns="92075" tIns="46038" rIns="92075" bIns="46038"/>
          <a:lstStyle/>
          <a:p>
            <a:pPr>
              <a:lnSpc>
                <a:spcPct val="120000"/>
              </a:lnSpc>
            </a:pPr>
            <a:r>
              <a:rPr lang="zh-CN" altLang="en-US" sz="1800" b="1" dirty="0"/>
              <a:t>格式：字符名称   </a:t>
            </a:r>
            <a:r>
              <a:rPr lang="en-US" altLang="zh-CN" sz="1800" b="1" dirty="0"/>
              <a:t>EQU  </a:t>
            </a:r>
            <a:r>
              <a:rPr lang="zh-CN" altLang="en-US" sz="1800" b="1" dirty="0"/>
              <a:t>项（数或汇编符号）</a:t>
            </a:r>
          </a:p>
          <a:p>
            <a:pPr>
              <a:lnSpc>
                <a:spcPct val="120000"/>
              </a:lnSpc>
            </a:pPr>
            <a:r>
              <a:rPr lang="zh-CN" altLang="en-US" sz="1800" b="1" dirty="0"/>
              <a:t>功能：把“项”赋给“字符名称”。</a:t>
            </a:r>
          </a:p>
          <a:p>
            <a:pPr>
              <a:lnSpc>
                <a:spcPct val="120000"/>
              </a:lnSpc>
            </a:pPr>
            <a:r>
              <a:rPr lang="zh-CN" altLang="en-US" sz="1800" b="1" dirty="0"/>
              <a:t>注意：字符名称不等于标号（其后没有冒号）；其中的项，可以是数，也可以是汇编符号。</a:t>
            </a:r>
            <a:r>
              <a:rPr lang="en-US" altLang="zh-CN" sz="1800" b="1" dirty="0"/>
              <a:t>EQU</a:t>
            </a:r>
            <a:r>
              <a:rPr lang="zh-CN" altLang="en-US" sz="1800" b="1" dirty="0"/>
              <a:t>赋值过的符号名可以用作</a:t>
            </a:r>
            <a:r>
              <a:rPr lang="zh-CN" altLang="en-US" sz="1800" b="1" dirty="0">
                <a:solidFill>
                  <a:srgbClr val="FF0000"/>
                </a:solidFill>
              </a:rPr>
              <a:t>数据、代码地址、位地址或一个立即数</a:t>
            </a:r>
            <a:r>
              <a:rPr lang="zh-CN" altLang="en-US" sz="1800" b="1" dirty="0"/>
              <a:t>。可以是</a:t>
            </a:r>
            <a:r>
              <a:rPr lang="en-US" altLang="zh-CN" sz="1800" b="1" dirty="0"/>
              <a:t>8</a:t>
            </a:r>
            <a:r>
              <a:rPr lang="zh-CN" altLang="en-US" sz="1800" b="1" dirty="0"/>
              <a:t>位的，也可以是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位的。</a:t>
            </a:r>
          </a:p>
          <a:p>
            <a:pPr>
              <a:lnSpc>
                <a:spcPct val="120000"/>
              </a:lnSpc>
            </a:pPr>
            <a:r>
              <a:rPr lang="zh-CN" altLang="en-US" sz="1800" b="1" dirty="0"/>
              <a:t>例如：</a:t>
            </a:r>
          </a:p>
          <a:p>
            <a:pPr>
              <a:lnSpc>
                <a:spcPct val="120000"/>
              </a:lnSpc>
            </a:pPr>
            <a:endParaRPr lang="zh-CN" altLang="en-US" sz="1800" b="1" dirty="0"/>
          </a:p>
        </p:txBody>
      </p:sp>
      <p:sp>
        <p:nvSpPr>
          <p:cNvPr id="44035" name="文本占位符 44034"/>
          <p:cNvSpPr>
            <a:spLocks noGrp="1"/>
          </p:cNvSpPr>
          <p:nvPr/>
        </p:nvSpPr>
        <p:spPr>
          <a:xfrm>
            <a:off x="1193800" y="3205480"/>
            <a:ext cx="6028055" cy="2306955"/>
          </a:xfrm>
          <a:prstGeom prst="rect">
            <a:avLst/>
          </a:prstGeom>
        </p:spPr>
        <p:txBody>
          <a:bodyPr wrap="square" lIns="92075" tIns="46038" rIns="92075" bIns="46038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zh-CN" altLang="en-US" b="1" dirty="0"/>
              <a:t>例</a:t>
            </a:r>
            <a:r>
              <a:rPr lang="en-US" altLang="zh-CN" b="1" dirty="0"/>
              <a:t>1</a:t>
            </a:r>
            <a:r>
              <a:rPr lang="zh-CN" altLang="en-US" b="1" dirty="0"/>
              <a:t>：</a:t>
            </a:r>
          </a:p>
          <a:p>
            <a:pPr>
              <a:buNone/>
            </a:pPr>
            <a:r>
              <a:rPr lang="en-US" altLang="zh-CN" b="1" dirty="0"/>
              <a:t>AA      EQU    R1</a:t>
            </a:r>
          </a:p>
          <a:p>
            <a:pPr>
              <a:buNone/>
            </a:pPr>
            <a:r>
              <a:rPr lang="en-US" altLang="zh-CN" b="1" dirty="0"/>
              <a:t>MOV  A</a:t>
            </a:r>
            <a:r>
              <a:rPr lang="zh-CN" altLang="en-US" b="1" dirty="0"/>
              <a:t>，</a:t>
            </a:r>
            <a:r>
              <a:rPr lang="en-US" altLang="zh-CN" b="1" dirty="0"/>
              <a:t>AA</a:t>
            </a:r>
            <a:r>
              <a:rPr lang="zh-CN" altLang="en-US" b="1" dirty="0"/>
              <a:t>；</a:t>
            </a:r>
            <a:r>
              <a:rPr lang="en-US" altLang="zh-CN" b="1" dirty="0"/>
              <a:t>AA</a:t>
            </a:r>
            <a:r>
              <a:rPr lang="zh-CN" altLang="en-US" b="1" dirty="0"/>
              <a:t>代表工作寄存器</a:t>
            </a:r>
            <a:r>
              <a:rPr lang="en-US" altLang="zh-CN" b="1" dirty="0"/>
              <a:t>R1</a:t>
            </a:r>
          </a:p>
          <a:p>
            <a:pPr>
              <a:buNone/>
            </a:pPr>
            <a:r>
              <a:rPr lang="zh-CN" altLang="en-US" b="1" dirty="0"/>
              <a:t>例</a:t>
            </a:r>
            <a:r>
              <a:rPr lang="en-US" altLang="zh-CN" b="1" dirty="0"/>
              <a:t>2</a:t>
            </a:r>
            <a:r>
              <a:rPr lang="zh-CN" altLang="en-US" b="1" dirty="0"/>
              <a:t>：</a:t>
            </a:r>
          </a:p>
          <a:p>
            <a:pPr>
              <a:buNone/>
            </a:pPr>
            <a:r>
              <a:rPr lang="en-US" altLang="zh-CN" b="1" dirty="0"/>
              <a:t>A10     EQU    10</a:t>
            </a:r>
          </a:p>
          <a:p>
            <a:pPr>
              <a:buNone/>
            </a:pPr>
            <a:r>
              <a:rPr lang="en-US" altLang="zh-CN" b="1" dirty="0"/>
              <a:t>DELY    EQU   07EBH</a:t>
            </a:r>
          </a:p>
          <a:p>
            <a:pPr>
              <a:buNone/>
            </a:pPr>
            <a:r>
              <a:rPr lang="en-US" altLang="zh-CN" b="1" dirty="0"/>
              <a:t> MOV   A</a:t>
            </a:r>
            <a:r>
              <a:rPr lang="zh-CN" altLang="en-US" b="1" dirty="0"/>
              <a:t>，</a:t>
            </a:r>
            <a:r>
              <a:rPr lang="en-US" altLang="zh-CN" b="1" dirty="0"/>
              <a:t>A10</a:t>
            </a:r>
            <a:r>
              <a:rPr lang="zh-CN" altLang="en-US" b="1" dirty="0"/>
              <a:t>；</a:t>
            </a:r>
            <a:r>
              <a:rPr lang="en-US" altLang="zh-CN" b="1" dirty="0"/>
              <a:t>A10</a:t>
            </a:r>
            <a:r>
              <a:rPr lang="zh-CN" altLang="en-US" b="1" dirty="0"/>
              <a:t>作为片内的一个直接地址</a:t>
            </a:r>
          </a:p>
          <a:p>
            <a:pPr>
              <a:buNone/>
            </a:pPr>
            <a:r>
              <a:rPr lang="zh-CN" altLang="en-US" b="1" dirty="0"/>
              <a:t> </a:t>
            </a:r>
            <a:r>
              <a:rPr lang="en-US" altLang="zh-CN" b="1" dirty="0"/>
              <a:t>LCALL   DELY</a:t>
            </a:r>
            <a:r>
              <a:rPr lang="zh-CN" altLang="en-US" b="1" dirty="0"/>
              <a:t>；</a:t>
            </a:r>
            <a:r>
              <a:rPr lang="en-US" altLang="zh-CN" b="1" dirty="0"/>
              <a:t>DELY</a:t>
            </a:r>
            <a:r>
              <a:rPr lang="zh-CN" altLang="en-US" b="1" dirty="0"/>
              <a:t>作为一个</a:t>
            </a:r>
            <a:r>
              <a:rPr lang="en-US" altLang="zh-CN" b="1" dirty="0"/>
              <a:t>16</a:t>
            </a:r>
            <a:r>
              <a:rPr lang="zh-CN" altLang="en-US" b="1" dirty="0"/>
              <a:t>位子程序的入口地址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45057"/>
          <p:cNvSpPr>
            <a:spLocks noGrp="1"/>
          </p:cNvSpPr>
          <p:nvPr>
            <p:ph type="title"/>
          </p:nvPr>
        </p:nvSpPr>
        <p:spPr/>
        <p:txBody>
          <a:bodyPr lIns="92075" tIns="46038" rIns="92075" bIns="46038" anchor="ctr"/>
          <a:lstStyle/>
          <a:p>
            <a:r>
              <a:rPr lang="en-US" altLang="zh-CN" dirty="0"/>
              <a:t>DATA   </a:t>
            </a:r>
            <a:r>
              <a:rPr lang="zh-CN" altLang="en-US" dirty="0"/>
              <a:t>数据地址赋值命令</a:t>
            </a:r>
            <a:endParaRPr lang="zh-CN" altLang="en-US"/>
          </a:p>
        </p:txBody>
      </p:sp>
      <p:sp>
        <p:nvSpPr>
          <p:cNvPr id="45059" name="文本占位符 45058"/>
          <p:cNvSpPr>
            <a:spLocks noGrp="1"/>
          </p:cNvSpPr>
          <p:nvPr>
            <p:ph type="body" idx="1"/>
          </p:nvPr>
        </p:nvSpPr>
        <p:spPr/>
        <p:txBody>
          <a:bodyPr lIns="92075" tIns="46038" rIns="92075" bIns="46038"/>
          <a:lstStyle/>
          <a:p>
            <a:pPr>
              <a:lnSpc>
                <a:spcPct val="110000"/>
              </a:lnSpc>
            </a:pP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  <p:sp>
        <p:nvSpPr>
          <p:cNvPr id="3" name="矩形 2"/>
          <p:cNvSpPr/>
          <p:nvPr/>
        </p:nvSpPr>
        <p:spPr>
          <a:xfrm>
            <a:off x="457200" y="1295400"/>
            <a:ext cx="8305800" cy="4128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b="1" dirty="0"/>
              <a:t>格式：字符名称    </a:t>
            </a:r>
            <a:r>
              <a:rPr lang="en-US" altLang="zh-CN" sz="2400" b="1" dirty="0"/>
              <a:t>DATA    </a:t>
            </a:r>
            <a:r>
              <a:rPr lang="zh-CN" altLang="en-US" sz="2400" b="1" dirty="0"/>
              <a:t>表达式</a:t>
            </a:r>
          </a:p>
          <a:p>
            <a:pPr>
              <a:lnSpc>
                <a:spcPct val="110000"/>
              </a:lnSpc>
            </a:pPr>
            <a:r>
              <a:rPr lang="zh-CN" altLang="en-US" sz="2400" b="1" dirty="0"/>
              <a:t>功能：与</a:t>
            </a:r>
            <a:r>
              <a:rPr lang="en-US" altLang="zh-CN" sz="2400" b="1" dirty="0"/>
              <a:t>EQU</a:t>
            </a:r>
            <a:r>
              <a:rPr lang="zh-CN" altLang="en-US" sz="2400" b="1" dirty="0"/>
              <a:t>类似，但有以下差别：</a:t>
            </a:r>
          </a:p>
          <a:p>
            <a:pPr>
              <a:lnSpc>
                <a:spcPct val="110000"/>
              </a:lnSpc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EQU</a:t>
            </a:r>
            <a:r>
              <a:rPr lang="zh-CN" altLang="en-US" sz="2400" b="1" dirty="0"/>
              <a:t>定义的字符名必须先定义后使用，而</a:t>
            </a:r>
            <a:r>
              <a:rPr lang="en-US" altLang="zh-CN" sz="2400" b="1" dirty="0"/>
              <a:t>DATA</a:t>
            </a:r>
            <a:r>
              <a:rPr lang="zh-CN" altLang="en-US" sz="2400" b="1" dirty="0"/>
              <a:t>定义的字符名可以后定义先使用。</a:t>
            </a:r>
          </a:p>
          <a:p>
            <a:pPr>
              <a:lnSpc>
                <a:spcPct val="110000"/>
              </a:lnSpc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、用</a:t>
            </a:r>
            <a:r>
              <a:rPr lang="en-US" altLang="zh-CN" sz="2400" b="1" dirty="0"/>
              <a:t>EQU</a:t>
            </a:r>
            <a:r>
              <a:rPr lang="zh-CN" altLang="en-US" sz="2400" b="1" dirty="0"/>
              <a:t>伪指令可以把一个汇编符号赋给一个名字，而</a:t>
            </a:r>
            <a:r>
              <a:rPr lang="en-US" altLang="zh-CN" sz="2400" b="1" dirty="0"/>
              <a:t>DATA</a:t>
            </a:r>
            <a:r>
              <a:rPr lang="zh-CN" altLang="en-US" sz="2400" b="1" dirty="0"/>
              <a:t>只能把数据赋给字符名。</a:t>
            </a:r>
          </a:p>
          <a:p>
            <a:pPr>
              <a:lnSpc>
                <a:spcPct val="110000"/>
              </a:lnSpc>
            </a:pPr>
            <a:r>
              <a:rPr lang="en-US" altLang="zh-CN" sz="2400" b="1" dirty="0"/>
              <a:t>3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DATA</a:t>
            </a:r>
            <a:r>
              <a:rPr lang="zh-CN" altLang="en-US" sz="2400" b="1" dirty="0"/>
              <a:t>语句可以把一个表达式的值赋给字符名称，其中的表达式应是可求值的。</a:t>
            </a:r>
            <a:endParaRPr lang="en-US" altLang="zh-CN" sz="2400" b="1" dirty="0"/>
          </a:p>
          <a:p>
            <a:pPr>
              <a:lnSpc>
                <a:spcPct val="110000"/>
              </a:lnSpc>
            </a:pPr>
            <a:endParaRPr lang="en-US" altLang="zh-CN" sz="2400" b="1" dirty="0"/>
          </a:p>
          <a:p>
            <a:pPr>
              <a:lnSpc>
                <a:spcPct val="110000"/>
              </a:lnSpc>
            </a:pPr>
            <a:r>
              <a:rPr lang="en-US" altLang="zh-CN" sz="2400" b="1" dirty="0"/>
              <a:t>DATA</a:t>
            </a:r>
            <a:r>
              <a:rPr lang="zh-CN" altLang="en-US" sz="2400" b="1" dirty="0"/>
              <a:t>伪指令在程序中用来定义数据地址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46081"/>
          <p:cNvSpPr>
            <a:spLocks noGrp="1"/>
          </p:cNvSpPr>
          <p:nvPr>
            <p:ph type="title"/>
          </p:nvPr>
        </p:nvSpPr>
        <p:spPr/>
        <p:txBody>
          <a:bodyPr lIns="92075" tIns="46038" rIns="92075" bIns="46038" anchor="ctr"/>
          <a:lstStyle/>
          <a:p>
            <a:r>
              <a:rPr lang="en-US" altLang="zh-CN" dirty="0"/>
              <a:t>DB  </a:t>
            </a:r>
            <a:r>
              <a:rPr lang="zh-CN" altLang="en-US" dirty="0"/>
              <a:t>定义字节命令</a:t>
            </a:r>
            <a:endParaRPr lang="zh-CN" altLang="en-US"/>
          </a:p>
        </p:txBody>
      </p:sp>
      <p:sp>
        <p:nvSpPr>
          <p:cNvPr id="46083" name="文本占位符 46082"/>
          <p:cNvSpPr>
            <a:spLocks noGrp="1"/>
          </p:cNvSpPr>
          <p:nvPr>
            <p:ph type="body" idx="1"/>
          </p:nvPr>
        </p:nvSpPr>
        <p:spPr>
          <a:xfrm>
            <a:off x="457200" y="1101725"/>
            <a:ext cx="8229600" cy="4526280"/>
          </a:xfrm>
        </p:spPr>
        <p:txBody>
          <a:bodyPr lIns="92075" tIns="46038" rIns="92075" bIns="46038"/>
          <a:lstStyle/>
          <a:p>
            <a:pPr>
              <a:lnSpc>
                <a:spcPct val="110000"/>
              </a:lnSpc>
            </a:pPr>
            <a:r>
              <a:rPr lang="zh-CN" altLang="en-US" b="1" dirty="0"/>
              <a:t>格式：</a:t>
            </a:r>
            <a:r>
              <a:rPr lang="en-US" altLang="zh-CN" b="1" dirty="0"/>
              <a:t>DB</a:t>
            </a:r>
            <a:r>
              <a:rPr lang="zh-CN" altLang="en-US" b="1" dirty="0"/>
              <a:t>（项或项表）</a:t>
            </a:r>
          </a:p>
          <a:p>
            <a:pPr>
              <a:lnSpc>
                <a:spcPct val="110000"/>
              </a:lnSpc>
            </a:pPr>
            <a:r>
              <a:rPr lang="zh-CN" altLang="en-US" b="1" dirty="0"/>
              <a:t>功能：通知汇编程序从当前</a:t>
            </a:r>
            <a:r>
              <a:rPr lang="en-US" altLang="zh-CN" b="1" dirty="0"/>
              <a:t>ROM</a:t>
            </a:r>
            <a:r>
              <a:rPr lang="zh-CN" altLang="en-US" b="1" dirty="0"/>
              <a:t>地址开始，保留一个字或字节串的存储单元，并存入</a:t>
            </a:r>
            <a:r>
              <a:rPr lang="en-US" altLang="zh-CN" b="1" dirty="0"/>
              <a:t>DB</a:t>
            </a:r>
            <a:r>
              <a:rPr lang="zh-CN" altLang="en-US" b="1" dirty="0"/>
              <a:t>后的数据。</a:t>
            </a:r>
          </a:p>
          <a:p>
            <a:pPr>
              <a:lnSpc>
                <a:spcPct val="110000"/>
              </a:lnSpc>
            </a:pPr>
            <a:r>
              <a:rPr lang="zh-CN" altLang="en-US" b="1" dirty="0"/>
              <a:t>注意：项或项表可以是一个字节，用逗号隔开的字节串或括在单引号中的</a:t>
            </a:r>
            <a:r>
              <a:rPr lang="en-US" altLang="zh-CN" b="1" dirty="0"/>
              <a:t>ASCII</a:t>
            </a:r>
            <a:r>
              <a:rPr lang="zh-CN" altLang="en-US" b="1" dirty="0"/>
              <a:t>字符串。</a:t>
            </a:r>
          </a:p>
          <a:p>
            <a:pPr>
              <a:lnSpc>
                <a:spcPct val="110000"/>
              </a:lnSpc>
            </a:pPr>
            <a:r>
              <a:rPr lang="zh-CN" altLang="en-US" b="1" dirty="0"/>
              <a:t>例如：</a:t>
            </a:r>
            <a:endParaRPr lang="zh-CN" altLang="en-US" b="1"/>
          </a:p>
        </p:txBody>
      </p:sp>
      <p:sp>
        <p:nvSpPr>
          <p:cNvPr id="47107" name="文本占位符 47106"/>
          <p:cNvSpPr>
            <a:spLocks noGrp="1"/>
          </p:cNvSpPr>
          <p:nvPr/>
        </p:nvSpPr>
        <p:spPr>
          <a:xfrm>
            <a:off x="1414780" y="2872105"/>
            <a:ext cx="6504940" cy="2441575"/>
          </a:xfrm>
          <a:prstGeom prst="rect">
            <a:avLst/>
          </a:prstGeom>
        </p:spPr>
        <p:txBody>
          <a:bodyPr wrap="square" lIns="92075" tIns="46038" rIns="92075" bIns="46038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en-US" altLang="zh-CN" sz="1400"/>
              <a:t>            </a:t>
            </a:r>
            <a:r>
              <a:rPr lang="en-US" altLang="zh-CN" sz="1400" b="1"/>
              <a:t>ORG    2000H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1400" b="1"/>
              <a:t>            DB      0A3H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1400" b="1"/>
              <a:t>LIST</a:t>
            </a:r>
            <a:r>
              <a:rPr lang="zh-CN" altLang="en-US" sz="1400" b="1"/>
              <a:t>：</a:t>
            </a:r>
            <a:r>
              <a:rPr lang="en-US" altLang="zh-CN" sz="1400" b="1"/>
              <a:t>DB   26H</a:t>
            </a:r>
            <a:r>
              <a:rPr lang="zh-CN" altLang="en-US" sz="1400" b="1"/>
              <a:t>，</a:t>
            </a:r>
            <a:r>
              <a:rPr lang="en-US" altLang="zh-CN" sz="1400" b="1"/>
              <a:t>03H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1400" b="1"/>
              <a:t> STR</a:t>
            </a:r>
            <a:r>
              <a:rPr lang="zh-CN" altLang="en-US" sz="1400" b="1"/>
              <a:t>：</a:t>
            </a:r>
            <a:r>
              <a:rPr lang="en-US" altLang="zh-CN" sz="1400" b="1"/>
              <a:t>DB   </a:t>
            </a:r>
            <a:r>
              <a:rPr lang="en-US" altLang="zh-CN" sz="1600" b="1"/>
              <a:t>‘ABC’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1600" b="1"/>
              <a:t>              ┇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1600" b="1" dirty="0"/>
              <a:t>经汇编后（</a:t>
            </a:r>
            <a:r>
              <a:rPr lang="en-US" altLang="zh-CN" sz="1600" b="1"/>
              <a:t>2000H</a:t>
            </a:r>
            <a:r>
              <a:rPr lang="zh-CN" altLang="en-US" sz="1600" b="1"/>
              <a:t>）</a:t>
            </a:r>
            <a:r>
              <a:rPr lang="en-US" altLang="zh-CN" sz="1600" b="1"/>
              <a:t>=A3H</a:t>
            </a:r>
            <a:r>
              <a:rPr lang="zh-CN" altLang="en-US" sz="1600" b="1"/>
              <a:t>， 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1600" b="1"/>
              <a:t>                （</a:t>
            </a:r>
            <a:r>
              <a:rPr lang="en-US" altLang="zh-CN" sz="1600" b="1"/>
              <a:t>2001H</a:t>
            </a:r>
            <a:r>
              <a:rPr lang="zh-CN" altLang="en-US" sz="1600" b="1"/>
              <a:t>）</a:t>
            </a:r>
            <a:r>
              <a:rPr lang="en-US" altLang="zh-CN" sz="1600" b="1"/>
              <a:t>=26H</a:t>
            </a:r>
            <a:r>
              <a:rPr lang="zh-CN" altLang="en-US" sz="1600" b="1"/>
              <a:t>， 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1600" b="1"/>
              <a:t>                （</a:t>
            </a:r>
            <a:r>
              <a:rPr lang="en-US" altLang="zh-CN" sz="1600" b="1"/>
              <a:t>2002H</a:t>
            </a:r>
            <a:r>
              <a:rPr lang="zh-CN" altLang="en-US" sz="1600" b="1"/>
              <a:t>）</a:t>
            </a:r>
            <a:r>
              <a:rPr lang="en-US" altLang="zh-CN" sz="1600" b="1"/>
              <a:t>=03H</a:t>
            </a:r>
            <a:r>
              <a:rPr lang="zh-CN" altLang="en-US" sz="1600" b="1"/>
              <a:t>， 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1600" b="1"/>
              <a:t>                （</a:t>
            </a:r>
            <a:r>
              <a:rPr lang="en-US" altLang="zh-CN" sz="1600" b="1"/>
              <a:t>2003H</a:t>
            </a:r>
            <a:r>
              <a:rPr lang="zh-CN" altLang="en-US" sz="1600" b="1"/>
              <a:t>）</a:t>
            </a:r>
            <a:r>
              <a:rPr lang="en-US" altLang="zh-CN" sz="1600" b="1"/>
              <a:t>=41H</a:t>
            </a:r>
            <a:r>
              <a:rPr lang="zh-CN" altLang="en-US" sz="1600" b="1"/>
              <a:t>，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1600" b="1"/>
              <a:t>                （</a:t>
            </a:r>
            <a:r>
              <a:rPr lang="en-US" altLang="zh-CN" sz="1600" b="1"/>
              <a:t>2004H</a:t>
            </a:r>
            <a:r>
              <a:rPr lang="zh-CN" altLang="en-US" sz="1600" b="1"/>
              <a:t>）</a:t>
            </a:r>
            <a:r>
              <a:rPr lang="en-US" altLang="zh-CN" sz="1600" b="1"/>
              <a:t>=42H</a:t>
            </a:r>
            <a:r>
              <a:rPr lang="zh-CN" altLang="en-US" sz="1600" b="1"/>
              <a:t>， </a:t>
            </a:r>
          </a:p>
          <a:p>
            <a:pPr>
              <a:lnSpc>
                <a:spcPct val="90000"/>
              </a:lnSpc>
              <a:buNone/>
            </a:pPr>
            <a:r>
              <a:rPr lang="zh-CN" altLang="en-US" sz="1600" b="1" dirty="0"/>
              <a:t>                （</a:t>
            </a:r>
            <a:r>
              <a:rPr lang="en-US" altLang="zh-CN" sz="1600" b="1" dirty="0"/>
              <a:t>2005H</a:t>
            </a:r>
            <a:r>
              <a:rPr lang="zh-CN" altLang="en-US" sz="1600" b="1" dirty="0"/>
              <a:t>）</a:t>
            </a:r>
            <a:r>
              <a:rPr lang="en-US" altLang="zh-CN" sz="1600" b="1" dirty="0"/>
              <a:t>=43H</a:t>
            </a:r>
            <a:r>
              <a:rPr lang="zh-CN" altLang="en-US" sz="1600" b="1" dirty="0"/>
              <a:t>，（</a:t>
            </a:r>
            <a:r>
              <a:rPr lang="en-US" altLang="zh-CN" sz="1600" b="1" dirty="0"/>
              <a:t>41H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42H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43H</a:t>
            </a:r>
            <a:r>
              <a:rPr lang="zh-CN" altLang="en-US" sz="1600" b="1" dirty="0"/>
              <a:t>分别为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</a:t>
            </a:r>
            <a:r>
              <a:rPr lang="zh-CN" altLang="en-US" sz="1600" b="1" dirty="0"/>
              <a:t>的</a:t>
            </a:r>
            <a:r>
              <a:rPr lang="en-US" altLang="zh-CN" sz="1600" b="1" dirty="0"/>
              <a:t>ASCII</a:t>
            </a:r>
            <a:r>
              <a:rPr lang="zh-CN" altLang="en-US" sz="1600" b="1" dirty="0"/>
              <a:t>码）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48129"/>
          <p:cNvSpPr>
            <a:spLocks noGrp="1"/>
          </p:cNvSpPr>
          <p:nvPr>
            <p:ph type="title"/>
          </p:nvPr>
        </p:nvSpPr>
        <p:spPr/>
        <p:txBody>
          <a:bodyPr lIns="92075" tIns="46038" rIns="92075" bIns="46038" anchor="ctr"/>
          <a:lstStyle/>
          <a:p>
            <a:r>
              <a:rPr lang="en-US" altLang="zh-CN" dirty="0"/>
              <a:t>DW  </a:t>
            </a:r>
            <a:r>
              <a:rPr lang="zh-CN" altLang="en-US" dirty="0"/>
              <a:t>定义字命令</a:t>
            </a:r>
            <a:endParaRPr lang="zh-CN" altLang="en-US"/>
          </a:p>
        </p:txBody>
      </p:sp>
      <p:sp>
        <p:nvSpPr>
          <p:cNvPr id="48131" name="文本占位符 48130"/>
          <p:cNvSpPr>
            <a:spLocks noGrp="1"/>
          </p:cNvSpPr>
          <p:nvPr>
            <p:ph type="body" idx="1"/>
          </p:nvPr>
        </p:nvSpPr>
        <p:spPr>
          <a:xfrm>
            <a:off x="495300" y="1165860"/>
            <a:ext cx="8229600" cy="4526280"/>
          </a:xfrm>
        </p:spPr>
        <p:txBody>
          <a:bodyPr lIns="92075" tIns="46038" rIns="92075" bIns="46038"/>
          <a:lstStyle/>
          <a:p>
            <a:pPr>
              <a:lnSpc>
                <a:spcPct val="110000"/>
              </a:lnSpc>
            </a:pPr>
            <a:r>
              <a:rPr lang="zh-CN" altLang="en-US" b="1" dirty="0"/>
              <a:t>格式：</a:t>
            </a:r>
            <a:r>
              <a:rPr lang="en-US" altLang="zh-CN" b="1" dirty="0"/>
              <a:t>DW    16</a:t>
            </a:r>
            <a:r>
              <a:rPr lang="zh-CN" altLang="en-US" b="1" dirty="0"/>
              <a:t>位数据项或项表</a:t>
            </a:r>
          </a:p>
          <a:p>
            <a:pPr>
              <a:lnSpc>
                <a:spcPct val="110000"/>
              </a:lnSpc>
            </a:pPr>
            <a:r>
              <a:rPr lang="zh-CN" altLang="en-US" b="1" dirty="0"/>
              <a:t>功能：把</a:t>
            </a:r>
            <a:r>
              <a:rPr lang="en-US" altLang="zh-CN" b="1" dirty="0"/>
              <a:t>DW</a:t>
            </a:r>
            <a:r>
              <a:rPr lang="zh-CN" altLang="en-US" b="1" dirty="0"/>
              <a:t>后的</a:t>
            </a:r>
            <a:r>
              <a:rPr lang="en-US" altLang="zh-CN" b="1" dirty="0"/>
              <a:t>16</a:t>
            </a:r>
            <a:r>
              <a:rPr lang="zh-CN" altLang="en-US" b="1" dirty="0"/>
              <a:t>位数据项或项表从当前地址连续存放。每项数值为</a:t>
            </a:r>
            <a:r>
              <a:rPr lang="en-US" altLang="zh-CN" b="1" dirty="0"/>
              <a:t>16</a:t>
            </a:r>
            <a:r>
              <a:rPr lang="zh-CN" altLang="en-US" b="1" dirty="0"/>
              <a:t>位二进制数，</a:t>
            </a:r>
            <a:r>
              <a:rPr lang="zh-CN" altLang="en-US" b="1" dirty="0">
                <a:solidFill>
                  <a:srgbClr val="FF0000"/>
                </a:solidFill>
              </a:rPr>
              <a:t>高</a:t>
            </a:r>
            <a:r>
              <a:rPr lang="en-US" altLang="zh-CN" b="1" dirty="0">
                <a:solidFill>
                  <a:srgbClr val="FF0000"/>
                </a:solidFill>
              </a:rPr>
              <a:t>8</a:t>
            </a:r>
            <a:r>
              <a:rPr lang="zh-CN" altLang="en-US" b="1" dirty="0">
                <a:solidFill>
                  <a:srgbClr val="FF0000"/>
                </a:solidFill>
              </a:rPr>
              <a:t>位先放，低</a:t>
            </a:r>
            <a:r>
              <a:rPr lang="en-US" altLang="zh-CN" b="1" dirty="0">
                <a:solidFill>
                  <a:srgbClr val="FF0000"/>
                </a:solidFill>
              </a:rPr>
              <a:t>8</a:t>
            </a:r>
            <a:r>
              <a:rPr lang="zh-CN" altLang="en-US" b="1" dirty="0">
                <a:solidFill>
                  <a:srgbClr val="FF0000"/>
                </a:solidFill>
              </a:rPr>
              <a:t>位后</a:t>
            </a:r>
            <a:r>
              <a:rPr lang="zh-CN" altLang="en-US" b="1" dirty="0" smtClean="0">
                <a:solidFill>
                  <a:srgbClr val="FF0000"/>
                </a:solidFill>
              </a:rPr>
              <a:t>存放（与</a:t>
            </a:r>
            <a:r>
              <a:rPr lang="en-US" altLang="zh-CN" b="1" dirty="0" smtClean="0">
                <a:solidFill>
                  <a:srgbClr val="FF0000"/>
                </a:solidFill>
              </a:rPr>
              <a:t>8086</a:t>
            </a:r>
            <a:r>
              <a:rPr lang="zh-CN" altLang="en-US" b="1" dirty="0" smtClean="0">
                <a:solidFill>
                  <a:srgbClr val="FF0000"/>
                </a:solidFill>
              </a:rPr>
              <a:t>相反）</a:t>
            </a:r>
            <a:r>
              <a:rPr lang="zh-CN" altLang="en-US" b="1" dirty="0" smtClean="0"/>
              <a:t>。</a:t>
            </a:r>
            <a:r>
              <a:rPr lang="en-US" altLang="zh-CN" b="1" dirty="0"/>
              <a:t>DW</a:t>
            </a:r>
            <a:r>
              <a:rPr lang="zh-CN" altLang="en-US" b="1" dirty="0"/>
              <a:t>用于定义一个地址表。</a:t>
            </a:r>
          </a:p>
          <a:p>
            <a:pPr>
              <a:lnSpc>
                <a:spcPct val="110000"/>
              </a:lnSpc>
            </a:pPr>
            <a:r>
              <a:rPr lang="zh-CN" altLang="en-US" b="1" dirty="0"/>
              <a:t>例如：</a:t>
            </a:r>
          </a:p>
          <a:p>
            <a:pPr>
              <a:lnSpc>
                <a:spcPct val="110000"/>
              </a:lnSpc>
            </a:pPr>
            <a:endParaRPr lang="zh-CN" altLang="en-US" dirty="0"/>
          </a:p>
        </p:txBody>
      </p:sp>
      <p:sp>
        <p:nvSpPr>
          <p:cNvPr id="49155" name="文本占位符 49154"/>
          <p:cNvSpPr>
            <a:spLocks noGrp="1"/>
          </p:cNvSpPr>
          <p:nvPr/>
        </p:nvSpPr>
        <p:spPr>
          <a:xfrm>
            <a:off x="1536700" y="2427605"/>
            <a:ext cx="3891915" cy="2306955"/>
          </a:xfrm>
          <a:prstGeom prst="rect">
            <a:avLst/>
          </a:prstGeom>
        </p:spPr>
        <p:txBody>
          <a:bodyPr wrap="square" lIns="92075" tIns="46038" rIns="92075" bIns="46038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CN" sz="1200"/>
              <a:t>                 </a:t>
            </a:r>
            <a:r>
              <a:rPr lang="en-US" altLang="zh-CN" sz="1600" b="1"/>
              <a:t>ORG    1500H</a:t>
            </a:r>
          </a:p>
          <a:p>
            <a:pPr>
              <a:buNone/>
            </a:pPr>
            <a:r>
              <a:rPr lang="en-US" altLang="zh-CN" sz="1600" b="1"/>
              <a:t>TABLE</a:t>
            </a:r>
            <a:r>
              <a:rPr lang="zh-CN" altLang="en-US" sz="1600" b="1"/>
              <a:t>：</a:t>
            </a:r>
            <a:r>
              <a:rPr lang="en-US" altLang="zh-CN" sz="1600" b="1"/>
              <a:t>DW      7234H</a:t>
            </a:r>
            <a:r>
              <a:rPr lang="zh-CN" altLang="en-US" sz="1600" b="1"/>
              <a:t>，</a:t>
            </a:r>
            <a:r>
              <a:rPr lang="en-US" altLang="zh-CN" sz="1600" b="1"/>
              <a:t>8AH</a:t>
            </a:r>
            <a:r>
              <a:rPr lang="zh-CN" altLang="en-US" sz="1600" b="1"/>
              <a:t>，</a:t>
            </a:r>
            <a:r>
              <a:rPr lang="en-US" altLang="zh-CN" sz="1600" b="1"/>
              <a:t>10H</a:t>
            </a:r>
          </a:p>
          <a:p>
            <a:pPr>
              <a:buNone/>
            </a:pPr>
            <a:r>
              <a:rPr lang="en-US" altLang="zh-CN" sz="1600" b="1"/>
              <a:t>                 ┇</a:t>
            </a:r>
          </a:p>
          <a:p>
            <a:pPr>
              <a:buNone/>
            </a:pPr>
            <a:r>
              <a:rPr lang="zh-CN" altLang="en-US" sz="1600" b="1" dirty="0"/>
              <a:t>经汇编后（</a:t>
            </a:r>
            <a:r>
              <a:rPr lang="en-US" altLang="zh-CN" sz="1600" b="1"/>
              <a:t>1500H</a:t>
            </a:r>
            <a:r>
              <a:rPr lang="zh-CN" altLang="en-US" sz="1600" b="1"/>
              <a:t>）</a:t>
            </a:r>
            <a:r>
              <a:rPr lang="en-US" altLang="zh-CN" sz="1600" b="1"/>
              <a:t>=72H</a:t>
            </a:r>
            <a:r>
              <a:rPr lang="zh-CN" altLang="en-US" sz="1600" b="1"/>
              <a:t>， </a:t>
            </a:r>
          </a:p>
          <a:p>
            <a:pPr>
              <a:buNone/>
            </a:pPr>
            <a:r>
              <a:rPr lang="zh-CN" altLang="en-US" sz="1600" b="1"/>
              <a:t>                （</a:t>
            </a:r>
            <a:r>
              <a:rPr lang="en-US" altLang="zh-CN" sz="1600" b="1"/>
              <a:t>1501H</a:t>
            </a:r>
            <a:r>
              <a:rPr lang="zh-CN" altLang="en-US" sz="1600" b="1"/>
              <a:t>）</a:t>
            </a:r>
            <a:r>
              <a:rPr lang="en-US" altLang="zh-CN" sz="1600" b="1"/>
              <a:t>=34H</a:t>
            </a:r>
            <a:r>
              <a:rPr lang="zh-CN" altLang="en-US" sz="1600" b="1"/>
              <a:t>， </a:t>
            </a:r>
          </a:p>
          <a:p>
            <a:pPr>
              <a:buNone/>
            </a:pPr>
            <a:r>
              <a:rPr lang="zh-CN" altLang="en-US" sz="1600" b="1"/>
              <a:t>                （</a:t>
            </a:r>
            <a:r>
              <a:rPr lang="en-US" altLang="zh-CN" sz="1600" b="1"/>
              <a:t>1502H</a:t>
            </a:r>
            <a:r>
              <a:rPr lang="zh-CN" altLang="en-US" sz="1600" b="1"/>
              <a:t>）</a:t>
            </a:r>
            <a:r>
              <a:rPr lang="en-US" altLang="zh-CN" sz="1600" b="1"/>
              <a:t>=00H</a:t>
            </a:r>
            <a:r>
              <a:rPr lang="zh-CN" altLang="en-US" sz="1600" b="1"/>
              <a:t>， </a:t>
            </a:r>
          </a:p>
          <a:p>
            <a:pPr>
              <a:buNone/>
            </a:pPr>
            <a:r>
              <a:rPr lang="zh-CN" altLang="en-US" sz="1600" b="1"/>
              <a:t>                （</a:t>
            </a:r>
            <a:r>
              <a:rPr lang="en-US" altLang="zh-CN" sz="1600" b="1"/>
              <a:t>1503H</a:t>
            </a:r>
            <a:r>
              <a:rPr lang="zh-CN" altLang="en-US" sz="1600" b="1"/>
              <a:t>）</a:t>
            </a:r>
            <a:r>
              <a:rPr lang="en-US" altLang="zh-CN" sz="1600" b="1"/>
              <a:t>=8AH</a:t>
            </a:r>
            <a:r>
              <a:rPr lang="zh-CN" altLang="en-US" sz="1600" b="1"/>
              <a:t>，</a:t>
            </a:r>
          </a:p>
          <a:p>
            <a:pPr>
              <a:buNone/>
            </a:pPr>
            <a:r>
              <a:rPr lang="zh-CN" altLang="en-US" sz="1600" b="1"/>
              <a:t>                （</a:t>
            </a:r>
            <a:r>
              <a:rPr lang="en-US" altLang="zh-CN" sz="1600" b="1"/>
              <a:t>1504H</a:t>
            </a:r>
            <a:r>
              <a:rPr lang="zh-CN" altLang="en-US" sz="1600" b="1"/>
              <a:t>）</a:t>
            </a:r>
            <a:r>
              <a:rPr lang="en-US" altLang="zh-CN" sz="1600" b="1"/>
              <a:t>=00H</a:t>
            </a:r>
            <a:r>
              <a:rPr lang="zh-CN" altLang="en-US" sz="1600" b="1"/>
              <a:t>， </a:t>
            </a:r>
          </a:p>
          <a:p>
            <a:pPr>
              <a:buNone/>
            </a:pPr>
            <a:r>
              <a:rPr lang="zh-CN" altLang="en-US" sz="1600" b="1"/>
              <a:t>                （</a:t>
            </a:r>
            <a:r>
              <a:rPr lang="en-US" altLang="zh-CN" sz="1600" b="1"/>
              <a:t>1505H</a:t>
            </a:r>
            <a:r>
              <a:rPr lang="zh-CN" altLang="en-US" sz="1600" b="1"/>
              <a:t>）</a:t>
            </a:r>
            <a:r>
              <a:rPr lang="en-US" altLang="zh-CN" sz="1600" b="1"/>
              <a:t>=10H</a:t>
            </a:r>
            <a:r>
              <a:rPr lang="zh-CN" altLang="en-US" sz="1600" b="1"/>
              <a:t>，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50177"/>
          <p:cNvSpPr>
            <a:spLocks noGrp="1"/>
          </p:cNvSpPr>
          <p:nvPr>
            <p:ph type="title"/>
          </p:nvPr>
        </p:nvSpPr>
        <p:spPr>
          <a:xfrm>
            <a:off x="1498600" y="235268"/>
            <a:ext cx="4447540" cy="460375"/>
          </a:xfrm>
        </p:spPr>
        <p:txBody>
          <a:bodyPr wrap="square" lIns="92075" tIns="46038" rIns="92075" bIns="46038" anchor="ctr"/>
          <a:lstStyle/>
          <a:p>
            <a:r>
              <a:rPr lang="en-US" altLang="zh-CN" dirty="0"/>
              <a:t>DS  </a:t>
            </a:r>
            <a:r>
              <a:rPr lang="zh-CN" altLang="en-US" dirty="0"/>
              <a:t>定义存储空间命令</a:t>
            </a:r>
            <a:endParaRPr lang="zh-CN" altLang="en-US"/>
          </a:p>
        </p:txBody>
      </p:sp>
      <p:sp>
        <p:nvSpPr>
          <p:cNvPr id="50179" name="文本占位符 50178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8610600" cy="3962400"/>
          </a:xfrm>
        </p:spPr>
        <p:txBody>
          <a:bodyPr lIns="92075" tIns="46038" rIns="92075" bIns="46038"/>
          <a:lstStyle/>
          <a:p>
            <a:pPr>
              <a:lnSpc>
                <a:spcPct val="110000"/>
              </a:lnSpc>
            </a:pPr>
            <a:r>
              <a:rPr lang="zh-CN" altLang="en-US" sz="2400" b="1" dirty="0"/>
              <a:t>格式：</a:t>
            </a:r>
            <a:r>
              <a:rPr lang="en-US" altLang="zh-CN" sz="2400" b="1" dirty="0"/>
              <a:t>DS   </a:t>
            </a:r>
            <a:r>
              <a:rPr lang="zh-CN" altLang="en-US" sz="2400" b="1" dirty="0"/>
              <a:t>表达式</a:t>
            </a:r>
          </a:p>
          <a:p>
            <a:pPr>
              <a:lnSpc>
                <a:spcPct val="110000"/>
              </a:lnSpc>
            </a:pPr>
            <a:r>
              <a:rPr lang="zh-CN" altLang="en-US" sz="2400" b="1" dirty="0"/>
              <a:t>功能：在汇编时，从指定地址开始保留</a:t>
            </a:r>
            <a:r>
              <a:rPr lang="en-US" altLang="zh-CN" sz="2400" b="1" dirty="0"/>
              <a:t>DS</a:t>
            </a:r>
            <a:r>
              <a:rPr lang="zh-CN" altLang="en-US" sz="2400" b="1" dirty="0"/>
              <a:t>之后表达式的值所规定的存储单元以备后用。</a:t>
            </a:r>
          </a:p>
          <a:p>
            <a:pPr>
              <a:lnSpc>
                <a:spcPct val="110000"/>
              </a:lnSpc>
            </a:pPr>
            <a:r>
              <a:rPr lang="zh-CN" altLang="en-US" sz="2400" b="1" dirty="0"/>
              <a:t>例如：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2400" b="1"/>
              <a:t>ORG   1000H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2400" b="1"/>
              <a:t>DS     08H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2400" b="1"/>
              <a:t>DB    30H</a:t>
            </a:r>
            <a:r>
              <a:rPr lang="zh-CN" altLang="en-US" sz="2400" b="1"/>
              <a:t>，</a:t>
            </a:r>
            <a:r>
              <a:rPr lang="en-US" altLang="zh-CN" sz="2400" b="1"/>
              <a:t>8AH</a:t>
            </a:r>
          </a:p>
          <a:p>
            <a:pPr>
              <a:lnSpc>
                <a:spcPct val="110000"/>
              </a:lnSpc>
              <a:buNone/>
            </a:pPr>
            <a:r>
              <a:rPr lang="zh-CN" altLang="en-US" sz="2400" b="1" dirty="0"/>
              <a:t>汇编后，从</a:t>
            </a:r>
            <a:r>
              <a:rPr lang="en-US" altLang="zh-CN" sz="2400" b="1" dirty="0"/>
              <a:t>1000H</a:t>
            </a:r>
            <a:r>
              <a:rPr lang="zh-CN" altLang="en-US" sz="2400" b="1" dirty="0"/>
              <a:t>保留</a:t>
            </a:r>
            <a:r>
              <a:rPr lang="en-US" altLang="zh-CN" sz="2400" b="1" dirty="0"/>
              <a:t>8</a:t>
            </a:r>
            <a:r>
              <a:rPr lang="zh-CN" altLang="en-US" sz="2400" b="1" dirty="0"/>
              <a:t>个单元，然后从</a:t>
            </a:r>
            <a:r>
              <a:rPr lang="en-US" altLang="zh-CN" sz="2400" b="1" dirty="0"/>
              <a:t>1008H</a:t>
            </a:r>
            <a:r>
              <a:rPr lang="zh-CN" altLang="en-US" sz="2400" b="1" dirty="0"/>
              <a:t>按</a:t>
            </a:r>
            <a:r>
              <a:rPr lang="en-US" altLang="zh-CN" sz="2400" b="1" dirty="0"/>
              <a:t>DB</a:t>
            </a:r>
            <a:r>
              <a:rPr lang="zh-CN" altLang="en-US" sz="2400" b="1" dirty="0"/>
              <a:t>命令给内存赋值，即（</a:t>
            </a:r>
            <a:r>
              <a:rPr lang="en-US" altLang="zh-CN" sz="2400" b="1"/>
              <a:t>1008H</a:t>
            </a:r>
            <a:r>
              <a:rPr lang="zh-CN" altLang="en-US" sz="2400" b="1"/>
              <a:t>）</a:t>
            </a:r>
            <a:r>
              <a:rPr lang="en-US" altLang="zh-CN" sz="2400" b="1"/>
              <a:t>=30H</a:t>
            </a:r>
          </a:p>
          <a:p>
            <a:pPr>
              <a:lnSpc>
                <a:spcPct val="110000"/>
              </a:lnSpc>
              <a:buNone/>
            </a:pPr>
            <a:r>
              <a:rPr lang="en-US" altLang="zh-CN" sz="2400" b="1"/>
              <a:t>     </a:t>
            </a:r>
            <a:r>
              <a:rPr lang="zh-CN" altLang="en-US" sz="2400" b="1"/>
              <a:t>（</a:t>
            </a:r>
            <a:r>
              <a:rPr lang="en-US" altLang="zh-CN" sz="2400" b="1"/>
              <a:t>1009H</a:t>
            </a:r>
            <a:r>
              <a:rPr lang="zh-CN" altLang="en-US" sz="2400" b="1"/>
              <a:t>）</a:t>
            </a:r>
            <a:r>
              <a:rPr lang="en-US" altLang="zh-CN" sz="2400" b="1"/>
              <a:t>=8AH</a:t>
            </a:r>
            <a:endParaRPr lang="en-US" altLang="zh-CN" sz="3600" b="1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51201"/>
          <p:cNvSpPr>
            <a:spLocks noGrp="1"/>
          </p:cNvSpPr>
          <p:nvPr>
            <p:ph type="title"/>
          </p:nvPr>
        </p:nvSpPr>
        <p:spPr>
          <a:xfrm>
            <a:off x="1498600" y="235268"/>
            <a:ext cx="3628390" cy="460375"/>
          </a:xfrm>
        </p:spPr>
        <p:txBody>
          <a:bodyPr wrap="square" lIns="92075" tIns="46038" rIns="92075" bIns="46038" anchor="ctr"/>
          <a:lstStyle/>
          <a:p>
            <a:r>
              <a:rPr lang="en-US" altLang="zh-CN" dirty="0"/>
              <a:t>BIT  </a:t>
            </a:r>
            <a:r>
              <a:rPr lang="zh-CN" altLang="en-US" dirty="0"/>
              <a:t>位地址符号命令</a:t>
            </a:r>
            <a:endParaRPr lang="zh-CN" altLang="en-US"/>
          </a:p>
        </p:txBody>
      </p:sp>
      <p:sp>
        <p:nvSpPr>
          <p:cNvPr id="51203" name="文本占位符 51202"/>
          <p:cNvSpPr>
            <a:spLocks noGrp="1"/>
          </p:cNvSpPr>
          <p:nvPr>
            <p:ph type="body" idx="1"/>
          </p:nvPr>
        </p:nvSpPr>
        <p:spPr>
          <a:xfrm>
            <a:off x="304800" y="1295400"/>
            <a:ext cx="8610600" cy="4114800"/>
          </a:xfrm>
        </p:spPr>
        <p:txBody>
          <a:bodyPr lIns="92075" tIns="46038" rIns="92075" bIns="46038"/>
          <a:lstStyle/>
          <a:p>
            <a:pPr>
              <a:lnSpc>
                <a:spcPct val="130000"/>
              </a:lnSpc>
            </a:pPr>
            <a:r>
              <a:rPr lang="zh-CN" altLang="en-US" sz="2400" b="1" dirty="0"/>
              <a:t>格式：字符名   </a:t>
            </a:r>
            <a:r>
              <a:rPr lang="en-US" altLang="zh-CN" sz="2400" b="1" dirty="0"/>
              <a:t>BIT   </a:t>
            </a:r>
            <a:r>
              <a:rPr lang="zh-CN" altLang="en-US" sz="2400" b="1" dirty="0"/>
              <a:t>位地址</a:t>
            </a:r>
          </a:p>
          <a:p>
            <a:pPr>
              <a:lnSpc>
                <a:spcPct val="130000"/>
              </a:lnSpc>
            </a:pPr>
            <a:r>
              <a:rPr lang="zh-CN" altLang="en-US" sz="2400" b="1" dirty="0"/>
              <a:t>功能：把</a:t>
            </a:r>
            <a:r>
              <a:rPr lang="en-US" altLang="zh-CN" sz="2400" b="1" dirty="0"/>
              <a:t>BIT</a:t>
            </a:r>
            <a:r>
              <a:rPr lang="zh-CN" altLang="en-US" sz="2400" b="1" dirty="0"/>
              <a:t>后的位地址值赋给字符名。其中字符名不是标号，其后没有冒号，但字符名是必须的。</a:t>
            </a:r>
          </a:p>
          <a:p>
            <a:pPr>
              <a:lnSpc>
                <a:spcPct val="130000"/>
              </a:lnSpc>
            </a:pPr>
            <a:r>
              <a:rPr lang="zh-CN" altLang="en-US" sz="2400" b="1" dirty="0"/>
              <a:t>例如：</a:t>
            </a:r>
          </a:p>
          <a:p>
            <a:pPr>
              <a:lnSpc>
                <a:spcPct val="130000"/>
              </a:lnSpc>
            </a:pPr>
            <a:r>
              <a:rPr lang="en-US" altLang="zh-CN" sz="2400" b="1"/>
              <a:t>A1    BIT    P1.0</a:t>
            </a:r>
          </a:p>
          <a:p>
            <a:pPr>
              <a:lnSpc>
                <a:spcPct val="130000"/>
              </a:lnSpc>
            </a:pPr>
            <a:r>
              <a:rPr lang="en-US" altLang="zh-CN" sz="2400" b="1"/>
              <a:t>A2    BIT    02H</a:t>
            </a:r>
          </a:p>
          <a:p>
            <a:pPr>
              <a:lnSpc>
                <a:spcPct val="130000"/>
              </a:lnSpc>
            </a:pPr>
            <a:r>
              <a:rPr lang="zh-CN" altLang="en-US" sz="2400" b="1" dirty="0"/>
              <a:t>汇编后，</a:t>
            </a:r>
            <a:r>
              <a:rPr lang="zh-CN" altLang="zh-CN" sz="2400" b="1" dirty="0"/>
              <a:t>P1口第0位的位地址90H就赋给了</a:t>
            </a:r>
            <a:r>
              <a:rPr lang="zh-CN" altLang="zh-CN" sz="2400" b="1"/>
              <a:t>A1，而</a:t>
            </a:r>
            <a:r>
              <a:rPr lang="zh-CN" altLang="zh-CN" sz="2400" b="1" dirty="0"/>
              <a:t>A2的值则为02</a:t>
            </a:r>
            <a:r>
              <a:rPr lang="en-US" altLang="zh-CN" sz="2400" b="1"/>
              <a:t>H</a:t>
            </a:r>
            <a:r>
              <a:rPr lang="zh-CN" altLang="en-US" sz="2400" b="1"/>
              <a:t>。</a:t>
            </a:r>
            <a:endParaRPr lang="zh-CN" altLang="en-US" b="1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54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6c98523-5405-4736-a48c-280f2fc8da69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6c98523-5405-4736-a48c-280f2fc8da6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6c98523-5405-4736-a48c-280f2fc8da6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3013</Words>
  <Application>Microsoft Office PowerPoint</Application>
  <PresentationFormat>全屏显示(4:3)</PresentationFormat>
  <Paragraphs>406</Paragraphs>
  <Slides>25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隶书</vt:lpstr>
      <vt:lpstr>宋体</vt:lpstr>
      <vt:lpstr>微软雅黑</vt:lpstr>
      <vt:lpstr>Calibri</vt:lpstr>
      <vt:lpstr>Times New Roman</vt:lpstr>
      <vt:lpstr>Wingdings</vt:lpstr>
      <vt:lpstr>Office Theme</vt:lpstr>
      <vt:lpstr>Visio.Drawing.11</vt:lpstr>
      <vt:lpstr>Equation.KSEE3</vt:lpstr>
      <vt:lpstr>PowerPoint 演示文稿</vt:lpstr>
      <vt:lpstr>目  录</vt:lpstr>
      <vt:lpstr>§4.1  编程的步骤、方法和技巧</vt:lpstr>
      <vt:lpstr>PowerPoint 演示文稿</vt:lpstr>
      <vt:lpstr>§4.1.2  编程的方法和技巧</vt:lpstr>
      <vt:lpstr>§4.1.3  汇编语言程序的基本结构</vt:lpstr>
      <vt:lpstr>1、顺序程序</vt:lpstr>
      <vt:lpstr>1、顺序程序</vt:lpstr>
      <vt:lpstr>1、顺序程序</vt:lpstr>
      <vt:lpstr>2、分支程序</vt:lpstr>
      <vt:lpstr>PowerPoint 演示文稿</vt:lpstr>
      <vt:lpstr>PowerPoint 演示文稿</vt:lpstr>
      <vt:lpstr>PowerPoint 演示文稿</vt:lpstr>
      <vt:lpstr>PowerPoint 演示文稿</vt:lpstr>
      <vt:lpstr>3、循环程序</vt:lpstr>
      <vt:lpstr>PowerPoint 演示文稿</vt:lpstr>
      <vt:lpstr>PowerPoint 演示文稿</vt:lpstr>
      <vt:lpstr>PowerPoint 演示文稿</vt:lpstr>
      <vt:lpstr>§4.2  伪指令</vt:lpstr>
      <vt:lpstr>EQU  赋值命令</vt:lpstr>
      <vt:lpstr>DATA   数据地址赋值命令</vt:lpstr>
      <vt:lpstr>DB  定义字节命令</vt:lpstr>
      <vt:lpstr>DW  定义字命令</vt:lpstr>
      <vt:lpstr>DS  定义存储空间命令</vt:lpstr>
      <vt:lpstr>BIT  位地址符号命令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www.pptbz.com</dc:creator>
  <cp:lastModifiedBy>陈佩</cp:lastModifiedBy>
  <cp:revision>27</cp:revision>
  <dcterms:created xsi:type="dcterms:W3CDTF">2020-02-03T07:44:00Z</dcterms:created>
  <dcterms:modified xsi:type="dcterms:W3CDTF">2022-03-13T09:34:53Z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2016-10-16T00:00:00Z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2020-02-03T00:00:00Z</vt:filetime>
  </property>
  <property fmtid="{D5CDD505-2E9C-101B-9397-08002B2CF9AE}" pid="5" name="KSOProductBuildVer">
    <vt:lpwstr>2052-11.1.0.9339</vt:lpwstr>
  </property>
</Properties>
</file>